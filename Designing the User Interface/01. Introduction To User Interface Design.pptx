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3"/>
  </p:notesMasterIdLst>
  <p:sldIdLst>
    <p:sldId id="256" r:id="rId2"/>
    <p:sldId id="374" r:id="rId3"/>
    <p:sldId id="375" r:id="rId4"/>
    <p:sldId id="376" r:id="rId5"/>
    <p:sldId id="381" r:id="rId6"/>
    <p:sldId id="384" r:id="rId7"/>
    <p:sldId id="383" r:id="rId8"/>
    <p:sldId id="385" r:id="rId9"/>
    <p:sldId id="364" r:id="rId10"/>
    <p:sldId id="365" r:id="rId11"/>
    <p:sldId id="367" r:id="rId12"/>
    <p:sldId id="368" r:id="rId13"/>
    <p:sldId id="369" r:id="rId14"/>
    <p:sldId id="370" r:id="rId15"/>
    <p:sldId id="371" r:id="rId16"/>
    <p:sldId id="372" r:id="rId17"/>
    <p:sldId id="373" r:id="rId18"/>
    <p:sldId id="377" r:id="rId19"/>
    <p:sldId id="379" r:id="rId20"/>
    <p:sldId id="380" r:id="rId21"/>
    <p:sldId id="359"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26" autoAdjust="0"/>
    <p:restoredTop sz="94667" autoAdjust="0"/>
  </p:normalViewPr>
  <p:slideViewPr>
    <p:cSldViewPr>
      <p:cViewPr>
        <p:scale>
          <a:sx n="50" d="100"/>
          <a:sy n="50" d="100"/>
        </p:scale>
        <p:origin x="-1576" y="-48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3/31/2026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3/31/2026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3/31/2026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3/31/2026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3/31/2026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3/31/2026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3/31/2026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3/31/2026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3/31/2026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3/31/2026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3/31/2026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3/31/2026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Introduction to User </a:t>
            </a:r>
            <a:r>
              <a:rPr lang="en-US" sz="6000" smtClean="0"/>
              <a:t>Interface Design</a:t>
            </a:r>
            <a:endParaRPr lang="en-US" sz="6000" dirty="0" smtClean="0"/>
          </a:p>
        </p:txBody>
      </p:sp>
      <p:sp>
        <p:nvSpPr>
          <p:cNvPr id="5" name="Subtitle 2"/>
          <p:cNvSpPr>
            <a:spLocks noGrp="1"/>
          </p:cNvSpPr>
          <p:nvPr>
            <p:ph type="subTitle" idx="1"/>
          </p:nvPr>
        </p:nvSpPr>
        <p:spPr>
          <a:xfrm>
            <a:off x="1371600" y="3886200"/>
            <a:ext cx="6400800" cy="1752600"/>
          </a:xfrm>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2057400"/>
            <a:ext cx="5334000" cy="3276599"/>
          </a:xfrm>
        </p:spPr>
        <p:txBody>
          <a:bodyPr/>
          <a:lstStyle/>
          <a:p>
            <a:pPr marL="457200" indent="-457200">
              <a:buFont typeface="Wingdings" pitchFamily="2" charset="2"/>
              <a:buChar char="Ø"/>
            </a:pPr>
            <a:r>
              <a:rPr lang="en-US" sz="2400" dirty="0" smtClean="0"/>
              <a:t>To </a:t>
            </a:r>
            <a:r>
              <a:rPr lang="en-US" sz="2400" i="1" dirty="0" smtClean="0">
                <a:solidFill>
                  <a:srgbClr val="C00000"/>
                </a:solidFill>
              </a:rPr>
              <a:t>communicate</a:t>
            </a:r>
            <a:r>
              <a:rPr lang="en-US" sz="2400" dirty="0" smtClean="0"/>
              <a:t> in user interface design field.</a:t>
            </a:r>
          </a:p>
        </p:txBody>
      </p:sp>
      <p:pic>
        <p:nvPicPr>
          <p:cNvPr id="4" name="Picture 2"/>
          <p:cNvPicPr>
            <a:picLocks noChangeAspect="1" noChangeArrowheads="1"/>
          </p:cNvPicPr>
          <p:nvPr/>
        </p:nvPicPr>
        <p:blipFill>
          <a:blip r:embed="rId2" cstate="print"/>
          <a:srcRect/>
          <a:stretch>
            <a:fillRect/>
          </a:stretch>
        </p:blipFill>
        <p:spPr bwMode="auto">
          <a:xfrm>
            <a:off x="6019800" y="260985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Terms</a:t>
            </a:r>
            <a:endParaRPr lang="en-US" sz="2400" dirty="0" smtClean="0"/>
          </a:p>
          <a:p>
            <a:pPr marL="571500" indent="-571500">
              <a:buFont typeface="+mj-lt"/>
              <a:buAutoNum type="romanUcPeriod"/>
            </a:pPr>
            <a:r>
              <a:rPr lang="en-US" sz="2400" dirty="0" smtClean="0"/>
              <a:t>Usability </a:t>
            </a:r>
            <a:r>
              <a:rPr lang="en-US" sz="2400" dirty="0" smtClean="0"/>
              <a:t>Goals and Measures.</a:t>
            </a:r>
          </a:p>
          <a:p>
            <a:pPr marL="571500" indent="-571500">
              <a:buFont typeface="+mj-lt"/>
              <a:buAutoNum type="romanUcPeriod"/>
            </a:pPr>
            <a:r>
              <a:rPr lang="en-US" sz="2400" dirty="0" smtClean="0"/>
              <a:t>Guidelines, Principles and Theories.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905000"/>
            <a:ext cx="5638800" cy="4495800"/>
          </a:xfrm>
        </p:spPr>
        <p:txBody>
          <a:bodyPr/>
          <a:lstStyle/>
          <a:p>
            <a:pPr>
              <a:buFont typeface="+mj-lt"/>
              <a:buAutoNum type="arabicPeriod"/>
            </a:pPr>
            <a:r>
              <a:rPr lang="en-US" sz="2400" dirty="0" smtClean="0"/>
              <a:t>Ben </a:t>
            </a:r>
            <a:r>
              <a:rPr lang="en-US" sz="2400" dirty="0" err="1" smtClean="0"/>
              <a:t>Shneiderman</a:t>
            </a:r>
            <a:r>
              <a:rPr lang="en-US" sz="2400" dirty="0" smtClean="0"/>
              <a:t> et al. (2018). Designing the User Interface - Strategies for Effective Human. Pearson.</a:t>
            </a:r>
          </a:p>
          <a:p>
            <a:pPr>
              <a:buFont typeface="+mj-lt"/>
              <a:buAutoNum type="arabicPeriod"/>
            </a:pPr>
            <a:r>
              <a:rPr lang="en-US" sz="2400" dirty="0" smtClean="0"/>
              <a:t>William </a:t>
            </a:r>
            <a:r>
              <a:rPr lang="en-US" sz="2400" dirty="0" err="1" smtClean="0"/>
              <a:t>Lidwell</a:t>
            </a:r>
            <a:r>
              <a:rPr lang="en-US" sz="2400" dirty="0" smtClean="0"/>
              <a:t>, </a:t>
            </a:r>
            <a:r>
              <a:rPr lang="en-US" sz="2400" dirty="0" err="1" smtClean="0"/>
              <a:t>Kritina</a:t>
            </a:r>
            <a:r>
              <a:rPr lang="en-US" sz="2400" dirty="0" smtClean="0"/>
              <a:t> Holden and Jill Butler (2010). Universal Principles of Design. </a:t>
            </a:r>
            <a:r>
              <a:rPr lang="en-US" sz="2400" smtClean="0"/>
              <a:t>Rockport Publishers.</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UI</a:t>
            </a:r>
            <a:endParaRPr lang="en-US" dirty="0"/>
          </a:p>
        </p:txBody>
      </p:sp>
      <p:sp>
        <p:nvSpPr>
          <p:cNvPr id="3" name="Content Placeholder 2"/>
          <p:cNvSpPr>
            <a:spLocks noGrp="1"/>
          </p:cNvSpPr>
          <p:nvPr>
            <p:ph idx="1"/>
          </p:nvPr>
        </p:nvSpPr>
        <p:spPr>
          <a:xfrm>
            <a:off x="457200" y="1600200"/>
            <a:ext cx="3352800" cy="4525963"/>
          </a:xfrm>
        </p:spPr>
        <p:txBody>
          <a:bodyPr/>
          <a:lstStyle/>
          <a:p>
            <a:r>
              <a:rPr lang="en-US" dirty="0" smtClean="0"/>
              <a:t>A </a:t>
            </a:r>
            <a:r>
              <a:rPr lang="en-US" b="1" dirty="0" smtClean="0"/>
              <a:t>web UI</a:t>
            </a:r>
            <a:r>
              <a:rPr lang="en-US" dirty="0" smtClean="0"/>
              <a:t> is a </a:t>
            </a:r>
            <a:r>
              <a:rPr lang="en-US" b="1" dirty="0" smtClean="0"/>
              <a:t>full user interface delivered via a web browser</a:t>
            </a:r>
            <a:r>
              <a:rPr lang="en-US" dirty="0" smtClean="0"/>
              <a:t>, typically representing an entire application or system.</a:t>
            </a:r>
            <a:endParaRPr lang="en-US" dirty="0"/>
          </a:p>
        </p:txBody>
      </p:sp>
      <p:pic>
        <p:nvPicPr>
          <p:cNvPr id="2050" name="Picture 2" descr="Admin Panel Web UI design :: Behance"/>
          <p:cNvPicPr>
            <a:picLocks noChangeAspect="1" noChangeArrowheads="1"/>
          </p:cNvPicPr>
          <p:nvPr/>
        </p:nvPicPr>
        <p:blipFill>
          <a:blip r:embed="rId2" cstate="print"/>
          <a:srcRect/>
          <a:stretch>
            <a:fillRect/>
          </a:stretch>
        </p:blipFill>
        <p:spPr bwMode="auto">
          <a:xfrm>
            <a:off x="4191000" y="1447800"/>
            <a:ext cx="4445000" cy="49530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Widget UI</a:t>
            </a:r>
            <a:endParaRPr lang="en-US" dirty="0"/>
          </a:p>
        </p:txBody>
      </p:sp>
      <p:sp>
        <p:nvSpPr>
          <p:cNvPr id="3" name="Content Placeholder 2"/>
          <p:cNvSpPr>
            <a:spLocks noGrp="1"/>
          </p:cNvSpPr>
          <p:nvPr>
            <p:ph idx="1"/>
          </p:nvPr>
        </p:nvSpPr>
        <p:spPr/>
        <p:txBody>
          <a:bodyPr/>
          <a:lstStyle/>
          <a:p>
            <a:r>
              <a:rPr lang="en-US" sz="2400" dirty="0" smtClean="0"/>
              <a:t>A widget UI is a reusable, self-contained UI component that can be embedded inside larger interfaces, including but not limited to web UIs.</a:t>
            </a:r>
          </a:p>
          <a:p>
            <a:r>
              <a:rPr lang="en-US" sz="2400" b="1" dirty="0" smtClean="0"/>
              <a:t>Examples</a:t>
            </a:r>
            <a:endParaRPr lang="en-US" sz="2400" b="1" dirty="0" smtClean="0"/>
          </a:p>
          <a:p>
            <a:pPr lvl="1"/>
            <a:r>
              <a:rPr lang="en-US" sz="2000" dirty="0" smtClean="0"/>
              <a:t>Weather widget on phone home screen </a:t>
            </a:r>
          </a:p>
          <a:p>
            <a:pPr lvl="1"/>
            <a:r>
              <a:rPr lang="en-US" sz="2000" dirty="0" smtClean="0"/>
              <a:t>Chat support bubble on a website </a:t>
            </a:r>
          </a:p>
          <a:p>
            <a:pPr lvl="1"/>
            <a:r>
              <a:rPr lang="en-US" sz="2000" dirty="0" smtClean="0"/>
              <a:t>Stripe payment widget </a:t>
            </a:r>
          </a:p>
          <a:p>
            <a:pPr lvl="1"/>
            <a:r>
              <a:rPr lang="en-US" sz="2000" dirty="0" smtClean="0"/>
              <a:t>Dashboard metric </a:t>
            </a:r>
            <a:r>
              <a:rPr lang="en-US" sz="2000" dirty="0" smtClean="0"/>
              <a:t>card</a:t>
            </a:r>
            <a:endParaRPr lang="en-US" sz="2000" dirty="0" smtClean="0"/>
          </a:p>
        </p:txBody>
      </p:sp>
      <p:pic>
        <p:nvPicPr>
          <p:cNvPr id="34819" name="Picture 3"/>
          <p:cNvPicPr>
            <a:picLocks noChangeAspect="1" noChangeArrowheads="1"/>
          </p:cNvPicPr>
          <p:nvPr/>
        </p:nvPicPr>
        <p:blipFill>
          <a:blip r:embed="rId2" cstate="print"/>
          <a:srcRect/>
          <a:stretch>
            <a:fillRect/>
          </a:stretch>
        </p:blipFill>
        <p:spPr bwMode="auto">
          <a:xfrm>
            <a:off x="4648200" y="4114800"/>
            <a:ext cx="3749675" cy="21113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Widget UIs and Larger UI</a:t>
            </a:r>
            <a:endParaRPr lang="en-US" dirty="0"/>
          </a:p>
        </p:txBody>
      </p:sp>
      <p:pic>
        <p:nvPicPr>
          <p:cNvPr id="33794" name="Picture 2" descr="[2025] Kích thước thiết kế website chuẩn UI/UX cho mọi màn hình"/>
          <p:cNvPicPr>
            <a:picLocks noChangeAspect="1" noChangeArrowheads="1"/>
          </p:cNvPicPr>
          <p:nvPr/>
        </p:nvPicPr>
        <p:blipFill>
          <a:blip r:embed="rId2" cstate="print"/>
          <a:srcRect/>
          <a:stretch>
            <a:fillRect/>
          </a:stretch>
        </p:blipFill>
        <p:spPr bwMode="auto">
          <a:xfrm>
            <a:off x="1524000" y="1981200"/>
            <a:ext cx="5715000" cy="355282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Goals and </a:t>
            </a:r>
            <a:r>
              <a:rPr lang="en-US" dirty="0" smtClean="0"/>
              <a:t>Measures [1]</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Time to learn</a:t>
            </a:r>
            <a:r>
              <a:rPr lang="en-US" sz="2400" dirty="0" smtClean="0"/>
              <a:t>. How long does it take for typical members of the user community to learn how to use the actions relevant to a set of tasks?</a:t>
            </a:r>
          </a:p>
          <a:p>
            <a:r>
              <a:rPr lang="en-US" sz="2400" i="1" dirty="0" smtClean="0">
                <a:solidFill>
                  <a:srgbClr val="C00000"/>
                </a:solidFill>
              </a:rPr>
              <a:t>Speed of performance</a:t>
            </a:r>
            <a:r>
              <a:rPr lang="en-US" sz="2400" dirty="0" smtClean="0"/>
              <a:t>. How long does it take to carry out the benchmark tasks?</a:t>
            </a:r>
          </a:p>
          <a:p>
            <a:r>
              <a:rPr lang="en-US" sz="2400" i="1" dirty="0" smtClean="0">
                <a:solidFill>
                  <a:srgbClr val="C00000"/>
                </a:solidFill>
              </a:rPr>
              <a:t>Rate of errors by users</a:t>
            </a:r>
            <a:r>
              <a:rPr lang="en-US" sz="2400" dirty="0" smtClean="0"/>
              <a:t>. How many and what kinds of errors do people make in carrying out the benchmark tasks?</a:t>
            </a:r>
          </a:p>
          <a:p>
            <a:r>
              <a:rPr lang="en-US" sz="2400" i="1" dirty="0" smtClean="0">
                <a:solidFill>
                  <a:srgbClr val="C00000"/>
                </a:solidFill>
              </a:rPr>
              <a:t>Retention over time</a:t>
            </a:r>
            <a:r>
              <a:rPr lang="en-US" sz="2400" dirty="0" smtClean="0"/>
              <a:t>. How well do users maintain their know ledge after an hour, a day, or a week?</a:t>
            </a:r>
          </a:p>
          <a:p>
            <a:r>
              <a:rPr lang="en-US" sz="2400" i="1" dirty="0" smtClean="0">
                <a:solidFill>
                  <a:srgbClr val="C00000"/>
                </a:solidFill>
              </a:rPr>
              <a:t>Subjective satisfaction</a:t>
            </a:r>
            <a:r>
              <a:rPr lang="en-US" sz="2400" dirty="0" smtClean="0"/>
              <a:t>. How much did users like using various aspects of the interface?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Empirical Evidence and Theories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Guidelines</a:t>
            </a:r>
            <a:r>
              <a:rPr lang="en-US" sz="2400" dirty="0" smtClean="0"/>
              <a:t>. Low- level focused advice about </a:t>
            </a:r>
            <a:r>
              <a:rPr lang="en-US" sz="2400" u="sng" dirty="0" smtClean="0"/>
              <a:t>good practices</a:t>
            </a:r>
            <a:r>
              <a:rPr lang="en-US" sz="2400" dirty="0" smtClean="0"/>
              <a:t> and </a:t>
            </a:r>
            <a:r>
              <a:rPr lang="en-US" sz="2400" u="sng" dirty="0" smtClean="0"/>
              <a:t>cautions</a:t>
            </a:r>
            <a:r>
              <a:rPr lang="en-US" sz="2400" dirty="0" smtClean="0"/>
              <a:t> against dangers.</a:t>
            </a:r>
          </a:p>
          <a:p>
            <a:r>
              <a:rPr lang="en-US" sz="2400" i="1" dirty="0" smtClean="0">
                <a:solidFill>
                  <a:srgbClr val="C00000"/>
                </a:solidFill>
              </a:rPr>
              <a:t>Principles</a:t>
            </a:r>
            <a:r>
              <a:rPr lang="en-US" sz="2400" dirty="0" smtClean="0"/>
              <a:t>. Middle -level strategies or rules to </a:t>
            </a:r>
            <a:r>
              <a:rPr lang="en-US" sz="2400" u="sng" dirty="0" smtClean="0"/>
              <a:t>analyze</a:t>
            </a:r>
            <a:r>
              <a:rPr lang="en-US" sz="2400" dirty="0" smtClean="0"/>
              <a:t> and </a:t>
            </a:r>
            <a:r>
              <a:rPr lang="en-US" sz="2400" u="sng" dirty="0" smtClean="0"/>
              <a:t>compare</a:t>
            </a:r>
            <a:r>
              <a:rPr lang="en-US" sz="2400" dirty="0" smtClean="0"/>
              <a:t> design alternatives.</a:t>
            </a:r>
          </a:p>
          <a:p>
            <a:r>
              <a:rPr lang="en-US" sz="2400" i="1" dirty="0" smtClean="0">
                <a:solidFill>
                  <a:srgbClr val="C00000"/>
                </a:solidFill>
              </a:rPr>
              <a:t>Theories</a:t>
            </a:r>
            <a:r>
              <a:rPr lang="en-US" sz="2400" dirty="0" smtClean="0"/>
              <a:t>. High-level widely </a:t>
            </a:r>
            <a:r>
              <a:rPr lang="en-US" sz="2400" u="sng" dirty="0" smtClean="0"/>
              <a:t>applicable frameworks</a:t>
            </a:r>
            <a:r>
              <a:rPr lang="en-US" sz="2400" dirty="0" smtClean="0"/>
              <a:t> to draw on during design and evaluation as well as to support communication and teaching.</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Guidelines: Navigating the Interface</a:t>
            </a:r>
            <a:endParaRPr lang="en-US" sz="4200" dirty="0"/>
          </a:p>
        </p:txBody>
      </p:sp>
      <p:sp>
        <p:nvSpPr>
          <p:cNvPr id="3" name="Content Placeholder 2"/>
          <p:cNvSpPr>
            <a:spLocks noGrp="1"/>
          </p:cNvSpPr>
          <p:nvPr>
            <p:ph idx="1"/>
          </p:nvPr>
        </p:nvSpPr>
        <p:spPr/>
        <p:txBody>
          <a:bodyPr/>
          <a:lstStyle/>
          <a:p>
            <a:r>
              <a:rPr lang="en-US" sz="2400" i="1" dirty="0" smtClean="0">
                <a:solidFill>
                  <a:srgbClr val="C00000"/>
                </a:solidFill>
              </a:rPr>
              <a:t>Standardize task sequences</a:t>
            </a:r>
            <a:r>
              <a:rPr lang="en-US" sz="2400" dirty="0" smtClean="0"/>
              <a:t>. Allow users to perform tasks in the same sequence and manner across similar conditions.</a:t>
            </a:r>
          </a:p>
          <a:p>
            <a:r>
              <a:rPr lang="en-US" sz="2400" i="1" dirty="0" smtClean="0">
                <a:solidFill>
                  <a:srgbClr val="C00000"/>
                </a:solidFill>
              </a:rPr>
              <a:t>Use unique and descriptive headings</a:t>
            </a:r>
            <a:r>
              <a:rPr lang="en-US" sz="2400" dirty="0" smtClean="0"/>
              <a:t>. Use headings that are distinct from one another and conceptually related to the content they describe.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Guidelines: Organizing the Display</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Consistency of data display</a:t>
            </a:r>
            <a:r>
              <a:rPr lang="en-US" sz="2400" dirty="0" smtClean="0"/>
              <a:t>. During the design process, the terminology, abbreviations, formats, colors, capitalization, and so on should all be standardized and controlled by use of a dictionary of these items.</a:t>
            </a:r>
          </a:p>
          <a:p>
            <a:r>
              <a:rPr lang="en-US" sz="2400" i="1" dirty="0" smtClean="0">
                <a:solidFill>
                  <a:srgbClr val="C00000"/>
                </a:solidFill>
              </a:rPr>
              <a:t>Efficient information assimilation by the user</a:t>
            </a:r>
            <a:r>
              <a:rPr lang="en-US" sz="2400" dirty="0" smtClean="0"/>
              <a:t>. The format should be familiar to the operator and should be related to the tasks required to be performed with the data.</a:t>
            </a:r>
          </a:p>
          <a:p>
            <a:r>
              <a:rPr lang="en-US" sz="2400" i="1" dirty="0" smtClean="0">
                <a:solidFill>
                  <a:srgbClr val="C00000"/>
                </a:solidFill>
              </a:rPr>
              <a:t>Minimal memory load on the user</a:t>
            </a:r>
            <a:r>
              <a:rPr lang="en-US" sz="2400" dirty="0" smtClean="0"/>
              <a:t>. Users should not be required to remember information from one screen for use on another screen. Tasks should be arranged such that completion occurs with few actions, minimizing the chance of forgetting to perform a step.</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Guidelines: Getting the User's Attention</a:t>
            </a:r>
            <a:endParaRPr lang="en-US" sz="3800" dirty="0"/>
          </a:p>
        </p:txBody>
      </p:sp>
      <p:sp>
        <p:nvSpPr>
          <p:cNvPr id="3" name="Content Placeholder 2"/>
          <p:cNvSpPr>
            <a:spLocks noGrp="1"/>
          </p:cNvSpPr>
          <p:nvPr>
            <p:ph idx="1"/>
          </p:nvPr>
        </p:nvSpPr>
        <p:spPr/>
        <p:txBody>
          <a:bodyPr/>
          <a:lstStyle/>
          <a:p>
            <a:r>
              <a:rPr lang="en-US" sz="2400" i="1" dirty="0" smtClean="0">
                <a:solidFill>
                  <a:srgbClr val="C00000"/>
                </a:solidFill>
              </a:rPr>
              <a:t>Marking</a:t>
            </a:r>
            <a:r>
              <a:rPr lang="en-US" sz="2400" dirty="0" smtClean="0"/>
              <a:t>. Underline the item, enclose it in a box, point to it with an arrow, or use an indicator such as an asterisk, bullet, dash, plus sign, or X.</a:t>
            </a:r>
          </a:p>
          <a:p>
            <a:r>
              <a:rPr lang="en-US" sz="2400" i="1" dirty="0" smtClean="0">
                <a:solidFill>
                  <a:srgbClr val="C00000"/>
                </a:solidFill>
              </a:rPr>
              <a:t>Size</a:t>
            </a:r>
            <a:r>
              <a:rPr lang="en-US" sz="2400" dirty="0" smtClean="0"/>
              <a:t>. Use up to four sizes, with larger sizes attracting more attention.</a:t>
            </a:r>
          </a:p>
          <a:p>
            <a:r>
              <a:rPr lang="en-US" sz="2400" i="1" dirty="0" smtClean="0">
                <a:solidFill>
                  <a:srgbClr val="C00000"/>
                </a:solidFill>
              </a:rPr>
              <a:t>Choice of fonts</a:t>
            </a:r>
            <a:r>
              <a:rPr lang="en-US" sz="2400" dirty="0" smtClean="0"/>
              <a:t>. Use up to three fonts.</a:t>
            </a:r>
          </a:p>
          <a:p>
            <a:r>
              <a:rPr lang="en-US" sz="2400" i="1" dirty="0" smtClean="0">
                <a:solidFill>
                  <a:srgbClr val="C00000"/>
                </a:solidFill>
              </a:rPr>
              <a:t>Color</a:t>
            </a:r>
            <a:r>
              <a:rPr lang="en-US" sz="2400" dirty="0" smtClean="0"/>
              <a:t>. Use up to four standard colors, with additional colors reserved for occasional use.</a:t>
            </a:r>
          </a:p>
          <a:p>
            <a:r>
              <a:rPr lang="en-US" sz="2400" i="1" dirty="0" smtClean="0">
                <a:solidFill>
                  <a:srgbClr val="C00000"/>
                </a:solidFill>
              </a:rPr>
              <a:t>Audio</a:t>
            </a:r>
            <a:r>
              <a:rPr lang="en-US" sz="2400" dirty="0" smtClean="0"/>
              <a:t>. Use soft tones for regular positive feedback and harsh sounds for rare emergency conditions.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Principles: Determine users' skill levels</a:t>
            </a:r>
            <a:endParaRPr lang="en-US" sz="4000" dirty="0"/>
          </a:p>
        </p:txBody>
      </p:sp>
      <p:sp>
        <p:nvSpPr>
          <p:cNvPr id="3" name="Content Placeholder 2"/>
          <p:cNvSpPr>
            <a:spLocks noGrp="1"/>
          </p:cNvSpPr>
          <p:nvPr>
            <p:ph idx="1"/>
          </p:nvPr>
        </p:nvSpPr>
        <p:spPr/>
        <p:txBody>
          <a:bodyPr/>
          <a:lstStyle/>
          <a:p>
            <a:r>
              <a:rPr lang="en-US" sz="2400" i="1" dirty="0" smtClean="0">
                <a:solidFill>
                  <a:srgbClr val="C00000"/>
                </a:solidFill>
              </a:rPr>
              <a:t>Novice or first-time users</a:t>
            </a:r>
            <a:r>
              <a:rPr lang="en-US" sz="2400" dirty="0" smtClean="0"/>
              <a:t>. True novice users-for example, grandparents sending their first e-mail to a grandchild-are assumed to know little of the task or interface concepts.</a:t>
            </a:r>
          </a:p>
          <a:p>
            <a:r>
              <a:rPr lang="en-US" sz="2400" i="1" dirty="0" smtClean="0">
                <a:solidFill>
                  <a:srgbClr val="C00000"/>
                </a:solidFill>
              </a:rPr>
              <a:t>Knowledgeable intermittent users</a:t>
            </a:r>
            <a:r>
              <a:rPr lang="en-US" sz="2400" dirty="0" smtClean="0"/>
              <a:t>. Many people are knowledgeable but intermittent users of a variety of systems-for example, corporate managers using word processors to create templates for travel reimbursements.</a:t>
            </a:r>
          </a:p>
          <a:p>
            <a:r>
              <a:rPr lang="en-US" sz="2400" i="1" dirty="0" smtClean="0">
                <a:solidFill>
                  <a:srgbClr val="C00000"/>
                </a:solidFill>
              </a:rPr>
              <a:t>Expert frequent users</a:t>
            </a:r>
            <a:r>
              <a:rPr lang="en-US" sz="2400" dirty="0" smtClean="0"/>
              <a:t>. Expert "power" users are thoroughly familiar with the task and interface concepts and seek to get their work done quickly. They demand rapid response times, brief and non-distracting feedback, and the shortcuts to carry out actions with just a few keystrokes or selections.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Principles: Identify the tasks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High-level task actions</a:t>
            </a:r>
            <a:r>
              <a:rPr lang="en-US" sz="2200" dirty="0" smtClean="0"/>
              <a:t> can be decomposed into </a:t>
            </a:r>
            <a:r>
              <a:rPr lang="en-US" sz="2200" u="sng" dirty="0" smtClean="0"/>
              <a:t>multiple middle-level task actions</a:t>
            </a:r>
            <a:r>
              <a:rPr lang="en-US" sz="2200" dirty="0" smtClean="0"/>
              <a:t>, which can be further refined into </a:t>
            </a:r>
            <a:r>
              <a:rPr lang="en-US" sz="2200" u="sng" dirty="0" smtClean="0"/>
              <a:t>atomic actions</a:t>
            </a:r>
            <a:r>
              <a:rPr lang="en-US" sz="2200" dirty="0" smtClean="0"/>
              <a:t> that users execute with a single command, menu selection, and so on.</a:t>
            </a:r>
          </a:p>
          <a:p>
            <a:r>
              <a:rPr lang="en-US" sz="2200" dirty="0" smtClean="0"/>
              <a:t>Relative </a:t>
            </a:r>
            <a:r>
              <a:rPr lang="en-US" sz="2200" i="1" dirty="0" smtClean="0">
                <a:solidFill>
                  <a:srgbClr val="C00000"/>
                </a:solidFill>
              </a:rPr>
              <a:t>frequency of use</a:t>
            </a:r>
            <a:r>
              <a:rPr lang="en-US" sz="2200" dirty="0" smtClean="0"/>
              <a:t> is one of the bases for making architectural design decisions. For example, in a word processor:</a:t>
            </a:r>
          </a:p>
          <a:p>
            <a:pPr lvl="1"/>
            <a:r>
              <a:rPr lang="en-US" sz="2000" dirty="0" smtClean="0"/>
              <a:t>Frequent actions might be performed by special keys, such as the four cursor arrows, Insert, and Delete.</a:t>
            </a:r>
          </a:p>
          <a:p>
            <a:pPr lvl="1"/>
            <a:r>
              <a:rPr lang="en-US" sz="2000" dirty="0" smtClean="0"/>
              <a:t>Less frequent actions might be performed by a single letter plus the Ctrl key, or by a selection from a pull-down menu-examples include underscore, bold, or save.</a:t>
            </a:r>
          </a:p>
          <a:p>
            <a:pPr lvl="1"/>
            <a:r>
              <a:rPr lang="en-US" sz="2000" dirty="0" smtClean="0"/>
              <a:t>Infrequent actions or complex actions might require going through a sequence of menu selections.</a:t>
            </a:r>
          </a:p>
          <a:p>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Principles: Choose an interaction style</a:t>
            </a:r>
            <a:endParaRPr lang="en-US" sz="4000" dirty="0"/>
          </a:p>
        </p:txBody>
      </p:sp>
      <p:sp>
        <p:nvSpPr>
          <p:cNvPr id="3" name="Content Placeholder 2"/>
          <p:cNvSpPr>
            <a:spLocks noGrp="1"/>
          </p:cNvSpPr>
          <p:nvPr>
            <p:ph idx="1"/>
          </p:nvPr>
        </p:nvSpPr>
        <p:spPr/>
        <p:txBody>
          <a:bodyPr/>
          <a:lstStyle/>
          <a:p>
            <a:r>
              <a:rPr lang="en-US" sz="2000" i="1" dirty="0" smtClean="0">
                <a:solidFill>
                  <a:srgbClr val="C00000"/>
                </a:solidFill>
              </a:rPr>
              <a:t>Direct manipulation</a:t>
            </a:r>
            <a:r>
              <a:rPr lang="en-US" sz="2000" dirty="0" smtClean="0"/>
              <a:t>: When a clever designer can create a visual representation of the world of action, the users' tasks can be greatly simplified, because direct manipulation of familiar objects is possible.</a:t>
            </a:r>
          </a:p>
          <a:p>
            <a:r>
              <a:rPr lang="en-US" sz="2000" i="1" dirty="0" smtClean="0">
                <a:solidFill>
                  <a:srgbClr val="C00000"/>
                </a:solidFill>
              </a:rPr>
              <a:t>Menu selection</a:t>
            </a:r>
            <a:r>
              <a:rPr lang="en-US" sz="2000" dirty="0" smtClean="0"/>
              <a:t>: In menu-selection systems, users read a list of items, select the one most appropriate to their task, and observe the effect.</a:t>
            </a:r>
          </a:p>
          <a:p>
            <a:r>
              <a:rPr lang="en-US" sz="2000" i="1" dirty="0" smtClean="0">
                <a:solidFill>
                  <a:srgbClr val="C00000"/>
                </a:solidFill>
              </a:rPr>
              <a:t>Form fill-in</a:t>
            </a:r>
            <a:r>
              <a:rPr lang="en-US" sz="2000" dirty="0" smtClean="0"/>
              <a:t>: Users see a display of related fields, move a cursor among the fields, and enter data where desired.</a:t>
            </a:r>
          </a:p>
          <a:p>
            <a:r>
              <a:rPr lang="en-US" sz="2000" i="1" dirty="0" smtClean="0">
                <a:solidFill>
                  <a:srgbClr val="C00000"/>
                </a:solidFill>
              </a:rPr>
              <a:t>Command language</a:t>
            </a:r>
            <a:r>
              <a:rPr lang="en-US" sz="2000" dirty="0" smtClean="0"/>
              <a:t>: Users learn the syntax and can often express complex possibilities rapidly, without having to read distracting prompts.</a:t>
            </a:r>
          </a:p>
          <a:p>
            <a:r>
              <a:rPr lang="en-US" sz="2000" i="1" dirty="0" smtClean="0">
                <a:solidFill>
                  <a:srgbClr val="C00000"/>
                </a:solidFill>
              </a:rPr>
              <a:t>Natural language</a:t>
            </a:r>
            <a:r>
              <a:rPr lang="en-US" sz="2000" dirty="0" smtClean="0"/>
              <a:t>: Speech recognition can be helpful with familiar phrases.</a:t>
            </a:r>
          </a:p>
          <a:p>
            <a:r>
              <a:rPr lang="en-US" sz="2000" dirty="0" smtClean="0"/>
              <a:t>Blending several interaction styles may be appropriate when the required tasks and users are diverse.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Principles: Prevent errors</a:t>
            </a:r>
            <a:endParaRPr lang="en-US" sz="4000" dirty="0"/>
          </a:p>
        </p:txBody>
      </p:sp>
      <p:sp>
        <p:nvSpPr>
          <p:cNvPr id="3" name="Content Placeholder 2"/>
          <p:cNvSpPr>
            <a:spLocks noGrp="1"/>
          </p:cNvSpPr>
          <p:nvPr>
            <p:ph idx="1"/>
          </p:nvPr>
        </p:nvSpPr>
        <p:spPr/>
        <p:txBody>
          <a:bodyPr/>
          <a:lstStyle/>
          <a:p>
            <a:r>
              <a:rPr lang="en-US" sz="2400" dirty="0" smtClean="0"/>
              <a:t>As much as possible, design the system such that </a:t>
            </a:r>
            <a:r>
              <a:rPr lang="en-US" sz="2400" i="1" dirty="0" smtClean="0">
                <a:solidFill>
                  <a:srgbClr val="C00000"/>
                </a:solidFill>
              </a:rPr>
              <a:t>users cannot make serious errors</a:t>
            </a:r>
            <a:r>
              <a:rPr lang="en-US" sz="2400" dirty="0" smtClean="0"/>
              <a:t>; for example, gray-out menu items that are not appropriate and do not allow alphabetic characters in numeric entry fields.</a:t>
            </a:r>
          </a:p>
          <a:p>
            <a:r>
              <a:rPr lang="en-US" sz="2400" dirty="0" smtClean="0"/>
              <a:t>If a user makes an error, the interface should detect the error and offer simple, constructive, and specific </a:t>
            </a:r>
            <a:r>
              <a:rPr lang="en-US" sz="2400" i="1" dirty="0" smtClean="0">
                <a:solidFill>
                  <a:srgbClr val="C00000"/>
                </a:solidFill>
              </a:rPr>
              <a:t>instructions for recovery</a:t>
            </a:r>
            <a:r>
              <a:rPr lang="en-US" sz="2400" dirty="0" smtClean="0"/>
              <a: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Design-by-Levels Theories</a:t>
            </a:r>
            <a:endParaRPr lang="en-US" dirty="0"/>
          </a:p>
        </p:txBody>
      </p:sp>
      <p:sp>
        <p:nvSpPr>
          <p:cNvPr id="3" name="Content Placeholder 2"/>
          <p:cNvSpPr>
            <a:spLocks noGrp="1"/>
          </p:cNvSpPr>
          <p:nvPr>
            <p:ph idx="1"/>
          </p:nvPr>
        </p:nvSpPr>
        <p:spPr/>
        <p:txBody>
          <a:bodyPr/>
          <a:lstStyle/>
          <a:p>
            <a:r>
              <a:rPr lang="en-US" sz="2000" dirty="0" smtClean="0"/>
              <a:t>One approach to developing descriptive theories is to </a:t>
            </a:r>
            <a:r>
              <a:rPr lang="en-US" sz="2000" i="1" dirty="0" smtClean="0">
                <a:solidFill>
                  <a:srgbClr val="C00000"/>
                </a:solidFill>
              </a:rPr>
              <a:t>separate concepts according to levels</a:t>
            </a:r>
            <a:r>
              <a:rPr lang="en-US" sz="2000" dirty="0" smtClean="0"/>
              <a:t>.</a:t>
            </a:r>
          </a:p>
          <a:p>
            <a:r>
              <a:rPr lang="en-US" sz="2000" dirty="0" smtClean="0"/>
              <a:t>An appealing and easily comprehensible design-by-levels theory for interfaces is the </a:t>
            </a:r>
            <a:r>
              <a:rPr lang="en-US" sz="2000" i="1" dirty="0" smtClean="0">
                <a:solidFill>
                  <a:srgbClr val="C00000"/>
                </a:solidFill>
              </a:rPr>
              <a:t>four-level conceptual, semantic, syntactic, and lexical theory</a:t>
            </a:r>
            <a:r>
              <a:rPr lang="en-US" sz="2000" dirty="0" smtClean="0"/>
              <a:t> (Foley et al., 1995):</a:t>
            </a:r>
          </a:p>
          <a:p>
            <a:pPr lvl="1"/>
            <a:r>
              <a:rPr lang="en-US" sz="1600" dirty="0" smtClean="0"/>
              <a:t>The </a:t>
            </a:r>
            <a:r>
              <a:rPr lang="en-US" sz="1600" i="1" dirty="0" smtClean="0">
                <a:solidFill>
                  <a:srgbClr val="C00000"/>
                </a:solidFill>
              </a:rPr>
              <a:t>conceptual level</a:t>
            </a:r>
            <a:r>
              <a:rPr lang="en-US" sz="1600" dirty="0" smtClean="0"/>
              <a:t> is the user's "mental model" of the interactive system.</a:t>
            </a:r>
          </a:p>
          <a:p>
            <a:pPr lvl="1"/>
            <a:r>
              <a:rPr lang="en-US" sz="1600" dirty="0" smtClean="0"/>
              <a:t>The </a:t>
            </a:r>
            <a:r>
              <a:rPr lang="en-US" sz="1600" i="1" dirty="0" smtClean="0">
                <a:solidFill>
                  <a:srgbClr val="C00000"/>
                </a:solidFill>
              </a:rPr>
              <a:t>semantic level</a:t>
            </a:r>
            <a:r>
              <a:rPr lang="en-US" sz="1600" dirty="0" smtClean="0"/>
              <a:t> describes the meanings conveyed by the user's input and by the computer's output display. For example, deleting an object in a drawing program could be accomplished by undoing a recent action or by invoking a delete-object action.</a:t>
            </a:r>
          </a:p>
          <a:p>
            <a:pPr lvl="1"/>
            <a:r>
              <a:rPr lang="en-US" sz="1600" dirty="0" smtClean="0"/>
              <a:t>The </a:t>
            </a:r>
            <a:r>
              <a:rPr lang="en-US" sz="1600" i="1" dirty="0" smtClean="0">
                <a:solidFill>
                  <a:srgbClr val="C00000"/>
                </a:solidFill>
              </a:rPr>
              <a:t>syntactic level</a:t>
            </a:r>
            <a:r>
              <a:rPr lang="en-US" sz="1600" dirty="0" smtClean="0"/>
              <a:t> defines how the user actions that convey semantics are assembled into complete sentences that instruct the computer to perform certain tasks. For example, the delete-files action could be invoked by a multiple object selection, followed by a keystroke, followed by a confirmation.</a:t>
            </a:r>
          </a:p>
          <a:p>
            <a:pPr lvl="1"/>
            <a:r>
              <a:rPr lang="en-US" sz="1600" dirty="0" smtClean="0"/>
              <a:t>The </a:t>
            </a:r>
            <a:r>
              <a:rPr lang="en-US" sz="1600" i="1" dirty="0" smtClean="0">
                <a:solidFill>
                  <a:srgbClr val="C00000"/>
                </a:solidFill>
              </a:rPr>
              <a:t>lexical level</a:t>
            </a:r>
            <a:r>
              <a:rPr lang="en-US" sz="1600" dirty="0" smtClean="0"/>
              <a:t> deals with device dependencies and with the precise mechanisms by which users specify the syntax (for example, a function key or a mouse double-click within 200 milliseconds).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Stages-of-Action Theories</a:t>
            </a:r>
            <a:endParaRPr lang="en-US" dirty="0"/>
          </a:p>
        </p:txBody>
      </p:sp>
      <p:sp>
        <p:nvSpPr>
          <p:cNvPr id="3" name="Content Placeholder 2"/>
          <p:cNvSpPr>
            <a:spLocks noGrp="1"/>
          </p:cNvSpPr>
          <p:nvPr>
            <p:ph idx="1"/>
          </p:nvPr>
        </p:nvSpPr>
        <p:spPr/>
        <p:txBody>
          <a:bodyPr/>
          <a:lstStyle/>
          <a:p>
            <a:r>
              <a:rPr lang="en-US" sz="2200" dirty="0" smtClean="0"/>
              <a:t>Another approach to forming explanatory theories is to </a:t>
            </a:r>
            <a:r>
              <a:rPr lang="en-US" sz="2200" i="1" dirty="0" smtClean="0">
                <a:solidFill>
                  <a:srgbClr val="C00000"/>
                </a:solidFill>
              </a:rPr>
              <a:t>portray the stages of action</a:t>
            </a:r>
            <a:r>
              <a:rPr lang="en-US" sz="2200" dirty="0" smtClean="0"/>
              <a:t> that users go through in using interactive products such as information appliances, web interfaces, or mobile devices (e.g., music players).</a:t>
            </a:r>
          </a:p>
          <a:p>
            <a:r>
              <a:rPr lang="en-US" sz="2200" dirty="0" smtClean="0"/>
              <a:t>Norman (2013) offers </a:t>
            </a:r>
            <a:r>
              <a:rPr lang="en-US" sz="2200" i="1" dirty="0" smtClean="0">
                <a:solidFill>
                  <a:srgbClr val="C00000"/>
                </a:solidFill>
              </a:rPr>
              <a:t>seven stages of action</a:t>
            </a:r>
            <a:r>
              <a:rPr lang="en-US" sz="2200" dirty="0" smtClean="0"/>
              <a:t>, arranged in a cyclic pattern, as an explanatory theory of human-computer interaction:</a:t>
            </a:r>
          </a:p>
          <a:p>
            <a:pPr lvl="1"/>
            <a:r>
              <a:rPr lang="en-US" sz="1800" dirty="0" smtClean="0"/>
              <a:t>Forming the goal</a:t>
            </a:r>
          </a:p>
          <a:p>
            <a:pPr lvl="1"/>
            <a:r>
              <a:rPr lang="en-US" sz="1800" dirty="0" smtClean="0"/>
              <a:t>Forming the intention</a:t>
            </a:r>
          </a:p>
          <a:p>
            <a:pPr lvl="1"/>
            <a:r>
              <a:rPr lang="en-US" sz="1800" dirty="0" smtClean="0"/>
              <a:t>Specifying the action</a:t>
            </a:r>
          </a:p>
          <a:p>
            <a:pPr lvl="1"/>
            <a:r>
              <a:rPr lang="en-US" sz="1800" dirty="0" smtClean="0"/>
              <a:t>Executing the action</a:t>
            </a:r>
          </a:p>
          <a:p>
            <a:pPr lvl="1"/>
            <a:r>
              <a:rPr lang="en-US" sz="1800" dirty="0" smtClean="0"/>
              <a:t>Perceiving the system state</a:t>
            </a:r>
          </a:p>
          <a:p>
            <a:pPr lvl="1"/>
            <a:r>
              <a:rPr lang="en-US" sz="1800" dirty="0" smtClean="0"/>
              <a:t>Interpreting the system state</a:t>
            </a:r>
          </a:p>
          <a:p>
            <a:pPr lvl="1"/>
            <a:r>
              <a:rPr lang="en-US" sz="1800" dirty="0" smtClean="0"/>
              <a:t>Evaluating the outcome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Consistency Theories</a:t>
            </a:r>
            <a:endParaRPr lang="en-US" dirty="0"/>
          </a:p>
        </p:txBody>
      </p:sp>
      <p:sp>
        <p:nvSpPr>
          <p:cNvPr id="3" name="Content Placeholder 2"/>
          <p:cNvSpPr>
            <a:spLocks noGrp="1"/>
          </p:cNvSpPr>
          <p:nvPr>
            <p:ph idx="1"/>
          </p:nvPr>
        </p:nvSpPr>
        <p:spPr/>
        <p:txBody>
          <a:bodyPr/>
          <a:lstStyle/>
          <a:p>
            <a:r>
              <a:rPr lang="en-US" sz="2400" dirty="0" smtClean="0"/>
              <a:t>The argument for consistency is that if terminology for objects and actions is </a:t>
            </a:r>
            <a:r>
              <a:rPr lang="en-US" sz="2400" i="1" dirty="0" smtClean="0">
                <a:solidFill>
                  <a:srgbClr val="C00000"/>
                </a:solidFill>
              </a:rPr>
              <a:t>orderly</a:t>
            </a:r>
            <a:r>
              <a:rPr lang="en-US" sz="2400" dirty="0" smtClean="0"/>
              <a:t> and </a:t>
            </a:r>
            <a:r>
              <a:rPr lang="en-US" sz="2400" i="1" dirty="0" smtClean="0">
                <a:solidFill>
                  <a:srgbClr val="C00000"/>
                </a:solidFill>
              </a:rPr>
              <a:t>describable</a:t>
            </a:r>
            <a:r>
              <a:rPr lang="en-US" sz="2400" dirty="0" smtClean="0"/>
              <a:t> by </a:t>
            </a:r>
            <a:r>
              <a:rPr lang="en-US" sz="2400" u="sng" dirty="0" smtClean="0"/>
              <a:t>a few rules</a:t>
            </a:r>
            <a:r>
              <a:rPr lang="en-US" sz="2400" dirty="0" smtClean="0"/>
              <a:t>, users will be able to learn and retain them easily.</a:t>
            </a:r>
          </a:p>
          <a:p>
            <a:endParaRPr lang="en-US" sz="2400" dirty="0"/>
          </a:p>
        </p:txBody>
      </p:sp>
      <p:graphicFrame>
        <p:nvGraphicFramePr>
          <p:cNvPr id="4" name="Table 3"/>
          <p:cNvGraphicFramePr>
            <a:graphicFrameLocks noGrp="1"/>
          </p:cNvGraphicFramePr>
          <p:nvPr/>
        </p:nvGraphicFramePr>
        <p:xfrm>
          <a:off x="533400" y="3200400"/>
          <a:ext cx="8079931" cy="2133600"/>
        </p:xfrm>
        <a:graphic>
          <a:graphicData uri="http://schemas.openxmlformats.org/drawingml/2006/table">
            <a:tbl>
              <a:tblPr firstRow="1" bandRow="1">
                <a:tableStyleId>{5C22544A-7EE6-4342-B048-85BDC9FD1C3A}</a:tableStyleId>
              </a:tblPr>
              <a:tblGrid>
                <a:gridCol w="2690622"/>
                <a:gridCol w="2614486"/>
                <a:gridCol w="2774823"/>
              </a:tblGrid>
              <a:tr h="370840">
                <a:tc>
                  <a:txBody>
                    <a:bodyPr/>
                    <a:lstStyle/>
                    <a:p>
                      <a:r>
                        <a:rPr lang="en-US" sz="2200" dirty="0" smtClean="0"/>
                        <a:t>Consistent</a:t>
                      </a:r>
                      <a:endParaRPr lang="en-US" sz="2200" dirty="0"/>
                    </a:p>
                  </a:txBody>
                  <a:tcPr/>
                </a:tc>
                <a:tc>
                  <a:txBody>
                    <a:bodyPr/>
                    <a:lstStyle/>
                    <a:p>
                      <a:r>
                        <a:rPr lang="en-US" sz="2200" dirty="0" smtClean="0"/>
                        <a:t>Inconsistent A</a:t>
                      </a:r>
                      <a:endParaRPr lang="en-US" sz="2200" dirty="0"/>
                    </a:p>
                  </a:txBody>
                  <a:tcPr/>
                </a:tc>
                <a:tc>
                  <a:txBody>
                    <a:bodyPr/>
                    <a:lstStyle/>
                    <a:p>
                      <a:r>
                        <a:rPr lang="en-US" sz="2200" dirty="0" smtClean="0"/>
                        <a:t>Inconsistent B</a:t>
                      </a:r>
                      <a:endParaRPr lang="en-US" sz="2200" dirty="0"/>
                    </a:p>
                  </a:txBody>
                  <a:tcPr/>
                </a:tc>
              </a:tr>
              <a:tr h="370840">
                <a:tc>
                  <a:txBody>
                    <a:bodyPr/>
                    <a:lstStyle/>
                    <a:p>
                      <a:r>
                        <a:rPr lang="en-US" sz="2200" dirty="0" smtClean="0"/>
                        <a:t>delete/ insert table</a:t>
                      </a:r>
                      <a:endParaRPr lang="en-US" sz="2200" dirty="0"/>
                    </a:p>
                  </a:txBody>
                  <a:tcPr/>
                </a:tc>
                <a:tc>
                  <a:txBody>
                    <a:bodyPr/>
                    <a:lstStyle/>
                    <a:p>
                      <a:r>
                        <a:rPr lang="en-US" sz="2200" dirty="0" smtClean="0"/>
                        <a:t>delete/ insert table</a:t>
                      </a:r>
                      <a:endParaRPr lang="en-US" sz="2200" dirty="0"/>
                    </a:p>
                  </a:txBody>
                  <a:tcPr/>
                </a:tc>
                <a:tc>
                  <a:txBody>
                    <a:bodyPr/>
                    <a:lstStyle/>
                    <a:p>
                      <a:r>
                        <a:rPr lang="en-US" sz="2200" dirty="0" smtClean="0"/>
                        <a:t>delete/ insert table</a:t>
                      </a:r>
                      <a:endParaRPr lang="en-US" sz="2200" dirty="0"/>
                    </a:p>
                  </a:txBody>
                  <a:tcPr/>
                </a:tc>
              </a:tr>
              <a:tr h="370840">
                <a:tc>
                  <a:txBody>
                    <a:bodyPr/>
                    <a:lstStyle/>
                    <a:p>
                      <a:r>
                        <a:rPr lang="en-US" sz="2200" dirty="0" smtClean="0"/>
                        <a:t>delete/ insert column</a:t>
                      </a:r>
                      <a:endParaRPr lang="en-US" sz="2200" dirty="0"/>
                    </a:p>
                  </a:txBody>
                  <a:tcPr/>
                </a:tc>
                <a:tc>
                  <a:txBody>
                    <a:bodyPr/>
                    <a:lstStyle/>
                    <a:p>
                      <a:r>
                        <a:rPr lang="en-US" sz="2200" dirty="0" smtClean="0"/>
                        <a:t>remove/ add column</a:t>
                      </a:r>
                      <a:endParaRPr lang="en-US" sz="2200" dirty="0"/>
                    </a:p>
                  </a:txBody>
                  <a:tcPr/>
                </a:tc>
                <a:tc>
                  <a:txBody>
                    <a:bodyPr/>
                    <a:lstStyle/>
                    <a:p>
                      <a:r>
                        <a:rPr lang="en-US" sz="2200" dirty="0" smtClean="0"/>
                        <a:t>remove/insert column</a:t>
                      </a:r>
                      <a:endParaRPr lang="en-US" sz="2200" dirty="0"/>
                    </a:p>
                  </a:txBody>
                  <a:tcPr/>
                </a:tc>
              </a:tr>
              <a:tr h="370840">
                <a:tc>
                  <a:txBody>
                    <a:bodyPr/>
                    <a:lstStyle/>
                    <a:p>
                      <a:r>
                        <a:rPr lang="en-US" sz="2200" dirty="0" smtClean="0"/>
                        <a:t>delete/ insert row</a:t>
                      </a:r>
                      <a:endParaRPr lang="en-US" sz="2200" dirty="0"/>
                    </a:p>
                  </a:txBody>
                  <a:tcPr/>
                </a:tc>
                <a:tc>
                  <a:txBody>
                    <a:bodyPr/>
                    <a:lstStyle/>
                    <a:p>
                      <a:r>
                        <a:rPr lang="en-US" sz="2200" dirty="0" smtClean="0"/>
                        <a:t>destroy/ create row</a:t>
                      </a:r>
                      <a:endParaRPr lang="en-US" sz="2200" dirty="0"/>
                    </a:p>
                  </a:txBody>
                  <a:tcPr/>
                </a:tc>
                <a:tc>
                  <a:txBody>
                    <a:bodyPr/>
                    <a:lstStyle/>
                    <a:p>
                      <a:r>
                        <a:rPr lang="en-US" sz="2200" dirty="0" smtClean="0"/>
                        <a:t>delete/insert row</a:t>
                      </a:r>
                      <a:endParaRPr lang="en-US" sz="2200" dirty="0"/>
                    </a:p>
                  </a:txBody>
                  <a:tcPr/>
                </a:tc>
              </a:tr>
              <a:tr h="370840">
                <a:tc>
                  <a:txBody>
                    <a:bodyPr/>
                    <a:lstStyle/>
                    <a:p>
                      <a:r>
                        <a:rPr lang="en-US" sz="2200" dirty="0" smtClean="0"/>
                        <a:t>delete/ insert border</a:t>
                      </a:r>
                      <a:endParaRPr lang="en-US" sz="2200" dirty="0"/>
                    </a:p>
                  </a:txBody>
                  <a:tcPr/>
                </a:tc>
                <a:tc>
                  <a:txBody>
                    <a:bodyPr/>
                    <a:lstStyle/>
                    <a:p>
                      <a:r>
                        <a:rPr lang="en-US" sz="2200" dirty="0" smtClean="0"/>
                        <a:t>erase/ draw border</a:t>
                      </a:r>
                      <a:endParaRPr lang="en-US" sz="2200" dirty="0"/>
                    </a:p>
                  </a:txBody>
                  <a:tcPr/>
                </a:tc>
                <a:tc>
                  <a:txBody>
                    <a:bodyPr/>
                    <a:lstStyle/>
                    <a:p>
                      <a:r>
                        <a:rPr lang="en-US" sz="2200" dirty="0" smtClean="0"/>
                        <a:t>delete/insert border</a:t>
                      </a:r>
                      <a:endParaRPr lang="en-US" sz="2200" dirty="0"/>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9816</TotalTime>
  <Words>1424</Words>
  <Application>Microsoft Office PowerPoint</Application>
  <PresentationFormat>On-screen Show (4:3)</PresentationFormat>
  <Paragraphs>104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Introduction to User Interface Design</vt:lpstr>
      <vt:lpstr>Objectives</vt:lpstr>
      <vt:lpstr>Contents</vt:lpstr>
      <vt:lpstr>References</vt:lpstr>
      <vt:lpstr>Web UI</vt:lpstr>
      <vt:lpstr>Widget UI</vt:lpstr>
      <vt:lpstr>Widget UIs and Larger UI</vt:lpstr>
      <vt:lpstr>Slide 8</vt:lpstr>
      <vt:lpstr>Usability Goals and Measures [1]</vt:lpstr>
      <vt:lpstr>Empirical Evidence and Theories</vt:lpstr>
      <vt:lpstr>Guidelines: Navigating the Interface</vt:lpstr>
      <vt:lpstr>Guidelines: Organizing the Display</vt:lpstr>
      <vt:lpstr>Guidelines: Getting the User's Attention</vt:lpstr>
      <vt:lpstr>Principles: Determine users' skill levels</vt:lpstr>
      <vt:lpstr>Principles: Identify the tasks</vt:lpstr>
      <vt:lpstr>Principles: Choose an interaction style</vt:lpstr>
      <vt:lpstr>Principles: Prevent errors</vt:lpstr>
      <vt:lpstr>Design-by-Levels Theories</vt:lpstr>
      <vt:lpstr>Stages-of-Action Theories</vt:lpstr>
      <vt:lpstr>Consistency Theories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3308</cp:revision>
  <dcterms:created xsi:type="dcterms:W3CDTF">2007-10-06T08:25:13Z</dcterms:created>
  <dcterms:modified xsi:type="dcterms:W3CDTF">2026-03-31T15:48:35Z</dcterms:modified>
</cp:coreProperties>
</file>