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sldIdLst>
    <p:sldId id="256" r:id="rId2"/>
    <p:sldId id="374" r:id="rId3"/>
    <p:sldId id="375" r:id="rId4"/>
    <p:sldId id="376" r:id="rId5"/>
    <p:sldId id="377" r:id="rId6"/>
    <p:sldId id="378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9" r:id="rId16"/>
    <p:sldId id="388" r:id="rId17"/>
    <p:sldId id="391" r:id="rId18"/>
    <p:sldId id="390" r:id="rId19"/>
    <p:sldId id="392" r:id="rId20"/>
    <p:sldId id="393" r:id="rId21"/>
    <p:sldId id="394" r:id="rId22"/>
    <p:sldId id="359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26" autoAdjust="0"/>
    <p:restoredTop sz="94667" autoAdjust="0"/>
  </p:normalViewPr>
  <p:slideViewPr>
    <p:cSldViewPr>
      <p:cViewPr>
        <p:scale>
          <a:sx n="50" d="100"/>
          <a:sy n="50" d="100"/>
        </p:scale>
        <p:origin x="-1576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que.com/" TargetMode="External"/><Relationship Id="rId7" Type="http://schemas.openxmlformats.org/officeDocument/2006/relationships/hyperlink" Target="https://addons.mozilla.org/en-US/firefox/addon/wave-accessibility-tool/" TargetMode="External"/><Relationship Id="rId2" Type="http://schemas.openxmlformats.org/officeDocument/2006/relationships/hyperlink" Target="https://wave.webaim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romewebstore.google.com/detail/wave-evaluation-tool/jbbplnpkjmmeebjpijfedlgcdilocofh" TargetMode="External"/><Relationship Id="rId5" Type="http://schemas.openxmlformats.org/officeDocument/2006/relationships/hyperlink" Target="https://chrome.google.com/webstore/detail/wave-evaluation-tool/jbbplnpkjmmeebjpijfedlgcdilocofh" TargetMode="External"/><Relationship Id="rId4" Type="http://schemas.openxmlformats.org/officeDocument/2006/relationships/hyperlink" Target="https://wordpress.org/plugins/tool-for-ada-section-508-and-seo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ebaim.org/resources/contrastchecker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ebaim.org/blog/wcag-2-0-and-link-color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User Interface Design Principles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5334000" cy="32765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evaluate</a:t>
            </a:r>
            <a:r>
              <a:rPr lang="en-US" sz="2400" dirty="0" smtClean="0"/>
              <a:t> user interface designs using principles.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User Interface Design Principles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smtClean="0"/>
              <a:t>Web Accessibility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6388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William </a:t>
            </a:r>
            <a:r>
              <a:rPr lang="en-US" sz="2400" dirty="0" err="1" smtClean="0"/>
              <a:t>Lidwell</a:t>
            </a:r>
            <a:r>
              <a:rPr lang="en-US" sz="2400" dirty="0" smtClean="0"/>
              <a:t>, </a:t>
            </a:r>
            <a:r>
              <a:rPr lang="en-US" sz="2400" dirty="0" err="1" smtClean="0"/>
              <a:t>Kritina</a:t>
            </a:r>
            <a:r>
              <a:rPr lang="en-US" sz="2400" dirty="0" smtClean="0"/>
              <a:t> Holden and Jill Butler (2010). Universal Principles of Design. Rockport Publishers.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80/20 Rule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Identifying the </a:t>
            </a:r>
            <a:r>
              <a:rPr lang="en-US" sz="2400" i="1" dirty="0" smtClean="0">
                <a:solidFill>
                  <a:srgbClr val="C00000"/>
                </a:solidFill>
              </a:rPr>
              <a:t>critical 20 percent of the functions</a:t>
            </a:r>
            <a:r>
              <a:rPr lang="en-US" sz="2400" dirty="0" smtClean="0"/>
              <a:t> and making them readily available in toolbars.</a:t>
            </a:r>
            <a:endParaRPr 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9720" y="2819400"/>
            <a:ext cx="6202680" cy="315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/>
          <a:lstStyle/>
          <a:p>
            <a:r>
              <a:rPr lang="en-US" sz="2400" dirty="0" smtClean="0"/>
              <a:t>Objects and environments should be designed to be usable, </a:t>
            </a:r>
            <a:r>
              <a:rPr lang="en-US" sz="2400" i="1" dirty="0" smtClean="0">
                <a:solidFill>
                  <a:srgbClr val="C00000"/>
                </a:solidFill>
              </a:rPr>
              <a:t>without modification</a:t>
            </a:r>
            <a:r>
              <a:rPr lang="en-US" sz="2400" dirty="0" smtClean="0"/>
              <a:t>, by </a:t>
            </a:r>
            <a:r>
              <a:rPr lang="en-US" sz="2400" u="sng" dirty="0" smtClean="0"/>
              <a:t>as many people as possible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600200"/>
            <a:ext cx="4111943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 Organizer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Advance organizers are </a:t>
            </a:r>
            <a:r>
              <a:rPr lang="en-US" sz="2400" u="sng" dirty="0" smtClean="0"/>
              <a:t>brief chunks of information</a:t>
            </a:r>
            <a:r>
              <a:rPr lang="en-US" sz="2400" dirty="0" smtClean="0"/>
              <a:t> — spoken, written, or illustrated — </a:t>
            </a:r>
            <a:r>
              <a:rPr lang="en-US" sz="2400" i="1" dirty="0" smtClean="0">
                <a:solidFill>
                  <a:srgbClr val="C00000"/>
                </a:solidFill>
              </a:rPr>
              <a:t>presented prior to new material</a:t>
            </a:r>
            <a:r>
              <a:rPr lang="en-US" sz="2400" dirty="0" smtClean="0"/>
              <a:t> to help facilitate learning and understanding.</a:t>
            </a:r>
            <a:endParaRPr lang="en-US" sz="24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971800"/>
            <a:ext cx="2804160" cy="357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Aesthetic-Usability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aesthetic-usability effect</a:t>
            </a:r>
            <a:r>
              <a:rPr lang="en-US" sz="2400" dirty="0" smtClean="0"/>
              <a:t> describes a phenomenon in which people perceive </a:t>
            </a:r>
            <a:r>
              <a:rPr lang="en-US" sz="2400" u="sng" dirty="0" smtClean="0"/>
              <a:t>more-aesthetic designs as easier to use</a:t>
            </a:r>
            <a:r>
              <a:rPr lang="en-US" sz="2400" dirty="0" smtClean="0"/>
              <a:t> than less-aesthetic designs—whether they are or not.</a:t>
            </a:r>
            <a:endParaRPr lang="en-US" sz="2400" dirty="0"/>
          </a:p>
        </p:txBody>
      </p:sp>
      <p:pic>
        <p:nvPicPr>
          <p:cNvPr id="10242" name="Picture 2" descr="https://zappedbytaiser.files.wordpress.com/2011/10/mac-vs-p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505200"/>
            <a:ext cx="5284795" cy="24260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Affordance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Objects and environments are </a:t>
            </a:r>
            <a:r>
              <a:rPr lang="en-US" sz="2400" i="1" dirty="0" smtClean="0">
                <a:solidFill>
                  <a:srgbClr val="C00000"/>
                </a:solidFill>
              </a:rPr>
              <a:t>better suited</a:t>
            </a:r>
            <a:r>
              <a:rPr lang="en-US" sz="2400" dirty="0" smtClean="0"/>
              <a:t> for some functions than others.</a:t>
            </a:r>
          </a:p>
          <a:p>
            <a:r>
              <a:rPr lang="en-US" sz="2400" dirty="0" smtClean="0"/>
              <a:t>Round wheels are better suited than square wheels for rolling; therefore, round wheels are said to better afford rolling.</a:t>
            </a:r>
          </a:p>
          <a:p>
            <a:r>
              <a:rPr lang="en-US" sz="2400" dirty="0" smtClean="0"/>
              <a:t>Stairs are better suited than fences for climbing; therefore, stairs are said to better afford climbing.</a:t>
            </a:r>
            <a:endParaRPr lang="en-US" sz="2400" dirty="0"/>
          </a:p>
        </p:txBody>
      </p:sp>
      <p:pic>
        <p:nvPicPr>
          <p:cNvPr id="9218" name="Picture 2" descr="https://miro.medium.com/max/639/1*_qtkUosdSBosCge0NzfPnw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419600"/>
            <a:ext cx="4869180" cy="1866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Elements in a design should be </a:t>
            </a:r>
            <a:r>
              <a:rPr lang="en-US" sz="2400" i="1" dirty="0" smtClean="0">
                <a:solidFill>
                  <a:srgbClr val="C00000"/>
                </a:solidFill>
              </a:rPr>
              <a:t>aligned with one or more other elements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creates </a:t>
            </a:r>
            <a:r>
              <a:rPr lang="en-US" sz="2400" u="sng" dirty="0" smtClean="0"/>
              <a:t>a sense of unity and cohesion</a:t>
            </a:r>
            <a:r>
              <a:rPr lang="en-US" sz="2400" dirty="0" smtClean="0"/>
              <a:t>, which contributes to the design’s overall </a:t>
            </a:r>
            <a:r>
              <a:rPr lang="en-US" sz="2400" u="sng" dirty="0" smtClean="0"/>
              <a:t>aesthetic</a:t>
            </a:r>
            <a:r>
              <a:rPr lang="en-US" sz="2400" dirty="0" smtClean="0"/>
              <a:t> and </a:t>
            </a:r>
            <a:r>
              <a:rPr lang="en-US" sz="2400" u="sng" dirty="0" smtClean="0"/>
              <a:t>perceived stability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8197" name="Picture 5" descr="https://www.mindsetassociates.com/wp-content/uploads/2019/06/Secrets-of-Strategy-Align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657600"/>
            <a:ext cx="4061460" cy="2697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r>
              <a:rPr lang="en-US" sz="2200" dirty="0" smtClean="0"/>
              <a:t>Whenever possible, people tend to perceive a set of individual elements as </a:t>
            </a:r>
            <a:r>
              <a:rPr lang="en-US" sz="2200" i="1" dirty="0" smtClean="0">
                <a:solidFill>
                  <a:srgbClr val="C00000"/>
                </a:solidFill>
              </a:rPr>
              <a:t>a single, recognizable pattern</a:t>
            </a:r>
            <a:r>
              <a:rPr lang="en-US" sz="2200" dirty="0" smtClean="0"/>
              <a:t>, rather than multiple, individual elements.</a:t>
            </a:r>
          </a:p>
          <a:p>
            <a:r>
              <a:rPr lang="en-US" sz="2200" dirty="0" smtClean="0"/>
              <a:t>The tendency to perceive a single pattern is so strong that people will </a:t>
            </a:r>
            <a:r>
              <a:rPr lang="en-US" sz="2200" i="1" dirty="0" smtClean="0">
                <a:solidFill>
                  <a:srgbClr val="C00000"/>
                </a:solidFill>
              </a:rPr>
              <a:t>close gaps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fill in missing information</a:t>
            </a:r>
            <a:r>
              <a:rPr lang="en-US" sz="2200" dirty="0" smtClean="0"/>
              <a:t> to complete the pattern if necessary.</a:t>
            </a:r>
          </a:p>
          <a:p>
            <a:r>
              <a:rPr lang="en-US" sz="2200" dirty="0" smtClean="0"/>
              <a:t>The principle of closure enables designers to </a:t>
            </a:r>
            <a:r>
              <a:rPr lang="en-US" sz="2200" i="1" dirty="0" smtClean="0">
                <a:solidFill>
                  <a:srgbClr val="C00000"/>
                </a:solidFill>
              </a:rPr>
              <a:t>reduce complexity</a:t>
            </a:r>
            <a:r>
              <a:rPr lang="en-US" sz="2200" dirty="0" smtClean="0"/>
              <a:t> by reducing the number of elements needed to organize and communicate information.</a:t>
            </a:r>
            <a:endParaRPr lang="en-US" sz="22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524000"/>
            <a:ext cx="1760220" cy="2750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715000" y="4572000"/>
            <a:ext cx="3124200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Elements in text and graphics can be minimized to allow viewers to participate in the completion of the pattern.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Limit the palette to what the eye can process at one glance (about </a:t>
            </a:r>
            <a:r>
              <a:rPr lang="en-US" sz="2200" i="1" dirty="0" smtClean="0">
                <a:solidFill>
                  <a:srgbClr val="C00000"/>
                </a:solidFill>
              </a:rPr>
              <a:t>five colors</a:t>
            </a:r>
            <a:r>
              <a:rPr lang="en-US" sz="2200" dirty="0" smtClean="0"/>
              <a:t> depending on the complexity of the design).</a:t>
            </a:r>
          </a:p>
          <a:p>
            <a:r>
              <a:rPr lang="en-US" sz="2200" dirty="0" smtClean="0"/>
              <a:t>Achieve aesthetic </a:t>
            </a:r>
            <a:r>
              <a:rPr lang="en-US" sz="2200" i="1" dirty="0" smtClean="0">
                <a:solidFill>
                  <a:srgbClr val="C00000"/>
                </a:solidFill>
              </a:rPr>
              <a:t>color combinations</a:t>
            </a:r>
            <a:r>
              <a:rPr lang="en-US" sz="2200" dirty="0" smtClean="0"/>
              <a:t> by using adjacent colors on the color wheel (analogous), opposing colors on the color wheel (complementary), colors at the corners of a symmetrical polygon circumscribed in the color wheel (triadic and quadratic), or color combinations found in nature.</a:t>
            </a:r>
            <a:endParaRPr lang="en-US" sz="22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9680" y="4267200"/>
            <a:ext cx="6675120" cy="222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According to the principle of consistency, systems are more usable and learnable when </a:t>
            </a:r>
            <a:r>
              <a:rPr lang="en-US" sz="2200" i="1" dirty="0" smtClean="0">
                <a:solidFill>
                  <a:srgbClr val="C00000"/>
                </a:solidFill>
              </a:rPr>
              <a:t>similar parts</a:t>
            </a:r>
            <a:r>
              <a:rPr lang="en-US" sz="2200" dirty="0" smtClean="0"/>
              <a:t> are expressed in </a:t>
            </a:r>
            <a:r>
              <a:rPr lang="en-US" sz="2200" i="1" dirty="0" smtClean="0">
                <a:solidFill>
                  <a:srgbClr val="C00000"/>
                </a:solidFill>
              </a:rPr>
              <a:t>similar ways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Consistency enables people to efficiently </a:t>
            </a:r>
            <a:r>
              <a:rPr lang="en-US" sz="2200" i="1" dirty="0" smtClean="0">
                <a:solidFill>
                  <a:srgbClr val="C00000"/>
                </a:solidFill>
              </a:rPr>
              <a:t>transfer knowledge</a:t>
            </a:r>
            <a:r>
              <a:rPr lang="en-US" sz="2200" dirty="0" smtClean="0"/>
              <a:t> to new contexts, </a:t>
            </a:r>
            <a:r>
              <a:rPr lang="en-US" sz="2200" i="1" dirty="0" smtClean="0">
                <a:solidFill>
                  <a:srgbClr val="C00000"/>
                </a:solidFill>
              </a:rPr>
              <a:t>learn new things quickly</a:t>
            </a:r>
            <a:r>
              <a:rPr lang="en-US" sz="2200" dirty="0" smtClean="0"/>
              <a:t>, and focus attention on the relevant aspects of a task.</a:t>
            </a:r>
          </a:p>
          <a:p>
            <a:r>
              <a:rPr lang="en-US" sz="2200" dirty="0" smtClean="0"/>
              <a:t>Use consistent approaches when possible, but do not </a:t>
            </a:r>
            <a:r>
              <a:rPr lang="en-US" sz="2200" i="1" dirty="0" smtClean="0">
                <a:solidFill>
                  <a:srgbClr val="C00000"/>
                </a:solidFill>
              </a:rPr>
              <a:t>compromise clarity or usability</a:t>
            </a:r>
            <a:r>
              <a:rPr lang="en-US" sz="2200" dirty="0" smtClean="0"/>
              <a:t> for consistency. In</a:t>
            </a:r>
            <a:endParaRPr lang="en-US" sz="2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419600"/>
            <a:ext cx="4483100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562600" y="4495800"/>
            <a:ext cx="3200400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smtClean="0"/>
              <a:t>Restaurant chains frequently use consistency to provide customers with the same experience across many locations.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Gutenberg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layout following the Gutenberg diagram would place </a:t>
            </a:r>
            <a:r>
              <a:rPr lang="en-US" sz="2400" i="1" dirty="0" smtClean="0">
                <a:solidFill>
                  <a:srgbClr val="C00000"/>
                </a:solidFill>
              </a:rPr>
              <a:t>key elements</a:t>
            </a:r>
            <a:r>
              <a:rPr lang="en-US" sz="2400" dirty="0" smtClean="0"/>
              <a:t> at the </a:t>
            </a:r>
            <a:r>
              <a:rPr lang="en-US" sz="2400" u="sng" dirty="0" smtClean="0"/>
              <a:t>top left</a:t>
            </a:r>
            <a:r>
              <a:rPr lang="en-US" sz="2400" dirty="0" smtClean="0"/>
              <a:t> (e.g., headline), </a:t>
            </a:r>
            <a:r>
              <a:rPr lang="en-US" sz="2400" u="sng" dirty="0" smtClean="0"/>
              <a:t>middle</a:t>
            </a:r>
            <a:r>
              <a:rPr lang="en-US" sz="2400" dirty="0" smtClean="0"/>
              <a:t> (e.g., image), and </a:t>
            </a:r>
            <a:r>
              <a:rPr lang="en-US" sz="2400" u="sng" dirty="0" smtClean="0"/>
              <a:t>bottom right</a:t>
            </a:r>
            <a:r>
              <a:rPr lang="en-US" sz="2400" dirty="0" smtClean="0"/>
              <a:t> (e.g., contact information).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3048000"/>
            <a:ext cx="2693670" cy="3139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of Thirds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is applied by dividing a medium into thirds both vertically and horizontally, creating an invisible grid of </a:t>
            </a:r>
            <a:r>
              <a:rPr lang="en-US" sz="2400" i="1" dirty="0" smtClean="0">
                <a:solidFill>
                  <a:srgbClr val="C00000"/>
                </a:solidFill>
              </a:rPr>
              <a:t>nine rectangles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four intersections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primary element</a:t>
            </a:r>
            <a:r>
              <a:rPr lang="en-US" sz="2400" dirty="0" smtClean="0"/>
              <a:t> within a design is then positioned on </a:t>
            </a:r>
            <a:r>
              <a:rPr lang="en-US" sz="2400" u="sng" dirty="0" smtClean="0"/>
              <a:t>an intersection</a:t>
            </a:r>
            <a:r>
              <a:rPr lang="en-US" sz="2400" dirty="0" smtClean="0"/>
              <a:t> of the grid.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870960"/>
            <a:ext cx="3577590" cy="23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visual clarity of text</a:t>
            </a:r>
            <a:r>
              <a:rPr lang="en-US" sz="2200" dirty="0" smtClean="0"/>
              <a:t>, generally based on the </a:t>
            </a:r>
            <a:r>
              <a:rPr lang="en-US" sz="2200" u="sng" dirty="0" smtClean="0"/>
              <a:t>size</a:t>
            </a:r>
            <a:r>
              <a:rPr lang="en-US" sz="2200" dirty="0" smtClean="0"/>
              <a:t>, </a:t>
            </a:r>
            <a:r>
              <a:rPr lang="en-US" sz="2200" u="sng" dirty="0" smtClean="0"/>
              <a:t>typeface</a:t>
            </a:r>
            <a:r>
              <a:rPr lang="en-US" sz="2200" dirty="0" smtClean="0"/>
              <a:t>, </a:t>
            </a:r>
            <a:r>
              <a:rPr lang="en-US" sz="2200" u="sng" dirty="0" smtClean="0"/>
              <a:t>contrast</a:t>
            </a:r>
            <a:r>
              <a:rPr lang="en-US" sz="2200" dirty="0" smtClean="0"/>
              <a:t>, </a:t>
            </a:r>
            <a:r>
              <a:rPr lang="en-US" sz="2200" u="sng" dirty="0" smtClean="0"/>
              <a:t>text block</a:t>
            </a:r>
            <a:r>
              <a:rPr lang="en-US" sz="2200" dirty="0" smtClean="0"/>
              <a:t>, and </a:t>
            </a:r>
            <a:r>
              <a:rPr lang="en-US" sz="2200" u="sng" dirty="0" smtClean="0"/>
              <a:t>spacing</a:t>
            </a:r>
            <a:r>
              <a:rPr lang="en-US" sz="2200" dirty="0" smtClean="0"/>
              <a:t> of the characters used.</a:t>
            </a:r>
          </a:p>
          <a:p>
            <a:r>
              <a:rPr lang="en-US" sz="2200" dirty="0" smtClean="0"/>
              <a:t>For printed text, standard </a:t>
            </a:r>
            <a:r>
              <a:rPr lang="en-US" sz="2200" i="1" dirty="0" smtClean="0">
                <a:solidFill>
                  <a:srgbClr val="C00000"/>
                </a:solidFill>
              </a:rPr>
              <a:t>9- to 12-point</a:t>
            </a:r>
            <a:r>
              <a:rPr lang="en-US" sz="2200" dirty="0" smtClean="0"/>
              <a:t> type is considered optimal.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Sentence case text</a:t>
            </a:r>
            <a:r>
              <a:rPr lang="en-US" sz="2200" dirty="0" smtClean="0"/>
              <a:t> should be used for </a:t>
            </a:r>
            <a:r>
              <a:rPr lang="en-US" sz="2200" u="sng" dirty="0" smtClean="0"/>
              <a:t>text blocks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Use </a:t>
            </a:r>
            <a:r>
              <a:rPr lang="en-US" sz="2200" i="1" dirty="0" smtClean="0">
                <a:solidFill>
                  <a:srgbClr val="C00000"/>
                </a:solidFill>
              </a:rPr>
              <a:t>dark text</a:t>
            </a:r>
            <a:r>
              <a:rPr lang="en-US" sz="2200" dirty="0" smtClean="0"/>
              <a:t> on a </a:t>
            </a:r>
            <a:r>
              <a:rPr lang="en-US" sz="2200" u="sng" dirty="0" smtClean="0"/>
              <a:t>light background</a:t>
            </a:r>
            <a:r>
              <a:rPr lang="en-US" sz="2200" dirty="0" smtClean="0"/>
              <a:t> or vice versa.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962400"/>
            <a:ext cx="6911340" cy="2023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Accessibility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Online testing tools</a:t>
            </a:r>
            <a:endParaRPr lang="en-US" sz="2800" dirty="0" smtClean="0">
              <a:hlinkClick r:id="rId2"/>
            </a:endParaRPr>
          </a:p>
          <a:p>
            <a:pPr lvl="1"/>
            <a:r>
              <a:rPr lang="en-US" sz="1800" dirty="0" smtClean="0">
                <a:hlinkClick r:id="rId2"/>
              </a:rPr>
              <a:t>https://wave.webaim.org/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3"/>
              </a:rPr>
              <a:t>https://www.deque.com/</a:t>
            </a:r>
            <a:endParaRPr lang="en-US" sz="1800" dirty="0" smtClean="0"/>
          </a:p>
          <a:p>
            <a:r>
              <a:rPr lang="en-US" sz="2800" dirty="0" smtClean="0"/>
              <a:t>Testing tool for </a:t>
            </a:r>
            <a:r>
              <a:rPr lang="en-US" sz="2800" dirty="0" err="1" smtClean="0"/>
              <a:t>WordPress</a:t>
            </a:r>
            <a:endParaRPr lang="en-US" sz="2800" dirty="0" smtClean="0"/>
          </a:p>
          <a:p>
            <a:pPr lvl="1"/>
            <a:r>
              <a:rPr lang="en-US" sz="1800" dirty="0" smtClean="0">
                <a:hlinkClick r:id="rId4"/>
              </a:rPr>
              <a:t>https://wordpress.org/plugins/tool-for-ada-section-508-and-seo</a:t>
            </a:r>
            <a:r>
              <a:rPr lang="en-US" sz="1800" dirty="0" smtClean="0">
                <a:hlinkClick r:id="rId4"/>
              </a:rPr>
              <a:t>/</a:t>
            </a:r>
            <a:endParaRPr lang="en-US" sz="1800" dirty="0" smtClean="0"/>
          </a:p>
          <a:p>
            <a:r>
              <a:rPr lang="en-US" sz="2800" dirty="0" smtClean="0"/>
              <a:t>Testing tool for Chrome</a:t>
            </a:r>
            <a:endParaRPr lang="en-US" sz="2800" dirty="0" smtClean="0">
              <a:hlinkClick r:id="rId5"/>
            </a:endParaRPr>
          </a:p>
          <a:p>
            <a:pPr lvl="1"/>
            <a:r>
              <a:rPr lang="en-US" sz="1800" dirty="0" smtClean="0">
                <a:hlinkClick r:id="rId6"/>
              </a:rPr>
              <a:t>https://</a:t>
            </a:r>
            <a:r>
              <a:rPr lang="en-US" sz="1800" dirty="0" smtClean="0">
                <a:hlinkClick r:id="rId6"/>
              </a:rPr>
              <a:t>chromewebstore.google.com/detail/wave-evaluation-tool/jbbplnpkjmmeebjpijfedlgcdilocofh</a:t>
            </a:r>
            <a:endParaRPr lang="en-US" sz="1800" dirty="0" smtClean="0"/>
          </a:p>
          <a:p>
            <a:r>
              <a:rPr lang="en-US" sz="2800" dirty="0" smtClean="0"/>
              <a:t>Testing </a:t>
            </a:r>
            <a:r>
              <a:rPr lang="en-US" sz="2800" dirty="0" smtClean="0"/>
              <a:t>tool for Firefox</a:t>
            </a:r>
            <a:endParaRPr lang="en-US" sz="2800" dirty="0" smtClean="0">
              <a:hlinkClick r:id="rId5"/>
            </a:endParaRPr>
          </a:p>
          <a:p>
            <a:pPr lvl="1"/>
            <a:r>
              <a:rPr lang="en-US" sz="1800" dirty="0" smtClean="0">
                <a:hlinkClick r:id="rId7"/>
              </a:rPr>
              <a:t>https://addons.mozilla.org/en-US/firefox/addon/wave-accessibility-tool</a:t>
            </a:r>
            <a:r>
              <a:rPr lang="en-US" sz="1800" dirty="0" smtClean="0">
                <a:hlinkClick r:id="rId7"/>
              </a:rPr>
              <a:t>/</a:t>
            </a:r>
            <a:endParaRPr lang="en-US" sz="1800" dirty="0" smtClean="0"/>
          </a:p>
          <a:p>
            <a:pPr lvl="1"/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and Text Contrast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https://webaim.org/resources/contrastchecker/</a:t>
            </a:r>
            <a:endParaRPr lang="en-US" sz="2200" dirty="0" smtClean="0"/>
          </a:p>
          <a:p>
            <a:r>
              <a:rPr lang="en-US" sz="2200" dirty="0" smtClean="0"/>
              <a:t>Increase the contrast between the foreground (text) color and the background color.</a:t>
            </a:r>
          </a:p>
          <a:p>
            <a:endParaRPr lang="en-US" sz="2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3048000"/>
            <a:ext cx="4544378" cy="321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 Contrast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https://webaim.org/blog/wcag-2-0-and-link-colors/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4" name="Picture 2" descr="https://lh3.googleusercontent.com/proxy/dGJAGfKO5lj0j9YvVT3F2wasHUobda21gXTLIwV8d2m-Bd59qfooiBnWFlFvJzGR253SKhaIFQTHXj6nxGpnBipFtMaLCn7PI_P3Rf2MVvFKp3xxiS-JT3rZcjM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3200400"/>
            <a:ext cx="1790700" cy="1590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Empty 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Problem</a:t>
            </a:r>
            <a:r>
              <a:rPr lang="en-US" sz="2400" dirty="0" smtClean="0"/>
              <a:t>: An Empty Link error means that one of the links present on the web page is empty or contains no text describing where the link will go if clicked or triggered.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Solution</a:t>
            </a:r>
            <a:r>
              <a:rPr lang="en-US" sz="2400" dirty="0" smtClean="0"/>
              <a:t>: The </a:t>
            </a:r>
            <a:r>
              <a:rPr lang="en-US" sz="2400" b="1" dirty="0" smtClean="0">
                <a:latin typeface="Consolas" pitchFamily="49" charset="0"/>
              </a:rPr>
              <a:t>aria-label</a:t>
            </a:r>
            <a:r>
              <a:rPr lang="en-US" sz="2400" dirty="0" smtClean="0"/>
              <a:t> attribute is used to define a string that labels the current element. Use it in cases where a text label is not visible on the screen.</a:t>
            </a:r>
          </a:p>
          <a:p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81000" y="4318337"/>
            <a:ext cx="8382000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Consolas" pitchFamily="49" charset="0"/>
              </a:rPr>
              <a:t>&lt;button 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</a:rPr>
              <a:t>aria-label="Close"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onclick</a:t>
            </a:r>
            <a:r>
              <a:rPr lang="en-US" sz="2000" dirty="0" smtClean="0">
                <a:latin typeface="Consolas" pitchFamily="49" charset="0"/>
              </a:rPr>
              <a:t>="</a:t>
            </a:r>
            <a:r>
              <a:rPr lang="en-US" sz="2000" dirty="0" err="1" smtClean="0">
                <a:latin typeface="Consolas" pitchFamily="49" charset="0"/>
              </a:rPr>
              <a:t>myDialog.close</a:t>
            </a:r>
            <a:r>
              <a:rPr lang="en-US" sz="2000" dirty="0" smtClean="0">
                <a:latin typeface="Consolas" pitchFamily="49" charset="0"/>
              </a:rPr>
              <a:t>()"&gt;</a:t>
            </a:r>
          </a:p>
          <a:p>
            <a:r>
              <a:rPr lang="en-US" sz="2000" dirty="0" smtClean="0">
                <a:latin typeface="Consolas" pitchFamily="49" charset="0"/>
              </a:rPr>
              <a:t>	X</a:t>
            </a:r>
          </a:p>
          <a:p>
            <a:r>
              <a:rPr lang="en-US" sz="2000" dirty="0" smtClean="0">
                <a:latin typeface="Consolas" pitchFamily="49" charset="0"/>
              </a:rPr>
              <a:t>&lt;/button&gt;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Ben </a:t>
            </a:r>
            <a:r>
              <a:rPr lang="en-US" sz="2200" dirty="0" err="1" smtClean="0"/>
              <a:t>Shneiderman</a:t>
            </a:r>
            <a:r>
              <a:rPr lang="en-US" sz="2200" dirty="0" smtClean="0"/>
              <a:t> et al. (2018). Designing the User Interface - Strategies for Effective Human. Pearson.</a:t>
            </a:r>
          </a:p>
          <a:p>
            <a:r>
              <a:rPr lang="en-US" sz="2200" dirty="0" smtClean="0"/>
              <a:t>Jason </a:t>
            </a:r>
            <a:r>
              <a:rPr lang="en-US" sz="2200" dirty="0" err="1" smtClean="0"/>
              <a:t>Beaird</a:t>
            </a:r>
            <a:r>
              <a:rPr lang="en-US" sz="2200" dirty="0" smtClean="0"/>
              <a:t> and James George (2014). The Principles of Beautiful Web Design. </a:t>
            </a:r>
            <a:r>
              <a:rPr lang="en-US" sz="2200" dirty="0" err="1" smtClean="0"/>
              <a:t>SitePoint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Don Norman (2013). The Design of Everyday Things. Basic Books.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93065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11131</TotalTime>
  <Words>846</Words>
  <Application>Microsoft Office PowerPoint</Application>
  <PresentationFormat>On-screen Show (4:3)</PresentationFormat>
  <Paragraphs>78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User Interface Design Principles</vt:lpstr>
      <vt:lpstr>Objectives</vt:lpstr>
      <vt:lpstr>Contents</vt:lpstr>
      <vt:lpstr>References</vt:lpstr>
      <vt:lpstr>80/20 Rule [1]</vt:lpstr>
      <vt:lpstr>Accessibility</vt:lpstr>
      <vt:lpstr>Advance Organizer</vt:lpstr>
      <vt:lpstr>Aesthetic-Usability Effect</vt:lpstr>
      <vt:lpstr>Affordance</vt:lpstr>
      <vt:lpstr>Alignment</vt:lpstr>
      <vt:lpstr>Closure</vt:lpstr>
      <vt:lpstr>Color</vt:lpstr>
      <vt:lpstr>Consistency</vt:lpstr>
      <vt:lpstr>Gutenberg Diagram</vt:lpstr>
      <vt:lpstr>Rule of Thirds</vt:lpstr>
      <vt:lpstr>Legibility</vt:lpstr>
      <vt:lpstr>Web Accessibility</vt:lpstr>
      <vt:lpstr>Background and Text Contrast</vt:lpstr>
      <vt:lpstr>Link Contrast</vt:lpstr>
      <vt:lpstr>Empty Link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3520</cp:revision>
  <dcterms:created xsi:type="dcterms:W3CDTF">2007-10-06T08:25:13Z</dcterms:created>
  <dcterms:modified xsi:type="dcterms:W3CDTF">2025-02-27T10:25:16Z</dcterms:modified>
</cp:coreProperties>
</file>