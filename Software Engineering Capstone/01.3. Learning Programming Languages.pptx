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7"/>
  </p:notesMasterIdLst>
  <p:handoutMasterIdLst>
    <p:handoutMasterId r:id="rId48"/>
  </p:handoutMasterIdLst>
  <p:sldIdLst>
    <p:sldId id="256" r:id="rId2"/>
    <p:sldId id="431" r:id="rId3"/>
    <p:sldId id="432" r:id="rId4"/>
    <p:sldId id="423" r:id="rId5"/>
    <p:sldId id="433" r:id="rId6"/>
    <p:sldId id="470" r:id="rId7"/>
    <p:sldId id="434" r:id="rId8"/>
    <p:sldId id="471" r:id="rId9"/>
    <p:sldId id="435" r:id="rId10"/>
    <p:sldId id="437" r:id="rId11"/>
    <p:sldId id="438" r:id="rId12"/>
    <p:sldId id="439" r:id="rId13"/>
    <p:sldId id="504" r:id="rId14"/>
    <p:sldId id="440" r:id="rId15"/>
    <p:sldId id="441" r:id="rId16"/>
    <p:sldId id="442" r:id="rId17"/>
    <p:sldId id="443" r:id="rId18"/>
    <p:sldId id="444" r:id="rId19"/>
    <p:sldId id="445" r:id="rId20"/>
    <p:sldId id="446" r:id="rId21"/>
    <p:sldId id="478" r:id="rId22"/>
    <p:sldId id="447" r:id="rId23"/>
    <p:sldId id="448" r:id="rId24"/>
    <p:sldId id="449" r:id="rId25"/>
    <p:sldId id="505" r:id="rId26"/>
    <p:sldId id="450" r:id="rId27"/>
    <p:sldId id="452" r:id="rId28"/>
    <p:sldId id="453" r:id="rId29"/>
    <p:sldId id="507" r:id="rId30"/>
    <p:sldId id="508" r:id="rId31"/>
    <p:sldId id="509" r:id="rId32"/>
    <p:sldId id="484" r:id="rId33"/>
    <p:sldId id="485" r:id="rId34"/>
    <p:sldId id="458" r:id="rId35"/>
    <p:sldId id="459" r:id="rId36"/>
    <p:sldId id="479" r:id="rId37"/>
    <p:sldId id="506" r:id="rId38"/>
    <p:sldId id="486" r:id="rId39"/>
    <p:sldId id="487" r:id="rId40"/>
    <p:sldId id="501" r:id="rId41"/>
    <p:sldId id="489" r:id="rId42"/>
    <p:sldId id="490" r:id="rId43"/>
    <p:sldId id="502" r:id="rId44"/>
    <p:sldId id="503" r:id="rId45"/>
    <p:sldId id="343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20" autoAdjust="0"/>
    <p:restoredTop sz="95696" autoAdjust="0"/>
  </p:normalViewPr>
  <p:slideViewPr>
    <p:cSldViewPr>
      <p:cViewPr>
        <p:scale>
          <a:sx n="50" d="100"/>
          <a:sy n="50" d="100"/>
        </p:scale>
        <p:origin x="-1514" y="-4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CB111A-FDFF-4E45-9739-91B0234BE42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9271477-2C79-4FCE-A73C-DB29B127D9B5}">
      <dgm:prSet phldrT="[Text]" custT="1"/>
      <dgm:spPr/>
      <dgm:t>
        <a:bodyPr/>
        <a:lstStyle/>
        <a:p>
          <a:r>
            <a:rPr lang="en-US" sz="2000" dirty="0" smtClean="0"/>
            <a:t>Read the code when you add new feature</a:t>
          </a:r>
          <a:endParaRPr lang="en-US" sz="2000" dirty="0"/>
        </a:p>
      </dgm:t>
    </dgm:pt>
    <dgm:pt modelId="{5849FA6E-7ADF-4376-84C1-B271FB31572E}" type="parTrans" cxnId="{85515E6B-9605-4424-BF04-21C0D8CC7C8E}">
      <dgm:prSet/>
      <dgm:spPr/>
      <dgm:t>
        <a:bodyPr/>
        <a:lstStyle/>
        <a:p>
          <a:endParaRPr lang="en-US"/>
        </a:p>
      </dgm:t>
    </dgm:pt>
    <dgm:pt modelId="{FB42B203-1D53-4FFF-AF75-74DFC694EFF4}" type="sibTrans" cxnId="{85515E6B-9605-4424-BF04-21C0D8CC7C8E}">
      <dgm:prSet/>
      <dgm:spPr/>
      <dgm:t>
        <a:bodyPr/>
        <a:lstStyle/>
        <a:p>
          <a:endParaRPr lang="en-US"/>
        </a:p>
      </dgm:t>
    </dgm:pt>
    <dgm:pt modelId="{6AFE807A-0538-45A3-B579-044D38EE0B21}">
      <dgm:prSet phldrT="[Text]" custT="1"/>
      <dgm:spPr/>
      <dgm:t>
        <a:bodyPr/>
        <a:lstStyle/>
        <a:p>
          <a:r>
            <a:rPr lang="en-US" sz="2000" dirty="0" smtClean="0"/>
            <a:t>Read the code when you need to fix a bug</a:t>
          </a:r>
          <a:endParaRPr lang="en-US" sz="2000" dirty="0"/>
        </a:p>
      </dgm:t>
    </dgm:pt>
    <dgm:pt modelId="{A950EEF4-EDA9-482D-B310-5F4AEB2BF92A}" type="parTrans" cxnId="{4F331897-14D3-472B-A2A5-48D3D283C95F}">
      <dgm:prSet/>
      <dgm:spPr/>
      <dgm:t>
        <a:bodyPr/>
        <a:lstStyle/>
        <a:p>
          <a:endParaRPr lang="en-US"/>
        </a:p>
      </dgm:t>
    </dgm:pt>
    <dgm:pt modelId="{00297C2B-0FBE-42C4-B6B3-2779CA165CB9}" type="sibTrans" cxnId="{4F331897-14D3-472B-A2A5-48D3D283C95F}">
      <dgm:prSet/>
      <dgm:spPr/>
      <dgm:t>
        <a:bodyPr/>
        <a:lstStyle/>
        <a:p>
          <a:endParaRPr lang="en-US"/>
        </a:p>
      </dgm:t>
    </dgm:pt>
    <dgm:pt modelId="{FE0C8F38-75B6-48CC-ABAC-50B264240DE3}">
      <dgm:prSet phldrT="[Text]" custT="1"/>
      <dgm:spPr/>
      <dgm:t>
        <a:bodyPr/>
        <a:lstStyle/>
        <a:p>
          <a:r>
            <a:rPr lang="en-US" sz="2000" dirty="0" smtClean="0"/>
            <a:t>Read the code when you want to improve it</a:t>
          </a:r>
          <a:endParaRPr lang="en-US" sz="2000" dirty="0"/>
        </a:p>
      </dgm:t>
    </dgm:pt>
    <dgm:pt modelId="{65F9C6FE-E24E-43C4-BDAC-3FB39196FB41}" type="sibTrans" cxnId="{28E44706-07B2-4B38-A157-8C736D90246A}">
      <dgm:prSet/>
      <dgm:spPr/>
      <dgm:t>
        <a:bodyPr/>
        <a:lstStyle/>
        <a:p>
          <a:endParaRPr lang="en-US"/>
        </a:p>
      </dgm:t>
    </dgm:pt>
    <dgm:pt modelId="{7832CE11-8DAB-464C-9C06-FFCE7E178ADC}" type="parTrans" cxnId="{28E44706-07B2-4B38-A157-8C736D90246A}">
      <dgm:prSet/>
      <dgm:spPr/>
      <dgm:t>
        <a:bodyPr/>
        <a:lstStyle/>
        <a:p>
          <a:endParaRPr lang="en-US"/>
        </a:p>
      </dgm:t>
    </dgm:pt>
    <dgm:pt modelId="{4C5B4D43-7D7B-412E-A3B4-D729E049EA52}">
      <dgm:prSet phldrT="[Text]" custT="1"/>
      <dgm:spPr/>
      <dgm:t>
        <a:bodyPr/>
        <a:lstStyle/>
        <a:p>
          <a:r>
            <a:rPr lang="en-US" sz="2000" dirty="0" smtClean="0"/>
            <a:t>Read the code when you want to learn how to write better code</a:t>
          </a:r>
          <a:endParaRPr lang="en-US" sz="2000" dirty="0"/>
        </a:p>
      </dgm:t>
    </dgm:pt>
    <dgm:pt modelId="{EA1E82EA-5922-4BD4-967C-0061CC3E291D}" type="parTrans" cxnId="{7B4806F1-7C1E-4FC1-BC0A-56D77E6268D0}">
      <dgm:prSet/>
      <dgm:spPr/>
      <dgm:t>
        <a:bodyPr/>
        <a:lstStyle/>
        <a:p>
          <a:endParaRPr lang="en-US"/>
        </a:p>
      </dgm:t>
    </dgm:pt>
    <dgm:pt modelId="{2BFDAA13-1F47-4C09-B699-370C58A4ECD5}" type="sibTrans" cxnId="{7B4806F1-7C1E-4FC1-BC0A-56D77E6268D0}">
      <dgm:prSet/>
      <dgm:spPr/>
      <dgm:t>
        <a:bodyPr/>
        <a:lstStyle/>
        <a:p>
          <a:endParaRPr lang="en-US"/>
        </a:p>
      </dgm:t>
    </dgm:pt>
    <dgm:pt modelId="{C130D9CF-F078-4B41-8687-A41F386D0B1C}">
      <dgm:prSet phldrT="[Text]" custT="1"/>
      <dgm:spPr/>
      <dgm:t>
        <a:bodyPr/>
        <a:lstStyle/>
        <a:p>
          <a:r>
            <a:rPr lang="en-US" sz="2000" dirty="0" smtClean="0"/>
            <a:t>Read the code as you do a code review</a:t>
          </a:r>
          <a:endParaRPr lang="en-US" sz="2000" dirty="0"/>
        </a:p>
      </dgm:t>
    </dgm:pt>
    <dgm:pt modelId="{93782426-5982-43D4-BD64-5EB9A483B4C8}" type="parTrans" cxnId="{DEDD0C53-28B5-4D06-A12C-0A9B386E650D}">
      <dgm:prSet/>
      <dgm:spPr/>
      <dgm:t>
        <a:bodyPr/>
        <a:lstStyle/>
        <a:p>
          <a:endParaRPr lang="en-US"/>
        </a:p>
      </dgm:t>
    </dgm:pt>
    <dgm:pt modelId="{A53F3B12-B65A-4454-AC7E-25EAED661BA5}" type="sibTrans" cxnId="{DEDD0C53-28B5-4D06-A12C-0A9B386E650D}">
      <dgm:prSet/>
      <dgm:spPr/>
      <dgm:t>
        <a:bodyPr/>
        <a:lstStyle/>
        <a:p>
          <a:endParaRPr lang="en-US"/>
        </a:p>
      </dgm:t>
    </dgm:pt>
    <dgm:pt modelId="{73C612C6-493A-4FBD-BFBD-B4856C4765A1}" type="pres">
      <dgm:prSet presAssocID="{CECB111A-FDFF-4E45-9739-91B0234BE421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57107FC-5DAF-419A-935F-9D406E697AA4}" type="pres">
      <dgm:prSet presAssocID="{39271477-2C79-4FCE-A73C-DB29B127D9B5}" presName="parentLin" presStyleCnt="0"/>
      <dgm:spPr/>
      <dgm:t>
        <a:bodyPr/>
        <a:lstStyle/>
        <a:p>
          <a:endParaRPr lang="en-US"/>
        </a:p>
      </dgm:t>
    </dgm:pt>
    <dgm:pt modelId="{7B19A39A-3E89-4B4F-8F14-446B66DCF2D0}" type="pres">
      <dgm:prSet presAssocID="{39271477-2C79-4FCE-A73C-DB29B127D9B5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10A4F778-80A8-4974-9318-80C1D98F1EAB}" type="pres">
      <dgm:prSet presAssocID="{39271477-2C79-4FCE-A73C-DB29B127D9B5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AB9186-7AB0-4D53-8AD7-4A82A0EBF12A}" type="pres">
      <dgm:prSet presAssocID="{39271477-2C79-4FCE-A73C-DB29B127D9B5}" presName="negativeSpace" presStyleCnt="0"/>
      <dgm:spPr/>
      <dgm:t>
        <a:bodyPr/>
        <a:lstStyle/>
        <a:p>
          <a:endParaRPr lang="en-US"/>
        </a:p>
      </dgm:t>
    </dgm:pt>
    <dgm:pt modelId="{83A3CE02-28B5-4FAD-AFA4-C6F4D9235651}" type="pres">
      <dgm:prSet presAssocID="{39271477-2C79-4FCE-A73C-DB29B127D9B5}" presName="childText" presStyleLbl="conFgAcc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70F5DE-C78E-4710-9C6C-28C31FD83CC6}" type="pres">
      <dgm:prSet presAssocID="{FB42B203-1D53-4FFF-AF75-74DFC694EFF4}" presName="spaceBetweenRectangles" presStyleCnt="0"/>
      <dgm:spPr/>
      <dgm:t>
        <a:bodyPr/>
        <a:lstStyle/>
        <a:p>
          <a:endParaRPr lang="en-US"/>
        </a:p>
      </dgm:t>
    </dgm:pt>
    <dgm:pt modelId="{38DAC78B-FDC7-4548-9BEB-5712B8FC732E}" type="pres">
      <dgm:prSet presAssocID="{6AFE807A-0538-45A3-B579-044D38EE0B21}" presName="parentLin" presStyleCnt="0"/>
      <dgm:spPr/>
      <dgm:t>
        <a:bodyPr/>
        <a:lstStyle/>
        <a:p>
          <a:endParaRPr lang="en-US"/>
        </a:p>
      </dgm:t>
    </dgm:pt>
    <dgm:pt modelId="{787C297C-9394-41C8-BD69-29B685D3F785}" type="pres">
      <dgm:prSet presAssocID="{6AFE807A-0538-45A3-B579-044D38EE0B21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EEB6F7C7-05C5-4FB0-B6DD-21E49FCCF90C}" type="pres">
      <dgm:prSet presAssocID="{6AFE807A-0538-45A3-B579-044D38EE0B21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725337-EE91-414C-8112-D5C7B1D62358}" type="pres">
      <dgm:prSet presAssocID="{6AFE807A-0538-45A3-B579-044D38EE0B21}" presName="negativeSpace" presStyleCnt="0"/>
      <dgm:spPr/>
      <dgm:t>
        <a:bodyPr/>
        <a:lstStyle/>
        <a:p>
          <a:endParaRPr lang="en-US"/>
        </a:p>
      </dgm:t>
    </dgm:pt>
    <dgm:pt modelId="{1CBEF746-1EA9-47EC-8D28-66615FEDDB13}" type="pres">
      <dgm:prSet presAssocID="{6AFE807A-0538-45A3-B579-044D38EE0B21}" presName="childText" presStyleLbl="conFgAcc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474AA8-4D30-46E1-AF3E-FA6F04706F1F}" type="pres">
      <dgm:prSet presAssocID="{00297C2B-0FBE-42C4-B6B3-2779CA165CB9}" presName="spaceBetweenRectangles" presStyleCnt="0"/>
      <dgm:spPr/>
      <dgm:t>
        <a:bodyPr/>
        <a:lstStyle/>
        <a:p>
          <a:endParaRPr lang="en-US"/>
        </a:p>
      </dgm:t>
    </dgm:pt>
    <dgm:pt modelId="{8ED5990B-5883-4EAF-A7E0-EC27810EC136}" type="pres">
      <dgm:prSet presAssocID="{FE0C8F38-75B6-48CC-ABAC-50B264240DE3}" presName="parentLin" presStyleCnt="0"/>
      <dgm:spPr/>
      <dgm:t>
        <a:bodyPr/>
        <a:lstStyle/>
        <a:p>
          <a:endParaRPr lang="en-US"/>
        </a:p>
      </dgm:t>
    </dgm:pt>
    <dgm:pt modelId="{7B1517DE-31D7-4A0D-B534-DDE56CE8272D}" type="pres">
      <dgm:prSet presAssocID="{FE0C8F38-75B6-48CC-ABAC-50B264240DE3}" presName="parentLeftMargin" presStyleLbl="node1" presStyleIdx="1" presStyleCnt="5"/>
      <dgm:spPr/>
      <dgm:t>
        <a:bodyPr/>
        <a:lstStyle/>
        <a:p>
          <a:endParaRPr lang="en-US"/>
        </a:p>
      </dgm:t>
    </dgm:pt>
    <dgm:pt modelId="{2392317F-AA09-43B9-829F-AB4084E0AC43}" type="pres">
      <dgm:prSet presAssocID="{FE0C8F38-75B6-48CC-ABAC-50B264240DE3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F64C12-8109-491C-BEC1-821507ED2293}" type="pres">
      <dgm:prSet presAssocID="{FE0C8F38-75B6-48CC-ABAC-50B264240DE3}" presName="negativeSpace" presStyleCnt="0"/>
      <dgm:spPr/>
      <dgm:t>
        <a:bodyPr/>
        <a:lstStyle/>
        <a:p>
          <a:endParaRPr lang="en-US"/>
        </a:p>
      </dgm:t>
    </dgm:pt>
    <dgm:pt modelId="{23036697-3052-4B65-B5B7-1CBE4BE3D1BA}" type="pres">
      <dgm:prSet presAssocID="{FE0C8F38-75B6-48CC-ABAC-50B264240DE3}" presName="childText" presStyleLbl="conFgAcc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8DFE39-2A37-4F48-8B05-349AF1128AA2}" type="pres">
      <dgm:prSet presAssocID="{65F9C6FE-E24E-43C4-BDAC-3FB39196FB41}" presName="spaceBetweenRectangles" presStyleCnt="0"/>
      <dgm:spPr/>
      <dgm:t>
        <a:bodyPr/>
        <a:lstStyle/>
        <a:p>
          <a:endParaRPr lang="en-US"/>
        </a:p>
      </dgm:t>
    </dgm:pt>
    <dgm:pt modelId="{A4772A07-FA11-44C8-9962-4DDF90583C86}" type="pres">
      <dgm:prSet presAssocID="{C130D9CF-F078-4B41-8687-A41F386D0B1C}" presName="parentLin" presStyleCnt="0"/>
      <dgm:spPr/>
      <dgm:t>
        <a:bodyPr/>
        <a:lstStyle/>
        <a:p>
          <a:endParaRPr lang="en-US"/>
        </a:p>
      </dgm:t>
    </dgm:pt>
    <dgm:pt modelId="{AED3A4D9-55C2-45E7-9896-EADC66279E83}" type="pres">
      <dgm:prSet presAssocID="{C130D9CF-F078-4B41-8687-A41F386D0B1C}" presName="parentLeftMargin" presStyleLbl="node1" presStyleIdx="2" presStyleCnt="5"/>
      <dgm:spPr/>
      <dgm:t>
        <a:bodyPr/>
        <a:lstStyle/>
        <a:p>
          <a:endParaRPr lang="en-US"/>
        </a:p>
      </dgm:t>
    </dgm:pt>
    <dgm:pt modelId="{31AF3D70-03F1-44F2-B6E4-D4D9833D40A2}" type="pres">
      <dgm:prSet presAssocID="{C130D9CF-F078-4B41-8687-A41F386D0B1C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CDDEB7-32FA-4F34-88B3-F4B9882DCF1D}" type="pres">
      <dgm:prSet presAssocID="{C130D9CF-F078-4B41-8687-A41F386D0B1C}" presName="negativeSpace" presStyleCnt="0"/>
      <dgm:spPr/>
      <dgm:t>
        <a:bodyPr/>
        <a:lstStyle/>
        <a:p>
          <a:endParaRPr lang="en-US"/>
        </a:p>
      </dgm:t>
    </dgm:pt>
    <dgm:pt modelId="{1AFB8AE9-D91C-471B-937A-4FF8247E6DD3}" type="pres">
      <dgm:prSet presAssocID="{C130D9CF-F078-4B41-8687-A41F386D0B1C}" presName="childText" presStyleLbl="conFgAcc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9591C2-39B8-4E31-AAB1-397CA6E1A6A0}" type="pres">
      <dgm:prSet presAssocID="{A53F3B12-B65A-4454-AC7E-25EAED661BA5}" presName="spaceBetweenRectangles" presStyleCnt="0"/>
      <dgm:spPr/>
      <dgm:t>
        <a:bodyPr/>
        <a:lstStyle/>
        <a:p>
          <a:endParaRPr lang="en-US"/>
        </a:p>
      </dgm:t>
    </dgm:pt>
    <dgm:pt modelId="{EE71CDE9-3A90-4D6E-807B-B1C8F31F275B}" type="pres">
      <dgm:prSet presAssocID="{4C5B4D43-7D7B-412E-A3B4-D729E049EA52}" presName="parentLin" presStyleCnt="0"/>
      <dgm:spPr/>
      <dgm:t>
        <a:bodyPr/>
        <a:lstStyle/>
        <a:p>
          <a:endParaRPr lang="en-US"/>
        </a:p>
      </dgm:t>
    </dgm:pt>
    <dgm:pt modelId="{33B6FFFD-22AF-4F63-98E1-1178034BD047}" type="pres">
      <dgm:prSet presAssocID="{4C5B4D43-7D7B-412E-A3B4-D729E049EA52}" presName="parentLeftMargin" presStyleLbl="node1" presStyleIdx="3" presStyleCnt="5"/>
      <dgm:spPr/>
      <dgm:t>
        <a:bodyPr/>
        <a:lstStyle/>
        <a:p>
          <a:endParaRPr lang="en-US"/>
        </a:p>
      </dgm:t>
    </dgm:pt>
    <dgm:pt modelId="{9EABBD2B-7868-45C0-8C64-637A5A2E2518}" type="pres">
      <dgm:prSet presAssocID="{4C5B4D43-7D7B-412E-A3B4-D729E049EA52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5FE5CE-E4B1-455C-879C-BFF9FA00C0D5}" type="pres">
      <dgm:prSet presAssocID="{4C5B4D43-7D7B-412E-A3B4-D729E049EA52}" presName="negativeSpace" presStyleCnt="0"/>
      <dgm:spPr/>
      <dgm:t>
        <a:bodyPr/>
        <a:lstStyle/>
        <a:p>
          <a:endParaRPr lang="en-US"/>
        </a:p>
      </dgm:t>
    </dgm:pt>
    <dgm:pt modelId="{DB6DB78B-A209-425B-B955-B1F3D28C0E35}" type="pres">
      <dgm:prSet presAssocID="{4C5B4D43-7D7B-412E-A3B4-D729E049EA52}" presName="childText" presStyleLbl="conFg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55BF8D2-C166-4476-A89E-8D621D3AE477}" type="presOf" srcId="{FE0C8F38-75B6-48CC-ABAC-50B264240DE3}" destId="{2392317F-AA09-43B9-829F-AB4084E0AC43}" srcOrd="1" destOrd="0" presId="urn:microsoft.com/office/officeart/2005/8/layout/list1"/>
    <dgm:cxn modelId="{7E4C9E97-11E6-4A60-8B8D-BFAA1088918E}" type="presOf" srcId="{6AFE807A-0538-45A3-B579-044D38EE0B21}" destId="{EEB6F7C7-05C5-4FB0-B6DD-21E49FCCF90C}" srcOrd="1" destOrd="0" presId="urn:microsoft.com/office/officeart/2005/8/layout/list1"/>
    <dgm:cxn modelId="{1AA9BA37-8343-4D01-BC8D-CC51C3FC9939}" type="presOf" srcId="{C130D9CF-F078-4B41-8687-A41F386D0B1C}" destId="{31AF3D70-03F1-44F2-B6E4-D4D9833D40A2}" srcOrd="1" destOrd="0" presId="urn:microsoft.com/office/officeart/2005/8/layout/list1"/>
    <dgm:cxn modelId="{7B4806F1-7C1E-4FC1-BC0A-56D77E6268D0}" srcId="{CECB111A-FDFF-4E45-9739-91B0234BE421}" destId="{4C5B4D43-7D7B-412E-A3B4-D729E049EA52}" srcOrd="4" destOrd="0" parTransId="{EA1E82EA-5922-4BD4-967C-0061CC3E291D}" sibTransId="{2BFDAA13-1F47-4C09-B699-370C58A4ECD5}"/>
    <dgm:cxn modelId="{5DBB3077-B913-4044-8618-88CD9FB0E99D}" type="presOf" srcId="{FE0C8F38-75B6-48CC-ABAC-50B264240DE3}" destId="{7B1517DE-31D7-4A0D-B534-DDE56CE8272D}" srcOrd="0" destOrd="0" presId="urn:microsoft.com/office/officeart/2005/8/layout/list1"/>
    <dgm:cxn modelId="{4F331897-14D3-472B-A2A5-48D3D283C95F}" srcId="{CECB111A-FDFF-4E45-9739-91B0234BE421}" destId="{6AFE807A-0538-45A3-B579-044D38EE0B21}" srcOrd="1" destOrd="0" parTransId="{A950EEF4-EDA9-482D-B310-5F4AEB2BF92A}" sibTransId="{00297C2B-0FBE-42C4-B6B3-2779CA165CB9}"/>
    <dgm:cxn modelId="{3D83A62B-16E2-441A-8F09-9D5C0293628C}" type="presOf" srcId="{4C5B4D43-7D7B-412E-A3B4-D729E049EA52}" destId="{33B6FFFD-22AF-4F63-98E1-1178034BD047}" srcOrd="0" destOrd="0" presId="urn:microsoft.com/office/officeart/2005/8/layout/list1"/>
    <dgm:cxn modelId="{A4244387-7503-44CA-BE85-1539010CE3E2}" type="presOf" srcId="{CECB111A-FDFF-4E45-9739-91B0234BE421}" destId="{73C612C6-493A-4FBD-BFBD-B4856C4765A1}" srcOrd="0" destOrd="0" presId="urn:microsoft.com/office/officeart/2005/8/layout/list1"/>
    <dgm:cxn modelId="{3C7F370B-343C-4059-9EC3-3D43866AB005}" type="presOf" srcId="{6AFE807A-0538-45A3-B579-044D38EE0B21}" destId="{787C297C-9394-41C8-BD69-29B685D3F785}" srcOrd="0" destOrd="0" presId="urn:microsoft.com/office/officeart/2005/8/layout/list1"/>
    <dgm:cxn modelId="{DEDD0C53-28B5-4D06-A12C-0A9B386E650D}" srcId="{CECB111A-FDFF-4E45-9739-91B0234BE421}" destId="{C130D9CF-F078-4B41-8687-A41F386D0B1C}" srcOrd="3" destOrd="0" parTransId="{93782426-5982-43D4-BD64-5EB9A483B4C8}" sibTransId="{A53F3B12-B65A-4454-AC7E-25EAED661BA5}"/>
    <dgm:cxn modelId="{CF222526-5961-4C1F-A4D8-200586F4699B}" type="presOf" srcId="{39271477-2C79-4FCE-A73C-DB29B127D9B5}" destId="{10A4F778-80A8-4974-9318-80C1D98F1EAB}" srcOrd="1" destOrd="0" presId="urn:microsoft.com/office/officeart/2005/8/layout/list1"/>
    <dgm:cxn modelId="{28E44706-07B2-4B38-A157-8C736D90246A}" srcId="{CECB111A-FDFF-4E45-9739-91B0234BE421}" destId="{FE0C8F38-75B6-48CC-ABAC-50B264240DE3}" srcOrd="2" destOrd="0" parTransId="{7832CE11-8DAB-464C-9C06-FFCE7E178ADC}" sibTransId="{65F9C6FE-E24E-43C4-BDAC-3FB39196FB41}"/>
    <dgm:cxn modelId="{85515E6B-9605-4424-BF04-21C0D8CC7C8E}" srcId="{CECB111A-FDFF-4E45-9739-91B0234BE421}" destId="{39271477-2C79-4FCE-A73C-DB29B127D9B5}" srcOrd="0" destOrd="0" parTransId="{5849FA6E-7ADF-4376-84C1-B271FB31572E}" sibTransId="{FB42B203-1D53-4FFF-AF75-74DFC694EFF4}"/>
    <dgm:cxn modelId="{3353732E-E1F1-4E8A-86EB-802D478CDEFA}" type="presOf" srcId="{39271477-2C79-4FCE-A73C-DB29B127D9B5}" destId="{7B19A39A-3E89-4B4F-8F14-446B66DCF2D0}" srcOrd="0" destOrd="0" presId="urn:microsoft.com/office/officeart/2005/8/layout/list1"/>
    <dgm:cxn modelId="{4059CB9C-A4C8-43AB-A47D-355A5593AF9B}" type="presOf" srcId="{4C5B4D43-7D7B-412E-A3B4-D729E049EA52}" destId="{9EABBD2B-7868-45C0-8C64-637A5A2E2518}" srcOrd="1" destOrd="0" presId="urn:microsoft.com/office/officeart/2005/8/layout/list1"/>
    <dgm:cxn modelId="{647FE621-1B71-4341-B34B-1F5B2E7E4283}" type="presOf" srcId="{C130D9CF-F078-4B41-8687-A41F386D0B1C}" destId="{AED3A4D9-55C2-45E7-9896-EADC66279E83}" srcOrd="0" destOrd="0" presId="urn:microsoft.com/office/officeart/2005/8/layout/list1"/>
    <dgm:cxn modelId="{28DB7E3C-A362-4A9E-9142-B11543A3707A}" type="presParOf" srcId="{73C612C6-493A-4FBD-BFBD-B4856C4765A1}" destId="{A57107FC-5DAF-419A-935F-9D406E697AA4}" srcOrd="0" destOrd="0" presId="urn:microsoft.com/office/officeart/2005/8/layout/list1"/>
    <dgm:cxn modelId="{197734EE-2C3E-4E48-8328-14080837E7F8}" type="presParOf" srcId="{A57107FC-5DAF-419A-935F-9D406E697AA4}" destId="{7B19A39A-3E89-4B4F-8F14-446B66DCF2D0}" srcOrd="0" destOrd="0" presId="urn:microsoft.com/office/officeart/2005/8/layout/list1"/>
    <dgm:cxn modelId="{B02F5616-AA46-4890-BB57-79E4003420FA}" type="presParOf" srcId="{A57107FC-5DAF-419A-935F-9D406E697AA4}" destId="{10A4F778-80A8-4974-9318-80C1D98F1EAB}" srcOrd="1" destOrd="0" presId="urn:microsoft.com/office/officeart/2005/8/layout/list1"/>
    <dgm:cxn modelId="{97EC67C9-E31A-4407-BE90-52A256402478}" type="presParOf" srcId="{73C612C6-493A-4FBD-BFBD-B4856C4765A1}" destId="{EFAB9186-7AB0-4D53-8AD7-4A82A0EBF12A}" srcOrd="1" destOrd="0" presId="urn:microsoft.com/office/officeart/2005/8/layout/list1"/>
    <dgm:cxn modelId="{6C606D31-6950-4610-AEB1-50DA6210EAD5}" type="presParOf" srcId="{73C612C6-493A-4FBD-BFBD-B4856C4765A1}" destId="{83A3CE02-28B5-4FAD-AFA4-C6F4D9235651}" srcOrd="2" destOrd="0" presId="urn:microsoft.com/office/officeart/2005/8/layout/list1"/>
    <dgm:cxn modelId="{EBF13CA8-8787-457B-9BFA-63897C57BDDB}" type="presParOf" srcId="{73C612C6-493A-4FBD-BFBD-B4856C4765A1}" destId="{7870F5DE-C78E-4710-9C6C-28C31FD83CC6}" srcOrd="3" destOrd="0" presId="urn:microsoft.com/office/officeart/2005/8/layout/list1"/>
    <dgm:cxn modelId="{B002F224-97E2-4E67-99E0-06D83594E6C4}" type="presParOf" srcId="{73C612C6-493A-4FBD-BFBD-B4856C4765A1}" destId="{38DAC78B-FDC7-4548-9BEB-5712B8FC732E}" srcOrd="4" destOrd="0" presId="urn:microsoft.com/office/officeart/2005/8/layout/list1"/>
    <dgm:cxn modelId="{B3B77CFF-14EE-42F3-BE02-FE198C219B57}" type="presParOf" srcId="{38DAC78B-FDC7-4548-9BEB-5712B8FC732E}" destId="{787C297C-9394-41C8-BD69-29B685D3F785}" srcOrd="0" destOrd="0" presId="urn:microsoft.com/office/officeart/2005/8/layout/list1"/>
    <dgm:cxn modelId="{F04DF37A-7A6B-4208-BCB5-35C2896B6517}" type="presParOf" srcId="{38DAC78B-FDC7-4548-9BEB-5712B8FC732E}" destId="{EEB6F7C7-05C5-4FB0-B6DD-21E49FCCF90C}" srcOrd="1" destOrd="0" presId="urn:microsoft.com/office/officeart/2005/8/layout/list1"/>
    <dgm:cxn modelId="{F8BD8624-6B74-4299-8DE2-857A2C6B66A0}" type="presParOf" srcId="{73C612C6-493A-4FBD-BFBD-B4856C4765A1}" destId="{46725337-EE91-414C-8112-D5C7B1D62358}" srcOrd="5" destOrd="0" presId="urn:microsoft.com/office/officeart/2005/8/layout/list1"/>
    <dgm:cxn modelId="{C395F235-BB67-4DC4-96C8-F94A81E2DC3B}" type="presParOf" srcId="{73C612C6-493A-4FBD-BFBD-B4856C4765A1}" destId="{1CBEF746-1EA9-47EC-8D28-66615FEDDB13}" srcOrd="6" destOrd="0" presId="urn:microsoft.com/office/officeart/2005/8/layout/list1"/>
    <dgm:cxn modelId="{DD24D499-6F2B-40F3-9818-C60B227C2396}" type="presParOf" srcId="{73C612C6-493A-4FBD-BFBD-B4856C4765A1}" destId="{AB474AA8-4D30-46E1-AF3E-FA6F04706F1F}" srcOrd="7" destOrd="0" presId="urn:microsoft.com/office/officeart/2005/8/layout/list1"/>
    <dgm:cxn modelId="{C2F668EE-6305-4640-A395-9CE514339193}" type="presParOf" srcId="{73C612C6-493A-4FBD-BFBD-B4856C4765A1}" destId="{8ED5990B-5883-4EAF-A7E0-EC27810EC136}" srcOrd="8" destOrd="0" presId="urn:microsoft.com/office/officeart/2005/8/layout/list1"/>
    <dgm:cxn modelId="{01AF43A5-CECB-4ADC-BD96-2A92EB259F41}" type="presParOf" srcId="{8ED5990B-5883-4EAF-A7E0-EC27810EC136}" destId="{7B1517DE-31D7-4A0D-B534-DDE56CE8272D}" srcOrd="0" destOrd="0" presId="urn:microsoft.com/office/officeart/2005/8/layout/list1"/>
    <dgm:cxn modelId="{7DB7D46C-AA78-4496-A87B-63FB5D078FF2}" type="presParOf" srcId="{8ED5990B-5883-4EAF-A7E0-EC27810EC136}" destId="{2392317F-AA09-43B9-829F-AB4084E0AC43}" srcOrd="1" destOrd="0" presId="urn:microsoft.com/office/officeart/2005/8/layout/list1"/>
    <dgm:cxn modelId="{D4C5ADD9-8534-4A37-AE4A-FBA69057BDD4}" type="presParOf" srcId="{73C612C6-493A-4FBD-BFBD-B4856C4765A1}" destId="{13F64C12-8109-491C-BEC1-821507ED2293}" srcOrd="9" destOrd="0" presId="urn:microsoft.com/office/officeart/2005/8/layout/list1"/>
    <dgm:cxn modelId="{BB856C09-EADD-44C4-A8F1-0602B4F73547}" type="presParOf" srcId="{73C612C6-493A-4FBD-BFBD-B4856C4765A1}" destId="{23036697-3052-4B65-B5B7-1CBE4BE3D1BA}" srcOrd="10" destOrd="0" presId="urn:microsoft.com/office/officeart/2005/8/layout/list1"/>
    <dgm:cxn modelId="{47A9E602-5263-4FDD-A12D-430FFB07FA07}" type="presParOf" srcId="{73C612C6-493A-4FBD-BFBD-B4856C4765A1}" destId="{DB8DFE39-2A37-4F48-8B05-349AF1128AA2}" srcOrd="11" destOrd="0" presId="urn:microsoft.com/office/officeart/2005/8/layout/list1"/>
    <dgm:cxn modelId="{A49F3A2C-FB2E-419F-B772-161C23A9284F}" type="presParOf" srcId="{73C612C6-493A-4FBD-BFBD-B4856C4765A1}" destId="{A4772A07-FA11-44C8-9962-4DDF90583C86}" srcOrd="12" destOrd="0" presId="urn:microsoft.com/office/officeart/2005/8/layout/list1"/>
    <dgm:cxn modelId="{C0047F6A-CC44-4464-A828-181FB9DF198A}" type="presParOf" srcId="{A4772A07-FA11-44C8-9962-4DDF90583C86}" destId="{AED3A4D9-55C2-45E7-9896-EADC66279E83}" srcOrd="0" destOrd="0" presId="urn:microsoft.com/office/officeart/2005/8/layout/list1"/>
    <dgm:cxn modelId="{5A95D553-34FC-44A9-93EA-0B69309343B0}" type="presParOf" srcId="{A4772A07-FA11-44C8-9962-4DDF90583C86}" destId="{31AF3D70-03F1-44F2-B6E4-D4D9833D40A2}" srcOrd="1" destOrd="0" presId="urn:microsoft.com/office/officeart/2005/8/layout/list1"/>
    <dgm:cxn modelId="{FD7DEE4A-DC80-4FAD-AB34-23BE676E0F74}" type="presParOf" srcId="{73C612C6-493A-4FBD-BFBD-B4856C4765A1}" destId="{6DCDDEB7-32FA-4F34-88B3-F4B9882DCF1D}" srcOrd="13" destOrd="0" presId="urn:microsoft.com/office/officeart/2005/8/layout/list1"/>
    <dgm:cxn modelId="{713FD416-3259-4CB6-B7B3-D507EBB44491}" type="presParOf" srcId="{73C612C6-493A-4FBD-BFBD-B4856C4765A1}" destId="{1AFB8AE9-D91C-471B-937A-4FF8247E6DD3}" srcOrd="14" destOrd="0" presId="urn:microsoft.com/office/officeart/2005/8/layout/list1"/>
    <dgm:cxn modelId="{0B5B9BE7-5425-46BB-94EE-2A91EB924D9A}" type="presParOf" srcId="{73C612C6-493A-4FBD-BFBD-B4856C4765A1}" destId="{3D9591C2-39B8-4E31-AAB1-397CA6E1A6A0}" srcOrd="15" destOrd="0" presId="urn:microsoft.com/office/officeart/2005/8/layout/list1"/>
    <dgm:cxn modelId="{2DAE603A-A2B5-4D56-947D-D3F71885117A}" type="presParOf" srcId="{73C612C6-493A-4FBD-BFBD-B4856C4765A1}" destId="{EE71CDE9-3A90-4D6E-807B-B1C8F31F275B}" srcOrd="16" destOrd="0" presId="urn:microsoft.com/office/officeart/2005/8/layout/list1"/>
    <dgm:cxn modelId="{EAD26629-DB41-4123-8961-786B057FC235}" type="presParOf" srcId="{EE71CDE9-3A90-4D6E-807B-B1C8F31F275B}" destId="{33B6FFFD-22AF-4F63-98E1-1178034BD047}" srcOrd="0" destOrd="0" presId="urn:microsoft.com/office/officeart/2005/8/layout/list1"/>
    <dgm:cxn modelId="{439DDAFA-3886-4F86-B299-2E97F3CB0B23}" type="presParOf" srcId="{EE71CDE9-3A90-4D6E-807B-B1C8F31F275B}" destId="{9EABBD2B-7868-45C0-8C64-637A5A2E2518}" srcOrd="1" destOrd="0" presId="urn:microsoft.com/office/officeart/2005/8/layout/list1"/>
    <dgm:cxn modelId="{8DA992AC-565F-4C81-B6BD-122D44D6F118}" type="presParOf" srcId="{73C612C6-493A-4FBD-BFBD-B4856C4765A1}" destId="{FD5FE5CE-E4B1-455C-879C-BFF9FA00C0D5}" srcOrd="17" destOrd="0" presId="urn:microsoft.com/office/officeart/2005/8/layout/list1"/>
    <dgm:cxn modelId="{7B35022E-4959-41B4-AFE2-44728295A106}" type="presParOf" srcId="{73C612C6-493A-4FBD-BFBD-B4856C4765A1}" destId="{DB6DB78B-A209-425B-B955-B1F3D28C0E3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86D51C-BF3F-4B4A-99CD-4C12DF4D91C9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smartbear.com/product/collaborator/overview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reviewboard.org/" TargetMode="External"/><Relationship Id="rId4" Type="http://schemas.openxmlformats.org/officeDocument/2006/relationships/hyperlink" Target="https://www.atlassian.com/software/crucible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Learning Programming Languages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learn </a:t>
            </a:r>
            <a:r>
              <a:rPr lang="en-US" sz="2400" smtClean="0"/>
              <a:t>a programming </a:t>
            </a:r>
            <a:r>
              <a:rPr lang="en-US" sz="2400" dirty="0" smtClean="0"/>
              <a:t>language </a:t>
            </a:r>
            <a:r>
              <a:rPr lang="en-US" sz="2400" i="1" dirty="0" smtClean="0">
                <a:solidFill>
                  <a:srgbClr val="C00000"/>
                </a:solidFill>
              </a:rPr>
              <a:t>by yourself</a:t>
            </a:r>
            <a:r>
              <a:rPr lang="en-US" sz="2400" dirty="0" smtClean="0"/>
              <a:t>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read code</a:t>
            </a:r>
            <a:r>
              <a:rPr lang="en-US" sz="2400" dirty="0" smtClean="0"/>
              <a:t> of an existing system.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Motivation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Programming language syntax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The foundation of a programming language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Programming language generations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Programming paradigms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Code reading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Demo: React and Functional Programming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David S. Frankel (2003). Model Driven Architecture - Applying MDA to Enterprise Computing. Wiley Publishing.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Dave Thomas and Brian M. Barry (2003). Model Driven Development – The Case for Domain Oriented Programming. OOPSLA.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 smtClean="0"/>
              <a:t>Peter Van Roy (2009). Programming Paradigms for Dummies - What Every Programmer Should Know.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Robert Pickering (2009). Beginning F#. </a:t>
            </a:r>
            <a:r>
              <a:rPr lang="en-US" sz="2000" dirty="0" err="1" smtClean="0"/>
              <a:t>Apress</a:t>
            </a:r>
            <a:r>
              <a:rPr lang="en-US" sz="2000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 smtClean="0"/>
              <a:t>Diomidis</a:t>
            </a:r>
            <a:r>
              <a:rPr lang="en-US" sz="2000" dirty="0" smtClean="0"/>
              <a:t> </a:t>
            </a:r>
            <a:r>
              <a:rPr lang="en-US" sz="2000" dirty="0" err="1" smtClean="0"/>
              <a:t>Spinellis</a:t>
            </a:r>
            <a:r>
              <a:rPr lang="en-US" sz="2000" dirty="0" smtClean="0"/>
              <a:t> et al. (2003). Code Reading: The Open Source Perspective. Addison-Wesley Professional.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s://cdn-images-1.medium.com/max/1600/1*TpcMd-ZIi6Iea6_vYxYtbQ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3124200"/>
            <a:ext cx="4267200" cy="246164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Learn a New </a:t>
            </a:r>
            <a:br>
              <a:rPr lang="en-US" dirty="0" smtClean="0"/>
            </a:br>
            <a:r>
              <a:rPr lang="en-US" dirty="0" smtClean="0"/>
              <a:t>Programming Language?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money</a:t>
            </a:r>
          </a:p>
          <a:p>
            <a:pPr lvl="1"/>
            <a:r>
              <a:rPr lang="en-US" dirty="0" smtClean="0"/>
              <a:t>Get a job (job requirement).</a:t>
            </a:r>
          </a:p>
          <a:p>
            <a:pPr lvl="1"/>
            <a:r>
              <a:rPr lang="en-US" dirty="0" smtClean="0"/>
              <a:t>Startup (solving a problem)</a:t>
            </a:r>
          </a:p>
          <a:p>
            <a:pPr lvl="2"/>
            <a:r>
              <a:rPr lang="en-US" dirty="0" smtClean="0"/>
              <a:t>Language selection</a:t>
            </a:r>
          </a:p>
          <a:p>
            <a:pPr lvl="3"/>
            <a:r>
              <a:rPr lang="en-US" dirty="0" smtClean="0"/>
              <a:t>Faster development</a:t>
            </a:r>
          </a:p>
          <a:p>
            <a:pPr lvl="4"/>
            <a:r>
              <a:rPr lang="en-US" b="1" dirty="0" smtClean="0">
                <a:latin typeface="Consolas" pitchFamily="49" charset="0"/>
              </a:rPr>
              <a:t>Code reading</a:t>
            </a:r>
          </a:p>
          <a:p>
            <a:pPr lvl="4"/>
            <a:r>
              <a:rPr lang="en-US" dirty="0" smtClean="0"/>
              <a:t>Code writing</a:t>
            </a:r>
          </a:p>
          <a:p>
            <a:r>
              <a:rPr lang="en-US" dirty="0" smtClean="0"/>
              <a:t>Hobby</a:t>
            </a:r>
          </a:p>
          <a:p>
            <a:pPr lvl="1"/>
            <a:r>
              <a:rPr lang="en-US" i="1" dirty="0" smtClean="0">
                <a:solidFill>
                  <a:srgbClr val="C00000"/>
                </a:solidFill>
              </a:rPr>
              <a:t>Problem</a:t>
            </a:r>
            <a:r>
              <a:rPr lang="en-US" dirty="0" smtClean="0"/>
              <a:t>/need.</a:t>
            </a:r>
          </a:p>
          <a:p>
            <a:pPr lvl="1"/>
            <a:r>
              <a:rPr lang="en-US" dirty="0" smtClean="0"/>
              <a:t>Open yourself up to </a:t>
            </a:r>
            <a:r>
              <a:rPr lang="en-US" i="1" dirty="0" smtClean="0">
                <a:solidFill>
                  <a:srgbClr val="C00000"/>
                </a:solidFill>
              </a:rPr>
              <a:t>new ideas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C00000"/>
                </a:solidFill>
              </a:rPr>
              <a:t>approaches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7" name="Curved Connector 6"/>
          <p:cNvCxnSpPr/>
          <p:nvPr/>
        </p:nvCxnSpPr>
        <p:spPr>
          <a:xfrm rot="16200000" flipV="1">
            <a:off x="1104900" y="4152900"/>
            <a:ext cx="1828800" cy="8382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Curved Connector 5"/>
          <p:cNvCxnSpPr/>
          <p:nvPr/>
        </p:nvCxnSpPr>
        <p:spPr>
          <a:xfrm rot="10800000">
            <a:off x="3581400" y="5638800"/>
            <a:ext cx="1447800" cy="2286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ight Arrow 7"/>
          <p:cNvSpPr/>
          <p:nvPr/>
        </p:nvSpPr>
        <p:spPr>
          <a:xfrm>
            <a:off x="228600" y="1524000"/>
            <a:ext cx="609600" cy="838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228600" y="4648200"/>
            <a:ext cx="609600" cy="838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Warming 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Hello World!</a:t>
            </a:r>
          </a:p>
          <a:p>
            <a:pPr lvl="1"/>
            <a:r>
              <a:rPr lang="en-US" sz="2400" dirty="0" smtClean="0"/>
              <a:t>Development environment setup</a:t>
            </a:r>
          </a:p>
          <a:p>
            <a:pPr lvl="1"/>
            <a:r>
              <a:rPr lang="en-US" sz="2400" dirty="0" smtClean="0"/>
              <a:t>Source code (files) structure</a:t>
            </a:r>
          </a:p>
          <a:p>
            <a:pPr lvl="1"/>
            <a:r>
              <a:rPr lang="en-US" sz="2400" dirty="0" smtClean="0"/>
              <a:t>Build/Run/Debug</a:t>
            </a:r>
          </a:p>
          <a:p>
            <a:pPr lvl="2"/>
            <a:r>
              <a:rPr lang="en-US" sz="2200" dirty="0" smtClean="0"/>
              <a:t>Compiled vs. interpreted programs</a:t>
            </a:r>
          </a:p>
          <a:p>
            <a:r>
              <a:rPr lang="en-US" sz="2800" dirty="0" smtClean="0"/>
              <a:t>The </a:t>
            </a:r>
            <a:r>
              <a:rPr lang="en-US" sz="2800" i="1" dirty="0" smtClean="0">
                <a:solidFill>
                  <a:srgbClr val="C00000"/>
                </a:solidFill>
              </a:rPr>
              <a:t>problems</a:t>
            </a:r>
            <a:r>
              <a:rPr lang="en-US" sz="2800" dirty="0" smtClean="0"/>
              <a:t> it addresses.</a:t>
            </a:r>
          </a:p>
          <a:p>
            <a:r>
              <a:rPr lang="en-US" sz="2800" dirty="0" smtClean="0"/>
              <a:t>Real world problems</a:t>
            </a:r>
          </a:p>
          <a:p>
            <a:pPr lvl="1"/>
            <a:r>
              <a:rPr lang="en-US" sz="2400" dirty="0" smtClean="0"/>
              <a:t>Small exercises</a:t>
            </a:r>
          </a:p>
          <a:p>
            <a:pPr lvl="1"/>
            <a:r>
              <a:rPr lang="en-US" sz="2400" dirty="0" smtClean="0"/>
              <a:t>Concepts</a:t>
            </a:r>
          </a:p>
          <a:p>
            <a:endParaRPr lang="en-US" dirty="0"/>
          </a:p>
        </p:txBody>
      </p:sp>
      <p:pic>
        <p:nvPicPr>
          <p:cNvPr id="1026" name="Picture 2" descr="https://lh3.googleusercontent.com/P1x3eNubKHsG939Eds58NA1LyAenpN1FDqqxr5dL37Hdu-Xo5vszCYRuv4Q_SiUAOER7vPQhJ80zFnhdZn5A_g=s8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59058" y="1600200"/>
            <a:ext cx="2927742" cy="15711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Syntax is easy to learn if you have a foundation.</a:t>
            </a:r>
            <a:endParaRPr lang="en-US" sz="2400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667000"/>
            <a:ext cx="587692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Foundation?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600" i="1" dirty="0" smtClean="0">
                <a:solidFill>
                  <a:srgbClr val="C00000"/>
                </a:solidFill>
              </a:rPr>
              <a:t>Primitive types</a:t>
            </a:r>
            <a:r>
              <a:rPr lang="en-US" sz="1600" dirty="0" smtClean="0"/>
              <a:t>: </a:t>
            </a:r>
            <a:r>
              <a:rPr lang="en-US" sz="1600" dirty="0" err="1" smtClean="0"/>
              <a:t>int</a:t>
            </a:r>
            <a:r>
              <a:rPr lang="en-US" sz="1600" dirty="0" smtClean="0"/>
              <a:t>, float, double, string, date/time, null.</a:t>
            </a:r>
          </a:p>
          <a:p>
            <a:pPr lvl="0"/>
            <a:r>
              <a:rPr lang="en-US" sz="1600" i="1" dirty="0" smtClean="0">
                <a:solidFill>
                  <a:srgbClr val="C00000"/>
                </a:solidFill>
              </a:rPr>
              <a:t>Basic constructs</a:t>
            </a:r>
            <a:r>
              <a:rPr lang="en-US" sz="1600" dirty="0" smtClean="0"/>
              <a:t>: variables &amp; assignments, pointers, declarations, functions, macro.</a:t>
            </a:r>
          </a:p>
          <a:p>
            <a:pPr lvl="0"/>
            <a:r>
              <a:rPr lang="en-US" sz="1600" i="1" dirty="0" smtClean="0">
                <a:solidFill>
                  <a:srgbClr val="C00000"/>
                </a:solidFill>
              </a:rPr>
              <a:t>Control flow</a:t>
            </a:r>
            <a:r>
              <a:rPr lang="en-US" sz="1600" dirty="0" smtClean="0"/>
              <a:t>: if/else, while, switch, for, break, continue, recursion, exception, parallelism, signal, jump.</a:t>
            </a:r>
          </a:p>
          <a:p>
            <a:r>
              <a:rPr lang="en-US" sz="1600" i="1" dirty="0" smtClean="0">
                <a:solidFill>
                  <a:srgbClr val="C00000"/>
                </a:solidFill>
              </a:rPr>
              <a:t>User-defined types</a:t>
            </a:r>
            <a:r>
              <a:rPr lang="en-US" sz="1600" dirty="0" smtClean="0"/>
              <a:t>: </a:t>
            </a:r>
            <a:r>
              <a:rPr lang="en-US" sz="1600" dirty="0" err="1" smtClean="0"/>
              <a:t>struct</a:t>
            </a:r>
            <a:r>
              <a:rPr lang="en-US" sz="1600" dirty="0" smtClean="0"/>
              <a:t>, class, type.</a:t>
            </a:r>
          </a:p>
          <a:p>
            <a:pPr lvl="0"/>
            <a:r>
              <a:rPr lang="en-US" sz="1600" i="1" dirty="0" smtClean="0">
                <a:solidFill>
                  <a:srgbClr val="C00000"/>
                </a:solidFill>
              </a:rPr>
              <a:t>Data structures</a:t>
            </a:r>
            <a:r>
              <a:rPr lang="en-US" sz="1600" dirty="0" smtClean="0"/>
              <a:t>: array, list, linked list, queue, stack, set, </a:t>
            </a:r>
            <a:r>
              <a:rPr lang="en-US" sz="1600" dirty="0" err="1" smtClean="0"/>
              <a:t>hashtable</a:t>
            </a:r>
            <a:r>
              <a:rPr lang="en-US" sz="1600" dirty="0" smtClean="0"/>
              <a:t>/map/dictionaries, tree, hierarchical structure.</a:t>
            </a:r>
          </a:p>
          <a:p>
            <a:pPr lvl="0"/>
            <a:r>
              <a:rPr lang="en-US" sz="1600" i="1" dirty="0" smtClean="0">
                <a:solidFill>
                  <a:srgbClr val="C00000"/>
                </a:solidFill>
              </a:rPr>
              <a:t>OOP</a:t>
            </a:r>
            <a:r>
              <a:rPr lang="en-US" sz="1600" dirty="0" smtClean="0"/>
              <a:t>: abstraction, encapsulation, class-based inheritance, prototype-based inheritance, polymorphism.</a:t>
            </a:r>
          </a:p>
          <a:p>
            <a:pPr lvl="0"/>
            <a:r>
              <a:rPr lang="en-US" sz="1600" i="1" dirty="0" smtClean="0">
                <a:solidFill>
                  <a:srgbClr val="C00000"/>
                </a:solidFill>
              </a:rPr>
              <a:t>Functional programming</a:t>
            </a:r>
            <a:r>
              <a:rPr lang="en-US" sz="1600" dirty="0" smtClean="0"/>
              <a:t>: first-class and higher-order functions, no side effects, recursion.</a:t>
            </a:r>
          </a:p>
          <a:p>
            <a:pPr lvl="0"/>
            <a:r>
              <a:rPr lang="en-US" sz="1600" i="1" dirty="0" smtClean="0">
                <a:solidFill>
                  <a:srgbClr val="C00000"/>
                </a:solidFill>
              </a:rPr>
              <a:t>Modularity</a:t>
            </a:r>
            <a:r>
              <a:rPr lang="en-US" sz="1600" dirty="0" smtClean="0"/>
              <a:t>: files, packages, namespaces, libraries, modules.</a:t>
            </a:r>
          </a:p>
          <a:p>
            <a:pPr lvl="0"/>
            <a:r>
              <a:rPr lang="en-US" sz="1600" i="1" dirty="0" smtClean="0">
                <a:solidFill>
                  <a:srgbClr val="C00000"/>
                </a:solidFill>
              </a:rPr>
              <a:t>Concurrency</a:t>
            </a:r>
            <a:r>
              <a:rPr lang="en-US" sz="1600" dirty="0" smtClean="0"/>
              <a:t>: processes, threads, locks, channels, timers, callbacks, events, promises, event loop.</a:t>
            </a:r>
          </a:p>
          <a:p>
            <a:pPr lvl="0"/>
            <a:r>
              <a:rPr lang="en-US" sz="1600" i="1" dirty="0" smtClean="0">
                <a:solidFill>
                  <a:srgbClr val="C00000"/>
                </a:solidFill>
              </a:rPr>
              <a:t>Type system</a:t>
            </a:r>
            <a:r>
              <a:rPr lang="en-US" sz="1600" dirty="0" smtClean="0"/>
              <a:t>: static type, dynamic type.</a:t>
            </a:r>
          </a:p>
          <a:p>
            <a:pPr lvl="0"/>
            <a:r>
              <a:rPr lang="en-US" sz="1600" i="1" dirty="0" smtClean="0">
                <a:solidFill>
                  <a:srgbClr val="C00000"/>
                </a:solidFill>
              </a:rPr>
              <a:t>Error handling</a:t>
            </a:r>
            <a:r>
              <a:rPr lang="en-US" sz="1600" dirty="0" smtClean="0"/>
              <a:t>: try/catch.</a:t>
            </a:r>
          </a:p>
          <a:p>
            <a:pPr lvl="0"/>
            <a:r>
              <a:rPr lang="en-US" sz="1600" i="1" dirty="0" err="1" smtClean="0">
                <a:solidFill>
                  <a:srgbClr val="C00000"/>
                </a:solidFill>
              </a:rPr>
              <a:t>Metaprogramming</a:t>
            </a:r>
            <a:r>
              <a:rPr lang="en-US" sz="1600" dirty="0" smtClean="0"/>
              <a:t>: reflection, template programming, DSL.</a:t>
            </a:r>
          </a:p>
        </p:txBody>
      </p:sp>
      <p:pic>
        <p:nvPicPr>
          <p:cNvPr id="4" name="Picture 2" descr="https://img.icons8.com/ios/452/foundati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51700" y="381000"/>
            <a:ext cx="1435100" cy="14351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(Python)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200" dirty="0" smtClean="0"/>
              <a:t>Types</a:t>
            </a:r>
          </a:p>
          <a:p>
            <a:pPr lvl="0"/>
            <a:r>
              <a:rPr lang="en-US" sz="2200" dirty="0" smtClean="0"/>
              <a:t>Expressions and Variables</a:t>
            </a:r>
          </a:p>
          <a:p>
            <a:pPr lvl="0"/>
            <a:r>
              <a:rPr lang="en-US" sz="2200" dirty="0" smtClean="0"/>
              <a:t>String Operations</a:t>
            </a:r>
          </a:p>
          <a:p>
            <a:pPr lvl="0"/>
            <a:r>
              <a:rPr lang="en-US" sz="2200" dirty="0" err="1" smtClean="0"/>
              <a:t>Tuples</a:t>
            </a:r>
            <a:r>
              <a:rPr lang="en-US" sz="2200" dirty="0" smtClean="0"/>
              <a:t> and List</a:t>
            </a:r>
          </a:p>
          <a:p>
            <a:pPr lvl="0"/>
            <a:r>
              <a:rPr lang="en-US" sz="2200" dirty="0" smtClean="0"/>
              <a:t>Dictionaries</a:t>
            </a:r>
          </a:p>
          <a:p>
            <a:pPr lvl="0"/>
            <a:r>
              <a:rPr lang="en-US" sz="2200" dirty="0" smtClean="0"/>
              <a:t>Sets </a:t>
            </a:r>
          </a:p>
          <a:p>
            <a:pPr lvl="0"/>
            <a:r>
              <a:rPr lang="en-US" sz="2200" dirty="0" smtClean="0"/>
              <a:t>Conditions and Branching</a:t>
            </a:r>
          </a:p>
          <a:p>
            <a:pPr lvl="0"/>
            <a:r>
              <a:rPr lang="en-US" sz="2200" dirty="0" smtClean="0"/>
              <a:t>Loops</a:t>
            </a:r>
          </a:p>
          <a:p>
            <a:pPr lvl="0"/>
            <a:r>
              <a:rPr lang="en-US" sz="2200" dirty="0" smtClean="0"/>
              <a:t>Functions</a:t>
            </a:r>
          </a:p>
          <a:p>
            <a:pPr lvl="0"/>
            <a:r>
              <a:rPr lang="en-US" sz="2200" dirty="0" smtClean="0"/>
              <a:t>Objects and Classes (OOP)</a:t>
            </a:r>
          </a:p>
          <a:p>
            <a:r>
              <a:rPr lang="en-US" sz="2200" dirty="0" smtClean="0"/>
              <a:t>Modules, Libraries and Packages</a:t>
            </a:r>
            <a:endParaRPr lang="en-US" sz="2200" dirty="0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2286000"/>
            <a:ext cx="3558540" cy="3040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What's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i="1" dirty="0" smtClean="0">
                <a:solidFill>
                  <a:srgbClr val="C00000"/>
                </a:solidFill>
              </a:rPr>
              <a:t>Revisit programming language syntax </a:t>
            </a:r>
            <a:r>
              <a:rPr lang="en-US" sz="2400" dirty="0" smtClean="0"/>
              <a:t>(Java, C#, PHP, Python, Ruby, JavaScript, </a:t>
            </a:r>
            <a:r>
              <a:rPr lang="en-US" sz="2400" dirty="0" err="1" smtClean="0"/>
              <a:t>Kotlin</a:t>
            </a:r>
            <a:r>
              <a:rPr lang="en-US" sz="2400" dirty="0" smtClean="0"/>
              <a:t>, Swift, Go)</a:t>
            </a:r>
          </a:p>
          <a:p>
            <a:pPr>
              <a:buNone/>
            </a:pP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3124200"/>
            <a:ext cx="587692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What's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i="1" dirty="0" smtClean="0">
                <a:solidFill>
                  <a:srgbClr val="C00000"/>
                </a:solidFill>
              </a:rPr>
              <a:t>Platform</a:t>
            </a:r>
            <a:r>
              <a:rPr lang="en-US" sz="2400" dirty="0" smtClean="0"/>
              <a:t> (i.e. project structure, namespaces/packages, class hierarchy) (e.g. JEE, .NET)</a:t>
            </a:r>
          </a:p>
          <a:p>
            <a:pPr lvl="0"/>
            <a:r>
              <a:rPr lang="en-US" sz="2400" i="1" dirty="0" smtClean="0">
                <a:solidFill>
                  <a:srgbClr val="C00000"/>
                </a:solidFill>
              </a:rPr>
              <a:t>Libraries</a:t>
            </a:r>
            <a:r>
              <a:rPr lang="en-US" sz="2400" dirty="0" smtClean="0"/>
              <a:t> (i.e. functions) (e.g. PHP, </a:t>
            </a:r>
            <a:r>
              <a:rPr lang="en-US" sz="2400" dirty="0" err="1" smtClean="0"/>
              <a:t>Numpy</a:t>
            </a:r>
            <a:r>
              <a:rPr lang="en-US" sz="2400" dirty="0" smtClean="0"/>
              <a:t>)</a:t>
            </a:r>
          </a:p>
          <a:p>
            <a:pPr lvl="0"/>
            <a:r>
              <a:rPr lang="en-US" sz="2400" dirty="0" smtClean="0"/>
              <a:t>But wait! We need a problem first! </a:t>
            </a:r>
            <a:r>
              <a:rPr lang="en-US" sz="2400" smtClean="0">
                <a:sym typeface="Wingdings" pitchFamily="2" charset="2"/>
              </a:rPr>
              <a:t> Example: code </a:t>
            </a:r>
            <a:r>
              <a:rPr lang="en-US" sz="2400" dirty="0" smtClean="0">
                <a:sym typeface="Wingdings" pitchFamily="2" charset="2"/>
              </a:rPr>
              <a:t>reading task.</a:t>
            </a:r>
            <a:endParaRPr lang="en-US" sz="2400" dirty="0" smtClean="0"/>
          </a:p>
        </p:txBody>
      </p:sp>
      <p:pic>
        <p:nvPicPr>
          <p:cNvPr id="1026" name="Picture 2" descr="https://corporatetrainingmaterials.com/course/images/e0201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3505200"/>
            <a:ext cx="2011429" cy="291238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Why so many programming languages?</a:t>
            </a:r>
          </a:p>
          <a:p>
            <a:r>
              <a:rPr lang="en-US" sz="2400" dirty="0" smtClean="0"/>
              <a:t>Which problems did they solve?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935641"/>
            <a:ext cx="5717354" cy="285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http://www.webopedia.com/FIG/PROG-LAN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3621441"/>
            <a:ext cx="2790825" cy="20288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Native CPU Instructions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Native CPU instructions</a:t>
            </a:r>
            <a:r>
              <a:rPr lang="en-US" sz="2400" dirty="0" smtClean="0"/>
              <a:t> are </a:t>
            </a:r>
            <a:r>
              <a:rPr lang="en-US" sz="2400" u="sng" dirty="0" smtClean="0"/>
              <a:t>sets of 1s and 0s</a:t>
            </a:r>
            <a:r>
              <a:rPr lang="en-US" sz="2400" dirty="0" smtClean="0"/>
              <a:t> that tell machine to do something.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Available memory and processor 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i="1" dirty="0" smtClean="0">
                <a:solidFill>
                  <a:srgbClr val="C00000"/>
                </a:solidFill>
              </a:rPr>
              <a:t>speed optimization</a:t>
            </a:r>
            <a:r>
              <a:rPr lang="en-US" sz="2400" dirty="0" smtClean="0"/>
              <a:t>.</a:t>
            </a:r>
          </a:p>
          <a:p>
            <a:pPr>
              <a:buFont typeface="Arial" pitchFamily="34" charset="0"/>
              <a:buChar char="•"/>
            </a:pPr>
            <a:endParaRPr lang="en-US" sz="2400" i="1" dirty="0" smtClean="0">
              <a:solidFill>
                <a:srgbClr val="C0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</a:rPr>
              <a:t>Labor-intensive</a:t>
            </a:r>
            <a:r>
              <a:rPr lang="en-US" sz="2400" dirty="0" smtClean="0"/>
              <a:t> 1s and 0s coding.</a:t>
            </a:r>
          </a:p>
          <a:p>
            <a:pPr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</a:rPr>
              <a:t>Coupled</a:t>
            </a:r>
            <a:r>
              <a:rPr lang="en-US" sz="2400" dirty="0" smtClean="0"/>
              <a:t> with high hardware costs.</a:t>
            </a:r>
          </a:p>
          <a:p>
            <a:pPr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</a:rPr>
              <a:t>Sharply limited</a:t>
            </a:r>
            <a:r>
              <a:rPr lang="en-US" sz="2400" dirty="0" smtClean="0"/>
              <a:t> the number of tasks amenable to computerization.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first generation languages</a:t>
            </a:r>
            <a:r>
              <a:rPr lang="en-US" sz="2400" dirty="0" smtClean="0"/>
              <a:t>, or 1GL, are low-level languages that are machine language.</a:t>
            </a:r>
          </a:p>
        </p:txBody>
      </p:sp>
      <p:pic>
        <p:nvPicPr>
          <p:cNvPr id="16386" name="Picture 2" descr="http://math.hws.edu/javanotes/c1/overview_fig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2209800"/>
            <a:ext cx="3352800" cy="2143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Assembly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Assembly language</a:t>
            </a:r>
            <a:r>
              <a:rPr lang="en-US" sz="2200" dirty="0" smtClean="0"/>
              <a:t> is a development language consisting of simple mnemonics that represent the native instructions</a:t>
            </a:r>
          </a:p>
          <a:p>
            <a:endParaRPr lang="en-US" sz="2400" dirty="0" smtClean="0"/>
          </a:p>
          <a:p>
            <a:pPr lvl="1">
              <a:buFont typeface="Wingdings" pitchFamily="2" charset="2"/>
              <a:buChar char="q"/>
            </a:pPr>
            <a:r>
              <a:rPr lang="en-US" dirty="0" smtClean="0"/>
              <a:t>MOV AX, DX</a:t>
            </a:r>
          </a:p>
          <a:p>
            <a:pPr lvl="1">
              <a:buFont typeface="Courier New" pitchFamily="49" charset="0"/>
              <a:buChar char="o"/>
            </a:pP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200" i="1" dirty="0" smtClean="0">
                <a:solidFill>
                  <a:srgbClr val="C00000"/>
                </a:solidFill>
              </a:rPr>
              <a:t>Less time</a:t>
            </a:r>
            <a:r>
              <a:rPr lang="en-US" sz="2200" dirty="0" smtClean="0"/>
              <a:t>-consuming.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Less prone to </a:t>
            </a:r>
            <a:r>
              <a:rPr lang="en-US" sz="2200" i="1" dirty="0" smtClean="0">
                <a:solidFill>
                  <a:srgbClr val="C00000"/>
                </a:solidFill>
              </a:rPr>
              <a:t>error</a:t>
            </a:r>
            <a:r>
              <a:rPr lang="en-US" sz="2200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Less sensitive to incremental </a:t>
            </a:r>
            <a:r>
              <a:rPr lang="en-US" sz="2200" i="1" dirty="0" smtClean="0">
                <a:solidFill>
                  <a:srgbClr val="C00000"/>
                </a:solidFill>
              </a:rPr>
              <a:t>changes of processors</a:t>
            </a:r>
            <a:r>
              <a:rPr lang="en-US" sz="2200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200" i="1" dirty="0" smtClean="0">
                <a:solidFill>
                  <a:srgbClr val="C00000"/>
                </a:solidFill>
              </a:rPr>
              <a:t>Low productivity</a:t>
            </a:r>
            <a:r>
              <a:rPr lang="en-US" sz="2200" dirty="0" smtClean="0"/>
              <a:t>: A simple routine could require hundreds of instructions.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second-generation languages</a:t>
            </a:r>
            <a:r>
              <a:rPr lang="en-US" sz="2200" dirty="0" smtClean="0"/>
              <a:t>, or 2GLs, are also low-level assembly languages.</a:t>
            </a: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2362200"/>
            <a:ext cx="3857625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Third Generation Languages (3GLs)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Language compilers</a:t>
            </a:r>
            <a:r>
              <a:rPr lang="en-US" sz="2400" dirty="0" smtClean="0"/>
              <a:t> translate the higher-level instructions into native processor instructions (machine code).</a:t>
            </a:r>
          </a:p>
          <a:p>
            <a:endParaRPr lang="en-US" sz="2400" dirty="0" smtClean="0"/>
          </a:p>
          <a:p>
            <a:pPr lvl="1">
              <a:buFont typeface="Wingdings" pitchFamily="2" charset="2"/>
              <a:buChar char="q"/>
            </a:pPr>
            <a:r>
              <a:rPr lang="en-US" dirty="0" smtClean="0"/>
              <a:t>PRINT “Hello World” (FORTRAN COBOL, Pascal, C)</a:t>
            </a:r>
          </a:p>
          <a:p>
            <a:pPr lvl="1">
              <a:buFont typeface="Courier New" pitchFamily="49" charset="0"/>
              <a:buChar char="o"/>
            </a:pP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</a:rPr>
              <a:t>Fewer</a:t>
            </a:r>
            <a:r>
              <a:rPr lang="en-US" sz="2400" dirty="0" smtClean="0"/>
              <a:t> instructions.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The ability to </a:t>
            </a:r>
            <a:r>
              <a:rPr lang="en-US" sz="2400" i="1" dirty="0" smtClean="0">
                <a:solidFill>
                  <a:srgbClr val="C00000"/>
                </a:solidFill>
              </a:rPr>
              <a:t>think</a:t>
            </a:r>
            <a:r>
              <a:rPr lang="en-US" sz="2400" dirty="0" smtClean="0"/>
              <a:t> entirely in terms of the programming models defined by the 3GLs.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The ability to </a:t>
            </a:r>
            <a:r>
              <a:rPr lang="en-US" sz="2400" i="1" dirty="0" smtClean="0">
                <a:solidFill>
                  <a:srgbClr val="C00000"/>
                </a:solidFill>
              </a:rPr>
              <a:t>retarget </a:t>
            </a:r>
            <a:r>
              <a:rPr lang="en-US" sz="2400" dirty="0" smtClean="0"/>
              <a:t>3GL programs to different processors.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third-generation languages</a:t>
            </a:r>
            <a:r>
              <a:rPr lang="en-US" sz="2400" dirty="0" smtClean="0"/>
              <a:t>, or 3GL, are high-level languages, such as C, C++, Java, JavaScript, and Visual Basic.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3GLs with Operating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4267200" cy="4525963"/>
          </a:xfrm>
        </p:spPr>
        <p:txBody>
          <a:bodyPr/>
          <a:lstStyle/>
          <a:p>
            <a:r>
              <a:rPr lang="en-US" sz="2200" dirty="0" smtClean="0"/>
              <a:t>Whereas 3GLs raised the level of abstraction of the </a:t>
            </a:r>
            <a:r>
              <a:rPr lang="en-US" sz="2200" i="1" dirty="0" smtClean="0">
                <a:solidFill>
                  <a:srgbClr val="C00000"/>
                </a:solidFill>
              </a:rPr>
              <a:t>programming environment</a:t>
            </a:r>
            <a:r>
              <a:rPr lang="en-US" sz="2200" dirty="0" smtClean="0"/>
              <a:t>, operating systems raised the level of abstraction of the </a:t>
            </a:r>
            <a:r>
              <a:rPr lang="en-US" sz="2200" i="1" dirty="0" smtClean="0">
                <a:solidFill>
                  <a:srgbClr val="C00000"/>
                </a:solidFill>
              </a:rPr>
              <a:t>computing platform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If a 3GL compiler has to </a:t>
            </a:r>
            <a:r>
              <a:rPr lang="en-US" sz="2200" u="sng" dirty="0" smtClean="0"/>
              <a:t>produce detailed machine code</a:t>
            </a:r>
            <a:r>
              <a:rPr lang="en-US" sz="2200" dirty="0" smtClean="0"/>
              <a:t> for routine functions such as disk and display manipulation, its job is harder than if it can simply </a:t>
            </a:r>
            <a:r>
              <a:rPr lang="en-US" sz="2200" i="1" dirty="0" smtClean="0">
                <a:solidFill>
                  <a:srgbClr val="C00000"/>
                </a:solidFill>
              </a:rPr>
              <a:t>generate machine code that invokes operating system</a:t>
            </a:r>
            <a:r>
              <a:rPr lang="en-US" sz="2200" dirty="0" smtClean="0"/>
              <a:t> disk and display services.</a:t>
            </a:r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905000"/>
            <a:ext cx="4286250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Object-Oriented 3GLs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Structured 3GLs evolved into </a:t>
            </a:r>
            <a:r>
              <a:rPr lang="en-US" sz="1800" i="1" dirty="0" smtClean="0">
                <a:solidFill>
                  <a:srgbClr val="C00000"/>
                </a:solidFill>
              </a:rPr>
              <a:t>object-oriented 3GLs</a:t>
            </a:r>
            <a:r>
              <a:rPr lang="en-US" sz="1800" dirty="0" smtClean="0"/>
              <a:t>, including Smalltalk and C++. These new languages make it </a:t>
            </a:r>
            <a:r>
              <a:rPr lang="en-US" sz="1800" i="1" dirty="0" smtClean="0">
                <a:solidFill>
                  <a:srgbClr val="C00000"/>
                </a:solidFill>
              </a:rPr>
              <a:t>easier to reuse parts of programs</a:t>
            </a:r>
            <a:r>
              <a:rPr lang="en-US" sz="1800" dirty="0" smtClean="0"/>
              <a:t> in </a:t>
            </a:r>
            <a:r>
              <a:rPr lang="en-US" sz="1800" u="sng" dirty="0" smtClean="0"/>
              <a:t>different contexts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Some object-oriented languages introduce an </a:t>
            </a:r>
            <a:r>
              <a:rPr lang="en-US" sz="1800" i="1" dirty="0" smtClean="0">
                <a:solidFill>
                  <a:srgbClr val="C00000"/>
                </a:solidFill>
              </a:rPr>
              <a:t>interpreter</a:t>
            </a:r>
            <a:r>
              <a:rPr lang="en-US" sz="1800" dirty="0" smtClean="0"/>
              <a:t> called </a:t>
            </a:r>
            <a:r>
              <a:rPr lang="en-US" sz="1800" u="sng" dirty="0" smtClean="0"/>
              <a:t>a virtual machine</a:t>
            </a:r>
            <a:r>
              <a:rPr lang="en-US" sz="1800" dirty="0" smtClean="0"/>
              <a:t> that executes intermediate code generated by the language compiler. Smalltalk, Java, and C# are the prime examples of such languages.</a:t>
            </a:r>
          </a:p>
          <a:p>
            <a:r>
              <a:rPr lang="en-US" sz="1800" dirty="0" smtClean="0"/>
              <a:t>The intermediate code is </a:t>
            </a:r>
            <a:r>
              <a:rPr lang="en-US" sz="1800" i="1" dirty="0" smtClean="0">
                <a:solidFill>
                  <a:srgbClr val="C00000"/>
                </a:solidFill>
              </a:rPr>
              <a:t>processor- and operating-system-independent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Thus, implementing the virtual machine over </a:t>
            </a:r>
            <a:r>
              <a:rPr lang="en-US" sz="1800" i="1" dirty="0" smtClean="0">
                <a:solidFill>
                  <a:srgbClr val="C00000"/>
                </a:solidFill>
              </a:rPr>
              <a:t>different processors and operating systems</a:t>
            </a:r>
            <a:r>
              <a:rPr lang="en-US" sz="1800" dirty="0" smtClean="0"/>
              <a:t> makes it possible to port even the compiled form of applications to different computing environments.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800600"/>
            <a:ext cx="7620000" cy="14773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// Java language statements</a:t>
            </a:r>
          </a:p>
          <a:p>
            <a:r>
              <a:rPr lang="en-US" dirty="0" smtClean="0">
                <a:latin typeface="Consolas" pitchFamily="49" charset="0"/>
              </a:rPr>
              <a:t>public </a:t>
            </a:r>
            <a:r>
              <a:rPr lang="en-US" dirty="0" err="1" smtClean="0">
                <a:latin typeface="Consolas" pitchFamily="49" charset="0"/>
              </a:rPr>
              <a:t>boolean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</a:rPr>
              <a:t>handleEvent</a:t>
            </a:r>
            <a:r>
              <a:rPr lang="en-US" dirty="0" smtClean="0">
                <a:latin typeface="Consolas" pitchFamily="49" charset="0"/>
              </a:rPr>
              <a:t> (Event </a:t>
            </a:r>
            <a:r>
              <a:rPr lang="en-US" dirty="0" err="1" smtClean="0">
                <a:latin typeface="Consolas" pitchFamily="49" charset="0"/>
              </a:rPr>
              <a:t>evt</a:t>
            </a:r>
            <a:r>
              <a:rPr lang="en-US" dirty="0" smtClean="0">
                <a:latin typeface="Consolas" pitchFamily="49" charset="0"/>
              </a:rPr>
              <a:t>) {</a:t>
            </a:r>
          </a:p>
          <a:p>
            <a:r>
              <a:rPr lang="en-US" dirty="0" smtClean="0">
                <a:latin typeface="Consolas" pitchFamily="49" charset="0"/>
              </a:rPr>
              <a:t>            switch (evt.id)  {</a:t>
            </a:r>
          </a:p>
          <a:p>
            <a:r>
              <a:rPr lang="en-US" dirty="0" smtClean="0">
                <a:latin typeface="Consolas" pitchFamily="49" charset="0"/>
              </a:rPr>
              <a:t>                 case </a:t>
            </a:r>
            <a:r>
              <a:rPr lang="en-US" dirty="0" err="1" smtClean="0">
                <a:latin typeface="Consolas" pitchFamily="49" charset="0"/>
              </a:rPr>
              <a:t>Event.ACTION_EVENT</a:t>
            </a:r>
            <a:r>
              <a:rPr lang="en-US" dirty="0" smtClean="0">
                <a:latin typeface="Consolas" pitchFamily="49" charset="0"/>
              </a:rPr>
              <a:t>:  {</a:t>
            </a:r>
          </a:p>
          <a:p>
            <a:r>
              <a:rPr lang="en-US" dirty="0" smtClean="0">
                <a:latin typeface="Consolas" pitchFamily="49" charset="0"/>
              </a:rPr>
              <a:t>                         if ("Try </a:t>
            </a:r>
            <a:r>
              <a:rPr lang="en-US" dirty="0" err="1" smtClean="0">
                <a:latin typeface="Consolas" pitchFamily="49" charset="0"/>
              </a:rPr>
              <a:t>me".equald</a:t>
            </a:r>
            <a:r>
              <a:rPr lang="en-US" dirty="0" smtClean="0">
                <a:latin typeface="Consolas" pitchFamily="49" charset="0"/>
              </a:rPr>
              <a:t>(evt.arg)) {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4</a:t>
            </a:r>
            <a:r>
              <a:rPr lang="en-US" sz="4200" baseline="30000" dirty="0" smtClean="0"/>
              <a:t>th</a:t>
            </a:r>
            <a:r>
              <a:rPr lang="en-US" sz="4200" dirty="0" smtClean="0"/>
              <a:t> Generation Languages (4GLs) [2]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i="1" dirty="0" smtClean="0">
                <a:solidFill>
                  <a:srgbClr val="C00000"/>
                </a:solidFill>
              </a:rPr>
              <a:t>4GLs</a:t>
            </a:r>
            <a:r>
              <a:rPr lang="en-US" sz="1800" dirty="0" smtClean="0"/>
              <a:t> refer to nonprocedural high-level languages designed to simplify CRUD (Create, Read, Update, Delete) programming and report writing.</a:t>
            </a:r>
          </a:p>
          <a:p>
            <a:r>
              <a:rPr lang="en-US" sz="1800" dirty="0" smtClean="0"/>
              <a:t>Successful 4GLs such as SQL, Focus, RPG-II, </a:t>
            </a:r>
            <a:r>
              <a:rPr lang="en-US" sz="1800" dirty="0" err="1" smtClean="0"/>
              <a:t>Adabas</a:t>
            </a:r>
            <a:r>
              <a:rPr lang="en-US" sz="1800" dirty="0" smtClean="0"/>
              <a:t>, Powerhouse, </a:t>
            </a:r>
            <a:r>
              <a:rPr lang="en-US" sz="1800" dirty="0" err="1" smtClean="0"/>
              <a:t>Mapper</a:t>
            </a:r>
            <a:r>
              <a:rPr lang="en-US" sz="1800" dirty="0" smtClean="0"/>
              <a:t> and </a:t>
            </a:r>
            <a:r>
              <a:rPr lang="en-US" sz="1800" dirty="0" err="1" smtClean="0"/>
              <a:t>Synon</a:t>
            </a:r>
            <a:r>
              <a:rPr lang="en-US" sz="1800" dirty="0" smtClean="0"/>
              <a:t> </a:t>
            </a:r>
            <a:r>
              <a:rPr lang="en-US" sz="1800" i="1" dirty="0" smtClean="0">
                <a:solidFill>
                  <a:srgbClr val="C00000"/>
                </a:solidFill>
              </a:rPr>
              <a:t>increased programmer productivity</a:t>
            </a:r>
            <a:r>
              <a:rPr lang="en-US" sz="1800" dirty="0" smtClean="0"/>
              <a:t> by providing </a:t>
            </a:r>
            <a:r>
              <a:rPr lang="en-US" sz="1800" u="sng" dirty="0" smtClean="0"/>
              <a:t>language constructs</a:t>
            </a:r>
            <a:r>
              <a:rPr lang="en-US" sz="1800" dirty="0" smtClean="0"/>
              <a:t> that </a:t>
            </a:r>
            <a:r>
              <a:rPr lang="en-US" sz="1800" u="sng" dirty="0" smtClean="0"/>
              <a:t>modeled the application domain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They did so without burdening the user with the complexity of extraneous </a:t>
            </a:r>
            <a:r>
              <a:rPr lang="en-US" sz="1800" i="1" dirty="0" smtClean="0">
                <a:solidFill>
                  <a:srgbClr val="C00000"/>
                </a:solidFill>
              </a:rPr>
              <a:t>computer science concepts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4GLs may </a:t>
            </a:r>
            <a:r>
              <a:rPr lang="en-US" sz="1800" u="sng" dirty="0" smtClean="0"/>
              <a:t>not always be well suited</a:t>
            </a:r>
            <a:r>
              <a:rPr lang="en-US" sz="1800" dirty="0" smtClean="0"/>
              <a:t> to building </a:t>
            </a:r>
            <a:r>
              <a:rPr lang="en-US" sz="1800" i="1" dirty="0" smtClean="0">
                <a:solidFill>
                  <a:srgbClr val="C00000"/>
                </a:solidFill>
              </a:rPr>
              <a:t>complex applications</a:t>
            </a:r>
            <a:r>
              <a:rPr lang="en-US" sz="1800" dirty="0" smtClean="0"/>
              <a:t>, but a major advantage of 4GLs is that simple things can be implemented simply (an advantage is not shared by JEE or </a:t>
            </a:r>
            <a:r>
              <a:rPr lang="en-US" sz="1800" dirty="0" err="1" smtClean="0"/>
              <a:t>.Net</a:t>
            </a:r>
            <a:r>
              <a:rPr lang="en-US" sz="1800" dirty="0" smtClean="0"/>
              <a:t>).</a:t>
            </a:r>
          </a:p>
          <a:p>
            <a:r>
              <a:rPr lang="en-US" sz="1800" dirty="0" smtClean="0"/>
              <a:t>Fourth generation languages are commonly used in </a:t>
            </a:r>
            <a:r>
              <a:rPr lang="en-US" sz="1800" i="1" dirty="0" smtClean="0">
                <a:solidFill>
                  <a:srgbClr val="C00000"/>
                </a:solidFill>
              </a:rPr>
              <a:t>database programming and scripts</a:t>
            </a:r>
            <a:r>
              <a:rPr lang="en-US" sz="1800" dirty="0" smtClean="0"/>
              <a:t> examples include Perl, PHP, Python, Ruby, and SQL.</a:t>
            </a:r>
            <a:endParaRPr lang="en-US" sz="1800" dirty="0"/>
          </a:p>
        </p:txBody>
      </p:sp>
      <p:sp>
        <p:nvSpPr>
          <p:cNvPr id="4" name="Rectangle 3"/>
          <p:cNvSpPr/>
          <p:nvPr/>
        </p:nvSpPr>
        <p:spPr>
          <a:xfrm>
            <a:off x="381000" y="5511225"/>
            <a:ext cx="8382000" cy="58477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</a:rPr>
              <a:t>// A 4GL language statement</a:t>
            </a:r>
          </a:p>
          <a:p>
            <a:r>
              <a:rPr lang="en-US" sz="1600" dirty="0" smtClean="0">
                <a:latin typeface="Consolas" pitchFamily="49" charset="0"/>
              </a:rPr>
              <a:t>EXTRACT ALL CUSTOMERS WHERE "PREVIOUS PURCHASES" TOTAL MORE THAN $1000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Specific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DSL</a:t>
            </a:r>
            <a:r>
              <a:rPr lang="en-US" sz="2400" dirty="0" smtClean="0"/>
              <a:t> is a </a:t>
            </a:r>
            <a:r>
              <a:rPr lang="en-US" sz="2400" u="sng" dirty="0" smtClean="0"/>
              <a:t>machine-</a:t>
            </a:r>
            <a:r>
              <a:rPr lang="en-US" sz="2400" u="sng" dirty="0" err="1" smtClean="0"/>
              <a:t>processable</a:t>
            </a:r>
            <a:r>
              <a:rPr lang="en-US" sz="2400" u="sng" dirty="0" smtClean="0"/>
              <a:t> language</a:t>
            </a:r>
            <a:r>
              <a:rPr lang="en-US" sz="2400" dirty="0" smtClean="0"/>
              <a:t> whose terms are derived from a specific domain model, which is used for the definition of components or software architectures supporting that domain.</a:t>
            </a:r>
          </a:p>
          <a:p>
            <a:r>
              <a:rPr lang="en-US" sz="2400" dirty="0" smtClean="0"/>
              <a:t>A DSL is tailored for </a:t>
            </a:r>
            <a:r>
              <a:rPr lang="en-US" sz="2400" i="1" dirty="0" smtClean="0">
                <a:solidFill>
                  <a:srgbClr val="C00000"/>
                </a:solidFill>
              </a:rPr>
              <a:t>a particular application domain</a:t>
            </a:r>
            <a:r>
              <a:rPr lang="en-US" sz="2400" dirty="0" smtClean="0"/>
              <a:t>, and captures precisely the semantics of that application domain – no more, no less.</a:t>
            </a:r>
          </a:p>
          <a:p>
            <a:r>
              <a:rPr lang="en-US" sz="2400" dirty="0" smtClean="0"/>
              <a:t>A DSL allows one to develop software for a particular application domain </a:t>
            </a:r>
            <a:r>
              <a:rPr lang="en-US" sz="2400" i="1" dirty="0" smtClean="0">
                <a:solidFill>
                  <a:srgbClr val="C00000"/>
                </a:solidFill>
              </a:rPr>
              <a:t>quickly and effectively</a:t>
            </a:r>
            <a:r>
              <a:rPr lang="en-US" sz="2400" dirty="0" smtClean="0"/>
              <a:t>, yielding programs that are easy to understand, reason about, and maintain.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DSL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452431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latin typeface="Consolas"/>
              </a:rPr>
              <a:t># pull official base image</a:t>
            </a:r>
            <a:endParaRPr lang="en-US" sz="1600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latin typeface="Consolas"/>
              </a:rPr>
              <a:t>FROM node:12.18.3-alpine3.12</a:t>
            </a:r>
            <a:endParaRPr lang="en-US" sz="1600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600" dirty="0" smtClean="0"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latin typeface="Consolas"/>
              </a:rPr>
              <a:t># set working directory</a:t>
            </a:r>
            <a:endParaRPr lang="en-US" sz="1600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latin typeface="Consolas"/>
              </a:rPr>
              <a:t>WORKDIR /</a:t>
            </a:r>
            <a:r>
              <a:rPr lang="en-US" sz="1600" dirty="0" err="1" smtClean="0">
                <a:latin typeface="Consolas"/>
              </a:rPr>
              <a:t>mtreleases</a:t>
            </a:r>
            <a:endParaRPr lang="en-US" sz="1600" dirty="0" smtClean="0"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600" dirty="0" smtClean="0"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latin typeface="Consolas"/>
              </a:rPr>
              <a:t># install app dependencies</a:t>
            </a:r>
            <a:endParaRPr lang="en-US" sz="1600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latin typeface="Consolas"/>
              </a:rPr>
              <a:t>COPY </a:t>
            </a:r>
            <a:r>
              <a:rPr lang="en-US" sz="1600" dirty="0" err="1" smtClean="0">
                <a:latin typeface="Consolas"/>
              </a:rPr>
              <a:t>package.json</a:t>
            </a:r>
            <a:r>
              <a:rPr lang="en-US" sz="1600" dirty="0" smtClean="0">
                <a:latin typeface="Consolas"/>
              </a:rPr>
              <a:t> ./</a:t>
            </a:r>
            <a:endParaRPr lang="en-US" sz="1600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latin typeface="Consolas"/>
              </a:rPr>
              <a:t>COPY package-</a:t>
            </a:r>
            <a:r>
              <a:rPr lang="en-US" sz="1600" dirty="0" err="1" smtClean="0">
                <a:latin typeface="Consolas"/>
              </a:rPr>
              <a:t>lock.json</a:t>
            </a:r>
            <a:r>
              <a:rPr lang="en-US" sz="1600" dirty="0" smtClean="0">
                <a:latin typeface="Consolas"/>
              </a:rPr>
              <a:t> ./</a:t>
            </a:r>
            <a:endParaRPr lang="en-US" sz="1600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latin typeface="Consolas"/>
              </a:rPr>
              <a:t>RUN </a:t>
            </a:r>
            <a:r>
              <a:rPr lang="en-US" sz="1600" dirty="0" err="1" smtClean="0">
                <a:latin typeface="Consolas"/>
              </a:rPr>
              <a:t>npm</a:t>
            </a:r>
            <a:r>
              <a:rPr lang="en-US" sz="1600" dirty="0" smtClean="0">
                <a:latin typeface="Consolas"/>
              </a:rPr>
              <a:t> install</a:t>
            </a:r>
            <a:endParaRPr lang="en-US" sz="1600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600" dirty="0" smtClean="0"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latin typeface="Consolas"/>
              </a:rPr>
              <a:t># copy all local files to image</a:t>
            </a:r>
            <a:endParaRPr lang="en-US" sz="1600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latin typeface="Consolas"/>
              </a:rPr>
              <a:t>COPY . ./</a:t>
            </a:r>
            <a:endParaRPr lang="en-US" sz="1600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600" dirty="0" smtClean="0"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latin typeface="Consolas"/>
              </a:rPr>
              <a:t>#Expose port and start application</a:t>
            </a:r>
            <a:endParaRPr lang="en-US" sz="1600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latin typeface="Consolas"/>
              </a:rPr>
              <a:t>EXPOSE 3000</a:t>
            </a:r>
            <a:endParaRPr lang="en-US" sz="1600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600" dirty="0" smtClean="0"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latin typeface="Consolas"/>
              </a:rPr>
              <a:t>CMD ["</a:t>
            </a:r>
            <a:r>
              <a:rPr lang="en-US" sz="1600" dirty="0" err="1" smtClean="0">
                <a:latin typeface="Consolas"/>
              </a:rPr>
              <a:t>npm</a:t>
            </a:r>
            <a:r>
              <a:rPr lang="en-US" sz="1600" dirty="0" smtClean="0">
                <a:latin typeface="Consolas"/>
              </a:rPr>
              <a:t>", "start"]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r>
              <a:rPr lang="en-US" baseline="30000" dirty="0" smtClean="0"/>
              <a:t>th</a:t>
            </a:r>
            <a:r>
              <a:rPr lang="en-US" dirty="0" smtClean="0"/>
              <a:t> Generation Languages (5GLs)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fifth generation (programming) language (5GL) is a grouping of programming languages build on the premise that </a:t>
            </a:r>
            <a:r>
              <a:rPr lang="en-US" sz="2400" i="1" dirty="0" smtClean="0">
                <a:solidFill>
                  <a:srgbClr val="C00000"/>
                </a:solidFill>
              </a:rPr>
              <a:t>a problem can be solved</a:t>
            </a:r>
            <a:r>
              <a:rPr lang="en-US" sz="2400" dirty="0" smtClean="0"/>
              <a:t>, and </a:t>
            </a:r>
            <a:r>
              <a:rPr lang="en-US" sz="2400" i="1" dirty="0" smtClean="0">
                <a:solidFill>
                  <a:srgbClr val="C00000"/>
                </a:solidFill>
              </a:rPr>
              <a:t>an application built to solve it</a:t>
            </a:r>
            <a:r>
              <a:rPr lang="en-US" sz="2400" dirty="0" smtClean="0"/>
              <a:t>, by </a:t>
            </a:r>
            <a:r>
              <a:rPr lang="en-US" sz="2400" u="sng" dirty="0" smtClean="0"/>
              <a:t>providing constraints to the program</a:t>
            </a:r>
            <a:r>
              <a:rPr lang="en-US" sz="2400" dirty="0" smtClean="0"/>
              <a:t> (constraint-based programming), rather than specifying algorithmically how the problem is to be solved (imperative programming).</a:t>
            </a:r>
          </a:p>
          <a:p>
            <a:r>
              <a:rPr lang="en-US" sz="2400" dirty="0" smtClean="0"/>
              <a:t>When the programmer dictates how the solution should look, by </a:t>
            </a:r>
            <a:r>
              <a:rPr lang="en-US" sz="2400" i="1" dirty="0" smtClean="0">
                <a:solidFill>
                  <a:srgbClr val="C00000"/>
                </a:solidFill>
              </a:rPr>
              <a:t>specifying conditions and constraints</a:t>
            </a:r>
            <a:r>
              <a:rPr lang="en-US" sz="2400" dirty="0" smtClean="0"/>
              <a:t> in a logical manner, the computer is then free to search for a suitable solution.</a:t>
            </a:r>
          </a:p>
          <a:p>
            <a:r>
              <a:rPr lang="en-US" sz="2400" dirty="0" smtClean="0"/>
              <a:t>Most of the </a:t>
            </a:r>
            <a:r>
              <a:rPr lang="en-US" sz="2400" i="1" dirty="0" smtClean="0">
                <a:solidFill>
                  <a:srgbClr val="C00000"/>
                </a:solidFill>
              </a:rPr>
              <a:t>applicable problems</a:t>
            </a:r>
            <a:r>
              <a:rPr lang="en-US" sz="2400" dirty="0" smtClean="0"/>
              <a:t> solved by this approach can currently be found in </a:t>
            </a:r>
            <a:r>
              <a:rPr lang="en-US" sz="2400" u="sng" dirty="0" smtClean="0"/>
              <a:t>the domain of artificial intelligence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What are Programming Paradigms? [3]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programming paradigm</a:t>
            </a:r>
            <a:r>
              <a:rPr lang="en-US" sz="2400" dirty="0" smtClean="0"/>
              <a:t> is an </a:t>
            </a:r>
            <a:r>
              <a:rPr lang="en-US" sz="2400" u="sng" dirty="0" smtClean="0"/>
              <a:t>approach to programming</a:t>
            </a:r>
            <a:r>
              <a:rPr lang="en-US" sz="2400" dirty="0" smtClean="0"/>
              <a:t> a computer based on a </a:t>
            </a:r>
            <a:r>
              <a:rPr lang="en-US" sz="2400" u="sng" dirty="0" smtClean="0"/>
              <a:t>mathematical theory</a:t>
            </a:r>
            <a:r>
              <a:rPr lang="en-US" sz="2400" dirty="0" smtClean="0"/>
              <a:t> or a </a:t>
            </a:r>
            <a:r>
              <a:rPr lang="en-US" sz="2400" u="sng" dirty="0" smtClean="0"/>
              <a:t>coherent set of principles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352800"/>
            <a:ext cx="558546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Why Care About Programming Paradigms?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learn a new programming language </a:t>
            </a:r>
            <a:r>
              <a:rPr lang="en-US" sz="2400" i="1" dirty="0" smtClean="0">
                <a:solidFill>
                  <a:srgbClr val="C00000"/>
                </a:solidFill>
              </a:rPr>
              <a:t>faster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To use a programming language </a:t>
            </a:r>
            <a:r>
              <a:rPr lang="en-US" sz="2400" i="1" dirty="0" smtClean="0">
                <a:solidFill>
                  <a:srgbClr val="C00000"/>
                </a:solidFill>
              </a:rPr>
              <a:t>more wisely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026" name="Picture 2" descr="https://36iusc2tb88y2g492si2bqd1-wpengine.netdna-ssl.com/wp-content/uploads/2019/12/man-running-fas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429000"/>
            <a:ext cx="3810000" cy="2143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Procedural &amp; Declarative Programming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Procedural</a:t>
            </a:r>
            <a:r>
              <a:rPr lang="en-US" sz="2800" dirty="0" smtClean="0"/>
              <a:t> programming.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HOW</a:t>
            </a:r>
            <a:r>
              <a:rPr lang="en-US" sz="2200" dirty="0" smtClean="0"/>
              <a:t> a computation should be performed.</a:t>
            </a:r>
          </a:p>
          <a:p>
            <a:pPr lvl="1"/>
            <a:r>
              <a:rPr lang="en-US" sz="2200" dirty="0" smtClean="0"/>
              <a:t>C, C++, Java, C#.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Declarative </a:t>
            </a:r>
            <a:r>
              <a:rPr lang="en-US" sz="2800" dirty="0" smtClean="0"/>
              <a:t>programming.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WHAT</a:t>
            </a:r>
            <a:r>
              <a:rPr lang="en-US" sz="2200" dirty="0" smtClean="0"/>
              <a:t> properties a computation should satisfy.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General</a:t>
            </a:r>
            <a:r>
              <a:rPr lang="en-US" sz="2200" dirty="0" smtClean="0"/>
              <a:t> declarative programming (HTML, SQL)</a:t>
            </a:r>
            <a:endParaRPr lang="en-US" sz="2200" i="1" dirty="0" smtClean="0">
              <a:solidFill>
                <a:srgbClr val="C00000"/>
              </a:solidFill>
            </a:endParaRP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Functional</a:t>
            </a:r>
            <a:r>
              <a:rPr lang="en-US" sz="2200" dirty="0" smtClean="0"/>
              <a:t> programming: LISP, Miranda, Haskell, Closure, F#.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Logic</a:t>
            </a:r>
            <a:r>
              <a:rPr lang="en-US" sz="2200" dirty="0" smtClean="0"/>
              <a:t> programming: Prolog.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Procedural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Main </a:t>
            </a:r>
            <a:r>
              <a:rPr lang="en-US" sz="2600" i="1" dirty="0" smtClean="0">
                <a:solidFill>
                  <a:srgbClr val="C00000"/>
                </a:solidFill>
              </a:rPr>
              <a:t>building blocks</a:t>
            </a:r>
            <a:r>
              <a:rPr lang="en-US" sz="2600" dirty="0" smtClean="0"/>
              <a:t> of </a:t>
            </a:r>
            <a:r>
              <a:rPr lang="en-US" sz="2600" u="sng" dirty="0" smtClean="0"/>
              <a:t>procedural programming languages</a:t>
            </a:r>
            <a:r>
              <a:rPr lang="en-US" sz="2600" dirty="0" smtClean="0"/>
              <a:t> are:</a:t>
            </a:r>
          </a:p>
          <a:p>
            <a:pPr lvl="1"/>
            <a:r>
              <a:rPr lang="en-US" sz="2200" dirty="0" smtClean="0"/>
              <a:t>constants, variables and built-in operators</a:t>
            </a:r>
          </a:p>
          <a:p>
            <a:pPr lvl="1"/>
            <a:r>
              <a:rPr lang="en-US" sz="2200" dirty="0" smtClean="0"/>
              <a:t>expressions formed from these</a:t>
            </a:r>
          </a:p>
          <a:p>
            <a:pPr lvl="1"/>
            <a:r>
              <a:rPr lang="en-US" sz="2200" dirty="0" smtClean="0"/>
              <a:t>assignment of values of expressions to variables</a:t>
            </a:r>
          </a:p>
          <a:p>
            <a:pPr lvl="1"/>
            <a:r>
              <a:rPr lang="en-US" sz="2200" dirty="0" smtClean="0"/>
              <a:t>sequencing of statements</a:t>
            </a:r>
          </a:p>
          <a:p>
            <a:pPr lvl="1"/>
            <a:r>
              <a:rPr lang="en-US" sz="2200" dirty="0" smtClean="0"/>
              <a:t>repetition (while, for, repeat)</a:t>
            </a:r>
          </a:p>
          <a:p>
            <a:pPr lvl="1"/>
            <a:r>
              <a:rPr lang="en-US" sz="2200" dirty="0" smtClean="0"/>
              <a:t>support for parameterized sub-programs (</a:t>
            </a:r>
            <a:r>
              <a:rPr lang="en-US" sz="2200" i="1" dirty="0" smtClean="0">
                <a:solidFill>
                  <a:srgbClr val="C00000"/>
                </a:solidFill>
              </a:rPr>
              <a:t>procedures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functions</a:t>
            </a:r>
            <a:r>
              <a:rPr lang="en-US" sz="2200" dirty="0" smtClean="0"/>
              <a:t>)</a:t>
            </a:r>
          </a:p>
          <a:p>
            <a:pPr lvl="1"/>
            <a:r>
              <a:rPr lang="en-US" sz="2200" dirty="0" smtClean="0"/>
              <a:t>recursion</a:t>
            </a:r>
          </a:p>
          <a:p>
            <a:pPr lvl="1"/>
            <a:r>
              <a:rPr lang="en-US" sz="2200" dirty="0" smtClean="0"/>
              <a:t>rich set of data types</a:t>
            </a:r>
          </a:p>
          <a:p>
            <a:pPr lvl="1"/>
            <a:r>
              <a:rPr lang="en-US" sz="2200" dirty="0" smtClean="0"/>
              <a:t>pointers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Programming [4]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Pure functional programming</a:t>
            </a:r>
            <a:r>
              <a:rPr lang="en-US" sz="2400" dirty="0" smtClean="0"/>
              <a:t> views all programs as </a:t>
            </a:r>
            <a:r>
              <a:rPr lang="en-US" sz="2400" u="sng" dirty="0" smtClean="0"/>
              <a:t>collections of functions</a:t>
            </a:r>
            <a:r>
              <a:rPr lang="en-US" sz="2400" dirty="0" smtClean="0"/>
              <a:t> that accept arguments and return values.</a:t>
            </a:r>
          </a:p>
          <a:p>
            <a:r>
              <a:rPr lang="en-US" sz="2400" dirty="0" smtClean="0"/>
              <a:t>Unlike imperative and object-oriented programming, it allows </a:t>
            </a:r>
            <a:r>
              <a:rPr lang="en-US" sz="2400" i="1" dirty="0" smtClean="0">
                <a:solidFill>
                  <a:srgbClr val="C00000"/>
                </a:solidFill>
              </a:rPr>
              <a:t>no side effects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uses recursion</a:t>
            </a:r>
            <a:r>
              <a:rPr lang="en-US" sz="2400" dirty="0" smtClean="0"/>
              <a:t> </a:t>
            </a:r>
            <a:r>
              <a:rPr lang="en-US" sz="2400" u="sng" dirty="0" smtClean="0"/>
              <a:t>instead of loops for iteration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functions in a functional program are very much like </a:t>
            </a:r>
            <a:r>
              <a:rPr lang="en-US" sz="2400" u="sng" dirty="0" smtClean="0"/>
              <a:t>mathematical functions</a:t>
            </a:r>
            <a:r>
              <a:rPr lang="en-US" sz="2400" dirty="0" smtClean="0"/>
              <a:t> because they </a:t>
            </a:r>
            <a:r>
              <a:rPr lang="en-US" sz="2400" i="1" dirty="0" smtClean="0">
                <a:solidFill>
                  <a:srgbClr val="C00000"/>
                </a:solidFill>
              </a:rPr>
              <a:t>do not change the state</a:t>
            </a:r>
            <a:r>
              <a:rPr lang="en-US" sz="2400" dirty="0" smtClean="0"/>
              <a:t> of the program.</a:t>
            </a:r>
          </a:p>
          <a:p>
            <a:r>
              <a:rPr lang="en-US" sz="2400" dirty="0" smtClean="0"/>
              <a:t>In the simplest terms, once a value is assigned to an identifier, it </a:t>
            </a:r>
            <a:r>
              <a:rPr lang="en-US" sz="2400" i="1" dirty="0" smtClean="0">
                <a:solidFill>
                  <a:srgbClr val="C00000"/>
                </a:solidFill>
              </a:rPr>
              <a:t>never changes</a:t>
            </a:r>
            <a:r>
              <a:rPr lang="en-US" sz="2400" dirty="0" smtClean="0"/>
              <a:t>, functions </a:t>
            </a:r>
            <a:r>
              <a:rPr lang="en-US" sz="2400" u="sng" dirty="0" smtClean="0"/>
              <a:t>do not alter parameter values</a:t>
            </a:r>
            <a:r>
              <a:rPr lang="en-US" sz="2400" dirty="0" smtClean="0"/>
              <a:t>, and the results that functions return are completely new values.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JavaScript in VS Code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00200"/>
            <a:ext cx="5652511" cy="4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Recursive Version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2547878"/>
            <a:ext cx="8229600" cy="28623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{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-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'sum(1) ='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'sum(3) ='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'sum(5) ='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'sum(10) ='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Version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1430953"/>
            <a:ext cx="8229600" cy="50475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{ 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Array.from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arrayLike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mapFn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)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arrayLike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: An array-like or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iterable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 object to convert to an array.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array-like objects: objects with a length property and indexed elements.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iterable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 objects: objects such as Map and Set.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mapFn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: Optional Map function to call on every element of the array.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mapFn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: (v: any, k: number) =&gt; number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4FC1FF"/>
                </a:solidFill>
                <a:latin typeface="Consolas"/>
              </a:rPr>
              <a:t>numbers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400" dirty="0" err="1" smtClean="0">
                <a:solidFill>
                  <a:srgbClr val="4EC9B0"/>
                </a:solidFill>
                <a:latin typeface="Consolas"/>
              </a:rPr>
              <a:t>Array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from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({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length: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}, (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_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 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const value =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array.reduce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(callback[, 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initialValue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]);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The callback is an obligatory argument that is a function performing the reduce operation, 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 and the second optional argument is the initial value.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4FC1FF"/>
                </a:solidFill>
                <a:latin typeface="Consolas"/>
              </a:rPr>
              <a:t>numbers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reduce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((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previousValue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currentValue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 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previousValue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currentValue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     }, 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'sum(1) ='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'sum(3) ='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'sum(5) ='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'sum(10) ='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));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Clojure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 smtClean="0">
                <a:latin typeface="Consolas" pitchFamily="49" charset="0"/>
              </a:rPr>
              <a:t>(</a:t>
            </a:r>
            <a:r>
              <a:rPr lang="en-US" sz="1800" b="1" dirty="0" err="1" smtClean="0">
                <a:latin typeface="Consolas" pitchFamily="49" charset="0"/>
              </a:rPr>
              <a:t>defn</a:t>
            </a:r>
            <a:r>
              <a:rPr lang="en-US" sz="1800" b="1" dirty="0" smtClean="0">
                <a:latin typeface="Consolas" pitchFamily="49" charset="0"/>
              </a:rPr>
              <a:t> </a:t>
            </a:r>
            <a:r>
              <a:rPr lang="en-US" sz="1800" b="1" dirty="0" err="1" smtClean="0">
                <a:latin typeface="Consolas" pitchFamily="49" charset="0"/>
              </a:rPr>
              <a:t>indexable</a:t>
            </a:r>
            <a:r>
              <a:rPr lang="en-US" sz="1800" b="1" dirty="0" smtClean="0">
                <a:latin typeface="Consolas" pitchFamily="49" charset="0"/>
              </a:rPr>
              <a:t>-word? [word]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	(&gt; (count word) 2))</a:t>
            </a:r>
          </a:p>
          <a:p>
            <a:r>
              <a:rPr lang="en-US" sz="1800" b="1" dirty="0" smtClean="0">
                <a:latin typeface="Consolas" pitchFamily="49" charset="0"/>
              </a:rPr>
              <a:t>(require '[</a:t>
            </a:r>
            <a:r>
              <a:rPr lang="en-US" sz="1800" b="1" dirty="0" err="1" smtClean="0">
                <a:latin typeface="Consolas" pitchFamily="49" charset="0"/>
              </a:rPr>
              <a:t>clojure.string</a:t>
            </a:r>
            <a:r>
              <a:rPr lang="en-US" sz="1800" b="1" dirty="0" smtClean="0">
                <a:latin typeface="Consolas" pitchFamily="49" charset="0"/>
              </a:rPr>
              <a:t> :as </a:t>
            </a:r>
            <a:r>
              <a:rPr lang="en-US" sz="1800" b="1" dirty="0" err="1" smtClean="0">
                <a:latin typeface="Consolas" pitchFamily="49" charset="0"/>
              </a:rPr>
              <a:t>str</a:t>
            </a:r>
            <a:r>
              <a:rPr lang="en-US" sz="1800" b="1" dirty="0" smtClean="0">
                <a:latin typeface="Consolas" pitchFamily="49" charset="0"/>
              </a:rPr>
              <a:t>])</a:t>
            </a:r>
          </a:p>
          <a:p>
            <a:pPr lvl="1">
              <a:buNone/>
            </a:pPr>
            <a:r>
              <a:rPr lang="en-US" sz="1800" b="1" dirty="0" smtClean="0">
                <a:latin typeface="Consolas" pitchFamily="49" charset="0"/>
              </a:rPr>
              <a:t>(</a:t>
            </a:r>
            <a:r>
              <a:rPr lang="en-US" sz="1800" b="1" dirty="0" smtClean="0">
                <a:solidFill>
                  <a:srgbClr val="C00000"/>
                </a:solidFill>
                <a:latin typeface="Consolas" pitchFamily="49" charset="0"/>
              </a:rPr>
              <a:t>filter</a:t>
            </a:r>
            <a:r>
              <a:rPr lang="en-US" sz="1800" b="1" dirty="0" smtClean="0">
                <a:latin typeface="Consolas" pitchFamily="49" charset="0"/>
              </a:rPr>
              <a:t> </a:t>
            </a:r>
            <a:r>
              <a:rPr lang="en-US" sz="1800" b="1" dirty="0" err="1" smtClean="0">
                <a:latin typeface="Consolas" pitchFamily="49" charset="0"/>
              </a:rPr>
              <a:t>indexable</a:t>
            </a:r>
            <a:r>
              <a:rPr lang="en-US" sz="1800" b="1" dirty="0" smtClean="0">
                <a:latin typeface="Consolas" pitchFamily="49" charset="0"/>
              </a:rPr>
              <a:t>-word? (</a:t>
            </a:r>
            <a:r>
              <a:rPr lang="en-US" sz="1800" b="1" dirty="0" err="1" smtClean="0">
                <a:solidFill>
                  <a:srgbClr val="C00000"/>
                </a:solidFill>
                <a:latin typeface="Consolas" pitchFamily="49" charset="0"/>
              </a:rPr>
              <a:t>str</a:t>
            </a:r>
            <a:r>
              <a:rPr lang="en-US" sz="1800" b="1" dirty="0" smtClean="0">
                <a:solidFill>
                  <a:srgbClr val="C00000"/>
                </a:solidFill>
                <a:latin typeface="Consolas" pitchFamily="49" charset="0"/>
              </a:rPr>
              <a:t>/split</a:t>
            </a:r>
            <a:r>
              <a:rPr lang="en-US" sz="1800" b="1" dirty="0" smtClean="0">
                <a:latin typeface="Consolas" pitchFamily="49" charset="0"/>
              </a:rPr>
              <a:t> "A fine day it is" #" "))</a:t>
            </a:r>
          </a:p>
          <a:p>
            <a:pPr lvl="1">
              <a:buNone/>
            </a:pPr>
            <a:endParaRPr lang="en-US" sz="1800" b="1" dirty="0" smtClean="0">
              <a:latin typeface="Consolas" pitchFamily="49" charset="0"/>
            </a:endParaRPr>
          </a:p>
          <a:p>
            <a:r>
              <a:rPr lang="en-US" sz="2400" dirty="0" smtClean="0"/>
              <a:t>The call to </a:t>
            </a:r>
            <a:r>
              <a:rPr lang="en-US" sz="2400" b="1" dirty="0" smtClean="0"/>
              <a:t>split</a:t>
            </a:r>
            <a:r>
              <a:rPr lang="en-US" sz="2400" dirty="0" smtClean="0"/>
              <a:t> breaks the sentence into words, and then </a:t>
            </a:r>
            <a:r>
              <a:rPr lang="en-US" sz="2400" b="1" dirty="0" smtClean="0"/>
              <a:t>filter</a:t>
            </a:r>
            <a:r>
              <a:rPr lang="en-US" sz="2400" dirty="0" smtClean="0"/>
              <a:t> calls </a:t>
            </a:r>
            <a:r>
              <a:rPr lang="en-US" sz="2400" b="1" dirty="0" err="1" smtClean="0"/>
              <a:t>indexable</a:t>
            </a:r>
            <a:r>
              <a:rPr lang="en-US" sz="2400" b="1" dirty="0" smtClean="0"/>
              <a:t>-word?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once for each word</a:t>
            </a:r>
            <a:r>
              <a:rPr lang="en-US" sz="2400" dirty="0" smtClean="0"/>
              <a:t>, returning those for which </a:t>
            </a:r>
            <a:r>
              <a:rPr lang="en-US" sz="2400" b="1" dirty="0" err="1" smtClean="0"/>
              <a:t>indexable</a:t>
            </a:r>
            <a:r>
              <a:rPr lang="en-US" sz="2400" b="1" dirty="0" smtClean="0"/>
              <a:t>-word?</a:t>
            </a:r>
            <a:r>
              <a:rPr lang="en-US" sz="2400" dirty="0" smtClean="0"/>
              <a:t> returns true.</a:t>
            </a:r>
          </a:p>
          <a:p>
            <a:pPr lvl="1"/>
            <a:endParaRPr lang="en-US" sz="2000" dirty="0" smtClean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4876800"/>
            <a:ext cx="3403600" cy="90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F#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Arguments of a function should be indented further than the call to the function.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685800" y="2556570"/>
            <a:ext cx="7848600" cy="35394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open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System</a:t>
            </a:r>
          </a:p>
          <a:p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open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System.IO</a:t>
            </a:r>
          </a:p>
          <a:p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writeToFile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date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:</a:t>
            </a:r>
            <a:r>
              <a:rPr lang="en-US" sz="1400" dirty="0" err="1" smtClean="0">
                <a:solidFill>
                  <a:srgbClr val="4EC9B0"/>
                </a:solidFill>
                <a:latin typeface="Consolas"/>
              </a:rPr>
              <a:t>DateTime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)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filename text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=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path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sprintf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%s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-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%s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.txt"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date.ToString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yyMMdd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)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filename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File.WriteAllText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path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,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text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)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[&lt;</a:t>
            </a:r>
            <a:r>
              <a:rPr lang="en-US" sz="1400" dirty="0" err="1" smtClean="0">
                <a:solidFill>
                  <a:srgbClr val="DCDCAA"/>
                </a:solidFill>
                <a:latin typeface="Consolas"/>
              </a:rPr>
              <a:t>EntryPoint</a:t>
            </a:r>
            <a:r>
              <a:rPr lang="en-US" sz="1400" dirty="0" smtClean="0">
                <a:solidFill>
                  <a:srgbClr val="DCDCAA"/>
                </a:solidFill>
                <a:latin typeface="Consolas"/>
              </a:rPr>
              <a:t>&gt;]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main 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argv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=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writeToFile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DateTime.UtcNow.Date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"first-file"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"The quick brown fox jumped over the lazy dog"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writeToTodayHelloWorld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writeToFile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DateTime.UtcNow.Date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   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"hello-world"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err="1" smtClean="0">
                <a:solidFill>
                  <a:srgbClr val="D4D4D4"/>
                </a:solidFill>
                <a:latin typeface="Consolas"/>
              </a:rPr>
              <a:t>writeToTodayHelloWorld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"The quick brown fox jumped over the lazy dog"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// return an integer exit code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Programming (I)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i="1" dirty="0" smtClean="0">
                <a:solidFill>
                  <a:srgbClr val="C00000"/>
                </a:solidFill>
              </a:rPr>
              <a:t>Main building blocks</a:t>
            </a:r>
            <a:r>
              <a:rPr lang="en-US" sz="2600" dirty="0" smtClean="0"/>
              <a:t> of logic programming are:</a:t>
            </a:r>
          </a:p>
          <a:p>
            <a:pPr lvl="1"/>
            <a:r>
              <a:rPr lang="en-US" sz="2400" dirty="0" smtClean="0"/>
              <a:t>constants, variables and built-in operators</a:t>
            </a:r>
          </a:p>
          <a:p>
            <a:pPr lvl="1"/>
            <a:r>
              <a:rPr lang="en-US" sz="2400" dirty="0" smtClean="0"/>
              <a:t>predicates, taking constants and variables as arguments</a:t>
            </a:r>
          </a:p>
          <a:p>
            <a:pPr lvl="1"/>
            <a:r>
              <a:rPr lang="en-US" sz="2400" dirty="0" smtClean="0"/>
              <a:t>rules for defining new predicates</a:t>
            </a:r>
          </a:p>
          <a:p>
            <a:pPr lvl="1"/>
            <a:r>
              <a:rPr lang="en-US" sz="2400" dirty="0" smtClean="0"/>
              <a:t>hence, support for sub-programs (via predicates)</a:t>
            </a:r>
          </a:p>
          <a:p>
            <a:pPr lvl="1"/>
            <a:r>
              <a:rPr lang="en-US" sz="2400" dirty="0" smtClean="0"/>
              <a:t>recursion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Programming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i="1" dirty="0" smtClean="0">
                <a:solidFill>
                  <a:srgbClr val="C00000"/>
                </a:solidFill>
              </a:rPr>
              <a:t>NO: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assignment</a:t>
            </a:r>
            <a:r>
              <a:rPr lang="en-US" sz="2400" dirty="0" smtClean="0"/>
              <a:t> of values of expressions to variables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sequencing</a:t>
            </a:r>
            <a:r>
              <a:rPr lang="en-US" sz="2400" dirty="0" smtClean="0"/>
              <a:t> of statements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conditional branching</a:t>
            </a:r>
          </a:p>
          <a:p>
            <a:pPr lvl="1"/>
            <a:r>
              <a:rPr lang="en-US" sz="2400" dirty="0" smtClean="0"/>
              <a:t>repetition</a:t>
            </a:r>
          </a:p>
          <a:p>
            <a:pPr lvl="1"/>
            <a:r>
              <a:rPr lang="en-US" sz="2400" dirty="0" smtClean="0"/>
              <a:t>procedures</a:t>
            </a:r>
          </a:p>
          <a:p>
            <a:pPr lvl="1"/>
            <a:r>
              <a:rPr lang="en-US" sz="2400" dirty="0" smtClean="0"/>
              <a:t>pointers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Prolog Example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2763" y="2209800"/>
            <a:ext cx="557847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Object-Oriented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procedural, functional and logic paradigms can all be extended with </a:t>
            </a:r>
            <a:r>
              <a:rPr lang="en-US" sz="2400" i="1" dirty="0" smtClean="0">
                <a:solidFill>
                  <a:srgbClr val="C00000"/>
                </a:solidFill>
              </a:rPr>
              <a:t>object-oriented features</a:t>
            </a:r>
            <a:r>
              <a:rPr lang="en-US" sz="2400" dirty="0" smtClean="0"/>
              <a:t>, though most OO languages have evolved from procedural languages.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Procedural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object-oriented</a:t>
            </a:r>
            <a:r>
              <a:rPr lang="en-US" sz="2400" dirty="0" smtClean="0"/>
              <a:t> programming</a:t>
            </a:r>
          </a:p>
          <a:p>
            <a:pPr lvl="1"/>
            <a:r>
              <a:rPr lang="en-US" sz="2000" dirty="0" smtClean="0"/>
              <a:t>C++, Java, C#, Python, JavaScript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Functional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object-oriented</a:t>
            </a:r>
            <a:r>
              <a:rPr lang="en-US" sz="2400" dirty="0" smtClean="0"/>
              <a:t> programming</a:t>
            </a:r>
          </a:p>
          <a:p>
            <a:pPr lvl="1"/>
            <a:r>
              <a:rPr lang="en-US" sz="2000" dirty="0" smtClean="0"/>
              <a:t>CLOS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Logic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object-oriented</a:t>
            </a:r>
            <a:r>
              <a:rPr lang="en-US" sz="2400" dirty="0" smtClean="0"/>
              <a:t> programming</a:t>
            </a:r>
          </a:p>
          <a:p>
            <a:pPr lvl="1"/>
            <a:r>
              <a:rPr lang="en-US" sz="2000" dirty="0" smtClean="0"/>
              <a:t>Prolog++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Read Code? [5]</a:t>
            </a:r>
            <a:endParaRPr lang="en-US" dirty="0"/>
          </a:p>
        </p:txBody>
      </p:sp>
      <p:sp>
        <p:nvSpPr>
          <p:cNvPr id="22530" name="AutoShape 2" descr="mk:@MSITStore:D:\Teaching\Software%20Construction\Books\Code%20Complete,%202nd%20Edition.chm::/0735619670/images/0735619670/graphics/10fig02.gif"/>
          <p:cNvSpPr>
            <a:spLocks noChangeAspect="1" noChangeArrowheads="1"/>
          </p:cNvSpPr>
          <p:nvPr/>
        </p:nvSpPr>
        <p:spPr bwMode="auto">
          <a:xfrm>
            <a:off x="155575" y="-1074738"/>
            <a:ext cx="2943225" cy="22383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9" name="Diagram 8"/>
          <p:cNvGraphicFramePr/>
          <p:nvPr/>
        </p:nvGraphicFramePr>
        <p:xfrm>
          <a:off x="3200400" y="1447800"/>
          <a:ext cx="57150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 6"/>
          <p:cNvSpPr/>
          <p:nvPr/>
        </p:nvSpPr>
        <p:spPr>
          <a:xfrm>
            <a:off x="533400" y="4038600"/>
            <a:ext cx="2286000" cy="156966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r>
              <a:rPr lang="en-US" sz="2400" b="1" i="1" dirty="0" smtClean="0">
                <a:solidFill>
                  <a:schemeClr val="bg1"/>
                </a:solidFill>
                <a:latin typeface="Consolas" pitchFamily="49" charset="0"/>
              </a:rPr>
              <a:t>What’s your purpose?</a:t>
            </a:r>
          </a:p>
          <a:p>
            <a:r>
              <a:rPr lang="en-US" sz="2400" b="1" i="1" dirty="0" smtClean="0">
                <a:solidFill>
                  <a:schemeClr val="bg1"/>
                </a:solidFill>
                <a:latin typeface="Consolas" pitchFamily="49" charset="0"/>
              </a:rPr>
              <a:t>What to read?</a:t>
            </a:r>
          </a:p>
        </p:txBody>
      </p:sp>
      <p:pic>
        <p:nvPicPr>
          <p:cNvPr id="8194" name="Picture 2" descr="http://f.a7.org/pictures/656/656723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09600" y="2286000"/>
            <a:ext cx="2162175" cy="129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05000"/>
            <a:ext cx="6238875" cy="45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a Code Reading Tool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0" y="2590801"/>
            <a:ext cx="3962400" cy="3276600"/>
          </a:xfrm>
        </p:spPr>
        <p:txBody>
          <a:bodyPr/>
          <a:lstStyle/>
          <a:p>
            <a:r>
              <a:rPr lang="en-US" sz="2400" dirty="0" smtClean="0"/>
              <a:t>Collaborator</a:t>
            </a:r>
          </a:p>
          <a:p>
            <a:pPr lvl="1"/>
            <a:r>
              <a:rPr lang="en-US" sz="2000" dirty="0" smtClean="0">
                <a:hlinkClick r:id="rId3"/>
              </a:rPr>
              <a:t>https://smartbear.com/product/collaborator/overview</a:t>
            </a:r>
            <a:endParaRPr lang="en-US" sz="2000" dirty="0" smtClean="0"/>
          </a:p>
          <a:p>
            <a:r>
              <a:rPr lang="en-US" sz="2400" dirty="0" smtClean="0"/>
              <a:t>Crucible</a:t>
            </a:r>
          </a:p>
          <a:p>
            <a:pPr lvl="1"/>
            <a:r>
              <a:rPr lang="en-US" sz="2000" dirty="0" smtClean="0">
                <a:hlinkClick r:id="rId4"/>
              </a:rPr>
              <a:t>https://www.atlassian.com/software/crucible</a:t>
            </a:r>
            <a:endParaRPr lang="en-US" sz="2000" dirty="0" smtClean="0"/>
          </a:p>
          <a:p>
            <a:r>
              <a:rPr lang="en-US" sz="2400" dirty="0" smtClean="0"/>
              <a:t>Review board</a:t>
            </a:r>
          </a:p>
          <a:p>
            <a:pPr lvl="1"/>
            <a:r>
              <a:rPr lang="en-US" sz="2000" dirty="0" smtClean="0">
                <a:hlinkClick r:id="rId5"/>
              </a:rPr>
              <a:t>http://www.reviewboard.org</a:t>
            </a:r>
            <a:endParaRPr lang="en-US" sz="20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752600" y="1219200"/>
            <a:ext cx="5715000" cy="46166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Is it a debugger? Is the code well formatted? 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 Start and End Point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676400"/>
            <a:ext cx="3352800" cy="4724400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</p:pic>
      <p:sp>
        <p:nvSpPr>
          <p:cNvPr id="5" name="TextBox 4"/>
          <p:cNvSpPr txBox="1"/>
          <p:nvPr/>
        </p:nvSpPr>
        <p:spPr>
          <a:xfrm>
            <a:off x="381000" y="3124200"/>
            <a:ext cx="4495800" cy="144655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Where is the entry (main function)?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What are the input?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What are the outputs?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Trace the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1524000"/>
            <a:ext cx="5334000" cy="830997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What is the call? What does it do?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i="1" dirty="0" smtClean="0">
                <a:solidFill>
                  <a:schemeClr val="bg1"/>
                </a:solidFill>
                <a:latin typeface="+mj-lt"/>
              </a:rPr>
              <a:t>Where are we in the architecture?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095625"/>
            <a:ext cx="4381500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2895600"/>
            <a:ext cx="2286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5257800" y="5334000"/>
            <a:ext cx="320040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Document everything that is difficult to understand.</a:t>
            </a:r>
            <a:endParaRPr lang="en-US" sz="2200" dirty="0">
              <a:latin typeface="+mj-lt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24600" y="1219200"/>
            <a:ext cx="1474787" cy="1306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Programming Language?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https://www.tiobe.com/tiobe-index/</a:t>
            </a:r>
            <a:endParaRPr lang="en-US" sz="2000" dirty="0" smtClean="0"/>
          </a:p>
          <a:p>
            <a:r>
              <a:rPr lang="en-US" sz="2000" dirty="0" smtClean="0"/>
              <a:t>The TIOBE Programming Community index is an indicator of the popularity of programming languages.</a:t>
            </a:r>
          </a:p>
          <a:p>
            <a:r>
              <a:rPr lang="en-US" sz="2000" dirty="0" smtClean="0"/>
              <a:t>The index is </a:t>
            </a:r>
            <a:r>
              <a:rPr lang="en-US" sz="2000" i="1" dirty="0" smtClean="0">
                <a:solidFill>
                  <a:srgbClr val="C00000"/>
                </a:solidFill>
              </a:rPr>
              <a:t>updated</a:t>
            </a:r>
            <a:r>
              <a:rPr lang="en-US" sz="2000" dirty="0" smtClean="0"/>
              <a:t> </a:t>
            </a:r>
            <a:r>
              <a:rPr lang="en-US" sz="2000" u="sng" dirty="0" smtClean="0"/>
              <a:t>once a month</a:t>
            </a:r>
            <a:r>
              <a:rPr lang="en-US" sz="2000" dirty="0" smtClean="0"/>
              <a:t>. The ratings are </a:t>
            </a:r>
            <a:r>
              <a:rPr lang="en-US" sz="2000" i="1" dirty="0" smtClean="0">
                <a:solidFill>
                  <a:srgbClr val="C00000"/>
                </a:solidFill>
              </a:rPr>
              <a:t>based on</a:t>
            </a:r>
            <a:r>
              <a:rPr lang="en-US" sz="2000" dirty="0" smtClean="0"/>
              <a:t> the number of skilled engineers world-wide, courses and third party vendors. Popular search engines such as Google, Bing, Yahoo!, Wikipedia, Amazon, YouTube and </a:t>
            </a:r>
            <a:r>
              <a:rPr lang="en-US" sz="2000" dirty="0" err="1" smtClean="0"/>
              <a:t>Baidu</a:t>
            </a:r>
            <a:r>
              <a:rPr lang="en-US" sz="2000" dirty="0" smtClean="0"/>
              <a:t> are used to calculate the ratings.</a:t>
            </a:r>
          </a:p>
          <a:p>
            <a:r>
              <a:rPr lang="en-US" sz="2000" dirty="0" smtClean="0"/>
              <a:t>It is important to note that the TIOBE index is </a:t>
            </a:r>
            <a:r>
              <a:rPr lang="en-US" sz="2000" u="sng" dirty="0" smtClean="0"/>
              <a:t>not</a:t>
            </a:r>
            <a:r>
              <a:rPr lang="en-US" sz="2000" dirty="0" smtClean="0"/>
              <a:t> about the </a:t>
            </a:r>
            <a:r>
              <a:rPr lang="en-US" sz="2000" i="1" dirty="0" smtClean="0">
                <a:solidFill>
                  <a:srgbClr val="C00000"/>
                </a:solidFill>
              </a:rPr>
              <a:t>best</a:t>
            </a:r>
            <a:r>
              <a:rPr lang="en-US" sz="2000" dirty="0" smtClean="0"/>
              <a:t> programming language or the language in which </a:t>
            </a:r>
            <a:r>
              <a:rPr lang="en-US" sz="2000" i="1" dirty="0" smtClean="0">
                <a:solidFill>
                  <a:srgbClr val="C00000"/>
                </a:solidFill>
              </a:rPr>
              <a:t>most lines of code</a:t>
            </a:r>
            <a:r>
              <a:rPr lang="en-US" sz="2000" dirty="0" smtClean="0"/>
              <a:t> have been written.</a:t>
            </a:r>
          </a:p>
          <a:p>
            <a:r>
              <a:rPr lang="en-US" sz="2000" dirty="0" smtClean="0"/>
              <a:t>The index can </a:t>
            </a:r>
            <a:r>
              <a:rPr lang="en-US" sz="2000" i="1" dirty="0" smtClean="0">
                <a:solidFill>
                  <a:srgbClr val="C00000"/>
                </a:solidFill>
              </a:rPr>
              <a:t>be used </a:t>
            </a:r>
            <a:r>
              <a:rPr lang="en-US" sz="2000" dirty="0" smtClean="0"/>
              <a:t>to check whether your programming skills are still </a:t>
            </a:r>
            <a:r>
              <a:rPr lang="en-US" sz="2000" u="sng" dirty="0" smtClean="0"/>
              <a:t>up to date</a:t>
            </a:r>
            <a:r>
              <a:rPr lang="en-US" sz="2000" dirty="0" smtClean="0"/>
              <a:t> or to make a strategic decision about what programming language should be adopted when starting to build a </a:t>
            </a:r>
            <a:r>
              <a:rPr lang="en-US" sz="2000" u="sng" dirty="0" smtClean="0"/>
              <a:t>new software system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12127</TotalTime>
  <Words>2062</Words>
  <Application>Microsoft Office PowerPoint</Application>
  <PresentationFormat>On-screen Show (4:3)</PresentationFormat>
  <Paragraphs>303</Paragraphs>
  <Slides>45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Learning Programming Languages</vt:lpstr>
      <vt:lpstr>Objectives</vt:lpstr>
      <vt:lpstr>Contents</vt:lpstr>
      <vt:lpstr>References</vt:lpstr>
      <vt:lpstr>Why Learn a New  Programming Language?</vt:lpstr>
      <vt:lpstr>Warming Up</vt:lpstr>
      <vt:lpstr>Syntax</vt:lpstr>
      <vt:lpstr>What is the Foundation?</vt:lpstr>
      <vt:lpstr>Example (Python)</vt:lpstr>
      <vt:lpstr>What's Next?</vt:lpstr>
      <vt:lpstr>What's Next?</vt:lpstr>
      <vt:lpstr>Slide 12</vt:lpstr>
      <vt:lpstr>Programming Languages</vt:lpstr>
      <vt:lpstr>Native CPU Instructions [1]</vt:lpstr>
      <vt:lpstr>Assembly Languages</vt:lpstr>
      <vt:lpstr>Third Generation Languages (3GLs)</vt:lpstr>
      <vt:lpstr>3GLs with Operating Systems</vt:lpstr>
      <vt:lpstr>Object-Oriented 3GLs</vt:lpstr>
      <vt:lpstr>4th Generation Languages (4GLs) [2]</vt:lpstr>
      <vt:lpstr>Domain Specific Languages</vt:lpstr>
      <vt:lpstr>DSL Example</vt:lpstr>
      <vt:lpstr>5th Generation Languages (5GLs)</vt:lpstr>
      <vt:lpstr>Slide 23</vt:lpstr>
      <vt:lpstr>What are Programming Paradigms? [3]</vt:lpstr>
      <vt:lpstr>Why Care About Programming Paradigms?</vt:lpstr>
      <vt:lpstr>Procedural &amp; Declarative Programming</vt:lpstr>
      <vt:lpstr>Procedural Programming</vt:lpstr>
      <vt:lpstr>Functional Programming [4]</vt:lpstr>
      <vt:lpstr>Run JavaScript in VS Code</vt:lpstr>
      <vt:lpstr>Recursive Version</vt:lpstr>
      <vt:lpstr>Functional Version</vt:lpstr>
      <vt:lpstr>Clojure Example</vt:lpstr>
      <vt:lpstr>F# Example</vt:lpstr>
      <vt:lpstr>Logic Programming (I) [3]</vt:lpstr>
      <vt:lpstr>Logic Programming (II)</vt:lpstr>
      <vt:lpstr>Prolog Example</vt:lpstr>
      <vt:lpstr>Object-Oriented Programming</vt:lpstr>
      <vt:lpstr>Slide 38</vt:lpstr>
      <vt:lpstr>Why Read Code? [5]</vt:lpstr>
      <vt:lpstr>Use a Code Reading Tool</vt:lpstr>
      <vt:lpstr>Identify Start and End Point</vt:lpstr>
      <vt:lpstr>Trace the Code</vt:lpstr>
      <vt:lpstr>Slide 43</vt:lpstr>
      <vt:lpstr>Which Programming Language?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4698</cp:revision>
  <dcterms:created xsi:type="dcterms:W3CDTF">2007-10-06T08:25:13Z</dcterms:created>
  <dcterms:modified xsi:type="dcterms:W3CDTF">2026-01-07T19:19:09Z</dcterms:modified>
</cp:coreProperties>
</file>