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5"/>
  </p:notesMasterIdLst>
  <p:handoutMasterIdLst>
    <p:handoutMasterId r:id="rId26"/>
  </p:handoutMasterIdLst>
  <p:sldIdLst>
    <p:sldId id="256" r:id="rId2"/>
    <p:sldId id="443" r:id="rId3"/>
    <p:sldId id="432" r:id="rId4"/>
    <p:sldId id="423" r:id="rId5"/>
    <p:sldId id="433" r:id="rId6"/>
    <p:sldId id="453" r:id="rId7"/>
    <p:sldId id="470" r:id="rId8"/>
    <p:sldId id="449" r:id="rId9"/>
    <p:sldId id="440" r:id="rId10"/>
    <p:sldId id="442" r:id="rId11"/>
    <p:sldId id="467" r:id="rId12"/>
    <p:sldId id="457" r:id="rId13"/>
    <p:sldId id="455" r:id="rId14"/>
    <p:sldId id="456" r:id="rId15"/>
    <p:sldId id="441" r:id="rId16"/>
    <p:sldId id="450" r:id="rId17"/>
    <p:sldId id="451" r:id="rId18"/>
    <p:sldId id="452" r:id="rId19"/>
    <p:sldId id="473" r:id="rId20"/>
    <p:sldId id="471" r:id="rId21"/>
    <p:sldId id="472" r:id="rId22"/>
    <p:sldId id="475" r:id="rId23"/>
    <p:sldId id="343" r:id="rId2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5" autoAdjust="0"/>
    <p:restoredTop sz="95696" autoAdjust="0"/>
  </p:normalViewPr>
  <p:slideViewPr>
    <p:cSldViewPr>
      <p:cViewPr>
        <p:scale>
          <a:sx n="50" d="100"/>
          <a:sy n="50" d="100"/>
        </p:scale>
        <p:origin x="-1516" y="-4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D0DBAB-D1C9-4D1B-A41F-EB0AC0278643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056FB-ACC3-4B45-A768-F167A538151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5C7060-FA44-42F0-8808-1D08F5DA2F41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E0EE6-BA34-4C45-82C4-9F1F3A459FA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security-code-scan.github.io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zure.microsoft.com/en-us/services/cognitive-services/computer-vision/" TargetMode="External"/><Relationship Id="rId2" Type="http://schemas.openxmlformats.org/officeDocument/2006/relationships/hyperlink" Target="https://cloud.google.com/vision/docs/oc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cr.space/ocrapi" TargetMode="Externa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Learning Technical Fields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learn a </a:t>
            </a:r>
            <a:r>
              <a:rPr lang="en-US" sz="2400" dirty="0" smtClean="0"/>
              <a:t>technical </a:t>
            </a:r>
            <a:r>
              <a:rPr lang="en-US" sz="2400" dirty="0" smtClean="0"/>
              <a:t>field by </a:t>
            </a:r>
            <a:r>
              <a:rPr lang="en-US" sz="2400" i="1" dirty="0" smtClean="0">
                <a:solidFill>
                  <a:srgbClr val="C00000"/>
                </a:solidFill>
              </a:rPr>
              <a:t>yourself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solve a problem using a </a:t>
            </a:r>
            <a:r>
              <a:rPr lang="en-US" sz="2400" i="1" dirty="0" smtClean="0">
                <a:solidFill>
                  <a:srgbClr val="C00000"/>
                </a:solidFill>
              </a:rPr>
              <a:t>systematic approach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Terminologies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Hello World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Examples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The Problem/Need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Problem Solving Approaches.</a:t>
            </a:r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A Motivation to Learn </a:t>
            </a:r>
            <a:r>
              <a:rPr lang="en-US" sz="4200" dirty="0" smtClean="0"/>
              <a:t>Technical </a:t>
            </a:r>
            <a:r>
              <a:rPr lang="en-US" sz="4200" dirty="0" smtClean="0"/>
              <a:t>Field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money</a:t>
            </a:r>
          </a:p>
          <a:p>
            <a:pPr lvl="1"/>
            <a:r>
              <a:rPr lang="en-US" dirty="0" smtClean="0"/>
              <a:t>Get a job (job requirement).</a:t>
            </a:r>
          </a:p>
          <a:p>
            <a:pPr lvl="1"/>
            <a:r>
              <a:rPr lang="en-US" dirty="0" smtClean="0"/>
              <a:t>Startup (solving a problem)</a:t>
            </a:r>
          </a:p>
          <a:p>
            <a:pPr lvl="2"/>
            <a:r>
              <a:rPr lang="en-US" dirty="0" smtClean="0"/>
              <a:t>Field selection</a:t>
            </a:r>
          </a:p>
          <a:p>
            <a:pPr lvl="3"/>
            <a:r>
              <a:rPr lang="en-US" dirty="0" smtClean="0"/>
              <a:t>Theory</a:t>
            </a:r>
          </a:p>
          <a:p>
            <a:pPr lvl="3"/>
            <a:r>
              <a:rPr lang="en-US" dirty="0" smtClean="0"/>
              <a:t>Practice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Hobby</a:t>
            </a:r>
          </a:p>
          <a:p>
            <a:pPr lvl="1"/>
            <a:r>
              <a:rPr lang="en-US" i="1" dirty="0" smtClean="0">
                <a:solidFill>
                  <a:srgbClr val="C00000"/>
                </a:solidFill>
              </a:rPr>
              <a:t>Problem</a:t>
            </a:r>
            <a:r>
              <a:rPr lang="en-US" dirty="0" smtClean="0"/>
              <a:t>/need.</a:t>
            </a:r>
          </a:p>
          <a:p>
            <a:pPr lvl="1"/>
            <a:r>
              <a:rPr lang="en-US" dirty="0" smtClean="0"/>
              <a:t>Open yourself up to </a:t>
            </a:r>
            <a:r>
              <a:rPr lang="en-US" i="1" dirty="0" smtClean="0">
                <a:solidFill>
                  <a:srgbClr val="C00000"/>
                </a:solidFill>
              </a:rPr>
              <a:t>new ideas</a:t>
            </a:r>
            <a:r>
              <a:rPr lang="en-US" dirty="0" smtClean="0"/>
              <a:t> and </a:t>
            </a:r>
            <a:r>
              <a:rPr lang="en-US" i="1" dirty="0" smtClean="0">
                <a:solidFill>
                  <a:srgbClr val="C00000"/>
                </a:solidFill>
              </a:rPr>
              <a:t>approaches</a:t>
            </a:r>
            <a:r>
              <a:rPr lang="en-US" dirty="0" smtClean="0"/>
              <a:t>.</a:t>
            </a:r>
            <a:endParaRPr lang="en-US" dirty="0"/>
          </a:p>
        </p:txBody>
      </p:sp>
      <p:cxnSp>
        <p:nvCxnSpPr>
          <p:cNvPr id="7" name="Curved Connector 6"/>
          <p:cNvCxnSpPr/>
          <p:nvPr/>
        </p:nvCxnSpPr>
        <p:spPr>
          <a:xfrm rot="16200000" flipV="1">
            <a:off x="1104900" y="4152900"/>
            <a:ext cx="1828800" cy="8382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8194" name="Picture 2" descr="https://inroads.acm.org/images/dlimages/Baldwin_436x28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3657558"/>
            <a:ext cx="3322320" cy="2148840"/>
          </a:xfrm>
          <a:prstGeom prst="rect">
            <a:avLst/>
          </a:prstGeom>
          <a:noFill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600200"/>
            <a:ext cx="1451582" cy="1657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Curved Connector 7"/>
          <p:cNvCxnSpPr/>
          <p:nvPr/>
        </p:nvCxnSpPr>
        <p:spPr>
          <a:xfrm rot="10800000">
            <a:off x="3581400" y="5638800"/>
            <a:ext cx="762000" cy="304800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Right Arrow 8"/>
          <p:cNvSpPr/>
          <p:nvPr/>
        </p:nvSpPr>
        <p:spPr>
          <a:xfrm>
            <a:off x="228600" y="15240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0" name="Right Arrow 9"/>
          <p:cNvSpPr/>
          <p:nvPr/>
        </p:nvSpPr>
        <p:spPr>
          <a:xfrm>
            <a:off x="228600" y="4648200"/>
            <a:ext cx="609600" cy="8382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Need a Problem First!</a:t>
            </a:r>
            <a:endParaRPr lang="en-US" dirty="0"/>
          </a:p>
        </p:txBody>
      </p:sp>
      <p:pic>
        <p:nvPicPr>
          <p:cNvPr id="4" name="Picture 2" descr="https://img.haikudeck.com/mg/C42A8FE8-C585-4360-984E-C8FC7552298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1600200"/>
            <a:ext cx="5852160" cy="438912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6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1752600"/>
            <a:ext cx="2181225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If You Do Not Have a Problem Then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Find out technical </a:t>
            </a:r>
            <a:r>
              <a:rPr lang="en-US" i="1" dirty="0" smtClean="0">
                <a:solidFill>
                  <a:srgbClr val="C00000"/>
                </a:solidFill>
              </a:rPr>
              <a:t>terms</a:t>
            </a:r>
          </a:p>
          <a:p>
            <a:pPr lvl="1"/>
            <a:r>
              <a:rPr lang="en-US" dirty="0" smtClean="0"/>
              <a:t>Sagas</a:t>
            </a:r>
          </a:p>
          <a:p>
            <a:pPr lvl="1"/>
            <a:r>
              <a:rPr lang="en-US" dirty="0" smtClean="0"/>
              <a:t>CQRS</a:t>
            </a:r>
          </a:p>
          <a:p>
            <a:pPr lvl="1"/>
            <a:r>
              <a:rPr lang="en-US" dirty="0" smtClean="0"/>
              <a:t>Event Sourcing</a:t>
            </a:r>
          </a:p>
          <a:p>
            <a:r>
              <a:rPr lang="en-US" dirty="0" smtClean="0"/>
              <a:t>Indentify </a:t>
            </a:r>
            <a:r>
              <a:rPr lang="en-US" i="1" dirty="0" smtClean="0">
                <a:solidFill>
                  <a:srgbClr val="C00000"/>
                </a:solidFill>
              </a:rPr>
              <a:t>a small problem</a:t>
            </a:r>
            <a:r>
              <a:rPr lang="en-US" dirty="0" smtClean="0"/>
              <a:t> they solve using “good” tutorials.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Know Nothing about this Domain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Existing systems</a:t>
            </a:r>
          </a:p>
          <a:p>
            <a:r>
              <a:rPr lang="en-US" sz="2400" dirty="0" smtClean="0"/>
              <a:t>Similar systems</a:t>
            </a:r>
          </a:p>
          <a:p>
            <a:r>
              <a:rPr lang="en-US" sz="2400" dirty="0" smtClean="0"/>
              <a:t>User guides</a:t>
            </a:r>
          </a:p>
          <a:p>
            <a:r>
              <a:rPr lang="en-US" sz="2400" dirty="0" smtClean="0"/>
              <a:t>Installation guides</a:t>
            </a:r>
          </a:p>
          <a:p>
            <a:r>
              <a:rPr lang="en-US" sz="2400" dirty="0" smtClean="0"/>
              <a:t>Technical documents</a:t>
            </a:r>
          </a:p>
          <a:p>
            <a:r>
              <a:rPr lang="en-US" sz="2400" dirty="0" smtClean="0"/>
              <a:t>White papers</a:t>
            </a:r>
          </a:p>
          <a:p>
            <a:r>
              <a:rPr lang="en-US" sz="2400" b="1" dirty="0" smtClean="0"/>
              <a:t>Books</a:t>
            </a:r>
          </a:p>
          <a:p>
            <a:endParaRPr lang="en-US" sz="2400" dirty="0"/>
          </a:p>
        </p:txBody>
      </p:sp>
      <p:pic>
        <p:nvPicPr>
          <p:cNvPr id="4" name="Picture 2" descr="https://miro.medium.com/max/349/1*YOgdXnJJ3ikqy8fkrRx9Y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600200"/>
            <a:ext cx="3324225" cy="3705225"/>
          </a:xfrm>
          <a:prstGeom prst="rect">
            <a:avLst/>
          </a:prstGeom>
          <a:noFill/>
        </p:spPr>
      </p:pic>
      <p:pic>
        <p:nvPicPr>
          <p:cNvPr id="6" name="Picture 4" descr="https://www.outputeducation.com/wp-content/uploads/Good-Teach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800" y="4343400"/>
            <a:ext cx="2926080" cy="194995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 smtClean="0"/>
              <a:t>Learn Terminologies (aka Concepts) via Examples</a:t>
            </a:r>
            <a:endParaRPr lang="en-US" sz="3000" dirty="0"/>
          </a:p>
        </p:txBody>
      </p:sp>
      <p:pic>
        <p:nvPicPr>
          <p:cNvPr id="28674" name="Picture 2" descr="https://www.kdnuggets.com/wp-content/uploads/ml-wordclou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057400"/>
            <a:ext cx="4762500" cy="3343275"/>
          </a:xfrm>
          <a:prstGeom prst="rect">
            <a:avLst/>
          </a:prstGeom>
          <a:noFill/>
        </p:spPr>
      </p:pic>
      <p:pic>
        <p:nvPicPr>
          <p:cNvPr id="4" name="Picture 2" descr="https://cdn-images-1.medium.com/max/1200/1*LEmBCYAttxS6uI6rEyPLMQ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1828800"/>
            <a:ext cx="3657600" cy="2743200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5053484" y="4648200"/>
            <a:ext cx="37857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 smtClean="0">
                <a:latin typeface="+mj-lt"/>
              </a:rPr>
              <a:t>Build a Hello World Example.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 Out Examples</a:t>
            </a:r>
            <a:endParaRPr lang="en-US" dirty="0"/>
          </a:p>
        </p:txBody>
      </p:sp>
      <p:pic>
        <p:nvPicPr>
          <p:cNvPr id="1026" name="Picture 2" descr="https://www.verywellfit.com/thmb/WmqNQ017AFhGjudygl0HZYIb9D0=/768x0/filters:no_upscale():max_bytes(150000):strip_icc()/GettyImages-609743569-56f993353df78c784193bd0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828800"/>
            <a:ext cx="5852160" cy="39014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Much Knowledge is Enough?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Problem</a:t>
            </a:r>
            <a:r>
              <a:rPr lang="en-US" sz="2400" dirty="0" smtClean="0"/>
              <a:t> (Problems/Use cases/User stories)</a:t>
            </a:r>
          </a:p>
          <a:p>
            <a:r>
              <a:rPr lang="en-US" sz="2400" dirty="0" smtClean="0"/>
              <a:t>Reading (</a:t>
            </a:r>
            <a:r>
              <a:rPr lang="en-US" sz="2400" b="1" dirty="0" smtClean="0"/>
              <a:t>concepts, developer guide</a:t>
            </a:r>
            <a:r>
              <a:rPr lang="en-US" sz="2400" dirty="0" smtClean="0"/>
              <a:t>), asking, searching</a:t>
            </a:r>
          </a:p>
          <a:p>
            <a:r>
              <a:rPr lang="en-US" sz="2400" dirty="0" smtClean="0"/>
              <a:t>Trying</a:t>
            </a:r>
          </a:p>
          <a:p>
            <a:r>
              <a:rPr lang="en-US" sz="2400" dirty="0" smtClean="0"/>
              <a:t>Reading again, asking again, searching again</a:t>
            </a:r>
          </a:p>
          <a:p>
            <a:r>
              <a:rPr lang="en-US" sz="2400" dirty="0" smtClean="0"/>
              <a:t>Trying again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Solution</a:t>
            </a:r>
            <a:r>
              <a:rPr lang="en-US" sz="2400" dirty="0" smtClean="0"/>
              <a:t> (Problems solved/Use cases/User stories implemented)</a:t>
            </a:r>
          </a:p>
        </p:txBody>
      </p:sp>
      <p:pic>
        <p:nvPicPr>
          <p:cNvPr id="78850" name="Picture 2" descr="http://www.fcpablog.com/storage/iStock_000008183124XSmall.jpg?__SQUARESPACE_CACHEVERSION=131300240054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81625" y="2190749"/>
            <a:ext cx="3305175" cy="32956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Build Background Knowledge?</a:t>
            </a:r>
            <a:endParaRPr lang="en-US" dirty="0"/>
          </a:p>
        </p:txBody>
      </p:sp>
      <p:pic>
        <p:nvPicPr>
          <p:cNvPr id="1026" name="Picture 2" descr="https://nikkapiel.files.wordpress.com/2016/08/knowledge-005.jpg?w=540&amp;h=40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1905000"/>
            <a:ext cx="5143500" cy="3857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Zone of Proximal Development</a:t>
            </a:r>
            <a:endParaRPr lang="en-US" dirty="0"/>
          </a:p>
        </p:txBody>
      </p:sp>
      <p:pic>
        <p:nvPicPr>
          <p:cNvPr id="33794" name="Picture 2" descr="https://upload.wikimedia.org/wikipedia/commons/thumb/9/92/Zone_of_proximal_development.svg/440px-Zone_of_proximal_development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524000"/>
            <a:ext cx="2849880" cy="2610231"/>
          </a:xfrm>
          <a:prstGeom prst="rect">
            <a:avLst/>
          </a:prstGeom>
          <a:noFill/>
        </p:spPr>
      </p:pic>
      <p:pic>
        <p:nvPicPr>
          <p:cNvPr id="33796" name="Picture 4" descr="https://upload.wikimedia.org/wikipedia/commons/thumb/6/63/Zone_of_proximal_development_horizontal_with_increasing_task_difficulty.svg/794px-Zone_of_proximal_development_horizontal_with_increasing_task_difficulty.svg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81400" y="1905000"/>
            <a:ext cx="5142738" cy="1703451"/>
          </a:xfrm>
          <a:prstGeom prst="rect">
            <a:avLst/>
          </a:prstGeom>
          <a:noFill/>
        </p:spPr>
      </p:pic>
      <p:pic>
        <p:nvPicPr>
          <p:cNvPr id="33798" name="Picture 6" descr="https://upload.wikimedia.org/wikipedia/commons/thumb/2/25/Ashs-teacher-and-students.jpg/440px-Ashs-teacher-and-student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43400" y="3733800"/>
            <a:ext cx="4191000" cy="2686051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609601" y="4267200"/>
            <a:ext cx="342899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+mj-lt"/>
              </a:rPr>
              <a:t>Scaffolding</a:t>
            </a:r>
          </a:p>
          <a:p>
            <a:r>
              <a:rPr lang="en-US" dirty="0" smtClean="0">
                <a:latin typeface="+mj-lt"/>
              </a:rPr>
              <a:t>Teachers should assign tasks that students cannot do on their own, but which they can do with assistance; they should provide just enough assistance so that students learn to complete the tasks independently.</a:t>
            </a:r>
            <a:endParaRPr lang="en-US" dirty="0"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Revisit the </a:t>
            </a:r>
            <a:r>
              <a:rPr lang="en-US" dirty="0" smtClean="0"/>
              <a:t>Problem/Need</a:t>
            </a:r>
            <a:endParaRPr lang="en-US" dirty="0"/>
          </a:p>
        </p:txBody>
      </p:sp>
      <p:pic>
        <p:nvPicPr>
          <p:cNvPr id="29698" name="Picture 2" descr="https://lunchbuddiesplus.files.wordpress.com/2013/01/what-can-i-d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493520"/>
            <a:ext cx="4225290" cy="42214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Solving Approaches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Exhaustive search</a:t>
            </a:r>
            <a:r>
              <a:rPr lang="en-US" sz="2400" dirty="0" smtClean="0"/>
              <a:t>– using a systematic search for </a:t>
            </a:r>
            <a:r>
              <a:rPr lang="en-US" sz="2400" u="sng" dirty="0" smtClean="0"/>
              <a:t>all</a:t>
            </a:r>
            <a:r>
              <a:rPr lang="en-US" sz="2400" dirty="0" smtClean="0"/>
              <a:t> possible solutions.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Hill climbing</a:t>
            </a:r>
            <a:r>
              <a:rPr lang="en-US" sz="2400" dirty="0" smtClean="0"/>
              <a:t> – making any move that approaches </a:t>
            </a:r>
            <a:r>
              <a:rPr lang="en-US" sz="2400" u="sng" dirty="0" smtClean="0"/>
              <a:t>closer</a:t>
            </a:r>
            <a:r>
              <a:rPr lang="en-US" sz="2400" dirty="0" smtClean="0"/>
              <a:t> to the problem goal step by step.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Analysis and synthesis</a:t>
            </a:r>
            <a:r>
              <a:rPr lang="en-US" sz="2400" dirty="0" smtClean="0"/>
              <a:t> – </a:t>
            </a:r>
            <a:r>
              <a:rPr lang="en-US" sz="2400" u="sng" dirty="0" smtClean="0"/>
              <a:t>reducing</a:t>
            </a:r>
            <a:r>
              <a:rPr lang="en-US" sz="2400" dirty="0" smtClean="0"/>
              <a:t> a given problem to a </a:t>
            </a:r>
            <a:r>
              <a:rPr lang="en-US" sz="2400" u="sng" dirty="0" smtClean="0"/>
              <a:t>known category</a:t>
            </a:r>
            <a:r>
              <a:rPr lang="en-US" sz="2400" dirty="0" smtClean="0"/>
              <a:t> and then finding particular solutions.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Analogy</a:t>
            </a:r>
            <a:r>
              <a:rPr lang="en-US" sz="2400" dirty="0" smtClean="0"/>
              <a:t> – reducing a new problem to an </a:t>
            </a:r>
            <a:r>
              <a:rPr lang="en-US" sz="2400" u="sng" dirty="0" smtClean="0"/>
              <a:t>existing</a:t>
            </a:r>
            <a:r>
              <a:rPr lang="en-US" sz="2400" dirty="0" smtClean="0"/>
              <a:t> or </a:t>
            </a:r>
            <a:r>
              <a:rPr lang="en-US" sz="2400" u="sng" dirty="0" smtClean="0"/>
              <a:t>similar</a:t>
            </a:r>
            <a:r>
              <a:rPr lang="en-US" sz="2400" dirty="0" smtClean="0"/>
              <a:t> one for which solutions have already been known.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Divide-and-conquer</a:t>
            </a:r>
            <a:r>
              <a:rPr lang="en-US" sz="2400" dirty="0" smtClean="0"/>
              <a:t> – solving a whole problem via </a:t>
            </a:r>
            <a:r>
              <a:rPr lang="en-US" sz="2400" u="sng" dirty="0" smtClean="0"/>
              <a:t>decomposing</a:t>
            </a:r>
            <a:r>
              <a:rPr lang="en-US" sz="2400" dirty="0" smtClean="0"/>
              <a:t> it into a set of sub-problems.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 smtClean="0"/>
              <a:t>Given existing .NET website </a:t>
            </a:r>
            <a:r>
              <a:rPr lang="en-US" sz="1900" i="1" dirty="0" smtClean="0">
                <a:solidFill>
                  <a:srgbClr val="C00000"/>
                </a:solidFill>
              </a:rPr>
              <a:t>source code</a:t>
            </a:r>
            <a:r>
              <a:rPr lang="en-US" sz="1900" dirty="0" smtClean="0"/>
              <a:t>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Problem</a:t>
            </a:r>
            <a:r>
              <a:rPr lang="en-US" sz="1900" dirty="0" smtClean="0"/>
              <a:t>: Find security issues.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Background</a:t>
            </a:r>
            <a:r>
              <a:rPr lang="en-US" sz="1900" dirty="0" smtClean="0"/>
              <a:t>:</a:t>
            </a:r>
          </a:p>
          <a:p>
            <a:pPr lvl="1"/>
            <a:r>
              <a:rPr lang="en-US" sz="1900" dirty="0" smtClean="0"/>
              <a:t>use manual inspection or </a:t>
            </a:r>
          </a:p>
          <a:p>
            <a:pPr lvl="1"/>
            <a:r>
              <a:rPr lang="en-US" sz="1900" dirty="0" smtClean="0"/>
              <a:t>tools for automated inspection.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Exhaustive search</a:t>
            </a:r>
            <a:r>
              <a:rPr lang="en-US" sz="1900" dirty="0" smtClean="0"/>
              <a:t>:</a:t>
            </a:r>
          </a:p>
          <a:p>
            <a:pPr lvl="1"/>
            <a:r>
              <a:rPr lang="en-US" sz="1900" dirty="0" smtClean="0"/>
              <a:t>Search for “.NET security issues scanner”, found many results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Hill climbing</a:t>
            </a:r>
            <a:r>
              <a:rPr lang="en-US" sz="1900" dirty="0" smtClean="0"/>
              <a:t>:</a:t>
            </a:r>
          </a:p>
          <a:p>
            <a:pPr lvl="1"/>
            <a:r>
              <a:rPr lang="en-US" sz="1900" dirty="0" smtClean="0"/>
              <a:t>Select </a:t>
            </a:r>
            <a:r>
              <a:rPr lang="en-US" sz="1900" b="1" dirty="0" smtClean="0"/>
              <a:t>Roslyn Security Guard </a:t>
            </a:r>
            <a:r>
              <a:rPr lang="en-US" sz="1900" dirty="0" smtClean="0"/>
              <a:t>(no longer active) which leads to </a:t>
            </a:r>
            <a:r>
              <a:rPr lang="en-US" sz="1900" b="1" dirty="0" smtClean="0"/>
              <a:t>Security Code Scan</a:t>
            </a:r>
          </a:p>
          <a:p>
            <a:pPr lvl="1"/>
            <a:r>
              <a:rPr lang="en-US" sz="1900" b="1" dirty="0" smtClean="0"/>
              <a:t>Security Code Scan</a:t>
            </a:r>
            <a:r>
              <a:rPr lang="en-US" sz="1900" dirty="0" smtClean="0"/>
              <a:t> requires </a:t>
            </a:r>
            <a:r>
              <a:rPr lang="en-US" sz="1900" b="1" dirty="0" smtClean="0"/>
              <a:t>Visual Studio 2015</a:t>
            </a:r>
            <a:r>
              <a:rPr lang="en-US" sz="1900" dirty="0" smtClean="0"/>
              <a:t>, install VS 2015, import website codebase</a:t>
            </a:r>
          </a:p>
          <a:p>
            <a:pPr lvl="1"/>
            <a:r>
              <a:rPr lang="en-US" sz="1900" dirty="0" smtClean="0"/>
              <a:t>Do not know how to use the tool, read manual </a:t>
            </a:r>
            <a:r>
              <a:rPr lang="en-US" sz="1900" dirty="0" smtClean="0">
                <a:hlinkClick r:id="rId2"/>
              </a:rPr>
              <a:t>https://security-code-scan.github.io/</a:t>
            </a:r>
            <a:endParaRPr lang="en-US" sz="1900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i="1" dirty="0" smtClean="0">
                <a:solidFill>
                  <a:srgbClr val="C00000"/>
                </a:solidFill>
              </a:rPr>
              <a:t>Problem</a:t>
            </a:r>
            <a:r>
              <a:rPr lang="en-US" sz="1900" dirty="0" smtClean="0"/>
              <a:t>: Is it possible to create a component in APEX with an OCR source package?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Terminologies</a:t>
            </a:r>
            <a:r>
              <a:rPr lang="en-US" sz="1900" dirty="0" smtClean="0"/>
              <a:t>:</a:t>
            </a:r>
          </a:p>
          <a:p>
            <a:pPr lvl="1"/>
            <a:r>
              <a:rPr lang="en-US" sz="1900" dirty="0" smtClean="0"/>
              <a:t>What is APEX? </a:t>
            </a:r>
          </a:p>
          <a:p>
            <a:pPr lvl="1"/>
            <a:r>
              <a:rPr lang="en-US" sz="1900" dirty="0" smtClean="0"/>
              <a:t>What is OCR source package.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Exhaustive search</a:t>
            </a:r>
            <a:r>
              <a:rPr lang="en-US" sz="1900" dirty="0" smtClean="0"/>
              <a:t>: Searched for “APEX”, found </a:t>
            </a:r>
            <a:r>
              <a:rPr lang="en-US" sz="1900" b="1" dirty="0" smtClean="0"/>
              <a:t>Introducing Apex</a:t>
            </a:r>
            <a:r>
              <a:rPr lang="en-US" sz="1900" dirty="0" smtClean="0"/>
              <a:t>.</a:t>
            </a:r>
          </a:p>
          <a:p>
            <a:pPr>
              <a:buNone/>
            </a:pPr>
            <a:r>
              <a:rPr lang="en-US" sz="1900" dirty="0" smtClean="0"/>
              <a:t>	It is not possible to integrate a .NET library directly to APEX component.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Exhaustive search</a:t>
            </a:r>
            <a:r>
              <a:rPr lang="en-US" sz="1900" dirty="0" smtClean="0"/>
              <a:t>: Searched for “call web service in APEX”, found </a:t>
            </a:r>
            <a:r>
              <a:rPr lang="en-US" sz="1900" b="1" dirty="0" smtClean="0"/>
              <a:t>Integration and Apex Utilities</a:t>
            </a:r>
            <a:r>
              <a:rPr lang="en-US" sz="1900" dirty="0" smtClean="0"/>
              <a:t>. It is possible to call a web service inside an APEX component.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Exhaustive search</a:t>
            </a:r>
            <a:r>
              <a:rPr lang="en-US" sz="1900" dirty="0" smtClean="0"/>
              <a:t>: Search for “OCR API web service”, found </a:t>
            </a:r>
            <a:r>
              <a:rPr lang="en-US" sz="1900" dirty="0" smtClean="0">
                <a:hlinkClick r:id="rId2"/>
              </a:rPr>
              <a:t>https://cloud.google.com/vision/docs/ocr</a:t>
            </a:r>
            <a:r>
              <a:rPr lang="en-US" sz="1900" dirty="0" smtClean="0"/>
              <a:t> , </a:t>
            </a:r>
            <a:r>
              <a:rPr lang="en-US" sz="1900" dirty="0" smtClean="0">
                <a:hlinkClick r:id="rId3"/>
              </a:rPr>
              <a:t>https://azure.microsoft.com/en-us/services/cognitive-services/computer-vision/</a:t>
            </a:r>
            <a:r>
              <a:rPr lang="en-US" sz="1900" dirty="0" smtClean="0"/>
              <a:t>,  </a:t>
            </a:r>
            <a:r>
              <a:rPr lang="en-US" sz="1900" dirty="0" smtClean="0">
                <a:hlinkClick r:id="rId4"/>
              </a:rPr>
              <a:t>https://ocr.space/ocrapi</a:t>
            </a:r>
            <a:r>
              <a:rPr lang="en-US" sz="1900" dirty="0" smtClean="0"/>
              <a:t> </a:t>
            </a:r>
          </a:p>
          <a:p>
            <a:r>
              <a:rPr lang="en-US" sz="1900" i="1" dirty="0" smtClean="0">
                <a:solidFill>
                  <a:srgbClr val="C00000"/>
                </a:solidFill>
              </a:rPr>
              <a:t>Analysis and synthesis</a:t>
            </a:r>
            <a:r>
              <a:rPr lang="en-US" sz="1900" dirty="0" smtClean="0"/>
              <a:t>: Build a private web service using OCR source package.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AutoCAD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6425" y="1816100"/>
            <a:ext cx="7931150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AutoCAD</a:t>
            </a:r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497" y="1905000"/>
            <a:ext cx="5333703" cy="39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Review Successful Completion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297" y="1981200"/>
            <a:ext cx="5333703" cy="3977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10136</TotalTime>
  <Words>494</Words>
  <Application>Microsoft Office PowerPoint</Application>
  <PresentationFormat>On-screen Show (4:3)</PresentationFormat>
  <Paragraphs>94</Paragraphs>
  <Slides>23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Learning Technical Fields</vt:lpstr>
      <vt:lpstr>Objectives</vt:lpstr>
      <vt:lpstr>Contents</vt:lpstr>
      <vt:lpstr>References</vt:lpstr>
      <vt:lpstr>A Motivation to Learn Technical Field</vt:lpstr>
      <vt:lpstr>We Need a Problem First!</vt:lpstr>
      <vt:lpstr>If You Do Not Have a Problem Then</vt:lpstr>
      <vt:lpstr>I Know Nothing about this Domain</vt:lpstr>
      <vt:lpstr>Learn Terminologies (aka Concepts) via Examples</vt:lpstr>
      <vt:lpstr>Work Out Examples</vt:lpstr>
      <vt:lpstr>How Much Knowledge is Enough?</vt:lpstr>
      <vt:lpstr>Slide 12</vt:lpstr>
      <vt:lpstr>Why Build Background Knowledge?</vt:lpstr>
      <vt:lpstr>Zone of Proximal Development</vt:lpstr>
      <vt:lpstr>Revisit the Problem/Need</vt:lpstr>
      <vt:lpstr>Problem Solving Approaches</vt:lpstr>
      <vt:lpstr>Example 1</vt:lpstr>
      <vt:lpstr>Example 2</vt:lpstr>
      <vt:lpstr>Slide 19</vt:lpstr>
      <vt:lpstr>1. Download AutoCAD</vt:lpstr>
      <vt:lpstr>2. Install AutoCAD</vt:lpstr>
      <vt:lpstr>3. Review Successful Completion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4281</cp:revision>
  <dcterms:created xsi:type="dcterms:W3CDTF">2007-10-06T08:25:13Z</dcterms:created>
  <dcterms:modified xsi:type="dcterms:W3CDTF">2026-01-28T12:48:59Z</dcterms:modified>
</cp:coreProperties>
</file>