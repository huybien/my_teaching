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6"/>
  </p:notesMasterIdLst>
  <p:handoutMasterIdLst>
    <p:handoutMasterId r:id="rId17"/>
  </p:handoutMasterIdLst>
  <p:sldIdLst>
    <p:sldId id="256" r:id="rId2"/>
    <p:sldId id="431" r:id="rId3"/>
    <p:sldId id="603" r:id="rId4"/>
    <p:sldId id="423" r:id="rId5"/>
    <p:sldId id="686" r:id="rId6"/>
    <p:sldId id="687" r:id="rId7"/>
    <p:sldId id="672" r:id="rId8"/>
    <p:sldId id="685" r:id="rId9"/>
    <p:sldId id="673" r:id="rId10"/>
    <p:sldId id="681" r:id="rId11"/>
    <p:sldId id="675" r:id="rId12"/>
    <p:sldId id="684" r:id="rId13"/>
    <p:sldId id="676" r:id="rId14"/>
    <p:sldId id="343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86" autoAdjust="0"/>
    <p:restoredTop sz="94667" autoAdjust="0"/>
  </p:normalViewPr>
  <p:slideViewPr>
    <p:cSldViewPr>
      <p:cViewPr>
        <p:scale>
          <a:sx n="50" d="100"/>
          <a:sy n="50" d="100"/>
        </p:scale>
        <p:origin x="-147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5C7060-FA44-42F0-8808-1D08F5DA2F41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E0EE6-BA34-4C45-82C4-9F1F3A459FA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B22344" TargetMode="External"/><Relationship Id="rId2" Type="http://schemas.openxmlformats.org/officeDocument/2006/relationships/hyperlink" Target="https://nhbien.github.io/enterprise-project-artifacts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Problem Specification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create </a:t>
            </a:r>
            <a:r>
              <a:rPr lang="en-US" sz="2400" i="1" dirty="0" smtClean="0">
                <a:solidFill>
                  <a:srgbClr val="C00000"/>
                </a:solidFill>
              </a:rPr>
              <a:t>product requirements document.</a:t>
            </a:r>
            <a:endParaRPr lang="en-US" sz="2400" dirty="0" smtClean="0"/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create a </a:t>
            </a:r>
            <a:r>
              <a:rPr lang="en-US" sz="2400" i="1" dirty="0" smtClean="0">
                <a:solidFill>
                  <a:srgbClr val="C00000"/>
                </a:solidFill>
              </a:rPr>
              <a:t>domain model</a:t>
            </a:r>
            <a:r>
              <a:rPr lang="en-US" sz="24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create a </a:t>
            </a:r>
            <a:r>
              <a:rPr lang="en-US" sz="2400" i="1" dirty="0" smtClean="0">
                <a:solidFill>
                  <a:srgbClr val="C00000"/>
                </a:solidFill>
              </a:rPr>
              <a:t>product backlog</a:t>
            </a:r>
            <a:r>
              <a:rPr lang="en-US" sz="2400" dirty="0" smtClean="0"/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>
              <a:cs typeface="Calibri" pitchFamily="34" charset="0"/>
            </a:endParaRP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</a:t>
            </a:r>
            <a:r>
              <a:rPr lang="en-US" dirty="0" smtClean="0"/>
              <a:t>Create</a:t>
            </a:r>
            <a:r>
              <a:rPr lang="en-US" dirty="0" smtClean="0"/>
              <a:t> Statement of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>
                <a:hlinkClick r:id="rId2"/>
              </a:rPr>
              <a:t>https://nhbien.github.io/enterprise-project-artifacts/</a:t>
            </a:r>
            <a:endParaRPr lang="en-US" sz="2800" dirty="0" smtClean="0"/>
          </a:p>
          <a:p>
            <a:r>
              <a:rPr lang="en-US" sz="2800" dirty="0" smtClean="0">
                <a:hlinkClick r:id="rId3"/>
              </a:rPr>
              <a:t>https://bit.ly/B22344</a:t>
            </a:r>
            <a:endParaRPr lang="en-US" sz="2800" dirty="0" smtClean="0"/>
          </a:p>
          <a:p>
            <a:endParaRPr lang="en-US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83316" y="2895600"/>
            <a:ext cx="3174884" cy="317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AutoShape 4" descr="https://chatgpt.com/backend-api/estuary/content?id=file_00000000fcc07209864e8d8075757df5&amp;ts=491412&amp;p=fs&amp;cid=1&amp;sig=6aa1c0ec16a15d6d0027a902d97dcf252966a139d5e840879ba52c88aa186bd7&amp;v=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14400" y="3200400"/>
            <a:ext cx="3900332" cy="2600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Review Motivations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cost</a:t>
            </a:r>
            <a:r>
              <a:rPr lang="en-US" sz="2400" dirty="0" smtClean="0"/>
              <a:t> of using </a:t>
            </a:r>
            <a:r>
              <a:rPr lang="en-US" sz="2400" u="sng" dirty="0" smtClean="0"/>
              <a:t>the existing system</a:t>
            </a:r>
            <a:r>
              <a:rPr lang="en-US" sz="2400" dirty="0" smtClean="0"/>
              <a:t> is too high.</a:t>
            </a:r>
          </a:p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data security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privacy</a:t>
            </a:r>
            <a:r>
              <a:rPr lang="en-US" sz="2400" dirty="0" smtClean="0"/>
              <a:t> measures of </a:t>
            </a:r>
            <a:r>
              <a:rPr lang="en-US" sz="2400" u="sng" dirty="0" smtClean="0"/>
              <a:t>the existing system</a:t>
            </a:r>
            <a:r>
              <a:rPr lang="en-US" sz="2400" dirty="0" smtClean="0"/>
              <a:t> do </a:t>
            </a:r>
            <a:r>
              <a:rPr lang="en-US" sz="2400" u="sng" dirty="0" smtClean="0"/>
              <a:t>not</a:t>
            </a:r>
            <a:r>
              <a:rPr lang="en-US" sz="2400" dirty="0" smtClean="0"/>
              <a:t> meet the specific requirements.</a:t>
            </a:r>
          </a:p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limitations</a:t>
            </a:r>
            <a:r>
              <a:rPr lang="en-US" sz="2400" dirty="0" smtClean="0"/>
              <a:t> of </a:t>
            </a:r>
            <a:r>
              <a:rPr lang="en-US" sz="2400" u="sng" dirty="0" smtClean="0"/>
              <a:t>the existing system</a:t>
            </a:r>
            <a:r>
              <a:rPr lang="en-US" sz="2400" dirty="0" smtClean="0"/>
              <a:t> affect cost, work completion time, and user experience.</a:t>
            </a:r>
          </a:p>
          <a:p>
            <a:pPr lvl="1"/>
            <a:r>
              <a:rPr lang="en-US" sz="2000" dirty="0" smtClean="0"/>
              <a:t>Workflows or features that </a:t>
            </a:r>
            <a:r>
              <a:rPr lang="en-US" sz="2000" dirty="0" smtClean="0"/>
              <a:t>users </a:t>
            </a:r>
            <a:r>
              <a:rPr lang="en-US" sz="2000" dirty="0" smtClean="0"/>
              <a:t>don't like.</a:t>
            </a:r>
          </a:p>
          <a:p>
            <a:pPr lvl="1"/>
            <a:r>
              <a:rPr lang="en-US" sz="2000" dirty="0" smtClean="0"/>
              <a:t>Lack of workflows and features that </a:t>
            </a:r>
            <a:r>
              <a:rPr lang="en-US" sz="2000" dirty="0" smtClean="0"/>
              <a:t>users </a:t>
            </a:r>
            <a:r>
              <a:rPr lang="en-US" sz="2000" dirty="0" smtClean="0"/>
              <a:t>need.</a:t>
            </a:r>
          </a:p>
          <a:p>
            <a:r>
              <a:rPr lang="en-US" sz="2400" dirty="0" smtClean="0"/>
              <a:t>The </a:t>
            </a:r>
            <a:r>
              <a:rPr lang="en-US" sz="2400" dirty="0" smtClean="0"/>
              <a:t>system </a:t>
            </a:r>
            <a:r>
              <a:rPr lang="en-US" sz="2400" i="1" dirty="0" smtClean="0">
                <a:solidFill>
                  <a:srgbClr val="C00000"/>
                </a:solidFill>
              </a:rPr>
              <a:t>has not been localized</a:t>
            </a:r>
            <a:r>
              <a:rPr lang="en-US" sz="2400" dirty="0" smtClean="0"/>
              <a:t> for users, or its localization quality does </a:t>
            </a:r>
            <a:r>
              <a:rPr lang="en-US" sz="2400" u="sng" dirty="0" smtClean="0"/>
              <a:t>not</a:t>
            </a:r>
            <a:r>
              <a:rPr lang="en-US" sz="2400" dirty="0" smtClean="0"/>
              <a:t> meet expectations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system </a:t>
            </a:r>
            <a:r>
              <a:rPr lang="en-US" sz="2400" dirty="0" smtClean="0"/>
              <a:t>will be </a:t>
            </a:r>
            <a:r>
              <a:rPr lang="en-US" sz="2400" dirty="0" smtClean="0"/>
              <a:t>rebuilt primarily for </a:t>
            </a:r>
            <a:r>
              <a:rPr lang="en-US" sz="2400" i="1" dirty="0" smtClean="0">
                <a:solidFill>
                  <a:srgbClr val="C00000"/>
                </a:solidFill>
              </a:rPr>
              <a:t>learning </a:t>
            </a:r>
            <a:r>
              <a:rPr lang="en-US" sz="2400" i="1" dirty="0" smtClean="0">
                <a:solidFill>
                  <a:srgbClr val="C00000"/>
                </a:solidFill>
              </a:rPr>
              <a:t>purposes</a:t>
            </a:r>
            <a:r>
              <a:rPr lang="en-US" sz="2400" dirty="0" smtClean="0"/>
              <a:t>.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</a:t>
            </a:r>
            <a:r>
              <a:rPr lang="en-US" dirty="0" smtClean="0"/>
              <a:t>Find a Similar Product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Use the existing product as a </a:t>
            </a:r>
            <a:r>
              <a:rPr lang="en-US" sz="2200" b="1" dirty="0" smtClean="0"/>
              <a:t>user</a:t>
            </a:r>
            <a:r>
              <a:rPr lang="en-US" sz="2200" dirty="0" smtClean="0"/>
              <a:t> does. </a:t>
            </a:r>
            <a:r>
              <a:rPr lang="en-US" sz="2200" i="1" dirty="0" smtClean="0">
                <a:solidFill>
                  <a:srgbClr val="C00000"/>
                </a:solidFill>
              </a:rPr>
              <a:t>Problem</a:t>
            </a:r>
            <a:r>
              <a:rPr lang="en-US" sz="2200" dirty="0" smtClean="0"/>
              <a:t>: No premium account.</a:t>
            </a:r>
          </a:p>
          <a:p>
            <a:r>
              <a:rPr lang="en-US" sz="2200" dirty="0" smtClean="0"/>
              <a:t>Manage the existing product as an </a:t>
            </a:r>
            <a:r>
              <a:rPr lang="en-US" sz="2200" b="1" dirty="0" smtClean="0"/>
              <a:t>administrator</a:t>
            </a:r>
            <a:r>
              <a:rPr lang="en-US" sz="2200" dirty="0" smtClean="0"/>
              <a:t> does. </a:t>
            </a:r>
            <a:r>
              <a:rPr lang="en-US" sz="2200" i="1" dirty="0" smtClean="0">
                <a:solidFill>
                  <a:srgbClr val="C00000"/>
                </a:solidFill>
              </a:rPr>
              <a:t>Problem</a:t>
            </a:r>
            <a:r>
              <a:rPr lang="en-US" sz="2200" dirty="0" smtClean="0"/>
              <a:t>: No admin account.</a:t>
            </a:r>
          </a:p>
          <a:p>
            <a:r>
              <a:rPr lang="en-US" sz="2200" dirty="0" smtClean="0"/>
              <a:t>Deploy the existing product as an </a:t>
            </a:r>
            <a:r>
              <a:rPr lang="en-US" sz="2200" b="1" dirty="0" smtClean="0"/>
              <a:t>IT administrator</a:t>
            </a:r>
            <a:r>
              <a:rPr lang="en-US" sz="2200" dirty="0" smtClean="0"/>
              <a:t> does. </a:t>
            </a:r>
            <a:r>
              <a:rPr lang="en-US" sz="2200" i="1" dirty="0" smtClean="0">
                <a:solidFill>
                  <a:srgbClr val="C00000"/>
                </a:solidFill>
              </a:rPr>
              <a:t>Problem</a:t>
            </a:r>
            <a:r>
              <a:rPr lang="en-US" sz="2200" dirty="0" smtClean="0"/>
              <a:t>: No product deployment package.</a:t>
            </a:r>
          </a:p>
        </p:txBody>
      </p:sp>
      <p:pic>
        <p:nvPicPr>
          <p:cNvPr id="5" name="Picture 2" descr="https://icdn.digitaltrends.com/image/digitaltrends/uber_stock-720x48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4267200"/>
            <a:ext cx="2743200" cy="1828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</a:t>
            </a:r>
            <a:r>
              <a:rPr lang="en-US" dirty="0" smtClean="0"/>
              <a:t>Search for Open-source Product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Search for an </a:t>
            </a:r>
            <a:r>
              <a:rPr lang="en-US" sz="2200" b="1" dirty="0" smtClean="0"/>
              <a:t>open-source</a:t>
            </a:r>
            <a:r>
              <a:rPr lang="en-US" sz="2200" dirty="0" smtClean="0"/>
              <a:t> product.</a:t>
            </a:r>
          </a:p>
          <a:p>
            <a:r>
              <a:rPr lang="en-US" sz="2200" dirty="0" smtClean="0"/>
              <a:t>Deploy and manage the open-source product.</a:t>
            </a:r>
          </a:p>
        </p:txBody>
      </p:sp>
      <p:pic>
        <p:nvPicPr>
          <p:cNvPr id="1028" name="Picture 4" descr="https://nochallenge.net/wp-content/uploads/2014/09/open_source_im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2733674"/>
            <a:ext cx="6791325" cy="34385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Identify </a:t>
            </a:r>
            <a:r>
              <a:rPr lang="en-US" dirty="0" smtClean="0"/>
              <a:t>Core Workflows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Existing similar system.</a:t>
            </a:r>
          </a:p>
          <a:p>
            <a:r>
              <a:rPr lang="en-US" sz="2400" dirty="0" smtClean="0"/>
              <a:t>Users/ Stakeholders/Roles and corresponding </a:t>
            </a:r>
            <a:r>
              <a:rPr lang="en-US" sz="2400" i="1" dirty="0" smtClean="0">
                <a:solidFill>
                  <a:srgbClr val="C00000"/>
                </a:solidFill>
              </a:rPr>
              <a:t>problems</a:t>
            </a:r>
            <a:r>
              <a:rPr lang="en-US" sz="2400" dirty="0" smtClean="0"/>
              <a:t>.</a:t>
            </a:r>
          </a:p>
          <a:p>
            <a:pPr lvl="1"/>
            <a:r>
              <a:rPr lang="en-US" sz="2000" b="1" i="1" dirty="0" smtClean="0">
                <a:solidFill>
                  <a:srgbClr val="C00000"/>
                </a:solidFill>
              </a:rPr>
              <a:t>Cost, time, pain, fatigue, happiness (games).</a:t>
            </a:r>
            <a:endParaRPr lang="en-US" sz="2000" i="1" dirty="0" smtClean="0">
              <a:solidFill>
                <a:srgbClr val="C00000"/>
              </a:solidFill>
            </a:endParaRPr>
          </a:p>
          <a:p>
            <a:r>
              <a:rPr lang="en-US" sz="2400" dirty="0" smtClean="0"/>
              <a:t>Users/ Stakeholders/Roles and corresponding </a:t>
            </a:r>
            <a:r>
              <a:rPr lang="en-US" sz="2400" i="1" dirty="0" smtClean="0">
                <a:solidFill>
                  <a:srgbClr val="C00000"/>
                </a:solidFill>
              </a:rPr>
              <a:t>goals</a:t>
            </a:r>
            <a:r>
              <a:rPr lang="en-US" sz="2400" dirty="0" smtClean="0"/>
              <a:t>.</a:t>
            </a:r>
          </a:p>
          <a:p>
            <a:pPr lvl="1"/>
            <a:r>
              <a:rPr lang="en-US" sz="2000" dirty="0" smtClean="0"/>
              <a:t>At the </a:t>
            </a:r>
            <a:r>
              <a:rPr lang="en-US" sz="2000" i="1" dirty="0" smtClean="0">
                <a:solidFill>
                  <a:srgbClr val="C00000"/>
                </a:solidFill>
              </a:rPr>
              <a:t>first level</a:t>
            </a:r>
            <a:r>
              <a:rPr lang="en-US" sz="2000" dirty="0" smtClean="0"/>
              <a:t>, the objectives are often expressed by </a:t>
            </a:r>
            <a:r>
              <a:rPr lang="en-US" sz="2000" i="1" dirty="0" smtClean="0">
                <a:solidFill>
                  <a:srgbClr val="C00000"/>
                </a:solidFill>
              </a:rPr>
              <a:t>reversing</a:t>
            </a:r>
            <a:r>
              <a:rPr lang="en-US" sz="2000" dirty="0" smtClean="0"/>
              <a:t> the problem encountered.</a:t>
            </a:r>
          </a:p>
          <a:p>
            <a:r>
              <a:rPr lang="en-US" sz="2400" dirty="0" smtClean="0"/>
              <a:t>Workflow for solving each problem (scenarios/business use case) or achieving each goal.</a:t>
            </a:r>
          </a:p>
          <a:p>
            <a:pPr lvl="1"/>
            <a:r>
              <a:rPr lang="en-US" sz="2000" dirty="0" smtClean="0"/>
              <a:t>List: Step 1, step 2, step 3, and so on.</a:t>
            </a:r>
          </a:p>
          <a:p>
            <a:pPr lvl="1"/>
            <a:r>
              <a:rPr lang="en-US" sz="2000" dirty="0" smtClean="0"/>
              <a:t>Swim-lane diagram.</a:t>
            </a:r>
          </a:p>
        </p:txBody>
      </p:sp>
      <p:pic>
        <p:nvPicPr>
          <p:cNvPr id="9220" name="Picture 4" descr="https://gitmind.com/wp-content/uploads/2021/06/create-swimlane-diagram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4800600"/>
            <a:ext cx="2159000" cy="14287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Identify </a:t>
            </a:r>
            <a:r>
              <a:rPr lang="en-US" dirty="0" smtClean="0"/>
              <a:t>Manual Workflows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This artifact is </a:t>
            </a:r>
            <a:r>
              <a:rPr lang="en-US" sz="2400" i="1" dirty="0" smtClean="0">
                <a:solidFill>
                  <a:srgbClr val="C00000"/>
                </a:solidFill>
              </a:rPr>
              <a:t>optional</a:t>
            </a:r>
            <a:r>
              <a:rPr lang="en-US" sz="2400" dirty="0" smtClean="0"/>
              <a:t>, but it is often very useful for future </a:t>
            </a:r>
            <a:r>
              <a:rPr lang="en-US" sz="2400" u="sng" dirty="0" smtClean="0"/>
              <a:t>validation</a:t>
            </a:r>
            <a:r>
              <a:rPr lang="en-US" sz="2400" dirty="0" smtClean="0"/>
              <a:t> or </a:t>
            </a:r>
            <a:r>
              <a:rPr lang="en-US" sz="2400" u="sng" dirty="0" smtClean="0"/>
              <a:t>improvement</a:t>
            </a:r>
            <a:r>
              <a:rPr lang="en-US" sz="2400" dirty="0" smtClean="0"/>
              <a:t> of </a:t>
            </a:r>
            <a:r>
              <a:rPr lang="en-US" sz="2400" u="sng" dirty="0" smtClean="0"/>
              <a:t>software workflows</a:t>
            </a:r>
            <a:r>
              <a:rPr lang="en-US" sz="2400" dirty="0" smtClean="0"/>
              <a:t>.</a:t>
            </a:r>
          </a:p>
        </p:txBody>
      </p:sp>
      <p:pic>
        <p:nvPicPr>
          <p:cNvPr id="4" name="Picture 2" descr="https://ethos3.com/wp-content/uploads/2020/08/creating-a-storyboard-for-your-presentation-scaled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124200"/>
            <a:ext cx="3745715" cy="2496312"/>
          </a:xfrm>
          <a:prstGeom prst="rect">
            <a:avLst/>
          </a:prstGeom>
          <a:noFill/>
        </p:spPr>
      </p:pic>
      <p:pic>
        <p:nvPicPr>
          <p:cNvPr id="5" name="Picture 2" descr="https://aambpublicoceanservice.blob.core.windows.net/oceanserviceprod/education/edu-teacher-icon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10200" y="3581400"/>
            <a:ext cx="2692400" cy="1841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</a:t>
            </a:r>
            <a:r>
              <a:rPr lang="en-US" dirty="0" smtClean="0"/>
              <a:t>Create a Domain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/>
            <a:r>
              <a:rPr lang="en-US" sz="2600" i="1" dirty="0" smtClean="0">
                <a:solidFill>
                  <a:srgbClr val="C00000"/>
                </a:solidFill>
              </a:rPr>
              <a:t>Inputs</a:t>
            </a:r>
            <a:r>
              <a:rPr lang="en-US" sz="2600" dirty="0" smtClean="0"/>
              <a:t>: Domain terms, domain knowledge, workflows.</a:t>
            </a:r>
          </a:p>
        </p:txBody>
      </p:sp>
      <p:pic>
        <p:nvPicPr>
          <p:cNvPr id="6" name="Picture 2" descr="https://image.freepik.com/free-icon/diagram_318-205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48025" y="3276600"/>
            <a:ext cx="1933575" cy="19875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</a:t>
            </a:r>
            <a:r>
              <a:rPr lang="en-US" dirty="0" smtClean="0"/>
              <a:t>Create a Product Backlog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943600" cy="4525963"/>
          </a:xfrm>
        </p:spPr>
        <p:txBody>
          <a:bodyPr/>
          <a:lstStyle/>
          <a:p>
            <a:pPr marL="514350" indent="-514350"/>
            <a:r>
              <a:rPr lang="en-US" sz="2400" dirty="0" smtClean="0"/>
              <a:t>User story: As a __ I want __ so that __</a:t>
            </a:r>
          </a:p>
          <a:p>
            <a:pPr marL="514350" indent="-514350"/>
            <a:r>
              <a:rPr lang="en-US" sz="2400" dirty="0" smtClean="0"/>
              <a:t>Based on the </a:t>
            </a:r>
            <a:r>
              <a:rPr lang="en-US" sz="2400" u="sng" dirty="0" smtClean="0"/>
              <a:t>workflows</a:t>
            </a:r>
            <a:r>
              <a:rPr lang="en-US" sz="2400" dirty="0" smtClean="0"/>
              <a:t>, list the </a:t>
            </a:r>
            <a:r>
              <a:rPr lang="en-US" sz="2400" i="1" dirty="0" smtClean="0">
                <a:solidFill>
                  <a:srgbClr val="C00000"/>
                </a:solidFill>
              </a:rPr>
              <a:t>proposed features</a:t>
            </a:r>
            <a:r>
              <a:rPr lang="en-US" sz="2400" dirty="0" smtClean="0"/>
              <a:t> to be implemented.</a:t>
            </a:r>
          </a:p>
          <a:p>
            <a:pPr marL="514350" indent="-514350"/>
            <a:r>
              <a:rPr lang="en-US" sz="2400" dirty="0" smtClean="0"/>
              <a:t>Each </a:t>
            </a:r>
            <a:r>
              <a:rPr lang="en-US" sz="2400" i="1" dirty="0" smtClean="0">
                <a:solidFill>
                  <a:srgbClr val="C00000"/>
                </a:solidFill>
              </a:rPr>
              <a:t>proposed feature</a:t>
            </a:r>
            <a:r>
              <a:rPr lang="en-US" sz="2400" dirty="0" smtClean="0"/>
              <a:t> should always answer the following questions:</a:t>
            </a:r>
          </a:p>
          <a:p>
            <a:pPr marL="914400" lvl="1" indent="-514350"/>
            <a:r>
              <a:rPr lang="en-US" sz="2200" dirty="0" smtClean="0"/>
              <a:t>Which step in the workflow is this feature for?</a:t>
            </a:r>
          </a:p>
          <a:p>
            <a:pPr marL="914400" lvl="1" indent="-514350"/>
            <a:r>
              <a:rPr lang="en-US" sz="2200" dirty="0" smtClean="0"/>
              <a:t>What goal does this process aim to achieve or what problem does this goal aim to solve?</a:t>
            </a:r>
          </a:p>
        </p:txBody>
      </p:sp>
      <p:pic>
        <p:nvPicPr>
          <p:cNvPr id="5" name="Picture 2" descr="Image result for hand-on experienc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2438400"/>
            <a:ext cx="2540000" cy="254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9. </a:t>
            </a:r>
            <a:r>
              <a:rPr lang="en-US" sz="4200" dirty="0" smtClean="0"/>
              <a:t>Review </a:t>
            </a:r>
            <a:r>
              <a:rPr lang="en-US" sz="4200" dirty="0" smtClean="0"/>
              <a:t>the Problem </a:t>
            </a:r>
            <a:r>
              <a:rPr lang="en-US" sz="4200" dirty="0" smtClean="0"/>
              <a:t>Specification</a:t>
            </a:r>
            <a:endParaRPr lang="en-US" sz="4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524000"/>
          <a:ext cx="82296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152400">
                <a:tc gridSpan="3">
                  <a:txBody>
                    <a:bodyPr/>
                    <a:lstStyle/>
                    <a:p>
                      <a:r>
                        <a:rPr lang="en-US" sz="2000" dirty="0" smtClean="0"/>
                        <a:t>BA/Product Owner</a:t>
                      </a:r>
                      <a:endParaRPr lang="en-US" sz="2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Now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Now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Future</a:t>
                      </a:r>
                      <a:endParaRPr lang="en-US" sz="2000" b="1" dirty="0"/>
                    </a:p>
                  </a:txBody>
                  <a:tcPr/>
                </a:tc>
              </a:tr>
              <a:tr h="845648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What: domain model (without software)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What: domain model (with/without software)</a:t>
                      </a:r>
                    </a:p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What: domain model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dirty="0" smtClean="0"/>
                        <a:t>(with software)</a:t>
                      </a:r>
                    </a:p>
                    <a:p>
                      <a:endParaRPr lang="en-US" sz="2000" dirty="0"/>
                    </a:p>
                  </a:txBody>
                  <a:tcPr/>
                </a:tc>
              </a:tr>
              <a:tr h="342957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How: Scenarios (without software)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How: Scenarios (with/without software)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How: Scenarios (with software)</a:t>
                      </a:r>
                      <a:endParaRPr lang="en-US" sz="2000" dirty="0"/>
                    </a:p>
                  </a:txBody>
                  <a:tcPr/>
                </a:tc>
              </a:tr>
              <a:tr h="34295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smtClean="0"/>
                        <a:t>What: Real</a:t>
                      </a:r>
                      <a:r>
                        <a:rPr lang="en-US" sz="2000" b="1" baseline="0" dirty="0" smtClean="0"/>
                        <a:t> world</a:t>
                      </a:r>
                      <a:endParaRPr lang="en-US" sz="2000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smtClean="0"/>
                        <a:t>What:</a:t>
                      </a:r>
                      <a:r>
                        <a:rPr lang="en-US" sz="2000" b="1" baseline="0" dirty="0" smtClean="0"/>
                        <a:t> </a:t>
                      </a:r>
                      <a:r>
                        <a:rPr lang="en-US" sz="2000" b="1" dirty="0" smtClean="0"/>
                        <a:t>Similar</a:t>
                      </a:r>
                      <a:r>
                        <a:rPr lang="en-US" sz="2000" b="1" baseline="0" dirty="0" smtClean="0"/>
                        <a:t> software</a:t>
                      </a:r>
                      <a:endParaRPr lang="en-US" sz="2000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What:</a:t>
                      </a:r>
                      <a:r>
                        <a:rPr lang="en-US" sz="2000" b="1" baseline="0" dirty="0" smtClean="0"/>
                        <a:t> Product backlog, Software requirements specification</a:t>
                      </a:r>
                      <a:endParaRPr lang="en-US" sz="2000" b="1" dirty="0"/>
                    </a:p>
                  </a:txBody>
                  <a:tcPr/>
                </a:tc>
              </a:tr>
              <a:tr h="342957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rgbClr val="C00000"/>
                          </a:solidFill>
                        </a:rPr>
                        <a:t>Validation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rgbClr val="C00000"/>
                          </a:solidFill>
                        </a:rPr>
                        <a:t>Evaluation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rgbClr val="C00000"/>
                          </a:solidFill>
                        </a:rPr>
                        <a:t>Verification</a:t>
                      </a:r>
                      <a:endParaRPr lang="en-US" sz="2000" b="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34295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smtClean="0"/>
                        <a:t>Our</a:t>
                      </a:r>
                      <a:r>
                        <a:rPr lang="en-US" sz="2000" b="1" baseline="0" dirty="0" smtClean="0"/>
                        <a:t> software</a:t>
                      </a:r>
                      <a:endParaRPr lang="en-US" sz="2000" b="1" dirty="0" smtClean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12417</TotalTime>
  <Words>504</Words>
  <Application>Microsoft Office PowerPoint</Application>
  <PresentationFormat>On-screen Show (4:3)</PresentationFormat>
  <Paragraphs>70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Problem Specification</vt:lpstr>
      <vt:lpstr>Objectives</vt:lpstr>
      <vt:lpstr>Contents</vt:lpstr>
      <vt:lpstr>References</vt:lpstr>
      <vt:lpstr>1. Create Statement of Work</vt:lpstr>
      <vt:lpstr>2. Review Motivations</vt:lpstr>
      <vt:lpstr>3. Find a Similar Product</vt:lpstr>
      <vt:lpstr>4. Search for Open-source Product</vt:lpstr>
      <vt:lpstr>5. Identify Core Workflows</vt:lpstr>
      <vt:lpstr>6. Identify Manual Workflows</vt:lpstr>
      <vt:lpstr>7. Create a Domain Model</vt:lpstr>
      <vt:lpstr>8. Create a Product Backlog</vt:lpstr>
      <vt:lpstr>9. Review the Problem Specification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5309</cp:revision>
  <dcterms:created xsi:type="dcterms:W3CDTF">2007-10-06T08:25:13Z</dcterms:created>
  <dcterms:modified xsi:type="dcterms:W3CDTF">2026-01-29T16:51:11Z</dcterms:modified>
</cp:coreProperties>
</file>