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5"/>
  </p:notesMasterIdLst>
  <p:handoutMasterIdLst>
    <p:handoutMasterId r:id="rId36"/>
  </p:handoutMasterIdLst>
  <p:sldIdLst>
    <p:sldId id="256" r:id="rId2"/>
    <p:sldId id="431" r:id="rId3"/>
    <p:sldId id="603" r:id="rId4"/>
    <p:sldId id="423" r:id="rId5"/>
    <p:sldId id="694" r:id="rId6"/>
    <p:sldId id="696" r:id="rId7"/>
    <p:sldId id="695" r:id="rId8"/>
    <p:sldId id="697" r:id="rId9"/>
    <p:sldId id="698" r:id="rId10"/>
    <p:sldId id="699" r:id="rId11"/>
    <p:sldId id="701" r:id="rId12"/>
    <p:sldId id="702" r:id="rId13"/>
    <p:sldId id="703" r:id="rId14"/>
    <p:sldId id="704" r:id="rId15"/>
    <p:sldId id="705" r:id="rId16"/>
    <p:sldId id="706" r:id="rId17"/>
    <p:sldId id="707" r:id="rId18"/>
    <p:sldId id="708" r:id="rId19"/>
    <p:sldId id="709" r:id="rId20"/>
    <p:sldId id="700" r:id="rId21"/>
    <p:sldId id="686" r:id="rId22"/>
    <p:sldId id="687" r:id="rId23"/>
    <p:sldId id="688" r:id="rId24"/>
    <p:sldId id="689" r:id="rId25"/>
    <p:sldId id="690" r:id="rId26"/>
    <p:sldId id="691" r:id="rId27"/>
    <p:sldId id="692" r:id="rId28"/>
    <p:sldId id="693" r:id="rId29"/>
    <p:sldId id="710" r:id="rId30"/>
    <p:sldId id="711" r:id="rId31"/>
    <p:sldId id="712" r:id="rId32"/>
    <p:sldId id="713" r:id="rId33"/>
    <p:sldId id="343" r:id="rId3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86" autoAdjust="0"/>
    <p:restoredTop sz="94667" autoAdjust="0"/>
  </p:normalViewPr>
  <p:slideViewPr>
    <p:cSldViewPr>
      <p:cViewPr>
        <p:scale>
          <a:sx n="50" d="100"/>
          <a:sy n="50" d="100"/>
        </p:scale>
        <p:origin x="-1478"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0D0DBAB-D1C9-4D1B-A41F-EB0AC0278643}" type="datetimeFigureOut">
              <a:rPr lang="en-US" smtClean="0"/>
              <a:pPr/>
              <a:t>2/14/2026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36056FB-ACC3-4B45-A768-F167A538151B}"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5C7060-FA44-42F0-8808-1D08F5DA2F41}" type="datetimeFigureOut">
              <a:rPr lang="en-US" smtClean="0"/>
              <a:pPr/>
              <a:t>2/14/2026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E0EE6-BA34-4C45-82C4-9F1F3A459FA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2/14/2026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2/14/2026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2/14/2026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2/14/2026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2/14/2026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2/14/2026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2/14/2026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2/14/2026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2/14/2026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2/14/2026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2/14/2026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2/14/2026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Supply Chain Management</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marL="457200" indent="-457200">
              <a:buFont typeface="+mj-lt"/>
              <a:buAutoNum type="arabicPeriod"/>
            </a:pPr>
            <a:r>
              <a:rPr lang="en-US" sz="2400" dirty="0" smtClean="0">
                <a:cs typeface="Calibri" pitchFamily="34" charset="0"/>
              </a:rPr>
              <a:t>Ellen Monk and Bret Wagner (2012).Concepts in Enterprise Resource Planning. </a:t>
            </a:r>
            <a:r>
              <a:rPr lang="en-US" sz="2400" dirty="0" err="1" smtClean="0">
                <a:cs typeface="Calibri" pitchFamily="34" charset="0"/>
              </a:rPr>
              <a:t>Cengage</a:t>
            </a:r>
            <a:r>
              <a:rPr lang="en-US" sz="2400" dirty="0" smtClean="0">
                <a:cs typeface="Calibri" pitchFamily="34" charset="0"/>
              </a:rPr>
              <a:t> Learning.</a:t>
            </a:r>
          </a:p>
          <a:p>
            <a:pPr marL="457200" indent="-457200">
              <a:buFont typeface="+mj-lt"/>
              <a:buAutoNum type="arabicPeriod"/>
            </a:pPr>
            <a:r>
              <a:rPr lang="en-US" sz="2400" dirty="0" smtClean="0">
                <a:cs typeface="Calibri" pitchFamily="34" charset="0"/>
              </a:rPr>
              <a:t>Sunil Chopra (2018). Supply Chain Management. Pearson.</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Functional Areas [1]</a:t>
            </a:r>
            <a:endParaRPr lang="en-US" dirty="0"/>
          </a:p>
        </p:txBody>
      </p:sp>
      <p:sp>
        <p:nvSpPr>
          <p:cNvPr id="3" name="Content Placeholder 2"/>
          <p:cNvSpPr>
            <a:spLocks noGrp="1"/>
          </p:cNvSpPr>
          <p:nvPr>
            <p:ph idx="1"/>
          </p:nvPr>
        </p:nvSpPr>
        <p:spPr/>
        <p:txBody>
          <a:bodyPr/>
          <a:lstStyle/>
          <a:p>
            <a:r>
              <a:rPr lang="en-US" sz="2600" i="1" dirty="0" smtClean="0">
                <a:solidFill>
                  <a:srgbClr val="C00000"/>
                </a:solidFill>
              </a:rPr>
              <a:t>Companies</a:t>
            </a:r>
            <a:r>
              <a:rPr lang="en-US" sz="2600" dirty="0" smtClean="0"/>
              <a:t> that </a:t>
            </a:r>
            <a:r>
              <a:rPr lang="en-US" sz="2600" u="sng" dirty="0" smtClean="0"/>
              <a:t>make and sell products</a:t>
            </a:r>
            <a:r>
              <a:rPr lang="en-US" sz="2600" dirty="0" smtClean="0"/>
              <a:t> have business processes that involve four main functional areas:</a:t>
            </a:r>
          </a:p>
          <a:p>
            <a:pPr lvl="1"/>
            <a:r>
              <a:rPr lang="en-US" sz="2200" dirty="0" smtClean="0"/>
              <a:t>Marketing and Sales (M/S),</a:t>
            </a:r>
          </a:p>
          <a:p>
            <a:pPr lvl="1"/>
            <a:r>
              <a:rPr lang="en-US" sz="2200" dirty="0" smtClean="0"/>
              <a:t>Supply Chain Management (SCM),</a:t>
            </a:r>
          </a:p>
          <a:p>
            <a:pPr lvl="1"/>
            <a:r>
              <a:rPr lang="en-US" sz="2200" dirty="0" smtClean="0"/>
              <a:t>Accounting and Finance (A/F), and </a:t>
            </a:r>
          </a:p>
          <a:p>
            <a:pPr lvl="1"/>
            <a:r>
              <a:rPr lang="en-US" sz="2200" dirty="0" smtClean="0"/>
              <a:t>Human Resources (HR).</a:t>
            </a:r>
          </a:p>
          <a:p>
            <a:r>
              <a:rPr lang="en-US" sz="2600" dirty="0" smtClean="0"/>
              <a:t>Each functional area is served by an information system.</a:t>
            </a:r>
          </a:p>
          <a:p>
            <a:r>
              <a:rPr lang="en-US" sz="2600" dirty="0" smtClean="0"/>
              <a:t>Information systems capture, process, and store data to provide information needed for decision making.</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Functional Areas of Operation</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260600" y="1685925"/>
            <a:ext cx="4622800" cy="441007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ERP Systems</a:t>
            </a:r>
            <a:endParaRPr lang="en-US" dirty="0"/>
          </a:p>
        </p:txBody>
      </p:sp>
      <p:sp>
        <p:nvSpPr>
          <p:cNvPr id="3" name="Content Placeholder 2"/>
          <p:cNvSpPr>
            <a:spLocks noGrp="1"/>
          </p:cNvSpPr>
          <p:nvPr>
            <p:ph idx="1"/>
          </p:nvPr>
        </p:nvSpPr>
        <p:spPr/>
        <p:txBody>
          <a:bodyPr/>
          <a:lstStyle/>
          <a:p>
            <a:r>
              <a:rPr lang="en-US" sz="2600" i="1" dirty="0" smtClean="0">
                <a:solidFill>
                  <a:srgbClr val="C00000"/>
                </a:solidFill>
              </a:rPr>
              <a:t>Enterprise Resource Planning (ERP) systems</a:t>
            </a:r>
            <a:r>
              <a:rPr lang="en-US" sz="2600" dirty="0" smtClean="0"/>
              <a:t> are core </a:t>
            </a:r>
            <a:r>
              <a:rPr lang="en-US" sz="2600" u="sng" dirty="0" smtClean="0"/>
              <a:t>software programs</a:t>
            </a:r>
            <a:r>
              <a:rPr lang="en-US" sz="2600" dirty="0" smtClean="0"/>
              <a:t> used by companies to integrate and coordinate information in every area of the business.</a:t>
            </a:r>
          </a:p>
          <a:p>
            <a:r>
              <a:rPr lang="en-US" sz="2600" dirty="0" smtClean="0"/>
              <a:t>A </a:t>
            </a:r>
            <a:r>
              <a:rPr lang="en-US" sz="2600" i="1" dirty="0" smtClean="0">
                <a:solidFill>
                  <a:srgbClr val="C00000"/>
                </a:solidFill>
              </a:rPr>
              <a:t>business process</a:t>
            </a:r>
            <a:r>
              <a:rPr lang="en-US" sz="2600" dirty="0" smtClean="0"/>
              <a:t> is a collection of activities that takes one or more kinds of </a:t>
            </a:r>
            <a:r>
              <a:rPr lang="en-US" sz="2600" u="sng" dirty="0" smtClean="0"/>
              <a:t>input</a:t>
            </a:r>
            <a:r>
              <a:rPr lang="en-US" sz="2600" dirty="0" smtClean="0"/>
              <a:t> and creates an </a:t>
            </a:r>
            <a:r>
              <a:rPr lang="en-US" sz="2600" u="sng" dirty="0" smtClean="0"/>
              <a:t>output</a:t>
            </a:r>
            <a:r>
              <a:rPr lang="en-US" sz="2600" dirty="0" smtClean="0"/>
              <a:t>, such as a report or forecast, that is of </a:t>
            </a:r>
            <a:r>
              <a:rPr lang="en-US" sz="2600" u="sng" dirty="0" smtClean="0"/>
              <a:t>value</a:t>
            </a:r>
            <a:r>
              <a:rPr lang="en-US" sz="2600" dirty="0" smtClean="0"/>
              <a:t> to the customer.</a:t>
            </a:r>
          </a:p>
          <a:p>
            <a:r>
              <a:rPr lang="en-US" sz="2600" dirty="0" smtClean="0"/>
              <a:t>ERP software </a:t>
            </a:r>
            <a:r>
              <a:rPr lang="en-US" sz="2600" u="sng" dirty="0" smtClean="0"/>
              <a:t>supports</a:t>
            </a:r>
            <a:r>
              <a:rPr lang="en-US" sz="2600" dirty="0" smtClean="0"/>
              <a:t> the efficient </a:t>
            </a:r>
            <a:r>
              <a:rPr lang="en-US" sz="2600" i="1" dirty="0" smtClean="0">
                <a:solidFill>
                  <a:srgbClr val="C00000"/>
                </a:solidFill>
              </a:rPr>
              <a:t>operation of business processes</a:t>
            </a:r>
            <a:r>
              <a:rPr lang="en-US" sz="2600" dirty="0" smtClean="0"/>
              <a:t> by integrating tasks related to sales, marketing, manufacturing, logistics, accounting, and staffing—throughout a business.</a:t>
            </a:r>
          </a:p>
          <a:p>
            <a:endParaRPr lang="en-US" sz="2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ERP Systems?</a:t>
            </a:r>
            <a:endParaRPr lang="en-US" dirty="0"/>
          </a:p>
        </p:txBody>
      </p:sp>
      <p:sp>
        <p:nvSpPr>
          <p:cNvPr id="3" name="Content Placeholder 2"/>
          <p:cNvSpPr>
            <a:spLocks noGrp="1"/>
          </p:cNvSpPr>
          <p:nvPr>
            <p:ph idx="1"/>
          </p:nvPr>
        </p:nvSpPr>
        <p:spPr/>
        <p:txBody>
          <a:bodyPr/>
          <a:lstStyle/>
          <a:p>
            <a:r>
              <a:rPr lang="en-US" sz="2400" dirty="0" smtClean="0"/>
              <a:t>An Enterprise Resource Planning (ERP) system can help a company </a:t>
            </a:r>
            <a:r>
              <a:rPr lang="en-US" sz="2400" i="1" dirty="0" smtClean="0">
                <a:solidFill>
                  <a:srgbClr val="C00000"/>
                </a:solidFill>
              </a:rPr>
              <a:t>integrate its operations</a:t>
            </a:r>
            <a:r>
              <a:rPr lang="en-US" sz="2400" dirty="0" smtClean="0"/>
              <a:t> by serving as a company-wide computing environment that includes a shared database—delivering consistent data across all business functions in real time.</a:t>
            </a:r>
          </a:p>
          <a:p>
            <a:r>
              <a:rPr lang="en-US" sz="2400" dirty="0" smtClean="0"/>
              <a:t>(The term </a:t>
            </a:r>
            <a:r>
              <a:rPr lang="en-US" sz="2400" i="1" dirty="0" smtClean="0"/>
              <a:t>real time</a:t>
            </a:r>
            <a:r>
              <a:rPr lang="en-US" sz="2400" dirty="0" smtClean="0"/>
              <a:t> refers to data and processes that are always current).</a:t>
            </a:r>
          </a:p>
          <a:p>
            <a:r>
              <a:rPr lang="en-US" sz="2400" dirty="0" smtClean="0"/>
              <a:t>Increasing the efficiency of information systems results in </a:t>
            </a:r>
            <a:r>
              <a:rPr lang="en-US" sz="2400" i="1" dirty="0" smtClean="0">
                <a:solidFill>
                  <a:srgbClr val="C00000"/>
                </a:solidFill>
              </a:rPr>
              <a:t>more efficient management of business processes</a:t>
            </a:r>
            <a:r>
              <a:rPr lang="en-US" sz="2400" dirty="0" smtClean="0"/>
              <a:t>.</a:t>
            </a:r>
          </a:p>
          <a:p>
            <a:r>
              <a:rPr lang="en-US" sz="2400" dirty="0" smtClean="0"/>
              <a:t>When companies have efficient business processes, they can be </a:t>
            </a:r>
            <a:r>
              <a:rPr lang="en-US" sz="2400" i="1" dirty="0" smtClean="0">
                <a:solidFill>
                  <a:srgbClr val="C00000"/>
                </a:solidFill>
              </a:rPr>
              <a:t>more competitive in the marketplace</a:t>
            </a:r>
            <a:r>
              <a:rPr lang="en-US" sz="2400" dirty="0" smtClean="0"/>
              <a: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MRP Software</a:t>
            </a:r>
            <a:endParaRPr lang="en-US" dirty="0"/>
          </a:p>
        </p:txBody>
      </p:sp>
      <p:sp>
        <p:nvSpPr>
          <p:cNvPr id="3" name="Content Placeholder 2"/>
          <p:cNvSpPr>
            <a:spLocks noGrp="1"/>
          </p:cNvSpPr>
          <p:nvPr>
            <p:ph idx="1"/>
          </p:nvPr>
        </p:nvSpPr>
        <p:spPr/>
        <p:txBody>
          <a:bodyPr/>
          <a:lstStyle/>
          <a:p>
            <a:r>
              <a:rPr lang="en-US" sz="2000" i="1" dirty="0" smtClean="0">
                <a:solidFill>
                  <a:srgbClr val="C00000"/>
                </a:solidFill>
              </a:rPr>
              <a:t>Material requirements planning</a:t>
            </a:r>
            <a:r>
              <a:rPr lang="en-US" sz="2000" dirty="0" smtClean="0"/>
              <a:t> is a production-scheduling methodology that determines </a:t>
            </a:r>
            <a:r>
              <a:rPr lang="en-US" sz="2000" u="sng" dirty="0" smtClean="0"/>
              <a:t>the timing</a:t>
            </a:r>
            <a:r>
              <a:rPr lang="en-US" sz="2000" dirty="0" smtClean="0"/>
              <a:t> and </a:t>
            </a:r>
            <a:r>
              <a:rPr lang="en-US" sz="2000" u="sng" dirty="0" smtClean="0"/>
              <a:t>quantity</a:t>
            </a:r>
            <a:r>
              <a:rPr lang="en-US" sz="2000" dirty="0" smtClean="0"/>
              <a:t> of </a:t>
            </a:r>
            <a:r>
              <a:rPr lang="en-US" sz="2000" u="sng" dirty="0" smtClean="0"/>
              <a:t>production runs</a:t>
            </a:r>
            <a:r>
              <a:rPr lang="en-US" sz="2000" dirty="0" smtClean="0"/>
              <a:t> and </a:t>
            </a:r>
            <a:r>
              <a:rPr lang="en-US" sz="2000" u="sng" dirty="0" smtClean="0"/>
              <a:t>purchase-order releases</a:t>
            </a:r>
            <a:r>
              <a:rPr lang="en-US" sz="2000" dirty="0" smtClean="0"/>
              <a:t> to </a:t>
            </a:r>
            <a:r>
              <a:rPr lang="en-US" sz="2000" u="sng" dirty="0" smtClean="0"/>
              <a:t>meet a master production schedule</a:t>
            </a:r>
            <a:r>
              <a:rPr lang="en-US" sz="2000" dirty="0" smtClean="0"/>
              <a:t>.</a:t>
            </a:r>
          </a:p>
          <a:p>
            <a:r>
              <a:rPr lang="en-US" sz="2000" dirty="0" smtClean="0"/>
              <a:t>The plant manager first looked at Marketing and Sales’ forecast of customer demand, then looked at the production schedule needed to meet that demand, calculated the raw materials needed to meet the required production levels, and finally, projected the cost of those raw materials.</a:t>
            </a:r>
          </a:p>
          <a:p>
            <a:r>
              <a:rPr lang="en-US" sz="2000" dirty="0" smtClean="0"/>
              <a:t>For a company with </a:t>
            </a:r>
            <a:r>
              <a:rPr lang="en-US" sz="2000" i="1" dirty="0" smtClean="0">
                <a:solidFill>
                  <a:srgbClr val="C00000"/>
                </a:solidFill>
              </a:rPr>
              <a:t>many</a:t>
            </a:r>
            <a:r>
              <a:rPr lang="en-US" sz="2000" dirty="0" smtClean="0"/>
              <a:t> products, raw materials, and shared production resources, this kind of projection was impossible without a computer to keep track of various inputs.</a:t>
            </a:r>
          </a:p>
          <a:p>
            <a:r>
              <a:rPr lang="en-US" sz="2000" dirty="0" smtClean="0"/>
              <a:t>MRP software allowed a plant manager to plan production and raw materials requirements by working backward from the sales forecast, the prediction of future sales.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Electronic Data Interchange</a:t>
            </a:r>
            <a:endParaRPr lang="en-US" dirty="0"/>
          </a:p>
        </p:txBody>
      </p:sp>
      <p:sp>
        <p:nvSpPr>
          <p:cNvPr id="3" name="Content Placeholder 2"/>
          <p:cNvSpPr>
            <a:spLocks noGrp="1"/>
          </p:cNvSpPr>
          <p:nvPr>
            <p:ph idx="1"/>
          </p:nvPr>
        </p:nvSpPr>
        <p:spPr/>
        <p:txBody>
          <a:bodyPr/>
          <a:lstStyle/>
          <a:p>
            <a:r>
              <a:rPr lang="en-US" sz="2400" dirty="0" smtClean="0"/>
              <a:t>The basic functions of MRP could be handled by mainframe computers; however, the advent of </a:t>
            </a:r>
            <a:r>
              <a:rPr lang="en-US" sz="2400" i="1" dirty="0" smtClean="0">
                <a:solidFill>
                  <a:srgbClr val="C00000"/>
                </a:solidFill>
              </a:rPr>
              <a:t>electronic data interchange</a:t>
            </a:r>
            <a:r>
              <a:rPr lang="en-US" sz="2400" dirty="0" smtClean="0"/>
              <a:t> (EDI)—the direct computer-to-computer exchange of standard business documents—allowed companies to handle the purchasing process electronically, avoiding the cost and delays resulting from paper purchase order and invoice systems.</a:t>
            </a:r>
          </a:p>
          <a:p>
            <a:r>
              <a:rPr lang="en-US" sz="2400" dirty="0" smtClean="0"/>
              <a:t>The functional area now known as Supply Chain Management (SCM) began with the sharing of long-range production schedules between manufacturers and their suppliers.</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Information and Material Flows in a Functional Business Model</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228725" y="2079625"/>
            <a:ext cx="6686550" cy="394017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Functional Model</a:t>
            </a:r>
            <a:endParaRPr lang="en-US" dirty="0"/>
          </a:p>
        </p:txBody>
      </p:sp>
      <p:sp>
        <p:nvSpPr>
          <p:cNvPr id="3" name="Content Placeholder 2"/>
          <p:cNvSpPr>
            <a:spLocks noGrp="1"/>
          </p:cNvSpPr>
          <p:nvPr>
            <p:ph idx="1"/>
          </p:nvPr>
        </p:nvSpPr>
        <p:spPr/>
        <p:txBody>
          <a:bodyPr/>
          <a:lstStyle/>
          <a:p>
            <a:r>
              <a:rPr lang="en-US" dirty="0" smtClean="0"/>
              <a:t>The functional model was very useful for decades, and it was successful in the United States where there was limited competition and where flexibility and rapid decision making were not requirements for success.</a:t>
            </a:r>
          </a:p>
          <a:p>
            <a:r>
              <a:rPr lang="en-US" dirty="0" smtClean="0"/>
              <a:t>In the quickly changing markets of the 1990s, however, the functional model led to top-heavy and overstaffed organizations incapable of reacting quickly to change.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Information and Material Flows in a Process Business Model</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200150" y="2016125"/>
            <a:ext cx="6743700" cy="423227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Process-Oriented Model</a:t>
            </a:r>
            <a:endParaRPr lang="en-US" dirty="0"/>
          </a:p>
        </p:txBody>
      </p:sp>
      <p:sp>
        <p:nvSpPr>
          <p:cNvPr id="3" name="Content Placeholder 2"/>
          <p:cNvSpPr>
            <a:spLocks noGrp="1"/>
          </p:cNvSpPr>
          <p:nvPr>
            <p:ph idx="1"/>
          </p:nvPr>
        </p:nvSpPr>
        <p:spPr/>
        <p:txBody>
          <a:bodyPr/>
          <a:lstStyle/>
          <a:p>
            <a:r>
              <a:rPr lang="en-US" dirty="0" smtClean="0"/>
              <a:t>In a process-oriented company, the flow of information and management activity is “horizontal” across functions, in line with the flow of materials and products.</a:t>
            </a:r>
          </a:p>
          <a:p>
            <a:r>
              <a:rPr lang="en-US" dirty="0" smtClean="0"/>
              <a:t>Now information flows between the operating groups without top management’s involvement.</a:t>
            </a:r>
          </a:p>
          <a:p>
            <a:r>
              <a:rPr lang="en-US" dirty="0" smtClean="0"/>
              <a:t>This horizontal flow promotes flexibility and rapid decision making.</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Systems Analysis and Program</a:t>
            </a:r>
            <a:br>
              <a:rPr lang="en-US" dirty="0" smtClean="0"/>
            </a:br>
            <a:r>
              <a:rPr lang="en-US" dirty="0" smtClean="0"/>
              <a:t>Development (1972)</a:t>
            </a:r>
            <a:endParaRPr lang="en-US" dirty="0"/>
          </a:p>
        </p:txBody>
      </p:sp>
      <p:sp>
        <p:nvSpPr>
          <p:cNvPr id="3" name="Content Placeholder 2"/>
          <p:cNvSpPr>
            <a:spLocks noGrp="1"/>
          </p:cNvSpPr>
          <p:nvPr>
            <p:ph idx="1"/>
          </p:nvPr>
        </p:nvSpPr>
        <p:spPr/>
        <p:txBody>
          <a:bodyPr/>
          <a:lstStyle/>
          <a:p>
            <a:r>
              <a:rPr lang="en-US" sz="2800" dirty="0" smtClean="0"/>
              <a:t>Later, the acronym was changed to Systems, Applications and Products in Data Processing.</a:t>
            </a:r>
          </a:p>
          <a:p>
            <a:r>
              <a:rPr lang="en-US" sz="2800" dirty="0" smtClean="0"/>
              <a:t>All companies developing computer software faced the same basic business problems, and each developed unique, but similar, solutions for their needs in payroll processing, accounting, materials management, and other functional areas of business.</a:t>
            </a:r>
          </a:p>
          <a:p>
            <a:r>
              <a:rPr lang="en-US" sz="2800" dirty="0" smtClean="0"/>
              <a:t>SAP’s goal was to develop a standard software product that could be configured to meet the needs of each company.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SAP R/3 (1988)</a:t>
            </a:r>
            <a:endParaRPr lang="en-US" dirty="0"/>
          </a:p>
        </p:txBody>
      </p:sp>
      <p:sp>
        <p:nvSpPr>
          <p:cNvPr id="3" name="Content Placeholder 2"/>
          <p:cNvSpPr>
            <a:spLocks noGrp="1"/>
          </p:cNvSpPr>
          <p:nvPr>
            <p:ph idx="1"/>
          </p:nvPr>
        </p:nvSpPr>
        <p:spPr/>
        <p:txBody>
          <a:bodyPr/>
          <a:lstStyle/>
          <a:p>
            <a:r>
              <a:rPr lang="en-US" sz="2800" dirty="0" smtClean="0"/>
              <a:t>The SAP R/3 system was also designed using an open architecture approach.</a:t>
            </a:r>
          </a:p>
          <a:p>
            <a:r>
              <a:rPr lang="en-US" sz="2800" dirty="0" smtClean="0"/>
              <a:t>In open architecture, third-party software companies are encouraged to develop add-on software products that can be integrated with existing software.</a:t>
            </a:r>
          </a:p>
          <a:p>
            <a:r>
              <a:rPr lang="en-US" sz="2800" dirty="0" smtClean="0"/>
              <a:t>The open architecture also makes it easy for companies to integrate their hardware products, such as bar-code scanners, personal digital assistants (PDAs), cell phones, and global information systems with the SAP system.</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Oracle (1979)</a:t>
            </a:r>
            <a:endParaRPr lang="en-US" dirty="0"/>
          </a:p>
        </p:txBody>
      </p:sp>
      <p:sp>
        <p:nvSpPr>
          <p:cNvPr id="3" name="Content Placeholder 2"/>
          <p:cNvSpPr>
            <a:spLocks noGrp="1"/>
          </p:cNvSpPr>
          <p:nvPr>
            <p:ph idx="1"/>
          </p:nvPr>
        </p:nvSpPr>
        <p:spPr/>
        <p:txBody>
          <a:bodyPr/>
          <a:lstStyle/>
          <a:p>
            <a:r>
              <a:rPr lang="en-US" sz="2400" dirty="0" smtClean="0"/>
              <a:t>In 1979, Oracle released its first commercial database product.</a:t>
            </a:r>
          </a:p>
          <a:p>
            <a:r>
              <a:rPr lang="en-US" sz="2400" dirty="0" smtClean="0"/>
              <a:t>The company continued to improve its database product, and in 1988 released Oracle Financials, a set of financial applications.</a:t>
            </a:r>
            <a:endParaRPr lang="fr-FR" sz="2400" dirty="0" smtClean="0"/>
          </a:p>
          <a:p>
            <a:r>
              <a:rPr lang="en-US" sz="2400" dirty="0" smtClean="0"/>
              <a:t>The financial applications suite of modules included Oracle Financials, Oracle Supply Chain Management, Oracle Manufacturing, Oracle Project Systems, Oracle Human Resources, and Oracle Market Management. Oracle Financials was the foundation for what would become Oracle’s ERP product.</a:t>
            </a:r>
          </a:p>
          <a:p>
            <a:r>
              <a:rPr lang="en-US" sz="2400" dirty="0" smtClean="0"/>
              <a:t>Oracle is now SAP’s biggest competitor.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SAP ERP Software</a:t>
            </a:r>
            <a:endParaRPr lang="en-US" dirty="0"/>
          </a:p>
        </p:txBody>
      </p:sp>
      <p:sp>
        <p:nvSpPr>
          <p:cNvPr id="3" name="Content Placeholder 2"/>
          <p:cNvSpPr>
            <a:spLocks noGrp="1"/>
          </p:cNvSpPr>
          <p:nvPr>
            <p:ph idx="1"/>
          </p:nvPr>
        </p:nvSpPr>
        <p:spPr/>
        <p:txBody>
          <a:bodyPr/>
          <a:lstStyle/>
          <a:p>
            <a:endParaRPr lang="en-US" sz="2400" dirty="0" smtClean="0"/>
          </a:p>
        </p:txBody>
      </p:sp>
      <p:pic>
        <p:nvPicPr>
          <p:cNvPr id="4098" name="Picture 2"/>
          <p:cNvPicPr>
            <a:picLocks noChangeAspect="1" noChangeArrowheads="1"/>
          </p:cNvPicPr>
          <p:nvPr/>
        </p:nvPicPr>
        <p:blipFill>
          <a:blip r:embed="rId2" cstate="print"/>
          <a:srcRect/>
          <a:stretch>
            <a:fillRect/>
          </a:stretch>
        </p:blipFill>
        <p:spPr bwMode="auto">
          <a:xfrm>
            <a:off x="2206625" y="1905000"/>
            <a:ext cx="4730750" cy="40386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Modules within the SAP ERP</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1843088" y="1600200"/>
            <a:ext cx="5457825" cy="457835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Supply Chain [2]</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supply chain</a:t>
            </a:r>
            <a:r>
              <a:rPr lang="en-US" sz="2400" dirty="0" smtClean="0"/>
              <a:t> consists of </a:t>
            </a:r>
            <a:r>
              <a:rPr lang="en-US" sz="2400" u="sng" dirty="0" smtClean="0"/>
              <a:t>all parties involved</a:t>
            </a:r>
            <a:r>
              <a:rPr lang="en-US" sz="2400" dirty="0" smtClean="0"/>
              <a:t>, directly or indirectly, in fulfilling a </a:t>
            </a:r>
            <a:r>
              <a:rPr lang="en-US" sz="2400" u="sng" dirty="0" smtClean="0"/>
              <a:t>customer request</a:t>
            </a:r>
            <a:r>
              <a:rPr lang="en-US" sz="2400" dirty="0" smtClean="0"/>
              <a:t>.</a:t>
            </a:r>
          </a:p>
          <a:p>
            <a:r>
              <a:rPr lang="en-US" sz="2400" dirty="0" smtClean="0"/>
              <a:t>The supply chain includes not only </a:t>
            </a:r>
            <a:r>
              <a:rPr lang="en-US" sz="2400" i="1" dirty="0" smtClean="0">
                <a:solidFill>
                  <a:srgbClr val="C00000"/>
                </a:solidFill>
              </a:rPr>
              <a:t>the manufacturer</a:t>
            </a:r>
            <a:r>
              <a:rPr lang="en-US" sz="2400" dirty="0" smtClean="0"/>
              <a:t> and </a:t>
            </a:r>
            <a:r>
              <a:rPr lang="en-US" sz="2400" i="1" dirty="0" smtClean="0">
                <a:solidFill>
                  <a:srgbClr val="C00000"/>
                </a:solidFill>
              </a:rPr>
              <a:t>suppliers</a:t>
            </a:r>
            <a:r>
              <a:rPr lang="en-US" sz="2400" dirty="0" smtClean="0"/>
              <a:t>, but also transporters, warehouses, retailers, and even customers themselves.</a:t>
            </a:r>
          </a:p>
          <a:p>
            <a:r>
              <a:rPr lang="en-US" sz="2400" dirty="0" smtClean="0"/>
              <a:t>Within each organization, such as a manufacturer, the supply chain includes </a:t>
            </a:r>
            <a:r>
              <a:rPr lang="en-US" sz="2400" i="1" dirty="0" smtClean="0">
                <a:solidFill>
                  <a:srgbClr val="C00000"/>
                </a:solidFill>
              </a:rPr>
              <a:t>all functions</a:t>
            </a:r>
            <a:r>
              <a:rPr lang="en-US" sz="2400" dirty="0" smtClean="0"/>
              <a:t> involved in receiving and filling a customer request.</a:t>
            </a:r>
          </a:p>
          <a:p>
            <a:r>
              <a:rPr lang="en-US" sz="2400" dirty="0" smtClean="0"/>
              <a:t>These functions include, but are not limited to, new product development, marketing, operations, distribution, finance, and customer service.</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Stages of an Automotive Supply Chain</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1109663" y="2054225"/>
            <a:ext cx="6924675" cy="381317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Three Flows in a Supply Chain</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698625" y="2317750"/>
            <a:ext cx="5746750" cy="222250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Supply Chain Process Cycles</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3136900" y="2022475"/>
            <a:ext cx="2870200" cy="3921125"/>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Push/Pull Processes for the L. L. Bean Supply Chain</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1100138" y="1939925"/>
            <a:ext cx="6943725" cy="3927475"/>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Push/Pull Processes for Ethan Allen Supply Chain for Customized Furniture</a:t>
            </a:r>
            <a:endParaRPr lang="en-US" sz="4000" dirty="0"/>
          </a:p>
        </p:txBody>
      </p:sp>
      <p:pic>
        <p:nvPicPr>
          <p:cNvPr id="5122" name="Picture 2"/>
          <p:cNvPicPr>
            <a:picLocks noChangeAspect="1" noChangeArrowheads="1"/>
          </p:cNvPicPr>
          <p:nvPr/>
        </p:nvPicPr>
        <p:blipFill>
          <a:blip r:embed="rId2" cstate="print"/>
          <a:srcRect/>
          <a:stretch>
            <a:fillRect/>
          </a:stretch>
        </p:blipFill>
        <p:spPr bwMode="auto">
          <a:xfrm>
            <a:off x="1668463" y="1971675"/>
            <a:ext cx="5807075" cy="3819525"/>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Supply Chain Macro Processes in a Firm</a:t>
            </a:r>
            <a:endParaRPr lang="en-US" sz="3800" dirty="0"/>
          </a:p>
        </p:txBody>
      </p:sp>
      <p:sp>
        <p:nvSpPr>
          <p:cNvPr id="3" name="Content Placeholder 2"/>
          <p:cNvSpPr>
            <a:spLocks noGrp="1"/>
          </p:cNvSpPr>
          <p:nvPr>
            <p:ph idx="1"/>
          </p:nvPr>
        </p:nvSpPr>
        <p:spPr/>
        <p:txBody>
          <a:bodyPr/>
          <a:lstStyle/>
          <a:p>
            <a:r>
              <a:rPr lang="en-US" sz="2200" i="1" dirty="0" smtClean="0">
                <a:solidFill>
                  <a:srgbClr val="C00000"/>
                </a:solidFill>
              </a:rPr>
              <a:t>Customer relationship management</a:t>
            </a:r>
            <a:r>
              <a:rPr lang="en-US" sz="2200" dirty="0" smtClean="0"/>
              <a:t> (CRM): all processes at the interface between the firm and its customers.</a:t>
            </a:r>
          </a:p>
          <a:p>
            <a:r>
              <a:rPr lang="en-US" sz="2200" i="1" dirty="0" smtClean="0">
                <a:solidFill>
                  <a:srgbClr val="C00000"/>
                </a:solidFill>
              </a:rPr>
              <a:t>Internal supply chain management</a:t>
            </a:r>
            <a:r>
              <a:rPr lang="en-US" sz="2200" dirty="0" smtClean="0"/>
              <a:t> (ISCM): all processes that are internal to the firm.</a:t>
            </a:r>
          </a:p>
          <a:p>
            <a:r>
              <a:rPr lang="en-US" sz="2200" i="1" dirty="0" smtClean="0">
                <a:solidFill>
                  <a:srgbClr val="C00000"/>
                </a:solidFill>
              </a:rPr>
              <a:t>Supplier relationship management</a:t>
            </a:r>
            <a:r>
              <a:rPr lang="en-US" sz="2200" dirty="0" smtClean="0"/>
              <a:t> (SRM): all processes at the interface between the firm and its suppliers.</a:t>
            </a:r>
            <a:endParaRPr lang="en-US" sz="2200" dirty="0"/>
          </a:p>
        </p:txBody>
      </p:sp>
      <p:pic>
        <p:nvPicPr>
          <p:cNvPr id="6147" name="Picture 3"/>
          <p:cNvPicPr>
            <a:picLocks noChangeAspect="1" noChangeArrowheads="1"/>
          </p:cNvPicPr>
          <p:nvPr/>
        </p:nvPicPr>
        <p:blipFill>
          <a:blip r:embed="rId2" cstate="print"/>
          <a:srcRect/>
          <a:stretch>
            <a:fillRect/>
          </a:stretch>
        </p:blipFill>
        <p:spPr bwMode="auto">
          <a:xfrm>
            <a:off x="1851025" y="4168775"/>
            <a:ext cx="5441950" cy="1851025"/>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Inventory Terms</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lot</a:t>
            </a:r>
            <a:r>
              <a:rPr lang="en-US" sz="2400" dirty="0" smtClean="0"/>
              <a:t> or </a:t>
            </a:r>
            <a:r>
              <a:rPr lang="en-US" sz="2400" i="1" dirty="0" smtClean="0">
                <a:solidFill>
                  <a:srgbClr val="C00000"/>
                </a:solidFill>
              </a:rPr>
              <a:t>batch size</a:t>
            </a:r>
            <a:r>
              <a:rPr lang="en-US" sz="2400" dirty="0" smtClean="0"/>
              <a:t> is the </a:t>
            </a:r>
            <a:r>
              <a:rPr lang="en-US" sz="2400" u="sng" dirty="0" smtClean="0"/>
              <a:t>quantity</a:t>
            </a:r>
            <a:r>
              <a:rPr lang="en-US" sz="2400" dirty="0" smtClean="0"/>
              <a:t> that a stage of a supply chain either </a:t>
            </a:r>
            <a:r>
              <a:rPr lang="en-US" sz="2400" u="sng" dirty="0" smtClean="0"/>
              <a:t>produces</a:t>
            </a:r>
            <a:r>
              <a:rPr lang="en-US" sz="2400" dirty="0" smtClean="0"/>
              <a:t> or </a:t>
            </a:r>
            <a:r>
              <a:rPr lang="en-US" sz="2400" u="sng" dirty="0" smtClean="0"/>
              <a:t>purchases</a:t>
            </a:r>
            <a:r>
              <a:rPr lang="en-US" sz="2400" dirty="0" smtClean="0"/>
              <a:t> at a time.</a:t>
            </a:r>
          </a:p>
          <a:p>
            <a:r>
              <a:rPr lang="en-US" sz="2400" dirty="0" smtClean="0"/>
              <a:t>Consider, for example, a computer store that sells an average of four printers a day. The store manager, however, orders 80 printers from the manufacturer each time he places an order. The lot or batch size in this case is </a:t>
            </a:r>
            <a:r>
              <a:rPr lang="en-US" sz="2400" i="1" dirty="0" smtClean="0">
                <a:solidFill>
                  <a:srgbClr val="C00000"/>
                </a:solidFill>
              </a:rPr>
              <a:t>80 printers</a:t>
            </a:r>
            <a:r>
              <a:rPr lang="en-US" sz="2400" dirty="0" smtClean="0"/>
              <a:t>.</a:t>
            </a:r>
          </a:p>
          <a:p>
            <a:r>
              <a:rPr lang="en-US" sz="2400" i="1" dirty="0" smtClean="0">
                <a:solidFill>
                  <a:srgbClr val="C00000"/>
                </a:solidFill>
              </a:rPr>
              <a:t>Safety inventory</a:t>
            </a:r>
            <a:r>
              <a:rPr lang="en-US" sz="2400" dirty="0" smtClean="0"/>
              <a:t> is inventory carried to satisfy demand that exceeds the amount forecast. Safety inventory is required because demand and supply are uncertain, and a product shortage may result if actual demand exceeds the forecast demand or supply is later than anticipated.</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SCM vs. </a:t>
            </a:r>
            <a:r>
              <a:rPr lang="en-US" smtClean="0"/>
              <a:t>ERP</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Supply Chain Management</a:t>
            </a:r>
            <a:r>
              <a:rPr lang="en-US" sz="2400" dirty="0" smtClean="0"/>
              <a:t> is a </a:t>
            </a:r>
            <a:r>
              <a:rPr lang="en-US" sz="2400" u="sng" dirty="0" smtClean="0"/>
              <a:t>management</a:t>
            </a:r>
            <a:r>
              <a:rPr lang="en-US" sz="2400" dirty="0" smtClean="0"/>
              <a:t> discipline (broader scope).</a:t>
            </a:r>
          </a:p>
          <a:p>
            <a:r>
              <a:rPr lang="en-US" sz="2400" dirty="0" smtClean="0"/>
              <a:t>SCM exists independently of any specific software.</a:t>
            </a:r>
          </a:p>
          <a:p>
            <a:r>
              <a:rPr lang="en-US" sz="2400" i="1" dirty="0" smtClean="0">
                <a:solidFill>
                  <a:srgbClr val="C00000"/>
                </a:solidFill>
              </a:rPr>
              <a:t>Enterprise Resource Planning</a:t>
            </a:r>
            <a:r>
              <a:rPr lang="en-US" sz="2400" dirty="0" smtClean="0"/>
              <a:t> is an integrated enterprise </a:t>
            </a:r>
            <a:r>
              <a:rPr lang="en-US" sz="2400" u="sng" dirty="0" smtClean="0"/>
              <a:t>system</a:t>
            </a:r>
            <a:r>
              <a:rPr lang="en-US" sz="2400" dirty="0" smtClean="0"/>
              <a:t> (implementation tool).</a:t>
            </a:r>
          </a:p>
          <a:p>
            <a:r>
              <a:rPr lang="en-US" sz="2400" dirty="0" smtClean="0"/>
              <a:t>ERP is therefore a technology platform, not a management discipline</a:t>
            </a:r>
            <a:r>
              <a:rPr lang="en-US" sz="2400" dirty="0" smtClean="0"/>
              <a:t>.</a:t>
            </a:r>
          </a:p>
          <a:p>
            <a:r>
              <a:rPr lang="en-US" sz="2400" smtClean="0"/>
              <a:t>SCM is a business discipline, and ERP is a software system that supports and integrates SCM processes.</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 Perspective</a:t>
            </a:r>
            <a:endParaRPr lang="en-US" dirty="0"/>
          </a:p>
        </p:txBody>
      </p:sp>
      <p:sp>
        <p:nvSpPr>
          <p:cNvPr id="3" name="Content Placeholder 2"/>
          <p:cNvSpPr>
            <a:spLocks noGrp="1"/>
          </p:cNvSpPr>
          <p:nvPr>
            <p:ph idx="1"/>
          </p:nvPr>
        </p:nvSpPr>
        <p:spPr/>
        <p:txBody>
          <a:bodyPr/>
          <a:lstStyle/>
          <a:p>
            <a:pPr>
              <a:buNone/>
            </a:pPr>
            <a:r>
              <a:rPr lang="en-US" sz="2400" dirty="0" smtClean="0"/>
              <a:t>Business Management</a:t>
            </a:r>
          </a:p>
          <a:p>
            <a:pPr>
              <a:buNone/>
            </a:pPr>
            <a:r>
              <a:rPr lang="en-US" sz="2400" dirty="0" smtClean="0"/>
              <a:t>└── Supply Chain Management (SCM)   ← management discipline</a:t>
            </a:r>
          </a:p>
          <a:p>
            <a:pPr>
              <a:buNone/>
            </a:pPr>
            <a:r>
              <a:rPr lang="en-US" sz="2400" dirty="0" smtClean="0"/>
              <a:t>    └── Supported by ERP systems    ← software/tool</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Systems Perspective</a:t>
            </a:r>
            <a:endParaRPr lang="en-US" dirty="0"/>
          </a:p>
        </p:txBody>
      </p:sp>
      <p:sp>
        <p:nvSpPr>
          <p:cNvPr id="3" name="Content Placeholder 2"/>
          <p:cNvSpPr>
            <a:spLocks noGrp="1"/>
          </p:cNvSpPr>
          <p:nvPr>
            <p:ph idx="1"/>
          </p:nvPr>
        </p:nvSpPr>
        <p:spPr/>
        <p:txBody>
          <a:bodyPr/>
          <a:lstStyle/>
          <a:p>
            <a:pPr>
              <a:buNone/>
            </a:pPr>
            <a:r>
              <a:rPr lang="en-US" sz="2400" dirty="0" smtClean="0"/>
              <a:t>ERP system</a:t>
            </a:r>
          </a:p>
          <a:p>
            <a:pPr>
              <a:buNone/>
            </a:pPr>
            <a:r>
              <a:rPr lang="en-US" sz="2400" dirty="0" smtClean="0"/>
              <a:t>├── Finance module</a:t>
            </a:r>
          </a:p>
          <a:p>
            <a:pPr>
              <a:buNone/>
            </a:pPr>
            <a:r>
              <a:rPr lang="en-US" sz="2400" dirty="0" smtClean="0"/>
              <a:t>├── HR module</a:t>
            </a:r>
          </a:p>
          <a:p>
            <a:pPr>
              <a:buNone/>
            </a:pPr>
            <a:r>
              <a:rPr lang="en-US" sz="2400" dirty="0" smtClean="0"/>
              <a:t>├── Manufacturing module</a:t>
            </a:r>
          </a:p>
          <a:p>
            <a:pPr>
              <a:buNone/>
            </a:pPr>
            <a:r>
              <a:rPr lang="en-US" sz="2400" dirty="0" smtClean="0"/>
              <a:t>└── SCM-related modules</a:t>
            </a:r>
          </a:p>
          <a:p>
            <a:pPr>
              <a:buNone/>
            </a:pPr>
            <a:r>
              <a:rPr lang="en-US" sz="2400" dirty="0" smtClean="0"/>
              <a:t>    ├── Inventory</a:t>
            </a:r>
          </a:p>
          <a:p>
            <a:pPr>
              <a:buNone/>
            </a:pPr>
            <a:r>
              <a:rPr lang="en-US" sz="2400" dirty="0" smtClean="0"/>
              <a:t>    ├── Procurement</a:t>
            </a:r>
          </a:p>
          <a:p>
            <a:pPr>
              <a:buNone/>
            </a:pPr>
            <a:r>
              <a:rPr lang="en-US" sz="2400" dirty="0" smtClean="0"/>
              <a:t>    └── Logistics</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12730</TotalTime>
  <Words>1358</Words>
  <Application>Microsoft Office PowerPoint</Application>
  <PresentationFormat>On-screen Show (4:3)</PresentationFormat>
  <Paragraphs>101</Paragraphs>
  <Slides>33</Slides>
  <Notes>1</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Supply Chain Management</vt:lpstr>
      <vt:lpstr>Objectives</vt:lpstr>
      <vt:lpstr>Contents</vt:lpstr>
      <vt:lpstr>References</vt:lpstr>
      <vt:lpstr>Functional Areas [1]</vt:lpstr>
      <vt:lpstr>Functional Areas of Operation</vt:lpstr>
      <vt:lpstr>ERP Systems</vt:lpstr>
      <vt:lpstr>Why ERP Systems?</vt:lpstr>
      <vt:lpstr>MRP Software</vt:lpstr>
      <vt:lpstr>Electronic Data Interchange</vt:lpstr>
      <vt:lpstr>Information and Material Flows in a Functional Business Model</vt:lpstr>
      <vt:lpstr>The Functional Model</vt:lpstr>
      <vt:lpstr>Information and Material Flows in a Process Business Model</vt:lpstr>
      <vt:lpstr>The Process-Oriented Model</vt:lpstr>
      <vt:lpstr>Systems Analysis and Program Development (1972)</vt:lpstr>
      <vt:lpstr>SAP R/3 (1988)</vt:lpstr>
      <vt:lpstr>Oracle (1979)</vt:lpstr>
      <vt:lpstr>SAP ERP Software</vt:lpstr>
      <vt:lpstr>Modules within the SAP ERP</vt:lpstr>
      <vt:lpstr>Slide 20</vt:lpstr>
      <vt:lpstr>Supply Chain [2]</vt:lpstr>
      <vt:lpstr>Stages of an Automotive Supply Chain</vt:lpstr>
      <vt:lpstr>The Three Flows in a Supply Chain</vt:lpstr>
      <vt:lpstr>Supply Chain Process Cycles</vt:lpstr>
      <vt:lpstr>Push/Pull Processes for the L. L. Bean Supply Chain</vt:lpstr>
      <vt:lpstr>Push/Pull Processes for Ethan Allen Supply Chain for Customized Furniture</vt:lpstr>
      <vt:lpstr>Supply Chain Macro Processes in a Firm</vt:lpstr>
      <vt:lpstr>Inventory Terms</vt:lpstr>
      <vt:lpstr>Slide 29</vt:lpstr>
      <vt:lpstr>SCM vs. ERP</vt:lpstr>
      <vt:lpstr>Management Perspective</vt:lpstr>
      <vt:lpstr>Systems Perspective</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5466</cp:revision>
  <dcterms:created xsi:type="dcterms:W3CDTF">2007-10-06T08:25:13Z</dcterms:created>
  <dcterms:modified xsi:type="dcterms:W3CDTF">2026-02-13T18:45:32Z</dcterms:modified>
</cp:coreProperties>
</file>