
<file path=[Content_Types].xml><?xml version="1.0" encoding="utf-8"?>
<Types xmlns="http://schemas.openxmlformats.org/package/2006/content-types">
  <Override PartName="/ppt/slides/slide6.xml" ContentType="application/vnd.openxmlformats-officedocument.presentationml.slide+xml"/>
  <Override PartName="/ppt/slides/slide29.xml" ContentType="application/vnd.openxmlformats-officedocument.presentationml.slide+xml"/>
  <Override PartName="/ppt/slides/slide38.xml" ContentType="application/vnd.openxmlformats-officedocument.presentationml.slide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4.xml" ContentType="application/vnd.openxmlformats-officedocument.presentationml.slide+xml"/>
  <Override PartName="/ppt/slides/slide18.xml" ContentType="application/vnd.openxmlformats-officedocument.presentationml.slide+xml"/>
  <Override PartName="/ppt/slides/slide27.xml" ContentType="application/vnd.openxmlformats-officedocument.presentationml.slide+xml"/>
  <Override PartName="/ppt/slides/slide36.xml" ContentType="application/vnd.openxmlformats-officedocument.presentationml.slide+xml"/>
  <Override PartName="/ppt/slideLayouts/slideLayout4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3.xml" ContentType="application/vnd.openxmlformats-officedocument.theme+xml"/>
  <Override PartName="/ppt/slides/slide2.xml" ContentType="application/vnd.openxmlformats-officedocument.presentationml.slide+xml"/>
  <Override PartName="/ppt/slides/slide16.xml" ContentType="application/vnd.openxmlformats-officedocument.presentationml.slide+xml"/>
  <Override PartName="/ppt/slides/slide25.xml" ContentType="application/vnd.openxmlformats-officedocument.presentationml.slide+xml"/>
  <Override PartName="/ppt/slides/slide34.xml" ContentType="application/vnd.openxmlformats-officedocument.presentationml.slide+xml"/>
  <Override PartName="/ppt/theme/theme1.xml" ContentType="application/vnd.openxmlformats-officedocument.theme+xml"/>
  <Override PartName="/ppt/slideLayouts/slideLayout2.xml" ContentType="application/vnd.openxmlformats-officedocument.presentationml.slideLayout+xml"/>
  <Default Extension="rels" ContentType="application/vnd.openxmlformats-package.relationships+xml"/>
  <Default Extension="xml" ContentType="application/xml"/>
  <Override PartName="/ppt/slides/slide14.xml" ContentType="application/vnd.openxmlformats-officedocument.presentationml.slide+xml"/>
  <Override PartName="/ppt/slides/slide23.xml" ContentType="application/vnd.openxmlformats-officedocument.presentationml.slide+xml"/>
  <Override PartName="/ppt/slides/slide32.xml" ContentType="application/vnd.openxmlformats-officedocument.presentationml.slide+xml"/>
  <Override PartName="/ppt/notesMasters/notesMaster1.xml" ContentType="application/vnd.openxmlformats-officedocument.presentationml.notesMaster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0.xml" ContentType="application/vnd.openxmlformats-officedocument.presentationml.slide+xml"/>
  <Override PartName="/ppt/tableStyles.xml" ContentType="application/vnd.openxmlformats-officedocument.presentationml.tableStyles+xml"/>
  <Override PartName="/ppt/slideLayouts/slideLayout1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handoutMasters/handoutMaster1.xml" ContentType="application/vnd.openxmlformats-officedocument.presentationml.handoutMaster+xml"/>
  <Override PartName="/ppt/viewProps.xml" ContentType="application/vnd.openxmlformats-officedocument.presentationml.viewProps+xml"/>
  <Override PartName="/ppt/slideLayouts/slideLayout9.xml" ContentType="application/vnd.openxmlformats-officedocument.presentationml.slideLayout+xml"/>
  <Override PartName="/docProps/core.xml" ContentType="application/vnd.openxmlformats-package.core-properties+xml"/>
  <Override PartName="/ppt/slides/slide5.xml" ContentType="application/vnd.openxmlformats-officedocument.presentationml.slide+xml"/>
  <Override PartName="/ppt/slides/slide19.xml" ContentType="application/vnd.openxmlformats-officedocument.presentationml.slide+xml"/>
  <Override PartName="/ppt/slides/slide28.xml" ContentType="application/vnd.openxmlformats-officedocument.presentationml.slide+xml"/>
  <Override PartName="/ppt/slides/slide39.xml" ContentType="application/vnd.openxmlformats-officedocument.presentationml.slide+xml"/>
  <Override PartName="/ppt/slideLayouts/slideLayout7.xml" ContentType="application/vnd.openxmlformats-officedocument.presentationml.slideLayout+xml"/>
  <Default Extension="png" ContentType="image/png"/>
  <Override PartName="/ppt/notesSlides/notesSlide1.xml" ContentType="application/vnd.openxmlformats-officedocument.presentationml.notesSlide+xml"/>
  <Override PartName="/ppt/slides/slide3.xml" ContentType="application/vnd.openxmlformats-officedocument.presentationml.slide+xml"/>
  <Override PartName="/ppt/slides/slide17.xml" ContentType="application/vnd.openxmlformats-officedocument.presentationml.slide+xml"/>
  <Override PartName="/ppt/slides/slide26.xml" ContentType="application/vnd.openxmlformats-officedocument.presentationml.slide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slides/slide1.xml" ContentType="application/vnd.openxmlformats-officedocument.presentationml.slide+xml"/>
  <Override PartName="/ppt/slides/slide15.xml" ContentType="application/vnd.openxmlformats-officedocument.presentationml.slide+xml"/>
  <Override PartName="/ppt/slides/slide24.xml" ContentType="application/vnd.openxmlformats-officedocument.presentationml.slide+xml"/>
  <Override PartName="/ppt/slides/slide33.xml" ContentType="application/vnd.openxmlformats-officedocument.presentationml.slide+xml"/>
  <Override PartName="/ppt/slides/slide35.xml" ContentType="application/vnd.openxmlformats-officedocument.presentationml.slide+xml"/>
  <Override PartName="/ppt/slideLayouts/slideLayout3.xml" ContentType="application/vnd.openxmlformats-officedocument.presentationml.slideLayout+xml"/>
  <Default Extension="jpeg" ContentType="image/jpeg"/>
  <Override PartName="/ppt/presentation.xml" ContentType="application/vnd.openxmlformats-officedocument.presentationml.presentation.main+xml"/>
  <Override PartName="/ppt/slides/slide13.xml" ContentType="application/vnd.openxmlformats-officedocument.presentationml.slide+xml"/>
  <Override PartName="/ppt/slides/slide22.xml" ContentType="application/vnd.openxmlformats-officedocument.presentationml.slide+xml"/>
  <Override PartName="/ppt/slides/slide31.xml" ContentType="application/vnd.openxmlformats-officedocument.presentationml.slide+xml"/>
  <Override PartName="/ppt/slideLayouts/slideLayout1.xml" ContentType="application/vnd.openxmlformats-officedocument.presentationml.slideLayout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08" r:id="rId1"/>
  </p:sldMasterIdLst>
  <p:notesMasterIdLst>
    <p:notesMasterId r:id="rId41"/>
  </p:notesMasterIdLst>
  <p:handoutMasterIdLst>
    <p:handoutMasterId r:id="rId42"/>
  </p:handoutMasterIdLst>
  <p:sldIdLst>
    <p:sldId id="256" r:id="rId2"/>
    <p:sldId id="431" r:id="rId3"/>
    <p:sldId id="460" r:id="rId4"/>
    <p:sldId id="423" r:id="rId5"/>
    <p:sldId id="597" r:id="rId6"/>
    <p:sldId id="598" r:id="rId7"/>
    <p:sldId id="599" r:id="rId8"/>
    <p:sldId id="564" r:id="rId9"/>
    <p:sldId id="565" r:id="rId10"/>
    <p:sldId id="557" r:id="rId11"/>
    <p:sldId id="601" r:id="rId12"/>
    <p:sldId id="602" r:id="rId13"/>
    <p:sldId id="603" r:id="rId14"/>
    <p:sldId id="604" r:id="rId15"/>
    <p:sldId id="600" r:id="rId16"/>
    <p:sldId id="569" r:id="rId17"/>
    <p:sldId id="596" r:id="rId18"/>
    <p:sldId id="594" r:id="rId19"/>
    <p:sldId id="595" r:id="rId20"/>
    <p:sldId id="578" r:id="rId21"/>
    <p:sldId id="544" r:id="rId22"/>
    <p:sldId id="546" r:id="rId23"/>
    <p:sldId id="545" r:id="rId24"/>
    <p:sldId id="547" r:id="rId25"/>
    <p:sldId id="523" r:id="rId26"/>
    <p:sldId id="535" r:id="rId27"/>
    <p:sldId id="538" r:id="rId28"/>
    <p:sldId id="536" r:id="rId29"/>
    <p:sldId id="537" r:id="rId30"/>
    <p:sldId id="542" r:id="rId31"/>
    <p:sldId id="524" r:id="rId32"/>
    <p:sldId id="567" r:id="rId33"/>
    <p:sldId id="572" r:id="rId34"/>
    <p:sldId id="519" r:id="rId35"/>
    <p:sldId id="521" r:id="rId36"/>
    <p:sldId id="522" r:id="rId37"/>
    <p:sldId id="512" r:id="rId38"/>
    <p:sldId id="513" r:id="rId39"/>
    <p:sldId id="343" r:id="rId40"/>
  </p:sldIdLst>
  <p:sldSz cx="9144000" cy="6858000" type="screen4x3"/>
  <p:notesSz cx="6858000" cy="9144000"/>
  <p:defaultTextStyle>
    <a:defPPr>
      <a:defRPr lang="en-US"/>
    </a:defPPr>
    <a:lvl1pPr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1pPr>
    <a:lvl2pPr marL="4572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2pPr>
    <a:lvl3pPr marL="9144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3pPr>
    <a:lvl4pPr marL="13716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4pPr>
    <a:lvl5pPr marL="18288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33CCFF"/>
  </p:clrMru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1180" autoAdjust="0"/>
    <p:restoredTop sz="94667" autoAdjust="0"/>
  </p:normalViewPr>
  <p:slideViewPr>
    <p:cSldViewPr>
      <p:cViewPr>
        <p:scale>
          <a:sx n="50" d="100"/>
          <a:sy n="50" d="100"/>
        </p:scale>
        <p:origin x="-1528" y="-40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46014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6" d="100"/>
        <a:sy n="66" d="100"/>
      </p:scale>
      <p:origin x="0" y="276"/>
    </p:cViewPr>
  </p:sorterViewPr>
  <p:gridSpacing cx="78028800" cy="780288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handoutMaster" Target="handoutMasters/handout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presProps" Target="pres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0D0DBAB-D1C9-4D1B-A41F-EB0AC0278643}" type="datetimeFigureOut">
              <a:rPr lang="en-US" smtClean="0"/>
              <a:pPr/>
              <a:t>6/12/2026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36056FB-ACC3-4B45-A768-F167A538151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1300FB1-EAA8-41B6-84E0-C0BE923892D9}" type="datetimeFigureOut">
              <a:rPr lang="en-US" smtClean="0"/>
              <a:pPr/>
              <a:t>6/12/2026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27B5DB8-A6FA-4274-AC8A-CA9D03617F69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27B5DB8-A6FA-4274-AC8A-CA9D03617F69}" type="slidenum">
              <a:rPr lang="en-US" smtClean="0"/>
              <a:pPr/>
              <a:t>11</a:t>
            </a:fld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0721B9AD-E267-41B8-AFB9-F339B3C6A571}" type="datetimeFigureOut">
              <a:rPr lang="en-US"/>
              <a:pPr>
                <a:defRPr/>
              </a:pPr>
              <a:t>6/12/2026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D12FAA6B-5534-44A2-AEB6-C3AA6AD13725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D03B7B48-E476-4875-A0CA-B0673732DFDD}" type="datetimeFigureOut">
              <a:rPr lang="en-US"/>
              <a:pPr>
                <a:defRPr/>
              </a:pPr>
              <a:t>6/12/2026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2D0A623A-42AC-4D11-AF54-DB15196F08D6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E8F0A2C2-9A3C-44C4-9D1F-47B44EB3EF12}" type="datetimeFigureOut">
              <a:rPr lang="en-US"/>
              <a:pPr>
                <a:defRPr/>
              </a:pPr>
              <a:t>6/12/2026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0738AB1B-E996-4ECC-822F-4BC1227516D2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6E352965-9852-4C5D-9CFD-AA7D7C51A3F1}" type="datetimeFigureOut">
              <a:rPr lang="en-US"/>
              <a:pPr>
                <a:defRPr/>
              </a:pPr>
              <a:t>6/12/2026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5C6D760F-B2EC-4EEB-B282-45333B115766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A2ABA97A-E8D3-4153-8AD9-0AC754381ACA}" type="datetimeFigureOut">
              <a:rPr lang="en-US"/>
              <a:pPr>
                <a:defRPr/>
              </a:pPr>
              <a:t>6/12/2026</a:t>
            </a:fld>
            <a:endParaRPr lang="en-US"/>
          </a:p>
        </p:txBody>
      </p:sp>
      <p:sp>
        <p:nvSpPr>
          <p:cNvPr id="8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D26E96F6-D03D-4FB0-942F-6504F81FF6F0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60F1E0C7-1AF5-43CF-B84A-415948674BE8}" type="datetimeFigureOut">
              <a:rPr lang="en-US"/>
              <a:pPr>
                <a:defRPr/>
              </a:pPr>
              <a:t>6/12/2026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10B45132-88B8-4DDF-85A7-99B030F49BCA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3FF2F585-6AB3-4A98-8C00-3FB0F428366B}" type="datetimeFigureOut">
              <a:rPr lang="en-US"/>
              <a:pPr>
                <a:defRPr/>
              </a:pPr>
              <a:t>6/12/2026</a:t>
            </a:fld>
            <a:endParaRPr lang="en-US"/>
          </a:p>
        </p:txBody>
      </p:sp>
      <p:sp>
        <p:nvSpPr>
          <p:cNvPr id="3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BBDEE648-0B22-4684-A888-DEB1CE6260BA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A955A04C-D082-4B30-8565-236556BDD91C}" type="datetimeFigureOut">
              <a:rPr lang="en-US"/>
              <a:pPr>
                <a:defRPr/>
              </a:pPr>
              <a:t>6/12/2026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87D6D829-2DC4-4B7D-B12C-FDD216EF07FE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 smtClean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6E43085A-46E4-429D-86C3-B3CDAC36DAFB}" type="datetimeFigureOut">
              <a:rPr lang="en-US"/>
              <a:pPr>
                <a:defRPr/>
              </a:pPr>
              <a:t>6/12/2026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E17732C7-0A09-4095-98E8-F693C2579E3C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9B0270D8-9F80-4CBC-9EEB-40BF8E1F9541}" type="datetimeFigureOut">
              <a:rPr lang="en-US"/>
              <a:pPr>
                <a:defRPr/>
              </a:pPr>
              <a:t>6/12/2026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846B142B-9F3F-466D-9D5E-77E7230DF7FC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0944C27D-6266-4BC5-9F9E-701F440BBF98}" type="datetimeFigureOut">
              <a:rPr lang="en-US"/>
              <a:pPr>
                <a:defRPr/>
              </a:pPr>
              <a:t>6/12/2026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AEC74873-7D28-4297-9E3C-7A8D1F19C832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itle Placeholder 1"/>
          <p:cNvSpPr>
            <a:spLocks noGrp="1"/>
          </p:cNvSpPr>
          <p:nvPr>
            <p:ph type="title"/>
          </p:nvPr>
        </p:nvSpPr>
        <p:spPr bwMode="auto">
          <a:xfrm>
            <a:off x="457200" y="274638"/>
            <a:ext cx="8229600" cy="1143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 smtClean="0"/>
              <a:t>Click to edit Master title style</a:t>
            </a:r>
          </a:p>
        </p:txBody>
      </p:sp>
      <p:sp>
        <p:nvSpPr>
          <p:cNvPr id="1027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457200" y="1600200"/>
            <a:ext cx="8229600" cy="45259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3A4E31BE-3B20-405B-8063-BB6777AF4DB8}" type="datetimeFigureOut">
              <a:rPr lang="en-US"/>
              <a:pPr>
                <a:defRPr/>
              </a:pPr>
              <a:t>6/12/2026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69667343-960E-49C7-A8DE-9C4E42370238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09" r:id="rId1"/>
    <p:sldLayoutId id="2147483710" r:id="rId2"/>
    <p:sldLayoutId id="2147483711" r:id="rId3"/>
    <p:sldLayoutId id="2147483712" r:id="rId4"/>
    <p:sldLayoutId id="2147483713" r:id="rId5"/>
    <p:sldLayoutId id="2147483714" r:id="rId6"/>
    <p:sldLayoutId id="2147483715" r:id="rId7"/>
    <p:sldLayoutId id="2147483716" r:id="rId8"/>
    <p:sldLayoutId id="2147483717" r:id="rId9"/>
    <p:sldLayoutId id="2147483718" r:id="rId10"/>
    <p:sldLayoutId id="2147483719" r:id="rId11"/>
  </p:sldLayoutIdLst>
  <p:txStyles>
    <p:titleStyle>
      <a:lvl1pPr algn="ctr" rtl="0" eaLnBrk="0" fontAlgn="base" hangingPunct="0"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  <a:lvl2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2pPr>
      <a:lvl3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3pPr>
      <a:lvl4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4pPr>
      <a:lvl5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5pPr>
      <a:lvl6pPr marL="4572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6pPr>
      <a:lvl7pPr marL="9144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7pPr>
      <a:lvl8pPr marL="13716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8pPr>
      <a:lvl9pPr marL="18288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hyperlink" Target="mailto:nhbien@fit.hcmus.edu.vn" TargetMode="Externa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hyperlink" Target="https://developers.openai.com/codex/cli" TargetMode="Externa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hyperlink" Target="https://opencode.ai/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hyperlink" Target="https://opencode.ai/docs/config/" TargetMode="Externa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hyperlink" Target="https://opencode.ai/docs/config/" TargetMode="Externa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hyperlink" Target="https://www.warp.dev/pricing" TargetMode="Externa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hyperlink" Target="https://kiro.dev/" TargetMode="Externa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hyperlink" Target="https://lovable.dev/" TargetMode="Externa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hyperlink" Target="https://app.emergent.sh/" TargetMode="Externa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hyperlink" Target="https://v0.dev/" TargetMode="Externa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hyperlink" Target="https://graphite.com/" TargetMode="Externa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hyperlink" Target="https://neon.com/guides/openai-codex-neon-mcp" TargetMode="External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hyperlink" Target="https://antigravity.google/download" TargetMode="External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hyperlink" Target="https://cline.bot/pricing" TargetMode="External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0" name="Title 1"/>
          <p:cNvSpPr>
            <a:spLocks noGrp="1"/>
          </p:cNvSpPr>
          <p:nvPr>
            <p:ph type="ctrTitle"/>
          </p:nvPr>
        </p:nvSpPr>
        <p:spPr>
          <a:xfrm>
            <a:off x="304800" y="2130425"/>
            <a:ext cx="8534400" cy="1470025"/>
          </a:xfrm>
        </p:spPr>
        <p:txBody>
          <a:bodyPr/>
          <a:lstStyle/>
          <a:p>
            <a:pPr eaLnBrk="1" hangingPunct="1"/>
            <a:r>
              <a:rPr lang="en-US" sz="6000" dirty="0" smtClean="0"/>
              <a:t>Other Coding Agents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 rtlCol="0">
            <a:normAutofit fontScale="40000" lnSpcReduction="20000"/>
          </a:bodyPr>
          <a:lstStyle/>
          <a:p>
            <a:pPr eaLnBrk="1" fontAlgn="auto" hangingPunct="1">
              <a:spcAft>
                <a:spcPts val="0"/>
              </a:spcAft>
              <a:defRPr/>
            </a:pPr>
            <a:r>
              <a:rPr lang="en-US" sz="5400" dirty="0" smtClean="0"/>
              <a:t>Lecturer: Ngo Huy Bien</a:t>
            </a:r>
          </a:p>
          <a:p>
            <a:pPr eaLnBrk="1" fontAlgn="auto" hangingPunct="1">
              <a:spcAft>
                <a:spcPts val="0"/>
              </a:spcAft>
              <a:defRPr/>
            </a:pPr>
            <a:r>
              <a:rPr lang="en-US" sz="4400" dirty="0" smtClean="0"/>
              <a:t>Software Engineering Department</a:t>
            </a:r>
          </a:p>
          <a:p>
            <a:pPr eaLnBrk="1" fontAlgn="auto" hangingPunct="1">
              <a:spcAft>
                <a:spcPts val="0"/>
              </a:spcAft>
              <a:defRPr/>
            </a:pPr>
            <a:r>
              <a:rPr lang="en-US" sz="4400" dirty="0" smtClean="0"/>
              <a:t>Faculty of Information Technology</a:t>
            </a:r>
          </a:p>
          <a:p>
            <a:pPr eaLnBrk="1" fontAlgn="auto" hangingPunct="1">
              <a:spcAft>
                <a:spcPts val="0"/>
              </a:spcAft>
              <a:defRPr/>
            </a:pPr>
            <a:r>
              <a:rPr lang="en-US" sz="4400" dirty="0" smtClean="0"/>
              <a:t>VNUHCM - University of Science</a:t>
            </a:r>
          </a:p>
          <a:p>
            <a:pPr eaLnBrk="1" fontAlgn="auto" hangingPunct="1">
              <a:spcAft>
                <a:spcPts val="0"/>
              </a:spcAft>
              <a:defRPr/>
            </a:pPr>
            <a:r>
              <a:rPr lang="en-US" sz="4400" dirty="0" smtClean="0"/>
              <a:t>Ho Chi Minh City, Vietnam</a:t>
            </a:r>
          </a:p>
          <a:p>
            <a:pPr eaLnBrk="1" fontAlgn="auto" hangingPunct="1">
              <a:spcAft>
                <a:spcPts val="0"/>
              </a:spcAft>
              <a:defRPr/>
            </a:pPr>
            <a:r>
              <a:rPr lang="en-US" sz="4400" dirty="0" smtClean="0">
                <a:hlinkClick r:id="rId2"/>
              </a:rPr>
              <a:t>nhbien@fit.hcmus.edu.vn</a:t>
            </a:r>
            <a:endParaRPr lang="en-US" sz="4400" dirty="0" smtClean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Objectives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1"/>
            <a:ext cx="5334000" cy="3428999"/>
          </a:xfrm>
        </p:spPr>
        <p:txBody>
          <a:bodyPr/>
          <a:lstStyle/>
          <a:p>
            <a:pPr>
              <a:buFont typeface="Wingdings" pitchFamily="2" charset="2"/>
              <a:buChar char="Ø"/>
            </a:pPr>
            <a:endParaRPr lang="en-US" sz="2400" dirty="0" smtClean="0"/>
          </a:p>
        </p:txBody>
      </p:sp>
      <p:pic>
        <p:nvPicPr>
          <p:cNvPr id="4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6019800" y="1828800"/>
            <a:ext cx="2762250" cy="21145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8" name="Picture 4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6477000" y="2438400"/>
            <a:ext cx="2390775" cy="23907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Contents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5562600" cy="4525963"/>
          </a:xfrm>
        </p:spPr>
        <p:txBody>
          <a:bodyPr/>
          <a:lstStyle/>
          <a:p>
            <a:pPr marL="571500" indent="-571500">
              <a:buFont typeface="+mj-lt"/>
              <a:buAutoNum type="romanUcPeriod"/>
            </a:pPr>
            <a:endParaRPr lang="en-US" sz="2400" dirty="0" smtClean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References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5867400" cy="4724400"/>
          </a:xfrm>
        </p:spPr>
        <p:txBody>
          <a:bodyPr/>
          <a:lstStyle/>
          <a:p>
            <a:pPr marL="457200" lvl="0" indent="-457200">
              <a:buFont typeface="+mj-lt"/>
              <a:buAutoNum type="arabicPeriod"/>
            </a:pPr>
            <a:endParaRPr lang="en-US" sz="2400" dirty="0" smtClean="0"/>
          </a:p>
        </p:txBody>
      </p:sp>
      <p:pic>
        <p:nvPicPr>
          <p:cNvPr id="4" name="Picture 4" descr="http://2.bp.blogspot.com/-FqRM_5NQE6Q/TaSdzyWfvtI/AAAAAAAAAFg/C_2LDJWJOx4/s1600/books-pile.jp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6248400" y="1676400"/>
            <a:ext cx="2724150" cy="4133850"/>
          </a:xfrm>
          <a:prstGeom prst="rect">
            <a:avLst/>
          </a:prstGeom>
          <a:noFill/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1. Install Codex CLI  on Windows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200" dirty="0" smtClean="0">
                <a:hlinkClick r:id="rId2"/>
              </a:rPr>
              <a:t>https://developers.openai.com/codex/cli</a:t>
            </a:r>
            <a:endParaRPr lang="en-US" sz="2200" dirty="0" smtClean="0"/>
          </a:p>
          <a:p>
            <a:r>
              <a:rPr lang="en-US" sz="2200" dirty="0" err="1" smtClean="0"/>
              <a:t>powershell</a:t>
            </a:r>
            <a:r>
              <a:rPr lang="en-US" sz="2200" dirty="0" smtClean="0"/>
              <a:t> -</a:t>
            </a:r>
            <a:r>
              <a:rPr lang="en-US" sz="2200" dirty="0" err="1" smtClean="0"/>
              <a:t>ExecutionPolicy</a:t>
            </a:r>
            <a:r>
              <a:rPr lang="en-US" sz="2200" dirty="0" smtClean="0"/>
              <a:t> </a:t>
            </a:r>
            <a:r>
              <a:rPr lang="en-US" sz="2200" dirty="0" err="1" smtClean="0"/>
              <a:t>ByPass</a:t>
            </a:r>
            <a:r>
              <a:rPr lang="en-US" sz="2200" dirty="0" smtClean="0"/>
              <a:t> -c "</a:t>
            </a:r>
            <a:r>
              <a:rPr lang="en-US" sz="2200" dirty="0" err="1" smtClean="0"/>
              <a:t>irm</a:t>
            </a:r>
            <a:r>
              <a:rPr lang="en-US" sz="2200" dirty="0" smtClean="0"/>
              <a:t> https://chatgpt.com/codex/install.ps1 | </a:t>
            </a:r>
            <a:r>
              <a:rPr lang="en-US" sz="2200" dirty="0" err="1" smtClean="0"/>
              <a:t>iex</a:t>
            </a:r>
            <a:r>
              <a:rPr lang="en-US" sz="2200" dirty="0" smtClean="0"/>
              <a:t>"</a:t>
            </a:r>
          </a:p>
          <a:p>
            <a:r>
              <a:rPr lang="en-US" sz="2200" dirty="0" smtClean="0"/>
              <a:t># </a:t>
            </a:r>
            <a:r>
              <a:rPr lang="en-US" sz="2200" dirty="0" err="1" smtClean="0"/>
              <a:t>npm</a:t>
            </a:r>
            <a:r>
              <a:rPr lang="en-US" sz="2200" dirty="0" smtClean="0"/>
              <a:t> </a:t>
            </a:r>
            <a:r>
              <a:rPr lang="en-US" sz="2200" dirty="0" err="1" smtClean="0"/>
              <a:t>i</a:t>
            </a:r>
            <a:r>
              <a:rPr lang="en-US" sz="2200" dirty="0" smtClean="0"/>
              <a:t> -g @</a:t>
            </a:r>
            <a:r>
              <a:rPr lang="en-US" sz="2200" dirty="0" err="1" smtClean="0"/>
              <a:t>openai</a:t>
            </a:r>
            <a:r>
              <a:rPr lang="en-US" sz="2200" dirty="0" smtClean="0"/>
              <a:t>/codex</a:t>
            </a:r>
          </a:p>
          <a:p>
            <a:r>
              <a:rPr lang="en-US" sz="2200" dirty="0" smtClean="0"/>
              <a:t># Add C:\Users\admin\AppData\Roaming\npm to PATH</a:t>
            </a:r>
          </a:p>
          <a:p>
            <a:r>
              <a:rPr lang="en-US" sz="2200" dirty="0" smtClean="0"/>
              <a:t>codex --version</a:t>
            </a:r>
          </a:p>
        </p:txBody>
      </p:sp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1828800" y="4343400"/>
            <a:ext cx="5505450" cy="165163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2. Review Code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smtClean="0"/>
              <a:t>/review</a:t>
            </a:r>
            <a:endParaRPr lang="en-US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https://lh3.ggpht.com/1IfZLL2QDSjZ0wS7sUhaMlsAOS8BBzdR3wZ1WawgRn7KZAM8nEVZYMOUM-lqQb0ikIzp=w300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276600" y="1905000"/>
            <a:ext cx="2857500" cy="2857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1. Install </a:t>
            </a:r>
            <a:r>
              <a:rPr lang="en-US" dirty="0" err="1" smtClean="0"/>
              <a:t>OpenAI</a:t>
            </a:r>
            <a:r>
              <a:rPr lang="en-US" dirty="0" smtClean="0"/>
              <a:t> Codex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1028" name="Picture 4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914400" y="2379820"/>
            <a:ext cx="7422262" cy="310658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sz="4200" dirty="0" smtClean="0"/>
              <a:t>2. Move the Codex Panel to the Right</a:t>
            </a:r>
            <a:endParaRPr lang="en-US" sz="4200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smtClean="0"/>
              <a:t>Enable the secondary sidebar:</a:t>
            </a:r>
          </a:p>
          <a:p>
            <a:pPr lvl="1"/>
            <a:r>
              <a:rPr lang="en-US" dirty="0" smtClean="0"/>
              <a:t>View &gt; Appearance &gt; Secondary Side Bar.</a:t>
            </a:r>
          </a:p>
          <a:p>
            <a:r>
              <a:rPr lang="en-US" dirty="0" smtClean="0"/>
              <a:t>Drag the Codex panel to the right side of the window.</a:t>
            </a:r>
            <a:endParaRPr lang="en-US" dirty="0"/>
          </a:p>
        </p:txBody>
      </p:sp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752600" y="4001643"/>
            <a:ext cx="5481676" cy="217055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https://lh3.ggpht.com/1IfZLL2QDSjZ0wS7sUhaMlsAOS8BBzdR3wZ1WawgRn7KZAM8nEVZYMOUM-lqQb0ikIzp=w300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276600" y="1905000"/>
            <a:ext cx="2857500" cy="2857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1. Install </a:t>
            </a:r>
            <a:r>
              <a:rPr lang="en-US" dirty="0" err="1" smtClean="0"/>
              <a:t>OpenCode</a:t>
            </a:r>
            <a:r>
              <a:rPr lang="en-US" dirty="0" smtClean="0"/>
              <a:t> on </a:t>
            </a:r>
            <a:r>
              <a:rPr lang="en-US" dirty="0" err="1" smtClean="0"/>
              <a:t>macOS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200" dirty="0" smtClean="0">
                <a:hlinkClick r:id="rId3"/>
              </a:rPr>
              <a:t>https://opencode.ai</a:t>
            </a:r>
            <a:r>
              <a:rPr lang="en-US" sz="2200" dirty="0" smtClean="0">
                <a:hlinkClick r:id="rId3"/>
              </a:rPr>
              <a:t>/</a:t>
            </a:r>
            <a:endParaRPr lang="en-US" sz="2200" dirty="0" smtClean="0"/>
          </a:p>
          <a:p>
            <a:r>
              <a:rPr lang="en-US" sz="2200" dirty="0" smtClean="0"/>
              <a:t>curl </a:t>
            </a:r>
            <a:r>
              <a:rPr lang="en-US" sz="2200" dirty="0" smtClean="0"/>
              <a:t>-</a:t>
            </a:r>
            <a:r>
              <a:rPr lang="en-US" sz="2200" dirty="0" err="1" smtClean="0"/>
              <a:t>fsSL</a:t>
            </a:r>
            <a:r>
              <a:rPr lang="en-US" sz="2200" dirty="0" smtClean="0"/>
              <a:t> https://opencode.ai/install | </a:t>
            </a:r>
            <a:r>
              <a:rPr lang="en-US" sz="2200" dirty="0" smtClean="0"/>
              <a:t>bash</a:t>
            </a:r>
          </a:p>
          <a:p>
            <a:r>
              <a:rPr lang="en-US" sz="2200" dirty="0" err="1" smtClean="0"/>
              <a:t>opencode</a:t>
            </a:r>
            <a:r>
              <a:rPr lang="en-US" sz="2200" dirty="0" smtClean="0"/>
              <a:t> --version</a:t>
            </a:r>
            <a:endParaRPr lang="en-US" sz="2200" dirty="0" smtClean="0"/>
          </a:p>
          <a:p>
            <a:endParaRPr lang="en-US" sz="2200" dirty="0" smtClean="0"/>
          </a:p>
          <a:p>
            <a:endParaRPr lang="en-US" sz="2200" dirty="0" smtClean="0"/>
          </a:p>
          <a:p>
            <a:endParaRPr lang="en-US" sz="2200" dirty="0" smtClean="0"/>
          </a:p>
          <a:p>
            <a:endParaRPr lang="en-US" sz="2200" dirty="0" smtClean="0"/>
          </a:p>
          <a:p>
            <a:r>
              <a:rPr lang="en-US" sz="2200" b="1" dirty="0" smtClean="0"/>
              <a:t># Start a local model.</a:t>
            </a:r>
          </a:p>
        </p:txBody>
      </p:sp>
      <p:pic>
        <p:nvPicPr>
          <p:cNvPr id="4" name="Picture 2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1752600" y="3067050"/>
            <a:ext cx="5514975" cy="1123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2. Create Configuration File for Using Local Model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200" dirty="0" smtClean="0">
                <a:hlinkClick r:id="rId2"/>
              </a:rPr>
              <a:t>https://opencode.ai/docs/config/</a:t>
            </a:r>
            <a:endParaRPr lang="en-US" sz="2200" dirty="0" smtClean="0"/>
          </a:p>
          <a:p>
            <a:r>
              <a:rPr lang="en-US" sz="2200" dirty="0" err="1" smtClean="0"/>
              <a:t>nano</a:t>
            </a:r>
            <a:r>
              <a:rPr lang="en-US" sz="2200" dirty="0" smtClean="0"/>
              <a:t> </a:t>
            </a:r>
            <a:r>
              <a:rPr lang="en-US" sz="2200" dirty="0" smtClean="0"/>
              <a:t>~/.</a:t>
            </a:r>
            <a:r>
              <a:rPr lang="en-US" sz="2200" dirty="0" err="1" smtClean="0"/>
              <a:t>config</a:t>
            </a:r>
            <a:r>
              <a:rPr lang="en-US" sz="2200" dirty="0" smtClean="0"/>
              <a:t>/</a:t>
            </a:r>
            <a:r>
              <a:rPr lang="en-US" sz="2200" dirty="0" err="1" smtClean="0"/>
              <a:t>opencode</a:t>
            </a:r>
            <a:r>
              <a:rPr lang="en-US" sz="2200" dirty="0" smtClean="0"/>
              <a:t>/</a:t>
            </a:r>
            <a:r>
              <a:rPr lang="en-US" sz="2200" dirty="0" err="1" smtClean="0"/>
              <a:t>opencode.json</a:t>
            </a:r>
            <a:endParaRPr lang="en-US" sz="2200" dirty="0" smtClean="0"/>
          </a:p>
          <a:p>
            <a:endParaRPr lang="en-US" sz="2200" dirty="0" smtClean="0"/>
          </a:p>
          <a:p>
            <a:endParaRPr lang="en-US" sz="2200" dirty="0" smtClean="0"/>
          </a:p>
          <a:p>
            <a:endParaRPr lang="en-US" sz="2200" dirty="0" smtClean="0"/>
          </a:p>
        </p:txBody>
      </p:sp>
      <p:sp>
        <p:nvSpPr>
          <p:cNvPr id="4" name="Rectangle 3"/>
          <p:cNvSpPr/>
          <p:nvPr/>
        </p:nvSpPr>
        <p:spPr>
          <a:xfrm>
            <a:off x="1066800" y="2755880"/>
            <a:ext cx="7162800" cy="341632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r>
              <a:rPr lang="en-US" sz="1200" dirty="0" smtClean="0"/>
              <a:t>{</a:t>
            </a:r>
          </a:p>
          <a:p>
            <a:r>
              <a:rPr lang="en-US" sz="1200" dirty="0" smtClean="0"/>
              <a:t>  "$schema": "https://opencode.ai/config.json",</a:t>
            </a:r>
          </a:p>
          <a:p>
            <a:r>
              <a:rPr lang="en-US" sz="1200" dirty="0" smtClean="0"/>
              <a:t>  "provider": {</a:t>
            </a:r>
          </a:p>
          <a:p>
            <a:r>
              <a:rPr lang="en-US" sz="1200" dirty="0" smtClean="0"/>
              <a:t>    </a:t>
            </a:r>
            <a:r>
              <a:rPr lang="en-US" sz="1200" dirty="0" smtClean="0"/>
              <a:t>"</a:t>
            </a:r>
            <a:r>
              <a:rPr lang="en-US" sz="1200" dirty="0" err="1" smtClean="0"/>
              <a:t>local_ollama</a:t>
            </a:r>
            <a:r>
              <a:rPr lang="en-US" sz="1200" dirty="0" smtClean="0"/>
              <a:t>": {</a:t>
            </a:r>
          </a:p>
          <a:p>
            <a:r>
              <a:rPr lang="en-US" sz="1200" dirty="0" smtClean="0"/>
              <a:t>      "</a:t>
            </a:r>
            <a:r>
              <a:rPr lang="en-US" sz="1200" dirty="0" err="1" smtClean="0"/>
              <a:t>npm</a:t>
            </a:r>
            <a:r>
              <a:rPr lang="en-US" sz="1200" dirty="0" smtClean="0"/>
              <a:t>": "@</a:t>
            </a:r>
            <a:r>
              <a:rPr lang="en-US" sz="1200" dirty="0" err="1" smtClean="0"/>
              <a:t>ai-sdk</a:t>
            </a:r>
            <a:r>
              <a:rPr lang="en-US" sz="1200" dirty="0" smtClean="0"/>
              <a:t>/</a:t>
            </a:r>
            <a:r>
              <a:rPr lang="en-US" sz="1200" dirty="0" err="1" smtClean="0"/>
              <a:t>openai</a:t>
            </a:r>
            <a:r>
              <a:rPr lang="en-US" sz="1200" dirty="0" smtClean="0"/>
              <a:t>-compatible",</a:t>
            </a:r>
          </a:p>
          <a:p>
            <a:r>
              <a:rPr lang="en-US" sz="1200" dirty="0" smtClean="0"/>
              <a:t>      "name": "</a:t>
            </a:r>
            <a:r>
              <a:rPr lang="en-US" sz="1200" dirty="0" err="1" smtClean="0"/>
              <a:t>Ollama</a:t>
            </a:r>
            <a:r>
              <a:rPr lang="en-US" sz="1200" dirty="0" smtClean="0"/>
              <a:t>",</a:t>
            </a:r>
          </a:p>
          <a:p>
            <a:r>
              <a:rPr lang="en-US" sz="1200" dirty="0" smtClean="0"/>
              <a:t>      "options": {</a:t>
            </a:r>
          </a:p>
          <a:p>
            <a:r>
              <a:rPr lang="en-US" sz="1200" dirty="0" smtClean="0"/>
              <a:t>        "</a:t>
            </a:r>
            <a:r>
              <a:rPr lang="en-US" sz="1200" dirty="0" err="1" smtClean="0"/>
              <a:t>baseURL</a:t>
            </a:r>
            <a:r>
              <a:rPr lang="en-US" sz="1200" dirty="0" smtClean="0"/>
              <a:t>": "http://localhost:11434/v1"</a:t>
            </a:r>
          </a:p>
          <a:p>
            <a:r>
              <a:rPr lang="en-US" sz="1200" dirty="0" smtClean="0"/>
              <a:t>      },</a:t>
            </a:r>
          </a:p>
          <a:p>
            <a:r>
              <a:rPr lang="en-US" sz="1200" dirty="0" smtClean="0"/>
              <a:t>      "models": {</a:t>
            </a:r>
          </a:p>
          <a:p>
            <a:r>
              <a:rPr lang="en-US" sz="1200" dirty="0" smtClean="0"/>
              <a:t>        "qwen3.6": {</a:t>
            </a:r>
          </a:p>
          <a:p>
            <a:r>
              <a:rPr lang="en-US" sz="1200" dirty="0" smtClean="0"/>
              <a:t>          "name": "qwen3.6"</a:t>
            </a:r>
          </a:p>
          <a:p>
            <a:r>
              <a:rPr lang="en-US" sz="1200" dirty="0" smtClean="0"/>
              <a:t>        }</a:t>
            </a:r>
          </a:p>
          <a:p>
            <a:r>
              <a:rPr lang="en-US" sz="1200" dirty="0" smtClean="0"/>
              <a:t>      }</a:t>
            </a:r>
          </a:p>
          <a:p>
            <a:r>
              <a:rPr lang="en-US" sz="1200" dirty="0" smtClean="0"/>
              <a:t>    }</a:t>
            </a:r>
          </a:p>
          <a:p>
            <a:r>
              <a:rPr lang="en-US" sz="1200" dirty="0" smtClean="0"/>
              <a:t>  },</a:t>
            </a:r>
          </a:p>
          <a:p>
            <a:r>
              <a:rPr lang="en-US" sz="1200" dirty="0" smtClean="0"/>
              <a:t>  "model": "</a:t>
            </a:r>
            <a:r>
              <a:rPr lang="en-US" sz="1200" dirty="0" err="1" smtClean="0"/>
              <a:t>ollama</a:t>
            </a:r>
            <a:r>
              <a:rPr lang="en-US" sz="1200" dirty="0" smtClean="0"/>
              <a:t>/qwen3.6"</a:t>
            </a:r>
          </a:p>
          <a:p>
            <a:r>
              <a:rPr lang="en-US" sz="1200" dirty="0" smtClean="0"/>
              <a:t>}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3. Create Configuration File for Using Remote Model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000" dirty="0" smtClean="0">
                <a:hlinkClick r:id="rId2"/>
              </a:rPr>
              <a:t>https://opencode.ai/docs/config/</a:t>
            </a:r>
            <a:endParaRPr lang="en-US" sz="2000" dirty="0" smtClean="0"/>
          </a:p>
          <a:p>
            <a:r>
              <a:rPr lang="en-US" sz="2000" dirty="0" err="1" smtClean="0"/>
              <a:t>nano</a:t>
            </a:r>
            <a:r>
              <a:rPr lang="en-US" sz="2000" dirty="0" smtClean="0"/>
              <a:t> </a:t>
            </a:r>
            <a:r>
              <a:rPr lang="en-US" sz="2000" dirty="0" smtClean="0"/>
              <a:t>~/.</a:t>
            </a:r>
            <a:r>
              <a:rPr lang="en-US" sz="2000" dirty="0" err="1" smtClean="0"/>
              <a:t>config</a:t>
            </a:r>
            <a:r>
              <a:rPr lang="en-US" sz="2000" dirty="0" smtClean="0"/>
              <a:t>/</a:t>
            </a:r>
            <a:r>
              <a:rPr lang="en-US" sz="2000" dirty="0" err="1" smtClean="0"/>
              <a:t>opencode</a:t>
            </a:r>
            <a:r>
              <a:rPr lang="en-US" sz="2000" dirty="0" smtClean="0"/>
              <a:t>/</a:t>
            </a:r>
            <a:r>
              <a:rPr lang="en-US" sz="2000" dirty="0" err="1" smtClean="0"/>
              <a:t>opencode.json</a:t>
            </a:r>
            <a:endParaRPr lang="en-US" sz="2000" dirty="0" smtClean="0"/>
          </a:p>
          <a:p>
            <a:r>
              <a:rPr lang="en-US" sz="2000" dirty="0" smtClean="0"/>
              <a:t>Claude Code: Read </a:t>
            </a:r>
            <a:r>
              <a:rPr lang="en-US" sz="2000" dirty="0" smtClean="0"/>
              <a:t>.meta and modify the </a:t>
            </a:r>
            <a:r>
              <a:rPr lang="en-US" sz="2000" dirty="0" err="1" smtClean="0"/>
              <a:t>OpenCode</a:t>
            </a:r>
            <a:r>
              <a:rPr lang="en-US" sz="2000" dirty="0" smtClean="0"/>
              <a:t> configuration file to add the model to it</a:t>
            </a:r>
            <a:r>
              <a:rPr lang="en-US" sz="2000" dirty="0" smtClean="0"/>
              <a:t>.</a:t>
            </a:r>
          </a:p>
          <a:p>
            <a:endParaRPr lang="en-US" sz="2000" dirty="0" smtClean="0"/>
          </a:p>
        </p:txBody>
      </p:sp>
      <p:sp>
        <p:nvSpPr>
          <p:cNvPr id="4" name="Rectangle 3"/>
          <p:cNvSpPr/>
          <p:nvPr/>
        </p:nvSpPr>
        <p:spPr>
          <a:xfrm>
            <a:off x="1066800" y="3352800"/>
            <a:ext cx="7162800" cy="2800767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r>
              <a:rPr lang="en-US" sz="800" dirty="0" smtClean="0"/>
              <a:t>{</a:t>
            </a:r>
          </a:p>
          <a:p>
            <a:r>
              <a:rPr lang="en-US" sz="800" dirty="0" smtClean="0"/>
              <a:t>  "$schema": "https://opencode.ai/config.json",</a:t>
            </a:r>
          </a:p>
          <a:p>
            <a:r>
              <a:rPr lang="en-US" sz="800" dirty="0" smtClean="0"/>
              <a:t>  "provider": {</a:t>
            </a:r>
          </a:p>
          <a:p>
            <a:r>
              <a:rPr lang="en-US" sz="800" dirty="0" smtClean="0"/>
              <a:t>    "</a:t>
            </a:r>
            <a:r>
              <a:rPr lang="en-US" sz="800" dirty="0" err="1" smtClean="0"/>
              <a:t>local_ollama</a:t>
            </a:r>
            <a:r>
              <a:rPr lang="en-US" sz="800" dirty="0" smtClean="0"/>
              <a:t>": {</a:t>
            </a:r>
          </a:p>
          <a:p>
            <a:r>
              <a:rPr lang="en-US" sz="800" dirty="0" smtClean="0"/>
              <a:t>...</a:t>
            </a:r>
          </a:p>
          <a:p>
            <a:r>
              <a:rPr lang="en-US" sz="800" dirty="0" smtClean="0"/>
              <a:t>    },</a:t>
            </a:r>
          </a:p>
          <a:p>
            <a:r>
              <a:rPr lang="en-US" sz="800" dirty="0" smtClean="0"/>
              <a:t>    "</a:t>
            </a:r>
            <a:r>
              <a:rPr lang="en-US" sz="800" dirty="0" err="1" smtClean="0"/>
              <a:t>remote_ollama</a:t>
            </a:r>
            <a:r>
              <a:rPr lang="en-US" sz="800" dirty="0" smtClean="0"/>
              <a:t>": {</a:t>
            </a:r>
          </a:p>
          <a:p>
            <a:r>
              <a:rPr lang="en-US" sz="800" dirty="0" smtClean="0"/>
              <a:t>      "</a:t>
            </a:r>
            <a:r>
              <a:rPr lang="en-US" sz="800" dirty="0" err="1" smtClean="0"/>
              <a:t>npm</a:t>
            </a:r>
            <a:r>
              <a:rPr lang="en-US" sz="800" dirty="0" smtClean="0"/>
              <a:t>": "@</a:t>
            </a:r>
            <a:r>
              <a:rPr lang="en-US" sz="800" dirty="0" err="1" smtClean="0"/>
              <a:t>ai-sdk</a:t>
            </a:r>
            <a:r>
              <a:rPr lang="en-US" sz="800" dirty="0" smtClean="0"/>
              <a:t>/</a:t>
            </a:r>
            <a:r>
              <a:rPr lang="en-US" sz="800" dirty="0" err="1" smtClean="0"/>
              <a:t>openai</a:t>
            </a:r>
            <a:r>
              <a:rPr lang="en-US" sz="800" dirty="0" smtClean="0"/>
              <a:t>-compatible",</a:t>
            </a:r>
          </a:p>
          <a:p>
            <a:r>
              <a:rPr lang="en-US" sz="800" dirty="0" smtClean="0"/>
              <a:t>      "name": "FIT HCMUS",</a:t>
            </a:r>
          </a:p>
          <a:p>
            <a:r>
              <a:rPr lang="en-US" sz="800" dirty="0" smtClean="0"/>
              <a:t>      "options": {</a:t>
            </a:r>
          </a:p>
          <a:p>
            <a:r>
              <a:rPr lang="en-US" sz="800" dirty="0" smtClean="0"/>
              <a:t>        "</a:t>
            </a:r>
            <a:r>
              <a:rPr lang="en-US" sz="800" dirty="0" err="1" smtClean="0"/>
              <a:t>baseURL</a:t>
            </a:r>
            <a:r>
              <a:rPr lang="en-US" sz="800" dirty="0" smtClean="0"/>
              <a:t>": "https://remote_ollama.example.com/api",</a:t>
            </a:r>
          </a:p>
          <a:p>
            <a:r>
              <a:rPr lang="en-US" sz="800" dirty="0" smtClean="0"/>
              <a:t>        "</a:t>
            </a:r>
            <a:r>
              <a:rPr lang="en-US" sz="800" dirty="0" err="1" smtClean="0"/>
              <a:t>apiKey</a:t>
            </a:r>
            <a:r>
              <a:rPr lang="en-US" sz="800" dirty="0" smtClean="0"/>
              <a:t>": "sk-95af...71b9"</a:t>
            </a:r>
          </a:p>
          <a:p>
            <a:r>
              <a:rPr lang="en-US" sz="800" dirty="0" smtClean="0"/>
              <a:t>      },</a:t>
            </a:r>
          </a:p>
          <a:p>
            <a:r>
              <a:rPr lang="en-US" sz="800" dirty="0" smtClean="0"/>
              <a:t>      "models": {</a:t>
            </a:r>
          </a:p>
          <a:p>
            <a:r>
              <a:rPr lang="en-US" sz="800" dirty="0" smtClean="0"/>
              <a:t>        "Qwen3.6-27B": {</a:t>
            </a:r>
          </a:p>
          <a:p>
            <a:r>
              <a:rPr lang="en-US" sz="800" dirty="0" smtClean="0"/>
              <a:t>          "name": "Qwen3.6-27B"</a:t>
            </a:r>
          </a:p>
          <a:p>
            <a:r>
              <a:rPr lang="en-US" sz="800" dirty="0" smtClean="0"/>
              <a:t>        }</a:t>
            </a:r>
          </a:p>
          <a:p>
            <a:r>
              <a:rPr lang="en-US" sz="800" dirty="0" smtClean="0"/>
              <a:t>      }</a:t>
            </a:r>
          </a:p>
          <a:p>
            <a:r>
              <a:rPr lang="en-US" sz="800" dirty="0" smtClean="0"/>
              <a:t>    }</a:t>
            </a:r>
          </a:p>
          <a:p>
            <a:r>
              <a:rPr lang="en-US" sz="800" dirty="0" smtClean="0"/>
              <a:t>  },</a:t>
            </a:r>
          </a:p>
          <a:p>
            <a:r>
              <a:rPr lang="en-US" sz="800" dirty="0" smtClean="0"/>
              <a:t>  "model": "</a:t>
            </a:r>
            <a:r>
              <a:rPr lang="en-US" sz="800" dirty="0" err="1" smtClean="0"/>
              <a:t>remote_ollama</a:t>
            </a:r>
            <a:r>
              <a:rPr lang="en-US" sz="800" dirty="0" smtClean="0"/>
              <a:t>/Qwen3.6-27B"</a:t>
            </a:r>
          </a:p>
          <a:p>
            <a:r>
              <a:rPr lang="en-US" sz="800" dirty="0" smtClean="0"/>
              <a:t>}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4. </a:t>
            </a:r>
            <a:r>
              <a:rPr lang="en-US" dirty="0" smtClean="0"/>
              <a:t>Open </a:t>
            </a:r>
            <a:r>
              <a:rPr lang="en-US" dirty="0" err="1" smtClean="0"/>
              <a:t>OpenCode</a:t>
            </a:r>
            <a:r>
              <a:rPr lang="en-US" dirty="0" smtClean="0"/>
              <a:t> and Ask It to Implement the </a:t>
            </a:r>
            <a:r>
              <a:rPr lang="en-US" smtClean="0"/>
              <a:t>Specification Below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1200" b="1" dirty="0" smtClean="0"/>
              <a:t>Create a prototype for an Inventory Management System with the following </a:t>
            </a:r>
            <a:r>
              <a:rPr lang="en-US" sz="1200" b="1" dirty="0" smtClean="0"/>
              <a:t>PRD:</a:t>
            </a:r>
          </a:p>
          <a:p>
            <a:endParaRPr lang="en-US" sz="1200" dirty="0" smtClean="0"/>
          </a:p>
          <a:p>
            <a:r>
              <a:rPr lang="en-US" sz="1200" dirty="0" smtClean="0"/>
              <a:t>Inventory Management System</a:t>
            </a:r>
          </a:p>
          <a:p>
            <a:endParaRPr lang="en-US" sz="1200" dirty="0" smtClean="0"/>
          </a:p>
          <a:p>
            <a:r>
              <a:rPr lang="en-US" sz="1200" dirty="0" smtClean="0"/>
              <a:t>A </a:t>
            </a:r>
            <a:r>
              <a:rPr lang="en-US" sz="1200" dirty="0" smtClean="0"/>
              <a:t>comprehensive, FDA-compliant lot tracking inventory system for pharmaceutical and laboratory environments.</a:t>
            </a:r>
          </a:p>
          <a:p>
            <a:endParaRPr lang="en-US" sz="1200" dirty="0" smtClean="0"/>
          </a:p>
          <a:p>
            <a:r>
              <a:rPr lang="en-US" sz="1200" dirty="0" smtClean="0"/>
              <a:t>## 🚀 Features</a:t>
            </a:r>
          </a:p>
          <a:p>
            <a:endParaRPr lang="en-US" sz="1200" dirty="0" smtClean="0"/>
          </a:p>
          <a:p>
            <a:r>
              <a:rPr lang="en-US" sz="1200" dirty="0" smtClean="0"/>
              <a:t>### Core Functionality</a:t>
            </a:r>
          </a:p>
          <a:p>
            <a:r>
              <a:rPr lang="en-US" sz="1200" dirty="0" smtClean="0"/>
              <a:t>- **Material Master Data Management** - Centralized material information with TG part numbers</a:t>
            </a:r>
          </a:p>
          <a:p>
            <a:r>
              <a:rPr lang="en-US" sz="1200" dirty="0" smtClean="0"/>
              <a:t>- **Lot Tracking &amp; Control** - Complete traceability from receipt to usage</a:t>
            </a:r>
          </a:p>
          <a:p>
            <a:r>
              <a:rPr lang="en-US" sz="1200" dirty="0" smtClean="0"/>
              <a:t>- **Production Batch Management** - Track production batches with full genealogy</a:t>
            </a:r>
          </a:p>
          <a:p>
            <a:r>
              <a:rPr lang="en-US" sz="1200" dirty="0" smtClean="0"/>
              <a:t>- **Quality Control Integration** - QC testing and acceptance workflows</a:t>
            </a:r>
          </a:p>
          <a:p>
            <a:r>
              <a:rPr lang="en-US" sz="1200" dirty="0" smtClean="0"/>
              <a:t>- **Label Generation &amp; Printing** - Barcode labels for materials and samples</a:t>
            </a:r>
          </a:p>
          <a:p>
            <a:r>
              <a:rPr lang="en-US" sz="1200" dirty="0" smtClean="0"/>
              <a:t>- **Comprehensive Reporting** - Advanced reporting with caching and scheduling</a:t>
            </a:r>
          </a:p>
          <a:p>
            <a:endParaRPr lang="en-US" sz="1200" dirty="0" smtClean="0"/>
          </a:p>
          <a:p>
            <a:r>
              <a:rPr lang="en-US" sz="1200" dirty="0" smtClean="0"/>
              <a:t>----------</a:t>
            </a:r>
          </a:p>
          <a:p>
            <a:endParaRPr lang="en-US" sz="1200" dirty="0" smtClean="0"/>
          </a:p>
          <a:p>
            <a:r>
              <a:rPr lang="en-US" sz="1200" b="1" dirty="0" smtClean="0"/>
              <a:t>Choose the default options for all the questions.</a:t>
            </a:r>
            <a:endParaRPr lang="en-US" sz="1200" b="1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https://lh3.ggpht.com/1IfZLL2QDSjZ0wS7sUhaMlsAOS8BBzdR3wZ1WawgRn7KZAM8nEVZYMOUM-lqQb0ikIzp=w300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276600" y="1905000"/>
            <a:ext cx="2857500" cy="2857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1. Install Warp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>
                <a:hlinkClick r:id="rId2"/>
              </a:rPr>
              <a:t>https://www.warp.dev/pricing</a:t>
            </a:r>
            <a:endParaRPr lang="en-US" sz="2400" dirty="0" smtClean="0"/>
          </a:p>
          <a:p>
            <a:endParaRPr lang="en-US" sz="2400" dirty="0"/>
          </a:p>
        </p:txBody>
      </p:sp>
      <p:pic>
        <p:nvPicPr>
          <p:cNvPr id="2050" name="Picture 2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1371600" y="2438400"/>
            <a:ext cx="6332220" cy="370078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2. Review Usage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/>
              <a:t>Settings &gt; Billing and usage &gt; Overview.</a:t>
            </a:r>
            <a:endParaRPr lang="en-US" sz="2400" dirty="0"/>
          </a:p>
        </p:txBody>
      </p:sp>
      <p:pic>
        <p:nvPicPr>
          <p:cNvPr id="1027" name="Picture 3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762000" y="2514600"/>
            <a:ext cx="7653020" cy="3048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https://lh3.ggpht.com/1IfZLL2QDSjZ0wS7sUhaMlsAOS8BBzdR3wZ1WawgRn7KZAM8nEVZYMOUM-lqQb0ikIzp=w300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276600" y="1905000"/>
            <a:ext cx="2857500" cy="2857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1. Install </a:t>
            </a:r>
            <a:r>
              <a:rPr lang="en-US" dirty="0" err="1" smtClean="0"/>
              <a:t>Kiro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>
                <a:hlinkClick r:id="rId2"/>
              </a:rPr>
              <a:t>https://kiro.dev/</a:t>
            </a:r>
            <a:endParaRPr lang="en-US" sz="2400" dirty="0" smtClean="0"/>
          </a:p>
          <a:p>
            <a:r>
              <a:rPr lang="en-US" sz="2400" dirty="0" err="1" smtClean="0"/>
              <a:t>Kiro</a:t>
            </a:r>
            <a:r>
              <a:rPr lang="en-US" sz="2400" dirty="0" smtClean="0"/>
              <a:t> is an </a:t>
            </a:r>
            <a:r>
              <a:rPr lang="en-US" sz="2400" dirty="0" err="1" smtClean="0"/>
              <a:t>agentic</a:t>
            </a:r>
            <a:r>
              <a:rPr lang="en-US" sz="2400" dirty="0" smtClean="0"/>
              <a:t> AI integrated development environment that converts natural-language specifications into structured plans, code, documentation, and tests using autonomous AI agents. </a:t>
            </a:r>
            <a:endParaRPr lang="en-US" sz="2400" dirty="0"/>
          </a:p>
        </p:txBody>
      </p:sp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3048000" y="3581400"/>
            <a:ext cx="3419475" cy="263652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https://lh3.ggpht.com/1IfZLL2QDSjZ0wS7sUhaMlsAOS8BBzdR3wZ1WawgRn7KZAM8nEVZYMOUM-lqQb0ikIzp=w300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276600" y="1905000"/>
            <a:ext cx="2857500" cy="2857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1. Create a Prototype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smtClean="0">
                <a:hlinkClick r:id="rId2"/>
              </a:rPr>
              <a:t>https://lovable.dev/</a:t>
            </a:r>
            <a:endParaRPr lang="en-US" dirty="0" smtClean="0"/>
          </a:p>
          <a:p>
            <a:endParaRPr lang="en-US" dirty="0"/>
          </a:p>
        </p:txBody>
      </p:sp>
      <p:pic>
        <p:nvPicPr>
          <p:cNvPr id="3074" name="Picture 2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990600" y="2672715"/>
            <a:ext cx="7225665" cy="334708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2. Enable Lovable Cloud</a:t>
            </a:r>
            <a:endParaRPr lang="en-US" dirty="0"/>
          </a:p>
        </p:txBody>
      </p:sp>
      <p:pic>
        <p:nvPicPr>
          <p:cNvPr id="4098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187450" y="2212975"/>
            <a:ext cx="6769100" cy="29686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3. Implement Feature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smtClean="0"/>
              <a:t>Implement Add Material</a:t>
            </a:r>
            <a:br>
              <a:rPr lang="en-US" dirty="0" smtClean="0"/>
            </a:br>
            <a:endParaRPr lang="en-US" dirty="0"/>
          </a:p>
        </p:txBody>
      </p:sp>
      <p:pic>
        <p:nvPicPr>
          <p:cNvPr id="5125" name="Picture 5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696913" y="2413000"/>
            <a:ext cx="7750175" cy="3606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4. Test the Feature</a:t>
            </a:r>
            <a:endParaRPr lang="en-US" dirty="0"/>
          </a:p>
        </p:txBody>
      </p:sp>
      <p:pic>
        <p:nvPicPr>
          <p:cNvPr id="6146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731838" y="2146300"/>
            <a:ext cx="7680325" cy="3721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https://lh3.ggpht.com/1IfZLL2QDSjZ0wS7sUhaMlsAOS8BBzdR3wZ1WawgRn7KZAM8nEVZYMOUM-lqQb0ikIzp=w300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276600" y="1905000"/>
            <a:ext cx="2857500" cy="2857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1. Create App with Emergent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smtClean="0">
                <a:hlinkClick r:id="rId2"/>
              </a:rPr>
              <a:t>https://app.emergent.sh</a:t>
            </a:r>
            <a:endParaRPr lang="en-US" dirty="0" smtClean="0"/>
          </a:p>
          <a:p>
            <a:endParaRPr lang="en-US" dirty="0"/>
          </a:p>
        </p:txBody>
      </p:sp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914400" y="2743200"/>
            <a:ext cx="7218081" cy="333169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The Two Prompts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1200" b="1" dirty="0" smtClean="0"/>
              <a:t>Create a prototype for an Inventory Management System with the following </a:t>
            </a:r>
            <a:r>
              <a:rPr lang="en-US" sz="1200" b="1" dirty="0" smtClean="0"/>
              <a:t>PRD:</a:t>
            </a:r>
          </a:p>
          <a:p>
            <a:endParaRPr lang="en-US" sz="1200" dirty="0" smtClean="0"/>
          </a:p>
          <a:p>
            <a:r>
              <a:rPr lang="en-US" sz="1200" dirty="0" smtClean="0"/>
              <a:t>Inventory Management System</a:t>
            </a:r>
          </a:p>
          <a:p>
            <a:endParaRPr lang="en-US" sz="1200" dirty="0" smtClean="0"/>
          </a:p>
          <a:p>
            <a:r>
              <a:rPr lang="en-US" sz="1200" dirty="0" smtClean="0"/>
              <a:t>A </a:t>
            </a:r>
            <a:r>
              <a:rPr lang="en-US" sz="1200" dirty="0" smtClean="0"/>
              <a:t>comprehensive, FDA-compliant lot tracking inventory system for pharmaceutical and laboratory environments.</a:t>
            </a:r>
          </a:p>
          <a:p>
            <a:endParaRPr lang="en-US" sz="1200" dirty="0" smtClean="0"/>
          </a:p>
          <a:p>
            <a:r>
              <a:rPr lang="en-US" sz="1200" dirty="0" smtClean="0"/>
              <a:t>## 🚀 Features</a:t>
            </a:r>
          </a:p>
          <a:p>
            <a:endParaRPr lang="en-US" sz="1200" dirty="0" smtClean="0"/>
          </a:p>
          <a:p>
            <a:r>
              <a:rPr lang="en-US" sz="1200" dirty="0" smtClean="0"/>
              <a:t>### Core Functionality</a:t>
            </a:r>
          </a:p>
          <a:p>
            <a:r>
              <a:rPr lang="en-US" sz="1200" dirty="0" smtClean="0"/>
              <a:t>- **Material Master Data Management** - Centralized material information with TG part numbers</a:t>
            </a:r>
          </a:p>
          <a:p>
            <a:r>
              <a:rPr lang="en-US" sz="1200" dirty="0" smtClean="0"/>
              <a:t>- **Lot Tracking &amp; Control** - Complete traceability from receipt to usage</a:t>
            </a:r>
          </a:p>
          <a:p>
            <a:r>
              <a:rPr lang="en-US" sz="1200" dirty="0" smtClean="0"/>
              <a:t>- **Production Batch Management** - Track production batches with full genealogy</a:t>
            </a:r>
          </a:p>
          <a:p>
            <a:r>
              <a:rPr lang="en-US" sz="1200" dirty="0" smtClean="0"/>
              <a:t>- **Quality Control Integration** - QC testing and acceptance workflows</a:t>
            </a:r>
          </a:p>
          <a:p>
            <a:r>
              <a:rPr lang="en-US" sz="1200" dirty="0" smtClean="0"/>
              <a:t>- **Label Generation &amp; Printing** - Barcode labels for materials and samples</a:t>
            </a:r>
          </a:p>
          <a:p>
            <a:r>
              <a:rPr lang="en-US" sz="1200" dirty="0" smtClean="0"/>
              <a:t>- **Comprehensive Reporting** - Advanced reporting with caching and scheduling</a:t>
            </a:r>
          </a:p>
          <a:p>
            <a:endParaRPr lang="en-US" sz="1200" dirty="0" smtClean="0"/>
          </a:p>
          <a:p>
            <a:r>
              <a:rPr lang="en-US" sz="1200" dirty="0" smtClean="0"/>
              <a:t>----------</a:t>
            </a:r>
          </a:p>
          <a:p>
            <a:endParaRPr lang="en-US" sz="1200" dirty="0" smtClean="0"/>
          </a:p>
          <a:p>
            <a:r>
              <a:rPr lang="en-US" sz="1200" b="1" dirty="0" smtClean="0"/>
              <a:t>Choose the default options for all the questions.</a:t>
            </a:r>
            <a:endParaRPr lang="en-US" sz="1200" b="1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2. Preview or Deploy the App</a:t>
            </a:r>
            <a:endParaRPr lang="en-US" dirty="0"/>
          </a:p>
        </p:txBody>
      </p:sp>
      <p:pic>
        <p:nvPicPr>
          <p:cNvPr id="2050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762000" y="2667000"/>
            <a:ext cx="7525043" cy="287634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3. Review the App Features</a:t>
            </a:r>
            <a:endParaRPr lang="en-US" dirty="0"/>
          </a:p>
        </p:txBody>
      </p:sp>
      <p:pic>
        <p:nvPicPr>
          <p:cNvPr id="3074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933450" y="1898650"/>
            <a:ext cx="7277100" cy="37401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https://lh3.ggpht.com/1IfZLL2QDSjZ0wS7sUhaMlsAOS8BBzdR3wZ1WawgRn7KZAM8nEVZYMOUM-lqQb0ikIzp=w300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276600" y="1905000"/>
            <a:ext cx="2857500" cy="2857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Generative UI Tools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mtClean="0">
                <a:hlinkClick r:id="rId2"/>
              </a:rPr>
              <a:t>https://v0.dev/</a:t>
            </a:r>
            <a:endParaRPr lang="en-US" smtClean="0"/>
          </a:p>
          <a:p>
            <a:endParaRPr lang="en-US"/>
          </a:p>
        </p:txBody>
      </p:sp>
      <p:pic>
        <p:nvPicPr>
          <p:cNvPr id="2050" name="Picture 2" descr="https://cdn3d.iconscout.com/3d/premium/thumb/ai-agency-core-3d-icon-png-download-12002312.png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3505200" y="3657600"/>
            <a:ext cx="2143125" cy="2143125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Code Review </a:t>
            </a:r>
            <a:r>
              <a:rPr lang="en-US" dirty="0" smtClean="0"/>
              <a:t>Tools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smtClean="0">
                <a:hlinkClick r:id="rId2"/>
              </a:rPr>
              <a:t>https://graphite.com/</a:t>
            </a:r>
            <a:endParaRPr lang="en-US" dirty="0" smtClean="0"/>
          </a:p>
          <a:p>
            <a:endParaRPr lang="en-US" dirty="0"/>
          </a:p>
        </p:txBody>
      </p:sp>
      <p:pic>
        <p:nvPicPr>
          <p:cNvPr id="2050" name="Picture 2" descr="https://cdn3d.iconscout.com/3d/premium/thumb/ai-agency-core-3d-icon-png-download-12002312.png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3505200" y="3657600"/>
            <a:ext cx="2143125" cy="2143125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Database Schema Refactoring Tools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800" dirty="0" smtClean="0">
                <a:hlinkClick r:id="rId2"/>
              </a:rPr>
              <a:t>https://neon.com/guides/openai-codex-neon-mcp</a:t>
            </a:r>
            <a:endParaRPr lang="en-US" sz="2800" dirty="0" smtClean="0"/>
          </a:p>
          <a:p>
            <a:endParaRPr lang="en-US" sz="2800" dirty="0"/>
          </a:p>
        </p:txBody>
      </p:sp>
      <p:pic>
        <p:nvPicPr>
          <p:cNvPr id="2050" name="Picture 2" descr="https://cdn3d.iconscout.com/3d/premium/thumb/ai-agency-core-3d-icon-png-download-12002312.png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3505200" y="3657600"/>
            <a:ext cx="2143125" cy="2143125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https://lh3.ggpht.com/1IfZLL2QDSjZ0wS7sUhaMlsAOS8BBzdR3wZ1WawgRn7KZAM8nEVZYMOUM-lqQb0ikIzp=w300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276600" y="1905000"/>
            <a:ext cx="2857500" cy="2857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1. Install Google Antigravity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smtClean="0">
                <a:hlinkClick r:id="rId2"/>
              </a:rPr>
              <a:t>https://antigravity.google/download</a:t>
            </a:r>
            <a:endParaRPr lang="en-US" dirty="0" smtClean="0"/>
          </a:p>
          <a:p>
            <a:endParaRPr lang="en-US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https://lh3.ggpht.com/1IfZLL2QDSjZ0wS7sUhaMlsAOS8BBzdR3wZ1WawgRn7KZAM8nEVZYMOUM-lqQb0ikIzp=w300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276600" y="1905000"/>
            <a:ext cx="2857500" cy="2857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1. Register Cline Account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smtClean="0">
                <a:hlinkClick r:id="rId2"/>
              </a:rPr>
              <a:t>https://cline.bot/pricing</a:t>
            </a:r>
            <a:endParaRPr lang="en-US" dirty="0" smtClean="0"/>
          </a:p>
          <a:p>
            <a:endParaRPr lang="en-US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2. Install Cline</a:t>
            </a:r>
            <a:endParaRPr lang="en-US" dirty="0"/>
          </a:p>
        </p:txBody>
      </p:sp>
      <p:pic>
        <p:nvPicPr>
          <p:cNvPr id="1027" name="Picture 3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320800" y="2311400"/>
            <a:ext cx="6502400" cy="26416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4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dirty="0" smtClean="0"/>
              <a:t>Thank You &amp; See You Again</a:t>
            </a:r>
          </a:p>
        </p:txBody>
      </p:sp>
      <p:pic>
        <p:nvPicPr>
          <p:cNvPr id="5" name="Content Placeholder 4"/>
          <p:cNvPicPr>
            <a:picLocks noGrp="1" noChangeAspect="1" noChangeArrowheads="1"/>
          </p:cNvPicPr>
          <p:nvPr>
            <p:ph idx="1"/>
          </p:nvPr>
        </p:nvPicPr>
        <p:blipFill>
          <a:blip r:embed="rId2" cstate="print"/>
          <a:srcRect/>
          <a:stretch>
            <a:fillRect/>
          </a:stretch>
        </p:blipFill>
        <p:spPr>
          <a:xfrm>
            <a:off x="1143000" y="1676400"/>
            <a:ext cx="6810375" cy="4525963"/>
          </a:xfrm>
          <a:noFill/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11971</TotalTime>
  <Words>795</Words>
  <Application>Microsoft Office PowerPoint</Application>
  <PresentationFormat>On-screen Show (4:3)</PresentationFormat>
  <Paragraphs>150</Paragraphs>
  <Slides>39</Slides>
  <Notes>1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39</vt:i4>
      </vt:variant>
    </vt:vector>
  </HeadingPairs>
  <TitlesOfParts>
    <vt:vector size="40" baseType="lpstr">
      <vt:lpstr>Office Theme</vt:lpstr>
      <vt:lpstr>Other Coding Agents</vt:lpstr>
      <vt:lpstr>Objectives</vt:lpstr>
      <vt:lpstr>Contents</vt:lpstr>
      <vt:lpstr>References</vt:lpstr>
      <vt:lpstr>1. Install Codex CLI  on Windows</vt:lpstr>
      <vt:lpstr>2. Review Code</vt:lpstr>
      <vt:lpstr>Slide 7</vt:lpstr>
      <vt:lpstr>1. Install OpenAI Codex</vt:lpstr>
      <vt:lpstr>2. Move the Codex Panel to the Right</vt:lpstr>
      <vt:lpstr>Slide 10</vt:lpstr>
      <vt:lpstr>1. Install OpenCode on macOS</vt:lpstr>
      <vt:lpstr>2. Create Configuration File for Using Local Model</vt:lpstr>
      <vt:lpstr>3. Create Configuration File for Using Remote Model</vt:lpstr>
      <vt:lpstr>4. Open OpenCode and Ask It to Implement the Specification Below</vt:lpstr>
      <vt:lpstr>Slide 15</vt:lpstr>
      <vt:lpstr>1. Install Warp</vt:lpstr>
      <vt:lpstr>2. Review Usage</vt:lpstr>
      <vt:lpstr>Slide 18</vt:lpstr>
      <vt:lpstr>1. Install Kiro</vt:lpstr>
      <vt:lpstr>Slide 20</vt:lpstr>
      <vt:lpstr>1. Create a Prototype</vt:lpstr>
      <vt:lpstr>2. Enable Lovable Cloud</vt:lpstr>
      <vt:lpstr>3. Implement Feature</vt:lpstr>
      <vt:lpstr>4. Test the Feature</vt:lpstr>
      <vt:lpstr>Slide 25</vt:lpstr>
      <vt:lpstr>1. Create App with Emergent</vt:lpstr>
      <vt:lpstr>The Two Prompts</vt:lpstr>
      <vt:lpstr>2. Preview or Deploy the App</vt:lpstr>
      <vt:lpstr>3. Review the App Features</vt:lpstr>
      <vt:lpstr>Slide 30</vt:lpstr>
      <vt:lpstr>Generative UI Tools</vt:lpstr>
      <vt:lpstr>Code Review Tools</vt:lpstr>
      <vt:lpstr>Database Schema Refactoring Tools</vt:lpstr>
      <vt:lpstr>Slide 34</vt:lpstr>
      <vt:lpstr>1. Install Google Antigravity</vt:lpstr>
      <vt:lpstr>Slide 36</vt:lpstr>
      <vt:lpstr>1. Register Cline Account</vt:lpstr>
      <vt:lpstr>2. Install Cline</vt:lpstr>
      <vt:lpstr>Thank You &amp; See You Again</vt:lpstr>
    </vt:vector>
  </TitlesOfParts>
  <Company>HuyBien</Company>
  <LinksUpToDate>false</LinksUpToDate>
  <SharedDoc>false</SharedDoc>
  <HyperlinksChanged>false</HyperlinksChanged>
  <AppVersion>12.0000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Slide 1</dc:title>
  <dc:creator>NgoHuyBien</dc:creator>
  <cp:lastModifiedBy>Ngo Huy Bien</cp:lastModifiedBy>
  <cp:revision>4154</cp:revision>
  <dcterms:created xsi:type="dcterms:W3CDTF">2007-10-06T08:25:13Z</dcterms:created>
  <dcterms:modified xsi:type="dcterms:W3CDTF">2026-06-12T16:55:55Z</dcterms:modified>
</cp:coreProperties>
</file>