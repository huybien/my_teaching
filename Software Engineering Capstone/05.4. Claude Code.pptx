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4"/>
  </p:notesMasterIdLst>
  <p:handoutMasterIdLst>
    <p:handoutMasterId r:id="rId55"/>
  </p:handoutMasterIdLst>
  <p:sldIdLst>
    <p:sldId id="256" r:id="rId2"/>
    <p:sldId id="431" r:id="rId3"/>
    <p:sldId id="460" r:id="rId4"/>
    <p:sldId id="423" r:id="rId5"/>
    <p:sldId id="533" r:id="rId6"/>
    <p:sldId id="518" r:id="rId7"/>
    <p:sldId id="579" r:id="rId8"/>
    <p:sldId id="574" r:id="rId9"/>
    <p:sldId id="573" r:id="rId10"/>
    <p:sldId id="575" r:id="rId11"/>
    <p:sldId id="527" r:id="rId12"/>
    <p:sldId id="528" r:id="rId13"/>
    <p:sldId id="529" r:id="rId14"/>
    <p:sldId id="588" r:id="rId15"/>
    <p:sldId id="540" r:id="rId16"/>
    <p:sldId id="589" r:id="rId17"/>
    <p:sldId id="539" r:id="rId18"/>
    <p:sldId id="541" r:id="rId19"/>
    <p:sldId id="592" r:id="rId20"/>
    <p:sldId id="591" r:id="rId21"/>
    <p:sldId id="543" r:id="rId22"/>
    <p:sldId id="550" r:id="rId23"/>
    <p:sldId id="551" r:id="rId24"/>
    <p:sldId id="555" r:id="rId25"/>
    <p:sldId id="548" r:id="rId26"/>
    <p:sldId id="558" r:id="rId27"/>
    <p:sldId id="562" r:id="rId28"/>
    <p:sldId id="566" r:id="rId29"/>
    <p:sldId id="561" r:id="rId30"/>
    <p:sldId id="570" r:id="rId31"/>
    <p:sldId id="593" r:id="rId32"/>
    <p:sldId id="594" r:id="rId33"/>
    <p:sldId id="595" r:id="rId34"/>
    <p:sldId id="596" r:id="rId35"/>
    <p:sldId id="597" r:id="rId36"/>
    <p:sldId id="598" r:id="rId37"/>
    <p:sldId id="599" r:id="rId38"/>
    <p:sldId id="600" r:id="rId39"/>
    <p:sldId id="602" r:id="rId40"/>
    <p:sldId id="604" r:id="rId41"/>
    <p:sldId id="603" r:id="rId42"/>
    <p:sldId id="605" r:id="rId43"/>
    <p:sldId id="606" r:id="rId44"/>
    <p:sldId id="607" r:id="rId45"/>
    <p:sldId id="601" r:id="rId46"/>
    <p:sldId id="609" r:id="rId47"/>
    <p:sldId id="611" r:id="rId48"/>
    <p:sldId id="608" r:id="rId49"/>
    <p:sldId id="586" r:id="rId50"/>
    <p:sldId id="583" r:id="rId51"/>
    <p:sldId id="584" r:id="rId52"/>
    <p:sldId id="343" r:id="rId5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80" autoAdjust="0"/>
    <p:restoredTop sz="94667" autoAdjust="0"/>
  </p:normalViewPr>
  <p:slideViewPr>
    <p:cSldViewPr>
      <p:cViewPr>
        <p:scale>
          <a:sx n="50" d="100"/>
          <a:sy n="50" d="100"/>
        </p:scale>
        <p:origin x="-152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00FB1-EAA8-41B6-84E0-C0BE923892D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B5DB8-A6FA-4274-AC8A-CA9D03617F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com/pric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ode.claude.com/docs/en/quickstar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claude.com/docs/en/setu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ode.claude.com/docs/en/quickstar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platform.claude.com/dashboard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platform.claude.com/settings/billing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claude.com/docs/en/microsoft-foundry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platform.claude.com/docs/en/agents-and-tools/tool-use/web-search-too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claude.ai/upgrade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platform.claude.com/docs/en/agents-and-tools/agent-skills/overview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Claude 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Claude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Buy Claude Pro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https://claude.com/pricing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Claude Code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https://code.claude.com/docs/en/quickstart</a:t>
            </a:r>
            <a:endParaRPr lang="en-US" sz="2400" dirty="0" smtClean="0"/>
          </a:p>
          <a:p>
            <a:r>
              <a:rPr lang="en-US" sz="2400" dirty="0" smtClean="0"/>
              <a:t>curl -</a:t>
            </a:r>
            <a:r>
              <a:rPr lang="en-US" sz="2400" dirty="0" err="1" smtClean="0"/>
              <a:t>fsSL</a:t>
            </a:r>
            <a:r>
              <a:rPr lang="en-US" sz="2400" dirty="0" smtClean="0"/>
              <a:t> https://claude.ai/install.cmd -o install.cmd &amp;&amp; install.cmd &amp;&amp; del install.cmd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28725" y="3200400"/>
            <a:ext cx="668655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3. Remove Claude Code on Windows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https://code.claude.com/docs/en/setup#windows-powershell-5</a:t>
            </a:r>
            <a:endParaRPr lang="en-US" sz="2400" dirty="0" smtClean="0"/>
          </a:p>
          <a:p>
            <a:r>
              <a:rPr lang="en-US" sz="2400" dirty="0" smtClean="0"/>
              <a:t>Remove-Item -Path "$</a:t>
            </a:r>
            <a:r>
              <a:rPr lang="en-US" sz="2400" dirty="0" err="1" smtClean="0"/>
              <a:t>env:USERPROFILE</a:t>
            </a:r>
            <a:r>
              <a:rPr lang="en-US" sz="2400" dirty="0" smtClean="0"/>
              <a:t>\.local\bin\claude.exe" -Force</a:t>
            </a:r>
          </a:p>
          <a:p>
            <a:r>
              <a:rPr lang="en-US" sz="2400" dirty="0" smtClean="0"/>
              <a:t>Remove-Item -Path "$</a:t>
            </a:r>
            <a:r>
              <a:rPr lang="en-US" sz="2400" dirty="0" err="1" smtClean="0"/>
              <a:t>env:USERPROFILE</a:t>
            </a:r>
            <a:r>
              <a:rPr lang="en-US" sz="2400" dirty="0" smtClean="0"/>
              <a:t>\.local\share\</a:t>
            </a:r>
            <a:r>
              <a:rPr lang="en-US" sz="2400" dirty="0" err="1" smtClean="0"/>
              <a:t>claude</a:t>
            </a:r>
            <a:r>
              <a:rPr lang="en-US" sz="2400" dirty="0" smtClean="0"/>
              <a:t>" -</a:t>
            </a:r>
            <a:r>
              <a:rPr lang="en-US" sz="2400" dirty="0" err="1" smtClean="0"/>
              <a:t>Recurse</a:t>
            </a:r>
            <a:r>
              <a:rPr lang="en-US" sz="2400" dirty="0" smtClean="0"/>
              <a:t> -Force</a:t>
            </a:r>
          </a:p>
          <a:p>
            <a:r>
              <a:rPr lang="en-US" sz="2400" dirty="0" smtClean="0"/>
              <a:t>del "%USERPROFILE%\.</a:t>
            </a:r>
            <a:r>
              <a:rPr lang="en-US" sz="2400" dirty="0" err="1" smtClean="0"/>
              <a:t>claude.json</a:t>
            </a:r>
            <a:r>
              <a:rPr lang="en-US" sz="2400" dirty="0" smtClean="0"/>
              <a:t>"</a:t>
            </a:r>
          </a:p>
          <a:p>
            <a:r>
              <a:rPr lang="en-US" sz="2400" dirty="0" smtClean="0"/>
              <a:t>del "%USERPROFILE%\.</a:t>
            </a:r>
            <a:r>
              <a:rPr lang="en-US" sz="2400" dirty="0" err="1" smtClean="0"/>
              <a:t>claude.json.backup</a:t>
            </a:r>
            <a:r>
              <a:rPr lang="en-US" sz="2400" dirty="0" smtClean="0"/>
              <a:t>"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4. Install Claude Code on Server 2016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node --version</a:t>
            </a:r>
          </a:p>
          <a:p>
            <a:r>
              <a:rPr lang="en-US" sz="2200" dirty="0" err="1" smtClean="0"/>
              <a:t>npm</a:t>
            </a:r>
            <a:r>
              <a:rPr lang="en-US" sz="2200" dirty="0" smtClean="0"/>
              <a:t> --version</a:t>
            </a:r>
          </a:p>
          <a:p>
            <a:r>
              <a:rPr lang="en-US" sz="2200" dirty="0" smtClean="0"/>
              <a:t>python --version</a:t>
            </a:r>
          </a:p>
          <a:p>
            <a:r>
              <a:rPr lang="en-US" sz="2200" dirty="0" err="1" smtClean="0"/>
              <a:t>npm</a:t>
            </a:r>
            <a:r>
              <a:rPr lang="en-US" sz="2200" dirty="0" smtClean="0"/>
              <a:t> install -g @</a:t>
            </a:r>
            <a:r>
              <a:rPr lang="en-US" sz="2200" dirty="0" err="1" smtClean="0"/>
              <a:t>anthropic-ai</a:t>
            </a:r>
            <a:r>
              <a:rPr lang="en-US" sz="2200" dirty="0" smtClean="0"/>
              <a:t>/</a:t>
            </a:r>
            <a:r>
              <a:rPr lang="en-US" sz="2200" dirty="0" err="1" smtClean="0"/>
              <a:t>claude</a:t>
            </a:r>
            <a:r>
              <a:rPr lang="en-US" sz="2200" dirty="0" smtClean="0"/>
              <a:t>-code</a:t>
            </a:r>
          </a:p>
          <a:p>
            <a:r>
              <a:rPr lang="en-US" sz="2200" dirty="0" err="1" smtClean="0"/>
              <a:t>claude</a:t>
            </a:r>
            <a:r>
              <a:rPr lang="en-US" sz="2200" dirty="0" smtClean="0"/>
              <a:t> --version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24100" y="3962400"/>
            <a:ext cx="44958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Install Claude Code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https://code.claude.com/docs/en/quickstart</a:t>
            </a:r>
            <a:endParaRPr lang="en-US" sz="2200" dirty="0" smtClean="0"/>
          </a:p>
          <a:p>
            <a:r>
              <a:rPr lang="en-US" sz="2200" dirty="0" smtClean="0"/>
              <a:t>curl -</a:t>
            </a:r>
            <a:r>
              <a:rPr lang="en-US" sz="2200" dirty="0" err="1" smtClean="0"/>
              <a:t>fsSL</a:t>
            </a:r>
            <a:r>
              <a:rPr lang="en-US" sz="2200" dirty="0" smtClean="0"/>
              <a:t> https://claude.ai/install.sh | bash</a:t>
            </a:r>
          </a:p>
          <a:p>
            <a:r>
              <a:rPr lang="en-US" sz="2200" dirty="0" smtClean="0"/>
              <a:t>echo 'export PATH="$HOME/.local/bin:$PATH"' &gt;&gt; ~/.</a:t>
            </a:r>
            <a:r>
              <a:rPr lang="en-US" sz="2200" dirty="0" err="1" smtClean="0"/>
              <a:t>zshrc</a:t>
            </a:r>
            <a:r>
              <a:rPr lang="en-US" sz="2200" dirty="0" smtClean="0"/>
              <a:t> &amp;&amp; source ~/.</a:t>
            </a:r>
            <a:r>
              <a:rPr lang="en-US" sz="2200" dirty="0" err="1" smtClean="0"/>
              <a:t>zshrc</a:t>
            </a:r>
            <a:endParaRPr lang="en-US" sz="22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6075" y="3397250"/>
            <a:ext cx="5911850" cy="285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Open Claude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cd</a:t>
            </a:r>
            <a:r>
              <a:rPr lang="en-US" dirty="0" smtClean="0"/>
              <a:t> C:\Users\admin\Downloads\inventory</a:t>
            </a:r>
          </a:p>
          <a:p>
            <a:r>
              <a:rPr lang="en-US" dirty="0" err="1" smtClean="0"/>
              <a:t>claude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Ask a 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does this project do?</a:t>
            </a:r>
          </a:p>
          <a:p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3188" y="2540000"/>
            <a:ext cx="6397625" cy="241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Add a Feature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UI for the login feature.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Log out Claude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claude</a:t>
            </a:r>
            <a:endParaRPr lang="en-US" dirty="0" smtClean="0"/>
          </a:p>
          <a:p>
            <a:r>
              <a:rPr lang="en-US" dirty="0" smtClean="0"/>
              <a:t>/logout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276600"/>
            <a:ext cx="602932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Buy Claude Credits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https://platform.claude.com/dashboard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1466" y="2412184"/>
            <a:ext cx="7474334" cy="3531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Scan Security Vulnerabilities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Check for security vulnerabilities in the source code. Search through all folders, but only analyze .NET code files. Then give me estimated API cost before proceeding.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3051654"/>
            <a:ext cx="6261422" cy="3044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Review the Result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75" y="1920875"/>
            <a:ext cx="6572250" cy="364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Review Credit Balance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https://platform.claude.com/settings/billing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3188" y="2847975"/>
            <a:ext cx="6397625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Use Azure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https://code.claude.com/docs/en/microsoft-foundry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1. Let Claude Code learn your project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&gt; /init</a:t>
            </a:r>
          </a:p>
          <a:p>
            <a:r>
              <a:rPr lang="en-US" sz="2400" dirty="0" smtClean="0"/>
              <a:t>Claude will create a CLAUDE.md file that captures how your project works—build commands, testing setup, best practices. </a:t>
            </a: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2363" y="3495675"/>
            <a:ext cx="689927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Commit the CLAUDE.md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&gt; Use </a:t>
            </a:r>
            <a:r>
              <a:rPr lang="en-US" sz="2400" b="1" dirty="0" err="1" smtClean="0"/>
              <a:t>github</a:t>
            </a:r>
            <a:r>
              <a:rPr lang="en-US" sz="2400" b="1" dirty="0" smtClean="0"/>
              <a:t> CLI to commit the CLAUDE.md file</a:t>
            </a:r>
          </a:p>
          <a:p>
            <a:r>
              <a:rPr lang="en-US" sz="2400" b="1" dirty="0" smtClean="0"/>
              <a:t>&gt; Commit and push this change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Enable Web Search Tool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https://platform.claude.com/docs/en/agents-and-tools/tool-use/web-search-tool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Claude Code for VS Code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1363" y="2181225"/>
            <a:ext cx="7661275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Purchase a Pro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>
                <a:hlinkClick r:id="rId2"/>
              </a:rPr>
              <a:t>https://claude.ai/upgrade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2667000"/>
            <a:ext cx="6313613" cy="3328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Set Up </a:t>
            </a:r>
            <a:r>
              <a:rPr lang="en-US" dirty="0" err="1" smtClean="0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Add these directories </a:t>
            </a:r>
            <a:r>
              <a:rPr lang="en-US" sz="2400" b="1" dirty="0" smtClean="0"/>
              <a:t>at the top</a:t>
            </a:r>
            <a:r>
              <a:rPr lang="en-US" sz="2400" dirty="0" smtClean="0"/>
              <a:t> in the system PATH.</a:t>
            </a:r>
          </a:p>
          <a:p>
            <a:pPr>
              <a:buNone/>
            </a:pPr>
            <a:r>
              <a:rPr lang="de-DE" sz="2400" dirty="0" smtClean="0"/>
              <a:t>	C:\Program Files\Git\usr\bin</a:t>
            </a:r>
            <a:br>
              <a:rPr lang="de-DE" sz="2400" dirty="0" smtClean="0"/>
            </a:br>
            <a:r>
              <a:rPr lang="de-DE" sz="2400" dirty="0" smtClean="0"/>
              <a:t>C:\Program Files\Git\bin</a:t>
            </a:r>
          </a:p>
          <a:p>
            <a:r>
              <a:rPr lang="en-US" sz="2400" b="1" dirty="0" smtClean="0"/>
              <a:t>where bash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i="1" dirty="0" smtClean="0"/>
              <a:t>Expected: C:\Program Files\</a:t>
            </a:r>
            <a:r>
              <a:rPr lang="en-US" sz="2400" i="1" dirty="0" err="1" smtClean="0"/>
              <a:t>Git</a:t>
            </a:r>
            <a:r>
              <a:rPr lang="en-US" sz="2400" i="1" dirty="0" smtClean="0"/>
              <a:t>\</a:t>
            </a:r>
            <a:r>
              <a:rPr lang="en-US" sz="2400" i="1" dirty="0" err="1" smtClean="0"/>
              <a:t>usr</a:t>
            </a:r>
            <a:r>
              <a:rPr lang="en-US" sz="2400" i="1" dirty="0" smtClean="0"/>
              <a:t>\bin\bash.exe</a:t>
            </a:r>
          </a:p>
          <a:p>
            <a:r>
              <a:rPr lang="en-US" sz="2400" b="1" dirty="0" smtClean="0"/>
              <a:t>bash --version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i="1" dirty="0" smtClean="0"/>
              <a:t>Expected output: GNU bash, version X.X.X</a:t>
            </a:r>
          </a:p>
          <a:p>
            <a:r>
              <a:rPr lang="en-US" sz="2400" b="1" dirty="0" err="1" smtClean="0"/>
              <a:t>setx</a:t>
            </a:r>
            <a:r>
              <a:rPr lang="en-US" sz="2400" b="1" dirty="0" smtClean="0"/>
              <a:t> CLAUDE_CODE_GIT_BASH_PATH "C:\Program Files\</a:t>
            </a:r>
            <a:r>
              <a:rPr lang="en-US" sz="2400" b="1" dirty="0" err="1" smtClean="0"/>
              <a:t>Git</a:t>
            </a:r>
            <a:r>
              <a:rPr lang="en-US" sz="2400" b="1" dirty="0" smtClean="0"/>
              <a:t>\</a:t>
            </a:r>
            <a:r>
              <a:rPr lang="en-US" sz="2400" b="1" dirty="0" err="1" smtClean="0"/>
              <a:t>usr</a:t>
            </a:r>
            <a:r>
              <a:rPr lang="en-US" sz="2400" b="1" dirty="0" smtClean="0"/>
              <a:t>\bin\bash.exe"</a:t>
            </a:r>
          </a:p>
          <a:p>
            <a:r>
              <a:rPr lang="en-US" sz="2400" dirty="0" smtClean="0"/>
              <a:t>Restart your computer.</a:t>
            </a:r>
          </a:p>
          <a:p>
            <a:r>
              <a:rPr lang="en-US" sz="2400" b="1" dirty="0" smtClean="0"/>
              <a:t>echo %CLAUDE_CODE_GIT_BASH_PATH%</a:t>
            </a:r>
          </a:p>
          <a:p>
            <a:pPr>
              <a:buNone/>
            </a:pPr>
            <a:endParaRPr lang="en-US" sz="2400" b="1" dirty="0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Set Up Claude Code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133600"/>
            <a:ext cx="6863318" cy="355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Enter Plan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Plan Mode, Claude Code explores your codebase and creates a detailed plan before editing any code.</a:t>
            </a:r>
          </a:p>
          <a:p>
            <a:r>
              <a:rPr lang="en-US" sz="2400" dirty="0" smtClean="0"/>
              <a:t>Enter Plan Mode by pressing `</a:t>
            </a:r>
            <a:r>
              <a:rPr lang="en-US" sz="2400" dirty="0" err="1" smtClean="0"/>
              <a:t>shift+tab+tab</a:t>
            </a:r>
            <a:r>
              <a:rPr lang="en-US" sz="2400" dirty="0" smtClean="0"/>
              <a:t>`.</a:t>
            </a:r>
          </a:p>
          <a:p>
            <a:r>
              <a:rPr lang="en-US" sz="2400" b="1" dirty="0" smtClean="0"/>
              <a:t>&gt; Think through how to add </a:t>
            </a:r>
            <a:r>
              <a:rPr lang="en-US" sz="2400" b="1" dirty="0" err="1" smtClean="0"/>
              <a:t>OAuth</a:t>
            </a:r>
            <a:r>
              <a:rPr lang="en-US" sz="2400" b="1" dirty="0" smtClean="0"/>
              <a:t> authentication to our app. Show the architecture, files we'll need, and implementation steps. Feel free to ask me questions.</a:t>
            </a:r>
            <a:endParaRPr lang="en-US" sz="2400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2. Write Tests First, then Implement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Claude Code can write comprehensive tests to catch edge cases early and give you confidence that the code works correctly.</a:t>
            </a:r>
          </a:p>
          <a:p>
            <a:r>
              <a:rPr lang="en-US" sz="2400" b="1" dirty="0" smtClean="0"/>
              <a:t>&gt; Write comprehensive tests for the </a:t>
            </a:r>
            <a:r>
              <a:rPr lang="en-US" sz="2400" b="1" dirty="0" err="1" smtClean="0"/>
              <a:t>OAuth</a:t>
            </a:r>
            <a:r>
              <a:rPr lang="en-US" sz="2400" b="1" dirty="0" smtClean="0"/>
              <a:t> flow - signup, login, token refresh, and error cases. Make sure they fail for now. Then, implement the </a:t>
            </a:r>
            <a:r>
              <a:rPr lang="en-US" sz="2400" b="1" dirty="0" err="1" smtClean="0"/>
              <a:t>OAuth</a:t>
            </a:r>
            <a:r>
              <a:rPr lang="en-US" sz="2400" b="1" dirty="0" smtClean="0"/>
              <a:t> system to make these tests pass.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Apply Discipline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PRD -&gt; Architecture -&gt; Code.</a:t>
            </a:r>
          </a:p>
          <a:p>
            <a:r>
              <a:rPr lang="en-US" sz="2400" dirty="0" smtClean="0"/>
              <a:t>Models -&gt; Configurations -&gt; Logic.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598066"/>
            <a:ext cx="7699930" cy="3802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 smtClean="0"/>
              <a:t>4. Understand What an Agent Searches For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What exactly did you search for?</a:t>
            </a:r>
          </a:p>
          <a:p>
            <a:r>
              <a:rPr lang="en-US" sz="2400" dirty="0" smtClean="0"/>
              <a:t>Why did you search for these terms?</a:t>
            </a:r>
          </a:p>
          <a:p>
            <a:r>
              <a:rPr lang="en-US" sz="2400" dirty="0" smtClean="0"/>
              <a:t>What if the codebase uses different conventions?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Understand Open-Ended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smtClean="0"/>
              <a:t>How will you conduct an open-ended search?</a:t>
            </a:r>
          </a:p>
          <a:p>
            <a:r>
              <a:rPr lang="en-US" sz="2000" dirty="0" smtClean="0"/>
              <a:t>How will you identify class names that suggest notes, footnotes, or references?</a:t>
            </a:r>
          </a:p>
          <a:p>
            <a:r>
              <a:rPr lang="en-US" sz="2000" dirty="0" smtClean="0"/>
              <a:t>How will you identify which HTML pages appear to be footnote-only pages rather than main content pages, based on their content length and structure?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886200"/>
            <a:ext cx="6847840" cy="2265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6. Understand Better Open-Ended Search Strategy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Ask the LLM for keywords to use in the search.</a:t>
            </a:r>
          </a:p>
          <a:p>
            <a:r>
              <a:rPr lang="en-US" sz="2000" dirty="0" smtClean="0"/>
              <a:t>Ask the LLM for search query combinations.</a:t>
            </a:r>
          </a:p>
          <a:p>
            <a:r>
              <a:rPr lang="en-US" sz="2000" dirty="0" smtClean="0"/>
              <a:t>Ask the LLM to identify patterns in the search results that relate to the problem.</a:t>
            </a:r>
          </a:p>
          <a:p>
            <a:r>
              <a:rPr lang="en-US" sz="2000" dirty="0" smtClean="0"/>
              <a:t>Ask the LLM what to do with results that contain candidate patterns.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267200"/>
            <a:ext cx="7426643" cy="1945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3505200"/>
            <a:ext cx="6824980" cy="563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Enable Auto-accept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Once Claude Code is on the right track, hit `</a:t>
            </a:r>
            <a:r>
              <a:rPr lang="en-US" sz="2400" b="1" dirty="0" err="1" smtClean="0"/>
              <a:t>shift+tab</a:t>
            </a:r>
            <a:r>
              <a:rPr lang="en-US" sz="2400" dirty="0" smtClean="0"/>
              <a:t>` to let Claude Code autonomously edit files in your directory.</a:t>
            </a:r>
          </a:p>
          <a:p>
            <a:r>
              <a:rPr lang="en-US" sz="2400" b="1" dirty="0" smtClean="0"/>
              <a:t>Pro tip:</a:t>
            </a:r>
            <a:r>
              <a:rPr lang="en-US" sz="2400" dirty="0" smtClean="0"/>
              <a:t> You can send messages anytime while Claude works and Claude adjusts course immediately.</a:t>
            </a: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9725" y="3730625"/>
            <a:ext cx="5924550" cy="167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850" y="1447800"/>
            <a:ext cx="7931150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Harness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0" y="4953000"/>
            <a:ext cx="2667000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TUI stands for Text-based User Interface (sometimes called Terminal User Interface).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Harness and Model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469254"/>
            <a:ext cx="5504930" cy="493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Hooks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00200"/>
            <a:ext cx="5529377" cy="4413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Harness and Hooks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828800"/>
            <a:ext cx="4823282" cy="4411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Example Hook Enforcing Local Tools (I)</a:t>
            </a:r>
            <a:endParaRPr lang="en-US" sz="4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828800"/>
            <a:ext cx="5793845" cy="4373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Example Hook Enforcing Local Tools (II)</a:t>
            </a:r>
            <a:endParaRPr lang="en-US" sz="4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752600"/>
            <a:ext cx="4785184" cy="4587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a Skill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claude</a:t>
            </a:r>
            <a:endParaRPr lang="en-US" sz="2400" dirty="0" smtClean="0"/>
          </a:p>
          <a:p>
            <a:r>
              <a:rPr lang="en-US" sz="2400" dirty="0" smtClean="0"/>
              <a:t>/</a:t>
            </a:r>
            <a:r>
              <a:rPr lang="en-US" sz="2400" dirty="0" err="1" smtClean="0"/>
              <a:t>plugin</a:t>
            </a:r>
            <a:r>
              <a:rPr lang="en-US" sz="2400" dirty="0" smtClean="0"/>
              <a:t> </a:t>
            </a:r>
            <a:r>
              <a:rPr lang="en-US" sz="2400" b="1" dirty="0" smtClean="0"/>
              <a:t>marketplace</a:t>
            </a:r>
            <a:r>
              <a:rPr lang="en-US" sz="2400" dirty="0" smtClean="0"/>
              <a:t> add </a:t>
            </a:r>
            <a:r>
              <a:rPr lang="en-US" sz="2400" i="1" dirty="0" smtClean="0"/>
              <a:t>Imbad0202/academic-research-skills</a:t>
            </a:r>
          </a:p>
          <a:p>
            <a:r>
              <a:rPr lang="en-US" sz="2400" dirty="0" smtClean="0"/>
              <a:t>/</a:t>
            </a:r>
            <a:r>
              <a:rPr lang="en-US" sz="2400" dirty="0" err="1" smtClean="0"/>
              <a:t>plugin</a:t>
            </a:r>
            <a:r>
              <a:rPr lang="en-US" sz="2400" dirty="0" smtClean="0"/>
              <a:t> </a:t>
            </a:r>
            <a:r>
              <a:rPr lang="en-US" sz="2400" b="1" dirty="0" smtClean="0"/>
              <a:t>install</a:t>
            </a:r>
            <a:r>
              <a:rPr lang="en-US" sz="2400" dirty="0" smtClean="0"/>
              <a:t> </a:t>
            </a:r>
            <a:r>
              <a:rPr lang="en-US" sz="2400" i="1" dirty="0" smtClean="0"/>
              <a:t>academic-research-skills</a:t>
            </a:r>
          </a:p>
          <a:p>
            <a:r>
              <a:rPr lang="en-US" sz="2400" dirty="0" smtClean="0"/>
              <a:t>/reload-</a:t>
            </a:r>
            <a:r>
              <a:rPr lang="en-US" sz="2400" dirty="0" err="1" smtClean="0"/>
              <a:t>plugins</a:t>
            </a:r>
            <a:endParaRPr lang="en-US" sz="2400" dirty="0" smtClean="0"/>
          </a:p>
          <a:p>
            <a:r>
              <a:rPr lang="en-US" sz="2400" dirty="0" smtClean="0"/>
              <a:t>/academic-research-</a:t>
            </a:r>
            <a:r>
              <a:rPr lang="en-US" sz="2400" dirty="0" err="1" smtClean="0"/>
              <a:t>skills:ars</a:t>
            </a:r>
            <a:r>
              <a:rPr lang="en-US" sz="2400" smtClean="0"/>
              <a:t>-lit-review</a:t>
            </a:r>
          </a:p>
          <a:p>
            <a:endParaRPr lang="en-US" sz="2400" smtClean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</a:t>
            </a:r>
            <a:r>
              <a:rPr lang="en-US" dirty="0" smtClean="0"/>
              <a:t>Install a </a:t>
            </a:r>
            <a:r>
              <a:rPr lang="en-US" dirty="0" smtClean="0"/>
              <a:t>Viewer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npx</a:t>
            </a:r>
            <a:r>
              <a:rPr lang="en-US" dirty="0" smtClean="0"/>
              <a:t> @</a:t>
            </a:r>
            <a:r>
              <a:rPr lang="en-US" dirty="0" err="1" smtClean="0"/>
              <a:t>kimuson</a:t>
            </a:r>
            <a:r>
              <a:rPr lang="en-US" dirty="0" smtClean="0"/>
              <a:t>/</a:t>
            </a:r>
            <a:r>
              <a:rPr lang="en-US" dirty="0" err="1" smtClean="0"/>
              <a:t>claude</a:t>
            </a:r>
            <a:r>
              <a:rPr lang="en-US" dirty="0" smtClean="0"/>
              <a:t>-code-viewer</a:t>
            </a:r>
          </a:p>
          <a:p>
            <a:r>
              <a:rPr lang="en-US" smtClean="0">
                <a:hlinkClick r:id="rId2"/>
              </a:rPr>
              <a:t>http://</a:t>
            </a:r>
            <a:r>
              <a:rPr lang="en-US" smtClean="0">
                <a:hlinkClick r:id="rId2"/>
              </a:rPr>
              <a:t>localhost:3000</a:t>
            </a:r>
            <a:r>
              <a:rPr lang="en-US" smtClean="0">
                <a:hlinkClick r:id="rId2"/>
              </a:rPr>
              <a:t>/</a:t>
            </a:r>
            <a:endParaRPr lang="en-US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Chat vs. </a:t>
            </a:r>
            <a:r>
              <a:rPr lang="fr-FR" dirty="0" err="1" smtClean="0"/>
              <a:t>Cowork</a:t>
            </a:r>
            <a:r>
              <a:rPr lang="fr-FR" dirty="0" smtClean="0"/>
              <a:t> vs. Claude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i="1" dirty="0" smtClean="0">
                <a:solidFill>
                  <a:srgbClr val="C00000"/>
                </a:solidFill>
              </a:rPr>
              <a:t>Chat</a:t>
            </a:r>
            <a:r>
              <a:rPr lang="en-US" sz="1800" dirty="0" smtClean="0"/>
              <a:t> is for quick questions, brainstorming, iterative drafting, and working through problems back and forth.</a:t>
            </a:r>
          </a:p>
          <a:p>
            <a:r>
              <a:rPr lang="en-US" sz="1800" i="1" dirty="0" err="1" smtClean="0">
                <a:solidFill>
                  <a:srgbClr val="C00000"/>
                </a:solidFill>
              </a:rPr>
              <a:t>Cowork</a:t>
            </a:r>
            <a:r>
              <a:rPr lang="en-US" sz="1800" dirty="0" smtClean="0"/>
              <a:t> is for complex or sustained work—research, analysis, and producing finished documents and deliverables—where Claude needs room to pull from multiple sources and see things through.</a:t>
            </a:r>
          </a:p>
          <a:p>
            <a:r>
              <a:rPr lang="en-US" sz="1800" dirty="0" err="1" smtClean="0"/>
              <a:t>Cowork</a:t>
            </a:r>
            <a:r>
              <a:rPr lang="en-US" sz="1800" dirty="0" smtClean="0"/>
              <a:t> = </a:t>
            </a:r>
            <a:r>
              <a:rPr lang="en-US" sz="1800" i="1" dirty="0" smtClean="0">
                <a:solidFill>
                  <a:srgbClr val="C00000"/>
                </a:solidFill>
              </a:rPr>
              <a:t>desktop app</a:t>
            </a:r>
            <a:r>
              <a:rPr lang="en-US" sz="1800" dirty="0" smtClean="0"/>
              <a:t> + local files + connectors + browser control + computer use + autonomous multi-step execution + scheduling + mobile dispatch. Mobile dispatch lets you kick off or steer a </a:t>
            </a:r>
            <a:r>
              <a:rPr lang="en-US" sz="1800" dirty="0" err="1" smtClean="0"/>
              <a:t>Cowork</a:t>
            </a:r>
            <a:r>
              <a:rPr lang="en-US" sz="1800" dirty="0" smtClean="0"/>
              <a:t> task from your phone, while the actual work runs on your desktop.</a:t>
            </a:r>
          </a:p>
          <a:p>
            <a:r>
              <a:rPr lang="en-US" sz="1800" dirty="0" smtClean="0"/>
              <a:t>Web chat answers questions turn-by-turn with your uploaded files and connectors, while </a:t>
            </a:r>
            <a:r>
              <a:rPr lang="en-US" sz="1800" dirty="0" err="1" smtClean="0"/>
              <a:t>Cowork</a:t>
            </a:r>
            <a:r>
              <a:rPr lang="en-US" sz="1800" dirty="0" smtClean="0"/>
              <a:t> takes a goal and autonomously executes multi-step work across your local files, apps, browser, and connectors on the desktop.</a:t>
            </a:r>
          </a:p>
          <a:p>
            <a:r>
              <a:rPr lang="en-US" sz="1800" i="1" dirty="0" smtClean="0">
                <a:solidFill>
                  <a:srgbClr val="C00000"/>
                </a:solidFill>
              </a:rPr>
              <a:t>Claude Code</a:t>
            </a:r>
            <a:r>
              <a:rPr lang="en-US" sz="1800" dirty="0" smtClean="0"/>
              <a:t> is for building software—writing, testing, running, and deploying code, with access to your file system and development tools.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1. Use Claude Code with Documents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/>
              <a:t>claude</a:t>
            </a:r>
            <a:endParaRPr lang="en-US" sz="2200" dirty="0" smtClean="0"/>
          </a:p>
          <a:p>
            <a:r>
              <a:rPr lang="en-US" sz="2200" dirty="0" smtClean="0"/>
              <a:t>init</a:t>
            </a:r>
          </a:p>
          <a:p>
            <a:r>
              <a:rPr lang="en-US" sz="2200" dirty="0" smtClean="0"/>
              <a:t>Which slides mention the AWS CLI?</a:t>
            </a:r>
          </a:p>
          <a:p>
            <a:r>
              <a:rPr lang="en-US" sz="2200" dirty="0" smtClean="0"/>
              <a:t>Are you sure?</a:t>
            </a:r>
            <a:endParaRPr lang="en-US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81188" y="3460750"/>
            <a:ext cx="5381625" cy="286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Enable Skills for Claude Desktop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https://platform.claude.com/docs/en/agents-and-tools/agent-skills/overview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12110</TotalTime>
  <Words>984</Words>
  <Application>Microsoft Office PowerPoint</Application>
  <PresentationFormat>On-screen Show (4:3)</PresentationFormat>
  <Paragraphs>129</Paragraphs>
  <Slides>52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Office Theme</vt:lpstr>
      <vt:lpstr>Claude Code</vt:lpstr>
      <vt:lpstr>Objectives</vt:lpstr>
      <vt:lpstr>Contents</vt:lpstr>
      <vt:lpstr>References</vt:lpstr>
      <vt:lpstr>1. Buy Claude Pro Plan</vt:lpstr>
      <vt:lpstr>2. Install Claude Code on Windows</vt:lpstr>
      <vt:lpstr>3. Remove Claude Code on Windows</vt:lpstr>
      <vt:lpstr>4. Install Claude Code on Server 2016</vt:lpstr>
      <vt:lpstr>5. Install Claude Code on macOS</vt:lpstr>
      <vt:lpstr>Slide 10</vt:lpstr>
      <vt:lpstr>1. Open Claude Code</vt:lpstr>
      <vt:lpstr>2. Ask a Question</vt:lpstr>
      <vt:lpstr>3. Add a Feature</vt:lpstr>
      <vt:lpstr>4. Log out Claude Code</vt:lpstr>
      <vt:lpstr>Slide 15</vt:lpstr>
      <vt:lpstr>1. Buy Claude Credits</vt:lpstr>
      <vt:lpstr>2. Scan Security Vulnerabilities</vt:lpstr>
      <vt:lpstr>3. Review the Result</vt:lpstr>
      <vt:lpstr>4. Review Credit Balance</vt:lpstr>
      <vt:lpstr>5. Use Azure Model</vt:lpstr>
      <vt:lpstr>Slide 21</vt:lpstr>
      <vt:lpstr>1. Let Claude Code learn your project</vt:lpstr>
      <vt:lpstr>2. Commit the CLAUDE.md file</vt:lpstr>
      <vt:lpstr>3. Enable Web Search Tool</vt:lpstr>
      <vt:lpstr>Slide 25</vt:lpstr>
      <vt:lpstr>1. Install Claude Code for VS Code</vt:lpstr>
      <vt:lpstr>2. Purchase a Pro Plan</vt:lpstr>
      <vt:lpstr>3. Set Up Git</vt:lpstr>
      <vt:lpstr>4. Set Up Claude Code</vt:lpstr>
      <vt:lpstr>Slide 30</vt:lpstr>
      <vt:lpstr>1. Enter Plan Mode</vt:lpstr>
      <vt:lpstr>2. Write Tests First, then Implement</vt:lpstr>
      <vt:lpstr>3. Apply Discipline</vt:lpstr>
      <vt:lpstr>4. Understand What an Agent Searches For</vt:lpstr>
      <vt:lpstr>5. Understand Open-Ended Search</vt:lpstr>
      <vt:lpstr>6. Understand Better Open-Ended Search Strategy</vt:lpstr>
      <vt:lpstr>7. Enable Auto-accept Mode</vt:lpstr>
      <vt:lpstr>Slide 38</vt:lpstr>
      <vt:lpstr>The Harness</vt:lpstr>
      <vt:lpstr>The Harness and Model</vt:lpstr>
      <vt:lpstr>Hooks</vt:lpstr>
      <vt:lpstr>The Harness and Hooks</vt:lpstr>
      <vt:lpstr>Example Hook Enforcing Local Tools (I)</vt:lpstr>
      <vt:lpstr>Example Hook Enforcing Local Tools (II)</vt:lpstr>
      <vt:lpstr>Slide 45</vt:lpstr>
      <vt:lpstr>1. Install a Skill</vt:lpstr>
      <vt:lpstr>2. Install a Viewer</vt:lpstr>
      <vt:lpstr>Slide 48</vt:lpstr>
      <vt:lpstr>Chat vs. Cowork vs. Claude Code</vt:lpstr>
      <vt:lpstr>1. Use Claude Code with Documents</vt:lpstr>
      <vt:lpstr>2. Enable Skills for Claude Desktop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4177</cp:revision>
  <dcterms:created xsi:type="dcterms:W3CDTF">2007-10-06T08:25:13Z</dcterms:created>
  <dcterms:modified xsi:type="dcterms:W3CDTF">2026-07-09T17:42:59Z</dcterms:modified>
</cp:coreProperties>
</file>