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handoutMasterIdLst>
    <p:handoutMasterId r:id="rId57"/>
  </p:handoutMasterIdLst>
  <p:sldIdLst>
    <p:sldId id="256" r:id="rId2"/>
    <p:sldId id="431" r:id="rId3"/>
    <p:sldId id="460" r:id="rId4"/>
    <p:sldId id="423" r:id="rId5"/>
    <p:sldId id="533" r:id="rId6"/>
    <p:sldId id="518" r:id="rId7"/>
    <p:sldId id="579" r:id="rId8"/>
    <p:sldId id="574" r:id="rId9"/>
    <p:sldId id="613" r:id="rId10"/>
    <p:sldId id="573" r:id="rId11"/>
    <p:sldId id="575" r:id="rId12"/>
    <p:sldId id="527" r:id="rId13"/>
    <p:sldId id="528" r:id="rId14"/>
    <p:sldId id="529" r:id="rId15"/>
    <p:sldId id="588" r:id="rId16"/>
    <p:sldId id="540" r:id="rId17"/>
    <p:sldId id="589" r:id="rId18"/>
    <p:sldId id="539" r:id="rId19"/>
    <p:sldId id="541" r:id="rId20"/>
    <p:sldId id="592" r:id="rId21"/>
    <p:sldId id="591" r:id="rId22"/>
    <p:sldId id="543" r:id="rId23"/>
    <p:sldId id="550" r:id="rId24"/>
    <p:sldId id="551" r:id="rId25"/>
    <p:sldId id="555" r:id="rId26"/>
    <p:sldId id="548" r:id="rId27"/>
    <p:sldId id="558" r:id="rId28"/>
    <p:sldId id="562" r:id="rId29"/>
    <p:sldId id="566" r:id="rId30"/>
    <p:sldId id="561" r:id="rId31"/>
    <p:sldId id="570" r:id="rId32"/>
    <p:sldId id="593" r:id="rId33"/>
    <p:sldId id="594" r:id="rId34"/>
    <p:sldId id="595" r:id="rId35"/>
    <p:sldId id="596" r:id="rId36"/>
    <p:sldId id="597" r:id="rId37"/>
    <p:sldId id="598" r:id="rId38"/>
    <p:sldId id="599" r:id="rId39"/>
    <p:sldId id="600" r:id="rId40"/>
    <p:sldId id="602" r:id="rId41"/>
    <p:sldId id="604" r:id="rId42"/>
    <p:sldId id="603" r:id="rId43"/>
    <p:sldId id="605" r:id="rId44"/>
    <p:sldId id="606" r:id="rId45"/>
    <p:sldId id="607" r:id="rId46"/>
    <p:sldId id="601" r:id="rId47"/>
    <p:sldId id="609" r:id="rId48"/>
    <p:sldId id="611" r:id="rId49"/>
    <p:sldId id="612" r:id="rId50"/>
    <p:sldId id="608" r:id="rId51"/>
    <p:sldId id="586" r:id="rId52"/>
    <p:sldId id="583" r:id="rId53"/>
    <p:sldId id="584" r:id="rId54"/>
    <p:sldId id="343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aude.com/pric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setup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tform.claude.com/dashboard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platform.claude.com/settings/billing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microsoft-foundry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tool-use/web-search-too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laude.ai/upgrade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rgitta410/sensors-cli" TargetMode="External"/><Relationship Id="rId2" Type="http://schemas.openxmlformats.org/officeDocument/2006/relationships/hyperlink" Target="https://martinfowler.com/articles/sensors-for-coding-agent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agent-skills/overview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Claude 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Claude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https://claude.com/pricing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Claude Code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https://code.claude.com/docs/en/quickstart</a:t>
            </a:r>
            <a:endParaRPr lang="en-US" sz="2400" dirty="0" smtClean="0"/>
          </a:p>
          <a:p>
            <a:r>
              <a:rPr lang="en-US" sz="2400" dirty="0" smtClean="0"/>
              <a:t>curl -</a:t>
            </a:r>
            <a:r>
              <a:rPr lang="en-US" sz="2400" dirty="0" err="1" smtClean="0"/>
              <a:t>fsSL</a:t>
            </a:r>
            <a:r>
              <a:rPr lang="en-US" sz="2400" dirty="0" smtClean="0"/>
              <a:t> https://claude.ai/install.cmd -o install.cmd &amp;&amp; install.cmd &amp;&amp; del install.cmd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725" y="3200400"/>
            <a:ext cx="6686550" cy="289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Remove Claude Code on Windows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https://code.claude.com/docs/en/setup#windows-powershell-5</a:t>
            </a:r>
            <a:endParaRPr lang="en-US" sz="2400" dirty="0" smtClean="0"/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\.local\bin\claude.exe" -Force</a:t>
            </a:r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\.local\share\</a:t>
            </a:r>
            <a:r>
              <a:rPr lang="en-US" sz="2400" dirty="0" err="1" smtClean="0"/>
              <a:t>claude</a:t>
            </a:r>
            <a:r>
              <a:rPr lang="en-US" sz="2400" dirty="0" smtClean="0"/>
              <a:t>" -</a:t>
            </a:r>
            <a:r>
              <a:rPr lang="en-US" sz="2400" dirty="0" err="1" smtClean="0"/>
              <a:t>Recurse</a:t>
            </a:r>
            <a:r>
              <a:rPr lang="en-US" sz="2400" dirty="0" smtClean="0"/>
              <a:t> -Force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</a:t>
            </a:r>
            <a:r>
              <a:rPr lang="en-US" sz="2400" dirty="0" smtClean="0"/>
              <a:t>"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claude.json.backup</a:t>
            </a:r>
            <a:r>
              <a:rPr lang="en-US" sz="2400" dirty="0" smtClean="0"/>
              <a:t>"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4. Install Claude Code on Server 2016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node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--version</a:t>
            </a:r>
          </a:p>
          <a:p>
            <a:r>
              <a:rPr lang="en-US" sz="2200" dirty="0" smtClean="0"/>
              <a:t>python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install -g @</a:t>
            </a:r>
            <a:r>
              <a:rPr lang="en-US" sz="2200" dirty="0" err="1" smtClean="0"/>
              <a:t>anthropic-ai</a:t>
            </a:r>
            <a:r>
              <a:rPr lang="en-US" sz="2200" dirty="0" smtClean="0"/>
              <a:t>/</a:t>
            </a:r>
            <a:r>
              <a:rPr lang="en-US" sz="2200" dirty="0" err="1" smtClean="0"/>
              <a:t>claude</a:t>
            </a:r>
            <a:r>
              <a:rPr lang="en-US" sz="2200" dirty="0" smtClean="0"/>
              <a:t>-code</a:t>
            </a:r>
          </a:p>
          <a:p>
            <a:r>
              <a:rPr lang="en-US" sz="2200" dirty="0" err="1" smtClean="0"/>
              <a:t>claude</a:t>
            </a:r>
            <a:r>
              <a:rPr lang="en-US" sz="2200" dirty="0" smtClean="0"/>
              <a:t>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4100" y="3962400"/>
            <a:ext cx="4495800" cy="2171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</a:t>
            </a:r>
            <a:r>
              <a:rPr lang="en-US" sz="3800" dirty="0" smtClean="0"/>
              <a:t>Uninstall</a:t>
            </a:r>
            <a:r>
              <a:rPr lang="en-US" sz="3800" dirty="0" smtClean="0"/>
              <a:t> </a:t>
            </a:r>
            <a:r>
              <a:rPr lang="en-US" sz="3800" dirty="0" smtClean="0"/>
              <a:t>Claude Code on Server 2016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npm</a:t>
            </a:r>
            <a:r>
              <a:rPr lang="en-US" sz="2400" dirty="0" smtClean="0"/>
              <a:t> uninstall -g @</a:t>
            </a:r>
            <a:r>
              <a:rPr lang="en-US" sz="2400" dirty="0" err="1" smtClean="0"/>
              <a:t>anthropic-ai</a:t>
            </a:r>
            <a:r>
              <a:rPr lang="en-US" sz="2400" dirty="0" smtClean="0"/>
              <a:t>/</a:t>
            </a:r>
            <a:r>
              <a:rPr lang="en-US" sz="2400" dirty="0" err="1" smtClean="0"/>
              <a:t>claude</a:t>
            </a:r>
            <a:r>
              <a:rPr lang="en-US" sz="2400" dirty="0" smtClean="0"/>
              <a:t>-code</a:t>
            </a:r>
          </a:p>
          <a:p>
            <a:r>
              <a:rPr lang="en-US" sz="2400" dirty="0" err="1" smtClean="0"/>
              <a:t>npm</a:t>
            </a:r>
            <a:r>
              <a:rPr lang="en-US" sz="2400" dirty="0" smtClean="0"/>
              <a:t> install -g @</a:t>
            </a:r>
            <a:r>
              <a:rPr lang="en-US" sz="2400" dirty="0" err="1" smtClean="0"/>
              <a:t>anthropic-ai</a:t>
            </a:r>
            <a:r>
              <a:rPr lang="en-US" sz="2400" dirty="0" smtClean="0"/>
              <a:t>/claude-code@2.1.112</a:t>
            </a:r>
            <a:endParaRPr lang="en-US" sz="22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3200400"/>
            <a:ext cx="5327650" cy="213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6. </a:t>
            </a:r>
            <a:r>
              <a:rPr lang="en-US" dirty="0" smtClean="0"/>
              <a:t>Install Claude Code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https://code.claude.com/docs/en/quickstart</a:t>
            </a:r>
            <a:endParaRPr lang="en-US" sz="2200" dirty="0" smtClean="0"/>
          </a:p>
          <a:p>
            <a:r>
              <a:rPr lang="en-US" sz="2200" dirty="0" smtClean="0"/>
              <a:t>curl 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https://claude.ai/install.sh | bash</a:t>
            </a:r>
          </a:p>
          <a:p>
            <a:r>
              <a:rPr lang="en-US" sz="2200" dirty="0" smtClean="0"/>
              <a:t>echo 'export PATH="$HOME/.local/bin:$PATH"' &gt;&gt; ~/.</a:t>
            </a:r>
            <a:r>
              <a:rPr lang="en-US" sz="2200" dirty="0" err="1" smtClean="0"/>
              <a:t>zshrc</a:t>
            </a:r>
            <a:r>
              <a:rPr lang="en-US" sz="2200" dirty="0" smtClean="0"/>
              <a:t> &amp;&amp; source ~/.</a:t>
            </a:r>
            <a:r>
              <a:rPr lang="en-US" sz="2200" dirty="0" err="1" smtClean="0"/>
              <a:t>zshrc</a:t>
            </a:r>
            <a:endParaRPr lang="en-US" sz="2200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16075" y="3397250"/>
            <a:ext cx="5911850" cy="285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cd</a:t>
            </a:r>
            <a:r>
              <a:rPr lang="en-US" dirty="0" smtClean="0"/>
              <a:t> C:\Users\admin\Downloads\inventory</a:t>
            </a:r>
          </a:p>
          <a:p>
            <a:r>
              <a:rPr lang="en-US" dirty="0" err="1" smtClean="0"/>
              <a:t>claude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Ask a Question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what does this project do?</a:t>
            </a:r>
          </a:p>
          <a:p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3188" y="2540000"/>
            <a:ext cx="6397625" cy="241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a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UI for the login feature.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Log out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claude</a:t>
            </a:r>
            <a:endParaRPr lang="en-US" dirty="0" smtClean="0"/>
          </a:p>
          <a:p>
            <a:r>
              <a:rPr lang="en-US" dirty="0" smtClean="0"/>
              <a:t>/logout</a:t>
            </a:r>
          </a:p>
          <a:p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276600"/>
            <a:ext cx="602932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Credits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https://platform.claude.com/dashboard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1466" y="2412184"/>
            <a:ext cx="7474334" cy="3531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Scan Security Vulnerabilities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Check for security vulnerabilities in the source code. Search through all folders, but only analyze .NET code files. Then give me estimated API cost before proceeding.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051654"/>
            <a:ext cx="6261422" cy="3044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Result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85875" y="1920875"/>
            <a:ext cx="657225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Credit Balance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https://platform.claude.com/settings/billing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3188" y="2847975"/>
            <a:ext cx="6397625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Use Azure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https://code.claude.com/docs/en/microsoft-foundry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Let Claude Code learn your project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/init</a:t>
            </a:r>
          </a:p>
          <a:p>
            <a:r>
              <a:rPr lang="en-US" sz="2400" dirty="0" smtClean="0"/>
              <a:t>Claude will create a CLAUDE.md file that captures how your project works—build commands, testing setup, best practices. 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2363" y="3495675"/>
            <a:ext cx="6899275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Commit the CLAUDE.md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Use </a:t>
            </a:r>
            <a:r>
              <a:rPr lang="en-US" sz="2400" b="1" dirty="0" err="1" smtClean="0"/>
              <a:t>github</a:t>
            </a:r>
            <a:r>
              <a:rPr lang="en-US" sz="2400" b="1" dirty="0" smtClean="0"/>
              <a:t> CLI to commit the CLAUDE.md file</a:t>
            </a:r>
          </a:p>
          <a:p>
            <a:r>
              <a:rPr lang="en-US" sz="2400" b="1" dirty="0" smtClean="0"/>
              <a:t>&gt; Commit and push this change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Web Search Tool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https://platform.claude.com/docs/en/agents-and-tools/tool-use/web-search-tool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Claude Code for VS Code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181225"/>
            <a:ext cx="7661275" cy="3152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Purchase a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 smtClean="0">
                <a:hlinkClick r:id="rId2"/>
              </a:rPr>
              <a:t>https://claude.ai/upgrade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2667000"/>
            <a:ext cx="6313613" cy="3328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Set Up </a:t>
            </a:r>
            <a:r>
              <a:rPr lang="en-US" dirty="0" err="1" smtClean="0"/>
              <a:t>Git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 these directories </a:t>
            </a:r>
            <a:r>
              <a:rPr lang="en-US" sz="2400" b="1" dirty="0" smtClean="0"/>
              <a:t>at the top</a:t>
            </a:r>
            <a:r>
              <a:rPr lang="en-US" sz="2400" dirty="0" smtClean="0"/>
              <a:t> in the system PATH.</a:t>
            </a:r>
          </a:p>
          <a:p>
            <a:pPr>
              <a:buNone/>
            </a:pPr>
            <a:r>
              <a:rPr lang="de-DE" sz="2400" dirty="0" smtClean="0"/>
              <a:t>	C:\Program Files\Git\usr\bin</a:t>
            </a:r>
            <a:br>
              <a:rPr lang="de-DE" sz="2400" dirty="0" smtClean="0"/>
            </a:br>
            <a:r>
              <a:rPr lang="de-DE" sz="2400" dirty="0" smtClean="0"/>
              <a:t>C:\Program Files\Git\bin</a:t>
            </a:r>
          </a:p>
          <a:p>
            <a:r>
              <a:rPr lang="en-US" sz="2400" b="1" dirty="0" smtClean="0"/>
              <a:t>where bash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Expected: C:\Program Files\</a:t>
            </a:r>
            <a:r>
              <a:rPr lang="en-US" sz="2400" i="1" dirty="0" err="1" smtClean="0"/>
              <a:t>Git</a:t>
            </a:r>
            <a:r>
              <a:rPr lang="en-US" sz="2400" i="1" dirty="0" smtClean="0"/>
              <a:t>\</a:t>
            </a:r>
            <a:r>
              <a:rPr lang="en-US" sz="2400" i="1" dirty="0" err="1" smtClean="0"/>
              <a:t>usr</a:t>
            </a:r>
            <a:r>
              <a:rPr lang="en-US" sz="2400" i="1" dirty="0" smtClean="0"/>
              <a:t>\bin\bash.exe</a:t>
            </a:r>
          </a:p>
          <a:p>
            <a:r>
              <a:rPr lang="en-US" sz="2400" b="1" dirty="0" smtClean="0"/>
              <a:t>bash --version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 output: GNU bash, version X.X.X</a:t>
            </a:r>
          </a:p>
          <a:p>
            <a:r>
              <a:rPr lang="en-US" sz="2400" b="1" dirty="0" err="1" smtClean="0"/>
              <a:t>setx</a:t>
            </a:r>
            <a:r>
              <a:rPr lang="en-US" sz="2400" b="1" dirty="0" smtClean="0"/>
              <a:t> CLAUDE_CODE_GIT_BASH_PATH "C:\Program Files\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\</a:t>
            </a:r>
            <a:r>
              <a:rPr lang="en-US" sz="2400" b="1" dirty="0" err="1" smtClean="0"/>
              <a:t>usr</a:t>
            </a:r>
            <a:r>
              <a:rPr lang="en-US" sz="2400" b="1" dirty="0" smtClean="0"/>
              <a:t>\bin\bash.exe"</a:t>
            </a:r>
          </a:p>
          <a:p>
            <a:r>
              <a:rPr lang="en-US" sz="2400" dirty="0" smtClean="0"/>
              <a:t>Restart your computer.</a:t>
            </a:r>
          </a:p>
          <a:p>
            <a:r>
              <a:rPr lang="en-US" sz="2400" b="1" dirty="0" smtClean="0"/>
              <a:t>echo %CLAUDE_CODE_GIT_BASH_PATH%</a:t>
            </a:r>
          </a:p>
          <a:p>
            <a:pPr>
              <a:buNone/>
            </a:pPr>
            <a:endParaRPr lang="en-US" sz="2400" b="1" dirty="0" smtClean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Up Claude Code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133600"/>
            <a:ext cx="6863318" cy="3551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Enter Plan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Plan Mode, Claude Code explores your codebase and creates a detailed plan before editing any code.</a:t>
            </a:r>
          </a:p>
          <a:p>
            <a:r>
              <a:rPr lang="en-US" sz="2400" dirty="0" smtClean="0"/>
              <a:t>Enter Plan Mode by pressing `</a:t>
            </a:r>
            <a:r>
              <a:rPr lang="en-US" sz="2400" dirty="0" err="1" smtClean="0"/>
              <a:t>shift+tab+tab</a:t>
            </a:r>
            <a:r>
              <a:rPr lang="en-US" sz="2400" dirty="0" smtClean="0"/>
              <a:t>`.</a:t>
            </a:r>
          </a:p>
          <a:p>
            <a:r>
              <a:rPr lang="en-US" sz="2400" b="1" dirty="0" smtClean="0"/>
              <a:t>&gt; Think through how to add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authentication to our app. Show the architecture, files we'll need, and implementation steps. Feel free to ask me questions.</a:t>
            </a:r>
            <a:endParaRPr lang="en-US" sz="2400" b="1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Write Tests First, then Implement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Claude Code can write comprehensive tests to catch edge cases early and give you confidence that the code works correctly.</a:t>
            </a:r>
          </a:p>
          <a:p>
            <a:r>
              <a:rPr lang="en-US" sz="2400" b="1" dirty="0" smtClean="0"/>
              <a:t>&gt; Write comprehensive tests for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flow - signup, login, token refresh, and error cases. Make sure they fail for now. Then, implement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system to make these tests pass.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Apply Discipline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PRD -&gt; Architecture -&gt; Code.</a:t>
            </a:r>
          </a:p>
          <a:p>
            <a:r>
              <a:rPr lang="en-US" sz="2400" dirty="0" smtClean="0"/>
              <a:t>Models -&gt; Configurations -&gt; Logic.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98066"/>
            <a:ext cx="7699930" cy="38027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600" dirty="0" smtClean="0"/>
              <a:t>4. Understand What an Agent Searches For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exactly did you search for?</a:t>
            </a:r>
          </a:p>
          <a:p>
            <a:r>
              <a:rPr lang="en-US" sz="2400" dirty="0" smtClean="0"/>
              <a:t>Why did you search for these terms?</a:t>
            </a:r>
          </a:p>
          <a:p>
            <a:r>
              <a:rPr lang="en-US" sz="2400" dirty="0" smtClean="0"/>
              <a:t>What if the codebase uses different conventions?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Understand Open-Ended 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smtClean="0"/>
              <a:t>How will you conduct an open-ended search?</a:t>
            </a:r>
          </a:p>
          <a:p>
            <a:r>
              <a:rPr lang="en-US" sz="2000" dirty="0" smtClean="0"/>
              <a:t>How will you identify class names that suggest notes, footnotes, or references?</a:t>
            </a:r>
          </a:p>
          <a:p>
            <a:r>
              <a:rPr lang="en-US" sz="2000" dirty="0" smtClean="0"/>
              <a:t>How will you identify which HTML pages appear to be footnote-only pages rather than main content pages, based on their content length and structure?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886200"/>
            <a:ext cx="6847840" cy="22656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6. Understand Better Open-Ended Search Strategy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Ask the LLM for keywords to use in the search.</a:t>
            </a:r>
          </a:p>
          <a:p>
            <a:r>
              <a:rPr lang="en-US" sz="2000" dirty="0" smtClean="0"/>
              <a:t>Ask the LLM for search query combinations.</a:t>
            </a:r>
          </a:p>
          <a:p>
            <a:r>
              <a:rPr lang="en-US" sz="2000" dirty="0" smtClean="0"/>
              <a:t>Ask the LLM to identify patterns in the search results that relate to the problem.</a:t>
            </a:r>
          </a:p>
          <a:p>
            <a:r>
              <a:rPr lang="en-US" sz="2000" dirty="0" smtClean="0"/>
              <a:t>Ask the LLM what to do with results that contain candidate patterns.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4267200"/>
            <a:ext cx="7426643" cy="1945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3505200"/>
            <a:ext cx="6824980" cy="563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Enable Auto-accept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Once Claude Code is on the right track, hit `</a:t>
            </a:r>
            <a:r>
              <a:rPr lang="en-US" sz="2400" b="1" dirty="0" err="1" smtClean="0"/>
              <a:t>shift+tab</a:t>
            </a:r>
            <a:r>
              <a:rPr lang="en-US" sz="2400" dirty="0" smtClean="0"/>
              <a:t>` to let Claude Code autonomously edit files in your directory.</a:t>
            </a:r>
          </a:p>
          <a:p>
            <a:r>
              <a:rPr lang="en-US" sz="2400" b="1" dirty="0" smtClean="0"/>
              <a:t>Pro tip:</a:t>
            </a:r>
            <a:r>
              <a:rPr lang="en-US" sz="2400" dirty="0" smtClean="0"/>
              <a:t> You can send messages anytime while Claude works and Claude adjusts course immediately.</a:t>
            </a:r>
            <a:endParaRPr lang="en-US" sz="24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9725" y="3730625"/>
            <a:ext cx="5924550" cy="167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850" y="1447800"/>
            <a:ext cx="7931150" cy="487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096000" y="4953000"/>
            <a:ext cx="2667000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TUI stands for Text-based User Interface (sometimes called Terminal User Interface).</a:t>
            </a:r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Model</a:t>
            </a: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1469254"/>
            <a:ext cx="5504930" cy="4931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Hooks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00200"/>
            <a:ext cx="5529377" cy="44137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Hooks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828800"/>
            <a:ext cx="4823282" cy="4411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(I)</a:t>
            </a:r>
            <a:endParaRPr lang="en-US" sz="40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28800"/>
            <a:ext cx="5793845" cy="43737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(II)</a:t>
            </a:r>
            <a:endParaRPr lang="en-US" sz="40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752600"/>
            <a:ext cx="4785184" cy="45870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a Skill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claude</a:t>
            </a:r>
            <a:endParaRPr lang="en-US" sz="2400" dirty="0" smtClean="0"/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marketplace</a:t>
            </a:r>
            <a:r>
              <a:rPr lang="en-US" sz="2400" dirty="0" smtClean="0"/>
              <a:t> add </a:t>
            </a:r>
            <a:r>
              <a:rPr lang="en-US" sz="2400" i="1" dirty="0" smtClean="0"/>
              <a:t>Imbad0202/academic-research-skills</a:t>
            </a:r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install</a:t>
            </a:r>
            <a:r>
              <a:rPr lang="en-US" sz="2400" dirty="0" smtClean="0"/>
              <a:t> </a:t>
            </a:r>
            <a:r>
              <a:rPr lang="en-US" sz="2400" i="1" dirty="0" smtClean="0"/>
              <a:t>academic-research-skills</a:t>
            </a:r>
          </a:p>
          <a:p>
            <a:r>
              <a:rPr lang="en-US" sz="2400" dirty="0" smtClean="0"/>
              <a:t>/reload-</a:t>
            </a:r>
            <a:r>
              <a:rPr lang="en-US" sz="2400" dirty="0" err="1" smtClean="0"/>
              <a:t>plugins</a:t>
            </a:r>
            <a:endParaRPr lang="en-US" sz="2400" dirty="0" smtClean="0"/>
          </a:p>
          <a:p>
            <a:r>
              <a:rPr lang="en-US" sz="2400" dirty="0" smtClean="0"/>
              <a:t>/academic-research-</a:t>
            </a:r>
            <a:r>
              <a:rPr lang="en-US" sz="2400" dirty="0" err="1" smtClean="0"/>
              <a:t>skills:ars</a:t>
            </a:r>
            <a:r>
              <a:rPr lang="en-US" sz="2400" smtClean="0"/>
              <a:t>-lit-review</a:t>
            </a:r>
          </a:p>
          <a:p>
            <a:endParaRPr lang="en-US" sz="2400" smtClean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a 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npx</a:t>
            </a:r>
            <a:r>
              <a:rPr lang="en-US" dirty="0" smtClean="0"/>
              <a:t> @</a:t>
            </a:r>
            <a:r>
              <a:rPr lang="en-US" dirty="0" err="1" smtClean="0"/>
              <a:t>kimuson</a:t>
            </a:r>
            <a:r>
              <a:rPr lang="en-US" dirty="0" smtClean="0"/>
              <a:t>/</a:t>
            </a:r>
            <a:r>
              <a:rPr lang="en-US" dirty="0" err="1" smtClean="0"/>
              <a:t>claude</a:t>
            </a:r>
            <a:r>
              <a:rPr lang="en-US" dirty="0" smtClean="0"/>
              <a:t>-code-viewer</a:t>
            </a:r>
          </a:p>
          <a:p>
            <a:r>
              <a:rPr lang="en-US" smtClean="0">
                <a:hlinkClick r:id="rId2"/>
              </a:rPr>
              <a:t>http://localhost:3000/</a:t>
            </a:r>
            <a:endParaRPr lang="en-US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Maintainability Sensors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https://martinfowler.com/articles/sensors-for-coding-agents.html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https://github.com/birgitta410/sensors-cli</a:t>
            </a:r>
            <a:endParaRPr lang="en-US" sz="2400" dirty="0" smtClean="0"/>
          </a:p>
          <a:p>
            <a:r>
              <a:rPr lang="en-US" sz="2400" dirty="0" smtClean="0"/>
              <a:t>Internal quality problems affect AI agents in similar ways that they affect human developers.</a:t>
            </a:r>
          </a:p>
          <a:p>
            <a:r>
              <a:rPr lang="en-US" sz="2400" dirty="0" smtClean="0"/>
              <a:t>An agent working in a tangled codebase might look in the wrong place for an existing implementation, create inconsistencies because it has not noticed a duplicate, or be forced to load more context than a task should require.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Chat vs. </a:t>
            </a:r>
            <a:r>
              <a:rPr lang="fr-FR" dirty="0" err="1" smtClean="0"/>
              <a:t>Cowork</a:t>
            </a:r>
            <a:r>
              <a:rPr lang="fr-FR" dirty="0" smtClean="0"/>
              <a:t> vs.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i="1" dirty="0" smtClean="0">
                <a:solidFill>
                  <a:srgbClr val="C00000"/>
                </a:solidFill>
              </a:rPr>
              <a:t>Chat</a:t>
            </a:r>
            <a:r>
              <a:rPr lang="en-US" sz="1800" dirty="0" smtClean="0"/>
              <a:t> is for quick questions, brainstorming, iterative drafting, and working through problems back and forth.</a:t>
            </a:r>
          </a:p>
          <a:p>
            <a:r>
              <a:rPr lang="en-US" sz="1800" i="1" dirty="0" err="1" smtClean="0">
                <a:solidFill>
                  <a:srgbClr val="C00000"/>
                </a:solidFill>
              </a:rPr>
              <a:t>Cowork</a:t>
            </a:r>
            <a:r>
              <a:rPr lang="en-US" sz="1800" dirty="0" smtClean="0"/>
              <a:t> is for complex or sustained work—research, analysis, and producing finished documents and deliverables—where Claude needs room to pull from multiple sources and see things through.</a:t>
            </a:r>
          </a:p>
          <a:p>
            <a:r>
              <a:rPr lang="en-US" sz="1800" dirty="0" err="1" smtClean="0"/>
              <a:t>Cowork</a:t>
            </a:r>
            <a:r>
              <a:rPr lang="en-US" sz="1800" dirty="0" smtClean="0"/>
              <a:t> = </a:t>
            </a:r>
            <a:r>
              <a:rPr lang="en-US" sz="1800" i="1" dirty="0" smtClean="0">
                <a:solidFill>
                  <a:srgbClr val="C00000"/>
                </a:solidFill>
              </a:rPr>
              <a:t>desktop app</a:t>
            </a:r>
            <a:r>
              <a:rPr lang="en-US" sz="1800" dirty="0" smtClean="0"/>
              <a:t> + local files + connectors + browser control + computer use + autonomous multi-step execution + scheduling + mobile dispatch. Mobile dispatch lets you kick off or steer a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task from your phone, while the actual work runs on your desktop.</a:t>
            </a:r>
          </a:p>
          <a:p>
            <a:r>
              <a:rPr lang="en-US" sz="1800" dirty="0" smtClean="0"/>
              <a:t>Web chat answers questions turn-by-turn with your uploaded files and connectors, while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takes a goal and autonomously executes multi-step work across your local files, apps, browser, and connectors on the desktop.</a:t>
            </a:r>
          </a:p>
          <a:p>
            <a:r>
              <a:rPr lang="en-US" sz="1800" i="1" dirty="0" smtClean="0">
                <a:solidFill>
                  <a:srgbClr val="C00000"/>
                </a:solidFill>
              </a:rPr>
              <a:t>Claude Code</a:t>
            </a:r>
            <a:r>
              <a:rPr lang="en-US" sz="1800" dirty="0" smtClean="0"/>
              <a:t> is for building software—writing, testing, running, and deploying code, with access to your file system and development tools.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Use Claude Code with Documents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/>
              <a:t>claude</a:t>
            </a:r>
            <a:endParaRPr lang="en-US" sz="2200" dirty="0" smtClean="0"/>
          </a:p>
          <a:p>
            <a:r>
              <a:rPr lang="en-US" sz="2200" dirty="0" smtClean="0"/>
              <a:t>init</a:t>
            </a:r>
          </a:p>
          <a:p>
            <a:r>
              <a:rPr lang="en-US" sz="2200" dirty="0" smtClean="0"/>
              <a:t>Which slides mention the AWS CLI?</a:t>
            </a:r>
          </a:p>
          <a:p>
            <a:r>
              <a:rPr lang="en-US" sz="2200" dirty="0" smtClean="0"/>
              <a:t>Are you sure?</a:t>
            </a:r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1188" y="3460750"/>
            <a:ext cx="5381625" cy="286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Skills for Claude Desktop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https://platform.claude.com/docs/en/agents-and-tools/agent-skills/overview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12129</TotalTime>
  <Words>1071</Words>
  <Application>Microsoft Office PowerPoint</Application>
  <PresentationFormat>On-screen Show (4:3)</PresentationFormat>
  <Paragraphs>137</Paragraphs>
  <Slides>54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Claude Code</vt:lpstr>
      <vt:lpstr>Objectives</vt:lpstr>
      <vt:lpstr>Contents</vt:lpstr>
      <vt:lpstr>References</vt:lpstr>
      <vt:lpstr>1. Buy Claude Pro Plan</vt:lpstr>
      <vt:lpstr>2. Install Claude Code on Windows</vt:lpstr>
      <vt:lpstr>3. Remove Claude Code on Windows</vt:lpstr>
      <vt:lpstr>4. Install Claude Code on Server 2016</vt:lpstr>
      <vt:lpstr>5. Uninstall Claude Code on Server 2016</vt:lpstr>
      <vt:lpstr>6. Install Claude Code on macOS</vt:lpstr>
      <vt:lpstr>Slide 11</vt:lpstr>
      <vt:lpstr>1. Open Claude Code</vt:lpstr>
      <vt:lpstr>2. Ask a Question</vt:lpstr>
      <vt:lpstr>3. Add a Feature</vt:lpstr>
      <vt:lpstr>4. Log out Claude Code</vt:lpstr>
      <vt:lpstr>Slide 16</vt:lpstr>
      <vt:lpstr>1. Buy Claude Credits</vt:lpstr>
      <vt:lpstr>2. Scan Security Vulnerabilities</vt:lpstr>
      <vt:lpstr>3. Review the Result</vt:lpstr>
      <vt:lpstr>4. Review Credit Balance</vt:lpstr>
      <vt:lpstr>5. Use Azure Model</vt:lpstr>
      <vt:lpstr>Slide 22</vt:lpstr>
      <vt:lpstr>1. Let Claude Code learn your project</vt:lpstr>
      <vt:lpstr>2. Commit the CLAUDE.md file</vt:lpstr>
      <vt:lpstr>3. Enable Web Search Tool</vt:lpstr>
      <vt:lpstr>Slide 26</vt:lpstr>
      <vt:lpstr>1. Install Claude Code for VS Code</vt:lpstr>
      <vt:lpstr>2. Purchase a Pro Plan</vt:lpstr>
      <vt:lpstr>3. Set Up Git</vt:lpstr>
      <vt:lpstr>4. Set Up Claude Code</vt:lpstr>
      <vt:lpstr>Slide 31</vt:lpstr>
      <vt:lpstr>1. Enter Plan Mode</vt:lpstr>
      <vt:lpstr>2. Write Tests First, then Implement</vt:lpstr>
      <vt:lpstr>3. Apply Discipline</vt:lpstr>
      <vt:lpstr>4. Understand What an Agent Searches For</vt:lpstr>
      <vt:lpstr>5. Understand Open-Ended Search</vt:lpstr>
      <vt:lpstr>6. Understand Better Open-Ended Search Strategy</vt:lpstr>
      <vt:lpstr>7. Enable Auto-accept Mode</vt:lpstr>
      <vt:lpstr>Slide 39</vt:lpstr>
      <vt:lpstr>The Harness</vt:lpstr>
      <vt:lpstr>The Harness and Model</vt:lpstr>
      <vt:lpstr>Hooks</vt:lpstr>
      <vt:lpstr>The Harness and Hooks</vt:lpstr>
      <vt:lpstr>Example Hook Enforcing Local Tools (I)</vt:lpstr>
      <vt:lpstr>Example Hook Enforcing Local Tools (II)</vt:lpstr>
      <vt:lpstr>Slide 46</vt:lpstr>
      <vt:lpstr>1. Install a Skill</vt:lpstr>
      <vt:lpstr>2. Install a Viewer</vt:lpstr>
      <vt:lpstr>3. Add Maintainability Sensors</vt:lpstr>
      <vt:lpstr>Slide 50</vt:lpstr>
      <vt:lpstr>Chat vs. Cowork vs. Claude Code</vt:lpstr>
      <vt:lpstr>1. Use Claude Code with Documents</vt:lpstr>
      <vt:lpstr>2. Enable Skills for Claude Desktop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4196</cp:revision>
  <dcterms:created xsi:type="dcterms:W3CDTF">2007-10-06T08:25:13Z</dcterms:created>
  <dcterms:modified xsi:type="dcterms:W3CDTF">2026-07-17T19:03:13Z</dcterms:modified>
</cp:coreProperties>
</file>