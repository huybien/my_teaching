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8"/>
  </p:notesMasterIdLst>
  <p:handoutMasterIdLst>
    <p:handoutMasterId r:id="rId29"/>
  </p:handoutMasterIdLst>
  <p:sldIdLst>
    <p:sldId id="256" r:id="rId2"/>
    <p:sldId id="431" r:id="rId3"/>
    <p:sldId id="603" r:id="rId4"/>
    <p:sldId id="423" r:id="rId5"/>
    <p:sldId id="635" r:id="rId6"/>
    <p:sldId id="636" r:id="rId7"/>
    <p:sldId id="637" r:id="rId8"/>
    <p:sldId id="638" r:id="rId9"/>
    <p:sldId id="639" r:id="rId10"/>
    <p:sldId id="640" r:id="rId11"/>
    <p:sldId id="641" r:id="rId12"/>
    <p:sldId id="667" r:id="rId13"/>
    <p:sldId id="670" r:id="rId14"/>
    <p:sldId id="646" r:id="rId15"/>
    <p:sldId id="658" r:id="rId16"/>
    <p:sldId id="671" r:id="rId17"/>
    <p:sldId id="666" r:id="rId18"/>
    <p:sldId id="669" r:id="rId19"/>
    <p:sldId id="661" r:id="rId20"/>
    <p:sldId id="668" r:id="rId21"/>
    <p:sldId id="665" r:id="rId22"/>
    <p:sldId id="672" r:id="rId23"/>
    <p:sldId id="674" r:id="rId24"/>
    <p:sldId id="675" r:id="rId25"/>
    <p:sldId id="673" r:id="rId26"/>
    <p:sldId id="343" r:id="rId2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76" autoAdjust="0"/>
    <p:restoredTop sz="94667" autoAdjust="0"/>
  </p:normalViewPr>
  <p:slideViewPr>
    <p:cSldViewPr>
      <p:cViewPr>
        <p:scale>
          <a:sx n="50" d="100"/>
          <a:sy n="50" d="100"/>
        </p:scale>
        <p:origin x="-1478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0DBAB-D1C9-4D1B-A41F-EB0AC0278643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056FB-ACC3-4B45-A768-F167A538151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5C7060-FA44-42F0-8808-1D08F5DA2F41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E0EE6-BA34-4C45-82C4-9F1F3A459FA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3/10/2026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3/10/2026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3/10/2026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3/10/2026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3/10/2026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3/10/2026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bit.ly/3qAAEch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hyperlink" Target="https://bit.ly/3XA46Qm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" TargetMode="External"/><Relationship Id="rId2" Type="http://schemas.openxmlformats.org/officeDocument/2006/relationships/hyperlink" Target="https://slack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about.gitlab.com/" TargetMode="External"/><Relationship Id="rId2" Type="http://schemas.openxmlformats.org/officeDocument/2006/relationships/hyperlink" Target="https://github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tlassian.com/software/free" TargetMode="External"/><Relationship Id="rId2" Type="http://schemas.openxmlformats.org/officeDocument/2006/relationships/hyperlink" Target="https://trello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18.png"/><Relationship Id="rId4" Type="http://schemas.openxmlformats.org/officeDocument/2006/relationships/hyperlink" Target="https://asana.com/uses/kanban-boards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Project Idea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334000" cy="38862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To identify a </a:t>
            </a:r>
            <a:r>
              <a:rPr lang="en-US" sz="2400" i="1" dirty="0" smtClean="0">
                <a:solidFill>
                  <a:srgbClr val="C00000"/>
                </a:solidFill>
              </a:rPr>
              <a:t>project idea</a:t>
            </a:r>
            <a:r>
              <a:rPr lang="en-US" sz="2400" dirty="0" smtClean="0"/>
              <a:t>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Software development jobs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Project types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Project idea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Project proposal</a:t>
            </a:r>
          </a:p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400" dirty="0" smtClean="0">
              <a:cs typeface="Calibri" pitchFamily="34" charset="0"/>
            </a:endParaRP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+mn-lt"/>
              </a:rPr>
              <a:t>Java Developer Hire </a:t>
            </a:r>
            <a:r>
              <a:rPr lang="en-US" dirty="0" smtClean="0"/>
              <a:t>($950)</a:t>
            </a:r>
            <a:endParaRPr lang="en-US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4800" y="5105400"/>
            <a:ext cx="8610600" cy="1631216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marL="457200" indent="-457200">
              <a:buFont typeface="Courier New" pitchFamily="49" charset="0"/>
              <a:buChar char="o"/>
            </a:pPr>
            <a:r>
              <a:rPr lang="en-US" sz="2000" dirty="0" smtClean="0">
                <a:solidFill>
                  <a:schemeClr val="bg1"/>
                </a:solidFill>
                <a:latin typeface="+mn-lt"/>
              </a:rPr>
              <a:t>Develop effective solutions for complex business problems in a variety of customer projects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US" sz="2000" dirty="0" smtClean="0">
                <a:solidFill>
                  <a:schemeClr val="bg1"/>
                </a:solidFill>
                <a:latin typeface="+mn-lt"/>
              </a:rPr>
              <a:t>Integrate new components and technologies into existing software systems.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US" sz="2000" dirty="0" smtClean="0">
                <a:solidFill>
                  <a:schemeClr val="bg1"/>
                </a:solidFill>
                <a:latin typeface="+mn-lt"/>
              </a:rPr>
              <a:t>Conduct system documentation.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US" sz="2000" dirty="0" smtClean="0">
                <a:solidFill>
                  <a:schemeClr val="bg1"/>
                </a:solidFill>
                <a:latin typeface="+mn-lt"/>
              </a:rPr>
              <a:t>Provide system maintenance service.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2200" y="1295400"/>
            <a:ext cx="6477000" cy="3810000"/>
          </a:xfrm>
        </p:spPr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Education: Bachelor of IT/Software Engineering or Information System.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Knowledge of OOP, UML and MVC concept.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Programming languages/ technologies – Java 8, Java EE, EJB, JPA, Hibernate, Spring, </a:t>
            </a:r>
            <a:r>
              <a:rPr lang="en-US" sz="2000" dirty="0" err="1" smtClean="0"/>
              <a:t>JUnit</a:t>
            </a:r>
            <a:r>
              <a:rPr lang="en-US" sz="2000" dirty="0" smtClean="0"/>
              <a:t>, </a:t>
            </a:r>
            <a:r>
              <a:rPr lang="en-US" sz="2000" dirty="0" err="1" smtClean="0"/>
              <a:t>Mockito</a:t>
            </a:r>
            <a:r>
              <a:rPr lang="en-US" sz="2000" dirty="0" smtClean="0"/>
              <a:t>, Eclipse RCP, </a:t>
            </a:r>
            <a:r>
              <a:rPr lang="en-US" sz="2000" dirty="0" err="1" smtClean="0"/>
              <a:t>WebServices</a:t>
            </a:r>
            <a:r>
              <a:rPr lang="en-US" sz="2000" dirty="0" smtClean="0"/>
              <a:t> (</a:t>
            </a:r>
            <a:r>
              <a:rPr lang="en-US" sz="2000" dirty="0" err="1" smtClean="0"/>
              <a:t>RESTful</a:t>
            </a:r>
            <a:r>
              <a:rPr lang="en-US" sz="2000" dirty="0" smtClean="0"/>
              <a:t>, SOAP), JavaScript, Cordova, JSF, Angular (2), HTML5, CSS3, </a:t>
            </a:r>
            <a:r>
              <a:rPr lang="en-US" sz="2000" dirty="0" err="1" smtClean="0"/>
              <a:t>JQuery</a:t>
            </a:r>
            <a:r>
              <a:rPr lang="en-US" sz="2000" dirty="0" smtClean="0"/>
              <a:t>, etc.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Knowledge of Database and have done through one of the database management system Oracle, SQL Server, </a:t>
            </a:r>
            <a:r>
              <a:rPr lang="en-US" sz="2000" dirty="0" err="1" smtClean="0"/>
              <a:t>MySQL</a:t>
            </a:r>
            <a:r>
              <a:rPr lang="en-US" sz="20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Familiar with quality assurance activities (CMMI)</a:t>
            </a:r>
          </a:p>
        </p:txBody>
      </p:sp>
      <p:pic>
        <p:nvPicPr>
          <p:cNvPr id="45058" name="Picture 2" descr="https://images.sftcdn.net/images/t_optimized,f_auto/p/2f4c04f4-96d0-11e6-9830-00163ed833e7/3163796423/java-runtime-environment-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1143000"/>
            <a:ext cx="1776222" cy="1776222"/>
          </a:xfrm>
          <a:prstGeom prst="rect">
            <a:avLst/>
          </a:prstGeom>
          <a:noFill/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3124200"/>
            <a:ext cx="1428750" cy="177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+mn-lt"/>
              </a:rPr>
              <a:t>PHP Developer Hire ($750)</a:t>
            </a:r>
            <a:endParaRPr lang="en-US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8600" y="5257800"/>
            <a:ext cx="8686800" cy="1446550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marL="457200" indent="-457200">
              <a:buFont typeface="Courier New" pitchFamily="49" charset="0"/>
              <a:buChar char="o"/>
            </a:pPr>
            <a:r>
              <a:rPr lang="en-US" sz="2200" dirty="0" smtClean="0">
                <a:solidFill>
                  <a:schemeClr val="bg1"/>
                </a:solidFill>
                <a:latin typeface="+mn-lt"/>
              </a:rPr>
              <a:t>Understand and interpret (in writing) project functional requirements.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US" sz="2200" dirty="0" smtClean="0">
                <a:solidFill>
                  <a:schemeClr val="bg1"/>
                </a:solidFill>
                <a:latin typeface="+mn-lt"/>
              </a:rPr>
              <a:t>Outline work task breakdowns for programming side.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US" sz="2200" dirty="0" smtClean="0">
                <a:solidFill>
                  <a:schemeClr val="bg1"/>
                </a:solidFill>
                <a:latin typeface="+mn-lt"/>
              </a:rPr>
              <a:t>Develop web applications.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US" sz="2200" dirty="0" smtClean="0">
                <a:solidFill>
                  <a:schemeClr val="bg1"/>
                </a:solidFill>
                <a:latin typeface="+mn-lt"/>
              </a:rPr>
              <a:t>Coordinate and participate in peer code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2200" y="1143000"/>
            <a:ext cx="6477000" cy="4114800"/>
          </a:xfrm>
        </p:spPr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Education: Bachelor of IT/Software Engineering or Information System.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Being expert in PHP, </a:t>
            </a:r>
            <a:r>
              <a:rPr lang="en-US" sz="1800" dirty="0" err="1" smtClean="0"/>
              <a:t>Javascript</a:t>
            </a:r>
            <a:r>
              <a:rPr lang="en-US" sz="1800" dirty="0" smtClean="0"/>
              <a:t>, HTML, CSS, SQL Databases (preferably </a:t>
            </a:r>
            <a:r>
              <a:rPr lang="en-US" sz="1800" dirty="0" err="1" smtClean="0"/>
              <a:t>MySQL</a:t>
            </a:r>
            <a:r>
              <a:rPr lang="en-US" sz="1800" dirty="0" smtClean="0"/>
              <a:t>), AJAX.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Having solid competency in all aspects of LAMP stack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Having experience with SVN or GIT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Having worked with at least one PHP framework (e.g.: </a:t>
            </a:r>
            <a:r>
              <a:rPr lang="en-US" sz="1800" dirty="0" err="1" smtClean="0"/>
              <a:t>CakePHP</a:t>
            </a:r>
            <a:r>
              <a:rPr lang="en-US" sz="1800" dirty="0" smtClean="0"/>
              <a:t>, </a:t>
            </a:r>
            <a:r>
              <a:rPr lang="en-US" sz="1800" dirty="0" err="1" smtClean="0"/>
              <a:t>Laravel</a:t>
            </a:r>
            <a:r>
              <a:rPr lang="en-US" sz="1800" dirty="0" smtClean="0"/>
              <a:t>, </a:t>
            </a:r>
            <a:r>
              <a:rPr lang="en-US" sz="1800" dirty="0" err="1" smtClean="0"/>
              <a:t>CodeIngiter</a:t>
            </a:r>
            <a:r>
              <a:rPr lang="en-US" sz="1800" dirty="0" smtClean="0"/>
              <a:t>, </a:t>
            </a:r>
            <a:r>
              <a:rPr lang="en-US" sz="1800" dirty="0" err="1" smtClean="0"/>
              <a:t>Drupal</a:t>
            </a:r>
            <a:r>
              <a:rPr lang="en-US" sz="1800" dirty="0" smtClean="0"/>
              <a:t> or any MVC framework)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Having worked with at least one </a:t>
            </a:r>
            <a:r>
              <a:rPr lang="en-US" sz="1800" dirty="0" err="1" smtClean="0"/>
              <a:t>Javascript</a:t>
            </a:r>
            <a:r>
              <a:rPr lang="en-US" sz="1800" dirty="0" smtClean="0"/>
              <a:t> library (</a:t>
            </a:r>
            <a:r>
              <a:rPr lang="en-US" sz="1800" dirty="0" err="1" smtClean="0"/>
              <a:t>eg</a:t>
            </a:r>
            <a:r>
              <a:rPr lang="en-US" sz="1800" dirty="0" smtClean="0"/>
              <a:t>.: </a:t>
            </a:r>
            <a:r>
              <a:rPr lang="en-US" sz="1800" dirty="0" err="1" smtClean="0"/>
              <a:t>JQuery</a:t>
            </a:r>
            <a:r>
              <a:rPr lang="en-US" sz="1800" dirty="0" smtClean="0"/>
              <a:t>, Bootstrap, dojo, ...)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Having sound knowledge in web-application security, debugging and tuning web-applications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Having experience in agile software development, i.e. Scrum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3048000"/>
            <a:ext cx="1428750" cy="177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4034" name="Picture 2" descr="https://pbs.twimg.com/profile_images/68979870/php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1524000"/>
            <a:ext cx="1371600" cy="1371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+mn-lt"/>
              </a:rPr>
              <a:t>NodeJS</a:t>
            </a:r>
            <a:r>
              <a:rPr lang="en-US" dirty="0" smtClean="0">
                <a:latin typeface="+mn-lt"/>
              </a:rPr>
              <a:t> Developer Hire ($650)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2200" y="1371600"/>
            <a:ext cx="6477000" cy="5257800"/>
          </a:xfrm>
        </p:spPr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Degree in Computer Science, Information Technology or equivalent.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Experience with </a:t>
            </a:r>
            <a:r>
              <a:rPr lang="en-US" sz="1800" dirty="0" err="1" smtClean="0"/>
              <a:t>ReactJS</a:t>
            </a:r>
            <a:r>
              <a:rPr lang="en-US" sz="1800" dirty="0" smtClean="0"/>
              <a:t>, </a:t>
            </a:r>
            <a:r>
              <a:rPr lang="en-US" sz="1800" dirty="0" err="1" smtClean="0"/>
              <a:t>NodeJS</a:t>
            </a:r>
            <a:r>
              <a:rPr lang="en-US" sz="1800" dirty="0" smtClean="0"/>
              <a:t>, </a:t>
            </a:r>
            <a:r>
              <a:rPr lang="en-US" sz="1800" dirty="0" err="1" smtClean="0"/>
              <a:t>Golang</a:t>
            </a:r>
            <a:r>
              <a:rPr lang="en-US" sz="1800" dirty="0" smtClean="0"/>
              <a:t>, </a:t>
            </a:r>
            <a:r>
              <a:rPr lang="en-US" sz="1800" dirty="0" err="1" smtClean="0"/>
              <a:t>Docker</a:t>
            </a:r>
            <a:r>
              <a:rPr lang="en-US" sz="18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Strong proficiency in JavaScript, including DOM manipulation, the JavaScript object model, specifications of </a:t>
            </a:r>
            <a:r>
              <a:rPr lang="en-US" sz="1800" dirty="0" err="1" smtClean="0"/>
              <a:t>ECMAScript</a:t>
            </a:r>
            <a:r>
              <a:rPr lang="en-US" sz="18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Experience with common front-end development tools such as Babel, </a:t>
            </a:r>
            <a:r>
              <a:rPr lang="en-US" sz="1800" dirty="0" err="1" smtClean="0"/>
              <a:t>Webpack</a:t>
            </a:r>
            <a:r>
              <a:rPr lang="en-US" sz="1800" dirty="0" smtClean="0"/>
              <a:t>, NPM,…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Knowledge of modern authorization mechanisms, such as JSON Web Token.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Understanding of how applications interact with the systems and have experiences with modern software engineering practices and paradigms.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Experience in software development on Linux/Unix, webpage optimization and web browser technology environment would be a plus point.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Working proficiency and communication skills in verbal and written English.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3562350"/>
            <a:ext cx="1428750" cy="177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26" name="AutoShape 2" descr="https://www.thebitbag.com/wp-content/uploads/2016/08/Apple-And-Android.png"/>
          <p:cNvSpPr>
            <a:spLocks noChangeAspect="1" noChangeArrowheads="1"/>
          </p:cNvSpPr>
          <p:nvPr/>
        </p:nvSpPr>
        <p:spPr bwMode="auto">
          <a:xfrm>
            <a:off x="155575" y="-2057400"/>
            <a:ext cx="8572500" cy="42862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8" name="AutoShape 4" descr="https://www.thebitbag.com/wp-content/uploads/2016/08/Apple-And-Android.png"/>
          <p:cNvSpPr>
            <a:spLocks noChangeAspect="1" noChangeArrowheads="1"/>
          </p:cNvSpPr>
          <p:nvPr/>
        </p:nvSpPr>
        <p:spPr bwMode="auto">
          <a:xfrm>
            <a:off x="155575" y="-2605088"/>
            <a:ext cx="10877550" cy="5438776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0" name="AutoShape 6" descr="https://www.thebitbag.com/wp-content/uploads/2016/08/Apple-And-Android.png"/>
          <p:cNvSpPr>
            <a:spLocks noChangeAspect="1" noChangeArrowheads="1"/>
          </p:cNvSpPr>
          <p:nvPr/>
        </p:nvSpPr>
        <p:spPr bwMode="auto">
          <a:xfrm>
            <a:off x="155575" y="-2057400"/>
            <a:ext cx="8572500" cy="42862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4514" name="Picture 2" descr="https://www.burntfen.com/assets/img/project/node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1600200"/>
            <a:ext cx="1905000" cy="1905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+mn-lt"/>
              </a:rPr>
              <a:t>.NET Developer Hire ($750)</a:t>
            </a:r>
            <a:endParaRPr lang="en-US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9600" y="5182850"/>
            <a:ext cx="7924800" cy="1477328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marL="457200" indent="-457200">
              <a:buFont typeface="Courier New" pitchFamily="49" charset="0"/>
              <a:buChar char="o"/>
            </a:pPr>
            <a:r>
              <a:rPr lang="en-US" dirty="0" smtClean="0">
                <a:solidFill>
                  <a:schemeClr val="bg1"/>
                </a:solidFill>
                <a:latin typeface="+mn-lt"/>
              </a:rPr>
              <a:t>Provide technical &amp; analytic support to customers to identify requirements and develop qualified functionaries/projects. 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US" dirty="0" smtClean="0">
                <a:solidFill>
                  <a:schemeClr val="bg1"/>
                </a:solidFill>
                <a:latin typeface="+mn-lt"/>
              </a:rPr>
              <a:t>Outline work task breakdowns for programming side.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US" dirty="0" smtClean="0">
                <a:solidFill>
                  <a:schemeClr val="bg1"/>
                </a:solidFill>
                <a:latin typeface="+mn-lt"/>
              </a:rPr>
              <a:t>Participate in system design and implementation.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US" dirty="0" smtClean="0">
                <a:solidFill>
                  <a:schemeClr val="bg1"/>
                </a:solidFill>
                <a:latin typeface="+mn-lt"/>
              </a:rPr>
              <a:t>Coordinate and participate in code review.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2895600"/>
            <a:ext cx="1428750" cy="177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2200" y="1371600"/>
            <a:ext cx="6477000" cy="3733800"/>
          </a:xfrm>
        </p:spPr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Education: Bachelor of IT/Software Engineering or Information System.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Strong knowledge and experience in system design and Web programming with Microsoft .NET and other Microsoft technologies (C#, ASP.NET, XML Web Services, ADO.NET, WCF, </a:t>
            </a:r>
            <a:r>
              <a:rPr lang="en-US" sz="1800" dirty="0" err="1" smtClean="0"/>
              <a:t>Linq</a:t>
            </a:r>
            <a:r>
              <a:rPr lang="en-US" sz="1800" dirty="0" smtClean="0"/>
              <a:t>, XAML, ASP.NET MVC, Web API, Entity Framework...)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Having experience with database design and programming (MS SQL Server, or Oracle, </a:t>
            </a:r>
            <a:r>
              <a:rPr lang="en-US" sz="1800" dirty="0" err="1" smtClean="0"/>
              <a:t>MySQL</a:t>
            </a:r>
            <a:r>
              <a:rPr lang="en-US" sz="1800" dirty="0" smtClean="0"/>
              <a:t>,...)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Having worked with SVN, MS Team System, IIS,...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Familiar with software development process.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Good soft skills: team working, problem solving, presentation…</a:t>
            </a:r>
          </a:p>
        </p:txBody>
      </p:sp>
      <p:pic>
        <p:nvPicPr>
          <p:cNvPr id="46082" name="Picture 2" descr="https://codercamps.co/Img/dotNet-logo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1524000"/>
            <a:ext cx="1066800" cy="1066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+mn-lt"/>
              </a:rPr>
              <a:t>Mobile Developer Hire ($1000)</a:t>
            </a:r>
            <a:endParaRPr lang="en-US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8600" y="5105400"/>
            <a:ext cx="8686800" cy="1569660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marL="457200" indent="-457200">
              <a:buFont typeface="Courier New" pitchFamily="49" charset="0"/>
              <a:buChar char="o"/>
            </a:pPr>
            <a:r>
              <a:rPr lang="en-US" sz="1600" dirty="0" smtClean="0">
                <a:solidFill>
                  <a:schemeClr val="bg1"/>
                </a:solidFill>
                <a:latin typeface="+mn-lt"/>
              </a:rPr>
              <a:t>Work directly, in English, with the founders of new and rapidly growing Internet ventures to understand their vision and implement it on the web and on mobile platforms.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US" sz="1600" dirty="0" smtClean="0">
                <a:solidFill>
                  <a:schemeClr val="bg1"/>
                </a:solidFill>
                <a:latin typeface="+mn-lt"/>
              </a:rPr>
              <a:t>Use </a:t>
            </a:r>
            <a:r>
              <a:rPr lang="en-US" sz="1600" dirty="0" err="1" smtClean="0">
                <a:solidFill>
                  <a:schemeClr val="bg1"/>
                </a:solidFill>
                <a:latin typeface="+mn-lt"/>
              </a:rPr>
              <a:t>eXtreme</a:t>
            </a:r>
            <a:r>
              <a:rPr lang="en-US" sz="1600" dirty="0" smtClean="0">
                <a:solidFill>
                  <a:schemeClr val="bg1"/>
                </a:solidFill>
                <a:latin typeface="+mn-lt"/>
              </a:rPr>
              <a:t> Programming (XP) and Scrum agile development methods which include paired programming, Behavior Driven Development (BDD), Test Driven Development (TDD), and emergent business-value prioritized development.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US" sz="1600" dirty="0" smtClean="0">
                <a:solidFill>
                  <a:schemeClr val="bg1"/>
                </a:solidFill>
                <a:latin typeface="+mn-lt"/>
              </a:rPr>
              <a:t>Develop applications on Cloud platforms that can grow to support millions of users.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2200" y="1143000"/>
            <a:ext cx="6477000" cy="3886200"/>
          </a:xfrm>
        </p:spPr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A University Qualification in Software Engineering or a related degree with at least 02 years experiences in.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Good knowledge in OOP, design pattern, unit testing.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Native Android or </a:t>
            </a:r>
            <a:r>
              <a:rPr lang="en-US" sz="1800" dirty="0" err="1" smtClean="0"/>
              <a:t>iOS</a:t>
            </a:r>
            <a:r>
              <a:rPr lang="en-US" sz="1800" dirty="0" smtClean="0"/>
              <a:t>: Mobile app development and deployment on Android or </a:t>
            </a:r>
            <a:r>
              <a:rPr lang="en-US" sz="1800" dirty="0" err="1" smtClean="0"/>
              <a:t>iOS</a:t>
            </a:r>
            <a:r>
              <a:rPr lang="en-US" sz="1800" dirty="0" smtClean="0"/>
              <a:t> platforms.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Java SDK or Android SDK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C/C++, Swift/Objective C, </a:t>
            </a:r>
            <a:r>
              <a:rPr lang="en-US" sz="1800" dirty="0" err="1" smtClean="0"/>
              <a:t>iOS</a:t>
            </a:r>
            <a:r>
              <a:rPr lang="en-US" sz="1800" dirty="0" smtClean="0"/>
              <a:t> SDK.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React Native Android/</a:t>
            </a:r>
            <a:r>
              <a:rPr lang="en-US" sz="1800" dirty="0" err="1" smtClean="0"/>
              <a:t>iOS</a:t>
            </a:r>
            <a:r>
              <a:rPr lang="en-US" sz="1800" dirty="0" smtClean="0"/>
              <a:t>: React JS, React Native, </a:t>
            </a:r>
            <a:r>
              <a:rPr lang="en-US" sz="1800" dirty="0" err="1" smtClean="0"/>
              <a:t>Redux</a:t>
            </a:r>
            <a:r>
              <a:rPr lang="en-US" sz="1800" dirty="0" smtClean="0"/>
              <a:t>, ES6.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Experience in Databases like – Oracle / </a:t>
            </a:r>
            <a:r>
              <a:rPr lang="en-US" sz="1800" dirty="0" err="1" smtClean="0"/>
              <a:t>MySQL</a:t>
            </a:r>
            <a:r>
              <a:rPr lang="en-US" sz="1800" dirty="0" smtClean="0"/>
              <a:t>, </a:t>
            </a:r>
            <a:r>
              <a:rPr lang="en-US" sz="1800" dirty="0" err="1" smtClean="0"/>
              <a:t>NoSQL</a:t>
            </a:r>
            <a:r>
              <a:rPr lang="en-US" sz="1800" dirty="0" smtClean="0"/>
              <a:t> Databases (Mongo, etc.)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Honest, energetic and cooperative in team.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Problem solving, punctual. 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2895600"/>
            <a:ext cx="1428750" cy="177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26" name="AutoShape 2" descr="https://www.thebitbag.com/wp-content/uploads/2016/08/Apple-And-Android.png"/>
          <p:cNvSpPr>
            <a:spLocks noChangeAspect="1" noChangeArrowheads="1"/>
          </p:cNvSpPr>
          <p:nvPr/>
        </p:nvSpPr>
        <p:spPr bwMode="auto">
          <a:xfrm>
            <a:off x="155575" y="-2057400"/>
            <a:ext cx="8572500" cy="42862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8" name="AutoShape 4" descr="https://www.thebitbag.com/wp-content/uploads/2016/08/Apple-And-Android.png"/>
          <p:cNvSpPr>
            <a:spLocks noChangeAspect="1" noChangeArrowheads="1"/>
          </p:cNvSpPr>
          <p:nvPr/>
        </p:nvSpPr>
        <p:spPr bwMode="auto">
          <a:xfrm>
            <a:off x="155575" y="-2605088"/>
            <a:ext cx="10877550" cy="5438776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0" name="AutoShape 6" descr="https://www.thebitbag.com/wp-content/uploads/2016/08/Apple-And-Android.png"/>
          <p:cNvSpPr>
            <a:spLocks noChangeAspect="1" noChangeArrowheads="1"/>
          </p:cNvSpPr>
          <p:nvPr/>
        </p:nvSpPr>
        <p:spPr bwMode="auto">
          <a:xfrm>
            <a:off x="155575" y="-2057400"/>
            <a:ext cx="8572500" cy="42862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2" name="Picture 8" descr="https://www.laptopmag.com/images/wp/purch-api/incontent/2013/07/Apple-vs-Android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1524000"/>
            <a:ext cx="1914525" cy="1143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Embedded Developer Hire ($1000)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2200" y="1600200"/>
            <a:ext cx="6477000" cy="4876800"/>
          </a:xfrm>
        </p:spPr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Bachelor degree or above in related area;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Development skill: Design, Coding, Testing, Debugging;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Embedded C/C++ development;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1 – 4 years of working experience in Automotive related fields;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Have experience in: Linux OS, </a:t>
            </a:r>
            <a:r>
              <a:rPr lang="en-US" sz="1800" dirty="0" err="1" smtClean="0"/>
              <a:t>Cygwin</a:t>
            </a:r>
            <a:r>
              <a:rPr lang="en-US" sz="1800" dirty="0" smtClean="0"/>
              <a:t>;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Knowledge in automotive communication bus (CAN, LIN, Flex-ray), micro controller;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Knowledge in AUTOSAR;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Familiarity with SW development tools: emulators, debuggers, </a:t>
            </a:r>
            <a:r>
              <a:rPr lang="en-US" sz="1800" dirty="0" err="1" smtClean="0"/>
              <a:t>CANoe</a:t>
            </a:r>
            <a:r>
              <a:rPr lang="en-US" sz="1800" dirty="0" smtClean="0"/>
              <a:t>/ </a:t>
            </a:r>
            <a:r>
              <a:rPr lang="en-US" sz="1800" dirty="0" err="1" smtClean="0"/>
              <a:t>CANalyzer</a:t>
            </a:r>
            <a:r>
              <a:rPr lang="en-US" sz="1800" dirty="0" smtClean="0"/>
              <a:t> etc.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Experience in formal software engineering methodology and process (CMMI, A-SPICE)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Able to learn independently and work well under tight development schedules;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Able to explain complex technical information clearly and succinctly;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3429000"/>
            <a:ext cx="1428750" cy="177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26" name="AutoShape 2" descr="https://www.thebitbag.com/wp-content/uploads/2016/08/Apple-And-Android.png"/>
          <p:cNvSpPr>
            <a:spLocks noChangeAspect="1" noChangeArrowheads="1"/>
          </p:cNvSpPr>
          <p:nvPr/>
        </p:nvSpPr>
        <p:spPr bwMode="auto">
          <a:xfrm>
            <a:off x="155575" y="-2057400"/>
            <a:ext cx="8572500" cy="42862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8" name="AutoShape 4" descr="https://www.thebitbag.com/wp-content/uploads/2016/08/Apple-And-Android.png"/>
          <p:cNvSpPr>
            <a:spLocks noChangeAspect="1" noChangeArrowheads="1"/>
          </p:cNvSpPr>
          <p:nvPr/>
        </p:nvSpPr>
        <p:spPr bwMode="auto">
          <a:xfrm>
            <a:off x="155575" y="-2605088"/>
            <a:ext cx="10877550" cy="5438776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0" name="AutoShape 6" descr="https://www.thebitbag.com/wp-content/uploads/2016/08/Apple-And-Android.png"/>
          <p:cNvSpPr>
            <a:spLocks noChangeAspect="1" noChangeArrowheads="1"/>
          </p:cNvSpPr>
          <p:nvPr/>
        </p:nvSpPr>
        <p:spPr bwMode="auto">
          <a:xfrm>
            <a:off x="155575" y="-2057400"/>
            <a:ext cx="8572500" cy="42862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2" descr="https://camo.githubusercontent.com/2460cb1ca5e4066d33c8aef0b3f10662e7df981e/687474703a2f2f7777772e6c6865726e616e64657a2e6f72672f77702d636f6e74656e742f75706c6f6164732f323031362f30322f632d6c6f676f2e706e6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2133600"/>
            <a:ext cx="1577143" cy="76190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Machine Learning/AI Developer (Data Scientist) Hire ($750)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2200" y="1600200"/>
            <a:ext cx="6477000" cy="4876800"/>
          </a:xfrm>
        </p:spPr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A University Qualification in Mathematics or Computer Science or Computer Engineering.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Experience using statistical computer languages (R, Python, SLQ, etc.) to manipulate data and draw insights from large data sets.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At least 2 years’ experience developing projects related to machine learning, </a:t>
            </a:r>
            <a:r>
              <a:rPr lang="en-US" sz="1800" dirty="0" err="1" smtClean="0"/>
              <a:t>chatbot</a:t>
            </a:r>
            <a:r>
              <a:rPr lang="en-US" sz="1800" dirty="0" smtClean="0"/>
              <a:t>, AI or data mining.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Demonstrated ability in selecting, developing, and applying machine learning and data mining techniques (clustering, decision tree learning, artificial neural networks, etc.).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Experience dealing with large data sets.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Experience in chat </a:t>
            </a:r>
            <a:r>
              <a:rPr lang="en-US" sz="1800" dirty="0" err="1" smtClean="0"/>
              <a:t>bot</a:t>
            </a:r>
            <a:r>
              <a:rPr lang="en-US" sz="1800" dirty="0" smtClean="0"/>
              <a:t> development or machine learning tools (such as </a:t>
            </a:r>
            <a:r>
              <a:rPr lang="en-US" sz="1800" dirty="0" err="1" smtClean="0"/>
              <a:t>Tensorflow</a:t>
            </a:r>
            <a:r>
              <a:rPr lang="en-US" sz="1800" dirty="0" smtClean="0"/>
              <a:t>), NLP technologies or AI related projects.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Knowledge of advanced statistical techniques and concepts (regression, properties of distributions, statistical tests and proper usage, etc.)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3886200"/>
            <a:ext cx="1428750" cy="177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26" name="AutoShape 2" descr="https://www.thebitbag.com/wp-content/uploads/2016/08/Apple-And-Android.png"/>
          <p:cNvSpPr>
            <a:spLocks noChangeAspect="1" noChangeArrowheads="1"/>
          </p:cNvSpPr>
          <p:nvPr/>
        </p:nvSpPr>
        <p:spPr bwMode="auto">
          <a:xfrm>
            <a:off x="155575" y="-2057400"/>
            <a:ext cx="8572500" cy="42862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8" name="AutoShape 4" descr="https://www.thebitbag.com/wp-content/uploads/2016/08/Apple-And-Android.png"/>
          <p:cNvSpPr>
            <a:spLocks noChangeAspect="1" noChangeArrowheads="1"/>
          </p:cNvSpPr>
          <p:nvPr/>
        </p:nvSpPr>
        <p:spPr bwMode="auto">
          <a:xfrm>
            <a:off x="155575" y="-2605088"/>
            <a:ext cx="10877550" cy="5438776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0" name="AutoShape 6" descr="https://www.thebitbag.com/wp-content/uploads/2016/08/Apple-And-Android.png"/>
          <p:cNvSpPr>
            <a:spLocks noChangeAspect="1" noChangeArrowheads="1"/>
          </p:cNvSpPr>
          <p:nvPr/>
        </p:nvSpPr>
        <p:spPr bwMode="auto">
          <a:xfrm>
            <a:off x="155575" y="-2057400"/>
            <a:ext cx="8572500" cy="42862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2" descr="https://www.python.org/static/opengraph-icon-200x20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1676400"/>
            <a:ext cx="1905000" cy="1905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Your Favorite Project Type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https://bit.ly/3qAAEch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6144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57600" y="3657886"/>
            <a:ext cx="2330585" cy="2233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44" name="Picture 4" descr="https://redwerk.com/wp-content/uploads/2019/11/bussines_app_dev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4800" y="3505486"/>
            <a:ext cx="3083243" cy="2391728"/>
          </a:xfrm>
          <a:prstGeom prst="rect">
            <a:avLst/>
          </a:prstGeom>
          <a:noFill/>
        </p:spPr>
      </p:pic>
      <p:pic>
        <p:nvPicPr>
          <p:cNvPr id="61445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477000" y="3657886"/>
            <a:ext cx="2285714" cy="22857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4" name="Picture 2" descr="https://www.rutgers.edu/sites/default/files/2020-11/prmo_polling_11.10.20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303520" y="1524000"/>
            <a:ext cx="2926080" cy="168249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0" y="4812539"/>
            <a:ext cx="3048000" cy="16644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29786" y="332437"/>
            <a:ext cx="2257014" cy="1496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Team Forming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429000"/>
          </a:xfrm>
        </p:spPr>
        <p:txBody>
          <a:bodyPr/>
          <a:lstStyle/>
          <a:p>
            <a:r>
              <a:rPr lang="en-US" sz="2000" dirty="0" smtClean="0">
                <a:latin typeface="Calibri" pitchFamily="34" charset="0"/>
              </a:rPr>
              <a:t>Select 8 </a:t>
            </a:r>
            <a:r>
              <a:rPr lang="en-US" sz="2000" i="1" dirty="0" smtClean="0">
                <a:solidFill>
                  <a:srgbClr val="C00000"/>
                </a:solidFill>
                <a:latin typeface="Calibri" pitchFamily="34" charset="0"/>
              </a:rPr>
              <a:t>team leaders</a:t>
            </a:r>
            <a:r>
              <a:rPr lang="en-US" sz="2000" dirty="0" smtClean="0">
                <a:latin typeface="Calibri" pitchFamily="34" charset="0"/>
              </a:rPr>
              <a:t>. </a:t>
            </a:r>
            <a:endParaRPr lang="vi-VN" sz="2000" dirty="0" smtClean="0">
              <a:latin typeface="Calibri" pitchFamily="34" charset="0"/>
            </a:endParaRPr>
          </a:p>
          <a:p>
            <a:r>
              <a:rPr lang="en-US" sz="2000" dirty="0" smtClean="0">
                <a:latin typeface="Calibri" pitchFamily="34" charset="0"/>
              </a:rPr>
              <a:t>Students select a team for themselves. Each team has </a:t>
            </a:r>
            <a:r>
              <a:rPr lang="en-US" sz="2000" i="1" dirty="0" smtClean="0">
                <a:solidFill>
                  <a:srgbClr val="C00000"/>
                </a:solidFill>
                <a:latin typeface="Calibri" pitchFamily="34" charset="0"/>
              </a:rPr>
              <a:t>maximum of 7 members (including a team leader)</a:t>
            </a:r>
            <a:r>
              <a:rPr lang="en-US" sz="2000" dirty="0" smtClean="0">
                <a:latin typeface="Calibri" pitchFamily="34" charset="0"/>
              </a:rPr>
              <a:t>.</a:t>
            </a:r>
          </a:p>
          <a:p>
            <a:r>
              <a:rPr lang="en-US" sz="2000" dirty="0" smtClean="0">
                <a:latin typeface="Calibri" pitchFamily="34" charset="0"/>
              </a:rPr>
              <a:t>If there are surplus students, some teams can have 8 people.</a:t>
            </a:r>
          </a:p>
          <a:p>
            <a:r>
              <a:rPr lang="en-US" sz="2000" dirty="0" smtClean="0">
                <a:latin typeface="Calibri" pitchFamily="34" charset="0"/>
              </a:rPr>
              <a:t>Team leaders send their team members list to class leader.</a:t>
            </a:r>
            <a:endParaRPr lang="vi-VN" sz="2000" dirty="0" smtClean="0">
              <a:latin typeface="Calibri" pitchFamily="34" charset="0"/>
            </a:endParaRPr>
          </a:p>
          <a:p>
            <a:r>
              <a:rPr lang="en-US" sz="2000" dirty="0" smtClean="0">
                <a:latin typeface="Calibri" pitchFamily="34" charset="0"/>
              </a:rPr>
              <a:t>The class leader collects and puts all the information to a class management file</a:t>
            </a:r>
            <a:r>
              <a:rPr lang="vi-VN" sz="2000" dirty="0" smtClean="0">
                <a:latin typeface="Calibri" pitchFamily="34" charset="0"/>
              </a:rPr>
              <a:t>.</a:t>
            </a:r>
            <a:endParaRPr lang="en-US" sz="2000" dirty="0" smtClean="0">
              <a:latin typeface="Calibri" pitchFamily="34" charset="0"/>
            </a:endParaRPr>
          </a:p>
          <a:p>
            <a:r>
              <a:rPr lang="en-US" sz="2000" dirty="0" smtClean="0">
                <a:latin typeface="Calibri" pitchFamily="34" charset="0"/>
              </a:rPr>
              <a:t>The class leader </a:t>
            </a:r>
            <a:r>
              <a:rPr lang="en-US" sz="2000" i="1" dirty="0" smtClean="0">
                <a:solidFill>
                  <a:srgbClr val="C00000"/>
                </a:solidFill>
                <a:latin typeface="Calibri" pitchFamily="34" charset="0"/>
              </a:rPr>
              <a:t>is authorized</a:t>
            </a:r>
            <a:r>
              <a:rPr lang="en-US" sz="2000" dirty="0" smtClean="0">
                <a:latin typeface="Calibri" pitchFamily="34" charset="0"/>
              </a:rPr>
              <a:t> to assign a team for an individual who is late to class or absent.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Your Time and Goal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https://bit.ly/3XA46Qm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4" name="Picture 2" descr="Related imag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" y="3257550"/>
            <a:ext cx="3467100" cy="2312670"/>
          </a:xfrm>
          <a:prstGeom prst="rect">
            <a:avLst/>
          </a:prstGeom>
          <a:noFill/>
        </p:spPr>
      </p:pic>
      <p:pic>
        <p:nvPicPr>
          <p:cNvPr id="5" name="Picture 6" descr="Related imag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76600" y="3105150"/>
            <a:ext cx="2381250" cy="2381250"/>
          </a:xfrm>
          <a:prstGeom prst="rect">
            <a:avLst/>
          </a:prstGeom>
          <a:noFill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715000" y="281940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Idea Constraints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Duration: 10 weeks.</a:t>
            </a:r>
          </a:p>
          <a:p>
            <a:r>
              <a:rPr lang="en-US" dirty="0" smtClean="0"/>
              <a:t>Team member: 7 - 9 people.</a:t>
            </a:r>
            <a:endParaRPr lang="en-US" dirty="0"/>
          </a:p>
        </p:txBody>
      </p:sp>
      <p:pic>
        <p:nvPicPr>
          <p:cNvPr id="7170" name="Picture 2" descr="https://fordtaylortalks.com/wp-content/uploads/2023/11/business-constraints-1080x675.jpe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3581400"/>
            <a:ext cx="3600450" cy="225028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Idea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Mobile applications</a:t>
            </a:r>
            <a:endParaRPr lang="en-US" sz="2400" dirty="0" smtClean="0"/>
          </a:p>
          <a:p>
            <a:pPr lvl="1"/>
            <a:r>
              <a:rPr lang="en-US" sz="2000" dirty="0" smtClean="0"/>
              <a:t>Explore apps and games on the </a:t>
            </a:r>
            <a:r>
              <a:rPr lang="en-US" sz="2000" b="1" dirty="0" smtClean="0"/>
              <a:t>App Store</a:t>
            </a:r>
            <a:r>
              <a:rPr lang="en-US" sz="2000" dirty="0" smtClean="0"/>
              <a:t> and </a:t>
            </a:r>
            <a:r>
              <a:rPr lang="en-US" sz="2000" b="1" dirty="0" smtClean="0"/>
              <a:t>Google Play</a:t>
            </a:r>
            <a:r>
              <a:rPr lang="en-US" sz="2000" dirty="0" smtClean="0"/>
              <a:t>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Web applications</a:t>
            </a:r>
            <a:r>
              <a:rPr lang="en-US" sz="2400" dirty="0" smtClean="0"/>
              <a:t> (which can be combined with mobile apps)</a:t>
            </a:r>
          </a:p>
          <a:p>
            <a:pPr lvl="1"/>
            <a:r>
              <a:rPr lang="en-US" sz="2000" dirty="0" smtClean="0"/>
              <a:t>Address </a:t>
            </a:r>
            <a:r>
              <a:rPr lang="en-US" sz="2000" b="1" dirty="0" smtClean="0"/>
              <a:t>real-world business issues</a:t>
            </a:r>
            <a:r>
              <a:rPr lang="en-US" sz="2000" dirty="0" smtClean="0"/>
              <a:t> and manage big data using technology in sectors such as business, transportation, education, media, healthcare, and banking.</a:t>
            </a:r>
          </a:p>
          <a:p>
            <a:r>
              <a:rPr lang="en-US" sz="2400" dirty="0" smtClean="0"/>
              <a:t>Personal </a:t>
            </a:r>
            <a:r>
              <a:rPr lang="en-US" sz="2400" i="1" dirty="0" smtClean="0">
                <a:solidFill>
                  <a:srgbClr val="C00000"/>
                </a:solidFill>
              </a:rPr>
              <a:t>creative ideas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Idea Walkthrough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Existing product name: …</a:t>
            </a:r>
          </a:p>
          <a:p>
            <a:r>
              <a:rPr lang="en-US" sz="2400" dirty="0" smtClean="0"/>
              <a:t>Existing product URL: …</a:t>
            </a:r>
          </a:p>
          <a:p>
            <a:endParaRPr lang="en-US" sz="2400" dirty="0"/>
          </a:p>
        </p:txBody>
      </p:sp>
      <p:pic>
        <p:nvPicPr>
          <p:cNvPr id="4" name="Picture 2" descr="https://i.ytimg.com/vi/ACT7Wh5n0P4/maxresdefaul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3276600"/>
            <a:ext cx="4064000" cy="2286000"/>
          </a:xfrm>
          <a:prstGeom prst="rect">
            <a:avLst/>
          </a:prstGeom>
          <a:noFill/>
        </p:spPr>
      </p:pic>
      <p:pic>
        <p:nvPicPr>
          <p:cNvPr id="6" name="Picture 2" descr="https://www.iag.biz/wp-content/uploads/2016/08/433-Assessing-the-Impact-of-Poor-Requirements-on-Companies-Quantifying-the-Cost-of-Poor-Requirements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05400" y="3124200"/>
            <a:ext cx="3429000" cy="2743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Group Idea Selection </a:t>
            </a:r>
            <a:r>
              <a:rPr lang="en-US" smtClean="0"/>
              <a:t>(Voting)</a:t>
            </a:r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7878" y="2496471"/>
            <a:ext cx="5174922" cy="2456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Kick-off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Collaboration</a:t>
            </a:r>
          </a:p>
          <a:p>
            <a:pPr lvl="1"/>
            <a:r>
              <a:rPr lang="en-US" sz="2400" dirty="0" smtClean="0"/>
              <a:t>Slack. </a:t>
            </a:r>
            <a:r>
              <a:rPr lang="en-US" sz="2400" dirty="0" smtClean="0">
                <a:hlinkClick r:id="rId2"/>
              </a:rPr>
              <a:t>https://slack.com/</a:t>
            </a:r>
            <a:endParaRPr lang="en-US" sz="2400" dirty="0" smtClean="0"/>
          </a:p>
          <a:p>
            <a:pPr lvl="1"/>
            <a:r>
              <a:rPr lang="en-US" sz="2400" dirty="0" smtClean="0"/>
              <a:t>Discord. </a:t>
            </a:r>
            <a:r>
              <a:rPr lang="en-US" sz="2400" dirty="0" smtClean="0">
                <a:hlinkClick r:id="rId3"/>
              </a:rPr>
              <a:t>https://discord.com/</a:t>
            </a:r>
            <a:endParaRPr lang="en-US" sz="2400" dirty="0" smtClean="0"/>
          </a:p>
        </p:txBody>
      </p:sp>
      <p:pic>
        <p:nvPicPr>
          <p:cNvPr id="5" name="Picture 4" descr="https://flatworldagency.com/wp-content/uploads/2025/02/Flat-World-Agency-hinh-anh-rawpixel-652547-unsplash.fef891ba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67000" y="3403600"/>
            <a:ext cx="3810000" cy="2540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Source Control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GitHub</a:t>
            </a:r>
            <a:r>
              <a:rPr lang="en-US" dirty="0" smtClean="0"/>
              <a:t>. </a:t>
            </a:r>
            <a:r>
              <a:rPr lang="en-US" dirty="0" smtClean="0">
                <a:hlinkClick r:id="rId2"/>
              </a:rPr>
              <a:t>https://github.com/</a:t>
            </a:r>
            <a:endParaRPr lang="en-US" dirty="0" smtClean="0"/>
          </a:p>
          <a:p>
            <a:r>
              <a:rPr lang="en-US" dirty="0" err="1" smtClean="0"/>
              <a:t>GitLab</a:t>
            </a:r>
            <a:r>
              <a:rPr lang="en-US" dirty="0" smtClean="0"/>
              <a:t>. </a:t>
            </a:r>
            <a:r>
              <a:rPr lang="en-US" dirty="0" smtClean="0">
                <a:hlinkClick r:id="rId3"/>
              </a:rPr>
              <a:t>https://about.gitlab.com/</a:t>
            </a:r>
            <a:endParaRPr lang="en-US" dirty="0" smtClean="0"/>
          </a:p>
          <a:p>
            <a:r>
              <a:rPr lang="en-US" dirty="0" smtClean="0"/>
              <a:t>A repository with README.md</a:t>
            </a:r>
          </a:p>
          <a:p>
            <a:endParaRPr lang="en-US" dirty="0"/>
          </a:p>
        </p:txBody>
      </p:sp>
      <p:pic>
        <p:nvPicPr>
          <p:cNvPr id="1026" name="Picture 2" descr="https://files.resources.altium.com/sites/default/files/blogs/Guide%20to%20Choosing%20Version%20Control%20For%20Your%20PCB%20Design%20Projects-72813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38976" y="3822188"/>
            <a:ext cx="3861824" cy="21214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Technical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Python</a:t>
            </a:r>
          </a:p>
          <a:p>
            <a:r>
              <a:rPr lang="en-US" sz="2400" dirty="0" smtClean="0"/>
              <a:t>AWS </a:t>
            </a:r>
            <a:r>
              <a:rPr lang="en-US" sz="2400" dirty="0" smtClean="0"/>
              <a:t>CLI, Azure CLI, </a:t>
            </a:r>
            <a:r>
              <a:rPr lang="en-US" sz="2400" dirty="0" smtClean="0"/>
              <a:t>Google Cloud CLI</a:t>
            </a:r>
          </a:p>
          <a:p>
            <a:r>
              <a:rPr lang="en-US" sz="2400" dirty="0" smtClean="0"/>
              <a:t>Visual Studio</a:t>
            </a:r>
          </a:p>
          <a:p>
            <a:r>
              <a:rPr lang="en-US" sz="2400" dirty="0" err="1" smtClean="0"/>
              <a:t>Git</a:t>
            </a:r>
            <a:endParaRPr lang="en-US" sz="2400" dirty="0" smtClean="0"/>
          </a:p>
          <a:p>
            <a:r>
              <a:rPr lang="en-US" sz="2400" dirty="0" smtClean="0"/>
              <a:t>Node.js</a:t>
            </a:r>
          </a:p>
          <a:p>
            <a:r>
              <a:rPr lang="en-US" sz="2400" dirty="0" err="1" smtClean="0"/>
              <a:t>Postgres</a:t>
            </a:r>
            <a:r>
              <a:rPr lang="en-US" sz="2400" dirty="0" smtClean="0"/>
              <a:t>, </a:t>
            </a:r>
            <a:r>
              <a:rPr lang="en-US" sz="2400" dirty="0" err="1" smtClean="0"/>
              <a:t>MySQL</a:t>
            </a:r>
            <a:r>
              <a:rPr lang="en-US" sz="2400" dirty="0" smtClean="0"/>
              <a:t>, </a:t>
            </a:r>
            <a:r>
              <a:rPr lang="en-US" sz="2400" dirty="0" err="1" smtClean="0"/>
              <a:t>MongoDB</a:t>
            </a:r>
            <a:endParaRPr lang="en-US" sz="2400" dirty="0" smtClean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00486"/>
            <a:ext cx="2257014" cy="1496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 descr="https://icon-library.com/images/homework-icon-png/homework-icon-png-29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19800" y="3200686"/>
            <a:ext cx="2285714" cy="228571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Tracking </a:t>
            </a:r>
            <a:r>
              <a:rPr lang="en-US" dirty="0" smtClean="0"/>
              <a:t>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181600" cy="4525963"/>
          </a:xfrm>
        </p:spPr>
        <p:txBody>
          <a:bodyPr/>
          <a:lstStyle/>
          <a:p>
            <a:r>
              <a:rPr lang="en-US" sz="2600" dirty="0" err="1" smtClean="0"/>
              <a:t>Trello</a:t>
            </a:r>
            <a:r>
              <a:rPr lang="en-US" sz="2600" dirty="0" smtClean="0"/>
              <a:t>. </a:t>
            </a:r>
            <a:r>
              <a:rPr lang="en-US" sz="2600" dirty="0" smtClean="0">
                <a:hlinkClick r:id="rId2"/>
              </a:rPr>
              <a:t>https://trello.com/</a:t>
            </a:r>
            <a:endParaRPr lang="en-US" sz="2600" dirty="0" smtClean="0"/>
          </a:p>
          <a:p>
            <a:r>
              <a:rPr lang="en-US" sz="2600" dirty="0" err="1" smtClean="0"/>
              <a:t>Atlassian</a:t>
            </a:r>
            <a:r>
              <a:rPr lang="en-US" sz="2600" dirty="0" smtClean="0"/>
              <a:t> Cloud. </a:t>
            </a:r>
            <a:r>
              <a:rPr lang="en-US" sz="2600" dirty="0" smtClean="0">
                <a:hlinkClick r:id="rId3"/>
              </a:rPr>
              <a:t>https://www.atlassian.com/software/free</a:t>
            </a:r>
            <a:endParaRPr lang="en-US" sz="2600" dirty="0" smtClean="0"/>
          </a:p>
          <a:p>
            <a:r>
              <a:rPr lang="en-US" sz="2600" dirty="0" smtClean="0"/>
              <a:t>Asana. </a:t>
            </a:r>
            <a:r>
              <a:rPr lang="en-US" sz="2600" dirty="0" smtClean="0">
                <a:hlinkClick r:id="rId4"/>
              </a:rPr>
              <a:t>https://asana.com/uses/kanban-boards</a:t>
            </a:r>
            <a:endParaRPr lang="en-US" sz="2600" dirty="0" smtClean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096000" y="1447800"/>
            <a:ext cx="2257014" cy="1496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 descr="https://icon-library.com/images/homework-icon-png/homework-icon-png-29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019800" y="3048000"/>
            <a:ext cx="2285714" cy="228571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11526</TotalTime>
  <Words>1309</Words>
  <Application>Microsoft Office PowerPoint</Application>
  <PresentationFormat>On-screen Show (4:3)</PresentationFormat>
  <Paragraphs>136</Paragraphs>
  <Slides>26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Project Idea</vt:lpstr>
      <vt:lpstr>Objectives</vt:lpstr>
      <vt:lpstr>Contents</vt:lpstr>
      <vt:lpstr>References</vt:lpstr>
      <vt:lpstr>Java Developer Hire ($950)</vt:lpstr>
      <vt:lpstr>PHP Developer Hire ($750)</vt:lpstr>
      <vt:lpstr>NodeJS Developer Hire ($650)</vt:lpstr>
      <vt:lpstr>.NET Developer Hire ($750)</vt:lpstr>
      <vt:lpstr>Mobile Developer Hire ($1000)</vt:lpstr>
      <vt:lpstr>Embedded Developer Hire ($1000)</vt:lpstr>
      <vt:lpstr>Machine Learning/AI Developer (Data Scientist) Hire ($750)</vt:lpstr>
      <vt:lpstr>Slide 12</vt:lpstr>
      <vt:lpstr>Your Favorite Project Type</vt:lpstr>
      <vt:lpstr>Slide 14</vt:lpstr>
      <vt:lpstr>Team Forming</vt:lpstr>
      <vt:lpstr>Your Time and Goal</vt:lpstr>
      <vt:lpstr>Slide 17</vt:lpstr>
      <vt:lpstr>Project Idea Constraints</vt:lpstr>
      <vt:lpstr>Project Idea</vt:lpstr>
      <vt:lpstr>Idea Walkthrough</vt:lpstr>
      <vt:lpstr>Group Idea Selection (Voting)</vt:lpstr>
      <vt:lpstr>Project Kick-off</vt:lpstr>
      <vt:lpstr>Source Control</vt:lpstr>
      <vt:lpstr>Technical Tools</vt:lpstr>
      <vt:lpstr>Tracking Tools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4754</cp:revision>
  <dcterms:created xsi:type="dcterms:W3CDTF">2007-10-06T08:25:13Z</dcterms:created>
  <dcterms:modified xsi:type="dcterms:W3CDTF">2026-03-10T17:29:33Z</dcterms:modified>
</cp:coreProperties>
</file>