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6"/>
  </p:notesMasterIdLst>
  <p:handoutMasterIdLst>
    <p:handoutMasterId r:id="rId37"/>
  </p:handoutMasterIdLst>
  <p:sldIdLst>
    <p:sldId id="256" r:id="rId2"/>
    <p:sldId id="431" r:id="rId3"/>
    <p:sldId id="460" r:id="rId4"/>
    <p:sldId id="423" r:id="rId5"/>
    <p:sldId id="461" r:id="rId6"/>
    <p:sldId id="462" r:id="rId7"/>
    <p:sldId id="463" r:id="rId8"/>
    <p:sldId id="465" r:id="rId9"/>
    <p:sldId id="464" r:id="rId10"/>
    <p:sldId id="471" r:id="rId11"/>
    <p:sldId id="466" r:id="rId12"/>
    <p:sldId id="468" r:id="rId13"/>
    <p:sldId id="469" r:id="rId14"/>
    <p:sldId id="470" r:id="rId15"/>
    <p:sldId id="472" r:id="rId16"/>
    <p:sldId id="473" r:id="rId17"/>
    <p:sldId id="474" r:id="rId18"/>
    <p:sldId id="475" r:id="rId19"/>
    <p:sldId id="476" r:id="rId20"/>
    <p:sldId id="477" r:id="rId21"/>
    <p:sldId id="482" r:id="rId22"/>
    <p:sldId id="478" r:id="rId23"/>
    <p:sldId id="479" r:id="rId24"/>
    <p:sldId id="480" r:id="rId25"/>
    <p:sldId id="481" r:id="rId26"/>
    <p:sldId id="522" r:id="rId27"/>
    <p:sldId id="521" r:id="rId28"/>
    <p:sldId id="486" r:id="rId29"/>
    <p:sldId id="515" r:id="rId30"/>
    <p:sldId id="516" r:id="rId31"/>
    <p:sldId id="517" r:id="rId32"/>
    <p:sldId id="519" r:id="rId33"/>
    <p:sldId id="520" r:id="rId34"/>
    <p:sldId id="343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0" autoAdjust="0"/>
    <p:restoredTop sz="94667" autoAdjust="0"/>
  </p:normalViewPr>
  <p:slideViewPr>
    <p:cSldViewPr>
      <p:cViewPr>
        <p:scale>
          <a:sx n="50" d="100"/>
          <a:sy n="50" d="100"/>
        </p:scale>
        <p:origin x="-152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00FB1-EAA8-41B6-84E0-C0BE923892D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B5DB8-A6FA-4274-AC8A-CA9D03617F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i.githubcopilot.com/mcp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bude/QRCoder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GitHub</a:t>
            </a:r>
            <a:r>
              <a:rPr lang="en-US" sz="6000" dirty="0" smtClean="0"/>
              <a:t>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/>
              <a:t>GitHub</a:t>
            </a:r>
            <a:r>
              <a:rPr lang="en-US" sz="2400" dirty="0" smtClean="0"/>
              <a:t> Copilot.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Nathan B. Crocker (2024). AI-Powered Developer - Build Great Software with </a:t>
            </a:r>
            <a:r>
              <a:rPr lang="en-US" sz="2400" dirty="0" err="1" smtClean="0"/>
              <a:t>ChatGPT</a:t>
            </a:r>
            <a:r>
              <a:rPr lang="en-US" sz="2400" dirty="0" smtClean="0"/>
              <a:t> and Copilot. Manning.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VS Code Extension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6088" y="2089150"/>
            <a:ext cx="8251825" cy="377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Settings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3463" y="1993900"/>
            <a:ext cx="7077075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Sign in to </a:t>
            </a:r>
            <a:r>
              <a:rPr lang="en-US" dirty="0" err="1" smtClean="0"/>
              <a:t>GitHub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9538" y="1676400"/>
            <a:ext cx="384492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Preferences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7425" y="1831975"/>
            <a:ext cx="7169150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5. </a:t>
            </a:r>
            <a:r>
              <a:rPr lang="en-US" dirty="0" smtClean="0"/>
              <a:t>Sign out </a:t>
            </a:r>
            <a:r>
              <a:rPr lang="en-US" dirty="0" err="1" smtClean="0"/>
              <a:t>GitHub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0513" y="2114550"/>
            <a:ext cx="602297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Code for a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/>
          <a:lstStyle/>
          <a:p>
            <a:r>
              <a:rPr lang="en-US" sz="2400" dirty="0" smtClean="0"/>
              <a:t>write a queue in python</a:t>
            </a:r>
          </a:p>
          <a:p>
            <a:r>
              <a:rPr lang="en-US" sz="2400" dirty="0" smtClean="0"/>
              <a:t>copy the code to a .</a:t>
            </a:r>
            <a:r>
              <a:rPr lang="en-US" sz="2400" dirty="0" err="1" smtClean="0"/>
              <a:t>py</a:t>
            </a:r>
            <a:r>
              <a:rPr lang="en-US" sz="2400" dirty="0" smtClean="0"/>
              <a:t> file</a:t>
            </a:r>
          </a:p>
          <a:p>
            <a:r>
              <a:rPr lang="en-US" sz="2400" dirty="0" smtClean="0"/>
              <a:t>save it to my current workspace</a:t>
            </a:r>
            <a:endParaRPr 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828800"/>
            <a:ext cx="2736850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Use Inline Chat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514600"/>
            <a:ext cx="7448147" cy="2693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Explain Code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4681" y="2254778"/>
            <a:ext cx="7617319" cy="246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Suggest Folder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what's my current folder structure</a:t>
            </a:r>
          </a:p>
          <a:p>
            <a:r>
              <a:rPr lang="en-US" sz="2400" dirty="0" smtClean="0"/>
              <a:t>suggest a better folder structure</a:t>
            </a:r>
          </a:p>
          <a:p>
            <a:r>
              <a:rPr lang="en-US" sz="2400" dirty="0" smtClean="0"/>
              <a:t>create it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752600"/>
            <a:ext cx="2202180" cy="465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Generate Code using 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# Python method using list to filter and return even numbers</a:t>
            </a:r>
          </a:p>
          <a:p>
            <a:r>
              <a:rPr lang="en-US" sz="2000" b="1" dirty="0" smtClean="0"/>
              <a:t>Type def, press Tab, press Enter.</a:t>
            </a:r>
          </a:p>
          <a:p>
            <a:r>
              <a:rPr lang="en-US" sz="2000" dirty="0" smtClean="0"/>
              <a:t># Python method using a lambda function to filter and return even numbers</a:t>
            </a:r>
          </a:p>
          <a:p>
            <a:r>
              <a:rPr lang="en-US" sz="2000" b="1" dirty="0" smtClean="0"/>
              <a:t>Type def, press Tab, press Enter.</a:t>
            </a:r>
          </a:p>
          <a:p>
            <a:r>
              <a:rPr lang="en-US" sz="2000" dirty="0" smtClean="0"/>
              <a:t># Python method with a for loop to filter and return even numbers</a:t>
            </a:r>
          </a:p>
          <a:p>
            <a:r>
              <a:rPr lang="en-US" sz="2000" b="1" dirty="0" smtClean="0"/>
              <a:t>Type def, press Tab, press Enter.</a:t>
            </a:r>
          </a:p>
          <a:p>
            <a:r>
              <a:rPr lang="en-US" sz="2000" dirty="0" smtClean="0"/>
              <a:t># Python method to filter even numbers from a list, handle </a:t>
            </a:r>
            <a:r>
              <a:rPr lang="en-US" sz="2000" dirty="0" err="1" smtClean="0"/>
              <a:t>nonintenger</a:t>
            </a:r>
            <a:r>
              <a:rPr lang="en-US" sz="2000" dirty="0" smtClean="0"/>
              <a:t> values, and raise errors</a:t>
            </a:r>
          </a:p>
          <a:p>
            <a:r>
              <a:rPr lang="en-US" sz="2000" b="1" dirty="0" smtClean="0"/>
              <a:t>Type def, press Tab, press Enter</a:t>
            </a:r>
          </a:p>
          <a:p>
            <a:r>
              <a:rPr lang="en-US" sz="2000" dirty="0" smtClean="0"/>
              <a:t># Assert statements</a:t>
            </a:r>
          </a:p>
          <a:p>
            <a:r>
              <a:rPr lang="en-US" sz="2000" b="1" dirty="0" smtClean="0"/>
              <a:t>Type assert, press Tab, press Enter.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Apply Zero-shot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Python method using list to filter and return even numbers.</a:t>
            </a:r>
          </a:p>
          <a:p>
            <a:r>
              <a:rPr lang="en-US" sz="2400" dirty="0" smtClean="0"/>
              <a:t># Zero-shot learning: no examples of expected output are provided. </a:t>
            </a:r>
          </a:p>
          <a:p>
            <a:r>
              <a:rPr lang="en-US" sz="2400" dirty="0" smtClean="0"/>
              <a:t>def </a:t>
            </a:r>
            <a:r>
              <a:rPr lang="en-US" sz="2400" dirty="0" err="1" smtClean="0"/>
              <a:t>filter_even_numbers_list</a:t>
            </a:r>
            <a:r>
              <a:rPr lang="en-US" sz="2400" dirty="0" smtClean="0"/>
              <a:t>(numbers):</a:t>
            </a:r>
          </a:p>
          <a:p>
            <a:r>
              <a:rPr lang="en-US" sz="2400" dirty="0" smtClean="0"/>
              <a:t>    pass</a:t>
            </a:r>
          </a:p>
          <a:p>
            <a:r>
              <a:rPr lang="en-US" sz="2400" b="1" dirty="0" smtClean="0"/>
              <a:t>Delete "pass", press Tab, press Enter.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Apply One-shot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# Python method using a lambda function to extract even numbers from a list.</a:t>
            </a:r>
          </a:p>
          <a:p>
            <a:r>
              <a:rPr lang="en-US" sz="2000" dirty="0" smtClean="0"/>
              <a:t># One-shot learning: one example of expected output is provided.</a:t>
            </a:r>
          </a:p>
          <a:p>
            <a:r>
              <a:rPr lang="en-US" sz="2000" dirty="0" smtClean="0"/>
              <a:t>def </a:t>
            </a:r>
            <a:r>
              <a:rPr lang="en-US" sz="2000" dirty="0" err="1" smtClean="0"/>
              <a:t>filter_even_numbers_lambda</a:t>
            </a:r>
            <a:r>
              <a:rPr lang="en-US" sz="2000" dirty="0" smtClean="0"/>
              <a:t>(numbers):</a:t>
            </a:r>
          </a:p>
          <a:p>
            <a:r>
              <a:rPr lang="en-US" sz="2000" dirty="0" smtClean="0"/>
              <a:t>    """example of expected output: </a:t>
            </a:r>
            <a:r>
              <a:rPr lang="en-US" sz="2000" dirty="0" err="1" smtClean="0"/>
              <a:t>filter_even_numbers_lambda</a:t>
            </a:r>
            <a:r>
              <a:rPr lang="en-US" sz="2000" dirty="0" smtClean="0"/>
              <a:t>([1, 2, 3, 4, 5, 6]) == [2, 4, 6]"""</a:t>
            </a:r>
          </a:p>
          <a:p>
            <a:r>
              <a:rPr lang="en-US" sz="2000" dirty="0" smtClean="0"/>
              <a:t>    pass</a:t>
            </a:r>
          </a:p>
          <a:p>
            <a:r>
              <a:rPr lang="en-US" sz="2000" b="1" dirty="0" smtClean="0"/>
              <a:t>Delete "pass", type "return", press Tab, press Enter.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Apply Few-shot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# Python method filter even numbers. </a:t>
            </a:r>
          </a:p>
          <a:p>
            <a:r>
              <a:rPr lang="en-US" sz="2000" dirty="0" smtClean="0"/>
              <a:t># Few-shot learning: a few examples of expected output are provided.</a:t>
            </a:r>
          </a:p>
          <a:p>
            <a:r>
              <a:rPr lang="en-US" sz="2000" dirty="0" smtClean="0"/>
              <a:t>def </a:t>
            </a:r>
            <a:r>
              <a:rPr lang="en-US" sz="2000" dirty="0" err="1" smtClean="0"/>
              <a:t>filter_even_numbers</a:t>
            </a:r>
            <a:r>
              <a:rPr lang="en-US" sz="2000" dirty="0" smtClean="0"/>
              <a:t>(numbers):</a:t>
            </a:r>
          </a:p>
          <a:p>
            <a:r>
              <a:rPr lang="en-US" sz="2000" dirty="0" smtClean="0"/>
              <a:t>    """examples of expected output: 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filter_even_numbers</a:t>
            </a:r>
            <a:r>
              <a:rPr lang="en-US" sz="2000" dirty="0" smtClean="0"/>
              <a:t>([1, 2, 3, 4, 5, 6]) == [2, 4, 6]</a:t>
            </a:r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filter_even_numbers</a:t>
            </a:r>
            <a:r>
              <a:rPr lang="en-US" sz="2000" dirty="0" smtClean="0"/>
              <a:t>([1, 2, 3, 4, 5, 6, 'a']) == </a:t>
            </a:r>
            <a:r>
              <a:rPr lang="en-US" sz="2000" dirty="0" err="1" smtClean="0"/>
              <a:t>ValueError</a:t>
            </a:r>
            <a:endParaRPr lang="en-US" sz="2000" dirty="0" smtClean="0"/>
          </a:p>
          <a:p>
            <a:r>
              <a:rPr lang="en-US" sz="2000" dirty="0" smtClean="0"/>
              <a:t>    </a:t>
            </a:r>
            <a:r>
              <a:rPr lang="en-US" sz="2000" dirty="0" err="1" smtClean="0"/>
              <a:t>filter_even_numbers</a:t>
            </a:r>
            <a:r>
              <a:rPr lang="en-US" sz="2000" dirty="0" smtClean="0"/>
              <a:t>([1, 2, 3, 4, 5, 6, 7.0]) == </a:t>
            </a:r>
            <a:r>
              <a:rPr lang="en-US" sz="2000" dirty="0" err="1" smtClean="0"/>
              <a:t>ValueError</a:t>
            </a:r>
            <a:endParaRPr lang="en-US" sz="2000" dirty="0" smtClean="0"/>
          </a:p>
          <a:p>
            <a:r>
              <a:rPr lang="en-US" sz="2000" dirty="0" smtClean="0"/>
              <a:t>    """</a:t>
            </a:r>
          </a:p>
          <a:p>
            <a:r>
              <a:rPr lang="en-US" sz="2000" dirty="0" smtClean="0"/>
              <a:t>    pass</a:t>
            </a:r>
          </a:p>
          <a:p>
            <a:r>
              <a:rPr lang="en-US" sz="2000" b="1" dirty="0" smtClean="0"/>
              <a:t>Delete "pass", press Tab, press Enter.</a:t>
            </a:r>
          </a:p>
          <a:p>
            <a:endParaRPr lang="en-US" sz="2000" b="1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Improve Code using 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r>
              <a:rPr lang="en-US" sz="2000" dirty="0" smtClean="0"/>
              <a:t># Select code, then type "Improve code </a:t>
            </a:r>
            <a:r>
              <a:rPr lang="en-US" sz="2000" dirty="0" err="1" smtClean="0"/>
              <a:t>readabilty</a:t>
            </a:r>
            <a:r>
              <a:rPr lang="en-US" sz="2000" dirty="0" smtClean="0"/>
              <a:t>"</a:t>
            </a:r>
          </a:p>
          <a:p>
            <a:r>
              <a:rPr lang="en-US" sz="2000" dirty="0" smtClean="0"/>
              <a:t># Select code, then type "Remove </a:t>
            </a:r>
            <a:r>
              <a:rPr lang="en-US" sz="2000" smtClean="0"/>
              <a:t>magic numbers"</a:t>
            </a:r>
            <a:endParaRPr lang="en-US" sz="2000" dirty="0" smtClean="0"/>
          </a:p>
          <a:p>
            <a:endParaRPr lang="en-US" sz="2000" b="1" dirty="0" smtClean="0"/>
          </a:p>
        </p:txBody>
      </p:sp>
      <p:sp>
        <p:nvSpPr>
          <p:cNvPr id="4" name="Rectangle 3"/>
          <p:cNvSpPr/>
          <p:nvPr/>
        </p:nvSpPr>
        <p:spPr>
          <a:xfrm>
            <a:off x="4191000" y="1219200"/>
            <a:ext cx="4572000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400" dirty="0" smtClean="0"/>
              <a:t>def </a:t>
            </a:r>
            <a:r>
              <a:rPr lang="en-US" sz="1400" dirty="0" err="1" smtClean="0"/>
              <a:t>calculate_shipping_cost</a:t>
            </a:r>
            <a:r>
              <a:rPr lang="en-US" sz="1400" dirty="0" smtClean="0"/>
              <a:t>():</a:t>
            </a:r>
          </a:p>
          <a:p>
            <a:r>
              <a:rPr lang="en-US" sz="1400" dirty="0" smtClean="0"/>
              <a:t>    # Get input for package weight and distance</a:t>
            </a:r>
          </a:p>
          <a:p>
            <a:r>
              <a:rPr lang="en-US" sz="1400" dirty="0" smtClean="0"/>
              <a:t>    weight = float(input('Enter package weight: '))</a:t>
            </a:r>
          </a:p>
          <a:p>
            <a:r>
              <a:rPr lang="en-US" sz="1400" dirty="0" smtClean="0"/>
              <a:t>    distance = float(input('Enter distance: '))</a:t>
            </a:r>
          </a:p>
          <a:p>
            <a:endParaRPr lang="en-US" sz="1400" dirty="0" smtClean="0"/>
          </a:p>
          <a:p>
            <a:r>
              <a:rPr lang="en-US" sz="1400" dirty="0" smtClean="0"/>
              <a:t>    # Calculate cost based on weight and distance</a:t>
            </a:r>
          </a:p>
          <a:p>
            <a:r>
              <a:rPr lang="en-US" sz="1400" dirty="0" smtClean="0"/>
              <a:t>    if 0 &lt;= weight &lt; 2:</a:t>
            </a:r>
          </a:p>
          <a:p>
            <a:r>
              <a:rPr lang="en-US" sz="1400" dirty="0" smtClean="0"/>
              <a:t>        cost = distance * 1.5</a:t>
            </a:r>
          </a:p>
          <a:p>
            <a:r>
              <a:rPr lang="en-US" sz="1400" dirty="0" smtClean="0"/>
              <a:t>    </a:t>
            </a:r>
            <a:r>
              <a:rPr lang="en-US" sz="1400" dirty="0" err="1" smtClean="0"/>
              <a:t>elif</a:t>
            </a:r>
            <a:r>
              <a:rPr lang="en-US" sz="1400" dirty="0" smtClean="0"/>
              <a:t> 2 &lt;= weight &lt; 5:</a:t>
            </a:r>
          </a:p>
          <a:p>
            <a:r>
              <a:rPr lang="en-US" sz="1400" dirty="0" smtClean="0"/>
              <a:t>        cost = distance * 2.5</a:t>
            </a:r>
          </a:p>
          <a:p>
            <a:r>
              <a:rPr lang="en-US" sz="1400" dirty="0" smtClean="0"/>
              <a:t>    </a:t>
            </a:r>
            <a:r>
              <a:rPr lang="en-US" sz="1400" dirty="0" err="1" smtClean="0"/>
              <a:t>elif</a:t>
            </a:r>
            <a:r>
              <a:rPr lang="en-US" sz="1400" dirty="0" smtClean="0"/>
              <a:t> 5 &lt;= weight &lt; 10:</a:t>
            </a:r>
          </a:p>
          <a:p>
            <a:r>
              <a:rPr lang="en-US" sz="1400" dirty="0" smtClean="0"/>
              <a:t>        cost = distance * 3.5</a:t>
            </a:r>
          </a:p>
          <a:p>
            <a:r>
              <a:rPr lang="en-US" sz="1400" dirty="0" smtClean="0"/>
              <a:t>    </a:t>
            </a:r>
            <a:r>
              <a:rPr lang="en-US" sz="1400" dirty="0" err="1" smtClean="0"/>
              <a:t>elif</a:t>
            </a:r>
            <a:r>
              <a:rPr lang="en-US" sz="1400" dirty="0" smtClean="0"/>
              <a:t> weight &gt;= 10:</a:t>
            </a:r>
          </a:p>
          <a:p>
            <a:r>
              <a:rPr lang="en-US" sz="1400" dirty="0" smtClean="0"/>
              <a:t>        cost = distance * 5</a:t>
            </a:r>
          </a:p>
          <a:p>
            <a:r>
              <a:rPr lang="en-US" sz="1400" dirty="0" smtClean="0"/>
              <a:t>    else:</a:t>
            </a:r>
          </a:p>
          <a:p>
            <a:r>
              <a:rPr lang="en-US" sz="1400" dirty="0" smtClean="0"/>
              <a:t>        print('Invalid weight')</a:t>
            </a:r>
          </a:p>
          <a:p>
            <a:r>
              <a:rPr lang="en-US" sz="1400" dirty="0" smtClean="0"/>
              <a:t>        return</a:t>
            </a:r>
          </a:p>
          <a:p>
            <a:endParaRPr lang="en-US" sz="1400" dirty="0" smtClean="0"/>
          </a:p>
          <a:p>
            <a:r>
              <a:rPr lang="en-US" sz="1400" dirty="0" smtClean="0"/>
              <a:t>    if distance &gt; 500:</a:t>
            </a:r>
          </a:p>
          <a:p>
            <a:r>
              <a:rPr lang="en-US" sz="1400" dirty="0" smtClean="0"/>
              <a:t>        cost += 50</a:t>
            </a:r>
          </a:p>
          <a:p>
            <a:endParaRPr lang="en-US" sz="1400" dirty="0" smtClean="0"/>
          </a:p>
          <a:p>
            <a:r>
              <a:rPr lang="en-US" sz="1400" dirty="0" smtClean="0"/>
              <a:t>    print(</a:t>
            </a:r>
            <a:r>
              <a:rPr lang="en-US" sz="1400" dirty="0" err="1" smtClean="0"/>
              <a:t>f'The</a:t>
            </a:r>
            <a:r>
              <a:rPr lang="en-US" sz="1400" dirty="0" smtClean="0"/>
              <a:t> shipping cost is: {cost}')</a:t>
            </a:r>
          </a:p>
          <a:p>
            <a:endParaRPr lang="en-US" sz="1400" dirty="0" smtClean="0"/>
          </a:p>
          <a:p>
            <a:r>
              <a:rPr lang="en-US" sz="1400" dirty="0" err="1" smtClean="0"/>
              <a:t>calculate_shipping_cost</a:t>
            </a:r>
            <a:r>
              <a:rPr lang="en-US" sz="1400" dirty="0" smtClean="0"/>
              <a:t>()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flask App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0" y="2222480"/>
            <a:ext cx="4572000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/>
              <a:t>from flask import Flask</a:t>
            </a:r>
          </a:p>
          <a:p>
            <a:endParaRPr lang="en-US" dirty="0" smtClean="0"/>
          </a:p>
          <a:p>
            <a:r>
              <a:rPr lang="en-US" dirty="0" smtClean="0"/>
              <a:t>app = Flask(__name__)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('/')</a:t>
            </a:r>
          </a:p>
          <a:p>
            <a:r>
              <a:rPr lang="en-US" dirty="0" smtClean="0"/>
              <a:t>def index():</a:t>
            </a:r>
          </a:p>
          <a:p>
            <a:r>
              <a:rPr lang="en-US" dirty="0" smtClean="0"/>
              <a:t>    return 'Hello, World!'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__name__ == '__main__':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app.run</a:t>
            </a:r>
            <a:r>
              <a:rPr lang="en-US" dirty="0" smtClean="0"/>
              <a:t>(debug=True)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flask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how to activate </a:t>
            </a:r>
            <a:r>
              <a:rPr lang="en-US" sz="2400" dirty="0" err="1" smtClean="0"/>
              <a:t>env</a:t>
            </a:r>
            <a:endParaRPr lang="en-US" sz="2400" dirty="0" smtClean="0"/>
          </a:p>
          <a:p>
            <a:r>
              <a:rPr lang="en-US" sz="2400" dirty="0" smtClean="0"/>
              <a:t>python -m </a:t>
            </a:r>
            <a:r>
              <a:rPr lang="en-US" sz="2400" dirty="0" err="1" smtClean="0"/>
              <a:t>venv</a:t>
            </a:r>
            <a:r>
              <a:rPr lang="en-US" sz="2400" dirty="0" smtClean="0"/>
              <a:t> </a:t>
            </a:r>
            <a:r>
              <a:rPr lang="en-US" sz="2400" dirty="0" err="1" smtClean="0"/>
              <a:t>env</a:t>
            </a:r>
            <a:endParaRPr lang="en-US" sz="2400" dirty="0" smtClean="0"/>
          </a:p>
          <a:p>
            <a:r>
              <a:rPr lang="en-US" sz="2400" dirty="0" smtClean="0"/>
              <a:t>.\</a:t>
            </a:r>
            <a:r>
              <a:rPr lang="en-US" sz="2400" dirty="0" err="1" smtClean="0"/>
              <a:t>env</a:t>
            </a:r>
            <a:r>
              <a:rPr lang="en-US" sz="2400" dirty="0" smtClean="0"/>
              <a:t>\Scripts\activate</a:t>
            </a:r>
          </a:p>
          <a:p>
            <a:r>
              <a:rPr lang="en-US" sz="2400" dirty="0" smtClean="0"/>
              <a:t># how to install </a:t>
            </a:r>
            <a:r>
              <a:rPr lang="en-US" sz="2400" dirty="0" err="1" smtClean="0"/>
              <a:t>reqs</a:t>
            </a:r>
            <a:endParaRPr lang="en-US" sz="2400" dirty="0" smtClean="0"/>
          </a:p>
          <a:p>
            <a:r>
              <a:rPr lang="en-US" sz="2400" dirty="0" smtClean="0"/>
              <a:t>echo flask &gt; requirements.txt</a:t>
            </a:r>
          </a:p>
          <a:p>
            <a:r>
              <a:rPr lang="en-US" sz="2400" dirty="0" smtClean="0"/>
              <a:t>pip install -r requirements.txt</a:t>
            </a:r>
          </a:p>
          <a:p>
            <a:r>
              <a:rPr lang="en-US" sz="2400" dirty="0" smtClean="0"/>
              <a:t># how to run this app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752600"/>
            <a:ext cx="2204642" cy="4169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Database and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Connect to sqlite3 using </a:t>
            </a:r>
            <a:r>
              <a:rPr lang="en-US" sz="2400" dirty="0" err="1" smtClean="0"/>
              <a:t>SQLAlchemy</a:t>
            </a:r>
            <a:endParaRPr lang="en-US" sz="2400" dirty="0" smtClean="0"/>
          </a:p>
          <a:p>
            <a:r>
              <a:rPr lang="en-US" sz="2400" dirty="0" smtClean="0"/>
              <a:t># Connect to the database</a:t>
            </a:r>
          </a:p>
          <a:p>
            <a:r>
              <a:rPr lang="en-US" sz="2400" dirty="0" smtClean="0"/>
              <a:t># Create a </a:t>
            </a:r>
            <a:r>
              <a:rPr lang="en-US" sz="2400" dirty="0" err="1" smtClean="0"/>
              <a:t>ToDo</a:t>
            </a:r>
            <a:r>
              <a:rPr lang="en-US" sz="2400" dirty="0" smtClean="0"/>
              <a:t> class</a:t>
            </a:r>
          </a:p>
          <a:p>
            <a:r>
              <a:rPr lang="en-US" sz="2400" dirty="0" smtClean="0"/>
              <a:t># Get all </a:t>
            </a:r>
            <a:r>
              <a:rPr lang="en-US" sz="2400" dirty="0" err="1" smtClean="0"/>
              <a:t>Todos</a:t>
            </a:r>
            <a:endParaRPr lang="en-US" sz="2400" dirty="0" smtClean="0"/>
          </a:p>
          <a:p>
            <a:r>
              <a:rPr lang="en-US" sz="2400" dirty="0" smtClean="0"/>
              <a:t># Render to </a:t>
            </a:r>
            <a:r>
              <a:rPr lang="en-US" sz="2400" dirty="0" err="1" smtClean="0"/>
              <a:t>todo_list</a:t>
            </a:r>
            <a:r>
              <a:rPr lang="en-US" sz="2400" dirty="0" smtClean="0"/>
              <a:t> to a template</a:t>
            </a:r>
          </a:p>
          <a:p>
            <a:r>
              <a:rPr lang="en-US" sz="2400" dirty="0" smtClean="0"/>
              <a:t># Create the database with context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Create a template for this return </a:t>
            </a:r>
            <a:r>
              <a:rPr lang="en-US" sz="2400" dirty="0" err="1" smtClean="0"/>
              <a:t>render_template</a:t>
            </a:r>
            <a:r>
              <a:rPr lang="en-US" sz="2400" dirty="0" smtClean="0"/>
              <a:t>('index.html', </a:t>
            </a:r>
            <a:r>
              <a:rPr lang="en-US" sz="2400" dirty="0" err="1" smtClean="0"/>
              <a:t>todo_list</a:t>
            </a:r>
            <a:r>
              <a:rPr lang="en-US" sz="2400" dirty="0" smtClean="0"/>
              <a:t>=</a:t>
            </a:r>
            <a:r>
              <a:rPr lang="en-US" sz="2400" dirty="0" err="1" smtClean="0"/>
              <a:t>todo_list</a:t>
            </a:r>
            <a:r>
              <a:rPr lang="en-US" sz="2400" dirty="0" smtClean="0"/>
              <a:t>) in app.py with title and complete columns</a:t>
            </a:r>
          </a:p>
          <a:p>
            <a:r>
              <a:rPr lang="en-US" sz="2400" dirty="0" smtClean="0"/>
              <a:t># Differentiate 2 complete statuses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Functionalities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Create function to add a new </a:t>
            </a:r>
            <a:r>
              <a:rPr lang="en-US" sz="2400" dirty="0" err="1" smtClean="0"/>
              <a:t>todo</a:t>
            </a:r>
            <a:endParaRPr lang="en-US" sz="2400" dirty="0" smtClean="0"/>
          </a:p>
          <a:p>
            <a:r>
              <a:rPr lang="en-US" sz="2400" dirty="0" smtClean="0"/>
              <a:t># Create route to add </a:t>
            </a:r>
            <a:r>
              <a:rPr lang="en-US" sz="2400" dirty="0" err="1" smtClean="0"/>
              <a:t>todo</a:t>
            </a:r>
            <a:r>
              <a:rPr lang="en-US" sz="2400" dirty="0" smtClean="0"/>
              <a:t> using the </a:t>
            </a:r>
            <a:r>
              <a:rPr lang="en-US" sz="2400" dirty="0" err="1" smtClean="0"/>
              <a:t>add_todo</a:t>
            </a:r>
            <a:r>
              <a:rPr lang="en-US" sz="2400" dirty="0" smtClean="0"/>
              <a:t> function</a:t>
            </a:r>
          </a:p>
          <a:p>
            <a:r>
              <a:rPr lang="en-US" sz="2400" dirty="0" smtClean="0"/>
              <a:t>In template file: # create links for completing and deleting </a:t>
            </a:r>
            <a:r>
              <a:rPr lang="en-US" sz="2400" dirty="0" err="1" smtClean="0"/>
              <a:t>todo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</a:t>
            </a:r>
            <a:r>
              <a:rPr lang="en-US" dirty="0" smtClean="0"/>
              <a:t>Settings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Pay attention to </a:t>
            </a:r>
            <a:r>
              <a:rPr lang="en-US" b="1" dirty="0" smtClean="0">
                <a:solidFill>
                  <a:srgbClr val="C00000"/>
                </a:solidFill>
              </a:rPr>
              <a:t>code </a:t>
            </a:r>
            <a:r>
              <a:rPr lang="en-US" b="1" dirty="0" smtClean="0">
                <a:solidFill>
                  <a:srgbClr val="C00000"/>
                </a:solidFill>
              </a:rPr>
              <a:t>security issues.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Add </a:t>
            </a:r>
            <a:r>
              <a:rPr lang="en-US" dirty="0" err="1" smtClean="0"/>
              <a:t>GitHub</a:t>
            </a:r>
            <a:r>
              <a:rPr lang="en-US" dirty="0" smtClean="0"/>
              <a:t> MCP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Connect AI assistants to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- manage repos, issues, PRs, and workflows through natural language.</a:t>
            </a:r>
          </a:p>
          <a:p>
            <a:r>
              <a:rPr lang="en-US" sz="2400" dirty="0" smtClean="0"/>
              <a:t>URL: </a:t>
            </a:r>
            <a:r>
              <a:rPr lang="en-US" sz="2400" dirty="0" smtClean="0">
                <a:hlinkClick r:id="rId2"/>
              </a:rPr>
              <a:t>https://api.githubcopilot.com/mcp/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7825" y="3317875"/>
            <a:ext cx="5848350" cy="163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and Test </a:t>
            </a:r>
            <a:r>
              <a:rPr lang="en-US" dirty="0" err="1" smtClean="0"/>
              <a:t>GitHub</a:t>
            </a:r>
            <a:r>
              <a:rPr lang="en-US" smtClean="0"/>
              <a:t> Tools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84504"/>
            <a:ext cx="6220714" cy="433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Enterprise software development with the support of </a:t>
            </a:r>
            <a:r>
              <a:rPr lang="en-US" sz="2000" dirty="0" err="1" smtClean="0"/>
              <a:t>ChatGPT</a:t>
            </a:r>
            <a:r>
              <a:rPr lang="en-US" sz="2000" dirty="0" smtClean="0"/>
              <a:t> and Copilot: Project-based case study.</a:t>
            </a:r>
          </a:p>
          <a:p>
            <a:r>
              <a:rPr lang="en-US" sz="2000" dirty="0" smtClean="0"/>
              <a:t>These two tools support quite well in refining Requirements, Architecture, Design and suggesting code segments for implementation, automatically generating unit tests and deployment scripts.</a:t>
            </a:r>
          </a:p>
          <a:p>
            <a:r>
              <a:rPr lang="en-US" sz="2000" dirty="0" smtClean="0"/>
              <a:t>I have only tested them with Python, but the results are quite impressive, and have great potential to shorten the time for building simple projects or prototypes.</a:t>
            </a:r>
          </a:p>
          <a:p>
            <a:r>
              <a:rPr lang="en-US" sz="2000" dirty="0" smtClean="0"/>
              <a:t>There are still many times when AI and developers do not understand each other (quite annoying 🙂 ).</a:t>
            </a:r>
          </a:p>
          <a:p>
            <a:r>
              <a:rPr lang="en-US" sz="2000" dirty="0" smtClean="0"/>
              <a:t>In order to use the results that AI creates, the developer must have a background, understand architecture, have worked with libraries/tools, and be able to combine knowledge together.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Benchmark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https://github.com/codebude/QRCoder</a:t>
            </a:r>
            <a:endParaRPr lang="en-US" sz="2400" dirty="0" smtClean="0"/>
          </a:p>
          <a:p>
            <a:r>
              <a:rPr lang="en-US" sz="2400" dirty="0" smtClean="0"/>
              <a:t>Add support for net481 in the </a:t>
            </a:r>
            <a:r>
              <a:rPr lang="en-US" sz="2400" dirty="0" err="1" smtClean="0"/>
              <a:t>QRCoder</a:t>
            </a:r>
            <a:r>
              <a:rPr lang="en-US" sz="2400" dirty="0" smtClean="0"/>
              <a:t> project.</a:t>
            </a:r>
          </a:p>
          <a:p>
            <a:r>
              <a:rPr lang="en-US" sz="2400" dirty="0" smtClean="0"/>
              <a:t>Add support for net481 in the </a:t>
            </a:r>
            <a:r>
              <a:rPr lang="en-US" sz="2400" dirty="0" err="1" smtClean="0"/>
              <a:t>QRCoderDemo</a:t>
            </a:r>
            <a:r>
              <a:rPr lang="en-US" sz="2400" dirty="0" smtClean="0"/>
              <a:t> project.</a:t>
            </a:r>
          </a:p>
          <a:p>
            <a:r>
              <a:rPr lang="en-US" sz="2400" dirty="0" smtClean="0"/>
              <a:t>Add support for net8.0 in the </a:t>
            </a:r>
            <a:r>
              <a:rPr lang="en-US" sz="2400" dirty="0" err="1" smtClean="0"/>
              <a:t>QRCoder</a:t>
            </a:r>
            <a:r>
              <a:rPr lang="en-US" sz="2400" dirty="0" smtClean="0"/>
              <a:t> project.</a:t>
            </a:r>
          </a:p>
          <a:p>
            <a:r>
              <a:rPr lang="en-US" sz="2400" dirty="0" smtClean="0"/>
              <a:t>Add support for net8.0-windows in the </a:t>
            </a:r>
            <a:r>
              <a:rPr lang="en-US" sz="2400" dirty="0" err="1" smtClean="0"/>
              <a:t>QRCoderDemo</a:t>
            </a:r>
            <a:r>
              <a:rPr lang="en-US" sz="2400" dirty="0" smtClean="0"/>
              <a:t> project.</a:t>
            </a:r>
          </a:p>
          <a:p>
            <a:r>
              <a:rPr lang="en-US" sz="2400" dirty="0" smtClean="0"/>
              <a:t>Add support for net481 in the </a:t>
            </a:r>
            <a:r>
              <a:rPr lang="en-US" sz="2400" dirty="0" err="1" smtClean="0"/>
              <a:t>QRCoder</a:t>
            </a:r>
            <a:r>
              <a:rPr lang="en-US" sz="2400" dirty="0" smtClean="0"/>
              <a:t> project.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Fix the failing </a:t>
            </a:r>
            <a:r>
              <a:rPr lang="en-US" sz="2400" dirty="0" err="1" smtClean="0">
                <a:solidFill>
                  <a:srgbClr val="C00000"/>
                </a:solidFill>
              </a:rPr>
              <a:t>QRCoderTests.PostscriptQRCodeRendererTests</a:t>
            </a:r>
            <a:r>
              <a:rPr lang="en-US" sz="2400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sz="2400" dirty="0" smtClean="0"/>
              <a:t>Which .NET targets are not installed on my machine?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Remove all .NET targets not installed on my machine from the solution while ensuring the build remains successful.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10246</TotalTime>
  <Words>1068</Words>
  <Application>Microsoft Office PowerPoint</Application>
  <PresentationFormat>On-screen Show (4:3)</PresentationFormat>
  <Paragraphs>147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GitHub Copilot</vt:lpstr>
      <vt:lpstr>Objectives</vt:lpstr>
      <vt:lpstr>Contents</vt:lpstr>
      <vt:lpstr>References</vt:lpstr>
      <vt:lpstr>1. Install VS Code Extension</vt:lpstr>
      <vt:lpstr>2. Open Settings</vt:lpstr>
      <vt:lpstr>3. Sign in to GitHub</vt:lpstr>
      <vt:lpstr>4. Select Preferences</vt:lpstr>
      <vt:lpstr>5. Sign out GitHub</vt:lpstr>
      <vt:lpstr>Slide 10</vt:lpstr>
      <vt:lpstr>1. Create Code for a Queue</vt:lpstr>
      <vt:lpstr>2. Use Inline Chat</vt:lpstr>
      <vt:lpstr>3. Explain Code</vt:lpstr>
      <vt:lpstr>4. Suggest Folder Structure</vt:lpstr>
      <vt:lpstr>5. Generate Code using Comments</vt:lpstr>
      <vt:lpstr>6. Apply Zero-shot Learning</vt:lpstr>
      <vt:lpstr>7. Apply One-shot Learning</vt:lpstr>
      <vt:lpstr>8. Apply Few-shot Learning</vt:lpstr>
      <vt:lpstr>9. Improve Code using Constants</vt:lpstr>
      <vt:lpstr>Slide 20</vt:lpstr>
      <vt:lpstr>1. Prepare flask App</vt:lpstr>
      <vt:lpstr>2. Run flask App</vt:lpstr>
      <vt:lpstr>3. Add Database and Model</vt:lpstr>
      <vt:lpstr>4. Create a Template</vt:lpstr>
      <vt:lpstr>5. Create Functionalities</vt:lpstr>
      <vt:lpstr>Slide 26</vt:lpstr>
      <vt:lpstr>Exploring Settings</vt:lpstr>
      <vt:lpstr>Slide 28</vt:lpstr>
      <vt:lpstr>1. Add GitHub MCP Server</vt:lpstr>
      <vt:lpstr>2. Review and Test GitHub Tools</vt:lpstr>
      <vt:lpstr>Slide 31</vt:lpstr>
      <vt:lpstr>Notes</vt:lpstr>
      <vt:lpstr>A Benchmark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3710</cp:revision>
  <dcterms:created xsi:type="dcterms:W3CDTF">2007-10-06T08:25:13Z</dcterms:created>
  <dcterms:modified xsi:type="dcterms:W3CDTF">2026-03-03T11:16:38Z</dcterms:modified>
</cp:coreProperties>
</file>