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256" r:id="rId2"/>
    <p:sldId id="431" r:id="rId3"/>
    <p:sldId id="603" r:id="rId4"/>
    <p:sldId id="423" r:id="rId5"/>
    <p:sldId id="684" r:id="rId6"/>
    <p:sldId id="658" r:id="rId7"/>
    <p:sldId id="663" r:id="rId8"/>
    <p:sldId id="681" r:id="rId9"/>
    <p:sldId id="682" r:id="rId10"/>
    <p:sldId id="671" r:id="rId11"/>
    <p:sldId id="673" r:id="rId12"/>
    <p:sldId id="664" r:id="rId13"/>
    <p:sldId id="675" r:id="rId14"/>
    <p:sldId id="676" r:id="rId15"/>
    <p:sldId id="669" r:id="rId16"/>
    <p:sldId id="677" r:id="rId17"/>
    <p:sldId id="680" r:id="rId18"/>
    <p:sldId id="678" r:id="rId19"/>
    <p:sldId id="683" r:id="rId20"/>
    <p:sldId id="679" r:id="rId21"/>
    <p:sldId id="672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47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E0EE6-BA34-4C45-82C4-9F1F3A459FA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E0EE6-BA34-4C45-82C4-9F1F3A459FA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E0EE6-BA34-4C45-82C4-9F1F3A459FA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gitlab.com/" TargetMode="External"/><Relationship Id="rId2" Type="http://schemas.openxmlformats.org/officeDocument/2006/relationships/hyperlink" Target="https://github.com/features/action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https://travis-ci.org/" TargetMode="External"/><Relationship Id="rId4" Type="http://schemas.openxmlformats.org/officeDocument/2006/relationships/hyperlink" Target="https://circleci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Solution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prototype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an </a:t>
            </a:r>
            <a:r>
              <a:rPr lang="en-US" sz="2400" i="1" dirty="0" smtClean="0">
                <a:solidFill>
                  <a:srgbClr val="C00000"/>
                </a:solidFill>
              </a:rPr>
              <a:t>architecture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solution sketch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proof of concept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CI/CD/</a:t>
            </a:r>
            <a:r>
              <a:rPr lang="en-US" sz="2400" i="1" dirty="0" err="1" smtClean="0">
                <a:solidFill>
                  <a:srgbClr val="C00000"/>
                </a:solidFill>
              </a:rPr>
              <a:t>DevOps</a:t>
            </a:r>
            <a:r>
              <a:rPr lang="en-US" sz="2400" i="1" dirty="0" smtClean="0">
                <a:solidFill>
                  <a:srgbClr val="C00000"/>
                </a:solidFill>
              </a:rPr>
              <a:t> scripts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and operate </a:t>
            </a:r>
            <a:r>
              <a:rPr lang="en-US" sz="2400" i="1" dirty="0" err="1" smtClean="0">
                <a:solidFill>
                  <a:srgbClr val="C00000"/>
                </a:solidFill>
              </a:rPr>
              <a:t>Kanban</a:t>
            </a:r>
            <a:r>
              <a:rPr lang="en-US" sz="2400" i="1" dirty="0" smtClean="0">
                <a:solidFill>
                  <a:srgbClr val="C00000"/>
                </a:solidFill>
              </a:rPr>
              <a:t> board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project </a:t>
            </a:r>
            <a:r>
              <a:rPr lang="en-US" sz="2400" i="1" dirty="0" smtClean="0">
                <a:solidFill>
                  <a:srgbClr val="C00000"/>
                </a:solidFill>
              </a:rPr>
              <a:t>estimate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Prototype.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Evaluation Approach.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Expected Products.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CI/CD/</a:t>
            </a:r>
            <a:r>
              <a:rPr lang="en-US" sz="2400" dirty="0" err="1" smtClean="0"/>
              <a:t>DevOps</a:t>
            </a:r>
            <a:r>
              <a:rPr lang="en-US" sz="2400" dirty="0" smtClean="0"/>
              <a:t> Tools.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Kanban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smtClean="0"/>
              <a:t>Estimation.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Services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438400"/>
            <a:ext cx="8001386" cy="262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Build Prototype</a:t>
            </a:r>
            <a:endParaRPr lang="en-US" dirty="0"/>
          </a:p>
        </p:txBody>
      </p:sp>
      <p:pic>
        <p:nvPicPr>
          <p:cNvPr id="1026" name="Picture 2" descr="https://s18798.pcdn.co/dispatch/wp-content/uploads/sites/8960/2019/08/prototyp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209800"/>
            <a:ext cx="6350000" cy="317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4+1 View Model</a:t>
            </a:r>
          </a:p>
          <a:p>
            <a:pPr lvl="1"/>
            <a:r>
              <a:rPr lang="en-US" sz="2200" dirty="0" smtClean="0"/>
              <a:t>Functional (Logical) (Diagram)</a:t>
            </a:r>
          </a:p>
          <a:p>
            <a:pPr lvl="1"/>
            <a:r>
              <a:rPr lang="en-US" sz="2200" dirty="0" smtClean="0"/>
              <a:t>Development (Project Structure) (Code)</a:t>
            </a:r>
          </a:p>
          <a:p>
            <a:pPr lvl="2"/>
            <a:r>
              <a:rPr lang="en-US" sz="1800" i="1" dirty="0" smtClean="0">
                <a:solidFill>
                  <a:srgbClr val="C00000"/>
                </a:solidFill>
              </a:rPr>
              <a:t>Programming Languages</a:t>
            </a:r>
            <a:endParaRPr lang="en-US" sz="1800" dirty="0" smtClean="0"/>
          </a:p>
          <a:p>
            <a:pPr lvl="2"/>
            <a:r>
              <a:rPr lang="en-US" sz="1800" i="1" dirty="0" smtClean="0">
                <a:solidFill>
                  <a:srgbClr val="C00000"/>
                </a:solidFill>
              </a:rPr>
              <a:t>Technologies and Tools</a:t>
            </a:r>
          </a:p>
          <a:p>
            <a:pPr lvl="1"/>
            <a:r>
              <a:rPr lang="en-US" sz="2200" dirty="0" smtClean="0"/>
              <a:t>Deployment (Servers) (Diagram)</a:t>
            </a:r>
          </a:p>
          <a:p>
            <a:pPr lvl="1"/>
            <a:r>
              <a:rPr lang="en-US" sz="2200" dirty="0" smtClean="0"/>
              <a:t>Process (Diagram)</a:t>
            </a:r>
          </a:p>
          <a:p>
            <a:pPr lvl="1"/>
            <a:r>
              <a:rPr lang="en-US" sz="2200" dirty="0" smtClean="0"/>
              <a:t>(Use cases/Scenarios)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Security</a:t>
            </a:r>
            <a:r>
              <a:rPr lang="en-US" sz="2600" dirty="0" smtClean="0"/>
              <a:t> view.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Storage</a:t>
            </a:r>
            <a:r>
              <a:rPr lang="en-US" sz="2600" dirty="0" smtClean="0"/>
              <a:t> (Data Models) (Diagram)</a:t>
            </a:r>
          </a:p>
          <a:p>
            <a:endParaRPr lang="en-US" sz="2600" dirty="0"/>
          </a:p>
        </p:txBody>
      </p:sp>
      <p:pic>
        <p:nvPicPr>
          <p:cNvPr id="4" name="Picture 2" descr="https://www.cmstat.com/wp-content/uploads/iStock-636609180-1024x56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448" y="4590288"/>
            <a:ext cx="3121152" cy="1734312"/>
          </a:xfrm>
          <a:prstGeom prst="rect">
            <a:avLst/>
          </a:prstGeom>
          <a:noFill/>
        </p:spPr>
      </p:pic>
      <p:pic>
        <p:nvPicPr>
          <p:cNvPr id="6" name="Picture 2" descr="https://static.thenounproject.com/png/382831-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18517" y="1727517"/>
            <a:ext cx="2539683" cy="25396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Agents and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Architecture does </a:t>
            </a:r>
            <a:r>
              <a:rPr lang="en-US" i="1" dirty="0" smtClean="0">
                <a:solidFill>
                  <a:srgbClr val="C00000"/>
                </a:solidFill>
              </a:rPr>
              <a:t>not always need to be designed first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can </a:t>
            </a:r>
            <a:r>
              <a:rPr lang="en-US" i="1" dirty="0" smtClean="0">
                <a:solidFill>
                  <a:srgbClr val="C00000"/>
                </a:solidFill>
              </a:rPr>
              <a:t>emerge from implementation or generation processes</a:t>
            </a:r>
            <a:r>
              <a:rPr lang="en-US" dirty="0" smtClean="0"/>
              <a:t>.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Important inputs</a:t>
            </a:r>
            <a:r>
              <a:rPr lang="en-US" dirty="0" smtClean="0"/>
              <a:t>: technology stacks + architectural patterns.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Why Derive Architecture from Code?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primary value of architecture today often lies in </a:t>
            </a:r>
            <a:r>
              <a:rPr lang="en-US" i="1" dirty="0" smtClean="0">
                <a:solidFill>
                  <a:srgbClr val="C00000"/>
                </a:solidFill>
              </a:rPr>
              <a:t>analysis, evaluation, and refinement</a:t>
            </a:r>
            <a:r>
              <a:rPr lang="en-US" dirty="0" smtClean="0"/>
              <a:t>, rather than solely in upfront design.</a:t>
            </a:r>
          </a:p>
          <a:p>
            <a:pPr lvl="1"/>
            <a:r>
              <a:rPr lang="en-US" dirty="0" smtClean="0"/>
              <a:t>System Understanding</a:t>
            </a:r>
          </a:p>
          <a:p>
            <a:pPr lvl="1"/>
            <a:r>
              <a:rPr lang="en-US" dirty="0" smtClean="0"/>
              <a:t>Evaluating Non-Functional Properties</a:t>
            </a:r>
          </a:p>
          <a:p>
            <a:pPr lvl="1"/>
            <a:r>
              <a:rPr lang="en-US" dirty="0" smtClean="0"/>
              <a:t>Refining Structural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and Explain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step is required for </a:t>
            </a:r>
            <a:r>
              <a:rPr lang="en-US" sz="2400" i="1" dirty="0" smtClean="0">
                <a:solidFill>
                  <a:srgbClr val="C00000"/>
                </a:solidFill>
              </a:rPr>
              <a:t>complex features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Typical artifact: Flowcharts.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819400"/>
            <a:ext cx="3065780" cy="3380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Solution Sketch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800" dirty="0" smtClean="0"/>
              <a:t>Development </a:t>
            </a:r>
            <a:r>
              <a:rPr lang="en-US" sz="2600" dirty="0" smtClean="0"/>
              <a:t>Architecture</a:t>
            </a:r>
          </a:p>
          <a:p>
            <a:pPr marL="914400" lvl="1" indent="-514350">
              <a:buFont typeface="Wingdings"/>
              <a:buChar char="à"/>
            </a:pPr>
            <a:r>
              <a:rPr lang="en-US" sz="2200" i="1" dirty="0" smtClean="0">
                <a:solidFill>
                  <a:srgbClr val="C00000"/>
                </a:solidFill>
              </a:rPr>
              <a:t>Programming Languages</a:t>
            </a:r>
            <a:r>
              <a:rPr lang="en-US" sz="2200" dirty="0" smtClean="0"/>
              <a:t>  (Go, JavaScript)</a:t>
            </a:r>
          </a:p>
          <a:p>
            <a:pPr marL="914400" lvl="1" indent="-514350">
              <a:buFont typeface="Wingdings"/>
              <a:buChar char="à"/>
            </a:pPr>
            <a:r>
              <a:rPr lang="en-US" sz="2200" i="1" dirty="0" smtClean="0">
                <a:solidFill>
                  <a:srgbClr val="C00000"/>
                </a:solidFill>
              </a:rPr>
              <a:t>Frameworks</a:t>
            </a:r>
            <a:r>
              <a:rPr lang="en-US" sz="2200" dirty="0" smtClean="0"/>
              <a:t>, Libraries, APIs/Services, Platforms, SDKs, Tools</a:t>
            </a:r>
          </a:p>
          <a:p>
            <a:pPr marL="514350" indent="-514350">
              <a:buFont typeface="Wingdings"/>
              <a:buChar char="à"/>
            </a:pPr>
            <a:r>
              <a:rPr lang="en-US" sz="2600" dirty="0" smtClean="0">
                <a:sym typeface="Wingdings" pitchFamily="2" charset="2"/>
              </a:rPr>
              <a:t>Source Code</a:t>
            </a:r>
            <a:endParaRPr lang="en-US" sz="2600" dirty="0" smtClean="0"/>
          </a:p>
        </p:txBody>
      </p:sp>
      <p:pic>
        <p:nvPicPr>
          <p:cNvPr id="5" name="Picture 2" descr="Image result for hand-on experienc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2766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Proof of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600" dirty="0" smtClean="0"/>
              <a:t>Solution Sketch</a:t>
            </a:r>
          </a:p>
          <a:p>
            <a:pPr marL="514350" indent="-514350">
              <a:buNone/>
            </a:pPr>
            <a:r>
              <a:rPr lang="en-US" sz="2400" dirty="0" smtClean="0">
                <a:sym typeface="Wingdings" pitchFamily="2" charset="2"/>
              </a:rPr>
              <a:t>	</a:t>
            </a:r>
            <a:r>
              <a:rPr lang="en-US" sz="2200" dirty="0" smtClean="0">
                <a:sym typeface="Wingdings" pitchFamily="2" charset="2"/>
              </a:rPr>
              <a:t> </a:t>
            </a:r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difficult</a:t>
            </a:r>
            <a:r>
              <a:rPr lang="en-US" sz="2200" dirty="0" smtClean="0"/>
              <a:t> feature implementation.</a:t>
            </a:r>
          </a:p>
        </p:txBody>
      </p:sp>
      <p:pic>
        <p:nvPicPr>
          <p:cNvPr id="6" name="Picture 2" descr="http://cdn2.content.compendiumblog.com/uploads/user/a5790abb-f33a-41a4-bc40-0e0eeaacc8bd/88341a33-ae0f-45d2-9b44-32576c378369/Image/979bc2eba70f46a5bd4a29e4e8a263c4/implementation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67100" y="2794000"/>
            <a:ext cx="2476500" cy="330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Select Evaluation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514350" indent="-514350"/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testing objectives</a:t>
            </a:r>
            <a:r>
              <a:rPr lang="en-US" sz="2400" dirty="0" smtClean="0"/>
              <a:t> that are expected to be performed on the system:</a:t>
            </a:r>
          </a:p>
          <a:p>
            <a:pPr marL="914400" lvl="1" indent="-514350"/>
            <a:r>
              <a:rPr lang="en-US" sz="2000" dirty="0" smtClean="0"/>
              <a:t>Functionality</a:t>
            </a:r>
          </a:p>
          <a:p>
            <a:pPr marL="914400" lvl="1" indent="-514350"/>
            <a:r>
              <a:rPr lang="en-US" sz="2000" dirty="0" smtClean="0"/>
              <a:t>UI/UX</a:t>
            </a:r>
          </a:p>
          <a:p>
            <a:pPr marL="914400" lvl="1" indent="-514350"/>
            <a:r>
              <a:rPr lang="en-US" sz="2000" dirty="0" smtClean="0"/>
              <a:t>Load testing, security testing, stress testing.</a:t>
            </a:r>
          </a:p>
          <a:p>
            <a:pPr marL="514350" indent="-514350"/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comparison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evaluation methods</a:t>
            </a:r>
            <a:r>
              <a:rPr lang="en-US" sz="2400" dirty="0" smtClean="0"/>
              <a:t> for the system against similar systems:</a:t>
            </a:r>
          </a:p>
          <a:p>
            <a:pPr marL="914400" lvl="1" indent="-514350"/>
            <a:r>
              <a:rPr lang="en-US" sz="2000" dirty="0" smtClean="0"/>
              <a:t>Feature comparison table</a:t>
            </a:r>
          </a:p>
          <a:p>
            <a:pPr marL="914400" lvl="1" indent="-514350"/>
            <a:r>
              <a:rPr lang="en-US" sz="2000" dirty="0" smtClean="0"/>
              <a:t>User surveys based on the problem to be solved.</a:t>
            </a:r>
          </a:p>
        </p:txBody>
      </p:sp>
      <p:pic>
        <p:nvPicPr>
          <p:cNvPr id="5" name="Picture 2" descr="Image result for hand-on experienc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6800" y="23622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List Expected 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400" dirty="0" smtClean="0"/>
              <a:t>The expected products to be obtained. These products may include, but are not limited to, the following:</a:t>
            </a:r>
          </a:p>
          <a:p>
            <a:pPr marL="914400" lvl="1" indent="-514350"/>
            <a:r>
              <a:rPr lang="en-US" sz="2000" dirty="0" smtClean="0"/>
              <a:t>Mobile application source code,</a:t>
            </a:r>
          </a:p>
          <a:p>
            <a:pPr marL="914400" lvl="1" indent="-514350"/>
            <a:r>
              <a:rPr lang="en-US" sz="2000" dirty="0" smtClean="0"/>
              <a:t>Web application source code,</a:t>
            </a:r>
          </a:p>
          <a:p>
            <a:pPr marL="914400" lvl="1" indent="-514350"/>
            <a:r>
              <a:rPr lang="en-US" sz="2000" dirty="0" smtClean="0"/>
              <a:t>Web service source code,</a:t>
            </a:r>
          </a:p>
          <a:p>
            <a:pPr marL="914400" lvl="1" indent="-514350"/>
            <a:r>
              <a:rPr lang="en-US" sz="2000" dirty="0" smtClean="0"/>
              <a:t>Newly generated data,</a:t>
            </a:r>
          </a:p>
          <a:p>
            <a:pPr marL="914400" lvl="1" indent="-514350"/>
            <a:r>
              <a:rPr lang="en-US" sz="2000" dirty="0" smtClean="0"/>
              <a:t>Test result reports,</a:t>
            </a:r>
          </a:p>
          <a:p>
            <a:pPr marL="914400" lvl="1" indent="-514350"/>
            <a:r>
              <a:rPr lang="en-US" sz="2000" dirty="0" smtClean="0"/>
              <a:t>Survey data,</a:t>
            </a:r>
          </a:p>
          <a:p>
            <a:pPr marL="914400" lvl="1" indent="-514350"/>
            <a:r>
              <a:rPr lang="en-US" sz="2000" dirty="0" smtClean="0"/>
              <a:t>Comparison report with a similar system,</a:t>
            </a:r>
          </a:p>
          <a:p>
            <a:pPr marL="914400" lvl="1" indent="-514350"/>
            <a:r>
              <a:rPr lang="en-US" sz="2000" dirty="0" smtClean="0"/>
              <a:t>Technical documentation detailing the method for reproducing the products.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Review Technical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User stories (WHAT), use cases (HOW), story map (HOW), prototypes (WHAT + HOW).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Architecture &amp; Design.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Programming Languages.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Technologies and Tools.</a:t>
            </a:r>
          </a:p>
        </p:txBody>
      </p:sp>
      <p:pic>
        <p:nvPicPr>
          <p:cNvPr id="12290" name="Picture 2" descr="https://aambpublicoceanservice.blob.core.windows.net/oceanserviceprod/education/edu-teacher-ic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495800"/>
            <a:ext cx="2692400" cy="1841500"/>
          </a:xfrm>
          <a:prstGeom prst="rect">
            <a:avLst/>
          </a:prstGeom>
          <a:noFill/>
        </p:spPr>
      </p:pic>
      <p:pic>
        <p:nvPicPr>
          <p:cNvPr id="5" name="Picture 2" descr="https://bonlinelearning.com/wp-content/uploads/2013/01/shutterstock_6837196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191000"/>
            <a:ext cx="3048000" cy="2033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Establish CI/CD/</a:t>
            </a:r>
            <a:r>
              <a:rPr lang="en-US" dirty="0" err="1" smtClean="0"/>
              <a:t>DevOps</a:t>
            </a:r>
            <a:r>
              <a:rPr lang="en-US" dirty="0" smtClean="0"/>
              <a:t>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400" dirty="0" err="1" smtClean="0"/>
              <a:t>GitHub</a:t>
            </a:r>
            <a:r>
              <a:rPr lang="en-US" sz="2400" dirty="0" smtClean="0"/>
              <a:t> Actions. </a:t>
            </a:r>
            <a:r>
              <a:rPr lang="en-US" sz="2400" dirty="0" smtClean="0">
                <a:hlinkClick r:id="rId2"/>
              </a:rPr>
              <a:t>https://github.com/features/actions</a:t>
            </a:r>
            <a:endParaRPr lang="en-US" sz="2400" dirty="0" smtClean="0"/>
          </a:p>
          <a:p>
            <a:pPr marL="514350" indent="-514350"/>
            <a:r>
              <a:rPr lang="en-US" sz="2400" dirty="0" err="1" smtClean="0"/>
              <a:t>GitLab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3"/>
              </a:rPr>
              <a:t>https://about.gitlab.com/</a:t>
            </a:r>
            <a:endParaRPr lang="en-US" sz="2400" dirty="0" smtClean="0"/>
          </a:p>
          <a:p>
            <a:pPr marL="514350" indent="-514350"/>
            <a:r>
              <a:rPr lang="en-US" sz="2400" dirty="0" err="1" smtClean="0"/>
              <a:t>CircleCI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4"/>
              </a:rPr>
              <a:t>https://circleci.com/</a:t>
            </a:r>
            <a:endParaRPr lang="en-US" sz="2400" dirty="0" smtClean="0"/>
          </a:p>
          <a:p>
            <a:pPr marL="514350" indent="-514350"/>
            <a:r>
              <a:rPr lang="en-US" sz="2400" dirty="0" smtClean="0"/>
              <a:t>Travis CI. </a:t>
            </a:r>
            <a:r>
              <a:rPr lang="en-US" sz="2400" dirty="0" smtClean="0">
                <a:hlinkClick r:id="rId5"/>
              </a:rPr>
              <a:t>https://travis-ci.org/</a:t>
            </a:r>
            <a:r>
              <a:rPr lang="en-US" sz="2400" dirty="0" smtClean="0"/>
              <a:t> </a:t>
            </a:r>
          </a:p>
        </p:txBody>
      </p:sp>
      <p:pic>
        <p:nvPicPr>
          <p:cNvPr id="5" name="Picture 2" descr="Image result for hand-on experienc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03600" y="3784600"/>
            <a:ext cx="254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Methods and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600" dirty="0" smtClean="0"/>
              <a:t>Scrum/</a:t>
            </a:r>
            <a:r>
              <a:rPr lang="en-US" sz="2600" dirty="0" err="1" smtClean="0"/>
              <a:t>Kanban</a:t>
            </a:r>
            <a:r>
              <a:rPr lang="en-US" sz="2600" dirty="0" smtClean="0"/>
              <a:t>/RUP/Waterfall</a:t>
            </a:r>
          </a:p>
          <a:p>
            <a:pPr marL="857250" lvl="1" indent="-457200">
              <a:buFont typeface="Courier New" pitchFamily="49" charset="0"/>
              <a:buChar char="o"/>
            </a:pPr>
            <a:r>
              <a:rPr lang="en-US" sz="2200" dirty="0" smtClean="0"/>
              <a:t>Scrum: 2 weeks: Release </a:t>
            </a:r>
            <a:r>
              <a:rPr lang="en-US" sz="2200" dirty="0" smtClean="0">
                <a:sym typeface="Wingdings" pitchFamily="2" charset="2"/>
              </a:rPr>
              <a:t></a:t>
            </a:r>
            <a:r>
              <a:rPr lang="en-US" sz="2200" dirty="0" smtClean="0"/>
              <a:t> Solving a SMALL problem.</a:t>
            </a:r>
          </a:p>
          <a:p>
            <a:pPr marL="857250" lvl="1" indent="-457200">
              <a:buFont typeface="Courier New" pitchFamily="49" charset="0"/>
              <a:buChar char="o"/>
            </a:pPr>
            <a:r>
              <a:rPr lang="en-US" sz="2200" dirty="0" err="1" smtClean="0"/>
              <a:t>Kanban</a:t>
            </a:r>
            <a:r>
              <a:rPr lang="en-US" sz="2200" dirty="0" smtClean="0"/>
              <a:t>: flexible iteration: Release </a:t>
            </a:r>
            <a:r>
              <a:rPr lang="en-US" sz="2200" dirty="0" smtClean="0">
                <a:sym typeface="Wingdings" pitchFamily="2" charset="2"/>
              </a:rPr>
              <a:t></a:t>
            </a:r>
            <a:r>
              <a:rPr lang="en-US" sz="2200" dirty="0" smtClean="0"/>
              <a:t> Solving a SMALL problem.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 smtClean="0"/>
              <a:t>Tools (Task Management, Time Tracking).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 smtClean="0"/>
              <a:t>Management (Estimation/Motivation)</a:t>
            </a:r>
          </a:p>
        </p:txBody>
      </p:sp>
      <p:pic>
        <p:nvPicPr>
          <p:cNvPr id="12290" name="Picture 2" descr="https://aambpublicoceanservice.blob.core.windows.net/oceanserviceprod/education/edu-teacher-ic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419600"/>
            <a:ext cx="2692400" cy="1841500"/>
          </a:xfrm>
          <a:prstGeom prst="rect">
            <a:avLst/>
          </a:prstGeom>
          <a:noFill/>
        </p:spPr>
      </p:pic>
      <p:pic>
        <p:nvPicPr>
          <p:cNvPr id="6" name="Picture 2" descr="https://bonlinelearning.com/wp-content/uploads/2013/01/shutterstock_6837196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114800"/>
            <a:ext cx="3048000" cy="2033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Kanban</a:t>
            </a:r>
            <a:r>
              <a:rPr lang="en-US" dirty="0" smtClean="0"/>
              <a:t>-style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Complete the work (user stories) within 1 week.</a:t>
            </a:r>
          </a:p>
          <a:p>
            <a:r>
              <a:rPr lang="en-US" sz="2800" dirty="0" smtClean="0"/>
              <a:t>Track completed work via AI to determine percent complete.</a:t>
            </a:r>
          </a:p>
          <a:p>
            <a:r>
              <a:rPr lang="en-US" sz="2800" dirty="0" smtClean="0"/>
              <a:t>Estimate the remaining effort based on weighted story completion.</a:t>
            </a:r>
          </a:p>
          <a:p>
            <a:r>
              <a:rPr lang="en-US" sz="2800" dirty="0" smtClean="0"/>
              <a:t>Caveat: </a:t>
            </a:r>
            <a:r>
              <a:rPr lang="en-US" sz="2800" dirty="0" err="1" smtClean="0"/>
              <a:t>Kanban</a:t>
            </a:r>
            <a:r>
              <a:rPr lang="en-US" sz="2800" dirty="0" smtClean="0"/>
              <a:t> works best when story sizes are relatively uniform or weighted appropriately.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 Product Solution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models expected to be applied or improved.</a:t>
            </a:r>
          </a:p>
          <a:p>
            <a:r>
              <a:rPr lang="en-US" sz="2400" dirty="0" smtClean="0"/>
              <a:t>The existing data sources and source code expected to be used for training.</a:t>
            </a:r>
          </a:p>
          <a:p>
            <a:r>
              <a:rPr lang="en-US" sz="2400" dirty="0" smtClean="0"/>
              <a:t>The GPU resources intended to be used.</a:t>
            </a:r>
          </a:p>
          <a:p>
            <a:r>
              <a:rPr lang="en-US" sz="2400" dirty="0" smtClean="0"/>
              <a:t>The experimental results of training and inference using the existing source code and dataset.</a:t>
            </a:r>
          </a:p>
        </p:txBody>
      </p:sp>
      <p:pic>
        <p:nvPicPr>
          <p:cNvPr id="65540" name="Picture 4" descr="https://d1x38x16ucq8vm.cloudfront.net/assets/longform/project_proposal/project-proposal-76f0a3e70715ab89442aa753fee01c842643fd3567e49c6083e0664f5b74bbf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419600"/>
            <a:ext cx="3556000" cy="1628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12867</TotalTime>
  <Words>612</Words>
  <Application>Microsoft Office PowerPoint</Application>
  <PresentationFormat>On-screen Show (4:3)</PresentationFormat>
  <Paragraphs>106</Paragraphs>
  <Slides>22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Solution Specification</vt:lpstr>
      <vt:lpstr>Objectives</vt:lpstr>
      <vt:lpstr>Contents</vt:lpstr>
      <vt:lpstr>References</vt:lpstr>
      <vt:lpstr>1. Prepare Services</vt:lpstr>
      <vt:lpstr>1. Build Prototype</vt:lpstr>
      <vt:lpstr>2. Create Architecture</vt:lpstr>
      <vt:lpstr>AI Agents and Architecture</vt:lpstr>
      <vt:lpstr>Why Derive Architecture from Code?</vt:lpstr>
      <vt:lpstr>3. Select and Explain Algorithms</vt:lpstr>
      <vt:lpstr>4. Create Solution Sketch</vt:lpstr>
      <vt:lpstr>5. Create Proof of Concept</vt:lpstr>
      <vt:lpstr>6. Select Evaluation Approach</vt:lpstr>
      <vt:lpstr>7. List Expected Products</vt:lpstr>
      <vt:lpstr>8. Review Technical Solution</vt:lpstr>
      <vt:lpstr>Slide 16</vt:lpstr>
      <vt:lpstr>1. Establish CI/CD/DevOps Tools</vt:lpstr>
      <vt:lpstr>2. Select Methods and Processes</vt:lpstr>
      <vt:lpstr>Kanban-style Estimation</vt:lpstr>
      <vt:lpstr>Slide 20</vt:lpstr>
      <vt:lpstr>ML Product Solution Specification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5340</cp:revision>
  <dcterms:created xsi:type="dcterms:W3CDTF">2007-10-06T08:25:13Z</dcterms:created>
  <dcterms:modified xsi:type="dcterms:W3CDTF">2026-04-23T20:13:01Z</dcterms:modified>
</cp:coreProperties>
</file>