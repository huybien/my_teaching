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649" r:id="rId2"/>
    <p:sldId id="646" r:id="rId3"/>
    <p:sldId id="647" r:id="rId4"/>
    <p:sldId id="655" r:id="rId5"/>
    <p:sldId id="656" r:id="rId6"/>
    <p:sldId id="657" r:id="rId7"/>
    <p:sldId id="658" r:id="rId8"/>
    <p:sldId id="659" r:id="rId9"/>
    <p:sldId id="660" r:id="rId10"/>
    <p:sldId id="661" r:id="rId11"/>
    <p:sldId id="662" r:id="rId12"/>
    <p:sldId id="663" r:id="rId13"/>
    <p:sldId id="664" r:id="rId14"/>
    <p:sldId id="665" r:id="rId15"/>
    <p:sldId id="666" r:id="rId16"/>
    <p:sldId id="668" r:id="rId17"/>
    <p:sldId id="669" r:id="rId18"/>
    <p:sldId id="670" r:id="rId19"/>
    <p:sldId id="671" r:id="rId20"/>
    <p:sldId id="674" r:id="rId21"/>
    <p:sldId id="672" r:id="rId22"/>
    <p:sldId id="673" r:id="rId23"/>
    <p:sldId id="675" r:id="rId24"/>
    <p:sldId id="676" r:id="rId25"/>
    <p:sldId id="677" r:id="rId26"/>
    <p:sldId id="678" r:id="rId27"/>
    <p:sldId id="667" r:id="rId28"/>
    <p:sldId id="644" r:id="rId29"/>
    <p:sldId id="645" r:id="rId30"/>
    <p:sldId id="654" r:id="rId31"/>
    <p:sldId id="652" r:id="rId32"/>
    <p:sldId id="653" r:id="rId33"/>
    <p:sldId id="679"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28"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8434D400-6504-413F-B54E-738978C9D58D}" type="datetimeFigureOut">
              <a:rPr lang="en-US"/>
              <a:pPr>
                <a:defRPr/>
              </a:pPr>
              <a:t>12/24/2024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C1B037-3188-409D-8585-0062FF378DB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F650246-B75B-4111-A4E3-17CED8183F51}" type="datetimeFigureOut">
              <a:rPr lang="en-US"/>
              <a:pPr>
                <a:defRPr/>
              </a:pPr>
              <a:t>12/24/2024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3713B35-0DC7-41A1-836F-F07E105F72E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A55B62FE-A4BA-4F3B-8724-099A9867E83E}" type="datetimeFigureOut">
              <a:rPr lang="en-US"/>
              <a:pPr>
                <a:defRPr/>
              </a:pPr>
              <a:t>12/24/2024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1E2A0DB-97FF-4E2D-961A-53A8B3E81CF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36FBCD77-DB7E-410F-8346-A9CE932D0AC1}" type="datetimeFigureOut">
              <a:rPr lang="en-US"/>
              <a:pPr>
                <a:defRPr/>
              </a:pPr>
              <a:t>12/24/2024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5B3858F-6EED-4FD9-B63D-3FB7FC26C95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6FD8737-39E6-4861-92A8-89AC4192A622}" type="datetimeFigureOut">
              <a:rPr lang="en-US"/>
              <a:pPr>
                <a:defRPr/>
              </a:pPr>
              <a:t>12/24/2024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F811265-6FEF-4F82-B77F-9478A26020F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C77D96A-39D8-4C6D-B965-8C8786F338A6}" type="datetimeFigureOut">
              <a:rPr lang="en-US"/>
              <a:pPr>
                <a:defRPr/>
              </a:pPr>
              <a:t>12/24/2024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E14D288-D738-45D0-B23A-7E0F18151E3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C8036EE-19ED-4D9D-B088-EAFD7232ED0E}" type="datetimeFigureOut">
              <a:rPr lang="en-US"/>
              <a:pPr>
                <a:defRPr/>
              </a:pPr>
              <a:t>12/24/2024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47035E6-112E-46D6-92D2-F2905FE7FE0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D544F72-AE66-47B5-B42F-4F292EBF18C0}" type="datetimeFigureOut">
              <a:rPr lang="en-US"/>
              <a:pPr>
                <a:defRPr/>
              </a:pPr>
              <a:t>12/24/2024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026D519-0129-40C9-A8E0-4AA1DED6835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18D7A31-5AF7-4205-933F-65E4A1293711}" type="datetimeFigureOut">
              <a:rPr lang="en-US"/>
              <a:pPr>
                <a:defRPr/>
              </a:pPr>
              <a:t>12/24/2024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4CC8C2-CC74-4F74-BCEB-5B4FD5CCA75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380A20E-8178-48FA-A129-AAB02AB6D639}" type="datetimeFigureOut">
              <a:rPr lang="en-US"/>
              <a:pPr>
                <a:defRPr/>
              </a:pPr>
              <a:t>12/24/2024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D71C3DA-7D2B-4D47-80E5-C045B94A7C0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816E936-9FA0-4541-B442-5A2338068559}" type="datetimeFigureOut">
              <a:rPr lang="en-US"/>
              <a:pPr>
                <a:defRPr/>
              </a:pPr>
              <a:t>12/24/2024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F8867D3-01D4-40D3-B6DA-7869D49FDF7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553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C091D18-0586-4BD9-8B7F-38B22B7AB35F}" type="datetimeFigureOut">
              <a:rPr lang="en-US"/>
              <a:pPr>
                <a:defRPr/>
              </a:pPr>
              <a:t>12/24/2024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ED71EDE-E083-416B-A0EA-2AE6A7CEE35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edium.com/towards-data-science/how-bend-works-a-parallel-programming-language-that-feels-like-python-but-scales-like-cuda-48be5bf0fc2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wiki/Church_encod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eb.archive.org/web/20150207225438/http:/courses.cs.washington.edu/courses/cse341/08au/general-concepts/scoping.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Lambda Calculus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34289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Peter </a:t>
            </a:r>
            <a:r>
              <a:rPr lang="en-US" sz="2400" dirty="0" err="1" smtClean="0"/>
              <a:t>Selinger</a:t>
            </a:r>
            <a:r>
              <a:rPr lang="en-US" sz="2400" dirty="0" smtClean="0"/>
              <a:t>. Lecture Notes on the Lambda Calculus. 2007.</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dirty="0" smtClean="0"/>
              <a:t>λ-</a:t>
            </a:r>
            <a:r>
              <a:rPr lang="en-US" dirty="0" smtClean="0"/>
              <a:t>Calculus (Lambda Calculus)</a:t>
            </a:r>
            <a:endParaRPr lang="en-US" dirty="0"/>
          </a:p>
        </p:txBody>
      </p:sp>
      <p:sp>
        <p:nvSpPr>
          <p:cNvPr id="3" name="Content Placeholder 2"/>
          <p:cNvSpPr>
            <a:spLocks noGrp="1"/>
          </p:cNvSpPr>
          <p:nvPr>
            <p:ph idx="1"/>
          </p:nvPr>
        </p:nvSpPr>
        <p:spPr/>
        <p:txBody>
          <a:bodyPr/>
          <a:lstStyle/>
          <a:p>
            <a:r>
              <a:rPr lang="en-US" sz="2400" dirty="0" smtClean="0">
                <a:hlinkClick r:id="rId2"/>
              </a:rPr>
              <a:t>https://medium.com/towards-data-science/how-bend-works-a-parallel-programming-language-that-feels-like-python-but-scales-like-cuda-48be5bf0fc2c</a:t>
            </a:r>
            <a:endParaRPr lang="en-US" sz="2400" dirty="0" smtClean="0"/>
          </a:p>
          <a:p>
            <a:r>
              <a:rPr lang="en-US" sz="2400" dirty="0" smtClean="0"/>
              <a:t>The Lambda Calculus is a formal system in mathematical logic created by Alonzo Church in the 1930s.</a:t>
            </a:r>
          </a:p>
          <a:p>
            <a:r>
              <a:rPr lang="en-US" sz="2400" dirty="0" smtClean="0"/>
              <a:t>Its purpose was to investigate some aspects of logic theory from a purely mathematical point of view.</a:t>
            </a:r>
          </a:p>
          <a:p>
            <a:r>
              <a:rPr lang="en-US" sz="2400" dirty="0" smtClean="0"/>
              <a:t>Church was aiming to define what is computability in mathematical terms (what can be calculated using a set of fundamental rules).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t>
            </a:r>
            <a:endParaRPr lang="en-US" dirty="0"/>
          </a:p>
        </p:txBody>
      </p:sp>
      <p:sp>
        <p:nvSpPr>
          <p:cNvPr id="3" name="Content Placeholder 2"/>
          <p:cNvSpPr>
            <a:spLocks noGrp="1"/>
          </p:cNvSpPr>
          <p:nvPr>
            <p:ph idx="1"/>
          </p:nvPr>
        </p:nvSpPr>
        <p:spPr/>
        <p:txBody>
          <a:bodyPr/>
          <a:lstStyle/>
          <a:p>
            <a:r>
              <a:rPr lang="en-US" sz="2400" dirty="0" smtClean="0"/>
              <a:t>a function to multiply a number by two: f(x) = 2 * x</a:t>
            </a:r>
          </a:p>
          <a:p>
            <a:r>
              <a:rPr lang="en-US" sz="2400" dirty="0" smtClean="0"/>
              <a:t>On Python, you can express a named function for that like this:</a:t>
            </a:r>
          </a:p>
          <a:p>
            <a:r>
              <a:rPr lang="en-US" sz="2400" dirty="0" smtClean="0"/>
              <a:t>def </a:t>
            </a:r>
            <a:r>
              <a:rPr lang="en-US" sz="2400" dirty="0" err="1" smtClean="0"/>
              <a:t>multiply_by_two</a:t>
            </a:r>
            <a:r>
              <a:rPr lang="en-US" sz="2400" dirty="0" smtClean="0"/>
              <a:t>(x):</a:t>
            </a:r>
            <a:br>
              <a:rPr lang="en-US" sz="2400" dirty="0" smtClean="0"/>
            </a:br>
            <a:r>
              <a:rPr lang="en-US" sz="2400" dirty="0" smtClean="0"/>
              <a:t>	return 2 * x</a:t>
            </a:r>
            <a:br>
              <a:rPr lang="en-US" sz="2400" dirty="0" smtClean="0"/>
            </a:br>
            <a:r>
              <a:rPr lang="en-US" sz="2400" dirty="0" smtClean="0"/>
              <a:t/>
            </a:r>
            <a:br>
              <a:rPr lang="en-US" sz="2400" dirty="0" smtClean="0"/>
            </a:br>
            <a:r>
              <a:rPr lang="en-US" sz="2400" dirty="0" smtClean="0"/>
              <a:t>print(</a:t>
            </a:r>
            <a:r>
              <a:rPr lang="en-US" sz="2400" dirty="0" err="1" smtClean="0"/>
              <a:t>multiply_by_two</a:t>
            </a:r>
            <a:r>
              <a:rPr lang="en-US" sz="2400" dirty="0" smtClean="0"/>
              <a:t>(2))</a:t>
            </a:r>
            <a:br>
              <a:rPr lang="en-US" sz="2400" dirty="0" smtClean="0"/>
            </a:br>
            <a:r>
              <a:rPr lang="en-US" sz="2400" dirty="0" smtClean="0"/>
              <a:t># 4</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anonymous function</a:t>
            </a:r>
            <a:endParaRPr lang="en-US" dirty="0"/>
          </a:p>
        </p:txBody>
      </p:sp>
      <p:sp>
        <p:nvSpPr>
          <p:cNvPr id="3" name="Content Placeholder 2"/>
          <p:cNvSpPr>
            <a:spLocks noGrp="1"/>
          </p:cNvSpPr>
          <p:nvPr>
            <p:ph idx="1"/>
          </p:nvPr>
        </p:nvSpPr>
        <p:spPr/>
        <p:txBody>
          <a:bodyPr/>
          <a:lstStyle/>
          <a:p>
            <a:r>
              <a:rPr lang="en-US" sz="2400" dirty="0" smtClean="0"/>
              <a:t>You can also express that using lambdas, which are basically an anonymous function:</a:t>
            </a:r>
          </a:p>
          <a:p>
            <a:r>
              <a:rPr lang="en-US" sz="2400" dirty="0" err="1" smtClean="0"/>
              <a:t>multiply_by_two_lambda</a:t>
            </a:r>
            <a:r>
              <a:rPr lang="en-US" sz="2400" dirty="0" smtClean="0"/>
              <a:t> = lambda x: x * 2</a:t>
            </a:r>
            <a:br>
              <a:rPr lang="en-US" sz="2400" dirty="0" smtClean="0"/>
            </a:br>
            <a:r>
              <a:rPr lang="en-US" sz="2400" dirty="0" smtClean="0"/>
              <a:t/>
            </a:r>
            <a:br>
              <a:rPr lang="en-US" sz="2400" dirty="0" smtClean="0"/>
            </a:br>
            <a:r>
              <a:rPr lang="en-US" sz="2400" dirty="0" smtClean="0"/>
              <a:t>print(</a:t>
            </a:r>
            <a:r>
              <a:rPr lang="en-US" sz="2400" dirty="0" err="1" smtClean="0"/>
              <a:t>multiply_by_two_lambda</a:t>
            </a:r>
            <a:r>
              <a:rPr lang="en-US" sz="2400" dirty="0" smtClean="0"/>
              <a:t>(2))</a:t>
            </a:r>
            <a:br>
              <a:rPr lang="en-US" sz="2400" dirty="0" smtClean="0"/>
            </a:br>
            <a:r>
              <a:rPr lang="en-US" sz="2400" dirty="0" smtClean="0"/>
              <a:t># 4</a:t>
            </a:r>
          </a:p>
          <a:p>
            <a:r>
              <a:rPr lang="en-US" sz="2400" dirty="0" smtClean="0"/>
              <a:t>In Lambda Calculus, you express this same function using the notation</a:t>
            </a:r>
            <a:r>
              <a:rPr lang="en-US" sz="2400" i="1" dirty="0" smtClean="0"/>
              <a:t> λx.2x, </a:t>
            </a:r>
            <a:r>
              <a:rPr lang="en-US" sz="2400" dirty="0" smtClean="0"/>
              <a:t>where </a:t>
            </a:r>
            <a:r>
              <a:rPr lang="en-US" sz="2400" i="1" dirty="0" smtClean="0"/>
              <a:t>x </a:t>
            </a:r>
            <a:r>
              <a:rPr lang="en-US" sz="2400" dirty="0" smtClean="0"/>
              <a:t>is the </a:t>
            </a:r>
            <a:r>
              <a:rPr lang="en-US" sz="2400" dirty="0" err="1" smtClean="0"/>
              <a:t>the</a:t>
            </a:r>
            <a:r>
              <a:rPr lang="en-US" sz="2400" dirty="0" smtClean="0"/>
              <a:t> </a:t>
            </a:r>
            <a:r>
              <a:rPr lang="en-US" sz="2400" i="1" dirty="0" smtClean="0"/>
              <a:t>parameter</a:t>
            </a:r>
            <a:r>
              <a:rPr lang="en-US" sz="2400" dirty="0" smtClean="0"/>
              <a:t> and </a:t>
            </a:r>
            <a:r>
              <a:rPr lang="en-US" sz="2400" i="1" dirty="0" smtClean="0"/>
              <a:t>2x</a:t>
            </a:r>
            <a:r>
              <a:rPr lang="en-US" sz="2400" dirty="0" smtClean="0"/>
              <a:t> the </a:t>
            </a:r>
            <a:r>
              <a:rPr lang="en-US" sz="2400" i="1" dirty="0" smtClean="0"/>
              <a:t>body.</a:t>
            </a:r>
            <a:endParaRPr lang="en-US" sz="2400" dirty="0" smtClean="0"/>
          </a:p>
          <a:p>
            <a:r>
              <a:rPr lang="en-US" sz="2400" i="1" dirty="0" smtClean="0"/>
              <a:t>λ&lt;parameter&gt;.&lt;body&gt;</a:t>
            </a:r>
            <a:endParaRPr lang="en-US" sz="2400" dirty="0" smtClean="0"/>
          </a:p>
          <a:p>
            <a:r>
              <a:rPr lang="en-US" sz="2400" dirty="0" smtClean="0"/>
              <a:t>This is called an </a:t>
            </a:r>
            <a:r>
              <a:rPr lang="en-US" sz="2400" i="1" dirty="0" smtClean="0"/>
              <a:t>abstraction. </a:t>
            </a:r>
            <a:r>
              <a:rPr lang="en-US" sz="2400" dirty="0" smtClean="0"/>
              <a:t>An abstraction </a:t>
            </a:r>
            <a:r>
              <a:rPr lang="en-US" sz="2400" i="1" dirty="0" err="1" smtClean="0"/>
              <a:t>λx.t</a:t>
            </a:r>
            <a:r>
              <a:rPr lang="en-US" sz="2400" i="1" dirty="0" smtClean="0"/>
              <a:t> </a:t>
            </a:r>
            <a:r>
              <a:rPr lang="en-US" sz="2400" dirty="0" smtClean="0"/>
              <a:t>denotes an anonymous function that takes a single input variable </a:t>
            </a:r>
            <a:r>
              <a:rPr lang="en-US" sz="2400" i="1" dirty="0" smtClean="0"/>
              <a:t>x </a:t>
            </a:r>
            <a:r>
              <a:rPr lang="en-US" sz="2400" dirty="0" smtClean="0"/>
              <a:t>and returns</a:t>
            </a:r>
            <a:r>
              <a:rPr lang="en-US" sz="2400" i="1" dirty="0" smtClean="0"/>
              <a:t> 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Abstraction</a:t>
            </a:r>
            <a:endParaRPr lang="en-US" dirty="0"/>
          </a:p>
        </p:txBody>
      </p:sp>
      <p:sp>
        <p:nvSpPr>
          <p:cNvPr id="3" name="Content Placeholder 2"/>
          <p:cNvSpPr>
            <a:spLocks noGrp="1"/>
          </p:cNvSpPr>
          <p:nvPr>
            <p:ph idx="1"/>
          </p:nvPr>
        </p:nvSpPr>
        <p:spPr/>
        <p:txBody>
          <a:bodyPr/>
          <a:lstStyle/>
          <a:p>
            <a:r>
              <a:rPr lang="en-US" sz="2400" dirty="0" smtClean="0"/>
              <a:t>In Lambda Calculus, you express this same function using the notation</a:t>
            </a:r>
            <a:r>
              <a:rPr lang="en-US" sz="2400" i="1" dirty="0" smtClean="0"/>
              <a:t> λx.2x, </a:t>
            </a:r>
            <a:r>
              <a:rPr lang="en-US" sz="2400" dirty="0" smtClean="0"/>
              <a:t>where </a:t>
            </a:r>
            <a:r>
              <a:rPr lang="en-US" sz="2400" i="1" dirty="0" smtClean="0"/>
              <a:t>x </a:t>
            </a:r>
            <a:r>
              <a:rPr lang="en-US" sz="2400" dirty="0" smtClean="0"/>
              <a:t>is the </a:t>
            </a:r>
            <a:r>
              <a:rPr lang="en-US" sz="2400" dirty="0" err="1" smtClean="0"/>
              <a:t>the</a:t>
            </a:r>
            <a:r>
              <a:rPr lang="en-US" sz="2400" dirty="0" smtClean="0"/>
              <a:t> </a:t>
            </a:r>
            <a:r>
              <a:rPr lang="en-US" sz="2400" i="1" dirty="0" smtClean="0"/>
              <a:t>parameter</a:t>
            </a:r>
            <a:r>
              <a:rPr lang="en-US" sz="2400" dirty="0" smtClean="0"/>
              <a:t> and </a:t>
            </a:r>
            <a:r>
              <a:rPr lang="en-US" sz="2400" i="1" dirty="0" smtClean="0"/>
              <a:t>2x</a:t>
            </a:r>
            <a:r>
              <a:rPr lang="en-US" sz="2400" dirty="0" smtClean="0"/>
              <a:t> the </a:t>
            </a:r>
            <a:r>
              <a:rPr lang="en-US" sz="2400" i="1" dirty="0" smtClean="0"/>
              <a:t>body.</a:t>
            </a:r>
            <a:endParaRPr lang="en-US" sz="2400" dirty="0" smtClean="0"/>
          </a:p>
          <a:p>
            <a:r>
              <a:rPr lang="en-US" sz="2400" i="1" dirty="0" smtClean="0"/>
              <a:t>λ&lt;parameter&gt;.&lt;body&gt;</a:t>
            </a:r>
            <a:endParaRPr lang="en-US" sz="2400" dirty="0" smtClean="0"/>
          </a:p>
          <a:p>
            <a:r>
              <a:rPr lang="en-US" sz="2400" dirty="0" smtClean="0"/>
              <a:t>This is called an </a:t>
            </a:r>
            <a:r>
              <a:rPr lang="en-US" sz="2400" i="1" dirty="0" smtClean="0"/>
              <a:t>abstraction. </a:t>
            </a:r>
            <a:r>
              <a:rPr lang="en-US" sz="2400" dirty="0" smtClean="0"/>
              <a:t>An abstraction </a:t>
            </a:r>
            <a:r>
              <a:rPr lang="en-US" sz="2400" i="1" dirty="0" err="1" smtClean="0"/>
              <a:t>λx.t</a:t>
            </a:r>
            <a:r>
              <a:rPr lang="en-US" sz="2400" i="1" dirty="0" smtClean="0"/>
              <a:t> </a:t>
            </a:r>
            <a:r>
              <a:rPr lang="en-US" sz="2400" dirty="0" smtClean="0"/>
              <a:t>denotes an anonymous function that takes a single input variable </a:t>
            </a:r>
            <a:r>
              <a:rPr lang="en-US" sz="2400" i="1" dirty="0" smtClean="0"/>
              <a:t>x </a:t>
            </a:r>
            <a:r>
              <a:rPr lang="en-US" sz="2400" dirty="0" smtClean="0"/>
              <a:t>and returns</a:t>
            </a:r>
            <a:r>
              <a:rPr lang="en-US" sz="2400" i="1" dirty="0" smtClean="0"/>
              <a:t> t.</a:t>
            </a:r>
          </a:p>
          <a:p>
            <a:r>
              <a:rPr lang="en-US" sz="2400" dirty="0" smtClean="0"/>
              <a:t>For example, </a:t>
            </a:r>
            <a:r>
              <a:rPr lang="en-US" sz="2400" i="1" dirty="0" err="1" smtClean="0"/>
              <a:t>λx</a:t>
            </a:r>
            <a:r>
              <a:rPr lang="en-US" sz="2400" i="1" dirty="0" smtClean="0"/>
              <a:t>.(x²+2x) </a:t>
            </a:r>
            <a:r>
              <a:rPr lang="en-US" sz="2400" dirty="0" smtClean="0"/>
              <a:t>is an abstraction representing the function f defined by f(x) = x²+2x. So, an abstraction basically defines a function but does not invoke it.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a:t>
            </a:r>
            <a:endParaRPr lang="en-US" dirty="0"/>
          </a:p>
        </p:txBody>
      </p:sp>
      <p:sp>
        <p:nvSpPr>
          <p:cNvPr id="3" name="Content Placeholder 2"/>
          <p:cNvSpPr>
            <a:spLocks noGrp="1"/>
          </p:cNvSpPr>
          <p:nvPr>
            <p:ph idx="1"/>
          </p:nvPr>
        </p:nvSpPr>
        <p:spPr/>
        <p:txBody>
          <a:bodyPr/>
          <a:lstStyle/>
          <a:p>
            <a:r>
              <a:rPr lang="en-US" sz="2400" dirty="0" smtClean="0"/>
              <a:t>If using </a:t>
            </a:r>
            <a:r>
              <a:rPr lang="en-US" sz="2400" i="1" dirty="0" smtClean="0"/>
              <a:t>λx.2x </a:t>
            </a:r>
            <a:r>
              <a:rPr lang="en-US" sz="2400" dirty="0" smtClean="0"/>
              <a:t>defines a function, </a:t>
            </a:r>
            <a:r>
              <a:rPr lang="en-US" sz="2400" i="1" dirty="0" smtClean="0"/>
              <a:t>(λx.2x)a “</a:t>
            </a:r>
            <a:r>
              <a:rPr lang="en-US" sz="2400" dirty="0" smtClean="0"/>
              <a:t>calls” a function with argument “</a:t>
            </a:r>
            <a:r>
              <a:rPr lang="en-US" sz="2400" i="1" dirty="0" smtClean="0"/>
              <a:t>a”</a:t>
            </a:r>
            <a:r>
              <a:rPr lang="en-US" sz="2400" dirty="0" smtClean="0"/>
              <a:t>. That is, we basically substitute the variable “x” with “a”.</a:t>
            </a:r>
          </a:p>
          <a:p>
            <a:r>
              <a:rPr lang="en-US" sz="2400" dirty="0" smtClean="0"/>
              <a:t>f(x) = 2x</a:t>
            </a:r>
          </a:p>
          <a:p>
            <a:r>
              <a:rPr lang="en-US" sz="2400" dirty="0" smtClean="0"/>
              <a:t>f(2) = 4</a:t>
            </a:r>
          </a:p>
          <a:p>
            <a:r>
              <a:rPr lang="en-US" sz="2400" dirty="0" smtClean="0"/>
              <a:t>This is the same as:</a:t>
            </a:r>
          </a:p>
          <a:p>
            <a:r>
              <a:rPr lang="en-US" sz="2400" i="1" dirty="0" smtClean="0"/>
              <a:t>λx.2x</a:t>
            </a:r>
            <a:endParaRPr lang="en-US" sz="2400" dirty="0" smtClean="0"/>
          </a:p>
          <a:p>
            <a:r>
              <a:rPr lang="en-US" sz="2400" i="1" dirty="0" smtClean="0"/>
              <a:t>(λx.2x)2 = 4</a:t>
            </a:r>
            <a:endParaRPr lang="en-US" sz="2400" dirty="0" smtClean="0"/>
          </a:p>
          <a:p>
            <a:r>
              <a:rPr lang="en-US" sz="2400" dirty="0" smtClean="0"/>
              <a:t>This is called an </a:t>
            </a:r>
            <a:r>
              <a:rPr lang="en-US" sz="2400" i="1" dirty="0" smtClean="0"/>
              <a:t>application. </a:t>
            </a:r>
            <a:r>
              <a:rPr lang="en-US" sz="2400" dirty="0" smtClean="0"/>
              <a:t>We are “applying” the </a:t>
            </a:r>
            <a:r>
              <a:rPr lang="en-US" sz="2400" i="1" dirty="0" smtClean="0"/>
              <a:t>abstraction (λx.2x) </a:t>
            </a:r>
            <a:r>
              <a:rPr lang="en-US" sz="2400" dirty="0" smtClean="0"/>
              <a:t>to the number </a:t>
            </a:r>
            <a:r>
              <a:rPr lang="en-US" sz="2400" i="1" dirty="0" smtClean="0"/>
              <a:t>2.</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parenthesis</a:t>
            </a:r>
            <a:endParaRPr lang="en-US" dirty="0"/>
          </a:p>
        </p:txBody>
      </p:sp>
      <p:sp>
        <p:nvSpPr>
          <p:cNvPr id="3" name="Content Placeholder 2"/>
          <p:cNvSpPr>
            <a:spLocks noGrp="1"/>
          </p:cNvSpPr>
          <p:nvPr>
            <p:ph idx="1"/>
          </p:nvPr>
        </p:nvSpPr>
        <p:spPr/>
        <p:txBody>
          <a:bodyPr/>
          <a:lstStyle/>
          <a:p>
            <a:r>
              <a:rPr lang="en-US" sz="2400" dirty="0" smtClean="0"/>
              <a:t>It’s important to not confuse the parenthesis. For example:</a:t>
            </a:r>
          </a:p>
          <a:p>
            <a:r>
              <a:rPr lang="en-US" sz="2400" i="1" dirty="0" smtClean="0"/>
              <a:t>1 — </a:t>
            </a:r>
            <a:r>
              <a:rPr lang="en-US" sz="2400" i="1" dirty="0" err="1" smtClean="0"/>
              <a:t>λx</a:t>
            </a:r>
            <a:r>
              <a:rPr lang="en-US" sz="2400" i="1" dirty="0" smtClean="0"/>
              <a:t>.((</a:t>
            </a:r>
            <a:r>
              <a:rPr lang="en-US" sz="2400" i="1" dirty="0" err="1" smtClean="0"/>
              <a:t>λx.x</a:t>
            </a:r>
            <a:r>
              <a:rPr lang="en-US" sz="2400" i="1" dirty="0" smtClean="0"/>
              <a:t>)x) </a:t>
            </a:r>
            <a:r>
              <a:rPr lang="en-US" sz="2400" dirty="0" smtClean="0"/>
              <a:t>is an </a:t>
            </a:r>
            <a:r>
              <a:rPr lang="en-US" sz="2400" i="1" dirty="0" smtClean="0"/>
              <a:t>abstraction </a:t>
            </a:r>
            <a:r>
              <a:rPr lang="en-US" sz="2400" dirty="0" smtClean="0"/>
              <a:t>(function definition).</a:t>
            </a:r>
          </a:p>
          <a:p>
            <a:r>
              <a:rPr lang="en-US" sz="2400" i="1" dirty="0" smtClean="0"/>
              <a:t>2 — (</a:t>
            </a:r>
            <a:r>
              <a:rPr lang="en-US" sz="2400" i="1" dirty="0" err="1" smtClean="0"/>
              <a:t>λx</a:t>
            </a:r>
            <a:r>
              <a:rPr lang="en-US" sz="2400" i="1" dirty="0" smtClean="0"/>
              <a:t>.(</a:t>
            </a:r>
            <a:r>
              <a:rPr lang="en-US" sz="2400" i="1" dirty="0" err="1" smtClean="0"/>
              <a:t>λx.x</a:t>
            </a:r>
            <a:r>
              <a:rPr lang="en-US" sz="2400" i="1" dirty="0" smtClean="0"/>
              <a:t>))x </a:t>
            </a:r>
            <a:r>
              <a:rPr lang="en-US" sz="2400" dirty="0" smtClean="0"/>
              <a:t>is an</a:t>
            </a:r>
            <a:r>
              <a:rPr lang="en-US" sz="2400" i="1" dirty="0" smtClean="0"/>
              <a:t> application</a:t>
            </a:r>
            <a:r>
              <a:rPr lang="en-US" sz="2400" dirty="0" smtClean="0"/>
              <a:t> (</a:t>
            </a:r>
            <a:r>
              <a:rPr lang="en-US" sz="2400" dirty="0" err="1" smtClean="0"/>
              <a:t>funtion</a:t>
            </a:r>
            <a:r>
              <a:rPr lang="en-US" sz="2400" dirty="0" smtClean="0"/>
              <a:t> application)</a:t>
            </a:r>
            <a:r>
              <a:rPr lang="en-US" sz="2400" i="1" dirty="0" smtClean="0"/>
              <a: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n parameters</a:t>
            </a:r>
            <a:endParaRPr lang="en-US" b="1" dirty="0">
              <a:solidFill>
                <a:srgbClr val="C00000"/>
              </a:solidFill>
            </a:endParaRPr>
          </a:p>
        </p:txBody>
      </p:sp>
      <p:sp>
        <p:nvSpPr>
          <p:cNvPr id="3" name="Content Placeholder 2"/>
          <p:cNvSpPr>
            <a:spLocks noGrp="1"/>
          </p:cNvSpPr>
          <p:nvPr>
            <p:ph idx="1"/>
          </p:nvPr>
        </p:nvSpPr>
        <p:spPr/>
        <p:txBody>
          <a:bodyPr/>
          <a:lstStyle/>
          <a:p>
            <a:r>
              <a:rPr lang="en-US" sz="2400" dirty="0" smtClean="0"/>
              <a:t>We can also represent functions with </a:t>
            </a:r>
            <a:r>
              <a:rPr lang="en-US" sz="2400" i="1" dirty="0" smtClean="0"/>
              <a:t>n</a:t>
            </a:r>
            <a:r>
              <a:rPr lang="en-US" sz="2400" dirty="0" smtClean="0"/>
              <a:t> parameters using Lambda Calculus. This can be done by using nested functions, each taking a single parameter: </a:t>
            </a:r>
            <a:r>
              <a:rPr lang="en-US" sz="2400" i="1" dirty="0" smtClean="0"/>
              <a:t>f(</a:t>
            </a:r>
            <a:r>
              <a:rPr lang="en-US" sz="2400" i="1" dirty="0" err="1" smtClean="0"/>
              <a:t>x,y,z</a:t>
            </a:r>
            <a:r>
              <a:rPr lang="en-US" sz="2400" i="1" dirty="0" smtClean="0"/>
              <a:t>) → </a:t>
            </a:r>
            <a:r>
              <a:rPr lang="en-US" sz="2400" i="1" dirty="0" err="1" smtClean="0"/>
              <a:t>λx.</a:t>
            </a:r>
            <a:r>
              <a:rPr lang="en-US" sz="2400" dirty="0" err="1" smtClean="0"/>
              <a:t>λy.λz</a:t>
            </a:r>
            <a:endParaRPr lang="en-US" sz="2400" dirty="0" smtClean="0"/>
          </a:p>
          <a:p>
            <a:r>
              <a:rPr lang="en-US" sz="2400" dirty="0" smtClean="0"/>
              <a:t>Thus, </a:t>
            </a:r>
            <a:r>
              <a:rPr lang="en-US" sz="2400" i="1" dirty="0" smtClean="0"/>
              <a:t>f(x, y, z) = x + y + z </a:t>
            </a:r>
            <a:r>
              <a:rPr lang="en-US" sz="2400" dirty="0" smtClean="0"/>
              <a:t>can be expressed by the </a:t>
            </a:r>
            <a:r>
              <a:rPr lang="en-US" sz="2400" i="1" dirty="0" smtClean="0"/>
              <a:t>abstraction:</a:t>
            </a:r>
            <a:endParaRPr lang="en-US" sz="2400" dirty="0" smtClean="0"/>
          </a:p>
          <a:p>
            <a:r>
              <a:rPr lang="en-US" sz="2400" i="1" dirty="0" err="1" smtClean="0"/>
              <a:t>λx.</a:t>
            </a:r>
            <a:r>
              <a:rPr lang="en-US" sz="2400" dirty="0" err="1" smtClean="0"/>
              <a:t>λy.λz</a:t>
            </a:r>
            <a:r>
              <a:rPr lang="en-US" sz="2400" dirty="0" smtClean="0"/>
              <a:t>.(x + y + z).</a:t>
            </a:r>
          </a:p>
          <a:p>
            <a:r>
              <a:rPr lang="en-US" sz="2400" dirty="0" smtClean="0"/>
              <a:t>Using this </a:t>
            </a:r>
            <a:r>
              <a:rPr lang="en-US" sz="2400" i="1" dirty="0" smtClean="0"/>
              <a:t>abstraction</a:t>
            </a:r>
            <a:r>
              <a:rPr lang="en-US" sz="2400" dirty="0" smtClean="0"/>
              <a:t> we can construct </a:t>
            </a:r>
            <a:r>
              <a:rPr lang="en-US" sz="2400" i="1" dirty="0" smtClean="0"/>
              <a:t>applications</a:t>
            </a:r>
            <a:r>
              <a:rPr lang="en-US" sz="2400" dirty="0" smtClean="0"/>
              <a:t>:</a:t>
            </a:r>
          </a:p>
          <a:p>
            <a:r>
              <a:rPr lang="en-US" sz="2400" i="1" dirty="0" smtClean="0"/>
              <a:t>(</a:t>
            </a:r>
            <a:r>
              <a:rPr lang="en-US" sz="2400" i="1" dirty="0" err="1" smtClean="0"/>
              <a:t>λx.</a:t>
            </a:r>
            <a:r>
              <a:rPr lang="en-US" sz="2400" dirty="0" err="1" smtClean="0"/>
              <a:t>λy.λz</a:t>
            </a:r>
            <a:r>
              <a:rPr lang="en-US" sz="2400" dirty="0" smtClean="0"/>
              <a:t>.(x + y + z))1 2 3 =&gt; 6</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 conversion</a:t>
            </a:r>
            <a:endParaRPr lang="en-US" dirty="0"/>
          </a:p>
        </p:txBody>
      </p:sp>
      <p:sp>
        <p:nvSpPr>
          <p:cNvPr id="3" name="Content Placeholder 2"/>
          <p:cNvSpPr>
            <a:spLocks noGrp="1"/>
          </p:cNvSpPr>
          <p:nvPr>
            <p:ph idx="1"/>
          </p:nvPr>
        </p:nvSpPr>
        <p:spPr/>
        <p:txBody>
          <a:bodyPr/>
          <a:lstStyle/>
          <a:p>
            <a:r>
              <a:rPr lang="en-US" sz="2200" dirty="0" smtClean="0"/>
              <a:t>When evaluating more complex lambda expressions, you may obtain some expression like this:</a:t>
            </a:r>
          </a:p>
          <a:p>
            <a:r>
              <a:rPr lang="en-US" sz="2200" i="1" dirty="0" smtClean="0"/>
              <a:t>(</a:t>
            </a:r>
            <a:r>
              <a:rPr lang="en-US" sz="2200" i="1" dirty="0" err="1" smtClean="0"/>
              <a:t>λx</a:t>
            </a:r>
            <a:r>
              <a:rPr lang="en-US" sz="2200" i="1" dirty="0" smtClean="0"/>
              <a:t>.(</a:t>
            </a:r>
            <a:r>
              <a:rPr lang="en-US" sz="2200" i="1" dirty="0" err="1" smtClean="0"/>
              <a:t>λx.x+x</a:t>
            </a:r>
            <a:r>
              <a:rPr lang="en-US" sz="2200" i="1" dirty="0" smtClean="0"/>
              <a:t>)x)</a:t>
            </a:r>
            <a:endParaRPr lang="en-US" sz="2200" dirty="0" smtClean="0"/>
          </a:p>
          <a:p>
            <a:r>
              <a:rPr lang="en-US" sz="2200" dirty="0" smtClean="0"/>
              <a:t>In this expression, the inner </a:t>
            </a:r>
            <a:r>
              <a:rPr lang="en-US" sz="2200" i="1" dirty="0" smtClean="0"/>
              <a:t>x </a:t>
            </a:r>
            <a:r>
              <a:rPr lang="en-US" sz="2200" dirty="0" smtClean="0"/>
              <a:t>could be mistakenly interpreted as the outer </a:t>
            </a:r>
            <a:r>
              <a:rPr lang="en-US" sz="2200" i="1" dirty="0" smtClean="0"/>
              <a:t>x</a:t>
            </a:r>
            <a:r>
              <a:rPr lang="en-US" sz="2200" dirty="0" smtClean="0"/>
              <a:t>. In order to avoid that, we can rename the inner variable x:</a:t>
            </a:r>
          </a:p>
          <a:p>
            <a:r>
              <a:rPr lang="en-US" sz="2200" i="1" dirty="0" smtClean="0"/>
              <a:t>(</a:t>
            </a:r>
            <a:r>
              <a:rPr lang="en-US" sz="2200" i="1" dirty="0" err="1" smtClean="0"/>
              <a:t>λx</a:t>
            </a:r>
            <a:r>
              <a:rPr lang="en-US" sz="2200" i="1" dirty="0" smtClean="0"/>
              <a:t>.(</a:t>
            </a:r>
            <a:r>
              <a:rPr lang="en-US" sz="2200" i="1" dirty="0" err="1" smtClean="0"/>
              <a:t>λy.y+y</a:t>
            </a:r>
            <a:r>
              <a:rPr lang="en-US" sz="2200" i="1" dirty="0" smtClean="0"/>
              <a:t>)x)</a:t>
            </a:r>
            <a:endParaRPr lang="en-US" sz="2200" dirty="0" smtClean="0"/>
          </a:p>
          <a:p>
            <a:r>
              <a:rPr lang="en-US" sz="2200" dirty="0" smtClean="0"/>
              <a:t>This process is what it is called </a:t>
            </a:r>
            <a:r>
              <a:rPr lang="en-US" sz="2200" i="1" dirty="0" smtClean="0"/>
              <a:t>α-conversion, </a:t>
            </a:r>
            <a:r>
              <a:rPr lang="en-US" sz="2200" dirty="0" smtClean="0"/>
              <a:t>the name seems something complex, but it is this simple renaming of a variable to avoid mistakes.</a:t>
            </a:r>
          </a:p>
          <a:p>
            <a:r>
              <a:rPr lang="en-US" sz="2200" i="1" dirty="0" err="1" smtClean="0"/>
              <a:t>λx.x</a:t>
            </a:r>
            <a:r>
              <a:rPr lang="en-US" sz="2200" i="1" dirty="0" smtClean="0"/>
              <a:t> → </a:t>
            </a:r>
            <a:r>
              <a:rPr lang="en-US" sz="2200" i="1" dirty="0" err="1" smtClean="0"/>
              <a:t>λy.y</a:t>
            </a:r>
            <a:r>
              <a:rPr lang="en-US" sz="2200" i="1" dirty="0" smtClean="0"/>
              <a:t> (α-conversion)</a:t>
            </a:r>
            <a:endParaRPr lang="en-US" sz="2200" dirty="0" smtClean="0"/>
          </a:p>
          <a:p>
            <a:r>
              <a:rPr lang="en-US" sz="2200" dirty="0" smtClean="0"/>
              <a:t>Both expressions represents the same function. The </a:t>
            </a:r>
            <a:r>
              <a:rPr lang="en-US" sz="2200" i="1" dirty="0" smtClean="0"/>
              <a:t>α-conversion </a:t>
            </a:r>
            <a:r>
              <a:rPr lang="en-US" sz="2200" dirty="0" smtClean="0"/>
              <a:t>does not change the function’s behavior, just the variable name.</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Beta reduction</a:t>
            </a:r>
            <a:endParaRPr lang="en-US" dirty="0"/>
          </a:p>
        </p:txBody>
      </p:sp>
      <p:sp>
        <p:nvSpPr>
          <p:cNvPr id="3" name="Content Placeholder 2"/>
          <p:cNvSpPr>
            <a:spLocks noGrp="1"/>
          </p:cNvSpPr>
          <p:nvPr>
            <p:ph idx="1"/>
          </p:nvPr>
        </p:nvSpPr>
        <p:spPr/>
        <p:txBody>
          <a:bodyPr/>
          <a:lstStyle/>
          <a:p>
            <a:r>
              <a:rPr lang="en-US" sz="2400" i="1" dirty="0" smtClean="0"/>
              <a:t>β-reduction </a:t>
            </a:r>
            <a:r>
              <a:rPr lang="en-US" sz="2400" dirty="0" smtClean="0"/>
              <a:t>is simply the process of calculating the result from an application of a function to an expression. For instance:</a:t>
            </a:r>
            <a:br>
              <a:rPr lang="en-US" sz="2400" dirty="0" smtClean="0"/>
            </a:br>
            <a:r>
              <a:rPr lang="en-US" sz="2400" i="1" dirty="0" smtClean="0"/>
              <a:t>(</a:t>
            </a:r>
            <a:r>
              <a:rPr lang="en-US" sz="2400" i="1" dirty="0" err="1" smtClean="0"/>
              <a:t>λx.xy</a:t>
            </a:r>
            <a:r>
              <a:rPr lang="en-US" sz="2400" i="1" dirty="0" smtClean="0"/>
              <a:t>)z</a:t>
            </a:r>
            <a:endParaRPr lang="en-US" sz="2400" dirty="0" smtClean="0"/>
          </a:p>
          <a:p>
            <a:r>
              <a:rPr lang="en-US" sz="2400" dirty="0" smtClean="0"/>
              <a:t>On the output </a:t>
            </a:r>
            <a:r>
              <a:rPr lang="en-US" sz="2400" i="1" dirty="0" err="1" smtClean="0"/>
              <a:t>xy</a:t>
            </a:r>
            <a:r>
              <a:rPr lang="en-US" sz="2400" i="1" dirty="0" smtClean="0"/>
              <a:t>, </a:t>
            </a:r>
            <a:r>
              <a:rPr lang="en-US" sz="2400" dirty="0" smtClean="0"/>
              <a:t>substitute every occurrence of x by z</a:t>
            </a:r>
          </a:p>
          <a:p>
            <a:r>
              <a:rPr lang="en-US" sz="2400" dirty="0" smtClean="0"/>
              <a:t>= </a:t>
            </a:r>
            <a:r>
              <a:rPr lang="en-US" sz="2400" i="1" dirty="0" err="1" smtClean="0"/>
              <a:t>zy</a:t>
            </a:r>
            <a:endParaRPr lang="en-US" sz="2400" dirty="0" smtClean="0"/>
          </a:p>
          <a:p>
            <a:r>
              <a:rPr lang="en-US" sz="2400" dirty="0" smtClean="0"/>
              <a:t>You also might found the following notation:</a:t>
            </a:r>
          </a:p>
          <a:p>
            <a:r>
              <a:rPr lang="en-US" sz="2400" i="1" dirty="0" smtClean="0"/>
              <a:t>(λ </a:t>
            </a:r>
            <a:r>
              <a:rPr lang="en-US" sz="2400" i="1" dirty="0" err="1" smtClean="0"/>
              <a:t>param</a:t>
            </a:r>
            <a:r>
              <a:rPr lang="en-US" sz="2400" i="1" dirty="0" smtClean="0"/>
              <a:t> . output)input =&gt; output [</a:t>
            </a:r>
            <a:r>
              <a:rPr lang="en-US" sz="2400" i="1" dirty="0" err="1" smtClean="0"/>
              <a:t>param</a:t>
            </a:r>
            <a:r>
              <a:rPr lang="en-US" sz="2400" i="1" dirty="0" smtClean="0"/>
              <a:t> := input] =&gt; result</a:t>
            </a:r>
            <a:endParaRPr lang="en-US" sz="2400" dirty="0" smtClean="0"/>
          </a:p>
          <a:p>
            <a:r>
              <a:rPr lang="en-US" sz="2400" dirty="0" smtClean="0"/>
              <a:t>This basically means that to get the result, you look at the </a:t>
            </a:r>
            <a:r>
              <a:rPr lang="en-US" sz="2400" i="1" dirty="0" smtClean="0"/>
              <a:t>output</a:t>
            </a:r>
            <a:r>
              <a:rPr lang="en-US" sz="2400" dirty="0" smtClean="0"/>
              <a:t> and substitute every occurrence of </a:t>
            </a:r>
            <a:r>
              <a:rPr lang="en-US" sz="2400" i="1" dirty="0" err="1" smtClean="0"/>
              <a:t>param</a:t>
            </a:r>
            <a:r>
              <a:rPr lang="en-US" sz="2400" dirty="0" smtClean="0"/>
              <a:t> by the </a:t>
            </a:r>
            <a:r>
              <a:rPr lang="en-US" sz="2400" i="1" dirty="0" smtClean="0"/>
              <a:t>input. </a:t>
            </a:r>
            <a:r>
              <a:rPr lang="en-US" sz="2400" dirty="0" smtClean="0"/>
              <a:t>In the previous expression:</a:t>
            </a:r>
          </a:p>
          <a:p>
            <a:r>
              <a:rPr lang="en-US" sz="2400" i="1" dirty="0" smtClean="0"/>
              <a:t>(</a:t>
            </a:r>
            <a:r>
              <a:rPr lang="en-US" sz="2400" i="1" dirty="0" err="1" smtClean="0"/>
              <a:t>λx.xy</a:t>
            </a:r>
            <a:r>
              <a:rPr lang="en-US" sz="2400" i="1" dirty="0" smtClean="0"/>
              <a:t>)z =&gt; (</a:t>
            </a:r>
            <a:r>
              <a:rPr lang="en-US" sz="2400" i="1" dirty="0" err="1" smtClean="0"/>
              <a:t>xy</a:t>
            </a:r>
            <a:r>
              <a:rPr lang="en-US" sz="2400" i="1" dirty="0" smtClean="0"/>
              <a:t>)[x := z] =&gt; </a:t>
            </a:r>
            <a:r>
              <a:rPr lang="en-US" sz="2400" i="1" dirty="0" err="1" smtClean="0"/>
              <a:t>zy</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(I)</a:t>
            </a:r>
            <a:endParaRPr lang="en-US" dirty="0"/>
          </a:p>
        </p:txBody>
      </p:sp>
      <p:sp>
        <p:nvSpPr>
          <p:cNvPr id="3" name="Content Placeholder 2"/>
          <p:cNvSpPr>
            <a:spLocks noGrp="1"/>
          </p:cNvSpPr>
          <p:nvPr>
            <p:ph idx="1"/>
          </p:nvPr>
        </p:nvSpPr>
        <p:spPr/>
        <p:txBody>
          <a:bodyPr/>
          <a:lstStyle/>
          <a:p>
            <a:r>
              <a:rPr lang="en-US" sz="2400" dirty="0" smtClean="0"/>
              <a:t>Going back to our example f(x) = 2x; g(x) = x³ and we want g(f(1)).</a:t>
            </a:r>
          </a:p>
          <a:p>
            <a:r>
              <a:rPr lang="en-US" sz="2400" dirty="0" smtClean="0"/>
              <a:t>In order to not mix up terms incorrectly, we can rewrite:</a:t>
            </a:r>
          </a:p>
          <a:p>
            <a:r>
              <a:rPr lang="en-US" sz="2400" dirty="0" smtClean="0"/>
              <a:t>f(x) = 2x and g(y) = y³</a:t>
            </a:r>
          </a:p>
          <a:p>
            <a:r>
              <a:rPr lang="en-US" sz="2400" dirty="0" smtClean="0"/>
              <a:t>Then, we substitute f within g:</a:t>
            </a:r>
          </a:p>
          <a:p>
            <a:r>
              <a:rPr lang="en-US" sz="2400" dirty="0" smtClean="0"/>
              <a:t>g(f(1)) = (f(1))³</a:t>
            </a:r>
          </a:p>
          <a:p>
            <a:r>
              <a:rPr lang="en-US" sz="2400" dirty="0" smtClean="0"/>
              <a:t>=&gt; g(f(1)) = (2*1)³</a:t>
            </a:r>
          </a:p>
          <a:p>
            <a:r>
              <a:rPr lang="en-US" sz="2400" dirty="0" smtClean="0"/>
              <a:t>=&gt; 8*x = 8.</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(II)</a:t>
            </a:r>
            <a:endParaRPr lang="en-US" dirty="0"/>
          </a:p>
        </p:txBody>
      </p:sp>
      <p:sp>
        <p:nvSpPr>
          <p:cNvPr id="3" name="Content Placeholder 2"/>
          <p:cNvSpPr>
            <a:spLocks noGrp="1"/>
          </p:cNvSpPr>
          <p:nvPr>
            <p:ph idx="1"/>
          </p:nvPr>
        </p:nvSpPr>
        <p:spPr/>
        <p:txBody>
          <a:bodyPr/>
          <a:lstStyle/>
          <a:p>
            <a:r>
              <a:rPr lang="en-US" sz="2000" dirty="0" smtClean="0"/>
              <a:t>Now with Lambda Calculus:</a:t>
            </a:r>
          </a:p>
          <a:p>
            <a:r>
              <a:rPr lang="el-GR" sz="2000" i="1" dirty="0" smtClean="0"/>
              <a:t>λ</a:t>
            </a:r>
            <a:r>
              <a:rPr lang="en-US" sz="2000" i="1" dirty="0" smtClean="0"/>
              <a:t>x.2x</a:t>
            </a:r>
            <a:endParaRPr lang="en-US" sz="2000" dirty="0" smtClean="0"/>
          </a:p>
          <a:p>
            <a:r>
              <a:rPr lang="el-GR" sz="2000" i="1" dirty="0" smtClean="0"/>
              <a:t>λ</a:t>
            </a:r>
            <a:r>
              <a:rPr lang="en-US" sz="2000" i="1" dirty="0" smtClean="0"/>
              <a:t>x.x³</a:t>
            </a:r>
            <a:endParaRPr lang="en-US" sz="2000" dirty="0" smtClean="0"/>
          </a:p>
          <a:p>
            <a:r>
              <a:rPr lang="en-US" sz="2000" i="1" dirty="0" smtClean="0"/>
              <a:t>=&gt; (</a:t>
            </a:r>
            <a:r>
              <a:rPr lang="el-GR" sz="2000" i="1" dirty="0" smtClean="0"/>
              <a:t>λ</a:t>
            </a:r>
            <a:r>
              <a:rPr lang="en-US" sz="2000" i="1" dirty="0" smtClean="0"/>
              <a:t>x.x³)((</a:t>
            </a:r>
            <a:r>
              <a:rPr lang="el-GR" sz="2000" i="1" dirty="0" smtClean="0"/>
              <a:t>λ</a:t>
            </a:r>
            <a:r>
              <a:rPr lang="en-US" sz="2000" i="1" dirty="0" smtClean="0"/>
              <a:t>x.2x)1)</a:t>
            </a:r>
            <a:endParaRPr lang="en-US" sz="2000" dirty="0" smtClean="0"/>
          </a:p>
          <a:p>
            <a:r>
              <a:rPr lang="en-US" sz="2000" dirty="0" smtClean="0"/>
              <a:t>First, apply </a:t>
            </a:r>
            <a:r>
              <a:rPr lang="el-GR" sz="2000" i="1" dirty="0" smtClean="0"/>
              <a:t>α-</a:t>
            </a:r>
            <a:r>
              <a:rPr lang="en-US" sz="2000" i="1" dirty="0" smtClean="0"/>
              <a:t>conversion </a:t>
            </a:r>
            <a:r>
              <a:rPr lang="en-US" sz="2000" dirty="0" smtClean="0"/>
              <a:t>in order to not mix up things:</a:t>
            </a:r>
          </a:p>
          <a:p>
            <a:r>
              <a:rPr lang="en-US" sz="2000" i="1" dirty="0" smtClean="0"/>
              <a:t>(</a:t>
            </a:r>
            <a:r>
              <a:rPr lang="el-GR" sz="2000" i="1" dirty="0" smtClean="0"/>
              <a:t>λ</a:t>
            </a:r>
            <a:r>
              <a:rPr lang="en-US" sz="2000" i="1" dirty="0" smtClean="0"/>
              <a:t>y.y³)((</a:t>
            </a:r>
            <a:r>
              <a:rPr lang="el-GR" sz="2000" i="1" dirty="0" smtClean="0"/>
              <a:t>λ</a:t>
            </a:r>
            <a:r>
              <a:rPr lang="en-US" sz="2000" i="1" dirty="0" smtClean="0"/>
              <a:t>x.2x)1)</a:t>
            </a:r>
            <a:endParaRPr lang="en-US" sz="2000" dirty="0" smtClean="0"/>
          </a:p>
          <a:p>
            <a:r>
              <a:rPr lang="en-US" sz="2000" dirty="0" smtClean="0"/>
              <a:t>Then, </a:t>
            </a:r>
            <a:r>
              <a:rPr lang="el-GR" sz="2000" i="1" dirty="0" smtClean="0"/>
              <a:t>β-</a:t>
            </a:r>
            <a:r>
              <a:rPr lang="en-US" sz="2000" i="1" dirty="0" smtClean="0"/>
              <a:t>reduction </a:t>
            </a:r>
            <a:r>
              <a:rPr lang="en-US" sz="2000" dirty="0" smtClean="0"/>
              <a:t>on the inner most expression </a:t>
            </a:r>
            <a:r>
              <a:rPr lang="en-US" sz="2000" i="1" dirty="0" smtClean="0"/>
              <a:t>(</a:t>
            </a:r>
            <a:r>
              <a:rPr lang="el-GR" sz="2000" i="1" dirty="0" smtClean="0"/>
              <a:t>λ</a:t>
            </a:r>
            <a:r>
              <a:rPr lang="en-US" sz="2000" i="1" dirty="0" smtClean="0"/>
              <a:t>x.2x)1:</a:t>
            </a:r>
            <a:endParaRPr lang="en-US" sz="2000" dirty="0" smtClean="0"/>
          </a:p>
          <a:p>
            <a:r>
              <a:rPr lang="en-US" sz="2000" i="1" dirty="0" smtClean="0"/>
              <a:t>(</a:t>
            </a:r>
            <a:r>
              <a:rPr lang="el-GR" sz="2000" i="1" dirty="0" smtClean="0"/>
              <a:t>λ </a:t>
            </a:r>
            <a:r>
              <a:rPr lang="en-US" sz="2000" i="1" dirty="0" err="1" smtClean="0"/>
              <a:t>param</a:t>
            </a:r>
            <a:r>
              <a:rPr lang="en-US" sz="2000" i="1" dirty="0" smtClean="0"/>
              <a:t> . output)input =&gt; output [</a:t>
            </a:r>
            <a:r>
              <a:rPr lang="en-US" sz="2000" i="1" dirty="0" err="1" smtClean="0"/>
              <a:t>param</a:t>
            </a:r>
            <a:r>
              <a:rPr lang="en-US" sz="2000" i="1" dirty="0" smtClean="0"/>
              <a:t> := input] =&gt; result</a:t>
            </a:r>
            <a:endParaRPr lang="en-US" sz="2000" dirty="0" smtClean="0"/>
          </a:p>
          <a:p>
            <a:r>
              <a:rPr lang="en-US" sz="2000" i="1" dirty="0" smtClean="0"/>
              <a:t>(</a:t>
            </a:r>
            <a:r>
              <a:rPr lang="el-GR" sz="2000" i="1" dirty="0" smtClean="0"/>
              <a:t>λ</a:t>
            </a:r>
            <a:r>
              <a:rPr lang="en-US" sz="2000" i="1" dirty="0" smtClean="0"/>
              <a:t>x.2x)1 =&gt; 2x [x := 1] =&gt; 2*1 = 2.</a:t>
            </a:r>
            <a:endParaRPr lang="en-US" sz="2000" dirty="0" smtClean="0"/>
          </a:p>
          <a:p>
            <a:r>
              <a:rPr lang="en-US" sz="2000" dirty="0" smtClean="0"/>
              <a:t>Then, </a:t>
            </a:r>
            <a:r>
              <a:rPr lang="el-GR" sz="2000" i="1" dirty="0" smtClean="0"/>
              <a:t>β-</a:t>
            </a:r>
            <a:r>
              <a:rPr lang="en-US" sz="2000" i="1" dirty="0" smtClean="0"/>
              <a:t>reduction </a:t>
            </a:r>
            <a:r>
              <a:rPr lang="en-US" sz="2000" dirty="0" smtClean="0"/>
              <a:t>again on the resulting expression </a:t>
            </a:r>
            <a:r>
              <a:rPr lang="en-US" sz="2000" i="1" dirty="0" smtClean="0"/>
              <a:t>(</a:t>
            </a:r>
            <a:r>
              <a:rPr lang="el-GR" sz="2000" i="1" dirty="0" smtClean="0"/>
              <a:t>λ</a:t>
            </a:r>
            <a:r>
              <a:rPr lang="en-US" sz="2000" i="1" dirty="0" smtClean="0"/>
              <a:t>y.y³)2:</a:t>
            </a:r>
            <a:endParaRPr lang="en-US" sz="2000" dirty="0" smtClean="0"/>
          </a:p>
          <a:p>
            <a:r>
              <a:rPr lang="en-US" sz="2000" i="1" dirty="0" smtClean="0"/>
              <a:t>(</a:t>
            </a:r>
            <a:r>
              <a:rPr lang="el-GR" sz="2000" i="1" dirty="0" smtClean="0"/>
              <a:t>λ </a:t>
            </a:r>
            <a:r>
              <a:rPr lang="en-US" sz="2000" i="1" dirty="0" err="1" smtClean="0"/>
              <a:t>param</a:t>
            </a:r>
            <a:r>
              <a:rPr lang="en-US" sz="2000" i="1" dirty="0" smtClean="0"/>
              <a:t> . output)input =&gt; output [</a:t>
            </a:r>
            <a:r>
              <a:rPr lang="en-US" sz="2000" i="1" dirty="0" err="1" smtClean="0"/>
              <a:t>param</a:t>
            </a:r>
            <a:r>
              <a:rPr lang="en-US" sz="2000" i="1" dirty="0" smtClean="0"/>
              <a:t> := input] =&gt; result</a:t>
            </a:r>
            <a:endParaRPr lang="en-US" sz="2000" dirty="0" smtClean="0"/>
          </a:p>
          <a:p>
            <a:r>
              <a:rPr lang="en-US" sz="2000" i="1" dirty="0" smtClean="0"/>
              <a:t>(</a:t>
            </a:r>
            <a:r>
              <a:rPr lang="el-GR" sz="2000" i="1" dirty="0" smtClean="0"/>
              <a:t>λ</a:t>
            </a:r>
            <a:r>
              <a:rPr lang="en-US" sz="2000" i="1" dirty="0" smtClean="0"/>
              <a:t>y.y³)2 =&gt; y³[y := 2] =&gt; 2³ =&gt; 8.</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Calculus and Turing machines</a:t>
            </a:r>
            <a:endParaRPr lang="en-US" dirty="0"/>
          </a:p>
        </p:txBody>
      </p:sp>
      <p:sp>
        <p:nvSpPr>
          <p:cNvPr id="3" name="Content Placeholder 2"/>
          <p:cNvSpPr>
            <a:spLocks noGrp="1"/>
          </p:cNvSpPr>
          <p:nvPr>
            <p:ph idx="1"/>
          </p:nvPr>
        </p:nvSpPr>
        <p:spPr/>
        <p:txBody>
          <a:bodyPr/>
          <a:lstStyle/>
          <a:p>
            <a:r>
              <a:rPr lang="en-US" sz="2400" dirty="0" smtClean="0"/>
              <a:t>Some years after the Lambda Calculus, Alan Turing introduced the concept of Turing machines, an abstract mathematical model of a computer capable of simulating any algorithmic process that can be described mathematically.</a:t>
            </a:r>
          </a:p>
          <a:p>
            <a:r>
              <a:rPr lang="en-US" sz="2400" dirty="0" smtClean="0"/>
              <a:t>Building on the work of both Church and Turing, it was established that there exists a theoretical equivalence between Lambda Calculus and Turing machines.</a:t>
            </a:r>
          </a:p>
          <a:p>
            <a:r>
              <a:rPr lang="en-US" sz="2400" dirty="0" smtClean="0"/>
              <a:t>This equivalence means that, despite not having numbers or </a:t>
            </a:r>
            <a:r>
              <a:rPr lang="en-US" sz="2400" dirty="0" err="1" smtClean="0"/>
              <a:t>booleans</a:t>
            </a:r>
            <a:r>
              <a:rPr lang="en-US" sz="2400" dirty="0" smtClean="0"/>
              <a:t>, any problem computable by a Turing machine can also be expressed in Lambda Calculus terms. Thus, we can express any computable algorithm using Lambda Calculus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Church numerals</a:t>
            </a:r>
            <a:endParaRPr lang="en-US" dirty="0"/>
          </a:p>
        </p:txBody>
      </p:sp>
      <p:sp>
        <p:nvSpPr>
          <p:cNvPr id="3" name="Content Placeholder 2"/>
          <p:cNvSpPr>
            <a:spLocks noGrp="1"/>
          </p:cNvSpPr>
          <p:nvPr>
            <p:ph idx="1"/>
          </p:nvPr>
        </p:nvSpPr>
        <p:spPr/>
        <p:txBody>
          <a:bodyPr/>
          <a:lstStyle/>
          <a:p>
            <a:r>
              <a:rPr lang="en-US" sz="2200" dirty="0" smtClean="0">
                <a:hlinkClick r:id="rId2"/>
              </a:rPr>
              <a:t>https://en.wikipedia.org/wiki/Church_encoding</a:t>
            </a:r>
            <a:endParaRPr lang="en-US" sz="2200" dirty="0" smtClean="0"/>
          </a:p>
          <a:p>
            <a:r>
              <a:rPr lang="en-US" sz="2200" dirty="0" smtClean="0"/>
              <a:t>All Church numerals are functions that take </a:t>
            </a:r>
            <a:r>
              <a:rPr lang="en-US" sz="2200" b="1" dirty="0" smtClean="0">
                <a:solidFill>
                  <a:srgbClr val="C00000"/>
                </a:solidFill>
              </a:rPr>
              <a:t>two parameters</a:t>
            </a:r>
            <a:r>
              <a:rPr lang="en-US" sz="2200" dirty="0" smtClean="0"/>
              <a:t>. Church numerals </a:t>
            </a:r>
            <a:r>
              <a:rPr lang="en-US" sz="2200" b="1" dirty="0" smtClean="0"/>
              <a:t>0</a:t>
            </a:r>
            <a:r>
              <a:rPr lang="en-US" sz="2200" dirty="0" smtClean="0"/>
              <a:t>, </a:t>
            </a:r>
            <a:r>
              <a:rPr lang="en-US" sz="2200" b="1" dirty="0" smtClean="0"/>
              <a:t>1</a:t>
            </a:r>
            <a:r>
              <a:rPr lang="en-US" sz="2200" dirty="0" smtClean="0"/>
              <a:t>, </a:t>
            </a:r>
            <a:r>
              <a:rPr lang="en-US" sz="2200" b="1" dirty="0" smtClean="0"/>
              <a:t>2</a:t>
            </a:r>
            <a:r>
              <a:rPr lang="en-US" sz="2200" dirty="0" smtClean="0"/>
              <a:t>, ..., are defined as follows in the lambda calculus.</a:t>
            </a:r>
          </a:p>
          <a:p>
            <a:r>
              <a:rPr lang="en-US" sz="2200" i="1" dirty="0" smtClean="0"/>
              <a:t>Starting with</a:t>
            </a:r>
            <a:r>
              <a:rPr lang="en-US" sz="2200" dirty="0" smtClean="0"/>
              <a:t> </a:t>
            </a:r>
            <a:r>
              <a:rPr lang="en-US" sz="2200" b="1" dirty="0" smtClean="0"/>
              <a:t>0</a:t>
            </a:r>
            <a:r>
              <a:rPr lang="en-US" sz="2200" dirty="0" smtClean="0"/>
              <a:t> </a:t>
            </a:r>
            <a:r>
              <a:rPr lang="en-US" sz="2200" i="1" dirty="0" smtClean="0"/>
              <a:t>not applying the function at all, proceed with</a:t>
            </a:r>
            <a:r>
              <a:rPr lang="en-US" sz="2200" dirty="0" smtClean="0"/>
              <a:t> </a:t>
            </a:r>
            <a:r>
              <a:rPr lang="en-US" sz="2200" b="1" dirty="0" smtClean="0"/>
              <a:t>1</a:t>
            </a:r>
            <a:r>
              <a:rPr lang="en-US" sz="2200" dirty="0" smtClean="0"/>
              <a:t> </a:t>
            </a:r>
            <a:r>
              <a:rPr lang="en-US" sz="2200" i="1" dirty="0" smtClean="0"/>
              <a:t>applying the function once, </a:t>
            </a:r>
            <a:r>
              <a:rPr lang="en-US" sz="2200" b="1" i="1" dirty="0" smtClean="0"/>
              <a:t>2</a:t>
            </a:r>
            <a:r>
              <a:rPr lang="en-US" sz="2200" i="1" dirty="0" smtClean="0"/>
              <a:t> </a:t>
            </a:r>
            <a:r>
              <a:rPr lang="en-US" sz="2200" dirty="0" smtClean="0"/>
              <a:t>applying the function twice, </a:t>
            </a:r>
            <a:r>
              <a:rPr lang="en-US" sz="2200" b="1" dirty="0" smtClean="0"/>
              <a:t>3</a:t>
            </a:r>
            <a:r>
              <a:rPr lang="en-US" sz="2200" dirty="0" smtClean="0"/>
              <a:t> </a:t>
            </a:r>
            <a:r>
              <a:rPr lang="en-US" sz="2200" i="1" dirty="0" smtClean="0"/>
              <a:t>applying the function three times, etc.</a:t>
            </a:r>
            <a:r>
              <a:rPr lang="en-US" sz="2200" dirty="0" smtClean="0"/>
              <a:t>:</a:t>
            </a:r>
            <a:endParaRPr lang="en-US" sz="22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3" cstate="print"/>
          <a:srcRect/>
          <a:stretch>
            <a:fillRect/>
          </a:stretch>
        </p:blipFill>
        <p:spPr bwMode="auto">
          <a:xfrm>
            <a:off x="2627313" y="4419600"/>
            <a:ext cx="3889375" cy="17176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successor function</a:t>
            </a:r>
            <a:endParaRPr lang="en-US" dirty="0"/>
          </a:p>
        </p:txBody>
      </p:sp>
      <p:sp>
        <p:nvSpPr>
          <p:cNvPr id="3" name="Content Placeholder 2"/>
          <p:cNvSpPr>
            <a:spLocks noGrp="1"/>
          </p:cNvSpPr>
          <p:nvPr>
            <p:ph idx="1"/>
          </p:nvPr>
        </p:nvSpPr>
        <p:spPr/>
        <p:txBody>
          <a:bodyPr/>
          <a:lstStyle/>
          <a:p>
            <a:r>
              <a:rPr lang="en-US" sz="2200" dirty="0" smtClean="0"/>
              <a:t>After defining the Church numerals, we can define the numerical operations.</a:t>
            </a:r>
          </a:p>
          <a:p>
            <a:r>
              <a:rPr lang="en-US" sz="2200" dirty="0" smtClean="0"/>
              <a:t>The first one is to define a successor function </a:t>
            </a:r>
            <a:r>
              <a:rPr lang="en-US" sz="2200" b="1" i="1" dirty="0" smtClean="0"/>
              <a:t>s</a:t>
            </a:r>
            <a:r>
              <a:rPr lang="en-US" sz="2200" dirty="0" smtClean="0"/>
              <a:t>. It is basically a function that increments a Church numeral by 1.</a:t>
            </a:r>
          </a:p>
          <a:p>
            <a:r>
              <a:rPr lang="en-US" sz="2200" dirty="0" smtClean="0"/>
              <a:t>Thus, the successor is a function that takes a Church numeral representing the number n and returns a Church numerical representation of n+1.</a:t>
            </a:r>
          </a:p>
          <a:p>
            <a:r>
              <a:rPr lang="en-US" sz="2200" dirty="0" smtClean="0"/>
              <a:t>For example, if </a:t>
            </a:r>
            <a:r>
              <a:rPr lang="en-US" sz="2200" dirty="0" err="1" smtClean="0"/>
              <a:t>λf.λx.f</a:t>
            </a:r>
            <a:r>
              <a:rPr lang="en-US" sz="2200" dirty="0" smtClean="0"/>
              <a:t>(f x) represents the number 2, if we apply the successor function </a:t>
            </a:r>
            <a:r>
              <a:rPr lang="en-US" sz="2200" b="1" dirty="0" smtClean="0"/>
              <a:t>s </a:t>
            </a:r>
            <a:r>
              <a:rPr lang="en-US" sz="2200" dirty="0" smtClean="0"/>
              <a:t>to that, we will get </a:t>
            </a:r>
            <a:r>
              <a:rPr lang="en-US" sz="2200" dirty="0" err="1" smtClean="0"/>
              <a:t>λf.λx.f</a:t>
            </a:r>
            <a:r>
              <a:rPr lang="en-US" sz="2200" dirty="0" smtClean="0"/>
              <a:t>(f(f x)) (Church numerical representation of number 3).</a:t>
            </a:r>
          </a:p>
          <a:p>
            <a:r>
              <a:rPr lang="en-US" sz="2200" dirty="0" smtClean="0"/>
              <a:t>The successor function is defined as follows:</a:t>
            </a:r>
          </a:p>
          <a:p>
            <a:r>
              <a:rPr lang="en-US" sz="2200" i="1" dirty="0" smtClean="0"/>
              <a:t>s(n) =</a:t>
            </a:r>
            <a:r>
              <a:rPr lang="en-US" sz="2200" i="1" dirty="0" err="1" smtClean="0"/>
              <a:t>λn.λf.λx.f</a:t>
            </a:r>
            <a:r>
              <a:rPr lang="en-US" sz="2200" i="1" dirty="0" smtClean="0"/>
              <a:t>((n f) x), </a:t>
            </a:r>
            <a:r>
              <a:rPr lang="en-US" sz="2200" dirty="0" smtClean="0"/>
              <a:t>where n is the Church numeral n.</a:t>
            </a:r>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successor function (I)</a:t>
            </a:r>
            <a:endParaRPr lang="en-US" dirty="0"/>
          </a:p>
        </p:txBody>
      </p:sp>
      <p:sp>
        <p:nvSpPr>
          <p:cNvPr id="3" name="Content Placeholder 2"/>
          <p:cNvSpPr>
            <a:spLocks noGrp="1"/>
          </p:cNvSpPr>
          <p:nvPr>
            <p:ph idx="1"/>
          </p:nvPr>
        </p:nvSpPr>
        <p:spPr/>
        <p:txBody>
          <a:bodyPr/>
          <a:lstStyle/>
          <a:p>
            <a:r>
              <a:rPr lang="en-US" sz="2200" dirty="0" smtClean="0"/>
              <a:t>After defining the Church numerals, we can define the numerical operations.</a:t>
            </a:r>
          </a:p>
          <a:p>
            <a:r>
              <a:rPr lang="en-US" sz="2200" dirty="0" smtClean="0"/>
              <a:t>The first one is to define a successor function </a:t>
            </a:r>
            <a:r>
              <a:rPr lang="en-US" sz="2200" b="1" i="1" dirty="0" smtClean="0"/>
              <a:t>s</a:t>
            </a:r>
            <a:r>
              <a:rPr lang="en-US" sz="2200" dirty="0" smtClean="0"/>
              <a:t>. It is basically a function that increments a Church numeral by 1.</a:t>
            </a:r>
          </a:p>
          <a:p>
            <a:r>
              <a:rPr lang="en-US" sz="2200" dirty="0" smtClean="0"/>
              <a:t>Thus, the successor is a function that takes a Church numeral representing the number n and returns a Church numerical representation of n+1.</a:t>
            </a:r>
          </a:p>
          <a:p>
            <a:r>
              <a:rPr lang="en-US" sz="2200" dirty="0" smtClean="0"/>
              <a:t>For example, if </a:t>
            </a:r>
            <a:r>
              <a:rPr lang="en-US" sz="2200" dirty="0" err="1" smtClean="0"/>
              <a:t>λf.λx.f</a:t>
            </a:r>
            <a:r>
              <a:rPr lang="en-US" sz="2200" dirty="0" smtClean="0"/>
              <a:t>(f x) represents the number 2, if we apply the successor function </a:t>
            </a:r>
            <a:r>
              <a:rPr lang="en-US" sz="2200" b="1" dirty="0" smtClean="0"/>
              <a:t>s </a:t>
            </a:r>
            <a:r>
              <a:rPr lang="en-US" sz="2200" dirty="0" smtClean="0"/>
              <a:t>to that, we will get </a:t>
            </a:r>
            <a:r>
              <a:rPr lang="en-US" sz="2200" dirty="0" err="1" smtClean="0"/>
              <a:t>λf.λx.f</a:t>
            </a:r>
            <a:r>
              <a:rPr lang="en-US" sz="2200" dirty="0" smtClean="0"/>
              <a:t>(f(f x)) (Church numerical representation of number 3).</a:t>
            </a:r>
          </a:p>
          <a:p>
            <a:r>
              <a:rPr lang="en-US" sz="2200" dirty="0" smtClean="0"/>
              <a:t>The successor function is defined as follows:</a:t>
            </a:r>
          </a:p>
          <a:p>
            <a:r>
              <a:rPr lang="en-US" sz="2200" i="1" dirty="0" smtClean="0"/>
              <a:t>s(n) =</a:t>
            </a:r>
            <a:r>
              <a:rPr lang="en-US" sz="2200" i="1" dirty="0" err="1" smtClean="0"/>
              <a:t>λn.λf.λx.f</a:t>
            </a:r>
            <a:r>
              <a:rPr lang="en-US" sz="2200" i="1" dirty="0" smtClean="0"/>
              <a:t>((n f) x), </a:t>
            </a:r>
            <a:r>
              <a:rPr lang="en-US" sz="2200" dirty="0" smtClean="0"/>
              <a:t>where n is the Church numeral n.</a:t>
            </a:r>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successor function (II)</a:t>
            </a:r>
            <a:endParaRPr lang="en-US" dirty="0"/>
          </a:p>
        </p:txBody>
      </p:sp>
      <p:sp>
        <p:nvSpPr>
          <p:cNvPr id="3" name="Content Placeholder 2"/>
          <p:cNvSpPr>
            <a:spLocks noGrp="1"/>
          </p:cNvSpPr>
          <p:nvPr>
            <p:ph idx="1"/>
          </p:nvPr>
        </p:nvSpPr>
        <p:spPr/>
        <p:txBody>
          <a:bodyPr/>
          <a:lstStyle/>
          <a:p>
            <a:r>
              <a:rPr lang="en-US" sz="2400" i="1" dirty="0" smtClean="0"/>
              <a:t>s(n) =</a:t>
            </a:r>
            <a:r>
              <a:rPr lang="en-US" sz="2400" i="1" dirty="0" err="1" smtClean="0"/>
              <a:t>λn.λf.λx.f</a:t>
            </a:r>
            <a:r>
              <a:rPr lang="en-US" sz="2400" i="1" dirty="0" smtClean="0"/>
              <a:t>((n f) x), </a:t>
            </a:r>
            <a:r>
              <a:rPr lang="en-US" sz="2400" dirty="0" smtClean="0"/>
              <a:t>where n is the Church numeral n.</a:t>
            </a:r>
          </a:p>
          <a:p>
            <a:r>
              <a:rPr lang="en-US" sz="2400" dirty="0" smtClean="0"/>
              <a:t>Let’s analyze it:</a:t>
            </a:r>
          </a:p>
          <a:p>
            <a:r>
              <a:rPr lang="en-US" sz="2400" b="1" dirty="0" smtClean="0"/>
              <a:t>Input</a:t>
            </a:r>
            <a:r>
              <a:rPr lang="en-US" sz="2400" dirty="0" smtClean="0"/>
              <a:t>: n (a Church numeral), f (a function), and x (an argument)</a:t>
            </a:r>
          </a:p>
          <a:p>
            <a:r>
              <a:rPr lang="en-US" sz="2400" b="1" i="1" dirty="0" smtClean="0"/>
              <a:t>Application</a:t>
            </a:r>
            <a:r>
              <a:rPr lang="en-US" sz="2400" b="1" dirty="0" smtClean="0"/>
              <a:t> of n</a:t>
            </a:r>
            <a:r>
              <a:rPr lang="en-US" sz="2400" dirty="0" smtClean="0"/>
              <a:t>: The term (</a:t>
            </a:r>
            <a:r>
              <a:rPr lang="en-US" sz="2400" dirty="0" err="1" smtClean="0"/>
              <a:t>nf</a:t>
            </a:r>
            <a:r>
              <a:rPr lang="en-US" sz="2400" dirty="0" smtClean="0"/>
              <a:t>)x represents the application of the function f to the argument x n times.</a:t>
            </a:r>
          </a:p>
          <a:p>
            <a:r>
              <a:rPr lang="en-US" sz="2400" b="1" dirty="0" smtClean="0"/>
              <a:t>Additional Application</a:t>
            </a:r>
            <a:r>
              <a:rPr lang="en-US" sz="2400" dirty="0" smtClean="0"/>
              <a:t>: The term f((</a:t>
            </a:r>
            <a:r>
              <a:rPr lang="en-US" sz="2400" dirty="0" err="1" smtClean="0"/>
              <a:t>nf</a:t>
            </a:r>
            <a:r>
              <a:rPr lang="en-US" sz="2400" dirty="0" smtClean="0"/>
              <a:t>)x) applies f one more time to the result of (</a:t>
            </a:r>
            <a:r>
              <a:rPr lang="en-US" sz="2400" dirty="0" err="1" smtClean="0"/>
              <a:t>nf</a:t>
            </a:r>
            <a:r>
              <a:rPr lang="en-US" sz="2400" dirty="0" smtClean="0"/>
              <a:t>)x.</a:t>
            </a:r>
          </a:p>
          <a:p>
            <a:r>
              <a:rPr lang="en-US" sz="2400" dirty="0" smtClean="0"/>
              <a:t>If the Church numeral n means to do something n times, s n means do something n+1 times.</a:t>
            </a:r>
          </a:p>
          <a:p>
            <a:endParaRPr lang="en-US" sz="2400" dirty="0" smtClean="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successor function Example (I)</a:t>
            </a:r>
            <a:endParaRPr lang="en-US" dirty="0"/>
          </a:p>
        </p:txBody>
      </p:sp>
      <p:sp>
        <p:nvSpPr>
          <p:cNvPr id="3" name="Content Placeholder 2"/>
          <p:cNvSpPr>
            <a:spLocks noGrp="1"/>
          </p:cNvSpPr>
          <p:nvPr>
            <p:ph idx="1"/>
          </p:nvPr>
        </p:nvSpPr>
        <p:spPr/>
        <p:txBody>
          <a:bodyPr/>
          <a:lstStyle/>
          <a:p>
            <a:r>
              <a:rPr lang="en-US" sz="2400" b="1" dirty="0" smtClean="0"/>
              <a:t>Church numeral for 2</a:t>
            </a:r>
            <a:r>
              <a:rPr lang="en-US" sz="2400" dirty="0" smtClean="0"/>
              <a:t>: </a:t>
            </a:r>
            <a:r>
              <a:rPr lang="el-GR" sz="2400" i="1" dirty="0" smtClean="0"/>
              <a:t>λ</a:t>
            </a:r>
            <a:r>
              <a:rPr lang="en-US" sz="2400" i="1" dirty="0" smtClean="0"/>
              <a:t>f.</a:t>
            </a:r>
            <a:r>
              <a:rPr lang="el-GR" sz="2400" i="1" dirty="0" smtClean="0"/>
              <a:t>λ</a:t>
            </a:r>
            <a:r>
              <a:rPr lang="en-US" sz="2400" i="1" dirty="0" err="1" smtClean="0"/>
              <a:t>x.f</a:t>
            </a:r>
            <a:r>
              <a:rPr lang="en-US" sz="2400" i="1" dirty="0" smtClean="0"/>
              <a:t>(f x)</a:t>
            </a:r>
            <a:endParaRPr lang="en-US" sz="2400" dirty="0" smtClean="0"/>
          </a:p>
          <a:p>
            <a:r>
              <a:rPr lang="en-US" sz="2400" b="1" dirty="0" smtClean="0"/>
              <a:t>Applying successor of this expression:</a:t>
            </a:r>
            <a:endParaRPr lang="en-US" sz="2400" dirty="0" smtClean="0"/>
          </a:p>
          <a:p>
            <a:r>
              <a:rPr lang="en-US" sz="2400" dirty="0" smtClean="0"/>
              <a:t>We know that</a:t>
            </a:r>
            <a:r>
              <a:rPr lang="en-US" sz="2400" i="1" dirty="0" smtClean="0"/>
              <a:t> s(n) = </a:t>
            </a:r>
            <a:r>
              <a:rPr lang="el-GR" sz="2400" i="1" dirty="0" smtClean="0"/>
              <a:t>λ</a:t>
            </a:r>
            <a:r>
              <a:rPr lang="en-US" sz="2400" i="1" dirty="0" smtClean="0"/>
              <a:t>n.</a:t>
            </a:r>
            <a:r>
              <a:rPr lang="el-GR" sz="2400" i="1" dirty="0" smtClean="0"/>
              <a:t>λ</a:t>
            </a:r>
            <a:r>
              <a:rPr lang="en-US" sz="2400" i="1" dirty="0" smtClean="0"/>
              <a:t>f.</a:t>
            </a:r>
            <a:r>
              <a:rPr lang="el-GR" sz="2400" i="1" dirty="0" smtClean="0"/>
              <a:t>λ</a:t>
            </a:r>
            <a:r>
              <a:rPr lang="en-US" sz="2400" i="1" dirty="0" err="1" smtClean="0"/>
              <a:t>x.f</a:t>
            </a:r>
            <a:r>
              <a:rPr lang="en-US" sz="2400" i="1" dirty="0" smtClean="0"/>
              <a:t>((n f) x)</a:t>
            </a:r>
            <a:endParaRPr lang="en-US" sz="2400" dirty="0" smtClean="0"/>
          </a:p>
          <a:p>
            <a:r>
              <a:rPr lang="en-US" sz="2400" dirty="0" smtClean="0"/>
              <a:t>Our n = 2 = </a:t>
            </a:r>
            <a:r>
              <a:rPr lang="el-GR" sz="2400" i="1" dirty="0" smtClean="0"/>
              <a:t>λ</a:t>
            </a:r>
            <a:r>
              <a:rPr lang="en-US" sz="2400" i="1" dirty="0" smtClean="0"/>
              <a:t>f.</a:t>
            </a:r>
            <a:r>
              <a:rPr lang="el-GR" sz="2400" i="1" dirty="0" smtClean="0"/>
              <a:t>λ</a:t>
            </a:r>
            <a:r>
              <a:rPr lang="en-US" sz="2400" i="1" dirty="0" err="1" smtClean="0"/>
              <a:t>x.f</a:t>
            </a:r>
            <a:r>
              <a:rPr lang="en-US" sz="2400" i="1" dirty="0" smtClean="0"/>
              <a:t>(f x)</a:t>
            </a:r>
            <a:endParaRPr lang="en-US" sz="2400" dirty="0" smtClean="0"/>
          </a:p>
          <a:p>
            <a:r>
              <a:rPr lang="en-US" sz="2400" dirty="0" smtClean="0"/>
              <a:t>Thus, we apply the successor function on that:</a:t>
            </a:r>
          </a:p>
          <a:p>
            <a:r>
              <a:rPr lang="en-US" sz="2400" dirty="0" smtClean="0"/>
              <a:t>s(</a:t>
            </a:r>
            <a:r>
              <a:rPr lang="el-GR" sz="2400" b="1" dirty="0" smtClean="0"/>
              <a:t>λ</a:t>
            </a:r>
            <a:r>
              <a:rPr lang="en-US" sz="2400" b="1" dirty="0" smtClean="0"/>
              <a:t>f.</a:t>
            </a:r>
            <a:r>
              <a:rPr lang="el-GR" sz="2400" b="1" dirty="0" smtClean="0"/>
              <a:t>λ</a:t>
            </a:r>
            <a:r>
              <a:rPr lang="en-US" sz="2400" b="1" dirty="0" err="1" smtClean="0"/>
              <a:t>x.f</a:t>
            </a:r>
            <a:r>
              <a:rPr lang="en-US" sz="2400" b="1" dirty="0" smtClean="0"/>
              <a:t>(f x)</a:t>
            </a:r>
            <a:r>
              <a:rPr lang="en-US" sz="2400" i="1" dirty="0" smtClean="0"/>
              <a:t>) = ( </a:t>
            </a:r>
            <a:r>
              <a:rPr lang="el-GR" sz="2400" i="1" dirty="0" smtClean="0"/>
              <a:t>λ</a:t>
            </a:r>
            <a:r>
              <a:rPr lang="en-US" sz="2400" i="1" dirty="0" smtClean="0"/>
              <a:t>n.</a:t>
            </a:r>
            <a:r>
              <a:rPr lang="el-GR" sz="2400" i="1" dirty="0" smtClean="0"/>
              <a:t>λ</a:t>
            </a:r>
            <a:r>
              <a:rPr lang="en-US" sz="2400" i="1" dirty="0" smtClean="0"/>
              <a:t>f.</a:t>
            </a:r>
            <a:r>
              <a:rPr lang="el-GR" sz="2400" i="1" dirty="0" smtClean="0"/>
              <a:t>λ</a:t>
            </a:r>
            <a:r>
              <a:rPr lang="en-US" sz="2400" i="1" dirty="0" err="1" smtClean="0"/>
              <a:t>x.f</a:t>
            </a:r>
            <a:r>
              <a:rPr lang="en-US" sz="2400" i="1" dirty="0" smtClean="0"/>
              <a:t>((n f) x) )( </a:t>
            </a:r>
            <a:r>
              <a:rPr lang="el-GR" sz="2400" b="1" dirty="0" smtClean="0"/>
              <a:t>λ</a:t>
            </a:r>
            <a:r>
              <a:rPr lang="en-US" sz="2400" b="1" dirty="0" smtClean="0"/>
              <a:t>f.</a:t>
            </a:r>
            <a:r>
              <a:rPr lang="el-GR" sz="2400" b="1" dirty="0" smtClean="0"/>
              <a:t>λ</a:t>
            </a:r>
            <a:r>
              <a:rPr lang="en-US" sz="2400" b="1" dirty="0" err="1" smtClean="0"/>
              <a:t>x.f</a:t>
            </a:r>
            <a:r>
              <a:rPr lang="en-US" sz="2400" b="1" dirty="0" smtClean="0"/>
              <a:t>(f x)</a:t>
            </a:r>
            <a:r>
              <a:rPr lang="en-US" sz="2400" i="1" dirty="0" smtClean="0"/>
              <a:t> )</a:t>
            </a:r>
          </a:p>
          <a:p>
            <a:r>
              <a:rPr lang="en-US" sz="2400" dirty="0" smtClean="0"/>
              <a:t>Using the first </a:t>
            </a:r>
            <a:r>
              <a:rPr lang="el-GR" sz="2400" i="1" dirty="0" smtClean="0"/>
              <a:t>β-</a:t>
            </a:r>
            <a:r>
              <a:rPr lang="en-US" sz="2400" i="1" dirty="0" smtClean="0"/>
              <a:t>reduction </a:t>
            </a:r>
            <a:r>
              <a:rPr lang="en-US" sz="2400" dirty="0" smtClean="0"/>
              <a:t>on the </a:t>
            </a:r>
            <a:r>
              <a:rPr lang="en-US" sz="2400" i="1" dirty="0" smtClean="0"/>
              <a:t>application </a:t>
            </a:r>
            <a:r>
              <a:rPr lang="en-US" sz="2400" dirty="0" smtClean="0"/>
              <a:t>expression</a:t>
            </a:r>
            <a:r>
              <a:rPr lang="en-US" sz="2400" i="1" dirty="0" smtClean="0"/>
              <a:t>:</a:t>
            </a:r>
            <a:endParaRPr lang="en-US" sz="2400" dirty="0" smtClean="0"/>
          </a:p>
          <a:p>
            <a:r>
              <a:rPr lang="en-US" sz="2400" i="1" dirty="0" smtClean="0"/>
              <a:t>(</a:t>
            </a:r>
            <a:r>
              <a:rPr lang="el-GR" sz="2400" i="1" dirty="0" smtClean="0"/>
              <a:t>λ </a:t>
            </a:r>
            <a:r>
              <a:rPr lang="en-US" sz="2400" i="1" dirty="0" err="1" smtClean="0"/>
              <a:t>param</a:t>
            </a:r>
            <a:r>
              <a:rPr lang="en-US" sz="2400" i="1" dirty="0" smtClean="0"/>
              <a:t> . output)input =&gt; output [</a:t>
            </a:r>
            <a:r>
              <a:rPr lang="en-US" sz="2400" i="1" dirty="0" err="1" smtClean="0"/>
              <a:t>param</a:t>
            </a:r>
            <a:r>
              <a:rPr lang="en-US" sz="2400" i="1" dirty="0" smtClean="0"/>
              <a:t> := input] =&gt; result</a:t>
            </a:r>
            <a:endParaRPr lang="en-US" sz="2400" dirty="0" smtClean="0"/>
          </a:p>
          <a:p>
            <a:r>
              <a:rPr lang="en-US" sz="2400" i="1" dirty="0" smtClean="0"/>
              <a:t>( </a:t>
            </a:r>
            <a:r>
              <a:rPr lang="el-GR" sz="2400" i="1" dirty="0" smtClean="0"/>
              <a:t>λ</a:t>
            </a:r>
            <a:r>
              <a:rPr lang="en-US" sz="2400" i="1" dirty="0" smtClean="0"/>
              <a:t>n.</a:t>
            </a:r>
            <a:r>
              <a:rPr lang="el-GR" sz="2400" i="1" dirty="0" smtClean="0"/>
              <a:t>λ</a:t>
            </a:r>
            <a:r>
              <a:rPr lang="en-US" sz="2400" i="1" dirty="0" smtClean="0"/>
              <a:t>f.</a:t>
            </a:r>
            <a:r>
              <a:rPr lang="el-GR" sz="2400" i="1" dirty="0" smtClean="0"/>
              <a:t>λ</a:t>
            </a:r>
            <a:r>
              <a:rPr lang="en-US" sz="2400" i="1" dirty="0" err="1" smtClean="0"/>
              <a:t>x.f</a:t>
            </a:r>
            <a:r>
              <a:rPr lang="en-US" sz="2400" i="1" dirty="0" smtClean="0"/>
              <a:t>((n f) x) )( </a:t>
            </a:r>
            <a:r>
              <a:rPr lang="el-GR" sz="2400" b="1" dirty="0" smtClean="0"/>
              <a:t>λ</a:t>
            </a:r>
            <a:r>
              <a:rPr lang="en-US" sz="2400" b="1" dirty="0" smtClean="0"/>
              <a:t>f.</a:t>
            </a:r>
            <a:r>
              <a:rPr lang="el-GR" sz="2400" b="1" dirty="0" smtClean="0"/>
              <a:t>λ</a:t>
            </a:r>
            <a:r>
              <a:rPr lang="en-US" sz="2400" b="1" dirty="0" err="1" smtClean="0"/>
              <a:t>x.f</a:t>
            </a:r>
            <a:r>
              <a:rPr lang="en-US" sz="2400" b="1" dirty="0" smtClean="0"/>
              <a:t>(f x)</a:t>
            </a:r>
            <a:r>
              <a:rPr lang="en-US" sz="2400" i="1" dirty="0" smtClean="0"/>
              <a:t> ) =&gt; </a:t>
            </a:r>
            <a:r>
              <a:rPr lang="el-GR" sz="2400" i="1" dirty="0" smtClean="0"/>
              <a:t>λ</a:t>
            </a:r>
            <a:r>
              <a:rPr lang="en-US" sz="2400" i="1" dirty="0" smtClean="0"/>
              <a:t>f.</a:t>
            </a:r>
            <a:r>
              <a:rPr lang="el-GR" sz="2400" i="1" dirty="0" smtClean="0"/>
              <a:t>λ</a:t>
            </a:r>
            <a:r>
              <a:rPr lang="en-US" sz="2400" i="1" dirty="0" err="1" smtClean="0"/>
              <a:t>x.f</a:t>
            </a:r>
            <a:r>
              <a:rPr lang="en-US" sz="2400" i="1" dirty="0" smtClean="0"/>
              <a:t>((n f) x) [n := </a:t>
            </a:r>
            <a:r>
              <a:rPr lang="el-GR" sz="2400" b="1" dirty="0" smtClean="0"/>
              <a:t>λ</a:t>
            </a:r>
            <a:r>
              <a:rPr lang="en-US" sz="2400" b="1" dirty="0" smtClean="0"/>
              <a:t>f.</a:t>
            </a:r>
            <a:r>
              <a:rPr lang="el-GR" sz="2400" b="1" dirty="0" smtClean="0"/>
              <a:t>λ</a:t>
            </a:r>
            <a:r>
              <a:rPr lang="en-US" sz="2400" b="1" dirty="0" err="1" smtClean="0"/>
              <a:t>x.f</a:t>
            </a:r>
            <a:r>
              <a:rPr lang="en-US" sz="2400" b="1" dirty="0" smtClean="0"/>
              <a:t>(f x)]</a:t>
            </a:r>
            <a:endParaRPr lang="en-US" sz="2400" dirty="0" smtClean="0"/>
          </a:p>
          <a:p>
            <a:r>
              <a:rPr lang="en-US" sz="2400" dirty="0" smtClean="0"/>
              <a:t>=&gt; </a:t>
            </a:r>
            <a:r>
              <a:rPr lang="el-GR" sz="2400" i="1" dirty="0" smtClean="0"/>
              <a:t>λ</a:t>
            </a:r>
            <a:r>
              <a:rPr lang="en-US" sz="2400" i="1" dirty="0" smtClean="0"/>
              <a:t>f.</a:t>
            </a:r>
            <a:r>
              <a:rPr lang="el-GR" sz="2400" i="1" dirty="0" smtClean="0"/>
              <a:t>λ</a:t>
            </a:r>
            <a:r>
              <a:rPr lang="en-US" sz="2400" i="1" dirty="0" err="1" smtClean="0"/>
              <a:t>x.f</a:t>
            </a:r>
            <a:r>
              <a:rPr lang="en-US" sz="2400" i="1" dirty="0" smtClean="0"/>
              <a:t>((</a:t>
            </a:r>
            <a:r>
              <a:rPr lang="el-GR" sz="2400" b="1" dirty="0" smtClean="0"/>
              <a:t>λ</a:t>
            </a:r>
            <a:r>
              <a:rPr lang="en-US" sz="2400" b="1" dirty="0" smtClean="0"/>
              <a:t>f.</a:t>
            </a:r>
            <a:r>
              <a:rPr lang="el-GR" sz="2400" b="1" dirty="0" smtClean="0"/>
              <a:t>λ</a:t>
            </a:r>
            <a:r>
              <a:rPr lang="en-US" sz="2400" b="1" dirty="0" err="1" smtClean="0"/>
              <a:t>x.f</a:t>
            </a:r>
            <a:r>
              <a:rPr lang="en-US" sz="2400" b="1" dirty="0" smtClean="0"/>
              <a:t>(f x) </a:t>
            </a:r>
            <a:r>
              <a:rPr lang="en-US" sz="2400" i="1" dirty="0" smtClean="0"/>
              <a:t>f x)</a:t>
            </a:r>
            <a:endParaRPr lang="en-US" sz="2400" dirty="0" smtClean="0"/>
          </a:p>
          <a:p>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successor function Example (II)</a:t>
            </a:r>
            <a:endParaRPr lang="en-US" dirty="0"/>
          </a:p>
        </p:txBody>
      </p:sp>
      <p:sp>
        <p:nvSpPr>
          <p:cNvPr id="3" name="Content Placeholder 2"/>
          <p:cNvSpPr>
            <a:spLocks noGrp="1"/>
          </p:cNvSpPr>
          <p:nvPr>
            <p:ph idx="1"/>
          </p:nvPr>
        </p:nvSpPr>
        <p:spPr/>
        <p:txBody>
          <a:bodyPr/>
          <a:lstStyle/>
          <a:p>
            <a:r>
              <a:rPr lang="en-US" sz="2400" dirty="0" smtClean="0"/>
              <a:t>Now, let’s analyze the inner application expression:</a:t>
            </a:r>
          </a:p>
          <a:p>
            <a:r>
              <a:rPr lang="en-US" sz="2400" b="1" dirty="0" smtClean="0"/>
              <a:t>(</a:t>
            </a:r>
            <a:r>
              <a:rPr lang="en-US" sz="2400" b="1" dirty="0" err="1" smtClean="0"/>
              <a:t>λf.λx.f</a:t>
            </a:r>
            <a:r>
              <a:rPr lang="en-US" sz="2400" b="1" dirty="0" smtClean="0"/>
              <a:t>(</a:t>
            </a:r>
            <a:r>
              <a:rPr lang="en-US" sz="2400" b="1" dirty="0" err="1" smtClean="0"/>
              <a:t>fx</a:t>
            </a:r>
            <a:r>
              <a:rPr lang="en-US" sz="2400" b="1" dirty="0" smtClean="0"/>
              <a:t>)</a:t>
            </a:r>
            <a:r>
              <a:rPr lang="en-US" sz="2400" dirty="0" smtClean="0"/>
              <a:t> f x</a:t>
            </a:r>
          </a:p>
          <a:p>
            <a:r>
              <a:rPr lang="en-US" sz="2400" dirty="0" smtClean="0"/>
              <a:t>The underlined term is the Church numeral 2, right? And it can be read as:</a:t>
            </a:r>
          </a:p>
          <a:p>
            <a:r>
              <a:rPr lang="en-US" sz="2400" dirty="0" smtClean="0"/>
              <a:t>Given a function f, apply f 2 times to its argument, which is x.</a:t>
            </a:r>
          </a:p>
          <a:p>
            <a:r>
              <a:rPr lang="en-US" sz="2400" b="1" dirty="0" smtClean="0"/>
              <a:t>(</a:t>
            </a:r>
            <a:r>
              <a:rPr lang="en-US" sz="2400" b="1" dirty="0" err="1" smtClean="0"/>
              <a:t>λf.λx.f</a:t>
            </a:r>
            <a:r>
              <a:rPr lang="en-US" sz="2400" b="1" dirty="0" smtClean="0"/>
              <a:t>(</a:t>
            </a:r>
            <a:r>
              <a:rPr lang="en-US" sz="2400" b="1" dirty="0" err="1" smtClean="0"/>
              <a:t>fx</a:t>
            </a:r>
            <a:r>
              <a:rPr lang="en-US" sz="2400" b="1" dirty="0" smtClean="0"/>
              <a:t>)</a:t>
            </a:r>
            <a:r>
              <a:rPr lang="en-US" sz="2400" dirty="0" smtClean="0"/>
              <a:t> f x turns into f(f x)</a:t>
            </a:r>
          </a:p>
          <a:p>
            <a:r>
              <a:rPr lang="en-US" sz="2400" dirty="0" smtClean="0"/>
              <a:t>Substituting on our expression </a:t>
            </a:r>
            <a:r>
              <a:rPr lang="en-US" sz="2400" i="1" dirty="0" err="1" smtClean="0"/>
              <a:t>λf.λx.f</a:t>
            </a:r>
            <a:r>
              <a:rPr lang="en-US" sz="2400" i="1" dirty="0" smtClean="0"/>
              <a:t>((</a:t>
            </a:r>
            <a:r>
              <a:rPr lang="en-US" sz="2400" b="1" i="1" dirty="0" err="1" smtClean="0"/>
              <a:t>λf.λx.f</a:t>
            </a:r>
            <a:r>
              <a:rPr lang="en-US" sz="2400" b="1" i="1" dirty="0" smtClean="0"/>
              <a:t>(</a:t>
            </a:r>
            <a:r>
              <a:rPr lang="en-US" sz="2400" b="1" i="1" dirty="0" err="1" smtClean="0"/>
              <a:t>fx</a:t>
            </a:r>
            <a:r>
              <a:rPr lang="en-US" sz="2400" b="1" i="1" dirty="0" smtClean="0"/>
              <a:t>)</a:t>
            </a:r>
            <a:r>
              <a:rPr lang="en-US" sz="2400" i="1" dirty="0" smtClean="0"/>
              <a:t> f x)</a:t>
            </a:r>
            <a:r>
              <a:rPr lang="en-US" sz="2400" dirty="0" smtClean="0"/>
              <a:t>, we get:</a:t>
            </a:r>
          </a:p>
          <a:p>
            <a:r>
              <a:rPr lang="en-US" sz="2400" i="1" dirty="0" err="1" smtClean="0"/>
              <a:t>λf.λx.f</a:t>
            </a:r>
            <a:r>
              <a:rPr lang="en-US" sz="2400" i="1" dirty="0" smtClean="0"/>
              <a:t>(f(f x))</a:t>
            </a:r>
            <a:r>
              <a:rPr lang="en-US" sz="2400" dirty="0" smtClean="0"/>
              <a:t>, which is exactly the Church numerical representation of the number 3!</a:t>
            </a:r>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 and multiplication</a:t>
            </a:r>
            <a:endParaRPr lang="en-US" dirty="0"/>
          </a:p>
        </p:txBody>
      </p:sp>
      <p:sp>
        <p:nvSpPr>
          <p:cNvPr id="3" name="Content Placeholder 2"/>
          <p:cNvSpPr>
            <a:spLocks noGrp="1"/>
          </p:cNvSpPr>
          <p:nvPr>
            <p:ph idx="1"/>
          </p:nvPr>
        </p:nvSpPr>
        <p:spPr/>
        <p:txBody>
          <a:bodyPr/>
          <a:lstStyle/>
          <a:p>
            <a:r>
              <a:rPr lang="en-US" sz="2400" dirty="0" smtClean="0"/>
              <a:t>The addition of two numbers m + n is defined as:</a:t>
            </a:r>
          </a:p>
          <a:p>
            <a:r>
              <a:rPr lang="en-US" sz="2400" i="1" dirty="0" smtClean="0"/>
              <a:t>ADD(m, n) = </a:t>
            </a:r>
            <a:r>
              <a:rPr lang="en-US" sz="2400" i="1" dirty="0" err="1" smtClean="0"/>
              <a:t>λm.λn.λf.λx</a:t>
            </a:r>
            <a:r>
              <a:rPr lang="en-US" sz="2400" i="1" dirty="0" smtClean="0"/>
              <a:t>.(m f)((n f) x)</a:t>
            </a:r>
            <a:endParaRPr lang="en-US" sz="2400" dirty="0" smtClean="0"/>
          </a:p>
          <a:p>
            <a:r>
              <a:rPr lang="en-US" sz="2400" dirty="0" smtClean="0"/>
              <a:t>Thus, if we define </a:t>
            </a:r>
            <a:r>
              <a:rPr lang="en-US" sz="2400" i="1" dirty="0" smtClean="0"/>
              <a:t>m</a:t>
            </a:r>
            <a:r>
              <a:rPr lang="en-US" sz="2400" dirty="0" smtClean="0"/>
              <a:t> and </a:t>
            </a:r>
            <a:r>
              <a:rPr lang="en-US" sz="2400" i="1" dirty="0" smtClean="0"/>
              <a:t>n</a:t>
            </a:r>
            <a:r>
              <a:rPr lang="en-US" sz="2400" dirty="0" smtClean="0"/>
              <a:t> as the Church numerical representations of 3 and 4, respectively, and then apply this ADD function, we will get the Church numerical representation of 7.</a:t>
            </a:r>
          </a:p>
          <a:p>
            <a:r>
              <a:rPr lang="en-US" sz="2400" dirty="0" smtClean="0"/>
              <a:t>The same logic applies to multiplication of two numbers m * n:</a:t>
            </a:r>
          </a:p>
          <a:p>
            <a:r>
              <a:rPr lang="en-US" sz="2400" i="1" dirty="0" smtClean="0"/>
              <a:t>MUL(m, n) = </a:t>
            </a:r>
            <a:r>
              <a:rPr lang="en-US" sz="2400" i="1" dirty="0" err="1" smtClean="0"/>
              <a:t>λm.λn.λf.λx.m</a:t>
            </a:r>
            <a:r>
              <a:rPr lang="en-US" sz="2400" i="1" dirty="0" smtClean="0"/>
              <a:t> (n f)</a:t>
            </a:r>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Booleans</a:t>
            </a:r>
            <a:endParaRPr lang="en-US" dirty="0"/>
          </a:p>
        </p:txBody>
      </p:sp>
      <p:sp>
        <p:nvSpPr>
          <p:cNvPr id="3" name="Content Placeholder 2"/>
          <p:cNvSpPr>
            <a:spLocks noGrp="1"/>
          </p:cNvSpPr>
          <p:nvPr>
            <p:ph idx="1"/>
          </p:nvPr>
        </p:nvSpPr>
        <p:spPr/>
        <p:txBody>
          <a:bodyPr/>
          <a:lstStyle/>
          <a:p>
            <a:r>
              <a:rPr lang="en-US" sz="2400" dirty="0" smtClean="0"/>
              <a:t>in Lambda Calculus, the Church definition of </a:t>
            </a:r>
            <a:r>
              <a:rPr lang="en-US" sz="2400" i="1" dirty="0" smtClean="0"/>
              <a:t>true</a:t>
            </a:r>
            <a:r>
              <a:rPr lang="en-US" sz="2400" dirty="0" smtClean="0"/>
              <a:t> and </a:t>
            </a:r>
            <a:r>
              <a:rPr lang="en-US" sz="2400" i="1" dirty="0" smtClean="0"/>
              <a:t>false</a:t>
            </a:r>
            <a:r>
              <a:rPr lang="en-US" sz="2400" dirty="0" smtClean="0"/>
              <a:t> are defined as functions of </a:t>
            </a:r>
            <a:r>
              <a:rPr lang="en-US" sz="2400" b="1" dirty="0" smtClean="0">
                <a:solidFill>
                  <a:srgbClr val="C00000"/>
                </a:solidFill>
              </a:rPr>
              <a:t>two parameters</a:t>
            </a:r>
            <a:r>
              <a:rPr lang="en-US" sz="2400" dirty="0" smtClean="0"/>
              <a:t>:</a:t>
            </a:r>
          </a:p>
          <a:p>
            <a:r>
              <a:rPr lang="en-US" sz="2400" i="1" dirty="0" smtClean="0"/>
              <a:t>true</a:t>
            </a:r>
            <a:r>
              <a:rPr lang="en-US" sz="2400" dirty="0" smtClean="0"/>
              <a:t> chooses the first parameter.</a:t>
            </a:r>
          </a:p>
          <a:p>
            <a:r>
              <a:rPr lang="en-US" sz="2400" i="1" dirty="0" smtClean="0"/>
              <a:t>false</a:t>
            </a:r>
            <a:r>
              <a:rPr lang="en-US" sz="2400" dirty="0" smtClean="0"/>
              <a:t> chooses the second parameter.</a:t>
            </a:r>
          </a:p>
          <a:p>
            <a:r>
              <a:rPr lang="en-US" sz="2400" i="1" dirty="0" smtClean="0"/>
              <a:t>TRUE</a:t>
            </a:r>
            <a:r>
              <a:rPr lang="en-US" sz="2400" dirty="0" smtClean="0"/>
              <a:t> = </a:t>
            </a:r>
            <a:r>
              <a:rPr lang="en-US" sz="2400" i="1" dirty="0" err="1" smtClean="0"/>
              <a:t>λx.λy.x</a:t>
            </a:r>
            <a:endParaRPr lang="en-US" sz="2400" dirty="0" smtClean="0"/>
          </a:p>
          <a:p>
            <a:r>
              <a:rPr lang="en-US" sz="2400" i="1" dirty="0" smtClean="0"/>
              <a:t>FALSE</a:t>
            </a:r>
            <a:r>
              <a:rPr lang="en-US" sz="2400" dirty="0" smtClean="0"/>
              <a:t> = </a:t>
            </a:r>
            <a:r>
              <a:rPr lang="en-US" sz="2400" i="1" dirty="0" err="1" smtClean="0"/>
              <a:t>λx.λy.y</a:t>
            </a:r>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
            </a:r>
            <a:endParaRPr lang="en-US" dirty="0"/>
          </a:p>
        </p:txBody>
      </p:sp>
      <p:sp>
        <p:nvSpPr>
          <p:cNvPr id="3" name="Content Placeholder 2"/>
          <p:cNvSpPr>
            <a:spLocks noGrp="1"/>
          </p:cNvSpPr>
          <p:nvPr>
            <p:ph idx="1"/>
          </p:nvPr>
        </p:nvSpPr>
        <p:spPr/>
        <p:txBody>
          <a:bodyPr/>
          <a:lstStyle/>
          <a:p>
            <a:r>
              <a:rPr lang="en-US" sz="2400" b="1" dirty="0" smtClean="0"/>
              <a:t>NOT</a:t>
            </a:r>
            <a:r>
              <a:rPr lang="en-US" sz="2400" dirty="0" smtClean="0"/>
              <a:t>: Takes a Boolean and returns the opposite.</a:t>
            </a:r>
          </a:p>
          <a:p>
            <a:r>
              <a:rPr lang="en-US" sz="2400" dirty="0" smtClean="0"/>
              <a:t>NOT = </a:t>
            </a:r>
            <a:r>
              <a:rPr lang="en-US" sz="2400" dirty="0" err="1" smtClean="0"/>
              <a:t>λp</a:t>
            </a:r>
            <a:r>
              <a:rPr lang="en-US" sz="2400" dirty="0" smtClean="0"/>
              <a:t>. p FALSE TRUE</a:t>
            </a:r>
          </a:p>
          <a:p>
            <a:r>
              <a:rPr lang="en-US" sz="2400" dirty="0" smtClean="0"/>
              <a:t>This means: “Take a Boolean function p. Apply p to the two parameters FALSE TRUE."</a:t>
            </a:r>
          </a:p>
          <a:p>
            <a:r>
              <a:rPr lang="en-US" sz="2400" dirty="0" smtClean="0"/>
              <a:t>Remember the definition of </a:t>
            </a:r>
            <a:r>
              <a:rPr lang="en-US" sz="2400" dirty="0" err="1" smtClean="0"/>
              <a:t>booleans</a:t>
            </a:r>
            <a:r>
              <a:rPr lang="en-US" sz="2400" dirty="0" smtClean="0"/>
              <a:t> on Church </a:t>
            </a:r>
            <a:r>
              <a:rPr lang="en-US" sz="2400" dirty="0" err="1" smtClean="0"/>
              <a:t>enconding</a:t>
            </a:r>
            <a:r>
              <a:rPr lang="en-US" sz="2400" dirty="0" smtClean="0"/>
              <a:t>? </a:t>
            </a:r>
            <a:r>
              <a:rPr lang="en-US" sz="2400" i="1" dirty="0" smtClean="0"/>
              <a:t>TRUE</a:t>
            </a:r>
            <a:r>
              <a:rPr lang="en-US" sz="2400" dirty="0" smtClean="0"/>
              <a:t> returns the first parameter and </a:t>
            </a:r>
            <a:r>
              <a:rPr lang="en-US" sz="2400" i="1" dirty="0" smtClean="0"/>
              <a:t>FALSE</a:t>
            </a:r>
            <a:r>
              <a:rPr lang="en-US" sz="2400" dirty="0" smtClean="0"/>
              <a:t> returns the second parameter? Thus:</a:t>
            </a:r>
          </a:p>
          <a:p>
            <a:r>
              <a:rPr lang="en-US" sz="2400" dirty="0" smtClean="0"/>
              <a:t>→ If p is TRUE, it returns FALSE.</a:t>
            </a:r>
          </a:p>
          <a:p>
            <a:r>
              <a:rPr lang="en-US" sz="2400" dirty="0" smtClean="0"/>
              <a:t>→ If p is FALSE, it returns TRUE.</a:t>
            </a:r>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a:t>
            </a:r>
            <a:endParaRPr lang="en-US" dirty="0"/>
          </a:p>
        </p:txBody>
      </p:sp>
      <p:sp>
        <p:nvSpPr>
          <p:cNvPr id="3" name="Content Placeholder 2"/>
          <p:cNvSpPr>
            <a:spLocks noGrp="1"/>
          </p:cNvSpPr>
          <p:nvPr>
            <p:ph idx="1"/>
          </p:nvPr>
        </p:nvSpPr>
        <p:spPr/>
        <p:txBody>
          <a:bodyPr/>
          <a:lstStyle/>
          <a:p>
            <a:r>
              <a:rPr lang="en-US" sz="2400" b="1" dirty="0" smtClean="0"/>
              <a:t>AND</a:t>
            </a:r>
            <a:r>
              <a:rPr lang="en-US" sz="2400" dirty="0" smtClean="0"/>
              <a:t>: Takes two Booleans and returns </a:t>
            </a:r>
            <a:r>
              <a:rPr lang="en-US" sz="2400" i="1" dirty="0" smtClean="0"/>
              <a:t>TRUE</a:t>
            </a:r>
            <a:r>
              <a:rPr lang="en-US" sz="2400" dirty="0" smtClean="0"/>
              <a:t> if both are </a:t>
            </a:r>
            <a:r>
              <a:rPr lang="en-US" sz="2400" i="1" dirty="0" smtClean="0"/>
              <a:t>TRUE</a:t>
            </a:r>
            <a:r>
              <a:rPr lang="en-US" sz="2400" dirty="0" smtClean="0"/>
              <a:t>, otherwise FALSE.</a:t>
            </a:r>
          </a:p>
          <a:p>
            <a:r>
              <a:rPr lang="en-US" sz="2400" dirty="0" smtClean="0"/>
              <a:t>AND = </a:t>
            </a:r>
            <a:r>
              <a:rPr lang="en-US" sz="2400" dirty="0" err="1" smtClean="0"/>
              <a:t>λp.λq.p</a:t>
            </a:r>
            <a:r>
              <a:rPr lang="en-US" sz="2400" dirty="0" smtClean="0"/>
              <a:t> q p</a:t>
            </a:r>
          </a:p>
          <a:p>
            <a:r>
              <a:rPr lang="en-US" sz="2400" dirty="0" smtClean="0"/>
              <a:t>This means: “Take two Boolean functions p and q. Apply p to q and p."</a:t>
            </a:r>
          </a:p>
          <a:p>
            <a:r>
              <a:rPr lang="en-US" sz="2400" dirty="0" smtClean="0"/>
              <a:t>Let’s try on practice:</a:t>
            </a:r>
          </a:p>
          <a:p>
            <a:r>
              <a:rPr lang="en-US" sz="2400" i="1" dirty="0" smtClean="0"/>
              <a:t>AND TRUE FALSE</a:t>
            </a:r>
            <a:r>
              <a:rPr lang="en-US" sz="2400" dirty="0" smtClean="0"/>
              <a:t> = (</a:t>
            </a:r>
            <a:r>
              <a:rPr lang="en-US" sz="2400" i="1" dirty="0" err="1" smtClean="0"/>
              <a:t>λp.λq.p</a:t>
            </a:r>
            <a:r>
              <a:rPr lang="en-US" sz="2400" i="1" dirty="0" smtClean="0"/>
              <a:t> q p) TRUE FALSE:</a:t>
            </a:r>
            <a:endParaRPr lang="en-US" sz="2400" dirty="0" smtClean="0"/>
          </a:p>
          <a:p>
            <a:r>
              <a:rPr lang="en-US" sz="2400" dirty="0" smtClean="0"/>
              <a:t>Given </a:t>
            </a:r>
            <a:r>
              <a:rPr lang="en-US" sz="2400" i="1" dirty="0" smtClean="0"/>
              <a:t>TRUE</a:t>
            </a:r>
            <a:r>
              <a:rPr lang="en-US" sz="2400" dirty="0" smtClean="0"/>
              <a:t> and </a:t>
            </a:r>
            <a:r>
              <a:rPr lang="en-US" sz="2400" i="1" dirty="0" smtClean="0"/>
              <a:t>FALSE</a:t>
            </a:r>
            <a:r>
              <a:rPr lang="en-US" sz="2400" dirty="0" smtClean="0"/>
              <a:t>, return </a:t>
            </a:r>
            <a:r>
              <a:rPr lang="en-US" sz="2400" i="1" dirty="0" smtClean="0"/>
              <a:t>TRUE FALSE TRUE</a:t>
            </a:r>
            <a:r>
              <a:rPr lang="en-US" sz="2400" dirty="0" smtClean="0"/>
              <a:t>:</a:t>
            </a:r>
            <a:r>
              <a:rPr lang="en-US" sz="2400" b="1" dirty="0" smtClean="0">
                <a:solidFill>
                  <a:srgbClr val="C00000"/>
                </a:solidFill>
              </a:rPr>
              <a:t> (p = TRUE)</a:t>
            </a:r>
          </a:p>
          <a:p>
            <a:r>
              <a:rPr lang="en-US" sz="2400" dirty="0" smtClean="0"/>
              <a:t>=&gt; </a:t>
            </a:r>
            <a:r>
              <a:rPr lang="en-US" sz="2400" i="1" dirty="0" smtClean="0"/>
              <a:t>TRUE</a:t>
            </a:r>
            <a:r>
              <a:rPr lang="en-US" sz="2400" dirty="0" smtClean="0"/>
              <a:t> </a:t>
            </a:r>
            <a:r>
              <a:rPr lang="en-US" sz="2400" i="1" dirty="0" smtClean="0"/>
              <a:t>FALSE</a:t>
            </a:r>
            <a:r>
              <a:rPr lang="en-US" sz="2400" dirty="0" smtClean="0"/>
              <a:t> </a:t>
            </a:r>
            <a:r>
              <a:rPr lang="en-US" sz="2400" i="1" dirty="0" smtClean="0"/>
              <a:t>TRUE</a:t>
            </a:r>
            <a:r>
              <a:rPr lang="en-US" sz="2400" dirty="0" smtClean="0"/>
              <a:t> = </a:t>
            </a:r>
            <a:r>
              <a:rPr lang="en-US" sz="2400" i="1" dirty="0" err="1" smtClean="0"/>
              <a:t>λx.λy.x</a:t>
            </a:r>
            <a:r>
              <a:rPr lang="en-US" sz="2400" i="1" dirty="0" smtClean="0"/>
              <a:t> FALSE TRUE</a:t>
            </a:r>
            <a:endParaRPr lang="en-US" sz="2400" dirty="0" smtClean="0"/>
          </a:p>
          <a:p>
            <a:r>
              <a:rPr lang="en-US" sz="2400" dirty="0" smtClean="0"/>
              <a:t>Given </a:t>
            </a:r>
            <a:r>
              <a:rPr lang="en-US" sz="2400" i="1" dirty="0" smtClean="0"/>
              <a:t>FALSE</a:t>
            </a:r>
            <a:r>
              <a:rPr lang="en-US" sz="2400" dirty="0" smtClean="0"/>
              <a:t> and </a:t>
            </a:r>
            <a:r>
              <a:rPr lang="en-US" sz="2400" i="1" dirty="0" smtClean="0"/>
              <a:t>TRUE</a:t>
            </a:r>
            <a:r>
              <a:rPr lang="en-US" sz="2400" dirty="0" smtClean="0"/>
              <a:t>, return the first parameter:</a:t>
            </a:r>
          </a:p>
          <a:p>
            <a:r>
              <a:rPr lang="en-US" sz="2400" i="1" dirty="0" err="1" smtClean="0"/>
              <a:t>λx.λy.x</a:t>
            </a:r>
            <a:r>
              <a:rPr lang="en-US" sz="2400" i="1" dirty="0" smtClean="0"/>
              <a:t> FALSE TRUE = FALSE</a:t>
            </a:r>
            <a:endParaRPr lang="en-US" sz="2400" dirty="0"/>
          </a:p>
        </p:txBody>
      </p:sp>
      <p:sp>
        <p:nvSpPr>
          <p:cNvPr id="1026" name="AutoShape 2" descr="{\displaystyle {\begin{array}{r|l|l}{\text{Number}}&amp;{\text{Function definition}}&amp;{\text{Lambda expression}}\\\hline 0&amp;0\ f\ x=x&amp;0=\lambda f.\lambda x.x\\1&amp;1\ f\ x=f\ x&amp;1=\lambda f.\lambda x.f\ x\\2&amp;2\ f\ x=f\ (f\ x)&amp;2=\lambda f.\lambda x.f\ (f\ x)\\3&amp;3\ f\ x=f\ (f\ (f\ x))&amp;3=\lambda f.\lambda x.f\ (f\ (f\ x))\\\vdots &amp;\vdots &amp;\vdots \\n&amp;n\ f\ x=f^{n}\ x&amp;n=\lambda f.\lambda x.f^{\circ n}\ x\end{arr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Function? [1]</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Functions as graphs</a:t>
            </a:r>
          </a:p>
          <a:p>
            <a:pPr lvl="1"/>
            <a:r>
              <a:rPr lang="en-US" dirty="0" smtClean="0"/>
              <a:t>Given sets X and Y, a function from X to Y is a set of ordered pairs F of members of these sets such that for every x in X there is a unique y in Y for which the pair (x, y) is in F.</a:t>
            </a:r>
          </a:p>
          <a:p>
            <a:r>
              <a:rPr lang="en-US" i="1" dirty="0" smtClean="0">
                <a:solidFill>
                  <a:srgbClr val="C00000"/>
                </a:solidFill>
              </a:rPr>
              <a:t>Functions as rules</a:t>
            </a:r>
          </a:p>
          <a:p>
            <a:pPr lvl="1"/>
            <a:r>
              <a:rPr lang="en-US" dirty="0" smtClean="0"/>
              <a:t>To give a function means to give a rule for how the function is to be calculated.</a:t>
            </a:r>
          </a:p>
          <a:p>
            <a:pPr lvl="2"/>
            <a:r>
              <a:rPr lang="en-US" dirty="0" smtClean="0"/>
              <a:t>A rule can be given by a formula 	</a:t>
            </a:r>
            <a:r>
              <a:rPr lang="en-US" dirty="0" smtClean="0">
                <a:latin typeface="Courier New" pitchFamily="49" charset="0"/>
                <a:cs typeface="Courier New" pitchFamily="49" charset="0"/>
              </a:rPr>
              <a:t>f(x) = x</a:t>
            </a:r>
            <a:r>
              <a:rPr lang="en-US" baseline="30000" dirty="0" smtClean="0">
                <a:latin typeface="Courier New" pitchFamily="49" charset="0"/>
                <a:cs typeface="Courier New" pitchFamily="49" charset="0"/>
              </a:rPr>
              <a:t>2</a:t>
            </a:r>
            <a:endParaRPr lang="en-US" baseline="30000" dirty="0">
              <a:latin typeface="Courier New" pitchFamily="49" charset="0"/>
              <a:cs typeface="Courier New"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Lambda Calculus</a:t>
            </a:r>
            <a:endParaRPr lang="en-US" dirty="0"/>
          </a:p>
        </p:txBody>
      </p:sp>
      <p:sp>
        <p:nvSpPr>
          <p:cNvPr id="3" name="Content Placeholder 2"/>
          <p:cNvSpPr>
            <a:spLocks noGrp="1"/>
          </p:cNvSpPr>
          <p:nvPr>
            <p:ph idx="1"/>
          </p:nvPr>
        </p:nvSpPr>
        <p:spPr>
          <a:xfrm>
            <a:off x="457200" y="1371600"/>
            <a:ext cx="8229600" cy="3429000"/>
          </a:xfrm>
        </p:spPr>
        <p:txBody>
          <a:bodyPr/>
          <a:lstStyle/>
          <a:p>
            <a:r>
              <a:rPr lang="en-US" sz="2400" i="1" dirty="0" smtClean="0">
                <a:solidFill>
                  <a:srgbClr val="C00000"/>
                </a:solidFill>
              </a:rPr>
              <a:t>Language of expressions</a:t>
            </a:r>
          </a:p>
          <a:p>
            <a:pPr lvl="1"/>
            <a:r>
              <a:rPr lang="en-US" sz="2400" dirty="0" smtClean="0"/>
              <a:t>Arithmetic</a:t>
            </a:r>
          </a:p>
          <a:p>
            <a:pPr lvl="2"/>
            <a:r>
              <a:rPr lang="en-US" dirty="0" smtClean="0"/>
              <a:t>An expression such as </a:t>
            </a:r>
            <a:r>
              <a:rPr lang="en-US" dirty="0" err="1" smtClean="0">
                <a:latin typeface="Courier New" pitchFamily="49" charset="0"/>
                <a:cs typeface="Courier New" pitchFamily="49" charset="0"/>
              </a:rPr>
              <a:t>x+y</a:t>
            </a:r>
            <a:r>
              <a:rPr lang="en-US" dirty="0" smtClean="0"/>
              <a:t> stands for the result of an addition</a:t>
            </a:r>
          </a:p>
          <a:p>
            <a:r>
              <a:rPr lang="en-US" sz="2400" i="1" dirty="0" smtClean="0">
                <a:solidFill>
                  <a:srgbClr val="C00000"/>
                </a:solidFill>
              </a:rPr>
              <a:t>The lambda calculus extends the idea</a:t>
            </a:r>
            <a:r>
              <a:rPr lang="en-US" sz="2400" dirty="0" smtClean="0"/>
              <a:t> of an expression language to include functions.</a:t>
            </a:r>
          </a:p>
          <a:p>
            <a:r>
              <a:rPr lang="en-US" sz="2400" i="1" dirty="0" smtClean="0">
                <a:solidFill>
                  <a:srgbClr val="C00000"/>
                </a:solidFill>
              </a:rPr>
              <a:t>The lambda calculus is</a:t>
            </a:r>
            <a:r>
              <a:rPr lang="en-US" sz="2400" dirty="0" smtClean="0"/>
              <a:t> a theory of functions as formulas.</a:t>
            </a:r>
          </a:p>
          <a:p>
            <a:r>
              <a:rPr lang="en-US" sz="2400" i="1" dirty="0" smtClean="0">
                <a:solidFill>
                  <a:srgbClr val="C00000"/>
                </a:solidFill>
              </a:rPr>
              <a:t>It is a system for</a:t>
            </a:r>
            <a:r>
              <a:rPr lang="en-US" sz="2400" dirty="0" smtClean="0"/>
              <a:t> manipulating functions as expressions.</a:t>
            </a:r>
          </a:p>
        </p:txBody>
      </p:sp>
      <p:pic>
        <p:nvPicPr>
          <p:cNvPr id="1026" name="Picture 2"/>
          <p:cNvPicPr>
            <a:picLocks noChangeAspect="1" noChangeArrowheads="1"/>
          </p:cNvPicPr>
          <p:nvPr/>
        </p:nvPicPr>
        <p:blipFill>
          <a:blip r:embed="rId2" cstate="print"/>
          <a:srcRect/>
          <a:stretch>
            <a:fillRect/>
          </a:stretch>
        </p:blipFill>
        <p:spPr bwMode="auto">
          <a:xfrm>
            <a:off x="1528763" y="4762500"/>
            <a:ext cx="6086475" cy="13335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976313" y="6172200"/>
            <a:ext cx="7191375" cy="5143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First-Class Function</a:t>
            </a:r>
            <a:endParaRPr lang="en-US" dirty="0"/>
          </a:p>
        </p:txBody>
      </p:sp>
      <p:sp>
        <p:nvSpPr>
          <p:cNvPr id="3" name="Content Placeholder 2"/>
          <p:cNvSpPr>
            <a:spLocks noGrp="1"/>
          </p:cNvSpPr>
          <p:nvPr>
            <p:ph idx="1"/>
          </p:nvPr>
        </p:nvSpPr>
        <p:spPr/>
        <p:txBody>
          <a:bodyPr/>
          <a:lstStyle/>
          <a:p>
            <a:r>
              <a:rPr lang="en-US" sz="2400" dirty="0" smtClean="0"/>
              <a:t>A programming language is said to have first-class functions if it treats functions as first-class citizens.</a:t>
            </a:r>
          </a:p>
          <a:p>
            <a:r>
              <a:rPr lang="en-US" sz="2400" dirty="0" smtClean="0"/>
              <a:t>Specifically, this means the language supports passing functions as arguments to other functions, returning them as the values from other functions, and assigning them to variables or storing them in data structures.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Lexical and Dynamic Scoping</a:t>
            </a:r>
            <a:endParaRPr lang="en-US" dirty="0"/>
          </a:p>
        </p:txBody>
      </p:sp>
      <p:sp>
        <p:nvSpPr>
          <p:cNvPr id="3" name="Content Placeholder 2"/>
          <p:cNvSpPr>
            <a:spLocks noGrp="1"/>
          </p:cNvSpPr>
          <p:nvPr>
            <p:ph idx="1"/>
          </p:nvPr>
        </p:nvSpPr>
        <p:spPr/>
        <p:txBody>
          <a:bodyPr/>
          <a:lstStyle/>
          <a:p>
            <a:r>
              <a:rPr lang="en-US" sz="2200" dirty="0" smtClean="0">
                <a:hlinkClick r:id="rId2"/>
              </a:rPr>
              <a:t>https://web.archive.org/web/20150207225438/http://courses.cs.washington.edu/courses/cse341/08au/general-concepts/scoping.html</a:t>
            </a:r>
            <a:endParaRPr lang="en-US" sz="2200" dirty="0" smtClean="0"/>
          </a:p>
          <a:p>
            <a:r>
              <a:rPr lang="en-US" sz="2200" dirty="0" smtClean="0"/>
              <a:t>Scope rules define the visibility rules for names in a programming language. What if you have references to a variable named k in different parts of the program? Do these refer to the same variable or to different ones?</a:t>
            </a:r>
          </a:p>
          <a:p>
            <a:r>
              <a:rPr lang="en-US" sz="2200" dirty="0" smtClean="0"/>
              <a:t>Languages such as Haskell, </a:t>
            </a:r>
            <a:r>
              <a:rPr lang="en-US" sz="2200" dirty="0" err="1" smtClean="0"/>
              <a:t>Algol</a:t>
            </a:r>
            <a:r>
              <a:rPr lang="en-US" sz="2200" dirty="0" smtClean="0"/>
              <a:t>, </a:t>
            </a:r>
            <a:r>
              <a:rPr lang="en-US" sz="2200" dirty="0" err="1" smtClean="0"/>
              <a:t>Ada</a:t>
            </a:r>
            <a:r>
              <a:rPr lang="en-US" sz="2200" dirty="0" smtClean="0"/>
              <a:t>, C, Pascal and Scheme are lexically scoped. A block defines a new scope. Variables can be declared in that scope, and aren't visible from the outside.</a:t>
            </a:r>
          </a:p>
          <a:p>
            <a:r>
              <a:rPr lang="en-US" sz="2200" dirty="0" smtClean="0"/>
              <a:t>Some older languages use dynamic scoping. Using this scoping rule, we first look for a local definition of a variable. If it isn't found, we look up the calling stack for a definition.</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Closure</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9948</TotalTime>
  <Words>2189</Words>
  <Application>Microsoft Office PowerPoint</Application>
  <PresentationFormat>On-screen Show (4:3)</PresentationFormat>
  <Paragraphs>185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Lambda Calculus</vt:lpstr>
      <vt:lpstr>Objectives</vt:lpstr>
      <vt:lpstr>References</vt:lpstr>
      <vt:lpstr>λ-Calculus (Lambda Calculus)</vt:lpstr>
      <vt:lpstr>Function</vt:lpstr>
      <vt:lpstr>anonymous function</vt:lpstr>
      <vt:lpstr>Abstraction</vt:lpstr>
      <vt:lpstr>Application</vt:lpstr>
      <vt:lpstr>parenthesis</vt:lpstr>
      <vt:lpstr>n parameters</vt:lpstr>
      <vt:lpstr>Alpha conversion</vt:lpstr>
      <vt:lpstr>Beta reduction</vt:lpstr>
      <vt:lpstr>Example (I)</vt:lpstr>
      <vt:lpstr>Example (II)</vt:lpstr>
      <vt:lpstr>Slide 15</vt:lpstr>
      <vt:lpstr>Lambda Calculus and Turing machines</vt:lpstr>
      <vt:lpstr>Church numerals</vt:lpstr>
      <vt:lpstr>successor function</vt:lpstr>
      <vt:lpstr>successor function (I)</vt:lpstr>
      <vt:lpstr>successor function (II)</vt:lpstr>
      <vt:lpstr>successor function Example (I)</vt:lpstr>
      <vt:lpstr>successor function Example (II)</vt:lpstr>
      <vt:lpstr>addition and multiplication</vt:lpstr>
      <vt:lpstr>Booleans</vt:lpstr>
      <vt:lpstr>NOT</vt:lpstr>
      <vt:lpstr>AND</vt:lpstr>
      <vt:lpstr>Slide 27</vt:lpstr>
      <vt:lpstr>What is a Function? [1]</vt:lpstr>
      <vt:lpstr>The Lambda Calculus</vt:lpstr>
      <vt:lpstr>First-Class Function</vt:lpstr>
      <vt:lpstr>Lexical and Dynamic Scoping</vt:lpstr>
      <vt:lpstr>Closure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4086</cp:revision>
  <dcterms:created xsi:type="dcterms:W3CDTF">2007-10-06T08:25:13Z</dcterms:created>
  <dcterms:modified xsi:type="dcterms:W3CDTF">2024-12-24T15:34:08Z</dcterms:modified>
</cp:coreProperties>
</file>