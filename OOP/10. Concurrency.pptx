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Default Extension="docx" ContentType="application/vnd.openxmlformats-officedocument.wordprocessingml.document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Default Extension="emf" ContentType="image/x-emf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Default Extension="vml" ContentType="application/vnd.openxmlformats-officedocument.vmlDrawi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658" r:id="rId2"/>
    <p:sldId id="646" r:id="rId3"/>
    <p:sldId id="729" r:id="rId4"/>
    <p:sldId id="647" r:id="rId5"/>
    <p:sldId id="672" r:id="rId6"/>
    <p:sldId id="671" r:id="rId7"/>
    <p:sldId id="674" r:id="rId8"/>
    <p:sldId id="673" r:id="rId9"/>
    <p:sldId id="669" r:id="rId10"/>
    <p:sldId id="676" r:id="rId11"/>
    <p:sldId id="678" r:id="rId12"/>
    <p:sldId id="721" r:id="rId13"/>
    <p:sldId id="731" r:id="rId14"/>
    <p:sldId id="677" r:id="rId15"/>
    <p:sldId id="680" r:id="rId16"/>
    <p:sldId id="707" r:id="rId17"/>
    <p:sldId id="708" r:id="rId18"/>
    <p:sldId id="710" r:id="rId19"/>
    <p:sldId id="713" r:id="rId20"/>
    <p:sldId id="718" r:id="rId21"/>
    <p:sldId id="719" r:id="rId22"/>
    <p:sldId id="715" r:id="rId23"/>
    <p:sldId id="732" r:id="rId24"/>
    <p:sldId id="733" r:id="rId25"/>
    <p:sldId id="702" r:id="rId26"/>
    <p:sldId id="717" r:id="rId27"/>
    <p:sldId id="714" r:id="rId28"/>
    <p:sldId id="734" r:id="rId29"/>
    <p:sldId id="735" r:id="rId30"/>
    <p:sldId id="736" r:id="rId31"/>
    <p:sldId id="737" r:id="rId32"/>
    <p:sldId id="720" r:id="rId33"/>
    <p:sldId id="739" r:id="rId34"/>
    <p:sldId id="740" r:id="rId35"/>
    <p:sldId id="741" r:id="rId36"/>
    <p:sldId id="742" r:id="rId37"/>
    <p:sldId id="743" r:id="rId38"/>
    <p:sldId id="744" r:id="rId39"/>
    <p:sldId id="745" r:id="rId40"/>
    <p:sldId id="746" r:id="rId41"/>
    <p:sldId id="747" r:id="rId42"/>
    <p:sldId id="753" r:id="rId43"/>
    <p:sldId id="748" r:id="rId44"/>
    <p:sldId id="749" r:id="rId45"/>
    <p:sldId id="750" r:id="rId46"/>
    <p:sldId id="751" r:id="rId47"/>
    <p:sldId id="752" r:id="rId48"/>
    <p:sldId id="754" r:id="rId49"/>
    <p:sldId id="755" r:id="rId50"/>
    <p:sldId id="343" r:id="rId5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52" autoAdjust="0"/>
    <p:restoredTop sz="94667" autoAdjust="0"/>
  </p:normalViewPr>
  <p:slideViewPr>
    <p:cSldViewPr>
      <p:cViewPr>
        <p:scale>
          <a:sx n="50" d="100"/>
          <a:sy n="50" d="100"/>
        </p:scale>
        <p:origin x="-1544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D0B1FFF-68A6-45B2-BAF8-34F864506615}" type="doc">
      <dgm:prSet loTypeId="urn:microsoft.com/office/officeart/2005/8/layout/chevron1" loCatId="process" qsTypeId="urn:microsoft.com/office/officeart/2005/8/quickstyle/simple1" qsCatId="simple" csTypeId="urn:microsoft.com/office/officeart/2005/8/colors/colorful1" csCatId="colorful" phldr="1"/>
      <dgm:spPr/>
    </dgm:pt>
    <dgm:pt modelId="{45578261-2D82-4908-9DEC-F40047B9320A}">
      <dgm:prSet phldrT="[Text]"/>
      <dgm:spPr/>
      <dgm:t>
        <a:bodyPr/>
        <a:lstStyle/>
        <a:p>
          <a:r>
            <a:rPr lang="en-US" dirty="0" smtClean="0"/>
            <a:t>Processes</a:t>
          </a:r>
          <a:endParaRPr lang="en-US" dirty="0"/>
        </a:p>
      </dgm:t>
    </dgm:pt>
    <dgm:pt modelId="{B797E284-06F3-44E9-9A93-4B2031B9B12A}" type="parTrans" cxnId="{0BC82043-75DB-4598-B189-B14E770B7098}">
      <dgm:prSet/>
      <dgm:spPr/>
      <dgm:t>
        <a:bodyPr/>
        <a:lstStyle/>
        <a:p>
          <a:endParaRPr lang="en-US"/>
        </a:p>
      </dgm:t>
    </dgm:pt>
    <dgm:pt modelId="{E89F4399-D13A-447E-9160-9D9D108F59A3}" type="sibTrans" cxnId="{0BC82043-75DB-4598-B189-B14E770B7098}">
      <dgm:prSet/>
      <dgm:spPr/>
      <dgm:t>
        <a:bodyPr/>
        <a:lstStyle/>
        <a:p>
          <a:endParaRPr lang="en-US"/>
        </a:p>
      </dgm:t>
    </dgm:pt>
    <dgm:pt modelId="{E22CA387-BE1C-4B2E-9640-A82A7D5827AD}">
      <dgm:prSet phldrT="[Text]"/>
      <dgm:spPr/>
      <dgm:t>
        <a:bodyPr/>
        <a:lstStyle/>
        <a:p>
          <a:r>
            <a:rPr lang="en-US" dirty="0" smtClean="0"/>
            <a:t>Threads</a:t>
          </a:r>
          <a:endParaRPr lang="en-US" dirty="0"/>
        </a:p>
      </dgm:t>
    </dgm:pt>
    <dgm:pt modelId="{6BE77B3B-5684-4BF6-B91B-F4FACEBC9AD1}" type="parTrans" cxnId="{B89E5597-6513-4DA1-969C-FFBC0D008477}">
      <dgm:prSet/>
      <dgm:spPr/>
      <dgm:t>
        <a:bodyPr/>
        <a:lstStyle/>
        <a:p>
          <a:endParaRPr lang="en-US"/>
        </a:p>
      </dgm:t>
    </dgm:pt>
    <dgm:pt modelId="{E5812513-6333-470F-91FE-D63B6D4A10C3}" type="sibTrans" cxnId="{B89E5597-6513-4DA1-969C-FFBC0D008477}">
      <dgm:prSet/>
      <dgm:spPr/>
      <dgm:t>
        <a:bodyPr/>
        <a:lstStyle/>
        <a:p>
          <a:endParaRPr lang="en-US"/>
        </a:p>
      </dgm:t>
    </dgm:pt>
    <dgm:pt modelId="{4B33A034-946F-43D7-BD70-845F8D5FC1FD}">
      <dgm:prSet phldrT="[Text]"/>
      <dgm:spPr/>
      <dgm:t>
        <a:bodyPr/>
        <a:lstStyle/>
        <a:p>
          <a:r>
            <a:rPr lang="en-US" dirty="0" smtClean="0"/>
            <a:t>CPUs</a:t>
          </a:r>
          <a:endParaRPr lang="en-US" dirty="0"/>
        </a:p>
      </dgm:t>
    </dgm:pt>
    <dgm:pt modelId="{FC4238C4-E276-4C63-BDED-787E510B4A0E}" type="parTrans" cxnId="{4586CDFA-D2DE-4B1F-BC99-809A59B5912A}">
      <dgm:prSet/>
      <dgm:spPr/>
      <dgm:t>
        <a:bodyPr/>
        <a:lstStyle/>
        <a:p>
          <a:endParaRPr lang="en-US"/>
        </a:p>
      </dgm:t>
    </dgm:pt>
    <dgm:pt modelId="{A63B4000-6244-422C-A3B9-B0713C1AD2A7}" type="sibTrans" cxnId="{4586CDFA-D2DE-4B1F-BC99-809A59B5912A}">
      <dgm:prSet/>
      <dgm:spPr/>
      <dgm:t>
        <a:bodyPr/>
        <a:lstStyle/>
        <a:p>
          <a:endParaRPr lang="en-US"/>
        </a:p>
      </dgm:t>
    </dgm:pt>
    <dgm:pt modelId="{D9A2E7FF-F0DC-4F51-90B4-E4CEE75440BD}" type="pres">
      <dgm:prSet presAssocID="{9D0B1FFF-68A6-45B2-BAF8-34F864506615}" presName="Name0" presStyleCnt="0">
        <dgm:presLayoutVars>
          <dgm:dir/>
          <dgm:animLvl val="lvl"/>
          <dgm:resizeHandles val="exact"/>
        </dgm:presLayoutVars>
      </dgm:prSet>
      <dgm:spPr/>
    </dgm:pt>
    <dgm:pt modelId="{AA54D28D-B855-43EE-B9B2-BC9B356C332D}" type="pres">
      <dgm:prSet presAssocID="{45578261-2D82-4908-9DEC-F40047B9320A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13F75E5-B0CB-4DE1-8888-C4DDF6729800}" type="pres">
      <dgm:prSet presAssocID="{E89F4399-D13A-447E-9160-9D9D108F59A3}" presName="parTxOnlySpace" presStyleCnt="0"/>
      <dgm:spPr/>
    </dgm:pt>
    <dgm:pt modelId="{08F6AB8F-EABB-417E-B6E7-AD489B49E82E}" type="pres">
      <dgm:prSet presAssocID="{E22CA387-BE1C-4B2E-9640-A82A7D5827AD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29852BB-15DA-4880-82D4-BA837DEABBA8}" type="pres">
      <dgm:prSet presAssocID="{E5812513-6333-470F-91FE-D63B6D4A10C3}" presName="parTxOnlySpace" presStyleCnt="0"/>
      <dgm:spPr/>
    </dgm:pt>
    <dgm:pt modelId="{33EF8BC7-ACC8-420E-A88D-6FFF182C7EE5}" type="pres">
      <dgm:prSet presAssocID="{4B33A034-946F-43D7-BD70-845F8D5FC1FD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DE82CDE-99C7-4689-9F48-A83943392CDE}" type="presOf" srcId="{9D0B1FFF-68A6-45B2-BAF8-34F864506615}" destId="{D9A2E7FF-F0DC-4F51-90B4-E4CEE75440BD}" srcOrd="0" destOrd="0" presId="urn:microsoft.com/office/officeart/2005/8/layout/chevron1"/>
    <dgm:cxn modelId="{4586CDFA-D2DE-4B1F-BC99-809A59B5912A}" srcId="{9D0B1FFF-68A6-45B2-BAF8-34F864506615}" destId="{4B33A034-946F-43D7-BD70-845F8D5FC1FD}" srcOrd="2" destOrd="0" parTransId="{FC4238C4-E276-4C63-BDED-787E510B4A0E}" sibTransId="{A63B4000-6244-422C-A3B9-B0713C1AD2A7}"/>
    <dgm:cxn modelId="{1CCBB856-4D4A-4956-9086-C6CF100C0B7D}" type="presOf" srcId="{45578261-2D82-4908-9DEC-F40047B9320A}" destId="{AA54D28D-B855-43EE-B9B2-BC9B356C332D}" srcOrd="0" destOrd="0" presId="urn:microsoft.com/office/officeart/2005/8/layout/chevron1"/>
    <dgm:cxn modelId="{0BC82043-75DB-4598-B189-B14E770B7098}" srcId="{9D0B1FFF-68A6-45B2-BAF8-34F864506615}" destId="{45578261-2D82-4908-9DEC-F40047B9320A}" srcOrd="0" destOrd="0" parTransId="{B797E284-06F3-44E9-9A93-4B2031B9B12A}" sibTransId="{E89F4399-D13A-447E-9160-9D9D108F59A3}"/>
    <dgm:cxn modelId="{B89E5597-6513-4DA1-969C-FFBC0D008477}" srcId="{9D0B1FFF-68A6-45B2-BAF8-34F864506615}" destId="{E22CA387-BE1C-4B2E-9640-A82A7D5827AD}" srcOrd="1" destOrd="0" parTransId="{6BE77B3B-5684-4BF6-B91B-F4FACEBC9AD1}" sibTransId="{E5812513-6333-470F-91FE-D63B6D4A10C3}"/>
    <dgm:cxn modelId="{566F3718-FC2A-445C-8B1D-AB1074751B87}" type="presOf" srcId="{E22CA387-BE1C-4B2E-9640-A82A7D5827AD}" destId="{08F6AB8F-EABB-417E-B6E7-AD489B49E82E}" srcOrd="0" destOrd="0" presId="urn:microsoft.com/office/officeart/2005/8/layout/chevron1"/>
    <dgm:cxn modelId="{2D4CD563-54DF-4FF9-90D2-F9FA15BEC36F}" type="presOf" srcId="{4B33A034-946F-43D7-BD70-845F8D5FC1FD}" destId="{33EF8BC7-ACC8-420E-A88D-6FFF182C7EE5}" srcOrd="0" destOrd="0" presId="urn:microsoft.com/office/officeart/2005/8/layout/chevron1"/>
    <dgm:cxn modelId="{BCE67CD9-D800-43C3-9D04-1F28E9A79819}" type="presParOf" srcId="{D9A2E7FF-F0DC-4F51-90B4-E4CEE75440BD}" destId="{AA54D28D-B855-43EE-B9B2-BC9B356C332D}" srcOrd="0" destOrd="0" presId="urn:microsoft.com/office/officeart/2005/8/layout/chevron1"/>
    <dgm:cxn modelId="{3C575F99-ABA4-485F-A2D2-7C064DFDAF0E}" type="presParOf" srcId="{D9A2E7FF-F0DC-4F51-90B4-E4CEE75440BD}" destId="{E13F75E5-B0CB-4DE1-8888-C4DDF6729800}" srcOrd="1" destOrd="0" presId="urn:microsoft.com/office/officeart/2005/8/layout/chevron1"/>
    <dgm:cxn modelId="{C1A56726-85B1-46B9-89AF-EE986AAAC55B}" type="presParOf" srcId="{D9A2E7FF-F0DC-4F51-90B4-E4CEE75440BD}" destId="{08F6AB8F-EABB-417E-B6E7-AD489B49E82E}" srcOrd="2" destOrd="0" presId="urn:microsoft.com/office/officeart/2005/8/layout/chevron1"/>
    <dgm:cxn modelId="{E883BFAE-B9E3-462E-BDD0-88C0050DF165}" type="presParOf" srcId="{D9A2E7FF-F0DC-4F51-90B4-E4CEE75440BD}" destId="{829852BB-15DA-4880-82D4-BA837DEABBA8}" srcOrd="3" destOrd="0" presId="urn:microsoft.com/office/officeart/2005/8/layout/chevron1"/>
    <dgm:cxn modelId="{DCE8F543-6FC6-4D07-A105-2D6CBD99C1BF}" type="presParOf" srcId="{D9A2E7FF-F0DC-4F51-90B4-E4CEE75440BD}" destId="{33EF8BC7-ACC8-420E-A88D-6FFF182C7EE5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34D400-6504-413F-B54E-738978C9D58D}" type="datetimeFigureOut">
              <a:rPr lang="en-US"/>
              <a:pPr>
                <a:defRPr/>
              </a:pPr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C1B037-3188-409D-8585-0062FF378D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650246-B75B-4111-A4E3-17CED8183F51}" type="datetimeFigureOut">
              <a:rPr lang="en-US"/>
              <a:pPr>
                <a:defRPr/>
              </a:pPr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713B35-0DC7-41A1-836F-F07E105F72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5B62FE-A4BA-4F3B-8724-099A9867E83E}" type="datetimeFigureOut">
              <a:rPr lang="en-US"/>
              <a:pPr>
                <a:defRPr/>
              </a:pPr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E2A0DB-97FF-4E2D-961A-53A8B3E81C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FBCD77-DB7E-410F-8346-A9CE932D0AC1}" type="datetimeFigureOut">
              <a:rPr lang="en-US"/>
              <a:pPr>
                <a:defRPr/>
              </a:pPr>
              <a:t>6/27/2025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B3858F-6EED-4FD9-B63D-3FB7FC26C95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FD8737-39E6-4861-92A8-89AC4192A622}" type="datetimeFigureOut">
              <a:rPr lang="en-US"/>
              <a:pPr>
                <a:defRPr/>
              </a:pPr>
              <a:t>6/27/2025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811265-6FEF-4F82-B77F-9478A26020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77D96A-39D8-4C6D-B965-8C8786F338A6}" type="datetimeFigureOut">
              <a:rPr lang="en-US"/>
              <a:pPr>
                <a:defRPr/>
              </a:pPr>
              <a:t>6/27/2025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14D288-D738-45D0-B23A-7E0F18151E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8036EE-19ED-4D9D-B088-EAFD7232ED0E}" type="datetimeFigureOut">
              <a:rPr lang="en-US"/>
              <a:pPr>
                <a:defRPr/>
              </a:pPr>
              <a:t>6/27/2025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7035E6-112E-46D6-92D2-F2905FE7FE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544F72-AE66-47B5-B42F-4F292EBF18C0}" type="datetimeFigureOut">
              <a:rPr lang="en-US"/>
              <a:pPr>
                <a:defRPr/>
              </a:pPr>
              <a:t>6/27/2025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26D519-0129-40C9-A8E0-4AA1DED683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8D7A31-5AF7-4205-933F-65E4A1293711}" type="datetimeFigureOut">
              <a:rPr lang="en-US"/>
              <a:pPr>
                <a:defRPr/>
              </a:pPr>
              <a:t>6/27/2025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4CC8C2-CC74-4F74-BCEB-5B4FD5CCA7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80A20E-8178-48FA-A129-AAB02AB6D639}" type="datetimeFigureOut">
              <a:rPr lang="en-US"/>
              <a:pPr>
                <a:defRPr/>
              </a:pPr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71C3DA-7D2B-4D47-80E5-C045B94A7C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16E936-9FA0-4541-B442-5A2338068559}" type="datetimeFigureOut">
              <a:rPr lang="en-US"/>
              <a:pPr>
                <a:defRPr/>
              </a:pPr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8867D3-01D4-40D3-B6DA-7869D49FDF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6553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C091D18-0586-4BD9-8B7F-38B22B7AB35F}" type="datetimeFigureOut">
              <a:rPr lang="en-US"/>
              <a:pPr>
                <a:defRPr/>
              </a:pPr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ED71EDE-E083-416B-A0EA-2AE6A7CEE3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0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4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1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43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r>
              <a:rPr lang="en-US" sz="6000" dirty="0" smtClean="0"/>
              <a:t>Concurrency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1"/>
            <a:ext cx="5715000" cy="4724399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differentiate</a:t>
            </a:r>
            <a:r>
              <a:rPr lang="en-US" sz="2400" dirty="0" smtClean="0"/>
              <a:t> among multiprogramming, multiprocessing, multitasking and multithreading.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create</a:t>
            </a:r>
            <a:r>
              <a:rPr lang="en-US" sz="2400" dirty="0" smtClean="0"/>
              <a:t> threads.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create</a:t>
            </a:r>
            <a:r>
              <a:rPr lang="en-US" sz="2400" dirty="0" smtClean="0"/>
              <a:t> locks.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To create </a:t>
            </a:r>
            <a:r>
              <a:rPr lang="en-US" sz="2400" i="1" dirty="0" smtClean="0">
                <a:solidFill>
                  <a:srgbClr val="C00000"/>
                </a:solidFill>
              </a:rPr>
              <a:t>asynchronous </a:t>
            </a:r>
            <a:r>
              <a:rPr lang="en-US" sz="2400" dirty="0" smtClean="0"/>
              <a:t>methods.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Processes.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Multiprocessing.</a:t>
            </a:r>
            <a:endParaRPr lang="en-US" sz="2400" dirty="0" smtClean="0">
              <a:cs typeface="Courier New" pitchFamily="49" charset="0"/>
            </a:endParaRP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>
                <a:cs typeface="Courier New" pitchFamily="49" charset="0"/>
              </a:rPr>
              <a:t>Threads.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Concurrency vs. Parallelism.</a:t>
            </a:r>
            <a:endParaRPr lang="en-US" sz="2400" dirty="0" smtClean="0">
              <a:cs typeface="Courier New" pitchFamily="49" charset="0"/>
            </a:endParaRP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Asynchronous Programming.</a:t>
            </a:r>
            <a:endParaRPr lang="en-US" sz="2400" dirty="0" smtClean="0">
              <a:cs typeface="Courier New" pitchFamily="49" charset="0"/>
            </a:endParaRPr>
          </a:p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Per </a:t>
            </a:r>
            <a:r>
              <a:rPr lang="en-US" sz="2400" dirty="0" err="1" smtClean="0"/>
              <a:t>Brinch</a:t>
            </a:r>
            <a:r>
              <a:rPr lang="en-US" sz="2400" dirty="0" smtClean="0"/>
              <a:t> Hansen (1970). The Nucleus of a Multiprogramming System.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Joseph </a:t>
            </a:r>
            <a:r>
              <a:rPr lang="en-US" sz="2400" dirty="0" err="1" smtClean="0"/>
              <a:t>Albahari</a:t>
            </a:r>
            <a:r>
              <a:rPr lang="en-US" sz="2400" dirty="0" smtClean="0"/>
              <a:t> and Eric </a:t>
            </a:r>
            <a:r>
              <a:rPr lang="en-US" sz="2400" dirty="0" err="1" smtClean="0"/>
              <a:t>Johannsen</a:t>
            </a:r>
            <a:r>
              <a:rPr lang="en-US" sz="2400" dirty="0" smtClean="0"/>
              <a:t> (2020). C# 8.0 in a Nutshell: The Definitive Reference. O'Reilly Media.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RB Whitaker (2017). The C# Player's Guide. </a:t>
            </a:r>
            <a:r>
              <a:rPr lang="en-US" sz="2400" dirty="0" err="1" smtClean="0"/>
              <a:t>Starbound</a:t>
            </a:r>
            <a:r>
              <a:rPr lang="en-US" sz="2400" dirty="0" smtClean="0"/>
              <a:t> Software.</a:t>
            </a: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819400"/>
          </a:xfrm>
        </p:spPr>
        <p:txBody>
          <a:bodyPr/>
          <a:lstStyle/>
          <a:p>
            <a:r>
              <a:rPr lang="en-US" sz="2000" dirty="0" smtClean="0"/>
              <a:t>An </a:t>
            </a:r>
            <a:r>
              <a:rPr lang="en-US" sz="2000" i="1" dirty="0" smtClean="0">
                <a:solidFill>
                  <a:srgbClr val="C00000"/>
                </a:solidFill>
              </a:rPr>
              <a:t>internal process</a:t>
            </a:r>
            <a:r>
              <a:rPr lang="en-US" sz="2000" dirty="0" smtClean="0"/>
              <a:t> is the </a:t>
            </a:r>
            <a:r>
              <a:rPr lang="en-US" sz="2000" u="sng" dirty="0" smtClean="0"/>
              <a:t>execution</a:t>
            </a:r>
            <a:r>
              <a:rPr lang="en-US" sz="2000" dirty="0" smtClean="0"/>
              <a:t> of one or more </a:t>
            </a:r>
            <a:r>
              <a:rPr lang="en-US" sz="2000" dirty="0" err="1" smtClean="0"/>
              <a:t>interruptable</a:t>
            </a:r>
            <a:r>
              <a:rPr lang="en-US" sz="2000" dirty="0" smtClean="0"/>
              <a:t> programs in a given storage area.</a:t>
            </a:r>
          </a:p>
          <a:p>
            <a:r>
              <a:rPr lang="en-US" sz="2000" dirty="0" smtClean="0"/>
              <a:t>A </a:t>
            </a:r>
            <a:r>
              <a:rPr lang="en-US" sz="2000" i="1" dirty="0" smtClean="0">
                <a:solidFill>
                  <a:srgbClr val="C00000"/>
                </a:solidFill>
              </a:rPr>
              <a:t>program</a:t>
            </a:r>
            <a:r>
              <a:rPr lang="en-US" sz="2000" dirty="0" smtClean="0"/>
              <a:t> is a collection of instructions </a:t>
            </a:r>
            <a:r>
              <a:rPr lang="en-US" sz="2000" u="sng" dirty="0" smtClean="0"/>
              <a:t>describing</a:t>
            </a:r>
            <a:r>
              <a:rPr lang="en-US" sz="2000" dirty="0" smtClean="0"/>
              <a:t> a computational process, whereas an internal process is the execution of these instructions in a given storage area.</a:t>
            </a:r>
          </a:p>
          <a:p>
            <a:r>
              <a:rPr lang="en-US" sz="2000" dirty="0" smtClean="0"/>
              <a:t>A </a:t>
            </a:r>
            <a:r>
              <a:rPr lang="en-US" sz="2000" i="1" dirty="0" smtClean="0">
                <a:solidFill>
                  <a:srgbClr val="C00000"/>
                </a:solidFill>
              </a:rPr>
              <a:t>peripheral device</a:t>
            </a:r>
            <a:r>
              <a:rPr lang="en-US" sz="2000" dirty="0" smtClean="0"/>
              <a:t> is an item of </a:t>
            </a:r>
            <a:r>
              <a:rPr lang="en-US" sz="2000" u="sng" dirty="0" smtClean="0"/>
              <a:t>hardware</a:t>
            </a:r>
            <a:r>
              <a:rPr lang="en-US" sz="2000" dirty="0" smtClean="0"/>
              <a:t> connected to the data channel.</a:t>
            </a:r>
          </a:p>
          <a:p>
            <a:r>
              <a:rPr lang="en-US" sz="2000" dirty="0" smtClean="0"/>
              <a:t>A </a:t>
            </a:r>
            <a:r>
              <a:rPr lang="en-US" sz="2000" i="1" dirty="0" smtClean="0">
                <a:solidFill>
                  <a:srgbClr val="C00000"/>
                </a:solidFill>
              </a:rPr>
              <a:t>document</a:t>
            </a:r>
            <a:r>
              <a:rPr lang="en-US" sz="2000" dirty="0" smtClean="0"/>
              <a:t> is a collection of </a:t>
            </a:r>
            <a:r>
              <a:rPr lang="en-US" sz="2000" u="sng" dirty="0" smtClean="0"/>
              <a:t>data</a:t>
            </a:r>
            <a:r>
              <a:rPr lang="en-US" sz="2000" dirty="0" smtClean="0"/>
              <a:t> stored on a physical medium.</a:t>
            </a:r>
          </a:p>
          <a:p>
            <a:r>
              <a:rPr lang="en-US" sz="2000" dirty="0" smtClean="0"/>
              <a:t>An </a:t>
            </a:r>
            <a:r>
              <a:rPr lang="en-US" sz="2000" i="1" dirty="0" smtClean="0">
                <a:solidFill>
                  <a:srgbClr val="C00000"/>
                </a:solidFill>
              </a:rPr>
              <a:t>external process</a:t>
            </a:r>
            <a:r>
              <a:rPr lang="en-US" sz="2000" dirty="0" smtClean="0"/>
              <a:t> is the input/output of a given document.</a:t>
            </a:r>
            <a:endParaRPr lang="en-US" sz="2000" dirty="0"/>
          </a:p>
        </p:txBody>
      </p:sp>
      <p:pic>
        <p:nvPicPr>
          <p:cNvPr id="49156" name="Picture 4" descr="http://clic.cimec.unitn.it/brian/compLingITC/computerInternals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000" y="4476750"/>
            <a:ext cx="3514725" cy="21526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Multiprogramming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971800"/>
          </a:xfrm>
        </p:spPr>
        <p:txBody>
          <a:bodyPr/>
          <a:lstStyle/>
          <a:p>
            <a:r>
              <a:rPr lang="en-US" sz="1800" dirty="0" smtClean="0"/>
              <a:t>In </a:t>
            </a:r>
            <a:r>
              <a:rPr lang="en-US" sz="1800" i="1" dirty="0" smtClean="0">
                <a:solidFill>
                  <a:srgbClr val="C00000"/>
                </a:solidFill>
              </a:rPr>
              <a:t>multiprogramming systems</a:t>
            </a:r>
            <a:r>
              <a:rPr lang="en-US" sz="1800" dirty="0" smtClean="0"/>
              <a:t>, the running task keeps running </a:t>
            </a:r>
            <a:r>
              <a:rPr lang="en-US" sz="1800" u="sng" dirty="0" smtClean="0"/>
              <a:t>until</a:t>
            </a:r>
            <a:r>
              <a:rPr lang="en-US" sz="1800" dirty="0" smtClean="0"/>
              <a:t> it performs an operation that requires waiting for an external event or </a:t>
            </a:r>
            <a:r>
              <a:rPr lang="en-US" sz="1800" u="sng" dirty="0" smtClean="0"/>
              <a:t>until</a:t>
            </a:r>
            <a:r>
              <a:rPr lang="en-US" sz="1800" dirty="0" smtClean="0"/>
              <a:t> the computer's scheduler forcibly swaps the running task out of the CPU.</a:t>
            </a:r>
          </a:p>
          <a:p>
            <a:r>
              <a:rPr lang="en-US" sz="1800" dirty="0" smtClean="0"/>
              <a:t>Only one program at a time is able to get the CPU for executing its instructions (i.e., there is </a:t>
            </a:r>
            <a:r>
              <a:rPr lang="en-US" sz="1800" i="1" dirty="0" smtClean="0">
                <a:solidFill>
                  <a:srgbClr val="C00000"/>
                </a:solidFill>
              </a:rPr>
              <a:t>at most</a:t>
            </a:r>
            <a:r>
              <a:rPr lang="en-US" sz="1800" dirty="0" smtClean="0"/>
              <a:t> </a:t>
            </a:r>
            <a:r>
              <a:rPr lang="en-US" sz="1800" u="sng" dirty="0" smtClean="0"/>
              <a:t>one process</a:t>
            </a:r>
            <a:r>
              <a:rPr lang="en-US" sz="1800" dirty="0" smtClean="0"/>
              <a:t> running on the system) while all the others are waiting their turn.</a:t>
            </a:r>
          </a:p>
          <a:p>
            <a:r>
              <a:rPr lang="en-US" sz="1800" dirty="0" smtClean="0"/>
              <a:t>Multiprogramming and communication between internal and external processes are coordinated by the </a:t>
            </a:r>
            <a:r>
              <a:rPr lang="en-US" sz="1800" i="1" dirty="0" smtClean="0">
                <a:solidFill>
                  <a:srgbClr val="C00000"/>
                </a:solidFill>
              </a:rPr>
              <a:t>system nucleus</a:t>
            </a:r>
            <a:r>
              <a:rPr lang="en-US" sz="1800" dirty="0" smtClean="0"/>
              <a:t> – an interrupt response program with </a:t>
            </a:r>
            <a:r>
              <a:rPr lang="en-US" sz="1800" u="sng" dirty="0" smtClean="0"/>
              <a:t>complete control</a:t>
            </a:r>
            <a:r>
              <a:rPr lang="en-US" sz="1800" dirty="0" smtClean="0"/>
              <a:t> of input/output, storage protection, and the interrupt system.</a:t>
            </a:r>
          </a:p>
          <a:p>
            <a:r>
              <a:rPr lang="en-US" sz="1800" dirty="0" smtClean="0"/>
              <a:t>Multiprogramming systems are designed to </a:t>
            </a:r>
            <a:r>
              <a:rPr lang="en-US" sz="1800" i="1" dirty="0" smtClean="0">
                <a:solidFill>
                  <a:srgbClr val="C00000"/>
                </a:solidFill>
              </a:rPr>
              <a:t>maximize</a:t>
            </a:r>
            <a:r>
              <a:rPr lang="en-US" sz="1800" dirty="0" smtClean="0"/>
              <a:t> CPU usage.</a:t>
            </a:r>
          </a:p>
        </p:txBody>
      </p:sp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34868" y="4700016"/>
            <a:ext cx="3113532" cy="19293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 Programs and 1 CPU Example</a:t>
            </a:r>
            <a:endParaRPr lang="en-US" dirty="0"/>
          </a:p>
        </p:txBody>
      </p:sp>
      <p:pic>
        <p:nvPicPr>
          <p:cNvPr id="563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3875" y="1990725"/>
            <a:ext cx="8096250" cy="380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Multiprocessing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514599"/>
          </a:xfrm>
        </p:spPr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Multiprocessing</a:t>
            </a:r>
            <a:r>
              <a:rPr lang="en-US" sz="2400" dirty="0" smtClean="0"/>
              <a:t> refers to executing multiple processes at the </a:t>
            </a:r>
            <a:r>
              <a:rPr lang="en-US" sz="2400" u="sng" dirty="0" smtClean="0"/>
              <a:t>same</a:t>
            </a:r>
            <a:r>
              <a:rPr lang="en-US" sz="2400" dirty="0" smtClean="0"/>
              <a:t> time.</a:t>
            </a:r>
          </a:p>
          <a:p>
            <a:r>
              <a:rPr lang="en-US" sz="2400" dirty="0" smtClean="0"/>
              <a:t>Multiprocessing refers to the </a:t>
            </a:r>
            <a:r>
              <a:rPr lang="en-US" sz="2400" i="1" dirty="0" smtClean="0">
                <a:solidFill>
                  <a:srgbClr val="C00000"/>
                </a:solidFill>
              </a:rPr>
              <a:t>hardware</a:t>
            </a:r>
            <a:r>
              <a:rPr lang="en-US" sz="2400" dirty="0" smtClean="0"/>
              <a:t> (i.e., the CPU units) rather than the software (i.e., running processes).</a:t>
            </a:r>
          </a:p>
          <a:p>
            <a:r>
              <a:rPr lang="en-US" sz="2400" dirty="0" smtClean="0"/>
              <a:t>If the underlying hardware provides </a:t>
            </a:r>
            <a:r>
              <a:rPr lang="en-US" sz="2400" i="1" dirty="0" smtClean="0">
                <a:solidFill>
                  <a:srgbClr val="C00000"/>
                </a:solidFill>
              </a:rPr>
              <a:t>more than one</a:t>
            </a:r>
            <a:r>
              <a:rPr lang="en-US" sz="2400" dirty="0" smtClean="0"/>
              <a:t> processor then that is </a:t>
            </a:r>
            <a:r>
              <a:rPr lang="en-US" sz="2400" u="sng" dirty="0" smtClean="0"/>
              <a:t>multiprocessing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pic>
        <p:nvPicPr>
          <p:cNvPr id="552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90800" y="4503420"/>
            <a:ext cx="4267200" cy="2049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Thread [2]</a:t>
            </a:r>
          </a:p>
        </p:txBody>
      </p:sp>
      <p:sp>
        <p:nvSpPr>
          <p:cNvPr id="10752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2438400"/>
          </a:xfrm>
        </p:spPr>
        <p:txBody>
          <a:bodyPr/>
          <a:lstStyle/>
          <a:p>
            <a:r>
              <a:rPr lang="en-US" sz="2000" dirty="0" smtClean="0"/>
              <a:t>Process has its own </a:t>
            </a:r>
            <a:r>
              <a:rPr lang="en-US" sz="2000" i="1" dirty="0" smtClean="0">
                <a:solidFill>
                  <a:srgbClr val="C00000"/>
                </a:solidFill>
              </a:rPr>
              <a:t>separated</a:t>
            </a:r>
            <a:r>
              <a:rPr lang="en-US" sz="2000" dirty="0" smtClean="0"/>
              <a:t> address space.</a:t>
            </a:r>
          </a:p>
          <a:p>
            <a:r>
              <a:rPr lang="en-US" sz="2000" dirty="0" smtClean="0"/>
              <a:t>A thread is an </a:t>
            </a:r>
            <a:r>
              <a:rPr lang="en-US" sz="2000" i="1" dirty="0" smtClean="0">
                <a:solidFill>
                  <a:srgbClr val="C00000"/>
                </a:solidFill>
              </a:rPr>
              <a:t>execution path</a:t>
            </a:r>
            <a:r>
              <a:rPr lang="en-US" sz="2000" dirty="0" smtClean="0"/>
              <a:t> (code segment) that can proceed independently of others. Thread uses some </a:t>
            </a:r>
            <a:r>
              <a:rPr lang="en-US" sz="2000" i="1" dirty="0" smtClean="0">
                <a:solidFill>
                  <a:srgbClr val="C00000"/>
                </a:solidFill>
              </a:rPr>
              <a:t>shared</a:t>
            </a:r>
            <a:r>
              <a:rPr lang="en-US" sz="2000" dirty="0" smtClean="0"/>
              <a:t> address space.</a:t>
            </a:r>
          </a:p>
          <a:p>
            <a:r>
              <a:rPr lang="en-US" sz="2000" dirty="0" smtClean="0"/>
              <a:t>With a </a:t>
            </a:r>
            <a:r>
              <a:rPr lang="en-US" sz="2000" i="1" dirty="0" smtClean="0">
                <a:solidFill>
                  <a:srgbClr val="C00000"/>
                </a:solidFill>
              </a:rPr>
              <a:t>single-threaded</a:t>
            </a:r>
            <a:r>
              <a:rPr lang="en-US" sz="2000" dirty="0" smtClean="0"/>
              <a:t> program, just one thread runs in the process’s isolated environment and so that thread has exclusive access to it.</a:t>
            </a:r>
          </a:p>
          <a:p>
            <a:r>
              <a:rPr lang="en-US" sz="2000" dirty="0" smtClean="0"/>
              <a:t>With a </a:t>
            </a:r>
            <a:r>
              <a:rPr lang="en-US" sz="2000" i="1" dirty="0" smtClean="0">
                <a:solidFill>
                  <a:srgbClr val="C00000"/>
                </a:solidFill>
              </a:rPr>
              <a:t>multithreaded</a:t>
            </a:r>
            <a:r>
              <a:rPr lang="en-US" sz="2000" dirty="0" smtClean="0"/>
              <a:t> program, multiple threads run in a </a:t>
            </a:r>
            <a:r>
              <a:rPr lang="en-US" sz="2000" u="sng" dirty="0" smtClean="0"/>
              <a:t>single process</a:t>
            </a:r>
            <a:r>
              <a:rPr lang="en-US" sz="2000" dirty="0" smtClean="0"/>
              <a:t>, sharing the same execution environment (memory, in particular).</a:t>
            </a:r>
          </a:p>
          <a:p>
            <a:endParaRPr lang="en-US" sz="2000" dirty="0" smtClean="0"/>
          </a:p>
        </p:txBody>
      </p:sp>
      <p:pic>
        <p:nvPicPr>
          <p:cNvPr id="52226" name="Picture 2" descr="http://www.cs.miami.edu/home/wuchtys/CSC322-16S/Content/UNIXProgramming/Thread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3911600"/>
            <a:ext cx="4413252" cy="2717800"/>
          </a:xfrm>
          <a:prstGeom prst="rect">
            <a:avLst/>
          </a:prstGeom>
          <a:noFill/>
        </p:spPr>
      </p:pic>
      <p:pic>
        <p:nvPicPr>
          <p:cNvPr id="522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29200" y="3886200"/>
            <a:ext cx="3676650" cy="276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Straight Arrow Connector 5"/>
          <p:cNvCxnSpPr/>
          <p:nvPr/>
        </p:nvCxnSpPr>
        <p:spPr>
          <a:xfrm>
            <a:off x="685800" y="4876800"/>
            <a:ext cx="381000" cy="3048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2133600" y="5029200"/>
            <a:ext cx="381000" cy="3048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Multitasking and Multithreading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276600"/>
          </a:xfrm>
        </p:spPr>
        <p:txBody>
          <a:bodyPr/>
          <a:lstStyle/>
          <a:p>
            <a:r>
              <a:rPr lang="en-US" sz="2400" dirty="0" smtClean="0"/>
              <a:t>Multitasking refers to </a:t>
            </a:r>
            <a:r>
              <a:rPr lang="en-US" sz="2400" i="1" dirty="0" smtClean="0">
                <a:solidFill>
                  <a:srgbClr val="C00000"/>
                </a:solidFill>
              </a:rPr>
              <a:t>multiple tasks</a:t>
            </a:r>
            <a:r>
              <a:rPr lang="en-US" sz="2400" dirty="0" smtClean="0"/>
              <a:t> (processes, threads) running (</a:t>
            </a:r>
            <a:r>
              <a:rPr lang="en-US" sz="2400" u="sng" dirty="0" smtClean="0"/>
              <a:t>apparently</a:t>
            </a:r>
            <a:r>
              <a:rPr lang="en-US" sz="2400" dirty="0" smtClean="0"/>
              <a:t>) simultaneously by sharing the </a:t>
            </a:r>
            <a:r>
              <a:rPr lang="en-US" sz="2400" u="sng" dirty="0" smtClean="0"/>
              <a:t>CPU time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Multithreading is an execution model that allows a single process to have </a:t>
            </a:r>
            <a:r>
              <a:rPr lang="en-US" sz="2400" i="1" dirty="0" smtClean="0">
                <a:solidFill>
                  <a:srgbClr val="C00000"/>
                </a:solidFill>
              </a:rPr>
              <a:t>multiple code segments</a:t>
            </a:r>
            <a:r>
              <a:rPr lang="en-US" sz="2400" dirty="0" smtClean="0"/>
              <a:t> (i.e., threads) run </a:t>
            </a:r>
            <a:r>
              <a:rPr lang="en-US" sz="2400" u="sng" dirty="0" smtClean="0"/>
              <a:t>concurrently</a:t>
            </a:r>
            <a:r>
              <a:rPr lang="en-US" sz="2400" dirty="0" smtClean="0"/>
              <a:t> within the “context” of that process.</a:t>
            </a:r>
          </a:p>
        </p:txBody>
      </p:sp>
      <p:graphicFrame>
        <p:nvGraphicFramePr>
          <p:cNvPr id="8" name="Diagram 7"/>
          <p:cNvGraphicFramePr/>
          <p:nvPr/>
        </p:nvGraphicFramePr>
        <p:xfrm>
          <a:off x="914400" y="5257800"/>
          <a:ext cx="4953000" cy="167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16737" name="Picture 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867400" y="3581400"/>
            <a:ext cx="1352550" cy="3171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6738" name="Picture 2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239000" y="3552825"/>
            <a:ext cx="1809750" cy="315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381000" y="3581400"/>
            <a:ext cx="57150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Multitasking and multithreading running on one CPU vs. multiprocessing and</a:t>
            </a: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multiprogramming.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Multitasking and multithreading running on multiple CPUs vs. multiprogramming and multiprocessing.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Context Switching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276600"/>
          </a:xfrm>
        </p:spPr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Process context switching</a:t>
            </a:r>
            <a:r>
              <a:rPr lang="en-US" sz="2400" dirty="0" smtClean="0"/>
              <a:t> involves switching the virtual memory address space: this includes memory addresses, mappings, page tables, and kernel resources.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Thread context switching</a:t>
            </a:r>
            <a:r>
              <a:rPr lang="en-US" sz="2400" dirty="0" smtClean="0"/>
              <a:t> is context switching from one thread to another in the same process (i.e. there is no need of switching the virtual memory address space as the “switcher” and the “</a:t>
            </a:r>
            <a:r>
              <a:rPr lang="en-US" sz="2400" dirty="0" err="1" smtClean="0"/>
              <a:t>switchee</a:t>
            </a:r>
            <a:r>
              <a:rPr lang="en-US" sz="2400" dirty="0" smtClean="0"/>
              <a:t>” threads share the same virtual address space).</a:t>
            </a:r>
            <a:endParaRPr lang="en-US" sz="2400" dirty="0"/>
          </a:p>
        </p:txBody>
      </p:sp>
      <p:pic>
        <p:nvPicPr>
          <p:cNvPr id="614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4968240"/>
            <a:ext cx="5943600" cy="1584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Concurrency vs. Parallelism</a:t>
            </a:r>
          </a:p>
        </p:txBody>
      </p:sp>
      <p:pic>
        <p:nvPicPr>
          <p:cNvPr id="114690" name="Picture 2" descr="http://www.raywenderlich.com/wp-content/uploads/2014/01/Concurrency_vs_Parallelism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2171699"/>
            <a:ext cx="5715000" cy="32385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153" name="Object 2"/>
          <p:cNvGraphicFramePr>
            <a:graphicFrameLocks noChangeAspect="1"/>
          </p:cNvGraphicFramePr>
          <p:nvPr/>
        </p:nvGraphicFramePr>
        <p:xfrm>
          <a:off x="0" y="1325562"/>
          <a:ext cx="8069263" cy="4313238"/>
        </p:xfrm>
        <a:graphic>
          <a:graphicData uri="http://schemas.openxmlformats.org/presentationml/2006/ole">
            <p:oleObj spid="_x0000_s49153" name="Document" r:id="rId3" imgW="6129401" imgH="3271684" progId="Word.Document.12">
              <p:embed/>
            </p:oleObj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Create and Start a Thread</a:t>
            </a:r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42728" y="5334000"/>
            <a:ext cx="2553272" cy="12332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153" name="Object 2"/>
          <p:cNvGraphicFramePr>
            <a:graphicFrameLocks noChangeAspect="1"/>
          </p:cNvGraphicFramePr>
          <p:nvPr/>
        </p:nvGraphicFramePr>
        <p:xfrm>
          <a:off x="0" y="1365250"/>
          <a:ext cx="9021763" cy="5416550"/>
        </p:xfrm>
        <a:graphic>
          <a:graphicData uri="http://schemas.openxmlformats.org/presentationml/2006/ole">
            <p:oleObj spid="_x0000_s61442" name="Document" r:id="rId3" imgW="6939746" imgH="4172974" progId="Word.Document.12">
              <p:embed/>
            </p:oleObj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Wait for Thread</a:t>
            </a:r>
            <a:endParaRPr lang="en-US" dirty="0"/>
          </a:p>
        </p:txBody>
      </p:sp>
      <p:pic>
        <p:nvPicPr>
          <p:cNvPr id="6144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62600" y="6096000"/>
            <a:ext cx="3326130" cy="502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153" name="Object 2"/>
          <p:cNvGraphicFramePr>
            <a:graphicFrameLocks noChangeAspect="1"/>
          </p:cNvGraphicFramePr>
          <p:nvPr/>
        </p:nvGraphicFramePr>
        <p:xfrm>
          <a:off x="-152400" y="1416050"/>
          <a:ext cx="8210550" cy="5365750"/>
        </p:xfrm>
        <a:graphic>
          <a:graphicData uri="http://schemas.openxmlformats.org/presentationml/2006/ole">
            <p:oleObj spid="_x0000_s126978" name="Document" r:id="rId3" imgW="6389560" imgH="4481576" progId="Word.Document.12">
              <p:embed/>
            </p:oleObj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Pass an Argument to a Thread</a:t>
            </a:r>
            <a:endParaRPr lang="en-US" dirty="0"/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57800" y="3638550"/>
            <a:ext cx="3760470" cy="200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153" name="Object 2"/>
          <p:cNvGraphicFramePr>
            <a:graphicFrameLocks noChangeAspect="1"/>
          </p:cNvGraphicFramePr>
          <p:nvPr/>
        </p:nvGraphicFramePr>
        <p:xfrm>
          <a:off x="-152400" y="1295400"/>
          <a:ext cx="8286750" cy="5029200"/>
        </p:xfrm>
        <a:graphic>
          <a:graphicData uri="http://schemas.openxmlformats.org/presentationml/2006/ole">
            <p:oleObj spid="_x0000_s128002" name="Document" r:id="rId3" imgW="6447494" imgH="4177661" progId="Word.Document.12">
              <p:embed/>
            </p:oleObj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Execution Order</a:t>
            </a:r>
            <a:endParaRPr lang="en-US" dirty="0"/>
          </a:p>
        </p:txBody>
      </p:sp>
      <p:pic>
        <p:nvPicPr>
          <p:cNvPr id="128005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57800" y="3817620"/>
            <a:ext cx="3749040" cy="2125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Non-Determinism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A nondeterministic algorithm is an algorithm that, even for </a:t>
            </a:r>
            <a:r>
              <a:rPr lang="en-US" sz="2200" i="1" dirty="0" smtClean="0">
                <a:solidFill>
                  <a:srgbClr val="C00000"/>
                </a:solidFill>
              </a:rPr>
              <a:t>the same input</a:t>
            </a:r>
            <a:r>
              <a:rPr lang="en-US" sz="2200" dirty="0" smtClean="0"/>
              <a:t>, can exhibit </a:t>
            </a:r>
            <a:r>
              <a:rPr lang="en-US" sz="2200" u="sng" dirty="0" smtClean="0"/>
              <a:t>different behaviors</a:t>
            </a:r>
            <a:r>
              <a:rPr lang="en-US" sz="2200" dirty="0" smtClean="0"/>
              <a:t> on </a:t>
            </a:r>
            <a:r>
              <a:rPr lang="en-US" sz="2200" u="sng" dirty="0" smtClean="0"/>
              <a:t>different runs</a:t>
            </a:r>
            <a:r>
              <a:rPr lang="en-US" sz="2200" dirty="0" smtClean="0"/>
              <a:t>.</a:t>
            </a:r>
          </a:p>
        </p:txBody>
      </p:sp>
      <p:pic>
        <p:nvPicPr>
          <p:cNvPr id="132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3192018"/>
            <a:ext cx="4107180" cy="25229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2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24400" y="2971800"/>
            <a:ext cx="4061079" cy="3009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153" name="Object 2"/>
          <p:cNvGraphicFramePr>
            <a:graphicFrameLocks noChangeAspect="1"/>
          </p:cNvGraphicFramePr>
          <p:nvPr/>
        </p:nvGraphicFramePr>
        <p:xfrm>
          <a:off x="44450" y="1524000"/>
          <a:ext cx="9086850" cy="4578350"/>
        </p:xfrm>
        <a:graphic>
          <a:graphicData uri="http://schemas.openxmlformats.org/presentationml/2006/ole">
            <p:oleObj spid="_x0000_s131074" name="Document" r:id="rId3" imgW="7079361" imgH="3574157" progId="Word.Document.12">
              <p:embed/>
            </p:oleObj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Exclusive Locking With </a:t>
            </a:r>
            <a:r>
              <a:rPr lang="en-US" sz="4000" i="1" dirty="0" smtClean="0">
                <a:solidFill>
                  <a:srgbClr val="C00000"/>
                </a:solidFill>
                <a:latin typeface="Consolas" pitchFamily="49" charset="0"/>
              </a:rPr>
              <a:t>lock</a:t>
            </a:r>
            <a:r>
              <a:rPr lang="en-US" sz="4000" dirty="0" smtClean="0"/>
              <a:t> Keyword</a:t>
            </a:r>
            <a:endParaRPr lang="en-US" sz="4000" dirty="0"/>
          </a:p>
        </p:txBody>
      </p:sp>
      <p:sp>
        <p:nvSpPr>
          <p:cNvPr id="6" name="Rectangle 5"/>
          <p:cNvSpPr/>
          <p:nvPr/>
        </p:nvSpPr>
        <p:spPr>
          <a:xfrm>
            <a:off x="1447800" y="6019800"/>
            <a:ext cx="647700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latin typeface="Consolas" pitchFamily="49" charset="0"/>
              </a:rPr>
              <a:t>// Nothing special needed. Any object will do.</a:t>
            </a:r>
          </a:p>
          <a:p>
            <a:r>
              <a:rPr lang="en-US" dirty="0" smtClean="0">
                <a:latin typeface="Consolas" pitchFamily="49" charset="0"/>
              </a:rPr>
              <a:t>// However all threads must be aware about it.</a:t>
            </a:r>
            <a:endParaRPr lang="en-US" dirty="0">
              <a:latin typeface="Consolas" pitchFamily="49" charset="0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1905000" y="3657600"/>
            <a:ext cx="609600" cy="24384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3107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16830" y="1402080"/>
            <a:ext cx="3722370" cy="2179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153" name="Object 2"/>
          <p:cNvGraphicFramePr>
            <a:graphicFrameLocks noChangeAspect="1"/>
          </p:cNvGraphicFramePr>
          <p:nvPr/>
        </p:nvGraphicFramePr>
        <p:xfrm>
          <a:off x="-152400" y="1568450"/>
          <a:ext cx="8432800" cy="5060950"/>
        </p:xfrm>
        <a:graphic>
          <a:graphicData uri="http://schemas.openxmlformats.org/presentationml/2006/ole">
            <p:oleObj spid="_x0000_s136194" name="Document" r:id="rId3" imgW="6836474" imgH="4116013" progId="Word.Document.12">
              <p:embed/>
            </p:oleObj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Exclusive Locking With </a:t>
            </a:r>
            <a:r>
              <a:rPr lang="en-US" i="1" dirty="0" err="1" smtClean="0">
                <a:solidFill>
                  <a:srgbClr val="C00000"/>
                </a:solidFill>
                <a:latin typeface="Consolas" pitchFamily="49" charset="0"/>
              </a:rPr>
              <a:t>Mutex</a:t>
            </a:r>
            <a:r>
              <a:rPr lang="en-US" dirty="0" smtClean="0"/>
              <a:t> Class</a:t>
            </a:r>
            <a:endParaRPr lang="en-US" dirty="0"/>
          </a:p>
        </p:txBody>
      </p:sp>
      <p:pic>
        <p:nvPicPr>
          <p:cNvPr id="13619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91200" y="2101850"/>
            <a:ext cx="3105150" cy="177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153" name="Object 2"/>
          <p:cNvGraphicFramePr>
            <a:graphicFrameLocks noChangeAspect="1"/>
          </p:cNvGraphicFramePr>
          <p:nvPr/>
        </p:nvGraphicFramePr>
        <p:xfrm>
          <a:off x="-228600" y="1219200"/>
          <a:ext cx="8953500" cy="5232400"/>
        </p:xfrm>
        <a:graphic>
          <a:graphicData uri="http://schemas.openxmlformats.org/presentationml/2006/ole">
            <p:oleObj spid="_x0000_s137218" name="Document" r:id="rId3" imgW="7260357" imgH="4253369" progId="Word.Document.12">
              <p:embed/>
            </p:oleObj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Non-exclusive Locking With </a:t>
            </a:r>
            <a:r>
              <a:rPr lang="en-US" sz="3200" i="1" dirty="0" smtClean="0">
                <a:solidFill>
                  <a:srgbClr val="C00000"/>
                </a:solidFill>
                <a:latin typeface="Consolas" pitchFamily="49" charset="0"/>
              </a:rPr>
              <a:t>Semaphore </a:t>
            </a:r>
            <a:r>
              <a:rPr lang="en-US" sz="3200" dirty="0" smtClean="0"/>
              <a:t>Class</a:t>
            </a:r>
            <a:endParaRPr lang="en-US" sz="3200" dirty="0"/>
          </a:p>
        </p:txBody>
      </p:sp>
      <p:pic>
        <p:nvPicPr>
          <p:cNvPr id="13721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75910" y="4419600"/>
            <a:ext cx="3615690" cy="2312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914400" y="5867400"/>
            <a:ext cx="4267200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600" dirty="0" smtClean="0"/>
              <a:t>Semaphores can be useful in limiting concurrency—preventing </a:t>
            </a:r>
            <a:r>
              <a:rPr lang="en-US" sz="1600" i="1" dirty="0" smtClean="0">
                <a:solidFill>
                  <a:srgbClr val="C00000"/>
                </a:solidFill>
              </a:rPr>
              <a:t>too many threads</a:t>
            </a:r>
            <a:r>
              <a:rPr lang="en-US" sz="1600" dirty="0" smtClean="0"/>
              <a:t> from executing a particular piece of code at once.</a:t>
            </a:r>
            <a:endParaRPr lang="en-US" sz="1600" dirty="0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467600" y="1692275"/>
            <a:ext cx="1463675" cy="1279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Synchronous Programming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In this programming model, a thread is assigned to one task and starts working on it.</a:t>
            </a:r>
          </a:p>
          <a:p>
            <a:r>
              <a:rPr lang="en-US" sz="2200" dirty="0" smtClean="0"/>
              <a:t>Once the task completes then it is available for the next task.</a:t>
            </a:r>
            <a:endParaRPr lang="en-US" sz="2200" dirty="0"/>
          </a:p>
        </p:txBody>
      </p:sp>
      <p:pic>
        <p:nvPicPr>
          <p:cNvPr id="142338" name="Picture 2" descr="https://brijbhushan.files.wordpress.com/2015/07/singlethread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3352800"/>
            <a:ext cx="7277100" cy="476250"/>
          </a:xfrm>
          <a:prstGeom prst="rect">
            <a:avLst/>
          </a:prstGeom>
          <a:noFill/>
        </p:spPr>
      </p:pic>
      <p:pic>
        <p:nvPicPr>
          <p:cNvPr id="142340" name="Picture 4" descr="https://brijbhushan.files.wordpress.com/2015/07/multithreaded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00200" y="4495800"/>
            <a:ext cx="5498598" cy="149753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Asynchronous Programming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In contrary to synchronous programming model, here a thread once start executing a task it can hold it in mid, save the current state and start executing another task.</a:t>
            </a:r>
            <a:endParaRPr lang="en-US" sz="2200" dirty="0"/>
          </a:p>
        </p:txBody>
      </p:sp>
      <p:pic>
        <p:nvPicPr>
          <p:cNvPr id="141314" name="Picture 2" descr="https://brijbhushan.files.wordpress.com/2015/07/async-single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3200400"/>
            <a:ext cx="6981825" cy="466726"/>
          </a:xfrm>
          <a:prstGeom prst="rect">
            <a:avLst/>
          </a:prstGeom>
          <a:noFill/>
        </p:spPr>
      </p:pic>
      <p:pic>
        <p:nvPicPr>
          <p:cNvPr id="141316" name="Picture 4" descr="https://brijbhushan.files.wordpress.com/2015/07/async-mutlithreaded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0" y="4114800"/>
            <a:ext cx="6991350" cy="19716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Asynchronous Programming [3]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057400"/>
          </a:xfrm>
        </p:spPr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Asynchronous programming</a:t>
            </a:r>
            <a:r>
              <a:rPr lang="en-US" sz="2400" dirty="0" smtClean="0"/>
              <a:t> means taking a piece of code and running it on a separate thread, </a:t>
            </a:r>
            <a:r>
              <a:rPr lang="en-US" sz="2400" u="sng" dirty="0" smtClean="0"/>
              <a:t>freeing up</a:t>
            </a:r>
            <a:r>
              <a:rPr lang="en-US" sz="2400" dirty="0" smtClean="0"/>
              <a:t> the original thread to continue on and do other things while the task completes.</a:t>
            </a:r>
          </a:p>
          <a:p>
            <a:r>
              <a:rPr lang="en-US" sz="2400" dirty="0" smtClean="0"/>
              <a:t>The </a:t>
            </a:r>
            <a:r>
              <a:rPr lang="en-US" sz="2400" u="sng" dirty="0" smtClean="0"/>
              <a:t>opposite</a:t>
            </a:r>
            <a:r>
              <a:rPr lang="en-US" sz="2400" dirty="0" smtClean="0"/>
              <a:t> of asynchronous programming (sometimes called “asynchrony”) is </a:t>
            </a:r>
            <a:r>
              <a:rPr lang="en-US" sz="2400" i="1" dirty="0" smtClean="0">
                <a:solidFill>
                  <a:srgbClr val="C00000"/>
                </a:solidFill>
              </a:rPr>
              <a:t>synchronous programming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20115" y="3733800"/>
            <a:ext cx="2280285" cy="1920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5" descr="http://www.hrmorning.com/wp-content/uploads/angry-manager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96640" y="5322570"/>
            <a:ext cx="2057400" cy="1383030"/>
          </a:xfrm>
          <a:prstGeom prst="rect">
            <a:avLst/>
          </a:prstGeom>
          <a:noFill/>
        </p:spPr>
      </p:pic>
      <p:pic>
        <p:nvPicPr>
          <p:cNvPr id="6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882640" y="3798570"/>
            <a:ext cx="2194560" cy="1234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Straight Arrow Connector 6"/>
          <p:cNvCxnSpPr/>
          <p:nvPr/>
        </p:nvCxnSpPr>
        <p:spPr>
          <a:xfrm flipH="1" flipV="1">
            <a:off x="2438400" y="5638800"/>
            <a:ext cx="1143000" cy="5334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5943600" y="5334000"/>
            <a:ext cx="762000" cy="9906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2667000" y="5334000"/>
            <a:ext cx="1143000" cy="6096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5791200" y="5181600"/>
            <a:ext cx="685800" cy="9144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2362200" y="3780472"/>
            <a:ext cx="35052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 smtClean="0">
                <a:solidFill>
                  <a:srgbClr val="C00000"/>
                </a:solidFill>
                <a:latin typeface="+mj-lt"/>
              </a:rPr>
              <a:t>Why</a:t>
            </a:r>
            <a:r>
              <a:rPr lang="en-US" dirty="0" smtClean="0">
                <a:latin typeface="+mj-lt"/>
              </a:rPr>
              <a:t> asynchronous programming? – Modern computers have a lot of </a:t>
            </a:r>
            <a:r>
              <a:rPr lang="en-US" i="1" dirty="0" smtClean="0">
                <a:solidFill>
                  <a:srgbClr val="C00000"/>
                </a:solidFill>
                <a:latin typeface="+mj-lt"/>
              </a:rPr>
              <a:t>computational power</a:t>
            </a:r>
            <a:r>
              <a:rPr lang="en-US" dirty="0" smtClean="0">
                <a:latin typeface="+mj-lt"/>
              </a:rPr>
              <a:t>, and users are expecting </a:t>
            </a:r>
            <a:r>
              <a:rPr lang="en-US" i="1" dirty="0" smtClean="0">
                <a:solidFill>
                  <a:srgbClr val="C00000"/>
                </a:solidFill>
                <a:latin typeface="+mj-lt"/>
              </a:rPr>
              <a:t>responsive</a:t>
            </a:r>
            <a:r>
              <a:rPr lang="en-US" dirty="0" smtClean="0">
                <a:latin typeface="+mj-lt"/>
              </a:rPr>
              <a:t> user</a:t>
            </a:r>
          </a:p>
          <a:p>
            <a:r>
              <a:rPr lang="en-US" dirty="0" smtClean="0">
                <a:latin typeface="+mj-lt"/>
              </a:rPr>
              <a:t>interfaces.</a:t>
            </a:r>
            <a:endParaRPr lang="en-US" dirty="0">
              <a:latin typeface="+mj-l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153" name="Object 2"/>
          <p:cNvGraphicFramePr>
            <a:graphicFrameLocks noChangeAspect="1"/>
          </p:cNvGraphicFramePr>
          <p:nvPr/>
        </p:nvGraphicFramePr>
        <p:xfrm>
          <a:off x="44450" y="1143000"/>
          <a:ext cx="8775700" cy="5588000"/>
        </p:xfrm>
        <a:graphic>
          <a:graphicData uri="http://schemas.openxmlformats.org/presentationml/2006/ole">
            <p:oleObj spid="_x0000_s135170" name="Document" r:id="rId3" imgW="6837553" imgH="4360082" progId="Word.Document.12">
              <p:embed/>
            </p:oleObj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Event-Based Asynchrony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324600" y="2057400"/>
            <a:ext cx="266700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 smtClean="0">
                <a:latin typeface="Consolas" pitchFamily="49" charset="0"/>
              </a:rPr>
              <a:t>When will a thread finish its job?</a:t>
            </a:r>
            <a:endParaRPr lang="en-US" dirty="0">
              <a:latin typeface="Consolas" pitchFamily="49" charset="0"/>
            </a:endParaRPr>
          </a:p>
        </p:txBody>
      </p:sp>
      <p:cxnSp>
        <p:nvCxnSpPr>
          <p:cNvPr id="7" name="Straight Arrow Connector 6"/>
          <p:cNvCxnSpPr>
            <a:stCxn id="6" idx="1"/>
          </p:cNvCxnSpPr>
          <p:nvPr/>
        </p:nvCxnSpPr>
        <p:spPr>
          <a:xfrm flipH="1">
            <a:off x="5410200" y="2380566"/>
            <a:ext cx="914400" cy="97223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3312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410200" y="3657600"/>
            <a:ext cx="3600450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153" name="Object 2"/>
          <p:cNvGraphicFramePr>
            <a:graphicFrameLocks noChangeAspect="1"/>
          </p:cNvGraphicFramePr>
          <p:nvPr/>
        </p:nvGraphicFramePr>
        <p:xfrm>
          <a:off x="44450" y="1139825"/>
          <a:ext cx="8775700" cy="5602288"/>
        </p:xfrm>
        <a:graphic>
          <a:graphicData uri="http://schemas.openxmlformats.org/presentationml/2006/ole">
            <p:oleObj spid="_x0000_s134146" name="Document" r:id="rId3" imgW="6837553" imgH="4367292" progId="Word.Document.12">
              <p:embed/>
            </p:oleObj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ThreadPool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705600" y="4953000"/>
            <a:ext cx="22860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dirty="0" smtClean="0">
                <a:latin typeface="Consolas" pitchFamily="49" charset="0"/>
              </a:rPr>
              <a:t>When will this thread start?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>
                <a:latin typeface="Consolas" pitchFamily="49" charset="0"/>
              </a:rPr>
              <a:t>Is it a new thread?</a:t>
            </a:r>
            <a:endParaRPr lang="en-US" dirty="0">
              <a:latin typeface="Consolas" pitchFamily="49" charset="0"/>
            </a:endParaRPr>
          </a:p>
        </p:txBody>
      </p:sp>
      <p:cxnSp>
        <p:nvCxnSpPr>
          <p:cNvPr id="7" name="Straight Arrow Connector 6"/>
          <p:cNvCxnSpPr>
            <a:stCxn id="6" idx="1"/>
          </p:cNvCxnSpPr>
          <p:nvPr/>
        </p:nvCxnSpPr>
        <p:spPr>
          <a:xfrm flipH="1">
            <a:off x="6477000" y="5553165"/>
            <a:ext cx="228600" cy="85635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3312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410200" y="3657600"/>
            <a:ext cx="3600450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Thread Limitations [2]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A thread is a low-level tool for creating concurrency, and as such, it has limitations, particularly the following:</a:t>
            </a:r>
          </a:p>
          <a:p>
            <a:pPr lvl="1"/>
            <a:r>
              <a:rPr lang="en-US" sz="2000" dirty="0" smtClean="0"/>
              <a:t>Although it’s easy to pass data into a thread that you start, there’s no easy way to get a “return value” back from a thread that you </a:t>
            </a:r>
            <a:r>
              <a:rPr lang="en-US" sz="2000" b="1" dirty="0" smtClean="0">
                <a:latin typeface="Consolas" pitchFamily="49" charset="0"/>
              </a:rPr>
              <a:t>Join</a:t>
            </a:r>
            <a:r>
              <a:rPr lang="en-US" sz="2000" dirty="0" smtClean="0"/>
              <a:t>. You need to set up some kind of shared field. And if the operation throws an exception, catching and propagating that exception is equally painful.</a:t>
            </a:r>
          </a:p>
          <a:p>
            <a:pPr lvl="1"/>
            <a:r>
              <a:rPr lang="en-US" sz="2000" dirty="0" smtClean="0"/>
              <a:t>You can’t tell a thread to start something else when it’s finished; instead you must </a:t>
            </a:r>
            <a:r>
              <a:rPr lang="en-US" sz="2000" b="1" dirty="0" smtClean="0">
                <a:latin typeface="Consolas" pitchFamily="49" charset="0"/>
              </a:rPr>
              <a:t>Join</a:t>
            </a:r>
            <a:r>
              <a:rPr lang="en-US" sz="2000" dirty="0" smtClean="0"/>
              <a:t> it (blocking your own thread in the process).</a:t>
            </a:r>
          </a:p>
          <a:p>
            <a:r>
              <a:rPr lang="en-US" sz="2000" dirty="0" smtClean="0"/>
              <a:t>These limitations discourage fine-grained concurrency; in other words, they make it difficult to compose larger concurrent operations by combining smaller ones.</a:t>
            </a:r>
          </a:p>
          <a:p>
            <a:r>
              <a:rPr lang="en-US" sz="2000" dirty="0" smtClean="0"/>
              <a:t>This in turn leads to greater reliance on manual synchronization (locking, signaling, and so on) and the problems that go with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Compared to a thread, a </a:t>
            </a:r>
            <a:r>
              <a:rPr lang="en-US" sz="2400" b="1" dirty="0" smtClean="0">
                <a:latin typeface="Consolas" pitchFamily="49" charset="0"/>
              </a:rPr>
              <a:t>Task</a:t>
            </a:r>
            <a:r>
              <a:rPr lang="en-US" sz="2400" dirty="0" smtClean="0"/>
              <a:t> is higher-level abstraction—it represents a concurrent operation that might or might not be backed by a thread.</a:t>
            </a:r>
          </a:p>
          <a:p>
            <a:r>
              <a:rPr lang="en-US" sz="2400" dirty="0" smtClean="0"/>
              <a:t>The </a:t>
            </a:r>
            <a:r>
              <a:rPr lang="en-US" sz="2400" b="1" dirty="0" smtClean="0">
                <a:latin typeface="Consolas" pitchFamily="49" charset="0"/>
              </a:rPr>
              <a:t>Task </a:t>
            </a:r>
            <a:r>
              <a:rPr lang="en-US" sz="2400" dirty="0" smtClean="0"/>
              <a:t>types were introduced in Framework 4.0 as part of the parallel programming library.</a:t>
            </a:r>
          </a:p>
          <a:p>
            <a:r>
              <a:rPr lang="en-US" sz="2400" dirty="0" smtClean="0"/>
              <a:t>The easiest way to start a </a:t>
            </a:r>
            <a:r>
              <a:rPr lang="en-US" sz="2400" b="1" dirty="0" smtClean="0">
                <a:latin typeface="Consolas" pitchFamily="49" charset="0"/>
              </a:rPr>
              <a:t>Task </a:t>
            </a:r>
            <a:r>
              <a:rPr lang="en-US" sz="2400" dirty="0" smtClean="0"/>
              <a:t>backed by a thread is with the static method </a:t>
            </a:r>
            <a:r>
              <a:rPr lang="en-US" sz="2400" b="1" dirty="0" err="1" smtClean="0">
                <a:latin typeface="Consolas" pitchFamily="49" charset="0"/>
              </a:rPr>
              <a:t>Task.Run</a:t>
            </a:r>
            <a:r>
              <a:rPr lang="en-US" sz="2400" dirty="0" smtClean="0"/>
              <a:t>.</a:t>
            </a:r>
          </a:p>
          <a:p>
            <a:r>
              <a:rPr lang="en-US" sz="2400" b="1" dirty="0" err="1" smtClean="0">
                <a:latin typeface="Consolas" pitchFamily="49" charset="0"/>
              </a:rPr>
              <a:t>Task.Run</a:t>
            </a:r>
            <a:r>
              <a:rPr lang="en-US" sz="2400" dirty="0" smtClean="0"/>
              <a:t> returns a </a:t>
            </a:r>
            <a:r>
              <a:rPr lang="en-US" sz="2400" b="1" dirty="0" smtClean="0">
                <a:latin typeface="Consolas" pitchFamily="49" charset="0"/>
              </a:rPr>
              <a:t>Task </a:t>
            </a:r>
            <a:r>
              <a:rPr lang="en-US" sz="2400" dirty="0" smtClean="0"/>
              <a:t>object that we can use to monitor its progress, rather like a Thread object.</a:t>
            </a:r>
          </a:p>
          <a:p>
            <a:r>
              <a:rPr lang="en-US" sz="2400" i="1" dirty="0" err="1" smtClean="0">
                <a:latin typeface="Consolas" pitchFamily="49" charset="0"/>
              </a:rPr>
              <a:t>Task.Run</a:t>
            </a:r>
            <a:r>
              <a:rPr lang="en-US" sz="2400" i="1" dirty="0" smtClean="0">
                <a:latin typeface="Consolas" pitchFamily="49" charset="0"/>
              </a:rPr>
              <a:t> (() =&gt; </a:t>
            </a:r>
            <a:r>
              <a:rPr lang="en-US" sz="2400" i="1" dirty="0" err="1" smtClean="0">
                <a:latin typeface="Consolas" pitchFamily="49" charset="0"/>
              </a:rPr>
              <a:t>Console.WriteLine</a:t>
            </a:r>
            <a:r>
              <a:rPr lang="en-US" sz="2400" i="1" dirty="0" smtClean="0">
                <a:latin typeface="Consolas" pitchFamily="49" charset="0"/>
              </a:rPr>
              <a:t> ("</a:t>
            </a:r>
            <a:r>
              <a:rPr lang="en-US" sz="2400" i="1" dirty="0" err="1" smtClean="0">
                <a:latin typeface="Consolas" pitchFamily="49" charset="0"/>
              </a:rPr>
              <a:t>Foo</a:t>
            </a:r>
            <a:r>
              <a:rPr lang="en-US" sz="2400" i="1" dirty="0" smtClean="0">
                <a:latin typeface="Consolas" pitchFamily="49" charset="0"/>
              </a:rPr>
              <a:t>"));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Returning Values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 smtClean="0">
                <a:latin typeface="Consolas" pitchFamily="49" charset="0"/>
              </a:rPr>
              <a:t>Task</a:t>
            </a:r>
            <a:r>
              <a:rPr lang="en-US" sz="2000" dirty="0" smtClean="0"/>
              <a:t> has a generic subclass called </a:t>
            </a:r>
            <a:r>
              <a:rPr lang="en-US" sz="2000" b="1" dirty="0" smtClean="0">
                <a:latin typeface="Consolas" pitchFamily="49" charset="0"/>
              </a:rPr>
              <a:t>Task&lt;</a:t>
            </a:r>
            <a:r>
              <a:rPr lang="en-US" sz="2000" b="1" dirty="0" err="1" smtClean="0">
                <a:latin typeface="Consolas" pitchFamily="49" charset="0"/>
              </a:rPr>
              <a:t>TResult</a:t>
            </a:r>
            <a:r>
              <a:rPr lang="en-US" sz="2000" b="1" dirty="0" smtClean="0">
                <a:latin typeface="Consolas" pitchFamily="49" charset="0"/>
              </a:rPr>
              <a:t>&gt;</a:t>
            </a:r>
            <a:r>
              <a:rPr lang="en-US" sz="2000" dirty="0" smtClean="0"/>
              <a:t>, which allows a task to emit a return value.</a:t>
            </a:r>
          </a:p>
          <a:p>
            <a:r>
              <a:rPr lang="en-US" sz="2000" dirty="0" smtClean="0"/>
              <a:t>You can obtain a </a:t>
            </a:r>
            <a:r>
              <a:rPr lang="en-US" sz="2000" b="1" dirty="0" smtClean="0">
                <a:latin typeface="Consolas" pitchFamily="49" charset="0"/>
              </a:rPr>
              <a:t>Task&lt;</a:t>
            </a:r>
            <a:r>
              <a:rPr lang="en-US" sz="2000" b="1" dirty="0" err="1" smtClean="0">
                <a:latin typeface="Consolas" pitchFamily="49" charset="0"/>
              </a:rPr>
              <a:t>TResult</a:t>
            </a:r>
            <a:r>
              <a:rPr lang="en-US" sz="2000" b="1" dirty="0" smtClean="0">
                <a:latin typeface="Consolas" pitchFamily="49" charset="0"/>
              </a:rPr>
              <a:t>&gt;</a:t>
            </a:r>
            <a:r>
              <a:rPr lang="en-US" sz="2000" dirty="0" smtClean="0"/>
              <a:t> by calling </a:t>
            </a:r>
            <a:r>
              <a:rPr lang="en-US" sz="2000" b="1" dirty="0" err="1" smtClean="0">
                <a:latin typeface="Consolas" pitchFamily="49" charset="0"/>
              </a:rPr>
              <a:t>Task.Run</a:t>
            </a:r>
            <a:r>
              <a:rPr lang="en-US" sz="2000" dirty="0" smtClean="0"/>
              <a:t> with a </a:t>
            </a:r>
            <a:r>
              <a:rPr lang="en-US" sz="2000" b="1" dirty="0" err="1" smtClean="0">
                <a:latin typeface="Consolas" pitchFamily="49" charset="0"/>
              </a:rPr>
              <a:t>Func</a:t>
            </a:r>
            <a:r>
              <a:rPr lang="en-US" sz="2000" b="1" dirty="0" smtClean="0">
                <a:latin typeface="Consolas" pitchFamily="49" charset="0"/>
              </a:rPr>
              <a:t>&lt;</a:t>
            </a:r>
            <a:r>
              <a:rPr lang="en-US" sz="2000" b="1" dirty="0" err="1" smtClean="0">
                <a:latin typeface="Consolas" pitchFamily="49" charset="0"/>
              </a:rPr>
              <a:t>TRe⁠sult</a:t>
            </a:r>
            <a:r>
              <a:rPr lang="en-US" sz="2000" b="1" dirty="0" smtClean="0">
                <a:latin typeface="Consolas" pitchFamily="49" charset="0"/>
              </a:rPr>
              <a:t>&gt;</a:t>
            </a:r>
            <a:r>
              <a:rPr lang="en-US" sz="2000" dirty="0" smtClean="0"/>
              <a:t> delegate (or a compatible lambda expression) instead of an </a:t>
            </a:r>
            <a:r>
              <a:rPr lang="en-US" sz="2000" b="1" dirty="0" smtClean="0">
                <a:latin typeface="Consolas" pitchFamily="49" charset="0"/>
              </a:rPr>
              <a:t>Action</a:t>
            </a:r>
            <a:r>
              <a:rPr lang="en-US" sz="2000" dirty="0" smtClean="0"/>
              <a:t>:</a:t>
            </a:r>
          </a:p>
          <a:p>
            <a:r>
              <a:rPr lang="en-US" sz="2000" i="1" dirty="0" smtClean="0">
                <a:latin typeface="Consolas" pitchFamily="49" charset="0"/>
              </a:rPr>
              <a:t>Task&lt;</a:t>
            </a:r>
            <a:r>
              <a:rPr lang="en-US" sz="2000" i="1" dirty="0" err="1" smtClean="0">
                <a:latin typeface="Consolas" pitchFamily="49" charset="0"/>
              </a:rPr>
              <a:t>int</a:t>
            </a:r>
            <a:r>
              <a:rPr lang="en-US" sz="2000" i="1" dirty="0" smtClean="0">
                <a:latin typeface="Consolas" pitchFamily="49" charset="0"/>
              </a:rPr>
              <a:t>&gt; task = </a:t>
            </a:r>
            <a:r>
              <a:rPr lang="en-US" sz="2000" i="1" dirty="0" err="1" smtClean="0">
                <a:latin typeface="Consolas" pitchFamily="49" charset="0"/>
              </a:rPr>
              <a:t>Task.Run</a:t>
            </a:r>
            <a:r>
              <a:rPr lang="en-US" sz="2000" i="1" dirty="0" smtClean="0">
                <a:latin typeface="Consolas" pitchFamily="49" charset="0"/>
              </a:rPr>
              <a:t> (() =&gt; { </a:t>
            </a:r>
            <a:r>
              <a:rPr lang="en-US" sz="2000" i="1" dirty="0" err="1" smtClean="0">
                <a:latin typeface="Consolas" pitchFamily="49" charset="0"/>
              </a:rPr>
              <a:t>Console.WriteLine</a:t>
            </a:r>
            <a:r>
              <a:rPr lang="en-US" sz="2000" i="1" dirty="0" smtClean="0">
                <a:latin typeface="Consolas" pitchFamily="49" charset="0"/>
              </a:rPr>
              <a:t> ("</a:t>
            </a:r>
            <a:r>
              <a:rPr lang="en-US" sz="2000" i="1" dirty="0" err="1" smtClean="0">
                <a:latin typeface="Consolas" pitchFamily="49" charset="0"/>
              </a:rPr>
              <a:t>Foo</a:t>
            </a:r>
            <a:r>
              <a:rPr lang="en-US" sz="2000" i="1" dirty="0" smtClean="0">
                <a:latin typeface="Consolas" pitchFamily="49" charset="0"/>
              </a:rPr>
              <a:t>"); return 3; });</a:t>
            </a:r>
          </a:p>
          <a:p>
            <a:r>
              <a:rPr lang="en-US" sz="2000" dirty="0" smtClean="0"/>
              <a:t>You can obtain the result later by querying the Result property. If the task hasn’t yet finished, accessing this property will block the current thread until the task finishes:</a:t>
            </a:r>
          </a:p>
          <a:p>
            <a:r>
              <a:rPr lang="en-US" sz="2000" dirty="0" err="1" smtClean="0">
                <a:latin typeface="Consolas" pitchFamily="49" charset="0"/>
              </a:rPr>
              <a:t>int</a:t>
            </a:r>
            <a:r>
              <a:rPr lang="en-US" sz="2000" dirty="0" smtClean="0">
                <a:latin typeface="Consolas" pitchFamily="49" charset="0"/>
              </a:rPr>
              <a:t> result = </a:t>
            </a:r>
            <a:r>
              <a:rPr lang="en-US" sz="2000" dirty="0" err="1" smtClean="0">
                <a:latin typeface="Consolas" pitchFamily="49" charset="0"/>
              </a:rPr>
              <a:t>task.Result</a:t>
            </a:r>
            <a:r>
              <a:rPr lang="en-US" sz="2000" dirty="0" smtClean="0">
                <a:latin typeface="Consolas" pitchFamily="49" charset="0"/>
              </a:rPr>
              <a:t>; // Blocks if not already finished</a:t>
            </a:r>
          </a:p>
          <a:p>
            <a:r>
              <a:rPr lang="en-US" sz="2000" dirty="0" err="1" smtClean="0">
                <a:latin typeface="Consolas" pitchFamily="49" charset="0"/>
              </a:rPr>
              <a:t>Console.WriteLine</a:t>
            </a:r>
            <a:r>
              <a:rPr lang="en-US" sz="2000" dirty="0" smtClean="0">
                <a:latin typeface="Consolas" pitchFamily="49" charset="0"/>
              </a:rPr>
              <a:t> (result); // 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153" name="Object 2"/>
          <p:cNvGraphicFramePr>
            <a:graphicFrameLocks noChangeAspect="1"/>
          </p:cNvGraphicFramePr>
          <p:nvPr/>
        </p:nvGraphicFramePr>
        <p:xfrm>
          <a:off x="76200" y="1066800"/>
          <a:ext cx="8661400" cy="5746750"/>
        </p:xfrm>
        <a:graphic>
          <a:graphicData uri="http://schemas.openxmlformats.org/presentationml/2006/ole">
            <p:oleObj spid="_x0000_s138242" name="Document" r:id="rId3" imgW="6741837" imgH="4483739" progId="Word.Document.12">
              <p:embed/>
            </p:oleObj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 Example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096000" y="4114800"/>
            <a:ext cx="281940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dirty="0" smtClean="0">
                <a:latin typeface="Consolas" pitchFamily="49" charset="0"/>
              </a:rPr>
              <a:t>Returned values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>
                <a:latin typeface="Consolas" pitchFamily="49" charset="0"/>
              </a:rPr>
              <a:t>Exception handling</a:t>
            </a:r>
            <a:endParaRPr lang="en-US" dirty="0">
              <a:latin typeface="Consolas" pitchFamily="49" charset="0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3048000" y="4419600"/>
            <a:ext cx="3048000" cy="12954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3824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81600" y="3181350"/>
            <a:ext cx="3741420" cy="78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Continuations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continuation says to a task, “When you’ve finished, continue by doing something else.”</a:t>
            </a:r>
          </a:p>
          <a:p>
            <a:r>
              <a:rPr lang="en-US" dirty="0" smtClean="0"/>
              <a:t>A continuation is usually implemented by a callback that executes once upon completion of an operation.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Continuation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400" dirty="0" smtClean="0">
                <a:latin typeface="Consolas" pitchFamily="49" charset="0"/>
              </a:rPr>
              <a:t>Task&lt;</a:t>
            </a:r>
            <a:r>
              <a:rPr lang="en-US" sz="2400" dirty="0" err="1" smtClean="0">
                <a:latin typeface="Consolas" pitchFamily="49" charset="0"/>
              </a:rPr>
              <a:t>int</a:t>
            </a:r>
            <a:r>
              <a:rPr lang="en-US" sz="2400" dirty="0" smtClean="0">
                <a:latin typeface="Consolas" pitchFamily="49" charset="0"/>
              </a:rPr>
              <a:t>&gt; </a:t>
            </a:r>
            <a:r>
              <a:rPr lang="en-US" sz="2400" dirty="0" err="1" smtClean="0">
                <a:latin typeface="Consolas" pitchFamily="49" charset="0"/>
              </a:rPr>
              <a:t>primeNumberTask</a:t>
            </a:r>
            <a:r>
              <a:rPr lang="en-US" sz="2400" dirty="0" smtClean="0">
                <a:latin typeface="Consolas" pitchFamily="49" charset="0"/>
              </a:rPr>
              <a:t> = </a:t>
            </a:r>
            <a:r>
              <a:rPr lang="en-US" sz="2400" dirty="0" err="1" smtClean="0">
                <a:latin typeface="Consolas" pitchFamily="49" charset="0"/>
              </a:rPr>
              <a:t>Task.Run</a:t>
            </a:r>
            <a:r>
              <a:rPr lang="en-US" sz="2400" dirty="0" smtClean="0">
                <a:latin typeface="Consolas" pitchFamily="49" charset="0"/>
              </a:rPr>
              <a:t> (() =&gt;</a:t>
            </a:r>
          </a:p>
          <a:p>
            <a:pPr>
              <a:buNone/>
            </a:pPr>
            <a:r>
              <a:rPr lang="en-US" sz="2400" dirty="0" smtClean="0">
                <a:latin typeface="Consolas" pitchFamily="49" charset="0"/>
              </a:rPr>
              <a:t>  </a:t>
            </a:r>
            <a:r>
              <a:rPr lang="en-US" sz="2400" dirty="0" err="1" smtClean="0">
                <a:latin typeface="Consolas" pitchFamily="49" charset="0"/>
              </a:rPr>
              <a:t>Enumerable.Range</a:t>
            </a:r>
            <a:r>
              <a:rPr lang="en-US" sz="2400" dirty="0" smtClean="0">
                <a:latin typeface="Consolas" pitchFamily="49" charset="0"/>
              </a:rPr>
              <a:t> (2, 3000000).Count (n =&gt;</a:t>
            </a:r>
          </a:p>
          <a:p>
            <a:pPr>
              <a:buNone/>
            </a:pPr>
            <a:r>
              <a:rPr lang="en-US" sz="2400" dirty="0" smtClean="0">
                <a:latin typeface="Consolas" pitchFamily="49" charset="0"/>
              </a:rPr>
              <a:t>  </a:t>
            </a:r>
            <a:r>
              <a:rPr lang="en-US" sz="2400" dirty="0" err="1" smtClean="0">
                <a:latin typeface="Consolas" pitchFamily="49" charset="0"/>
              </a:rPr>
              <a:t>Enumerable.Range</a:t>
            </a:r>
            <a:r>
              <a:rPr lang="en-US" sz="2400" dirty="0" smtClean="0">
                <a:latin typeface="Consolas" pitchFamily="49" charset="0"/>
              </a:rPr>
              <a:t> (2, (</a:t>
            </a:r>
            <a:r>
              <a:rPr lang="en-US" sz="2400" dirty="0" err="1" smtClean="0">
                <a:latin typeface="Consolas" pitchFamily="49" charset="0"/>
              </a:rPr>
              <a:t>int</a:t>
            </a:r>
            <a:r>
              <a:rPr lang="en-US" sz="2400" dirty="0" smtClean="0">
                <a:latin typeface="Consolas" pitchFamily="49" charset="0"/>
              </a:rPr>
              <a:t>)</a:t>
            </a:r>
            <a:r>
              <a:rPr lang="en-US" sz="2400" dirty="0" err="1" smtClean="0">
                <a:latin typeface="Consolas" pitchFamily="49" charset="0"/>
              </a:rPr>
              <a:t>Math.Sqrt</a:t>
            </a:r>
            <a:r>
              <a:rPr lang="en-US" sz="2400" dirty="0" smtClean="0">
                <a:latin typeface="Consolas" pitchFamily="49" charset="0"/>
              </a:rPr>
              <a:t>(n)-1).All     (</a:t>
            </a:r>
            <a:r>
              <a:rPr lang="en-US" sz="2400" dirty="0" err="1" smtClean="0">
                <a:latin typeface="Consolas" pitchFamily="49" charset="0"/>
              </a:rPr>
              <a:t>i</a:t>
            </a:r>
            <a:r>
              <a:rPr lang="en-US" sz="2400" dirty="0" smtClean="0">
                <a:latin typeface="Consolas" pitchFamily="49" charset="0"/>
              </a:rPr>
              <a:t> =&gt; n % </a:t>
            </a:r>
            <a:r>
              <a:rPr lang="en-US" sz="2400" dirty="0" err="1" smtClean="0">
                <a:latin typeface="Consolas" pitchFamily="49" charset="0"/>
              </a:rPr>
              <a:t>i</a:t>
            </a:r>
            <a:r>
              <a:rPr lang="en-US" sz="2400" dirty="0" smtClean="0">
                <a:latin typeface="Consolas" pitchFamily="49" charset="0"/>
              </a:rPr>
              <a:t> &gt; 0)));</a:t>
            </a:r>
          </a:p>
          <a:p>
            <a:pPr>
              <a:buNone/>
            </a:pPr>
            <a:r>
              <a:rPr lang="en-US" sz="2400" b="1" dirty="0" err="1" smtClean="0">
                <a:latin typeface="Consolas" pitchFamily="49" charset="0"/>
              </a:rPr>
              <a:t>var</a:t>
            </a:r>
            <a:r>
              <a:rPr lang="en-US" sz="2400" b="1" dirty="0" smtClean="0">
                <a:latin typeface="Consolas" pitchFamily="49" charset="0"/>
              </a:rPr>
              <a:t> </a:t>
            </a:r>
            <a:r>
              <a:rPr lang="en-US" sz="2400" b="1" dirty="0" err="1" smtClean="0">
                <a:latin typeface="Consolas" pitchFamily="49" charset="0"/>
              </a:rPr>
              <a:t>awaiter</a:t>
            </a:r>
            <a:r>
              <a:rPr lang="en-US" sz="2400" b="1" dirty="0" smtClean="0">
                <a:latin typeface="Consolas" pitchFamily="49" charset="0"/>
              </a:rPr>
              <a:t> = </a:t>
            </a:r>
            <a:r>
              <a:rPr lang="en-US" sz="2400" b="1" dirty="0" err="1" smtClean="0">
                <a:latin typeface="Consolas" pitchFamily="49" charset="0"/>
              </a:rPr>
              <a:t>primeNumberTask.GetAwaiter</a:t>
            </a:r>
            <a:r>
              <a:rPr lang="en-US" sz="2400" b="1" dirty="0" smtClean="0">
                <a:latin typeface="Consolas" pitchFamily="49" charset="0"/>
              </a:rPr>
              <a:t>();</a:t>
            </a:r>
          </a:p>
          <a:p>
            <a:pPr>
              <a:buNone/>
            </a:pPr>
            <a:r>
              <a:rPr lang="en-US" sz="2400" dirty="0" err="1" smtClean="0">
                <a:latin typeface="Consolas" pitchFamily="49" charset="0"/>
              </a:rPr>
              <a:t>awaiter.OnCompleted</a:t>
            </a:r>
            <a:r>
              <a:rPr lang="en-US" sz="2400" dirty="0" smtClean="0">
                <a:latin typeface="Consolas" pitchFamily="49" charset="0"/>
              </a:rPr>
              <a:t> (() =&gt;</a:t>
            </a:r>
          </a:p>
          <a:p>
            <a:pPr>
              <a:buNone/>
            </a:pPr>
            <a:r>
              <a:rPr lang="en-US" sz="2400" dirty="0" smtClean="0">
                <a:latin typeface="Consolas" pitchFamily="49" charset="0"/>
              </a:rPr>
              <a:t>{</a:t>
            </a:r>
          </a:p>
          <a:p>
            <a:pPr>
              <a:buNone/>
            </a:pPr>
            <a:r>
              <a:rPr lang="en-US" sz="2400" dirty="0" smtClean="0">
                <a:latin typeface="Consolas" pitchFamily="49" charset="0"/>
              </a:rPr>
              <a:t>   </a:t>
            </a:r>
            <a:r>
              <a:rPr lang="en-US" sz="2400" dirty="0" err="1" smtClean="0">
                <a:latin typeface="Consolas" pitchFamily="49" charset="0"/>
              </a:rPr>
              <a:t>int</a:t>
            </a:r>
            <a:r>
              <a:rPr lang="en-US" sz="2400" dirty="0" smtClean="0">
                <a:latin typeface="Consolas" pitchFamily="49" charset="0"/>
              </a:rPr>
              <a:t> result = </a:t>
            </a:r>
            <a:r>
              <a:rPr lang="en-US" sz="2400" b="1" dirty="0" err="1" smtClean="0">
                <a:latin typeface="Consolas" pitchFamily="49" charset="0"/>
              </a:rPr>
              <a:t>awaiter.GetResult</a:t>
            </a:r>
            <a:r>
              <a:rPr lang="en-US" sz="2400" b="1" dirty="0" smtClean="0">
                <a:latin typeface="Consolas" pitchFamily="49" charset="0"/>
              </a:rPr>
              <a:t>();</a:t>
            </a:r>
          </a:p>
          <a:p>
            <a:pPr>
              <a:buNone/>
            </a:pPr>
            <a:r>
              <a:rPr lang="en-US" sz="2400" dirty="0" smtClean="0">
                <a:latin typeface="Consolas" pitchFamily="49" charset="0"/>
              </a:rPr>
              <a:t>   </a:t>
            </a:r>
            <a:r>
              <a:rPr lang="en-US" sz="2400" dirty="0" err="1" smtClean="0">
                <a:latin typeface="Consolas" pitchFamily="49" charset="0"/>
              </a:rPr>
              <a:t>Console.WriteLine</a:t>
            </a:r>
            <a:r>
              <a:rPr lang="en-US" sz="2400" dirty="0" smtClean="0">
                <a:latin typeface="Consolas" pitchFamily="49" charset="0"/>
              </a:rPr>
              <a:t> (result); // Writes result</a:t>
            </a:r>
          </a:p>
          <a:p>
            <a:pPr>
              <a:buNone/>
            </a:pPr>
            <a:r>
              <a:rPr lang="en-US" sz="2400" dirty="0" smtClean="0">
                <a:latin typeface="Consolas" pitchFamily="49" charset="0"/>
              </a:rPr>
              <a:t>});</a:t>
            </a:r>
            <a:endParaRPr lang="en-US" sz="24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Awaiter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Calling </a:t>
            </a:r>
            <a:r>
              <a:rPr lang="en-US" sz="2400" dirty="0" err="1" smtClean="0"/>
              <a:t>GetAwaiter</a:t>
            </a:r>
            <a:r>
              <a:rPr lang="en-US" sz="2400" dirty="0" smtClean="0"/>
              <a:t> on the task returns an </a:t>
            </a:r>
            <a:r>
              <a:rPr lang="en-US" sz="2400" dirty="0" err="1" smtClean="0"/>
              <a:t>awaiter</a:t>
            </a:r>
            <a:r>
              <a:rPr lang="en-US" sz="2400" dirty="0" smtClean="0"/>
              <a:t> object whose </a:t>
            </a:r>
            <a:r>
              <a:rPr lang="en-US" sz="2400" dirty="0" err="1" smtClean="0"/>
              <a:t>OnCompleted</a:t>
            </a:r>
            <a:r>
              <a:rPr lang="en-US" sz="2400" dirty="0" smtClean="0"/>
              <a:t> method tells the antecedent task (</a:t>
            </a:r>
            <a:r>
              <a:rPr lang="en-US" sz="2400" dirty="0" err="1" smtClean="0"/>
              <a:t>primeNumberTask</a:t>
            </a:r>
            <a:r>
              <a:rPr lang="en-US" sz="2400" dirty="0" smtClean="0"/>
              <a:t>) to execute a delegate when it finishes (or faults).</a:t>
            </a:r>
          </a:p>
          <a:p>
            <a:r>
              <a:rPr lang="en-US" sz="2400" dirty="0" smtClean="0"/>
              <a:t>It’s valid to attach a continuation to an already-completed task, in which case the continuation will be scheduled to execute right away.</a:t>
            </a:r>
          </a:p>
          <a:p>
            <a:r>
              <a:rPr lang="en-US" sz="2400" dirty="0" smtClean="0"/>
              <a:t>An </a:t>
            </a:r>
            <a:r>
              <a:rPr lang="en-US" sz="2400" dirty="0" err="1" smtClean="0"/>
              <a:t>awaiter</a:t>
            </a:r>
            <a:r>
              <a:rPr lang="en-US" sz="2400" dirty="0" smtClean="0"/>
              <a:t> is any object that exposes the two methods that we’ve just seen (</a:t>
            </a:r>
            <a:r>
              <a:rPr lang="en-US" sz="2400" dirty="0" err="1" smtClean="0"/>
              <a:t>OnCompleted</a:t>
            </a:r>
            <a:r>
              <a:rPr lang="en-US" sz="2400" dirty="0" smtClean="0"/>
              <a:t> and </a:t>
            </a:r>
            <a:r>
              <a:rPr lang="en-US" sz="2400" dirty="0" err="1" smtClean="0"/>
              <a:t>GetResult</a:t>
            </a:r>
            <a:r>
              <a:rPr lang="en-US" sz="2400" dirty="0" smtClean="0"/>
              <a:t>) and a Boolean property called </a:t>
            </a:r>
            <a:r>
              <a:rPr lang="en-US" sz="2400" dirty="0" err="1" smtClean="0"/>
              <a:t>IsCompleted</a:t>
            </a:r>
            <a:r>
              <a:rPr lang="en-US" sz="2400" dirty="0" smtClean="0"/>
              <a:t>. There’s no interface or base class to unify all of these members.</a:t>
            </a:r>
            <a:endParaRPr lang="en-US" sz="2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Consolas" pitchFamily="49" charset="0"/>
              </a:rPr>
              <a:t>ContinueWith</a:t>
            </a:r>
            <a:r>
              <a:rPr lang="en-US" dirty="0" smtClean="0">
                <a:latin typeface="Consolas" pitchFamily="49" charset="0"/>
              </a:rPr>
              <a:t> </a:t>
            </a:r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400" dirty="0" smtClean="0">
                <a:latin typeface="Consolas" pitchFamily="49" charset="0"/>
              </a:rPr>
              <a:t>Task&lt;</a:t>
            </a:r>
            <a:r>
              <a:rPr lang="en-US" sz="2400" dirty="0" err="1" smtClean="0">
                <a:latin typeface="Consolas" pitchFamily="49" charset="0"/>
              </a:rPr>
              <a:t>int</a:t>
            </a:r>
            <a:r>
              <a:rPr lang="en-US" sz="2400" dirty="0" smtClean="0">
                <a:latin typeface="Consolas" pitchFamily="49" charset="0"/>
              </a:rPr>
              <a:t>&gt; </a:t>
            </a:r>
            <a:r>
              <a:rPr lang="en-US" sz="2400" dirty="0" err="1" smtClean="0">
                <a:latin typeface="Consolas" pitchFamily="49" charset="0"/>
              </a:rPr>
              <a:t>primeNumberTask</a:t>
            </a:r>
            <a:r>
              <a:rPr lang="en-US" sz="2400" dirty="0" smtClean="0">
                <a:latin typeface="Consolas" pitchFamily="49" charset="0"/>
              </a:rPr>
              <a:t> = </a:t>
            </a:r>
            <a:r>
              <a:rPr lang="en-US" sz="2400" dirty="0" err="1" smtClean="0">
                <a:latin typeface="Consolas" pitchFamily="49" charset="0"/>
              </a:rPr>
              <a:t>Task.Run</a:t>
            </a:r>
            <a:r>
              <a:rPr lang="en-US" sz="2400" dirty="0" smtClean="0">
                <a:latin typeface="Consolas" pitchFamily="49" charset="0"/>
              </a:rPr>
              <a:t> (() =&gt;</a:t>
            </a:r>
          </a:p>
          <a:p>
            <a:pPr>
              <a:buNone/>
            </a:pPr>
            <a:r>
              <a:rPr lang="en-US" sz="2400" dirty="0" smtClean="0">
                <a:latin typeface="Consolas" pitchFamily="49" charset="0"/>
              </a:rPr>
              <a:t>  </a:t>
            </a:r>
            <a:r>
              <a:rPr lang="en-US" sz="2400" dirty="0" err="1" smtClean="0">
                <a:latin typeface="Consolas" pitchFamily="49" charset="0"/>
              </a:rPr>
              <a:t>Enumerable.Range</a:t>
            </a:r>
            <a:r>
              <a:rPr lang="en-US" sz="2400" dirty="0" smtClean="0">
                <a:latin typeface="Consolas" pitchFamily="49" charset="0"/>
              </a:rPr>
              <a:t> (2, 3000000).Count (n =&gt;</a:t>
            </a:r>
          </a:p>
          <a:p>
            <a:pPr>
              <a:buNone/>
            </a:pPr>
            <a:r>
              <a:rPr lang="en-US" sz="2400" dirty="0" smtClean="0">
                <a:latin typeface="Consolas" pitchFamily="49" charset="0"/>
              </a:rPr>
              <a:t>  </a:t>
            </a:r>
            <a:r>
              <a:rPr lang="en-US" sz="2400" dirty="0" err="1" smtClean="0">
                <a:latin typeface="Consolas" pitchFamily="49" charset="0"/>
              </a:rPr>
              <a:t>Enumerable.Range</a:t>
            </a:r>
            <a:r>
              <a:rPr lang="en-US" sz="2400" dirty="0" smtClean="0">
                <a:latin typeface="Consolas" pitchFamily="49" charset="0"/>
              </a:rPr>
              <a:t> (2, (</a:t>
            </a:r>
            <a:r>
              <a:rPr lang="en-US" sz="2400" dirty="0" err="1" smtClean="0">
                <a:latin typeface="Consolas" pitchFamily="49" charset="0"/>
              </a:rPr>
              <a:t>int</a:t>
            </a:r>
            <a:r>
              <a:rPr lang="en-US" sz="2400" dirty="0" smtClean="0">
                <a:latin typeface="Consolas" pitchFamily="49" charset="0"/>
              </a:rPr>
              <a:t>)</a:t>
            </a:r>
            <a:r>
              <a:rPr lang="en-US" sz="2400" dirty="0" err="1" smtClean="0">
                <a:latin typeface="Consolas" pitchFamily="49" charset="0"/>
              </a:rPr>
              <a:t>Math.Sqrt</a:t>
            </a:r>
            <a:r>
              <a:rPr lang="en-US" sz="2400" dirty="0" smtClean="0">
                <a:latin typeface="Consolas" pitchFamily="49" charset="0"/>
              </a:rPr>
              <a:t>(n)-1).All     (</a:t>
            </a:r>
            <a:r>
              <a:rPr lang="en-US" sz="2400" dirty="0" err="1" smtClean="0">
                <a:latin typeface="Consolas" pitchFamily="49" charset="0"/>
              </a:rPr>
              <a:t>i</a:t>
            </a:r>
            <a:r>
              <a:rPr lang="en-US" sz="2400" dirty="0" smtClean="0">
                <a:latin typeface="Consolas" pitchFamily="49" charset="0"/>
              </a:rPr>
              <a:t> =&gt; n % </a:t>
            </a:r>
            <a:r>
              <a:rPr lang="en-US" sz="2400" dirty="0" err="1" smtClean="0">
                <a:latin typeface="Consolas" pitchFamily="49" charset="0"/>
              </a:rPr>
              <a:t>i</a:t>
            </a:r>
            <a:r>
              <a:rPr lang="en-US" sz="2400" dirty="0" smtClean="0">
                <a:latin typeface="Consolas" pitchFamily="49" charset="0"/>
              </a:rPr>
              <a:t> &gt; 0)));</a:t>
            </a:r>
          </a:p>
          <a:p>
            <a:pPr>
              <a:buNone/>
            </a:pPr>
            <a:r>
              <a:rPr lang="en-US" sz="2400" dirty="0" err="1" smtClean="0">
                <a:latin typeface="Consolas" pitchFamily="49" charset="0"/>
              </a:rPr>
              <a:t>primeNumberTask.ContinueWith</a:t>
            </a:r>
            <a:r>
              <a:rPr lang="en-US" sz="2400" dirty="0" smtClean="0">
                <a:latin typeface="Consolas" pitchFamily="49" charset="0"/>
              </a:rPr>
              <a:t> (antecedent =&gt;</a:t>
            </a:r>
          </a:p>
          <a:p>
            <a:pPr>
              <a:buNone/>
            </a:pPr>
            <a:r>
              <a:rPr lang="en-US" sz="2400" dirty="0" smtClean="0">
                <a:latin typeface="Consolas" pitchFamily="49" charset="0"/>
              </a:rPr>
              <a:t>{</a:t>
            </a:r>
          </a:p>
          <a:p>
            <a:pPr>
              <a:buNone/>
            </a:pPr>
            <a:r>
              <a:rPr lang="en-US" sz="2400" dirty="0" smtClean="0">
                <a:latin typeface="Consolas" pitchFamily="49" charset="0"/>
              </a:rPr>
              <a:t>  </a:t>
            </a:r>
            <a:r>
              <a:rPr lang="en-US" sz="2400" dirty="0" err="1" smtClean="0">
                <a:latin typeface="Consolas" pitchFamily="49" charset="0"/>
              </a:rPr>
              <a:t>int</a:t>
            </a:r>
            <a:r>
              <a:rPr lang="en-US" sz="2400" dirty="0" smtClean="0">
                <a:latin typeface="Consolas" pitchFamily="49" charset="0"/>
              </a:rPr>
              <a:t> result = </a:t>
            </a:r>
            <a:r>
              <a:rPr lang="en-US" sz="2400" dirty="0" err="1" smtClean="0">
                <a:latin typeface="Consolas" pitchFamily="49" charset="0"/>
              </a:rPr>
              <a:t>antecedent.Result</a:t>
            </a:r>
            <a:r>
              <a:rPr lang="en-US" sz="2400" dirty="0" smtClean="0">
                <a:latin typeface="Consolas" pitchFamily="49" charset="0"/>
              </a:rPr>
              <a:t>;</a:t>
            </a:r>
          </a:p>
          <a:p>
            <a:pPr>
              <a:buNone/>
            </a:pPr>
            <a:r>
              <a:rPr lang="en-US" sz="2400" dirty="0" smtClean="0">
                <a:latin typeface="Consolas" pitchFamily="49" charset="0"/>
              </a:rPr>
              <a:t>  </a:t>
            </a:r>
            <a:r>
              <a:rPr lang="en-US" sz="2400" dirty="0" err="1" smtClean="0">
                <a:latin typeface="Consolas" pitchFamily="49" charset="0"/>
              </a:rPr>
              <a:t>Console.WriteLine</a:t>
            </a:r>
            <a:r>
              <a:rPr lang="en-US" sz="2400" dirty="0" smtClean="0">
                <a:latin typeface="Consolas" pitchFamily="49" charset="0"/>
              </a:rPr>
              <a:t> (result); // Writes 123</a:t>
            </a:r>
          </a:p>
          <a:p>
            <a:pPr>
              <a:buNone/>
            </a:pPr>
            <a:r>
              <a:rPr lang="en-US" sz="2400" dirty="0" smtClean="0">
                <a:latin typeface="Consolas" pitchFamily="49" charset="0"/>
              </a:rPr>
              <a:t>});</a:t>
            </a:r>
            <a:endParaRPr lang="en-US" sz="24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ContinueWith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/>
              <a:t>ContinueWith</a:t>
            </a:r>
            <a:r>
              <a:rPr lang="en-US" sz="2400" dirty="0" smtClean="0"/>
              <a:t> itself returns a Task, which is useful if you want to attach further continuations.</a:t>
            </a:r>
          </a:p>
          <a:p>
            <a:r>
              <a:rPr lang="en-US" sz="2400" dirty="0" smtClean="0"/>
              <a:t>However, you must deal directly with </a:t>
            </a:r>
            <a:r>
              <a:rPr lang="en-US" sz="2400" dirty="0" err="1" smtClean="0"/>
              <a:t>AggregateException</a:t>
            </a:r>
            <a:r>
              <a:rPr lang="en-US" sz="2400" dirty="0" smtClean="0"/>
              <a:t> if the task faults, and write extra code to marshal the continuation in UI applications.</a:t>
            </a:r>
          </a:p>
          <a:p>
            <a:r>
              <a:rPr lang="en-US" sz="2400" dirty="0" smtClean="0"/>
              <a:t>And in non-UI contexts, you must specify</a:t>
            </a:r>
          </a:p>
          <a:p>
            <a:r>
              <a:rPr lang="en-US" sz="2400" dirty="0" err="1" smtClean="0"/>
              <a:t>TaskContinuationOptions.ExecuteSynchronously</a:t>
            </a:r>
            <a:r>
              <a:rPr lang="en-US" sz="2400" dirty="0" smtClean="0"/>
              <a:t> if you want the continuation to execute on the same thread; otherwise it will bounce to the thread pool.</a:t>
            </a:r>
          </a:p>
          <a:p>
            <a:r>
              <a:rPr lang="en-US" sz="2400" dirty="0" err="1" smtClean="0"/>
              <a:t>ContinueWith</a:t>
            </a:r>
            <a:r>
              <a:rPr lang="en-US" sz="2400" dirty="0" smtClean="0"/>
              <a:t> is particularly useful in parallel programming scenarios.</a:t>
            </a:r>
            <a:endParaRPr lang="en-US" sz="24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onsolas" pitchFamily="49" charset="0"/>
              </a:rPr>
              <a:t>await</a:t>
            </a:r>
            <a:r>
              <a:rPr lang="en-US" dirty="0" smtClean="0"/>
              <a:t> Keyword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await keyword simplifies the attaching of continuations.</a:t>
            </a:r>
          </a:p>
          <a:p>
            <a:r>
              <a:rPr lang="en-US" sz="2400" dirty="0" smtClean="0"/>
              <a:t>Starting with a basic scenario, the compiler expands this:</a:t>
            </a:r>
          </a:p>
          <a:p>
            <a:pPr>
              <a:buNone/>
            </a:pPr>
            <a:r>
              <a:rPr lang="en-US" sz="2400" dirty="0" smtClean="0">
                <a:latin typeface="Consolas" pitchFamily="49" charset="0"/>
              </a:rPr>
              <a:t>	</a:t>
            </a:r>
            <a:r>
              <a:rPr lang="en-US" sz="2200" dirty="0" err="1" smtClean="0">
                <a:latin typeface="Consolas" pitchFamily="49" charset="0"/>
              </a:rPr>
              <a:t>var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200" i="1" dirty="0" smtClean="0">
                <a:latin typeface="Consolas" pitchFamily="49" charset="0"/>
              </a:rPr>
              <a:t>result = await expression;</a:t>
            </a:r>
          </a:p>
          <a:p>
            <a:pPr>
              <a:buNone/>
            </a:pPr>
            <a:r>
              <a:rPr lang="en-US" sz="2200" i="1" dirty="0" smtClean="0">
                <a:latin typeface="Consolas" pitchFamily="49" charset="0"/>
              </a:rPr>
              <a:t>	statement(s);</a:t>
            </a:r>
          </a:p>
          <a:p>
            <a:r>
              <a:rPr lang="en-US" sz="2400" dirty="0" smtClean="0"/>
              <a:t>into something functionally similar to this:</a:t>
            </a:r>
          </a:p>
          <a:p>
            <a:pPr>
              <a:buNone/>
            </a:pPr>
            <a:r>
              <a:rPr lang="en-US" sz="2200" dirty="0" smtClean="0">
                <a:latin typeface="Consolas" pitchFamily="49" charset="0"/>
              </a:rPr>
              <a:t>	</a:t>
            </a:r>
            <a:r>
              <a:rPr lang="en-US" sz="2200" dirty="0" err="1" smtClean="0">
                <a:latin typeface="Consolas" pitchFamily="49" charset="0"/>
              </a:rPr>
              <a:t>var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200" dirty="0" err="1" smtClean="0">
                <a:latin typeface="Consolas" pitchFamily="49" charset="0"/>
              </a:rPr>
              <a:t>awaiter</a:t>
            </a:r>
            <a:r>
              <a:rPr lang="en-US" sz="2200" dirty="0" smtClean="0">
                <a:latin typeface="Consolas" pitchFamily="49" charset="0"/>
              </a:rPr>
              <a:t> = </a:t>
            </a:r>
            <a:r>
              <a:rPr lang="en-US" sz="2200" i="1" dirty="0" err="1" smtClean="0">
                <a:latin typeface="Consolas" pitchFamily="49" charset="0"/>
              </a:rPr>
              <a:t>expression.GetAwaiter</a:t>
            </a:r>
            <a:r>
              <a:rPr lang="en-US" sz="2200" i="1" dirty="0" smtClean="0">
                <a:latin typeface="Consolas" pitchFamily="49" charset="0"/>
              </a:rPr>
              <a:t>();</a:t>
            </a:r>
          </a:p>
          <a:p>
            <a:pPr>
              <a:buNone/>
            </a:pPr>
            <a:r>
              <a:rPr lang="en-US" sz="2200" dirty="0" smtClean="0">
                <a:latin typeface="Consolas" pitchFamily="49" charset="0"/>
              </a:rPr>
              <a:t>	</a:t>
            </a:r>
            <a:r>
              <a:rPr lang="en-US" sz="2200" dirty="0" err="1" smtClean="0">
                <a:latin typeface="Consolas" pitchFamily="49" charset="0"/>
              </a:rPr>
              <a:t>awaiter.OnCompleted</a:t>
            </a:r>
            <a:r>
              <a:rPr lang="en-US" sz="2200" dirty="0" smtClean="0">
                <a:latin typeface="Consolas" pitchFamily="49" charset="0"/>
              </a:rPr>
              <a:t> (() =&gt;</a:t>
            </a:r>
          </a:p>
          <a:p>
            <a:pPr>
              <a:buNone/>
            </a:pPr>
            <a:r>
              <a:rPr lang="en-US" sz="2200" dirty="0" smtClean="0">
                <a:latin typeface="Consolas" pitchFamily="49" charset="0"/>
              </a:rPr>
              <a:t>	{</a:t>
            </a:r>
          </a:p>
          <a:p>
            <a:pPr>
              <a:buNone/>
            </a:pPr>
            <a:r>
              <a:rPr lang="en-US" sz="2200" dirty="0" smtClean="0">
                <a:latin typeface="Consolas" pitchFamily="49" charset="0"/>
              </a:rPr>
              <a:t>	   </a:t>
            </a:r>
            <a:r>
              <a:rPr lang="en-US" sz="2200" dirty="0" err="1" smtClean="0">
                <a:latin typeface="Consolas" pitchFamily="49" charset="0"/>
              </a:rPr>
              <a:t>var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200" i="1" dirty="0" smtClean="0">
                <a:latin typeface="Consolas" pitchFamily="49" charset="0"/>
              </a:rPr>
              <a:t>result = </a:t>
            </a:r>
            <a:r>
              <a:rPr lang="en-US" sz="2200" i="1" dirty="0" err="1" smtClean="0">
                <a:latin typeface="Consolas" pitchFamily="49" charset="0"/>
              </a:rPr>
              <a:t>awaiter.GetResult</a:t>
            </a:r>
            <a:r>
              <a:rPr lang="en-US" sz="2200" i="1" dirty="0" smtClean="0">
                <a:latin typeface="Consolas" pitchFamily="49" charset="0"/>
              </a:rPr>
              <a:t>();</a:t>
            </a:r>
          </a:p>
          <a:p>
            <a:pPr>
              <a:buNone/>
            </a:pPr>
            <a:r>
              <a:rPr lang="en-US" sz="2200" i="1" dirty="0" smtClean="0">
                <a:latin typeface="Consolas" pitchFamily="49" charset="0"/>
              </a:rPr>
              <a:t>	   statement(s);</a:t>
            </a:r>
          </a:p>
          <a:p>
            <a:pPr>
              <a:buNone/>
            </a:pPr>
            <a:r>
              <a:rPr lang="en-US" sz="2200" dirty="0" smtClean="0">
                <a:latin typeface="Consolas" pitchFamily="49" charset="0"/>
              </a:rPr>
              <a:t>	});</a:t>
            </a:r>
            <a:endParaRPr lang="en-US" sz="22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Consolas" pitchFamily="49" charset="0"/>
              </a:rPr>
              <a:t>async</a:t>
            </a:r>
            <a:r>
              <a:rPr lang="en-US" dirty="0" smtClean="0"/>
              <a:t> Modifier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dirty="0" smtClean="0">
                <a:latin typeface="Consolas" pitchFamily="49" charset="0"/>
              </a:rPr>
              <a:t>Task&lt;</a:t>
            </a:r>
            <a:r>
              <a:rPr lang="en-US" sz="1800" b="1" dirty="0" err="1" smtClean="0">
                <a:latin typeface="Consolas" pitchFamily="49" charset="0"/>
              </a:rPr>
              <a:t>int</a:t>
            </a:r>
            <a:r>
              <a:rPr lang="en-US" sz="1800" b="1" dirty="0" smtClean="0">
                <a:latin typeface="Consolas" pitchFamily="49" charset="0"/>
              </a:rPr>
              <a:t>&gt;</a:t>
            </a:r>
            <a:r>
              <a:rPr lang="en-US" sz="1800" dirty="0" smtClean="0">
                <a:latin typeface="Consolas" pitchFamily="49" charset="0"/>
              </a:rPr>
              <a:t> </a:t>
            </a:r>
            <a:r>
              <a:rPr lang="en-US" sz="1800" dirty="0" err="1" smtClean="0">
                <a:latin typeface="Consolas" pitchFamily="49" charset="0"/>
              </a:rPr>
              <a:t>GetPrimesCountAsync</a:t>
            </a:r>
            <a:r>
              <a:rPr lang="en-US" sz="1800" dirty="0" smtClean="0">
                <a:latin typeface="Consolas" pitchFamily="49" charset="0"/>
              </a:rPr>
              <a:t> (</a:t>
            </a:r>
            <a:r>
              <a:rPr lang="en-US" sz="1800" dirty="0" err="1" smtClean="0">
                <a:latin typeface="Consolas" pitchFamily="49" charset="0"/>
              </a:rPr>
              <a:t>int</a:t>
            </a:r>
            <a:r>
              <a:rPr lang="en-US" sz="1800" dirty="0" smtClean="0">
                <a:latin typeface="Consolas" pitchFamily="49" charset="0"/>
              </a:rPr>
              <a:t> start, </a:t>
            </a:r>
            <a:r>
              <a:rPr lang="en-US" sz="1800" dirty="0" err="1" smtClean="0">
                <a:latin typeface="Consolas" pitchFamily="49" charset="0"/>
              </a:rPr>
              <a:t>int</a:t>
            </a:r>
            <a:r>
              <a:rPr lang="en-US" sz="1800" dirty="0" smtClean="0">
                <a:latin typeface="Consolas" pitchFamily="49" charset="0"/>
              </a:rPr>
              <a:t> count)</a:t>
            </a:r>
          </a:p>
          <a:p>
            <a:pPr>
              <a:buNone/>
            </a:pPr>
            <a:r>
              <a:rPr lang="en-US" sz="1800" dirty="0" smtClean="0">
                <a:latin typeface="Consolas" pitchFamily="49" charset="0"/>
              </a:rPr>
              <a:t>	{</a:t>
            </a:r>
          </a:p>
          <a:p>
            <a:pPr>
              <a:buNone/>
            </a:pPr>
            <a:r>
              <a:rPr lang="en-US" sz="1800" dirty="0" smtClean="0">
                <a:latin typeface="Consolas" pitchFamily="49" charset="0"/>
              </a:rPr>
              <a:t>	   return </a:t>
            </a:r>
            <a:r>
              <a:rPr lang="en-US" sz="1800" dirty="0" err="1" smtClean="0">
                <a:latin typeface="Consolas" pitchFamily="49" charset="0"/>
              </a:rPr>
              <a:t>Task.Run</a:t>
            </a:r>
            <a:r>
              <a:rPr lang="en-US" sz="1800" dirty="0" smtClean="0">
                <a:latin typeface="Consolas" pitchFamily="49" charset="0"/>
              </a:rPr>
              <a:t> (() =&gt;</a:t>
            </a:r>
          </a:p>
          <a:p>
            <a:pPr>
              <a:buNone/>
            </a:pPr>
            <a:r>
              <a:rPr lang="en-US" sz="1800" dirty="0" smtClean="0">
                <a:latin typeface="Consolas" pitchFamily="49" charset="0"/>
              </a:rPr>
              <a:t>	   </a:t>
            </a:r>
            <a:r>
              <a:rPr lang="en-US" sz="1800" dirty="0" err="1" smtClean="0">
                <a:latin typeface="Consolas" pitchFamily="49" charset="0"/>
              </a:rPr>
              <a:t>ParallelEnumerable.Range</a:t>
            </a:r>
            <a:r>
              <a:rPr lang="en-US" sz="1800" dirty="0" smtClean="0">
                <a:latin typeface="Consolas" pitchFamily="49" charset="0"/>
              </a:rPr>
              <a:t> (start, count).Count (n =&gt;</a:t>
            </a:r>
          </a:p>
          <a:p>
            <a:pPr>
              <a:buNone/>
            </a:pPr>
            <a:r>
              <a:rPr lang="en-US" sz="1800" dirty="0" smtClean="0">
                <a:latin typeface="Consolas" pitchFamily="49" charset="0"/>
              </a:rPr>
              <a:t>	   </a:t>
            </a:r>
            <a:r>
              <a:rPr lang="en-US" sz="1800" dirty="0" err="1" smtClean="0">
                <a:latin typeface="Consolas" pitchFamily="49" charset="0"/>
              </a:rPr>
              <a:t>Enumerable.Range</a:t>
            </a:r>
            <a:r>
              <a:rPr lang="en-US" sz="1800" dirty="0" smtClean="0">
                <a:latin typeface="Consolas" pitchFamily="49" charset="0"/>
              </a:rPr>
              <a:t> (2, (</a:t>
            </a:r>
            <a:r>
              <a:rPr lang="en-US" sz="1800" dirty="0" err="1" smtClean="0">
                <a:latin typeface="Consolas" pitchFamily="49" charset="0"/>
              </a:rPr>
              <a:t>int</a:t>
            </a:r>
            <a:r>
              <a:rPr lang="en-US" sz="1800" dirty="0" smtClean="0">
                <a:latin typeface="Consolas" pitchFamily="49" charset="0"/>
              </a:rPr>
              <a:t>)</a:t>
            </a:r>
            <a:r>
              <a:rPr lang="en-US" sz="1800" dirty="0" err="1" smtClean="0">
                <a:latin typeface="Consolas" pitchFamily="49" charset="0"/>
              </a:rPr>
              <a:t>Math.Sqrt</a:t>
            </a:r>
            <a:r>
              <a:rPr lang="en-US" sz="1800" dirty="0" smtClean="0">
                <a:latin typeface="Consolas" pitchFamily="49" charset="0"/>
              </a:rPr>
              <a:t>(n)-1).All (</a:t>
            </a:r>
            <a:r>
              <a:rPr lang="en-US" sz="1800" dirty="0" err="1" smtClean="0">
                <a:latin typeface="Consolas" pitchFamily="49" charset="0"/>
              </a:rPr>
              <a:t>i</a:t>
            </a:r>
            <a:r>
              <a:rPr lang="en-US" sz="1800" dirty="0" smtClean="0">
                <a:latin typeface="Consolas" pitchFamily="49" charset="0"/>
              </a:rPr>
              <a:t> =&gt; n % </a:t>
            </a:r>
            <a:r>
              <a:rPr lang="en-US" sz="1800" dirty="0" err="1" smtClean="0">
                <a:latin typeface="Consolas" pitchFamily="49" charset="0"/>
              </a:rPr>
              <a:t>i</a:t>
            </a:r>
            <a:r>
              <a:rPr lang="en-US" sz="1800" dirty="0" smtClean="0">
                <a:latin typeface="Consolas" pitchFamily="49" charset="0"/>
              </a:rPr>
              <a:t>    &gt; 0)));</a:t>
            </a:r>
          </a:p>
          <a:p>
            <a:pPr>
              <a:buNone/>
            </a:pPr>
            <a:r>
              <a:rPr lang="en-US" sz="1800" dirty="0" smtClean="0">
                <a:latin typeface="Consolas" pitchFamily="49" charset="0"/>
              </a:rPr>
              <a:t>	}</a:t>
            </a:r>
          </a:p>
          <a:p>
            <a:r>
              <a:rPr lang="en-US" sz="1800" dirty="0" smtClean="0"/>
              <a:t>With the await keyword, we can call it as follows:</a:t>
            </a:r>
          </a:p>
          <a:p>
            <a:pPr>
              <a:buNone/>
            </a:pPr>
            <a:r>
              <a:rPr lang="en-US" sz="1800" dirty="0" smtClean="0">
                <a:latin typeface="Consolas" pitchFamily="49" charset="0"/>
              </a:rPr>
              <a:t>	</a:t>
            </a:r>
            <a:r>
              <a:rPr lang="en-US" sz="1800" b="1" dirty="0" err="1" smtClean="0">
                <a:latin typeface="Consolas" pitchFamily="49" charset="0"/>
              </a:rPr>
              <a:t>async</a:t>
            </a:r>
            <a:r>
              <a:rPr lang="en-US" sz="1800" dirty="0" smtClean="0">
                <a:latin typeface="Consolas" pitchFamily="49" charset="0"/>
              </a:rPr>
              <a:t> void </a:t>
            </a:r>
            <a:r>
              <a:rPr lang="en-US" sz="1800" dirty="0" err="1" smtClean="0">
                <a:latin typeface="Consolas" pitchFamily="49" charset="0"/>
              </a:rPr>
              <a:t>DisplayPrimesCount</a:t>
            </a:r>
            <a:r>
              <a:rPr lang="en-US" sz="1800" dirty="0" smtClean="0">
                <a:latin typeface="Consolas" pitchFamily="49" charset="0"/>
              </a:rPr>
              <a:t>()</a:t>
            </a:r>
          </a:p>
          <a:p>
            <a:pPr>
              <a:buNone/>
            </a:pPr>
            <a:r>
              <a:rPr lang="en-US" sz="1800" dirty="0" smtClean="0">
                <a:latin typeface="Consolas" pitchFamily="49" charset="0"/>
              </a:rPr>
              <a:t>	{</a:t>
            </a:r>
          </a:p>
          <a:p>
            <a:pPr>
              <a:buNone/>
            </a:pPr>
            <a:r>
              <a:rPr lang="en-US" sz="1800" dirty="0" smtClean="0">
                <a:latin typeface="Consolas" pitchFamily="49" charset="0"/>
              </a:rPr>
              <a:t>	   </a:t>
            </a:r>
            <a:r>
              <a:rPr lang="en-US" sz="1800" dirty="0" err="1" smtClean="0">
                <a:latin typeface="Consolas" pitchFamily="49" charset="0"/>
              </a:rPr>
              <a:t>int</a:t>
            </a:r>
            <a:r>
              <a:rPr lang="en-US" sz="1800" dirty="0" smtClean="0">
                <a:latin typeface="Consolas" pitchFamily="49" charset="0"/>
              </a:rPr>
              <a:t> result = </a:t>
            </a:r>
            <a:r>
              <a:rPr lang="en-US" sz="1800" b="1" dirty="0" smtClean="0">
                <a:latin typeface="Consolas" pitchFamily="49" charset="0"/>
              </a:rPr>
              <a:t>await</a:t>
            </a:r>
            <a:r>
              <a:rPr lang="en-US" sz="1800" dirty="0" smtClean="0">
                <a:latin typeface="Consolas" pitchFamily="49" charset="0"/>
              </a:rPr>
              <a:t> </a:t>
            </a:r>
            <a:r>
              <a:rPr lang="en-US" sz="1800" dirty="0" err="1" smtClean="0">
                <a:latin typeface="Consolas" pitchFamily="49" charset="0"/>
              </a:rPr>
              <a:t>GetPrimesCountAsync</a:t>
            </a:r>
            <a:r>
              <a:rPr lang="en-US" sz="1800" dirty="0" smtClean="0">
                <a:latin typeface="Consolas" pitchFamily="49" charset="0"/>
              </a:rPr>
              <a:t> (2, 1000000);</a:t>
            </a:r>
          </a:p>
          <a:p>
            <a:pPr>
              <a:buNone/>
            </a:pPr>
            <a:r>
              <a:rPr lang="en-US" sz="1800" dirty="0" smtClean="0">
                <a:latin typeface="Consolas" pitchFamily="49" charset="0"/>
              </a:rPr>
              <a:t>	   </a:t>
            </a:r>
            <a:r>
              <a:rPr lang="en-US" sz="1800" dirty="0" err="1" smtClean="0">
                <a:latin typeface="Consolas" pitchFamily="49" charset="0"/>
              </a:rPr>
              <a:t>Console.WriteLine</a:t>
            </a:r>
            <a:r>
              <a:rPr lang="en-US" sz="1800" dirty="0" smtClean="0">
                <a:latin typeface="Consolas" pitchFamily="49" charset="0"/>
              </a:rPr>
              <a:t> (result);</a:t>
            </a:r>
          </a:p>
          <a:p>
            <a:pPr>
              <a:buNone/>
            </a:pPr>
            <a:r>
              <a:rPr lang="en-US" sz="1800" dirty="0" smtClean="0">
                <a:latin typeface="Consolas" pitchFamily="49" charset="0"/>
              </a:rPr>
              <a:t>	}</a:t>
            </a:r>
          </a:p>
          <a:p>
            <a:r>
              <a:rPr lang="en-US" sz="1800" dirty="0" smtClean="0"/>
              <a:t>The </a:t>
            </a:r>
            <a:r>
              <a:rPr lang="en-US" sz="1800" dirty="0" err="1" smtClean="0"/>
              <a:t>async</a:t>
            </a:r>
            <a:r>
              <a:rPr lang="en-US" sz="1800" dirty="0" smtClean="0"/>
              <a:t> modifier instructs the compiler to treat await as a keyword rather than an identifier should an ambiguity arise within that method</a:t>
            </a:r>
            <a:endParaRPr lang="en-US" sz="18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 </a:t>
            </a:r>
            <a:r>
              <a:rPr lang="en-US" dirty="0" err="1" smtClean="0"/>
              <a:t>SynchronizationContext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/>
              <a:t>SynchronizationContext</a:t>
            </a:r>
            <a:r>
              <a:rPr lang="en-US" sz="2400" dirty="0" smtClean="0"/>
              <a:t> </a:t>
            </a:r>
            <a:r>
              <a:rPr lang="en-US" sz="2400" dirty="0" smtClean="0"/>
              <a:t>is a .NET abstraction that controls </a:t>
            </a:r>
            <a:r>
              <a:rPr lang="en-US" sz="2400" b="1" dirty="0" smtClean="0"/>
              <a:t>how and where code resumes</a:t>
            </a:r>
            <a:r>
              <a:rPr lang="en-US" sz="2400" dirty="0" smtClean="0"/>
              <a:t> after an await.</a:t>
            </a:r>
          </a:p>
          <a:p>
            <a:r>
              <a:rPr lang="en-US" sz="2400" dirty="0" smtClean="0"/>
              <a:t>Think of it as a </a:t>
            </a:r>
            <a:r>
              <a:rPr lang="en-US" sz="2400" b="1" dirty="0" smtClean="0"/>
              <a:t>traffic cop for continuations</a:t>
            </a:r>
            <a:r>
              <a:rPr lang="en-US" sz="2400" dirty="0" smtClean="0"/>
              <a:t> — after an await, it decides </a:t>
            </a:r>
            <a:r>
              <a:rPr lang="en-US" sz="2400" b="1" dirty="0" smtClean="0"/>
              <a:t>what thread or context</a:t>
            </a:r>
            <a:r>
              <a:rPr lang="en-US" sz="2400" dirty="0" smtClean="0"/>
              <a:t> your code runs on next</a:t>
            </a:r>
            <a:r>
              <a:rPr lang="en-US" sz="2400" dirty="0" smtClean="0"/>
              <a:t>.</a:t>
            </a:r>
            <a:endParaRPr lang="en-US" sz="2400" dirty="0" smtClean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does it exist?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Because some environments </a:t>
            </a:r>
            <a:r>
              <a:rPr lang="en-US" sz="2400" b="1" dirty="0" smtClean="0"/>
              <a:t>must</a:t>
            </a:r>
            <a:r>
              <a:rPr lang="en-US" sz="2400" dirty="0" smtClean="0"/>
              <a:t> run code on a specific thread</a:t>
            </a:r>
            <a:r>
              <a:rPr lang="en-US" sz="2400" dirty="0" smtClean="0"/>
              <a:t>:</a:t>
            </a:r>
          </a:p>
          <a:p>
            <a:endParaRPr lang="en-US" sz="2400" dirty="0" smtClean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600" y="2758440"/>
          <a:ext cx="7848600" cy="2468880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2686641"/>
                <a:gridCol w="5161959"/>
              </a:tblGrid>
              <a:tr h="0">
                <a:tc>
                  <a:txBody>
                    <a:bodyPr/>
                    <a:lstStyle/>
                    <a:p>
                      <a:r>
                        <a:rPr lang="en-US" sz="2200"/>
                        <a:t>Environment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Why SynchronizationContext matters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200"/>
                        <a:t>WinForms/WPF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UI updates must happen on the UI thread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200"/>
                        <a:t>ASP.NET WebForms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Page/request lifecycle state is thread-bound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200"/>
                        <a:t>Console apps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Don’t care — no context, so null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200"/>
                        <a:t>ASP.NET 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Also don’t care — context is stripped, null by default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in </a:t>
            </a:r>
            <a:r>
              <a:rPr lang="en-US" dirty="0" err="1" smtClean="0"/>
              <a:t>WinForms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800" b="1" dirty="0" smtClean="0">
                <a:latin typeface="Consolas" pitchFamily="49" charset="0"/>
              </a:rPr>
              <a:t>private </a:t>
            </a:r>
            <a:r>
              <a:rPr lang="en-US" sz="1800" b="1" dirty="0" err="1" smtClean="0">
                <a:latin typeface="Consolas" pitchFamily="49" charset="0"/>
              </a:rPr>
              <a:t>async</a:t>
            </a:r>
            <a:r>
              <a:rPr lang="en-US" sz="1800" b="1" dirty="0" smtClean="0">
                <a:latin typeface="Consolas" pitchFamily="49" charset="0"/>
              </a:rPr>
              <a:t> void button1_Click(object sender, </a:t>
            </a:r>
            <a:r>
              <a:rPr lang="en-US" sz="1800" b="1" dirty="0" err="1" smtClean="0">
                <a:latin typeface="Consolas" pitchFamily="49" charset="0"/>
              </a:rPr>
              <a:t>EventArgs</a:t>
            </a:r>
            <a:r>
              <a:rPr lang="en-US" sz="1800" b="1" dirty="0" smtClean="0">
                <a:latin typeface="Consolas" pitchFamily="49" charset="0"/>
              </a:rPr>
              <a:t> e)</a:t>
            </a:r>
          </a:p>
          <a:p>
            <a:pPr>
              <a:buNone/>
            </a:pPr>
            <a:r>
              <a:rPr lang="en-US" sz="1800" b="1" dirty="0" smtClean="0">
                <a:latin typeface="Consolas" pitchFamily="49" charset="0"/>
              </a:rPr>
              <a:t>{</a:t>
            </a:r>
          </a:p>
          <a:p>
            <a:pPr>
              <a:buNone/>
            </a:pPr>
            <a:r>
              <a:rPr lang="en-US" sz="1800" b="1" dirty="0" smtClean="0">
                <a:latin typeface="Consolas" pitchFamily="49" charset="0"/>
              </a:rPr>
              <a:t>    textBox1.Text = "Starting...";</a:t>
            </a:r>
          </a:p>
          <a:p>
            <a:pPr>
              <a:buNone/>
            </a:pPr>
            <a:r>
              <a:rPr lang="en-US" sz="1800" b="1" dirty="0" smtClean="0">
                <a:latin typeface="Consolas" pitchFamily="49" charset="0"/>
              </a:rPr>
              <a:t>    await </a:t>
            </a:r>
            <a:r>
              <a:rPr lang="en-US" sz="1800" b="1" dirty="0" err="1" smtClean="0">
                <a:latin typeface="Consolas" pitchFamily="49" charset="0"/>
              </a:rPr>
              <a:t>Task.Delay</a:t>
            </a:r>
            <a:r>
              <a:rPr lang="en-US" sz="1800" b="1" dirty="0" smtClean="0">
                <a:latin typeface="Consolas" pitchFamily="49" charset="0"/>
              </a:rPr>
              <a:t>(1000); // Simulate </a:t>
            </a:r>
            <a:r>
              <a:rPr lang="en-US" sz="1800" b="1" dirty="0" err="1" smtClean="0">
                <a:latin typeface="Consolas" pitchFamily="49" charset="0"/>
              </a:rPr>
              <a:t>async</a:t>
            </a:r>
            <a:r>
              <a:rPr lang="en-US" sz="1800" b="1" dirty="0" smtClean="0">
                <a:latin typeface="Consolas" pitchFamily="49" charset="0"/>
              </a:rPr>
              <a:t> work</a:t>
            </a:r>
          </a:p>
          <a:p>
            <a:pPr>
              <a:buNone/>
            </a:pPr>
            <a:r>
              <a:rPr lang="en-US" sz="1800" b="1" dirty="0" smtClean="0">
                <a:latin typeface="Consolas" pitchFamily="49" charset="0"/>
              </a:rPr>
              <a:t>    textBox1.Text = "Done!";</a:t>
            </a:r>
          </a:p>
          <a:p>
            <a:pPr>
              <a:buNone/>
            </a:pPr>
            <a:r>
              <a:rPr lang="en-US" sz="1800" b="1" dirty="0" smtClean="0">
                <a:latin typeface="Consolas" pitchFamily="49" charset="0"/>
              </a:rPr>
              <a:t>}</a:t>
            </a:r>
            <a:endParaRPr lang="en-US" sz="1800" b="1" dirty="0" smtClean="0">
              <a:latin typeface="Consolas" pitchFamily="49" charset="0"/>
            </a:endParaRPr>
          </a:p>
          <a:p>
            <a:r>
              <a:rPr lang="en-US" sz="2400" b="1" dirty="0" smtClean="0"/>
              <a:t>What </a:t>
            </a:r>
            <a:r>
              <a:rPr lang="en-US" sz="2400" b="1" dirty="0" smtClean="0"/>
              <a:t>happens here:</a:t>
            </a:r>
          </a:p>
          <a:p>
            <a:pPr lvl="1"/>
            <a:r>
              <a:rPr lang="en-US" sz="2000" dirty="0" smtClean="0"/>
              <a:t>The method starts on the </a:t>
            </a:r>
            <a:r>
              <a:rPr lang="en-US" sz="2000" b="1" dirty="0" smtClean="0"/>
              <a:t>UI thread</a:t>
            </a:r>
            <a:r>
              <a:rPr lang="en-US" sz="2000" dirty="0" smtClean="0"/>
              <a:t>.</a:t>
            </a:r>
          </a:p>
          <a:p>
            <a:pPr lvl="1"/>
            <a:r>
              <a:rPr lang="en-US" sz="2000" dirty="0" err="1" smtClean="0"/>
              <a:t>Task.Delay</a:t>
            </a:r>
            <a:r>
              <a:rPr lang="en-US" sz="2000" dirty="0" smtClean="0"/>
              <a:t> suspends execution and returns control to the UI thread.</a:t>
            </a:r>
          </a:p>
          <a:p>
            <a:pPr lvl="1"/>
            <a:r>
              <a:rPr lang="en-US" sz="2000" dirty="0" smtClean="0"/>
              <a:t>After the delay, .NET schedules the continuation (textBox1.Text = "Done!") to run </a:t>
            </a:r>
            <a:r>
              <a:rPr lang="en-US" sz="2000" b="1" dirty="0" smtClean="0"/>
              <a:t>on the same UI thread</a:t>
            </a:r>
            <a:r>
              <a:rPr lang="en-US" sz="2000" dirty="0" smtClean="0"/>
              <a:t>.</a:t>
            </a:r>
          </a:p>
          <a:p>
            <a:pPr lvl="1"/>
            <a:r>
              <a:rPr lang="en-US" sz="2000" dirty="0" smtClean="0"/>
              <a:t>This works because </a:t>
            </a:r>
            <a:r>
              <a:rPr lang="en-US" sz="2000" dirty="0" err="1" smtClean="0"/>
              <a:t>WinForms</a:t>
            </a:r>
            <a:r>
              <a:rPr lang="en-US" sz="2000" dirty="0" smtClean="0"/>
              <a:t> installs a </a:t>
            </a:r>
            <a:r>
              <a:rPr lang="en-US" sz="2000" dirty="0" err="1" smtClean="0"/>
              <a:t>SynchronizationContext</a:t>
            </a:r>
            <a:r>
              <a:rPr lang="en-US" sz="2000" dirty="0" smtClean="0"/>
              <a:t> that captures and uses the UI thread.</a:t>
            </a:r>
            <a:endParaRPr lang="en-US" sz="2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if we block instead of await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800" b="1" dirty="0" smtClean="0">
                <a:latin typeface="Consolas" pitchFamily="49" charset="0"/>
              </a:rPr>
              <a:t>private void button1_Click(object sender, </a:t>
            </a:r>
            <a:r>
              <a:rPr lang="en-US" sz="1800" b="1" dirty="0" err="1" smtClean="0">
                <a:latin typeface="Consolas" pitchFamily="49" charset="0"/>
              </a:rPr>
              <a:t>EventArgs</a:t>
            </a:r>
            <a:r>
              <a:rPr lang="en-US" sz="1800" b="1" dirty="0" smtClean="0">
                <a:latin typeface="Consolas" pitchFamily="49" charset="0"/>
              </a:rPr>
              <a:t> e)</a:t>
            </a:r>
          </a:p>
          <a:p>
            <a:pPr>
              <a:buNone/>
            </a:pPr>
            <a:r>
              <a:rPr lang="en-US" sz="1800" b="1" dirty="0" smtClean="0">
                <a:latin typeface="Consolas" pitchFamily="49" charset="0"/>
              </a:rPr>
              <a:t>{</a:t>
            </a:r>
          </a:p>
          <a:p>
            <a:pPr>
              <a:buNone/>
            </a:pPr>
            <a:r>
              <a:rPr lang="en-US" sz="1800" b="1" dirty="0" smtClean="0">
                <a:latin typeface="Consolas" pitchFamily="49" charset="0"/>
              </a:rPr>
              <a:t>    </a:t>
            </a:r>
            <a:r>
              <a:rPr lang="en-US" sz="1800" b="1" dirty="0" err="1" smtClean="0">
                <a:latin typeface="Consolas" pitchFamily="49" charset="0"/>
              </a:rPr>
              <a:t>var</a:t>
            </a:r>
            <a:r>
              <a:rPr lang="en-US" sz="1800" b="1" dirty="0" smtClean="0">
                <a:latin typeface="Consolas" pitchFamily="49" charset="0"/>
              </a:rPr>
              <a:t> task = </a:t>
            </a:r>
            <a:r>
              <a:rPr lang="en-US" sz="1800" b="1" dirty="0" err="1" smtClean="0">
                <a:latin typeface="Consolas" pitchFamily="49" charset="0"/>
              </a:rPr>
              <a:t>Task.Delay</a:t>
            </a:r>
            <a:r>
              <a:rPr lang="en-US" sz="1800" b="1" dirty="0" smtClean="0">
                <a:latin typeface="Consolas" pitchFamily="49" charset="0"/>
              </a:rPr>
              <a:t>(1000);</a:t>
            </a:r>
          </a:p>
          <a:p>
            <a:pPr>
              <a:buNone/>
            </a:pPr>
            <a:r>
              <a:rPr lang="en-US" sz="1800" b="1" dirty="0" smtClean="0">
                <a:latin typeface="Consolas" pitchFamily="49" charset="0"/>
              </a:rPr>
              <a:t>    </a:t>
            </a:r>
            <a:r>
              <a:rPr lang="en-US" sz="1800" b="1" dirty="0" err="1" smtClean="0">
                <a:latin typeface="Consolas" pitchFamily="49" charset="0"/>
              </a:rPr>
              <a:t>task.GetAwaiter</a:t>
            </a:r>
            <a:r>
              <a:rPr lang="en-US" sz="1800" b="1" dirty="0" smtClean="0">
                <a:latin typeface="Consolas" pitchFamily="49" charset="0"/>
              </a:rPr>
              <a:t>().</a:t>
            </a:r>
            <a:r>
              <a:rPr lang="en-US" sz="1800" b="1" dirty="0" err="1" smtClean="0">
                <a:latin typeface="Consolas" pitchFamily="49" charset="0"/>
              </a:rPr>
              <a:t>GetResult</a:t>
            </a:r>
            <a:r>
              <a:rPr lang="en-US" sz="1800" b="1" dirty="0" smtClean="0">
                <a:latin typeface="Consolas" pitchFamily="49" charset="0"/>
              </a:rPr>
              <a:t>(); // ⚠️ Blocks the UI thread</a:t>
            </a:r>
          </a:p>
          <a:p>
            <a:pPr>
              <a:buNone/>
            </a:pPr>
            <a:r>
              <a:rPr lang="en-US" sz="1800" b="1" dirty="0" smtClean="0">
                <a:latin typeface="Consolas" pitchFamily="49" charset="0"/>
              </a:rPr>
              <a:t>    textBox1.Text = "Done!";</a:t>
            </a:r>
          </a:p>
          <a:p>
            <a:pPr>
              <a:buNone/>
            </a:pPr>
            <a:r>
              <a:rPr lang="en-US" sz="1800" b="1" dirty="0" smtClean="0">
                <a:latin typeface="Consolas" pitchFamily="49" charset="0"/>
              </a:rPr>
              <a:t>}</a:t>
            </a:r>
          </a:p>
          <a:p>
            <a:r>
              <a:rPr lang="en-US" sz="2400" dirty="0" smtClean="0"/>
              <a:t>Now the UI thread is blocked. The continuation from </a:t>
            </a:r>
            <a:r>
              <a:rPr lang="en-US" sz="2400" dirty="0" err="1" smtClean="0"/>
              <a:t>Task.Delay</a:t>
            </a:r>
            <a:r>
              <a:rPr lang="en-US" sz="2400" dirty="0" smtClean="0"/>
              <a:t> tries to run on the </a:t>
            </a:r>
            <a:r>
              <a:rPr lang="en-US" sz="2400" b="1" dirty="0" smtClean="0"/>
              <a:t>same UI thread</a:t>
            </a:r>
            <a:r>
              <a:rPr lang="en-US" sz="2400" dirty="0" smtClean="0"/>
              <a:t>, but it </a:t>
            </a:r>
            <a:r>
              <a:rPr lang="en-US" sz="2400" b="1" dirty="0" smtClean="0"/>
              <a:t>cannot</a:t>
            </a:r>
            <a:r>
              <a:rPr lang="en-US" sz="2400" dirty="0" smtClean="0"/>
              <a:t> — because that thread is stuck waiting. The continuation is dead in the water.</a:t>
            </a:r>
          </a:p>
          <a:p>
            <a:r>
              <a:rPr lang="en-US" sz="2400" dirty="0" smtClean="0"/>
              <a:t>Result: </a:t>
            </a:r>
            <a:r>
              <a:rPr lang="en-US" sz="2400" b="1" dirty="0" smtClean="0"/>
              <a:t>UI freeze or deadlock</a:t>
            </a:r>
            <a:r>
              <a:rPr lang="en-US" sz="2400" dirty="0" smtClean="0"/>
              <a:t>.</a:t>
            </a:r>
          </a:p>
          <a:p>
            <a:r>
              <a:rPr lang="en-US" sz="2200" dirty="0" smtClean="0">
                <a:solidFill>
                  <a:srgbClr val="C00000"/>
                </a:solidFill>
              </a:rPr>
              <a:t>Conclusion: Avoid using </a:t>
            </a:r>
            <a:r>
              <a:rPr lang="en-US" sz="2200" b="1" dirty="0" err="1" smtClean="0">
                <a:solidFill>
                  <a:srgbClr val="C00000"/>
                </a:solidFill>
                <a:latin typeface="Consolas" pitchFamily="49" charset="0"/>
              </a:rPr>
              <a:t>task.GetAwaiter</a:t>
            </a:r>
            <a:r>
              <a:rPr lang="en-US" sz="2200" b="1" dirty="0" smtClean="0">
                <a:solidFill>
                  <a:srgbClr val="C00000"/>
                </a:solidFill>
                <a:latin typeface="Consolas" pitchFamily="49" charset="0"/>
              </a:rPr>
              <a:t>().</a:t>
            </a:r>
            <a:r>
              <a:rPr lang="en-US" sz="2200" b="1" dirty="0" err="1" smtClean="0">
                <a:solidFill>
                  <a:srgbClr val="C00000"/>
                </a:solidFill>
                <a:latin typeface="Consolas" pitchFamily="49" charset="0"/>
              </a:rPr>
              <a:t>GetResult</a:t>
            </a:r>
            <a:r>
              <a:rPr lang="en-US" sz="2200" b="1" dirty="0" smtClean="0">
                <a:solidFill>
                  <a:srgbClr val="C00000"/>
                </a:solidFill>
                <a:latin typeface="Consolas" pitchFamily="49" charset="0"/>
              </a:rPr>
              <a:t>();</a:t>
            </a:r>
            <a:endParaRPr lang="en-US" sz="22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in ASP.NET Web Forms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800" b="1" dirty="0" smtClean="0">
                <a:latin typeface="Consolas" pitchFamily="49" charset="0"/>
              </a:rPr>
              <a:t>protected </a:t>
            </a:r>
            <a:r>
              <a:rPr lang="en-US" sz="1800" b="1" dirty="0" err="1" smtClean="0">
                <a:latin typeface="Consolas" pitchFamily="49" charset="0"/>
              </a:rPr>
              <a:t>async</a:t>
            </a:r>
            <a:r>
              <a:rPr lang="en-US" sz="1800" b="1" dirty="0" smtClean="0">
                <a:latin typeface="Consolas" pitchFamily="49" charset="0"/>
              </a:rPr>
              <a:t> void </a:t>
            </a:r>
            <a:r>
              <a:rPr lang="en-US" sz="1800" b="1" dirty="0" err="1" smtClean="0">
                <a:latin typeface="Consolas" pitchFamily="49" charset="0"/>
              </a:rPr>
              <a:t>Page_Load</a:t>
            </a:r>
            <a:r>
              <a:rPr lang="en-US" sz="1800" b="1" dirty="0" smtClean="0">
                <a:latin typeface="Consolas" pitchFamily="49" charset="0"/>
              </a:rPr>
              <a:t>(object sender, </a:t>
            </a:r>
            <a:r>
              <a:rPr lang="en-US" sz="1800" b="1" dirty="0" err="1" smtClean="0">
                <a:latin typeface="Consolas" pitchFamily="49" charset="0"/>
              </a:rPr>
              <a:t>EventArgs</a:t>
            </a:r>
            <a:r>
              <a:rPr lang="en-US" sz="1800" b="1" dirty="0" smtClean="0">
                <a:latin typeface="Consolas" pitchFamily="49" charset="0"/>
              </a:rPr>
              <a:t> e)</a:t>
            </a:r>
          </a:p>
          <a:p>
            <a:pPr>
              <a:buNone/>
            </a:pPr>
            <a:r>
              <a:rPr lang="en-US" sz="1800" b="1" dirty="0" smtClean="0">
                <a:latin typeface="Consolas" pitchFamily="49" charset="0"/>
              </a:rPr>
              <a:t>{</a:t>
            </a:r>
          </a:p>
          <a:p>
            <a:pPr>
              <a:buNone/>
            </a:pPr>
            <a:r>
              <a:rPr lang="en-US" sz="1800" b="1" dirty="0" smtClean="0">
                <a:latin typeface="Consolas" pitchFamily="49" charset="0"/>
              </a:rPr>
              <a:t>    label1.Text = "Waiting...";</a:t>
            </a:r>
          </a:p>
          <a:p>
            <a:pPr>
              <a:buNone/>
            </a:pPr>
            <a:r>
              <a:rPr lang="en-US" sz="1800" b="1" dirty="0" smtClean="0">
                <a:latin typeface="Consolas" pitchFamily="49" charset="0"/>
              </a:rPr>
              <a:t>    await </a:t>
            </a:r>
            <a:r>
              <a:rPr lang="en-US" sz="1800" b="1" dirty="0" err="1" smtClean="0">
                <a:latin typeface="Consolas" pitchFamily="49" charset="0"/>
              </a:rPr>
              <a:t>Task.Delay</a:t>
            </a:r>
            <a:r>
              <a:rPr lang="en-US" sz="1800" b="1" dirty="0" smtClean="0">
                <a:latin typeface="Consolas" pitchFamily="49" charset="0"/>
              </a:rPr>
              <a:t>(1000);</a:t>
            </a:r>
          </a:p>
          <a:p>
            <a:pPr>
              <a:buNone/>
            </a:pPr>
            <a:r>
              <a:rPr lang="en-US" sz="1800" b="1" dirty="0" smtClean="0">
                <a:latin typeface="Consolas" pitchFamily="49" charset="0"/>
              </a:rPr>
              <a:t>    label1.Text = "Done!";</a:t>
            </a:r>
          </a:p>
          <a:p>
            <a:pPr>
              <a:buNone/>
            </a:pPr>
            <a:r>
              <a:rPr lang="en-US" sz="1800" b="1" dirty="0" smtClean="0">
                <a:latin typeface="Consolas" pitchFamily="49" charset="0"/>
              </a:rPr>
              <a:t>}</a:t>
            </a:r>
          </a:p>
          <a:p>
            <a:r>
              <a:rPr lang="en-US" sz="2400" dirty="0" smtClean="0"/>
              <a:t>This works fine. </a:t>
            </a:r>
            <a:r>
              <a:rPr lang="en-US" sz="2400" dirty="0" err="1" smtClean="0"/>
              <a:t>Page_Load</a:t>
            </a:r>
            <a:r>
              <a:rPr lang="en-US" sz="2400" dirty="0" smtClean="0"/>
              <a:t> is </a:t>
            </a:r>
            <a:r>
              <a:rPr lang="en-US" sz="2400" dirty="0" err="1" smtClean="0"/>
              <a:t>async</a:t>
            </a:r>
            <a:r>
              <a:rPr lang="en-US" sz="2400" dirty="0" smtClean="0"/>
              <a:t>, and after 1 second, the continuation (label1.Text = "Done!") runs — on the </a:t>
            </a:r>
            <a:r>
              <a:rPr lang="en-US" sz="2400" b="1" dirty="0" smtClean="0"/>
              <a:t>original request-handling thread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ASP.NET Web Forms installs a </a:t>
            </a:r>
            <a:r>
              <a:rPr lang="en-US" sz="2400" dirty="0" err="1" smtClean="0"/>
              <a:t>SynchronizationContext</a:t>
            </a:r>
            <a:r>
              <a:rPr lang="en-US" sz="2400" dirty="0" smtClean="0"/>
              <a:t> that ensures the continuation goes back to that thread.</a:t>
            </a:r>
            <a:endParaRPr lang="en-US" sz="2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Now, block instead of await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800" b="1" dirty="0" smtClean="0">
                <a:latin typeface="Consolas" pitchFamily="49" charset="0"/>
              </a:rPr>
              <a:t>protected void </a:t>
            </a:r>
            <a:r>
              <a:rPr lang="en-US" sz="1800" b="1" dirty="0" err="1" smtClean="0">
                <a:latin typeface="Consolas" pitchFamily="49" charset="0"/>
              </a:rPr>
              <a:t>Page_Load</a:t>
            </a:r>
            <a:r>
              <a:rPr lang="en-US" sz="1800" b="1" dirty="0" smtClean="0">
                <a:latin typeface="Consolas" pitchFamily="49" charset="0"/>
              </a:rPr>
              <a:t>(object sender, </a:t>
            </a:r>
            <a:r>
              <a:rPr lang="en-US" sz="1800" b="1" dirty="0" err="1" smtClean="0">
                <a:latin typeface="Consolas" pitchFamily="49" charset="0"/>
              </a:rPr>
              <a:t>EventArgs</a:t>
            </a:r>
            <a:r>
              <a:rPr lang="en-US" sz="1800" b="1" dirty="0" smtClean="0">
                <a:latin typeface="Consolas" pitchFamily="49" charset="0"/>
              </a:rPr>
              <a:t> e)</a:t>
            </a:r>
          </a:p>
          <a:p>
            <a:pPr>
              <a:buNone/>
            </a:pPr>
            <a:r>
              <a:rPr lang="en-US" sz="1800" b="1" dirty="0" smtClean="0">
                <a:latin typeface="Consolas" pitchFamily="49" charset="0"/>
              </a:rPr>
              <a:t>{</a:t>
            </a:r>
          </a:p>
          <a:p>
            <a:pPr>
              <a:buNone/>
            </a:pPr>
            <a:r>
              <a:rPr lang="en-US" sz="1800" b="1" dirty="0" smtClean="0">
                <a:latin typeface="Consolas" pitchFamily="49" charset="0"/>
              </a:rPr>
              <a:t>    </a:t>
            </a:r>
            <a:r>
              <a:rPr lang="en-US" sz="1800" b="1" dirty="0" err="1" smtClean="0">
                <a:latin typeface="Consolas" pitchFamily="49" charset="0"/>
              </a:rPr>
              <a:t>var</a:t>
            </a:r>
            <a:r>
              <a:rPr lang="en-US" sz="1800" b="1" dirty="0" smtClean="0">
                <a:latin typeface="Consolas" pitchFamily="49" charset="0"/>
              </a:rPr>
              <a:t> task = </a:t>
            </a:r>
            <a:r>
              <a:rPr lang="en-US" sz="1800" b="1" dirty="0" err="1" smtClean="0">
                <a:latin typeface="Consolas" pitchFamily="49" charset="0"/>
              </a:rPr>
              <a:t>Task.Delay</a:t>
            </a:r>
            <a:r>
              <a:rPr lang="en-US" sz="1800" b="1" dirty="0" smtClean="0">
                <a:latin typeface="Consolas" pitchFamily="49" charset="0"/>
              </a:rPr>
              <a:t>(1000);</a:t>
            </a:r>
          </a:p>
          <a:p>
            <a:pPr>
              <a:buNone/>
            </a:pPr>
            <a:r>
              <a:rPr lang="en-US" sz="1800" b="1" dirty="0" smtClean="0">
                <a:latin typeface="Consolas" pitchFamily="49" charset="0"/>
              </a:rPr>
              <a:t>    </a:t>
            </a:r>
            <a:r>
              <a:rPr lang="en-US" sz="1800" b="1" dirty="0" err="1" smtClean="0">
                <a:latin typeface="Consolas" pitchFamily="49" charset="0"/>
              </a:rPr>
              <a:t>task.GetAwaiter</a:t>
            </a:r>
            <a:r>
              <a:rPr lang="en-US" sz="1800" b="1" dirty="0" smtClean="0">
                <a:latin typeface="Consolas" pitchFamily="49" charset="0"/>
              </a:rPr>
              <a:t>().</a:t>
            </a:r>
            <a:r>
              <a:rPr lang="en-US" sz="1800" b="1" dirty="0" err="1" smtClean="0">
                <a:latin typeface="Consolas" pitchFamily="49" charset="0"/>
              </a:rPr>
              <a:t>GetResult</a:t>
            </a:r>
            <a:r>
              <a:rPr lang="en-US" sz="1800" b="1" dirty="0" smtClean="0">
                <a:latin typeface="Consolas" pitchFamily="49" charset="0"/>
              </a:rPr>
              <a:t>(); // ⚠️ Uh oh</a:t>
            </a:r>
          </a:p>
          <a:p>
            <a:pPr>
              <a:buNone/>
            </a:pPr>
            <a:r>
              <a:rPr lang="en-US" sz="1800" b="1" dirty="0" smtClean="0">
                <a:latin typeface="Consolas" pitchFamily="49" charset="0"/>
              </a:rPr>
              <a:t>    label1.Text = "Done!";</a:t>
            </a:r>
          </a:p>
          <a:p>
            <a:pPr>
              <a:buNone/>
            </a:pPr>
            <a:r>
              <a:rPr lang="en-US" sz="1800" b="1" dirty="0" smtClean="0">
                <a:latin typeface="Consolas" pitchFamily="49" charset="0"/>
              </a:rPr>
              <a:t>}</a:t>
            </a:r>
          </a:p>
          <a:p>
            <a:r>
              <a:rPr lang="en-US" sz="1800" dirty="0" err="1" smtClean="0"/>
              <a:t>Page_Load</a:t>
            </a:r>
            <a:r>
              <a:rPr lang="en-US" sz="1800" dirty="0" smtClean="0"/>
              <a:t> starts.</a:t>
            </a:r>
          </a:p>
          <a:p>
            <a:r>
              <a:rPr lang="en-US" sz="1800" dirty="0" err="1" smtClean="0"/>
              <a:t>Task.Delay</a:t>
            </a:r>
            <a:r>
              <a:rPr lang="en-US" sz="1800" dirty="0" smtClean="0"/>
              <a:t>(1000) starts a timer.</a:t>
            </a:r>
          </a:p>
          <a:p>
            <a:r>
              <a:rPr lang="en-US" sz="1800" dirty="0" smtClean="0"/>
              <a:t>.</a:t>
            </a:r>
            <a:r>
              <a:rPr lang="en-US" sz="1800" dirty="0" err="1" smtClean="0"/>
              <a:t>GetAwaiter</a:t>
            </a:r>
            <a:r>
              <a:rPr lang="en-US" sz="1800" dirty="0" smtClean="0"/>
              <a:t>().</a:t>
            </a:r>
            <a:r>
              <a:rPr lang="en-US" sz="1800" dirty="0" err="1" smtClean="0"/>
              <a:t>GetResult</a:t>
            </a:r>
            <a:r>
              <a:rPr lang="en-US" sz="1800" dirty="0" smtClean="0"/>
              <a:t>() blocks the request-handling thread.</a:t>
            </a:r>
          </a:p>
          <a:p>
            <a:r>
              <a:rPr lang="en-US" sz="1800" dirty="0" smtClean="0"/>
              <a:t>When the delay is over, .NET wants to resume the continuation on the </a:t>
            </a:r>
            <a:r>
              <a:rPr lang="en-US" sz="1800" b="1" dirty="0" smtClean="0"/>
              <a:t>same thread</a:t>
            </a:r>
            <a:r>
              <a:rPr lang="en-US" sz="1800" dirty="0" smtClean="0"/>
              <a:t>.</a:t>
            </a:r>
          </a:p>
          <a:p>
            <a:r>
              <a:rPr lang="en-US" sz="1800" dirty="0" smtClean="0"/>
              <a:t>But it is </a:t>
            </a:r>
            <a:r>
              <a:rPr lang="en-US" sz="1800" b="1" dirty="0" smtClean="0"/>
              <a:t>blocked</a:t>
            </a:r>
            <a:r>
              <a:rPr lang="en-US" sz="1800" dirty="0" smtClean="0"/>
              <a:t>, waiting.</a:t>
            </a:r>
          </a:p>
          <a:p>
            <a:r>
              <a:rPr lang="en-US" sz="1800" dirty="0" smtClean="0"/>
              <a:t>Deadlock.</a:t>
            </a:r>
          </a:p>
          <a:p>
            <a:r>
              <a:rPr lang="en-US" sz="1800" dirty="0" smtClean="0">
                <a:solidFill>
                  <a:srgbClr val="C00000"/>
                </a:solidFill>
              </a:rPr>
              <a:t>Conclusion: Avoid using </a:t>
            </a:r>
            <a:r>
              <a:rPr lang="en-US" sz="1800" b="1" dirty="0" err="1" smtClean="0">
                <a:solidFill>
                  <a:srgbClr val="C00000"/>
                </a:solidFill>
                <a:latin typeface="Consolas" pitchFamily="49" charset="0"/>
              </a:rPr>
              <a:t>task.GetAwaiter</a:t>
            </a:r>
            <a:r>
              <a:rPr lang="en-US" sz="1800" b="1" dirty="0" smtClean="0">
                <a:solidFill>
                  <a:srgbClr val="C00000"/>
                </a:solidFill>
                <a:latin typeface="Consolas" pitchFamily="49" charset="0"/>
              </a:rPr>
              <a:t>().</a:t>
            </a:r>
            <a:r>
              <a:rPr lang="en-US" sz="1800" b="1" dirty="0" err="1" smtClean="0">
                <a:solidFill>
                  <a:srgbClr val="C00000"/>
                </a:solidFill>
                <a:latin typeface="Consolas" pitchFamily="49" charset="0"/>
              </a:rPr>
              <a:t>GetResult</a:t>
            </a:r>
            <a:r>
              <a:rPr lang="en-US" sz="1800" b="1" dirty="0" smtClean="0">
                <a:solidFill>
                  <a:srgbClr val="C00000"/>
                </a:solidFill>
                <a:latin typeface="Consolas" pitchFamily="49" charset="0"/>
              </a:rPr>
              <a:t>();</a:t>
            </a:r>
            <a:endParaRPr lang="en-US" sz="18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does it actually work?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600" dirty="0" smtClean="0">
                <a:latin typeface="Consolas" pitchFamily="49" charset="0"/>
              </a:rPr>
              <a:t>public class </a:t>
            </a:r>
            <a:r>
              <a:rPr lang="en-US" sz="1600" dirty="0" err="1" smtClean="0">
                <a:latin typeface="Consolas" pitchFamily="49" charset="0"/>
              </a:rPr>
              <a:t>SynchronizationContext</a:t>
            </a:r>
            <a:endParaRPr lang="en-US" sz="1600" dirty="0" smtClean="0">
              <a:latin typeface="Consolas" pitchFamily="49" charset="0"/>
            </a:endParaRPr>
          </a:p>
          <a:p>
            <a:pPr>
              <a:buNone/>
            </a:pPr>
            <a:r>
              <a:rPr lang="en-US" sz="1600" dirty="0" smtClean="0">
                <a:latin typeface="Consolas" pitchFamily="49" charset="0"/>
              </a:rPr>
              <a:t>{</a:t>
            </a:r>
          </a:p>
          <a:p>
            <a:pPr>
              <a:buNone/>
            </a:pPr>
            <a:r>
              <a:rPr lang="en-US" sz="1600" dirty="0" smtClean="0">
                <a:latin typeface="Consolas" pitchFamily="49" charset="0"/>
              </a:rPr>
              <a:t>    public virtual void Post(</a:t>
            </a:r>
            <a:r>
              <a:rPr lang="en-US" sz="1600" dirty="0" err="1" smtClean="0">
                <a:latin typeface="Consolas" pitchFamily="49" charset="0"/>
              </a:rPr>
              <a:t>SendOrPostCallback</a:t>
            </a:r>
            <a:r>
              <a:rPr lang="en-US" sz="1600" dirty="0" smtClean="0">
                <a:latin typeface="Consolas" pitchFamily="49" charset="0"/>
              </a:rPr>
              <a:t> d, object state) { ... }</a:t>
            </a:r>
          </a:p>
          <a:p>
            <a:pPr>
              <a:buNone/>
            </a:pPr>
            <a:r>
              <a:rPr lang="en-US" sz="1600" dirty="0" smtClean="0">
                <a:latin typeface="Consolas" pitchFamily="49" charset="0"/>
              </a:rPr>
              <a:t>    public virtual void Send(</a:t>
            </a:r>
            <a:r>
              <a:rPr lang="en-US" sz="1600" dirty="0" err="1" smtClean="0">
                <a:latin typeface="Consolas" pitchFamily="49" charset="0"/>
              </a:rPr>
              <a:t>SendOrPostCallback</a:t>
            </a:r>
            <a:r>
              <a:rPr lang="en-US" sz="1600" dirty="0" smtClean="0">
                <a:latin typeface="Consolas" pitchFamily="49" charset="0"/>
              </a:rPr>
              <a:t> d, object state) { ... }</a:t>
            </a:r>
          </a:p>
          <a:p>
            <a:pPr>
              <a:buNone/>
            </a:pPr>
            <a:r>
              <a:rPr lang="en-US" sz="1600" dirty="0" smtClean="0">
                <a:latin typeface="Consolas" pitchFamily="49" charset="0"/>
              </a:rPr>
              <a:t>}</a:t>
            </a:r>
          </a:p>
          <a:p>
            <a:pPr>
              <a:buNone/>
            </a:pPr>
            <a:endParaRPr lang="en-US" sz="1600" dirty="0" smtClean="0">
              <a:solidFill>
                <a:srgbClr val="C00000"/>
              </a:solidFill>
              <a:latin typeface="Consolas" pitchFamily="49" charset="0"/>
            </a:endParaRPr>
          </a:p>
          <a:p>
            <a:r>
              <a:rPr lang="en-US" sz="2400" dirty="0" smtClean="0"/>
              <a:t>Key methods:</a:t>
            </a:r>
          </a:p>
          <a:p>
            <a:pPr lvl="1"/>
            <a:r>
              <a:rPr lang="en-US" sz="2000" b="1" dirty="0" smtClean="0"/>
              <a:t>Post</a:t>
            </a:r>
            <a:r>
              <a:rPr lang="en-US" sz="2000" dirty="0" smtClean="0"/>
              <a:t>: Schedules work asynchronously.</a:t>
            </a:r>
          </a:p>
          <a:p>
            <a:pPr lvl="1"/>
            <a:r>
              <a:rPr lang="en-US" sz="2000" b="1" dirty="0" smtClean="0"/>
              <a:t>Send</a:t>
            </a:r>
            <a:r>
              <a:rPr lang="en-US" sz="2000" dirty="0" smtClean="0"/>
              <a:t>: Schedules work synchronously (blocking).</a:t>
            </a:r>
          </a:p>
          <a:p>
            <a:r>
              <a:rPr lang="en-US" sz="2400" dirty="0" smtClean="0"/>
              <a:t>Frameworks like </a:t>
            </a:r>
            <a:r>
              <a:rPr lang="en-US" sz="2400" dirty="0" err="1" smtClean="0"/>
              <a:t>WinForms</a:t>
            </a:r>
            <a:r>
              <a:rPr lang="en-US" sz="2400" dirty="0" smtClean="0"/>
              <a:t>, WPF, and ASP.NET override this to post to their dispatcher/thread.</a:t>
            </a:r>
          </a:p>
          <a:p>
            <a:pPr>
              <a:buNone/>
            </a:pPr>
            <a:endParaRPr lang="en-US" sz="1600" dirty="0" smtClean="0">
              <a:solidFill>
                <a:srgbClr val="C00000"/>
              </a:solidFill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Where is </a:t>
            </a:r>
            <a:r>
              <a:rPr lang="en-US" dirty="0" err="1" smtClean="0"/>
              <a:t>SynchronizationContext</a:t>
            </a:r>
            <a:r>
              <a:rPr lang="en-US" dirty="0" smtClean="0"/>
              <a:t> used?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2438400"/>
          <a:ext cx="7543800" cy="2895600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2277307"/>
                <a:gridCol w="5266493"/>
              </a:tblGrid>
              <a:tr h="0">
                <a:tc>
                  <a:txBody>
                    <a:bodyPr/>
                    <a:lstStyle/>
                    <a:p>
                      <a:r>
                        <a:rPr lang="en-US" sz="2200" dirty="0"/>
                        <a:t>Framework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Installed SynchronizationContext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200" dirty="0" err="1"/>
                        <a:t>WinForms</a:t>
                      </a:r>
                      <a:endParaRPr lang="en-US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WindowsFormsSynchronizationContext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200" dirty="0"/>
                        <a:t>WPF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DispatcherSynchronizationContext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200"/>
                        <a:t>ASP.NET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AspNetSynchronizationContext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200"/>
                        <a:t>ASP.NET 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❌ None (SynchronizationContext.Current == null)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200"/>
                        <a:t>Console app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❌ None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Rule of Thumb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✔ </a:t>
            </a:r>
            <a:r>
              <a:rPr lang="en-US" sz="2400" dirty="0" smtClean="0"/>
              <a:t>Use await — </a:t>
            </a:r>
            <a:r>
              <a:rPr lang="en-US" sz="2400" dirty="0" err="1" smtClean="0"/>
              <a:t>async</a:t>
            </a:r>
            <a:r>
              <a:rPr lang="en-US" sz="2400" dirty="0" smtClean="0"/>
              <a:t> all the way.</a:t>
            </a:r>
          </a:p>
          <a:p>
            <a:r>
              <a:rPr lang="en-US" sz="2400" dirty="0" smtClean="0"/>
              <a:t>❌ Avoid .</a:t>
            </a:r>
            <a:r>
              <a:rPr lang="en-US" sz="2400" dirty="0" err="1" smtClean="0"/>
              <a:t>GetAwaiter</a:t>
            </a:r>
            <a:r>
              <a:rPr lang="en-US" sz="2400" dirty="0" smtClean="0"/>
              <a:t>().</a:t>
            </a:r>
            <a:r>
              <a:rPr lang="en-US" sz="2400" dirty="0" err="1" smtClean="0"/>
              <a:t>GetResult</a:t>
            </a:r>
            <a:r>
              <a:rPr lang="en-US" sz="2400" dirty="0" smtClean="0"/>
              <a:t>() unless you're writing a Main() method in a console app or doing very controlled sync </a:t>
            </a:r>
            <a:r>
              <a:rPr lang="en-US" sz="2400" dirty="0" err="1" smtClean="0"/>
              <a:t>interop</a:t>
            </a:r>
            <a:r>
              <a:rPr lang="en-US" sz="2400" dirty="0" smtClean="0"/>
              <a:t>.</a:t>
            </a:r>
          </a:p>
          <a:p>
            <a:r>
              <a:rPr lang="en-US" sz="2400" b="1" dirty="0" smtClean="0"/>
              <a:t>Why .</a:t>
            </a:r>
            <a:r>
              <a:rPr lang="en-US" sz="2400" b="1" dirty="0" err="1" smtClean="0"/>
              <a:t>GetAwaiter</a:t>
            </a:r>
            <a:r>
              <a:rPr lang="en-US" sz="2400" b="1" dirty="0" smtClean="0"/>
              <a:t>().</a:t>
            </a:r>
            <a:r>
              <a:rPr lang="en-US" sz="2400" b="1" dirty="0" err="1" smtClean="0"/>
              <a:t>GetResult</a:t>
            </a:r>
            <a:r>
              <a:rPr lang="en-US" sz="2400" b="1" dirty="0" smtClean="0"/>
              <a:t>() is dangerous</a:t>
            </a:r>
          </a:p>
          <a:p>
            <a:r>
              <a:rPr lang="en-US" sz="2400" b="1" dirty="0" smtClean="0"/>
              <a:t>It can cause deadlocks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Especially in:</a:t>
            </a:r>
          </a:p>
          <a:p>
            <a:pPr lvl="1"/>
            <a:r>
              <a:rPr lang="en-US" sz="1800" dirty="0" smtClean="0"/>
              <a:t>ASP.NET (classic)</a:t>
            </a:r>
          </a:p>
          <a:p>
            <a:pPr lvl="1"/>
            <a:r>
              <a:rPr lang="en-US" sz="1800" dirty="0" err="1" smtClean="0"/>
              <a:t>WinForms</a:t>
            </a:r>
            <a:endParaRPr lang="en-US" sz="1800" dirty="0" smtClean="0"/>
          </a:p>
          <a:p>
            <a:pPr lvl="1"/>
            <a:r>
              <a:rPr lang="en-US" sz="1800" dirty="0" smtClean="0"/>
              <a:t>WPF</a:t>
            </a:r>
            <a:br>
              <a:rPr lang="en-US" sz="1800" dirty="0" smtClean="0"/>
            </a:br>
            <a:r>
              <a:rPr lang="en-US" sz="1800" dirty="0" smtClean="0"/>
              <a:t>Where there's a </a:t>
            </a:r>
            <a:r>
              <a:rPr lang="en-US" sz="1800" dirty="0" err="1" smtClean="0"/>
              <a:t>SynchronizationContext</a:t>
            </a:r>
            <a:r>
              <a:rPr lang="en-US" sz="1800" dirty="0" smtClean="0"/>
              <a:t> that tries to resume on a blocked thread</a:t>
            </a:r>
            <a:r>
              <a:rPr lang="en-US" sz="1800" dirty="0" smtClean="0"/>
              <a:t>.</a:t>
            </a:r>
            <a:endParaRPr lang="en-US" sz="1800" dirty="0" smtClean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13453</TotalTime>
  <Words>2246</Words>
  <Application>Microsoft Office PowerPoint</Application>
  <PresentationFormat>On-screen Show (4:3)</PresentationFormat>
  <Paragraphs>255</Paragraphs>
  <Slides>50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2" baseType="lpstr">
      <vt:lpstr>Office Theme</vt:lpstr>
      <vt:lpstr>Document</vt:lpstr>
      <vt:lpstr>Concurrency</vt:lpstr>
      <vt:lpstr>Objectives</vt:lpstr>
      <vt:lpstr>Contents</vt:lpstr>
      <vt:lpstr>References</vt:lpstr>
      <vt:lpstr>Process [1]</vt:lpstr>
      <vt:lpstr>Multiprogramming System</vt:lpstr>
      <vt:lpstr>3 Programs and 1 CPU Example</vt:lpstr>
      <vt:lpstr>Multiprocessing</vt:lpstr>
      <vt:lpstr>Thread [2]</vt:lpstr>
      <vt:lpstr>Multitasking and Multithreading</vt:lpstr>
      <vt:lpstr>Context Switching</vt:lpstr>
      <vt:lpstr>Concurrency vs. Parallelism</vt:lpstr>
      <vt:lpstr>Slide 13</vt:lpstr>
      <vt:lpstr>1. Create and Start a Thread</vt:lpstr>
      <vt:lpstr>2. Wait for Thread</vt:lpstr>
      <vt:lpstr>3. Pass an Argument to a Thread</vt:lpstr>
      <vt:lpstr>Execution Order</vt:lpstr>
      <vt:lpstr>Non-Determinism</vt:lpstr>
      <vt:lpstr>Exclusive Locking With lock Keyword</vt:lpstr>
      <vt:lpstr>Exclusive Locking With Mutex Class</vt:lpstr>
      <vt:lpstr>Non-exclusive Locking With Semaphore Class</vt:lpstr>
      <vt:lpstr>Slide 22</vt:lpstr>
      <vt:lpstr>Synchronous Programming Model</vt:lpstr>
      <vt:lpstr>Asynchronous Programming Model</vt:lpstr>
      <vt:lpstr>Asynchronous Programming [3]</vt:lpstr>
      <vt:lpstr>Event-Based Asynchrony</vt:lpstr>
      <vt:lpstr>ThreadPool</vt:lpstr>
      <vt:lpstr>Thread Limitations [2]</vt:lpstr>
      <vt:lpstr>Slide 29</vt:lpstr>
      <vt:lpstr>Tasks</vt:lpstr>
      <vt:lpstr>Returning Values</vt:lpstr>
      <vt:lpstr>Task Example</vt:lpstr>
      <vt:lpstr>Continuations</vt:lpstr>
      <vt:lpstr>Continuation Example</vt:lpstr>
      <vt:lpstr>Awaiter</vt:lpstr>
      <vt:lpstr>ContinueWith Example</vt:lpstr>
      <vt:lpstr>ContinueWith</vt:lpstr>
      <vt:lpstr>await Keyword</vt:lpstr>
      <vt:lpstr>async Modifier</vt:lpstr>
      <vt:lpstr>Slide 40</vt:lpstr>
      <vt:lpstr>What is a SynchronizationContext?</vt:lpstr>
      <vt:lpstr>Why does it exist?</vt:lpstr>
      <vt:lpstr>Example in WinForms</vt:lpstr>
      <vt:lpstr>What if we block instead of await</vt:lpstr>
      <vt:lpstr>Example in ASP.NET Web Forms</vt:lpstr>
      <vt:lpstr>Now, block instead of await</vt:lpstr>
      <vt:lpstr>How does it actually work?</vt:lpstr>
      <vt:lpstr>Where is SynchronizationContext used?</vt:lpstr>
      <vt:lpstr>Rule of Thumb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5465</cp:revision>
  <dcterms:created xsi:type="dcterms:W3CDTF">2007-10-06T08:25:13Z</dcterms:created>
  <dcterms:modified xsi:type="dcterms:W3CDTF">2025-06-26T19:26:21Z</dcterms:modified>
</cp:coreProperties>
</file>