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60" r:id="rId6"/>
    <p:sldId id="261" r:id="rId7"/>
    <p:sldId id="262" r:id="rId8"/>
    <p:sldId id="263" r:id="rId9"/>
    <p:sldId id="272" r:id="rId10"/>
    <p:sldId id="275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40" y="-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BA324-63BD-4898-8CBF-4397B6616551}" type="datetimeFigureOut">
              <a:rPr lang="en-US" smtClean="0"/>
              <a:pPr/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0F161-DDE8-4DAA-A076-E7ABB5330D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dirty="0" smtClean="0"/>
              <a:t>Event-Driven Programming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sz="4000" dirty="0" smtClean="0"/>
              <a:t>Lecturer: Ngo Huy Bien</a:t>
            </a:r>
          </a:p>
          <a:p>
            <a:pPr>
              <a:defRPr/>
            </a:pPr>
            <a:r>
              <a:rPr lang="en-US" dirty="0" smtClean="0"/>
              <a:t>Software Engineering Department</a:t>
            </a:r>
          </a:p>
          <a:p>
            <a:pPr>
              <a:defRPr/>
            </a:pPr>
            <a:r>
              <a:rPr lang="en-US" dirty="0" smtClean="0"/>
              <a:t>University of Science</a:t>
            </a:r>
          </a:p>
          <a:p>
            <a:pPr>
              <a:defRPr/>
            </a:pPr>
            <a:r>
              <a:rPr lang="en-US" dirty="0" smtClean="0"/>
              <a:t>Ho Chi Minh City, Vietnam</a:t>
            </a:r>
          </a:p>
          <a:p>
            <a:pPr>
              <a:defRPr/>
            </a:pPr>
            <a:r>
              <a:rPr lang="en-US" dirty="0" smtClean="0">
                <a:hlinkClick r:id="rId2"/>
              </a:rPr>
              <a:t>nhbien@fit.hcmus.edu.vn</a:t>
            </a:r>
            <a:endParaRPr 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present </a:t>
            </a:r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is a type.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2000" dirty="0" smtClean="0"/>
              <a:t>S. Hansen and T.V. </a:t>
            </a:r>
            <a:r>
              <a:rPr lang="en-US" sz="2000" dirty="0" err="1" smtClean="0"/>
              <a:t>Fossum</a:t>
            </a:r>
            <a:r>
              <a:rPr lang="en-US" sz="2000" dirty="0" smtClean="0"/>
              <a:t>. Event Based Programming. 2010.</a:t>
            </a:r>
          </a:p>
          <a:p>
            <a:pPr marL="514350" lvl="0" indent="-514350">
              <a:buFont typeface="+mj-lt"/>
              <a:buAutoNum type="arabicPeriod"/>
            </a:pPr>
            <a:endParaRPr lang="en-US" sz="20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Events?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An </a:t>
            </a:r>
            <a:r>
              <a:rPr lang="en-US" sz="2200" i="1" dirty="0" smtClean="0">
                <a:solidFill>
                  <a:srgbClr val="C00000"/>
                </a:solidFill>
              </a:rPr>
              <a:t>event</a:t>
            </a:r>
            <a:r>
              <a:rPr lang="en-US" sz="2200" dirty="0" smtClean="0"/>
              <a:t> is an observable occurrence.</a:t>
            </a:r>
          </a:p>
          <a:p>
            <a:r>
              <a:rPr lang="en-US" sz="2200" dirty="0" smtClean="0"/>
              <a:t>An </a:t>
            </a:r>
            <a:r>
              <a:rPr lang="en-US" sz="2200" i="1" dirty="0" smtClean="0">
                <a:solidFill>
                  <a:srgbClr val="C00000"/>
                </a:solidFill>
              </a:rPr>
              <a:t>“occurrence"</a:t>
            </a:r>
            <a:r>
              <a:rPr lang="en-US" sz="2200" dirty="0" smtClean="0"/>
              <a:t> is something that happens at some point in time.</a:t>
            </a:r>
          </a:p>
          <a:p>
            <a:r>
              <a:rPr lang="en-US" sz="2200" dirty="0" smtClean="0"/>
              <a:t>An occurrence is </a:t>
            </a:r>
            <a:r>
              <a:rPr lang="en-US" sz="2200" i="1" dirty="0" smtClean="0">
                <a:solidFill>
                  <a:srgbClr val="C00000"/>
                </a:solidFill>
              </a:rPr>
              <a:t>“observable"</a:t>
            </a:r>
            <a:r>
              <a:rPr lang="en-US" sz="2200" dirty="0" smtClean="0"/>
              <a:t> if it is possible for an observer to notice that it happened.</a:t>
            </a:r>
          </a:p>
          <a:p>
            <a:r>
              <a:rPr lang="en-US" sz="2200" dirty="0" smtClean="0"/>
              <a:t>When an observer responds to an event, we say that the observer handles the event and that the observer is the </a:t>
            </a:r>
            <a:r>
              <a:rPr lang="en-US" sz="2200" i="1" dirty="0" smtClean="0">
                <a:solidFill>
                  <a:srgbClr val="C00000"/>
                </a:solidFill>
              </a:rPr>
              <a:t>event handler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agent causing the event is </a:t>
            </a:r>
            <a:r>
              <a:rPr lang="en-US" sz="2200" i="1" dirty="0" smtClean="0">
                <a:solidFill>
                  <a:srgbClr val="C00000"/>
                </a:solidFill>
              </a:rPr>
              <a:t>the event source</a:t>
            </a:r>
            <a:r>
              <a:rPr lang="en-US" sz="2200" dirty="0" smtClean="0"/>
              <a:t> and that the agent fires the event.</a:t>
            </a:r>
          </a:p>
          <a:p>
            <a:endParaRPr lang="en-US" sz="2200" dirty="0"/>
          </a:p>
        </p:txBody>
      </p:sp>
      <p:pic>
        <p:nvPicPr>
          <p:cNvPr id="4" name="Picture 2" descr="http://www.ambrosebierce.org/evansgraphi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4876800"/>
            <a:ext cx="4714875" cy="1381126"/>
          </a:xfrm>
          <a:prstGeom prst="rect">
            <a:avLst/>
          </a:prstGeom>
          <a:noFill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4800600"/>
            <a:ext cx="14382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Based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>
            <a:normAutofit/>
          </a:bodyPr>
          <a:lstStyle/>
          <a:p>
            <a:r>
              <a:rPr lang="en-US" sz="2200" dirty="0" smtClean="0"/>
              <a:t>An </a:t>
            </a:r>
            <a:r>
              <a:rPr lang="en-US" sz="2200" i="1" dirty="0" smtClean="0">
                <a:solidFill>
                  <a:srgbClr val="C00000"/>
                </a:solidFill>
              </a:rPr>
              <a:t>event based system</a:t>
            </a:r>
            <a:r>
              <a:rPr lang="en-US" sz="2200" dirty="0" smtClean="0"/>
              <a:t> is a system in which interactions among the agents in the system are governed by events, principally those interactions that are request-response, message-passing, or publish-subscribe.</a:t>
            </a:r>
          </a:p>
          <a:p>
            <a:endParaRPr lang="en-US" sz="2200" dirty="0" smtClean="0"/>
          </a:p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system's state</a:t>
            </a:r>
            <a:r>
              <a:rPr lang="en-US" sz="2200" dirty="0" smtClean="0"/>
              <a:t> is a complete description of the system at some point in time.</a:t>
            </a:r>
          </a:p>
          <a:p>
            <a:r>
              <a:rPr lang="en-US" sz="2200" dirty="0" smtClean="0"/>
              <a:t>As the agents in the system carry out their defined activities and interact with other agents through events, </a:t>
            </a:r>
            <a:r>
              <a:rPr lang="en-US" sz="2200" i="1" dirty="0" smtClean="0">
                <a:solidFill>
                  <a:srgbClr val="C00000"/>
                </a:solidFill>
              </a:rPr>
              <a:t>the state of the system changes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752600"/>
            <a:ext cx="254317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343399"/>
          </a:xfrm>
        </p:spPr>
        <p:txBody>
          <a:bodyPr>
            <a:noAutofit/>
          </a:bodyPr>
          <a:lstStyle/>
          <a:p>
            <a:r>
              <a:rPr lang="en-US" sz="2400" dirty="0" smtClean="0"/>
              <a:t>A system is said to be </a:t>
            </a:r>
            <a:r>
              <a:rPr lang="en-US" sz="2400" i="1" dirty="0" smtClean="0">
                <a:solidFill>
                  <a:srgbClr val="C00000"/>
                </a:solidFill>
              </a:rPr>
              <a:t>discrete</a:t>
            </a:r>
            <a:r>
              <a:rPr lang="en-US" sz="2400" dirty="0" smtClean="0"/>
              <a:t> if every possible state of the system can be described using a finite amount of memory (a finite number of bits) and if, over any finite time interval, the state of the system changes a finite number of times.</a:t>
            </a:r>
          </a:p>
          <a:p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discrete event system</a:t>
            </a:r>
            <a:r>
              <a:rPr lang="en-US" sz="2400" dirty="0" smtClean="0"/>
              <a:t> is a discrete system that is event based.</a:t>
            </a:r>
            <a:endParaRPr lang="en-US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752600"/>
            <a:ext cx="3419475" cy="344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of Event Based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Event based systems are </a:t>
            </a:r>
            <a:r>
              <a:rPr lang="en-US" sz="2400" i="1" dirty="0" smtClean="0">
                <a:solidFill>
                  <a:srgbClr val="C00000"/>
                </a:solidFill>
              </a:rPr>
              <a:t>state based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system stays in a stable state until an </a:t>
            </a:r>
            <a:r>
              <a:rPr lang="en-US" sz="2400" i="1" dirty="0" smtClean="0">
                <a:solidFill>
                  <a:srgbClr val="C00000"/>
                </a:solidFill>
              </a:rPr>
              <a:t>event occurs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Event based systems contain varying degrees of </a:t>
            </a:r>
            <a:r>
              <a:rPr lang="en-US" sz="2400" i="1" dirty="0" smtClean="0">
                <a:solidFill>
                  <a:srgbClr val="C00000"/>
                </a:solidFill>
              </a:rPr>
              <a:t>non-determinism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Non-determinism means that it is </a:t>
            </a:r>
            <a:r>
              <a:rPr lang="en-US" sz="2400" i="1" dirty="0" smtClean="0">
                <a:solidFill>
                  <a:srgbClr val="C00000"/>
                </a:solidFill>
              </a:rPr>
              <a:t>impossible</a:t>
            </a:r>
            <a:r>
              <a:rPr lang="en-US" sz="2400" dirty="0" smtClean="0"/>
              <a:t> to determine exactly how a computation will proceed.</a:t>
            </a:r>
          </a:p>
          <a:p>
            <a:r>
              <a:rPr lang="en-US" sz="2400" dirty="0" smtClean="0"/>
              <a:t>Event based systems  are </a:t>
            </a:r>
            <a:r>
              <a:rPr lang="en-US" sz="2400" i="1" dirty="0" smtClean="0">
                <a:solidFill>
                  <a:srgbClr val="C00000"/>
                </a:solidFill>
              </a:rPr>
              <a:t>built from</a:t>
            </a:r>
            <a:r>
              <a:rPr lang="en-US" sz="2400" dirty="0" smtClean="0"/>
              <a:t> diverse, loosely coupled components.</a:t>
            </a:r>
          </a:p>
          <a:p>
            <a:r>
              <a:rPr lang="en-US" sz="2400" dirty="0" smtClean="0"/>
              <a:t>The components </a:t>
            </a:r>
            <a:r>
              <a:rPr lang="en-US" sz="2400" i="1" dirty="0" smtClean="0">
                <a:solidFill>
                  <a:srgbClr val="C00000"/>
                </a:solidFill>
              </a:rPr>
              <a:t>communicate</a:t>
            </a:r>
            <a:r>
              <a:rPr lang="en-US" sz="2400" dirty="0" smtClean="0"/>
              <a:t> with each other via events.</a:t>
            </a:r>
          </a:p>
          <a:p>
            <a:r>
              <a:rPr lang="en-US" sz="2400" dirty="0" smtClean="0"/>
              <a:t>Event based systems use </a:t>
            </a:r>
            <a:r>
              <a:rPr lang="en-US" sz="2400" i="1" dirty="0" smtClean="0">
                <a:solidFill>
                  <a:srgbClr val="C00000"/>
                </a:solidFill>
              </a:rPr>
              <a:t>decentralized control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system starts up and </a:t>
            </a:r>
            <a:r>
              <a:rPr lang="en-US" sz="2400" i="1" dirty="0" smtClean="0">
                <a:solidFill>
                  <a:srgbClr val="C00000"/>
                </a:solidFill>
              </a:rPr>
              <a:t>waits</a:t>
            </a:r>
            <a:r>
              <a:rPr lang="en-US" sz="2400" dirty="0" smtClean="0"/>
              <a:t> for events to occur.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Event Based Programming Paradigm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Event based programming</a:t>
            </a:r>
            <a:r>
              <a:rPr lang="en-US" sz="2200" dirty="0" smtClean="0"/>
              <a:t> is paradigm.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It is a way of thinking</a:t>
            </a:r>
            <a:r>
              <a:rPr lang="en-US" sz="2200" dirty="0" smtClean="0"/>
              <a:t> about problems and their solutions.</a:t>
            </a:r>
          </a:p>
          <a:p>
            <a:r>
              <a:rPr lang="en-US" sz="2200" dirty="0" smtClean="0"/>
              <a:t>It provides </a:t>
            </a:r>
            <a:r>
              <a:rPr lang="en-US" sz="2200" i="1" dirty="0" smtClean="0">
                <a:solidFill>
                  <a:srgbClr val="C00000"/>
                </a:solidFill>
              </a:rPr>
              <a:t>abstractions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The event model</a:t>
            </a:r>
            <a:r>
              <a:rPr lang="en-US" sz="2200" dirty="0" smtClean="0"/>
              <a:t> is its primary abstraction.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Event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Three types of computational objects</a:t>
            </a:r>
            <a:r>
              <a:rPr lang="en-US" sz="2200" dirty="0" smtClean="0"/>
              <a:t> are associated with each event, the event source, the event object, and one or more event handlers.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event source</a:t>
            </a:r>
            <a:r>
              <a:rPr lang="en-US" sz="2000" dirty="0" smtClean="0"/>
              <a:t> is the originator of the event. Event sources can be any object, hardware, software or firmware.</a:t>
            </a:r>
          </a:p>
          <a:p>
            <a:pPr lvl="1"/>
            <a:r>
              <a:rPr lang="en-US" sz="2000" dirty="0" smtClean="0"/>
              <a:t>An </a:t>
            </a:r>
            <a:r>
              <a:rPr lang="en-US" sz="2000" i="1" dirty="0" smtClean="0">
                <a:solidFill>
                  <a:srgbClr val="C00000"/>
                </a:solidFill>
              </a:rPr>
              <a:t>event object</a:t>
            </a:r>
            <a:r>
              <a:rPr lang="en-US" sz="2000" dirty="0" smtClean="0"/>
              <a:t> encapsulates the critical data associated with the event.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Event handlers</a:t>
            </a:r>
            <a:r>
              <a:rPr lang="en-US" sz="2000" dirty="0" smtClean="0"/>
              <a:t> respond to events by carrying out the actions specified by the programmer.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Event based programs</a:t>
            </a:r>
            <a:r>
              <a:rPr lang="en-US" sz="2200" dirty="0" smtClean="0"/>
              <a:t> are generally a blend of more traditional code, either procedural or object-oriented, and </a:t>
            </a:r>
            <a:r>
              <a:rPr lang="en-US" sz="2200" i="1" dirty="0" smtClean="0">
                <a:solidFill>
                  <a:srgbClr val="C00000"/>
                </a:solidFill>
              </a:rPr>
              <a:t>event code</a:t>
            </a:r>
            <a:r>
              <a:rPr lang="en-US" sz="22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Methods and data structures</a:t>
            </a:r>
            <a:r>
              <a:rPr lang="en-US" sz="2200" dirty="0" smtClean="0"/>
              <a:t> in the traditional code will be accessed from the handlers.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519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Event-Driven Programming</vt:lpstr>
      <vt:lpstr>Objectives</vt:lpstr>
      <vt:lpstr>References</vt:lpstr>
      <vt:lpstr>What are Events? [1]</vt:lpstr>
      <vt:lpstr>Event Based Systems</vt:lpstr>
      <vt:lpstr>Discrete Systems</vt:lpstr>
      <vt:lpstr>Attributes of Event Based Systems</vt:lpstr>
      <vt:lpstr>The Event Based Programming Paradigm</vt:lpstr>
      <vt:lpstr>The Event Model</vt:lpstr>
      <vt:lpstr>Slide 10</vt:lpstr>
      <vt:lpstr>Thank You &amp; See You Again</vt:lpstr>
    </vt:vector>
  </TitlesOfParts>
  <Company>Huy 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</dc:title>
  <dc:creator>Ngo Huy Bien</dc:creator>
  <cp:lastModifiedBy>Ngo Huy Bien</cp:lastModifiedBy>
  <cp:revision>84</cp:revision>
  <dcterms:created xsi:type="dcterms:W3CDTF">2008-11-28T09:04:45Z</dcterms:created>
  <dcterms:modified xsi:type="dcterms:W3CDTF">2025-08-16T19:02:46Z</dcterms:modified>
</cp:coreProperties>
</file>