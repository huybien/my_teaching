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25"/>
  </p:handoutMasterIdLst>
  <p:sldIdLst>
    <p:sldId id="256" r:id="rId2"/>
    <p:sldId id="640" r:id="rId3"/>
    <p:sldId id="641" r:id="rId4"/>
    <p:sldId id="568" r:id="rId5"/>
    <p:sldId id="597" r:id="rId6"/>
    <p:sldId id="569" r:id="rId7"/>
    <p:sldId id="598" r:id="rId8"/>
    <p:sldId id="642" r:id="rId9"/>
    <p:sldId id="571" r:id="rId10"/>
    <p:sldId id="599" r:id="rId11"/>
    <p:sldId id="647" r:id="rId12"/>
    <p:sldId id="648" r:id="rId13"/>
    <p:sldId id="649" r:id="rId14"/>
    <p:sldId id="582" r:id="rId15"/>
    <p:sldId id="596" r:id="rId16"/>
    <p:sldId id="644" r:id="rId17"/>
    <p:sldId id="650" r:id="rId18"/>
    <p:sldId id="651" r:id="rId19"/>
    <p:sldId id="652" r:id="rId20"/>
    <p:sldId id="653" r:id="rId21"/>
    <p:sldId id="654" r:id="rId22"/>
    <p:sldId id="655" r:id="rId23"/>
    <p:sldId id="343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94" autoAdjust="0"/>
    <p:restoredTop sz="86395" autoAdjust="0"/>
  </p:normalViewPr>
  <p:slideViewPr>
    <p:cSldViewPr>
      <p:cViewPr>
        <p:scale>
          <a:sx n="60" d="100"/>
          <a:sy n="60" d="100"/>
        </p:scale>
        <p:origin x="-1152" y="-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35" y="548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FDA4D-8CD1-4FA2-95F7-D41AF21D1346}" type="datetimeFigureOut">
              <a:rPr lang="en-US" smtClean="0"/>
              <a:pPr/>
              <a:t>6/21/2016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B9C43-0625-4BA9-96A9-4A361349D7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package" Target="../embeddings/Microsoft_Office_Word_Document2.docx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png"/><Relationship Id="rId4" Type="http://schemas.openxmlformats.org/officeDocument/2006/relationships/package" Target="../embeddings/Microsoft_Office_Word_Document4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3.png"/><Relationship Id="rId4" Type="http://schemas.openxmlformats.org/officeDocument/2006/relationships/package" Target="../embeddings/Microsoft_Office_Word_Document6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6.png"/><Relationship Id="rId4" Type="http://schemas.openxmlformats.org/officeDocument/2006/relationships/package" Target="../embeddings/Microsoft_Office_Word_Document7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5.png"/><Relationship Id="rId4" Type="http://schemas.openxmlformats.org/officeDocument/2006/relationships/package" Target="../embeddings/Microsoft_Office_Word_Document9.docx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4.png"/><Relationship Id="rId4" Type="http://schemas.openxmlformats.org/officeDocument/2006/relationships/package" Target="../embeddings/Microsoft_Office_Word_Document11.docx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Object Relationships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334000" cy="4343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one-to-one, one-to-many, many-to-one, many-to-many relationship.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relationships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what is </a:t>
            </a:r>
            <a:r>
              <a:rPr lang="en-US" sz="2200" i="1" dirty="0" smtClean="0">
                <a:solidFill>
                  <a:srgbClr val="C00000"/>
                </a:solidFill>
              </a:rPr>
              <a:t>association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association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what is </a:t>
            </a:r>
            <a:r>
              <a:rPr lang="en-US" sz="2200" i="1" dirty="0" smtClean="0">
                <a:solidFill>
                  <a:srgbClr val="C00000"/>
                </a:solidFill>
              </a:rPr>
              <a:t>aggregation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aggregation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what is </a:t>
            </a:r>
            <a:r>
              <a:rPr lang="en-US" sz="2200" i="1" dirty="0" smtClean="0">
                <a:solidFill>
                  <a:srgbClr val="C00000"/>
                </a:solidFill>
              </a:rPr>
              <a:t>composition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composition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</a:t>
            </a:r>
            <a:r>
              <a:rPr lang="en-US" sz="2200" dirty="0" smtClean="0"/>
              <a:t>create a </a:t>
            </a:r>
            <a:r>
              <a:rPr lang="en-US" sz="2200" i="1" dirty="0" smtClean="0">
                <a:solidFill>
                  <a:srgbClr val="C00000"/>
                </a:solidFill>
              </a:rPr>
              <a:t>collaboration</a:t>
            </a:r>
            <a:r>
              <a:rPr lang="en-US" sz="2200" dirty="0" smtClean="0"/>
              <a:t>.</a:t>
            </a:r>
            <a:endParaRPr lang="en-US" sz="22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8384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867400" cy="4419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Jim Keogh and Mario </a:t>
            </a:r>
            <a:r>
              <a:rPr lang="en-US" sz="2400" dirty="0" err="1" smtClean="0"/>
              <a:t>Giannini</a:t>
            </a:r>
            <a:r>
              <a:rPr lang="en-US" sz="2400" dirty="0" smtClean="0"/>
              <a:t>. OOP Demystified: A Self-Teaching Guide.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Craig </a:t>
            </a:r>
            <a:r>
              <a:rPr lang="en-US" sz="2400" dirty="0" err="1" smtClean="0"/>
              <a:t>Larman</a:t>
            </a:r>
            <a:r>
              <a:rPr lang="en-US" sz="2400" dirty="0" smtClean="0"/>
              <a:t>. Applying UML And Patterns. Addison Wesley Professional. 2004.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One-To-One Relationship [1]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1626513"/>
            <a:ext cx="68580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One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instance of an entity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is related to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only one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 of another entity.</a:t>
            </a:r>
          </a:p>
        </p:txBody>
      </p:sp>
      <p:pic>
        <p:nvPicPr>
          <p:cNvPr id="809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514600"/>
            <a:ext cx="4114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7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895600"/>
            <a:ext cx="3781044" cy="1019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4419600"/>
            <a:ext cx="42830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One-To-One Example</a:t>
            </a:r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76200" y="1454150"/>
          <a:ext cx="5740400" cy="5137150"/>
        </p:xfrm>
        <a:graphic>
          <a:graphicData uri="http://schemas.openxmlformats.org/presentationml/2006/ole">
            <p:oleObj spid="_x0000_s71682" name="Document" r:id="rId3" imgW="5940848" imgH="5169801" progId="Word.Document.12">
              <p:embed/>
            </p:oleObj>
          </a:graphicData>
        </a:graphic>
      </p:graphicFrame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3590925"/>
            <a:ext cx="374904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5264150" y="1600200"/>
          <a:ext cx="3270250" cy="1657350"/>
        </p:xfrm>
        <a:graphic>
          <a:graphicData uri="http://schemas.openxmlformats.org/presentationml/2006/ole">
            <p:oleObj spid="_x0000_s71685" name="Document" r:id="rId5" imgW="3435689" imgH="175319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One-To-Many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26513"/>
            <a:ext cx="67056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One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instance of an entity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is related to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many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instances of another entity.</a:t>
            </a:r>
          </a:p>
        </p:txBody>
      </p:sp>
      <p:pic>
        <p:nvPicPr>
          <p:cNvPr id="8192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67000"/>
            <a:ext cx="3810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819400"/>
            <a:ext cx="3689604" cy="1001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1850" y="4191000"/>
            <a:ext cx="427355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6"/>
          <p:cNvGraphicFramePr>
            <a:graphicFrameLocks noChangeAspect="1"/>
          </p:cNvGraphicFramePr>
          <p:nvPr/>
        </p:nvGraphicFramePr>
        <p:xfrm>
          <a:off x="-76200" y="1193800"/>
          <a:ext cx="5645150" cy="5588000"/>
        </p:xfrm>
        <a:graphic>
          <a:graphicData uri="http://schemas.openxmlformats.org/presentationml/2006/ole">
            <p:oleObj spid="_x0000_s39938" name="Document" r:id="rId3" imgW="5940848" imgH="5896962" progId="Word.Document.12">
              <p:embed/>
            </p:oleObj>
          </a:graphicData>
        </a:graphic>
      </p:graphicFrame>
      <p:sp>
        <p:nvSpPr>
          <p:cNvPr id="399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One-To-Many Example</a:t>
            </a:r>
          </a:p>
        </p:txBody>
      </p:sp>
      <p:graphicFrame>
        <p:nvGraphicFramePr>
          <p:cNvPr id="39939" name="Object 8"/>
          <p:cNvGraphicFramePr>
            <a:graphicFrameLocks noChangeAspect="1"/>
          </p:cNvGraphicFramePr>
          <p:nvPr/>
        </p:nvGraphicFramePr>
        <p:xfrm>
          <a:off x="4419600" y="1273175"/>
          <a:ext cx="5842000" cy="4679950"/>
        </p:xfrm>
        <a:graphic>
          <a:graphicData uri="http://schemas.openxmlformats.org/presentationml/2006/ole">
            <p:oleObj spid="_x0000_s39939" name="Document" r:id="rId4" imgW="5940848" imgH="4766023" progId="Word.Document.12">
              <p:embed/>
            </p:oleObj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800" y="5715000"/>
            <a:ext cx="216693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Many-To-One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821359"/>
            <a:ext cx="71628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Many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instances of 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entity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is related to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only one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 of another entity.</a:t>
            </a: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0"/>
            <a:ext cx="39052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200400"/>
            <a:ext cx="4000500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2775" y="4419600"/>
            <a:ext cx="4492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Many-To-Many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4676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Many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instances of 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entity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is related to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many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instances of another entity.</a:t>
            </a:r>
          </a:p>
        </p:txBody>
      </p:sp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438400"/>
            <a:ext cx="26955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2819400"/>
            <a:ext cx="4062413" cy="106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4267200"/>
            <a:ext cx="4298950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Many-To-Many Example</a:t>
            </a: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152400" y="1066800"/>
          <a:ext cx="6140450" cy="5683250"/>
        </p:xfrm>
        <a:graphic>
          <a:graphicData uri="http://schemas.openxmlformats.org/presentationml/2006/ole">
            <p:oleObj spid="_x0000_s40962" name="Document" r:id="rId3" imgW="5940848" imgH="5509768" progId="Word.Document.12">
              <p:embed/>
            </p:oleObj>
          </a:graphicData>
        </a:graphic>
      </p:graphicFrame>
      <p:graphicFrame>
        <p:nvGraphicFramePr>
          <p:cNvPr id="40963" name="Object 4"/>
          <p:cNvGraphicFramePr>
            <a:graphicFrameLocks noChangeAspect="1"/>
          </p:cNvGraphicFramePr>
          <p:nvPr/>
        </p:nvGraphicFramePr>
        <p:xfrm>
          <a:off x="4419600" y="1295400"/>
          <a:ext cx="5943600" cy="3130550"/>
        </p:xfrm>
        <a:graphic>
          <a:graphicData uri="http://schemas.openxmlformats.org/presentationml/2006/ole">
            <p:oleObj spid="_x0000_s40963" name="Document" r:id="rId4" imgW="5940848" imgH="3141177" progId="Word.Document.12">
              <p:embed/>
            </p:oleObj>
          </a:graphicData>
        </a:graphic>
      </p:graphicFrame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4038600"/>
            <a:ext cx="3410712" cy="180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[1]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200" y="1371600"/>
            <a:ext cx="3429000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object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uses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another 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object.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3886200"/>
            <a:ext cx="2438400" cy="400110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“Uses A” relationship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301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057400"/>
            <a:ext cx="20002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3010" name="Object 7"/>
          <p:cNvGraphicFramePr>
            <a:graphicFrameLocks noChangeAspect="1"/>
          </p:cNvGraphicFramePr>
          <p:nvPr/>
        </p:nvGraphicFramePr>
        <p:xfrm>
          <a:off x="304800" y="1371600"/>
          <a:ext cx="6149975" cy="5334000"/>
        </p:xfrm>
        <a:graphic>
          <a:graphicData uri="http://schemas.openxmlformats.org/presentationml/2006/ole">
            <p:oleObj spid="_x0000_s67586" name="Document" r:id="rId4" imgW="6149552" imgH="5341046" progId="Word.Document.12">
              <p:embed/>
            </p:oleObj>
          </a:graphicData>
        </a:graphic>
      </p:graphicFrame>
      <p:pic>
        <p:nvPicPr>
          <p:cNvPr id="43015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4550" y="4648200"/>
            <a:ext cx="27622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[2]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62200" y="5801380"/>
            <a:ext cx="426720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+mj-lt"/>
              </a:rPr>
              <a:t>RELATED TO Relationship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88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581400"/>
            <a:ext cx="38100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191000" y="2895600"/>
            <a:ext cx="4724400" cy="26670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class Flight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public void Flight(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Airport from , Airport to)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association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is a relationship between classes (more precisely, instances of those classes) that indicates some meaningful and interesting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connection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524000" y="3200400"/>
            <a:ext cx="0" cy="5334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Association? 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75" y="2066925"/>
            <a:ext cx="39052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[1]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371600"/>
            <a:ext cx="5410200" cy="4308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dirty="0">
                <a:solidFill>
                  <a:schemeClr val="bg1"/>
                </a:solidFill>
                <a:latin typeface="+mj-lt"/>
              </a:rPr>
              <a:t>Complex object is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composed of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other objects.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5400" y="3886200"/>
            <a:ext cx="2667000" cy="461665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“Has A” relationship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499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343400"/>
            <a:ext cx="13716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4724400"/>
            <a:ext cx="19050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2057400"/>
            <a:ext cx="2857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000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4572000"/>
            <a:ext cx="19050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Car Example</a:t>
            </a:r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50800" y="1219200"/>
          <a:ext cx="5740400" cy="5240338"/>
        </p:xfrm>
        <a:graphic>
          <a:graphicData uri="http://schemas.openxmlformats.org/presentationml/2006/ole">
            <p:oleObj spid="_x0000_s41986" name="Document" r:id="rId3" imgW="5940848" imgH="5241544" progId="Word.Document.12">
              <p:embed/>
            </p:oleObj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4419600" y="1219200"/>
          <a:ext cx="5943600" cy="5670550"/>
        </p:xfrm>
        <a:graphic>
          <a:graphicData uri="http://schemas.openxmlformats.org/presentationml/2006/ole">
            <p:oleObj spid="_x0000_s41987" name="Document" r:id="rId4" imgW="5940848" imgH="5684618" progId="Word.Document.12">
              <p:embed/>
            </p:oleObj>
          </a:graphicData>
        </a:graphic>
      </p:graphicFrame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5486400"/>
            <a:ext cx="2395728" cy="850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[2]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04800" y="2667000"/>
            <a:ext cx="8534400" cy="32004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class Department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private List&lt;Teacher&gt; teachers;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public void Department(List&lt;Teacher&gt; teachers)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this.teachers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teachers;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542871"/>
            <a:ext cx="8534400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aggregation</a:t>
            </a:r>
            <a:r>
              <a:rPr lang="en-US" sz="2400" dirty="0" smtClean="0">
                <a:solidFill>
                  <a:schemeClr val="tx1"/>
                </a:solidFill>
              </a:rPr>
              <a:t> is a property of an association representing a </a:t>
            </a:r>
            <a:r>
              <a:rPr lang="en-US" sz="2400" u="sng" dirty="0" smtClean="0"/>
              <a:t>whole-part</a:t>
            </a:r>
            <a:r>
              <a:rPr lang="en-US" sz="2400" dirty="0" smtClean="0"/>
              <a:t> relationship and (usually) life-time containment.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6019800"/>
            <a:ext cx="304800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+mj-lt"/>
              </a:rPr>
              <a:t>HAS A Relationship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876800"/>
            <a:ext cx="23812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6629400" y="5334000"/>
            <a:ext cx="685800" cy="2286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410200" y="2743200"/>
            <a:ext cx="3581400" cy="32004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class Hand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private List&lt;Finger&gt; fingers;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public void Hand()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this.fingers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List&lt;Finger&gt;();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447800"/>
            <a:ext cx="4876800" cy="4493538"/>
          </a:xfrm>
          <a:prstGeom prst="rect">
            <a:avLst/>
          </a:prstGeom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composition</a:t>
            </a:r>
            <a:r>
              <a:rPr lang="en-US" sz="2200" dirty="0" smtClean="0">
                <a:latin typeface="+mj-lt"/>
              </a:rPr>
              <a:t> relationship implies that</a:t>
            </a:r>
          </a:p>
          <a:p>
            <a:pPr marL="457200" indent="-457200">
              <a:buAutoNum type="arabicParenR"/>
            </a:pPr>
            <a:r>
              <a:rPr lang="en-US" sz="2200" dirty="0" smtClean="0">
                <a:latin typeface="+mj-lt"/>
              </a:rPr>
              <a:t>an instance of the part (such as a Finger) belongs to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only one </a:t>
            </a:r>
            <a:r>
              <a:rPr lang="en-US" sz="2200" dirty="0" smtClean="0">
                <a:latin typeface="+mj-lt"/>
              </a:rPr>
              <a:t>composite instance (such as one Hand) at a time,</a:t>
            </a:r>
          </a:p>
          <a:p>
            <a:pPr marL="457200" indent="-457200">
              <a:buAutoNum type="arabicParenR"/>
            </a:pPr>
            <a:r>
              <a:rPr lang="en-US" sz="2200" dirty="0" smtClean="0">
                <a:latin typeface="+mj-lt"/>
              </a:rPr>
              <a:t>the part must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always belong</a:t>
            </a:r>
            <a:r>
              <a:rPr lang="en-US" sz="2200" dirty="0" smtClean="0">
                <a:latin typeface="+mj-lt"/>
              </a:rPr>
              <a:t> to a composite (no free-floating Fingers), and</a:t>
            </a:r>
          </a:p>
          <a:p>
            <a:pPr marL="457200" indent="-457200">
              <a:buAutoNum type="arabicParenR"/>
            </a:pPr>
            <a:r>
              <a:rPr lang="en-US" sz="2200" dirty="0" smtClean="0">
                <a:latin typeface="+mj-lt"/>
              </a:rPr>
              <a:t>the composite is responsible for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creation</a:t>
            </a:r>
            <a:r>
              <a:rPr lang="en-US" sz="2200" dirty="0" smtClean="0">
                <a:latin typeface="+mj-lt"/>
              </a:rPr>
              <a:t> and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deletion</a:t>
            </a:r>
            <a:r>
              <a:rPr lang="en-US" sz="2200" dirty="0" smtClean="0">
                <a:latin typeface="+mj-lt"/>
              </a:rPr>
              <a:t> of its parts either by itself creating/deleting the parts, or by collaborating with other objects.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5867400"/>
            <a:ext cx="304800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+mj-lt"/>
              </a:rPr>
              <a:t>HAS A Relationship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371600"/>
            <a:ext cx="340042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6172200" y="1752600"/>
            <a:ext cx="533400" cy="45720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Why Aggregation and Composition? </a:t>
            </a:r>
            <a:endParaRPr lang="en-US" dirty="0"/>
          </a:p>
        </p:txBody>
      </p:sp>
      <p:pic>
        <p:nvPicPr>
          <p:cNvPr id="65538" name="Picture 2" descr="https://media.licdn.com/mpr/mpr/jc/AAEAAQAAAAAAAAGvAAAAJDgwMWFjNGRiLTcxMWEtNDk1MS04N2IxLTA4MjM4YjdhZGY1M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752725"/>
            <a:ext cx="4114800" cy="2352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76400"/>
            <a:ext cx="753427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Collaboration [1]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219200"/>
            <a:ext cx="55626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Cooperation of objects to achieve a strategic objective.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38400"/>
            <a:ext cx="14811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Responsibility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0" y="2590800"/>
            <a:ext cx="100965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524000"/>
            <a:ext cx="100965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6248400"/>
            <a:ext cx="14811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Responsibility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Class Responsibility Collaborator (CRC)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7907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u="sng" dirty="0" smtClean="0">
                          <a:solidFill>
                            <a:schemeClr val="bg1"/>
                          </a:solidFill>
                          <a:latin typeface="Consolas" pitchFamily="49" charset="0"/>
                        </a:rPr>
                        <a:t>Class</a:t>
                      </a:r>
                    </a:p>
                    <a:p>
                      <a:pPr lvl="1"/>
                      <a:r>
                        <a:rPr lang="en-US" sz="2400" dirty="0" smtClean="0"/>
                        <a:t>Registrar</a:t>
                      </a:r>
                      <a:endParaRPr lang="en-US" sz="2400" b="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800" b="1" u="sng" dirty="0" smtClean="0">
                          <a:latin typeface="Consolas" pitchFamily="49" charset="0"/>
                        </a:rPr>
                        <a:t>Collaborators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400" b="0" dirty="0" smtClean="0"/>
                        <a:t> Student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400" b="0" dirty="0" smtClean="0"/>
                        <a:t> Course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400" b="0" baseline="0" dirty="0" smtClean="0"/>
                        <a:t> Enrolment</a:t>
                      </a:r>
                      <a:endParaRPr lang="en-US" sz="2400" b="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 sz="28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u="sng" dirty="0" smtClean="0">
                          <a:latin typeface="Consolas" pitchFamily="49" charset="0"/>
                        </a:rPr>
                        <a:t>Responsibility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 smtClean="0"/>
                        <a:t> </a:t>
                      </a:r>
                      <a:r>
                        <a:rPr lang="en-US" sz="2400" dirty="0" smtClean="0"/>
                        <a:t>Link Student and Course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400" dirty="0" smtClean="0"/>
                        <a:t> Remove </a:t>
                      </a:r>
                      <a:r>
                        <a:rPr lang="en-US" sz="2400" smtClean="0"/>
                        <a:t>Link between</a:t>
                      </a:r>
                      <a:r>
                        <a:rPr lang="en-US" sz="2400" baseline="0" smtClean="0"/>
                        <a:t> </a:t>
                      </a:r>
                      <a:r>
                        <a:rPr lang="en-US" sz="2400" smtClean="0"/>
                        <a:t>Student </a:t>
                      </a:r>
                      <a:r>
                        <a:rPr lang="en-US" sz="2400" dirty="0" smtClean="0"/>
                        <a:t>and Course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400" baseline="0" dirty="0" smtClean="0"/>
                        <a:t> Find Link between Student and Course</a:t>
                      </a:r>
                      <a:endParaRPr lang="en-US" sz="240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910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3581400"/>
            <a:ext cx="30099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Collaboration Example</a:t>
            </a:r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3505200" y="1143000"/>
          <a:ext cx="6153150" cy="5472113"/>
        </p:xfrm>
        <a:graphic>
          <a:graphicData uri="http://schemas.openxmlformats.org/presentationml/2006/ole">
            <p:oleObj spid="_x0000_s72706" name="Document" r:id="rId3" imgW="6152388" imgH="5471541" progId="Word.Document.12">
              <p:embed/>
            </p:oleObj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-152400" y="1219200"/>
          <a:ext cx="6153150" cy="4752975"/>
        </p:xfrm>
        <a:graphic>
          <a:graphicData uri="http://schemas.openxmlformats.org/presentationml/2006/ole">
            <p:oleObj spid="_x0000_s72707" name="Document" r:id="rId4" imgW="6152388" imgH="4752213" progId="Word.Document.12">
              <p:embed/>
            </p:oleObj>
          </a:graphicData>
        </a:graphic>
      </p:graphicFrame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" y="5905500"/>
            <a:ext cx="42291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for </a:t>
            </a:r>
            <a:r>
              <a:rPr lang="en-US" dirty="0" smtClean="0"/>
              <a:t>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9772</TotalTime>
  <Words>430</Words>
  <Application>Microsoft Office PowerPoint</Application>
  <PresentationFormat>On-screen Show (4:3)</PresentationFormat>
  <Paragraphs>95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Document</vt:lpstr>
      <vt:lpstr>Object Relationships</vt:lpstr>
      <vt:lpstr>Objectives</vt:lpstr>
      <vt:lpstr>References</vt:lpstr>
      <vt:lpstr>One-To-One Relationship [1]</vt:lpstr>
      <vt:lpstr>One-To-One Example</vt:lpstr>
      <vt:lpstr>One-To-Many Relationship</vt:lpstr>
      <vt:lpstr>One-To-Many Example</vt:lpstr>
      <vt:lpstr>Many-To-One Relationship</vt:lpstr>
      <vt:lpstr>Many-To-Many Relationship</vt:lpstr>
      <vt:lpstr>Many-To-Many Example</vt:lpstr>
      <vt:lpstr>Association [1]</vt:lpstr>
      <vt:lpstr>Association [2]</vt:lpstr>
      <vt:lpstr>Why Association? </vt:lpstr>
      <vt:lpstr>Aggregation [1]</vt:lpstr>
      <vt:lpstr>Car Example</vt:lpstr>
      <vt:lpstr>Aggregation [2]</vt:lpstr>
      <vt:lpstr>Composition</vt:lpstr>
      <vt:lpstr>Why Aggregation and Composition? </vt:lpstr>
      <vt:lpstr>Slide 19</vt:lpstr>
      <vt:lpstr>Collaboration [1]</vt:lpstr>
      <vt:lpstr>Class Responsibility Collaborator (CRC)</vt:lpstr>
      <vt:lpstr>Collaboration Example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admin</cp:lastModifiedBy>
  <cp:revision>4059</cp:revision>
  <dcterms:created xsi:type="dcterms:W3CDTF">2007-10-06T08:25:13Z</dcterms:created>
  <dcterms:modified xsi:type="dcterms:W3CDTF">2016-06-20T17:09:27Z</dcterms:modified>
</cp:coreProperties>
</file>