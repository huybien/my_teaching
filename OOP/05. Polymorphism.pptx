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Default Extension="docx" ContentType="application/vnd.openxmlformats-officedocument.wordprocessingml.document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handoutMasterIdLst>
    <p:handoutMasterId r:id="rId18"/>
  </p:handoutMasterIdLst>
  <p:sldIdLst>
    <p:sldId id="256" r:id="rId2"/>
    <p:sldId id="640" r:id="rId3"/>
    <p:sldId id="641" r:id="rId4"/>
    <p:sldId id="652" r:id="rId5"/>
    <p:sldId id="619" r:id="rId6"/>
    <p:sldId id="620" r:id="rId7"/>
    <p:sldId id="621" r:id="rId8"/>
    <p:sldId id="623" r:id="rId9"/>
    <p:sldId id="622" r:id="rId10"/>
    <p:sldId id="653" r:id="rId11"/>
    <p:sldId id="651" r:id="rId12"/>
    <p:sldId id="624" r:id="rId13"/>
    <p:sldId id="631" r:id="rId14"/>
    <p:sldId id="477" r:id="rId15"/>
    <p:sldId id="644" r:id="rId16"/>
    <p:sldId id="343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58" autoAdjust="0"/>
    <p:restoredTop sz="94667" autoAdjust="0"/>
  </p:normalViewPr>
  <p:slideViewPr>
    <p:cSldViewPr>
      <p:cViewPr>
        <p:scale>
          <a:sx n="60" d="100"/>
          <a:sy n="60" d="100"/>
        </p:scale>
        <p:origin x="-1361" y="-1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32CE37-2371-4DCE-985E-25CF927658FB}" type="doc">
      <dgm:prSet loTypeId="urn:microsoft.com/office/officeart/2005/8/layout/radial5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11A1868-45F5-48DC-A852-56F0EBD7BB06}">
      <dgm:prSet phldrT="[Text]" custT="1"/>
      <dgm:spPr/>
      <dgm:t>
        <a:bodyPr/>
        <a:lstStyle/>
        <a:p>
          <a:r>
            <a:rPr lang="en-US" sz="1400" dirty="0" smtClean="0"/>
            <a:t>Open</a:t>
          </a:r>
          <a:endParaRPr lang="en-US" sz="1400" dirty="0"/>
        </a:p>
      </dgm:t>
    </dgm:pt>
    <dgm:pt modelId="{B5DAC6F1-A8A4-438B-BC39-CED05D057335}" type="parTrans" cxnId="{46CD112B-60D3-4A1F-9424-8789FD3DF6AA}">
      <dgm:prSet/>
      <dgm:spPr/>
      <dgm:t>
        <a:bodyPr/>
        <a:lstStyle/>
        <a:p>
          <a:endParaRPr lang="en-US" sz="1200"/>
        </a:p>
      </dgm:t>
    </dgm:pt>
    <dgm:pt modelId="{187B3328-33D6-46B8-A3C9-D93FEA510BF2}" type="sibTrans" cxnId="{46CD112B-60D3-4A1F-9424-8789FD3DF6AA}">
      <dgm:prSet/>
      <dgm:spPr/>
      <dgm:t>
        <a:bodyPr/>
        <a:lstStyle/>
        <a:p>
          <a:endParaRPr lang="en-US" sz="1200"/>
        </a:p>
      </dgm:t>
    </dgm:pt>
    <dgm:pt modelId="{0E67D864-98D0-4224-A89E-59DEFAE175CA}">
      <dgm:prSet phldrT="[Text]" custT="1"/>
      <dgm:spPr/>
      <dgm:t>
        <a:bodyPr/>
        <a:lstStyle/>
        <a:p>
          <a:r>
            <a:rPr lang="en-US" sz="1400" dirty="0" smtClean="0"/>
            <a:t>Doors</a:t>
          </a:r>
        </a:p>
        <a:p>
          <a:r>
            <a:rPr lang="en-US" sz="1400" dirty="0" smtClean="0"/>
            <a:t>Windows</a:t>
          </a:r>
          <a:endParaRPr lang="en-US" sz="1400" dirty="0"/>
        </a:p>
      </dgm:t>
    </dgm:pt>
    <dgm:pt modelId="{C517494B-BDCE-4649-9215-85FA54EB23BD}" type="parTrans" cxnId="{50E3524C-1F5D-45D4-B5F5-3C180D2FDFA2}">
      <dgm:prSet custT="1"/>
      <dgm:spPr/>
      <dgm:t>
        <a:bodyPr/>
        <a:lstStyle/>
        <a:p>
          <a:endParaRPr lang="en-US" sz="1200"/>
        </a:p>
      </dgm:t>
    </dgm:pt>
    <dgm:pt modelId="{19B1E430-B293-4CD1-BCBB-6A1E3AAA356F}" type="sibTrans" cxnId="{50E3524C-1F5D-45D4-B5F5-3C180D2FDFA2}">
      <dgm:prSet/>
      <dgm:spPr/>
      <dgm:t>
        <a:bodyPr/>
        <a:lstStyle/>
        <a:p>
          <a:endParaRPr lang="en-US" sz="1200"/>
        </a:p>
      </dgm:t>
    </dgm:pt>
    <dgm:pt modelId="{6FB57800-5F00-4827-8A64-5D5E3D5D9E18}">
      <dgm:prSet phldrT="[Text]" custT="1"/>
      <dgm:spPr/>
      <dgm:t>
        <a:bodyPr/>
        <a:lstStyle/>
        <a:p>
          <a:r>
            <a:rPr lang="en-US" sz="1400" dirty="0" smtClean="0"/>
            <a:t>Minds</a:t>
          </a:r>
        </a:p>
        <a:p>
          <a:r>
            <a:rPr lang="en-US" sz="1400" dirty="0" smtClean="0"/>
            <a:t>Hearts</a:t>
          </a:r>
          <a:endParaRPr lang="en-US" sz="1400" dirty="0"/>
        </a:p>
      </dgm:t>
    </dgm:pt>
    <dgm:pt modelId="{B9D025AC-5CBD-4B1A-8CE4-C9BFE9615BA0}" type="parTrans" cxnId="{B2A94F27-FE41-4D02-B39F-242939F92884}">
      <dgm:prSet custT="1"/>
      <dgm:spPr/>
      <dgm:t>
        <a:bodyPr/>
        <a:lstStyle/>
        <a:p>
          <a:endParaRPr lang="en-US" sz="1200"/>
        </a:p>
      </dgm:t>
    </dgm:pt>
    <dgm:pt modelId="{18CD41E7-FAA2-4368-AC2B-5D76EC795A4F}" type="sibTrans" cxnId="{B2A94F27-FE41-4D02-B39F-242939F92884}">
      <dgm:prSet/>
      <dgm:spPr/>
      <dgm:t>
        <a:bodyPr/>
        <a:lstStyle/>
        <a:p>
          <a:endParaRPr lang="en-US" sz="1200"/>
        </a:p>
      </dgm:t>
    </dgm:pt>
    <dgm:pt modelId="{A563B18F-3CFA-4F94-82CF-6A9FFC88C21C}">
      <dgm:prSet phldrT="[Text]" custT="1"/>
      <dgm:spPr/>
      <dgm:t>
        <a:bodyPr/>
        <a:lstStyle/>
        <a:p>
          <a:r>
            <a:rPr lang="en-US" sz="1400" dirty="0" smtClean="0"/>
            <a:t>Bank Account</a:t>
          </a:r>
          <a:endParaRPr lang="en-US" sz="1400" dirty="0"/>
        </a:p>
      </dgm:t>
    </dgm:pt>
    <dgm:pt modelId="{BF1C73A4-8340-497F-9B15-E2239DF685C2}" type="parTrans" cxnId="{CDBBFF4A-468C-4D81-A1FE-BFF1E433C025}">
      <dgm:prSet custT="1"/>
      <dgm:spPr/>
      <dgm:t>
        <a:bodyPr/>
        <a:lstStyle/>
        <a:p>
          <a:endParaRPr lang="en-US" sz="1200"/>
        </a:p>
      </dgm:t>
    </dgm:pt>
    <dgm:pt modelId="{4F6CFE05-8B35-45BD-9CDC-F9B3A4347E7A}" type="sibTrans" cxnId="{CDBBFF4A-468C-4D81-A1FE-BFF1E433C025}">
      <dgm:prSet/>
      <dgm:spPr/>
      <dgm:t>
        <a:bodyPr/>
        <a:lstStyle/>
        <a:p>
          <a:endParaRPr lang="en-US" sz="1200"/>
        </a:p>
      </dgm:t>
    </dgm:pt>
    <dgm:pt modelId="{F0441DE1-5328-48E0-928E-6AEEAF6AA677}">
      <dgm:prSet phldrT="[Text]" custT="1"/>
      <dgm:spPr/>
      <dgm:t>
        <a:bodyPr/>
        <a:lstStyle/>
        <a:p>
          <a:r>
            <a:rPr lang="en-US" sz="1400" dirty="0" smtClean="0"/>
            <a:t>Eyes</a:t>
          </a:r>
        </a:p>
        <a:p>
          <a:r>
            <a:rPr lang="en-US" sz="1400" dirty="0" smtClean="0"/>
            <a:t>Arms</a:t>
          </a:r>
          <a:endParaRPr lang="en-US" sz="1400" dirty="0"/>
        </a:p>
      </dgm:t>
    </dgm:pt>
    <dgm:pt modelId="{819C9ADE-BCF0-4DBD-91A9-5F5D832E1C2F}" type="parTrans" cxnId="{B4DEF069-9882-48C1-BBA1-B5882DFCFA0C}">
      <dgm:prSet custT="1"/>
      <dgm:spPr/>
      <dgm:t>
        <a:bodyPr/>
        <a:lstStyle/>
        <a:p>
          <a:endParaRPr lang="en-US" sz="1200"/>
        </a:p>
      </dgm:t>
    </dgm:pt>
    <dgm:pt modelId="{2BE1CFBD-C5B8-4974-B9C3-0304FDAA1398}" type="sibTrans" cxnId="{B4DEF069-9882-48C1-BBA1-B5882DFCFA0C}">
      <dgm:prSet/>
      <dgm:spPr/>
      <dgm:t>
        <a:bodyPr/>
        <a:lstStyle/>
        <a:p>
          <a:endParaRPr lang="en-US" sz="1200"/>
        </a:p>
      </dgm:t>
    </dgm:pt>
    <dgm:pt modelId="{69D71402-1769-408C-BE52-1F813542F928}" type="pres">
      <dgm:prSet presAssocID="{7632CE37-2371-4DCE-985E-25CF927658FB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A7AFB57-600F-4A97-97A6-FE94D049D93E}" type="pres">
      <dgm:prSet presAssocID="{211A1868-45F5-48DC-A852-56F0EBD7BB06}" presName="centerShape" presStyleLbl="node0" presStyleIdx="0" presStyleCnt="1"/>
      <dgm:spPr/>
      <dgm:t>
        <a:bodyPr/>
        <a:lstStyle/>
        <a:p>
          <a:endParaRPr lang="en-US"/>
        </a:p>
      </dgm:t>
    </dgm:pt>
    <dgm:pt modelId="{6730823B-DC7F-47DB-B3B6-C6BC6733A70A}" type="pres">
      <dgm:prSet presAssocID="{C517494B-BDCE-4649-9215-85FA54EB23BD}" presName="parTrans" presStyleLbl="sibTrans2D1" presStyleIdx="0" presStyleCnt="4"/>
      <dgm:spPr/>
      <dgm:t>
        <a:bodyPr/>
        <a:lstStyle/>
        <a:p>
          <a:endParaRPr lang="en-US"/>
        </a:p>
      </dgm:t>
    </dgm:pt>
    <dgm:pt modelId="{3D3F10C0-430E-43EB-925D-6FD934AA01B7}" type="pres">
      <dgm:prSet presAssocID="{C517494B-BDCE-4649-9215-85FA54EB23BD}" presName="connectorText" presStyleLbl="sibTrans2D1" presStyleIdx="0" presStyleCnt="4"/>
      <dgm:spPr/>
      <dgm:t>
        <a:bodyPr/>
        <a:lstStyle/>
        <a:p>
          <a:endParaRPr lang="en-US"/>
        </a:p>
      </dgm:t>
    </dgm:pt>
    <dgm:pt modelId="{D867A3ED-8600-4198-97F6-92DE65E9D3E5}" type="pres">
      <dgm:prSet presAssocID="{0E67D864-98D0-4224-A89E-59DEFAE175CA}" presName="node" presStyleLbl="node1" presStyleIdx="0" presStyleCnt="4" custScaleX="161387" custScaleY="1300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DEF25F5-E61D-4FB2-B9FD-4CD3E505F729}" type="pres">
      <dgm:prSet presAssocID="{B9D025AC-5CBD-4B1A-8CE4-C9BFE9615BA0}" presName="parTrans" presStyleLbl="sibTrans2D1" presStyleIdx="1" presStyleCnt="4"/>
      <dgm:spPr/>
      <dgm:t>
        <a:bodyPr/>
        <a:lstStyle/>
        <a:p>
          <a:endParaRPr lang="en-US"/>
        </a:p>
      </dgm:t>
    </dgm:pt>
    <dgm:pt modelId="{5375F6D8-6C41-4D3B-B262-A6B2D4B3B93E}" type="pres">
      <dgm:prSet presAssocID="{B9D025AC-5CBD-4B1A-8CE4-C9BFE9615BA0}" presName="connectorText" presStyleLbl="sibTrans2D1" presStyleIdx="1" presStyleCnt="4"/>
      <dgm:spPr/>
      <dgm:t>
        <a:bodyPr/>
        <a:lstStyle/>
        <a:p>
          <a:endParaRPr lang="en-US"/>
        </a:p>
      </dgm:t>
    </dgm:pt>
    <dgm:pt modelId="{AD3AF959-1208-4762-9199-7AC41A9DDA37}" type="pres">
      <dgm:prSet presAssocID="{6FB57800-5F00-4827-8A64-5D5E3D5D9E18}" presName="node" presStyleLbl="node1" presStyleIdx="1" presStyleCnt="4" custScaleX="158175" custScaleY="14985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B65066F-101C-4A0D-AECE-F31B246D80AF}" type="pres">
      <dgm:prSet presAssocID="{BF1C73A4-8340-497F-9B15-E2239DF685C2}" presName="parTrans" presStyleLbl="sibTrans2D1" presStyleIdx="2" presStyleCnt="4"/>
      <dgm:spPr/>
      <dgm:t>
        <a:bodyPr/>
        <a:lstStyle/>
        <a:p>
          <a:endParaRPr lang="en-US"/>
        </a:p>
      </dgm:t>
    </dgm:pt>
    <dgm:pt modelId="{9200CE7E-26A1-4FE7-B824-8D993ED397D3}" type="pres">
      <dgm:prSet presAssocID="{BF1C73A4-8340-497F-9B15-E2239DF685C2}" presName="connectorText" presStyleLbl="sibTrans2D1" presStyleIdx="2" presStyleCnt="4"/>
      <dgm:spPr/>
      <dgm:t>
        <a:bodyPr/>
        <a:lstStyle/>
        <a:p>
          <a:endParaRPr lang="en-US"/>
        </a:p>
      </dgm:t>
    </dgm:pt>
    <dgm:pt modelId="{07597298-0CE9-44F7-9AF4-BCA6070B3C08}" type="pres">
      <dgm:prSet presAssocID="{A563B18F-3CFA-4F94-82CF-6A9FFC88C21C}" presName="node" presStyleLbl="node1" presStyleIdx="2" presStyleCnt="4" custScaleX="161387" custScaleY="1300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60A8224-5FF2-4FF2-A5D6-F5DB5C80CCC0}" type="pres">
      <dgm:prSet presAssocID="{819C9ADE-BCF0-4DBD-91A9-5F5D832E1C2F}" presName="parTrans" presStyleLbl="sibTrans2D1" presStyleIdx="3" presStyleCnt="4"/>
      <dgm:spPr/>
      <dgm:t>
        <a:bodyPr/>
        <a:lstStyle/>
        <a:p>
          <a:endParaRPr lang="en-US"/>
        </a:p>
      </dgm:t>
    </dgm:pt>
    <dgm:pt modelId="{CAE5C835-9DC4-4842-8AFD-1074643E0839}" type="pres">
      <dgm:prSet presAssocID="{819C9ADE-BCF0-4DBD-91A9-5F5D832E1C2F}" presName="connectorText" presStyleLbl="sibTrans2D1" presStyleIdx="3" presStyleCnt="4"/>
      <dgm:spPr/>
      <dgm:t>
        <a:bodyPr/>
        <a:lstStyle/>
        <a:p>
          <a:endParaRPr lang="en-US"/>
        </a:p>
      </dgm:t>
    </dgm:pt>
    <dgm:pt modelId="{C8A2A92D-8771-40B8-978B-E1863E199847}" type="pres">
      <dgm:prSet presAssocID="{F0441DE1-5328-48E0-928E-6AEEAF6AA677}" presName="node" presStyleLbl="node1" presStyleIdx="3" presStyleCnt="4" custScaleX="158175" custScaleY="14985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DBBFF4A-468C-4D81-A1FE-BFF1E433C025}" srcId="{211A1868-45F5-48DC-A852-56F0EBD7BB06}" destId="{A563B18F-3CFA-4F94-82CF-6A9FFC88C21C}" srcOrd="2" destOrd="0" parTransId="{BF1C73A4-8340-497F-9B15-E2239DF685C2}" sibTransId="{4F6CFE05-8B35-45BD-9CDC-F9B3A4347E7A}"/>
    <dgm:cxn modelId="{047261F1-F354-4D30-80B7-DDF5FF48F9D6}" type="presOf" srcId="{C517494B-BDCE-4649-9215-85FA54EB23BD}" destId="{6730823B-DC7F-47DB-B3B6-C6BC6733A70A}" srcOrd="0" destOrd="0" presId="urn:microsoft.com/office/officeart/2005/8/layout/radial5"/>
    <dgm:cxn modelId="{AEFB90F4-028E-4DFD-A249-DB4297AB4BB3}" type="presOf" srcId="{BF1C73A4-8340-497F-9B15-E2239DF685C2}" destId="{9200CE7E-26A1-4FE7-B824-8D993ED397D3}" srcOrd="1" destOrd="0" presId="urn:microsoft.com/office/officeart/2005/8/layout/radial5"/>
    <dgm:cxn modelId="{137B0192-78E3-4A8A-96BE-3E5751F49800}" type="presOf" srcId="{F0441DE1-5328-48E0-928E-6AEEAF6AA677}" destId="{C8A2A92D-8771-40B8-978B-E1863E199847}" srcOrd="0" destOrd="0" presId="urn:microsoft.com/office/officeart/2005/8/layout/radial5"/>
    <dgm:cxn modelId="{5D239585-7850-48C6-837B-A48B0F5E26AE}" type="presOf" srcId="{B9D025AC-5CBD-4B1A-8CE4-C9BFE9615BA0}" destId="{5375F6D8-6C41-4D3B-B262-A6B2D4B3B93E}" srcOrd="1" destOrd="0" presId="urn:microsoft.com/office/officeart/2005/8/layout/radial5"/>
    <dgm:cxn modelId="{681E7D00-7BD7-4964-A773-1CABAC4AD846}" type="presOf" srcId="{211A1868-45F5-48DC-A852-56F0EBD7BB06}" destId="{EA7AFB57-600F-4A97-97A6-FE94D049D93E}" srcOrd="0" destOrd="0" presId="urn:microsoft.com/office/officeart/2005/8/layout/radial5"/>
    <dgm:cxn modelId="{4BFB5463-72AE-426A-9CCA-185C8970B08B}" type="presOf" srcId="{0E67D864-98D0-4224-A89E-59DEFAE175CA}" destId="{D867A3ED-8600-4198-97F6-92DE65E9D3E5}" srcOrd="0" destOrd="0" presId="urn:microsoft.com/office/officeart/2005/8/layout/radial5"/>
    <dgm:cxn modelId="{7C137036-1FF1-4908-86A8-B4B21DD2F1B2}" type="presOf" srcId="{819C9ADE-BCF0-4DBD-91A9-5F5D832E1C2F}" destId="{CAE5C835-9DC4-4842-8AFD-1074643E0839}" srcOrd="1" destOrd="0" presId="urn:microsoft.com/office/officeart/2005/8/layout/radial5"/>
    <dgm:cxn modelId="{46CD112B-60D3-4A1F-9424-8789FD3DF6AA}" srcId="{7632CE37-2371-4DCE-985E-25CF927658FB}" destId="{211A1868-45F5-48DC-A852-56F0EBD7BB06}" srcOrd="0" destOrd="0" parTransId="{B5DAC6F1-A8A4-438B-BC39-CED05D057335}" sibTransId="{187B3328-33D6-46B8-A3C9-D93FEA510BF2}"/>
    <dgm:cxn modelId="{FF00DCB4-05BF-4F07-87EE-0BB817FA759E}" type="presOf" srcId="{819C9ADE-BCF0-4DBD-91A9-5F5D832E1C2F}" destId="{760A8224-5FF2-4FF2-A5D6-F5DB5C80CCC0}" srcOrd="0" destOrd="0" presId="urn:microsoft.com/office/officeart/2005/8/layout/radial5"/>
    <dgm:cxn modelId="{CD67A55B-C972-41B6-9D96-2325EFB89AAD}" type="presOf" srcId="{6FB57800-5F00-4827-8A64-5D5E3D5D9E18}" destId="{AD3AF959-1208-4762-9199-7AC41A9DDA37}" srcOrd="0" destOrd="0" presId="urn:microsoft.com/office/officeart/2005/8/layout/radial5"/>
    <dgm:cxn modelId="{0082B070-BFBA-41AE-A44E-84D3DBA022FA}" type="presOf" srcId="{BF1C73A4-8340-497F-9B15-E2239DF685C2}" destId="{4B65066F-101C-4A0D-AECE-F31B246D80AF}" srcOrd="0" destOrd="0" presId="urn:microsoft.com/office/officeart/2005/8/layout/radial5"/>
    <dgm:cxn modelId="{50E3524C-1F5D-45D4-B5F5-3C180D2FDFA2}" srcId="{211A1868-45F5-48DC-A852-56F0EBD7BB06}" destId="{0E67D864-98D0-4224-A89E-59DEFAE175CA}" srcOrd="0" destOrd="0" parTransId="{C517494B-BDCE-4649-9215-85FA54EB23BD}" sibTransId="{19B1E430-B293-4CD1-BCBB-6A1E3AAA356F}"/>
    <dgm:cxn modelId="{E4A03594-2033-4950-AD76-3F73F5323710}" type="presOf" srcId="{C517494B-BDCE-4649-9215-85FA54EB23BD}" destId="{3D3F10C0-430E-43EB-925D-6FD934AA01B7}" srcOrd="1" destOrd="0" presId="urn:microsoft.com/office/officeart/2005/8/layout/radial5"/>
    <dgm:cxn modelId="{B4DEF069-9882-48C1-BBA1-B5882DFCFA0C}" srcId="{211A1868-45F5-48DC-A852-56F0EBD7BB06}" destId="{F0441DE1-5328-48E0-928E-6AEEAF6AA677}" srcOrd="3" destOrd="0" parTransId="{819C9ADE-BCF0-4DBD-91A9-5F5D832E1C2F}" sibTransId="{2BE1CFBD-C5B8-4974-B9C3-0304FDAA1398}"/>
    <dgm:cxn modelId="{14628D19-08D9-418E-93AD-645B78E44F6C}" type="presOf" srcId="{7632CE37-2371-4DCE-985E-25CF927658FB}" destId="{69D71402-1769-408C-BE52-1F813542F928}" srcOrd="0" destOrd="0" presId="urn:microsoft.com/office/officeart/2005/8/layout/radial5"/>
    <dgm:cxn modelId="{B2A94F27-FE41-4D02-B39F-242939F92884}" srcId="{211A1868-45F5-48DC-A852-56F0EBD7BB06}" destId="{6FB57800-5F00-4827-8A64-5D5E3D5D9E18}" srcOrd="1" destOrd="0" parTransId="{B9D025AC-5CBD-4B1A-8CE4-C9BFE9615BA0}" sibTransId="{18CD41E7-FAA2-4368-AC2B-5D76EC795A4F}"/>
    <dgm:cxn modelId="{EC0F8C56-3158-4A9F-A93A-8FD1F46FC80D}" type="presOf" srcId="{A563B18F-3CFA-4F94-82CF-6A9FFC88C21C}" destId="{07597298-0CE9-44F7-9AF4-BCA6070B3C08}" srcOrd="0" destOrd="0" presId="urn:microsoft.com/office/officeart/2005/8/layout/radial5"/>
    <dgm:cxn modelId="{43F241E9-5FD4-473C-95BC-B52C1CB5569F}" type="presOf" srcId="{B9D025AC-5CBD-4B1A-8CE4-C9BFE9615BA0}" destId="{BDEF25F5-E61D-4FB2-B9FD-4CD3E505F729}" srcOrd="0" destOrd="0" presId="urn:microsoft.com/office/officeart/2005/8/layout/radial5"/>
    <dgm:cxn modelId="{EDA0DCAD-409A-4F92-949F-CC40EEC6EA9C}" type="presParOf" srcId="{69D71402-1769-408C-BE52-1F813542F928}" destId="{EA7AFB57-600F-4A97-97A6-FE94D049D93E}" srcOrd="0" destOrd="0" presId="urn:microsoft.com/office/officeart/2005/8/layout/radial5"/>
    <dgm:cxn modelId="{A112A314-CD05-4610-804B-AE415C9DB989}" type="presParOf" srcId="{69D71402-1769-408C-BE52-1F813542F928}" destId="{6730823B-DC7F-47DB-B3B6-C6BC6733A70A}" srcOrd="1" destOrd="0" presId="urn:microsoft.com/office/officeart/2005/8/layout/radial5"/>
    <dgm:cxn modelId="{1FE7A59A-D661-4F1A-B69B-1935981DFE83}" type="presParOf" srcId="{6730823B-DC7F-47DB-B3B6-C6BC6733A70A}" destId="{3D3F10C0-430E-43EB-925D-6FD934AA01B7}" srcOrd="0" destOrd="0" presId="urn:microsoft.com/office/officeart/2005/8/layout/radial5"/>
    <dgm:cxn modelId="{EA249C54-D403-446B-8D38-653A58B252A4}" type="presParOf" srcId="{69D71402-1769-408C-BE52-1F813542F928}" destId="{D867A3ED-8600-4198-97F6-92DE65E9D3E5}" srcOrd="2" destOrd="0" presId="urn:microsoft.com/office/officeart/2005/8/layout/radial5"/>
    <dgm:cxn modelId="{25CA6733-A6D4-41E8-8384-34D472C5D919}" type="presParOf" srcId="{69D71402-1769-408C-BE52-1F813542F928}" destId="{BDEF25F5-E61D-4FB2-B9FD-4CD3E505F729}" srcOrd="3" destOrd="0" presId="urn:microsoft.com/office/officeart/2005/8/layout/radial5"/>
    <dgm:cxn modelId="{F6A9B84D-CD78-40BB-9EEC-EB51AE7A3ED3}" type="presParOf" srcId="{BDEF25F5-E61D-4FB2-B9FD-4CD3E505F729}" destId="{5375F6D8-6C41-4D3B-B262-A6B2D4B3B93E}" srcOrd="0" destOrd="0" presId="urn:microsoft.com/office/officeart/2005/8/layout/radial5"/>
    <dgm:cxn modelId="{2FD50D22-9EC4-41C0-AB3F-3BCA4EDF58A1}" type="presParOf" srcId="{69D71402-1769-408C-BE52-1F813542F928}" destId="{AD3AF959-1208-4762-9199-7AC41A9DDA37}" srcOrd="4" destOrd="0" presId="urn:microsoft.com/office/officeart/2005/8/layout/radial5"/>
    <dgm:cxn modelId="{7448AAAB-98F9-494B-BC0C-3A459489305C}" type="presParOf" srcId="{69D71402-1769-408C-BE52-1F813542F928}" destId="{4B65066F-101C-4A0D-AECE-F31B246D80AF}" srcOrd="5" destOrd="0" presId="urn:microsoft.com/office/officeart/2005/8/layout/radial5"/>
    <dgm:cxn modelId="{D660C9D0-E0C8-4CE0-8FF3-6ADF94F18E30}" type="presParOf" srcId="{4B65066F-101C-4A0D-AECE-F31B246D80AF}" destId="{9200CE7E-26A1-4FE7-B824-8D993ED397D3}" srcOrd="0" destOrd="0" presId="urn:microsoft.com/office/officeart/2005/8/layout/radial5"/>
    <dgm:cxn modelId="{044DE0F1-24B1-43A0-AE85-B82BFB45644F}" type="presParOf" srcId="{69D71402-1769-408C-BE52-1F813542F928}" destId="{07597298-0CE9-44F7-9AF4-BCA6070B3C08}" srcOrd="6" destOrd="0" presId="urn:microsoft.com/office/officeart/2005/8/layout/radial5"/>
    <dgm:cxn modelId="{A4727996-CE25-4504-B7E4-C878D15BF7EE}" type="presParOf" srcId="{69D71402-1769-408C-BE52-1F813542F928}" destId="{760A8224-5FF2-4FF2-A5D6-F5DB5C80CCC0}" srcOrd="7" destOrd="0" presId="urn:microsoft.com/office/officeart/2005/8/layout/radial5"/>
    <dgm:cxn modelId="{63799385-DBD2-43E9-A9A9-8B1908736740}" type="presParOf" srcId="{760A8224-5FF2-4FF2-A5D6-F5DB5C80CCC0}" destId="{CAE5C835-9DC4-4842-8AFD-1074643E0839}" srcOrd="0" destOrd="0" presId="urn:microsoft.com/office/officeart/2005/8/layout/radial5"/>
    <dgm:cxn modelId="{1849E5CF-C914-4034-8298-A8D7D85A9D9D}" type="presParOf" srcId="{69D71402-1769-408C-BE52-1F813542F928}" destId="{C8A2A92D-8771-40B8-978B-E1863E199847}" srcOrd="8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A7AFB57-600F-4A97-97A6-FE94D049D93E}">
      <dsp:nvSpPr>
        <dsp:cNvPr id="0" name=""/>
        <dsp:cNvSpPr/>
      </dsp:nvSpPr>
      <dsp:spPr>
        <a:xfrm>
          <a:off x="1726889" y="926789"/>
          <a:ext cx="661020" cy="6610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Open</a:t>
          </a:r>
          <a:endParaRPr lang="en-US" sz="1400" kern="1200" dirty="0"/>
        </a:p>
      </dsp:txBody>
      <dsp:txXfrm>
        <a:off x="1726889" y="926789"/>
        <a:ext cx="661020" cy="661020"/>
      </dsp:txXfrm>
    </dsp:sp>
    <dsp:sp modelId="{6730823B-DC7F-47DB-B3B6-C6BC6733A70A}">
      <dsp:nvSpPr>
        <dsp:cNvPr id="0" name=""/>
        <dsp:cNvSpPr/>
      </dsp:nvSpPr>
      <dsp:spPr>
        <a:xfrm rot="16200000">
          <a:off x="2013730" y="734493"/>
          <a:ext cx="87338" cy="2247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 rot="16200000">
        <a:off x="2013730" y="734493"/>
        <a:ext cx="87338" cy="224746"/>
      </dsp:txXfrm>
    </dsp:sp>
    <dsp:sp modelId="{D867A3ED-8600-4198-97F6-92DE65E9D3E5}">
      <dsp:nvSpPr>
        <dsp:cNvPr id="0" name=""/>
        <dsp:cNvSpPr/>
      </dsp:nvSpPr>
      <dsp:spPr>
        <a:xfrm>
          <a:off x="1523999" y="-97432"/>
          <a:ext cx="1066800" cy="85943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Doors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Windows</a:t>
          </a:r>
          <a:endParaRPr lang="en-US" sz="1400" kern="1200" dirty="0"/>
        </a:p>
      </dsp:txBody>
      <dsp:txXfrm>
        <a:off x="1523999" y="-97432"/>
        <a:ext cx="1066800" cy="859431"/>
      </dsp:txXfrm>
    </dsp:sp>
    <dsp:sp modelId="{BDEF25F5-E61D-4FB2-B9FD-4CD3E505F729}">
      <dsp:nvSpPr>
        <dsp:cNvPr id="0" name=""/>
        <dsp:cNvSpPr/>
      </dsp:nvSpPr>
      <dsp:spPr>
        <a:xfrm>
          <a:off x="2403688" y="1144926"/>
          <a:ext cx="38012" cy="2247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2403688" y="1144926"/>
        <a:ext cx="38012" cy="224746"/>
      </dsp:txXfrm>
    </dsp:sp>
    <dsp:sp modelId="{AD3AF959-1208-4762-9199-7AC41A9DDA37}">
      <dsp:nvSpPr>
        <dsp:cNvPr id="0" name=""/>
        <dsp:cNvSpPr/>
      </dsp:nvSpPr>
      <dsp:spPr>
        <a:xfrm>
          <a:off x="2459631" y="762000"/>
          <a:ext cx="1045568" cy="9905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Minds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Hearts</a:t>
          </a:r>
          <a:endParaRPr lang="en-US" sz="1400" kern="1200" dirty="0"/>
        </a:p>
      </dsp:txBody>
      <dsp:txXfrm>
        <a:off x="2459631" y="762000"/>
        <a:ext cx="1045568" cy="990598"/>
      </dsp:txXfrm>
    </dsp:sp>
    <dsp:sp modelId="{4B65066F-101C-4A0D-AECE-F31B246D80AF}">
      <dsp:nvSpPr>
        <dsp:cNvPr id="0" name=""/>
        <dsp:cNvSpPr/>
      </dsp:nvSpPr>
      <dsp:spPr>
        <a:xfrm rot="5400000">
          <a:off x="2013730" y="1555359"/>
          <a:ext cx="87338" cy="2247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 rot="5400000">
        <a:off x="2013730" y="1555359"/>
        <a:ext cx="87338" cy="224746"/>
      </dsp:txXfrm>
    </dsp:sp>
    <dsp:sp modelId="{07597298-0CE9-44F7-9AF4-BCA6070B3C08}">
      <dsp:nvSpPr>
        <dsp:cNvPr id="0" name=""/>
        <dsp:cNvSpPr/>
      </dsp:nvSpPr>
      <dsp:spPr>
        <a:xfrm>
          <a:off x="1523999" y="1752600"/>
          <a:ext cx="1066800" cy="85943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Bank Account</a:t>
          </a:r>
          <a:endParaRPr lang="en-US" sz="1400" kern="1200" dirty="0"/>
        </a:p>
      </dsp:txBody>
      <dsp:txXfrm>
        <a:off x="1523999" y="1752600"/>
        <a:ext cx="1066800" cy="859431"/>
      </dsp:txXfrm>
    </dsp:sp>
    <dsp:sp modelId="{760A8224-5FF2-4FF2-A5D6-F5DB5C80CCC0}">
      <dsp:nvSpPr>
        <dsp:cNvPr id="0" name=""/>
        <dsp:cNvSpPr/>
      </dsp:nvSpPr>
      <dsp:spPr>
        <a:xfrm rot="10800000">
          <a:off x="1673098" y="1144926"/>
          <a:ext cx="38012" cy="2247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 rot="10800000">
        <a:off x="1673098" y="1144926"/>
        <a:ext cx="38012" cy="224746"/>
      </dsp:txXfrm>
    </dsp:sp>
    <dsp:sp modelId="{C8A2A92D-8771-40B8-978B-E1863E199847}">
      <dsp:nvSpPr>
        <dsp:cNvPr id="0" name=""/>
        <dsp:cNvSpPr/>
      </dsp:nvSpPr>
      <dsp:spPr>
        <a:xfrm>
          <a:off x="609599" y="762000"/>
          <a:ext cx="1045568" cy="99059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Eyes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Arms</a:t>
          </a:r>
          <a:endParaRPr lang="en-US" sz="1400" kern="1200" dirty="0"/>
        </a:p>
      </dsp:txBody>
      <dsp:txXfrm>
        <a:off x="609599" y="762000"/>
        <a:ext cx="1045568" cy="9905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7.emf"/><Relationship Id="rId1" Type="http://schemas.openxmlformats.org/officeDocument/2006/relationships/image" Target="../media/image20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image" Target="../media/image30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7C20F9-1B91-4327-9876-ACF7950D2683}" type="datetimeFigureOut">
              <a:rPr lang="en-US" smtClean="0"/>
              <a:pPr/>
              <a:t>3/17/2018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9DD483-A755-44E9-A638-1F58609C939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34D400-6504-413F-B54E-738978C9D58D}" type="datetimeFigureOut">
              <a:rPr lang="en-US"/>
              <a:pPr>
                <a:defRPr/>
              </a:pPr>
              <a:t>3/17/2018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C1B037-3188-409D-8585-0062FF378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650246-B75B-4111-A4E3-17CED8183F51}" type="datetimeFigureOut">
              <a:rPr lang="en-US"/>
              <a:pPr>
                <a:defRPr/>
              </a:pPr>
              <a:t>3/17/2018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13B35-0DC7-41A1-836F-F07E105F7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5B62FE-A4BA-4F3B-8724-099A9867E83E}" type="datetimeFigureOut">
              <a:rPr lang="en-US"/>
              <a:pPr>
                <a:defRPr/>
              </a:pPr>
              <a:t>3/17/2018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2A0DB-97FF-4E2D-961A-53A8B3E81C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FBCD77-DB7E-410F-8346-A9CE932D0AC1}" type="datetimeFigureOut">
              <a:rPr lang="en-US"/>
              <a:pPr>
                <a:defRPr/>
              </a:pPr>
              <a:t>3/17/2018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B3858F-6EED-4FD9-B63D-3FB7FC26C9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FD8737-39E6-4861-92A8-89AC4192A622}" type="datetimeFigureOut">
              <a:rPr lang="en-US"/>
              <a:pPr>
                <a:defRPr/>
              </a:pPr>
              <a:t>3/17/2018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811265-6FEF-4F82-B77F-9478A26020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7D96A-39D8-4C6D-B965-8C8786F338A6}" type="datetimeFigureOut">
              <a:rPr lang="en-US"/>
              <a:pPr>
                <a:defRPr/>
              </a:pPr>
              <a:t>3/17/2018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4D288-D738-45D0-B23A-7E0F18151E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036EE-19ED-4D9D-B088-EAFD7232ED0E}" type="datetimeFigureOut">
              <a:rPr lang="en-US"/>
              <a:pPr>
                <a:defRPr/>
              </a:pPr>
              <a:t>3/17/2018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7035E6-112E-46D6-92D2-F2905FE7F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544F72-AE66-47B5-B42F-4F292EBF18C0}" type="datetimeFigureOut">
              <a:rPr lang="en-US"/>
              <a:pPr>
                <a:defRPr/>
              </a:pPr>
              <a:t>3/17/2018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26D519-0129-40C9-A8E0-4AA1DED683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8D7A31-5AF7-4205-933F-65E4A1293711}" type="datetimeFigureOut">
              <a:rPr lang="en-US"/>
              <a:pPr>
                <a:defRPr/>
              </a:pPr>
              <a:t>3/17/2018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4CC8C2-CC74-4F74-BCEB-5B4FD5CCA7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80A20E-8178-48FA-A129-AAB02AB6D639}" type="datetimeFigureOut">
              <a:rPr lang="en-US"/>
              <a:pPr>
                <a:defRPr/>
              </a:pPr>
              <a:t>3/17/2018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71C3DA-7D2B-4D47-80E5-C045B94A7C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16E936-9FA0-4541-B442-5A2338068559}" type="datetimeFigureOut">
              <a:rPr lang="en-US"/>
              <a:pPr>
                <a:defRPr/>
              </a:pPr>
              <a:t>3/17/2018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8867D3-01D4-40D3-B6DA-7869D49FDF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553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C091D18-0586-4BD9-8B7F-38B22B7AB35F}" type="datetimeFigureOut">
              <a:rPr lang="en-US"/>
              <a:pPr>
                <a:defRPr/>
              </a:pPr>
              <a:t>3/17/2018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ED71EDE-E083-416B-A0EA-2AE6A7CEE3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png"/><Relationship Id="rId5" Type="http://schemas.openxmlformats.org/officeDocument/2006/relationships/package" Target="../embeddings/Microsoft_Office_Word_Document3.docx"/><Relationship Id="rId4" Type="http://schemas.openxmlformats.org/officeDocument/2006/relationships/package" Target="../embeddings/Microsoft_Office_Word_Document2.doc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2.png"/><Relationship Id="rId4" Type="http://schemas.openxmlformats.org/officeDocument/2006/relationships/package" Target="../embeddings/Microsoft_Office_Word_Document5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5.png"/><Relationship Id="rId4" Type="http://schemas.openxmlformats.org/officeDocument/2006/relationships/package" Target="../embeddings/Microsoft_Office_Word_Document7.doc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8.png"/><Relationship Id="rId4" Type="http://schemas.openxmlformats.org/officeDocument/2006/relationships/package" Target="../embeddings/Microsoft_Office_Word_Document9.docx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2.png"/><Relationship Id="rId5" Type="http://schemas.openxmlformats.org/officeDocument/2006/relationships/package" Target="../embeddings/Microsoft_Office_Word_Document12.docx"/><Relationship Id="rId4" Type="http://schemas.openxmlformats.org/officeDocument/2006/relationships/package" Target="../embeddings/Microsoft_Office_Word_Document11.docx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6.png"/><Relationship Id="rId5" Type="http://schemas.openxmlformats.org/officeDocument/2006/relationships/package" Target="../embeddings/Microsoft_Office_Word_Document14.docx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package" Target="../embeddings/Microsoft_Office_Word_Document16.docx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32.png"/><Relationship Id="rId4" Type="http://schemas.openxmlformats.org/officeDocument/2006/relationships/package" Target="../embeddings/Microsoft_Office_Word_Document18.doc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35.png"/><Relationship Id="rId4" Type="http://schemas.openxmlformats.org/officeDocument/2006/relationships/package" Target="../embeddings/Microsoft_Office_Word_Document20.docx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Polymorphism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1"/>
            <a:ext cx="5943600" cy="4343399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200" dirty="0" smtClean="0"/>
              <a:t>To present </a:t>
            </a:r>
            <a:r>
              <a:rPr lang="en-US" sz="2200" i="1" dirty="0" smtClean="0">
                <a:solidFill>
                  <a:srgbClr val="C00000"/>
                </a:solidFill>
              </a:rPr>
              <a:t>what</a:t>
            </a:r>
            <a:r>
              <a:rPr lang="en-US" sz="2200" dirty="0" smtClean="0"/>
              <a:t> is polymorphism.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200" dirty="0" smtClean="0"/>
              <a:t>To </a:t>
            </a:r>
            <a:r>
              <a:rPr lang="en-US" sz="2200" i="1" dirty="0" smtClean="0">
                <a:solidFill>
                  <a:srgbClr val="C00000"/>
                </a:solidFill>
              </a:rPr>
              <a:t>override</a:t>
            </a:r>
            <a:r>
              <a:rPr lang="en-US" sz="2200" dirty="0" smtClean="0"/>
              <a:t> methods and properties.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200" dirty="0" smtClean="0"/>
              <a:t>To create and override </a:t>
            </a:r>
            <a:r>
              <a:rPr lang="en-US" sz="2200" i="1" dirty="0" smtClean="0">
                <a:solidFill>
                  <a:srgbClr val="C00000"/>
                </a:solidFill>
              </a:rPr>
              <a:t>virtual</a:t>
            </a:r>
            <a:r>
              <a:rPr lang="en-US" sz="2200" dirty="0" smtClean="0"/>
              <a:t> methods and properties.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200" dirty="0" smtClean="0"/>
              <a:t>To present </a:t>
            </a:r>
            <a:r>
              <a:rPr lang="en-US" sz="2200" i="1" dirty="0" smtClean="0">
                <a:solidFill>
                  <a:srgbClr val="C00000"/>
                </a:solidFill>
              </a:rPr>
              <a:t>why</a:t>
            </a:r>
            <a:r>
              <a:rPr lang="en-US" sz="2200" dirty="0" smtClean="0"/>
              <a:t> use polymorphism.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200" dirty="0" smtClean="0"/>
              <a:t>To present </a:t>
            </a:r>
            <a:r>
              <a:rPr lang="en-US" sz="2200" i="1" dirty="0" smtClean="0">
                <a:solidFill>
                  <a:srgbClr val="C00000"/>
                </a:solidFill>
              </a:rPr>
              <a:t>what</a:t>
            </a:r>
            <a:r>
              <a:rPr lang="en-US" sz="2200" dirty="0" smtClean="0"/>
              <a:t> is overloading.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200" dirty="0" smtClean="0"/>
              <a:t>To create method and operator </a:t>
            </a:r>
            <a:r>
              <a:rPr lang="en-US" sz="2200" i="1" dirty="0" smtClean="0">
                <a:solidFill>
                  <a:srgbClr val="C00000"/>
                </a:solidFill>
              </a:rPr>
              <a:t>overloading.</a:t>
            </a:r>
            <a:endParaRPr lang="en-US" sz="2200" dirty="0" smtClean="0"/>
          </a:p>
          <a:p>
            <a:pPr marL="457200" indent="-457200">
              <a:buFont typeface="Wingdings" pitchFamily="2" charset="2"/>
              <a:buChar char="Ø"/>
            </a:pPr>
            <a:r>
              <a:rPr lang="en-US" sz="2200" dirty="0" smtClean="0"/>
              <a:t>To present </a:t>
            </a:r>
            <a:r>
              <a:rPr lang="en-US" sz="2200" i="1" dirty="0" smtClean="0">
                <a:solidFill>
                  <a:srgbClr val="C00000"/>
                </a:solidFill>
              </a:rPr>
              <a:t>what</a:t>
            </a:r>
            <a:r>
              <a:rPr lang="en-US" sz="2200" dirty="0" smtClean="0"/>
              <a:t> are early binding and late binding.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200" dirty="0" smtClean="0"/>
              <a:t>To create code with </a:t>
            </a:r>
            <a:r>
              <a:rPr lang="en-US" sz="2200" i="1" dirty="0" smtClean="0">
                <a:solidFill>
                  <a:srgbClr val="C00000"/>
                </a:solidFill>
              </a:rPr>
              <a:t>early binding</a:t>
            </a:r>
            <a:r>
              <a:rPr lang="en-US" sz="2200" dirty="0" smtClean="0"/>
              <a:t> and </a:t>
            </a:r>
            <a:r>
              <a:rPr lang="en-US" sz="2200" i="1" dirty="0" smtClean="0">
                <a:solidFill>
                  <a:srgbClr val="C00000"/>
                </a:solidFill>
              </a:rPr>
              <a:t>late binding</a:t>
            </a:r>
            <a:r>
              <a:rPr lang="en-US" sz="2200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76950" y="245745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5867400" cy="4114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Jim Keogh and Mario </a:t>
            </a:r>
            <a:r>
              <a:rPr lang="en-US" sz="2400" dirty="0" err="1" smtClean="0"/>
              <a:t>Giannini</a:t>
            </a:r>
            <a:r>
              <a:rPr lang="en-US" sz="2400" dirty="0" smtClean="0"/>
              <a:t>. OOP Demystified: A Self-Teaching Guide. 2005.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Tom Archer and Andrew </a:t>
            </a:r>
            <a:r>
              <a:rPr lang="en-US" sz="2400" dirty="0" err="1" smtClean="0"/>
              <a:t>Whitechapel</a:t>
            </a:r>
            <a:r>
              <a:rPr lang="en-US" sz="2400" dirty="0" smtClean="0"/>
              <a:t>. Inside </a:t>
            </a:r>
            <a:r>
              <a:rPr lang="en-US" sz="2400" dirty="0" err="1" smtClean="0"/>
              <a:t>CSharp</a:t>
            </a:r>
            <a:r>
              <a:rPr lang="en-US" sz="2400" dirty="0" smtClean="0"/>
              <a:t>. Microsoft Corporation. 2002.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Grady </a:t>
            </a:r>
            <a:r>
              <a:rPr lang="en-US" sz="2400" dirty="0" err="1" smtClean="0"/>
              <a:t>Booch</a:t>
            </a:r>
            <a:r>
              <a:rPr lang="en-US" sz="2400" dirty="0" smtClean="0"/>
              <a:t> et al. Object Oriented Analysis and Design with Application. 3rd Edition. 2007.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Run-Time Requests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95400"/>
          </a:xfrm>
        </p:spPr>
        <p:txBody>
          <a:bodyPr/>
          <a:lstStyle/>
          <a:p>
            <a:r>
              <a:rPr lang="en-US" sz="2400" dirty="0" smtClean="0"/>
              <a:t>Polymorphism ("many shapes"), </a:t>
            </a:r>
            <a:r>
              <a:rPr lang="en-US" sz="2400" i="1" dirty="0" smtClean="0">
                <a:solidFill>
                  <a:srgbClr val="C00000"/>
                </a:solidFill>
              </a:rPr>
              <a:t>an object decides for itself what methods are to be run</a:t>
            </a:r>
            <a:r>
              <a:rPr lang="en-US" sz="2400" dirty="0" smtClean="0"/>
              <a:t>, so that you can depend on the language to route your requests correctly.</a:t>
            </a:r>
            <a:endParaRPr lang="en-US" sz="2400" dirty="0"/>
          </a:p>
        </p:txBody>
      </p:sp>
      <p:pic>
        <p:nvPicPr>
          <p:cNvPr id="149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24063" y="3352800"/>
            <a:ext cx="3019425" cy="2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950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57775" y="3657600"/>
            <a:ext cx="1038225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Polymorphism [1, 3]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52400" y="1371600"/>
            <a:ext cx="8839200" cy="1015663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Polymorphism technically means that </a:t>
            </a:r>
            <a:r>
              <a:rPr lang="en-US" sz="2000" i="1" u="sng" dirty="0" smtClean="0">
                <a:solidFill>
                  <a:schemeClr val="bg1"/>
                </a:solidFill>
                <a:latin typeface="+mj-lt"/>
              </a:rPr>
              <a:t>one thing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 has the ability to take </a:t>
            </a:r>
            <a:r>
              <a:rPr lang="en-US" sz="2000" i="1" u="sng" dirty="0" smtClean="0">
                <a:solidFill>
                  <a:schemeClr val="bg1"/>
                </a:solidFill>
                <a:latin typeface="+mj-lt"/>
              </a:rPr>
              <a:t>many shapes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.</a:t>
            </a:r>
          </a:p>
          <a:p>
            <a:pPr algn="ctr"/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Polymorphism </a:t>
            </a:r>
            <a:r>
              <a:rPr lang="en-US" sz="2000" i="1" u="sng" dirty="0" smtClean="0">
                <a:solidFill>
                  <a:schemeClr val="bg1"/>
                </a:solidFill>
                <a:latin typeface="+mj-lt"/>
              </a:rPr>
              <a:t>in programming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 terms means that the name of a </a:t>
            </a:r>
            <a:r>
              <a:rPr lang="en-US" sz="2000" i="1" u="sng" dirty="0" smtClean="0">
                <a:solidFill>
                  <a:schemeClr val="bg1"/>
                </a:solidFill>
                <a:latin typeface="+mj-lt"/>
              </a:rPr>
              <a:t>method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 can have </a:t>
            </a:r>
            <a:r>
              <a:rPr lang="en-US" sz="2000" i="1" u="sng" dirty="0" smtClean="0">
                <a:solidFill>
                  <a:schemeClr val="bg1"/>
                </a:solidFill>
                <a:latin typeface="+mj-lt"/>
              </a:rPr>
              <a:t>many behaviors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.</a:t>
            </a:r>
            <a:endParaRPr lang="en-US" sz="2000" i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146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743200"/>
            <a:ext cx="38862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3962400" y="2562761"/>
            <a:ext cx="5029200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Polymorphism</a:t>
            </a:r>
            <a:r>
              <a:rPr lang="en-US" sz="2000" dirty="0" smtClean="0">
                <a:latin typeface="+mj-lt"/>
              </a:rPr>
              <a:t> is a concept in type theory wherein </a:t>
            </a:r>
            <a:r>
              <a:rPr lang="en-US" sz="2000" u="sng" dirty="0" smtClean="0">
                <a:latin typeface="+mj-lt"/>
              </a:rPr>
              <a:t>a name</a:t>
            </a:r>
            <a:r>
              <a:rPr lang="en-US" sz="2000" dirty="0" smtClean="0">
                <a:latin typeface="+mj-lt"/>
              </a:rPr>
              <a:t> may denote </a:t>
            </a:r>
            <a:r>
              <a:rPr lang="en-US" sz="2000" u="sng" dirty="0" smtClean="0">
                <a:latin typeface="+mj-lt"/>
              </a:rPr>
              <a:t>instances</a:t>
            </a:r>
            <a:r>
              <a:rPr lang="en-US" sz="2000" dirty="0" smtClean="0">
                <a:latin typeface="+mj-lt"/>
              </a:rPr>
              <a:t> of many </a:t>
            </a:r>
            <a:r>
              <a:rPr lang="en-US" sz="2000" u="sng" dirty="0" smtClean="0">
                <a:latin typeface="+mj-lt"/>
              </a:rPr>
              <a:t>different classes</a:t>
            </a:r>
            <a:r>
              <a:rPr lang="en-US" sz="2000" dirty="0" smtClean="0">
                <a:latin typeface="+mj-lt"/>
              </a:rPr>
              <a:t> as long as they are related by some </a:t>
            </a:r>
            <a:r>
              <a:rPr lang="en-US" sz="2000" u="sng" dirty="0" smtClean="0">
                <a:latin typeface="+mj-lt"/>
              </a:rPr>
              <a:t>common super-class</a:t>
            </a:r>
            <a:r>
              <a:rPr lang="en-US" sz="2000" dirty="0" smtClean="0">
                <a:latin typeface="+mj-lt"/>
              </a:rPr>
              <a:t>.</a:t>
            </a:r>
            <a:endParaRPr lang="en-US" sz="2000" dirty="0">
              <a:latin typeface="+mj-lt"/>
            </a:endParaRPr>
          </a:p>
        </p:txBody>
      </p:sp>
      <p:graphicFrame>
        <p:nvGraphicFramePr>
          <p:cNvPr id="8" name="Diagram 7"/>
          <p:cNvGraphicFramePr/>
          <p:nvPr/>
        </p:nvGraphicFramePr>
        <p:xfrm>
          <a:off x="4648200" y="4114800"/>
          <a:ext cx="4114800" cy="251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Overriding Methods </a:t>
            </a:r>
            <a:r>
              <a:rPr lang="en-US" smtClean="0"/>
              <a:t>[1, 2]</a:t>
            </a:r>
            <a:endParaRPr lang="en-US" dirty="0"/>
          </a:p>
        </p:txBody>
      </p:sp>
      <p:graphicFrame>
        <p:nvGraphicFramePr>
          <p:cNvPr id="96267" name="Object 11"/>
          <p:cNvGraphicFramePr>
            <a:graphicFrameLocks noChangeAspect="1"/>
          </p:cNvGraphicFramePr>
          <p:nvPr/>
        </p:nvGraphicFramePr>
        <p:xfrm>
          <a:off x="-152400" y="1238250"/>
          <a:ext cx="5943600" cy="5543550"/>
        </p:xfrm>
        <a:graphic>
          <a:graphicData uri="http://schemas.openxmlformats.org/presentationml/2006/ole">
            <p:oleObj spid="_x0000_s96267" name="Document" r:id="rId3" imgW="5940848" imgH="5559519" progId="Word.Document.12">
              <p:embed/>
            </p:oleObj>
          </a:graphicData>
        </a:graphic>
      </p:graphicFrame>
      <p:graphicFrame>
        <p:nvGraphicFramePr>
          <p:cNvPr id="96268" name="Object 12"/>
          <p:cNvGraphicFramePr>
            <a:graphicFrameLocks noChangeAspect="1"/>
          </p:cNvGraphicFramePr>
          <p:nvPr/>
        </p:nvGraphicFramePr>
        <p:xfrm>
          <a:off x="4343400" y="1219200"/>
          <a:ext cx="5943600" cy="4425950"/>
        </p:xfrm>
        <a:graphic>
          <a:graphicData uri="http://schemas.openxmlformats.org/presentationml/2006/ole">
            <p:oleObj spid="_x0000_s96268" name="Document" r:id="rId4" imgW="5940848" imgH="4440117" progId="Word.Document.12">
              <p:embed/>
            </p:oleObj>
          </a:graphicData>
        </a:graphic>
      </p:graphicFrame>
      <p:graphicFrame>
        <p:nvGraphicFramePr>
          <p:cNvPr id="96270" name="Object 14"/>
          <p:cNvGraphicFramePr>
            <a:graphicFrameLocks noChangeAspect="1"/>
          </p:cNvGraphicFramePr>
          <p:nvPr/>
        </p:nvGraphicFramePr>
        <p:xfrm>
          <a:off x="3352800" y="1262062"/>
          <a:ext cx="5943600" cy="4833938"/>
        </p:xfrm>
        <a:graphic>
          <a:graphicData uri="http://schemas.openxmlformats.org/presentationml/2006/ole">
            <p:oleObj spid="_x0000_s96270" name="Document" r:id="rId5" imgW="5940848" imgH="4764581" progId="Word.Document.12">
              <p:embed/>
            </p:oleObj>
          </a:graphicData>
        </a:graphic>
      </p:graphicFrame>
      <p:pic>
        <p:nvPicPr>
          <p:cNvPr id="96271" name="Picture 1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486400" y="5524500"/>
            <a:ext cx="1901190" cy="110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101" name="Object 5"/>
          <p:cNvGraphicFramePr>
            <a:graphicFrameLocks noChangeAspect="1"/>
          </p:cNvGraphicFramePr>
          <p:nvPr/>
        </p:nvGraphicFramePr>
        <p:xfrm>
          <a:off x="3733800" y="1371600"/>
          <a:ext cx="5397500" cy="4076700"/>
        </p:xfrm>
        <a:graphic>
          <a:graphicData uri="http://schemas.openxmlformats.org/presentationml/2006/ole">
            <p:oleObj spid="_x0000_s132101" name="Document" r:id="rId3" imgW="5394981" imgH="4082124" progId="Word.Document.12">
              <p:embed/>
            </p:oleObj>
          </a:graphicData>
        </a:graphic>
      </p:graphicFrame>
      <p:graphicFrame>
        <p:nvGraphicFramePr>
          <p:cNvPr id="132103" name="Object 7"/>
          <p:cNvGraphicFramePr>
            <a:graphicFrameLocks noChangeAspect="1"/>
          </p:cNvGraphicFramePr>
          <p:nvPr/>
        </p:nvGraphicFramePr>
        <p:xfrm>
          <a:off x="-152400" y="1358900"/>
          <a:ext cx="4508500" cy="5270500"/>
        </p:xfrm>
        <a:graphic>
          <a:graphicData uri="http://schemas.openxmlformats.org/presentationml/2006/ole">
            <p:oleObj spid="_x0000_s132103" name="Document" r:id="rId4" imgW="4510151" imgH="5378180" progId="Word.Document.12">
              <p:embed/>
            </p:oleObj>
          </a:graphicData>
        </a:graphic>
      </p:graphicFrame>
      <p:pic>
        <p:nvPicPr>
          <p:cNvPr id="6" name="Picture 1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24487" y="5191125"/>
            <a:ext cx="2500313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/>
            <a:r>
              <a:rPr lang="en-US" sz="4400" dirty="0" smtClean="0">
                <a:latin typeface="+mj-lt"/>
              </a:rPr>
              <a:t>Overriding Properties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 Methods</a:t>
            </a:r>
            <a:endParaRPr lang="en-US" dirty="0"/>
          </a:p>
        </p:txBody>
      </p:sp>
      <p:graphicFrame>
        <p:nvGraphicFramePr>
          <p:cNvPr id="133126" name="Object 6"/>
          <p:cNvGraphicFramePr>
            <a:graphicFrameLocks noChangeAspect="1"/>
          </p:cNvGraphicFramePr>
          <p:nvPr/>
        </p:nvGraphicFramePr>
        <p:xfrm>
          <a:off x="-152400" y="1289050"/>
          <a:ext cx="5943600" cy="5492750"/>
        </p:xfrm>
        <a:graphic>
          <a:graphicData uri="http://schemas.openxmlformats.org/presentationml/2006/ole">
            <p:oleObj spid="_x0000_s133126" name="Document" r:id="rId3" imgW="5940848" imgH="5505802" progId="Word.Document.12">
              <p:embed/>
            </p:oleObj>
          </a:graphicData>
        </a:graphic>
      </p:graphicFrame>
      <p:graphicFrame>
        <p:nvGraphicFramePr>
          <p:cNvPr id="133127" name="Object 7"/>
          <p:cNvGraphicFramePr>
            <a:graphicFrameLocks noChangeAspect="1"/>
          </p:cNvGraphicFramePr>
          <p:nvPr/>
        </p:nvGraphicFramePr>
        <p:xfrm>
          <a:off x="3352800" y="1365250"/>
          <a:ext cx="5943600" cy="4781550"/>
        </p:xfrm>
        <a:graphic>
          <a:graphicData uri="http://schemas.openxmlformats.org/presentationml/2006/ole">
            <p:oleObj spid="_x0000_s133127" name="Document" r:id="rId4" imgW="5940848" imgH="4791259" progId="Word.Document.12">
              <p:embed/>
            </p:oleObj>
          </a:graphicData>
        </a:graphic>
      </p:graphicFrame>
      <p:pic>
        <p:nvPicPr>
          <p:cNvPr id="133128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638800" y="5638800"/>
            <a:ext cx="1623060" cy="910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153" name="Object 9"/>
          <p:cNvGraphicFramePr>
            <a:graphicFrameLocks noChangeAspect="1"/>
          </p:cNvGraphicFramePr>
          <p:nvPr/>
        </p:nvGraphicFramePr>
        <p:xfrm>
          <a:off x="3962400" y="1447800"/>
          <a:ext cx="5943600" cy="3505200"/>
        </p:xfrm>
        <a:graphic>
          <a:graphicData uri="http://schemas.openxmlformats.org/presentationml/2006/ole">
            <p:oleObj spid="_x0000_s134153" name="Document" r:id="rId3" imgW="5940848" imgH="3586414" progId="Word.Document.12">
              <p:embed/>
            </p:oleObj>
          </a:graphicData>
        </a:graphic>
      </p:graphicFrame>
      <p:graphicFrame>
        <p:nvGraphicFramePr>
          <p:cNvPr id="134160" name="Object 16"/>
          <p:cNvGraphicFramePr>
            <a:graphicFrameLocks noChangeAspect="1"/>
          </p:cNvGraphicFramePr>
          <p:nvPr/>
        </p:nvGraphicFramePr>
        <p:xfrm>
          <a:off x="69850" y="1371600"/>
          <a:ext cx="4273550" cy="5391150"/>
        </p:xfrm>
        <a:graphic>
          <a:graphicData uri="http://schemas.openxmlformats.org/presentationml/2006/ole">
            <p:oleObj spid="_x0000_s134160" name="Document" r:id="rId4" imgW="4278058" imgH="5401613" progId="Word.Document.12">
              <p:embed/>
            </p:oleObj>
          </a:graphicData>
        </a:graphic>
      </p:graphicFrame>
      <p:pic>
        <p:nvPicPr>
          <p:cNvPr id="134152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53000" y="4953000"/>
            <a:ext cx="2828925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/>
            <a:r>
              <a:rPr lang="en-US" sz="4400" dirty="0" smtClean="0">
                <a:latin typeface="+mj-lt"/>
              </a:rPr>
              <a:t>Virtual Properties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Use Polymorphism?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Extensibility </a:t>
            </a:r>
          </a:p>
          <a:p>
            <a:pPr lvl="1"/>
            <a:r>
              <a:rPr lang="en-US" dirty="0" smtClean="0"/>
              <a:t>Adding new </a:t>
            </a:r>
            <a:r>
              <a:rPr lang="en-US" dirty="0" smtClean="0"/>
              <a:t>objects/classes </a:t>
            </a:r>
            <a:r>
              <a:rPr lang="en-US" dirty="0" smtClean="0"/>
              <a:t>to a system without (or with little) change of existing </a:t>
            </a:r>
            <a:r>
              <a:rPr lang="en-US" dirty="0" smtClean="0"/>
              <a:t>code.</a:t>
            </a:r>
            <a:endParaRPr lang="en-US" dirty="0"/>
          </a:p>
        </p:txBody>
      </p:sp>
      <p:pic>
        <p:nvPicPr>
          <p:cNvPr id="148484" name="Picture 4" descr="http://clipground.com/images/accolade-clipart-1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3657600"/>
            <a:ext cx="4389120" cy="25717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graphicFrame>
        <p:nvGraphicFramePr>
          <p:cNvPr id="96267" name="Object 11"/>
          <p:cNvGraphicFramePr>
            <a:graphicFrameLocks noChangeAspect="1"/>
          </p:cNvGraphicFramePr>
          <p:nvPr/>
        </p:nvGraphicFramePr>
        <p:xfrm>
          <a:off x="76200" y="1447800"/>
          <a:ext cx="4051300" cy="4057650"/>
        </p:xfrm>
        <a:graphic>
          <a:graphicData uri="http://schemas.openxmlformats.org/presentationml/2006/ole">
            <p:oleObj spid="_x0000_s147458" name="Document" r:id="rId3" imgW="4049564" imgH="4076356" progId="Word.Document.12">
              <p:embed/>
            </p:oleObj>
          </a:graphicData>
        </a:graphic>
      </p:graphicFrame>
      <p:graphicFrame>
        <p:nvGraphicFramePr>
          <p:cNvPr id="96268" name="Object 12"/>
          <p:cNvGraphicFramePr>
            <a:graphicFrameLocks noChangeAspect="1"/>
          </p:cNvGraphicFramePr>
          <p:nvPr/>
        </p:nvGraphicFramePr>
        <p:xfrm>
          <a:off x="4343400" y="1219200"/>
          <a:ext cx="5943600" cy="4425950"/>
        </p:xfrm>
        <a:graphic>
          <a:graphicData uri="http://schemas.openxmlformats.org/presentationml/2006/ole">
            <p:oleObj spid="_x0000_s147459" name="Document" r:id="rId4" imgW="5940848" imgH="4440117" progId="Word.Document.12">
              <p:embed/>
            </p:oleObj>
          </a:graphicData>
        </a:graphic>
      </p:graphicFrame>
      <p:graphicFrame>
        <p:nvGraphicFramePr>
          <p:cNvPr id="96270" name="Object 14"/>
          <p:cNvGraphicFramePr>
            <a:graphicFrameLocks noChangeAspect="1"/>
          </p:cNvGraphicFramePr>
          <p:nvPr/>
        </p:nvGraphicFramePr>
        <p:xfrm>
          <a:off x="4191000" y="1447800"/>
          <a:ext cx="4533900" cy="5226050"/>
        </p:xfrm>
        <a:graphic>
          <a:graphicData uri="http://schemas.openxmlformats.org/presentationml/2006/ole">
            <p:oleObj spid="_x0000_s147460" name="Document" r:id="rId5" imgW="4595791" imgH="5321939" progId="Word.Document.12">
              <p:embed/>
            </p:oleObj>
          </a:graphicData>
        </a:graphic>
      </p:graphicFrame>
      <p:pic>
        <p:nvPicPr>
          <p:cNvPr id="147461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581400" y="4876800"/>
            <a:ext cx="2051685" cy="908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172" name="Object 4"/>
          <p:cNvGraphicFramePr>
            <a:graphicFrameLocks noChangeAspect="1"/>
          </p:cNvGraphicFramePr>
          <p:nvPr/>
        </p:nvGraphicFramePr>
        <p:xfrm>
          <a:off x="-76200" y="2794000"/>
          <a:ext cx="4457700" cy="2768600"/>
        </p:xfrm>
        <a:graphic>
          <a:graphicData uri="http://schemas.openxmlformats.org/presentationml/2006/ole">
            <p:oleObj spid="_x0000_s135172" name="Document" r:id="rId3" imgW="4456176" imgH="2772369" progId="Word.Document.12">
              <p:embed/>
            </p:oleObj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Overloading Methods [3]</a:t>
            </a:r>
            <a:endParaRPr lang="en-US" dirty="0"/>
          </a:p>
        </p:txBody>
      </p:sp>
      <p:pic>
        <p:nvPicPr>
          <p:cNvPr id="13517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5486400"/>
            <a:ext cx="242887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35175" name="Object 7"/>
          <p:cNvGraphicFramePr>
            <a:graphicFrameLocks noChangeAspect="1"/>
          </p:cNvGraphicFramePr>
          <p:nvPr/>
        </p:nvGraphicFramePr>
        <p:xfrm>
          <a:off x="4108450" y="2743200"/>
          <a:ext cx="5111750" cy="3378200"/>
        </p:xfrm>
        <a:graphic>
          <a:graphicData uri="http://schemas.openxmlformats.org/presentationml/2006/ole">
            <p:oleObj spid="_x0000_s135175" name="Document" r:id="rId5" imgW="5043424" imgH="3437882" progId="Word.Document.12">
              <p:embed/>
            </p:oleObj>
          </a:graphicData>
        </a:graphic>
      </p:graphicFrame>
      <p:pic>
        <p:nvPicPr>
          <p:cNvPr id="135176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486400" y="5791200"/>
            <a:ext cx="250507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381000" y="1295400"/>
            <a:ext cx="8382000" cy="12003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i="1" u="sng" dirty="0" smtClean="0"/>
              <a:t>Overloading</a:t>
            </a:r>
            <a:r>
              <a:rPr lang="en-US" i="1" dirty="0" smtClean="0"/>
              <a:t> or </a:t>
            </a:r>
            <a:r>
              <a:rPr lang="en-US" i="1" u="sng" dirty="0" smtClean="0"/>
              <a:t>ad hoc polymorphism</a:t>
            </a:r>
            <a:r>
              <a:rPr lang="en-US" i="1" dirty="0" smtClean="0"/>
              <a:t>: symbols such as + could be defined to mean different things. One may declare functions having </a:t>
            </a:r>
            <a:r>
              <a:rPr lang="en-US" i="1" u="sng" dirty="0" smtClean="0"/>
              <a:t>the same names</a:t>
            </a:r>
            <a:r>
              <a:rPr lang="en-US" i="1" dirty="0" smtClean="0"/>
              <a:t>, as long as their invocations can be distinguished by their signatures, consisting of the </a:t>
            </a:r>
            <a:r>
              <a:rPr lang="en-US" i="1" u="sng" dirty="0" smtClean="0"/>
              <a:t>number</a:t>
            </a:r>
            <a:r>
              <a:rPr lang="en-US" i="1" dirty="0" smtClean="0"/>
              <a:t> and </a:t>
            </a:r>
            <a:r>
              <a:rPr lang="en-US" i="1" u="sng" dirty="0" smtClean="0"/>
              <a:t>types</a:t>
            </a:r>
            <a:r>
              <a:rPr lang="en-US" i="1" dirty="0" smtClean="0"/>
              <a:t> of their </a:t>
            </a:r>
            <a:r>
              <a:rPr lang="en-US" i="1" u="sng" dirty="0" smtClean="0"/>
              <a:t>arguments</a:t>
            </a:r>
            <a:r>
              <a:rPr lang="en-US" i="1" dirty="0" smtClean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Operator Overloading [1]</a:t>
            </a:r>
            <a:endParaRPr lang="en-US" dirty="0"/>
          </a:p>
        </p:txBody>
      </p:sp>
      <p:graphicFrame>
        <p:nvGraphicFramePr>
          <p:cNvPr id="137218" name="Object 2"/>
          <p:cNvGraphicFramePr>
            <a:graphicFrameLocks noChangeAspect="1"/>
          </p:cNvGraphicFramePr>
          <p:nvPr/>
        </p:nvGraphicFramePr>
        <p:xfrm>
          <a:off x="0" y="1600200"/>
          <a:ext cx="5943600" cy="3744913"/>
        </p:xfrm>
        <a:graphic>
          <a:graphicData uri="http://schemas.openxmlformats.org/presentationml/2006/ole">
            <p:oleObj spid="_x0000_s137218" name="Document" r:id="rId3" imgW="5943600" imgH="3745230" progId="Word.Document.12">
              <p:embed/>
            </p:oleObj>
          </a:graphicData>
        </a:graphic>
      </p:graphicFrame>
      <p:pic>
        <p:nvPicPr>
          <p:cNvPr id="3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90600" y="5257800"/>
            <a:ext cx="24860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37224" name="Object 8"/>
          <p:cNvGraphicFramePr>
            <a:graphicFrameLocks noChangeAspect="1"/>
          </p:cNvGraphicFramePr>
          <p:nvPr/>
        </p:nvGraphicFramePr>
        <p:xfrm>
          <a:off x="3886200" y="1600200"/>
          <a:ext cx="5181600" cy="4876800"/>
        </p:xfrm>
        <a:graphic>
          <a:graphicData uri="http://schemas.openxmlformats.org/presentationml/2006/ole">
            <p:oleObj spid="_x0000_s137224" name="Document" r:id="rId5" imgW="5179081" imgH="4903380" progId="Word.Document.12">
              <p:embed/>
            </p:oleObj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237" name="Object 5"/>
          <p:cNvGraphicFramePr>
            <a:graphicFrameLocks noChangeAspect="1"/>
          </p:cNvGraphicFramePr>
          <p:nvPr/>
        </p:nvGraphicFramePr>
        <p:xfrm>
          <a:off x="0" y="2336800"/>
          <a:ext cx="5943600" cy="4445000"/>
        </p:xfrm>
        <a:graphic>
          <a:graphicData uri="http://schemas.openxmlformats.org/presentationml/2006/ole">
            <p:oleObj spid="_x0000_s95237" name="Document" r:id="rId3" imgW="5940848" imgH="4393971" progId="Word.Document.12">
              <p:embed/>
            </p:oleObj>
          </a:graphicData>
        </a:graphic>
      </p:graphicFrame>
      <p:sp>
        <p:nvSpPr>
          <p:cNvPr id="911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Early Binding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2600" y="1295400"/>
            <a:ext cx="7162800" cy="40011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i="1" u="sng" dirty="0" smtClean="0">
                <a:solidFill>
                  <a:schemeClr val="bg1"/>
                </a:solidFill>
                <a:latin typeface="+mj-lt"/>
              </a:rPr>
              <a:t>Binding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 is to associate method </a:t>
            </a:r>
            <a:r>
              <a:rPr lang="en-US" sz="2000" i="1" u="sng" dirty="0" smtClean="0">
                <a:solidFill>
                  <a:schemeClr val="bg1"/>
                </a:solidFill>
                <a:latin typeface="+mj-lt"/>
              </a:rPr>
              <a:t>name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 with method </a:t>
            </a:r>
            <a:r>
              <a:rPr lang="en-US" sz="2000" i="1" u="sng" dirty="0" smtClean="0">
                <a:solidFill>
                  <a:schemeClr val="bg1"/>
                </a:solidFill>
                <a:latin typeface="+mj-lt"/>
              </a:rPr>
              <a:t>definition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52600" y="1828800"/>
            <a:ext cx="7162800" cy="400110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Early binding – binding at </a:t>
            </a:r>
            <a:r>
              <a:rPr lang="en-US" sz="2000" i="1" u="sng" dirty="0" smtClean="0">
                <a:solidFill>
                  <a:schemeClr val="bg1"/>
                </a:solidFill>
                <a:latin typeface="+mj-lt"/>
              </a:rPr>
              <a:t>compile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 time. It’s faster than late binding.</a:t>
            </a:r>
          </a:p>
        </p:txBody>
      </p:sp>
      <p:graphicFrame>
        <p:nvGraphicFramePr>
          <p:cNvPr id="95238" name="Object 6"/>
          <p:cNvGraphicFramePr>
            <a:graphicFrameLocks noChangeAspect="1"/>
          </p:cNvGraphicFramePr>
          <p:nvPr/>
        </p:nvGraphicFramePr>
        <p:xfrm>
          <a:off x="3886200" y="2819400"/>
          <a:ext cx="5219700" cy="2901950"/>
        </p:xfrm>
        <a:graphic>
          <a:graphicData uri="http://schemas.openxmlformats.org/presentationml/2006/ole">
            <p:oleObj spid="_x0000_s95238" name="Document" r:id="rId4" imgW="5217224" imgH="3087460" progId="Word.Document.12">
              <p:embed/>
            </p:oleObj>
          </a:graphicData>
        </a:graphic>
      </p:graphicFrame>
      <p:pic>
        <p:nvPicPr>
          <p:cNvPr id="11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257800" y="5562600"/>
            <a:ext cx="2667000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237" name="Object 5"/>
          <p:cNvGraphicFramePr>
            <a:graphicFrameLocks noChangeAspect="1"/>
          </p:cNvGraphicFramePr>
          <p:nvPr/>
        </p:nvGraphicFramePr>
        <p:xfrm>
          <a:off x="-152400" y="2012950"/>
          <a:ext cx="5943600" cy="4387850"/>
        </p:xfrm>
        <a:graphic>
          <a:graphicData uri="http://schemas.openxmlformats.org/presentationml/2006/ole">
            <p:oleObj spid="_x0000_s140290" name="Document" r:id="rId3" imgW="5940848" imgH="4400460" progId="Word.Document.12">
              <p:embed/>
            </p:oleObj>
          </a:graphicData>
        </a:graphic>
      </p:graphicFrame>
      <p:sp>
        <p:nvSpPr>
          <p:cNvPr id="911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Late Binding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05000" y="1352490"/>
            <a:ext cx="7010400" cy="400110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Late binding – binding at </a:t>
            </a:r>
            <a:r>
              <a:rPr lang="en-US" sz="2000" i="1" u="sng" dirty="0" smtClean="0">
                <a:solidFill>
                  <a:schemeClr val="bg1"/>
                </a:solidFill>
                <a:latin typeface="+mj-lt"/>
              </a:rPr>
              <a:t>run time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. It’s slower than early binding.</a:t>
            </a:r>
          </a:p>
        </p:txBody>
      </p:sp>
      <p:graphicFrame>
        <p:nvGraphicFramePr>
          <p:cNvPr id="95238" name="Object 6"/>
          <p:cNvGraphicFramePr>
            <a:graphicFrameLocks noChangeAspect="1"/>
          </p:cNvGraphicFramePr>
          <p:nvPr/>
        </p:nvGraphicFramePr>
        <p:xfrm>
          <a:off x="2387600" y="2012950"/>
          <a:ext cx="6756400" cy="3962400"/>
        </p:xfrm>
        <a:graphic>
          <a:graphicData uri="http://schemas.openxmlformats.org/presentationml/2006/ole">
            <p:oleObj spid="_x0000_s140291" name="Document" r:id="rId4" imgW="5969275" imgH="3500972" progId="Word.Document.12">
              <p:embed/>
            </p:oleObj>
          </a:graphicData>
        </a:graphic>
      </p:graphicFrame>
      <p:pic>
        <p:nvPicPr>
          <p:cNvPr id="140292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943600" y="5791200"/>
            <a:ext cx="2880360" cy="731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</a:t>
            </a:r>
            <a:r>
              <a:rPr lang="en-US" smtClean="0"/>
              <a:t>You for </a:t>
            </a:r>
            <a:r>
              <a:rPr lang="en-US" dirty="0" smtClean="0"/>
              <a:t>Your Time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10208</TotalTime>
  <Words>382</Words>
  <Application>Microsoft Office PowerPoint</Application>
  <PresentationFormat>On-screen Show (4:3)</PresentationFormat>
  <Paragraphs>51</Paragraphs>
  <Slides>16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Office Theme</vt:lpstr>
      <vt:lpstr>Document</vt:lpstr>
      <vt:lpstr>Microsoft Office Word Document</vt:lpstr>
      <vt:lpstr>Polymorphism</vt:lpstr>
      <vt:lpstr>Objectives</vt:lpstr>
      <vt:lpstr>References</vt:lpstr>
      <vt:lpstr>Run-Time Requests</vt:lpstr>
      <vt:lpstr>Polymorphism [1, 3]</vt:lpstr>
      <vt:lpstr>Overriding Methods [1, 2]</vt:lpstr>
      <vt:lpstr>Slide 7</vt:lpstr>
      <vt:lpstr>Virtual Methods</vt:lpstr>
      <vt:lpstr>Slide 9</vt:lpstr>
      <vt:lpstr>Why Use Polymorphism?</vt:lpstr>
      <vt:lpstr>Example</vt:lpstr>
      <vt:lpstr>Overloading Methods [3]</vt:lpstr>
      <vt:lpstr>Operator Overloading [1]</vt:lpstr>
      <vt:lpstr>Early Binding</vt:lpstr>
      <vt:lpstr>Late Binding</vt:lpstr>
      <vt:lpstr>Thank You for Your Time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admin</cp:lastModifiedBy>
  <cp:revision>4350</cp:revision>
  <dcterms:created xsi:type="dcterms:W3CDTF">2007-10-06T08:25:13Z</dcterms:created>
  <dcterms:modified xsi:type="dcterms:W3CDTF">2018-03-16T18:37:02Z</dcterms:modified>
</cp:coreProperties>
</file>