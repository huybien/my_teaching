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Default Extension="docx" ContentType="application/vnd.openxmlformats-officedocument.wordprocessingml.document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diagrams/quickStyle1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658" r:id="rId2"/>
    <p:sldId id="646" r:id="rId3"/>
    <p:sldId id="729" r:id="rId4"/>
    <p:sldId id="647" r:id="rId5"/>
    <p:sldId id="660" r:id="rId6"/>
    <p:sldId id="662" r:id="rId7"/>
    <p:sldId id="663" r:id="rId8"/>
    <p:sldId id="664" r:id="rId9"/>
    <p:sldId id="726" r:id="rId10"/>
    <p:sldId id="728" r:id="rId11"/>
    <p:sldId id="681" r:id="rId12"/>
    <p:sldId id="650" r:id="rId13"/>
    <p:sldId id="704" r:id="rId14"/>
    <p:sldId id="705" r:id="rId15"/>
    <p:sldId id="685" r:id="rId16"/>
    <p:sldId id="686" r:id="rId17"/>
    <p:sldId id="725" r:id="rId18"/>
    <p:sldId id="698" r:id="rId19"/>
    <p:sldId id="727" r:id="rId20"/>
    <p:sldId id="699" r:id="rId21"/>
    <p:sldId id="723" r:id="rId22"/>
    <p:sldId id="724" r:id="rId23"/>
    <p:sldId id="697" r:id="rId24"/>
    <p:sldId id="700" r:id="rId25"/>
    <p:sldId id="668" r:id="rId26"/>
    <p:sldId id="688" r:id="rId27"/>
    <p:sldId id="689" r:id="rId28"/>
    <p:sldId id="690" r:id="rId29"/>
    <p:sldId id="691" r:id="rId30"/>
    <p:sldId id="692" r:id="rId31"/>
    <p:sldId id="343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52" autoAdjust="0"/>
    <p:restoredTop sz="94667" autoAdjust="0"/>
  </p:normalViewPr>
  <p:slideViewPr>
    <p:cSldViewPr>
      <p:cViewPr>
        <p:scale>
          <a:sx n="50" d="100"/>
          <a:sy n="50" d="100"/>
        </p:scale>
        <p:origin x="-154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CB15D3-6E5C-4A56-81D2-DF86293EAEBD}" type="doc">
      <dgm:prSet loTypeId="urn:microsoft.com/office/officeart/2005/8/layout/equation1" loCatId="relationship" qsTypeId="urn:microsoft.com/office/officeart/2005/8/quickstyle/simple1" qsCatId="simple" csTypeId="urn:microsoft.com/office/officeart/2005/8/colors/accent1_2" csCatId="accent1" phldr="1"/>
      <dgm:spPr/>
    </dgm:pt>
    <dgm:pt modelId="{1D35D7FD-26F1-415C-9DF5-9B25BB459EBF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 smtClean="0"/>
            <a:t>D1</a:t>
          </a:r>
          <a:endParaRPr lang="en-US" dirty="0"/>
        </a:p>
      </dgm:t>
    </dgm:pt>
    <dgm:pt modelId="{14F745B3-0B9A-4456-A8FF-12A7D4DB5399}" type="parTrans" cxnId="{EAF5917C-33A3-4747-96CE-719DD667708B}">
      <dgm:prSet/>
      <dgm:spPr/>
      <dgm:t>
        <a:bodyPr/>
        <a:lstStyle/>
        <a:p>
          <a:endParaRPr lang="en-US"/>
        </a:p>
      </dgm:t>
    </dgm:pt>
    <dgm:pt modelId="{513A39C8-ECBE-48AC-A8D4-03E4E9F579AB}" type="sibTrans" cxnId="{EAF5917C-33A3-4747-96CE-719DD667708B}">
      <dgm:prSet/>
      <dgm:spPr/>
      <dgm:t>
        <a:bodyPr/>
        <a:lstStyle/>
        <a:p>
          <a:endParaRPr lang="en-US"/>
        </a:p>
      </dgm:t>
    </dgm:pt>
    <dgm:pt modelId="{655D000B-CD1E-4949-A745-4B649C627C0D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 smtClean="0"/>
            <a:t>D2</a:t>
          </a:r>
          <a:endParaRPr lang="en-US" dirty="0"/>
        </a:p>
      </dgm:t>
    </dgm:pt>
    <dgm:pt modelId="{A65C98AD-5B02-43B4-BEBC-7BDC4C1FD0F0}" type="parTrans" cxnId="{126B2B77-1744-436F-967C-B0C5A144C3EC}">
      <dgm:prSet/>
      <dgm:spPr/>
      <dgm:t>
        <a:bodyPr/>
        <a:lstStyle/>
        <a:p>
          <a:endParaRPr lang="en-US"/>
        </a:p>
      </dgm:t>
    </dgm:pt>
    <dgm:pt modelId="{A947F7C2-9685-4826-A5B4-B0889F49DA20}" type="sibTrans" cxnId="{126B2B77-1744-436F-967C-B0C5A144C3EC}">
      <dgm:prSet/>
      <dgm:spPr/>
      <dgm:t>
        <a:bodyPr/>
        <a:lstStyle/>
        <a:p>
          <a:endParaRPr lang="en-US"/>
        </a:p>
      </dgm:t>
    </dgm:pt>
    <dgm:pt modelId="{94B99664-0242-4FFB-BB1F-19A9542193C0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D3</a:t>
          </a:r>
          <a:endParaRPr lang="en-US" dirty="0"/>
        </a:p>
      </dgm:t>
    </dgm:pt>
    <dgm:pt modelId="{D6CBF47B-6186-45BA-B80C-294A6B8CE131}" type="parTrans" cxnId="{5E37613C-E38F-4865-A709-334087A98721}">
      <dgm:prSet/>
      <dgm:spPr/>
      <dgm:t>
        <a:bodyPr/>
        <a:lstStyle/>
        <a:p>
          <a:endParaRPr lang="en-US"/>
        </a:p>
      </dgm:t>
    </dgm:pt>
    <dgm:pt modelId="{A2354B29-994E-45C5-B2F9-0BD7D3AF7B7B}" type="sibTrans" cxnId="{5E37613C-E38F-4865-A709-334087A98721}">
      <dgm:prSet/>
      <dgm:spPr/>
      <dgm:t>
        <a:bodyPr/>
        <a:lstStyle/>
        <a:p>
          <a:endParaRPr lang="en-US"/>
        </a:p>
      </dgm:t>
    </dgm:pt>
    <dgm:pt modelId="{A04111B6-EA73-4E67-A1FA-BCE87D3F481D}" type="pres">
      <dgm:prSet presAssocID="{E1CB15D3-6E5C-4A56-81D2-DF86293EAEBD}" presName="linearFlow" presStyleCnt="0">
        <dgm:presLayoutVars>
          <dgm:dir/>
          <dgm:resizeHandles val="exact"/>
        </dgm:presLayoutVars>
      </dgm:prSet>
      <dgm:spPr/>
    </dgm:pt>
    <dgm:pt modelId="{6DB8AB20-5A1F-41CB-A1DF-16550FE5A172}" type="pres">
      <dgm:prSet presAssocID="{1D35D7FD-26F1-415C-9DF5-9B25BB459EBF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DEBBD9-8EF9-4BF7-9362-6C664B5A17F2}" type="pres">
      <dgm:prSet presAssocID="{513A39C8-ECBE-48AC-A8D4-03E4E9F579AB}" presName="spacerL" presStyleCnt="0"/>
      <dgm:spPr/>
    </dgm:pt>
    <dgm:pt modelId="{B48BF0A3-CE58-4BDA-AE94-D136231D2CA1}" type="pres">
      <dgm:prSet presAssocID="{513A39C8-ECBE-48AC-A8D4-03E4E9F579AB}" presName="sibTrans" presStyleLbl="sibTrans2D1" presStyleIdx="0" presStyleCnt="2"/>
      <dgm:spPr/>
      <dgm:t>
        <a:bodyPr/>
        <a:lstStyle/>
        <a:p>
          <a:endParaRPr lang="en-US"/>
        </a:p>
      </dgm:t>
    </dgm:pt>
    <dgm:pt modelId="{126DFF76-C99A-446F-9BC6-A6CDE8E2E170}" type="pres">
      <dgm:prSet presAssocID="{513A39C8-ECBE-48AC-A8D4-03E4E9F579AB}" presName="spacerR" presStyleCnt="0"/>
      <dgm:spPr/>
    </dgm:pt>
    <dgm:pt modelId="{A56B7B5D-6A59-4C36-9431-23E5E7DDB87D}" type="pres">
      <dgm:prSet presAssocID="{655D000B-CD1E-4949-A745-4B649C627C0D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750C25-0822-4D9F-9903-CB4F08BA20ED}" type="pres">
      <dgm:prSet presAssocID="{A947F7C2-9685-4826-A5B4-B0889F49DA20}" presName="spacerL" presStyleCnt="0"/>
      <dgm:spPr/>
    </dgm:pt>
    <dgm:pt modelId="{827DBE0B-A993-4F1B-B20E-7CBDE57FF3CD}" type="pres">
      <dgm:prSet presAssocID="{A947F7C2-9685-4826-A5B4-B0889F49DA20}" presName="sibTrans" presStyleLbl="sibTrans2D1" presStyleIdx="1" presStyleCnt="2"/>
      <dgm:spPr/>
      <dgm:t>
        <a:bodyPr/>
        <a:lstStyle/>
        <a:p>
          <a:endParaRPr lang="en-US"/>
        </a:p>
      </dgm:t>
    </dgm:pt>
    <dgm:pt modelId="{B931EED8-FCC5-48ED-93FC-AE42A92C3F12}" type="pres">
      <dgm:prSet presAssocID="{A947F7C2-9685-4826-A5B4-B0889F49DA20}" presName="spacerR" presStyleCnt="0"/>
      <dgm:spPr/>
    </dgm:pt>
    <dgm:pt modelId="{4C9F1C25-8D16-4927-8E27-362F8EE8D7E0}" type="pres">
      <dgm:prSet presAssocID="{94B99664-0242-4FFB-BB1F-19A9542193C0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244CF22-00EB-4B71-BDA7-424C29FBBD90}" type="presOf" srcId="{1D35D7FD-26F1-415C-9DF5-9B25BB459EBF}" destId="{6DB8AB20-5A1F-41CB-A1DF-16550FE5A172}" srcOrd="0" destOrd="0" presId="urn:microsoft.com/office/officeart/2005/8/layout/equation1"/>
    <dgm:cxn modelId="{53917C10-AB62-4755-AADA-207C51467B9B}" type="presOf" srcId="{513A39C8-ECBE-48AC-A8D4-03E4E9F579AB}" destId="{B48BF0A3-CE58-4BDA-AE94-D136231D2CA1}" srcOrd="0" destOrd="0" presId="urn:microsoft.com/office/officeart/2005/8/layout/equation1"/>
    <dgm:cxn modelId="{5E37613C-E38F-4865-A709-334087A98721}" srcId="{E1CB15D3-6E5C-4A56-81D2-DF86293EAEBD}" destId="{94B99664-0242-4FFB-BB1F-19A9542193C0}" srcOrd="2" destOrd="0" parTransId="{D6CBF47B-6186-45BA-B80C-294A6B8CE131}" sibTransId="{A2354B29-994E-45C5-B2F9-0BD7D3AF7B7B}"/>
    <dgm:cxn modelId="{74477799-0AC9-4076-9CC7-5D78D492B482}" type="presOf" srcId="{655D000B-CD1E-4949-A745-4B649C627C0D}" destId="{A56B7B5D-6A59-4C36-9431-23E5E7DDB87D}" srcOrd="0" destOrd="0" presId="urn:microsoft.com/office/officeart/2005/8/layout/equation1"/>
    <dgm:cxn modelId="{2229B94D-A3AC-4115-9CDF-9C99BB30A105}" type="presOf" srcId="{94B99664-0242-4FFB-BB1F-19A9542193C0}" destId="{4C9F1C25-8D16-4927-8E27-362F8EE8D7E0}" srcOrd="0" destOrd="0" presId="urn:microsoft.com/office/officeart/2005/8/layout/equation1"/>
    <dgm:cxn modelId="{3B4D1EA9-DCCB-4CD8-AF34-353B3EA418ED}" type="presOf" srcId="{E1CB15D3-6E5C-4A56-81D2-DF86293EAEBD}" destId="{A04111B6-EA73-4E67-A1FA-BCE87D3F481D}" srcOrd="0" destOrd="0" presId="urn:microsoft.com/office/officeart/2005/8/layout/equation1"/>
    <dgm:cxn modelId="{126B2B77-1744-436F-967C-B0C5A144C3EC}" srcId="{E1CB15D3-6E5C-4A56-81D2-DF86293EAEBD}" destId="{655D000B-CD1E-4949-A745-4B649C627C0D}" srcOrd="1" destOrd="0" parTransId="{A65C98AD-5B02-43B4-BEBC-7BDC4C1FD0F0}" sibTransId="{A947F7C2-9685-4826-A5B4-B0889F49DA20}"/>
    <dgm:cxn modelId="{782B79A9-DFBC-4AA4-BAF7-72C1E2835845}" type="presOf" srcId="{A947F7C2-9685-4826-A5B4-B0889F49DA20}" destId="{827DBE0B-A993-4F1B-B20E-7CBDE57FF3CD}" srcOrd="0" destOrd="0" presId="urn:microsoft.com/office/officeart/2005/8/layout/equation1"/>
    <dgm:cxn modelId="{EAF5917C-33A3-4747-96CE-719DD667708B}" srcId="{E1CB15D3-6E5C-4A56-81D2-DF86293EAEBD}" destId="{1D35D7FD-26F1-415C-9DF5-9B25BB459EBF}" srcOrd="0" destOrd="0" parTransId="{14F745B3-0B9A-4456-A8FF-12A7D4DB5399}" sibTransId="{513A39C8-ECBE-48AC-A8D4-03E4E9F579AB}"/>
    <dgm:cxn modelId="{88A9637B-5A71-47C2-B1E5-4E54106F3BC6}" type="presParOf" srcId="{A04111B6-EA73-4E67-A1FA-BCE87D3F481D}" destId="{6DB8AB20-5A1F-41CB-A1DF-16550FE5A172}" srcOrd="0" destOrd="0" presId="urn:microsoft.com/office/officeart/2005/8/layout/equation1"/>
    <dgm:cxn modelId="{E8C855EE-577B-440B-BFBF-330642B1BDDD}" type="presParOf" srcId="{A04111B6-EA73-4E67-A1FA-BCE87D3F481D}" destId="{80DEBBD9-8EF9-4BF7-9362-6C664B5A17F2}" srcOrd="1" destOrd="0" presId="urn:microsoft.com/office/officeart/2005/8/layout/equation1"/>
    <dgm:cxn modelId="{BFFBA93E-5AFB-4163-80B1-5111866D77C7}" type="presParOf" srcId="{A04111B6-EA73-4E67-A1FA-BCE87D3F481D}" destId="{B48BF0A3-CE58-4BDA-AE94-D136231D2CA1}" srcOrd="2" destOrd="0" presId="urn:microsoft.com/office/officeart/2005/8/layout/equation1"/>
    <dgm:cxn modelId="{D6222E6C-5EF5-4452-B16B-E512C4C28088}" type="presParOf" srcId="{A04111B6-EA73-4E67-A1FA-BCE87D3F481D}" destId="{126DFF76-C99A-446F-9BC6-A6CDE8E2E170}" srcOrd="3" destOrd="0" presId="urn:microsoft.com/office/officeart/2005/8/layout/equation1"/>
    <dgm:cxn modelId="{67618367-6575-4843-88F8-A63B3106F803}" type="presParOf" srcId="{A04111B6-EA73-4E67-A1FA-BCE87D3F481D}" destId="{A56B7B5D-6A59-4C36-9431-23E5E7DDB87D}" srcOrd="4" destOrd="0" presId="urn:microsoft.com/office/officeart/2005/8/layout/equation1"/>
    <dgm:cxn modelId="{E1BA80EE-87C0-4223-AB78-FE4A2BBCCEA6}" type="presParOf" srcId="{A04111B6-EA73-4E67-A1FA-BCE87D3F481D}" destId="{CD750C25-0822-4D9F-9903-CB4F08BA20ED}" srcOrd="5" destOrd="0" presId="urn:microsoft.com/office/officeart/2005/8/layout/equation1"/>
    <dgm:cxn modelId="{ADBBFAF9-EE31-4C2D-866A-B06E8404AE7C}" type="presParOf" srcId="{A04111B6-EA73-4E67-A1FA-BCE87D3F481D}" destId="{827DBE0B-A993-4F1B-B20E-7CBDE57FF3CD}" srcOrd="6" destOrd="0" presId="urn:microsoft.com/office/officeart/2005/8/layout/equation1"/>
    <dgm:cxn modelId="{D2524B55-6E43-4A7D-97C0-ADC4CDB8A2ED}" type="presParOf" srcId="{A04111B6-EA73-4E67-A1FA-BCE87D3F481D}" destId="{B931EED8-FCC5-48ED-93FC-AE42A92C3F12}" srcOrd="7" destOrd="0" presId="urn:microsoft.com/office/officeart/2005/8/layout/equation1"/>
    <dgm:cxn modelId="{72ADC7B1-CDEB-4389-AC5E-4E144761308B}" type="presParOf" srcId="{A04111B6-EA73-4E67-A1FA-BCE87D3F481D}" destId="{4C9F1C25-8D16-4927-8E27-362F8EE8D7E0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xmlns="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DB8AB20-5A1F-41CB-A1DF-16550FE5A172}">
      <dsp:nvSpPr>
        <dsp:cNvPr id="0" name=""/>
        <dsp:cNvSpPr/>
      </dsp:nvSpPr>
      <dsp:spPr>
        <a:xfrm>
          <a:off x="23809" y="71"/>
          <a:ext cx="584057" cy="584057"/>
        </a:xfrm>
        <a:prstGeom prst="ellipse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D1</a:t>
          </a:r>
          <a:endParaRPr lang="en-US" sz="2400" kern="1200" dirty="0"/>
        </a:p>
      </dsp:txBody>
      <dsp:txXfrm>
        <a:off x="23809" y="71"/>
        <a:ext cx="584057" cy="584057"/>
      </dsp:txXfrm>
    </dsp:sp>
    <dsp:sp modelId="{B48BF0A3-CE58-4BDA-AE94-D136231D2CA1}">
      <dsp:nvSpPr>
        <dsp:cNvPr id="0" name=""/>
        <dsp:cNvSpPr/>
      </dsp:nvSpPr>
      <dsp:spPr>
        <a:xfrm>
          <a:off x="655292" y="122723"/>
          <a:ext cx="338753" cy="338753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655292" y="122723"/>
        <a:ext cx="338753" cy="338753"/>
      </dsp:txXfrm>
    </dsp:sp>
    <dsp:sp modelId="{A56B7B5D-6A59-4C36-9431-23E5E7DDB87D}">
      <dsp:nvSpPr>
        <dsp:cNvPr id="0" name=""/>
        <dsp:cNvSpPr/>
      </dsp:nvSpPr>
      <dsp:spPr>
        <a:xfrm>
          <a:off x="1041471" y="71"/>
          <a:ext cx="584057" cy="584057"/>
        </a:xfrm>
        <a:prstGeom prst="ellipse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D2</a:t>
          </a:r>
          <a:endParaRPr lang="en-US" sz="2400" kern="1200" dirty="0"/>
        </a:p>
      </dsp:txBody>
      <dsp:txXfrm>
        <a:off x="1041471" y="71"/>
        <a:ext cx="584057" cy="584057"/>
      </dsp:txXfrm>
    </dsp:sp>
    <dsp:sp modelId="{827DBE0B-A993-4F1B-B20E-7CBDE57FF3CD}">
      <dsp:nvSpPr>
        <dsp:cNvPr id="0" name=""/>
        <dsp:cNvSpPr/>
      </dsp:nvSpPr>
      <dsp:spPr>
        <a:xfrm>
          <a:off x="1672954" y="122723"/>
          <a:ext cx="338753" cy="338753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1672954" y="122723"/>
        <a:ext cx="338753" cy="338753"/>
      </dsp:txXfrm>
    </dsp:sp>
    <dsp:sp modelId="{4C9F1C25-8D16-4927-8E27-362F8EE8D7E0}">
      <dsp:nvSpPr>
        <dsp:cNvPr id="0" name=""/>
        <dsp:cNvSpPr/>
      </dsp:nvSpPr>
      <dsp:spPr>
        <a:xfrm>
          <a:off x="2059132" y="71"/>
          <a:ext cx="584057" cy="584057"/>
        </a:xfrm>
        <a:prstGeom prst="ellipse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D3</a:t>
          </a:r>
          <a:endParaRPr lang="en-US" sz="2400" kern="1200" dirty="0"/>
        </a:p>
      </dsp:txBody>
      <dsp:txXfrm>
        <a:off x="2059132" y="71"/>
        <a:ext cx="584057" cy="5840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4D400-6504-413F-B54E-738978C9D58D}" type="datetimeFigureOut">
              <a:rPr lang="en-US"/>
              <a:pPr>
                <a:defRPr/>
              </a:pPr>
              <a:t>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1B037-3188-409D-8585-0062FF378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50246-B75B-4111-A4E3-17CED8183F51}" type="datetimeFigureOut">
              <a:rPr lang="en-US"/>
              <a:pPr>
                <a:defRPr/>
              </a:pPr>
              <a:t>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13B35-0DC7-41A1-836F-F07E105F7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B62FE-A4BA-4F3B-8724-099A9867E83E}" type="datetimeFigureOut">
              <a:rPr lang="en-US"/>
              <a:pPr>
                <a:defRPr/>
              </a:pPr>
              <a:t>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2A0DB-97FF-4E2D-961A-53A8B3E81C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BCD77-DB7E-410F-8346-A9CE932D0AC1}" type="datetimeFigureOut">
              <a:rPr lang="en-US"/>
              <a:pPr>
                <a:defRPr/>
              </a:pPr>
              <a:t>2/28/2023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B3858F-6EED-4FD9-B63D-3FB7FC26C9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D8737-39E6-4861-92A8-89AC4192A622}" type="datetimeFigureOut">
              <a:rPr lang="en-US"/>
              <a:pPr>
                <a:defRPr/>
              </a:pPr>
              <a:t>2/28/2023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11265-6FEF-4F82-B77F-9478A26020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7D96A-39D8-4C6D-B965-8C8786F338A6}" type="datetimeFigureOut">
              <a:rPr lang="en-US"/>
              <a:pPr>
                <a:defRPr/>
              </a:pPr>
              <a:t>2/28/2023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4D288-D738-45D0-B23A-7E0F18151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036EE-19ED-4D9D-B088-EAFD7232ED0E}" type="datetimeFigureOut">
              <a:rPr lang="en-US"/>
              <a:pPr>
                <a:defRPr/>
              </a:pPr>
              <a:t>2/28/2023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035E6-112E-46D6-92D2-F2905FE7F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544F72-AE66-47B5-B42F-4F292EBF18C0}" type="datetimeFigureOut">
              <a:rPr lang="en-US"/>
              <a:pPr>
                <a:defRPr/>
              </a:pPr>
              <a:t>2/28/2023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6D519-0129-40C9-A8E0-4AA1DED68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D7A31-5AF7-4205-933F-65E4A1293711}" type="datetimeFigureOut">
              <a:rPr lang="en-US"/>
              <a:pPr>
                <a:defRPr/>
              </a:pPr>
              <a:t>2/28/2023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CC8C2-CC74-4F74-BCEB-5B4FD5CCA7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0A20E-8178-48FA-A129-AAB02AB6D639}" type="datetimeFigureOut">
              <a:rPr lang="en-US"/>
              <a:pPr>
                <a:defRPr/>
              </a:pPr>
              <a:t>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1C3DA-7D2B-4D47-80E5-C045B94A7C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6E936-9FA0-4541-B442-5A2338068559}" type="datetimeFigureOut">
              <a:rPr lang="en-US"/>
              <a:pPr>
                <a:defRPr/>
              </a:pPr>
              <a:t>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867D3-01D4-40D3-B6DA-7869D49FDF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55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C091D18-0586-4BD9-8B7F-38B22B7AB35F}" type="datetimeFigureOut">
              <a:rPr lang="en-US"/>
              <a:pPr>
                <a:defRPr/>
              </a:pPr>
              <a:t>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ED71EDE-E083-416B-A0EA-2AE6A7CEE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package" Target="../embeddings/Microsoft_Office_Word_Document2.docx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package" Target="../embeddings/Microsoft_Office_Word_Document7.docx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dotnet/csharp/language-reference/operators/lambda-operator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8.png"/><Relationship Id="rId4" Type="http://schemas.openxmlformats.org/officeDocument/2006/relationships/package" Target="../embeddings/Microsoft_Office_Word_Document20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41.png"/><Relationship Id="rId4" Type="http://schemas.openxmlformats.org/officeDocument/2006/relationships/package" Target="../embeddings/Microsoft_Office_Word_Document22.docx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smtClean="0"/>
              <a:t>Delegates and Events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1"/>
            <a:ext cx="5715000" cy="47243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what</a:t>
            </a:r>
            <a:r>
              <a:rPr lang="en-US" sz="2400" dirty="0" smtClean="0"/>
              <a:t> is a delegate.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create</a:t>
            </a:r>
            <a:r>
              <a:rPr lang="en-US" sz="2400" dirty="0" smtClean="0"/>
              <a:t> delegates.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why</a:t>
            </a:r>
            <a:r>
              <a:rPr lang="en-US" sz="2400" dirty="0" smtClean="0"/>
              <a:t> use delegates.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write</a:t>
            </a:r>
            <a:r>
              <a:rPr lang="en-US" sz="2400" dirty="0" smtClean="0"/>
              <a:t> lambda expressions.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create</a:t>
            </a:r>
            <a:r>
              <a:rPr lang="en-US" sz="2400" dirty="0" smtClean="0"/>
              <a:t> events.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>
                <a:cs typeface="Courier New" pitchFamily="49" charset="0"/>
              </a:rPr>
              <a:t>Delegates.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Lambda Expressions.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>
                <a:cs typeface="Courier New" pitchFamily="49" charset="0"/>
              </a:rPr>
              <a:t>Events.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RB Whitaker (2017). The C# Player's Guide. </a:t>
            </a:r>
            <a:r>
              <a:rPr lang="en-US" sz="2400" dirty="0" err="1" smtClean="0"/>
              <a:t>Starbound</a:t>
            </a:r>
            <a:r>
              <a:rPr lang="en-US" sz="2400" dirty="0" smtClean="0"/>
              <a:t> Software.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Joseph </a:t>
            </a:r>
            <a:r>
              <a:rPr lang="en-US" sz="2400" dirty="0" err="1" smtClean="0"/>
              <a:t>Albahari</a:t>
            </a:r>
            <a:r>
              <a:rPr lang="en-US" sz="2400" dirty="0" smtClean="0"/>
              <a:t> and Eric </a:t>
            </a:r>
            <a:r>
              <a:rPr lang="en-US" sz="2400" dirty="0" err="1" smtClean="0"/>
              <a:t>Johannsen</a:t>
            </a:r>
            <a:r>
              <a:rPr lang="en-US" sz="2400" dirty="0" smtClean="0"/>
              <a:t> (2020). C# 8.0 in a Nutshell: The Definitive Reference. O'Reilly Media.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Tom Archer and Andrew </a:t>
            </a:r>
            <a:r>
              <a:rPr lang="en-US" sz="2400" dirty="0" err="1" smtClean="0"/>
              <a:t>Whitechapel</a:t>
            </a:r>
            <a:r>
              <a:rPr lang="en-US" sz="2400" dirty="0" smtClean="0"/>
              <a:t> (2002). Inside </a:t>
            </a:r>
            <a:r>
              <a:rPr lang="en-US" sz="2400" dirty="0" err="1" smtClean="0"/>
              <a:t>CSharp</a:t>
            </a:r>
            <a:r>
              <a:rPr lang="en-US" sz="2400" dirty="0" smtClean="0"/>
              <a:t>. Microsoft Corporation.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Per </a:t>
            </a:r>
            <a:r>
              <a:rPr lang="en-US" sz="2400" dirty="0" err="1" smtClean="0"/>
              <a:t>Brinch</a:t>
            </a:r>
            <a:r>
              <a:rPr lang="en-US" sz="2400" dirty="0" smtClean="0"/>
              <a:t> Hansen (1970). The Nucleus of a Multiprogramming System.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Variable [1]</a:t>
            </a:r>
          </a:p>
        </p:txBody>
      </p:sp>
      <p:graphicFrame>
        <p:nvGraphicFramePr>
          <p:cNvPr id="243713" name="Object 1"/>
          <p:cNvGraphicFramePr>
            <a:graphicFrameLocks noChangeAspect="1"/>
          </p:cNvGraphicFramePr>
          <p:nvPr/>
        </p:nvGraphicFramePr>
        <p:xfrm>
          <a:off x="76200" y="1219200"/>
          <a:ext cx="5080000" cy="5524500"/>
        </p:xfrm>
        <a:graphic>
          <a:graphicData uri="http://schemas.openxmlformats.org/presentationml/2006/ole">
            <p:oleObj spid="_x0000_s25602" name="Document" r:id="rId3" imgW="4541456" imgH="5335278" progId="Word.Document.12">
              <p:embed/>
            </p:oleObj>
          </a:graphicData>
        </a:graphic>
      </p:graphicFrame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38800" y="1426845"/>
            <a:ext cx="2554605" cy="782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5257800" y="2438400"/>
            <a:ext cx="3581400" cy="1785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dirty="0" smtClean="0"/>
              <a:t>How could we assign a </a:t>
            </a:r>
            <a:r>
              <a:rPr lang="en-US" sz="2200" i="1" dirty="0" smtClean="0">
                <a:solidFill>
                  <a:srgbClr val="C00000"/>
                </a:solidFill>
              </a:rPr>
              <a:t>method</a:t>
            </a:r>
            <a:r>
              <a:rPr lang="en-US" sz="2200" dirty="0" smtClean="0"/>
              <a:t> to a </a:t>
            </a:r>
            <a:r>
              <a:rPr lang="en-US" sz="2200" u="sng" dirty="0" smtClean="0"/>
              <a:t>variable</a:t>
            </a:r>
            <a:r>
              <a:rPr lang="en-US" sz="2200" dirty="0" smtClean="0"/>
              <a:t> and </a:t>
            </a:r>
            <a:r>
              <a:rPr lang="en-US" sz="2200" u="sng" dirty="0" smtClean="0"/>
              <a:t>pass</a:t>
            </a:r>
            <a:r>
              <a:rPr lang="en-US" sz="2200" dirty="0" smtClean="0"/>
              <a:t> it around, just like we’ve done with all of our other types of data?</a:t>
            </a:r>
            <a:endParaRPr lang="en-US" sz="2200" dirty="0"/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2133600" y="1600200"/>
            <a:ext cx="3352800" cy="1295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3657600" y="3200400"/>
            <a:ext cx="4648200" cy="2590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25605" name="Object 5"/>
          <p:cNvGraphicFramePr>
            <a:graphicFrameLocks noChangeAspect="1"/>
          </p:cNvGraphicFramePr>
          <p:nvPr/>
        </p:nvGraphicFramePr>
        <p:xfrm>
          <a:off x="4419600" y="4343400"/>
          <a:ext cx="4699000" cy="2273300"/>
        </p:xfrm>
        <a:graphic>
          <a:graphicData uri="http://schemas.openxmlformats.org/presentationml/2006/ole">
            <p:oleObj spid="_x0000_s25605" name="Document" r:id="rId5" imgW="4202853" imgH="2110461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  <a:latin typeface="Consolas" pitchFamily="49" charset="0"/>
              </a:rPr>
              <a:t>delegate</a:t>
            </a:r>
            <a:r>
              <a:rPr lang="en-US" dirty="0" smtClean="0"/>
              <a:t> Type</a:t>
            </a:r>
          </a:p>
        </p:txBody>
      </p:sp>
      <p:graphicFrame>
        <p:nvGraphicFramePr>
          <p:cNvPr id="243713" name="Object 1"/>
          <p:cNvGraphicFramePr>
            <a:graphicFrameLocks noChangeAspect="1"/>
          </p:cNvGraphicFramePr>
          <p:nvPr/>
        </p:nvGraphicFramePr>
        <p:xfrm>
          <a:off x="76200" y="1219200"/>
          <a:ext cx="6635750" cy="5537200"/>
        </p:xfrm>
        <a:graphic>
          <a:graphicData uri="http://schemas.openxmlformats.org/presentationml/2006/ole">
            <p:oleObj spid="_x0000_s26626" name="Document" r:id="rId3" imgW="5940848" imgH="4969715" progId="Word.Document.12">
              <p:embed/>
            </p:oleObj>
          </a:graphicData>
        </a:graphic>
      </p:graphicFrame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38800" y="1426845"/>
            <a:ext cx="2554605" cy="782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5257800" y="2438400"/>
            <a:ext cx="3581400" cy="1785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dirty="0" smtClean="0"/>
              <a:t>How could we assign a </a:t>
            </a:r>
            <a:r>
              <a:rPr lang="en-US" sz="2200" i="1" dirty="0" smtClean="0">
                <a:solidFill>
                  <a:srgbClr val="C00000"/>
                </a:solidFill>
              </a:rPr>
              <a:t>method</a:t>
            </a:r>
            <a:r>
              <a:rPr lang="en-US" sz="2200" dirty="0" smtClean="0"/>
              <a:t> to a </a:t>
            </a:r>
            <a:r>
              <a:rPr lang="en-US" sz="2200" u="sng" dirty="0" smtClean="0"/>
              <a:t>variable</a:t>
            </a:r>
            <a:r>
              <a:rPr lang="en-US" sz="2200" dirty="0" smtClean="0"/>
              <a:t> and </a:t>
            </a:r>
            <a:r>
              <a:rPr lang="en-US" sz="2200" u="sng" dirty="0" smtClean="0"/>
              <a:t>pass</a:t>
            </a:r>
            <a:r>
              <a:rPr lang="en-US" sz="2200" dirty="0" smtClean="0"/>
              <a:t> it around, just like we’ve done with all of our other types of data?</a:t>
            </a:r>
            <a:endParaRPr lang="en-US" sz="2200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048000" y="3200400"/>
            <a:ext cx="3657600" cy="2057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038600" y="3200400"/>
            <a:ext cx="4267200" cy="2286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990600" y="990600"/>
            <a:ext cx="1524000" cy="228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cs typeface="Courier New" pitchFamily="49" charset="0"/>
              </a:rPr>
              <a:t>What is a Delegate? [2]</a:t>
            </a:r>
            <a:endParaRPr lang="en-US" dirty="0" smtClean="0"/>
          </a:p>
        </p:txBody>
      </p:sp>
      <p:graphicFrame>
        <p:nvGraphicFramePr>
          <p:cNvPr id="243713" name="Object 1"/>
          <p:cNvGraphicFramePr>
            <a:graphicFrameLocks noChangeAspect="1"/>
          </p:cNvGraphicFramePr>
          <p:nvPr/>
        </p:nvGraphicFramePr>
        <p:xfrm>
          <a:off x="76200" y="1365250"/>
          <a:ext cx="5835650" cy="5410200"/>
        </p:xfrm>
        <a:graphic>
          <a:graphicData uri="http://schemas.openxmlformats.org/presentationml/2006/ole">
            <p:oleObj spid="_x0000_s27650" name="Document" r:id="rId3" imgW="5217224" imgH="4858315" progId="Word.Document.12">
              <p:embed/>
            </p:oleObj>
          </a:graphicData>
        </a:graphic>
      </p:graphicFrame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9800" y="3962400"/>
            <a:ext cx="2554605" cy="782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5635722" y="5181600"/>
            <a:ext cx="298043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Declaring a delegate  instance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14600" y="1752600"/>
            <a:ext cx="627864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Type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4600" y="4507468"/>
            <a:ext cx="28194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+mj-lt"/>
              </a:rPr>
              <a:t>Calling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a delegate 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instance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2400" y="533400"/>
            <a:ext cx="160020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Method signature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5867400" y="1295400"/>
            <a:ext cx="3124200" cy="2286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delegate (instance)</a:t>
            </a:r>
            <a:r>
              <a:rPr lang="en-US" sz="2000" dirty="0" smtClean="0"/>
              <a:t> is an </a:t>
            </a:r>
            <a:r>
              <a:rPr lang="en-US" sz="2000" u="sng" dirty="0" smtClean="0"/>
              <a:t>object</a:t>
            </a:r>
            <a:r>
              <a:rPr lang="en-US" sz="2000" dirty="0" smtClean="0"/>
              <a:t> (variable) that holds a method.</a:t>
            </a:r>
          </a:p>
          <a:p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delegate type</a:t>
            </a:r>
            <a:r>
              <a:rPr lang="en-US" sz="2000" dirty="0" smtClean="0"/>
              <a:t> defines the kind of method that </a:t>
            </a:r>
            <a:r>
              <a:rPr lang="en-US" sz="2000" i="1" dirty="0" smtClean="0">
                <a:solidFill>
                  <a:srgbClr val="C00000"/>
                </a:solidFill>
              </a:rPr>
              <a:t>delegate instances</a:t>
            </a:r>
            <a:r>
              <a:rPr lang="en-US" sz="2000" dirty="0" smtClean="0"/>
              <a:t> can call.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209800" y="1600200"/>
            <a:ext cx="381000" cy="228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6" idx="1"/>
          </p:cNvCxnSpPr>
          <p:nvPr/>
        </p:nvCxnSpPr>
        <p:spPr>
          <a:xfrm flipH="1" flipV="1">
            <a:off x="1600200" y="990600"/>
            <a:ext cx="457200" cy="152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Right Brace 25"/>
          <p:cNvSpPr/>
          <p:nvPr/>
        </p:nvSpPr>
        <p:spPr>
          <a:xfrm rot="16200000">
            <a:off x="1943100" y="647700"/>
            <a:ext cx="228600" cy="1219200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2057400" y="4572000"/>
            <a:ext cx="457200" cy="152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5029200" y="5410200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cs typeface="Courier New" pitchFamily="49" charset="0"/>
              </a:rPr>
              <a:t>Creating a </a:t>
            </a:r>
            <a:r>
              <a:rPr lang="en-US" i="1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delegate</a:t>
            </a:r>
            <a:r>
              <a:rPr lang="en-US" dirty="0" smtClean="0">
                <a:cs typeface="Courier New" pitchFamily="49" charset="0"/>
              </a:rPr>
              <a:t> Instance</a:t>
            </a:r>
            <a:endParaRPr lang="en-US" dirty="0" smtClean="0"/>
          </a:p>
        </p:txBody>
      </p:sp>
      <p:graphicFrame>
        <p:nvGraphicFramePr>
          <p:cNvPr id="243713" name="Object 1"/>
          <p:cNvGraphicFramePr>
            <a:graphicFrameLocks noChangeAspect="1"/>
          </p:cNvGraphicFramePr>
          <p:nvPr/>
        </p:nvGraphicFramePr>
        <p:xfrm>
          <a:off x="76200" y="1365250"/>
          <a:ext cx="6534150" cy="5435600"/>
        </p:xfrm>
        <a:graphic>
          <a:graphicData uri="http://schemas.openxmlformats.org/presentationml/2006/ole">
            <p:oleObj spid="_x0000_s45058" name="Document" r:id="rId3" imgW="5843693" imgH="4874178" progId="Word.Document.12">
              <p:embed/>
            </p:oleObj>
          </a:graphicData>
        </a:graphic>
      </p:graphicFrame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9800" y="3962400"/>
            <a:ext cx="2554605" cy="782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6631874" y="5373469"/>
            <a:ext cx="1978726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Creating a delegate  instance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14600" y="1752600"/>
            <a:ext cx="627864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Type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209800" y="1600200"/>
            <a:ext cx="381000" cy="228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6096000" y="5486400"/>
            <a:ext cx="457200" cy="152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Delegates?</a:t>
            </a:r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2438400"/>
            <a:ext cx="23431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07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2667000"/>
            <a:ext cx="2827337" cy="183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Reason 1: Injecting Custom Code</a:t>
            </a:r>
            <a:r>
              <a:rPr lang="en-US" sz="4200" dirty="0" smtClean="0">
                <a:cs typeface="Courier New" pitchFamily="49" charset="0"/>
              </a:rPr>
              <a:t> [3]</a:t>
            </a:r>
            <a:endParaRPr lang="en-US" sz="4200" dirty="0" smtClean="0"/>
          </a:p>
        </p:txBody>
      </p:sp>
      <p:graphicFrame>
        <p:nvGraphicFramePr>
          <p:cNvPr id="62466" name="Object 2"/>
          <p:cNvGraphicFramePr>
            <a:graphicFrameLocks/>
          </p:cNvGraphicFramePr>
          <p:nvPr/>
        </p:nvGraphicFramePr>
        <p:xfrm>
          <a:off x="533400" y="1539875"/>
          <a:ext cx="7908925" cy="4860925"/>
        </p:xfrm>
        <a:graphic>
          <a:graphicData uri="http://schemas.openxmlformats.org/presentationml/2006/ole">
            <p:oleObj spid="_x0000_s66562" name="Document" r:id="rId3" imgW="8396351" imgH="5178814" progId="Word.Document.12">
              <p:embed/>
            </p:oleObj>
          </a:graphicData>
        </a:graphic>
      </p:graphicFrame>
      <p:pic>
        <p:nvPicPr>
          <p:cNvPr id="6554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29000" y="5943600"/>
            <a:ext cx="210312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 2: Combining Injected Code</a:t>
            </a:r>
          </a:p>
        </p:txBody>
      </p:sp>
      <p:graphicFrame>
        <p:nvGraphicFramePr>
          <p:cNvPr id="63490" name="Object 2"/>
          <p:cNvGraphicFramePr>
            <a:graphicFrameLocks noChangeAspect="1"/>
          </p:cNvGraphicFramePr>
          <p:nvPr/>
        </p:nvGraphicFramePr>
        <p:xfrm>
          <a:off x="76200" y="1265237"/>
          <a:ext cx="8420100" cy="5440363"/>
        </p:xfrm>
        <a:graphic>
          <a:graphicData uri="http://schemas.openxmlformats.org/presentationml/2006/ole">
            <p:oleObj spid="_x0000_s3074" name="Document" r:id="rId3" imgW="6393878" imgH="4127189" progId="Word.Document.12">
              <p:embed/>
            </p:oleObj>
          </a:graphicData>
        </a:graphic>
      </p:graphicFrame>
      <p:graphicFrame>
        <p:nvGraphicFramePr>
          <p:cNvPr id="5" name="Diagram 4"/>
          <p:cNvGraphicFramePr/>
          <p:nvPr/>
        </p:nvGraphicFramePr>
        <p:xfrm>
          <a:off x="6019800" y="1676400"/>
          <a:ext cx="2667000" cy="58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019800" y="4495800"/>
            <a:ext cx="2663190" cy="725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5867400" y="2438400"/>
            <a:ext cx="274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Consolas" pitchFamily="49" charset="0"/>
              </a:rPr>
              <a:t>Composed (Multicast) Delegates</a:t>
            </a:r>
            <a:endParaRPr lang="en-US" b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D1 ➠ D2 ≠ D1 + D2 [2]</a:t>
            </a:r>
          </a:p>
        </p:txBody>
      </p:sp>
      <p:graphicFrame>
        <p:nvGraphicFramePr>
          <p:cNvPr id="62466" name="Object 2"/>
          <p:cNvGraphicFramePr>
            <a:graphicFrameLocks/>
          </p:cNvGraphicFramePr>
          <p:nvPr/>
        </p:nvGraphicFramePr>
        <p:xfrm>
          <a:off x="152400" y="1295400"/>
          <a:ext cx="6553200" cy="5403850"/>
        </p:xfrm>
        <a:graphic>
          <a:graphicData uri="http://schemas.openxmlformats.org/presentationml/2006/ole">
            <p:oleObj spid="_x0000_s108546" name="Document" r:id="rId3" imgW="7255320" imgH="6046216" progId="Word.Document.12">
              <p:embed/>
            </p:oleObj>
          </a:graphicData>
        </a:graphic>
      </p:graphicFrame>
      <p:pic>
        <p:nvPicPr>
          <p:cNvPr id="1085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29400" y="5410200"/>
            <a:ext cx="2017395" cy="897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855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53200" y="3810000"/>
            <a:ext cx="2238375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Generic Delegate Types</a:t>
            </a:r>
          </a:p>
        </p:txBody>
      </p:sp>
      <p:graphicFrame>
        <p:nvGraphicFramePr>
          <p:cNvPr id="62466" name="Object 2"/>
          <p:cNvGraphicFramePr>
            <a:graphicFrameLocks/>
          </p:cNvGraphicFramePr>
          <p:nvPr/>
        </p:nvGraphicFramePr>
        <p:xfrm>
          <a:off x="76200" y="1295400"/>
          <a:ext cx="8223250" cy="5505450"/>
        </p:xfrm>
        <a:graphic>
          <a:graphicData uri="http://schemas.openxmlformats.org/presentationml/2006/ole">
            <p:oleObj spid="_x0000_s109570" name="Document" r:id="rId3" imgW="8657230" imgH="5806112" progId="Word.Document.12">
              <p:embed/>
            </p:oleObj>
          </a:graphicData>
        </a:graphic>
      </p:graphicFrame>
      <p:pic>
        <p:nvPicPr>
          <p:cNvPr id="1095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77000" y="3352800"/>
            <a:ext cx="2034540" cy="708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i="1" dirty="0" err="1" smtClean="0">
                <a:solidFill>
                  <a:srgbClr val="C00000"/>
                </a:solidFill>
                <a:latin typeface="Consolas" pitchFamily="49" charset="0"/>
              </a:rPr>
              <a:t>Func</a:t>
            </a:r>
            <a:r>
              <a:rPr lang="en-US" dirty="0" smtClean="0"/>
              <a:t> and </a:t>
            </a:r>
            <a:r>
              <a:rPr lang="en-US" i="1" dirty="0" smtClean="0">
                <a:solidFill>
                  <a:srgbClr val="C00000"/>
                </a:solidFill>
                <a:latin typeface="Consolas" pitchFamily="49" charset="0"/>
              </a:rPr>
              <a:t>Action</a:t>
            </a:r>
            <a:r>
              <a:rPr lang="en-US" dirty="0" smtClean="0"/>
              <a:t> Delegates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62200"/>
          </a:xfrm>
        </p:spPr>
        <p:txBody>
          <a:bodyPr/>
          <a:lstStyle/>
          <a:p>
            <a:r>
              <a:rPr lang="en-US" sz="2400" dirty="0" smtClean="0"/>
              <a:t>With </a:t>
            </a:r>
            <a:r>
              <a:rPr lang="en-US" sz="2400" u="sng" dirty="0" smtClean="0"/>
              <a:t>generic delegates</a:t>
            </a:r>
            <a:r>
              <a:rPr lang="en-US" sz="2400" dirty="0" smtClean="0"/>
              <a:t>, it becomes possible to write a small </a:t>
            </a:r>
            <a:r>
              <a:rPr lang="en-US" sz="2400" i="1" dirty="0" smtClean="0">
                <a:solidFill>
                  <a:srgbClr val="C00000"/>
                </a:solidFill>
              </a:rPr>
              <a:t>set of delegate types</a:t>
            </a:r>
            <a:r>
              <a:rPr lang="en-US" sz="2400" dirty="0" smtClean="0"/>
              <a:t> that are so general they can work for methods of any return type and any (reasonable) number of arguments.</a:t>
            </a:r>
          </a:p>
          <a:p>
            <a:r>
              <a:rPr lang="en-US" sz="2400" dirty="0" smtClean="0"/>
              <a:t>These delegates are the </a:t>
            </a:r>
            <a:r>
              <a:rPr lang="en-US" sz="2400" i="1" dirty="0" err="1" smtClean="0">
                <a:solidFill>
                  <a:srgbClr val="C00000"/>
                </a:solidFill>
              </a:rPr>
              <a:t>Func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Action</a:t>
            </a:r>
            <a:r>
              <a:rPr lang="en-US" sz="2400" dirty="0" smtClean="0"/>
              <a:t> delegates, defined in the System namespace:</a:t>
            </a:r>
            <a:endParaRPr lang="en-US" sz="2400" dirty="0"/>
          </a:p>
        </p:txBody>
      </p:sp>
      <p:graphicFrame>
        <p:nvGraphicFramePr>
          <p:cNvPr id="70658" name="Object 2"/>
          <p:cNvGraphicFramePr>
            <a:graphicFrameLocks noChangeAspect="1"/>
          </p:cNvGraphicFramePr>
          <p:nvPr/>
        </p:nvGraphicFramePr>
        <p:xfrm>
          <a:off x="944563" y="4244975"/>
          <a:ext cx="7666037" cy="1928813"/>
        </p:xfrm>
        <a:graphic>
          <a:graphicData uri="http://schemas.openxmlformats.org/presentationml/2006/ole">
            <p:oleObj spid="_x0000_s70658" name="Document" r:id="rId3" imgW="5897668" imgH="1486408" progId="Word.Document.12">
              <p:embed/>
            </p:oleObj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1752600" y="4038600"/>
            <a:ext cx="304800" cy="152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600200" y="5105400"/>
            <a:ext cx="304800" cy="152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 smtClean="0">
                <a:solidFill>
                  <a:srgbClr val="C00000"/>
                </a:solidFill>
                <a:latin typeface="Consolas" pitchFamily="49" charset="0"/>
              </a:rPr>
              <a:t>Func</a:t>
            </a:r>
            <a:r>
              <a:rPr lang="en-US" dirty="0" smtClean="0"/>
              <a:t> Example</a:t>
            </a:r>
          </a:p>
        </p:txBody>
      </p:sp>
      <p:graphicFrame>
        <p:nvGraphicFramePr>
          <p:cNvPr id="62466" name="Object 2"/>
          <p:cNvGraphicFramePr>
            <a:graphicFrameLocks/>
          </p:cNvGraphicFramePr>
          <p:nvPr/>
        </p:nvGraphicFramePr>
        <p:xfrm>
          <a:off x="381000" y="1447800"/>
          <a:ext cx="8413750" cy="5060950"/>
        </p:xfrm>
        <a:graphic>
          <a:graphicData uri="http://schemas.openxmlformats.org/presentationml/2006/ole">
            <p:oleObj spid="_x0000_s71682" name="Document" r:id="rId3" imgW="9181148" imgH="5892997" progId="Word.Document.12">
              <p:embed/>
            </p:oleObj>
          </a:graphicData>
        </a:graphic>
      </p:graphicFrame>
      <p:sp>
        <p:nvSpPr>
          <p:cNvPr id="7" name="Rectangle 6"/>
          <p:cNvSpPr/>
          <p:nvPr/>
        </p:nvSpPr>
        <p:spPr>
          <a:xfrm>
            <a:off x="5867400" y="2209800"/>
            <a:ext cx="3124200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Why </a:t>
            </a:r>
            <a:r>
              <a:rPr lang="en-US" i="1" u="sng" dirty="0" err="1" smtClean="0">
                <a:solidFill>
                  <a:schemeClr val="bg1"/>
                </a:solidFill>
                <a:latin typeface="Consolas" pitchFamily="49" charset="0"/>
              </a:rPr>
              <a:t>Func</a:t>
            </a:r>
            <a:r>
              <a:rPr lang="en-US" dirty="0" smtClean="0">
                <a:solidFill>
                  <a:schemeClr val="bg1"/>
                </a:solidFill>
              </a:rPr>
              <a:t> and </a:t>
            </a:r>
            <a:r>
              <a:rPr lang="en-US" i="1" u="sng" dirty="0" smtClean="0">
                <a:solidFill>
                  <a:schemeClr val="bg1"/>
                </a:solidFill>
                <a:latin typeface="Consolas" pitchFamily="49" charset="0"/>
              </a:rPr>
              <a:t>Action</a:t>
            </a:r>
            <a:r>
              <a:rPr lang="en-US" dirty="0" smtClean="0">
                <a:solidFill>
                  <a:schemeClr val="bg1"/>
                </a:solidFill>
              </a:rPr>
              <a:t> Delegates? 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– Omitting </a:t>
            </a:r>
            <a:r>
              <a:rPr lang="en-US" u="sng" dirty="0" smtClean="0">
                <a:solidFill>
                  <a:schemeClr val="bg1"/>
                </a:solidFill>
              </a:rPr>
              <a:t>writing the delegate type</a:t>
            </a:r>
            <a:r>
              <a:rPr lang="en-US" dirty="0" smtClean="0">
                <a:solidFill>
                  <a:schemeClr val="bg1"/>
                </a:solidFill>
              </a:rPr>
              <a:t>, which includes specifying the return and argument types.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0" y="5943600"/>
            <a:ext cx="2034540" cy="708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Lambda Expression</a:t>
            </a:r>
          </a:p>
        </p:txBody>
      </p:sp>
      <p:graphicFrame>
        <p:nvGraphicFramePr>
          <p:cNvPr id="62466" name="Object 2"/>
          <p:cNvGraphicFramePr>
            <a:graphicFrameLocks/>
          </p:cNvGraphicFramePr>
          <p:nvPr/>
        </p:nvGraphicFramePr>
        <p:xfrm>
          <a:off x="260350" y="1365250"/>
          <a:ext cx="8610600" cy="4959350"/>
        </p:xfrm>
        <a:graphic>
          <a:graphicData uri="http://schemas.openxmlformats.org/presentationml/2006/ole">
            <p:oleObj spid="_x0000_s91138" name="Document" r:id="rId3" imgW="8909473" imgH="5151054" progId="Word.Document.12">
              <p:embed/>
            </p:oleObj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0" y="2277070"/>
            <a:ext cx="38862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 smtClean="0"/>
              <a:t>A </a:t>
            </a:r>
            <a:r>
              <a:rPr lang="en-US" i="1" dirty="0" smtClean="0">
                <a:solidFill>
                  <a:srgbClr val="C00000"/>
                </a:solidFill>
              </a:rPr>
              <a:t>lambda expression</a:t>
            </a:r>
            <a:r>
              <a:rPr lang="en-US" dirty="0" smtClean="0"/>
              <a:t> is an </a:t>
            </a:r>
            <a:r>
              <a:rPr lang="en-US" u="sng" dirty="0" smtClean="0"/>
              <a:t>unnamed method</a:t>
            </a:r>
            <a:r>
              <a:rPr lang="en-US" dirty="0" smtClean="0"/>
              <a:t> written in place of a </a:t>
            </a:r>
            <a:r>
              <a:rPr lang="en-US" u="sng" dirty="0" smtClean="0"/>
              <a:t>delegate instance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438400" y="5983069"/>
            <a:ext cx="64770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 smtClean="0"/>
              <a:t>A lambda expression has the following form:</a:t>
            </a:r>
          </a:p>
          <a:p>
            <a:pPr algn="ctr"/>
            <a:r>
              <a:rPr lang="en-US" b="1" dirty="0" smtClean="0">
                <a:solidFill>
                  <a:srgbClr val="C00000"/>
                </a:solidFill>
                <a:latin typeface="Consolas" pitchFamily="49" charset="0"/>
              </a:rPr>
              <a:t>(parameters) =&gt; expression-or-statement-block</a:t>
            </a:r>
            <a:endParaRPr lang="en-US" b="1" dirty="0">
              <a:solidFill>
                <a:srgbClr val="C00000"/>
              </a:solidFill>
              <a:latin typeface="Consolas" pitchFamily="49" charset="0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80860" y="3352800"/>
            <a:ext cx="2034540" cy="708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Lambda Operator: </a:t>
            </a:r>
            <a:r>
              <a:rPr lang="en-US" b="1" i="1" dirty="0" smtClean="0">
                <a:solidFill>
                  <a:srgbClr val="C00000"/>
                </a:solidFill>
                <a:latin typeface="Consolas" pitchFamily="49" charset="0"/>
              </a:rPr>
              <a:t>=&gt;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https://docs.microsoft.com/en-us/dotnet/csharp/language-reference/operators/lambda-operator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=&gt;</a:t>
            </a:r>
            <a:r>
              <a:rPr lang="en-US" sz="2400" dirty="0" smtClean="0"/>
              <a:t> token is called the </a:t>
            </a:r>
            <a:r>
              <a:rPr lang="en-US" sz="2400" i="1" dirty="0" smtClean="0">
                <a:solidFill>
                  <a:srgbClr val="C00000"/>
                </a:solidFill>
              </a:rPr>
              <a:t>lambda operator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It is used in lambda expressions to </a:t>
            </a:r>
            <a:r>
              <a:rPr lang="en-US" sz="2400" i="1" dirty="0" smtClean="0">
                <a:solidFill>
                  <a:srgbClr val="C00000"/>
                </a:solidFill>
              </a:rPr>
              <a:t>separate</a:t>
            </a:r>
            <a:r>
              <a:rPr lang="en-US" sz="2400" dirty="0" smtClean="0"/>
              <a:t> </a:t>
            </a:r>
            <a:r>
              <a:rPr lang="en-US" sz="2400" u="sng" dirty="0" smtClean="0"/>
              <a:t>the input variables</a:t>
            </a:r>
            <a:r>
              <a:rPr lang="en-US" sz="2400" dirty="0" smtClean="0"/>
              <a:t> on the left side from </a:t>
            </a:r>
            <a:r>
              <a:rPr lang="en-US" sz="2400" u="sng" dirty="0" smtClean="0"/>
              <a:t>the lambda body</a:t>
            </a:r>
            <a:r>
              <a:rPr lang="en-US" sz="2400" dirty="0" smtClean="0"/>
              <a:t> on the right side.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63" name="Object 2"/>
          <p:cNvGraphicFramePr>
            <a:graphicFrameLocks/>
          </p:cNvGraphicFramePr>
          <p:nvPr/>
        </p:nvGraphicFramePr>
        <p:xfrm>
          <a:off x="260350" y="1282700"/>
          <a:ext cx="8464550" cy="4889500"/>
        </p:xfrm>
        <a:graphic>
          <a:graphicData uri="http://schemas.openxmlformats.org/presentationml/2006/ole">
            <p:oleObj spid="_x0000_s92163" name="Document" r:id="rId3" imgW="8909473" imgH="5158986" progId="Word.Document.12">
              <p:embed/>
            </p:oleObj>
          </a:graphicData>
        </a:graphic>
      </p:graphicFrame>
      <p:sp>
        <p:nvSpPr>
          <p:cNvPr id="624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Lambda Expression with One Parameter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0" y="2133600"/>
            <a:ext cx="38862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 smtClean="0"/>
              <a:t>You can </a:t>
            </a:r>
            <a:r>
              <a:rPr lang="en-US" i="1" dirty="0" smtClean="0">
                <a:solidFill>
                  <a:srgbClr val="C00000"/>
                </a:solidFill>
              </a:rPr>
              <a:t>omit</a:t>
            </a:r>
            <a:r>
              <a:rPr lang="en-US" dirty="0" smtClean="0">
                <a:solidFill>
                  <a:schemeClr val="tx1"/>
                </a:solidFill>
              </a:rPr>
              <a:t> the parentheses ()</a:t>
            </a:r>
            <a:r>
              <a:rPr lang="en-US" dirty="0" smtClean="0"/>
              <a:t> if and only if there is exactly </a:t>
            </a:r>
            <a:r>
              <a:rPr lang="en-US" u="sng" dirty="0" smtClean="0"/>
              <a:t>one parameter</a:t>
            </a:r>
            <a:r>
              <a:rPr lang="en-US" dirty="0" smtClean="0"/>
              <a:t> of an inferable type.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581400" y="5706070"/>
            <a:ext cx="52578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 smtClean="0"/>
              <a:t>If we only have </a:t>
            </a:r>
            <a:r>
              <a:rPr lang="en-US" i="1" dirty="0" smtClean="0">
                <a:solidFill>
                  <a:srgbClr val="C00000"/>
                </a:solidFill>
              </a:rPr>
              <a:t>one statement </a:t>
            </a:r>
            <a:r>
              <a:rPr lang="en-US" dirty="0" smtClean="0"/>
              <a:t>and want to return this, then we can </a:t>
            </a:r>
            <a:r>
              <a:rPr lang="en-US" u="sng" dirty="0" smtClean="0"/>
              <a:t>omit</a:t>
            </a:r>
            <a:r>
              <a:rPr lang="en-US" dirty="0" smtClean="0"/>
              <a:t> the curly brackets {} and skip the return keyword.</a:t>
            </a:r>
            <a:endParaRPr lang="en-US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0" y="4038600"/>
            <a:ext cx="2034540" cy="708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Capturing Outer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67000"/>
          </a:xfrm>
        </p:spPr>
        <p:txBody>
          <a:bodyPr/>
          <a:lstStyle/>
          <a:p>
            <a:r>
              <a:rPr lang="en-US" sz="2200" dirty="0" smtClean="0"/>
              <a:t>A lambda expression can </a:t>
            </a:r>
            <a:r>
              <a:rPr lang="en-US" sz="2200" i="1" dirty="0" smtClean="0">
                <a:solidFill>
                  <a:srgbClr val="C00000"/>
                </a:solidFill>
              </a:rPr>
              <a:t>reference</a:t>
            </a:r>
            <a:r>
              <a:rPr lang="en-US" sz="2200" dirty="0" smtClean="0"/>
              <a:t> the </a:t>
            </a:r>
            <a:r>
              <a:rPr lang="en-US" sz="2200" u="sng" dirty="0" smtClean="0"/>
              <a:t>local variables</a:t>
            </a:r>
            <a:r>
              <a:rPr lang="en-US" sz="2200" dirty="0" smtClean="0"/>
              <a:t> and </a:t>
            </a:r>
            <a:r>
              <a:rPr lang="en-US" sz="2200" u="sng" dirty="0" smtClean="0"/>
              <a:t>parameters</a:t>
            </a:r>
            <a:r>
              <a:rPr lang="en-US" sz="2200" dirty="0" smtClean="0"/>
              <a:t> of the method in which it’s defined (outer variables).</a:t>
            </a:r>
          </a:p>
          <a:p>
            <a:r>
              <a:rPr lang="en-US" sz="2200" u="sng" dirty="0" smtClean="0"/>
              <a:t>Outer variables</a:t>
            </a:r>
            <a:r>
              <a:rPr lang="en-US" sz="2200" dirty="0" smtClean="0"/>
              <a:t> referenced by a lambda expression are called </a:t>
            </a:r>
            <a:r>
              <a:rPr lang="en-US" sz="2200" i="1" dirty="0" smtClean="0">
                <a:solidFill>
                  <a:srgbClr val="C00000"/>
                </a:solidFill>
              </a:rPr>
              <a:t>captured variables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A </a:t>
            </a:r>
            <a:r>
              <a:rPr lang="en-US" sz="2200" u="sng" dirty="0" smtClean="0"/>
              <a:t>lambda expression</a:t>
            </a:r>
            <a:r>
              <a:rPr lang="en-US" sz="2200" dirty="0" smtClean="0"/>
              <a:t> that captures variables is called a </a:t>
            </a:r>
            <a:r>
              <a:rPr lang="en-US" sz="2200" i="1" dirty="0" smtClean="0">
                <a:solidFill>
                  <a:srgbClr val="C00000"/>
                </a:solidFill>
              </a:rPr>
              <a:t>closure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Captured variables are </a:t>
            </a:r>
            <a:r>
              <a:rPr lang="en-US" sz="2200" i="1" dirty="0" smtClean="0">
                <a:solidFill>
                  <a:srgbClr val="C00000"/>
                </a:solidFill>
              </a:rPr>
              <a:t>evaluated</a:t>
            </a:r>
            <a:r>
              <a:rPr lang="en-US" sz="2200" dirty="0" smtClean="0"/>
              <a:t> when the delegate is </a:t>
            </a:r>
            <a:r>
              <a:rPr lang="en-US" sz="2200" u="sng" dirty="0" smtClean="0"/>
              <a:t>actually invoked</a:t>
            </a:r>
            <a:r>
              <a:rPr lang="en-US" sz="2200" dirty="0" smtClean="0"/>
              <a:t>, not when the variables were captured.</a:t>
            </a:r>
            <a:endParaRPr lang="en-US" sz="2200" dirty="0"/>
          </a:p>
        </p:txBody>
      </p:sp>
      <p:graphicFrame>
        <p:nvGraphicFramePr>
          <p:cNvPr id="143362" name="Object 2"/>
          <p:cNvGraphicFramePr>
            <a:graphicFrameLocks/>
          </p:cNvGraphicFramePr>
          <p:nvPr/>
        </p:nvGraphicFramePr>
        <p:xfrm>
          <a:off x="501650" y="4394200"/>
          <a:ext cx="6813550" cy="2311400"/>
        </p:xfrm>
        <a:graphic>
          <a:graphicData uri="http://schemas.openxmlformats.org/presentationml/2006/ole">
            <p:oleObj spid="_x0000_s143362" name="Document" r:id="rId3" imgW="7173278" imgH="2442497" progId="Word.Document.12">
              <p:embed/>
            </p:oleObj>
          </a:graphicData>
        </a:graphic>
      </p:graphicFrame>
      <p:pic>
        <p:nvPicPr>
          <p:cNvPr id="14336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15175" y="5638800"/>
            <a:ext cx="1571625" cy="794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Capturing Iteration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57399"/>
          </a:xfrm>
        </p:spPr>
        <p:txBody>
          <a:bodyPr/>
          <a:lstStyle/>
          <a:p>
            <a:r>
              <a:rPr lang="en-US" sz="2400" dirty="0" smtClean="0"/>
              <a:t>When you capture the </a:t>
            </a:r>
            <a:r>
              <a:rPr lang="en-US" sz="2400" i="1" dirty="0" smtClean="0">
                <a:solidFill>
                  <a:srgbClr val="C00000"/>
                </a:solidFill>
              </a:rPr>
              <a:t>iteration variable</a:t>
            </a:r>
            <a:r>
              <a:rPr lang="en-US" sz="2400" dirty="0" smtClean="0"/>
              <a:t> of a </a:t>
            </a:r>
            <a:r>
              <a:rPr lang="en-US" sz="2400" u="sng" dirty="0" smtClean="0">
                <a:latin typeface="Consolas" pitchFamily="49" charset="0"/>
              </a:rPr>
              <a:t>for</a:t>
            </a:r>
            <a:r>
              <a:rPr lang="en-US" sz="2400" dirty="0" smtClean="0"/>
              <a:t> loop, C# treats that variable as though it was declared </a:t>
            </a:r>
            <a:r>
              <a:rPr lang="en-US" sz="2400" u="sng" dirty="0" smtClean="0"/>
              <a:t>outside</a:t>
            </a:r>
            <a:r>
              <a:rPr lang="en-US" sz="2400" dirty="0" smtClean="0"/>
              <a:t> the loop.</a:t>
            </a:r>
          </a:p>
          <a:p>
            <a:r>
              <a:rPr lang="en-US" sz="2400" dirty="0" smtClean="0"/>
              <a:t>This means that </a:t>
            </a:r>
            <a:r>
              <a:rPr lang="en-US" sz="2400" i="1" dirty="0" smtClean="0">
                <a:solidFill>
                  <a:srgbClr val="C00000"/>
                </a:solidFill>
              </a:rPr>
              <a:t>the same</a:t>
            </a:r>
            <a:r>
              <a:rPr lang="en-US" sz="2400" dirty="0" smtClean="0"/>
              <a:t> variable is captured in each iteration.</a:t>
            </a:r>
            <a:endParaRPr lang="en-US" sz="2400" dirty="0"/>
          </a:p>
        </p:txBody>
      </p:sp>
      <p:graphicFrame>
        <p:nvGraphicFramePr>
          <p:cNvPr id="143362" name="Object 2"/>
          <p:cNvGraphicFramePr>
            <a:graphicFrameLocks/>
          </p:cNvGraphicFramePr>
          <p:nvPr/>
        </p:nvGraphicFramePr>
        <p:xfrm>
          <a:off x="501650" y="3810000"/>
          <a:ext cx="8159750" cy="2787650"/>
        </p:xfrm>
        <a:graphic>
          <a:graphicData uri="http://schemas.openxmlformats.org/presentationml/2006/ole">
            <p:oleObj spid="_x0000_s144386" name="Document" r:id="rId3" imgW="8574109" imgH="2938206" progId="Word.Document.12">
              <p:embed/>
            </p:oleObj>
          </a:graphicData>
        </a:graphic>
      </p:graphicFrame>
      <p:pic>
        <p:nvPicPr>
          <p:cNvPr id="14438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39000" y="4876800"/>
            <a:ext cx="1565910" cy="965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Lambda Expressions Work?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21336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compiler</a:t>
            </a:r>
            <a:r>
              <a:rPr lang="en-US" sz="2200" dirty="0" smtClean="0"/>
              <a:t> immediately </a:t>
            </a:r>
            <a:r>
              <a:rPr lang="en-US" sz="2200" u="sng" dirty="0" smtClean="0"/>
              <a:t>converts</a:t>
            </a:r>
            <a:r>
              <a:rPr lang="en-US" sz="2200" dirty="0" smtClean="0"/>
              <a:t> the lambda expression to either: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1800" dirty="0" smtClean="0"/>
              <a:t>A </a:t>
            </a:r>
            <a:r>
              <a:rPr lang="en-US" sz="1800" u="sng" dirty="0" smtClean="0"/>
              <a:t>delegate instance</a:t>
            </a:r>
            <a:r>
              <a:rPr lang="en-US" sz="1800" dirty="0" smtClean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1800" dirty="0" smtClean="0"/>
              <a:t>An </a:t>
            </a:r>
            <a:r>
              <a:rPr lang="en-US" sz="1800" u="sng" dirty="0" smtClean="0"/>
              <a:t>expression tree</a:t>
            </a:r>
            <a:r>
              <a:rPr lang="en-US" sz="1800" dirty="0" smtClean="0"/>
              <a:t>, of type </a:t>
            </a:r>
            <a:r>
              <a:rPr lang="en-US" sz="1800" b="1" dirty="0" smtClean="0">
                <a:latin typeface="Consolas" pitchFamily="49" charset="0"/>
              </a:rPr>
              <a:t>Expression&lt;</a:t>
            </a:r>
            <a:r>
              <a:rPr lang="en-US" sz="1800" b="1" dirty="0" err="1" smtClean="0">
                <a:latin typeface="Consolas" pitchFamily="49" charset="0"/>
              </a:rPr>
              <a:t>TDelegate</a:t>
            </a:r>
            <a:r>
              <a:rPr lang="en-US" sz="1800" b="1" dirty="0" smtClean="0">
                <a:latin typeface="Consolas" pitchFamily="49" charset="0"/>
              </a:rPr>
              <a:t>&gt;</a:t>
            </a:r>
            <a:r>
              <a:rPr lang="en-US" sz="1800" dirty="0" smtClean="0"/>
              <a:t>, representing the code inside the lambda expression in a traversable object model. This allows the lambda expression to be </a:t>
            </a:r>
            <a:r>
              <a:rPr lang="en-US" sz="1800" i="1" dirty="0" smtClean="0">
                <a:solidFill>
                  <a:srgbClr val="C00000"/>
                </a:solidFill>
              </a:rPr>
              <a:t>interpreted later</a:t>
            </a:r>
            <a:r>
              <a:rPr lang="en-US" sz="1800" dirty="0" smtClean="0"/>
              <a:t> at runtime. </a:t>
            </a:r>
            <a:r>
              <a:rPr lang="en-US" sz="1800" i="1" dirty="0" smtClean="0">
                <a:solidFill>
                  <a:srgbClr val="C00000"/>
                </a:solidFill>
              </a:rPr>
              <a:t>What</a:t>
            </a:r>
            <a:r>
              <a:rPr lang="en-US" sz="1800" dirty="0" smtClean="0"/>
              <a:t> is an </a:t>
            </a:r>
            <a:r>
              <a:rPr lang="en-US" sz="1800" u="sng" dirty="0" smtClean="0"/>
              <a:t>expression tree</a:t>
            </a:r>
            <a:r>
              <a:rPr lang="en-US" sz="1800" dirty="0" smtClean="0"/>
              <a:t>?</a:t>
            </a:r>
          </a:p>
        </p:txBody>
      </p:sp>
      <p:graphicFrame>
        <p:nvGraphicFramePr>
          <p:cNvPr id="112641" name="Object 2"/>
          <p:cNvGraphicFramePr>
            <a:graphicFrameLocks/>
          </p:cNvGraphicFramePr>
          <p:nvPr/>
        </p:nvGraphicFramePr>
        <p:xfrm>
          <a:off x="234950" y="3732213"/>
          <a:ext cx="7461250" cy="2974975"/>
        </p:xfrm>
        <a:graphic>
          <a:graphicData uri="http://schemas.openxmlformats.org/presentationml/2006/ole">
            <p:oleObj spid="_x0000_s112641" name="Document" r:id="rId3" imgW="7853362" imgH="3135048" progId="Word.Document.12">
              <p:embed/>
            </p:oleObj>
          </a:graphicData>
        </a:graphic>
      </p:graphicFrame>
      <p:pic>
        <p:nvPicPr>
          <p:cNvPr id="11264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39000" y="5791200"/>
            <a:ext cx="1634490" cy="954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77075" y="3429000"/>
            <a:ext cx="1914525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Straight Arrow Connector 9"/>
          <p:cNvCxnSpPr/>
          <p:nvPr/>
        </p:nvCxnSpPr>
        <p:spPr>
          <a:xfrm flipH="1" flipV="1">
            <a:off x="7162800" y="3276600"/>
            <a:ext cx="228600" cy="381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Lambda Expressions?</a:t>
            </a:r>
            <a:endParaRPr lang="en-US" dirty="0"/>
          </a:p>
        </p:txBody>
      </p:sp>
      <p:pic>
        <p:nvPicPr>
          <p:cNvPr id="93186" name="Picture 2" descr="http://img.viralpatel.net/2014/01/java-lambda-expressi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2590800"/>
            <a:ext cx="2190750" cy="2181226"/>
          </a:xfrm>
          <a:prstGeom prst="rect">
            <a:avLst/>
          </a:prstGeom>
          <a:noFill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2667000"/>
            <a:ext cx="23431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Publisher and Subscriber</a:t>
            </a:r>
          </a:p>
        </p:txBody>
      </p:sp>
      <p:graphicFrame>
        <p:nvGraphicFramePr>
          <p:cNvPr id="62466" name="Object 2"/>
          <p:cNvGraphicFramePr>
            <a:graphicFrameLocks/>
          </p:cNvGraphicFramePr>
          <p:nvPr/>
        </p:nvGraphicFramePr>
        <p:xfrm>
          <a:off x="-228600" y="1371600"/>
          <a:ext cx="7908925" cy="4860925"/>
        </p:xfrm>
        <a:graphic>
          <a:graphicData uri="http://schemas.openxmlformats.org/presentationml/2006/ole">
            <p:oleObj spid="_x0000_s72706" name="Document" r:id="rId3" imgW="8396351" imgH="5193956" progId="Word.Document.12">
              <p:embed/>
            </p:oleObj>
          </a:graphicData>
        </a:graphic>
      </p:graphicFrame>
      <p:pic>
        <p:nvPicPr>
          <p:cNvPr id="6554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95400" y="5943600"/>
            <a:ext cx="210312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5867400" y="1828800"/>
            <a:ext cx="3200400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The </a:t>
            </a:r>
            <a:r>
              <a:rPr lang="en-US" u="sng" dirty="0" smtClean="0">
                <a:latin typeface="+mj-lt"/>
              </a:rPr>
              <a:t>broadcaster</a:t>
            </a:r>
            <a:r>
              <a:rPr lang="en-US" dirty="0" smtClean="0">
                <a:latin typeface="+mj-lt"/>
              </a:rPr>
              <a:t> or </a:t>
            </a:r>
            <a:r>
              <a:rPr lang="en-US" u="sng" dirty="0" smtClean="0">
                <a:latin typeface="+mj-lt"/>
              </a:rPr>
              <a:t>publisher</a:t>
            </a:r>
            <a:r>
              <a:rPr lang="en-US" dirty="0" smtClean="0">
                <a:latin typeface="+mj-lt"/>
              </a:rPr>
              <a:t> is a type that contains a </a:t>
            </a:r>
            <a:r>
              <a:rPr lang="en-US" u="sng" dirty="0" smtClean="0">
                <a:latin typeface="+mj-lt"/>
              </a:rPr>
              <a:t>delegate field</a:t>
            </a:r>
            <a:r>
              <a:rPr lang="en-US" dirty="0" smtClean="0">
                <a:latin typeface="+mj-lt"/>
              </a:rPr>
              <a:t>. The broadcaster decides when to broadcast, by invoking the delegate.</a:t>
            </a:r>
            <a:endParaRPr lang="en-US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48200" y="5505271"/>
            <a:ext cx="4419600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The </a:t>
            </a:r>
            <a:r>
              <a:rPr lang="en-US" u="sng" dirty="0" smtClean="0">
                <a:latin typeface="+mj-lt"/>
              </a:rPr>
              <a:t>subscribers</a:t>
            </a:r>
            <a:r>
              <a:rPr lang="en-US" dirty="0" smtClean="0">
                <a:latin typeface="+mj-lt"/>
              </a:rPr>
              <a:t> are the method target recipients. A subscriber decides when to start and stop listening, by calling += and −= on the </a:t>
            </a:r>
            <a:r>
              <a:rPr lang="en-US" u="sng" dirty="0" smtClean="0">
                <a:latin typeface="+mj-lt"/>
              </a:rPr>
              <a:t>broadcaster’s delegate</a:t>
            </a:r>
            <a:r>
              <a:rPr lang="en-US" dirty="0" smtClean="0">
                <a:latin typeface="+mj-lt"/>
              </a:rPr>
              <a:t>.</a:t>
            </a:r>
            <a:endParaRPr lang="en-US" dirty="0">
              <a:latin typeface="+mj-lt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2819400" y="1981200"/>
            <a:ext cx="2895600" cy="76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1905000" y="3505200"/>
            <a:ext cx="2819400" cy="2209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731" name="Object 2"/>
          <p:cNvGraphicFramePr>
            <a:graphicFrameLocks/>
          </p:cNvGraphicFramePr>
          <p:nvPr/>
        </p:nvGraphicFramePr>
        <p:xfrm>
          <a:off x="95250" y="2311400"/>
          <a:ext cx="6819900" cy="4318000"/>
        </p:xfrm>
        <a:graphic>
          <a:graphicData uri="http://schemas.openxmlformats.org/presentationml/2006/ole">
            <p:oleObj spid="_x0000_s73731" name="Document" r:id="rId3" imgW="7436676" imgH="4993509" progId="Word.Document.12">
              <p:embed/>
            </p:oleObj>
          </a:graphicData>
        </a:graphic>
      </p:graphicFrame>
      <p:sp>
        <p:nvSpPr>
          <p:cNvPr id="645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  <a:latin typeface="Consolas" pitchFamily="49" charset="0"/>
              </a:rPr>
              <a:t>event</a:t>
            </a:r>
            <a:r>
              <a:rPr lang="en-US" dirty="0" smtClean="0"/>
              <a:t> Keyword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295400"/>
            <a:ext cx="815340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 smtClean="0">
                <a:solidFill>
                  <a:schemeClr val="bg1"/>
                </a:solidFill>
                <a:latin typeface="+mj-lt"/>
              </a:rPr>
              <a:t>An </a:t>
            </a:r>
            <a:r>
              <a:rPr lang="en-US" i="1" u="sng" dirty="0" smtClean="0">
                <a:solidFill>
                  <a:schemeClr val="bg1"/>
                </a:solidFill>
                <a:latin typeface="+mj-lt"/>
              </a:rPr>
              <a:t>event</a:t>
            </a:r>
            <a:r>
              <a:rPr lang="en-US" i="1" dirty="0" smtClean="0">
                <a:solidFill>
                  <a:schemeClr val="bg1"/>
                </a:solidFill>
                <a:latin typeface="+mj-lt"/>
              </a:rPr>
              <a:t> is a construct that exposes just the </a:t>
            </a:r>
            <a:r>
              <a:rPr lang="en-US" i="1" u="sng" dirty="0" smtClean="0">
                <a:solidFill>
                  <a:schemeClr val="bg1"/>
                </a:solidFill>
                <a:latin typeface="+mj-lt"/>
              </a:rPr>
              <a:t>subset</a:t>
            </a:r>
            <a:r>
              <a:rPr lang="en-US" i="1" dirty="0" smtClean="0">
                <a:solidFill>
                  <a:schemeClr val="bg1"/>
                </a:solidFill>
                <a:latin typeface="+mj-lt"/>
              </a:rPr>
              <a:t> of delegate features required for the broadcaster/subscriber model.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77000" y="2590800"/>
            <a:ext cx="2209800" cy="369331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Code within the </a:t>
            </a:r>
            <a:r>
              <a:rPr lang="en-US" dirty="0" err="1" smtClean="0"/>
              <a:t>MyButton</a:t>
            </a:r>
            <a:r>
              <a:rPr lang="en-US" dirty="0" smtClean="0"/>
              <a:t> type has full access to </a:t>
            </a:r>
            <a:r>
              <a:rPr lang="en-US" dirty="0" err="1" smtClean="0"/>
              <a:t>ClickHandler</a:t>
            </a:r>
            <a:r>
              <a:rPr lang="en-US" dirty="0" smtClean="0"/>
              <a:t> and can treat it as a delegate.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Code outside of </a:t>
            </a:r>
            <a:r>
              <a:rPr lang="en-US" dirty="0" err="1" smtClean="0"/>
              <a:t>MyButton</a:t>
            </a:r>
            <a:r>
              <a:rPr lang="en-US" dirty="0" smtClean="0"/>
              <a:t> can only perform += and −= operations on the </a:t>
            </a:r>
            <a:r>
              <a:rPr lang="en-US" dirty="0" err="1" smtClean="0"/>
              <a:t>ClickHandler</a:t>
            </a:r>
            <a:r>
              <a:rPr lang="en-US" dirty="0" smtClean="0"/>
              <a:t> delegate (event).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and Subscriber Relationship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3429000" y="2209800"/>
            <a:ext cx="1828800" cy="152399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OnClick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6248400" y="5257800"/>
            <a:ext cx="1447800" cy="5334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Panel</a:t>
            </a:r>
            <a:endParaRPr lang="en-US" dirty="0"/>
          </a:p>
        </p:txBody>
      </p:sp>
      <p:sp>
        <p:nvSpPr>
          <p:cNvPr id="19" name="Right Arrow 18"/>
          <p:cNvSpPr/>
          <p:nvPr/>
        </p:nvSpPr>
        <p:spPr>
          <a:xfrm rot="2638272">
            <a:off x="2551814" y="4013387"/>
            <a:ext cx="489434" cy="304800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>
          <a:xfrm rot="12852653">
            <a:off x="5433136" y="4901932"/>
            <a:ext cx="725318" cy="304800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6324600" y="1981200"/>
            <a:ext cx="1447800" cy="5334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Windows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 rot="8567986">
            <a:off x="5250585" y="2284965"/>
            <a:ext cx="855349" cy="304800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066800" y="3200400"/>
            <a:ext cx="12954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Button</a:t>
            </a:r>
            <a:endParaRPr lang="en-US" dirty="0"/>
          </a:p>
        </p:txBody>
      </p:sp>
      <p:sp>
        <p:nvSpPr>
          <p:cNvPr id="24" name="Right Arrow 23"/>
          <p:cNvSpPr/>
          <p:nvPr/>
        </p:nvSpPr>
        <p:spPr>
          <a:xfrm rot="20766591">
            <a:off x="2696901" y="3022222"/>
            <a:ext cx="457200" cy="304800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/>
          <p:cNvSpPr/>
          <p:nvPr/>
        </p:nvSpPr>
        <p:spPr>
          <a:xfrm rot="13981089">
            <a:off x="4968576" y="3963619"/>
            <a:ext cx="2062880" cy="304800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/>
          <p:cNvSpPr/>
          <p:nvPr/>
        </p:nvSpPr>
        <p:spPr>
          <a:xfrm rot="7478054">
            <a:off x="4910357" y="3357244"/>
            <a:ext cx="1837706" cy="304800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3505200" y="3962401"/>
            <a:ext cx="1828800" cy="152399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OnMove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198661" name="Object 5"/>
          <p:cNvGraphicFramePr>
            <a:graphicFrameLocks noChangeAspect="1"/>
          </p:cNvGraphicFramePr>
          <p:nvPr/>
        </p:nvGraphicFramePr>
        <p:xfrm>
          <a:off x="31750" y="1270000"/>
          <a:ext cx="4305300" cy="4229100"/>
        </p:xfrm>
        <a:graphic>
          <a:graphicData uri="http://schemas.openxmlformats.org/presentationml/2006/ole">
            <p:oleObj spid="_x0000_s74754" name="Document" r:id="rId3" imgW="4363699" imgH="4612443" progId="Word.Document.12">
              <p:embed/>
            </p:oleObj>
          </a:graphicData>
        </a:graphic>
      </p:graphicFrame>
      <p:graphicFrame>
        <p:nvGraphicFramePr>
          <p:cNvPr id="198662" name="Object 6"/>
          <p:cNvGraphicFramePr>
            <a:graphicFrameLocks noChangeAspect="1"/>
          </p:cNvGraphicFramePr>
          <p:nvPr/>
        </p:nvGraphicFramePr>
        <p:xfrm>
          <a:off x="4343400" y="1212850"/>
          <a:ext cx="4368800" cy="5759450"/>
        </p:xfrm>
        <a:graphic>
          <a:graphicData uri="http://schemas.openxmlformats.org/presentationml/2006/ole">
            <p:oleObj spid="_x0000_s74755" name="Document" r:id="rId4" imgW="4373054" imgH="5773666" progId="Word.Document.12">
              <p:embed/>
            </p:oleObj>
          </a:graphicData>
        </a:graphic>
      </p:graphicFrame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" y="5562600"/>
            <a:ext cx="347472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and Inheritance</a:t>
            </a:r>
          </a:p>
        </p:txBody>
      </p:sp>
      <p:graphicFrame>
        <p:nvGraphicFramePr>
          <p:cNvPr id="336897" name="Object 1"/>
          <p:cNvGraphicFramePr>
            <a:graphicFrameLocks noChangeAspect="1"/>
          </p:cNvGraphicFramePr>
          <p:nvPr/>
        </p:nvGraphicFramePr>
        <p:xfrm>
          <a:off x="-152400" y="1543050"/>
          <a:ext cx="4756150" cy="5029200"/>
        </p:xfrm>
        <a:graphic>
          <a:graphicData uri="http://schemas.openxmlformats.org/presentationml/2006/ole">
            <p:oleObj spid="_x0000_s75778" name="Document" r:id="rId3" imgW="4822486" imgH="5597734" progId="Word.Document.12">
              <p:embed/>
            </p:oleObj>
          </a:graphicData>
        </a:graphic>
      </p:graphicFrame>
      <p:graphicFrame>
        <p:nvGraphicFramePr>
          <p:cNvPr id="336898" name="Object 2"/>
          <p:cNvGraphicFramePr>
            <a:graphicFrameLocks noChangeAspect="1"/>
          </p:cNvGraphicFramePr>
          <p:nvPr/>
        </p:nvGraphicFramePr>
        <p:xfrm>
          <a:off x="3657600" y="1524000"/>
          <a:ext cx="5473700" cy="2336800"/>
        </p:xfrm>
        <a:graphic>
          <a:graphicData uri="http://schemas.openxmlformats.org/presentationml/2006/ole">
            <p:oleObj spid="_x0000_s75779" name="Document" r:id="rId4" imgW="5472345" imgH="2339750" progId="Word.Document.12">
              <p:embed/>
            </p:oleObj>
          </a:graphicData>
        </a:graphic>
      </p:graphicFrame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57600" y="4191000"/>
            <a:ext cx="520065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13229</TotalTime>
  <Words>787</Words>
  <Application>Microsoft Office PowerPoint</Application>
  <PresentationFormat>On-screen Show (4:3)</PresentationFormat>
  <Paragraphs>91</Paragraphs>
  <Slides>31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Office Theme</vt:lpstr>
      <vt:lpstr>Document</vt:lpstr>
      <vt:lpstr>Delegates and Events</vt:lpstr>
      <vt:lpstr>Objectives</vt:lpstr>
      <vt:lpstr>Contents</vt:lpstr>
      <vt:lpstr>References</vt:lpstr>
      <vt:lpstr>Method Variable [1]</vt:lpstr>
      <vt:lpstr>delegate Type</vt:lpstr>
      <vt:lpstr>What is a Delegate? [2]</vt:lpstr>
      <vt:lpstr>Creating a delegate Instance</vt:lpstr>
      <vt:lpstr>Slide 9</vt:lpstr>
      <vt:lpstr>Why Delegates?</vt:lpstr>
      <vt:lpstr>Reason 1: Injecting Custom Code [3]</vt:lpstr>
      <vt:lpstr>Reason 2: Combining Injected Code</vt:lpstr>
      <vt:lpstr>D1 ➠ D2 ≠ D1 + D2 [2]</vt:lpstr>
      <vt:lpstr>Generic Delegate Types</vt:lpstr>
      <vt:lpstr>The Func and Action Delegates</vt:lpstr>
      <vt:lpstr>Func Example</vt:lpstr>
      <vt:lpstr>Slide 17</vt:lpstr>
      <vt:lpstr>Lambda Expression</vt:lpstr>
      <vt:lpstr>Lambda Operator: =&gt;</vt:lpstr>
      <vt:lpstr>Lambda Expression with One Parameter</vt:lpstr>
      <vt:lpstr>Capturing Outer Variables</vt:lpstr>
      <vt:lpstr>Capturing Iteration Variables</vt:lpstr>
      <vt:lpstr>How Lambda Expressions Work?</vt:lpstr>
      <vt:lpstr>Why Lambda Expressions?</vt:lpstr>
      <vt:lpstr>Slide 25</vt:lpstr>
      <vt:lpstr>Publisher and Subscriber</vt:lpstr>
      <vt:lpstr>event Keyword</vt:lpstr>
      <vt:lpstr>Event and Subscriber Relationship</vt:lpstr>
      <vt:lpstr>Example</vt:lpstr>
      <vt:lpstr>Event and Inheritance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5201</cp:revision>
  <dcterms:created xsi:type="dcterms:W3CDTF">2007-10-06T08:25:13Z</dcterms:created>
  <dcterms:modified xsi:type="dcterms:W3CDTF">2023-02-27T17:40:52Z</dcterms:modified>
</cp:coreProperties>
</file>