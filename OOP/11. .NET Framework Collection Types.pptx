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479" r:id="rId2"/>
    <p:sldId id="433" r:id="rId3"/>
    <p:sldId id="434" r:id="rId4"/>
    <p:sldId id="440" r:id="rId5"/>
    <p:sldId id="441" r:id="rId6"/>
    <p:sldId id="442" r:id="rId7"/>
    <p:sldId id="443" r:id="rId8"/>
    <p:sldId id="473" r:id="rId9"/>
    <p:sldId id="474" r:id="rId10"/>
    <p:sldId id="475" r:id="rId11"/>
    <p:sldId id="476" r:id="rId12"/>
    <p:sldId id="446" r:id="rId13"/>
    <p:sldId id="447" r:id="rId14"/>
    <p:sldId id="448" r:id="rId15"/>
    <p:sldId id="449" r:id="rId16"/>
    <p:sldId id="480" r:id="rId17"/>
    <p:sldId id="450" r:id="rId18"/>
    <p:sldId id="460" r:id="rId19"/>
    <p:sldId id="451" r:id="rId20"/>
    <p:sldId id="452" r:id="rId21"/>
    <p:sldId id="462" r:id="rId22"/>
    <p:sldId id="463" r:id="rId23"/>
    <p:sldId id="464" r:id="rId24"/>
    <p:sldId id="465" r:id="rId25"/>
    <p:sldId id="466" r:id="rId26"/>
    <p:sldId id="469" r:id="rId27"/>
    <p:sldId id="468" r:id="rId28"/>
    <p:sldId id="470" r:id="rId29"/>
    <p:sldId id="471" r:id="rId30"/>
    <p:sldId id="477" r:id="rId31"/>
    <p:sldId id="478" r:id="rId32"/>
    <p:sldId id="453" r:id="rId33"/>
    <p:sldId id="481" r:id="rId34"/>
    <p:sldId id="482" r:id="rId35"/>
    <p:sldId id="483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8" autoAdjust="0"/>
    <p:restoredTop sz="94667" autoAdjust="0"/>
  </p:normalViewPr>
  <p:slideViewPr>
    <p:cSldViewPr>
      <p:cViewPr>
        <p:scale>
          <a:sx n="60" d="100"/>
          <a:sy n="60" d="100"/>
        </p:scale>
        <p:origin x="-1328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788B2-D072-42B4-8D8A-C0D124E6BC28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1EEBA-33BA-44F0-95C6-D2B8EF86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1952C-192D-4821-B649-2E0CA04C4511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C2F6C-BE6D-436A-AADD-17766C5D8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C4DA-068B-4360-B747-02527662B78E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FDCA7-CDFD-48D2-A0F9-6647A39A9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40E06-657E-4D7E-A70A-198E1C22BE37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BAF20-3648-4F57-A332-98CF168B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3A99-EB31-44C9-BDAA-12A752EDCECF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EEE03-95E8-4EB0-9E91-229BBDD4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112B8-7F14-4C2F-BC40-B9558BE4358B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1928-B512-4B17-8B51-E81157E86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0651A-94B2-4F67-8F24-D862ACCA68FB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8576-A286-49B4-8248-6595C5261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FEFD-D06C-4A16-BB5B-D232FD6C1673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B2D05-4637-45E6-B13C-155A14DA3E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5E22-371E-4683-A2E7-070015375487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AA722-D044-4732-B3C8-D406AA14C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C5F4-F7BB-411D-85E6-F9BF4FBB9066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3D8A9-F91B-4AA4-9412-7D185025B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F63F-29B2-4482-B6EF-B6342F965599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52EFD-9818-4DF5-9596-7CB4E745B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8FB8FE2-2943-450E-BB6C-3F2395506934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3C7B-2ABA-41DA-9FF6-2517B36E5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2184551/difference-between-covariance-contra-variance" TargetMode="External"/><Relationship Id="rId2" Type="http://schemas.openxmlformats.org/officeDocument/2006/relationships/hyperlink" Target="https://en.wikipedia.org/wiki/Covariance_and_contravariance_(computer_science)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.NET Framework Collection Types</a:t>
            </a:r>
            <a:endParaRPr lang="en-US" sz="6000" dirty="0" smtClean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lvl="0"/>
            <a:r>
              <a:rPr lang="en-US" sz="2400" dirty="0" smtClean="0"/>
              <a:t>Dan Clark. Beginning C# Object-Oriented Programming. </a:t>
            </a:r>
            <a:r>
              <a:rPr lang="en-US" sz="2400" dirty="0" err="1" smtClean="0"/>
              <a:t>Apress</a:t>
            </a:r>
            <a:r>
              <a:rPr lang="en-US" sz="2400" dirty="0" smtClean="0"/>
              <a:t>. 2013.</a:t>
            </a:r>
          </a:p>
          <a:p>
            <a:r>
              <a:rPr lang="en-US" sz="2400" dirty="0" smtClean="0"/>
              <a:t>Joseph </a:t>
            </a:r>
            <a:r>
              <a:rPr lang="en-US" sz="2400" dirty="0" err="1" smtClean="0"/>
              <a:t>Albahari</a:t>
            </a:r>
            <a:r>
              <a:rPr lang="en-US" sz="2400" dirty="0" smtClean="0"/>
              <a:t> and Ben </a:t>
            </a:r>
            <a:r>
              <a:rPr lang="en-US" sz="2400" dirty="0" err="1" smtClean="0"/>
              <a:t>Albahari</a:t>
            </a:r>
            <a:r>
              <a:rPr lang="en-US" sz="2400" dirty="0" smtClean="0"/>
              <a:t>. C# 6.0 in a Nutshell. Sixth Edition. O’Reilly Media, Inc. 2016.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codethinked.wpengine.netdna-cdn.com/wp-content/uploads/image_3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743200"/>
            <a:ext cx="4029075" cy="31623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.NET Framework Collection Types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93837"/>
            <a:ext cx="5334000" cy="452596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+mj-lt"/>
              </a:rPr>
              <a:t>Programmers frequently need to work with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collections of types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The .NET Framework provides a variety of basic and specialized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collection classes</a:t>
            </a:r>
            <a:r>
              <a:rPr lang="en-US" sz="2000" dirty="0" smtClean="0">
                <a:latin typeface="+mj-lt"/>
              </a:rPr>
              <a:t> for you to use.</a:t>
            </a:r>
          </a:p>
          <a:p>
            <a:r>
              <a:rPr lang="en-US" sz="2000" dirty="0" smtClean="0">
                <a:latin typeface="+mj-lt"/>
              </a:rPr>
              <a:t>The </a:t>
            </a:r>
            <a:r>
              <a:rPr lang="en-US" sz="2000" b="1" dirty="0" err="1" smtClean="0">
                <a:latin typeface="Consolas" pitchFamily="49" charset="0"/>
                <a:cs typeface="Courier New" pitchFamily="49" charset="0"/>
              </a:rPr>
              <a:t>System.Collections</a:t>
            </a:r>
            <a:r>
              <a:rPr lang="en-US" sz="2000" dirty="0" smtClean="0">
                <a:latin typeface="+mj-lt"/>
              </a:rPr>
              <a:t> namespace contains interfaces and classes that define various types of collections, such as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lists, queues, hash tables,</a:t>
            </a:r>
            <a:r>
              <a:rPr lang="en-US" sz="2000" dirty="0" smtClean="0">
                <a:latin typeface="+mj-lt"/>
              </a:rPr>
              <a:t> and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dictionaries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All collections need a basic set of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functions</a:t>
            </a:r>
            <a:r>
              <a:rPr lang="en-US" sz="2000" dirty="0" smtClean="0">
                <a:latin typeface="+mj-lt"/>
              </a:rPr>
              <a:t>, such as </a:t>
            </a:r>
            <a:r>
              <a:rPr lang="en-US" sz="2000" u="sng" dirty="0" smtClean="0">
                <a:latin typeface="+mj-lt"/>
              </a:rPr>
              <a:t>adding</a:t>
            </a:r>
            <a:r>
              <a:rPr lang="en-US" sz="2000" dirty="0" smtClean="0">
                <a:latin typeface="+mj-lt"/>
              </a:rPr>
              <a:t> objects, </a:t>
            </a:r>
            <a:r>
              <a:rPr lang="en-US" sz="2000" u="sng" dirty="0" smtClean="0">
                <a:latin typeface="+mj-lt"/>
              </a:rPr>
              <a:t>removing</a:t>
            </a:r>
            <a:r>
              <a:rPr lang="en-US" sz="2000" dirty="0" smtClean="0">
                <a:latin typeface="+mj-lt"/>
              </a:rPr>
              <a:t> objects, and </a:t>
            </a:r>
            <a:r>
              <a:rPr lang="en-US" sz="2000" u="sng" dirty="0" smtClean="0">
                <a:latin typeface="+mj-lt"/>
              </a:rPr>
              <a:t>iterating</a:t>
            </a:r>
            <a:r>
              <a:rPr lang="en-US" sz="2000" dirty="0" smtClean="0">
                <a:latin typeface="+mj-lt"/>
              </a:rPr>
              <a:t> through their objects.</a:t>
            </a:r>
          </a:p>
          <a:p>
            <a:r>
              <a:rPr lang="en-US" sz="2000" dirty="0" smtClean="0">
                <a:latin typeface="+mj-lt"/>
              </a:rPr>
              <a:t>In addition to the basic set, some collections need additional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specialized functions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686800" cy="48006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[]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{ 1, 2, 3, 4, 5 };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("Upper Bound");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intArray.GetUpperBound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(0));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("Array elements");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item in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(item);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Array.Reverse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("Array reversed");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item in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(item);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45513"/>
            <a:ext cx="8686800" cy="43088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i="1" dirty="0" smtClean="0"/>
              <a:t>An array holds data elements of the same data type.</a:t>
            </a:r>
            <a:endParaRPr lang="en-US" sz="22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600"/>
            <a:ext cx="8686800" cy="40386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nameList.Add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("Bob");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nameList.Add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("Dan");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nameList.Add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("Wendy");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("Original Capacity");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nameList.Capacity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("Original Values");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(object name in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440359"/>
            <a:ext cx="8686800" cy="76944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</a:rPr>
              <a:t>The capacity of an array list </a:t>
            </a:r>
            <a:r>
              <a:rPr lang="en-US" sz="2200" i="1" u="sng" dirty="0" smtClean="0">
                <a:solidFill>
                  <a:schemeClr val="bg1"/>
                </a:solidFill>
              </a:rPr>
              <a:t>automatically expands</a:t>
            </a:r>
            <a:r>
              <a:rPr lang="en-US" sz="2200" i="1" dirty="0" smtClean="0">
                <a:solidFill>
                  <a:schemeClr val="bg1"/>
                </a:solidFill>
              </a:rPr>
              <a:t> as required, with the memory reallocation and copying of elements performed automatically.</a:t>
            </a:r>
            <a:endParaRPr lang="en-US" sz="2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62200"/>
            <a:ext cx="8686800" cy="42672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List&lt;Customer&gt;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 List&lt;Customer&gt;()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("WHITC", "White Clover Markets", "Karl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Jablonski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"));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("RANCH", "Rancho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grande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", "Sergio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Gutiérrez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"));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ALFKI","Alfreds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Futterkiste","Maria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Anders"));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(Customer c in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(“Id: {0} Company: {1} Contact: {2}”,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c.CompanyId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c.CompanyName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c.ContactName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440359"/>
            <a:ext cx="8686800" cy="769441"/>
          </a:xfrm>
          <a:prstGeom prst="rect">
            <a:avLst/>
          </a:prstGeom>
          <a:ln w="2540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</a:rPr>
              <a:t>Generics</a:t>
            </a:r>
            <a:r>
              <a:rPr lang="en-US" sz="2200" dirty="0" smtClean="0"/>
              <a:t> let you define a class without specifying its type.</a:t>
            </a:r>
          </a:p>
          <a:p>
            <a:pPr algn="ctr"/>
            <a:r>
              <a:rPr lang="en-US" sz="2200" dirty="0" smtClean="0"/>
              <a:t>The type is specified when the class is </a:t>
            </a:r>
            <a:r>
              <a:rPr lang="en-US" sz="2200" i="1" dirty="0" smtClean="0">
                <a:solidFill>
                  <a:srgbClr val="C00000"/>
                </a:solidFill>
              </a:rPr>
              <a:t>instantiated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IEnumerator</a:t>
            </a:r>
            <a:r>
              <a:rPr lang="en-US" dirty="0" smtClean="0">
                <a:latin typeface="Consolas" pitchFamily="49" charset="0"/>
              </a:rPr>
              <a:t>&lt;T&gt;</a:t>
            </a:r>
            <a:r>
              <a:rPr lang="en-US" dirty="0" smtClean="0"/>
              <a:t>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IEnumerator</a:t>
            </a:r>
            <a:r>
              <a:rPr lang="en-US" sz="2400" dirty="0" smtClean="0"/>
              <a:t> interface defines the basic low-level protocol by which elements in a collection are traversed—or enumerated—in a </a:t>
            </a:r>
            <a:r>
              <a:rPr lang="en-US" sz="2400" i="1" dirty="0" smtClean="0">
                <a:solidFill>
                  <a:srgbClr val="C00000"/>
                </a:solidFill>
              </a:rPr>
              <a:t>forward-only</a:t>
            </a:r>
            <a:r>
              <a:rPr lang="en-US" sz="2400" dirty="0" smtClean="0"/>
              <a:t> manner.</a:t>
            </a:r>
          </a:p>
          <a:p>
            <a:r>
              <a:rPr lang="en-US" sz="2400" dirty="0" smtClean="0"/>
              <a:t>Its declaration is as follows:</a:t>
            </a:r>
          </a:p>
          <a:p>
            <a:pPr lvl="1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public interface 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IEnumerator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 {</a:t>
            </a:r>
          </a:p>
          <a:p>
            <a:pPr lvl="2">
              <a:buNone/>
            </a:pP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bool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MoveNext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();</a:t>
            </a:r>
          </a:p>
          <a:p>
            <a:pPr lvl="2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object Current { get; }</a:t>
            </a:r>
          </a:p>
          <a:p>
            <a:pPr lvl="2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void Reset();</a:t>
            </a:r>
          </a:p>
          <a:p>
            <a:pPr lvl="1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}</a:t>
            </a:r>
          </a:p>
          <a:p>
            <a:r>
              <a:rPr lang="en-US" sz="2400" dirty="0" smtClean="0"/>
              <a:t>Generic version:</a:t>
            </a:r>
          </a:p>
          <a:p>
            <a:pPr lvl="1">
              <a:buNone/>
            </a:pP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IEnumerator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&lt;T&gt; : 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IEnumerator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1600" b="1" dirty="0" err="1" smtClean="0">
                <a:solidFill>
                  <a:srgbClr val="C00000"/>
                </a:solidFill>
                <a:latin typeface="Consolas" pitchFamily="49" charset="0"/>
              </a:rPr>
              <a:t>IDisposable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 {</a:t>
            </a:r>
          </a:p>
          <a:p>
            <a:pPr lvl="2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T Current { get; }</a:t>
            </a:r>
          </a:p>
          <a:p>
            <a:pPr lvl="1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5486400"/>
            <a:ext cx="5029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By defining a typed version of Current, the interface strengthen </a:t>
            </a:r>
            <a:r>
              <a:rPr lang="en-US" i="1" dirty="0" smtClean="0">
                <a:solidFill>
                  <a:srgbClr val="C00000"/>
                </a:solidFill>
              </a:rPr>
              <a:t>static type safety</a:t>
            </a:r>
            <a:r>
              <a:rPr lang="en-US" dirty="0" smtClean="0"/>
              <a:t>, avoid the </a:t>
            </a:r>
            <a:r>
              <a:rPr lang="en-US" u="sng" dirty="0" smtClean="0"/>
              <a:t>overhead of boxing</a:t>
            </a:r>
            <a:r>
              <a:rPr lang="en-US" dirty="0" smtClean="0"/>
              <a:t> with value-type elements, and are more convenient to the consumer.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IEnumerable</a:t>
            </a:r>
            <a:r>
              <a:rPr lang="en-US" dirty="0" smtClean="0">
                <a:latin typeface="Consolas" pitchFamily="49" charset="0"/>
              </a:rPr>
              <a:t>&lt;T&gt;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Collections do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usually implement enumerators; instead, they </a:t>
            </a:r>
            <a:r>
              <a:rPr lang="en-US" sz="2400" u="sng" dirty="0" smtClean="0"/>
              <a:t>provide enumerators</a:t>
            </a:r>
            <a:r>
              <a:rPr lang="en-US" sz="2400" dirty="0" smtClean="0"/>
              <a:t>, via the interface </a:t>
            </a:r>
            <a:r>
              <a:rPr lang="en-US" sz="2400" dirty="0" err="1" smtClean="0"/>
              <a:t>IEnumerable</a:t>
            </a:r>
            <a:r>
              <a:rPr lang="en-US" sz="2400" dirty="0" smtClean="0"/>
              <a:t>: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public interface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IEnumerable</a:t>
            </a:r>
            <a:endParaRPr lang="en-US" sz="20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{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	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IEnumerator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GetEnumerator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();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}</a:t>
            </a:r>
          </a:p>
          <a:p>
            <a:r>
              <a:rPr lang="en-US" sz="2400" dirty="0" smtClean="0"/>
              <a:t>Generic version: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public interface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IEnumerable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&lt;T&gt; :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IEnumerable</a:t>
            </a:r>
            <a:endParaRPr lang="en-US" sz="20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{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	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IEnumerator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&lt;T&gt;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GetEnumerator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();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}</a:t>
            </a:r>
            <a:endParaRPr lang="en-US" sz="2000" b="1" dirty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6082" name="Object 2"/>
          <p:cNvGraphicFramePr>
            <a:graphicFrameLocks/>
          </p:cNvGraphicFramePr>
          <p:nvPr/>
        </p:nvGraphicFramePr>
        <p:xfrm>
          <a:off x="330200" y="1797050"/>
          <a:ext cx="8432800" cy="4279900"/>
        </p:xfrm>
        <a:graphic>
          <a:graphicData uri="http://schemas.openxmlformats.org/presentationml/2006/ole">
            <p:oleObj spid="_x0000_s47106" name="Document" r:id="rId3" imgW="7225453" imgH="3673659" progId="Word.Document.12">
              <p:embed/>
            </p:oleObj>
          </a:graphicData>
        </a:graphic>
      </p:graphicFrame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67100" y="5528310"/>
            <a:ext cx="2857500" cy="49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  <a:latin typeface="Consolas" pitchFamily="49" charset="0"/>
              </a:rPr>
              <a:t>yield return</a:t>
            </a:r>
            <a:r>
              <a:rPr lang="en-US" dirty="0" smtClean="0"/>
              <a:t> Statement</a:t>
            </a:r>
            <a:endParaRPr lang="en-US" dirty="0"/>
          </a:p>
        </p:txBody>
      </p:sp>
      <p:graphicFrame>
        <p:nvGraphicFramePr>
          <p:cNvPr id="9217" name="Object 2"/>
          <p:cNvGraphicFramePr>
            <a:graphicFrameLocks/>
          </p:cNvGraphicFramePr>
          <p:nvPr/>
        </p:nvGraphicFramePr>
        <p:xfrm>
          <a:off x="381000" y="1981200"/>
          <a:ext cx="8318500" cy="3886200"/>
        </p:xfrm>
        <a:graphic>
          <a:graphicData uri="http://schemas.openxmlformats.org/presentationml/2006/ole">
            <p:oleObj spid="_x0000_s48130" name="Document" r:id="rId3" imgW="6471962" imgH="3038069" progId="Word.Document.12">
              <p:embed/>
            </p:oleObj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92700" y="4502150"/>
            <a:ext cx="198882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sz="4000" i="1" dirty="0" err="1" smtClean="0">
                <a:solidFill>
                  <a:srgbClr val="C00000"/>
                </a:solidFill>
                <a:latin typeface="Consolas" pitchFamily="49" charset="0"/>
              </a:rPr>
              <a:t>IEnumerable</a:t>
            </a:r>
            <a:r>
              <a:rPr lang="en-US" sz="4000" i="1" dirty="0" smtClean="0">
                <a:solidFill>
                  <a:srgbClr val="C00000"/>
                </a:solidFill>
                <a:latin typeface="Consolas" pitchFamily="49" charset="0"/>
              </a:rPr>
              <a:t>&lt;T&gt;</a:t>
            </a:r>
            <a:r>
              <a:rPr lang="en-US" dirty="0" smtClean="0"/>
              <a:t> [1]</a:t>
            </a:r>
            <a:endParaRPr lang="en-US" dirty="0"/>
          </a:p>
        </p:txBody>
      </p:sp>
      <p:graphicFrame>
        <p:nvGraphicFramePr>
          <p:cNvPr id="44033" name="Object 2"/>
          <p:cNvGraphicFramePr>
            <a:graphicFrameLocks/>
          </p:cNvGraphicFramePr>
          <p:nvPr/>
        </p:nvGraphicFramePr>
        <p:xfrm>
          <a:off x="311150" y="1295400"/>
          <a:ext cx="8604250" cy="5403850"/>
        </p:xfrm>
        <a:graphic>
          <a:graphicData uri="http://schemas.openxmlformats.org/presentationml/2006/ole">
            <p:oleObj spid="_x0000_s44033" name="Document" r:id="rId3" imgW="6697938" imgH="4216597" progId="Word.Document.12">
              <p:embed/>
            </p:oleObj>
          </a:graphicData>
        </a:graphic>
      </p:graphicFrame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6300" y="6019800"/>
            <a:ext cx="2857500" cy="49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ICollection</a:t>
            </a:r>
            <a:r>
              <a:rPr lang="en-US" dirty="0" smtClean="0"/>
              <a:t>&lt;T&gt;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62200"/>
            <a:ext cx="8686800" cy="42672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440359"/>
            <a:ext cx="8686800" cy="461665"/>
          </a:xfrm>
          <a:prstGeom prst="rect">
            <a:avLst/>
          </a:prstGeom>
          <a:ln w="2540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Defines methods to manipulate generic collections. 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IDictionary</a:t>
            </a:r>
            <a:r>
              <a:rPr lang="en-US" dirty="0" smtClean="0"/>
              <a:t>&lt;</a:t>
            </a:r>
            <a:r>
              <a:rPr lang="en-US" dirty="0" err="1" smtClean="0"/>
              <a:t>TKey</a:t>
            </a:r>
            <a:r>
              <a:rPr lang="en-US" dirty="0" smtClean="0"/>
              <a:t>, </a:t>
            </a:r>
            <a:r>
              <a:rPr lang="en-US" dirty="0" err="1" smtClean="0"/>
              <a:t>TValue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971800"/>
            <a:ext cx="8686800" cy="36576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440359"/>
            <a:ext cx="8686800" cy="1200329"/>
          </a:xfrm>
          <a:prstGeom prst="rect">
            <a:avLst/>
          </a:prstGeom>
          <a:ln w="2540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Represents a generic collection of key/value pairs.</a:t>
            </a:r>
          </a:p>
          <a:p>
            <a:r>
              <a:rPr lang="en-US" sz="2400" dirty="0" smtClean="0"/>
              <a:t>Each element is a key/value pair stored in a </a:t>
            </a:r>
            <a:r>
              <a:rPr lang="en-US" sz="2400" dirty="0" err="1" smtClean="0"/>
              <a:t>KeyValuePair</a:t>
            </a:r>
            <a:r>
              <a:rPr lang="en-US" sz="2400" dirty="0" smtClean="0"/>
              <a:t> object.</a:t>
            </a:r>
          </a:p>
          <a:p>
            <a:r>
              <a:rPr lang="en-US" sz="2400" dirty="0" smtClean="0"/>
              <a:t>Implementers: Dictionary&lt;</a:t>
            </a:r>
            <a:r>
              <a:rPr lang="en-US" sz="2400" dirty="0" err="1" smtClean="0"/>
              <a:t>TKey</a:t>
            </a:r>
            <a:r>
              <a:rPr lang="en-US" sz="2400" dirty="0" smtClean="0"/>
              <a:t>, </a:t>
            </a:r>
            <a:r>
              <a:rPr lang="en-US" sz="2400" dirty="0" err="1" smtClean="0"/>
              <a:t>TValue</a:t>
            </a:r>
            <a:r>
              <a:rPr lang="en-US" sz="2400" dirty="0" smtClean="0"/>
              <a:t>&gt;  class. 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IList</a:t>
            </a:r>
            <a:r>
              <a:rPr lang="en-US" dirty="0" smtClean="0"/>
              <a:t>&lt;T&gt;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819400"/>
            <a:ext cx="8686800" cy="3810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440359"/>
            <a:ext cx="8686800" cy="830997"/>
          </a:xfrm>
          <a:prstGeom prst="rect">
            <a:avLst/>
          </a:prstGeom>
          <a:ln w="2540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Represents a collection of objects that can be individually accessed by index. Implementer: List&lt;T&gt; class.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</a:t>
            </a:r>
            <a:r>
              <a:rPr lang="en-US" dirty="0" err="1" smtClean="0"/>
              <a:t>IEnumerable</a:t>
            </a:r>
            <a:r>
              <a:rPr lang="en-US" dirty="0" smtClean="0"/>
              <a:t>, </a:t>
            </a:r>
            <a:r>
              <a:rPr lang="en-US" dirty="0" err="1" smtClean="0"/>
              <a:t>Icollection</a:t>
            </a:r>
            <a:r>
              <a:rPr lang="en-US" dirty="0" smtClean="0"/>
              <a:t> and </a:t>
            </a:r>
            <a:r>
              <a:rPr lang="en-US" dirty="0" err="1" smtClean="0"/>
              <a:t>IList</a:t>
            </a:r>
            <a:endParaRPr lang="en-US" dirty="0"/>
          </a:p>
        </p:txBody>
      </p:sp>
      <p:pic>
        <p:nvPicPr>
          <p:cNvPr id="84994" name="Picture 2" descr="http://cdn.claudiobernasconi.ch/wp-content/uploads/2013/07/Zeichnung-IEnumerable-ICollection-ILi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752600"/>
            <a:ext cx="6743700" cy="3629025"/>
          </a:xfrm>
          <a:prstGeom prst="rect">
            <a:avLst/>
          </a:prstGeom>
          <a:noFill/>
        </p:spPr>
      </p:pic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5696634"/>
            <a:ext cx="79159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ICollection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,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ICollection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&lt;T&gt; : You want to modify the collection or you care about its size.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IList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,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IList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&lt;T&gt;: You want to modify the collection and you care about the ordering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and / or positioning of the elements in the collection.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Covariance and </a:t>
            </a:r>
            <a:r>
              <a:rPr lang="en-US" dirty="0" err="1" smtClean="0"/>
              <a:t>Contravariance</a:t>
            </a:r>
            <a:endParaRPr lang="en-US" dirty="0" smtClean="0"/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Covariance – types of arguments in redefined method are subtypes of types of arguments in parent method.</a:t>
            </a:r>
          </a:p>
          <a:p>
            <a:r>
              <a:rPr lang="en-US" sz="2400" dirty="0" smtClean="0"/>
              <a:t>Contravariance – types of arguments in parent’s method are subtypes of types of arguments in redefined method</a:t>
            </a:r>
          </a:p>
          <a:p>
            <a:r>
              <a:rPr lang="en-US" sz="2400" dirty="0" smtClean="0">
                <a:hlinkClick r:id="rId2"/>
              </a:rPr>
              <a:t>https://en.wikipedia.org/wiki/Covariance_and_contravariance_%28computer_science%29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http://stackoverflow.com/questions/2184551/difference-between-covariance-contra-variance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sequence</a:t>
            </a:r>
            <a:r>
              <a:rPr lang="en-US" sz="2400" dirty="0" smtClean="0"/>
              <a:t> is any </a:t>
            </a:r>
            <a:r>
              <a:rPr lang="en-US" sz="2400" u="sng" dirty="0" smtClean="0"/>
              <a:t>object</a:t>
            </a:r>
            <a:r>
              <a:rPr lang="en-US" sz="2400" dirty="0" smtClean="0"/>
              <a:t> that implements </a:t>
            </a:r>
            <a:r>
              <a:rPr lang="en-US" sz="2200" b="1" dirty="0" err="1" smtClean="0">
                <a:latin typeface="Courier New" pitchFamily="49" charset="0"/>
                <a:cs typeface="Courier New" pitchFamily="49" charset="0"/>
              </a:rPr>
              <a:t>IEnumerable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&lt;T&gt;</a:t>
            </a:r>
            <a:r>
              <a:rPr lang="en-US" sz="2400" dirty="0" smtClean="0"/>
              <a:t> and an </a:t>
            </a:r>
            <a:r>
              <a:rPr lang="en-US" sz="2400" i="1" dirty="0" smtClean="0">
                <a:solidFill>
                  <a:srgbClr val="C00000"/>
                </a:solidFill>
              </a:rPr>
              <a:t>element</a:t>
            </a:r>
            <a:r>
              <a:rPr lang="en-US" sz="2400" dirty="0" smtClean="0"/>
              <a:t> is each </a:t>
            </a:r>
            <a:r>
              <a:rPr lang="en-US" sz="2400" u="sng" dirty="0" smtClean="0"/>
              <a:t>item</a:t>
            </a:r>
            <a:r>
              <a:rPr lang="en-US" sz="2400" dirty="0" smtClean="0"/>
              <a:t> in the sequence.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string[] names = { "Tom", "Dick", "Harry" };</a:t>
            </a:r>
          </a:p>
          <a:p>
            <a:pPr>
              <a:buNone/>
            </a:pPr>
            <a:endParaRPr lang="en-US" sz="2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/>
              <a:t>We call </a:t>
            </a:r>
            <a:r>
              <a:rPr lang="en-US" sz="2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names</a:t>
            </a:r>
            <a:r>
              <a:rPr lang="en-US" sz="2400" dirty="0" smtClean="0"/>
              <a:t> a local sequence because it represents a local collection of objects in memory.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399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query operator</a:t>
            </a:r>
            <a:r>
              <a:rPr lang="en-US" sz="2400" dirty="0" smtClean="0"/>
              <a:t> is a </a:t>
            </a:r>
            <a:r>
              <a:rPr lang="en-US" sz="2400" u="sng" dirty="0" smtClean="0"/>
              <a:t>method</a:t>
            </a:r>
            <a:r>
              <a:rPr lang="en-US" sz="2400" dirty="0" smtClean="0"/>
              <a:t> that transforms a sequence.</a:t>
            </a:r>
          </a:p>
          <a:p>
            <a:r>
              <a:rPr lang="en-US" sz="2400" dirty="0" smtClean="0"/>
              <a:t>A typical query operator accepts an </a:t>
            </a:r>
            <a:r>
              <a:rPr lang="en-US" sz="2400" i="1" dirty="0" smtClean="0">
                <a:solidFill>
                  <a:srgbClr val="C00000"/>
                </a:solidFill>
              </a:rPr>
              <a:t>input sequence</a:t>
            </a:r>
            <a:r>
              <a:rPr lang="en-US" sz="2400" dirty="0" smtClean="0"/>
              <a:t> and emits a </a:t>
            </a:r>
            <a:r>
              <a:rPr lang="en-US" sz="2400" u="sng" dirty="0" smtClean="0"/>
              <a:t>transformed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output sequence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query</a:t>
            </a:r>
            <a:r>
              <a:rPr lang="en-US" sz="2400" dirty="0" smtClean="0"/>
              <a:t> is an </a:t>
            </a:r>
            <a:r>
              <a:rPr lang="en-US" sz="2400" u="sng" dirty="0" smtClean="0"/>
              <a:t>expression</a:t>
            </a:r>
            <a:r>
              <a:rPr lang="en-US" sz="2400" dirty="0" smtClean="0"/>
              <a:t> that, when enumerated, transforms sequences with query operators.</a:t>
            </a:r>
            <a:endParaRPr lang="en-US" sz="2400" dirty="0"/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196850" y="3784600"/>
          <a:ext cx="9175750" cy="2971800"/>
        </p:xfrm>
        <a:graphic>
          <a:graphicData uri="http://schemas.openxmlformats.org/presentationml/2006/ole">
            <p:oleObj spid="_x0000_s1026" name="Document" r:id="rId3" imgW="7151328" imgH="2323166" progId="Word.Document.12">
              <p:embed/>
            </p:oleObj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2710" y="5463540"/>
            <a:ext cx="720090" cy="70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Query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399"/>
          </a:xfrm>
        </p:spPr>
        <p:txBody>
          <a:bodyPr/>
          <a:lstStyle/>
          <a:p>
            <a:r>
              <a:rPr lang="en-US" sz="2400" dirty="0" smtClean="0"/>
              <a:t>In the Enumerable class in </a:t>
            </a:r>
            <a:r>
              <a:rPr lang="en-US" sz="2400" dirty="0" err="1" smtClean="0"/>
              <a:t>System.Linq</a:t>
            </a:r>
            <a:r>
              <a:rPr lang="en-US" sz="2400" dirty="0" smtClean="0"/>
              <a:t>, there are around 40 query operators—all implemented as static extension methods. These are called </a:t>
            </a:r>
            <a:r>
              <a:rPr lang="en-US" sz="2400" i="1" dirty="0" smtClean="0">
                <a:solidFill>
                  <a:srgbClr val="C00000"/>
                </a:solidFill>
              </a:rPr>
              <a:t>standard query operators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query operators accept a </a:t>
            </a:r>
            <a:r>
              <a:rPr lang="en-US" sz="2400" i="1" dirty="0" smtClean="0">
                <a:solidFill>
                  <a:srgbClr val="C00000"/>
                </a:solidFill>
              </a:rPr>
              <a:t>lambda expression</a:t>
            </a:r>
            <a:r>
              <a:rPr lang="en-US" sz="2400" dirty="0" smtClean="0"/>
              <a:t> as </a:t>
            </a:r>
            <a:r>
              <a:rPr lang="en-US" sz="2400" u="sng" dirty="0" smtClean="0"/>
              <a:t>an argument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158750" y="3979863"/>
          <a:ext cx="8826500" cy="2740025"/>
        </p:xfrm>
        <a:graphic>
          <a:graphicData uri="http://schemas.openxmlformats.org/presentationml/2006/ole">
            <p:oleObj spid="_x0000_s2050" name="Document" r:id="rId3" imgW="6874976" imgH="2142908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Chaining 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399"/>
          </a:xfrm>
        </p:spPr>
        <p:txBody>
          <a:bodyPr/>
          <a:lstStyle/>
          <a:p>
            <a:r>
              <a:rPr lang="en-US" sz="2400" dirty="0" smtClean="0"/>
              <a:t>To build more complex queries, you </a:t>
            </a:r>
            <a:r>
              <a:rPr lang="en-US" sz="2400" i="1" dirty="0" smtClean="0">
                <a:solidFill>
                  <a:srgbClr val="C00000"/>
                </a:solidFill>
              </a:rPr>
              <a:t>append</a:t>
            </a:r>
            <a:r>
              <a:rPr lang="en-US" sz="2400" dirty="0" smtClean="0"/>
              <a:t> additional </a:t>
            </a:r>
            <a:r>
              <a:rPr lang="en-US" sz="2400" u="sng" dirty="0" smtClean="0"/>
              <a:t>query operators</a:t>
            </a:r>
            <a:r>
              <a:rPr lang="en-US" sz="2400" dirty="0" smtClean="0"/>
              <a:t> to the expression, creating a chain.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Select method </a:t>
            </a:r>
            <a:r>
              <a:rPr lang="en-US" sz="2400" dirty="0" smtClean="0"/>
              <a:t>emits a sequence where each input element is transformed or projected with a given lambda expression</a:t>
            </a:r>
            <a:endParaRPr lang="en-US" sz="2400" dirty="0"/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546100" y="3733800"/>
          <a:ext cx="7772400" cy="2425700"/>
        </p:xfrm>
        <a:graphic>
          <a:graphicData uri="http://schemas.openxmlformats.org/presentationml/2006/ole">
            <p:oleObj spid="_x0000_s3074" name="Document" r:id="rId3" imgW="6048079" imgH="1892349" progId="Word.Document.12">
              <p:embed/>
            </p:oleObj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6625" y="5715000"/>
            <a:ext cx="1628775" cy="948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Chaining Operators’ Input And Output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399"/>
          </a:xfrm>
        </p:spPr>
        <p:txBody>
          <a:bodyPr/>
          <a:lstStyle/>
          <a:p>
            <a:r>
              <a:rPr lang="en-US" sz="2400" dirty="0" smtClean="0"/>
              <a:t>When query operators are chained, the output sequence of one operator is the input sequence of the next.</a:t>
            </a:r>
            <a:endParaRPr lang="en-US" sz="2400" dirty="0"/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546100" y="4114800"/>
          <a:ext cx="7747000" cy="2355850"/>
        </p:xfrm>
        <a:graphic>
          <a:graphicData uri="http://schemas.openxmlformats.org/presentationml/2006/ole">
            <p:oleObj spid="_x0000_s4098" name="Document" r:id="rId3" imgW="6028288" imgH="1837911" progId="Word.Document.12">
              <p:embed/>
            </p:oleObj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3013710"/>
            <a:ext cx="1628775" cy="948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00300" y="2593975"/>
            <a:ext cx="43434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>
                <a:latin typeface="Consolas" pitchFamily="49" charset="0"/>
              </a:rPr>
              <a:t>Enumerable.Where</a:t>
            </a:r>
            <a:r>
              <a:rPr lang="en-US" sz="4000" dirty="0" smtClean="0"/>
              <a:t> Implementation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lambda expression in a query operator always works on </a:t>
            </a:r>
            <a:r>
              <a:rPr lang="en-US" sz="2400" i="1" dirty="0" smtClean="0">
                <a:solidFill>
                  <a:srgbClr val="C00000"/>
                </a:solidFill>
              </a:rPr>
              <a:t>individual</a:t>
            </a:r>
            <a:r>
              <a:rPr lang="en-US" sz="2400" dirty="0" smtClean="0"/>
              <a:t> elements in the input sequence—not the sequence as a whole.</a:t>
            </a:r>
          </a:p>
          <a:p>
            <a:r>
              <a:rPr lang="en-US" sz="2400" dirty="0" smtClean="0"/>
              <a:t>A lambda expression that takes a value and returns a </a:t>
            </a:r>
            <a:r>
              <a:rPr lang="en-US" sz="2400" dirty="0" err="1" smtClean="0"/>
              <a:t>bool</a:t>
            </a:r>
            <a:r>
              <a:rPr lang="en-US" sz="2400" dirty="0" smtClean="0"/>
              <a:t> is called a </a:t>
            </a:r>
            <a:r>
              <a:rPr lang="en-US" sz="2400" i="1" dirty="0" smtClean="0">
                <a:solidFill>
                  <a:srgbClr val="C00000"/>
                </a:solidFill>
              </a:rPr>
              <a:t>predicate</a:t>
            </a:r>
            <a:r>
              <a:rPr lang="en-US" sz="2400" dirty="0" smtClean="0"/>
              <a:t>.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public static </a:t>
            </a:r>
            <a:r>
              <a:rPr lang="en-US" sz="1800" dirty="0" err="1" smtClean="0">
                <a:latin typeface="Consolas" pitchFamily="49" charset="0"/>
              </a:rPr>
              <a:t>IEnumerable</a:t>
            </a:r>
            <a:r>
              <a:rPr lang="en-US" sz="1800" dirty="0" smtClean="0">
                <a:latin typeface="Consolas" pitchFamily="49" charset="0"/>
              </a:rPr>
              <a:t>&lt;</a:t>
            </a:r>
            <a:r>
              <a:rPr lang="en-US" sz="1800" dirty="0" err="1" smtClean="0">
                <a:latin typeface="Consolas" pitchFamily="49" charset="0"/>
              </a:rPr>
              <a:t>TSource</a:t>
            </a:r>
            <a:r>
              <a:rPr lang="en-US" sz="1800" dirty="0" smtClean="0">
                <a:latin typeface="Consolas" pitchFamily="49" charset="0"/>
              </a:rPr>
              <a:t>&gt; Where&lt;</a:t>
            </a:r>
            <a:r>
              <a:rPr lang="en-US" sz="1800" dirty="0" err="1" smtClean="0">
                <a:latin typeface="Consolas" pitchFamily="49" charset="0"/>
              </a:rPr>
              <a:t>TSource</a:t>
            </a:r>
            <a:r>
              <a:rPr lang="en-US" sz="1800" dirty="0" smtClean="0">
                <a:latin typeface="Consolas" pitchFamily="49" charset="0"/>
              </a:rPr>
              <a:t>&gt;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(this </a:t>
            </a:r>
            <a:r>
              <a:rPr lang="en-US" sz="1800" dirty="0" err="1" smtClean="0">
                <a:latin typeface="Consolas" pitchFamily="49" charset="0"/>
              </a:rPr>
              <a:t>IEnumerable</a:t>
            </a:r>
            <a:r>
              <a:rPr lang="en-US" sz="1800" dirty="0" smtClean="0">
                <a:latin typeface="Consolas" pitchFamily="49" charset="0"/>
              </a:rPr>
              <a:t>&lt;</a:t>
            </a:r>
            <a:r>
              <a:rPr lang="en-US" sz="1800" dirty="0" err="1" smtClean="0">
                <a:latin typeface="Consolas" pitchFamily="49" charset="0"/>
              </a:rPr>
              <a:t>TSource</a:t>
            </a:r>
            <a:r>
              <a:rPr lang="en-US" sz="1800" dirty="0" smtClean="0">
                <a:latin typeface="Consolas" pitchFamily="49" charset="0"/>
              </a:rPr>
              <a:t>&gt; source, </a:t>
            </a:r>
            <a:r>
              <a:rPr lang="en-US" sz="1800" dirty="0" err="1" smtClean="0">
                <a:latin typeface="Consolas" pitchFamily="49" charset="0"/>
              </a:rPr>
              <a:t>Func</a:t>
            </a:r>
            <a:r>
              <a:rPr lang="en-US" sz="1800" dirty="0" smtClean="0">
                <a:latin typeface="Consolas" pitchFamily="49" charset="0"/>
              </a:rPr>
              <a:t>&lt;</a:t>
            </a:r>
            <a:r>
              <a:rPr lang="en-US" sz="1800" dirty="0" err="1" smtClean="0">
                <a:latin typeface="Consolas" pitchFamily="49" charset="0"/>
              </a:rPr>
              <a:t>TSource,bool</a:t>
            </a:r>
            <a:r>
              <a:rPr lang="en-US" sz="1800" dirty="0" smtClean="0">
                <a:latin typeface="Consolas" pitchFamily="49" charset="0"/>
              </a:rPr>
              <a:t>&gt; predicate)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{</a:t>
            </a:r>
          </a:p>
          <a:p>
            <a:pPr lvl="2">
              <a:buNone/>
            </a:pPr>
            <a:r>
              <a:rPr lang="en-US" sz="1800" dirty="0" err="1" smtClean="0">
                <a:latin typeface="Consolas" pitchFamily="49" charset="0"/>
              </a:rPr>
              <a:t>foreach</a:t>
            </a:r>
            <a:r>
              <a:rPr lang="en-US" sz="1800" dirty="0" smtClean="0">
                <a:latin typeface="Consolas" pitchFamily="49" charset="0"/>
              </a:rPr>
              <a:t> (</a:t>
            </a:r>
            <a:r>
              <a:rPr lang="en-US" sz="1800" dirty="0" err="1" smtClean="0">
                <a:latin typeface="Consolas" pitchFamily="49" charset="0"/>
              </a:rPr>
              <a:t>TSource</a:t>
            </a:r>
            <a:r>
              <a:rPr lang="en-US" sz="1800" dirty="0" smtClean="0">
                <a:latin typeface="Consolas" pitchFamily="49" charset="0"/>
              </a:rPr>
              <a:t> element in source)</a:t>
            </a:r>
          </a:p>
          <a:p>
            <a:pPr lvl="3">
              <a:buNone/>
            </a:pPr>
            <a:r>
              <a:rPr lang="en-US" sz="1800" dirty="0" smtClean="0">
                <a:latin typeface="Consolas" pitchFamily="49" charset="0"/>
              </a:rPr>
              <a:t>if (predicate (element))</a:t>
            </a:r>
          </a:p>
          <a:p>
            <a:pPr lvl="4">
              <a:buNone/>
            </a:pPr>
            <a:r>
              <a:rPr lang="en-US" sz="1800" dirty="0" smtClean="0">
                <a:latin typeface="Consolas" pitchFamily="49" charset="0"/>
              </a:rPr>
              <a:t>yield return element;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 Ordering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546100" y="1676400"/>
          <a:ext cx="8229600" cy="3892550"/>
        </p:xfrm>
        <a:graphic>
          <a:graphicData uri="http://schemas.openxmlformats.org/presentationml/2006/ole">
            <p:oleObj spid="_x0000_s5122" name="Document" r:id="rId3" imgW="6403594" imgH="3036988" progId="Word.Document.12">
              <p:embed/>
            </p:oleObj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5105400"/>
            <a:ext cx="1605915" cy="908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153400" cy="2438400"/>
          </a:xfrm>
        </p:spPr>
        <p:txBody>
          <a:bodyPr/>
          <a:lstStyle/>
          <a:p>
            <a:r>
              <a:rPr lang="en-US" sz="2400" dirty="0" smtClean="0"/>
              <a:t>C# provides a </a:t>
            </a:r>
            <a:r>
              <a:rPr lang="en-US" sz="2400" i="1" dirty="0" smtClean="0">
                <a:solidFill>
                  <a:srgbClr val="C00000"/>
                </a:solidFill>
              </a:rPr>
              <a:t>syntactic shortcut</a:t>
            </a:r>
            <a:r>
              <a:rPr lang="en-US" sz="2400" dirty="0" smtClean="0"/>
              <a:t> for writing LINQ queries, called query expressions.</a:t>
            </a:r>
          </a:p>
          <a:p>
            <a:r>
              <a:rPr lang="en-US" sz="2400" dirty="0" smtClean="0"/>
              <a:t>Query expressions always start with a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from</a:t>
            </a:r>
            <a:r>
              <a:rPr lang="en-US" sz="2400" dirty="0" smtClean="0"/>
              <a:t> clause and end with either a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select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group</a:t>
            </a:r>
            <a:r>
              <a:rPr lang="en-US" sz="2400" dirty="0" smtClean="0"/>
              <a:t> clause.</a:t>
            </a:r>
          </a:p>
          <a:p>
            <a:r>
              <a:rPr lang="en-US" sz="2400" dirty="0" smtClean="0"/>
              <a:t>The from clause declares a range variable (in this case, n), which you can think of as traversing the input sequence</a:t>
            </a:r>
            <a:endParaRPr lang="en-US" sz="2400" dirty="0"/>
          </a:p>
        </p:txBody>
      </p:sp>
      <p:graphicFrame>
        <p:nvGraphicFramePr>
          <p:cNvPr id="7170" name="Object 2"/>
          <p:cNvGraphicFramePr>
            <a:graphicFrameLocks/>
          </p:cNvGraphicFramePr>
          <p:nvPr/>
        </p:nvGraphicFramePr>
        <p:xfrm>
          <a:off x="0" y="4121150"/>
          <a:ext cx="8216900" cy="2660650"/>
        </p:xfrm>
        <a:graphic>
          <a:graphicData uri="http://schemas.openxmlformats.org/presentationml/2006/ole">
            <p:oleObj spid="_x0000_s7170" name="Document" r:id="rId3" imgW="6403594" imgH="2075852" progId="Word.Document.12">
              <p:embed/>
            </p:oleObj>
          </a:graphicData>
        </a:graphic>
      </p:graphicFrame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91400" y="5223510"/>
            <a:ext cx="1628775" cy="948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Railroad Diagram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3788" y="1530350"/>
            <a:ext cx="4416425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Deferred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r>
              <a:rPr lang="en-US" sz="2400" dirty="0" smtClean="0"/>
              <a:t>Most query operators (except operators that return a single element or scalar value, such as First or Count or conversion operators, such as </a:t>
            </a:r>
            <a:r>
              <a:rPr lang="en-US" sz="2400" dirty="0" err="1" smtClean="0"/>
              <a:t>ToArray</a:t>
            </a:r>
            <a:r>
              <a:rPr lang="en-US" sz="2400" dirty="0" smtClean="0"/>
              <a:t>, </a:t>
            </a:r>
            <a:r>
              <a:rPr lang="en-US" sz="2400" dirty="0" err="1" smtClean="0"/>
              <a:t>ToList</a:t>
            </a:r>
            <a:r>
              <a:rPr lang="en-US" sz="2400" dirty="0" smtClean="0"/>
              <a:t>, </a:t>
            </a:r>
            <a:r>
              <a:rPr lang="en-US" sz="2400" dirty="0" err="1" smtClean="0"/>
              <a:t>ToDictionary</a:t>
            </a:r>
            <a:r>
              <a:rPr lang="en-US" sz="2400" dirty="0" smtClean="0"/>
              <a:t>, </a:t>
            </a:r>
            <a:r>
              <a:rPr lang="en-US" sz="2400" dirty="0" err="1" smtClean="0"/>
              <a:t>ToLookup</a:t>
            </a:r>
            <a:r>
              <a:rPr lang="en-US" sz="2400" dirty="0" smtClean="0"/>
              <a:t>) </a:t>
            </a:r>
            <a:r>
              <a:rPr lang="en-US" sz="2400" i="1" dirty="0" smtClean="0">
                <a:solidFill>
                  <a:srgbClr val="C00000"/>
                </a:solidFill>
              </a:rPr>
              <a:t>execute</a:t>
            </a:r>
            <a:r>
              <a:rPr lang="en-US" sz="2400" dirty="0" smtClean="0"/>
              <a:t> </a:t>
            </a:r>
            <a:r>
              <a:rPr lang="en-US" sz="2400" u="sng" dirty="0" smtClean="0"/>
              <a:t>not when constructed</a:t>
            </a:r>
            <a:r>
              <a:rPr lang="en-US" sz="2400" dirty="0" smtClean="0"/>
              <a:t>, but when enumerated (in other words, when </a:t>
            </a:r>
            <a:r>
              <a:rPr lang="en-US" sz="2400" dirty="0" err="1" smtClean="0"/>
              <a:t>MoveNext</a:t>
            </a:r>
            <a:r>
              <a:rPr lang="en-US" sz="2400" dirty="0" smtClean="0"/>
              <a:t> is called on its enumerator).</a:t>
            </a:r>
          </a:p>
          <a:p>
            <a:r>
              <a:rPr lang="en-US" sz="2400" dirty="0" smtClean="0"/>
              <a:t>This is called deferred or lazy execution.</a:t>
            </a:r>
            <a:endParaRPr lang="en-US" sz="2400" dirty="0"/>
          </a:p>
        </p:txBody>
      </p:sp>
      <p:graphicFrame>
        <p:nvGraphicFramePr>
          <p:cNvPr id="8194" name="Object 2"/>
          <p:cNvGraphicFramePr>
            <a:graphicFrameLocks/>
          </p:cNvGraphicFramePr>
          <p:nvPr/>
        </p:nvGraphicFramePr>
        <p:xfrm>
          <a:off x="196850" y="4178300"/>
          <a:ext cx="8642350" cy="2527300"/>
        </p:xfrm>
        <a:graphic>
          <a:graphicData uri="http://schemas.openxmlformats.org/presentationml/2006/ole">
            <p:oleObj spid="_x0000_s8194" name="Document" r:id="rId3" imgW="6252464" imgH="1829259" progId="Word.Document.12">
              <p:embed/>
            </p:oleObj>
          </a:graphicData>
        </a:graphic>
      </p:graphicFrame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5638800"/>
            <a:ext cx="1520190" cy="702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Deferred Execution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71800"/>
          </a:xfrm>
        </p:spPr>
        <p:txBody>
          <a:bodyPr/>
          <a:lstStyle/>
          <a:p>
            <a:r>
              <a:rPr lang="en-US" sz="2200" dirty="0" smtClean="0"/>
              <a:t>Query operators provide deferred execution by returning </a:t>
            </a:r>
            <a:r>
              <a:rPr lang="en-US" sz="2200" i="1" dirty="0" smtClean="0">
                <a:solidFill>
                  <a:srgbClr val="C00000"/>
                </a:solidFill>
              </a:rPr>
              <a:t>decorator sequences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Unlike a traditional collection class, such as an array or linked list, a decorator sequence (in general) has </a:t>
            </a:r>
            <a:r>
              <a:rPr lang="en-US" sz="2200" i="1" dirty="0" smtClean="0">
                <a:solidFill>
                  <a:srgbClr val="C00000"/>
                </a:solidFill>
              </a:rPr>
              <a:t>no backing structure</a:t>
            </a:r>
            <a:r>
              <a:rPr lang="en-US" sz="2200" dirty="0" smtClean="0"/>
              <a:t> of its own to store elements.</a:t>
            </a:r>
          </a:p>
          <a:p>
            <a:r>
              <a:rPr lang="en-US" sz="2200" dirty="0" smtClean="0"/>
              <a:t>Instead, it </a:t>
            </a:r>
            <a:r>
              <a:rPr lang="en-US" sz="2200" i="1" dirty="0" smtClean="0">
                <a:solidFill>
                  <a:srgbClr val="C00000"/>
                </a:solidFill>
              </a:rPr>
              <a:t>wraps</a:t>
            </a:r>
            <a:r>
              <a:rPr lang="en-US" sz="2200" dirty="0" smtClean="0"/>
              <a:t> </a:t>
            </a:r>
            <a:r>
              <a:rPr lang="en-US" sz="2200" u="sng" dirty="0" smtClean="0"/>
              <a:t>another sequence</a:t>
            </a:r>
            <a:r>
              <a:rPr lang="en-US" sz="2200" dirty="0" smtClean="0"/>
              <a:t> that you supply at runtime, to which it maintains a permanent dependency.</a:t>
            </a:r>
          </a:p>
          <a:p>
            <a:pPr algn="ctr">
              <a:buNone/>
            </a:pPr>
            <a:r>
              <a:rPr lang="en-US" sz="1400" b="1" dirty="0" err="1" smtClean="0">
                <a:latin typeface="Consolas" pitchFamily="49" charset="0"/>
              </a:rPr>
              <a:t>IEnumerable</a:t>
            </a:r>
            <a:r>
              <a:rPr lang="en-US" sz="1400" b="1" dirty="0" smtClean="0">
                <a:latin typeface="Consolas" pitchFamily="49" charset="0"/>
              </a:rPr>
              <a:t>&lt;</a:t>
            </a:r>
            <a:r>
              <a:rPr lang="en-US" sz="1400" b="1" dirty="0" err="1" smtClean="0">
                <a:latin typeface="Consolas" pitchFamily="49" charset="0"/>
              </a:rPr>
              <a:t>int</a:t>
            </a:r>
            <a:r>
              <a:rPr lang="en-US" sz="1400" b="1" dirty="0" smtClean="0">
                <a:latin typeface="Consolas" pitchFamily="49" charset="0"/>
              </a:rPr>
              <a:t>&gt; </a:t>
            </a:r>
            <a:r>
              <a:rPr lang="en-US" sz="1400" b="1" dirty="0" err="1" smtClean="0">
                <a:latin typeface="Consolas" pitchFamily="49" charset="0"/>
              </a:rPr>
              <a:t>lessThanTen</a:t>
            </a:r>
            <a:r>
              <a:rPr lang="en-US" sz="1400" b="1" dirty="0" smtClean="0">
                <a:latin typeface="Consolas" pitchFamily="49" charset="0"/>
              </a:rPr>
              <a:t> = new </a:t>
            </a:r>
            <a:r>
              <a:rPr lang="en-US" sz="1400" b="1" dirty="0" err="1" smtClean="0">
                <a:latin typeface="Consolas" pitchFamily="49" charset="0"/>
              </a:rPr>
              <a:t>int</a:t>
            </a:r>
            <a:r>
              <a:rPr lang="en-US" sz="1400" b="1" dirty="0" smtClean="0">
                <a:latin typeface="Consolas" pitchFamily="49" charset="0"/>
              </a:rPr>
              <a:t>[] { 5, 12, 3 }.Where (n =&gt; n &lt; 10);</a:t>
            </a:r>
            <a:endParaRPr lang="en-US" sz="1400" b="1" dirty="0">
              <a:latin typeface="Consolas" pitchFamily="49" charset="0"/>
            </a:endParaRP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9263" y="4759325"/>
            <a:ext cx="3165475" cy="179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Chaining Decorators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2743200"/>
          </a:xfrm>
        </p:spPr>
        <p:txBody>
          <a:bodyPr/>
          <a:lstStyle/>
          <a:p>
            <a:r>
              <a:rPr lang="en-US" sz="2400" dirty="0" smtClean="0"/>
              <a:t>Chaining query operators creates a </a:t>
            </a:r>
            <a:r>
              <a:rPr lang="en-US" sz="2400" i="1" dirty="0" smtClean="0">
                <a:solidFill>
                  <a:srgbClr val="C00000"/>
                </a:solidFill>
              </a:rPr>
              <a:t>layering of decorators</a:t>
            </a:r>
            <a:r>
              <a:rPr lang="en-US" sz="2400" dirty="0" smtClean="0"/>
              <a:t>.</a:t>
            </a:r>
          </a:p>
          <a:p>
            <a:pPr lvl="1">
              <a:buNone/>
            </a:pPr>
            <a:r>
              <a:rPr lang="pt-BR" sz="2000" dirty="0" smtClean="0">
                <a:latin typeface="Consolas" pitchFamily="49" charset="0"/>
              </a:rPr>
              <a:t>IEnumerable&lt;int&gt; query = new int[] { 5, 12, 3 }</a:t>
            </a:r>
          </a:p>
          <a:p>
            <a:pPr lvl="1">
              <a:buNone/>
            </a:pPr>
            <a:r>
              <a:rPr lang="pt-BR" sz="2000" dirty="0" smtClean="0">
                <a:latin typeface="Consolas" pitchFamily="49" charset="0"/>
              </a:rPr>
              <a:t>.Where (n =&gt; n &lt; 10)</a:t>
            </a:r>
          </a:p>
          <a:p>
            <a:pPr lvl="1">
              <a:buNone/>
            </a:pPr>
            <a:r>
              <a:rPr lang="pt-BR" sz="2000" dirty="0" smtClean="0">
                <a:latin typeface="Consolas" pitchFamily="49" charset="0"/>
              </a:rPr>
              <a:t>.OrderBy (n =&gt; n)</a:t>
            </a:r>
          </a:p>
          <a:p>
            <a:pPr lvl="1">
              <a:buNone/>
            </a:pPr>
            <a:r>
              <a:rPr lang="pt-BR" sz="2000" dirty="0" smtClean="0">
                <a:latin typeface="Consolas" pitchFamily="49" charset="0"/>
              </a:rPr>
              <a:t>.Select (n =&gt; n * 10);</a:t>
            </a:r>
          </a:p>
          <a:p>
            <a:r>
              <a:rPr lang="en-US" sz="2400" dirty="0" smtClean="0"/>
              <a:t>When you </a:t>
            </a:r>
            <a:r>
              <a:rPr lang="en-US" sz="2400" i="1" dirty="0" smtClean="0">
                <a:solidFill>
                  <a:srgbClr val="C00000"/>
                </a:solidFill>
              </a:rPr>
              <a:t>enumerate query</a:t>
            </a:r>
            <a:r>
              <a:rPr lang="en-US" sz="2400" dirty="0" smtClean="0"/>
              <a:t>, you’re querying the original array, transformed through a layering or chain of decorators.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2538" y="4267200"/>
            <a:ext cx="4098925" cy="240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Of A Local Query</a:t>
            </a:r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27150"/>
            <a:ext cx="4441825" cy="233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4975" y="3733800"/>
            <a:ext cx="4365625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LINQ?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LINQ</a:t>
            </a:r>
            <a:r>
              <a:rPr lang="en-US" sz="2400" dirty="0" smtClean="0"/>
              <a:t>, or </a:t>
            </a:r>
            <a:r>
              <a:rPr lang="en-US" sz="2400" i="1" dirty="0" smtClean="0">
                <a:solidFill>
                  <a:srgbClr val="C00000"/>
                </a:solidFill>
              </a:rPr>
              <a:t>Language Integrated Query</a:t>
            </a:r>
            <a:r>
              <a:rPr lang="en-US" sz="2400" dirty="0" smtClean="0"/>
              <a:t>, is a set of </a:t>
            </a:r>
            <a:r>
              <a:rPr lang="en-US" sz="2400" u="sng" dirty="0" smtClean="0"/>
              <a:t>language and framework features</a:t>
            </a:r>
            <a:r>
              <a:rPr lang="en-US" sz="2400" dirty="0" smtClean="0"/>
              <a:t> for writing structured type-safe queries over local </a:t>
            </a:r>
            <a:r>
              <a:rPr lang="en-US" sz="2400" u="sng" dirty="0" smtClean="0"/>
              <a:t>object collections</a:t>
            </a:r>
            <a:r>
              <a:rPr lang="en-US" sz="2400" dirty="0" smtClean="0"/>
              <a:t> and </a:t>
            </a:r>
            <a:r>
              <a:rPr lang="en-US" sz="2400" u="sng" dirty="0" smtClean="0"/>
              <a:t>remote data sources</a:t>
            </a:r>
            <a:r>
              <a:rPr lang="en-US" sz="2400" dirty="0" smtClean="0"/>
              <a:t>.</a:t>
            </a:r>
          </a:p>
          <a:p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sequence</a:t>
            </a:r>
            <a:r>
              <a:rPr lang="en-US" sz="2400" dirty="0" smtClean="0"/>
              <a:t> is any object that implements </a:t>
            </a:r>
            <a:r>
              <a:rPr lang="en-US" sz="2200" b="1" dirty="0" err="1" smtClean="0">
                <a:latin typeface="Courier New" pitchFamily="49" charset="0"/>
                <a:cs typeface="Courier New" pitchFamily="49" charset="0"/>
              </a:rPr>
              <a:t>IEnumerable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&lt;T&gt;</a:t>
            </a:r>
            <a:r>
              <a:rPr lang="en-US" sz="2400" dirty="0" smtClean="0"/>
              <a:t> and an </a:t>
            </a:r>
            <a:r>
              <a:rPr lang="en-US" sz="2400" i="1" dirty="0" smtClean="0">
                <a:solidFill>
                  <a:srgbClr val="C00000"/>
                </a:solidFill>
              </a:rPr>
              <a:t>element</a:t>
            </a:r>
            <a:r>
              <a:rPr lang="en-US" sz="2400" dirty="0" smtClean="0"/>
              <a:t> is each item in the sequence.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string[] names = { "Tom", "Dick", "Harry" };</a:t>
            </a:r>
          </a:p>
          <a:p>
            <a:pPr>
              <a:buNone/>
            </a:pPr>
            <a:endParaRPr lang="en-US" sz="2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/>
              <a:t>We call </a:t>
            </a:r>
            <a:r>
              <a:rPr lang="en-US" sz="2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names</a:t>
            </a:r>
            <a:r>
              <a:rPr lang="en-US" sz="2400" dirty="0" smtClean="0"/>
              <a:t> a </a:t>
            </a:r>
            <a:r>
              <a:rPr lang="en-US" sz="2400" i="1" dirty="0" smtClean="0">
                <a:solidFill>
                  <a:srgbClr val="C00000"/>
                </a:solidFill>
              </a:rPr>
              <a:t>local sequence</a:t>
            </a:r>
            <a:r>
              <a:rPr lang="en-US" sz="2400" dirty="0" smtClean="0"/>
              <a:t> because it represents a local collection of objects in memory.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query operator</a:t>
            </a:r>
            <a:r>
              <a:rPr lang="en-US" sz="2400" dirty="0" smtClean="0"/>
              <a:t> is a method that transforms a sequence.</a:t>
            </a:r>
          </a:p>
          <a:p>
            <a:r>
              <a:rPr lang="en-US" sz="2400" dirty="0" smtClean="0"/>
              <a:t>A typical query operator accepts an input sequence and emits a transformed output sequence.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28600" y="3048000"/>
            <a:ext cx="8686800" cy="34290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static void Main()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{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string[] names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{ "Tom", "Dick", "Harry" };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IEnumerable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&lt;string&gt;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filteredNames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names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.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Where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(n 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=&gt;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n.Length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&gt;= 4);</a:t>
            </a: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foreach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(string name in 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filteredNames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Console.WriteLine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(name);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5603</TotalTime>
  <Words>1300</Words>
  <Application>Microsoft Office PowerPoint</Application>
  <PresentationFormat>On-screen Show (4:3)</PresentationFormat>
  <Paragraphs>173</Paragraphs>
  <Slides>35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 Theme</vt:lpstr>
      <vt:lpstr>Document</vt:lpstr>
      <vt:lpstr>.NET Framework Collection Types</vt:lpstr>
      <vt:lpstr>Objectives</vt:lpstr>
      <vt:lpstr>References</vt:lpstr>
      <vt:lpstr>.NET Framework Collection Types [1]</vt:lpstr>
      <vt:lpstr>Array</vt:lpstr>
      <vt:lpstr>Array List</vt:lpstr>
      <vt:lpstr>Generic List</vt:lpstr>
      <vt:lpstr>IEnumerator&lt;T&gt; [2]</vt:lpstr>
      <vt:lpstr>IEnumerable&lt;T&gt;</vt:lpstr>
      <vt:lpstr>Example</vt:lpstr>
      <vt:lpstr>yield return Statement</vt:lpstr>
      <vt:lpstr>Implementing IEnumerable&lt;T&gt; [1]</vt:lpstr>
      <vt:lpstr>ICollection&lt;T&gt;</vt:lpstr>
      <vt:lpstr>IDictionary&lt;TKey, TValue&gt;</vt:lpstr>
      <vt:lpstr>IList&lt;T&gt;</vt:lpstr>
      <vt:lpstr>When to Use IEnumerable, Icollection and IList</vt:lpstr>
      <vt:lpstr>Covariance and Contravariance</vt:lpstr>
      <vt:lpstr>Slide 18</vt:lpstr>
      <vt:lpstr>Sequence [2]</vt:lpstr>
      <vt:lpstr>Query Operator</vt:lpstr>
      <vt:lpstr>Standard Query Operator</vt:lpstr>
      <vt:lpstr>Chaining Query Operators</vt:lpstr>
      <vt:lpstr>Chaining Operators’ Input And Output</vt:lpstr>
      <vt:lpstr>Enumerable.Where Implementation</vt:lpstr>
      <vt:lpstr>Natural Ordering</vt:lpstr>
      <vt:lpstr>Query Expressions</vt:lpstr>
      <vt:lpstr>Railroad Diagram</vt:lpstr>
      <vt:lpstr>Deferred Execution</vt:lpstr>
      <vt:lpstr>How Deferred Execution Works?</vt:lpstr>
      <vt:lpstr>Chaining Decorators</vt:lpstr>
      <vt:lpstr>Execution Of A Local Query</vt:lpstr>
      <vt:lpstr>Expression Trees</vt:lpstr>
      <vt:lpstr>What is LINQ? [2]</vt:lpstr>
      <vt:lpstr>Query Operator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2641</cp:revision>
  <dcterms:created xsi:type="dcterms:W3CDTF">2007-10-06T08:25:13Z</dcterms:created>
  <dcterms:modified xsi:type="dcterms:W3CDTF">2025-08-16T19:06:19Z</dcterms:modified>
</cp:coreProperties>
</file>