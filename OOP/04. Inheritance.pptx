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Default Extension="docx" ContentType="application/vnd.openxmlformats-officedocument.wordprocessingml.document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Default Extension="emf" ContentType="image/x-emf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handoutMasterIdLst>
    <p:handoutMasterId r:id="rId36"/>
  </p:handoutMasterIdLst>
  <p:sldIdLst>
    <p:sldId id="256" r:id="rId2"/>
    <p:sldId id="644" r:id="rId3"/>
    <p:sldId id="645" r:id="rId4"/>
    <p:sldId id="664" r:id="rId5"/>
    <p:sldId id="573" r:id="rId6"/>
    <p:sldId id="572" r:id="rId7"/>
    <p:sldId id="574" r:id="rId8"/>
    <p:sldId id="579" r:id="rId9"/>
    <p:sldId id="588" r:id="rId10"/>
    <p:sldId id="580" r:id="rId11"/>
    <p:sldId id="581" r:id="rId12"/>
    <p:sldId id="657" r:id="rId13"/>
    <p:sldId id="592" r:id="rId14"/>
    <p:sldId id="590" r:id="rId15"/>
    <p:sldId id="655" r:id="rId16"/>
    <p:sldId id="594" r:id="rId17"/>
    <p:sldId id="656" r:id="rId18"/>
    <p:sldId id="593" r:id="rId19"/>
    <p:sldId id="651" r:id="rId20"/>
    <p:sldId id="650" r:id="rId21"/>
    <p:sldId id="595" r:id="rId22"/>
    <p:sldId id="603" r:id="rId23"/>
    <p:sldId id="652" r:id="rId24"/>
    <p:sldId id="653" r:id="rId25"/>
    <p:sldId id="659" r:id="rId26"/>
    <p:sldId id="660" r:id="rId27"/>
    <p:sldId id="661" r:id="rId28"/>
    <p:sldId id="662" r:id="rId29"/>
    <p:sldId id="663" r:id="rId30"/>
    <p:sldId id="658" r:id="rId31"/>
    <p:sldId id="640" r:id="rId32"/>
    <p:sldId id="649" r:id="rId33"/>
    <p:sldId id="646" r:id="rId34"/>
    <p:sldId id="343" r:id="rId3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653" autoAdjust="0"/>
    <p:restoredTop sz="94667" autoAdjust="0"/>
  </p:normalViewPr>
  <p:slideViewPr>
    <p:cSldViewPr>
      <p:cViewPr>
        <p:scale>
          <a:sx n="60" d="100"/>
          <a:sy n="60" d="100"/>
        </p:scale>
        <p:origin x="-1186" y="-1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800200D-DC81-4167-A957-C56360380BE4}" type="doc">
      <dgm:prSet loTypeId="urn:microsoft.com/office/officeart/2005/8/layout/pyramid2" loCatId="list" qsTypeId="urn:microsoft.com/office/officeart/2005/8/quickstyle/simple1" qsCatId="simple" csTypeId="urn:microsoft.com/office/officeart/2005/8/colors/accent1_2" csCatId="accent1" phldr="1"/>
      <dgm:spPr/>
    </dgm:pt>
    <dgm:pt modelId="{A3B32D17-E011-494B-BD72-244C27FA463D}">
      <dgm:prSet phldrT="[Text]"/>
      <dgm:spPr/>
      <dgm:t>
        <a:bodyPr/>
        <a:lstStyle/>
        <a:p>
          <a:r>
            <a:rPr lang="en-US" b="1" i="1" dirty="0" smtClean="0">
              <a:solidFill>
                <a:schemeClr val="tx1"/>
              </a:solidFill>
              <a:latin typeface="+mj-lt"/>
            </a:rPr>
            <a:t>Specialization</a:t>
          </a:r>
          <a:r>
            <a:rPr lang="en-US" i="1" dirty="0" smtClean="0">
              <a:solidFill>
                <a:schemeClr val="tx1"/>
              </a:solidFill>
              <a:latin typeface="+mj-lt"/>
            </a:rPr>
            <a:t> – The derived class adds more functionality and/or overrides some of the existing functionality.</a:t>
          </a:r>
          <a:endParaRPr lang="en-US" dirty="0">
            <a:solidFill>
              <a:schemeClr val="tx1"/>
            </a:solidFill>
          </a:endParaRPr>
        </a:p>
      </dgm:t>
    </dgm:pt>
    <dgm:pt modelId="{7E2582FD-432F-4434-89E7-00CCE1EB0FFD}" type="parTrans" cxnId="{78E09A21-E613-499A-98AC-2DC8A1468612}">
      <dgm:prSet/>
      <dgm:spPr/>
      <dgm:t>
        <a:bodyPr/>
        <a:lstStyle/>
        <a:p>
          <a:endParaRPr lang="en-US"/>
        </a:p>
      </dgm:t>
    </dgm:pt>
    <dgm:pt modelId="{7AE56776-8E77-4617-A0AE-36351129D2C0}" type="sibTrans" cxnId="{78E09A21-E613-499A-98AC-2DC8A1468612}">
      <dgm:prSet/>
      <dgm:spPr/>
      <dgm:t>
        <a:bodyPr/>
        <a:lstStyle/>
        <a:p>
          <a:endParaRPr lang="en-US"/>
        </a:p>
      </dgm:t>
    </dgm:pt>
    <dgm:pt modelId="{20E33E57-F7EE-495B-A2E2-E861429CBDDE}">
      <dgm:prSet phldrT="[Text]"/>
      <dgm:spPr/>
      <dgm:t>
        <a:bodyPr/>
        <a:lstStyle/>
        <a:p>
          <a:r>
            <a:rPr lang="en-US" b="1" i="1" dirty="0" smtClean="0">
              <a:solidFill>
                <a:schemeClr val="tx1"/>
              </a:solidFill>
              <a:latin typeface="+mj-lt"/>
            </a:rPr>
            <a:t>Extension</a:t>
          </a:r>
          <a:r>
            <a:rPr lang="en-US" i="1" dirty="0" smtClean="0">
              <a:solidFill>
                <a:schemeClr val="tx1"/>
              </a:solidFill>
              <a:latin typeface="+mj-lt"/>
            </a:rPr>
            <a:t> – A particular form of specialization in which more functionality is added but none of the existing functionality is overridden.</a:t>
          </a:r>
          <a:endParaRPr lang="en-US" dirty="0">
            <a:solidFill>
              <a:schemeClr val="tx1"/>
            </a:solidFill>
          </a:endParaRPr>
        </a:p>
      </dgm:t>
    </dgm:pt>
    <dgm:pt modelId="{E212ED89-71C2-4A24-B166-A307E423CBFD}" type="parTrans" cxnId="{6D256063-8B9E-4B16-8F43-FC48AAA3DAC8}">
      <dgm:prSet/>
      <dgm:spPr/>
      <dgm:t>
        <a:bodyPr/>
        <a:lstStyle/>
        <a:p>
          <a:endParaRPr lang="en-US"/>
        </a:p>
      </dgm:t>
    </dgm:pt>
    <dgm:pt modelId="{EF1EEC52-6456-4C55-94E7-5341E072064B}" type="sibTrans" cxnId="{6D256063-8B9E-4B16-8F43-FC48AAA3DAC8}">
      <dgm:prSet/>
      <dgm:spPr/>
      <dgm:t>
        <a:bodyPr/>
        <a:lstStyle/>
        <a:p>
          <a:endParaRPr lang="en-US"/>
        </a:p>
      </dgm:t>
    </dgm:pt>
    <dgm:pt modelId="{EF6C4CA7-2E05-42AC-8AA3-C16535FB3EDE}">
      <dgm:prSet/>
      <dgm:spPr/>
      <dgm:t>
        <a:bodyPr/>
        <a:lstStyle/>
        <a:p>
          <a:r>
            <a:rPr lang="en-US" b="1" i="1" dirty="0" smtClean="0">
              <a:solidFill>
                <a:schemeClr val="tx1"/>
              </a:solidFill>
              <a:latin typeface="+mj-lt"/>
            </a:rPr>
            <a:t>Realization of a Specification </a:t>
          </a:r>
          <a:r>
            <a:rPr lang="en-US" i="1" dirty="0" smtClean="0">
              <a:solidFill>
                <a:schemeClr val="tx1"/>
              </a:solidFill>
              <a:latin typeface="+mj-lt"/>
            </a:rPr>
            <a:t>– An "abstract class" or "interface" (both of which contain unimplemented methods) is used as the base to realize a concept merely "specified" in that base. </a:t>
          </a:r>
          <a:endParaRPr lang="en-US" dirty="0">
            <a:solidFill>
              <a:schemeClr val="tx1"/>
            </a:solidFill>
          </a:endParaRPr>
        </a:p>
      </dgm:t>
    </dgm:pt>
    <dgm:pt modelId="{786FA444-BE63-42B1-954A-D9744A6A652D}" type="parTrans" cxnId="{0CF1FAB5-E0C6-44F0-AD6F-2C31A31E67D2}">
      <dgm:prSet/>
      <dgm:spPr/>
      <dgm:t>
        <a:bodyPr/>
        <a:lstStyle/>
        <a:p>
          <a:endParaRPr lang="en-US"/>
        </a:p>
      </dgm:t>
    </dgm:pt>
    <dgm:pt modelId="{B90C4CD1-8BFB-440F-B51A-736EB1C201A2}" type="sibTrans" cxnId="{0CF1FAB5-E0C6-44F0-AD6F-2C31A31E67D2}">
      <dgm:prSet/>
      <dgm:spPr/>
      <dgm:t>
        <a:bodyPr/>
        <a:lstStyle/>
        <a:p>
          <a:endParaRPr lang="en-US"/>
        </a:p>
      </dgm:t>
    </dgm:pt>
    <dgm:pt modelId="{07F932A3-ECB7-4C08-B62F-D1DB7A896A2A}">
      <dgm:prSet/>
      <dgm:spPr/>
      <dgm:t>
        <a:bodyPr/>
        <a:lstStyle/>
        <a:p>
          <a:r>
            <a:rPr lang="en-US" b="1" i="1" dirty="0" smtClean="0">
              <a:solidFill>
                <a:schemeClr val="tx1"/>
              </a:solidFill>
              <a:latin typeface="+mj-lt"/>
            </a:rPr>
            <a:t>Combination</a:t>
          </a:r>
          <a:r>
            <a:rPr lang="en-US" i="1" dirty="0" smtClean="0">
              <a:solidFill>
                <a:schemeClr val="tx1"/>
              </a:solidFill>
              <a:latin typeface="+mj-lt"/>
            </a:rPr>
            <a:t> is to "inherit from", or "extend", a single base class, and simultaneously "implement" one or more "interfaces". </a:t>
          </a:r>
          <a:endParaRPr lang="en-US" dirty="0">
            <a:solidFill>
              <a:schemeClr val="tx1"/>
            </a:solidFill>
          </a:endParaRPr>
        </a:p>
      </dgm:t>
    </dgm:pt>
    <dgm:pt modelId="{727728F2-B524-4FF6-ABB0-1F55D1163376}" type="parTrans" cxnId="{82EC0D4E-27F0-49C9-A360-CFEEED6380F1}">
      <dgm:prSet/>
      <dgm:spPr/>
      <dgm:t>
        <a:bodyPr/>
        <a:lstStyle/>
        <a:p>
          <a:endParaRPr lang="en-US"/>
        </a:p>
      </dgm:t>
    </dgm:pt>
    <dgm:pt modelId="{9CB7FF6A-0976-483E-A55C-D8CDBB5AEE83}" type="sibTrans" cxnId="{82EC0D4E-27F0-49C9-A360-CFEEED6380F1}">
      <dgm:prSet/>
      <dgm:spPr/>
      <dgm:t>
        <a:bodyPr/>
        <a:lstStyle/>
        <a:p>
          <a:endParaRPr lang="en-US"/>
        </a:p>
      </dgm:t>
    </dgm:pt>
    <dgm:pt modelId="{777B810E-D7FA-458C-AFC3-86426D5613B3}" type="pres">
      <dgm:prSet presAssocID="{B800200D-DC81-4167-A957-C56360380BE4}" presName="compositeShape" presStyleCnt="0">
        <dgm:presLayoutVars>
          <dgm:dir/>
          <dgm:resizeHandles/>
        </dgm:presLayoutVars>
      </dgm:prSet>
      <dgm:spPr/>
    </dgm:pt>
    <dgm:pt modelId="{8C2CB896-4C60-4109-9711-9BD56E37CEC1}" type="pres">
      <dgm:prSet presAssocID="{B800200D-DC81-4167-A957-C56360380BE4}" presName="pyramid" presStyleLbl="node1" presStyleIdx="0" presStyleCnt="1"/>
      <dgm:spPr/>
    </dgm:pt>
    <dgm:pt modelId="{5997A377-924B-4738-91E6-F01F642A7416}" type="pres">
      <dgm:prSet presAssocID="{B800200D-DC81-4167-A957-C56360380BE4}" presName="theList" presStyleCnt="0"/>
      <dgm:spPr/>
    </dgm:pt>
    <dgm:pt modelId="{A14F0518-71E2-430D-A3F4-5253AC082BAF}" type="pres">
      <dgm:prSet presAssocID="{A3B32D17-E011-494B-BD72-244C27FA463D}" presName="aNode" presStyleLbl="fgAcc1" presStyleIdx="0" presStyleCnt="4" custScaleX="15384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994167F-7A13-4236-82A5-7E04A00BA654}" type="pres">
      <dgm:prSet presAssocID="{A3B32D17-E011-494B-BD72-244C27FA463D}" presName="aSpace" presStyleCnt="0"/>
      <dgm:spPr/>
    </dgm:pt>
    <dgm:pt modelId="{D6C343C5-1559-4BBD-9C36-7059B7801051}" type="pres">
      <dgm:prSet presAssocID="{20E33E57-F7EE-495B-A2E2-E861429CBDDE}" presName="aNode" presStyleLbl="fgAcc1" presStyleIdx="1" presStyleCnt="4" custScaleX="1717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E2CD812-2F36-4F57-A043-FB8EC56DD0F5}" type="pres">
      <dgm:prSet presAssocID="{20E33E57-F7EE-495B-A2E2-E861429CBDDE}" presName="aSpace" presStyleCnt="0"/>
      <dgm:spPr/>
    </dgm:pt>
    <dgm:pt modelId="{253FA0AD-860F-4D4D-B5CC-D92F131DAC89}" type="pres">
      <dgm:prSet presAssocID="{EF6C4CA7-2E05-42AC-8AA3-C16535FB3EDE}" presName="aNode" presStyleLbl="fgAcc1" presStyleIdx="2" presStyleCnt="4" custScaleX="18065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EB43CF8-C0DD-4C43-9E21-9FB65E5C81B6}" type="pres">
      <dgm:prSet presAssocID="{EF6C4CA7-2E05-42AC-8AA3-C16535FB3EDE}" presName="aSpace" presStyleCnt="0"/>
      <dgm:spPr/>
    </dgm:pt>
    <dgm:pt modelId="{F57F0ED3-8A1D-4622-9E30-2383B0399842}" type="pres">
      <dgm:prSet presAssocID="{07F932A3-ECB7-4C08-B62F-D1DB7A896A2A}" presName="aNode" presStyleLbl="fgAcc1" presStyleIdx="3" presStyleCnt="4" custScaleX="18964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09F8714-C60F-4277-9D16-EFC89BC0F2BA}" type="pres">
      <dgm:prSet presAssocID="{07F932A3-ECB7-4C08-B62F-D1DB7A896A2A}" presName="aSpace" presStyleCnt="0"/>
      <dgm:spPr/>
    </dgm:pt>
  </dgm:ptLst>
  <dgm:cxnLst>
    <dgm:cxn modelId="{82EC0D4E-27F0-49C9-A360-CFEEED6380F1}" srcId="{B800200D-DC81-4167-A957-C56360380BE4}" destId="{07F932A3-ECB7-4C08-B62F-D1DB7A896A2A}" srcOrd="3" destOrd="0" parTransId="{727728F2-B524-4FF6-ABB0-1F55D1163376}" sibTransId="{9CB7FF6A-0976-483E-A55C-D8CDBB5AEE83}"/>
    <dgm:cxn modelId="{78E09A21-E613-499A-98AC-2DC8A1468612}" srcId="{B800200D-DC81-4167-A957-C56360380BE4}" destId="{A3B32D17-E011-494B-BD72-244C27FA463D}" srcOrd="0" destOrd="0" parTransId="{7E2582FD-432F-4434-89E7-00CCE1EB0FFD}" sibTransId="{7AE56776-8E77-4617-A0AE-36351129D2C0}"/>
    <dgm:cxn modelId="{34B87C45-38C2-4B2D-B963-258F81CABE6E}" type="presOf" srcId="{07F932A3-ECB7-4C08-B62F-D1DB7A896A2A}" destId="{F57F0ED3-8A1D-4622-9E30-2383B0399842}" srcOrd="0" destOrd="0" presId="urn:microsoft.com/office/officeart/2005/8/layout/pyramid2"/>
    <dgm:cxn modelId="{6D256063-8B9E-4B16-8F43-FC48AAA3DAC8}" srcId="{B800200D-DC81-4167-A957-C56360380BE4}" destId="{20E33E57-F7EE-495B-A2E2-E861429CBDDE}" srcOrd="1" destOrd="0" parTransId="{E212ED89-71C2-4A24-B166-A307E423CBFD}" sibTransId="{EF1EEC52-6456-4C55-94E7-5341E072064B}"/>
    <dgm:cxn modelId="{F126916B-7B98-4B6C-A0DA-9515E07286E1}" type="presOf" srcId="{A3B32D17-E011-494B-BD72-244C27FA463D}" destId="{A14F0518-71E2-430D-A3F4-5253AC082BAF}" srcOrd="0" destOrd="0" presId="urn:microsoft.com/office/officeart/2005/8/layout/pyramid2"/>
    <dgm:cxn modelId="{73580D3E-BD08-4809-9724-75F8F2F99FF6}" type="presOf" srcId="{20E33E57-F7EE-495B-A2E2-E861429CBDDE}" destId="{D6C343C5-1559-4BBD-9C36-7059B7801051}" srcOrd="0" destOrd="0" presId="urn:microsoft.com/office/officeart/2005/8/layout/pyramid2"/>
    <dgm:cxn modelId="{0CF1FAB5-E0C6-44F0-AD6F-2C31A31E67D2}" srcId="{B800200D-DC81-4167-A957-C56360380BE4}" destId="{EF6C4CA7-2E05-42AC-8AA3-C16535FB3EDE}" srcOrd="2" destOrd="0" parTransId="{786FA444-BE63-42B1-954A-D9744A6A652D}" sibTransId="{B90C4CD1-8BFB-440F-B51A-736EB1C201A2}"/>
    <dgm:cxn modelId="{817B8419-FE25-40FE-A6AB-53C2ED853E68}" type="presOf" srcId="{B800200D-DC81-4167-A957-C56360380BE4}" destId="{777B810E-D7FA-458C-AFC3-86426D5613B3}" srcOrd="0" destOrd="0" presId="urn:microsoft.com/office/officeart/2005/8/layout/pyramid2"/>
    <dgm:cxn modelId="{51A7464D-E283-4F4A-A362-F12301FB1715}" type="presOf" srcId="{EF6C4CA7-2E05-42AC-8AA3-C16535FB3EDE}" destId="{253FA0AD-860F-4D4D-B5CC-D92F131DAC89}" srcOrd="0" destOrd="0" presId="urn:microsoft.com/office/officeart/2005/8/layout/pyramid2"/>
    <dgm:cxn modelId="{98224E0C-E614-4EBE-8481-F056407C7198}" type="presParOf" srcId="{777B810E-D7FA-458C-AFC3-86426D5613B3}" destId="{8C2CB896-4C60-4109-9711-9BD56E37CEC1}" srcOrd="0" destOrd="0" presId="urn:microsoft.com/office/officeart/2005/8/layout/pyramid2"/>
    <dgm:cxn modelId="{1AD1BCE8-FDFA-4698-AB8C-E45E383612FF}" type="presParOf" srcId="{777B810E-D7FA-458C-AFC3-86426D5613B3}" destId="{5997A377-924B-4738-91E6-F01F642A7416}" srcOrd="1" destOrd="0" presId="urn:microsoft.com/office/officeart/2005/8/layout/pyramid2"/>
    <dgm:cxn modelId="{48BAB791-DEB9-456F-9A1D-8760CED425DC}" type="presParOf" srcId="{5997A377-924B-4738-91E6-F01F642A7416}" destId="{A14F0518-71E2-430D-A3F4-5253AC082BAF}" srcOrd="0" destOrd="0" presId="urn:microsoft.com/office/officeart/2005/8/layout/pyramid2"/>
    <dgm:cxn modelId="{D362D029-F12E-4503-8F40-64E56E4DAAA7}" type="presParOf" srcId="{5997A377-924B-4738-91E6-F01F642A7416}" destId="{8994167F-7A13-4236-82A5-7E04A00BA654}" srcOrd="1" destOrd="0" presId="urn:microsoft.com/office/officeart/2005/8/layout/pyramid2"/>
    <dgm:cxn modelId="{AAC3E83C-A6CC-46BE-A4EC-2BEA2A1C319A}" type="presParOf" srcId="{5997A377-924B-4738-91E6-F01F642A7416}" destId="{D6C343C5-1559-4BBD-9C36-7059B7801051}" srcOrd="2" destOrd="0" presId="urn:microsoft.com/office/officeart/2005/8/layout/pyramid2"/>
    <dgm:cxn modelId="{8A2E037F-D181-4261-9192-070AE788FB52}" type="presParOf" srcId="{5997A377-924B-4738-91E6-F01F642A7416}" destId="{9E2CD812-2F36-4F57-A043-FB8EC56DD0F5}" srcOrd="3" destOrd="0" presId="urn:microsoft.com/office/officeart/2005/8/layout/pyramid2"/>
    <dgm:cxn modelId="{5493AC8D-02FE-4933-83FF-3C48354C07EE}" type="presParOf" srcId="{5997A377-924B-4738-91E6-F01F642A7416}" destId="{253FA0AD-860F-4D4D-B5CC-D92F131DAC89}" srcOrd="4" destOrd="0" presId="urn:microsoft.com/office/officeart/2005/8/layout/pyramid2"/>
    <dgm:cxn modelId="{A2E675B9-8B9A-46DA-B4E2-A7D9987BFF43}" type="presParOf" srcId="{5997A377-924B-4738-91E6-F01F642A7416}" destId="{4EB43CF8-C0DD-4C43-9E21-9FB65E5C81B6}" srcOrd="5" destOrd="0" presId="urn:microsoft.com/office/officeart/2005/8/layout/pyramid2"/>
    <dgm:cxn modelId="{182A2916-A1D5-47AA-90C6-4D660B8B7954}" type="presParOf" srcId="{5997A377-924B-4738-91E6-F01F642A7416}" destId="{F57F0ED3-8A1D-4622-9E30-2383B0399842}" srcOrd="6" destOrd="0" presId="urn:microsoft.com/office/officeart/2005/8/layout/pyramid2"/>
    <dgm:cxn modelId="{CD6E8709-8F71-481E-A4AA-DD13049D6E33}" type="presParOf" srcId="{5997A377-924B-4738-91E6-F01F642A7416}" destId="{709F8714-C60F-4277-9D16-EFC89BC0F2BA}" srcOrd="7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image" Target="../media/image14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image" Target="../media/image19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image" Target="../media/image33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image" Target="../media/image43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e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50.emf"/><Relationship Id="rId1" Type="http://schemas.openxmlformats.org/officeDocument/2006/relationships/image" Target="../media/image49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e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57.emf"/><Relationship Id="rId1" Type="http://schemas.openxmlformats.org/officeDocument/2006/relationships/image" Target="../media/image56.e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60.emf"/><Relationship Id="rId1" Type="http://schemas.openxmlformats.org/officeDocument/2006/relationships/image" Target="../media/image59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2.e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67.emf"/><Relationship Id="rId1" Type="http://schemas.openxmlformats.org/officeDocument/2006/relationships/image" Target="../media/image6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0BDD82-FC17-4108-A109-16A13416D993}" type="datetimeFigureOut">
              <a:rPr lang="en-US" smtClean="0"/>
              <a:pPr/>
              <a:t>3/15/2018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C34533-2797-4096-AC02-2A95987978B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34D400-6504-413F-B54E-738978C9D58D}" type="datetimeFigureOut">
              <a:rPr lang="en-US"/>
              <a:pPr>
                <a:defRPr/>
              </a:pPr>
              <a:t>3/15/2018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C1B037-3188-409D-8585-0062FF378D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650246-B75B-4111-A4E3-17CED8183F51}" type="datetimeFigureOut">
              <a:rPr lang="en-US"/>
              <a:pPr>
                <a:defRPr/>
              </a:pPr>
              <a:t>3/15/2018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713B35-0DC7-41A1-836F-F07E105F72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5B62FE-A4BA-4F3B-8724-099A9867E83E}" type="datetimeFigureOut">
              <a:rPr lang="en-US"/>
              <a:pPr>
                <a:defRPr/>
              </a:pPr>
              <a:t>3/15/2018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E2A0DB-97FF-4E2D-961A-53A8B3E81C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FBCD77-DB7E-410F-8346-A9CE932D0AC1}" type="datetimeFigureOut">
              <a:rPr lang="en-US"/>
              <a:pPr>
                <a:defRPr/>
              </a:pPr>
              <a:t>3/15/2018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B3858F-6EED-4FD9-B63D-3FB7FC26C9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FD8737-39E6-4861-92A8-89AC4192A622}" type="datetimeFigureOut">
              <a:rPr lang="en-US"/>
              <a:pPr>
                <a:defRPr/>
              </a:pPr>
              <a:t>3/15/2018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811265-6FEF-4F82-B77F-9478A26020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77D96A-39D8-4C6D-B965-8C8786F338A6}" type="datetimeFigureOut">
              <a:rPr lang="en-US"/>
              <a:pPr>
                <a:defRPr/>
              </a:pPr>
              <a:t>3/15/2018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14D288-D738-45D0-B23A-7E0F18151E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8036EE-19ED-4D9D-B088-EAFD7232ED0E}" type="datetimeFigureOut">
              <a:rPr lang="en-US"/>
              <a:pPr>
                <a:defRPr/>
              </a:pPr>
              <a:t>3/15/2018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7035E6-112E-46D6-92D2-F2905FE7FE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544F72-AE66-47B5-B42F-4F292EBF18C0}" type="datetimeFigureOut">
              <a:rPr lang="en-US"/>
              <a:pPr>
                <a:defRPr/>
              </a:pPr>
              <a:t>3/15/2018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26D519-0129-40C9-A8E0-4AA1DED683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8D7A31-5AF7-4205-933F-65E4A1293711}" type="datetimeFigureOut">
              <a:rPr lang="en-US"/>
              <a:pPr>
                <a:defRPr/>
              </a:pPr>
              <a:t>3/15/2018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4CC8C2-CC74-4F74-BCEB-5B4FD5CCA7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80A20E-8178-48FA-A129-AAB02AB6D639}" type="datetimeFigureOut">
              <a:rPr lang="en-US"/>
              <a:pPr>
                <a:defRPr/>
              </a:pPr>
              <a:t>3/15/2018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71C3DA-7D2B-4D47-80E5-C045B94A7C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16E936-9FA0-4541-B442-5A2338068559}" type="datetimeFigureOut">
              <a:rPr lang="en-US"/>
              <a:pPr>
                <a:defRPr/>
              </a:pPr>
              <a:t>3/15/2018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8867D3-01D4-40D3-B6DA-7869D49FDF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6553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C091D18-0586-4BD9-8B7F-38B22B7AB35F}" type="datetimeFigureOut">
              <a:rPr lang="en-US"/>
              <a:pPr>
                <a:defRPr/>
              </a:pPr>
              <a:t>3/15/2018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ED71EDE-E083-416B-A0EA-2AE6A7CEE3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6.png"/><Relationship Id="rId4" Type="http://schemas.openxmlformats.org/officeDocument/2006/relationships/package" Target="../embeddings/Microsoft_Office_Word_Document2.docx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package" Target="../embeddings/Microsoft_Office_Word_Document5.docx"/><Relationship Id="rId4" Type="http://schemas.openxmlformats.org/officeDocument/2006/relationships/package" Target="../embeddings/Microsoft_Office_Word_Document4.docx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3.png"/><Relationship Id="rId5" Type="http://schemas.openxmlformats.org/officeDocument/2006/relationships/package" Target="../embeddings/Microsoft_Office_Word_Document8.docx"/><Relationship Id="rId4" Type="http://schemas.openxmlformats.org/officeDocument/2006/relationships/package" Target="../embeddings/Microsoft_Office_Word_Document7.docx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package" Target="../embeddings/Microsoft_Office_Word_Document10.docx"/><Relationship Id="rId4" Type="http://schemas.openxmlformats.org/officeDocument/2006/relationships/package" Target="../embeddings/Microsoft_Office_Word_Document9.docx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package" Target="../embeddings/Microsoft_Office_Word_Document11.docx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1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21.png"/><Relationship Id="rId4" Type="http://schemas.openxmlformats.org/officeDocument/2006/relationships/package" Target="../embeddings/Microsoft_Office_Word_Document13.docx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1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26.jpe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package" Target="../embeddings/Microsoft_Office_Word_Document1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1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package" Target="../embeddings/Microsoft_Office_Word_Document18.docx"/><Relationship Id="rId5" Type="http://schemas.openxmlformats.org/officeDocument/2006/relationships/image" Target="../media/image36.png"/><Relationship Id="rId4" Type="http://schemas.openxmlformats.org/officeDocument/2006/relationships/package" Target="../embeddings/Microsoft_Office_Word_Document17.docx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1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2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45.png"/><Relationship Id="rId4" Type="http://schemas.openxmlformats.org/officeDocument/2006/relationships/package" Target="../embeddings/Microsoft_Office_Word_Document21.docx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48.png"/><Relationship Id="rId4" Type="http://schemas.openxmlformats.org/officeDocument/2006/relationships/package" Target="../embeddings/Microsoft_Office_Word_Document22.docx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2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5" Type="http://schemas.openxmlformats.org/officeDocument/2006/relationships/package" Target="../embeddings/Microsoft_Office_Word_Document24.docx"/><Relationship Id="rId4" Type="http://schemas.openxmlformats.org/officeDocument/2006/relationships/image" Target="../media/image5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2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2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58.png"/><Relationship Id="rId4" Type="http://schemas.openxmlformats.org/officeDocument/2006/relationships/package" Target="../embeddings/Microsoft_Office_Word_Document27.docx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2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61.png"/><Relationship Id="rId4" Type="http://schemas.openxmlformats.org/officeDocument/2006/relationships/package" Target="../embeddings/Microsoft_Office_Word_Document29.docx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3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6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3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68.png"/><Relationship Id="rId4" Type="http://schemas.openxmlformats.org/officeDocument/2006/relationships/package" Target="../embeddings/Microsoft_Office_Word_Document32.docx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ofactory.com/net/adapter-design-pattern" TargetMode="External"/><Relationship Id="rId2" Type="http://schemas.openxmlformats.org/officeDocument/2006/relationships/hyperlink" Target="http://c2.com/cgi/wiki?PrivateInheritance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6000" dirty="0" smtClean="0"/>
              <a:t>Inheritance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6324600" cy="4495799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200" dirty="0" smtClean="0"/>
              <a:t>To present </a:t>
            </a:r>
            <a:r>
              <a:rPr lang="en-US" sz="2200" i="1" dirty="0" smtClean="0">
                <a:solidFill>
                  <a:srgbClr val="C00000"/>
                </a:solidFill>
              </a:rPr>
              <a:t>what</a:t>
            </a:r>
            <a:r>
              <a:rPr lang="en-US" sz="2200" dirty="0" smtClean="0"/>
              <a:t> is inheritance.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 smtClean="0"/>
              <a:t>To </a:t>
            </a:r>
            <a:r>
              <a:rPr lang="en-US" sz="2200" i="1" dirty="0" smtClean="0">
                <a:solidFill>
                  <a:srgbClr val="C00000"/>
                </a:solidFill>
              </a:rPr>
              <a:t>create</a:t>
            </a:r>
            <a:r>
              <a:rPr lang="en-US" sz="2200" dirty="0" smtClean="0"/>
              <a:t> classes with inheritance</a:t>
            </a:r>
            <a:r>
              <a:rPr lang="en-US" sz="2200" i="1" dirty="0" smtClean="0">
                <a:solidFill>
                  <a:srgbClr val="C00000"/>
                </a:solidFill>
              </a:rPr>
              <a:t>.</a:t>
            </a:r>
            <a:endParaRPr lang="en-US" sz="2200" dirty="0" smtClean="0"/>
          </a:p>
          <a:p>
            <a:pPr>
              <a:buFont typeface="Wingdings" pitchFamily="2" charset="2"/>
              <a:buChar char="Ø"/>
            </a:pPr>
            <a:r>
              <a:rPr lang="en-US" sz="2200" dirty="0" smtClean="0"/>
              <a:t>To present </a:t>
            </a:r>
            <a:r>
              <a:rPr lang="en-US" sz="2200" i="1" dirty="0" smtClean="0">
                <a:solidFill>
                  <a:srgbClr val="C00000"/>
                </a:solidFill>
              </a:rPr>
              <a:t>why</a:t>
            </a:r>
            <a:r>
              <a:rPr lang="en-US" sz="2200" dirty="0" smtClean="0"/>
              <a:t> use inheritance.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 smtClean="0"/>
              <a:t>To present </a:t>
            </a:r>
            <a:r>
              <a:rPr lang="en-US" sz="2200" i="1" dirty="0" smtClean="0">
                <a:solidFill>
                  <a:srgbClr val="C00000"/>
                </a:solidFill>
              </a:rPr>
              <a:t>what</a:t>
            </a:r>
            <a:r>
              <a:rPr lang="en-US" sz="2200" dirty="0" smtClean="0"/>
              <a:t> is casting.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 smtClean="0"/>
              <a:t>To present </a:t>
            </a:r>
            <a:r>
              <a:rPr lang="en-US" sz="2200" i="1" dirty="0" smtClean="0">
                <a:solidFill>
                  <a:srgbClr val="C00000"/>
                </a:solidFill>
              </a:rPr>
              <a:t>why</a:t>
            </a:r>
            <a:r>
              <a:rPr lang="en-US" sz="2200" dirty="0" smtClean="0"/>
              <a:t> use casting.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 smtClean="0"/>
              <a:t>To present </a:t>
            </a:r>
            <a:r>
              <a:rPr lang="en-US" sz="2200" i="1" dirty="0" smtClean="0">
                <a:solidFill>
                  <a:srgbClr val="C00000"/>
                </a:solidFill>
              </a:rPr>
              <a:t>what</a:t>
            </a:r>
            <a:r>
              <a:rPr lang="en-US" sz="2200" dirty="0" smtClean="0"/>
              <a:t> is an interface.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 smtClean="0"/>
              <a:t>To implement </a:t>
            </a:r>
            <a:r>
              <a:rPr lang="en-US" sz="2200" i="1" dirty="0" smtClean="0">
                <a:solidFill>
                  <a:srgbClr val="C00000"/>
                </a:solidFill>
              </a:rPr>
              <a:t>interfaces</a:t>
            </a:r>
            <a:r>
              <a:rPr lang="en-US" sz="2200" dirty="0" smtClean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 smtClean="0"/>
              <a:t>To present </a:t>
            </a:r>
            <a:r>
              <a:rPr lang="en-US" sz="2200" i="1" dirty="0" smtClean="0">
                <a:solidFill>
                  <a:srgbClr val="C00000"/>
                </a:solidFill>
              </a:rPr>
              <a:t>why</a:t>
            </a:r>
            <a:r>
              <a:rPr lang="en-US" sz="2200" dirty="0" smtClean="0"/>
              <a:t> use interfaces.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 smtClean="0"/>
              <a:t>To create </a:t>
            </a:r>
            <a:r>
              <a:rPr lang="en-US" sz="2200" i="1" dirty="0" smtClean="0">
                <a:solidFill>
                  <a:srgbClr val="C00000"/>
                </a:solidFill>
              </a:rPr>
              <a:t>abstract</a:t>
            </a:r>
            <a:r>
              <a:rPr lang="en-US" sz="2200" dirty="0" smtClean="0"/>
              <a:t> classes, methods and properties.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 smtClean="0"/>
              <a:t>To present </a:t>
            </a:r>
            <a:r>
              <a:rPr lang="en-US" sz="2200" i="1" dirty="0" smtClean="0">
                <a:solidFill>
                  <a:srgbClr val="C00000"/>
                </a:solidFill>
              </a:rPr>
              <a:t>why</a:t>
            </a:r>
            <a:r>
              <a:rPr lang="en-US" sz="2200" dirty="0" smtClean="0"/>
              <a:t> use abstract methods.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43600" y="22860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867400" cy="44958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Jim Keogh and Mario </a:t>
            </a:r>
            <a:r>
              <a:rPr lang="en-US" sz="2400" dirty="0" err="1" smtClean="0"/>
              <a:t>Giannini</a:t>
            </a:r>
            <a:r>
              <a:rPr lang="en-US" sz="2400" dirty="0" smtClean="0"/>
              <a:t> (</a:t>
            </a:r>
            <a:r>
              <a:rPr lang="en-US" sz="2400" dirty="0" smtClean="0"/>
              <a:t>2005). </a:t>
            </a:r>
            <a:r>
              <a:rPr lang="en-US" sz="2400" dirty="0" smtClean="0"/>
              <a:t>OOP Demystified: A Self-Teaching </a:t>
            </a:r>
            <a:r>
              <a:rPr lang="en-US" sz="2400" dirty="0" smtClean="0"/>
              <a:t>Guide.</a:t>
            </a:r>
            <a:endParaRPr lang="en-US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Tom Archer and Andrew </a:t>
            </a:r>
            <a:r>
              <a:rPr lang="en-US" sz="2400" dirty="0" err="1" smtClean="0"/>
              <a:t>Whitechapel</a:t>
            </a:r>
            <a:r>
              <a:rPr lang="en-US" sz="2400" dirty="0" smtClean="0"/>
              <a:t> (</a:t>
            </a:r>
            <a:r>
              <a:rPr lang="en-US" sz="2400" dirty="0" smtClean="0"/>
              <a:t>2002). </a:t>
            </a:r>
            <a:r>
              <a:rPr lang="en-US" sz="2400" dirty="0" smtClean="0"/>
              <a:t>Inside </a:t>
            </a:r>
            <a:r>
              <a:rPr lang="en-US" sz="2400" dirty="0" err="1" smtClean="0"/>
              <a:t>CSharp</a:t>
            </a:r>
            <a:r>
              <a:rPr lang="en-US" sz="2400" dirty="0" smtClean="0"/>
              <a:t>.</a:t>
            </a:r>
            <a:endParaRPr lang="en-US" sz="24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Code Duplication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990600"/>
          </a:xfrm>
        </p:spPr>
        <p:txBody>
          <a:bodyPr/>
          <a:lstStyle/>
          <a:p>
            <a:r>
              <a:rPr lang="en-US" sz="2400" dirty="0" smtClean="0"/>
              <a:t>Inheritance</a:t>
            </a:r>
            <a:r>
              <a:rPr lang="en-US" sz="2400" dirty="0" smtClean="0"/>
              <a:t>, the ability to say that these objects are just like that other set of objects EXCEPT for these </a:t>
            </a:r>
            <a:r>
              <a:rPr lang="en-US" sz="2400" dirty="0" smtClean="0"/>
              <a:t>changes.</a:t>
            </a:r>
            <a:endParaRPr lang="en-US" sz="2400" dirty="0"/>
          </a:p>
        </p:txBody>
      </p:sp>
      <p:pic>
        <p:nvPicPr>
          <p:cNvPr id="90116" name="Picture 4" descr="http://www.codercaste.com/wp-content/uploads/2011/01/animals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2743200"/>
            <a:ext cx="4238625" cy="36957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Inheritance [1, 2]</a:t>
            </a:r>
          </a:p>
        </p:txBody>
      </p:sp>
      <p:sp>
        <p:nvSpPr>
          <p:cNvPr id="4" name="Rectangle 3"/>
          <p:cNvSpPr/>
          <p:nvPr/>
        </p:nvSpPr>
        <p:spPr>
          <a:xfrm>
            <a:off x="3505200" y="1306512"/>
            <a:ext cx="5334000" cy="369888"/>
          </a:xfrm>
          <a:prstGeom prst="rect">
            <a:avLst/>
          </a:prstGeom>
          <a:solidFill>
            <a:schemeClr val="accent1"/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en-US" i="1" dirty="0">
                <a:solidFill>
                  <a:schemeClr val="bg1"/>
                </a:solidFill>
                <a:latin typeface="+mj-lt"/>
              </a:rPr>
              <a:t>What is inheritance? – Property and Method Transfer</a:t>
            </a:r>
          </a:p>
        </p:txBody>
      </p:sp>
      <p:graphicFrame>
        <p:nvGraphicFramePr>
          <p:cNvPr id="26626" name="Object 2"/>
          <p:cNvGraphicFramePr>
            <a:graphicFrameLocks noChangeAspect="1"/>
          </p:cNvGraphicFramePr>
          <p:nvPr/>
        </p:nvGraphicFramePr>
        <p:xfrm>
          <a:off x="457200" y="1676400"/>
          <a:ext cx="6153150" cy="4608513"/>
        </p:xfrm>
        <a:graphic>
          <a:graphicData uri="http://schemas.openxmlformats.org/presentationml/2006/ole">
            <p:oleObj spid="_x0000_s26626" name="Document" r:id="rId3" imgW="6152388" imgH="4608195" progId="Word.Document.12">
              <p:embed/>
            </p:oleObj>
          </a:graphicData>
        </a:graphic>
      </p:graphicFrame>
      <p:graphicFrame>
        <p:nvGraphicFramePr>
          <p:cNvPr id="26627" name="Object 3"/>
          <p:cNvGraphicFramePr>
            <a:graphicFrameLocks noChangeAspect="1"/>
          </p:cNvGraphicFramePr>
          <p:nvPr/>
        </p:nvGraphicFramePr>
        <p:xfrm>
          <a:off x="5564188" y="1905000"/>
          <a:ext cx="6149975" cy="1444625"/>
        </p:xfrm>
        <a:graphic>
          <a:graphicData uri="http://schemas.openxmlformats.org/presentationml/2006/ole">
            <p:oleObj spid="_x0000_s26627" name="Document" r:id="rId4" imgW="6149552" imgH="1445309" progId="Word.Document.12">
              <p:embed/>
            </p:oleObj>
          </a:graphicData>
        </a:graphic>
      </p:graphicFrame>
      <p:pic>
        <p:nvPicPr>
          <p:cNvPr id="26630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086600" y="3810000"/>
            <a:ext cx="942975" cy="148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2514600" y="5562600"/>
            <a:ext cx="3276600" cy="369888"/>
          </a:xfrm>
          <a:prstGeom prst="rect">
            <a:avLst/>
          </a:prstGeom>
          <a:solidFill>
            <a:schemeClr val="accent6"/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bg1"/>
                </a:solidFill>
                <a:latin typeface="+mj-lt"/>
              </a:rPr>
              <a:t>Constructors are not transferred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4800" y="1219200"/>
            <a:ext cx="1905000" cy="369888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bg1"/>
                </a:solidFill>
                <a:latin typeface="+mj-lt"/>
              </a:rPr>
              <a:t>Base (super) class</a:t>
            </a:r>
            <a:endParaRPr lang="en-US" i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447800" y="4800600"/>
            <a:ext cx="1981200" cy="369888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bg1"/>
                </a:solidFill>
                <a:latin typeface="+mj-lt"/>
              </a:rPr>
              <a:t>Derived (sub) class</a:t>
            </a:r>
            <a:endParaRPr lang="en-US" i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553200" y="5562600"/>
            <a:ext cx="2057400" cy="369888"/>
          </a:xfrm>
          <a:prstGeom prst="rect">
            <a:avLst/>
          </a:prstGeom>
          <a:solidFill>
            <a:schemeClr val="accent6"/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bg1"/>
                </a:solidFill>
                <a:latin typeface="+mj-lt"/>
              </a:rPr>
              <a:t>Student IS A Person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0" y="4419600"/>
            <a:ext cx="1295400" cy="369888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dirty="0" err="1">
                <a:solidFill>
                  <a:schemeClr val="bg1"/>
                </a:solidFill>
                <a:latin typeface="+mj-lt"/>
              </a:rPr>
              <a:t>Subclassing</a:t>
            </a:r>
            <a:endParaRPr lang="en-US" i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048000" y="1905000"/>
            <a:ext cx="2286000" cy="1676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dirty="0"/>
              <a:t>Student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2514600"/>
            <a:ext cx="1524000" cy="83820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Person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Reuse (Code Sharing)</a:t>
            </a:r>
          </a:p>
        </p:txBody>
      </p:sp>
      <p:graphicFrame>
        <p:nvGraphicFramePr>
          <p:cNvPr id="27650" name="Object 3"/>
          <p:cNvGraphicFramePr>
            <a:graphicFrameLocks noChangeAspect="1"/>
          </p:cNvGraphicFramePr>
          <p:nvPr/>
        </p:nvGraphicFramePr>
        <p:xfrm>
          <a:off x="228600" y="1295400"/>
          <a:ext cx="6153150" cy="5614987"/>
        </p:xfrm>
        <a:graphic>
          <a:graphicData uri="http://schemas.openxmlformats.org/presentationml/2006/ole">
            <p:oleObj spid="_x0000_s27650" name="Document" r:id="rId3" imgW="6152388" imgH="5615559" progId="Word.Document.12">
              <p:embed/>
            </p:oleObj>
          </a:graphicData>
        </a:graphic>
      </p:graphicFrame>
      <p:graphicFrame>
        <p:nvGraphicFramePr>
          <p:cNvPr id="27651" name="Object 4"/>
          <p:cNvGraphicFramePr>
            <a:graphicFrameLocks noChangeAspect="1"/>
          </p:cNvGraphicFramePr>
          <p:nvPr/>
        </p:nvGraphicFramePr>
        <p:xfrm>
          <a:off x="3048000" y="1295400"/>
          <a:ext cx="6146800" cy="4051300"/>
        </p:xfrm>
        <a:graphic>
          <a:graphicData uri="http://schemas.openxmlformats.org/presentationml/2006/ole">
            <p:oleObj spid="_x0000_s27651" name="Document" r:id="rId4" imgW="6149552" imgH="4182708" progId="Word.Document.12">
              <p:embed/>
            </p:oleObj>
          </a:graphicData>
        </a:graphic>
      </p:graphicFrame>
      <p:graphicFrame>
        <p:nvGraphicFramePr>
          <p:cNvPr id="27652" name="Object 6"/>
          <p:cNvGraphicFramePr>
            <a:graphicFrameLocks noChangeAspect="1"/>
          </p:cNvGraphicFramePr>
          <p:nvPr/>
        </p:nvGraphicFramePr>
        <p:xfrm>
          <a:off x="5029200" y="4799013"/>
          <a:ext cx="5943600" cy="1819275"/>
        </p:xfrm>
        <a:graphic>
          <a:graphicData uri="http://schemas.openxmlformats.org/presentationml/2006/ole">
            <p:oleObj spid="_x0000_s27652" name="Document" r:id="rId5" imgW="6149552" imgH="1884057" progId="Word.Document.12">
              <p:embed/>
            </p:oleObj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Simple Inheritance</a:t>
            </a:r>
          </a:p>
        </p:txBody>
      </p:sp>
      <p:graphicFrame>
        <p:nvGraphicFramePr>
          <p:cNvPr id="28674" name="Object 6"/>
          <p:cNvGraphicFramePr>
            <a:graphicFrameLocks noChangeAspect="1"/>
          </p:cNvGraphicFramePr>
          <p:nvPr/>
        </p:nvGraphicFramePr>
        <p:xfrm>
          <a:off x="0" y="1300163"/>
          <a:ext cx="6153150" cy="3744912"/>
        </p:xfrm>
        <a:graphic>
          <a:graphicData uri="http://schemas.openxmlformats.org/presentationml/2006/ole">
            <p:oleObj spid="_x0000_s28674" name="Document" r:id="rId3" imgW="6149552" imgH="3750449" progId="Word.Document.12">
              <p:embed/>
            </p:oleObj>
          </a:graphicData>
        </a:graphic>
      </p:graphicFrame>
      <p:graphicFrame>
        <p:nvGraphicFramePr>
          <p:cNvPr id="28675" name="Object 7"/>
          <p:cNvGraphicFramePr>
            <a:graphicFrameLocks noChangeAspect="1"/>
          </p:cNvGraphicFramePr>
          <p:nvPr/>
        </p:nvGraphicFramePr>
        <p:xfrm>
          <a:off x="3811588" y="1298575"/>
          <a:ext cx="6149975" cy="3749675"/>
        </p:xfrm>
        <a:graphic>
          <a:graphicData uri="http://schemas.openxmlformats.org/presentationml/2006/ole">
            <p:oleObj spid="_x0000_s28675" name="Document" r:id="rId4" imgW="6149552" imgH="3750449" progId="Word.Document.12">
              <p:embed/>
            </p:oleObj>
          </a:graphicData>
        </a:graphic>
      </p:graphicFrame>
      <p:graphicFrame>
        <p:nvGraphicFramePr>
          <p:cNvPr id="28676" name="Object 9"/>
          <p:cNvGraphicFramePr>
            <a:graphicFrameLocks noChangeAspect="1"/>
          </p:cNvGraphicFramePr>
          <p:nvPr/>
        </p:nvGraphicFramePr>
        <p:xfrm>
          <a:off x="609600" y="4951413"/>
          <a:ext cx="6146800" cy="1736725"/>
        </p:xfrm>
        <a:graphic>
          <a:graphicData uri="http://schemas.openxmlformats.org/presentationml/2006/ole">
            <p:oleObj spid="_x0000_s28676" name="Document" r:id="rId5" imgW="6149552" imgH="1740932" progId="Word.Document.12">
              <p:embed/>
            </p:oleObj>
          </a:graphicData>
        </a:graphic>
      </p:graphicFrame>
      <p:pic>
        <p:nvPicPr>
          <p:cNvPr id="28678" name="Picture 10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705600" y="4572000"/>
            <a:ext cx="942975" cy="154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Level Inheritance</a:t>
            </a:r>
          </a:p>
        </p:txBody>
      </p:sp>
      <p:pic>
        <p:nvPicPr>
          <p:cNvPr id="2970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53200" y="3429000"/>
            <a:ext cx="1485900" cy="234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9698" name="Object 5"/>
          <p:cNvGraphicFramePr>
            <a:graphicFrameLocks noChangeAspect="1"/>
          </p:cNvGraphicFramePr>
          <p:nvPr/>
        </p:nvGraphicFramePr>
        <p:xfrm>
          <a:off x="304800" y="1293812"/>
          <a:ext cx="6153150" cy="5183188"/>
        </p:xfrm>
        <a:graphic>
          <a:graphicData uri="http://schemas.openxmlformats.org/presentationml/2006/ole">
            <p:oleObj spid="_x0000_s29698" name="Document" r:id="rId4" imgW="6149552" imgH="5335278" progId="Word.Document.12">
              <p:embed/>
            </p:oleObj>
          </a:graphicData>
        </a:graphic>
      </p:graphicFrame>
      <p:graphicFrame>
        <p:nvGraphicFramePr>
          <p:cNvPr id="29699" name="Object 7"/>
          <p:cNvGraphicFramePr>
            <a:graphicFrameLocks noChangeAspect="1"/>
          </p:cNvGraphicFramePr>
          <p:nvPr/>
        </p:nvGraphicFramePr>
        <p:xfrm>
          <a:off x="3733800" y="1255713"/>
          <a:ext cx="6045200" cy="1997075"/>
        </p:xfrm>
        <a:graphic>
          <a:graphicData uri="http://schemas.openxmlformats.org/presentationml/2006/ole">
            <p:oleObj spid="_x0000_s29699" name="Document" r:id="rId5" imgW="6149552" imgH="2031869" progId="Word.Document.12">
              <p:embed/>
            </p:oleObj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Base Class’s Constructor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2819400" y="1295400"/>
            <a:ext cx="5943600" cy="101566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i="1" dirty="0" smtClean="0">
                <a:solidFill>
                  <a:schemeClr val="bg1"/>
                </a:solidFill>
                <a:latin typeface="+mj-lt"/>
              </a:rPr>
              <a:t>The base class’s constructor with no arguments </a:t>
            </a:r>
            <a:r>
              <a:rPr lang="en-US" sz="2000" i="1" dirty="0">
                <a:solidFill>
                  <a:schemeClr val="bg1"/>
                </a:solidFill>
                <a:latin typeface="+mj-lt"/>
              </a:rPr>
              <a:t>will </a:t>
            </a:r>
            <a:r>
              <a:rPr lang="en-US" sz="2000" i="1" u="sng" dirty="0">
                <a:solidFill>
                  <a:schemeClr val="bg1"/>
                </a:solidFill>
                <a:latin typeface="+mj-lt"/>
              </a:rPr>
              <a:t>be called</a:t>
            </a:r>
            <a:r>
              <a:rPr lang="en-US" sz="2000" i="1" dirty="0">
                <a:solidFill>
                  <a:schemeClr val="bg1"/>
                </a:solidFill>
                <a:latin typeface="+mj-lt"/>
              </a:rPr>
              <a:t> before any statements in the derived class’s constructor body is executed.</a:t>
            </a:r>
          </a:p>
        </p:txBody>
      </p:sp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62575" y="5172075"/>
            <a:ext cx="3324225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76200" y="1828800"/>
          <a:ext cx="7327900" cy="4959350"/>
        </p:xfrm>
        <a:graphic>
          <a:graphicData uri="http://schemas.openxmlformats.org/presentationml/2006/ole">
            <p:oleObj spid="_x0000_s30724" name="Document" r:id="rId4" imgW="7326926" imgH="5001440" progId="Word.Document.12">
              <p:embed/>
            </p:oleObj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Calling Base Class’ Constructor</a:t>
            </a:r>
          </a:p>
        </p:txBody>
      </p:sp>
      <p:graphicFrame>
        <p:nvGraphicFramePr>
          <p:cNvPr id="31746" name="Object 2"/>
          <p:cNvGraphicFramePr>
            <a:graphicFrameLocks noChangeAspect="1"/>
          </p:cNvGraphicFramePr>
          <p:nvPr/>
        </p:nvGraphicFramePr>
        <p:xfrm>
          <a:off x="0" y="1530350"/>
          <a:ext cx="6629400" cy="5156200"/>
        </p:xfrm>
        <a:graphic>
          <a:graphicData uri="http://schemas.openxmlformats.org/presentationml/2006/ole">
            <p:oleObj spid="_x0000_s31746" name="Document" r:id="rId3" imgW="6629569" imgH="5355828" progId="Word.Document.12">
              <p:embed/>
            </p:oleObj>
          </a:graphicData>
        </a:graphic>
      </p:graphicFrame>
      <p:graphicFrame>
        <p:nvGraphicFramePr>
          <p:cNvPr id="31747" name="Object 4"/>
          <p:cNvGraphicFramePr>
            <a:graphicFrameLocks noChangeAspect="1"/>
          </p:cNvGraphicFramePr>
          <p:nvPr/>
        </p:nvGraphicFramePr>
        <p:xfrm>
          <a:off x="4267200" y="1522413"/>
          <a:ext cx="6146800" cy="1895475"/>
        </p:xfrm>
        <a:graphic>
          <a:graphicData uri="http://schemas.openxmlformats.org/presentationml/2006/ole">
            <p:oleObj spid="_x0000_s31747" name="Document" r:id="rId4" imgW="6149552" imgH="1898117" progId="Word.Document.12">
              <p:embed/>
            </p:oleObj>
          </a:graphicData>
        </a:graphic>
      </p:graphicFrame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715000" y="3352800"/>
            <a:ext cx="1950720" cy="13296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When To Use Inheritance?</a:t>
            </a:r>
          </a:p>
        </p:txBody>
      </p:sp>
      <p:pic>
        <p:nvPicPr>
          <p:cNvPr id="7782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71725" y="2209800"/>
            <a:ext cx="4400550" cy="3076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5867400" y="2909887"/>
            <a:ext cx="1905000" cy="369888"/>
          </a:xfrm>
          <a:prstGeom prst="rect">
            <a:avLst/>
          </a:prstGeom>
          <a:solidFill>
            <a:schemeClr val="accent6"/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bg1"/>
                </a:solidFill>
                <a:latin typeface="+mj-lt"/>
              </a:rPr>
              <a:t>“IS A” relationship</a:t>
            </a:r>
          </a:p>
        </p:txBody>
      </p:sp>
      <p:sp>
        <p:nvSpPr>
          <p:cNvPr id="7" name="Rectangle 6"/>
          <p:cNvSpPr/>
          <p:nvPr/>
        </p:nvSpPr>
        <p:spPr>
          <a:xfrm>
            <a:off x="6477000" y="4281487"/>
            <a:ext cx="1905000" cy="369888"/>
          </a:xfrm>
          <a:prstGeom prst="rect">
            <a:avLst/>
          </a:prstGeom>
          <a:solidFill>
            <a:schemeClr val="accent6"/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bg1"/>
                </a:solidFill>
                <a:latin typeface="+mj-lt"/>
              </a:rPr>
              <a:t>“IS A” relationship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3748087"/>
            <a:ext cx="1143000" cy="369888"/>
          </a:xfrm>
          <a:prstGeom prst="rect">
            <a:avLst/>
          </a:prstGeom>
          <a:solidFill>
            <a:schemeClr val="accent1"/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bg1"/>
                </a:solidFill>
                <a:latin typeface="+mj-lt"/>
              </a:rPr>
              <a:t>Sub Types</a:t>
            </a:r>
            <a:endParaRPr lang="en-US" i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219200" y="2909887"/>
            <a:ext cx="1143000" cy="369888"/>
          </a:xfrm>
          <a:prstGeom prst="rect">
            <a:avLst/>
          </a:prstGeom>
          <a:solidFill>
            <a:schemeClr val="accent1"/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en-US" dirty="0" err="1">
                <a:solidFill>
                  <a:schemeClr val="bg1"/>
                </a:solidFill>
                <a:latin typeface="+mj-lt"/>
              </a:rPr>
              <a:t>Subtyping</a:t>
            </a:r>
            <a:endParaRPr lang="en-US" i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276600" y="4281487"/>
            <a:ext cx="1143000" cy="369888"/>
          </a:xfrm>
          <a:prstGeom prst="rect">
            <a:avLst/>
          </a:prstGeom>
          <a:solidFill>
            <a:schemeClr val="accent1"/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en-US" dirty="0" err="1">
                <a:solidFill>
                  <a:schemeClr val="bg1"/>
                </a:solidFill>
                <a:latin typeface="+mj-lt"/>
              </a:rPr>
              <a:t>Subtyping</a:t>
            </a:r>
            <a:endParaRPr lang="en-US" i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895600" y="4814887"/>
            <a:ext cx="1143000" cy="369888"/>
          </a:xfrm>
          <a:prstGeom prst="rect">
            <a:avLst/>
          </a:prstGeom>
          <a:solidFill>
            <a:schemeClr val="accent1"/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bg1"/>
                </a:solidFill>
                <a:latin typeface="+mj-lt"/>
              </a:rPr>
              <a:t>Sub Types</a:t>
            </a:r>
            <a:endParaRPr lang="en-US" i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 bwMode="auto">
          <a:xfrm>
            <a:off x="1524000" y="5410200"/>
            <a:ext cx="5943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Use Inheritance?</a:t>
            </a:r>
            <a:endParaRPr lang="en-US" dirty="0"/>
          </a:p>
        </p:txBody>
      </p:sp>
      <p:pic>
        <p:nvPicPr>
          <p:cNvPr id="49154" name="Picture 2" descr="http://www.florasage.com/wp-content/uploads/2017/11/Dont-reinvent-the-whee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1371600"/>
            <a:ext cx="5371429" cy="450285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Root Class</a:t>
            </a:r>
          </a:p>
        </p:txBody>
      </p:sp>
      <p:sp>
        <p:nvSpPr>
          <p:cNvPr id="4" name="Oval 3"/>
          <p:cNvSpPr/>
          <p:nvPr/>
        </p:nvSpPr>
        <p:spPr>
          <a:xfrm>
            <a:off x="3276600" y="2819400"/>
            <a:ext cx="1600200" cy="914400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Laptop</a:t>
            </a:r>
          </a:p>
        </p:txBody>
      </p:sp>
      <p:sp>
        <p:nvSpPr>
          <p:cNvPr id="5" name="Oval 4"/>
          <p:cNvSpPr/>
          <p:nvPr/>
        </p:nvSpPr>
        <p:spPr>
          <a:xfrm>
            <a:off x="1905000" y="3962400"/>
            <a:ext cx="1600200" cy="838200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Toshiba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4267200"/>
            <a:ext cx="1600200" cy="8382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Acer</a:t>
            </a:r>
          </a:p>
        </p:txBody>
      </p:sp>
      <p:cxnSp>
        <p:nvCxnSpPr>
          <p:cNvPr id="7" name="Straight Arrow Connector 6"/>
          <p:cNvCxnSpPr>
            <a:stCxn id="5" idx="0"/>
            <a:endCxn id="4" idx="3"/>
          </p:cNvCxnSpPr>
          <p:nvPr/>
        </p:nvCxnSpPr>
        <p:spPr>
          <a:xfrm rot="5400000" flipH="1" flipV="1">
            <a:off x="2927350" y="3378200"/>
            <a:ext cx="361950" cy="80645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6" idx="1"/>
            <a:endCxn id="4" idx="5"/>
          </p:cNvCxnSpPr>
          <p:nvPr/>
        </p:nvCxnSpPr>
        <p:spPr>
          <a:xfrm rot="16200000" flipV="1">
            <a:off x="4672806" y="3569494"/>
            <a:ext cx="788988" cy="8509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143000" y="5562600"/>
            <a:ext cx="1447800" cy="6096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Ahmed’s Toshiba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76600" y="5562600"/>
            <a:ext cx="1295400" cy="6096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Peter’s Toshiba</a:t>
            </a:r>
          </a:p>
        </p:txBody>
      </p:sp>
      <p:cxnSp>
        <p:nvCxnSpPr>
          <p:cNvPr id="11" name="Straight Connector 10"/>
          <p:cNvCxnSpPr>
            <a:stCxn id="5" idx="3"/>
            <a:endCxn id="9" idx="0"/>
          </p:cNvCxnSpPr>
          <p:nvPr/>
        </p:nvCxnSpPr>
        <p:spPr>
          <a:xfrm rot="5400000">
            <a:off x="1561306" y="4983957"/>
            <a:ext cx="884237" cy="27305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5" idx="5"/>
            <a:endCxn id="10" idx="0"/>
          </p:cNvCxnSpPr>
          <p:nvPr/>
        </p:nvCxnSpPr>
        <p:spPr>
          <a:xfrm rot="16200000" flipH="1">
            <a:off x="3155156" y="4793457"/>
            <a:ext cx="884237" cy="65405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4495800" y="1524000"/>
            <a:ext cx="1676400" cy="990600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Object</a:t>
            </a:r>
          </a:p>
        </p:txBody>
      </p:sp>
      <p:sp>
        <p:nvSpPr>
          <p:cNvPr id="38" name="Oval 37"/>
          <p:cNvSpPr/>
          <p:nvPr/>
        </p:nvSpPr>
        <p:spPr>
          <a:xfrm>
            <a:off x="6781800" y="2895600"/>
            <a:ext cx="1600200" cy="9144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Person</a:t>
            </a:r>
          </a:p>
        </p:txBody>
      </p:sp>
      <p:cxnSp>
        <p:nvCxnSpPr>
          <p:cNvPr id="41" name="Straight Arrow Connector 40"/>
          <p:cNvCxnSpPr>
            <a:stCxn id="4" idx="7"/>
            <a:endCxn id="37" idx="3"/>
          </p:cNvCxnSpPr>
          <p:nvPr/>
        </p:nvCxnSpPr>
        <p:spPr>
          <a:xfrm rot="5400000" flipH="1" flipV="1">
            <a:off x="4400551" y="2611437"/>
            <a:ext cx="582612" cy="100013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38" idx="2"/>
            <a:endCxn id="37" idx="5"/>
          </p:cNvCxnSpPr>
          <p:nvPr/>
        </p:nvCxnSpPr>
        <p:spPr>
          <a:xfrm rot="10800000">
            <a:off x="5926138" y="2370138"/>
            <a:ext cx="855662" cy="98266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14400" y="2667000"/>
            <a:ext cx="2057400" cy="91440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smtClean="0"/>
              <a:t>ValueType</a:t>
            </a:r>
            <a:endParaRPr lang="en-US" dirty="0"/>
          </a:p>
        </p:txBody>
      </p:sp>
      <p:cxnSp>
        <p:nvCxnSpPr>
          <p:cNvPr id="17" name="Straight Arrow Connector 16"/>
          <p:cNvCxnSpPr>
            <a:stCxn id="16" idx="7"/>
          </p:cNvCxnSpPr>
          <p:nvPr/>
        </p:nvCxnSpPr>
        <p:spPr>
          <a:xfrm rot="5400000" flipH="1" flipV="1">
            <a:off x="3261403" y="1542701"/>
            <a:ext cx="667308" cy="1849113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Sealed Class</a:t>
            </a:r>
          </a:p>
        </p:txBody>
      </p:sp>
      <p:graphicFrame>
        <p:nvGraphicFramePr>
          <p:cNvPr id="32770" name="Object 2"/>
          <p:cNvGraphicFramePr>
            <a:graphicFrameLocks noChangeAspect="1"/>
          </p:cNvGraphicFramePr>
          <p:nvPr/>
        </p:nvGraphicFramePr>
        <p:xfrm>
          <a:off x="304800" y="1362075"/>
          <a:ext cx="6153150" cy="5259388"/>
        </p:xfrm>
        <a:graphic>
          <a:graphicData uri="http://schemas.openxmlformats.org/presentationml/2006/ole">
            <p:oleObj spid="_x0000_s32770" name="Document" r:id="rId3" imgW="6149552" imgH="5265338" progId="Word.Document.12">
              <p:embed/>
            </p:oleObj>
          </a:graphicData>
        </a:graphic>
      </p:graphicFrame>
      <p:pic>
        <p:nvPicPr>
          <p:cNvPr id="32772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05400" y="5029200"/>
            <a:ext cx="2790825" cy="63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773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553200" y="1371600"/>
            <a:ext cx="2000250" cy="200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strike="sngStrike" dirty="0" smtClean="0">
                <a:solidFill>
                  <a:srgbClr val="C00000"/>
                </a:solidFill>
              </a:rPr>
              <a:t>Multiple</a:t>
            </a:r>
            <a:r>
              <a:rPr lang="en-US" dirty="0" smtClean="0"/>
              <a:t> Inheritance with Class</a:t>
            </a:r>
          </a:p>
        </p:txBody>
      </p:sp>
      <p:pic>
        <p:nvPicPr>
          <p:cNvPr id="3482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9200" y="1371600"/>
            <a:ext cx="1476375" cy="234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82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81400" y="1371600"/>
            <a:ext cx="14763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822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867400" y="1371600"/>
            <a:ext cx="2571750" cy="142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823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33400" y="4419600"/>
            <a:ext cx="2571750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4818" name="Object 8"/>
          <p:cNvGraphicFramePr>
            <a:graphicFrameLocks noChangeAspect="1"/>
          </p:cNvGraphicFramePr>
          <p:nvPr/>
        </p:nvGraphicFramePr>
        <p:xfrm>
          <a:off x="3352800" y="3975100"/>
          <a:ext cx="6153150" cy="2882900"/>
        </p:xfrm>
        <a:graphic>
          <a:graphicData uri="http://schemas.openxmlformats.org/presentationml/2006/ole">
            <p:oleObj spid="_x0000_s70658" name="Document" r:id="rId7" imgW="6152388" imgH="2882265" progId="Word.Document.12">
              <p:embed/>
            </p:oleObj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Casting</a:t>
            </a:r>
          </a:p>
        </p:txBody>
      </p:sp>
      <p:graphicFrame>
        <p:nvGraphicFramePr>
          <p:cNvPr id="33794" name="Object 2"/>
          <p:cNvGraphicFramePr>
            <a:graphicFrameLocks noChangeAspect="1"/>
          </p:cNvGraphicFramePr>
          <p:nvPr/>
        </p:nvGraphicFramePr>
        <p:xfrm>
          <a:off x="76200" y="1222375"/>
          <a:ext cx="5842000" cy="5167313"/>
        </p:xfrm>
        <a:graphic>
          <a:graphicData uri="http://schemas.openxmlformats.org/presentationml/2006/ole">
            <p:oleObj spid="_x0000_s33794" name="Document" r:id="rId3" imgW="6149552" imgH="5512652" progId="Word.Document.12">
              <p:embed/>
            </p:oleObj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91400" y="2362200"/>
          <a:ext cx="152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Person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Eat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00600" y="2362200"/>
          <a:ext cx="1524000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</a:tblGrid>
              <a:tr h="142240">
                <a:tc>
                  <a:txBody>
                    <a:bodyPr/>
                    <a:lstStyle/>
                    <a:p>
                      <a:r>
                        <a:rPr lang="en-US" dirty="0" smtClean="0"/>
                        <a:t>Man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Eat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Work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ight Arrow 7"/>
          <p:cNvSpPr/>
          <p:nvPr/>
        </p:nvSpPr>
        <p:spPr>
          <a:xfrm>
            <a:off x="6324600" y="2895600"/>
            <a:ext cx="1066800" cy="7620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>
              <a:latin typeface="+mj-lt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724400" y="4983480"/>
          <a:ext cx="1524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Person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Eat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???</a:t>
                      </a:r>
                      <a:endParaRPr 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0" y="4983480"/>
          <a:ext cx="1524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Man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Eat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Work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419600" y="1371600"/>
            <a:ext cx="4495800" cy="707886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i="1" dirty="0" smtClean="0">
                <a:solidFill>
                  <a:schemeClr val="bg1"/>
                </a:solidFill>
                <a:latin typeface="+mj-lt"/>
              </a:rPr>
              <a:t>Up casting – Converting a reference of a derived class to its base class.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67200" y="3962400"/>
            <a:ext cx="4572000" cy="707886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i="1" dirty="0" smtClean="0">
                <a:solidFill>
                  <a:schemeClr val="bg1"/>
                </a:solidFill>
                <a:latin typeface="+mj-lt"/>
              </a:rPr>
              <a:t>Down casting – Converting a reference of a base class to its derived class.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248400" y="5486400"/>
            <a:ext cx="1066800" cy="7620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>
              <a:latin typeface="+mj-lt"/>
            </a:endParaRPr>
          </a:p>
        </p:txBody>
      </p:sp>
      <p:sp>
        <p:nvSpPr>
          <p:cNvPr id="16" name="Right Arrow 15"/>
          <p:cNvSpPr/>
          <p:nvPr/>
        </p:nvSpPr>
        <p:spPr>
          <a:xfrm>
            <a:off x="6248401" y="5867400"/>
            <a:ext cx="1066800" cy="7620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>
              <a:latin typeface="+mj-l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28925" y="4829175"/>
            <a:ext cx="3190875" cy="187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Use Casting?</a:t>
            </a:r>
            <a:endParaRPr lang="en-US" dirty="0"/>
          </a:p>
        </p:txBody>
      </p:sp>
      <p:graphicFrame>
        <p:nvGraphicFramePr>
          <p:cNvPr id="71682" name="Object 2"/>
          <p:cNvGraphicFramePr>
            <a:graphicFrameLocks noChangeAspect="1"/>
          </p:cNvGraphicFramePr>
          <p:nvPr/>
        </p:nvGraphicFramePr>
        <p:xfrm>
          <a:off x="-152400" y="1468438"/>
          <a:ext cx="5346700" cy="3743325"/>
        </p:xfrm>
        <a:graphic>
          <a:graphicData uri="http://schemas.openxmlformats.org/presentationml/2006/ole">
            <p:oleObj spid="_x0000_s71682" name="Document" r:id="rId4" imgW="5940848" imgH="3918810" progId="Word.Document.12">
              <p:embed/>
            </p:oleObj>
          </a:graphicData>
        </a:graphic>
      </p:graphicFrame>
      <p:pic>
        <p:nvPicPr>
          <p:cNvPr id="71683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315200" y="4800600"/>
            <a:ext cx="1363980" cy="1261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71685" name="Object 2"/>
          <p:cNvGraphicFramePr>
            <a:graphicFrameLocks noChangeAspect="1"/>
          </p:cNvGraphicFramePr>
          <p:nvPr/>
        </p:nvGraphicFramePr>
        <p:xfrm>
          <a:off x="3816350" y="1498600"/>
          <a:ext cx="5327650" cy="3454400"/>
        </p:xfrm>
        <a:graphic>
          <a:graphicData uri="http://schemas.openxmlformats.org/presentationml/2006/ole">
            <p:oleObj spid="_x0000_s71685" name="Document" r:id="rId6" imgW="5919978" imgH="3849952" progId="Word.Document.12">
              <p:embed/>
            </p:oleObj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Interface</a:t>
            </a:r>
          </a:p>
        </p:txBody>
      </p:sp>
      <p:graphicFrame>
        <p:nvGraphicFramePr>
          <p:cNvPr id="35842" name="Object 4"/>
          <p:cNvGraphicFramePr>
            <a:graphicFrameLocks noChangeAspect="1"/>
          </p:cNvGraphicFramePr>
          <p:nvPr/>
        </p:nvGraphicFramePr>
        <p:xfrm>
          <a:off x="-76200" y="1111250"/>
          <a:ext cx="5943600" cy="5657850"/>
        </p:xfrm>
        <a:graphic>
          <a:graphicData uri="http://schemas.openxmlformats.org/presentationml/2006/ole">
            <p:oleObj spid="_x0000_s35842" name="Document" r:id="rId3" imgW="5940848" imgH="5669116" progId="Word.Document.12">
              <p:embed/>
            </p:oleObj>
          </a:graphicData>
        </a:graphic>
      </p:graphicFrame>
      <p:pic>
        <p:nvPicPr>
          <p:cNvPr id="35845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95800" y="4419600"/>
            <a:ext cx="1476375" cy="153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846" name="Picture 7" descr="http://developer.apple.com/documentation/Cocoa/Conceptual/OOP_ObjC/Art/watchcalls_35.gif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419600" y="2133600"/>
            <a:ext cx="192405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6096000" y="4419600"/>
            <a:ext cx="2819400" cy="2246769"/>
          </a:xfrm>
          <a:prstGeom prst="rect">
            <a:avLst/>
          </a:prstGeom>
          <a:solidFill>
            <a:schemeClr val="accent6"/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schemeClr val="bg1"/>
                </a:solidFill>
                <a:latin typeface="+mj-lt"/>
              </a:rPr>
              <a:t>Once an interface is defined and a class is defined as implementing that interface, that class MUST IMPLEMENT all methods defined in the interface</a:t>
            </a:r>
            <a:endParaRPr lang="en-US" sz="2000" i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352800" y="1219200"/>
            <a:ext cx="5562600" cy="64611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i="1" dirty="0">
                <a:solidFill>
                  <a:schemeClr val="bg1"/>
                </a:solidFill>
                <a:latin typeface="+mj-lt"/>
              </a:rPr>
              <a:t>Interface is a first-class concept that declares methods and properties declarations only.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5024735"/>
            <a:ext cx="685800" cy="430887"/>
          </a:xfrm>
          <a:prstGeom prst="rect">
            <a:avLst/>
          </a:prstGeom>
          <a:solidFill>
            <a:schemeClr val="accent6"/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200" dirty="0">
                <a:solidFill>
                  <a:schemeClr val="bg1"/>
                </a:solidFill>
                <a:latin typeface="+mj-lt"/>
              </a:rPr>
              <a:t>CAN</a:t>
            </a:r>
            <a:endParaRPr lang="en-US" sz="2200" i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629400" y="2286000"/>
            <a:ext cx="1891665" cy="151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Interface?</a:t>
            </a:r>
            <a:endParaRPr lang="en-US" dirty="0"/>
          </a:p>
        </p:txBody>
      </p:sp>
      <p:pic>
        <p:nvPicPr>
          <p:cNvPr id="645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3352800"/>
            <a:ext cx="5238750" cy="3267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4517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76600" y="1295400"/>
            <a:ext cx="2190750" cy="166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5334000" y="1752600"/>
            <a:ext cx="17139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err="1" smtClean="0">
                <a:latin typeface="Consolas" pitchFamily="49" charset="0"/>
              </a:rPr>
              <a:t>IPlugable</a:t>
            </a:r>
            <a:endParaRPr lang="en-US" sz="2400" dirty="0">
              <a:latin typeface="Consolas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15576" y="2891135"/>
            <a:ext cx="44326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err="1" smtClean="0">
                <a:latin typeface="Consolas" pitchFamily="49" charset="0"/>
              </a:rPr>
              <a:t>IPlugable</a:t>
            </a:r>
            <a:r>
              <a:rPr lang="en-US" sz="2400" dirty="0" smtClean="0">
                <a:latin typeface="Consolas" pitchFamily="49" charset="0"/>
              </a:rPr>
              <a:t> implementations</a:t>
            </a:r>
            <a:endParaRPr lang="en-US" sz="24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842" name="Object 4"/>
          <p:cNvGraphicFramePr>
            <a:graphicFrameLocks noChangeAspect="1"/>
          </p:cNvGraphicFramePr>
          <p:nvPr/>
        </p:nvGraphicFramePr>
        <p:xfrm>
          <a:off x="152400" y="1617663"/>
          <a:ext cx="5943600" cy="5468937"/>
        </p:xfrm>
        <a:graphic>
          <a:graphicData uri="http://schemas.openxmlformats.org/presentationml/2006/ole">
            <p:oleObj spid="_x0000_s63490" name="Document" r:id="rId3" imgW="5940848" imgH="5479845" progId="Word.Document.12">
              <p:embed/>
            </p:oleObj>
          </a:graphicData>
        </a:graphic>
      </p:graphicFrame>
      <p:sp>
        <p:nvSpPr>
          <p:cNvPr id="3584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3124200" y="1371600"/>
            <a:ext cx="5791200" cy="369888"/>
          </a:xfrm>
          <a:prstGeom prst="rect">
            <a:avLst/>
          </a:prstGeom>
          <a:solidFill>
            <a:schemeClr val="accent1"/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i="1" dirty="0">
                <a:solidFill>
                  <a:schemeClr val="bg1"/>
                </a:solidFill>
                <a:latin typeface="+mj-lt"/>
              </a:rPr>
              <a:t>Interface is a </a:t>
            </a:r>
            <a:r>
              <a:rPr lang="en-US" i="1" u="sng" dirty="0">
                <a:solidFill>
                  <a:schemeClr val="bg1"/>
                </a:solidFill>
                <a:latin typeface="+mj-lt"/>
              </a:rPr>
              <a:t>contract</a:t>
            </a:r>
            <a:r>
              <a:rPr lang="en-US" i="1" dirty="0">
                <a:solidFill>
                  <a:schemeClr val="bg1"/>
                </a:solidFill>
                <a:latin typeface="+mj-lt"/>
              </a:rPr>
              <a:t> between two disparate pieces of code.</a:t>
            </a:r>
          </a:p>
        </p:txBody>
      </p:sp>
      <p:graphicFrame>
        <p:nvGraphicFramePr>
          <p:cNvPr id="63491" name="Object 3"/>
          <p:cNvGraphicFramePr>
            <a:graphicFrameLocks noChangeAspect="1"/>
          </p:cNvGraphicFramePr>
          <p:nvPr/>
        </p:nvGraphicFramePr>
        <p:xfrm>
          <a:off x="4419600" y="2133600"/>
          <a:ext cx="5940425" cy="2679700"/>
        </p:xfrm>
        <a:graphic>
          <a:graphicData uri="http://schemas.openxmlformats.org/presentationml/2006/ole">
            <p:oleObj spid="_x0000_s63491" name="Document" r:id="rId4" imgW="5940848" imgH="2683682" progId="Word.Document.12">
              <p:embed/>
            </p:oleObj>
          </a:graphicData>
        </a:graphic>
      </p:graphicFrame>
      <p:pic>
        <p:nvPicPr>
          <p:cNvPr id="63492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638800" y="4648200"/>
            <a:ext cx="2268855" cy="18688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6" name="Straight Arrow Connector 15"/>
          <p:cNvCxnSpPr/>
          <p:nvPr/>
        </p:nvCxnSpPr>
        <p:spPr>
          <a:xfrm>
            <a:off x="1981200" y="2590800"/>
            <a:ext cx="3048000" cy="0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2209800" y="2743200"/>
            <a:ext cx="2819400" cy="1905000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Multiple Inheritance With Interface</a:t>
            </a:r>
          </a:p>
        </p:txBody>
      </p:sp>
      <p:pic>
        <p:nvPicPr>
          <p:cNvPr id="36868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05400" y="1752600"/>
            <a:ext cx="3305175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6866" name="Object 4"/>
          <p:cNvGraphicFramePr>
            <a:graphicFrameLocks noChangeAspect="1"/>
          </p:cNvGraphicFramePr>
          <p:nvPr/>
        </p:nvGraphicFramePr>
        <p:xfrm>
          <a:off x="381000" y="1600200"/>
          <a:ext cx="6553200" cy="5048250"/>
        </p:xfrm>
        <a:graphic>
          <a:graphicData uri="http://schemas.openxmlformats.org/presentationml/2006/ole">
            <p:oleObj spid="_x0000_s36866" name="Document" r:id="rId4" imgW="6553285" imgH="5339604" progId="Word.Document.12">
              <p:embed/>
            </p:oleObj>
          </a:graphicData>
        </a:graphic>
      </p:graphicFrame>
      <p:pic>
        <p:nvPicPr>
          <p:cNvPr id="3686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410200" y="3886200"/>
            <a:ext cx="2771775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Combining Interfaces</a:t>
            </a:r>
          </a:p>
        </p:txBody>
      </p:sp>
      <p:graphicFrame>
        <p:nvGraphicFramePr>
          <p:cNvPr id="37890" name="Object 5"/>
          <p:cNvGraphicFramePr>
            <a:graphicFrameLocks noChangeAspect="1"/>
          </p:cNvGraphicFramePr>
          <p:nvPr/>
        </p:nvGraphicFramePr>
        <p:xfrm>
          <a:off x="228600" y="1098550"/>
          <a:ext cx="6153150" cy="5759450"/>
        </p:xfrm>
        <a:graphic>
          <a:graphicData uri="http://schemas.openxmlformats.org/presentationml/2006/ole">
            <p:oleObj spid="_x0000_s37890" name="Document" r:id="rId3" imgW="6152388" imgH="5759196" progId="Word.Document.12">
              <p:embed/>
            </p:oleObj>
          </a:graphicData>
        </a:graphic>
      </p:graphicFrame>
      <p:pic>
        <p:nvPicPr>
          <p:cNvPr id="37893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57800" y="1295400"/>
            <a:ext cx="3667125" cy="325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7891" name="Object 10"/>
          <p:cNvGraphicFramePr>
            <a:graphicFrameLocks noChangeAspect="1"/>
          </p:cNvGraphicFramePr>
          <p:nvPr/>
        </p:nvGraphicFramePr>
        <p:xfrm>
          <a:off x="4572000" y="4724400"/>
          <a:ext cx="6153150" cy="1874838"/>
        </p:xfrm>
        <a:graphic>
          <a:graphicData uri="http://schemas.openxmlformats.org/presentationml/2006/ole">
            <p:oleObj spid="_x0000_s37891" name="Document" r:id="rId5" imgW="6152388" imgH="1874901" progId="Word.Document.12">
              <p:embed/>
            </p:oleObj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Interface vs. Base Class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495800" cy="4525963"/>
          </a:xfrm>
        </p:spPr>
        <p:txBody>
          <a:bodyPr/>
          <a:lstStyle/>
          <a:p>
            <a:r>
              <a:rPr lang="en-US" sz="2400" dirty="0" smtClean="0"/>
              <a:t>Interfaces are more flexible than base classes because you can define a </a:t>
            </a:r>
            <a:r>
              <a:rPr lang="en-US" sz="2400" i="1" dirty="0" smtClean="0">
                <a:solidFill>
                  <a:srgbClr val="C00000"/>
                </a:solidFill>
              </a:rPr>
              <a:t>single implementation</a:t>
            </a:r>
            <a:r>
              <a:rPr lang="en-US" sz="2400" dirty="0" smtClean="0"/>
              <a:t> that can implement </a:t>
            </a:r>
            <a:r>
              <a:rPr lang="en-US" sz="2400" u="sng" dirty="0" smtClean="0"/>
              <a:t>multiple</a:t>
            </a:r>
            <a:r>
              <a:rPr lang="en-US" sz="2400" dirty="0" smtClean="0"/>
              <a:t> interfaces.</a:t>
            </a:r>
          </a:p>
          <a:p>
            <a:r>
              <a:rPr lang="en-US" sz="2400" dirty="0" smtClean="0"/>
              <a:t>Interfaces are useful when you </a:t>
            </a:r>
            <a:r>
              <a:rPr lang="en-US" sz="2400" i="1" dirty="0" smtClean="0">
                <a:solidFill>
                  <a:srgbClr val="C00000"/>
                </a:solidFill>
              </a:rPr>
              <a:t>cannot</a:t>
            </a:r>
            <a:r>
              <a:rPr lang="en-US" sz="2400" dirty="0" smtClean="0"/>
              <a:t> use class inheritance. For example, structures cannot inherit from classes, but they can implement interfaces.</a:t>
            </a:r>
          </a:p>
          <a:p>
            <a:r>
              <a:rPr lang="en-US" sz="2400" dirty="0" smtClean="0"/>
              <a:t>Interfaces are more </a:t>
            </a:r>
            <a:r>
              <a:rPr lang="en-US" sz="2400" i="1" dirty="0" smtClean="0">
                <a:solidFill>
                  <a:srgbClr val="C00000"/>
                </a:solidFill>
              </a:rPr>
              <a:t>simple</a:t>
            </a:r>
            <a:r>
              <a:rPr lang="en-US" sz="2400" dirty="0" smtClean="0"/>
              <a:t> for clients to use.</a:t>
            </a:r>
            <a:endParaRPr lang="en-US" sz="2400" dirty="0"/>
          </a:p>
        </p:txBody>
      </p:sp>
      <p:pic>
        <p:nvPicPr>
          <p:cNvPr id="6963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10200" y="1704975"/>
            <a:ext cx="3057525" cy="2105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963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10200" y="4721225"/>
            <a:ext cx="3057525" cy="137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Abstract Class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2057400" y="1219200"/>
            <a:ext cx="6781800" cy="769441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sz="2200" i="1" dirty="0">
                <a:solidFill>
                  <a:schemeClr val="bg1"/>
                </a:solidFill>
                <a:latin typeface="+mj-lt"/>
              </a:rPr>
              <a:t>An </a:t>
            </a:r>
            <a:r>
              <a:rPr lang="en-US" sz="2200" i="1" u="sng" dirty="0">
                <a:solidFill>
                  <a:schemeClr val="bg1"/>
                </a:solidFill>
                <a:latin typeface="+mj-lt"/>
              </a:rPr>
              <a:t>abstract class</a:t>
            </a:r>
            <a:r>
              <a:rPr lang="en-US" sz="2200" i="1" dirty="0">
                <a:solidFill>
                  <a:schemeClr val="bg1"/>
                </a:solidFill>
                <a:latin typeface="+mj-lt"/>
              </a:rPr>
              <a:t> is a class that won’t be instantiated but serves as a class definition </a:t>
            </a:r>
            <a:r>
              <a:rPr lang="en-US" sz="2200" i="1" u="sng" dirty="0">
                <a:solidFill>
                  <a:schemeClr val="bg1"/>
                </a:solidFill>
                <a:latin typeface="+mj-lt"/>
              </a:rPr>
              <a:t>for </a:t>
            </a:r>
            <a:r>
              <a:rPr lang="en-US" sz="2200" i="1" u="sng" dirty="0" smtClean="0">
                <a:solidFill>
                  <a:schemeClr val="bg1"/>
                </a:solidFill>
                <a:latin typeface="+mj-lt"/>
              </a:rPr>
              <a:t>derivation</a:t>
            </a:r>
            <a:r>
              <a:rPr lang="en-US" sz="2200" i="1" dirty="0" smtClean="0">
                <a:solidFill>
                  <a:schemeClr val="bg1"/>
                </a:solidFill>
                <a:latin typeface="+mj-lt"/>
              </a:rPr>
              <a:t>.</a:t>
            </a:r>
            <a:endParaRPr lang="en-US" sz="2200" i="1" dirty="0">
              <a:solidFill>
                <a:schemeClr val="bg1"/>
              </a:solidFill>
              <a:latin typeface="+mj-lt"/>
            </a:endParaRPr>
          </a:p>
        </p:txBody>
      </p:sp>
      <p:graphicFrame>
        <p:nvGraphicFramePr>
          <p:cNvPr id="53250" name="Object 2"/>
          <p:cNvGraphicFramePr>
            <a:graphicFrameLocks noChangeAspect="1"/>
          </p:cNvGraphicFramePr>
          <p:nvPr/>
        </p:nvGraphicFramePr>
        <p:xfrm>
          <a:off x="228600" y="2133600"/>
          <a:ext cx="7842250" cy="4514850"/>
        </p:xfrm>
        <a:graphic>
          <a:graphicData uri="http://schemas.openxmlformats.org/presentationml/2006/ole">
            <p:oleObj spid="_x0000_s80898" name="Document" r:id="rId3" imgW="7841848" imgH="4594778" progId="Word.Document.12">
              <p:embed/>
            </p:oleObj>
          </a:graphicData>
        </a:graphic>
      </p:graphicFrame>
      <p:sp>
        <p:nvSpPr>
          <p:cNvPr id="6" name="Rectangle 5"/>
          <p:cNvSpPr/>
          <p:nvPr/>
        </p:nvSpPr>
        <p:spPr>
          <a:xfrm>
            <a:off x="3276600" y="2133600"/>
            <a:ext cx="1905000" cy="430887"/>
          </a:xfrm>
          <a:prstGeom prst="rect">
            <a:avLst/>
          </a:prstGeom>
          <a:solidFill>
            <a:schemeClr val="accent6"/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200" dirty="0">
                <a:solidFill>
                  <a:schemeClr val="bg1"/>
                </a:solidFill>
                <a:latin typeface="+mj-lt"/>
              </a:rPr>
              <a:t>Abstract Class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2971800"/>
            <a:ext cx="1981200" cy="430887"/>
          </a:xfrm>
          <a:prstGeom prst="rect">
            <a:avLst/>
          </a:prstGeom>
          <a:solidFill>
            <a:schemeClr val="accent6"/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200" dirty="0">
                <a:solidFill>
                  <a:schemeClr val="bg1"/>
                </a:solidFill>
                <a:latin typeface="+mj-lt"/>
              </a:rPr>
              <a:t>Concrete Class</a:t>
            </a:r>
          </a:p>
        </p:txBody>
      </p:sp>
      <p:sp>
        <p:nvSpPr>
          <p:cNvPr id="9" name="Rectangle 8"/>
          <p:cNvSpPr/>
          <p:nvPr/>
        </p:nvSpPr>
        <p:spPr>
          <a:xfrm>
            <a:off x="5638800" y="5181600"/>
            <a:ext cx="2667000" cy="430887"/>
          </a:xfrm>
          <a:prstGeom prst="rect">
            <a:avLst/>
          </a:prstGeom>
          <a:solidFill>
            <a:schemeClr val="accent6"/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200" dirty="0" smtClean="0">
                <a:solidFill>
                  <a:schemeClr val="bg1"/>
                </a:solidFill>
                <a:latin typeface="+mj-lt"/>
              </a:rPr>
              <a:t>Creation Is Forbidden</a:t>
            </a:r>
            <a:endParaRPr lang="en-US" sz="2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419600" y="3733800"/>
            <a:ext cx="1981200" cy="430887"/>
          </a:xfrm>
          <a:prstGeom prst="rect">
            <a:avLst/>
          </a:prstGeom>
          <a:solidFill>
            <a:schemeClr val="accent6"/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200" dirty="0">
                <a:solidFill>
                  <a:schemeClr val="bg1"/>
                </a:solidFill>
                <a:latin typeface="+mj-lt"/>
              </a:rPr>
              <a:t>Concrete Class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Abstract Method</a:t>
            </a:r>
          </a:p>
        </p:txBody>
      </p:sp>
      <p:graphicFrame>
        <p:nvGraphicFramePr>
          <p:cNvPr id="55298" name="Object 5"/>
          <p:cNvGraphicFramePr>
            <a:graphicFrameLocks noChangeAspect="1"/>
          </p:cNvGraphicFramePr>
          <p:nvPr/>
        </p:nvGraphicFramePr>
        <p:xfrm>
          <a:off x="-228600" y="1368425"/>
          <a:ext cx="4959350" cy="4400550"/>
        </p:xfrm>
        <a:graphic>
          <a:graphicData uri="http://schemas.openxmlformats.org/presentationml/2006/ole">
            <p:oleObj spid="_x0000_s81922" name="Document" r:id="rId3" imgW="4960302" imgH="4411636" progId="Word.Document.12">
              <p:embed/>
            </p:oleObj>
          </a:graphicData>
        </a:graphic>
      </p:graphicFrame>
      <p:graphicFrame>
        <p:nvGraphicFramePr>
          <p:cNvPr id="55299" name="Object 6"/>
          <p:cNvGraphicFramePr>
            <a:graphicFrameLocks noChangeAspect="1"/>
          </p:cNvGraphicFramePr>
          <p:nvPr/>
        </p:nvGraphicFramePr>
        <p:xfrm>
          <a:off x="3810000" y="1358900"/>
          <a:ext cx="6146800" cy="3403600"/>
        </p:xfrm>
        <a:graphic>
          <a:graphicData uri="http://schemas.openxmlformats.org/presentationml/2006/ole">
            <p:oleObj spid="_x0000_s81923" name="Document" r:id="rId4" imgW="6149552" imgH="3414448" progId="Word.Document.12">
              <p:embed/>
            </p:oleObj>
          </a:graphicData>
        </a:graphic>
      </p:graphicFrame>
      <p:pic>
        <p:nvPicPr>
          <p:cNvPr id="55302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181600" y="4219575"/>
            <a:ext cx="2724150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3581400" y="5257800"/>
            <a:ext cx="5410200" cy="110799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200" i="1" dirty="0" smtClean="0">
                <a:solidFill>
                  <a:schemeClr val="bg1"/>
                </a:solidFill>
                <a:latin typeface="+mj-lt"/>
              </a:rPr>
              <a:t>An </a:t>
            </a:r>
            <a:r>
              <a:rPr lang="en-US" sz="2200" i="1" u="sng" dirty="0" smtClean="0">
                <a:solidFill>
                  <a:schemeClr val="bg1"/>
                </a:solidFill>
                <a:latin typeface="+mj-lt"/>
              </a:rPr>
              <a:t>abstract method</a:t>
            </a:r>
            <a:r>
              <a:rPr lang="en-US" sz="2200" i="1" dirty="0" smtClean="0">
                <a:solidFill>
                  <a:schemeClr val="bg1"/>
                </a:solidFill>
                <a:latin typeface="+mj-lt"/>
              </a:rPr>
              <a:t> is a method defined in a super class that </a:t>
            </a:r>
            <a:r>
              <a:rPr lang="en-US" sz="2200" i="1" u="sng" dirty="0" smtClean="0">
                <a:solidFill>
                  <a:schemeClr val="bg1"/>
                </a:solidFill>
                <a:latin typeface="+mj-lt"/>
              </a:rPr>
              <a:t>must be redefined</a:t>
            </a:r>
            <a:r>
              <a:rPr lang="en-US" sz="2200" i="1" dirty="0" smtClean="0">
                <a:solidFill>
                  <a:schemeClr val="bg1"/>
                </a:solidFill>
                <a:latin typeface="+mj-lt"/>
              </a:rPr>
              <a:t> in a subclass that inherits the super class.</a:t>
            </a:r>
            <a:endParaRPr lang="en-US" sz="2200" i="1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Abstract Property</a:t>
            </a:r>
          </a:p>
        </p:txBody>
      </p:sp>
      <p:graphicFrame>
        <p:nvGraphicFramePr>
          <p:cNvPr id="54274" name="Object 2"/>
          <p:cNvGraphicFramePr>
            <a:graphicFrameLocks noChangeAspect="1"/>
          </p:cNvGraphicFramePr>
          <p:nvPr/>
        </p:nvGraphicFramePr>
        <p:xfrm>
          <a:off x="-228600" y="1371600"/>
          <a:ext cx="4686300" cy="5194300"/>
        </p:xfrm>
        <a:graphic>
          <a:graphicData uri="http://schemas.openxmlformats.org/presentationml/2006/ole">
            <p:oleObj spid="_x0000_s82946" name="Document" r:id="rId3" imgW="4686110" imgH="5208016" progId="Word.Document.12">
              <p:embed/>
            </p:oleObj>
          </a:graphicData>
        </a:graphic>
      </p:graphicFrame>
      <p:graphicFrame>
        <p:nvGraphicFramePr>
          <p:cNvPr id="54275" name="Object 3"/>
          <p:cNvGraphicFramePr>
            <a:graphicFrameLocks noChangeAspect="1"/>
          </p:cNvGraphicFramePr>
          <p:nvPr/>
        </p:nvGraphicFramePr>
        <p:xfrm>
          <a:off x="3505200" y="1403350"/>
          <a:ext cx="6146800" cy="3244850"/>
        </p:xfrm>
        <a:graphic>
          <a:graphicData uri="http://schemas.openxmlformats.org/presentationml/2006/ole">
            <p:oleObj spid="_x0000_s82947" name="Document" r:id="rId4" imgW="6149552" imgH="3249332" progId="Word.Document.12">
              <p:embed/>
            </p:oleObj>
          </a:graphicData>
        </a:graphic>
      </p:graphicFrame>
      <p:sp>
        <p:nvSpPr>
          <p:cNvPr id="6" name="Rectangle 5"/>
          <p:cNvSpPr/>
          <p:nvPr/>
        </p:nvSpPr>
        <p:spPr>
          <a:xfrm>
            <a:off x="4343400" y="5257800"/>
            <a:ext cx="4648200" cy="110799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2200" i="1" dirty="0">
                <a:solidFill>
                  <a:schemeClr val="bg1"/>
                </a:solidFill>
                <a:latin typeface="+mj-lt"/>
              </a:rPr>
              <a:t>Members that are defined as abstract within an abstract class </a:t>
            </a:r>
            <a:r>
              <a:rPr lang="en-US" sz="2200" i="1" u="sng" dirty="0">
                <a:solidFill>
                  <a:schemeClr val="bg1"/>
                </a:solidFill>
                <a:latin typeface="+mj-lt"/>
              </a:rPr>
              <a:t>must be implemented</a:t>
            </a:r>
            <a:r>
              <a:rPr lang="en-US" sz="2200" i="1" dirty="0">
                <a:solidFill>
                  <a:schemeClr val="bg1"/>
                </a:solidFill>
                <a:latin typeface="+mj-lt"/>
              </a:rPr>
              <a:t> by any derived classes.</a:t>
            </a:r>
          </a:p>
        </p:txBody>
      </p:sp>
      <p:pic>
        <p:nvPicPr>
          <p:cNvPr id="54278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715000" y="4305300"/>
            <a:ext cx="27717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6096000" y="1524000"/>
            <a:ext cx="2743200" cy="400110"/>
          </a:xfrm>
          <a:prstGeom prst="rect">
            <a:avLst/>
          </a:prstGeom>
          <a:solidFill>
            <a:schemeClr val="accent6"/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chemeClr val="bg1"/>
                </a:solidFill>
                <a:latin typeface="+mj-lt"/>
              </a:rPr>
              <a:t>Fields and Constants</a:t>
            </a:r>
          </a:p>
        </p:txBody>
      </p:sp>
      <p:graphicFrame>
        <p:nvGraphicFramePr>
          <p:cNvPr id="56322" name="Object 14"/>
          <p:cNvGraphicFramePr>
            <a:graphicFrameLocks noChangeAspect="1"/>
          </p:cNvGraphicFramePr>
          <p:nvPr/>
        </p:nvGraphicFramePr>
        <p:xfrm>
          <a:off x="2819400" y="2133600"/>
          <a:ext cx="5943600" cy="3530600"/>
        </p:xfrm>
        <a:graphic>
          <a:graphicData uri="http://schemas.openxmlformats.org/presentationml/2006/ole">
            <p:oleObj spid="_x0000_s83970" name="Document" r:id="rId3" imgW="5940848" imgH="3752612" progId="Word.Document.12">
              <p:embed/>
            </p:oleObj>
          </a:graphicData>
        </a:graphic>
      </p:graphicFrame>
      <p:sp>
        <p:nvSpPr>
          <p:cNvPr id="5632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Abstract Class vs. Interface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572000"/>
            <a:ext cx="2362200" cy="400110"/>
          </a:xfrm>
          <a:prstGeom prst="rect">
            <a:avLst/>
          </a:prstGeom>
          <a:solidFill>
            <a:schemeClr val="accent6"/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chemeClr val="bg1"/>
                </a:solidFill>
                <a:latin typeface="+mj-lt"/>
              </a:rPr>
              <a:t>Multiple Inheritance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04800" y="1581090"/>
            <a:ext cx="2667000" cy="400110"/>
          </a:xfrm>
          <a:prstGeom prst="rect">
            <a:avLst/>
          </a:prstGeom>
          <a:solidFill>
            <a:schemeClr val="accent6"/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chemeClr val="bg1"/>
                </a:solidFill>
                <a:latin typeface="+mj-lt"/>
              </a:rPr>
              <a:t>Default Implementation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81400" y="1524000"/>
            <a:ext cx="2133600" cy="400110"/>
          </a:xfrm>
          <a:prstGeom prst="rect">
            <a:avLst/>
          </a:prstGeom>
          <a:solidFill>
            <a:schemeClr val="accent6"/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chemeClr val="bg1"/>
                </a:solidFill>
                <a:latin typeface="+mj-lt"/>
              </a:rPr>
              <a:t>Access Modfiers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24600" y="5181600"/>
            <a:ext cx="2514600" cy="707886"/>
          </a:xfrm>
          <a:prstGeom prst="rect">
            <a:avLst/>
          </a:prstGeom>
          <a:solidFill>
            <a:schemeClr val="accent6"/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chemeClr val="bg1"/>
                </a:solidFill>
                <a:latin typeface="+mj-lt"/>
              </a:rPr>
              <a:t>Core </a:t>
            </a:r>
            <a:r>
              <a:rPr lang="en-US" sz="2000" dirty="0" smtClean="0">
                <a:solidFill>
                  <a:schemeClr val="bg1"/>
                </a:solidFill>
                <a:latin typeface="+mj-lt"/>
              </a:rPr>
              <a:t>vs. </a:t>
            </a:r>
            <a:r>
              <a:rPr lang="en-US" sz="2000" dirty="0">
                <a:solidFill>
                  <a:schemeClr val="bg1"/>
                </a:solidFill>
                <a:latin typeface="+mj-lt"/>
              </a:rPr>
              <a:t>Peripheral</a:t>
            </a:r>
          </a:p>
          <a:p>
            <a:pPr algn="ctr">
              <a:defRPr/>
            </a:pPr>
            <a:r>
              <a:rPr lang="en-US" sz="2000" dirty="0">
                <a:solidFill>
                  <a:schemeClr val="bg1"/>
                </a:solidFill>
                <a:latin typeface="+mj-lt"/>
              </a:rPr>
              <a:t>IS A </a:t>
            </a:r>
            <a:r>
              <a:rPr lang="en-US" sz="2000" dirty="0" smtClean="0">
                <a:solidFill>
                  <a:schemeClr val="bg1"/>
                </a:solidFill>
                <a:latin typeface="+mj-lt"/>
              </a:rPr>
              <a:t>vs. </a:t>
            </a:r>
            <a:r>
              <a:rPr lang="en-US" sz="2000" dirty="0">
                <a:solidFill>
                  <a:schemeClr val="bg1"/>
                </a:solidFill>
                <a:latin typeface="+mj-lt"/>
              </a:rPr>
              <a:t>CAN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91000" y="5997714"/>
            <a:ext cx="4648200" cy="707886"/>
          </a:xfrm>
          <a:prstGeom prst="rect">
            <a:avLst/>
          </a:prstGeom>
          <a:solidFill>
            <a:schemeClr val="accent6"/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 smtClean="0">
                <a:solidFill>
                  <a:schemeClr val="bg1"/>
                </a:solidFill>
                <a:latin typeface="+mj-lt"/>
              </a:rPr>
              <a:t>Homogeneity</a:t>
            </a:r>
          </a:p>
          <a:p>
            <a:pPr algn="ctr">
              <a:defRPr/>
            </a:pPr>
            <a:r>
              <a:rPr lang="en-US" sz="2000" dirty="0" smtClean="0">
                <a:solidFill>
                  <a:schemeClr val="bg1"/>
                </a:solidFill>
                <a:latin typeface="+mj-lt"/>
              </a:rPr>
              <a:t>(Common behavior vs. method signature)</a:t>
            </a:r>
            <a:endParaRPr lang="en-US" sz="2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924800" y="2895600"/>
            <a:ext cx="914400" cy="400110"/>
          </a:xfrm>
          <a:prstGeom prst="rect">
            <a:avLst/>
          </a:prstGeom>
          <a:solidFill>
            <a:schemeClr val="accent6"/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chemeClr val="bg1"/>
                </a:solidFill>
                <a:latin typeface="+mj-lt"/>
              </a:rPr>
              <a:t>Speed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2057400"/>
            <a:ext cx="2667000" cy="707886"/>
          </a:xfrm>
          <a:prstGeom prst="rect">
            <a:avLst/>
          </a:prstGeom>
          <a:solidFill>
            <a:schemeClr val="accent6"/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chemeClr val="bg1"/>
                </a:solidFill>
                <a:latin typeface="+mj-lt"/>
              </a:rPr>
              <a:t>Adding Functionality</a:t>
            </a:r>
          </a:p>
          <a:p>
            <a:pPr algn="ctr">
              <a:defRPr/>
            </a:pPr>
            <a:r>
              <a:rPr lang="en-US" sz="2000" dirty="0" smtClean="0">
                <a:solidFill>
                  <a:schemeClr val="bg1"/>
                </a:solidFill>
                <a:latin typeface="+mj-lt"/>
              </a:rPr>
              <a:t>(Versioning, Changes)</a:t>
            </a:r>
          </a:p>
        </p:txBody>
      </p:sp>
      <p:pic>
        <p:nvPicPr>
          <p:cNvPr id="56332" name="Picture 1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8600" y="2209800"/>
            <a:ext cx="2857500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Use Abstract Methods?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0"/>
            <a:ext cx="8229600" cy="1554163"/>
          </a:xfrm>
        </p:spPr>
        <p:txBody>
          <a:bodyPr/>
          <a:lstStyle/>
          <a:p>
            <a:r>
              <a:rPr lang="en-US" sz="2400" dirty="0" smtClean="0"/>
              <a:t>Using abstract methods is a way a programmer of a super class </a:t>
            </a:r>
            <a:r>
              <a:rPr lang="en-US" sz="2400" i="1" dirty="0" smtClean="0">
                <a:solidFill>
                  <a:srgbClr val="C00000"/>
                </a:solidFill>
              </a:rPr>
              <a:t>forces</a:t>
            </a:r>
            <a:r>
              <a:rPr lang="en-US" sz="2400" dirty="0" smtClean="0"/>
              <a:t> a programmer of a subclass to </a:t>
            </a:r>
            <a:r>
              <a:rPr lang="en-US" sz="2400" u="sng" dirty="0" smtClean="0"/>
              <a:t>define</a:t>
            </a:r>
            <a:r>
              <a:rPr lang="en-US" sz="2400" dirty="0" smtClean="0"/>
              <a:t> a behavior.</a:t>
            </a:r>
          </a:p>
          <a:p>
            <a:r>
              <a:rPr lang="en-US" sz="2400" dirty="0" smtClean="0"/>
              <a:t>An abstract method should be used when there </a:t>
            </a:r>
            <a:r>
              <a:rPr lang="en-US" sz="2400" i="1" dirty="0" smtClean="0">
                <a:solidFill>
                  <a:srgbClr val="C00000"/>
                </a:solidFill>
              </a:rPr>
              <a:t>isn’t</a:t>
            </a:r>
            <a:r>
              <a:rPr lang="en-US" sz="2400" dirty="0" smtClean="0"/>
              <a:t> any way to define a good </a:t>
            </a:r>
            <a:r>
              <a:rPr lang="en-US" sz="2400" u="sng" dirty="0" smtClean="0"/>
              <a:t>default method</a:t>
            </a:r>
            <a:r>
              <a:rPr lang="en-US" sz="2400" dirty="0" smtClean="0"/>
              <a:t> in the super class.</a:t>
            </a:r>
            <a:endParaRPr lang="en-US" sz="2400" dirty="0"/>
          </a:p>
        </p:txBody>
      </p:sp>
      <p:sp>
        <p:nvSpPr>
          <p:cNvPr id="144386" name="AutoShape 2" descr="mk:@MSITStore:D:\My%20Teaching\OOP\References\03.%20Object\Jim%20Keogh%20and%20Mario%20Giannini.%20OOP%20Demystified.%20McGraw-Hill.%202004.chm::/8170final/images/f0602_0.jp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4438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9580" y="1600200"/>
            <a:ext cx="3360420" cy="2617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438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91000" y="1981200"/>
            <a:ext cx="4526280" cy="2274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“Kinds” Of Inheritance</a:t>
            </a:r>
            <a:endParaRPr lang="en-US" dirty="0"/>
          </a:p>
        </p:txBody>
      </p:sp>
      <p:graphicFrame>
        <p:nvGraphicFramePr>
          <p:cNvPr id="8" name="Diagram 7"/>
          <p:cNvGraphicFramePr/>
          <p:nvPr/>
        </p:nvGraphicFramePr>
        <p:xfrm>
          <a:off x="609600" y="1295400"/>
          <a:ext cx="8077200" cy="5181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Mixin Inheritance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47800"/>
            <a:ext cx="8229600" cy="646331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 smtClean="0">
                <a:solidFill>
                  <a:schemeClr val="bg1"/>
                </a:solidFill>
                <a:latin typeface="+mj-lt"/>
              </a:rPr>
              <a:t>MixIn programming is a </a:t>
            </a:r>
            <a:r>
              <a:rPr lang="en-US" i="1" u="sng" dirty="0" smtClean="0">
                <a:solidFill>
                  <a:schemeClr val="bg1"/>
                </a:solidFill>
                <a:latin typeface="+mj-lt"/>
              </a:rPr>
              <a:t>style</a:t>
            </a:r>
            <a:r>
              <a:rPr lang="en-US" i="1" dirty="0" smtClean="0">
                <a:solidFill>
                  <a:schemeClr val="bg1"/>
                </a:solidFill>
                <a:latin typeface="+mj-lt"/>
              </a:rPr>
              <a:t> of software development where </a:t>
            </a:r>
            <a:r>
              <a:rPr lang="en-US" i="1" u="sng" dirty="0" smtClean="0">
                <a:solidFill>
                  <a:schemeClr val="bg1"/>
                </a:solidFill>
                <a:latin typeface="+mj-lt"/>
              </a:rPr>
              <a:t>units</a:t>
            </a:r>
            <a:r>
              <a:rPr lang="en-US" i="1" dirty="0" smtClean="0">
                <a:solidFill>
                  <a:schemeClr val="bg1"/>
                </a:solidFill>
                <a:latin typeface="+mj-lt"/>
              </a:rPr>
              <a:t> of functionality are created in a class and then </a:t>
            </a:r>
            <a:r>
              <a:rPr lang="en-US" i="1" u="sng" dirty="0" smtClean="0">
                <a:solidFill>
                  <a:schemeClr val="bg1"/>
                </a:solidFill>
                <a:latin typeface="+mj-lt"/>
              </a:rPr>
              <a:t>mixed</a:t>
            </a:r>
            <a:r>
              <a:rPr lang="en-US" i="1" dirty="0" smtClean="0">
                <a:solidFill>
                  <a:schemeClr val="bg1"/>
                </a:solidFill>
                <a:latin typeface="+mj-lt"/>
              </a:rPr>
              <a:t> in with other classes.</a:t>
            </a:r>
            <a:endParaRPr lang="en-US" i="1" dirty="0">
              <a:solidFill>
                <a:schemeClr val="bg1"/>
              </a:solidFill>
              <a:latin typeface="+mj-lt"/>
            </a:endParaRPr>
          </a:p>
        </p:txBody>
      </p:sp>
      <p:graphicFrame>
        <p:nvGraphicFramePr>
          <p:cNvPr id="95233" name="Object 1"/>
          <p:cNvGraphicFramePr>
            <a:graphicFrameLocks noChangeAspect="1"/>
          </p:cNvGraphicFramePr>
          <p:nvPr/>
        </p:nvGraphicFramePr>
        <p:xfrm>
          <a:off x="228600" y="2438400"/>
          <a:ext cx="5940425" cy="3030537"/>
        </p:xfrm>
        <a:graphic>
          <a:graphicData uri="http://schemas.openxmlformats.org/presentationml/2006/ole">
            <p:oleObj spid="_x0000_s61442" name="Document" r:id="rId3" imgW="5940848" imgH="3034825" progId="Word.Document.12">
              <p:embed/>
            </p:oleObj>
          </a:graphicData>
        </a:graphic>
      </p:graphicFrame>
      <p:graphicFrame>
        <p:nvGraphicFramePr>
          <p:cNvPr id="95234" name="Object 2"/>
          <p:cNvGraphicFramePr>
            <a:graphicFrameLocks noChangeAspect="1"/>
          </p:cNvGraphicFramePr>
          <p:nvPr/>
        </p:nvGraphicFramePr>
        <p:xfrm>
          <a:off x="5257800" y="2286000"/>
          <a:ext cx="5940425" cy="3749675"/>
        </p:xfrm>
        <a:graphic>
          <a:graphicData uri="http://schemas.openxmlformats.org/presentationml/2006/ole">
            <p:oleObj spid="_x0000_s61443" name="Document" r:id="rId4" imgW="5940848" imgH="3750449" progId="Word.Document.12">
              <p:embed/>
            </p:oleObj>
          </a:graphicData>
        </a:graphic>
      </p:graphicFrame>
      <p:pic>
        <p:nvPicPr>
          <p:cNvPr id="95235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286000" y="5486400"/>
            <a:ext cx="2628900" cy="72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C++ Private Inheritance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http://c2.com/cgi/wiki?PrivateInheritance</a:t>
            </a:r>
            <a:endParaRPr lang="en-US" sz="2400" dirty="0" smtClean="0"/>
          </a:p>
          <a:p>
            <a:r>
              <a:rPr lang="en-US" sz="2400" i="1" dirty="0" smtClean="0"/>
              <a:t>Private inheritance results in all public functions of a class being inherited as private functions.</a:t>
            </a:r>
          </a:p>
          <a:p>
            <a:r>
              <a:rPr lang="en-US" sz="2400" i="1" dirty="0" smtClean="0"/>
              <a:t>Private inheritance models the "is implemented in terms of a" relationship, rather than the is-a relationship that is modeled by public inheritance.</a:t>
            </a:r>
          </a:p>
          <a:p>
            <a:endParaRPr lang="en-US" sz="2400" dirty="0" smtClean="0">
              <a:latin typeface="Calibri" pitchFamily="34" charset="0"/>
              <a:hlinkClick r:id="rId3"/>
            </a:endParaRPr>
          </a:p>
          <a:p>
            <a:r>
              <a:rPr lang="en-US" sz="2400" dirty="0" smtClean="0">
                <a:latin typeface="Calibri" pitchFamily="34" charset="0"/>
              </a:rPr>
              <a:t>Why private inheritance? </a:t>
            </a:r>
            <a:r>
              <a:rPr lang="en-US" sz="2400" smtClean="0">
                <a:latin typeface="Calibri" pitchFamily="34" charset="0"/>
              </a:rPr>
              <a:t>– To </a:t>
            </a:r>
            <a:r>
              <a:rPr lang="en-US" sz="2400" dirty="0" smtClean="0">
                <a:latin typeface="Calibri" pitchFamily="34" charset="0"/>
              </a:rPr>
              <a:t>hide some functions of the base class.</a:t>
            </a:r>
            <a:endParaRPr lang="en-US" sz="2400" dirty="0" smtClean="0">
              <a:latin typeface="Calibri" pitchFamily="34" charset="0"/>
              <a:hlinkClick r:id="rId3"/>
            </a:endParaRPr>
          </a:p>
          <a:p>
            <a:r>
              <a:rPr lang="vi-VN" sz="2400" dirty="0" smtClean="0">
                <a:latin typeface="Calibri" pitchFamily="34" charset="0"/>
                <a:hlinkClick r:id="rId3"/>
              </a:rPr>
              <a:t>http://www.dofactory.com/net/adapter-design-pattern</a:t>
            </a:r>
            <a:endParaRPr lang="en-US" sz="2400" dirty="0" smtClean="0"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for Your Time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9975</TotalTime>
  <Words>800</Words>
  <Application>Microsoft Office PowerPoint</Application>
  <PresentationFormat>On-screen Show (4:3)</PresentationFormat>
  <Paragraphs>127</Paragraphs>
  <Slides>34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6" baseType="lpstr">
      <vt:lpstr>Office Theme</vt:lpstr>
      <vt:lpstr>Document</vt:lpstr>
      <vt:lpstr>Inheritance</vt:lpstr>
      <vt:lpstr>Objectives</vt:lpstr>
      <vt:lpstr>References</vt:lpstr>
      <vt:lpstr>Code Duplication</vt:lpstr>
      <vt:lpstr>Inheritance [1, 2]</vt:lpstr>
      <vt:lpstr>Reuse (Code Sharing)</vt:lpstr>
      <vt:lpstr>Simple Inheritance</vt:lpstr>
      <vt:lpstr>Level Inheritance</vt:lpstr>
      <vt:lpstr>Base Class’s Constructor</vt:lpstr>
      <vt:lpstr>Calling Base Class’ Constructor</vt:lpstr>
      <vt:lpstr>When To Use Inheritance?</vt:lpstr>
      <vt:lpstr>Why Use Inheritance?</vt:lpstr>
      <vt:lpstr>Root Class</vt:lpstr>
      <vt:lpstr>Sealed Class</vt:lpstr>
      <vt:lpstr>Multiple Inheritance with Class</vt:lpstr>
      <vt:lpstr>Casting</vt:lpstr>
      <vt:lpstr>Why Use Casting?</vt:lpstr>
      <vt:lpstr>Interface</vt:lpstr>
      <vt:lpstr>Why Interface?</vt:lpstr>
      <vt:lpstr>Example</vt:lpstr>
      <vt:lpstr>Multiple Inheritance With Interface</vt:lpstr>
      <vt:lpstr>Combining Interfaces</vt:lpstr>
      <vt:lpstr>Interface vs. Base Class</vt:lpstr>
      <vt:lpstr>Slide 24</vt:lpstr>
      <vt:lpstr>Abstract Class</vt:lpstr>
      <vt:lpstr>Abstract Method</vt:lpstr>
      <vt:lpstr>Abstract Property</vt:lpstr>
      <vt:lpstr>Abstract Class vs. Interface</vt:lpstr>
      <vt:lpstr>Why Use Abstract Methods?</vt:lpstr>
      <vt:lpstr>Slide 30</vt:lpstr>
      <vt:lpstr>“Kinds” Of Inheritance</vt:lpstr>
      <vt:lpstr>Mixin Inheritance</vt:lpstr>
      <vt:lpstr>C++ Private Inheritance</vt:lpstr>
      <vt:lpstr>Thank You for Your Time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admin</cp:lastModifiedBy>
  <cp:revision>4231</cp:revision>
  <dcterms:created xsi:type="dcterms:W3CDTF">2007-10-06T08:25:13Z</dcterms:created>
  <dcterms:modified xsi:type="dcterms:W3CDTF">2018-03-14T20:32:23Z</dcterms:modified>
</cp:coreProperties>
</file>