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641" r:id="rId3"/>
    <p:sldId id="642" r:id="rId4"/>
    <p:sldId id="540" r:id="rId5"/>
    <p:sldId id="539" r:id="rId6"/>
    <p:sldId id="657" r:id="rId7"/>
    <p:sldId id="630" r:id="rId8"/>
    <p:sldId id="543" r:id="rId9"/>
    <p:sldId id="658" r:id="rId10"/>
    <p:sldId id="659" r:id="rId11"/>
    <p:sldId id="544" r:id="rId12"/>
    <p:sldId id="654" r:id="rId13"/>
    <p:sldId id="644" r:id="rId14"/>
    <p:sldId id="542" r:id="rId15"/>
    <p:sldId id="649" r:id="rId16"/>
    <p:sldId id="545" r:id="rId17"/>
    <p:sldId id="648" r:id="rId18"/>
    <p:sldId id="650" r:id="rId19"/>
    <p:sldId id="645" r:id="rId20"/>
    <p:sldId id="547" r:id="rId21"/>
    <p:sldId id="548" r:id="rId22"/>
    <p:sldId id="549" r:id="rId23"/>
    <p:sldId id="550" r:id="rId24"/>
    <p:sldId id="646" r:id="rId25"/>
    <p:sldId id="551" r:id="rId26"/>
    <p:sldId id="552" r:id="rId27"/>
    <p:sldId id="553" r:id="rId28"/>
    <p:sldId id="554" r:id="rId29"/>
    <p:sldId id="555" r:id="rId30"/>
    <p:sldId id="532" r:id="rId31"/>
    <p:sldId id="647" r:id="rId32"/>
    <p:sldId id="556" r:id="rId33"/>
    <p:sldId id="651" r:id="rId34"/>
    <p:sldId id="652" r:id="rId35"/>
    <p:sldId id="653" r:id="rId36"/>
    <p:sldId id="538" r:id="rId37"/>
    <p:sldId id="660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8367" autoAdjust="0"/>
    <p:restoredTop sz="94667" autoAdjust="0"/>
  </p:normalViewPr>
  <p:slideViewPr>
    <p:cSldViewPr>
      <p:cViewPr>
        <p:scale>
          <a:sx n="50" d="100"/>
          <a:sy n="50" d="100"/>
        </p:scale>
        <p:origin x="-147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4D400-6504-413F-B54E-738978C9D58D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1B037-3188-409D-8585-0062FF378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50246-B75B-4111-A4E3-17CED8183F51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3B35-0DC7-41A1-836F-F07E105F7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B62FE-A4BA-4F3B-8724-099A9867E83E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2A0DB-97FF-4E2D-961A-53A8B3E81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BCD77-DB7E-410F-8346-A9CE932D0AC1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858F-6EED-4FD9-B63D-3FB7FC26C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D8737-39E6-4861-92A8-89AC4192A622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11265-6FEF-4F82-B77F-9478A26020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7D96A-39D8-4C6D-B965-8C8786F338A6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4D288-D738-45D0-B23A-7E0F181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036EE-19ED-4D9D-B088-EAFD7232ED0E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035E6-112E-46D6-92D2-F2905FE7F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544F72-AE66-47B5-B42F-4F292EBF18C0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6D519-0129-40C9-A8E0-4AA1DED68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D7A31-5AF7-4205-933F-65E4A1293711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CC8C2-CC74-4F74-BCEB-5B4FD5CCA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0A20E-8178-48FA-A129-AAB02AB6D639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1C3DA-7D2B-4D47-80E5-C045B94A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6E936-9FA0-4541-B442-5A2338068559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867D3-01D4-40D3-B6DA-7869D49FDF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55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C091D18-0586-4BD9-8B7F-38B22B7AB35F}" type="datetimeFigureOut">
              <a:rPr lang="en-US"/>
              <a:pPr>
                <a:defRPr/>
              </a:pPr>
              <a:t>8/17/2025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ED71EDE-E083-416B-A0EA-2AE6A7CEE3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Office_Word_Document1.docx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package" Target="../embeddings/Microsoft_Office_Word_Document4.doc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package" Target="../embeddings/Microsoft_Office_Word_Document7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package" Target="../embeddings/Microsoft_Office_Word_Document9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package" Target="../embeddings/Microsoft_Office_Word_Document11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package" Target="../embeddings/Microsoft_Office_Word_Document13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package" Target="../embeddings/Microsoft_Office_Word_Document15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package" Target="../embeddings/Microsoft_Office_Word_Document17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package" Target="../embeddings/Microsoft_Office_Word_Document19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package" Target="../embeddings/Microsoft_Office_Word_Document21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package" Target="../embeddings/Microsoft_Office_Word_Document23.docx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package" Target="../embeddings/Microsoft_Office_Word_Document25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61.png"/><Relationship Id="rId4" Type="http://schemas.openxmlformats.org/officeDocument/2006/relationships/package" Target="../embeddings/Microsoft_Office_Word_Document27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9.docx"/><Relationship Id="rId7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8.png"/><Relationship Id="rId5" Type="http://schemas.openxmlformats.org/officeDocument/2006/relationships/package" Target="../embeddings/Microsoft_Office_Word_Document31.docx"/><Relationship Id="rId4" Type="http://schemas.openxmlformats.org/officeDocument/2006/relationships/package" Target="../embeddings/Microsoft_Office_Word_Document30.docx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Fundamental Programming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basic </a:t>
            </a:r>
            <a:r>
              <a:rPr lang="en-US" sz="2400" i="1" dirty="0" smtClean="0">
                <a:solidFill>
                  <a:srgbClr val="C00000"/>
                </a:solidFill>
              </a:rPr>
              <a:t>data types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write basic </a:t>
            </a:r>
            <a:r>
              <a:rPr lang="en-US" sz="2400" i="1" dirty="0" smtClean="0">
                <a:solidFill>
                  <a:srgbClr val="C00000"/>
                </a:solidFill>
              </a:rPr>
              <a:t>programming statements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write a </a:t>
            </a:r>
            <a:r>
              <a:rPr lang="en-US" sz="2400" smtClean="0"/>
              <a:t>simple </a:t>
            </a:r>
            <a:r>
              <a:rPr lang="en-US" sz="2400" i="1" smtClean="0">
                <a:solidFill>
                  <a:srgbClr val="C00000"/>
                </a:solidFill>
              </a:rPr>
              <a:t>program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Tom Archer and Andrew </a:t>
            </a:r>
            <a:r>
              <a:rPr lang="en-US" sz="2400" dirty="0" err="1" smtClean="0">
                <a:latin typeface="+mj-lt"/>
              </a:rPr>
              <a:t>Whitechapel</a:t>
            </a:r>
            <a:r>
              <a:rPr lang="en-US" sz="2400" dirty="0" smtClean="0">
                <a:latin typeface="+mj-lt"/>
              </a:rPr>
              <a:t> (</a:t>
            </a:r>
            <a:r>
              <a:rPr lang="en-US" sz="2400" dirty="0" smtClean="0"/>
              <a:t>2002)</a:t>
            </a:r>
            <a:r>
              <a:rPr lang="en-US" sz="2400" dirty="0" smtClean="0">
                <a:latin typeface="+mj-lt"/>
              </a:rPr>
              <a:t>. Inside C#. Microsoft Corporation.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Herbert </a:t>
            </a:r>
            <a:r>
              <a:rPr lang="en-US" sz="2400" dirty="0" err="1" smtClean="0">
                <a:latin typeface="+mj-lt"/>
              </a:rPr>
              <a:t>Schildt</a:t>
            </a:r>
            <a:r>
              <a:rPr lang="en-US" sz="2400" dirty="0" smtClean="0">
                <a:latin typeface="+mj-lt"/>
              </a:rPr>
              <a:t> (</a:t>
            </a:r>
            <a:r>
              <a:rPr lang="en-US" sz="2400" dirty="0" smtClean="0"/>
              <a:t>2010).</a:t>
            </a:r>
            <a:r>
              <a:rPr lang="en-US" sz="2400" dirty="0" smtClean="0">
                <a:latin typeface="+mj-lt"/>
              </a:rPr>
              <a:t> C# 4.0 The Complete Reference.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Dan Clark (</a:t>
            </a:r>
            <a:r>
              <a:rPr lang="en-US" sz="2400" dirty="0" smtClean="0"/>
              <a:t>2013)</a:t>
            </a:r>
            <a:r>
              <a:rPr lang="en-US" sz="2400" dirty="0" smtClean="0">
                <a:latin typeface="+mj-lt"/>
              </a:rPr>
              <a:t>. Beginning C# Object-Oriented Programming.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RB Whitaker (</a:t>
            </a:r>
            <a:r>
              <a:rPr lang="en-US" sz="2400" dirty="0" smtClean="0"/>
              <a:t>2015)</a:t>
            </a:r>
            <a:r>
              <a:rPr lang="en-US" sz="2400" dirty="0" smtClean="0">
                <a:latin typeface="+mj-lt"/>
              </a:rPr>
              <a:t>. The C# Player's Guide.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Applications</a:t>
            </a:r>
          </a:p>
        </p:txBody>
      </p:sp>
      <p:pic>
        <p:nvPicPr>
          <p:cNvPr id="7270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52600"/>
            <a:ext cx="4267200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1447800"/>
            <a:ext cx="3790950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1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4495800"/>
            <a:ext cx="367665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Source Code</a:t>
            </a:r>
          </a:p>
        </p:txBody>
      </p:sp>
      <p:pic>
        <p:nvPicPr>
          <p:cNvPr id="6861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95400"/>
            <a:ext cx="558165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Integrated Development Environment</a:t>
            </a:r>
            <a:endParaRPr lang="en-US" sz="4000" dirty="0"/>
          </a:p>
        </p:txBody>
      </p:sp>
      <p:sp>
        <p:nvSpPr>
          <p:cNvPr id="11" name="Rectangle 10"/>
          <p:cNvSpPr/>
          <p:nvPr/>
        </p:nvSpPr>
        <p:spPr>
          <a:xfrm>
            <a:off x="2438400" y="4648200"/>
            <a:ext cx="4724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A source code editor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A compiler and/or an interpreter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Build automation tools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+mj-lt"/>
              </a:rPr>
              <a:t>A debugger</a:t>
            </a:r>
            <a:endParaRPr lang="en-US" sz="2400" dirty="0">
              <a:latin typeface="+mj-lt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524000"/>
            <a:ext cx="3886200" cy="2748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You Need</a:t>
            </a:r>
            <a:endParaRPr lang="en-US" dirty="0"/>
          </a:p>
        </p:txBody>
      </p:sp>
      <p:sp>
        <p:nvSpPr>
          <p:cNvPr id="25602" name="AutoShape 2" descr="https://i3-vso.sec.s-msft.com/dn469161.1-Xamarin-swimlane-image.png"/>
          <p:cNvSpPr>
            <a:spLocks noChangeAspect="1" noChangeArrowheads="1"/>
          </p:cNvSpPr>
          <p:nvPr/>
        </p:nvSpPr>
        <p:spPr bwMode="auto">
          <a:xfrm>
            <a:off x="155575" y="-2681288"/>
            <a:ext cx="8696325" cy="55911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714500"/>
            <a:ext cx="802767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and Debugging an Application</a:t>
            </a:r>
          </a:p>
        </p:txBody>
      </p:sp>
      <p:pic>
        <p:nvPicPr>
          <p:cNvPr id="7065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085975"/>
            <a:ext cx="6591300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Visual Studio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https://code.visualstudio.com/download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2667000"/>
            <a:ext cx="4559300" cy="3515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Launch Visual Studio Code</a:t>
            </a:r>
            <a:endParaRPr lang="en-US" dirty="0"/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2209800"/>
            <a:ext cx="5129213" cy="3954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Programming Languages</a:t>
            </a:r>
          </a:p>
        </p:txBody>
      </p:sp>
      <p:pic>
        <p:nvPicPr>
          <p:cNvPr id="23554" name="Picture 2" descr="http://www.webopedia.com/FIG/PROG-LAN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3048000"/>
            <a:ext cx="2790825" cy="2028826"/>
          </a:xfrm>
          <a:prstGeom prst="rect">
            <a:avLst/>
          </a:prstGeom>
          <a:noFill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" y="1905000"/>
            <a:ext cx="53721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C#?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Speak A Language?</a:t>
            </a:r>
            <a:endParaRPr lang="en-US" dirty="0"/>
          </a:p>
        </p:txBody>
      </p:sp>
      <p:pic>
        <p:nvPicPr>
          <p:cNvPr id="66562" name="Picture 2" descr="http://www.learn-portuguese-now.com/images/vocabulary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514600"/>
            <a:ext cx="4048125" cy="2686051"/>
          </a:xfrm>
          <a:prstGeom prst="rect">
            <a:avLst/>
          </a:prstGeom>
          <a:noFill/>
        </p:spPr>
      </p:pic>
      <p:pic>
        <p:nvPicPr>
          <p:cNvPr id="66564" name="Picture 4" descr="http://www.frenchtutorial.com/en/learn-french/images/vocabulary_big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2667000"/>
            <a:ext cx="1847850" cy="24574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Primitive Types </a:t>
            </a:r>
            <a:r>
              <a:rPr lang="en-US" smtClean="0"/>
              <a:t>[1, 2</a:t>
            </a:r>
            <a:r>
              <a:rPr lang="en-US" dirty="0" smtClean="0"/>
              <a:t>]</a:t>
            </a:r>
          </a:p>
        </p:txBody>
      </p:sp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700046"/>
            <a:ext cx="22574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309646"/>
            <a:ext cx="69723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" y="4843046"/>
            <a:ext cx="260032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52400" y="5147846"/>
            <a:ext cx="3124200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2400" y="5528846"/>
            <a:ext cx="3028950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6" name="Object 10"/>
          <p:cNvGraphicFramePr>
            <a:graphicFrameLocks noChangeAspect="1"/>
          </p:cNvGraphicFramePr>
          <p:nvPr/>
        </p:nvGraphicFramePr>
        <p:xfrm>
          <a:off x="150813" y="6100763"/>
          <a:ext cx="7969250" cy="477837"/>
        </p:xfrm>
        <a:graphic>
          <a:graphicData uri="http://schemas.openxmlformats.org/presentationml/2006/ole">
            <p:oleObj spid="_x0000_s1026" name="Document" r:id="rId8" imgW="8179372" imgH="492826" progId="Word.Document.12">
              <p:embed/>
            </p:oleObj>
          </a:graphicData>
        </a:graphic>
      </p:graphicFrame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895600" y="3700046"/>
            <a:ext cx="311467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Rectangle 16"/>
          <p:cNvSpPr/>
          <p:nvPr/>
        </p:nvSpPr>
        <p:spPr>
          <a:xfrm>
            <a:off x="3429000" y="4702314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00FF"/>
                </a:solidFill>
                <a:latin typeface="Consolas"/>
                <a:ea typeface="Calibri"/>
                <a:cs typeface="Consolas"/>
              </a:rPr>
              <a:t>char</a:t>
            </a:r>
            <a:r>
              <a:rPr lang="en-US" dirty="0" smtClean="0">
                <a:latin typeface="Consolas"/>
                <a:ea typeface="Calibri"/>
                <a:cs typeface="Consolas"/>
              </a:rPr>
              <a:t> code = </a:t>
            </a:r>
            <a:r>
              <a:rPr lang="en-US" dirty="0" smtClean="0">
                <a:solidFill>
                  <a:srgbClr val="A31515"/>
                </a:solidFill>
                <a:latin typeface="Consolas"/>
                <a:ea typeface="Calibri"/>
                <a:cs typeface="Consolas"/>
              </a:rPr>
              <a:t>'Z'</a:t>
            </a:r>
            <a:r>
              <a:rPr lang="en-US" dirty="0" smtClean="0">
                <a:latin typeface="Consolas"/>
                <a:ea typeface="Calibri"/>
                <a:cs typeface="Consolas"/>
              </a:rPr>
              <a:t>;</a:t>
            </a:r>
            <a:endParaRPr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429000" y="5071646"/>
            <a:ext cx="388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2B91AF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String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 name =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A31515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"Ngo Huy Bien"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Calibri" pitchFamily="34" charset="0"/>
                <a:cs typeface="Consolas" pitchFamily="49" charset="0"/>
              </a:rPr>
              <a:t>;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Arial" pitchFamily="34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447800" y="1371600"/>
            <a:ext cx="594360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Rectangle 15"/>
          <p:cNvSpPr/>
          <p:nvPr/>
        </p:nvSpPr>
        <p:spPr>
          <a:xfrm>
            <a:off x="3276600" y="5410200"/>
            <a:ext cx="57150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 smtClean="0">
                <a:latin typeface="+mj-lt"/>
              </a:rPr>
              <a:t>A string literal is a set of characters enclosed by </a:t>
            </a:r>
            <a:r>
              <a:rPr lang="en-US" sz="1700" i="1" dirty="0" smtClean="0">
                <a:solidFill>
                  <a:srgbClr val="C00000"/>
                </a:solidFill>
                <a:latin typeface="+mj-lt"/>
              </a:rPr>
              <a:t>double quotes</a:t>
            </a:r>
            <a:r>
              <a:rPr lang="en-US" sz="1700" dirty="0" smtClean="0">
                <a:latin typeface="+mj-lt"/>
              </a:rPr>
              <a:t>.</a:t>
            </a:r>
            <a:endParaRPr lang="en-US" sz="17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Speak A Word?</a:t>
            </a:r>
            <a:endParaRPr lang="en-US" dirty="0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1713" y="1990725"/>
            <a:ext cx="7140575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00" dirty="0" smtClean="0"/>
              <a:t>How Does A Computer Remember A Word? [3]</a:t>
            </a:r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457200" y="1600200"/>
          <a:ext cx="3562350" cy="4457700"/>
        </p:xfrm>
        <a:graphic>
          <a:graphicData uri="http://schemas.openxmlformats.org/presentationml/2006/ole">
            <p:oleObj spid="_x0000_s2050" name="Document" r:id="rId3" imgW="5940848" imgH="6111109" progId="Word.Document.12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>
            <a:off x="3733800" y="1447800"/>
            <a:ext cx="51816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A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variable</a:t>
            </a:r>
            <a:r>
              <a:rPr lang="en-US" sz="2200" dirty="0" smtClean="0">
                <a:latin typeface="+mj-lt"/>
              </a:rPr>
              <a:t> is a memory location where a value is stored.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Before you use a variable in your program, however, you must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declare it</a:t>
            </a:r>
            <a:r>
              <a:rPr lang="en-US" sz="2200" dirty="0" smtClean="0">
                <a:latin typeface="+mj-lt"/>
              </a:rPr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Using the variable, your program can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store</a:t>
            </a:r>
            <a:r>
              <a:rPr lang="en-US" sz="2200" dirty="0" smtClean="0">
                <a:latin typeface="+mj-lt"/>
              </a:rPr>
              <a:t> or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read</a:t>
            </a:r>
            <a:r>
              <a:rPr lang="en-US" sz="2200" dirty="0" smtClean="0">
                <a:latin typeface="+mj-lt"/>
              </a:rPr>
              <a:t> </a:t>
            </a:r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the value</a:t>
            </a:r>
            <a:r>
              <a:rPr lang="en-US" sz="2200" dirty="0" smtClean="0">
                <a:latin typeface="+mj-lt"/>
              </a:rPr>
              <a:t> stored in memory.</a:t>
            </a:r>
          </a:p>
        </p:txBody>
      </p:sp>
      <p:pic>
        <p:nvPicPr>
          <p:cNvPr id="205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86200" y="4029075"/>
            <a:ext cx="380047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1800" y="3571875"/>
            <a:ext cx="203835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6"/>
          <p:cNvGraphicFramePr>
            <a:graphicFrameLocks noChangeAspect="1"/>
          </p:cNvGraphicFramePr>
          <p:nvPr/>
        </p:nvGraphicFramePr>
        <p:xfrm>
          <a:off x="304800" y="1720850"/>
          <a:ext cx="6394450" cy="5003800"/>
        </p:xfrm>
        <a:graphic>
          <a:graphicData uri="http://schemas.openxmlformats.org/presentationml/2006/ole">
            <p:oleObj spid="_x0000_s65538" name="Document" r:id="rId3" imgW="6502548" imgH="5099861" progId="Word.Document.12">
              <p:embed/>
            </p:oleObj>
          </a:graphicData>
        </a:graphic>
      </p:graphicFrame>
      <p:sp>
        <p:nvSpPr>
          <p:cNvPr id="40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How To Declare Multiple Variables? [1]</a:t>
            </a:r>
          </a:p>
        </p:txBody>
      </p:sp>
      <p:graphicFrame>
        <p:nvGraphicFramePr>
          <p:cNvPr id="6" name="Content Placeholder 12"/>
          <p:cNvGraphicFramePr>
            <a:graphicFrameLocks noGrp="1"/>
          </p:cNvGraphicFramePr>
          <p:nvPr>
            <p:ph idx="1"/>
          </p:nvPr>
        </p:nvGraphicFramePr>
        <p:xfrm>
          <a:off x="4876801" y="5867400"/>
          <a:ext cx="39623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7"/>
                <a:gridCol w="566057"/>
                <a:gridCol w="566057"/>
                <a:gridCol w="566057"/>
                <a:gridCol w="566057"/>
                <a:gridCol w="566057"/>
                <a:gridCol w="566057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3.4</a:t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4.4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20000" y="1219200"/>
          <a:ext cx="12192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FFFF00"/>
                          </a:solidFill>
                        </a:rPr>
                        <a:t>Item 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Item 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Item 2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Item 3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Item N-2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Item N - 1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96000" y="4419600"/>
          <a:ext cx="2743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4.1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4160" name="TextBox 10"/>
          <p:cNvSpPr txBox="1">
            <a:spLocks noChangeArrowheads="1"/>
          </p:cNvSpPr>
          <p:nvPr/>
        </p:nvSpPr>
        <p:spPr bwMode="auto">
          <a:xfrm>
            <a:off x="304800" y="1169313"/>
            <a:ext cx="6834179" cy="43088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Array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 is a group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of elements that are accessed by 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indexing.</a:t>
            </a:r>
            <a:endParaRPr 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Multidimensional Arrays</a:t>
            </a:r>
            <a:endParaRPr lang="en-US" dirty="0"/>
          </a:p>
        </p:txBody>
      </p:sp>
      <p:pic>
        <p:nvPicPr>
          <p:cNvPr id="81922" name="Picture 2" descr="http://web.ics.purdue.edu/~cs154/lectures/lecture017_files/image00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581400"/>
            <a:ext cx="3200400" cy="2828925"/>
          </a:xfrm>
          <a:prstGeom prst="rect">
            <a:avLst/>
          </a:prstGeom>
          <a:noFill/>
        </p:spPr>
      </p:pic>
      <p:graphicFrame>
        <p:nvGraphicFramePr>
          <p:cNvPr id="81923" name="Object 6"/>
          <p:cNvGraphicFramePr>
            <a:graphicFrameLocks noChangeAspect="1"/>
          </p:cNvGraphicFramePr>
          <p:nvPr/>
        </p:nvGraphicFramePr>
        <p:xfrm>
          <a:off x="1600200" y="1752600"/>
          <a:ext cx="6083300" cy="1390650"/>
        </p:xfrm>
        <a:graphic>
          <a:graphicData uri="http://schemas.openxmlformats.org/presentationml/2006/ole">
            <p:oleObj spid="_x0000_s81923" name="Document" r:id="rId4" imgW="6166824" imgH="1415747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Make A Simple Sentence?</a:t>
            </a:r>
            <a:endParaRPr lang="en-US" dirty="0"/>
          </a:p>
        </p:txBody>
      </p:sp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447800"/>
            <a:ext cx="725805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5105400"/>
            <a:ext cx="497205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Statement, Block Of Code</a:t>
            </a: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666750" y="1924050"/>
          <a:ext cx="7943850" cy="4533900"/>
        </p:xfrm>
        <a:graphic>
          <a:graphicData uri="http://schemas.openxmlformats.org/presentationml/2006/ole">
            <p:oleObj spid="_x0000_s3074" name="Document" r:id="rId3" imgW="6353937" imgH="3634363" progId="Word.Document.12">
              <p:embed/>
            </p:oleObj>
          </a:graphicData>
        </a:graphic>
      </p:graphicFrame>
      <p:sp>
        <p:nvSpPr>
          <p:cNvPr id="5" name="Right Brace 4"/>
          <p:cNvSpPr/>
          <p:nvPr/>
        </p:nvSpPr>
        <p:spPr>
          <a:xfrm>
            <a:off x="8305800" y="2971800"/>
            <a:ext cx="152400" cy="144780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and Assignment Operators</a:t>
            </a:r>
          </a:p>
        </p:txBody>
      </p:sp>
      <p:graphicFrame>
        <p:nvGraphicFramePr>
          <p:cNvPr id="5122" name="Object 7"/>
          <p:cNvGraphicFramePr>
            <a:graphicFrameLocks noChangeAspect="1"/>
          </p:cNvGraphicFramePr>
          <p:nvPr/>
        </p:nvGraphicFramePr>
        <p:xfrm>
          <a:off x="287338" y="2019300"/>
          <a:ext cx="4257675" cy="4230688"/>
        </p:xfrm>
        <a:graphic>
          <a:graphicData uri="http://schemas.openxmlformats.org/presentationml/2006/ole">
            <p:oleObj spid="_x0000_s5122" name="Document" r:id="rId3" imgW="4327356" imgH="4285095" progId="Word.Document.12">
              <p:embed/>
            </p:oleObj>
          </a:graphicData>
        </a:graphic>
      </p:graphicFrame>
      <p:graphicFrame>
        <p:nvGraphicFramePr>
          <p:cNvPr id="5123" name="Object 9"/>
          <p:cNvGraphicFramePr>
            <a:graphicFrameLocks noChangeAspect="1"/>
          </p:cNvGraphicFramePr>
          <p:nvPr/>
        </p:nvGraphicFramePr>
        <p:xfrm>
          <a:off x="5213350" y="1938338"/>
          <a:ext cx="3603625" cy="4545012"/>
        </p:xfrm>
        <a:graphic>
          <a:graphicData uri="http://schemas.openxmlformats.org/presentationml/2006/ole">
            <p:oleObj spid="_x0000_s5123" name="Document" r:id="rId4" imgW="3657706" imgH="4612083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Conditional And Logical Operators</a:t>
            </a:r>
          </a:p>
        </p:txBody>
      </p:sp>
      <p:graphicFrame>
        <p:nvGraphicFramePr>
          <p:cNvPr id="6146" name="Object 6"/>
          <p:cNvGraphicFramePr>
            <a:graphicFrameLocks noChangeAspect="1"/>
          </p:cNvGraphicFramePr>
          <p:nvPr/>
        </p:nvGraphicFramePr>
        <p:xfrm>
          <a:off x="476250" y="3733800"/>
          <a:ext cx="4152900" cy="2867025"/>
        </p:xfrm>
        <a:graphic>
          <a:graphicData uri="http://schemas.openxmlformats.org/presentationml/2006/ole">
            <p:oleObj spid="_x0000_s6146" name="Document" r:id="rId3" imgW="4160393" imgH="2981108" progId="Word.Document.12">
              <p:embed/>
            </p:oleObj>
          </a:graphicData>
        </a:graphic>
      </p:graphicFrame>
      <p:graphicFrame>
        <p:nvGraphicFramePr>
          <p:cNvPr id="6147" name="Object 7"/>
          <p:cNvGraphicFramePr>
            <a:graphicFrameLocks noChangeAspect="1"/>
          </p:cNvGraphicFramePr>
          <p:nvPr/>
        </p:nvGraphicFramePr>
        <p:xfrm>
          <a:off x="4889500" y="4203700"/>
          <a:ext cx="3886200" cy="1828800"/>
        </p:xfrm>
        <a:graphic>
          <a:graphicData uri="http://schemas.openxmlformats.org/presentationml/2006/ole">
            <p:oleObj spid="_x0000_s6147" name="Document" r:id="rId4" imgW="3940895" imgH="1972744" progId="Word.Document.12">
              <p:embed/>
            </p:oleObj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371600"/>
          <a:ext cx="4495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685800"/>
                <a:gridCol w="1066800"/>
                <a:gridCol w="1082040"/>
                <a:gridCol w="899160"/>
              </a:tblGrid>
              <a:tr h="167640">
                <a:tc gridSpan="5">
                  <a:txBody>
                    <a:bodyPr/>
                    <a:lstStyle/>
                    <a:p>
                      <a:r>
                        <a:rPr lang="en-US" dirty="0" smtClean="0"/>
                        <a:t>Conditional</a:t>
                      </a:r>
                      <a:r>
                        <a:rPr lang="en-US" baseline="0" dirty="0" smtClean="0"/>
                        <a:t> operators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AND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OR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a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False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True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53000" y="1371600"/>
          <a:ext cx="396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/>
                <a:gridCol w="1320800"/>
                <a:gridCol w="1320800"/>
              </a:tblGrid>
              <a:tr h="167640">
                <a:tc gridSpan="3">
                  <a:txBody>
                    <a:bodyPr/>
                    <a:lstStyle/>
                    <a:p>
                      <a:r>
                        <a:rPr lang="en-US" dirty="0" smtClean="0"/>
                        <a:t>Logical</a:t>
                      </a:r>
                      <a:r>
                        <a:rPr lang="en-US" baseline="0" dirty="0" smtClean="0"/>
                        <a:t> operators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Decimal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00000001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00000011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0" dirty="0" smtClean="0"/>
                        <a:t> AND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00000001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a OR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00000011</a:t>
                      </a:r>
                      <a:endParaRPr lang="en-US" dirty="0"/>
                    </a:p>
                  </a:txBody>
                  <a:tcPr/>
                </a:tc>
              </a:tr>
              <a:tr h="1676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0" dirty="0" smtClean="0"/>
                        <a:t> XOR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00000010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600200" y="5890736"/>
            <a:ext cx="3048000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If the result of the entire operation can be determined by </a:t>
            </a:r>
            <a:r>
              <a:rPr lang="en-US" sz="1400" i="1" dirty="0" smtClean="0">
                <a:solidFill>
                  <a:srgbClr val="C00000"/>
                </a:solidFill>
                <a:latin typeface="+mj-lt"/>
              </a:rPr>
              <a:t>the first argument</a:t>
            </a:r>
            <a:r>
              <a:rPr lang="en-US" sz="1400" dirty="0" smtClean="0">
                <a:latin typeface="+mj-lt"/>
              </a:rPr>
              <a:t>, the second argument is not evaluated.</a:t>
            </a:r>
            <a:endParaRPr lang="en-US" sz="1400" dirty="0">
              <a:latin typeface="+mj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76800" y="6096000"/>
            <a:ext cx="396240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 smtClean="0">
                <a:latin typeface="+mj-lt"/>
              </a:rPr>
              <a:t>Bitwise operations have to evaluate </a:t>
            </a:r>
            <a:r>
              <a:rPr lang="en-US" sz="1400" i="1" dirty="0" smtClean="0">
                <a:solidFill>
                  <a:srgbClr val="C00000"/>
                </a:solidFill>
                <a:latin typeface="+mj-lt"/>
              </a:rPr>
              <a:t>both sides</a:t>
            </a:r>
            <a:r>
              <a:rPr lang="en-US" sz="1400" dirty="0" smtClean="0">
                <a:latin typeface="+mj-lt"/>
              </a:rPr>
              <a:t> in order to compute the final value.</a:t>
            </a:r>
            <a:endParaRPr lang="en-US" sz="1400" dirty="0">
              <a:latin typeface="+mj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Relational, Increment, Decrement, and Shift Operators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381000" y="1828800"/>
          <a:ext cx="5876925" cy="4895850"/>
        </p:xfrm>
        <a:graphic>
          <a:graphicData uri="http://schemas.openxmlformats.org/presentationml/2006/ole">
            <p:oleObj spid="_x0000_s7170" name="Document" r:id="rId3" imgW="5940848" imgH="4954213" progId="Word.Document.12">
              <p:embed/>
            </p:oleObj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524000"/>
          <a:ext cx="3429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1447800"/>
                <a:gridCol w="1143000"/>
              </a:tblGrid>
              <a:tr h="235131">
                <a:tc gridSpan="3">
                  <a:txBody>
                    <a:bodyPr/>
                    <a:lstStyle/>
                    <a:p>
                      <a:r>
                        <a:rPr lang="en-US" dirty="0" smtClean="0"/>
                        <a:t>Bitwise</a:t>
                      </a:r>
                      <a:r>
                        <a:rPr lang="en-US" baseline="0" dirty="0" smtClean="0"/>
                        <a:t> operators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Decimal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Binary</a:t>
                      </a:r>
                      <a:endParaRPr lang="en-US" dirty="0"/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00000011</a:t>
                      </a:r>
                      <a:endParaRPr lang="en-US" dirty="0"/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i</a:t>
                      </a:r>
                      <a:r>
                        <a:rPr lang="en-US" baseline="0" dirty="0" smtClean="0"/>
                        <a:t> &lt;&lt;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00000110</a:t>
                      </a:r>
                      <a:endParaRPr lang="en-US" dirty="0"/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i</a:t>
                      </a:r>
                      <a:r>
                        <a:rPr lang="en-US" baseline="0" dirty="0" smtClean="0"/>
                        <a:t> &lt;&lt;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00001100</a:t>
                      </a:r>
                      <a:endParaRPr lang="en-US" dirty="0"/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r>
                        <a:rPr lang="en-US" dirty="0" smtClean="0"/>
                        <a:t>i &gt;&gt;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00000001</a:t>
                      </a:r>
                      <a:endParaRPr lang="en-US" dirty="0"/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i &gt;&gt;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00000000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171" name="Object 8"/>
          <p:cNvGraphicFramePr>
            <a:graphicFrameLocks noChangeAspect="1"/>
          </p:cNvGraphicFramePr>
          <p:nvPr/>
        </p:nvGraphicFramePr>
        <p:xfrm>
          <a:off x="457200" y="4648200"/>
          <a:ext cx="5943600" cy="1190625"/>
        </p:xfrm>
        <a:graphic>
          <a:graphicData uri="http://schemas.openxmlformats.org/presentationml/2006/ole">
            <p:oleObj spid="_x0000_s7171" name="Document" r:id="rId4" imgW="5940848" imgH="1192227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Make A Complex Sentence?</a:t>
            </a:r>
            <a:endParaRPr lang="en-US" dirty="0"/>
          </a:p>
        </p:txBody>
      </p:sp>
      <p:pic>
        <p:nvPicPr>
          <p:cNvPr id="675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514600"/>
            <a:ext cx="5276850" cy="288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2971800"/>
            <a:ext cx="2286000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Selection Statements</a:t>
            </a: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307975" y="1143000"/>
          <a:ext cx="2511425" cy="5554663"/>
        </p:xfrm>
        <a:graphic>
          <a:graphicData uri="http://schemas.openxmlformats.org/presentationml/2006/ole">
            <p:oleObj spid="_x0000_s8194" name="Document" r:id="rId3" imgW="2593319" imgH="5858387" progId="Word.Document.12">
              <p:embed/>
            </p:oleObj>
          </a:graphicData>
        </a:graphic>
      </p:graphicFrame>
      <p:graphicFrame>
        <p:nvGraphicFramePr>
          <p:cNvPr id="8195" name="Object 4"/>
          <p:cNvGraphicFramePr>
            <a:graphicFrameLocks/>
          </p:cNvGraphicFramePr>
          <p:nvPr/>
        </p:nvGraphicFramePr>
        <p:xfrm>
          <a:off x="6045200" y="2660650"/>
          <a:ext cx="3098800" cy="4013200"/>
        </p:xfrm>
        <a:graphic>
          <a:graphicData uri="http://schemas.openxmlformats.org/presentationml/2006/ole">
            <p:oleObj spid="_x0000_s8195" name="Document" r:id="rId4" imgW="3148902" imgH="4063738" progId="Word.Document.12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52600" y="1371600"/>
            <a:ext cx="4044697" cy="92333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 (Boolean-expression)     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statement1 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[else     statement2]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2600" y="3124200"/>
            <a:ext cx="4182555" cy="258532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switch (expression)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   case constant-expression: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       statement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       jump-statement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   case constant-expression: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       statement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       jump-statement</a:t>
            </a:r>
          </a:p>
          <a:p>
            <a:pPr>
              <a:defRPr/>
            </a:pPr>
            <a:r>
              <a:rPr lang="en-US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    [default]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Iteration Statements 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dirty="0" smtClean="0"/>
              <a:t>)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300038" y="2211388"/>
          <a:ext cx="4491037" cy="4503737"/>
        </p:xfrm>
        <a:graphic>
          <a:graphicData uri="http://schemas.openxmlformats.org/presentationml/2006/ole">
            <p:oleObj spid="_x0000_s9218" name="Document" r:id="rId3" imgW="4635373" imgH="4628667" progId="Word.Document.12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1295400"/>
            <a:ext cx="8000908" cy="76944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 (initialization; Boolean-expression; step)</a:t>
            </a:r>
          </a:p>
          <a:p>
            <a:pPr>
              <a:defRPr/>
            </a:pP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embedded-statement</a:t>
            </a:r>
          </a:p>
        </p:txBody>
      </p:sp>
      <p:graphicFrame>
        <p:nvGraphicFramePr>
          <p:cNvPr id="9219" name="Object 5"/>
          <p:cNvGraphicFramePr>
            <a:graphicFrameLocks noChangeAspect="1"/>
          </p:cNvGraphicFramePr>
          <p:nvPr/>
        </p:nvGraphicFramePr>
        <p:xfrm>
          <a:off x="5159375" y="2279650"/>
          <a:ext cx="3738563" cy="2606675"/>
        </p:xfrm>
        <a:graphic>
          <a:graphicData uri="http://schemas.openxmlformats.org/presentationml/2006/ole">
            <p:oleObj spid="_x0000_s9219" name="Document" r:id="rId4" imgW="3856334" imgH="2928112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Iteration Statements 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 smtClean="0"/>
              <a:t>)</a:t>
            </a: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614363" y="1528763"/>
          <a:ext cx="3327400" cy="4781550"/>
        </p:xfrm>
        <a:graphic>
          <a:graphicData uri="http://schemas.openxmlformats.org/presentationml/2006/ole">
            <p:oleObj spid="_x0000_s10242" name="Document" r:id="rId3" imgW="3319462" imgH="4772152" progId="Word.Document.12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19600" y="1524000"/>
            <a:ext cx="4602542" cy="76944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while (Boolean-expression)</a:t>
            </a:r>
          </a:p>
          <a:p>
            <a:pPr>
              <a:defRPr/>
            </a:pP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embedded-statement</a:t>
            </a:r>
          </a:p>
        </p:txBody>
      </p:sp>
      <p:graphicFrame>
        <p:nvGraphicFramePr>
          <p:cNvPr id="10243" name="Object 3"/>
          <p:cNvGraphicFramePr>
            <a:graphicFrameLocks/>
          </p:cNvGraphicFramePr>
          <p:nvPr/>
        </p:nvGraphicFramePr>
        <p:xfrm>
          <a:off x="5049838" y="2606675"/>
          <a:ext cx="3556000" cy="3857625"/>
        </p:xfrm>
        <a:graphic>
          <a:graphicData uri="http://schemas.openxmlformats.org/presentationml/2006/ole">
            <p:oleObj spid="_x0000_s10243" name="Document" r:id="rId4" imgW="3540400" imgH="3849952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Iteration Statements (</a:t>
            </a:r>
            <a:r>
              <a:rPr lang="en-US" sz="4000" dirty="0" smtClean="0">
                <a:latin typeface="Courier New" pitchFamily="49" charset="0"/>
                <a:cs typeface="Courier New" pitchFamily="49" charset="0"/>
              </a:rPr>
              <a:t>do… while</a:t>
            </a:r>
            <a:r>
              <a:rPr lang="en-US" sz="4000" dirty="0" smtClean="0"/>
              <a:t>)</a:t>
            </a:r>
          </a:p>
        </p:txBody>
      </p:sp>
      <p:graphicFrame>
        <p:nvGraphicFramePr>
          <p:cNvPr id="11266" name="Object 2"/>
          <p:cNvGraphicFramePr>
            <a:graphicFrameLocks/>
          </p:cNvGraphicFramePr>
          <p:nvPr/>
        </p:nvGraphicFramePr>
        <p:xfrm>
          <a:off x="382588" y="1371600"/>
          <a:ext cx="3729037" cy="5457825"/>
        </p:xfrm>
        <a:graphic>
          <a:graphicData uri="http://schemas.openxmlformats.org/presentationml/2006/ole">
            <p:oleObj spid="_x0000_s11266" name="Document" r:id="rId3" imgW="3740827" imgH="5463622" progId="Word.Document.12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19600" y="1371600"/>
            <a:ext cx="4602542" cy="110799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</a:t>
            </a:r>
          </a:p>
          <a:p>
            <a:pPr>
              <a:defRPr/>
            </a:pP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embedded-statement</a:t>
            </a:r>
          </a:p>
          <a:p>
            <a:pPr>
              <a:defRPr/>
            </a:pP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while (Boolean-expression)</a:t>
            </a:r>
          </a:p>
        </p:txBody>
      </p:sp>
      <p:graphicFrame>
        <p:nvGraphicFramePr>
          <p:cNvPr id="11267" name="Object 3"/>
          <p:cNvGraphicFramePr>
            <a:graphicFrameLocks/>
          </p:cNvGraphicFramePr>
          <p:nvPr/>
        </p:nvGraphicFramePr>
        <p:xfrm>
          <a:off x="4995863" y="2667000"/>
          <a:ext cx="3363912" cy="4089400"/>
        </p:xfrm>
        <a:graphic>
          <a:graphicData uri="http://schemas.openxmlformats.org/presentationml/2006/ole">
            <p:oleObj spid="_x0000_s11267" name="Document" r:id="rId4" imgW="3355806" imgH="4080682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dirty="0" smtClean="0"/>
              <a:t>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2400" y="1752600"/>
            <a:ext cx="4942379" cy="110799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i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foreach</a:t>
            </a: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(type in expression)</a:t>
            </a:r>
          </a:p>
          <a:p>
            <a:pPr>
              <a:defRPr/>
            </a:pPr>
            <a:endParaRPr lang="en-US" sz="2200" i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200" i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embedded-statement</a:t>
            </a:r>
          </a:p>
        </p:txBody>
      </p:sp>
      <p:graphicFrame>
        <p:nvGraphicFramePr>
          <p:cNvPr id="12290" name="Object 6"/>
          <p:cNvGraphicFramePr>
            <a:graphicFrameLocks noChangeAspect="1"/>
          </p:cNvGraphicFramePr>
          <p:nvPr/>
        </p:nvGraphicFramePr>
        <p:xfrm>
          <a:off x="204788" y="1501775"/>
          <a:ext cx="3671887" cy="4216400"/>
        </p:xfrm>
        <a:graphic>
          <a:graphicData uri="http://schemas.openxmlformats.org/presentationml/2006/ole">
            <p:oleObj spid="_x0000_s12290" name="Document" r:id="rId3" imgW="3730752" imgH="5200085" progId="Word.Document.12">
              <p:embed/>
            </p:oleObj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67400" y="2971800"/>
          <a:ext cx="762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</a:tblGrid>
              <a:tr h="71120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bg1"/>
                          </a:solidFill>
                        </a:rPr>
                        <a:t>Ngo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bg1"/>
                          </a:solidFill>
                        </a:rPr>
                        <a:t>Huy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bg1"/>
                          </a:solidFill>
                        </a:rPr>
                        <a:t>Bien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2400" y="3886200"/>
          <a:ext cx="1143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</a:tblGrid>
              <a:tr h="28956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student</a:t>
                      </a:r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ight Arrow 10"/>
          <p:cNvSpPr/>
          <p:nvPr/>
        </p:nvSpPr>
        <p:spPr>
          <a:xfrm>
            <a:off x="5105400" y="3276600"/>
            <a:ext cx="762000" cy="152400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5105400" y="3962400"/>
            <a:ext cx="762000" cy="152400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5105400" y="4572000"/>
            <a:ext cx="762000" cy="152400"/>
          </a:xfrm>
          <a:prstGeom prst="right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3886200" y="5257800"/>
          <a:ext cx="3562350" cy="1404937"/>
        </p:xfrm>
        <a:graphic>
          <a:graphicData uri="http://schemas.openxmlformats.org/presentationml/2006/ole">
            <p:oleObj spid="_x0000_s12293" name="Document" r:id="rId4" imgW="3616685" imgH="1569327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try/catch/finally</a:t>
            </a:r>
          </a:p>
        </p:txBody>
      </p:sp>
      <p:graphicFrame>
        <p:nvGraphicFramePr>
          <p:cNvPr id="61441" name="Object 1"/>
          <p:cNvGraphicFramePr>
            <a:graphicFrameLocks/>
          </p:cNvGraphicFramePr>
          <p:nvPr/>
        </p:nvGraphicFramePr>
        <p:xfrm>
          <a:off x="763588" y="4189413"/>
          <a:ext cx="3384550" cy="2333625"/>
        </p:xfrm>
        <a:graphic>
          <a:graphicData uri="http://schemas.openxmlformats.org/presentationml/2006/ole">
            <p:oleObj spid="_x0000_s61441" name="Document" r:id="rId3" imgW="3379195" imgH="2338668" progId="Word.Document.12">
              <p:embed/>
            </p:oleObj>
          </a:graphicData>
        </a:graphic>
      </p:graphicFrame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5800" y="3429000"/>
            <a:ext cx="333375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1295400"/>
            <a:ext cx="333375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1444" name="Object 4"/>
          <p:cNvGraphicFramePr>
            <a:graphicFrameLocks/>
          </p:cNvGraphicFramePr>
          <p:nvPr/>
        </p:nvGraphicFramePr>
        <p:xfrm>
          <a:off x="4340225" y="1446213"/>
          <a:ext cx="4325938" cy="1747837"/>
        </p:xfrm>
        <a:graphic>
          <a:graphicData uri="http://schemas.openxmlformats.org/presentationml/2006/ole">
            <p:oleObj spid="_x0000_s61444" name="Document" r:id="rId6" imgW="4324837" imgH="1757516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Make A Paragraph</a:t>
            </a:r>
            <a:endParaRPr lang="en-US" dirty="0"/>
          </a:p>
        </p:txBody>
      </p:sp>
      <p:pic>
        <p:nvPicPr>
          <p:cNvPr id="72706" name="Picture 2" descr="https://lowellacuff.files.wordpress.com/2012/11/picture-50.png?w=64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2133600"/>
            <a:ext cx="28575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Function/Method [3]</a:t>
            </a: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614363" y="1446213"/>
          <a:ext cx="4040187" cy="3098800"/>
        </p:xfrm>
        <a:graphic>
          <a:graphicData uri="http://schemas.openxmlformats.org/presentationml/2006/ole">
            <p:oleObj spid="_x0000_s13314" name="Document" r:id="rId3" imgW="4106058" imgH="3179392" progId="Word.Document.12">
              <p:embed/>
            </p:oleObj>
          </a:graphicData>
        </a:graphic>
      </p:graphicFrame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4899025" y="1487488"/>
          <a:ext cx="3767138" cy="2143125"/>
        </p:xfrm>
        <a:graphic>
          <a:graphicData uri="http://schemas.openxmlformats.org/presentationml/2006/ole">
            <p:oleObj spid="_x0000_s13315" name="Document" r:id="rId4" imgW="3823949" imgH="2169586" progId="Word.Document.12">
              <p:embed/>
            </p:oleObj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0" y="4724400"/>
          <a:ext cx="3886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 anchor="ctr"/>
                </a:tc>
              </a:tr>
              <a:tr h="8001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Statement1,</a:t>
                      </a:r>
                      <a:r>
                        <a:rPr lang="en-US" baseline="0" dirty="0" smtClean="0"/>
                        <a:t> statement2, statement3,…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ight Arrow 7"/>
          <p:cNvSpPr/>
          <p:nvPr/>
        </p:nvSpPr>
        <p:spPr>
          <a:xfrm>
            <a:off x="914400" y="4876800"/>
            <a:ext cx="1828800" cy="1295400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Inputs (parameters)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629400" y="4876800"/>
            <a:ext cx="2133600" cy="1219200"/>
          </a:xfrm>
          <a:prstGeom prst="right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Outputs</a:t>
            </a:r>
          </a:p>
          <a:p>
            <a:pPr algn="ctr">
              <a:defRPr/>
            </a:pPr>
            <a:r>
              <a:rPr lang="en-US" dirty="0"/>
              <a:t>(return values)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600" y="3726359"/>
            <a:ext cx="4800600" cy="76944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200" i="1" dirty="0" smtClean="0">
                <a:solidFill>
                  <a:srgbClr val="C00000"/>
                </a:solidFill>
                <a:latin typeface="+mj-lt"/>
              </a:rPr>
              <a:t>Methods are blocks of code that can be called and executed from other code.</a:t>
            </a:r>
            <a:endParaRPr lang="en-US" sz="2200" i="1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Outputs</a:t>
            </a:r>
            <a:endParaRPr lang="en-US" dirty="0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609600" y="1676400"/>
          <a:ext cx="5943600" cy="2724150"/>
        </p:xfrm>
        <a:graphic>
          <a:graphicData uri="http://schemas.openxmlformats.org/presentationml/2006/ole">
            <p:oleObj spid="_x0000_s97283" name="Document" r:id="rId3" imgW="5940848" imgH="2861056" progId="Word.Document.12">
              <p:embed/>
            </p:oleObj>
          </a:graphicData>
        </a:graphic>
      </p:graphicFrame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609600" y="4495800"/>
          <a:ext cx="6604000" cy="1574800"/>
        </p:xfrm>
        <a:graphic>
          <a:graphicData uri="http://schemas.openxmlformats.org/presentationml/2006/ole">
            <p:oleObj spid="_x0000_s97285" name="Document" r:id="rId4" imgW="6600783" imgH="1576537" progId="Word.Document.12">
              <p:embed/>
            </p:oleObj>
          </a:graphicData>
        </a:graphic>
      </p:graphicFrame>
      <p:pic>
        <p:nvPicPr>
          <p:cNvPr id="9728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1676400"/>
            <a:ext cx="262890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own Arrow 14"/>
          <p:cNvSpPr/>
          <p:nvPr/>
        </p:nvSpPr>
        <p:spPr>
          <a:xfrm>
            <a:off x="990600" y="1295400"/>
            <a:ext cx="914400" cy="685800"/>
          </a:xfrm>
          <a:prstGeom prst="downArrow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4876800" y="4267200"/>
            <a:ext cx="914400" cy="685800"/>
          </a:xfrm>
          <a:prstGeom prst="downArrow">
            <a:avLst/>
          </a:prstGeom>
          <a:solidFill>
            <a:schemeClr val="accent4">
              <a:alpha val="2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406400" y="1631950"/>
          <a:ext cx="8483600" cy="4546600"/>
        </p:xfrm>
        <a:graphic>
          <a:graphicData uri="http://schemas.openxmlformats.org/presentationml/2006/ole">
            <p:oleObj spid="_x0000_s99330" name="Document" r:id="rId3" imgW="8479832" imgH="4586486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Express Your Ideas</a:t>
            </a:r>
            <a:endParaRPr lang="en-US" dirty="0"/>
          </a:p>
        </p:txBody>
      </p:sp>
      <p:pic>
        <p:nvPicPr>
          <p:cNvPr id="1003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438400"/>
            <a:ext cx="28575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03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38525" y="2133600"/>
            <a:ext cx="524827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dirty="0" smtClean="0"/>
              <a:t> Method</a:t>
            </a:r>
          </a:p>
        </p:txBody>
      </p:sp>
      <p:graphicFrame>
        <p:nvGraphicFramePr>
          <p:cNvPr id="14338" name="Object 7"/>
          <p:cNvGraphicFramePr>
            <a:graphicFrameLocks noChangeAspect="1"/>
          </p:cNvGraphicFramePr>
          <p:nvPr/>
        </p:nvGraphicFramePr>
        <p:xfrm>
          <a:off x="304800" y="1524000"/>
          <a:ext cx="4708525" cy="1065213"/>
        </p:xfrm>
        <a:graphic>
          <a:graphicData uri="http://schemas.openxmlformats.org/presentationml/2006/ole">
            <p:oleObj spid="_x0000_s14338" name="Document" r:id="rId3" imgW="4784344" imgH="1083711" progId="Word.Document.12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514600" y="1447800"/>
            <a:ext cx="3852337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Consolas" pitchFamily="49" charset="0"/>
              </a:rPr>
              <a:t>Application’s entry point.</a:t>
            </a:r>
            <a:endParaRPr lang="en-US" sz="2000" i="1" dirty="0">
              <a:solidFill>
                <a:schemeClr val="bg1"/>
              </a:solidFill>
              <a:latin typeface="Consolas" pitchFamily="49" charset="0"/>
            </a:endParaRPr>
          </a:p>
        </p:txBody>
      </p:sp>
      <p:graphicFrame>
        <p:nvGraphicFramePr>
          <p:cNvPr id="14339" name="Object 9"/>
          <p:cNvGraphicFramePr>
            <a:graphicFrameLocks noChangeAspect="1"/>
          </p:cNvGraphicFramePr>
          <p:nvPr/>
        </p:nvGraphicFramePr>
        <p:xfrm>
          <a:off x="303213" y="2828925"/>
          <a:ext cx="5868987" cy="1133475"/>
        </p:xfrm>
        <a:graphic>
          <a:graphicData uri="http://schemas.openxmlformats.org/presentationml/2006/ole">
            <p:oleObj spid="_x0000_s14339" name="Document" r:id="rId4" imgW="5940848" imgH="1316244" progId="Word.Document.12">
              <p:embed/>
            </p:oleObj>
          </a:graphicData>
        </a:graphic>
      </p:graphicFrame>
      <p:graphicFrame>
        <p:nvGraphicFramePr>
          <p:cNvPr id="14340" name="Object 10"/>
          <p:cNvGraphicFramePr>
            <a:graphicFrameLocks noChangeAspect="1"/>
          </p:cNvGraphicFramePr>
          <p:nvPr/>
        </p:nvGraphicFramePr>
        <p:xfrm>
          <a:off x="271463" y="3962400"/>
          <a:ext cx="7424737" cy="1816100"/>
        </p:xfrm>
        <a:graphic>
          <a:graphicData uri="http://schemas.openxmlformats.org/presentationml/2006/ole">
            <p:oleObj spid="_x0000_s14340" name="Document" r:id="rId5" imgW="7533471" imgH="1837911" progId="Word.Document.12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3400" y="2209800"/>
            <a:ext cx="3711272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chemeClr val="bg1"/>
                </a:solidFill>
                <a:latin typeface="Consolas" pitchFamily="49" charset="0"/>
              </a:rPr>
              <a:t>Application’s </a:t>
            </a:r>
            <a:r>
              <a:rPr lang="en-US" sz="2000" dirty="0" smtClean="0">
                <a:solidFill>
                  <a:schemeClr val="bg1"/>
                </a:solidFill>
                <a:latin typeface="Consolas" pitchFamily="49" charset="0"/>
              </a:rPr>
              <a:t>exit </a:t>
            </a:r>
            <a:r>
              <a:rPr lang="en-US" sz="2000" dirty="0">
                <a:solidFill>
                  <a:schemeClr val="bg1"/>
                </a:solidFill>
                <a:latin typeface="Consolas" pitchFamily="49" charset="0"/>
              </a:rPr>
              <a:t>point.</a:t>
            </a:r>
            <a:endParaRPr lang="en-US" sz="2000" i="1" dirty="0">
              <a:solidFill>
                <a:schemeClr val="bg1"/>
              </a:solidFill>
              <a:latin typeface="Consolas" pitchFamily="49" charset="0"/>
            </a:endParaRPr>
          </a:p>
        </p:txBody>
      </p:sp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05400" y="3048000"/>
            <a:ext cx="348615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38600" y="5181600"/>
            <a:ext cx="45529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10078</TotalTime>
  <Words>560</Words>
  <Application>Microsoft Office PowerPoint</Application>
  <PresentationFormat>On-screen Show (4:3)</PresentationFormat>
  <Paragraphs>172</Paragraphs>
  <Slides>37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9" baseType="lpstr">
      <vt:lpstr>Office Theme</vt:lpstr>
      <vt:lpstr>Document</vt:lpstr>
      <vt:lpstr>Fundamental Programming Concepts</vt:lpstr>
      <vt:lpstr>Objectives</vt:lpstr>
      <vt:lpstr>References</vt:lpstr>
      <vt:lpstr>Applications</vt:lpstr>
      <vt:lpstr>Source Code</vt:lpstr>
      <vt:lpstr>Integrated Development Environment</vt:lpstr>
      <vt:lpstr>What You Need</vt:lpstr>
      <vt:lpstr>Running and Debugging an Application</vt:lpstr>
      <vt:lpstr>1. Install Visual Studio Code</vt:lpstr>
      <vt:lpstr>2. Launch Visual Studio Code</vt:lpstr>
      <vt:lpstr>Programming Languages</vt:lpstr>
      <vt:lpstr>Why C#?</vt:lpstr>
      <vt:lpstr>How To Speak A Language?</vt:lpstr>
      <vt:lpstr>Primitive Types [1, 2]</vt:lpstr>
      <vt:lpstr>How To Speak A Word?</vt:lpstr>
      <vt:lpstr>How Does A Computer Remember A Word? [3]</vt:lpstr>
      <vt:lpstr>How To Declare Multiple Variables? [1]</vt:lpstr>
      <vt:lpstr>Multidimensional Arrays</vt:lpstr>
      <vt:lpstr>How To Make A Simple Sentence?</vt:lpstr>
      <vt:lpstr>Statement, Block Of Code</vt:lpstr>
      <vt:lpstr>Arithmetic and Assignment Operators</vt:lpstr>
      <vt:lpstr>Conditional And Logical Operators</vt:lpstr>
      <vt:lpstr>Relational, Increment, Decrement, and Shift Operators</vt:lpstr>
      <vt:lpstr>How To Make A Complex Sentence?</vt:lpstr>
      <vt:lpstr>Selection Statements</vt:lpstr>
      <vt:lpstr>Iteration Statements (for)</vt:lpstr>
      <vt:lpstr>Iteration Statements (while)</vt:lpstr>
      <vt:lpstr>Iteration Statements (do… while)</vt:lpstr>
      <vt:lpstr>foreach Iteration</vt:lpstr>
      <vt:lpstr>try/catch/finally</vt:lpstr>
      <vt:lpstr>How To Make A Paragraph</vt:lpstr>
      <vt:lpstr>Function/Method [3]</vt:lpstr>
      <vt:lpstr>Multiple Outputs</vt:lpstr>
      <vt:lpstr>Exercise</vt:lpstr>
      <vt:lpstr>How to Express Your Ideas</vt:lpstr>
      <vt:lpstr>Main Method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4132</cp:revision>
  <dcterms:created xsi:type="dcterms:W3CDTF">2007-10-06T08:25:13Z</dcterms:created>
  <dcterms:modified xsi:type="dcterms:W3CDTF">2025-08-16T19:01:27Z</dcterms:modified>
</cp:coreProperties>
</file>