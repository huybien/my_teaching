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24"/>
  </p:notesMasterIdLst>
  <p:handoutMasterIdLst>
    <p:handoutMasterId r:id="rId25"/>
  </p:handoutMasterIdLst>
  <p:sldIdLst>
    <p:sldId id="256" r:id="rId2"/>
    <p:sldId id="415" r:id="rId3"/>
    <p:sldId id="386" r:id="rId4"/>
    <p:sldId id="348" r:id="rId5"/>
    <p:sldId id="418" r:id="rId6"/>
    <p:sldId id="371" r:id="rId7"/>
    <p:sldId id="429" r:id="rId8"/>
    <p:sldId id="372" r:id="rId9"/>
    <p:sldId id="373" r:id="rId10"/>
    <p:sldId id="399" r:id="rId11"/>
    <p:sldId id="434" r:id="rId12"/>
    <p:sldId id="420" r:id="rId13"/>
    <p:sldId id="400" r:id="rId14"/>
    <p:sldId id="402" r:id="rId15"/>
    <p:sldId id="431" r:id="rId16"/>
    <p:sldId id="433" r:id="rId17"/>
    <p:sldId id="428" r:id="rId18"/>
    <p:sldId id="407" r:id="rId19"/>
    <p:sldId id="408" r:id="rId20"/>
    <p:sldId id="409" r:id="rId21"/>
    <p:sldId id="410" r:id="rId22"/>
    <p:sldId id="398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76" autoAdjust="0"/>
    <p:restoredTop sz="94667" autoAdjust="0"/>
  </p:normalViewPr>
  <p:slideViewPr>
    <p:cSldViewPr>
      <p:cViewPr>
        <p:scale>
          <a:sx n="60" d="100"/>
          <a:sy n="60" d="100"/>
        </p:scale>
        <p:origin x="-1186" y="-1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B6CC20-F782-49BF-9298-58220EE33FB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8EF1E8-8906-4BD4-9C15-F626A58FDCC6}">
      <dgm:prSet phldrT="[Text]" custT="1"/>
      <dgm:spPr/>
      <dgm:t>
        <a:bodyPr/>
        <a:lstStyle/>
        <a:p>
          <a:r>
            <a:rPr lang="en-US" sz="2400" dirty="0" err="1" smtClean="0"/>
            <a:t>Các</a:t>
          </a:r>
          <a:r>
            <a:rPr lang="en-US" sz="2400" dirty="0" smtClean="0"/>
            <a:t> </a:t>
          </a:r>
          <a:r>
            <a:rPr lang="en-US" sz="2400" dirty="0" err="1" smtClean="0"/>
            <a:t>thành</a:t>
          </a:r>
          <a:r>
            <a:rPr lang="en-US" sz="2400" dirty="0" smtClean="0"/>
            <a:t> </a:t>
          </a:r>
          <a:r>
            <a:rPr lang="en-US" sz="2400" dirty="0" err="1" smtClean="0"/>
            <a:t>viên</a:t>
          </a:r>
          <a:r>
            <a:rPr lang="en-US" sz="2400" dirty="0" smtClean="0"/>
            <a:t> </a:t>
          </a:r>
          <a:r>
            <a:rPr lang="en-US" sz="2400" dirty="0" err="1" smtClean="0"/>
            <a:t>tự</a:t>
          </a:r>
          <a:r>
            <a:rPr lang="en-US" sz="2400" dirty="0" smtClean="0"/>
            <a:t> </a:t>
          </a:r>
          <a:r>
            <a:rPr lang="en-US" sz="2400" dirty="0" err="1" smtClean="0"/>
            <a:t>thành</a:t>
          </a:r>
          <a:r>
            <a:rPr lang="en-US" sz="2400" dirty="0" smtClean="0"/>
            <a:t> </a:t>
          </a:r>
          <a:r>
            <a:rPr lang="en-US" sz="2400" dirty="0" err="1" smtClean="0"/>
            <a:t>lập</a:t>
          </a:r>
          <a:r>
            <a:rPr lang="en-US" sz="2400" dirty="0" smtClean="0"/>
            <a:t> </a:t>
          </a:r>
          <a:r>
            <a:rPr lang="en-US" sz="2400" dirty="0" err="1" smtClean="0"/>
            <a:t>nhóm</a:t>
          </a:r>
          <a:r>
            <a:rPr lang="en-US" sz="2400" dirty="0" smtClean="0"/>
            <a:t> (</a:t>
          </a:r>
          <a:r>
            <a:rPr lang="en-US" sz="2400" dirty="0" err="1" smtClean="0"/>
            <a:t>tối</a:t>
          </a:r>
          <a:r>
            <a:rPr lang="en-US" sz="2400" dirty="0" smtClean="0"/>
            <a:t> </a:t>
          </a:r>
          <a:r>
            <a:rPr lang="en-US" sz="2400" dirty="0" err="1" smtClean="0"/>
            <a:t>đa</a:t>
          </a:r>
          <a:r>
            <a:rPr lang="en-US" sz="2400" dirty="0" smtClean="0"/>
            <a:t> 5 </a:t>
          </a:r>
          <a:r>
            <a:rPr lang="en-US" sz="2400" dirty="0" err="1" smtClean="0"/>
            <a:t>người</a:t>
          </a:r>
          <a:r>
            <a:rPr lang="en-US" sz="2400" dirty="0" smtClean="0"/>
            <a:t>) </a:t>
          </a:r>
          <a:r>
            <a:rPr lang="en-US" sz="2400" dirty="0" err="1" smtClean="0"/>
            <a:t>và</a:t>
          </a:r>
          <a:r>
            <a:rPr lang="en-US" sz="2400" dirty="0" smtClean="0"/>
            <a:t> </a:t>
          </a:r>
          <a:r>
            <a:rPr lang="en-US" sz="2400" dirty="0" err="1" smtClean="0"/>
            <a:t>gửi</a:t>
          </a:r>
          <a:r>
            <a:rPr lang="en-US" sz="2400" dirty="0" smtClean="0"/>
            <a:t> </a:t>
          </a:r>
          <a:r>
            <a:rPr lang="en-US" sz="2400" dirty="0" err="1" smtClean="0"/>
            <a:t>danh</a:t>
          </a:r>
          <a:r>
            <a:rPr lang="en-US" sz="2400" dirty="0" smtClean="0"/>
            <a:t> </a:t>
          </a:r>
          <a:r>
            <a:rPr lang="en-US" sz="2400" dirty="0" err="1" smtClean="0"/>
            <a:t>sách</a:t>
          </a:r>
          <a:r>
            <a:rPr lang="en-US" sz="2400" dirty="0" smtClean="0"/>
            <a:t> </a:t>
          </a:r>
          <a:r>
            <a:rPr lang="en-US" sz="2400" dirty="0" err="1" smtClean="0"/>
            <a:t>cho</a:t>
          </a:r>
          <a:r>
            <a:rPr lang="en-US" sz="2400" dirty="0" smtClean="0"/>
            <a:t> </a:t>
          </a:r>
          <a:r>
            <a:rPr lang="en-US" sz="2400" dirty="0" err="1" smtClean="0"/>
            <a:t>lớp</a:t>
          </a:r>
          <a:r>
            <a:rPr lang="en-US" sz="2400" dirty="0" smtClean="0"/>
            <a:t> </a:t>
          </a:r>
          <a:r>
            <a:rPr lang="en-US" sz="2400" dirty="0" err="1" smtClean="0"/>
            <a:t>trưởng</a:t>
          </a:r>
          <a:r>
            <a:rPr lang="en-US" sz="2400" dirty="0" smtClean="0"/>
            <a:t>.</a:t>
          </a:r>
          <a:endParaRPr lang="en-US" sz="2400" dirty="0"/>
        </a:p>
      </dgm:t>
    </dgm:pt>
    <dgm:pt modelId="{6BF9AFB6-11BE-4F14-A5D0-09999DA7A0B2}" type="parTrans" cxnId="{EA4A31DB-F72F-4AE4-B17E-AD33121C3939}">
      <dgm:prSet/>
      <dgm:spPr/>
      <dgm:t>
        <a:bodyPr/>
        <a:lstStyle/>
        <a:p>
          <a:endParaRPr lang="en-US"/>
        </a:p>
      </dgm:t>
    </dgm:pt>
    <dgm:pt modelId="{3F1207B9-429B-4B99-85C4-3136740A93B0}" type="sibTrans" cxnId="{EA4A31DB-F72F-4AE4-B17E-AD33121C3939}">
      <dgm:prSet/>
      <dgm:spPr/>
      <dgm:t>
        <a:bodyPr/>
        <a:lstStyle/>
        <a:p>
          <a:endParaRPr lang="en-US"/>
        </a:p>
      </dgm:t>
    </dgm:pt>
    <dgm:pt modelId="{03674545-BA26-40DC-9563-5BB49555B771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400" dirty="0" err="1" smtClean="0"/>
            <a:t>Các</a:t>
          </a:r>
          <a:r>
            <a:rPr lang="en-US" sz="2400" dirty="0" smtClean="0"/>
            <a:t> </a:t>
          </a:r>
          <a:r>
            <a:rPr lang="en-US" sz="2400" dirty="0" err="1" smtClean="0"/>
            <a:t>thành</a:t>
          </a:r>
          <a:r>
            <a:rPr lang="en-US" sz="2400" dirty="0" smtClean="0"/>
            <a:t> </a:t>
          </a:r>
          <a:r>
            <a:rPr lang="en-US" sz="2400" dirty="0" err="1" smtClean="0"/>
            <a:t>viện</a:t>
          </a:r>
          <a:r>
            <a:rPr lang="en-US" sz="2400" dirty="0" smtClean="0"/>
            <a:t> </a:t>
          </a:r>
          <a:r>
            <a:rPr lang="en-US" sz="2400" dirty="0" err="1" smtClean="0"/>
            <a:t>không</a:t>
          </a:r>
          <a:r>
            <a:rPr lang="en-US" sz="2400" dirty="0" smtClean="0"/>
            <a:t> </a:t>
          </a:r>
          <a:r>
            <a:rPr lang="en-US" sz="2400" dirty="0" err="1" smtClean="0"/>
            <a:t>tự</a:t>
          </a:r>
          <a:r>
            <a:rPr lang="en-US" sz="2400" dirty="0" smtClean="0"/>
            <a:t> </a:t>
          </a:r>
          <a:r>
            <a:rPr lang="en-US" sz="2400" dirty="0" err="1" smtClean="0"/>
            <a:t>lập</a:t>
          </a:r>
          <a:r>
            <a:rPr lang="en-US" sz="2400" dirty="0" smtClean="0"/>
            <a:t> </a:t>
          </a:r>
          <a:r>
            <a:rPr lang="en-US" sz="2400" dirty="0" err="1" smtClean="0"/>
            <a:t>nhóm</a:t>
          </a:r>
          <a:r>
            <a:rPr lang="en-US" sz="2400" dirty="0" smtClean="0"/>
            <a:t> </a:t>
          </a:r>
          <a:r>
            <a:rPr lang="en-US" sz="2400" dirty="0" err="1" smtClean="0"/>
            <a:t>lập</a:t>
          </a:r>
          <a:r>
            <a:rPr lang="en-US" sz="2400" dirty="0" smtClean="0"/>
            <a:t> </a:t>
          </a:r>
          <a:r>
            <a:rPr lang="en-US" sz="2400" dirty="0" err="1" smtClean="0"/>
            <a:t>một</a:t>
          </a:r>
          <a:r>
            <a:rPr lang="en-US" sz="2400" dirty="0" smtClean="0"/>
            <a:t> </a:t>
          </a:r>
          <a:r>
            <a:rPr lang="en-US" sz="2400" dirty="0" err="1" smtClean="0"/>
            <a:t>danh</a:t>
          </a:r>
          <a:r>
            <a:rPr lang="en-US" sz="2400" dirty="0" smtClean="0"/>
            <a:t> </a:t>
          </a:r>
          <a:r>
            <a:rPr lang="en-US" sz="2400" dirty="0" err="1" smtClean="0"/>
            <a:t>sách</a:t>
          </a:r>
          <a:r>
            <a:rPr lang="en-US" sz="2400" dirty="0" smtClean="0"/>
            <a:t> </a:t>
          </a:r>
          <a:r>
            <a:rPr lang="en-US" sz="2400" dirty="0" err="1" smtClean="0"/>
            <a:t>gửi</a:t>
          </a:r>
          <a:r>
            <a:rPr lang="en-US" sz="2400" dirty="0" smtClean="0"/>
            <a:t> </a:t>
          </a:r>
          <a:r>
            <a:rPr lang="en-US" sz="2400" dirty="0" err="1" smtClean="0"/>
            <a:t>cho</a:t>
          </a:r>
          <a:r>
            <a:rPr lang="en-US" sz="2400" dirty="0" smtClean="0"/>
            <a:t> </a:t>
          </a:r>
          <a:r>
            <a:rPr lang="en-US" sz="2400" dirty="0" err="1" smtClean="0"/>
            <a:t>lớp</a:t>
          </a:r>
          <a:r>
            <a:rPr lang="en-US" sz="2400" dirty="0" smtClean="0"/>
            <a:t> </a:t>
          </a:r>
          <a:r>
            <a:rPr lang="en-US" sz="2400" dirty="0" err="1" smtClean="0"/>
            <a:t>trưởng</a:t>
          </a:r>
          <a:r>
            <a:rPr lang="en-US" sz="2400" dirty="0" smtClean="0"/>
            <a:t>.</a:t>
          </a:r>
          <a:endParaRPr lang="en-US" sz="2400" dirty="0"/>
        </a:p>
      </dgm:t>
    </dgm:pt>
    <dgm:pt modelId="{3985277F-7D42-4BAD-89C9-D7780923B77A}" type="parTrans" cxnId="{7408B2FF-AF5B-462C-B4C4-79591A49FEE4}">
      <dgm:prSet/>
      <dgm:spPr/>
      <dgm:t>
        <a:bodyPr/>
        <a:lstStyle/>
        <a:p>
          <a:endParaRPr lang="en-US"/>
        </a:p>
      </dgm:t>
    </dgm:pt>
    <dgm:pt modelId="{D8808E39-DF19-430D-8BBF-E410641655CC}" type="sibTrans" cxnId="{7408B2FF-AF5B-462C-B4C4-79591A49FEE4}">
      <dgm:prSet/>
      <dgm:spPr/>
      <dgm:t>
        <a:bodyPr/>
        <a:lstStyle/>
        <a:p>
          <a:endParaRPr lang="en-US"/>
        </a:p>
      </dgm:t>
    </dgm:pt>
    <dgm:pt modelId="{AEB21893-78BB-4713-B200-9FF9EABD9902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400" dirty="0" err="1" smtClean="0"/>
            <a:t>Lớp</a:t>
          </a:r>
          <a:r>
            <a:rPr lang="en-US" sz="2400" dirty="0" smtClean="0"/>
            <a:t> </a:t>
          </a:r>
          <a:r>
            <a:rPr lang="en-US" sz="2400" dirty="0" err="1" smtClean="0"/>
            <a:t>trưởng</a:t>
          </a:r>
          <a:r>
            <a:rPr lang="en-US" sz="2400" dirty="0" smtClean="0"/>
            <a:t> </a:t>
          </a:r>
          <a:r>
            <a:rPr lang="en-US" sz="2400" dirty="0" err="1" smtClean="0"/>
            <a:t>tự</a:t>
          </a:r>
          <a:r>
            <a:rPr lang="en-US" sz="2400" dirty="0" smtClean="0"/>
            <a:t> </a:t>
          </a:r>
          <a:r>
            <a:rPr lang="en-US" sz="2400" dirty="0" err="1" smtClean="0"/>
            <a:t>sắp</a:t>
          </a:r>
          <a:r>
            <a:rPr lang="en-US" sz="2400" dirty="0" smtClean="0"/>
            <a:t> </a:t>
          </a:r>
          <a:r>
            <a:rPr lang="en-US" sz="2400" dirty="0" err="1" smtClean="0"/>
            <a:t>xếp</a:t>
          </a:r>
          <a:r>
            <a:rPr lang="en-US" sz="2400" dirty="0" smtClean="0"/>
            <a:t> </a:t>
          </a:r>
          <a:r>
            <a:rPr lang="en-US" sz="2400" dirty="0" err="1" smtClean="0"/>
            <a:t>và</a:t>
          </a:r>
          <a:r>
            <a:rPr lang="en-US" sz="2400" dirty="0" smtClean="0"/>
            <a:t> </a:t>
          </a:r>
          <a:r>
            <a:rPr lang="en-US" sz="2400" dirty="0" err="1" smtClean="0"/>
            <a:t>phân</a:t>
          </a:r>
          <a:r>
            <a:rPr lang="en-US" sz="2400" dirty="0" smtClean="0"/>
            <a:t> </a:t>
          </a:r>
          <a:r>
            <a:rPr lang="en-US" sz="2400" dirty="0" err="1" smtClean="0"/>
            <a:t>nhóm</a:t>
          </a:r>
          <a:r>
            <a:rPr lang="en-US" sz="2400" dirty="0" smtClean="0"/>
            <a:t> </a:t>
          </a:r>
          <a:r>
            <a:rPr lang="en-US" sz="2400" dirty="0" err="1" smtClean="0"/>
            <a:t>cho</a:t>
          </a:r>
          <a:r>
            <a:rPr lang="en-US" sz="2400" dirty="0" smtClean="0"/>
            <a:t> </a:t>
          </a:r>
          <a:r>
            <a:rPr lang="en-US" sz="2400" dirty="0" err="1" smtClean="0"/>
            <a:t>các</a:t>
          </a:r>
          <a:r>
            <a:rPr lang="en-US" sz="2400" dirty="0" smtClean="0"/>
            <a:t> </a:t>
          </a:r>
          <a:r>
            <a:rPr lang="en-US" sz="2400" dirty="0" err="1" smtClean="0"/>
            <a:t>thành</a:t>
          </a:r>
          <a:r>
            <a:rPr lang="en-US" sz="2400" dirty="0" smtClean="0"/>
            <a:t> </a:t>
          </a:r>
          <a:r>
            <a:rPr lang="en-US" sz="2400" dirty="0" err="1" smtClean="0"/>
            <a:t>viên</a:t>
          </a:r>
          <a:r>
            <a:rPr lang="en-US" sz="2400" dirty="0" smtClean="0"/>
            <a:t> </a:t>
          </a:r>
          <a:r>
            <a:rPr lang="en-US" sz="2400" dirty="0" err="1" smtClean="0"/>
            <a:t>riêng</a:t>
          </a:r>
          <a:r>
            <a:rPr lang="en-US" sz="2400" dirty="0" smtClean="0"/>
            <a:t> </a:t>
          </a:r>
          <a:r>
            <a:rPr lang="en-US" sz="2400" dirty="0" err="1" smtClean="0"/>
            <a:t>lẻ</a:t>
          </a:r>
          <a:r>
            <a:rPr lang="en-US" sz="2400" dirty="0" smtClean="0"/>
            <a:t> </a:t>
          </a:r>
          <a:r>
            <a:rPr lang="en-US" sz="2400" dirty="0" err="1" smtClean="0"/>
            <a:t>hoặc</a:t>
          </a:r>
          <a:r>
            <a:rPr lang="en-US" sz="2400" dirty="0" smtClean="0"/>
            <a:t> </a:t>
          </a:r>
          <a:r>
            <a:rPr lang="en-US" sz="2400" dirty="0" err="1" smtClean="0"/>
            <a:t>các</a:t>
          </a:r>
          <a:r>
            <a:rPr lang="en-US" sz="2400" dirty="0" smtClean="0"/>
            <a:t> </a:t>
          </a:r>
          <a:r>
            <a:rPr lang="en-US" sz="2400" dirty="0" err="1" smtClean="0"/>
            <a:t>nhóm</a:t>
          </a:r>
          <a:r>
            <a:rPr lang="en-US" sz="2400" dirty="0" smtClean="0"/>
            <a:t> </a:t>
          </a:r>
          <a:r>
            <a:rPr lang="en-US" sz="2400" dirty="0" err="1" smtClean="0"/>
            <a:t>thiếu</a:t>
          </a:r>
          <a:r>
            <a:rPr lang="en-US" sz="2400" dirty="0" smtClean="0"/>
            <a:t> </a:t>
          </a:r>
          <a:r>
            <a:rPr lang="en-US" sz="2400" dirty="0" err="1" smtClean="0"/>
            <a:t>người</a:t>
          </a:r>
          <a:r>
            <a:rPr lang="en-US" sz="2400" dirty="0" smtClean="0"/>
            <a:t> </a:t>
          </a:r>
          <a:r>
            <a:rPr lang="en-US" sz="2400" dirty="0" err="1" smtClean="0"/>
            <a:t>và</a:t>
          </a:r>
          <a:r>
            <a:rPr lang="en-US" sz="2400" dirty="0" smtClean="0"/>
            <a:t> </a:t>
          </a:r>
          <a:r>
            <a:rPr lang="en-US" sz="2400" dirty="0" err="1" smtClean="0"/>
            <a:t>tổng</a:t>
          </a:r>
          <a:r>
            <a:rPr lang="en-US" sz="2400" dirty="0" smtClean="0"/>
            <a:t> </a:t>
          </a:r>
          <a:r>
            <a:rPr lang="en-US" sz="2400" dirty="0" err="1" smtClean="0"/>
            <a:t>hợp</a:t>
          </a:r>
          <a:r>
            <a:rPr lang="en-US" sz="2400" dirty="0" smtClean="0"/>
            <a:t> </a:t>
          </a:r>
          <a:r>
            <a:rPr lang="en-US" sz="2400" dirty="0" err="1" smtClean="0"/>
            <a:t>toàn</a:t>
          </a:r>
          <a:r>
            <a:rPr lang="en-US" sz="2400" dirty="0" smtClean="0"/>
            <a:t> </a:t>
          </a:r>
          <a:r>
            <a:rPr lang="en-US" sz="2400" dirty="0" err="1" smtClean="0"/>
            <a:t>bộ</a:t>
          </a:r>
          <a:r>
            <a:rPr lang="en-US" sz="2400" dirty="0" smtClean="0"/>
            <a:t>.</a:t>
          </a:r>
          <a:endParaRPr lang="en-US" sz="2400" dirty="0"/>
        </a:p>
      </dgm:t>
    </dgm:pt>
    <dgm:pt modelId="{DDDDBF32-79A0-41CB-88DF-F3B064D5667C}" type="parTrans" cxnId="{F8F9AD7D-C2DA-41B8-8C00-01A5992BCEC0}">
      <dgm:prSet/>
      <dgm:spPr/>
      <dgm:t>
        <a:bodyPr/>
        <a:lstStyle/>
        <a:p>
          <a:endParaRPr lang="en-US"/>
        </a:p>
      </dgm:t>
    </dgm:pt>
    <dgm:pt modelId="{CF6A2888-B631-4648-886E-DD827C84F822}" type="sibTrans" cxnId="{F8F9AD7D-C2DA-41B8-8C00-01A5992BCEC0}">
      <dgm:prSet/>
      <dgm:spPr/>
      <dgm:t>
        <a:bodyPr/>
        <a:lstStyle/>
        <a:p>
          <a:endParaRPr lang="en-US"/>
        </a:p>
      </dgm:t>
    </dgm:pt>
    <dgm:pt modelId="{2B76ADBC-98AE-4FAA-9A69-6E06AD993881}" type="pres">
      <dgm:prSet presAssocID="{70B6CC20-F782-49BF-9298-58220EE33FB7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77D5319-BEB6-4AF1-A058-28A35CD02069}" type="pres">
      <dgm:prSet presAssocID="{918EF1E8-8906-4BD4-9C15-F626A58FDCC6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8676DC-440C-49A3-A986-419274325255}" type="pres">
      <dgm:prSet presAssocID="{3F1207B9-429B-4B99-85C4-3136740A93B0}" presName="sibTrans" presStyleLbl="sibTrans2D1" presStyleIdx="0" presStyleCnt="2"/>
      <dgm:spPr/>
      <dgm:t>
        <a:bodyPr/>
        <a:lstStyle/>
        <a:p>
          <a:endParaRPr lang="en-US"/>
        </a:p>
      </dgm:t>
    </dgm:pt>
    <dgm:pt modelId="{18F3B3E3-8B12-4E61-91B8-675F7434D6BC}" type="pres">
      <dgm:prSet presAssocID="{3F1207B9-429B-4B99-85C4-3136740A93B0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F5C0C9C0-022F-47D6-B71B-80666D536E11}" type="pres">
      <dgm:prSet presAssocID="{03674545-BA26-40DC-9563-5BB49555B771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1ED3C7-F37A-4663-B1F6-470D95834547}" type="pres">
      <dgm:prSet presAssocID="{D8808E39-DF19-430D-8BBF-E410641655CC}" presName="sibTrans" presStyleLbl="sibTrans2D1" presStyleIdx="1" presStyleCnt="2"/>
      <dgm:spPr/>
      <dgm:t>
        <a:bodyPr/>
        <a:lstStyle/>
        <a:p>
          <a:endParaRPr lang="en-US"/>
        </a:p>
      </dgm:t>
    </dgm:pt>
    <dgm:pt modelId="{F9EAE22A-7B46-4E13-9653-3C0380CE5B32}" type="pres">
      <dgm:prSet presAssocID="{D8808E39-DF19-430D-8BBF-E410641655CC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3724F900-98E4-4F6D-8248-F5958F7DECB0}" type="pres">
      <dgm:prSet presAssocID="{AEB21893-78BB-4713-B200-9FF9EABD9902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719E332-240B-4E8B-B060-00FD095DFF3C}" type="presOf" srcId="{918EF1E8-8906-4BD4-9C15-F626A58FDCC6}" destId="{477D5319-BEB6-4AF1-A058-28A35CD02069}" srcOrd="0" destOrd="0" presId="urn:microsoft.com/office/officeart/2005/8/layout/process1"/>
    <dgm:cxn modelId="{656E58CF-88DD-40E6-9614-E22AFEABE236}" type="presOf" srcId="{70B6CC20-F782-49BF-9298-58220EE33FB7}" destId="{2B76ADBC-98AE-4FAA-9A69-6E06AD993881}" srcOrd="0" destOrd="0" presId="urn:microsoft.com/office/officeart/2005/8/layout/process1"/>
    <dgm:cxn modelId="{1B77B78C-4EBC-4878-B576-87F1C631D0D0}" type="presOf" srcId="{3F1207B9-429B-4B99-85C4-3136740A93B0}" destId="{18F3B3E3-8B12-4E61-91B8-675F7434D6BC}" srcOrd="1" destOrd="0" presId="urn:microsoft.com/office/officeart/2005/8/layout/process1"/>
    <dgm:cxn modelId="{DF474FC2-42EB-4C90-8127-80A5B78CBC5D}" type="presOf" srcId="{3F1207B9-429B-4B99-85C4-3136740A93B0}" destId="{C98676DC-440C-49A3-A986-419274325255}" srcOrd="0" destOrd="0" presId="urn:microsoft.com/office/officeart/2005/8/layout/process1"/>
    <dgm:cxn modelId="{F8F9AD7D-C2DA-41B8-8C00-01A5992BCEC0}" srcId="{70B6CC20-F782-49BF-9298-58220EE33FB7}" destId="{AEB21893-78BB-4713-B200-9FF9EABD9902}" srcOrd="2" destOrd="0" parTransId="{DDDDBF32-79A0-41CB-88DF-F3B064D5667C}" sibTransId="{CF6A2888-B631-4648-886E-DD827C84F822}"/>
    <dgm:cxn modelId="{EA4A31DB-F72F-4AE4-B17E-AD33121C3939}" srcId="{70B6CC20-F782-49BF-9298-58220EE33FB7}" destId="{918EF1E8-8906-4BD4-9C15-F626A58FDCC6}" srcOrd="0" destOrd="0" parTransId="{6BF9AFB6-11BE-4F14-A5D0-09999DA7A0B2}" sibTransId="{3F1207B9-429B-4B99-85C4-3136740A93B0}"/>
    <dgm:cxn modelId="{7408B2FF-AF5B-462C-B4C4-79591A49FEE4}" srcId="{70B6CC20-F782-49BF-9298-58220EE33FB7}" destId="{03674545-BA26-40DC-9563-5BB49555B771}" srcOrd="1" destOrd="0" parTransId="{3985277F-7D42-4BAD-89C9-D7780923B77A}" sibTransId="{D8808E39-DF19-430D-8BBF-E410641655CC}"/>
    <dgm:cxn modelId="{3D607674-D3B2-4AAB-BC80-FAB08C9E5BD7}" type="presOf" srcId="{AEB21893-78BB-4713-B200-9FF9EABD9902}" destId="{3724F900-98E4-4F6D-8248-F5958F7DECB0}" srcOrd="0" destOrd="0" presId="urn:microsoft.com/office/officeart/2005/8/layout/process1"/>
    <dgm:cxn modelId="{459C2A48-3CC2-452C-B4F9-C2CAC8978249}" type="presOf" srcId="{D8808E39-DF19-430D-8BBF-E410641655CC}" destId="{051ED3C7-F37A-4663-B1F6-470D95834547}" srcOrd="0" destOrd="0" presId="urn:microsoft.com/office/officeart/2005/8/layout/process1"/>
    <dgm:cxn modelId="{6153626B-1FE2-4255-A58E-1F1C708A3F24}" type="presOf" srcId="{03674545-BA26-40DC-9563-5BB49555B771}" destId="{F5C0C9C0-022F-47D6-B71B-80666D536E11}" srcOrd="0" destOrd="0" presId="urn:microsoft.com/office/officeart/2005/8/layout/process1"/>
    <dgm:cxn modelId="{98E81993-8826-4A63-81D6-927C750CAB6D}" type="presOf" srcId="{D8808E39-DF19-430D-8BBF-E410641655CC}" destId="{F9EAE22A-7B46-4E13-9653-3C0380CE5B32}" srcOrd="1" destOrd="0" presId="urn:microsoft.com/office/officeart/2005/8/layout/process1"/>
    <dgm:cxn modelId="{64B836EC-F08C-412B-8D51-AE4F2EC547BB}" type="presParOf" srcId="{2B76ADBC-98AE-4FAA-9A69-6E06AD993881}" destId="{477D5319-BEB6-4AF1-A058-28A35CD02069}" srcOrd="0" destOrd="0" presId="urn:microsoft.com/office/officeart/2005/8/layout/process1"/>
    <dgm:cxn modelId="{AC469E37-5F52-4A21-9BE5-6311C73BFA4B}" type="presParOf" srcId="{2B76ADBC-98AE-4FAA-9A69-6E06AD993881}" destId="{C98676DC-440C-49A3-A986-419274325255}" srcOrd="1" destOrd="0" presId="urn:microsoft.com/office/officeart/2005/8/layout/process1"/>
    <dgm:cxn modelId="{B6A392D2-3279-48E8-B5D6-729AB26B5902}" type="presParOf" srcId="{C98676DC-440C-49A3-A986-419274325255}" destId="{18F3B3E3-8B12-4E61-91B8-675F7434D6BC}" srcOrd="0" destOrd="0" presId="urn:microsoft.com/office/officeart/2005/8/layout/process1"/>
    <dgm:cxn modelId="{4615CD16-0F51-41BA-9EC1-DC464B94F19E}" type="presParOf" srcId="{2B76ADBC-98AE-4FAA-9A69-6E06AD993881}" destId="{F5C0C9C0-022F-47D6-B71B-80666D536E11}" srcOrd="2" destOrd="0" presId="urn:microsoft.com/office/officeart/2005/8/layout/process1"/>
    <dgm:cxn modelId="{5B678BCF-E5CE-434A-A806-8C843CA81A46}" type="presParOf" srcId="{2B76ADBC-98AE-4FAA-9A69-6E06AD993881}" destId="{051ED3C7-F37A-4663-B1F6-470D95834547}" srcOrd="3" destOrd="0" presId="urn:microsoft.com/office/officeart/2005/8/layout/process1"/>
    <dgm:cxn modelId="{45290854-644B-4A77-8336-082CC5283A19}" type="presParOf" srcId="{051ED3C7-F37A-4663-B1F6-470D95834547}" destId="{F9EAE22A-7B46-4E13-9653-3C0380CE5B32}" srcOrd="0" destOrd="0" presId="urn:microsoft.com/office/officeart/2005/8/layout/process1"/>
    <dgm:cxn modelId="{C4689B8D-3558-4502-AEA9-73897735E57A}" type="presParOf" srcId="{2B76ADBC-98AE-4FAA-9A69-6E06AD993881}" destId="{3724F900-98E4-4F6D-8248-F5958F7DECB0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BC5A54-2E78-4361-A15B-A657232F8173}" type="datetimeFigureOut">
              <a:rPr lang="en-US" smtClean="0"/>
              <a:pPr/>
              <a:t>12/22/2019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ACDE4-7C1A-4458-ADFF-588544B9FEA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6EAF5-5497-4E36-9AC6-23E218E1C14C}" type="datetimeFigureOut">
              <a:rPr lang="en-US" smtClean="0"/>
              <a:pPr/>
              <a:t>12/22/2019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E2665-103D-49A0-B6D4-B2E4A0768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hbien@fit.hcmus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nhbien@fit.hcmus.edu.v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5400" dirty="0" err="1" smtClean="0"/>
              <a:t>Giới</a:t>
            </a:r>
            <a:r>
              <a:rPr lang="en-US" sz="5400" dirty="0" smtClean="0"/>
              <a:t> </a:t>
            </a:r>
            <a:r>
              <a:rPr lang="en-US" sz="5400" dirty="0" err="1" smtClean="0"/>
              <a:t>Thiệu</a:t>
            </a:r>
            <a:r>
              <a:rPr lang="en-US" sz="5400" dirty="0" smtClean="0"/>
              <a:t> </a:t>
            </a:r>
            <a:r>
              <a:rPr lang="en-US" sz="5400" dirty="0" err="1" smtClean="0"/>
              <a:t>Môn</a:t>
            </a:r>
            <a:r>
              <a:rPr lang="en-US" sz="5400" dirty="0" smtClean="0"/>
              <a:t> </a:t>
            </a:r>
            <a:r>
              <a:rPr lang="en-US" sz="5400" dirty="0" err="1" smtClean="0"/>
              <a:t>Học</a:t>
            </a:r>
            <a:endParaRPr lang="en-US" sz="54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err="1" smtClean="0"/>
              <a:t>Giảng</a:t>
            </a:r>
            <a:r>
              <a:rPr lang="en-US" sz="5400" dirty="0" smtClean="0"/>
              <a:t> </a:t>
            </a:r>
            <a:r>
              <a:rPr lang="en-US" sz="5400" dirty="0" err="1" smtClean="0"/>
              <a:t>Viên</a:t>
            </a:r>
            <a:r>
              <a:rPr lang="en-US" sz="5400" dirty="0" smtClean="0"/>
              <a:t>: </a:t>
            </a:r>
            <a:r>
              <a:rPr lang="en-US" sz="5400" dirty="0" err="1" smtClean="0"/>
              <a:t>Ngô</a:t>
            </a:r>
            <a:r>
              <a:rPr lang="en-US" sz="5400" dirty="0" smtClean="0"/>
              <a:t> Huy </a:t>
            </a:r>
            <a:r>
              <a:rPr lang="en-US" sz="5400" dirty="0" err="1" smtClean="0"/>
              <a:t>Biên</a:t>
            </a:r>
            <a:endParaRPr lang="en-US" sz="54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err="1" smtClean="0"/>
              <a:t>Bộ</a:t>
            </a:r>
            <a:r>
              <a:rPr lang="en-US" sz="4400" dirty="0" smtClean="0"/>
              <a:t> </a:t>
            </a:r>
            <a:r>
              <a:rPr lang="en-US" sz="4400" dirty="0" err="1" smtClean="0"/>
              <a:t>môn</a:t>
            </a:r>
            <a:r>
              <a:rPr lang="en-US" sz="4400" dirty="0" smtClean="0"/>
              <a:t> </a:t>
            </a:r>
            <a:r>
              <a:rPr lang="en-US" sz="4400" dirty="0" err="1" smtClean="0"/>
              <a:t>Công</a:t>
            </a:r>
            <a:r>
              <a:rPr lang="en-US" sz="4400" dirty="0" smtClean="0"/>
              <a:t> </a:t>
            </a:r>
            <a:r>
              <a:rPr lang="en-US" sz="4400" dirty="0" err="1" smtClean="0"/>
              <a:t>nghệ</a:t>
            </a:r>
            <a:r>
              <a:rPr lang="en-US" sz="4400" dirty="0" smtClean="0"/>
              <a:t> </a:t>
            </a:r>
            <a:r>
              <a:rPr lang="en-US" sz="4400" dirty="0" err="1" smtClean="0"/>
              <a:t>phần</a:t>
            </a:r>
            <a:r>
              <a:rPr lang="en-US" sz="4400" dirty="0" smtClean="0"/>
              <a:t> </a:t>
            </a:r>
            <a:r>
              <a:rPr lang="en-US" sz="4400" dirty="0" err="1" smtClean="0"/>
              <a:t>mềm</a:t>
            </a:r>
            <a:endParaRPr lang="en-US" sz="44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err="1" smtClean="0"/>
              <a:t>Khoa</a:t>
            </a:r>
            <a:r>
              <a:rPr lang="en-US" sz="4400" dirty="0" smtClean="0"/>
              <a:t> </a:t>
            </a:r>
            <a:r>
              <a:rPr lang="en-US" sz="4400" dirty="0" err="1" smtClean="0"/>
              <a:t>Công</a:t>
            </a:r>
            <a:r>
              <a:rPr lang="en-US" sz="4400" dirty="0" smtClean="0"/>
              <a:t> </a:t>
            </a:r>
            <a:r>
              <a:rPr lang="en-US" sz="4400" dirty="0" err="1" smtClean="0"/>
              <a:t>nghệ</a:t>
            </a:r>
            <a:r>
              <a:rPr lang="en-US" sz="4400" dirty="0" smtClean="0"/>
              <a:t> </a:t>
            </a:r>
            <a:r>
              <a:rPr lang="en-US" sz="4400" dirty="0" err="1" smtClean="0"/>
              <a:t>thông</a:t>
            </a:r>
            <a:r>
              <a:rPr lang="en-US" sz="4400" dirty="0" smtClean="0"/>
              <a:t> tin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err="1" smtClean="0"/>
              <a:t>Trường</a:t>
            </a:r>
            <a:r>
              <a:rPr lang="en-US" sz="4400" dirty="0" smtClean="0"/>
              <a:t> </a:t>
            </a:r>
            <a:r>
              <a:rPr lang="en-US" sz="4400" dirty="0" err="1" smtClean="0"/>
              <a:t>Đại</a:t>
            </a:r>
            <a:r>
              <a:rPr lang="en-US" sz="4400" dirty="0" smtClean="0"/>
              <a:t> </a:t>
            </a:r>
            <a:r>
              <a:rPr lang="en-US" sz="4400" dirty="0" err="1" smtClean="0"/>
              <a:t>học</a:t>
            </a:r>
            <a:r>
              <a:rPr lang="en-US" sz="4400" dirty="0" smtClean="0"/>
              <a:t> </a:t>
            </a:r>
            <a:r>
              <a:rPr lang="en-US" sz="4400" dirty="0" err="1" smtClean="0"/>
              <a:t>Khoa</a:t>
            </a:r>
            <a:r>
              <a:rPr lang="en-US" sz="4400" dirty="0" smtClean="0"/>
              <a:t> </a:t>
            </a:r>
            <a:r>
              <a:rPr lang="en-US" sz="4400" dirty="0" err="1" smtClean="0"/>
              <a:t>học</a:t>
            </a:r>
            <a:r>
              <a:rPr lang="en-US" sz="4400" dirty="0" smtClean="0"/>
              <a:t> </a:t>
            </a:r>
            <a:r>
              <a:rPr lang="en-US" sz="4400" dirty="0" err="1" smtClean="0"/>
              <a:t>tự</a:t>
            </a:r>
            <a:r>
              <a:rPr lang="en-US" sz="4400" dirty="0" smtClean="0"/>
              <a:t> </a:t>
            </a:r>
            <a:r>
              <a:rPr lang="en-US" sz="4400" dirty="0" err="1" smtClean="0"/>
              <a:t>nhiên</a:t>
            </a:r>
            <a:endParaRPr lang="en-US" sz="44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ĐHQG </a:t>
            </a:r>
            <a:r>
              <a:rPr lang="en-US" sz="4400" dirty="0" err="1" smtClean="0"/>
              <a:t>Tp</a:t>
            </a:r>
            <a:r>
              <a:rPr lang="en-US" sz="4400" dirty="0" smtClean="0"/>
              <a:t> </a:t>
            </a:r>
            <a:r>
              <a:rPr lang="en-US" sz="4400" dirty="0" err="1" smtClean="0"/>
              <a:t>Hồ</a:t>
            </a:r>
            <a:r>
              <a:rPr lang="en-US" sz="4400" dirty="0" smtClean="0"/>
              <a:t> </a:t>
            </a:r>
            <a:r>
              <a:rPr lang="en-US" sz="4400" dirty="0" err="1" smtClean="0"/>
              <a:t>Chí</a:t>
            </a:r>
            <a:r>
              <a:rPr lang="en-US" sz="4400" dirty="0" smtClean="0"/>
              <a:t> Minh, </a:t>
            </a:r>
            <a:r>
              <a:rPr lang="en-US" sz="4400" dirty="0" err="1" smtClean="0"/>
              <a:t>Việt</a:t>
            </a:r>
            <a:r>
              <a:rPr lang="en-US" sz="4400" dirty="0" smtClean="0"/>
              <a:t> 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3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Giảng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 </a:t>
            </a:r>
            <a:r>
              <a:rPr lang="en-US" dirty="0" err="1" smtClean="0"/>
              <a:t>phụ</a:t>
            </a:r>
            <a:r>
              <a:rPr lang="en-US" dirty="0" smtClean="0"/>
              <a:t> </a:t>
            </a:r>
            <a:r>
              <a:rPr lang="en-US" dirty="0" err="1" smtClean="0"/>
              <a:t>trách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477000" cy="4191000"/>
          </a:xfrm>
        </p:spPr>
        <p:txBody>
          <a:bodyPr/>
          <a:lstStyle/>
          <a:p>
            <a:r>
              <a:rPr lang="vi-VN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Ngô Huy Biên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, GV, ThS,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Bộ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Công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nghệ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Khoa Công nghệ thông tin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trường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ĐH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Khoa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Tự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Nhiên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tp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Hồ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Chí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Minh.</a:t>
            </a: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Email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vi-VN" sz="2400" dirty="0" smtClean="0">
                <a:latin typeface="Calibri" pitchFamily="34" charset="0"/>
                <a:cs typeface="Calibri" pitchFamily="34" charset="0"/>
                <a:hlinkClick r:id="rId3"/>
              </a:rPr>
              <a:t>nhbien@fit.hcmus.edu.vn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Số điện thoại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0988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4x7y2z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Lịch làm việc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Thứ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năm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từ 1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30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đến 17h30 tại bộ môn Công nghệ phần mềm.</a:t>
            </a:r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43600" y="2667000"/>
            <a:ext cx="257175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err="1" smtClean="0"/>
              <a:t>Mục</a:t>
            </a:r>
            <a:r>
              <a:rPr lang="en-US" sz="2400" dirty="0" smtClean="0"/>
              <a:t> </a:t>
            </a:r>
            <a:r>
              <a:rPr lang="en-US" sz="2400" dirty="0" err="1" smtClean="0"/>
              <a:t>tiêu</a:t>
            </a:r>
            <a:r>
              <a:rPr lang="en-US" sz="2400" dirty="0" smtClean="0"/>
              <a:t> </a:t>
            </a:r>
            <a:r>
              <a:rPr lang="en-US" sz="2400" dirty="0" err="1" smtClean="0"/>
              <a:t>môn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endParaRPr lang="en-US" sz="2400" dirty="0" smtClean="0"/>
          </a:p>
          <a:p>
            <a:pPr lvl="0"/>
            <a:r>
              <a:rPr lang="en-US" sz="2400" dirty="0" err="1" smtClean="0"/>
              <a:t>Đối</a:t>
            </a:r>
            <a:r>
              <a:rPr lang="en-US" sz="2400" dirty="0" smtClean="0"/>
              <a:t> </a:t>
            </a:r>
            <a:r>
              <a:rPr lang="en-US" sz="2400" dirty="0" err="1" smtClean="0"/>
              <a:t>tượng</a:t>
            </a:r>
            <a:r>
              <a:rPr lang="en-US" sz="2400" dirty="0" smtClean="0"/>
              <a:t> </a:t>
            </a:r>
            <a:r>
              <a:rPr lang="en-US" sz="2400" dirty="0" err="1" smtClean="0"/>
              <a:t>môn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endParaRPr lang="en-US" sz="2400" dirty="0" smtClean="0"/>
          </a:p>
          <a:p>
            <a:pPr lvl="0"/>
            <a:r>
              <a:rPr lang="en-US" sz="2400" dirty="0" err="1" smtClean="0"/>
              <a:t>Thời</a:t>
            </a:r>
            <a:r>
              <a:rPr lang="en-US" sz="2400" dirty="0" smtClean="0"/>
              <a:t> </a:t>
            </a:r>
            <a:r>
              <a:rPr lang="en-US" sz="2400" dirty="0" err="1" smtClean="0"/>
              <a:t>lượng</a:t>
            </a:r>
            <a:r>
              <a:rPr lang="en-US" sz="2400" dirty="0" smtClean="0"/>
              <a:t> </a:t>
            </a:r>
            <a:r>
              <a:rPr lang="en-US" sz="2400" dirty="0" err="1" smtClean="0"/>
              <a:t>môn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endParaRPr lang="en-US" sz="2400" dirty="0" smtClean="0"/>
          </a:p>
          <a:p>
            <a:pPr lvl="0"/>
            <a:endParaRPr lang="en-US" sz="2400" dirty="0" smtClean="0"/>
          </a:p>
          <a:p>
            <a:pPr lvl="0"/>
            <a:r>
              <a:rPr lang="en-US" sz="2400" i="1" dirty="0" err="1" smtClean="0">
                <a:solidFill>
                  <a:srgbClr val="C00000"/>
                </a:solidFill>
              </a:rPr>
              <a:t>Phương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pháp</a:t>
            </a:r>
            <a:r>
              <a:rPr lang="en-US" sz="2400" dirty="0" smtClean="0"/>
              <a:t> </a:t>
            </a:r>
            <a:r>
              <a:rPr lang="en-US" sz="2400" dirty="0" err="1" smtClean="0"/>
              <a:t>dạy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endParaRPr lang="en-US" sz="2400" dirty="0" smtClean="0"/>
          </a:p>
          <a:p>
            <a:r>
              <a:rPr lang="en-US" sz="2400" i="1" dirty="0" err="1" smtClean="0">
                <a:solidFill>
                  <a:srgbClr val="C00000"/>
                </a:solidFill>
              </a:rPr>
              <a:t>Đánh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giá</a:t>
            </a:r>
            <a:r>
              <a:rPr lang="en-US" sz="2400" dirty="0" smtClean="0"/>
              <a:t> </a:t>
            </a:r>
            <a:r>
              <a:rPr lang="en-US" sz="2400" dirty="0" err="1" smtClean="0"/>
              <a:t>kết</a:t>
            </a:r>
            <a:r>
              <a:rPr lang="en-US" sz="2400" dirty="0" smtClean="0"/>
              <a:t> </a:t>
            </a:r>
            <a:r>
              <a:rPr lang="en-US" sz="2400" dirty="0" err="1" smtClean="0"/>
              <a:t>quả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r>
              <a:rPr lang="en-US" sz="2400" dirty="0" smtClean="0"/>
              <a:t> </a:t>
            </a:r>
            <a:r>
              <a:rPr lang="en-US" sz="2400" dirty="0" err="1" smtClean="0"/>
              <a:t>tập</a:t>
            </a:r>
            <a:endParaRPr lang="en-US" sz="2400" dirty="0" smtClean="0"/>
          </a:p>
          <a:p>
            <a:pPr lvl="0"/>
            <a:endParaRPr lang="en-US" sz="2400" dirty="0" smtClean="0"/>
          </a:p>
          <a:p>
            <a:pPr lvl="0"/>
            <a:r>
              <a:rPr lang="en-US" sz="2400" dirty="0" err="1" smtClean="0"/>
              <a:t>Tài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 </a:t>
            </a:r>
            <a:r>
              <a:rPr lang="en-US" sz="2400" dirty="0" err="1" smtClean="0"/>
              <a:t>tham</a:t>
            </a:r>
            <a:r>
              <a:rPr lang="en-US" sz="2400" dirty="0" smtClean="0"/>
              <a:t> </a:t>
            </a:r>
            <a:r>
              <a:rPr lang="en-US" sz="2400" dirty="0" err="1" smtClean="0"/>
              <a:t>khảo</a:t>
            </a:r>
            <a:endParaRPr lang="en-US" sz="2400" dirty="0" smtClean="0"/>
          </a:p>
          <a:p>
            <a:pPr lvl="0"/>
            <a:r>
              <a:rPr lang="en-US" sz="2400" dirty="0" err="1" smtClean="0"/>
              <a:t>Nội</a:t>
            </a:r>
            <a:r>
              <a:rPr lang="en-US" sz="2400" dirty="0" smtClean="0"/>
              <a:t> </a:t>
            </a:r>
            <a:r>
              <a:rPr lang="en-US" sz="2400" dirty="0" err="1" smtClean="0"/>
              <a:t>quy</a:t>
            </a:r>
            <a:r>
              <a:rPr lang="en-US" sz="2400" dirty="0" smtClean="0"/>
              <a:t> </a:t>
            </a:r>
            <a:r>
              <a:rPr lang="en-US" sz="2400" dirty="0" err="1" smtClean="0"/>
              <a:t>môn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endParaRPr lang="en-US" sz="2400" dirty="0" smtClean="0"/>
          </a:p>
          <a:p>
            <a:pPr lvl="0"/>
            <a:r>
              <a:rPr lang="en-US" sz="2400" dirty="0" err="1" smtClean="0"/>
              <a:t>Câu</a:t>
            </a:r>
            <a:r>
              <a:rPr lang="en-US" sz="2400" dirty="0" smtClean="0"/>
              <a:t> </a:t>
            </a:r>
            <a:r>
              <a:rPr lang="en-US" sz="2400" dirty="0" err="1" smtClean="0"/>
              <a:t>hỏi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Trả</a:t>
            </a:r>
            <a:r>
              <a:rPr lang="en-US" sz="2400" dirty="0" smtClean="0"/>
              <a:t> </a:t>
            </a:r>
            <a:r>
              <a:rPr lang="en-US" sz="2400" dirty="0" err="1" smtClean="0"/>
              <a:t>lời</a:t>
            </a:r>
            <a:endParaRPr lang="en-US" sz="2400" dirty="0" smtClean="0"/>
          </a:p>
        </p:txBody>
      </p:sp>
      <p:pic>
        <p:nvPicPr>
          <p:cNvPr id="1026" name="Picture 2" descr="http://www.lvwebsolution.com/images/content-writin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2438400"/>
            <a:ext cx="2476500" cy="24765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? (I)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81000" y="2064603"/>
            <a:ext cx="4038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Các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u="sng" dirty="0" err="1" smtClean="0">
                <a:latin typeface="Calibri" pitchFamily="34" charset="0"/>
                <a:cs typeface="Calibri" pitchFamily="34" charset="0"/>
              </a:rPr>
              <a:t>thương</a:t>
            </a:r>
            <a:r>
              <a:rPr lang="en-US" sz="2400" u="sng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u="sng" dirty="0" err="1" smtClean="0">
                <a:latin typeface="Calibri" pitchFamily="34" charset="0"/>
                <a:cs typeface="Calibri" pitchFamily="34" charset="0"/>
              </a:rPr>
              <a:t>mại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được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viết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bằng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ngôn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ngữ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nào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5800" y="4731603"/>
            <a:ext cx="4343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Chúng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được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lập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bằng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phương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pháp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nào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?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1524000"/>
            <a:ext cx="3175000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3505200"/>
            <a:ext cx="3705225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? (II)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7200" y="1524001"/>
            <a:ext cx="8153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endParaRPr lang="en-US" sz="32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sz="32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8200" y="4495800"/>
            <a:ext cx="7391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Tôi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biết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các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công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cụ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nào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,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các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ngôn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ngữ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lập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nào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, 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công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nghệ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nào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và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các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phương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pháp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nào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để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phát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triển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có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khả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năng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ứng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dụng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u="sng" dirty="0" err="1" smtClean="0">
                <a:latin typeface="Calibri" pitchFamily="34" charset="0"/>
                <a:cs typeface="Calibri" pitchFamily="34" charset="0"/>
              </a:rPr>
              <a:t>thực</a:t>
            </a:r>
            <a:r>
              <a:rPr lang="en-US" sz="2400" u="sng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u="sng" dirty="0" err="1" smtClean="0">
                <a:latin typeface="Calibri" pitchFamily="34" charset="0"/>
                <a:cs typeface="Calibri" pitchFamily="34" charset="0"/>
              </a:rPr>
              <a:t>tế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?</a:t>
            </a:r>
          </a:p>
          <a:p>
            <a:pPr algn="ctr">
              <a:buNone/>
            </a:pP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 algn="ctr">
              <a:buNone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Làm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sao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tôi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có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thể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tự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tìm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hiểu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chúng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33750" y="1524000"/>
            <a:ext cx="2533650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.NET Developer Hire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5182850"/>
            <a:ext cx="7696200" cy="144655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Analyze system requirements.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Outline work task breakdowns for programming side.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Participate in system design and implementation.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Coordinate and participate in code review.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95400"/>
            <a:ext cx="23812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143000"/>
            <a:ext cx="6477000" cy="41148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Education: Bachelor of IT/Software Engineering or Information System.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Strong knowledge and experience in system design and Web programming with Microsoft .NET and other Microsoft technologies (</a:t>
            </a:r>
            <a:r>
              <a:rPr lang="en-US" sz="2000" i="1" dirty="0" smtClean="0">
                <a:solidFill>
                  <a:srgbClr val="C00000"/>
                </a:solidFill>
              </a:rPr>
              <a:t>C#</a:t>
            </a:r>
            <a:r>
              <a:rPr lang="en-US" sz="2000" dirty="0" smtClean="0"/>
              <a:t>, ASP.NET, XML Web Services, ADO.NET, WCF, </a:t>
            </a:r>
            <a:r>
              <a:rPr lang="en-US" sz="2000" dirty="0" err="1" smtClean="0"/>
              <a:t>Linq</a:t>
            </a:r>
            <a:r>
              <a:rPr lang="en-US" sz="2000" dirty="0" smtClean="0"/>
              <a:t>, XAML, ASP.NET MVC...)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Having experience with database design and programming (MS SQL Server, or Oracle, </a:t>
            </a:r>
            <a:r>
              <a:rPr lang="en-US" sz="2000" dirty="0" err="1" smtClean="0"/>
              <a:t>MySQL</a:t>
            </a:r>
            <a:r>
              <a:rPr lang="en-US" sz="2000" dirty="0" smtClean="0"/>
              <a:t>,...)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Having worked with SVN, MS Team System, IIS,...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Familiar with software development process.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Good soft skills: group discussion leading, team working, problem solving, presentation…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27011" y="125095"/>
            <a:ext cx="4754789" cy="6656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Java Developer Hire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5410200"/>
            <a:ext cx="7696200" cy="1107996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Develop applications based on technical specifications.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Conduct system documentation.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Provide system maintenance service.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95400"/>
            <a:ext cx="23812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143000"/>
            <a:ext cx="6477000" cy="41148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Nationality: Any (local &amp; overseas </a:t>
            </a:r>
            <a:r>
              <a:rPr lang="en-US" sz="2000" dirty="0" err="1" smtClean="0"/>
              <a:t>Vietnameses</a:t>
            </a:r>
            <a:r>
              <a:rPr lang="en-US" sz="2000" dirty="0" smtClean="0"/>
              <a:t> or expats).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Education: Bachelor of IT/Software Engineering or Information System.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Strong knowledge and experience with </a:t>
            </a:r>
            <a:r>
              <a:rPr lang="en-US" sz="2000" i="1" dirty="0" smtClean="0">
                <a:solidFill>
                  <a:srgbClr val="C00000"/>
                </a:solidFill>
              </a:rPr>
              <a:t>Java</a:t>
            </a:r>
            <a:r>
              <a:rPr lang="en-US" sz="2000" dirty="0" smtClean="0"/>
              <a:t> Application development: J2EE, Spring, Struts, Hibernate, </a:t>
            </a:r>
            <a:r>
              <a:rPr lang="en-US" sz="2000" dirty="0" err="1" smtClean="0"/>
              <a:t>Ibatis</a:t>
            </a:r>
            <a:r>
              <a:rPr lang="en-US" sz="2000" dirty="0" smtClean="0"/>
              <a:t>…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Strong experience using Web technologies: HTML, JSP, Ajax, </a:t>
            </a:r>
            <a:r>
              <a:rPr lang="en-US" sz="2000" dirty="0" err="1" smtClean="0"/>
              <a:t>Javascript</a:t>
            </a:r>
            <a:r>
              <a:rPr lang="en-US" sz="2000" dirty="0" smtClean="0"/>
              <a:t>, RCP and experience in Flex/Flash is an advantage.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Knowledge of </a:t>
            </a:r>
            <a:r>
              <a:rPr lang="en-US" sz="2000" i="1" dirty="0" smtClean="0">
                <a:solidFill>
                  <a:srgbClr val="C00000"/>
                </a:solidFill>
              </a:rPr>
              <a:t>OOP</a:t>
            </a:r>
            <a:r>
              <a:rPr lang="en-US" sz="2000" dirty="0" smtClean="0"/>
              <a:t>, </a:t>
            </a:r>
            <a:r>
              <a:rPr lang="en-US" sz="2000" i="1" dirty="0" smtClean="0">
                <a:solidFill>
                  <a:srgbClr val="C00000"/>
                </a:solidFill>
              </a:rPr>
              <a:t>UML</a:t>
            </a:r>
            <a:r>
              <a:rPr lang="en-US" sz="2000" dirty="0" smtClean="0"/>
              <a:t> and MVC concept.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Understanding of RDBMS, data modeling and SQL.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Familiar with quality assurance activities (CMMI)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PHP Developer Hire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5257800"/>
            <a:ext cx="8686800" cy="144655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Understand and interpret (in writing) project functional requirements.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Outline work task breakdowns for programming side.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Develop web applications.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Coordinate and participate in peer code review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95400"/>
            <a:ext cx="23812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143000"/>
            <a:ext cx="6477000" cy="41148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Education: Bachelor of IT/Software Engineering or Information System.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Being expert in </a:t>
            </a:r>
            <a:r>
              <a:rPr lang="en-US" sz="1800" i="1" dirty="0" smtClean="0">
                <a:solidFill>
                  <a:srgbClr val="C00000"/>
                </a:solidFill>
              </a:rPr>
              <a:t>PHP</a:t>
            </a:r>
            <a:r>
              <a:rPr lang="en-US" sz="1800" dirty="0" smtClean="0"/>
              <a:t>, </a:t>
            </a:r>
            <a:r>
              <a:rPr lang="en-US" sz="1800" dirty="0" err="1" smtClean="0"/>
              <a:t>Javascript</a:t>
            </a:r>
            <a:r>
              <a:rPr lang="en-US" sz="1800" dirty="0" smtClean="0"/>
              <a:t>, HTML, CSS, SQL Databases (preferably </a:t>
            </a:r>
            <a:r>
              <a:rPr lang="en-US" sz="1800" dirty="0" err="1" smtClean="0"/>
              <a:t>MySQL</a:t>
            </a:r>
            <a:r>
              <a:rPr lang="en-US" sz="1800" dirty="0" smtClean="0"/>
              <a:t>), AJAX.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solid competency in all aspects of LAMP stack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experience with SVN or CVS or GIT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worked with at least one PHP framework (</a:t>
            </a:r>
            <a:r>
              <a:rPr lang="en-US" sz="1800" dirty="0" err="1" smtClean="0"/>
              <a:t>eg</a:t>
            </a:r>
            <a:r>
              <a:rPr lang="en-US" sz="1800" dirty="0" smtClean="0"/>
              <a:t>.: </a:t>
            </a:r>
            <a:r>
              <a:rPr lang="en-US" sz="1800" dirty="0" err="1" smtClean="0"/>
              <a:t>Symfony</a:t>
            </a:r>
            <a:r>
              <a:rPr lang="en-US" sz="1800" dirty="0" smtClean="0"/>
              <a:t>, </a:t>
            </a:r>
            <a:r>
              <a:rPr lang="en-US" sz="1800" dirty="0" err="1" smtClean="0"/>
              <a:t>Zend</a:t>
            </a:r>
            <a:r>
              <a:rPr lang="en-US" sz="1800" dirty="0" smtClean="0"/>
              <a:t>, </a:t>
            </a:r>
            <a:r>
              <a:rPr lang="en-US" sz="1800" dirty="0" err="1" smtClean="0"/>
              <a:t>Drupal</a:t>
            </a:r>
            <a:r>
              <a:rPr lang="en-US" sz="1800" dirty="0" smtClean="0"/>
              <a:t> or any MVC framework)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worked with at least one </a:t>
            </a:r>
            <a:r>
              <a:rPr lang="en-US" sz="1800" dirty="0" err="1" smtClean="0"/>
              <a:t>javascript</a:t>
            </a:r>
            <a:r>
              <a:rPr lang="en-US" sz="1800" dirty="0" smtClean="0"/>
              <a:t> library (</a:t>
            </a:r>
            <a:r>
              <a:rPr lang="en-US" sz="1800" dirty="0" err="1" smtClean="0"/>
              <a:t>eg</a:t>
            </a:r>
            <a:r>
              <a:rPr lang="en-US" sz="1800" dirty="0" smtClean="0"/>
              <a:t>.: YUI, </a:t>
            </a:r>
            <a:r>
              <a:rPr lang="en-US" sz="1800" dirty="0" err="1" smtClean="0"/>
              <a:t>jquery</a:t>
            </a:r>
            <a:r>
              <a:rPr lang="en-US" sz="1800" dirty="0" smtClean="0"/>
              <a:t>, dojo, ...)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sound knowledge in web-application security, debugging and tuning web-applications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experience in agile software development, </a:t>
            </a:r>
            <a:r>
              <a:rPr lang="en-US" sz="1800" dirty="0" err="1" smtClean="0"/>
              <a:t>ie</a:t>
            </a:r>
            <a:r>
              <a:rPr lang="en-US" sz="1800" dirty="0" smtClean="0"/>
              <a:t> Scrum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077200" cy="4419600"/>
          </a:xfrm>
        </p:spPr>
        <p:txBody>
          <a:bodyPr/>
          <a:lstStyle/>
          <a:p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bày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được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các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khái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niệm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của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lập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hướng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đối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tượng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bao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gồm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đối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tượng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kế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thừa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mối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liên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hệ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tính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bao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bọc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tính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trừu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tượng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kiểu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dữ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liệu</a:t>
            </a:r>
            <a:r>
              <a:rPr lang="vi-VN" sz="22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2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Sử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dụng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được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ngôn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ngữ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lập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C#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và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các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thư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viện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của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bộ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khung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.NET.</a:t>
            </a:r>
          </a:p>
          <a:p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Vẽ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được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các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sơ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đồ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UML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cơ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bản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Áp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dụng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được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phương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pháp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lập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hướng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đối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tượng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để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lập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giải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quyết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một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bài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toán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thực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tế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</a:rPr>
              <a:t>Tự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</a:rPr>
              <a:t>tìm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</a:rPr>
              <a:t>hiểu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được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các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u="sng" dirty="0" err="1" smtClean="0">
                <a:latin typeface="Calibri" pitchFamily="34" charset="0"/>
              </a:rPr>
              <a:t>công</a:t>
            </a:r>
            <a:r>
              <a:rPr lang="en-US" sz="2200" u="sng" dirty="0" smtClean="0">
                <a:latin typeface="Calibri" pitchFamily="34" charset="0"/>
              </a:rPr>
              <a:t> </a:t>
            </a:r>
            <a:r>
              <a:rPr lang="en-US" sz="2200" u="sng" dirty="0" err="1" smtClean="0">
                <a:latin typeface="Calibri" pitchFamily="34" charset="0"/>
              </a:rPr>
              <a:t>cụ</a:t>
            </a:r>
            <a:r>
              <a:rPr lang="en-US" sz="2200" dirty="0" smtClean="0">
                <a:latin typeface="Calibri" pitchFamily="34" charset="0"/>
              </a:rPr>
              <a:t>, </a:t>
            </a:r>
            <a:r>
              <a:rPr lang="en-US" sz="2200" u="sng" dirty="0" err="1" smtClean="0">
                <a:latin typeface="Calibri" pitchFamily="34" charset="0"/>
              </a:rPr>
              <a:t>ngôn</a:t>
            </a:r>
            <a:r>
              <a:rPr lang="en-US" sz="2200" u="sng" dirty="0" smtClean="0">
                <a:latin typeface="Calibri" pitchFamily="34" charset="0"/>
              </a:rPr>
              <a:t> </a:t>
            </a:r>
            <a:r>
              <a:rPr lang="en-US" sz="2200" u="sng" dirty="0" err="1" smtClean="0">
                <a:latin typeface="Calibri" pitchFamily="34" charset="0"/>
              </a:rPr>
              <a:t>ngữ</a:t>
            </a:r>
            <a:r>
              <a:rPr lang="en-US" sz="2200" dirty="0" smtClean="0">
                <a:latin typeface="Calibri" pitchFamily="34" charset="0"/>
              </a:rPr>
              <a:t>, </a:t>
            </a:r>
            <a:r>
              <a:rPr lang="en-US" sz="2200" u="sng" dirty="0" err="1" smtClean="0">
                <a:latin typeface="Calibri" pitchFamily="34" charset="0"/>
              </a:rPr>
              <a:t>công</a:t>
            </a:r>
            <a:r>
              <a:rPr lang="en-US" sz="2200" u="sng" dirty="0" smtClean="0">
                <a:latin typeface="Calibri" pitchFamily="34" charset="0"/>
              </a:rPr>
              <a:t> </a:t>
            </a:r>
            <a:r>
              <a:rPr lang="en-US" sz="2200" u="sng" dirty="0" err="1" smtClean="0">
                <a:latin typeface="Calibri" pitchFamily="34" charset="0"/>
              </a:rPr>
              <a:t>nghệ</a:t>
            </a:r>
            <a:r>
              <a:rPr lang="en-US" sz="2200" dirty="0" smtClean="0">
                <a:latin typeface="Calibri" pitchFamily="34" charset="0"/>
              </a:rPr>
              <a:t>, </a:t>
            </a:r>
            <a:r>
              <a:rPr lang="en-US" sz="2200" dirty="0" err="1" smtClean="0">
                <a:latin typeface="Calibri" pitchFamily="34" charset="0"/>
              </a:rPr>
              <a:t>phương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pháp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liên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quan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đến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lập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trình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hướng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đối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tượng</a:t>
            </a:r>
            <a:r>
              <a:rPr lang="en-US" sz="2200" dirty="0" smtClean="0">
                <a:latin typeface="Calibri" pitchFamily="34" charset="0"/>
              </a:rPr>
              <a:t>.</a:t>
            </a:r>
            <a:endParaRPr lang="en-US" sz="22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Phân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biệt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được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sự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khác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nhau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giữa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lập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u="sng" dirty="0" err="1" smtClean="0">
                <a:latin typeface="Calibri" pitchFamily="34" charset="0"/>
                <a:cs typeface="Calibri" pitchFamily="34" charset="0"/>
              </a:rPr>
              <a:t>hướng</a:t>
            </a:r>
            <a:r>
              <a:rPr lang="en-US" sz="2200" u="sng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u="sng" dirty="0" err="1" smtClean="0">
                <a:latin typeface="Calibri" pitchFamily="34" charset="0"/>
                <a:cs typeface="Calibri" pitchFamily="34" charset="0"/>
              </a:rPr>
              <a:t>đối</a:t>
            </a:r>
            <a:r>
              <a:rPr lang="en-US" sz="2200" u="sng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u="sng" dirty="0" err="1" smtClean="0">
                <a:latin typeface="Calibri" pitchFamily="34" charset="0"/>
                <a:cs typeface="Calibri" pitchFamily="34" charset="0"/>
              </a:rPr>
              <a:t>tượng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và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lập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u="sng" dirty="0" err="1" smtClean="0">
                <a:latin typeface="Calibri" pitchFamily="34" charset="0"/>
                <a:cs typeface="Calibri" pitchFamily="34" charset="0"/>
              </a:rPr>
              <a:t>thủ</a:t>
            </a:r>
            <a:r>
              <a:rPr lang="en-US" sz="2200" u="sng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u="sng" dirty="0" err="1" smtClean="0">
                <a:latin typeface="Calibri" pitchFamily="34" charset="0"/>
                <a:cs typeface="Calibri" pitchFamily="34" charset="0"/>
              </a:rPr>
              <a:t>tục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lập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u="sng" dirty="0" err="1" smtClean="0">
                <a:latin typeface="Calibri" pitchFamily="34" charset="0"/>
                <a:cs typeface="Calibri" pitchFamily="34" charset="0"/>
              </a:rPr>
              <a:t>hàm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57200"/>
            <a:ext cx="1504950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.NET Framework, C#, and Visual Studio IDE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3733800"/>
            <a:ext cx="5105400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 descr="http://3.bp.blogspot.com/-tSnUurQ4k3g/UDeoFP3H61I/AAAAAAAAAKw/_eSmYPY_Ugw/s1600/net4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1752600"/>
            <a:ext cx="5400675" cy="1590675"/>
          </a:xfrm>
          <a:prstGeom prst="rect">
            <a:avLst/>
          </a:prstGeom>
          <a:noFill/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3810000"/>
            <a:ext cx="2333625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43600" y="914400"/>
            <a:ext cx="1419225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endParaRPr lang="en-US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143000" y="1615619"/>
            <a:ext cx="78486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tiên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quyết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(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các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phải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đăng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ký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trước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và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thi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đạt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):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Nhập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môn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lập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trình</a:t>
            </a:r>
            <a:endParaRPr kumimoji="0" lang="en-US" sz="20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ea typeface="Times New Roman" pitchFamily="18" charset="0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endParaRPr kumimoji="0" lang="en-US" sz="20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ea typeface="Times New Roman" pitchFamily="18" charset="0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trước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các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nên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đăng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ký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trước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):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Cấu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trúc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dữ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liệu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và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giải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thuật</a:t>
            </a:r>
            <a:endParaRPr lang="en-US" sz="2000" dirty="0" smtClean="0">
              <a:latin typeface="+mj-lt"/>
              <a:ea typeface="Times New Roman" pitchFamily="18" charset="0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Kỹ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thuật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lập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trình</a:t>
            </a:r>
            <a:endParaRPr lang="en-US" sz="2000" dirty="0" smtClean="0">
              <a:latin typeface="+mj-lt"/>
              <a:ea typeface="Times New Roman" pitchFamily="18" charset="0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ea typeface="Times New Roman" pitchFamily="18" charset="0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song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hành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thể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đăng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ký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trong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cùng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):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Quản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trị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cơ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sở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dữ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liệu</a:t>
            </a:r>
            <a:endParaRPr lang="en-US" sz="2000" dirty="0" smtClean="0">
              <a:latin typeface="+mj-lt"/>
              <a:ea typeface="Times New Roman" pitchFamily="18" charset="0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Kiến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trúc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máy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tính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và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hợp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ngữ</a:t>
            </a:r>
            <a:endParaRPr lang="en-US" sz="2000" dirty="0" smtClean="0">
              <a:latin typeface="+mj-lt"/>
              <a:ea typeface="Times New Roman" pitchFamily="18" charset="0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endParaRPr lang="en-US" sz="2000" b="1" dirty="0" smtClean="0">
              <a:latin typeface="+mj-lt"/>
              <a:ea typeface="Times New Roman" pitchFamily="18" charset="0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Các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yêu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cầu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về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kiến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thức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,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kỹ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 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Sinh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viên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khả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đọc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hiểu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tiếng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Anh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mức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độ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sơ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đẳng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.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Sinh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viên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khả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áp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dụng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kỹ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viết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và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trình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bày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báo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cáo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" y="16002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895600"/>
            <a:ext cx="6858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4191000"/>
            <a:ext cx="98107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5419725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14600"/>
          </a:xfrm>
        </p:spPr>
        <p:txBody>
          <a:bodyPr/>
          <a:lstStyle/>
          <a:p>
            <a:r>
              <a:rPr lang="en-US" dirty="0" err="1" smtClean="0">
                <a:latin typeface="+mj-lt"/>
              </a:rPr>
              <a:t>Số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tín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chỉ</a:t>
            </a:r>
            <a:r>
              <a:rPr lang="en-US" dirty="0" smtClean="0">
                <a:latin typeface="+mj-lt"/>
              </a:rPr>
              <a:t>: 		4</a:t>
            </a:r>
          </a:p>
          <a:p>
            <a:r>
              <a:rPr lang="en-US" dirty="0" err="1" smtClean="0">
                <a:latin typeface="+mj-lt"/>
              </a:rPr>
              <a:t>Số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tiết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lý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thuyết</a:t>
            </a:r>
            <a:r>
              <a:rPr lang="en-US" dirty="0" smtClean="0">
                <a:latin typeface="+mj-lt"/>
              </a:rPr>
              <a:t>: 	45</a:t>
            </a:r>
          </a:p>
          <a:p>
            <a:r>
              <a:rPr lang="en-US" dirty="0" err="1" smtClean="0">
                <a:latin typeface="+mj-lt"/>
              </a:rPr>
              <a:t>Số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tiết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thực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hành</a:t>
            </a:r>
            <a:r>
              <a:rPr lang="en-US" dirty="0" smtClean="0">
                <a:latin typeface="+mj-lt"/>
              </a:rPr>
              <a:t>: 	30</a:t>
            </a:r>
          </a:p>
          <a:p>
            <a:r>
              <a:rPr lang="vi-VN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Số tiết tự học: 	</a:t>
            </a:r>
            <a:r>
              <a:rPr lang="en-US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	</a:t>
            </a:r>
            <a:r>
              <a:rPr lang="vi-VN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120</a:t>
            </a:r>
            <a:endParaRPr lang="en-US" i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1447800"/>
            <a:ext cx="296227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85800" y="4800600"/>
            <a:ext cx="76200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Nội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dung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môn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học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phân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bổ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thời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lượng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cụ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thể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cho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từng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nội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dung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và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lịch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trình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môn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học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: </a:t>
            </a:r>
            <a:r>
              <a:rPr lang="en-US" sz="3200" i="1" baseline="0" dirty="0" err="1" smtClean="0">
                <a:latin typeface="Calibri" pitchFamily="34" charset="0"/>
                <a:cs typeface="Calibri" pitchFamily="34" charset="0"/>
              </a:rPr>
              <a:t>Xem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đề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cương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chi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tiết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.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Thuyết</a:t>
            </a:r>
            <a:r>
              <a:rPr lang="en-US" dirty="0" smtClean="0"/>
              <a:t> </a:t>
            </a:r>
            <a:r>
              <a:rPr lang="en-US" dirty="0" err="1" smtClean="0"/>
              <a:t>giảng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334000" cy="4876800"/>
          </a:xfrm>
        </p:spPr>
        <p:txBody>
          <a:bodyPr/>
          <a:lstStyle/>
          <a:p>
            <a:pPr lvl="0"/>
            <a:r>
              <a:rPr lang="en-US" sz="2400" dirty="0" err="1" smtClean="0"/>
              <a:t>Giáo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 </a:t>
            </a:r>
            <a:r>
              <a:rPr lang="en-US" sz="2400" dirty="0" err="1" smtClean="0"/>
              <a:t>giảng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hướng</a:t>
            </a:r>
            <a:r>
              <a:rPr lang="en-US" sz="2400" dirty="0" smtClean="0"/>
              <a:t> </a:t>
            </a:r>
            <a:r>
              <a:rPr lang="en-US" sz="2400" dirty="0" err="1" smtClean="0"/>
              <a:t>dẫn</a:t>
            </a:r>
            <a:r>
              <a:rPr lang="en-US" sz="2400" dirty="0" smtClean="0"/>
              <a:t> </a:t>
            </a:r>
            <a:r>
              <a:rPr lang="en-US" sz="2400" dirty="0" err="1" smtClean="0"/>
              <a:t>đọc</a:t>
            </a:r>
            <a:r>
              <a:rPr lang="en-US" sz="2400" dirty="0" smtClean="0"/>
              <a:t> </a:t>
            </a:r>
            <a:r>
              <a:rPr lang="en-US" sz="2400" dirty="0" err="1" smtClean="0"/>
              <a:t>tài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, minh </a:t>
            </a:r>
            <a:r>
              <a:rPr lang="en-US" sz="2400" dirty="0" err="1" smtClean="0"/>
              <a:t>họa</a:t>
            </a:r>
            <a:r>
              <a:rPr lang="en-US" sz="2400" dirty="0" smtClean="0"/>
              <a:t> </a:t>
            </a:r>
            <a:r>
              <a:rPr lang="en-US" sz="2400" dirty="0" err="1" smtClean="0"/>
              <a:t>trực</a:t>
            </a:r>
            <a:r>
              <a:rPr lang="en-US" sz="2400" dirty="0" smtClean="0"/>
              <a:t> </a:t>
            </a:r>
            <a:r>
              <a:rPr lang="en-US" sz="2400" dirty="0" err="1" smtClean="0"/>
              <a:t>quan</a:t>
            </a:r>
            <a:r>
              <a:rPr lang="en-US" sz="2400" dirty="0" smtClean="0"/>
              <a:t>, </a:t>
            </a:r>
            <a:r>
              <a:rPr lang="en-US" sz="2400" dirty="0" err="1" smtClean="0"/>
              <a:t>cho</a:t>
            </a:r>
            <a:r>
              <a:rPr lang="en-US" sz="2400" dirty="0" smtClean="0"/>
              <a:t>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giảng</a:t>
            </a:r>
            <a:r>
              <a:rPr lang="en-US" sz="2400" dirty="0" smtClean="0"/>
              <a:t>, </a:t>
            </a:r>
            <a:r>
              <a:rPr lang="en-US" sz="2400" dirty="0" err="1" smtClean="0"/>
              <a:t>hướng</a:t>
            </a:r>
            <a:r>
              <a:rPr lang="en-US" sz="2400" dirty="0" smtClean="0"/>
              <a:t> </a:t>
            </a:r>
            <a:r>
              <a:rPr lang="en-US" sz="2400" dirty="0" err="1" smtClean="0"/>
              <a:t>dẫn</a:t>
            </a:r>
            <a:r>
              <a:rPr lang="en-US" sz="2400" dirty="0" smtClean="0"/>
              <a:t> </a:t>
            </a:r>
            <a:r>
              <a:rPr lang="en-US" sz="2400" dirty="0" err="1" smtClean="0"/>
              <a:t>thảo</a:t>
            </a:r>
            <a:r>
              <a:rPr lang="en-US" sz="2400" dirty="0" smtClean="0"/>
              <a:t> </a:t>
            </a:r>
            <a:r>
              <a:rPr lang="en-US" sz="2400" dirty="0" err="1" smtClean="0"/>
              <a:t>luận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lớp</a:t>
            </a:r>
            <a:r>
              <a:rPr lang="en-US" sz="2400" dirty="0" smtClean="0"/>
              <a:t>, </a:t>
            </a:r>
            <a:r>
              <a:rPr lang="en-US" sz="2400" dirty="0" err="1" smtClean="0"/>
              <a:t>ra</a:t>
            </a:r>
            <a:r>
              <a:rPr lang="en-US" sz="2400" dirty="0" smtClean="0"/>
              <a:t>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tập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kiểm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tra</a:t>
            </a:r>
            <a:r>
              <a:rPr lang="en-US" sz="2400" dirty="0" smtClean="0"/>
              <a:t> </a:t>
            </a:r>
            <a:r>
              <a:rPr lang="en-US" sz="2400" dirty="0" err="1" smtClean="0"/>
              <a:t>cuối</a:t>
            </a:r>
            <a:r>
              <a:rPr lang="en-US" sz="2400" dirty="0" smtClean="0"/>
              <a:t> </a:t>
            </a:r>
            <a:r>
              <a:rPr lang="en-US" sz="2400" dirty="0" err="1" smtClean="0"/>
              <a:t>buổi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r>
              <a:rPr lang="en-US" sz="2400" dirty="0" smtClean="0"/>
              <a:t>.</a:t>
            </a:r>
          </a:p>
          <a:p>
            <a:pPr lvl="0"/>
            <a:endParaRPr lang="en-US" sz="2400" dirty="0" smtClean="0"/>
          </a:p>
          <a:p>
            <a:pPr lvl="0"/>
            <a:endParaRPr lang="en-US" sz="2400" dirty="0" smtClean="0"/>
          </a:p>
          <a:p>
            <a:pPr lvl="0"/>
            <a:endParaRPr lang="en-US" sz="2400" dirty="0" smtClean="0"/>
          </a:p>
          <a:p>
            <a:pPr lvl="0"/>
            <a:r>
              <a:rPr lang="en-US" sz="2400" dirty="0" err="1" smtClean="0"/>
              <a:t>Sinh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 </a:t>
            </a:r>
            <a:r>
              <a:rPr lang="en-US" sz="2400" dirty="0" err="1" smtClean="0"/>
              <a:t>đọc</a:t>
            </a:r>
            <a:r>
              <a:rPr lang="en-US" sz="2400" dirty="0" smtClean="0"/>
              <a:t> </a:t>
            </a:r>
            <a:r>
              <a:rPr lang="en-US" sz="2400" dirty="0" err="1" smtClean="0"/>
              <a:t>tài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 </a:t>
            </a:r>
            <a:r>
              <a:rPr lang="en-US" sz="2400" dirty="0" err="1" smtClean="0"/>
              <a:t>cần</a:t>
            </a:r>
            <a:r>
              <a:rPr lang="en-US" sz="2400" dirty="0" smtClean="0"/>
              <a:t> </a:t>
            </a:r>
            <a:r>
              <a:rPr lang="en-US" sz="2400" dirty="0" err="1" smtClean="0"/>
              <a:t>thiết</a:t>
            </a:r>
            <a:r>
              <a:rPr lang="en-US" sz="2400" dirty="0" smtClean="0"/>
              <a:t>, </a:t>
            </a:r>
            <a:r>
              <a:rPr lang="en-US" sz="2400" dirty="0" err="1" smtClean="0"/>
              <a:t>nghe</a:t>
            </a:r>
            <a:r>
              <a:rPr lang="en-US" sz="2400" dirty="0" smtClean="0"/>
              <a:t> </a:t>
            </a:r>
            <a:r>
              <a:rPr lang="en-US" sz="2400" dirty="0" err="1" smtClean="0"/>
              <a:t>giảng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thảo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luận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lớp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, </a:t>
            </a:r>
            <a:r>
              <a:rPr lang="en-US" sz="2400" u="sng" dirty="0" err="1" smtClean="0"/>
              <a:t>làm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bài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tập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kiểm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tra</a:t>
            </a:r>
            <a:r>
              <a:rPr lang="en-US" sz="2400" dirty="0" smtClean="0"/>
              <a:t>, </a:t>
            </a:r>
            <a:r>
              <a:rPr lang="en-US" sz="2400" u="sng" dirty="0" err="1" smtClean="0"/>
              <a:t>điểm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danh</a:t>
            </a:r>
            <a:r>
              <a:rPr lang="en-US" sz="2400" dirty="0" smtClean="0"/>
              <a:t> </a:t>
            </a:r>
            <a:r>
              <a:rPr lang="en-US" sz="2400" dirty="0" err="1" smtClean="0"/>
              <a:t>với</a:t>
            </a:r>
            <a:r>
              <a:rPr lang="en-US" sz="2400" dirty="0" smtClean="0"/>
              <a:t> </a:t>
            </a:r>
            <a:r>
              <a:rPr lang="en-US" sz="2400" dirty="0" err="1" smtClean="0"/>
              <a:t>lớp</a:t>
            </a:r>
            <a:r>
              <a:rPr lang="en-US" sz="2400" dirty="0" smtClean="0"/>
              <a:t> </a:t>
            </a:r>
            <a:r>
              <a:rPr lang="en-US" sz="2400" dirty="0" err="1" smtClean="0"/>
              <a:t>phó</a:t>
            </a:r>
            <a:r>
              <a:rPr lang="en-US" sz="2400" dirty="0" smtClean="0"/>
              <a:t>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1066800"/>
            <a:ext cx="2400300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4495800"/>
            <a:ext cx="209550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72000" cy="2362200"/>
          </a:xfrm>
        </p:spPr>
        <p:txBody>
          <a:bodyPr/>
          <a:lstStyle/>
          <a:p>
            <a:pPr lvl="0"/>
            <a:r>
              <a:rPr lang="en-US" sz="2400" dirty="0" err="1" smtClean="0"/>
              <a:t>Giảng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 </a:t>
            </a:r>
            <a:r>
              <a:rPr lang="en-US" sz="2400" dirty="0" err="1" smtClean="0"/>
              <a:t>ra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bài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tập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thực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hành</a:t>
            </a:r>
            <a:r>
              <a:rPr lang="en-US" sz="2400" dirty="0" smtClean="0"/>
              <a:t>, </a:t>
            </a:r>
            <a:r>
              <a:rPr lang="en-US" sz="2400" dirty="0" err="1" smtClean="0"/>
              <a:t>hướng</a:t>
            </a:r>
            <a:r>
              <a:rPr lang="en-US" sz="2400" dirty="0" smtClean="0"/>
              <a:t> </a:t>
            </a:r>
            <a:r>
              <a:rPr lang="en-US" sz="2400" dirty="0" err="1" smtClean="0"/>
              <a:t>dẫn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vấn</a:t>
            </a:r>
            <a:r>
              <a:rPr lang="en-US" sz="2400" dirty="0" smtClean="0"/>
              <a:t> </a:t>
            </a:r>
            <a:r>
              <a:rPr lang="en-US" sz="2400" dirty="0" err="1" smtClean="0"/>
              <a:t>đề</a:t>
            </a:r>
            <a:r>
              <a:rPr lang="en-US" sz="2400" dirty="0" smtClean="0"/>
              <a:t> </a:t>
            </a:r>
            <a:r>
              <a:rPr lang="en-US" sz="2400" dirty="0" err="1" smtClean="0"/>
              <a:t>căn</a:t>
            </a:r>
            <a:r>
              <a:rPr lang="en-US" sz="2400" dirty="0" smtClean="0"/>
              <a:t> </a:t>
            </a:r>
            <a:r>
              <a:rPr lang="en-US" sz="2400" dirty="0" err="1" smtClean="0"/>
              <a:t>bản</a:t>
            </a:r>
            <a:r>
              <a:rPr lang="en-US" sz="2400" dirty="0" smtClean="0"/>
              <a:t>, </a:t>
            </a:r>
            <a:r>
              <a:rPr lang="en-US" sz="2400" dirty="0" err="1" smtClean="0"/>
              <a:t>định</a:t>
            </a:r>
            <a:r>
              <a:rPr lang="en-US" sz="2400" dirty="0" smtClean="0"/>
              <a:t> </a:t>
            </a:r>
            <a:r>
              <a:rPr lang="en-US" sz="2400" dirty="0" err="1" smtClean="0"/>
              <a:t>hướng</a:t>
            </a:r>
            <a:r>
              <a:rPr lang="en-US" sz="2400" dirty="0" smtClean="0"/>
              <a:t>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hiện</a:t>
            </a:r>
            <a:r>
              <a:rPr lang="en-US" sz="2400" dirty="0" smtClean="0"/>
              <a:t>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tập</a:t>
            </a:r>
            <a:r>
              <a:rPr lang="en-US" sz="2400" dirty="0" smtClean="0"/>
              <a:t> </a:t>
            </a:r>
            <a:r>
              <a:rPr lang="en-US" sz="2400" dirty="0" err="1" smtClean="0"/>
              <a:t>cho</a:t>
            </a:r>
            <a:r>
              <a:rPr lang="en-US" sz="2400" dirty="0" smtClean="0"/>
              <a:t> </a:t>
            </a:r>
            <a:r>
              <a:rPr lang="en-US" sz="2400" dirty="0" err="1" smtClean="0"/>
              <a:t>sinh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, </a:t>
            </a:r>
            <a:r>
              <a:rPr lang="en-US" sz="2400" dirty="0" err="1" smtClean="0"/>
              <a:t>nhận</a:t>
            </a:r>
            <a:r>
              <a:rPr lang="en-US" sz="2400" dirty="0" smtClean="0"/>
              <a:t> </a:t>
            </a:r>
            <a:r>
              <a:rPr lang="en-US" sz="2400" dirty="0" err="1" smtClean="0"/>
              <a:t>xét</a:t>
            </a:r>
            <a:r>
              <a:rPr lang="en-US" sz="2400" dirty="0" smtClean="0"/>
              <a:t> </a:t>
            </a:r>
            <a:r>
              <a:rPr lang="en-US" sz="2400" dirty="0" err="1" smtClean="0"/>
              <a:t>kết</a:t>
            </a:r>
            <a:r>
              <a:rPr lang="en-US" sz="2400" dirty="0" smtClean="0"/>
              <a:t> </a:t>
            </a:r>
            <a:r>
              <a:rPr lang="en-US" sz="2400" dirty="0" err="1" smtClean="0"/>
              <a:t>quả</a:t>
            </a:r>
            <a:r>
              <a:rPr lang="en-US" sz="2400" dirty="0" smtClean="0"/>
              <a:t>,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đáp</a:t>
            </a:r>
            <a:r>
              <a:rPr lang="en-US" sz="2400" dirty="0" smtClean="0"/>
              <a:t> </a:t>
            </a:r>
            <a:r>
              <a:rPr lang="en-US" sz="2400" dirty="0" err="1" smtClean="0"/>
              <a:t>thắc</a:t>
            </a:r>
            <a:r>
              <a:rPr lang="en-US" sz="2400" dirty="0" smtClean="0"/>
              <a:t> </a:t>
            </a:r>
            <a:r>
              <a:rPr lang="en-US" sz="2400" dirty="0" err="1" smtClean="0"/>
              <a:t>mắc</a:t>
            </a:r>
            <a:r>
              <a:rPr lang="en-US" sz="2400" dirty="0" smtClean="0"/>
              <a:t> </a:t>
            </a:r>
            <a:r>
              <a:rPr lang="en-US" sz="2400" dirty="0" err="1" smtClean="0"/>
              <a:t>cho</a:t>
            </a:r>
            <a:r>
              <a:rPr lang="en-US" sz="2400" dirty="0" smtClean="0"/>
              <a:t> </a:t>
            </a:r>
            <a:r>
              <a:rPr lang="en-US" sz="2400" dirty="0" err="1" smtClean="0"/>
              <a:t>sinh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876800"/>
            <a:ext cx="2247900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1295400"/>
            <a:ext cx="3762375" cy="340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733800" y="5181600"/>
            <a:ext cx="49530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Sinh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viên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làm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bài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tập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thực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hành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400" b="0" i="0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nộp</a:t>
            </a:r>
            <a:r>
              <a:rPr kumimoji="0" lang="en-US" sz="2400" b="0" i="0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kết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quả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hằng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tuần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Thuyết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525963"/>
          </a:xfrm>
        </p:spPr>
        <p:txBody>
          <a:bodyPr/>
          <a:lstStyle/>
          <a:p>
            <a:pPr lvl="0"/>
            <a:r>
              <a:rPr lang="en-US" sz="2400" dirty="0" err="1" smtClean="0"/>
              <a:t>Giáo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 </a:t>
            </a:r>
            <a:r>
              <a:rPr lang="en-US" sz="2400" dirty="0" err="1" smtClean="0"/>
              <a:t>đưa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chủ</a:t>
            </a:r>
            <a:r>
              <a:rPr lang="en-US" sz="2400" dirty="0" smtClean="0"/>
              <a:t> </a:t>
            </a:r>
            <a:r>
              <a:rPr lang="en-US" sz="2400" dirty="0" err="1" smtClean="0"/>
              <a:t>đề</a:t>
            </a:r>
            <a:r>
              <a:rPr lang="en-US" sz="2400" dirty="0" smtClean="0"/>
              <a:t>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 </a:t>
            </a:r>
            <a:r>
              <a:rPr lang="en-US" sz="2400" dirty="0" err="1" smtClean="0"/>
              <a:t>trình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tài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, </a:t>
            </a:r>
            <a:r>
              <a:rPr lang="en-US" sz="2400" i="1" dirty="0" err="1" smtClean="0">
                <a:solidFill>
                  <a:srgbClr val="C00000"/>
                </a:solidFill>
              </a:rPr>
              <a:t>điều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phối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dirty="0" err="1" smtClean="0"/>
              <a:t>buổi</a:t>
            </a:r>
            <a:r>
              <a:rPr lang="en-US" sz="2400" dirty="0" smtClean="0"/>
              <a:t>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 </a:t>
            </a:r>
            <a:r>
              <a:rPr lang="en-US" sz="2400" dirty="0" err="1" smtClean="0"/>
              <a:t>trình</a:t>
            </a:r>
            <a:r>
              <a:rPr lang="en-US" sz="2400" dirty="0" smtClean="0"/>
              <a:t>, </a:t>
            </a:r>
            <a:r>
              <a:rPr lang="en-US" sz="2400" dirty="0" err="1" smtClean="0"/>
              <a:t>ra</a:t>
            </a:r>
            <a:r>
              <a:rPr lang="en-US" sz="2400" dirty="0" smtClean="0"/>
              <a:t>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tập</a:t>
            </a:r>
            <a:r>
              <a:rPr lang="en-US" sz="2400" dirty="0" smtClean="0"/>
              <a:t> </a:t>
            </a:r>
            <a:r>
              <a:rPr lang="en-US" sz="2400" dirty="0" err="1" smtClean="0"/>
              <a:t>kiểm</a:t>
            </a:r>
            <a:r>
              <a:rPr lang="en-US" sz="2400" dirty="0" smtClean="0"/>
              <a:t> </a:t>
            </a:r>
            <a:r>
              <a:rPr lang="en-US" sz="2400" dirty="0" err="1" smtClean="0"/>
              <a:t>tra</a:t>
            </a:r>
            <a:r>
              <a:rPr lang="en-US" sz="2400" dirty="0" smtClean="0"/>
              <a:t> </a:t>
            </a:r>
            <a:r>
              <a:rPr lang="en-US" sz="2400" dirty="0" err="1" smtClean="0"/>
              <a:t>cuối</a:t>
            </a:r>
            <a:r>
              <a:rPr lang="en-US" sz="2400" dirty="0" smtClean="0"/>
              <a:t> </a:t>
            </a:r>
            <a:r>
              <a:rPr lang="en-US" sz="2400" dirty="0" err="1" smtClean="0"/>
              <a:t>buổi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r>
              <a:rPr lang="en-US" sz="2400" dirty="0" smtClean="0"/>
              <a:t>.</a:t>
            </a:r>
          </a:p>
          <a:p>
            <a:pPr lvl="0"/>
            <a:endParaRPr lang="en-US" sz="2400" dirty="0" smtClean="0"/>
          </a:p>
          <a:p>
            <a:pPr lvl="0"/>
            <a:r>
              <a:rPr lang="en-US" sz="2400" dirty="0" err="1" smtClean="0"/>
              <a:t>Sinh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đọc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tài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liệu</a:t>
            </a:r>
            <a:r>
              <a:rPr lang="en-US" sz="2400" dirty="0" smtClean="0"/>
              <a:t> </a:t>
            </a:r>
            <a:r>
              <a:rPr lang="en-US" sz="2400" dirty="0" err="1" smtClean="0"/>
              <a:t>cần</a:t>
            </a:r>
            <a:r>
              <a:rPr lang="en-US" sz="2400" dirty="0" smtClean="0"/>
              <a:t> </a:t>
            </a:r>
            <a:r>
              <a:rPr lang="en-US" sz="2400" dirty="0" err="1" smtClean="0"/>
              <a:t>thiết</a:t>
            </a:r>
            <a:r>
              <a:rPr lang="en-US" sz="2400" dirty="0" smtClean="0"/>
              <a:t>, 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pháp</a:t>
            </a:r>
            <a:r>
              <a:rPr lang="en-US" sz="2400" dirty="0" smtClean="0"/>
              <a:t>, </a:t>
            </a:r>
            <a:r>
              <a:rPr lang="en-US" sz="2400" dirty="0" err="1" smtClean="0"/>
              <a:t>chuẩn</a:t>
            </a:r>
            <a:r>
              <a:rPr lang="en-US" sz="2400" dirty="0" smtClean="0"/>
              <a:t> </a:t>
            </a:r>
            <a:r>
              <a:rPr lang="en-US" sz="2400" dirty="0" err="1" smtClean="0"/>
              <a:t>bị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r>
              <a:rPr lang="en-US" sz="2400" dirty="0" smtClean="0"/>
              <a:t>,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hành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thao</a:t>
            </a:r>
            <a:r>
              <a:rPr lang="en-US" sz="2400" dirty="0" smtClean="0"/>
              <a:t> </a:t>
            </a:r>
            <a:r>
              <a:rPr lang="en-US" sz="2400" dirty="0" err="1" smtClean="0"/>
              <a:t>tác</a:t>
            </a:r>
            <a:r>
              <a:rPr lang="en-US" sz="2400" dirty="0" smtClean="0"/>
              <a:t>, </a:t>
            </a:r>
            <a:r>
              <a:rPr lang="en-US" sz="2400" dirty="0" err="1" smtClean="0"/>
              <a:t>soạn</a:t>
            </a:r>
            <a:r>
              <a:rPr lang="en-US" sz="2400" dirty="0" smtClean="0"/>
              <a:t> </a:t>
            </a:r>
            <a:r>
              <a:rPr lang="en-US" sz="2400" dirty="0" err="1" smtClean="0"/>
              <a:t>thảo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 </a:t>
            </a:r>
            <a:r>
              <a:rPr lang="en-US" sz="2400" dirty="0" err="1" smtClean="0"/>
              <a:t>trình</a:t>
            </a:r>
            <a:r>
              <a:rPr lang="en-US" sz="2400" dirty="0" smtClean="0"/>
              <a:t>,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 </a:t>
            </a:r>
            <a:r>
              <a:rPr lang="en-US" sz="2400" dirty="0" err="1" smtClean="0"/>
              <a:t>trình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thảo</a:t>
            </a:r>
            <a:r>
              <a:rPr lang="en-US" sz="2400" dirty="0" smtClean="0"/>
              <a:t> </a:t>
            </a:r>
            <a:r>
              <a:rPr lang="en-US" sz="2400" dirty="0" err="1" smtClean="0"/>
              <a:t>luận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lớp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, </a:t>
            </a:r>
            <a:r>
              <a:rPr lang="en-US" sz="2400" dirty="0" err="1" smtClean="0"/>
              <a:t>làm</a:t>
            </a:r>
            <a:r>
              <a:rPr lang="en-US" sz="2400" dirty="0" smtClean="0"/>
              <a:t>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tập</a:t>
            </a:r>
            <a:r>
              <a:rPr lang="en-US" sz="2400" dirty="0" smtClean="0"/>
              <a:t> </a:t>
            </a:r>
            <a:r>
              <a:rPr lang="en-US" sz="2400" dirty="0" err="1" smtClean="0"/>
              <a:t>kiểm</a:t>
            </a:r>
            <a:r>
              <a:rPr lang="en-US" sz="2400" dirty="0" smtClean="0"/>
              <a:t> </a:t>
            </a:r>
            <a:r>
              <a:rPr lang="en-US" sz="2400" dirty="0" err="1" smtClean="0"/>
              <a:t>tra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err="1" smtClean="0"/>
              <a:t>Những</a:t>
            </a:r>
            <a:r>
              <a:rPr lang="en-US" sz="2400" dirty="0" smtClean="0"/>
              <a:t> </a:t>
            </a:r>
            <a:r>
              <a:rPr lang="en-US" sz="2400" dirty="0" err="1" smtClean="0"/>
              <a:t>sinh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kịp</a:t>
            </a:r>
            <a:r>
              <a:rPr lang="en-US" sz="2400" dirty="0" smtClean="0"/>
              <a:t>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 </a:t>
            </a:r>
            <a:r>
              <a:rPr lang="en-US" sz="2400" dirty="0" err="1" smtClean="0"/>
              <a:t>trình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lớp</a:t>
            </a:r>
            <a:r>
              <a:rPr lang="en-US" sz="2400" dirty="0" smtClean="0"/>
              <a:t> </a:t>
            </a:r>
            <a:r>
              <a:rPr lang="en-US" sz="2400" dirty="0" err="1" smtClean="0"/>
              <a:t>sẽ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viết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và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nộp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báo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cáo</a:t>
            </a:r>
            <a:r>
              <a:rPr lang="en-US" sz="2400" dirty="0" smtClean="0"/>
              <a:t>.</a:t>
            </a: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2362200"/>
            <a:ext cx="3333750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447800"/>
            <a:ext cx="6400800" cy="4038600"/>
          </a:xfrm>
        </p:spPr>
        <p:txBody>
          <a:bodyPr/>
          <a:lstStyle/>
          <a:p>
            <a:pPr marL="514350" indent="-514350">
              <a:buFont typeface="Courier New" pitchFamily="49" charset="0"/>
              <a:buChar char="o"/>
            </a:pPr>
            <a:r>
              <a:rPr lang="vi-VN" sz="2400" b="1" dirty="0" smtClean="0">
                <a:latin typeface="Calibri" pitchFamily="34" charset="0"/>
                <a:cs typeface="Calibri" pitchFamily="34" charset="0"/>
              </a:rPr>
              <a:t>Kết quả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là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điểm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tổng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hợp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của</a:t>
            </a:r>
            <a:r>
              <a:rPr lang="vi-VN" sz="2400" b="1" dirty="0" smtClean="0">
                <a:latin typeface="Calibri" pitchFamily="34" charset="0"/>
                <a:cs typeface="Calibri" pitchFamily="34" charset="0"/>
              </a:rPr>
              <a:t>:</a:t>
            </a:r>
            <a:endParaRPr lang="en-US" sz="2400" b="1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Điểm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danh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và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k</a:t>
            </a:r>
            <a:r>
              <a:rPr lang="vi-VN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iểm tra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cá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nhân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 tại 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(20% điểm)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Bài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tập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thực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hành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cá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nhân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 (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3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0% điểm)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Thuyết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trên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theo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nhóm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(10%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điểm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)</a:t>
            </a:r>
          </a:p>
          <a:p>
            <a:pPr lvl="1">
              <a:buFont typeface="Wingdings" pitchFamily="2" charset="2"/>
              <a:buChar char="§"/>
            </a:pPr>
            <a:r>
              <a:rPr lang="vi-VN" sz="2000" smtClean="0">
                <a:latin typeface="Calibri" pitchFamily="34" charset="0"/>
                <a:cs typeface="Calibri" pitchFamily="34" charset="0"/>
              </a:rPr>
              <a:t>Thi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vấn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đáp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cá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nhân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cuối kỳ (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4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0% điểm)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Courier New" pitchFamily="49" charset="0"/>
              <a:buChar char="o"/>
            </a:pP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Điểm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cộng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(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tối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đa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20%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điểm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)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cho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một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trong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hai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trường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hợp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:</a:t>
            </a:r>
          </a:p>
          <a:p>
            <a:pPr marL="914400" lvl="1" indent="-514350">
              <a:buFont typeface="Wingdings" pitchFamily="2" charset="2"/>
              <a:buChar char="§"/>
            </a:pPr>
            <a:r>
              <a:rPr lang="vi-VN" sz="2000" dirty="0" smtClean="0">
                <a:latin typeface="Calibri" pitchFamily="34" charset="0"/>
                <a:cs typeface="Calibri" pitchFamily="34" charset="0"/>
              </a:rPr>
              <a:t>Sinh viên tích cực trả lời trong lớp học và trả lời đúng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marL="914400" lvl="1" indent="-514350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Ban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cán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sự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(1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trưởng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và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1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phó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)</a:t>
            </a:r>
          </a:p>
          <a:p>
            <a:pPr>
              <a:buNone/>
            </a:pPr>
            <a:endParaRPr lang="en-US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143000" y="5486400"/>
            <a:ext cx="655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Tiêu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chuẩn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đánh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giá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có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thể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thay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đổi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tùy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theo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tình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hình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học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tập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của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lớp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.</a:t>
            </a:r>
            <a:endParaRPr lang="en-US" sz="3200" i="1" dirty="0" smtClean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752600"/>
            <a:ext cx="1190625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886200"/>
            <a:ext cx="13239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khảo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57200" y="3962400"/>
            <a:ext cx="83820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+mj-lt"/>
              </a:rPr>
              <a:t>Jim Keogh and Mario </a:t>
            </a:r>
            <a:r>
              <a:rPr lang="en-US" sz="2000" dirty="0" err="1" smtClean="0">
                <a:latin typeface="+mj-lt"/>
              </a:rPr>
              <a:t>Giannini</a:t>
            </a:r>
            <a:r>
              <a:rPr lang="en-US" sz="2000" dirty="0" smtClean="0">
                <a:latin typeface="+mj-lt"/>
              </a:rPr>
              <a:t>. OOP Demystified: A Self-Teaching Guide. 2005.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+mj-lt"/>
              </a:rPr>
              <a:t>RB Whitaker. The C# Player's Guide. 2015.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 smtClean="0">
                <a:latin typeface="+mj-lt"/>
              </a:rPr>
              <a:t>Herbert </a:t>
            </a:r>
            <a:r>
              <a:rPr lang="en-US" sz="2000" dirty="0" err="1" smtClean="0">
                <a:latin typeface="+mj-lt"/>
              </a:rPr>
              <a:t>Schildt</a:t>
            </a:r>
            <a:r>
              <a:rPr lang="en-US" sz="2000" dirty="0" smtClean="0">
                <a:latin typeface="+mj-lt"/>
              </a:rPr>
              <a:t>. CSharp.4.0 The Complete Reference. McGraw Hill. 2010.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+mj-lt"/>
              </a:rPr>
              <a:t>Tom Archer and Andrew </a:t>
            </a:r>
            <a:r>
              <a:rPr lang="en-US" sz="2000" dirty="0" err="1" smtClean="0">
                <a:latin typeface="+mj-lt"/>
              </a:rPr>
              <a:t>Whitechapel</a:t>
            </a:r>
            <a:r>
              <a:rPr lang="en-US" sz="2000" dirty="0" smtClean="0">
                <a:latin typeface="+mj-lt"/>
              </a:rPr>
              <a:t> . Inside C#. 2002.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+mj-lt"/>
              </a:rPr>
              <a:t>Dan Clark. Beginning C# Object-Oriented Programming. </a:t>
            </a:r>
            <a:r>
              <a:rPr lang="en-US" sz="2000" dirty="0" err="1" smtClean="0">
                <a:latin typeface="+mj-lt"/>
              </a:rPr>
              <a:t>Apress</a:t>
            </a:r>
            <a:r>
              <a:rPr lang="en-US" sz="2000" dirty="0" smtClean="0">
                <a:latin typeface="+mj-lt"/>
              </a:rPr>
              <a:t>. 2013.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+mj-lt"/>
              </a:rPr>
              <a:t>Matt </a:t>
            </a:r>
            <a:r>
              <a:rPr lang="en-US" sz="2000" dirty="0" err="1" smtClean="0">
                <a:latin typeface="+mj-lt"/>
              </a:rPr>
              <a:t>Weisfeld</a:t>
            </a:r>
            <a:r>
              <a:rPr lang="en-US" sz="2000" dirty="0" smtClean="0">
                <a:latin typeface="+mj-lt"/>
              </a:rPr>
              <a:t>. The Object-Oriented Thought Process. 2008.</a:t>
            </a:r>
          </a:p>
          <a:p>
            <a:pPr marL="457200" lvl="0" indent="-457200" eaLnBrk="0" hangingPunct="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sz="2000" dirty="0" smtClean="0">
                <a:latin typeface="+mj-lt"/>
                <a:cs typeface="Calibri" pitchFamily="34" charset="0"/>
              </a:rPr>
              <a:t>PHẦN REFERENCES TRONG CÁC SLIDES MÔN HỌC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219200"/>
            <a:ext cx="2714625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05000"/>
            <a:ext cx="8763000" cy="4572000"/>
          </a:xfrm>
        </p:spPr>
        <p:txBody>
          <a:bodyPr/>
          <a:lstStyle/>
          <a:p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vắng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mặt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quá</a:t>
            </a:r>
            <a:r>
              <a:rPr lang="en-US" sz="2000" dirty="0" smtClean="0">
                <a:latin typeface="+mj-lt"/>
              </a:rPr>
              <a:t> 20% </a:t>
            </a:r>
            <a:r>
              <a:rPr lang="en-US" sz="2000" dirty="0" err="1" smtClean="0">
                <a:latin typeface="+mj-lt"/>
              </a:rPr>
              <a:t>thời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lượng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không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được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thi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cuối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kỳ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vắng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trong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buổi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tại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lớp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0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bài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đó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thực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hành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hoặc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tổng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số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các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bài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lớp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0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không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được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thi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cuối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kỳ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Các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bài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thực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hành</a:t>
            </a:r>
            <a:r>
              <a:rPr lang="en-US" sz="2000" dirty="0" smtClean="0">
                <a:latin typeface="+mj-lt"/>
              </a:rPr>
              <a:t> hay </a:t>
            </a:r>
            <a:r>
              <a:rPr lang="en-US" sz="2000" dirty="0" err="1" smtClean="0">
                <a:latin typeface="+mj-lt"/>
              </a:rPr>
              <a:t>kiểm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tra</a:t>
            </a:r>
            <a:r>
              <a:rPr lang="en-US" sz="2000" dirty="0" smtClean="0">
                <a:latin typeface="+mj-lt"/>
              </a:rPr>
              <a:t> quay </a:t>
            </a:r>
            <a:r>
              <a:rPr lang="en-US" sz="2000" dirty="0" err="1" smtClean="0">
                <a:latin typeface="+mj-lt"/>
              </a:rPr>
              <a:t>cóp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một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phần</a:t>
            </a:r>
            <a:r>
              <a:rPr lang="en-US" sz="2000" dirty="0" smtClean="0">
                <a:latin typeface="+mj-lt"/>
              </a:rPr>
              <a:t> hay </a:t>
            </a:r>
            <a:r>
              <a:rPr lang="en-US" sz="2000" dirty="0" err="1" smtClean="0">
                <a:latin typeface="+mj-lt"/>
              </a:rPr>
              <a:t>toàn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bộ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từ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mạng</a:t>
            </a:r>
            <a:r>
              <a:rPr lang="en-US" sz="2000" dirty="0" smtClean="0">
                <a:latin typeface="+mj-lt"/>
              </a:rPr>
              <a:t> hay </a:t>
            </a:r>
            <a:r>
              <a:rPr lang="en-US" sz="2000" dirty="0" err="1" smtClean="0">
                <a:latin typeface="+mj-lt"/>
              </a:rPr>
              <a:t>bất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cứ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nguồn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nào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0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. </a:t>
            </a:r>
            <a:r>
              <a:rPr lang="en-US" sz="2000" dirty="0" err="1" smtClean="0">
                <a:latin typeface="+mj-lt"/>
              </a:rPr>
              <a:t>Điều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này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áp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dụng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cả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trường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hợp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giảng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phát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hiện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sau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đã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thành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làm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bài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tại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lớp</a:t>
            </a:r>
            <a:r>
              <a:rPr lang="en-US" sz="2000" dirty="0" smtClean="0">
                <a:latin typeface="+mj-lt"/>
              </a:rPr>
              <a:t>, </a:t>
            </a:r>
            <a:r>
              <a:rPr lang="en-US" sz="2000" dirty="0" err="1" smtClean="0">
                <a:latin typeface="+mj-lt"/>
              </a:rPr>
              <a:t>bài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tập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thực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hành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hộ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bạn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mình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0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Các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có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bằng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chứng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bạn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mình</a:t>
            </a:r>
            <a:r>
              <a:rPr lang="en-US" sz="2000" dirty="0" smtClean="0">
                <a:latin typeface="+mj-lt"/>
              </a:rPr>
              <a:t> quay </a:t>
            </a:r>
            <a:r>
              <a:rPr lang="en-US" sz="2000" dirty="0" err="1" smtClean="0">
                <a:latin typeface="+mj-lt"/>
              </a:rPr>
              <a:t>cóp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nhưng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không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thông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báo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giảng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trừ</a:t>
            </a:r>
            <a:r>
              <a:rPr lang="en-US" sz="2000" dirty="0" smtClean="0">
                <a:latin typeface="+mj-lt"/>
              </a:rPr>
              <a:t> 50%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mà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mình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đạt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được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Trường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hợp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duy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nhất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giải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quyết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các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ngoại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lệ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là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có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giấy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chứng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nhận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của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bệnh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viện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về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tình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trạng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sức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khỏe</a:t>
            </a:r>
            <a:r>
              <a:rPr lang="en-US" sz="2000" dirty="0" smtClean="0">
                <a:latin typeface="+mj-lt"/>
              </a:rPr>
              <a:t>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8600"/>
            <a:ext cx="21526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4419600"/>
            <a:ext cx="4133850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Xây</a:t>
            </a:r>
            <a:r>
              <a:rPr lang="en-US" dirty="0" smtClean="0"/>
              <a:t> </a:t>
            </a:r>
            <a:r>
              <a:rPr lang="en-US" dirty="0" err="1" smtClean="0"/>
              <a:t>dựng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r>
              <a:rPr lang="en-US" dirty="0" smtClean="0"/>
              <a:t> </a:t>
            </a:r>
            <a:r>
              <a:rPr lang="en-US" dirty="0" err="1" smtClean="0"/>
              <a:t>thuyết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685800" y="1397000"/>
          <a:ext cx="7848600" cy="309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hỏi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lời</a:t>
            </a:r>
            <a:endParaRPr 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19488" y="2233613"/>
            <a:ext cx="210502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Cám</a:t>
            </a:r>
            <a:r>
              <a:rPr lang="en-US" dirty="0" smtClean="0"/>
              <a:t> </a:t>
            </a:r>
            <a:r>
              <a:rPr lang="en-US" dirty="0" err="1" smtClean="0"/>
              <a:t>ơn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9501</TotalTime>
  <Words>1613</Words>
  <Application>Microsoft Office PowerPoint</Application>
  <PresentationFormat>On-screen Show (4:3)</PresentationFormat>
  <Paragraphs>147</Paragraphs>
  <Slides>22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Giới Thiệu Môn Học</vt:lpstr>
      <vt:lpstr>Giảng viên phụ trách</vt:lpstr>
      <vt:lpstr>Nội dung</vt:lpstr>
      <vt:lpstr>Tại sao tôi cần học môn này? (I)</vt:lpstr>
      <vt:lpstr>Tại sao tôi cần học môn này? (II)</vt:lpstr>
      <vt:lpstr>.NET Developer Hire</vt:lpstr>
      <vt:lpstr>Slide 7</vt:lpstr>
      <vt:lpstr>Java Developer Hire</vt:lpstr>
      <vt:lpstr>PHP Developer Hire</vt:lpstr>
      <vt:lpstr>Mục tiêu</vt:lpstr>
      <vt:lpstr>.NET Framework, C#, and Visual Studio IDE</vt:lpstr>
      <vt:lpstr>Điều kiện đăng ký học phần</vt:lpstr>
      <vt:lpstr>Thời lượng môn học</vt:lpstr>
      <vt:lpstr>Thuyết giảng</vt:lpstr>
      <vt:lpstr>Thực hành</vt:lpstr>
      <vt:lpstr>Thuyết trình trên lớp</vt:lpstr>
      <vt:lpstr>Đánh giá kết quả học tập</vt:lpstr>
      <vt:lpstr>Tài liệu tham khảo</vt:lpstr>
      <vt:lpstr>Nội quy môn học</vt:lpstr>
      <vt:lpstr>Xây dựng nhóm thuyết trình</vt:lpstr>
      <vt:lpstr>Câu hỏi và Trả lời</vt:lpstr>
      <vt:lpstr>Cám ơn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3837</cp:revision>
  <dcterms:created xsi:type="dcterms:W3CDTF">2007-10-06T08:25:13Z</dcterms:created>
  <dcterms:modified xsi:type="dcterms:W3CDTF">2019-12-21T19:02:48Z</dcterms:modified>
</cp:coreProperties>
</file>