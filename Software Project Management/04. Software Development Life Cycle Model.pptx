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41"/>
  </p:notesMasterIdLst>
  <p:handoutMasterIdLst>
    <p:handoutMasterId r:id="rId42"/>
  </p:handoutMasterIdLst>
  <p:sldIdLst>
    <p:sldId id="256" r:id="rId2"/>
    <p:sldId id="443" r:id="rId3"/>
    <p:sldId id="503" r:id="rId4"/>
    <p:sldId id="444" r:id="rId5"/>
    <p:sldId id="457" r:id="rId6"/>
    <p:sldId id="422" r:id="rId7"/>
    <p:sldId id="487" r:id="rId8"/>
    <p:sldId id="529" r:id="rId9"/>
    <p:sldId id="354" r:id="rId10"/>
    <p:sldId id="465" r:id="rId11"/>
    <p:sldId id="530" r:id="rId12"/>
    <p:sldId id="467" r:id="rId13"/>
    <p:sldId id="466" r:id="rId14"/>
    <p:sldId id="531" r:id="rId15"/>
    <p:sldId id="468" r:id="rId16"/>
    <p:sldId id="355" r:id="rId17"/>
    <p:sldId id="548" r:id="rId18"/>
    <p:sldId id="542" r:id="rId19"/>
    <p:sldId id="546" r:id="rId20"/>
    <p:sldId id="469" r:id="rId21"/>
    <p:sldId id="357" r:id="rId22"/>
    <p:sldId id="549" r:id="rId23"/>
    <p:sldId id="358" r:id="rId24"/>
    <p:sldId id="532" r:id="rId25"/>
    <p:sldId id="470" r:id="rId26"/>
    <p:sldId id="488" r:id="rId27"/>
    <p:sldId id="547" r:id="rId28"/>
    <p:sldId id="528" r:id="rId29"/>
    <p:sldId id="523" r:id="rId30"/>
    <p:sldId id="524" r:id="rId31"/>
    <p:sldId id="479" r:id="rId32"/>
    <p:sldId id="552" r:id="rId33"/>
    <p:sldId id="505" r:id="rId34"/>
    <p:sldId id="506" r:id="rId35"/>
    <p:sldId id="533" r:id="rId36"/>
    <p:sldId id="551" r:id="rId37"/>
    <p:sldId id="495" r:id="rId38"/>
    <p:sldId id="550" r:id="rId39"/>
    <p:sldId id="343" r:id="rId4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2558" autoAdjust="0"/>
    <p:restoredTop sz="75865" autoAdjust="0"/>
  </p:normalViewPr>
  <p:slideViewPr>
    <p:cSldViewPr>
      <p:cViewPr>
        <p:scale>
          <a:sx n="50" d="100"/>
          <a:sy n="50" d="100"/>
        </p:scale>
        <p:origin x="-1474" y="-10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80FB2A-1530-4D53-A927-BBAB300DF9A4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8CE9A4-1C4F-4DA3-969B-EB9074D71A24}">
      <dgm:prSet phldrT="[Text]"/>
      <dgm:spPr/>
      <dgm:t>
        <a:bodyPr/>
        <a:lstStyle/>
        <a:p>
          <a:r>
            <a:rPr lang="en-US" dirty="0" smtClean="0"/>
            <a:t>SDLCM</a:t>
          </a:r>
          <a:endParaRPr lang="en-US" dirty="0"/>
        </a:p>
      </dgm:t>
    </dgm:pt>
    <dgm:pt modelId="{3CB23A42-F308-4887-A3F5-E5BA096E7BAB}" type="parTrans" cxnId="{8F58600E-1DEF-4FAD-9DDD-3EC6DF38D067}">
      <dgm:prSet/>
      <dgm:spPr/>
      <dgm:t>
        <a:bodyPr/>
        <a:lstStyle/>
        <a:p>
          <a:endParaRPr lang="en-US"/>
        </a:p>
      </dgm:t>
    </dgm:pt>
    <dgm:pt modelId="{172413B4-C036-48E7-9296-CAB749366642}" type="sibTrans" cxnId="{8F58600E-1DEF-4FAD-9DDD-3EC6DF38D067}">
      <dgm:prSet/>
      <dgm:spPr/>
      <dgm:t>
        <a:bodyPr/>
        <a:lstStyle/>
        <a:p>
          <a:endParaRPr lang="en-US"/>
        </a:p>
      </dgm:t>
    </dgm:pt>
    <dgm:pt modelId="{65EF02AC-0E5A-466D-A179-68EFFFDA0AF5}">
      <dgm:prSet phldrT="[Text]" custT="1"/>
      <dgm:spPr/>
      <dgm:t>
        <a:bodyPr/>
        <a:lstStyle/>
        <a:p>
          <a:r>
            <a:rPr lang="en-US" sz="2200" dirty="0" smtClean="0"/>
            <a:t>Phases</a:t>
          </a:r>
          <a:endParaRPr lang="en-US" sz="2200" dirty="0"/>
        </a:p>
      </dgm:t>
    </dgm:pt>
    <dgm:pt modelId="{5AF7399D-83CD-4B19-829E-BA19199F6F87}" type="parTrans" cxnId="{3132AF78-3608-4DF0-92FE-2245E794E8B8}">
      <dgm:prSet/>
      <dgm:spPr/>
      <dgm:t>
        <a:bodyPr/>
        <a:lstStyle/>
        <a:p>
          <a:endParaRPr lang="en-US"/>
        </a:p>
      </dgm:t>
    </dgm:pt>
    <dgm:pt modelId="{95BF5A65-9DCA-4A63-8BCC-038F3858B76A}" type="sibTrans" cxnId="{3132AF78-3608-4DF0-92FE-2245E794E8B8}">
      <dgm:prSet/>
      <dgm:spPr/>
      <dgm:t>
        <a:bodyPr/>
        <a:lstStyle/>
        <a:p>
          <a:endParaRPr lang="en-US"/>
        </a:p>
      </dgm:t>
    </dgm:pt>
    <dgm:pt modelId="{1477E699-A29C-4B97-A5B5-7E6B9F1B738E}">
      <dgm:prSet phldrT="[Text]" custT="1"/>
      <dgm:spPr/>
      <dgm:t>
        <a:bodyPr/>
        <a:lstStyle/>
        <a:p>
          <a:r>
            <a:rPr lang="en-US" sz="2200" dirty="0" smtClean="0"/>
            <a:t>Practices</a:t>
          </a:r>
          <a:endParaRPr lang="en-US" sz="2200" dirty="0"/>
        </a:p>
      </dgm:t>
    </dgm:pt>
    <dgm:pt modelId="{3E4EA907-AC88-4FAD-B41C-92F7F5B36B5C}" type="parTrans" cxnId="{394D97EA-62C8-4AA3-B889-7223FC8E5CB5}">
      <dgm:prSet/>
      <dgm:spPr/>
      <dgm:t>
        <a:bodyPr/>
        <a:lstStyle/>
        <a:p>
          <a:endParaRPr lang="en-US"/>
        </a:p>
      </dgm:t>
    </dgm:pt>
    <dgm:pt modelId="{EA220A1E-2D32-45B8-AFA9-CFB2315EC262}" type="sibTrans" cxnId="{394D97EA-62C8-4AA3-B889-7223FC8E5CB5}">
      <dgm:prSet/>
      <dgm:spPr/>
      <dgm:t>
        <a:bodyPr/>
        <a:lstStyle/>
        <a:p>
          <a:endParaRPr lang="en-US"/>
        </a:p>
      </dgm:t>
    </dgm:pt>
    <dgm:pt modelId="{DDBDAE9E-ECB2-40C9-8A45-1A36BC2BFD16}">
      <dgm:prSet phldrT="[Text]" custT="1"/>
      <dgm:spPr>
        <a:solidFill>
          <a:schemeClr val="accent5"/>
        </a:solidFill>
      </dgm:spPr>
      <dgm:t>
        <a:bodyPr/>
        <a:lstStyle/>
        <a:p>
          <a:r>
            <a:rPr lang="en-US" sz="2200" dirty="0" smtClean="0"/>
            <a:t>Templates</a:t>
          </a:r>
          <a:endParaRPr lang="en-US" sz="2200" dirty="0"/>
        </a:p>
      </dgm:t>
    </dgm:pt>
    <dgm:pt modelId="{C9EB563C-79F2-43CA-9F62-7B15A00E78BF}" type="parTrans" cxnId="{C8BA151B-79C1-4390-AC79-44D89ACD9694}">
      <dgm:prSet/>
      <dgm:spPr/>
      <dgm:t>
        <a:bodyPr/>
        <a:lstStyle/>
        <a:p>
          <a:endParaRPr lang="en-US"/>
        </a:p>
      </dgm:t>
    </dgm:pt>
    <dgm:pt modelId="{CD430DEC-BEE5-4FFE-B4CF-DE5D24D03BA6}" type="sibTrans" cxnId="{C8BA151B-79C1-4390-AC79-44D89ACD9694}">
      <dgm:prSet/>
      <dgm:spPr/>
      <dgm:t>
        <a:bodyPr/>
        <a:lstStyle/>
        <a:p>
          <a:endParaRPr lang="en-US"/>
        </a:p>
      </dgm:t>
    </dgm:pt>
    <dgm:pt modelId="{C1342B7E-9DFD-47B4-9326-A15E0EA7B16A}">
      <dgm:prSet phldrT="[Text]" custT="1"/>
      <dgm:spPr>
        <a:solidFill>
          <a:schemeClr val="accent6"/>
        </a:solidFill>
      </dgm:spPr>
      <dgm:t>
        <a:bodyPr/>
        <a:lstStyle/>
        <a:p>
          <a:r>
            <a:rPr lang="en-US" sz="2200" dirty="0" smtClean="0"/>
            <a:t>Standards</a:t>
          </a:r>
          <a:endParaRPr lang="en-US" sz="2200" dirty="0"/>
        </a:p>
      </dgm:t>
    </dgm:pt>
    <dgm:pt modelId="{555A4760-98E1-4E3E-AE58-B65514456E37}" type="parTrans" cxnId="{B0732064-9BC4-4EE7-AFF7-5D811A3DB1CD}">
      <dgm:prSet/>
      <dgm:spPr/>
      <dgm:t>
        <a:bodyPr/>
        <a:lstStyle/>
        <a:p>
          <a:endParaRPr lang="en-US"/>
        </a:p>
      </dgm:t>
    </dgm:pt>
    <dgm:pt modelId="{5D46D8C9-8B3C-446C-9DF2-7E36807EF6BC}" type="sibTrans" cxnId="{B0732064-9BC4-4EE7-AFF7-5D811A3DB1CD}">
      <dgm:prSet/>
      <dgm:spPr/>
      <dgm:t>
        <a:bodyPr/>
        <a:lstStyle/>
        <a:p>
          <a:endParaRPr lang="en-US"/>
        </a:p>
      </dgm:t>
    </dgm:pt>
    <dgm:pt modelId="{3B40FF79-7FCE-440E-BD54-8ADF20EEFA20}">
      <dgm:prSet phldrT="[Text]" custT="1"/>
      <dgm:spPr>
        <a:solidFill>
          <a:schemeClr val="accent4"/>
        </a:solidFill>
      </dgm:spPr>
      <dgm:t>
        <a:bodyPr/>
        <a:lstStyle/>
        <a:p>
          <a:r>
            <a:rPr lang="en-US" sz="2200" dirty="0" smtClean="0"/>
            <a:t>Roles</a:t>
          </a:r>
          <a:endParaRPr lang="en-US" sz="2200" dirty="0"/>
        </a:p>
      </dgm:t>
    </dgm:pt>
    <dgm:pt modelId="{D4ACEE5C-8A6A-4DC7-AA09-8D7C466DF652}" type="parTrans" cxnId="{1F7D27C8-D590-4436-9AA7-4E7BE6606EC7}">
      <dgm:prSet/>
      <dgm:spPr/>
      <dgm:t>
        <a:bodyPr/>
        <a:lstStyle/>
        <a:p>
          <a:endParaRPr lang="en-US"/>
        </a:p>
      </dgm:t>
    </dgm:pt>
    <dgm:pt modelId="{5B36190B-F3FC-4E4D-A7D2-8FCFB05466B5}" type="sibTrans" cxnId="{1F7D27C8-D590-4436-9AA7-4E7BE6606EC7}">
      <dgm:prSet/>
      <dgm:spPr/>
      <dgm:t>
        <a:bodyPr/>
        <a:lstStyle/>
        <a:p>
          <a:endParaRPr lang="en-US"/>
        </a:p>
      </dgm:t>
    </dgm:pt>
    <dgm:pt modelId="{96E19266-4EFD-420C-933F-E4992E2F49D2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2200" dirty="0" smtClean="0"/>
            <a:t>Activities</a:t>
          </a:r>
          <a:endParaRPr lang="en-US" sz="2200" dirty="0"/>
        </a:p>
      </dgm:t>
    </dgm:pt>
    <dgm:pt modelId="{C2722A8D-2B93-4C3F-9926-4253C065A95C}" type="parTrans" cxnId="{A6B060F6-FDEF-4A1F-AFAE-CD67B961E535}">
      <dgm:prSet/>
      <dgm:spPr/>
      <dgm:t>
        <a:bodyPr/>
        <a:lstStyle/>
        <a:p>
          <a:endParaRPr lang="en-US"/>
        </a:p>
      </dgm:t>
    </dgm:pt>
    <dgm:pt modelId="{9157945F-003D-47BB-9E4E-CEB1E52BFDF5}" type="sibTrans" cxnId="{A6B060F6-FDEF-4A1F-AFAE-CD67B961E535}">
      <dgm:prSet/>
      <dgm:spPr/>
      <dgm:t>
        <a:bodyPr/>
        <a:lstStyle/>
        <a:p>
          <a:endParaRPr lang="en-US"/>
        </a:p>
      </dgm:t>
    </dgm:pt>
    <dgm:pt modelId="{DA3C8060-ED8F-4D97-A635-19C340062F0F}">
      <dgm:prSet phldrT="[Text]" custT="1"/>
      <dgm:spPr>
        <a:solidFill>
          <a:schemeClr val="accent3"/>
        </a:solidFill>
      </dgm:spPr>
      <dgm:t>
        <a:bodyPr/>
        <a:lstStyle/>
        <a:p>
          <a:r>
            <a:rPr lang="en-US" sz="2200" dirty="0" smtClean="0"/>
            <a:t>Work Products</a:t>
          </a:r>
          <a:endParaRPr lang="en-US" sz="2200" dirty="0"/>
        </a:p>
      </dgm:t>
    </dgm:pt>
    <dgm:pt modelId="{817076E7-7D91-496A-9890-60CB2FB6D995}" type="sibTrans" cxnId="{2F20EE64-6D9A-4705-95FE-8D2B34877219}">
      <dgm:prSet/>
      <dgm:spPr/>
      <dgm:t>
        <a:bodyPr/>
        <a:lstStyle/>
        <a:p>
          <a:endParaRPr lang="en-US"/>
        </a:p>
      </dgm:t>
    </dgm:pt>
    <dgm:pt modelId="{9B8690DF-4CF7-4214-BB8E-61349DBE3E84}" type="parTrans" cxnId="{2F20EE64-6D9A-4705-95FE-8D2B34877219}">
      <dgm:prSet/>
      <dgm:spPr/>
      <dgm:t>
        <a:bodyPr/>
        <a:lstStyle/>
        <a:p>
          <a:endParaRPr lang="en-US"/>
        </a:p>
      </dgm:t>
    </dgm:pt>
    <dgm:pt modelId="{23B43152-D624-425E-8EC7-71DB18D81998}" type="pres">
      <dgm:prSet presAssocID="{C380FB2A-1530-4D53-A927-BBAB300DF9A4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A7042C2-DC1A-474E-83F7-76D0CE58CBFB}" type="pres">
      <dgm:prSet presAssocID="{B08CE9A4-1C4F-4DA3-969B-EB9074D71A24}" presName="centerShape" presStyleLbl="node0" presStyleIdx="0" presStyleCnt="1"/>
      <dgm:spPr/>
      <dgm:t>
        <a:bodyPr/>
        <a:lstStyle/>
        <a:p>
          <a:endParaRPr lang="en-US"/>
        </a:p>
      </dgm:t>
    </dgm:pt>
    <dgm:pt modelId="{1FA03E2F-8F00-499B-9AB4-1E3A38DAABF4}" type="pres">
      <dgm:prSet presAssocID="{5AF7399D-83CD-4B19-829E-BA19199F6F87}" presName="parTrans" presStyleLbl="bgSibTrans2D1" presStyleIdx="0" presStyleCnt="7"/>
      <dgm:spPr/>
      <dgm:t>
        <a:bodyPr/>
        <a:lstStyle/>
        <a:p>
          <a:endParaRPr lang="en-US"/>
        </a:p>
      </dgm:t>
    </dgm:pt>
    <dgm:pt modelId="{33430EFC-7D48-41A8-A551-F62678BD0FBE}" type="pres">
      <dgm:prSet presAssocID="{65EF02AC-0E5A-466D-A179-68EFFFDA0AF5}" presName="node" presStyleLbl="node1" presStyleIdx="0" presStyleCnt="7" custScaleX="1295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4F635D-C019-4BE9-A038-FE58F311CC82}" type="pres">
      <dgm:prSet presAssocID="{C2722A8D-2B93-4C3F-9926-4253C065A95C}" presName="parTrans" presStyleLbl="bgSibTrans2D1" presStyleIdx="1" presStyleCnt="7"/>
      <dgm:spPr/>
      <dgm:t>
        <a:bodyPr/>
        <a:lstStyle/>
        <a:p>
          <a:endParaRPr lang="en-US"/>
        </a:p>
      </dgm:t>
    </dgm:pt>
    <dgm:pt modelId="{C3D34C08-851F-4DE8-B331-38105B1FCA42}" type="pres">
      <dgm:prSet presAssocID="{96E19266-4EFD-420C-933F-E4992E2F49D2}" presName="node" presStyleLbl="node1" presStyleIdx="1" presStyleCnt="7" custScaleX="1303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94650B-3AA6-4F67-ABFA-8E78E654A240}" type="pres">
      <dgm:prSet presAssocID="{9B8690DF-4CF7-4214-BB8E-61349DBE3E84}" presName="parTrans" presStyleLbl="bgSibTrans2D1" presStyleIdx="2" presStyleCnt="7"/>
      <dgm:spPr/>
      <dgm:t>
        <a:bodyPr/>
        <a:lstStyle/>
        <a:p>
          <a:endParaRPr lang="en-US"/>
        </a:p>
      </dgm:t>
    </dgm:pt>
    <dgm:pt modelId="{5B6B9A49-73FD-4E0A-A3E0-41B77F6D625E}" type="pres">
      <dgm:prSet presAssocID="{DA3C8060-ED8F-4D97-A635-19C340062F0F}" presName="node" presStyleLbl="node1" presStyleIdx="2" presStyleCnt="7" custScaleX="129516" custRadScaleRad="106872" custRadScaleInc="-2776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1B96D26-182C-4421-8D4A-9C20D6B80834}" type="pres">
      <dgm:prSet presAssocID="{D4ACEE5C-8A6A-4DC7-AA09-8D7C466DF652}" presName="parTrans" presStyleLbl="bgSibTrans2D1" presStyleIdx="3" presStyleCnt="7"/>
      <dgm:spPr/>
      <dgm:t>
        <a:bodyPr/>
        <a:lstStyle/>
        <a:p>
          <a:endParaRPr lang="en-US"/>
        </a:p>
      </dgm:t>
    </dgm:pt>
    <dgm:pt modelId="{0FDAB940-C441-45CF-A9D1-27A2EE2B50B3}" type="pres">
      <dgm:prSet presAssocID="{3B40FF79-7FCE-440E-BD54-8ADF20EEFA20}" presName="node" presStyleLbl="node1" presStyleIdx="3" presStyleCnt="7" custScaleX="132148" custRadScaleRad="100265" custRadScaleInc="-24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E3BE01-9EEC-40E0-AC09-F66433E45EB8}" type="pres">
      <dgm:prSet presAssocID="{C9EB563C-79F2-43CA-9F62-7B15A00E78BF}" presName="parTrans" presStyleLbl="bgSibTrans2D1" presStyleIdx="4" presStyleCnt="7"/>
      <dgm:spPr/>
      <dgm:t>
        <a:bodyPr/>
        <a:lstStyle/>
        <a:p>
          <a:endParaRPr lang="en-US"/>
        </a:p>
      </dgm:t>
    </dgm:pt>
    <dgm:pt modelId="{025F389D-63E3-404A-9D52-5C8C6E58C91A}" type="pres">
      <dgm:prSet presAssocID="{DDBDAE9E-ECB2-40C9-8A45-1A36BC2BFD16}" presName="node" presStyleLbl="node1" presStyleIdx="4" presStyleCnt="7" custScaleX="129516" custRadScaleRad="116783" custRadScaleInc="416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691057F-0CD3-4780-AF48-2F70C203B9C8}" type="pres">
      <dgm:prSet presAssocID="{555A4760-98E1-4E3E-AE58-B65514456E37}" presName="parTrans" presStyleLbl="bgSibTrans2D1" presStyleIdx="5" presStyleCnt="7"/>
      <dgm:spPr/>
      <dgm:t>
        <a:bodyPr/>
        <a:lstStyle/>
        <a:p>
          <a:endParaRPr lang="en-US"/>
        </a:p>
      </dgm:t>
    </dgm:pt>
    <dgm:pt modelId="{C2FF883D-7C68-47F9-8E96-542A6DE8F1EE}" type="pres">
      <dgm:prSet presAssocID="{C1342B7E-9DFD-47B4-9326-A15E0EA7B16A}" presName="node" presStyleLbl="node1" presStyleIdx="5" presStyleCnt="7" custScaleX="129516" custRadScaleRad="103101" custRadScaleInc="1551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E2C76E2-0040-4E59-A341-A2817F8A5855}" type="pres">
      <dgm:prSet presAssocID="{3E4EA907-AC88-4FAD-B41C-92F7F5B36B5C}" presName="parTrans" presStyleLbl="bgSibTrans2D1" presStyleIdx="6" presStyleCnt="7"/>
      <dgm:spPr/>
      <dgm:t>
        <a:bodyPr/>
        <a:lstStyle/>
        <a:p>
          <a:endParaRPr lang="en-US"/>
        </a:p>
      </dgm:t>
    </dgm:pt>
    <dgm:pt modelId="{1C8159D7-7AB2-4951-B686-A367AC02DB30}" type="pres">
      <dgm:prSet presAssocID="{1477E699-A29C-4B97-A5B5-7E6B9F1B738E}" presName="node" presStyleLbl="node1" presStyleIdx="6" presStyleCnt="7" custScaleX="12951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C83B63D-EBDE-4869-B51E-248F72BF68FF}" type="presOf" srcId="{1477E699-A29C-4B97-A5B5-7E6B9F1B738E}" destId="{1C8159D7-7AB2-4951-B686-A367AC02DB30}" srcOrd="0" destOrd="0" presId="urn:microsoft.com/office/officeart/2005/8/layout/radial4"/>
    <dgm:cxn modelId="{3E0E6F6F-EB2A-4D83-B7E1-61186E658587}" type="presOf" srcId="{5AF7399D-83CD-4B19-829E-BA19199F6F87}" destId="{1FA03E2F-8F00-499B-9AB4-1E3A38DAABF4}" srcOrd="0" destOrd="0" presId="urn:microsoft.com/office/officeart/2005/8/layout/radial4"/>
    <dgm:cxn modelId="{8F58600E-1DEF-4FAD-9DDD-3EC6DF38D067}" srcId="{C380FB2A-1530-4D53-A927-BBAB300DF9A4}" destId="{B08CE9A4-1C4F-4DA3-969B-EB9074D71A24}" srcOrd="0" destOrd="0" parTransId="{3CB23A42-F308-4887-A3F5-E5BA096E7BAB}" sibTransId="{172413B4-C036-48E7-9296-CAB749366642}"/>
    <dgm:cxn modelId="{E881EAF9-300B-4AB7-A835-3BEEC3E12455}" type="presOf" srcId="{DA3C8060-ED8F-4D97-A635-19C340062F0F}" destId="{5B6B9A49-73FD-4E0A-A3E0-41B77F6D625E}" srcOrd="0" destOrd="0" presId="urn:microsoft.com/office/officeart/2005/8/layout/radial4"/>
    <dgm:cxn modelId="{1F7D27C8-D590-4436-9AA7-4E7BE6606EC7}" srcId="{B08CE9A4-1C4F-4DA3-969B-EB9074D71A24}" destId="{3B40FF79-7FCE-440E-BD54-8ADF20EEFA20}" srcOrd="3" destOrd="0" parTransId="{D4ACEE5C-8A6A-4DC7-AA09-8D7C466DF652}" sibTransId="{5B36190B-F3FC-4E4D-A7D2-8FCFB05466B5}"/>
    <dgm:cxn modelId="{BBA2AD56-921C-4DB3-A39F-50841DB45583}" type="presOf" srcId="{C380FB2A-1530-4D53-A927-BBAB300DF9A4}" destId="{23B43152-D624-425E-8EC7-71DB18D81998}" srcOrd="0" destOrd="0" presId="urn:microsoft.com/office/officeart/2005/8/layout/radial4"/>
    <dgm:cxn modelId="{66C2246D-4776-4FEE-AE76-D9302D34EDA6}" type="presOf" srcId="{C2722A8D-2B93-4C3F-9926-4253C065A95C}" destId="{E84F635D-C019-4BE9-A038-FE58F311CC82}" srcOrd="0" destOrd="0" presId="urn:microsoft.com/office/officeart/2005/8/layout/radial4"/>
    <dgm:cxn modelId="{B0732064-9BC4-4EE7-AFF7-5D811A3DB1CD}" srcId="{B08CE9A4-1C4F-4DA3-969B-EB9074D71A24}" destId="{C1342B7E-9DFD-47B4-9326-A15E0EA7B16A}" srcOrd="5" destOrd="0" parTransId="{555A4760-98E1-4E3E-AE58-B65514456E37}" sibTransId="{5D46D8C9-8B3C-446C-9DF2-7E36807EF6BC}"/>
    <dgm:cxn modelId="{5407E948-ADD9-41EA-93E5-24EB22C3F421}" type="presOf" srcId="{3E4EA907-AC88-4FAD-B41C-92F7F5B36B5C}" destId="{AE2C76E2-0040-4E59-A341-A2817F8A5855}" srcOrd="0" destOrd="0" presId="urn:microsoft.com/office/officeart/2005/8/layout/radial4"/>
    <dgm:cxn modelId="{A6B060F6-FDEF-4A1F-AFAE-CD67B961E535}" srcId="{B08CE9A4-1C4F-4DA3-969B-EB9074D71A24}" destId="{96E19266-4EFD-420C-933F-E4992E2F49D2}" srcOrd="1" destOrd="0" parTransId="{C2722A8D-2B93-4C3F-9926-4253C065A95C}" sibTransId="{9157945F-003D-47BB-9E4E-CEB1E52BFDF5}"/>
    <dgm:cxn modelId="{DD4CEA21-B92F-4D3F-9641-958F1BD54307}" type="presOf" srcId="{555A4760-98E1-4E3E-AE58-B65514456E37}" destId="{E691057F-0CD3-4780-AF48-2F70C203B9C8}" srcOrd="0" destOrd="0" presId="urn:microsoft.com/office/officeart/2005/8/layout/radial4"/>
    <dgm:cxn modelId="{A5BFD39B-F1B9-4CF3-9D66-89E89B05E8E3}" type="presOf" srcId="{DDBDAE9E-ECB2-40C9-8A45-1A36BC2BFD16}" destId="{025F389D-63E3-404A-9D52-5C8C6E58C91A}" srcOrd="0" destOrd="0" presId="urn:microsoft.com/office/officeart/2005/8/layout/radial4"/>
    <dgm:cxn modelId="{C8BA151B-79C1-4390-AC79-44D89ACD9694}" srcId="{B08CE9A4-1C4F-4DA3-969B-EB9074D71A24}" destId="{DDBDAE9E-ECB2-40C9-8A45-1A36BC2BFD16}" srcOrd="4" destOrd="0" parTransId="{C9EB563C-79F2-43CA-9F62-7B15A00E78BF}" sibTransId="{CD430DEC-BEE5-4FFE-B4CF-DE5D24D03BA6}"/>
    <dgm:cxn modelId="{3A5129DA-23DC-4699-905A-BF50F5336568}" type="presOf" srcId="{B08CE9A4-1C4F-4DA3-969B-EB9074D71A24}" destId="{BA7042C2-DC1A-474E-83F7-76D0CE58CBFB}" srcOrd="0" destOrd="0" presId="urn:microsoft.com/office/officeart/2005/8/layout/radial4"/>
    <dgm:cxn modelId="{E4FB2842-DA34-4918-8680-DED89AD0EC86}" type="presOf" srcId="{65EF02AC-0E5A-466D-A179-68EFFFDA0AF5}" destId="{33430EFC-7D48-41A8-A551-F62678BD0FBE}" srcOrd="0" destOrd="0" presId="urn:microsoft.com/office/officeart/2005/8/layout/radial4"/>
    <dgm:cxn modelId="{FD4DAABB-8DC6-426C-8C8D-F6C30DDBB116}" type="presOf" srcId="{3B40FF79-7FCE-440E-BD54-8ADF20EEFA20}" destId="{0FDAB940-C441-45CF-A9D1-27A2EE2B50B3}" srcOrd="0" destOrd="0" presId="urn:microsoft.com/office/officeart/2005/8/layout/radial4"/>
    <dgm:cxn modelId="{70F6CE43-C5CE-402A-B35A-7B1271EA5CEB}" type="presOf" srcId="{9B8690DF-4CF7-4214-BB8E-61349DBE3E84}" destId="{6B94650B-3AA6-4F67-ABFA-8E78E654A240}" srcOrd="0" destOrd="0" presId="urn:microsoft.com/office/officeart/2005/8/layout/radial4"/>
    <dgm:cxn modelId="{394D97EA-62C8-4AA3-B889-7223FC8E5CB5}" srcId="{B08CE9A4-1C4F-4DA3-969B-EB9074D71A24}" destId="{1477E699-A29C-4B97-A5B5-7E6B9F1B738E}" srcOrd="6" destOrd="0" parTransId="{3E4EA907-AC88-4FAD-B41C-92F7F5B36B5C}" sibTransId="{EA220A1E-2D32-45B8-AFA9-CFB2315EC262}"/>
    <dgm:cxn modelId="{90CB9B8E-FE97-46A7-9193-75F295A5A50E}" type="presOf" srcId="{C9EB563C-79F2-43CA-9F62-7B15A00E78BF}" destId="{DCE3BE01-9EEC-40E0-AC09-F66433E45EB8}" srcOrd="0" destOrd="0" presId="urn:microsoft.com/office/officeart/2005/8/layout/radial4"/>
    <dgm:cxn modelId="{E18846A5-BAE3-44BA-9419-79366127D79C}" type="presOf" srcId="{D4ACEE5C-8A6A-4DC7-AA09-8D7C466DF652}" destId="{11B96D26-182C-4421-8D4A-9C20D6B80834}" srcOrd="0" destOrd="0" presId="urn:microsoft.com/office/officeart/2005/8/layout/radial4"/>
    <dgm:cxn modelId="{3132AF78-3608-4DF0-92FE-2245E794E8B8}" srcId="{B08CE9A4-1C4F-4DA3-969B-EB9074D71A24}" destId="{65EF02AC-0E5A-466D-A179-68EFFFDA0AF5}" srcOrd="0" destOrd="0" parTransId="{5AF7399D-83CD-4B19-829E-BA19199F6F87}" sibTransId="{95BF5A65-9DCA-4A63-8BCC-038F3858B76A}"/>
    <dgm:cxn modelId="{2F20EE64-6D9A-4705-95FE-8D2B34877219}" srcId="{B08CE9A4-1C4F-4DA3-969B-EB9074D71A24}" destId="{DA3C8060-ED8F-4D97-A635-19C340062F0F}" srcOrd="2" destOrd="0" parTransId="{9B8690DF-4CF7-4214-BB8E-61349DBE3E84}" sibTransId="{817076E7-7D91-496A-9890-60CB2FB6D995}"/>
    <dgm:cxn modelId="{EF6851D7-862D-4361-8A64-E171E841E348}" type="presOf" srcId="{C1342B7E-9DFD-47B4-9326-A15E0EA7B16A}" destId="{C2FF883D-7C68-47F9-8E96-542A6DE8F1EE}" srcOrd="0" destOrd="0" presId="urn:microsoft.com/office/officeart/2005/8/layout/radial4"/>
    <dgm:cxn modelId="{F4EC450C-65C5-4AA5-A8A9-D12350778A04}" type="presOf" srcId="{96E19266-4EFD-420C-933F-E4992E2F49D2}" destId="{C3D34C08-851F-4DE8-B331-38105B1FCA42}" srcOrd="0" destOrd="0" presId="urn:microsoft.com/office/officeart/2005/8/layout/radial4"/>
    <dgm:cxn modelId="{38956782-65D0-4AAE-A1E5-9CB7F4A7CCF2}" type="presParOf" srcId="{23B43152-D624-425E-8EC7-71DB18D81998}" destId="{BA7042C2-DC1A-474E-83F7-76D0CE58CBFB}" srcOrd="0" destOrd="0" presId="urn:microsoft.com/office/officeart/2005/8/layout/radial4"/>
    <dgm:cxn modelId="{A694E989-C3D3-45C5-A8BD-AFCD475E7B71}" type="presParOf" srcId="{23B43152-D624-425E-8EC7-71DB18D81998}" destId="{1FA03E2F-8F00-499B-9AB4-1E3A38DAABF4}" srcOrd="1" destOrd="0" presId="urn:microsoft.com/office/officeart/2005/8/layout/radial4"/>
    <dgm:cxn modelId="{AA97897A-460F-44DC-878B-0FD8702BDB90}" type="presParOf" srcId="{23B43152-D624-425E-8EC7-71DB18D81998}" destId="{33430EFC-7D48-41A8-A551-F62678BD0FBE}" srcOrd="2" destOrd="0" presId="urn:microsoft.com/office/officeart/2005/8/layout/radial4"/>
    <dgm:cxn modelId="{6E898F0E-ACA5-4405-8667-1244DF0D4990}" type="presParOf" srcId="{23B43152-D624-425E-8EC7-71DB18D81998}" destId="{E84F635D-C019-4BE9-A038-FE58F311CC82}" srcOrd="3" destOrd="0" presId="urn:microsoft.com/office/officeart/2005/8/layout/radial4"/>
    <dgm:cxn modelId="{768878E6-8DE8-4F5E-8A0D-F0B737371100}" type="presParOf" srcId="{23B43152-D624-425E-8EC7-71DB18D81998}" destId="{C3D34C08-851F-4DE8-B331-38105B1FCA42}" srcOrd="4" destOrd="0" presId="urn:microsoft.com/office/officeart/2005/8/layout/radial4"/>
    <dgm:cxn modelId="{0CA0C20E-5405-40D6-AD9D-6DB4FE864C63}" type="presParOf" srcId="{23B43152-D624-425E-8EC7-71DB18D81998}" destId="{6B94650B-3AA6-4F67-ABFA-8E78E654A240}" srcOrd="5" destOrd="0" presId="urn:microsoft.com/office/officeart/2005/8/layout/radial4"/>
    <dgm:cxn modelId="{3BF1FE6E-6A3B-419F-A052-9F682F5CBDD4}" type="presParOf" srcId="{23B43152-D624-425E-8EC7-71DB18D81998}" destId="{5B6B9A49-73FD-4E0A-A3E0-41B77F6D625E}" srcOrd="6" destOrd="0" presId="urn:microsoft.com/office/officeart/2005/8/layout/radial4"/>
    <dgm:cxn modelId="{536B9B63-2140-41D0-85DE-1DB7D656CD8E}" type="presParOf" srcId="{23B43152-D624-425E-8EC7-71DB18D81998}" destId="{11B96D26-182C-4421-8D4A-9C20D6B80834}" srcOrd="7" destOrd="0" presId="urn:microsoft.com/office/officeart/2005/8/layout/radial4"/>
    <dgm:cxn modelId="{0FBE6374-ECF7-4952-9701-DF045E4EC0A3}" type="presParOf" srcId="{23B43152-D624-425E-8EC7-71DB18D81998}" destId="{0FDAB940-C441-45CF-A9D1-27A2EE2B50B3}" srcOrd="8" destOrd="0" presId="urn:microsoft.com/office/officeart/2005/8/layout/radial4"/>
    <dgm:cxn modelId="{5AF488A6-F4F8-482C-B895-DC00B0DDB677}" type="presParOf" srcId="{23B43152-D624-425E-8EC7-71DB18D81998}" destId="{DCE3BE01-9EEC-40E0-AC09-F66433E45EB8}" srcOrd="9" destOrd="0" presId="urn:microsoft.com/office/officeart/2005/8/layout/radial4"/>
    <dgm:cxn modelId="{053880E7-648B-4202-88D6-750269CE1929}" type="presParOf" srcId="{23B43152-D624-425E-8EC7-71DB18D81998}" destId="{025F389D-63E3-404A-9D52-5C8C6E58C91A}" srcOrd="10" destOrd="0" presId="urn:microsoft.com/office/officeart/2005/8/layout/radial4"/>
    <dgm:cxn modelId="{04A7548D-74F9-482E-B5D5-9D924E9DFD89}" type="presParOf" srcId="{23B43152-D624-425E-8EC7-71DB18D81998}" destId="{E691057F-0CD3-4780-AF48-2F70C203B9C8}" srcOrd="11" destOrd="0" presId="urn:microsoft.com/office/officeart/2005/8/layout/radial4"/>
    <dgm:cxn modelId="{B3374F62-8183-4539-B113-2895D0E1F41E}" type="presParOf" srcId="{23B43152-D624-425E-8EC7-71DB18D81998}" destId="{C2FF883D-7C68-47F9-8E96-542A6DE8F1EE}" srcOrd="12" destOrd="0" presId="urn:microsoft.com/office/officeart/2005/8/layout/radial4"/>
    <dgm:cxn modelId="{636E4D01-CAA2-4987-BBC8-B96A10E5096A}" type="presParOf" srcId="{23B43152-D624-425E-8EC7-71DB18D81998}" destId="{AE2C76E2-0040-4E59-A341-A2817F8A5855}" srcOrd="13" destOrd="0" presId="urn:microsoft.com/office/officeart/2005/8/layout/radial4"/>
    <dgm:cxn modelId="{C931AE35-4225-411D-8EB1-C98945630FF3}" type="presParOf" srcId="{23B43152-D624-425E-8EC7-71DB18D81998}" destId="{1C8159D7-7AB2-4951-B686-A367AC02DB30}" srcOrd="1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BA7042C2-DC1A-474E-83F7-76D0CE58CBFB}">
      <dsp:nvSpPr>
        <dsp:cNvPr id="0" name=""/>
        <dsp:cNvSpPr/>
      </dsp:nvSpPr>
      <dsp:spPr>
        <a:xfrm>
          <a:off x="3435152" y="2297246"/>
          <a:ext cx="1587894" cy="158789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15" tIns="18415" rIns="18415" bIns="18415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SDLCM</a:t>
          </a:r>
          <a:endParaRPr lang="en-US" sz="2900" kern="1200" dirty="0"/>
        </a:p>
      </dsp:txBody>
      <dsp:txXfrm>
        <a:off x="3435152" y="2297246"/>
        <a:ext cx="1587894" cy="1587894"/>
      </dsp:txXfrm>
    </dsp:sp>
    <dsp:sp modelId="{1FA03E2F-8F00-499B-9AB4-1E3A38DAABF4}">
      <dsp:nvSpPr>
        <dsp:cNvPr id="0" name=""/>
        <dsp:cNvSpPr/>
      </dsp:nvSpPr>
      <dsp:spPr>
        <a:xfrm rot="10800000">
          <a:off x="1583574" y="2864919"/>
          <a:ext cx="1749741" cy="452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430EFC-7D48-41A8-A551-F62678BD0FBE}">
      <dsp:nvSpPr>
        <dsp:cNvPr id="0" name=""/>
        <dsp:cNvSpPr/>
      </dsp:nvSpPr>
      <dsp:spPr>
        <a:xfrm>
          <a:off x="863772" y="2646583"/>
          <a:ext cx="1439604" cy="889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Phases</a:t>
          </a:r>
          <a:endParaRPr lang="en-US" sz="2200" kern="1200" dirty="0"/>
        </a:p>
      </dsp:txBody>
      <dsp:txXfrm>
        <a:off x="863772" y="2646583"/>
        <a:ext cx="1439604" cy="889221"/>
      </dsp:txXfrm>
    </dsp:sp>
    <dsp:sp modelId="{E84F635D-C019-4BE9-A038-FE58F311CC82}">
      <dsp:nvSpPr>
        <dsp:cNvPr id="0" name=""/>
        <dsp:cNvSpPr/>
      </dsp:nvSpPr>
      <dsp:spPr>
        <a:xfrm rot="12600000">
          <a:off x="1820797" y="1979591"/>
          <a:ext cx="1749741" cy="452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D34C08-851F-4DE8-B331-38105B1FCA42}">
      <dsp:nvSpPr>
        <dsp:cNvPr id="0" name=""/>
        <dsp:cNvSpPr/>
      </dsp:nvSpPr>
      <dsp:spPr>
        <a:xfrm>
          <a:off x="1213392" y="1323820"/>
          <a:ext cx="1449230" cy="88922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Activities</a:t>
          </a:r>
          <a:endParaRPr lang="en-US" sz="2200" kern="1200" dirty="0"/>
        </a:p>
      </dsp:txBody>
      <dsp:txXfrm>
        <a:off x="1213392" y="1323820"/>
        <a:ext cx="1449230" cy="889221"/>
      </dsp:txXfrm>
    </dsp:sp>
    <dsp:sp modelId="{6B94650B-3AA6-4F67-ABFA-8E78E654A240}">
      <dsp:nvSpPr>
        <dsp:cNvPr id="0" name=""/>
        <dsp:cNvSpPr/>
      </dsp:nvSpPr>
      <dsp:spPr>
        <a:xfrm rot="13971579">
          <a:off x="2141359" y="1376978"/>
          <a:ext cx="1921542" cy="452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6B9A49-73FD-4E0A-A3E0-41B77F6D625E}">
      <dsp:nvSpPr>
        <dsp:cNvPr id="0" name=""/>
        <dsp:cNvSpPr/>
      </dsp:nvSpPr>
      <dsp:spPr>
        <a:xfrm>
          <a:off x="1802244" y="392755"/>
          <a:ext cx="1439604" cy="889221"/>
        </a:xfrm>
        <a:prstGeom prst="roundRect">
          <a:avLst>
            <a:gd name="adj" fmla="val 10000"/>
          </a:avLst>
        </a:prstGeom>
        <a:solidFill>
          <a:schemeClr val="accent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Work Products</a:t>
          </a:r>
          <a:endParaRPr lang="en-US" sz="2200" kern="1200" dirty="0"/>
        </a:p>
      </dsp:txBody>
      <dsp:txXfrm>
        <a:off x="1802244" y="392755"/>
        <a:ext cx="1439604" cy="889221"/>
      </dsp:txXfrm>
    </dsp:sp>
    <dsp:sp modelId="{11B96D26-182C-4421-8D4A-9C20D6B80834}">
      <dsp:nvSpPr>
        <dsp:cNvPr id="0" name=""/>
        <dsp:cNvSpPr/>
      </dsp:nvSpPr>
      <dsp:spPr>
        <a:xfrm rot="16161808">
          <a:off x="3333974" y="1093729"/>
          <a:ext cx="1750895" cy="452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AB940-C441-45CF-A9D1-27A2EE2B50B3}">
      <dsp:nvSpPr>
        <dsp:cNvPr id="0" name=""/>
        <dsp:cNvSpPr/>
      </dsp:nvSpPr>
      <dsp:spPr>
        <a:xfrm>
          <a:off x="3465266" y="0"/>
          <a:ext cx="1468859" cy="889221"/>
        </a:xfrm>
        <a:prstGeom prst="roundRect">
          <a:avLst>
            <a:gd name="adj" fmla="val 10000"/>
          </a:avLst>
        </a:prstGeom>
        <a:solidFill>
          <a:schemeClr val="accent4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Roles</a:t>
          </a:r>
          <a:endParaRPr lang="en-US" sz="2200" kern="1200" dirty="0"/>
        </a:p>
      </dsp:txBody>
      <dsp:txXfrm>
        <a:off x="3465266" y="0"/>
        <a:ext cx="1468859" cy="889221"/>
      </dsp:txXfrm>
    </dsp:sp>
    <dsp:sp modelId="{DCE3BE01-9EEC-40E0-AC09-F66433E45EB8}">
      <dsp:nvSpPr>
        <dsp:cNvPr id="0" name=""/>
        <dsp:cNvSpPr/>
      </dsp:nvSpPr>
      <dsp:spPr>
        <a:xfrm rot="18643140">
          <a:off x="4452312" y="1345396"/>
          <a:ext cx="2169319" cy="452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5F389D-63E3-404A-9D52-5C8C6E58C91A}">
      <dsp:nvSpPr>
        <dsp:cNvPr id="0" name=""/>
        <dsp:cNvSpPr/>
      </dsp:nvSpPr>
      <dsp:spPr>
        <a:xfrm>
          <a:off x="5524748" y="304977"/>
          <a:ext cx="1439604" cy="889221"/>
        </a:xfrm>
        <a:prstGeom prst="roundRect">
          <a:avLst>
            <a:gd name="adj" fmla="val 10000"/>
          </a:avLst>
        </a:prstGeom>
        <a:solidFill>
          <a:schemeClr val="accent5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Templates</a:t>
          </a:r>
          <a:endParaRPr lang="en-US" sz="2200" kern="1200" dirty="0"/>
        </a:p>
      </dsp:txBody>
      <dsp:txXfrm>
        <a:off x="5524748" y="304977"/>
        <a:ext cx="1439604" cy="889221"/>
      </dsp:txXfrm>
    </dsp:sp>
    <dsp:sp modelId="{E691057F-0CD3-4780-AF48-2F70C203B9C8}">
      <dsp:nvSpPr>
        <dsp:cNvPr id="0" name=""/>
        <dsp:cNvSpPr/>
      </dsp:nvSpPr>
      <dsp:spPr>
        <a:xfrm rot="20039328">
          <a:off x="4945660" y="2069426"/>
          <a:ext cx="1827266" cy="452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F883D-7C68-47F9-8E96-542A6DE8F1EE}">
      <dsp:nvSpPr>
        <dsp:cNvPr id="0" name=""/>
        <dsp:cNvSpPr/>
      </dsp:nvSpPr>
      <dsp:spPr>
        <a:xfrm>
          <a:off x="5960581" y="1450419"/>
          <a:ext cx="1439604" cy="889221"/>
        </a:xfrm>
        <a:prstGeom prst="roundRect">
          <a:avLst>
            <a:gd name="adj" fmla="val 10000"/>
          </a:avLst>
        </a:prstGeom>
        <a:solidFill>
          <a:schemeClr val="accent6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Standards</a:t>
          </a:r>
          <a:endParaRPr lang="en-US" sz="2200" kern="1200" dirty="0"/>
        </a:p>
      </dsp:txBody>
      <dsp:txXfrm>
        <a:off x="5960581" y="1450419"/>
        <a:ext cx="1439604" cy="889221"/>
      </dsp:txXfrm>
    </dsp:sp>
    <dsp:sp modelId="{AE2C76E2-0040-4E59-A341-A2817F8A5855}">
      <dsp:nvSpPr>
        <dsp:cNvPr id="0" name=""/>
        <dsp:cNvSpPr/>
      </dsp:nvSpPr>
      <dsp:spPr>
        <a:xfrm>
          <a:off x="5124884" y="2864919"/>
          <a:ext cx="1749741" cy="45255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8159D7-7AB2-4951-B686-A367AC02DB30}">
      <dsp:nvSpPr>
        <dsp:cNvPr id="0" name=""/>
        <dsp:cNvSpPr/>
      </dsp:nvSpPr>
      <dsp:spPr>
        <a:xfrm>
          <a:off x="6154823" y="2646583"/>
          <a:ext cx="1439604" cy="8892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Practices</a:t>
          </a:r>
          <a:endParaRPr lang="en-US" sz="2200" kern="1200" dirty="0"/>
        </a:p>
      </dsp:txBody>
      <dsp:txXfrm>
        <a:off x="6154823" y="2646583"/>
        <a:ext cx="1439604" cy="8892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F6B56-B206-47E3-8148-295925D85CD2}" type="datetimeFigureOut">
              <a:rPr lang="en-US" smtClean="0"/>
              <a:pPr/>
              <a:t>9/20/2020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944A64-02B1-4818-8227-23FA0B7646E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E54CEF-B973-4BCD-BE04-8FC453D4C123}" type="datetimeFigureOut">
              <a:rPr lang="en-US" smtClean="0"/>
              <a:pPr/>
              <a:t>9/20/2020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670EC-EF90-4A84-9798-83F1F2DBB46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9/20/2020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Software Development Life Cycle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25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88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7200" dirty="0" smtClean="0">
                <a:hlinkClick r:id="rId2"/>
              </a:rPr>
              <a:t>nhbien@fit.hcmus.edu.vn</a:t>
            </a:r>
            <a:endParaRPr lang="en-US" sz="7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800" dirty="0" smtClean="0"/>
              <a:t>To </a:t>
            </a:r>
            <a:r>
              <a:rPr lang="en-US" sz="2800" i="1" dirty="0" smtClean="0">
                <a:solidFill>
                  <a:srgbClr val="C00000"/>
                </a:solidFill>
              </a:rPr>
              <a:t>define</a:t>
            </a:r>
            <a:r>
              <a:rPr lang="en-US" sz="2800" dirty="0" smtClean="0"/>
              <a:t> a SDLM for a project</a:t>
            </a:r>
          </a:p>
          <a:p>
            <a:pPr marL="571500" indent="-514350">
              <a:buFont typeface="Wingdings" pitchFamily="2" charset="2"/>
              <a:buChar char="Ø"/>
            </a:pPr>
            <a:endParaRPr lang="en-US" sz="28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</a:t>
            </a:r>
            <a:r>
              <a:rPr lang="en-US" sz="2400" dirty="0" smtClean="0"/>
              <a:t>Requirements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</a:t>
            </a:r>
            <a:r>
              <a:rPr lang="en-US" sz="2400" dirty="0" smtClean="0"/>
              <a:t>Design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</a:t>
            </a:r>
            <a:r>
              <a:rPr lang="en-US" sz="2400" dirty="0" smtClean="0"/>
              <a:t>Construction (Implementation</a:t>
            </a:r>
            <a:r>
              <a:rPr lang="en-US" sz="2400" dirty="0" smtClean="0"/>
              <a:t>).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</a:t>
            </a:r>
            <a:r>
              <a:rPr lang="en-US" sz="2400" dirty="0" smtClean="0"/>
              <a:t>I</a:t>
            </a:r>
            <a:r>
              <a:rPr lang="en-US" sz="2400" dirty="0" smtClean="0"/>
              <a:t>nspection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</a:t>
            </a:r>
            <a:r>
              <a:rPr lang="en-US" sz="2400" dirty="0" smtClean="0"/>
              <a:t>Testing.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Deployment &amp; Acceptance Testing.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Software Operation &amp; Maintenance.</a:t>
            </a:r>
            <a:endParaRPr lang="en-US" sz="24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SDLC Model Definition</a:t>
            </a:r>
            <a:r>
              <a:rPr lang="en-US" sz="24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NASA/SEL SDLC </a:t>
            </a:r>
            <a:r>
              <a:rPr lang="en-US" sz="2400" dirty="0" smtClean="0"/>
              <a:t>Model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8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809750"/>
            <a:ext cx="2724150" cy="413385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57150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NASA (1992). Recommended Approach to Software Development.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University of Southern California (1990). Models of Software Evolution: Life Cycle and Process.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Roger S. Pressman (2010). Software Engineering: A Practitioner’s Approach.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Silvia T. </a:t>
            </a:r>
            <a:r>
              <a:rPr lang="en-US" sz="2200" dirty="0" err="1" smtClean="0"/>
              <a:t>Acuna</a:t>
            </a:r>
            <a:r>
              <a:rPr lang="en-US" sz="2200" dirty="0" smtClean="0"/>
              <a:t> et al. (1999). A Process Model Applicable to Software Engineering and Knowledge Engineering.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200" dirty="0" smtClean="0"/>
              <a:t>Scott </a:t>
            </a:r>
            <a:r>
              <a:rPr lang="en-US" sz="2200" dirty="0" err="1" smtClean="0"/>
              <a:t>Berkun</a:t>
            </a:r>
            <a:r>
              <a:rPr lang="en-US" sz="2200" dirty="0" smtClean="0"/>
              <a:t> (2008). Making Things Happen - Mastering Project Management.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Management Questions</a:t>
            </a:r>
            <a:endParaRPr lang="en-US" dirty="0"/>
          </a:p>
        </p:txBody>
      </p:sp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524000"/>
            <a:ext cx="38100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28600" y="4615696"/>
            <a:ext cx="5105400" cy="1785104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Which step should we do </a:t>
            </a:r>
            <a:r>
              <a:rPr lang="en-US" sz="2200" b="1" u="sng" dirty="0" smtClean="0">
                <a:solidFill>
                  <a:schemeClr val="bg1"/>
                </a:solidFill>
                <a:latin typeface="+mj-lt"/>
              </a:rPr>
              <a:t>next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?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How </a:t>
            </a:r>
            <a:r>
              <a:rPr lang="en-US" sz="2200" b="1" u="sng" dirty="0" smtClean="0">
                <a:solidFill>
                  <a:schemeClr val="bg1"/>
                </a:solidFill>
                <a:latin typeface="+mj-lt"/>
              </a:rPr>
              <a:t>long 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will it take?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200" b="1" u="sng" dirty="0" smtClean="0">
                <a:solidFill>
                  <a:schemeClr val="bg1"/>
                </a:solidFill>
                <a:latin typeface="+mj-lt"/>
              </a:rPr>
              <a:t>How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to perform the step?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Which </a:t>
            </a:r>
            <a:r>
              <a:rPr lang="en-US" sz="2200" b="1" u="sng" dirty="0" smtClean="0">
                <a:solidFill>
                  <a:schemeClr val="bg1"/>
                </a:solidFill>
                <a:latin typeface="+mj-lt"/>
              </a:rPr>
              <a:t>artifacts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will it produce?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200" b="1" u="sng" dirty="0" smtClean="0">
                <a:solidFill>
                  <a:schemeClr val="bg1"/>
                </a:solidFill>
                <a:latin typeface="+mj-lt"/>
              </a:rPr>
              <a:t>Who</a:t>
            </a:r>
            <a:r>
              <a:rPr lang="en-US" sz="2200" dirty="0" smtClean="0">
                <a:solidFill>
                  <a:schemeClr val="bg1"/>
                </a:solidFill>
                <a:latin typeface="+mj-lt"/>
              </a:rPr>
              <a:t> is responsible for doing the step?</a:t>
            </a:r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32120" y="4286250"/>
            <a:ext cx="338328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4" name="Picture 2" descr="https://static.thenounproject.com/png/281793-200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1524000"/>
            <a:ext cx="1905000" cy="1905000"/>
          </a:xfrm>
          <a:prstGeom prst="rect">
            <a:avLst/>
          </a:prstGeom>
          <a:noFill/>
        </p:spPr>
      </p:pic>
      <p:pic>
        <p:nvPicPr>
          <p:cNvPr id="33796" name="Picture 4" descr="https://static.thenounproject.com/png/2202-200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58000" y="1600200"/>
            <a:ext cx="1905000" cy="1905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Project Planning [1, 2]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05025" y="2171700"/>
            <a:ext cx="5210175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876470"/>
            <a:ext cx="2590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 smtClean="0">
                <a:latin typeface="+mj-lt"/>
              </a:rPr>
              <a:t>Project Manager</a:t>
            </a:r>
          </a:p>
          <a:p>
            <a:pPr algn="ctr">
              <a:defRPr/>
            </a:pPr>
            <a:r>
              <a:rPr lang="en-US" sz="2200" dirty="0" smtClean="0">
                <a:latin typeface="+mj-lt"/>
              </a:rPr>
              <a:t>Business Analyst</a:t>
            </a:r>
          </a:p>
          <a:p>
            <a:pPr algn="ctr">
              <a:defRPr/>
            </a:pPr>
            <a:r>
              <a:rPr lang="en-US" sz="2200" dirty="0" smtClean="0">
                <a:latin typeface="+mj-lt"/>
              </a:rPr>
              <a:t>Technical Architect</a:t>
            </a:r>
            <a:endParaRPr lang="en-US" sz="2200" dirty="0">
              <a:latin typeface="+mj-lt"/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2726819"/>
            <a:ext cx="1575582" cy="1190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743200" y="3038270"/>
            <a:ext cx="31242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 smtClean="0">
                <a:latin typeface="+mj-lt"/>
              </a:rPr>
              <a:t>System and Operations Concept Document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800" y="1752600"/>
            <a:ext cx="1066800" cy="1326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96000" y="2622266"/>
            <a:ext cx="26193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6477000" y="4451066"/>
            <a:ext cx="17257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200" dirty="0" smtClean="0">
                <a:latin typeface="+mj-lt"/>
              </a:rPr>
              <a:t>Clients, Users</a:t>
            </a:r>
            <a:endParaRPr lang="en-US" sz="2200" dirty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95600" y="5817513"/>
            <a:ext cx="3124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200" dirty="0" smtClean="0">
                <a:latin typeface="+mj-lt"/>
              </a:rPr>
              <a:t>Project Plan</a:t>
            </a:r>
            <a:endParaRPr lang="en-US" sz="2200" dirty="0">
              <a:latin typeface="+mj-lt"/>
            </a:endParaRPr>
          </a:p>
        </p:txBody>
      </p:sp>
      <p:pic>
        <p:nvPicPr>
          <p:cNvPr id="35842" name="Picture 2" descr="https://www.smartsheet.com/sites/default/files/IC-Software-Project-Plan-Template_WORD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971800" y="4038600"/>
            <a:ext cx="2606040" cy="162077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Requirements [3]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42182"/>
            <a:ext cx="8229600" cy="1077218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The </a:t>
            </a:r>
            <a:r>
              <a:rPr lang="en-US" sz="3200" i="1" dirty="0" smtClean="0">
                <a:solidFill>
                  <a:srgbClr val="C00000"/>
                </a:solidFill>
              </a:rPr>
              <a:t>elicitation</a:t>
            </a:r>
            <a:r>
              <a:rPr lang="en-US" sz="3200" dirty="0" smtClean="0"/>
              <a:t>, </a:t>
            </a:r>
            <a:r>
              <a:rPr lang="en-US" sz="3200" i="1" dirty="0" smtClean="0">
                <a:solidFill>
                  <a:srgbClr val="C00000"/>
                </a:solidFill>
              </a:rPr>
              <a:t>analysis</a:t>
            </a:r>
            <a:r>
              <a:rPr lang="en-US" sz="3200" dirty="0" smtClean="0"/>
              <a:t>, </a:t>
            </a:r>
            <a:r>
              <a:rPr lang="en-US" sz="3200" i="1" dirty="0" smtClean="0">
                <a:solidFill>
                  <a:srgbClr val="C00000"/>
                </a:solidFill>
              </a:rPr>
              <a:t>specification</a:t>
            </a:r>
            <a:r>
              <a:rPr lang="en-US" sz="3200" dirty="0" smtClean="0"/>
              <a:t>, and </a:t>
            </a:r>
            <a:r>
              <a:rPr lang="en-US" sz="3200" i="1" dirty="0" smtClean="0">
                <a:solidFill>
                  <a:srgbClr val="C00000"/>
                </a:solidFill>
              </a:rPr>
              <a:t>validation</a:t>
            </a:r>
            <a:r>
              <a:rPr lang="en-US" sz="3200" dirty="0" smtClean="0"/>
              <a:t> of requirements for software.</a:t>
            </a:r>
            <a:endParaRPr lang="en-US" sz="3200" dirty="0"/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3810000"/>
            <a:ext cx="4505325" cy="179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228600" y="3505200"/>
            <a:ext cx="4724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smtClean="0">
                <a:latin typeface="+mj-lt"/>
              </a:rPr>
              <a:t>Requirements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elicitation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smtClean="0">
                <a:latin typeface="+mj-lt"/>
              </a:rPr>
              <a:t>Requirements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analysis</a:t>
            </a:r>
            <a:r>
              <a:rPr lang="en-US" sz="2400" dirty="0" smtClean="0">
                <a:latin typeface="+mj-lt"/>
              </a:rPr>
              <a:t> and negotiation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smtClean="0">
                <a:latin typeface="+mj-lt"/>
              </a:rPr>
              <a:t>Requirements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specification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smtClean="0">
                <a:latin typeface="+mj-lt"/>
              </a:rPr>
              <a:t>System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modeling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smtClean="0">
                <a:latin typeface="+mj-lt"/>
              </a:rPr>
              <a:t>Requirements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validation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en-US" sz="2400" dirty="0" smtClean="0">
                <a:latin typeface="+mj-lt"/>
              </a:rPr>
              <a:t>Requirements </a:t>
            </a:r>
            <a:r>
              <a:rPr lang="en-US" sz="2400" i="1" dirty="0" smtClean="0">
                <a:solidFill>
                  <a:srgbClr val="C00000"/>
                </a:solidFill>
                <a:latin typeface="+mj-lt"/>
              </a:rPr>
              <a:t>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Products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352800" y="3875544"/>
            <a:ext cx="4800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Glossary, 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Business rules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Domain model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Project vision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Functional requirement specification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Supplementary specification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4852"/>
            <a:ext cx="272113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Business Analyst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Users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Project Manager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7526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5200" y="1371600"/>
            <a:ext cx="2314575" cy="224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6629400" y="3886200"/>
            <a:ext cx="2133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Product backlog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User stories</a:t>
            </a:r>
          </a:p>
        </p:txBody>
      </p:sp>
      <p:pic>
        <p:nvPicPr>
          <p:cNvPr id="28674" name="Picture 2" descr="http://www.leadingagile.com/wp-content/uploads/2014/05/post-it-note-user-story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1828800"/>
            <a:ext cx="1792102" cy="18349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Design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24000"/>
            <a:ext cx="8229600" cy="2308324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The process of </a:t>
            </a:r>
            <a:r>
              <a:rPr lang="en-US" sz="2400" i="1" dirty="0" smtClean="0">
                <a:solidFill>
                  <a:srgbClr val="C00000"/>
                </a:solidFill>
              </a:rPr>
              <a:t>problem-solving</a:t>
            </a:r>
            <a:r>
              <a:rPr lang="en-US" sz="2400" dirty="0" smtClean="0"/>
              <a:t> and planning for a software </a:t>
            </a:r>
            <a:r>
              <a:rPr lang="en-US" sz="2400" u="sng" dirty="0" smtClean="0"/>
              <a:t>solution</a:t>
            </a:r>
            <a:r>
              <a:rPr lang="en-US" sz="24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/>
              <a:t>After the purpose and specifications of software are determined, software developers </a:t>
            </a:r>
            <a:r>
              <a:rPr lang="en-US" sz="2400" i="1" dirty="0" smtClean="0">
                <a:solidFill>
                  <a:srgbClr val="C00000"/>
                </a:solidFill>
              </a:rPr>
              <a:t>plan for a solution</a:t>
            </a:r>
            <a:r>
              <a:rPr lang="en-US" sz="2400" dirty="0" smtClean="0"/>
              <a:t>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It includes </a:t>
            </a:r>
            <a:r>
              <a:rPr lang="en-US" sz="2400" i="1" dirty="0" smtClean="0">
                <a:solidFill>
                  <a:srgbClr val="C00000"/>
                </a:solidFill>
              </a:rPr>
              <a:t>low-level component</a:t>
            </a:r>
            <a:r>
              <a:rPr lang="en-US" sz="2400" dirty="0" smtClean="0"/>
              <a:t> and </a:t>
            </a:r>
            <a:r>
              <a:rPr lang="en-US" sz="2400" i="1" dirty="0" smtClean="0">
                <a:solidFill>
                  <a:srgbClr val="C00000"/>
                </a:solidFill>
              </a:rPr>
              <a:t>algorithm implementation</a:t>
            </a:r>
            <a:r>
              <a:rPr lang="en-US" sz="2400" dirty="0" smtClean="0"/>
              <a:t> issues as well as the </a:t>
            </a:r>
            <a:r>
              <a:rPr lang="en-US" sz="2400" i="1" dirty="0" smtClean="0">
                <a:solidFill>
                  <a:srgbClr val="C00000"/>
                </a:solidFill>
              </a:rPr>
              <a:t>architectural view</a:t>
            </a:r>
            <a:r>
              <a:rPr lang="en-US" sz="2400" dirty="0" smtClean="0"/>
              <a:t>.</a:t>
            </a:r>
          </a:p>
        </p:txBody>
      </p:sp>
      <p:pic>
        <p:nvPicPr>
          <p:cNvPr id="3074" name="Picture 2" descr="http://www.enisa.europa.eu/activities/Resilience-and-CIIP/critical-applications/Software_design.jpg/image_previe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43200" y="4038600"/>
            <a:ext cx="3810000" cy="25336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Products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04800" y="4343400"/>
            <a:ext cx="4495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Architectural design specification</a:t>
            </a:r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33975" y="1748135"/>
            <a:ext cx="332994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4953000" y="5405735"/>
            <a:ext cx="381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Detailed design specification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74554" y="6248400"/>
            <a:ext cx="51830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Technical Architect, Designer, Developer</a:t>
            </a:r>
            <a:endParaRPr lang="en-US" sz="2400" dirty="0">
              <a:latin typeface="+mj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4953000"/>
            <a:ext cx="2057400" cy="1151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8"/>
          <p:cNvSpPr/>
          <p:nvPr/>
        </p:nvSpPr>
        <p:spPr>
          <a:xfrm>
            <a:off x="6248400" y="1752600"/>
            <a:ext cx="2895600" cy="3698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 smtClean="0">
                <a:latin typeface="+mj-lt"/>
              </a:rPr>
              <a:t>GUI</a:t>
            </a:r>
            <a:endParaRPr lang="en-US" dirty="0">
              <a:latin typeface="+mj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0120" y="1447800"/>
            <a:ext cx="269748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r>
              <a:rPr lang="en-US" dirty="0" smtClean="0"/>
              <a:t>Software Construction (Implementation)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9382"/>
            <a:ext cx="8229600" cy="1077218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 smtClean="0"/>
              <a:t>The </a:t>
            </a:r>
            <a:r>
              <a:rPr lang="en-US" sz="3200" i="1" dirty="0" smtClean="0">
                <a:solidFill>
                  <a:srgbClr val="C00000"/>
                </a:solidFill>
              </a:rPr>
              <a:t>construction of software</a:t>
            </a:r>
            <a:r>
              <a:rPr lang="en-US" sz="3200" dirty="0" smtClean="0"/>
              <a:t> through the use of programming languages.</a:t>
            </a:r>
            <a:endParaRPr lang="en-US" sz="3200" dirty="0"/>
          </a:p>
        </p:txBody>
      </p:sp>
      <p:pic>
        <p:nvPicPr>
          <p:cNvPr id="2050" name="Picture 2" descr="http://www.cmscontractor.com/images/Construc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29000" y="3962400"/>
            <a:ext cx="2095500" cy="17145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34200" y="1214735"/>
            <a:ext cx="17145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Products</a:t>
            </a:r>
          </a:p>
        </p:txBody>
      </p:sp>
      <p:pic>
        <p:nvPicPr>
          <p:cNvPr id="512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219200"/>
            <a:ext cx="2514600" cy="2894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9"/>
          <p:cNvSpPr/>
          <p:nvPr/>
        </p:nvSpPr>
        <p:spPr>
          <a:xfrm>
            <a:off x="228600" y="4191000"/>
            <a:ext cx="2819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 smtClean="0">
                <a:latin typeface="+mj-lt"/>
              </a:rPr>
              <a:t>Code File, Unit Tests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62600" y="5943600"/>
            <a:ext cx="259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Developer</a:t>
            </a:r>
          </a:p>
          <a:p>
            <a:pPr algn="ctr">
              <a:defRPr/>
            </a:pPr>
            <a:r>
              <a:rPr lang="en-US" sz="2400" dirty="0" smtClean="0">
                <a:latin typeface="+mj-lt"/>
              </a:rPr>
              <a:t>Technical Architect</a:t>
            </a:r>
            <a:endParaRPr lang="en-US" sz="2400" dirty="0">
              <a:latin typeface="+mj-l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343400" y="3429000"/>
            <a:ext cx="1447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 smtClean="0">
                <a:latin typeface="+mj-lt"/>
              </a:rPr>
              <a:t>Module</a:t>
            </a:r>
            <a:endParaRPr lang="en-US" sz="2400" dirty="0">
              <a:latin typeface="+mj-lt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39000" y="3500735"/>
            <a:ext cx="1219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Product</a:t>
            </a:r>
            <a:endParaRPr lang="en-US" sz="2400" dirty="0">
              <a:latin typeface="+mj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33800" y="1219200"/>
            <a:ext cx="23622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14"/>
          <p:cNvSpPr/>
          <p:nvPr/>
        </p:nvSpPr>
        <p:spPr>
          <a:xfrm>
            <a:off x="2514601" y="5562600"/>
            <a:ext cx="24792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Development Plan</a:t>
            </a:r>
          </a:p>
          <a:p>
            <a:pPr algn="ctr">
              <a:defRPr/>
            </a:pPr>
            <a:r>
              <a:rPr lang="en-US" sz="2400" dirty="0" smtClean="0">
                <a:latin typeface="+mj-lt"/>
              </a:rPr>
              <a:t>Integration Plan</a:t>
            </a:r>
          </a:p>
        </p:txBody>
      </p:sp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76600" y="4191000"/>
            <a:ext cx="1066800" cy="1386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943600" y="4038600"/>
            <a:ext cx="163830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Inspection</a:t>
            </a:r>
            <a:br>
              <a:rPr lang="en-US" dirty="0" smtClean="0"/>
            </a:br>
            <a:r>
              <a:rPr lang="en-US" dirty="0" smtClean="0"/>
              <a:t> Roles And Products</a:t>
            </a:r>
            <a:endParaRPr lang="en-US" dirty="0"/>
          </a:p>
        </p:txBody>
      </p:sp>
      <p:pic>
        <p:nvPicPr>
          <p:cNvPr id="4" name="Picture 2" descr="https://knowledgetester.files.wordpress.com/2017/11/codereview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1828800"/>
            <a:ext cx="5053584" cy="2846832"/>
          </a:xfrm>
          <a:prstGeom prst="rect">
            <a:avLst/>
          </a:prstGeom>
          <a:noFill/>
        </p:spPr>
      </p:pic>
      <p:sp>
        <p:nvSpPr>
          <p:cNvPr id="5" name="Rectangle 4"/>
          <p:cNvSpPr/>
          <p:nvPr/>
        </p:nvSpPr>
        <p:spPr>
          <a:xfrm>
            <a:off x="4800600" y="5276671"/>
            <a:ext cx="3657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Bugs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Code standard or convention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4881" y="6248400"/>
            <a:ext cx="3962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Technical Architect, Developer</a:t>
            </a:r>
            <a:endParaRPr lang="en-US" sz="2400" dirty="0">
              <a:latin typeface="+mj-lt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5020733"/>
            <a:ext cx="2057400" cy="1151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1600200"/>
            <a:ext cx="8001000" cy="1569660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 smtClean="0">
                <a:solidFill>
                  <a:schemeClr val="tx1"/>
                </a:solidFill>
              </a:rPr>
              <a:t>The </a:t>
            </a:r>
            <a:r>
              <a:rPr lang="en-US" sz="2400" i="1" dirty="0" smtClean="0">
                <a:solidFill>
                  <a:srgbClr val="C00000"/>
                </a:solidFill>
              </a:rPr>
              <a:t>empirical investigations</a:t>
            </a:r>
            <a:r>
              <a:rPr lang="en-US" sz="2400" dirty="0" smtClean="0"/>
              <a:t> conducted to provide stakeholders with information about the </a:t>
            </a:r>
            <a:r>
              <a:rPr lang="en-US" sz="2400" u="sng" dirty="0" smtClean="0"/>
              <a:t>quality</a:t>
            </a:r>
            <a:r>
              <a:rPr lang="en-US" sz="2400" dirty="0" smtClean="0"/>
              <a:t> of the product or service under test, with respect to the context in which it is intended to operate.</a:t>
            </a: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09688" y="3676650"/>
            <a:ext cx="6524625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9600" y="2133600"/>
            <a:ext cx="37338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>
                <a:latin typeface="+mj-lt"/>
              </a:rPr>
              <a:t>Test </a:t>
            </a:r>
            <a:r>
              <a:rPr lang="en-US" sz="2400" dirty="0" smtClean="0">
                <a:latin typeface="+mj-lt"/>
              </a:rPr>
              <a:t>Plan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Test Data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User Guide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400" dirty="0" smtClean="0">
              <a:latin typeface="+mj-lt"/>
            </a:endParaRP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Test Result</a:t>
            </a: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81200"/>
            <a:ext cx="29622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257800" y="6019800"/>
            <a:ext cx="24219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 smtClean="0">
                <a:latin typeface="+mj-lt"/>
              </a:rPr>
              <a:t>QA/QC and Tester</a:t>
            </a:r>
            <a:endParaRPr lang="en-US" sz="2400" dirty="0">
              <a:latin typeface="+mj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38600" y="4876800"/>
            <a:ext cx="412432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400" dirty="0" smtClean="0"/>
              <a:t>Software Deployment &amp; Acceptance Testing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519535"/>
            <a:ext cx="1752600" cy="1822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228600" y="3272135"/>
            <a:ext cx="2209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System Delivery </a:t>
            </a:r>
            <a:endParaRPr lang="en-US" sz="2400" dirty="0">
              <a:latin typeface="+mj-l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14277" y="5715000"/>
            <a:ext cx="261052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Supporter and</a:t>
            </a:r>
          </a:p>
          <a:p>
            <a:pPr algn="ctr">
              <a:defRPr/>
            </a:pPr>
            <a:r>
              <a:rPr lang="en-US" sz="2400" dirty="0" smtClean="0">
                <a:latin typeface="+mj-lt"/>
              </a:rPr>
              <a:t>Development Team</a:t>
            </a:r>
            <a:endParaRPr lang="en-US" sz="2400" dirty="0">
              <a:latin typeface="+mj-lt"/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71477" y="3429000"/>
            <a:ext cx="1451926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0" y="4114800"/>
            <a:ext cx="2619375" cy="174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1143000" y="5943600"/>
            <a:ext cx="18644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 smtClean="0">
                <a:latin typeface="+mj-lt"/>
              </a:rPr>
              <a:t>Clients, Users</a:t>
            </a:r>
            <a:endParaRPr lang="en-US" sz="2400" dirty="0">
              <a:latin typeface="+mj-lt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953000" y="1824335"/>
            <a:ext cx="3505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Acceptance Test Plan</a:t>
            </a:r>
          </a:p>
          <a:p>
            <a:pPr marL="457200" indent="-457200">
              <a:buFont typeface="Wingdings" pitchFamily="2" charset="2"/>
              <a:buChar char="q"/>
              <a:defRPr/>
            </a:pPr>
            <a:endParaRPr lang="en-US" sz="2400" dirty="0" smtClean="0">
              <a:latin typeface="+mj-lt"/>
            </a:endParaRPr>
          </a:p>
          <a:p>
            <a:pPr marL="457200" indent="-457200">
              <a:buFont typeface="Wingdings" pitchFamily="2" charset="2"/>
              <a:buChar char="q"/>
              <a:defRPr/>
            </a:pPr>
            <a:r>
              <a:rPr lang="en-US" sz="2400" dirty="0" smtClean="0">
                <a:latin typeface="+mj-lt"/>
              </a:rPr>
              <a:t>Test Result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657600" y="1671935"/>
            <a:ext cx="1066800" cy="13862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Software Operation &amp; Maintenance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1676"/>
            <a:ext cx="8229600" cy="2308324"/>
          </a:xfrm>
          <a:prstGeom prst="rect">
            <a:avLst/>
          </a:prstGeom>
          <a:noFill/>
          <a:ln>
            <a:noFill/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Software systems often have </a:t>
            </a:r>
            <a:r>
              <a:rPr lang="en-US" sz="2400" i="1" dirty="0" smtClean="0">
                <a:solidFill>
                  <a:srgbClr val="C00000"/>
                </a:solidFill>
              </a:rPr>
              <a:t>problems </a:t>
            </a:r>
            <a:r>
              <a:rPr lang="en-US" sz="2400" dirty="0" smtClean="0">
                <a:solidFill>
                  <a:schemeClr val="tx1"/>
                </a:solidFill>
              </a:rPr>
              <a:t>and need </a:t>
            </a:r>
            <a:r>
              <a:rPr lang="en-US" sz="2400" i="1" dirty="0" smtClean="0">
                <a:solidFill>
                  <a:srgbClr val="C00000"/>
                </a:solidFill>
              </a:rPr>
              <a:t>enhancements</a:t>
            </a:r>
            <a:r>
              <a:rPr lang="en-US" sz="2400" dirty="0" smtClean="0">
                <a:solidFill>
                  <a:schemeClr val="tx1"/>
                </a:solidFill>
              </a:rPr>
              <a:t> for a long time after they are first completed. This subfield deals with those problems.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400" i="1" dirty="0" smtClean="0">
                <a:solidFill>
                  <a:srgbClr val="C00000"/>
                </a:solidFill>
              </a:rPr>
              <a:t>Software maintenance</a:t>
            </a:r>
            <a:r>
              <a:rPr lang="en-US" sz="2400" dirty="0" smtClean="0">
                <a:solidFill>
                  <a:schemeClr val="tx1"/>
                </a:solidFill>
              </a:rPr>
              <a:t> is the process of </a:t>
            </a:r>
            <a:r>
              <a:rPr lang="en-US" sz="2400" u="sng" dirty="0" smtClean="0">
                <a:solidFill>
                  <a:schemeClr val="tx1"/>
                </a:solidFill>
              </a:rPr>
              <a:t>enhancing</a:t>
            </a:r>
            <a:r>
              <a:rPr lang="en-US" sz="2400" dirty="0" smtClean="0">
                <a:solidFill>
                  <a:schemeClr val="tx1"/>
                </a:solidFill>
              </a:rPr>
              <a:t> and optimizing deployed software (software release), as well as </a:t>
            </a:r>
            <a:r>
              <a:rPr lang="en-US" sz="2400" u="sng" dirty="0" smtClean="0">
                <a:solidFill>
                  <a:schemeClr val="tx1"/>
                </a:solidFill>
              </a:rPr>
              <a:t>remedying defects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44037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4419600"/>
            <a:ext cx="3371850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Roles and Products</a:t>
            </a:r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2169378"/>
            <a:ext cx="4724400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33400" y="4503003"/>
            <a:ext cx="3352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 smtClean="0">
                <a:latin typeface="+mj-lt"/>
              </a:rPr>
              <a:t>Clients, Users, Supporters and Development Team</a:t>
            </a:r>
            <a:endParaRPr lang="en-US" sz="2400" dirty="0">
              <a:latin typeface="+mj-lt"/>
            </a:endParaRPr>
          </a:p>
        </p:txBody>
      </p:sp>
      <p:pic>
        <p:nvPicPr>
          <p:cNvPr id="1026" name="Picture 2" descr="http://bookkeepersme.com/wp-content/uploads/2014/05/software-maintenance-services-dubai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169378"/>
            <a:ext cx="3429000" cy="223456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Take This Step?</a:t>
            </a:r>
            <a:endParaRPr lang="en-US" dirty="0"/>
          </a:p>
        </p:txBody>
      </p:sp>
      <p:pic>
        <p:nvPicPr>
          <p:cNvPr id="1028" name="Picture 4" descr="http://forexstudy.info/wp-content/uploads/2016/03/risk-reward-forex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2590800"/>
            <a:ext cx="3667125" cy="24479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The Software Development Life Cycle [4]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Software development life cycle:</a:t>
            </a:r>
            <a:r>
              <a:rPr lang="en-US" sz="2400" dirty="0" smtClean="0"/>
              <a:t> all the </a:t>
            </a:r>
            <a:r>
              <a:rPr lang="en-US" sz="2400" u="sng" dirty="0" smtClean="0"/>
              <a:t>states</a:t>
            </a:r>
            <a:r>
              <a:rPr lang="en-US" sz="2400" dirty="0" smtClean="0"/>
              <a:t> through which the software evolves.</a:t>
            </a:r>
          </a:p>
        </p:txBody>
      </p:sp>
      <p:pic>
        <p:nvPicPr>
          <p:cNvPr id="2050" name="Picture 2" descr="https://online.husson.edu/wp-content/uploads/2016/03/627x627-SftwareDev-Feature-HUS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4200" y="2743200"/>
            <a:ext cx="2866644" cy="28666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SDLC Model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19800" cy="4525963"/>
          </a:xfrm>
        </p:spPr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software life cycle model</a:t>
            </a:r>
            <a:r>
              <a:rPr lang="en-US" sz="2400" dirty="0" smtClean="0"/>
              <a:t> is either a descriptive or prescriptive characterization of software evolution.</a:t>
            </a:r>
          </a:p>
          <a:p>
            <a:r>
              <a:rPr lang="en-US" sz="2400" dirty="0" smtClean="0"/>
              <a:t>Typically, it is easier and more common to articulate a </a:t>
            </a:r>
            <a:r>
              <a:rPr lang="en-US" sz="2400" i="1" dirty="0" smtClean="0">
                <a:solidFill>
                  <a:srgbClr val="C00000"/>
                </a:solidFill>
              </a:rPr>
              <a:t>prescriptive</a:t>
            </a:r>
            <a:r>
              <a:rPr lang="en-US" sz="2400" dirty="0" smtClean="0"/>
              <a:t> life cycle model for how software systems </a:t>
            </a:r>
            <a:r>
              <a:rPr lang="en-US" sz="2400" u="sng" dirty="0" smtClean="0"/>
              <a:t>should be developed</a:t>
            </a:r>
            <a:r>
              <a:rPr lang="en-US" sz="2400" dirty="0" smtClean="0"/>
              <a:t>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Descriptive</a:t>
            </a:r>
            <a:r>
              <a:rPr lang="en-US" sz="2400" dirty="0" smtClean="0"/>
              <a:t> life cycle models, on the other hand, characterize how particular software systems are </a:t>
            </a:r>
            <a:r>
              <a:rPr lang="en-US" sz="2400" u="sng" dirty="0" smtClean="0"/>
              <a:t>actually developed in specific settings</a:t>
            </a:r>
            <a:r>
              <a:rPr lang="en-US" sz="2400" dirty="0" smtClean="0"/>
              <a:t>.</a:t>
            </a:r>
          </a:p>
        </p:txBody>
      </p:sp>
      <p:pic>
        <p:nvPicPr>
          <p:cNvPr id="6" name="Picture 2" descr="http://www.marketingthemousetrap.com/images/processdefiniti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3200" y="2362200"/>
            <a:ext cx="2301240" cy="2667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SDLCM Elements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381000" y="2133600"/>
          <a:ext cx="84582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NASA/SEL SDLC Model [1]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725" y="1343025"/>
            <a:ext cx="7448550" cy="498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Learn SDLC Models?</a:t>
            </a:r>
            <a:endParaRPr lang="en-US" dirty="0"/>
          </a:p>
        </p:txBody>
      </p:sp>
      <p:pic>
        <p:nvPicPr>
          <p:cNvPr id="1028" name="Picture 4" descr="Building a Winning Software Development Project Pla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6800" y="1905000"/>
            <a:ext cx="6873240" cy="40233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Defining a SDLC Model</a:t>
            </a:r>
            <a:endParaRPr lang="en-US" dirty="0"/>
          </a:p>
        </p:txBody>
      </p:sp>
      <p:pic>
        <p:nvPicPr>
          <p:cNvPr id="2050" name="Picture 2" descr="http://www.texasrockgym.com/wp-content/uploads/2016/04/exercis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1524000"/>
            <a:ext cx="2601884" cy="1600200"/>
          </a:xfrm>
          <a:prstGeom prst="rect">
            <a:avLst/>
          </a:prstGeom>
          <a:noFill/>
        </p:spPr>
      </p:pic>
      <p:pic>
        <p:nvPicPr>
          <p:cNvPr id="11" name="Picture 2" descr="http://360connext.com/wp-content/uploads/2016/08/process-flo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38400" y="3352800"/>
            <a:ext cx="4286250" cy="2834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SDLC Model Definition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525963"/>
          </a:xfrm>
        </p:spPr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Life cycle</a:t>
            </a:r>
            <a:r>
              <a:rPr lang="en-US" sz="2400" dirty="0" smtClean="0"/>
              <a:t> (hierarchical/overlapped </a:t>
            </a:r>
            <a:r>
              <a:rPr lang="en-US" sz="2400" u="sng" dirty="0" smtClean="0"/>
              <a:t>phases</a:t>
            </a:r>
            <a:r>
              <a:rPr lang="en-US" sz="2400" dirty="0" smtClean="0"/>
              <a:t>)</a:t>
            </a:r>
          </a:p>
          <a:p>
            <a:r>
              <a:rPr lang="en-US" sz="2400" dirty="0" smtClean="0"/>
              <a:t>Phase</a:t>
            </a:r>
          </a:p>
          <a:p>
            <a:pPr lvl="1"/>
            <a:r>
              <a:rPr lang="en-US" sz="2000" dirty="0" smtClean="0"/>
              <a:t>Purpose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Entry criteria</a:t>
            </a:r>
          </a:p>
          <a:p>
            <a:pPr lvl="1"/>
            <a:r>
              <a:rPr lang="en-US" sz="2000" dirty="0" smtClean="0"/>
              <a:t>Inputs</a:t>
            </a:r>
          </a:p>
          <a:p>
            <a:pPr lvl="1"/>
            <a:r>
              <a:rPr lang="en-US" sz="2000" dirty="0" smtClean="0"/>
              <a:t>Roles</a:t>
            </a:r>
          </a:p>
          <a:p>
            <a:pPr lvl="2"/>
            <a:r>
              <a:rPr lang="en-US" sz="1600" dirty="0" smtClean="0"/>
              <a:t>Tasks</a:t>
            </a:r>
          </a:p>
          <a:p>
            <a:pPr lvl="2"/>
            <a:r>
              <a:rPr lang="en-US" sz="1600" dirty="0" smtClean="0"/>
              <a:t>Process flow</a:t>
            </a:r>
          </a:p>
          <a:p>
            <a:pPr lvl="2"/>
            <a:r>
              <a:rPr lang="en-US" sz="1600" dirty="0" smtClean="0"/>
              <a:t>Deliverables</a:t>
            </a:r>
          </a:p>
          <a:p>
            <a:pPr lvl="1"/>
            <a:r>
              <a:rPr lang="en-US" sz="2000" dirty="0" smtClean="0"/>
              <a:t>Checkpoints</a:t>
            </a:r>
          </a:p>
          <a:p>
            <a:pPr lvl="1"/>
            <a:r>
              <a:rPr lang="en-US" sz="2000" dirty="0" smtClean="0"/>
              <a:t>Outputs</a:t>
            </a:r>
          </a:p>
          <a:p>
            <a:pPr lvl="1"/>
            <a:r>
              <a:rPr lang="en-US" sz="2000" i="1" dirty="0" smtClean="0">
                <a:solidFill>
                  <a:srgbClr val="C00000"/>
                </a:solidFill>
              </a:rPr>
              <a:t>Exit criteria</a:t>
            </a:r>
          </a:p>
        </p:txBody>
      </p:sp>
      <p:pic>
        <p:nvPicPr>
          <p:cNvPr id="8194" name="Picture 2" descr="http://360connext.com/wp-content/uploads/2016/08/process-flow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86200" y="2743200"/>
            <a:ext cx="4286250" cy="283464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Define a SDLC Model?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5562600" cy="5105400"/>
          </a:xfrm>
        </p:spPr>
        <p:txBody>
          <a:bodyPr/>
          <a:lstStyle/>
          <a:p>
            <a:r>
              <a:rPr lang="en-US" sz="1600" dirty="0" smtClean="0"/>
              <a:t>As </a:t>
            </a:r>
            <a:r>
              <a:rPr lang="en-US" sz="1600" i="1" dirty="0" smtClean="0">
                <a:solidFill>
                  <a:srgbClr val="C00000"/>
                </a:solidFill>
              </a:rPr>
              <a:t>comparative descriptive</a:t>
            </a:r>
            <a:r>
              <a:rPr lang="en-US" sz="1600" dirty="0" smtClean="0"/>
              <a:t> or </a:t>
            </a:r>
            <a:r>
              <a:rPr lang="en-US" sz="1600" i="1" dirty="0" smtClean="0">
                <a:solidFill>
                  <a:srgbClr val="C00000"/>
                </a:solidFill>
              </a:rPr>
              <a:t>prescriptive</a:t>
            </a:r>
            <a:r>
              <a:rPr lang="en-US" sz="1600" dirty="0" smtClean="0"/>
              <a:t> accounts for how software systems come to be the way they are.</a:t>
            </a:r>
          </a:p>
          <a:p>
            <a:r>
              <a:rPr lang="en-US" sz="1600" dirty="0" smtClean="0"/>
              <a:t>Regulatory </a:t>
            </a:r>
            <a:r>
              <a:rPr lang="en-US" sz="1600" i="1" dirty="0" smtClean="0">
                <a:solidFill>
                  <a:srgbClr val="C00000"/>
                </a:solidFill>
              </a:rPr>
              <a:t>compliance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As frameworks for analyzing or estimating patterns of </a:t>
            </a:r>
            <a:r>
              <a:rPr lang="en-US" sz="1600" i="1" dirty="0" smtClean="0">
                <a:solidFill>
                  <a:srgbClr val="C00000"/>
                </a:solidFill>
              </a:rPr>
              <a:t>resource allocation</a:t>
            </a:r>
            <a:r>
              <a:rPr lang="en-US" sz="1600" dirty="0" smtClean="0"/>
              <a:t> and consumption during the software life cycle.</a:t>
            </a:r>
          </a:p>
          <a:p>
            <a:r>
              <a:rPr lang="en-US" sz="1600" dirty="0" smtClean="0"/>
              <a:t>To organize, plan, staff, budget, schedule and manage </a:t>
            </a:r>
            <a:r>
              <a:rPr lang="en-US" sz="1600" i="1" dirty="0" smtClean="0">
                <a:solidFill>
                  <a:srgbClr val="C00000"/>
                </a:solidFill>
              </a:rPr>
              <a:t>software project work</a:t>
            </a:r>
            <a:r>
              <a:rPr lang="en-US" sz="1600" dirty="0" smtClean="0"/>
              <a:t> over organizational time, space, and computing environments.</a:t>
            </a:r>
          </a:p>
          <a:p>
            <a:r>
              <a:rPr lang="en-US" sz="1600" dirty="0" smtClean="0"/>
              <a:t>As a basis for conducting empirical studies to determine what affects </a:t>
            </a:r>
            <a:r>
              <a:rPr lang="en-US" sz="1600" i="1" dirty="0" smtClean="0">
                <a:solidFill>
                  <a:srgbClr val="C00000"/>
                </a:solidFill>
              </a:rPr>
              <a:t>software productivity</a:t>
            </a:r>
            <a:r>
              <a:rPr lang="en-US" sz="1600" dirty="0" smtClean="0"/>
              <a:t>, </a:t>
            </a:r>
            <a:r>
              <a:rPr lang="en-US" sz="1600" i="1" dirty="0" smtClean="0">
                <a:solidFill>
                  <a:srgbClr val="C00000"/>
                </a:solidFill>
              </a:rPr>
              <a:t>cost</a:t>
            </a:r>
            <a:r>
              <a:rPr lang="en-US" sz="1600" dirty="0" smtClean="0"/>
              <a:t>, and </a:t>
            </a:r>
            <a:r>
              <a:rPr lang="en-US" sz="1600" i="1" dirty="0" smtClean="0">
                <a:solidFill>
                  <a:srgbClr val="C00000"/>
                </a:solidFill>
              </a:rPr>
              <a:t>overall quality</a:t>
            </a:r>
            <a:r>
              <a:rPr lang="en-US" sz="1600" dirty="0" smtClean="0"/>
              <a:t>.</a:t>
            </a:r>
          </a:p>
          <a:p>
            <a:r>
              <a:rPr lang="en-US" sz="1600" dirty="0" smtClean="0"/>
              <a:t>As a basis for determining what software engineering </a:t>
            </a:r>
            <a:r>
              <a:rPr lang="en-US" sz="1600" i="1" dirty="0" smtClean="0">
                <a:solidFill>
                  <a:srgbClr val="C00000"/>
                </a:solidFill>
              </a:rPr>
              <a:t>tools</a:t>
            </a:r>
            <a:r>
              <a:rPr lang="en-US" sz="1600" dirty="0" smtClean="0"/>
              <a:t> and </a:t>
            </a:r>
            <a:r>
              <a:rPr lang="en-US" sz="1600" i="1" dirty="0" smtClean="0">
                <a:solidFill>
                  <a:srgbClr val="C00000"/>
                </a:solidFill>
              </a:rPr>
              <a:t>methodologies</a:t>
            </a:r>
            <a:r>
              <a:rPr lang="en-US" sz="1600" dirty="0" smtClean="0"/>
              <a:t> will be most appropriate to support different life cycle activities.</a:t>
            </a:r>
          </a:p>
          <a:p>
            <a:r>
              <a:rPr lang="en-US" sz="1600" dirty="0" smtClean="0"/>
              <a:t>As prescriptive outlines for </a:t>
            </a:r>
            <a:r>
              <a:rPr lang="en-US" sz="1600" i="1" dirty="0" smtClean="0">
                <a:solidFill>
                  <a:srgbClr val="C00000"/>
                </a:solidFill>
              </a:rPr>
              <a:t>what products</a:t>
            </a:r>
            <a:r>
              <a:rPr lang="en-US" sz="1600" dirty="0" smtClean="0"/>
              <a:t> to produce for approvals and delivery to client.</a:t>
            </a:r>
          </a:p>
          <a:p>
            <a:r>
              <a:rPr lang="en-US" sz="1600" dirty="0" smtClean="0"/>
              <a:t>Establish a framework for building, implementing and enhancing systems that </a:t>
            </a:r>
            <a:r>
              <a:rPr lang="en-US" sz="1600" i="1" dirty="0" smtClean="0">
                <a:solidFill>
                  <a:srgbClr val="C00000"/>
                </a:solidFill>
              </a:rPr>
              <a:t>all personnel</a:t>
            </a:r>
            <a:r>
              <a:rPr lang="en-US" sz="1600" dirty="0" smtClean="0"/>
              <a:t> </a:t>
            </a:r>
            <a:r>
              <a:rPr lang="en-US" sz="1600" u="sng" dirty="0" smtClean="0"/>
              <a:t>have to follow</a:t>
            </a:r>
            <a:r>
              <a:rPr lang="en-US" sz="1600" dirty="0" smtClean="0"/>
              <a:t>.</a:t>
            </a:r>
          </a:p>
        </p:txBody>
      </p:sp>
      <p:sp>
        <p:nvSpPr>
          <p:cNvPr id="14338" name="AutoShape 2" descr="data:image/jpeg;base64,/9j/4AAQSkZJRgABAQAAAQABAAD/2wCEAAkGBxASEhMQEhAVFhAWFRIXFhUWFRUWFRUVGBUXFxUVFxgYHSggGRolHRUVITEhJSkrLi4vFx8zODMtNygtLisBCgoKDg0OGxAQGy8lHyYtLS0vLS0tLSstLS0tLS0tLS0tLS0tLS0tLS0tLS0tLS0tLS0tLS0tLS0tLS0tLS0tLf/AABEIAMgA/AMBEQACEQEDEQH/xAAbAAEAAgMBAQAAAAAAAAAAAAAABAYBAwUCB//EAEEQAAEDAgMGAwUFBAkFAAAAAAEAAgMEEQUSIQYxQVFhcRMikTKBobHBQlJy0fAUM2LhBxUWI0NTgpKiJERkk7L/xAAaAQEAAgMBAAAAAAAAAAAAAAAABAUBAwYC/8QAMhEBAAIBAwMCBAUDBAMAAAAAAAECAwQRIQUSMSJBE1GR0RUyYXGhgbHwI0JSwRQzNP/aAAwDAQACEQMRAD8A+4oCAgICAgICAgICAgICAgICAgICAgICAgICAgICAgICAgICAgICAgICAgICAgICAgICAgICAgICAgICAgICAgICAgICAgINFZWRxNzyPDW8z9OaCPhuMQT38N9yOBBBtzsd46oJ6AgICAgICAgICAgICAgICAgICAgICAgICAgICDmYniwi8o1f8B36oOK/HZfvW9wQVvHsUmfNHmbmaS1ocG5iwX1dkG/fw1QTcQp5KZ8ZD/Fjf7EjRYtcN4Nr25/rULnhGIeK2x9sDXr1QdFAQEBAQEBAQEBAQEBAQEBAQEBAQEBAQEBAQeZHWBPIE+iCiVkxc4k7zcoIhcgh1sDjZzDZ7b24g3FiCg6eztBLUtfctY5hAtYkOBB1vw3IJtXTT0pa+4Lb2Dm3sDydfddBYMHxdswsdJOI59Qg6iAgICAgICAgICAgICAgICAgICAgICAgICDzI24I5ghBRa2AtcWneCQghlqDNkFo2Qpi2N8lvbdp1DRa/qT6IO5NE1wLXAFpFiDuIQU7F8HfTHxYrmIa6e1H35jr680HcwLGRMMrv3gHud1CDsICAgICAgICAgICAgICAgICAgICAgICAgIOdimFtl8wNn8+B7oKji0RpyPEFr3sRqDbfuQS8Dwc1DWzOdaE3sB7TrEgjpqEFxjjDQGtFgBYAcAg9oOdi2LxQDzG7zuY32j+Q6lBTcHppXTFzGht35g1t8rBfd2QfQwgICDCBdY3AlNzkusjKAgICAgICAgICAgICAgICAg5mL4n4Qyt1kPoOpQVOtxSqcf3zh+Hy/JByK/xXjzyOeebnF3zQetncdqKS7LZ4Sb5CbWPEtPBBcIdsIXDWKUHlZp+OZBFq9oZpPLE3IDx9p3u4D4oPeHbPOec8pIvqbm7z3JQWWmp2RjKxoA+ffmg23QLoF0GuoqGMBc9wDRxK15Mlccd152h6pS157axyq+JbRvccsXlb947z7uAXP6rq97T24vquNP02sRvk+jXBtJMPaDXDtY/Ba8XWc0fmjd6ydMxT+WdnSp9poz7bHN6izh+fwU/H1jFM7XrMf5+iJk6blj8sxLrUNbHM3PG8Obci45jeFa48lclYtXwg3x2pPbbykrY8PDpWjeQO5svM3rXzL1FZnxCPJiUDd8rPULTbVYa+bQ9xgyT4rKO/HaYf4l+wcfotFupaaJ27/7/AGbY0Of/AI/2S6OrZI3Ow3H60UnDnplr3VneGnLjtjna0bN91ua2UBAQEBAQEBAQQcVrxCy/2juH17IKtQU81U8uBswHzSEX15NHE/JAxOk8N5bvHA8wggujug0eAEEuhojI4NaNSguOG4VHEL2u/wC8fpyQTXmwJWJkVKXaWXM7KG5bm1wb24cVzmXq+auSaxEcLrH06lqxMzLz/aafkz0/mtf4xn/R7/DMc+8odZt14RtI+Nh/iBHpzW6nUNZf8kR/DxOhwV82lc8MqhLEyQfaaD6hX9Jmaqe0RFtlb2nwOvllMsFQwx2FoZG2DSBqQ4a6qFrdFGo90vTar4PGys1mA4qz/qXljY49TTss7xG7nEu58QAon4TWuG0ebbcSkfiE2vCRG8EAg3BAIPQrnLV7Z7ZXMTvG5gmxkMrnubUzxDMS6JrrscHb7A6tHZdF0+MWppteOaqfWZMuG2/tL6DheHRU8bYom5WDh14k9VdUiKwqrWtad5SyssKZtthNUX/tNOY3eUMeyVxa0AFxDwRx8xFuN1Xa/SUyx33ttsm6LPNJ7axvMq9h7Zg28xYX/dYDlaO51PoFzGeMcW7aR/VfY+6Y3tw14li8EGUSvsXEACxJ32zG25o4lesOlyZe6aV32hi+amPiXbwrFxA65cPDdbMLjd94KRoNRl094iI4nz+n6o2qwUzU3jyvNPK17Q5pBa4AgjcQdxXXVmJjeHPTXadm1ZBAQEBAQEBAQcLafCZJ23iIDwLWPHt1QU3C8arKA+FKwviBPlcLObc3Jafeg7tbi9PVNbJE/wA40cw6PA3i44jfqEEEINbgg7ezTLyX5NJ+Q+qC0oIuJOIikIBJDToNSewXjJE9kxV6pt3xMvlgxb/xqn/0n81y1+n55tMx53+Xs6CusxxVrb/WMLfGnpy+ncS5rmNPiRtJJAezjYEC45KXqOkxFYnH590fFr/Vtbwn088crQ9pa9vA6OF+x3FU/rw22jysZiuSN5W3BsfabRygNOgDho3sRw+SvtF1Wt9q5OJ+ftKo1XT5pHdj5j5LICruPmq3mZlwRzQ/V82MOQlg3AuA7Zjb4WXG9QrFdRbZ02it3YK7urs3NlnA+8CFK6NafjbfojdTr/pLqF0/uopRcQxCOFuZ57Dieyj6nVUwV7ry24cN81u2sKbiOJyTG7tG8GjcPzK5TV66+on1fl+ToNPpaYY48+7k55ZX+BTNzzfadvZGObyOPRbtJ0/JmtEz+V51OrrijhbcF2MpoWO8UeNNIP7yR+pd0HJvQLqMOCmKvbVQ5c1sk7yzDsHhrf8AtgfxOcR6XT4FD49/msFPA2NrWMaGsaA1rRuAAsAFtiIjiGreUGvxqKJwa65PHLY5e+qg6jqGLDbayTh0eTLG9XqmxmnfulAP8Xl+azj6hp7+LfXj+7F9Hmp5qnMeDqCCOYN1LrMW5jx+7RMTHl7BXphlZBAQEBAQRq2hilblkYHDrvHY7wg+bYxR0lLVR+DPdznZCwi9s2ls40OttEHQBQYcgsWy7dXnoB+vRBYUGLIFkGHtB0O5Y2FJ2k2W8MuqqRoDt8kQ0bIPo7qoOs0Vc1ePKXpdVbFPPhx4JQ9oeNx57xzB671yV6zS/bZ0VbRavC07M4qb+A8/gJ/+VfdK10z/AKN/6KjqGliv+pT+qw1Moa0uJ0AKvLWitZmfEKqsd0xEe753K/MS7mVxOfJ8TNa3zl1OGnw6RX5JeA61LGjgC4/IfM+is+i45nJN/aOEDqd9qRWVmxfHGReVtnScuA7/AJKz1nUaYI7Y/MgaXR2zTvPEKjU1Dnkve654k7gPoFzGTJfJfe08yv6Y6Y67VjZFw6mmrXZICWQA2fPz5tj6/wAStdB03v8AVfiPkgarXVp6a+V/wjCYKWMRxtDQN7jvJ4kldBEVpXbwpbWte28k+NQM3yA9G3d8lGydQ01P90T+3LdTSZr+KoMu1MY9ljnejQod+s4o/LWZ/fhKr0vJ/umIQ5dqZPsxtHe5/JRL9ayf7ax/f7N9el097KpU0MZlfUF72ve4udaV7WXPS9lAyarLmnmsfRNx4KYo2iZSIpmOuGua62+xBt3sotqzW2012b4mJ8NoqjGC7OWAakgkAL3S+SJ9My8ZKUtG9oWfY2rqZmvklBEZy+Fm9ojXM499Ldl1uirmjHvlneXPaqcfftTwsamowgICAgINFbB4jHMzFuYWuN4QfLNtdnoqU0rg8umNQxznHcGNc2wA4a21QdUFBi+qCz7LH2x+H6oO+gICAsSPJCeGPL57iVIIppWjcXZrcrgX+Iv71y/WKVjNEuh6babYuWmKXI4P5G/ooWktNc1ZjzulZ9px2iXbxzF87RE077Zj9FcdX1m0fCp591X07Tc/Et/RX5XhoLnGzQNVQRXfasLiZ2jdjCKiRofJbLJJz3sjGjW9DvJ6uKsraz4GL4WL+qF/4vxsnfkYqalkbS97gGjeSf1cqvitslvnKXa1aRzxCJSw/tJD5szKbeIhpJLyz/db0Vvhpp9N6sk72+SBktmzemken5ysxxxzGiOFjY2AWFtTb5Lzm6xktxjjtj6/ZjF0ylebTu5GI4oPamm/3O+QUC1s+on1R3JkVxYY42hAhxF8ptT00sp5hpa3/cVIxdOy24nhqya7HV0oNncUl1IhgHXzuHu3KfTo1fNkK3U/+MbOhDsA9376vld0Y0MCm06ZhqjW1+SyQP6NcPPttkeebpHfSyk102OPENM6i8+7jybGVlPmbSeC6DMS2MgscAdbX+0epKg6npnxbd26Vp9f2Rsm4JszPM8SVjAxjDdsIcHZnD7TiOHILOi6bXDPdbyxqddN42qvUYA0AsFaR85V71dZGUBAQEBAQfKsbwyorq10IcbNdd8ltGsY64ay/wCtUExkjQ0F7gNBe+gug9kcRu5oLDso7zPH8P1CCyoCAgwUEaurGxML3HT4k8gtGbNTDTus2YsV8t+2qg1U5e9zzvJuuPz5pzZZyT4l0+DFGOu0I80eYWJNri9uNje3YrXiv2Tv7+z3endw9rza02nulmIiI2gIusMshY49xGdRMc4SPGZw9m/ss6tbuB671urmtFe2nH/bXOOs825a67E4ojlJzSHcxozPPuH1XrFprZZ4h5vmrTzLNNRVU+r5GUsR5nNMR24K0x6PBi5zW5Qb6rLf/wBdXaw/CcKgOYh08n33gvN+mawClxrdHjjaOUadNq8k7zw7bdpIGizYn25WYB815nreGOIrb+PuR0rLPmY/n7Mf2qZ/lO9QvE9cx+1J/j7s/hWT5x/P2ZG1TOMTvUJHW8fvSf4+5+FZPnH8/Z7btRFxjk/4n6r3HWsX/G38fd5npWX5x/P2RsX2mtETTNvNdtg8WFrjNrffa9lm3VsExtXes/tH3Yr07LFvVG8OO3GKh1nl72n7txoeVhoVUZNdn79+/dZ10eHt27VjwnHmvsySzX8/su/Iq50fVKZNqZI2sqtToL457qTvDuAq2/ZAelkEBAQEBBrZE1pJDQCdSQNSevNB8w2piyl7eAc4fEoO2+iDKalcBviYD3DRr+uSCdss7+9I5tPzCC1ICDBWBzMVxiOEWOr+DRv9/IKFq9dj00eqd5+SVp9JfNPHEfNTq6ukmdmeew4DsuY1GqyZ7b28L/Bp6Yo2r5R1HSBYkEBAQap4i7TOWjjl0cf9XD3ar3jttPHLzaGqmooYQS1gbzcdXHqXHU+q2Wz5cnG7V8LHXmWiTGob5Wl0j+TGl3x3LZj0Ge/s821WOvu3wivk/dUL7c3uDfgpmPpGSfP+fVGv1CkeEuPAMWd/hwM7uJ+qk16PHu0T1NtGymKf50A938ls/B6f5u1z1ST+yeKf58B/0n8k/B8f+bn4nP8AmzW/ZvF27v2d3qF5no9fZ6jqcuVSzVRkex4gGR2Vwa55cCN+m74qr1Wmpgnad9/6LDBmtk52dS/ooe0+PKTO0eUKoxaBm+QX5N8x+C2002S88Q1WzY4jmVk2OxqolkEZgk8CxPivFrEbgL6kFdF0+NRT05fHspNZOG87411VqgCAgICAgFB8521jtI/qb+uqCySw5qCI/djjPwAPzQQdm3WmHUOHw/kguCDw51tbrG+37H7K5jG0drshNzuL+A/Dz7qk1vVYjemLz81tpenTb1ZPHyVh7iSSSSTvJVBa02ne07yua0rWO2scC8vQgICAmwJtzsIhqZJH+DTR+JLxP2GfiPPop2n6ffNO/sh59XTF7u9h2wQfZ9ZKZHb8g8rB7guhw6DHjjwpcusyXniVtocLghGWOJrR0AUytYr4RZtM+U1emBBiyBZBmyCrbQbHRzv8aJ5hqOLwLh3RzeKjZ9NTN+aG/DqLYvCDTf0exnWoqJJTyvlb6BasfT8VPZsvrL291iw7Z2kg/dwMB52ufUqXXHWviEe17W8y6gaF72eGUBAQEBAQEFE29ZaQHm0H6fRBZsNZno4284QP+KCvYK60zPxfPRYmdhbautZE0ue6w+J6DmteXLXFXuvO0NmLHbLbtpzKnYvjb5jlbdsXLifxH6LmdZ1C+edq8VX+l0FcXqtzZylWzunbMpPIXRkQZQEYYJTzxHLH7o9DTS1r/DgJbCDZ8vPm1h+qudB06beu6s1mtivpq+iYNg0NMwMjaBzPEnmTxXRUpWkbQpLWm07y6Nl6eWUBAQEBAQYQE2GUBAQEBAQEBAQUn+kAeZn4fqUFg2XkzUkJ/ht6Ej6IxurebJMSPsvJHuK85Ldsfq91iJtES59ZWPldne655cB0AXF59RfNfutPv4dThxVxUitYalp3bxYBAQEGUHmWQNBc42aN5K9RWbTs82tERuxhGES17gSCykB7Ol/Jqv8AQdOiNrWU2s1sz6avo9BQxwsDGNAaBbRXcRtG0KiZmfKUsggICAgICAgICAgICAgICAgICClbfe038I+ZTfaNyZ43QsNx17KWOGPRwz3d3cSAPXeqfqeutivOKnlaaLR1vHffwRG5F95Vji/+eu/M7IN9q5p+XsgLi5ja31dXHMfQusbPTN0YLoMrAINNVUtjaXONh8SeQHErZjxWyT21eL3ikd0pmA7OSVbhNUNLYRqyLnyc/r0XSaPp9ccd1/Kh1Wum89sPokELWANaLAK0/SFd78tqyCAgICAgICAgICAgICAgICAgFBCxDEI4W5nutyHEnkAtObPXFWbXlsw4bZbbVhSNoK81DfEy2GoA6Dn11WvR6iNRSb7cPeqwfCt2fOHLwaEvZo5osSNb9+A6qFrOn5M+SMlNvHO6bptZXFSaWdWMWcBysrOlJpiivurrXrbJMuc92p7n5rjctZjLaJ+c/wDbqsUzOONgOWreG3l6BTYZWAQR6ysbGBoS86NYPacVtwae+W20NWbLXHXeXb2Z2WfI4VNVq7exn2WD6u6rqNJoYwxEz5c/qdXOSeJXyNgAsBop6E9ICAgICAgICAgICAgICAgICDCBdYHExraFkV2M80nLg3v+Sr9X1CmH015lO0uivl9U8Qo9dWvkcXvcS75dByC53Lltmv3X5XuPHXFXanDdI3+4b1BPqV0/T69uCv1c9rbb5p/RWY8RdHmYOJUzZF2hb2Hd2CHDP7BGHFzgTmJdvsNdbaKv/DcPdNp995+qbGuyRWKwxXUUYYXsuC0XIJuCPoVE1nTcdMfdVK0uvta/bZzWuVDMfNcxLYF5nZ6RaqrIcIo255nbmjh1dyCk6fS3yzsj59TXGtey2ynhnx5znnNtTub0aOAXUabTVxQ53UZ7ZZXBrbaKUjvSAgICAgICAgICAgICAgICAgXQa5pmtBc4gAbydAvNrVrG9mYrNuKqhjW0jnXZDo3i/ie3IdVQ63qczM0x/VcaTp8R68n0VpzlT77/AHWu232RpitlYeLzwkQ4nD4Qjc8Ne0WIcbX5EE710mk1GP4VazPiFDqsF/iTbbyq0s+eojZH7JkYHPtvGYXDb9L6r3bVRNorEvEaa0VmZX1+9TfHlGh7lma1uZ7g1o3kmwCxeYpG8lazadocGqxUznJGCIQbknQvI3dhx/VlR67Xb+mvhb6TSdvqv5bYwqWy3rDV4skj/Apxmk+07e1nU9eim6TQzlnmOEPVauMfETyvOy+zDKcZj5pTq551JK6XDhrij0qDLltknlZgFta2UBAQEBAQEBAQEBAQEBAQEBAQQMSxOOFt3HXgBvPZR8+pphrvfy3YMF80+jwpOK4rJOdTZnBo3dzzK5jVa2+eeeIdBptHXBG8cy5xCiRxGyXPM7vJC9Q8y1uYs77MbOdX04uDZe4vPs8TSPdFgpTmDm6ObqD1G5SMeaaTu1XxRaNpdT+vZbaxszc7m3orD8WnZA/DYmUKRks7ryOvbcNzW9h+ioOfWXy+UzDpa08OlBAGiwUObRvslxEQ8U0UtW/wYNGXs+XgBxDeqstHoLXnusgavWdnph9F2d2fipmBrW68TxJ5kroaY60jaFHfJa87y7ll7eBAQEBAQEBAQEBAQEBAQEBAQEBB8wnmc8lzzdx4riMmS+S/fd12OlMcbVa1qhsYIWWGCFkYIWd3nZHq2eX3pubNFIzze5ZiTZrnis4rO7CVTWazMTYa3JWIi152hmZisby9Ybh8tc6zbspgdXbnSduQ0V3oencxayp1et9qvpmEYTHAwMY0AAcFeRG0bKeZ3nd0VlgQEBAQEBAQEBAQEBAQEBAQEBAQEHy5cG7JhZYEZYRhiyDxM27T2WREpPaQ2YxJ7WeZxsLep5L1jpa87Q83tFOZS8A2elqyHygtpwbtZuLurunRdDotBFI7rQo9Zre6e2r6bQUTImhrQAANwVtsrEtZBAQEBAQEBAQEBAQEBAQEBAQEBAQEHy5cG7IQYQLIFkGLLO45UlU2KxOp3ADeTyC24sVsltoasmWKRvLvbO7MSTvFRUjd7EfBo68yum0mirjje0KDVau2Sdqy+iU9O1gAAVh+iDt7tyAgICAgICAgICAgICAgICAgICAgICAg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340" name="AutoShape 4" descr="data:image/jpeg;base64,/9j/4AAQSkZJRgABAQAAAQABAAD/2wCEAAkGBxASEhMQEhAVFhAWFRIXFhUWFRUWFRUVGBUXFxUVFxgYHSggGRolHRUVITEhJSkrLi4vFx8zODMtNygtLisBCgoKDg0OGxAQGy8lHyYtLS0vLS0tLSstLS0tLS0tLS0tLS0tLS0tLS0tLS0tLS0tLS0tLS0tLS0tLS0tLS0tLf/AABEIAMgA/AMBEQACEQEDEQH/xAAbAAEAAgMBAQAAAAAAAAAAAAAABAYBAwUCB//EAEEQAAEDAgMGAwUFBAkFAAAAAAEAAgMEEQUSIQYxQVFhcRMikTKBobHBQlJy0fAUM2LhBxUWI0NTgpKiJERkk7L/xAAaAQEAAgMBAAAAAAAAAAAAAAAABAUBAwYC/8QAMhEBAAIBAwMCBAUDBAMAAAAAAAECAwQRIQUSMSJBE1GR0RUyYXGhgbHwI0JSwRQzNP/aAAwDAQACEQMRAD8A+4oCAgICAgICAgICAgICAgICAgICAgICAgICAgICAgICAgICAgICAgICAgICAgICAgICAgICAgICAgICAgICAgICAgICAgINFZWRxNzyPDW8z9OaCPhuMQT38N9yOBBBtzsd46oJ6AgICAgICAgICAgICAgICAgICAgICAgICAgICDmYniwi8o1f8B36oOK/HZfvW9wQVvHsUmfNHmbmaS1ocG5iwX1dkG/fw1QTcQp5KZ8ZD/Fjf7EjRYtcN4Nr25/rULnhGIeK2x9sDXr1QdFAQEBAQEBAQEBAQEBAQEBAQEBAQEBAQEBAQeZHWBPIE+iCiVkxc4k7zcoIhcgh1sDjZzDZ7b24g3FiCg6eztBLUtfctY5hAtYkOBB1vw3IJtXTT0pa+4Lb2Dm3sDydfddBYMHxdswsdJOI59Qg6iAgICAgICAgICAgICAgICAgICAgICAgICDzI24I5ghBRa2AtcWneCQghlqDNkFo2Qpi2N8lvbdp1DRa/qT6IO5NE1wLXAFpFiDuIQU7F8HfTHxYrmIa6e1H35jr680HcwLGRMMrv3gHud1CDsICAgICAgICAgICAgICAgICAgICAgICAgIOdimFtl8wNn8+B7oKji0RpyPEFr3sRqDbfuQS8Dwc1DWzOdaE3sB7TrEgjpqEFxjjDQGtFgBYAcAg9oOdi2LxQDzG7zuY32j+Q6lBTcHppXTFzGht35g1t8rBfd2QfQwgICDCBdY3AlNzkusjKAgICAgICAgICAgICAgICAg5mL4n4Qyt1kPoOpQVOtxSqcf3zh+Hy/JByK/xXjzyOeebnF3zQetncdqKS7LZ4Sb5CbWPEtPBBcIdsIXDWKUHlZp+OZBFq9oZpPLE3IDx9p3u4D4oPeHbPOec8pIvqbm7z3JQWWmp2RjKxoA+ffmg23QLoF0GuoqGMBc9wDRxK15Mlccd152h6pS157axyq+JbRvccsXlb947z7uAXP6rq97T24vquNP02sRvk+jXBtJMPaDXDtY/Ba8XWc0fmjd6ydMxT+WdnSp9poz7bHN6izh+fwU/H1jFM7XrMf5+iJk6blj8sxLrUNbHM3PG8Obci45jeFa48lclYtXwg3x2pPbbykrY8PDpWjeQO5svM3rXzL1FZnxCPJiUDd8rPULTbVYa+bQ9xgyT4rKO/HaYf4l+wcfotFupaaJ27/7/AGbY0Of/AI/2S6OrZI3Ow3H60UnDnplr3VneGnLjtjna0bN91ua2UBAQEBAQEBAQQcVrxCy/2juH17IKtQU81U8uBswHzSEX15NHE/JAxOk8N5bvHA8wggujug0eAEEuhojI4NaNSguOG4VHEL2u/wC8fpyQTXmwJWJkVKXaWXM7KG5bm1wb24cVzmXq+auSaxEcLrH06lqxMzLz/aafkz0/mtf4xn/R7/DMc+8odZt14RtI+Nh/iBHpzW6nUNZf8kR/DxOhwV82lc8MqhLEyQfaaD6hX9Jmaqe0RFtlb2nwOvllMsFQwx2FoZG2DSBqQ4a6qFrdFGo90vTar4PGys1mA4qz/qXljY49TTss7xG7nEu58QAon4TWuG0ebbcSkfiE2vCRG8EAg3BAIPQrnLV7Z7ZXMTvG5gmxkMrnubUzxDMS6JrrscHb7A6tHZdF0+MWppteOaqfWZMuG2/tL6DheHRU8bYom5WDh14k9VdUiKwqrWtad5SyssKZtthNUX/tNOY3eUMeyVxa0AFxDwRx8xFuN1Xa/SUyx33ttsm6LPNJ7axvMq9h7Zg28xYX/dYDlaO51PoFzGeMcW7aR/VfY+6Y3tw14li8EGUSvsXEACxJ32zG25o4lesOlyZe6aV32hi+amPiXbwrFxA65cPDdbMLjd94KRoNRl094iI4nz+n6o2qwUzU3jyvNPK17Q5pBa4AgjcQdxXXVmJjeHPTXadm1ZBAQEBAQEBAQcLafCZJ23iIDwLWPHt1QU3C8arKA+FKwviBPlcLObc3Jafeg7tbi9PVNbJE/wA40cw6PA3i44jfqEEEINbgg7ezTLyX5NJ+Q+qC0oIuJOIikIBJDToNSewXjJE9kxV6pt3xMvlgxb/xqn/0n81y1+n55tMx53+Xs6CusxxVrb/WMLfGnpy+ncS5rmNPiRtJJAezjYEC45KXqOkxFYnH590fFr/Vtbwn088crQ9pa9vA6OF+x3FU/rw22jysZiuSN5W3BsfabRygNOgDho3sRw+SvtF1Wt9q5OJ+ftKo1XT5pHdj5j5LICruPmq3mZlwRzQ/V82MOQlg3AuA7Zjb4WXG9QrFdRbZ02it3YK7urs3NlnA+8CFK6NafjbfojdTr/pLqF0/uopRcQxCOFuZ57Dieyj6nVUwV7ry24cN81u2sKbiOJyTG7tG8GjcPzK5TV66+on1fl+ToNPpaYY48+7k55ZX+BTNzzfadvZGObyOPRbtJ0/JmtEz+V51OrrijhbcF2MpoWO8UeNNIP7yR+pd0HJvQLqMOCmKvbVQ5c1sk7yzDsHhrf8AtgfxOcR6XT4FD49/msFPA2NrWMaGsaA1rRuAAsAFtiIjiGreUGvxqKJwa65PHLY5e+qg6jqGLDbayTh0eTLG9XqmxmnfulAP8Xl+azj6hp7+LfXj+7F9Hmp5qnMeDqCCOYN1LrMW5jx+7RMTHl7BXphlZBAQEBAQRq2hilblkYHDrvHY7wg+bYxR0lLVR+DPdznZCwi9s2ls40OttEHQBQYcgsWy7dXnoB+vRBYUGLIFkGHtB0O5Y2FJ2k2W8MuqqRoDt8kQ0bIPo7qoOs0Vc1ePKXpdVbFPPhx4JQ9oeNx57xzB671yV6zS/bZ0VbRavC07M4qb+A8/gJ/+VfdK10z/AKN/6KjqGliv+pT+qw1Moa0uJ0AKvLWitZmfEKqsd0xEe753K/MS7mVxOfJ8TNa3zl1OGnw6RX5JeA61LGjgC4/IfM+is+i45nJN/aOEDqd9qRWVmxfHGReVtnScuA7/AJKz1nUaYI7Y/MgaXR2zTvPEKjU1Dnkve654k7gPoFzGTJfJfe08yv6Y6Y67VjZFw6mmrXZICWQA2fPz5tj6/wAStdB03v8AVfiPkgarXVp6a+V/wjCYKWMRxtDQN7jvJ4kldBEVpXbwpbWte28k+NQM3yA9G3d8lGydQ01P90T+3LdTSZr+KoMu1MY9ljnejQod+s4o/LWZ/fhKr0vJ/umIQ5dqZPsxtHe5/JRL9ayf7ax/f7N9el097KpU0MZlfUF72ve4udaV7WXPS9lAyarLmnmsfRNx4KYo2iZSIpmOuGua62+xBt3sotqzW2012b4mJ8NoqjGC7OWAakgkAL3S+SJ9My8ZKUtG9oWfY2rqZmvklBEZy+Fm9ojXM499Ldl1uirmjHvlneXPaqcfftTwsamowgICAgINFbB4jHMzFuYWuN4QfLNtdnoqU0rg8umNQxznHcGNc2wA4a21QdUFBi+qCz7LH2x+H6oO+gICAsSPJCeGPL57iVIIppWjcXZrcrgX+Iv71y/WKVjNEuh6babYuWmKXI4P5G/ooWktNc1ZjzulZ9px2iXbxzF87RE077Zj9FcdX1m0fCp591X07Tc/Et/RX5XhoLnGzQNVQRXfasLiZ2jdjCKiRofJbLJJz3sjGjW9DvJ6uKsraz4GL4WL+qF/4vxsnfkYqalkbS97gGjeSf1cqvitslvnKXa1aRzxCJSw/tJD5szKbeIhpJLyz/db0Vvhpp9N6sk72+SBktmzemken5ysxxxzGiOFjY2AWFtTb5Lzm6xktxjjtj6/ZjF0ylebTu5GI4oPamm/3O+QUC1s+on1R3JkVxYY42hAhxF8ptT00sp5hpa3/cVIxdOy24nhqya7HV0oNncUl1IhgHXzuHu3KfTo1fNkK3U/+MbOhDsA9376vld0Y0MCm06ZhqjW1+SyQP6NcPPttkeebpHfSyk102OPENM6i8+7jybGVlPmbSeC6DMS2MgscAdbX+0epKg6npnxbd26Vp9f2Rsm4JszPM8SVjAxjDdsIcHZnD7TiOHILOi6bXDPdbyxqddN42qvUYA0AsFaR85V71dZGUBAQEBAQfKsbwyorq10IcbNdd8ltGsY64ay/wCtUExkjQ0F7gNBe+gug9kcRu5oLDso7zPH8P1CCyoCAgwUEaurGxML3HT4k8gtGbNTDTus2YsV8t+2qg1U5e9zzvJuuPz5pzZZyT4l0+DFGOu0I80eYWJNri9uNje3YrXiv2Tv7+z3endw9rza02nulmIiI2gIusMshY49xGdRMc4SPGZw9m/ss6tbuB671urmtFe2nH/bXOOs825a67E4ojlJzSHcxozPPuH1XrFprZZ4h5vmrTzLNNRVU+r5GUsR5nNMR24K0x6PBi5zW5Qb6rLf/wBdXaw/CcKgOYh08n33gvN+mawClxrdHjjaOUadNq8k7zw7bdpIGizYn25WYB815nreGOIrb+PuR0rLPmY/n7Mf2qZ/lO9QvE9cx+1J/j7s/hWT5x/P2ZG1TOMTvUJHW8fvSf4+5+FZPnH8/Z7btRFxjk/4n6r3HWsX/G38fd5npWX5x/P2RsX2mtETTNvNdtg8WFrjNrffa9lm3VsExtXes/tH3Yr07LFvVG8OO3GKh1nl72n7txoeVhoVUZNdn79+/dZ10eHt27VjwnHmvsySzX8/su/Iq50fVKZNqZI2sqtToL457qTvDuAq2/ZAelkEBAQEBBrZE1pJDQCdSQNSevNB8w2piyl7eAc4fEoO2+iDKalcBviYD3DRr+uSCdss7+9I5tPzCC1ICDBWBzMVxiOEWOr+DRv9/IKFq9dj00eqd5+SVp9JfNPHEfNTq6ukmdmeew4DsuY1GqyZ7b28L/Bp6Yo2r5R1HSBYkEBAQap4i7TOWjjl0cf9XD3ar3jttPHLzaGqmooYQS1gbzcdXHqXHU+q2Wz5cnG7V8LHXmWiTGob5Wl0j+TGl3x3LZj0Ge/s821WOvu3wivk/dUL7c3uDfgpmPpGSfP+fVGv1CkeEuPAMWd/hwM7uJ+qk16PHu0T1NtGymKf50A938ls/B6f5u1z1ST+yeKf58B/0n8k/B8f+bn4nP8AmzW/ZvF27v2d3qF5no9fZ6jqcuVSzVRkex4gGR2Vwa55cCN+m74qr1Wmpgnad9/6LDBmtk52dS/ooe0+PKTO0eUKoxaBm+QX5N8x+C2002S88Q1WzY4jmVk2OxqolkEZgk8CxPivFrEbgL6kFdF0+NRT05fHspNZOG87411VqgCAgICAgFB8521jtI/qb+uqCySw5qCI/djjPwAPzQQdm3WmHUOHw/kguCDw51tbrG+37H7K5jG0drshNzuL+A/Dz7qk1vVYjemLz81tpenTb1ZPHyVh7iSSSSTvJVBa02ne07yua0rWO2scC8vQgICAmwJtzsIhqZJH+DTR+JLxP2GfiPPop2n6ffNO/sh59XTF7u9h2wQfZ9ZKZHb8g8rB7guhw6DHjjwpcusyXniVtocLghGWOJrR0AUytYr4RZtM+U1emBBiyBZBmyCrbQbHRzv8aJ5hqOLwLh3RzeKjZ9NTN+aG/DqLYvCDTf0exnWoqJJTyvlb6BasfT8VPZsvrL291iw7Z2kg/dwMB52ufUqXXHWviEe17W8y6gaF72eGUBAQEBAQEFE29ZaQHm0H6fRBZsNZno4284QP+KCvYK60zPxfPRYmdhbautZE0ue6w+J6DmteXLXFXuvO0NmLHbLbtpzKnYvjb5jlbdsXLifxH6LmdZ1C+edq8VX+l0FcXqtzZylWzunbMpPIXRkQZQEYYJTzxHLH7o9DTS1r/DgJbCDZ8vPm1h+qudB06beu6s1mtivpq+iYNg0NMwMjaBzPEnmTxXRUpWkbQpLWm07y6Nl6eWUBAQEBAQYQE2GUBAQEBAQEBAQUn+kAeZn4fqUFg2XkzUkJ/ht6Ej6IxurebJMSPsvJHuK85Ldsfq91iJtES59ZWPldne655cB0AXF59RfNfutPv4dThxVxUitYalp3bxYBAQEGUHmWQNBc42aN5K9RWbTs82tERuxhGES17gSCykB7Ol/Jqv8AQdOiNrWU2s1sz6avo9BQxwsDGNAaBbRXcRtG0KiZmfKUsggICAgICAgICAgICAgICAgICClbfe038I+ZTfaNyZ43QsNx17KWOGPRwz3d3cSAPXeqfqeutivOKnlaaLR1vHffwRG5F95Vji/+eu/M7IN9q5p+XsgLi5ja31dXHMfQusbPTN0YLoMrAINNVUtjaXONh8SeQHErZjxWyT21eL3ikd0pmA7OSVbhNUNLYRqyLnyc/r0XSaPp9ccd1/Kh1Wum89sPokELWANaLAK0/SFd78tqyCAgICAgICAgICAgICAgICAgFBCxDEI4W5nutyHEnkAtObPXFWbXlsw4bZbbVhSNoK81DfEy2GoA6Dn11WvR6iNRSb7cPeqwfCt2fOHLwaEvZo5osSNb9+A6qFrOn5M+SMlNvHO6bptZXFSaWdWMWcBysrOlJpiivurrXrbJMuc92p7n5rjctZjLaJ+c/wDbqsUzOONgOWreG3l6BTYZWAQR6ysbGBoS86NYPacVtwae+W20NWbLXHXeXb2Z2WfI4VNVq7exn2WD6u6rqNJoYwxEz5c/qdXOSeJXyNgAsBop6E9ICAgICAgICAgICAgICAgICDCBdYHExraFkV2M80nLg3v+Sr9X1CmH015lO0uivl9U8Qo9dWvkcXvcS75dByC53Lltmv3X5XuPHXFXanDdI3+4b1BPqV0/T69uCv1c9rbb5p/RWY8RdHmYOJUzZF2hb2Hd2CHDP7BGHFzgTmJdvsNdbaKv/DcPdNp995+qbGuyRWKwxXUUYYXsuC0XIJuCPoVE1nTcdMfdVK0uvta/bZzWuVDMfNcxLYF5nZ6RaqrIcIo255nbmjh1dyCk6fS3yzsj59TXGtey2ynhnx5znnNtTub0aOAXUabTVxQ53UZ7ZZXBrbaKUjvSAgICAgICAgICAgICAgICAgXQa5pmtBc4gAbydAvNrVrG9mYrNuKqhjW0jnXZDo3i/ie3IdVQ63qczM0x/VcaTp8R68n0VpzlT77/AHWu232RpitlYeLzwkQ4nD4Qjc8Ne0WIcbX5EE710mk1GP4VazPiFDqsF/iTbbyq0s+eojZH7JkYHPtvGYXDb9L6r3bVRNorEvEaa0VmZX1+9TfHlGh7lma1uZ7g1o3kmwCxeYpG8lazadocGqxUznJGCIQbknQvI3dhx/VlR67Xb+mvhb6TSdvqv5bYwqWy3rDV4skj/Apxmk+07e1nU9eim6TQzlnmOEPVauMfETyvOy+zDKcZj5pTq551JK6XDhrij0qDLltknlZgFta2UBAQEBAQEBAQEBAQEBAQEBAQQMSxOOFt3HXgBvPZR8+pphrvfy3YMF80+jwpOK4rJOdTZnBo3dzzK5jVa2+eeeIdBptHXBG8cy5xCiRxGyXPM7vJC9Q8y1uYs77MbOdX04uDZe4vPs8TSPdFgpTmDm6ObqD1G5SMeaaTu1XxRaNpdT+vZbaxszc7m3orD8WnZA/DYmUKRks7ryOvbcNzW9h+ioOfWXy+UzDpa08OlBAGiwUObRvslxEQ8U0UtW/wYNGXs+XgBxDeqstHoLXnusgavWdnph9F2d2fipmBrW68TxJ5kroaY60jaFHfJa87y7ll7eBAQEBAQEBAQEBAQEBAQEBAQEBB8wnmc8lzzdx4riMmS+S/fd12OlMcbVa1qhsYIWWGCFkYIWd3nZHq2eX3pubNFIzze5ZiTZrnis4rO7CVTWazMTYa3JWIi152hmZisby9Ybh8tc6zbspgdXbnSduQ0V3oencxayp1et9qvpmEYTHAwMY0AAcFeRG0bKeZ3nd0VlgQEBAQEBAQEBAQEBAQEBAQEBAQEHy5cG7JhZYEZYRhiyDxM27T2WREpPaQ2YxJ7WeZxsLep5L1jpa87Q83tFOZS8A2elqyHygtpwbtZuLurunRdDotBFI7rQo9Zre6e2r6bQUTImhrQAANwVtsrEtZBAQEBAQEBAQEBAQEBAQEBAQEBAQEHy5cG7IQYQLIFkGLLO45UlU2KxOp3ADeTyC24sVsltoasmWKRvLvbO7MSTvFRUjd7EfBo68yum0mirjje0KDVau2Sdqy+iU9O1gAAVh+iDt7tyAgICAgICAgICAgICAgICAgICAgICAg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1752600"/>
            <a:ext cx="2476500" cy="224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7" name="Picture 11" descr="http://p7cdn4static.sharpschool.com/UserFiles/Servers/Server_92164/Image/News%20Images/EasyButton_000041112260_Medium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43600" y="4419600"/>
            <a:ext cx="2743200" cy="18257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Actually, Why SDLC Model?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i="1" dirty="0" smtClean="0">
                <a:solidFill>
                  <a:srgbClr val="C00000"/>
                </a:solidFill>
              </a:rPr>
              <a:t>Well-defined model</a:t>
            </a:r>
            <a:r>
              <a:rPr lang="en-US" sz="2600" dirty="0" smtClean="0"/>
              <a:t>: achieving good and </a:t>
            </a:r>
            <a:r>
              <a:rPr lang="en-US" sz="2600" u="sng" dirty="0" smtClean="0"/>
              <a:t>consistent</a:t>
            </a:r>
            <a:r>
              <a:rPr lang="en-US" sz="2600" dirty="0" smtClean="0"/>
              <a:t> results, productivity and quality.</a:t>
            </a:r>
          </a:p>
          <a:p>
            <a:r>
              <a:rPr lang="en-US" sz="2600" i="1" dirty="0" smtClean="0">
                <a:solidFill>
                  <a:srgbClr val="C00000"/>
                </a:solidFill>
              </a:rPr>
              <a:t>ill-defined model</a:t>
            </a:r>
            <a:r>
              <a:rPr lang="en-US" sz="2600" dirty="0" smtClean="0"/>
              <a:t>: producing </a:t>
            </a:r>
            <a:r>
              <a:rPr lang="en-US" sz="2600" u="sng" dirty="0" smtClean="0"/>
              <a:t>inconsistent</a:t>
            </a:r>
            <a:r>
              <a:rPr lang="en-US" sz="2600" dirty="0" smtClean="0"/>
              <a:t> results, overburdening team members with unnecessary documents, meetings and report requests, leading to less productivity and quality.</a:t>
            </a:r>
          </a:p>
          <a:p>
            <a:r>
              <a:rPr lang="en-US" sz="2600" dirty="0" smtClean="0"/>
              <a:t>Is there any </a:t>
            </a:r>
            <a:r>
              <a:rPr lang="en-US" sz="2600" i="1" dirty="0" smtClean="0">
                <a:solidFill>
                  <a:srgbClr val="C00000"/>
                </a:solidFill>
              </a:rPr>
              <a:t>proof</a:t>
            </a:r>
            <a:r>
              <a:rPr lang="en-US" sz="2600" dirty="0" smtClean="0"/>
              <a:t>?</a:t>
            </a:r>
          </a:p>
          <a:p>
            <a:pPr lvl="1"/>
            <a:r>
              <a:rPr lang="en-US" sz="2200" dirty="0" smtClean="0"/>
              <a:t>Productivity = Size / Effort.</a:t>
            </a:r>
          </a:p>
          <a:p>
            <a:pPr lvl="1"/>
            <a:r>
              <a:rPr lang="en-US" sz="2200" dirty="0" smtClean="0"/>
              <a:t>Size = LOC, Classes, Methods, Features, Bugs Fixed</a:t>
            </a:r>
          </a:p>
          <a:p>
            <a:pPr lvl="1"/>
            <a:r>
              <a:rPr lang="en-US" sz="2200" dirty="0" smtClean="0"/>
              <a:t>Effort = Time Log, Hours Billed.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Way to Guarantee the Failure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14400"/>
          </a:xfrm>
        </p:spPr>
        <p:txBody>
          <a:bodyPr/>
          <a:lstStyle/>
          <a:p>
            <a:r>
              <a:rPr lang="en-US" sz="2400" dirty="0" smtClean="0"/>
              <a:t>Don’t use a specific </a:t>
            </a:r>
            <a:r>
              <a:rPr lang="en-US" sz="2400" i="1" dirty="0" smtClean="0">
                <a:solidFill>
                  <a:srgbClr val="C00000"/>
                </a:solidFill>
              </a:rPr>
              <a:t>methodology</a:t>
            </a:r>
            <a:r>
              <a:rPr lang="en-US" sz="2400" dirty="0" smtClean="0"/>
              <a:t> because </a:t>
            </a:r>
            <a:r>
              <a:rPr lang="en-US" sz="2400" u="sng" dirty="0" smtClean="0"/>
              <a:t>coding</a:t>
            </a:r>
            <a:r>
              <a:rPr lang="en-US" sz="2400" dirty="0" smtClean="0"/>
              <a:t> is all that is really important.</a:t>
            </a:r>
          </a:p>
        </p:txBody>
      </p:sp>
      <p:pic>
        <p:nvPicPr>
          <p:cNvPr id="56322" name="Picture 2" descr="http://www.incimages.com/uploaded_files/image/1940x900/Young-Businessman-short-of-finish-line_pan_149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743200"/>
            <a:ext cx="7391400" cy="3429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Another Way to Guarantee the Failure [5]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400" dirty="0" smtClean="0"/>
              <a:t>Well-defined roles might help those people to organize around the work, but the </a:t>
            </a:r>
            <a:r>
              <a:rPr lang="en-US" sz="2400" i="1" dirty="0" smtClean="0">
                <a:solidFill>
                  <a:srgbClr val="C00000"/>
                </a:solidFill>
              </a:rPr>
              <a:t>formation of roles</a:t>
            </a:r>
            <a:r>
              <a:rPr lang="en-US" sz="2400" dirty="0" smtClean="0"/>
              <a:t> is </a:t>
            </a:r>
            <a:r>
              <a:rPr lang="en-US" sz="2400" u="sng" dirty="0" smtClean="0"/>
              <a:t>not</a:t>
            </a:r>
            <a:r>
              <a:rPr lang="en-US" sz="2400" dirty="0" smtClean="0"/>
              <a:t> the </a:t>
            </a:r>
            <a:r>
              <a:rPr lang="en-US" sz="2400" i="1" dirty="0" smtClean="0">
                <a:solidFill>
                  <a:srgbClr val="C00000"/>
                </a:solidFill>
              </a:rPr>
              <a:t>goal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 checklist might help those people do the work in a way that meets the goal, but the </a:t>
            </a:r>
            <a:r>
              <a:rPr lang="en-US" sz="2400" i="1" dirty="0" smtClean="0">
                <a:solidFill>
                  <a:srgbClr val="C00000"/>
                </a:solidFill>
              </a:rPr>
              <a:t>checklist</a:t>
            </a:r>
            <a:r>
              <a:rPr lang="en-US" sz="2400" dirty="0" smtClean="0"/>
              <a:t> is </a:t>
            </a:r>
            <a:r>
              <a:rPr lang="en-US" sz="2400" u="sng" dirty="0" smtClean="0"/>
              <a:t>not</a:t>
            </a:r>
            <a:r>
              <a:rPr lang="en-US" sz="2400" dirty="0" smtClean="0"/>
              <a:t> the </a:t>
            </a:r>
            <a:r>
              <a:rPr lang="en-US" sz="2400" i="1" dirty="0" smtClean="0">
                <a:solidFill>
                  <a:srgbClr val="C00000"/>
                </a:solidFill>
              </a:rPr>
              <a:t>goal</a:t>
            </a:r>
            <a:r>
              <a:rPr lang="en-US" sz="2400" dirty="0" smtClean="0"/>
              <a:t> either.</a:t>
            </a:r>
          </a:p>
          <a:p>
            <a:r>
              <a:rPr lang="en-US" sz="2400" dirty="0" smtClean="0"/>
              <a:t>Confusing </a:t>
            </a:r>
            <a:r>
              <a:rPr lang="en-US" sz="2400" i="1" dirty="0" smtClean="0">
                <a:solidFill>
                  <a:srgbClr val="C00000"/>
                </a:solidFill>
              </a:rPr>
              <a:t>processes</a:t>
            </a:r>
            <a:r>
              <a:rPr lang="en-US" sz="2400" dirty="0" smtClean="0"/>
              <a:t> with the </a:t>
            </a:r>
            <a:r>
              <a:rPr lang="en-US" sz="2400" i="1" dirty="0" smtClean="0">
                <a:solidFill>
                  <a:srgbClr val="C00000"/>
                </a:solidFill>
              </a:rPr>
              <a:t>goals</a:t>
            </a:r>
            <a:r>
              <a:rPr lang="en-US" sz="2400" dirty="0" smtClean="0"/>
              <a:t> is one of the great sins of management.</a:t>
            </a:r>
          </a:p>
        </p:txBody>
      </p:sp>
      <p:pic>
        <p:nvPicPr>
          <p:cNvPr id="4" name="Picture 2" descr="http://www.incimages.com/uploaded_files/image/1940x900/Young-Businessman-short-of-finish-line_pan_1490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4267200"/>
            <a:ext cx="4434840" cy="2057400"/>
          </a:xfrm>
          <a:prstGeom prst="rect">
            <a:avLst/>
          </a:prstGeom>
          <a:noFill/>
        </p:spPr>
      </p:pic>
      <p:pic>
        <p:nvPicPr>
          <p:cNvPr id="6" name="Picture 2" descr="https://jamesclear.com/wp-content/uploads/2013/10/systems-vs-goal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4343400"/>
            <a:ext cx="2988010" cy="199006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12780</TotalTime>
  <Words>1006</Words>
  <Application>Microsoft Office PowerPoint</Application>
  <PresentationFormat>On-screen Show (4:3)</PresentationFormat>
  <Paragraphs>168</Paragraphs>
  <Slides>39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Software Development Life Cycle Model</vt:lpstr>
      <vt:lpstr>Objectives</vt:lpstr>
      <vt:lpstr>Contents</vt:lpstr>
      <vt:lpstr>References</vt:lpstr>
      <vt:lpstr>Basic Management Questions</vt:lpstr>
      <vt:lpstr>Software Project Planning [1, 2]</vt:lpstr>
      <vt:lpstr>Roles and Products</vt:lpstr>
      <vt:lpstr>Why Take This Step?</vt:lpstr>
      <vt:lpstr>Software Requirements [3]</vt:lpstr>
      <vt:lpstr>Roles and Products</vt:lpstr>
      <vt:lpstr>Why Take This Step?</vt:lpstr>
      <vt:lpstr>Software Design</vt:lpstr>
      <vt:lpstr>Roles and Products</vt:lpstr>
      <vt:lpstr>Why Take This Step?</vt:lpstr>
      <vt:lpstr>Software Construction (Implementation)</vt:lpstr>
      <vt:lpstr>Roles and Products</vt:lpstr>
      <vt:lpstr>Why Take This Step?</vt:lpstr>
      <vt:lpstr>Software Inspection  Roles And Products</vt:lpstr>
      <vt:lpstr>Why Take This Step?</vt:lpstr>
      <vt:lpstr>Software Testing</vt:lpstr>
      <vt:lpstr>Roles and Products</vt:lpstr>
      <vt:lpstr>Why Take This Step?</vt:lpstr>
      <vt:lpstr>Software Deployment &amp; Acceptance Testing</vt:lpstr>
      <vt:lpstr>Why Take This Step?</vt:lpstr>
      <vt:lpstr>Software Operation &amp; Maintenance</vt:lpstr>
      <vt:lpstr>Roles and Products</vt:lpstr>
      <vt:lpstr>Why Take This Step?</vt:lpstr>
      <vt:lpstr>The Software Development Life Cycle [4]</vt:lpstr>
      <vt:lpstr>SDLC Model [2]</vt:lpstr>
      <vt:lpstr>SDLCM Elements</vt:lpstr>
      <vt:lpstr>NASA/SEL SDLC Model [1]</vt:lpstr>
      <vt:lpstr>Why Learn SDLC Models?</vt:lpstr>
      <vt:lpstr>Defining a SDLC Model</vt:lpstr>
      <vt:lpstr>SDLC Model Definition Template</vt:lpstr>
      <vt:lpstr>Why Define a SDLC Model? [2]</vt:lpstr>
      <vt:lpstr>Actually, Why SDLC Model?</vt:lpstr>
      <vt:lpstr>A Way to Guarantee the Failure</vt:lpstr>
      <vt:lpstr>Another Way to Guarantee the Failure [5]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4787</cp:revision>
  <dcterms:created xsi:type="dcterms:W3CDTF">2007-10-06T08:25:13Z</dcterms:created>
  <dcterms:modified xsi:type="dcterms:W3CDTF">2020-09-20T12:18:26Z</dcterms:modified>
</cp:coreProperties>
</file>