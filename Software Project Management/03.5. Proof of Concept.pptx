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5"/>
  </p:notesMasterIdLst>
  <p:sldIdLst>
    <p:sldId id="256" r:id="rId2"/>
    <p:sldId id="571" r:id="rId3"/>
    <p:sldId id="572" r:id="rId4"/>
    <p:sldId id="573" r:id="rId5"/>
    <p:sldId id="479" r:id="rId6"/>
    <p:sldId id="483" r:id="rId7"/>
    <p:sldId id="484" r:id="rId8"/>
    <p:sldId id="552" r:id="rId9"/>
    <p:sldId id="530" r:id="rId10"/>
    <p:sldId id="569" r:id="rId11"/>
    <p:sldId id="570" r:id="rId12"/>
    <p:sldId id="567" r:id="rId13"/>
    <p:sldId id="531" r:id="rId14"/>
    <p:sldId id="548" r:id="rId15"/>
    <p:sldId id="549" r:id="rId16"/>
    <p:sldId id="550" r:id="rId17"/>
    <p:sldId id="551" r:id="rId18"/>
    <p:sldId id="556" r:id="rId19"/>
    <p:sldId id="554" r:id="rId20"/>
    <p:sldId id="555" r:id="rId21"/>
    <p:sldId id="532" r:id="rId22"/>
    <p:sldId id="575" r:id="rId23"/>
    <p:sldId id="437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8" autoAdjust="0"/>
    <p:restoredTop sz="94667" autoAdjust="0"/>
  </p:normalViewPr>
  <p:slideViewPr>
    <p:cSldViewPr>
      <p:cViewPr>
        <p:scale>
          <a:sx n="50" d="100"/>
          <a:sy n="50" d="100"/>
        </p:scale>
        <p:origin x="-149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D58D0-18A8-43D3-A933-40F804B600A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6D51C-BF3F-4B4A-99CD-4C12DF4D9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smtClean="0"/>
              <a:t>Proof of </a:t>
            </a:r>
            <a:r>
              <a:rPr lang="en-US" sz="6000" dirty="0" smtClean="0"/>
              <a:t>Concept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proof of concept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Proof of Concept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Questions and Answers (Text)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Algorithm (Code)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Domain Model (Code)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Database Model (Code)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Architecture (Solution Sketch Code)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Testbed</a:t>
            </a:r>
            <a:r>
              <a:rPr lang="en-US" sz="2400" dirty="0" smtClean="0"/>
              <a:t> (Code)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Small Exercises (Code)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Pilot (Trial) (System)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Karl </a:t>
            </a:r>
            <a:r>
              <a:rPr lang="en-US" sz="2400" dirty="0" err="1" smtClean="0"/>
              <a:t>Wiegers</a:t>
            </a:r>
            <a:r>
              <a:rPr lang="en-US" sz="2400" dirty="0" smtClean="0"/>
              <a:t> and Joy Beatty (2013). Software Requirements. Microsoft Press.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You Really Do Something?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4650" y="1981200"/>
            <a:ext cx="318135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Similar Projects</a:t>
            </a:r>
            <a:endParaRPr lang="en-US" dirty="0"/>
          </a:p>
        </p:txBody>
      </p:sp>
      <p:pic>
        <p:nvPicPr>
          <p:cNvPr id="1026" name="Picture 2" descr="http://cdn.ttgtmedia.com/rms/onlineImages/142403_cs036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362200"/>
            <a:ext cx="3683000" cy="2921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Difficult Feature Implementation</a:t>
            </a:r>
            <a:endParaRPr lang="en-US" dirty="0"/>
          </a:p>
        </p:txBody>
      </p:sp>
      <p:pic>
        <p:nvPicPr>
          <p:cNvPr id="1026" name="Picture 2" descr="http://cdn2.content.compendiumblog.com/uploads/user/a5790abb-f33a-41a4-bc40-0e0eeaacc8bd/88341a33-ae0f-45d2-9b44-32576c378369/Image/979bc2eba70f46a5bd4a29e4e8a263c4/implementation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057400"/>
            <a:ext cx="28575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 of </a:t>
            </a:r>
            <a:r>
              <a:rPr lang="en-US" dirty="0" smtClean="0"/>
              <a:t>Concept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783140"/>
            <a:ext cx="8001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proof of concept</a:t>
            </a:r>
            <a:r>
              <a:rPr lang="en-US" sz="2400" dirty="0" smtClean="0">
                <a:latin typeface="+mj-lt"/>
              </a:rPr>
              <a:t> or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 proof of principle</a:t>
            </a:r>
            <a:r>
              <a:rPr lang="en-US" sz="2400" dirty="0" smtClean="0">
                <a:latin typeface="+mj-lt"/>
              </a:rPr>
              <a:t> is </a:t>
            </a:r>
            <a:r>
              <a:rPr lang="en-US" sz="2400" u="sng" dirty="0" smtClean="0">
                <a:latin typeface="+mj-lt"/>
              </a:rPr>
              <a:t>realization</a:t>
            </a:r>
            <a:r>
              <a:rPr lang="en-US" sz="2400" dirty="0" smtClean="0">
                <a:latin typeface="+mj-lt"/>
              </a:rPr>
              <a:t> of a certain method or idea(s) to demonstrate its </a:t>
            </a:r>
            <a:r>
              <a:rPr lang="en-US" sz="2400" u="sng" dirty="0" smtClean="0">
                <a:latin typeface="+mj-lt"/>
              </a:rPr>
              <a:t>feasibility</a:t>
            </a:r>
            <a:r>
              <a:rPr lang="en-US" sz="2400" dirty="0" smtClean="0">
                <a:latin typeface="+mj-lt"/>
              </a:rPr>
              <a:t>, or a demonstration in principle, whose purpose is to verify that some concept or theory has the </a:t>
            </a:r>
            <a:r>
              <a:rPr lang="en-US" sz="2400" u="sng" dirty="0" smtClean="0">
                <a:latin typeface="+mj-lt"/>
              </a:rPr>
              <a:t>potential of being used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38600"/>
            <a:ext cx="3352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smtClean="0">
                <a:latin typeface="+mj-lt"/>
              </a:rPr>
              <a:t>The </a:t>
            </a:r>
            <a:r>
              <a:rPr lang="en-US" sz="2400" b="1" i="1" u="sng" dirty="0" smtClean="0">
                <a:latin typeface="+mj-lt"/>
              </a:rPr>
              <a:t>purpose</a:t>
            </a:r>
            <a:r>
              <a:rPr lang="en-US" sz="2400" b="1" i="1" dirty="0" smtClean="0">
                <a:latin typeface="+mj-lt"/>
              </a:rPr>
              <a:t> is to verify that some concept or theory is probably capable of being useful.</a:t>
            </a:r>
            <a:endParaRPr lang="en-US" sz="2400" b="1" dirty="0">
              <a:latin typeface="+mj-lt"/>
            </a:endParaRPr>
          </a:p>
        </p:txBody>
      </p:sp>
      <p:pic>
        <p:nvPicPr>
          <p:cNvPr id="6" name="Picture 2" descr="http://kurld.com/images/wallpapers/document-image/document-image-1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3733800"/>
            <a:ext cx="1905000" cy="2133601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4038600"/>
            <a:ext cx="2348865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Vertical Prototype </a:t>
            </a:r>
            <a:r>
              <a:rPr lang="en-US" dirty="0" smtClean="0"/>
              <a:t>[</a:t>
            </a:r>
            <a:r>
              <a:rPr lang="en-US" dirty="0" smtClean="0"/>
              <a:t>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proof of concept</a:t>
            </a:r>
            <a:r>
              <a:rPr lang="en-US" sz="2200" dirty="0" smtClean="0"/>
              <a:t>, also known as a </a:t>
            </a:r>
            <a:r>
              <a:rPr lang="en-US" sz="2200" u="sng" dirty="0" smtClean="0"/>
              <a:t>vertical prototype</a:t>
            </a:r>
            <a:r>
              <a:rPr lang="en-US" sz="2200" dirty="0" smtClean="0"/>
              <a:t>, implements a slice of application functionality </a:t>
            </a:r>
            <a:r>
              <a:rPr lang="en-US" sz="2200" u="sng" dirty="0" smtClean="0"/>
              <a:t>from the user interface through all the technical services layers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 proof-of-concept prototype </a:t>
            </a:r>
            <a:r>
              <a:rPr lang="en-US" sz="2200" i="1" dirty="0" smtClean="0">
                <a:solidFill>
                  <a:srgbClr val="C00000"/>
                </a:solidFill>
              </a:rPr>
              <a:t>works like the real system</a:t>
            </a:r>
            <a:r>
              <a:rPr lang="en-US" sz="2200" dirty="0" smtClean="0"/>
              <a:t> is supposed to work because it touches on all levels of the system implementation.</a:t>
            </a:r>
          </a:p>
          <a:p>
            <a:r>
              <a:rPr lang="en-US" sz="2200" dirty="0" smtClean="0"/>
              <a:t>To make the results meaningful, such prototypes are constructed by using </a:t>
            </a:r>
            <a:r>
              <a:rPr lang="en-US" sz="2200" i="1" dirty="0" smtClean="0">
                <a:solidFill>
                  <a:srgbClr val="C00000"/>
                </a:solidFill>
              </a:rPr>
              <a:t>production tools</a:t>
            </a:r>
            <a:r>
              <a:rPr lang="en-US" sz="2200" dirty="0" smtClean="0"/>
              <a:t> in a </a:t>
            </a:r>
            <a:r>
              <a:rPr lang="en-US" sz="2200" u="sng" dirty="0" smtClean="0"/>
              <a:t>production-like</a:t>
            </a:r>
            <a:r>
              <a:rPr lang="en-US" sz="2200" dirty="0" smtClean="0"/>
              <a:t> operating environment. </a:t>
            </a:r>
            <a:endParaRPr lang="en-US" sz="2200" dirty="0"/>
          </a:p>
        </p:txBody>
      </p:sp>
      <p:pic>
        <p:nvPicPr>
          <p:cNvPr id="1028" name="Picture 4" descr="Image result for software prototypes ic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732020"/>
            <a:ext cx="2537460" cy="15925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Develop a proof of concept </a:t>
            </a:r>
          </a:p>
          <a:p>
            <a:pPr lvl="1"/>
            <a:r>
              <a:rPr lang="en-US" sz="2400" dirty="0" smtClean="0"/>
              <a:t>when you’re uncertain whether a proposed </a:t>
            </a:r>
            <a:r>
              <a:rPr lang="en-US" sz="2400" i="1" dirty="0" smtClean="0">
                <a:solidFill>
                  <a:srgbClr val="C00000"/>
                </a:solidFill>
              </a:rPr>
              <a:t>architectural approach</a:t>
            </a:r>
            <a:r>
              <a:rPr lang="en-US" sz="2400" dirty="0" smtClean="0"/>
              <a:t> is feasible and sound, or </a:t>
            </a:r>
          </a:p>
          <a:p>
            <a:pPr lvl="1"/>
            <a:r>
              <a:rPr lang="en-US" sz="2400" dirty="0" smtClean="0"/>
              <a:t>when you want to optimize </a:t>
            </a:r>
            <a:r>
              <a:rPr lang="en-US" sz="2400" i="1" dirty="0" smtClean="0">
                <a:solidFill>
                  <a:srgbClr val="C00000"/>
                </a:solidFill>
              </a:rPr>
              <a:t>algorithms</a:t>
            </a:r>
            <a:r>
              <a:rPr lang="en-US" sz="2400" dirty="0" smtClean="0"/>
              <a:t>, evaluate a proposed </a:t>
            </a:r>
            <a:r>
              <a:rPr lang="en-US" sz="2400" i="1" dirty="0" smtClean="0">
                <a:solidFill>
                  <a:srgbClr val="C00000"/>
                </a:solidFill>
              </a:rPr>
              <a:t>database schema</a:t>
            </a:r>
            <a:r>
              <a:rPr lang="en-US" sz="2400" dirty="0" smtClean="0"/>
              <a:t>, confirm the soundness of a </a:t>
            </a:r>
            <a:r>
              <a:rPr lang="en-US" sz="2400" i="1" dirty="0" smtClean="0">
                <a:solidFill>
                  <a:srgbClr val="C00000"/>
                </a:solidFill>
              </a:rPr>
              <a:t>cloud solution</a:t>
            </a:r>
            <a:r>
              <a:rPr lang="en-US" sz="2400" dirty="0" smtClean="0"/>
              <a:t>, or </a:t>
            </a:r>
            <a:r>
              <a:rPr lang="en-US" sz="2400" i="1" dirty="0" smtClean="0">
                <a:solidFill>
                  <a:srgbClr val="C00000"/>
                </a:solidFill>
              </a:rPr>
              <a:t>test critical timing requirements</a:t>
            </a:r>
            <a:r>
              <a:rPr lang="en-US" sz="2400" dirty="0" smtClean="0"/>
              <a:t>.</a:t>
            </a:r>
          </a:p>
        </p:txBody>
      </p:sp>
      <p:pic>
        <p:nvPicPr>
          <p:cNvPr id="77826" name="Picture 2" descr="Image result for Wh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4267200"/>
            <a:ext cx="2560320" cy="175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Create a Proof of Concept?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Concrete </a:t>
            </a:r>
            <a:r>
              <a:rPr lang="en-US" i="1" dirty="0" smtClean="0">
                <a:solidFill>
                  <a:srgbClr val="C00000"/>
                </a:solidFill>
              </a:rPr>
              <a:t>difficult</a:t>
            </a:r>
            <a:r>
              <a:rPr lang="en-US" dirty="0" smtClean="0"/>
              <a:t> problem</a:t>
            </a:r>
          </a:p>
          <a:p>
            <a:r>
              <a:rPr lang="en-US" dirty="0" smtClean="0"/>
              <a:t>Input – Output</a:t>
            </a:r>
          </a:p>
          <a:p>
            <a:r>
              <a:rPr lang="en-US" dirty="0" smtClean="0"/>
              <a:t>Solution (Theory/Design)</a:t>
            </a:r>
          </a:p>
          <a:p>
            <a:pPr lvl="1"/>
            <a:r>
              <a:rPr lang="en-US" sz="2400" dirty="0" smtClean="0"/>
              <a:t>Intuition</a:t>
            </a:r>
          </a:p>
          <a:p>
            <a:pPr lvl="1"/>
            <a:r>
              <a:rPr lang="en-US" sz="2400" dirty="0" smtClean="0"/>
              <a:t>Formulas</a:t>
            </a:r>
          </a:p>
          <a:p>
            <a:pPr lvl="1"/>
            <a:r>
              <a:rPr lang="en-US" sz="2400" dirty="0" smtClean="0"/>
              <a:t>Transformation steps</a:t>
            </a:r>
          </a:p>
          <a:p>
            <a:r>
              <a:rPr lang="en-US" dirty="0" smtClean="0"/>
              <a:t>Implementation (Practice)</a:t>
            </a:r>
          </a:p>
          <a:p>
            <a:pPr lvl="1"/>
            <a:r>
              <a:rPr lang="en-US" sz="2400" dirty="0" smtClean="0"/>
              <a:t>Libraries</a:t>
            </a:r>
          </a:p>
          <a:p>
            <a:pPr lvl="1"/>
            <a:r>
              <a:rPr lang="en-US" sz="2400" dirty="0" smtClean="0"/>
              <a:t>Concrete results</a:t>
            </a:r>
          </a:p>
          <a:p>
            <a:endParaRPr lang="en-US" dirty="0"/>
          </a:p>
        </p:txBody>
      </p:sp>
      <p:pic>
        <p:nvPicPr>
          <p:cNvPr id="1026" name="Picture 2" descr="https://www.sparksolutionsforgrowth.com/wp-content/uploads/2017/09/verif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590800"/>
            <a:ext cx="3048000" cy="24566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 (Text)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19800" cy="4525963"/>
          </a:xfrm>
        </p:spPr>
        <p:txBody>
          <a:bodyPr/>
          <a:lstStyle/>
          <a:p>
            <a:r>
              <a:rPr lang="en-US" sz="2200" dirty="0" smtClean="0"/>
              <a:t>How to display a background?</a:t>
            </a:r>
          </a:p>
          <a:p>
            <a:r>
              <a:rPr lang="en-US" sz="2200" dirty="0" smtClean="0"/>
              <a:t>How to display the </a:t>
            </a:r>
            <a:r>
              <a:rPr lang="en-US" sz="2200" dirty="0" err="1" smtClean="0"/>
              <a:t>Pacman</a:t>
            </a:r>
            <a:r>
              <a:rPr lang="en-US" sz="2200" dirty="0" smtClean="0"/>
              <a:t>?</a:t>
            </a:r>
          </a:p>
          <a:p>
            <a:r>
              <a:rPr lang="en-US" sz="2200" dirty="0" smtClean="0"/>
              <a:t>How to make the </a:t>
            </a:r>
            <a:r>
              <a:rPr lang="en-US" sz="2200" dirty="0" err="1" smtClean="0"/>
              <a:t>Pacman</a:t>
            </a:r>
            <a:r>
              <a:rPr lang="en-US" sz="2200" dirty="0" smtClean="0"/>
              <a:t> respond to user inputs?</a:t>
            </a:r>
          </a:p>
          <a:p>
            <a:r>
              <a:rPr lang="en-US" sz="2200" dirty="0" smtClean="0"/>
              <a:t>How to make the </a:t>
            </a:r>
            <a:r>
              <a:rPr lang="en-US" sz="2200" dirty="0" err="1" smtClean="0"/>
              <a:t>Pacman</a:t>
            </a:r>
            <a:r>
              <a:rPr lang="en-US" sz="2200" dirty="0" smtClean="0"/>
              <a:t> constrained to within the walls?</a:t>
            </a:r>
          </a:p>
          <a:p>
            <a:r>
              <a:rPr lang="en-US" sz="2200" dirty="0" smtClean="0"/>
              <a:t>How to display a ghost?</a:t>
            </a:r>
          </a:p>
          <a:p>
            <a:r>
              <a:rPr lang="en-US" sz="2200" dirty="0" smtClean="0"/>
              <a:t>How to make the ghost move automatically?</a:t>
            </a:r>
          </a:p>
          <a:p>
            <a:r>
              <a:rPr lang="en-US" sz="2200" dirty="0" smtClean="0"/>
              <a:t>How to detect some collision?</a:t>
            </a:r>
          </a:p>
          <a:p>
            <a:r>
              <a:rPr lang="en-US" sz="2200" dirty="0" smtClean="0"/>
              <a:t>How to display some dots?</a:t>
            </a:r>
          </a:p>
          <a:p>
            <a:r>
              <a:rPr lang="en-US" sz="2200" dirty="0" smtClean="0"/>
              <a:t>How to make the </a:t>
            </a:r>
            <a:r>
              <a:rPr lang="en-US" sz="2200" dirty="0" err="1" smtClean="0"/>
              <a:t>Pacman</a:t>
            </a:r>
            <a:r>
              <a:rPr lang="en-US" sz="2200" dirty="0" smtClean="0"/>
              <a:t> eat dots?</a:t>
            </a:r>
          </a:p>
          <a:p>
            <a:r>
              <a:rPr lang="en-US" sz="2200" dirty="0" smtClean="0"/>
              <a:t>How to find out that the level is complete?</a:t>
            </a:r>
          </a:p>
        </p:txBody>
      </p:sp>
      <p:pic>
        <p:nvPicPr>
          <p:cNvPr id="66562" name="Picture 2" descr="https://upload.wikimedia.org/wikipedia/en/5/59/Pac-ma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2286000"/>
            <a:ext cx="2133600" cy="2743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(Code)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676400"/>
            <a:ext cx="3095625" cy="187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4495800" y="2133600"/>
            <a:ext cx="3505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+mj-lt"/>
              </a:rPr>
              <a:t>“What is the shortest route from A to B?”</a:t>
            </a:r>
            <a:endParaRPr lang="en-US" sz="2800" dirty="0">
              <a:latin typeface="+mj-lt"/>
            </a:endParaRPr>
          </a:p>
        </p:txBody>
      </p:sp>
      <p:pic>
        <p:nvPicPr>
          <p:cNvPr id="8601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4038600"/>
            <a:ext cx="3487103" cy="2173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3962400"/>
            <a:ext cx="3513773" cy="2180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Domain Model (Code)</a:t>
            </a:r>
            <a:endParaRPr lang="en-US" dirty="0"/>
          </a:p>
        </p:txBody>
      </p:sp>
      <p:pic>
        <p:nvPicPr>
          <p:cNvPr id="84994" name="Picture 2" descr="https://i.stack.imgur.com/n9u9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562600" cy="457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Database Model (Code)</a:t>
            </a:r>
            <a:endParaRPr lang="en-US" dirty="0"/>
          </a:p>
        </p:txBody>
      </p:sp>
      <p:pic>
        <p:nvPicPr>
          <p:cNvPr id="83970" name="Picture 2" descr="https://www.studytonight.com/dbms/images/relational-dbms-mode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990724"/>
            <a:ext cx="5629275" cy="37242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4200" dirty="0" smtClean="0"/>
              <a:t>Architecture (Solution Sketch Code)</a:t>
            </a:r>
            <a:endParaRPr lang="en-US" sz="4200" dirty="0"/>
          </a:p>
        </p:txBody>
      </p:sp>
      <p:pic>
        <p:nvPicPr>
          <p:cNvPr id="82946" name="Picture 2" descr="https://cdn-images-1.medium.com/max/1200/1*DPWDR7j5lMdgXWjspe-Lp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362074"/>
            <a:ext cx="5210175" cy="5038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Testbed</a:t>
            </a:r>
            <a:r>
              <a:rPr lang="en-US" dirty="0" smtClean="0"/>
              <a:t> (Code)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048000" cy="4525963"/>
          </a:xfrm>
        </p:spPr>
        <p:txBody>
          <a:bodyPr/>
          <a:lstStyle/>
          <a:p>
            <a:r>
              <a:rPr lang="en-US" sz="2200" dirty="0" smtClean="0"/>
              <a:t>An </a:t>
            </a:r>
            <a:r>
              <a:rPr lang="en-US" sz="2200" u="sng" dirty="0" smtClean="0"/>
              <a:t>external component</a:t>
            </a:r>
            <a:r>
              <a:rPr lang="en-US" sz="2200" dirty="0" smtClean="0"/>
              <a:t> is</a:t>
            </a:r>
            <a:r>
              <a:rPr lang="en-US" sz="2200" i="1" dirty="0" smtClean="0">
                <a:solidFill>
                  <a:srgbClr val="C00000"/>
                </a:solidFill>
              </a:rPr>
              <a:t> tested apart from</a:t>
            </a:r>
            <a:r>
              <a:rPr lang="en-US" sz="2200" dirty="0" smtClean="0"/>
              <a:t> the program/system it will later be added to.</a:t>
            </a:r>
          </a:p>
          <a:p>
            <a:r>
              <a:rPr lang="en-US" sz="2200" dirty="0" smtClean="0"/>
              <a:t>A </a:t>
            </a:r>
            <a:r>
              <a:rPr lang="en-US" sz="2200" u="sng" dirty="0" smtClean="0"/>
              <a:t>skeleton framework</a:t>
            </a:r>
            <a:r>
              <a:rPr lang="en-US" sz="2200" dirty="0" smtClean="0"/>
              <a:t> is implemented around </a:t>
            </a:r>
            <a:r>
              <a:rPr lang="en-US" sz="2200" i="1" dirty="0" smtClean="0">
                <a:solidFill>
                  <a:srgbClr val="C00000"/>
                </a:solidFill>
              </a:rPr>
              <a:t>the module</a:t>
            </a:r>
            <a:r>
              <a:rPr lang="en-US" sz="2200" dirty="0" smtClean="0"/>
              <a:t> so that the module behaves as if already part of the larger program.</a:t>
            </a:r>
          </a:p>
        </p:txBody>
      </p:sp>
      <p:pic>
        <p:nvPicPr>
          <p:cNvPr id="5" name="Picture 2" descr="https://usamadar.files.wordpress.com/2012/01/ipnoverview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2350" y="1600200"/>
            <a:ext cx="5048250" cy="45720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5029200" y="1600200"/>
            <a:ext cx="2947153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2200" dirty="0" smtClean="0"/>
              <a:t>Implement a PAY button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0616" y="6019800"/>
            <a:ext cx="357347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2200" dirty="0" smtClean="0"/>
              <a:t>What are </a:t>
            </a:r>
            <a:r>
              <a:rPr lang="en-US" sz="2200" i="1" dirty="0" smtClean="0">
                <a:solidFill>
                  <a:srgbClr val="C00000"/>
                </a:solidFill>
              </a:rPr>
              <a:t>inputs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outputs</a:t>
            </a:r>
            <a:r>
              <a:rPr lang="en-US" sz="2200" dirty="0" smtClean="0"/>
              <a:t>?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Small Exercises (Code)</a:t>
            </a:r>
            <a:endParaRPr lang="en-US" dirty="0"/>
          </a:p>
        </p:txBody>
      </p:sp>
      <p:pic>
        <p:nvPicPr>
          <p:cNvPr id="55298" name="Picture 2" descr="http://4.bp.blogspot.com/-OTjT4opiE2Q/UIQb_pgyr7I/AAAAAAAAAQg/Diy42GdtaYc/s1600/cplusplu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0"/>
            <a:ext cx="3190875" cy="1495426"/>
          </a:xfrm>
          <a:prstGeom prst="rect">
            <a:avLst/>
          </a:prstGeom>
          <a:noFill/>
        </p:spPr>
      </p:pic>
      <p:pic>
        <p:nvPicPr>
          <p:cNvPr id="55304" name="Picture 8" descr="https://i-msdn.sec.s-msft.com/dynimg/IC780864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733800"/>
            <a:ext cx="2771775" cy="2095501"/>
          </a:xfrm>
          <a:prstGeom prst="rect">
            <a:avLst/>
          </a:prstGeom>
          <a:noFill/>
        </p:spPr>
      </p:pic>
      <p:pic>
        <p:nvPicPr>
          <p:cNvPr id="55306" name="Picture 10" descr="https://wireapps.files.wordpress.com/2014/03/cross-platfor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15356" y="4800600"/>
            <a:ext cx="2180844" cy="1371600"/>
          </a:xfrm>
          <a:prstGeom prst="rect">
            <a:avLst/>
          </a:prstGeom>
          <a:noFill/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10000" y="2438400"/>
            <a:ext cx="5029200" cy="1828800"/>
          </a:xfrm>
        </p:spPr>
        <p:txBody>
          <a:bodyPr/>
          <a:lstStyle/>
          <a:p>
            <a:r>
              <a:rPr lang="en-US" sz="2400" dirty="0" smtClean="0"/>
              <a:t>Just </a:t>
            </a:r>
            <a:r>
              <a:rPr lang="en-US" sz="2400" i="1" dirty="0" smtClean="0">
                <a:solidFill>
                  <a:srgbClr val="C00000"/>
                </a:solidFill>
              </a:rPr>
              <a:t>simple (but useful)</a:t>
            </a:r>
            <a:r>
              <a:rPr lang="en-US" sz="2400" dirty="0" smtClean="0"/>
              <a:t> applications:</a:t>
            </a:r>
          </a:p>
          <a:p>
            <a:pPr lvl="1"/>
            <a:r>
              <a:rPr lang="en-US" sz="2000" dirty="0" smtClean="0"/>
              <a:t>Use C/C++ (</a:t>
            </a:r>
            <a:r>
              <a:rPr lang="en-US" sz="2000" dirty="0" err="1" smtClean="0"/>
              <a:t>OpenCV</a:t>
            </a:r>
            <a:r>
              <a:rPr lang="en-US" sz="2000" dirty="0" smtClean="0"/>
              <a:t>) with Java code (Android) to speed up loading and saving an image.</a:t>
            </a:r>
          </a:p>
          <a:p>
            <a:pPr lvl="1"/>
            <a:r>
              <a:rPr lang="en-US" sz="2000" dirty="0" smtClean="0"/>
              <a:t>Write a login feature with </a:t>
            </a:r>
            <a:r>
              <a:rPr lang="en-US" sz="2000" dirty="0" err="1" smtClean="0"/>
              <a:t>Xamarin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Write a login feature with React Native.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838200" y="1752600"/>
            <a:ext cx="67394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+mj-lt"/>
              </a:rPr>
              <a:t>Testing a </a:t>
            </a:r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new</a:t>
            </a:r>
            <a:r>
              <a:rPr lang="en-US" sz="2800" dirty="0" smtClean="0">
                <a:latin typeface="+mj-lt"/>
              </a:rPr>
              <a:t> library, platform or technology.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Pilot (Trial) (System)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77200" cy="3276600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pilot</a:t>
            </a:r>
            <a:r>
              <a:rPr lang="en-US" sz="2400" dirty="0" smtClean="0"/>
              <a:t> (or trial) uses the </a:t>
            </a:r>
            <a:r>
              <a:rPr lang="en-US" sz="2400" u="sng" dirty="0" smtClean="0"/>
              <a:t>full production system</a:t>
            </a:r>
            <a:r>
              <a:rPr lang="en-US" sz="2400" dirty="0" smtClean="0"/>
              <a:t> and tests it against a </a:t>
            </a:r>
            <a:r>
              <a:rPr lang="en-US" sz="2400" u="sng" dirty="0" smtClean="0"/>
              <a:t>subset</a:t>
            </a:r>
            <a:r>
              <a:rPr lang="en-US" sz="2400" dirty="0" smtClean="0"/>
              <a:t> of the general intended audience.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reason</a:t>
            </a:r>
            <a:r>
              <a:rPr lang="en-US" sz="2400" dirty="0" smtClean="0"/>
              <a:t> for doing a pilot is to get a better understanding of how the product </a:t>
            </a:r>
            <a:r>
              <a:rPr lang="en-US" sz="2400" u="sng" dirty="0" smtClean="0"/>
              <a:t>will be used</a:t>
            </a:r>
            <a:r>
              <a:rPr lang="en-US" sz="2400" dirty="0" smtClean="0"/>
              <a:t> in the field and to </a:t>
            </a:r>
            <a:r>
              <a:rPr lang="en-US" sz="2400" u="sng" dirty="0" smtClean="0"/>
              <a:t>refine</a:t>
            </a:r>
            <a:r>
              <a:rPr lang="en-US" sz="2400" dirty="0" smtClean="0"/>
              <a:t> the product.</a:t>
            </a:r>
          </a:p>
          <a:p>
            <a:pPr lvl="0"/>
            <a:r>
              <a:rPr lang="en-US" sz="2400" dirty="0" smtClean="0"/>
              <a:t>This clearly defines </a:t>
            </a:r>
            <a:r>
              <a:rPr lang="en-US" sz="2400" i="1" dirty="0" smtClean="0">
                <a:solidFill>
                  <a:srgbClr val="C00000"/>
                </a:solidFill>
              </a:rPr>
              <a:t>how the system must operate</a:t>
            </a:r>
            <a:r>
              <a:rPr lang="en-US" sz="2400" dirty="0" smtClean="0"/>
              <a:t> within its environment.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Example</a:t>
            </a:r>
            <a:r>
              <a:rPr lang="en-US" sz="2400" dirty="0" smtClean="0"/>
              <a:t>: Migrating data from SQL 2005 to SQL 2016.</a:t>
            </a:r>
          </a:p>
          <a:p>
            <a:endParaRPr lang="en-US" sz="2400" dirty="0"/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4876800"/>
            <a:ext cx="293179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4953000"/>
            <a:ext cx="1370838" cy="1157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Proof of Concept?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r>
              <a:rPr lang="en-US" sz="2400" dirty="0" smtClean="0"/>
              <a:t>Helps in </a:t>
            </a:r>
            <a:r>
              <a:rPr lang="en-US" sz="2400" i="1" dirty="0" smtClean="0">
                <a:solidFill>
                  <a:srgbClr val="C00000"/>
                </a:solidFill>
              </a:rPr>
              <a:t>testing partial solution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Helps in analyzing </a:t>
            </a:r>
            <a:r>
              <a:rPr lang="en-US" sz="2400" i="1" dirty="0" smtClean="0">
                <a:solidFill>
                  <a:srgbClr val="C00000"/>
                </a:solidFill>
              </a:rPr>
              <a:t>requirements</a:t>
            </a:r>
            <a:r>
              <a:rPr lang="en-US" sz="2400" dirty="0" smtClean="0"/>
              <a:t> completely.</a:t>
            </a:r>
          </a:p>
          <a:p>
            <a:pPr lvl="0"/>
            <a:r>
              <a:rPr lang="en-US" sz="2400" dirty="0" smtClean="0"/>
              <a:t>Helps in identifying and planning for </a:t>
            </a:r>
            <a:r>
              <a:rPr lang="en-US" sz="2400" i="1" dirty="0" smtClean="0">
                <a:solidFill>
                  <a:srgbClr val="C00000"/>
                </a:solidFill>
              </a:rPr>
              <a:t>risks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Helps in making </a:t>
            </a:r>
            <a:r>
              <a:rPr lang="en-US" sz="2400" i="1" dirty="0" smtClean="0">
                <a:solidFill>
                  <a:srgbClr val="C00000"/>
                </a:solidFill>
              </a:rPr>
              <a:t>cost-benefit</a:t>
            </a:r>
            <a:r>
              <a:rPr lang="en-US" sz="2400" dirty="0" smtClean="0"/>
              <a:t> analysis.</a:t>
            </a:r>
          </a:p>
          <a:p>
            <a:pPr lvl="0"/>
            <a:r>
              <a:rPr lang="en-US" sz="2400" dirty="0" smtClean="0"/>
              <a:t>Helps in making plan for </a:t>
            </a:r>
            <a:r>
              <a:rPr lang="en-US" sz="2400" i="1" dirty="0" smtClean="0">
                <a:solidFill>
                  <a:srgbClr val="C00000"/>
                </a:solidFill>
              </a:rPr>
              <a:t>training</a:t>
            </a:r>
            <a:r>
              <a:rPr lang="en-US" sz="2400" dirty="0" smtClean="0"/>
              <a:t> developers for implementing the system.</a:t>
            </a:r>
          </a:p>
          <a:p>
            <a:pPr lvl="0"/>
            <a:r>
              <a:rPr lang="en-US" sz="2400" dirty="0" smtClean="0"/>
              <a:t>Can be </a:t>
            </a:r>
            <a:r>
              <a:rPr lang="en-US" sz="2400" i="1" dirty="0" smtClean="0">
                <a:solidFill>
                  <a:srgbClr val="C00000"/>
                </a:solidFill>
              </a:rPr>
              <a:t>reused</a:t>
            </a:r>
            <a:r>
              <a:rPr lang="en-US" sz="2400" dirty="0" smtClean="0"/>
              <a:t> for actual system.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2743200"/>
            <a:ext cx="1828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 </a:t>
            </a:r>
            <a:r>
              <a:rPr lang="en-US" dirty="0" smtClean="0"/>
              <a:t>Much Effort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Assigning proof of concept creation task to </a:t>
            </a:r>
            <a:r>
              <a:rPr lang="en-US" sz="2200" i="1" dirty="0" smtClean="0">
                <a:solidFill>
                  <a:srgbClr val="C00000"/>
                </a:solidFill>
              </a:rPr>
              <a:t>experts</a:t>
            </a:r>
            <a:r>
              <a:rPr lang="en-US" sz="2200" dirty="0" smtClean="0"/>
              <a:t> (senior developers, technical architects).</a:t>
            </a:r>
          </a:p>
          <a:p>
            <a:r>
              <a:rPr lang="en-US" sz="2200" dirty="0" smtClean="0"/>
              <a:t>Leveraging </a:t>
            </a:r>
            <a:r>
              <a:rPr lang="en-US" sz="2200" u="sng" dirty="0" smtClean="0"/>
              <a:t>fragments</a:t>
            </a:r>
            <a:r>
              <a:rPr lang="en-US" sz="2200" dirty="0" smtClean="0"/>
              <a:t> of </a:t>
            </a:r>
            <a:r>
              <a:rPr lang="en-US" sz="2200" i="1" dirty="0" smtClean="0">
                <a:solidFill>
                  <a:srgbClr val="C00000"/>
                </a:solidFill>
              </a:rPr>
              <a:t>existing </a:t>
            </a:r>
            <a:r>
              <a:rPr lang="en-US" sz="2200" dirty="0" smtClean="0"/>
              <a:t>or </a:t>
            </a:r>
            <a:r>
              <a:rPr lang="en-US" sz="2200" i="1" dirty="0" smtClean="0">
                <a:solidFill>
                  <a:srgbClr val="C00000"/>
                </a:solidFill>
              </a:rPr>
              <a:t>open source</a:t>
            </a:r>
            <a:r>
              <a:rPr lang="en-US" sz="2200" dirty="0" smtClean="0"/>
              <a:t> codebase.</a:t>
            </a:r>
            <a:endParaRPr lang="en-US" sz="2200" dirty="0" smtClean="0"/>
          </a:p>
          <a:p>
            <a:r>
              <a:rPr lang="en-US" sz="2200" dirty="0" smtClean="0"/>
              <a:t>Leveraging frameworks, components, libraries, </a:t>
            </a:r>
            <a:r>
              <a:rPr lang="en-US" sz="2200" i="1" dirty="0" smtClean="0">
                <a:solidFill>
                  <a:srgbClr val="C00000"/>
                </a:solidFill>
              </a:rPr>
              <a:t>cloud services</a:t>
            </a:r>
            <a:r>
              <a:rPr lang="en-US" sz="2200" dirty="0" smtClean="0"/>
              <a:t>.</a:t>
            </a:r>
          </a:p>
          <a:p>
            <a:endParaRPr lang="en-US" sz="2200" dirty="0" smtClean="0"/>
          </a:p>
          <a:p>
            <a:endParaRPr lang="en-US" sz="2200" dirty="0"/>
          </a:p>
        </p:txBody>
      </p:sp>
      <p:pic>
        <p:nvPicPr>
          <p:cNvPr id="1026" name="Picture 2" descr="https://www.healthdigest.com/img/gallery/what-happens-to-your-body-when-you-work-too-much/intro-164986273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733800"/>
            <a:ext cx="3991771" cy="22402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14139</TotalTime>
  <Words>729</Words>
  <Application>Microsoft Office PowerPoint</Application>
  <PresentationFormat>On-screen Show (4:3)</PresentationFormat>
  <Paragraphs>91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Proof of Concept</vt:lpstr>
      <vt:lpstr>Objectives</vt:lpstr>
      <vt:lpstr>Contents</vt:lpstr>
      <vt:lpstr>References</vt:lpstr>
      <vt:lpstr>Can You Really Do Something?</vt:lpstr>
      <vt:lpstr>Previous Similar Projects</vt:lpstr>
      <vt:lpstr>A Difficult Feature Implementation</vt:lpstr>
      <vt:lpstr>Slide 8</vt:lpstr>
      <vt:lpstr>Proof of Concept</vt:lpstr>
      <vt:lpstr>Vertical Prototype [1]</vt:lpstr>
      <vt:lpstr>When?</vt:lpstr>
      <vt:lpstr>How to Create a Proof of Concept?</vt:lpstr>
      <vt:lpstr>Questions and Answers (Text)</vt:lpstr>
      <vt:lpstr>Algorithm (Code)</vt:lpstr>
      <vt:lpstr>Domain Model (Code)</vt:lpstr>
      <vt:lpstr>Database Model (Code)</vt:lpstr>
      <vt:lpstr>Architecture (Solution Sketch Code)</vt:lpstr>
      <vt:lpstr>Testbed (Code)</vt:lpstr>
      <vt:lpstr>Small Exercises (Code)</vt:lpstr>
      <vt:lpstr>Pilot (Trial) (System)</vt:lpstr>
      <vt:lpstr>Why Proof of Concept?</vt:lpstr>
      <vt:lpstr>Too Much Effort Issue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4351</cp:revision>
  <dcterms:created xsi:type="dcterms:W3CDTF">2007-10-06T08:25:13Z</dcterms:created>
  <dcterms:modified xsi:type="dcterms:W3CDTF">2024-03-15T10:39:11Z</dcterms:modified>
</cp:coreProperties>
</file>