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08" r:id="rId1"/>
  </p:sldMasterIdLst>
  <p:notesMasterIdLst>
    <p:notesMasterId r:id="rId54"/>
  </p:notesMasterIdLst>
  <p:sldIdLst>
    <p:sldId id="256" r:id="rId2"/>
    <p:sldId id="624" r:id="rId3"/>
    <p:sldId id="756" r:id="rId4"/>
    <p:sldId id="564" r:id="rId5"/>
    <p:sldId id="788" r:id="rId6"/>
    <p:sldId id="714" r:id="rId7"/>
    <p:sldId id="651" r:id="rId8"/>
    <p:sldId id="644" r:id="rId9"/>
    <p:sldId id="692" r:id="rId10"/>
    <p:sldId id="787" r:id="rId11"/>
    <p:sldId id="785" r:id="rId12"/>
    <p:sldId id="786" r:id="rId13"/>
    <p:sldId id="615" r:id="rId14"/>
    <p:sldId id="790" r:id="rId15"/>
    <p:sldId id="799" r:id="rId16"/>
    <p:sldId id="800" r:id="rId17"/>
    <p:sldId id="796" r:id="rId18"/>
    <p:sldId id="798" r:id="rId19"/>
    <p:sldId id="801" r:id="rId20"/>
    <p:sldId id="797" r:id="rId21"/>
    <p:sldId id="771" r:id="rId22"/>
    <p:sldId id="745" r:id="rId23"/>
    <p:sldId id="730" r:id="rId24"/>
    <p:sldId id="802" r:id="rId25"/>
    <p:sldId id="731" r:id="rId26"/>
    <p:sldId id="747" r:id="rId27"/>
    <p:sldId id="803" r:id="rId28"/>
    <p:sldId id="732" r:id="rId29"/>
    <p:sldId id="784" r:id="rId30"/>
    <p:sldId id="782" r:id="rId31"/>
    <p:sldId id="770" r:id="rId32"/>
    <p:sldId id="597" r:id="rId33"/>
    <p:sldId id="670" r:id="rId34"/>
    <p:sldId id="783" r:id="rId35"/>
    <p:sldId id="736" r:id="rId36"/>
    <p:sldId id="744" r:id="rId37"/>
    <p:sldId id="655" r:id="rId38"/>
    <p:sldId id="716" r:id="rId39"/>
    <p:sldId id="599" r:id="rId40"/>
    <p:sldId id="715" r:id="rId41"/>
    <p:sldId id="773" r:id="rId42"/>
    <p:sldId id="759" r:id="rId43"/>
    <p:sldId id="761" r:id="rId44"/>
    <p:sldId id="762" r:id="rId45"/>
    <p:sldId id="763" r:id="rId46"/>
    <p:sldId id="760" r:id="rId47"/>
    <p:sldId id="764" r:id="rId48"/>
    <p:sldId id="765" r:id="rId49"/>
    <p:sldId id="766" r:id="rId50"/>
    <p:sldId id="767" r:id="rId51"/>
    <p:sldId id="768" r:id="rId52"/>
    <p:sldId id="343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50" autoAdjust="0"/>
    <p:restoredTop sz="88989" autoAdjust="0"/>
  </p:normalViewPr>
  <p:slideViewPr>
    <p:cSldViewPr>
      <p:cViewPr>
        <p:scale>
          <a:sx n="50" d="100"/>
          <a:sy n="50" d="100"/>
        </p:scale>
        <p:origin x="-1532" y="-3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066DED-DBA4-43A7-AF99-25BC86063D3B}" type="doc">
      <dgm:prSet loTypeId="urn:microsoft.com/office/officeart/2005/8/layout/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95587ED-7C5C-46E8-93AE-91084811BDE7}">
      <dgm:prSet phldrT="[Text]" custT="1"/>
      <dgm:spPr/>
      <dgm:t>
        <a:bodyPr/>
        <a:lstStyle/>
        <a:p>
          <a:r>
            <a:rPr lang="en-US" sz="2200" dirty="0" smtClean="0"/>
            <a:t>Product Release 1 </a:t>
          </a:r>
          <a:r>
            <a:rPr lang="en-US" sz="2000" dirty="0" smtClean="0"/>
            <a:t>(10/04/2021)</a:t>
          </a:r>
          <a:endParaRPr lang="en-US" sz="2000" dirty="0"/>
        </a:p>
      </dgm:t>
    </dgm:pt>
    <dgm:pt modelId="{7B21C7E4-FA73-413A-A672-9950CF2A914D}" type="parTrans" cxnId="{5F1876BA-4DE5-4816-BD7D-03FEDCD37D6E}">
      <dgm:prSet/>
      <dgm:spPr/>
      <dgm:t>
        <a:bodyPr/>
        <a:lstStyle/>
        <a:p>
          <a:endParaRPr lang="en-US"/>
        </a:p>
      </dgm:t>
    </dgm:pt>
    <dgm:pt modelId="{FFFCBDA7-9EA8-4D28-A3F6-8AC2D2264A36}" type="sibTrans" cxnId="{5F1876BA-4DE5-4816-BD7D-03FEDCD37D6E}">
      <dgm:prSet/>
      <dgm:spPr/>
      <dgm:t>
        <a:bodyPr/>
        <a:lstStyle/>
        <a:p>
          <a:endParaRPr lang="en-US"/>
        </a:p>
      </dgm:t>
    </dgm:pt>
    <dgm:pt modelId="{20F20C3D-6277-4812-AF1C-118B19F88B01}">
      <dgm:prSet phldrT="[Text]" custT="1"/>
      <dgm:spPr/>
      <dgm:t>
        <a:bodyPr/>
        <a:lstStyle/>
        <a:p>
          <a:r>
            <a:rPr lang="en-US" sz="1800" dirty="0" smtClean="0"/>
            <a:t>F1</a:t>
          </a:r>
          <a:endParaRPr lang="en-US" sz="1800" dirty="0"/>
        </a:p>
      </dgm:t>
    </dgm:pt>
    <dgm:pt modelId="{202EDF59-1282-417E-B7BB-6B9ABBB1E8C7}" type="parTrans" cxnId="{9ED9BAA9-03B6-450B-843A-15A34D139E81}">
      <dgm:prSet/>
      <dgm:spPr/>
      <dgm:t>
        <a:bodyPr/>
        <a:lstStyle/>
        <a:p>
          <a:endParaRPr lang="en-US"/>
        </a:p>
      </dgm:t>
    </dgm:pt>
    <dgm:pt modelId="{EB2E4B29-FE17-4429-A082-6AFC8100B70D}" type="sibTrans" cxnId="{9ED9BAA9-03B6-450B-843A-15A34D139E81}">
      <dgm:prSet/>
      <dgm:spPr/>
      <dgm:t>
        <a:bodyPr/>
        <a:lstStyle/>
        <a:p>
          <a:endParaRPr lang="en-US"/>
        </a:p>
      </dgm:t>
    </dgm:pt>
    <dgm:pt modelId="{19D05F77-75B4-460E-9D19-F92D7AA765E3}">
      <dgm:prSet phldrT="[Text]" custT="1"/>
      <dgm:spPr/>
      <dgm:t>
        <a:bodyPr/>
        <a:lstStyle/>
        <a:p>
          <a:r>
            <a:rPr lang="en-US" sz="2200" dirty="0" smtClean="0"/>
            <a:t>Product Release 2 </a:t>
          </a:r>
          <a:r>
            <a:rPr lang="en-US" sz="2000" dirty="0" smtClean="0"/>
            <a:t>(11/29/2021)</a:t>
          </a:r>
          <a:endParaRPr lang="en-US" sz="2000" dirty="0"/>
        </a:p>
      </dgm:t>
    </dgm:pt>
    <dgm:pt modelId="{B4C7D24C-15F0-4788-90EF-52F08328C791}" type="parTrans" cxnId="{0254327F-4D32-4304-A73A-2F9F6A4A9A10}">
      <dgm:prSet/>
      <dgm:spPr/>
      <dgm:t>
        <a:bodyPr/>
        <a:lstStyle/>
        <a:p>
          <a:endParaRPr lang="en-US"/>
        </a:p>
      </dgm:t>
    </dgm:pt>
    <dgm:pt modelId="{A6A9F71C-8879-4C22-8654-61EC4DC8933A}" type="sibTrans" cxnId="{0254327F-4D32-4304-A73A-2F9F6A4A9A10}">
      <dgm:prSet/>
      <dgm:spPr/>
      <dgm:t>
        <a:bodyPr/>
        <a:lstStyle/>
        <a:p>
          <a:endParaRPr lang="en-US"/>
        </a:p>
      </dgm:t>
    </dgm:pt>
    <dgm:pt modelId="{E7E6566C-F2F4-4779-97E9-19F78E0FE8BB}">
      <dgm:prSet phldrT="[Text]" custT="1"/>
      <dgm:spPr/>
      <dgm:t>
        <a:bodyPr/>
        <a:lstStyle/>
        <a:p>
          <a:r>
            <a:rPr lang="en-US" sz="2200" dirty="0" smtClean="0"/>
            <a:t>Product Release 3 </a:t>
          </a:r>
          <a:r>
            <a:rPr lang="en-US" sz="2000" dirty="0" smtClean="0"/>
            <a:t>(12/27/2021)</a:t>
          </a:r>
          <a:endParaRPr lang="en-US" sz="2000" dirty="0"/>
        </a:p>
      </dgm:t>
    </dgm:pt>
    <dgm:pt modelId="{CF4BB3C5-4659-4A24-8541-8EA5BF33BF32}" type="parTrans" cxnId="{14266164-25C3-403A-9FBE-2C265E47E019}">
      <dgm:prSet/>
      <dgm:spPr/>
      <dgm:t>
        <a:bodyPr/>
        <a:lstStyle/>
        <a:p>
          <a:endParaRPr lang="en-US"/>
        </a:p>
      </dgm:t>
    </dgm:pt>
    <dgm:pt modelId="{46E23FEE-318A-4DBD-8F07-D761795C2246}" type="sibTrans" cxnId="{14266164-25C3-403A-9FBE-2C265E47E019}">
      <dgm:prSet/>
      <dgm:spPr/>
      <dgm:t>
        <a:bodyPr/>
        <a:lstStyle/>
        <a:p>
          <a:endParaRPr lang="en-US"/>
        </a:p>
      </dgm:t>
    </dgm:pt>
    <dgm:pt modelId="{77E77D4E-9218-4BDD-A8BC-5BC05C3468DC}">
      <dgm:prSet phldrT="[Text]" custT="1"/>
      <dgm:spPr/>
      <dgm:t>
        <a:bodyPr/>
        <a:lstStyle/>
        <a:p>
          <a:r>
            <a:rPr lang="en-US" sz="1800" dirty="0" smtClean="0"/>
            <a:t>F2</a:t>
          </a:r>
          <a:endParaRPr lang="en-US" sz="1800" dirty="0"/>
        </a:p>
      </dgm:t>
    </dgm:pt>
    <dgm:pt modelId="{20897599-29AB-457C-87A4-095C0FD2955C}" type="parTrans" cxnId="{821380F5-B241-4E3D-89D8-08CA1EAA6CAF}">
      <dgm:prSet/>
      <dgm:spPr/>
      <dgm:t>
        <a:bodyPr/>
        <a:lstStyle/>
        <a:p>
          <a:endParaRPr lang="en-US"/>
        </a:p>
      </dgm:t>
    </dgm:pt>
    <dgm:pt modelId="{E59B444F-9495-43E3-901B-8DF5FC94D42B}" type="sibTrans" cxnId="{821380F5-B241-4E3D-89D8-08CA1EAA6CAF}">
      <dgm:prSet/>
      <dgm:spPr/>
      <dgm:t>
        <a:bodyPr/>
        <a:lstStyle/>
        <a:p>
          <a:endParaRPr lang="en-US"/>
        </a:p>
      </dgm:t>
    </dgm:pt>
    <dgm:pt modelId="{C7E27623-5E84-4175-9C8E-3EC4E543FCBE}">
      <dgm:prSet phldrT="[Text]" custT="1"/>
      <dgm:spPr/>
      <dgm:t>
        <a:bodyPr/>
        <a:lstStyle/>
        <a:p>
          <a:r>
            <a:rPr lang="en-US" sz="1800" dirty="0" smtClean="0"/>
            <a:t>F3</a:t>
          </a:r>
          <a:endParaRPr lang="en-US" sz="1800" dirty="0"/>
        </a:p>
      </dgm:t>
    </dgm:pt>
    <dgm:pt modelId="{52986A4B-B45B-4EC3-8500-A43154DE6CC2}" type="parTrans" cxnId="{25BAB1CB-6FF6-4B00-9423-994CF385C103}">
      <dgm:prSet/>
      <dgm:spPr/>
      <dgm:t>
        <a:bodyPr/>
        <a:lstStyle/>
        <a:p>
          <a:endParaRPr lang="en-US"/>
        </a:p>
      </dgm:t>
    </dgm:pt>
    <dgm:pt modelId="{E5067697-598A-46C4-BFA1-7242DCCFD7EC}" type="sibTrans" cxnId="{25BAB1CB-6FF6-4B00-9423-994CF385C103}">
      <dgm:prSet/>
      <dgm:spPr/>
      <dgm:t>
        <a:bodyPr/>
        <a:lstStyle/>
        <a:p>
          <a:endParaRPr lang="en-US"/>
        </a:p>
      </dgm:t>
    </dgm:pt>
    <dgm:pt modelId="{7BCB32B6-CD08-4BD8-B839-B3015E523F04}">
      <dgm:prSet phldrT="[Text]" custT="1"/>
      <dgm:spPr/>
      <dgm:t>
        <a:bodyPr/>
        <a:lstStyle/>
        <a:p>
          <a:r>
            <a:rPr lang="en-US" sz="1800" dirty="0" smtClean="0"/>
            <a:t>F6</a:t>
          </a:r>
          <a:endParaRPr lang="en-US" sz="1800" dirty="0"/>
        </a:p>
      </dgm:t>
    </dgm:pt>
    <dgm:pt modelId="{F073C809-942C-4DAA-89D7-1F0519A4FE1E}" type="parTrans" cxnId="{EE715410-C33D-4CEC-A2C4-DE6F9D2923E6}">
      <dgm:prSet/>
      <dgm:spPr/>
      <dgm:t>
        <a:bodyPr/>
        <a:lstStyle/>
        <a:p>
          <a:endParaRPr lang="en-US"/>
        </a:p>
      </dgm:t>
    </dgm:pt>
    <dgm:pt modelId="{3B1C1EAD-3348-47C1-8DC7-AD01A51F1017}" type="sibTrans" cxnId="{EE715410-C33D-4CEC-A2C4-DE6F9D2923E6}">
      <dgm:prSet/>
      <dgm:spPr/>
      <dgm:t>
        <a:bodyPr/>
        <a:lstStyle/>
        <a:p>
          <a:endParaRPr lang="en-US"/>
        </a:p>
      </dgm:t>
    </dgm:pt>
    <dgm:pt modelId="{D7204752-FDBE-4466-922D-C4CCB753FE64}">
      <dgm:prSet phldrT="[Text]" custT="1"/>
      <dgm:spPr/>
      <dgm:t>
        <a:bodyPr/>
        <a:lstStyle/>
        <a:p>
          <a:r>
            <a:rPr lang="en-US" sz="1800" dirty="0" smtClean="0"/>
            <a:t>F7</a:t>
          </a:r>
          <a:endParaRPr lang="en-US" sz="1800" dirty="0"/>
        </a:p>
      </dgm:t>
    </dgm:pt>
    <dgm:pt modelId="{E0225075-2CC0-459D-9F76-ACF205F9D642}" type="parTrans" cxnId="{2A73229F-5B67-48D3-B584-6E6C05795E9F}">
      <dgm:prSet/>
      <dgm:spPr/>
      <dgm:t>
        <a:bodyPr/>
        <a:lstStyle/>
        <a:p>
          <a:endParaRPr lang="en-US"/>
        </a:p>
      </dgm:t>
    </dgm:pt>
    <dgm:pt modelId="{291F175B-9830-47DE-9410-FB2D1D93CA8B}" type="sibTrans" cxnId="{2A73229F-5B67-48D3-B584-6E6C05795E9F}">
      <dgm:prSet/>
      <dgm:spPr/>
      <dgm:t>
        <a:bodyPr/>
        <a:lstStyle/>
        <a:p>
          <a:endParaRPr lang="en-US"/>
        </a:p>
      </dgm:t>
    </dgm:pt>
    <dgm:pt modelId="{F883E86D-1809-420D-858F-F8276D4762FF}">
      <dgm:prSet phldrT="[Text]" custT="1"/>
      <dgm:spPr/>
      <dgm:t>
        <a:bodyPr/>
        <a:lstStyle/>
        <a:p>
          <a:r>
            <a:rPr lang="en-US" sz="1800" dirty="0" smtClean="0"/>
            <a:t>F10</a:t>
          </a:r>
          <a:endParaRPr lang="en-US" sz="1800" dirty="0"/>
        </a:p>
      </dgm:t>
    </dgm:pt>
    <dgm:pt modelId="{FD5B987D-99AF-4F51-9A45-C44B828BD87E}" type="parTrans" cxnId="{D48A40A0-A0A7-4A64-82E1-826E32A455C0}">
      <dgm:prSet/>
      <dgm:spPr/>
      <dgm:t>
        <a:bodyPr/>
        <a:lstStyle/>
        <a:p>
          <a:endParaRPr lang="en-US"/>
        </a:p>
      </dgm:t>
    </dgm:pt>
    <dgm:pt modelId="{F0609EE8-2363-4290-AE06-E377D3BA5E6F}" type="sibTrans" cxnId="{D48A40A0-A0A7-4A64-82E1-826E32A455C0}">
      <dgm:prSet/>
      <dgm:spPr/>
      <dgm:t>
        <a:bodyPr/>
        <a:lstStyle/>
        <a:p>
          <a:endParaRPr lang="en-US"/>
        </a:p>
      </dgm:t>
    </dgm:pt>
    <dgm:pt modelId="{34BA63BE-F9CB-4499-9130-BF346E0F99C8}">
      <dgm:prSet phldrT="[Text]" custT="1"/>
      <dgm:spPr/>
      <dgm:t>
        <a:bodyPr/>
        <a:lstStyle/>
        <a:p>
          <a:r>
            <a:rPr lang="en-US" sz="1800" dirty="0" smtClean="0"/>
            <a:t>F11</a:t>
          </a:r>
          <a:endParaRPr lang="en-US" sz="1800" dirty="0"/>
        </a:p>
      </dgm:t>
    </dgm:pt>
    <dgm:pt modelId="{E458BFFD-381C-45EF-A28E-BDC62C63ACA2}" type="parTrans" cxnId="{EBB21BB6-EEBF-4710-B4B5-9212B36E4DFA}">
      <dgm:prSet/>
      <dgm:spPr/>
      <dgm:t>
        <a:bodyPr/>
        <a:lstStyle/>
        <a:p>
          <a:endParaRPr lang="en-US"/>
        </a:p>
      </dgm:t>
    </dgm:pt>
    <dgm:pt modelId="{7C50D979-5725-4907-A85D-1AE3E5C61F1A}" type="sibTrans" cxnId="{EBB21BB6-EEBF-4710-B4B5-9212B36E4DFA}">
      <dgm:prSet/>
      <dgm:spPr/>
      <dgm:t>
        <a:bodyPr/>
        <a:lstStyle/>
        <a:p>
          <a:endParaRPr lang="en-US"/>
        </a:p>
      </dgm:t>
    </dgm:pt>
    <dgm:pt modelId="{38927049-0753-468F-9AB5-9F4FBDDD43E9}">
      <dgm:prSet phldrT="[Text]" custT="1"/>
      <dgm:spPr/>
      <dgm:t>
        <a:bodyPr/>
        <a:lstStyle/>
        <a:p>
          <a:r>
            <a:rPr lang="en-US" sz="1800" dirty="0" smtClean="0"/>
            <a:t>F12</a:t>
          </a:r>
          <a:endParaRPr lang="en-US" sz="1800" dirty="0"/>
        </a:p>
      </dgm:t>
    </dgm:pt>
    <dgm:pt modelId="{C0826A22-B7EB-46D2-B65B-F319B8BFC4C9}" type="parTrans" cxnId="{4903658D-C6B9-400E-B631-D4FDF25DEBB2}">
      <dgm:prSet/>
      <dgm:spPr/>
      <dgm:t>
        <a:bodyPr/>
        <a:lstStyle/>
        <a:p>
          <a:endParaRPr lang="en-US"/>
        </a:p>
      </dgm:t>
    </dgm:pt>
    <dgm:pt modelId="{198A8C6A-3354-4629-8494-E75FD0011459}" type="sibTrans" cxnId="{4903658D-C6B9-400E-B631-D4FDF25DEBB2}">
      <dgm:prSet/>
      <dgm:spPr/>
      <dgm:t>
        <a:bodyPr/>
        <a:lstStyle/>
        <a:p>
          <a:endParaRPr lang="en-US"/>
        </a:p>
      </dgm:t>
    </dgm:pt>
    <dgm:pt modelId="{54C48828-D4A2-47F3-8C62-944C7D80B185}">
      <dgm:prSet phldrT="[Text]" custT="1"/>
      <dgm:spPr/>
      <dgm:t>
        <a:bodyPr/>
        <a:lstStyle/>
        <a:p>
          <a:r>
            <a:rPr lang="en-US" sz="1800" dirty="0" smtClean="0"/>
            <a:t>F4</a:t>
          </a:r>
          <a:endParaRPr lang="en-US" sz="1800" dirty="0"/>
        </a:p>
      </dgm:t>
    </dgm:pt>
    <dgm:pt modelId="{FE5E3A7C-93C6-4F5E-9383-AC57F24ACE60}" type="parTrans" cxnId="{E777F967-F1CE-47B4-9778-0D17243A7862}">
      <dgm:prSet/>
      <dgm:spPr/>
      <dgm:t>
        <a:bodyPr/>
        <a:lstStyle/>
        <a:p>
          <a:endParaRPr lang="en-US"/>
        </a:p>
      </dgm:t>
    </dgm:pt>
    <dgm:pt modelId="{46D48946-88F9-47DC-94AC-909922F0B6A2}" type="sibTrans" cxnId="{E777F967-F1CE-47B4-9778-0D17243A7862}">
      <dgm:prSet/>
      <dgm:spPr/>
      <dgm:t>
        <a:bodyPr/>
        <a:lstStyle/>
        <a:p>
          <a:endParaRPr lang="en-US"/>
        </a:p>
      </dgm:t>
    </dgm:pt>
    <dgm:pt modelId="{FCB9A11B-8264-45BF-8E6B-F5A77CC0A4F8}">
      <dgm:prSet phldrT="[Text]" custT="1"/>
      <dgm:spPr/>
      <dgm:t>
        <a:bodyPr/>
        <a:lstStyle/>
        <a:p>
          <a:r>
            <a:rPr lang="en-US" sz="1800" dirty="0" smtClean="0"/>
            <a:t>F5</a:t>
          </a:r>
          <a:endParaRPr lang="en-US" sz="1800" dirty="0"/>
        </a:p>
      </dgm:t>
    </dgm:pt>
    <dgm:pt modelId="{D5340B83-9275-4E20-AB2D-4EECAB6E41DD}" type="parTrans" cxnId="{C95792EA-A435-4877-B238-8233FB0019E8}">
      <dgm:prSet/>
      <dgm:spPr/>
      <dgm:t>
        <a:bodyPr/>
        <a:lstStyle/>
        <a:p>
          <a:endParaRPr lang="en-US"/>
        </a:p>
      </dgm:t>
    </dgm:pt>
    <dgm:pt modelId="{924808CB-0984-40EF-A091-A355205D2113}" type="sibTrans" cxnId="{C95792EA-A435-4877-B238-8233FB0019E8}">
      <dgm:prSet/>
      <dgm:spPr/>
      <dgm:t>
        <a:bodyPr/>
        <a:lstStyle/>
        <a:p>
          <a:endParaRPr lang="en-US"/>
        </a:p>
      </dgm:t>
    </dgm:pt>
    <dgm:pt modelId="{A8162EA6-800F-4073-A619-9A3F0C71F515}">
      <dgm:prSet phldrT="[Text]" custT="1"/>
      <dgm:spPr/>
      <dgm:t>
        <a:bodyPr/>
        <a:lstStyle/>
        <a:p>
          <a:r>
            <a:rPr lang="en-US" sz="1800" dirty="0" smtClean="0"/>
            <a:t>F8</a:t>
          </a:r>
          <a:endParaRPr lang="en-US" sz="1800" dirty="0"/>
        </a:p>
      </dgm:t>
    </dgm:pt>
    <dgm:pt modelId="{D75DD1E0-1776-48AD-9F90-E771053C1603}" type="parTrans" cxnId="{62285C4E-D634-4EB8-B43B-DF523678B4C9}">
      <dgm:prSet/>
      <dgm:spPr/>
      <dgm:t>
        <a:bodyPr/>
        <a:lstStyle/>
        <a:p>
          <a:endParaRPr lang="en-US"/>
        </a:p>
      </dgm:t>
    </dgm:pt>
    <dgm:pt modelId="{499BC45E-A2FC-4E8B-BFE1-5298DEFF734A}" type="sibTrans" cxnId="{62285C4E-D634-4EB8-B43B-DF523678B4C9}">
      <dgm:prSet/>
      <dgm:spPr/>
      <dgm:t>
        <a:bodyPr/>
        <a:lstStyle/>
        <a:p>
          <a:endParaRPr lang="en-US"/>
        </a:p>
      </dgm:t>
    </dgm:pt>
    <dgm:pt modelId="{D0FC011A-01BA-4755-B634-228764067056}">
      <dgm:prSet phldrT="[Text]" custT="1"/>
      <dgm:spPr/>
      <dgm:t>
        <a:bodyPr/>
        <a:lstStyle/>
        <a:p>
          <a:r>
            <a:rPr lang="en-US" sz="1800" dirty="0" smtClean="0"/>
            <a:t>F9</a:t>
          </a:r>
          <a:endParaRPr lang="en-US" sz="1800" dirty="0"/>
        </a:p>
      </dgm:t>
    </dgm:pt>
    <dgm:pt modelId="{AD1B8744-1FF2-4774-8033-904EC61958B9}" type="parTrans" cxnId="{81F815F0-0D0C-4715-89E5-5EE1213022DA}">
      <dgm:prSet/>
      <dgm:spPr/>
      <dgm:t>
        <a:bodyPr/>
        <a:lstStyle/>
        <a:p>
          <a:endParaRPr lang="en-US"/>
        </a:p>
      </dgm:t>
    </dgm:pt>
    <dgm:pt modelId="{09DC1589-A563-4A1B-9479-A7A28926A49C}" type="sibTrans" cxnId="{81F815F0-0D0C-4715-89E5-5EE1213022DA}">
      <dgm:prSet/>
      <dgm:spPr/>
      <dgm:t>
        <a:bodyPr/>
        <a:lstStyle/>
        <a:p>
          <a:endParaRPr lang="en-US"/>
        </a:p>
      </dgm:t>
    </dgm:pt>
    <dgm:pt modelId="{25A04943-E1E3-4616-974E-0DACEA556486}" type="pres">
      <dgm:prSet presAssocID="{A5066DED-DBA4-43A7-AF99-25BC86063D3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481A88-D0A1-46DA-9E5A-A1F4FE3D445E}" type="pres">
      <dgm:prSet presAssocID="{595587ED-7C5C-46E8-93AE-91084811BDE7}" presName="composite" presStyleCnt="0"/>
      <dgm:spPr/>
    </dgm:pt>
    <dgm:pt modelId="{01F88731-B48D-4BD0-A647-EA525074F037}" type="pres">
      <dgm:prSet presAssocID="{595587ED-7C5C-46E8-93AE-91084811BDE7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459FCA-93E9-4994-9CF1-C46EFCF63D0B}" type="pres">
      <dgm:prSet presAssocID="{595587ED-7C5C-46E8-93AE-91084811BDE7}" presName="parSh" presStyleLbl="node1" presStyleIdx="0" presStyleCnt="3" custScaleX="119225" custLinFactNeighborX="-220" custLinFactNeighborY="-1091"/>
      <dgm:spPr/>
      <dgm:t>
        <a:bodyPr/>
        <a:lstStyle/>
        <a:p>
          <a:endParaRPr lang="en-US"/>
        </a:p>
      </dgm:t>
    </dgm:pt>
    <dgm:pt modelId="{5B60B05F-3DDF-48E9-9143-1B48CE0E8BEB}" type="pres">
      <dgm:prSet presAssocID="{595587ED-7C5C-46E8-93AE-91084811BDE7}" presName="desTx" presStyleLbl="fgAcc1" presStyleIdx="0" presStyleCnt="3" custScaleY="63678" custLinFactNeighborX="1408" custLinFactNeighborY="8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DC0CA5-3697-4896-BEF3-24014C4D5963}" type="pres">
      <dgm:prSet presAssocID="{FFFCBDA7-9EA8-4D28-A3F6-8AC2D2264A36}" presName="sibTrans" presStyleLbl="sibTrans2D1" presStyleIdx="0" presStyleCnt="2"/>
      <dgm:spPr/>
      <dgm:t>
        <a:bodyPr/>
        <a:lstStyle/>
        <a:p>
          <a:endParaRPr lang="en-US"/>
        </a:p>
      </dgm:t>
    </dgm:pt>
    <dgm:pt modelId="{D97006E8-C600-4274-9C56-21A52D58A989}" type="pres">
      <dgm:prSet presAssocID="{FFFCBDA7-9EA8-4D28-A3F6-8AC2D2264A36}" presName="connTx" presStyleLbl="sibTrans2D1" presStyleIdx="0" presStyleCnt="2"/>
      <dgm:spPr/>
      <dgm:t>
        <a:bodyPr/>
        <a:lstStyle/>
        <a:p>
          <a:endParaRPr lang="en-US"/>
        </a:p>
      </dgm:t>
    </dgm:pt>
    <dgm:pt modelId="{1BACB909-C558-42D3-B1CC-161086D301D3}" type="pres">
      <dgm:prSet presAssocID="{19D05F77-75B4-460E-9D19-F92D7AA765E3}" presName="composite" presStyleCnt="0"/>
      <dgm:spPr/>
    </dgm:pt>
    <dgm:pt modelId="{8B691EFC-EDC7-4B31-90DB-7829FF805980}" type="pres">
      <dgm:prSet presAssocID="{19D05F77-75B4-460E-9D19-F92D7AA765E3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43320A-B16D-4747-A36B-6E31F52C8A76}" type="pres">
      <dgm:prSet presAssocID="{19D05F77-75B4-460E-9D19-F92D7AA765E3}" presName="parSh" presStyleLbl="node1" presStyleIdx="1" presStyleCnt="3" custScaleX="119225"/>
      <dgm:spPr/>
      <dgm:t>
        <a:bodyPr/>
        <a:lstStyle/>
        <a:p>
          <a:endParaRPr lang="en-US"/>
        </a:p>
      </dgm:t>
    </dgm:pt>
    <dgm:pt modelId="{3D09F52C-4F48-4227-B7CA-63D3B4D34278}" type="pres">
      <dgm:prSet presAssocID="{19D05F77-75B4-460E-9D19-F92D7AA765E3}" presName="desTx" presStyleLbl="fgAcc1" presStyleIdx="1" presStyleCnt="3" custScaleY="636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8941AF-BACB-43C8-B444-2AC078D647CA}" type="pres">
      <dgm:prSet presAssocID="{A6A9F71C-8879-4C22-8654-61EC4DC8933A}" presName="sibTrans" presStyleLbl="sibTrans2D1" presStyleIdx="1" presStyleCnt="2"/>
      <dgm:spPr/>
      <dgm:t>
        <a:bodyPr/>
        <a:lstStyle/>
        <a:p>
          <a:endParaRPr lang="en-US"/>
        </a:p>
      </dgm:t>
    </dgm:pt>
    <dgm:pt modelId="{2F716BE5-DAAF-4B64-BAAC-32FFFB3EA95D}" type="pres">
      <dgm:prSet presAssocID="{A6A9F71C-8879-4C22-8654-61EC4DC8933A}" presName="connTx" presStyleLbl="sibTrans2D1" presStyleIdx="1" presStyleCnt="2"/>
      <dgm:spPr/>
      <dgm:t>
        <a:bodyPr/>
        <a:lstStyle/>
        <a:p>
          <a:endParaRPr lang="en-US"/>
        </a:p>
      </dgm:t>
    </dgm:pt>
    <dgm:pt modelId="{D67FE10F-C6B8-4775-B777-A070A8394D23}" type="pres">
      <dgm:prSet presAssocID="{E7E6566C-F2F4-4779-97E9-19F78E0FE8BB}" presName="composite" presStyleCnt="0"/>
      <dgm:spPr/>
    </dgm:pt>
    <dgm:pt modelId="{3EE0D985-2C2D-4583-92D4-A071A158AB24}" type="pres">
      <dgm:prSet presAssocID="{E7E6566C-F2F4-4779-97E9-19F78E0FE8B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519200-3A94-4F08-97AC-A814E7D0F2C0}" type="pres">
      <dgm:prSet presAssocID="{E7E6566C-F2F4-4779-97E9-19F78E0FE8BB}" presName="parSh" presStyleLbl="node1" presStyleIdx="2" presStyleCnt="3" custScaleX="119225"/>
      <dgm:spPr/>
      <dgm:t>
        <a:bodyPr/>
        <a:lstStyle/>
        <a:p>
          <a:endParaRPr lang="en-US"/>
        </a:p>
      </dgm:t>
    </dgm:pt>
    <dgm:pt modelId="{C3DE530F-2BE3-496B-88C1-96E1C341259A}" type="pres">
      <dgm:prSet presAssocID="{E7E6566C-F2F4-4779-97E9-19F78E0FE8BB}" presName="desTx" presStyleLbl="fgAcc1" presStyleIdx="2" presStyleCnt="3" custScaleY="636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201A688-D196-440B-A666-22701E9A3BE0}" type="presOf" srcId="{77E77D4E-9218-4BDD-A8BC-5BC05C3468DC}" destId="{5B60B05F-3DDF-48E9-9143-1B48CE0E8BEB}" srcOrd="0" destOrd="1" presId="urn:microsoft.com/office/officeart/2005/8/layout/process3"/>
    <dgm:cxn modelId="{FB240A62-CFD8-4B9F-AE9B-D4FB7BD56D55}" type="presOf" srcId="{A5066DED-DBA4-43A7-AF99-25BC86063D3B}" destId="{25A04943-E1E3-4616-974E-0DACEA556486}" srcOrd="0" destOrd="0" presId="urn:microsoft.com/office/officeart/2005/8/layout/process3"/>
    <dgm:cxn modelId="{EE715410-C33D-4CEC-A2C4-DE6F9D2923E6}" srcId="{19D05F77-75B4-460E-9D19-F92D7AA765E3}" destId="{7BCB32B6-CD08-4BD8-B839-B3015E523F04}" srcOrd="0" destOrd="0" parTransId="{F073C809-942C-4DAA-89D7-1F0519A4FE1E}" sibTransId="{3B1C1EAD-3348-47C1-8DC7-AD01A51F1017}"/>
    <dgm:cxn modelId="{81F815F0-0D0C-4715-89E5-5EE1213022DA}" srcId="{19D05F77-75B4-460E-9D19-F92D7AA765E3}" destId="{D0FC011A-01BA-4755-B634-228764067056}" srcOrd="3" destOrd="0" parTransId="{AD1B8744-1FF2-4774-8033-904EC61958B9}" sibTransId="{09DC1589-A563-4A1B-9479-A7A28926A49C}"/>
    <dgm:cxn modelId="{09797ED9-53B9-402D-83DC-2A9AABE2BEFC}" type="presOf" srcId="{A6A9F71C-8879-4C22-8654-61EC4DC8933A}" destId="{4C8941AF-BACB-43C8-B444-2AC078D647CA}" srcOrd="0" destOrd="0" presId="urn:microsoft.com/office/officeart/2005/8/layout/process3"/>
    <dgm:cxn modelId="{14266164-25C3-403A-9FBE-2C265E47E019}" srcId="{A5066DED-DBA4-43A7-AF99-25BC86063D3B}" destId="{E7E6566C-F2F4-4779-97E9-19F78E0FE8BB}" srcOrd="2" destOrd="0" parTransId="{CF4BB3C5-4659-4A24-8541-8EA5BF33BF32}" sibTransId="{46E23FEE-318A-4DBD-8F07-D761795C2246}"/>
    <dgm:cxn modelId="{F382D1A1-5325-4738-83E2-AA715E82A3AA}" type="presOf" srcId="{20F20C3D-6277-4812-AF1C-118B19F88B01}" destId="{5B60B05F-3DDF-48E9-9143-1B48CE0E8BEB}" srcOrd="0" destOrd="0" presId="urn:microsoft.com/office/officeart/2005/8/layout/process3"/>
    <dgm:cxn modelId="{0E0BA79F-DF53-4D42-BD67-033AB4F88E78}" type="presOf" srcId="{34BA63BE-F9CB-4499-9130-BF346E0F99C8}" destId="{C3DE530F-2BE3-496B-88C1-96E1C341259A}" srcOrd="0" destOrd="1" presId="urn:microsoft.com/office/officeart/2005/8/layout/process3"/>
    <dgm:cxn modelId="{E1B58DE1-50A6-4F61-A773-7AE772C13BE9}" type="presOf" srcId="{FFFCBDA7-9EA8-4D28-A3F6-8AC2D2264A36}" destId="{E4DC0CA5-3697-4896-BEF3-24014C4D5963}" srcOrd="0" destOrd="0" presId="urn:microsoft.com/office/officeart/2005/8/layout/process3"/>
    <dgm:cxn modelId="{5F1876BA-4DE5-4816-BD7D-03FEDCD37D6E}" srcId="{A5066DED-DBA4-43A7-AF99-25BC86063D3B}" destId="{595587ED-7C5C-46E8-93AE-91084811BDE7}" srcOrd="0" destOrd="0" parTransId="{7B21C7E4-FA73-413A-A672-9950CF2A914D}" sibTransId="{FFFCBDA7-9EA8-4D28-A3F6-8AC2D2264A36}"/>
    <dgm:cxn modelId="{4903658D-C6B9-400E-B631-D4FDF25DEBB2}" srcId="{E7E6566C-F2F4-4779-97E9-19F78E0FE8BB}" destId="{38927049-0753-468F-9AB5-9F4FBDDD43E9}" srcOrd="2" destOrd="0" parTransId="{C0826A22-B7EB-46D2-B65B-F319B8BFC4C9}" sibTransId="{198A8C6A-3354-4629-8494-E75FD0011459}"/>
    <dgm:cxn modelId="{245BC582-CE9C-4E6C-A07C-162CCF91D2B3}" type="presOf" srcId="{19D05F77-75B4-460E-9D19-F92D7AA765E3}" destId="{0743320A-B16D-4747-A36B-6E31F52C8A76}" srcOrd="1" destOrd="0" presId="urn:microsoft.com/office/officeart/2005/8/layout/process3"/>
    <dgm:cxn modelId="{304ED61C-B9D5-4CC9-A746-DCC7423BCF6C}" type="presOf" srcId="{595587ED-7C5C-46E8-93AE-91084811BDE7}" destId="{AB459FCA-93E9-4994-9CF1-C46EFCF63D0B}" srcOrd="1" destOrd="0" presId="urn:microsoft.com/office/officeart/2005/8/layout/process3"/>
    <dgm:cxn modelId="{25BAB1CB-6FF6-4B00-9423-994CF385C103}" srcId="{595587ED-7C5C-46E8-93AE-91084811BDE7}" destId="{C7E27623-5E84-4175-9C8E-3EC4E543FCBE}" srcOrd="2" destOrd="0" parTransId="{52986A4B-B45B-4EC3-8500-A43154DE6CC2}" sibTransId="{E5067697-598A-46C4-BFA1-7242DCCFD7EC}"/>
    <dgm:cxn modelId="{447EF4B8-AFDF-4691-A3E0-EE017B5D2C3A}" type="presOf" srcId="{19D05F77-75B4-460E-9D19-F92D7AA765E3}" destId="{8B691EFC-EDC7-4B31-90DB-7829FF805980}" srcOrd="0" destOrd="0" presId="urn:microsoft.com/office/officeart/2005/8/layout/process3"/>
    <dgm:cxn modelId="{EBB21BB6-EEBF-4710-B4B5-9212B36E4DFA}" srcId="{E7E6566C-F2F4-4779-97E9-19F78E0FE8BB}" destId="{34BA63BE-F9CB-4499-9130-BF346E0F99C8}" srcOrd="1" destOrd="0" parTransId="{E458BFFD-381C-45EF-A28E-BDC62C63ACA2}" sibTransId="{7C50D979-5725-4907-A85D-1AE3E5C61F1A}"/>
    <dgm:cxn modelId="{821380F5-B241-4E3D-89D8-08CA1EAA6CAF}" srcId="{595587ED-7C5C-46E8-93AE-91084811BDE7}" destId="{77E77D4E-9218-4BDD-A8BC-5BC05C3468DC}" srcOrd="1" destOrd="0" parTransId="{20897599-29AB-457C-87A4-095C0FD2955C}" sibTransId="{E59B444F-9495-43E3-901B-8DF5FC94D42B}"/>
    <dgm:cxn modelId="{58F9B444-1714-4348-99B8-6BC538D007E3}" type="presOf" srcId="{A6A9F71C-8879-4C22-8654-61EC4DC8933A}" destId="{2F716BE5-DAAF-4B64-BAAC-32FFFB3EA95D}" srcOrd="1" destOrd="0" presId="urn:microsoft.com/office/officeart/2005/8/layout/process3"/>
    <dgm:cxn modelId="{C95792EA-A435-4877-B238-8233FB0019E8}" srcId="{595587ED-7C5C-46E8-93AE-91084811BDE7}" destId="{FCB9A11B-8264-45BF-8E6B-F5A77CC0A4F8}" srcOrd="4" destOrd="0" parTransId="{D5340B83-9275-4E20-AB2D-4EECAB6E41DD}" sibTransId="{924808CB-0984-40EF-A091-A355205D2113}"/>
    <dgm:cxn modelId="{EBFEC551-DDC5-45BB-8FC5-E64D474A5BCD}" type="presOf" srcId="{F883E86D-1809-420D-858F-F8276D4762FF}" destId="{C3DE530F-2BE3-496B-88C1-96E1C341259A}" srcOrd="0" destOrd="0" presId="urn:microsoft.com/office/officeart/2005/8/layout/process3"/>
    <dgm:cxn modelId="{8EDEB329-870B-4117-B569-93CB971280B9}" type="presOf" srcId="{A8162EA6-800F-4073-A619-9A3F0C71F515}" destId="{3D09F52C-4F48-4227-B7CA-63D3B4D34278}" srcOrd="0" destOrd="2" presId="urn:microsoft.com/office/officeart/2005/8/layout/process3"/>
    <dgm:cxn modelId="{D40204B2-0DC6-4675-A455-5DB32BD17928}" type="presOf" srcId="{E7E6566C-F2F4-4779-97E9-19F78E0FE8BB}" destId="{73519200-3A94-4F08-97AC-A814E7D0F2C0}" srcOrd="1" destOrd="0" presId="urn:microsoft.com/office/officeart/2005/8/layout/process3"/>
    <dgm:cxn modelId="{222FDF87-2737-4F11-8CBF-C860D5EF66BE}" type="presOf" srcId="{FFFCBDA7-9EA8-4D28-A3F6-8AC2D2264A36}" destId="{D97006E8-C600-4274-9C56-21A52D58A989}" srcOrd="1" destOrd="0" presId="urn:microsoft.com/office/officeart/2005/8/layout/process3"/>
    <dgm:cxn modelId="{FF39D61B-0A17-4852-AA8E-840587B58048}" type="presOf" srcId="{7BCB32B6-CD08-4BD8-B839-B3015E523F04}" destId="{3D09F52C-4F48-4227-B7CA-63D3B4D34278}" srcOrd="0" destOrd="0" presId="urn:microsoft.com/office/officeart/2005/8/layout/process3"/>
    <dgm:cxn modelId="{E2BF6AA6-282C-45DE-9C96-30EAE3674A01}" type="presOf" srcId="{E7E6566C-F2F4-4779-97E9-19F78E0FE8BB}" destId="{3EE0D985-2C2D-4583-92D4-A071A158AB24}" srcOrd="0" destOrd="0" presId="urn:microsoft.com/office/officeart/2005/8/layout/process3"/>
    <dgm:cxn modelId="{B244F6A3-38A3-40E0-A370-A8A917DCF0D5}" type="presOf" srcId="{38927049-0753-468F-9AB5-9F4FBDDD43E9}" destId="{C3DE530F-2BE3-496B-88C1-96E1C341259A}" srcOrd="0" destOrd="2" presId="urn:microsoft.com/office/officeart/2005/8/layout/process3"/>
    <dgm:cxn modelId="{D48A40A0-A0A7-4A64-82E1-826E32A455C0}" srcId="{E7E6566C-F2F4-4779-97E9-19F78E0FE8BB}" destId="{F883E86D-1809-420D-858F-F8276D4762FF}" srcOrd="0" destOrd="0" parTransId="{FD5B987D-99AF-4F51-9A45-C44B828BD87E}" sibTransId="{F0609EE8-2363-4290-AE06-E377D3BA5E6F}"/>
    <dgm:cxn modelId="{0254327F-4D32-4304-A73A-2F9F6A4A9A10}" srcId="{A5066DED-DBA4-43A7-AF99-25BC86063D3B}" destId="{19D05F77-75B4-460E-9D19-F92D7AA765E3}" srcOrd="1" destOrd="0" parTransId="{B4C7D24C-15F0-4788-90EF-52F08328C791}" sibTransId="{A6A9F71C-8879-4C22-8654-61EC4DC8933A}"/>
    <dgm:cxn modelId="{2A73229F-5B67-48D3-B584-6E6C05795E9F}" srcId="{19D05F77-75B4-460E-9D19-F92D7AA765E3}" destId="{D7204752-FDBE-4466-922D-C4CCB753FE64}" srcOrd="1" destOrd="0" parTransId="{E0225075-2CC0-459D-9F76-ACF205F9D642}" sibTransId="{291F175B-9830-47DE-9410-FB2D1D93CA8B}"/>
    <dgm:cxn modelId="{E31867CF-BECC-4742-AF8A-BE862D926AD8}" type="presOf" srcId="{FCB9A11B-8264-45BF-8E6B-F5A77CC0A4F8}" destId="{5B60B05F-3DDF-48E9-9143-1B48CE0E8BEB}" srcOrd="0" destOrd="4" presId="urn:microsoft.com/office/officeart/2005/8/layout/process3"/>
    <dgm:cxn modelId="{D8C91993-BD45-4720-A9C7-3127E77A32E9}" type="presOf" srcId="{D0FC011A-01BA-4755-B634-228764067056}" destId="{3D09F52C-4F48-4227-B7CA-63D3B4D34278}" srcOrd="0" destOrd="3" presId="urn:microsoft.com/office/officeart/2005/8/layout/process3"/>
    <dgm:cxn modelId="{0F0B9CCC-FF62-4F3A-90C7-7A4EC3490689}" type="presOf" srcId="{595587ED-7C5C-46E8-93AE-91084811BDE7}" destId="{01F88731-B48D-4BD0-A647-EA525074F037}" srcOrd="0" destOrd="0" presId="urn:microsoft.com/office/officeart/2005/8/layout/process3"/>
    <dgm:cxn modelId="{62285C4E-D634-4EB8-B43B-DF523678B4C9}" srcId="{19D05F77-75B4-460E-9D19-F92D7AA765E3}" destId="{A8162EA6-800F-4073-A619-9A3F0C71F515}" srcOrd="2" destOrd="0" parTransId="{D75DD1E0-1776-48AD-9F90-E771053C1603}" sibTransId="{499BC45E-A2FC-4E8B-BFE1-5298DEFF734A}"/>
    <dgm:cxn modelId="{9ED9BAA9-03B6-450B-843A-15A34D139E81}" srcId="{595587ED-7C5C-46E8-93AE-91084811BDE7}" destId="{20F20C3D-6277-4812-AF1C-118B19F88B01}" srcOrd="0" destOrd="0" parTransId="{202EDF59-1282-417E-B7BB-6B9ABBB1E8C7}" sibTransId="{EB2E4B29-FE17-4429-A082-6AFC8100B70D}"/>
    <dgm:cxn modelId="{2D1206F1-004A-431D-A374-893132221169}" type="presOf" srcId="{C7E27623-5E84-4175-9C8E-3EC4E543FCBE}" destId="{5B60B05F-3DDF-48E9-9143-1B48CE0E8BEB}" srcOrd="0" destOrd="2" presId="urn:microsoft.com/office/officeart/2005/8/layout/process3"/>
    <dgm:cxn modelId="{ECB43DE7-FEB3-4D90-8DC2-ED9F9FE8403B}" type="presOf" srcId="{54C48828-D4A2-47F3-8C62-944C7D80B185}" destId="{5B60B05F-3DDF-48E9-9143-1B48CE0E8BEB}" srcOrd="0" destOrd="3" presId="urn:microsoft.com/office/officeart/2005/8/layout/process3"/>
    <dgm:cxn modelId="{228FA28C-09B8-49E8-A761-DBD07F6B55E1}" type="presOf" srcId="{D7204752-FDBE-4466-922D-C4CCB753FE64}" destId="{3D09F52C-4F48-4227-B7CA-63D3B4D34278}" srcOrd="0" destOrd="1" presId="urn:microsoft.com/office/officeart/2005/8/layout/process3"/>
    <dgm:cxn modelId="{E777F967-F1CE-47B4-9778-0D17243A7862}" srcId="{595587ED-7C5C-46E8-93AE-91084811BDE7}" destId="{54C48828-D4A2-47F3-8C62-944C7D80B185}" srcOrd="3" destOrd="0" parTransId="{FE5E3A7C-93C6-4F5E-9383-AC57F24ACE60}" sibTransId="{46D48946-88F9-47DC-94AC-909922F0B6A2}"/>
    <dgm:cxn modelId="{8EEC1545-4258-4D02-A6BB-03B5274279C5}" type="presParOf" srcId="{25A04943-E1E3-4616-974E-0DACEA556486}" destId="{41481A88-D0A1-46DA-9E5A-A1F4FE3D445E}" srcOrd="0" destOrd="0" presId="urn:microsoft.com/office/officeart/2005/8/layout/process3"/>
    <dgm:cxn modelId="{CDE40EDC-85A5-4DAC-8E47-C7006A7A9B75}" type="presParOf" srcId="{41481A88-D0A1-46DA-9E5A-A1F4FE3D445E}" destId="{01F88731-B48D-4BD0-A647-EA525074F037}" srcOrd="0" destOrd="0" presId="urn:microsoft.com/office/officeart/2005/8/layout/process3"/>
    <dgm:cxn modelId="{F852C448-212B-4BFB-8633-F4C62F5F3D40}" type="presParOf" srcId="{41481A88-D0A1-46DA-9E5A-A1F4FE3D445E}" destId="{AB459FCA-93E9-4994-9CF1-C46EFCF63D0B}" srcOrd="1" destOrd="0" presId="urn:microsoft.com/office/officeart/2005/8/layout/process3"/>
    <dgm:cxn modelId="{3B0EB05D-3768-42D5-9B67-4256C243C9E3}" type="presParOf" srcId="{41481A88-D0A1-46DA-9E5A-A1F4FE3D445E}" destId="{5B60B05F-3DDF-48E9-9143-1B48CE0E8BEB}" srcOrd="2" destOrd="0" presId="urn:microsoft.com/office/officeart/2005/8/layout/process3"/>
    <dgm:cxn modelId="{D6AC3447-C9FB-4377-B491-B232B09544F1}" type="presParOf" srcId="{25A04943-E1E3-4616-974E-0DACEA556486}" destId="{E4DC0CA5-3697-4896-BEF3-24014C4D5963}" srcOrd="1" destOrd="0" presId="urn:microsoft.com/office/officeart/2005/8/layout/process3"/>
    <dgm:cxn modelId="{1C1CB567-85FC-4F04-A7F9-5EB3A11963B7}" type="presParOf" srcId="{E4DC0CA5-3697-4896-BEF3-24014C4D5963}" destId="{D97006E8-C600-4274-9C56-21A52D58A989}" srcOrd="0" destOrd="0" presId="urn:microsoft.com/office/officeart/2005/8/layout/process3"/>
    <dgm:cxn modelId="{DF83235C-9A2F-4212-90DB-63048B0C5DAC}" type="presParOf" srcId="{25A04943-E1E3-4616-974E-0DACEA556486}" destId="{1BACB909-C558-42D3-B1CC-161086D301D3}" srcOrd="2" destOrd="0" presId="urn:microsoft.com/office/officeart/2005/8/layout/process3"/>
    <dgm:cxn modelId="{2BDB7952-352E-431F-BA52-6A1881CAABBC}" type="presParOf" srcId="{1BACB909-C558-42D3-B1CC-161086D301D3}" destId="{8B691EFC-EDC7-4B31-90DB-7829FF805980}" srcOrd="0" destOrd="0" presId="urn:microsoft.com/office/officeart/2005/8/layout/process3"/>
    <dgm:cxn modelId="{0591ED10-699F-4C7F-A0BD-5EBC77C56CD6}" type="presParOf" srcId="{1BACB909-C558-42D3-B1CC-161086D301D3}" destId="{0743320A-B16D-4747-A36B-6E31F52C8A76}" srcOrd="1" destOrd="0" presId="urn:microsoft.com/office/officeart/2005/8/layout/process3"/>
    <dgm:cxn modelId="{CA1077C1-DB1E-456A-B56F-83BD6ED8EE0D}" type="presParOf" srcId="{1BACB909-C558-42D3-B1CC-161086D301D3}" destId="{3D09F52C-4F48-4227-B7CA-63D3B4D34278}" srcOrd="2" destOrd="0" presId="urn:microsoft.com/office/officeart/2005/8/layout/process3"/>
    <dgm:cxn modelId="{4C3B75CA-6B64-49DF-BB8A-A0B967077FDC}" type="presParOf" srcId="{25A04943-E1E3-4616-974E-0DACEA556486}" destId="{4C8941AF-BACB-43C8-B444-2AC078D647CA}" srcOrd="3" destOrd="0" presId="urn:microsoft.com/office/officeart/2005/8/layout/process3"/>
    <dgm:cxn modelId="{C714D9B6-5BAB-43BA-9DF9-2D97FA850F06}" type="presParOf" srcId="{4C8941AF-BACB-43C8-B444-2AC078D647CA}" destId="{2F716BE5-DAAF-4B64-BAAC-32FFFB3EA95D}" srcOrd="0" destOrd="0" presId="urn:microsoft.com/office/officeart/2005/8/layout/process3"/>
    <dgm:cxn modelId="{6A1F0E19-F28A-4459-A437-9538A1296148}" type="presParOf" srcId="{25A04943-E1E3-4616-974E-0DACEA556486}" destId="{D67FE10F-C6B8-4775-B777-A070A8394D23}" srcOrd="4" destOrd="0" presId="urn:microsoft.com/office/officeart/2005/8/layout/process3"/>
    <dgm:cxn modelId="{9DD27AE8-5814-4E65-BF11-9A4D8BBA802E}" type="presParOf" srcId="{D67FE10F-C6B8-4775-B777-A070A8394D23}" destId="{3EE0D985-2C2D-4583-92D4-A071A158AB24}" srcOrd="0" destOrd="0" presId="urn:microsoft.com/office/officeart/2005/8/layout/process3"/>
    <dgm:cxn modelId="{0DFA5970-D10E-4142-B3BA-BC5AC0318CBF}" type="presParOf" srcId="{D67FE10F-C6B8-4775-B777-A070A8394D23}" destId="{73519200-3A94-4F08-97AC-A814E7D0F2C0}" srcOrd="1" destOrd="0" presId="urn:microsoft.com/office/officeart/2005/8/layout/process3"/>
    <dgm:cxn modelId="{A091B8EC-ACF2-4CD5-A434-C8682FC777A7}" type="presParOf" srcId="{D67FE10F-C6B8-4775-B777-A070A8394D23}" destId="{C3DE530F-2BE3-496B-88C1-96E1C341259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B459FCA-93E9-4994-9CF1-C46EFCF63D0B}">
      <dsp:nvSpPr>
        <dsp:cNvPr id="0" name=""/>
        <dsp:cNvSpPr/>
      </dsp:nvSpPr>
      <dsp:spPr>
        <a:xfrm>
          <a:off x="0" y="160028"/>
          <a:ext cx="1987187" cy="27648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8382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Product Release 1 </a:t>
          </a:r>
          <a:r>
            <a:rPr lang="en-US" sz="2000" kern="1200" dirty="0" smtClean="0"/>
            <a:t>(10/04/2021)</a:t>
          </a:r>
          <a:endParaRPr lang="en-US" sz="2000" kern="1200" dirty="0"/>
        </a:p>
      </dsp:txBody>
      <dsp:txXfrm>
        <a:off x="0" y="160028"/>
        <a:ext cx="1987187" cy="666701"/>
      </dsp:txXfrm>
    </dsp:sp>
    <dsp:sp modelId="{5B60B05F-3DDF-48E9-9143-1B48CE0E8BEB}">
      <dsp:nvSpPr>
        <dsp:cNvPr id="0" name=""/>
        <dsp:cNvSpPr/>
      </dsp:nvSpPr>
      <dsp:spPr>
        <a:xfrm>
          <a:off x="527523" y="1558268"/>
          <a:ext cx="1666754" cy="2347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F1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F2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F3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F4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F5</a:t>
          </a:r>
          <a:endParaRPr lang="en-US" sz="1800" kern="1200" dirty="0"/>
        </a:p>
      </dsp:txBody>
      <dsp:txXfrm>
        <a:off x="527523" y="1558268"/>
        <a:ext cx="1666754" cy="2347425"/>
      </dsp:txXfrm>
    </dsp:sp>
    <dsp:sp modelId="{E4DC0CA5-3697-4896-BEF3-24014C4D5963}">
      <dsp:nvSpPr>
        <dsp:cNvPr id="0" name=""/>
        <dsp:cNvSpPr/>
      </dsp:nvSpPr>
      <dsp:spPr>
        <a:xfrm rot="36510">
          <a:off x="2200408" y="301110"/>
          <a:ext cx="452080" cy="4149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 rot="36510">
        <a:off x="2200408" y="301110"/>
        <a:ext cx="452080" cy="414973"/>
      </dsp:txXfrm>
    </dsp:sp>
    <dsp:sp modelId="{0743320A-B16D-4747-A36B-6E31F52C8A76}">
      <dsp:nvSpPr>
        <dsp:cNvPr id="0" name=""/>
        <dsp:cNvSpPr/>
      </dsp:nvSpPr>
      <dsp:spPr>
        <a:xfrm>
          <a:off x="2840122" y="190192"/>
          <a:ext cx="1987187" cy="27648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8382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Product Release 2 </a:t>
          </a:r>
          <a:r>
            <a:rPr lang="en-US" sz="2000" kern="1200" dirty="0" smtClean="0"/>
            <a:t>(11/29/2021)</a:t>
          </a:r>
          <a:endParaRPr lang="en-US" sz="2000" kern="1200" dirty="0"/>
        </a:p>
      </dsp:txBody>
      <dsp:txXfrm>
        <a:off x="2840122" y="190192"/>
        <a:ext cx="1987187" cy="666701"/>
      </dsp:txXfrm>
    </dsp:sp>
    <dsp:sp modelId="{3D09F52C-4F48-4227-B7CA-63D3B4D34278}">
      <dsp:nvSpPr>
        <dsp:cNvPr id="0" name=""/>
        <dsp:cNvSpPr/>
      </dsp:nvSpPr>
      <dsp:spPr>
        <a:xfrm>
          <a:off x="3341722" y="1526381"/>
          <a:ext cx="1666754" cy="2347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F6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F7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F8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F9</a:t>
          </a:r>
          <a:endParaRPr lang="en-US" sz="1800" kern="1200" dirty="0"/>
        </a:p>
      </dsp:txBody>
      <dsp:txXfrm>
        <a:off x="3341722" y="1526381"/>
        <a:ext cx="1666754" cy="2347425"/>
      </dsp:txXfrm>
    </dsp:sp>
    <dsp:sp modelId="{4C8941AF-BACB-43C8-B444-2AC078D647CA}">
      <dsp:nvSpPr>
        <dsp:cNvPr id="0" name=""/>
        <dsp:cNvSpPr/>
      </dsp:nvSpPr>
      <dsp:spPr>
        <a:xfrm>
          <a:off x="5039930" y="316056"/>
          <a:ext cx="450753" cy="4149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5039930" y="316056"/>
        <a:ext cx="450753" cy="414973"/>
      </dsp:txXfrm>
    </dsp:sp>
    <dsp:sp modelId="{73519200-3A94-4F08-97AC-A814E7D0F2C0}">
      <dsp:nvSpPr>
        <dsp:cNvPr id="0" name=""/>
        <dsp:cNvSpPr/>
      </dsp:nvSpPr>
      <dsp:spPr>
        <a:xfrm>
          <a:off x="5677789" y="190192"/>
          <a:ext cx="1987187" cy="27648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8382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Product Release 3 </a:t>
          </a:r>
          <a:r>
            <a:rPr lang="en-US" sz="2000" kern="1200" dirty="0" smtClean="0"/>
            <a:t>(12/27/2021)</a:t>
          </a:r>
          <a:endParaRPr lang="en-US" sz="2000" kern="1200" dirty="0"/>
        </a:p>
      </dsp:txBody>
      <dsp:txXfrm>
        <a:off x="5677789" y="190192"/>
        <a:ext cx="1987187" cy="666701"/>
      </dsp:txXfrm>
    </dsp:sp>
    <dsp:sp modelId="{C3DE530F-2BE3-496B-88C1-96E1C341259A}">
      <dsp:nvSpPr>
        <dsp:cNvPr id="0" name=""/>
        <dsp:cNvSpPr/>
      </dsp:nvSpPr>
      <dsp:spPr>
        <a:xfrm>
          <a:off x="6179389" y="1526381"/>
          <a:ext cx="1666754" cy="2347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F10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F11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F12</a:t>
          </a:r>
          <a:endParaRPr lang="en-US" sz="1800" kern="1200" dirty="0"/>
        </a:p>
      </dsp:txBody>
      <dsp:txXfrm>
        <a:off x="6179389" y="1526381"/>
        <a:ext cx="1666754" cy="23474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689CC-1D6A-4DEE-80EF-F38DBDD31587}" type="datetimeFigureOut">
              <a:rPr lang="en-US" smtClean="0"/>
              <a:pPr/>
              <a:t>7/13/2023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E6FAD-75CF-4B99-B663-5876D41FD95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E6FAD-75CF-4B99-B663-5876D41FD95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smtClean="0"/>
              <a:t>Agile Planning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5715000" cy="3276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product roadmap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release plan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calculate </a:t>
            </a:r>
            <a:r>
              <a:rPr lang="en-US" sz="2400" i="1" dirty="0" smtClean="0">
                <a:solidFill>
                  <a:srgbClr val="C00000"/>
                </a:solidFill>
              </a:rPr>
              <a:t>project cost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calculate </a:t>
            </a:r>
            <a:r>
              <a:rPr lang="en-US" sz="2400" i="1" dirty="0" smtClean="0">
                <a:solidFill>
                  <a:srgbClr val="C00000"/>
                </a:solidFill>
              </a:rPr>
              <a:t>project estimate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create </a:t>
            </a:r>
            <a:r>
              <a:rPr lang="en-US" sz="2400" i="1" dirty="0" smtClean="0">
                <a:solidFill>
                  <a:srgbClr val="C00000"/>
                </a:solidFill>
              </a:rPr>
              <a:t>sprint tasks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create an </a:t>
            </a:r>
            <a:r>
              <a:rPr lang="en-US" sz="2400" i="1" dirty="0" smtClean="0">
                <a:solidFill>
                  <a:srgbClr val="C00000"/>
                </a:solidFill>
              </a:rPr>
              <a:t>agile contract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High level estimate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Product roadmap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Preliminary release plan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Fixed-date release plan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Fixed-scope release plan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(Release) estimate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System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Sprint tasks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648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Mike Cohn (2005). Agile Estimating And Planning. Pearson Education.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Ken </a:t>
            </a:r>
            <a:r>
              <a:rPr lang="en-US" sz="2000" dirty="0" err="1" smtClean="0">
                <a:latin typeface="+mj-lt"/>
              </a:rPr>
              <a:t>Schwaber</a:t>
            </a:r>
            <a:r>
              <a:rPr lang="en-US" sz="2000" dirty="0" smtClean="0">
                <a:latin typeface="+mj-lt"/>
              </a:rPr>
              <a:t> (1995). SCRUM Development Process.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Kenneth S. Rubin (2012). Essential Scrum: A Practical Guide to the Most Popular Agile Process. Addison-Wesley Professional.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Jonathan </a:t>
            </a:r>
            <a:r>
              <a:rPr lang="en-US" sz="2000" dirty="0" err="1" smtClean="0">
                <a:latin typeface="+mj-lt"/>
              </a:rPr>
              <a:t>Rasmusson</a:t>
            </a:r>
            <a:r>
              <a:rPr lang="en-US" sz="2000" dirty="0" smtClean="0">
                <a:latin typeface="+mj-lt"/>
              </a:rPr>
              <a:t> (2010). The Agile Samurai - How Agile Masters Deliver Great Software. Pragmatic Bookshelf.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Andreas </a:t>
            </a:r>
            <a:r>
              <a:rPr lang="en-US" sz="2000" dirty="0" err="1" smtClean="0">
                <a:latin typeface="+mj-lt"/>
              </a:rPr>
              <a:t>Opelt</a:t>
            </a:r>
            <a:r>
              <a:rPr lang="en-US" sz="2000" dirty="0" smtClean="0">
                <a:latin typeface="+mj-lt"/>
              </a:rPr>
              <a:t> et al. (2013). Agile Contracts: Creating and Managing Successful Projects with Scrum. John Wiley &amp; Sons.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have relatively good </a:t>
            </a:r>
            <a:r>
              <a:rPr lang="en-US" sz="2400" i="1" dirty="0" smtClean="0">
                <a:solidFill>
                  <a:srgbClr val="C00000"/>
                </a:solidFill>
              </a:rPr>
              <a:t>product backlog</a:t>
            </a:r>
            <a:r>
              <a:rPr lang="en-US" sz="2400" dirty="0" smtClean="0"/>
              <a:t> (40 user stories).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 long</a:t>
            </a:r>
            <a:r>
              <a:rPr lang="en-US" sz="2400" dirty="0" smtClean="0"/>
              <a:t> will it take to develop the product.</a:t>
            </a:r>
          </a:p>
          <a:p>
            <a:r>
              <a:rPr lang="en-US" sz="2400" dirty="0" smtClean="0"/>
              <a:t>What is the </a:t>
            </a:r>
            <a:r>
              <a:rPr lang="en-US" sz="2400" i="1" dirty="0" smtClean="0">
                <a:solidFill>
                  <a:srgbClr val="C00000"/>
                </a:solidFill>
              </a:rPr>
              <a:t>cost</a:t>
            </a:r>
            <a:r>
              <a:rPr lang="en-US" sz="2400" dirty="0" smtClean="0"/>
              <a:t>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 many people</a:t>
            </a:r>
            <a:r>
              <a:rPr lang="en-US" sz="2400" dirty="0" smtClean="0"/>
              <a:t> do you need to develop the product?</a:t>
            </a:r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52850" y="4343400"/>
            <a:ext cx="211455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Planning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Agile planning </a:t>
            </a:r>
          </a:p>
          <a:p>
            <a:pPr lvl="1"/>
            <a:r>
              <a:rPr lang="en-US" sz="2200" dirty="0" smtClean="0"/>
              <a:t>is focused more on the </a:t>
            </a:r>
            <a:r>
              <a:rPr lang="en-US" sz="2200" i="1" dirty="0" smtClean="0">
                <a:solidFill>
                  <a:srgbClr val="C00000"/>
                </a:solidFill>
              </a:rPr>
              <a:t>planning</a:t>
            </a:r>
            <a:r>
              <a:rPr lang="en-US" sz="2200" dirty="0" smtClean="0"/>
              <a:t> than on the creation of a plan, </a:t>
            </a:r>
          </a:p>
          <a:p>
            <a:pPr lvl="1"/>
            <a:r>
              <a:rPr lang="en-US" sz="2200" dirty="0" smtClean="0"/>
              <a:t>encourages </a:t>
            </a:r>
            <a:r>
              <a:rPr lang="en-US" sz="2200" i="1" dirty="0" smtClean="0">
                <a:solidFill>
                  <a:srgbClr val="C00000"/>
                </a:solidFill>
              </a:rPr>
              <a:t>change</a:t>
            </a:r>
            <a:r>
              <a:rPr lang="en-US" sz="2200" dirty="0" smtClean="0"/>
              <a:t>, </a:t>
            </a:r>
          </a:p>
          <a:p>
            <a:pPr lvl="1"/>
            <a:r>
              <a:rPr lang="en-US" sz="2200" dirty="0" smtClean="0"/>
              <a:t>results in plans that are </a:t>
            </a:r>
            <a:r>
              <a:rPr lang="en-US" sz="2200" i="1" dirty="0" smtClean="0">
                <a:solidFill>
                  <a:srgbClr val="C00000"/>
                </a:solidFill>
              </a:rPr>
              <a:t>easily changed</a:t>
            </a:r>
            <a:r>
              <a:rPr lang="en-US" sz="2200" dirty="0" smtClean="0"/>
              <a:t>, and </a:t>
            </a:r>
          </a:p>
          <a:p>
            <a:pPr lvl="1"/>
            <a:r>
              <a:rPr lang="en-US" sz="2200" dirty="0" smtClean="0"/>
              <a:t>is spread </a:t>
            </a:r>
            <a:r>
              <a:rPr lang="en-US" sz="2200" i="1" dirty="0" smtClean="0">
                <a:solidFill>
                  <a:srgbClr val="C00000"/>
                </a:solidFill>
              </a:rPr>
              <a:t>throughout</a:t>
            </a:r>
            <a:r>
              <a:rPr lang="en-US" sz="2200" dirty="0" smtClean="0"/>
              <a:t> the project.</a:t>
            </a:r>
          </a:p>
          <a:p>
            <a:r>
              <a:rPr lang="en-US" sz="2600" dirty="0" smtClean="0"/>
              <a:t>A </a:t>
            </a:r>
            <a:r>
              <a:rPr lang="en-US" sz="2600" i="1" dirty="0" smtClean="0">
                <a:solidFill>
                  <a:srgbClr val="C00000"/>
                </a:solidFill>
              </a:rPr>
              <a:t>good plan</a:t>
            </a:r>
            <a:r>
              <a:rPr lang="en-US" sz="2600" dirty="0" smtClean="0"/>
              <a:t> is one that is sufficiently reliable that it can be used </a:t>
            </a:r>
            <a:r>
              <a:rPr lang="en-US" sz="2600" u="sng" dirty="0" smtClean="0"/>
              <a:t>as the basis</a:t>
            </a:r>
            <a:r>
              <a:rPr lang="en-US" sz="2600" dirty="0" smtClean="0"/>
              <a:t> for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making decisions</a:t>
            </a:r>
            <a:r>
              <a:rPr lang="en-US" sz="2200" dirty="0" smtClean="0"/>
              <a:t> about the product and the project.</a:t>
            </a:r>
            <a:endParaRPr lang="en-US" sz="2200" dirty="0"/>
          </a:p>
        </p:txBody>
      </p:sp>
      <p:pic>
        <p:nvPicPr>
          <p:cNvPr id="47106" name="Picture 2" descr="https://envoc.com/uploads/cdn/cache/uploads/images/Colorful_Agile_Iterations-80_750_270_s_c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5029200"/>
            <a:ext cx="4286250" cy="1543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High Level Estimate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7199"/>
          </a:xfrm>
        </p:spPr>
        <p:txBody>
          <a:bodyPr/>
          <a:lstStyle/>
          <a:p>
            <a:r>
              <a:rPr lang="en-US" sz="2400" dirty="0" smtClean="0"/>
              <a:t>How?</a:t>
            </a:r>
          </a:p>
        </p:txBody>
      </p:sp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438400"/>
            <a:ext cx="4181475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1, 2, 3, 5, 8, 13, 21, 34, 55, 89, 144, 233, 377, 610, 987, …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key here is about </a:t>
            </a:r>
            <a:r>
              <a:rPr lang="en-US" sz="2400" i="1" dirty="0" smtClean="0">
                <a:solidFill>
                  <a:srgbClr val="C00000"/>
                </a:solidFill>
              </a:rPr>
              <a:t>relativity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Smallest thing: 1. Biggest thing: 21.</a:t>
            </a:r>
          </a:p>
          <a:p>
            <a:r>
              <a:rPr lang="en-US" sz="2400" dirty="0" smtClean="0"/>
              <a:t>Pick one </a:t>
            </a:r>
            <a:r>
              <a:rPr lang="en-US" sz="2400" i="1" dirty="0" smtClean="0">
                <a:solidFill>
                  <a:srgbClr val="C00000"/>
                </a:solidFill>
              </a:rPr>
              <a:t>familiar</a:t>
            </a:r>
            <a:r>
              <a:rPr lang="en-US" sz="2400" dirty="0" smtClean="0"/>
              <a:t> thing, give it 3, for example, based upon your experience. Pick another thing. Is it </a:t>
            </a:r>
            <a:r>
              <a:rPr lang="en-US" sz="2400" i="1" dirty="0" smtClean="0">
                <a:solidFill>
                  <a:srgbClr val="C00000"/>
                </a:solidFill>
              </a:rPr>
              <a:t>bigger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smaller</a:t>
            </a:r>
            <a:r>
              <a:rPr lang="en-US" sz="2400" dirty="0" smtClean="0"/>
              <a:t> than the previous one?</a:t>
            </a:r>
          </a:p>
          <a:p>
            <a:endParaRPr lang="en-US" sz="2400" dirty="0"/>
          </a:p>
        </p:txBody>
      </p:sp>
      <p:pic>
        <p:nvPicPr>
          <p:cNvPr id="1026" name="Picture 2" descr="https://upload.wikimedia.org/wikipedia/commons/thumb/d/db/34%2A21-FibonacciBlocks.png/300px-34%2A21-FibonacciBlock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209800"/>
            <a:ext cx="2857500" cy="177165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648200" y="3048000"/>
            <a:ext cx="4038600" cy="95410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+mj-lt"/>
              </a:rPr>
              <a:t>We </a:t>
            </a:r>
            <a:r>
              <a:rPr lang="en-US" sz="2800" dirty="0" smtClean="0">
                <a:solidFill>
                  <a:schemeClr val="bg1"/>
                </a:solidFill>
                <a:latin typeface="+mj-lt"/>
              </a:rPr>
              <a:t>CAN'T </a:t>
            </a:r>
            <a:r>
              <a:rPr lang="en-US" sz="2800" dirty="0" smtClean="0">
                <a:solidFill>
                  <a:schemeClr val="bg1"/>
                </a:solidFill>
                <a:latin typeface="+mj-lt"/>
              </a:rPr>
              <a:t>come up with accurate estimates!!!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209800"/>
            <a:ext cx="9144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More Techniques [3]</a:t>
            </a:r>
            <a:endParaRPr lang="en-US" dirty="0"/>
          </a:p>
        </p:txBody>
      </p:sp>
      <p:pic>
        <p:nvPicPr>
          <p:cNvPr id="1026" name="Picture 2" descr="https://rules.ssw.com.au/PublishingImages/size-stories-bad-examp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667000"/>
            <a:ext cx="2857500" cy="1994535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209800"/>
            <a:ext cx="4640580" cy="2944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Product 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Product roadmap</a:t>
            </a:r>
            <a:r>
              <a:rPr lang="en-US" sz="2200" dirty="0" smtClean="0"/>
              <a:t>: </a:t>
            </a:r>
            <a:r>
              <a:rPr lang="en-US" sz="2200" u="sng" dirty="0" smtClean="0"/>
              <a:t>A series of releases</a:t>
            </a:r>
            <a:r>
              <a:rPr lang="en-US" sz="2200" dirty="0" smtClean="0"/>
              <a:t> for achieving some or all of our product vision.</a:t>
            </a:r>
          </a:p>
          <a:p>
            <a:r>
              <a:rPr lang="en-US" sz="2200" dirty="0" smtClean="0"/>
              <a:t>If we are planning only a </a:t>
            </a:r>
            <a:r>
              <a:rPr lang="en-US" sz="2200" i="1" dirty="0" smtClean="0">
                <a:solidFill>
                  <a:srgbClr val="C00000"/>
                </a:solidFill>
              </a:rPr>
              <a:t>single small release</a:t>
            </a:r>
            <a:r>
              <a:rPr lang="en-US" sz="2200" dirty="0" smtClean="0"/>
              <a:t>, we </a:t>
            </a:r>
            <a:r>
              <a:rPr lang="en-US" sz="2200" u="sng" dirty="0" smtClean="0"/>
              <a:t>don't </a:t>
            </a:r>
            <a:r>
              <a:rPr lang="en-US" sz="2200" u="sng" dirty="0" smtClean="0"/>
              <a:t>need</a:t>
            </a:r>
            <a:r>
              <a:rPr lang="en-US" sz="2200" dirty="0" smtClean="0"/>
              <a:t> a product roadmap.</a:t>
            </a:r>
          </a:p>
          <a:p>
            <a:r>
              <a:rPr lang="en-US" sz="2200" dirty="0" smtClean="0"/>
              <a:t>Releasing frequently </a:t>
            </a:r>
            <a:r>
              <a:rPr lang="en-US" sz="2200" u="sng" dirty="0" smtClean="0"/>
              <a:t>doesn't </a:t>
            </a:r>
            <a:r>
              <a:rPr lang="en-US" sz="2200" u="sng" dirty="0" smtClean="0"/>
              <a:t>mean</a:t>
            </a:r>
            <a:r>
              <a:rPr lang="en-US" sz="2200" dirty="0" smtClean="0"/>
              <a:t> we set overly </a:t>
            </a:r>
            <a:r>
              <a:rPr lang="en-US" sz="2200" i="1" dirty="0" smtClean="0">
                <a:solidFill>
                  <a:srgbClr val="C00000"/>
                </a:solidFill>
              </a:rPr>
              <a:t>aggressive deadlines</a:t>
            </a:r>
            <a:r>
              <a:rPr lang="en-US" sz="2200" dirty="0" smtClean="0"/>
              <a:t>; such deadlines frequently result in missed dates.</a:t>
            </a:r>
          </a:p>
          <a:p>
            <a:r>
              <a:rPr lang="en-US" sz="2200" dirty="0" smtClean="0"/>
              <a:t>Instead, we focus </a:t>
            </a:r>
            <a:r>
              <a:rPr lang="en-US" sz="2200" u="sng" dirty="0" smtClean="0"/>
              <a:t>each release</a:t>
            </a:r>
            <a:r>
              <a:rPr lang="en-US" sz="2200" dirty="0" smtClean="0"/>
              <a:t> on a small set of </a:t>
            </a:r>
            <a:r>
              <a:rPr lang="en-US" sz="2200" i="1" dirty="0" smtClean="0">
                <a:solidFill>
                  <a:srgbClr val="C00000"/>
                </a:solidFill>
              </a:rPr>
              <a:t>minimum releasable features</a:t>
            </a:r>
            <a:r>
              <a:rPr lang="en-US" sz="2200" dirty="0" smtClean="0"/>
              <a:t> (MRFs) around which the stakeholder community shares a strong group consensus.</a:t>
            </a:r>
            <a:endParaRPr lang="en-US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5181600"/>
            <a:ext cx="7698105" cy="965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Roadmap Duration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/>
          <a:lstStyle/>
          <a:p>
            <a:r>
              <a:rPr lang="en-US" sz="2200" dirty="0" smtClean="0"/>
              <a:t>When using Scrum, we produce the product roadmap as far into the future as is </a:t>
            </a:r>
            <a:r>
              <a:rPr lang="en-US" sz="2200" i="1" dirty="0" smtClean="0">
                <a:solidFill>
                  <a:srgbClr val="C00000"/>
                </a:solidFill>
              </a:rPr>
              <a:t>reasonable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desirable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How far</a:t>
            </a:r>
            <a:r>
              <a:rPr lang="en-US" sz="2200" dirty="0" smtClean="0"/>
              <a:t> into the future your roadmap should extend will depend on your particular circumstances.</a:t>
            </a:r>
          </a:p>
          <a:p>
            <a:r>
              <a:rPr lang="en-US" sz="2200" dirty="0" smtClean="0"/>
              <a:t>At a minimum, your roadmap will probably need to cover at least the span of time you are asking people to </a:t>
            </a:r>
            <a:r>
              <a:rPr lang="en-US" sz="2200" i="1" dirty="0" smtClean="0">
                <a:solidFill>
                  <a:srgbClr val="C00000"/>
                </a:solidFill>
              </a:rPr>
              <a:t>fund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8075" y="3930650"/>
            <a:ext cx="4387850" cy="262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pinnacle-plan.com/wp-content/uploads/2013/03/Plan-Document-Icon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343400"/>
            <a:ext cx="1866900" cy="188976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Release Planning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Release planning</a:t>
            </a:r>
            <a:r>
              <a:rPr lang="en-US" sz="2000" dirty="0" smtClean="0"/>
              <a:t> is </a:t>
            </a:r>
            <a:r>
              <a:rPr lang="en-US" sz="2000" u="sng" dirty="0" smtClean="0"/>
              <a:t>longer-term planning</a:t>
            </a:r>
            <a:r>
              <a:rPr lang="en-US" sz="2000" dirty="0" smtClean="0"/>
              <a:t> that enables us to answer questions like “</a:t>
            </a:r>
            <a:r>
              <a:rPr lang="en-US" sz="2000" u="sng" dirty="0" smtClean="0"/>
              <a:t>When</a:t>
            </a:r>
            <a:r>
              <a:rPr lang="en-US" sz="2000" dirty="0" smtClean="0"/>
              <a:t> will we be done?” or “</a:t>
            </a:r>
            <a:r>
              <a:rPr lang="en-US" sz="2000" u="sng" dirty="0" smtClean="0"/>
              <a:t>Which features</a:t>
            </a:r>
            <a:r>
              <a:rPr lang="en-US" sz="2000" dirty="0" smtClean="0"/>
              <a:t> can I get by the end of the year?” or “</a:t>
            </a:r>
            <a:r>
              <a:rPr lang="en-US" sz="2000" u="sng" dirty="0" smtClean="0"/>
              <a:t>How much</a:t>
            </a:r>
            <a:r>
              <a:rPr lang="en-US" sz="2000" dirty="0" smtClean="0"/>
              <a:t> will this cost?”</a:t>
            </a:r>
          </a:p>
          <a:p>
            <a:r>
              <a:rPr lang="en-US" sz="2000" dirty="0" smtClean="0"/>
              <a:t>Release planning is </a:t>
            </a:r>
            <a:r>
              <a:rPr lang="en-US" sz="2000" i="1" dirty="0" smtClean="0">
                <a:solidFill>
                  <a:srgbClr val="C00000"/>
                </a:solidFill>
              </a:rPr>
              <a:t>not</a:t>
            </a:r>
            <a:r>
              <a:rPr lang="en-US" sz="2000" dirty="0" smtClean="0"/>
              <a:t> a </a:t>
            </a:r>
            <a:r>
              <a:rPr lang="en-US" sz="2000" u="sng" dirty="0" smtClean="0"/>
              <a:t>one-time event</a:t>
            </a:r>
            <a:r>
              <a:rPr lang="en-US" sz="2000" dirty="0" smtClean="0"/>
              <a:t> but rather a frequent, every-sprint activity.</a:t>
            </a:r>
          </a:p>
          <a:p>
            <a:r>
              <a:rPr lang="en-US" sz="2000" u="sng" dirty="0" smtClean="0"/>
              <a:t>Each release</a:t>
            </a:r>
            <a:r>
              <a:rPr lang="en-US" sz="2000" dirty="0" smtClean="0"/>
              <a:t> should have a well-defined set of </a:t>
            </a:r>
            <a:r>
              <a:rPr lang="en-US" sz="2000" i="1" dirty="0" smtClean="0">
                <a:solidFill>
                  <a:srgbClr val="C00000"/>
                </a:solidFill>
              </a:rPr>
              <a:t>minimum releasable features</a:t>
            </a:r>
            <a:r>
              <a:rPr lang="en-US" sz="2000" dirty="0" smtClean="0"/>
              <a:t> (MRFs).</a:t>
            </a:r>
          </a:p>
          <a:p>
            <a:endParaRPr lang="en-US" sz="20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981450"/>
            <a:ext cx="541020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Prioritize Backlog Items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</p:spPr>
        <p:txBody>
          <a:bodyPr/>
          <a:lstStyle/>
          <a:p>
            <a:r>
              <a:rPr lang="en-US" sz="2400" dirty="0" smtClean="0"/>
              <a:t>Use a story </a:t>
            </a:r>
            <a:r>
              <a:rPr lang="en-US" sz="2400" dirty="0" smtClean="0"/>
              <a:t>map (busines</a:t>
            </a:r>
            <a:r>
              <a:rPr lang="en-US" sz="2400" dirty="0" smtClean="0"/>
              <a:t>s workflows)</a:t>
            </a:r>
            <a:r>
              <a:rPr lang="en-US" sz="2400" dirty="0" smtClean="0"/>
              <a:t> </a:t>
            </a:r>
            <a:r>
              <a:rPr lang="en-US" sz="2400" dirty="0" smtClean="0"/>
              <a:t>to determine business value.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4075" y="1828800"/>
            <a:ext cx="31083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 Sprint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</p:spPr>
        <p:txBody>
          <a:bodyPr/>
          <a:lstStyle/>
          <a:p>
            <a:r>
              <a:rPr lang="en-US" sz="1800" dirty="0" smtClean="0"/>
              <a:t>During </a:t>
            </a:r>
            <a:r>
              <a:rPr lang="en-US" sz="1800" u="sng" dirty="0" smtClean="0"/>
              <a:t>release planning</a:t>
            </a:r>
            <a:r>
              <a:rPr lang="en-US" sz="1800" dirty="0" smtClean="0"/>
              <a:t> many organizations also produce a </a:t>
            </a:r>
            <a:r>
              <a:rPr lang="en-US" sz="1800" i="1" dirty="0" smtClean="0">
                <a:solidFill>
                  <a:srgbClr val="C00000"/>
                </a:solidFill>
              </a:rPr>
              <a:t>sprint map</a:t>
            </a:r>
            <a:r>
              <a:rPr lang="en-US" sz="1800" dirty="0" smtClean="0"/>
              <a:t>, indicating in which sprint some or many of the product backlog items might be created.</a:t>
            </a:r>
          </a:p>
          <a:p>
            <a:r>
              <a:rPr lang="en-US" sz="1800" dirty="0" smtClean="0"/>
              <a:t>Using our </a:t>
            </a:r>
            <a:r>
              <a:rPr lang="en-US" sz="1800" u="sng" dirty="0" smtClean="0"/>
              <a:t>team's </a:t>
            </a:r>
            <a:r>
              <a:rPr lang="en-US" sz="1800" u="sng" dirty="0" smtClean="0"/>
              <a:t>velocity</a:t>
            </a:r>
            <a:r>
              <a:rPr lang="en-US" sz="1800" dirty="0" smtClean="0"/>
              <a:t>, we can </a:t>
            </a:r>
            <a:r>
              <a:rPr lang="en-US" sz="1800" i="1" dirty="0" smtClean="0">
                <a:solidFill>
                  <a:srgbClr val="C00000"/>
                </a:solidFill>
              </a:rPr>
              <a:t>approximate</a:t>
            </a:r>
            <a:r>
              <a:rPr lang="en-US" sz="1800" dirty="0" smtClean="0"/>
              <a:t> a set of product backlog items for each sprint by grouping  together items whose aggregate </a:t>
            </a:r>
            <a:r>
              <a:rPr lang="en-US" sz="1800" u="sng" dirty="0" smtClean="0"/>
              <a:t>size</a:t>
            </a:r>
            <a:r>
              <a:rPr lang="en-US" sz="1800" dirty="0" smtClean="0"/>
              <a:t> roughly </a:t>
            </a:r>
            <a:r>
              <a:rPr lang="en-US" sz="1800" u="sng" dirty="0" smtClean="0"/>
              <a:t>equals</a:t>
            </a:r>
            <a:r>
              <a:rPr lang="en-US" sz="1800" dirty="0" smtClean="0"/>
              <a:t> the </a:t>
            </a:r>
            <a:r>
              <a:rPr lang="en-US" sz="1800" dirty="0" smtClean="0"/>
              <a:t>team's </a:t>
            </a:r>
            <a:r>
              <a:rPr lang="en-US" sz="1800" dirty="0" smtClean="0"/>
              <a:t>average velocity.</a:t>
            </a:r>
            <a:endParaRPr lang="en-US" sz="1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1752600"/>
            <a:ext cx="5032375" cy="379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724400" y="5791200"/>
            <a:ext cx="38891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+mj-lt"/>
              </a:rPr>
              <a:t>Sprint Mapping (PBI Slotting)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5. Create a Preliminary Release </a:t>
            </a:r>
            <a:r>
              <a:rPr lang="en-US" sz="4200" dirty="0" smtClean="0"/>
              <a:t>Plan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Before starting a release, many organizations that use Scrum conduct </a:t>
            </a:r>
            <a:r>
              <a:rPr lang="en-US" sz="2200" i="1" dirty="0" smtClean="0">
                <a:solidFill>
                  <a:srgbClr val="C00000"/>
                </a:solidFill>
              </a:rPr>
              <a:t>initial release planning</a:t>
            </a:r>
            <a:r>
              <a:rPr lang="en-US" sz="2200" dirty="0" smtClean="0"/>
              <a:t> to create a </a:t>
            </a:r>
            <a:r>
              <a:rPr lang="en-US" sz="2200" i="1" dirty="0" smtClean="0">
                <a:solidFill>
                  <a:srgbClr val="C00000"/>
                </a:solidFill>
              </a:rPr>
              <a:t>preliminary release plan</a:t>
            </a:r>
            <a:r>
              <a:rPr lang="en-US" sz="2200" dirty="0" smtClean="0"/>
              <a:t>.</a:t>
            </a:r>
          </a:p>
          <a:p>
            <a:r>
              <a:rPr lang="en-US" sz="2200" b="1" dirty="0" smtClean="0"/>
              <a:t>Scrum release vs. product release.</a:t>
            </a:r>
          </a:p>
          <a:p>
            <a:endParaRPr lang="en-US" sz="2200" dirty="0"/>
          </a:p>
        </p:txBody>
      </p:sp>
      <p:sp>
        <p:nvSpPr>
          <p:cNvPr id="5" name="Left Arrow 4"/>
          <p:cNvSpPr/>
          <p:nvPr/>
        </p:nvSpPr>
        <p:spPr>
          <a:xfrm>
            <a:off x="6324600" y="3511550"/>
            <a:ext cx="1905000" cy="22860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Different release cadences</a:t>
            </a:r>
            <a:endParaRPr lang="en-US" sz="2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130550"/>
            <a:ext cx="5133975" cy="296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dirty="0" smtClean="0"/>
              <a:t>Preliminary Release </a:t>
            </a:r>
            <a:r>
              <a:rPr lang="en-US" dirty="0" smtClean="0"/>
              <a:t>Plan</a:t>
            </a:r>
            <a:endParaRPr lang="en-US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685800" y="1828800"/>
          <a:ext cx="78486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Identify Release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sz="2200" dirty="0" smtClean="0"/>
              <a:t>In Scrum, we </a:t>
            </a:r>
            <a:r>
              <a:rPr lang="en-US" sz="2200" dirty="0" smtClean="0"/>
              <a:t>don't </a:t>
            </a:r>
            <a:r>
              <a:rPr lang="en-US" sz="2200" dirty="0" smtClean="0"/>
              <a:t>believe </a:t>
            </a:r>
            <a:r>
              <a:rPr lang="en-US" sz="2200" dirty="0" smtClean="0"/>
              <a:t>it's </a:t>
            </a:r>
            <a:r>
              <a:rPr lang="en-US" sz="2200" dirty="0" smtClean="0"/>
              <a:t>possible to get it </a:t>
            </a:r>
            <a:r>
              <a:rPr lang="en-US" sz="2200" u="sng" dirty="0" smtClean="0"/>
              <a:t>all right up front</a:t>
            </a:r>
            <a:r>
              <a:rPr lang="en-US" sz="2200" dirty="0" smtClean="0"/>
              <a:t>; consequently, we also contend that a fixed-everything approach </a:t>
            </a:r>
            <a:r>
              <a:rPr lang="en-US" sz="2200" i="1" dirty="0" smtClean="0">
                <a:solidFill>
                  <a:srgbClr val="C00000"/>
                </a:solidFill>
              </a:rPr>
              <a:t>probably </a:t>
            </a:r>
            <a:r>
              <a:rPr lang="en-US" sz="2200" i="1" dirty="0" smtClean="0">
                <a:solidFill>
                  <a:srgbClr val="C00000"/>
                </a:solidFill>
              </a:rPr>
              <a:t>won't </a:t>
            </a:r>
            <a:r>
              <a:rPr lang="en-US" sz="2200" i="1" dirty="0" smtClean="0">
                <a:solidFill>
                  <a:srgbClr val="C00000"/>
                </a:solidFill>
              </a:rPr>
              <a:t>work</a:t>
            </a:r>
            <a:r>
              <a:rPr lang="en-US" sz="2200" dirty="0" smtClean="0"/>
              <a:t>.</a:t>
            </a:r>
          </a:p>
          <a:p>
            <a:pPr lvl="0">
              <a:defRPr/>
            </a:pPr>
            <a:r>
              <a:rPr lang="en-US" sz="2200" dirty="0" smtClean="0"/>
              <a:t>Fixing scope and date and allowing the budget to be flexible assumes that </a:t>
            </a:r>
            <a:r>
              <a:rPr lang="en-US" sz="2200" i="1" dirty="0" smtClean="0">
                <a:solidFill>
                  <a:srgbClr val="C00000"/>
                </a:solidFill>
              </a:rPr>
              <a:t>applying more resources</a:t>
            </a:r>
            <a:r>
              <a:rPr lang="en-US" sz="2200" dirty="0" smtClean="0"/>
              <a:t> to a problem will increase the amount of work we accomplish and/or reduce the amount of time it takes to perform the work.</a:t>
            </a:r>
          </a:p>
          <a:p>
            <a:endParaRPr lang="en-US" sz="2200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/>
        </p:nvGraphicFramePr>
        <p:xfrm>
          <a:off x="304800" y="4343400"/>
          <a:ext cx="8517801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6910"/>
                <a:gridCol w="1004260"/>
                <a:gridCol w="1004260"/>
                <a:gridCol w="2012371"/>
              </a:tblGrid>
              <a:tr h="142240"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Project Type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Scope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 everything (not recommended)</a:t>
                      </a:r>
                      <a:endParaRPr lang="en-US" sz="20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en-US" sz="20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en-US" sz="20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en-US" sz="20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 scope and date (not recommended)</a:t>
                      </a:r>
                      <a:endParaRPr lang="en-US" sz="20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en-US" sz="20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en-US" sz="20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Flexible</a:t>
                      </a:r>
                      <a:endParaRPr lang="en-US" sz="20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 scope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Flexible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 (not really)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 date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Flexible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>
            <a:off x="2743200" y="2362200"/>
            <a:ext cx="838200" cy="2438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495800" y="3810000"/>
            <a:ext cx="457200" cy="1371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7a. </a:t>
            </a:r>
            <a:r>
              <a:rPr lang="en-US" sz="3800" dirty="0" smtClean="0"/>
              <a:t>Create a Fixed-Date Release Plan (I)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Determine </a:t>
            </a:r>
            <a:r>
              <a:rPr lang="en-US" sz="2400" i="1" dirty="0" smtClean="0">
                <a:solidFill>
                  <a:srgbClr val="C00000"/>
                </a:solidFill>
              </a:rPr>
              <a:t>how many sprints</a:t>
            </a:r>
            <a:r>
              <a:rPr lang="en-US" sz="2400" dirty="0" smtClean="0"/>
              <a:t> are in this release.</a:t>
            </a:r>
          </a:p>
          <a:p>
            <a:r>
              <a:rPr lang="en-US" sz="2400" dirty="0" smtClean="0"/>
              <a:t>Groom the product backlog to a sufficient depth by creating, </a:t>
            </a:r>
            <a:r>
              <a:rPr lang="en-US" sz="2400" i="1" dirty="0" smtClean="0">
                <a:solidFill>
                  <a:srgbClr val="C00000"/>
                </a:solidFill>
              </a:rPr>
              <a:t>estimating the size</a:t>
            </a:r>
            <a:r>
              <a:rPr lang="en-US" sz="2400" dirty="0" smtClean="0"/>
              <a:t> of, and </a:t>
            </a:r>
            <a:r>
              <a:rPr lang="en-US" sz="2400" i="1" dirty="0" smtClean="0">
                <a:solidFill>
                  <a:srgbClr val="C00000"/>
                </a:solidFill>
              </a:rPr>
              <a:t>prioritizing</a:t>
            </a:r>
            <a:r>
              <a:rPr lang="en-US" sz="2400" dirty="0" smtClean="0"/>
              <a:t> product backlog items.</a:t>
            </a:r>
          </a:p>
          <a:p>
            <a:r>
              <a:rPr lang="en-US" sz="2400" u="sng" dirty="0" smtClean="0"/>
              <a:t>Measure</a:t>
            </a:r>
            <a:r>
              <a:rPr lang="en-US" sz="2400" dirty="0" smtClean="0"/>
              <a:t> or estimate the </a:t>
            </a:r>
            <a:r>
              <a:rPr lang="en-US" sz="2400" i="1" dirty="0" smtClean="0">
                <a:solidFill>
                  <a:srgbClr val="C00000"/>
                </a:solidFill>
              </a:rPr>
              <a:t>team's </a:t>
            </a:r>
            <a:r>
              <a:rPr lang="en-US" sz="2400" i="1" dirty="0" smtClean="0">
                <a:solidFill>
                  <a:srgbClr val="C00000"/>
                </a:solidFill>
              </a:rPr>
              <a:t>velocity</a:t>
            </a:r>
            <a:r>
              <a:rPr lang="en-US" sz="2400" dirty="0" smtClean="0"/>
              <a:t> as a </a:t>
            </a:r>
            <a:r>
              <a:rPr lang="en-US" sz="2400" u="sng" dirty="0" smtClean="0"/>
              <a:t>range</a:t>
            </a:r>
            <a:r>
              <a:rPr lang="en-US" sz="2400" dirty="0" smtClean="0"/>
              <a:t> (i.e. determine an average faster and an average slower velocity for the team).</a:t>
            </a:r>
          </a:p>
          <a:p>
            <a:endParaRPr lang="en-US" sz="2400" dirty="0"/>
          </a:p>
        </p:txBody>
      </p:sp>
      <p:pic>
        <p:nvPicPr>
          <p:cNvPr id="4" name="Picture 4" descr="https://www.oliverwyman.com/content/dam/oliver-wyman/v2/publications/2017/sep/VELOCITY_t_and_L_Journal_1600x602.jpg.imgix.bann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4495800"/>
            <a:ext cx="4267200" cy="16055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7a. </a:t>
            </a:r>
            <a:r>
              <a:rPr lang="en-US" sz="3800" dirty="0" smtClean="0"/>
              <a:t>Create a Fixed-Date Release Plan (II)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r>
              <a:rPr lang="en-US" sz="2400" dirty="0" smtClean="0"/>
              <a:t>Multiply the </a:t>
            </a:r>
            <a:r>
              <a:rPr lang="en-US" sz="2400" i="1" dirty="0" smtClean="0">
                <a:solidFill>
                  <a:srgbClr val="C00000"/>
                </a:solidFill>
              </a:rPr>
              <a:t>slower velocity</a:t>
            </a:r>
            <a:r>
              <a:rPr lang="en-US" sz="2400" dirty="0" smtClean="0"/>
              <a:t> by the number of sprints.</a:t>
            </a:r>
          </a:p>
          <a:p>
            <a:r>
              <a:rPr lang="en-US" sz="2400" dirty="0" smtClean="0"/>
              <a:t>Count down that number of points into the product backlog and draw a line. This is the “</a:t>
            </a:r>
            <a:r>
              <a:rPr lang="en-US" sz="2400" i="1" dirty="0" smtClean="0">
                <a:solidFill>
                  <a:srgbClr val="C00000"/>
                </a:solidFill>
              </a:rPr>
              <a:t>will-have</a:t>
            </a:r>
            <a:r>
              <a:rPr lang="en-US" sz="2400" dirty="0" smtClean="0"/>
              <a:t>” line.</a:t>
            </a:r>
          </a:p>
          <a:p>
            <a:r>
              <a:rPr lang="en-US" sz="2400" dirty="0" smtClean="0"/>
              <a:t>Multiply the </a:t>
            </a:r>
            <a:r>
              <a:rPr lang="en-US" sz="2400" i="1" dirty="0" smtClean="0">
                <a:solidFill>
                  <a:srgbClr val="C00000"/>
                </a:solidFill>
              </a:rPr>
              <a:t>faster velocity</a:t>
            </a:r>
            <a:r>
              <a:rPr lang="en-US" sz="2400" dirty="0" smtClean="0"/>
              <a:t> by the number of sprints.</a:t>
            </a:r>
          </a:p>
          <a:p>
            <a:r>
              <a:rPr lang="en-US" sz="2400" dirty="0" smtClean="0"/>
              <a:t>Count down that number of points into the product backlog and draw a second line. This is the “</a:t>
            </a:r>
            <a:r>
              <a:rPr lang="en-US" sz="2400" i="1" dirty="0" smtClean="0">
                <a:solidFill>
                  <a:srgbClr val="C00000"/>
                </a:solidFill>
              </a:rPr>
              <a:t>might-have</a:t>
            </a:r>
            <a:r>
              <a:rPr lang="en-US" sz="2400" dirty="0" smtClean="0"/>
              <a:t>” line.</a:t>
            </a:r>
            <a:endParaRPr lang="en-US" sz="2400" dirty="0"/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1828800"/>
            <a:ext cx="2743200" cy="392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Should We Proceed This Plan?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r>
              <a:rPr lang="en-US" sz="2400" dirty="0" smtClean="0"/>
              <a:t>This approach illustrates how we can give a </a:t>
            </a:r>
            <a:r>
              <a:rPr lang="en-US" sz="2400" i="1" dirty="0" smtClean="0">
                <a:solidFill>
                  <a:srgbClr val="C00000"/>
                </a:solidFill>
              </a:rPr>
              <a:t>range answer</a:t>
            </a:r>
            <a:r>
              <a:rPr lang="en-US" sz="2400" dirty="0" smtClean="0"/>
              <a:t> to the question “What will I get by the release date?”</a:t>
            </a:r>
          </a:p>
          <a:p>
            <a:r>
              <a:rPr lang="en-US" sz="2400" dirty="0" smtClean="0"/>
              <a:t>Location of </a:t>
            </a:r>
            <a:r>
              <a:rPr lang="en-US" sz="2400" i="1" dirty="0" smtClean="0">
                <a:solidFill>
                  <a:srgbClr val="C00000"/>
                </a:solidFill>
              </a:rPr>
              <a:t>must-have features</a:t>
            </a:r>
            <a:r>
              <a:rPr lang="en-US" sz="2400" dirty="0" smtClean="0"/>
              <a:t> relative to the range of deliverable features:</a:t>
            </a:r>
            <a:endParaRPr lang="en-US" sz="2400" dirty="0"/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333750"/>
            <a:ext cx="631825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7b. </a:t>
            </a:r>
            <a:r>
              <a:rPr lang="en-US" sz="3800" dirty="0" smtClean="0"/>
              <a:t>Create a Fixed-Scope Release Plan (I)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24200"/>
          </a:xfrm>
        </p:spPr>
        <p:txBody>
          <a:bodyPr/>
          <a:lstStyle/>
          <a:p>
            <a:r>
              <a:rPr lang="en-US" sz="2400" dirty="0" smtClean="0"/>
              <a:t>Groom the product backlog to include at least the PBIs we would like in this release by creating, </a:t>
            </a:r>
            <a:r>
              <a:rPr lang="en-US" sz="2400" i="1" dirty="0" smtClean="0">
                <a:solidFill>
                  <a:srgbClr val="C00000"/>
                </a:solidFill>
              </a:rPr>
              <a:t>estimating</a:t>
            </a:r>
            <a:r>
              <a:rPr lang="en-US" sz="2400" dirty="0" smtClean="0"/>
              <a:t> the size of, and </a:t>
            </a:r>
            <a:r>
              <a:rPr lang="en-US" sz="2400" i="1" dirty="0" smtClean="0">
                <a:solidFill>
                  <a:srgbClr val="C00000"/>
                </a:solidFill>
              </a:rPr>
              <a:t>prioritizing</a:t>
            </a:r>
            <a:r>
              <a:rPr lang="en-US" sz="2400" dirty="0" smtClean="0"/>
              <a:t> PBIs.</a:t>
            </a:r>
          </a:p>
          <a:p>
            <a:r>
              <a:rPr lang="en-US" sz="2400" dirty="0" smtClean="0"/>
              <a:t>Determine the </a:t>
            </a:r>
            <a:r>
              <a:rPr lang="en-US" sz="2400" i="1" dirty="0" smtClean="0">
                <a:solidFill>
                  <a:srgbClr val="C00000"/>
                </a:solidFill>
              </a:rPr>
              <a:t>total size</a:t>
            </a:r>
            <a:r>
              <a:rPr lang="en-US" sz="2400" dirty="0" smtClean="0"/>
              <a:t> of the PBIs to be delivered in the release.</a:t>
            </a:r>
          </a:p>
          <a:p>
            <a:r>
              <a:rPr lang="en-US" sz="2400" dirty="0" smtClean="0"/>
              <a:t>Measure or estimate the </a:t>
            </a:r>
            <a:r>
              <a:rPr lang="en-US" sz="2400" dirty="0" smtClean="0"/>
              <a:t>team's </a:t>
            </a:r>
            <a:r>
              <a:rPr lang="en-US" sz="2400" i="1" dirty="0" smtClean="0">
                <a:solidFill>
                  <a:srgbClr val="C00000"/>
                </a:solidFill>
              </a:rPr>
              <a:t>velocity</a:t>
            </a:r>
            <a:r>
              <a:rPr lang="en-US" sz="2400" dirty="0" smtClean="0"/>
              <a:t> as a </a:t>
            </a:r>
            <a:r>
              <a:rPr lang="en-US" sz="2400" u="sng" dirty="0" smtClean="0"/>
              <a:t>range</a:t>
            </a:r>
            <a:r>
              <a:rPr lang="en-US" sz="2400" dirty="0" smtClean="0"/>
              <a:t>. Determine an average faster and an average slower velocity for the team.</a:t>
            </a:r>
          </a:p>
        </p:txBody>
      </p:sp>
      <p:pic>
        <p:nvPicPr>
          <p:cNvPr id="5" name="Picture 4" descr="https://www.oliverwyman.com/content/dam/oliver-wyman/v2/publications/2017/sep/VELOCITY_t_and_L_Journal_1600x602.jpg.imgix.bann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4800600"/>
            <a:ext cx="4267200" cy="16055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7b. </a:t>
            </a:r>
            <a:r>
              <a:rPr lang="en-US" sz="3800" dirty="0" smtClean="0"/>
              <a:t>Create a Fixed-Scope Release Plan (II)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400"/>
          </a:xfrm>
        </p:spPr>
        <p:txBody>
          <a:bodyPr/>
          <a:lstStyle/>
          <a:p>
            <a:r>
              <a:rPr lang="en-US" sz="2400" dirty="0" smtClean="0"/>
              <a:t>Divide the total size of the PBIs by the </a:t>
            </a:r>
            <a:r>
              <a:rPr lang="en-US" sz="2400" i="1" dirty="0" smtClean="0">
                <a:solidFill>
                  <a:srgbClr val="C00000"/>
                </a:solidFill>
              </a:rPr>
              <a:t>faster velocity</a:t>
            </a:r>
            <a:r>
              <a:rPr lang="en-US" sz="2400" dirty="0" smtClean="0"/>
              <a:t> and round up the answer to the next integer. This will tell us the </a:t>
            </a:r>
            <a:r>
              <a:rPr lang="en-US" sz="2400" i="1" dirty="0" smtClean="0">
                <a:solidFill>
                  <a:srgbClr val="C00000"/>
                </a:solidFill>
              </a:rPr>
              <a:t>lowest</a:t>
            </a:r>
            <a:r>
              <a:rPr lang="en-US" sz="2400" dirty="0" smtClean="0"/>
              <a:t> number of sprints required to deliver the features.</a:t>
            </a:r>
          </a:p>
          <a:p>
            <a:r>
              <a:rPr lang="en-US" sz="2400" dirty="0" smtClean="0"/>
              <a:t>Divide the total size of the PBIs by the </a:t>
            </a:r>
            <a:r>
              <a:rPr lang="en-US" sz="2400" i="1" dirty="0" smtClean="0">
                <a:solidFill>
                  <a:srgbClr val="C00000"/>
                </a:solidFill>
              </a:rPr>
              <a:t>slower velocity</a:t>
            </a:r>
            <a:r>
              <a:rPr lang="en-US" sz="2400" dirty="0" smtClean="0"/>
              <a:t> and round up the answer to the next integer. This will tell us the </a:t>
            </a:r>
            <a:r>
              <a:rPr lang="en-US" sz="2400" i="1" dirty="0" smtClean="0">
                <a:solidFill>
                  <a:srgbClr val="C00000"/>
                </a:solidFill>
              </a:rPr>
              <a:t>highest</a:t>
            </a:r>
            <a:r>
              <a:rPr lang="en-US" sz="2400" dirty="0" smtClean="0"/>
              <a:t> number of sprints required to deliver the features.</a:t>
            </a:r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495800"/>
            <a:ext cx="750951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8. Calculate Release Cost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r>
              <a:rPr lang="en-US" sz="2400" dirty="0" smtClean="0"/>
              <a:t>Determine </a:t>
            </a:r>
            <a:r>
              <a:rPr lang="en-US" sz="2400" i="1" dirty="0" smtClean="0">
                <a:solidFill>
                  <a:srgbClr val="C00000"/>
                </a:solidFill>
              </a:rPr>
              <a:t>who</a:t>
            </a:r>
            <a:r>
              <a:rPr lang="en-US" sz="2400" dirty="0" smtClean="0"/>
              <a:t> is on the team.</a:t>
            </a:r>
          </a:p>
          <a:p>
            <a:r>
              <a:rPr lang="en-US" sz="2400" dirty="0" smtClean="0"/>
              <a:t>Determine the </a:t>
            </a:r>
            <a:r>
              <a:rPr lang="en-US" sz="2400" i="1" dirty="0" smtClean="0">
                <a:solidFill>
                  <a:srgbClr val="C00000"/>
                </a:solidFill>
              </a:rPr>
              <a:t>sprint length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Based on team composition and sprint length, determine the personnel </a:t>
            </a:r>
            <a:r>
              <a:rPr lang="en-US" sz="2400" i="1" dirty="0" smtClean="0">
                <a:solidFill>
                  <a:srgbClr val="C00000"/>
                </a:solidFill>
              </a:rPr>
              <a:t>costs of running a sprint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a </a:t>
            </a:r>
            <a:r>
              <a:rPr lang="en-US" sz="2400" i="1" dirty="0" smtClean="0">
                <a:solidFill>
                  <a:srgbClr val="C00000"/>
                </a:solidFill>
              </a:rPr>
              <a:t>fixed-date release</a:t>
            </a:r>
            <a:r>
              <a:rPr lang="en-US" sz="2400" dirty="0" smtClean="0"/>
              <a:t>, multiply the number of sprints in the release by the cost per sprint.</a:t>
            </a:r>
          </a:p>
          <a:p>
            <a:r>
              <a:rPr lang="en-US" sz="2400" dirty="0" smtClean="0"/>
              <a:t>For a </a:t>
            </a:r>
            <a:r>
              <a:rPr lang="en-US" sz="2400" i="1" dirty="0" smtClean="0">
                <a:solidFill>
                  <a:srgbClr val="C00000"/>
                </a:solidFill>
              </a:rPr>
              <a:t>fixed-scope release</a:t>
            </a:r>
            <a:r>
              <a:rPr lang="en-US" sz="2400" dirty="0" smtClean="0"/>
              <a:t>, multiply both the high and low number of sprints by the cost per sprint. The results are the range of personnel costs associated with the release.</a:t>
            </a:r>
            <a:endParaRPr lang="en-US" sz="2400" dirty="0"/>
          </a:p>
        </p:txBody>
      </p:sp>
      <p:pic>
        <p:nvPicPr>
          <p:cNvPr id="122882" name="Picture 2" descr="http://www.dallassprinklerrepairtx.com/wp-content/uploads/2014/09/obamacare-cartoon-6-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2286000"/>
            <a:ext cx="1828800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en-US" sz="3800" dirty="0" smtClean="0"/>
              <a:t>9. Create Project (Release) Estimate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Project: XYZ.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Start</a:t>
            </a:r>
            <a:r>
              <a:rPr lang="en-US" sz="2400" dirty="0" smtClean="0"/>
              <a:t>: 09/06/21. </a:t>
            </a:r>
            <a:r>
              <a:rPr lang="en-US" sz="2400" i="1" dirty="0" smtClean="0">
                <a:solidFill>
                  <a:srgbClr val="C00000"/>
                </a:solidFill>
              </a:rPr>
              <a:t>Finish</a:t>
            </a:r>
            <a:r>
              <a:rPr lang="en-US" sz="2400" dirty="0" smtClean="0"/>
              <a:t>: 12/27/21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Size</a:t>
            </a:r>
            <a:r>
              <a:rPr lang="en-US" sz="2400" dirty="0" smtClean="0"/>
              <a:t>: 720 points. </a:t>
            </a:r>
            <a:r>
              <a:rPr lang="en-US" sz="2400" i="1" dirty="0" smtClean="0">
                <a:solidFill>
                  <a:srgbClr val="C00000"/>
                </a:solidFill>
              </a:rPr>
              <a:t>Duration</a:t>
            </a:r>
            <a:r>
              <a:rPr lang="en-US" sz="2400" dirty="0" smtClean="0"/>
              <a:t>: 80 days. </a:t>
            </a:r>
            <a:r>
              <a:rPr lang="en-US" sz="2400" i="1" dirty="0" smtClean="0">
                <a:solidFill>
                  <a:srgbClr val="C00000"/>
                </a:solidFill>
              </a:rPr>
              <a:t>Cost</a:t>
            </a:r>
            <a:r>
              <a:rPr lang="en-US" sz="2400" dirty="0" smtClean="0"/>
              <a:t>: $61580.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Milestones</a:t>
            </a:r>
            <a:r>
              <a:rPr lang="en-US" sz="2400" dirty="0" smtClean="0"/>
              <a:t>:</a:t>
            </a:r>
          </a:p>
          <a:p>
            <a:pPr lvl="1"/>
            <a:r>
              <a:rPr lang="en-US" sz="2200" dirty="0" smtClean="0"/>
              <a:t>Milestone 1: 09/20/21: Story 1, Story 2, Story 3 (10 days)</a:t>
            </a:r>
          </a:p>
          <a:p>
            <a:pPr lvl="1"/>
            <a:r>
              <a:rPr lang="en-US" sz="2200" dirty="0" smtClean="0"/>
              <a:t>Milestone 2: 10/04/21: Story 4, Story 5 (10 days)</a:t>
            </a:r>
          </a:p>
          <a:p>
            <a:pPr lvl="1"/>
            <a:r>
              <a:rPr lang="en-US" sz="2200" dirty="0" smtClean="0"/>
              <a:t>Milestone 3: 11/01/21: Story 6, Story 7 (20 days)</a:t>
            </a:r>
          </a:p>
          <a:p>
            <a:pPr lvl="1"/>
            <a:r>
              <a:rPr lang="en-US" sz="2200" dirty="0" smtClean="0"/>
              <a:t>Milestone 4: 11/29/21: Story 8 (20 days)</a:t>
            </a:r>
          </a:p>
          <a:p>
            <a:pPr lvl="1"/>
            <a:r>
              <a:rPr lang="en-US" sz="2200" dirty="0" smtClean="0"/>
              <a:t>Milestone 5: 12/27/21: Story 9 (20 days)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Prepare for Release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Definition of </a:t>
            </a:r>
            <a:r>
              <a:rPr lang="en-US" sz="2200" i="1" dirty="0" smtClean="0">
                <a:solidFill>
                  <a:srgbClr val="C00000"/>
                </a:solidFill>
              </a:rPr>
              <a:t>project team(s)</a:t>
            </a:r>
            <a:r>
              <a:rPr lang="en-US" sz="2200" dirty="0" smtClean="0"/>
              <a:t> for the building of the new release.</a:t>
            </a:r>
          </a:p>
          <a:p>
            <a:r>
              <a:rPr lang="en-US" sz="2200" dirty="0" smtClean="0"/>
              <a:t>Assessment of risk and appropriate </a:t>
            </a:r>
            <a:r>
              <a:rPr lang="en-US" sz="2200" i="1" dirty="0" smtClean="0">
                <a:solidFill>
                  <a:srgbClr val="C00000"/>
                </a:solidFill>
              </a:rPr>
              <a:t>risk controls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Validation or reselection of </a:t>
            </a:r>
            <a:r>
              <a:rPr lang="en-US" sz="2200" i="1" dirty="0" smtClean="0">
                <a:solidFill>
                  <a:srgbClr val="C00000"/>
                </a:solidFill>
              </a:rPr>
              <a:t>development tools</a:t>
            </a:r>
            <a:r>
              <a:rPr lang="en-US" sz="2200" dirty="0" smtClean="0"/>
              <a:t> and infrastructure.</a:t>
            </a:r>
          </a:p>
          <a:p>
            <a:r>
              <a:rPr lang="en-US" sz="2200" dirty="0" smtClean="0"/>
              <a:t>Estimation of </a:t>
            </a:r>
            <a:r>
              <a:rPr lang="en-US" sz="2200" i="1" dirty="0" smtClean="0">
                <a:solidFill>
                  <a:srgbClr val="C00000"/>
                </a:solidFill>
              </a:rPr>
              <a:t>release cost</a:t>
            </a:r>
            <a:r>
              <a:rPr lang="en-US" sz="2200" dirty="0" smtClean="0"/>
              <a:t>, including development, collateral material, marketing, training, and rollout.</a:t>
            </a:r>
          </a:p>
          <a:p>
            <a:r>
              <a:rPr lang="en-US" sz="2200" dirty="0" smtClean="0"/>
              <a:t>Verification of </a:t>
            </a:r>
            <a:r>
              <a:rPr lang="en-US" sz="2200" i="1" dirty="0" smtClean="0">
                <a:solidFill>
                  <a:srgbClr val="C00000"/>
                </a:solidFill>
              </a:rPr>
              <a:t>management approval</a:t>
            </a:r>
            <a:r>
              <a:rPr lang="en-US" sz="2200" dirty="0" smtClean="0"/>
              <a:t> and funding.</a:t>
            </a:r>
          </a:p>
          <a:p>
            <a:endParaRPr lang="en-US" sz="2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343400"/>
            <a:ext cx="33147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400" dirty="0" smtClean="0"/>
              <a:t>11. Create a System Architecture for Release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29000"/>
          </a:xfrm>
        </p:spPr>
        <p:txBody>
          <a:bodyPr/>
          <a:lstStyle/>
          <a:p>
            <a:r>
              <a:rPr lang="en-US" sz="2200" dirty="0" smtClean="0"/>
              <a:t>Review </a:t>
            </a:r>
            <a:r>
              <a:rPr lang="en-US" sz="2200" i="1" dirty="0" smtClean="0">
                <a:solidFill>
                  <a:srgbClr val="C00000"/>
                </a:solidFill>
              </a:rPr>
              <a:t>assigned</a:t>
            </a:r>
            <a:r>
              <a:rPr lang="en-US" sz="2200" dirty="0" smtClean="0"/>
              <a:t> backlog items.</a:t>
            </a:r>
          </a:p>
          <a:p>
            <a:r>
              <a:rPr lang="en-US" sz="2200" dirty="0" smtClean="0"/>
              <a:t>Identify changes necessary to </a:t>
            </a:r>
            <a:r>
              <a:rPr lang="en-US" sz="2200" i="1" dirty="0" smtClean="0">
                <a:solidFill>
                  <a:srgbClr val="C00000"/>
                </a:solidFill>
              </a:rPr>
              <a:t>implement</a:t>
            </a:r>
            <a:r>
              <a:rPr lang="en-US" sz="2200" dirty="0" smtClean="0"/>
              <a:t> backlog items.</a:t>
            </a:r>
          </a:p>
          <a:p>
            <a:r>
              <a:rPr lang="en-US" sz="2200" dirty="0" smtClean="0"/>
              <a:t>Perform </a:t>
            </a:r>
            <a:r>
              <a:rPr lang="en-US" sz="2200" i="1" dirty="0" smtClean="0">
                <a:solidFill>
                  <a:srgbClr val="C00000"/>
                </a:solidFill>
              </a:rPr>
              <a:t>domain analysis</a:t>
            </a:r>
            <a:r>
              <a:rPr lang="en-US" sz="2200" dirty="0" smtClean="0"/>
              <a:t> to the extent required to build, enhance, or update the domain models to reflect the new system context and requirements.</a:t>
            </a:r>
          </a:p>
          <a:p>
            <a:r>
              <a:rPr lang="en-US" sz="2200" dirty="0" smtClean="0"/>
              <a:t>Refine the </a:t>
            </a:r>
            <a:r>
              <a:rPr lang="en-US" sz="2200" i="1" dirty="0" smtClean="0">
                <a:solidFill>
                  <a:srgbClr val="C00000"/>
                </a:solidFill>
              </a:rPr>
              <a:t>system architecture</a:t>
            </a:r>
            <a:r>
              <a:rPr lang="en-US" sz="2200" dirty="0" smtClean="0"/>
              <a:t> to support the new context and requirements.</a:t>
            </a:r>
          </a:p>
          <a:p>
            <a:r>
              <a:rPr lang="en-US" sz="2200" dirty="0" smtClean="0"/>
              <a:t>Identify any </a:t>
            </a:r>
            <a:r>
              <a:rPr lang="en-US" sz="2200" i="1" dirty="0" smtClean="0">
                <a:solidFill>
                  <a:srgbClr val="C00000"/>
                </a:solidFill>
              </a:rPr>
              <a:t>problems</a:t>
            </a:r>
            <a:r>
              <a:rPr lang="en-US" sz="2200" dirty="0" smtClean="0"/>
              <a:t> or issues in developing or implementing the changes.</a:t>
            </a:r>
          </a:p>
        </p:txBody>
      </p:sp>
      <p:pic>
        <p:nvPicPr>
          <p:cNvPr id="19458" name="Picture 2" descr="https://s-media-cache-ak0.pinimg.com/236x/eb/a6/4c/eba64c8d3572d4340879a27066f0117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4724400"/>
            <a:ext cx="2247900" cy="1876425"/>
          </a:xfrm>
          <a:prstGeom prst="rect">
            <a:avLst/>
          </a:prstGeom>
          <a:noFill/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5029200"/>
            <a:ext cx="58674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Design </a:t>
            </a:r>
            <a:r>
              <a:rPr kumimoji="0" lang="en-US" sz="2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review meeting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each team presenting approach and changes to implement each backlog item. Reassign changes as required.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How Should Architectural Design Be Done?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Often the architect identifies </a:t>
            </a:r>
            <a:r>
              <a:rPr lang="en-US" sz="2400" i="1" dirty="0" smtClean="0">
                <a:solidFill>
                  <a:srgbClr val="C00000"/>
                </a:solidFill>
              </a:rPr>
              <a:t>the major components</a:t>
            </a:r>
            <a:r>
              <a:rPr lang="en-US" sz="2400" dirty="0" smtClean="0"/>
              <a:t> then defines </a:t>
            </a:r>
            <a:r>
              <a:rPr lang="en-US" sz="2400" i="1" dirty="0" smtClean="0">
                <a:solidFill>
                  <a:srgbClr val="C00000"/>
                </a:solidFill>
              </a:rPr>
              <a:t>the interfaces between them</a:t>
            </a:r>
            <a:r>
              <a:rPr lang="en-US" sz="2400" dirty="0" smtClean="0"/>
              <a:t> (including nonfunctional requirements like security, speed and reliability) and </a:t>
            </a:r>
            <a:r>
              <a:rPr lang="en-US" sz="2400" u="sng" dirty="0" smtClean="0"/>
              <a:t>delegates the internal design</a:t>
            </a:r>
            <a:r>
              <a:rPr lang="en-US" sz="2400" dirty="0" smtClean="0"/>
              <a:t> of the components to individual teams.</a:t>
            </a:r>
          </a:p>
          <a:p>
            <a:r>
              <a:rPr lang="en-US" sz="2400" dirty="0" smtClean="0"/>
              <a:t>An overview consisting of a </a:t>
            </a:r>
            <a:r>
              <a:rPr lang="en-US" sz="2400" i="1" dirty="0" smtClean="0">
                <a:solidFill>
                  <a:srgbClr val="C00000"/>
                </a:solidFill>
              </a:rPr>
              <a:t>high level network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component diagram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a page of text</a:t>
            </a:r>
            <a:r>
              <a:rPr lang="en-US" sz="2400" dirty="0" smtClean="0"/>
              <a:t>. This is for a very wide audience, from upper management down to dev and QA. This </a:t>
            </a:r>
            <a:r>
              <a:rPr lang="en-US" sz="2400" i="1" dirty="0" smtClean="0">
                <a:solidFill>
                  <a:srgbClr val="C00000"/>
                </a:solidFill>
              </a:rPr>
              <a:t>rarely uses UML</a:t>
            </a:r>
            <a:r>
              <a:rPr lang="en-US" sz="2400" dirty="0" smtClean="0"/>
              <a:t> or a defined notation due to the </a:t>
            </a:r>
            <a:r>
              <a:rPr lang="en-US" sz="2400" u="sng" dirty="0" smtClean="0"/>
              <a:t>wide audience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agile environments, </a:t>
            </a:r>
            <a:r>
              <a:rPr lang="en-US" sz="2400" i="1" dirty="0" smtClean="0">
                <a:solidFill>
                  <a:srgbClr val="C00000"/>
                </a:solidFill>
              </a:rPr>
              <a:t>less of the design</a:t>
            </a:r>
            <a:r>
              <a:rPr lang="en-US" sz="2400" dirty="0" smtClean="0"/>
              <a:t> is done </a:t>
            </a:r>
            <a:r>
              <a:rPr lang="en-US" sz="2400" u="sng" dirty="0" smtClean="0"/>
              <a:t>upfront</a:t>
            </a:r>
            <a:r>
              <a:rPr lang="en-US" sz="2400" dirty="0" smtClean="0"/>
              <a:t> and more of it is delegated to component teams.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12. Execute the Iteration 0 [4]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00200"/>
            <a:ext cx="7207250" cy="458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Sprint Planning [1]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28800"/>
            <a:ext cx="7898130" cy="352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905000" y="5558135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Commitment-Driven Iteration Planning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13. Create a Sprint Backlog</a:t>
            </a:r>
            <a:endParaRPr lang="en-US" dirty="0"/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457200" y="1513582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The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sprint backlog</a:t>
            </a:r>
            <a:r>
              <a:rPr lang="en-US" sz="2400" dirty="0" smtClean="0">
                <a:latin typeface="+mj-lt"/>
              </a:rPr>
              <a:t> is the </a:t>
            </a:r>
            <a:r>
              <a:rPr lang="en-US" sz="2400" u="sng" dirty="0" smtClean="0">
                <a:latin typeface="+mj-lt"/>
              </a:rPr>
              <a:t>list of work</a:t>
            </a:r>
            <a:r>
              <a:rPr lang="en-US" sz="2400" dirty="0" smtClean="0">
                <a:latin typeface="+mj-lt"/>
              </a:rPr>
              <a:t> the team must address during the </a:t>
            </a:r>
            <a:r>
              <a:rPr lang="en-US" sz="2400" u="sng" dirty="0" smtClean="0">
                <a:latin typeface="+mj-lt"/>
              </a:rPr>
              <a:t>next sprint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667000"/>
            <a:ext cx="3326130" cy="3634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14. Create Sprint 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Features</a:t>
            </a:r>
            <a:r>
              <a:rPr lang="en-US" sz="2200" dirty="0" smtClean="0"/>
              <a:t> are broken down into tasks, which, as a best practice, should normally be between </a:t>
            </a:r>
            <a:r>
              <a:rPr lang="en-US" sz="2200" u="sng" dirty="0" smtClean="0"/>
              <a:t>four</a:t>
            </a:r>
            <a:r>
              <a:rPr lang="en-US" sz="2200" dirty="0" smtClean="0"/>
              <a:t> and </a:t>
            </a:r>
            <a:r>
              <a:rPr lang="en-US" sz="2200" u="sng" dirty="0" smtClean="0"/>
              <a:t>sixteen hours</a:t>
            </a:r>
            <a:r>
              <a:rPr lang="en-US" sz="2200" dirty="0" smtClean="0"/>
              <a:t> of work.</a:t>
            </a:r>
          </a:p>
          <a:p>
            <a:r>
              <a:rPr lang="en-US" sz="2200" dirty="0" smtClean="0"/>
              <a:t>Individuals do not sign up for tasks until the iteration begins and generally only </a:t>
            </a:r>
            <a:r>
              <a:rPr lang="en-US" sz="2200" i="1" dirty="0" smtClean="0">
                <a:solidFill>
                  <a:srgbClr val="C00000"/>
                </a:solidFill>
              </a:rPr>
              <a:t>sign up for one</a:t>
            </a:r>
            <a:r>
              <a:rPr lang="en-US" sz="2200" dirty="0" smtClean="0"/>
              <a:t> or two related tasks </a:t>
            </a:r>
            <a:r>
              <a:rPr lang="en-US" sz="2200" u="sng" dirty="0" smtClean="0"/>
              <a:t>at a time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New tasks are not begun until previously selected ones are </a:t>
            </a:r>
            <a:r>
              <a:rPr lang="en-US" sz="2200" i="1" dirty="0" smtClean="0">
                <a:solidFill>
                  <a:srgbClr val="C00000"/>
                </a:solidFill>
              </a:rPr>
              <a:t>completed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962400"/>
            <a:ext cx="8368284" cy="2176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15. Discuss about the Sprint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/>
          <a:lstStyle/>
          <a:p>
            <a:r>
              <a:rPr lang="en-US" sz="2400" dirty="0" smtClean="0"/>
              <a:t>Sprint </a:t>
            </a:r>
            <a:r>
              <a:rPr lang="en-US" sz="2400" i="1" dirty="0" smtClean="0">
                <a:solidFill>
                  <a:srgbClr val="C00000"/>
                </a:solidFill>
              </a:rPr>
              <a:t>deliverables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to achieve the sprint deliverables?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Agreement</a:t>
            </a:r>
            <a:r>
              <a:rPr lang="en-US" sz="2400" dirty="0" smtClean="0"/>
              <a:t> between Product Owner and the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3733800"/>
            <a:ext cx="6125965" cy="1077218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+mj-lt"/>
              </a:rPr>
              <a:t>What if the sprint deliverables cannot be achieved?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3733800"/>
            <a:ext cx="914400" cy="96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16. Create Cards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5460" y="1859280"/>
            <a:ext cx="5311140" cy="4236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Fixed-Price Contract [5]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This contract is governed on </a:t>
            </a:r>
            <a:r>
              <a:rPr lang="en-US" sz="2200" i="1" dirty="0" smtClean="0">
                <a:solidFill>
                  <a:srgbClr val="C00000"/>
                </a:solidFill>
              </a:rPr>
              <a:t>the basis of subject matter (scope)</a:t>
            </a:r>
            <a:r>
              <a:rPr lang="en-US" sz="2200" dirty="0" smtClean="0"/>
              <a:t> that is complete and </a:t>
            </a:r>
            <a:r>
              <a:rPr lang="en-US" sz="2200" u="sng" dirty="0" smtClean="0"/>
              <a:t>specified in complete detail</a:t>
            </a:r>
            <a:r>
              <a:rPr lang="en-US" sz="2200" dirty="0" smtClean="0"/>
              <a:t> according to compensation and acceptance and delivery dates.</a:t>
            </a:r>
          </a:p>
          <a:p>
            <a:r>
              <a:rPr lang="en-US" sz="2200" dirty="0" smtClean="0"/>
              <a:t>The contract is based on the assumption that </a:t>
            </a:r>
            <a:r>
              <a:rPr lang="en-US" sz="2200" i="1" dirty="0" smtClean="0">
                <a:solidFill>
                  <a:srgbClr val="C00000"/>
                </a:solidFill>
              </a:rPr>
              <a:t>customers know</a:t>
            </a:r>
            <a:r>
              <a:rPr lang="en-US" sz="2200" dirty="0" smtClean="0"/>
              <a:t>, or assumes to know, </a:t>
            </a:r>
            <a:r>
              <a:rPr lang="en-US" sz="2200" u="sng" dirty="0" smtClean="0"/>
              <a:t>what</a:t>
            </a:r>
            <a:r>
              <a:rPr lang="en-US" sz="2200" dirty="0" smtClean="0"/>
              <a:t> he or she wants to have delivered.</a:t>
            </a:r>
          </a:p>
          <a:p>
            <a:r>
              <a:rPr lang="en-US" sz="2200" dirty="0" smtClean="0"/>
              <a:t>A fixed-price project is based mostly on a clearly specified waterfall project cycle (a </a:t>
            </a:r>
            <a:r>
              <a:rPr lang="en-US" sz="2200" i="1" dirty="0" smtClean="0">
                <a:solidFill>
                  <a:srgbClr val="C00000"/>
                </a:solidFill>
              </a:rPr>
              <a:t>predictive process</a:t>
            </a:r>
            <a:r>
              <a:rPr lang="en-US" sz="2200" dirty="0" smtClean="0"/>
              <a:t>).</a:t>
            </a:r>
          </a:p>
        </p:txBody>
      </p:sp>
      <p:pic>
        <p:nvPicPr>
          <p:cNvPr id="3076" name="Picture 4" descr="https://images.techhive.com/images/article/2016/04/requirements_management-100654919-primary.id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4478938"/>
            <a:ext cx="2755900" cy="1835785"/>
          </a:xfrm>
          <a:prstGeom prst="rect">
            <a:avLst/>
          </a:prstGeom>
          <a:noFill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4419600"/>
            <a:ext cx="2037548" cy="2047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Perspective of </a:t>
            </a:r>
            <a:r>
              <a:rPr lang="en-US" dirty="0" smtClean="0"/>
              <a:t>the </a:t>
            </a:r>
            <a:r>
              <a:rPr lang="en-US" dirty="0" smtClean="0"/>
              <a:t>Customer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No changes</a:t>
            </a:r>
            <a:r>
              <a:rPr lang="en-US" sz="2400" dirty="0" smtClean="0"/>
              <a:t>: low risk.</a:t>
            </a:r>
          </a:p>
          <a:p>
            <a:pPr lvl="1"/>
            <a:r>
              <a:rPr lang="en-US" sz="2000" dirty="0" smtClean="0"/>
              <a:t>Price is known beforehand.</a:t>
            </a:r>
          </a:p>
          <a:p>
            <a:pPr lvl="1"/>
            <a:r>
              <a:rPr lang="en-US" sz="2000" dirty="0" smtClean="0"/>
              <a:t>On time and on budget</a:t>
            </a:r>
          </a:p>
          <a:p>
            <a:pPr lvl="1"/>
            <a:r>
              <a:rPr lang="en-US" sz="2000" dirty="0" smtClean="0"/>
              <a:t>Bidding process</a:t>
            </a:r>
          </a:p>
          <a:p>
            <a:pPr lvl="1"/>
            <a:r>
              <a:rPr lang="en-US" sz="2000" dirty="0" smtClean="0"/>
              <a:t>Safe feeling of control </a:t>
            </a:r>
          </a:p>
          <a:p>
            <a:pPr lvl="1">
              <a:buNone/>
            </a:pPr>
            <a:r>
              <a:rPr lang="en-US" sz="2000" dirty="0" smtClean="0"/>
              <a:t>	based on predictive model</a:t>
            </a:r>
          </a:p>
          <a:p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Changes happen</a:t>
            </a:r>
            <a:r>
              <a:rPr lang="en-US" sz="2400" dirty="0" smtClean="0"/>
              <a:t>: high cost.</a:t>
            </a:r>
          </a:p>
          <a:p>
            <a:pPr lvl="1"/>
            <a:r>
              <a:rPr lang="en-US" sz="2000" dirty="0" smtClean="0"/>
              <a:t>Incomplete and unpredictable information</a:t>
            </a:r>
          </a:p>
          <a:p>
            <a:pPr lvl="1">
              <a:buNone/>
            </a:pPr>
            <a:r>
              <a:rPr lang="en-US" sz="2000" dirty="0" smtClean="0"/>
              <a:t>	from insignificant descriptions.</a:t>
            </a:r>
          </a:p>
          <a:p>
            <a:pPr lvl="1"/>
            <a:r>
              <a:rPr lang="en-US" sz="2000" dirty="0" smtClean="0"/>
              <a:t>Wrong timing of detailed requirements.</a:t>
            </a:r>
          </a:p>
          <a:p>
            <a:pPr lvl="1"/>
            <a:r>
              <a:rPr lang="en-US" sz="2000" dirty="0" smtClean="0"/>
              <a:t>Wrong requirements.</a:t>
            </a:r>
            <a:endParaRPr lang="en-US" sz="2000" dirty="0"/>
          </a:p>
        </p:txBody>
      </p:sp>
      <p:pic>
        <p:nvPicPr>
          <p:cNvPr id="4" name="Picture 8" descr="https://s3.amazonaws.com/ELA/common/uploads/photos/16433-Cost%20of%20living%20isg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3352800"/>
            <a:ext cx="2133600" cy="2410968"/>
          </a:xfrm>
          <a:prstGeom prst="rect">
            <a:avLst/>
          </a:prstGeom>
          <a:noFill/>
        </p:spPr>
      </p:pic>
      <p:pic>
        <p:nvPicPr>
          <p:cNvPr id="1028" name="Picture 4" descr="https://www.churchtimes.co.uk/media/5604506/out-of-the-question.jpg?anchor=center&amp;mode=crop&amp;width=605&amp;height=292&amp;rnd=1314572745300000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1752600"/>
            <a:ext cx="1729047" cy="835429"/>
          </a:xfrm>
          <a:prstGeom prst="rect">
            <a:avLst/>
          </a:prstGeom>
          <a:noFill/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14800" y="1371600"/>
            <a:ext cx="2383155" cy="1817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Perspective of </a:t>
            </a:r>
            <a:r>
              <a:rPr lang="en-US" dirty="0" smtClean="0"/>
              <a:t>the </a:t>
            </a:r>
            <a:r>
              <a:rPr lang="en-US" dirty="0" smtClean="0"/>
              <a:t>Supplier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No changes</a:t>
            </a:r>
            <a:r>
              <a:rPr lang="en-US" sz="2400" dirty="0" smtClean="0"/>
              <a:t>: low risk.</a:t>
            </a:r>
          </a:p>
          <a:p>
            <a:pPr lvl="1"/>
            <a:r>
              <a:rPr lang="en-US" sz="1800" dirty="0" smtClean="0"/>
              <a:t>Good project manager and the appropriate </a:t>
            </a:r>
            <a:r>
              <a:rPr lang="en-US" sz="1800" u="sng" dirty="0" smtClean="0"/>
              <a:t>expertise in place</a:t>
            </a:r>
            <a:r>
              <a:rPr lang="en-US" sz="1800" dirty="0" smtClean="0"/>
              <a:t>. </a:t>
            </a:r>
          </a:p>
          <a:p>
            <a:pPr lvl="1"/>
            <a:r>
              <a:rPr lang="en-US" sz="1800" dirty="0" smtClean="0"/>
              <a:t>The supplier must ultimately deliver what is specified in the contract requirements. If parts are </a:t>
            </a:r>
            <a:r>
              <a:rPr lang="en-US" sz="1800" u="sng" dirty="0" smtClean="0"/>
              <a:t>missing</a:t>
            </a:r>
            <a:r>
              <a:rPr lang="en-US" sz="1800" dirty="0" smtClean="0"/>
              <a:t>, there is a change request, which, since the project has already been awarded to the supplier, can be priced without pressure from the competition.</a:t>
            </a:r>
          </a:p>
          <a:p>
            <a:pPr lvl="1"/>
            <a:r>
              <a:rPr lang="en-US" sz="1800" dirty="0" smtClean="0"/>
              <a:t>Normally, </a:t>
            </a:r>
            <a:r>
              <a:rPr lang="en-US" sz="1800" u="sng" dirty="0" smtClean="0"/>
              <a:t>the expertise</a:t>
            </a:r>
            <a:r>
              <a:rPr lang="en-US" sz="1800" dirty="0" smtClean="0"/>
              <a:t> on a project is higher on the supplier side than on the customer side. The fixed-price contract usually contains a comprehensive catalog of </a:t>
            </a:r>
            <a:r>
              <a:rPr lang="en-US" sz="1800" u="sng" dirty="0" smtClean="0"/>
              <a:t>assumptions</a:t>
            </a:r>
            <a:r>
              <a:rPr lang="en-US" sz="1800" dirty="0" smtClean="0"/>
              <a:t> added by the supplier.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High risk</a:t>
            </a:r>
            <a:r>
              <a:rPr lang="en-US" sz="2400" dirty="0" smtClean="0"/>
              <a:t>: no </a:t>
            </a:r>
            <a:r>
              <a:rPr lang="en-US" sz="2400" u="sng" dirty="0" smtClean="0"/>
              <a:t>expertise in place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Changes happen</a:t>
            </a:r>
            <a:r>
              <a:rPr lang="en-US" sz="2400" dirty="0" smtClean="0"/>
              <a:t>: additional revenue.</a:t>
            </a:r>
          </a:p>
        </p:txBody>
      </p:sp>
      <p:pic>
        <p:nvPicPr>
          <p:cNvPr id="8" name="Picture 2" descr="https://nuvest.net/wp-content/uploads/2017/07/what-does-an-accounting-consultant-d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4572000"/>
            <a:ext cx="3048000" cy="1874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Perspective of </a:t>
            </a:r>
            <a:r>
              <a:rPr lang="en-US" dirty="0" smtClean="0"/>
              <a:t>the </a:t>
            </a:r>
            <a:r>
              <a:rPr lang="en-US" dirty="0" smtClean="0"/>
              <a:t>Consultant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For contracts that are </a:t>
            </a:r>
            <a:r>
              <a:rPr lang="en-US" sz="2400" i="1" dirty="0" smtClean="0">
                <a:solidFill>
                  <a:srgbClr val="C00000"/>
                </a:solidFill>
              </a:rPr>
              <a:t>not supported</a:t>
            </a:r>
            <a:r>
              <a:rPr lang="en-US" sz="2400" dirty="0" smtClean="0"/>
              <a:t> by cooperative spirit and </a:t>
            </a:r>
            <a:r>
              <a:rPr lang="en-US" sz="2400" u="sng" dirty="0" smtClean="0"/>
              <a:t>mutual trust</a:t>
            </a:r>
            <a:r>
              <a:rPr lang="en-US" sz="2400" dirty="0" smtClean="0"/>
              <a:t>, customers like to use external expertise and experience to increase the probability of a successful project.</a:t>
            </a:r>
          </a:p>
          <a:p>
            <a:r>
              <a:rPr lang="en-US" sz="2400" dirty="0" smtClean="0"/>
              <a:t>Success is never guaranteed, however, and this is a risk for a consultant who is </a:t>
            </a:r>
            <a:r>
              <a:rPr lang="en-US" sz="2400" i="1" dirty="0" smtClean="0">
                <a:solidFill>
                  <a:srgbClr val="C00000"/>
                </a:solidFill>
              </a:rPr>
              <a:t>not content</a:t>
            </a:r>
            <a:r>
              <a:rPr lang="en-US" sz="2400" dirty="0" smtClean="0"/>
              <a:t> with being associated with </a:t>
            </a:r>
            <a:r>
              <a:rPr lang="en-US" sz="2400" u="sng" dirty="0" smtClean="0"/>
              <a:t>failing projects</a:t>
            </a:r>
            <a:r>
              <a:rPr lang="en-US" sz="2400" dirty="0" smtClean="0"/>
              <a:t>.</a:t>
            </a:r>
          </a:p>
        </p:txBody>
      </p:sp>
      <p:pic>
        <p:nvPicPr>
          <p:cNvPr id="60422" name="Picture 6" descr="https://www.activia.co.uk/blog/wordpress/wp-content/uploads/2016/03/Failing-Project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419600"/>
            <a:ext cx="3171825" cy="1714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and Materials Contract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This contract is usually governed on </a:t>
            </a:r>
            <a:r>
              <a:rPr lang="en-US" sz="2200" i="1" dirty="0" smtClean="0">
                <a:solidFill>
                  <a:srgbClr val="C00000"/>
                </a:solidFill>
              </a:rPr>
              <a:t>the basis of experience levels</a:t>
            </a:r>
            <a:r>
              <a:rPr lang="en-US" sz="2200" dirty="0" smtClean="0"/>
              <a:t> (e.g., junior, senior) and roles (e.g., analysis, testers, developers, project managers, or even an entire Scrum team) and the subsequent </a:t>
            </a:r>
            <a:r>
              <a:rPr lang="en-US" sz="2200" i="1" dirty="0" smtClean="0">
                <a:solidFill>
                  <a:srgbClr val="C00000"/>
                </a:solidFill>
              </a:rPr>
              <a:t>cost for one day</a:t>
            </a:r>
            <a:r>
              <a:rPr lang="en-US" sz="2200" dirty="0" smtClean="0"/>
              <a:t> (or hour) of delivery within the framework of an IT project (design, management, testing, etc.).</a:t>
            </a:r>
          </a:p>
          <a:p>
            <a:r>
              <a:rPr lang="en-US" sz="2200" dirty="0" smtClean="0"/>
              <a:t>Many IT projects </a:t>
            </a:r>
            <a:r>
              <a:rPr lang="en-US" sz="2200" i="1" dirty="0" smtClean="0">
                <a:solidFill>
                  <a:srgbClr val="C00000"/>
                </a:solidFill>
              </a:rPr>
              <a:t>cannot</a:t>
            </a:r>
            <a:r>
              <a:rPr lang="en-US" sz="2200" dirty="0" smtClean="0"/>
              <a:t> be described fully and clearly in advance.</a:t>
            </a:r>
          </a:p>
          <a:p>
            <a:r>
              <a:rPr lang="en-US" sz="2200" dirty="0" smtClean="0"/>
              <a:t>You often cannot guess what could still </a:t>
            </a:r>
            <a:r>
              <a:rPr lang="en-US" sz="2200" i="1" dirty="0" smtClean="0">
                <a:solidFill>
                  <a:srgbClr val="C00000"/>
                </a:solidFill>
              </a:rPr>
              <a:t>change</a:t>
            </a:r>
            <a:r>
              <a:rPr lang="en-US" sz="2200" dirty="0" smtClean="0"/>
              <a:t> during the project.</a:t>
            </a:r>
          </a:p>
          <a:p>
            <a:r>
              <a:rPr lang="en-US" sz="2200" dirty="0" smtClean="0"/>
              <a:t>The customer </a:t>
            </a:r>
            <a:r>
              <a:rPr lang="en-US" sz="2200" i="1" dirty="0" smtClean="0">
                <a:solidFill>
                  <a:srgbClr val="C00000"/>
                </a:solidFill>
              </a:rPr>
              <a:t>buys the resources</a:t>
            </a:r>
            <a:r>
              <a:rPr lang="en-US" sz="2200" dirty="0" smtClean="0"/>
              <a:t> with appropriate knowledge and experience and </a:t>
            </a:r>
            <a:r>
              <a:rPr lang="en-US" sz="2200" i="1" dirty="0" smtClean="0">
                <a:solidFill>
                  <a:srgbClr val="C00000"/>
                </a:solidFill>
              </a:rPr>
              <a:t>uses it</a:t>
            </a:r>
            <a:r>
              <a:rPr lang="en-US" sz="2200" dirty="0" smtClean="0"/>
              <a:t> to achieve the project goals.</a:t>
            </a:r>
            <a:endParaRPr lang="en-US" sz="2200" dirty="0"/>
          </a:p>
        </p:txBody>
      </p:sp>
      <p:pic>
        <p:nvPicPr>
          <p:cNvPr id="4098" name="Picture 2" descr="https://www.heuristix.net/wp-content/uploads/2018/10/Unclear-Requirements-by-Cli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5105400"/>
            <a:ext cx="2743200" cy="1539240"/>
          </a:xfrm>
          <a:prstGeom prst="rect">
            <a:avLst/>
          </a:prstGeom>
          <a:noFill/>
        </p:spPr>
      </p:pic>
      <p:pic>
        <p:nvPicPr>
          <p:cNvPr id="4100" name="Picture 4" descr="https://www.i-splendid.com/wp-content/uploads/2016/09/time-Material-0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5105400"/>
            <a:ext cx="1497330" cy="14973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Perspective of </a:t>
            </a:r>
            <a:r>
              <a:rPr lang="en-US" dirty="0" smtClean="0"/>
              <a:t>the </a:t>
            </a:r>
            <a:r>
              <a:rPr lang="en-US" dirty="0" smtClean="0"/>
              <a:t>Customer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Micromanagement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constant supervision</a:t>
            </a:r>
            <a:r>
              <a:rPr lang="en-US" sz="2200" dirty="0" smtClean="0"/>
              <a:t> are necessary to get the maximum value out of the resources available to a project.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entire responsibility</a:t>
            </a:r>
            <a:r>
              <a:rPr lang="en-US" sz="2200" dirty="0" smtClean="0"/>
              <a:t> for what and how something is done is up to the project manager and thus the customer.</a:t>
            </a:r>
          </a:p>
          <a:p>
            <a:r>
              <a:rPr lang="en-US" sz="2200" dirty="0" smtClean="0"/>
              <a:t>The customer is required to work with transparency and constantly monitor the level of documentation </a:t>
            </a:r>
            <a:r>
              <a:rPr lang="en-US" sz="2200" i="1" dirty="0" smtClean="0">
                <a:solidFill>
                  <a:srgbClr val="C00000"/>
                </a:solidFill>
              </a:rPr>
              <a:t>delivery performance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This produces </a:t>
            </a:r>
            <a:r>
              <a:rPr lang="en-US" sz="2200" i="1" dirty="0" smtClean="0">
                <a:solidFill>
                  <a:srgbClr val="C00000"/>
                </a:solidFill>
              </a:rPr>
              <a:t>questionable efficiency</a:t>
            </a:r>
            <a:r>
              <a:rPr lang="en-US" sz="2200" dirty="0" smtClean="0"/>
              <a:t> and means paying at the end for </a:t>
            </a:r>
            <a:r>
              <a:rPr lang="en-US" sz="2200" u="sng" dirty="0" smtClean="0"/>
              <a:t>time</a:t>
            </a:r>
            <a:r>
              <a:rPr lang="en-US" sz="2200" dirty="0" smtClean="0"/>
              <a:t> rather than for </a:t>
            </a:r>
            <a:r>
              <a:rPr lang="en-US" sz="2200" u="sng" dirty="0" smtClean="0"/>
              <a:t>performance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62466" name="Picture 2" descr="http://saatpro.com/blog/wp-content/uploads/2018/06/microman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4648200"/>
            <a:ext cx="3338830" cy="18649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Perspective of </a:t>
            </a:r>
            <a:r>
              <a:rPr lang="en-US" dirty="0" smtClean="0"/>
              <a:t>the </a:t>
            </a:r>
            <a:r>
              <a:rPr lang="en-US" dirty="0" smtClean="0"/>
              <a:t>Supplier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In the sales process, the supplier always places the </a:t>
            </a:r>
            <a:r>
              <a:rPr lang="en-US" sz="2000" i="1" dirty="0" smtClean="0">
                <a:solidFill>
                  <a:srgbClr val="C00000"/>
                </a:solidFill>
              </a:rPr>
              <a:t>best horses</a:t>
            </a:r>
            <a:r>
              <a:rPr lang="en-US" sz="2000" dirty="0" smtClean="0"/>
              <a:t> in the race. They work under the premise that the maximum performance, transparency and documentation must be delivered to the customer.</a:t>
            </a:r>
          </a:p>
          <a:p>
            <a:r>
              <a:rPr lang="en-US" sz="2000" dirty="0" smtClean="0"/>
              <a:t>However, the staff of the provider often performs </a:t>
            </a:r>
            <a:r>
              <a:rPr lang="en-US" sz="2000" i="1" dirty="0" smtClean="0">
                <a:solidFill>
                  <a:srgbClr val="C00000"/>
                </a:solidFill>
              </a:rPr>
              <a:t>inadequate documentation</a:t>
            </a:r>
            <a:r>
              <a:rPr lang="en-US" sz="2000" dirty="0" smtClean="0"/>
              <a:t>, thus promoting </a:t>
            </a:r>
            <a:r>
              <a:rPr lang="en-US" sz="2000" u="sng" dirty="0" smtClean="0"/>
              <a:t>client dependency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</a:t>
            </a:r>
            <a:r>
              <a:rPr lang="en-US" sz="2000" dirty="0" smtClean="0"/>
              <a:t>supplier's </a:t>
            </a:r>
            <a:r>
              <a:rPr lang="en-US" sz="2000" dirty="0" smtClean="0"/>
              <a:t>management wants to maximize profits and will try, within a framework of </a:t>
            </a:r>
            <a:r>
              <a:rPr lang="en-US" sz="2000" i="1" dirty="0" smtClean="0">
                <a:solidFill>
                  <a:srgbClr val="C00000"/>
                </a:solidFill>
              </a:rPr>
              <a:t>acceptable quality</a:t>
            </a:r>
            <a:r>
              <a:rPr lang="en-US" sz="2000" dirty="0" smtClean="0"/>
              <a:t>, to replace the </a:t>
            </a:r>
            <a:r>
              <a:rPr lang="en-US" sz="2000" u="sng" dirty="0" smtClean="0"/>
              <a:t>expensive resources</a:t>
            </a:r>
            <a:r>
              <a:rPr lang="en-US" sz="2000" dirty="0" smtClean="0"/>
              <a:t> and skills with </a:t>
            </a:r>
            <a:r>
              <a:rPr lang="en-US" sz="2000" u="sng" dirty="0" smtClean="0"/>
              <a:t>cheaper ones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There are </a:t>
            </a:r>
            <a:r>
              <a:rPr lang="en-US" sz="2000" i="1" dirty="0" smtClean="0">
                <a:solidFill>
                  <a:srgbClr val="C00000"/>
                </a:solidFill>
              </a:rPr>
              <a:t>no consequences</a:t>
            </a:r>
            <a:r>
              <a:rPr lang="en-US" sz="2000" dirty="0" smtClean="0"/>
              <a:t> for the </a:t>
            </a:r>
            <a:r>
              <a:rPr lang="en-US" sz="2000" u="sng" dirty="0" smtClean="0"/>
              <a:t>supplier</a:t>
            </a:r>
            <a:r>
              <a:rPr lang="en-US" sz="2000" dirty="0" smtClean="0"/>
              <a:t> if the project should get </a:t>
            </a:r>
            <a:r>
              <a:rPr lang="en-US" sz="2000" u="sng" dirty="0" smtClean="0"/>
              <a:t>out of control financially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63490" name="Picture 2" descr="http://flashglobal.com/wp-content/uploads/2015/08/Supplier-Quality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953000"/>
            <a:ext cx="2286000" cy="13258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Perspective of </a:t>
            </a:r>
            <a:r>
              <a:rPr lang="en-US" dirty="0" smtClean="0"/>
              <a:t>the </a:t>
            </a:r>
            <a:r>
              <a:rPr lang="en-US" dirty="0" smtClean="0"/>
              <a:t>Consultant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consultant is </a:t>
            </a:r>
            <a:r>
              <a:rPr lang="en-US" sz="2200" i="1" dirty="0" smtClean="0">
                <a:solidFill>
                  <a:srgbClr val="C00000"/>
                </a:solidFill>
              </a:rPr>
              <a:t>also usually a supplier</a:t>
            </a:r>
            <a:r>
              <a:rPr lang="en-US" sz="2200" dirty="0" smtClean="0"/>
              <a:t> on the basis of time and materials.</a:t>
            </a:r>
          </a:p>
          <a:p>
            <a:r>
              <a:rPr lang="en-US" sz="2200" dirty="0" smtClean="0"/>
              <a:t>He or she can judge whether the service provided was of </a:t>
            </a:r>
            <a:r>
              <a:rPr lang="en-US" sz="2200" i="1" dirty="0" smtClean="0">
                <a:solidFill>
                  <a:srgbClr val="C00000"/>
                </a:solidFill>
              </a:rPr>
              <a:t>adequate quality</a:t>
            </a:r>
            <a:r>
              <a:rPr lang="en-US" sz="2200" dirty="0" smtClean="0"/>
              <a:t> and whether it has been </a:t>
            </a:r>
            <a:r>
              <a:rPr lang="en-US" sz="2200" i="1" dirty="0" smtClean="0">
                <a:solidFill>
                  <a:srgbClr val="C00000"/>
                </a:solidFill>
              </a:rPr>
              <a:t>documented sufficiently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What is </a:t>
            </a:r>
            <a:r>
              <a:rPr lang="en-US" sz="2200" u="sng" dirty="0" smtClean="0"/>
              <a:t>lacking</a:t>
            </a:r>
            <a:r>
              <a:rPr lang="en-US" sz="2200" dirty="0" smtClean="0"/>
              <a:t> in this type of contract is the clear position to pay, not for time, but for </a:t>
            </a:r>
            <a:r>
              <a:rPr lang="en-US" sz="2200" i="1" dirty="0" smtClean="0">
                <a:solidFill>
                  <a:srgbClr val="C00000"/>
                </a:solidFill>
              </a:rPr>
              <a:t>performance</a:t>
            </a:r>
            <a:r>
              <a:rPr lang="en-US" sz="2200" dirty="0" smtClean="0"/>
              <a:t> (value or business value) which is necessary to achieve the common project goals.</a:t>
            </a:r>
          </a:p>
        </p:txBody>
      </p:sp>
      <p:pic>
        <p:nvPicPr>
          <p:cNvPr id="64514" name="Picture 2" descr="http://www.alahadrecruitmentgroup.com/wp-content/uploads/2017/11/iso-consultants-summary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4281940"/>
            <a:ext cx="3897248" cy="21950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Fixed-Price Contract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Project vision</a:t>
            </a:r>
          </a:p>
          <a:p>
            <a:r>
              <a:rPr lang="en-US" sz="2200" dirty="0" smtClean="0"/>
              <a:t>Indicative fixed-price (a maximum price)</a:t>
            </a:r>
          </a:p>
          <a:p>
            <a:r>
              <a:rPr lang="en-US" sz="2200" dirty="0" smtClean="0"/>
              <a:t>Checkpoint phase</a:t>
            </a:r>
            <a:endParaRPr lang="en-US" sz="2200" i="1" dirty="0" smtClean="0"/>
          </a:p>
          <a:p>
            <a:pPr lvl="1"/>
            <a:r>
              <a:rPr lang="en-US" sz="2000" dirty="0" smtClean="0"/>
              <a:t>A period of x sprints or a performance scope of y story points is agreed upon as the </a:t>
            </a:r>
            <a:r>
              <a:rPr lang="en-US" sz="2000" i="1" dirty="0" smtClean="0">
                <a:solidFill>
                  <a:srgbClr val="C00000"/>
                </a:solidFill>
              </a:rPr>
              <a:t>test phase of cooperation</a:t>
            </a:r>
            <a:r>
              <a:rPr lang="en-US" sz="2000" dirty="0" smtClean="0"/>
              <a:t>.</a:t>
            </a:r>
          </a:p>
          <a:p>
            <a:r>
              <a:rPr lang="en-US" sz="2200" dirty="0" smtClean="0"/>
              <a:t>Risk share</a:t>
            </a:r>
          </a:p>
          <a:p>
            <a:pPr lvl="1"/>
            <a:r>
              <a:rPr lang="en-US" sz="2000" dirty="0" smtClean="0"/>
              <a:t>If exceeding the maximum price cannot be avoided even through the actions agreed to by the </a:t>
            </a:r>
            <a:r>
              <a:rPr lang="en-US" sz="2000" dirty="0" smtClean="0"/>
              <a:t>project's </a:t>
            </a:r>
            <a:r>
              <a:rPr lang="en-US" sz="2000" dirty="0" smtClean="0"/>
              <a:t>governance, the additional supplier costs are charged at </a:t>
            </a:r>
            <a:r>
              <a:rPr lang="en-US" sz="2000" i="1" dirty="0" smtClean="0">
                <a:solidFill>
                  <a:srgbClr val="C00000"/>
                </a:solidFill>
              </a:rPr>
              <a:t>only x% of the agreed-upon team costs</a:t>
            </a:r>
            <a:r>
              <a:rPr lang="en-US" sz="2000" dirty="0" smtClean="0"/>
              <a:t>. The value x should lie between 30 and 70% and is one of the parameters that must be fixed during negotiation.</a:t>
            </a:r>
          </a:p>
          <a:p>
            <a:r>
              <a:rPr lang="en-US" sz="2200" dirty="0" smtClean="0"/>
              <a:t>Exit points</a:t>
            </a:r>
          </a:p>
          <a:p>
            <a:r>
              <a:rPr lang="en-US" sz="2200" dirty="0" smtClean="0"/>
              <a:t>Scope governance process, scope escalation process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Fixed-Price Contract 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An agile fixed price contract is similar to a time and material contract, in which, a client is charged by time and materials and any party can leave the contract with a reasonable lead time.</a:t>
            </a:r>
          </a:p>
          <a:p>
            <a:r>
              <a:rPr lang="en-US" sz="1800" dirty="0" smtClean="0"/>
              <a:t>The 4 key differences are that:</a:t>
            </a:r>
          </a:p>
          <a:p>
            <a:pPr lvl="1"/>
            <a:r>
              <a:rPr lang="en-US" sz="1600" dirty="0" smtClean="0"/>
              <a:t>A rough estimate (which is a “fixed” price) is made based on a rough initial product backlog.</a:t>
            </a:r>
          </a:p>
          <a:p>
            <a:pPr lvl="1"/>
            <a:r>
              <a:rPr lang="en-US" sz="1600" dirty="0" smtClean="0"/>
              <a:t>If the actual cost exceeds the rough estimate then both client and supplier share the cost (the time and materials cost then is only 30% or 40% of the original charge. This value is negotiated.)</a:t>
            </a:r>
          </a:p>
          <a:p>
            <a:pPr lvl="1"/>
            <a:r>
              <a:rPr lang="en-US" sz="1600" dirty="0" smtClean="0"/>
              <a:t>Requirements can be changed and will be evaluated against the “fixed” price by a board and negotiated within the “fixed” price. Usually, this will replace an old backlog item with a new one (for </a:t>
            </a:r>
            <a:r>
              <a:rPr lang="en-US" sz="1600" dirty="0" smtClean="0"/>
              <a:t>supplier's </a:t>
            </a:r>
            <a:r>
              <a:rPr lang="en-US" sz="1600" dirty="0" smtClean="0"/>
              <a:t>safety).</a:t>
            </a:r>
          </a:p>
          <a:p>
            <a:pPr lvl="1"/>
            <a:r>
              <a:rPr lang="en-US" sz="1600" dirty="0" smtClean="0"/>
              <a:t>Quality working software with adequate documentation is delivered every 2-3 weeks to client (for </a:t>
            </a:r>
            <a:r>
              <a:rPr lang="en-US" sz="1600" dirty="0" smtClean="0"/>
              <a:t>client's </a:t>
            </a:r>
            <a:r>
              <a:rPr lang="en-US" sz="1600" dirty="0" smtClean="0"/>
              <a:t>safety).</a:t>
            </a:r>
          </a:p>
          <a:p>
            <a:r>
              <a:rPr lang="en-US" sz="1800" dirty="0" smtClean="0"/>
              <a:t>IMO, I think the weakest point is that a supplier can leave the contract as soon as all the budget (“fixed” price) is spent despite getting a bad reputation.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18487</TotalTime>
  <Words>2805</Words>
  <Application>Microsoft Office PowerPoint</Application>
  <PresentationFormat>On-screen Show (4:3)</PresentationFormat>
  <Paragraphs>251</Paragraphs>
  <Slides>52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Agile Planning</vt:lpstr>
      <vt:lpstr>Objectives</vt:lpstr>
      <vt:lpstr>Contents</vt:lpstr>
      <vt:lpstr>References</vt:lpstr>
      <vt:lpstr>Problems</vt:lpstr>
      <vt:lpstr>Agile Planning [1]</vt:lpstr>
      <vt:lpstr>1. Create a High Level Estimate [2]</vt:lpstr>
      <vt:lpstr>A Technique</vt:lpstr>
      <vt:lpstr>Some More Techniques [3]</vt:lpstr>
      <vt:lpstr>Slide 10</vt:lpstr>
      <vt:lpstr>2. Create a Product Roadmap</vt:lpstr>
      <vt:lpstr>Product Roadmap Duration</vt:lpstr>
      <vt:lpstr>Slide 13</vt:lpstr>
      <vt:lpstr>Release Planning [3]</vt:lpstr>
      <vt:lpstr>3. Prioritize Backlog Items</vt:lpstr>
      <vt:lpstr>4. Create a Sprint Map</vt:lpstr>
      <vt:lpstr>5. Create a Preliminary Release Plan</vt:lpstr>
      <vt:lpstr>Example Preliminary Release Plan</vt:lpstr>
      <vt:lpstr>Slide 19</vt:lpstr>
      <vt:lpstr>6. Identify Release Constraints</vt:lpstr>
      <vt:lpstr>7a. Create a Fixed-Date Release Plan (I)</vt:lpstr>
      <vt:lpstr>7a. Create a Fixed-Date Release Plan (II)</vt:lpstr>
      <vt:lpstr>Should We Proceed This Plan?</vt:lpstr>
      <vt:lpstr>Slide 24</vt:lpstr>
      <vt:lpstr>7b. Create a Fixed-Scope Release Plan (I)</vt:lpstr>
      <vt:lpstr>7b. Create a Fixed-Scope Release Plan (II)</vt:lpstr>
      <vt:lpstr>Slide 27</vt:lpstr>
      <vt:lpstr>8. Calculate Release Cost</vt:lpstr>
      <vt:lpstr>9. Create Project (Release) Estimate</vt:lpstr>
      <vt:lpstr>Slide 30</vt:lpstr>
      <vt:lpstr>10. Prepare for Release [2]</vt:lpstr>
      <vt:lpstr>11. Create a System Architecture for Release</vt:lpstr>
      <vt:lpstr>How Should Architectural Design Be Done?</vt:lpstr>
      <vt:lpstr>12. Execute the Iteration 0 [4]</vt:lpstr>
      <vt:lpstr>Slide 35</vt:lpstr>
      <vt:lpstr>Sprint Planning [1]</vt:lpstr>
      <vt:lpstr>13. Create a Sprint Backlog</vt:lpstr>
      <vt:lpstr>14. Create Sprint Tasks</vt:lpstr>
      <vt:lpstr>15. Discuss about the Sprint Plan</vt:lpstr>
      <vt:lpstr>16. Create Cards</vt:lpstr>
      <vt:lpstr>Slide 41</vt:lpstr>
      <vt:lpstr>Traditional Fixed-Price Contract [5]</vt:lpstr>
      <vt:lpstr>The Perspective of the Customer</vt:lpstr>
      <vt:lpstr>The Perspective of the Supplier</vt:lpstr>
      <vt:lpstr>The Perspective of the Consultant</vt:lpstr>
      <vt:lpstr>Time and Materials Contract</vt:lpstr>
      <vt:lpstr>The Perspective of the Customer</vt:lpstr>
      <vt:lpstr>The Perspective of the Supplier</vt:lpstr>
      <vt:lpstr>The Perspective of the Consultant</vt:lpstr>
      <vt:lpstr>Agile Fixed-Price Contract</vt:lpstr>
      <vt:lpstr>Agile Fixed-Price Contract Review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6335</cp:revision>
  <dcterms:created xsi:type="dcterms:W3CDTF">2007-10-06T08:25:13Z</dcterms:created>
  <dcterms:modified xsi:type="dcterms:W3CDTF">2023-07-13T17:04:46Z</dcterms:modified>
</cp:coreProperties>
</file>