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8"/>
  </p:notesMasterIdLst>
  <p:handoutMasterIdLst>
    <p:handoutMasterId r:id="rId29"/>
  </p:handoutMasterIdLst>
  <p:sldIdLst>
    <p:sldId id="256" r:id="rId2"/>
    <p:sldId id="499" r:id="rId3"/>
    <p:sldId id="671" r:id="rId4"/>
    <p:sldId id="839" r:id="rId5"/>
    <p:sldId id="881" r:id="rId6"/>
    <p:sldId id="882" r:id="rId7"/>
    <p:sldId id="898" r:id="rId8"/>
    <p:sldId id="883" r:id="rId9"/>
    <p:sldId id="889" r:id="rId10"/>
    <p:sldId id="888" r:id="rId11"/>
    <p:sldId id="892" r:id="rId12"/>
    <p:sldId id="893" r:id="rId13"/>
    <p:sldId id="894" r:id="rId14"/>
    <p:sldId id="901" r:id="rId15"/>
    <p:sldId id="895" r:id="rId16"/>
    <p:sldId id="896" r:id="rId17"/>
    <p:sldId id="899" r:id="rId18"/>
    <p:sldId id="897" r:id="rId19"/>
    <p:sldId id="900" r:id="rId20"/>
    <p:sldId id="842" r:id="rId21"/>
    <p:sldId id="875" r:id="rId22"/>
    <p:sldId id="876" r:id="rId23"/>
    <p:sldId id="877" r:id="rId24"/>
    <p:sldId id="843" r:id="rId25"/>
    <p:sldId id="830" r:id="rId26"/>
    <p:sldId id="343" r:id="rId2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7/5/2026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7/5/2026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1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8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jpeg"/><Relationship Id="rId5" Type="http://schemas.openxmlformats.org/officeDocument/2006/relationships/image" Target="../media/image29.png"/><Relationship Id="rId4" Type="http://schemas.openxmlformats.org/officeDocument/2006/relationships/hyperlink" Target="14.%20The%20Rational%20Unified%20Process.pptx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</a:t>
            </a:r>
            <a:r>
              <a:rPr lang="en-US" sz="2200" dirty="0" smtClean="0"/>
              <a:t>create and evaluate a </a:t>
            </a:r>
            <a:r>
              <a:rPr lang="en-US" sz="22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200" dirty="0" smtClean="0"/>
              <a:t>.</a:t>
            </a:r>
            <a:endParaRPr lang="en-US" sz="2200" dirty="0" smtClean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proposal.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2026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OCR with LLM-Based Agents.</a:t>
            </a:r>
          </a:p>
          <a:p>
            <a:r>
              <a:rPr lang="en-US" dirty="0" smtClean="0"/>
              <a:t>Document </a:t>
            </a:r>
            <a:r>
              <a:rPr lang="en-US" dirty="0" err="1" smtClean="0"/>
              <a:t>Autocompletion</a:t>
            </a:r>
            <a:r>
              <a:rPr lang="en-US" dirty="0" smtClean="0"/>
              <a:t> with Templates and LLM-Based Agents. (Conga </a:t>
            </a:r>
            <a:r>
              <a:rPr lang="en-US" dirty="0" err="1" smtClean="0"/>
              <a:t>Salesforce</a:t>
            </a:r>
            <a:r>
              <a:rPr lang="en-US" dirty="0" smtClean="0"/>
              <a:t>)</a:t>
            </a:r>
            <a:endParaRPr lang="en-US" dirty="0"/>
          </a:p>
        </p:txBody>
      </p:sp>
      <p:pic>
        <p:nvPicPr>
          <p:cNvPr id="6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38862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8288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20574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6553200" y="4724400"/>
            <a:ext cx="2209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Selecting Evaluation Criteria and Evaluators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Criteria</a:t>
            </a:r>
          </a:p>
          <a:p>
            <a:pPr lvl="1"/>
            <a:r>
              <a:rPr lang="en-US" dirty="0" smtClean="0"/>
              <a:t>Previous Slide</a:t>
            </a:r>
          </a:p>
          <a:p>
            <a:pPr lvl="1"/>
            <a:r>
              <a:rPr lang="en-US" dirty="0" smtClean="0"/>
              <a:t>Asking AI</a:t>
            </a:r>
          </a:p>
          <a:p>
            <a:r>
              <a:rPr lang="en-US" dirty="0" smtClean="0"/>
              <a:t>Evaluators</a:t>
            </a:r>
          </a:p>
          <a:p>
            <a:pPr lvl="1"/>
            <a:r>
              <a:rPr lang="en-US" dirty="0" smtClean="0"/>
              <a:t>Human</a:t>
            </a:r>
          </a:p>
          <a:p>
            <a:pPr lvl="1"/>
            <a:r>
              <a:rPr lang="en-US" dirty="0" smtClean="0"/>
              <a:t>AI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Criteria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Evaluate these criteria for evaluating software project proposal.</a:t>
            </a:r>
          </a:p>
          <a:p>
            <a:r>
              <a:rPr lang="en-US" sz="2400" dirty="0" smtClean="0"/>
              <a:t>Search extensively, and evaluate…</a:t>
            </a:r>
          </a:p>
          <a:p>
            <a:r>
              <a:rPr lang="en-US" sz="2400" dirty="0" smtClean="0"/>
              <a:t>Search extensively, and critique these criteria…</a:t>
            </a:r>
            <a:endParaRPr lang="en-US" sz="2400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52800" y="41910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Evaluate </a:t>
            </a:r>
            <a:r>
              <a:rPr lang="en-US" sz="2000" dirty="0" smtClean="0"/>
              <a:t>[proposal.pdf</a:t>
            </a:r>
            <a:r>
              <a:rPr lang="en-US" sz="2000" dirty="0" smtClean="0"/>
              <a:t>] using these criteria:</a:t>
            </a:r>
          </a:p>
          <a:p>
            <a:r>
              <a:rPr lang="en-US" sz="2000" dirty="0" smtClean="0"/>
              <a:t>Search extensively, then </a:t>
            </a:r>
            <a:r>
              <a:rPr lang="en-US" sz="2000" dirty="0" smtClean="0"/>
              <a:t>evaluate the proposal.</a:t>
            </a:r>
            <a:endParaRPr lang="en-US" sz="2000" dirty="0" smtClean="0"/>
          </a:p>
          <a:p>
            <a:r>
              <a:rPr lang="en-US" sz="2000" dirty="0" smtClean="0"/>
              <a:t>Search extensively, then </a:t>
            </a:r>
            <a:r>
              <a:rPr lang="en-US" sz="2000" dirty="0" smtClean="0"/>
              <a:t>critique the proposal.</a:t>
            </a:r>
            <a:endParaRPr lang="en-US" sz="2000" dirty="0" smtClean="0"/>
          </a:p>
          <a:p>
            <a:r>
              <a:rPr lang="en-US" sz="2000" dirty="0" smtClean="0"/>
              <a:t>Conduct an extensive search of </a:t>
            </a:r>
            <a:r>
              <a:rPr lang="en-US" sz="2000" dirty="0" smtClean="0"/>
              <a:t>competitors' solutions, </a:t>
            </a:r>
            <a:r>
              <a:rPr lang="en-US" sz="2000" dirty="0" smtClean="0"/>
              <a:t>then critique the proposal.</a:t>
            </a:r>
            <a:endParaRPr lang="en-US" sz="2000" dirty="0" smtClean="0"/>
          </a:p>
          <a:p>
            <a:r>
              <a:rPr lang="en-US" sz="2000" dirty="0" smtClean="0"/>
              <a:t>Search </a:t>
            </a:r>
            <a:r>
              <a:rPr lang="en-US" sz="2000" dirty="0" smtClean="0"/>
              <a:t>extensively for existing solutions that can be combined to form a solution to the </a:t>
            </a:r>
            <a:r>
              <a:rPr lang="en-US" sz="2000" dirty="0" smtClean="0"/>
              <a:t>problem, </a:t>
            </a:r>
            <a:r>
              <a:rPr lang="en-US" sz="2000" dirty="0" smtClean="0"/>
              <a:t>then critique the proposal.</a:t>
            </a:r>
          </a:p>
        </p:txBody>
      </p:sp>
      <p:pic>
        <p:nvPicPr>
          <p:cNvPr id="7" name="Picture 2" descr="Image result for kick-off meeti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4350222"/>
            <a:ext cx="3630222" cy="1745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</a:t>
            </a:r>
            <a:r>
              <a:rPr lang="en-US" dirty="0" smtClean="0"/>
              <a:t>Project Proposal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Vision and 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Current state, workflows, features.</a:t>
            </a:r>
          </a:p>
          <a:p>
            <a:r>
              <a:rPr lang="en-US" sz="2400" dirty="0" smtClean="0"/>
              <a:t>Future state, workflows, features.</a:t>
            </a:r>
            <a:endParaRPr lang="en-US" sz="24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8288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20574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6553200" y="4724400"/>
            <a:ext cx="2209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a Prototype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</a:t>
            </a:r>
            <a:r>
              <a:rPr lang="en-US" dirty="0" smtClean="0"/>
              <a:t>a Partial </a:t>
            </a:r>
            <a:r>
              <a:rPr lang="en-US" dirty="0" smtClean="0"/>
              <a:t>Product Backlog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Proof of Concept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29662</TotalTime>
  <Words>692</Words>
  <Application>Microsoft Office PowerPoint</Application>
  <PresentationFormat>On-screen Show (4:3)</PresentationFormat>
  <Paragraphs>135</Paragraphs>
  <Slides>26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Tools</vt:lpstr>
      <vt:lpstr>Products: Practical Problems</vt:lpstr>
      <vt:lpstr>2026 Project Ideas</vt:lpstr>
      <vt:lpstr>Prepare Project Proposal</vt:lpstr>
      <vt:lpstr>Selecting Evaluation Criteria and Evaluators</vt:lpstr>
      <vt:lpstr>Evaluating Criteria</vt:lpstr>
      <vt:lpstr>Evaluating Project Proposal</vt:lpstr>
      <vt:lpstr>Finalizing Project Proposal</vt:lpstr>
      <vt:lpstr>Prepare Project Vision and Scope</vt:lpstr>
      <vt:lpstr>Prepare a Prototype</vt:lpstr>
      <vt:lpstr>Prepare a Partial Product Backlog</vt:lpstr>
      <vt:lpstr>Prepare Architecture</vt:lpstr>
      <vt:lpstr>Create a Proof of Concept</vt:lpstr>
      <vt:lpstr>Slide 20</vt:lpstr>
      <vt:lpstr>Project Charter</vt:lpstr>
      <vt:lpstr>Responsibility Assignment Matrix</vt:lpstr>
      <vt:lpstr>Checklist</vt:lpstr>
      <vt:lpstr>Slide 24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9275</cp:revision>
  <dcterms:created xsi:type="dcterms:W3CDTF">2007-10-06T08:25:13Z</dcterms:created>
  <dcterms:modified xsi:type="dcterms:W3CDTF">2026-07-04T20:18:55Z</dcterms:modified>
</cp:coreProperties>
</file>