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Layouts/slideLayout8.xml" ContentType="application/vnd.openxmlformats-officedocument.presentationml.slideLayout+xml"/>
  <Override PartName="/ppt/notesSlides/notesSlide2.xml" ContentType="application/vnd.openxmlformats-officedocument.presentationml.notesSlide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tableStyles.xml" ContentType="application/vnd.openxmlformats-officedocument.presentationml.tableStyles+xml"/>
  <Override PartName="/ppt/slideLayouts/slideLayout1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bookmarkIdSeed="3">
  <p:sldMasterIdLst>
    <p:sldMasterId id="2147483708" r:id="rId1"/>
  </p:sldMasterIdLst>
  <p:notesMasterIdLst>
    <p:notesMasterId r:id="rId28"/>
  </p:notesMasterIdLst>
  <p:handoutMasterIdLst>
    <p:handoutMasterId r:id="rId29"/>
  </p:handoutMasterIdLst>
  <p:sldIdLst>
    <p:sldId id="256" r:id="rId2"/>
    <p:sldId id="499" r:id="rId3"/>
    <p:sldId id="671" r:id="rId4"/>
    <p:sldId id="839" r:id="rId5"/>
    <p:sldId id="881" r:id="rId6"/>
    <p:sldId id="882" r:id="rId7"/>
    <p:sldId id="898" r:id="rId8"/>
    <p:sldId id="883" r:id="rId9"/>
    <p:sldId id="889" r:id="rId10"/>
    <p:sldId id="888" r:id="rId11"/>
    <p:sldId id="892" r:id="rId12"/>
    <p:sldId id="893" r:id="rId13"/>
    <p:sldId id="894" r:id="rId14"/>
    <p:sldId id="901" r:id="rId15"/>
    <p:sldId id="895" r:id="rId16"/>
    <p:sldId id="875" r:id="rId17"/>
    <p:sldId id="876" r:id="rId18"/>
    <p:sldId id="910" r:id="rId19"/>
    <p:sldId id="877" r:id="rId20"/>
    <p:sldId id="843" r:id="rId21"/>
    <p:sldId id="906" r:id="rId22"/>
    <p:sldId id="907" r:id="rId23"/>
    <p:sldId id="904" r:id="rId24"/>
    <p:sldId id="909" r:id="rId25"/>
    <p:sldId id="908" r:id="rId26"/>
    <p:sldId id="343" r:id="rId27"/>
  </p:sldIdLst>
  <p:sldSz cx="9144000" cy="6858000" type="screen4x3"/>
  <p:notesSz cx="6858000" cy="9144000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3CCFF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vertBarState="maximized">
    <p:restoredLeft sz="20376" autoAdjust="0"/>
    <p:restoredTop sz="90392" autoAdjust="0"/>
  </p:normalViewPr>
  <p:slideViewPr>
    <p:cSldViewPr>
      <p:cViewPr>
        <p:scale>
          <a:sx n="50" d="100"/>
          <a:sy n="50" d="100"/>
        </p:scale>
        <p:origin x="-1476" y="-33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46014"/>
    </p:cViewPr>
  </p:outlineViewPr>
  <p:notesTextViewPr>
    <p:cViewPr>
      <p:scale>
        <a:sx n="150" d="100"/>
        <a:sy n="150" d="100"/>
      </p:scale>
      <p:origin x="0" y="0"/>
    </p:cViewPr>
  </p:notesTextViewPr>
  <p:sorterViewPr>
    <p:cViewPr>
      <p:scale>
        <a:sx n="66" d="100"/>
        <a:sy n="66" d="100"/>
      </p:scale>
      <p:origin x="0" y="276"/>
    </p:cViewPr>
  </p:sorterViewPr>
  <p:gridSpacing cx="78028800" cy="780288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FCF70C7-1A17-4B8F-8E82-A20E29AAAC58}" type="datetimeFigureOut">
              <a:rPr lang="en-US" smtClean="0"/>
              <a:pPr/>
              <a:t>7/11/2026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0D3D353-3471-4C5D-A6F3-11F1DDA05BDC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972150E-24DE-4D23-AF8D-CF01896B0C83}" type="datetimeFigureOut">
              <a:rPr lang="en-US" smtClean="0"/>
              <a:pPr/>
              <a:t>7/11/2026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58E95B1-5ED0-4005-B293-784E4C93134E}" type="slidenum">
              <a:rPr lang="en-US" smtClean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B4E670EC-EF90-4A84-9798-83F1F2DBB46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16</a:t>
            </a:fld>
            <a:endParaRPr lang="en-US" dirty="0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758E95B1-5ED0-4005-B293-784E4C93134E}" type="slidenum">
              <a:rPr lang="en-US" smtClean="0"/>
              <a:pPr/>
              <a:t>17</a:t>
            </a:fld>
            <a:endParaRPr lang="en-US"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21B9AD-E267-41B8-AFB9-F339B3C6A571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12FAA6B-5534-44A2-AEB6-C3AA6AD13725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03B7B48-E476-4875-A0CA-B0673732DFDD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2D0A623A-42AC-4D11-AF54-DB15196F08D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8F0A2C2-9A3C-44C4-9D1F-47B44EB3EF12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738AB1B-E996-4ECC-822F-4BC1227516D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352965-9852-4C5D-9CFD-AA7D7C51A3F1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C6D760F-B2EC-4EEB-B282-45333B115766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2ABA97A-E8D3-4153-8AD9-0AC754381ACA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26E96F6-D03D-4FB0-942F-6504F81FF6F0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0F1E0C7-1AF5-43CF-B84A-415948674BE8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10B45132-88B8-4DDF-85A7-99B030F49BC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3FF2F585-6AB3-4A98-8C00-3FB0F428366B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BBDEE648-0B22-4684-A888-DEB1CE6260BA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955A04C-D082-4B30-8565-236556BDD91C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7D6D829-2DC4-4B7D-B12C-FDD216EF07FE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 dirty="0" smtClean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E43085A-46E4-429D-86C3-B3CDAC36DAFB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17732C7-0A09-4095-98E8-F693C2579E3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9B0270D8-9F80-4CBC-9EEB-40BF8E1F9541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46B142B-9F3F-466D-9D5E-77E7230DF7FC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44C27D-6266-4BC5-9F9E-701F440BBF98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EC74873-7D28-4297-9E3C-7A8D1F19C832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3A4E31BE-3B20-405B-8063-BB6777AF4DB8}" type="datetimeFigureOut">
              <a:rPr lang="en-US"/>
              <a:pPr>
                <a:defRPr/>
              </a:pPr>
              <a:t>7/11/2026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69667343-960E-49C7-A8DE-9C4E42370238}" type="slidenum">
              <a:rPr lang="en-US"/>
              <a:pPr>
                <a:defRPr/>
              </a:pPr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ctr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2pPr>
      <a:lvl3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3pPr>
      <a:lvl4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4pPr>
      <a:lvl5pPr algn="ctr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5pPr>
      <a:lvl6pPr marL="4572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6pPr>
      <a:lvl7pPr marL="9144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7pPr>
      <a:lvl8pPr marL="13716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8pPr>
      <a:lvl9pPr marL="1828800" algn="ctr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Calibri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mailto:nhbien@fit.hcmus.edu.vn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e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figma.com/figjam/" TargetMode="External"/><Relationship Id="rId2" Type="http://schemas.openxmlformats.org/officeDocument/2006/relationships/hyperlink" Target="https://miro.com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orkspace.google.com/products/docs/" TargetMode="External"/><Relationship Id="rId4" Type="http://schemas.openxmlformats.org/officeDocument/2006/relationships/hyperlink" Target="https://www.notion.com/" TargetMode="Externa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jpe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png"/><Relationship Id="rId4" Type="http://schemas.openxmlformats.org/officeDocument/2006/relationships/image" Target="../media/image28.jpe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8.jpeg"/><Relationship Id="rId4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7" Type="http://schemas.openxmlformats.org/officeDocument/2006/relationships/image" Target="../media/image24.png"/><Relationship Id="rId2" Type="http://schemas.openxmlformats.org/officeDocument/2006/relationships/hyperlink" Target="10.%20Scrum%20Development%20Process.pptx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.jpeg"/><Relationship Id="rId5" Type="http://schemas.openxmlformats.org/officeDocument/2006/relationships/image" Target="../media/image32.png"/><Relationship Id="rId4" Type="http://schemas.openxmlformats.org/officeDocument/2006/relationships/hyperlink" Target="14.%20The%20Rational%20Unified%20Process.pptx" TargetMode="Externa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0" name="Title 1"/>
          <p:cNvSpPr>
            <a:spLocks noGrp="1"/>
          </p:cNvSpPr>
          <p:nvPr>
            <p:ph type="ctrTitle"/>
          </p:nvPr>
        </p:nvSpPr>
        <p:spPr>
          <a:xfrm>
            <a:off x="304800" y="2130425"/>
            <a:ext cx="8534400" cy="1470025"/>
          </a:xfrm>
        </p:spPr>
        <p:txBody>
          <a:bodyPr/>
          <a:lstStyle/>
          <a:p>
            <a:pPr eaLnBrk="1" hangingPunct="1"/>
            <a:r>
              <a:rPr lang="en-US" sz="6000" dirty="0" smtClean="0"/>
              <a:t>Software Project Initiation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 fontScale="40000" lnSpcReduction="20000"/>
          </a:bodyPr>
          <a:lstStyle/>
          <a:p>
            <a:pPr eaLnBrk="1" fontAlgn="auto" hangingPunct="1">
              <a:spcAft>
                <a:spcPts val="0"/>
              </a:spcAft>
              <a:defRPr/>
            </a:pPr>
            <a:r>
              <a:rPr lang="en-US" sz="5400" dirty="0" smtClean="0"/>
              <a:t>Lecturer: Ngo Huy Bien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Software Engineering Department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Faculty of Information Technology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VNUHCM - University of Science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/>
              <a:t>Ho Chi Minh City, Vietnam</a:t>
            </a:r>
          </a:p>
          <a:p>
            <a:pPr eaLnBrk="1" fontAlgn="auto" hangingPunct="1">
              <a:spcAft>
                <a:spcPts val="0"/>
              </a:spcAft>
              <a:defRPr/>
            </a:pPr>
            <a:r>
              <a:rPr lang="en-US" sz="4400" dirty="0" smtClean="0">
                <a:hlinkClick r:id="rId2"/>
              </a:rPr>
              <a:t>nhbien@fit.hcmus.edu.vn</a:t>
            </a:r>
            <a:endParaRPr lang="en-US" sz="4400" dirty="0" smtClean="0"/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Objectives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562600" cy="4343400"/>
          </a:xfrm>
        </p:spPr>
        <p:txBody>
          <a:bodyPr/>
          <a:lstStyle/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and evaluate a </a:t>
            </a:r>
            <a:r>
              <a:rPr lang="en-US" sz="2200" i="1" dirty="0" smtClean="0">
                <a:solidFill>
                  <a:srgbClr val="C00000"/>
                </a:solidFill>
              </a:rPr>
              <a:t>project proposal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vision and scope document</a:t>
            </a:r>
            <a:r>
              <a:rPr lang="en-US" sz="2200" dirty="0" smtClean="0"/>
              <a:t>.</a:t>
            </a: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mockup</a:t>
            </a:r>
            <a:r>
              <a:rPr lang="en-US" sz="2200" dirty="0" smtClean="0"/>
              <a:t> and </a:t>
            </a:r>
            <a:r>
              <a:rPr lang="en-US" sz="2200" i="1" dirty="0" smtClean="0">
                <a:solidFill>
                  <a:srgbClr val="C00000"/>
                </a:solidFill>
              </a:rPr>
              <a:t>prototype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software requirements specification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an </a:t>
            </a:r>
            <a:r>
              <a:rPr lang="en-US" sz="2200" i="1" dirty="0" smtClean="0">
                <a:solidFill>
                  <a:srgbClr val="C00000"/>
                </a:solidFill>
              </a:rPr>
              <a:t>architecture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feasibility study report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proof of concept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project charter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  <a:p>
            <a:pPr marL="457200" indent="-457200">
              <a:buFont typeface="Wingdings" pitchFamily="2" charset="2"/>
              <a:buChar char="Ø"/>
            </a:pPr>
            <a:r>
              <a:rPr lang="en-US" sz="2200" dirty="0" smtClean="0"/>
              <a:t>To create a </a:t>
            </a:r>
            <a:r>
              <a:rPr lang="en-US" sz="2200" i="1" dirty="0" smtClean="0">
                <a:solidFill>
                  <a:srgbClr val="C00000"/>
                </a:solidFill>
              </a:rPr>
              <a:t>process definition document</a:t>
            </a:r>
            <a:r>
              <a:rPr lang="en-US" sz="2200" dirty="0" smtClean="0"/>
              <a:t>.</a:t>
            </a:r>
            <a:endParaRPr lang="en-US" sz="2200" i="1" dirty="0" smtClean="0">
              <a:solidFill>
                <a:srgbClr val="C00000"/>
              </a:solidFill>
            </a:endParaRPr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000750" y="2609850"/>
            <a:ext cx="2762250" cy="21145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2438400"/>
            <a:ext cx="2390775" cy="23907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Contents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6096000" cy="4525963"/>
          </a:xfrm>
        </p:spPr>
        <p:txBody>
          <a:bodyPr/>
          <a:lstStyle/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proposal.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vision and scope</a:t>
            </a:r>
            <a:r>
              <a:rPr lang="en-US" sz="2400" dirty="0" smtClean="0"/>
              <a:t>.</a:t>
            </a:r>
          </a:p>
          <a:p>
            <a:pPr marL="571500" lvl="0" indent="-571500">
              <a:buFont typeface="+mj-lt"/>
              <a:buAutoNum type="romanUcPeriod"/>
            </a:pPr>
            <a:r>
              <a:rPr lang="en-US" sz="2400" dirty="0" smtClean="0"/>
              <a:t>Feasibility </a:t>
            </a:r>
            <a:r>
              <a:rPr lang="en-US" sz="2400" dirty="0" smtClean="0"/>
              <a:t>study </a:t>
            </a:r>
            <a:r>
              <a:rPr lang="en-US" sz="2400" dirty="0" smtClean="0"/>
              <a:t>r</a:t>
            </a:r>
            <a:r>
              <a:rPr lang="en-US" sz="2400" dirty="0" smtClean="0"/>
              <a:t>eport.</a:t>
            </a:r>
            <a:endParaRPr lang="en-US" sz="2400" dirty="0" smtClean="0"/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Project </a:t>
            </a:r>
            <a:r>
              <a:rPr lang="en-US" sz="2400" dirty="0" smtClean="0"/>
              <a:t>charter.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Prototype.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Software </a:t>
            </a:r>
            <a:r>
              <a:rPr lang="en-US" sz="2400" dirty="0" smtClean="0"/>
              <a:t>requirements specification.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Architecture.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Proof of concept.</a:t>
            </a:r>
          </a:p>
          <a:p>
            <a:pPr marL="571500" indent="-571500">
              <a:buFont typeface="+mj-lt"/>
              <a:buAutoNum type="romanUcPeriod"/>
            </a:pPr>
            <a:r>
              <a:rPr lang="en-US" sz="2400" dirty="0" smtClean="0"/>
              <a:t>Process </a:t>
            </a:r>
            <a:r>
              <a:rPr lang="en-US" sz="2400" dirty="0" smtClean="0"/>
              <a:t>definition document.</a:t>
            </a:r>
          </a:p>
          <a:p>
            <a:pPr marL="571500" indent="-571500">
              <a:buFont typeface="+mj-lt"/>
              <a:buAutoNum type="romanUcPeriod"/>
            </a:pPr>
            <a:endParaRPr lang="en-US" sz="2400" dirty="0" smtClean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References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0"/>
            <a:ext cx="5257800" cy="4525963"/>
          </a:xfrm>
        </p:spPr>
        <p:txBody>
          <a:bodyPr/>
          <a:lstStyle/>
          <a:p>
            <a:pPr marL="457200" lvl="0" indent="-457200">
              <a:buFont typeface="+mj-lt"/>
              <a:buAutoNum type="arabicPeriod"/>
            </a:pPr>
            <a:r>
              <a:rPr lang="en-US" sz="2400" dirty="0" smtClean="0"/>
              <a:t>Suzanne Robertson and James Robertson (2012). Mastering the Requirements Process. Addison Wesley Professional.</a:t>
            </a:r>
            <a:endParaRPr lang="en-US" sz="2400" dirty="0" smtClean="0"/>
          </a:p>
        </p:txBody>
      </p:sp>
      <p:pic>
        <p:nvPicPr>
          <p:cNvPr id="4" name="Picture 4" descr="http://2.bp.blogspot.com/-FqRM_5NQE6Q/TaSdzyWfvtI/AAAAAAAAAFg/C_2LDJWJOx4/s1600/books-pil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191250" y="1676400"/>
            <a:ext cx="2724150" cy="413385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Team Forming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>
                <a:latin typeface="Calibri" pitchFamily="34" charset="0"/>
              </a:rPr>
              <a:t>Each team has </a:t>
            </a:r>
            <a:r>
              <a:rPr lang="en-US" i="1" dirty="0" smtClean="0">
                <a:solidFill>
                  <a:srgbClr val="C00000"/>
                </a:solidFill>
                <a:latin typeface="Calibri" pitchFamily="34" charset="0"/>
              </a:rPr>
              <a:t>maximum of 6 members</a:t>
            </a:r>
            <a:r>
              <a:rPr lang="en-US" dirty="0" smtClean="0">
                <a:latin typeface="Calibri" pitchFamily="34" charset="0"/>
              </a:rPr>
              <a:t>.</a:t>
            </a:r>
          </a:p>
          <a:p>
            <a:r>
              <a:rPr lang="en-US" dirty="0" smtClean="0">
                <a:latin typeface="Calibri" pitchFamily="34" charset="0"/>
              </a:rPr>
              <a:t>If there are surplus students, some teams may have 7 people.</a:t>
            </a:r>
          </a:p>
          <a:p>
            <a:endParaRPr lang="en-US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62600" y="3685237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cavemaninasuit.com/wp-content/uploads/2020/09/multidisc_teams-1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1828800" y="3717925"/>
            <a:ext cx="2333625" cy="1311275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Brainstorming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RFPs</a:t>
            </a:r>
          </a:p>
          <a:p>
            <a:r>
              <a:rPr lang="en-US" sz="2400" dirty="0" smtClean="0"/>
              <a:t>Research idea</a:t>
            </a:r>
          </a:p>
          <a:p>
            <a:r>
              <a:rPr lang="en-US" sz="2400" dirty="0" smtClean="0"/>
              <a:t>Products</a:t>
            </a:r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915186" y="1524000"/>
            <a:ext cx="2257014" cy="14963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2" descr="https://storiesonboard.com/blog/wp-content/uploads/2017/12/brainstorming-techniques.pn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124200"/>
            <a:ext cx="3810000" cy="3048000"/>
          </a:xfrm>
          <a:prstGeom prst="rect">
            <a:avLst/>
          </a:prstGeom>
          <a:noFill/>
        </p:spPr>
      </p:pic>
      <p:sp>
        <p:nvSpPr>
          <p:cNvPr id="6" name="Rectangle 5"/>
          <p:cNvSpPr/>
          <p:nvPr/>
        </p:nvSpPr>
        <p:spPr>
          <a:xfrm>
            <a:off x="4648200" y="3055203"/>
            <a:ext cx="3962400" cy="83099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6 members</a:t>
            </a:r>
          </a:p>
          <a:p>
            <a:pPr algn="ctr"/>
            <a:r>
              <a:rPr lang="en-US" sz="2400" b="1" dirty="0" smtClean="0">
                <a:latin typeface="Calibri" pitchFamily="34" charset="0"/>
                <a:cs typeface="Calibri" pitchFamily="34" charset="0"/>
              </a:rPr>
              <a:t>8 hours per week / member</a:t>
            </a:r>
            <a:endParaRPr lang="vi-VN" sz="2400" b="1" dirty="0">
              <a:latin typeface="Calibri" pitchFamily="34" charset="0"/>
              <a:cs typeface="Calibri" pitchFamily="34" charset="0"/>
            </a:endParaRPr>
          </a:p>
        </p:txBody>
      </p:sp>
      <p:pic>
        <p:nvPicPr>
          <p:cNvPr id="7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10200" y="41148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Tools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>
                <a:hlinkClick r:id="rId2"/>
              </a:rPr>
              <a:t>https://chatgpt.com/</a:t>
            </a:r>
          </a:p>
          <a:p>
            <a:r>
              <a:rPr lang="en-US" sz="2400" dirty="0" smtClean="0">
                <a:hlinkClick r:id="rId2"/>
              </a:rPr>
              <a:t>https://www.trendhunter.com/</a:t>
            </a:r>
          </a:p>
          <a:p>
            <a:r>
              <a:rPr lang="en-US" sz="2400" dirty="0" smtClean="0">
                <a:hlinkClick r:id="rId2"/>
              </a:rPr>
              <a:t>https://miro.com/</a:t>
            </a:r>
            <a:endParaRPr lang="en-US" sz="2400" dirty="0" smtClean="0"/>
          </a:p>
          <a:p>
            <a:r>
              <a:rPr lang="en-US" sz="2400" dirty="0" smtClean="0">
                <a:hlinkClick r:id="rId3"/>
              </a:rPr>
              <a:t>https://www.figma.com/figjam/</a:t>
            </a:r>
            <a:endParaRPr lang="en-US" sz="2400" dirty="0" smtClean="0"/>
          </a:p>
          <a:p>
            <a:r>
              <a:rPr lang="en-US" sz="2400" dirty="0" smtClean="0">
                <a:hlinkClick r:id="rId4"/>
              </a:rPr>
              <a:t>https://www.notion.com/</a:t>
            </a:r>
            <a:endParaRPr lang="en-US" sz="2400" dirty="0" smtClean="0"/>
          </a:p>
          <a:p>
            <a:r>
              <a:rPr lang="en-US" sz="2400" dirty="0" smtClean="0">
                <a:hlinkClick r:id="rId5"/>
              </a:rPr>
              <a:t>https://workspace.google.com/products/docs/</a:t>
            </a:r>
            <a:endParaRPr lang="en-US" sz="2400" dirty="0" smtClean="0"/>
          </a:p>
          <a:p>
            <a:endParaRPr lang="en-US" sz="2400" dirty="0" smtClean="0"/>
          </a:p>
          <a:p>
            <a:endParaRPr lang="en-US" sz="2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Products: Practical Problems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Apps on your mobile device, your most visited websites.</a:t>
            </a:r>
          </a:p>
          <a:p>
            <a:r>
              <a:rPr lang="en-US" sz="2200" dirty="0" smtClean="0"/>
              <a:t>Trending apps on Google Play, App Store.</a:t>
            </a:r>
          </a:p>
          <a:p>
            <a:r>
              <a:rPr lang="en-US" sz="2200" dirty="0" smtClean="0"/>
              <a:t>Open source software.</a:t>
            </a:r>
          </a:p>
          <a:p>
            <a:r>
              <a:rPr lang="en-US" sz="2200" dirty="0" smtClean="0"/>
              <a:t>Your daily job responsibilities.</a:t>
            </a:r>
          </a:p>
          <a:p>
            <a:r>
              <a:rPr lang="en-US" sz="2200" dirty="0" smtClean="0"/>
              <a:t>Your current </a:t>
            </a:r>
            <a:r>
              <a:rPr lang="en-US" sz="2200" i="1" dirty="0" smtClean="0">
                <a:solidFill>
                  <a:srgbClr val="C00000"/>
                </a:solidFill>
              </a:rPr>
              <a:t>obstacles</a:t>
            </a:r>
            <a:r>
              <a:rPr lang="en-US" sz="2200" dirty="0" smtClean="0"/>
              <a:t>?</a:t>
            </a:r>
          </a:p>
        </p:txBody>
      </p:sp>
      <p:pic>
        <p:nvPicPr>
          <p:cNvPr id="4" name="Picture 2" descr="https://bizflyportal.mediacdn.vn/thumb_wm/1000,100/bizflyportal/techblog/app/so-sanh-google-play-va-app-store-1-16819015419562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743200" y="3962400"/>
            <a:ext cx="3810000" cy="214122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2026 Project Ideas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OCR with LLM-Based Agents.</a:t>
            </a:r>
          </a:p>
          <a:p>
            <a:r>
              <a:rPr lang="en-US" dirty="0" smtClean="0"/>
              <a:t>Document </a:t>
            </a:r>
            <a:r>
              <a:rPr lang="en-US" dirty="0" err="1" smtClean="0"/>
              <a:t>Autocompletion</a:t>
            </a:r>
            <a:r>
              <a:rPr lang="en-US" dirty="0" smtClean="0"/>
              <a:t> with Templates and LLM-Based Agents. (Conga </a:t>
            </a:r>
            <a:r>
              <a:rPr lang="en-US" dirty="0" err="1" smtClean="0"/>
              <a:t>Salesforce</a:t>
            </a:r>
            <a:r>
              <a:rPr lang="en-US" dirty="0" smtClean="0"/>
              <a:t>)</a:t>
            </a:r>
            <a:endParaRPr lang="en-US" dirty="0"/>
          </a:p>
        </p:txBody>
      </p:sp>
      <p:pic>
        <p:nvPicPr>
          <p:cNvPr id="6" name="Picture 2" descr="https://ideascale.com/wp-content/uploads/2015/02/Innovation-Leadership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3886200"/>
            <a:ext cx="1905000" cy="19050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Project Origins? Sponsor? Client?</a:t>
            </a:r>
          </a:p>
          <a:p>
            <a:pPr lvl="1"/>
            <a:r>
              <a:rPr lang="en-US" sz="1800" dirty="0" smtClean="0"/>
              <a:t>Name, address, phone number?</a:t>
            </a:r>
          </a:p>
          <a:p>
            <a:r>
              <a:rPr lang="en-US" sz="2000" dirty="0" smtClean="0"/>
              <a:t>Budget?</a:t>
            </a:r>
          </a:p>
          <a:p>
            <a:r>
              <a:rPr lang="en-US" sz="2000" dirty="0" smtClean="0"/>
              <a:t>Problems?</a:t>
            </a:r>
          </a:p>
          <a:p>
            <a:r>
              <a:rPr lang="en-US" sz="2000" dirty="0" smtClean="0"/>
              <a:t>Problem Relevance?</a:t>
            </a:r>
          </a:p>
          <a:p>
            <a:pPr lvl="1"/>
            <a:r>
              <a:rPr lang="en-US" sz="1800" dirty="0" smtClean="0"/>
              <a:t>Competitors? Similar products? Business goals?</a:t>
            </a:r>
          </a:p>
          <a:p>
            <a:pPr lvl="1"/>
            <a:r>
              <a:rPr lang="en-US" sz="1800" dirty="0" smtClean="0"/>
              <a:t>Product purchased by yourself?</a:t>
            </a:r>
          </a:p>
          <a:p>
            <a:pPr lvl="1"/>
            <a:r>
              <a:rPr lang="en-US" sz="1800" dirty="0" smtClean="0"/>
              <a:t>Related work? Evaluation?</a:t>
            </a:r>
          </a:p>
          <a:p>
            <a:r>
              <a:rPr lang="en-US" sz="2000" dirty="0" smtClean="0"/>
              <a:t>Stakeholders?</a:t>
            </a:r>
          </a:p>
          <a:p>
            <a:pPr lvl="1"/>
            <a:r>
              <a:rPr lang="en-US" sz="1800" dirty="0" smtClean="0"/>
              <a:t>Can you meet with them or reach an agreement?</a:t>
            </a:r>
          </a:p>
          <a:p>
            <a:r>
              <a:rPr lang="en-US" sz="2000" dirty="0" smtClean="0"/>
              <a:t>Business Use Cases?</a:t>
            </a:r>
          </a:p>
          <a:p>
            <a:r>
              <a:rPr lang="en-US" sz="2000" dirty="0" smtClean="0"/>
              <a:t>Time? Cost? Feasibility? Risks?</a:t>
            </a:r>
            <a:endParaRPr lang="en-US" sz="20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6477000" y="18288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7086600" y="20574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6553200" y="4724400"/>
            <a:ext cx="2209800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Business Requirements</a:t>
            </a:r>
            <a:endParaRPr lang="en-US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Selecting Evaluation Criteria and Evaluators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Criteria</a:t>
            </a:r>
          </a:p>
          <a:p>
            <a:pPr lvl="1"/>
            <a:r>
              <a:rPr lang="en-US" dirty="0" smtClean="0"/>
              <a:t>Previous Slide</a:t>
            </a:r>
          </a:p>
          <a:p>
            <a:pPr lvl="1"/>
            <a:r>
              <a:rPr lang="en-US" dirty="0" smtClean="0"/>
              <a:t>Asking AI</a:t>
            </a:r>
          </a:p>
          <a:p>
            <a:r>
              <a:rPr lang="en-US" dirty="0" smtClean="0"/>
              <a:t>Evaluators</a:t>
            </a:r>
          </a:p>
          <a:p>
            <a:pPr lvl="1"/>
            <a:r>
              <a:rPr lang="en-US" dirty="0" smtClean="0"/>
              <a:t>Human</a:t>
            </a:r>
          </a:p>
          <a:p>
            <a:pPr lvl="1"/>
            <a:r>
              <a:rPr lang="en-US" dirty="0" smtClean="0"/>
              <a:t>AI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943600" y="2065020"/>
            <a:ext cx="2103120" cy="27355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Criteria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Evaluate these criteria for evaluating software project proposal.</a:t>
            </a:r>
          </a:p>
          <a:p>
            <a:r>
              <a:rPr lang="en-US" sz="2400" dirty="0" smtClean="0"/>
              <a:t>Search extensively, and evaluate…</a:t>
            </a:r>
          </a:p>
          <a:p>
            <a:r>
              <a:rPr lang="en-US" sz="2400" dirty="0" smtClean="0"/>
              <a:t>Search extensively, and critique these criteria…</a:t>
            </a:r>
            <a:endParaRPr lang="en-US" sz="2400" dirty="0"/>
          </a:p>
        </p:txBody>
      </p:sp>
      <p:pic>
        <p:nvPicPr>
          <p:cNvPr id="4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52800" y="4191000"/>
            <a:ext cx="2602992" cy="16002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Evaluating Project Proposal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000" dirty="0" smtClean="0"/>
              <a:t>Evaluate [proposal.pdf] using these criteria:</a:t>
            </a:r>
          </a:p>
          <a:p>
            <a:r>
              <a:rPr lang="en-US" sz="2000" dirty="0" smtClean="0"/>
              <a:t>Search extensively, then evaluate the proposal.</a:t>
            </a:r>
          </a:p>
          <a:p>
            <a:r>
              <a:rPr lang="en-US" sz="2000" dirty="0" smtClean="0"/>
              <a:t>Search extensively, then critique the proposal.</a:t>
            </a:r>
          </a:p>
          <a:p>
            <a:r>
              <a:rPr lang="en-US" sz="2000" dirty="0" smtClean="0"/>
              <a:t>Conduct an extensive search of competitors' solutions, then critique the proposal.</a:t>
            </a:r>
          </a:p>
          <a:p>
            <a:r>
              <a:rPr lang="en-US" sz="2000" dirty="0" smtClean="0"/>
              <a:t>Search extensively for existing solutions that can be combined to form a solution to the problem, then critique the proposal.</a:t>
            </a:r>
          </a:p>
        </p:txBody>
      </p:sp>
      <p:pic>
        <p:nvPicPr>
          <p:cNvPr id="7" name="Picture 2" descr="Image result for kick-off meeti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971800" y="4350222"/>
            <a:ext cx="3630222" cy="1745778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Finalizing Project Proposal</a:t>
            </a:r>
            <a:endParaRPr lang="en-US" dirty="0"/>
          </a:p>
        </p:txBody>
      </p:sp>
      <p:pic>
        <p:nvPicPr>
          <p:cNvPr id="8" name="Picture 1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2415540"/>
            <a:ext cx="2400300" cy="24612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Prepare Project Vision and Scope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Current state, (manual) </a:t>
            </a:r>
            <a:r>
              <a:rPr lang="en-US" sz="2400" i="1" dirty="0" smtClean="0">
                <a:solidFill>
                  <a:srgbClr val="C00000"/>
                </a:solidFill>
              </a:rPr>
              <a:t>workflows</a:t>
            </a:r>
            <a:r>
              <a:rPr lang="en-US" sz="2400" dirty="0" smtClean="0"/>
              <a:t>, features.</a:t>
            </a:r>
          </a:p>
          <a:p>
            <a:r>
              <a:rPr lang="en-US" sz="2400" dirty="0" smtClean="0"/>
              <a:t>Future state, </a:t>
            </a:r>
            <a:r>
              <a:rPr lang="en-US" sz="2400" i="1" dirty="0" smtClean="0">
                <a:solidFill>
                  <a:srgbClr val="C00000"/>
                </a:solidFill>
              </a:rPr>
              <a:t>workflows</a:t>
            </a:r>
            <a:r>
              <a:rPr lang="en-US" sz="2400" dirty="0" smtClean="0"/>
              <a:t>, features.</a:t>
            </a:r>
            <a:endParaRPr lang="en-US" sz="2400" dirty="0"/>
          </a:p>
        </p:txBody>
      </p:sp>
      <p:pic>
        <p:nvPicPr>
          <p:cNvPr id="10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352800" y="3048000"/>
            <a:ext cx="1714500" cy="2286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2" descr="http://kurld.com/images/wallpapers/document-image/document-image-17.jpg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962400" y="3276600"/>
            <a:ext cx="1567542" cy="1755648"/>
          </a:xfrm>
          <a:prstGeom prst="rect">
            <a:avLst/>
          </a:prstGeom>
          <a:noFill/>
        </p:spPr>
      </p:pic>
      <p:sp>
        <p:nvSpPr>
          <p:cNvPr id="13" name="Rectangle 12"/>
          <p:cNvSpPr/>
          <p:nvPr/>
        </p:nvSpPr>
        <p:spPr>
          <a:xfrm>
            <a:off x="2819400" y="5638800"/>
            <a:ext cx="3124200" cy="43088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2200" i="1" dirty="0" smtClean="0">
                <a:solidFill>
                  <a:srgbClr val="C00000"/>
                </a:solidFill>
                <a:latin typeface="Consolas" pitchFamily="49" charset="0"/>
                <a:cs typeface="Courier New" pitchFamily="49" charset="0"/>
              </a:rPr>
              <a:t>User Requirements</a:t>
            </a:r>
            <a:endParaRPr lang="en-US" sz="2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914900" y="2438400"/>
            <a:ext cx="4076700" cy="36861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76200"/>
            <a:ext cx="8229600" cy="1143000"/>
          </a:xfrm>
        </p:spPr>
        <p:txBody>
          <a:bodyPr/>
          <a:lstStyle/>
          <a:p>
            <a:pPr lvl="0"/>
            <a:r>
              <a:rPr lang="en-US" dirty="0" smtClean="0"/>
              <a:t>Project Charter</a:t>
            </a:r>
            <a:endParaRPr lang="en-US" dirty="0"/>
          </a:p>
        </p:txBody>
      </p:sp>
      <p:sp>
        <p:nvSpPr>
          <p:cNvPr id="12" name="Rectangle 11"/>
          <p:cNvSpPr/>
          <p:nvPr/>
        </p:nvSpPr>
        <p:spPr>
          <a:xfrm>
            <a:off x="304800" y="2362200"/>
            <a:ext cx="5486400" cy="273921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The background, context, overview</a:t>
            </a:r>
            <a:endParaRPr lang="en-US" sz="2000" u="sng" dirty="0" smtClean="0">
              <a:latin typeface="+mj-lt"/>
            </a:endParaRP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Management and Governance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Role/Name/Responsibilities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Project Facilities and Resources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Milestones.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Impact Analysis</a:t>
            </a:r>
          </a:p>
          <a:p>
            <a:pPr marL="971550" lvl="1" indent="-514350">
              <a:buFont typeface="Wingdings" pitchFamily="2" charset="2"/>
              <a:buChar char="v"/>
            </a:pPr>
            <a:r>
              <a:rPr lang="en-US" sz="1600" dirty="0" smtClean="0">
                <a:latin typeface="+mj-lt"/>
              </a:rPr>
              <a:t>Who? What?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Assumptions</a:t>
            </a:r>
          </a:p>
          <a:p>
            <a:pPr marL="514350" indent="-514350">
              <a:buFont typeface="Arial" pitchFamily="34" charset="0"/>
              <a:buChar char="•"/>
            </a:pPr>
            <a:r>
              <a:rPr lang="en-US" sz="2000" dirty="0" smtClean="0">
                <a:latin typeface="+mj-lt"/>
              </a:rPr>
              <a:t>Signatures</a:t>
            </a:r>
          </a:p>
        </p:txBody>
      </p:sp>
      <p:sp>
        <p:nvSpPr>
          <p:cNvPr id="8" name="Rectangle 7"/>
          <p:cNvSpPr/>
          <p:nvPr/>
        </p:nvSpPr>
        <p:spPr>
          <a:xfrm>
            <a:off x="228600" y="1074003"/>
            <a:ext cx="8610600" cy="1200329"/>
          </a:xfrm>
          <a:prstGeom prst="rect">
            <a:avLst/>
          </a:prstGeom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>
            <a:spAutoFit/>
          </a:bodyPr>
          <a:lstStyle/>
          <a:p>
            <a:pPr algn="ctr">
              <a:buNone/>
            </a:pPr>
            <a:r>
              <a:rPr lang="en-US" sz="2400" dirty="0" smtClean="0">
                <a:latin typeface="+mj-lt"/>
              </a:rPr>
              <a:t>A document that </a:t>
            </a:r>
            <a:r>
              <a:rPr lang="en-US" sz="2400" u="sng" dirty="0" smtClean="0">
                <a:latin typeface="+mj-lt"/>
              </a:rPr>
              <a:t>formally</a:t>
            </a:r>
            <a:r>
              <a:rPr lang="en-US" sz="2400" dirty="0" smtClean="0">
                <a:latin typeface="+mj-lt"/>
              </a:rPr>
              <a:t> </a:t>
            </a:r>
            <a:r>
              <a:rPr lang="en-US" sz="2400" i="1" dirty="0" smtClean="0">
                <a:solidFill>
                  <a:srgbClr val="C00000"/>
                </a:solidFill>
                <a:latin typeface="+mj-lt"/>
              </a:rPr>
              <a:t>authorizes</a:t>
            </a:r>
            <a:r>
              <a:rPr lang="en-US" sz="2400" dirty="0" smtClean="0">
                <a:latin typeface="+mj-lt"/>
              </a:rPr>
              <a:t> a project or a phase and documenting </a:t>
            </a:r>
            <a:r>
              <a:rPr lang="en-US" sz="2400" u="sng" dirty="0" smtClean="0">
                <a:solidFill>
                  <a:schemeClr val="tx1"/>
                </a:solidFill>
                <a:latin typeface="+mj-lt"/>
              </a:rPr>
              <a:t>initial requirements</a:t>
            </a:r>
            <a:r>
              <a:rPr lang="en-US" sz="2400" dirty="0" smtClean="0">
                <a:latin typeface="+mj-lt"/>
              </a:rPr>
              <a:t> that satisfy the stakeholder’s </a:t>
            </a:r>
            <a:r>
              <a:rPr lang="en-US" sz="2400" u="sng" dirty="0" smtClean="0">
                <a:latin typeface="+mj-lt"/>
              </a:rPr>
              <a:t>needs</a:t>
            </a:r>
            <a:r>
              <a:rPr lang="en-US" sz="2400" dirty="0" smtClean="0">
                <a:latin typeface="+mj-lt"/>
              </a:rPr>
              <a:t> and </a:t>
            </a:r>
            <a:r>
              <a:rPr lang="en-US" sz="2400" u="sng" dirty="0" smtClean="0">
                <a:latin typeface="+mj-lt"/>
              </a:rPr>
              <a:t>expectations</a:t>
            </a:r>
            <a:r>
              <a:rPr lang="en-US" sz="2400" dirty="0" smtClean="0">
                <a:latin typeface="+mj-l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Responsibility Assignment Matrix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2362200"/>
          </a:xfrm>
        </p:spPr>
        <p:txBody>
          <a:bodyPr/>
          <a:lstStyle/>
          <a:p>
            <a:r>
              <a:rPr lang="en-US" sz="2200" dirty="0" smtClean="0"/>
              <a:t>Responsibility Assignment Matrix (RAM), also known as </a:t>
            </a:r>
          </a:p>
          <a:p>
            <a:r>
              <a:rPr lang="en-US" sz="2200" dirty="0" smtClean="0"/>
              <a:t>RACI matrix (Responsible, Accountable, Consulted, and Informed matrix), or</a:t>
            </a:r>
          </a:p>
          <a:p>
            <a:r>
              <a:rPr lang="en-US" sz="2200" dirty="0" smtClean="0"/>
              <a:t>LRC (linear responsibility chart)</a:t>
            </a:r>
          </a:p>
          <a:p>
            <a:r>
              <a:rPr lang="en-US" sz="2200" dirty="0" smtClean="0"/>
              <a:t>describes the participation by various roles in completing tasks or deliverables for a project.</a:t>
            </a:r>
          </a:p>
        </p:txBody>
      </p:sp>
      <p:pic>
        <p:nvPicPr>
          <p:cNvPr id="38914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" y="4038600"/>
            <a:ext cx="4417695" cy="24460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5" name="TextBox 4"/>
          <p:cNvSpPr txBox="1"/>
          <p:nvPr/>
        </p:nvSpPr>
        <p:spPr>
          <a:xfrm>
            <a:off x="4901044" y="4495800"/>
            <a:ext cx="4014355" cy="17851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Responsibility</a:t>
            </a:r>
            <a:r>
              <a:rPr lang="en-US" sz="2200" dirty="0" smtClean="0">
                <a:latin typeface="+mj-lt"/>
              </a:rPr>
              <a:t> can be shared.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sz="2200" i="1" dirty="0" smtClean="0">
                <a:solidFill>
                  <a:srgbClr val="C00000"/>
                </a:solidFill>
                <a:latin typeface="+mj-lt"/>
              </a:rPr>
              <a:t>Accountability</a:t>
            </a:r>
            <a:r>
              <a:rPr lang="en-US" sz="2200" dirty="0" smtClean="0">
                <a:latin typeface="+mj-lt"/>
              </a:rPr>
              <a:t> cannot be shared. It is something you hold a person to only after a task is done </a:t>
            </a:r>
            <a:r>
              <a:rPr lang="en-US" sz="2200" b="1" dirty="0" smtClean="0">
                <a:latin typeface="+mj-lt"/>
              </a:rPr>
              <a:t>or not done</a:t>
            </a:r>
            <a:r>
              <a:rPr lang="en-US" sz="2200" dirty="0" smtClean="0">
                <a:latin typeface="+mj-lt"/>
              </a:rPr>
              <a:t>.</a:t>
            </a:r>
          </a:p>
        </p:txBody>
      </p:sp>
      <p:sp>
        <p:nvSpPr>
          <p:cNvPr id="9" name="Rectangle 8"/>
          <p:cNvSpPr/>
          <p:nvPr/>
        </p:nvSpPr>
        <p:spPr>
          <a:xfrm>
            <a:off x="609600" y="5410200"/>
            <a:ext cx="1066800" cy="307777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square">
            <a:spAutoFit/>
          </a:bodyPr>
          <a:lstStyle/>
          <a:p>
            <a:pPr algn="ctr"/>
            <a:r>
              <a:rPr lang="en-US" sz="1400" b="1" dirty="0" smtClean="0">
                <a:latin typeface="+mj-lt"/>
              </a:rPr>
              <a:t>Deliverable</a:t>
            </a:r>
            <a:endParaRPr lang="en-US" sz="1400" b="1" dirty="0">
              <a:latin typeface="+mj-lt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Project </a:t>
            </a:r>
            <a:r>
              <a:rPr lang="en-US" dirty="0" smtClean="0"/>
              <a:t>Blastoff Meeting </a:t>
            </a:r>
            <a:r>
              <a:rPr lang="en-US" dirty="0" smtClean="0"/>
              <a:t>[1]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Blastoff</a:t>
            </a:r>
            <a:r>
              <a:rPr lang="en-US" sz="2400" dirty="0" smtClean="0"/>
              <a:t> is also known as "project initiation," "</a:t>
            </a:r>
            <a:r>
              <a:rPr lang="en-US" sz="2400" i="1" dirty="0" smtClean="0">
                <a:solidFill>
                  <a:srgbClr val="C00000"/>
                </a:solidFill>
              </a:rPr>
              <a:t>kickoff</a:t>
            </a:r>
            <a:r>
              <a:rPr lang="en-US" sz="2400" dirty="0" smtClean="0"/>
              <a:t>," "charter," "project launch," and many other things.</a:t>
            </a:r>
          </a:p>
          <a:p>
            <a:r>
              <a:rPr lang="en-US" sz="2400" dirty="0" smtClean="0"/>
              <a:t>The blastoff meeting prepares the project and ensures its </a:t>
            </a:r>
            <a:r>
              <a:rPr lang="en-US" sz="2400" i="1" dirty="0" smtClean="0">
                <a:solidFill>
                  <a:srgbClr val="C00000"/>
                </a:solidFill>
              </a:rPr>
              <a:t>feasibility</a:t>
            </a:r>
            <a:r>
              <a:rPr lang="en-US" sz="2400" dirty="0" smtClean="0"/>
              <a:t> before launching the detailed requirements effort.</a:t>
            </a:r>
          </a:p>
          <a:p>
            <a:endParaRPr lang="en-US" sz="2400" dirty="0"/>
          </a:p>
        </p:txBody>
      </p:sp>
      <p:pic>
        <p:nvPicPr>
          <p:cNvPr id="4" name="Picture 3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124200" y="3352800"/>
            <a:ext cx="4286250" cy="31337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5" name="Picture 5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85800" y="3429000"/>
            <a:ext cx="1699260" cy="8115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6" name="Picture 2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914400" y="4419600"/>
            <a:ext cx="1552575" cy="1685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Checklist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i="1" dirty="0" smtClean="0">
                <a:solidFill>
                  <a:srgbClr val="C00000"/>
                </a:solidFill>
              </a:rPr>
              <a:t>Why</a:t>
            </a:r>
            <a:r>
              <a:rPr lang="en-US" sz="2400" dirty="0" smtClean="0"/>
              <a:t> this project?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problems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What are the </a:t>
            </a:r>
            <a:r>
              <a:rPr lang="en-US" sz="2400" i="1" dirty="0" smtClean="0">
                <a:solidFill>
                  <a:srgbClr val="C00000"/>
                </a:solidFill>
              </a:rPr>
              <a:t>deliverables</a:t>
            </a:r>
            <a:r>
              <a:rPr lang="en-US" sz="2400" dirty="0" smtClean="0"/>
              <a:t>?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How</a:t>
            </a:r>
            <a:r>
              <a:rPr lang="en-US" sz="2400" dirty="0" smtClean="0"/>
              <a:t> will we solve the problems?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Technical</a:t>
            </a:r>
            <a:r>
              <a:rPr lang="en-US" sz="2000" dirty="0" smtClean="0"/>
              <a:t> aspects (High level solution)</a:t>
            </a:r>
          </a:p>
          <a:p>
            <a:pPr lvl="1"/>
            <a:r>
              <a:rPr lang="en-US" sz="2000" i="1" dirty="0" smtClean="0">
                <a:solidFill>
                  <a:srgbClr val="C00000"/>
                </a:solidFill>
              </a:rPr>
              <a:t>Management</a:t>
            </a:r>
            <a:r>
              <a:rPr lang="en-US" sz="2000" dirty="0" smtClean="0"/>
              <a:t> aspects (Who is responsible for what?)</a:t>
            </a:r>
          </a:p>
          <a:p>
            <a:r>
              <a:rPr lang="en-US" sz="2400" i="1" dirty="0" smtClean="0">
                <a:solidFill>
                  <a:srgbClr val="C00000"/>
                </a:solidFill>
              </a:rPr>
              <a:t>When</a:t>
            </a:r>
            <a:r>
              <a:rPr lang="en-US" sz="2400" dirty="0" smtClean="0"/>
              <a:t> must we complete the project?</a:t>
            </a:r>
          </a:p>
        </p:txBody>
      </p:sp>
      <p:pic>
        <p:nvPicPr>
          <p:cNvPr id="4" name="Picture 2" descr="https://www.articlelist.com/wp-content/uploads/2019/02/Best-questions-to-get-to-know-someone-better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895600" y="4724400"/>
            <a:ext cx="3251200" cy="16256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 descr="https://lh3.ggpht.com/1IfZLL2QDSjZ0wS7sUhaMlsAOS8BBzdR3wZ1WawgRn7KZAM8nEVZYMOUM-lqQb0ikIzp=w300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3276600" y="1905000"/>
            <a:ext cx="2857500" cy="2857500"/>
          </a:xfrm>
          <a:prstGeom prst="rect">
            <a:avLst/>
          </a:prstGeom>
          <a:noFill/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Prototype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smtClean="0"/>
              <a:t>Workflow UIs.</a:t>
            </a:r>
            <a:endParaRPr lang="en-US" dirty="0"/>
          </a:p>
        </p:txBody>
      </p:sp>
      <p:pic>
        <p:nvPicPr>
          <p:cNvPr id="4" name="Picture 2" descr="https://media.licdn.com/mpr/mpr/shrinknp_400_400/p/8/005/06e/2c4/3ea6fad.jp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939051" y="1849438"/>
            <a:ext cx="1905000" cy="1905000"/>
          </a:xfrm>
          <a:prstGeom prst="rect">
            <a:avLst/>
          </a:prstGeom>
          <a:noFill/>
        </p:spPr>
      </p:pic>
      <p:pic>
        <p:nvPicPr>
          <p:cNvPr id="5" name="Picture 2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671851" y="2752725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4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3948451" y="3906838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7" name="Straight Arrow Connector 6"/>
          <p:cNvCxnSpPr/>
          <p:nvPr/>
        </p:nvCxnSpPr>
        <p:spPr>
          <a:xfrm flipV="1">
            <a:off x="3262651" y="3133725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8" name="Rectangle 7"/>
          <p:cNvSpPr/>
          <p:nvPr/>
        </p:nvSpPr>
        <p:spPr>
          <a:xfrm>
            <a:off x="6767851" y="2828925"/>
            <a:ext cx="1842749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Prototype</a:t>
            </a:r>
            <a:endParaRPr lang="en-US" sz="3200" u="sng" dirty="0" smtClean="0">
              <a:latin typeface="+mj-lt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Product Backlog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400" dirty="0" smtClean="0"/>
              <a:t>Features with </a:t>
            </a:r>
            <a:r>
              <a:rPr lang="en-US" sz="2400" i="1" dirty="0" smtClean="0">
                <a:solidFill>
                  <a:srgbClr val="C00000"/>
                </a:solidFill>
              </a:rPr>
              <a:t>acceptance criteria</a:t>
            </a:r>
            <a:r>
              <a:rPr lang="en-US" sz="2400" dirty="0" smtClean="0"/>
              <a:t> mapped to workflows.</a:t>
            </a:r>
            <a:endParaRPr lang="en-US" sz="24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33400" y="2579687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5" name="Picture 4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810000" y="37338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6" name="Straight Arrow Connector 5"/>
          <p:cNvCxnSpPr/>
          <p:nvPr/>
        </p:nvCxnSpPr>
        <p:spPr>
          <a:xfrm flipV="1">
            <a:off x="3124200" y="2960687"/>
            <a:ext cx="1828800" cy="60960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7" name="Rectangle 6"/>
          <p:cNvSpPr/>
          <p:nvPr/>
        </p:nvSpPr>
        <p:spPr>
          <a:xfrm>
            <a:off x="5562600" y="4415135"/>
            <a:ext cx="2733441" cy="46166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2400" dirty="0" smtClean="0">
                <a:solidFill>
                  <a:srgbClr val="C00000"/>
                </a:solidFill>
                <a:latin typeface="Consolas" pitchFamily="49" charset="0"/>
              </a:rPr>
              <a:t>Product Backlog</a:t>
            </a:r>
            <a:endParaRPr lang="en-US" sz="2400" u="sng" dirty="0" smtClean="0">
              <a:solidFill>
                <a:srgbClr val="C00000"/>
              </a:solidFill>
              <a:latin typeface="Consolas" pitchFamily="49" charset="0"/>
            </a:endParaRPr>
          </a:p>
        </p:txBody>
      </p:sp>
      <p:pic>
        <p:nvPicPr>
          <p:cNvPr id="8" name="Picture 2" descr="https://encrypted-tbn0.gstatic.com/images?q=tbn:ANd9GcSFjELCnVms4p5uVj-2QT-D0xKkPIXw-rq3XA&amp;s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5486400" y="2205335"/>
            <a:ext cx="2143125" cy="2143125"/>
          </a:xfrm>
          <a:prstGeom prst="rect">
            <a:avLst/>
          </a:prstGeom>
          <a:noFill/>
        </p:spPr>
      </p:pic>
      <p:sp>
        <p:nvSpPr>
          <p:cNvPr id="9" name="Rectangle 8"/>
          <p:cNvSpPr/>
          <p:nvPr/>
        </p:nvSpPr>
        <p:spPr>
          <a:xfrm>
            <a:off x="3733800" y="5486400"/>
            <a:ext cx="4572000" cy="830997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>
            <a:spAutoFit/>
          </a:bodyPr>
          <a:lstStyle/>
          <a:p>
            <a:pPr algn="ctr"/>
            <a:r>
              <a:rPr lang="en-US" sz="2400" dirty="0" smtClean="0"/>
              <a:t>Software Requirements Specification or Product Backlog</a:t>
            </a:r>
            <a:endParaRPr lang="en-US" sz="24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Architecture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1828800"/>
          </a:xfrm>
        </p:spPr>
        <p:txBody>
          <a:bodyPr/>
          <a:lstStyle/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application type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architectural style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technology stack</a:t>
            </a:r>
            <a:r>
              <a:rPr lang="en-US" sz="2400" dirty="0" smtClean="0"/>
              <a:t>?</a:t>
            </a:r>
          </a:p>
          <a:p>
            <a:r>
              <a:rPr lang="en-US" sz="2400" dirty="0" smtClean="0"/>
              <a:t>Why choose this </a:t>
            </a:r>
            <a:r>
              <a:rPr lang="en-US" sz="2400" i="1" dirty="0" smtClean="0">
                <a:solidFill>
                  <a:srgbClr val="C00000"/>
                </a:solidFill>
              </a:rPr>
              <a:t>platform</a:t>
            </a:r>
            <a:r>
              <a:rPr lang="en-US" sz="2400" dirty="0" smtClean="0"/>
              <a:t>, this  </a:t>
            </a:r>
            <a:r>
              <a:rPr lang="en-US" sz="2400" i="1" dirty="0" smtClean="0">
                <a:solidFill>
                  <a:srgbClr val="C00000"/>
                </a:solidFill>
              </a:rPr>
              <a:t>framework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portal</a:t>
            </a:r>
            <a:r>
              <a:rPr lang="en-US" sz="2400" dirty="0" smtClean="0"/>
              <a:t>, this </a:t>
            </a:r>
            <a:r>
              <a:rPr lang="en-US" sz="2400" i="1" dirty="0" smtClean="0">
                <a:solidFill>
                  <a:srgbClr val="C00000"/>
                </a:solidFill>
              </a:rPr>
              <a:t>CMS</a:t>
            </a:r>
            <a:r>
              <a:rPr lang="en-US" sz="2400" dirty="0" smtClean="0"/>
              <a:t>.</a:t>
            </a:r>
          </a:p>
        </p:txBody>
      </p:sp>
      <p:pic>
        <p:nvPicPr>
          <p:cNvPr id="1026" name="Picture 2" descr="https://magora-systems.com/uploads/pages/732/H97dpZrWrwG-Yxqf3Y7gbvBUq5K2OHWt.png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4865370" y="4236554"/>
            <a:ext cx="3897630" cy="1905000"/>
          </a:xfrm>
          <a:prstGeom prst="rect">
            <a:avLst/>
          </a:prstGeom>
          <a:noFill/>
        </p:spPr>
      </p:pic>
      <p:pic>
        <p:nvPicPr>
          <p:cNvPr id="1030" name="Picture 6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30878" y="3931754"/>
            <a:ext cx="4241122" cy="255496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158722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2895600" y="3581400"/>
            <a:ext cx="2933700" cy="1762316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7200900" y="356235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Create a Proof of Concept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200" dirty="0" smtClean="0"/>
              <a:t>The simplest feature that demonstrates the entire technology stack.</a:t>
            </a:r>
          </a:p>
          <a:p>
            <a:r>
              <a:rPr lang="en-US" sz="2200" dirty="0" smtClean="0"/>
              <a:t>The most difficult feature.</a:t>
            </a:r>
            <a:endParaRPr lang="en-US" sz="2200" dirty="0"/>
          </a:p>
        </p:txBody>
      </p:sp>
      <p:pic>
        <p:nvPicPr>
          <p:cNvPr id="4" name="Picture 2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552450" y="2819400"/>
            <a:ext cx="3181350" cy="34194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cxnSp>
        <p:nvCxnSpPr>
          <p:cNvPr id="5" name="Straight Arrow Connector 4"/>
          <p:cNvCxnSpPr/>
          <p:nvPr/>
        </p:nvCxnSpPr>
        <p:spPr>
          <a:xfrm>
            <a:off x="2971800" y="3646487"/>
            <a:ext cx="1219200" cy="0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pic>
        <p:nvPicPr>
          <p:cNvPr id="6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4343400" y="4713287"/>
            <a:ext cx="1474787" cy="13065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7" name="Picture 3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267200" y="2823591"/>
            <a:ext cx="2298954" cy="167220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8" name="Straight Arrow Connector 7"/>
          <p:cNvCxnSpPr/>
          <p:nvPr/>
        </p:nvCxnSpPr>
        <p:spPr>
          <a:xfrm>
            <a:off x="3733800" y="5257800"/>
            <a:ext cx="685800" cy="1"/>
          </a:xfrm>
          <a:prstGeom prst="straightConnector1">
            <a:avLst/>
          </a:prstGeom>
          <a:ln>
            <a:tailEnd type="arrow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</p:cxnSp>
      <p:sp>
        <p:nvSpPr>
          <p:cNvPr id="9" name="Rectangle 8"/>
          <p:cNvSpPr/>
          <p:nvPr/>
        </p:nvSpPr>
        <p:spPr>
          <a:xfrm>
            <a:off x="5943600" y="5170487"/>
            <a:ext cx="284706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marL="514350" indent="-514350"/>
            <a:r>
              <a:rPr lang="en-US" sz="3200" dirty="0" smtClean="0">
                <a:latin typeface="+mj-lt"/>
              </a:rPr>
              <a:t>Problem solving</a:t>
            </a:r>
            <a:endParaRPr lang="en-US" sz="3200" u="sng" dirty="0" smtClean="0">
              <a:latin typeface="+mj-lt"/>
            </a:endParaRPr>
          </a:p>
        </p:txBody>
      </p:sp>
      <p:pic>
        <p:nvPicPr>
          <p:cNvPr id="10" name="Picture 2" descr="https://assets.jobscore.com/pictures/retina_aotZ6gqfGr6A7gcR_n82lY.jpg"/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685800" y="4256087"/>
            <a:ext cx="2933700" cy="1762316"/>
          </a:xfrm>
          <a:prstGeom prst="rect">
            <a:avLst/>
          </a:prstGeom>
          <a:noFill/>
        </p:spPr>
      </p:pic>
      <p:pic>
        <p:nvPicPr>
          <p:cNvPr id="11" name="Picture 4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6934200" y="3048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Select a Development Method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sz="2500" dirty="0" smtClean="0"/>
              <a:t>Waterfall?</a:t>
            </a:r>
          </a:p>
          <a:p>
            <a:r>
              <a:rPr lang="en-US" sz="2500" dirty="0" smtClean="0"/>
              <a:t>RUP?</a:t>
            </a:r>
          </a:p>
          <a:p>
            <a:r>
              <a:rPr lang="en-US" sz="2500" dirty="0" smtClean="0"/>
              <a:t>Scrum?</a:t>
            </a:r>
          </a:p>
          <a:p>
            <a:r>
              <a:rPr lang="en-US" sz="2500" dirty="0" err="1" smtClean="0"/>
              <a:t>Kanban</a:t>
            </a:r>
            <a:r>
              <a:rPr lang="en-US" sz="2500" dirty="0" smtClean="0"/>
              <a:t>?</a:t>
            </a:r>
            <a:endParaRPr lang="en-US" sz="2500" dirty="0"/>
          </a:p>
        </p:txBody>
      </p:sp>
      <p:pic>
        <p:nvPicPr>
          <p:cNvPr id="5" name="Picture 3">
            <a:hlinkClick r:id="rId2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04800" y="4087368"/>
            <a:ext cx="3419094" cy="238963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2">
            <a:hlinkClick r:id="rId4" action="ppaction://hlinkpres?slideindex=1&amp;slidetitle="/>
          </p:cNvPr>
          <p:cNvPicPr>
            <a:picLocks noChangeAspect="1" noChangeArrowheads="1"/>
          </p:cNvPicPr>
          <p:nvPr/>
        </p:nvPicPr>
        <p:blipFill>
          <a:blip r:embed="rId5" cstate="print"/>
          <a:srcRect/>
          <a:stretch>
            <a:fillRect/>
          </a:stretch>
        </p:blipFill>
        <p:spPr bwMode="auto">
          <a:xfrm>
            <a:off x="4038600" y="4422267"/>
            <a:ext cx="4864227" cy="213093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7" name="Rectangle 6"/>
          <p:cNvSpPr/>
          <p:nvPr/>
        </p:nvSpPr>
        <p:spPr>
          <a:xfrm>
            <a:off x="5486400" y="3965067"/>
            <a:ext cx="3352799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>
                <a:latin typeface="+mj-lt"/>
              </a:rPr>
              <a:t>RUP (Rational Unified Process)</a:t>
            </a:r>
            <a:endParaRPr lang="en-US" b="1" dirty="0">
              <a:latin typeface="+mj-lt"/>
            </a:endParaRPr>
          </a:p>
        </p:txBody>
      </p:sp>
      <p:pic>
        <p:nvPicPr>
          <p:cNvPr id="8" name="Picture 2" descr="http://www.texasrockgym.com/wp-content/uploads/2016/04/exercise.jpg"/>
          <p:cNvPicPr>
            <a:picLocks noChangeAspect="1" noChangeArrowheads="1"/>
          </p:cNvPicPr>
          <p:nvPr/>
        </p:nvPicPr>
        <p:blipFill>
          <a:blip r:embed="rId6" cstate="print"/>
          <a:srcRect/>
          <a:stretch>
            <a:fillRect/>
          </a:stretch>
        </p:blipFill>
        <p:spPr bwMode="auto">
          <a:xfrm>
            <a:off x="3962400" y="1752600"/>
            <a:ext cx="2602992" cy="1600200"/>
          </a:xfrm>
          <a:prstGeom prst="rect">
            <a:avLst/>
          </a:prstGeom>
          <a:noFill/>
        </p:spPr>
      </p:pic>
      <p:pic>
        <p:nvPicPr>
          <p:cNvPr id="9" name="Picture 4"/>
          <p:cNvPicPr>
            <a:picLocks noChangeAspect="1" noChangeArrowheads="1"/>
          </p:cNvPicPr>
          <p:nvPr/>
        </p:nvPicPr>
        <p:blipFill>
          <a:blip r:embed="rId7" cstate="print"/>
          <a:srcRect/>
          <a:stretch>
            <a:fillRect/>
          </a:stretch>
        </p:blipFill>
        <p:spPr bwMode="auto">
          <a:xfrm>
            <a:off x="6858000" y="1905000"/>
            <a:ext cx="1333500" cy="13144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4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dirty="0" smtClean="0"/>
              <a:t>Thank You &amp; See You Again</a:t>
            </a:r>
          </a:p>
        </p:txBody>
      </p:sp>
      <p:pic>
        <p:nvPicPr>
          <p:cNvPr id="5" name="Content Placeholder 4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/>
          <a:srcRect/>
          <a:stretch>
            <a:fillRect/>
          </a:stretch>
        </p:blipFill>
        <p:spPr>
          <a:xfrm>
            <a:off x="1143000" y="1676400"/>
            <a:ext cx="6810375" cy="4525963"/>
          </a:xfrm>
          <a:noFill/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29755</TotalTime>
  <Words>782</Words>
  <Application>Microsoft Office PowerPoint</Application>
  <PresentationFormat>On-screen Show (4:3)</PresentationFormat>
  <Paragraphs>145</Paragraphs>
  <Slides>26</Slides>
  <Notes>3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7" baseType="lpstr">
      <vt:lpstr>Office Theme</vt:lpstr>
      <vt:lpstr>Software Project Initiation</vt:lpstr>
      <vt:lpstr>Objectives</vt:lpstr>
      <vt:lpstr>Contents</vt:lpstr>
      <vt:lpstr>References</vt:lpstr>
      <vt:lpstr>Team Forming</vt:lpstr>
      <vt:lpstr>Brainstorming Project Ideas</vt:lpstr>
      <vt:lpstr>Tools</vt:lpstr>
      <vt:lpstr>Products: Practical Problems</vt:lpstr>
      <vt:lpstr>2026 Project Ideas</vt:lpstr>
      <vt:lpstr>Prepare Project Proposal</vt:lpstr>
      <vt:lpstr>Selecting Evaluation Criteria and Evaluators</vt:lpstr>
      <vt:lpstr>Evaluating Criteria</vt:lpstr>
      <vt:lpstr>Evaluating Project Proposal</vt:lpstr>
      <vt:lpstr>Finalizing Project Proposal</vt:lpstr>
      <vt:lpstr>Prepare Project Vision and Scope</vt:lpstr>
      <vt:lpstr>Project Charter</vt:lpstr>
      <vt:lpstr>Responsibility Assignment Matrix</vt:lpstr>
      <vt:lpstr>Project Blastoff Meeting [1]</vt:lpstr>
      <vt:lpstr>Checklist</vt:lpstr>
      <vt:lpstr>Slide 20</vt:lpstr>
      <vt:lpstr>Create a Prototype</vt:lpstr>
      <vt:lpstr>Create a Product Backlog</vt:lpstr>
      <vt:lpstr>Create Architecture</vt:lpstr>
      <vt:lpstr>Create a Proof of Concept</vt:lpstr>
      <vt:lpstr>Select a Development Method</vt:lpstr>
      <vt:lpstr>Thank You &amp; See You Again</vt:lpstr>
    </vt:vector>
  </TitlesOfParts>
  <Company>HuyBien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Slide 1</dc:title>
  <dc:creator>NgoHuyBien</dc:creator>
  <cp:lastModifiedBy>Ngo Huy Bien</cp:lastModifiedBy>
  <cp:revision>9362</cp:revision>
  <dcterms:created xsi:type="dcterms:W3CDTF">2007-10-06T08:25:13Z</dcterms:created>
  <dcterms:modified xsi:type="dcterms:W3CDTF">2026-07-10T18:57:17Z</dcterms:modified>
</cp:coreProperties>
</file>