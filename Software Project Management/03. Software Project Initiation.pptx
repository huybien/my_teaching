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25"/>
  </p:notesMasterIdLst>
  <p:handoutMasterIdLst>
    <p:handoutMasterId r:id="rId26"/>
  </p:handoutMasterIdLst>
  <p:sldIdLst>
    <p:sldId id="256" r:id="rId2"/>
    <p:sldId id="499" r:id="rId3"/>
    <p:sldId id="671" r:id="rId4"/>
    <p:sldId id="839" r:id="rId5"/>
    <p:sldId id="881" r:id="rId6"/>
    <p:sldId id="882" r:id="rId7"/>
    <p:sldId id="883" r:id="rId8"/>
    <p:sldId id="888" r:id="rId9"/>
    <p:sldId id="884" r:id="rId10"/>
    <p:sldId id="886" r:id="rId11"/>
    <p:sldId id="887" r:id="rId12"/>
    <p:sldId id="855" r:id="rId13"/>
    <p:sldId id="872" r:id="rId14"/>
    <p:sldId id="879" r:id="rId15"/>
    <p:sldId id="873" r:id="rId16"/>
    <p:sldId id="874" r:id="rId17"/>
    <p:sldId id="842" r:id="rId18"/>
    <p:sldId id="875" r:id="rId19"/>
    <p:sldId id="876" r:id="rId20"/>
    <p:sldId id="877" r:id="rId21"/>
    <p:sldId id="843" r:id="rId22"/>
    <p:sldId id="830" r:id="rId23"/>
    <p:sldId id="343" r:id="rId24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20376" autoAdjust="0"/>
    <p:restoredTop sz="90392" autoAdjust="0"/>
  </p:normalViewPr>
  <p:slideViewPr>
    <p:cSldViewPr>
      <p:cViewPr>
        <p:scale>
          <a:sx n="50" d="100"/>
          <a:sy n="50" d="100"/>
        </p:scale>
        <p:origin x="-1476" y="-3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CF70C7-1A17-4B8F-8E82-A20E29AAAC58}" type="datetimeFigureOut">
              <a:rPr lang="en-US" smtClean="0"/>
              <a:pPr/>
              <a:t>6/18/2026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D3D353-3471-4C5D-A6F3-11F1DDA05BD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2150E-24DE-4D23-AF8D-CF01896B0C83}" type="datetimeFigureOut">
              <a:rPr lang="en-US" smtClean="0"/>
              <a:pPr/>
              <a:t>6/18/2026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E95B1-5ED0-4005-B293-784E4C93134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18</a:t>
            </a:fld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19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figjam/" TargetMode="External"/><Relationship Id="rId2" Type="http://schemas.openxmlformats.org/officeDocument/2006/relationships/hyperlink" Target="https://mir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orkspace.google.com/products/docs/" TargetMode="External"/><Relationship Id="rId4" Type="http://schemas.openxmlformats.org/officeDocument/2006/relationships/hyperlink" Target="https://www.notion.com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24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31.png"/><Relationship Id="rId7" Type="http://schemas.openxmlformats.org/officeDocument/2006/relationships/image" Target="../media/image7.jpeg"/><Relationship Id="rId2" Type="http://schemas.openxmlformats.org/officeDocument/2006/relationships/hyperlink" Target="10.%20Scrum%20Development%20Process.pptx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eg"/><Relationship Id="rId5" Type="http://schemas.openxmlformats.org/officeDocument/2006/relationships/image" Target="../media/image32.png"/><Relationship Id="rId4" Type="http://schemas.openxmlformats.org/officeDocument/2006/relationships/hyperlink" Target="14.%20The%20Rational%20Unified%20Process.pptx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Software Project Initiation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3434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executive summary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vision and scope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mockup</a:t>
            </a:r>
            <a:r>
              <a:rPr lang="en-US" sz="2200" dirty="0" smtClean="0"/>
              <a:t> and </a:t>
            </a:r>
            <a:r>
              <a:rPr lang="en-US" sz="2200" i="1" dirty="0" smtClean="0">
                <a:solidFill>
                  <a:srgbClr val="C00000"/>
                </a:solidFill>
              </a:rPr>
              <a:t>prototype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software requirements specification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</a:t>
            </a:r>
            <a:r>
              <a:rPr lang="en-US" sz="2200" smtClean="0"/>
              <a:t>an </a:t>
            </a:r>
            <a:r>
              <a:rPr lang="en-US" sz="2200" i="1" smtClean="0">
                <a:solidFill>
                  <a:srgbClr val="C00000"/>
                </a:solidFill>
              </a:rPr>
              <a:t>architecture</a:t>
            </a:r>
            <a:r>
              <a:rPr lang="en-US" sz="220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feasibility study report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proof of concept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charter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process definition document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609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vision and scope.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Mockup, prototype.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requirements specification.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Proof of concept.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charter.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Process definition document.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Project Management Institute (2017). A Guide to the Project Management Body of Knowledge. Sixth Edition. Project Management Institute.</a:t>
            </a:r>
          </a:p>
          <a:p>
            <a:pPr marL="514350" indent="-514350">
              <a:buFont typeface="+mj-lt"/>
              <a:buAutoNum type="arabicPeriod"/>
            </a:pPr>
            <a:endParaRPr lang="en-US" sz="2200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Forming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Calibri" pitchFamily="34" charset="0"/>
              </a:rPr>
              <a:t>Each team has </a:t>
            </a:r>
            <a:r>
              <a:rPr lang="en-US" i="1" dirty="0" smtClean="0">
                <a:solidFill>
                  <a:srgbClr val="C00000"/>
                </a:solidFill>
                <a:latin typeface="Calibri" pitchFamily="34" charset="0"/>
              </a:rPr>
              <a:t>maximum of 6 members</a:t>
            </a:r>
            <a:r>
              <a:rPr lang="en-US" dirty="0" smtClean="0">
                <a:latin typeface="Calibri" pitchFamily="34" charset="0"/>
              </a:rPr>
              <a:t>.</a:t>
            </a:r>
          </a:p>
          <a:p>
            <a:r>
              <a:rPr lang="en-US" dirty="0" smtClean="0">
                <a:latin typeface="Calibri" pitchFamily="34" charset="0"/>
              </a:rPr>
              <a:t>If there are surplus students, some teams may have 7 people.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3685237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cavemaninasuit.com/wp-content/uploads/2020/09/multidisc_teams-1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3717925"/>
            <a:ext cx="2333625" cy="1311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Brainstorming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RFPs</a:t>
            </a:r>
          </a:p>
          <a:p>
            <a:r>
              <a:rPr lang="en-US" sz="2400" dirty="0" smtClean="0"/>
              <a:t>Research idea</a:t>
            </a:r>
          </a:p>
          <a:p>
            <a:r>
              <a:rPr lang="en-US" sz="2400" dirty="0" smtClean="0"/>
              <a:t>Products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15186" y="1524000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storiesonboard.com/blog/wp-content/uploads/2017/12/brainstorming-techniques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124200"/>
            <a:ext cx="3810000" cy="3048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648200" y="3055203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7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10200" y="41148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Products: Practical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Apps on your mobile device, your most visited websites.</a:t>
            </a:r>
          </a:p>
          <a:p>
            <a:r>
              <a:rPr lang="en-US" sz="2200" dirty="0" smtClean="0"/>
              <a:t>Trending apps on Google Play, App Store.</a:t>
            </a:r>
          </a:p>
          <a:p>
            <a:r>
              <a:rPr lang="en-US" sz="2200" dirty="0" smtClean="0"/>
              <a:t>Open source software.</a:t>
            </a:r>
          </a:p>
          <a:p>
            <a:r>
              <a:rPr lang="en-US" sz="2200" dirty="0" smtClean="0"/>
              <a:t>Your daily job responsibilities.</a:t>
            </a:r>
          </a:p>
          <a:p>
            <a:r>
              <a:rPr lang="en-US" sz="2200" dirty="0" smtClean="0"/>
              <a:t>Your current </a:t>
            </a:r>
            <a:r>
              <a:rPr lang="en-US" sz="2200" i="1" dirty="0" smtClean="0">
                <a:solidFill>
                  <a:srgbClr val="C00000"/>
                </a:solidFill>
              </a:rPr>
              <a:t>obstacles</a:t>
            </a:r>
            <a:r>
              <a:rPr lang="en-US" sz="2200" dirty="0" smtClean="0"/>
              <a:t>?</a:t>
            </a:r>
          </a:p>
        </p:txBody>
      </p:sp>
      <p:pic>
        <p:nvPicPr>
          <p:cNvPr id="4" name="Picture 2" descr="https://bizflyportal.mediacdn.vn/thumb_wm/1000,100/bizflyportal/techblog/app/so-sanh-google-play-va-app-store-1-16819015419562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3962400"/>
            <a:ext cx="3810000" cy="21412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the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Project Origins? Sponsor? Client?</a:t>
            </a:r>
          </a:p>
          <a:p>
            <a:pPr lvl="1"/>
            <a:r>
              <a:rPr lang="en-US" sz="1800" dirty="0" smtClean="0"/>
              <a:t>Name, address, phone number?</a:t>
            </a:r>
          </a:p>
          <a:p>
            <a:r>
              <a:rPr lang="en-US" sz="2000" dirty="0" smtClean="0"/>
              <a:t>Budget?</a:t>
            </a:r>
          </a:p>
          <a:p>
            <a:r>
              <a:rPr lang="en-US" sz="2000" dirty="0" smtClean="0"/>
              <a:t>Problems?</a:t>
            </a:r>
          </a:p>
          <a:p>
            <a:r>
              <a:rPr lang="en-US" sz="2000" dirty="0" smtClean="0"/>
              <a:t>Problem Relevance?</a:t>
            </a:r>
          </a:p>
          <a:p>
            <a:pPr lvl="1"/>
            <a:r>
              <a:rPr lang="en-US" sz="1800" dirty="0" smtClean="0"/>
              <a:t>Competitors? Similar products? Business goals?</a:t>
            </a:r>
          </a:p>
          <a:p>
            <a:pPr lvl="1"/>
            <a:r>
              <a:rPr lang="en-US" sz="1800" dirty="0" smtClean="0"/>
              <a:t>Product purchased by yourself?</a:t>
            </a:r>
          </a:p>
          <a:p>
            <a:pPr lvl="1"/>
            <a:r>
              <a:rPr lang="en-US" sz="1800" dirty="0" smtClean="0"/>
              <a:t>Related work? Evaluation?</a:t>
            </a:r>
          </a:p>
          <a:p>
            <a:r>
              <a:rPr lang="en-US" sz="2000" dirty="0" smtClean="0"/>
              <a:t>Stakeholders?</a:t>
            </a:r>
          </a:p>
          <a:p>
            <a:pPr lvl="1"/>
            <a:r>
              <a:rPr lang="en-US" sz="1800" dirty="0" smtClean="0"/>
              <a:t>Can you meet with them or reach an agreement?</a:t>
            </a:r>
          </a:p>
          <a:p>
            <a:r>
              <a:rPr lang="en-US" sz="2000" dirty="0" smtClean="0"/>
              <a:t>Business Use Cases?</a:t>
            </a:r>
          </a:p>
          <a:p>
            <a:r>
              <a:rPr lang="en-US" sz="2000" dirty="0" smtClean="0"/>
              <a:t>Time? Cost? Feasibility? Risks?</a:t>
            </a:r>
            <a:endParaRPr lang="en-US" sz="2000" dirty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2065020"/>
            <a:ext cx="2103120" cy="2735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Project Idea Selection</a:t>
            </a:r>
            <a:endParaRPr lang="en-US" dirty="0"/>
          </a:p>
        </p:txBody>
      </p:sp>
      <p:pic>
        <p:nvPicPr>
          <p:cNvPr id="4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562600" y="2514600"/>
            <a:ext cx="2602992" cy="1600200"/>
          </a:xfrm>
          <a:prstGeom prst="rect">
            <a:avLst/>
          </a:prstGeom>
          <a:noFill/>
        </p:spPr>
      </p:pic>
      <p:pic>
        <p:nvPicPr>
          <p:cNvPr id="5" name="Picture 2" descr="https://ideascale.com/wp-content/uploads/2015/02/Innovation-Leadership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90600" y="2362200"/>
            <a:ext cx="1905000" cy="1905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724400" y="1600200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90600" y="1447800"/>
            <a:ext cx="22098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Solving real world problems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676400" y="3908425"/>
            <a:ext cx="5965825" cy="241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Finalizing </a:t>
            </a:r>
            <a:r>
              <a:rPr lang="en-US" dirty="0" smtClean="0"/>
              <a:t>Team Project Idea</a:t>
            </a:r>
            <a:endParaRPr lang="en-US" dirty="0"/>
          </a:p>
        </p:txBody>
      </p:sp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2415540"/>
            <a:ext cx="2400300" cy="24612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https://chatgpt.com/</a:t>
            </a:r>
          </a:p>
          <a:p>
            <a:r>
              <a:rPr lang="en-US" sz="2400" dirty="0" smtClean="0">
                <a:hlinkClick r:id="rId2"/>
              </a:rPr>
              <a:t>https://www.trendhunter.com/</a:t>
            </a:r>
          </a:p>
          <a:p>
            <a:r>
              <a:rPr lang="en-US" sz="2400" dirty="0" smtClean="0">
                <a:hlinkClick r:id="rId2"/>
              </a:rPr>
              <a:t>https://miro.com/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https://www.figma.com/figjam/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https://www.notion.com/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https://workspace.google.com/products/docs/</a:t>
            </a:r>
            <a:endParaRPr lang="en-US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http://www.resg.org.uk/wp-content/themes/resg-theme/images/resg-wordl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53000" y="1638300"/>
            <a:ext cx="3276600" cy="10668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Kickoff Meeting</a:t>
            </a:r>
            <a:endParaRPr lang="en-US" dirty="0"/>
          </a:p>
        </p:txBody>
      </p:sp>
      <p:pic>
        <p:nvPicPr>
          <p:cNvPr id="1026" name="Picture 2" descr="Image result for kick-off meeti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41778" y="1683222"/>
            <a:ext cx="3630222" cy="1745778"/>
          </a:xfrm>
          <a:prstGeom prst="rect">
            <a:avLst/>
          </a:prstGeom>
          <a:noFill/>
        </p:spPr>
      </p:pic>
      <p:sp>
        <p:nvSpPr>
          <p:cNvPr id="5" name="Rectangle 4"/>
          <p:cNvSpPr/>
          <p:nvPr/>
        </p:nvSpPr>
        <p:spPr>
          <a:xfrm>
            <a:off x="2819400" y="4268450"/>
            <a:ext cx="57912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Executive Summary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Business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Project Vision and Scope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User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867400" y="2781300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57200" y="38100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066800" y="4038600"/>
            <a:ext cx="1567542" cy="175564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738" name="Picture 2" descr="https://media.licdn.com/mpr/mpr/shrinknp_400_400/p/8/005/06e/2c4/3ea6fad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39051" y="1849438"/>
            <a:ext cx="1905000" cy="19050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Will the Solution Work?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1851" y="2752725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48451" y="3906838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262651" y="3133725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767851" y="2828925"/>
            <a:ext cx="184274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Prototype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62000" y="1676400"/>
            <a:ext cx="40386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Designing the User Interface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Do We Need to Complete?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796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7338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124200" y="2960687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562600" y="4343400"/>
            <a:ext cx="28695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Product Backlog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09600" y="1752600"/>
            <a:ext cx="45720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Requirements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026" name="Picture 2" descr="https://encrypted-tbn0.gstatic.com/images?q=tbn:ANd9GcSFjELCnVms4p5uVj-2QT-D0xKkPIXw-rq3XA&amp;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1828800"/>
            <a:ext cx="2143125" cy="2143125"/>
          </a:xfrm>
          <a:prstGeom prst="rect">
            <a:avLst/>
          </a:prstGeom>
          <a:noFill/>
        </p:spPr>
      </p:pic>
      <p:sp>
        <p:nvSpPr>
          <p:cNvPr id="11" name="Rectangle 10"/>
          <p:cNvSpPr/>
          <p:nvPr/>
        </p:nvSpPr>
        <p:spPr>
          <a:xfrm>
            <a:off x="3733800" y="5486400"/>
            <a:ext cx="4572000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sz="2400" dirty="0" smtClean="0"/>
              <a:t>(</a:t>
            </a:r>
            <a:r>
              <a:rPr lang="en-US" sz="2400" i="1" dirty="0" smtClean="0">
                <a:solidFill>
                  <a:srgbClr val="C00000"/>
                </a:solidFill>
              </a:rPr>
              <a:t>Partial</a:t>
            </a:r>
            <a:r>
              <a:rPr lang="en-US" sz="2400" dirty="0" smtClean="0"/>
              <a:t>) Software Requirements Specification or Product Backlog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Architecture?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828800"/>
          </a:xfrm>
        </p:spPr>
        <p:txBody>
          <a:bodyPr/>
          <a:lstStyle/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technology stack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platform</a:t>
            </a:r>
            <a:r>
              <a:rPr lang="en-US" sz="2400" dirty="0" smtClean="0"/>
              <a:t>, </a:t>
            </a:r>
          </a:p>
          <a:p>
            <a:pPr>
              <a:buNone/>
            </a:pPr>
            <a:r>
              <a:rPr lang="en-US" sz="2400" dirty="0" smtClean="0"/>
              <a:t>	this  </a:t>
            </a:r>
            <a:r>
              <a:rPr lang="en-US" sz="2400" i="1" dirty="0" smtClean="0">
                <a:solidFill>
                  <a:srgbClr val="C00000"/>
                </a:solidFill>
              </a:rPr>
              <a:t>framework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portal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CMS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magora-systems.com/uploads/pages/732/H97dpZrWrwG-Yxqf3Y7gbvBUq5K2OHW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5370" y="4236554"/>
            <a:ext cx="3897630" cy="1905000"/>
          </a:xfrm>
          <a:prstGeom prst="rect">
            <a:avLst/>
          </a:prstGeom>
          <a:noFill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878" y="3931754"/>
            <a:ext cx="4241122" cy="2554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58722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581400"/>
            <a:ext cx="2933700" cy="1762316"/>
          </a:xfrm>
          <a:prstGeom prst="rect">
            <a:avLst/>
          </a:prstGeom>
          <a:noFill/>
        </p:spPr>
      </p:pic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3914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5715000" y="2049959"/>
            <a:ext cx="30480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Architecture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Can We Really Do It?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8938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19400" y="1524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7" name="Straight Arrow Connector 6"/>
          <p:cNvCxnSpPr/>
          <p:nvPr/>
        </p:nvCxnSpPr>
        <p:spPr>
          <a:xfrm>
            <a:off x="2971800" y="3875087"/>
            <a:ext cx="12192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343400" y="4941887"/>
            <a:ext cx="1474787" cy="1306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267200" y="3036887"/>
            <a:ext cx="2298954" cy="1672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9" name="Straight Arrow Connector 18"/>
          <p:cNvCxnSpPr/>
          <p:nvPr/>
        </p:nvCxnSpPr>
        <p:spPr>
          <a:xfrm>
            <a:off x="3733800" y="5486400"/>
            <a:ext cx="685800" cy="1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943600" y="5399087"/>
            <a:ext cx="284706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Problem solving</a:t>
            </a:r>
            <a:endParaRPr lang="en-US" sz="3200" u="sng" dirty="0" smtClean="0">
              <a:latin typeface="+mj-lt"/>
            </a:endParaRPr>
          </a:p>
        </p:txBody>
      </p:sp>
      <p:pic>
        <p:nvPicPr>
          <p:cNvPr id="13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85800" y="4484687"/>
            <a:ext cx="2933700" cy="1762316"/>
          </a:xfrm>
          <a:prstGeom prst="rect">
            <a:avLst/>
          </a:prstGeom>
          <a:noFill/>
        </p:spPr>
      </p:pic>
      <p:sp>
        <p:nvSpPr>
          <p:cNvPr id="15" name="Rectangle 14"/>
          <p:cNvSpPr/>
          <p:nvPr/>
        </p:nvSpPr>
        <p:spPr>
          <a:xfrm>
            <a:off x="6705600" y="2514600"/>
            <a:ext cx="2057400" cy="21236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Algorithms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and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Programming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courses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14900" y="2438400"/>
            <a:ext cx="4076700" cy="368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pPr lvl="0"/>
            <a:r>
              <a:rPr lang="en-US" dirty="0" smtClean="0"/>
              <a:t>Project Charter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04800" y="2362200"/>
            <a:ext cx="5486400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The background, context, overview</a:t>
            </a:r>
            <a:endParaRPr lang="en-US" sz="2000" u="sng" dirty="0" smtClean="0">
              <a:latin typeface="+mj-lt"/>
            </a:endParaRP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Management and Governance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Role/Name/Responsibilities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Facilities and Resources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Milestones.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Impact Analysis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Who? What?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Assumptions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Signatures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74003"/>
            <a:ext cx="8610600" cy="120032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A document that </a:t>
            </a:r>
            <a:r>
              <a:rPr lang="en-US" sz="2400" u="sng" dirty="0" smtClean="0">
                <a:latin typeface="+mj-lt"/>
              </a:rPr>
              <a:t>formally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authorizes</a:t>
            </a:r>
            <a:r>
              <a:rPr lang="en-US" sz="2400" dirty="0" smtClean="0">
                <a:latin typeface="+mj-lt"/>
              </a:rPr>
              <a:t> a project or a phase and documenting </a:t>
            </a:r>
            <a:r>
              <a:rPr lang="en-US" sz="2400" u="sng" dirty="0" smtClean="0">
                <a:solidFill>
                  <a:schemeClr val="tx1"/>
                </a:solidFill>
                <a:latin typeface="+mj-lt"/>
              </a:rPr>
              <a:t>initial requirements</a:t>
            </a:r>
            <a:r>
              <a:rPr lang="en-US" sz="2400" dirty="0" smtClean="0">
                <a:latin typeface="+mj-lt"/>
              </a:rPr>
              <a:t> that satisfy the stakeholder’s </a:t>
            </a:r>
            <a:r>
              <a:rPr lang="en-US" sz="2400" u="sng" dirty="0" smtClean="0">
                <a:latin typeface="+mj-lt"/>
              </a:rPr>
              <a:t>needs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expectations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Responsibility Assignment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62200"/>
          </a:xfrm>
        </p:spPr>
        <p:txBody>
          <a:bodyPr/>
          <a:lstStyle/>
          <a:p>
            <a:r>
              <a:rPr lang="en-US" sz="2200" dirty="0" smtClean="0"/>
              <a:t>Responsibility Assignment Matrix (RAM), also known as </a:t>
            </a:r>
          </a:p>
          <a:p>
            <a:r>
              <a:rPr lang="en-US" sz="2200" dirty="0" smtClean="0"/>
              <a:t>RACI matrix (Responsible, Accountable, Consulted, and Informed matrix), or</a:t>
            </a:r>
          </a:p>
          <a:p>
            <a:r>
              <a:rPr lang="en-US" sz="2200" dirty="0" smtClean="0"/>
              <a:t>LRC (linear responsibility chart)</a:t>
            </a:r>
          </a:p>
          <a:p>
            <a:r>
              <a:rPr lang="en-US" sz="2200" dirty="0" smtClean="0"/>
              <a:t>describes the participation by various roles in completing tasks or deliverables for a project.</a:t>
            </a: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4038600"/>
            <a:ext cx="4417695" cy="2446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4901044" y="4495800"/>
            <a:ext cx="401435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Responsibility</a:t>
            </a:r>
            <a:r>
              <a:rPr lang="en-US" sz="2200" dirty="0" smtClean="0">
                <a:latin typeface="+mj-lt"/>
              </a:rPr>
              <a:t> can be shared.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Accountability</a:t>
            </a:r>
            <a:r>
              <a:rPr lang="en-US" sz="2200" dirty="0" smtClean="0">
                <a:latin typeface="+mj-lt"/>
              </a:rPr>
              <a:t> cannot be shared. It is something you hold a person to only after a task is done </a:t>
            </a:r>
            <a:r>
              <a:rPr lang="en-US" sz="2200" b="1" dirty="0" smtClean="0">
                <a:latin typeface="+mj-lt"/>
              </a:rPr>
              <a:t>or not done</a:t>
            </a:r>
            <a:r>
              <a:rPr lang="en-US" sz="2200" dirty="0" smtClean="0">
                <a:latin typeface="+mj-l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5410200"/>
            <a:ext cx="10668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b="1" dirty="0" smtClean="0">
                <a:latin typeface="+mj-lt"/>
              </a:rPr>
              <a:t>Deliverable</a:t>
            </a:r>
            <a:endParaRPr lang="en-US" sz="1400" b="1" dirty="0">
              <a:latin typeface="+mj-l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Why</a:t>
            </a:r>
            <a:r>
              <a:rPr lang="en-US" sz="2400" dirty="0" smtClean="0"/>
              <a:t> this project?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problems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deliverables</a:t>
            </a:r>
            <a:r>
              <a:rPr lang="en-US" sz="2400" dirty="0" smtClean="0"/>
              <a:t>?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 will we solve the problems?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Technical</a:t>
            </a:r>
            <a:r>
              <a:rPr lang="en-US" sz="2000" dirty="0" smtClean="0"/>
              <a:t> aspects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Management</a:t>
            </a:r>
            <a:r>
              <a:rPr lang="en-US" sz="2000" dirty="0" smtClean="0"/>
              <a:t> aspects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When</a:t>
            </a:r>
            <a:r>
              <a:rPr lang="en-US" sz="2400" dirty="0" smtClean="0"/>
              <a:t> must we complete the project?</a:t>
            </a:r>
          </a:p>
        </p:txBody>
      </p:sp>
      <p:pic>
        <p:nvPicPr>
          <p:cNvPr id="4" name="Picture 2" descr="https://www.articlelist.com/wp-content/uploads/2019/02/Best-questions-to-get-to-know-someone-bett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724400"/>
            <a:ext cx="3251200" cy="1625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Methodology?</a:t>
            </a:r>
            <a:endParaRPr lang="en-US" dirty="0"/>
          </a:p>
        </p:txBody>
      </p:sp>
      <p:pic>
        <p:nvPicPr>
          <p:cNvPr id="6" name="Picture 3">
            <a:hlinkClick r:id="rId2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4087368"/>
            <a:ext cx="3419094" cy="2389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2">
            <a:hlinkClick r:id="rId4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038600" y="4422267"/>
            <a:ext cx="4864227" cy="2130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3088767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295400" y="3172968"/>
            <a:ext cx="1600200" cy="800100"/>
          </a:xfrm>
          <a:prstGeom prst="rect">
            <a:avLst/>
          </a:prstGeom>
          <a:noFill/>
        </p:spPr>
      </p:pic>
      <p:sp>
        <p:nvSpPr>
          <p:cNvPr id="8" name="Rectangle 7"/>
          <p:cNvSpPr/>
          <p:nvPr/>
        </p:nvSpPr>
        <p:spPr>
          <a:xfrm>
            <a:off x="5486400" y="3965067"/>
            <a:ext cx="33527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RUP (Rational Unified Process)</a:t>
            </a:r>
            <a:endParaRPr lang="en-US" b="1" dirty="0">
              <a:latin typeface="+mj-lt"/>
            </a:endParaRPr>
          </a:p>
        </p:txBody>
      </p:sp>
      <p:pic>
        <p:nvPicPr>
          <p:cNvPr id="2050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85800" y="1371600"/>
            <a:ext cx="2602992" cy="1600200"/>
          </a:xfrm>
          <a:prstGeom prst="rect">
            <a:avLst/>
          </a:prstGeom>
          <a:noFill/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4295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3581400" y="1897559"/>
            <a:ext cx="51816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Introduction to Software Engineering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29204</TotalTime>
  <Words>632</Words>
  <Application>Microsoft Office PowerPoint</Application>
  <PresentationFormat>On-screen Show (4:3)</PresentationFormat>
  <Paragraphs>122</Paragraphs>
  <Slides>23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Office Theme</vt:lpstr>
      <vt:lpstr>Software Project Initiation</vt:lpstr>
      <vt:lpstr>Objectives</vt:lpstr>
      <vt:lpstr>Contents</vt:lpstr>
      <vt:lpstr>References</vt:lpstr>
      <vt:lpstr>Team Forming</vt:lpstr>
      <vt:lpstr>Brainstorming Project Ideas</vt:lpstr>
      <vt:lpstr>Products: Practical Problems</vt:lpstr>
      <vt:lpstr>Evaluating the Project Ideas</vt:lpstr>
      <vt:lpstr>Team Project Idea Selection</vt:lpstr>
      <vt:lpstr>Finalizing Team Project Idea</vt:lpstr>
      <vt:lpstr>Tools</vt:lpstr>
      <vt:lpstr>Kickoff Meeting</vt:lpstr>
      <vt:lpstr>How Will the Solution Work?</vt:lpstr>
      <vt:lpstr>What Do We Need to Complete?</vt:lpstr>
      <vt:lpstr>Which Architecture?</vt:lpstr>
      <vt:lpstr>Can We Really Do It?</vt:lpstr>
      <vt:lpstr>Slide 17</vt:lpstr>
      <vt:lpstr>Project Charter</vt:lpstr>
      <vt:lpstr>Responsibility Assignment Matrix</vt:lpstr>
      <vt:lpstr>Checklist</vt:lpstr>
      <vt:lpstr>Slide 21</vt:lpstr>
      <vt:lpstr>Which Methodology?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9150</cp:revision>
  <dcterms:created xsi:type="dcterms:W3CDTF">2007-10-06T08:25:13Z</dcterms:created>
  <dcterms:modified xsi:type="dcterms:W3CDTF">2026-06-17T19:26:32Z</dcterms:modified>
</cp:coreProperties>
</file>