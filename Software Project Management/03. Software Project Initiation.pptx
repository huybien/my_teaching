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6"/>
  </p:notesMasterIdLst>
  <p:handoutMasterIdLst>
    <p:handoutMasterId r:id="rId27"/>
  </p:handoutMasterIdLst>
  <p:sldIdLst>
    <p:sldId id="256" r:id="rId2"/>
    <p:sldId id="499" r:id="rId3"/>
    <p:sldId id="671" r:id="rId4"/>
    <p:sldId id="839" r:id="rId5"/>
    <p:sldId id="881" r:id="rId6"/>
    <p:sldId id="882" r:id="rId7"/>
    <p:sldId id="883" r:id="rId8"/>
    <p:sldId id="889" r:id="rId9"/>
    <p:sldId id="888" r:id="rId10"/>
    <p:sldId id="884" r:id="rId11"/>
    <p:sldId id="886" r:id="rId12"/>
    <p:sldId id="887" r:id="rId13"/>
    <p:sldId id="855" r:id="rId14"/>
    <p:sldId id="872" r:id="rId15"/>
    <p:sldId id="879" r:id="rId16"/>
    <p:sldId id="873" r:id="rId17"/>
    <p:sldId id="874" r:id="rId18"/>
    <p:sldId id="842" r:id="rId19"/>
    <p:sldId id="875" r:id="rId20"/>
    <p:sldId id="876" r:id="rId21"/>
    <p:sldId id="877" r:id="rId22"/>
    <p:sldId id="843" r:id="rId23"/>
    <p:sldId id="830" r:id="rId24"/>
    <p:sldId id="343" r:id="rId25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handoutMaster" Target="handoutMasters/handoutMaster1.xml"/><Relationship Id="rId30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7/2/2026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19</a:t>
            </a:fld>
            <a:endParaRPr lang="en-US"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20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jpeg"/><Relationship Id="rId5" Type="http://schemas.openxmlformats.org/officeDocument/2006/relationships/image" Target="../media/image16.jpeg"/><Relationship Id="rId4" Type="http://schemas.openxmlformats.org/officeDocument/2006/relationships/image" Target="../media/image15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2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jpe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31.png"/><Relationship Id="rId7" Type="http://schemas.openxmlformats.org/officeDocument/2006/relationships/image" Target="../media/image7.jpe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jpeg"/><Relationship Id="rId5" Type="http://schemas.openxmlformats.org/officeDocument/2006/relationships/image" Target="../media/image32.png"/><Relationship Id="rId4" Type="http://schemas.openxmlformats.org/officeDocument/2006/relationships/hyperlink" Target="14.%20The%20Rational%20Unified%20Process.pptx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executive summary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architecture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Executive summary.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Mockup, 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sz="2200" dirty="0" smtClean="0"/>
              <a:t>Project Management Institute (2017). A Guide to the Project Management Body of Knowledge. Sixth Edition. Project Management Institute.</a:t>
            </a:r>
          </a:p>
          <a:p>
            <a:pPr marL="514350" indent="-514350">
              <a:buFont typeface="+mj-lt"/>
              <a:buAutoNum type="arabicPeriod"/>
            </a:pPr>
            <a:endParaRPr lang="en-US" sz="2200" dirty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2026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OCR with LLM-Based </a:t>
            </a:r>
            <a:r>
              <a:rPr lang="en-US" dirty="0" smtClean="0"/>
              <a:t>Agents.</a:t>
            </a:r>
            <a:endParaRPr lang="en-US" dirty="0" smtClean="0"/>
          </a:p>
          <a:p>
            <a:r>
              <a:rPr lang="en-US" dirty="0" smtClean="0"/>
              <a:t>Document </a:t>
            </a:r>
            <a:r>
              <a:rPr lang="en-US" dirty="0" err="1" smtClean="0"/>
              <a:t>Autocompletion</a:t>
            </a:r>
            <a:r>
              <a:rPr lang="en-US" dirty="0" smtClean="0"/>
              <a:t> with Templates and LLM-Based </a:t>
            </a:r>
            <a:r>
              <a:rPr lang="en-US" dirty="0" smtClean="0"/>
              <a:t>Agents. (Conga </a:t>
            </a:r>
            <a:r>
              <a:rPr lang="en-US" smtClean="0"/>
              <a:t>Salesforce)</a:t>
            </a: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the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Project Origins? Sponsor? Client?</a:t>
            </a:r>
          </a:p>
          <a:p>
            <a:pPr lvl="1"/>
            <a:r>
              <a:rPr lang="en-US" sz="1800" dirty="0" smtClean="0"/>
              <a:t>Name, address, phone number?</a:t>
            </a:r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 Business goals?</a:t>
            </a:r>
          </a:p>
          <a:p>
            <a:pPr lvl="1"/>
            <a:r>
              <a:rPr lang="en-US" sz="1800" dirty="0" smtClean="0"/>
              <a:t>Product purchased by yourself?</a:t>
            </a:r>
          </a:p>
          <a:p>
            <a:pPr lvl="1"/>
            <a:r>
              <a:rPr lang="en-US" sz="1800" dirty="0" smtClean="0"/>
              <a:t>Related work?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</a:p>
          <a:p>
            <a:r>
              <a:rPr lang="en-US" sz="2000" dirty="0" smtClean="0"/>
              <a:t>Business Use Cases?</a:t>
            </a:r>
          </a:p>
          <a:p>
            <a:r>
              <a:rPr lang="en-US" sz="2000" dirty="0" smtClean="0"/>
              <a:t>Time? Cost? Feasibility? Risks?</a:t>
            </a:r>
            <a:endParaRPr lang="en-US" sz="2000" dirty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248400" y="206502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Project Idea Selection</a:t>
            </a:r>
            <a:endParaRPr lang="en-US" dirty="0"/>
          </a:p>
        </p:txBody>
      </p:sp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562600" y="2514600"/>
            <a:ext cx="2602992" cy="1600200"/>
          </a:xfrm>
          <a:prstGeom prst="rect">
            <a:avLst/>
          </a:prstGeom>
          <a:noFill/>
        </p:spPr>
      </p:pic>
      <p:pic>
        <p:nvPicPr>
          <p:cNvPr id="5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90600" y="2362200"/>
            <a:ext cx="1905000" cy="1905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724400" y="1600200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90600" y="1447800"/>
            <a:ext cx="22098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Solving real world problems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1676400" y="3908425"/>
            <a:ext cx="5965825" cy="241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Finalizing Team Project Idea</a:t>
            </a:r>
            <a:endParaRPr lang="en-US" dirty="0"/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http://www.resg.org.uk/wp-content/themes/resg-theme/images/resg-wordle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53000" y="1638300"/>
            <a:ext cx="3276600" cy="10668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Kickoff Meeting</a:t>
            </a:r>
            <a:endParaRPr lang="en-US" dirty="0"/>
          </a:p>
        </p:txBody>
      </p:sp>
      <p:pic>
        <p:nvPicPr>
          <p:cNvPr id="1026" name="Picture 2" descr="Image result for kick-off meeti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41778" y="1683222"/>
            <a:ext cx="3630222" cy="1745778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19400" y="4268450"/>
            <a:ext cx="5791200" cy="144655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Executive Summary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Project Vision and Scope (</a:t>
            </a:r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r>
              <a:rPr lang="en-US" sz="2200" dirty="0" smtClean="0">
                <a:latin typeface="Consolas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867400" y="2781300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57200" y="3810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066800" y="4038600"/>
            <a:ext cx="1567542" cy="175564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738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How Will the Solution Work?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762000" y="1676400"/>
            <a:ext cx="40386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Designing the User Interface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What Do We Need to Complete?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2" name="Straight Arrow Connector 11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5562600" y="4343400"/>
            <a:ext cx="2869503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Product Backlog</a:t>
            </a:r>
            <a:endParaRPr lang="en-US" sz="3200" u="sng" dirty="0" smtClean="0">
              <a:latin typeface="+mj-lt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609600" y="1752600"/>
            <a:ext cx="45720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Requirements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  <p:pic>
        <p:nvPicPr>
          <p:cNvPr id="1026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1828800"/>
            <a:ext cx="2143125" cy="2143125"/>
          </a:xfrm>
          <a:prstGeom prst="rect">
            <a:avLst/>
          </a:prstGeom>
          <a:noFill/>
        </p:spPr>
      </p:pic>
      <p:sp>
        <p:nvSpPr>
          <p:cNvPr id="11" name="Rectangle 10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(</a:t>
            </a:r>
            <a:r>
              <a:rPr lang="en-US" sz="2400" i="1" dirty="0" smtClean="0">
                <a:solidFill>
                  <a:srgbClr val="C00000"/>
                </a:solidFill>
              </a:rPr>
              <a:t>Partial</a:t>
            </a:r>
            <a:r>
              <a:rPr lang="en-US" sz="2400" dirty="0" smtClean="0"/>
              <a:t>) Software Requirements Specification or Product Backlog</a:t>
            </a:r>
            <a:endParaRPr lang="en-US" sz="24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Architecture?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</a:t>
            </a:r>
          </a:p>
          <a:p>
            <a:pPr>
              <a:buNone/>
            </a:pPr>
            <a:r>
              <a:rPr lang="en-US" sz="2400" dirty="0" smtClean="0"/>
              <a:t>	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3914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8" name="Rectangle 7"/>
          <p:cNvSpPr/>
          <p:nvPr/>
        </p:nvSpPr>
        <p:spPr>
          <a:xfrm>
            <a:off x="5715000" y="2049959"/>
            <a:ext cx="3048000" cy="110799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Software Architecture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Can We Really Do It?</a:t>
            </a:r>
            <a:endParaRPr lang="en-US" dirty="0"/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18938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819400" y="1524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>
            <a:off x="2971800" y="38750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9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343400" y="49418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3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267200" y="3036887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9" name="Straight Arrow Connector 18"/>
          <p:cNvCxnSpPr/>
          <p:nvPr/>
        </p:nvCxnSpPr>
        <p:spPr>
          <a:xfrm>
            <a:off x="3733800" y="54864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5943600" y="53990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3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85800" y="4484687"/>
            <a:ext cx="2933700" cy="1762316"/>
          </a:xfrm>
          <a:prstGeom prst="rect">
            <a:avLst/>
          </a:prstGeom>
          <a:noFill/>
        </p:spPr>
      </p:pic>
      <p:sp>
        <p:nvSpPr>
          <p:cNvPr id="15" name="Rectangle 14"/>
          <p:cNvSpPr/>
          <p:nvPr/>
        </p:nvSpPr>
        <p:spPr>
          <a:xfrm>
            <a:off x="6705600" y="2514600"/>
            <a:ext cx="2057400" cy="21236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Algorithms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and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Programming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 courses for more information.</a:t>
            </a:r>
            <a:endParaRPr lang="en-US" sz="2200" dirty="0">
              <a:solidFill>
                <a:schemeClr val="tx1"/>
              </a:solidFill>
              <a:latin typeface="+mj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Which Methodology?</a:t>
            </a:r>
            <a:endParaRPr lang="en-US" dirty="0"/>
          </a:p>
        </p:txBody>
      </p:sp>
      <p:pic>
        <p:nvPicPr>
          <p:cNvPr id="6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7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4098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019800" y="3088767"/>
            <a:ext cx="1600200" cy="800100"/>
          </a:xfrm>
          <a:prstGeom prst="rect">
            <a:avLst/>
          </a:prstGeom>
          <a:noFill/>
        </p:spPr>
      </p:pic>
      <p:pic>
        <p:nvPicPr>
          <p:cNvPr id="9" name="Picture 2" descr="http://fastbiz101.com/101/wpfast-content/uploads/2016/06/review.jpe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1295400" y="3172968"/>
            <a:ext cx="1600200" cy="800100"/>
          </a:xfrm>
          <a:prstGeom prst="rect">
            <a:avLst/>
          </a:prstGeom>
          <a:noFill/>
        </p:spPr>
      </p:pic>
      <p:sp>
        <p:nvSpPr>
          <p:cNvPr id="8" name="Rectangle 7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2050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" y="1371600"/>
            <a:ext cx="2602992" cy="1600200"/>
          </a:xfrm>
          <a:prstGeom prst="rect">
            <a:avLst/>
          </a:prstGeom>
          <a:noFill/>
        </p:spPr>
      </p:pic>
      <p:pic>
        <p:nvPicPr>
          <p:cNvPr id="10" name="Picture 4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429500" y="381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1" name="Rectangle 10"/>
          <p:cNvSpPr/>
          <p:nvPr/>
        </p:nvSpPr>
        <p:spPr>
          <a:xfrm>
            <a:off x="3581400" y="1897559"/>
            <a:ext cx="5181600" cy="76944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en-US" sz="2200" dirty="0" smtClean="0">
                <a:solidFill>
                  <a:schemeClr val="tx1"/>
                </a:solidFill>
                <a:latin typeface="+mj-lt"/>
              </a:rPr>
              <a:t>Refer to the </a:t>
            </a:r>
            <a:r>
              <a:rPr lang="en-US" sz="2200" b="1" dirty="0" smtClean="0">
                <a:solidFill>
                  <a:schemeClr val="tx1"/>
                </a:solidFill>
                <a:latin typeface="+mj-lt"/>
              </a:rPr>
              <a:t>Introduction to Software Engineering </a:t>
            </a:r>
            <a:r>
              <a:rPr lang="en-US" sz="2200" dirty="0" smtClean="0">
                <a:solidFill>
                  <a:schemeClr val="tx1"/>
                </a:solidFill>
              </a:rPr>
              <a:t>course </a:t>
            </a:r>
            <a:r>
              <a:rPr lang="en-US" sz="2200" dirty="0" smtClean="0">
                <a:solidFill>
                  <a:schemeClr val="tx1"/>
                </a:solidFill>
                <a:latin typeface="+mj-lt"/>
              </a:rPr>
              <a:t>for more information.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29230</TotalTime>
  <Words>650</Words>
  <Application>Microsoft Office PowerPoint</Application>
  <PresentationFormat>On-screen Show (4:3)</PresentationFormat>
  <Paragraphs>125</Paragraphs>
  <Slides>24</Slides>
  <Notes>4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Products: Practical Problems</vt:lpstr>
      <vt:lpstr>2026</vt:lpstr>
      <vt:lpstr>Evaluating the Project Ideas</vt:lpstr>
      <vt:lpstr>Team Project Idea Selection</vt:lpstr>
      <vt:lpstr>Finalizing Team Project Idea</vt:lpstr>
      <vt:lpstr>Tools</vt:lpstr>
      <vt:lpstr>Kickoff Meeting</vt:lpstr>
      <vt:lpstr>How Will the Solution Work?</vt:lpstr>
      <vt:lpstr>What Do We Need to Complete?</vt:lpstr>
      <vt:lpstr>Which Architecture?</vt:lpstr>
      <vt:lpstr>Can We Really Do It?</vt:lpstr>
      <vt:lpstr>Slide 18</vt:lpstr>
      <vt:lpstr>Project Charter</vt:lpstr>
      <vt:lpstr>Responsibility Assignment Matrix</vt:lpstr>
      <vt:lpstr>Checklist</vt:lpstr>
      <vt:lpstr>Slide 22</vt:lpstr>
      <vt:lpstr>Which Methodology?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9156</cp:revision>
  <dcterms:created xsi:type="dcterms:W3CDTF">2007-10-06T08:25:13Z</dcterms:created>
  <dcterms:modified xsi:type="dcterms:W3CDTF">2026-07-02T12:25:22Z</dcterms:modified>
</cp:coreProperties>
</file>