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708" r:id="rId1"/>
  </p:sldMasterIdLst>
  <p:notesMasterIdLst>
    <p:notesMasterId r:id="rId28"/>
  </p:notesMasterIdLst>
  <p:handoutMasterIdLst>
    <p:handoutMasterId r:id="rId29"/>
  </p:handoutMasterIdLst>
  <p:sldIdLst>
    <p:sldId id="256" r:id="rId2"/>
    <p:sldId id="499" r:id="rId3"/>
    <p:sldId id="671" r:id="rId4"/>
    <p:sldId id="839" r:id="rId5"/>
    <p:sldId id="881" r:id="rId6"/>
    <p:sldId id="882" r:id="rId7"/>
    <p:sldId id="898" r:id="rId8"/>
    <p:sldId id="883" r:id="rId9"/>
    <p:sldId id="889" r:id="rId10"/>
    <p:sldId id="888" r:id="rId11"/>
    <p:sldId id="892" r:id="rId12"/>
    <p:sldId id="893" r:id="rId13"/>
    <p:sldId id="894" r:id="rId14"/>
    <p:sldId id="901" r:id="rId15"/>
    <p:sldId id="895" r:id="rId16"/>
    <p:sldId id="896" r:id="rId17"/>
    <p:sldId id="899" r:id="rId18"/>
    <p:sldId id="897" r:id="rId19"/>
    <p:sldId id="900" r:id="rId20"/>
    <p:sldId id="842" r:id="rId21"/>
    <p:sldId id="875" r:id="rId22"/>
    <p:sldId id="876" r:id="rId23"/>
    <p:sldId id="877" r:id="rId24"/>
    <p:sldId id="843" r:id="rId25"/>
    <p:sldId id="830" r:id="rId26"/>
    <p:sldId id="343" r:id="rId27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aximized">
    <p:restoredLeft sz="20376" autoAdjust="0"/>
    <p:restoredTop sz="90392" autoAdjust="0"/>
  </p:normalViewPr>
  <p:slideViewPr>
    <p:cSldViewPr>
      <p:cViewPr>
        <p:scale>
          <a:sx n="50" d="100"/>
          <a:sy n="50" d="100"/>
        </p:scale>
        <p:origin x="-1476" y="-33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CF70C7-1A17-4B8F-8E82-A20E29AAAC58}" type="datetimeFigureOut">
              <a:rPr lang="en-US" smtClean="0"/>
              <a:pPr/>
              <a:t>7/5/2026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D3D353-3471-4C5D-A6F3-11F1DDA05BDC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72150E-24DE-4D23-AF8D-CF01896B0C83}" type="datetimeFigureOut">
              <a:rPr lang="en-US" smtClean="0"/>
              <a:pPr/>
              <a:t>7/5/2026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8E95B1-5ED0-4005-B293-784E4C93134E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21</a:t>
            </a:fld>
            <a:endParaRPr 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22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7/5/2026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7/5/2026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7/5/2026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7/5/2026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7/5/2026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7/5/2026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7/5/2026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7/5/2026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7/5/2026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7/5/2026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7/5/2026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7/5/2026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figjam/" TargetMode="External"/><Relationship Id="rId2" Type="http://schemas.openxmlformats.org/officeDocument/2006/relationships/hyperlink" Target="https://miro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orkspace.google.com/products/docs/" TargetMode="External"/><Relationship Id="rId4" Type="http://schemas.openxmlformats.org/officeDocument/2006/relationships/hyperlink" Target="https://www.notion.com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21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jpe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28.png"/><Relationship Id="rId7" Type="http://schemas.openxmlformats.org/officeDocument/2006/relationships/image" Target="../media/image7.jpeg"/><Relationship Id="rId2" Type="http://schemas.openxmlformats.org/officeDocument/2006/relationships/hyperlink" Target="10.%20Scrum%20Development%20Process.pptx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jpeg"/><Relationship Id="rId5" Type="http://schemas.openxmlformats.org/officeDocument/2006/relationships/image" Target="../media/image29.png"/><Relationship Id="rId4" Type="http://schemas.openxmlformats.org/officeDocument/2006/relationships/hyperlink" Target="14.%20The%20Rational%20Unified%20Process.pptx" TargetMode="Externa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Software Project Initiation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343400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</a:t>
            </a:r>
            <a:r>
              <a:rPr lang="en-US" sz="2200" dirty="0" smtClean="0"/>
              <a:t>create and evaluate a </a:t>
            </a:r>
            <a:r>
              <a:rPr lang="en-US" sz="2200" i="1" dirty="0" smtClean="0">
                <a:solidFill>
                  <a:srgbClr val="C00000"/>
                </a:solidFill>
              </a:rPr>
              <a:t>project proposal</a:t>
            </a:r>
            <a:r>
              <a:rPr lang="en-US" sz="2200" dirty="0" smtClean="0"/>
              <a:t>.</a:t>
            </a:r>
            <a:endParaRPr lang="en-US" sz="2200" dirty="0" smtClean="0"/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project vision and scope document</a:t>
            </a:r>
            <a:r>
              <a:rPr lang="en-US" sz="22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mockup</a:t>
            </a:r>
            <a:r>
              <a:rPr lang="en-US" sz="2200" dirty="0" smtClean="0"/>
              <a:t> and </a:t>
            </a:r>
            <a:r>
              <a:rPr lang="en-US" sz="2200" i="1" dirty="0" smtClean="0">
                <a:solidFill>
                  <a:srgbClr val="C00000"/>
                </a:solidFill>
              </a:rPr>
              <a:t>prototype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software requirements specification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an </a:t>
            </a:r>
            <a:r>
              <a:rPr lang="en-US" sz="2200" i="1" dirty="0" smtClean="0">
                <a:solidFill>
                  <a:srgbClr val="C00000"/>
                </a:solidFill>
              </a:rPr>
              <a:t>architecture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feasibility study report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proof of concept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project charter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process definition document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00750" y="260985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proposal.</a:t>
            </a: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vision and scope.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Mockup, prototype.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Software requirements specification.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Architecture.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Proof of concept.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charter.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Process definition document.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2578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2200" dirty="0" smtClean="0"/>
              <a:t>Project Management Institute (2017). A Guide to the Project Management Body of Knowledge. Sixth Edition. Project Management Institute.</a:t>
            </a:r>
          </a:p>
          <a:p>
            <a:pPr marL="514350" indent="-514350">
              <a:buFont typeface="+mj-lt"/>
              <a:buAutoNum type="arabicPeriod"/>
            </a:pPr>
            <a:endParaRPr lang="en-US" sz="2200" dirty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9125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Team Forming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latin typeface="Calibri" pitchFamily="34" charset="0"/>
              </a:rPr>
              <a:t>Each team has </a:t>
            </a:r>
            <a:r>
              <a:rPr lang="en-US" i="1" dirty="0" smtClean="0">
                <a:solidFill>
                  <a:srgbClr val="C00000"/>
                </a:solidFill>
                <a:latin typeface="Calibri" pitchFamily="34" charset="0"/>
              </a:rPr>
              <a:t>maximum of 6 members</a:t>
            </a:r>
            <a:r>
              <a:rPr lang="en-US" dirty="0" smtClean="0">
                <a:latin typeface="Calibri" pitchFamily="34" charset="0"/>
              </a:rPr>
              <a:t>.</a:t>
            </a:r>
          </a:p>
          <a:p>
            <a:r>
              <a:rPr lang="en-US" dirty="0" smtClean="0">
                <a:latin typeface="Calibri" pitchFamily="34" charset="0"/>
              </a:rPr>
              <a:t>If there are surplus students, some teams may have 7 people.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62600" y="3685237"/>
            <a:ext cx="2257014" cy="1496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 descr="https://cavemaninasuit.com/wp-content/uploads/2020/09/multidisc_teams-1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28800" y="3717925"/>
            <a:ext cx="2333625" cy="13112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Brainstorming Project Ideas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RFPs</a:t>
            </a:r>
          </a:p>
          <a:p>
            <a:r>
              <a:rPr lang="en-US" sz="2400" dirty="0" smtClean="0"/>
              <a:t>Research idea</a:t>
            </a:r>
          </a:p>
          <a:p>
            <a:r>
              <a:rPr lang="en-US" sz="2400" dirty="0" smtClean="0"/>
              <a:t>Products</a:t>
            </a:r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15186" y="1524000"/>
            <a:ext cx="2257014" cy="1496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 descr="https://storiesonboard.com/blog/wp-content/uploads/2017/12/brainstorming-techniques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5800" y="3124200"/>
            <a:ext cx="3810000" cy="30480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4648200" y="3055203"/>
            <a:ext cx="39624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6 members</a:t>
            </a:r>
          </a:p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8 hours per week / member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7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10200" y="4114800"/>
            <a:ext cx="2602992" cy="16002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https://chatgpt.com/</a:t>
            </a:r>
          </a:p>
          <a:p>
            <a:r>
              <a:rPr lang="en-US" sz="2400" dirty="0" smtClean="0">
                <a:hlinkClick r:id="rId2"/>
              </a:rPr>
              <a:t>https://www.trendhunter.com/</a:t>
            </a:r>
          </a:p>
          <a:p>
            <a:r>
              <a:rPr lang="en-US" sz="2400" dirty="0" smtClean="0">
                <a:hlinkClick r:id="rId2"/>
              </a:rPr>
              <a:t>https://miro.com/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https://www.figma.com/figjam/</a:t>
            </a:r>
            <a:endParaRPr lang="en-US" sz="2400" dirty="0" smtClean="0"/>
          </a:p>
          <a:p>
            <a:r>
              <a:rPr lang="en-US" sz="2400" dirty="0" smtClean="0">
                <a:hlinkClick r:id="rId4"/>
              </a:rPr>
              <a:t>https://www.notion.com/</a:t>
            </a:r>
            <a:endParaRPr lang="en-US" sz="2400" dirty="0" smtClean="0"/>
          </a:p>
          <a:p>
            <a:r>
              <a:rPr lang="en-US" sz="2400" dirty="0" smtClean="0">
                <a:hlinkClick r:id="rId5"/>
              </a:rPr>
              <a:t>https://workspace.google.com/products/docs/</a:t>
            </a:r>
            <a:endParaRPr lang="en-US" sz="2400" dirty="0" smtClean="0"/>
          </a:p>
          <a:p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Products: Practical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Apps on your mobile device, your most visited websites.</a:t>
            </a:r>
          </a:p>
          <a:p>
            <a:r>
              <a:rPr lang="en-US" sz="2200" dirty="0" smtClean="0"/>
              <a:t>Trending apps on Google Play, App Store.</a:t>
            </a:r>
          </a:p>
          <a:p>
            <a:r>
              <a:rPr lang="en-US" sz="2200" dirty="0" smtClean="0"/>
              <a:t>Open source software.</a:t>
            </a:r>
          </a:p>
          <a:p>
            <a:r>
              <a:rPr lang="en-US" sz="2200" dirty="0" smtClean="0"/>
              <a:t>Your daily job responsibilities.</a:t>
            </a:r>
          </a:p>
          <a:p>
            <a:r>
              <a:rPr lang="en-US" sz="2200" dirty="0" smtClean="0"/>
              <a:t>Your current </a:t>
            </a:r>
            <a:r>
              <a:rPr lang="en-US" sz="2200" i="1" dirty="0" smtClean="0">
                <a:solidFill>
                  <a:srgbClr val="C00000"/>
                </a:solidFill>
              </a:rPr>
              <a:t>obstacles</a:t>
            </a:r>
            <a:r>
              <a:rPr lang="en-US" sz="2200" dirty="0" smtClean="0"/>
              <a:t>?</a:t>
            </a:r>
          </a:p>
        </p:txBody>
      </p:sp>
      <p:pic>
        <p:nvPicPr>
          <p:cNvPr id="4" name="Picture 2" descr="https://bizflyportal.mediacdn.vn/thumb_wm/1000,100/bizflyportal/techblog/app/so-sanh-google-play-va-app-store-1-16819015419562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743200" y="3962400"/>
            <a:ext cx="3810000" cy="214122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2026 Project Ideas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OCR with LLM-Based Agents.</a:t>
            </a:r>
          </a:p>
          <a:p>
            <a:r>
              <a:rPr lang="en-US" dirty="0" smtClean="0"/>
              <a:t>Document </a:t>
            </a:r>
            <a:r>
              <a:rPr lang="en-US" dirty="0" err="1" smtClean="0"/>
              <a:t>Autocompletion</a:t>
            </a:r>
            <a:r>
              <a:rPr lang="en-US" dirty="0" smtClean="0"/>
              <a:t> with Templates and LLM-Based Agents. (Conga </a:t>
            </a:r>
            <a:r>
              <a:rPr lang="en-US" dirty="0" err="1" smtClean="0"/>
              <a:t>Salesforce</a:t>
            </a:r>
            <a:r>
              <a:rPr lang="en-US" dirty="0" smtClean="0"/>
              <a:t>)</a:t>
            </a:r>
            <a:endParaRPr lang="en-US" dirty="0"/>
          </a:p>
        </p:txBody>
      </p:sp>
      <p:pic>
        <p:nvPicPr>
          <p:cNvPr id="6" name="Picture 2" descr="https://ideascale.com/wp-content/uploads/2015/02/Innovation-Leadership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3886200"/>
            <a:ext cx="1905000" cy="1905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Prepare Project Proposal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Project Origins? Sponsor? Client?</a:t>
            </a:r>
          </a:p>
          <a:p>
            <a:pPr lvl="1"/>
            <a:r>
              <a:rPr lang="en-US" sz="1800" dirty="0" smtClean="0"/>
              <a:t>Name, address, phone number?</a:t>
            </a:r>
          </a:p>
          <a:p>
            <a:r>
              <a:rPr lang="en-US" sz="2000" dirty="0" smtClean="0"/>
              <a:t>Budget?</a:t>
            </a:r>
          </a:p>
          <a:p>
            <a:r>
              <a:rPr lang="en-US" sz="2000" dirty="0" smtClean="0"/>
              <a:t>Problems?</a:t>
            </a:r>
          </a:p>
          <a:p>
            <a:r>
              <a:rPr lang="en-US" sz="2000" dirty="0" smtClean="0"/>
              <a:t>Problem Relevance?</a:t>
            </a:r>
          </a:p>
          <a:p>
            <a:pPr lvl="1"/>
            <a:r>
              <a:rPr lang="en-US" sz="1800" dirty="0" smtClean="0"/>
              <a:t>Competitors? Similar products? Business goals?</a:t>
            </a:r>
          </a:p>
          <a:p>
            <a:pPr lvl="1"/>
            <a:r>
              <a:rPr lang="en-US" sz="1800" dirty="0" smtClean="0"/>
              <a:t>Product purchased by yourself?</a:t>
            </a:r>
          </a:p>
          <a:p>
            <a:pPr lvl="1"/>
            <a:r>
              <a:rPr lang="en-US" sz="1800" dirty="0" smtClean="0"/>
              <a:t>Related work? Evaluation?</a:t>
            </a:r>
          </a:p>
          <a:p>
            <a:r>
              <a:rPr lang="en-US" sz="2000" dirty="0" smtClean="0"/>
              <a:t>Stakeholders?</a:t>
            </a:r>
          </a:p>
          <a:p>
            <a:pPr lvl="1"/>
            <a:r>
              <a:rPr lang="en-US" sz="1800" dirty="0" smtClean="0"/>
              <a:t>Can you meet with them or reach an agreement?</a:t>
            </a:r>
          </a:p>
          <a:p>
            <a:r>
              <a:rPr lang="en-US" sz="2000" dirty="0" smtClean="0"/>
              <a:t>Business Use Cases?</a:t>
            </a:r>
          </a:p>
          <a:p>
            <a:r>
              <a:rPr lang="en-US" sz="2000" dirty="0" smtClean="0"/>
              <a:t>Time? Cost? Feasibility? Risks?</a:t>
            </a:r>
            <a:endParaRPr lang="en-US" sz="2000" dirty="0"/>
          </a:p>
        </p:txBody>
      </p:sp>
      <p:pic>
        <p:nvPicPr>
          <p:cNvPr id="1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1828800"/>
            <a:ext cx="1714500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2" descr="http://kurld.com/images/wallpapers/document-image/document-image-17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086600" y="2057400"/>
            <a:ext cx="1567542" cy="1755648"/>
          </a:xfrm>
          <a:prstGeom prst="rect">
            <a:avLst/>
          </a:prstGeom>
          <a:noFill/>
        </p:spPr>
      </p:pic>
      <p:sp>
        <p:nvSpPr>
          <p:cNvPr id="13" name="Rectangle 12"/>
          <p:cNvSpPr/>
          <p:nvPr/>
        </p:nvSpPr>
        <p:spPr>
          <a:xfrm>
            <a:off x="6553200" y="4724400"/>
            <a:ext cx="22098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 smtClean="0">
                <a:solidFill>
                  <a:srgbClr val="C00000"/>
                </a:solidFill>
                <a:latin typeface="Consolas" pitchFamily="49" charset="0"/>
                <a:cs typeface="Courier New" pitchFamily="49" charset="0"/>
              </a:rPr>
              <a:t>Business Requirements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Selecting Evaluation Criteria and Evaluators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Criteria</a:t>
            </a:r>
          </a:p>
          <a:p>
            <a:pPr lvl="1"/>
            <a:r>
              <a:rPr lang="en-US" dirty="0" smtClean="0"/>
              <a:t>Previous Slide</a:t>
            </a:r>
          </a:p>
          <a:p>
            <a:pPr lvl="1"/>
            <a:r>
              <a:rPr lang="en-US" dirty="0" smtClean="0"/>
              <a:t>Asking AI</a:t>
            </a:r>
          </a:p>
          <a:p>
            <a:r>
              <a:rPr lang="en-US" dirty="0" smtClean="0"/>
              <a:t>Evaluators</a:t>
            </a:r>
          </a:p>
          <a:p>
            <a:pPr lvl="1"/>
            <a:r>
              <a:rPr lang="en-US" dirty="0" smtClean="0"/>
              <a:t>Human</a:t>
            </a:r>
          </a:p>
          <a:p>
            <a:pPr lvl="1"/>
            <a:r>
              <a:rPr lang="en-US" dirty="0" smtClean="0"/>
              <a:t>AI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43600" y="2065020"/>
            <a:ext cx="2103120" cy="2735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Evaluating Criteria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Evaluate these criteria for evaluating software project proposal.</a:t>
            </a:r>
          </a:p>
          <a:p>
            <a:r>
              <a:rPr lang="en-US" sz="2400" dirty="0" smtClean="0"/>
              <a:t>Search extensively, and evaluate…</a:t>
            </a:r>
          </a:p>
          <a:p>
            <a:r>
              <a:rPr lang="en-US" sz="2400" dirty="0" smtClean="0"/>
              <a:t>Search extensively, and critique these criteria…</a:t>
            </a:r>
            <a:endParaRPr lang="en-US" sz="2400" dirty="0"/>
          </a:p>
        </p:txBody>
      </p:sp>
      <p:pic>
        <p:nvPicPr>
          <p:cNvPr id="4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352800" y="4191000"/>
            <a:ext cx="2602992" cy="16002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Evaluating Project Proposal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Evaluate </a:t>
            </a:r>
            <a:r>
              <a:rPr lang="en-US" sz="2000" dirty="0" smtClean="0"/>
              <a:t>[proposal.pdf</a:t>
            </a:r>
            <a:r>
              <a:rPr lang="en-US" sz="2000" dirty="0" smtClean="0"/>
              <a:t>] using these criteria:</a:t>
            </a:r>
          </a:p>
          <a:p>
            <a:r>
              <a:rPr lang="en-US" sz="2000" dirty="0" smtClean="0"/>
              <a:t>Search extensively, then </a:t>
            </a:r>
            <a:r>
              <a:rPr lang="en-US" sz="2000" dirty="0" smtClean="0"/>
              <a:t>evaluate the proposal.</a:t>
            </a:r>
            <a:endParaRPr lang="en-US" sz="2000" dirty="0" smtClean="0"/>
          </a:p>
          <a:p>
            <a:r>
              <a:rPr lang="en-US" sz="2000" dirty="0" smtClean="0"/>
              <a:t>Search extensively, then </a:t>
            </a:r>
            <a:r>
              <a:rPr lang="en-US" sz="2000" dirty="0" smtClean="0"/>
              <a:t>critique the proposal.</a:t>
            </a:r>
            <a:endParaRPr lang="en-US" sz="2000" dirty="0" smtClean="0"/>
          </a:p>
          <a:p>
            <a:r>
              <a:rPr lang="en-US" sz="2000" dirty="0" smtClean="0"/>
              <a:t>Conduct an extensive search of </a:t>
            </a:r>
            <a:r>
              <a:rPr lang="en-US" sz="2000" dirty="0" smtClean="0"/>
              <a:t>competitors' solutions, </a:t>
            </a:r>
            <a:r>
              <a:rPr lang="en-US" sz="2000" dirty="0" smtClean="0"/>
              <a:t>then critique the proposal.</a:t>
            </a:r>
            <a:endParaRPr lang="en-US" sz="2000" dirty="0" smtClean="0"/>
          </a:p>
          <a:p>
            <a:r>
              <a:rPr lang="en-US" sz="2000" dirty="0" smtClean="0"/>
              <a:t>Search </a:t>
            </a:r>
            <a:r>
              <a:rPr lang="en-US" sz="2000" dirty="0" smtClean="0"/>
              <a:t>extensively for existing solutions that can be combined to form a solution to the </a:t>
            </a:r>
            <a:r>
              <a:rPr lang="en-US" sz="2000" dirty="0" smtClean="0"/>
              <a:t>problem, </a:t>
            </a:r>
            <a:r>
              <a:rPr lang="en-US" sz="2000" dirty="0" smtClean="0"/>
              <a:t>then critique the proposal.</a:t>
            </a:r>
          </a:p>
        </p:txBody>
      </p:sp>
      <p:pic>
        <p:nvPicPr>
          <p:cNvPr id="7" name="Picture 2" descr="Image result for kick-off meeti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71800" y="4350222"/>
            <a:ext cx="3630222" cy="174577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Finalizing </a:t>
            </a:r>
            <a:r>
              <a:rPr lang="en-US" dirty="0" smtClean="0"/>
              <a:t>Project Proposal</a:t>
            </a:r>
            <a:endParaRPr lang="en-US" dirty="0"/>
          </a:p>
        </p:txBody>
      </p:sp>
      <p:pic>
        <p:nvPicPr>
          <p:cNvPr id="8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24200" y="2415540"/>
            <a:ext cx="2400300" cy="24612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Prepare Project Vision and Scope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Current state, workflows, features.</a:t>
            </a:r>
          </a:p>
          <a:p>
            <a:r>
              <a:rPr lang="en-US" sz="2400" dirty="0" smtClean="0"/>
              <a:t>Future state, workflows, features.</a:t>
            </a:r>
            <a:endParaRPr lang="en-US" sz="2400" dirty="0"/>
          </a:p>
        </p:txBody>
      </p:sp>
      <p:pic>
        <p:nvPicPr>
          <p:cNvPr id="1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1828800"/>
            <a:ext cx="1714500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2" descr="http://kurld.com/images/wallpapers/document-image/document-image-17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086600" y="2057400"/>
            <a:ext cx="1567542" cy="1755648"/>
          </a:xfrm>
          <a:prstGeom prst="rect">
            <a:avLst/>
          </a:prstGeom>
          <a:noFill/>
        </p:spPr>
      </p:pic>
      <p:sp>
        <p:nvSpPr>
          <p:cNvPr id="13" name="Rectangle 12"/>
          <p:cNvSpPr/>
          <p:nvPr/>
        </p:nvSpPr>
        <p:spPr>
          <a:xfrm>
            <a:off x="6553200" y="4724400"/>
            <a:ext cx="22098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 smtClean="0">
                <a:solidFill>
                  <a:srgbClr val="C00000"/>
                </a:solidFill>
                <a:latin typeface="Consolas" pitchFamily="49" charset="0"/>
                <a:cs typeface="Courier New" pitchFamily="49" charset="0"/>
              </a:rPr>
              <a:t>User Requirements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738" name="Picture 2" descr="https://media.licdn.com/mpr/mpr/shrinknp_400_400/p/8/005/06e/2c4/3ea6fad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39051" y="1849438"/>
            <a:ext cx="1905000" cy="19050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Prepare a Prototype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1851" y="2752725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948451" y="3906838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Straight Arrow Connector 11"/>
          <p:cNvCxnSpPr/>
          <p:nvPr/>
        </p:nvCxnSpPr>
        <p:spPr>
          <a:xfrm flipV="1">
            <a:off x="3262651" y="3133725"/>
            <a:ext cx="18288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767851" y="2828925"/>
            <a:ext cx="184274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Prototype</a:t>
            </a:r>
            <a:endParaRPr lang="en-US" sz="3200" u="sng" dirty="0" smtClean="0"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Prepare </a:t>
            </a:r>
            <a:r>
              <a:rPr lang="en-US" dirty="0" smtClean="0"/>
              <a:t>a Partial </a:t>
            </a:r>
            <a:r>
              <a:rPr lang="en-US" dirty="0" smtClean="0"/>
              <a:t>Product Backlog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579687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0" y="37338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Straight Arrow Connector 11"/>
          <p:cNvCxnSpPr/>
          <p:nvPr/>
        </p:nvCxnSpPr>
        <p:spPr>
          <a:xfrm flipV="1">
            <a:off x="3124200" y="2960687"/>
            <a:ext cx="18288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562600" y="4343400"/>
            <a:ext cx="2869503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Product Backlog</a:t>
            </a:r>
            <a:endParaRPr lang="en-US" sz="3200" u="sng" dirty="0" smtClean="0">
              <a:latin typeface="+mj-lt"/>
            </a:endParaRPr>
          </a:p>
        </p:txBody>
      </p:sp>
      <p:pic>
        <p:nvPicPr>
          <p:cNvPr id="1026" name="Picture 2" descr="https://encrypted-tbn0.gstatic.com/images?q=tbn:ANd9GcSFjELCnVms4p5uVj-2QT-D0xKkPIXw-rq3XA&amp;s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86400" y="1828800"/>
            <a:ext cx="2143125" cy="2143125"/>
          </a:xfrm>
          <a:prstGeom prst="rect">
            <a:avLst/>
          </a:prstGeom>
          <a:noFill/>
        </p:spPr>
      </p:pic>
      <p:sp>
        <p:nvSpPr>
          <p:cNvPr id="11" name="Rectangle 10"/>
          <p:cNvSpPr/>
          <p:nvPr/>
        </p:nvSpPr>
        <p:spPr>
          <a:xfrm>
            <a:off x="3733800" y="5486400"/>
            <a:ext cx="4572000" cy="8309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/>
            <a:r>
              <a:rPr lang="en-US" sz="2400" dirty="0" smtClean="0"/>
              <a:t>(</a:t>
            </a:r>
            <a:r>
              <a:rPr lang="en-US" sz="2400" i="1" dirty="0" smtClean="0">
                <a:solidFill>
                  <a:srgbClr val="C00000"/>
                </a:solidFill>
              </a:rPr>
              <a:t>Partial</a:t>
            </a:r>
            <a:r>
              <a:rPr lang="en-US" sz="2400" dirty="0" smtClean="0"/>
              <a:t>) Software Requirements Specification or Product Backlog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Prepare Architecture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828800"/>
          </a:xfrm>
        </p:spPr>
        <p:txBody>
          <a:bodyPr/>
          <a:lstStyle/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architectural style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technology stack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platform</a:t>
            </a:r>
            <a:r>
              <a:rPr lang="en-US" sz="2400" dirty="0" smtClean="0"/>
              <a:t>, </a:t>
            </a:r>
          </a:p>
          <a:p>
            <a:pPr>
              <a:buNone/>
            </a:pPr>
            <a:r>
              <a:rPr lang="en-US" sz="2400" dirty="0" smtClean="0"/>
              <a:t>	this  </a:t>
            </a:r>
            <a:r>
              <a:rPr lang="en-US" sz="2400" i="1" dirty="0" smtClean="0">
                <a:solidFill>
                  <a:srgbClr val="C00000"/>
                </a:solidFill>
              </a:rPr>
              <a:t>framework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portal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CMS</a:t>
            </a:r>
            <a:r>
              <a:rPr lang="en-US" sz="2400" dirty="0" smtClean="0"/>
              <a:t>.</a:t>
            </a:r>
          </a:p>
        </p:txBody>
      </p:sp>
      <p:pic>
        <p:nvPicPr>
          <p:cNvPr id="1026" name="Picture 2" descr="https://magora-systems.com/uploads/pages/732/H97dpZrWrwG-Yxqf3Y7gbvBUq5K2OHWt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65370" y="4236554"/>
            <a:ext cx="3897630" cy="1905000"/>
          </a:xfrm>
          <a:prstGeom prst="rect">
            <a:avLst/>
          </a:prstGeom>
          <a:noFill/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0878" y="3931754"/>
            <a:ext cx="4241122" cy="2554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58722" name="Picture 2" descr="https://assets.jobscore.com/pictures/retina_aotZ6gqfGr6A7gcR_n82lY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95600" y="3581400"/>
            <a:ext cx="2933700" cy="1762316"/>
          </a:xfrm>
          <a:prstGeom prst="rect">
            <a:avLst/>
          </a:prstGeom>
          <a:noFill/>
        </p:spPr>
      </p:pic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391400" y="381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Create a Proof of Concept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1893887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19400" y="1524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7" name="Straight Arrow Connector 6"/>
          <p:cNvCxnSpPr/>
          <p:nvPr/>
        </p:nvCxnSpPr>
        <p:spPr>
          <a:xfrm>
            <a:off x="2971800" y="3875087"/>
            <a:ext cx="1219200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9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343400" y="4941887"/>
            <a:ext cx="1474787" cy="1306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3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267200" y="3036887"/>
            <a:ext cx="2298954" cy="16722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9" name="Straight Arrow Connector 18"/>
          <p:cNvCxnSpPr/>
          <p:nvPr/>
        </p:nvCxnSpPr>
        <p:spPr>
          <a:xfrm>
            <a:off x="3733800" y="5486400"/>
            <a:ext cx="685800" cy="1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943600" y="5399087"/>
            <a:ext cx="284706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Problem solving</a:t>
            </a:r>
            <a:endParaRPr lang="en-US" sz="3200" u="sng" dirty="0" smtClean="0">
              <a:latin typeface="+mj-lt"/>
            </a:endParaRPr>
          </a:p>
        </p:txBody>
      </p:sp>
      <p:pic>
        <p:nvPicPr>
          <p:cNvPr id="13" name="Picture 2" descr="https://assets.jobscore.com/pictures/retina_aotZ6gqfGr6A7gcR_n82lY.jp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85800" y="4484687"/>
            <a:ext cx="2933700" cy="1762316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914900" y="2438400"/>
            <a:ext cx="4076700" cy="3686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6200"/>
            <a:ext cx="8229600" cy="1143000"/>
          </a:xfrm>
        </p:spPr>
        <p:txBody>
          <a:bodyPr/>
          <a:lstStyle/>
          <a:p>
            <a:pPr lvl="0"/>
            <a:r>
              <a:rPr lang="en-US" dirty="0" smtClean="0"/>
              <a:t>Project Charter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304800" y="2362200"/>
            <a:ext cx="5486400" cy="27392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The background, context, overview</a:t>
            </a:r>
            <a:endParaRPr lang="en-US" sz="2000" u="sng" dirty="0" smtClean="0">
              <a:latin typeface="+mj-lt"/>
            </a:endParaRP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Project Management and Governance</a:t>
            </a:r>
          </a:p>
          <a:p>
            <a:pPr marL="971550" lvl="1" indent="-514350">
              <a:buFont typeface="Wingdings" pitchFamily="2" charset="2"/>
              <a:buChar char="v"/>
            </a:pPr>
            <a:r>
              <a:rPr lang="en-US" sz="1600" dirty="0" smtClean="0">
                <a:latin typeface="+mj-lt"/>
              </a:rPr>
              <a:t>Role/Name/Responsibilities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Project Facilities and Resources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Milestones.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Impact Analysis</a:t>
            </a:r>
          </a:p>
          <a:p>
            <a:pPr marL="971550" lvl="1" indent="-514350">
              <a:buFont typeface="Wingdings" pitchFamily="2" charset="2"/>
              <a:buChar char="v"/>
            </a:pPr>
            <a:r>
              <a:rPr lang="en-US" sz="1600" dirty="0" smtClean="0">
                <a:latin typeface="+mj-lt"/>
              </a:rPr>
              <a:t>Who? What?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Assumptions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Signatures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074003"/>
            <a:ext cx="8610600" cy="1200329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400" dirty="0" smtClean="0">
                <a:latin typeface="+mj-lt"/>
              </a:rPr>
              <a:t>A document that </a:t>
            </a:r>
            <a:r>
              <a:rPr lang="en-US" sz="2400" u="sng" dirty="0" smtClean="0">
                <a:latin typeface="+mj-lt"/>
              </a:rPr>
              <a:t>formally</a:t>
            </a:r>
            <a:r>
              <a:rPr lang="en-US" sz="2400" dirty="0" smtClean="0">
                <a:latin typeface="+mj-lt"/>
              </a:rPr>
              <a:t>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authorizes</a:t>
            </a:r>
            <a:r>
              <a:rPr lang="en-US" sz="2400" dirty="0" smtClean="0">
                <a:latin typeface="+mj-lt"/>
              </a:rPr>
              <a:t> a project or a phase and documenting </a:t>
            </a:r>
            <a:r>
              <a:rPr lang="en-US" sz="2400" u="sng" dirty="0" smtClean="0">
                <a:solidFill>
                  <a:schemeClr val="tx1"/>
                </a:solidFill>
                <a:latin typeface="+mj-lt"/>
              </a:rPr>
              <a:t>initial requirements</a:t>
            </a:r>
            <a:r>
              <a:rPr lang="en-US" sz="2400" dirty="0" smtClean="0">
                <a:latin typeface="+mj-lt"/>
              </a:rPr>
              <a:t> that satisfy the stakeholder’s </a:t>
            </a:r>
            <a:r>
              <a:rPr lang="en-US" sz="2400" u="sng" dirty="0" smtClean="0">
                <a:latin typeface="+mj-lt"/>
              </a:rPr>
              <a:t>needs</a:t>
            </a:r>
            <a:r>
              <a:rPr lang="en-US" sz="2400" dirty="0" smtClean="0">
                <a:latin typeface="+mj-lt"/>
              </a:rPr>
              <a:t> and </a:t>
            </a:r>
            <a:r>
              <a:rPr lang="en-US" sz="2400" u="sng" dirty="0" smtClean="0">
                <a:latin typeface="+mj-lt"/>
              </a:rPr>
              <a:t>expectations</a:t>
            </a:r>
            <a:r>
              <a:rPr lang="en-US" sz="2400" dirty="0" smtClean="0">
                <a:latin typeface="+mj-lt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Responsibility Assignment Matrix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362200"/>
          </a:xfrm>
        </p:spPr>
        <p:txBody>
          <a:bodyPr/>
          <a:lstStyle/>
          <a:p>
            <a:r>
              <a:rPr lang="en-US" sz="2200" dirty="0" smtClean="0"/>
              <a:t>Responsibility Assignment Matrix (RAM), also known as </a:t>
            </a:r>
          </a:p>
          <a:p>
            <a:r>
              <a:rPr lang="en-US" sz="2200" dirty="0" smtClean="0"/>
              <a:t>RACI matrix (Responsible, Accountable, Consulted, and Informed matrix), or</a:t>
            </a:r>
          </a:p>
          <a:p>
            <a:r>
              <a:rPr lang="en-US" sz="2200" dirty="0" smtClean="0"/>
              <a:t>LRC (linear responsibility chart)</a:t>
            </a:r>
          </a:p>
          <a:p>
            <a:r>
              <a:rPr lang="en-US" sz="2200" dirty="0" smtClean="0"/>
              <a:t>describes the participation by various roles in completing tasks or deliverables for a project.</a:t>
            </a:r>
          </a:p>
        </p:txBody>
      </p:sp>
      <p:pic>
        <p:nvPicPr>
          <p:cNvPr id="3891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" y="4038600"/>
            <a:ext cx="4417695" cy="24460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/>
          <p:cNvSpPr txBox="1"/>
          <p:nvPr/>
        </p:nvSpPr>
        <p:spPr>
          <a:xfrm>
            <a:off x="4901044" y="4495800"/>
            <a:ext cx="4014355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Responsibility</a:t>
            </a:r>
            <a:r>
              <a:rPr lang="en-US" sz="2200" dirty="0" smtClean="0">
                <a:latin typeface="+mj-lt"/>
              </a:rPr>
              <a:t> can be shared.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Accountability</a:t>
            </a:r>
            <a:r>
              <a:rPr lang="en-US" sz="2200" dirty="0" smtClean="0">
                <a:latin typeface="+mj-lt"/>
              </a:rPr>
              <a:t> cannot be shared. It is something you hold a person to only after a task is done </a:t>
            </a:r>
            <a:r>
              <a:rPr lang="en-US" sz="2200" b="1" dirty="0" smtClean="0">
                <a:latin typeface="+mj-lt"/>
              </a:rPr>
              <a:t>or not done</a:t>
            </a:r>
            <a:r>
              <a:rPr lang="en-US" sz="2200" dirty="0" smtClean="0">
                <a:latin typeface="+mj-lt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5410200"/>
            <a:ext cx="1066800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400" b="1" dirty="0" smtClean="0">
                <a:latin typeface="+mj-lt"/>
              </a:rPr>
              <a:t>Deliverable</a:t>
            </a:r>
            <a:endParaRPr lang="en-US" sz="1400" b="1" dirty="0">
              <a:latin typeface="+mj-lt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Checklist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Why</a:t>
            </a:r>
            <a:r>
              <a:rPr lang="en-US" sz="2400" dirty="0" smtClean="0"/>
              <a:t> this project?</a:t>
            </a:r>
          </a:p>
          <a:p>
            <a:r>
              <a:rPr lang="en-US" sz="2400" dirty="0" smtClean="0"/>
              <a:t>What are the </a:t>
            </a:r>
            <a:r>
              <a:rPr lang="en-US" sz="2400" i="1" dirty="0" smtClean="0">
                <a:solidFill>
                  <a:srgbClr val="C00000"/>
                </a:solidFill>
              </a:rPr>
              <a:t>problems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What are the </a:t>
            </a:r>
            <a:r>
              <a:rPr lang="en-US" sz="2400" i="1" dirty="0" smtClean="0">
                <a:solidFill>
                  <a:srgbClr val="C00000"/>
                </a:solidFill>
              </a:rPr>
              <a:t>deliverables</a:t>
            </a:r>
            <a:r>
              <a:rPr lang="en-US" sz="2400" dirty="0" smtClean="0"/>
              <a:t>?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How</a:t>
            </a:r>
            <a:r>
              <a:rPr lang="en-US" sz="2400" dirty="0" smtClean="0"/>
              <a:t> will we solve the problems?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Technical</a:t>
            </a:r>
            <a:r>
              <a:rPr lang="en-US" sz="2000" dirty="0" smtClean="0"/>
              <a:t> aspects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Management</a:t>
            </a:r>
            <a:r>
              <a:rPr lang="en-US" sz="2000" dirty="0" smtClean="0"/>
              <a:t> aspects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When</a:t>
            </a:r>
            <a:r>
              <a:rPr lang="en-US" sz="2400" dirty="0" smtClean="0"/>
              <a:t> must we complete the project?</a:t>
            </a:r>
          </a:p>
        </p:txBody>
      </p:sp>
      <p:pic>
        <p:nvPicPr>
          <p:cNvPr id="4" name="Picture 2" descr="https://www.articlelist.com/wp-content/uploads/2019/02/Best-questions-to-get-to-know-someone-better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4724400"/>
            <a:ext cx="3251200" cy="1625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Which Methodology?</a:t>
            </a:r>
            <a:endParaRPr lang="en-US" dirty="0"/>
          </a:p>
        </p:txBody>
      </p:sp>
      <p:pic>
        <p:nvPicPr>
          <p:cNvPr id="6" name="Picture 3">
            <a:hlinkClick r:id="rId2" action="ppaction://hlinkpres?slideindex=1&amp;slidetitle="/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4800" y="4087368"/>
            <a:ext cx="3419094" cy="2389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2">
            <a:hlinkClick r:id="rId4" action="ppaction://hlinkpres?slideindex=1&amp;slidetitle="/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038600" y="4422267"/>
            <a:ext cx="4864227" cy="21309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098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019800" y="3088767"/>
            <a:ext cx="1600200" cy="800100"/>
          </a:xfrm>
          <a:prstGeom prst="rect">
            <a:avLst/>
          </a:prstGeom>
          <a:noFill/>
        </p:spPr>
      </p:pic>
      <p:pic>
        <p:nvPicPr>
          <p:cNvPr id="9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295400" y="3172968"/>
            <a:ext cx="1600200" cy="800100"/>
          </a:xfrm>
          <a:prstGeom prst="rect">
            <a:avLst/>
          </a:prstGeom>
          <a:noFill/>
        </p:spPr>
      </p:pic>
      <p:sp>
        <p:nvSpPr>
          <p:cNvPr id="8" name="Rectangle 7"/>
          <p:cNvSpPr/>
          <p:nvPr/>
        </p:nvSpPr>
        <p:spPr>
          <a:xfrm>
            <a:off x="5486400" y="3965067"/>
            <a:ext cx="335279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+mj-lt"/>
              </a:rPr>
              <a:t>RUP (Rational Unified Process)</a:t>
            </a:r>
            <a:endParaRPr lang="en-US" b="1" dirty="0">
              <a:latin typeface="+mj-lt"/>
            </a:endParaRPr>
          </a:p>
        </p:txBody>
      </p:sp>
      <p:pic>
        <p:nvPicPr>
          <p:cNvPr id="2050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85800" y="1371600"/>
            <a:ext cx="2602992" cy="1600200"/>
          </a:xfrm>
          <a:prstGeom prst="rect">
            <a:avLst/>
          </a:prstGeom>
          <a:noFill/>
        </p:spPr>
      </p:pic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7429500" y="381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Rectangle 10"/>
          <p:cNvSpPr/>
          <p:nvPr/>
        </p:nvSpPr>
        <p:spPr>
          <a:xfrm>
            <a:off x="3581400" y="1897559"/>
            <a:ext cx="5181600" cy="76944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Introduction to Software Engineering </a:t>
            </a:r>
            <a:r>
              <a:rPr lang="en-US" sz="2200" dirty="0" smtClean="0">
                <a:solidFill>
                  <a:schemeClr val="tx1"/>
                </a:solidFill>
              </a:rPr>
              <a:t>course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for more information.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29690</TotalTime>
  <Words>692</Words>
  <Application>Microsoft Office PowerPoint</Application>
  <PresentationFormat>On-screen Show (4:3)</PresentationFormat>
  <Paragraphs>135</Paragraphs>
  <Slides>26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7" baseType="lpstr">
      <vt:lpstr>Office Theme</vt:lpstr>
      <vt:lpstr>Software Project Initiation</vt:lpstr>
      <vt:lpstr>Objectives</vt:lpstr>
      <vt:lpstr>Contents</vt:lpstr>
      <vt:lpstr>References</vt:lpstr>
      <vt:lpstr>Team Forming</vt:lpstr>
      <vt:lpstr>Brainstorming Project Ideas</vt:lpstr>
      <vt:lpstr>Tools</vt:lpstr>
      <vt:lpstr>Products: Practical Problems</vt:lpstr>
      <vt:lpstr>2026 Project Ideas</vt:lpstr>
      <vt:lpstr>Prepare Project Proposal</vt:lpstr>
      <vt:lpstr>Selecting Evaluation Criteria and Evaluators</vt:lpstr>
      <vt:lpstr>Evaluating Criteria</vt:lpstr>
      <vt:lpstr>Evaluating Project Proposal</vt:lpstr>
      <vt:lpstr>Finalizing Project Proposal</vt:lpstr>
      <vt:lpstr>Prepare Project Vision and Scope</vt:lpstr>
      <vt:lpstr>Prepare a Prototype</vt:lpstr>
      <vt:lpstr>Prepare a Partial Product Backlog</vt:lpstr>
      <vt:lpstr>Prepare Architecture</vt:lpstr>
      <vt:lpstr>Create a Proof of Concept</vt:lpstr>
      <vt:lpstr>Slide 20</vt:lpstr>
      <vt:lpstr>Project Charter</vt:lpstr>
      <vt:lpstr>Responsibility Assignment Matrix</vt:lpstr>
      <vt:lpstr>Checklist</vt:lpstr>
      <vt:lpstr>Slide 24</vt:lpstr>
      <vt:lpstr>Which Methodology?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9275</cp:revision>
  <dcterms:created xsi:type="dcterms:W3CDTF">2007-10-06T08:25:13Z</dcterms:created>
  <dcterms:modified xsi:type="dcterms:W3CDTF">2026-07-04T20:46:38Z</dcterms:modified>
</cp:coreProperties>
</file>