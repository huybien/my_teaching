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7"/>
  </p:notesMasterIdLst>
  <p:handoutMasterIdLst>
    <p:handoutMasterId r:id="rId28"/>
  </p:handoutMasterIdLst>
  <p:sldIdLst>
    <p:sldId id="256" r:id="rId2"/>
    <p:sldId id="499" r:id="rId3"/>
    <p:sldId id="671" r:id="rId4"/>
    <p:sldId id="839" r:id="rId5"/>
    <p:sldId id="881" r:id="rId6"/>
    <p:sldId id="882" r:id="rId7"/>
    <p:sldId id="898" r:id="rId8"/>
    <p:sldId id="883" r:id="rId9"/>
    <p:sldId id="889" r:id="rId10"/>
    <p:sldId id="888" r:id="rId11"/>
    <p:sldId id="892" r:id="rId12"/>
    <p:sldId id="893" r:id="rId13"/>
    <p:sldId id="894" r:id="rId14"/>
    <p:sldId id="901" r:id="rId15"/>
    <p:sldId id="895" r:id="rId16"/>
    <p:sldId id="875" r:id="rId17"/>
    <p:sldId id="876" r:id="rId18"/>
    <p:sldId id="877" r:id="rId19"/>
    <p:sldId id="843" r:id="rId20"/>
    <p:sldId id="906" r:id="rId21"/>
    <p:sldId id="907" r:id="rId22"/>
    <p:sldId id="904" r:id="rId23"/>
    <p:sldId id="909" r:id="rId24"/>
    <p:sldId id="908" r:id="rId25"/>
    <p:sldId id="343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5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5.jpe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21.pn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29.png"/><Relationship Id="rId4" Type="http://schemas.openxmlformats.org/officeDocument/2006/relationships/hyperlink" Target="14.%20The%20Rational%20Unified%20Process.pptx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and evaluate a </a:t>
            </a:r>
            <a:r>
              <a:rPr lang="en-US" sz="22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proposal.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</a:t>
            </a:r>
            <a:r>
              <a:rPr lang="en-US" sz="2400" dirty="0" smtClean="0"/>
              <a:t>.</a:t>
            </a:r>
          </a:p>
          <a:p>
            <a:pPr marL="571500" lvl="0" indent="-571500">
              <a:buFont typeface="+mj-lt"/>
              <a:buAutoNum type="romanUcPeriod"/>
            </a:pPr>
            <a:r>
              <a:rPr lang="en-US" sz="2400" dirty="0" smtClean="0"/>
              <a:t>Feasibility </a:t>
            </a:r>
            <a:r>
              <a:rPr lang="en-US" sz="2400" dirty="0" smtClean="0"/>
              <a:t>study </a:t>
            </a:r>
            <a:r>
              <a:rPr lang="en-US" sz="2400" dirty="0" smtClean="0"/>
              <a:t>r</a:t>
            </a:r>
            <a:r>
              <a:rPr lang="en-US" sz="2400" dirty="0" smtClean="0"/>
              <a:t>eport.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</a:t>
            </a:r>
            <a:r>
              <a:rPr lang="en-US" sz="2400" dirty="0" smtClean="0"/>
              <a:t>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</a:t>
            </a:r>
            <a:r>
              <a:rPr lang="en-US" sz="2400" dirty="0" smtClean="0"/>
              <a:t>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</a:t>
            </a:r>
            <a:r>
              <a:rPr lang="en-US" sz="2400" dirty="0" smtClean="0"/>
              <a:t>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Agents.</a:t>
            </a:r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38862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Evaluation Criteria and Evaluators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Criteria</a:t>
            </a:r>
          </a:p>
          <a:p>
            <a:pPr lvl="1"/>
            <a:r>
              <a:rPr lang="en-US" dirty="0" smtClean="0"/>
              <a:t>Previous Slide</a:t>
            </a:r>
          </a:p>
          <a:p>
            <a:pPr lvl="1"/>
            <a:r>
              <a:rPr lang="en-US" dirty="0" smtClean="0"/>
              <a:t>Asking AI</a:t>
            </a:r>
          </a:p>
          <a:p>
            <a:r>
              <a:rPr lang="en-US" dirty="0" smtClean="0"/>
              <a:t>Evaluators</a:t>
            </a:r>
          </a:p>
          <a:p>
            <a:pPr lvl="1"/>
            <a:r>
              <a:rPr lang="en-US" dirty="0" smtClean="0"/>
              <a:t>Human</a:t>
            </a:r>
          </a:p>
          <a:p>
            <a:pPr lvl="1"/>
            <a:r>
              <a:rPr lang="en-US" dirty="0" smtClean="0"/>
              <a:t>AI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Criteria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these criteria for evaluating software project proposal.</a:t>
            </a:r>
          </a:p>
          <a:p>
            <a:r>
              <a:rPr lang="en-US" sz="2400" dirty="0" smtClean="0"/>
              <a:t>Search extensively, and evaluate…</a:t>
            </a:r>
          </a:p>
          <a:p>
            <a:r>
              <a:rPr lang="en-US" sz="2400" dirty="0" smtClean="0"/>
              <a:t>Search extensively, and critique these criteria…</a:t>
            </a:r>
            <a:endParaRPr lang="en-US" sz="2400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41910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Evaluate [proposal.pdf] using these criteria:</a:t>
            </a:r>
          </a:p>
          <a:p>
            <a:r>
              <a:rPr lang="en-US" sz="2000" dirty="0" smtClean="0"/>
              <a:t>Search extensively, then evaluate the proposal.</a:t>
            </a:r>
          </a:p>
          <a:p>
            <a:r>
              <a:rPr lang="en-US" sz="2000" dirty="0" smtClean="0"/>
              <a:t>Search extensively, then critique the proposal.</a:t>
            </a:r>
          </a:p>
          <a:p>
            <a:r>
              <a:rPr lang="en-US" sz="2000" dirty="0" smtClean="0"/>
              <a:t>Conduct an extensive search of competitors' solutions, then critique the proposal.</a:t>
            </a:r>
          </a:p>
          <a:p>
            <a:r>
              <a:rPr lang="en-US" sz="2000" dirty="0" smtClean="0"/>
              <a:t>Search extensively for existing solutions that can be combined to form a solution to the problem, then critique the proposal.</a:t>
            </a:r>
          </a:p>
        </p:txBody>
      </p:sp>
      <p:pic>
        <p:nvPicPr>
          <p:cNvPr id="7" name="Picture 2" descr="Image result for kick-off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350222"/>
            <a:ext cx="3630222" cy="1745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Project Proposal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Vision and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Current state, (manual) </a:t>
            </a:r>
            <a:r>
              <a:rPr lang="en-US" sz="2400" i="1" dirty="0" smtClean="0">
                <a:solidFill>
                  <a:srgbClr val="C00000"/>
                </a:solidFill>
              </a:rPr>
              <a:t>workflows</a:t>
            </a:r>
            <a:r>
              <a:rPr lang="en-US" sz="2400" dirty="0" smtClean="0"/>
              <a:t>, features.</a:t>
            </a:r>
          </a:p>
          <a:p>
            <a:r>
              <a:rPr lang="en-US" sz="2400" dirty="0" smtClean="0"/>
              <a:t>Future state, </a:t>
            </a:r>
            <a:r>
              <a:rPr lang="en-US" sz="2400" i="1" dirty="0" smtClean="0">
                <a:solidFill>
                  <a:srgbClr val="C00000"/>
                </a:solidFill>
              </a:rPr>
              <a:t>workflows</a:t>
            </a:r>
            <a:r>
              <a:rPr lang="en-US" sz="2400" dirty="0" smtClean="0"/>
              <a:t>, features.</a:t>
            </a:r>
            <a:endParaRPr lang="en-US" sz="24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3048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2400" y="32766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2819400" y="5638800"/>
            <a:ext cx="31242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 (High level solution)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 (Who is responsible for what?)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Workflow UIs.</a:t>
            </a:r>
            <a:endParaRPr lang="en-US" dirty="0"/>
          </a:p>
        </p:txBody>
      </p:sp>
      <p:pic>
        <p:nvPicPr>
          <p:cNvPr id="4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Product Backlog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Features with </a:t>
            </a:r>
            <a:r>
              <a:rPr lang="en-US" sz="2400" i="1" dirty="0" smtClean="0">
                <a:solidFill>
                  <a:srgbClr val="C00000"/>
                </a:solidFill>
              </a:rPr>
              <a:t>acceptance criteria</a:t>
            </a:r>
            <a:r>
              <a:rPr lang="en-US" sz="2400" dirty="0" smtClean="0"/>
              <a:t> mapped to workflows.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Straight Arrow Connector 5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562600" y="4415135"/>
            <a:ext cx="273344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2400" dirty="0" smtClean="0">
                <a:solidFill>
                  <a:srgbClr val="C00000"/>
                </a:solidFill>
                <a:latin typeface="Consolas" pitchFamily="49" charset="0"/>
              </a:rPr>
              <a:t>Product Backlog</a:t>
            </a:r>
            <a:endParaRPr lang="en-US" sz="2400" u="sng" dirty="0" smtClean="0">
              <a:solidFill>
                <a:srgbClr val="C00000"/>
              </a:solidFill>
              <a:latin typeface="Consolas" pitchFamily="49" charset="0"/>
            </a:endParaRPr>
          </a:p>
        </p:txBody>
      </p:sp>
      <p:pic>
        <p:nvPicPr>
          <p:cNvPr id="8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2205335"/>
            <a:ext cx="2143125" cy="2143125"/>
          </a:xfrm>
          <a:prstGeom prst="rect">
            <a:avLst/>
          </a:prstGeom>
          <a:noFill/>
        </p:spPr>
      </p:pic>
      <p:sp>
        <p:nvSpPr>
          <p:cNvPr id="9" name="Rectangle 8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Software Requirements Specification or Product Backlog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application type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200900" y="356235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Proof of Concept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simplest feature that demonstrates the entire technology stack.</a:t>
            </a:r>
          </a:p>
          <a:p>
            <a:r>
              <a:rPr lang="en-US" sz="2200" dirty="0" smtClean="0"/>
              <a:t>The most difficult feature.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2450" y="2819400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" name="Straight Arrow Connector 4"/>
          <p:cNvCxnSpPr/>
          <p:nvPr/>
        </p:nvCxnSpPr>
        <p:spPr>
          <a:xfrm>
            <a:off x="2971800" y="36464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343400" y="47132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267200" y="2823591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>
            <a:off x="3733800" y="52578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943600" y="51704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0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4256087"/>
            <a:ext cx="2933700" cy="1762316"/>
          </a:xfrm>
          <a:prstGeom prst="rect">
            <a:avLst/>
          </a:prstGeom>
          <a:noFill/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34200" y="3048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 a Development Method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500" dirty="0" smtClean="0"/>
              <a:t>Waterfall?</a:t>
            </a:r>
          </a:p>
          <a:p>
            <a:r>
              <a:rPr lang="en-US" sz="2500" dirty="0" smtClean="0"/>
              <a:t>RUP?</a:t>
            </a:r>
          </a:p>
          <a:p>
            <a:r>
              <a:rPr lang="en-US" sz="2500" dirty="0" smtClean="0"/>
              <a:t>Scrum?</a:t>
            </a:r>
          </a:p>
          <a:p>
            <a:r>
              <a:rPr lang="en-US" sz="2500" dirty="0" err="1" smtClean="0"/>
              <a:t>Kanban</a:t>
            </a:r>
            <a:r>
              <a:rPr lang="en-US" sz="2500" dirty="0" smtClean="0"/>
              <a:t>?</a:t>
            </a:r>
            <a:endParaRPr lang="en-US" sz="2500" dirty="0"/>
          </a:p>
        </p:txBody>
      </p:sp>
      <p:pic>
        <p:nvPicPr>
          <p:cNvPr id="5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8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962400" y="1752600"/>
            <a:ext cx="2602992" cy="1600200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0" y="1905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29733</TotalTime>
  <Words>741</Words>
  <Application>Microsoft Office PowerPoint</Application>
  <PresentationFormat>On-screen Show (4:3)</PresentationFormat>
  <Paragraphs>142</Paragraphs>
  <Slides>25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Tools</vt:lpstr>
      <vt:lpstr>Products: Practical Problems</vt:lpstr>
      <vt:lpstr>2026 Project Ideas</vt:lpstr>
      <vt:lpstr>Prepare Project Proposal</vt:lpstr>
      <vt:lpstr>Selecting Evaluation Criteria and Evaluators</vt:lpstr>
      <vt:lpstr>Evaluating Criteria</vt:lpstr>
      <vt:lpstr>Evaluating Project Proposal</vt:lpstr>
      <vt:lpstr>Finalizing Project Proposal</vt:lpstr>
      <vt:lpstr>Prepare Project Vision and Scope</vt:lpstr>
      <vt:lpstr>Project Charter</vt:lpstr>
      <vt:lpstr>Responsibility Assignment Matrix</vt:lpstr>
      <vt:lpstr>Checklist</vt:lpstr>
      <vt:lpstr>Slide 19</vt:lpstr>
      <vt:lpstr>Create a Prototype</vt:lpstr>
      <vt:lpstr>Create a Product Backlog</vt:lpstr>
      <vt:lpstr>Create Architecture</vt:lpstr>
      <vt:lpstr>Create a Proof of Concept</vt:lpstr>
      <vt:lpstr>Select a Development Method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9351</cp:revision>
  <dcterms:created xsi:type="dcterms:W3CDTF">2007-10-06T08:25:13Z</dcterms:created>
  <dcterms:modified xsi:type="dcterms:W3CDTF">2026-07-10T18:34:50Z</dcterms:modified>
</cp:coreProperties>
</file>