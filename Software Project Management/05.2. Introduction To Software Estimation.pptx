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65"/>
  </p:handoutMasterIdLst>
  <p:sldIdLst>
    <p:sldId id="256" r:id="rId2"/>
    <p:sldId id="568" r:id="rId3"/>
    <p:sldId id="736" r:id="rId4"/>
    <p:sldId id="782" r:id="rId5"/>
    <p:sldId id="598" r:id="rId6"/>
    <p:sldId id="599" r:id="rId7"/>
    <p:sldId id="744" r:id="rId8"/>
    <p:sldId id="781" r:id="rId9"/>
    <p:sldId id="731" r:id="rId10"/>
    <p:sldId id="728" r:id="rId11"/>
    <p:sldId id="733" r:id="rId12"/>
    <p:sldId id="600" r:id="rId13"/>
    <p:sldId id="735" r:id="rId14"/>
    <p:sldId id="671" r:id="rId15"/>
    <p:sldId id="670" r:id="rId16"/>
    <p:sldId id="689" r:id="rId17"/>
    <p:sldId id="718" r:id="rId18"/>
    <p:sldId id="690" r:id="rId19"/>
    <p:sldId id="641" r:id="rId20"/>
    <p:sldId id="688" r:id="rId21"/>
    <p:sldId id="687" r:id="rId22"/>
    <p:sldId id="783" r:id="rId23"/>
    <p:sldId id="694" r:id="rId24"/>
    <p:sldId id="695" r:id="rId25"/>
    <p:sldId id="696" r:id="rId26"/>
    <p:sldId id="719" r:id="rId27"/>
    <p:sldId id="721" r:id="rId28"/>
    <p:sldId id="755" r:id="rId29"/>
    <p:sldId id="811" r:id="rId30"/>
    <p:sldId id="791" r:id="rId31"/>
    <p:sldId id="784" r:id="rId32"/>
    <p:sldId id="785" r:id="rId33"/>
    <p:sldId id="786" r:id="rId34"/>
    <p:sldId id="787" r:id="rId35"/>
    <p:sldId id="788" r:id="rId36"/>
    <p:sldId id="789" r:id="rId37"/>
    <p:sldId id="790" r:id="rId38"/>
    <p:sldId id="700" r:id="rId39"/>
    <p:sldId id="792" r:id="rId40"/>
    <p:sldId id="701" r:id="rId41"/>
    <p:sldId id="745" r:id="rId42"/>
    <p:sldId id="748" r:id="rId43"/>
    <p:sldId id="749" r:id="rId44"/>
    <p:sldId id="750" r:id="rId45"/>
    <p:sldId id="746" r:id="rId46"/>
    <p:sldId id="751" r:id="rId47"/>
    <p:sldId id="705" r:id="rId48"/>
    <p:sldId id="706" r:id="rId49"/>
    <p:sldId id="698" r:id="rId50"/>
    <p:sldId id="754" r:id="rId51"/>
    <p:sldId id="707" r:id="rId52"/>
    <p:sldId id="708" r:id="rId53"/>
    <p:sldId id="699" r:id="rId54"/>
    <p:sldId id="801" r:id="rId55"/>
    <p:sldId id="810" r:id="rId56"/>
    <p:sldId id="802" r:id="rId57"/>
    <p:sldId id="803" r:id="rId58"/>
    <p:sldId id="804" r:id="rId59"/>
    <p:sldId id="805" r:id="rId60"/>
    <p:sldId id="806" r:id="rId61"/>
    <p:sldId id="807" r:id="rId62"/>
    <p:sldId id="809" r:id="rId63"/>
    <p:sldId id="343" r:id="rId6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56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78E6BB-BD22-4662-845D-8AD73D35DCB1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3855D82-108F-42E5-8617-B8E091237915}">
      <dgm:prSet phldrT="[Text]"/>
      <dgm:spPr/>
      <dgm:t>
        <a:bodyPr/>
        <a:lstStyle/>
        <a:p>
          <a:r>
            <a:rPr lang="en-US" dirty="0" smtClean="0"/>
            <a:t>Unique properties</a:t>
          </a:r>
          <a:endParaRPr lang="en-US" dirty="0"/>
        </a:p>
      </dgm:t>
    </dgm:pt>
    <dgm:pt modelId="{DDED513D-0C9D-4CFF-A834-BB7E4EEEF341}" type="parTrans" cxnId="{13B85039-79EC-413A-99E7-078A80E79E82}">
      <dgm:prSet/>
      <dgm:spPr/>
      <dgm:t>
        <a:bodyPr/>
        <a:lstStyle/>
        <a:p>
          <a:endParaRPr lang="en-US"/>
        </a:p>
      </dgm:t>
    </dgm:pt>
    <dgm:pt modelId="{142DDEB5-75D2-4729-BA53-A1FBDD0AF015}" type="sibTrans" cxnId="{13B85039-79EC-413A-99E7-078A80E79E82}">
      <dgm:prSet/>
      <dgm:spPr/>
      <dgm:t>
        <a:bodyPr/>
        <a:lstStyle/>
        <a:p>
          <a:endParaRPr lang="en-US"/>
        </a:p>
      </dgm:t>
    </dgm:pt>
    <dgm:pt modelId="{D9981842-0315-4D96-B43C-A916EF527771}">
      <dgm:prSet phldrT="[Text]"/>
      <dgm:spPr/>
      <dgm:t>
        <a:bodyPr/>
        <a:lstStyle/>
        <a:p>
          <a:r>
            <a:rPr lang="en-US" dirty="0" smtClean="0"/>
            <a:t>Technology</a:t>
          </a:r>
          <a:endParaRPr lang="en-US" dirty="0"/>
        </a:p>
      </dgm:t>
    </dgm:pt>
    <dgm:pt modelId="{9073DB4E-2E45-4D3C-AC07-1A2753009C45}" type="parTrans" cxnId="{4D58EE60-44F5-4D2F-B051-BEB01B359CED}">
      <dgm:prSet/>
      <dgm:spPr/>
      <dgm:t>
        <a:bodyPr/>
        <a:lstStyle/>
        <a:p>
          <a:endParaRPr lang="en-US"/>
        </a:p>
      </dgm:t>
    </dgm:pt>
    <dgm:pt modelId="{B88AA252-A368-4B03-836B-6D322CB50147}" type="sibTrans" cxnId="{4D58EE60-44F5-4D2F-B051-BEB01B359CED}">
      <dgm:prSet/>
      <dgm:spPr/>
      <dgm:t>
        <a:bodyPr/>
        <a:lstStyle/>
        <a:p>
          <a:endParaRPr lang="en-US"/>
        </a:p>
      </dgm:t>
    </dgm:pt>
    <dgm:pt modelId="{53A3D87D-F898-4928-BCF6-5E4274AB78E5}">
      <dgm:prSet phldrT="[Text]"/>
      <dgm:spPr/>
      <dgm:t>
        <a:bodyPr/>
        <a:lstStyle/>
        <a:p>
          <a:r>
            <a:rPr lang="en-US" dirty="0" smtClean="0"/>
            <a:t>Team Members</a:t>
          </a:r>
          <a:endParaRPr lang="en-US" dirty="0"/>
        </a:p>
      </dgm:t>
    </dgm:pt>
    <dgm:pt modelId="{B1D64E8C-056B-4347-839A-0F55A9196FEE}" type="parTrans" cxnId="{AEDE3CE8-264B-489C-A850-EF57D2402893}">
      <dgm:prSet/>
      <dgm:spPr/>
      <dgm:t>
        <a:bodyPr/>
        <a:lstStyle/>
        <a:p>
          <a:endParaRPr lang="en-US"/>
        </a:p>
      </dgm:t>
    </dgm:pt>
    <dgm:pt modelId="{3E83AC33-ACCE-434D-AB03-61B29283D4AF}" type="sibTrans" cxnId="{AEDE3CE8-264B-489C-A850-EF57D2402893}">
      <dgm:prSet/>
      <dgm:spPr/>
      <dgm:t>
        <a:bodyPr/>
        <a:lstStyle/>
        <a:p>
          <a:endParaRPr lang="en-US"/>
        </a:p>
      </dgm:t>
    </dgm:pt>
    <dgm:pt modelId="{06F1B78B-D6D7-4A91-9A26-C9CAEFB124BD}">
      <dgm:prSet phldrT="[Text]"/>
      <dgm:spPr/>
      <dgm:t>
        <a:bodyPr/>
        <a:lstStyle/>
        <a:p>
          <a:r>
            <a:rPr lang="en-US" dirty="0" smtClean="0"/>
            <a:t>Kinds Of Software</a:t>
          </a:r>
          <a:endParaRPr lang="en-US" dirty="0"/>
        </a:p>
      </dgm:t>
    </dgm:pt>
    <dgm:pt modelId="{9C0AD2E0-17BB-4039-AAFA-F52EA5D24E7E}" type="parTrans" cxnId="{DCE302E0-1861-45B7-A439-5DC688472169}">
      <dgm:prSet/>
      <dgm:spPr/>
      <dgm:t>
        <a:bodyPr/>
        <a:lstStyle/>
        <a:p>
          <a:endParaRPr lang="en-US"/>
        </a:p>
      </dgm:t>
    </dgm:pt>
    <dgm:pt modelId="{D9592FA9-8979-47E6-BABC-BE57A0AF49EE}" type="sibTrans" cxnId="{DCE302E0-1861-45B7-A439-5DC688472169}">
      <dgm:prSet/>
      <dgm:spPr/>
      <dgm:t>
        <a:bodyPr/>
        <a:lstStyle/>
        <a:p>
          <a:endParaRPr lang="en-US"/>
        </a:p>
      </dgm:t>
    </dgm:pt>
    <dgm:pt modelId="{1EC5C3E8-8A8B-40EA-ACCC-B9E267A02E92}" type="pres">
      <dgm:prSet presAssocID="{A978E6BB-BD22-4662-845D-8AD73D35DCB1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7C9196-8936-4F67-986D-AC34E76E0A2F}" type="pres">
      <dgm:prSet presAssocID="{A3855D82-108F-42E5-8617-B8E091237915}" presName="centerShape" presStyleLbl="node0" presStyleIdx="0" presStyleCnt="1"/>
      <dgm:spPr/>
      <dgm:t>
        <a:bodyPr/>
        <a:lstStyle/>
        <a:p>
          <a:endParaRPr lang="en-US"/>
        </a:p>
      </dgm:t>
    </dgm:pt>
    <dgm:pt modelId="{193F502D-5874-4376-8C08-94218672E760}" type="pres">
      <dgm:prSet presAssocID="{9073DB4E-2E45-4D3C-AC07-1A2753009C45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4BB9D135-4C28-480B-8DDF-7A7C9525F0F4}" type="pres">
      <dgm:prSet presAssocID="{D9981842-0315-4D96-B43C-A916EF52777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F8C2B6-9B84-498A-B206-BFF7475D46C3}" type="pres">
      <dgm:prSet presAssocID="{B1D64E8C-056B-4347-839A-0F55A9196FEE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925EF7DA-C059-48C0-831E-B8318E17D73B}" type="pres">
      <dgm:prSet presAssocID="{53A3D87D-F898-4928-BCF6-5E4274AB78E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A42880-99CF-44FD-A852-BA28EE6577A1}" type="pres">
      <dgm:prSet presAssocID="{9C0AD2E0-17BB-4039-AAFA-F52EA5D24E7E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59ECA073-AF61-43DD-BC28-F562F2E79297}" type="pres">
      <dgm:prSet presAssocID="{06F1B78B-D6D7-4A91-9A26-C9CAEFB124B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DE3CE8-264B-489C-A850-EF57D2402893}" srcId="{A3855D82-108F-42E5-8617-B8E091237915}" destId="{53A3D87D-F898-4928-BCF6-5E4274AB78E5}" srcOrd="1" destOrd="0" parTransId="{B1D64E8C-056B-4347-839A-0F55A9196FEE}" sibTransId="{3E83AC33-ACCE-434D-AB03-61B29283D4AF}"/>
    <dgm:cxn modelId="{4D58EE60-44F5-4D2F-B051-BEB01B359CED}" srcId="{A3855D82-108F-42E5-8617-B8E091237915}" destId="{D9981842-0315-4D96-B43C-A916EF527771}" srcOrd="0" destOrd="0" parTransId="{9073DB4E-2E45-4D3C-AC07-1A2753009C45}" sibTransId="{B88AA252-A368-4B03-836B-6D322CB50147}"/>
    <dgm:cxn modelId="{DCE302E0-1861-45B7-A439-5DC688472169}" srcId="{A3855D82-108F-42E5-8617-B8E091237915}" destId="{06F1B78B-D6D7-4A91-9A26-C9CAEFB124BD}" srcOrd="2" destOrd="0" parTransId="{9C0AD2E0-17BB-4039-AAFA-F52EA5D24E7E}" sibTransId="{D9592FA9-8979-47E6-BABC-BE57A0AF49EE}"/>
    <dgm:cxn modelId="{831E10DD-B94C-4F45-B1A8-635DBE99CAF6}" type="presOf" srcId="{A978E6BB-BD22-4662-845D-8AD73D35DCB1}" destId="{1EC5C3E8-8A8B-40EA-ACCC-B9E267A02E92}" srcOrd="0" destOrd="0" presId="urn:microsoft.com/office/officeart/2005/8/layout/radial4"/>
    <dgm:cxn modelId="{13B85039-79EC-413A-99E7-078A80E79E82}" srcId="{A978E6BB-BD22-4662-845D-8AD73D35DCB1}" destId="{A3855D82-108F-42E5-8617-B8E091237915}" srcOrd="0" destOrd="0" parTransId="{DDED513D-0C9D-4CFF-A834-BB7E4EEEF341}" sibTransId="{142DDEB5-75D2-4729-BA53-A1FBDD0AF015}"/>
    <dgm:cxn modelId="{B752E595-D7CB-45EE-871A-F828BF782AD2}" type="presOf" srcId="{D9981842-0315-4D96-B43C-A916EF527771}" destId="{4BB9D135-4C28-480B-8DDF-7A7C9525F0F4}" srcOrd="0" destOrd="0" presId="urn:microsoft.com/office/officeart/2005/8/layout/radial4"/>
    <dgm:cxn modelId="{941C4A47-E504-4089-96F5-DEF7FA989A50}" type="presOf" srcId="{53A3D87D-F898-4928-BCF6-5E4274AB78E5}" destId="{925EF7DA-C059-48C0-831E-B8318E17D73B}" srcOrd="0" destOrd="0" presId="urn:microsoft.com/office/officeart/2005/8/layout/radial4"/>
    <dgm:cxn modelId="{E498991F-2C37-4DC8-ABE6-5CDA1547BC2B}" type="presOf" srcId="{06F1B78B-D6D7-4A91-9A26-C9CAEFB124BD}" destId="{59ECA073-AF61-43DD-BC28-F562F2E79297}" srcOrd="0" destOrd="0" presId="urn:microsoft.com/office/officeart/2005/8/layout/radial4"/>
    <dgm:cxn modelId="{F635C7B8-68AF-44A1-8E60-891EDF5921AA}" type="presOf" srcId="{9C0AD2E0-17BB-4039-AAFA-F52EA5D24E7E}" destId="{80A42880-99CF-44FD-A852-BA28EE6577A1}" srcOrd="0" destOrd="0" presId="urn:microsoft.com/office/officeart/2005/8/layout/radial4"/>
    <dgm:cxn modelId="{85640204-E283-44E8-9077-8CE0145F1EC0}" type="presOf" srcId="{A3855D82-108F-42E5-8617-B8E091237915}" destId="{EA7C9196-8936-4F67-986D-AC34E76E0A2F}" srcOrd="0" destOrd="0" presId="urn:microsoft.com/office/officeart/2005/8/layout/radial4"/>
    <dgm:cxn modelId="{82A29661-DEC2-4DF0-BB87-09BD59E9CD6C}" type="presOf" srcId="{B1D64E8C-056B-4347-839A-0F55A9196FEE}" destId="{C7F8C2B6-9B84-498A-B206-BFF7475D46C3}" srcOrd="0" destOrd="0" presId="urn:microsoft.com/office/officeart/2005/8/layout/radial4"/>
    <dgm:cxn modelId="{A6FF09B8-BF11-4682-AFCF-43A2D6162094}" type="presOf" srcId="{9073DB4E-2E45-4D3C-AC07-1A2753009C45}" destId="{193F502D-5874-4376-8C08-94218672E760}" srcOrd="0" destOrd="0" presId="urn:microsoft.com/office/officeart/2005/8/layout/radial4"/>
    <dgm:cxn modelId="{BDA979FB-BAF4-49A4-A881-F97A5770152F}" type="presParOf" srcId="{1EC5C3E8-8A8B-40EA-ACCC-B9E267A02E92}" destId="{EA7C9196-8936-4F67-986D-AC34E76E0A2F}" srcOrd="0" destOrd="0" presId="urn:microsoft.com/office/officeart/2005/8/layout/radial4"/>
    <dgm:cxn modelId="{74E6A6F4-31F8-402E-B1A0-3FA82FD54F67}" type="presParOf" srcId="{1EC5C3E8-8A8B-40EA-ACCC-B9E267A02E92}" destId="{193F502D-5874-4376-8C08-94218672E760}" srcOrd="1" destOrd="0" presId="urn:microsoft.com/office/officeart/2005/8/layout/radial4"/>
    <dgm:cxn modelId="{96A444C0-CB5E-49A6-9738-4BB90E2BA983}" type="presParOf" srcId="{1EC5C3E8-8A8B-40EA-ACCC-B9E267A02E92}" destId="{4BB9D135-4C28-480B-8DDF-7A7C9525F0F4}" srcOrd="2" destOrd="0" presId="urn:microsoft.com/office/officeart/2005/8/layout/radial4"/>
    <dgm:cxn modelId="{CA0E633F-79E7-45DA-ABDA-08CAD9865597}" type="presParOf" srcId="{1EC5C3E8-8A8B-40EA-ACCC-B9E267A02E92}" destId="{C7F8C2B6-9B84-498A-B206-BFF7475D46C3}" srcOrd="3" destOrd="0" presId="urn:microsoft.com/office/officeart/2005/8/layout/radial4"/>
    <dgm:cxn modelId="{45643454-4BB7-4A68-9BEA-1B271F57547C}" type="presParOf" srcId="{1EC5C3E8-8A8B-40EA-ACCC-B9E267A02E92}" destId="{925EF7DA-C059-48C0-831E-B8318E17D73B}" srcOrd="4" destOrd="0" presId="urn:microsoft.com/office/officeart/2005/8/layout/radial4"/>
    <dgm:cxn modelId="{2E19C954-9A28-4D9D-9B2F-37FC5B98E9C0}" type="presParOf" srcId="{1EC5C3E8-8A8B-40EA-ACCC-B9E267A02E92}" destId="{80A42880-99CF-44FD-A852-BA28EE6577A1}" srcOrd="5" destOrd="0" presId="urn:microsoft.com/office/officeart/2005/8/layout/radial4"/>
    <dgm:cxn modelId="{38B196ED-AD71-4DD6-A28F-CAF856370DB8}" type="presParOf" srcId="{1EC5C3E8-8A8B-40EA-ACCC-B9E267A02E92}" destId="{59ECA073-AF61-43DD-BC28-F562F2E79297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6706B7-2234-4091-9C89-D4B92B6CFD42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3A879F9A-674A-4CAA-97DA-0A413510A1D0}">
      <dgm:prSet phldrT="[Text]" custT="1"/>
      <dgm:spPr/>
      <dgm:t>
        <a:bodyPr/>
        <a:lstStyle/>
        <a:p>
          <a:r>
            <a:rPr lang="en-US" sz="2400" dirty="0" smtClean="0"/>
            <a:t>To create the task-level estimates, have the people who will actually do the work create the estimates.</a:t>
          </a:r>
          <a:endParaRPr lang="en-US" sz="2400" dirty="0"/>
        </a:p>
      </dgm:t>
    </dgm:pt>
    <dgm:pt modelId="{5FF31AFA-339E-4FFD-BD88-F7DAB13EC4F0}" type="parTrans" cxnId="{CD16DA18-1AF0-432C-B12D-E1245870D245}">
      <dgm:prSet/>
      <dgm:spPr/>
      <dgm:t>
        <a:bodyPr/>
        <a:lstStyle/>
        <a:p>
          <a:endParaRPr lang="en-US" sz="2400"/>
        </a:p>
      </dgm:t>
    </dgm:pt>
    <dgm:pt modelId="{FA25F7BD-F83D-4EF6-A98F-B98D4CF51FA3}" type="sibTrans" cxnId="{CD16DA18-1AF0-432C-B12D-E1245870D245}">
      <dgm:prSet custT="1"/>
      <dgm:spPr/>
      <dgm:t>
        <a:bodyPr/>
        <a:lstStyle/>
        <a:p>
          <a:endParaRPr lang="en-US" sz="2400"/>
        </a:p>
      </dgm:t>
    </dgm:pt>
    <dgm:pt modelId="{3156DAB0-1FE4-4753-A333-455E80F6FF84}">
      <dgm:prSet phldrT="[Text]" custT="1"/>
      <dgm:spPr/>
      <dgm:t>
        <a:bodyPr/>
        <a:lstStyle/>
        <a:p>
          <a:r>
            <a:rPr lang="en-US" sz="2400" dirty="0" smtClean="0"/>
            <a:t>Expert Estimator</a:t>
          </a:r>
          <a:endParaRPr lang="en-US" sz="2400" dirty="0"/>
        </a:p>
      </dgm:t>
    </dgm:pt>
    <dgm:pt modelId="{D0BE5796-74BE-41A4-A09C-135A55F7FF63}" type="parTrans" cxnId="{A8121F6F-6B33-48ED-A0ED-4E174188AE18}">
      <dgm:prSet/>
      <dgm:spPr/>
      <dgm:t>
        <a:bodyPr/>
        <a:lstStyle/>
        <a:p>
          <a:endParaRPr lang="en-US" sz="2400"/>
        </a:p>
      </dgm:t>
    </dgm:pt>
    <dgm:pt modelId="{0F60B203-1252-4265-9DB9-85040C85DA35}" type="sibTrans" cxnId="{A8121F6F-6B33-48ED-A0ED-4E174188AE18}">
      <dgm:prSet custT="1"/>
      <dgm:spPr/>
      <dgm:t>
        <a:bodyPr/>
        <a:lstStyle/>
        <a:p>
          <a:endParaRPr lang="en-US" sz="2400"/>
        </a:p>
      </dgm:t>
    </dgm:pt>
    <dgm:pt modelId="{46C95F5C-002D-4AF5-8EAF-4EF565D56F07}">
      <dgm:prSet phldrT="[Text]" custT="1"/>
      <dgm:spPr/>
      <dgm:t>
        <a:bodyPr/>
        <a:lstStyle/>
        <a:p>
          <a:r>
            <a:rPr lang="en-US" sz="2400" dirty="0" smtClean="0"/>
            <a:t>Expert development, quality assurance, and documentation staff</a:t>
          </a:r>
        </a:p>
      </dgm:t>
    </dgm:pt>
    <dgm:pt modelId="{6D35FDD1-A265-4502-93BF-4F9D928381B5}" type="parTrans" cxnId="{E75546B1-AF4D-4EE0-AEA1-1E15A1AAF4CC}">
      <dgm:prSet/>
      <dgm:spPr/>
      <dgm:t>
        <a:bodyPr/>
        <a:lstStyle/>
        <a:p>
          <a:endParaRPr lang="en-US" sz="2400"/>
        </a:p>
      </dgm:t>
    </dgm:pt>
    <dgm:pt modelId="{469CB85E-BA67-426D-9204-767183975453}" type="sibTrans" cxnId="{E75546B1-AF4D-4EE0-AEA1-1E15A1AAF4CC}">
      <dgm:prSet/>
      <dgm:spPr/>
      <dgm:t>
        <a:bodyPr/>
        <a:lstStyle/>
        <a:p>
          <a:endParaRPr lang="en-US" sz="2400"/>
        </a:p>
      </dgm:t>
    </dgm:pt>
    <dgm:pt modelId="{F08F983C-5FA3-45CD-B625-11275E0201BE}" type="pres">
      <dgm:prSet presAssocID="{DC6706B7-2234-4091-9C89-D4B92B6CFD42}" presName="linearFlow" presStyleCnt="0">
        <dgm:presLayoutVars>
          <dgm:resizeHandles val="exact"/>
        </dgm:presLayoutVars>
      </dgm:prSet>
      <dgm:spPr/>
    </dgm:pt>
    <dgm:pt modelId="{6514996B-2C21-4198-BD7E-4495236BBE3B}" type="pres">
      <dgm:prSet presAssocID="{3A879F9A-674A-4CAA-97DA-0A413510A1D0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F29BAB-0B80-4853-A817-6A37920AD717}" type="pres">
      <dgm:prSet presAssocID="{FA25F7BD-F83D-4EF6-A98F-B98D4CF51FA3}" presName="sibTrans" presStyleLbl="sibTrans2D1" presStyleIdx="0" presStyleCnt="2"/>
      <dgm:spPr/>
      <dgm:t>
        <a:bodyPr/>
        <a:lstStyle/>
        <a:p>
          <a:endParaRPr lang="en-US"/>
        </a:p>
      </dgm:t>
    </dgm:pt>
    <dgm:pt modelId="{813DED83-8F7F-4399-AF3F-5FAABC55E028}" type="pres">
      <dgm:prSet presAssocID="{FA25F7BD-F83D-4EF6-A98F-B98D4CF51FA3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920570DD-7B66-421B-9C70-288E1EEBB8CA}" type="pres">
      <dgm:prSet presAssocID="{3156DAB0-1FE4-4753-A333-455E80F6FF8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9FFB49-EA91-46FC-B347-B5D00CA811D6}" type="pres">
      <dgm:prSet presAssocID="{0F60B203-1252-4265-9DB9-85040C85DA3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A76EF685-8EDB-4A21-A73A-67E044B6AEA3}" type="pres">
      <dgm:prSet presAssocID="{0F60B203-1252-4265-9DB9-85040C85DA3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D8045751-53F4-4E9D-8E2B-B49011167205}" type="pres">
      <dgm:prSet presAssocID="{46C95F5C-002D-4AF5-8EAF-4EF565D56F07}" presName="node" presStyleLbl="node1" presStyleIdx="2" presStyleCnt="3" custScaleY="1359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D5796AE-C77D-4C16-B467-D30C04CB5B43}" type="presOf" srcId="{46C95F5C-002D-4AF5-8EAF-4EF565D56F07}" destId="{D8045751-53F4-4E9D-8E2B-B49011167205}" srcOrd="0" destOrd="0" presId="urn:microsoft.com/office/officeart/2005/8/layout/process2"/>
    <dgm:cxn modelId="{A8121F6F-6B33-48ED-A0ED-4E174188AE18}" srcId="{DC6706B7-2234-4091-9C89-D4B92B6CFD42}" destId="{3156DAB0-1FE4-4753-A333-455E80F6FF84}" srcOrd="1" destOrd="0" parTransId="{D0BE5796-74BE-41A4-A09C-135A55F7FF63}" sibTransId="{0F60B203-1252-4265-9DB9-85040C85DA35}"/>
    <dgm:cxn modelId="{E75546B1-AF4D-4EE0-AEA1-1E15A1AAF4CC}" srcId="{DC6706B7-2234-4091-9C89-D4B92B6CFD42}" destId="{46C95F5C-002D-4AF5-8EAF-4EF565D56F07}" srcOrd="2" destOrd="0" parTransId="{6D35FDD1-A265-4502-93BF-4F9D928381B5}" sibTransId="{469CB85E-BA67-426D-9204-767183975453}"/>
    <dgm:cxn modelId="{FAD3D355-2F51-47EE-BF8C-0103B0F15F58}" type="presOf" srcId="{DC6706B7-2234-4091-9C89-D4B92B6CFD42}" destId="{F08F983C-5FA3-45CD-B625-11275E0201BE}" srcOrd="0" destOrd="0" presId="urn:microsoft.com/office/officeart/2005/8/layout/process2"/>
    <dgm:cxn modelId="{EBAAE461-B7E6-40EF-A7BA-1CDCFD044E6A}" type="presOf" srcId="{3A879F9A-674A-4CAA-97DA-0A413510A1D0}" destId="{6514996B-2C21-4198-BD7E-4495236BBE3B}" srcOrd="0" destOrd="0" presId="urn:microsoft.com/office/officeart/2005/8/layout/process2"/>
    <dgm:cxn modelId="{A4B72C51-2723-4EAB-8215-BA70C5DEA2F3}" type="presOf" srcId="{FA25F7BD-F83D-4EF6-A98F-B98D4CF51FA3}" destId="{813DED83-8F7F-4399-AF3F-5FAABC55E028}" srcOrd="1" destOrd="0" presId="urn:microsoft.com/office/officeart/2005/8/layout/process2"/>
    <dgm:cxn modelId="{2A94F2B0-9E19-4024-B35D-49F695B0B836}" type="presOf" srcId="{3156DAB0-1FE4-4753-A333-455E80F6FF84}" destId="{920570DD-7B66-421B-9C70-288E1EEBB8CA}" srcOrd="0" destOrd="0" presId="urn:microsoft.com/office/officeart/2005/8/layout/process2"/>
    <dgm:cxn modelId="{1C42A7D1-DCA7-4B36-AF0C-0048A74F6701}" type="presOf" srcId="{FA25F7BD-F83D-4EF6-A98F-B98D4CF51FA3}" destId="{27F29BAB-0B80-4853-A817-6A37920AD717}" srcOrd="0" destOrd="0" presId="urn:microsoft.com/office/officeart/2005/8/layout/process2"/>
    <dgm:cxn modelId="{CD16DA18-1AF0-432C-B12D-E1245870D245}" srcId="{DC6706B7-2234-4091-9C89-D4B92B6CFD42}" destId="{3A879F9A-674A-4CAA-97DA-0A413510A1D0}" srcOrd="0" destOrd="0" parTransId="{5FF31AFA-339E-4FFD-BD88-F7DAB13EC4F0}" sibTransId="{FA25F7BD-F83D-4EF6-A98F-B98D4CF51FA3}"/>
    <dgm:cxn modelId="{A56E642F-01BD-4691-814F-CB1C05810F80}" type="presOf" srcId="{0F60B203-1252-4265-9DB9-85040C85DA35}" destId="{629FFB49-EA91-46FC-B347-B5D00CA811D6}" srcOrd="0" destOrd="0" presId="urn:microsoft.com/office/officeart/2005/8/layout/process2"/>
    <dgm:cxn modelId="{77854886-8B18-45BB-BF2F-AE63EDBF3CC7}" type="presOf" srcId="{0F60B203-1252-4265-9DB9-85040C85DA35}" destId="{A76EF685-8EDB-4A21-A73A-67E044B6AEA3}" srcOrd="1" destOrd="0" presId="urn:microsoft.com/office/officeart/2005/8/layout/process2"/>
    <dgm:cxn modelId="{527F0A24-FE14-4DAB-85A4-84DDBE865DD7}" type="presParOf" srcId="{F08F983C-5FA3-45CD-B625-11275E0201BE}" destId="{6514996B-2C21-4198-BD7E-4495236BBE3B}" srcOrd="0" destOrd="0" presId="urn:microsoft.com/office/officeart/2005/8/layout/process2"/>
    <dgm:cxn modelId="{C953261D-11CA-4253-B929-FA87FD74B7DC}" type="presParOf" srcId="{F08F983C-5FA3-45CD-B625-11275E0201BE}" destId="{27F29BAB-0B80-4853-A817-6A37920AD717}" srcOrd="1" destOrd="0" presId="urn:microsoft.com/office/officeart/2005/8/layout/process2"/>
    <dgm:cxn modelId="{EB5F6440-7FF8-457E-B259-A5DBEBA14E1B}" type="presParOf" srcId="{27F29BAB-0B80-4853-A817-6A37920AD717}" destId="{813DED83-8F7F-4399-AF3F-5FAABC55E028}" srcOrd="0" destOrd="0" presId="urn:microsoft.com/office/officeart/2005/8/layout/process2"/>
    <dgm:cxn modelId="{D27BEC8F-D788-4800-9A95-DA3326CA26B5}" type="presParOf" srcId="{F08F983C-5FA3-45CD-B625-11275E0201BE}" destId="{920570DD-7B66-421B-9C70-288E1EEBB8CA}" srcOrd="2" destOrd="0" presId="urn:microsoft.com/office/officeart/2005/8/layout/process2"/>
    <dgm:cxn modelId="{795B0029-CCEF-4452-85C9-5DED43F1E6F3}" type="presParOf" srcId="{F08F983C-5FA3-45CD-B625-11275E0201BE}" destId="{629FFB49-EA91-46FC-B347-B5D00CA811D6}" srcOrd="3" destOrd="0" presId="urn:microsoft.com/office/officeart/2005/8/layout/process2"/>
    <dgm:cxn modelId="{41E1AD68-42F2-4FB6-B2C9-ADDBC5AE8544}" type="presParOf" srcId="{629FFB49-EA91-46FC-B347-B5D00CA811D6}" destId="{A76EF685-8EDB-4A21-A73A-67E044B6AEA3}" srcOrd="0" destOrd="0" presId="urn:microsoft.com/office/officeart/2005/8/layout/process2"/>
    <dgm:cxn modelId="{C17B0762-35B8-42BD-99D9-F30FC035E52F}" type="presParOf" srcId="{F08F983C-5FA3-45CD-B625-11275E0201BE}" destId="{D8045751-53F4-4E9D-8E2B-B49011167205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B4F4D-6C5D-4965-A58D-E78D48F63A99}" type="datetimeFigureOut">
              <a:rPr lang="en-US" smtClean="0"/>
              <a:pPr/>
              <a:t>7/29/2024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16AB0-2FEF-4126-A715-1561160751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22529-39FC-4975-958A-4A162E08D73C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CA250-B66A-4775-87DB-EB84800E6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63F24-EDC5-4AC1-BBF3-701D3265C0F0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560A-061B-48C0-B2CD-FD45B67584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93403-793B-4D8F-9FEC-4AF224D32E78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52C6E-46C0-4010-AC43-966BCA71FB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CB48A-600C-4DC1-8EA1-38AF658D4E02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78F6E-304B-4324-9D62-1A3EF0D7A2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D8F79-1B84-4F29-B6FA-DF19C047C80A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461C5-50A1-4CDC-90D9-3D427B387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4970A-2714-4C1E-A2D9-FE7C820A5F33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01BA5-5111-4FB4-92AF-33C9B5101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0F181-F5EA-4B67-ABF8-F46B162D92B9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2ADCB-9881-4AD1-8E5A-788724C20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EE503-6329-42EE-8AA9-553BB8A67012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F0719-B780-4517-A2D5-2E3679197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8CD9F-022A-4872-B248-C7180CF39A46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8C095-1FB0-4C9F-B915-3EB4E62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5558E-B21D-4E72-81D8-DC34A69E01FA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9B394-3996-4C2F-921A-95EC56296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68C9C-C8D3-4F12-A71E-AD2950F316E7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8AFC8-B97D-43DF-B91B-804C2307D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C483B94-EDE5-41AE-A637-95B0FFB8A1B6}" type="datetimeFigureOut">
              <a:rPr lang="en-US"/>
              <a:pPr>
                <a:defRPr/>
              </a:pPr>
              <a:t>7/29/2024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D57FDE-E425-47BB-92C8-8977E8E902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tabs.com/count-loc/count-loc-online.html" TargetMode="External"/><Relationship Id="rId2" Type="http://schemas.openxmlformats.org/officeDocument/2006/relationships/hyperlink" Target="https://marketplace.visualstudio.com/items?itemName=uctakeoff.vscode-coun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hyperlink" Target="https://github.com/XAMPPRocky/tokei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uctakeoff.vscode-counter" TargetMode="External"/><Relationship Id="rId2" Type="http://schemas.openxmlformats.org/officeDocument/2006/relationships/hyperlink" Target="https://github.com/AlDanial/cloc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Introduction to Software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>
              <a:defRPr/>
            </a:pPr>
            <a:r>
              <a:rPr lang="en-US" sz="3100" dirty="0" smtClean="0"/>
              <a:t>Lecturer: Ngo Huy Bien</a:t>
            </a:r>
          </a:p>
          <a:p>
            <a:pPr>
              <a:defRPr/>
            </a:pPr>
            <a:r>
              <a:rPr lang="en-US" sz="2600" dirty="0" smtClean="0"/>
              <a:t>Software Engineering Department</a:t>
            </a:r>
          </a:p>
          <a:p>
            <a:pPr>
              <a:defRPr/>
            </a:pPr>
            <a:r>
              <a:rPr lang="en-US" sz="2600" dirty="0" smtClean="0"/>
              <a:t>Faculty of Information Technology</a:t>
            </a:r>
          </a:p>
          <a:p>
            <a:pPr>
              <a:defRPr/>
            </a:pPr>
            <a:r>
              <a:rPr lang="en-US" sz="2600" dirty="0" smtClean="0"/>
              <a:t>VNUHCM - University of Science</a:t>
            </a:r>
          </a:p>
          <a:p>
            <a:pPr>
              <a:defRPr/>
            </a:pPr>
            <a:r>
              <a:rPr lang="en-US" sz="2600" dirty="0" smtClean="0"/>
              <a:t>Ho Chi Minh City, Vietnam</a:t>
            </a:r>
          </a:p>
          <a:p>
            <a:pPr>
              <a:defRPr/>
            </a:pPr>
            <a:r>
              <a:rPr lang="en-US" sz="2600" dirty="0" smtClean="0">
                <a:hlinkClick r:id="rId2"/>
              </a:rPr>
              <a:t>nhbien@fit.hcmus.edu.vn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562600" cy="41910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communicate</a:t>
            </a:r>
            <a:r>
              <a:rPr lang="en-US" sz="2400" dirty="0" smtClean="0"/>
              <a:t> in software estimation field.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estimate size and effort </a:t>
            </a:r>
            <a:r>
              <a:rPr lang="en-US" sz="2400" dirty="0" smtClean="0"/>
              <a:t>using counting, computing, and judging method.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estimate size and effort </a:t>
            </a:r>
            <a:r>
              <a:rPr lang="en-US" sz="2400" dirty="0" smtClean="0"/>
              <a:t>using analogy method.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estimate size and effort</a:t>
            </a:r>
            <a:r>
              <a:rPr lang="en-US" sz="2400" dirty="0" smtClean="0"/>
              <a:t> using structured expert judgment method.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Size Metrics.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Count, Compute, Judge.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Estimation by Analogy.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Structured Expert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200" dirty="0" smtClean="0"/>
              <a:t>Steve McConnell (2006). Software Estimation: Demystifying the Black Art. Microsoft Press.</a:t>
            </a:r>
          </a:p>
          <a:p>
            <a:pPr>
              <a:buFont typeface="+mj-lt"/>
              <a:buAutoNum type="arabicPeriod"/>
            </a:pPr>
            <a:r>
              <a:rPr lang="en-US" sz="2200" dirty="0" smtClean="0"/>
              <a:t>Jonathan </a:t>
            </a:r>
            <a:r>
              <a:rPr lang="en-US" sz="2200" dirty="0" err="1" smtClean="0"/>
              <a:t>Rasmusson</a:t>
            </a:r>
            <a:r>
              <a:rPr lang="en-US" sz="2200" dirty="0" smtClean="0"/>
              <a:t> (2010). The Agile Samurai: How Agile Masters Deliver Great Software. Pragmatic Bookshelf.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52850" y="4648200"/>
            <a:ext cx="21145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001000" cy="2590800"/>
          </a:xfrm>
        </p:spPr>
        <p:txBody>
          <a:bodyPr/>
          <a:lstStyle/>
          <a:p>
            <a:r>
              <a:rPr lang="en-US" sz="2400" dirty="0" smtClean="0"/>
              <a:t>You have relatively good </a:t>
            </a:r>
            <a:r>
              <a:rPr lang="en-US" sz="2400" i="1" dirty="0" smtClean="0">
                <a:solidFill>
                  <a:srgbClr val="C00000"/>
                </a:solidFill>
              </a:rPr>
              <a:t>requirements</a:t>
            </a:r>
            <a:r>
              <a:rPr lang="en-US" sz="2400" dirty="0" smtClean="0"/>
              <a:t> (25 use cases or 80 user stories).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 long</a:t>
            </a:r>
            <a:r>
              <a:rPr lang="en-US" sz="2400" dirty="0" smtClean="0"/>
              <a:t> will it take to develop the system.</a:t>
            </a:r>
          </a:p>
          <a:p>
            <a:r>
              <a:rPr lang="en-US" sz="2400" dirty="0" smtClean="0"/>
              <a:t>What is the </a:t>
            </a:r>
            <a:r>
              <a:rPr lang="en-US" sz="2400" i="1" dirty="0" smtClean="0">
                <a:solidFill>
                  <a:srgbClr val="C00000"/>
                </a:solidFill>
              </a:rPr>
              <a:t>cost</a:t>
            </a:r>
            <a:r>
              <a:rPr lang="en-US" sz="2400" dirty="0" smtClean="0"/>
              <a:t>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 many people</a:t>
            </a:r>
            <a:r>
              <a:rPr lang="en-US" sz="2400" dirty="0" smtClean="0"/>
              <a:t> do you need to develop the system?</a:t>
            </a:r>
          </a:p>
          <a:p>
            <a:r>
              <a:rPr lang="en-US" sz="2400" dirty="0" smtClean="0"/>
              <a:t>How much is your team’s </a:t>
            </a:r>
            <a:r>
              <a:rPr lang="en-US" sz="2400" i="1" dirty="0" smtClean="0">
                <a:solidFill>
                  <a:srgbClr val="C00000"/>
                </a:solidFill>
              </a:rPr>
              <a:t>productivity</a:t>
            </a:r>
            <a:r>
              <a:rPr lang="en-US" sz="2400" dirty="0" smtClean="0"/>
              <a:t>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Estimation [1]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33400" y="1524000"/>
            <a:ext cx="8077200" cy="838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Software estimation</a:t>
            </a: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is the act of </a:t>
            </a:r>
            <a:r>
              <a:rPr kumimoji="0" lang="en-US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</a:rPr>
              <a:t>predicting</a:t>
            </a: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en-US" sz="2800" b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size</a:t>
            </a: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, </a:t>
            </a:r>
            <a:r>
              <a:rPr kumimoji="0" lang="en-US" sz="2800" b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duration</a:t>
            </a: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and </a:t>
            </a:r>
            <a:r>
              <a:rPr kumimoji="0" lang="en-US" sz="2800" b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cost</a:t>
            </a: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of a project.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562600" y="2590800"/>
            <a:ext cx="2819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Who needs it?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+mj-lt"/>
              </a:rPr>
              <a:t>Project Managers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Customers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+mj-lt"/>
              </a:rPr>
              <a:t>Managers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Architects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Developers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Testers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latin typeface="+mj-lt"/>
              </a:rPr>
              <a:t>Researchers</a:t>
            </a:r>
          </a:p>
        </p:txBody>
      </p:sp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200400"/>
            <a:ext cx="43053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i="1" dirty="0" smtClean="0">
                <a:solidFill>
                  <a:srgbClr val="C00000"/>
                </a:solidFill>
              </a:rPr>
              <a:t>Big</a:t>
            </a:r>
            <a:r>
              <a:rPr lang="en-US" dirty="0" smtClean="0"/>
              <a:t> is Your Software?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will you complete your project if there is </a:t>
            </a:r>
            <a:r>
              <a:rPr lang="en-US" sz="2400" i="1" dirty="0" smtClean="0">
                <a:solidFill>
                  <a:srgbClr val="C00000"/>
                </a:solidFill>
              </a:rPr>
              <a:t>only you</a:t>
            </a:r>
            <a:r>
              <a:rPr lang="en-US" sz="2400" dirty="0" smtClean="0"/>
              <a:t> working on the project?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Effort</a:t>
            </a:r>
            <a:r>
              <a:rPr lang="en-US" sz="2400" dirty="0" smtClean="0"/>
              <a:t> = staff × time</a:t>
            </a:r>
          </a:p>
          <a:p>
            <a:endParaRPr lang="en-US" sz="2400" dirty="0"/>
          </a:p>
        </p:txBody>
      </p:sp>
      <p:pic>
        <p:nvPicPr>
          <p:cNvPr id="4" name="Picture 7" descr="http://eastprofight.sk/wp-content/uploads/2016/08/manda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429000"/>
            <a:ext cx="3524250" cy="2352675"/>
          </a:xfrm>
          <a:prstGeom prst="rect">
            <a:avLst/>
          </a:prstGeom>
          <a:noFill/>
        </p:spPr>
      </p:pic>
      <p:pic>
        <p:nvPicPr>
          <p:cNvPr id="5" name="Picture 4" descr="https://www.wallmonkeys.com/media/catalog/product/cache/1/image/040ec09b1e35df139433887a97daa66f/4/7/4729796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3276600"/>
            <a:ext cx="2160270" cy="2667000"/>
          </a:xfrm>
          <a:prstGeom prst="rect">
            <a:avLst/>
          </a:prstGeom>
          <a:noFill/>
        </p:spPr>
      </p:pic>
      <p:pic>
        <p:nvPicPr>
          <p:cNvPr id="6" name="Picture 2" descr="http://www.enemyofdebt.com/wp-content/uploads/2014/06/effortresult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0" y="3200400"/>
            <a:ext cx="3048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Lines of Code (SLOC)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Source lines of code</a:t>
            </a:r>
            <a:r>
              <a:rPr lang="en-US" sz="2400" dirty="0" smtClean="0"/>
              <a:t> — SLOC is a software metric used to measure the amount of code in a program.</a:t>
            </a:r>
          </a:p>
          <a:p>
            <a:endParaRPr lang="en-US" sz="2400" dirty="0"/>
          </a:p>
        </p:txBody>
      </p:sp>
      <p:pic>
        <p:nvPicPr>
          <p:cNvPr id="4" name="Picture 2" descr="https://i.stack.imgur.com/56GA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429000"/>
            <a:ext cx="4962525" cy="2238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Well . . . it depends on </a:t>
            </a:r>
            <a:r>
              <a:rPr lang="en-US" sz="2400" i="1" dirty="0" smtClean="0">
                <a:solidFill>
                  <a:srgbClr val="C00000"/>
                </a:solidFill>
              </a:rPr>
              <a:t>how you count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Physical SLOC</a:t>
            </a:r>
          </a:p>
          <a:p>
            <a:pPr lvl="1"/>
            <a:r>
              <a:rPr lang="en-US" sz="2000" dirty="0" smtClean="0"/>
              <a:t>LOC (lines of code), SLOC (Source lines of code), </a:t>
            </a:r>
            <a:r>
              <a:rPr lang="en-US" sz="2000" i="1" dirty="0" smtClean="0">
                <a:solidFill>
                  <a:srgbClr val="C00000"/>
                </a:solidFill>
              </a:rPr>
              <a:t>logical SLOC</a:t>
            </a:r>
            <a:r>
              <a:rPr lang="en-US" sz="2000" dirty="0" smtClean="0"/>
              <a:t> — </a:t>
            </a:r>
            <a:r>
              <a:rPr lang="fr-FR" sz="2000" dirty="0" smtClean="0"/>
              <a:t>non-</a:t>
            </a:r>
            <a:r>
              <a:rPr lang="fr-FR" sz="2000" dirty="0" err="1" smtClean="0"/>
              <a:t>blank</a:t>
            </a:r>
            <a:r>
              <a:rPr lang="fr-FR" sz="2000" dirty="0" smtClean="0"/>
              <a:t>, non-comment, </a:t>
            </a:r>
            <a:r>
              <a:rPr lang="fr-FR" sz="2000" dirty="0" err="1" smtClean="0"/>
              <a:t>logical</a:t>
            </a:r>
            <a:r>
              <a:rPr lang="fr-FR" sz="2000" dirty="0" smtClean="0"/>
              <a:t> source </a:t>
            </a:r>
            <a:r>
              <a:rPr lang="fr-FR" sz="2000" dirty="0" err="1" smtClean="0"/>
              <a:t>lines</a:t>
            </a:r>
            <a:r>
              <a:rPr lang="fr-FR" sz="2000" dirty="0" smtClean="0"/>
              <a:t>. </a:t>
            </a:r>
            <a:r>
              <a:rPr lang="en-US" sz="2000" dirty="0" smtClean="0"/>
              <a:t>KLOC = 1000*LOC, KSLOC = 1000*SLOC</a:t>
            </a:r>
          </a:p>
          <a:p>
            <a:pPr lvl="1"/>
            <a:r>
              <a:rPr lang="en-US" sz="2000" dirty="0" smtClean="0"/>
              <a:t>ELOC (</a:t>
            </a:r>
            <a:r>
              <a:rPr lang="en-US" sz="2000" i="1" dirty="0" smtClean="0">
                <a:solidFill>
                  <a:srgbClr val="C00000"/>
                </a:solidFill>
              </a:rPr>
              <a:t>Executable lines of code</a:t>
            </a:r>
            <a:r>
              <a:rPr lang="en-US" sz="2000" dirty="0" smtClean="0"/>
              <a:t>), DSI (Delivered source instructions) — SLOC but excludes data declarations, compiler declarations, and other lines that do not generate executable instructions.</a:t>
            </a:r>
          </a:p>
          <a:p>
            <a:pPr lvl="1"/>
            <a:r>
              <a:rPr lang="en-US" sz="2000" dirty="0" smtClean="0"/>
              <a:t>ESLOC (</a:t>
            </a:r>
            <a:r>
              <a:rPr lang="en-US" sz="2000" i="1" dirty="0" smtClean="0">
                <a:solidFill>
                  <a:srgbClr val="C00000"/>
                </a:solidFill>
              </a:rPr>
              <a:t>Effective source lines of code</a:t>
            </a:r>
            <a:r>
              <a:rPr lang="en-US" sz="2000" dirty="0" smtClean="0"/>
              <a:t>) — SLOC that have been adjusted by the amount of rework required for portions of the system that were pre-existing at the start of the development.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Reused</a:t>
            </a:r>
            <a:r>
              <a:rPr lang="en-US" sz="2400" dirty="0" smtClean="0"/>
              <a:t> code</a:t>
            </a:r>
          </a:p>
          <a:p>
            <a:pPr eaLnBrk="1" hangingPunct="1"/>
            <a:r>
              <a:rPr lang="en-US" sz="2400" dirty="0" smtClean="0"/>
              <a:t>Language productivity factor</a:t>
            </a:r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5257800"/>
            <a:ext cx="133731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How many SLOC does your Project Have?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SLOC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524000"/>
            <a:ext cx="40481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6"/>
          <p:cNvGrpSpPr/>
          <p:nvPr/>
        </p:nvGrpSpPr>
        <p:grpSpPr>
          <a:xfrm>
            <a:off x="304800" y="2438400"/>
            <a:ext cx="4114800" cy="3733800"/>
            <a:chOff x="392430" y="415799"/>
            <a:chExt cx="7063716" cy="1918800"/>
          </a:xfrm>
        </p:grpSpPr>
        <p:sp>
          <p:nvSpPr>
            <p:cNvPr id="8" name="Rounded Rectangle 7"/>
            <p:cNvSpPr/>
            <p:nvPr/>
          </p:nvSpPr>
          <p:spPr>
            <a:xfrm>
              <a:off x="392430" y="415799"/>
              <a:ext cx="7063716" cy="191880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86098" y="509467"/>
              <a:ext cx="6876380" cy="17314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/>
                <a:t>Well understood, easy to count</a:t>
              </a:r>
            </a:p>
            <a:p>
              <a:pPr marL="45720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dirty="0" smtClean="0"/>
                <a:t>Correlates well with functionality and effort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/>
                <a:t>Other metrics can be derived from the SLOC metric</a:t>
              </a:r>
              <a:r>
                <a:rPr lang="en-US" sz="2400" dirty="0" smtClean="0"/>
                <a:t>:</a:t>
              </a:r>
              <a:r>
                <a:rPr lang="en-US" sz="2400" kern="1200" dirty="0" smtClean="0"/>
                <a:t> productivity (SLOC/(staff*month)) , quality (defects/SLOC) measurements</a:t>
              </a: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5105400" y="2514600"/>
            <a:ext cx="3581400" cy="2667000"/>
            <a:chOff x="395853" y="4459"/>
            <a:chExt cx="7125331" cy="1269360"/>
          </a:xfrm>
        </p:grpSpPr>
        <p:sp>
          <p:nvSpPr>
            <p:cNvPr id="11" name="Rounded Rectangle 10"/>
            <p:cNvSpPr/>
            <p:nvPr/>
          </p:nvSpPr>
          <p:spPr>
            <a:xfrm>
              <a:off x="395853" y="4459"/>
              <a:ext cx="7125331" cy="12693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57818" y="66424"/>
              <a:ext cx="7001401" cy="11454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400" kern="1200" dirty="0" smtClean="0"/>
                <a:t>No SLOC exist at the onset of a project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q"/>
              </a:pPr>
              <a:r>
                <a:rPr lang="en-US" sz="2400" kern="1200" dirty="0" smtClean="0"/>
                <a:t>At micro-level, SLOC can be misleading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Story point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Function points</a:t>
            </a:r>
            <a:r>
              <a:rPr lang="en-US" sz="2400" dirty="0" smtClean="0"/>
              <a:t> — FP is a software metric used to measure the delivered functionality in a program from user perspective.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Use case point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object point</a:t>
            </a:r>
          </a:p>
        </p:txBody>
      </p:sp>
      <p:pic>
        <p:nvPicPr>
          <p:cNvPr id="158722" name="Picture 2" descr="http://selectschoolsupplies.co.uk/wp-content/uploads/2016/04/2010600-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114800"/>
            <a:ext cx="3901440" cy="1672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Measure Software Size?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1447800"/>
            <a:ext cx="8229600" cy="1066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marR="0" lvl="0" indent="-51435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You cannot plan if you cannot measure, and if you </a:t>
            </a:r>
            <a:r>
              <a:rPr kumimoji="0" lang="en-US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fail to plan</a:t>
            </a:r>
            <a:r>
              <a:rPr kumimoji="0" lang="en-US" sz="280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you have </a:t>
            </a:r>
            <a:r>
              <a:rPr kumimoji="0" lang="en-US" sz="280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planned to fail</a:t>
            </a:r>
            <a:r>
              <a:rPr kumimoji="0" lang="en-US" sz="280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81000" y="2971800"/>
            <a:ext cx="56388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800" dirty="0" smtClean="0">
                <a:latin typeface="+mj-lt"/>
              </a:rPr>
              <a:t>Request for proposals</a:t>
            </a:r>
          </a:p>
          <a:p>
            <a:pPr marL="457200" lvl="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800" dirty="0" smtClean="0">
                <a:latin typeface="+mj-lt"/>
              </a:rPr>
              <a:t>Contract negotiations</a:t>
            </a:r>
          </a:p>
          <a:p>
            <a:pPr marL="457200" lvl="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800" dirty="0" smtClean="0">
                <a:latin typeface="+mj-lt"/>
              </a:rPr>
              <a:t>Planning and scheduling</a:t>
            </a:r>
          </a:p>
          <a:p>
            <a:pPr marL="457200" lvl="0" indent="-457200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sz="2800" dirty="0" smtClean="0">
                <a:latin typeface="+mj-lt"/>
              </a:rPr>
              <a:t>Monitoring and control</a:t>
            </a:r>
          </a:p>
          <a:p>
            <a:pPr marL="457200" lvl="0" indent="-457200">
              <a:spcBef>
                <a:spcPct val="20000"/>
              </a:spcBef>
              <a:defRPr/>
            </a:pP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	(</a:t>
            </a:r>
            <a:r>
              <a:rPr kumimoji="0" lang="en-US" sz="2800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productivity</a:t>
            </a:r>
            <a:r>
              <a:rPr lang="en-US" sz="2800" dirty="0" smtClean="0">
                <a:latin typeface="+mj-lt"/>
              </a:rPr>
              <a:t> = size/time</a:t>
            </a:r>
          </a:p>
          <a:p>
            <a:pPr marL="457200" lvl="0" indent="-457200">
              <a:spcBef>
                <a:spcPct val="20000"/>
              </a:spcBef>
              <a:defRPr/>
            </a:pPr>
            <a:r>
              <a:rPr lang="en-US" sz="2800" dirty="0" smtClean="0">
                <a:latin typeface="+mj-lt"/>
              </a:rPr>
              <a:t>	quality = defects/size)</a:t>
            </a:r>
          </a:p>
        </p:txBody>
      </p:sp>
      <p:pic>
        <p:nvPicPr>
          <p:cNvPr id="98306" name="Picture 2" descr="https://static1.squarespace.com/static/59943e31f7e0ab9adf358b84/t/5a54e33d4192021aeb432d2b/1515513028357/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895600"/>
            <a:ext cx="3048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Estimate vs. Commitment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estimate</a:t>
            </a:r>
            <a:r>
              <a:rPr lang="en-US" sz="2400" dirty="0" smtClean="0"/>
              <a:t> is a </a:t>
            </a:r>
            <a:r>
              <a:rPr lang="en-US" sz="2400" u="sng" dirty="0" smtClean="0"/>
              <a:t>prediction</a:t>
            </a:r>
            <a:r>
              <a:rPr lang="en-US" sz="2400" dirty="0" smtClean="0"/>
              <a:t> of how long a project will take or how much it will cost.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target</a:t>
            </a:r>
            <a:r>
              <a:rPr lang="en-US" sz="2400" dirty="0" smtClean="0"/>
              <a:t> is a statement of a </a:t>
            </a:r>
            <a:r>
              <a:rPr lang="en-US" sz="2400" u="sng" dirty="0" smtClean="0"/>
              <a:t>desirable</a:t>
            </a:r>
            <a:r>
              <a:rPr lang="en-US" sz="2400" dirty="0" smtClean="0"/>
              <a:t> business objective.</a:t>
            </a:r>
          </a:p>
          <a:p>
            <a:pPr lvl="1"/>
            <a:r>
              <a:rPr lang="en-US" sz="2000" dirty="0" smtClean="0"/>
              <a:t>These functions need to be completed by July 1 so that we'll be in compliance with government regulations.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commitment</a:t>
            </a:r>
            <a:r>
              <a:rPr lang="en-US" sz="2400" dirty="0" smtClean="0"/>
              <a:t> is a </a:t>
            </a:r>
            <a:r>
              <a:rPr lang="en-US" sz="2400" u="sng" dirty="0" smtClean="0"/>
              <a:t>promise</a:t>
            </a:r>
            <a:r>
              <a:rPr lang="en-US" sz="2400" dirty="0" smtClean="0"/>
              <a:t> to deliver defined functionality at a specific level of quality by a certain date.</a:t>
            </a:r>
          </a:p>
          <a:p>
            <a:r>
              <a:rPr lang="en-US" sz="2400" dirty="0" smtClean="0"/>
              <a:t>Do not assume that the commitment has to be the same as the estimate.</a:t>
            </a:r>
            <a:endParaRPr lang="en-US" sz="2400" dirty="0"/>
          </a:p>
        </p:txBody>
      </p:sp>
      <p:pic>
        <p:nvPicPr>
          <p:cNvPr id="116738" name="Picture 2" descr="https://encrypted-tbn0.gstatic.com/images?q=tbn:ANd9GcTMe18kDprRzBiZymvDQ2fbeGGmr9upQO1PFkVpKaWMKWL-ZFMAx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4953000"/>
            <a:ext cx="2847975" cy="16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Software Estimation?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/>
          <a:lstStyle/>
          <a:p>
            <a:r>
              <a:rPr lang="en-US" sz="2800" dirty="0" smtClean="0"/>
              <a:t>It is to determine whether a project's targets are </a:t>
            </a:r>
            <a:r>
              <a:rPr lang="en-US" sz="2800" i="1" dirty="0" smtClean="0">
                <a:solidFill>
                  <a:srgbClr val="C00000"/>
                </a:solidFill>
              </a:rPr>
              <a:t>realistic enough</a:t>
            </a:r>
            <a:r>
              <a:rPr lang="en-US" sz="2800" dirty="0" smtClean="0"/>
              <a:t> to allow the project to be controlled to meet them.</a:t>
            </a:r>
          </a:p>
          <a:p>
            <a:r>
              <a:rPr lang="en-US" sz="2800" dirty="0" smtClean="0"/>
              <a:t>It is used for </a:t>
            </a:r>
            <a:r>
              <a:rPr lang="en-US" sz="2800" i="1" dirty="0" smtClean="0">
                <a:solidFill>
                  <a:srgbClr val="C00000"/>
                </a:solidFill>
              </a:rPr>
              <a:t>making commitment</a:t>
            </a:r>
            <a:r>
              <a:rPr lang="en-US" sz="2800" dirty="0" smtClean="0"/>
              <a:t>.</a:t>
            </a:r>
          </a:p>
        </p:txBody>
      </p:sp>
      <p:sp>
        <p:nvSpPr>
          <p:cNvPr id="117762" name="AutoShape 2" descr="data:image/png;base64,iVBORw0KGgoAAAANSUhEUgAAASwAAACoCAMAAABt9SM9AAAAzFBMVEWoszlRQkXy3nulsTXTzGGMoSzw3XhNPEWvtj9QQUartzlPP0epszepsjlOQUViW0NMOkZJNkhwbkFWSUNpYkKepjleVkN/fz+Pkj2msDpRQ0SHiEBTRkPr2XlIOUidozrIxFZ7ez+Upi+vujZ1c0GZnj2TpC+InyqKjT2Slzzd1GluakJ/ijadrjV2dUBgXUBvdju7vkxmZj13fziMnTCJljSCjDfq3nSOpSqutEVqZEBaTkTOy1prcD1ZVz9laDqFlSyxrFC+rWqMgVTI/rP2AAAOhUlEQVR4nO2di3bauhKGTZxgJMvGQAzYsE3CrVwKadp0k4bsc33/dzozkowl22khcXa6Dvrb1RbFFtLnmdHoArUsIyMjIyMjIyMjIyMjIyMjIyMjIyMjIyMjIyMjIyMjIyMjIyMjIyMjIyMjIyMjIyMjIyMjIyMjI6PjxWxFlvfRzfm9xe5vMjU8Sj+6Qb+x7JsLRTtv0Ruxj27Tbyv7UoVVX7ecZGmM6wXpsP7okBrpRMa2ypWDtSe1mrM1plWunBt2AVbNnzExKjJGqWfM7CAd1m7pACy3yTghGg2mvWjy0U38fZSzLLp2gVYwQEdkiyBwnNYtM7YllYPV8GJwREJCYLVMfAAXJwMTwqTysGg/AELOE/XoNRoZkNsby5LKw2KTJjAiQZ9ZQyJgkZF6wzmbWR6WZYUOQPI7HutIWLUwu5x6ozPOwoqwJj10xGA6WRfdkIUdd7g4W+MqwvLYno+Io1GCpkWSfgaLdghxh9G50irCYtaMJ1t7uozdIHAHNF238SZTB+PZ6Kc1/h+rCAvshzNxBhO2HPSVpJTNMJyd8dyxDBaLMLaT+GmNWkRUwon4ZCg437yrDJZFF+iINZcrGE5nDPnQrSNSsI9t8QeqFJZFr0XaIIZDx2kOIkpnGPf9YXiuTvgSLBa6NVXEidvLLpYl55s4vATLoj2npuNyHZ5I3J3zIsQLsKxJTGolap3tSIg6AlZM3NQpz9oJj4LlbvvXwgnd67NmdRSs2wkNt/vECeIzHglRR8GijE2i5XQbVrdoisv7ZZWVl8L70uJuOVRRYunlpZXoOFhYQittBA0Xi1mhwknUHywLWyTUWi76UZ4im8wWi1GhSVDxYPROQ/bxsCoVaztOkHRDrWaPDtzACToz3YDpbA8XE5iqajVETQeKpzpC5rWdIHCa7xMvCsvKLOLP+31h0bWYT+0jrXTQEindTO0q5dN3GIkHmm15e15FsNYaR9e4GFdzOlrFVSkPa7ZPOjC3eV9Yaf9jfVIeyYVsV5t+pnsB/lDN8ehtIPKaYKZcTGeJaHPQe4+4lYMVxT7ObbajyfA9YaXzA/da7f8skLOFoWoXKcKahoWls1dHxUJ7QVrx+8PaDcSbOWT9rrC2Eha5U2EtU1hEg+WWwbK6voS1/TBY63RKqEx23gHWQvbJ0SJOmCLsalnCXm6cOOrQR9tyVhGokwo6SMoqrko5N9yXzAiDymGxaMjtgiSasbAnDsDXAw5YC2+Ue6cGeLbkOwQ5lz34bDB7j+Gw5BRNXqRrVfzOHl06DiGkdasNcCwcYmnypKUOHrsOoDQY6nkGMHQJcZylnmYsA17xu8T3Ulh5YEH1x9touO4Mr2e55JF6t/u4O8inlHTRHe57+VyVzprDTjvMNY2G7eHwbvk+WWkJLBI7+tIfOEC1b0qZ5+GEAGcxyj4b5VMVSiNt2xv+TSfwC25RRwOwOLgBE1WqXcsmlPLSd/DDssNsi2VTx+UUZxVvELMWT12pZu+QPNHlOi3tTg9vCFP4ZlraTiOcTaPeofRpIW0OnkD/Wq24clxlbhhSOntScRXPAr7hCDjzrhPXTxUMJQG6DUhaSBxfZqt04DtpMXGDqSyF4OanxW5wJ4FHd4eKie90qj9JXIRF9mDBjI7WDgRQIoYcX1sg9fiR+VeK0WagDR+Ez+PobaKVtnjghnitBdDWlAejaKiVunu+D0yb2lJ4rtFVqAjLmaK7M0bD2+6wybcK9dmDd7ParW5eO/mC7F0fQAjmj2ymscKUAPufo4IpgZVNgDLLx+bRgRNrpW7l+wVFWEF6toEHW5lVxxksb8UzstUrPZF2ajnhyTnazm2QQDOoRftBDpYLjshCkisFZ4AqCmmPE/66OSepCMvN3gLccTLk75ss0qdkP4v09eLydZ44ylkFz8EZG/q5UpiwsMlTvv9+h6IJ5atwRlBxoTSoesegAIs/pUx0wf2DdNNSb5dm+42S6n4p2ivAItcTNiv0lHSYFXXysGJ3RuldIXMGPyxs3iHviv2wACvJJb+eL6LWLH1dr78JVpe4+i5bDDOWybbQU0iFJ0u3pnkc5jW9SYiBLAtPsc+fJWvC2KTk03hBXHGIz3/Cwp3mU+JbsU73JJ+SAus1fhgC+1iJLkMIYU4fENbcblZKrnGgmUzBCjtK1O4ilkk/ALPLIp9/N8TTiaEf1+LmwWzJfg/Jdf89YdV/FA6qsTDg4cRNV2pX8trdayI8X2/oZqMZGW4BUzvET8HcZtYVDMCmutHehYieua277UA2E8JY4NxmIY5swaacPlZ8t85476eEuO1q/bBwALfYvzVv2GHt4V5a1v1rDIs+Qf97igHEs6DmdyHekGslbrdCdKkFlMb9rNQdgMEFvT0eS8wQkimSXa/dmjPIzrOQ/RLu3le7uvzShoXSP7GAeVgLsRs7GAt3NzfPDftkK8fEKQgVWISCscRQ6iyUCN2KcBwckpislyos4BnHGOYnWWJL2iN4AcV+Ej5lFXciuNCtdqXm17AsDJ015RCbbTfu71doX7tTwxZm5GQ4UWFN1hjwCfBRYYXgVTgOBMt+hsUdRAmP3H6bqrDS/YL9RPHvDgNbC6r9zNYRsCA1xCDrd1ObZvZNXSZbJ46IuL7pbjVYtM9zE78z0WAxvtFTCyzVDXsTMTQES6bBEhktVKzCivro4JV+jvkIWJYnVrkcuaxlN9IYX6/vTotcWFOypCosFvFZinOrw5JYYOzTYPEUg7iep8KS04xkpsHyIrjWrXQ2fQwsuQ1AxCaAJ81K4jrFExmGP8KYCsuj3MuDGdVgiVeQVemwZknMG6LD4k4JQZVqloUVO5UegD0GlhWKoICPCcyqflFXYO3uj38zzNnImlo6LNxRIjHLwRqhHyYjqsOimCIDgRwsrNBdUx3WhI+xf7dlYajhT79H7fv6ha76CZk87fo4YfM0WFYIHXfbVIfF8NMwZM90WJRCJhUnEcvBguHAh4pzljVKYu2zNG/WUbDYSBzP6rHVRV5gWz+8Y10xjkkS5mAxtvfjpJ+HhesQzpTmYeFw0LVysKwQvNMPLR2WNQHelX7C4ShYFo8rpPVvMYmu7xorPW4daeusnQRtynKw6KAV7D0vb1mjJAnCPCzPGwatBbVysOi6leBfOiysuFtlWnokrFngOvF/5EXPke2tlMB1cXTc8voLz8vBAtNaLiIrF7MYmPNihktaGiyYfS1wDTUHy/IWuBKfgwVp3aDSqfRxsIBW+79/iGtWDc9LlwDT23bHxi08oSNhEVfAsnCp2TocgHBSWLK0n5UiLCjF7gtY4gB1m8qKJSxRMT9HQ6vdtDgSlmU/17nH1S8tEaBytnVCdipg+V2cIgtYXBwWiReYAbcO56sErKDvprCEOCynx3fu2odSDotcb90UVsU6FlajLqEcYrm3UjOI5+NTZQnrmsPJwxqOkhJYSYjDcQFWv1sCy23jjPxjYfGfP6vjnmZbu+Nz0wOsMssCWLUirFYprOB3hWXvMI5rywz2YR3QwMpfeH9jZUCYnc0Q+Y0rA0u7UsFhe/erCzXA12+OX9s6B1iZvMbz7kLXCYZ1ZrDud5pVncjqvGB5hQniaXsXZwWrkS6TpuZVP20F8Kxg3QtI9dX96jWszgqW+ErF+qph2ztO7dRDD2cFa5Wak7z31N3Wc4IlTobwK2X0urGrC/CdWRmshH+bUAHWsnk0LMY81NtWIU6H1RDLD+h70sh2siWeZ8m/fqqfW9b3slWH5KHUsv4ssyzy9VsJrGgzBm02RyB5WSfDkqvwKxsAwfSav/hxNZ+Pr/AP/DUez3k6H6Ew7+eHkhlNF5dysKAaVgLLk0tUEpZzWM+CJyOXlZ3PGSwolYt/rgYLHyOzxvMrFND6m2GJw2w3G3hUV5/E3atPV3N4arYt2jSPxvNH3jb5LO0o2uD1cEkRlmXBT+Dyxy8OfvTrYFk2vsHV42cJKxawvIgXX2mwPLgYK3m8Uy2LiTpQc6Hx5tVHYU+FhR+9hRmiWMYSWD6FMnlgvLlYAroSP+PcxoLYBi1MepwGyx9fSXFYqWU9pMUqLOd2k1585WSw1pvDxXeKZc0PNcvW4O+/w7KwmwBjju8okiyJhJtWvb76JCABG8SihFLwGu6CSiBTYdXIOO2qgNWRsA6lqmV92Uh/0mB9PZRqljUfq7TGm/mbWf0MFmM8PtgpJbAa+DMSjofWgqb/Q9w4/gROx30MvzJd/Gg8Ln9LAcu94+exSNYfDiv+zldKHw72xmG1RID/8pgWz/lis7SsQ+njHVFgKVYFkDZXj49vZPUSLLCDFJJ0LDSaDURs8S3fl5AtIMtoLLL4mzF+l3xkQ0RJb7h6qWli+97ly8oKrA1/LZeV/3UoXSipwwHWeKOkDl/T0vlGTR0yo8oiwBuPieRh2dwwDpQ+CUh27no+w4HLoJk/JCxuaVeSk/DJl6Kp2IUUMSu+GosOyX1DASt4mAsmHl0mCqwxt3Bojie2MbAi96sw/HEkR8O1hCWreBufn8HKIOFYhpaEn2Gzs8/QyckOjsvc3cbzFb9PPF2ROWy4CUYvLgfyQ+/Bl88t6FOX32V51GN9eO12HwALcR94P9F2Q4TljjvEr7U+i957eJoezzx8/wsudv56RKOyMNmQFcMt7j84quhXSd9psJ41WBiXuLth9lPaWe+yflH/wUdj4AJIGperyzmnK1O+X2fJYbeVQGf+arXi74/ps2fWmr/+5iTOt/E8LaW9IEm+PX6PW8k/uVFx0WUNX8+hou4DVCG/ODvct1r/eHhcJy3/z2qNSnb++TLT/RETKq9xD4jSDuJqfMQHQP76uNkEtUJM0WkYKmGEQV9Dy7ZoFEZUqQpfg5NGofpdDREvtfgteK+shXr4msEPrbdlVC9J+w8/jrvjXdphZGRkZGRkZGRkZGRkZGRkZGRkZGRkZGRkZGRkZGRkZGRkZGRkZGRk9Gv9D3evgDqjxOh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764" name="AutoShape 4" descr="data:image/png;base64,iVBORw0KGgoAAAANSUhEUgAAASwAAACoCAMAAABt9SM9AAAAzFBMVEWoszlRQkXy3nulsTXTzGGMoSzw3XhNPEWvtj9QQUartzlPP0epszepsjlOQUViW0NMOkZJNkhwbkFWSUNpYkKepjleVkN/fz+Pkj2msDpRQ0SHiEBTRkPr2XlIOUidozrIxFZ7ez+Upi+vujZ1c0GZnj2TpC+InyqKjT2Slzzd1GluakJ/ijadrjV2dUBgXUBvdju7vkxmZj13fziMnTCJljSCjDfq3nSOpSqutEVqZEBaTkTOy1prcD1ZVz9laDqFlSyxrFC+rWqMgVTI/rP2AAAOhUlEQVR4nO2di3bauhKGTZxgJMvGQAzYsE3CrVwKadp0k4bsc33/dzozkowl22khcXa6Dvrb1RbFFtLnmdHoArUsIyMjIyMjIyMjIyMjIyMjIyMjIyMjIyMjIyMjIyMjIyMjIyMjIyMjIyMjIyMjIyMjIyMjIyMjI6PjxWxFlvfRzfm9xe5vMjU8Sj+6Qb+x7JsLRTtv0Ruxj27Tbyv7UoVVX7ecZGmM6wXpsP7okBrpRMa2ypWDtSe1mrM1plWunBt2AVbNnzExKjJGqWfM7CAd1m7pACy3yTghGg2mvWjy0U38fZSzLLp2gVYwQEdkiyBwnNYtM7YllYPV8GJwREJCYLVMfAAXJwMTwqTysGg/AELOE/XoNRoZkNsby5LKw2KTJjAiQZ9ZQyJgkZF6wzmbWR6WZYUOQPI7HutIWLUwu5x6ozPOwoqwJj10xGA6WRfdkIUdd7g4W+MqwvLYno+Io1GCpkWSfgaLdghxh9G50irCYtaMJ1t7uozdIHAHNF238SZTB+PZ6Kc1/h+rCAvshzNxBhO2HPSVpJTNMJyd8dyxDBaLMLaT+GmNWkRUwon4ZCg437yrDJZFF+iINZcrGE5nDPnQrSNSsI9t8QeqFJZFr0XaIIZDx2kOIkpnGPf9YXiuTvgSLBa6NVXEidvLLpYl55s4vATLoj2npuNyHZ5I3J3zIsQLsKxJTGolap3tSIg6AlZM3NQpz9oJj4LlbvvXwgnd67NmdRSs2wkNt/vECeIzHglRR8GijE2i5XQbVrdoisv7ZZWVl8L70uJuOVRRYunlpZXoOFhYQittBA0Xi1mhwknUHywLWyTUWi76UZ4im8wWi1GhSVDxYPROQ/bxsCoVaztOkHRDrWaPDtzACToz3YDpbA8XE5iqajVETQeKpzpC5rWdIHCa7xMvCsvKLOLP+31h0bWYT+0jrXTQEindTO0q5dN3GIkHmm15e15FsNYaR9e4GFdzOlrFVSkPa7ZPOjC3eV9Yaf9jfVIeyYVsV5t+pnsB/lDN8ehtIPKaYKZcTGeJaHPQe4+4lYMVxT7ObbajyfA9YaXzA/da7f8skLOFoWoXKcKahoWls1dHxUJ7QVrx+8PaDcSbOWT9rrC2Eha5U2EtU1hEg+WWwbK6voS1/TBY63RKqEx23gHWQvbJ0SJOmCLsalnCXm6cOOrQR9tyVhGokwo6SMoqrko5N9yXzAiDymGxaMjtgiSasbAnDsDXAw5YC2+Ue6cGeLbkOwQ5lz34bDB7j+Gw5BRNXqRrVfzOHl06DiGkdasNcCwcYmnypKUOHrsOoDQY6nkGMHQJcZylnmYsA17xu8T3Ulh5YEH1x9touO4Mr2e55JF6t/u4O8inlHTRHe57+VyVzprDTjvMNY2G7eHwbvk+WWkJLBI7+tIfOEC1b0qZ5+GEAGcxyj4b5VMVSiNt2xv+TSfwC25RRwOwOLgBE1WqXcsmlPLSd/DDssNsi2VTx+UUZxVvELMWT12pZu+QPNHlOi3tTg9vCFP4ZlraTiOcTaPeofRpIW0OnkD/Wq24clxlbhhSOntScRXPAr7hCDjzrhPXTxUMJQG6DUhaSBxfZqt04DtpMXGDqSyF4OanxW5wJ4FHd4eKie90qj9JXIRF9mDBjI7WDgRQIoYcX1sg9fiR+VeK0WagDR+Ez+PobaKVtnjghnitBdDWlAejaKiVunu+D0yb2lJ4rtFVqAjLmaK7M0bD2+6wybcK9dmDd7ParW5eO/mC7F0fQAjmj2ymscKUAPufo4IpgZVNgDLLx+bRgRNrpW7l+wVFWEF6toEHW5lVxxksb8UzstUrPZF2ajnhyTnazm2QQDOoRftBDpYLjshCkisFZ4AqCmmPE/66OSepCMvN3gLccTLk75ss0qdkP4v09eLydZ44ylkFz8EZG/q5UpiwsMlTvv9+h6IJ5atwRlBxoTSoesegAIs/pUx0wf2DdNNSb5dm+42S6n4p2ivAItcTNiv0lHSYFXXysGJ3RuldIXMGPyxs3iHviv2wACvJJb+eL6LWLH1dr78JVpe4+i5bDDOWybbQU0iFJ0u3pnkc5jW9SYiBLAtPsc+fJWvC2KTk03hBXHGIz3/Cwp3mU+JbsU73JJ+SAus1fhgC+1iJLkMIYU4fENbcblZKrnGgmUzBCjtK1O4ilkk/ALPLIp9/N8TTiaEf1+LmwWzJfg/Jdf89YdV/FA6qsTDg4cRNV2pX8trdayI8X2/oZqMZGW4BUzvET8HcZtYVDMCmutHehYieua277UA2E8JY4NxmIY5swaacPlZ8t85476eEuO1q/bBwALfYvzVv2GHt4V5a1v1rDIs+Qf97igHEs6DmdyHekGslbrdCdKkFlMb9rNQdgMEFvT0eS8wQkimSXa/dmjPIzrOQ/RLu3le7uvzShoXSP7GAeVgLsRs7GAt3NzfPDftkK8fEKQgVWISCscRQ6iyUCN2KcBwckpislyos4BnHGOYnWWJL2iN4AcV+Ej5lFXciuNCtdqXm17AsDJ015RCbbTfu71doX7tTwxZm5GQ4UWFN1hjwCfBRYYXgVTgOBMt+hsUdRAmP3H6bqrDS/YL9RPHvDgNbC6r9zNYRsCA1xCDrd1ObZvZNXSZbJ46IuL7pbjVYtM9zE78z0WAxvtFTCyzVDXsTMTQES6bBEhktVKzCivro4JV+jvkIWJYnVrkcuaxlN9IYX6/vTotcWFOypCosFvFZinOrw5JYYOzTYPEUg7iep8KS04xkpsHyIrjWrXQ2fQwsuQ1AxCaAJ81K4jrFExmGP8KYCsuj3MuDGdVgiVeQVemwZknMG6LD4k4JQZVqloUVO5UegD0GlhWKoICPCcyqflFXYO3uj38zzNnImlo6LNxRIjHLwRqhHyYjqsOimCIDgRwsrNBdUx3WhI+xf7dlYajhT79H7fv6ha76CZk87fo4YfM0WFYIHXfbVIfF8NMwZM90WJRCJhUnEcvBguHAh4pzljVKYu2zNG/WUbDYSBzP6rHVRV5gWz+8Y10xjkkS5mAxtvfjpJ+HhesQzpTmYeFw0LVysKwQvNMPLR2WNQHelX7C4ShYFo8rpPVvMYmu7xorPW4daeusnQRtynKw6KAV7D0vb1mjJAnCPCzPGwatBbVysOi6leBfOiysuFtlWnokrFngOvF/5EXPke2tlMB1cXTc8voLz8vBAtNaLiIrF7MYmPNihktaGiyYfS1wDTUHy/IWuBKfgwVp3aDSqfRxsIBW+79/iGtWDc9LlwDT23bHxi08oSNhEVfAsnCp2TocgHBSWLK0n5UiLCjF7gtY4gB1m8qKJSxRMT9HQ6vdtDgSlmU/17nH1S8tEaBytnVCdipg+V2cIgtYXBwWiReYAbcO56sErKDvprCEOCynx3fu2odSDotcb90UVsU6FlajLqEcYrm3UjOI5+NTZQnrmsPJwxqOkhJYSYjDcQFWv1sCy23jjPxjYfGfP6vjnmZbu+Nz0wOsMssCWLUirFYprOB3hWXvMI5rywz2YR3QwMpfeH9jZUCYnc0Q+Y0rA0u7UsFhe/erCzXA12+OX9s6B1iZvMbz7kLXCYZ1ZrDud5pVncjqvGB5hQniaXsXZwWrkS6TpuZVP20F8Kxg3QtI9dX96jWszgqW+ErF+qph2ztO7dRDD2cFa5Wak7z31N3Wc4IlTobwK2X0urGrC/CdWRmshH+bUAHWsnk0LMY81NtWIU6H1RDLD+h70sh2siWeZ8m/fqqfW9b3slWH5KHUsv4ssyzy9VsJrGgzBm02RyB5WSfDkqvwKxsAwfSav/hxNZ+Pr/AP/DUez3k6H6Ew7+eHkhlNF5dysKAaVgLLk0tUEpZzWM+CJyOXlZ3PGSwolYt/rgYLHyOzxvMrFND6m2GJw2w3G3hUV5/E3atPV3N4arYt2jSPxvNH3jb5LO0o2uD1cEkRlmXBT+Dyxy8OfvTrYFk2vsHV42cJKxawvIgXX2mwPLgYK3m8Uy2LiTpQc6Hx5tVHYU+FhR+9hRmiWMYSWD6FMnlgvLlYAroSP+PcxoLYBi1MepwGyx9fSXFYqWU9pMUqLOd2k1585WSw1pvDxXeKZc0PNcvW4O+/w7KwmwBjju8okiyJhJtWvb76JCABG8SihFLwGu6CSiBTYdXIOO2qgNWRsA6lqmV92Uh/0mB9PZRqljUfq7TGm/mbWf0MFmM8PtgpJbAa+DMSjofWgqb/Q9w4/gROx30MvzJd/Gg8Ln9LAcu94+exSNYfDiv+zldKHw72xmG1RID/8pgWz/lis7SsQ+njHVFgKVYFkDZXj49vZPUSLLCDFJJ0LDSaDURs8S3fl5AtIMtoLLL4mzF+l3xkQ0RJb7h6qWli+97ly8oKrA1/LZeV/3UoXSipwwHWeKOkDl/T0vlGTR0yo8oiwBuPieRh2dwwDpQ+CUh27no+w4HLoJk/JCxuaVeSk/DJl6Kp2IUUMSu+GosOyX1DASt4mAsmHl0mCqwxt3Bojie2MbAi96sw/HEkR8O1hCWreBufn8HKIOFYhpaEn2Gzs8/QyckOjsvc3cbzFb9PPF2ROWy4CUYvLgfyQ+/Bl88t6FOX32V51GN9eO12HwALcR94P9F2Q4TljjvEr7U+i957eJoezzx8/wsudv56RKOyMNmQFcMt7j84quhXSd9psJ41WBiXuLth9lPaWe+yflH/wUdj4AJIGperyzmnK1O+X2fJYbeVQGf+arXi74/ps2fWmr/+5iTOt/E8LaW9IEm+PX6PW8k/uVFx0WUNX8+hou4DVCG/ODvct1r/eHhcJy3/z2qNSnb++TLT/RETKq9xD4jSDuJqfMQHQP76uNkEtUJM0WkYKmGEQV9Dy7ZoFEZUqQpfg5NGofpdDREvtfgteK+shXr4msEPrbdlVC9J+w8/jrvjXdphZGRkZGRkZGRkZGRkZGRkZGRkZGRkZGRkZGRkZGRkZGRkZGRkZGRk9Gv9D3evgDqjxOh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7768" name="Picture 8" descr="https://cdn.business2community.com/wp-content/uploads/2014/01/Execnote_B2C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962400"/>
            <a:ext cx="3009900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If My Estimate is Not Correct</a:t>
            </a:r>
          </a:p>
        </p:txBody>
      </p:sp>
      <p:pic>
        <p:nvPicPr>
          <p:cNvPr id="1024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1295400"/>
            <a:ext cx="7996238" cy="4373563"/>
          </a:xfrm>
          <a:noFill/>
        </p:spPr>
      </p:pic>
      <p:sp>
        <p:nvSpPr>
          <p:cNvPr id="4" name="Rectangle 3"/>
          <p:cNvSpPr/>
          <p:nvPr/>
        </p:nvSpPr>
        <p:spPr>
          <a:xfrm>
            <a:off x="2819400" y="5791200"/>
            <a:ext cx="4191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j-lt"/>
              </a:rPr>
              <a:t>Can You Beat the Cone?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1524000"/>
            <a:ext cx="47384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+mj-lt"/>
              </a:rPr>
              <a:t>The Cone of Uncertainty</a:t>
            </a:r>
            <a:endParaRPr lang="en-US" sz="3600" dirty="0">
              <a:latin typeface="+mj-lt"/>
            </a:endParaRPr>
          </a:p>
        </p:txBody>
      </p:sp>
      <p:pic>
        <p:nvPicPr>
          <p:cNvPr id="98306" name="Picture 2" descr="https://content.linkedin.com/content/dam/business/sales-solutions/global/en_US/blog/2017/01/business-challenge-201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5410200"/>
            <a:ext cx="1893570" cy="10641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Cone Doesn't Narrow Itself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the project is not well controlled, or if the estimators aren't very skilled, estimates can </a:t>
            </a:r>
            <a:r>
              <a:rPr lang="en-US" sz="2400" i="1" dirty="0" smtClean="0">
                <a:solidFill>
                  <a:srgbClr val="C00000"/>
                </a:solidFill>
              </a:rPr>
              <a:t>fail</a:t>
            </a:r>
            <a:r>
              <a:rPr lang="en-US" sz="2400" dirty="0" smtClean="0"/>
              <a:t> to improve.</a:t>
            </a:r>
          </a:p>
          <a:p>
            <a:r>
              <a:rPr lang="en-US" sz="2400" dirty="0" smtClean="0"/>
              <a:t>The Cone narrows only as you make decisions that </a:t>
            </a:r>
            <a:r>
              <a:rPr lang="en-US" sz="2400" i="1" dirty="0" smtClean="0">
                <a:solidFill>
                  <a:srgbClr val="C00000"/>
                </a:solidFill>
              </a:rPr>
              <a:t>eliminate variability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Meaningful commitments are </a:t>
            </a:r>
            <a:r>
              <a:rPr lang="en-US" sz="2400" i="1" dirty="0" smtClean="0">
                <a:solidFill>
                  <a:srgbClr val="C00000"/>
                </a:solidFill>
              </a:rPr>
              <a:t>not possible</a:t>
            </a:r>
            <a:r>
              <a:rPr lang="en-US" sz="2400" dirty="0" smtClean="0"/>
              <a:t> in the early, wide part of the Cone.</a:t>
            </a:r>
            <a:endParaRPr lang="en-US" sz="2400" dirty="0"/>
          </a:p>
        </p:txBody>
      </p:sp>
      <p:sp>
        <p:nvSpPr>
          <p:cNvPr id="128002" name="AutoShape 2" descr="mk:@MSITStore:D:\My%20Teaching\Software%20Project%20Management\References\04.1.%20Software%20Estimation\Steve%20McConnell%20(2006).%20Software%20Estimation%20-%20Demystifying%20the%20Black%20Art.%20Microsoft%20Press.chm::/14352/images/fig68_01_0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80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122420"/>
            <a:ext cx="3943350" cy="212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0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105275"/>
            <a:ext cx="396049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Again [2]</a:t>
            </a:r>
            <a:endParaRPr lang="en-US" dirty="0"/>
          </a:p>
        </p:txBody>
      </p:sp>
      <p:pic>
        <p:nvPicPr>
          <p:cNvPr id="4" name="Picture 2" descr="http://www.agilenutshell.com/assets/definitions/cone-of-uncertainty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2550" y="1724025"/>
            <a:ext cx="6343650" cy="4371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Iterative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You'll go through a </a:t>
            </a:r>
            <a:r>
              <a:rPr lang="en-US" sz="2400" i="1" dirty="0" smtClean="0">
                <a:solidFill>
                  <a:srgbClr val="C00000"/>
                </a:solidFill>
              </a:rPr>
              <a:t>miniature Cone</a:t>
            </a:r>
            <a:r>
              <a:rPr lang="en-US" sz="2400" dirty="0" smtClean="0"/>
              <a:t> on </a:t>
            </a:r>
            <a:r>
              <a:rPr lang="en-US" sz="2400" u="sng" dirty="0" smtClean="0"/>
              <a:t>each iteration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What you give up with approaches that leave requirements undefined until the beginning of each iteration is </a:t>
            </a:r>
            <a:r>
              <a:rPr lang="en-US" sz="2400" i="1" dirty="0" smtClean="0">
                <a:solidFill>
                  <a:srgbClr val="C00000"/>
                </a:solidFill>
              </a:rPr>
              <a:t>long-range</a:t>
            </a:r>
            <a:r>
              <a:rPr lang="en-US" sz="2400" dirty="0" smtClean="0"/>
              <a:t> predictability.</a:t>
            </a:r>
          </a:p>
          <a:p>
            <a:r>
              <a:rPr lang="en-US" sz="2400" dirty="0" smtClean="0"/>
              <a:t>Your business might prioritize that flexibility highly, or it might prefer that your projects provide </a:t>
            </a:r>
            <a:r>
              <a:rPr lang="en-US" sz="2400" i="1" dirty="0" smtClean="0">
                <a:solidFill>
                  <a:srgbClr val="C00000"/>
                </a:solidFill>
              </a:rPr>
              <a:t>more predictability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alternative to </a:t>
            </a:r>
            <a:r>
              <a:rPr lang="en-US" sz="2400" i="1" dirty="0" smtClean="0">
                <a:solidFill>
                  <a:srgbClr val="C00000"/>
                </a:solidFill>
              </a:rPr>
              <a:t>total iteration</a:t>
            </a:r>
            <a:r>
              <a:rPr lang="en-US" sz="2400" dirty="0" smtClean="0"/>
              <a:t> is not </a:t>
            </a:r>
            <a:r>
              <a:rPr lang="en-US" sz="2400" i="1" dirty="0" smtClean="0">
                <a:solidFill>
                  <a:srgbClr val="C00000"/>
                </a:solidFill>
              </a:rPr>
              <a:t>no iteration</a:t>
            </a:r>
            <a:r>
              <a:rPr lang="en-US" sz="2400" dirty="0" smtClean="0"/>
              <a:t>. The alternatives are </a:t>
            </a:r>
            <a:r>
              <a:rPr lang="en-US" sz="2400" i="1" dirty="0" smtClean="0">
                <a:solidFill>
                  <a:srgbClr val="C00000"/>
                </a:solidFill>
              </a:rPr>
              <a:t>less iteration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different iteration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Less iteration: Staged delivery.</a:t>
            </a:r>
          </a:p>
          <a:p>
            <a:r>
              <a:rPr lang="en-US" sz="2400" dirty="0" smtClean="0"/>
              <a:t>Different iteration: Rational Unified Process.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Inputs for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sz="2600" dirty="0" smtClean="0"/>
              <a:t>There is really </a:t>
            </a:r>
            <a:r>
              <a:rPr lang="en-US" sz="2600" i="1" dirty="0" smtClean="0">
                <a:solidFill>
                  <a:srgbClr val="C00000"/>
                </a:solidFill>
              </a:rPr>
              <a:t>no way</a:t>
            </a:r>
            <a:r>
              <a:rPr lang="en-US" sz="2600" dirty="0" smtClean="0"/>
              <a:t> we can expect the technique to compensate for our lack of definition or understanding of the software job to be done.</a:t>
            </a:r>
          </a:p>
          <a:p>
            <a:r>
              <a:rPr lang="en-US" sz="2600" dirty="0" smtClean="0"/>
              <a:t>The inputs do </a:t>
            </a:r>
            <a:r>
              <a:rPr lang="en-US" sz="2600" i="1" dirty="0" smtClean="0">
                <a:solidFill>
                  <a:srgbClr val="C00000"/>
                </a:solidFill>
              </a:rPr>
              <a:t>not</a:t>
            </a:r>
            <a:r>
              <a:rPr lang="en-US" sz="2600" dirty="0" smtClean="0"/>
              <a:t> need to be </a:t>
            </a:r>
            <a:r>
              <a:rPr lang="en-US" sz="2600" u="sng" dirty="0" smtClean="0"/>
              <a:t>detailed requirements</a:t>
            </a:r>
            <a:r>
              <a:rPr lang="en-US" sz="2600" dirty="0" smtClean="0"/>
              <a:t>.</a:t>
            </a:r>
          </a:p>
        </p:txBody>
      </p:sp>
      <p:pic>
        <p:nvPicPr>
          <p:cNvPr id="125954" name="Picture 2" descr="http://charlesalvear.com/wp-content/uploads/2014/09/garbage-in-garbage-ou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352800"/>
            <a:ext cx="6219825" cy="29622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Count, Compute, Judge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How </a:t>
            </a:r>
            <a:r>
              <a:rPr lang="en-US" sz="2400" i="1" dirty="0" smtClean="0">
                <a:solidFill>
                  <a:srgbClr val="C00000"/>
                </a:solidFill>
              </a:rPr>
              <a:t>many</a:t>
            </a:r>
            <a:r>
              <a:rPr lang="en-US" sz="2400" dirty="0" smtClean="0"/>
              <a:t> students are there?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Count</a:t>
            </a:r>
            <a:r>
              <a:rPr lang="en-US" sz="2400" dirty="0" smtClean="0"/>
              <a:t> if at all possible.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Compute</a:t>
            </a:r>
            <a:r>
              <a:rPr lang="en-US" sz="2400" dirty="0" smtClean="0"/>
              <a:t> when you can't count.</a:t>
            </a:r>
          </a:p>
          <a:p>
            <a:r>
              <a:rPr lang="en-US" sz="2400" dirty="0" smtClean="0"/>
              <a:t>Use </a:t>
            </a:r>
            <a:r>
              <a:rPr lang="en-US" sz="2400" i="1" dirty="0" smtClean="0">
                <a:solidFill>
                  <a:srgbClr val="C00000"/>
                </a:solidFill>
              </a:rPr>
              <a:t>judgment</a:t>
            </a:r>
            <a:r>
              <a:rPr lang="en-US" sz="2400" dirty="0" smtClean="0"/>
              <a:t> alone only as a last resort.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 descr="https://d1gzo5vknddaf.cloudfront.net/uploads/post/featured_image/88/display_The_Learning_Curve_of_a_College_Classroo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581400"/>
            <a:ext cx="45720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Decide What to 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Find something to count that's available </a:t>
            </a:r>
            <a:r>
              <a:rPr lang="en-US" sz="2800" i="1" dirty="0" smtClean="0">
                <a:solidFill>
                  <a:srgbClr val="C00000"/>
                </a:solidFill>
              </a:rPr>
              <a:t>sooner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Find something you can count with </a:t>
            </a:r>
            <a:r>
              <a:rPr lang="en-US" sz="2800" i="1" dirty="0" smtClean="0">
                <a:solidFill>
                  <a:srgbClr val="C00000"/>
                </a:solidFill>
              </a:rPr>
              <a:t>minimal</a:t>
            </a:r>
            <a:r>
              <a:rPr lang="en-US" sz="2800" dirty="0" smtClean="0"/>
              <a:t> effort.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Examples</a:t>
            </a:r>
            <a:r>
              <a:rPr lang="en-US" sz="2800" dirty="0" smtClean="0"/>
              <a:t>:</a:t>
            </a:r>
          </a:p>
          <a:p>
            <a:pPr lvl="1"/>
            <a:r>
              <a:rPr lang="en-US" sz="2400" dirty="0" smtClean="0"/>
              <a:t>Marketing requirements</a:t>
            </a:r>
          </a:p>
          <a:p>
            <a:pPr lvl="1"/>
            <a:r>
              <a:rPr lang="en-US" sz="2400" dirty="0" smtClean="0"/>
              <a:t>Features</a:t>
            </a:r>
          </a:p>
          <a:p>
            <a:pPr lvl="1"/>
            <a:r>
              <a:rPr lang="en-US" sz="2400" dirty="0" smtClean="0"/>
              <a:t>Use cases</a:t>
            </a:r>
          </a:p>
          <a:p>
            <a:pPr lvl="1"/>
            <a:r>
              <a:rPr lang="en-US" sz="2400" dirty="0" smtClean="0"/>
              <a:t>Stories</a:t>
            </a:r>
          </a:p>
          <a:p>
            <a:pPr lvl="1"/>
            <a:r>
              <a:rPr lang="en-US" sz="2400" dirty="0" smtClean="0"/>
              <a:t>Web pages, dialog boxes</a:t>
            </a:r>
          </a:p>
          <a:p>
            <a:pPr lvl="1"/>
            <a:r>
              <a:rPr lang="en-US" sz="2400" dirty="0" smtClean="0"/>
              <a:t>Reports</a:t>
            </a:r>
          </a:p>
          <a:p>
            <a:pPr lvl="1"/>
            <a:r>
              <a:rPr lang="en-US" sz="2400" dirty="0" smtClean="0"/>
              <a:t>Database tables</a:t>
            </a:r>
          </a:p>
        </p:txBody>
      </p:sp>
      <p:pic>
        <p:nvPicPr>
          <p:cNvPr id="134146" name="Picture 2" descr="https://www.modernanalyst.com/Portals/0/Public%20Uploads%203/Need_Want_Requirements_Fotolia_23102020_X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971800"/>
            <a:ext cx="3295650" cy="32956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Convert Counts to Estimates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r>
              <a:rPr lang="en-US" sz="2200" dirty="0" smtClean="0"/>
              <a:t>If you collect </a:t>
            </a:r>
            <a:r>
              <a:rPr lang="en-US" sz="2200" i="1" dirty="0" smtClean="0">
                <a:solidFill>
                  <a:srgbClr val="C00000"/>
                </a:solidFill>
              </a:rPr>
              <a:t>historical data</a:t>
            </a:r>
            <a:r>
              <a:rPr lang="en-US" sz="2200" dirty="0" smtClean="0"/>
              <a:t> related to counts, you can convert the counts to something useful, such as estimated effort.</a:t>
            </a:r>
          </a:p>
          <a:p>
            <a:r>
              <a:rPr lang="en-US" sz="2400" dirty="0" smtClean="0"/>
              <a:t>If you don't currently have historical data, </a:t>
            </a:r>
            <a:r>
              <a:rPr lang="en-US" sz="2400" i="1" dirty="0" smtClean="0">
                <a:solidFill>
                  <a:srgbClr val="C00000"/>
                </a:solidFill>
              </a:rPr>
              <a:t>begin collecting</a:t>
            </a:r>
            <a:r>
              <a:rPr lang="en-US" sz="2400" dirty="0" smtClean="0"/>
              <a:t> it as soon as possible.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276600"/>
          <a:ext cx="7924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8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Quantity to Count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Historical Data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Marketing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Average effort hours per requirement for development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Average effort hours per feature for development 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Average total effort hours per use case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Average total effort hours per story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Web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Average effort per Web page for user interface work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3. Use Judgment only as a Last Resort</a:t>
            </a:r>
            <a:endParaRPr lang="en-US" sz="4000" dirty="0"/>
          </a:p>
        </p:txBody>
      </p:sp>
      <p:pic>
        <p:nvPicPr>
          <p:cNvPr id="135170" name="Picture 2" descr="https://dg19s6hp6ufoh.cloudfront.net/pictures/2503/large/le%20penseur.jpeg?132304143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905000"/>
            <a:ext cx="508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Converting a .NET website (*.aspx, *.</a:t>
            </a:r>
            <a:r>
              <a:rPr lang="en-US" dirty="0" err="1" smtClean="0"/>
              <a:t>cs</a:t>
            </a:r>
            <a:r>
              <a:rPr lang="en-US" dirty="0" smtClean="0"/>
              <a:t>) to JEE</a:t>
            </a:r>
          </a:p>
          <a:p>
            <a:r>
              <a:rPr lang="en-US" dirty="0" smtClean="0"/>
              <a:t>Counts:</a:t>
            </a:r>
          </a:p>
          <a:p>
            <a:pPr lvl="1"/>
            <a:r>
              <a:rPr lang="en-US" dirty="0" smtClean="0"/>
              <a:t>Open </a:t>
            </a:r>
            <a:r>
              <a:rPr lang="en-US" dirty="0" err="1" smtClean="0"/>
              <a:t>powershell</a:t>
            </a:r>
            <a:r>
              <a:rPr lang="en-US" dirty="0" smtClean="0"/>
              <a:t> and execute below command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gci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-include *.aspx, *.skin, *.master, *.ascx 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recurse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| select-string .).Count</a:t>
            </a:r>
          </a:p>
          <a:p>
            <a:pPr lvl="1"/>
            <a:r>
              <a:rPr lang="en-US" dirty="0" smtClean="0"/>
              <a:t>45 </a:t>
            </a:r>
            <a:r>
              <a:rPr lang="en-US" dirty="0" err="1" smtClean="0"/>
              <a:t>aspx</a:t>
            </a:r>
            <a:r>
              <a:rPr lang="en-US" dirty="0" smtClean="0"/>
              <a:t> files, 6996 lines of code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gci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-include *.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, *.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recurse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| select-string .).Count</a:t>
            </a:r>
          </a:p>
          <a:p>
            <a:pPr lvl="1"/>
            <a:r>
              <a:rPr lang="en-US" dirty="0" smtClean="0"/>
              <a:t>50 </a:t>
            </a:r>
            <a:r>
              <a:rPr lang="en-US" dirty="0" err="1" smtClean="0"/>
              <a:t>cs</a:t>
            </a:r>
            <a:r>
              <a:rPr lang="en-US" dirty="0" smtClean="0"/>
              <a:t> files, 12232 lines of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Judgment:</a:t>
            </a:r>
          </a:p>
          <a:p>
            <a:pPr marL="742950" lvl="2" indent="-342900"/>
            <a:r>
              <a:rPr lang="en-US" sz="2800" dirty="0" smtClean="0"/>
              <a:t>45 </a:t>
            </a:r>
            <a:r>
              <a:rPr lang="en-US" sz="2800" dirty="0" err="1" smtClean="0"/>
              <a:t>aspx</a:t>
            </a:r>
            <a:r>
              <a:rPr lang="en-US" sz="2800" dirty="0" smtClean="0"/>
              <a:t> files, 6996 lines of code</a:t>
            </a:r>
          </a:p>
          <a:p>
            <a:pPr lvl="2"/>
            <a:r>
              <a:rPr lang="en-US" dirty="0" smtClean="0"/>
              <a:t>20-day UI conversion</a:t>
            </a:r>
          </a:p>
          <a:p>
            <a:pPr lvl="1"/>
            <a:r>
              <a:rPr lang="en-US" dirty="0" smtClean="0"/>
              <a:t>50 </a:t>
            </a:r>
            <a:r>
              <a:rPr lang="en-US" dirty="0" err="1" smtClean="0"/>
              <a:t>cs</a:t>
            </a:r>
            <a:r>
              <a:rPr lang="en-US" dirty="0" smtClean="0"/>
              <a:t> files, 12232 lines of code</a:t>
            </a:r>
          </a:p>
          <a:p>
            <a:pPr lvl="2"/>
            <a:r>
              <a:rPr lang="en-US" dirty="0" smtClean="0"/>
              <a:t>30-day code conversion</a:t>
            </a:r>
          </a:p>
          <a:p>
            <a:pPr lvl="1"/>
            <a:r>
              <a:rPr lang="en-US" dirty="0" smtClean="0"/>
              <a:t>JEE frameworks and tools investigation and review</a:t>
            </a:r>
          </a:p>
          <a:p>
            <a:pPr lvl="2"/>
            <a:r>
              <a:rPr lang="en-US" dirty="0" smtClean="0"/>
              <a:t>10-day</a:t>
            </a:r>
          </a:p>
          <a:p>
            <a:pPr lvl="1"/>
            <a:endParaRPr lang="en-US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VS Code Counter</a:t>
            </a:r>
            <a:endParaRPr lang="en-US" sz="2400" dirty="0" smtClean="0">
              <a:hlinkClick r:id="rId2"/>
            </a:endParaRPr>
          </a:p>
          <a:p>
            <a:pPr lvl="1"/>
            <a:r>
              <a:rPr lang="en-US" sz="1600" dirty="0" smtClean="0">
                <a:hlinkClick r:id="rId2"/>
              </a:rPr>
              <a:t>https://marketplace.visualstudio.com/items?itemName=uctakeoff.vscode-counter</a:t>
            </a:r>
            <a:endParaRPr lang="en-US" sz="16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Get Lines of Code from </a:t>
            </a:r>
            <a:r>
              <a:rPr lang="en-US" sz="2400" dirty="0" err="1" smtClean="0"/>
              <a:t>GitHub</a:t>
            </a:r>
            <a:endParaRPr lang="en-US" sz="2400" dirty="0" smtClean="0"/>
          </a:p>
          <a:p>
            <a:pPr lvl="1"/>
            <a:r>
              <a:rPr lang="en-US" sz="2000" dirty="0" smtClean="0">
                <a:hlinkClick r:id="rId3"/>
              </a:rPr>
              <a:t>https://codetabs.com/count-loc/count-loc-online.html</a:t>
            </a:r>
            <a:endParaRPr lang="en-US" sz="2000" dirty="0" smtClean="0"/>
          </a:p>
          <a:p>
            <a:r>
              <a:rPr lang="en-US" sz="2400" dirty="0" smtClean="0"/>
              <a:t>Tokei</a:t>
            </a:r>
          </a:p>
          <a:p>
            <a:pPr lvl="1"/>
            <a:r>
              <a:rPr lang="en-US" sz="2000" dirty="0" smtClean="0">
                <a:hlinkClick r:id="rId4"/>
              </a:rPr>
              <a:t>https://github.com/XAMPPRocky/tokei</a:t>
            </a:r>
            <a:endParaRPr lang="en-US" sz="20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16075" y="2755900"/>
            <a:ext cx="5911850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cloc</a:t>
            </a:r>
            <a:endParaRPr lang="en-US" sz="2400" dirty="0" smtClean="0"/>
          </a:p>
          <a:p>
            <a:pPr lvl="1"/>
            <a:r>
              <a:rPr lang="en-US" sz="2000" dirty="0" smtClean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github.com/AlDanial/cloc</a:t>
            </a:r>
            <a:endParaRPr lang="en-US" sz="2000" dirty="0" smtClean="0"/>
          </a:p>
          <a:p>
            <a:pPr lvl="1"/>
            <a:endParaRPr lang="en-US" sz="2400" dirty="0" smtClean="0">
              <a:hlinkClick r:id="rId3"/>
            </a:endParaRPr>
          </a:p>
          <a:p>
            <a:pPr lvl="1"/>
            <a:endParaRPr lang="en-US" sz="2400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by Analogy</a:t>
            </a:r>
          </a:p>
        </p:txBody>
      </p:sp>
      <p:pic>
        <p:nvPicPr>
          <p:cNvPr id="5222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8600" y="1981200"/>
            <a:ext cx="4775200" cy="3516313"/>
          </a:xfrm>
          <a:noFill/>
        </p:spPr>
      </p:pic>
      <p:pic>
        <p:nvPicPr>
          <p:cNvPr id="4" name="Picture 2" descr="http://www.ibm.com/developerworks/rational/library/jun07/temnenco/fig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209800"/>
            <a:ext cx="3771900" cy="266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Get Detailed Size, Effort, and Cost Results for a </a:t>
            </a:r>
            <a:r>
              <a:rPr lang="en-US" sz="3800" i="1" dirty="0" smtClean="0">
                <a:solidFill>
                  <a:srgbClr val="C00000"/>
                </a:solidFill>
              </a:rPr>
              <a:t>Similar</a:t>
            </a:r>
            <a:r>
              <a:rPr lang="en-US" sz="3800" dirty="0" smtClean="0"/>
              <a:t> Previous Project</a:t>
            </a:r>
            <a:endParaRPr lang="en-US" sz="3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0588" y="2286000"/>
          <a:ext cx="83724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4869"/>
                <a:gridCol w="3310573"/>
                <a:gridCol w="2426970"/>
              </a:tblGrid>
              <a:tr h="320040">
                <a:tc gridSpan="3">
                  <a:txBody>
                    <a:bodyPr/>
                    <a:lstStyle/>
                    <a:p>
                      <a:r>
                        <a:rPr lang="en-US" sz="2400" dirty="0" smtClean="0"/>
                        <a:t>Old Project 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5,000 lines of code (LOC)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10 tables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14,000 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14 Web pages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Graphs and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9,000 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10 graphs + 8 reports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Foundation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4,500 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15 classes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Business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11,000 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???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/>
                        <a:t>TOTAL</a:t>
                      </a:r>
                      <a:r>
                        <a:rPr lang="en-US" sz="24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43,500 LOC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Compare the </a:t>
            </a:r>
            <a:r>
              <a:rPr lang="en-US" sz="3800" i="1" dirty="0" smtClean="0">
                <a:solidFill>
                  <a:srgbClr val="C00000"/>
                </a:solidFill>
              </a:rPr>
              <a:t>Size</a:t>
            </a:r>
            <a:r>
              <a:rPr lang="en-US" sz="3800" dirty="0" smtClean="0"/>
              <a:t> of the New Project to a Similar Past Project</a:t>
            </a:r>
            <a:endParaRPr lang="en-US" sz="3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86000"/>
          <a:ext cx="7772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Subsystem</a:t>
                      </a:r>
                      <a:r>
                        <a:rPr lang="en-US" sz="22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Actual Size of </a:t>
                      </a:r>
                      <a:r>
                        <a:rPr lang="en-US" sz="2200" b="1" dirty="0" smtClean="0"/>
                        <a:t>Old Project</a:t>
                      </a:r>
                      <a:r>
                        <a:rPr lang="en-US" sz="2200" dirty="0" smtClean="0"/>
                        <a:t> </a:t>
                      </a:r>
                      <a:endParaRPr lang="en-US" sz="2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Estimated Size of </a:t>
                      </a:r>
                      <a:r>
                        <a:rPr lang="en-US" sz="2200" b="1" dirty="0" smtClean="0">
                          <a:solidFill>
                            <a:schemeClr val="bg1"/>
                          </a:solidFill>
                        </a:rPr>
                        <a:t>New Project</a:t>
                      </a:r>
                      <a:r>
                        <a:rPr lang="en-US" sz="2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200" dirty="0">
                        <a:solidFill>
                          <a:schemeClr val="bg1"/>
                        </a:solidFill>
                      </a:endParaRPr>
                    </a:p>
                  </a:txBody>
                  <a:tcPr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Multiplication Factor</a:t>
                      </a:r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 anchor="b"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10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14 tables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/>
                        <a:t>14 Web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19 Web pages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Graphs and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/>
                        <a:t>10 graphs + 8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14 graphs + 16 reports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Foundation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15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15 classes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Business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???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400" dirty="0" smtClean="0"/>
              <a:t>3. Build Up the </a:t>
            </a:r>
            <a:r>
              <a:rPr lang="en-US" sz="3400" i="1" dirty="0" smtClean="0">
                <a:solidFill>
                  <a:srgbClr val="C00000"/>
                </a:solidFill>
              </a:rPr>
              <a:t>Estimate</a:t>
            </a:r>
            <a:r>
              <a:rPr lang="en-US" sz="3400" dirty="0" smtClean="0"/>
              <a:t> for the New Project's Size as a Percentage of the Old Project's Size</a:t>
            </a:r>
            <a:endParaRPr lang="en-US" sz="3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438400"/>
          <a:ext cx="8357426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732"/>
                <a:gridCol w="1539939"/>
                <a:gridCol w="2724150"/>
                <a:gridCol w="16656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Subsystem</a:t>
                      </a:r>
                      <a:r>
                        <a:rPr lang="en-US" sz="22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Old</a:t>
                      </a:r>
                      <a:r>
                        <a:rPr lang="en-US" sz="2200" b="1" baseline="0" dirty="0" smtClean="0"/>
                        <a:t> Project</a:t>
                      </a:r>
                      <a:endParaRPr lang="en-US" sz="2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/>
                        <a:t>Multiplication Factor</a:t>
                      </a:r>
                      <a:r>
                        <a:rPr lang="en-US" sz="2200" dirty="0"/>
                        <a:t> </a:t>
                      </a:r>
                    </a:p>
                  </a:txBody>
                  <a:tcPr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 smtClean="0"/>
                        <a:t>New Project</a:t>
                      </a:r>
                      <a:endParaRPr lang="en-US" sz="2200" dirty="0"/>
                    </a:p>
                  </a:txBody>
                  <a:tcPr anchor="b"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7,000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/>
                        <a:t>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19,600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Graphs and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15,300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Foundation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4,500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Business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16,500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200" b="1"/>
                        <a:t>TOTAL</a:t>
                      </a:r>
                      <a:r>
                        <a:rPr lang="en-US" sz="22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/>
                        <a:t>43,500</a:t>
                      </a:r>
                      <a:r>
                        <a:rPr lang="en-US" sz="22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62,900</a:t>
                      </a:r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dirty="0" smtClean="0"/>
              <a:t>4. Create an </a:t>
            </a:r>
            <a:r>
              <a:rPr lang="en-US" sz="3000" i="1" dirty="0" smtClean="0">
                <a:solidFill>
                  <a:srgbClr val="C00000"/>
                </a:solidFill>
              </a:rPr>
              <a:t>Effort Estimate</a:t>
            </a:r>
            <a:r>
              <a:rPr lang="en-US" sz="3000" dirty="0" smtClean="0"/>
              <a:t> Based on the Size of the New Project Compared to the Previous Project</a:t>
            </a:r>
            <a:endParaRPr lang="en-US" sz="3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2362200"/>
          <a:ext cx="7772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Term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Value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b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Size of </a:t>
                      </a:r>
                      <a:r>
                        <a:rPr lang="en-US" sz="2400" dirty="0" smtClean="0"/>
                        <a:t>New Project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62,900 LOC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Size of </a:t>
                      </a:r>
                      <a:r>
                        <a:rPr lang="en-US" sz="2400" dirty="0" smtClean="0"/>
                        <a:t>Old</a:t>
                      </a:r>
                      <a:r>
                        <a:rPr lang="en-US" sz="2400" baseline="0" dirty="0" smtClean="0"/>
                        <a:t> Project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÷ 43,500 LOC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Size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= 1.45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Effort for </a:t>
                      </a:r>
                      <a:r>
                        <a:rPr lang="en-US" sz="2400" dirty="0" smtClean="0"/>
                        <a:t>Old</a:t>
                      </a:r>
                      <a:r>
                        <a:rPr lang="en-US" sz="2400" baseline="0" dirty="0" smtClean="0"/>
                        <a:t> Project</a:t>
                      </a:r>
                      <a:endParaRPr lang="en-US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× 30 staff months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Estimated effort for </a:t>
                      </a:r>
                      <a:r>
                        <a:rPr lang="en-US" sz="2400" dirty="0" smtClean="0"/>
                        <a:t>New Project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= 44 staff months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Check for Consistent </a:t>
            </a:r>
            <a:r>
              <a:rPr lang="en-US" sz="3800" i="1" dirty="0" smtClean="0">
                <a:solidFill>
                  <a:srgbClr val="C00000"/>
                </a:solidFill>
              </a:rPr>
              <a:t>Assumptions</a:t>
            </a:r>
            <a:r>
              <a:rPr lang="en-US" sz="3800" dirty="0" smtClean="0"/>
              <a:t> Across the Old and the New Project</a:t>
            </a:r>
            <a:endParaRPr lang="en-US" sz="3800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524000" y="1955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Analogy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1143000" y="1371600"/>
            <a:ext cx="7056818" cy="953998"/>
            <a:chOff x="392046" y="36600"/>
            <a:chExt cx="7056818" cy="725398"/>
          </a:xfrm>
        </p:grpSpPr>
        <p:sp>
          <p:nvSpPr>
            <p:cNvPr id="8" name="Rounded Rectangle 7"/>
            <p:cNvSpPr/>
            <p:nvPr/>
          </p:nvSpPr>
          <p:spPr>
            <a:xfrm>
              <a:off x="392046" y="36600"/>
              <a:ext cx="7056818" cy="725398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27457" y="72011"/>
              <a:ext cx="6985996" cy="6545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Simple, accurate, cheap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ü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Based on proven characteristics</a:t>
              </a: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1295400" y="4724400"/>
            <a:ext cx="7064425" cy="1752600"/>
            <a:chOff x="395853" y="13979"/>
            <a:chExt cx="7064425" cy="649440"/>
          </a:xfrm>
        </p:grpSpPr>
        <p:sp>
          <p:nvSpPr>
            <p:cNvPr id="11" name="Rounded Rectangle 10"/>
            <p:cNvSpPr/>
            <p:nvPr/>
          </p:nvSpPr>
          <p:spPr>
            <a:xfrm>
              <a:off x="395853" y="13979"/>
              <a:ext cx="7064425" cy="6494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27556" y="45682"/>
              <a:ext cx="7001019" cy="586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Courier New" pitchFamily="49" charset="0"/>
                <a:buChar char="o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Impossible if no comparable project has been tackled.</a:t>
              </a:r>
            </a:p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Courier New" pitchFamily="49" charset="0"/>
                <a:buChar char="o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The need to determine the most important variables to be used for describing the solution.</a:t>
              </a: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0" y="2557463"/>
            <a:ext cx="19050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Expert Judgment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"</a:t>
            </a:r>
            <a:r>
              <a:rPr lang="en-US" sz="2400" u="sng" dirty="0" smtClean="0"/>
              <a:t>intuitive</a:t>
            </a:r>
            <a:r>
              <a:rPr lang="en-US" sz="2400" dirty="0" smtClean="0"/>
              <a:t> expert judgment" tends to be </a:t>
            </a:r>
            <a:r>
              <a:rPr lang="en-US" sz="2400" i="1" dirty="0" smtClean="0">
                <a:solidFill>
                  <a:srgbClr val="C00000"/>
                </a:solidFill>
              </a:rPr>
              <a:t>inaccurate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"</a:t>
            </a:r>
            <a:r>
              <a:rPr lang="en-US" sz="2400" u="sng" dirty="0" smtClean="0"/>
              <a:t>structured</a:t>
            </a:r>
            <a:r>
              <a:rPr lang="en-US" sz="2400" dirty="0" smtClean="0"/>
              <a:t> expert judgment," can produce estimates that are about as </a:t>
            </a:r>
            <a:r>
              <a:rPr lang="en-US" sz="2400" i="1" dirty="0" smtClean="0">
                <a:solidFill>
                  <a:srgbClr val="C00000"/>
                </a:solidFill>
              </a:rPr>
              <a:t>accurate</a:t>
            </a:r>
            <a:r>
              <a:rPr lang="en-US" sz="2400" dirty="0" smtClean="0"/>
              <a:t> as model-based estimates.</a:t>
            </a:r>
          </a:p>
          <a:p>
            <a:endParaRPr lang="en-US" sz="2400" dirty="0"/>
          </a:p>
        </p:txBody>
      </p:sp>
      <p:pic>
        <p:nvPicPr>
          <p:cNvPr id="4" name="Picture 4" descr="http://img.vnhay.info/img_cacher/06032010/5821c58eea832ccd61d61825710c609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057525"/>
            <a:ext cx="4752975" cy="3343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Creates the Estimates?</a:t>
            </a:r>
            <a:endParaRPr lang="en-US" dirty="0"/>
          </a:p>
        </p:txBody>
      </p:sp>
      <p:pic>
        <p:nvPicPr>
          <p:cNvPr id="74754" name="Picture 2" descr="Figure shows two people with different forms of experti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" y="2133600"/>
            <a:ext cx="3009900" cy="3067050"/>
          </a:xfrm>
          <a:prstGeom prst="rect">
            <a:avLst/>
          </a:prstGeom>
          <a:noFill/>
        </p:spPr>
      </p:pic>
      <p:graphicFrame>
        <p:nvGraphicFramePr>
          <p:cNvPr id="7" name="Diagram 6"/>
          <p:cNvGraphicFramePr/>
          <p:nvPr/>
        </p:nvGraphicFramePr>
        <p:xfrm>
          <a:off x="3657600" y="1524000"/>
          <a:ext cx="51054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by Decomposition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1447800"/>
          <a:ext cx="7924800" cy="4950195"/>
        </p:xfrm>
        <a:graphic>
          <a:graphicData uri="http://schemas.openxmlformats.org/drawingml/2006/table">
            <a:tbl>
              <a:tblPr firstRow="1" lastRow="1" bandRow="1">
                <a:tableStyleId>{9D7B26C5-4107-4FEC-AEDC-1716B250A1EF}</a:tableStyleId>
              </a:tblPr>
              <a:tblGrid>
                <a:gridCol w="2530410"/>
                <a:gridCol w="5394390"/>
              </a:tblGrid>
              <a:tr h="621211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</a:t>
                      </a:r>
                    </a:p>
                  </a:txBody>
                  <a:tcPr marL="88744" marR="88744" marT="44372" marB="44372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Estimated Staff Weeks to Complete </a:t>
                      </a:r>
                    </a:p>
                  </a:txBody>
                  <a:tcPr marL="88744" marR="88744" marT="44372" marB="44372" anchor="b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1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2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4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3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3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4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5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4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6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6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7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8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9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3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10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88744" marR="88744" marT="44372" marB="44372"/>
                </a:tc>
              </a:tr>
              <a:tr h="354977"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TOTAL </a:t>
                      </a:r>
                    </a:p>
                  </a:txBody>
                  <a:tcPr marL="88744" marR="88744" marT="44372" marB="4437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27</a:t>
                      </a:r>
                    </a:p>
                  </a:txBody>
                  <a:tcPr marL="88744" marR="88744" marT="44372" marB="44372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320429"/>
            <a:ext cx="8229600" cy="1143000"/>
          </a:xfrm>
        </p:spPr>
        <p:txBody>
          <a:bodyPr/>
          <a:lstStyle/>
          <a:p>
            <a:r>
              <a:rPr lang="en-US" dirty="0" smtClean="0"/>
              <a:t>Decomposition via an </a:t>
            </a:r>
            <a:br>
              <a:rPr lang="en-US" dirty="0" smtClean="0"/>
            </a:br>
            <a:r>
              <a:rPr lang="en-US" dirty="0" smtClean="0"/>
              <a:t>Activity-Based WBS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1754615"/>
          <a:ext cx="7858135" cy="443422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16533"/>
                <a:gridCol w="752722"/>
                <a:gridCol w="375087"/>
                <a:gridCol w="611561"/>
                <a:gridCol w="557078"/>
                <a:gridCol w="580383"/>
                <a:gridCol w="1164771"/>
              </a:tblGrid>
              <a:tr h="145063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Category </a:t>
                      </a:r>
                    </a:p>
                  </a:txBody>
                  <a:tcPr marL="14506" marR="14506" marT="7253" marB="725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Create/Do </a:t>
                      </a:r>
                    </a:p>
                  </a:txBody>
                  <a:tcPr marL="14506" marR="14506" marT="7253" marB="725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Plan </a:t>
                      </a:r>
                    </a:p>
                  </a:txBody>
                  <a:tcPr marL="14506" marR="14506" marT="7253" marB="725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Manage </a:t>
                      </a:r>
                    </a:p>
                  </a:txBody>
                  <a:tcPr marL="14506" marR="14506" marT="7253" marB="725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Review </a:t>
                      </a:r>
                    </a:p>
                  </a:txBody>
                  <a:tcPr marL="14506" marR="14506" marT="7253" marB="725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Rework </a:t>
                      </a:r>
                    </a:p>
                  </a:txBody>
                  <a:tcPr marL="14506" marR="14506" marT="7253" marB="725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Report Defects </a:t>
                      </a:r>
                    </a:p>
                  </a:txBody>
                  <a:tcPr marL="14506" marR="14506" marT="7253" marB="7253" anchor="b"/>
                </a:tc>
              </a:tr>
              <a:tr h="188582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General management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</a:tr>
              <a:tr h="101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Planning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</a:tr>
              <a:tr h="237591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Corporate activities (meetings, vacation, holidays, and so on)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 </a:t>
                      </a:r>
                    </a:p>
                  </a:txBody>
                  <a:tcPr marL="14506" marR="14506" marT="7253" marB="7253"/>
                </a:tc>
              </a:tr>
              <a:tr h="235036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Hardware setup/Software setup/Maintenance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45063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Staff preparation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</a:tr>
              <a:tr h="232101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Technical Processes/Practices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45063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Requirements work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27562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Coordinate with other projects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 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 </a:t>
                      </a:r>
                    </a:p>
                  </a:txBody>
                  <a:tcPr marL="14506" marR="14506" marT="7253" marB="7253"/>
                </a:tc>
              </a:tr>
              <a:tr h="188582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Change management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232101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User-interface prototyping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45063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Architecture work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88582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Detailed designing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58025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Coding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88582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Component acquisition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45063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Automated build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01544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Integration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88582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Manual system tests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188582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Automated system tests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229775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Software release (interim, alpha, beta, and final releases)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fr-FR" sz="1200" dirty="0"/>
                        <a:t>Documents (user docs, </a:t>
                      </a:r>
                      <a:r>
                        <a:rPr lang="fr-FR" sz="1200" dirty="0" err="1" smtClean="0"/>
                        <a:t>technical</a:t>
                      </a:r>
                      <a:r>
                        <a:rPr lang="fr-FR" sz="1200" baseline="0" dirty="0" smtClean="0"/>
                        <a:t> </a:t>
                      </a:r>
                      <a:r>
                        <a:rPr lang="fr-FR" sz="1200" dirty="0" smtClean="0"/>
                        <a:t>docs</a:t>
                      </a:r>
                      <a:r>
                        <a:rPr lang="fr-FR" sz="1200" dirty="0"/>
                        <a:t>)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•</a:t>
                      </a:r>
                    </a:p>
                  </a:txBody>
                  <a:tcPr marL="14506" marR="14506" marT="7253" marB="725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•</a:t>
                      </a:r>
                    </a:p>
                  </a:txBody>
                  <a:tcPr marL="14506" marR="14506" marT="7253" marB="7253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Many Items?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/>
          <a:lstStyle/>
          <a:p>
            <a:r>
              <a:rPr lang="en-US" sz="2400" dirty="0" smtClean="0"/>
              <a:t>Very </a:t>
            </a:r>
            <a:r>
              <a:rPr lang="en-US" sz="2400" i="1" dirty="0" smtClean="0">
                <a:solidFill>
                  <a:srgbClr val="C00000"/>
                </a:solidFill>
              </a:rPr>
              <a:t>early</a:t>
            </a:r>
            <a:r>
              <a:rPr lang="en-US" sz="2400" dirty="0" smtClean="0"/>
              <a:t> in a project, it can be a struggle to get enough detailed information to create a decomposed estimate.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Later</a:t>
            </a:r>
            <a:r>
              <a:rPr lang="en-US" sz="2400" dirty="0" smtClean="0"/>
              <a:t> in the project, you might have too much detail. </a:t>
            </a:r>
          </a:p>
          <a:p>
            <a:r>
              <a:rPr lang="en-US" sz="2400" dirty="0" smtClean="0"/>
              <a:t>You need 5 to 10 individual items before you get much benefit from the Law of Large Numbers, but </a:t>
            </a:r>
            <a:r>
              <a:rPr lang="en-US" sz="2400" i="1" dirty="0" smtClean="0">
                <a:solidFill>
                  <a:srgbClr val="C00000"/>
                </a:solidFill>
              </a:rPr>
              <a:t>even 5 items are better than 1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962400"/>
            <a:ext cx="3980498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Granularity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One of the best ways to </a:t>
            </a:r>
            <a:r>
              <a:rPr lang="en-US" sz="2400" i="1" dirty="0" smtClean="0">
                <a:solidFill>
                  <a:srgbClr val="C00000"/>
                </a:solidFill>
              </a:rPr>
              <a:t>improve the accuracy</a:t>
            </a:r>
            <a:r>
              <a:rPr lang="en-US" sz="2400" dirty="0" smtClean="0"/>
              <a:t> of task-level estimates is to </a:t>
            </a:r>
            <a:r>
              <a:rPr lang="en-US" sz="2400" u="sng" dirty="0" smtClean="0"/>
              <a:t>separate large tasks into smaller tasks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When estimating at the task level, </a:t>
            </a:r>
            <a:r>
              <a:rPr lang="en-US" sz="2400" i="1" dirty="0" smtClean="0">
                <a:solidFill>
                  <a:srgbClr val="C00000"/>
                </a:solidFill>
              </a:rPr>
              <a:t>decompose estimates</a:t>
            </a:r>
            <a:r>
              <a:rPr lang="en-US" sz="2400" dirty="0" smtClean="0"/>
              <a:t> into tasks that will require </a:t>
            </a:r>
            <a:r>
              <a:rPr lang="en-US" sz="2400" u="sng" dirty="0" smtClean="0"/>
              <a:t>no more than about 2 days</a:t>
            </a:r>
            <a:r>
              <a:rPr lang="en-US" sz="2400" dirty="0" smtClean="0"/>
              <a:t> of effort.</a:t>
            </a:r>
          </a:p>
          <a:p>
            <a:r>
              <a:rPr lang="en-US" sz="2400" dirty="0" smtClean="0"/>
              <a:t>Ending up with estimates that are at the </a:t>
            </a:r>
            <a:r>
              <a:rPr lang="en-US" sz="2400" i="1" dirty="0" smtClean="0">
                <a:solidFill>
                  <a:srgbClr val="C00000"/>
                </a:solidFill>
              </a:rPr>
              <a:t>1/4 day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1/2 day</a:t>
            </a:r>
            <a:r>
              <a:rPr lang="en-US" sz="2400" dirty="0" smtClean="0"/>
              <a:t>, or </a:t>
            </a:r>
            <a:r>
              <a:rPr lang="en-US" sz="2400" i="1" dirty="0" smtClean="0">
                <a:solidFill>
                  <a:srgbClr val="C00000"/>
                </a:solidFill>
              </a:rPr>
              <a:t>full day</a:t>
            </a:r>
            <a:r>
              <a:rPr lang="en-US" sz="2400" dirty="0" smtClean="0"/>
              <a:t> of granularity is appropriate.</a:t>
            </a:r>
            <a:endParaRPr lang="en-US" sz="2400" dirty="0"/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191000"/>
            <a:ext cx="36671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Does It Works? </a:t>
            </a:r>
            <a:br>
              <a:rPr lang="en-US" dirty="0" smtClean="0"/>
            </a:br>
            <a:r>
              <a:rPr lang="en-US" dirty="0" smtClean="0"/>
              <a:t>– The Law of Large Numbers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4" y="1726499"/>
          <a:ext cx="8229595" cy="45981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45919"/>
                <a:gridCol w="1645919"/>
                <a:gridCol w="1645919"/>
                <a:gridCol w="1645919"/>
                <a:gridCol w="1645919"/>
              </a:tblGrid>
              <a:tr h="964549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Feature </a:t>
                      </a:r>
                    </a:p>
                  </a:txBody>
                  <a:tcPr marL="74196" marR="74196" marT="37098" marB="37098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Estimated Staff Weeks to Complete </a:t>
                      </a:r>
                    </a:p>
                  </a:txBody>
                  <a:tcPr marL="74196" marR="74196" marT="37098" marB="37098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Actual Effort </a:t>
                      </a:r>
                    </a:p>
                  </a:txBody>
                  <a:tcPr marL="74196" marR="74196" marT="37098" marB="37098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Raw Error </a:t>
                      </a:r>
                    </a:p>
                  </a:txBody>
                  <a:tcPr marL="74196" marR="74196" marT="37098" marB="37098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Magnitude of Relative Error </a:t>
                      </a:r>
                    </a:p>
                  </a:txBody>
                  <a:tcPr marL="74196" marR="74196" marT="37098" marB="37098" anchor="b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Feature 1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3.0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-1.5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50%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2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4.5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2.0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80%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3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100%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4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-1.5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60%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4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4.5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-0.5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11%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6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6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4.5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33%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7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3.0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-1.0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33%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8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-0.5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33%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9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0.5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20%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10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3.5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-2.0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57%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TOTAL 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27 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29 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-2 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-</a:t>
                      </a:r>
                    </a:p>
                  </a:txBody>
                  <a:tcPr marL="74196" marR="74196" marT="37098" marB="37098"/>
                </a:tc>
              </a:tr>
              <a:tr h="296784"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Average 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-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-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-7% </a:t>
                      </a:r>
                    </a:p>
                  </a:txBody>
                  <a:tcPr marL="74196" marR="74196" marT="37098" marB="3709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46% </a:t>
                      </a:r>
                    </a:p>
                  </a:txBody>
                  <a:tcPr marL="74196" marR="74196" marT="37098" marB="37098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Issue of Best Case Estimates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1524000"/>
            <a:ext cx="3505200" cy="5029200"/>
          </a:xfrm>
        </p:spPr>
        <p:txBody>
          <a:bodyPr/>
          <a:lstStyle/>
          <a:p>
            <a:r>
              <a:rPr lang="en-US" sz="2000" dirty="0" smtClean="0"/>
              <a:t>The root cause is a combination of the "90% confident" problem.</a:t>
            </a:r>
          </a:p>
          <a:p>
            <a:r>
              <a:rPr lang="en-US" sz="2000" dirty="0" smtClean="0"/>
              <a:t>When developers are asked to provide </a:t>
            </a:r>
            <a:r>
              <a:rPr lang="en-US" sz="2000" i="1" dirty="0" smtClean="0">
                <a:solidFill>
                  <a:srgbClr val="C00000"/>
                </a:solidFill>
              </a:rPr>
              <a:t>single-point estimates</a:t>
            </a:r>
            <a:r>
              <a:rPr lang="en-US" sz="2000" dirty="0" smtClean="0"/>
              <a:t>, they often </a:t>
            </a:r>
            <a:r>
              <a:rPr lang="en-US" sz="2000" u="sng" dirty="0" smtClean="0"/>
              <a:t>unconsciously present Best Case</a:t>
            </a:r>
            <a:r>
              <a:rPr lang="en-US" sz="2000" dirty="0" smtClean="0"/>
              <a:t> estimates.</a:t>
            </a:r>
          </a:p>
          <a:p>
            <a:r>
              <a:rPr lang="en-US" sz="2000" dirty="0" smtClean="0"/>
              <a:t>P(F1 completed on time) </a:t>
            </a:r>
          </a:p>
          <a:p>
            <a:pPr>
              <a:buNone/>
            </a:pPr>
            <a:r>
              <a:rPr lang="en-US" sz="2000" dirty="0" smtClean="0"/>
              <a:t>	= 0.25 (not bad)</a:t>
            </a:r>
          </a:p>
          <a:p>
            <a:r>
              <a:rPr lang="en-US" sz="2000" dirty="0" smtClean="0"/>
              <a:t>P (All completed on time) = P(F1)*P(F2)*P(F3)*…*P(F10) = 0.000095% (extremely small)</a:t>
            </a:r>
          </a:p>
          <a:p>
            <a:r>
              <a:rPr lang="en-US" sz="2000" b="1" dirty="0" smtClean="0"/>
              <a:t>Solution: ?</a:t>
            </a:r>
            <a:endParaRPr lang="en-US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47800"/>
          <a:ext cx="4572000" cy="5223432"/>
        </p:xfrm>
        <a:graphic>
          <a:graphicData uri="http://schemas.openxmlformats.org/drawingml/2006/table">
            <a:tbl>
              <a:tblPr firstRow="1" lastRow="1" bandRow="1">
                <a:tableStyleId>{9D7B26C5-4107-4FEC-AEDC-1716B250A1EF}</a:tableStyleId>
              </a:tblPr>
              <a:tblGrid>
                <a:gridCol w="1524000"/>
                <a:gridCol w="1524000"/>
                <a:gridCol w="1524000"/>
              </a:tblGrid>
              <a:tr h="557804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</a:t>
                      </a:r>
                    </a:p>
                  </a:txBody>
                  <a:tcPr marL="79686" marR="79686" marT="39843" marB="3984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Estimated Staff Weeks to Complete </a:t>
                      </a:r>
                    </a:p>
                  </a:txBody>
                  <a:tcPr marL="79686" marR="79686" marT="39843" marB="3984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Actual Effort </a:t>
                      </a:r>
                    </a:p>
                  </a:txBody>
                  <a:tcPr marL="79686" marR="79686" marT="39843" marB="39843" anchor="b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1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1.6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3.0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2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1.8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3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4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0.8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5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3.8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4.5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6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3.8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4.5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7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2.2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3.0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8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0.8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9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1.6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10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1.6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3.5</a:t>
                      </a:r>
                    </a:p>
                  </a:txBody>
                  <a:tcPr marL="79686" marR="79686" marT="39843" marB="39843"/>
                </a:tc>
              </a:tr>
              <a:tr h="318745"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TOTAL 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20.0 </a:t>
                      </a:r>
                    </a:p>
                  </a:txBody>
                  <a:tcPr marL="79686" marR="79686" marT="39843" marB="3984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29.0 </a:t>
                      </a:r>
                    </a:p>
                  </a:txBody>
                  <a:tcPr marL="79686" marR="79686" marT="39843" marB="39843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 Use of Ranges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24000"/>
          <a:ext cx="7848600" cy="4978402"/>
        </p:xfrm>
        <a:graphic>
          <a:graphicData uri="http://schemas.openxmlformats.org/drawingml/2006/table">
            <a:tbl>
              <a:tblPr firstRow="1" lastRow="1" bandRow="1">
                <a:tableStyleId>{9D7B26C5-4107-4FEC-AEDC-1716B250A1EF}</a:tableStyleId>
              </a:tblPr>
              <a:tblGrid>
                <a:gridCol w="2616200"/>
                <a:gridCol w="2616200"/>
                <a:gridCol w="2616200"/>
              </a:tblGrid>
              <a:tr h="312615"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</a:t>
                      </a:r>
                      <a:endParaRPr lang="en-US" sz="2000" b="1" dirty="0"/>
                    </a:p>
                  </a:txBody>
                  <a:tcPr marL="78154" marR="78154" marT="39077" marB="39077" anchor="b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/>
                        <a:t>Estimated Days to Complete </a:t>
                      </a:r>
                    </a:p>
                  </a:txBody>
                  <a:tcPr marL="78154" marR="78154" marT="39077" marB="390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69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/>
                        <a:t>Best Case </a:t>
                      </a:r>
                    </a:p>
                  </a:txBody>
                  <a:tcPr marL="78154" marR="78154" marT="39077" marB="39077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Worst Case </a:t>
                      </a:r>
                    </a:p>
                  </a:txBody>
                  <a:tcPr marL="78154" marR="78154" marT="39077" marB="39077" anchor="b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Feature 1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2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3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2.0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3.0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4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0.75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6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0.25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7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8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1.0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9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1.0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10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8154" marR="78154" marT="39077" marB="39077"/>
                </a:tc>
              </a:tr>
              <a:tr h="312615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TOTAL </a:t>
                      </a:r>
                      <a:endParaRPr lang="en-US" sz="2000" b="1"/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10.5</a:t>
                      </a:r>
                      <a:endParaRPr lang="en-US" sz="2000" b="1" dirty="0"/>
                    </a:p>
                  </a:txBody>
                  <a:tcPr marL="78154" marR="78154" marT="39077" marB="3907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18.25</a:t>
                      </a:r>
                      <a:endParaRPr lang="en-US" sz="2000" b="1" dirty="0"/>
                    </a:p>
                  </a:txBody>
                  <a:tcPr marL="78154" marR="78154" marT="39077" marB="39077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038600" y="3276600"/>
            <a:ext cx="1676400" cy="14465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/>
              <a:t>Should we use the mathematical midpoint?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/>
          <a:lstStyle/>
          <a:p>
            <a:r>
              <a:rPr lang="en-US" sz="2400" dirty="0" smtClean="0"/>
              <a:t>In many cases, the Worst Case is much worse than what's called the </a:t>
            </a:r>
            <a:r>
              <a:rPr lang="en-US" sz="2400" i="1" dirty="0" smtClean="0">
                <a:solidFill>
                  <a:srgbClr val="C00000"/>
                </a:solidFill>
              </a:rPr>
              <a:t>Expected Case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Taking the </a:t>
            </a:r>
            <a:r>
              <a:rPr lang="en-US" sz="2400" i="1" dirty="0" smtClean="0">
                <a:solidFill>
                  <a:srgbClr val="C00000"/>
                </a:solidFill>
              </a:rPr>
              <a:t>midpoints of the ranges</a:t>
            </a:r>
            <a:r>
              <a:rPr lang="en-US" sz="2400" dirty="0" smtClean="0"/>
              <a:t> could result in an </a:t>
            </a:r>
            <a:r>
              <a:rPr lang="en-US" sz="2400" u="sng" dirty="0" smtClean="0"/>
              <a:t>unnecessarily high estimate</a:t>
            </a:r>
            <a:r>
              <a:rPr lang="en-US" sz="2400" dirty="0" smtClean="0"/>
              <a:t>.</a:t>
            </a:r>
          </a:p>
        </p:txBody>
      </p:sp>
      <p:pic>
        <p:nvPicPr>
          <p:cNvPr id="99332" name="Picture 4" descr="http://www.exceluser.com/blogdata/images/post_900_516/normal-curv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600200"/>
            <a:ext cx="3333750" cy="227647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57200" y="57150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 smtClean="0">
                <a:latin typeface="Consolas" pitchFamily="49" charset="0"/>
              </a:rPr>
              <a:t>Expected Case = (Optimistic + (4 X Most Likely) + Pessimistic)/6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4008437"/>
            <a:ext cx="80772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400" dirty="0" smtClean="0">
                <a:latin typeface="+mj-lt"/>
              </a:rPr>
              <a:t>You can estimate 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Most Likely Case</a:t>
            </a:r>
            <a:r>
              <a:rPr lang="en-US" sz="2400" dirty="0" smtClean="0">
                <a:latin typeface="+mj-lt"/>
              </a:rPr>
              <a:t> using expert judgment.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You then calculate the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Expected Case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using this </a:t>
            </a:r>
            <a:r>
              <a:rPr lang="en-US" sz="2400" dirty="0" smtClean="0">
                <a:latin typeface="+mj-lt"/>
              </a:rPr>
              <a:t>formula (Program Evaluation and Review Technique (PERT))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295400"/>
          <a:ext cx="8410393" cy="5366316"/>
        </p:xfrm>
        <a:graphic>
          <a:graphicData uri="http://schemas.openxmlformats.org/drawingml/2006/table">
            <a:tbl>
              <a:tblPr firstRow="1" lastRow="1" bandRow="1">
                <a:tableStyleId>{9D7B26C5-4107-4FEC-AEDC-1716B250A1EF}</a:tableStyleId>
              </a:tblPr>
              <a:tblGrid>
                <a:gridCol w="1311483"/>
                <a:gridCol w="1878521"/>
                <a:gridCol w="1402460"/>
                <a:gridCol w="1472583"/>
                <a:gridCol w="2345346"/>
              </a:tblGrid>
              <a:tr h="517236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Feature </a:t>
                      </a:r>
                      <a:endParaRPr lang="en-US" sz="2400" dirty="0"/>
                    </a:p>
                  </a:txBody>
                  <a:tcPr marL="73891" marR="73891" marT="36945" marB="36945" anchor="b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Estimated Days to Complete </a:t>
                      </a:r>
                      <a:endParaRPr lang="en-US" sz="2400" dirty="0"/>
                    </a:p>
                  </a:txBody>
                  <a:tcPr marL="73891" marR="73891" marT="36945" marB="36945" anchor="b"/>
                </a:tc>
                <a:tc hMerge="1">
                  <a:txBody>
                    <a:bodyPr/>
                    <a:lstStyle/>
                    <a:p>
                      <a:pPr algn="l"/>
                      <a:endParaRPr lang="en-US" sz="2000" dirty="0"/>
                    </a:p>
                  </a:txBody>
                  <a:tcPr marL="73891" marR="73891" marT="36945" marB="36945" anchor="b"/>
                </a:tc>
                <a:tc hMerge="1">
                  <a:txBody>
                    <a:bodyPr/>
                    <a:lstStyle/>
                    <a:p>
                      <a:pPr algn="l"/>
                      <a:endParaRPr lang="en-US" sz="2000" dirty="0"/>
                    </a:p>
                  </a:txBody>
                  <a:tcPr marL="73891" marR="73891" marT="36945" marB="36945" anchor="b"/>
                </a:tc>
                <a:tc hMerge="1">
                  <a:txBody>
                    <a:bodyPr/>
                    <a:lstStyle/>
                    <a:p>
                      <a:pPr algn="l"/>
                      <a:endParaRPr lang="en-US" sz="2000" dirty="0"/>
                    </a:p>
                  </a:txBody>
                  <a:tcPr marL="73891" marR="73891" marT="36945" marB="36945" anchor="b"/>
                </a:tc>
              </a:tr>
              <a:tr h="517236">
                <a:tc>
                  <a:txBody>
                    <a:bodyPr/>
                    <a:lstStyle/>
                    <a:p>
                      <a:pPr algn="l"/>
                      <a:endParaRPr lang="en-US" sz="2000" dirty="0"/>
                    </a:p>
                  </a:txBody>
                  <a:tcPr marL="73891" marR="73891" marT="36945" marB="36945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Best Case </a:t>
                      </a:r>
                      <a:r>
                        <a:rPr lang="en-US" sz="2000" b="1" i="0" dirty="0" smtClean="0"/>
                        <a:t>(25% Likely)</a:t>
                      </a:r>
                      <a:endParaRPr lang="en-US" sz="2000" b="1" dirty="0" smtClean="0"/>
                    </a:p>
                  </a:txBody>
                  <a:tcPr marL="73891" marR="73891" marT="36945" marB="36945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Most Likely Case</a:t>
                      </a:r>
                    </a:p>
                  </a:txBody>
                  <a:tcPr marL="73891" marR="73891" marT="36945" marB="36945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Worst Case </a:t>
                      </a:r>
                      <a:r>
                        <a:rPr lang="en-US" sz="2000" b="1" i="0" dirty="0" smtClean="0"/>
                        <a:t>(75% Likely)</a:t>
                      </a:r>
                      <a:r>
                        <a:rPr lang="en-US" sz="2000" b="1" dirty="0" smtClean="0"/>
                        <a:t> </a:t>
                      </a:r>
                    </a:p>
                  </a:txBody>
                  <a:tcPr marL="73891" marR="73891" marT="36945" marB="36945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/>
                        <a:t>Expected Case </a:t>
                      </a:r>
                      <a:r>
                        <a:rPr lang="en-US" sz="2000" b="1" i="0" dirty="0" smtClean="0"/>
                        <a:t>(50% Likely)</a:t>
                      </a:r>
                      <a:endParaRPr lang="en-US" sz="2000" b="1" dirty="0"/>
                    </a:p>
                  </a:txBody>
                  <a:tcPr marL="73891" marR="73891" marT="36945" marB="36945" anchor="b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1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1.54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2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1.75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1.83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3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2.25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3.0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2.33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4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0.75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1.13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0.75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0.79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6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0.25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0.46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7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2.00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8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9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0.75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0.75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Feature 10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1.25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2.0</a:t>
                      </a:r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1.54 </a:t>
                      </a:r>
                    </a:p>
                  </a:txBody>
                  <a:tcPr marL="73891" marR="73891" marT="36945" marB="36945"/>
                </a:tc>
              </a:tr>
              <a:tr h="295564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TOTAL </a:t>
                      </a:r>
                      <a:endParaRPr lang="en-US" sz="2000" b="1"/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10.5 </a:t>
                      </a:r>
                      <a:endParaRPr lang="en-US" sz="2000" b="1"/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13.25 </a:t>
                      </a:r>
                      <a:endParaRPr lang="en-US" sz="2000" b="1" dirty="0"/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18.25 </a:t>
                      </a:r>
                      <a:endParaRPr lang="en-US" sz="2000" b="1"/>
                    </a:p>
                  </a:txBody>
                  <a:tcPr marL="73891" marR="73891" marT="36945" marB="3694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13.62 </a:t>
                      </a:r>
                      <a:endParaRPr lang="en-US" sz="2000" b="1" dirty="0"/>
                    </a:p>
                  </a:txBody>
                  <a:tcPr marL="73891" marR="73891" marT="36945" marB="36945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Percentage Confident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1524000"/>
          <a:ext cx="6744186" cy="4696492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723887"/>
                <a:gridCol w="5020299"/>
              </a:tblGrid>
              <a:tr h="17079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Percentage Confident </a:t>
                      </a:r>
                    </a:p>
                  </a:txBody>
                  <a:tcPr marL="42698" marR="42698" marT="21349" marB="21349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Calculation </a:t>
                      </a:r>
                    </a:p>
                  </a:txBody>
                  <a:tcPr marL="42698" marR="42698" marT="21349" marB="21349" anchor="b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- (2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- (1.28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16%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- (1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- (0.84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25%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- (0.67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30%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- (0.52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40%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- (0.25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  <a:tr h="170791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50%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60%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+ (0.25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70%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+ (0.52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75%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+ (0.67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80%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+ (0.84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84%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+ (1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90%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Expected case + (1.28 x StandardDeviation)</a:t>
                      </a:r>
                    </a:p>
                  </a:txBody>
                  <a:tcPr marL="42698" marR="42698" marT="21349" marB="21349"/>
                </a:tc>
              </a:tr>
              <a:tr h="298884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98%</a:t>
                      </a:r>
                    </a:p>
                  </a:txBody>
                  <a:tcPr marL="42698" marR="42698" marT="21349" marB="2134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Expected case + (2 x </a:t>
                      </a:r>
                      <a:r>
                        <a:rPr lang="en-US" sz="1400" dirty="0" err="1"/>
                        <a:t>StandardDeviation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42698" marR="42698" marT="21349" marB="21349"/>
                </a:tc>
              </a:tr>
            </a:tbl>
          </a:graphicData>
        </a:graphic>
      </p:graphicFrame>
      <p:pic>
        <p:nvPicPr>
          <p:cNvPr id="5" name="Picture 4" descr="http://www.exceluser.com/blogdata/images/post_900_516/normal-curv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905000"/>
            <a:ext cx="3333750" cy="2276475"/>
          </a:xfrm>
          <a:prstGeom prst="rect">
            <a:avLst/>
          </a:prstGeom>
          <a:noFill/>
        </p:spPr>
      </p:pic>
      <p:sp>
        <p:nvSpPr>
          <p:cNvPr id="1026" name="AutoShape 2" descr="mk:@MSITStore:D:\My%20Teaching\Software%20Project%20Management\References\05.1.%20Software%20Estimation\Steve%20McConnell%20(2006).%20Software%20Estimation%20-%20Demystifying%20the%20Black%20Art.%20Microsoft%20Press.chm::/14352/images/fig151_01_0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https://i.pinimg.com/originals/61/4c/e4/614ce40643a28a54d8f64b8c07058206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4526280"/>
            <a:ext cx="2023110" cy="1417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2743200"/>
            <a:ext cx="1978525" cy="201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Checklist for Individual Estimates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r>
              <a:rPr lang="en-US" sz="2400" dirty="0" smtClean="0"/>
              <a:t>Is </a:t>
            </a:r>
            <a:r>
              <a:rPr lang="en-US" sz="2400" i="1" dirty="0" smtClean="0">
                <a:solidFill>
                  <a:srgbClr val="C00000"/>
                </a:solidFill>
              </a:rPr>
              <a:t>what's</a:t>
            </a:r>
            <a:r>
              <a:rPr lang="en-US" sz="2400" dirty="0" smtClean="0"/>
              <a:t> being estimated clearly defined?</a:t>
            </a:r>
          </a:p>
          <a:p>
            <a:r>
              <a:rPr lang="en-US" sz="2400" dirty="0" smtClean="0"/>
              <a:t>Does the estimate include all the </a:t>
            </a:r>
            <a:r>
              <a:rPr lang="en-US" sz="2400" i="1" dirty="0" smtClean="0">
                <a:solidFill>
                  <a:srgbClr val="C00000"/>
                </a:solidFill>
              </a:rPr>
              <a:t>kinds of work</a:t>
            </a:r>
            <a:r>
              <a:rPr lang="en-US" sz="2400" dirty="0" smtClean="0"/>
              <a:t> needed to complete the task?</a:t>
            </a:r>
          </a:p>
          <a:p>
            <a:r>
              <a:rPr lang="en-US" sz="2400" dirty="0" smtClean="0"/>
              <a:t>Does the estimate include all the </a:t>
            </a:r>
            <a:r>
              <a:rPr lang="en-US" sz="2400" i="1" dirty="0" smtClean="0">
                <a:solidFill>
                  <a:srgbClr val="C00000"/>
                </a:solidFill>
              </a:rPr>
              <a:t>functionality areas</a:t>
            </a:r>
            <a:r>
              <a:rPr lang="en-US" sz="2400" dirty="0" smtClean="0"/>
              <a:t> needed to complete the task?</a:t>
            </a:r>
          </a:p>
          <a:p>
            <a:r>
              <a:rPr lang="en-US" sz="2400" dirty="0" smtClean="0"/>
              <a:t>Is the estimate </a:t>
            </a:r>
            <a:r>
              <a:rPr lang="en-US" sz="2400" i="1" dirty="0" smtClean="0">
                <a:solidFill>
                  <a:srgbClr val="C00000"/>
                </a:solidFill>
              </a:rPr>
              <a:t>broken down</a:t>
            </a:r>
            <a:r>
              <a:rPr lang="en-US" sz="2400" dirty="0" smtClean="0"/>
              <a:t> into enough detail to expose hidden work?</a:t>
            </a:r>
          </a:p>
          <a:p>
            <a:r>
              <a:rPr lang="en-US" sz="2400" dirty="0" smtClean="0"/>
              <a:t>Did you look at </a:t>
            </a:r>
            <a:r>
              <a:rPr lang="en-US" sz="2400" i="1" dirty="0" smtClean="0">
                <a:solidFill>
                  <a:srgbClr val="C00000"/>
                </a:solidFill>
              </a:rPr>
              <a:t>documented facts</a:t>
            </a:r>
            <a:r>
              <a:rPr lang="en-US" sz="2400" dirty="0" smtClean="0"/>
              <a:t> (written notes) from past work rather than estimating purely from </a:t>
            </a:r>
            <a:r>
              <a:rPr lang="en-US" sz="2400" u="sng" dirty="0" smtClean="0"/>
              <a:t>memory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Is the estimate approved by the </a:t>
            </a:r>
            <a:r>
              <a:rPr lang="en-US" sz="2400" i="1" dirty="0" smtClean="0">
                <a:solidFill>
                  <a:srgbClr val="C00000"/>
                </a:solidFill>
              </a:rPr>
              <a:t>person</a:t>
            </a:r>
            <a:r>
              <a:rPr lang="en-US" sz="2400" dirty="0" smtClean="0"/>
              <a:t> who will actually do the work?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Compare Estimates to </a:t>
            </a:r>
            <a:r>
              <a:rPr lang="en-US" dirty="0" err="1" smtClean="0"/>
              <a:t>Actuals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/>
          <a:lstStyle/>
          <a:p>
            <a:r>
              <a:rPr lang="en-US" sz="2000" dirty="0" smtClean="0"/>
              <a:t>Keep a list of your estimates, and fill in your </a:t>
            </a:r>
            <a:r>
              <a:rPr lang="en-US" sz="2000" i="1" dirty="0" smtClean="0">
                <a:solidFill>
                  <a:srgbClr val="C00000"/>
                </a:solidFill>
              </a:rPr>
              <a:t>actual results</a:t>
            </a:r>
            <a:r>
              <a:rPr lang="en-US" sz="2000" dirty="0" smtClean="0"/>
              <a:t> when you complete them.</a:t>
            </a:r>
          </a:p>
          <a:p>
            <a:r>
              <a:rPr lang="en-US" sz="2000" dirty="0" smtClean="0"/>
              <a:t>Then compute the </a:t>
            </a:r>
            <a:r>
              <a:rPr lang="en-US" sz="2000" i="1" dirty="0" smtClean="0">
                <a:solidFill>
                  <a:srgbClr val="C00000"/>
                </a:solidFill>
              </a:rPr>
              <a:t>Magnitude of Relative Error</a:t>
            </a:r>
            <a:r>
              <a:rPr lang="en-US" sz="2000" dirty="0" smtClean="0"/>
              <a:t> (MRE) of your estimates.</a:t>
            </a:r>
          </a:p>
          <a:p>
            <a:r>
              <a:rPr lang="en-US" sz="2000" dirty="0" smtClean="0"/>
              <a:t>When you compare your actual performance to your estimates, you should try to understand what went right, what went wrong, what you overlooked, and how to </a:t>
            </a:r>
            <a:r>
              <a:rPr lang="en-US" sz="2000" i="1" dirty="0" smtClean="0">
                <a:solidFill>
                  <a:srgbClr val="C00000"/>
                </a:solidFill>
              </a:rPr>
              <a:t>avoid</a:t>
            </a:r>
            <a:r>
              <a:rPr lang="en-US" sz="2000" dirty="0" smtClean="0"/>
              <a:t> making those mistakes in the future.</a:t>
            </a: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3962400"/>
          <a:ext cx="8153397" cy="2212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4771"/>
                <a:gridCol w="1164771"/>
                <a:gridCol w="1164771"/>
                <a:gridCol w="1164771"/>
                <a:gridCol w="1164771"/>
                <a:gridCol w="1164771"/>
                <a:gridCol w="1164771"/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en-US" sz="1500" dirty="0"/>
                    </a:p>
                  </a:txBody>
                  <a:tcPr marL="76679" marR="76679" marT="38340" marB="38340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/>
                        <a:t>Estimated Days to Complete </a:t>
                      </a:r>
                    </a:p>
                  </a:txBody>
                  <a:tcPr marL="76679" marR="76679" marT="38340" marB="3834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500"/>
                        <a:t> </a:t>
                      </a:r>
                    </a:p>
                  </a:txBody>
                  <a:tcPr marL="76679" marR="76679" marT="38340" marB="3834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61726"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Feature </a:t>
                      </a:r>
                    </a:p>
                  </a:txBody>
                  <a:tcPr marL="76679" marR="76679" marT="38340" marB="3834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Best Case </a:t>
                      </a:r>
                    </a:p>
                  </a:txBody>
                  <a:tcPr marL="76679" marR="76679" marT="38340" marB="3834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Worst Case </a:t>
                      </a:r>
                    </a:p>
                  </a:txBody>
                  <a:tcPr marL="76679" marR="76679" marT="38340" marB="3834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Expected Case </a:t>
                      </a:r>
                    </a:p>
                  </a:txBody>
                  <a:tcPr marL="76679" marR="76679" marT="38340" marB="3834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Actual Outcome </a:t>
                      </a:r>
                    </a:p>
                  </a:txBody>
                  <a:tcPr marL="76679" marR="76679" marT="38340" marB="3834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MRE </a:t>
                      </a:r>
                    </a:p>
                  </a:txBody>
                  <a:tcPr marL="76679" marR="76679" marT="38340" marB="3834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/>
                        <a:t>In Range from Best Case to Worst Case? </a:t>
                      </a:r>
                    </a:p>
                  </a:txBody>
                  <a:tcPr marL="76679" marR="76679" marT="38340" marB="38340" anchor="b"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1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1.25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1.54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23%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Yes</a:t>
                      </a:r>
                    </a:p>
                  </a:txBody>
                  <a:tcPr marL="76679" marR="76679" marT="38340" marB="38340"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2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1.5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2.5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1.83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2.5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27%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Yes</a:t>
                      </a:r>
                    </a:p>
                  </a:txBody>
                  <a:tcPr marL="76679" marR="76679" marT="38340" marB="38340"/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Feature 3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2.33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1.25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87%</a:t>
                      </a:r>
                    </a:p>
                  </a:txBody>
                  <a:tcPr marL="76679" marR="76679" marT="38340" marB="383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No</a:t>
                      </a:r>
                    </a:p>
                  </a:txBody>
                  <a:tcPr marL="76679" marR="76679" marT="38340" marB="38340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Pros &amp; Cons of Expert Opinion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0900" y="1276350"/>
            <a:ext cx="32385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9"/>
          <p:cNvGrpSpPr/>
          <p:nvPr/>
        </p:nvGrpSpPr>
        <p:grpSpPr>
          <a:xfrm>
            <a:off x="5791200" y="3581400"/>
            <a:ext cx="3124200" cy="1676400"/>
            <a:chOff x="396240" y="24719"/>
            <a:chExt cx="7071330" cy="826560"/>
          </a:xfrm>
        </p:grpSpPr>
        <p:sp>
          <p:nvSpPr>
            <p:cNvPr id="11" name="Rounded Rectangle 10"/>
            <p:cNvSpPr/>
            <p:nvPr/>
          </p:nvSpPr>
          <p:spPr>
            <a:xfrm>
              <a:off x="396240" y="24719"/>
              <a:ext cx="707133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436589" y="65068"/>
              <a:ext cx="699063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677" tIns="0" rIns="209677" bIns="0" numCol="1" spcCol="1270" anchor="ctr" anchorCtr="0">
              <a:noAutofit/>
            </a:bodyPr>
            <a:lstStyle/>
            <a:p>
              <a:pPr marL="457200" lvl="0" indent="-45720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itchFamily="2" charset="2"/>
                <a:buChar char="v"/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Cannot be quantified</a:t>
              </a:r>
            </a:p>
            <a:p>
              <a:pPr marL="457200" indent="-457200" defTabSz="800100">
                <a:lnSpc>
                  <a:spcPct val="90000"/>
                </a:lnSpc>
                <a:spcAft>
                  <a:spcPct val="35000"/>
                </a:spcAft>
                <a:buFont typeface="Wingdings" pitchFamily="2" charset="2"/>
                <a:buChar char="v"/>
              </a:pPr>
              <a:r>
                <a:rPr lang="en-US" sz="2400" dirty="0" smtClean="0">
                  <a:solidFill>
                    <a:schemeClr val="bg1"/>
                  </a:solidFill>
                </a:rPr>
                <a:t>Requires experts</a:t>
              </a:r>
            </a:p>
          </p:txBody>
        </p:sp>
      </p:grpSp>
      <p:grpSp>
        <p:nvGrpSpPr>
          <p:cNvPr id="4" name="Group 6"/>
          <p:cNvGrpSpPr/>
          <p:nvPr/>
        </p:nvGrpSpPr>
        <p:grpSpPr>
          <a:xfrm>
            <a:off x="228600" y="2514600"/>
            <a:ext cx="3276600" cy="2743200"/>
            <a:chOff x="392046" y="12059"/>
            <a:chExt cx="7056818" cy="826560"/>
          </a:xfrm>
        </p:grpSpPr>
        <p:sp>
          <p:nvSpPr>
            <p:cNvPr id="8" name="Rounded Rectangle 7"/>
            <p:cNvSpPr/>
            <p:nvPr/>
          </p:nvSpPr>
          <p:spPr>
            <a:xfrm>
              <a:off x="392046" y="12059"/>
              <a:ext cx="7056818" cy="82656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32396" y="52408"/>
              <a:ext cx="6976119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7661" tIns="0" rIns="207661" bIns="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Can be used in </a:t>
              </a:r>
            </a:p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a new business area, </a:t>
              </a:r>
            </a:p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new technology, or </a:t>
              </a:r>
            </a:p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chemeClr val="bg1"/>
                  </a:solidFill>
                </a:rPr>
                <a:t>a brand-new kind of software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Top-Down and Bottom-Up [1]</a:t>
            </a:r>
            <a:endParaRPr lang="en-US" dirty="0"/>
          </a:p>
        </p:txBody>
      </p:sp>
      <p:pic>
        <p:nvPicPr>
          <p:cNvPr id="1026" name="Picture 2" descr="Illustration of bottom up and top down estim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133600"/>
            <a:ext cx="3314700" cy="244792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81000" y="2133600"/>
            <a:ext cx="2286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Start at the component level and estimate the effort required for each component. Add these efforts to reach a final estimate.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2286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Start at the system level and assess the overall system functionality and how this is delivered through sub-systems.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5400" y="1600200"/>
            <a:ext cx="662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smtClean="0">
                <a:latin typeface="+mj-lt"/>
              </a:rPr>
              <a:t>Any of these approaches may be used top-down or bottom-up.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4953000"/>
            <a:ext cx="457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Usable when the architecture of the system is known and components identified.</a:t>
            </a:r>
          </a:p>
          <a:p>
            <a:r>
              <a:rPr lang="en-US" dirty="0" smtClean="0">
                <a:latin typeface="+mj-lt"/>
              </a:rPr>
              <a:t>It may underestimate the costs of system level activities such as integration and documentation.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3000" y="4876800"/>
            <a:ext cx="4038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Usable without knowledge of the system architecture and the components that might be part of the system.</a:t>
            </a:r>
          </a:p>
          <a:p>
            <a:r>
              <a:rPr lang="en-US" dirty="0" smtClean="0">
                <a:latin typeface="+mj-lt"/>
              </a:rPr>
              <a:t>Can underestimate the cost of solving difficult low-level technical problems.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it better to overestimate or underestimate?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1</a:t>
            </a:r>
          </a:p>
        </p:txBody>
      </p:sp>
      <p:pic>
        <p:nvPicPr>
          <p:cNvPr id="8089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1905000"/>
            <a:ext cx="7937500" cy="374808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Question 2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In most of the companies, presales and marketing gurus will set the figures and the due date even before you start communicating with your client as proceed to the analysis phase.</a:t>
            </a:r>
          </a:p>
          <a:p>
            <a:pPr eaLnBrk="1" hangingPunct="1"/>
            <a:r>
              <a:rPr lang="en-US" sz="2400" dirty="0" smtClean="0"/>
              <a:t>My question is when you can do the estimation.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 2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 smtClean="0"/>
              <a:t>In that case you can use “Price to Win” technique.</a:t>
            </a:r>
          </a:p>
          <a:p>
            <a:pPr>
              <a:defRPr/>
            </a:pPr>
            <a:r>
              <a:rPr lang="en-US" sz="2400" dirty="0" smtClean="0"/>
              <a:t>The estimated effort depends upon the customer's budget and not on the software functionality.</a:t>
            </a:r>
          </a:p>
          <a:p>
            <a:pPr>
              <a:defRPr/>
            </a:pPr>
            <a:r>
              <a:rPr lang="en-US" sz="2400" dirty="0" smtClean="0"/>
              <a:t>The estimate is made as low as necessary to win the job.</a:t>
            </a:r>
          </a:p>
          <a:p>
            <a:pPr>
              <a:defRPr/>
            </a:pPr>
            <a:r>
              <a:rPr lang="en-US" sz="2400" dirty="0" smtClean="0"/>
              <a:t>When you're asked to provide an estimate, determine whether you're supposed to be estimating or figuring out how to hit a target.</a:t>
            </a:r>
          </a:p>
          <a:p>
            <a:pPr>
              <a:defRPr/>
            </a:pPr>
            <a:r>
              <a:rPr lang="en-US" sz="2400" b="1" dirty="0" smtClean="0"/>
              <a:t>"The price-to-win technique has won a large number of software contracts for a large number of software companies. Almost all of them are out of business today."[Boehm 81], p337.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Question3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/>
              <a:t>EXECUTIVE: How long do you think this project will take? We need to have this software ready in 3 months for a trade show. I can't give you any more team members, so you'll have to do the work with your current staff. Here's a list of the features we'll need.</a:t>
            </a:r>
            <a:r>
              <a:rPr lang="en-US" sz="2200" dirty="0" smtClean="0"/>
              <a:t> </a:t>
            </a:r>
          </a:p>
          <a:p>
            <a:r>
              <a:rPr lang="en-US" sz="2200" i="1" dirty="0" smtClean="0"/>
              <a:t>PROJECT LEAD: OK, let me crunch some numbers, and get back to you.</a:t>
            </a:r>
            <a:r>
              <a:rPr lang="en-US" sz="2200" dirty="0" smtClean="0"/>
              <a:t> </a:t>
            </a:r>
          </a:p>
          <a:p>
            <a:r>
              <a:rPr lang="en-US" sz="2200" dirty="0" smtClean="0"/>
              <a:t>Later… </a:t>
            </a:r>
          </a:p>
          <a:p>
            <a:r>
              <a:rPr lang="en-US" sz="2200" i="1" dirty="0" smtClean="0"/>
              <a:t>PROJECT LEAD: We've estimated the project will take 5 months.</a:t>
            </a:r>
            <a:r>
              <a:rPr lang="en-US" sz="2200" dirty="0" smtClean="0"/>
              <a:t> </a:t>
            </a:r>
          </a:p>
          <a:p>
            <a:r>
              <a:rPr lang="en-US" sz="2200" i="1" dirty="0" smtClean="0"/>
              <a:t>EXECUTIVE: Five months!? Didn't you hear me? I said we needed to have this software ready in 3 months for a trade show!</a:t>
            </a:r>
            <a:r>
              <a:rPr lang="en-US" sz="2200" dirty="0" smtClean="0"/>
              <a:t> </a:t>
            </a:r>
          </a:p>
          <a:p>
            <a:pPr eaLnBrk="1" hangingPunct="1"/>
            <a:r>
              <a:rPr lang="en-US" sz="2200" i="1" dirty="0" smtClean="0"/>
              <a:t>PROJECT LEAD: </a:t>
            </a:r>
            <a:r>
              <a:rPr lang="en-US" sz="2200" dirty="0" smtClean="0"/>
              <a:t>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Answer 3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Software may be priced (estimated) to gain a contract and the functionality adjusted to the price.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Best Practices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Using more than one estimation technique.</a:t>
            </a:r>
          </a:p>
          <a:p>
            <a:r>
              <a:rPr lang="en-US" sz="2800" dirty="0" smtClean="0"/>
              <a:t>Including risk impact.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8002</TotalTime>
  <Words>3140</Words>
  <Application>Microsoft Office PowerPoint</Application>
  <PresentationFormat>On-screen Show (4:3)</PresentationFormat>
  <Paragraphs>772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Introduction to Software Estimation</vt:lpstr>
      <vt:lpstr>Objectives</vt:lpstr>
      <vt:lpstr>Contents</vt:lpstr>
      <vt:lpstr>References</vt:lpstr>
      <vt:lpstr>Problems</vt:lpstr>
      <vt:lpstr>Software Estimation [1]</vt:lpstr>
      <vt:lpstr>How Big is Your Software?</vt:lpstr>
      <vt:lpstr>Source Lines of Code (SLOC)</vt:lpstr>
      <vt:lpstr>How many SLOC does your Project Have?</vt:lpstr>
      <vt:lpstr>Pros &amp; Cons of SLOC</vt:lpstr>
      <vt:lpstr>Other Metrics</vt:lpstr>
      <vt:lpstr>Why Measure Software Size?</vt:lpstr>
      <vt:lpstr>Estimate vs. Commitment</vt:lpstr>
      <vt:lpstr>Why Software Estimation?</vt:lpstr>
      <vt:lpstr>What If My Estimate is Not Correct</vt:lpstr>
      <vt:lpstr>The Cone Doesn't Narrow Itself</vt:lpstr>
      <vt:lpstr>Again [2]</vt:lpstr>
      <vt:lpstr>Iterative Development</vt:lpstr>
      <vt:lpstr>Slide 19</vt:lpstr>
      <vt:lpstr>Inputs for Estimation</vt:lpstr>
      <vt:lpstr>Slide 21</vt:lpstr>
      <vt:lpstr>Count, Compute, Judge [1]</vt:lpstr>
      <vt:lpstr>1. Decide What to Count</vt:lpstr>
      <vt:lpstr>2. Convert Counts to Estimates</vt:lpstr>
      <vt:lpstr>3. Use Judgment only as a Last Resort</vt:lpstr>
      <vt:lpstr>Example (I)</vt:lpstr>
      <vt:lpstr>Example (II)</vt:lpstr>
      <vt:lpstr>Tools (I)</vt:lpstr>
      <vt:lpstr>Tools (II)</vt:lpstr>
      <vt:lpstr>Slide 30</vt:lpstr>
      <vt:lpstr>Estimation by Analogy</vt:lpstr>
      <vt:lpstr>1. Get Detailed Size, Effort, and Cost Results for a Similar Previous Project</vt:lpstr>
      <vt:lpstr>2. Compare the Size of the New Project to a Similar Past Project</vt:lpstr>
      <vt:lpstr>3. Build Up the Estimate for the New Project's Size as a Percentage of the Old Project's Size</vt:lpstr>
      <vt:lpstr>4. Create an Effort Estimate Based on the Size of the New Project Compared to the Previous Project</vt:lpstr>
      <vt:lpstr>5. Check for Consistent Assumptions Across the Old and the New Project</vt:lpstr>
      <vt:lpstr>Pros &amp; Cons of Analogy</vt:lpstr>
      <vt:lpstr>Slide 38</vt:lpstr>
      <vt:lpstr>Structured Expert Judgment</vt:lpstr>
      <vt:lpstr>Who Creates the Estimates?</vt:lpstr>
      <vt:lpstr>Estimation by Decomposition</vt:lpstr>
      <vt:lpstr>Decomposition via an  Activity-Based WBS</vt:lpstr>
      <vt:lpstr>How Many Items?</vt:lpstr>
      <vt:lpstr>Task Granularity</vt:lpstr>
      <vt:lpstr>Why Does It Works?  – The Law of Large Numbers</vt:lpstr>
      <vt:lpstr>The Issue of Best Case Estimates</vt:lpstr>
      <vt:lpstr>Solution: Use of Ranges</vt:lpstr>
      <vt:lpstr>Formulas</vt:lpstr>
      <vt:lpstr>Example</vt:lpstr>
      <vt:lpstr>Percentage Confident</vt:lpstr>
      <vt:lpstr>Checklist for Individual Estimates </vt:lpstr>
      <vt:lpstr>Compare Estimates to Actuals</vt:lpstr>
      <vt:lpstr>Pros &amp; Cons of Expert Opinion</vt:lpstr>
      <vt:lpstr>Slide 54</vt:lpstr>
      <vt:lpstr>Top-Down and Bottom-Up [1]</vt:lpstr>
      <vt:lpstr>Question 1</vt:lpstr>
      <vt:lpstr>Answer 1</vt:lpstr>
      <vt:lpstr>Question 2</vt:lpstr>
      <vt:lpstr>Answer 2</vt:lpstr>
      <vt:lpstr>Question3</vt:lpstr>
      <vt:lpstr>Answer 3</vt:lpstr>
      <vt:lpstr>Best Practices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4388</cp:revision>
  <dcterms:created xsi:type="dcterms:W3CDTF">2007-10-06T08:25:13Z</dcterms:created>
  <dcterms:modified xsi:type="dcterms:W3CDTF">2024-07-28T18:53:48Z</dcterms:modified>
</cp:coreProperties>
</file>