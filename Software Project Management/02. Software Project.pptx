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diagrams/colors1.xml" ContentType="application/vnd.openxmlformats-officedocument.drawingml.diagramColors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3.xml" ContentType="application/vnd.openxmlformats-officedocument.them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diagrams/layout1.xml" ContentType="application/vnd.openxmlformats-officedocument.drawingml.diagram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diagrams/data1.xml" ContentType="application/vnd.openxmlformats-officedocument.drawingml.diagramData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diagrams/drawing1.xml" ContentType="application/vnd.ms-office.drawingml.diagramDrawing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diagrams/quickStyle1.xml" ContentType="application/vnd.openxmlformats-officedocument.drawingml.diagramStyl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708" r:id="rId1"/>
  </p:sldMasterIdLst>
  <p:notesMasterIdLst>
    <p:notesMasterId r:id="rId31"/>
  </p:notesMasterIdLst>
  <p:handoutMasterIdLst>
    <p:handoutMasterId r:id="rId32"/>
  </p:handoutMasterIdLst>
  <p:sldIdLst>
    <p:sldId id="256" r:id="rId2"/>
    <p:sldId id="443" r:id="rId3"/>
    <p:sldId id="503" r:id="rId4"/>
    <p:sldId id="444" r:id="rId5"/>
    <p:sldId id="552" r:id="rId6"/>
    <p:sldId id="581" r:id="rId7"/>
    <p:sldId id="582" r:id="rId8"/>
    <p:sldId id="497" r:id="rId9"/>
    <p:sldId id="575" r:id="rId10"/>
    <p:sldId id="583" r:id="rId11"/>
    <p:sldId id="576" r:id="rId12"/>
    <p:sldId id="577" r:id="rId13"/>
    <p:sldId id="585" r:id="rId14"/>
    <p:sldId id="587" r:id="rId15"/>
    <p:sldId id="595" r:id="rId16"/>
    <p:sldId id="596" r:id="rId17"/>
    <p:sldId id="597" r:id="rId18"/>
    <p:sldId id="590" r:id="rId19"/>
    <p:sldId id="586" r:id="rId20"/>
    <p:sldId id="527" r:id="rId21"/>
    <p:sldId id="588" r:id="rId22"/>
    <p:sldId id="559" r:id="rId23"/>
    <p:sldId id="473" r:id="rId24"/>
    <p:sldId id="538" r:id="rId25"/>
    <p:sldId id="550" r:id="rId26"/>
    <p:sldId id="600" r:id="rId27"/>
    <p:sldId id="560" r:id="rId28"/>
    <p:sldId id="601" r:id="rId29"/>
    <p:sldId id="343" r:id="rId3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vertBarState="maximized">
    <p:restoredLeft sz="22558" autoAdjust="0"/>
    <p:restoredTop sz="75865" autoAdjust="0"/>
  </p:normalViewPr>
  <p:slideViewPr>
    <p:cSldViewPr>
      <p:cViewPr>
        <p:scale>
          <a:sx n="50" d="100"/>
          <a:sy n="50" d="100"/>
        </p:scale>
        <p:origin x="-1476" y="-10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601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76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CF631DB-08D2-4CE0-89CD-7B7DB3D2DE05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16B65B9-251E-4F7F-B6CE-484E2C72CEEE}">
      <dgm:prSet phldrT="[Text]" custT="1"/>
      <dgm:spPr>
        <a:solidFill>
          <a:schemeClr val="accent3"/>
        </a:solidFill>
      </dgm:spPr>
      <dgm:t>
        <a:bodyPr/>
        <a:lstStyle/>
        <a:p>
          <a:r>
            <a:rPr lang="en-US" sz="2000" dirty="0" smtClean="0"/>
            <a:t>Clear Objectives</a:t>
          </a:r>
        </a:p>
        <a:p>
          <a:r>
            <a:rPr lang="en-US" sz="2000" dirty="0" smtClean="0"/>
            <a:t>Unclear Methods</a:t>
          </a:r>
          <a:endParaRPr lang="en-US" sz="2000" dirty="0"/>
        </a:p>
      </dgm:t>
    </dgm:pt>
    <dgm:pt modelId="{567C6C9D-161E-4F21-8F3E-3206F2BCE3D1}" type="parTrans" cxnId="{3244B485-B3ED-47D7-B328-366D88D87961}">
      <dgm:prSet/>
      <dgm:spPr/>
      <dgm:t>
        <a:bodyPr/>
        <a:lstStyle/>
        <a:p>
          <a:endParaRPr lang="en-US"/>
        </a:p>
      </dgm:t>
    </dgm:pt>
    <dgm:pt modelId="{2322B5D0-DF03-46E0-9926-29906C2F21D4}" type="sibTrans" cxnId="{3244B485-B3ED-47D7-B328-366D88D87961}">
      <dgm:prSet/>
      <dgm:spPr/>
      <dgm:t>
        <a:bodyPr/>
        <a:lstStyle/>
        <a:p>
          <a:endParaRPr lang="en-US"/>
        </a:p>
      </dgm:t>
    </dgm:pt>
    <dgm:pt modelId="{A8668951-B0B7-4583-B991-62CD106C4E46}">
      <dgm:prSet phldrT="[Text]" custT="1"/>
      <dgm:spPr>
        <a:solidFill>
          <a:schemeClr val="accent6"/>
        </a:solidFill>
      </dgm:spPr>
      <dgm:t>
        <a:bodyPr/>
        <a:lstStyle/>
        <a:p>
          <a:r>
            <a:rPr lang="en-US" sz="2000" dirty="0" smtClean="0"/>
            <a:t>Unclear Objectives</a:t>
          </a:r>
        </a:p>
        <a:p>
          <a:r>
            <a:rPr lang="en-US" sz="2000" dirty="0" smtClean="0"/>
            <a:t>Unclear Methods</a:t>
          </a:r>
          <a:endParaRPr lang="en-US" sz="2000" dirty="0"/>
        </a:p>
      </dgm:t>
    </dgm:pt>
    <dgm:pt modelId="{21DD2F5C-AC6D-4C9A-BFB3-609CF3470D25}" type="parTrans" cxnId="{7A705D7F-3C3C-458F-A191-E61F14344FD7}">
      <dgm:prSet/>
      <dgm:spPr/>
      <dgm:t>
        <a:bodyPr/>
        <a:lstStyle/>
        <a:p>
          <a:endParaRPr lang="en-US"/>
        </a:p>
      </dgm:t>
    </dgm:pt>
    <dgm:pt modelId="{0EFF883B-768F-434B-AF6F-BDF5CD11AD65}" type="sibTrans" cxnId="{7A705D7F-3C3C-458F-A191-E61F14344FD7}">
      <dgm:prSet/>
      <dgm:spPr/>
      <dgm:t>
        <a:bodyPr/>
        <a:lstStyle/>
        <a:p>
          <a:endParaRPr lang="en-US"/>
        </a:p>
      </dgm:t>
    </dgm:pt>
    <dgm:pt modelId="{B81D18A1-285C-443B-8E4B-B7CAAFC39CA0}">
      <dgm:prSet phldrT="[Text]" custT="1"/>
      <dgm:spPr>
        <a:solidFill>
          <a:schemeClr val="accent3"/>
        </a:solidFill>
      </dgm:spPr>
      <dgm:t>
        <a:bodyPr/>
        <a:lstStyle/>
        <a:p>
          <a:r>
            <a:rPr lang="en-US" sz="2000" dirty="0" smtClean="0"/>
            <a:t>Unclear Objectives</a:t>
          </a:r>
        </a:p>
        <a:p>
          <a:r>
            <a:rPr lang="en-US" sz="2000" dirty="0" smtClean="0"/>
            <a:t>Clear Methods</a:t>
          </a:r>
          <a:endParaRPr lang="en-US" sz="2000" dirty="0"/>
        </a:p>
      </dgm:t>
    </dgm:pt>
    <dgm:pt modelId="{8B9A5EF1-D58C-42A3-8A6F-FC0D0821B583}" type="parTrans" cxnId="{63E3F2D2-8B38-4307-988C-7291E6FE25FF}">
      <dgm:prSet/>
      <dgm:spPr/>
      <dgm:t>
        <a:bodyPr/>
        <a:lstStyle/>
        <a:p>
          <a:endParaRPr lang="en-US"/>
        </a:p>
      </dgm:t>
    </dgm:pt>
    <dgm:pt modelId="{6FCEE125-C288-498E-8AC9-C3911BA40928}" type="sibTrans" cxnId="{63E3F2D2-8B38-4307-988C-7291E6FE25FF}">
      <dgm:prSet/>
      <dgm:spPr/>
      <dgm:t>
        <a:bodyPr/>
        <a:lstStyle/>
        <a:p>
          <a:endParaRPr lang="en-US"/>
        </a:p>
      </dgm:t>
    </dgm:pt>
    <dgm:pt modelId="{BCE3E836-8BF4-4E9D-828F-8BD9C34487E1}">
      <dgm:prSet custT="1"/>
      <dgm:spPr>
        <a:solidFill>
          <a:schemeClr val="accent1"/>
        </a:solidFill>
      </dgm:spPr>
      <dgm:t>
        <a:bodyPr/>
        <a:lstStyle/>
        <a:p>
          <a:r>
            <a:rPr lang="en-US" sz="2000" dirty="0" smtClean="0"/>
            <a:t>Clear Objectives</a:t>
          </a:r>
        </a:p>
        <a:p>
          <a:r>
            <a:rPr lang="en-US" sz="2000" dirty="0" smtClean="0"/>
            <a:t>Clear Methods</a:t>
          </a:r>
          <a:endParaRPr lang="en-US" sz="2000" dirty="0"/>
        </a:p>
      </dgm:t>
    </dgm:pt>
    <dgm:pt modelId="{DF2B9B1E-39E1-457A-956E-D2B9E3A0F8D7}" type="parTrans" cxnId="{DA0700DE-E07C-45B4-B7BB-A2EC18D5CFCE}">
      <dgm:prSet/>
      <dgm:spPr/>
      <dgm:t>
        <a:bodyPr/>
        <a:lstStyle/>
        <a:p>
          <a:endParaRPr lang="en-US"/>
        </a:p>
      </dgm:t>
    </dgm:pt>
    <dgm:pt modelId="{43C9947E-3979-4A57-924D-1CE712B42190}" type="sibTrans" cxnId="{DA0700DE-E07C-45B4-B7BB-A2EC18D5CFCE}">
      <dgm:prSet/>
      <dgm:spPr/>
      <dgm:t>
        <a:bodyPr/>
        <a:lstStyle/>
        <a:p>
          <a:endParaRPr lang="en-US"/>
        </a:p>
      </dgm:t>
    </dgm:pt>
    <dgm:pt modelId="{F71AF756-822E-467F-8E64-B0122181FE7D}" type="pres">
      <dgm:prSet presAssocID="{5CF631DB-08D2-4CE0-89CD-7B7DB3D2DE05}" presName="matrix" presStyleCnt="0">
        <dgm:presLayoutVars>
          <dgm:chMax val="1"/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C237398D-C5E8-4C0E-AAA8-FED91DFB4558}" type="pres">
      <dgm:prSet presAssocID="{5CF631DB-08D2-4CE0-89CD-7B7DB3D2DE05}" presName="diamond" presStyleLbl="bgShp" presStyleIdx="0" presStyleCnt="1"/>
      <dgm:spPr/>
    </dgm:pt>
    <dgm:pt modelId="{72408A6C-F803-4588-BD94-FCCE79EA21AE}" type="pres">
      <dgm:prSet presAssocID="{5CF631DB-08D2-4CE0-89CD-7B7DB3D2DE05}" presName="quad1" presStyleLbl="node1" presStyleIdx="0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DA3088C-23E2-4284-A39D-91F43CD7B529}" type="pres">
      <dgm:prSet presAssocID="{5CF631DB-08D2-4CE0-89CD-7B7DB3D2DE05}" presName="quad2" presStyleLbl="node1" presStyleIdx="1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0287DDB-CE12-470E-8ACD-BA3E6FA4543B}" type="pres">
      <dgm:prSet presAssocID="{5CF631DB-08D2-4CE0-89CD-7B7DB3D2DE05}" presName="quad3" presStyleLbl="node1" presStyleIdx="2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69F23BB-B3D9-4BA0-9271-AC1EF8027D82}" type="pres">
      <dgm:prSet presAssocID="{5CF631DB-08D2-4CE0-89CD-7B7DB3D2DE05}" presName="quad4" presStyleLbl="node1" presStyleIdx="3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485B5782-2C6E-43F6-B517-A407ECB9BE47}" type="presOf" srcId="{5CF631DB-08D2-4CE0-89CD-7B7DB3D2DE05}" destId="{F71AF756-822E-467F-8E64-B0122181FE7D}" srcOrd="0" destOrd="0" presId="urn:microsoft.com/office/officeart/2005/8/layout/matrix3"/>
    <dgm:cxn modelId="{9E8E8474-B5F6-4FB5-81E6-57C8E1A95C2D}" type="presOf" srcId="{B81D18A1-285C-443B-8E4B-B7CAAFC39CA0}" destId="{D69F23BB-B3D9-4BA0-9271-AC1EF8027D82}" srcOrd="0" destOrd="0" presId="urn:microsoft.com/office/officeart/2005/8/layout/matrix3"/>
    <dgm:cxn modelId="{DA0700DE-E07C-45B4-B7BB-A2EC18D5CFCE}" srcId="{5CF631DB-08D2-4CE0-89CD-7B7DB3D2DE05}" destId="{BCE3E836-8BF4-4E9D-828F-8BD9C34487E1}" srcOrd="2" destOrd="0" parTransId="{DF2B9B1E-39E1-457A-956E-D2B9E3A0F8D7}" sibTransId="{43C9947E-3979-4A57-924D-1CE712B42190}"/>
    <dgm:cxn modelId="{DB1F5560-C961-4A45-96D7-22DE9C457200}" type="presOf" srcId="{A8668951-B0B7-4583-B991-62CD106C4E46}" destId="{ADA3088C-23E2-4284-A39D-91F43CD7B529}" srcOrd="0" destOrd="0" presId="urn:microsoft.com/office/officeart/2005/8/layout/matrix3"/>
    <dgm:cxn modelId="{3244B485-B3ED-47D7-B328-366D88D87961}" srcId="{5CF631DB-08D2-4CE0-89CD-7B7DB3D2DE05}" destId="{316B65B9-251E-4F7F-B6CE-484E2C72CEEE}" srcOrd="0" destOrd="0" parTransId="{567C6C9D-161E-4F21-8F3E-3206F2BCE3D1}" sibTransId="{2322B5D0-DF03-46E0-9926-29906C2F21D4}"/>
    <dgm:cxn modelId="{7A705D7F-3C3C-458F-A191-E61F14344FD7}" srcId="{5CF631DB-08D2-4CE0-89CD-7B7DB3D2DE05}" destId="{A8668951-B0B7-4583-B991-62CD106C4E46}" srcOrd="1" destOrd="0" parTransId="{21DD2F5C-AC6D-4C9A-BFB3-609CF3470D25}" sibTransId="{0EFF883B-768F-434B-AF6F-BDF5CD11AD65}"/>
    <dgm:cxn modelId="{63E3F2D2-8B38-4307-988C-7291E6FE25FF}" srcId="{5CF631DB-08D2-4CE0-89CD-7B7DB3D2DE05}" destId="{B81D18A1-285C-443B-8E4B-B7CAAFC39CA0}" srcOrd="3" destOrd="0" parTransId="{8B9A5EF1-D58C-42A3-8A6F-FC0D0821B583}" sibTransId="{6FCEE125-C288-498E-8AC9-C3911BA40928}"/>
    <dgm:cxn modelId="{F2737AA0-A346-4098-9469-7A230A9620F4}" type="presOf" srcId="{BCE3E836-8BF4-4E9D-828F-8BD9C34487E1}" destId="{A0287DDB-CE12-470E-8ACD-BA3E6FA4543B}" srcOrd="0" destOrd="0" presId="urn:microsoft.com/office/officeart/2005/8/layout/matrix3"/>
    <dgm:cxn modelId="{81257DB2-BA0E-455F-935E-6B900C9EE4D1}" type="presOf" srcId="{316B65B9-251E-4F7F-B6CE-484E2C72CEEE}" destId="{72408A6C-F803-4588-BD94-FCCE79EA21AE}" srcOrd="0" destOrd="0" presId="urn:microsoft.com/office/officeart/2005/8/layout/matrix3"/>
    <dgm:cxn modelId="{E11821EB-829A-4A15-A072-3D159A028250}" type="presParOf" srcId="{F71AF756-822E-467F-8E64-B0122181FE7D}" destId="{C237398D-C5E8-4C0E-AAA8-FED91DFB4558}" srcOrd="0" destOrd="0" presId="urn:microsoft.com/office/officeart/2005/8/layout/matrix3"/>
    <dgm:cxn modelId="{1B623644-8FAB-40EA-B127-07B79E05F0CA}" type="presParOf" srcId="{F71AF756-822E-467F-8E64-B0122181FE7D}" destId="{72408A6C-F803-4588-BD94-FCCE79EA21AE}" srcOrd="1" destOrd="0" presId="urn:microsoft.com/office/officeart/2005/8/layout/matrix3"/>
    <dgm:cxn modelId="{9A6FE1DE-480D-4C47-B433-0C63C42DE5D8}" type="presParOf" srcId="{F71AF756-822E-467F-8E64-B0122181FE7D}" destId="{ADA3088C-23E2-4284-A39D-91F43CD7B529}" srcOrd="2" destOrd="0" presId="urn:microsoft.com/office/officeart/2005/8/layout/matrix3"/>
    <dgm:cxn modelId="{7D007205-EC34-4AA1-A0A8-16B7E4FEF249}" type="presParOf" srcId="{F71AF756-822E-467F-8E64-B0122181FE7D}" destId="{A0287DDB-CE12-470E-8ACD-BA3E6FA4543B}" srcOrd="3" destOrd="0" presId="urn:microsoft.com/office/officeart/2005/8/layout/matrix3"/>
    <dgm:cxn modelId="{50607A3A-B1E2-4B94-860F-C2EDCFC320AE}" type="presParOf" srcId="{F71AF756-822E-467F-8E64-B0122181FE7D}" destId="{D69F23BB-B3D9-4BA0-9271-AC1EF8027D82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C237398D-C5E8-4C0E-AAA8-FED91DFB4558}">
      <dsp:nvSpPr>
        <dsp:cNvPr id="0" name=""/>
        <dsp:cNvSpPr/>
      </dsp:nvSpPr>
      <dsp:spPr>
        <a:xfrm>
          <a:off x="1536699" y="0"/>
          <a:ext cx="5080000" cy="5080000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2408A6C-F803-4588-BD94-FCCE79EA21AE}">
      <dsp:nvSpPr>
        <dsp:cNvPr id="0" name=""/>
        <dsp:cNvSpPr/>
      </dsp:nvSpPr>
      <dsp:spPr>
        <a:xfrm>
          <a:off x="2019299" y="482600"/>
          <a:ext cx="1981200" cy="1981200"/>
        </a:xfrm>
        <a:prstGeom prst="roundRect">
          <a:avLst/>
        </a:prstGeom>
        <a:solidFill>
          <a:schemeClr val="accent3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/>
            <a:t>Clear Objectives</a:t>
          </a:r>
        </a:p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/>
            <a:t>Unclear Methods</a:t>
          </a:r>
          <a:endParaRPr lang="en-US" sz="2000" kern="1200" dirty="0"/>
        </a:p>
      </dsp:txBody>
      <dsp:txXfrm>
        <a:off x="2019299" y="482600"/>
        <a:ext cx="1981200" cy="1981200"/>
      </dsp:txXfrm>
    </dsp:sp>
    <dsp:sp modelId="{ADA3088C-23E2-4284-A39D-91F43CD7B529}">
      <dsp:nvSpPr>
        <dsp:cNvPr id="0" name=""/>
        <dsp:cNvSpPr/>
      </dsp:nvSpPr>
      <dsp:spPr>
        <a:xfrm>
          <a:off x="4152899" y="482600"/>
          <a:ext cx="1981200" cy="1981200"/>
        </a:xfrm>
        <a:prstGeom prst="roundRect">
          <a:avLst/>
        </a:prstGeom>
        <a:solidFill>
          <a:schemeClr val="accent6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/>
            <a:t>Unclear Objectives</a:t>
          </a:r>
        </a:p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/>
            <a:t>Unclear Methods</a:t>
          </a:r>
          <a:endParaRPr lang="en-US" sz="2000" kern="1200" dirty="0"/>
        </a:p>
      </dsp:txBody>
      <dsp:txXfrm>
        <a:off x="4152899" y="482600"/>
        <a:ext cx="1981200" cy="1981200"/>
      </dsp:txXfrm>
    </dsp:sp>
    <dsp:sp modelId="{A0287DDB-CE12-470E-8ACD-BA3E6FA4543B}">
      <dsp:nvSpPr>
        <dsp:cNvPr id="0" name=""/>
        <dsp:cNvSpPr/>
      </dsp:nvSpPr>
      <dsp:spPr>
        <a:xfrm>
          <a:off x="2019299" y="2616200"/>
          <a:ext cx="1981200" cy="1981200"/>
        </a:xfrm>
        <a:prstGeom prst="roundRect">
          <a:avLst/>
        </a:prstGeom>
        <a:solidFill>
          <a:schemeClr val="accent1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/>
            <a:t>Clear Objectives</a:t>
          </a:r>
        </a:p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/>
            <a:t>Clear Methods</a:t>
          </a:r>
          <a:endParaRPr lang="en-US" sz="2000" kern="1200" dirty="0"/>
        </a:p>
      </dsp:txBody>
      <dsp:txXfrm>
        <a:off x="2019299" y="2616200"/>
        <a:ext cx="1981200" cy="1981200"/>
      </dsp:txXfrm>
    </dsp:sp>
    <dsp:sp modelId="{D69F23BB-B3D9-4BA0-9271-AC1EF8027D82}">
      <dsp:nvSpPr>
        <dsp:cNvPr id="0" name=""/>
        <dsp:cNvSpPr/>
      </dsp:nvSpPr>
      <dsp:spPr>
        <a:xfrm>
          <a:off x="4152899" y="2616200"/>
          <a:ext cx="1981200" cy="1981200"/>
        </a:xfrm>
        <a:prstGeom prst="roundRect">
          <a:avLst/>
        </a:prstGeom>
        <a:solidFill>
          <a:schemeClr val="accent3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/>
            <a:t>Unclear Objectives</a:t>
          </a:r>
        </a:p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/>
            <a:t>Clear Methods</a:t>
          </a:r>
          <a:endParaRPr lang="en-US" sz="2000" kern="1200" dirty="0"/>
        </a:p>
      </dsp:txBody>
      <dsp:txXfrm>
        <a:off x="4152899" y="2616200"/>
        <a:ext cx="1981200" cy="19812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6F6B56-B206-47E3-8148-295925D85CD2}" type="datetimeFigureOut">
              <a:rPr lang="en-US" smtClean="0"/>
              <a:pPr/>
              <a:t>6/7/2026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2944A64-02B1-4818-8227-23FA0B7646E6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6E54CEF-B973-4BCD-BE04-8FC453D4C123}" type="datetimeFigureOut">
              <a:rPr lang="en-US" smtClean="0"/>
              <a:pPr/>
              <a:t>6/7/2026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4E670EC-EF90-4A84-9798-83F1F2DBB460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E670EC-EF90-4A84-9798-83F1F2DBB460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Softwar</a:t>
            </a:r>
            <a:r>
              <a:rPr lang="en-US" baseline="0" dirty="0" smtClean="0"/>
              <a:t>e is the result of a software development process (a project result).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aseline="0" dirty="0" smtClean="0"/>
              <a:t>Unique: </a:t>
            </a:r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 two projects will be identical, although they may be similar.</a:t>
            </a:r>
            <a:endParaRPr lang="en-US" baseline="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8E95B1-5ED0-4005-B293-784E4C93134E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E670EC-EF90-4A84-9798-83F1F2DBB460}" type="slidenum">
              <a:rPr lang="en-US" smtClean="0"/>
              <a:pPr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E670EC-EF90-4A84-9798-83F1F2DBB460}" type="slidenum">
              <a:rPr lang="en-US" smtClean="0"/>
              <a:pPr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Why should project</a:t>
            </a:r>
            <a:r>
              <a:rPr lang="en-US" baseline="0" dirty="0" smtClean="0"/>
              <a:t> </a:t>
            </a:r>
            <a:r>
              <a:rPr lang="en-US" dirty="0" smtClean="0"/>
              <a:t>be in control?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8E95B1-5ED0-4005-B293-784E4C93134E}" type="slidenum">
              <a:rPr lang="en-US" smtClean="0"/>
              <a:pPr/>
              <a:t>27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21B9AD-E267-41B8-AFB9-F339B3C6A571}" type="datetimeFigureOut">
              <a:rPr lang="en-US"/>
              <a:pPr>
                <a:defRPr/>
              </a:pPr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2FAA6B-5534-44A2-AEB6-C3AA6AD1372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3B7B48-E476-4875-A0CA-B0673732DFDD}" type="datetimeFigureOut">
              <a:rPr lang="en-US"/>
              <a:pPr>
                <a:defRPr/>
              </a:pPr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0A623A-42AC-4D11-AF54-DB15196F08D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F0A2C2-9A3C-44C4-9D1F-47B44EB3EF12}" type="datetimeFigureOut">
              <a:rPr lang="en-US"/>
              <a:pPr>
                <a:defRPr/>
              </a:pPr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38AB1B-E996-4ECC-822F-4BC1227516D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352965-9852-4C5D-9CFD-AA7D7C51A3F1}" type="datetimeFigureOut">
              <a:rPr lang="en-US"/>
              <a:pPr>
                <a:defRPr/>
              </a:pPr>
              <a:t>6/7/2026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6D760F-B2EC-4EEB-B282-45333B11576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ABA97A-E8D3-4153-8AD9-0AC754381ACA}" type="datetimeFigureOut">
              <a:rPr lang="en-US"/>
              <a:pPr>
                <a:defRPr/>
              </a:pPr>
              <a:t>6/7/2026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6E96F6-D03D-4FB0-942F-6504F81FF6F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F1E0C7-1AF5-43CF-B84A-415948674BE8}" type="datetimeFigureOut">
              <a:rPr lang="en-US"/>
              <a:pPr>
                <a:defRPr/>
              </a:pPr>
              <a:t>6/7/2026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B45132-88B8-4DDF-85A7-99B030F49BC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F2F585-6AB3-4A98-8C00-3FB0F428366B}" type="datetimeFigureOut">
              <a:rPr lang="en-US"/>
              <a:pPr>
                <a:defRPr/>
              </a:pPr>
              <a:t>6/7/2026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DEE648-0B22-4684-A888-DEB1CE6260B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55A04C-D082-4B30-8565-236556BDD91C}" type="datetimeFigureOut">
              <a:rPr lang="en-US"/>
              <a:pPr>
                <a:defRPr/>
              </a:pPr>
              <a:t>6/7/2026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D6D829-2DC4-4B7D-B12C-FDD216EF07F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43085A-46E4-429D-86C3-B3CDAC36DAFB}" type="datetimeFigureOut">
              <a:rPr lang="en-US"/>
              <a:pPr>
                <a:defRPr/>
              </a:pPr>
              <a:t>6/7/2026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7732C7-0A09-4095-98E8-F693C2579E3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0270D8-9F80-4CBC-9EEB-40BF8E1F9541}" type="datetimeFigureOut">
              <a:rPr lang="en-US"/>
              <a:pPr>
                <a:defRPr/>
              </a:pPr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6B142B-9F3F-466D-9D5E-77E7230DF7F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44C27D-6266-4BC5-9F9E-701F440BBF98}" type="datetimeFigureOut">
              <a:rPr lang="en-US"/>
              <a:pPr>
                <a:defRPr/>
              </a:pPr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C74873-7D28-4297-9E3C-7A8D1F19C83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3A4E31BE-3B20-405B-8063-BB6777AF4DB8}" type="datetimeFigureOut">
              <a:rPr lang="en-US"/>
              <a:pPr>
                <a:defRPr/>
              </a:pPr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9667343-960E-49C7-A8DE-9C4E4237023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nhbien@fit.hcmus.edu.vn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png"/><Relationship Id="rId4" Type="http://schemas.openxmlformats.org/officeDocument/2006/relationships/image" Target="../media/image30.jpe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e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eg"/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jpe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304800" y="2130425"/>
            <a:ext cx="8534400" cy="1470025"/>
          </a:xfrm>
        </p:spPr>
        <p:txBody>
          <a:bodyPr/>
          <a:lstStyle/>
          <a:p>
            <a:pPr eaLnBrk="1" hangingPunct="1"/>
            <a:r>
              <a:rPr lang="en-US" sz="6000" dirty="0" smtClean="0"/>
              <a:t>Software Project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 fontScale="250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8800" dirty="0" smtClean="0"/>
              <a:t>Lecturer: Ngo Huy Bien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7200" dirty="0" smtClean="0"/>
              <a:t>Software Engineering Department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7200" dirty="0" smtClean="0"/>
              <a:t>Faculty of Information Technology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7200" dirty="0" smtClean="0"/>
              <a:t>VNUHCM - University of Science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7200" dirty="0" smtClean="0"/>
              <a:t>Ho Chi Minh City, Vietnam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7200" dirty="0" smtClean="0">
                <a:hlinkClick r:id="rId2"/>
              </a:rPr>
              <a:t>nhbien@fit.hcmus.edu.vn</a:t>
            </a:r>
            <a:endParaRPr lang="en-US" sz="72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05001"/>
            <a:ext cx="5562600" cy="4114799"/>
          </a:xfrm>
        </p:spPr>
        <p:txBody>
          <a:bodyPr/>
          <a:lstStyle/>
          <a:p>
            <a:pPr marL="571500" indent="-514350">
              <a:buFont typeface="Wingdings" pitchFamily="2" charset="2"/>
              <a:buChar char="Ø"/>
            </a:pPr>
            <a:r>
              <a:rPr lang="en-US" sz="2400" dirty="0" smtClean="0"/>
              <a:t>To </a:t>
            </a:r>
            <a:r>
              <a:rPr lang="en-US" sz="2400" i="1" dirty="0" smtClean="0">
                <a:solidFill>
                  <a:srgbClr val="C00000"/>
                </a:solidFill>
              </a:rPr>
              <a:t>communicate</a:t>
            </a:r>
            <a:r>
              <a:rPr lang="en-US" sz="2400" dirty="0" smtClean="0"/>
              <a:t> in project management area.</a:t>
            </a:r>
          </a:p>
          <a:p>
            <a:pPr marL="571500" indent="-514350">
              <a:buFont typeface="Wingdings" pitchFamily="2" charset="2"/>
              <a:buChar char="Ø"/>
            </a:pPr>
            <a:r>
              <a:rPr lang="en-US" sz="2400" dirty="0" smtClean="0"/>
              <a:t>To </a:t>
            </a:r>
            <a:r>
              <a:rPr lang="en-US" sz="2400" i="1" dirty="0" smtClean="0">
                <a:solidFill>
                  <a:srgbClr val="C00000"/>
                </a:solidFill>
              </a:rPr>
              <a:t>explain</a:t>
            </a:r>
            <a:r>
              <a:rPr lang="en-US" sz="2400" dirty="0" smtClean="0"/>
              <a:t> why projects fail.</a:t>
            </a:r>
          </a:p>
          <a:p>
            <a:pPr marL="571500" indent="-514350">
              <a:buFont typeface="Wingdings" pitchFamily="2" charset="2"/>
              <a:buChar char="Ø"/>
            </a:pPr>
            <a:r>
              <a:rPr lang="en-US" sz="2400" dirty="0" smtClean="0"/>
              <a:t>To </a:t>
            </a:r>
            <a:r>
              <a:rPr lang="en-US" sz="2400" i="1" dirty="0" smtClean="0">
                <a:solidFill>
                  <a:srgbClr val="C00000"/>
                </a:solidFill>
              </a:rPr>
              <a:t>explain</a:t>
            </a:r>
            <a:r>
              <a:rPr lang="en-US" sz="2400" dirty="0" smtClean="0"/>
              <a:t> project constrains.</a:t>
            </a:r>
          </a:p>
          <a:p>
            <a:pPr marL="571500" indent="-514350">
              <a:buFont typeface="Wingdings" pitchFamily="2" charset="2"/>
              <a:buChar char="Ø"/>
            </a:pPr>
            <a:r>
              <a:rPr lang="en-US" sz="2400" dirty="0" smtClean="0"/>
              <a:t>To </a:t>
            </a:r>
            <a:r>
              <a:rPr lang="en-US" sz="2400" i="1" dirty="0" smtClean="0">
                <a:solidFill>
                  <a:srgbClr val="C00000"/>
                </a:solidFill>
              </a:rPr>
              <a:t>propose</a:t>
            </a:r>
            <a:r>
              <a:rPr lang="en-US" sz="2400" dirty="0" smtClean="0"/>
              <a:t> a project idea.</a:t>
            </a:r>
          </a:p>
          <a:p>
            <a:pPr marL="571500" indent="-514350">
              <a:buFont typeface="Wingdings" pitchFamily="2" charset="2"/>
              <a:buChar char="Ø"/>
            </a:pPr>
            <a:r>
              <a:rPr lang="en-US" sz="2400" dirty="0" smtClean="0"/>
              <a:t>To </a:t>
            </a:r>
            <a:r>
              <a:rPr lang="en-US" sz="2400" i="1" dirty="0" smtClean="0">
                <a:solidFill>
                  <a:srgbClr val="C00000"/>
                </a:solidFill>
              </a:rPr>
              <a:t>evaluate</a:t>
            </a:r>
            <a:r>
              <a:rPr lang="en-US" sz="2400" dirty="0" smtClean="0"/>
              <a:t> a project idea.</a:t>
            </a:r>
          </a:p>
          <a:p>
            <a:pPr marL="571500" indent="-514350">
              <a:buFont typeface="Wingdings" pitchFamily="2" charset="2"/>
              <a:buChar char="Ø"/>
            </a:pPr>
            <a:endParaRPr lang="en-US" sz="2400" dirty="0" smtClean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924550" y="2438400"/>
            <a:ext cx="2762250" cy="2114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477000" y="2438400"/>
            <a:ext cx="2390775" cy="2390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6096000" cy="4525963"/>
          </a:xfrm>
        </p:spPr>
        <p:txBody>
          <a:bodyPr/>
          <a:lstStyle/>
          <a:p>
            <a:pPr marL="571500" indent="-571500">
              <a:buFont typeface="+mj-lt"/>
              <a:buAutoNum type="romanUcPeriod"/>
            </a:pPr>
            <a:r>
              <a:rPr lang="en-US" sz="2400" dirty="0" smtClean="0"/>
              <a:t>Software.</a:t>
            </a:r>
          </a:p>
          <a:p>
            <a:pPr marL="571500" indent="-571500">
              <a:buFont typeface="+mj-lt"/>
              <a:buAutoNum type="romanUcPeriod"/>
            </a:pPr>
            <a:r>
              <a:rPr lang="en-US" sz="2400" dirty="0" smtClean="0"/>
              <a:t>Project.</a:t>
            </a:r>
          </a:p>
          <a:p>
            <a:pPr marL="571500" indent="-571500">
              <a:buFont typeface="+mj-lt"/>
              <a:buAutoNum type="romanUcPeriod"/>
            </a:pPr>
            <a:r>
              <a:rPr lang="en-US" sz="2400" dirty="0" smtClean="0"/>
              <a:t>Project scope &amp; product scope.</a:t>
            </a:r>
          </a:p>
          <a:p>
            <a:pPr marL="571500" indent="-571500">
              <a:buFont typeface="+mj-lt"/>
              <a:buAutoNum type="romanUcPeriod"/>
            </a:pPr>
            <a:r>
              <a:rPr lang="en-US" sz="2400" dirty="0" smtClean="0"/>
              <a:t>Project types.</a:t>
            </a:r>
          </a:p>
          <a:p>
            <a:pPr marL="571500" indent="-571500">
              <a:buFont typeface="+mj-lt"/>
              <a:buAutoNum type="romanUcPeriod"/>
            </a:pPr>
            <a:r>
              <a:rPr lang="en-US" sz="2400" dirty="0" smtClean="0"/>
              <a:t>Project failure reasons.</a:t>
            </a:r>
          </a:p>
          <a:p>
            <a:pPr marL="571500" indent="-571500">
              <a:buFont typeface="+mj-lt"/>
              <a:buAutoNum type="romanUcPeriod"/>
            </a:pPr>
            <a:r>
              <a:rPr lang="en-US" sz="2400" dirty="0" smtClean="0"/>
              <a:t>Project constraints.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8" name="Picture 4" descr="http://2.bp.blogspot.com/-FqRM_5NQE6Q/TaSdzyWfvtI/AAAAAAAAAFg/C_2LDJWJOx4/s1600/books-pile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267450" y="1809750"/>
            <a:ext cx="2724150" cy="4133850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References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4000"/>
            <a:ext cx="5715000" cy="4724400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sz="2000" dirty="0" smtClean="0"/>
              <a:t>Project Management Institute (2017). A Guide to the Project Management Body of Knowledge. 6th Edition.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 smtClean="0"/>
              <a:t>Kim </a:t>
            </a:r>
            <a:r>
              <a:rPr lang="en-US" sz="2000" dirty="0" err="1" smtClean="0"/>
              <a:t>Heldman</a:t>
            </a:r>
            <a:r>
              <a:rPr lang="en-US" sz="2000" dirty="0" smtClean="0"/>
              <a:t> (2018). PMP Project Management Professional Study Guide. </a:t>
            </a:r>
            <a:r>
              <a:rPr lang="en-US" sz="2000" dirty="0" err="1" smtClean="0"/>
              <a:t>Sybex</a:t>
            </a:r>
            <a:r>
              <a:rPr lang="en-US" sz="2000" dirty="0" smtClean="0"/>
              <a:t>.</a:t>
            </a:r>
          </a:p>
          <a:p>
            <a:pPr marL="457200" indent="-457200">
              <a:buFont typeface="+mj-lt"/>
              <a:buAutoNum type="arabicPeriod"/>
            </a:pPr>
            <a:r>
              <a:rPr lang="fr-FR" sz="2000" dirty="0" err="1" smtClean="0"/>
              <a:t>Capers</a:t>
            </a:r>
            <a:r>
              <a:rPr lang="fr-FR" sz="2000" dirty="0" smtClean="0"/>
              <a:t> Jones (2018). Software </a:t>
            </a:r>
            <a:r>
              <a:rPr lang="fr-FR" sz="2000" dirty="0" err="1" smtClean="0"/>
              <a:t>Methodologies</a:t>
            </a:r>
            <a:r>
              <a:rPr lang="fr-FR" sz="2000" dirty="0" smtClean="0"/>
              <a:t>: A Quantitative Guide. </a:t>
            </a:r>
            <a:r>
              <a:rPr lang="fr-FR" sz="2000" dirty="0" err="1" smtClean="0"/>
              <a:t>Auerbach</a:t>
            </a:r>
            <a:r>
              <a:rPr lang="fr-FR" sz="2000" dirty="0" smtClean="0"/>
              <a:t> Publications.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 smtClean="0"/>
              <a:t>William </a:t>
            </a:r>
            <a:r>
              <a:rPr lang="en-US" sz="2000" dirty="0" err="1" smtClean="0"/>
              <a:t>Trochim</a:t>
            </a:r>
            <a:r>
              <a:rPr lang="en-US" sz="2000" dirty="0" smtClean="0"/>
              <a:t> and James P. Donnelly (2007). The Research Methods Knowledge Base.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 smtClean="0"/>
              <a:t>Robert N. </a:t>
            </a:r>
            <a:r>
              <a:rPr lang="en-US" sz="2000" dirty="0" err="1" smtClean="0"/>
              <a:t>Charette</a:t>
            </a:r>
            <a:r>
              <a:rPr lang="en-US" sz="2000" dirty="0" smtClean="0"/>
              <a:t> (2005). Why Software Fails. IEEE Spectrum.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 smtClean="0"/>
              <a:t>Kathy </a:t>
            </a:r>
            <a:r>
              <a:rPr lang="en-US" sz="2000" dirty="0" err="1" smtClean="0"/>
              <a:t>Schwalbe</a:t>
            </a:r>
            <a:r>
              <a:rPr lang="en-US" sz="2000" dirty="0" smtClean="0"/>
              <a:t> (2017). An Introduction to Project Management. 6th Edition.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Foundation for Communication</a:t>
            </a:r>
            <a:endParaRPr lang="en-US" dirty="0"/>
          </a:p>
        </p:txBody>
      </p:sp>
      <p:pic>
        <p:nvPicPr>
          <p:cNvPr id="1028" name="Picture 4" descr="https://sloanreview.mit.edu/wp-content/uploads/2018/06/GEN-Tenhiala-Formality-Communication-1200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86000" y="1905000"/>
            <a:ext cx="4572000" cy="4572000"/>
          </a:xfrm>
          <a:prstGeom prst="rect">
            <a:avLst/>
          </a:prstGeom>
          <a:noFill/>
        </p:spPr>
      </p:pic>
      <p:pic>
        <p:nvPicPr>
          <p:cNvPr id="1026" name="Picture 2" descr="https://lorisidtblog.files.wordpress.com/2013/05/project-management-welcome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895600" y="1447800"/>
            <a:ext cx="3276877" cy="2089819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Software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Why care about software definition?</a:t>
            </a:r>
          </a:p>
        </p:txBody>
      </p:sp>
      <p:pic>
        <p:nvPicPr>
          <p:cNvPr id="34818" name="Picture 2" descr="https://images.ctfassets.net/63bmaubptoky/bN8WA8DIIngINpjgFBv-Q2KbyqXgPmShah4fWN0fhfs/9a4fea4ba9a96ab916db01473c11cd8c/contrato-de-software-ES-Capterra-Header-1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86000" y="3200400"/>
            <a:ext cx="4574140" cy="2402329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Software Types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Why care about software types?</a:t>
            </a:r>
          </a:p>
        </p:txBody>
      </p:sp>
      <p:pic>
        <p:nvPicPr>
          <p:cNvPr id="33794" name="Picture 2" descr="https://www.coderus.com/wp-content/uploads/2020/11/different-types-of-software-coderus-branded-image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86000" y="2692400"/>
            <a:ext cx="4876800" cy="32512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Project [1]</a:t>
            </a:r>
            <a:endParaRPr lang="en-US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590800" y="2907268"/>
            <a:ext cx="4286250" cy="3333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extBox 4"/>
          <p:cNvSpPr txBox="1"/>
          <p:nvPr/>
        </p:nvSpPr>
        <p:spPr>
          <a:xfrm>
            <a:off x="4419600" y="2362200"/>
            <a:ext cx="101329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dirty="0" smtClean="0">
                <a:latin typeface="+mj-lt"/>
              </a:rPr>
              <a:t>Budget</a:t>
            </a:r>
          </a:p>
          <a:p>
            <a:r>
              <a:rPr lang="en-US" sz="2200" b="1" dirty="0" smtClean="0">
                <a:latin typeface="+mj-lt"/>
              </a:rPr>
              <a:t>Effort</a:t>
            </a:r>
            <a:endParaRPr lang="en-US" sz="2200" b="1" dirty="0">
              <a:latin typeface="+mj-lt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934200" y="3954959"/>
            <a:ext cx="1455014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dirty="0" smtClean="0">
                <a:latin typeface="+mj-lt"/>
              </a:rPr>
              <a:t>Duration</a:t>
            </a:r>
          </a:p>
          <a:p>
            <a:r>
              <a:rPr lang="en-US" sz="2200" b="1" dirty="0" smtClean="0">
                <a:latin typeface="+mj-lt"/>
              </a:rPr>
              <a:t>(Start Date</a:t>
            </a:r>
          </a:p>
          <a:p>
            <a:r>
              <a:rPr lang="en-US" sz="2200" b="1" dirty="0" smtClean="0">
                <a:latin typeface="+mj-lt"/>
              </a:rPr>
              <a:t>End Date)</a:t>
            </a:r>
            <a:endParaRPr lang="en-US" sz="2200" b="1" dirty="0">
              <a:latin typeface="+mj-lt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096000" y="6046113"/>
            <a:ext cx="125540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dirty="0" smtClean="0">
                <a:latin typeface="+mj-lt"/>
              </a:rPr>
              <a:t>Resource</a:t>
            </a:r>
            <a:endParaRPr lang="en-US" sz="2200" b="1" dirty="0">
              <a:latin typeface="+mj-lt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752600" y="6172200"/>
            <a:ext cx="301531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dirty="0" smtClean="0">
                <a:latin typeface="+mj-lt"/>
              </a:rPr>
              <a:t>Products, </a:t>
            </a:r>
            <a:r>
              <a:rPr lang="en-US" sz="2200" b="1" dirty="0" smtClean="0"/>
              <a:t>Deliverables</a:t>
            </a:r>
            <a:endParaRPr lang="en-US" sz="2200" b="1" dirty="0" smtClean="0">
              <a:latin typeface="+mj-lt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524000" y="2831068"/>
            <a:ext cx="265489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dirty="0" smtClean="0">
                <a:latin typeface="+mj-lt"/>
              </a:rPr>
              <a:t>Requirements, Scope</a:t>
            </a:r>
            <a:endParaRPr lang="en-US" sz="2200" b="1" dirty="0">
              <a:latin typeface="+mj-lt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304800" y="1295400"/>
            <a:ext cx="84582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200" dirty="0" smtClean="0">
                <a:latin typeface="+mj-lt"/>
              </a:rPr>
              <a:t>A </a:t>
            </a:r>
            <a:r>
              <a:rPr lang="en-US" sz="2200" i="1" dirty="0" smtClean="0">
                <a:solidFill>
                  <a:srgbClr val="C00000"/>
                </a:solidFill>
                <a:latin typeface="+mj-lt"/>
              </a:rPr>
              <a:t>project</a:t>
            </a:r>
            <a:r>
              <a:rPr lang="en-US" sz="2200" dirty="0" smtClean="0">
                <a:latin typeface="+mj-lt"/>
              </a:rPr>
              <a:t> is a </a:t>
            </a:r>
            <a:r>
              <a:rPr lang="en-US" sz="2200" u="sng" dirty="0" smtClean="0">
                <a:latin typeface="+mj-lt"/>
              </a:rPr>
              <a:t>temporary endeavor</a:t>
            </a:r>
            <a:r>
              <a:rPr lang="en-US" sz="2200" dirty="0" smtClean="0">
                <a:latin typeface="+mj-lt"/>
              </a:rPr>
              <a:t> undertaken to create a </a:t>
            </a:r>
            <a:r>
              <a:rPr lang="en-US" sz="2200" u="sng" dirty="0" smtClean="0">
                <a:latin typeface="+mj-lt"/>
              </a:rPr>
              <a:t>unique</a:t>
            </a:r>
            <a:r>
              <a:rPr lang="en-US" sz="2200" dirty="0" smtClean="0">
                <a:latin typeface="+mj-lt"/>
              </a:rPr>
              <a:t> product, service, or </a:t>
            </a:r>
            <a:r>
              <a:rPr lang="en-US" sz="2200" u="sng" dirty="0" smtClean="0">
                <a:latin typeface="+mj-lt"/>
              </a:rPr>
              <a:t>result</a:t>
            </a:r>
            <a:r>
              <a:rPr lang="en-US" sz="2200" dirty="0" smtClean="0">
                <a:latin typeface="+mj-lt"/>
              </a:rPr>
              <a:t>.</a:t>
            </a:r>
            <a:endParaRPr lang="en-US" sz="2200" dirty="0">
              <a:latin typeface="+mj-lt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715000" y="3276600"/>
            <a:ext cx="124264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dirty="0" smtClean="0">
                <a:latin typeface="+mj-lt"/>
              </a:rPr>
              <a:t>Schedule</a:t>
            </a:r>
            <a:endParaRPr lang="en-US" sz="2200" b="1" dirty="0">
              <a:latin typeface="+mj-lt"/>
            </a:endParaRPr>
          </a:p>
        </p:txBody>
      </p:sp>
      <p:sp>
        <p:nvSpPr>
          <p:cNvPr id="13" name="Rounded Rectangular Callout 12"/>
          <p:cNvSpPr/>
          <p:nvPr/>
        </p:nvSpPr>
        <p:spPr>
          <a:xfrm>
            <a:off x="7315200" y="3048000"/>
            <a:ext cx="1524000" cy="533400"/>
          </a:xfrm>
          <a:prstGeom prst="wedgeRoundRectCallout">
            <a:avLst>
              <a:gd name="adj1" fmla="val -34268"/>
              <a:gd name="adj2" fmla="val 105081"/>
              <a:gd name="adj3" fmla="val 16667"/>
            </a:avLst>
          </a:prstGeom>
          <a:solidFill>
            <a:schemeClr val="accent3"/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dirty="0" smtClean="0"/>
              <a:t>Temporary</a:t>
            </a:r>
            <a:endParaRPr lang="en-US" sz="2200" dirty="0"/>
          </a:p>
        </p:txBody>
      </p:sp>
      <p:sp>
        <p:nvSpPr>
          <p:cNvPr id="14" name="Rounded Rectangular Callout 13"/>
          <p:cNvSpPr/>
          <p:nvPr/>
        </p:nvSpPr>
        <p:spPr>
          <a:xfrm>
            <a:off x="152400" y="3429000"/>
            <a:ext cx="2286000" cy="1066800"/>
          </a:xfrm>
          <a:prstGeom prst="wedgeRoundRectCallout">
            <a:avLst>
              <a:gd name="adj1" fmla="val 27663"/>
              <a:gd name="adj2" fmla="val 202362"/>
              <a:gd name="adj3" fmla="val 16667"/>
            </a:avLst>
          </a:prstGeom>
          <a:solidFill>
            <a:schemeClr val="accent2"/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u="sng" dirty="0" smtClean="0"/>
              <a:t>Unique</a:t>
            </a:r>
            <a:r>
              <a:rPr lang="en-US" sz="2200" dirty="0" smtClean="0"/>
              <a:t> product, service, or result</a:t>
            </a:r>
            <a:endParaRPr lang="en-US" sz="2200" dirty="0"/>
          </a:p>
        </p:txBody>
      </p:sp>
      <p:sp>
        <p:nvSpPr>
          <p:cNvPr id="15" name="Rounded Rectangular Callout 14"/>
          <p:cNvSpPr/>
          <p:nvPr/>
        </p:nvSpPr>
        <p:spPr>
          <a:xfrm>
            <a:off x="6781800" y="5257800"/>
            <a:ext cx="1524000" cy="533400"/>
          </a:xfrm>
          <a:prstGeom prst="wedgeRoundRectCallout">
            <a:avLst>
              <a:gd name="adj1" fmla="val -28462"/>
              <a:gd name="adj2" fmla="val 91256"/>
              <a:gd name="adj3" fmla="val 16667"/>
            </a:avLst>
          </a:prstGeom>
          <a:solidFill>
            <a:schemeClr val="accent3"/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dirty="0" smtClean="0"/>
              <a:t>Temporary</a:t>
            </a:r>
            <a:endParaRPr lang="en-US" sz="2200" dirty="0"/>
          </a:p>
        </p:txBody>
      </p:sp>
      <p:sp>
        <p:nvSpPr>
          <p:cNvPr id="16" name="Rounded Rectangular Callout 15"/>
          <p:cNvSpPr/>
          <p:nvPr/>
        </p:nvSpPr>
        <p:spPr>
          <a:xfrm>
            <a:off x="2743200" y="2133600"/>
            <a:ext cx="1524000" cy="533400"/>
          </a:xfrm>
          <a:prstGeom prst="wedgeRoundRectCallout">
            <a:avLst>
              <a:gd name="adj1" fmla="val -41042"/>
              <a:gd name="adj2" fmla="val 96786"/>
              <a:gd name="adj3" fmla="val 16667"/>
            </a:avLst>
          </a:prstGeom>
          <a:solidFill>
            <a:schemeClr val="accent3"/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dirty="0" smtClean="0"/>
              <a:t>Temporary</a:t>
            </a:r>
            <a:endParaRPr lang="en-US" sz="2200" dirty="0"/>
          </a:p>
        </p:txBody>
      </p:sp>
      <p:sp>
        <p:nvSpPr>
          <p:cNvPr id="17" name="Rounded Rectangular Callout 16"/>
          <p:cNvSpPr/>
          <p:nvPr/>
        </p:nvSpPr>
        <p:spPr>
          <a:xfrm>
            <a:off x="5638800" y="2133600"/>
            <a:ext cx="1524000" cy="533400"/>
          </a:xfrm>
          <a:prstGeom prst="wedgeRoundRectCallout">
            <a:avLst>
              <a:gd name="adj1" fmla="val -62333"/>
              <a:gd name="adj2" fmla="val 58077"/>
              <a:gd name="adj3" fmla="val 16667"/>
            </a:avLst>
          </a:prstGeom>
          <a:solidFill>
            <a:schemeClr val="accent3"/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dirty="0" smtClean="0"/>
              <a:t>Temporary</a:t>
            </a:r>
            <a:endParaRPr lang="en-US" sz="2200" dirty="0"/>
          </a:p>
        </p:txBody>
      </p:sp>
      <p:sp>
        <p:nvSpPr>
          <p:cNvPr id="20" name="TextBox 19"/>
          <p:cNvSpPr txBox="1"/>
          <p:nvPr/>
        </p:nvSpPr>
        <p:spPr>
          <a:xfrm>
            <a:off x="1981200" y="4876800"/>
            <a:ext cx="69288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dirty="0" smtClean="0">
                <a:latin typeface="+mj-lt"/>
              </a:rPr>
              <a:t>Cost</a:t>
            </a:r>
            <a:endParaRPr lang="en-US" sz="2200" b="1" dirty="0">
              <a:latin typeface="+mj-lt"/>
            </a:endParaRPr>
          </a:p>
        </p:txBody>
      </p:sp>
      <p:pic>
        <p:nvPicPr>
          <p:cNvPr id="22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81000" y="5410200"/>
            <a:ext cx="1295400" cy="12471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716" name="Picture 4" descr="https://blog.commlabindia.com/wp-content/uploads/2014/07/essentials-for-elearning-project-scope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057400" y="4572000"/>
            <a:ext cx="3200400" cy="2011680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Product Scope vs. Project Scope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2895600"/>
          </a:xfrm>
        </p:spPr>
        <p:txBody>
          <a:bodyPr/>
          <a:lstStyle/>
          <a:p>
            <a:r>
              <a:rPr lang="en-US" sz="2600" dirty="0" smtClean="0"/>
              <a:t>In the project context, the term </a:t>
            </a:r>
            <a:r>
              <a:rPr lang="en-US" sz="2600" i="1" dirty="0" smtClean="0">
                <a:solidFill>
                  <a:srgbClr val="C00000"/>
                </a:solidFill>
              </a:rPr>
              <a:t>scope</a:t>
            </a:r>
            <a:r>
              <a:rPr lang="en-US" sz="2600" dirty="0" smtClean="0"/>
              <a:t> can refer to:</a:t>
            </a:r>
          </a:p>
          <a:p>
            <a:pPr lvl="1"/>
            <a:r>
              <a:rPr lang="en-US" sz="2400" i="1" dirty="0" smtClean="0">
                <a:solidFill>
                  <a:srgbClr val="C00000"/>
                </a:solidFill>
              </a:rPr>
              <a:t>Product scope</a:t>
            </a:r>
            <a:r>
              <a:rPr lang="en-US" sz="2400" dirty="0" smtClean="0"/>
              <a:t>. The </a:t>
            </a:r>
            <a:r>
              <a:rPr lang="en-US" sz="2400" u="sng" dirty="0" smtClean="0"/>
              <a:t>features</a:t>
            </a:r>
            <a:r>
              <a:rPr lang="en-US" sz="2400" dirty="0" smtClean="0"/>
              <a:t> and functions that characterize a </a:t>
            </a:r>
            <a:r>
              <a:rPr lang="en-US" sz="2400" u="sng" dirty="0" smtClean="0"/>
              <a:t>product</a:t>
            </a:r>
            <a:r>
              <a:rPr lang="en-US" sz="2400" dirty="0" smtClean="0"/>
              <a:t>, service, or result; and/or</a:t>
            </a:r>
          </a:p>
          <a:p>
            <a:pPr lvl="1"/>
            <a:r>
              <a:rPr lang="en-US" sz="2400" i="1" dirty="0" smtClean="0">
                <a:solidFill>
                  <a:srgbClr val="C00000"/>
                </a:solidFill>
              </a:rPr>
              <a:t>Project scope</a:t>
            </a:r>
            <a:r>
              <a:rPr lang="en-US" sz="2400" dirty="0" smtClean="0"/>
              <a:t>. The work </a:t>
            </a:r>
            <a:r>
              <a:rPr lang="en-US" sz="2400" u="sng" dirty="0" smtClean="0"/>
              <a:t>performed</a:t>
            </a:r>
            <a:r>
              <a:rPr lang="en-US" sz="2400" dirty="0" smtClean="0"/>
              <a:t> to deliver a product, service, or result with the specified features and functions.</a:t>
            </a:r>
          </a:p>
          <a:p>
            <a:pPr lvl="1"/>
            <a:r>
              <a:rPr lang="en-US" sz="2400" dirty="0" smtClean="0"/>
              <a:t>The term </a:t>
            </a:r>
            <a:r>
              <a:rPr lang="en-US" sz="2400" i="1" dirty="0" smtClean="0">
                <a:solidFill>
                  <a:srgbClr val="C00000"/>
                </a:solidFill>
              </a:rPr>
              <a:t>project scope</a:t>
            </a:r>
            <a:r>
              <a:rPr lang="en-US" sz="2400" dirty="0" smtClean="0"/>
              <a:t> is sometimes viewed as </a:t>
            </a:r>
            <a:r>
              <a:rPr lang="en-US" sz="2400" u="sng" dirty="0" smtClean="0"/>
              <a:t>including product scope</a:t>
            </a:r>
            <a:r>
              <a:rPr lang="en-US" sz="2400" dirty="0" smtClean="0"/>
              <a:t>.</a:t>
            </a:r>
            <a:endParaRPr lang="en-US" sz="2400" dirty="0"/>
          </a:p>
        </p:txBody>
      </p:sp>
      <p:pic>
        <p:nvPicPr>
          <p:cNvPr id="115714" name="Picture 2" descr="https://ptgmedia.pearsoncmg.com/images/chap1_9780735664401/elementLinks/httpatomoreillycomsourcemspimages1771543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181600" y="4419600"/>
            <a:ext cx="2019478" cy="2019478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Management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600" dirty="0" smtClean="0"/>
              <a:t>Ad-hoc management.</a:t>
            </a:r>
          </a:p>
          <a:p>
            <a:r>
              <a:rPr lang="en-US" sz="2600" dirty="0" smtClean="0"/>
              <a:t>Systematic management.</a:t>
            </a:r>
            <a:endParaRPr lang="en-US" sz="2600" dirty="0"/>
          </a:p>
        </p:txBody>
      </p:sp>
      <p:pic>
        <p:nvPicPr>
          <p:cNvPr id="29698" name="Picture 2" descr="https://media.licdn.com/dms/image/D5612AQGCzPMsIGizdA/article-cover_image-shrink_600_2000/0/1700761555294?e=2147483647&amp;v=beta&amp;t=gY5SzvIQ0d1CozABiSRrv9dykg8anpk5F3rdsQOiKTs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09800" y="3200400"/>
            <a:ext cx="4923034" cy="2478974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868" name="Picture 4" descr="http://www.blogmarketingacademy.com/wp-content/uploads/2010/01/head_gears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19405" y="2362200"/>
            <a:ext cx="2423795" cy="2416810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Where Do Projects Come From? [4]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0" y="1600200"/>
            <a:ext cx="5791200" cy="4525963"/>
          </a:xfrm>
        </p:spPr>
        <p:txBody>
          <a:bodyPr/>
          <a:lstStyle/>
          <a:p>
            <a:r>
              <a:rPr lang="en-US" sz="2400" dirty="0" smtClean="0"/>
              <a:t>The </a:t>
            </a:r>
            <a:r>
              <a:rPr lang="en-US" sz="2400" i="1" dirty="0" smtClean="0">
                <a:solidFill>
                  <a:srgbClr val="C00000"/>
                </a:solidFill>
              </a:rPr>
              <a:t>requests for proposals</a:t>
            </a:r>
            <a:r>
              <a:rPr lang="en-US" sz="2400" dirty="0" smtClean="0"/>
              <a:t> (RFPs) that are published by </a:t>
            </a:r>
            <a:r>
              <a:rPr lang="en-US" sz="2400" u="sng" dirty="0" smtClean="0"/>
              <a:t>government agencies</a:t>
            </a:r>
            <a:r>
              <a:rPr lang="en-US" sz="2400" dirty="0" smtClean="0"/>
              <a:t> and some </a:t>
            </a:r>
            <a:r>
              <a:rPr lang="en-US" sz="2400" u="sng" dirty="0" smtClean="0"/>
              <a:t>organizations</a:t>
            </a:r>
            <a:r>
              <a:rPr lang="en-US" sz="2400" dirty="0" smtClean="0"/>
              <a:t>.</a:t>
            </a:r>
          </a:p>
          <a:p>
            <a:r>
              <a:rPr lang="en-US" sz="2400" dirty="0" smtClean="0"/>
              <a:t>Research projects and products</a:t>
            </a:r>
          </a:p>
          <a:p>
            <a:pPr lvl="1"/>
            <a:r>
              <a:rPr lang="en-US" sz="2000" dirty="0" smtClean="0"/>
              <a:t>The </a:t>
            </a:r>
            <a:r>
              <a:rPr lang="en-US" sz="2000" i="1" dirty="0" smtClean="0">
                <a:solidFill>
                  <a:srgbClr val="C00000"/>
                </a:solidFill>
              </a:rPr>
              <a:t>literature</a:t>
            </a:r>
            <a:r>
              <a:rPr lang="en-US" sz="2000" dirty="0" smtClean="0"/>
              <a:t> in specific field.</a:t>
            </a:r>
          </a:p>
          <a:p>
            <a:pPr lvl="1"/>
            <a:r>
              <a:rPr lang="en-US" sz="2000" dirty="0" smtClean="0"/>
              <a:t>The most common sources of projects is the experience of </a:t>
            </a:r>
            <a:r>
              <a:rPr lang="en-US" sz="2000" i="1" dirty="0" smtClean="0">
                <a:solidFill>
                  <a:srgbClr val="C00000"/>
                </a:solidFill>
              </a:rPr>
              <a:t>practical problems</a:t>
            </a:r>
            <a:r>
              <a:rPr lang="en-US" sz="2000" dirty="0" smtClean="0"/>
              <a:t> in the field.</a:t>
            </a:r>
          </a:p>
          <a:p>
            <a:pPr lvl="1"/>
            <a:r>
              <a:rPr lang="en-US" sz="2000" dirty="0" smtClean="0"/>
              <a:t>Many people simply </a:t>
            </a:r>
            <a:r>
              <a:rPr lang="en-US" sz="2000" i="1" dirty="0" smtClean="0">
                <a:solidFill>
                  <a:srgbClr val="C00000"/>
                </a:solidFill>
              </a:rPr>
              <a:t>think up</a:t>
            </a:r>
            <a:r>
              <a:rPr lang="en-US" sz="2000" dirty="0" smtClean="0"/>
              <a:t> their project on their own that are influenced by their background, culture, education, and experiences.</a:t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Requests for Proposals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 smtClean="0"/>
              <a:t>Client </a:t>
            </a:r>
            <a:r>
              <a:rPr lang="en-US" sz="2000" dirty="0" smtClean="0">
                <a:sym typeface="Wingdings" pitchFamily="2" charset="2"/>
              </a:rPr>
              <a:t> </a:t>
            </a:r>
            <a:r>
              <a:rPr lang="en-US" sz="2000" dirty="0" smtClean="0"/>
              <a:t>Budgets.</a:t>
            </a:r>
          </a:p>
          <a:p>
            <a:r>
              <a:rPr lang="en-US" sz="2000" dirty="0" smtClean="0"/>
              <a:t>Management, employees, sales, marketing, support, customer service </a:t>
            </a:r>
          </a:p>
          <a:p>
            <a:pPr>
              <a:buNone/>
            </a:pPr>
            <a:r>
              <a:rPr lang="en-US" sz="2000" dirty="0" smtClean="0">
                <a:sym typeface="Wingdings" pitchFamily="2" charset="2"/>
              </a:rPr>
              <a:t>	 </a:t>
            </a:r>
            <a:r>
              <a:rPr lang="en-US" sz="2000" dirty="0" smtClean="0"/>
              <a:t>Business process automation, bugs, specific requirements </a:t>
            </a:r>
            <a:r>
              <a:rPr lang="en-US" sz="2000" dirty="0" smtClean="0">
                <a:sym typeface="Wingdings" pitchFamily="2" charset="2"/>
              </a:rPr>
              <a:t> RFP.</a:t>
            </a:r>
            <a:endParaRPr lang="en-US" sz="2000" dirty="0" smtClean="0"/>
          </a:p>
          <a:p>
            <a:r>
              <a:rPr lang="en-US" sz="2000" dirty="0" smtClean="0">
                <a:sym typeface="Wingdings" pitchFamily="2" charset="2"/>
              </a:rPr>
              <a:t>Relationship with government agencies and </a:t>
            </a:r>
            <a:r>
              <a:rPr lang="en-US" sz="2000" dirty="0" smtClean="0"/>
              <a:t>organizations.</a:t>
            </a:r>
          </a:p>
          <a:p>
            <a:r>
              <a:rPr lang="en-US" sz="2000" dirty="0" smtClean="0">
                <a:sym typeface="Wingdings" pitchFamily="2" charset="2"/>
              </a:rPr>
              <a:t>Experiences in the field.</a:t>
            </a:r>
          </a:p>
        </p:txBody>
      </p:sp>
      <p:pic>
        <p:nvPicPr>
          <p:cNvPr id="23554" name="Picture 2" descr="https://www.logodesignworks.com/wp-content/uploads/2009/10/government-logo-designs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38200" y="3962400"/>
            <a:ext cx="3049108" cy="2287662"/>
          </a:xfrm>
          <a:prstGeom prst="rect">
            <a:avLst/>
          </a:prstGeom>
          <a:noFill/>
        </p:spPr>
      </p:pic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267200" y="3962400"/>
            <a:ext cx="4114649" cy="22516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Operations and Projects [2]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i="1" dirty="0" smtClean="0">
                <a:solidFill>
                  <a:srgbClr val="C00000"/>
                </a:solidFill>
              </a:rPr>
              <a:t>Projects</a:t>
            </a:r>
            <a:r>
              <a:rPr lang="en-US" sz="2400" dirty="0" smtClean="0"/>
              <a:t> are </a:t>
            </a:r>
            <a:r>
              <a:rPr lang="en-US" sz="2400" u="sng" dirty="0" smtClean="0"/>
              <a:t>temporary</a:t>
            </a:r>
            <a:r>
              <a:rPr lang="en-US" sz="2400" dirty="0" smtClean="0"/>
              <a:t> in nature and have definitive start dates and definitive </a:t>
            </a:r>
            <a:r>
              <a:rPr lang="en-US" sz="2400" u="sng" dirty="0" smtClean="0"/>
              <a:t>end dates</a:t>
            </a:r>
            <a:r>
              <a:rPr lang="en-US" sz="2400" dirty="0" smtClean="0"/>
              <a:t>, use </a:t>
            </a:r>
            <a:r>
              <a:rPr lang="en-US" sz="2400" u="sng" dirty="0" smtClean="0"/>
              <a:t>original</a:t>
            </a:r>
            <a:r>
              <a:rPr lang="en-US" sz="2400" dirty="0" smtClean="0"/>
              <a:t> processes, produce </a:t>
            </a:r>
            <a:r>
              <a:rPr lang="en-US" sz="2400" u="sng" dirty="0" smtClean="0"/>
              <a:t>unique</a:t>
            </a:r>
            <a:r>
              <a:rPr lang="en-US" sz="2400" dirty="0" smtClean="0"/>
              <a:t> results.</a:t>
            </a:r>
          </a:p>
          <a:p>
            <a:r>
              <a:rPr lang="en-US" sz="2400" i="1" dirty="0" smtClean="0">
                <a:solidFill>
                  <a:srgbClr val="C00000"/>
                </a:solidFill>
              </a:rPr>
              <a:t>Operations</a:t>
            </a:r>
            <a:r>
              <a:rPr lang="en-US" sz="2400" dirty="0" smtClean="0"/>
              <a:t> are </a:t>
            </a:r>
            <a:r>
              <a:rPr lang="en-US" sz="2400" u="sng" dirty="0" smtClean="0"/>
              <a:t>ongoing</a:t>
            </a:r>
            <a:r>
              <a:rPr lang="en-US" sz="2400" dirty="0" smtClean="0"/>
              <a:t> and </a:t>
            </a:r>
            <a:r>
              <a:rPr lang="en-US" sz="2400" u="sng" dirty="0" smtClean="0"/>
              <a:t>repetitive</a:t>
            </a:r>
            <a:r>
              <a:rPr lang="en-US" sz="2400" dirty="0" smtClean="0"/>
              <a:t>, use </a:t>
            </a:r>
            <a:r>
              <a:rPr lang="en-US" sz="2400" u="sng" dirty="0" smtClean="0"/>
              <a:t>the same</a:t>
            </a:r>
            <a:r>
              <a:rPr lang="en-US" sz="2400" dirty="0" smtClean="0"/>
              <a:t> processes, produce </a:t>
            </a:r>
            <a:r>
              <a:rPr lang="en-US" sz="2400" u="sng" dirty="0" smtClean="0"/>
              <a:t>the same</a:t>
            </a:r>
            <a:r>
              <a:rPr lang="en-US" sz="2400" dirty="0" smtClean="0"/>
              <a:t> results.</a:t>
            </a:r>
          </a:p>
          <a:p>
            <a:r>
              <a:rPr lang="en-US" sz="2400" dirty="0" smtClean="0"/>
              <a:t>Project may come from the need of operations improvement.</a:t>
            </a:r>
          </a:p>
          <a:p>
            <a:endParaRPr lang="en-US" sz="2400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90600" y="4419600"/>
            <a:ext cx="2926080" cy="16459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6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648200" y="4343400"/>
            <a:ext cx="3743325" cy="167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Software Project Types [3]</a:t>
            </a:r>
            <a:endParaRPr lang="en-US" dirty="0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51054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87750"/>
                <a:gridCol w="151765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i="0" dirty="0" smtClean="0"/>
                        <a:t>Type of Project</a:t>
                      </a:r>
                      <a:endParaRPr lang="en-US" sz="2400" i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i="0" kern="1200" baseline="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Number</a:t>
                      </a:r>
                      <a:endParaRPr lang="en-US" sz="2400" i="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i="0" dirty="0" smtClean="0"/>
                        <a:t>Legacy enhancements</a:t>
                      </a:r>
                      <a:endParaRPr lang="en-US" sz="2400" i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i="0" dirty="0" smtClean="0"/>
                        <a:t>22</a:t>
                      </a:r>
                      <a:endParaRPr lang="en-US" sz="2400" i="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b="1" i="1" dirty="0" smtClean="0">
                          <a:solidFill>
                            <a:srgbClr val="C00000"/>
                          </a:solidFill>
                        </a:rPr>
                        <a:t>New development</a:t>
                      </a:r>
                      <a:endParaRPr lang="en-US" sz="2400" b="1" i="1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i="1" dirty="0" smtClean="0">
                          <a:solidFill>
                            <a:srgbClr val="C00000"/>
                          </a:solidFill>
                        </a:rPr>
                        <a:t>7</a:t>
                      </a:r>
                      <a:endParaRPr lang="en-US" sz="2400" b="1" i="1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i="0" dirty="0" smtClean="0"/>
                        <a:t>ERP modifications</a:t>
                      </a:r>
                      <a:endParaRPr lang="en-US" sz="2400" i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i="0" dirty="0" smtClean="0"/>
                        <a:t>12</a:t>
                      </a:r>
                      <a:endParaRPr lang="en-US" sz="2400" i="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i="0" dirty="0" smtClean="0"/>
                        <a:t>Legacy renovations</a:t>
                      </a:r>
                      <a:endParaRPr lang="en-US" sz="2400" i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i="0" dirty="0" smtClean="0"/>
                        <a:t>4</a:t>
                      </a:r>
                      <a:endParaRPr lang="en-US" sz="2400" i="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i="0" dirty="0" smtClean="0"/>
                        <a:t>COTS modifications</a:t>
                      </a:r>
                      <a:endParaRPr lang="en-US" sz="2400" i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i="0" dirty="0" smtClean="0"/>
                        <a:t>16</a:t>
                      </a:r>
                      <a:endParaRPr lang="en-US" sz="2400" i="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i="0" dirty="0" smtClean="0"/>
                        <a:t>Open-source modifications</a:t>
                      </a:r>
                      <a:endParaRPr lang="en-US" sz="2400" i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i="0" dirty="0" smtClean="0"/>
                        <a:t>3</a:t>
                      </a:r>
                      <a:endParaRPr lang="en-US" sz="2400" i="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i="0" dirty="0" smtClean="0"/>
                        <a:t>Legacy repairs</a:t>
                      </a:r>
                      <a:endParaRPr lang="en-US" sz="2400" i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i="0" dirty="0" smtClean="0"/>
                        <a:t>30</a:t>
                      </a:r>
                      <a:endParaRPr lang="en-US" sz="2400" i="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i="0" dirty="0" smtClean="0"/>
                        <a:t>Cyber-attack recovery</a:t>
                      </a:r>
                      <a:endParaRPr lang="en-US" sz="2400" i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i="0" dirty="0" smtClean="0"/>
                        <a:t>6</a:t>
                      </a:r>
                      <a:endParaRPr lang="en-US" sz="2400" i="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b="1" i="0" dirty="0" smtClean="0"/>
                        <a:t>Total</a:t>
                      </a:r>
                      <a:endParaRPr lang="en-US" sz="2400" b="1" i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i="0" dirty="0" smtClean="0"/>
                        <a:t>100</a:t>
                      </a:r>
                      <a:endParaRPr lang="en-US" sz="2400" b="1" i="0" dirty="0"/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64514" name="Picture 2" descr="https://assets.weforum.org/editor/mIuThIr4H5h5Gt59X911hILPKI4o6R0JXq_dMH9zszQ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715000" y="1295400"/>
            <a:ext cx="3066098" cy="3214688"/>
          </a:xfrm>
          <a:prstGeom prst="rect">
            <a:avLst/>
          </a:prstGeom>
          <a:noFill/>
        </p:spPr>
      </p:pic>
      <p:sp>
        <p:nvSpPr>
          <p:cNvPr id="7" name="Rectangle 6"/>
          <p:cNvSpPr/>
          <p:nvPr/>
        </p:nvSpPr>
        <p:spPr>
          <a:xfrm>
            <a:off x="5715000" y="4648200"/>
            <a:ext cx="312420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smtClean="0">
                <a:latin typeface="+mj-lt"/>
              </a:rPr>
              <a:t>A modern mix</a:t>
            </a:r>
          </a:p>
          <a:p>
            <a:r>
              <a:rPr lang="en-US" sz="2400" b="1" dirty="0" smtClean="0">
                <a:latin typeface="+mj-lt"/>
              </a:rPr>
              <a:t>of 100 software projects in a Fortune 500 company</a:t>
            </a:r>
            <a:endParaRPr lang="en-US" sz="2400" b="1" dirty="0">
              <a:latin typeface="+mj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Research Project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Why: Organization </a:t>
            </a:r>
            <a:r>
              <a:rPr lang="en-US" sz="2400" dirty="0" smtClean="0">
                <a:sym typeface="Wingdings" pitchFamily="2" charset="2"/>
              </a:rPr>
              <a:t> Productivity, business competitiveness and opportunities.</a:t>
            </a:r>
            <a:endParaRPr lang="en-US" sz="2400" dirty="0" smtClean="0"/>
          </a:p>
          <a:p>
            <a:r>
              <a:rPr lang="en-US" sz="2400" dirty="0" smtClean="0"/>
              <a:t>Why: Group or individuals </a:t>
            </a:r>
            <a:r>
              <a:rPr lang="en-US" sz="2400" dirty="0" smtClean="0">
                <a:sym typeface="Wingdings" pitchFamily="2" charset="2"/>
              </a:rPr>
              <a:t> Business opportunities.</a:t>
            </a:r>
            <a:endParaRPr lang="en-US" sz="2400" dirty="0" smtClean="0"/>
          </a:p>
          <a:p>
            <a:r>
              <a:rPr lang="en-US" sz="2400" dirty="0" smtClean="0"/>
              <a:t>Where: Literature, Practical problems, Creativity</a:t>
            </a:r>
          </a:p>
        </p:txBody>
      </p:sp>
      <p:pic>
        <p:nvPicPr>
          <p:cNvPr id="4" name="Picture 1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14400" y="3733800"/>
            <a:ext cx="3740468" cy="21212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2" descr="https://compliancenavigator.bsigroup.com/globalassets/ai-in-medicine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029200" y="3733800"/>
            <a:ext cx="3380787" cy="2094807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Freelance Projects</a:t>
            </a:r>
            <a:endParaRPr lang="en-US" dirty="0"/>
          </a:p>
        </p:txBody>
      </p:sp>
      <p:sp>
        <p:nvSpPr>
          <p:cNvPr id="2052" name="AutoShape 4" descr="https://www.beestalent.jobs/wp-content/uploads/2022/01/6-Reasons-Why-digital-Freelancing-Is-the-Future-of-Work.jp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54" name="AutoShape 6" descr="https://www.beestalent.jobs/wp-content/uploads/2022/01/6-Reasons-Why-digital-Freelancing-Is-the-Future-of-Work.jp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055" name="Picture 7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24000" y="2438400"/>
            <a:ext cx="5794163" cy="27780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Software Development Competitions</a:t>
            </a:r>
            <a:endParaRPr lang="en-US" dirty="0"/>
          </a:p>
        </p:txBody>
      </p:sp>
      <p:pic>
        <p:nvPicPr>
          <p:cNvPr id="1026" name="Picture 2" descr="https://cdn.mycplus.com/mycplus/wp-content/uploads/2011/02/Programming_challenge-e1522093628775-1280x640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95400" y="2286000"/>
            <a:ext cx="6096000" cy="30480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Open Source Projects</a:t>
            </a:r>
            <a:endParaRPr lang="en-US" dirty="0"/>
          </a:p>
        </p:txBody>
      </p:sp>
      <p:pic>
        <p:nvPicPr>
          <p:cNvPr id="5" name="Picture 2" descr="https://miro.medium.com/v2/resize:fit:1200/1*44UXHdH0lxIvxWRvlMId-g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86000" y="2133600"/>
            <a:ext cx="4572000" cy="34290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200" dirty="0" smtClean="0"/>
              <a:t>Projects, Programs, and Portfolio [2]</a:t>
            </a:r>
            <a:endParaRPr lang="en-US" sz="4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i="1" dirty="0" smtClean="0">
                <a:solidFill>
                  <a:srgbClr val="C00000"/>
                </a:solidFill>
              </a:rPr>
              <a:t>Programs</a:t>
            </a:r>
            <a:r>
              <a:rPr lang="en-US" sz="2400" dirty="0" smtClean="0"/>
              <a:t> are </a:t>
            </a:r>
            <a:r>
              <a:rPr lang="en-US" sz="2400" u="sng" dirty="0" smtClean="0"/>
              <a:t>groups of related projects</a:t>
            </a:r>
            <a:r>
              <a:rPr lang="en-US" sz="2400" dirty="0" smtClean="0"/>
              <a:t> that are managed using the same techniques in a coordinated fashion.</a:t>
            </a:r>
          </a:p>
          <a:p>
            <a:r>
              <a:rPr lang="en-US" sz="2400" i="1" dirty="0" smtClean="0">
                <a:solidFill>
                  <a:srgbClr val="C00000"/>
                </a:solidFill>
              </a:rPr>
              <a:t>Portfolios</a:t>
            </a:r>
            <a:r>
              <a:rPr lang="en-US" sz="2400" dirty="0" smtClean="0"/>
              <a:t> are </a:t>
            </a:r>
            <a:r>
              <a:rPr lang="en-US" sz="2400" u="sng" dirty="0" smtClean="0"/>
              <a:t>collections of programs and projects</a:t>
            </a:r>
            <a:r>
              <a:rPr lang="en-US" sz="2400" dirty="0" smtClean="0"/>
              <a:t> that meet a specific </a:t>
            </a:r>
            <a:r>
              <a:rPr lang="en-US" sz="2400" u="sng" dirty="0" smtClean="0"/>
              <a:t>business goal</a:t>
            </a:r>
            <a:r>
              <a:rPr lang="en-US" sz="2400" dirty="0" smtClean="0"/>
              <a:t> or </a:t>
            </a:r>
            <a:r>
              <a:rPr lang="en-US" sz="2400" u="sng" dirty="0" smtClean="0"/>
              <a:t>objective</a:t>
            </a:r>
            <a:r>
              <a:rPr lang="en-US" sz="2400" dirty="0" smtClean="0"/>
              <a:t>.</a:t>
            </a:r>
          </a:p>
          <a:p>
            <a:endParaRPr lang="en-US" sz="2400" dirty="0"/>
          </a:p>
        </p:txBody>
      </p:sp>
      <p:pic>
        <p:nvPicPr>
          <p:cNvPr id="4" name="Picture 2" descr="https://cdn.pixabay.com/photo/2014/07/06/14/13/portfolio-385530_1280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743200" y="3581400"/>
            <a:ext cx="3901440" cy="2599944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Stakeholders [1]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304800" y="1295400"/>
            <a:ext cx="8458200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200" i="1" dirty="0" smtClean="0">
                <a:solidFill>
                  <a:srgbClr val="C00000"/>
                </a:solidFill>
                <a:latin typeface="+mj-lt"/>
              </a:rPr>
              <a:t>Stakeholders</a:t>
            </a:r>
            <a:r>
              <a:rPr lang="en-US" sz="2200" dirty="0" smtClean="0">
                <a:latin typeface="+mj-lt"/>
              </a:rPr>
              <a:t> are persons or organizations (e.g., customers, sponsors, the performing organization, or the public), who are actively </a:t>
            </a:r>
            <a:r>
              <a:rPr lang="en-US" sz="2200" u="sng" dirty="0" smtClean="0">
                <a:latin typeface="+mj-lt"/>
              </a:rPr>
              <a:t>involved in</a:t>
            </a:r>
            <a:r>
              <a:rPr lang="en-US" sz="2200" dirty="0" smtClean="0">
                <a:latin typeface="+mj-lt"/>
              </a:rPr>
              <a:t> the project or whose interests may be positively or </a:t>
            </a:r>
            <a:r>
              <a:rPr lang="en-US" sz="2200" u="sng" dirty="0" smtClean="0">
                <a:latin typeface="+mj-lt"/>
              </a:rPr>
              <a:t>negatively affected</a:t>
            </a:r>
            <a:r>
              <a:rPr lang="en-US" sz="2200" dirty="0" smtClean="0">
                <a:latin typeface="+mj-lt"/>
              </a:rPr>
              <a:t> by the performance or completion of the project.</a:t>
            </a:r>
            <a:endParaRPr lang="en-US" sz="2200" dirty="0">
              <a:latin typeface="+mj-lt"/>
            </a:endParaRP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52563" y="2895600"/>
            <a:ext cx="6238875" cy="3733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Rounded Rectangular Callout 6"/>
          <p:cNvSpPr/>
          <p:nvPr/>
        </p:nvSpPr>
        <p:spPr>
          <a:xfrm>
            <a:off x="7543800" y="2895600"/>
            <a:ext cx="1524000" cy="1219200"/>
          </a:xfrm>
          <a:prstGeom prst="wedgeRoundRectCallout">
            <a:avLst>
              <a:gd name="adj1" fmla="val -58796"/>
              <a:gd name="adj2" fmla="val 26812"/>
              <a:gd name="adj3" fmla="val 16667"/>
            </a:avLst>
          </a:prstGeom>
          <a:solidFill>
            <a:schemeClr val="bg2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rgbClr val="C00000"/>
                </a:solidFill>
              </a:rPr>
              <a:t>Human resources, finance, accounting, procurement</a:t>
            </a:r>
            <a:endParaRPr lang="en-US" sz="1400" dirty="0">
              <a:solidFill>
                <a:srgbClr val="C00000"/>
              </a:solidFill>
            </a:endParaRPr>
          </a:p>
        </p:txBody>
      </p:sp>
      <p:sp>
        <p:nvSpPr>
          <p:cNvPr id="8" name="Rounded Rectangular Callout 7"/>
          <p:cNvSpPr/>
          <p:nvPr/>
        </p:nvSpPr>
        <p:spPr>
          <a:xfrm>
            <a:off x="76200" y="2971800"/>
            <a:ext cx="1524000" cy="2057400"/>
          </a:xfrm>
          <a:prstGeom prst="wedgeRoundRectCallout">
            <a:avLst>
              <a:gd name="adj1" fmla="val 61204"/>
              <a:gd name="adj2" fmla="val -12862"/>
              <a:gd name="adj3" fmla="val 16667"/>
            </a:avLst>
          </a:prstGeom>
          <a:solidFill>
            <a:schemeClr val="bg2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rgbClr val="C00000"/>
                </a:solidFill>
              </a:rPr>
              <a:t>High-level governance of a collection of projects or programs, which may or may not be interdependent</a:t>
            </a:r>
            <a:endParaRPr lang="en-US" sz="1400" dirty="0">
              <a:solidFill>
                <a:srgbClr val="C00000"/>
              </a:solidFill>
            </a:endParaRPr>
          </a:p>
        </p:txBody>
      </p:sp>
      <p:sp>
        <p:nvSpPr>
          <p:cNvPr id="10" name="Rounded Rectangular Callout 9"/>
          <p:cNvSpPr/>
          <p:nvPr/>
        </p:nvSpPr>
        <p:spPr>
          <a:xfrm>
            <a:off x="152400" y="5638800"/>
            <a:ext cx="1524000" cy="685800"/>
          </a:xfrm>
          <a:prstGeom prst="wedgeRoundRectCallout">
            <a:avLst>
              <a:gd name="adj1" fmla="val 59268"/>
              <a:gd name="adj2" fmla="val -126840"/>
              <a:gd name="adj3" fmla="val 16667"/>
            </a:avLst>
          </a:prstGeom>
          <a:solidFill>
            <a:schemeClr val="bg2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rgbClr val="C00000"/>
                </a:solidFill>
              </a:rPr>
              <a:t>Managing related projects</a:t>
            </a:r>
            <a:endParaRPr lang="en-US" sz="1400" dirty="0">
              <a:solidFill>
                <a:srgbClr val="C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200" dirty="0" smtClean="0"/>
              <a:t>Why Clarify Stakeholders?</a:t>
            </a:r>
            <a:endParaRPr lang="en-US" sz="4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200" dirty="0" smtClean="0"/>
              <a:t>Everyone brings something unique to the team.</a:t>
            </a:r>
          </a:p>
          <a:p>
            <a:r>
              <a:rPr lang="en-US" sz="2200" dirty="0" smtClean="0"/>
              <a:t>Contracts haven't been confirmed.</a:t>
            </a:r>
          </a:p>
          <a:p>
            <a:r>
              <a:rPr lang="en-US" sz="2200" dirty="0" smtClean="0"/>
              <a:t>Equipment hasn't been delivered on time.</a:t>
            </a:r>
          </a:p>
          <a:p>
            <a:r>
              <a:rPr lang="en-US" sz="2200" dirty="0" smtClean="0"/>
              <a:t>Budgets are behind.</a:t>
            </a:r>
          </a:p>
          <a:p>
            <a:r>
              <a:rPr lang="en-US" sz="2200" dirty="0" smtClean="0"/>
              <a:t>There's no decision-maker.</a:t>
            </a:r>
            <a:endParaRPr lang="en-US" sz="2200" dirty="0"/>
          </a:p>
        </p:txBody>
      </p:sp>
      <p:pic>
        <p:nvPicPr>
          <p:cNvPr id="4" name="Picture 6" descr="https://online.lincoln.ac.uk/wp-content/uploads/2022/01/Young-team-sat-around-a-table-with-laptops-smiling-1030x579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362200" y="3902050"/>
            <a:ext cx="3767328" cy="211775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Projects Success and Failure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itchFamily="34" charset="0"/>
              <a:buChar char="•"/>
            </a:pPr>
            <a:r>
              <a:rPr lang="en-US" sz="2100" i="1" dirty="0" smtClean="0">
                <a:solidFill>
                  <a:srgbClr val="C00000"/>
                </a:solidFill>
              </a:rPr>
              <a:t>Success</a:t>
            </a:r>
            <a:r>
              <a:rPr lang="en-US" sz="2100" dirty="0" smtClean="0"/>
              <a:t>: The project is completed </a:t>
            </a:r>
            <a:r>
              <a:rPr lang="en-US" sz="2100" u="sng" dirty="0" smtClean="0"/>
              <a:t>on time</a:t>
            </a:r>
            <a:r>
              <a:rPr lang="en-US" sz="2100" dirty="0" smtClean="0"/>
              <a:t> and </a:t>
            </a:r>
            <a:r>
              <a:rPr lang="en-US" sz="2100" u="sng" dirty="0" smtClean="0"/>
              <a:t>on budget</a:t>
            </a:r>
            <a:r>
              <a:rPr lang="en-US" sz="2100" dirty="0" smtClean="0"/>
              <a:t>, with </a:t>
            </a:r>
            <a:r>
              <a:rPr lang="en-US" sz="2100" u="sng" dirty="0" smtClean="0"/>
              <a:t>all features</a:t>
            </a:r>
            <a:r>
              <a:rPr lang="en-US" sz="2100" dirty="0" smtClean="0"/>
              <a:t> and </a:t>
            </a:r>
            <a:r>
              <a:rPr lang="en-US" sz="2100" u="sng" dirty="0" smtClean="0"/>
              <a:t>functions</a:t>
            </a:r>
            <a:r>
              <a:rPr lang="en-US" sz="2100" dirty="0" smtClean="0"/>
              <a:t> originally specified and the customer is </a:t>
            </a:r>
            <a:r>
              <a:rPr lang="en-US" sz="2100" u="sng" dirty="0" smtClean="0"/>
              <a:t>happy</a:t>
            </a:r>
            <a:r>
              <a:rPr lang="en-US" sz="2100" dirty="0" smtClean="0"/>
              <a:t>.</a:t>
            </a:r>
          </a:p>
          <a:p>
            <a:pPr>
              <a:buFont typeface="Arial" pitchFamily="34" charset="0"/>
              <a:buChar char="•"/>
            </a:pPr>
            <a:r>
              <a:rPr lang="en-US" sz="2100" i="1" dirty="0" smtClean="0">
                <a:solidFill>
                  <a:srgbClr val="C00000"/>
                </a:solidFill>
              </a:rPr>
              <a:t>Challenged</a:t>
            </a:r>
            <a:r>
              <a:rPr lang="en-US" sz="2100" dirty="0" smtClean="0"/>
              <a:t>: The project is completed and operational, but </a:t>
            </a:r>
            <a:r>
              <a:rPr lang="en-US" sz="2100" u="sng" dirty="0" smtClean="0"/>
              <a:t>over budget</a:t>
            </a:r>
            <a:r>
              <a:rPr lang="en-US" sz="2100" dirty="0" smtClean="0"/>
              <a:t>, </a:t>
            </a:r>
            <a:r>
              <a:rPr lang="en-US" sz="2100" u="sng" dirty="0" smtClean="0"/>
              <a:t>late</a:t>
            </a:r>
            <a:r>
              <a:rPr lang="en-US" sz="2100" dirty="0" smtClean="0"/>
              <a:t>, and with </a:t>
            </a:r>
            <a:r>
              <a:rPr lang="en-US" sz="2100" u="sng" dirty="0" smtClean="0"/>
              <a:t>fewer features</a:t>
            </a:r>
            <a:r>
              <a:rPr lang="en-US" sz="2100" dirty="0" smtClean="0"/>
              <a:t> and functions than initially specified.</a:t>
            </a:r>
          </a:p>
          <a:p>
            <a:pPr>
              <a:buFont typeface="Arial" pitchFamily="34" charset="0"/>
              <a:buChar char="•"/>
            </a:pPr>
            <a:r>
              <a:rPr lang="en-US" sz="2100" i="1" dirty="0" smtClean="0">
                <a:solidFill>
                  <a:srgbClr val="C00000"/>
                </a:solidFill>
              </a:rPr>
              <a:t>Failure</a:t>
            </a:r>
            <a:r>
              <a:rPr lang="en-US" sz="2100" dirty="0" smtClean="0"/>
              <a:t>: The project is </a:t>
            </a:r>
            <a:r>
              <a:rPr lang="en-US" sz="2100" u="sng" dirty="0" smtClean="0"/>
              <a:t>canceled</a:t>
            </a:r>
            <a:r>
              <a:rPr lang="en-US" sz="2100" dirty="0" smtClean="0"/>
              <a:t> before completion, or delivered and </a:t>
            </a:r>
            <a:r>
              <a:rPr lang="en-US" sz="2100" u="sng" dirty="0" smtClean="0"/>
              <a:t>never used</a:t>
            </a:r>
            <a:r>
              <a:rPr lang="en-US" sz="2100" dirty="0" smtClean="0"/>
              <a:t>.</a:t>
            </a:r>
          </a:p>
        </p:txBody>
      </p:sp>
      <p:pic>
        <p:nvPicPr>
          <p:cNvPr id="4" name="Picture 2" descr="http://2.bp.blogspot.com/-x2IJ4glTntU/VOpgpf1wFBI/AAAAAAAAAPQ/ik_jBlmWw9M/s1600/Chaos-2012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057400" y="4274026"/>
            <a:ext cx="4729823" cy="2279174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Went Wrong?</a:t>
            </a:r>
            <a:endParaRPr lang="en-US" dirty="0"/>
          </a:p>
        </p:txBody>
      </p:sp>
      <p:pic>
        <p:nvPicPr>
          <p:cNvPr id="1031" name="Picture 7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38200" y="4697730"/>
            <a:ext cx="2133600" cy="16268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33" name="AutoShape 9" descr="data:image/jpeg;base64,/9j/4AAQSkZJRgABAQAAAQABAAD/2wCEAAkGBw8PEA0PDg8PEA8ODw8QEA8QDw8NDg8VFREWFhUWFRUYHSghGBolHRUVITEhJSkrLi4uFx84ODMsNygtLisBCgoKDg0OFxAQGi0dHR4tLS0tLS0tLSstLS0tLS0tLS0tLS0tLS0tLS0tLS0rLS0tLS0tLS0rLS0tLS0tLS0tLf/AABEIAOEA4QMBEQACEQEDEQH/xAAcAAEAAQUBAQAAAAAAAAAAAAAAAQIDBAUGBwj/xABIEAACAgEBBAUHBwcKBwAAAAAAAQIDBBEFEiExBgdBUWETIjJxgZGhFEJSsbLB0UNUcnOSk9IXIzM0RFNigoOjFiQlY3Sis//EABsBAQADAQEBAQAAAAAAAAAAAAABAgMEBQYH/8QAMBEBAAIBAgQDBgYDAQAAAAAAAAECEQMEEiExUQUTQQYUMlJhcRUWQoGh0SIjkfH/2gAMAwEAAhEDEQA/APcQAAAAAAAAAAAAAAKJ3RXOUV62kBbWXX9OP7SAuxmnyafqeoEgSAAAAAAAAAAAAAAAAAAAAAAAAAAGDtTalWNHesfF+jBelL1Lu8QOYv21dc/S3I/Rg9Pe+bAirjz4gZMUgKk9OKbXqbQGZjbWlBpWedHv+cvxA3dNsZpSi00+TQFwAAAAAAAAAAAAAAAAAAAAAAAAwds7Shi0zus5RXCK5zk+UV62B5pPaFmRZK216yl2dkV2JeAGwx5gZ9UwMiMwK98C3OQFzZ203RPi9a5eku7/ABIDrYtPRrimBUAAAAAAAAAAAAAAAAAAAAAAYHlXWXtnymVDFi/MxlrJd9kl2+pae9gajDu5AbfHuAz6rQMiNoFzyoFErQMa+wDpuh+f5SqVUn51L0X6D5fHVe4DoAAAABAEgQBIAAAAAAAAAAAAAIk9E2+xagfO2ZmO/Jybm9XZfbL2Ob0+GgGwxbANrj2gZ9VoGTC0C4rQIdoGPdaBndDcvdzIw7LYTj7Ut5fUwPRAAAAAAAQAAASAAAAAAAAAAAMbaT0pua5qqf2WB84YQG4xgNpQwMyqQGVFgTvgTvAWbZAV9HJaZ+Hp22SXvhID1dAAAACAAEgAAAAAAAAAAAAAAUXw3oyj9KLXvWgHzlKh12W1taOuycGv0ZNfcBsMdgbGmQGZVIDJjICrfAplMDHtmBndDKnZn0PsrVk3+w0vjID1QAAAAAAAAAAAAAAAAAAAAAAwPHOsjYzx8x3xX81l6z1S4Ka9NfU/ayJTDRY4yln0oZMMysZML8RkwqIyKJDIxrpDJh2vV1sxwhZkzWjte7XquO4ub9r+olEuzJQgABIAAAAAQBIAAAAAAAAAAAAa7b2yKsymdFq4S4xkvShLskgRLx3aeyLsO103LivRmtdyxd8fw7CsteqaWDDKrBhkRBhUMpwtzIMNn0d6Pyy5709Y0RfnS7Z/4Y/iSrbk9MqrjFRjFJRikklwSSLM1YAAAAgCQIAkABAEgAAAAAAAAAAABg7W2XTlVuu6O8ucXylB98X2MjCYnDy3pBsK3BmlLzqpPzLVwT8H3SK4a1swK7GQ15MiFgMLu8SrPJ0fRzo28jdtv1jTwcY8pWfhEmIZ2s7umqMIqMIqMYrRRXBJFmS4AAAAAACAJAAAAAAAAAAAAAAAAANR0g6Q0YMFK1705ehVHR2T8dOxeLA8429t3I2hFRmlVWpb0a4ceK5b0nz+AGpqqnHg+JWYaRdkQT7hhbjZlOPvc3oThSb5dNs7pLZjqFdkfKVRSiuyyKXBafSJUdjgZ1d8FZVJSi+7mn3NdjAyQAAAAAAQBIEAAJAAAAAAAAAAAADC2ztCOLRdfPiqoOW6ucn82K8W9EB5HKdmTZK+971lj1fdFdkV3JAbCnHiBeeMgJjiIC9Xj6AJ0JgZmxr3i2Kab8nLhZHsa7/WgO/i9dAJAAQAAkAAAAAAAAAAAAAAAAAMDgusvaG95DEi+3y1unYk/MXter9iA5zFhwITEIovflJR+i9PgMpmG2rRKq8gJYFre46ELYXU9SVcOt6N5e/VuSfnVeb4uPzX93sA24AAAAAAAAAAAAAAAAAAAAAGPm5Uaa7LZ8I1xcn+AHmmbhW32TyJ8ZWy3mue6uyPsXABClQWsuGhVrDX43nTlP6UtdPqLYZy3FQQuoC7GIFFkdOPsIWiVvf4kLTDb7KulVNWLlyku9Fmbr4STSa4ppNPvAqAAAAAAAAAAAAAAAAAAADVbV21DHe61Jy4fNk0teXFIGGj23tLy8FCa3a1JScU299p6xT9uj070hMpiGPiY+TZoq6JKL+dPSEfXxK5X4YjqxulWLHGqqg2pX3ybk/mwhHmorxbjx8GSji7NNiVkqtpVAIXoxCV6MQKbIaprwAzJbI+U0Quo0jctY2Qb0jOUeDa7m+fdxKzC9b92ojtKePJV5Fc63y85aJ+p9oymdOf0uw2HtCDgouS0Xovs0fZ7CzJtoTT5NP1cQKgAAAAAAAAAAAAAAAAABzHSi+6FtesJyxnHnCLnuWa/OS46Ncn6wK9g4cbJK5wlpD0N+LhrLvSfPTvCXRhDzfp/Y/l1cXyjRHT2yev1FZXrHJh4oMNlUTlC6iMi4mSInIhGG66IT1jeuxWL4xWpMEw3eTjwti4WRjOL5xkk0TgicOPyNk/JL9ytvyNqcq4t67rXpRXhxREckzOWx2VVpapeVsg2/Q8x1S4cuWq95KrpAJAAAAAAAAAAAAAAAAAI0AASB571m4rjZi5C5Pepl6/Sj8FL3FbNtKM8mjw7uRWJaTRs6rScs+FeVpOThVeWIynhY9+TwImV66eXXdDqHHGU3zulKfs10XwWparDU64b0sowtqbPjkQ3JNxae9CcfShLvX4BMMDZ+xLIWRndkeUUHrGMavJavscvOevqBLeBAAAAAAAAAAAAAAAAAAAAADlOsmGuDLvjdS14Pe0+psrbo10JxZwGPGSSMej04itmbXcxxE6ULqvY4keTB5dsZT5UQiyqTTJiFbTEPTtlRSooS5KqH2UbR0eXbrLLJVAAAAAAAAAAAAAAAAAAAAAAAADl+sZ/wDIy/XUfbRW3RppRmzl8GpSite4ph1RMwnIxEuKRWat66hmYM6qMe96Py0pRceK3dNdOPbyE1nCa68Teaoxak+IiFdTUZWVpGEvUyzCOcu82W9aaP1UPso0jo47dZZRKAAAAAAAAAAAAAAAAAAAAAEAADA5frH/AKhP9dR9tFL9G+3jN3K7Ms81GcS67UbGb4akomMQ23SLF02fR31OuT/zJp/aLznDm05/2OYxrTPLtmqvaV3mP1MZRWj0TY/9Xx/1Nf2UbR0ebf4pZhKqAGoEgAAAAAAAAAAAAAAAAFMnoJPo8/yutnCrnOCoyZbkpR3lGpJ6PTVay5HNO6rE4e5p+A696xbMc/usPrgw/wA2yv8Aa/iK+917NPy9rfNH8i64MP8ANsr/AGf4h73Xsfl/W+aP5a/pH1iYmfjyxqqsiFk51tOca9zzZpvVqTfZ3D3it+WER4Rq6E8dpiYhf2VDWCZaGGpylsIx3pQh2znGPvaReI5sbTylvOl+2sOimyi6+ELJw0hXrrPX5vBdnLiWvescpYbba6urPFWs4j1cbj9hm7VG2J6Vv1MiZ9VtOMy2mH1q7PrrrrdWU3XCMHpXVprFaPTz/Aj3qkcl/wAB3F54omOf3/pe/lb2f/c5f7FX8ZHvdO0p/Lu571/7P9J/la2f/c5f7ur+Me907Sn8u7rvX+f6bPo70+w8+9Y9Ub4WSjKUfKxhGMtOaTUnxL6e4recQ5d54Rr7WnHeYmPp/wCOsOh5SQAAAAAAAAAAAAgCGwI1B9mt6Q7RjjYuTfLlVTZJLvluvdXteiK3tFazLfbaXm61aR1mXzM5Pt59p5E936LXlWI7KXIYRNlLkThSbsnZnnW1pd5ppxzce91MaT17ZeO1VDjx0O+tHyOpuM2XsCuSysdPkp73uTZPDzVnUiaS8z6yMlva+dwejdLi34UwXu1TOTXrzy+g8J1v9UUw7rY1MrK4y7Gk/gdNa5h4m41IraYU7dwmq+EtSL15LbfcZs8snwlNdqlJfE828c3223mJpCUyjqiUpkLRLYbD2jLFycfIjzpsjJrvjykvdqaUtw3iWG70I19G+nPrD6VoujOMZxesZpSi12prVHsxOX5les1maz1hcCAAD7iAkAAAAQ3oBy+2enuzsVuErvKWR4OFK8o0+5tcF7zG+vSnq9Pb+EbrX5xXEfXk5q7rgp/J4Vsl/jthW/ckzCd5HZ6VPZvUn4rxH7Jo636H/SYd0fGFkLPr0JjeV9YVv7OakfDeJ/bH9txi9Zey587Z1vunXJfFao0ruaS49TwTd0/TkzesjZlabV0rH2RrhJt+16ImdxSI6q08H3V+XDh5j026cW7S0rjF040Xqq97WU32ObXD2HHq63Hyh9DsPC6bb/KednItmL1JUMlnKhloZTlm7C/rFWvia6XV5+/ifKezYKe5DTuPQh8jaObQ9Otq24ldU6J7lzlpGSSbXDjwZhrX4XqeG7Xzrc45PMs7KuyJytvsnbY+cpvV+rwRxTfPV9Pp7aNOMVjD1rodk7+LU+3dSfsR36Vsw+R3+lNNWzYbTobhLXuNLzHC5dCJ44eNZUf5y39OX1nk3nm/QdtSY06qEUdUKkyFolUmQvD0Tob1k/JKYY+XVO2FfCu2Ek5xj2RlF89O/U7NHdcMYs+b8R8CnWvOppTETPWHQ5HW1hxXmUZE36oQXvbNp3lHnU9nNzPxTENPldb1z18lhwiuxztlN/CKMp3k+kOynszWPiv/AAxF1s5uv9DRp3eeV98t2b/lvR+aW02Z1uptLJxHFPTWdNm/p/lkl9ZpXe/NDk1vZq0RnTvme0w9A2HtzGza/KY1imlwkuU4PulHmjrpeLxmHz+52urt78OpGGzLuYAAcH1v7VtxsOuNU3D5Rb5Kclwe7utta9muhz7mZinJ7Hgmnp23GdSM4eJ6nlfd99GOWDQGO6NAYlDRKswtya7yYZWmIRoSrjspcSVZqjQKcKVAZWjTyuUtwlGS7GTF8Spq7eNSuHZ7M6YeTioyb4LT0eJvG4mHk6ng9bTyaTpBtWWXOLeu7DXdT8eb+Bhq6s3ersdhGhX7tXuGWXoRpw3OwttTxvN1ajq2tOK9p0aevw8nkb3wyNa2W12j0wnZDdTfLsjp8S1tfLn0PCKVlyU3q23zbbZzTOXu1rFYiIUaAwaAwlIhOEt6BM2iOZvAi0TzTvIYTxQEGQknHV6F1Jzby8tJ+asdarsb8otPvO3aRzfLe0d4tp15er2Y9B8iAAOM6z+jN+0cWEMdp2UzVkYNqKnwaa1fJ8TPVpNo5O3YbiujqxNujxnI6M7QpeluHkRa7oOa98dUedbStHo+y2/iG3tHK8KKtkZcuCxshv8AU2fgZeVbs7fftCI53htMXoTtS30cOxJ9s3Ctf+zL12+pPo5tTxjZ1/W2tPVbtOXpfJ4eDt3n8EaxtL+rhv7QbeOmZW83qp2lGLcHj2P6KscW/etC/u1o5sJ8c0b+kw4r5PKtyrmtJwlKMlqno09GtfYct55vc21c6cT35m6Uy34TdJycKdCMrcJoE4SCeUZhXi491z0qrssfdCEp6e4vFJnpDlvuq0+O0QzLOjuelq8TI0/VSLxpW7Oad/t56XatqyE9yUZRfbGacWl6mRakRHNpo7ibXiKTmGQYPURoEG6MowaBODQGG36MdGr9pXqmrSMYLettl6Na7OHa33G+jpzecPL8S3tdrWLW59npNXVDibvnZWS56cXHyMY6+pxf1nZ7pV85PtHr+lYwwMzqff5DM9Stq++LKzs+0ttP2jt+un/GkyeqzaUfQ+T2LvVm59aMp2l3dT2i289YmEY3VbtObSmqKo9snbv6eyIrtLmr7QbbH+OZl6X0K6HVbLhPdm7brdPKWNKK0XKMV2I7dLSij5nf7++7vmeUQ6g1cAAAjQBoA0IwZRoSDQGt6QZixsXKvf5KqcvbpwKXnhrMuja6c6mtWneXzZNttt8W2233tvVnjTOZfplKRWsVj0U6ELYNAYNAYNAnAxCJ5Q+iOhtUPkGDKFcIb+PVJqEVBNuC1fA9jSiOCH5vv7T7xeM+st3uGjjy8F6xNrzyc++L0UMaTqhFadnpSfe2/uPL3N5m+H3vge3pTbxaOc26uYOZ7XoAAAADqOr7pItn5Wtn9BelC1/Q+jL2P4M6Ntq8Fnj+M7Gd1o5r8Vej3um2M4xlFqUZJSjJPVNNcGj1YnMPz+1ZrM1nrC4SgAgBoBIAAAAAAAADlus1/wDSs79CH/0gZa3wS7vDZxuqS+et/wATycP0CNScJ32MLeZKd9kYTxynfYwnjk3/ABGE8bP2RsXJzZKvGqnY29HLRquH6U+SNNPTm08nFu99paNJm9v2fRmwcD5NjY2O3vOimutvvcYpNnrUriMPz/cavm6tr95Z2hZi+dOneycjHzsuy2qcYW3SshZut1yUnw87lr4Hm69J4pmX2nhO5050q1iecOeU/H4nNh7UX7Sq3/EYX4/qb/iMHH9Ub/iMHH9Tf8fiMI447nlF3/EnCPMju+kOg602bs7/AMWl++CZ62j8EPzzf89zqfeW9NHGAAAAAAAAAAEAAKLaozTjKKlF8Gmk0/WmR16kTMdGts6OYMvSxMd/6UCOCvZvXda0dLSx59DtmS54WP8AsJFfKp2aRv8AcR0vK0+g2yvzKn3Mjyq9lvxHc/PKY9B9lr+xU/s6k+TTsfiO5+eWXj9GsCv0MTHWn/bi/rLRp1j0ZW3etfraW0hBRSUUkl2JaJFmEzM9VYQAUyimtGtV3PigRPZhW7HxZvWWNQ33uqD+4rNYaV1tSOkyt/8AD+F+aY/7qH4EcFey/vOr80pWwsNf2Wj91D8CeGvZE7jV+aV2OycZcsehf6UPwHDHZWdbU9Zlcjg0rlTUvVXD8CcQjzL95VrFrX5OH7MRiEcdu66kSqkAAAAAAEMCQAAABAEkSIIQBIAJQEJgLCQAEAgQJSEIQBhIEgQICQAAAAAAf//Z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35" name="AutoShape 11" descr="data:image/jpeg;base64,/9j/4AAQSkZJRgABAQAAAQABAAD/2wCEAAkGBw8PEA0PDg8PEA8ODw8QEA8QDw8NDg8VFREWFhUWFRUYHSghGBolHRUVITEhJSkrLi4uFx84ODMsNygtLisBCgoKDg0OFxAQGi0dHR4tLS0tLS0tLSstLS0tLS0tLS0tLS0tLS0tLS0tLS0rLS0tLS0tLS0rLS0tLS0tLS0tLf/AABEIAOEA4QMBEQACEQEDEQH/xAAcAAEAAQUBAQAAAAAAAAAAAAAAAQIDBAUGBwj/xABIEAACAgEBBAUHBwcKBwAAAAAAAQIDBBEFEiExBgdBUWETIjJxgZGhFEJSsbLB0UNUcnOSk9IXIzM0RFNigoOjFiQlY3Sis//EABsBAQADAQEBAQAAAAAAAAAAAAABAgMEBQYH/8QAMBEBAAIBAgQDBgYDAQAAAAAAAAECEQMEEiExUQUTQQYUMlJhcRUWQoGh0SIjkfH/2gAMAwEAAhEDEQA/APcQAAAAAAAAAAAAAAKJ3RXOUV62kBbWXX9OP7SAuxmnyafqeoEgSAAAAAAAAAAAAAAAAAAAAAAAAAAGDtTalWNHesfF+jBelL1Lu8QOYv21dc/S3I/Rg9Pe+bAirjz4gZMUgKk9OKbXqbQGZjbWlBpWedHv+cvxA3dNsZpSi00+TQFwAAAAAAAAAAAAAAAAAAAAAAAAwds7Shi0zus5RXCK5zk+UV62B5pPaFmRZK216yl2dkV2JeAGwx5gZ9UwMiMwK98C3OQFzZ203RPi9a5eku7/ABIDrYtPRrimBUAAAAAAAAAAAAAAAAAAAAAAYHlXWXtnymVDFi/MxlrJd9kl2+pae9gajDu5AbfHuAz6rQMiNoFzyoFErQMa+wDpuh+f5SqVUn51L0X6D5fHVe4DoAAAABAEgQBIAAAAAAAAAAAAAIk9E2+xagfO2ZmO/Jybm9XZfbL2Ob0+GgGwxbANrj2gZ9VoGTC0C4rQIdoGPdaBndDcvdzIw7LYTj7Ut5fUwPRAAAAAAAQAAASAAAAAAAAAAAMbaT0pua5qqf2WB84YQG4xgNpQwMyqQGVFgTvgTvAWbZAV9HJaZ+Hp22SXvhID1dAAAACAAEgAAAAAAAAAAAAAAUXw3oyj9KLXvWgHzlKh12W1taOuycGv0ZNfcBsMdgbGmQGZVIDJjICrfAplMDHtmBndDKnZn0PsrVk3+w0vjID1QAAAAAAAAAAAAAAAAAAAAAAwPHOsjYzx8x3xX81l6z1S4Ka9NfU/ayJTDRY4yln0oZMMysZML8RkwqIyKJDIxrpDJh2vV1sxwhZkzWjte7XquO4ub9r+olEuzJQgABIAAAAAQBIAAAAAAAAAAAAa7b2yKsymdFq4S4xkvShLskgRLx3aeyLsO103LivRmtdyxd8fw7CsteqaWDDKrBhkRBhUMpwtzIMNn0d6Pyy5709Y0RfnS7Z/4Y/iSrbk9MqrjFRjFJRikklwSSLM1YAAAAgCQIAkABAEgAAAAAAAAAAABg7W2XTlVuu6O8ucXylB98X2MjCYnDy3pBsK3BmlLzqpPzLVwT8H3SK4a1swK7GQ15MiFgMLu8SrPJ0fRzo28jdtv1jTwcY8pWfhEmIZ2s7umqMIqMIqMYrRRXBJFmS4AAAAAACAJAAAAAAAAAAAAAAAAANR0g6Q0YMFK1705ehVHR2T8dOxeLA8429t3I2hFRmlVWpb0a4ceK5b0nz+AGpqqnHg+JWYaRdkQT7hhbjZlOPvc3oThSb5dNs7pLZjqFdkfKVRSiuyyKXBafSJUdjgZ1d8FZVJSi+7mn3NdjAyQAAAAAAQBIEAAJAAAAAAAAAAAADC2ztCOLRdfPiqoOW6ucn82K8W9EB5HKdmTZK+971lj1fdFdkV3JAbCnHiBeeMgJjiIC9Xj6AJ0JgZmxr3i2Kab8nLhZHsa7/WgO/i9dAJAAQAAkAAAAAAAAAAAAAAAAAMDgusvaG95DEi+3y1unYk/MXter9iA5zFhwITEIovflJR+i9PgMpmG2rRKq8gJYFre46ELYXU9SVcOt6N5e/VuSfnVeb4uPzX93sA24AAAAAAAAAAAAAAAAAAAAAGPm5Uaa7LZ8I1xcn+AHmmbhW32TyJ8ZWy3mue6uyPsXABClQWsuGhVrDX43nTlP6UtdPqLYZy3FQQuoC7GIFFkdOPsIWiVvf4kLTDb7KulVNWLlyku9Fmbr4STSa4ppNPvAqAAAAAAAAAAAAAAAAAAADVbV21DHe61Jy4fNk0teXFIGGj23tLy8FCa3a1JScU299p6xT9uj070hMpiGPiY+TZoq6JKL+dPSEfXxK5X4YjqxulWLHGqqg2pX3ybk/mwhHmorxbjx8GSji7NNiVkqtpVAIXoxCV6MQKbIaprwAzJbI+U0Quo0jctY2Qb0jOUeDa7m+fdxKzC9b92ojtKePJV5Fc63y85aJ+p9oymdOf0uw2HtCDgouS0Xovs0fZ7CzJtoTT5NP1cQKgAAAAAAAAAAAAAAAAABzHSi+6FtesJyxnHnCLnuWa/OS46Ncn6wK9g4cbJK5wlpD0N+LhrLvSfPTvCXRhDzfp/Y/l1cXyjRHT2yev1FZXrHJh4oMNlUTlC6iMi4mSInIhGG66IT1jeuxWL4xWpMEw3eTjwti4WRjOL5xkk0TgicOPyNk/JL9ytvyNqcq4t67rXpRXhxREckzOWx2VVpapeVsg2/Q8x1S4cuWq95KrpAJAAAAAAAAAAAAAAAAAI0AASB571m4rjZi5C5Pepl6/Sj8FL3FbNtKM8mjw7uRWJaTRs6rScs+FeVpOThVeWIynhY9+TwImV66eXXdDqHHGU3zulKfs10XwWparDU64b0sowtqbPjkQ3JNxae9CcfShLvX4BMMDZ+xLIWRndkeUUHrGMavJavscvOevqBLeBAAAAAAAAAAAAAAAAAAAAADlOsmGuDLvjdS14Pe0+psrbo10JxZwGPGSSMej04itmbXcxxE6ULqvY4keTB5dsZT5UQiyqTTJiFbTEPTtlRSooS5KqH2UbR0eXbrLLJVAAAAAAAAAAAAAAAAAAAAAAAADl+sZ/wDIy/XUfbRW3RppRmzl8GpSite4ph1RMwnIxEuKRWat66hmYM6qMe96Py0pRceK3dNdOPbyE1nCa68Teaoxak+IiFdTUZWVpGEvUyzCOcu82W9aaP1UPso0jo47dZZRKAAAAAAAAAAAAAAAAAAAAAEAADA5frH/AKhP9dR9tFL9G+3jN3K7Ms81GcS67UbGb4akomMQ23SLF02fR31OuT/zJp/aLznDm05/2OYxrTPLtmqvaV3mP1MZRWj0TY/9Xx/1Nf2UbR0ebf4pZhKqAGoEgAAAAAAAAAAAAAAAAFMnoJPo8/yutnCrnOCoyZbkpR3lGpJ6PTVay5HNO6rE4e5p+A696xbMc/usPrgw/wA2yv8Aa/iK+917NPy9rfNH8i64MP8ANsr/AGf4h73Xsfl/W+aP5a/pH1iYmfjyxqqsiFk51tOca9zzZpvVqTfZ3D3it+WER4Rq6E8dpiYhf2VDWCZaGGpylsIx3pQh2znGPvaReI5sbTylvOl+2sOimyi6+ELJw0hXrrPX5vBdnLiWvescpYbba6urPFWs4j1cbj9hm7VG2J6Vv1MiZ9VtOMy2mH1q7PrrrrdWU3XCMHpXVprFaPTz/Aj3qkcl/wAB3F54omOf3/pe/lb2f/c5f7FX8ZHvdO0p/Lu571/7P9J/la2f/c5f7ur+Me907Sn8u7rvX+f6bPo70+w8+9Y9Ub4WSjKUfKxhGMtOaTUnxL6e4recQ5d54Rr7WnHeYmPp/wCOsOh5SQAAAAAAAAAAAAgCGwI1B9mt6Q7RjjYuTfLlVTZJLvluvdXteiK3tFazLfbaXm61aR1mXzM5Pt59p5E936LXlWI7KXIYRNlLkThSbsnZnnW1pd5ppxzce91MaT17ZeO1VDjx0O+tHyOpuM2XsCuSysdPkp73uTZPDzVnUiaS8z6yMlva+dwejdLi34UwXu1TOTXrzy+g8J1v9UUw7rY1MrK4y7Gk/gdNa5h4m41IraYU7dwmq+EtSL15LbfcZs8snwlNdqlJfE828c3223mJpCUyjqiUpkLRLYbD2jLFycfIjzpsjJrvjykvdqaUtw3iWG70I19G+nPrD6VoujOMZxesZpSi12prVHsxOX5les1maz1hcCAAD7iAkAAAAQ3oBy+2enuzsVuErvKWR4OFK8o0+5tcF7zG+vSnq9Pb+EbrX5xXEfXk5q7rgp/J4Vsl/jthW/ckzCd5HZ6VPZvUn4rxH7Jo636H/SYd0fGFkLPr0JjeV9YVv7OakfDeJ/bH9txi9Zey587Z1vunXJfFao0ruaS49TwTd0/TkzesjZlabV0rH2RrhJt+16ImdxSI6q08H3V+XDh5j026cW7S0rjF040Xqq97WU32ObXD2HHq63Hyh9DsPC6bb/KednItmL1JUMlnKhloZTlm7C/rFWvia6XV5+/ifKezYKe5DTuPQh8jaObQ9Otq24ldU6J7lzlpGSSbXDjwZhrX4XqeG7Xzrc45PMs7KuyJytvsnbY+cpvV+rwRxTfPV9Pp7aNOMVjD1rodk7+LU+3dSfsR36Vsw+R3+lNNWzYbTobhLXuNLzHC5dCJ44eNZUf5y39OX1nk3nm/QdtSY06qEUdUKkyFolUmQvD0Tob1k/JKYY+XVO2FfCu2Ek5xj2RlF89O/U7NHdcMYs+b8R8CnWvOppTETPWHQ5HW1hxXmUZE36oQXvbNp3lHnU9nNzPxTENPldb1z18lhwiuxztlN/CKMp3k+kOynszWPiv/AAxF1s5uv9DRp3eeV98t2b/lvR+aW02Z1uptLJxHFPTWdNm/p/lkl9ZpXe/NDk1vZq0RnTvme0w9A2HtzGza/KY1imlwkuU4PulHmjrpeLxmHz+52urt78OpGGzLuYAAcH1v7VtxsOuNU3D5Rb5Kclwe7utta9muhz7mZinJ7Hgmnp23GdSM4eJ6nlfd99GOWDQGO6NAYlDRKswtya7yYZWmIRoSrjspcSVZqjQKcKVAZWjTyuUtwlGS7GTF8Spq7eNSuHZ7M6YeTioyb4LT0eJvG4mHk6ng9bTyaTpBtWWXOLeu7DXdT8eb+Bhq6s3ersdhGhX7tXuGWXoRpw3OwttTxvN1ajq2tOK9p0aevw8nkb3wyNa2W12j0wnZDdTfLsjp8S1tfLn0PCKVlyU3q23zbbZzTOXu1rFYiIUaAwaAwlIhOEt6BM2iOZvAi0TzTvIYTxQEGQknHV6F1Jzby8tJ+asdarsb8otPvO3aRzfLe0d4tp15er2Y9B8iAAOM6z+jN+0cWEMdp2UzVkYNqKnwaa1fJ8TPVpNo5O3YbiujqxNujxnI6M7QpeluHkRa7oOa98dUedbStHo+y2/iG3tHK8KKtkZcuCxshv8AU2fgZeVbs7fftCI53htMXoTtS30cOxJ9s3Ctf+zL12+pPo5tTxjZ1/W2tPVbtOXpfJ4eDt3n8EaxtL+rhv7QbeOmZW83qp2lGLcHj2P6KscW/etC/u1o5sJ8c0b+kw4r5PKtyrmtJwlKMlqno09GtfYct55vc21c6cT35m6Uy34TdJycKdCMrcJoE4SCeUZhXi491z0qrssfdCEp6e4vFJnpDlvuq0+O0QzLOjuelq8TI0/VSLxpW7Oad/t56XatqyE9yUZRfbGacWl6mRakRHNpo7ibXiKTmGQYPURoEG6MowaBODQGG36MdGr9pXqmrSMYLettl6Na7OHa33G+jpzecPL8S3tdrWLW59npNXVDibvnZWS56cXHyMY6+pxf1nZ7pV85PtHr+lYwwMzqff5DM9Stq++LKzs+0ttP2jt+un/GkyeqzaUfQ+T2LvVm59aMp2l3dT2i289YmEY3VbtObSmqKo9snbv6eyIrtLmr7QbbH+OZl6X0K6HVbLhPdm7brdPKWNKK0XKMV2I7dLSij5nf7++7vmeUQ6g1cAAAjQBoA0IwZRoSDQGt6QZixsXKvf5KqcvbpwKXnhrMuja6c6mtWneXzZNttt8W2233tvVnjTOZfplKRWsVj0U6ELYNAYNAYNAnAxCJ5Q+iOhtUPkGDKFcIb+PVJqEVBNuC1fA9jSiOCH5vv7T7xeM+st3uGjjy8F6xNrzyc++L0UMaTqhFadnpSfe2/uPL3N5m+H3vge3pTbxaOc26uYOZ7XoAAAADqOr7pItn5Wtn9BelC1/Q+jL2P4M6Ntq8Fnj+M7Gd1o5r8Vej3um2M4xlFqUZJSjJPVNNcGj1YnMPz+1ZrM1nrC4SgAgBoBIAAAAAAAADlus1/wDSs79CH/0gZa3wS7vDZxuqS+et/wATycP0CNScJ32MLeZKd9kYTxynfYwnjk3/ABGE8bP2RsXJzZKvGqnY29HLRquH6U+SNNPTm08nFu99paNJm9v2fRmwcD5NjY2O3vOimutvvcYpNnrUriMPz/cavm6tr95Z2hZi+dOneycjHzsuy2qcYW3SshZut1yUnw87lr4Hm69J4pmX2nhO5050q1iecOeU/H4nNh7UX7Sq3/EYX4/qb/iMHH9Ub/iMHH9Tf8fiMI447nlF3/EnCPMju+kOg602bs7/AMWl++CZ62j8EPzzf89zqfeW9NHGAAAAAAAAAAEAAKLaozTjKKlF8Gmk0/WmR16kTMdGts6OYMvSxMd/6UCOCvZvXda0dLSx59DtmS54WP8AsJFfKp2aRv8AcR0vK0+g2yvzKn3Mjyq9lvxHc/PKY9B9lr+xU/s6k+TTsfiO5+eWXj9GsCv0MTHWn/bi/rLRp1j0ZW3etfraW0hBRSUUkl2JaJFmEzM9VYQAUyimtGtV3PigRPZhW7HxZvWWNQ33uqD+4rNYaV1tSOkyt/8AD+F+aY/7qH4EcFey/vOr80pWwsNf2Wj91D8CeGvZE7jV+aV2OycZcsehf6UPwHDHZWdbU9Zlcjg0rlTUvVXD8CcQjzL95VrFrX5OH7MRiEcdu66kSqkAAAAAAEMCQAAABAEkSIIQBIAJQEJgLCQAEAgQJSEIQBhIEgQICQAAAAAAf//Z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36" name="Picture 1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810000" y="4686300"/>
            <a:ext cx="1714500" cy="1714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5058" name="Picture 2" descr="https://upload.wikimedia.org/wikipedia/commons/2/24/Chaosreport2009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914400" y="1447800"/>
            <a:ext cx="7062494" cy="3082360"/>
          </a:xfrm>
          <a:prstGeom prst="rect">
            <a:avLst/>
          </a:prstGeom>
          <a:noFill/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621780" y="4038600"/>
            <a:ext cx="1988820" cy="2404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Causes of Project Failure</a:t>
            </a:r>
            <a:endParaRPr lang="en-US" dirty="0"/>
          </a:p>
        </p:txBody>
      </p:sp>
      <p:graphicFrame>
        <p:nvGraphicFramePr>
          <p:cNvPr id="4" name="Diagram 3"/>
          <p:cNvGraphicFramePr/>
          <p:nvPr/>
        </p:nvGraphicFramePr>
        <p:xfrm>
          <a:off x="457200" y="1397000"/>
          <a:ext cx="8153400" cy="508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ttp://www.piematrix.com/blog/wp-content/files/2013/01/Screen-Shot-2013-01-06-at-3.30.00-PM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58000" y="2514600"/>
            <a:ext cx="2074545" cy="1468755"/>
          </a:xfrm>
          <a:prstGeom prst="rect">
            <a:avLst/>
          </a:prstGeom>
          <a:noFill/>
        </p:spPr>
      </p:pic>
      <p:pic>
        <p:nvPicPr>
          <p:cNvPr id="2052" name="Picture 4" descr="https://qph.fs.quoracdn.net/main-qimg-062c77d1a4644cd89f94620ed7012116-c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943600" y="4267200"/>
            <a:ext cx="2293620" cy="1790700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Why Do Projects Fail? [5]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00600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sz="2000" b="1" dirty="0" smtClean="0"/>
              <a:t>Unrealistic or unarticulated project </a:t>
            </a:r>
            <a:r>
              <a:rPr lang="en-US" sz="2000" b="1" i="1" dirty="0" smtClean="0">
                <a:solidFill>
                  <a:srgbClr val="C00000"/>
                </a:solidFill>
              </a:rPr>
              <a:t>goals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b="1" dirty="0" smtClean="0"/>
              <a:t>Poor </a:t>
            </a:r>
            <a:r>
              <a:rPr lang="en-US" sz="2000" b="1" i="1" dirty="0" smtClean="0">
                <a:solidFill>
                  <a:srgbClr val="C00000"/>
                </a:solidFill>
              </a:rPr>
              <a:t>communication</a:t>
            </a:r>
            <a:r>
              <a:rPr lang="en-US" sz="2000" b="1" dirty="0" smtClean="0"/>
              <a:t> among customers, developers, and users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b="1" dirty="0" smtClean="0"/>
              <a:t>Inaccurate </a:t>
            </a:r>
            <a:r>
              <a:rPr lang="en-US" sz="2000" b="1" i="1" dirty="0" smtClean="0">
                <a:solidFill>
                  <a:srgbClr val="C00000"/>
                </a:solidFill>
              </a:rPr>
              <a:t>estimates</a:t>
            </a:r>
            <a:r>
              <a:rPr lang="en-US" sz="2000" b="1" dirty="0" smtClean="0"/>
              <a:t> of needed resources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b="1" dirty="0" smtClean="0"/>
              <a:t>Poor </a:t>
            </a:r>
            <a:r>
              <a:rPr lang="en-US" sz="2000" b="1" i="1" dirty="0" smtClean="0">
                <a:solidFill>
                  <a:srgbClr val="C00000"/>
                </a:solidFill>
              </a:rPr>
              <a:t>reporting</a:t>
            </a:r>
            <a:r>
              <a:rPr lang="en-US" sz="2000" b="1" dirty="0" smtClean="0"/>
              <a:t> of the project's status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 smtClean="0"/>
              <a:t>Use of immature </a:t>
            </a:r>
            <a:r>
              <a:rPr lang="en-US" sz="2000" i="1" dirty="0" smtClean="0">
                <a:solidFill>
                  <a:srgbClr val="C00000"/>
                </a:solidFill>
              </a:rPr>
              <a:t>technology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 smtClean="0"/>
              <a:t>Inability to handle the project's </a:t>
            </a:r>
            <a:r>
              <a:rPr lang="en-US" sz="2000" i="1" dirty="0" smtClean="0">
                <a:solidFill>
                  <a:srgbClr val="C00000"/>
                </a:solidFill>
              </a:rPr>
              <a:t>complexity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 smtClean="0"/>
              <a:t>Sloppy development </a:t>
            </a:r>
            <a:r>
              <a:rPr lang="en-US" sz="2000" i="1" dirty="0" smtClean="0">
                <a:solidFill>
                  <a:srgbClr val="C00000"/>
                </a:solidFill>
              </a:rPr>
              <a:t>practices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 smtClean="0"/>
              <a:t>Badly defined system </a:t>
            </a:r>
            <a:r>
              <a:rPr lang="en-US" sz="2000" i="1" dirty="0" smtClean="0">
                <a:solidFill>
                  <a:srgbClr val="C00000"/>
                </a:solidFill>
              </a:rPr>
              <a:t>requirements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b="1" dirty="0" smtClean="0"/>
              <a:t>Poor project </a:t>
            </a:r>
            <a:r>
              <a:rPr lang="en-US" sz="2000" b="1" i="1" dirty="0" smtClean="0">
                <a:solidFill>
                  <a:srgbClr val="C00000"/>
                </a:solidFill>
              </a:rPr>
              <a:t>management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b="1" dirty="0" smtClean="0"/>
              <a:t>Unmanaged </a:t>
            </a:r>
            <a:r>
              <a:rPr lang="en-US" sz="2000" b="1" i="1" dirty="0" smtClean="0">
                <a:solidFill>
                  <a:srgbClr val="C00000"/>
                </a:solidFill>
              </a:rPr>
              <a:t>risks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b="1" dirty="0" smtClean="0"/>
              <a:t>Constant </a:t>
            </a:r>
            <a:r>
              <a:rPr lang="en-US" sz="2000" b="1" i="1" dirty="0" smtClean="0">
                <a:solidFill>
                  <a:srgbClr val="C00000"/>
                </a:solidFill>
              </a:rPr>
              <a:t>change</a:t>
            </a:r>
            <a:r>
              <a:rPr lang="en-US" sz="2000" b="1" dirty="0" smtClean="0"/>
              <a:t> of requirements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b="1" dirty="0" smtClean="0"/>
              <a:t>Stakeholder </a:t>
            </a:r>
            <a:r>
              <a:rPr lang="en-US" sz="2000" b="1" i="1" dirty="0" smtClean="0">
                <a:solidFill>
                  <a:srgbClr val="C00000"/>
                </a:solidFill>
              </a:rPr>
              <a:t>politics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b="1" dirty="0" smtClean="0"/>
              <a:t>Commercial </a:t>
            </a:r>
            <a:r>
              <a:rPr lang="en-US" sz="2000" b="1" i="1" dirty="0" smtClean="0">
                <a:solidFill>
                  <a:srgbClr val="C00000"/>
                </a:solidFill>
              </a:rPr>
              <a:t>pressures</a:t>
            </a:r>
          </a:p>
        </p:txBody>
      </p:sp>
      <p:cxnSp>
        <p:nvCxnSpPr>
          <p:cNvPr id="7" name="Straight Arrow Connector 6"/>
          <p:cNvCxnSpPr/>
          <p:nvPr/>
        </p:nvCxnSpPr>
        <p:spPr>
          <a:xfrm>
            <a:off x="5562600" y="1981200"/>
            <a:ext cx="1371600" cy="220980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>
            <a:off x="5638800" y="2743200"/>
            <a:ext cx="990600" cy="144780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>
            <a:off x="5486400" y="3124200"/>
            <a:ext cx="838200" cy="106680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>
            <a:off x="4800600" y="3810000"/>
            <a:ext cx="914400" cy="53340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>
            <a:off x="2895600" y="5105400"/>
            <a:ext cx="2895600" cy="7620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/>
          <p:nvPr/>
        </p:nvCxnSpPr>
        <p:spPr>
          <a:xfrm flipV="1">
            <a:off x="4648200" y="5410200"/>
            <a:ext cx="1143000" cy="7620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/>
          <p:nvPr/>
        </p:nvCxnSpPr>
        <p:spPr>
          <a:xfrm flipV="1">
            <a:off x="3276600" y="5638800"/>
            <a:ext cx="2438400" cy="22860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/>
          <p:nvPr/>
        </p:nvCxnSpPr>
        <p:spPr>
          <a:xfrm flipV="1">
            <a:off x="3505200" y="5867400"/>
            <a:ext cx="2362200" cy="30480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/>
          <p:nvPr/>
        </p:nvCxnSpPr>
        <p:spPr>
          <a:xfrm>
            <a:off x="4038600" y="3276600"/>
            <a:ext cx="1905000" cy="91440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We Have To Ensure That [1]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The project will be </a:t>
            </a:r>
            <a:r>
              <a:rPr lang="en-US" sz="2400" i="1" dirty="0" smtClean="0">
                <a:solidFill>
                  <a:srgbClr val="C00000"/>
                </a:solidFill>
              </a:rPr>
              <a:t>within cost</a:t>
            </a:r>
            <a:r>
              <a:rPr lang="en-US" sz="2400" dirty="0" smtClean="0"/>
              <a:t>.</a:t>
            </a:r>
          </a:p>
          <a:p>
            <a:r>
              <a:rPr lang="en-US" sz="2400" dirty="0" smtClean="0"/>
              <a:t>The project will be delivered </a:t>
            </a:r>
            <a:r>
              <a:rPr lang="en-US" sz="2400" i="1" dirty="0" smtClean="0">
                <a:solidFill>
                  <a:srgbClr val="C00000"/>
                </a:solidFill>
              </a:rPr>
              <a:t>on time</a:t>
            </a:r>
            <a:r>
              <a:rPr lang="en-US" sz="2400" dirty="0" smtClean="0"/>
              <a:t>.</a:t>
            </a:r>
          </a:p>
          <a:p>
            <a:r>
              <a:rPr lang="en-US" sz="2400" dirty="0" smtClean="0"/>
              <a:t>The project will be </a:t>
            </a:r>
            <a:r>
              <a:rPr lang="en-US" sz="2400" i="1" dirty="0" smtClean="0">
                <a:solidFill>
                  <a:srgbClr val="C00000"/>
                </a:solidFill>
              </a:rPr>
              <a:t>within scope</a:t>
            </a:r>
            <a:r>
              <a:rPr lang="en-US" sz="2400" dirty="0" smtClean="0"/>
              <a:t>.</a:t>
            </a:r>
          </a:p>
          <a:p>
            <a:r>
              <a:rPr lang="en-US" sz="2400" dirty="0" smtClean="0"/>
              <a:t>The project will meet our customer's </a:t>
            </a:r>
            <a:r>
              <a:rPr lang="en-US" sz="2400" i="1" dirty="0" smtClean="0">
                <a:solidFill>
                  <a:srgbClr val="C00000"/>
                </a:solidFill>
              </a:rPr>
              <a:t>quality requirements</a:t>
            </a:r>
            <a:r>
              <a:rPr lang="en-US" sz="2400" dirty="0" smtClean="0"/>
              <a:t>.</a:t>
            </a:r>
          </a:p>
          <a:p>
            <a:r>
              <a:rPr lang="en-US" sz="2400" dirty="0" smtClean="0"/>
              <a:t>Our customer will be </a:t>
            </a:r>
            <a:r>
              <a:rPr lang="en-US" sz="2400" i="1" dirty="0" smtClean="0">
                <a:solidFill>
                  <a:srgbClr val="C00000"/>
                </a:solidFill>
              </a:rPr>
              <a:t>happy</a:t>
            </a:r>
            <a:r>
              <a:rPr lang="en-US" sz="2400" dirty="0" smtClean="0"/>
              <a:t>.</a:t>
            </a:r>
          </a:p>
          <a:p>
            <a:endParaRPr lang="en-US" sz="2400" dirty="0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14400" y="4267200"/>
            <a:ext cx="2857500" cy="1828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4" descr="https://qph.ec.quoracdn.net/main-custom-t-7249-600x315-lusxrkycuejsfvmmkfygfxnqzfvkqcvy.jpe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572000" y="4143375"/>
            <a:ext cx="3429000" cy="180022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Managing Constraints [6]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4114800" cy="3200400"/>
          </a:xfrm>
        </p:spPr>
        <p:txBody>
          <a:bodyPr/>
          <a:lstStyle/>
          <a:p>
            <a:r>
              <a:rPr lang="en-US" sz="2800" dirty="0" smtClean="0"/>
              <a:t>Every project is constrained in </a:t>
            </a:r>
            <a:r>
              <a:rPr lang="en-US" sz="2800" i="1" dirty="0" smtClean="0">
                <a:solidFill>
                  <a:srgbClr val="C00000"/>
                </a:solidFill>
              </a:rPr>
              <a:t>different ways</a:t>
            </a:r>
            <a:r>
              <a:rPr lang="en-US" sz="2800" dirty="0" smtClean="0"/>
              <a:t>.</a:t>
            </a:r>
          </a:p>
          <a:p>
            <a:r>
              <a:rPr lang="en-US" sz="2800" dirty="0" smtClean="0"/>
              <a:t>You must decide </a:t>
            </a:r>
            <a:r>
              <a:rPr lang="en-US" sz="2800" i="1" dirty="0" smtClean="0">
                <a:solidFill>
                  <a:srgbClr val="C00000"/>
                </a:solidFill>
              </a:rPr>
              <a:t>which constraints</a:t>
            </a:r>
            <a:r>
              <a:rPr lang="en-US" sz="2800" dirty="0" smtClean="0"/>
              <a:t> are most important on each particular project.</a:t>
            </a:r>
          </a:p>
        </p:txBody>
      </p:sp>
      <p:sp>
        <p:nvSpPr>
          <p:cNvPr id="5" name="Content Placeholder 2"/>
          <p:cNvSpPr txBox="1">
            <a:spLocks/>
          </p:cNvSpPr>
          <p:nvPr/>
        </p:nvSpPr>
        <p:spPr bwMode="auto">
          <a:xfrm>
            <a:off x="457200" y="4419600"/>
            <a:ext cx="8153400" cy="190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lvl="0" indent="-342900" eaLnBrk="0" hangingPunct="0">
              <a:spcBef>
                <a:spcPct val="20000"/>
              </a:spcBef>
              <a:buFont typeface="Arial" charset="0"/>
              <a:buChar char="•"/>
            </a:pPr>
            <a:endParaRPr kumimoji="0" lang="en-US" sz="2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62000" y="5257800"/>
            <a:ext cx="792480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b="1" dirty="0" smtClean="0">
                <a:solidFill>
                  <a:srgbClr val="C00000"/>
                </a:solidFill>
                <a:latin typeface="+mj-lt"/>
              </a:rPr>
              <a:t>Development is a triangle:</a:t>
            </a:r>
          </a:p>
          <a:p>
            <a:pPr algn="ctr"/>
            <a:r>
              <a:rPr lang="en-US" sz="3200" b="1" dirty="0" smtClean="0">
                <a:solidFill>
                  <a:srgbClr val="C00000"/>
                </a:solidFill>
                <a:latin typeface="+mj-lt"/>
              </a:rPr>
              <a:t>good, fast, cheap – pick any two.</a:t>
            </a:r>
            <a:endParaRPr lang="en-US" sz="3200" b="1" dirty="0">
              <a:solidFill>
                <a:srgbClr val="C00000"/>
              </a:solidFill>
              <a:latin typeface="+mj-lt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419600" y="1524000"/>
            <a:ext cx="4394835" cy="33204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extBox 6"/>
          <p:cNvSpPr txBox="1"/>
          <p:nvPr/>
        </p:nvSpPr>
        <p:spPr>
          <a:xfrm>
            <a:off x="7848600" y="1524000"/>
            <a:ext cx="76495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dirty="0" smtClean="0">
                <a:latin typeface="+mj-lt"/>
              </a:rPr>
              <a:t>Time</a:t>
            </a:r>
            <a:endParaRPr lang="en-US" sz="2200" b="1" dirty="0">
              <a:latin typeface="+mj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09600"/>
            <a:ext cx="8229600" cy="1143000"/>
          </a:xfrm>
        </p:spPr>
        <p:txBody>
          <a:bodyPr/>
          <a:lstStyle/>
          <a:p>
            <a:r>
              <a:rPr lang="en-US" dirty="0" smtClean="0"/>
              <a:t>But How? Where Do We Start?</a:t>
            </a:r>
            <a:endParaRPr lang="en-US" dirty="0"/>
          </a:p>
        </p:txBody>
      </p:sp>
      <p:pic>
        <p:nvPicPr>
          <p:cNvPr id="2050" name="Picture 2" descr="http://www.texasrockgym.com/wp-content/uploads/2016/04/exercise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410200" y="3200400"/>
            <a:ext cx="2602992" cy="1600200"/>
          </a:xfrm>
          <a:prstGeom prst="rect">
            <a:avLst/>
          </a:prstGeom>
          <a:noFill/>
        </p:spPr>
      </p:pic>
      <p:pic>
        <p:nvPicPr>
          <p:cNvPr id="1028" name="Picture 4" descr="http://www.hopecenterjackson.com/wp-content/uploads/2014/12/2627622411_what_will_you_do_xlarge_xlarge.jpe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66800" y="2057400"/>
            <a:ext cx="2667000" cy="2667000"/>
          </a:xfrm>
          <a:prstGeom prst="rect">
            <a:avLst/>
          </a:prstGeom>
          <a:noFill/>
        </p:spPr>
      </p:pic>
      <p:pic>
        <p:nvPicPr>
          <p:cNvPr id="1030" name="Picture 6" descr="https://i2.wp.com/www.ljv.li/wp-content/uploads/2015/12/Fragezeichen-PP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33400" y="3962400"/>
            <a:ext cx="3982720" cy="2783344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Thank You &amp; See </a:t>
            </a:r>
            <a:r>
              <a:rPr lang="en-US" smtClean="0"/>
              <a:t>You Again</a:t>
            </a:r>
            <a:endParaRPr lang="en-US" dirty="0" smtClean="0"/>
          </a:p>
        </p:txBody>
      </p:sp>
      <p:pic>
        <p:nvPicPr>
          <p:cNvPr id="5" name="Content Placeholder 4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143000" y="1676400"/>
            <a:ext cx="6810375" cy="4525963"/>
          </a:xfr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14865</TotalTime>
  <Words>1003</Words>
  <Application>Microsoft Office PowerPoint</Application>
  <PresentationFormat>On-screen Show (4:3)</PresentationFormat>
  <Paragraphs>167</Paragraphs>
  <Slides>29</Slides>
  <Notes>5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0" baseType="lpstr">
      <vt:lpstr>Office Theme</vt:lpstr>
      <vt:lpstr>Software Project</vt:lpstr>
      <vt:lpstr>Objectives</vt:lpstr>
      <vt:lpstr>Contents</vt:lpstr>
      <vt:lpstr>References</vt:lpstr>
      <vt:lpstr>Foundation for Communication</vt:lpstr>
      <vt:lpstr>Software</vt:lpstr>
      <vt:lpstr>Software Types</vt:lpstr>
      <vt:lpstr>Project [1]</vt:lpstr>
      <vt:lpstr>Product Scope vs. Project Scope</vt:lpstr>
      <vt:lpstr>Management</vt:lpstr>
      <vt:lpstr>Where Do Projects Come From? [4]</vt:lpstr>
      <vt:lpstr>Requests for Proposals</vt:lpstr>
      <vt:lpstr>Operations and Projects [2]</vt:lpstr>
      <vt:lpstr>Software Project Types [3]</vt:lpstr>
      <vt:lpstr>Research Project</vt:lpstr>
      <vt:lpstr>Freelance Projects</vt:lpstr>
      <vt:lpstr>Software Development Competitions</vt:lpstr>
      <vt:lpstr>Open Source Projects</vt:lpstr>
      <vt:lpstr>Projects, Programs, and Portfolio [2]</vt:lpstr>
      <vt:lpstr>Stakeholders [1]</vt:lpstr>
      <vt:lpstr>Why Clarify Stakeholders?</vt:lpstr>
      <vt:lpstr>Projects Success and Failure</vt:lpstr>
      <vt:lpstr>What Went Wrong?</vt:lpstr>
      <vt:lpstr>Causes of Project Failure</vt:lpstr>
      <vt:lpstr>Why Do Projects Fail? [5]</vt:lpstr>
      <vt:lpstr>We Have To Ensure That [1]</vt:lpstr>
      <vt:lpstr>Managing Constraints [6]</vt:lpstr>
      <vt:lpstr>But How? Where Do We Start?</vt:lpstr>
      <vt:lpstr>Thank You &amp; See You Again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NgoHuyBien</dc:creator>
  <cp:lastModifiedBy>Ngo Huy Bien</cp:lastModifiedBy>
  <cp:revision>5321</cp:revision>
  <dcterms:created xsi:type="dcterms:W3CDTF">2007-10-06T08:25:13Z</dcterms:created>
  <dcterms:modified xsi:type="dcterms:W3CDTF">2026-06-06T19:53:11Z</dcterms:modified>
</cp:coreProperties>
</file>