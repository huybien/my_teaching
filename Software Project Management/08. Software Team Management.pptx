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118.xml" ContentType="application/vnd.openxmlformats-officedocument.presentationml.slide+xml"/>
  <Override PartName="/ppt/notesSlides/notesSlide7.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diagrams/drawing3.xml" ContentType="application/vnd.ms-office.drawingml.diagramDrawing+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diagrams/quickStyle3.xml" ContentType="application/vnd.openxmlformats-officedocument.drawingml.diagramStyl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Layouts/slideLayout10.xml" ContentType="application/vnd.openxmlformats-officedocument.presentationml.slideLayout+xml"/>
  <Default Extension="gif" ContentType="image/gif"/>
  <Override PartName="/ppt/diagrams/layout2.xml" ContentType="application/vnd.openxmlformats-officedocument.drawingml.diagramLayout+xml"/>
  <Override PartName="/ppt/notesSlides/notesSlide8.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notesSlides/notesSlide6.xml" ContentType="application/vnd.openxmlformats-officedocument.presentationml.notesSlide+xml"/>
  <Override PartName="/ppt/diagrams/data3.xml" ContentType="application/vnd.openxmlformats-officedocument.drawingml.diagramData+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ppt/diagrams/colors3.xml" ContentType="application/vnd.openxmlformats-officedocument.drawingml.diagramColor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diagrams/layout3.xml" ContentType="application/vnd.openxmlformats-officedocument.drawingml.diagramLayout+xml"/>
  <Override PartName="/ppt/slides/slide79.xml" ContentType="application/vnd.openxmlformats-officedocument.presentationml.slide+xml"/>
  <Override PartName="/ppt/slides/slide10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diagrams/quickStyle1.xml" ContentType="application/vnd.openxmlformats-officedocument.drawingml.diagramStyl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121"/>
  </p:notesMasterIdLst>
  <p:handoutMasterIdLst>
    <p:handoutMasterId r:id="rId122"/>
  </p:handoutMasterIdLst>
  <p:sldIdLst>
    <p:sldId id="256" r:id="rId2"/>
    <p:sldId id="443" r:id="rId3"/>
    <p:sldId id="559" r:id="rId4"/>
    <p:sldId id="444" r:id="rId5"/>
    <p:sldId id="746" r:id="rId6"/>
    <p:sldId id="508" r:id="rId7"/>
    <p:sldId id="793" r:id="rId8"/>
    <p:sldId id="794" r:id="rId9"/>
    <p:sldId id="791" r:id="rId10"/>
    <p:sldId id="671" r:id="rId11"/>
    <p:sldId id="795" r:id="rId12"/>
    <p:sldId id="792" r:id="rId13"/>
    <p:sldId id="759" r:id="rId14"/>
    <p:sldId id="758" r:id="rId15"/>
    <p:sldId id="695" r:id="rId16"/>
    <p:sldId id="584" r:id="rId17"/>
    <p:sldId id="744" r:id="rId18"/>
    <p:sldId id="741" r:id="rId19"/>
    <p:sldId id="743" r:id="rId20"/>
    <p:sldId id="737" r:id="rId21"/>
    <p:sldId id="526" r:id="rId22"/>
    <p:sldId id="749" r:id="rId23"/>
    <p:sldId id="739" r:id="rId24"/>
    <p:sldId id="716" r:id="rId25"/>
    <p:sldId id="717" r:id="rId26"/>
    <p:sldId id="718" r:id="rId27"/>
    <p:sldId id="719" r:id="rId28"/>
    <p:sldId id="720" r:id="rId29"/>
    <p:sldId id="721" r:id="rId30"/>
    <p:sldId id="722" r:id="rId31"/>
    <p:sldId id="733" r:id="rId32"/>
    <p:sldId id="466" r:id="rId33"/>
    <p:sldId id="467" r:id="rId34"/>
    <p:sldId id="781" r:id="rId35"/>
    <p:sldId id="468" r:id="rId36"/>
    <p:sldId id="788" r:id="rId37"/>
    <p:sldId id="789" r:id="rId38"/>
    <p:sldId id="790" r:id="rId39"/>
    <p:sldId id="713" r:id="rId40"/>
    <p:sldId id="745" r:id="rId41"/>
    <p:sldId id="776" r:id="rId42"/>
    <p:sldId id="599" r:id="rId43"/>
    <p:sldId id="553" r:id="rId44"/>
    <p:sldId id="600" r:id="rId45"/>
    <p:sldId id="763" r:id="rId46"/>
    <p:sldId id="764" r:id="rId47"/>
    <p:sldId id="765" r:id="rId48"/>
    <p:sldId id="808" r:id="rId49"/>
    <p:sldId id="766" r:id="rId50"/>
    <p:sldId id="767" r:id="rId51"/>
    <p:sldId id="768" r:id="rId52"/>
    <p:sldId id="769" r:id="rId53"/>
    <p:sldId id="797" r:id="rId54"/>
    <p:sldId id="770" r:id="rId55"/>
    <p:sldId id="771" r:id="rId56"/>
    <p:sldId id="772" r:id="rId57"/>
    <p:sldId id="773" r:id="rId58"/>
    <p:sldId id="774" r:id="rId59"/>
    <p:sldId id="775" r:id="rId60"/>
    <p:sldId id="783" r:id="rId61"/>
    <p:sldId id="809" r:id="rId62"/>
    <p:sldId id="796" r:id="rId63"/>
    <p:sldId id="550" r:id="rId64"/>
    <p:sldId id="750" r:id="rId65"/>
    <p:sldId id="604" r:id="rId66"/>
    <p:sldId id="696" r:id="rId67"/>
    <p:sldId id="602" r:id="rId68"/>
    <p:sldId id="603" r:id="rId69"/>
    <p:sldId id="605" r:id="rId70"/>
    <p:sldId id="544" r:id="rId71"/>
    <p:sldId id="751" r:id="rId72"/>
    <p:sldId id="480" r:id="rId73"/>
    <p:sldId id="654" r:id="rId74"/>
    <p:sldId id="666" r:id="rId75"/>
    <p:sldId id="653" r:id="rId76"/>
    <p:sldId id="724" r:id="rId77"/>
    <p:sldId id="752" r:id="rId78"/>
    <p:sldId id="725" r:id="rId79"/>
    <p:sldId id="726" r:id="rId80"/>
    <p:sldId id="732" r:id="rId81"/>
    <p:sldId id="728" r:id="rId82"/>
    <p:sldId id="729" r:id="rId83"/>
    <p:sldId id="730" r:id="rId84"/>
    <p:sldId id="798" r:id="rId85"/>
    <p:sldId id="799" r:id="rId86"/>
    <p:sldId id="800" r:id="rId87"/>
    <p:sldId id="801" r:id="rId88"/>
    <p:sldId id="731" r:id="rId89"/>
    <p:sldId id="723" r:id="rId90"/>
    <p:sldId id="753" r:id="rId91"/>
    <p:sldId id="734" r:id="rId92"/>
    <p:sldId id="630" r:id="rId93"/>
    <p:sldId id="573" r:id="rId94"/>
    <p:sldId id="574" r:id="rId95"/>
    <p:sldId id="784" r:id="rId96"/>
    <p:sldId id="785" r:id="rId97"/>
    <p:sldId id="735" r:id="rId98"/>
    <p:sldId id="687" r:id="rId99"/>
    <p:sldId id="786" r:id="rId100"/>
    <p:sldId id="787" r:id="rId101"/>
    <p:sldId id="688" r:id="rId102"/>
    <p:sldId id="691" r:id="rId103"/>
    <p:sldId id="689" r:id="rId104"/>
    <p:sldId id="690" r:id="rId105"/>
    <p:sldId id="683" r:id="rId106"/>
    <p:sldId id="807" r:id="rId107"/>
    <p:sldId id="805" r:id="rId108"/>
    <p:sldId id="806" r:id="rId109"/>
    <p:sldId id="755" r:id="rId110"/>
    <p:sldId id="626" r:id="rId111"/>
    <p:sldId id="804" r:id="rId112"/>
    <p:sldId id="625" r:id="rId113"/>
    <p:sldId id="505" r:id="rId114"/>
    <p:sldId id="506" r:id="rId115"/>
    <p:sldId id="779" r:id="rId116"/>
    <p:sldId id="777" r:id="rId117"/>
    <p:sldId id="778" r:id="rId118"/>
    <p:sldId id="736" r:id="rId119"/>
    <p:sldId id="343" r:id="rId12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8" autoAdjust="0"/>
    <p:restoredTop sz="82552" autoAdjust="0"/>
  </p:normalViewPr>
  <p:slideViewPr>
    <p:cSldViewPr>
      <p:cViewPr varScale="1">
        <p:scale>
          <a:sx n="58" d="100"/>
          <a:sy n="58" d="100"/>
        </p:scale>
        <p:origin x="-1354" y="-38"/>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E5A4D2-7EC6-45A0-8463-9C1FBA704598}" type="doc">
      <dgm:prSet loTypeId="urn:microsoft.com/office/officeart/2005/8/layout/arrow2" loCatId="process" qsTypeId="urn:microsoft.com/office/officeart/2005/8/quickstyle/simple1" qsCatId="simple" csTypeId="urn:microsoft.com/office/officeart/2005/8/colors/accent1_2" csCatId="accent1" phldr="1"/>
      <dgm:spPr/>
    </dgm:pt>
    <dgm:pt modelId="{491E6740-BD7D-4AA9-8FC7-D9B980E7EBF2}">
      <dgm:prSet phldrT="[Text]" custT="1"/>
      <dgm:spPr/>
      <dgm:t>
        <a:bodyPr/>
        <a:lstStyle/>
        <a:p>
          <a:r>
            <a:rPr lang="en-US" sz="2000" dirty="0" smtClean="0"/>
            <a:t>Forming</a:t>
          </a:r>
          <a:endParaRPr lang="en-US" sz="2000" dirty="0"/>
        </a:p>
      </dgm:t>
    </dgm:pt>
    <dgm:pt modelId="{8BA93D1B-539B-4BD6-B76C-9F664E614995}" type="parTrans" cxnId="{BAF886A5-4507-4E8C-9E41-B28F94D02047}">
      <dgm:prSet/>
      <dgm:spPr/>
      <dgm:t>
        <a:bodyPr/>
        <a:lstStyle/>
        <a:p>
          <a:endParaRPr lang="en-US"/>
        </a:p>
      </dgm:t>
    </dgm:pt>
    <dgm:pt modelId="{34786C9D-123E-4473-8BAE-47DFA8F7D941}" type="sibTrans" cxnId="{BAF886A5-4507-4E8C-9E41-B28F94D02047}">
      <dgm:prSet/>
      <dgm:spPr/>
      <dgm:t>
        <a:bodyPr/>
        <a:lstStyle/>
        <a:p>
          <a:endParaRPr lang="en-US"/>
        </a:p>
      </dgm:t>
    </dgm:pt>
    <dgm:pt modelId="{D4F4642B-274F-462F-9263-301FA7F63175}">
      <dgm:prSet phldrT="[Text]" custT="1"/>
      <dgm:spPr/>
      <dgm:t>
        <a:bodyPr/>
        <a:lstStyle/>
        <a:p>
          <a:r>
            <a:rPr lang="en-US" sz="2400" b="1" u="sng" dirty="0" smtClean="0">
              <a:solidFill>
                <a:srgbClr val="C00000"/>
              </a:solidFill>
            </a:rPr>
            <a:t>Storming</a:t>
          </a:r>
          <a:endParaRPr lang="en-US" sz="2400" b="1" u="sng" dirty="0">
            <a:solidFill>
              <a:srgbClr val="C00000"/>
            </a:solidFill>
          </a:endParaRPr>
        </a:p>
      </dgm:t>
    </dgm:pt>
    <dgm:pt modelId="{F61631A7-D47E-4BF8-B8EF-CE038B4A2EC6}" type="parTrans" cxnId="{F2544DA1-EB0F-4E63-97CC-9E2AF7F67477}">
      <dgm:prSet/>
      <dgm:spPr/>
      <dgm:t>
        <a:bodyPr/>
        <a:lstStyle/>
        <a:p>
          <a:endParaRPr lang="en-US"/>
        </a:p>
      </dgm:t>
    </dgm:pt>
    <dgm:pt modelId="{B302927C-3AA8-4DFF-B7E6-4BB377A33452}" type="sibTrans" cxnId="{F2544DA1-EB0F-4E63-97CC-9E2AF7F67477}">
      <dgm:prSet/>
      <dgm:spPr/>
      <dgm:t>
        <a:bodyPr/>
        <a:lstStyle/>
        <a:p>
          <a:endParaRPr lang="en-US"/>
        </a:p>
      </dgm:t>
    </dgm:pt>
    <dgm:pt modelId="{AFDCBA93-1F84-47D2-B2C4-981282C532FA}">
      <dgm:prSet phldrT="[Text]" custT="1"/>
      <dgm:spPr/>
      <dgm:t>
        <a:bodyPr/>
        <a:lstStyle/>
        <a:p>
          <a:r>
            <a:rPr lang="en-US" sz="2000" dirty="0" err="1" smtClean="0"/>
            <a:t>Norming</a:t>
          </a:r>
          <a:endParaRPr lang="en-US" sz="2000" dirty="0"/>
        </a:p>
      </dgm:t>
    </dgm:pt>
    <dgm:pt modelId="{31CA660A-F197-4366-B226-FC917DCB9A13}" type="parTrans" cxnId="{FBB8AF20-64C6-40A3-8F30-E7B611F0BA40}">
      <dgm:prSet/>
      <dgm:spPr/>
      <dgm:t>
        <a:bodyPr/>
        <a:lstStyle/>
        <a:p>
          <a:endParaRPr lang="en-US"/>
        </a:p>
      </dgm:t>
    </dgm:pt>
    <dgm:pt modelId="{7B553468-0FDA-45B0-B36B-FB501A4ADAF9}" type="sibTrans" cxnId="{FBB8AF20-64C6-40A3-8F30-E7B611F0BA40}">
      <dgm:prSet/>
      <dgm:spPr/>
      <dgm:t>
        <a:bodyPr/>
        <a:lstStyle/>
        <a:p>
          <a:endParaRPr lang="en-US"/>
        </a:p>
      </dgm:t>
    </dgm:pt>
    <dgm:pt modelId="{4BBCAF1C-FB0B-45C0-951B-F2A348711671}">
      <dgm:prSet phldrT="[Text]" custT="1"/>
      <dgm:spPr/>
      <dgm:t>
        <a:bodyPr/>
        <a:lstStyle/>
        <a:p>
          <a:r>
            <a:rPr lang="en-US" sz="2000" dirty="0" smtClean="0"/>
            <a:t>Performing</a:t>
          </a:r>
          <a:endParaRPr lang="en-US" sz="2000" dirty="0"/>
        </a:p>
      </dgm:t>
    </dgm:pt>
    <dgm:pt modelId="{F8B8222C-C50E-436F-B00C-8329560473F6}" type="parTrans" cxnId="{C056A1AE-68F5-4CDA-8DA4-CB0077D4D7C7}">
      <dgm:prSet/>
      <dgm:spPr/>
      <dgm:t>
        <a:bodyPr/>
        <a:lstStyle/>
        <a:p>
          <a:endParaRPr lang="en-US"/>
        </a:p>
      </dgm:t>
    </dgm:pt>
    <dgm:pt modelId="{24667487-D0E7-4479-9709-46EC067DD585}" type="sibTrans" cxnId="{C056A1AE-68F5-4CDA-8DA4-CB0077D4D7C7}">
      <dgm:prSet/>
      <dgm:spPr/>
      <dgm:t>
        <a:bodyPr/>
        <a:lstStyle/>
        <a:p>
          <a:endParaRPr lang="en-US"/>
        </a:p>
      </dgm:t>
    </dgm:pt>
    <dgm:pt modelId="{901FE09B-B012-45DC-95F6-497E0A17BAA5}">
      <dgm:prSet phldrT="[Text]" custT="1"/>
      <dgm:spPr/>
      <dgm:t>
        <a:bodyPr/>
        <a:lstStyle/>
        <a:p>
          <a:r>
            <a:rPr lang="en-US" sz="2000" dirty="0" smtClean="0"/>
            <a:t>Adjourning</a:t>
          </a:r>
          <a:endParaRPr lang="en-US" sz="2000" dirty="0"/>
        </a:p>
      </dgm:t>
    </dgm:pt>
    <dgm:pt modelId="{49DE2239-787C-4496-81E7-9648805498EE}" type="parTrans" cxnId="{AE02B438-F9E5-484F-A4F5-CD4218186765}">
      <dgm:prSet/>
      <dgm:spPr/>
      <dgm:t>
        <a:bodyPr/>
        <a:lstStyle/>
        <a:p>
          <a:endParaRPr lang="en-US"/>
        </a:p>
      </dgm:t>
    </dgm:pt>
    <dgm:pt modelId="{CA479DD2-ED81-4EB3-81E1-FF36B07EE6B3}" type="sibTrans" cxnId="{AE02B438-F9E5-484F-A4F5-CD4218186765}">
      <dgm:prSet/>
      <dgm:spPr/>
      <dgm:t>
        <a:bodyPr/>
        <a:lstStyle/>
        <a:p>
          <a:endParaRPr lang="en-US"/>
        </a:p>
      </dgm:t>
    </dgm:pt>
    <dgm:pt modelId="{A566375B-A9F9-449A-975F-EC65C07943D7}" type="pres">
      <dgm:prSet presAssocID="{9CE5A4D2-7EC6-45A0-8463-9C1FBA704598}" presName="arrowDiagram" presStyleCnt="0">
        <dgm:presLayoutVars>
          <dgm:chMax val="5"/>
          <dgm:dir/>
          <dgm:resizeHandles val="exact"/>
        </dgm:presLayoutVars>
      </dgm:prSet>
      <dgm:spPr/>
    </dgm:pt>
    <dgm:pt modelId="{B3E0D8DA-997B-4D20-809D-1EBEB4D74513}" type="pres">
      <dgm:prSet presAssocID="{9CE5A4D2-7EC6-45A0-8463-9C1FBA704598}" presName="arrow" presStyleLbl="bgShp" presStyleIdx="0" presStyleCnt="1"/>
      <dgm:spPr/>
    </dgm:pt>
    <dgm:pt modelId="{4DDE8A25-25EF-4B19-BF17-19B6C270F18F}" type="pres">
      <dgm:prSet presAssocID="{9CE5A4D2-7EC6-45A0-8463-9C1FBA704598}" presName="arrowDiagram5" presStyleCnt="0"/>
      <dgm:spPr/>
    </dgm:pt>
    <dgm:pt modelId="{AD120142-B771-4169-B235-FC7DBB2B4276}" type="pres">
      <dgm:prSet presAssocID="{491E6740-BD7D-4AA9-8FC7-D9B980E7EBF2}" presName="bullet5a" presStyleLbl="node1" presStyleIdx="0" presStyleCnt="5"/>
      <dgm:spPr/>
    </dgm:pt>
    <dgm:pt modelId="{E1F4BDC5-FFB7-437F-B8EE-B92EE24412BE}" type="pres">
      <dgm:prSet presAssocID="{491E6740-BD7D-4AA9-8FC7-D9B980E7EBF2}" presName="textBox5a" presStyleLbl="revTx" presStyleIdx="0" presStyleCnt="5">
        <dgm:presLayoutVars>
          <dgm:bulletEnabled val="1"/>
        </dgm:presLayoutVars>
      </dgm:prSet>
      <dgm:spPr/>
      <dgm:t>
        <a:bodyPr/>
        <a:lstStyle/>
        <a:p>
          <a:endParaRPr lang="en-US"/>
        </a:p>
      </dgm:t>
    </dgm:pt>
    <dgm:pt modelId="{40466D39-1D57-4536-A8B7-74B154C3CB11}" type="pres">
      <dgm:prSet presAssocID="{D4F4642B-274F-462F-9263-301FA7F63175}" presName="bullet5b" presStyleLbl="node1" presStyleIdx="1" presStyleCnt="5"/>
      <dgm:spPr/>
    </dgm:pt>
    <dgm:pt modelId="{9D43E71D-869D-41CD-97CC-A4187C2AE42D}" type="pres">
      <dgm:prSet presAssocID="{D4F4642B-274F-462F-9263-301FA7F63175}" presName="textBox5b" presStyleLbl="revTx" presStyleIdx="1" presStyleCnt="5">
        <dgm:presLayoutVars>
          <dgm:bulletEnabled val="1"/>
        </dgm:presLayoutVars>
      </dgm:prSet>
      <dgm:spPr/>
      <dgm:t>
        <a:bodyPr/>
        <a:lstStyle/>
        <a:p>
          <a:endParaRPr lang="en-US"/>
        </a:p>
      </dgm:t>
    </dgm:pt>
    <dgm:pt modelId="{6448E870-597D-48C1-BCB2-72FA3D5F7A4B}" type="pres">
      <dgm:prSet presAssocID="{AFDCBA93-1F84-47D2-B2C4-981282C532FA}" presName="bullet5c" presStyleLbl="node1" presStyleIdx="2" presStyleCnt="5"/>
      <dgm:spPr/>
    </dgm:pt>
    <dgm:pt modelId="{A9D0BA45-3E09-4D0A-B3FA-A1EAEC999C85}" type="pres">
      <dgm:prSet presAssocID="{AFDCBA93-1F84-47D2-B2C4-981282C532FA}" presName="textBox5c" presStyleLbl="revTx" presStyleIdx="2" presStyleCnt="5">
        <dgm:presLayoutVars>
          <dgm:bulletEnabled val="1"/>
        </dgm:presLayoutVars>
      </dgm:prSet>
      <dgm:spPr/>
      <dgm:t>
        <a:bodyPr/>
        <a:lstStyle/>
        <a:p>
          <a:endParaRPr lang="en-US"/>
        </a:p>
      </dgm:t>
    </dgm:pt>
    <dgm:pt modelId="{B79FFB2F-A801-4924-8E08-12908AC212DA}" type="pres">
      <dgm:prSet presAssocID="{4BBCAF1C-FB0B-45C0-951B-F2A348711671}" presName="bullet5d" presStyleLbl="node1" presStyleIdx="3" presStyleCnt="5"/>
      <dgm:spPr/>
    </dgm:pt>
    <dgm:pt modelId="{288E25CB-3CE3-4F73-80E2-65CCAB73A127}" type="pres">
      <dgm:prSet presAssocID="{4BBCAF1C-FB0B-45C0-951B-F2A348711671}" presName="textBox5d" presStyleLbl="revTx" presStyleIdx="3" presStyleCnt="5">
        <dgm:presLayoutVars>
          <dgm:bulletEnabled val="1"/>
        </dgm:presLayoutVars>
      </dgm:prSet>
      <dgm:spPr/>
      <dgm:t>
        <a:bodyPr/>
        <a:lstStyle/>
        <a:p>
          <a:endParaRPr lang="en-US"/>
        </a:p>
      </dgm:t>
    </dgm:pt>
    <dgm:pt modelId="{D73EE4B4-43E6-4E73-B1A9-A452CCB9E575}" type="pres">
      <dgm:prSet presAssocID="{901FE09B-B012-45DC-95F6-497E0A17BAA5}" presName="bullet5e" presStyleLbl="node1" presStyleIdx="4" presStyleCnt="5"/>
      <dgm:spPr/>
    </dgm:pt>
    <dgm:pt modelId="{2FC0F967-9A31-4468-8861-8F9AC2925733}" type="pres">
      <dgm:prSet presAssocID="{901FE09B-B012-45DC-95F6-497E0A17BAA5}" presName="textBox5e" presStyleLbl="revTx" presStyleIdx="4" presStyleCnt="5">
        <dgm:presLayoutVars>
          <dgm:bulletEnabled val="1"/>
        </dgm:presLayoutVars>
      </dgm:prSet>
      <dgm:spPr/>
      <dgm:t>
        <a:bodyPr/>
        <a:lstStyle/>
        <a:p>
          <a:endParaRPr lang="en-US"/>
        </a:p>
      </dgm:t>
    </dgm:pt>
  </dgm:ptLst>
  <dgm:cxnLst>
    <dgm:cxn modelId="{F2544DA1-EB0F-4E63-97CC-9E2AF7F67477}" srcId="{9CE5A4D2-7EC6-45A0-8463-9C1FBA704598}" destId="{D4F4642B-274F-462F-9263-301FA7F63175}" srcOrd="1" destOrd="0" parTransId="{F61631A7-D47E-4BF8-B8EF-CE038B4A2EC6}" sibTransId="{B302927C-3AA8-4DFF-B7E6-4BB377A33452}"/>
    <dgm:cxn modelId="{BEE337CE-C554-4397-ABFF-377883824E8F}" type="presOf" srcId="{AFDCBA93-1F84-47D2-B2C4-981282C532FA}" destId="{A9D0BA45-3E09-4D0A-B3FA-A1EAEC999C85}" srcOrd="0" destOrd="0" presId="urn:microsoft.com/office/officeart/2005/8/layout/arrow2"/>
    <dgm:cxn modelId="{BAF886A5-4507-4E8C-9E41-B28F94D02047}" srcId="{9CE5A4D2-7EC6-45A0-8463-9C1FBA704598}" destId="{491E6740-BD7D-4AA9-8FC7-D9B980E7EBF2}" srcOrd="0" destOrd="0" parTransId="{8BA93D1B-539B-4BD6-B76C-9F664E614995}" sibTransId="{34786C9D-123E-4473-8BAE-47DFA8F7D941}"/>
    <dgm:cxn modelId="{C02BCC90-576E-49A2-9FB7-3C90A8C0B844}" type="presOf" srcId="{4BBCAF1C-FB0B-45C0-951B-F2A348711671}" destId="{288E25CB-3CE3-4F73-80E2-65CCAB73A127}" srcOrd="0" destOrd="0" presId="urn:microsoft.com/office/officeart/2005/8/layout/arrow2"/>
    <dgm:cxn modelId="{0B42CC8C-0B03-42FB-B082-BADEE696782D}" type="presOf" srcId="{9CE5A4D2-7EC6-45A0-8463-9C1FBA704598}" destId="{A566375B-A9F9-449A-975F-EC65C07943D7}" srcOrd="0" destOrd="0" presId="urn:microsoft.com/office/officeart/2005/8/layout/arrow2"/>
    <dgm:cxn modelId="{C056A1AE-68F5-4CDA-8DA4-CB0077D4D7C7}" srcId="{9CE5A4D2-7EC6-45A0-8463-9C1FBA704598}" destId="{4BBCAF1C-FB0B-45C0-951B-F2A348711671}" srcOrd="3" destOrd="0" parTransId="{F8B8222C-C50E-436F-B00C-8329560473F6}" sibTransId="{24667487-D0E7-4479-9709-46EC067DD585}"/>
    <dgm:cxn modelId="{628159C6-7105-4E11-8543-463112D5A65F}" type="presOf" srcId="{901FE09B-B012-45DC-95F6-497E0A17BAA5}" destId="{2FC0F967-9A31-4468-8861-8F9AC2925733}" srcOrd="0" destOrd="0" presId="urn:microsoft.com/office/officeart/2005/8/layout/arrow2"/>
    <dgm:cxn modelId="{FBB8AF20-64C6-40A3-8F30-E7B611F0BA40}" srcId="{9CE5A4D2-7EC6-45A0-8463-9C1FBA704598}" destId="{AFDCBA93-1F84-47D2-B2C4-981282C532FA}" srcOrd="2" destOrd="0" parTransId="{31CA660A-F197-4366-B226-FC917DCB9A13}" sibTransId="{7B553468-0FDA-45B0-B36B-FB501A4ADAF9}"/>
    <dgm:cxn modelId="{984757A8-222E-4BE3-A759-9E54F0765711}" type="presOf" srcId="{491E6740-BD7D-4AA9-8FC7-D9B980E7EBF2}" destId="{E1F4BDC5-FFB7-437F-B8EE-B92EE24412BE}" srcOrd="0" destOrd="0" presId="urn:microsoft.com/office/officeart/2005/8/layout/arrow2"/>
    <dgm:cxn modelId="{976B1500-A97D-48EF-901D-494CB1A33EA9}" type="presOf" srcId="{D4F4642B-274F-462F-9263-301FA7F63175}" destId="{9D43E71D-869D-41CD-97CC-A4187C2AE42D}" srcOrd="0" destOrd="0" presId="urn:microsoft.com/office/officeart/2005/8/layout/arrow2"/>
    <dgm:cxn modelId="{AE02B438-F9E5-484F-A4F5-CD4218186765}" srcId="{9CE5A4D2-7EC6-45A0-8463-9C1FBA704598}" destId="{901FE09B-B012-45DC-95F6-497E0A17BAA5}" srcOrd="4" destOrd="0" parTransId="{49DE2239-787C-4496-81E7-9648805498EE}" sibTransId="{CA479DD2-ED81-4EB3-81E1-FF36B07EE6B3}"/>
    <dgm:cxn modelId="{C75F13C4-24D8-4C95-87BB-1EB3108DF2AA}" type="presParOf" srcId="{A566375B-A9F9-449A-975F-EC65C07943D7}" destId="{B3E0D8DA-997B-4D20-809D-1EBEB4D74513}" srcOrd="0" destOrd="0" presId="urn:microsoft.com/office/officeart/2005/8/layout/arrow2"/>
    <dgm:cxn modelId="{9FDCD2BB-7634-4EE7-9352-33598C96E062}" type="presParOf" srcId="{A566375B-A9F9-449A-975F-EC65C07943D7}" destId="{4DDE8A25-25EF-4B19-BF17-19B6C270F18F}" srcOrd="1" destOrd="0" presId="urn:microsoft.com/office/officeart/2005/8/layout/arrow2"/>
    <dgm:cxn modelId="{29AD6A8C-0CD9-4FC5-9330-340B074428ED}" type="presParOf" srcId="{4DDE8A25-25EF-4B19-BF17-19B6C270F18F}" destId="{AD120142-B771-4169-B235-FC7DBB2B4276}" srcOrd="0" destOrd="0" presId="urn:microsoft.com/office/officeart/2005/8/layout/arrow2"/>
    <dgm:cxn modelId="{5A82F590-3FB5-4C6F-9185-5E6409DEC5B5}" type="presParOf" srcId="{4DDE8A25-25EF-4B19-BF17-19B6C270F18F}" destId="{E1F4BDC5-FFB7-437F-B8EE-B92EE24412BE}" srcOrd="1" destOrd="0" presId="urn:microsoft.com/office/officeart/2005/8/layout/arrow2"/>
    <dgm:cxn modelId="{A299109E-8B62-450A-8096-C8774B9DACE0}" type="presParOf" srcId="{4DDE8A25-25EF-4B19-BF17-19B6C270F18F}" destId="{40466D39-1D57-4536-A8B7-74B154C3CB11}" srcOrd="2" destOrd="0" presId="urn:microsoft.com/office/officeart/2005/8/layout/arrow2"/>
    <dgm:cxn modelId="{8B66BBD3-A18D-405F-AE26-307E34C71676}" type="presParOf" srcId="{4DDE8A25-25EF-4B19-BF17-19B6C270F18F}" destId="{9D43E71D-869D-41CD-97CC-A4187C2AE42D}" srcOrd="3" destOrd="0" presId="urn:microsoft.com/office/officeart/2005/8/layout/arrow2"/>
    <dgm:cxn modelId="{9D3A1003-05A3-47E9-A4EC-00F60B93CF61}" type="presParOf" srcId="{4DDE8A25-25EF-4B19-BF17-19B6C270F18F}" destId="{6448E870-597D-48C1-BCB2-72FA3D5F7A4B}" srcOrd="4" destOrd="0" presId="urn:microsoft.com/office/officeart/2005/8/layout/arrow2"/>
    <dgm:cxn modelId="{E88F9818-0156-4D99-8BE6-922E7A2C15F3}" type="presParOf" srcId="{4DDE8A25-25EF-4B19-BF17-19B6C270F18F}" destId="{A9D0BA45-3E09-4D0A-B3FA-A1EAEC999C85}" srcOrd="5" destOrd="0" presId="urn:microsoft.com/office/officeart/2005/8/layout/arrow2"/>
    <dgm:cxn modelId="{5569B996-5423-4DBC-B15A-A2D0BCCD5E1D}" type="presParOf" srcId="{4DDE8A25-25EF-4B19-BF17-19B6C270F18F}" destId="{B79FFB2F-A801-4924-8E08-12908AC212DA}" srcOrd="6" destOrd="0" presId="urn:microsoft.com/office/officeart/2005/8/layout/arrow2"/>
    <dgm:cxn modelId="{0141D9CA-8285-41BF-A171-1FC613724384}" type="presParOf" srcId="{4DDE8A25-25EF-4B19-BF17-19B6C270F18F}" destId="{288E25CB-3CE3-4F73-80E2-65CCAB73A127}" srcOrd="7" destOrd="0" presId="urn:microsoft.com/office/officeart/2005/8/layout/arrow2"/>
    <dgm:cxn modelId="{972E55C3-9E39-4093-8925-7DE6F368D559}" type="presParOf" srcId="{4DDE8A25-25EF-4B19-BF17-19B6C270F18F}" destId="{D73EE4B4-43E6-4E73-B1A9-A452CCB9E575}" srcOrd="8" destOrd="0" presId="urn:microsoft.com/office/officeart/2005/8/layout/arrow2"/>
    <dgm:cxn modelId="{DA2FB217-6AE3-4A04-BEBF-AEFB86072F40}" type="presParOf" srcId="{4DDE8A25-25EF-4B19-BF17-19B6C270F18F}" destId="{2FC0F967-9A31-4468-8861-8F9AC2925733}" srcOrd="9" destOrd="0" presId="urn:microsoft.com/office/officeart/2005/8/layout/arrow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1C5B32-5FCE-4FB5-844C-5C527B278B5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011D142-774C-48B0-9292-2FA6A5D97E5B}">
      <dgm:prSet phldrT="[Text]" custT="1"/>
      <dgm:spPr/>
      <dgm:t>
        <a:bodyPr/>
        <a:lstStyle/>
        <a:p>
          <a:r>
            <a:rPr lang="en-US" sz="2200" dirty="0" smtClean="0"/>
            <a:t>Formal meeting</a:t>
          </a:r>
          <a:endParaRPr lang="en-US" sz="2200" dirty="0"/>
        </a:p>
      </dgm:t>
    </dgm:pt>
    <dgm:pt modelId="{5CD8279A-6107-4F49-BEB4-B37819E59635}" type="parTrans" cxnId="{4FC85A67-DA67-477A-9293-6C724E40C697}">
      <dgm:prSet/>
      <dgm:spPr/>
      <dgm:t>
        <a:bodyPr/>
        <a:lstStyle/>
        <a:p>
          <a:endParaRPr lang="en-US"/>
        </a:p>
      </dgm:t>
    </dgm:pt>
    <dgm:pt modelId="{C723D074-DC6E-431F-8498-A23B83302D30}" type="sibTrans" cxnId="{4FC85A67-DA67-477A-9293-6C724E40C697}">
      <dgm:prSet/>
      <dgm:spPr/>
      <dgm:t>
        <a:bodyPr/>
        <a:lstStyle/>
        <a:p>
          <a:endParaRPr lang="en-US"/>
        </a:p>
      </dgm:t>
    </dgm:pt>
    <dgm:pt modelId="{55C44569-DD72-47D1-9C52-BF1E46B9D470}">
      <dgm:prSet phldrT="[Text]" custT="1"/>
      <dgm:spPr>
        <a:solidFill>
          <a:schemeClr val="accent2"/>
        </a:solidFill>
      </dgm:spPr>
      <dgm:t>
        <a:bodyPr/>
        <a:lstStyle/>
        <a:p>
          <a:r>
            <a:rPr lang="en-US" sz="2200" dirty="0" smtClean="0"/>
            <a:t>Informal meeting</a:t>
          </a:r>
          <a:endParaRPr lang="en-US" sz="2200" dirty="0"/>
        </a:p>
      </dgm:t>
    </dgm:pt>
    <dgm:pt modelId="{82915859-101A-4D90-B9E8-117FE48E5AAA}" type="parTrans" cxnId="{429BCB5B-E57C-46B8-92CF-437E3A93F274}">
      <dgm:prSet/>
      <dgm:spPr/>
      <dgm:t>
        <a:bodyPr/>
        <a:lstStyle/>
        <a:p>
          <a:endParaRPr lang="en-US"/>
        </a:p>
      </dgm:t>
    </dgm:pt>
    <dgm:pt modelId="{5DA1D27E-33D4-4463-BE46-9B068BD80A82}" type="sibTrans" cxnId="{429BCB5B-E57C-46B8-92CF-437E3A93F274}">
      <dgm:prSet/>
      <dgm:spPr/>
      <dgm:t>
        <a:bodyPr/>
        <a:lstStyle/>
        <a:p>
          <a:endParaRPr lang="en-US"/>
        </a:p>
      </dgm:t>
    </dgm:pt>
    <dgm:pt modelId="{0B6B8F81-E805-4F68-B5C7-9570999C6984}">
      <dgm:prSet phldrT="[Text]" custT="1"/>
      <dgm:spPr>
        <a:solidFill>
          <a:schemeClr val="accent4"/>
        </a:solidFill>
      </dgm:spPr>
      <dgm:t>
        <a:bodyPr/>
        <a:lstStyle/>
        <a:p>
          <a:r>
            <a:rPr lang="en-US" sz="2200" dirty="0" smtClean="0"/>
            <a:t>Phone call</a:t>
          </a:r>
          <a:endParaRPr lang="en-US" sz="2200" dirty="0"/>
        </a:p>
      </dgm:t>
    </dgm:pt>
    <dgm:pt modelId="{877421D5-3FDB-496D-8346-65AC7B96FD0E}" type="parTrans" cxnId="{B9573841-76A6-4E45-8E1D-D021F2419318}">
      <dgm:prSet/>
      <dgm:spPr/>
      <dgm:t>
        <a:bodyPr/>
        <a:lstStyle/>
        <a:p>
          <a:endParaRPr lang="en-US"/>
        </a:p>
      </dgm:t>
    </dgm:pt>
    <dgm:pt modelId="{DC5A1956-2A94-4B86-9123-3A6C65C4F9D5}" type="sibTrans" cxnId="{B9573841-76A6-4E45-8E1D-D021F2419318}">
      <dgm:prSet/>
      <dgm:spPr/>
      <dgm:t>
        <a:bodyPr/>
        <a:lstStyle/>
        <a:p>
          <a:endParaRPr lang="en-US"/>
        </a:p>
      </dgm:t>
    </dgm:pt>
    <dgm:pt modelId="{F1DAFA62-CD3B-4D8C-BA32-E92089897964}">
      <dgm:prSet phldrT="[Text]" custT="1"/>
      <dgm:spPr>
        <a:solidFill>
          <a:schemeClr val="accent3"/>
        </a:solidFill>
      </dgm:spPr>
      <dgm:t>
        <a:bodyPr/>
        <a:lstStyle/>
        <a:p>
          <a:r>
            <a:rPr lang="en-US" sz="2200" dirty="0" smtClean="0"/>
            <a:t>Paper report</a:t>
          </a:r>
          <a:endParaRPr lang="en-US" sz="2200" dirty="0"/>
        </a:p>
      </dgm:t>
    </dgm:pt>
    <dgm:pt modelId="{7DA3BD59-29BA-4564-85F5-F6381E4D139D}" type="parTrans" cxnId="{1BC276E3-491B-4F9E-9380-4FBE9D588A14}">
      <dgm:prSet/>
      <dgm:spPr/>
      <dgm:t>
        <a:bodyPr/>
        <a:lstStyle/>
        <a:p>
          <a:endParaRPr lang="en-US"/>
        </a:p>
      </dgm:t>
    </dgm:pt>
    <dgm:pt modelId="{2CC54DF3-4279-4FF5-AD8C-E80156D832E5}" type="sibTrans" cxnId="{1BC276E3-491B-4F9E-9380-4FBE9D588A14}">
      <dgm:prSet/>
      <dgm:spPr/>
      <dgm:t>
        <a:bodyPr/>
        <a:lstStyle/>
        <a:p>
          <a:endParaRPr lang="en-US"/>
        </a:p>
      </dgm:t>
    </dgm:pt>
    <dgm:pt modelId="{F8471565-2D8E-40DA-8B7F-970D3D8D84F9}">
      <dgm:prSet phldrT="[Text]" custT="1"/>
      <dgm:spPr>
        <a:solidFill>
          <a:schemeClr val="accent5"/>
        </a:solidFill>
      </dgm:spPr>
      <dgm:t>
        <a:bodyPr/>
        <a:lstStyle/>
        <a:p>
          <a:r>
            <a:rPr lang="en-US" sz="2200" dirty="0" smtClean="0"/>
            <a:t>Conference call</a:t>
          </a:r>
          <a:endParaRPr lang="en-US" sz="2200" dirty="0"/>
        </a:p>
      </dgm:t>
    </dgm:pt>
    <dgm:pt modelId="{BE5801C7-CB81-40F4-AFA6-0A3F6498F871}" type="parTrans" cxnId="{B0874E5E-93C3-4B7E-9D0A-4A1104436F03}">
      <dgm:prSet/>
      <dgm:spPr/>
      <dgm:t>
        <a:bodyPr/>
        <a:lstStyle/>
        <a:p>
          <a:endParaRPr lang="en-US"/>
        </a:p>
      </dgm:t>
    </dgm:pt>
    <dgm:pt modelId="{43CE3E60-56C6-49B0-8DA3-DB141DACD205}" type="sibTrans" cxnId="{B0874E5E-93C3-4B7E-9D0A-4A1104436F03}">
      <dgm:prSet/>
      <dgm:spPr/>
      <dgm:t>
        <a:bodyPr/>
        <a:lstStyle/>
        <a:p>
          <a:endParaRPr lang="en-US"/>
        </a:p>
      </dgm:t>
    </dgm:pt>
    <dgm:pt modelId="{D952F56A-7DC9-4B71-BBEE-1032788E1A1B}">
      <dgm:prSet phldrT="[Text]" custT="1"/>
      <dgm:spPr>
        <a:solidFill>
          <a:schemeClr val="accent6"/>
        </a:solidFill>
      </dgm:spPr>
      <dgm:t>
        <a:bodyPr/>
        <a:lstStyle/>
        <a:p>
          <a:r>
            <a:rPr lang="en-US" sz="2200" dirty="0" smtClean="0"/>
            <a:t>Email</a:t>
          </a:r>
          <a:endParaRPr lang="en-US" sz="2200" dirty="0"/>
        </a:p>
      </dgm:t>
    </dgm:pt>
    <dgm:pt modelId="{311AB8F5-CE28-44F2-993F-A3CC1DBC8B8A}" type="parTrans" cxnId="{D716D3B9-F03F-47DD-B208-4F851C567F0C}">
      <dgm:prSet/>
      <dgm:spPr/>
      <dgm:t>
        <a:bodyPr/>
        <a:lstStyle/>
        <a:p>
          <a:endParaRPr lang="en-US"/>
        </a:p>
      </dgm:t>
    </dgm:pt>
    <dgm:pt modelId="{14F57401-FBBE-40C6-8037-D5C58469FB09}" type="sibTrans" cxnId="{D716D3B9-F03F-47DD-B208-4F851C567F0C}">
      <dgm:prSet/>
      <dgm:spPr/>
      <dgm:t>
        <a:bodyPr/>
        <a:lstStyle/>
        <a:p>
          <a:endParaRPr lang="en-US"/>
        </a:p>
      </dgm:t>
    </dgm:pt>
    <dgm:pt modelId="{4E7BF114-2320-4440-BF87-2CACD506F68D}">
      <dgm:prSet phldrT="[Text]" custT="1"/>
      <dgm:spPr>
        <a:solidFill>
          <a:schemeClr val="tx2"/>
        </a:solidFill>
      </dgm:spPr>
      <dgm:t>
        <a:bodyPr/>
        <a:lstStyle/>
        <a:p>
          <a:r>
            <a:rPr lang="en-US" sz="2200" dirty="0" smtClean="0"/>
            <a:t>Instant messages</a:t>
          </a:r>
          <a:endParaRPr lang="en-US" sz="2200" dirty="0"/>
        </a:p>
      </dgm:t>
    </dgm:pt>
    <dgm:pt modelId="{38F0A06C-6672-4EFA-A756-A08397CE7C65}" type="parTrans" cxnId="{059C57F3-544C-4F20-BE76-5E21B4FA42EF}">
      <dgm:prSet/>
      <dgm:spPr/>
      <dgm:t>
        <a:bodyPr/>
        <a:lstStyle/>
        <a:p>
          <a:endParaRPr lang="en-US"/>
        </a:p>
      </dgm:t>
    </dgm:pt>
    <dgm:pt modelId="{14908892-7597-4D1B-B1E6-9172B25C400B}" type="sibTrans" cxnId="{059C57F3-544C-4F20-BE76-5E21B4FA42EF}">
      <dgm:prSet/>
      <dgm:spPr/>
      <dgm:t>
        <a:bodyPr/>
        <a:lstStyle/>
        <a:p>
          <a:endParaRPr lang="en-US"/>
        </a:p>
      </dgm:t>
    </dgm:pt>
    <dgm:pt modelId="{AEBDF352-4E2C-4046-BD52-95A1C7C42968}">
      <dgm:prSet phldrT="[Text]" custT="1"/>
      <dgm:spPr>
        <a:solidFill>
          <a:schemeClr val="accent1"/>
        </a:solidFill>
      </dgm:spPr>
      <dgm:t>
        <a:bodyPr/>
        <a:lstStyle/>
        <a:p>
          <a:r>
            <a:rPr lang="en-US" sz="2200" dirty="0" smtClean="0"/>
            <a:t>Project management software</a:t>
          </a:r>
          <a:endParaRPr lang="en-US" sz="2200" dirty="0"/>
        </a:p>
      </dgm:t>
    </dgm:pt>
    <dgm:pt modelId="{57222C2F-2F8F-4AB2-A1FD-CF1BCD762709}" type="parTrans" cxnId="{42661119-4A4D-498F-B061-9B02054246B8}">
      <dgm:prSet/>
      <dgm:spPr/>
      <dgm:t>
        <a:bodyPr/>
        <a:lstStyle/>
        <a:p>
          <a:endParaRPr lang="en-US"/>
        </a:p>
      </dgm:t>
    </dgm:pt>
    <dgm:pt modelId="{A32E0F0A-D6A0-4580-8294-1C02381D4F6B}" type="sibTrans" cxnId="{42661119-4A4D-498F-B061-9B02054246B8}">
      <dgm:prSet/>
      <dgm:spPr/>
      <dgm:t>
        <a:bodyPr/>
        <a:lstStyle/>
        <a:p>
          <a:endParaRPr lang="en-US"/>
        </a:p>
      </dgm:t>
    </dgm:pt>
    <dgm:pt modelId="{C3A13041-BAF8-4336-838D-43439B32D96B}" type="pres">
      <dgm:prSet presAssocID="{901C5B32-5FCE-4FB5-844C-5C527B278B5C}" presName="linear" presStyleCnt="0">
        <dgm:presLayoutVars>
          <dgm:dir/>
          <dgm:animLvl val="lvl"/>
          <dgm:resizeHandles val="exact"/>
        </dgm:presLayoutVars>
      </dgm:prSet>
      <dgm:spPr/>
      <dgm:t>
        <a:bodyPr/>
        <a:lstStyle/>
        <a:p>
          <a:endParaRPr lang="en-US"/>
        </a:p>
      </dgm:t>
    </dgm:pt>
    <dgm:pt modelId="{8B6DCBEE-1B42-4D64-96BD-909B3959821C}" type="pres">
      <dgm:prSet presAssocID="{3011D142-774C-48B0-9292-2FA6A5D97E5B}" presName="parentLin" presStyleCnt="0"/>
      <dgm:spPr/>
    </dgm:pt>
    <dgm:pt modelId="{0953E22E-3AF9-4C25-9DFD-500154377E3E}" type="pres">
      <dgm:prSet presAssocID="{3011D142-774C-48B0-9292-2FA6A5D97E5B}" presName="parentLeftMargin" presStyleLbl="node1" presStyleIdx="0" presStyleCnt="8"/>
      <dgm:spPr/>
      <dgm:t>
        <a:bodyPr/>
        <a:lstStyle/>
        <a:p>
          <a:endParaRPr lang="en-US"/>
        </a:p>
      </dgm:t>
    </dgm:pt>
    <dgm:pt modelId="{A3CB35FC-0008-49F1-9BA7-E0AB06B833D2}" type="pres">
      <dgm:prSet presAssocID="{3011D142-774C-48B0-9292-2FA6A5D97E5B}" presName="parentText" presStyleLbl="node1" presStyleIdx="0" presStyleCnt="8" custScaleX="122224">
        <dgm:presLayoutVars>
          <dgm:chMax val="0"/>
          <dgm:bulletEnabled val="1"/>
        </dgm:presLayoutVars>
      </dgm:prSet>
      <dgm:spPr/>
      <dgm:t>
        <a:bodyPr/>
        <a:lstStyle/>
        <a:p>
          <a:endParaRPr lang="en-US"/>
        </a:p>
      </dgm:t>
    </dgm:pt>
    <dgm:pt modelId="{00164626-81C7-49D8-9F57-3B15B14A88F7}" type="pres">
      <dgm:prSet presAssocID="{3011D142-774C-48B0-9292-2FA6A5D97E5B}" presName="negativeSpace" presStyleCnt="0"/>
      <dgm:spPr/>
    </dgm:pt>
    <dgm:pt modelId="{F4D08F74-0FB8-4AA7-A500-96C11F50F106}" type="pres">
      <dgm:prSet presAssocID="{3011D142-774C-48B0-9292-2FA6A5D97E5B}" presName="childText" presStyleLbl="conFgAcc1" presStyleIdx="0" presStyleCnt="8">
        <dgm:presLayoutVars>
          <dgm:bulletEnabled val="1"/>
        </dgm:presLayoutVars>
      </dgm:prSet>
      <dgm:spPr/>
    </dgm:pt>
    <dgm:pt modelId="{EB32150E-8AF3-4F44-9683-721C6EBBDB67}" type="pres">
      <dgm:prSet presAssocID="{C723D074-DC6E-431F-8498-A23B83302D30}" presName="spaceBetweenRectangles" presStyleCnt="0"/>
      <dgm:spPr/>
    </dgm:pt>
    <dgm:pt modelId="{7CDC3E3C-4BBD-4BE5-A871-AB8763B3DB09}" type="pres">
      <dgm:prSet presAssocID="{55C44569-DD72-47D1-9C52-BF1E46B9D470}" presName="parentLin" presStyleCnt="0"/>
      <dgm:spPr/>
    </dgm:pt>
    <dgm:pt modelId="{74BB85C1-E468-4678-B30A-EB7B10B4C463}" type="pres">
      <dgm:prSet presAssocID="{55C44569-DD72-47D1-9C52-BF1E46B9D470}" presName="parentLeftMargin" presStyleLbl="node1" presStyleIdx="0" presStyleCnt="8"/>
      <dgm:spPr/>
      <dgm:t>
        <a:bodyPr/>
        <a:lstStyle/>
        <a:p>
          <a:endParaRPr lang="en-US"/>
        </a:p>
      </dgm:t>
    </dgm:pt>
    <dgm:pt modelId="{1CA175BA-1021-4523-B035-B1355516C9FE}" type="pres">
      <dgm:prSet presAssocID="{55C44569-DD72-47D1-9C52-BF1E46B9D470}" presName="parentText" presStyleLbl="node1" presStyleIdx="1" presStyleCnt="8" custScaleX="122224">
        <dgm:presLayoutVars>
          <dgm:chMax val="0"/>
          <dgm:bulletEnabled val="1"/>
        </dgm:presLayoutVars>
      </dgm:prSet>
      <dgm:spPr/>
      <dgm:t>
        <a:bodyPr/>
        <a:lstStyle/>
        <a:p>
          <a:endParaRPr lang="en-US"/>
        </a:p>
      </dgm:t>
    </dgm:pt>
    <dgm:pt modelId="{0663D900-588A-4E04-BDAD-A5A5CB8740A1}" type="pres">
      <dgm:prSet presAssocID="{55C44569-DD72-47D1-9C52-BF1E46B9D470}" presName="negativeSpace" presStyleCnt="0"/>
      <dgm:spPr/>
    </dgm:pt>
    <dgm:pt modelId="{455F33A5-DE25-4437-9439-59D1B94C97CF}" type="pres">
      <dgm:prSet presAssocID="{55C44569-DD72-47D1-9C52-BF1E46B9D470}" presName="childText" presStyleLbl="conFgAcc1" presStyleIdx="1" presStyleCnt="8">
        <dgm:presLayoutVars>
          <dgm:bulletEnabled val="1"/>
        </dgm:presLayoutVars>
      </dgm:prSet>
      <dgm:spPr/>
    </dgm:pt>
    <dgm:pt modelId="{8CE4D954-B17A-4D4C-A13F-353768617465}" type="pres">
      <dgm:prSet presAssocID="{5DA1D27E-33D4-4463-BE46-9B068BD80A82}" presName="spaceBetweenRectangles" presStyleCnt="0"/>
      <dgm:spPr/>
    </dgm:pt>
    <dgm:pt modelId="{3DDC5548-D0F6-4751-B853-ABEEA74C102B}" type="pres">
      <dgm:prSet presAssocID="{F1DAFA62-CD3B-4D8C-BA32-E92089897964}" presName="parentLin" presStyleCnt="0"/>
      <dgm:spPr/>
    </dgm:pt>
    <dgm:pt modelId="{0AAFD667-5517-45DA-8A8F-CA5E054CFACD}" type="pres">
      <dgm:prSet presAssocID="{F1DAFA62-CD3B-4D8C-BA32-E92089897964}" presName="parentLeftMargin" presStyleLbl="node1" presStyleIdx="1" presStyleCnt="8"/>
      <dgm:spPr/>
      <dgm:t>
        <a:bodyPr/>
        <a:lstStyle/>
        <a:p>
          <a:endParaRPr lang="en-US"/>
        </a:p>
      </dgm:t>
    </dgm:pt>
    <dgm:pt modelId="{48CF6272-ED23-4859-B748-16C4101F1C15}" type="pres">
      <dgm:prSet presAssocID="{F1DAFA62-CD3B-4D8C-BA32-E92089897964}" presName="parentText" presStyleLbl="node1" presStyleIdx="2" presStyleCnt="8" custScaleX="122224">
        <dgm:presLayoutVars>
          <dgm:chMax val="0"/>
          <dgm:bulletEnabled val="1"/>
        </dgm:presLayoutVars>
      </dgm:prSet>
      <dgm:spPr/>
      <dgm:t>
        <a:bodyPr/>
        <a:lstStyle/>
        <a:p>
          <a:endParaRPr lang="en-US"/>
        </a:p>
      </dgm:t>
    </dgm:pt>
    <dgm:pt modelId="{E63AC539-CB07-4500-82F8-5388A5D63A64}" type="pres">
      <dgm:prSet presAssocID="{F1DAFA62-CD3B-4D8C-BA32-E92089897964}" presName="negativeSpace" presStyleCnt="0"/>
      <dgm:spPr/>
    </dgm:pt>
    <dgm:pt modelId="{7D8898EF-3C3D-46EB-BBB9-D74D614DEE40}" type="pres">
      <dgm:prSet presAssocID="{F1DAFA62-CD3B-4D8C-BA32-E92089897964}" presName="childText" presStyleLbl="conFgAcc1" presStyleIdx="2" presStyleCnt="8">
        <dgm:presLayoutVars>
          <dgm:bulletEnabled val="1"/>
        </dgm:presLayoutVars>
      </dgm:prSet>
      <dgm:spPr/>
    </dgm:pt>
    <dgm:pt modelId="{AC9CD471-D5A6-41FE-BC3B-25BDE3354C80}" type="pres">
      <dgm:prSet presAssocID="{2CC54DF3-4279-4FF5-AD8C-E80156D832E5}" presName="spaceBetweenRectangles" presStyleCnt="0"/>
      <dgm:spPr/>
    </dgm:pt>
    <dgm:pt modelId="{55744A51-124C-4897-BEEE-CB4A3887EBB7}" type="pres">
      <dgm:prSet presAssocID="{0B6B8F81-E805-4F68-B5C7-9570999C6984}" presName="parentLin" presStyleCnt="0"/>
      <dgm:spPr/>
    </dgm:pt>
    <dgm:pt modelId="{031E1469-1E10-43FE-B4C1-B70C5208552E}" type="pres">
      <dgm:prSet presAssocID="{0B6B8F81-E805-4F68-B5C7-9570999C6984}" presName="parentLeftMargin" presStyleLbl="node1" presStyleIdx="2" presStyleCnt="8"/>
      <dgm:spPr/>
      <dgm:t>
        <a:bodyPr/>
        <a:lstStyle/>
        <a:p>
          <a:endParaRPr lang="en-US"/>
        </a:p>
      </dgm:t>
    </dgm:pt>
    <dgm:pt modelId="{F26E2774-1F1E-4436-8602-DEDA4FCABD12}" type="pres">
      <dgm:prSet presAssocID="{0B6B8F81-E805-4F68-B5C7-9570999C6984}" presName="parentText" presStyleLbl="node1" presStyleIdx="3" presStyleCnt="8" custScaleX="122224">
        <dgm:presLayoutVars>
          <dgm:chMax val="0"/>
          <dgm:bulletEnabled val="1"/>
        </dgm:presLayoutVars>
      </dgm:prSet>
      <dgm:spPr/>
      <dgm:t>
        <a:bodyPr/>
        <a:lstStyle/>
        <a:p>
          <a:endParaRPr lang="en-US"/>
        </a:p>
      </dgm:t>
    </dgm:pt>
    <dgm:pt modelId="{F9D7A760-EB8D-493D-9BEE-CC23BF6EE0F6}" type="pres">
      <dgm:prSet presAssocID="{0B6B8F81-E805-4F68-B5C7-9570999C6984}" presName="negativeSpace" presStyleCnt="0"/>
      <dgm:spPr/>
    </dgm:pt>
    <dgm:pt modelId="{4D2C00E8-A074-40C9-A1F3-415E066F9E9F}" type="pres">
      <dgm:prSet presAssocID="{0B6B8F81-E805-4F68-B5C7-9570999C6984}" presName="childText" presStyleLbl="conFgAcc1" presStyleIdx="3" presStyleCnt="8">
        <dgm:presLayoutVars>
          <dgm:bulletEnabled val="1"/>
        </dgm:presLayoutVars>
      </dgm:prSet>
      <dgm:spPr/>
    </dgm:pt>
    <dgm:pt modelId="{C430A52D-ED26-4FA7-BF39-F89864C6EFA8}" type="pres">
      <dgm:prSet presAssocID="{DC5A1956-2A94-4B86-9123-3A6C65C4F9D5}" presName="spaceBetweenRectangles" presStyleCnt="0"/>
      <dgm:spPr/>
    </dgm:pt>
    <dgm:pt modelId="{1F609322-6C78-4B86-97A8-4A4B20266FB2}" type="pres">
      <dgm:prSet presAssocID="{F8471565-2D8E-40DA-8B7F-970D3D8D84F9}" presName="parentLin" presStyleCnt="0"/>
      <dgm:spPr/>
    </dgm:pt>
    <dgm:pt modelId="{D6D293E7-9A28-4C42-9185-9D6C82D1A1AF}" type="pres">
      <dgm:prSet presAssocID="{F8471565-2D8E-40DA-8B7F-970D3D8D84F9}" presName="parentLeftMargin" presStyleLbl="node1" presStyleIdx="3" presStyleCnt="8"/>
      <dgm:spPr/>
      <dgm:t>
        <a:bodyPr/>
        <a:lstStyle/>
        <a:p>
          <a:endParaRPr lang="en-US"/>
        </a:p>
      </dgm:t>
    </dgm:pt>
    <dgm:pt modelId="{1349ED1E-B825-42B6-881B-804461D950DF}" type="pres">
      <dgm:prSet presAssocID="{F8471565-2D8E-40DA-8B7F-970D3D8D84F9}" presName="parentText" presStyleLbl="node1" presStyleIdx="4" presStyleCnt="8" custScaleX="122224">
        <dgm:presLayoutVars>
          <dgm:chMax val="0"/>
          <dgm:bulletEnabled val="1"/>
        </dgm:presLayoutVars>
      </dgm:prSet>
      <dgm:spPr/>
      <dgm:t>
        <a:bodyPr/>
        <a:lstStyle/>
        <a:p>
          <a:endParaRPr lang="en-US"/>
        </a:p>
      </dgm:t>
    </dgm:pt>
    <dgm:pt modelId="{9FCFFDC3-4987-4C71-AF01-4FAB328F1BB5}" type="pres">
      <dgm:prSet presAssocID="{F8471565-2D8E-40DA-8B7F-970D3D8D84F9}" presName="negativeSpace" presStyleCnt="0"/>
      <dgm:spPr/>
    </dgm:pt>
    <dgm:pt modelId="{E4048D94-6496-4F15-8D48-322E754D1588}" type="pres">
      <dgm:prSet presAssocID="{F8471565-2D8E-40DA-8B7F-970D3D8D84F9}" presName="childText" presStyleLbl="conFgAcc1" presStyleIdx="4" presStyleCnt="8">
        <dgm:presLayoutVars>
          <dgm:bulletEnabled val="1"/>
        </dgm:presLayoutVars>
      </dgm:prSet>
      <dgm:spPr/>
    </dgm:pt>
    <dgm:pt modelId="{61606105-D3AC-4139-949D-04370A5C07F2}" type="pres">
      <dgm:prSet presAssocID="{43CE3E60-56C6-49B0-8DA3-DB141DACD205}" presName="spaceBetweenRectangles" presStyleCnt="0"/>
      <dgm:spPr/>
    </dgm:pt>
    <dgm:pt modelId="{B7EFE807-41EC-4647-B99D-21ACEA3D316C}" type="pres">
      <dgm:prSet presAssocID="{D952F56A-7DC9-4B71-BBEE-1032788E1A1B}" presName="parentLin" presStyleCnt="0"/>
      <dgm:spPr/>
    </dgm:pt>
    <dgm:pt modelId="{999841AA-CC3E-40CF-90F4-DCA3EEA24405}" type="pres">
      <dgm:prSet presAssocID="{D952F56A-7DC9-4B71-BBEE-1032788E1A1B}" presName="parentLeftMargin" presStyleLbl="node1" presStyleIdx="4" presStyleCnt="8"/>
      <dgm:spPr/>
      <dgm:t>
        <a:bodyPr/>
        <a:lstStyle/>
        <a:p>
          <a:endParaRPr lang="en-US"/>
        </a:p>
      </dgm:t>
    </dgm:pt>
    <dgm:pt modelId="{6543CB62-0D35-426A-B5C4-47CF409BC038}" type="pres">
      <dgm:prSet presAssocID="{D952F56A-7DC9-4B71-BBEE-1032788E1A1B}" presName="parentText" presStyleLbl="node1" presStyleIdx="5" presStyleCnt="8" custScaleX="122224">
        <dgm:presLayoutVars>
          <dgm:chMax val="0"/>
          <dgm:bulletEnabled val="1"/>
        </dgm:presLayoutVars>
      </dgm:prSet>
      <dgm:spPr/>
      <dgm:t>
        <a:bodyPr/>
        <a:lstStyle/>
        <a:p>
          <a:endParaRPr lang="en-US"/>
        </a:p>
      </dgm:t>
    </dgm:pt>
    <dgm:pt modelId="{288215B6-C20F-41BE-A7BB-7FD94D91B22F}" type="pres">
      <dgm:prSet presAssocID="{D952F56A-7DC9-4B71-BBEE-1032788E1A1B}" presName="negativeSpace" presStyleCnt="0"/>
      <dgm:spPr/>
    </dgm:pt>
    <dgm:pt modelId="{073E95BB-3B08-4605-9FE1-516B29DD8F91}" type="pres">
      <dgm:prSet presAssocID="{D952F56A-7DC9-4B71-BBEE-1032788E1A1B}" presName="childText" presStyleLbl="conFgAcc1" presStyleIdx="5" presStyleCnt="8">
        <dgm:presLayoutVars>
          <dgm:bulletEnabled val="1"/>
        </dgm:presLayoutVars>
      </dgm:prSet>
      <dgm:spPr/>
    </dgm:pt>
    <dgm:pt modelId="{C109857A-48EE-4206-B946-5B1673D60F2D}" type="pres">
      <dgm:prSet presAssocID="{14F57401-FBBE-40C6-8037-D5C58469FB09}" presName="spaceBetweenRectangles" presStyleCnt="0"/>
      <dgm:spPr/>
    </dgm:pt>
    <dgm:pt modelId="{F711629E-BCEE-44C1-B9E1-5596F3D23215}" type="pres">
      <dgm:prSet presAssocID="{4E7BF114-2320-4440-BF87-2CACD506F68D}" presName="parentLin" presStyleCnt="0"/>
      <dgm:spPr/>
    </dgm:pt>
    <dgm:pt modelId="{CDC97B94-801B-4207-988A-BDA36D49391F}" type="pres">
      <dgm:prSet presAssocID="{4E7BF114-2320-4440-BF87-2CACD506F68D}" presName="parentLeftMargin" presStyleLbl="node1" presStyleIdx="5" presStyleCnt="8"/>
      <dgm:spPr/>
      <dgm:t>
        <a:bodyPr/>
        <a:lstStyle/>
        <a:p>
          <a:endParaRPr lang="en-US"/>
        </a:p>
      </dgm:t>
    </dgm:pt>
    <dgm:pt modelId="{072C269C-6E47-4BC9-A434-6E8A82873718}" type="pres">
      <dgm:prSet presAssocID="{4E7BF114-2320-4440-BF87-2CACD506F68D}" presName="parentText" presStyleLbl="node1" presStyleIdx="6" presStyleCnt="8" custScaleX="122224">
        <dgm:presLayoutVars>
          <dgm:chMax val="0"/>
          <dgm:bulletEnabled val="1"/>
        </dgm:presLayoutVars>
      </dgm:prSet>
      <dgm:spPr/>
      <dgm:t>
        <a:bodyPr/>
        <a:lstStyle/>
        <a:p>
          <a:endParaRPr lang="en-US"/>
        </a:p>
      </dgm:t>
    </dgm:pt>
    <dgm:pt modelId="{8E4A29A4-5499-42AF-B844-857DFE82A84D}" type="pres">
      <dgm:prSet presAssocID="{4E7BF114-2320-4440-BF87-2CACD506F68D}" presName="negativeSpace" presStyleCnt="0"/>
      <dgm:spPr/>
    </dgm:pt>
    <dgm:pt modelId="{8591185C-FB49-4DBD-9A02-90C34C72F6F5}" type="pres">
      <dgm:prSet presAssocID="{4E7BF114-2320-4440-BF87-2CACD506F68D}" presName="childText" presStyleLbl="conFgAcc1" presStyleIdx="6" presStyleCnt="8">
        <dgm:presLayoutVars>
          <dgm:bulletEnabled val="1"/>
        </dgm:presLayoutVars>
      </dgm:prSet>
      <dgm:spPr/>
    </dgm:pt>
    <dgm:pt modelId="{0EB7CA80-35A0-4217-8F41-5AFEC5A52188}" type="pres">
      <dgm:prSet presAssocID="{14908892-7597-4D1B-B1E6-9172B25C400B}" presName="spaceBetweenRectangles" presStyleCnt="0"/>
      <dgm:spPr/>
    </dgm:pt>
    <dgm:pt modelId="{286C9211-48AB-4F6F-997D-C700A27BBD20}" type="pres">
      <dgm:prSet presAssocID="{AEBDF352-4E2C-4046-BD52-95A1C7C42968}" presName="parentLin" presStyleCnt="0"/>
      <dgm:spPr/>
    </dgm:pt>
    <dgm:pt modelId="{BE3CD703-B185-47A4-B570-D132495E947F}" type="pres">
      <dgm:prSet presAssocID="{AEBDF352-4E2C-4046-BD52-95A1C7C42968}" presName="parentLeftMargin" presStyleLbl="node1" presStyleIdx="6" presStyleCnt="8"/>
      <dgm:spPr/>
      <dgm:t>
        <a:bodyPr/>
        <a:lstStyle/>
        <a:p>
          <a:endParaRPr lang="en-US"/>
        </a:p>
      </dgm:t>
    </dgm:pt>
    <dgm:pt modelId="{41093C9F-C6C0-4FF7-A40E-890D498A05F8}" type="pres">
      <dgm:prSet presAssocID="{AEBDF352-4E2C-4046-BD52-95A1C7C42968}" presName="parentText" presStyleLbl="node1" presStyleIdx="7" presStyleCnt="8" custScaleX="122224">
        <dgm:presLayoutVars>
          <dgm:chMax val="0"/>
          <dgm:bulletEnabled val="1"/>
        </dgm:presLayoutVars>
      </dgm:prSet>
      <dgm:spPr/>
      <dgm:t>
        <a:bodyPr/>
        <a:lstStyle/>
        <a:p>
          <a:endParaRPr lang="en-US"/>
        </a:p>
      </dgm:t>
    </dgm:pt>
    <dgm:pt modelId="{074294B4-3462-44FE-B5E1-6FB4AA3D5C32}" type="pres">
      <dgm:prSet presAssocID="{AEBDF352-4E2C-4046-BD52-95A1C7C42968}" presName="negativeSpace" presStyleCnt="0"/>
      <dgm:spPr/>
    </dgm:pt>
    <dgm:pt modelId="{ED5C3A88-EF67-44A4-B5FF-7F2107C38A44}" type="pres">
      <dgm:prSet presAssocID="{AEBDF352-4E2C-4046-BD52-95A1C7C42968}" presName="childText" presStyleLbl="conFgAcc1" presStyleIdx="7" presStyleCnt="8">
        <dgm:presLayoutVars>
          <dgm:bulletEnabled val="1"/>
        </dgm:presLayoutVars>
      </dgm:prSet>
      <dgm:spPr/>
    </dgm:pt>
  </dgm:ptLst>
  <dgm:cxnLst>
    <dgm:cxn modelId="{B9573841-76A6-4E45-8E1D-D021F2419318}" srcId="{901C5B32-5FCE-4FB5-844C-5C527B278B5C}" destId="{0B6B8F81-E805-4F68-B5C7-9570999C6984}" srcOrd="3" destOrd="0" parTransId="{877421D5-3FDB-496D-8346-65AC7B96FD0E}" sibTransId="{DC5A1956-2A94-4B86-9123-3A6C65C4F9D5}"/>
    <dgm:cxn modelId="{BA03B22A-D2C2-4AA5-8402-4DC550DD080F}" type="presOf" srcId="{F1DAFA62-CD3B-4D8C-BA32-E92089897964}" destId="{48CF6272-ED23-4859-B748-16C4101F1C15}" srcOrd="1" destOrd="0" presId="urn:microsoft.com/office/officeart/2005/8/layout/list1"/>
    <dgm:cxn modelId="{2101CB32-EF80-4539-820F-7DF31616E511}" type="presOf" srcId="{55C44569-DD72-47D1-9C52-BF1E46B9D470}" destId="{74BB85C1-E468-4678-B30A-EB7B10B4C463}" srcOrd="0" destOrd="0" presId="urn:microsoft.com/office/officeart/2005/8/layout/list1"/>
    <dgm:cxn modelId="{D8EE8810-CB7F-47B4-ACFB-D4F2EED0906A}" type="presOf" srcId="{F8471565-2D8E-40DA-8B7F-970D3D8D84F9}" destId="{D6D293E7-9A28-4C42-9185-9D6C82D1A1AF}" srcOrd="0" destOrd="0" presId="urn:microsoft.com/office/officeart/2005/8/layout/list1"/>
    <dgm:cxn modelId="{F822017B-CDFC-4542-900C-B9CF5C221EA7}" type="presOf" srcId="{F1DAFA62-CD3B-4D8C-BA32-E92089897964}" destId="{0AAFD667-5517-45DA-8A8F-CA5E054CFACD}" srcOrd="0" destOrd="0" presId="urn:microsoft.com/office/officeart/2005/8/layout/list1"/>
    <dgm:cxn modelId="{947C4561-FD82-4C0A-AB13-F60698284F20}" type="presOf" srcId="{55C44569-DD72-47D1-9C52-BF1E46B9D470}" destId="{1CA175BA-1021-4523-B035-B1355516C9FE}" srcOrd="1" destOrd="0" presId="urn:microsoft.com/office/officeart/2005/8/layout/list1"/>
    <dgm:cxn modelId="{1121DEAB-9120-4D1B-92B5-81E5DC370BA4}" type="presOf" srcId="{0B6B8F81-E805-4F68-B5C7-9570999C6984}" destId="{F26E2774-1F1E-4436-8602-DEDA4FCABD12}" srcOrd="1" destOrd="0" presId="urn:microsoft.com/office/officeart/2005/8/layout/list1"/>
    <dgm:cxn modelId="{7A5ABA50-00E7-4964-BAA6-2C83D4BDBC8C}" type="presOf" srcId="{D952F56A-7DC9-4B71-BBEE-1032788E1A1B}" destId="{999841AA-CC3E-40CF-90F4-DCA3EEA24405}" srcOrd="0" destOrd="0" presId="urn:microsoft.com/office/officeart/2005/8/layout/list1"/>
    <dgm:cxn modelId="{8E9471F4-6D74-4772-AEA5-3314F17C0DDF}" type="presOf" srcId="{3011D142-774C-48B0-9292-2FA6A5D97E5B}" destId="{A3CB35FC-0008-49F1-9BA7-E0AB06B833D2}" srcOrd="1" destOrd="0" presId="urn:microsoft.com/office/officeart/2005/8/layout/list1"/>
    <dgm:cxn modelId="{2FADF204-FEEC-4F40-80BD-1004E032A1D2}" type="presOf" srcId="{F8471565-2D8E-40DA-8B7F-970D3D8D84F9}" destId="{1349ED1E-B825-42B6-881B-804461D950DF}" srcOrd="1" destOrd="0" presId="urn:microsoft.com/office/officeart/2005/8/layout/list1"/>
    <dgm:cxn modelId="{284A6D10-D931-49DE-8263-672848533CB6}" type="presOf" srcId="{4E7BF114-2320-4440-BF87-2CACD506F68D}" destId="{CDC97B94-801B-4207-988A-BDA36D49391F}" srcOrd="0" destOrd="0" presId="urn:microsoft.com/office/officeart/2005/8/layout/list1"/>
    <dgm:cxn modelId="{6BE6A8F0-2C2F-4138-9231-8E5C24651A7E}" type="presOf" srcId="{AEBDF352-4E2C-4046-BD52-95A1C7C42968}" destId="{BE3CD703-B185-47A4-B570-D132495E947F}" srcOrd="0" destOrd="0" presId="urn:microsoft.com/office/officeart/2005/8/layout/list1"/>
    <dgm:cxn modelId="{D716D3B9-F03F-47DD-B208-4F851C567F0C}" srcId="{901C5B32-5FCE-4FB5-844C-5C527B278B5C}" destId="{D952F56A-7DC9-4B71-BBEE-1032788E1A1B}" srcOrd="5" destOrd="0" parTransId="{311AB8F5-CE28-44F2-993F-A3CC1DBC8B8A}" sibTransId="{14F57401-FBBE-40C6-8037-D5C58469FB09}"/>
    <dgm:cxn modelId="{BA3BA070-FCC3-45CB-9596-3EA94C0C770A}" type="presOf" srcId="{3011D142-774C-48B0-9292-2FA6A5D97E5B}" destId="{0953E22E-3AF9-4C25-9DFD-500154377E3E}" srcOrd="0" destOrd="0" presId="urn:microsoft.com/office/officeart/2005/8/layout/list1"/>
    <dgm:cxn modelId="{429BCB5B-E57C-46B8-92CF-437E3A93F274}" srcId="{901C5B32-5FCE-4FB5-844C-5C527B278B5C}" destId="{55C44569-DD72-47D1-9C52-BF1E46B9D470}" srcOrd="1" destOrd="0" parTransId="{82915859-101A-4D90-B9E8-117FE48E5AAA}" sibTransId="{5DA1D27E-33D4-4463-BE46-9B068BD80A82}"/>
    <dgm:cxn modelId="{B0874E5E-93C3-4B7E-9D0A-4A1104436F03}" srcId="{901C5B32-5FCE-4FB5-844C-5C527B278B5C}" destId="{F8471565-2D8E-40DA-8B7F-970D3D8D84F9}" srcOrd="4" destOrd="0" parTransId="{BE5801C7-CB81-40F4-AFA6-0A3F6498F871}" sibTransId="{43CE3E60-56C6-49B0-8DA3-DB141DACD205}"/>
    <dgm:cxn modelId="{BAA5BF37-51A1-46DD-B3E4-7DD52D95D044}" type="presOf" srcId="{4E7BF114-2320-4440-BF87-2CACD506F68D}" destId="{072C269C-6E47-4BC9-A434-6E8A82873718}" srcOrd="1" destOrd="0" presId="urn:microsoft.com/office/officeart/2005/8/layout/list1"/>
    <dgm:cxn modelId="{68001DA8-E446-41AC-8FC4-D7F37D1260DC}" type="presOf" srcId="{901C5B32-5FCE-4FB5-844C-5C527B278B5C}" destId="{C3A13041-BAF8-4336-838D-43439B32D96B}" srcOrd="0" destOrd="0" presId="urn:microsoft.com/office/officeart/2005/8/layout/list1"/>
    <dgm:cxn modelId="{E0E1F9B8-65E1-4E88-AE56-095F8300F162}" type="presOf" srcId="{0B6B8F81-E805-4F68-B5C7-9570999C6984}" destId="{031E1469-1E10-43FE-B4C1-B70C5208552E}" srcOrd="0" destOrd="0" presId="urn:microsoft.com/office/officeart/2005/8/layout/list1"/>
    <dgm:cxn modelId="{42661119-4A4D-498F-B061-9B02054246B8}" srcId="{901C5B32-5FCE-4FB5-844C-5C527B278B5C}" destId="{AEBDF352-4E2C-4046-BD52-95A1C7C42968}" srcOrd="7" destOrd="0" parTransId="{57222C2F-2F8F-4AB2-A1FD-CF1BCD762709}" sibTransId="{A32E0F0A-D6A0-4580-8294-1C02381D4F6B}"/>
    <dgm:cxn modelId="{4FC85A67-DA67-477A-9293-6C724E40C697}" srcId="{901C5B32-5FCE-4FB5-844C-5C527B278B5C}" destId="{3011D142-774C-48B0-9292-2FA6A5D97E5B}" srcOrd="0" destOrd="0" parTransId="{5CD8279A-6107-4F49-BEB4-B37819E59635}" sibTransId="{C723D074-DC6E-431F-8498-A23B83302D30}"/>
    <dgm:cxn modelId="{DD8A5EE2-BB9C-499D-A2FF-C025A4DA5C34}" type="presOf" srcId="{D952F56A-7DC9-4B71-BBEE-1032788E1A1B}" destId="{6543CB62-0D35-426A-B5C4-47CF409BC038}" srcOrd="1" destOrd="0" presId="urn:microsoft.com/office/officeart/2005/8/layout/list1"/>
    <dgm:cxn modelId="{8A980ABF-5D85-40E6-9786-4C1B15665350}" type="presOf" srcId="{AEBDF352-4E2C-4046-BD52-95A1C7C42968}" destId="{41093C9F-C6C0-4FF7-A40E-890D498A05F8}" srcOrd="1" destOrd="0" presId="urn:microsoft.com/office/officeart/2005/8/layout/list1"/>
    <dgm:cxn modelId="{1BC276E3-491B-4F9E-9380-4FBE9D588A14}" srcId="{901C5B32-5FCE-4FB5-844C-5C527B278B5C}" destId="{F1DAFA62-CD3B-4D8C-BA32-E92089897964}" srcOrd="2" destOrd="0" parTransId="{7DA3BD59-29BA-4564-85F5-F6381E4D139D}" sibTransId="{2CC54DF3-4279-4FF5-AD8C-E80156D832E5}"/>
    <dgm:cxn modelId="{059C57F3-544C-4F20-BE76-5E21B4FA42EF}" srcId="{901C5B32-5FCE-4FB5-844C-5C527B278B5C}" destId="{4E7BF114-2320-4440-BF87-2CACD506F68D}" srcOrd="6" destOrd="0" parTransId="{38F0A06C-6672-4EFA-A756-A08397CE7C65}" sibTransId="{14908892-7597-4D1B-B1E6-9172B25C400B}"/>
    <dgm:cxn modelId="{6B88E484-C577-4AA4-9703-85055277A3F6}" type="presParOf" srcId="{C3A13041-BAF8-4336-838D-43439B32D96B}" destId="{8B6DCBEE-1B42-4D64-96BD-909B3959821C}" srcOrd="0" destOrd="0" presId="urn:microsoft.com/office/officeart/2005/8/layout/list1"/>
    <dgm:cxn modelId="{D9FECC6D-4927-4C1E-899A-1075A8A81869}" type="presParOf" srcId="{8B6DCBEE-1B42-4D64-96BD-909B3959821C}" destId="{0953E22E-3AF9-4C25-9DFD-500154377E3E}" srcOrd="0" destOrd="0" presId="urn:microsoft.com/office/officeart/2005/8/layout/list1"/>
    <dgm:cxn modelId="{4FBD0229-33B8-4C38-8375-2E40B1590269}" type="presParOf" srcId="{8B6DCBEE-1B42-4D64-96BD-909B3959821C}" destId="{A3CB35FC-0008-49F1-9BA7-E0AB06B833D2}" srcOrd="1" destOrd="0" presId="urn:microsoft.com/office/officeart/2005/8/layout/list1"/>
    <dgm:cxn modelId="{BCED5474-42E8-42AC-89BA-492A85E1B4DD}" type="presParOf" srcId="{C3A13041-BAF8-4336-838D-43439B32D96B}" destId="{00164626-81C7-49D8-9F57-3B15B14A88F7}" srcOrd="1" destOrd="0" presId="urn:microsoft.com/office/officeart/2005/8/layout/list1"/>
    <dgm:cxn modelId="{C352330A-CD92-46F0-B80D-40F611A44917}" type="presParOf" srcId="{C3A13041-BAF8-4336-838D-43439B32D96B}" destId="{F4D08F74-0FB8-4AA7-A500-96C11F50F106}" srcOrd="2" destOrd="0" presId="urn:microsoft.com/office/officeart/2005/8/layout/list1"/>
    <dgm:cxn modelId="{C06BFBBE-4191-4464-8044-1B4A0E39C3E5}" type="presParOf" srcId="{C3A13041-BAF8-4336-838D-43439B32D96B}" destId="{EB32150E-8AF3-4F44-9683-721C6EBBDB67}" srcOrd="3" destOrd="0" presId="urn:microsoft.com/office/officeart/2005/8/layout/list1"/>
    <dgm:cxn modelId="{A5F83383-8032-478A-B8CD-D1ACC4347198}" type="presParOf" srcId="{C3A13041-BAF8-4336-838D-43439B32D96B}" destId="{7CDC3E3C-4BBD-4BE5-A871-AB8763B3DB09}" srcOrd="4" destOrd="0" presId="urn:microsoft.com/office/officeart/2005/8/layout/list1"/>
    <dgm:cxn modelId="{BC30186D-A632-4DC2-B5BA-15F2BDA8D1B8}" type="presParOf" srcId="{7CDC3E3C-4BBD-4BE5-A871-AB8763B3DB09}" destId="{74BB85C1-E468-4678-B30A-EB7B10B4C463}" srcOrd="0" destOrd="0" presId="urn:microsoft.com/office/officeart/2005/8/layout/list1"/>
    <dgm:cxn modelId="{525C4631-947E-48F8-B813-6F054A3AC2C1}" type="presParOf" srcId="{7CDC3E3C-4BBD-4BE5-A871-AB8763B3DB09}" destId="{1CA175BA-1021-4523-B035-B1355516C9FE}" srcOrd="1" destOrd="0" presId="urn:microsoft.com/office/officeart/2005/8/layout/list1"/>
    <dgm:cxn modelId="{12A6BA8A-D08E-45B5-A8C7-7AAB5B8F4660}" type="presParOf" srcId="{C3A13041-BAF8-4336-838D-43439B32D96B}" destId="{0663D900-588A-4E04-BDAD-A5A5CB8740A1}" srcOrd="5" destOrd="0" presId="urn:microsoft.com/office/officeart/2005/8/layout/list1"/>
    <dgm:cxn modelId="{FAE1790E-91D7-4EE9-88CD-C6C640B85BF9}" type="presParOf" srcId="{C3A13041-BAF8-4336-838D-43439B32D96B}" destId="{455F33A5-DE25-4437-9439-59D1B94C97CF}" srcOrd="6" destOrd="0" presId="urn:microsoft.com/office/officeart/2005/8/layout/list1"/>
    <dgm:cxn modelId="{91B43231-834A-4290-9521-B681DD6A3437}" type="presParOf" srcId="{C3A13041-BAF8-4336-838D-43439B32D96B}" destId="{8CE4D954-B17A-4D4C-A13F-353768617465}" srcOrd="7" destOrd="0" presId="urn:microsoft.com/office/officeart/2005/8/layout/list1"/>
    <dgm:cxn modelId="{A85DCC47-8D62-4FC3-A54B-A4B7481ABEE6}" type="presParOf" srcId="{C3A13041-BAF8-4336-838D-43439B32D96B}" destId="{3DDC5548-D0F6-4751-B853-ABEEA74C102B}" srcOrd="8" destOrd="0" presId="urn:microsoft.com/office/officeart/2005/8/layout/list1"/>
    <dgm:cxn modelId="{1813D0BF-5CF6-4EB2-A5B2-39451CAD7367}" type="presParOf" srcId="{3DDC5548-D0F6-4751-B853-ABEEA74C102B}" destId="{0AAFD667-5517-45DA-8A8F-CA5E054CFACD}" srcOrd="0" destOrd="0" presId="urn:microsoft.com/office/officeart/2005/8/layout/list1"/>
    <dgm:cxn modelId="{7DA8BA6B-67C6-44C8-9AFD-A78860A45FD3}" type="presParOf" srcId="{3DDC5548-D0F6-4751-B853-ABEEA74C102B}" destId="{48CF6272-ED23-4859-B748-16C4101F1C15}" srcOrd="1" destOrd="0" presId="urn:microsoft.com/office/officeart/2005/8/layout/list1"/>
    <dgm:cxn modelId="{4DCCA2BF-F386-4469-9A70-BC200E679F95}" type="presParOf" srcId="{C3A13041-BAF8-4336-838D-43439B32D96B}" destId="{E63AC539-CB07-4500-82F8-5388A5D63A64}" srcOrd="9" destOrd="0" presId="urn:microsoft.com/office/officeart/2005/8/layout/list1"/>
    <dgm:cxn modelId="{C6FD2402-B013-47DC-ABF5-409C3FC11E32}" type="presParOf" srcId="{C3A13041-BAF8-4336-838D-43439B32D96B}" destId="{7D8898EF-3C3D-46EB-BBB9-D74D614DEE40}" srcOrd="10" destOrd="0" presId="urn:microsoft.com/office/officeart/2005/8/layout/list1"/>
    <dgm:cxn modelId="{A1A0B7A7-84E0-474C-B59B-F3D7E0C79A40}" type="presParOf" srcId="{C3A13041-BAF8-4336-838D-43439B32D96B}" destId="{AC9CD471-D5A6-41FE-BC3B-25BDE3354C80}" srcOrd="11" destOrd="0" presId="urn:microsoft.com/office/officeart/2005/8/layout/list1"/>
    <dgm:cxn modelId="{B1D31FB0-58B2-41E7-8DAC-146356D59CA8}" type="presParOf" srcId="{C3A13041-BAF8-4336-838D-43439B32D96B}" destId="{55744A51-124C-4897-BEEE-CB4A3887EBB7}" srcOrd="12" destOrd="0" presId="urn:microsoft.com/office/officeart/2005/8/layout/list1"/>
    <dgm:cxn modelId="{5E8848E3-F765-4503-85CF-5974BF8FA6FA}" type="presParOf" srcId="{55744A51-124C-4897-BEEE-CB4A3887EBB7}" destId="{031E1469-1E10-43FE-B4C1-B70C5208552E}" srcOrd="0" destOrd="0" presId="urn:microsoft.com/office/officeart/2005/8/layout/list1"/>
    <dgm:cxn modelId="{30FD24A8-C9AA-457E-9647-44F42443719B}" type="presParOf" srcId="{55744A51-124C-4897-BEEE-CB4A3887EBB7}" destId="{F26E2774-1F1E-4436-8602-DEDA4FCABD12}" srcOrd="1" destOrd="0" presId="urn:microsoft.com/office/officeart/2005/8/layout/list1"/>
    <dgm:cxn modelId="{02DBC212-09A9-4192-9B71-10FBE210D8CF}" type="presParOf" srcId="{C3A13041-BAF8-4336-838D-43439B32D96B}" destId="{F9D7A760-EB8D-493D-9BEE-CC23BF6EE0F6}" srcOrd="13" destOrd="0" presId="urn:microsoft.com/office/officeart/2005/8/layout/list1"/>
    <dgm:cxn modelId="{E9C25413-605F-4775-B39F-0A9BE126EF9D}" type="presParOf" srcId="{C3A13041-BAF8-4336-838D-43439B32D96B}" destId="{4D2C00E8-A074-40C9-A1F3-415E066F9E9F}" srcOrd="14" destOrd="0" presId="urn:microsoft.com/office/officeart/2005/8/layout/list1"/>
    <dgm:cxn modelId="{100427AC-A0BC-4B7E-B48E-57B73F152C0C}" type="presParOf" srcId="{C3A13041-BAF8-4336-838D-43439B32D96B}" destId="{C430A52D-ED26-4FA7-BF39-F89864C6EFA8}" srcOrd="15" destOrd="0" presId="urn:microsoft.com/office/officeart/2005/8/layout/list1"/>
    <dgm:cxn modelId="{F856D114-285F-46C1-A330-4E827284E254}" type="presParOf" srcId="{C3A13041-BAF8-4336-838D-43439B32D96B}" destId="{1F609322-6C78-4B86-97A8-4A4B20266FB2}" srcOrd="16" destOrd="0" presId="urn:microsoft.com/office/officeart/2005/8/layout/list1"/>
    <dgm:cxn modelId="{448A6EED-01BD-49BC-8598-F6C4283D7469}" type="presParOf" srcId="{1F609322-6C78-4B86-97A8-4A4B20266FB2}" destId="{D6D293E7-9A28-4C42-9185-9D6C82D1A1AF}" srcOrd="0" destOrd="0" presId="urn:microsoft.com/office/officeart/2005/8/layout/list1"/>
    <dgm:cxn modelId="{01401EA3-C0A7-4828-BB69-B6E3D94BDF9D}" type="presParOf" srcId="{1F609322-6C78-4B86-97A8-4A4B20266FB2}" destId="{1349ED1E-B825-42B6-881B-804461D950DF}" srcOrd="1" destOrd="0" presId="urn:microsoft.com/office/officeart/2005/8/layout/list1"/>
    <dgm:cxn modelId="{A1F67202-6FF5-4E52-B343-780D4AC8EEDE}" type="presParOf" srcId="{C3A13041-BAF8-4336-838D-43439B32D96B}" destId="{9FCFFDC3-4987-4C71-AF01-4FAB328F1BB5}" srcOrd="17" destOrd="0" presId="urn:microsoft.com/office/officeart/2005/8/layout/list1"/>
    <dgm:cxn modelId="{B0C41EE5-C306-4CAC-A088-780EBD41A2DF}" type="presParOf" srcId="{C3A13041-BAF8-4336-838D-43439B32D96B}" destId="{E4048D94-6496-4F15-8D48-322E754D1588}" srcOrd="18" destOrd="0" presId="urn:microsoft.com/office/officeart/2005/8/layout/list1"/>
    <dgm:cxn modelId="{2EA77EBC-63E9-40AA-BBA7-4D5E9A3ADA08}" type="presParOf" srcId="{C3A13041-BAF8-4336-838D-43439B32D96B}" destId="{61606105-D3AC-4139-949D-04370A5C07F2}" srcOrd="19" destOrd="0" presId="urn:microsoft.com/office/officeart/2005/8/layout/list1"/>
    <dgm:cxn modelId="{128B11A1-BAF4-43D5-AC07-DC2C52C1B8CB}" type="presParOf" srcId="{C3A13041-BAF8-4336-838D-43439B32D96B}" destId="{B7EFE807-41EC-4647-B99D-21ACEA3D316C}" srcOrd="20" destOrd="0" presId="urn:microsoft.com/office/officeart/2005/8/layout/list1"/>
    <dgm:cxn modelId="{CA5D4E9F-FAD7-4509-9811-255A4B2DE561}" type="presParOf" srcId="{B7EFE807-41EC-4647-B99D-21ACEA3D316C}" destId="{999841AA-CC3E-40CF-90F4-DCA3EEA24405}" srcOrd="0" destOrd="0" presId="urn:microsoft.com/office/officeart/2005/8/layout/list1"/>
    <dgm:cxn modelId="{D3961964-BA63-4FAE-8C7B-84645A735EE3}" type="presParOf" srcId="{B7EFE807-41EC-4647-B99D-21ACEA3D316C}" destId="{6543CB62-0D35-426A-B5C4-47CF409BC038}" srcOrd="1" destOrd="0" presId="urn:microsoft.com/office/officeart/2005/8/layout/list1"/>
    <dgm:cxn modelId="{52E8A04C-6959-4022-BFA3-237CB7AED1FA}" type="presParOf" srcId="{C3A13041-BAF8-4336-838D-43439B32D96B}" destId="{288215B6-C20F-41BE-A7BB-7FD94D91B22F}" srcOrd="21" destOrd="0" presId="urn:microsoft.com/office/officeart/2005/8/layout/list1"/>
    <dgm:cxn modelId="{8212BC8B-1CD9-42E1-9DBD-BD0921ABDF39}" type="presParOf" srcId="{C3A13041-BAF8-4336-838D-43439B32D96B}" destId="{073E95BB-3B08-4605-9FE1-516B29DD8F91}" srcOrd="22" destOrd="0" presId="urn:microsoft.com/office/officeart/2005/8/layout/list1"/>
    <dgm:cxn modelId="{36BB701F-A0B4-47FE-B114-3D924C2A188B}" type="presParOf" srcId="{C3A13041-BAF8-4336-838D-43439B32D96B}" destId="{C109857A-48EE-4206-B946-5B1673D60F2D}" srcOrd="23" destOrd="0" presId="urn:microsoft.com/office/officeart/2005/8/layout/list1"/>
    <dgm:cxn modelId="{B46E6C1E-E76A-47E2-AB3B-5DDD3D696D20}" type="presParOf" srcId="{C3A13041-BAF8-4336-838D-43439B32D96B}" destId="{F711629E-BCEE-44C1-B9E1-5596F3D23215}" srcOrd="24" destOrd="0" presId="urn:microsoft.com/office/officeart/2005/8/layout/list1"/>
    <dgm:cxn modelId="{7B9D46FD-2DCC-46E2-A1F6-1B499E7FE0C4}" type="presParOf" srcId="{F711629E-BCEE-44C1-B9E1-5596F3D23215}" destId="{CDC97B94-801B-4207-988A-BDA36D49391F}" srcOrd="0" destOrd="0" presId="urn:microsoft.com/office/officeart/2005/8/layout/list1"/>
    <dgm:cxn modelId="{AA947965-990B-476D-9FC1-7EF94261D515}" type="presParOf" srcId="{F711629E-BCEE-44C1-B9E1-5596F3D23215}" destId="{072C269C-6E47-4BC9-A434-6E8A82873718}" srcOrd="1" destOrd="0" presId="urn:microsoft.com/office/officeart/2005/8/layout/list1"/>
    <dgm:cxn modelId="{6F553C7D-7A03-48A9-A678-FB6C4C58A8C6}" type="presParOf" srcId="{C3A13041-BAF8-4336-838D-43439B32D96B}" destId="{8E4A29A4-5499-42AF-B844-857DFE82A84D}" srcOrd="25" destOrd="0" presId="urn:microsoft.com/office/officeart/2005/8/layout/list1"/>
    <dgm:cxn modelId="{1F9855AF-4297-409F-8E57-4B10CD86C23A}" type="presParOf" srcId="{C3A13041-BAF8-4336-838D-43439B32D96B}" destId="{8591185C-FB49-4DBD-9A02-90C34C72F6F5}" srcOrd="26" destOrd="0" presId="urn:microsoft.com/office/officeart/2005/8/layout/list1"/>
    <dgm:cxn modelId="{4BFC5392-214E-42D4-9565-074032A8BD4A}" type="presParOf" srcId="{C3A13041-BAF8-4336-838D-43439B32D96B}" destId="{0EB7CA80-35A0-4217-8F41-5AFEC5A52188}" srcOrd="27" destOrd="0" presId="urn:microsoft.com/office/officeart/2005/8/layout/list1"/>
    <dgm:cxn modelId="{D433EAAE-4769-4B33-A985-26019890753A}" type="presParOf" srcId="{C3A13041-BAF8-4336-838D-43439B32D96B}" destId="{286C9211-48AB-4F6F-997D-C700A27BBD20}" srcOrd="28" destOrd="0" presId="urn:microsoft.com/office/officeart/2005/8/layout/list1"/>
    <dgm:cxn modelId="{9539B3FE-D7DF-4309-8E8A-CAA068A1B05E}" type="presParOf" srcId="{286C9211-48AB-4F6F-997D-C700A27BBD20}" destId="{BE3CD703-B185-47A4-B570-D132495E947F}" srcOrd="0" destOrd="0" presId="urn:microsoft.com/office/officeart/2005/8/layout/list1"/>
    <dgm:cxn modelId="{9900FE17-2DF7-4BAD-ADF5-0649788DD4C2}" type="presParOf" srcId="{286C9211-48AB-4F6F-997D-C700A27BBD20}" destId="{41093C9F-C6C0-4FF7-A40E-890D498A05F8}" srcOrd="1" destOrd="0" presId="urn:microsoft.com/office/officeart/2005/8/layout/list1"/>
    <dgm:cxn modelId="{A6AB5150-050E-49A6-B7A3-3775F022EE01}" type="presParOf" srcId="{C3A13041-BAF8-4336-838D-43439B32D96B}" destId="{074294B4-3462-44FE-B5E1-6FB4AA3D5C32}" srcOrd="29" destOrd="0" presId="urn:microsoft.com/office/officeart/2005/8/layout/list1"/>
    <dgm:cxn modelId="{666C6660-C7CF-46A7-9B55-0219E8CB0F83}" type="presParOf" srcId="{C3A13041-BAF8-4336-838D-43439B32D96B}" destId="{ED5C3A88-EF67-44A4-B5FF-7F2107C38A44}" srcOrd="30" destOrd="0" presId="urn:microsoft.com/office/officeart/2005/8/layout/list1"/>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4F8C85-E7E7-4A91-AF7A-CF5613562005}" type="doc">
      <dgm:prSet loTypeId="urn:microsoft.com/office/officeart/2005/8/layout/chart3" loCatId="cycle" qsTypeId="urn:microsoft.com/office/officeart/2005/8/quickstyle/simple1" qsCatId="simple" csTypeId="urn:microsoft.com/office/officeart/2005/8/colors/accent1_2" csCatId="accent1" phldr="1"/>
      <dgm:spPr/>
    </dgm:pt>
    <dgm:pt modelId="{98EECD29-ABF5-4CE7-AAA1-8FBA845A877E}">
      <dgm:prSet phldrT="[Text]"/>
      <dgm:spPr>
        <a:solidFill>
          <a:schemeClr val="accent2"/>
        </a:solidFill>
      </dgm:spPr>
      <dgm:t>
        <a:bodyPr/>
        <a:lstStyle/>
        <a:p>
          <a:r>
            <a:rPr lang="en-US" dirty="0" smtClean="0"/>
            <a:t>Lack of Resource</a:t>
          </a:r>
          <a:endParaRPr lang="en-US" dirty="0"/>
        </a:p>
      </dgm:t>
    </dgm:pt>
    <dgm:pt modelId="{328FC7FA-4046-4F72-902A-B012F6837734}" type="parTrans" cxnId="{694E0BE3-0C3F-48CF-BF9C-4186389CE00D}">
      <dgm:prSet/>
      <dgm:spPr/>
      <dgm:t>
        <a:bodyPr/>
        <a:lstStyle/>
        <a:p>
          <a:endParaRPr lang="en-US"/>
        </a:p>
      </dgm:t>
    </dgm:pt>
    <dgm:pt modelId="{528862EF-FF65-4F42-82BF-483D825B8C6F}" type="sibTrans" cxnId="{694E0BE3-0C3F-48CF-BF9C-4186389CE00D}">
      <dgm:prSet/>
      <dgm:spPr/>
      <dgm:t>
        <a:bodyPr/>
        <a:lstStyle/>
        <a:p>
          <a:endParaRPr lang="en-US"/>
        </a:p>
      </dgm:t>
    </dgm:pt>
    <dgm:pt modelId="{92F012F9-9F0A-4981-8E6F-909C5731723F}">
      <dgm:prSet phldrT="[Text]"/>
      <dgm:spPr>
        <a:solidFill>
          <a:schemeClr val="accent3"/>
        </a:solidFill>
      </dgm:spPr>
      <dgm:t>
        <a:bodyPr/>
        <a:lstStyle/>
        <a:p>
          <a:r>
            <a:rPr lang="en-US" dirty="0" smtClean="0"/>
            <a:t>Lack of Motivation</a:t>
          </a:r>
          <a:endParaRPr lang="en-US" dirty="0"/>
        </a:p>
      </dgm:t>
    </dgm:pt>
    <dgm:pt modelId="{D319F93F-7402-4736-A672-98705177211D}" type="parTrans" cxnId="{4A8172EA-3D05-4532-A4CF-5A047290D3D0}">
      <dgm:prSet/>
      <dgm:spPr/>
      <dgm:t>
        <a:bodyPr/>
        <a:lstStyle/>
        <a:p>
          <a:endParaRPr lang="en-US"/>
        </a:p>
      </dgm:t>
    </dgm:pt>
    <dgm:pt modelId="{D8694372-F42D-4718-B069-0AD5C5F4F124}" type="sibTrans" cxnId="{4A8172EA-3D05-4532-A4CF-5A047290D3D0}">
      <dgm:prSet/>
      <dgm:spPr/>
      <dgm:t>
        <a:bodyPr/>
        <a:lstStyle/>
        <a:p>
          <a:endParaRPr lang="en-US"/>
        </a:p>
      </dgm:t>
    </dgm:pt>
    <dgm:pt modelId="{8FB8169B-FFA2-4F27-992C-883DA3C794A9}">
      <dgm:prSet phldrT="[Text]"/>
      <dgm:spPr/>
      <dgm:t>
        <a:bodyPr/>
        <a:lstStyle/>
        <a:p>
          <a:r>
            <a:rPr lang="en-US" dirty="0" smtClean="0"/>
            <a:t>Lack of Skills</a:t>
          </a:r>
          <a:endParaRPr lang="en-US" dirty="0"/>
        </a:p>
      </dgm:t>
    </dgm:pt>
    <dgm:pt modelId="{5E8281EB-82B5-4C47-8F23-887F38B6D49F}" type="parTrans" cxnId="{0233D838-4E02-4958-9A43-D0AE5767B381}">
      <dgm:prSet/>
      <dgm:spPr/>
      <dgm:t>
        <a:bodyPr/>
        <a:lstStyle/>
        <a:p>
          <a:endParaRPr lang="en-US"/>
        </a:p>
      </dgm:t>
    </dgm:pt>
    <dgm:pt modelId="{529BFA85-7AD0-497E-AB4D-F5C19B6298E5}" type="sibTrans" cxnId="{0233D838-4E02-4958-9A43-D0AE5767B381}">
      <dgm:prSet/>
      <dgm:spPr/>
      <dgm:t>
        <a:bodyPr/>
        <a:lstStyle/>
        <a:p>
          <a:endParaRPr lang="en-US"/>
        </a:p>
      </dgm:t>
    </dgm:pt>
    <dgm:pt modelId="{FFD48385-2B7A-4931-9990-44963501F4FE}" type="pres">
      <dgm:prSet presAssocID="{4C4F8C85-E7E7-4A91-AF7A-CF5613562005}" presName="compositeShape" presStyleCnt="0">
        <dgm:presLayoutVars>
          <dgm:chMax val="7"/>
          <dgm:dir/>
          <dgm:resizeHandles val="exact"/>
        </dgm:presLayoutVars>
      </dgm:prSet>
      <dgm:spPr/>
    </dgm:pt>
    <dgm:pt modelId="{67A4D9F3-E68A-4D94-A7C4-30E4DE5484F6}" type="pres">
      <dgm:prSet presAssocID="{4C4F8C85-E7E7-4A91-AF7A-CF5613562005}" presName="wedge1" presStyleLbl="node1" presStyleIdx="0" presStyleCnt="3"/>
      <dgm:spPr/>
      <dgm:t>
        <a:bodyPr/>
        <a:lstStyle/>
        <a:p>
          <a:endParaRPr lang="en-US"/>
        </a:p>
      </dgm:t>
    </dgm:pt>
    <dgm:pt modelId="{54F33D8E-9347-4800-8FE5-33059C3FF3B4}" type="pres">
      <dgm:prSet presAssocID="{4C4F8C85-E7E7-4A91-AF7A-CF5613562005}" presName="wedge1Tx" presStyleLbl="node1" presStyleIdx="0" presStyleCnt="3">
        <dgm:presLayoutVars>
          <dgm:chMax val="0"/>
          <dgm:chPref val="0"/>
          <dgm:bulletEnabled val="1"/>
        </dgm:presLayoutVars>
      </dgm:prSet>
      <dgm:spPr/>
      <dgm:t>
        <a:bodyPr/>
        <a:lstStyle/>
        <a:p>
          <a:endParaRPr lang="en-US"/>
        </a:p>
      </dgm:t>
    </dgm:pt>
    <dgm:pt modelId="{D4F7B106-8EF4-4045-A424-EFC33342A5D5}" type="pres">
      <dgm:prSet presAssocID="{4C4F8C85-E7E7-4A91-AF7A-CF5613562005}" presName="wedge2" presStyleLbl="node1" presStyleIdx="1" presStyleCnt="3"/>
      <dgm:spPr/>
      <dgm:t>
        <a:bodyPr/>
        <a:lstStyle/>
        <a:p>
          <a:endParaRPr lang="en-US"/>
        </a:p>
      </dgm:t>
    </dgm:pt>
    <dgm:pt modelId="{D998472A-F8AB-4D29-8810-5FA64A4FFE3C}" type="pres">
      <dgm:prSet presAssocID="{4C4F8C85-E7E7-4A91-AF7A-CF5613562005}" presName="wedge2Tx" presStyleLbl="node1" presStyleIdx="1" presStyleCnt="3">
        <dgm:presLayoutVars>
          <dgm:chMax val="0"/>
          <dgm:chPref val="0"/>
          <dgm:bulletEnabled val="1"/>
        </dgm:presLayoutVars>
      </dgm:prSet>
      <dgm:spPr/>
      <dgm:t>
        <a:bodyPr/>
        <a:lstStyle/>
        <a:p>
          <a:endParaRPr lang="en-US"/>
        </a:p>
      </dgm:t>
    </dgm:pt>
    <dgm:pt modelId="{13F481EB-641E-405F-A3B5-DF5D807DE97C}" type="pres">
      <dgm:prSet presAssocID="{4C4F8C85-E7E7-4A91-AF7A-CF5613562005}" presName="wedge3" presStyleLbl="node1" presStyleIdx="2" presStyleCnt="3"/>
      <dgm:spPr/>
      <dgm:t>
        <a:bodyPr/>
        <a:lstStyle/>
        <a:p>
          <a:endParaRPr lang="en-US"/>
        </a:p>
      </dgm:t>
    </dgm:pt>
    <dgm:pt modelId="{93AF5B5D-9424-4260-9585-83BE962C2A89}" type="pres">
      <dgm:prSet presAssocID="{4C4F8C85-E7E7-4A91-AF7A-CF5613562005}" presName="wedge3Tx" presStyleLbl="node1" presStyleIdx="2" presStyleCnt="3">
        <dgm:presLayoutVars>
          <dgm:chMax val="0"/>
          <dgm:chPref val="0"/>
          <dgm:bulletEnabled val="1"/>
        </dgm:presLayoutVars>
      </dgm:prSet>
      <dgm:spPr/>
      <dgm:t>
        <a:bodyPr/>
        <a:lstStyle/>
        <a:p>
          <a:endParaRPr lang="en-US"/>
        </a:p>
      </dgm:t>
    </dgm:pt>
  </dgm:ptLst>
  <dgm:cxnLst>
    <dgm:cxn modelId="{694E0BE3-0C3F-48CF-BF9C-4186389CE00D}" srcId="{4C4F8C85-E7E7-4A91-AF7A-CF5613562005}" destId="{98EECD29-ABF5-4CE7-AAA1-8FBA845A877E}" srcOrd="0" destOrd="0" parTransId="{328FC7FA-4046-4F72-902A-B012F6837734}" sibTransId="{528862EF-FF65-4F42-82BF-483D825B8C6F}"/>
    <dgm:cxn modelId="{477D940C-CC6D-4D3C-B1A1-A7BD4D849FBF}" type="presOf" srcId="{92F012F9-9F0A-4981-8E6F-909C5731723F}" destId="{D998472A-F8AB-4D29-8810-5FA64A4FFE3C}" srcOrd="1" destOrd="0" presId="urn:microsoft.com/office/officeart/2005/8/layout/chart3"/>
    <dgm:cxn modelId="{19AAF747-AB48-4CDE-A369-F58DEF083B96}" type="presOf" srcId="{4C4F8C85-E7E7-4A91-AF7A-CF5613562005}" destId="{FFD48385-2B7A-4931-9990-44963501F4FE}" srcOrd="0" destOrd="0" presId="urn:microsoft.com/office/officeart/2005/8/layout/chart3"/>
    <dgm:cxn modelId="{4A8172EA-3D05-4532-A4CF-5A047290D3D0}" srcId="{4C4F8C85-E7E7-4A91-AF7A-CF5613562005}" destId="{92F012F9-9F0A-4981-8E6F-909C5731723F}" srcOrd="1" destOrd="0" parTransId="{D319F93F-7402-4736-A672-98705177211D}" sibTransId="{D8694372-F42D-4718-B069-0AD5C5F4F124}"/>
    <dgm:cxn modelId="{1C97BF97-5AC7-432B-93CE-4137B5C86AD2}" type="presOf" srcId="{92F012F9-9F0A-4981-8E6F-909C5731723F}" destId="{D4F7B106-8EF4-4045-A424-EFC33342A5D5}" srcOrd="0" destOrd="0" presId="urn:microsoft.com/office/officeart/2005/8/layout/chart3"/>
    <dgm:cxn modelId="{DC41CF2B-188F-4F35-AF2D-0541FB60FA03}" type="presOf" srcId="{8FB8169B-FFA2-4F27-992C-883DA3C794A9}" destId="{93AF5B5D-9424-4260-9585-83BE962C2A89}" srcOrd="1" destOrd="0" presId="urn:microsoft.com/office/officeart/2005/8/layout/chart3"/>
    <dgm:cxn modelId="{089859A4-C2E2-4D88-BDB9-AC4C7D0FBDEB}" type="presOf" srcId="{98EECD29-ABF5-4CE7-AAA1-8FBA845A877E}" destId="{67A4D9F3-E68A-4D94-A7C4-30E4DE5484F6}" srcOrd="0" destOrd="0" presId="urn:microsoft.com/office/officeart/2005/8/layout/chart3"/>
    <dgm:cxn modelId="{5F404058-30AE-4AE1-8318-6B4C45D030EC}" type="presOf" srcId="{98EECD29-ABF5-4CE7-AAA1-8FBA845A877E}" destId="{54F33D8E-9347-4800-8FE5-33059C3FF3B4}" srcOrd="1" destOrd="0" presId="urn:microsoft.com/office/officeart/2005/8/layout/chart3"/>
    <dgm:cxn modelId="{0233D838-4E02-4958-9A43-D0AE5767B381}" srcId="{4C4F8C85-E7E7-4A91-AF7A-CF5613562005}" destId="{8FB8169B-FFA2-4F27-992C-883DA3C794A9}" srcOrd="2" destOrd="0" parTransId="{5E8281EB-82B5-4C47-8F23-887F38B6D49F}" sibTransId="{529BFA85-7AD0-497E-AB4D-F5C19B6298E5}"/>
    <dgm:cxn modelId="{57F08FD4-000B-4112-9D63-0B52D7FF9B81}" type="presOf" srcId="{8FB8169B-FFA2-4F27-992C-883DA3C794A9}" destId="{13F481EB-641E-405F-A3B5-DF5D807DE97C}" srcOrd="0" destOrd="0" presId="urn:microsoft.com/office/officeart/2005/8/layout/chart3"/>
    <dgm:cxn modelId="{16E2F5F7-BD87-4574-91B5-3BE24586B119}" type="presParOf" srcId="{FFD48385-2B7A-4931-9990-44963501F4FE}" destId="{67A4D9F3-E68A-4D94-A7C4-30E4DE5484F6}" srcOrd="0" destOrd="0" presId="urn:microsoft.com/office/officeart/2005/8/layout/chart3"/>
    <dgm:cxn modelId="{064C046C-B126-4133-BD74-8682CD57B8B1}" type="presParOf" srcId="{FFD48385-2B7A-4931-9990-44963501F4FE}" destId="{54F33D8E-9347-4800-8FE5-33059C3FF3B4}" srcOrd="1" destOrd="0" presId="urn:microsoft.com/office/officeart/2005/8/layout/chart3"/>
    <dgm:cxn modelId="{558F8B66-720A-41DD-B6B2-A52FC804996C}" type="presParOf" srcId="{FFD48385-2B7A-4931-9990-44963501F4FE}" destId="{D4F7B106-8EF4-4045-A424-EFC33342A5D5}" srcOrd="2" destOrd="0" presId="urn:microsoft.com/office/officeart/2005/8/layout/chart3"/>
    <dgm:cxn modelId="{94122587-30E4-42B4-B413-2E99757A5215}" type="presParOf" srcId="{FFD48385-2B7A-4931-9990-44963501F4FE}" destId="{D998472A-F8AB-4D29-8810-5FA64A4FFE3C}" srcOrd="3" destOrd="0" presId="urn:microsoft.com/office/officeart/2005/8/layout/chart3"/>
    <dgm:cxn modelId="{DF5184F7-D888-4FD9-8B26-8E3BD228898B}" type="presParOf" srcId="{FFD48385-2B7A-4931-9990-44963501F4FE}" destId="{13F481EB-641E-405F-A3B5-DF5D807DE97C}" srcOrd="4" destOrd="0" presId="urn:microsoft.com/office/officeart/2005/8/layout/chart3"/>
    <dgm:cxn modelId="{D1ACEE55-2DB6-4E69-A731-9A4DA4513266}" type="presParOf" srcId="{FFD48385-2B7A-4931-9990-44963501F4FE}" destId="{93AF5B5D-9424-4260-9585-83BE962C2A89}" srcOrd="5" destOrd="0" presId="urn:microsoft.com/office/officeart/2005/8/layout/chart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3E0D8DA-997B-4D20-809D-1EBEB4D74513}">
      <dsp:nvSpPr>
        <dsp:cNvPr id="0" name=""/>
        <dsp:cNvSpPr/>
      </dsp:nvSpPr>
      <dsp:spPr>
        <a:xfrm>
          <a:off x="111759" y="0"/>
          <a:ext cx="8006080" cy="5003800"/>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120142-B771-4169-B235-FC7DBB2B4276}">
      <dsp:nvSpPr>
        <dsp:cNvPr id="0" name=""/>
        <dsp:cNvSpPr/>
      </dsp:nvSpPr>
      <dsp:spPr>
        <a:xfrm>
          <a:off x="900358" y="3720825"/>
          <a:ext cx="184139" cy="1841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F4BDC5-FFB7-437F-B8EE-B92EE24412BE}">
      <dsp:nvSpPr>
        <dsp:cNvPr id="0" name=""/>
        <dsp:cNvSpPr/>
      </dsp:nvSpPr>
      <dsp:spPr>
        <a:xfrm>
          <a:off x="992428" y="3812895"/>
          <a:ext cx="1048796" cy="1190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572" tIns="0" rIns="0" bIns="0" numCol="1" spcCol="1270" anchor="t" anchorCtr="0">
          <a:noAutofit/>
        </a:bodyPr>
        <a:lstStyle/>
        <a:p>
          <a:pPr lvl="0" algn="l" defTabSz="889000">
            <a:lnSpc>
              <a:spcPct val="90000"/>
            </a:lnSpc>
            <a:spcBef>
              <a:spcPct val="0"/>
            </a:spcBef>
            <a:spcAft>
              <a:spcPct val="35000"/>
            </a:spcAft>
          </a:pPr>
          <a:r>
            <a:rPr lang="en-US" sz="2000" kern="1200" dirty="0" smtClean="0"/>
            <a:t>Forming</a:t>
          </a:r>
          <a:endParaRPr lang="en-US" sz="2000" kern="1200" dirty="0"/>
        </a:p>
      </dsp:txBody>
      <dsp:txXfrm>
        <a:off x="992428" y="3812895"/>
        <a:ext cx="1048796" cy="1190904"/>
      </dsp:txXfrm>
    </dsp:sp>
    <dsp:sp modelId="{40466D39-1D57-4536-A8B7-74B154C3CB11}">
      <dsp:nvSpPr>
        <dsp:cNvPr id="0" name=""/>
        <dsp:cNvSpPr/>
      </dsp:nvSpPr>
      <dsp:spPr>
        <a:xfrm>
          <a:off x="1897115" y="2763098"/>
          <a:ext cx="288218" cy="28821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43E71D-869D-41CD-97CC-A4187C2AE42D}">
      <dsp:nvSpPr>
        <dsp:cNvPr id="0" name=""/>
        <dsp:cNvSpPr/>
      </dsp:nvSpPr>
      <dsp:spPr>
        <a:xfrm>
          <a:off x="2041225" y="2907207"/>
          <a:ext cx="1329009" cy="20965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721" tIns="0" rIns="0" bIns="0" numCol="1" spcCol="1270" anchor="t" anchorCtr="0">
          <a:noAutofit/>
        </a:bodyPr>
        <a:lstStyle/>
        <a:p>
          <a:pPr lvl="0" algn="l" defTabSz="1066800">
            <a:lnSpc>
              <a:spcPct val="90000"/>
            </a:lnSpc>
            <a:spcBef>
              <a:spcPct val="0"/>
            </a:spcBef>
            <a:spcAft>
              <a:spcPct val="35000"/>
            </a:spcAft>
          </a:pPr>
          <a:r>
            <a:rPr lang="en-US" sz="2400" b="1" u="sng" kern="1200" dirty="0" smtClean="0">
              <a:solidFill>
                <a:srgbClr val="C00000"/>
              </a:solidFill>
            </a:rPr>
            <a:t>Storming</a:t>
          </a:r>
          <a:endParaRPr lang="en-US" sz="2400" b="1" u="sng" kern="1200" dirty="0">
            <a:solidFill>
              <a:srgbClr val="C00000"/>
            </a:solidFill>
          </a:endParaRPr>
        </a:p>
      </dsp:txBody>
      <dsp:txXfrm>
        <a:off x="2041225" y="2907207"/>
        <a:ext cx="1329009" cy="2096592"/>
      </dsp:txXfrm>
    </dsp:sp>
    <dsp:sp modelId="{6448E870-597D-48C1-BCB2-72FA3D5F7A4B}">
      <dsp:nvSpPr>
        <dsp:cNvPr id="0" name=""/>
        <dsp:cNvSpPr/>
      </dsp:nvSpPr>
      <dsp:spPr>
        <a:xfrm>
          <a:off x="3178088" y="1999518"/>
          <a:ext cx="384291" cy="38429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D0BA45-3E09-4D0A-B3FA-A1EAEC999C85}">
      <dsp:nvSpPr>
        <dsp:cNvPr id="0" name=""/>
        <dsp:cNvSpPr/>
      </dsp:nvSpPr>
      <dsp:spPr>
        <a:xfrm>
          <a:off x="3370234" y="2191664"/>
          <a:ext cx="1545173" cy="28121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628" tIns="0" rIns="0" bIns="0" numCol="1" spcCol="1270" anchor="t" anchorCtr="0">
          <a:noAutofit/>
        </a:bodyPr>
        <a:lstStyle/>
        <a:p>
          <a:pPr lvl="0" algn="l" defTabSz="889000">
            <a:lnSpc>
              <a:spcPct val="90000"/>
            </a:lnSpc>
            <a:spcBef>
              <a:spcPct val="0"/>
            </a:spcBef>
            <a:spcAft>
              <a:spcPct val="35000"/>
            </a:spcAft>
          </a:pPr>
          <a:r>
            <a:rPr lang="en-US" sz="2000" kern="1200" dirty="0" err="1" smtClean="0"/>
            <a:t>Norming</a:t>
          </a:r>
          <a:endParaRPr lang="en-US" sz="2000" kern="1200" dirty="0"/>
        </a:p>
      </dsp:txBody>
      <dsp:txXfrm>
        <a:off x="3370234" y="2191664"/>
        <a:ext cx="1545173" cy="2812135"/>
      </dsp:txXfrm>
    </dsp:sp>
    <dsp:sp modelId="{B79FFB2F-A801-4924-8E08-12908AC212DA}">
      <dsp:nvSpPr>
        <dsp:cNvPr id="0" name=""/>
        <dsp:cNvSpPr/>
      </dsp:nvSpPr>
      <dsp:spPr>
        <a:xfrm>
          <a:off x="4667219" y="1403065"/>
          <a:ext cx="496376" cy="49637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8E25CB-3CE3-4F73-80E2-65CCAB73A127}">
      <dsp:nvSpPr>
        <dsp:cNvPr id="0" name=""/>
        <dsp:cNvSpPr/>
      </dsp:nvSpPr>
      <dsp:spPr>
        <a:xfrm>
          <a:off x="4915408" y="1651253"/>
          <a:ext cx="1601216" cy="3352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020" tIns="0" rIns="0" bIns="0" numCol="1" spcCol="1270" anchor="t" anchorCtr="0">
          <a:noAutofit/>
        </a:bodyPr>
        <a:lstStyle/>
        <a:p>
          <a:pPr lvl="0" algn="l" defTabSz="889000">
            <a:lnSpc>
              <a:spcPct val="90000"/>
            </a:lnSpc>
            <a:spcBef>
              <a:spcPct val="0"/>
            </a:spcBef>
            <a:spcAft>
              <a:spcPct val="35000"/>
            </a:spcAft>
          </a:pPr>
          <a:r>
            <a:rPr lang="en-US" sz="2000" kern="1200" dirty="0" smtClean="0"/>
            <a:t>Performing</a:t>
          </a:r>
          <a:endParaRPr lang="en-US" sz="2000" kern="1200" dirty="0"/>
        </a:p>
      </dsp:txBody>
      <dsp:txXfrm>
        <a:off x="4915408" y="1651253"/>
        <a:ext cx="1601216" cy="3352546"/>
      </dsp:txXfrm>
    </dsp:sp>
    <dsp:sp modelId="{D73EE4B4-43E6-4E73-B1A9-A452CCB9E575}">
      <dsp:nvSpPr>
        <dsp:cNvPr id="0" name=""/>
        <dsp:cNvSpPr/>
      </dsp:nvSpPr>
      <dsp:spPr>
        <a:xfrm>
          <a:off x="6200383" y="1004763"/>
          <a:ext cx="632480" cy="63248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C0F967-9A31-4468-8861-8F9AC2925733}">
      <dsp:nvSpPr>
        <dsp:cNvPr id="0" name=""/>
        <dsp:cNvSpPr/>
      </dsp:nvSpPr>
      <dsp:spPr>
        <a:xfrm>
          <a:off x="6516624" y="1321003"/>
          <a:ext cx="1601216" cy="3682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5138" tIns="0" rIns="0" bIns="0" numCol="1" spcCol="1270" anchor="t" anchorCtr="0">
          <a:noAutofit/>
        </a:bodyPr>
        <a:lstStyle/>
        <a:p>
          <a:pPr lvl="0" algn="l" defTabSz="889000">
            <a:lnSpc>
              <a:spcPct val="90000"/>
            </a:lnSpc>
            <a:spcBef>
              <a:spcPct val="0"/>
            </a:spcBef>
            <a:spcAft>
              <a:spcPct val="35000"/>
            </a:spcAft>
          </a:pPr>
          <a:r>
            <a:rPr lang="en-US" sz="2000" kern="1200" dirty="0" smtClean="0"/>
            <a:t>Adjourning</a:t>
          </a:r>
          <a:endParaRPr lang="en-US" sz="2000" kern="1200" dirty="0"/>
        </a:p>
      </dsp:txBody>
      <dsp:txXfrm>
        <a:off x="6516624" y="1321003"/>
        <a:ext cx="1601216" cy="3682796"/>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4D08F74-0FB8-4AA7-A500-96C11F50F106}">
      <dsp:nvSpPr>
        <dsp:cNvPr id="0" name=""/>
        <dsp:cNvSpPr/>
      </dsp:nvSpPr>
      <dsp:spPr>
        <a:xfrm>
          <a:off x="0" y="333180"/>
          <a:ext cx="4495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3CB35FC-0008-49F1-9BA7-E0AB06B833D2}">
      <dsp:nvSpPr>
        <dsp:cNvPr id="0" name=""/>
        <dsp:cNvSpPr/>
      </dsp:nvSpPr>
      <dsp:spPr>
        <a:xfrm>
          <a:off x="224790" y="126540"/>
          <a:ext cx="3846462"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951" tIns="0" rIns="118951" bIns="0" numCol="1" spcCol="1270" anchor="ctr" anchorCtr="0">
          <a:noAutofit/>
        </a:bodyPr>
        <a:lstStyle/>
        <a:p>
          <a:pPr lvl="0" algn="l" defTabSz="977900">
            <a:lnSpc>
              <a:spcPct val="90000"/>
            </a:lnSpc>
            <a:spcBef>
              <a:spcPct val="0"/>
            </a:spcBef>
            <a:spcAft>
              <a:spcPct val="35000"/>
            </a:spcAft>
          </a:pPr>
          <a:r>
            <a:rPr lang="en-US" sz="2200" kern="1200" dirty="0" smtClean="0"/>
            <a:t>Formal meeting</a:t>
          </a:r>
          <a:endParaRPr lang="en-US" sz="2200" kern="1200" dirty="0"/>
        </a:p>
      </dsp:txBody>
      <dsp:txXfrm>
        <a:off x="224790" y="126540"/>
        <a:ext cx="3846462" cy="413280"/>
      </dsp:txXfrm>
    </dsp:sp>
    <dsp:sp modelId="{455F33A5-DE25-4437-9439-59D1B94C97CF}">
      <dsp:nvSpPr>
        <dsp:cNvPr id="0" name=""/>
        <dsp:cNvSpPr/>
      </dsp:nvSpPr>
      <dsp:spPr>
        <a:xfrm>
          <a:off x="0" y="968220"/>
          <a:ext cx="4495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CA175BA-1021-4523-B035-B1355516C9FE}">
      <dsp:nvSpPr>
        <dsp:cNvPr id="0" name=""/>
        <dsp:cNvSpPr/>
      </dsp:nvSpPr>
      <dsp:spPr>
        <a:xfrm>
          <a:off x="224790" y="761580"/>
          <a:ext cx="3846462" cy="41328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951" tIns="0" rIns="118951" bIns="0" numCol="1" spcCol="1270" anchor="ctr" anchorCtr="0">
          <a:noAutofit/>
        </a:bodyPr>
        <a:lstStyle/>
        <a:p>
          <a:pPr lvl="0" algn="l" defTabSz="977900">
            <a:lnSpc>
              <a:spcPct val="90000"/>
            </a:lnSpc>
            <a:spcBef>
              <a:spcPct val="0"/>
            </a:spcBef>
            <a:spcAft>
              <a:spcPct val="35000"/>
            </a:spcAft>
          </a:pPr>
          <a:r>
            <a:rPr lang="en-US" sz="2200" kern="1200" dirty="0" smtClean="0"/>
            <a:t>Informal meeting</a:t>
          </a:r>
          <a:endParaRPr lang="en-US" sz="2200" kern="1200" dirty="0"/>
        </a:p>
      </dsp:txBody>
      <dsp:txXfrm>
        <a:off x="224790" y="761580"/>
        <a:ext cx="3846462" cy="413280"/>
      </dsp:txXfrm>
    </dsp:sp>
    <dsp:sp modelId="{7D8898EF-3C3D-46EB-BBB9-D74D614DEE40}">
      <dsp:nvSpPr>
        <dsp:cNvPr id="0" name=""/>
        <dsp:cNvSpPr/>
      </dsp:nvSpPr>
      <dsp:spPr>
        <a:xfrm>
          <a:off x="0" y="1603260"/>
          <a:ext cx="4495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8CF6272-ED23-4859-B748-16C4101F1C15}">
      <dsp:nvSpPr>
        <dsp:cNvPr id="0" name=""/>
        <dsp:cNvSpPr/>
      </dsp:nvSpPr>
      <dsp:spPr>
        <a:xfrm>
          <a:off x="224790" y="1396620"/>
          <a:ext cx="3846462" cy="413280"/>
        </a:xfrm>
        <a:prstGeom prst="round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951" tIns="0" rIns="118951" bIns="0" numCol="1" spcCol="1270" anchor="ctr" anchorCtr="0">
          <a:noAutofit/>
        </a:bodyPr>
        <a:lstStyle/>
        <a:p>
          <a:pPr lvl="0" algn="l" defTabSz="977900">
            <a:lnSpc>
              <a:spcPct val="90000"/>
            </a:lnSpc>
            <a:spcBef>
              <a:spcPct val="0"/>
            </a:spcBef>
            <a:spcAft>
              <a:spcPct val="35000"/>
            </a:spcAft>
          </a:pPr>
          <a:r>
            <a:rPr lang="en-US" sz="2200" kern="1200" dirty="0" smtClean="0"/>
            <a:t>Paper report</a:t>
          </a:r>
          <a:endParaRPr lang="en-US" sz="2200" kern="1200" dirty="0"/>
        </a:p>
      </dsp:txBody>
      <dsp:txXfrm>
        <a:off x="224790" y="1396620"/>
        <a:ext cx="3846462" cy="413280"/>
      </dsp:txXfrm>
    </dsp:sp>
    <dsp:sp modelId="{4D2C00E8-A074-40C9-A1F3-415E066F9E9F}">
      <dsp:nvSpPr>
        <dsp:cNvPr id="0" name=""/>
        <dsp:cNvSpPr/>
      </dsp:nvSpPr>
      <dsp:spPr>
        <a:xfrm>
          <a:off x="0" y="2238300"/>
          <a:ext cx="4495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26E2774-1F1E-4436-8602-DEDA4FCABD12}">
      <dsp:nvSpPr>
        <dsp:cNvPr id="0" name=""/>
        <dsp:cNvSpPr/>
      </dsp:nvSpPr>
      <dsp:spPr>
        <a:xfrm>
          <a:off x="224790" y="2031660"/>
          <a:ext cx="3846462" cy="413280"/>
        </a:xfrm>
        <a:prstGeom prst="roundRect">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951" tIns="0" rIns="118951" bIns="0" numCol="1" spcCol="1270" anchor="ctr" anchorCtr="0">
          <a:noAutofit/>
        </a:bodyPr>
        <a:lstStyle/>
        <a:p>
          <a:pPr lvl="0" algn="l" defTabSz="977900">
            <a:lnSpc>
              <a:spcPct val="90000"/>
            </a:lnSpc>
            <a:spcBef>
              <a:spcPct val="0"/>
            </a:spcBef>
            <a:spcAft>
              <a:spcPct val="35000"/>
            </a:spcAft>
          </a:pPr>
          <a:r>
            <a:rPr lang="en-US" sz="2200" kern="1200" dirty="0" smtClean="0"/>
            <a:t>Phone call</a:t>
          </a:r>
          <a:endParaRPr lang="en-US" sz="2200" kern="1200" dirty="0"/>
        </a:p>
      </dsp:txBody>
      <dsp:txXfrm>
        <a:off x="224790" y="2031660"/>
        <a:ext cx="3846462" cy="413280"/>
      </dsp:txXfrm>
    </dsp:sp>
    <dsp:sp modelId="{E4048D94-6496-4F15-8D48-322E754D1588}">
      <dsp:nvSpPr>
        <dsp:cNvPr id="0" name=""/>
        <dsp:cNvSpPr/>
      </dsp:nvSpPr>
      <dsp:spPr>
        <a:xfrm>
          <a:off x="0" y="2873340"/>
          <a:ext cx="4495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349ED1E-B825-42B6-881B-804461D950DF}">
      <dsp:nvSpPr>
        <dsp:cNvPr id="0" name=""/>
        <dsp:cNvSpPr/>
      </dsp:nvSpPr>
      <dsp:spPr>
        <a:xfrm>
          <a:off x="224790" y="2666700"/>
          <a:ext cx="3846462" cy="413280"/>
        </a:xfrm>
        <a:prstGeom prst="round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951" tIns="0" rIns="118951" bIns="0" numCol="1" spcCol="1270" anchor="ctr" anchorCtr="0">
          <a:noAutofit/>
        </a:bodyPr>
        <a:lstStyle/>
        <a:p>
          <a:pPr lvl="0" algn="l" defTabSz="977900">
            <a:lnSpc>
              <a:spcPct val="90000"/>
            </a:lnSpc>
            <a:spcBef>
              <a:spcPct val="0"/>
            </a:spcBef>
            <a:spcAft>
              <a:spcPct val="35000"/>
            </a:spcAft>
          </a:pPr>
          <a:r>
            <a:rPr lang="en-US" sz="2200" kern="1200" dirty="0" smtClean="0"/>
            <a:t>Conference call</a:t>
          </a:r>
          <a:endParaRPr lang="en-US" sz="2200" kern="1200" dirty="0"/>
        </a:p>
      </dsp:txBody>
      <dsp:txXfrm>
        <a:off x="224790" y="2666700"/>
        <a:ext cx="3846462" cy="413280"/>
      </dsp:txXfrm>
    </dsp:sp>
    <dsp:sp modelId="{073E95BB-3B08-4605-9FE1-516B29DD8F91}">
      <dsp:nvSpPr>
        <dsp:cNvPr id="0" name=""/>
        <dsp:cNvSpPr/>
      </dsp:nvSpPr>
      <dsp:spPr>
        <a:xfrm>
          <a:off x="0" y="3508380"/>
          <a:ext cx="4495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543CB62-0D35-426A-B5C4-47CF409BC038}">
      <dsp:nvSpPr>
        <dsp:cNvPr id="0" name=""/>
        <dsp:cNvSpPr/>
      </dsp:nvSpPr>
      <dsp:spPr>
        <a:xfrm>
          <a:off x="224790" y="3301740"/>
          <a:ext cx="3846462" cy="413280"/>
        </a:xfrm>
        <a:prstGeom prst="round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951" tIns="0" rIns="118951" bIns="0" numCol="1" spcCol="1270" anchor="ctr" anchorCtr="0">
          <a:noAutofit/>
        </a:bodyPr>
        <a:lstStyle/>
        <a:p>
          <a:pPr lvl="0" algn="l" defTabSz="977900">
            <a:lnSpc>
              <a:spcPct val="90000"/>
            </a:lnSpc>
            <a:spcBef>
              <a:spcPct val="0"/>
            </a:spcBef>
            <a:spcAft>
              <a:spcPct val="35000"/>
            </a:spcAft>
          </a:pPr>
          <a:r>
            <a:rPr lang="en-US" sz="2200" kern="1200" dirty="0" smtClean="0"/>
            <a:t>Email</a:t>
          </a:r>
          <a:endParaRPr lang="en-US" sz="2200" kern="1200" dirty="0"/>
        </a:p>
      </dsp:txBody>
      <dsp:txXfrm>
        <a:off x="224790" y="3301740"/>
        <a:ext cx="3846462" cy="413280"/>
      </dsp:txXfrm>
    </dsp:sp>
    <dsp:sp modelId="{8591185C-FB49-4DBD-9A02-90C34C72F6F5}">
      <dsp:nvSpPr>
        <dsp:cNvPr id="0" name=""/>
        <dsp:cNvSpPr/>
      </dsp:nvSpPr>
      <dsp:spPr>
        <a:xfrm>
          <a:off x="0" y="4143420"/>
          <a:ext cx="4495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72C269C-6E47-4BC9-A434-6E8A82873718}">
      <dsp:nvSpPr>
        <dsp:cNvPr id="0" name=""/>
        <dsp:cNvSpPr/>
      </dsp:nvSpPr>
      <dsp:spPr>
        <a:xfrm>
          <a:off x="224790" y="3936780"/>
          <a:ext cx="3846462" cy="413280"/>
        </a:xfrm>
        <a:prstGeom prst="round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951" tIns="0" rIns="118951" bIns="0" numCol="1" spcCol="1270" anchor="ctr" anchorCtr="0">
          <a:noAutofit/>
        </a:bodyPr>
        <a:lstStyle/>
        <a:p>
          <a:pPr lvl="0" algn="l" defTabSz="977900">
            <a:lnSpc>
              <a:spcPct val="90000"/>
            </a:lnSpc>
            <a:spcBef>
              <a:spcPct val="0"/>
            </a:spcBef>
            <a:spcAft>
              <a:spcPct val="35000"/>
            </a:spcAft>
          </a:pPr>
          <a:r>
            <a:rPr lang="en-US" sz="2200" kern="1200" dirty="0" smtClean="0"/>
            <a:t>Instant messages</a:t>
          </a:r>
          <a:endParaRPr lang="en-US" sz="2200" kern="1200" dirty="0"/>
        </a:p>
      </dsp:txBody>
      <dsp:txXfrm>
        <a:off x="224790" y="3936780"/>
        <a:ext cx="3846462" cy="413280"/>
      </dsp:txXfrm>
    </dsp:sp>
    <dsp:sp modelId="{ED5C3A88-EF67-44A4-B5FF-7F2107C38A44}">
      <dsp:nvSpPr>
        <dsp:cNvPr id="0" name=""/>
        <dsp:cNvSpPr/>
      </dsp:nvSpPr>
      <dsp:spPr>
        <a:xfrm>
          <a:off x="0" y="4778460"/>
          <a:ext cx="4495800"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093C9F-C6C0-4FF7-A40E-890D498A05F8}">
      <dsp:nvSpPr>
        <dsp:cNvPr id="0" name=""/>
        <dsp:cNvSpPr/>
      </dsp:nvSpPr>
      <dsp:spPr>
        <a:xfrm>
          <a:off x="224790" y="4571820"/>
          <a:ext cx="3846462" cy="413280"/>
        </a:xfrm>
        <a:prstGeom prst="round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951" tIns="0" rIns="118951" bIns="0" numCol="1" spcCol="1270" anchor="ctr" anchorCtr="0">
          <a:noAutofit/>
        </a:bodyPr>
        <a:lstStyle/>
        <a:p>
          <a:pPr lvl="0" algn="l" defTabSz="977900">
            <a:lnSpc>
              <a:spcPct val="90000"/>
            </a:lnSpc>
            <a:spcBef>
              <a:spcPct val="0"/>
            </a:spcBef>
            <a:spcAft>
              <a:spcPct val="35000"/>
            </a:spcAft>
          </a:pPr>
          <a:r>
            <a:rPr lang="en-US" sz="2200" kern="1200" dirty="0" smtClean="0"/>
            <a:t>Project management software</a:t>
          </a:r>
          <a:endParaRPr lang="en-US" sz="2200" kern="1200" dirty="0"/>
        </a:p>
      </dsp:txBody>
      <dsp:txXfrm>
        <a:off x="224790" y="4571820"/>
        <a:ext cx="3846462" cy="413280"/>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A6F6B56-B206-47E3-8148-295925D85CD2}" type="datetimeFigureOut">
              <a:rPr lang="en-US" smtClean="0"/>
              <a:pPr/>
              <a:t>7/18/2026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2944A64-02B1-4818-8227-23FA0B7646E6}"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5A2214-4B2A-4BA1-95DD-123857D5F02A}" type="datetimeFigureOut">
              <a:rPr lang="en-US" smtClean="0"/>
              <a:pPr/>
              <a:t>7/18/2026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5589A3-3554-4210-9B13-D13DEBC6CFF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F5589A3-3554-4210-9B13-D13DEBC6CFFC}" type="slidenum">
              <a:rPr lang="en-US" smtClean="0"/>
              <a:pPr/>
              <a:t>11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The classic functional organization is a hierarchy where each employee has </a:t>
            </a:r>
            <a:r>
              <a:rPr lang="en-US" sz="1200" i="1" dirty="0" smtClean="0">
                <a:solidFill>
                  <a:srgbClr val="C00000"/>
                </a:solidFill>
              </a:rPr>
              <a:t>one clear superior</a:t>
            </a:r>
            <a:r>
              <a:rPr lang="en-US" sz="1200" dirty="0" smtClean="0"/>
              <a:t>.</a:t>
            </a:r>
          </a:p>
          <a:p>
            <a:r>
              <a:rPr lang="en-US" sz="1200" dirty="0" smtClean="0"/>
              <a:t>Each department in a functional organization will do its project work </a:t>
            </a:r>
            <a:r>
              <a:rPr lang="en-US" sz="1200" i="1" dirty="0" smtClean="0">
                <a:solidFill>
                  <a:srgbClr val="C00000"/>
                </a:solidFill>
              </a:rPr>
              <a:t>independently</a:t>
            </a:r>
            <a:r>
              <a:rPr lang="en-US" sz="1200" dirty="0" smtClean="0"/>
              <a:t> of other departments.</a:t>
            </a:r>
          </a:p>
          <a:p>
            <a:endParaRPr lang="en-US" dirty="0"/>
          </a:p>
        </p:txBody>
      </p:sp>
      <p:sp>
        <p:nvSpPr>
          <p:cNvPr id="4" name="Slide Number Placeholder 3"/>
          <p:cNvSpPr>
            <a:spLocks noGrp="1"/>
          </p:cNvSpPr>
          <p:nvPr>
            <p:ph type="sldNum" sz="quarter" idx="10"/>
          </p:nvPr>
        </p:nvSpPr>
        <p:spPr/>
        <p:txBody>
          <a:bodyPr/>
          <a:lstStyle/>
          <a:p>
            <a:fld id="{5F5589A3-3554-4210-9B13-D13DEBC6CFFC}" type="slidenum">
              <a:rPr lang="en-US" smtClean="0"/>
              <a:pPr/>
              <a:t>23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Most of the organization's resources are involved in project work, and project managers have a great deal of </a:t>
            </a:r>
            <a:r>
              <a:rPr lang="en-US" sz="1200" i="1" dirty="0" smtClean="0">
                <a:solidFill>
                  <a:srgbClr val="C00000"/>
                </a:solidFill>
              </a:rPr>
              <a:t>independence</a:t>
            </a:r>
            <a:r>
              <a:rPr lang="en-US" sz="1200" dirty="0" smtClean="0"/>
              <a:t> and </a:t>
            </a:r>
            <a:r>
              <a:rPr lang="en-US" sz="1200" i="1" dirty="0" smtClean="0">
                <a:solidFill>
                  <a:srgbClr val="C00000"/>
                </a:solidFill>
              </a:rPr>
              <a:t>authority</a:t>
            </a:r>
            <a:r>
              <a:rPr lang="en-US" sz="1200" dirty="0" smtClean="0"/>
              <a:t>.</a:t>
            </a:r>
          </a:p>
        </p:txBody>
      </p:sp>
      <p:sp>
        <p:nvSpPr>
          <p:cNvPr id="4" name="Slide Number Placeholder 3"/>
          <p:cNvSpPr>
            <a:spLocks noGrp="1"/>
          </p:cNvSpPr>
          <p:nvPr>
            <p:ph type="sldNum" sz="quarter" idx="10"/>
          </p:nvPr>
        </p:nvSpPr>
        <p:spPr/>
        <p:txBody>
          <a:bodyPr/>
          <a:lstStyle/>
          <a:p>
            <a:fld id="{5F5589A3-3554-4210-9B13-D13DEBC6CFFC}" type="slidenum">
              <a:rPr lang="en-US" smtClean="0"/>
              <a:pPr/>
              <a:t>24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Weak matrix organizations maintain many of the characteristics of a functional organization, and the role of the project manager is more of a coordinator or expediter.</a:t>
            </a:r>
          </a:p>
          <a:p>
            <a:r>
              <a:rPr lang="en-US" sz="1200" dirty="0" smtClean="0"/>
              <a:t>A </a:t>
            </a:r>
            <a:r>
              <a:rPr lang="en-US" sz="1200" i="1" dirty="0" smtClean="0">
                <a:solidFill>
                  <a:srgbClr val="C00000"/>
                </a:solidFill>
              </a:rPr>
              <a:t>project expediter</a:t>
            </a:r>
            <a:r>
              <a:rPr lang="en-US" sz="1200" dirty="0" smtClean="0"/>
              <a:t> works as staff assistant and communications coordinator.</a:t>
            </a:r>
          </a:p>
          <a:p>
            <a:r>
              <a:rPr lang="en-US" sz="1200" i="1" dirty="0" smtClean="0">
                <a:solidFill>
                  <a:srgbClr val="C00000"/>
                </a:solidFill>
              </a:rPr>
              <a:t>Project coordinators</a:t>
            </a:r>
            <a:r>
              <a:rPr lang="en-US" sz="1200" dirty="0" smtClean="0"/>
              <a:t> have power to make some decisions, have some authority, and report to a higher-level manager.</a:t>
            </a:r>
          </a:p>
        </p:txBody>
      </p:sp>
      <p:sp>
        <p:nvSpPr>
          <p:cNvPr id="4" name="Slide Number Placeholder 3"/>
          <p:cNvSpPr>
            <a:spLocks noGrp="1"/>
          </p:cNvSpPr>
          <p:nvPr>
            <p:ph type="sldNum" sz="quarter" idx="10"/>
          </p:nvPr>
        </p:nvSpPr>
        <p:spPr/>
        <p:txBody>
          <a:bodyPr/>
          <a:lstStyle/>
          <a:p>
            <a:fld id="{5F5589A3-3554-4210-9B13-D13DEBC6CFFC}" type="slidenum">
              <a:rPr lang="en-US" smtClean="0"/>
              <a:pPr/>
              <a:t>25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While the balanced matrix organization recognizes the need for a project manager, it does not provide the project manager with the full authority over the project and project funding.</a:t>
            </a:r>
          </a:p>
        </p:txBody>
      </p:sp>
      <p:sp>
        <p:nvSpPr>
          <p:cNvPr id="4" name="Slide Number Placeholder 3"/>
          <p:cNvSpPr>
            <a:spLocks noGrp="1"/>
          </p:cNvSpPr>
          <p:nvPr>
            <p:ph type="sldNum" sz="quarter" idx="10"/>
          </p:nvPr>
        </p:nvSpPr>
        <p:spPr/>
        <p:txBody>
          <a:bodyPr/>
          <a:lstStyle/>
          <a:p>
            <a:fld id="{5F5589A3-3554-4210-9B13-D13DEBC6CFFC}" type="slidenum">
              <a:rPr lang="en-US" smtClean="0"/>
              <a:pPr/>
              <a:t>26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Strong matrix organizations have many of the characteristics of the </a:t>
            </a:r>
            <a:r>
              <a:rPr lang="en-US" sz="1200" dirty="0" err="1" smtClean="0"/>
              <a:t>projectized</a:t>
            </a:r>
            <a:r>
              <a:rPr lang="en-US" sz="1200" dirty="0" smtClean="0"/>
              <a:t> organization, and have </a:t>
            </a:r>
            <a:r>
              <a:rPr lang="en-US" sz="1200" i="1" dirty="0" smtClean="0">
                <a:solidFill>
                  <a:srgbClr val="C00000"/>
                </a:solidFill>
              </a:rPr>
              <a:t>full-time project managers</a:t>
            </a:r>
            <a:r>
              <a:rPr lang="en-US" sz="1200" dirty="0" smtClean="0"/>
              <a:t> with </a:t>
            </a:r>
            <a:r>
              <a:rPr lang="en-US" sz="1200" i="1" dirty="0" smtClean="0">
                <a:solidFill>
                  <a:srgbClr val="C00000"/>
                </a:solidFill>
              </a:rPr>
              <a:t>considerable authority</a:t>
            </a:r>
            <a:r>
              <a:rPr lang="en-US" sz="1200" dirty="0" smtClean="0"/>
              <a:t> and full-time project administrative staff.</a:t>
            </a:r>
          </a:p>
          <a:p>
            <a:endParaRPr lang="en-US" dirty="0"/>
          </a:p>
        </p:txBody>
      </p:sp>
      <p:sp>
        <p:nvSpPr>
          <p:cNvPr id="4" name="Slide Number Placeholder 3"/>
          <p:cNvSpPr>
            <a:spLocks noGrp="1"/>
          </p:cNvSpPr>
          <p:nvPr>
            <p:ph type="sldNum" sz="quarter" idx="10"/>
          </p:nvPr>
        </p:nvSpPr>
        <p:spPr/>
        <p:txBody>
          <a:bodyPr/>
          <a:lstStyle/>
          <a:p>
            <a:fld id="{5F5589A3-3554-4210-9B13-D13DEBC6CFFC}" type="slidenum">
              <a:rPr lang="en-US" smtClean="0"/>
              <a:pPr/>
              <a:t>27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F5589A3-3554-4210-9B13-D13DEBC6CFFC}" type="slidenum">
              <a:rPr lang="en-US" smtClean="0"/>
              <a:pPr/>
              <a:t>30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F5589A3-3554-4210-9B13-D13DEBC6CFFC}" type="slidenum">
              <a:rPr lang="en-US" smtClean="0"/>
              <a:pPr/>
              <a:t>72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F5589A3-3554-4210-9B13-D13DEBC6CFFC}" type="slidenum">
              <a:rPr lang="en-US" smtClean="0"/>
              <a:pPr/>
              <a:t>74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F5589A3-3554-4210-9B13-D13DEBC6CFFC}" type="slidenum">
              <a:rPr lang="en-US" smtClean="0"/>
              <a:pPr/>
              <a:t>116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7/18/2026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7/18/2026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7/18/2026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7/18/2026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7/18/2026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7/18/2026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7/18/2026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7/18/2026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7/18/2026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7/18/2026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7/18/2026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7/18/2026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gif"/><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57.png"/><Relationship Id="rId7" Type="http://schemas.openxmlformats.org/officeDocument/2006/relationships/diagramColors" Target="../diagrams/colors2.xml"/><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58.png"/></Relationships>
</file>

<file path=ppt/slides/_rels/slide5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5.gif"/><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jpeg"/></Relationships>
</file>

<file path=ppt/slides/_rels/slide7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89.jpeg"/><Relationship Id="rId3" Type="http://schemas.openxmlformats.org/officeDocument/2006/relationships/image" Target="../media/image82.jpeg"/><Relationship Id="rId7" Type="http://schemas.openxmlformats.org/officeDocument/2006/relationships/image" Target="../media/image86.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7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4.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2.png"/></Relationships>
</file>

<file path=ppt/slides/_rels/slide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10.gi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image" Target="../media/image114.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17.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image" Target="../media/image118.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image" Target="../media/image121.png"/><Relationship Id="rId1" Type="http://schemas.openxmlformats.org/officeDocument/2006/relationships/slideLayout" Target="../slideLayouts/slideLayout2.xml"/><Relationship Id="rId4" Type="http://schemas.openxmlformats.org/officeDocument/2006/relationships/image" Target="../media/image123.jpe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smtClean="0"/>
              <a:t>Software Team Management</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752601"/>
            <a:ext cx="5791200" cy="4190999"/>
          </a:xfrm>
        </p:spPr>
        <p:txBody>
          <a:bodyPr/>
          <a:lstStyle/>
          <a:p>
            <a:pPr marL="514350" indent="-457200">
              <a:buFont typeface="Wingdings" pitchFamily="2" charset="2"/>
              <a:buChar char="Ø"/>
            </a:pPr>
            <a:r>
              <a:rPr lang="en-US" sz="2400" dirty="0" smtClean="0"/>
              <a:t>To build a </a:t>
            </a:r>
            <a:r>
              <a:rPr lang="en-US" sz="2400" i="1" dirty="0" smtClean="0">
                <a:solidFill>
                  <a:srgbClr val="C00000"/>
                </a:solidFill>
              </a:rPr>
              <a:t>software team</a:t>
            </a:r>
            <a:r>
              <a:rPr lang="en-US" sz="2400" dirty="0" smtClean="0"/>
              <a:t>.</a:t>
            </a:r>
            <a:endParaRPr lang="en-US" sz="2400" i="1" dirty="0" smtClean="0">
              <a:solidFill>
                <a:srgbClr val="C00000"/>
              </a:solidFill>
            </a:endParaRPr>
          </a:p>
          <a:p>
            <a:pPr marL="514350" indent="-457200">
              <a:buFont typeface="Wingdings" pitchFamily="2" charset="2"/>
              <a:buChar char="Ø"/>
            </a:pPr>
            <a:r>
              <a:rPr lang="en-US" sz="2400" dirty="0" smtClean="0"/>
              <a:t>To </a:t>
            </a:r>
            <a:r>
              <a:rPr lang="en-US" sz="2400" i="1" dirty="0" smtClean="0">
                <a:solidFill>
                  <a:srgbClr val="C00000"/>
                </a:solidFill>
              </a:rPr>
              <a:t>manage</a:t>
            </a:r>
            <a:r>
              <a:rPr lang="en-US" sz="2400" dirty="0" smtClean="0"/>
              <a:t> a team.</a:t>
            </a:r>
          </a:p>
          <a:p>
            <a:pPr marL="514350" indent="-457200">
              <a:buFont typeface="Wingdings" pitchFamily="2" charset="2"/>
              <a:buChar char="Ø"/>
            </a:pPr>
            <a:r>
              <a:rPr lang="en-US" sz="2400" dirty="0" smtClean="0"/>
              <a:t>To resolve </a:t>
            </a:r>
            <a:r>
              <a:rPr lang="en-US" sz="2400" i="1" dirty="0" smtClean="0">
                <a:solidFill>
                  <a:srgbClr val="C00000"/>
                </a:solidFill>
              </a:rPr>
              <a:t>conflicts</a:t>
            </a:r>
            <a:r>
              <a:rPr lang="en-US" sz="2400" dirty="0" smtClean="0"/>
              <a:t>.</a:t>
            </a:r>
          </a:p>
          <a:p>
            <a:pPr marL="514350" indent="-457200">
              <a:buFont typeface="Wingdings" pitchFamily="2" charset="2"/>
              <a:buChar char="Ø"/>
            </a:pPr>
            <a:r>
              <a:rPr lang="en-US" sz="2400" dirty="0" smtClean="0"/>
              <a:t>To increase team </a:t>
            </a:r>
            <a:r>
              <a:rPr lang="en-US" sz="2400" i="1" dirty="0" smtClean="0">
                <a:solidFill>
                  <a:srgbClr val="C00000"/>
                </a:solidFill>
              </a:rPr>
              <a:t>productivity</a:t>
            </a:r>
            <a:r>
              <a:rPr lang="en-US" sz="2400" dirty="0" smtClean="0"/>
              <a:t>.</a:t>
            </a:r>
            <a:endParaRPr lang="en-US" sz="2400" i="1" dirty="0" smtClean="0">
              <a:solidFill>
                <a:srgbClr val="C00000"/>
              </a:solidFill>
            </a:endParaRPr>
          </a:p>
          <a:p>
            <a:pPr marL="514350" indent="-457200">
              <a:buFont typeface="Wingdings" pitchFamily="2" charset="2"/>
              <a:buChar char="Ø"/>
            </a:pPr>
            <a:r>
              <a:rPr lang="en-US" sz="2400" dirty="0" smtClean="0"/>
              <a:t>To </a:t>
            </a:r>
            <a:r>
              <a:rPr lang="en-US" sz="2400" i="1" dirty="0" smtClean="0">
                <a:solidFill>
                  <a:srgbClr val="C00000"/>
                </a:solidFill>
              </a:rPr>
              <a:t>motivate</a:t>
            </a:r>
            <a:r>
              <a:rPr lang="en-US" sz="2400" dirty="0" smtClean="0"/>
              <a:t> team members.</a:t>
            </a:r>
          </a:p>
          <a:p>
            <a:pPr marL="514350" indent="-457200">
              <a:buFont typeface="Wingdings" pitchFamily="2" charset="2"/>
              <a:buChar char="Ø"/>
            </a:pPr>
            <a:r>
              <a:rPr lang="en-US" sz="2400" dirty="0" smtClean="0"/>
              <a:t>To prevent </a:t>
            </a:r>
            <a:r>
              <a:rPr lang="en-US" sz="2400" i="1" dirty="0" smtClean="0">
                <a:solidFill>
                  <a:srgbClr val="C00000"/>
                </a:solidFill>
              </a:rPr>
              <a:t>poor performance</a:t>
            </a:r>
            <a:r>
              <a:rPr lang="en-US" sz="2400" dirty="0" smtClean="0"/>
              <a:t>.</a:t>
            </a:r>
          </a:p>
          <a:p>
            <a:pPr marL="514350" indent="-457200">
              <a:buFont typeface="Wingdings" pitchFamily="2" charset="2"/>
              <a:buChar char="Ø"/>
            </a:pPr>
            <a:r>
              <a:rPr lang="en-US" sz="2400" dirty="0" smtClean="0"/>
              <a:t>To </a:t>
            </a:r>
            <a:r>
              <a:rPr lang="en-US" sz="2400" i="1" dirty="0" smtClean="0">
                <a:solidFill>
                  <a:srgbClr val="C00000"/>
                </a:solidFill>
              </a:rPr>
              <a:t>lead</a:t>
            </a:r>
            <a:r>
              <a:rPr lang="en-US" sz="2400" dirty="0" smtClean="0"/>
              <a:t> a team.</a:t>
            </a:r>
          </a:p>
          <a:p>
            <a:pPr marL="514350" indent="-457200">
              <a:buFont typeface="Wingdings" pitchFamily="2" charset="2"/>
              <a:buChar char="Ø"/>
            </a:pPr>
            <a:r>
              <a:rPr lang="en-US" sz="2400" dirty="0" smtClean="0"/>
              <a:t>To </a:t>
            </a:r>
            <a:r>
              <a:rPr lang="en-US" sz="2400" i="1" dirty="0" smtClean="0">
                <a:solidFill>
                  <a:srgbClr val="C00000"/>
                </a:solidFill>
              </a:rPr>
              <a:t>analyze and evaluate</a:t>
            </a:r>
            <a:r>
              <a:rPr lang="en-US" sz="2400" dirty="0" smtClean="0"/>
              <a:t> a management approach.</a:t>
            </a:r>
            <a:endParaRPr lang="en-US" sz="2400" i="1" dirty="0" smtClean="0">
              <a:solidFill>
                <a:srgbClr val="C00000"/>
              </a:solidFill>
            </a:endParaRPr>
          </a:p>
        </p:txBody>
      </p:sp>
      <p:pic>
        <p:nvPicPr>
          <p:cNvPr id="5" name="Picture 2"/>
          <p:cNvPicPr>
            <a:picLocks noChangeAspect="1" noChangeArrowheads="1"/>
          </p:cNvPicPr>
          <p:nvPr/>
        </p:nvPicPr>
        <p:blipFill>
          <a:blip r:embed="rId2" cstate="print"/>
          <a:srcRect/>
          <a:stretch>
            <a:fillRect/>
          </a:stretch>
        </p:blipFill>
        <p:spPr bwMode="auto">
          <a:xfrm>
            <a:off x="60769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Software team</a:t>
            </a:r>
          </a:p>
          <a:p>
            <a:pPr marL="571500" indent="-571500">
              <a:buFont typeface="+mj-lt"/>
              <a:buAutoNum type="romanUcPeriod"/>
            </a:pPr>
            <a:r>
              <a:rPr lang="en-US" sz="2400" dirty="0" smtClean="0"/>
              <a:t>Team management</a:t>
            </a:r>
          </a:p>
          <a:p>
            <a:pPr marL="571500" indent="-571500">
              <a:buFont typeface="+mj-lt"/>
              <a:buAutoNum type="romanUcPeriod"/>
            </a:pPr>
            <a:r>
              <a:rPr lang="en-US" sz="2400" dirty="0" smtClean="0"/>
              <a:t>Conflict resolution</a:t>
            </a:r>
          </a:p>
          <a:p>
            <a:pPr marL="571500" indent="-571500">
              <a:buFont typeface="+mj-lt"/>
              <a:buAutoNum type="romanUcPeriod"/>
            </a:pPr>
            <a:r>
              <a:rPr lang="en-US" sz="2400" dirty="0" smtClean="0"/>
              <a:t>Team productivity</a:t>
            </a:r>
          </a:p>
          <a:p>
            <a:pPr marL="571500" indent="-571500">
              <a:buFont typeface="+mj-lt"/>
              <a:buAutoNum type="romanUcPeriod"/>
            </a:pPr>
            <a:r>
              <a:rPr lang="en-US" sz="2400" dirty="0" smtClean="0"/>
              <a:t>Team motivation</a:t>
            </a:r>
          </a:p>
          <a:p>
            <a:pPr marL="571500" indent="-571500">
              <a:buFont typeface="+mj-lt"/>
              <a:buAutoNum type="romanUcPeriod"/>
            </a:pPr>
            <a:r>
              <a:rPr lang="en-US" sz="2400" dirty="0" smtClean="0"/>
              <a:t>Team performance</a:t>
            </a:r>
          </a:p>
          <a:p>
            <a:pPr marL="571500" indent="-571500">
              <a:buFont typeface="+mj-lt"/>
              <a:buAutoNum type="romanUcPeriod"/>
            </a:pPr>
            <a:r>
              <a:rPr lang="en-US" sz="2400" dirty="0" smtClean="0"/>
              <a:t>Leading a team</a:t>
            </a:r>
          </a:p>
          <a:p>
            <a:pPr marL="571500" indent="-571500">
              <a:buFont typeface="+mj-lt"/>
              <a:buAutoNum type="romanUcPeriod"/>
            </a:pPr>
            <a:r>
              <a:rPr lang="en-US" sz="2400" dirty="0" smtClean="0"/>
              <a:t>Team evaluation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478270" y="1809750"/>
            <a:ext cx="2360930" cy="3582670"/>
          </a:xfrm>
          <a:prstGeom prst="rect">
            <a:avLst/>
          </a:prstGeom>
          <a:noFill/>
        </p:spPr>
      </p:pic>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381000" y="1371600"/>
            <a:ext cx="5943600" cy="5105400"/>
          </a:xfrm>
        </p:spPr>
        <p:txBody>
          <a:bodyPr/>
          <a:lstStyle/>
          <a:p>
            <a:pPr marL="457200" indent="-457200">
              <a:buFont typeface="+mj-lt"/>
              <a:buAutoNum type="arabicPeriod"/>
            </a:pPr>
            <a:r>
              <a:rPr lang="en-US" sz="1400" dirty="0" smtClean="0"/>
              <a:t>Tom </a:t>
            </a:r>
            <a:r>
              <a:rPr lang="en-US" sz="1400" dirty="0" err="1" smtClean="0"/>
              <a:t>DeMarco</a:t>
            </a:r>
            <a:r>
              <a:rPr lang="en-US" sz="1400" dirty="0" smtClean="0"/>
              <a:t> and Timothy Lister (2013). </a:t>
            </a:r>
            <a:r>
              <a:rPr lang="en-US" sz="1400" dirty="0" err="1" smtClean="0"/>
              <a:t>Peopleware</a:t>
            </a:r>
            <a:r>
              <a:rPr lang="en-US" sz="1400" dirty="0" smtClean="0"/>
              <a:t>: Productive Projects and Teams. Addison-Wesley Professional.</a:t>
            </a:r>
          </a:p>
          <a:p>
            <a:pPr marL="457200" indent="-457200">
              <a:buFont typeface="+mj-lt"/>
              <a:buAutoNum type="arabicPeriod"/>
            </a:pPr>
            <a:r>
              <a:rPr lang="en-US" sz="1400" dirty="0" smtClean="0"/>
              <a:t>Frederick P. Brooks, Jr. (1995). The Mythical Man-Month: Essays on Software Engineering. Addison-Wesley Professional.</a:t>
            </a:r>
          </a:p>
          <a:p>
            <a:pPr marL="457200" indent="-457200">
              <a:buFont typeface="+mj-lt"/>
              <a:buAutoNum type="arabicPeriod"/>
            </a:pPr>
            <a:r>
              <a:rPr lang="en-US" sz="1400" dirty="0" smtClean="0"/>
              <a:t>Kim </a:t>
            </a:r>
            <a:r>
              <a:rPr lang="en-US" sz="1400" dirty="0" err="1" smtClean="0"/>
              <a:t>Heldman</a:t>
            </a:r>
            <a:r>
              <a:rPr lang="en-US" sz="1400" dirty="0" smtClean="0"/>
              <a:t> (2018). PMP Project Management Professional Study Guide. John Wiley &amp; Sons.</a:t>
            </a:r>
          </a:p>
          <a:p>
            <a:pPr marL="457200" indent="-457200">
              <a:buFont typeface="+mj-lt"/>
              <a:buAutoNum type="arabicPeriod"/>
            </a:pPr>
            <a:r>
              <a:rPr lang="en-US" sz="1400" dirty="0" smtClean="0"/>
              <a:t>BW Boehm and R Ross (1989). Theory-W Software Project Management: Principles and Examples.</a:t>
            </a:r>
          </a:p>
          <a:p>
            <a:pPr marL="457200" indent="-457200">
              <a:buFont typeface="+mj-lt"/>
              <a:buAutoNum type="arabicPeriod"/>
            </a:pPr>
            <a:r>
              <a:rPr lang="en-US" sz="1400" dirty="0" smtClean="0"/>
              <a:t>Douglas McGregor (1966). The Human Side of Enterprise.</a:t>
            </a:r>
          </a:p>
          <a:p>
            <a:pPr marL="457200" indent="-457200">
              <a:buFont typeface="+mj-lt"/>
              <a:buAutoNum type="arabicPeriod"/>
            </a:pPr>
            <a:r>
              <a:rPr lang="en-US" sz="1400" dirty="0" smtClean="0"/>
              <a:t>Bruce W. </a:t>
            </a:r>
            <a:r>
              <a:rPr lang="en-US" sz="1400" dirty="0" err="1" smtClean="0"/>
              <a:t>Tuckman</a:t>
            </a:r>
            <a:r>
              <a:rPr lang="en-US" sz="1400" dirty="0" smtClean="0"/>
              <a:t> and Mary Ann C. Jensen (1977). Stages of Small-Group Development Revisited.</a:t>
            </a:r>
          </a:p>
          <a:p>
            <a:pPr marL="457200" indent="-457200">
              <a:buFont typeface="+mj-lt"/>
              <a:buAutoNum type="arabicPeriod"/>
            </a:pPr>
            <a:r>
              <a:rPr lang="en-US" sz="1400" dirty="0" smtClean="0"/>
              <a:t>Roger S. Pressman (2010). Software Engineering: A Practitioner's Approach.</a:t>
            </a:r>
          </a:p>
          <a:p>
            <a:pPr marL="457200" indent="-457200">
              <a:buFont typeface="+mj-lt"/>
              <a:buAutoNum type="arabicPeriod"/>
            </a:pPr>
            <a:r>
              <a:rPr lang="en-US" sz="1400" dirty="0" smtClean="0"/>
              <a:t>A. H. Maslow (1943). A Theory of Human Motivation.</a:t>
            </a:r>
          </a:p>
          <a:p>
            <a:pPr marL="457200" indent="-457200">
              <a:buFont typeface="+mj-lt"/>
              <a:buAutoNum type="arabicPeriod"/>
            </a:pPr>
            <a:r>
              <a:rPr lang="en-US" sz="1400" dirty="0" smtClean="0"/>
              <a:t>William </a:t>
            </a:r>
            <a:r>
              <a:rPr lang="en-US" sz="1400" dirty="0" err="1" smtClean="0"/>
              <a:t>Holtsnider</a:t>
            </a:r>
            <a:r>
              <a:rPr lang="en-US" sz="1400" dirty="0" smtClean="0"/>
              <a:t> &amp; Brian D. Jaffe (2012). IT Manager's Handbook.</a:t>
            </a:r>
          </a:p>
          <a:p>
            <a:pPr marL="457200" indent="-457200">
              <a:buFont typeface="+mj-lt"/>
              <a:buAutoNum type="arabicPeriod"/>
            </a:pPr>
            <a:r>
              <a:rPr lang="en-US" sz="1400" dirty="0" smtClean="0"/>
              <a:t>Frederick Herzberg (2003). One More Time: How Do You Motivate Employees?</a:t>
            </a:r>
          </a:p>
          <a:p>
            <a:pPr marL="457200" indent="-457200">
              <a:buFont typeface="+mj-lt"/>
              <a:buAutoNum type="arabicPeriod"/>
            </a:pPr>
            <a:r>
              <a:rPr lang="en-US" sz="1400" dirty="0" smtClean="0"/>
              <a:t>Tom Peters and Robert Waterman (1980). Structure Is Not Organization.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Projects Fail?</a:t>
            </a:r>
            <a:endParaRPr lang="en-US" dirty="0"/>
          </a:p>
        </p:txBody>
      </p:sp>
      <p:sp>
        <p:nvSpPr>
          <p:cNvPr id="3" name="Content Placeholder 2"/>
          <p:cNvSpPr>
            <a:spLocks noGrp="1"/>
          </p:cNvSpPr>
          <p:nvPr>
            <p:ph idx="1"/>
          </p:nvPr>
        </p:nvSpPr>
        <p:spPr>
          <a:xfrm>
            <a:off x="457200" y="1600200"/>
            <a:ext cx="7086600" cy="4525963"/>
          </a:xfrm>
        </p:spPr>
        <p:txBody>
          <a:bodyPr/>
          <a:lstStyle/>
          <a:p>
            <a:r>
              <a:rPr lang="en-US" sz="1800" dirty="0" smtClean="0"/>
              <a:t>Unclear requirements (no problems, no business/user requirements, no communication with clients/users)</a:t>
            </a:r>
          </a:p>
          <a:p>
            <a:pPr lvl="1"/>
            <a:r>
              <a:rPr lang="en-US" sz="1800" dirty="0" smtClean="0"/>
              <a:t>No executive summary, no project vision and scope</a:t>
            </a:r>
          </a:p>
          <a:p>
            <a:pPr lvl="1"/>
            <a:r>
              <a:rPr lang="en-US" sz="1800" dirty="0" smtClean="0"/>
              <a:t>No stories/use cases, no mockups, no prototypes</a:t>
            </a:r>
          </a:p>
          <a:p>
            <a:r>
              <a:rPr lang="en-US" sz="1800" i="1" dirty="0" smtClean="0">
                <a:solidFill>
                  <a:srgbClr val="C00000"/>
                </a:solidFill>
              </a:rPr>
              <a:t>Human factors</a:t>
            </a:r>
            <a:endParaRPr lang="en-US" sz="1800" dirty="0" smtClean="0"/>
          </a:p>
          <a:p>
            <a:pPr lvl="1"/>
            <a:r>
              <a:rPr lang="en-US" sz="1800" dirty="0" smtClean="0">
                <a:sym typeface="Wingdings" pitchFamily="2" charset="2"/>
              </a:rPr>
              <a:t>No f</a:t>
            </a:r>
            <a:r>
              <a:rPr lang="en-US" sz="1800" dirty="0" smtClean="0"/>
              <a:t>eedback </a:t>
            </a:r>
            <a:r>
              <a:rPr lang="en-US" sz="1800" dirty="0" smtClean="0">
                <a:sym typeface="Wingdings" pitchFamily="2" charset="2"/>
              </a:rPr>
              <a:t> </a:t>
            </a:r>
            <a:r>
              <a:rPr lang="en-US" sz="1800" dirty="0" smtClean="0"/>
              <a:t>No working together</a:t>
            </a:r>
          </a:p>
          <a:p>
            <a:pPr lvl="1"/>
            <a:r>
              <a:rPr lang="en-US" sz="1800" dirty="0" smtClean="0">
                <a:sym typeface="Wingdings" pitchFamily="2" charset="2"/>
              </a:rPr>
              <a:t>No </a:t>
            </a:r>
            <a:r>
              <a:rPr lang="en-US" sz="1800" dirty="0" smtClean="0"/>
              <a:t>money, no challenges, no interesting works </a:t>
            </a:r>
            <a:r>
              <a:rPr lang="en-US" sz="1800" dirty="0" smtClean="0">
                <a:sym typeface="Wingdings" pitchFamily="2" charset="2"/>
              </a:rPr>
              <a:t></a:t>
            </a:r>
            <a:r>
              <a:rPr lang="en-US" sz="1800" dirty="0" smtClean="0"/>
              <a:t> No motivation</a:t>
            </a:r>
          </a:p>
          <a:p>
            <a:pPr marL="342900" lvl="1" indent="-342900">
              <a:buFont typeface="Arial" charset="0"/>
              <a:buChar char="•"/>
            </a:pPr>
            <a:r>
              <a:rPr lang="en-US" sz="1800" dirty="0" smtClean="0"/>
              <a:t>No estimation or incorrect estimation</a:t>
            </a:r>
          </a:p>
          <a:p>
            <a:pPr marL="742950" lvl="2" indent="-342900"/>
            <a:r>
              <a:rPr lang="en-US" sz="1800" dirty="0" smtClean="0"/>
              <a:t>Effort/Duration/Cost/Resources</a:t>
            </a:r>
          </a:p>
          <a:p>
            <a:pPr marL="342900" lvl="1" indent="-342900">
              <a:buFont typeface="Arial" charset="0"/>
              <a:buChar char="•"/>
            </a:pPr>
            <a:r>
              <a:rPr lang="en-US" sz="1800" dirty="0" smtClean="0"/>
              <a:t>No planning</a:t>
            </a:r>
          </a:p>
          <a:p>
            <a:pPr lvl="1"/>
            <a:r>
              <a:rPr lang="en-US" sz="1800" dirty="0" smtClean="0"/>
              <a:t>No project schedule/release plan</a:t>
            </a:r>
          </a:p>
          <a:p>
            <a:r>
              <a:rPr lang="en-US" sz="1800" dirty="0" smtClean="0"/>
              <a:t>No status reporting or incorrect status reporting</a:t>
            </a:r>
          </a:p>
          <a:p>
            <a:pPr lvl="1"/>
            <a:r>
              <a:rPr lang="en-US" sz="1800" dirty="0" smtClean="0"/>
              <a:t>No project schedule/release plan updates</a:t>
            </a:r>
          </a:p>
          <a:p>
            <a:r>
              <a:rPr lang="en-US" sz="1800" dirty="0" smtClean="0"/>
              <a:t>No risk management</a:t>
            </a:r>
          </a:p>
        </p:txBody>
      </p:sp>
      <p:pic>
        <p:nvPicPr>
          <p:cNvPr id="2050" name="Picture 2" descr="https://www.drupal.org/files/project-images/bounce_reasons.png"/>
          <p:cNvPicPr>
            <a:picLocks noChangeAspect="1" noChangeArrowheads="1"/>
          </p:cNvPicPr>
          <p:nvPr/>
        </p:nvPicPr>
        <p:blipFill>
          <a:blip r:embed="rId2" cstate="print"/>
          <a:srcRect/>
          <a:stretch>
            <a:fillRect/>
          </a:stretch>
        </p:blipFill>
        <p:spPr bwMode="auto">
          <a:xfrm>
            <a:off x="6400800" y="2222500"/>
            <a:ext cx="2286000" cy="12065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Causes Project Failures? [1]</a:t>
            </a:r>
            <a:endParaRPr lang="en-US" dirty="0"/>
          </a:p>
        </p:txBody>
      </p:sp>
      <p:sp>
        <p:nvSpPr>
          <p:cNvPr id="3" name="Content Placeholder 2"/>
          <p:cNvSpPr>
            <a:spLocks noGrp="1"/>
          </p:cNvSpPr>
          <p:nvPr>
            <p:ph idx="1"/>
          </p:nvPr>
        </p:nvSpPr>
        <p:spPr>
          <a:xfrm>
            <a:off x="457200" y="1600200"/>
            <a:ext cx="4953000" cy="4525963"/>
          </a:xfrm>
        </p:spPr>
        <p:txBody>
          <a:bodyPr/>
          <a:lstStyle/>
          <a:p>
            <a:r>
              <a:rPr lang="en-US" sz="2400" dirty="0" smtClean="0"/>
              <a:t>For the overwhelming majority of the </a:t>
            </a:r>
            <a:r>
              <a:rPr lang="en-US" sz="2400" i="1" dirty="0" smtClean="0">
                <a:solidFill>
                  <a:srgbClr val="C00000"/>
                </a:solidFill>
              </a:rPr>
              <a:t>bankrupt projects</a:t>
            </a:r>
            <a:r>
              <a:rPr lang="en-US" sz="2400" dirty="0" smtClean="0"/>
              <a:t>, there was </a:t>
            </a:r>
            <a:r>
              <a:rPr lang="en-US" sz="2400" u="sng" dirty="0" smtClean="0"/>
              <a:t>not</a:t>
            </a:r>
            <a:r>
              <a:rPr lang="en-US" sz="2400" dirty="0" smtClean="0"/>
              <a:t> a single </a:t>
            </a:r>
            <a:r>
              <a:rPr lang="en-US" sz="2400" i="1" dirty="0" smtClean="0">
                <a:solidFill>
                  <a:srgbClr val="C00000"/>
                </a:solidFill>
              </a:rPr>
              <a:t>technological issue</a:t>
            </a:r>
            <a:r>
              <a:rPr lang="en-US" sz="2400" dirty="0" smtClean="0"/>
              <a:t> to explain the failure.</a:t>
            </a:r>
          </a:p>
          <a:p>
            <a:r>
              <a:rPr lang="en-US" sz="2400" dirty="0" smtClean="0"/>
              <a:t>The major problems of our work are not so much technological as</a:t>
            </a:r>
            <a:r>
              <a:rPr lang="en-US" sz="2400" i="1" dirty="0" smtClean="0">
                <a:solidFill>
                  <a:srgbClr val="C00000"/>
                </a:solidFill>
              </a:rPr>
              <a:t> sociological</a:t>
            </a:r>
            <a:r>
              <a:rPr lang="en-US" sz="2400" dirty="0" smtClean="0"/>
              <a:t> in nature.</a:t>
            </a:r>
          </a:p>
          <a:p>
            <a:r>
              <a:rPr lang="en-US" sz="2400" dirty="0" smtClean="0"/>
              <a:t>The main reason we tend to focus on the </a:t>
            </a:r>
            <a:r>
              <a:rPr lang="en-US" sz="2400" u="sng" dirty="0" smtClean="0"/>
              <a:t>technical</a:t>
            </a:r>
            <a:r>
              <a:rPr lang="en-US" sz="2400" dirty="0" smtClean="0"/>
              <a:t> rather than the </a:t>
            </a:r>
            <a:r>
              <a:rPr lang="en-US" sz="2400" u="sng" dirty="0" smtClean="0"/>
              <a:t>human side</a:t>
            </a:r>
            <a:r>
              <a:rPr lang="en-US" sz="2400" dirty="0" smtClean="0"/>
              <a:t> of the work is not because it's more crucial, but because it's </a:t>
            </a:r>
            <a:r>
              <a:rPr lang="en-US" sz="2400" i="1" dirty="0" smtClean="0">
                <a:solidFill>
                  <a:srgbClr val="C00000"/>
                </a:solidFill>
              </a:rPr>
              <a:t>easier</a:t>
            </a:r>
            <a:r>
              <a:rPr lang="en-US" sz="2400" dirty="0" smtClean="0"/>
              <a:t> to do.</a:t>
            </a:r>
          </a:p>
        </p:txBody>
      </p:sp>
      <p:sp>
        <p:nvSpPr>
          <p:cNvPr id="5" name="Rectangle 4"/>
          <p:cNvSpPr/>
          <p:nvPr/>
        </p:nvSpPr>
        <p:spPr>
          <a:xfrm>
            <a:off x="5410200" y="3413879"/>
            <a:ext cx="3581400" cy="3139321"/>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pPr algn="ctr"/>
            <a:r>
              <a:rPr lang="en-US" i="1" u="sng" dirty="0" err="1" smtClean="0">
                <a:solidFill>
                  <a:schemeClr val="bg1"/>
                </a:solidFill>
                <a:latin typeface="+mj-lt"/>
              </a:rPr>
              <a:t>Peopleware</a:t>
            </a:r>
            <a:r>
              <a:rPr lang="en-US" i="1" dirty="0" smtClean="0">
                <a:solidFill>
                  <a:schemeClr val="bg1"/>
                </a:solidFill>
                <a:latin typeface="+mj-lt"/>
              </a:rPr>
              <a:t> can refer to anything that has to do with the </a:t>
            </a:r>
            <a:r>
              <a:rPr lang="en-US" i="1" u="sng" dirty="0" smtClean="0">
                <a:solidFill>
                  <a:schemeClr val="bg1"/>
                </a:solidFill>
                <a:latin typeface="+mj-lt"/>
              </a:rPr>
              <a:t>role of people</a:t>
            </a:r>
            <a:r>
              <a:rPr lang="en-US" i="1" dirty="0" smtClean="0">
                <a:solidFill>
                  <a:schemeClr val="bg1"/>
                </a:solidFill>
                <a:latin typeface="+mj-lt"/>
              </a:rPr>
              <a:t> in the development or use of computer software and hardware systems, including such issues as developer </a:t>
            </a:r>
            <a:r>
              <a:rPr lang="en-US" i="1" u="sng" dirty="0" smtClean="0">
                <a:solidFill>
                  <a:schemeClr val="bg1"/>
                </a:solidFill>
                <a:latin typeface="+mj-lt"/>
              </a:rPr>
              <a:t>productivity</a:t>
            </a:r>
            <a:r>
              <a:rPr lang="en-US" i="1" dirty="0" smtClean="0">
                <a:solidFill>
                  <a:schemeClr val="bg1"/>
                </a:solidFill>
                <a:latin typeface="+mj-lt"/>
              </a:rPr>
              <a:t>, </a:t>
            </a:r>
            <a:r>
              <a:rPr lang="en-US" i="1" u="sng" dirty="0" smtClean="0">
                <a:solidFill>
                  <a:schemeClr val="bg1"/>
                </a:solidFill>
                <a:latin typeface="+mj-lt"/>
              </a:rPr>
              <a:t>teamwork</a:t>
            </a:r>
            <a:r>
              <a:rPr lang="en-US" i="1" dirty="0" smtClean="0">
                <a:solidFill>
                  <a:schemeClr val="bg1"/>
                </a:solidFill>
                <a:latin typeface="+mj-lt"/>
              </a:rPr>
              <a:t>, </a:t>
            </a:r>
            <a:r>
              <a:rPr lang="en-US" i="1" u="sng" dirty="0" smtClean="0">
                <a:solidFill>
                  <a:schemeClr val="bg1"/>
                </a:solidFill>
                <a:latin typeface="+mj-lt"/>
              </a:rPr>
              <a:t>group dynamics</a:t>
            </a:r>
            <a:r>
              <a:rPr lang="en-US" i="1" dirty="0" smtClean="0">
                <a:solidFill>
                  <a:schemeClr val="bg1"/>
                </a:solidFill>
                <a:latin typeface="+mj-lt"/>
              </a:rPr>
              <a:t>, the </a:t>
            </a:r>
            <a:r>
              <a:rPr lang="en-US" i="1" u="sng" dirty="0" smtClean="0">
                <a:solidFill>
                  <a:schemeClr val="bg1"/>
                </a:solidFill>
                <a:latin typeface="+mj-lt"/>
              </a:rPr>
              <a:t>psychology</a:t>
            </a:r>
            <a:r>
              <a:rPr lang="en-US" i="1" dirty="0" smtClean="0">
                <a:solidFill>
                  <a:schemeClr val="bg1"/>
                </a:solidFill>
                <a:latin typeface="+mj-lt"/>
              </a:rPr>
              <a:t> of programming, project management, organizational factors, human interface design, and human-machine-interaction.</a:t>
            </a:r>
            <a:endParaRPr lang="en-US" i="1" dirty="0">
              <a:solidFill>
                <a:schemeClr val="bg1"/>
              </a:solidFill>
              <a:latin typeface="+mj-lt"/>
            </a:endParaRPr>
          </a:p>
        </p:txBody>
      </p:sp>
      <p:pic>
        <p:nvPicPr>
          <p:cNvPr id="4" name="Picture 2"/>
          <p:cNvPicPr>
            <a:picLocks noChangeAspect="1" noChangeArrowheads="1"/>
          </p:cNvPicPr>
          <p:nvPr/>
        </p:nvPicPr>
        <p:blipFill>
          <a:blip r:embed="rId2" cstate="print"/>
          <a:srcRect/>
          <a:stretch>
            <a:fillRect/>
          </a:stretch>
        </p:blipFill>
        <p:spPr bwMode="auto">
          <a:xfrm>
            <a:off x="6096000" y="1295400"/>
            <a:ext cx="2125980" cy="2029968"/>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 Team?</a:t>
            </a:r>
            <a:endParaRPr lang="en-US" dirty="0"/>
          </a:p>
        </p:txBody>
      </p:sp>
      <p:pic>
        <p:nvPicPr>
          <p:cNvPr id="135170" name="Picture 2" descr="https://www.saccomann.com/uploads/workloud-big.jpg"/>
          <p:cNvPicPr>
            <a:picLocks noChangeAspect="1" noChangeArrowheads="1"/>
          </p:cNvPicPr>
          <p:nvPr/>
        </p:nvPicPr>
        <p:blipFill>
          <a:blip r:embed="rId2" cstate="print"/>
          <a:srcRect/>
          <a:stretch>
            <a:fillRect/>
          </a:stretch>
        </p:blipFill>
        <p:spPr bwMode="auto">
          <a:xfrm>
            <a:off x="914400" y="1828800"/>
            <a:ext cx="7318158" cy="4116464"/>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Team Formation</a:t>
            </a:r>
            <a:endParaRPr lang="en-US" dirty="0"/>
          </a:p>
        </p:txBody>
      </p:sp>
      <p:sp>
        <p:nvSpPr>
          <p:cNvPr id="3" name="Content Placeholder 2"/>
          <p:cNvSpPr>
            <a:spLocks noGrp="1"/>
          </p:cNvSpPr>
          <p:nvPr>
            <p:ph idx="1"/>
          </p:nvPr>
        </p:nvSpPr>
        <p:spPr/>
        <p:txBody>
          <a:bodyPr/>
          <a:lstStyle/>
          <a:p>
            <a:pPr>
              <a:buFont typeface="Arial" pitchFamily="34" charset="0"/>
              <a:buChar char="•"/>
            </a:pPr>
            <a:r>
              <a:rPr lang="en-US" sz="2400" i="1" dirty="0" smtClean="0">
                <a:solidFill>
                  <a:srgbClr val="C00000"/>
                </a:solidFill>
              </a:rPr>
              <a:t>Managers</a:t>
            </a:r>
          </a:p>
          <a:p>
            <a:pPr lvl="1">
              <a:buFont typeface="Arial" pitchFamily="34" charset="0"/>
              <a:buChar char="•"/>
            </a:pPr>
            <a:r>
              <a:rPr lang="en-US" sz="2000" i="1" dirty="0" smtClean="0">
                <a:solidFill>
                  <a:srgbClr val="C00000"/>
                </a:solidFill>
              </a:rPr>
              <a:t>Recruit</a:t>
            </a:r>
            <a:r>
              <a:rPr lang="en-US" sz="2000" dirty="0" smtClean="0"/>
              <a:t> team members, or work with the </a:t>
            </a:r>
            <a:r>
              <a:rPr lang="en-US" sz="2000" i="1" dirty="0" smtClean="0">
                <a:solidFill>
                  <a:srgbClr val="C00000"/>
                </a:solidFill>
              </a:rPr>
              <a:t>functional managers</a:t>
            </a:r>
            <a:r>
              <a:rPr lang="en-US" sz="2000" dirty="0" smtClean="0"/>
              <a:t>.</a:t>
            </a:r>
          </a:p>
          <a:p>
            <a:pPr lvl="1">
              <a:buFont typeface="Arial" pitchFamily="34" charset="0"/>
              <a:buChar char="•"/>
            </a:pPr>
            <a:r>
              <a:rPr lang="en-US" sz="2000" dirty="0" smtClean="0"/>
              <a:t>Analyze the </a:t>
            </a:r>
            <a:r>
              <a:rPr lang="en-US" sz="2000" i="1" dirty="0" smtClean="0">
                <a:solidFill>
                  <a:srgbClr val="C00000"/>
                </a:solidFill>
              </a:rPr>
              <a:t>skills, experience</a:t>
            </a:r>
            <a:r>
              <a:rPr lang="en-US" sz="2000" dirty="0" smtClean="0"/>
              <a:t> and </a:t>
            </a:r>
            <a:r>
              <a:rPr lang="en-US" sz="2000" i="1" dirty="0" smtClean="0">
                <a:solidFill>
                  <a:srgbClr val="C00000"/>
                </a:solidFill>
              </a:rPr>
              <a:t>competencies</a:t>
            </a:r>
            <a:r>
              <a:rPr lang="en-US" sz="2000" dirty="0" smtClean="0"/>
              <a:t> within your team, and start matching people to roles.</a:t>
            </a:r>
          </a:p>
          <a:p>
            <a:pPr>
              <a:buFont typeface="Arial" pitchFamily="34" charset="0"/>
              <a:buChar char="•"/>
            </a:pPr>
            <a:r>
              <a:rPr lang="en-US" sz="2400" i="1" dirty="0" smtClean="0">
                <a:solidFill>
                  <a:srgbClr val="C00000"/>
                </a:solidFill>
              </a:rPr>
              <a:t>Software engineers</a:t>
            </a:r>
          </a:p>
          <a:p>
            <a:pPr lvl="1">
              <a:buFont typeface="Arial" pitchFamily="34" charset="0"/>
              <a:buChar char="•"/>
            </a:pPr>
            <a:r>
              <a:rPr lang="en-US" sz="2000" dirty="0" smtClean="0"/>
              <a:t>Carefully </a:t>
            </a:r>
            <a:r>
              <a:rPr lang="en-US" sz="2000" i="1" dirty="0" smtClean="0">
                <a:solidFill>
                  <a:srgbClr val="C00000"/>
                </a:solidFill>
              </a:rPr>
              <a:t>review</a:t>
            </a:r>
            <a:r>
              <a:rPr lang="en-US" sz="2000" dirty="0" smtClean="0"/>
              <a:t> a company or a team before deciding to join them.</a:t>
            </a:r>
          </a:p>
          <a:p>
            <a:pPr lvl="1">
              <a:buFont typeface="Arial" pitchFamily="34" charset="0"/>
              <a:buChar char="•"/>
            </a:pPr>
            <a:r>
              <a:rPr lang="en-US" sz="2000" dirty="0" smtClean="0"/>
              <a:t>Fully understand what the </a:t>
            </a:r>
            <a:r>
              <a:rPr lang="en-US" sz="2000" i="1" dirty="0" smtClean="0">
                <a:solidFill>
                  <a:srgbClr val="C00000"/>
                </a:solidFill>
              </a:rPr>
              <a:t>team's role and goals</a:t>
            </a:r>
            <a:r>
              <a:rPr lang="en-US" sz="2000" dirty="0" smtClean="0"/>
              <a:t> are.</a:t>
            </a:r>
          </a:p>
          <a:p>
            <a:pPr>
              <a:buFont typeface="Arial" pitchFamily="34" charset="0"/>
              <a:buChar char="•"/>
            </a:pPr>
            <a:endParaRPr lang="en-US" sz="2200" dirty="0" smtClean="0"/>
          </a:p>
        </p:txBody>
      </p:sp>
      <p:pic>
        <p:nvPicPr>
          <p:cNvPr id="5" name="Picture 2" descr="https://static2.clutch.co/s3fs-public/software-development-team-1.jpg"/>
          <p:cNvPicPr>
            <a:picLocks noChangeAspect="1" noChangeArrowheads="1"/>
          </p:cNvPicPr>
          <p:nvPr/>
        </p:nvPicPr>
        <p:blipFill>
          <a:blip r:embed="rId2" cstate="print"/>
          <a:srcRect/>
          <a:stretch>
            <a:fillRect/>
          </a:stretch>
        </p:blipFill>
        <p:spPr bwMode="auto">
          <a:xfrm>
            <a:off x="3276600" y="4533900"/>
            <a:ext cx="2971800" cy="15621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 Project Manager/Leader?</a:t>
            </a:r>
            <a:endParaRPr lang="en-US" dirty="0"/>
          </a:p>
        </p:txBody>
      </p:sp>
      <p:pic>
        <p:nvPicPr>
          <p:cNvPr id="1028" name="Picture 4" descr="https://upload.wikimedia.org/wikipedia/commons/thumb/a/a1/Leviathan_by_Thomas_Hobbes.jpg/1200px-Leviathan_by_Thomas_Hobbes.jpg"/>
          <p:cNvPicPr>
            <a:picLocks noChangeAspect="1" noChangeArrowheads="1"/>
          </p:cNvPicPr>
          <p:nvPr/>
        </p:nvPicPr>
        <p:blipFill>
          <a:blip r:embed="rId2" cstate="print"/>
          <a:srcRect/>
          <a:stretch>
            <a:fillRect/>
          </a:stretch>
        </p:blipFill>
        <p:spPr bwMode="auto">
          <a:xfrm>
            <a:off x="2971800" y="1539240"/>
            <a:ext cx="3048000" cy="486156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Manager/Leader Selection</a:t>
            </a:r>
            <a:endParaRPr lang="en-US" dirty="0"/>
          </a:p>
        </p:txBody>
      </p:sp>
      <p:pic>
        <p:nvPicPr>
          <p:cNvPr id="113666" name="Picture 2" descr="https://s7d2.scene7.com/is/image/TWCNews/Getty_Vote_Ballot_Election"/>
          <p:cNvPicPr>
            <a:picLocks noChangeAspect="1" noChangeArrowheads="1"/>
          </p:cNvPicPr>
          <p:nvPr/>
        </p:nvPicPr>
        <p:blipFill>
          <a:blip r:embed="rId2" cstate="print"/>
          <a:srcRect/>
          <a:stretch>
            <a:fillRect/>
          </a:stretch>
        </p:blipFill>
        <p:spPr bwMode="auto">
          <a:xfrm>
            <a:off x="4876800" y="2514600"/>
            <a:ext cx="3576320" cy="2011680"/>
          </a:xfrm>
          <a:prstGeom prst="rect">
            <a:avLst/>
          </a:prstGeom>
          <a:noFill/>
        </p:spPr>
      </p:pic>
      <p:pic>
        <p:nvPicPr>
          <p:cNvPr id="113672" name="Picture 8" descr="https://adigaskell.org/wp-content/uploads/2020/07/selecting-leaders.jpg"/>
          <p:cNvPicPr>
            <a:picLocks noChangeAspect="1" noChangeArrowheads="1"/>
          </p:cNvPicPr>
          <p:nvPr/>
        </p:nvPicPr>
        <p:blipFill>
          <a:blip r:embed="rId3" cstate="print"/>
          <a:srcRect/>
          <a:stretch>
            <a:fillRect/>
          </a:stretch>
        </p:blipFill>
        <p:spPr bwMode="auto">
          <a:xfrm>
            <a:off x="717550" y="2514600"/>
            <a:ext cx="3778250" cy="200025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Leadership Grid</a:t>
            </a:r>
            <a:endParaRPr lang="en-US" dirty="0"/>
          </a:p>
        </p:txBody>
      </p:sp>
      <p:sp>
        <p:nvSpPr>
          <p:cNvPr id="3" name="Content Placeholder 2"/>
          <p:cNvSpPr>
            <a:spLocks noGrp="1"/>
          </p:cNvSpPr>
          <p:nvPr>
            <p:ph idx="1"/>
          </p:nvPr>
        </p:nvSpPr>
        <p:spPr>
          <a:xfrm>
            <a:off x="457200" y="1600200"/>
            <a:ext cx="4114800" cy="4525963"/>
          </a:xfrm>
        </p:spPr>
        <p:txBody>
          <a:bodyPr/>
          <a:lstStyle/>
          <a:p>
            <a:r>
              <a:rPr lang="en-US" sz="2000" dirty="0" smtClean="0"/>
              <a:t>The </a:t>
            </a:r>
            <a:r>
              <a:rPr lang="en-US" sz="2000" i="1" dirty="0" smtClean="0">
                <a:solidFill>
                  <a:srgbClr val="C00000"/>
                </a:solidFill>
              </a:rPr>
              <a:t>Leadership Grid</a:t>
            </a:r>
            <a:r>
              <a:rPr lang="en-US" sz="2000" dirty="0" smtClean="0"/>
              <a:t> is a </a:t>
            </a:r>
            <a:r>
              <a:rPr lang="en-US" sz="2000" u="sng" dirty="0" smtClean="0"/>
              <a:t>model of behavioral leadership</a:t>
            </a:r>
            <a:r>
              <a:rPr lang="en-US" sz="2000" dirty="0" smtClean="0"/>
              <a:t> developed in the 1960s by Robert Blake and Jane Mouton to measure concern for production against concern for people.</a:t>
            </a:r>
          </a:p>
          <a:p>
            <a:r>
              <a:rPr lang="en-US" sz="2000" dirty="0" smtClean="0"/>
              <a:t>The grid identifies </a:t>
            </a:r>
            <a:r>
              <a:rPr lang="en-US" sz="2000" i="1" dirty="0" smtClean="0">
                <a:solidFill>
                  <a:srgbClr val="C00000"/>
                </a:solidFill>
              </a:rPr>
              <a:t>five types of leaders</a:t>
            </a:r>
            <a:r>
              <a:rPr lang="en-US" sz="2000" dirty="0" smtClean="0"/>
              <a:t>: Impoverished, Produce or Perish, Middle of the Road, Country Club, and Team.</a:t>
            </a:r>
          </a:p>
          <a:p>
            <a:r>
              <a:rPr lang="en-US" sz="2000" dirty="0" smtClean="0"/>
              <a:t>The </a:t>
            </a:r>
            <a:r>
              <a:rPr lang="en-US" sz="2000" i="1" dirty="0" smtClean="0">
                <a:solidFill>
                  <a:srgbClr val="C00000"/>
                </a:solidFill>
              </a:rPr>
              <a:t>Team approach</a:t>
            </a:r>
            <a:r>
              <a:rPr lang="en-US" sz="2000" dirty="0" smtClean="0"/>
              <a:t> is considered the most effective form of leadership, according to the creators of the Leadership Grid.</a:t>
            </a:r>
            <a:endParaRPr lang="en-US" sz="2000" dirty="0"/>
          </a:p>
        </p:txBody>
      </p:sp>
      <p:pic>
        <p:nvPicPr>
          <p:cNvPr id="1032" name="Picture 8" descr="https://www.mindtools.com/media/Diagrams/blake-mouton-diagram.jpg"/>
          <p:cNvPicPr>
            <a:picLocks noChangeAspect="1" noChangeArrowheads="1"/>
          </p:cNvPicPr>
          <p:nvPr/>
        </p:nvPicPr>
        <p:blipFill>
          <a:blip r:embed="rId3" cstate="print"/>
          <a:srcRect/>
          <a:stretch>
            <a:fillRect/>
          </a:stretch>
        </p:blipFill>
        <p:spPr bwMode="auto">
          <a:xfrm>
            <a:off x="4648200" y="1981200"/>
            <a:ext cx="4048125" cy="386715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Manager/Leader's Time</a:t>
            </a:r>
            <a:endParaRPr lang="en-US" dirty="0"/>
          </a:p>
        </p:txBody>
      </p:sp>
      <p:pic>
        <p:nvPicPr>
          <p:cNvPr id="1026" name="Picture 2" descr="Image result for technical vs human dynamics"/>
          <p:cNvPicPr>
            <a:picLocks noChangeAspect="1" noChangeArrowheads="1"/>
          </p:cNvPicPr>
          <p:nvPr/>
        </p:nvPicPr>
        <p:blipFill>
          <a:blip r:embed="rId2" cstate="print"/>
          <a:srcRect/>
          <a:stretch>
            <a:fillRect/>
          </a:stretch>
        </p:blipFill>
        <p:spPr bwMode="auto">
          <a:xfrm>
            <a:off x="4038600" y="2209800"/>
            <a:ext cx="4251429" cy="2285714"/>
          </a:xfrm>
          <a:prstGeom prst="rect">
            <a:avLst/>
          </a:prstGeom>
          <a:noFill/>
        </p:spPr>
      </p:pic>
      <p:pic>
        <p:nvPicPr>
          <p:cNvPr id="1030" name="Picture 6" descr="Image result for technical project manager"/>
          <p:cNvPicPr>
            <a:picLocks noChangeAspect="1" noChangeArrowheads="1"/>
          </p:cNvPicPr>
          <p:nvPr/>
        </p:nvPicPr>
        <p:blipFill>
          <a:blip r:embed="rId3" cstate="print"/>
          <a:srcRect/>
          <a:stretch>
            <a:fillRect/>
          </a:stretch>
        </p:blipFill>
        <p:spPr bwMode="auto">
          <a:xfrm>
            <a:off x="1143000" y="2133600"/>
            <a:ext cx="2106930" cy="2312670"/>
          </a:xfrm>
          <a:prstGeom prst="rect">
            <a:avLst/>
          </a:prstGeom>
          <a:noFill/>
        </p:spPr>
      </p:pic>
      <p:sp>
        <p:nvSpPr>
          <p:cNvPr id="7" name="Rectangle 6"/>
          <p:cNvSpPr/>
          <p:nvPr/>
        </p:nvSpPr>
        <p:spPr>
          <a:xfrm>
            <a:off x="990600" y="4876800"/>
            <a:ext cx="2895600" cy="1077218"/>
          </a:xfrm>
          <a:prstGeom prst="rect">
            <a:avLst/>
          </a:prstGeom>
        </p:spPr>
        <p:txBody>
          <a:bodyPr wrap="square">
            <a:spAutoFit/>
          </a:bodyPr>
          <a:lstStyle/>
          <a:p>
            <a:r>
              <a:rPr lang="en-US" sz="3200" dirty="0" smtClean="0">
                <a:latin typeface="+mj-lt"/>
              </a:rPr>
              <a:t>Technical Issues: </a:t>
            </a:r>
            <a:r>
              <a:rPr lang="en-US" sz="3200" i="1" dirty="0" smtClean="0">
                <a:solidFill>
                  <a:srgbClr val="C00000"/>
                </a:solidFill>
                <a:latin typeface="+mj-lt"/>
              </a:rPr>
              <a:t>20% </a:t>
            </a:r>
            <a:endParaRPr lang="en-US" sz="3200" i="1" dirty="0">
              <a:solidFill>
                <a:srgbClr val="C00000"/>
              </a:solidFill>
              <a:latin typeface="+mj-lt"/>
            </a:endParaRPr>
          </a:p>
        </p:txBody>
      </p:sp>
      <p:sp>
        <p:nvSpPr>
          <p:cNvPr id="8" name="Rectangle 7"/>
          <p:cNvSpPr/>
          <p:nvPr/>
        </p:nvSpPr>
        <p:spPr>
          <a:xfrm>
            <a:off x="4572000" y="4800600"/>
            <a:ext cx="3581401" cy="1077218"/>
          </a:xfrm>
          <a:prstGeom prst="rect">
            <a:avLst/>
          </a:prstGeom>
        </p:spPr>
        <p:txBody>
          <a:bodyPr wrap="square">
            <a:spAutoFit/>
          </a:bodyPr>
          <a:lstStyle/>
          <a:p>
            <a:pPr algn="ctr"/>
            <a:r>
              <a:rPr lang="en-US" sz="3200" dirty="0" smtClean="0">
                <a:latin typeface="+mj-lt"/>
              </a:rPr>
              <a:t>Human Dynamics Issues: </a:t>
            </a:r>
            <a:r>
              <a:rPr lang="en-US" sz="3200" i="1" dirty="0" smtClean="0">
                <a:solidFill>
                  <a:srgbClr val="C00000"/>
                </a:solidFill>
                <a:latin typeface="+mj-lt"/>
              </a:rPr>
              <a:t>80%</a:t>
            </a:r>
            <a:endParaRPr lang="en-US" sz="3200" i="1" dirty="0">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Team Kick-off: Discussion Questions</a:t>
            </a:r>
            <a:endParaRPr lang="en-US" sz="4200" dirty="0"/>
          </a:p>
        </p:txBody>
      </p:sp>
      <p:sp>
        <p:nvSpPr>
          <p:cNvPr id="3" name="Content Placeholder 2"/>
          <p:cNvSpPr>
            <a:spLocks noGrp="1"/>
          </p:cNvSpPr>
          <p:nvPr>
            <p:ph idx="1"/>
          </p:nvPr>
        </p:nvSpPr>
        <p:spPr/>
        <p:txBody>
          <a:bodyPr/>
          <a:lstStyle/>
          <a:p>
            <a:pPr marL="514350" indent="-514350">
              <a:buFont typeface="+mj-lt"/>
              <a:buAutoNum type="arabicPeriod"/>
            </a:pPr>
            <a:r>
              <a:rPr lang="en-US" sz="2400" dirty="0" smtClean="0"/>
              <a:t>Team building video or pictures?</a:t>
            </a:r>
          </a:p>
          <a:p>
            <a:pPr marL="514350" indent="-514350">
              <a:buFont typeface="+mj-lt"/>
              <a:buAutoNum type="arabicPeriod"/>
            </a:pPr>
            <a:r>
              <a:rPr lang="en-US" sz="2400" dirty="0" smtClean="0"/>
              <a:t>Decision-making process?</a:t>
            </a:r>
          </a:p>
          <a:p>
            <a:pPr marL="514350" indent="-514350">
              <a:buFont typeface="+mj-lt"/>
              <a:buAutoNum type="arabicPeriod"/>
            </a:pPr>
            <a:r>
              <a:rPr lang="en-US" sz="2400" dirty="0" smtClean="0"/>
              <a:t>Demonstration of communication plan and tools </a:t>
            </a:r>
            <a:r>
              <a:rPr lang="en-US" sz="2400" dirty="0" smtClean="0">
                <a:sym typeface="Wingdings" pitchFamily="2" charset="2"/>
              </a:rPr>
              <a:t> Producing a </a:t>
            </a:r>
            <a:r>
              <a:rPr lang="en-US" sz="2400" i="1" dirty="0" smtClean="0">
                <a:solidFill>
                  <a:srgbClr val="C00000"/>
                </a:solidFill>
                <a:sym typeface="Wingdings" pitchFamily="2" charset="2"/>
              </a:rPr>
              <a:t>tangible</a:t>
            </a:r>
            <a:r>
              <a:rPr lang="en-US" sz="2400" dirty="0" smtClean="0">
                <a:sym typeface="Wingdings" pitchFamily="2" charset="2"/>
              </a:rPr>
              <a:t> result (Google Docs).</a:t>
            </a:r>
          </a:p>
          <a:p>
            <a:pPr marL="514350" indent="-514350">
              <a:buFont typeface="+mj-lt"/>
              <a:buAutoNum type="arabicPeriod"/>
            </a:pPr>
            <a:r>
              <a:rPr lang="en-US" sz="2400" dirty="0" smtClean="0"/>
              <a:t>Meeting minutes of a meeting?</a:t>
            </a:r>
          </a:p>
        </p:txBody>
      </p:sp>
      <p:pic>
        <p:nvPicPr>
          <p:cNvPr id="1026" name="Picture 2"/>
          <p:cNvPicPr>
            <a:picLocks noChangeAspect="1" noChangeArrowheads="1"/>
          </p:cNvPicPr>
          <p:nvPr/>
        </p:nvPicPr>
        <p:blipFill>
          <a:blip r:embed="rId2" cstate="print"/>
          <a:srcRect/>
          <a:stretch>
            <a:fillRect/>
          </a:stretch>
        </p:blipFill>
        <p:spPr bwMode="auto">
          <a:xfrm>
            <a:off x="3277839" y="4189519"/>
            <a:ext cx="3046761" cy="1982681"/>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Kick-off Meeting</a:t>
            </a:r>
            <a:endParaRPr lang="en-US" dirty="0"/>
          </a:p>
        </p:txBody>
      </p:sp>
      <p:sp>
        <p:nvSpPr>
          <p:cNvPr id="3" name="Content Placeholder 2"/>
          <p:cNvSpPr>
            <a:spLocks noGrp="1"/>
          </p:cNvSpPr>
          <p:nvPr>
            <p:ph idx="1"/>
          </p:nvPr>
        </p:nvSpPr>
        <p:spPr/>
        <p:txBody>
          <a:bodyPr/>
          <a:lstStyle/>
          <a:p>
            <a:pPr marL="457200" indent="-457200">
              <a:buFont typeface="Wingdings" pitchFamily="2" charset="2"/>
              <a:buChar char="v"/>
            </a:pPr>
            <a:r>
              <a:rPr lang="en-US" sz="2400" dirty="0" smtClean="0"/>
              <a:t>Introduce team members.</a:t>
            </a:r>
          </a:p>
          <a:p>
            <a:pPr marL="457200" indent="-457200">
              <a:buFont typeface="Wingdings" pitchFamily="2" charset="2"/>
              <a:buChar char="v"/>
            </a:pPr>
            <a:r>
              <a:rPr lang="en-US" sz="2400" dirty="0" smtClean="0"/>
              <a:t>Clarify the project terminologies, problems, solution, and deliverables.</a:t>
            </a:r>
          </a:p>
          <a:p>
            <a:pPr marL="457200" indent="-457200">
              <a:buFont typeface="Wingdings" pitchFamily="2" charset="2"/>
              <a:buChar char="v"/>
            </a:pPr>
            <a:r>
              <a:rPr lang="en-US" sz="2400" dirty="0" smtClean="0"/>
              <a:t>Clarify RACI matrix.</a:t>
            </a:r>
          </a:p>
          <a:p>
            <a:pPr marL="457200" indent="-457200">
              <a:buFont typeface="Wingdings" pitchFamily="2" charset="2"/>
              <a:buChar char="v"/>
            </a:pPr>
            <a:r>
              <a:rPr lang="en-US" sz="2400" dirty="0" smtClean="0"/>
              <a:t>Answer questions.</a:t>
            </a:r>
          </a:p>
          <a:p>
            <a:pPr marL="457200" indent="-457200">
              <a:buFont typeface="Wingdings" pitchFamily="2" charset="2"/>
              <a:buChar char="v"/>
            </a:pPr>
            <a:r>
              <a:rPr lang="en-US" sz="2400" dirty="0" smtClean="0"/>
              <a:t>Start developing the project plan.</a:t>
            </a:r>
          </a:p>
          <a:p>
            <a:endParaRPr lang="en-US" sz="2400" dirty="0"/>
          </a:p>
        </p:txBody>
      </p:sp>
      <p:pic>
        <p:nvPicPr>
          <p:cNvPr id="4" name="Picture 2" descr="Related image"/>
          <p:cNvPicPr>
            <a:picLocks noChangeAspect="1" noChangeArrowheads="1"/>
          </p:cNvPicPr>
          <p:nvPr/>
        </p:nvPicPr>
        <p:blipFill>
          <a:blip r:embed="rId2" cstate="print"/>
          <a:srcRect/>
          <a:stretch>
            <a:fillRect/>
          </a:stretch>
        </p:blipFill>
        <p:spPr bwMode="auto">
          <a:xfrm>
            <a:off x="2587476" y="4454124"/>
            <a:ext cx="3889524" cy="1870476"/>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Icebreakers</a:t>
            </a:r>
            <a:endParaRPr lang="en-US" dirty="0"/>
          </a:p>
        </p:txBody>
      </p:sp>
      <p:pic>
        <p:nvPicPr>
          <p:cNvPr id="90114" name="Picture 2" descr="https://www.leanbox.com/wp-content/uploads/2016/01/eating-together-845x684.jpg"/>
          <p:cNvPicPr>
            <a:picLocks noChangeAspect="1" noChangeArrowheads="1"/>
          </p:cNvPicPr>
          <p:nvPr/>
        </p:nvPicPr>
        <p:blipFill>
          <a:blip r:embed="rId2" cstate="print"/>
          <a:srcRect/>
          <a:stretch>
            <a:fillRect/>
          </a:stretch>
        </p:blipFill>
        <p:spPr bwMode="auto">
          <a:xfrm>
            <a:off x="457200" y="1524000"/>
            <a:ext cx="3219450" cy="2606040"/>
          </a:xfrm>
          <a:prstGeom prst="rect">
            <a:avLst/>
          </a:prstGeom>
          <a:noFill/>
        </p:spPr>
      </p:pic>
      <p:pic>
        <p:nvPicPr>
          <p:cNvPr id="90116" name="Picture 4" descr="https://storage.googleapis.com/afs-prod/media/media:5c927a69371a4e4cbd9ae1de3dc66b11/800.jpeg"/>
          <p:cNvPicPr>
            <a:picLocks noChangeAspect="1" noChangeArrowheads="1"/>
          </p:cNvPicPr>
          <p:nvPr/>
        </p:nvPicPr>
        <p:blipFill>
          <a:blip r:embed="rId3" cstate="print"/>
          <a:srcRect/>
          <a:stretch>
            <a:fillRect/>
          </a:stretch>
        </p:blipFill>
        <p:spPr bwMode="auto">
          <a:xfrm>
            <a:off x="5638800" y="1524000"/>
            <a:ext cx="3048000" cy="2030730"/>
          </a:xfrm>
          <a:prstGeom prst="rect">
            <a:avLst/>
          </a:prstGeom>
          <a:noFill/>
        </p:spPr>
      </p:pic>
      <p:pic>
        <p:nvPicPr>
          <p:cNvPr id="1026" name="Picture 2" descr="https://www.trainsmartinc.com/wp-content/uploads/2015/01/ice-breakers-for-training.jpg"/>
          <p:cNvPicPr>
            <a:picLocks noChangeAspect="1" noChangeArrowheads="1"/>
          </p:cNvPicPr>
          <p:nvPr/>
        </p:nvPicPr>
        <p:blipFill>
          <a:blip r:embed="rId4" cstate="print"/>
          <a:srcRect/>
          <a:stretch>
            <a:fillRect/>
          </a:stretch>
        </p:blipFill>
        <p:spPr bwMode="auto">
          <a:xfrm>
            <a:off x="2286000" y="2743200"/>
            <a:ext cx="4572000" cy="347472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Reach a Decision [2]</a:t>
            </a:r>
            <a:endParaRPr lang="en-US" dirty="0"/>
          </a:p>
        </p:txBody>
      </p:sp>
      <p:sp>
        <p:nvSpPr>
          <p:cNvPr id="3" name="Content Placeholder 2"/>
          <p:cNvSpPr>
            <a:spLocks noGrp="1"/>
          </p:cNvSpPr>
          <p:nvPr>
            <p:ph idx="1"/>
          </p:nvPr>
        </p:nvSpPr>
        <p:spPr/>
        <p:txBody>
          <a:bodyPr/>
          <a:lstStyle/>
          <a:p>
            <a:pPr lvl="0"/>
            <a:r>
              <a:rPr lang="en-US" sz="2200" dirty="0" smtClean="0"/>
              <a:t>Won't one get a better product (system design) by getting the good ideas from </a:t>
            </a:r>
            <a:r>
              <a:rPr lang="en-US" sz="2200" i="1" dirty="0" smtClean="0">
                <a:solidFill>
                  <a:srgbClr val="C00000"/>
                </a:solidFill>
              </a:rPr>
              <a:t>all the team</a:t>
            </a:r>
            <a:r>
              <a:rPr lang="en-US" sz="2200" dirty="0" smtClean="0"/>
              <a:t>, following a </a:t>
            </a:r>
            <a:r>
              <a:rPr lang="en-US" sz="2200" u="sng" dirty="0" smtClean="0"/>
              <a:t>democratic</a:t>
            </a:r>
            <a:r>
              <a:rPr lang="en-US" sz="2200" dirty="0" smtClean="0"/>
              <a:t> philosophy, rather than by restricting the development of specifications to </a:t>
            </a:r>
            <a:r>
              <a:rPr lang="en-US" sz="2200" i="1" dirty="0" smtClean="0">
                <a:solidFill>
                  <a:srgbClr val="C00000"/>
                </a:solidFill>
              </a:rPr>
              <a:t>a few</a:t>
            </a:r>
            <a:r>
              <a:rPr lang="en-US" sz="2200" dirty="0" smtClean="0"/>
              <a:t>?</a:t>
            </a:r>
          </a:p>
          <a:p>
            <a:r>
              <a:rPr lang="en-US" sz="2200" dirty="0" smtClean="0"/>
              <a:t>The </a:t>
            </a:r>
            <a:r>
              <a:rPr lang="en-US" sz="2200" i="1" dirty="0" smtClean="0">
                <a:solidFill>
                  <a:srgbClr val="C00000"/>
                </a:solidFill>
              </a:rPr>
              <a:t>conceptual integrity</a:t>
            </a:r>
            <a:r>
              <a:rPr lang="en-US" sz="2200" dirty="0" smtClean="0"/>
              <a:t> of a system determines its </a:t>
            </a:r>
            <a:r>
              <a:rPr lang="en-US" sz="2200" u="sng" dirty="0" smtClean="0"/>
              <a:t>ease of use</a:t>
            </a:r>
            <a:r>
              <a:rPr lang="en-US" sz="2200" dirty="0" smtClean="0"/>
              <a:t>.</a:t>
            </a:r>
          </a:p>
          <a:p>
            <a:endParaRPr lang="en-US" sz="2200" dirty="0"/>
          </a:p>
        </p:txBody>
      </p:sp>
      <p:pic>
        <p:nvPicPr>
          <p:cNvPr id="4" name="Picture 2"/>
          <p:cNvPicPr>
            <a:picLocks noChangeAspect="1" noChangeArrowheads="1"/>
          </p:cNvPicPr>
          <p:nvPr/>
        </p:nvPicPr>
        <p:blipFill>
          <a:blip r:embed="rId2" cstate="print"/>
          <a:srcRect/>
          <a:stretch>
            <a:fillRect/>
          </a:stretch>
        </p:blipFill>
        <p:spPr bwMode="auto">
          <a:xfrm>
            <a:off x="3124200" y="3724275"/>
            <a:ext cx="2857500" cy="1905000"/>
          </a:xfrm>
          <a:prstGeom prst="rect">
            <a:avLst/>
          </a:prstGeom>
          <a:noFill/>
          <a:ln w="9525">
            <a:noFill/>
            <a:miter lim="800000"/>
            <a:headEnd/>
            <a:tailEnd/>
          </a:ln>
        </p:spPr>
      </p:pic>
      <p:pic>
        <p:nvPicPr>
          <p:cNvPr id="5" name="Picture 4" descr="https://s-media-cache-ak0.pinimg.com/236x/43/23/c9/4323c99e149f41968876c858b70b8f2a.jpg"/>
          <p:cNvPicPr>
            <a:picLocks noChangeAspect="1" noChangeArrowheads="1"/>
          </p:cNvPicPr>
          <p:nvPr/>
        </p:nvPicPr>
        <p:blipFill>
          <a:blip r:embed="rId3" cstate="print"/>
          <a:srcRect/>
          <a:stretch>
            <a:fillRect/>
          </a:stretch>
        </p:blipFill>
        <p:spPr bwMode="auto">
          <a:xfrm>
            <a:off x="6324600" y="3571875"/>
            <a:ext cx="2247900" cy="2066925"/>
          </a:xfrm>
          <a:prstGeom prst="rect">
            <a:avLst/>
          </a:prstGeom>
          <a:noFill/>
        </p:spPr>
      </p:pic>
      <p:sp>
        <p:nvSpPr>
          <p:cNvPr id="6" name="Rectangle 5"/>
          <p:cNvSpPr/>
          <p:nvPr/>
        </p:nvSpPr>
        <p:spPr>
          <a:xfrm>
            <a:off x="3810000" y="5701010"/>
            <a:ext cx="1601336" cy="461665"/>
          </a:xfrm>
          <a:prstGeom prst="rect">
            <a:avLst/>
          </a:prstGeom>
        </p:spPr>
        <p:txBody>
          <a:bodyPr wrap="none">
            <a:spAutoFit/>
          </a:bodyPr>
          <a:lstStyle/>
          <a:p>
            <a:r>
              <a:rPr lang="en-US" sz="2400" b="1" dirty="0" smtClean="0">
                <a:latin typeface="+mj-lt"/>
              </a:rPr>
              <a:t>Aristocracy</a:t>
            </a:r>
            <a:endParaRPr lang="en-US" sz="2400" b="1" dirty="0">
              <a:latin typeface="+mj-lt"/>
            </a:endParaRPr>
          </a:p>
        </p:txBody>
      </p:sp>
      <p:sp>
        <p:nvSpPr>
          <p:cNvPr id="7" name="Rectangle 6"/>
          <p:cNvSpPr/>
          <p:nvPr/>
        </p:nvSpPr>
        <p:spPr>
          <a:xfrm>
            <a:off x="6705600" y="5710535"/>
            <a:ext cx="1606209" cy="461665"/>
          </a:xfrm>
          <a:prstGeom prst="rect">
            <a:avLst/>
          </a:prstGeom>
        </p:spPr>
        <p:txBody>
          <a:bodyPr wrap="none">
            <a:spAutoFit/>
          </a:bodyPr>
          <a:lstStyle/>
          <a:p>
            <a:r>
              <a:rPr lang="en-US" sz="2400" b="1" dirty="0" smtClean="0">
                <a:latin typeface="+mj-lt"/>
              </a:rPr>
              <a:t>Democracy</a:t>
            </a:r>
            <a:endParaRPr lang="en-US" sz="2400" b="1" dirty="0">
              <a:latin typeface="+mj-lt"/>
            </a:endParaRPr>
          </a:p>
        </p:txBody>
      </p:sp>
      <p:pic>
        <p:nvPicPr>
          <p:cNvPr id="8" name="Picture 6" descr="http://f.tqn.com/y/historymedren/1/W/V/_/2/king-john-head.jpg"/>
          <p:cNvPicPr>
            <a:picLocks noChangeAspect="1" noChangeArrowheads="1"/>
          </p:cNvPicPr>
          <p:nvPr/>
        </p:nvPicPr>
        <p:blipFill>
          <a:blip r:embed="rId4" cstate="print"/>
          <a:srcRect/>
          <a:stretch>
            <a:fillRect/>
          </a:stretch>
        </p:blipFill>
        <p:spPr bwMode="auto">
          <a:xfrm>
            <a:off x="609600" y="3800475"/>
            <a:ext cx="2188421" cy="1790527"/>
          </a:xfrm>
          <a:prstGeom prst="rect">
            <a:avLst/>
          </a:prstGeom>
          <a:noFill/>
        </p:spPr>
      </p:pic>
      <p:sp>
        <p:nvSpPr>
          <p:cNvPr id="9" name="Rectangle 8"/>
          <p:cNvSpPr/>
          <p:nvPr/>
        </p:nvSpPr>
        <p:spPr>
          <a:xfrm>
            <a:off x="838200" y="5705475"/>
            <a:ext cx="1334468" cy="461665"/>
          </a:xfrm>
          <a:prstGeom prst="rect">
            <a:avLst/>
          </a:prstGeom>
        </p:spPr>
        <p:txBody>
          <a:bodyPr wrap="none">
            <a:spAutoFit/>
          </a:bodyPr>
          <a:lstStyle/>
          <a:p>
            <a:r>
              <a:rPr lang="en-US" sz="2400" b="1" dirty="0" smtClean="0">
                <a:latin typeface="+mj-lt"/>
              </a:rPr>
              <a:t>Monarch</a:t>
            </a:r>
            <a:endParaRPr lang="en-US" sz="2400" b="1" dirty="0">
              <a:latin typeface="+mj-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Share a Work</a:t>
            </a: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3352800" y="4267200"/>
            <a:ext cx="3429000" cy="2286000"/>
          </a:xfrm>
          <a:prstGeom prst="rect">
            <a:avLst/>
          </a:prstGeom>
          <a:noFill/>
          <a:ln w="9525">
            <a:noFill/>
            <a:miter lim="800000"/>
            <a:headEnd/>
            <a:tailEnd/>
          </a:ln>
          <a:effectLst/>
        </p:spPr>
      </p:pic>
      <p:sp>
        <p:nvSpPr>
          <p:cNvPr id="6" name="Rectangle 5"/>
          <p:cNvSpPr/>
          <p:nvPr/>
        </p:nvSpPr>
        <p:spPr>
          <a:xfrm>
            <a:off x="381000" y="1415296"/>
            <a:ext cx="8610600" cy="2893100"/>
          </a:xfrm>
          <a:prstGeom prst="rect">
            <a:avLst/>
          </a:prstGeom>
          <a:noFill/>
        </p:spPr>
        <p:txBody>
          <a:bodyPr wrap="square">
            <a:spAutoFit/>
          </a:bodyPr>
          <a:lstStyle/>
          <a:p>
            <a:pPr marL="457200" indent="-457200">
              <a:buFont typeface="Arial" pitchFamily="34" charset="0"/>
              <a:buChar char="•"/>
            </a:pPr>
            <a:r>
              <a:rPr lang="en-US" sz="2600" dirty="0" smtClean="0">
                <a:latin typeface="+mj-lt"/>
              </a:rPr>
              <a:t>Each segment of a large job is </a:t>
            </a:r>
            <a:r>
              <a:rPr lang="en-US" sz="2600" i="1" dirty="0" smtClean="0">
                <a:solidFill>
                  <a:srgbClr val="C00000"/>
                </a:solidFill>
                <a:latin typeface="+mj-lt"/>
              </a:rPr>
              <a:t>tackled by a team</a:t>
            </a:r>
            <a:r>
              <a:rPr lang="en-US" sz="2600" dirty="0" smtClean="0">
                <a:latin typeface="+mj-lt"/>
              </a:rPr>
              <a:t>, but that the team be organized like a </a:t>
            </a:r>
            <a:r>
              <a:rPr lang="en-US" sz="2600" i="1" dirty="0" smtClean="0">
                <a:solidFill>
                  <a:srgbClr val="C00000"/>
                </a:solidFill>
                <a:latin typeface="+mj-lt"/>
              </a:rPr>
              <a:t>surgical team</a:t>
            </a:r>
            <a:r>
              <a:rPr lang="en-US" sz="2600" dirty="0" smtClean="0">
                <a:latin typeface="+mj-lt"/>
              </a:rPr>
              <a:t> rather than a hog-butchering team.</a:t>
            </a:r>
          </a:p>
          <a:p>
            <a:pPr marL="457200" indent="-457200">
              <a:buFont typeface="Arial" pitchFamily="34" charset="0"/>
              <a:buChar char="•"/>
            </a:pPr>
            <a:r>
              <a:rPr lang="en-US" sz="2600" dirty="0" smtClean="0">
                <a:latin typeface="+mj-lt"/>
              </a:rPr>
              <a:t>That is, instead of each member cutting away on the problem, </a:t>
            </a:r>
            <a:r>
              <a:rPr lang="en-US" sz="2600" i="1" dirty="0" smtClean="0">
                <a:solidFill>
                  <a:srgbClr val="C00000"/>
                </a:solidFill>
                <a:latin typeface="+mj-lt"/>
              </a:rPr>
              <a:t>one does the cutting</a:t>
            </a:r>
            <a:r>
              <a:rPr lang="en-US" sz="2600" dirty="0" smtClean="0">
                <a:latin typeface="+mj-lt"/>
              </a:rPr>
              <a:t> and </a:t>
            </a:r>
            <a:r>
              <a:rPr lang="en-US" sz="2600" i="1" dirty="0" smtClean="0">
                <a:solidFill>
                  <a:srgbClr val="C00000"/>
                </a:solidFill>
                <a:latin typeface="+mj-lt"/>
              </a:rPr>
              <a:t>the others give him every support</a:t>
            </a:r>
            <a:r>
              <a:rPr lang="en-US" sz="2600" dirty="0" smtClean="0">
                <a:latin typeface="+mj-lt"/>
              </a:rPr>
              <a:t> that will enhance his effectiveness and productivity.</a:t>
            </a:r>
          </a:p>
        </p:txBody>
      </p:sp>
      <p:sp>
        <p:nvSpPr>
          <p:cNvPr id="5" name="Rectangle 4"/>
          <p:cNvSpPr/>
          <p:nvPr/>
        </p:nvSpPr>
        <p:spPr>
          <a:xfrm>
            <a:off x="1828800" y="4800600"/>
            <a:ext cx="1219200" cy="1200329"/>
          </a:xfrm>
          <a:prstGeom prst="rect">
            <a:avLst/>
          </a:prstGeom>
        </p:spPr>
        <p:txBody>
          <a:bodyPr wrap="square">
            <a:spAutoFit/>
          </a:bodyPr>
          <a:lstStyle/>
          <a:p>
            <a:r>
              <a:rPr lang="en-US" sz="2400" b="1" dirty="0" smtClean="0">
                <a:latin typeface="+mj-lt"/>
              </a:rPr>
              <a:t>The Surgical Team</a:t>
            </a:r>
            <a:endParaRPr lang="en-US" sz="2400" b="1" dirty="0">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Conduct a Meeting?</a:t>
            </a:r>
            <a:endParaRPr lang="en-US" dirty="0"/>
          </a:p>
        </p:txBody>
      </p:sp>
      <p:sp>
        <p:nvSpPr>
          <p:cNvPr id="18" name="Rectangle 17"/>
          <p:cNvSpPr/>
          <p:nvPr/>
        </p:nvSpPr>
        <p:spPr>
          <a:xfrm>
            <a:off x="304800" y="1353264"/>
            <a:ext cx="4800600" cy="5047536"/>
          </a:xfrm>
          <a:prstGeom prst="rect">
            <a:avLst/>
          </a:prstGeom>
        </p:spPr>
        <p:txBody>
          <a:bodyPr wrap="square">
            <a:spAutoFit/>
          </a:bodyPr>
          <a:lstStyle/>
          <a:p>
            <a:pPr marL="342900" indent="-342900">
              <a:buFont typeface="Wingdings" pitchFamily="2" charset="2"/>
              <a:buChar char="Ø"/>
            </a:pPr>
            <a:r>
              <a:rPr lang="en-US" sz="2400" dirty="0" smtClean="0">
                <a:latin typeface="+mj-lt"/>
              </a:rPr>
              <a:t>Target</a:t>
            </a:r>
          </a:p>
          <a:p>
            <a:pPr marL="800100" lvl="1" indent="-342900">
              <a:buFont typeface="Wingdings" pitchFamily="2" charset="2"/>
              <a:buChar char="§"/>
            </a:pPr>
            <a:r>
              <a:rPr lang="en-US" sz="2200" dirty="0" smtClean="0">
                <a:latin typeface="+mj-lt"/>
              </a:rPr>
              <a:t>Solving </a:t>
            </a:r>
            <a:r>
              <a:rPr lang="en-US" sz="2200" i="1" dirty="0" smtClean="0">
                <a:solidFill>
                  <a:srgbClr val="C00000"/>
                </a:solidFill>
                <a:latin typeface="+mj-lt"/>
              </a:rPr>
              <a:t>problems</a:t>
            </a:r>
            <a:r>
              <a:rPr lang="en-US" sz="2200" dirty="0" smtClean="0">
                <a:latin typeface="+mj-lt"/>
              </a:rPr>
              <a:t>?</a:t>
            </a:r>
          </a:p>
          <a:p>
            <a:pPr marL="800100" lvl="1" indent="-342900">
              <a:buFont typeface="Wingdings" pitchFamily="2" charset="2"/>
              <a:buChar char="§"/>
            </a:pPr>
            <a:r>
              <a:rPr lang="en-US" sz="2200" dirty="0" smtClean="0">
                <a:latin typeface="+mj-lt"/>
              </a:rPr>
              <a:t>Making </a:t>
            </a:r>
            <a:r>
              <a:rPr lang="en-US" sz="2200" i="1" dirty="0" smtClean="0">
                <a:solidFill>
                  <a:srgbClr val="C00000"/>
                </a:solidFill>
                <a:latin typeface="+mj-lt"/>
              </a:rPr>
              <a:t>decisions</a:t>
            </a:r>
            <a:r>
              <a:rPr lang="en-US" sz="2200" dirty="0" smtClean="0">
                <a:latin typeface="+mj-lt"/>
              </a:rPr>
              <a:t>?</a:t>
            </a:r>
          </a:p>
          <a:p>
            <a:pPr marL="800100" lvl="1" indent="-342900">
              <a:buFont typeface="Wingdings" pitchFamily="2" charset="2"/>
              <a:buChar char="§"/>
            </a:pPr>
            <a:r>
              <a:rPr lang="en-US" sz="2200" dirty="0" smtClean="0">
                <a:latin typeface="+mj-lt"/>
              </a:rPr>
              <a:t>Transferring </a:t>
            </a:r>
            <a:r>
              <a:rPr lang="en-US" sz="2200" i="1" dirty="0" smtClean="0">
                <a:solidFill>
                  <a:srgbClr val="C00000"/>
                </a:solidFill>
                <a:latin typeface="+mj-lt"/>
              </a:rPr>
              <a:t>knowledge</a:t>
            </a:r>
            <a:r>
              <a:rPr lang="en-US" sz="2200" dirty="0" smtClean="0">
                <a:latin typeface="+mj-lt"/>
              </a:rPr>
              <a:t>, getting </a:t>
            </a:r>
            <a:r>
              <a:rPr lang="en-US" sz="2200" i="1" dirty="0" smtClean="0">
                <a:solidFill>
                  <a:srgbClr val="C00000"/>
                </a:solidFill>
                <a:latin typeface="+mj-lt"/>
              </a:rPr>
              <a:t>feedback</a:t>
            </a:r>
            <a:r>
              <a:rPr lang="en-US" sz="2200" dirty="0" smtClean="0">
                <a:latin typeface="+mj-lt"/>
              </a:rPr>
              <a:t>, </a:t>
            </a:r>
            <a:r>
              <a:rPr lang="en-US" sz="2200" i="1" dirty="0" smtClean="0">
                <a:solidFill>
                  <a:srgbClr val="C00000"/>
                </a:solidFill>
                <a:latin typeface="+mj-lt"/>
              </a:rPr>
              <a:t>reporting</a:t>
            </a:r>
            <a:r>
              <a:rPr lang="en-US" sz="2200" dirty="0" smtClean="0">
                <a:latin typeface="+mj-lt"/>
              </a:rPr>
              <a:t>?</a:t>
            </a:r>
          </a:p>
          <a:p>
            <a:pPr marL="800100" lvl="1" indent="-342900">
              <a:buFont typeface="Wingdings" pitchFamily="2" charset="2"/>
              <a:buChar char="§"/>
            </a:pPr>
            <a:endParaRPr lang="en-US" sz="2200" dirty="0" smtClean="0">
              <a:latin typeface="+mj-lt"/>
            </a:endParaRPr>
          </a:p>
          <a:p>
            <a:pPr marL="342900" indent="-342900">
              <a:buFont typeface="Wingdings" pitchFamily="2" charset="2"/>
              <a:buChar char="Ø"/>
            </a:pPr>
            <a:r>
              <a:rPr lang="en-US" sz="2400" dirty="0" smtClean="0">
                <a:latin typeface="+mj-lt"/>
              </a:rPr>
              <a:t>Responsibilities</a:t>
            </a:r>
          </a:p>
          <a:p>
            <a:pPr marL="914400" lvl="1" indent="-457200">
              <a:buFont typeface="Wingdings" pitchFamily="2" charset="2"/>
              <a:buChar char="§"/>
            </a:pPr>
            <a:r>
              <a:rPr lang="en-US" sz="2200" dirty="0" smtClean="0">
                <a:latin typeface="+mj-lt"/>
              </a:rPr>
              <a:t>Chairman</a:t>
            </a:r>
          </a:p>
          <a:p>
            <a:pPr marL="914400" lvl="1" indent="-457200">
              <a:buFont typeface="Wingdings" pitchFamily="2" charset="2"/>
              <a:buChar char="§"/>
            </a:pPr>
            <a:r>
              <a:rPr lang="en-US" sz="2200" dirty="0" smtClean="0">
                <a:latin typeface="+mj-lt"/>
              </a:rPr>
              <a:t>Secretary</a:t>
            </a:r>
          </a:p>
          <a:p>
            <a:pPr marL="914400" lvl="1" indent="-457200">
              <a:buFont typeface="Wingdings" pitchFamily="2" charset="2"/>
              <a:buChar char="§"/>
            </a:pPr>
            <a:r>
              <a:rPr lang="en-US" sz="2200" i="1" dirty="0" smtClean="0">
                <a:solidFill>
                  <a:srgbClr val="C00000"/>
                </a:solidFill>
                <a:latin typeface="+mj-lt"/>
              </a:rPr>
              <a:t>Attendees</a:t>
            </a:r>
          </a:p>
          <a:p>
            <a:pPr marL="914400" lvl="1" indent="-457200">
              <a:buFont typeface="Wingdings" pitchFamily="2" charset="2"/>
              <a:buChar char="§"/>
            </a:pPr>
            <a:endParaRPr lang="en-US" sz="2200" dirty="0" smtClean="0">
              <a:latin typeface="+mj-lt"/>
            </a:endParaRPr>
          </a:p>
          <a:p>
            <a:pPr marL="457200" indent="-457200">
              <a:buFont typeface="Wingdings" pitchFamily="2" charset="2"/>
              <a:buChar char="Ø"/>
            </a:pPr>
            <a:r>
              <a:rPr lang="en-US" sz="2400" dirty="0" smtClean="0">
                <a:latin typeface="+mj-lt"/>
              </a:rPr>
              <a:t>Agenda preparation</a:t>
            </a:r>
          </a:p>
          <a:p>
            <a:pPr marL="457200" indent="-457200">
              <a:buFont typeface="Wingdings" pitchFamily="2" charset="2"/>
              <a:buChar char="Ø"/>
            </a:pPr>
            <a:r>
              <a:rPr lang="en-US" sz="2400" dirty="0" smtClean="0">
                <a:latin typeface="+mj-lt"/>
              </a:rPr>
              <a:t>Timeframe preparation</a:t>
            </a:r>
          </a:p>
          <a:p>
            <a:pPr marL="457200" indent="-457200">
              <a:buFont typeface="Wingdings" pitchFamily="2" charset="2"/>
              <a:buChar char="Ø"/>
            </a:pPr>
            <a:r>
              <a:rPr lang="en-US" sz="2400" dirty="0" smtClean="0">
                <a:latin typeface="+mj-lt"/>
              </a:rPr>
              <a:t>Content, data preparation</a:t>
            </a:r>
          </a:p>
        </p:txBody>
      </p:sp>
      <p:pic>
        <p:nvPicPr>
          <p:cNvPr id="1026" name="Picture 2"/>
          <p:cNvPicPr>
            <a:picLocks noChangeAspect="1" noChangeArrowheads="1"/>
          </p:cNvPicPr>
          <p:nvPr/>
        </p:nvPicPr>
        <p:blipFill>
          <a:blip r:embed="rId2" cstate="print"/>
          <a:srcRect/>
          <a:stretch>
            <a:fillRect/>
          </a:stretch>
        </p:blipFill>
        <p:spPr bwMode="auto">
          <a:xfrm>
            <a:off x="5181601" y="1295400"/>
            <a:ext cx="3657600" cy="2365248"/>
          </a:xfrm>
          <a:prstGeom prst="rect">
            <a:avLst/>
          </a:prstGeom>
          <a:noFill/>
          <a:ln w="9525">
            <a:noFill/>
            <a:miter lim="800000"/>
            <a:headEnd/>
            <a:tailEnd/>
          </a:ln>
          <a:effectLst/>
        </p:spPr>
      </p:pic>
      <p:sp>
        <p:nvSpPr>
          <p:cNvPr id="11" name="Rectangle 10"/>
          <p:cNvSpPr/>
          <p:nvPr/>
        </p:nvSpPr>
        <p:spPr>
          <a:xfrm>
            <a:off x="5105400" y="3810000"/>
            <a:ext cx="3657600" cy="2923877"/>
          </a:xfrm>
          <a:prstGeom prst="rect">
            <a:avLst/>
          </a:prstGeom>
        </p:spPr>
        <p:txBody>
          <a:bodyPr wrap="square">
            <a:spAutoFit/>
          </a:bodyPr>
          <a:lstStyle/>
          <a:p>
            <a:r>
              <a:rPr lang="en-US" sz="2400" dirty="0" smtClean="0">
                <a:latin typeface="+mj-lt"/>
              </a:rPr>
              <a:t>Meeting minutes</a:t>
            </a:r>
          </a:p>
          <a:p>
            <a:pPr marL="342900" indent="-342900">
              <a:buFont typeface="Courier New" pitchFamily="49" charset="0"/>
              <a:buChar char="o"/>
            </a:pPr>
            <a:r>
              <a:rPr lang="en-US" sz="2000" dirty="0" smtClean="0">
                <a:latin typeface="+mj-lt"/>
              </a:rPr>
              <a:t>Who were </a:t>
            </a:r>
            <a:r>
              <a:rPr lang="en-US" sz="2000" i="1" dirty="0" smtClean="0">
                <a:solidFill>
                  <a:srgbClr val="C00000"/>
                </a:solidFill>
                <a:latin typeface="+mj-lt"/>
              </a:rPr>
              <a:t>present</a:t>
            </a:r>
            <a:r>
              <a:rPr lang="en-US" sz="2000" dirty="0" smtClean="0">
                <a:latin typeface="+mj-lt"/>
              </a:rPr>
              <a:t>?</a:t>
            </a:r>
          </a:p>
          <a:p>
            <a:pPr marL="342900" indent="-342900">
              <a:buFont typeface="Courier New" pitchFamily="49" charset="0"/>
              <a:buChar char="o"/>
            </a:pPr>
            <a:r>
              <a:rPr lang="en-US" sz="2000" dirty="0" smtClean="0">
                <a:latin typeface="+mj-lt"/>
              </a:rPr>
              <a:t>What are the </a:t>
            </a:r>
            <a:r>
              <a:rPr lang="en-US" sz="2000" i="1" dirty="0" smtClean="0">
                <a:solidFill>
                  <a:srgbClr val="C00000"/>
                </a:solidFill>
                <a:latin typeface="+mj-lt"/>
              </a:rPr>
              <a:t>targets</a:t>
            </a:r>
            <a:r>
              <a:rPr lang="en-US" sz="2000" dirty="0" smtClean="0">
                <a:latin typeface="+mj-lt"/>
              </a:rPr>
              <a:t>?</a:t>
            </a:r>
          </a:p>
          <a:p>
            <a:pPr marL="342900" indent="-342900">
              <a:buFont typeface="Courier New" pitchFamily="49" charset="0"/>
              <a:buChar char="o"/>
            </a:pPr>
            <a:r>
              <a:rPr lang="en-US" sz="2000" dirty="0" smtClean="0">
                <a:latin typeface="+mj-lt"/>
              </a:rPr>
              <a:t>What are the </a:t>
            </a:r>
            <a:r>
              <a:rPr lang="en-US" sz="2000" i="1" dirty="0" smtClean="0">
                <a:solidFill>
                  <a:srgbClr val="C00000"/>
                </a:solidFill>
                <a:latin typeface="+mj-lt"/>
              </a:rPr>
              <a:t>decisions</a:t>
            </a:r>
            <a:r>
              <a:rPr lang="en-US" sz="2000" dirty="0" smtClean="0">
                <a:solidFill>
                  <a:srgbClr val="C00000"/>
                </a:solidFill>
                <a:latin typeface="+mj-lt"/>
              </a:rPr>
              <a:t>, r</a:t>
            </a:r>
            <a:r>
              <a:rPr lang="en-US" sz="2000" i="1" dirty="0" smtClean="0">
                <a:solidFill>
                  <a:srgbClr val="C00000"/>
                </a:solidFill>
                <a:latin typeface="+mj-lt"/>
              </a:rPr>
              <a:t>esolutions</a:t>
            </a:r>
            <a:r>
              <a:rPr lang="en-US" sz="2000" dirty="0" smtClean="0">
                <a:latin typeface="+mj-lt"/>
              </a:rPr>
              <a:t>?</a:t>
            </a:r>
          </a:p>
          <a:p>
            <a:pPr marL="342900" indent="-342900">
              <a:buFont typeface="Courier New" pitchFamily="49" charset="0"/>
              <a:buChar char="o"/>
            </a:pPr>
            <a:r>
              <a:rPr lang="en-US" sz="2000" i="1" dirty="0" smtClean="0">
                <a:solidFill>
                  <a:srgbClr val="C00000"/>
                </a:solidFill>
                <a:latin typeface="+mj-lt"/>
              </a:rPr>
              <a:t>Who</a:t>
            </a:r>
            <a:r>
              <a:rPr lang="en-US" sz="2000" dirty="0" smtClean="0">
                <a:latin typeface="+mj-lt"/>
              </a:rPr>
              <a:t> are </a:t>
            </a:r>
            <a:r>
              <a:rPr lang="en-US" sz="2000" u="sng" dirty="0" smtClean="0">
                <a:latin typeface="+mj-lt"/>
              </a:rPr>
              <a:t>responsible</a:t>
            </a:r>
            <a:r>
              <a:rPr lang="en-US" sz="2000" dirty="0" smtClean="0">
                <a:latin typeface="+mj-lt"/>
              </a:rPr>
              <a:t> for doing the tasks? </a:t>
            </a:r>
          </a:p>
          <a:p>
            <a:pPr marL="342900" indent="-342900">
              <a:buFont typeface="Courier New" pitchFamily="49" charset="0"/>
              <a:buChar char="o"/>
            </a:pPr>
            <a:r>
              <a:rPr lang="en-US" sz="2000" i="1" dirty="0" smtClean="0">
                <a:solidFill>
                  <a:srgbClr val="C00000"/>
                </a:solidFill>
                <a:latin typeface="+mj-lt"/>
              </a:rPr>
              <a:t>When</a:t>
            </a:r>
            <a:r>
              <a:rPr lang="en-US" sz="2000" dirty="0" smtClean="0">
                <a:latin typeface="+mj-lt"/>
              </a:rPr>
              <a:t> will decisions be effective?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Manage a Team?</a:t>
            </a:r>
            <a:endParaRPr lang="en-US" dirty="0"/>
          </a:p>
        </p:txBody>
      </p:sp>
      <p:pic>
        <p:nvPicPr>
          <p:cNvPr id="1026" name="Picture 2" descr="http://wellbalancedleaders.com/wp-content/uploads/2012/07/11196287_s.jpg"/>
          <p:cNvPicPr>
            <a:picLocks noChangeAspect="1" noChangeArrowheads="1"/>
          </p:cNvPicPr>
          <p:nvPr/>
        </p:nvPicPr>
        <p:blipFill>
          <a:blip r:embed="rId2" cstate="print"/>
          <a:srcRect/>
          <a:stretch>
            <a:fillRect/>
          </a:stretch>
        </p:blipFill>
        <p:spPr bwMode="auto">
          <a:xfrm>
            <a:off x="381000" y="1981200"/>
            <a:ext cx="3429000" cy="3429000"/>
          </a:xfrm>
          <a:prstGeom prst="rect">
            <a:avLst/>
          </a:prstGeom>
          <a:noFill/>
        </p:spPr>
      </p:pic>
      <p:sp>
        <p:nvSpPr>
          <p:cNvPr id="1028" name="AutoShape 4" descr="https://fthmb.tqn.com/mFZLoCHls1yLsgIpOxd4cKmwMBI=/768x0/filters:no_upscale()/about/GettyImages-180408552-5792dcf53df78c1734021c9f.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https://fthmb.tqn.com/mFZLoCHls1yLsgIpOxd4cKmwMBI=/768x0/filters:no_upscale()/about/GettyImages-180408552-5792dcf53df78c1734021c9f.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https://fthmb.tqn.com/mFZLoCHls1yLsgIpOxd4cKmwMBI=/768x0/filters:no_upscale()/about/GettyImages-180408552-5792dcf53df78c1734021c9f.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4" name="AutoShape 10" descr="https://fthmb.tqn.com/mFZLoCHls1yLsgIpOxd4cKmwMBI=/768x0/filters:no_upscale()/about/GettyImages-180408552-5792dcf53df78c1734021c9f.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5" name="Picture 11"/>
          <p:cNvPicPr>
            <a:picLocks noChangeAspect="1" noChangeArrowheads="1"/>
          </p:cNvPicPr>
          <p:nvPr/>
        </p:nvPicPr>
        <p:blipFill>
          <a:blip r:embed="rId3" cstate="print"/>
          <a:srcRect/>
          <a:stretch>
            <a:fillRect/>
          </a:stretch>
        </p:blipFill>
        <p:spPr bwMode="auto">
          <a:xfrm>
            <a:off x="4114800" y="2209800"/>
            <a:ext cx="4389120" cy="292608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Management Styles: Discussion Questions</a:t>
            </a:r>
            <a:endParaRPr lang="en-US" sz="3600" dirty="0"/>
          </a:p>
        </p:txBody>
      </p:sp>
      <p:sp>
        <p:nvSpPr>
          <p:cNvPr id="3" name="Content Placeholder 2"/>
          <p:cNvSpPr>
            <a:spLocks noGrp="1"/>
          </p:cNvSpPr>
          <p:nvPr>
            <p:ph idx="1"/>
          </p:nvPr>
        </p:nvSpPr>
        <p:spPr/>
        <p:txBody>
          <a:bodyPr/>
          <a:lstStyle/>
          <a:p>
            <a:pPr marL="514350" indent="-514350">
              <a:buFont typeface="+mj-lt"/>
              <a:buAutoNum type="arabicPeriod"/>
            </a:pPr>
            <a:r>
              <a:rPr lang="en-US" sz="2000" dirty="0" smtClean="0"/>
              <a:t>Organizational structure?</a:t>
            </a:r>
          </a:p>
          <a:p>
            <a:pPr marL="514350" indent="-514350">
              <a:buFont typeface="+mj-lt"/>
              <a:buAutoNum type="arabicPeriod"/>
            </a:pPr>
            <a:r>
              <a:rPr lang="en-US" sz="2000" dirty="0" smtClean="0"/>
              <a:t>What is theory X, Y, Z?</a:t>
            </a:r>
          </a:p>
          <a:p>
            <a:pPr marL="514350" indent="-514350">
              <a:buFont typeface="+mj-lt"/>
              <a:buAutoNum type="arabicPeriod"/>
            </a:pPr>
            <a:r>
              <a:rPr lang="en-US" sz="2000" dirty="0" smtClean="0"/>
              <a:t>Team leader: How to apply theory X, Y, Z?</a:t>
            </a:r>
          </a:p>
          <a:p>
            <a:pPr marL="514350" indent="-514350">
              <a:buFont typeface="+mj-lt"/>
              <a:buAutoNum type="arabicPeriod"/>
            </a:pPr>
            <a:r>
              <a:rPr lang="en-US" sz="2000" dirty="0" smtClean="0"/>
              <a:t>Why know about theory X, Y, Z?</a:t>
            </a:r>
          </a:p>
          <a:p>
            <a:pPr marL="514350" indent="-514350">
              <a:buFont typeface="+mj-lt"/>
              <a:buAutoNum type="arabicPeriod"/>
            </a:pPr>
            <a:r>
              <a:rPr lang="en-US" sz="2000" dirty="0" smtClean="0"/>
              <a:t>Team rules (guidelines for standard behavior) and policies (responses to specific problems)? Working hours agreement?</a:t>
            </a:r>
          </a:p>
          <a:p>
            <a:pPr marL="514350" indent="-514350">
              <a:buFont typeface="+mj-lt"/>
              <a:buAutoNum type="arabicPeriod"/>
            </a:pPr>
            <a:r>
              <a:rPr lang="en-US" sz="2000" dirty="0" smtClean="0"/>
              <a:t>Task assignment and results approval procedure?</a:t>
            </a:r>
          </a:p>
          <a:p>
            <a:pPr marL="514350" indent="-514350">
              <a:buFont typeface="+mj-lt"/>
              <a:buAutoNum type="arabicPeriod"/>
            </a:pPr>
            <a:r>
              <a:rPr lang="en-US" sz="2000" dirty="0" smtClean="0"/>
              <a:t>Change control process?</a:t>
            </a:r>
          </a:p>
          <a:p>
            <a:pPr marL="514350" indent="-514350">
              <a:buFont typeface="+mj-lt"/>
              <a:buAutoNum type="arabicPeriod"/>
            </a:pPr>
            <a:endParaRPr lang="en-US" sz="2000" dirty="0" smtClean="0"/>
          </a:p>
        </p:txBody>
      </p:sp>
      <p:pic>
        <p:nvPicPr>
          <p:cNvPr id="1026" name="Picture 2"/>
          <p:cNvPicPr>
            <a:picLocks noChangeAspect="1" noChangeArrowheads="1"/>
          </p:cNvPicPr>
          <p:nvPr/>
        </p:nvPicPr>
        <p:blipFill>
          <a:blip r:embed="rId2" cstate="print"/>
          <a:srcRect/>
          <a:stretch>
            <a:fillRect/>
          </a:stretch>
        </p:blipFill>
        <p:spPr bwMode="auto">
          <a:xfrm>
            <a:off x="3277839" y="4570519"/>
            <a:ext cx="3046761" cy="1982681"/>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 Organizations [3]</a:t>
            </a:r>
            <a:endParaRPr lang="en-US" dirty="0"/>
          </a:p>
        </p:txBody>
      </p:sp>
      <p:sp>
        <p:nvSpPr>
          <p:cNvPr id="3" name="Content Placeholder 2"/>
          <p:cNvSpPr>
            <a:spLocks noGrp="1"/>
          </p:cNvSpPr>
          <p:nvPr>
            <p:ph idx="1"/>
          </p:nvPr>
        </p:nvSpPr>
        <p:spPr/>
        <p:txBody>
          <a:bodyPr/>
          <a:lstStyle/>
          <a:p>
            <a:r>
              <a:rPr lang="en-US" sz="2400" dirty="0" smtClean="0"/>
              <a:t>Functional organizations are </a:t>
            </a:r>
            <a:r>
              <a:rPr lang="en-US" sz="2400" i="1" dirty="0" smtClean="0">
                <a:solidFill>
                  <a:srgbClr val="C00000"/>
                </a:solidFill>
              </a:rPr>
              <a:t>centered on specialties</a:t>
            </a:r>
            <a:r>
              <a:rPr lang="en-US" sz="2400" dirty="0" smtClean="0"/>
              <a:t> and </a:t>
            </a:r>
            <a:r>
              <a:rPr lang="en-US" sz="2400" i="1" dirty="0" smtClean="0">
                <a:solidFill>
                  <a:srgbClr val="C00000"/>
                </a:solidFill>
              </a:rPr>
              <a:t>grouped by function</a:t>
            </a:r>
            <a:r>
              <a:rPr lang="en-US" sz="2400" dirty="0" smtClean="0"/>
              <a:t>, hence the term functional organization.</a:t>
            </a:r>
          </a:p>
          <a:p>
            <a:endParaRPr lang="en-US" sz="2400" dirty="0"/>
          </a:p>
        </p:txBody>
      </p:sp>
      <p:pic>
        <p:nvPicPr>
          <p:cNvPr id="4" name="Picture 3"/>
          <p:cNvPicPr>
            <a:picLocks noChangeAspect="1" noChangeArrowheads="1"/>
          </p:cNvPicPr>
          <p:nvPr/>
        </p:nvPicPr>
        <p:blipFill>
          <a:blip r:embed="rId3" cstate="print"/>
          <a:srcRect/>
          <a:stretch>
            <a:fillRect/>
          </a:stretch>
        </p:blipFill>
        <p:spPr bwMode="auto">
          <a:xfrm>
            <a:off x="228600" y="3114675"/>
            <a:ext cx="4133850" cy="2517775"/>
          </a:xfrm>
          <a:prstGeom prst="rect">
            <a:avLst/>
          </a:prstGeom>
          <a:noFill/>
          <a:ln w="9525">
            <a:noFill/>
            <a:miter lim="800000"/>
            <a:headEnd/>
            <a:tailEnd/>
          </a:ln>
        </p:spPr>
      </p:pic>
      <p:pic>
        <p:nvPicPr>
          <p:cNvPr id="5" name="Picture 5"/>
          <p:cNvPicPr>
            <a:picLocks noChangeAspect="1" noChangeArrowheads="1"/>
          </p:cNvPicPr>
          <p:nvPr/>
        </p:nvPicPr>
        <p:blipFill>
          <a:blip r:embed="rId4" cstate="print"/>
          <a:srcRect/>
          <a:stretch>
            <a:fillRect/>
          </a:stretch>
        </p:blipFill>
        <p:spPr bwMode="auto">
          <a:xfrm>
            <a:off x="4343400" y="3343275"/>
            <a:ext cx="4521200" cy="237172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Projectized</a:t>
            </a:r>
            <a:r>
              <a:rPr lang="en-US" dirty="0" smtClean="0"/>
              <a:t> Organizations</a:t>
            </a:r>
            <a:endParaRPr lang="en-US" dirty="0"/>
          </a:p>
        </p:txBody>
      </p:sp>
      <p:pic>
        <p:nvPicPr>
          <p:cNvPr id="79874" name="Picture 2"/>
          <p:cNvPicPr>
            <a:picLocks noChangeAspect="1" noChangeArrowheads="1"/>
          </p:cNvPicPr>
          <p:nvPr/>
        </p:nvPicPr>
        <p:blipFill>
          <a:blip r:embed="rId3" cstate="print"/>
          <a:srcRect/>
          <a:stretch>
            <a:fillRect/>
          </a:stretch>
        </p:blipFill>
        <p:spPr bwMode="auto">
          <a:xfrm>
            <a:off x="838200" y="1676400"/>
            <a:ext cx="7566660" cy="45910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Weak Matrix Organization</a:t>
            </a:r>
            <a:endParaRPr lang="en-US" dirty="0"/>
          </a:p>
        </p:txBody>
      </p:sp>
      <p:pic>
        <p:nvPicPr>
          <p:cNvPr id="4" name="Picture 4"/>
          <p:cNvPicPr>
            <a:picLocks noChangeAspect="1" noChangeArrowheads="1"/>
          </p:cNvPicPr>
          <p:nvPr/>
        </p:nvPicPr>
        <p:blipFill>
          <a:blip r:embed="rId3" cstate="print"/>
          <a:srcRect/>
          <a:stretch>
            <a:fillRect/>
          </a:stretch>
        </p:blipFill>
        <p:spPr bwMode="auto">
          <a:xfrm>
            <a:off x="480060" y="1676400"/>
            <a:ext cx="8206740" cy="470535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Balanced Matrix Organization</a:t>
            </a:r>
            <a:endParaRPr lang="en-US" dirty="0"/>
          </a:p>
        </p:txBody>
      </p:sp>
      <p:pic>
        <p:nvPicPr>
          <p:cNvPr id="81922" name="Picture 2"/>
          <p:cNvPicPr>
            <a:picLocks noChangeAspect="1" noChangeArrowheads="1"/>
          </p:cNvPicPr>
          <p:nvPr/>
        </p:nvPicPr>
        <p:blipFill>
          <a:blip r:embed="rId3" cstate="print"/>
          <a:srcRect/>
          <a:stretch>
            <a:fillRect/>
          </a:stretch>
        </p:blipFill>
        <p:spPr bwMode="auto">
          <a:xfrm>
            <a:off x="457200" y="1680210"/>
            <a:ext cx="8244840" cy="456819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Strong Matrix Organization</a:t>
            </a:r>
            <a:endParaRPr lang="en-US" dirty="0"/>
          </a:p>
        </p:txBody>
      </p:sp>
      <p:pic>
        <p:nvPicPr>
          <p:cNvPr id="82946" name="Picture 2"/>
          <p:cNvPicPr>
            <a:picLocks noChangeAspect="1" noChangeArrowheads="1"/>
          </p:cNvPicPr>
          <p:nvPr/>
        </p:nvPicPr>
        <p:blipFill>
          <a:blip r:embed="rId3" cstate="print"/>
          <a:srcRect/>
          <a:stretch>
            <a:fillRect/>
          </a:stretch>
        </p:blipFill>
        <p:spPr bwMode="auto">
          <a:xfrm>
            <a:off x="304800" y="1524000"/>
            <a:ext cx="8511540" cy="470154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Understand </a:t>
            </a:r>
            <a:br>
              <a:rPr lang="en-US" dirty="0" smtClean="0"/>
            </a:br>
            <a:r>
              <a:rPr lang="en-US" dirty="0" smtClean="0"/>
              <a:t>Organizational Structure?</a:t>
            </a:r>
            <a:endParaRPr lang="en-US" dirty="0"/>
          </a:p>
        </p:txBody>
      </p:sp>
      <p:pic>
        <p:nvPicPr>
          <p:cNvPr id="4" name="Picture 2" descr="http://www.eurobiz.com.cn/wp-content/uploads/2014/09/silhouettes-81830-1024x723.jpg"/>
          <p:cNvPicPr>
            <a:picLocks noChangeAspect="1" noChangeArrowheads="1"/>
          </p:cNvPicPr>
          <p:nvPr/>
        </p:nvPicPr>
        <p:blipFill>
          <a:blip r:embed="rId2" cstate="print"/>
          <a:srcRect/>
          <a:stretch>
            <a:fillRect/>
          </a:stretch>
        </p:blipFill>
        <p:spPr bwMode="auto">
          <a:xfrm>
            <a:off x="1143000" y="1579245"/>
            <a:ext cx="7152640" cy="5050155"/>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r>
              <a:rPr lang="en-US" sz="2400" dirty="0" smtClean="0"/>
              <a:t>Organizational structure is an enterprise environmental factor, which can affect the </a:t>
            </a:r>
            <a:r>
              <a:rPr lang="en-US" sz="2400" i="1" dirty="0" smtClean="0">
                <a:solidFill>
                  <a:srgbClr val="C00000"/>
                </a:solidFill>
              </a:rPr>
              <a:t>availability of resources</a:t>
            </a:r>
            <a:r>
              <a:rPr lang="en-US" sz="2400" dirty="0" smtClean="0"/>
              <a:t> and </a:t>
            </a:r>
            <a:r>
              <a:rPr lang="en-US" sz="2400" i="1" dirty="0" smtClean="0">
                <a:solidFill>
                  <a:srgbClr val="C00000"/>
                </a:solidFill>
              </a:rPr>
              <a:t>influence</a:t>
            </a:r>
            <a:r>
              <a:rPr lang="en-US" sz="2400" dirty="0" smtClean="0"/>
              <a:t> how projects are conducted.</a:t>
            </a:r>
          </a:p>
          <a:p>
            <a:r>
              <a:rPr lang="en-US" sz="2400" dirty="0" smtClean="0"/>
              <a:t>Understanding the organizational structure will help you, as a project manager, with the </a:t>
            </a:r>
            <a:r>
              <a:rPr lang="en-US" sz="2400" i="1" dirty="0" smtClean="0">
                <a:solidFill>
                  <a:srgbClr val="C00000"/>
                </a:solidFill>
              </a:rPr>
              <a:t>cultural influences</a:t>
            </a:r>
            <a:r>
              <a:rPr lang="en-US" sz="2400" dirty="0" smtClean="0"/>
              <a:t> and </a:t>
            </a:r>
            <a:r>
              <a:rPr lang="en-US" sz="2400" i="1" dirty="0" smtClean="0">
                <a:solidFill>
                  <a:srgbClr val="C00000"/>
                </a:solidFill>
              </a:rPr>
              <a:t>communication avenues</a:t>
            </a:r>
            <a:r>
              <a:rPr lang="en-US" sz="2400" dirty="0" smtClean="0"/>
              <a:t> that exist in the organization to gain cooperation and successfully bring your projects to a close.</a:t>
            </a:r>
          </a:p>
        </p:txBody>
      </p:sp>
      <p:pic>
        <p:nvPicPr>
          <p:cNvPr id="19458" name="Picture 2" descr="https://thenewscrunch.com/wp-content/uploads/2019/11/brain-puzzle-iq-challenge-answers.png"/>
          <p:cNvPicPr>
            <a:picLocks noChangeAspect="1" noChangeArrowheads="1"/>
          </p:cNvPicPr>
          <p:nvPr/>
        </p:nvPicPr>
        <p:blipFill>
          <a:blip r:embed="rId2" cstate="print"/>
          <a:srcRect/>
          <a:stretch>
            <a:fillRect/>
          </a:stretch>
        </p:blipFill>
        <p:spPr bwMode="auto">
          <a:xfrm>
            <a:off x="3276600" y="4495800"/>
            <a:ext cx="1950720" cy="195072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Influence of Organizational Structures on Projects</a:t>
            </a:r>
            <a:endParaRPr lang="en-US" dirty="0"/>
          </a:p>
        </p:txBody>
      </p:sp>
      <p:pic>
        <p:nvPicPr>
          <p:cNvPr id="53250" name="Picture 2"/>
          <p:cNvPicPr>
            <a:picLocks noChangeAspect="1" noChangeArrowheads="1"/>
          </p:cNvPicPr>
          <p:nvPr/>
        </p:nvPicPr>
        <p:blipFill>
          <a:blip r:embed="rId3" cstate="print"/>
          <a:srcRect/>
          <a:stretch>
            <a:fillRect/>
          </a:stretch>
        </p:blipFill>
        <p:spPr bwMode="auto">
          <a:xfrm>
            <a:off x="762000" y="2133600"/>
            <a:ext cx="7825740" cy="391668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Theory X [4]</a:t>
            </a:r>
            <a:endParaRPr lang="en-US" dirty="0"/>
          </a:p>
        </p:txBody>
      </p:sp>
      <p:sp>
        <p:nvSpPr>
          <p:cNvPr id="3" name="Content Placeholder 2"/>
          <p:cNvSpPr>
            <a:spLocks noGrp="1"/>
          </p:cNvSpPr>
          <p:nvPr>
            <p:ph idx="1"/>
          </p:nvPr>
        </p:nvSpPr>
        <p:spPr>
          <a:xfrm>
            <a:off x="228600" y="1447800"/>
            <a:ext cx="6248400" cy="4267200"/>
          </a:xfrm>
        </p:spPr>
        <p:txBody>
          <a:bodyPr/>
          <a:lstStyle/>
          <a:p>
            <a:r>
              <a:rPr lang="en-US" sz="2200" dirty="0" smtClean="0"/>
              <a:t>Theory X held that the most efficient way to get a job done was to do more and more precise time and motion studies, and to organize jobs into </a:t>
            </a:r>
            <a:r>
              <a:rPr lang="en-US" sz="2200" i="1" dirty="0" smtClean="0">
                <a:solidFill>
                  <a:srgbClr val="C00000"/>
                </a:solidFill>
              </a:rPr>
              <a:t>well-orchestrated sequences</a:t>
            </a:r>
            <a:r>
              <a:rPr lang="en-US" sz="2200" dirty="0" smtClean="0"/>
              <a:t> of tasks in which people were as efficient and predictable as machines.</a:t>
            </a:r>
          </a:p>
          <a:p>
            <a:r>
              <a:rPr lang="en-US" sz="2200" dirty="0" smtClean="0"/>
              <a:t>Management consisted of keeping the system running smoothly, largely </a:t>
            </a:r>
            <a:r>
              <a:rPr lang="en-US" sz="2200" i="1" dirty="0" smtClean="0">
                <a:solidFill>
                  <a:srgbClr val="C00000"/>
                </a:solidFill>
              </a:rPr>
              <a:t>through coercion</a:t>
            </a:r>
            <a:r>
              <a:rPr lang="en-US" sz="2200" dirty="0" smtClean="0"/>
              <a:t>.</a:t>
            </a:r>
          </a:p>
          <a:p>
            <a:r>
              <a:rPr lang="en-US" sz="2200" dirty="0" smtClean="0"/>
              <a:t>The Theory X was a poor long-term strategy because it </a:t>
            </a:r>
            <a:r>
              <a:rPr lang="en-US" sz="2200" i="1" dirty="0" smtClean="0">
                <a:solidFill>
                  <a:srgbClr val="C00000"/>
                </a:solidFill>
              </a:rPr>
              <a:t>stunted people's creativity</a:t>
            </a:r>
            <a:r>
              <a:rPr lang="en-US" sz="2200" dirty="0" smtClean="0"/>
              <a:t>, </a:t>
            </a:r>
            <a:r>
              <a:rPr lang="en-US" sz="2200" i="1" dirty="0" err="1" smtClean="0">
                <a:solidFill>
                  <a:srgbClr val="C00000"/>
                </a:solidFill>
              </a:rPr>
              <a:t>adaptiveness</a:t>
            </a:r>
            <a:r>
              <a:rPr lang="en-US" sz="2200" dirty="0" smtClean="0"/>
              <a:t>, and </a:t>
            </a:r>
            <a:r>
              <a:rPr lang="en-US" sz="2200" i="1" dirty="0" smtClean="0">
                <a:solidFill>
                  <a:srgbClr val="C00000"/>
                </a:solidFill>
              </a:rPr>
              <a:t>self esteem</a:t>
            </a:r>
            <a:r>
              <a:rPr lang="en-US" sz="2200" dirty="0" smtClean="0"/>
              <a:t>, making the people and their organizations unable to cope with change.</a:t>
            </a:r>
          </a:p>
        </p:txBody>
      </p:sp>
      <p:pic>
        <p:nvPicPr>
          <p:cNvPr id="3076" name="Picture 4" descr="http://www.productivity501.com/wp-content/uploads/tpfiles/grovel.gif"/>
          <p:cNvPicPr>
            <a:picLocks noChangeAspect="1" noChangeArrowheads="1"/>
          </p:cNvPicPr>
          <p:nvPr/>
        </p:nvPicPr>
        <p:blipFill>
          <a:blip r:embed="rId2" cstate="print"/>
          <a:srcRect/>
          <a:stretch>
            <a:fillRect/>
          </a:stretch>
        </p:blipFill>
        <p:spPr bwMode="auto">
          <a:xfrm>
            <a:off x="1905000" y="5410200"/>
            <a:ext cx="1905000" cy="1276350"/>
          </a:xfrm>
          <a:prstGeom prst="rect">
            <a:avLst/>
          </a:prstGeom>
          <a:noFill/>
        </p:spPr>
      </p:pic>
      <p:sp>
        <p:nvSpPr>
          <p:cNvPr id="5" name="Rectangle 4"/>
          <p:cNvSpPr/>
          <p:nvPr/>
        </p:nvSpPr>
        <p:spPr>
          <a:xfrm>
            <a:off x="6553200" y="1009233"/>
            <a:ext cx="2438400" cy="2800767"/>
          </a:xfrm>
          <a:prstGeom prst="rect">
            <a:avLst/>
          </a:prstGeom>
        </p:spPr>
        <p:txBody>
          <a:bodyPr wrap="square">
            <a:spAutoFit/>
          </a:bodyPr>
          <a:lstStyle/>
          <a:p>
            <a:pPr marL="457200" indent="-457200">
              <a:buFont typeface="Wingdings" pitchFamily="2" charset="2"/>
              <a:buChar char="v"/>
            </a:pPr>
            <a:r>
              <a:rPr lang="en-US" sz="2200" dirty="0" smtClean="0">
                <a:latin typeface="+mj-lt"/>
              </a:rPr>
              <a:t>People </a:t>
            </a:r>
            <a:r>
              <a:rPr lang="en-US" sz="2200" i="1" dirty="0" smtClean="0">
                <a:solidFill>
                  <a:srgbClr val="C00000"/>
                </a:solidFill>
                <a:latin typeface="+mj-lt"/>
              </a:rPr>
              <a:t>don't like</a:t>
            </a:r>
            <a:r>
              <a:rPr lang="en-US" sz="2200" dirty="0" smtClean="0">
                <a:latin typeface="+mj-lt"/>
              </a:rPr>
              <a:t> to work.</a:t>
            </a:r>
          </a:p>
          <a:p>
            <a:pPr marL="457200" indent="-457200">
              <a:buFont typeface="Wingdings" pitchFamily="2" charset="2"/>
              <a:buChar char="v"/>
            </a:pPr>
            <a:r>
              <a:rPr lang="en-US" sz="2200" dirty="0" smtClean="0">
                <a:latin typeface="+mj-lt"/>
              </a:rPr>
              <a:t>People are </a:t>
            </a:r>
            <a:r>
              <a:rPr lang="en-US" sz="2200" i="1" dirty="0" smtClean="0">
                <a:solidFill>
                  <a:srgbClr val="C00000"/>
                </a:solidFill>
                <a:latin typeface="+mj-lt"/>
              </a:rPr>
              <a:t>irresponsible</a:t>
            </a:r>
            <a:r>
              <a:rPr lang="en-US" sz="2200" dirty="0" smtClean="0">
                <a:latin typeface="+mj-lt"/>
              </a:rPr>
              <a:t>.</a:t>
            </a:r>
          </a:p>
          <a:p>
            <a:pPr marL="457200" indent="-457200">
              <a:buFont typeface="Wingdings" pitchFamily="2" charset="2"/>
              <a:buChar char="v"/>
            </a:pPr>
            <a:r>
              <a:rPr lang="en-US" sz="2200" dirty="0" smtClean="0">
                <a:latin typeface="+mj-lt"/>
              </a:rPr>
              <a:t>People prefer to be </a:t>
            </a:r>
            <a:r>
              <a:rPr lang="en-US" sz="2200" i="1" dirty="0" smtClean="0">
                <a:solidFill>
                  <a:srgbClr val="C00000"/>
                </a:solidFill>
                <a:latin typeface="+mj-lt"/>
              </a:rPr>
              <a:t>controlled</a:t>
            </a:r>
            <a:r>
              <a:rPr lang="en-US" sz="2200" dirty="0" smtClean="0">
                <a:latin typeface="+mj-lt"/>
              </a:rPr>
              <a:t>, directed.</a:t>
            </a:r>
          </a:p>
        </p:txBody>
      </p:sp>
      <p:pic>
        <p:nvPicPr>
          <p:cNvPr id="6" name="Picture 4"/>
          <p:cNvPicPr>
            <a:picLocks noChangeAspect="1" noChangeArrowheads="1"/>
          </p:cNvPicPr>
          <p:nvPr/>
        </p:nvPicPr>
        <p:blipFill>
          <a:blip r:embed="rId3" cstate="print"/>
          <a:srcRect/>
          <a:stretch>
            <a:fillRect/>
          </a:stretch>
        </p:blipFill>
        <p:spPr bwMode="auto">
          <a:xfrm>
            <a:off x="6781800" y="3810000"/>
            <a:ext cx="1924050" cy="2771775"/>
          </a:xfrm>
          <a:prstGeom prst="rect">
            <a:avLst/>
          </a:prstGeom>
          <a:noFill/>
          <a:ln w="9525">
            <a:noFill/>
            <a:miter lim="800000"/>
            <a:headEnd/>
            <a:tailEnd/>
          </a:ln>
          <a:effectLst/>
        </p:spPr>
      </p:pic>
      <p:pic>
        <p:nvPicPr>
          <p:cNvPr id="7" name="Picture 2"/>
          <p:cNvPicPr>
            <a:picLocks noChangeAspect="1" noChangeArrowheads="1"/>
          </p:cNvPicPr>
          <p:nvPr/>
        </p:nvPicPr>
        <p:blipFill>
          <a:blip r:embed="rId4" cstate="print"/>
          <a:srcRect/>
          <a:stretch>
            <a:fillRect/>
          </a:stretch>
        </p:blipFill>
        <p:spPr bwMode="auto">
          <a:xfrm>
            <a:off x="1752600" y="228600"/>
            <a:ext cx="1143000" cy="1103903"/>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Theory Y [4, 5]</a:t>
            </a:r>
            <a:endParaRPr lang="en-US" dirty="0"/>
          </a:p>
        </p:txBody>
      </p:sp>
      <p:sp>
        <p:nvSpPr>
          <p:cNvPr id="3" name="Content Placeholder 2"/>
          <p:cNvSpPr>
            <a:spLocks noGrp="1"/>
          </p:cNvSpPr>
          <p:nvPr>
            <p:ph idx="1"/>
          </p:nvPr>
        </p:nvSpPr>
        <p:spPr>
          <a:xfrm>
            <a:off x="152400" y="1371600"/>
            <a:ext cx="5791200" cy="3276600"/>
          </a:xfrm>
        </p:spPr>
        <p:txBody>
          <a:bodyPr/>
          <a:lstStyle/>
          <a:p>
            <a:r>
              <a:rPr lang="en-US" sz="2200" dirty="0" smtClean="0"/>
              <a:t>This is a process primarily of creating opportunities, releasing potential, </a:t>
            </a:r>
            <a:r>
              <a:rPr lang="en-US" sz="2200" i="1" dirty="0" smtClean="0">
                <a:solidFill>
                  <a:srgbClr val="C00000"/>
                </a:solidFill>
              </a:rPr>
              <a:t>removing obstacles</a:t>
            </a:r>
            <a:r>
              <a:rPr lang="en-US" sz="2200" dirty="0" smtClean="0"/>
              <a:t>, </a:t>
            </a:r>
            <a:r>
              <a:rPr lang="en-US" sz="2200" i="1" dirty="0" smtClean="0">
                <a:solidFill>
                  <a:srgbClr val="C00000"/>
                </a:solidFill>
              </a:rPr>
              <a:t>encouraging growth</a:t>
            </a:r>
            <a:r>
              <a:rPr lang="en-US" sz="2200" dirty="0" smtClean="0"/>
              <a:t>, </a:t>
            </a:r>
            <a:r>
              <a:rPr lang="en-US" sz="2200" i="1" dirty="0" smtClean="0">
                <a:solidFill>
                  <a:srgbClr val="C00000"/>
                </a:solidFill>
              </a:rPr>
              <a:t>providing guidance</a:t>
            </a:r>
            <a:r>
              <a:rPr lang="en-US" sz="2200" dirty="0" smtClean="0"/>
              <a:t>.</a:t>
            </a:r>
          </a:p>
          <a:p>
            <a:r>
              <a:rPr lang="en-US" sz="2200" dirty="0" smtClean="0"/>
              <a:t>Theory Y created difficulties in dealing with </a:t>
            </a:r>
            <a:r>
              <a:rPr lang="en-US" sz="2200" i="1" dirty="0" smtClean="0">
                <a:solidFill>
                  <a:srgbClr val="C00000"/>
                </a:solidFill>
              </a:rPr>
              <a:t>conflict</a:t>
            </a:r>
            <a:r>
              <a:rPr lang="en-US" sz="2200" dirty="0" smtClean="0"/>
              <a:t>. This became a major concern in Theory Y organizations, with many individual initiatives </a:t>
            </a:r>
            <a:r>
              <a:rPr lang="en-US" sz="2200" i="1" dirty="0" smtClean="0">
                <a:solidFill>
                  <a:srgbClr val="C00000"/>
                </a:solidFill>
              </a:rPr>
              <a:t>competing for resources</a:t>
            </a:r>
            <a:r>
              <a:rPr lang="en-US" sz="2200" dirty="0" smtClean="0"/>
              <a:t> and creating </a:t>
            </a:r>
            <a:r>
              <a:rPr lang="en-US" sz="2200" i="1" dirty="0" smtClean="0">
                <a:solidFill>
                  <a:srgbClr val="C00000"/>
                </a:solidFill>
              </a:rPr>
              <a:t>problems of coordination</a:t>
            </a:r>
            <a:r>
              <a:rPr lang="en-US" sz="2200" dirty="0" smtClean="0"/>
              <a:t>.</a:t>
            </a:r>
          </a:p>
          <a:p>
            <a:endParaRPr lang="en-US" sz="2200" dirty="0" smtClean="0"/>
          </a:p>
        </p:txBody>
      </p:sp>
      <p:pic>
        <p:nvPicPr>
          <p:cNvPr id="2052" name="Picture 4" descr="http://madamepickwickartblog.com/wp-content/uploads/2011/01/chua6.jpg"/>
          <p:cNvPicPr>
            <a:picLocks noChangeAspect="1" noChangeArrowheads="1"/>
          </p:cNvPicPr>
          <p:nvPr/>
        </p:nvPicPr>
        <p:blipFill>
          <a:blip r:embed="rId2" cstate="print"/>
          <a:srcRect/>
          <a:stretch>
            <a:fillRect/>
          </a:stretch>
        </p:blipFill>
        <p:spPr bwMode="auto">
          <a:xfrm>
            <a:off x="1447800" y="4648200"/>
            <a:ext cx="2599267" cy="1754506"/>
          </a:xfrm>
          <a:prstGeom prst="rect">
            <a:avLst/>
          </a:prstGeom>
          <a:noFill/>
        </p:spPr>
      </p:pic>
      <p:sp>
        <p:nvSpPr>
          <p:cNvPr id="5" name="Rectangle 4"/>
          <p:cNvSpPr/>
          <p:nvPr/>
        </p:nvSpPr>
        <p:spPr>
          <a:xfrm>
            <a:off x="6096000" y="1204079"/>
            <a:ext cx="2819400" cy="3139321"/>
          </a:xfrm>
          <a:prstGeom prst="rect">
            <a:avLst/>
          </a:prstGeom>
        </p:spPr>
        <p:txBody>
          <a:bodyPr wrap="square">
            <a:spAutoFit/>
          </a:bodyPr>
          <a:lstStyle/>
          <a:p>
            <a:pPr marL="342900" indent="-342900">
              <a:buFont typeface="Wingdings" pitchFamily="2" charset="2"/>
              <a:buChar char="v"/>
            </a:pPr>
            <a:r>
              <a:rPr lang="en-US" sz="2200" dirty="0" smtClean="0">
                <a:latin typeface="+mj-lt"/>
              </a:rPr>
              <a:t>People </a:t>
            </a:r>
            <a:r>
              <a:rPr lang="en-US" sz="2200" i="1" dirty="0" smtClean="0">
                <a:solidFill>
                  <a:srgbClr val="C00000"/>
                </a:solidFill>
                <a:latin typeface="+mj-lt"/>
              </a:rPr>
              <a:t>like</a:t>
            </a:r>
            <a:r>
              <a:rPr lang="en-US" sz="2200" dirty="0" smtClean="0">
                <a:latin typeface="+mj-lt"/>
              </a:rPr>
              <a:t> to work if conditions are favorable.</a:t>
            </a:r>
          </a:p>
          <a:p>
            <a:pPr marL="342900" indent="-342900">
              <a:buFont typeface="Wingdings" pitchFamily="2" charset="2"/>
              <a:buChar char="v"/>
            </a:pPr>
            <a:r>
              <a:rPr lang="en-US" sz="2200" dirty="0" smtClean="0">
                <a:latin typeface="+mj-lt"/>
              </a:rPr>
              <a:t>People are </a:t>
            </a:r>
            <a:r>
              <a:rPr lang="en-US" sz="2200" i="1" dirty="0" smtClean="0">
                <a:solidFill>
                  <a:srgbClr val="C00000"/>
                </a:solidFill>
                <a:latin typeface="+mj-lt"/>
              </a:rPr>
              <a:t>responsible</a:t>
            </a:r>
            <a:r>
              <a:rPr lang="en-US" sz="2200" dirty="0" smtClean="0">
                <a:latin typeface="+mj-lt"/>
              </a:rPr>
              <a:t>.</a:t>
            </a:r>
          </a:p>
          <a:p>
            <a:pPr marL="342900" indent="-342900">
              <a:buFont typeface="Wingdings" pitchFamily="2" charset="2"/>
              <a:buChar char="v"/>
            </a:pPr>
            <a:r>
              <a:rPr lang="en-US" sz="2200" dirty="0" smtClean="0">
                <a:latin typeface="+mj-lt"/>
              </a:rPr>
              <a:t>People can be </a:t>
            </a:r>
            <a:r>
              <a:rPr lang="en-US" sz="2200" i="1" dirty="0" smtClean="0">
                <a:solidFill>
                  <a:srgbClr val="C00000"/>
                </a:solidFill>
                <a:latin typeface="+mj-lt"/>
              </a:rPr>
              <a:t>self directed</a:t>
            </a:r>
            <a:r>
              <a:rPr lang="en-US" sz="2200" dirty="0" smtClean="0">
                <a:latin typeface="+mj-lt"/>
              </a:rPr>
              <a:t>, creative at work if properly motivated.</a:t>
            </a:r>
          </a:p>
        </p:txBody>
      </p:sp>
      <p:pic>
        <p:nvPicPr>
          <p:cNvPr id="6" name="Picture 5"/>
          <p:cNvPicPr>
            <a:picLocks noChangeAspect="1" noChangeArrowheads="1"/>
          </p:cNvPicPr>
          <p:nvPr/>
        </p:nvPicPr>
        <p:blipFill>
          <a:blip r:embed="rId3" cstate="print"/>
          <a:srcRect/>
          <a:stretch>
            <a:fillRect/>
          </a:stretch>
        </p:blipFill>
        <p:spPr bwMode="auto">
          <a:xfrm>
            <a:off x="5029200" y="4038600"/>
            <a:ext cx="1800225" cy="2695575"/>
          </a:xfrm>
          <a:prstGeom prst="rect">
            <a:avLst/>
          </a:prstGeom>
          <a:noFill/>
          <a:ln w="9525">
            <a:noFill/>
            <a:miter lim="800000"/>
            <a:headEnd/>
            <a:tailEnd/>
          </a:ln>
          <a:effectLst/>
        </p:spPr>
      </p:pic>
      <p:pic>
        <p:nvPicPr>
          <p:cNvPr id="7" name="Picture 2"/>
          <p:cNvPicPr>
            <a:picLocks noChangeAspect="1" noChangeArrowheads="1"/>
          </p:cNvPicPr>
          <p:nvPr/>
        </p:nvPicPr>
        <p:blipFill>
          <a:blip r:embed="rId4" cstate="print"/>
          <a:srcRect/>
          <a:stretch>
            <a:fillRect/>
          </a:stretch>
        </p:blipFill>
        <p:spPr bwMode="auto">
          <a:xfrm>
            <a:off x="1371600" y="228600"/>
            <a:ext cx="1143000" cy="1103903"/>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Theory X to Theory Y [5]</a:t>
            </a:r>
            <a:endParaRPr lang="en-US" dirty="0"/>
          </a:p>
        </p:txBody>
      </p:sp>
      <p:sp>
        <p:nvSpPr>
          <p:cNvPr id="3" name="Content Placeholder 2"/>
          <p:cNvSpPr>
            <a:spLocks noGrp="1"/>
          </p:cNvSpPr>
          <p:nvPr>
            <p:ph idx="1"/>
          </p:nvPr>
        </p:nvSpPr>
        <p:spPr/>
        <p:txBody>
          <a:bodyPr/>
          <a:lstStyle/>
          <a:p>
            <a:r>
              <a:rPr lang="en-US" sz="2200" dirty="0" smtClean="0"/>
              <a:t>Theory X places exclusive reliance upon </a:t>
            </a:r>
            <a:r>
              <a:rPr lang="en-US" sz="2200" i="1" dirty="0" smtClean="0">
                <a:solidFill>
                  <a:srgbClr val="C00000"/>
                </a:solidFill>
              </a:rPr>
              <a:t>external control</a:t>
            </a:r>
            <a:r>
              <a:rPr lang="en-US" sz="2200" dirty="0" smtClean="0"/>
              <a:t> of human behavior, whereas Theory Y relies heavily on </a:t>
            </a:r>
            <a:r>
              <a:rPr lang="en-US" sz="2200" i="1" dirty="0" smtClean="0">
                <a:solidFill>
                  <a:srgbClr val="C00000"/>
                </a:solidFill>
              </a:rPr>
              <a:t>self-control</a:t>
            </a:r>
            <a:r>
              <a:rPr lang="en-US" sz="2200" dirty="0" smtClean="0"/>
              <a:t> and </a:t>
            </a:r>
            <a:r>
              <a:rPr lang="en-US" sz="2200" i="1" dirty="0" smtClean="0">
                <a:solidFill>
                  <a:srgbClr val="C00000"/>
                </a:solidFill>
              </a:rPr>
              <a:t>self-direction</a:t>
            </a:r>
            <a:r>
              <a:rPr lang="en-US" sz="2200" dirty="0" smtClean="0"/>
              <a:t>.</a:t>
            </a:r>
          </a:p>
          <a:p>
            <a:r>
              <a:rPr lang="en-US" sz="2200" dirty="0" smtClean="0"/>
              <a:t>These are ways of freeing people from the too-close control of conventional organization, giving them </a:t>
            </a:r>
            <a:r>
              <a:rPr lang="en-US" sz="2200" i="1" dirty="0" smtClean="0">
                <a:solidFill>
                  <a:srgbClr val="C00000"/>
                </a:solidFill>
              </a:rPr>
              <a:t>a degree of freedom</a:t>
            </a:r>
            <a:r>
              <a:rPr lang="en-US" sz="2200" dirty="0" smtClean="0"/>
              <a:t> to direct their own activities, to </a:t>
            </a:r>
            <a:r>
              <a:rPr lang="en-US" sz="2200" i="1" dirty="0" smtClean="0">
                <a:solidFill>
                  <a:srgbClr val="C00000"/>
                </a:solidFill>
              </a:rPr>
              <a:t>assume responsibility</a:t>
            </a:r>
            <a:r>
              <a:rPr lang="en-US" sz="2200" dirty="0" smtClean="0"/>
              <a:t>, and importantly, to satisfy their </a:t>
            </a:r>
            <a:r>
              <a:rPr lang="en-US" sz="2200" i="1" dirty="0" smtClean="0">
                <a:solidFill>
                  <a:srgbClr val="C00000"/>
                </a:solidFill>
              </a:rPr>
              <a:t>egoistic needs</a:t>
            </a:r>
            <a:r>
              <a:rPr lang="en-US" sz="2200" dirty="0" smtClean="0"/>
              <a:t>.</a:t>
            </a:r>
          </a:p>
          <a:p>
            <a:endParaRPr lang="en-US" sz="2200" dirty="0"/>
          </a:p>
        </p:txBody>
      </p:sp>
      <p:pic>
        <p:nvPicPr>
          <p:cNvPr id="4" name="Picture 2" descr="Image result for changing"/>
          <p:cNvPicPr>
            <a:picLocks noChangeAspect="1" noChangeArrowheads="1"/>
          </p:cNvPicPr>
          <p:nvPr/>
        </p:nvPicPr>
        <p:blipFill>
          <a:blip r:embed="rId2" cstate="print"/>
          <a:srcRect/>
          <a:stretch>
            <a:fillRect/>
          </a:stretch>
        </p:blipFill>
        <p:spPr bwMode="auto">
          <a:xfrm>
            <a:off x="2590800" y="4495800"/>
            <a:ext cx="4191000" cy="19050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Theory Z</a:t>
            </a:r>
            <a:endParaRPr lang="en-US" dirty="0"/>
          </a:p>
        </p:txBody>
      </p:sp>
      <p:sp>
        <p:nvSpPr>
          <p:cNvPr id="3" name="Content Placeholder 2"/>
          <p:cNvSpPr>
            <a:spLocks noGrp="1"/>
          </p:cNvSpPr>
          <p:nvPr>
            <p:ph idx="1"/>
          </p:nvPr>
        </p:nvSpPr>
        <p:spPr>
          <a:xfrm>
            <a:off x="457200" y="1600201"/>
            <a:ext cx="8077200" cy="1371599"/>
          </a:xfrm>
        </p:spPr>
        <p:txBody>
          <a:bodyPr/>
          <a:lstStyle/>
          <a:p>
            <a:r>
              <a:rPr lang="en-US" sz="2400" dirty="0" smtClean="0"/>
              <a:t>Theory Z holds that much of the conflict resolution problem can be eliminated by up-front investment in developing </a:t>
            </a:r>
            <a:r>
              <a:rPr lang="en-US" sz="2400" i="1" dirty="0" smtClean="0">
                <a:solidFill>
                  <a:srgbClr val="C00000"/>
                </a:solidFill>
              </a:rPr>
              <a:t>shared values</a:t>
            </a:r>
            <a:r>
              <a:rPr lang="en-US" sz="2400" dirty="0" smtClean="0"/>
              <a:t> and </a:t>
            </a:r>
            <a:r>
              <a:rPr lang="en-US" sz="2400" i="1" dirty="0" smtClean="0">
                <a:solidFill>
                  <a:srgbClr val="C00000"/>
                </a:solidFill>
              </a:rPr>
              <a:t>arriving at major decisions by consensus</a:t>
            </a:r>
            <a:r>
              <a:rPr lang="en-US" sz="2400" dirty="0" smtClean="0"/>
              <a:t>.</a:t>
            </a:r>
            <a:endParaRPr lang="en-US" sz="2400" dirty="0"/>
          </a:p>
        </p:txBody>
      </p:sp>
      <p:pic>
        <p:nvPicPr>
          <p:cNvPr id="52226" name="Picture 2" descr="http://www.phmainstreet.com/mba/blog/ss060925.jpg"/>
          <p:cNvPicPr>
            <a:picLocks noChangeAspect="1" noChangeArrowheads="1"/>
          </p:cNvPicPr>
          <p:nvPr/>
        </p:nvPicPr>
        <p:blipFill>
          <a:blip r:embed="rId2" cstate="print"/>
          <a:srcRect/>
          <a:stretch>
            <a:fillRect/>
          </a:stretch>
        </p:blipFill>
        <p:spPr bwMode="auto">
          <a:xfrm>
            <a:off x="990600" y="3048000"/>
            <a:ext cx="7381875" cy="2809876"/>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274638"/>
            <a:ext cx="5943600" cy="1143000"/>
          </a:xfrm>
        </p:spPr>
        <p:txBody>
          <a:bodyPr/>
          <a:lstStyle/>
          <a:p>
            <a:r>
              <a:rPr lang="en-US" sz="4000" dirty="0" smtClean="0"/>
              <a:t>William </a:t>
            </a:r>
            <a:r>
              <a:rPr lang="en-US" sz="4000" dirty="0" err="1" smtClean="0"/>
              <a:t>Ouchi's</a:t>
            </a:r>
            <a:r>
              <a:rPr lang="en-US" sz="4000" dirty="0" smtClean="0"/>
              <a:t> Theory Z (I)</a:t>
            </a:r>
            <a:endParaRPr lang="en-US" sz="4000" dirty="0"/>
          </a:p>
        </p:txBody>
      </p:sp>
      <p:sp>
        <p:nvSpPr>
          <p:cNvPr id="3" name="Content Placeholder 2"/>
          <p:cNvSpPr>
            <a:spLocks noGrp="1"/>
          </p:cNvSpPr>
          <p:nvPr>
            <p:ph idx="1"/>
          </p:nvPr>
        </p:nvSpPr>
        <p:spPr/>
        <p:txBody>
          <a:bodyPr/>
          <a:lstStyle/>
          <a:p>
            <a:r>
              <a:rPr lang="en-US" sz="2200" b="1" dirty="0" smtClean="0"/>
              <a:t>A strong company philosophy and culture</a:t>
            </a:r>
            <a:r>
              <a:rPr lang="en-US" sz="2200" dirty="0" smtClean="0"/>
              <a:t>: The company philosophy and culture needs to be understood and embodied by all employees, and employees need to believe in the work they're doing.</a:t>
            </a:r>
          </a:p>
          <a:p>
            <a:r>
              <a:rPr lang="en-US" sz="2200" b="1" dirty="0" smtClean="0"/>
              <a:t>Long-term staff development and employment</a:t>
            </a:r>
            <a:r>
              <a:rPr lang="en-US" sz="2200" dirty="0" smtClean="0"/>
              <a:t>: The organization and management team has measures and programs in place to develop employees. Employment is usually long-term, and promotion is steady and measured. This leads to loyalty from team members.</a:t>
            </a:r>
          </a:p>
          <a:p>
            <a:r>
              <a:rPr lang="en-US" sz="2200" b="1" dirty="0" smtClean="0"/>
              <a:t>Concern for the happiness and well-being of workers</a:t>
            </a:r>
            <a:r>
              <a:rPr lang="en-US" sz="2200" dirty="0" smtClean="0"/>
              <a:t>: The organization shows sincere concern for the health and happiness of its employees, and for their families. It puts measures and programs in place to help foster this happiness and well-being.</a:t>
            </a:r>
          </a:p>
        </p:txBody>
      </p:sp>
      <p:pic>
        <p:nvPicPr>
          <p:cNvPr id="3074" name="Picture 2" descr="https://encrypted-tbn1.gstatic.com/images?q=tbn:ANd9GcRM4aYdqvqP-mFRr13G9GOw0TRuV3EBa-8oJPSxFlpzphEXt8pU"/>
          <p:cNvPicPr>
            <a:picLocks noChangeAspect="1" noChangeArrowheads="1"/>
          </p:cNvPicPr>
          <p:nvPr/>
        </p:nvPicPr>
        <p:blipFill>
          <a:blip r:embed="rId2" cstate="print"/>
          <a:srcRect/>
          <a:stretch>
            <a:fillRect/>
          </a:stretch>
        </p:blipFill>
        <p:spPr bwMode="auto">
          <a:xfrm>
            <a:off x="304800" y="279400"/>
            <a:ext cx="2482850" cy="12446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William </a:t>
            </a:r>
            <a:r>
              <a:rPr lang="en-US" dirty="0" err="1" smtClean="0"/>
              <a:t>Ouchi's</a:t>
            </a:r>
            <a:r>
              <a:rPr lang="en-US" dirty="0" smtClean="0"/>
              <a:t> Theory Z (II)</a:t>
            </a:r>
            <a:endParaRPr lang="en-US" dirty="0"/>
          </a:p>
        </p:txBody>
      </p:sp>
      <p:sp>
        <p:nvSpPr>
          <p:cNvPr id="3" name="Content Placeholder 2"/>
          <p:cNvSpPr>
            <a:spLocks noGrp="1"/>
          </p:cNvSpPr>
          <p:nvPr>
            <p:ph idx="1"/>
          </p:nvPr>
        </p:nvSpPr>
        <p:spPr/>
        <p:txBody>
          <a:bodyPr/>
          <a:lstStyle/>
          <a:p>
            <a:r>
              <a:rPr lang="en-US" sz="2100" b="1" dirty="0" smtClean="0"/>
              <a:t>Consensus in decisions</a:t>
            </a:r>
            <a:r>
              <a:rPr lang="en-US" sz="2100" dirty="0" smtClean="0"/>
              <a:t>: Employees are encouraged and expected to take part in organizational decisions.</a:t>
            </a:r>
          </a:p>
          <a:p>
            <a:r>
              <a:rPr lang="en-US" sz="2100" b="1" dirty="0" smtClean="0"/>
              <a:t>Generalist employees</a:t>
            </a:r>
            <a:r>
              <a:rPr lang="en-US" sz="2100" dirty="0" smtClean="0"/>
              <a:t>: Because employees have a greater responsibility in making decisions, and understand all aspects of the organization, they should be "generalists." However, employees are still expected to have specialized career responsibilities.</a:t>
            </a:r>
          </a:p>
          <a:p>
            <a:r>
              <a:rPr lang="en-US" sz="2100" b="1" dirty="0" smtClean="0"/>
              <a:t>Informal control with formalized measures</a:t>
            </a:r>
            <a:r>
              <a:rPr lang="en-US" sz="2100" dirty="0" smtClean="0"/>
              <a:t>: Employees are empowered to perform tasks the way they see fit, and management is quite "hands off." However, there should be formalized measures in place to assess work quality and performance.</a:t>
            </a:r>
          </a:p>
          <a:p>
            <a:r>
              <a:rPr lang="en-US" sz="2100" b="1" dirty="0" smtClean="0"/>
              <a:t>Individual responsibility</a:t>
            </a:r>
            <a:r>
              <a:rPr lang="en-US" sz="2100" dirty="0" smtClean="0"/>
              <a:t>: The organization recognizes the contributions of individuals, but always within the context of the team as a whole.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William </a:t>
            </a:r>
            <a:r>
              <a:rPr lang="en-US" dirty="0" err="1" smtClean="0"/>
              <a:t>Ouchi's</a:t>
            </a:r>
            <a:r>
              <a:rPr lang="en-US" dirty="0" smtClean="0"/>
              <a:t> Theory Z (III)</a:t>
            </a:r>
            <a:endParaRPr lang="en-US" dirty="0"/>
          </a:p>
        </p:txBody>
      </p:sp>
      <p:sp>
        <p:nvSpPr>
          <p:cNvPr id="3" name="Content Placeholder 2"/>
          <p:cNvSpPr>
            <a:spLocks noGrp="1"/>
          </p:cNvSpPr>
          <p:nvPr>
            <p:ph idx="1"/>
          </p:nvPr>
        </p:nvSpPr>
        <p:spPr/>
        <p:txBody>
          <a:bodyPr/>
          <a:lstStyle/>
          <a:p>
            <a:r>
              <a:rPr lang="en-US" sz="2400" dirty="0" smtClean="0"/>
              <a:t>It can be impractical to use all elements of the theory.</a:t>
            </a:r>
          </a:p>
          <a:p>
            <a:r>
              <a:rPr lang="en-US" sz="2400" dirty="0" smtClean="0"/>
              <a:t>However, it still has many useful strategies, which you can use to boost your team's performance and productivity.</a:t>
            </a:r>
            <a:endParaRPr lang="en-US" sz="2200" dirty="0" smtClean="0"/>
          </a:p>
        </p:txBody>
      </p:sp>
      <p:pic>
        <p:nvPicPr>
          <p:cNvPr id="76802" name="Picture 2" descr="https://thumbs.dreamstime.com/b/practice-theory-as-different-choices-life-pictured-words-road-to-symbolize-making-decision-picking-either-option-193661663.jpg"/>
          <p:cNvPicPr>
            <a:picLocks noChangeAspect="1" noChangeArrowheads="1"/>
          </p:cNvPicPr>
          <p:nvPr/>
        </p:nvPicPr>
        <p:blipFill>
          <a:blip r:embed="rId2" cstate="print"/>
          <a:srcRect/>
          <a:stretch>
            <a:fillRect/>
          </a:stretch>
        </p:blipFill>
        <p:spPr bwMode="auto">
          <a:xfrm>
            <a:off x="1905000" y="3276600"/>
            <a:ext cx="5080000" cy="268605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Person [1]</a:t>
            </a:r>
            <a:endParaRPr lang="en-US" dirty="0"/>
          </a:p>
        </p:txBody>
      </p:sp>
      <p:sp>
        <p:nvSpPr>
          <p:cNvPr id="3" name="Content Placeholder 2"/>
          <p:cNvSpPr>
            <a:spLocks noGrp="1"/>
          </p:cNvSpPr>
          <p:nvPr>
            <p:ph idx="1"/>
          </p:nvPr>
        </p:nvSpPr>
        <p:spPr/>
        <p:txBody>
          <a:bodyPr/>
          <a:lstStyle/>
          <a:p>
            <a:r>
              <a:rPr lang="en-US" sz="2400" dirty="0" smtClean="0"/>
              <a:t>Isn't that the essence of management, after all, to </a:t>
            </a:r>
            <a:r>
              <a:rPr lang="en-US" sz="2400" i="1" dirty="0" smtClean="0">
                <a:solidFill>
                  <a:srgbClr val="C00000"/>
                </a:solidFill>
              </a:rPr>
              <a:t>make sure</a:t>
            </a:r>
            <a:r>
              <a:rPr lang="en-US" sz="2400" dirty="0" smtClean="0"/>
              <a:t> that the </a:t>
            </a:r>
            <a:r>
              <a:rPr lang="en-US" sz="2400" u="sng" dirty="0" smtClean="0"/>
              <a:t>work goes on</a:t>
            </a:r>
            <a:r>
              <a:rPr lang="en-US" sz="2400" dirty="0" smtClean="0"/>
              <a:t> whether the individuals stay or not?</a:t>
            </a:r>
          </a:p>
          <a:p>
            <a:r>
              <a:rPr lang="en-US" sz="2400" dirty="0" smtClean="0"/>
              <a:t>So why don't we have a </a:t>
            </a:r>
            <a:r>
              <a:rPr lang="en-US" sz="2400" i="1" dirty="0" smtClean="0">
                <a:solidFill>
                  <a:srgbClr val="C00000"/>
                </a:solidFill>
              </a:rPr>
              <a:t>key person</a:t>
            </a:r>
            <a:r>
              <a:rPr lang="en-US" sz="2400" dirty="0" smtClean="0"/>
              <a:t>?</a:t>
            </a:r>
          </a:p>
          <a:p>
            <a:endParaRPr lang="en-US" sz="2400" dirty="0"/>
          </a:p>
        </p:txBody>
      </p:sp>
      <p:pic>
        <p:nvPicPr>
          <p:cNvPr id="4" name="Picture 2" descr="http://1002.nccdn.net/1_5/087/0bb/22d/figure-prominent.png"/>
          <p:cNvPicPr>
            <a:picLocks noChangeAspect="1" noChangeArrowheads="1"/>
          </p:cNvPicPr>
          <p:nvPr/>
        </p:nvPicPr>
        <p:blipFill>
          <a:blip r:embed="rId2" cstate="print"/>
          <a:srcRect/>
          <a:stretch>
            <a:fillRect/>
          </a:stretch>
        </p:blipFill>
        <p:spPr bwMode="auto">
          <a:xfrm>
            <a:off x="2895600" y="3581400"/>
            <a:ext cx="3810000" cy="1943101"/>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Quota for Errors</a:t>
            </a:r>
            <a:endParaRPr lang="en-US" dirty="0"/>
          </a:p>
        </p:txBody>
      </p:sp>
      <p:sp>
        <p:nvSpPr>
          <p:cNvPr id="3" name="Content Placeholder 2"/>
          <p:cNvSpPr>
            <a:spLocks noGrp="1"/>
          </p:cNvSpPr>
          <p:nvPr>
            <p:ph idx="1"/>
          </p:nvPr>
        </p:nvSpPr>
        <p:spPr/>
        <p:txBody>
          <a:bodyPr/>
          <a:lstStyle/>
          <a:p>
            <a:r>
              <a:rPr lang="en-US" sz="2400" dirty="0" smtClean="0"/>
              <a:t>Fostering an atmosphere that </a:t>
            </a:r>
            <a:r>
              <a:rPr lang="en-US" sz="2400" i="1" dirty="0" smtClean="0">
                <a:solidFill>
                  <a:srgbClr val="C00000"/>
                </a:solidFill>
              </a:rPr>
              <a:t>doesn't allow for error</a:t>
            </a:r>
            <a:r>
              <a:rPr lang="en-US" sz="2400" dirty="0" smtClean="0"/>
              <a:t> simply makes people </a:t>
            </a:r>
            <a:r>
              <a:rPr lang="en-US" sz="2400" u="sng" dirty="0" smtClean="0"/>
              <a:t>defensive</a:t>
            </a:r>
            <a:r>
              <a:rPr lang="en-US" sz="2400" dirty="0" smtClean="0"/>
              <a:t>.</a:t>
            </a:r>
          </a:p>
          <a:p>
            <a:r>
              <a:rPr lang="en-US" sz="2400" dirty="0" smtClean="0"/>
              <a:t>They </a:t>
            </a:r>
            <a:r>
              <a:rPr lang="en-US" sz="2400" i="1" dirty="0" smtClean="0">
                <a:solidFill>
                  <a:srgbClr val="C00000"/>
                </a:solidFill>
              </a:rPr>
              <a:t>don't</a:t>
            </a:r>
            <a:r>
              <a:rPr lang="en-US" sz="2400" dirty="0" smtClean="0"/>
              <a:t> try things that may turn out </a:t>
            </a:r>
            <a:r>
              <a:rPr lang="en-US" sz="2400" u="sng" dirty="0" smtClean="0"/>
              <a:t>badly</a:t>
            </a:r>
            <a:r>
              <a:rPr lang="en-US" sz="2400" dirty="0" smtClean="0"/>
              <a:t>.</a:t>
            </a:r>
          </a:p>
        </p:txBody>
      </p:sp>
      <p:pic>
        <p:nvPicPr>
          <p:cNvPr id="4" name="Picture 2" descr="http://www.pd4pic.com/images/admittance-entry-prohibited-forbidden-not-allowed.png"/>
          <p:cNvPicPr>
            <a:picLocks noChangeAspect="1" noChangeArrowheads="1"/>
          </p:cNvPicPr>
          <p:nvPr/>
        </p:nvPicPr>
        <p:blipFill>
          <a:blip r:embed="rId2" cstate="print"/>
          <a:srcRect/>
          <a:stretch>
            <a:fillRect/>
          </a:stretch>
        </p:blipFill>
        <p:spPr bwMode="auto">
          <a:xfrm>
            <a:off x="1371600" y="3657600"/>
            <a:ext cx="2438400" cy="2438400"/>
          </a:xfrm>
          <a:prstGeom prst="rect">
            <a:avLst/>
          </a:prstGeom>
          <a:noFill/>
        </p:spPr>
      </p:pic>
      <p:pic>
        <p:nvPicPr>
          <p:cNvPr id="5" name="Picture 4" descr="http://cdn4.wpbeginner.com/wp-content/uploads/2013/12/error.jpg"/>
          <p:cNvPicPr>
            <a:picLocks noChangeAspect="1" noChangeArrowheads="1"/>
          </p:cNvPicPr>
          <p:nvPr/>
        </p:nvPicPr>
        <p:blipFill>
          <a:blip r:embed="rId3" cstate="print"/>
          <a:srcRect/>
          <a:stretch>
            <a:fillRect/>
          </a:stretch>
        </p:blipFill>
        <p:spPr bwMode="auto">
          <a:xfrm>
            <a:off x="4495800" y="3962400"/>
            <a:ext cx="2971800" cy="188595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The Bozo Definition</a:t>
            </a:r>
            <a:endParaRPr lang="en-US" dirty="0"/>
          </a:p>
        </p:txBody>
      </p:sp>
      <p:sp>
        <p:nvSpPr>
          <p:cNvPr id="3" name="Content Placeholder 2"/>
          <p:cNvSpPr>
            <a:spLocks noGrp="1"/>
          </p:cNvSpPr>
          <p:nvPr>
            <p:ph idx="1"/>
          </p:nvPr>
        </p:nvSpPr>
        <p:spPr/>
        <p:txBody>
          <a:bodyPr/>
          <a:lstStyle/>
          <a:p>
            <a:r>
              <a:rPr lang="en-US" sz="2200" strike="sngStrike" dirty="0" smtClean="0"/>
              <a:t>Management is </a:t>
            </a:r>
            <a:r>
              <a:rPr lang="en-US" sz="2200" i="1" strike="sngStrike" dirty="0" smtClean="0">
                <a:solidFill>
                  <a:srgbClr val="C00000"/>
                </a:solidFill>
              </a:rPr>
              <a:t>kicking ass</a:t>
            </a:r>
            <a:r>
              <a:rPr lang="en-US" sz="2200" strike="sngStrike" dirty="0" smtClean="0"/>
              <a:t>.</a:t>
            </a:r>
          </a:p>
          <a:p>
            <a:r>
              <a:rPr lang="en-US" sz="2200" i="1" dirty="0" smtClean="0">
                <a:solidFill>
                  <a:srgbClr val="C00000"/>
                </a:solidFill>
              </a:rPr>
              <a:t>Managers</a:t>
            </a:r>
            <a:r>
              <a:rPr lang="en-US" sz="2200" dirty="0" smtClean="0"/>
              <a:t> provide </a:t>
            </a:r>
            <a:r>
              <a:rPr lang="en-US" sz="2200" u="sng" dirty="0" smtClean="0"/>
              <a:t>all the thinking</a:t>
            </a:r>
            <a:r>
              <a:rPr lang="en-US" sz="2200" dirty="0" smtClean="0"/>
              <a:t> and the people underneath them just carry out their bidding.</a:t>
            </a:r>
          </a:p>
          <a:p>
            <a:r>
              <a:rPr lang="en-US" sz="2200" dirty="0" smtClean="0"/>
              <a:t>You may be able to </a:t>
            </a:r>
            <a:r>
              <a:rPr lang="en-US" sz="2200" i="1" dirty="0" smtClean="0">
                <a:solidFill>
                  <a:srgbClr val="C00000"/>
                </a:solidFill>
              </a:rPr>
              <a:t>kick people</a:t>
            </a:r>
            <a:r>
              <a:rPr lang="en-US" sz="2200" dirty="0" smtClean="0"/>
              <a:t> to make them </a:t>
            </a:r>
            <a:r>
              <a:rPr lang="en-US" sz="2200" u="sng" dirty="0" smtClean="0"/>
              <a:t>active</a:t>
            </a:r>
            <a:r>
              <a:rPr lang="en-US" sz="2200" dirty="0" smtClean="0"/>
              <a:t>, but not to make them </a:t>
            </a:r>
            <a:r>
              <a:rPr lang="en-US" sz="2200" u="sng" dirty="0" smtClean="0"/>
              <a:t>creative</a:t>
            </a:r>
            <a:r>
              <a:rPr lang="en-US" sz="2200" dirty="0" smtClean="0"/>
              <a:t>, </a:t>
            </a:r>
            <a:r>
              <a:rPr lang="en-US" sz="2200" u="sng" dirty="0" smtClean="0"/>
              <a:t>inventive</a:t>
            </a:r>
            <a:r>
              <a:rPr lang="en-US" sz="2200" dirty="0" smtClean="0"/>
              <a:t>, and </a:t>
            </a:r>
            <a:r>
              <a:rPr lang="en-US" sz="2200" u="sng" dirty="0" smtClean="0"/>
              <a:t>thoughtful</a:t>
            </a:r>
            <a:r>
              <a:rPr lang="en-US" sz="2200" dirty="0" smtClean="0"/>
              <a:t>.</a:t>
            </a:r>
          </a:p>
          <a:p>
            <a:endParaRPr lang="en-US" sz="2200" dirty="0"/>
          </a:p>
        </p:txBody>
      </p:sp>
      <p:pic>
        <p:nvPicPr>
          <p:cNvPr id="4" name="Picture 2" descr="http://www.pplware.com/wp-content/images2009/imagem_oportunidade.jpg"/>
          <p:cNvPicPr>
            <a:picLocks noChangeAspect="1" noChangeArrowheads="1"/>
          </p:cNvPicPr>
          <p:nvPr/>
        </p:nvPicPr>
        <p:blipFill>
          <a:blip r:embed="rId2" cstate="print"/>
          <a:srcRect/>
          <a:stretch>
            <a:fillRect/>
          </a:stretch>
        </p:blipFill>
        <p:spPr bwMode="auto">
          <a:xfrm>
            <a:off x="1371600" y="4064000"/>
            <a:ext cx="2698750" cy="2032000"/>
          </a:xfrm>
          <a:prstGeom prst="rect">
            <a:avLst/>
          </a:prstGeom>
          <a:noFill/>
        </p:spPr>
      </p:pic>
      <p:pic>
        <p:nvPicPr>
          <p:cNvPr id="5" name="Picture 6" descr="http://www.the-romans.co.uk/g5/29.banquet_small.jpg"/>
          <p:cNvPicPr>
            <a:picLocks noChangeAspect="1" noChangeArrowheads="1"/>
          </p:cNvPicPr>
          <p:nvPr/>
        </p:nvPicPr>
        <p:blipFill>
          <a:blip r:embed="rId3" cstate="print"/>
          <a:srcRect/>
          <a:stretch>
            <a:fillRect/>
          </a:stretch>
        </p:blipFill>
        <p:spPr bwMode="auto">
          <a:xfrm>
            <a:off x="4724400" y="3962400"/>
            <a:ext cx="2641600" cy="2344420"/>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People Store</a:t>
            </a:r>
            <a:endParaRPr lang="en-US" dirty="0"/>
          </a:p>
        </p:txBody>
      </p:sp>
      <p:sp>
        <p:nvSpPr>
          <p:cNvPr id="3" name="Content Placeholder 2"/>
          <p:cNvSpPr>
            <a:spLocks noGrp="1"/>
          </p:cNvSpPr>
          <p:nvPr>
            <p:ph idx="1"/>
          </p:nvPr>
        </p:nvSpPr>
        <p:spPr/>
        <p:txBody>
          <a:bodyPr/>
          <a:lstStyle/>
          <a:p>
            <a:r>
              <a:rPr lang="en-US" sz="2400" dirty="0" smtClean="0"/>
              <a:t>Think of people as </a:t>
            </a:r>
            <a:r>
              <a:rPr lang="en-US" sz="2400" i="1" dirty="0" smtClean="0">
                <a:solidFill>
                  <a:srgbClr val="C00000"/>
                </a:solidFill>
              </a:rPr>
              <a:t>parts</a:t>
            </a:r>
            <a:r>
              <a:rPr lang="en-US" sz="2400" dirty="0" smtClean="0"/>
              <a:t> of the machine.</a:t>
            </a:r>
          </a:p>
          <a:p>
            <a:r>
              <a:rPr lang="en-US" sz="2400" dirty="0" smtClean="0"/>
              <a:t>When a part wears out, you </a:t>
            </a:r>
            <a:r>
              <a:rPr lang="en-US" sz="2400" i="1" dirty="0" smtClean="0">
                <a:solidFill>
                  <a:srgbClr val="C00000"/>
                </a:solidFill>
              </a:rPr>
              <a:t>get another</a:t>
            </a:r>
            <a:r>
              <a:rPr lang="en-US" sz="2400" dirty="0" smtClean="0"/>
              <a:t>.</a:t>
            </a:r>
          </a:p>
          <a:p>
            <a:endParaRPr lang="en-US" sz="2400" dirty="0"/>
          </a:p>
        </p:txBody>
      </p:sp>
      <p:pic>
        <p:nvPicPr>
          <p:cNvPr id="98306" name="Picture 2" descr="https://petersonfarmsseed.com/wp-content/uploads/1970/01/your-corn-is-like-a-factory-assembly-line_1.jpg"/>
          <p:cNvPicPr>
            <a:picLocks noChangeAspect="1" noChangeArrowheads="1"/>
          </p:cNvPicPr>
          <p:nvPr/>
        </p:nvPicPr>
        <p:blipFill>
          <a:blip r:embed="rId2" cstate="print"/>
          <a:srcRect/>
          <a:stretch>
            <a:fillRect/>
          </a:stretch>
        </p:blipFill>
        <p:spPr bwMode="auto">
          <a:xfrm>
            <a:off x="1676400" y="2971800"/>
            <a:ext cx="5715000" cy="3333750"/>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Parkinson's Law</a:t>
            </a:r>
            <a:endParaRPr lang="en-US" dirty="0"/>
          </a:p>
        </p:txBody>
      </p:sp>
      <p:sp>
        <p:nvSpPr>
          <p:cNvPr id="3" name="Content Placeholder 2"/>
          <p:cNvSpPr>
            <a:spLocks noGrp="1"/>
          </p:cNvSpPr>
          <p:nvPr>
            <p:ph idx="1"/>
          </p:nvPr>
        </p:nvSpPr>
        <p:spPr>
          <a:xfrm>
            <a:off x="457200" y="1600201"/>
            <a:ext cx="8229600" cy="2819400"/>
          </a:xfrm>
        </p:spPr>
        <p:txBody>
          <a:bodyPr/>
          <a:lstStyle/>
          <a:p>
            <a:r>
              <a:rPr lang="en-US" sz="2400" dirty="0" smtClean="0"/>
              <a:t>Parkinson's law: </a:t>
            </a:r>
            <a:r>
              <a:rPr lang="en-US" sz="2400" i="1" dirty="0" smtClean="0">
                <a:solidFill>
                  <a:srgbClr val="C00000"/>
                </a:solidFill>
              </a:rPr>
              <a:t>Work</a:t>
            </a:r>
            <a:r>
              <a:rPr lang="en-US" sz="2400" dirty="0" smtClean="0"/>
              <a:t> expands to </a:t>
            </a:r>
            <a:r>
              <a:rPr lang="en-US" sz="2400" u="sng" dirty="0" smtClean="0"/>
              <a:t>fill the time</a:t>
            </a:r>
            <a:r>
              <a:rPr lang="en-US" sz="2400" dirty="0" smtClean="0"/>
              <a:t> allocated for it.</a:t>
            </a:r>
          </a:p>
          <a:p>
            <a:r>
              <a:rPr lang="en-US" sz="2400" dirty="0" smtClean="0"/>
              <a:t>Organizational </a:t>
            </a:r>
            <a:r>
              <a:rPr lang="en-US" sz="2400" i="1" dirty="0" smtClean="0">
                <a:solidFill>
                  <a:srgbClr val="C00000"/>
                </a:solidFill>
              </a:rPr>
              <a:t>busy work tends to expand</a:t>
            </a:r>
            <a:r>
              <a:rPr lang="en-US" sz="2400" dirty="0" smtClean="0"/>
              <a:t> to fill the working day.</a:t>
            </a:r>
          </a:p>
          <a:p>
            <a:r>
              <a:rPr lang="en-US" sz="2400" dirty="0" smtClean="0"/>
              <a:t>The only way to get work done at all is to set an </a:t>
            </a:r>
            <a:r>
              <a:rPr lang="en-US" sz="2400" i="1" dirty="0" smtClean="0">
                <a:solidFill>
                  <a:srgbClr val="C00000"/>
                </a:solidFill>
              </a:rPr>
              <a:t>impossibly optimistic</a:t>
            </a:r>
            <a:r>
              <a:rPr lang="en-US" sz="2400" dirty="0" smtClean="0"/>
              <a:t> delivery date.</a:t>
            </a:r>
          </a:p>
          <a:p>
            <a:r>
              <a:rPr lang="en-US" sz="2400" dirty="0" smtClean="0"/>
              <a:t>Parkinson's law </a:t>
            </a:r>
            <a:r>
              <a:rPr lang="en-US" sz="2400" i="1" dirty="0" smtClean="0">
                <a:solidFill>
                  <a:srgbClr val="C00000"/>
                </a:solidFill>
              </a:rPr>
              <a:t>almost certainly doesn't apply</a:t>
            </a:r>
            <a:r>
              <a:rPr lang="en-US" sz="2400" dirty="0" smtClean="0"/>
              <a:t> to your development workers. Why?</a:t>
            </a:r>
          </a:p>
        </p:txBody>
      </p:sp>
      <p:pic>
        <p:nvPicPr>
          <p:cNvPr id="55298" name="Picture 2"/>
          <p:cNvPicPr>
            <a:picLocks noChangeAspect="1" noChangeArrowheads="1"/>
          </p:cNvPicPr>
          <p:nvPr/>
        </p:nvPicPr>
        <p:blipFill>
          <a:blip r:embed="rId2" cstate="print"/>
          <a:srcRect/>
          <a:stretch>
            <a:fillRect/>
          </a:stretch>
        </p:blipFill>
        <p:spPr bwMode="auto">
          <a:xfrm>
            <a:off x="2028825" y="4610100"/>
            <a:ext cx="5086350" cy="1790700"/>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Reserve Time for Thinking</a:t>
            </a:r>
            <a:endParaRPr lang="en-US" dirty="0"/>
          </a:p>
        </p:txBody>
      </p:sp>
      <p:sp>
        <p:nvSpPr>
          <p:cNvPr id="3" name="Content Placeholder 2"/>
          <p:cNvSpPr>
            <a:spLocks noGrp="1"/>
          </p:cNvSpPr>
          <p:nvPr>
            <p:ph idx="1"/>
          </p:nvPr>
        </p:nvSpPr>
        <p:spPr>
          <a:xfrm>
            <a:off x="457200" y="1524000"/>
            <a:ext cx="8229600" cy="533400"/>
          </a:xfrm>
        </p:spPr>
        <p:txBody>
          <a:bodyPr/>
          <a:lstStyle/>
          <a:p>
            <a:r>
              <a:rPr lang="en-US" sz="2400" dirty="0" smtClean="0"/>
              <a:t>We haven't got time to </a:t>
            </a:r>
            <a:r>
              <a:rPr lang="en-US" sz="2400" i="1" dirty="0" smtClean="0">
                <a:solidFill>
                  <a:srgbClr val="C00000"/>
                </a:solidFill>
              </a:rPr>
              <a:t>think about this task</a:t>
            </a:r>
            <a:r>
              <a:rPr lang="en-US" sz="2400" dirty="0" smtClean="0"/>
              <a:t>, only to do it.</a:t>
            </a:r>
          </a:p>
        </p:txBody>
      </p:sp>
      <p:pic>
        <p:nvPicPr>
          <p:cNvPr id="1026" name="Picture 2"/>
          <p:cNvPicPr>
            <a:picLocks noChangeAspect="1" noChangeArrowheads="1"/>
          </p:cNvPicPr>
          <p:nvPr/>
        </p:nvPicPr>
        <p:blipFill>
          <a:blip r:embed="rId2" cstate="print"/>
          <a:srcRect/>
          <a:stretch>
            <a:fillRect/>
          </a:stretch>
        </p:blipFill>
        <p:spPr bwMode="auto">
          <a:xfrm>
            <a:off x="2209800" y="2286000"/>
            <a:ext cx="4549140" cy="2834640"/>
          </a:xfrm>
          <a:prstGeom prst="rect">
            <a:avLst/>
          </a:prstGeom>
          <a:noFill/>
          <a:ln w="9525">
            <a:noFill/>
            <a:miter lim="800000"/>
            <a:headEnd/>
            <a:tailEnd/>
          </a:ln>
        </p:spPr>
      </p:pic>
      <p:sp>
        <p:nvSpPr>
          <p:cNvPr id="5" name="Rectangle 4"/>
          <p:cNvSpPr/>
          <p:nvPr/>
        </p:nvSpPr>
        <p:spPr>
          <a:xfrm>
            <a:off x="762000" y="5493603"/>
            <a:ext cx="7543800" cy="830997"/>
          </a:xfrm>
          <a:prstGeom prst="rect">
            <a:avLst/>
          </a:prstGeom>
        </p:spPr>
        <p:txBody>
          <a:bodyPr wrap="square">
            <a:spAutoFit/>
          </a:bodyPr>
          <a:lstStyle/>
          <a:p>
            <a:pPr algn="ctr"/>
            <a:r>
              <a:rPr lang="en-US" sz="2400" dirty="0" smtClean="0">
                <a:latin typeface="+mj-lt"/>
              </a:rPr>
              <a:t>What proportion of your time ought to be dedicated to actually doing a task?</a:t>
            </a:r>
            <a:endParaRPr lang="en-US" sz="2400" dirty="0">
              <a:latin typeface="+mj-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Conflicts: Discussion Questions</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sz="2400" dirty="0" smtClean="0"/>
              <a:t>Why learn about team development?</a:t>
            </a:r>
          </a:p>
          <a:p>
            <a:pPr marL="514350" indent="-514350">
              <a:buFont typeface="+mj-lt"/>
              <a:buAutoNum type="arabicPeriod"/>
            </a:pPr>
            <a:r>
              <a:rPr lang="en-US" sz="2400" dirty="0" smtClean="0"/>
              <a:t>What is the most important stage of team development? What should we do at this stage?</a:t>
            </a:r>
          </a:p>
          <a:p>
            <a:pPr marL="514350" indent="-514350">
              <a:buFont typeface="+mj-lt"/>
              <a:buAutoNum type="arabicPeriod"/>
            </a:pPr>
            <a:r>
              <a:rPr lang="en-US" sz="2400" dirty="0" smtClean="0"/>
              <a:t>List of your team conflicts? Conflict resolution techniques?</a:t>
            </a:r>
          </a:p>
          <a:p>
            <a:pPr marL="514350" indent="-514350">
              <a:buFont typeface="+mj-lt"/>
              <a:buAutoNum type="arabicPeriod"/>
            </a:pPr>
            <a:r>
              <a:rPr lang="en-US" sz="2400" dirty="0" smtClean="0"/>
              <a:t>Lessons learned?</a:t>
            </a:r>
          </a:p>
        </p:txBody>
      </p:sp>
      <p:pic>
        <p:nvPicPr>
          <p:cNvPr id="1026" name="Picture 2"/>
          <p:cNvPicPr>
            <a:picLocks noChangeAspect="1" noChangeArrowheads="1"/>
          </p:cNvPicPr>
          <p:nvPr/>
        </p:nvPicPr>
        <p:blipFill>
          <a:blip r:embed="rId2" cstate="print"/>
          <a:srcRect/>
          <a:stretch>
            <a:fillRect/>
          </a:stretch>
        </p:blipFill>
        <p:spPr bwMode="auto">
          <a:xfrm>
            <a:off x="3277839" y="3962400"/>
            <a:ext cx="3046761" cy="1982681"/>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Conflicts</a:t>
            </a:r>
            <a:endParaRPr lang="en-US" dirty="0"/>
          </a:p>
        </p:txBody>
      </p:sp>
      <p:sp>
        <p:nvSpPr>
          <p:cNvPr id="3" name="Content Placeholder 2"/>
          <p:cNvSpPr>
            <a:spLocks noGrp="1"/>
          </p:cNvSpPr>
          <p:nvPr>
            <p:ph idx="1"/>
          </p:nvPr>
        </p:nvSpPr>
        <p:spPr/>
        <p:txBody>
          <a:bodyPr/>
          <a:lstStyle/>
          <a:p>
            <a:r>
              <a:rPr lang="en-US" sz="2200" dirty="0" smtClean="0"/>
              <a:t>Tools (GIT vs. SVN, </a:t>
            </a:r>
            <a:r>
              <a:rPr lang="en-US" sz="2200" dirty="0" err="1" smtClean="0"/>
              <a:t>Wrike</a:t>
            </a:r>
            <a:r>
              <a:rPr lang="en-US" sz="2200" dirty="0" smtClean="0"/>
              <a:t> vs. </a:t>
            </a:r>
            <a:r>
              <a:rPr lang="en-US" sz="2200" dirty="0" err="1" smtClean="0"/>
              <a:t>Jira</a:t>
            </a:r>
            <a:r>
              <a:rPr lang="en-US" sz="2200" dirty="0" smtClean="0"/>
              <a:t>)</a:t>
            </a:r>
          </a:p>
          <a:p>
            <a:r>
              <a:rPr lang="en-US" sz="2200" dirty="0" smtClean="0"/>
              <a:t>Development process (which files should be put into source control, broken code, different code structure, compilation errors, errors when following compilation guide, need of mockups)</a:t>
            </a:r>
          </a:p>
          <a:p>
            <a:r>
              <a:rPr lang="en-US" sz="2200" dirty="0" smtClean="0"/>
              <a:t>Coding standards (long methods, variable names)</a:t>
            </a:r>
          </a:p>
          <a:p>
            <a:r>
              <a:rPr lang="en-US" sz="2200" dirty="0" smtClean="0"/>
              <a:t>Templates (use cases, user stories, test cases)</a:t>
            </a:r>
          </a:p>
          <a:p>
            <a:r>
              <a:rPr lang="en-US" sz="2200" dirty="0" smtClean="0"/>
              <a:t>Progress tracking (task status, time log)</a:t>
            </a:r>
          </a:p>
        </p:txBody>
      </p:sp>
      <p:pic>
        <p:nvPicPr>
          <p:cNvPr id="2050" name="Picture 2" descr="https://www.bamboohr.com/blog/wp-content/uploads/conflict-resolution-in-the-workplace700x525-1.png"/>
          <p:cNvPicPr>
            <a:picLocks noChangeAspect="1" noChangeArrowheads="1"/>
          </p:cNvPicPr>
          <p:nvPr/>
        </p:nvPicPr>
        <p:blipFill>
          <a:blip r:embed="rId2" cstate="print"/>
          <a:srcRect/>
          <a:stretch>
            <a:fillRect/>
          </a:stretch>
        </p:blipFill>
        <p:spPr bwMode="auto">
          <a:xfrm>
            <a:off x="3429000" y="4579937"/>
            <a:ext cx="2224088" cy="1668463"/>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Conflict </a:t>
            </a:r>
            <a:r>
              <a:rPr lang="en-US" dirty="0" smtClean="0"/>
              <a:t>is </a:t>
            </a:r>
            <a:r>
              <a:rPr lang="en-US" dirty="0" smtClean="0"/>
              <a:t>Not a Decision</a:t>
            </a:r>
            <a:endParaRPr lang="en-US" dirty="0"/>
          </a:p>
        </p:txBody>
      </p:sp>
      <p:sp>
        <p:nvSpPr>
          <p:cNvPr id="3" name="Content Placeholder 2"/>
          <p:cNvSpPr>
            <a:spLocks noGrp="1"/>
          </p:cNvSpPr>
          <p:nvPr>
            <p:ph idx="1"/>
          </p:nvPr>
        </p:nvSpPr>
        <p:spPr/>
        <p:txBody>
          <a:bodyPr/>
          <a:lstStyle/>
          <a:p>
            <a:r>
              <a:rPr lang="en-US" sz="2400" dirty="0" smtClean="0"/>
              <a:t>A conflict cannot always be resolved </a:t>
            </a:r>
            <a:r>
              <a:rPr lang="en-US" sz="2400" i="1" dirty="0" smtClean="0">
                <a:solidFill>
                  <a:srgbClr val="C00000"/>
                </a:solidFill>
              </a:rPr>
              <a:t>merely</a:t>
            </a:r>
            <a:r>
              <a:rPr lang="en-US" sz="2400" dirty="0" smtClean="0"/>
              <a:t> by making a </a:t>
            </a:r>
            <a:r>
              <a:rPr lang="en-US" sz="2400" dirty="0" smtClean="0"/>
              <a:t>decision.</a:t>
            </a:r>
          </a:p>
          <a:p>
            <a:r>
              <a:rPr lang="en-US" sz="2400" dirty="0" smtClean="0"/>
              <a:t>A </a:t>
            </a:r>
            <a:r>
              <a:rPr lang="en-US" sz="2400" dirty="0" smtClean="0"/>
              <a:t>decision may settle what happens next, while the </a:t>
            </a:r>
            <a:r>
              <a:rPr lang="en-US" sz="2400" i="1" dirty="0" smtClean="0">
                <a:solidFill>
                  <a:srgbClr val="C00000"/>
                </a:solidFill>
              </a:rPr>
              <a:t>underlying disagreement</a:t>
            </a:r>
            <a:r>
              <a:rPr lang="en-US" sz="2400" dirty="0" smtClean="0"/>
              <a:t> may remain.</a:t>
            </a:r>
            <a:endParaRPr lang="en-US" sz="2400" dirty="0"/>
          </a:p>
        </p:txBody>
      </p:sp>
      <p:pic>
        <p:nvPicPr>
          <p:cNvPr id="1027" name="Picture 3"/>
          <p:cNvPicPr>
            <a:picLocks noChangeAspect="1" noChangeArrowheads="1"/>
          </p:cNvPicPr>
          <p:nvPr/>
        </p:nvPicPr>
        <p:blipFill>
          <a:blip r:embed="rId2" cstate="print"/>
          <a:srcRect/>
          <a:stretch>
            <a:fillRect/>
          </a:stretch>
        </p:blipFill>
        <p:spPr bwMode="auto">
          <a:xfrm>
            <a:off x="3048000" y="3810000"/>
            <a:ext cx="3135515" cy="2089708"/>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457200" y="1397000"/>
          <a:ext cx="8229600" cy="5003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p:cNvSpPr/>
          <p:nvPr/>
        </p:nvSpPr>
        <p:spPr>
          <a:xfrm>
            <a:off x="2819400" y="1648361"/>
            <a:ext cx="2133600" cy="1323439"/>
          </a:xfrm>
          <a:prstGeom prst="rect">
            <a:avLst/>
          </a:prstGeom>
          <a:noFill/>
        </p:spPr>
        <p:txBody>
          <a:bodyPr wrap="square">
            <a:spAutoFit/>
          </a:bodyPr>
          <a:lstStyle/>
          <a:p>
            <a:r>
              <a:rPr lang="en-US" sz="2000" dirty="0" smtClean="0">
                <a:latin typeface="+mj-lt"/>
              </a:rPr>
              <a:t>Help the team take </a:t>
            </a:r>
            <a:r>
              <a:rPr lang="en-US" sz="2000" i="1" dirty="0" smtClean="0">
                <a:solidFill>
                  <a:srgbClr val="C00000"/>
                </a:solidFill>
                <a:latin typeface="+mj-lt"/>
              </a:rPr>
              <a:t>responsibility</a:t>
            </a:r>
            <a:r>
              <a:rPr lang="en-US" sz="2000" dirty="0" smtClean="0">
                <a:latin typeface="+mj-lt"/>
              </a:rPr>
              <a:t> for progress towards the goal.</a:t>
            </a:r>
            <a:endParaRPr lang="en-US" sz="2000" dirty="0">
              <a:latin typeface="+mj-lt"/>
            </a:endParaRPr>
          </a:p>
        </p:txBody>
      </p:sp>
      <p:sp>
        <p:nvSpPr>
          <p:cNvPr id="6" name="Rectangle 5"/>
          <p:cNvSpPr/>
          <p:nvPr/>
        </p:nvSpPr>
        <p:spPr>
          <a:xfrm>
            <a:off x="457200" y="2133600"/>
            <a:ext cx="2133600" cy="2554545"/>
          </a:xfrm>
          <a:prstGeom prst="rect">
            <a:avLst/>
          </a:prstGeom>
          <a:noFill/>
        </p:spPr>
        <p:txBody>
          <a:bodyPr wrap="square">
            <a:spAutoFit/>
          </a:bodyPr>
          <a:lstStyle/>
          <a:p>
            <a:r>
              <a:rPr lang="en-US" sz="2000" dirty="0" smtClean="0">
                <a:latin typeface="+mj-lt"/>
              </a:rPr>
              <a:t>Establish </a:t>
            </a:r>
            <a:r>
              <a:rPr lang="en-US" sz="2000" i="1" dirty="0" smtClean="0">
                <a:solidFill>
                  <a:srgbClr val="C00000"/>
                </a:solidFill>
                <a:latin typeface="+mj-lt"/>
              </a:rPr>
              <a:t>process</a:t>
            </a:r>
            <a:r>
              <a:rPr lang="en-US" sz="2000" dirty="0" smtClean="0">
                <a:latin typeface="+mj-lt"/>
              </a:rPr>
              <a:t> and structure</a:t>
            </a:r>
          </a:p>
          <a:p>
            <a:r>
              <a:rPr lang="en-US" sz="2000" dirty="0" smtClean="0">
                <a:latin typeface="+mj-lt"/>
              </a:rPr>
              <a:t>Work to smooth conflict</a:t>
            </a:r>
          </a:p>
          <a:p>
            <a:r>
              <a:rPr lang="en-US" sz="2000" dirty="0" smtClean="0">
                <a:latin typeface="+mj-lt"/>
              </a:rPr>
              <a:t>Build good </a:t>
            </a:r>
            <a:r>
              <a:rPr lang="en-US" sz="2000" i="1" dirty="0" smtClean="0">
                <a:solidFill>
                  <a:srgbClr val="C00000"/>
                </a:solidFill>
                <a:latin typeface="+mj-lt"/>
              </a:rPr>
              <a:t>relationships</a:t>
            </a:r>
            <a:r>
              <a:rPr lang="en-US" sz="2000" dirty="0" smtClean="0">
                <a:latin typeface="+mj-lt"/>
              </a:rPr>
              <a:t> between team members.</a:t>
            </a:r>
            <a:endParaRPr lang="en-US" sz="2000" dirty="0">
              <a:latin typeface="+mj-lt"/>
            </a:endParaRPr>
          </a:p>
        </p:txBody>
      </p:sp>
      <p:sp>
        <p:nvSpPr>
          <p:cNvPr id="2" name="Title 1"/>
          <p:cNvSpPr>
            <a:spLocks noGrp="1"/>
          </p:cNvSpPr>
          <p:nvPr>
            <p:ph type="title"/>
          </p:nvPr>
        </p:nvSpPr>
        <p:spPr/>
        <p:txBody>
          <a:bodyPr/>
          <a:lstStyle/>
          <a:p>
            <a:r>
              <a:rPr lang="en-US" dirty="0" smtClean="0"/>
              <a:t>When Do We Get Conflicted? [6]</a:t>
            </a:r>
            <a:endParaRPr lang="en-US" dirty="0"/>
          </a:p>
        </p:txBody>
      </p:sp>
      <p:sp>
        <p:nvSpPr>
          <p:cNvPr id="5" name="Rectangle 4"/>
          <p:cNvSpPr/>
          <p:nvPr/>
        </p:nvSpPr>
        <p:spPr>
          <a:xfrm>
            <a:off x="1447800" y="5638800"/>
            <a:ext cx="3006144" cy="400110"/>
          </a:xfrm>
          <a:prstGeom prst="rect">
            <a:avLst/>
          </a:prstGeom>
          <a:noFill/>
        </p:spPr>
        <p:txBody>
          <a:bodyPr wrap="none">
            <a:spAutoFit/>
          </a:bodyPr>
          <a:lstStyle/>
          <a:p>
            <a:r>
              <a:rPr lang="en-US" sz="2000" dirty="0" smtClean="0">
                <a:latin typeface="+mj-lt"/>
              </a:rPr>
              <a:t>Establish </a:t>
            </a:r>
            <a:r>
              <a:rPr lang="en-US" sz="2000" i="1" dirty="0" smtClean="0">
                <a:solidFill>
                  <a:srgbClr val="C00000"/>
                </a:solidFill>
                <a:latin typeface="+mj-lt"/>
              </a:rPr>
              <a:t>objectives</a:t>
            </a:r>
            <a:r>
              <a:rPr lang="en-US" sz="2000" dirty="0" smtClean="0">
                <a:latin typeface="+mj-lt"/>
              </a:rPr>
              <a:t> clearly.</a:t>
            </a:r>
            <a:endParaRPr lang="en-US" sz="2000" dirty="0">
              <a:latin typeface="+mj-lt"/>
            </a:endParaRPr>
          </a:p>
        </p:txBody>
      </p:sp>
      <p:sp>
        <p:nvSpPr>
          <p:cNvPr id="8" name="Rectangle 7"/>
          <p:cNvSpPr/>
          <p:nvPr/>
        </p:nvSpPr>
        <p:spPr>
          <a:xfrm>
            <a:off x="5334000" y="3657600"/>
            <a:ext cx="2438400" cy="1323439"/>
          </a:xfrm>
          <a:prstGeom prst="rect">
            <a:avLst/>
          </a:prstGeom>
          <a:noFill/>
        </p:spPr>
        <p:txBody>
          <a:bodyPr wrap="square">
            <a:spAutoFit/>
          </a:bodyPr>
          <a:lstStyle/>
          <a:p>
            <a:r>
              <a:rPr lang="en-US" sz="2000" i="1" dirty="0" smtClean="0">
                <a:solidFill>
                  <a:srgbClr val="C00000"/>
                </a:solidFill>
                <a:latin typeface="+mj-lt"/>
              </a:rPr>
              <a:t>Delegate</a:t>
            </a:r>
            <a:r>
              <a:rPr lang="en-US" sz="2000" dirty="0" smtClean="0">
                <a:latin typeface="+mj-lt"/>
              </a:rPr>
              <a:t> as far as you sensibly can.</a:t>
            </a:r>
          </a:p>
          <a:p>
            <a:r>
              <a:rPr lang="en-US" sz="2000" dirty="0" smtClean="0">
                <a:latin typeface="+mj-lt"/>
              </a:rPr>
              <a:t>Aim to have as "light a touch" as possible.</a:t>
            </a:r>
            <a:endParaRPr lang="en-US" sz="2000" dirty="0">
              <a:latin typeface="+mj-lt"/>
            </a:endParaRPr>
          </a:p>
        </p:txBody>
      </p:sp>
      <p:sp>
        <p:nvSpPr>
          <p:cNvPr id="9" name="Rectangle 8"/>
          <p:cNvSpPr/>
          <p:nvPr/>
        </p:nvSpPr>
        <p:spPr>
          <a:xfrm>
            <a:off x="7010400" y="1143000"/>
            <a:ext cx="1812399" cy="707886"/>
          </a:xfrm>
          <a:prstGeom prst="rect">
            <a:avLst/>
          </a:prstGeom>
        </p:spPr>
        <p:txBody>
          <a:bodyPr wrap="square">
            <a:spAutoFit/>
          </a:bodyPr>
          <a:lstStyle/>
          <a:p>
            <a:r>
              <a:rPr lang="en-US" sz="2000" i="1" dirty="0" smtClean="0">
                <a:solidFill>
                  <a:srgbClr val="C00000"/>
                </a:solidFill>
                <a:latin typeface="+mj-lt"/>
              </a:rPr>
              <a:t>Celebrate</a:t>
            </a:r>
            <a:r>
              <a:rPr lang="en-US" sz="2000" dirty="0" smtClean="0">
                <a:latin typeface="+mj-lt"/>
              </a:rPr>
              <a:t> its achievements.</a:t>
            </a:r>
            <a:endParaRPr lang="en-US" sz="2000" dirty="0">
              <a:latin typeface="+mj-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We Get Conflicted? (I)</a:t>
            </a:r>
            <a:endParaRPr lang="en-US" dirty="0"/>
          </a:p>
        </p:txBody>
      </p:sp>
      <p:pic>
        <p:nvPicPr>
          <p:cNvPr id="93186" name="Picture 2" descr="https://ak.picdn.net/shutterstock/videos/2235931/thumb/1.jpg"/>
          <p:cNvPicPr>
            <a:picLocks noChangeAspect="1" noChangeArrowheads="1"/>
          </p:cNvPicPr>
          <p:nvPr/>
        </p:nvPicPr>
        <p:blipFill>
          <a:blip r:embed="rId2" cstate="print"/>
          <a:srcRect/>
          <a:stretch>
            <a:fillRect/>
          </a:stretch>
        </p:blipFill>
        <p:spPr bwMode="auto">
          <a:xfrm>
            <a:off x="2514600" y="2006025"/>
            <a:ext cx="4057650" cy="2286000"/>
          </a:xfrm>
          <a:prstGeom prst="rect">
            <a:avLst/>
          </a:prstGeom>
          <a:noFill/>
        </p:spPr>
      </p:pic>
      <p:sp>
        <p:nvSpPr>
          <p:cNvPr id="10" name="TextBox 9"/>
          <p:cNvSpPr txBox="1"/>
          <p:nvPr/>
        </p:nvSpPr>
        <p:spPr>
          <a:xfrm>
            <a:off x="2057400" y="4749225"/>
            <a:ext cx="4920193" cy="584775"/>
          </a:xfrm>
          <a:prstGeom prst="rect">
            <a:avLst/>
          </a:prstGeom>
          <a:noFill/>
        </p:spPr>
        <p:txBody>
          <a:bodyPr wrap="none" rtlCol="0">
            <a:spAutoFit/>
          </a:bodyPr>
          <a:lstStyle/>
          <a:p>
            <a:r>
              <a:rPr lang="en-US" sz="3200" dirty="0" smtClean="0">
                <a:latin typeface="+mj-lt"/>
              </a:rPr>
              <a:t>No leader, lack of reputation</a:t>
            </a:r>
            <a:endParaRPr lang="en-US" sz="3200" dirty="0">
              <a:latin typeface="+mj-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noChangeArrowheads="1"/>
          </p:cNvPicPr>
          <p:nvPr/>
        </p:nvPicPr>
        <p:blipFill>
          <a:blip r:embed="rId2" cstate="print"/>
          <a:srcRect/>
          <a:stretch>
            <a:fillRect/>
          </a:stretch>
        </p:blipFill>
        <p:spPr bwMode="auto">
          <a:xfrm>
            <a:off x="2133600" y="1524000"/>
            <a:ext cx="2181225" cy="12573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Why Do We Get Conflicted? (II)</a:t>
            </a:r>
            <a:endParaRPr lang="en-US" dirty="0"/>
          </a:p>
        </p:txBody>
      </p:sp>
      <p:pic>
        <p:nvPicPr>
          <p:cNvPr id="1026" name="Picture 2"/>
          <p:cNvPicPr>
            <a:picLocks noChangeAspect="1" noChangeArrowheads="1"/>
          </p:cNvPicPr>
          <p:nvPr/>
        </p:nvPicPr>
        <p:blipFill>
          <a:blip r:embed="rId3" cstate="print"/>
          <a:srcRect/>
          <a:stretch>
            <a:fillRect/>
          </a:stretch>
        </p:blipFill>
        <p:spPr bwMode="auto">
          <a:xfrm>
            <a:off x="304800" y="3581400"/>
            <a:ext cx="4048125" cy="2686050"/>
          </a:xfrm>
          <a:prstGeom prst="rect">
            <a:avLst/>
          </a:prstGeom>
          <a:noFill/>
          <a:ln w="9525">
            <a:noFill/>
            <a:miter lim="800000"/>
            <a:headEnd/>
            <a:tailEnd/>
          </a:ln>
          <a:effectLst/>
        </p:spPr>
      </p:pic>
      <p:graphicFrame>
        <p:nvGraphicFramePr>
          <p:cNvPr id="5" name="Diagram 4"/>
          <p:cNvGraphicFramePr/>
          <p:nvPr/>
        </p:nvGraphicFramePr>
        <p:xfrm>
          <a:off x="4495800" y="1371600"/>
          <a:ext cx="4495800" cy="5257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2"/>
          <p:cNvPicPr>
            <a:picLocks noChangeAspect="1" noChangeArrowheads="1"/>
          </p:cNvPicPr>
          <p:nvPr/>
        </p:nvPicPr>
        <p:blipFill>
          <a:blip r:embed="rId9" cstate="print"/>
          <a:srcRect/>
          <a:stretch>
            <a:fillRect/>
          </a:stretch>
        </p:blipFill>
        <p:spPr bwMode="auto">
          <a:xfrm>
            <a:off x="381000" y="1295400"/>
            <a:ext cx="1752600" cy="1678115"/>
          </a:xfrm>
          <a:prstGeom prst="rect">
            <a:avLst/>
          </a:prstGeom>
          <a:noFill/>
          <a:ln w="9525">
            <a:noFill/>
            <a:miter lim="800000"/>
            <a:headEnd/>
            <a:tailEnd/>
          </a:ln>
          <a:effectLst/>
        </p:spPr>
      </p:pic>
      <p:sp>
        <p:nvSpPr>
          <p:cNvPr id="7" name="TextBox 6"/>
          <p:cNvSpPr txBox="1"/>
          <p:nvPr/>
        </p:nvSpPr>
        <p:spPr>
          <a:xfrm>
            <a:off x="533400" y="2971800"/>
            <a:ext cx="4027064" cy="584775"/>
          </a:xfrm>
          <a:prstGeom prst="rect">
            <a:avLst/>
          </a:prstGeom>
          <a:noFill/>
        </p:spPr>
        <p:txBody>
          <a:bodyPr wrap="none" rtlCol="0">
            <a:spAutoFit/>
          </a:bodyPr>
          <a:lstStyle/>
          <a:p>
            <a:r>
              <a:rPr lang="en-US" sz="3200" b="1" dirty="0" smtClean="0">
                <a:solidFill>
                  <a:srgbClr val="C00000"/>
                </a:solidFill>
                <a:latin typeface="Consolas" pitchFamily="49" charset="0"/>
              </a:rPr>
              <a:t>No Communication!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Forms of Communication [3]</a:t>
            </a:r>
            <a:endParaRPr lang="en-US" dirty="0"/>
          </a:p>
        </p:txBody>
      </p:sp>
      <p:sp>
        <p:nvSpPr>
          <p:cNvPr id="3" name="Content Placeholder 2"/>
          <p:cNvSpPr>
            <a:spLocks noGrp="1"/>
          </p:cNvSpPr>
          <p:nvPr>
            <p:ph idx="1"/>
          </p:nvPr>
        </p:nvSpPr>
        <p:spPr>
          <a:xfrm>
            <a:off x="3124200" y="1600200"/>
            <a:ext cx="5562600" cy="4525963"/>
          </a:xfrm>
        </p:spPr>
        <p:txBody>
          <a:bodyPr/>
          <a:lstStyle/>
          <a:p>
            <a:r>
              <a:rPr lang="en-US" sz="2400" i="1" dirty="0" smtClean="0">
                <a:solidFill>
                  <a:srgbClr val="C00000"/>
                </a:solidFill>
              </a:rPr>
              <a:t>Verbal communication</a:t>
            </a:r>
            <a:r>
              <a:rPr lang="en-US" sz="2400" dirty="0" smtClean="0"/>
              <a:t> is easier and less complicated than written communication, and it's usually a </a:t>
            </a:r>
            <a:r>
              <a:rPr lang="en-US" sz="2400" u="sng" dirty="0" smtClean="0"/>
              <a:t>fast</a:t>
            </a:r>
            <a:r>
              <a:rPr lang="en-US" sz="2400" dirty="0" smtClean="0"/>
              <a:t> method of communication.</a:t>
            </a:r>
          </a:p>
          <a:p>
            <a:r>
              <a:rPr lang="en-US" sz="2400" i="1" dirty="0" smtClean="0">
                <a:solidFill>
                  <a:srgbClr val="C00000"/>
                </a:solidFill>
              </a:rPr>
              <a:t>Written communication</a:t>
            </a:r>
            <a:r>
              <a:rPr lang="en-US" sz="2400" dirty="0" smtClean="0"/>
              <a:t>, on the other hand, is an excellent way to get across complex, </a:t>
            </a:r>
            <a:r>
              <a:rPr lang="en-US" sz="2400" u="sng" dirty="0" smtClean="0"/>
              <a:t>detailed</a:t>
            </a:r>
            <a:r>
              <a:rPr lang="en-US" sz="2400" dirty="0" smtClean="0"/>
              <a:t> messages.</a:t>
            </a:r>
          </a:p>
          <a:p>
            <a:r>
              <a:rPr lang="en-US" sz="2400" i="1" dirty="0" smtClean="0">
                <a:solidFill>
                  <a:srgbClr val="C00000"/>
                </a:solidFill>
              </a:rPr>
              <a:t>Horizontal communications</a:t>
            </a:r>
            <a:r>
              <a:rPr lang="en-US" sz="2400" dirty="0" smtClean="0"/>
              <a:t> are messages sent and received to </a:t>
            </a:r>
            <a:r>
              <a:rPr lang="en-US" sz="2400" u="sng" dirty="0" smtClean="0"/>
              <a:t>peers</a:t>
            </a:r>
            <a:r>
              <a:rPr lang="en-US" sz="2400" dirty="0" smtClean="0"/>
              <a:t>.</a:t>
            </a:r>
          </a:p>
          <a:p>
            <a:r>
              <a:rPr lang="en-US" sz="2400" i="1" dirty="0" smtClean="0">
                <a:solidFill>
                  <a:srgbClr val="C00000"/>
                </a:solidFill>
              </a:rPr>
              <a:t>Vertical communications</a:t>
            </a:r>
            <a:r>
              <a:rPr lang="en-US" sz="2400" dirty="0" smtClean="0"/>
              <a:t> are messages sent and received </a:t>
            </a:r>
            <a:r>
              <a:rPr lang="en-US" sz="2400" u="sng" dirty="0" smtClean="0"/>
              <a:t>down</a:t>
            </a:r>
            <a:r>
              <a:rPr lang="en-US" sz="2400" dirty="0" smtClean="0"/>
              <a:t> to subordinates and </a:t>
            </a:r>
            <a:r>
              <a:rPr lang="en-US" sz="2400" u="sng" dirty="0" smtClean="0"/>
              <a:t>up</a:t>
            </a:r>
            <a:r>
              <a:rPr lang="en-US" sz="2400" dirty="0" smtClean="0"/>
              <a:t> to executive management.</a:t>
            </a:r>
            <a:endParaRPr lang="en-US" sz="2400" dirty="0"/>
          </a:p>
        </p:txBody>
      </p:sp>
      <p:pic>
        <p:nvPicPr>
          <p:cNvPr id="83970" name="Picture 2" descr="http://www.holstgroup.co.uk/wp-content/uploads/2013/05/Big-head-man-writing.jpg"/>
          <p:cNvPicPr>
            <a:picLocks noChangeAspect="1" noChangeArrowheads="1"/>
          </p:cNvPicPr>
          <p:nvPr/>
        </p:nvPicPr>
        <p:blipFill>
          <a:blip r:embed="rId2" cstate="print"/>
          <a:srcRect/>
          <a:stretch>
            <a:fillRect/>
          </a:stretch>
        </p:blipFill>
        <p:spPr bwMode="auto">
          <a:xfrm>
            <a:off x="533400" y="3810000"/>
            <a:ext cx="2540000" cy="1905000"/>
          </a:xfrm>
          <a:prstGeom prst="rect">
            <a:avLst/>
          </a:prstGeom>
          <a:noFill/>
        </p:spPr>
      </p:pic>
      <p:pic>
        <p:nvPicPr>
          <p:cNvPr id="83972" name="Picture 4" descr="https://2012books.lardbucket.org/books/a-primer-on-communication-studies/section_04/517c40187a369b19742c2231623b9f71.jpg"/>
          <p:cNvPicPr>
            <a:picLocks noChangeAspect="1" noChangeArrowheads="1"/>
          </p:cNvPicPr>
          <p:nvPr/>
        </p:nvPicPr>
        <p:blipFill>
          <a:blip r:embed="rId3" cstate="print"/>
          <a:srcRect/>
          <a:stretch>
            <a:fillRect/>
          </a:stretch>
        </p:blipFill>
        <p:spPr bwMode="auto">
          <a:xfrm>
            <a:off x="762000" y="1752600"/>
            <a:ext cx="2208276" cy="1776222"/>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Face to Face Communication</a:t>
            </a:r>
            <a:endParaRPr lang="en-US" dirty="0"/>
          </a:p>
        </p:txBody>
      </p:sp>
      <p:sp>
        <p:nvSpPr>
          <p:cNvPr id="3" name="Content Placeholder 2"/>
          <p:cNvSpPr>
            <a:spLocks noGrp="1"/>
          </p:cNvSpPr>
          <p:nvPr>
            <p:ph idx="1"/>
          </p:nvPr>
        </p:nvSpPr>
        <p:spPr/>
        <p:txBody>
          <a:bodyPr/>
          <a:lstStyle/>
          <a:p>
            <a:r>
              <a:rPr lang="en-US" sz="2400" dirty="0" smtClean="0"/>
              <a:t>Body language.</a:t>
            </a:r>
          </a:p>
          <a:p>
            <a:r>
              <a:rPr lang="en-US" sz="2400" dirty="0" smtClean="0"/>
              <a:t>Tone of voice.</a:t>
            </a:r>
            <a:endParaRPr lang="en-US" sz="2400" dirty="0"/>
          </a:p>
        </p:txBody>
      </p:sp>
      <p:pic>
        <p:nvPicPr>
          <p:cNvPr id="1026" name="Picture 2" descr="https://work.life/wp-content/uploads/2022/06/wl8.jpg"/>
          <p:cNvPicPr>
            <a:picLocks noChangeAspect="1" noChangeArrowheads="1"/>
          </p:cNvPicPr>
          <p:nvPr/>
        </p:nvPicPr>
        <p:blipFill>
          <a:blip r:embed="rId2" cstate="print"/>
          <a:srcRect/>
          <a:stretch>
            <a:fillRect/>
          </a:stretch>
        </p:blipFill>
        <p:spPr bwMode="auto">
          <a:xfrm>
            <a:off x="2133600" y="3124200"/>
            <a:ext cx="5180492" cy="2912780"/>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Can't We Communicate? [7]</a:t>
            </a:r>
            <a:endParaRPr lang="en-US" dirty="0"/>
          </a:p>
        </p:txBody>
      </p:sp>
      <p:sp>
        <p:nvSpPr>
          <p:cNvPr id="3" name="Content Placeholder 2"/>
          <p:cNvSpPr>
            <a:spLocks noGrp="1"/>
          </p:cNvSpPr>
          <p:nvPr>
            <p:ph idx="1"/>
          </p:nvPr>
        </p:nvSpPr>
        <p:spPr/>
        <p:txBody>
          <a:bodyPr/>
          <a:lstStyle/>
          <a:p>
            <a:r>
              <a:rPr lang="en-US" sz="2000" b="1" dirty="0" smtClean="0"/>
              <a:t>Principle 1. </a:t>
            </a:r>
            <a:r>
              <a:rPr lang="en-US" sz="2000" b="1" i="1" dirty="0" smtClean="0">
                <a:solidFill>
                  <a:srgbClr val="C00000"/>
                </a:solidFill>
              </a:rPr>
              <a:t>Listen</a:t>
            </a:r>
            <a:r>
              <a:rPr lang="en-US" sz="2000" b="1" dirty="0" smtClean="0"/>
              <a:t>.</a:t>
            </a:r>
          </a:p>
          <a:p>
            <a:r>
              <a:rPr lang="en-US" sz="2000" dirty="0" smtClean="0"/>
              <a:t>Principle 2. </a:t>
            </a:r>
            <a:r>
              <a:rPr lang="en-US" sz="2000" i="1" dirty="0" smtClean="0">
                <a:solidFill>
                  <a:srgbClr val="C00000"/>
                </a:solidFill>
              </a:rPr>
              <a:t>Prepare</a:t>
            </a:r>
            <a:r>
              <a:rPr lang="en-US" sz="2000" dirty="0" smtClean="0"/>
              <a:t> before you communicate.</a:t>
            </a:r>
          </a:p>
          <a:p>
            <a:r>
              <a:rPr lang="en-US" sz="2000" dirty="0" smtClean="0"/>
              <a:t>Principle 3. Someone should </a:t>
            </a:r>
            <a:r>
              <a:rPr lang="en-US" sz="2000" i="1" dirty="0" smtClean="0">
                <a:solidFill>
                  <a:srgbClr val="C00000"/>
                </a:solidFill>
              </a:rPr>
              <a:t>facilitate the activity</a:t>
            </a:r>
            <a:r>
              <a:rPr lang="en-US" sz="2000" dirty="0" smtClean="0"/>
              <a:t>.</a:t>
            </a:r>
          </a:p>
          <a:p>
            <a:r>
              <a:rPr lang="en-US" sz="2000" dirty="0" smtClean="0"/>
              <a:t>Principle 4. </a:t>
            </a:r>
            <a:r>
              <a:rPr lang="en-US" sz="2000" i="1" dirty="0" smtClean="0">
                <a:solidFill>
                  <a:srgbClr val="C00000"/>
                </a:solidFill>
              </a:rPr>
              <a:t>Face-to-face</a:t>
            </a:r>
            <a:r>
              <a:rPr lang="en-US" sz="2000" dirty="0" smtClean="0"/>
              <a:t> communication is best.</a:t>
            </a:r>
          </a:p>
          <a:p>
            <a:r>
              <a:rPr lang="en-US" sz="2000" dirty="0" smtClean="0"/>
              <a:t>Principle 5. Take notes and </a:t>
            </a:r>
            <a:r>
              <a:rPr lang="en-US" sz="2000" i="1" dirty="0" smtClean="0">
                <a:solidFill>
                  <a:srgbClr val="C00000"/>
                </a:solidFill>
              </a:rPr>
              <a:t>document decisions</a:t>
            </a:r>
            <a:r>
              <a:rPr lang="en-US" sz="2000" dirty="0" smtClean="0"/>
              <a:t>.</a:t>
            </a:r>
          </a:p>
          <a:p>
            <a:r>
              <a:rPr lang="en-US" sz="2000" dirty="0" smtClean="0"/>
              <a:t>Principle 6. Strive for </a:t>
            </a:r>
            <a:r>
              <a:rPr lang="en-US" sz="2000" i="1" dirty="0" smtClean="0">
                <a:solidFill>
                  <a:srgbClr val="C00000"/>
                </a:solidFill>
              </a:rPr>
              <a:t>collaboration</a:t>
            </a:r>
            <a:r>
              <a:rPr lang="en-US" sz="2000" dirty="0" smtClean="0"/>
              <a:t>.</a:t>
            </a:r>
          </a:p>
          <a:p>
            <a:r>
              <a:rPr lang="en-US" sz="2000" dirty="0" smtClean="0"/>
              <a:t>Principle 7. Stay </a:t>
            </a:r>
            <a:r>
              <a:rPr lang="en-US" sz="2000" i="1" dirty="0" smtClean="0">
                <a:solidFill>
                  <a:srgbClr val="C00000"/>
                </a:solidFill>
              </a:rPr>
              <a:t>focused</a:t>
            </a:r>
            <a:r>
              <a:rPr lang="en-US" sz="2000" dirty="0" smtClean="0"/>
              <a:t>; </a:t>
            </a:r>
            <a:r>
              <a:rPr lang="en-US" sz="2000" i="1" dirty="0" smtClean="0">
                <a:solidFill>
                  <a:srgbClr val="C00000"/>
                </a:solidFill>
              </a:rPr>
              <a:t>modularize</a:t>
            </a:r>
            <a:r>
              <a:rPr lang="en-US" sz="2000" dirty="0" smtClean="0"/>
              <a:t> your discussion.</a:t>
            </a:r>
          </a:p>
          <a:p>
            <a:r>
              <a:rPr lang="en-US" sz="2000" dirty="0" smtClean="0"/>
              <a:t>Principle 8. If something is unclear, </a:t>
            </a:r>
            <a:r>
              <a:rPr lang="en-US" sz="2000" i="1" dirty="0" smtClean="0">
                <a:solidFill>
                  <a:srgbClr val="C00000"/>
                </a:solidFill>
              </a:rPr>
              <a:t>draw</a:t>
            </a:r>
            <a:r>
              <a:rPr lang="en-US" sz="2000" dirty="0" smtClean="0"/>
              <a:t> a picture.</a:t>
            </a:r>
          </a:p>
          <a:p>
            <a:r>
              <a:rPr lang="en-US" sz="2000" dirty="0" smtClean="0"/>
              <a:t>Principle 9. (a) Once you agree to something, </a:t>
            </a:r>
            <a:r>
              <a:rPr lang="en-US" sz="2000" i="1" dirty="0" smtClean="0">
                <a:solidFill>
                  <a:srgbClr val="C00000"/>
                </a:solidFill>
              </a:rPr>
              <a:t>move on</a:t>
            </a:r>
            <a:r>
              <a:rPr lang="en-US" sz="2000" dirty="0" smtClean="0"/>
              <a:t>. (b) If you can't agree to something, </a:t>
            </a:r>
            <a:r>
              <a:rPr lang="en-US" sz="2000" i="1" dirty="0" smtClean="0">
                <a:solidFill>
                  <a:srgbClr val="C00000"/>
                </a:solidFill>
              </a:rPr>
              <a:t>move on</a:t>
            </a:r>
            <a:r>
              <a:rPr lang="en-US" sz="2000" dirty="0" smtClean="0"/>
              <a:t>. (c) If a feature or function is unclear and cannot be clarified at the moment, </a:t>
            </a:r>
            <a:r>
              <a:rPr lang="en-US" sz="2000" i="1" dirty="0" smtClean="0">
                <a:solidFill>
                  <a:srgbClr val="C00000"/>
                </a:solidFill>
              </a:rPr>
              <a:t>move on</a:t>
            </a:r>
            <a:r>
              <a:rPr lang="en-US" sz="2000" dirty="0" smtClean="0"/>
              <a:t>.</a:t>
            </a:r>
          </a:p>
          <a:p>
            <a:r>
              <a:rPr lang="en-US" sz="2000" dirty="0" smtClean="0"/>
              <a:t>Principle 10. Negotiation is not a contest or a game. It works best when </a:t>
            </a:r>
            <a:r>
              <a:rPr lang="en-US" sz="2000" i="1" dirty="0" smtClean="0">
                <a:solidFill>
                  <a:srgbClr val="C00000"/>
                </a:solidFill>
              </a:rPr>
              <a:t>both parties win</a:t>
            </a:r>
            <a:r>
              <a:rPr lang="en-US" sz="2000" dirty="0" smtClean="0"/>
              <a:t>.</a:t>
            </a:r>
            <a:endParaRPr lang="en-US" sz="2000" dirty="0"/>
          </a:p>
        </p:txBody>
      </p:sp>
      <p:pic>
        <p:nvPicPr>
          <p:cNvPr id="1026" name="Picture 2" descr="https://blog.udemy.com/wp-content/uploads/2013/07/principlesofcommunication.jpg"/>
          <p:cNvPicPr>
            <a:picLocks noChangeAspect="1" noChangeArrowheads="1"/>
          </p:cNvPicPr>
          <p:nvPr/>
        </p:nvPicPr>
        <p:blipFill>
          <a:blip r:embed="rId2" cstate="print"/>
          <a:srcRect/>
          <a:stretch>
            <a:fillRect/>
          </a:stretch>
        </p:blipFill>
        <p:spPr bwMode="auto">
          <a:xfrm>
            <a:off x="6781800" y="3352800"/>
            <a:ext cx="1524000" cy="1014984"/>
          </a:xfrm>
          <a:prstGeom prst="rect">
            <a:avLst/>
          </a:prstGeom>
          <a:noFill/>
        </p:spPr>
      </p:pic>
      <p:pic>
        <p:nvPicPr>
          <p:cNvPr id="41986" name="Picture 2" descr="https://whycantwecommunicate.files.wordpress.com/2013/11/communication-cartoon.jpg"/>
          <p:cNvPicPr>
            <a:picLocks noChangeAspect="1" noChangeArrowheads="1"/>
          </p:cNvPicPr>
          <p:nvPr/>
        </p:nvPicPr>
        <p:blipFill>
          <a:blip r:embed="rId3" cstate="print"/>
          <a:srcRect/>
          <a:stretch>
            <a:fillRect/>
          </a:stretch>
        </p:blipFill>
        <p:spPr bwMode="auto">
          <a:xfrm>
            <a:off x="6172200" y="1447800"/>
            <a:ext cx="2484120" cy="1737360"/>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2666999"/>
          </a:xfrm>
        </p:spPr>
        <p:txBody>
          <a:bodyPr/>
          <a:lstStyle/>
          <a:p>
            <a:r>
              <a:rPr lang="en-US" sz="2400" i="1" dirty="0" smtClean="0">
                <a:solidFill>
                  <a:srgbClr val="C00000"/>
                </a:solidFill>
              </a:rPr>
              <a:t>Considering</a:t>
            </a:r>
            <a:r>
              <a:rPr lang="en-US" sz="2400" dirty="0" smtClean="0"/>
              <a:t> that the subject is </a:t>
            </a:r>
            <a:r>
              <a:rPr lang="en-US" sz="2400" u="sng" dirty="0" smtClean="0"/>
              <a:t>uninteresting</a:t>
            </a:r>
          </a:p>
          <a:p>
            <a:r>
              <a:rPr lang="en-US" sz="2400" dirty="0" smtClean="0"/>
              <a:t>Evaluating the </a:t>
            </a:r>
            <a:r>
              <a:rPr lang="en-US" sz="2400" i="1" dirty="0" smtClean="0">
                <a:solidFill>
                  <a:srgbClr val="C00000"/>
                </a:solidFill>
              </a:rPr>
              <a:t>speaker</a:t>
            </a:r>
            <a:r>
              <a:rPr lang="en-US" sz="2400" dirty="0" smtClean="0"/>
              <a:t>, not the </a:t>
            </a:r>
            <a:r>
              <a:rPr lang="en-US" sz="2400" i="1" dirty="0" smtClean="0">
                <a:solidFill>
                  <a:srgbClr val="C00000"/>
                </a:solidFill>
              </a:rPr>
              <a:t>subject</a:t>
            </a:r>
          </a:p>
          <a:p>
            <a:r>
              <a:rPr lang="en-US" sz="2400" dirty="0" smtClean="0"/>
              <a:t>Becoming </a:t>
            </a:r>
            <a:r>
              <a:rPr lang="en-US" sz="2400" i="1" dirty="0" smtClean="0">
                <a:solidFill>
                  <a:srgbClr val="C00000"/>
                </a:solidFill>
              </a:rPr>
              <a:t>emotionally involved</a:t>
            </a:r>
          </a:p>
          <a:p>
            <a:r>
              <a:rPr lang="en-US" sz="2400" dirty="0" smtClean="0"/>
              <a:t>Listening for </a:t>
            </a:r>
            <a:r>
              <a:rPr lang="en-US" sz="2400" i="1" dirty="0" smtClean="0">
                <a:solidFill>
                  <a:srgbClr val="C00000"/>
                </a:solidFill>
              </a:rPr>
              <a:t>facts</a:t>
            </a:r>
            <a:r>
              <a:rPr lang="en-US" sz="2400" dirty="0" smtClean="0"/>
              <a:t>, not central </a:t>
            </a:r>
            <a:r>
              <a:rPr lang="en-US" sz="2400" i="1" dirty="0" smtClean="0">
                <a:solidFill>
                  <a:srgbClr val="C00000"/>
                </a:solidFill>
              </a:rPr>
              <a:t>ideas</a:t>
            </a:r>
          </a:p>
          <a:p>
            <a:r>
              <a:rPr lang="en-US" sz="2400" dirty="0" smtClean="0"/>
              <a:t>Avoiding </a:t>
            </a:r>
            <a:r>
              <a:rPr lang="en-US" sz="2400" i="1" dirty="0" smtClean="0">
                <a:solidFill>
                  <a:srgbClr val="C00000"/>
                </a:solidFill>
              </a:rPr>
              <a:t>difficult</a:t>
            </a:r>
            <a:r>
              <a:rPr lang="en-US" sz="2400" dirty="0" smtClean="0"/>
              <a:t> topics</a:t>
            </a:r>
          </a:p>
          <a:p>
            <a:r>
              <a:rPr lang="en-US" sz="2400" dirty="0" smtClean="0"/>
              <a:t>Too much </a:t>
            </a:r>
            <a:r>
              <a:rPr lang="en-US" sz="2400" i="1" dirty="0" smtClean="0">
                <a:solidFill>
                  <a:srgbClr val="C00000"/>
                </a:solidFill>
              </a:rPr>
              <a:t>note taking</a:t>
            </a:r>
          </a:p>
          <a:p>
            <a:endParaRPr lang="en-US" sz="2400" dirty="0"/>
          </a:p>
        </p:txBody>
      </p:sp>
      <p:pic>
        <p:nvPicPr>
          <p:cNvPr id="3076" name="Picture 4" descr="http://i0.wp.com/thebusinesscommunication.com/wp-content/uploads/2013/11/What-is-a-communication-barriers.jpg?resize=560%2C420"/>
          <p:cNvPicPr>
            <a:picLocks noChangeAspect="1" noChangeArrowheads="1"/>
          </p:cNvPicPr>
          <p:nvPr/>
        </p:nvPicPr>
        <p:blipFill>
          <a:blip r:embed="rId2" cstate="print"/>
          <a:srcRect/>
          <a:stretch>
            <a:fillRect/>
          </a:stretch>
        </p:blipFill>
        <p:spPr bwMode="auto">
          <a:xfrm>
            <a:off x="5562600" y="4038600"/>
            <a:ext cx="2844800" cy="2133600"/>
          </a:xfrm>
          <a:prstGeom prst="rect">
            <a:avLst/>
          </a:prstGeom>
          <a:noFill/>
        </p:spPr>
      </p:pic>
      <p:sp>
        <p:nvSpPr>
          <p:cNvPr id="2" name="Title 1"/>
          <p:cNvSpPr>
            <a:spLocks noGrp="1"/>
          </p:cNvSpPr>
          <p:nvPr>
            <p:ph type="title"/>
          </p:nvPr>
        </p:nvSpPr>
        <p:spPr/>
        <p:txBody>
          <a:bodyPr/>
          <a:lstStyle/>
          <a:p>
            <a:r>
              <a:rPr lang="en-US" dirty="0" smtClean="0"/>
              <a:t>Barriers to Effective Listening</a:t>
            </a:r>
            <a:endParaRPr lang="en-US" dirty="0"/>
          </a:p>
        </p:txBody>
      </p:sp>
      <p:pic>
        <p:nvPicPr>
          <p:cNvPr id="22530" name="Picture 2" descr="https://sethkorn.wikispaces.com/file/view/Picture6.gif/296362124/Picture6.gif"/>
          <p:cNvPicPr>
            <a:picLocks noChangeAspect="1" noChangeArrowheads="1"/>
          </p:cNvPicPr>
          <p:nvPr/>
        </p:nvPicPr>
        <p:blipFill>
          <a:blip r:embed="rId3" cstate="print"/>
          <a:srcRect/>
          <a:stretch>
            <a:fillRect/>
          </a:stretch>
        </p:blipFill>
        <p:spPr bwMode="auto">
          <a:xfrm>
            <a:off x="1676400" y="4648200"/>
            <a:ext cx="1866900" cy="1524000"/>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cstate="print"/>
          <a:srcRect/>
          <a:stretch>
            <a:fillRect/>
          </a:stretch>
        </p:blipFill>
        <p:spPr bwMode="auto">
          <a:xfrm>
            <a:off x="6248400" y="4495800"/>
            <a:ext cx="2133600" cy="160020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Active Listening</a:t>
            </a:r>
            <a:endParaRPr lang="en-US" dirty="0"/>
          </a:p>
        </p:txBody>
      </p:sp>
      <p:sp>
        <p:nvSpPr>
          <p:cNvPr id="3" name="Content Placeholder 2"/>
          <p:cNvSpPr>
            <a:spLocks noGrp="1"/>
          </p:cNvSpPr>
          <p:nvPr>
            <p:ph idx="1"/>
          </p:nvPr>
        </p:nvSpPr>
        <p:spPr/>
        <p:txBody>
          <a:bodyPr/>
          <a:lstStyle/>
          <a:p>
            <a:pPr lvl="0"/>
            <a:r>
              <a:rPr lang="en-US" sz="2400" i="1" dirty="0" smtClean="0">
                <a:solidFill>
                  <a:srgbClr val="C00000"/>
                </a:solidFill>
              </a:rPr>
              <a:t>Look</a:t>
            </a:r>
            <a:r>
              <a:rPr lang="en-US" sz="2400" dirty="0" smtClean="0"/>
              <a:t> at the speaker directly</a:t>
            </a:r>
          </a:p>
          <a:p>
            <a:pPr lvl="0"/>
            <a:r>
              <a:rPr lang="en-US" sz="2400" dirty="0" smtClean="0"/>
              <a:t>Minimize external </a:t>
            </a:r>
            <a:r>
              <a:rPr lang="en-US" sz="2400" i="1" dirty="0" smtClean="0">
                <a:solidFill>
                  <a:srgbClr val="C00000"/>
                </a:solidFill>
              </a:rPr>
              <a:t>distractions</a:t>
            </a:r>
          </a:p>
          <a:p>
            <a:pPr lvl="0"/>
            <a:r>
              <a:rPr lang="en-US" sz="2400" dirty="0" smtClean="0"/>
              <a:t>Minimize internal distractions</a:t>
            </a:r>
          </a:p>
          <a:p>
            <a:pPr lvl="0"/>
            <a:endParaRPr lang="en-US" sz="2400" dirty="0" smtClean="0"/>
          </a:p>
          <a:p>
            <a:pPr lvl="0"/>
            <a:r>
              <a:rPr lang="en-US" sz="2400" i="1" dirty="0" smtClean="0">
                <a:solidFill>
                  <a:srgbClr val="C00000"/>
                </a:solidFill>
              </a:rPr>
              <a:t>Nod</a:t>
            </a:r>
            <a:r>
              <a:rPr lang="en-US" sz="2400" dirty="0" smtClean="0"/>
              <a:t> occasionally, Murmur (“uh-huh” and “um-hmm”)</a:t>
            </a:r>
          </a:p>
          <a:p>
            <a:pPr lvl="0"/>
            <a:r>
              <a:rPr lang="en-US" sz="2400" i="1" dirty="0" smtClean="0">
                <a:solidFill>
                  <a:srgbClr val="C00000"/>
                </a:solidFill>
              </a:rPr>
              <a:t>Summarize</a:t>
            </a:r>
            <a:r>
              <a:rPr lang="en-US" sz="2400" dirty="0" smtClean="0"/>
              <a:t> the speaker's comments periodically</a:t>
            </a:r>
          </a:p>
          <a:p>
            <a:pPr lvl="0"/>
            <a:r>
              <a:rPr lang="en-US" sz="2400" i="1" dirty="0" smtClean="0">
                <a:solidFill>
                  <a:srgbClr val="C00000"/>
                </a:solidFill>
              </a:rPr>
              <a:t>Note</a:t>
            </a:r>
            <a:r>
              <a:rPr lang="en-US" sz="2400" dirty="0" smtClean="0"/>
              <a:t> unclear information, disagreement</a:t>
            </a:r>
          </a:p>
          <a:p>
            <a:pPr lvl="0"/>
            <a:endParaRPr lang="en-US" sz="2400" dirty="0" smtClean="0"/>
          </a:p>
          <a:p>
            <a:pPr lvl="0"/>
            <a:r>
              <a:rPr lang="en-US" sz="2400" dirty="0" smtClean="0"/>
              <a:t>Allow the speaker to </a:t>
            </a:r>
            <a:r>
              <a:rPr lang="en-US" sz="2400" i="1" dirty="0" smtClean="0">
                <a:solidFill>
                  <a:srgbClr val="C00000"/>
                </a:solidFill>
              </a:rPr>
              <a:t>finish</a:t>
            </a:r>
          </a:p>
          <a:p>
            <a:pPr lvl="0"/>
            <a:r>
              <a:rPr lang="en-US" sz="2400" i="1" dirty="0" smtClean="0">
                <a:solidFill>
                  <a:srgbClr val="C00000"/>
                </a:solidFill>
              </a:rPr>
              <a:t>Ask</a:t>
            </a:r>
            <a:r>
              <a:rPr lang="en-US" sz="2400" dirty="0" smtClean="0"/>
              <a:t> questions for clarification</a:t>
            </a:r>
          </a:p>
        </p:txBody>
      </p:sp>
      <p:pic>
        <p:nvPicPr>
          <p:cNvPr id="5" name="Picture 2"/>
          <p:cNvPicPr>
            <a:picLocks noChangeAspect="1" noChangeArrowheads="1"/>
          </p:cNvPicPr>
          <p:nvPr/>
        </p:nvPicPr>
        <p:blipFill>
          <a:blip r:embed="rId3" cstate="print"/>
          <a:srcRect/>
          <a:stretch>
            <a:fillRect/>
          </a:stretch>
        </p:blipFill>
        <p:spPr bwMode="auto">
          <a:xfrm>
            <a:off x="6858000" y="1524000"/>
            <a:ext cx="1524000" cy="1524000"/>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Conflict Management Techniques [3]</a:t>
            </a:r>
            <a:endParaRPr lang="en-US" sz="4200" dirty="0"/>
          </a:p>
        </p:txBody>
      </p:sp>
      <p:sp>
        <p:nvSpPr>
          <p:cNvPr id="3" name="Content Placeholder 2"/>
          <p:cNvSpPr>
            <a:spLocks noGrp="1"/>
          </p:cNvSpPr>
          <p:nvPr>
            <p:ph idx="1"/>
          </p:nvPr>
        </p:nvSpPr>
        <p:spPr>
          <a:xfrm>
            <a:off x="457200" y="1600200"/>
            <a:ext cx="6477000" cy="4525963"/>
          </a:xfrm>
        </p:spPr>
        <p:txBody>
          <a:bodyPr/>
          <a:lstStyle/>
          <a:p>
            <a:r>
              <a:rPr lang="en-US" sz="1800" i="1" dirty="0" smtClean="0">
                <a:solidFill>
                  <a:srgbClr val="C00000"/>
                </a:solidFill>
              </a:rPr>
              <a:t>Withdraw/Avoid.</a:t>
            </a:r>
            <a:r>
              <a:rPr lang="en-US" sz="1800" dirty="0" smtClean="0"/>
              <a:t> One of the parties gets up and leaves and refuses to discuss the conflict. When parties withdraw or avoid, they </a:t>
            </a:r>
            <a:r>
              <a:rPr lang="en-US" sz="1800" u="sng" dirty="0" smtClean="0"/>
              <a:t>never reach resolution</a:t>
            </a:r>
            <a:r>
              <a:rPr lang="en-US" sz="1800" dirty="0" smtClean="0"/>
              <a:t>.</a:t>
            </a:r>
          </a:p>
          <a:p>
            <a:r>
              <a:rPr lang="en-US" sz="1800" i="1" dirty="0" smtClean="0">
                <a:solidFill>
                  <a:srgbClr val="C00000"/>
                </a:solidFill>
              </a:rPr>
              <a:t>Smooth/Accommodate</a:t>
            </a:r>
            <a:r>
              <a:rPr lang="en-US" sz="1800" dirty="0" smtClean="0"/>
              <a:t>. The areas of agreement are emphasized over the areas of difference. Someone attempts to make the conflict </a:t>
            </a:r>
            <a:r>
              <a:rPr lang="en-US" sz="1800" u="sng" dirty="0" smtClean="0"/>
              <a:t>appear less important than it is</a:t>
            </a:r>
            <a:r>
              <a:rPr lang="en-US" sz="1800" dirty="0" smtClean="0"/>
              <a:t>. The smooth or accommodate technique does not lead to a permanent solution.</a:t>
            </a:r>
          </a:p>
          <a:p>
            <a:r>
              <a:rPr lang="en-US" sz="1800" i="1" dirty="0" smtClean="0">
                <a:solidFill>
                  <a:srgbClr val="C00000"/>
                </a:solidFill>
              </a:rPr>
              <a:t>Force/Direct</a:t>
            </a:r>
            <a:r>
              <a:rPr lang="en-US" sz="1800" dirty="0" smtClean="0"/>
              <a:t>. One person forces a solution on the other parties. Although this is a </a:t>
            </a:r>
            <a:r>
              <a:rPr lang="en-US" sz="1800" u="sng" dirty="0" smtClean="0"/>
              <a:t>permanent solution</a:t>
            </a:r>
            <a:r>
              <a:rPr lang="en-US" sz="1800" dirty="0" smtClean="0"/>
              <a:t>, it isn't necessarily the best solution.</a:t>
            </a:r>
          </a:p>
          <a:p>
            <a:r>
              <a:rPr lang="en-US" sz="1800" i="1" dirty="0" smtClean="0">
                <a:solidFill>
                  <a:srgbClr val="C00000"/>
                </a:solidFill>
              </a:rPr>
              <a:t>Compromise/Reconcile.</a:t>
            </a:r>
            <a:r>
              <a:rPr lang="en-US" sz="1800" dirty="0" smtClean="0"/>
              <a:t> Each of the parties involved in the conflict </a:t>
            </a:r>
            <a:r>
              <a:rPr lang="en-US" sz="1800" u="sng" dirty="0" smtClean="0"/>
              <a:t>gives up something</a:t>
            </a:r>
            <a:r>
              <a:rPr lang="en-US" sz="1800" dirty="0" smtClean="0"/>
              <a:t> to reach a solution.</a:t>
            </a:r>
          </a:p>
          <a:p>
            <a:r>
              <a:rPr lang="en-US" sz="1800" i="1" dirty="0" smtClean="0">
                <a:solidFill>
                  <a:srgbClr val="C00000"/>
                </a:solidFill>
              </a:rPr>
              <a:t>Collaborate/Problem Solve</a:t>
            </a:r>
            <a:r>
              <a:rPr lang="en-US" sz="1800" dirty="0" smtClean="0"/>
              <a:t>. A </a:t>
            </a:r>
            <a:r>
              <a:rPr lang="en-US" sz="1800" u="sng" dirty="0" smtClean="0"/>
              <a:t>fact-finding</a:t>
            </a:r>
            <a:r>
              <a:rPr lang="en-US" sz="1800" dirty="0" smtClean="0"/>
              <a:t> mission. Once the facts are uncovered, they're presented to the parties and the decision will be clear. Collaborating will lead to true consensus.</a:t>
            </a:r>
          </a:p>
        </p:txBody>
      </p:sp>
      <p:pic>
        <p:nvPicPr>
          <p:cNvPr id="96258" name="Picture 2" descr="http://ontargettalent.com/wp-content/uploads/2016/12/conflict.jpg?f2429b"/>
          <p:cNvPicPr>
            <a:picLocks noChangeAspect="1" noChangeArrowheads="1"/>
          </p:cNvPicPr>
          <p:nvPr/>
        </p:nvPicPr>
        <p:blipFill>
          <a:blip r:embed="rId2" cstate="print"/>
          <a:srcRect/>
          <a:stretch>
            <a:fillRect/>
          </a:stretch>
        </p:blipFill>
        <p:spPr bwMode="auto">
          <a:xfrm>
            <a:off x="6916737" y="2667001"/>
            <a:ext cx="1770063" cy="1793875"/>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Division of Responsibilities and Value Conflicts</a:t>
            </a:r>
            <a:endParaRPr lang="en-US" sz="3800" dirty="0"/>
          </a:p>
        </p:txBody>
      </p:sp>
      <p:sp>
        <p:nvSpPr>
          <p:cNvPr id="3" name="Content Placeholder 2"/>
          <p:cNvSpPr>
            <a:spLocks noGrp="1"/>
          </p:cNvSpPr>
          <p:nvPr>
            <p:ph idx="1"/>
          </p:nvPr>
        </p:nvSpPr>
        <p:spPr/>
        <p:txBody>
          <a:bodyPr/>
          <a:lstStyle/>
          <a:p>
            <a:r>
              <a:rPr lang="en-US" sz="2400" dirty="0" smtClean="0"/>
              <a:t>Between 2 members.</a:t>
            </a:r>
          </a:p>
          <a:p>
            <a:r>
              <a:rPr lang="en-US" sz="2400" dirty="0" smtClean="0"/>
              <a:t>Among groups.</a:t>
            </a:r>
            <a:endParaRPr lang="en-US" sz="2400" dirty="0"/>
          </a:p>
        </p:txBody>
      </p:sp>
      <p:pic>
        <p:nvPicPr>
          <p:cNvPr id="4" name="Picture 2" descr="https://www.bamboohr.com/blog/wp-content/uploads/conflict-resolution-in-the-workplace700x525-1.png"/>
          <p:cNvPicPr>
            <a:picLocks noChangeAspect="1" noChangeArrowheads="1"/>
          </p:cNvPicPr>
          <p:nvPr/>
        </p:nvPicPr>
        <p:blipFill>
          <a:blip r:embed="rId2" cstate="print"/>
          <a:srcRect/>
          <a:stretch>
            <a:fillRect/>
          </a:stretch>
        </p:blipFill>
        <p:spPr bwMode="auto">
          <a:xfrm>
            <a:off x="3048000" y="3226752"/>
            <a:ext cx="3113723" cy="2335848"/>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Members' Conflict</a:t>
            </a:r>
            <a:endParaRPr lang="en-US" sz="3800" dirty="0"/>
          </a:p>
        </p:txBody>
      </p:sp>
      <p:sp>
        <p:nvSpPr>
          <p:cNvPr id="3" name="Content Placeholder 2"/>
          <p:cNvSpPr>
            <a:spLocks noGrp="1"/>
          </p:cNvSpPr>
          <p:nvPr>
            <p:ph idx="1"/>
          </p:nvPr>
        </p:nvSpPr>
        <p:spPr/>
        <p:txBody>
          <a:bodyPr/>
          <a:lstStyle/>
          <a:p>
            <a:r>
              <a:rPr lang="en-US" sz="2200" dirty="0" smtClean="0"/>
              <a:t>Conduct </a:t>
            </a:r>
            <a:r>
              <a:rPr lang="en-US" sz="2200" i="1" dirty="0" smtClean="0">
                <a:solidFill>
                  <a:srgbClr val="C00000"/>
                </a:solidFill>
              </a:rPr>
              <a:t>one-to-one meetings</a:t>
            </a:r>
            <a:r>
              <a:rPr lang="en-US" sz="2200" dirty="0" smtClean="0"/>
              <a:t> with each party.</a:t>
            </a:r>
          </a:p>
          <a:p>
            <a:r>
              <a:rPr lang="en-US" sz="2200" dirty="0" smtClean="0"/>
              <a:t>Review the </a:t>
            </a:r>
            <a:r>
              <a:rPr lang="en-US" sz="2200" i="1" dirty="0" smtClean="0">
                <a:solidFill>
                  <a:srgbClr val="C00000"/>
                </a:solidFill>
              </a:rPr>
              <a:t>goals</a:t>
            </a:r>
            <a:r>
              <a:rPr lang="en-US" sz="2200" dirty="0" smtClean="0"/>
              <a:t>, </a:t>
            </a:r>
            <a:r>
              <a:rPr lang="en-US" sz="2200" i="1" dirty="0" smtClean="0">
                <a:solidFill>
                  <a:srgbClr val="C00000"/>
                </a:solidFill>
              </a:rPr>
              <a:t>commitments</a:t>
            </a:r>
            <a:r>
              <a:rPr lang="en-US" sz="2200" dirty="0" smtClean="0"/>
              <a:t>, and </a:t>
            </a:r>
            <a:r>
              <a:rPr lang="en-US" sz="2200" i="1" u="sng" dirty="0" smtClean="0">
                <a:solidFill>
                  <a:srgbClr val="C00000"/>
                </a:solidFill>
              </a:rPr>
              <a:t>policies</a:t>
            </a:r>
            <a:r>
              <a:rPr lang="en-US" sz="2200" dirty="0" smtClean="0"/>
              <a:t>.</a:t>
            </a:r>
          </a:p>
          <a:p>
            <a:r>
              <a:rPr lang="en-US" sz="2200" dirty="0" smtClean="0"/>
              <a:t>Every one-on-one meeting should conclude with </a:t>
            </a:r>
            <a:r>
              <a:rPr lang="en-US" sz="2200" i="1" dirty="0" smtClean="0">
                <a:solidFill>
                  <a:srgbClr val="C00000"/>
                </a:solidFill>
              </a:rPr>
              <a:t>action items</a:t>
            </a:r>
            <a:r>
              <a:rPr lang="en-US" sz="2200" dirty="0" smtClean="0"/>
              <a:t>.</a:t>
            </a:r>
          </a:p>
          <a:p>
            <a:r>
              <a:rPr lang="en-US" sz="2200" dirty="0" smtClean="0"/>
              <a:t>All parties are held accountable for </a:t>
            </a:r>
            <a:r>
              <a:rPr lang="en-US" sz="2200" i="1" dirty="0" smtClean="0">
                <a:solidFill>
                  <a:srgbClr val="C00000"/>
                </a:solidFill>
              </a:rPr>
              <a:t>deliverables</a:t>
            </a:r>
            <a:r>
              <a:rPr lang="en-US" sz="2200" dirty="0" smtClean="0"/>
              <a:t>.</a:t>
            </a:r>
          </a:p>
          <a:p>
            <a:r>
              <a:rPr lang="en-US" sz="2200" dirty="0" smtClean="0"/>
              <a:t>If they aren't, ask </a:t>
            </a:r>
            <a:r>
              <a:rPr lang="en-US" sz="2200" i="1" dirty="0" smtClean="0">
                <a:solidFill>
                  <a:srgbClr val="C00000"/>
                </a:solidFill>
              </a:rPr>
              <a:t>what obstacles</a:t>
            </a:r>
            <a:r>
              <a:rPr lang="en-US" sz="2200" dirty="0" smtClean="0"/>
              <a:t> are </a:t>
            </a:r>
            <a:r>
              <a:rPr lang="en-US" sz="2200" u="sng" dirty="0" smtClean="0"/>
              <a:t>preventing action</a:t>
            </a:r>
            <a:r>
              <a:rPr lang="en-US" sz="2200" dirty="0" smtClean="0"/>
              <a:t> and try to help them resolve the issue.</a:t>
            </a:r>
            <a:endParaRPr lang="en-US" sz="2200" dirty="0"/>
          </a:p>
        </p:txBody>
      </p:sp>
      <p:sp>
        <p:nvSpPr>
          <p:cNvPr id="1028" name="AutoShape 4" descr="https://g.foolcdn.com/editorial/images/453899/man-and-women-meeting_gettyimages-512056034.jpg"/>
          <p:cNvSpPr>
            <a:spLocks noChangeAspect="1" noChangeArrowheads="1"/>
          </p:cNvSpPr>
          <p:nvPr/>
        </p:nvSpPr>
        <p:spPr bwMode="auto">
          <a:xfrm>
            <a:off x="155575" y="-2590800"/>
            <a:ext cx="11410950" cy="5400675"/>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https://g.foolcdn.com/editorial/images/453899/man-and-women-meeting_gettyimages-512056034.jpg"/>
          <p:cNvSpPr>
            <a:spLocks noChangeAspect="1" noChangeArrowheads="1"/>
          </p:cNvSpPr>
          <p:nvPr/>
        </p:nvSpPr>
        <p:spPr bwMode="auto">
          <a:xfrm>
            <a:off x="155575" y="-2590800"/>
            <a:ext cx="11410950" cy="5400675"/>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1" name="Picture 7"/>
          <p:cNvPicPr>
            <a:picLocks noChangeAspect="1" noChangeArrowheads="1"/>
          </p:cNvPicPr>
          <p:nvPr/>
        </p:nvPicPr>
        <p:blipFill>
          <a:blip r:embed="rId2" cstate="print"/>
          <a:srcRect/>
          <a:stretch>
            <a:fillRect/>
          </a:stretch>
        </p:blipFill>
        <p:spPr bwMode="auto">
          <a:xfrm>
            <a:off x="457200" y="4357757"/>
            <a:ext cx="3995591" cy="1890643"/>
          </a:xfrm>
          <a:prstGeom prst="rect">
            <a:avLst/>
          </a:prstGeom>
          <a:noFill/>
          <a:ln w="9525">
            <a:noFill/>
            <a:miter lim="800000"/>
            <a:headEnd/>
            <a:tailEnd/>
          </a:ln>
        </p:spPr>
      </p:pic>
      <p:pic>
        <p:nvPicPr>
          <p:cNvPr id="1033" name="Picture 9" descr="https://blog.thecenterforsalesstrategy.com/hubfs/How%20to%20Get%20Results%20in%20Individual%20Meetings%20with%20Your%20Salespeople.jpeg"/>
          <p:cNvPicPr>
            <a:picLocks noChangeAspect="1" noChangeArrowheads="1"/>
          </p:cNvPicPr>
          <p:nvPr/>
        </p:nvPicPr>
        <p:blipFill>
          <a:blip r:embed="rId3" cstate="print"/>
          <a:srcRect/>
          <a:stretch>
            <a:fillRect/>
          </a:stretch>
        </p:blipFill>
        <p:spPr bwMode="auto">
          <a:xfrm>
            <a:off x="4648200" y="4205357"/>
            <a:ext cx="4048125" cy="2025015"/>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Intergroup Conflicts</a:t>
            </a:r>
            <a:endParaRPr lang="en-US" dirty="0"/>
          </a:p>
        </p:txBody>
      </p:sp>
      <p:sp>
        <p:nvSpPr>
          <p:cNvPr id="3" name="Content Placeholder 2"/>
          <p:cNvSpPr>
            <a:spLocks noGrp="1"/>
          </p:cNvSpPr>
          <p:nvPr>
            <p:ph idx="1"/>
          </p:nvPr>
        </p:nvSpPr>
        <p:spPr/>
        <p:txBody>
          <a:bodyPr/>
          <a:lstStyle/>
          <a:p>
            <a:r>
              <a:rPr lang="en-US" sz="2200" dirty="0" smtClean="0"/>
              <a:t>Review the </a:t>
            </a:r>
            <a:r>
              <a:rPr lang="en-US" sz="2200" i="1" dirty="0" smtClean="0">
                <a:solidFill>
                  <a:srgbClr val="C00000"/>
                </a:solidFill>
              </a:rPr>
              <a:t>motivation</a:t>
            </a:r>
            <a:r>
              <a:rPr lang="en-US" sz="2200" dirty="0" smtClean="0"/>
              <a:t> and </a:t>
            </a:r>
            <a:r>
              <a:rPr lang="en-US" sz="2200" i="1" dirty="0" smtClean="0">
                <a:solidFill>
                  <a:srgbClr val="C00000"/>
                </a:solidFill>
              </a:rPr>
              <a:t>goals</a:t>
            </a:r>
            <a:r>
              <a:rPr lang="en-US" sz="2200" dirty="0" smtClean="0"/>
              <a:t> of each group.</a:t>
            </a:r>
          </a:p>
          <a:p>
            <a:r>
              <a:rPr lang="en-US" sz="2200" dirty="0" smtClean="0"/>
              <a:t>Review the </a:t>
            </a:r>
            <a:r>
              <a:rPr lang="en-US" sz="2200" i="1" u="sng" dirty="0" smtClean="0">
                <a:solidFill>
                  <a:srgbClr val="C00000"/>
                </a:solidFill>
              </a:rPr>
              <a:t>policies</a:t>
            </a:r>
            <a:r>
              <a:rPr lang="en-US" sz="2200" dirty="0" smtClean="0"/>
              <a:t> and </a:t>
            </a:r>
            <a:r>
              <a:rPr lang="en-US" sz="2200" i="1" dirty="0" smtClean="0">
                <a:solidFill>
                  <a:srgbClr val="C00000"/>
                </a:solidFill>
              </a:rPr>
              <a:t>rules</a:t>
            </a:r>
            <a:r>
              <a:rPr lang="en-US" sz="2200" dirty="0" smtClean="0"/>
              <a:t>.</a:t>
            </a:r>
          </a:p>
          <a:p>
            <a:r>
              <a:rPr lang="en-US" sz="2200" dirty="0" smtClean="0"/>
              <a:t>Review </a:t>
            </a:r>
            <a:r>
              <a:rPr lang="en-US" sz="2200" i="1" dirty="0" smtClean="0">
                <a:solidFill>
                  <a:srgbClr val="C00000"/>
                </a:solidFill>
              </a:rPr>
              <a:t>the bases of power</a:t>
            </a:r>
            <a:r>
              <a:rPr lang="en-US" sz="2200" dirty="0" smtClean="0"/>
              <a:t>: coercive power, legitimate power, reward power, referent power and expert power.</a:t>
            </a:r>
          </a:p>
          <a:p>
            <a:r>
              <a:rPr lang="en-US" sz="2200" dirty="0" smtClean="0"/>
              <a:t>Definition of </a:t>
            </a:r>
            <a:r>
              <a:rPr lang="en-US" sz="2200" i="1" dirty="0" smtClean="0">
                <a:solidFill>
                  <a:srgbClr val="C00000"/>
                </a:solidFill>
              </a:rPr>
              <a:t>justice</a:t>
            </a:r>
            <a:r>
              <a:rPr lang="en-US" sz="2200" dirty="0" smtClean="0"/>
              <a:t>, </a:t>
            </a:r>
            <a:r>
              <a:rPr lang="en-US" sz="2200" i="1" dirty="0" smtClean="0">
                <a:solidFill>
                  <a:srgbClr val="C00000"/>
                </a:solidFill>
              </a:rPr>
              <a:t>injustice</a:t>
            </a:r>
            <a:r>
              <a:rPr lang="en-US" sz="2200" dirty="0" smtClean="0"/>
              <a:t> and </a:t>
            </a:r>
            <a:r>
              <a:rPr lang="en-US" sz="2200" i="1" dirty="0" smtClean="0">
                <a:solidFill>
                  <a:srgbClr val="C00000"/>
                </a:solidFill>
              </a:rPr>
              <a:t>life meaning</a:t>
            </a:r>
            <a:r>
              <a:rPr lang="en-US" sz="2200" dirty="0" smtClean="0"/>
              <a:t>.</a:t>
            </a:r>
          </a:p>
        </p:txBody>
      </p:sp>
      <p:pic>
        <p:nvPicPr>
          <p:cNvPr id="1026" name="Picture 2" descr="https://chiefexecutive.net/wp-content/uploads/2018/07/AdobeStock_92141946-compressor-1024x675.jpeg"/>
          <p:cNvPicPr>
            <a:picLocks noChangeAspect="1" noChangeArrowheads="1"/>
          </p:cNvPicPr>
          <p:nvPr/>
        </p:nvPicPr>
        <p:blipFill>
          <a:blip r:embed="rId2" cstate="print"/>
          <a:srcRect/>
          <a:stretch>
            <a:fillRect/>
          </a:stretch>
        </p:blipFill>
        <p:spPr bwMode="auto">
          <a:xfrm>
            <a:off x="3048000" y="3962400"/>
            <a:ext cx="3251200" cy="2143125"/>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Reasoned Discussions and Explanations</a:t>
            </a: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2540000" y="2549525"/>
            <a:ext cx="4064000" cy="2708275"/>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Struggle for Recognition</a:t>
            </a:r>
            <a:endParaRPr lang="en-US" dirty="0"/>
          </a:p>
        </p:txBody>
      </p:sp>
      <p:pic>
        <p:nvPicPr>
          <p:cNvPr id="136194" name="Picture 2" descr="https://m.media-amazon.com/images/I/81mc3gNufBL._AC_UF1000,1000_QL80_.jpg"/>
          <p:cNvPicPr>
            <a:picLocks noChangeAspect="1" noChangeArrowheads="1"/>
          </p:cNvPicPr>
          <p:nvPr/>
        </p:nvPicPr>
        <p:blipFill>
          <a:blip r:embed="rId2" cstate="print"/>
          <a:srcRect/>
          <a:stretch>
            <a:fillRect/>
          </a:stretch>
        </p:blipFill>
        <p:spPr bwMode="auto">
          <a:xfrm>
            <a:off x="990600" y="1981200"/>
            <a:ext cx="2526030" cy="3810000"/>
          </a:xfrm>
          <a:prstGeom prst="rect">
            <a:avLst/>
          </a:prstGeom>
          <a:noFill/>
        </p:spPr>
      </p:pic>
      <p:pic>
        <p:nvPicPr>
          <p:cNvPr id="136196" name="Picture 4" descr="https://medicfootprints.com.my/wp-content/uploads/2023/01/Respect.jpg"/>
          <p:cNvPicPr>
            <a:picLocks noChangeAspect="1" noChangeArrowheads="1"/>
          </p:cNvPicPr>
          <p:nvPr/>
        </p:nvPicPr>
        <p:blipFill>
          <a:blip r:embed="rId3" cstate="print"/>
          <a:srcRect/>
          <a:stretch>
            <a:fillRect/>
          </a:stretch>
        </p:blipFill>
        <p:spPr bwMode="auto">
          <a:xfrm>
            <a:off x="3810000" y="2286000"/>
            <a:ext cx="4534215" cy="3205690"/>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Productivity: Discussion Questions</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sz="2200" dirty="0" smtClean="0"/>
              <a:t>What is the Spanish theory?</a:t>
            </a:r>
          </a:p>
          <a:p>
            <a:pPr marL="514350" indent="-514350">
              <a:buFont typeface="+mj-lt"/>
              <a:buAutoNum type="arabicPeriod"/>
            </a:pPr>
            <a:r>
              <a:rPr lang="en-US" sz="2200" dirty="0" smtClean="0"/>
              <a:t>Overtime agreement?</a:t>
            </a:r>
          </a:p>
          <a:p>
            <a:pPr marL="514350" indent="-514350">
              <a:buFont typeface="+mj-lt"/>
              <a:buAutoNum type="arabicPeriod"/>
            </a:pPr>
            <a:r>
              <a:rPr lang="en-US" sz="2200" dirty="0" smtClean="0"/>
              <a:t>What is the English theory?</a:t>
            </a:r>
          </a:p>
          <a:p>
            <a:pPr marL="514350" indent="-514350">
              <a:buFont typeface="+mj-lt"/>
              <a:buAutoNum type="arabicPeriod"/>
            </a:pPr>
            <a:r>
              <a:rPr lang="en-US" sz="2200" dirty="0" smtClean="0"/>
              <a:t>Tools used for improving productivity?</a:t>
            </a:r>
          </a:p>
          <a:p>
            <a:pPr marL="514350" indent="-514350">
              <a:buFont typeface="+mj-lt"/>
              <a:buAutoNum type="arabicPeriod"/>
            </a:pPr>
            <a:endParaRPr lang="en-US" sz="2200" dirty="0" smtClean="0"/>
          </a:p>
        </p:txBody>
      </p:sp>
      <p:pic>
        <p:nvPicPr>
          <p:cNvPr id="1026" name="Picture 2"/>
          <p:cNvPicPr>
            <a:picLocks noChangeAspect="1" noChangeArrowheads="1"/>
          </p:cNvPicPr>
          <p:nvPr/>
        </p:nvPicPr>
        <p:blipFill>
          <a:blip r:embed="rId2" cstate="print"/>
          <a:srcRect/>
          <a:stretch>
            <a:fillRect/>
          </a:stretch>
        </p:blipFill>
        <p:spPr bwMode="auto">
          <a:xfrm>
            <a:off x="2895600" y="4418119"/>
            <a:ext cx="3046761" cy="1982681"/>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How to Increase </a:t>
            </a:r>
            <a:r>
              <a:rPr lang="en-US" sz="4200" smtClean="0"/>
              <a:t>Team Productivity</a:t>
            </a:r>
            <a:endParaRPr lang="en-US" sz="4200" dirty="0"/>
          </a:p>
        </p:txBody>
      </p:sp>
      <p:sp>
        <p:nvSpPr>
          <p:cNvPr id="3" name="Content Placeholder 2"/>
          <p:cNvSpPr>
            <a:spLocks noGrp="1"/>
          </p:cNvSpPr>
          <p:nvPr>
            <p:ph idx="1"/>
          </p:nvPr>
        </p:nvSpPr>
        <p:spPr>
          <a:xfrm>
            <a:off x="457200" y="1600201"/>
            <a:ext cx="4648200" cy="4724399"/>
          </a:xfrm>
        </p:spPr>
        <p:txBody>
          <a:bodyPr/>
          <a:lstStyle/>
          <a:p>
            <a:r>
              <a:rPr lang="en-US" sz="2400" dirty="0" smtClean="0"/>
              <a:t>Productivity ought to mean </a:t>
            </a:r>
            <a:r>
              <a:rPr lang="en-US" sz="2400" i="1" dirty="0" smtClean="0">
                <a:solidFill>
                  <a:srgbClr val="C00000"/>
                </a:solidFill>
              </a:rPr>
              <a:t>achieving more</a:t>
            </a:r>
            <a:r>
              <a:rPr lang="en-US" sz="2400" dirty="0" smtClean="0"/>
              <a:t> in an </a:t>
            </a:r>
            <a:r>
              <a:rPr lang="en-US" sz="2400" u="sng" dirty="0" smtClean="0"/>
              <a:t>hour of work</a:t>
            </a:r>
            <a:r>
              <a:rPr lang="en-US" sz="2400" dirty="0" smtClean="0"/>
              <a:t>, but all too often it has come to mean </a:t>
            </a:r>
            <a:r>
              <a:rPr lang="en-US" sz="2400" i="1" dirty="0" smtClean="0">
                <a:solidFill>
                  <a:srgbClr val="C00000"/>
                </a:solidFill>
              </a:rPr>
              <a:t>extracting more</a:t>
            </a:r>
            <a:r>
              <a:rPr lang="en-US" sz="2400" dirty="0" smtClean="0"/>
              <a:t> for an </a:t>
            </a:r>
            <a:r>
              <a:rPr lang="en-US" sz="2400" u="sng" dirty="0" smtClean="0"/>
              <a:t>hour of pay</a:t>
            </a:r>
            <a:r>
              <a:rPr lang="en-US" sz="2400" dirty="0" smtClean="0"/>
              <a:t>.</a:t>
            </a:r>
          </a:p>
          <a:p>
            <a:r>
              <a:rPr lang="en-US" sz="2400" dirty="0" smtClean="0"/>
              <a:t>The </a:t>
            </a:r>
            <a:r>
              <a:rPr lang="en-US" sz="2400" i="1" dirty="0" smtClean="0">
                <a:solidFill>
                  <a:srgbClr val="C00000"/>
                </a:solidFill>
              </a:rPr>
              <a:t>Spanish Theory</a:t>
            </a:r>
            <a:r>
              <a:rPr lang="en-US" sz="2400" dirty="0" smtClean="0"/>
              <a:t>: only a fixed amount of value existed on earth, and therefore the path to the accumulation of wealth was to learn to extract it more efficiently </a:t>
            </a:r>
            <a:r>
              <a:rPr lang="en-US" sz="2400" u="sng" dirty="0" smtClean="0"/>
              <a:t>from the soil </a:t>
            </a:r>
            <a:r>
              <a:rPr lang="en-US" sz="2400" dirty="0" smtClean="0"/>
              <a:t>or </a:t>
            </a:r>
            <a:r>
              <a:rPr lang="en-US" sz="2400" u="sng" dirty="0" smtClean="0"/>
              <a:t>from people's backs</a:t>
            </a:r>
            <a:r>
              <a:rPr lang="en-US" sz="2400" dirty="0" smtClean="0"/>
              <a:t>.</a:t>
            </a:r>
          </a:p>
        </p:txBody>
      </p:sp>
      <p:pic>
        <p:nvPicPr>
          <p:cNvPr id="103426" name="Picture 2" descr="https://static01.nyt.com/images/2013/07/05/blogs/20130703-lens-sokol-slide-W3X7/20130703-lens-sokol-slide-W3X7-superJumbo.jpg"/>
          <p:cNvPicPr>
            <a:picLocks noChangeAspect="1" noChangeArrowheads="1"/>
          </p:cNvPicPr>
          <p:nvPr/>
        </p:nvPicPr>
        <p:blipFill>
          <a:blip r:embed="rId2" cstate="print"/>
          <a:srcRect/>
          <a:stretch>
            <a:fillRect/>
          </a:stretch>
        </p:blipFill>
        <p:spPr bwMode="auto">
          <a:xfrm>
            <a:off x="5105400" y="2133600"/>
            <a:ext cx="3540557" cy="3540557"/>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Overtime is Like Sprinting</a:t>
            </a:r>
            <a:endParaRPr lang="en-US" dirty="0"/>
          </a:p>
        </p:txBody>
      </p:sp>
      <p:sp>
        <p:nvSpPr>
          <p:cNvPr id="3" name="Content Placeholder 2"/>
          <p:cNvSpPr>
            <a:spLocks noGrp="1"/>
          </p:cNvSpPr>
          <p:nvPr>
            <p:ph idx="1"/>
          </p:nvPr>
        </p:nvSpPr>
        <p:spPr/>
        <p:txBody>
          <a:bodyPr/>
          <a:lstStyle/>
          <a:p>
            <a:r>
              <a:rPr lang="en-US" sz="2400" dirty="0" smtClean="0"/>
              <a:t>It makes some sense for the </a:t>
            </a:r>
            <a:r>
              <a:rPr lang="en-US" sz="2400" i="1" dirty="0" smtClean="0">
                <a:solidFill>
                  <a:srgbClr val="C00000"/>
                </a:solidFill>
              </a:rPr>
              <a:t>last hundred yards</a:t>
            </a:r>
            <a:r>
              <a:rPr lang="en-US" sz="2400" dirty="0" smtClean="0"/>
              <a:t> of the marathon for those with any energy left, but if you start sprinting in the </a:t>
            </a:r>
            <a:r>
              <a:rPr lang="en-US" sz="2400" u="sng" dirty="0" smtClean="0"/>
              <a:t>first mile</a:t>
            </a:r>
            <a:r>
              <a:rPr lang="en-US" sz="2400" dirty="0" smtClean="0"/>
              <a:t>, you're just wasting time.</a:t>
            </a:r>
          </a:p>
          <a:p>
            <a:endParaRPr lang="en-US" sz="2400" dirty="0"/>
          </a:p>
        </p:txBody>
      </p:sp>
      <p:pic>
        <p:nvPicPr>
          <p:cNvPr id="4" name="Picture 2" descr="https://coachtube.com/public/images/thumbs/very_big/Course/541279.26f8480ba1d81bb412d5705c7bd692f6.jpg"/>
          <p:cNvPicPr>
            <a:picLocks noChangeAspect="1" noChangeArrowheads="1"/>
          </p:cNvPicPr>
          <p:nvPr/>
        </p:nvPicPr>
        <p:blipFill>
          <a:blip r:embed="rId2" cstate="print"/>
          <a:srcRect/>
          <a:stretch>
            <a:fillRect/>
          </a:stretch>
        </p:blipFill>
        <p:spPr bwMode="auto">
          <a:xfrm>
            <a:off x="2362200" y="3581400"/>
            <a:ext cx="4572000" cy="2324100"/>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Force People Working Overtime</a:t>
            </a:r>
            <a:endParaRPr lang="en-US" dirty="0"/>
          </a:p>
        </p:txBody>
      </p:sp>
      <p:sp>
        <p:nvSpPr>
          <p:cNvPr id="3" name="Content Placeholder 2"/>
          <p:cNvSpPr>
            <a:spLocks noGrp="1"/>
          </p:cNvSpPr>
          <p:nvPr>
            <p:ph idx="1"/>
          </p:nvPr>
        </p:nvSpPr>
        <p:spPr>
          <a:xfrm>
            <a:off x="457200" y="1600201"/>
            <a:ext cx="8229600" cy="2743200"/>
          </a:xfrm>
        </p:spPr>
        <p:txBody>
          <a:bodyPr/>
          <a:lstStyle/>
          <a:p>
            <a:r>
              <a:rPr lang="en-US" sz="2200" dirty="0" smtClean="0"/>
              <a:t>Trying to get people to sprint too much can only result in </a:t>
            </a:r>
            <a:r>
              <a:rPr lang="en-US" sz="2200" i="1" dirty="0" smtClean="0">
                <a:solidFill>
                  <a:srgbClr val="C00000"/>
                </a:solidFill>
              </a:rPr>
              <a:t>loss of respect</a:t>
            </a:r>
            <a:r>
              <a:rPr lang="en-US" sz="2200" dirty="0" smtClean="0"/>
              <a:t> for the manager.</a:t>
            </a:r>
          </a:p>
          <a:p>
            <a:r>
              <a:rPr lang="en-US" sz="2200" dirty="0" smtClean="0"/>
              <a:t>The best workers take their </a:t>
            </a:r>
            <a:r>
              <a:rPr lang="en-US" sz="2200" i="1" dirty="0" smtClean="0">
                <a:solidFill>
                  <a:srgbClr val="C00000"/>
                </a:solidFill>
              </a:rPr>
              <a:t>compensatory</a:t>
            </a:r>
            <a:r>
              <a:rPr lang="en-US" sz="2200" dirty="0" smtClean="0"/>
              <a:t> under time when they can, and end up putting in forty hours of real work each week.</a:t>
            </a:r>
          </a:p>
          <a:p>
            <a:r>
              <a:rPr lang="en-US" sz="2200" dirty="0" smtClean="0"/>
              <a:t>People under time pressure </a:t>
            </a:r>
            <a:r>
              <a:rPr lang="en-US" sz="2200" i="1" dirty="0" smtClean="0">
                <a:solidFill>
                  <a:srgbClr val="C00000"/>
                </a:solidFill>
              </a:rPr>
              <a:t>don't work better</a:t>
            </a:r>
            <a:r>
              <a:rPr lang="en-US" sz="2200" dirty="0" smtClean="0"/>
              <a:t>; they just work faster.</a:t>
            </a:r>
          </a:p>
          <a:p>
            <a:r>
              <a:rPr lang="en-US" sz="2200" dirty="0" smtClean="0"/>
              <a:t>In order to work faster, they may have to </a:t>
            </a:r>
            <a:r>
              <a:rPr lang="en-US" sz="2200" i="1" dirty="0" smtClean="0">
                <a:solidFill>
                  <a:srgbClr val="C00000"/>
                </a:solidFill>
              </a:rPr>
              <a:t>sacrifice the quality</a:t>
            </a:r>
            <a:r>
              <a:rPr lang="en-US" sz="2200" dirty="0" smtClean="0"/>
              <a:t> of the product and their own job satisfaction.</a:t>
            </a:r>
          </a:p>
        </p:txBody>
      </p:sp>
      <p:pic>
        <p:nvPicPr>
          <p:cNvPr id="28675" name="Picture 3"/>
          <p:cNvPicPr>
            <a:picLocks noChangeAspect="1" noChangeArrowheads="1"/>
          </p:cNvPicPr>
          <p:nvPr/>
        </p:nvPicPr>
        <p:blipFill>
          <a:blip r:embed="rId2" cstate="print"/>
          <a:srcRect/>
          <a:stretch>
            <a:fillRect/>
          </a:stretch>
        </p:blipFill>
        <p:spPr bwMode="auto">
          <a:xfrm>
            <a:off x="4495800" y="4648200"/>
            <a:ext cx="2571750" cy="1714500"/>
          </a:xfrm>
          <a:prstGeom prst="rect">
            <a:avLst/>
          </a:prstGeom>
          <a:noFill/>
          <a:ln w="9525">
            <a:noFill/>
            <a:miter lim="800000"/>
            <a:headEnd/>
            <a:tailEnd/>
          </a:ln>
        </p:spPr>
      </p:pic>
      <p:sp>
        <p:nvSpPr>
          <p:cNvPr id="6" name="Rectangle 5"/>
          <p:cNvSpPr/>
          <p:nvPr/>
        </p:nvSpPr>
        <p:spPr>
          <a:xfrm>
            <a:off x="990600" y="4800600"/>
            <a:ext cx="3200400" cy="1446550"/>
          </a:xfrm>
          <a:prstGeom prst="rect">
            <a:avLst/>
          </a:prstGeom>
        </p:spPr>
        <p:txBody>
          <a:bodyPr wrap="square">
            <a:spAutoFit/>
          </a:bodyPr>
          <a:lstStyle/>
          <a:p>
            <a:pPr algn="r"/>
            <a:r>
              <a:rPr lang="en-US" sz="2200" b="1" dirty="0" smtClean="0">
                <a:latin typeface="+mj-lt"/>
              </a:rPr>
              <a:t>Overtime for salaried workers is a figment of the naive manager's imagination.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Vienna Waits for You</a:t>
            </a:r>
            <a:endParaRPr lang="en-US" dirty="0"/>
          </a:p>
        </p:txBody>
      </p:sp>
      <p:sp>
        <p:nvSpPr>
          <p:cNvPr id="3" name="Content Placeholder 2"/>
          <p:cNvSpPr>
            <a:spLocks noGrp="1"/>
          </p:cNvSpPr>
          <p:nvPr>
            <p:ph idx="1"/>
          </p:nvPr>
        </p:nvSpPr>
        <p:spPr>
          <a:xfrm>
            <a:off x="457200" y="1600200"/>
            <a:ext cx="8229600" cy="2133600"/>
          </a:xfrm>
        </p:spPr>
        <p:txBody>
          <a:bodyPr/>
          <a:lstStyle/>
          <a:p>
            <a:r>
              <a:rPr lang="en-US" sz="2400" strike="sngStrike" dirty="0" smtClean="0"/>
              <a:t>“Work </a:t>
            </a:r>
            <a:r>
              <a:rPr lang="en-US" sz="2400" i="1" strike="sngStrike" dirty="0" smtClean="0">
                <a:solidFill>
                  <a:srgbClr val="C00000"/>
                </a:solidFill>
              </a:rPr>
              <a:t>longer</a:t>
            </a:r>
            <a:r>
              <a:rPr lang="en-US" sz="2400" strike="sngStrike" dirty="0" smtClean="0"/>
              <a:t> and </a:t>
            </a:r>
            <a:r>
              <a:rPr lang="en-US" sz="2400" i="1" strike="sngStrike" dirty="0" smtClean="0">
                <a:solidFill>
                  <a:srgbClr val="C00000"/>
                </a:solidFill>
              </a:rPr>
              <a:t>harder</a:t>
            </a:r>
            <a:r>
              <a:rPr lang="en-US" sz="2400" strike="sngStrike" dirty="0" smtClean="0"/>
              <a:t>”</a:t>
            </a:r>
          </a:p>
          <a:p>
            <a:r>
              <a:rPr lang="en-US" sz="2400" dirty="0" smtClean="0"/>
              <a:t>Your people are very aware of the one </a:t>
            </a:r>
            <a:r>
              <a:rPr lang="en-US" sz="2400" i="1" dirty="0" smtClean="0">
                <a:solidFill>
                  <a:srgbClr val="C00000"/>
                </a:solidFill>
              </a:rPr>
              <a:t>short life</a:t>
            </a:r>
            <a:r>
              <a:rPr lang="en-US" sz="2400" dirty="0" smtClean="0"/>
              <a:t> that each person is allotted.</a:t>
            </a:r>
          </a:p>
          <a:p>
            <a:r>
              <a:rPr lang="en-US" sz="2400" dirty="0" smtClean="0"/>
              <a:t>And they know too well that there has got to be something more important than the </a:t>
            </a:r>
            <a:r>
              <a:rPr lang="en-US" sz="2400" i="1" dirty="0" smtClean="0">
                <a:solidFill>
                  <a:srgbClr val="C00000"/>
                </a:solidFill>
              </a:rPr>
              <a:t>silly job</a:t>
            </a:r>
            <a:r>
              <a:rPr lang="en-US" sz="2400" dirty="0" smtClean="0"/>
              <a:t> they're working on.</a:t>
            </a:r>
          </a:p>
        </p:txBody>
      </p:sp>
      <p:pic>
        <p:nvPicPr>
          <p:cNvPr id="5" name="Picture 2" descr="https://www.braintreepayments.com/blog/content/images/blog/coders.jpg"/>
          <p:cNvPicPr>
            <a:picLocks noChangeAspect="1" noChangeArrowheads="1"/>
          </p:cNvPicPr>
          <p:nvPr/>
        </p:nvPicPr>
        <p:blipFill>
          <a:blip r:embed="rId2" cstate="print"/>
          <a:srcRect/>
          <a:stretch>
            <a:fillRect/>
          </a:stretch>
        </p:blipFill>
        <p:spPr bwMode="auto">
          <a:xfrm>
            <a:off x="914400" y="3962400"/>
            <a:ext cx="3810000" cy="2540000"/>
          </a:xfrm>
          <a:prstGeom prst="rect">
            <a:avLst/>
          </a:prstGeom>
          <a:noFill/>
        </p:spPr>
      </p:pic>
      <p:pic>
        <p:nvPicPr>
          <p:cNvPr id="104452" name="Picture 4" descr="https://ak1.picdn.net/shutterstock/videos/3775241/thumb/1.jpg?i10c=img.resize(height:160)"/>
          <p:cNvPicPr>
            <a:picLocks noChangeAspect="1" noChangeArrowheads="1"/>
          </p:cNvPicPr>
          <p:nvPr/>
        </p:nvPicPr>
        <p:blipFill>
          <a:blip r:embed="rId3" cstate="print"/>
          <a:srcRect/>
          <a:stretch>
            <a:fillRect/>
          </a:stretch>
        </p:blipFill>
        <p:spPr bwMode="auto">
          <a:xfrm>
            <a:off x="5105400" y="4267200"/>
            <a:ext cx="3246120" cy="1828800"/>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English Theory</a:t>
            </a:r>
            <a:endParaRPr lang="en-US" dirty="0"/>
          </a:p>
        </p:txBody>
      </p:sp>
      <p:sp>
        <p:nvSpPr>
          <p:cNvPr id="3" name="Content Placeholder 2"/>
          <p:cNvSpPr>
            <a:spLocks noGrp="1"/>
          </p:cNvSpPr>
          <p:nvPr>
            <p:ph idx="1"/>
          </p:nvPr>
        </p:nvSpPr>
        <p:spPr/>
        <p:txBody>
          <a:bodyPr/>
          <a:lstStyle/>
          <a:p>
            <a:r>
              <a:rPr lang="en-US" sz="2400" dirty="0" smtClean="0"/>
              <a:t>Value could be created through </a:t>
            </a:r>
            <a:r>
              <a:rPr lang="en-US" sz="2400" i="1" dirty="0" smtClean="0">
                <a:solidFill>
                  <a:srgbClr val="C00000"/>
                </a:solidFill>
              </a:rPr>
              <a:t>ingenuity</a:t>
            </a:r>
            <a:r>
              <a:rPr lang="en-US" sz="2400" dirty="0" smtClean="0"/>
              <a:t> and </a:t>
            </a:r>
            <a:r>
              <a:rPr lang="en-US" sz="2400" i="1" dirty="0" smtClean="0">
                <a:solidFill>
                  <a:srgbClr val="C00000"/>
                </a:solidFill>
              </a:rPr>
              <a:t>technology</a:t>
            </a:r>
            <a:r>
              <a:rPr lang="en-US" sz="2400" dirty="0" smtClean="0"/>
              <a:t>.</a:t>
            </a:r>
            <a:endParaRPr lang="en-US" sz="2400" dirty="0"/>
          </a:p>
        </p:txBody>
      </p:sp>
      <p:pic>
        <p:nvPicPr>
          <p:cNvPr id="108546" name="Picture 2" descr="http://s3-ap-south-1.amazonaws.com/startupuploads/wp-content/uploads/2016/12/13224828/Capture11.png"/>
          <p:cNvPicPr>
            <a:picLocks noChangeAspect="1" noChangeArrowheads="1"/>
          </p:cNvPicPr>
          <p:nvPr/>
        </p:nvPicPr>
        <p:blipFill>
          <a:blip r:embed="rId2" cstate="print"/>
          <a:srcRect/>
          <a:stretch>
            <a:fillRect/>
          </a:stretch>
        </p:blipFill>
        <p:spPr bwMode="auto">
          <a:xfrm>
            <a:off x="2209800" y="3124200"/>
            <a:ext cx="4419827" cy="2159111"/>
          </a:xfrm>
          <a:prstGeom prst="rect">
            <a:avLst/>
          </a:prstGeom>
          <a:noFill/>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 Discussion Questions</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sz="2400" dirty="0" smtClean="0"/>
              <a:t>What is Maslow's hierarchy of needs?</a:t>
            </a:r>
          </a:p>
          <a:p>
            <a:pPr marL="514350" indent="-514350">
              <a:buFont typeface="+mj-lt"/>
              <a:buAutoNum type="arabicPeriod"/>
            </a:pPr>
            <a:r>
              <a:rPr lang="en-US" sz="2400" dirty="0" smtClean="0"/>
              <a:t>Why learn about Maslow's hierarchy of needs?</a:t>
            </a:r>
          </a:p>
          <a:p>
            <a:pPr marL="514350" indent="-514350">
              <a:buFont typeface="+mj-lt"/>
              <a:buAutoNum type="arabicPeriod"/>
            </a:pPr>
            <a:r>
              <a:rPr lang="en-US" sz="2400" dirty="0" smtClean="0"/>
              <a:t>Benefits agreement? Learning opportunities? Career path?</a:t>
            </a:r>
          </a:p>
          <a:p>
            <a:pPr marL="514350" indent="-514350">
              <a:buFont typeface="+mj-lt"/>
              <a:buAutoNum type="arabicPeriod"/>
            </a:pPr>
            <a:endParaRPr lang="en-US" sz="2400" dirty="0" smtClean="0"/>
          </a:p>
        </p:txBody>
      </p:sp>
      <p:pic>
        <p:nvPicPr>
          <p:cNvPr id="1026" name="Picture 2"/>
          <p:cNvPicPr>
            <a:picLocks noChangeAspect="1" noChangeArrowheads="1"/>
          </p:cNvPicPr>
          <p:nvPr/>
        </p:nvPicPr>
        <p:blipFill>
          <a:blip r:embed="rId2" cstate="print"/>
          <a:srcRect/>
          <a:stretch>
            <a:fillRect/>
          </a:stretch>
        </p:blipFill>
        <p:spPr bwMode="auto">
          <a:xfrm>
            <a:off x="2895600" y="4038600"/>
            <a:ext cx="3046761" cy="1982681"/>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Maslow's Hierarchy of Needs [8]</a:t>
            </a:r>
            <a:endParaRPr lang="en-US" dirty="0"/>
          </a:p>
        </p:txBody>
      </p:sp>
      <p:pic>
        <p:nvPicPr>
          <p:cNvPr id="1026" name="Picture 2"/>
          <p:cNvPicPr>
            <a:picLocks noChangeAspect="1" noChangeArrowheads="1"/>
          </p:cNvPicPr>
          <p:nvPr/>
        </p:nvPicPr>
        <p:blipFill>
          <a:blip r:embed="rId3" cstate="print"/>
          <a:srcRect/>
          <a:stretch>
            <a:fillRect/>
          </a:stretch>
        </p:blipFill>
        <p:spPr bwMode="auto">
          <a:xfrm>
            <a:off x="2271713" y="1724025"/>
            <a:ext cx="4600575" cy="3990975"/>
          </a:xfrm>
          <a:prstGeom prst="rect">
            <a:avLst/>
          </a:prstGeom>
          <a:noFill/>
          <a:ln w="9525">
            <a:noFill/>
            <a:miter lim="800000"/>
            <a:headEnd/>
            <a:tailEnd/>
          </a:ln>
        </p:spPr>
      </p:pic>
      <p:sp>
        <p:nvSpPr>
          <p:cNvPr id="5" name="TextBox 4"/>
          <p:cNvSpPr txBox="1"/>
          <p:nvPr/>
        </p:nvSpPr>
        <p:spPr>
          <a:xfrm>
            <a:off x="1219200" y="5486400"/>
            <a:ext cx="1223412" cy="769441"/>
          </a:xfrm>
          <a:prstGeom prst="rect">
            <a:avLst/>
          </a:prstGeom>
          <a:noFill/>
        </p:spPr>
        <p:txBody>
          <a:bodyPr wrap="none" rtlCol="0">
            <a:spAutoFit/>
          </a:bodyPr>
          <a:lstStyle/>
          <a:p>
            <a:r>
              <a:rPr lang="en-US" sz="2200" i="1" dirty="0" smtClean="0">
                <a:solidFill>
                  <a:srgbClr val="C00000"/>
                </a:solidFill>
                <a:latin typeface="+mj-lt"/>
              </a:rPr>
              <a:t>------------</a:t>
            </a:r>
          </a:p>
          <a:p>
            <a:r>
              <a:rPr lang="en-US" sz="2200" i="1" dirty="0" smtClean="0">
                <a:solidFill>
                  <a:srgbClr val="C00000"/>
                </a:solidFill>
                <a:latin typeface="+mj-lt"/>
              </a:rPr>
              <a:t>Dead</a:t>
            </a:r>
            <a:endParaRPr lang="en-US" sz="2200" i="1" dirty="0">
              <a:solidFill>
                <a:srgbClr val="C00000"/>
              </a:solidFill>
              <a:latin typeface="+mj-lt"/>
            </a:endParaRPr>
          </a:p>
        </p:txBody>
      </p:sp>
      <p:sp>
        <p:nvSpPr>
          <p:cNvPr id="7" name="TextBox 6"/>
          <p:cNvSpPr txBox="1"/>
          <p:nvPr/>
        </p:nvSpPr>
        <p:spPr>
          <a:xfrm>
            <a:off x="1219200" y="4953000"/>
            <a:ext cx="1483098" cy="769441"/>
          </a:xfrm>
          <a:prstGeom prst="rect">
            <a:avLst/>
          </a:prstGeom>
          <a:noFill/>
        </p:spPr>
        <p:txBody>
          <a:bodyPr wrap="none" rtlCol="0">
            <a:spAutoFit/>
          </a:bodyPr>
          <a:lstStyle/>
          <a:p>
            <a:r>
              <a:rPr lang="en-US" sz="2200" i="1" dirty="0" smtClean="0">
                <a:solidFill>
                  <a:srgbClr val="C00000"/>
                </a:solidFill>
                <a:latin typeface="+mj-lt"/>
              </a:rPr>
              <a:t>---------------</a:t>
            </a:r>
          </a:p>
          <a:p>
            <a:r>
              <a:rPr lang="en-US" sz="2200" i="1" dirty="0" smtClean="0">
                <a:solidFill>
                  <a:srgbClr val="C00000"/>
                </a:solidFill>
                <a:latin typeface="+mj-lt"/>
              </a:rPr>
              <a:t>Alive</a:t>
            </a:r>
            <a:endParaRPr lang="en-US" sz="2200" i="1" dirty="0">
              <a:solidFill>
                <a:srgbClr val="C00000"/>
              </a:solidFill>
              <a:latin typeface="+mj-lt"/>
            </a:endParaRPr>
          </a:p>
        </p:txBody>
      </p:sp>
      <p:sp>
        <p:nvSpPr>
          <p:cNvPr id="9" name="TextBox 8"/>
          <p:cNvSpPr txBox="1"/>
          <p:nvPr/>
        </p:nvSpPr>
        <p:spPr>
          <a:xfrm>
            <a:off x="1219200" y="4488359"/>
            <a:ext cx="1742785" cy="769441"/>
          </a:xfrm>
          <a:prstGeom prst="rect">
            <a:avLst/>
          </a:prstGeom>
          <a:noFill/>
        </p:spPr>
        <p:txBody>
          <a:bodyPr wrap="none" rtlCol="0">
            <a:spAutoFit/>
          </a:bodyPr>
          <a:lstStyle/>
          <a:p>
            <a:r>
              <a:rPr lang="en-US" sz="2200" i="1" dirty="0" smtClean="0">
                <a:solidFill>
                  <a:srgbClr val="C00000"/>
                </a:solidFill>
                <a:latin typeface="+mj-lt"/>
              </a:rPr>
              <a:t>------------------</a:t>
            </a:r>
          </a:p>
          <a:p>
            <a:r>
              <a:rPr lang="en-US" sz="2200" i="1" dirty="0" smtClean="0">
                <a:solidFill>
                  <a:srgbClr val="C00000"/>
                </a:solidFill>
                <a:latin typeface="+mj-lt"/>
              </a:rPr>
              <a:t>Survive</a:t>
            </a:r>
            <a:endParaRPr lang="en-US" sz="2200" i="1" dirty="0">
              <a:solidFill>
                <a:srgbClr val="C00000"/>
              </a:solidFill>
              <a:latin typeface="+mj-lt"/>
            </a:endParaRPr>
          </a:p>
        </p:txBody>
      </p:sp>
      <p:sp>
        <p:nvSpPr>
          <p:cNvPr id="10" name="TextBox 9"/>
          <p:cNvSpPr txBox="1"/>
          <p:nvPr/>
        </p:nvSpPr>
        <p:spPr>
          <a:xfrm>
            <a:off x="1219200" y="4114800"/>
            <a:ext cx="886781" cy="430887"/>
          </a:xfrm>
          <a:prstGeom prst="rect">
            <a:avLst/>
          </a:prstGeom>
          <a:noFill/>
        </p:spPr>
        <p:txBody>
          <a:bodyPr wrap="square" rtlCol="0">
            <a:spAutoFit/>
          </a:bodyPr>
          <a:lstStyle/>
          <a:p>
            <a:r>
              <a:rPr lang="en-US" sz="2200" i="1" dirty="0" smtClean="0">
                <a:solidFill>
                  <a:srgbClr val="C00000"/>
                </a:solidFill>
                <a:latin typeface="+mj-lt"/>
              </a:rPr>
              <a:t>Thrive</a:t>
            </a:r>
          </a:p>
        </p:txBody>
      </p:sp>
      <p:pic>
        <p:nvPicPr>
          <p:cNvPr id="1028" name="Picture 4" descr="http://whatscookingamerica.net/History/Hamburger2.jpg"/>
          <p:cNvPicPr>
            <a:picLocks noChangeAspect="1" noChangeArrowheads="1"/>
          </p:cNvPicPr>
          <p:nvPr/>
        </p:nvPicPr>
        <p:blipFill>
          <a:blip r:embed="rId4" cstate="print"/>
          <a:srcRect/>
          <a:stretch>
            <a:fillRect/>
          </a:stretch>
        </p:blipFill>
        <p:spPr bwMode="auto">
          <a:xfrm>
            <a:off x="7543800" y="5105400"/>
            <a:ext cx="609600" cy="606137"/>
          </a:xfrm>
          <a:prstGeom prst="rect">
            <a:avLst/>
          </a:prstGeom>
          <a:noFill/>
        </p:spPr>
      </p:pic>
      <p:pic>
        <p:nvPicPr>
          <p:cNvPr id="1029" name="Picture 5"/>
          <p:cNvPicPr>
            <a:picLocks noChangeAspect="1" noChangeArrowheads="1"/>
          </p:cNvPicPr>
          <p:nvPr/>
        </p:nvPicPr>
        <p:blipFill>
          <a:blip r:embed="rId5" cstate="print"/>
          <a:srcRect/>
          <a:stretch>
            <a:fillRect/>
          </a:stretch>
        </p:blipFill>
        <p:spPr bwMode="auto">
          <a:xfrm>
            <a:off x="6705600" y="4343400"/>
            <a:ext cx="609600" cy="775855"/>
          </a:xfrm>
          <a:prstGeom prst="rect">
            <a:avLst/>
          </a:prstGeom>
          <a:noFill/>
          <a:ln w="9525">
            <a:noFill/>
            <a:miter lim="800000"/>
            <a:headEnd/>
            <a:tailEnd/>
          </a:ln>
        </p:spPr>
      </p:pic>
      <p:pic>
        <p:nvPicPr>
          <p:cNvPr id="1030" name="Picture 6"/>
          <p:cNvPicPr>
            <a:picLocks noChangeAspect="1" noChangeArrowheads="1"/>
          </p:cNvPicPr>
          <p:nvPr/>
        </p:nvPicPr>
        <p:blipFill>
          <a:blip r:embed="rId6" cstate="print"/>
          <a:srcRect/>
          <a:stretch>
            <a:fillRect/>
          </a:stretch>
        </p:blipFill>
        <p:spPr bwMode="auto">
          <a:xfrm>
            <a:off x="6324600" y="4038600"/>
            <a:ext cx="457200" cy="609600"/>
          </a:xfrm>
          <a:prstGeom prst="rect">
            <a:avLst/>
          </a:prstGeom>
          <a:noFill/>
          <a:ln w="9525">
            <a:noFill/>
            <a:miter lim="800000"/>
            <a:headEnd/>
            <a:tailEnd/>
          </a:ln>
        </p:spPr>
      </p:pic>
      <p:pic>
        <p:nvPicPr>
          <p:cNvPr id="1031" name="Picture 7"/>
          <p:cNvPicPr>
            <a:picLocks noChangeAspect="1" noChangeArrowheads="1"/>
          </p:cNvPicPr>
          <p:nvPr/>
        </p:nvPicPr>
        <p:blipFill>
          <a:blip r:embed="rId7" cstate="print"/>
          <a:srcRect/>
          <a:stretch>
            <a:fillRect/>
          </a:stretch>
        </p:blipFill>
        <p:spPr bwMode="auto">
          <a:xfrm>
            <a:off x="2286000" y="3429000"/>
            <a:ext cx="733425" cy="628650"/>
          </a:xfrm>
          <a:prstGeom prst="rect">
            <a:avLst/>
          </a:prstGeom>
          <a:noFill/>
          <a:ln w="9525">
            <a:noFill/>
            <a:miter lim="800000"/>
            <a:headEnd/>
            <a:tailEnd/>
          </a:ln>
        </p:spPr>
      </p:pic>
      <p:pic>
        <p:nvPicPr>
          <p:cNvPr id="1032" name="Picture 8"/>
          <p:cNvPicPr>
            <a:picLocks noChangeAspect="1" noChangeArrowheads="1"/>
          </p:cNvPicPr>
          <p:nvPr/>
        </p:nvPicPr>
        <p:blipFill>
          <a:blip r:embed="rId8" cstate="print"/>
          <a:srcRect/>
          <a:stretch>
            <a:fillRect/>
          </a:stretch>
        </p:blipFill>
        <p:spPr bwMode="auto">
          <a:xfrm>
            <a:off x="2286000" y="2590800"/>
            <a:ext cx="904875" cy="676275"/>
          </a:xfrm>
          <a:prstGeom prst="rect">
            <a:avLst/>
          </a:prstGeom>
          <a:noFill/>
          <a:ln w="9525">
            <a:noFill/>
            <a:miter lim="800000"/>
            <a:headEnd/>
            <a:tailEnd/>
          </a:ln>
        </p:spPr>
      </p:pic>
      <p:sp>
        <p:nvSpPr>
          <p:cNvPr id="18" name="Rectangle 17"/>
          <p:cNvSpPr/>
          <p:nvPr/>
        </p:nvSpPr>
        <p:spPr>
          <a:xfrm>
            <a:off x="6172200" y="5867400"/>
            <a:ext cx="2667000" cy="646331"/>
          </a:xfrm>
          <a:prstGeom prst="rect">
            <a:avLst/>
          </a:prstGeom>
        </p:spPr>
        <p:txBody>
          <a:bodyPr wrap="square">
            <a:spAutoFit/>
          </a:bodyPr>
          <a:lstStyle/>
          <a:p>
            <a:pPr algn="ctr"/>
            <a:r>
              <a:rPr lang="en-US" dirty="0" smtClean="0">
                <a:latin typeface="+mj-lt"/>
              </a:rPr>
              <a:t>Necessary for life; unmet, these needs </a:t>
            </a:r>
            <a:r>
              <a:rPr lang="en-US" i="1" dirty="0" smtClean="0">
                <a:solidFill>
                  <a:srgbClr val="C00000"/>
                </a:solidFill>
                <a:latin typeface="+mj-lt"/>
              </a:rPr>
              <a:t>lead to death</a:t>
            </a:r>
            <a:endParaRPr lang="en-US" i="1" dirty="0">
              <a:solidFill>
                <a:srgbClr val="C00000"/>
              </a:solidFill>
              <a:latin typeface="+mj-lt"/>
            </a:endParaRPr>
          </a:p>
        </p:txBody>
      </p:sp>
      <p:sp>
        <p:nvSpPr>
          <p:cNvPr id="19" name="Rectangle 18"/>
          <p:cNvSpPr/>
          <p:nvPr/>
        </p:nvSpPr>
        <p:spPr>
          <a:xfrm>
            <a:off x="7315200" y="4038600"/>
            <a:ext cx="1600200" cy="923330"/>
          </a:xfrm>
          <a:prstGeom prst="rect">
            <a:avLst/>
          </a:prstGeom>
        </p:spPr>
        <p:txBody>
          <a:bodyPr wrap="square">
            <a:spAutoFit/>
          </a:bodyPr>
          <a:lstStyle/>
          <a:p>
            <a:r>
              <a:rPr lang="en-US" dirty="0" smtClean="0">
                <a:latin typeface="+mj-lt"/>
              </a:rPr>
              <a:t>Without these people will </a:t>
            </a:r>
            <a:r>
              <a:rPr lang="en-US" i="1" dirty="0" smtClean="0">
                <a:solidFill>
                  <a:srgbClr val="C00000"/>
                </a:solidFill>
                <a:latin typeface="+mj-lt"/>
              </a:rPr>
              <a:t>not act civilly</a:t>
            </a:r>
            <a:r>
              <a:rPr lang="en-US" dirty="0" smtClean="0">
                <a:latin typeface="+mj-lt"/>
              </a:rPr>
              <a:t>.</a:t>
            </a:r>
            <a:endParaRPr lang="en-US" dirty="0">
              <a:latin typeface="+mj-lt"/>
            </a:endParaRPr>
          </a:p>
        </p:txBody>
      </p:sp>
      <p:sp>
        <p:nvSpPr>
          <p:cNvPr id="20" name="Rectangle 19"/>
          <p:cNvSpPr/>
          <p:nvPr/>
        </p:nvSpPr>
        <p:spPr>
          <a:xfrm>
            <a:off x="5334000" y="1752600"/>
            <a:ext cx="3581400" cy="1200329"/>
          </a:xfrm>
          <a:prstGeom prst="rect">
            <a:avLst/>
          </a:prstGeom>
        </p:spPr>
        <p:txBody>
          <a:bodyPr wrap="square">
            <a:spAutoFit/>
          </a:bodyPr>
          <a:lstStyle/>
          <a:p>
            <a:r>
              <a:rPr lang="en-US" dirty="0" smtClean="0">
                <a:latin typeface="+mj-lt"/>
              </a:rPr>
              <a:t>Obtaining our full potential; becoming confident, eager to express our beliefs, and willing to reach out to others to help them</a:t>
            </a:r>
            <a:endParaRPr lang="en-US" dirty="0">
              <a:latin typeface="+mj-lt"/>
            </a:endParaRPr>
          </a:p>
        </p:txBody>
      </p:sp>
      <p:sp>
        <p:nvSpPr>
          <p:cNvPr id="21" name="Rectangle 20"/>
          <p:cNvSpPr/>
          <p:nvPr/>
        </p:nvSpPr>
        <p:spPr>
          <a:xfrm>
            <a:off x="381000" y="1676400"/>
            <a:ext cx="3505200" cy="923330"/>
          </a:xfrm>
          <a:prstGeom prst="rect">
            <a:avLst/>
          </a:prstGeom>
        </p:spPr>
        <p:txBody>
          <a:bodyPr wrap="square">
            <a:spAutoFit/>
          </a:bodyPr>
          <a:lstStyle/>
          <a:p>
            <a:r>
              <a:rPr lang="en-US" dirty="0" smtClean="0">
                <a:latin typeface="+mj-lt"/>
              </a:rPr>
              <a:t>They can seek knowledge, peace, esthetic experiences, self-fulfillment, oneness with God, etc.</a:t>
            </a:r>
            <a:endParaRPr lang="en-US" dirty="0">
              <a:latin typeface="+mj-lt"/>
            </a:endParaRPr>
          </a:p>
        </p:txBody>
      </p:sp>
      <p:sp>
        <p:nvSpPr>
          <p:cNvPr id="22" name="Rectangle 21"/>
          <p:cNvSpPr/>
          <p:nvPr/>
        </p:nvSpPr>
        <p:spPr>
          <a:xfrm>
            <a:off x="2819400" y="5867400"/>
            <a:ext cx="3200400" cy="523220"/>
          </a:xfrm>
          <a:prstGeom prst="rect">
            <a:avLst/>
          </a:prstGeom>
        </p:spPr>
        <p:txBody>
          <a:bodyPr wrap="square">
            <a:spAutoFit/>
          </a:bodyPr>
          <a:lstStyle/>
          <a:p>
            <a:r>
              <a:rPr lang="en-US" sz="2800" b="1" dirty="0" smtClean="0">
                <a:latin typeface="+mj-lt"/>
              </a:rPr>
              <a:t>Extrinsic Motivation</a:t>
            </a:r>
            <a:endParaRPr lang="en-US" sz="2800" b="1" i="1" dirty="0">
              <a:solidFill>
                <a:srgbClr val="C00000"/>
              </a:solidFill>
              <a:latin typeface="+mj-lt"/>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Carrot and Stick Approach [9]</a:t>
            </a:r>
            <a:endParaRPr lang="en-US" dirty="0"/>
          </a:p>
        </p:txBody>
      </p:sp>
      <p:sp>
        <p:nvSpPr>
          <p:cNvPr id="3" name="Content Placeholder 2"/>
          <p:cNvSpPr>
            <a:spLocks noGrp="1"/>
          </p:cNvSpPr>
          <p:nvPr>
            <p:ph idx="1"/>
          </p:nvPr>
        </p:nvSpPr>
        <p:spPr/>
        <p:txBody>
          <a:bodyPr/>
          <a:lstStyle/>
          <a:p>
            <a:r>
              <a:rPr lang="en-US" sz="2400" dirty="0" smtClean="0"/>
              <a:t>The means for </a:t>
            </a:r>
            <a:r>
              <a:rPr lang="en-US" sz="2400" i="1" dirty="0" smtClean="0">
                <a:solidFill>
                  <a:srgbClr val="C00000"/>
                </a:solidFill>
              </a:rPr>
              <a:t>satisfying man's physiological</a:t>
            </a:r>
            <a:r>
              <a:rPr lang="en-US" sz="2400" dirty="0" smtClean="0"/>
              <a:t> and (within limits) his </a:t>
            </a:r>
            <a:r>
              <a:rPr lang="en-US" sz="2400" i="1" dirty="0" smtClean="0">
                <a:solidFill>
                  <a:srgbClr val="C00000"/>
                </a:solidFill>
              </a:rPr>
              <a:t>safety needs</a:t>
            </a:r>
            <a:r>
              <a:rPr lang="en-US" sz="2400" dirty="0" smtClean="0"/>
              <a:t> can be provided or withheld by management.</a:t>
            </a:r>
          </a:p>
          <a:p>
            <a:r>
              <a:rPr lang="en-US" sz="2400" dirty="0" smtClean="0"/>
              <a:t>Employment itself is such a means, and so are wages, working conditions, and benefits. By these means the individual can be controlled so long as he is </a:t>
            </a:r>
            <a:r>
              <a:rPr lang="en-US" sz="2400" i="1" dirty="0" smtClean="0">
                <a:solidFill>
                  <a:srgbClr val="C00000"/>
                </a:solidFill>
              </a:rPr>
              <a:t>struggling for subsistence</a:t>
            </a:r>
            <a:r>
              <a:rPr lang="en-US" sz="2400" dirty="0" smtClean="0"/>
              <a:t>. Man </a:t>
            </a:r>
            <a:r>
              <a:rPr lang="en-US" sz="2400" i="1" dirty="0" smtClean="0">
                <a:solidFill>
                  <a:srgbClr val="C00000"/>
                </a:solidFill>
              </a:rPr>
              <a:t>lives for bread alone</a:t>
            </a:r>
            <a:r>
              <a:rPr lang="en-US" sz="2400" dirty="0" smtClean="0"/>
              <a:t> when there is </a:t>
            </a:r>
            <a:r>
              <a:rPr lang="en-US" sz="2400" u="sng" dirty="0" smtClean="0"/>
              <a:t>no bread</a:t>
            </a:r>
            <a:r>
              <a:rPr lang="en-US" sz="2400" dirty="0" smtClean="0"/>
              <a:t>.</a:t>
            </a:r>
          </a:p>
        </p:txBody>
      </p:sp>
      <p:pic>
        <p:nvPicPr>
          <p:cNvPr id="4" name="Picture 2"/>
          <p:cNvPicPr>
            <a:picLocks noChangeAspect="1" noChangeArrowheads="1"/>
          </p:cNvPicPr>
          <p:nvPr/>
        </p:nvPicPr>
        <p:blipFill>
          <a:blip r:embed="rId2" cstate="print"/>
          <a:srcRect/>
          <a:stretch>
            <a:fillRect/>
          </a:stretch>
        </p:blipFill>
        <p:spPr bwMode="auto">
          <a:xfrm>
            <a:off x="3429000" y="4572000"/>
            <a:ext cx="2476500" cy="1741170"/>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to Use?</a:t>
            </a:r>
            <a:endParaRPr lang="en-US" dirty="0"/>
          </a:p>
        </p:txBody>
      </p:sp>
      <p:sp>
        <p:nvSpPr>
          <p:cNvPr id="3" name="Content Placeholder 2"/>
          <p:cNvSpPr>
            <a:spLocks noGrp="1"/>
          </p:cNvSpPr>
          <p:nvPr>
            <p:ph idx="1"/>
          </p:nvPr>
        </p:nvSpPr>
        <p:spPr/>
        <p:txBody>
          <a:bodyPr/>
          <a:lstStyle/>
          <a:p>
            <a:r>
              <a:rPr lang="en-US" sz="2400" dirty="0" smtClean="0"/>
              <a:t>But the carrot and stick theory </a:t>
            </a:r>
            <a:r>
              <a:rPr lang="en-US" sz="2400" u="sng" dirty="0" smtClean="0"/>
              <a:t>does not work at all</a:t>
            </a:r>
            <a:r>
              <a:rPr lang="en-US" sz="2400" dirty="0" smtClean="0"/>
              <a:t> once man has reached an </a:t>
            </a:r>
            <a:r>
              <a:rPr lang="en-US" sz="2400" u="sng" dirty="0" smtClean="0"/>
              <a:t>adequate subsistence level</a:t>
            </a:r>
            <a:r>
              <a:rPr lang="en-US" sz="2400" dirty="0" smtClean="0"/>
              <a:t> and is motivated primarily by </a:t>
            </a:r>
            <a:r>
              <a:rPr lang="en-US" sz="2400" i="1" dirty="0" smtClean="0">
                <a:solidFill>
                  <a:srgbClr val="C00000"/>
                </a:solidFill>
              </a:rPr>
              <a:t>higher needs</a:t>
            </a:r>
            <a:r>
              <a:rPr lang="en-US" sz="2400" dirty="0" smtClean="0"/>
              <a:t>.</a:t>
            </a:r>
          </a:p>
          <a:p>
            <a:endParaRPr lang="en-US" sz="2400" dirty="0"/>
          </a:p>
        </p:txBody>
      </p:sp>
      <p:pic>
        <p:nvPicPr>
          <p:cNvPr id="1031" name="Picture 7" descr="https://www.jobcrusher.com/wp-content/uploads/dreamstime_s_99196572.jpg"/>
          <p:cNvPicPr>
            <a:picLocks noChangeAspect="1" noChangeArrowheads="1"/>
          </p:cNvPicPr>
          <p:nvPr/>
        </p:nvPicPr>
        <p:blipFill>
          <a:blip r:embed="rId3" cstate="print"/>
          <a:srcRect/>
          <a:stretch>
            <a:fillRect/>
          </a:stretch>
        </p:blipFill>
        <p:spPr bwMode="auto">
          <a:xfrm>
            <a:off x="2667000" y="3429000"/>
            <a:ext cx="3657600" cy="2491740"/>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Can You Do?</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271713" y="1724025"/>
            <a:ext cx="4600575" cy="3990975"/>
          </a:xfrm>
          <a:prstGeom prst="rect">
            <a:avLst/>
          </a:prstGeom>
          <a:noFill/>
          <a:ln w="9525">
            <a:noFill/>
            <a:miter lim="800000"/>
            <a:headEnd/>
            <a:tailEnd/>
          </a:ln>
        </p:spPr>
      </p:pic>
      <p:sp>
        <p:nvSpPr>
          <p:cNvPr id="5" name="TextBox 4"/>
          <p:cNvSpPr txBox="1"/>
          <p:nvPr/>
        </p:nvSpPr>
        <p:spPr>
          <a:xfrm>
            <a:off x="685800" y="5486400"/>
            <a:ext cx="2057400" cy="769441"/>
          </a:xfrm>
          <a:prstGeom prst="rect">
            <a:avLst/>
          </a:prstGeom>
          <a:noFill/>
        </p:spPr>
        <p:txBody>
          <a:bodyPr wrap="square" rtlCol="0">
            <a:spAutoFit/>
          </a:bodyPr>
          <a:lstStyle/>
          <a:p>
            <a:r>
              <a:rPr lang="en-US" sz="2200" i="1" dirty="0" smtClean="0">
                <a:solidFill>
                  <a:srgbClr val="C00000"/>
                </a:solidFill>
                <a:latin typeface="+mj-lt"/>
              </a:rPr>
              <a:t>------------------</a:t>
            </a:r>
          </a:p>
          <a:p>
            <a:r>
              <a:rPr lang="en-US" sz="2200" i="1" dirty="0" smtClean="0">
                <a:solidFill>
                  <a:srgbClr val="C00000"/>
                </a:solidFill>
                <a:latin typeface="+mj-lt"/>
              </a:rPr>
              <a:t>Nothing</a:t>
            </a:r>
            <a:endParaRPr lang="en-US" sz="2200" i="1" dirty="0">
              <a:solidFill>
                <a:srgbClr val="C00000"/>
              </a:solidFill>
              <a:latin typeface="+mj-lt"/>
            </a:endParaRPr>
          </a:p>
        </p:txBody>
      </p:sp>
      <p:sp>
        <p:nvSpPr>
          <p:cNvPr id="7" name="TextBox 6"/>
          <p:cNvSpPr txBox="1"/>
          <p:nvPr/>
        </p:nvSpPr>
        <p:spPr>
          <a:xfrm>
            <a:off x="685800" y="4953000"/>
            <a:ext cx="2133600" cy="769441"/>
          </a:xfrm>
          <a:prstGeom prst="rect">
            <a:avLst/>
          </a:prstGeom>
          <a:noFill/>
        </p:spPr>
        <p:txBody>
          <a:bodyPr wrap="square" rtlCol="0">
            <a:spAutoFit/>
          </a:bodyPr>
          <a:lstStyle/>
          <a:p>
            <a:r>
              <a:rPr lang="en-US" sz="2200" i="1" dirty="0" smtClean="0">
                <a:solidFill>
                  <a:srgbClr val="C00000"/>
                </a:solidFill>
                <a:latin typeface="+mj-lt"/>
              </a:rPr>
              <a:t>---------------------</a:t>
            </a:r>
          </a:p>
          <a:p>
            <a:r>
              <a:rPr lang="en-US" sz="2200" i="1" dirty="0" smtClean="0">
                <a:solidFill>
                  <a:srgbClr val="C00000"/>
                </a:solidFill>
                <a:latin typeface="+mj-lt"/>
              </a:rPr>
              <a:t>Company</a:t>
            </a:r>
            <a:endParaRPr lang="en-US" sz="2200" i="1" dirty="0">
              <a:solidFill>
                <a:srgbClr val="C00000"/>
              </a:solidFill>
              <a:latin typeface="+mj-lt"/>
            </a:endParaRPr>
          </a:p>
        </p:txBody>
      </p:sp>
      <p:sp>
        <p:nvSpPr>
          <p:cNvPr id="9" name="TextBox 8"/>
          <p:cNvSpPr txBox="1"/>
          <p:nvPr/>
        </p:nvSpPr>
        <p:spPr>
          <a:xfrm>
            <a:off x="685800" y="4488359"/>
            <a:ext cx="2743200" cy="769441"/>
          </a:xfrm>
          <a:prstGeom prst="rect">
            <a:avLst/>
          </a:prstGeom>
          <a:noFill/>
        </p:spPr>
        <p:txBody>
          <a:bodyPr wrap="square" rtlCol="0">
            <a:spAutoFit/>
          </a:bodyPr>
          <a:lstStyle/>
          <a:p>
            <a:r>
              <a:rPr lang="en-US" sz="2200" i="1" dirty="0" smtClean="0">
                <a:solidFill>
                  <a:srgbClr val="C00000"/>
                </a:solidFill>
                <a:latin typeface="+mj-lt"/>
              </a:rPr>
              <a:t>------------------------</a:t>
            </a:r>
          </a:p>
          <a:p>
            <a:r>
              <a:rPr lang="en-US" sz="2200" i="1" dirty="0" smtClean="0">
                <a:solidFill>
                  <a:srgbClr val="C00000"/>
                </a:solidFill>
                <a:latin typeface="+mj-lt"/>
              </a:rPr>
              <a:t>Company</a:t>
            </a:r>
            <a:endParaRPr lang="en-US" sz="2200" i="1" dirty="0">
              <a:solidFill>
                <a:srgbClr val="C00000"/>
              </a:solidFill>
              <a:latin typeface="+mj-lt"/>
            </a:endParaRPr>
          </a:p>
        </p:txBody>
      </p:sp>
      <p:sp>
        <p:nvSpPr>
          <p:cNvPr id="10" name="TextBox 9"/>
          <p:cNvSpPr txBox="1"/>
          <p:nvPr/>
        </p:nvSpPr>
        <p:spPr>
          <a:xfrm>
            <a:off x="685800" y="2667000"/>
            <a:ext cx="1496381" cy="430887"/>
          </a:xfrm>
          <a:prstGeom prst="rect">
            <a:avLst/>
          </a:prstGeom>
          <a:noFill/>
        </p:spPr>
        <p:txBody>
          <a:bodyPr wrap="square" rtlCol="0">
            <a:spAutoFit/>
          </a:bodyPr>
          <a:lstStyle/>
          <a:p>
            <a:r>
              <a:rPr lang="en-US" sz="2200" i="1" dirty="0" smtClean="0">
                <a:solidFill>
                  <a:srgbClr val="C00000"/>
                </a:solidFill>
                <a:latin typeface="+mj-lt"/>
              </a:rPr>
              <a:t>Nothing</a:t>
            </a:r>
          </a:p>
        </p:txBody>
      </p:sp>
      <p:pic>
        <p:nvPicPr>
          <p:cNvPr id="1028" name="Picture 4" descr="http://whatscookingamerica.net/History/Hamburger2.jpg"/>
          <p:cNvPicPr>
            <a:picLocks noChangeAspect="1" noChangeArrowheads="1"/>
          </p:cNvPicPr>
          <p:nvPr/>
        </p:nvPicPr>
        <p:blipFill>
          <a:blip r:embed="rId3" cstate="print"/>
          <a:srcRect/>
          <a:stretch>
            <a:fillRect/>
          </a:stretch>
        </p:blipFill>
        <p:spPr bwMode="auto">
          <a:xfrm>
            <a:off x="7543800" y="5105400"/>
            <a:ext cx="609600" cy="606137"/>
          </a:xfrm>
          <a:prstGeom prst="rect">
            <a:avLst/>
          </a:prstGeom>
          <a:noFill/>
        </p:spPr>
      </p:pic>
      <p:pic>
        <p:nvPicPr>
          <p:cNvPr id="1029" name="Picture 5"/>
          <p:cNvPicPr>
            <a:picLocks noChangeAspect="1" noChangeArrowheads="1"/>
          </p:cNvPicPr>
          <p:nvPr/>
        </p:nvPicPr>
        <p:blipFill>
          <a:blip r:embed="rId4" cstate="print"/>
          <a:srcRect/>
          <a:stretch>
            <a:fillRect/>
          </a:stretch>
        </p:blipFill>
        <p:spPr bwMode="auto">
          <a:xfrm>
            <a:off x="6781800" y="4648200"/>
            <a:ext cx="609600" cy="775855"/>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6324600" y="4038600"/>
            <a:ext cx="457200" cy="609600"/>
          </a:xfrm>
          <a:prstGeom prst="rect">
            <a:avLst/>
          </a:prstGeom>
          <a:noFill/>
          <a:ln w="9525">
            <a:noFill/>
            <a:miter lim="800000"/>
            <a:headEnd/>
            <a:tailEnd/>
          </a:ln>
        </p:spPr>
      </p:pic>
      <p:pic>
        <p:nvPicPr>
          <p:cNvPr id="1031" name="Picture 7"/>
          <p:cNvPicPr>
            <a:picLocks noChangeAspect="1" noChangeArrowheads="1"/>
          </p:cNvPicPr>
          <p:nvPr/>
        </p:nvPicPr>
        <p:blipFill>
          <a:blip r:embed="rId6" cstate="print"/>
          <a:srcRect/>
          <a:stretch>
            <a:fillRect/>
          </a:stretch>
        </p:blipFill>
        <p:spPr bwMode="auto">
          <a:xfrm>
            <a:off x="2390775" y="3562350"/>
            <a:ext cx="733425" cy="628650"/>
          </a:xfrm>
          <a:prstGeom prst="rect">
            <a:avLst/>
          </a:prstGeom>
          <a:noFill/>
          <a:ln w="9525">
            <a:noFill/>
            <a:miter lim="800000"/>
            <a:headEnd/>
            <a:tailEnd/>
          </a:ln>
        </p:spPr>
      </p:pic>
      <p:pic>
        <p:nvPicPr>
          <p:cNvPr id="1032" name="Picture 8"/>
          <p:cNvPicPr>
            <a:picLocks noChangeAspect="1" noChangeArrowheads="1"/>
          </p:cNvPicPr>
          <p:nvPr/>
        </p:nvPicPr>
        <p:blipFill>
          <a:blip r:embed="rId7" cstate="print"/>
          <a:srcRect/>
          <a:stretch>
            <a:fillRect/>
          </a:stretch>
        </p:blipFill>
        <p:spPr bwMode="auto">
          <a:xfrm>
            <a:off x="2286000" y="2590800"/>
            <a:ext cx="904875" cy="676275"/>
          </a:xfrm>
          <a:prstGeom prst="rect">
            <a:avLst/>
          </a:prstGeom>
          <a:noFill/>
          <a:ln w="9525">
            <a:noFill/>
            <a:miter lim="800000"/>
            <a:headEnd/>
            <a:tailEnd/>
          </a:ln>
        </p:spPr>
      </p:pic>
      <p:sp>
        <p:nvSpPr>
          <p:cNvPr id="18" name="Rectangle 17"/>
          <p:cNvSpPr/>
          <p:nvPr/>
        </p:nvSpPr>
        <p:spPr>
          <a:xfrm>
            <a:off x="6172200" y="5867400"/>
            <a:ext cx="2667000" cy="646331"/>
          </a:xfrm>
          <a:prstGeom prst="rect">
            <a:avLst/>
          </a:prstGeom>
        </p:spPr>
        <p:txBody>
          <a:bodyPr wrap="square">
            <a:spAutoFit/>
          </a:bodyPr>
          <a:lstStyle/>
          <a:p>
            <a:pPr algn="ctr"/>
            <a:r>
              <a:rPr lang="en-US" dirty="0" smtClean="0">
                <a:latin typeface="+mj-lt"/>
              </a:rPr>
              <a:t>Necessary for life; unmet, these needs </a:t>
            </a:r>
            <a:r>
              <a:rPr lang="en-US" i="1" dirty="0" smtClean="0">
                <a:solidFill>
                  <a:srgbClr val="C00000"/>
                </a:solidFill>
                <a:latin typeface="+mj-lt"/>
              </a:rPr>
              <a:t>lead to death</a:t>
            </a:r>
            <a:endParaRPr lang="en-US" i="1" dirty="0">
              <a:solidFill>
                <a:srgbClr val="C00000"/>
              </a:solidFill>
              <a:latin typeface="+mj-lt"/>
            </a:endParaRPr>
          </a:p>
        </p:txBody>
      </p:sp>
      <p:sp>
        <p:nvSpPr>
          <p:cNvPr id="19" name="Rectangle 18"/>
          <p:cNvSpPr/>
          <p:nvPr/>
        </p:nvSpPr>
        <p:spPr>
          <a:xfrm>
            <a:off x="7315200" y="4038600"/>
            <a:ext cx="1600200" cy="923330"/>
          </a:xfrm>
          <a:prstGeom prst="rect">
            <a:avLst/>
          </a:prstGeom>
        </p:spPr>
        <p:txBody>
          <a:bodyPr wrap="square">
            <a:spAutoFit/>
          </a:bodyPr>
          <a:lstStyle/>
          <a:p>
            <a:r>
              <a:rPr lang="en-US" dirty="0" smtClean="0">
                <a:latin typeface="+mj-lt"/>
              </a:rPr>
              <a:t>Without these people will </a:t>
            </a:r>
            <a:r>
              <a:rPr lang="en-US" i="1" dirty="0" smtClean="0">
                <a:solidFill>
                  <a:srgbClr val="C00000"/>
                </a:solidFill>
                <a:latin typeface="+mj-lt"/>
              </a:rPr>
              <a:t>not act civilly</a:t>
            </a:r>
            <a:r>
              <a:rPr lang="en-US" dirty="0" smtClean="0">
                <a:latin typeface="+mj-lt"/>
              </a:rPr>
              <a:t>.</a:t>
            </a:r>
            <a:endParaRPr lang="en-US" dirty="0">
              <a:latin typeface="+mj-lt"/>
            </a:endParaRPr>
          </a:p>
        </p:txBody>
      </p:sp>
      <p:sp>
        <p:nvSpPr>
          <p:cNvPr id="20" name="Rectangle 19"/>
          <p:cNvSpPr/>
          <p:nvPr/>
        </p:nvSpPr>
        <p:spPr>
          <a:xfrm>
            <a:off x="5334000" y="1752600"/>
            <a:ext cx="3581400" cy="1200329"/>
          </a:xfrm>
          <a:prstGeom prst="rect">
            <a:avLst/>
          </a:prstGeom>
        </p:spPr>
        <p:txBody>
          <a:bodyPr wrap="square">
            <a:spAutoFit/>
          </a:bodyPr>
          <a:lstStyle/>
          <a:p>
            <a:r>
              <a:rPr lang="en-US" dirty="0" smtClean="0">
                <a:latin typeface="+mj-lt"/>
              </a:rPr>
              <a:t>Obtaining our full potential; becoming confident, eager to express our beliefs, and willing to reach out to others to help them</a:t>
            </a:r>
            <a:endParaRPr lang="en-US" dirty="0">
              <a:latin typeface="+mj-lt"/>
            </a:endParaRPr>
          </a:p>
        </p:txBody>
      </p:sp>
      <p:sp>
        <p:nvSpPr>
          <p:cNvPr id="21" name="Rectangle 20"/>
          <p:cNvSpPr/>
          <p:nvPr/>
        </p:nvSpPr>
        <p:spPr>
          <a:xfrm>
            <a:off x="381000" y="1676400"/>
            <a:ext cx="3505200" cy="923330"/>
          </a:xfrm>
          <a:prstGeom prst="rect">
            <a:avLst/>
          </a:prstGeom>
        </p:spPr>
        <p:txBody>
          <a:bodyPr wrap="square">
            <a:spAutoFit/>
          </a:bodyPr>
          <a:lstStyle/>
          <a:p>
            <a:r>
              <a:rPr lang="en-US" dirty="0" smtClean="0">
                <a:latin typeface="+mj-lt"/>
              </a:rPr>
              <a:t>They can seek knowledge, peace, esthetic experiences, self-fulfillment, oneness with God, etc.</a:t>
            </a:r>
            <a:endParaRPr lang="en-US" dirty="0">
              <a:latin typeface="+mj-lt"/>
            </a:endParaRPr>
          </a:p>
        </p:txBody>
      </p:sp>
      <p:sp>
        <p:nvSpPr>
          <p:cNvPr id="22" name="Rectangle 21"/>
          <p:cNvSpPr/>
          <p:nvPr/>
        </p:nvSpPr>
        <p:spPr>
          <a:xfrm>
            <a:off x="2819400" y="5867400"/>
            <a:ext cx="3200400" cy="523220"/>
          </a:xfrm>
          <a:prstGeom prst="rect">
            <a:avLst/>
          </a:prstGeom>
        </p:spPr>
        <p:txBody>
          <a:bodyPr wrap="square">
            <a:spAutoFit/>
          </a:bodyPr>
          <a:lstStyle/>
          <a:p>
            <a:r>
              <a:rPr lang="en-US" sz="2800" b="1" dirty="0" smtClean="0">
                <a:latin typeface="+mj-lt"/>
              </a:rPr>
              <a:t>Extrinsic Motivation</a:t>
            </a:r>
            <a:endParaRPr lang="en-US" sz="2800" b="1" i="1" dirty="0">
              <a:solidFill>
                <a:srgbClr val="C00000"/>
              </a:solidFill>
              <a:latin typeface="+mj-lt"/>
            </a:endParaRPr>
          </a:p>
        </p:txBody>
      </p:sp>
      <p:sp>
        <p:nvSpPr>
          <p:cNvPr id="23" name="TextBox 22"/>
          <p:cNvSpPr txBox="1"/>
          <p:nvPr/>
        </p:nvSpPr>
        <p:spPr>
          <a:xfrm>
            <a:off x="685800" y="3954959"/>
            <a:ext cx="2895600" cy="769441"/>
          </a:xfrm>
          <a:prstGeom prst="rect">
            <a:avLst/>
          </a:prstGeom>
          <a:noFill/>
        </p:spPr>
        <p:txBody>
          <a:bodyPr wrap="square" rtlCol="0">
            <a:spAutoFit/>
          </a:bodyPr>
          <a:lstStyle/>
          <a:p>
            <a:r>
              <a:rPr lang="en-US" sz="2200" i="1" dirty="0" smtClean="0">
                <a:solidFill>
                  <a:srgbClr val="C00000"/>
                </a:solidFill>
                <a:latin typeface="+mj-lt"/>
              </a:rPr>
              <a:t>----------------------------</a:t>
            </a:r>
          </a:p>
          <a:p>
            <a:r>
              <a:rPr lang="en-US" sz="2200" i="1" dirty="0" smtClean="0">
                <a:solidFill>
                  <a:srgbClr val="C00000"/>
                </a:solidFill>
                <a:latin typeface="+mj-lt"/>
              </a:rPr>
              <a:t>Leadership</a:t>
            </a:r>
            <a:endParaRPr lang="en-US" sz="2200" i="1" dirty="0">
              <a:solidFill>
                <a:srgbClr val="C00000"/>
              </a:solidFill>
              <a:latin typeface="+mj-lt"/>
            </a:endParaRPr>
          </a:p>
        </p:txBody>
      </p:sp>
      <p:sp>
        <p:nvSpPr>
          <p:cNvPr id="24" name="TextBox 23"/>
          <p:cNvSpPr txBox="1"/>
          <p:nvPr/>
        </p:nvSpPr>
        <p:spPr>
          <a:xfrm>
            <a:off x="685800" y="3269159"/>
            <a:ext cx="3200400" cy="769441"/>
          </a:xfrm>
          <a:prstGeom prst="rect">
            <a:avLst/>
          </a:prstGeom>
          <a:noFill/>
        </p:spPr>
        <p:txBody>
          <a:bodyPr wrap="square" rtlCol="0">
            <a:spAutoFit/>
          </a:bodyPr>
          <a:lstStyle/>
          <a:p>
            <a:r>
              <a:rPr lang="en-US" sz="2200" i="1" dirty="0" smtClean="0">
                <a:solidFill>
                  <a:srgbClr val="C00000"/>
                </a:solidFill>
                <a:latin typeface="+mj-lt"/>
              </a:rPr>
              <a:t>--------------------------------</a:t>
            </a:r>
          </a:p>
          <a:p>
            <a:r>
              <a:rPr lang="en-US" sz="2200" i="1" dirty="0" smtClean="0">
                <a:solidFill>
                  <a:srgbClr val="C00000"/>
                </a:solidFill>
                <a:latin typeface="+mj-lt"/>
              </a:rPr>
              <a:t>Leadership</a:t>
            </a:r>
            <a:endParaRPr lang="en-US" sz="2200" i="1" dirty="0">
              <a:solidFill>
                <a:srgbClr val="C00000"/>
              </a:solidFill>
              <a:latin typeface="+mj-lt"/>
            </a:endParaRPr>
          </a:p>
        </p:txBody>
      </p:sp>
      <p:sp>
        <p:nvSpPr>
          <p:cNvPr id="25" name="Rectangle 24"/>
          <p:cNvSpPr/>
          <p:nvPr/>
        </p:nvSpPr>
        <p:spPr>
          <a:xfrm>
            <a:off x="381000" y="3505200"/>
            <a:ext cx="6629400" cy="1219200"/>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034" name="Picture 2" descr="Image result for say thank you"/>
          <p:cNvPicPr>
            <a:picLocks noChangeAspect="1" noChangeArrowheads="1"/>
          </p:cNvPicPr>
          <p:nvPr/>
        </p:nvPicPr>
        <p:blipFill>
          <a:blip r:embed="rId8" cstate="print"/>
          <a:srcRect/>
          <a:stretch>
            <a:fillRect/>
          </a:stretch>
        </p:blipFill>
        <p:spPr bwMode="auto">
          <a:xfrm>
            <a:off x="4419600" y="3505200"/>
            <a:ext cx="2880360" cy="1133856"/>
          </a:xfrm>
          <a:prstGeom prst="rect">
            <a:avLst/>
          </a:prstGeom>
          <a:noFill/>
        </p:spPr>
      </p:pic>
      <p:cxnSp>
        <p:nvCxnSpPr>
          <p:cNvPr id="27" name="Straight Arrow Connector 26"/>
          <p:cNvCxnSpPr/>
          <p:nvPr/>
        </p:nvCxnSpPr>
        <p:spPr>
          <a:xfrm flipH="1">
            <a:off x="8305800" y="4648200"/>
            <a:ext cx="228600" cy="5334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Discussion Questions</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sz="2400" dirty="0" smtClean="0"/>
              <a:t>Commitment agreement?</a:t>
            </a:r>
          </a:p>
          <a:p>
            <a:pPr marL="514350" indent="-514350">
              <a:buFont typeface="+mj-lt"/>
              <a:buAutoNum type="arabicPeriod"/>
            </a:pPr>
            <a:r>
              <a:rPr lang="en-US" sz="2400" dirty="0" smtClean="0"/>
              <a:t>Tasks management system?</a:t>
            </a:r>
          </a:p>
          <a:p>
            <a:pPr marL="514350" indent="-514350">
              <a:buFont typeface="+mj-lt"/>
              <a:buAutoNum type="arabicPeriod"/>
            </a:pPr>
            <a:r>
              <a:rPr lang="en-US" sz="2400" dirty="0" smtClean="0"/>
              <a:t>Timesheet management system?</a:t>
            </a:r>
          </a:p>
          <a:p>
            <a:pPr marL="514350" indent="-514350">
              <a:buFont typeface="+mj-lt"/>
              <a:buAutoNum type="arabicPeriod"/>
            </a:pPr>
            <a:r>
              <a:rPr lang="en-US" sz="2400" dirty="0" smtClean="0"/>
              <a:t>Training?</a:t>
            </a:r>
          </a:p>
          <a:p>
            <a:pPr marL="514350" indent="-514350">
              <a:buFont typeface="+mj-lt"/>
              <a:buAutoNum type="arabicPeriod"/>
            </a:pPr>
            <a:r>
              <a:rPr lang="en-US" sz="2400" dirty="0" smtClean="0"/>
              <a:t>Tools for tracking KPIs?</a:t>
            </a:r>
          </a:p>
        </p:txBody>
      </p:sp>
      <p:pic>
        <p:nvPicPr>
          <p:cNvPr id="1026" name="Picture 2"/>
          <p:cNvPicPr>
            <a:picLocks noChangeAspect="1" noChangeArrowheads="1"/>
          </p:cNvPicPr>
          <p:nvPr/>
        </p:nvPicPr>
        <p:blipFill>
          <a:blip r:embed="rId2" cstate="print"/>
          <a:srcRect/>
          <a:stretch>
            <a:fillRect/>
          </a:stretch>
        </p:blipFill>
        <p:spPr bwMode="auto">
          <a:xfrm>
            <a:off x="2895600" y="4038600"/>
            <a:ext cx="3046761" cy="1982681"/>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Prevent Poor Performance</a:t>
            </a:r>
            <a:endParaRPr lang="en-US" dirty="0"/>
          </a:p>
        </p:txBody>
      </p:sp>
      <p:sp>
        <p:nvSpPr>
          <p:cNvPr id="3" name="Content Placeholder 2"/>
          <p:cNvSpPr>
            <a:spLocks noGrp="1"/>
          </p:cNvSpPr>
          <p:nvPr>
            <p:ph idx="1"/>
          </p:nvPr>
        </p:nvSpPr>
        <p:spPr>
          <a:xfrm>
            <a:off x="457200" y="1600200"/>
            <a:ext cx="8229600" cy="2362199"/>
          </a:xfrm>
        </p:spPr>
        <p:txBody>
          <a:bodyPr/>
          <a:lstStyle/>
          <a:p>
            <a:r>
              <a:rPr lang="en-US" sz="2800" dirty="0" smtClean="0"/>
              <a:t>Ensure that the task assignee knows</a:t>
            </a:r>
          </a:p>
          <a:p>
            <a:pPr lvl="1"/>
            <a:r>
              <a:rPr lang="en-US" sz="2400" dirty="0" smtClean="0"/>
              <a:t>why her task is </a:t>
            </a:r>
            <a:r>
              <a:rPr lang="en-US" sz="2400" i="1" dirty="0" smtClean="0">
                <a:solidFill>
                  <a:srgbClr val="C00000"/>
                </a:solidFill>
              </a:rPr>
              <a:t>important</a:t>
            </a:r>
            <a:r>
              <a:rPr lang="en-US" sz="2400" dirty="0" smtClean="0"/>
              <a:t>,</a:t>
            </a:r>
          </a:p>
          <a:p>
            <a:pPr lvl="1"/>
            <a:r>
              <a:rPr lang="en-US" sz="2400" i="1" dirty="0" smtClean="0">
                <a:solidFill>
                  <a:srgbClr val="C00000"/>
                </a:solidFill>
              </a:rPr>
              <a:t>what</a:t>
            </a:r>
            <a:r>
              <a:rPr lang="en-US" sz="2400" dirty="0" smtClean="0"/>
              <a:t> she need to do and </a:t>
            </a:r>
            <a:r>
              <a:rPr lang="en-US" sz="2400" u="sng" dirty="0" smtClean="0"/>
              <a:t>deliver</a:t>
            </a:r>
            <a:r>
              <a:rPr lang="en-US" sz="2400" dirty="0" smtClean="0"/>
              <a:t>,</a:t>
            </a:r>
          </a:p>
          <a:p>
            <a:pPr lvl="1"/>
            <a:r>
              <a:rPr lang="en-US" sz="2400" i="1" dirty="0" smtClean="0">
                <a:solidFill>
                  <a:srgbClr val="C00000"/>
                </a:solidFill>
              </a:rPr>
              <a:t>when</a:t>
            </a:r>
            <a:r>
              <a:rPr lang="en-US" sz="2400" dirty="0" smtClean="0"/>
              <a:t> she need to submit her result,</a:t>
            </a:r>
          </a:p>
          <a:p>
            <a:pPr lvl="1"/>
            <a:r>
              <a:rPr lang="en-US" sz="2400" i="1" dirty="0" smtClean="0">
                <a:solidFill>
                  <a:srgbClr val="C00000"/>
                </a:solidFill>
              </a:rPr>
              <a:t>which support</a:t>
            </a:r>
            <a:r>
              <a:rPr lang="en-US" sz="2400" dirty="0" smtClean="0"/>
              <a:t> she needs.</a:t>
            </a:r>
          </a:p>
        </p:txBody>
      </p:sp>
      <p:pic>
        <p:nvPicPr>
          <p:cNvPr id="1026" name="Picture 2"/>
          <p:cNvPicPr>
            <a:picLocks noChangeAspect="1" noChangeArrowheads="1"/>
          </p:cNvPicPr>
          <p:nvPr/>
        </p:nvPicPr>
        <p:blipFill>
          <a:blip r:embed="rId2" cstate="print"/>
          <a:srcRect/>
          <a:stretch>
            <a:fillRect/>
          </a:stretch>
        </p:blipFill>
        <p:spPr bwMode="auto">
          <a:xfrm>
            <a:off x="2971800" y="4191000"/>
            <a:ext cx="3200400" cy="1943100"/>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Ask for Commitment</a:t>
            </a:r>
            <a:endParaRPr lang="en-US" dirty="0"/>
          </a:p>
        </p:txBody>
      </p:sp>
      <p:pic>
        <p:nvPicPr>
          <p:cNvPr id="1026" name="Picture 2" descr="http://cdn.quotesgram.com/img/31/4/1731990012-Commitment-Quotes-24.jpg"/>
          <p:cNvPicPr>
            <a:picLocks noChangeAspect="1" noChangeArrowheads="1"/>
          </p:cNvPicPr>
          <p:nvPr/>
        </p:nvPicPr>
        <p:blipFill>
          <a:blip r:embed="rId2" cstate="print"/>
          <a:srcRect/>
          <a:stretch>
            <a:fillRect/>
          </a:stretch>
        </p:blipFill>
        <p:spPr bwMode="auto">
          <a:xfrm>
            <a:off x="4800600" y="1752600"/>
            <a:ext cx="3429000" cy="2571750"/>
          </a:xfrm>
          <a:prstGeom prst="rect">
            <a:avLst/>
          </a:prstGeom>
          <a:noFill/>
        </p:spPr>
      </p:pic>
      <p:sp>
        <p:nvSpPr>
          <p:cNvPr id="4" name="Rectangle 3"/>
          <p:cNvSpPr/>
          <p:nvPr/>
        </p:nvSpPr>
        <p:spPr>
          <a:xfrm>
            <a:off x="685800" y="1905000"/>
            <a:ext cx="3810000" cy="2246769"/>
          </a:xfrm>
          <a:prstGeom prst="rect">
            <a:avLst/>
          </a:prstGeom>
        </p:spPr>
        <p:txBody>
          <a:bodyPr wrap="square">
            <a:spAutoFit/>
          </a:bodyPr>
          <a:lstStyle/>
          <a:p>
            <a:pPr algn="r"/>
            <a:r>
              <a:rPr lang="en-US" sz="2800" b="1" dirty="0" smtClean="0">
                <a:latin typeface="+mj-lt"/>
              </a:rPr>
              <a:t>People commit to a group or organization because they </a:t>
            </a:r>
            <a:r>
              <a:rPr lang="en-US" sz="2800" b="1" i="1" dirty="0" smtClean="0">
                <a:solidFill>
                  <a:srgbClr val="C00000"/>
                </a:solidFill>
                <a:latin typeface="+mj-lt"/>
              </a:rPr>
              <a:t>gain something important</a:t>
            </a:r>
            <a:r>
              <a:rPr lang="en-US" sz="2800" b="1" dirty="0" smtClean="0">
                <a:latin typeface="+mj-lt"/>
              </a:rPr>
              <a:t> from their involvement.</a:t>
            </a:r>
            <a:endParaRPr lang="en-US" sz="2800" b="1" dirty="0">
              <a:latin typeface="+mj-lt"/>
            </a:endParaRPr>
          </a:p>
        </p:txBody>
      </p:sp>
      <p:sp>
        <p:nvSpPr>
          <p:cNvPr id="5" name="Rectangle 4"/>
          <p:cNvSpPr/>
          <p:nvPr/>
        </p:nvSpPr>
        <p:spPr>
          <a:xfrm>
            <a:off x="533400" y="4800600"/>
            <a:ext cx="8001000" cy="1292662"/>
          </a:xfrm>
          <a:prstGeom prst="rect">
            <a:avLst/>
          </a:prstGeom>
        </p:spPr>
        <p:txBody>
          <a:bodyPr wrap="square">
            <a:spAutoFit/>
          </a:bodyPr>
          <a:lstStyle/>
          <a:p>
            <a:pPr marL="457200" indent="-457200">
              <a:buFont typeface="Arial" pitchFamily="34" charset="0"/>
              <a:buChar char="•"/>
            </a:pPr>
            <a:r>
              <a:rPr lang="en-US" sz="2600" dirty="0" smtClean="0">
                <a:latin typeface="+mj-lt"/>
              </a:rPr>
              <a:t>Be </a:t>
            </a:r>
            <a:r>
              <a:rPr lang="en-US" sz="2600" u="sng" dirty="0" smtClean="0">
                <a:latin typeface="+mj-lt"/>
              </a:rPr>
              <a:t>open</a:t>
            </a:r>
            <a:r>
              <a:rPr lang="en-US" sz="2600" dirty="0" smtClean="0">
                <a:latin typeface="+mj-lt"/>
              </a:rPr>
              <a:t> and </a:t>
            </a:r>
            <a:r>
              <a:rPr lang="en-US" sz="2600" u="sng" dirty="0" smtClean="0">
                <a:latin typeface="+mj-lt"/>
              </a:rPr>
              <a:t>clear</a:t>
            </a:r>
            <a:r>
              <a:rPr lang="en-US" sz="2600" dirty="0" smtClean="0">
                <a:latin typeface="+mj-lt"/>
              </a:rPr>
              <a:t> about the </a:t>
            </a:r>
            <a:r>
              <a:rPr lang="en-US" sz="2600" i="1" dirty="0" smtClean="0">
                <a:solidFill>
                  <a:srgbClr val="C00000"/>
                </a:solidFill>
                <a:latin typeface="+mj-lt"/>
              </a:rPr>
              <a:t>mission</a:t>
            </a:r>
            <a:r>
              <a:rPr lang="en-US" sz="2600" dirty="0" smtClean="0">
                <a:latin typeface="+mj-lt"/>
              </a:rPr>
              <a:t>, </a:t>
            </a:r>
            <a:r>
              <a:rPr lang="en-US" sz="2600" i="1" dirty="0" smtClean="0">
                <a:solidFill>
                  <a:srgbClr val="C00000"/>
                </a:solidFill>
                <a:latin typeface="+mj-lt"/>
              </a:rPr>
              <a:t>principles</a:t>
            </a:r>
            <a:r>
              <a:rPr lang="en-US" sz="2600" dirty="0" smtClean="0">
                <a:latin typeface="+mj-lt"/>
              </a:rPr>
              <a:t>, and </a:t>
            </a:r>
            <a:r>
              <a:rPr lang="en-US" sz="2600" i="1" dirty="0" smtClean="0">
                <a:solidFill>
                  <a:srgbClr val="C00000"/>
                </a:solidFill>
                <a:latin typeface="+mj-lt"/>
              </a:rPr>
              <a:t>goals</a:t>
            </a:r>
            <a:r>
              <a:rPr lang="en-US" sz="2600" dirty="0" smtClean="0">
                <a:latin typeface="+mj-lt"/>
              </a:rPr>
              <a:t> of your team.</a:t>
            </a:r>
          </a:p>
          <a:p>
            <a:pPr marL="457200" indent="-457200">
              <a:buFont typeface="Arial" pitchFamily="34" charset="0"/>
              <a:buChar char="•"/>
            </a:pPr>
            <a:r>
              <a:rPr lang="en-US" sz="2600" dirty="0" smtClean="0">
                <a:latin typeface="+mj-lt"/>
              </a:rPr>
              <a:t>Pick out the </a:t>
            </a:r>
            <a:r>
              <a:rPr lang="en-US" sz="2600" i="1" dirty="0" smtClean="0">
                <a:solidFill>
                  <a:srgbClr val="C00000"/>
                </a:solidFill>
                <a:latin typeface="+mj-lt"/>
              </a:rPr>
              <a:t>right level of challenge</a:t>
            </a:r>
            <a:r>
              <a:rPr lang="en-US" sz="2600" dirty="0" smtClean="0">
                <a:latin typeface="+mj-lt"/>
              </a:rPr>
              <a:t> for people.</a:t>
            </a:r>
            <a:endParaRPr lang="en-US" sz="2600" dirty="0">
              <a:latin typeface="+mj-lt"/>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2. Prevent the Second-System Effect [2]</a:t>
            </a:r>
            <a:endParaRPr lang="en-US" sz="3800" dirty="0"/>
          </a:p>
        </p:txBody>
      </p:sp>
      <p:sp>
        <p:nvSpPr>
          <p:cNvPr id="3" name="Content Placeholder 2"/>
          <p:cNvSpPr>
            <a:spLocks noGrp="1"/>
          </p:cNvSpPr>
          <p:nvPr>
            <p:ph idx="1"/>
          </p:nvPr>
        </p:nvSpPr>
        <p:spPr/>
        <p:txBody>
          <a:bodyPr/>
          <a:lstStyle/>
          <a:p>
            <a:pPr lvl="0"/>
            <a:r>
              <a:rPr lang="en-US" sz="2200" dirty="0" smtClean="0"/>
              <a:t>The general tendency is to over-design the second system, </a:t>
            </a:r>
            <a:r>
              <a:rPr lang="en-US" sz="2200" i="1" dirty="0" smtClean="0">
                <a:solidFill>
                  <a:srgbClr val="C00000"/>
                </a:solidFill>
              </a:rPr>
              <a:t>using all the ideas and frills</a:t>
            </a:r>
            <a:r>
              <a:rPr lang="en-US" sz="2200" dirty="0" smtClean="0"/>
              <a:t> that were cautiously sidetracked on the first one.</a:t>
            </a:r>
          </a:p>
          <a:p>
            <a:pPr lvl="0"/>
            <a:r>
              <a:rPr lang="en-US" sz="2200" dirty="0" smtClean="0"/>
              <a:t>Be conscious of the peculiar hazards of that system, and </a:t>
            </a:r>
            <a:r>
              <a:rPr lang="en-US" sz="2200" i="1" dirty="0" smtClean="0">
                <a:solidFill>
                  <a:srgbClr val="C00000"/>
                </a:solidFill>
              </a:rPr>
              <a:t>exert extra self-discipline to avoid</a:t>
            </a:r>
            <a:r>
              <a:rPr lang="en-US" sz="2200" dirty="0" smtClean="0"/>
              <a:t> functional ornamentation and to avoid extrapolation of functions that are obviated by changes in assumptions and purposes.</a:t>
            </a:r>
          </a:p>
          <a:p>
            <a:pPr>
              <a:buNone/>
            </a:pPr>
            <a:endParaRPr lang="en-US" sz="2200" dirty="0" smtClean="0"/>
          </a:p>
          <a:p>
            <a:endParaRPr lang="en-US" sz="2200" dirty="0"/>
          </a:p>
        </p:txBody>
      </p:sp>
      <p:pic>
        <p:nvPicPr>
          <p:cNvPr id="4" name="Picture 2" descr="http://holyhash.altaica.net/wp-content/uploads/sites/5/2014/04/the_general_problem-974.png"/>
          <p:cNvPicPr>
            <a:picLocks noChangeAspect="1" noChangeArrowheads="1"/>
          </p:cNvPicPr>
          <p:nvPr/>
        </p:nvPicPr>
        <p:blipFill>
          <a:blip r:embed="rId2" cstate="print"/>
          <a:srcRect/>
          <a:stretch>
            <a:fillRect/>
          </a:stretch>
        </p:blipFill>
        <p:spPr bwMode="auto">
          <a:xfrm>
            <a:off x="2057400" y="4191000"/>
            <a:ext cx="5028572" cy="2102858"/>
          </a:xfrm>
          <a:prstGeom prst="rect">
            <a:avLst/>
          </a:prstGeom>
          <a:noFill/>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Provide Training [9]</a:t>
            </a:r>
            <a:endParaRPr lang="en-US" dirty="0"/>
          </a:p>
        </p:txBody>
      </p:sp>
      <p:sp>
        <p:nvSpPr>
          <p:cNvPr id="3" name="Content Placeholder 2"/>
          <p:cNvSpPr>
            <a:spLocks noGrp="1"/>
          </p:cNvSpPr>
          <p:nvPr>
            <p:ph idx="1"/>
          </p:nvPr>
        </p:nvSpPr>
        <p:spPr/>
        <p:txBody>
          <a:bodyPr/>
          <a:lstStyle/>
          <a:p>
            <a:r>
              <a:rPr lang="en-US" sz="2400" dirty="0" smtClean="0"/>
              <a:t>Cost</a:t>
            </a:r>
          </a:p>
          <a:p>
            <a:r>
              <a:rPr lang="en-US" sz="2400" dirty="0" smtClean="0"/>
              <a:t>Need</a:t>
            </a:r>
          </a:p>
          <a:p>
            <a:r>
              <a:rPr lang="en-US" sz="2400" dirty="0" smtClean="0"/>
              <a:t>Employee morale</a:t>
            </a:r>
          </a:p>
          <a:p>
            <a:r>
              <a:rPr lang="en-US" sz="2400" dirty="0" smtClean="0"/>
              <a:t>Scheduling demands</a:t>
            </a:r>
          </a:p>
          <a:p>
            <a:r>
              <a:rPr lang="en-US" sz="2400" i="1" dirty="0" smtClean="0">
                <a:solidFill>
                  <a:srgbClr val="C00000"/>
                </a:solidFill>
              </a:rPr>
              <a:t>Certification</a:t>
            </a:r>
          </a:p>
          <a:p>
            <a:endParaRPr lang="en-US" sz="2400" i="1" dirty="0" smtClean="0">
              <a:solidFill>
                <a:srgbClr val="C00000"/>
              </a:solidFill>
            </a:endParaRPr>
          </a:p>
          <a:p>
            <a:endParaRPr lang="en-US" sz="2400" i="1" dirty="0" smtClean="0">
              <a:solidFill>
                <a:srgbClr val="C00000"/>
              </a:solidFill>
            </a:endParaRPr>
          </a:p>
          <a:p>
            <a:pPr marL="342900" lvl="1" indent="-342900">
              <a:buFont typeface="Arial" charset="0"/>
              <a:buChar char="•"/>
            </a:pPr>
            <a:r>
              <a:rPr lang="en-US" sz="2400" dirty="0" smtClean="0"/>
              <a:t>What if the employee takes a training class and then uses his new-found skills to find another job? – </a:t>
            </a:r>
            <a:r>
              <a:rPr lang="en-US" sz="2400" dirty="0" smtClean="0">
                <a:solidFill>
                  <a:srgbClr val="C00000"/>
                </a:solidFill>
              </a:rPr>
              <a:t>Employee agreements</a:t>
            </a:r>
          </a:p>
          <a:p>
            <a:r>
              <a:rPr lang="en-US" sz="2400" dirty="0" smtClean="0"/>
              <a:t>Maximizing the value of training (</a:t>
            </a:r>
            <a:r>
              <a:rPr lang="en-US" sz="2400" i="1" dirty="0" smtClean="0">
                <a:solidFill>
                  <a:srgbClr val="C00000"/>
                </a:solidFill>
              </a:rPr>
              <a:t>transferring knowledge</a:t>
            </a:r>
            <a:r>
              <a:rPr lang="en-US" sz="2400" dirty="0" smtClean="0"/>
              <a:t>)</a:t>
            </a:r>
          </a:p>
        </p:txBody>
      </p:sp>
      <p:pic>
        <p:nvPicPr>
          <p:cNvPr id="4" name="Picture 4"/>
          <p:cNvPicPr>
            <a:picLocks noChangeAspect="1" noChangeArrowheads="1"/>
          </p:cNvPicPr>
          <p:nvPr/>
        </p:nvPicPr>
        <p:blipFill>
          <a:blip r:embed="rId2" cstate="print"/>
          <a:srcRect/>
          <a:stretch>
            <a:fillRect/>
          </a:stretch>
        </p:blipFill>
        <p:spPr bwMode="auto">
          <a:xfrm>
            <a:off x="4114800" y="1828800"/>
            <a:ext cx="4133850" cy="2324100"/>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Perform Performance Reviews</a:t>
            </a:r>
            <a:endParaRPr lang="en-US" dirty="0"/>
          </a:p>
        </p:txBody>
      </p:sp>
      <p:sp>
        <p:nvSpPr>
          <p:cNvPr id="3" name="Content Placeholder 2"/>
          <p:cNvSpPr>
            <a:spLocks noGrp="1"/>
          </p:cNvSpPr>
          <p:nvPr>
            <p:ph idx="1"/>
          </p:nvPr>
        </p:nvSpPr>
        <p:spPr>
          <a:xfrm>
            <a:off x="2819400" y="1600200"/>
            <a:ext cx="5867400" cy="4953000"/>
          </a:xfrm>
        </p:spPr>
        <p:txBody>
          <a:bodyPr/>
          <a:lstStyle/>
          <a:p>
            <a:r>
              <a:rPr lang="en-US" sz="1800" i="1" dirty="0" smtClean="0">
                <a:solidFill>
                  <a:srgbClr val="C00000"/>
                </a:solidFill>
              </a:rPr>
              <a:t>Quality of work</a:t>
            </a:r>
          </a:p>
          <a:p>
            <a:r>
              <a:rPr lang="en-US" sz="1800" dirty="0" smtClean="0"/>
              <a:t>Flexibility</a:t>
            </a:r>
          </a:p>
          <a:p>
            <a:r>
              <a:rPr lang="en-US" sz="1800" dirty="0" smtClean="0"/>
              <a:t>Creativity in solving problems</a:t>
            </a:r>
          </a:p>
          <a:p>
            <a:r>
              <a:rPr lang="en-US" sz="1800" dirty="0" smtClean="0"/>
              <a:t>Communication skills</a:t>
            </a:r>
          </a:p>
          <a:p>
            <a:r>
              <a:rPr lang="en-US" sz="1800" dirty="0" smtClean="0"/>
              <a:t>Innovation</a:t>
            </a:r>
          </a:p>
          <a:p>
            <a:r>
              <a:rPr lang="en-US" sz="1800" dirty="0" smtClean="0"/>
              <a:t>Going above and beyond the requirements of the job</a:t>
            </a:r>
          </a:p>
          <a:p>
            <a:r>
              <a:rPr lang="en-US" sz="1800" dirty="0" smtClean="0"/>
              <a:t>Coordination, interaction, and collaboration with others (particularly those they don't have direct authority over)</a:t>
            </a:r>
          </a:p>
          <a:p>
            <a:r>
              <a:rPr lang="en-US" sz="1800" i="1" dirty="0" smtClean="0">
                <a:solidFill>
                  <a:srgbClr val="C00000"/>
                </a:solidFill>
              </a:rPr>
              <a:t>Accountability</a:t>
            </a:r>
          </a:p>
          <a:p>
            <a:r>
              <a:rPr lang="en-US" sz="1800" i="1" dirty="0" smtClean="0">
                <a:solidFill>
                  <a:srgbClr val="C00000"/>
                </a:solidFill>
              </a:rPr>
              <a:t>Ability to complete assignments in a timely manner</a:t>
            </a:r>
          </a:p>
          <a:p>
            <a:r>
              <a:rPr lang="en-US" sz="1800" i="1" dirty="0" smtClean="0">
                <a:solidFill>
                  <a:srgbClr val="C00000"/>
                </a:solidFill>
              </a:rPr>
              <a:t>Ethics and compliance</a:t>
            </a:r>
          </a:p>
          <a:p>
            <a:r>
              <a:rPr lang="en-US" sz="1800" dirty="0" smtClean="0"/>
              <a:t>Ability to pick up new skills on their own</a:t>
            </a:r>
          </a:p>
          <a:p>
            <a:r>
              <a:rPr lang="en-US" sz="1800" dirty="0" smtClean="0"/>
              <a:t>Ability to work with and enhance the work of other staff members</a:t>
            </a:r>
          </a:p>
          <a:p>
            <a:r>
              <a:rPr lang="en-US" sz="1800" dirty="0" smtClean="0"/>
              <a:t>Ability to manage short- and long-term projects</a:t>
            </a:r>
            <a:endParaRPr lang="en-US" sz="1800" dirty="0"/>
          </a:p>
        </p:txBody>
      </p:sp>
      <p:pic>
        <p:nvPicPr>
          <p:cNvPr id="2051" name="Picture 3"/>
          <p:cNvPicPr>
            <a:picLocks noChangeAspect="1" noChangeArrowheads="1"/>
          </p:cNvPicPr>
          <p:nvPr/>
        </p:nvPicPr>
        <p:blipFill>
          <a:blip r:embed="rId2" cstate="print"/>
          <a:srcRect/>
          <a:stretch>
            <a:fillRect/>
          </a:stretch>
        </p:blipFill>
        <p:spPr bwMode="auto">
          <a:xfrm>
            <a:off x="228600" y="2362200"/>
            <a:ext cx="2476500" cy="2667000"/>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228600" y="2819400"/>
            <a:ext cx="2590800" cy="1943100"/>
          </a:xfrm>
          <a:prstGeom prst="rect">
            <a:avLst/>
          </a:prstGeom>
          <a:noFill/>
          <a:ln w="9525">
            <a:noFill/>
            <a:miter lim="800000"/>
            <a:headEnd/>
            <a:tailEnd/>
          </a:ln>
          <a:effectLst/>
        </p:spPr>
      </p:pic>
      <p:sp>
        <p:nvSpPr>
          <p:cNvPr id="2" name="Title 1"/>
          <p:cNvSpPr>
            <a:spLocks noGrp="1"/>
          </p:cNvSpPr>
          <p:nvPr>
            <p:ph type="title"/>
          </p:nvPr>
        </p:nvSpPr>
        <p:spPr/>
        <p:txBody>
          <a:bodyPr/>
          <a:lstStyle/>
          <a:p>
            <a:pPr algn="l"/>
            <a:r>
              <a:rPr lang="en-US" dirty="0" smtClean="0"/>
              <a:t>5. Solve Performance Problem</a:t>
            </a:r>
            <a:endParaRPr lang="en-US" dirty="0"/>
          </a:p>
        </p:txBody>
      </p:sp>
      <p:graphicFrame>
        <p:nvGraphicFramePr>
          <p:cNvPr id="4" name="Diagram 3"/>
          <p:cNvGraphicFramePr/>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p:cNvSpPr/>
          <p:nvPr/>
        </p:nvSpPr>
        <p:spPr>
          <a:xfrm>
            <a:off x="5029200" y="5257800"/>
            <a:ext cx="3657600" cy="1446550"/>
          </a:xfrm>
          <a:prstGeom prst="rect">
            <a:avLst/>
          </a:prstGeom>
        </p:spPr>
        <p:txBody>
          <a:bodyPr wrap="square">
            <a:spAutoFit/>
          </a:bodyPr>
          <a:lstStyle/>
          <a:p>
            <a:pPr marL="457200" indent="-457200">
              <a:buFont typeface="Arial" pitchFamily="34" charset="0"/>
              <a:buChar char="•"/>
            </a:pPr>
            <a:r>
              <a:rPr lang="en-US" sz="2200" i="1" dirty="0" smtClean="0">
                <a:solidFill>
                  <a:srgbClr val="C00000"/>
                </a:solidFill>
                <a:latin typeface="+mj-lt"/>
              </a:rPr>
              <a:t>Rewards</a:t>
            </a:r>
            <a:r>
              <a:rPr lang="en-US" sz="2200" dirty="0" smtClean="0">
                <a:latin typeface="+mj-lt"/>
              </a:rPr>
              <a:t> and </a:t>
            </a:r>
            <a:r>
              <a:rPr lang="en-US" sz="2200" i="1" dirty="0" smtClean="0">
                <a:solidFill>
                  <a:srgbClr val="C00000"/>
                </a:solidFill>
                <a:latin typeface="+mj-lt"/>
              </a:rPr>
              <a:t>discipline</a:t>
            </a:r>
            <a:r>
              <a:rPr lang="en-US" sz="2200" dirty="0" smtClean="0">
                <a:latin typeface="+mj-lt"/>
              </a:rPr>
              <a:t> are clearly linked to performance and defined behavioral objectives.</a:t>
            </a:r>
            <a:endParaRPr lang="en-US" sz="2200" dirty="0">
              <a:latin typeface="+mj-lt"/>
            </a:endParaRPr>
          </a:p>
        </p:txBody>
      </p:sp>
      <p:sp>
        <p:nvSpPr>
          <p:cNvPr id="6" name="Rectangle 5"/>
          <p:cNvSpPr/>
          <p:nvPr/>
        </p:nvSpPr>
        <p:spPr>
          <a:xfrm>
            <a:off x="381000" y="5257800"/>
            <a:ext cx="4495800" cy="1446550"/>
          </a:xfrm>
          <a:prstGeom prst="rect">
            <a:avLst/>
          </a:prstGeom>
        </p:spPr>
        <p:txBody>
          <a:bodyPr wrap="square">
            <a:spAutoFit/>
          </a:bodyPr>
          <a:lstStyle/>
          <a:p>
            <a:pPr marL="457200" indent="-457200">
              <a:buFont typeface="Arial" pitchFamily="34" charset="0"/>
              <a:buChar char="•"/>
            </a:pPr>
            <a:r>
              <a:rPr lang="en-US" sz="2200" dirty="0" smtClean="0">
                <a:latin typeface="+mj-lt"/>
              </a:rPr>
              <a:t>Show </a:t>
            </a:r>
            <a:r>
              <a:rPr lang="en-US" sz="2200" i="1" dirty="0" smtClean="0">
                <a:solidFill>
                  <a:srgbClr val="C00000"/>
                </a:solidFill>
                <a:latin typeface="+mj-lt"/>
              </a:rPr>
              <a:t>positive</a:t>
            </a:r>
            <a:r>
              <a:rPr lang="en-US" sz="2200" dirty="0" smtClean="0">
                <a:latin typeface="+mj-lt"/>
              </a:rPr>
              <a:t> things and people</a:t>
            </a:r>
          </a:p>
          <a:p>
            <a:pPr marL="457200" indent="-457200">
              <a:buFont typeface="Arial" pitchFamily="34" charset="0"/>
              <a:buChar char="•"/>
            </a:pPr>
            <a:r>
              <a:rPr lang="en-US" sz="2200" dirty="0" smtClean="0">
                <a:latin typeface="+mj-lt"/>
              </a:rPr>
              <a:t>Help people focus on </a:t>
            </a:r>
            <a:r>
              <a:rPr lang="en-US" sz="2200" i="1" dirty="0" smtClean="0">
                <a:solidFill>
                  <a:srgbClr val="C00000"/>
                </a:solidFill>
                <a:latin typeface="+mj-lt"/>
              </a:rPr>
              <a:t>past</a:t>
            </a:r>
            <a:r>
              <a:rPr lang="en-US" sz="2200" dirty="0" smtClean="0">
                <a:latin typeface="+mj-lt"/>
              </a:rPr>
              <a:t> success, strengths, rewards</a:t>
            </a:r>
          </a:p>
          <a:p>
            <a:pPr marL="457200" indent="-457200">
              <a:buFont typeface="Arial" pitchFamily="34" charset="0"/>
              <a:buChar char="•"/>
            </a:pPr>
            <a:r>
              <a:rPr lang="en-US" sz="2200" dirty="0" smtClean="0">
                <a:latin typeface="+mj-lt"/>
              </a:rPr>
              <a:t>Help people </a:t>
            </a:r>
            <a:r>
              <a:rPr lang="en-US" sz="2200" i="1" dirty="0" smtClean="0">
                <a:solidFill>
                  <a:srgbClr val="C00000"/>
                </a:solidFill>
                <a:latin typeface="+mj-lt"/>
              </a:rPr>
              <a:t>focus</a:t>
            </a:r>
            <a:r>
              <a:rPr lang="en-US" sz="2200" dirty="0" smtClean="0">
                <a:latin typeface="+mj-lt"/>
              </a:rPr>
              <a:t> on work</a:t>
            </a:r>
            <a:endParaRPr lang="en-US" sz="2200" dirty="0">
              <a:latin typeface="+mj-lt"/>
            </a:endParaRPr>
          </a:p>
        </p:txBody>
      </p:sp>
      <p:sp>
        <p:nvSpPr>
          <p:cNvPr id="7" name="Rectangle 6"/>
          <p:cNvSpPr/>
          <p:nvPr/>
        </p:nvSpPr>
        <p:spPr>
          <a:xfrm>
            <a:off x="381000" y="1524000"/>
            <a:ext cx="2819400" cy="1107996"/>
          </a:xfrm>
          <a:prstGeom prst="rect">
            <a:avLst/>
          </a:prstGeom>
        </p:spPr>
        <p:txBody>
          <a:bodyPr wrap="square">
            <a:spAutoFit/>
          </a:bodyPr>
          <a:lstStyle/>
          <a:p>
            <a:pPr marL="457200" indent="-457200">
              <a:buFont typeface="Arial" pitchFamily="34" charset="0"/>
              <a:buChar char="•"/>
            </a:pPr>
            <a:r>
              <a:rPr lang="en-US" sz="2200" dirty="0" smtClean="0">
                <a:latin typeface="+mj-lt"/>
              </a:rPr>
              <a:t>Make sure people have materials and </a:t>
            </a:r>
            <a:r>
              <a:rPr lang="en-US" sz="2200" i="1" dirty="0" smtClean="0">
                <a:solidFill>
                  <a:srgbClr val="C00000"/>
                </a:solidFill>
                <a:latin typeface="+mj-lt"/>
              </a:rPr>
              <a:t>training</a:t>
            </a:r>
            <a:endParaRPr lang="en-US" sz="2200" i="1" dirty="0">
              <a:solidFill>
                <a:srgbClr val="C00000"/>
              </a:solidFill>
              <a:latin typeface="+mj-lt"/>
            </a:endParaRPr>
          </a:p>
        </p:txBody>
      </p:sp>
      <p:sp>
        <p:nvSpPr>
          <p:cNvPr id="8" name="Rectangle 7"/>
          <p:cNvSpPr/>
          <p:nvPr/>
        </p:nvSpPr>
        <p:spPr>
          <a:xfrm>
            <a:off x="6172200" y="1610142"/>
            <a:ext cx="2514600" cy="2123658"/>
          </a:xfrm>
          <a:prstGeom prst="rect">
            <a:avLst/>
          </a:prstGeom>
        </p:spPr>
        <p:txBody>
          <a:bodyPr wrap="square">
            <a:spAutoFit/>
          </a:bodyPr>
          <a:lstStyle/>
          <a:p>
            <a:pPr marL="457200" indent="-457200">
              <a:buFont typeface="Arial" pitchFamily="34" charset="0"/>
              <a:buChar char="•"/>
            </a:pPr>
            <a:r>
              <a:rPr lang="en-US" sz="2200" dirty="0" smtClean="0">
                <a:latin typeface="+mj-lt"/>
              </a:rPr>
              <a:t>Help people establish performance goals make sure people have the tools, </a:t>
            </a:r>
            <a:r>
              <a:rPr lang="en-US" sz="2200" i="1" dirty="0" smtClean="0">
                <a:solidFill>
                  <a:srgbClr val="C00000"/>
                </a:solidFill>
                <a:latin typeface="+mj-lt"/>
              </a:rPr>
              <a:t>resources</a:t>
            </a:r>
            <a:endParaRPr lang="en-US" sz="2200" i="1" dirty="0">
              <a:solidFill>
                <a:srgbClr val="C00000"/>
              </a:solidFill>
              <a:latin typeface="+mj-lt"/>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Try Seven Step Feedback Model</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sz="2400" dirty="0" smtClean="0"/>
              <a:t>When you…</a:t>
            </a:r>
          </a:p>
          <a:p>
            <a:pPr marL="514350" indent="-514350">
              <a:buFont typeface="+mj-lt"/>
              <a:buAutoNum type="arabicPeriod"/>
            </a:pPr>
            <a:r>
              <a:rPr lang="en-US" sz="2400" dirty="0" smtClean="0"/>
              <a:t>I feel…</a:t>
            </a:r>
          </a:p>
          <a:p>
            <a:pPr marL="514350" indent="-514350">
              <a:buFont typeface="+mj-lt"/>
              <a:buAutoNum type="arabicPeriod"/>
            </a:pPr>
            <a:r>
              <a:rPr lang="en-US" sz="2400" dirty="0" smtClean="0"/>
              <a:t>Because…</a:t>
            </a:r>
          </a:p>
          <a:p>
            <a:pPr marL="514350" indent="-514350">
              <a:buFont typeface="+mj-lt"/>
              <a:buAutoNum type="arabicPeriod"/>
            </a:pPr>
            <a:r>
              <a:rPr lang="en-US" sz="2400" i="1" dirty="0" smtClean="0"/>
              <a:t>Pause for a response (Optional)</a:t>
            </a:r>
          </a:p>
          <a:p>
            <a:pPr marL="514350" indent="-514350">
              <a:buFont typeface="+mj-lt"/>
              <a:buAutoNum type="arabicPeriod"/>
            </a:pPr>
            <a:r>
              <a:rPr lang="en-US" sz="2400" dirty="0" smtClean="0"/>
              <a:t>What I would like is…</a:t>
            </a:r>
          </a:p>
          <a:p>
            <a:pPr marL="514350" indent="-514350">
              <a:buFont typeface="+mj-lt"/>
              <a:buAutoNum type="arabicPeriod"/>
            </a:pPr>
            <a:r>
              <a:rPr lang="en-US" sz="2400" dirty="0" smtClean="0"/>
              <a:t>Because…</a:t>
            </a:r>
          </a:p>
          <a:p>
            <a:pPr marL="514350" indent="-514350">
              <a:buFont typeface="+mj-lt"/>
              <a:buAutoNum type="arabicPeriod"/>
            </a:pPr>
            <a:r>
              <a:rPr lang="en-US" sz="2400" i="1" dirty="0" smtClean="0"/>
              <a:t>What do you think?</a:t>
            </a:r>
            <a:endParaRPr lang="en-US" sz="2400" dirty="0"/>
          </a:p>
        </p:txBody>
      </p:sp>
      <p:pic>
        <p:nvPicPr>
          <p:cNvPr id="1026" name="Picture 2" descr="https://i0.wp.com/www.inspectandadapt.de/wp-content/uploads/2019/10/72D67175-6580-4CFC-8963-0F70DBFFA4C5.jpeg?fit=1200%2C594&amp;ssl=1"/>
          <p:cNvPicPr>
            <a:picLocks noChangeAspect="1" noChangeArrowheads="1"/>
          </p:cNvPicPr>
          <p:nvPr/>
        </p:nvPicPr>
        <p:blipFill>
          <a:blip r:embed="rId2" cstate="print"/>
          <a:srcRect/>
          <a:stretch>
            <a:fillRect/>
          </a:stretch>
        </p:blipFill>
        <p:spPr bwMode="auto">
          <a:xfrm>
            <a:off x="4419600" y="4114800"/>
            <a:ext cx="3806825" cy="1885950"/>
          </a:xfrm>
          <a:prstGeom prst="rect">
            <a:avLst/>
          </a:prstGeom>
          <a:noFill/>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7. Make Agreement: Done Looks Like This</a:t>
            </a:r>
            <a:endParaRPr lang="en-US" sz="3800" dirty="0"/>
          </a:p>
        </p:txBody>
      </p:sp>
      <p:pic>
        <p:nvPicPr>
          <p:cNvPr id="139266" name="Picture 2" descr="https://miro.medium.com/v2/resize:fit:1400/1*9y8lwR9hAqIJFiS7rtoIiw.png"/>
          <p:cNvPicPr>
            <a:picLocks noChangeAspect="1" noChangeArrowheads="1"/>
          </p:cNvPicPr>
          <p:nvPr/>
        </p:nvPicPr>
        <p:blipFill>
          <a:blip r:embed="rId2" cstate="print"/>
          <a:srcRect/>
          <a:stretch>
            <a:fillRect/>
          </a:stretch>
        </p:blipFill>
        <p:spPr bwMode="auto">
          <a:xfrm>
            <a:off x="2286000" y="2133600"/>
            <a:ext cx="4444445" cy="3606350"/>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8. Build Consistency</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Consistency</a:t>
            </a:r>
            <a:r>
              <a:rPr lang="en-US" sz="2400" dirty="0" smtClean="0"/>
              <a:t> throughout the project in </a:t>
            </a:r>
            <a:r>
              <a:rPr lang="en-US" sz="2400" u="sng" dirty="0" smtClean="0"/>
              <a:t>how</a:t>
            </a:r>
            <a:r>
              <a:rPr lang="en-US" sz="2400" dirty="0" smtClean="0"/>
              <a:t> things are done.</a:t>
            </a:r>
          </a:p>
          <a:p>
            <a:r>
              <a:rPr lang="en-US" sz="2400" i="1" dirty="0" smtClean="0">
                <a:solidFill>
                  <a:srgbClr val="C00000"/>
                </a:solidFill>
              </a:rPr>
              <a:t>Consistency</a:t>
            </a:r>
            <a:r>
              <a:rPr lang="en-US" sz="2400" dirty="0" smtClean="0"/>
              <a:t> in how the project integrates with and adheres to </a:t>
            </a:r>
            <a:r>
              <a:rPr lang="en-US" sz="2400" u="sng" dirty="0" smtClean="0"/>
              <a:t>organizational processes</a:t>
            </a:r>
            <a:r>
              <a:rPr lang="en-US" sz="2400" dirty="0" smtClean="0"/>
              <a:t>, procedures, guidelines, and </a:t>
            </a:r>
            <a:r>
              <a:rPr lang="en-US" sz="2400" u="sng" dirty="0" smtClean="0"/>
              <a:t>policies</a:t>
            </a:r>
            <a:r>
              <a:rPr lang="en-US" sz="2400" dirty="0" smtClean="0"/>
              <a:t>.</a:t>
            </a:r>
            <a:endParaRPr lang="en-US" sz="2400" dirty="0"/>
          </a:p>
        </p:txBody>
      </p:sp>
      <p:pic>
        <p:nvPicPr>
          <p:cNvPr id="1028" name="Picture 4" descr="https://imageio.forbes.com/specials-images/imageserve/5f9c1d1bdc974abc3157d8a9/Woman-positioning-final-magenta-block-in-grid/960x0.jpg?height=474&amp;width=711&amp;fit=bounds"/>
          <p:cNvPicPr>
            <a:picLocks noChangeAspect="1" noChangeArrowheads="1"/>
          </p:cNvPicPr>
          <p:nvPr/>
        </p:nvPicPr>
        <p:blipFill>
          <a:blip r:embed="rId2" cstate="print"/>
          <a:srcRect/>
          <a:stretch>
            <a:fillRect/>
          </a:stretch>
        </p:blipFill>
        <p:spPr bwMode="auto">
          <a:xfrm>
            <a:off x="2862262" y="3505200"/>
            <a:ext cx="3386138" cy="2257425"/>
          </a:xfrm>
          <a:prstGeom prst="rect">
            <a:avLst/>
          </a:prstGeom>
          <a:noFill/>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9. Build Consensus</a:t>
            </a:r>
            <a:endParaRPr lang="en-US" dirty="0"/>
          </a:p>
        </p:txBody>
      </p:sp>
      <p:sp>
        <p:nvSpPr>
          <p:cNvPr id="3" name="Content Placeholder 2"/>
          <p:cNvSpPr>
            <a:spLocks noGrp="1"/>
          </p:cNvSpPr>
          <p:nvPr>
            <p:ph idx="1"/>
          </p:nvPr>
        </p:nvSpPr>
        <p:spPr/>
        <p:txBody>
          <a:bodyPr/>
          <a:lstStyle/>
          <a:p>
            <a:r>
              <a:rPr lang="en-US" sz="2400" dirty="0" smtClean="0"/>
              <a:t>As it is within the team, listening to </a:t>
            </a:r>
            <a:r>
              <a:rPr lang="en-US" sz="2400" u="sng" dirty="0" smtClean="0"/>
              <a:t>all viewpoints</a:t>
            </a:r>
            <a:r>
              <a:rPr lang="en-US" sz="2400" dirty="0" smtClean="0"/>
              <a:t> and building </a:t>
            </a:r>
            <a:r>
              <a:rPr lang="en-US" sz="2400" i="1" dirty="0" smtClean="0">
                <a:solidFill>
                  <a:srgbClr val="C00000"/>
                </a:solidFill>
              </a:rPr>
              <a:t>consensus</a:t>
            </a:r>
            <a:r>
              <a:rPr lang="en-US" sz="2400" dirty="0" smtClean="0"/>
              <a:t> on which is the best idea or action that will help the project move forward is also important to stakeholders.</a:t>
            </a:r>
            <a:endParaRPr lang="en-US" sz="2400" dirty="0"/>
          </a:p>
        </p:txBody>
      </p:sp>
      <p:pic>
        <p:nvPicPr>
          <p:cNvPr id="141314" name="Picture 2" descr="https://www.churchleadership.com/wp-content/uploads/2021/06/art-forging-meaningful-consensus.png"/>
          <p:cNvPicPr>
            <a:picLocks noChangeAspect="1" noChangeArrowheads="1"/>
          </p:cNvPicPr>
          <p:nvPr/>
        </p:nvPicPr>
        <p:blipFill>
          <a:blip r:embed="rId2" cstate="print"/>
          <a:srcRect/>
          <a:stretch>
            <a:fillRect/>
          </a:stretch>
        </p:blipFill>
        <p:spPr bwMode="auto">
          <a:xfrm>
            <a:off x="2362200" y="3657600"/>
            <a:ext cx="4470400" cy="2133600"/>
          </a:xfrm>
          <a:prstGeom prst="rect">
            <a:avLst/>
          </a:prstGeom>
          <a:noFill/>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p:txBody>
          <a:bodyPr/>
          <a:lstStyle/>
          <a:p>
            <a:pPr eaLnBrk="1" hangingPunct="1"/>
            <a:r>
              <a:rPr lang="en-US" dirty="0" smtClean="0"/>
              <a:t>The Mythical Man-Month</a:t>
            </a:r>
          </a:p>
        </p:txBody>
      </p:sp>
      <p:sp>
        <p:nvSpPr>
          <p:cNvPr id="4" name="Rectangle 3"/>
          <p:cNvSpPr/>
          <p:nvPr/>
        </p:nvSpPr>
        <p:spPr>
          <a:xfrm>
            <a:off x="1066800" y="1143000"/>
            <a:ext cx="6934200" cy="430887"/>
          </a:xfrm>
          <a:prstGeom prst="rect">
            <a:avLst/>
          </a:prstGeom>
          <a:solidFill>
            <a:schemeClr val="accent1"/>
          </a:solidFill>
        </p:spPr>
        <p:txBody>
          <a:bodyPr wrap="square">
            <a:spAutoFit/>
          </a:bodyPr>
          <a:lstStyle/>
          <a:p>
            <a:pPr algn="r"/>
            <a:r>
              <a:rPr lang="en-US" sz="2200" i="1" dirty="0" smtClean="0">
                <a:solidFill>
                  <a:schemeClr val="bg1"/>
                </a:solidFill>
                <a:latin typeface="+mj-lt"/>
              </a:rPr>
              <a:t>Adding manpower to a late software project makes it later.</a:t>
            </a:r>
          </a:p>
        </p:txBody>
      </p:sp>
      <p:pic>
        <p:nvPicPr>
          <p:cNvPr id="1028" name="Picture 4"/>
          <p:cNvPicPr>
            <a:picLocks noChangeAspect="1" noChangeArrowheads="1"/>
          </p:cNvPicPr>
          <p:nvPr/>
        </p:nvPicPr>
        <p:blipFill>
          <a:blip r:embed="rId2" cstate="print"/>
          <a:srcRect/>
          <a:stretch>
            <a:fillRect/>
          </a:stretch>
        </p:blipFill>
        <p:spPr bwMode="auto">
          <a:xfrm>
            <a:off x="1905000" y="1676400"/>
            <a:ext cx="2667000" cy="2438400"/>
          </a:xfrm>
          <a:prstGeom prst="rect">
            <a:avLst/>
          </a:prstGeom>
          <a:noFill/>
          <a:ln w="9525">
            <a:noFill/>
            <a:miter lim="800000"/>
            <a:headEnd/>
            <a:tailEnd/>
          </a:ln>
          <a:effectLst/>
        </p:spPr>
      </p:pic>
      <p:pic>
        <p:nvPicPr>
          <p:cNvPr id="1030" name="Picture 6"/>
          <p:cNvPicPr>
            <a:picLocks noChangeAspect="1" noChangeArrowheads="1"/>
          </p:cNvPicPr>
          <p:nvPr/>
        </p:nvPicPr>
        <p:blipFill>
          <a:blip r:embed="rId3" cstate="print"/>
          <a:srcRect/>
          <a:stretch>
            <a:fillRect/>
          </a:stretch>
        </p:blipFill>
        <p:spPr bwMode="auto">
          <a:xfrm>
            <a:off x="4619625" y="1676400"/>
            <a:ext cx="2771775" cy="2562225"/>
          </a:xfrm>
          <a:prstGeom prst="rect">
            <a:avLst/>
          </a:prstGeom>
          <a:noFill/>
          <a:ln w="9525">
            <a:noFill/>
            <a:miter lim="800000"/>
            <a:headEnd/>
            <a:tailEnd/>
          </a:ln>
          <a:effectLst/>
        </p:spPr>
      </p:pic>
      <p:pic>
        <p:nvPicPr>
          <p:cNvPr id="1031" name="Picture 7"/>
          <p:cNvPicPr>
            <a:picLocks noChangeAspect="1" noChangeArrowheads="1"/>
          </p:cNvPicPr>
          <p:nvPr/>
        </p:nvPicPr>
        <p:blipFill>
          <a:blip r:embed="rId4" cstate="print"/>
          <a:srcRect/>
          <a:stretch>
            <a:fillRect/>
          </a:stretch>
        </p:blipFill>
        <p:spPr bwMode="auto">
          <a:xfrm>
            <a:off x="1914525" y="4191000"/>
            <a:ext cx="2733675" cy="2543175"/>
          </a:xfrm>
          <a:prstGeom prst="rect">
            <a:avLst/>
          </a:prstGeom>
          <a:noFill/>
          <a:ln w="9525">
            <a:noFill/>
            <a:miter lim="800000"/>
            <a:headEnd/>
            <a:tailEnd/>
          </a:ln>
          <a:effectLst/>
        </p:spPr>
      </p:pic>
      <p:pic>
        <p:nvPicPr>
          <p:cNvPr id="1032" name="Picture 8"/>
          <p:cNvPicPr>
            <a:picLocks noChangeAspect="1" noChangeArrowheads="1"/>
          </p:cNvPicPr>
          <p:nvPr/>
        </p:nvPicPr>
        <p:blipFill>
          <a:blip r:embed="rId5" cstate="print"/>
          <a:srcRect/>
          <a:stretch>
            <a:fillRect/>
          </a:stretch>
        </p:blipFill>
        <p:spPr bwMode="auto">
          <a:xfrm>
            <a:off x="4724400" y="4191000"/>
            <a:ext cx="2657475" cy="2476500"/>
          </a:xfrm>
          <a:prstGeom prst="rect">
            <a:avLst/>
          </a:prstGeom>
          <a:noFill/>
          <a:ln w="9525">
            <a:noFill/>
            <a:miter lim="800000"/>
            <a:headEnd/>
            <a:tailEnd/>
          </a:ln>
          <a:effectLst/>
        </p:spPr>
      </p:pic>
      <p:sp>
        <p:nvSpPr>
          <p:cNvPr id="13" name="Rectangle 12"/>
          <p:cNvSpPr/>
          <p:nvPr/>
        </p:nvSpPr>
        <p:spPr>
          <a:xfrm>
            <a:off x="7315201" y="4648200"/>
            <a:ext cx="1676400" cy="1446550"/>
          </a:xfrm>
          <a:prstGeom prst="rect">
            <a:avLst/>
          </a:prstGeom>
        </p:spPr>
        <p:txBody>
          <a:bodyPr wrap="square">
            <a:spAutoFit/>
          </a:bodyPr>
          <a:lstStyle/>
          <a:p>
            <a:r>
              <a:rPr lang="en-US" sz="2200" dirty="0" smtClean="0">
                <a:latin typeface="+mj-lt"/>
              </a:rPr>
              <a:t>Task with complex interrelation-ships</a:t>
            </a:r>
            <a:endParaRPr lang="en-US" sz="2200" dirty="0">
              <a:latin typeface="+mj-lt"/>
            </a:endParaRPr>
          </a:p>
        </p:txBody>
      </p:sp>
      <p:sp>
        <p:nvSpPr>
          <p:cNvPr id="14" name="Rectangle 13"/>
          <p:cNvSpPr/>
          <p:nvPr/>
        </p:nvSpPr>
        <p:spPr>
          <a:xfrm>
            <a:off x="76200" y="4495800"/>
            <a:ext cx="1981200" cy="1107996"/>
          </a:xfrm>
          <a:prstGeom prst="rect">
            <a:avLst/>
          </a:prstGeom>
        </p:spPr>
        <p:txBody>
          <a:bodyPr wrap="square">
            <a:spAutoFit/>
          </a:bodyPr>
          <a:lstStyle/>
          <a:p>
            <a:r>
              <a:rPr lang="en-US" sz="2200" dirty="0" smtClean="0">
                <a:latin typeface="+mj-lt"/>
              </a:rPr>
              <a:t>Partition-able task requiring communication</a:t>
            </a:r>
            <a:endParaRPr lang="en-US" sz="2200" dirty="0">
              <a:latin typeface="+mj-lt"/>
            </a:endParaRPr>
          </a:p>
        </p:txBody>
      </p:sp>
      <p:sp>
        <p:nvSpPr>
          <p:cNvPr id="15" name="Rectangle 14"/>
          <p:cNvSpPr/>
          <p:nvPr/>
        </p:nvSpPr>
        <p:spPr>
          <a:xfrm>
            <a:off x="7315200" y="2438400"/>
            <a:ext cx="1600200" cy="769441"/>
          </a:xfrm>
          <a:prstGeom prst="rect">
            <a:avLst/>
          </a:prstGeom>
        </p:spPr>
        <p:txBody>
          <a:bodyPr wrap="square">
            <a:spAutoFit/>
          </a:bodyPr>
          <a:lstStyle/>
          <a:p>
            <a:r>
              <a:rPr lang="en-US" sz="2200" dirty="0" err="1" smtClean="0">
                <a:latin typeface="+mj-lt"/>
              </a:rPr>
              <a:t>Unpartition</a:t>
            </a:r>
            <a:r>
              <a:rPr lang="en-US" sz="2200" dirty="0" smtClean="0">
                <a:latin typeface="+mj-lt"/>
              </a:rPr>
              <a:t>-able task</a:t>
            </a:r>
            <a:endParaRPr lang="en-US" sz="2200" dirty="0">
              <a:latin typeface="+mj-lt"/>
            </a:endParaRPr>
          </a:p>
        </p:txBody>
      </p:sp>
      <p:sp>
        <p:nvSpPr>
          <p:cNvPr id="16" name="Rectangle 15"/>
          <p:cNvSpPr/>
          <p:nvPr/>
        </p:nvSpPr>
        <p:spPr>
          <a:xfrm>
            <a:off x="228600" y="2362200"/>
            <a:ext cx="1524000" cy="1107996"/>
          </a:xfrm>
          <a:prstGeom prst="rect">
            <a:avLst/>
          </a:prstGeom>
        </p:spPr>
        <p:txBody>
          <a:bodyPr wrap="square">
            <a:spAutoFit/>
          </a:bodyPr>
          <a:lstStyle/>
          <a:p>
            <a:r>
              <a:rPr lang="en-US" sz="2200" dirty="0" smtClean="0">
                <a:latin typeface="+mj-lt"/>
              </a:rPr>
              <a:t>Perfectly partition-able task</a:t>
            </a:r>
            <a:endParaRPr lang="en-US" sz="2200" dirty="0">
              <a:latin typeface="+mj-lt"/>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Leadership: Discussion Questions</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sz="2400" dirty="0" smtClean="0"/>
              <a:t>Intrinsic rewards (recognition, responsibility, advancement)?</a:t>
            </a:r>
          </a:p>
          <a:p>
            <a:pPr marL="514350" indent="-514350">
              <a:buFont typeface="+mj-lt"/>
              <a:buAutoNum type="arabicPeriod"/>
            </a:pPr>
            <a:r>
              <a:rPr lang="en-US" sz="2400" dirty="0" smtClean="0"/>
              <a:t>Achievement?</a:t>
            </a:r>
          </a:p>
          <a:p>
            <a:pPr marL="514350" indent="-514350">
              <a:buFont typeface="+mj-lt"/>
              <a:buAutoNum type="arabicPeriod"/>
            </a:pPr>
            <a:r>
              <a:rPr lang="en-US" sz="2400" dirty="0" smtClean="0"/>
              <a:t>Power?</a:t>
            </a:r>
          </a:p>
          <a:p>
            <a:pPr marL="514350" indent="-514350">
              <a:buFont typeface="+mj-lt"/>
              <a:buAutoNum type="arabicPeriod"/>
            </a:pPr>
            <a:r>
              <a:rPr lang="en-US" sz="2400" dirty="0" smtClean="0"/>
              <a:t>Affiliation?</a:t>
            </a:r>
          </a:p>
        </p:txBody>
      </p:sp>
      <p:pic>
        <p:nvPicPr>
          <p:cNvPr id="1026" name="Picture 2"/>
          <p:cNvPicPr>
            <a:picLocks noChangeAspect="1" noChangeArrowheads="1"/>
          </p:cNvPicPr>
          <p:nvPr/>
        </p:nvPicPr>
        <p:blipFill>
          <a:blip r:embed="rId2" cstate="print"/>
          <a:srcRect/>
          <a:stretch>
            <a:fillRect/>
          </a:stretch>
        </p:blipFill>
        <p:spPr bwMode="auto">
          <a:xfrm>
            <a:off x="2895600" y="4038600"/>
            <a:ext cx="3046761" cy="1982681"/>
          </a:xfrm>
          <a:prstGeom prst="rect">
            <a:avLst/>
          </a:prstGeom>
          <a:noFill/>
          <a:ln w="9525">
            <a:noFill/>
            <a:miter lim="800000"/>
            <a:headEnd/>
            <a:tailEnd/>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Intrinsic Motivation [10]</a:t>
            </a:r>
            <a:endParaRPr lang="en-US" dirty="0"/>
          </a:p>
        </p:txBody>
      </p:sp>
      <p:sp>
        <p:nvSpPr>
          <p:cNvPr id="3" name="Content Placeholder 2"/>
          <p:cNvSpPr>
            <a:spLocks noGrp="1"/>
          </p:cNvSpPr>
          <p:nvPr>
            <p:ph idx="1"/>
          </p:nvPr>
        </p:nvSpPr>
        <p:spPr>
          <a:xfrm>
            <a:off x="457200" y="2667000"/>
            <a:ext cx="8229600" cy="3459163"/>
          </a:xfrm>
        </p:spPr>
        <p:txBody>
          <a:bodyPr/>
          <a:lstStyle/>
          <a:p>
            <a:r>
              <a:rPr lang="en-US" sz="2400" dirty="0" smtClean="0"/>
              <a:t>Most of us are motivated by </a:t>
            </a:r>
            <a:r>
              <a:rPr lang="en-US" sz="2400" i="1" dirty="0" smtClean="0">
                <a:solidFill>
                  <a:srgbClr val="C00000"/>
                </a:solidFill>
              </a:rPr>
              <a:t>intrinsic rewards</a:t>
            </a:r>
            <a:r>
              <a:rPr lang="en-US" sz="2400" dirty="0" smtClean="0"/>
              <a:t>: </a:t>
            </a:r>
            <a:r>
              <a:rPr lang="en-US" sz="2400" u="sng" dirty="0" smtClean="0"/>
              <a:t>interesting</a:t>
            </a:r>
            <a:r>
              <a:rPr lang="en-US" sz="2400" dirty="0" smtClean="0"/>
              <a:t>, </a:t>
            </a:r>
            <a:r>
              <a:rPr lang="en-US" sz="2400" u="sng" dirty="0" smtClean="0"/>
              <a:t>challenging work</a:t>
            </a:r>
            <a:r>
              <a:rPr lang="en-US" sz="2400" dirty="0" smtClean="0"/>
              <a:t>, and the opportunity to achieve and grow into </a:t>
            </a:r>
            <a:r>
              <a:rPr lang="en-US" sz="2400" u="sng" dirty="0" smtClean="0"/>
              <a:t>greater responsibility</a:t>
            </a:r>
            <a:r>
              <a:rPr lang="en-US" sz="2400" dirty="0" smtClean="0"/>
              <a:t>.</a:t>
            </a:r>
          </a:p>
          <a:p>
            <a:r>
              <a:rPr lang="en-US" sz="2400" dirty="0" smtClean="0"/>
              <a:t>Of course, you have to provide </a:t>
            </a:r>
            <a:r>
              <a:rPr lang="en-US" sz="2400" i="1" dirty="0" smtClean="0">
                <a:solidFill>
                  <a:srgbClr val="C00000"/>
                </a:solidFill>
              </a:rPr>
              <a:t>some extrinsic incentives</a:t>
            </a:r>
            <a:r>
              <a:rPr lang="en-US" sz="2400" dirty="0" smtClean="0"/>
              <a:t>.</a:t>
            </a:r>
          </a:p>
          <a:p>
            <a:r>
              <a:rPr lang="en-US" sz="2400" dirty="0" smtClean="0"/>
              <a:t>After all, few of us can afford to work for </a:t>
            </a:r>
            <a:r>
              <a:rPr lang="en-US" sz="2400" i="1" dirty="0" smtClean="0">
                <a:solidFill>
                  <a:srgbClr val="C00000"/>
                </a:solidFill>
              </a:rPr>
              <a:t>no salary</a:t>
            </a:r>
            <a:r>
              <a:rPr lang="en-US" sz="2400" dirty="0" smtClean="0"/>
              <a:t>.</a:t>
            </a:r>
          </a:p>
          <a:p>
            <a:endParaRPr lang="en-US" sz="2400" dirty="0"/>
          </a:p>
        </p:txBody>
      </p:sp>
      <p:sp>
        <p:nvSpPr>
          <p:cNvPr id="4" name="Rectangle 3"/>
          <p:cNvSpPr/>
          <p:nvPr/>
        </p:nvSpPr>
        <p:spPr>
          <a:xfrm>
            <a:off x="381000" y="1447800"/>
            <a:ext cx="8382000" cy="95410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2800" dirty="0" smtClean="0">
                <a:solidFill>
                  <a:schemeClr val="bg1"/>
                </a:solidFill>
                <a:latin typeface="+mj-lt"/>
              </a:rPr>
              <a:t>Forget praise. Forget punishment. Forget cash.</a:t>
            </a:r>
          </a:p>
          <a:p>
            <a:pPr algn="ctr"/>
            <a:r>
              <a:rPr lang="en-US" sz="2800" dirty="0" smtClean="0">
                <a:solidFill>
                  <a:schemeClr val="bg1"/>
                </a:solidFill>
                <a:latin typeface="+mj-lt"/>
              </a:rPr>
              <a:t>You need to make their jobs more </a:t>
            </a:r>
            <a:r>
              <a:rPr lang="en-US" sz="2800" u="sng" dirty="0" smtClean="0">
                <a:solidFill>
                  <a:schemeClr val="bg1"/>
                </a:solidFill>
                <a:latin typeface="+mj-lt"/>
              </a:rPr>
              <a:t>interesting</a:t>
            </a:r>
            <a:r>
              <a:rPr lang="en-US" sz="2800" dirty="0" smtClean="0">
                <a:solidFill>
                  <a:schemeClr val="bg1"/>
                </a:solidFill>
                <a:latin typeface="+mj-lt"/>
              </a:rPr>
              <a:t>.</a:t>
            </a:r>
            <a:endParaRPr lang="en-US" sz="2800" dirty="0">
              <a:solidFill>
                <a:schemeClr val="bg1"/>
              </a:solidFill>
              <a:latin typeface="+mj-lt"/>
            </a:endParaRPr>
          </a:p>
        </p:txBody>
      </p:sp>
      <p:pic>
        <p:nvPicPr>
          <p:cNvPr id="5" name="Picture 3"/>
          <p:cNvPicPr>
            <a:picLocks noChangeAspect="1" noChangeArrowheads="1"/>
          </p:cNvPicPr>
          <p:nvPr/>
        </p:nvPicPr>
        <p:blipFill>
          <a:blip r:embed="rId2" cstate="print"/>
          <a:srcRect/>
          <a:stretch>
            <a:fillRect/>
          </a:stretch>
        </p:blipFill>
        <p:spPr bwMode="auto">
          <a:xfrm>
            <a:off x="3810000" y="4876800"/>
            <a:ext cx="1905000" cy="1343025"/>
          </a:xfrm>
          <a:prstGeom prst="rect">
            <a:avLst/>
          </a:prstGeom>
          <a:noFill/>
          <a:ln w="9525">
            <a:noFill/>
            <a:miter lim="800000"/>
            <a:headEnd/>
            <a:tailEnd/>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Intrinsic Rewards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Enrich their jobs</a:t>
            </a:r>
            <a:r>
              <a:rPr lang="en-US" sz="2400" dirty="0" smtClean="0"/>
              <a:t> by applying these principles:</a:t>
            </a:r>
          </a:p>
          <a:p>
            <a:pPr lvl="1"/>
            <a:r>
              <a:rPr lang="en-US" sz="2400" dirty="0" smtClean="0"/>
              <a:t>Enable people to take on </a:t>
            </a:r>
            <a:r>
              <a:rPr lang="en-US" sz="2400" i="1" dirty="0" smtClean="0">
                <a:solidFill>
                  <a:srgbClr val="C00000"/>
                </a:solidFill>
              </a:rPr>
              <a:t>new, more difficult tasks</a:t>
            </a:r>
            <a:r>
              <a:rPr lang="en-US" sz="2400" dirty="0" smtClean="0"/>
              <a:t> they haven't handled before.</a:t>
            </a:r>
          </a:p>
          <a:p>
            <a:pPr lvl="1"/>
            <a:r>
              <a:rPr lang="en-US" sz="2400" dirty="0" smtClean="0"/>
              <a:t>Assign individuals specialized tasks that allow them to </a:t>
            </a:r>
            <a:r>
              <a:rPr lang="en-US" sz="2400" i="1" dirty="0" smtClean="0">
                <a:solidFill>
                  <a:srgbClr val="C00000"/>
                </a:solidFill>
              </a:rPr>
              <a:t>become experts</a:t>
            </a:r>
            <a:r>
              <a:rPr lang="en-US" sz="2400" dirty="0" smtClean="0"/>
              <a:t>.</a:t>
            </a:r>
          </a:p>
          <a:p>
            <a:pPr lvl="1"/>
            <a:r>
              <a:rPr lang="en-US" sz="2400" dirty="0" smtClean="0"/>
              <a:t>Increase individuals' accountability for their work by </a:t>
            </a:r>
            <a:r>
              <a:rPr lang="en-US" sz="2400" i="1" dirty="0" smtClean="0">
                <a:solidFill>
                  <a:srgbClr val="C00000"/>
                </a:solidFill>
              </a:rPr>
              <a:t>removing some controls</a:t>
            </a:r>
            <a:r>
              <a:rPr lang="en-US" sz="2400" dirty="0" smtClean="0"/>
              <a:t>.</a:t>
            </a:r>
          </a:p>
          <a:p>
            <a:pPr lvl="1"/>
            <a:r>
              <a:rPr lang="en-US" sz="2400" dirty="0" smtClean="0"/>
              <a:t>Make information available </a:t>
            </a:r>
            <a:r>
              <a:rPr lang="en-US" sz="2400" i="1" dirty="0" smtClean="0">
                <a:solidFill>
                  <a:srgbClr val="C00000"/>
                </a:solidFill>
              </a:rPr>
              <a:t>directly to employees</a:t>
            </a:r>
            <a:r>
              <a:rPr lang="en-US" sz="2400" dirty="0" smtClean="0"/>
              <a:t> rather than sending it through their managers first.</a:t>
            </a:r>
          </a:p>
          <a:p>
            <a:pPr lvl="1"/>
            <a:r>
              <a:rPr lang="en-US" sz="2400" dirty="0" smtClean="0"/>
              <a:t>Give people </a:t>
            </a:r>
            <a:r>
              <a:rPr lang="en-US" sz="2400" i="1" dirty="0" smtClean="0">
                <a:solidFill>
                  <a:srgbClr val="C00000"/>
                </a:solidFill>
              </a:rPr>
              <a:t>responsibility</a:t>
            </a:r>
            <a:r>
              <a:rPr lang="en-US" sz="2400" dirty="0" smtClean="0"/>
              <a:t> for a complete process or unit of work.</a:t>
            </a:r>
          </a:p>
        </p:txBody>
      </p:sp>
      <p:pic>
        <p:nvPicPr>
          <p:cNvPr id="1026" name="Picture 2" descr="https://encrypted-tbn0.gstatic.com/images?q=tbn:ANd9GcRfCRhggMZAcSTBM2IQQ4MPk1ZNZZEB-I9Cczqn9DhkhaEs85CfJg"/>
          <p:cNvPicPr>
            <a:picLocks noChangeAspect="1" noChangeArrowheads="1"/>
          </p:cNvPicPr>
          <p:nvPr/>
        </p:nvPicPr>
        <p:blipFill>
          <a:blip r:embed="rId2" cstate="print"/>
          <a:srcRect/>
          <a:stretch>
            <a:fillRect/>
          </a:stretch>
        </p:blipFill>
        <p:spPr bwMode="auto">
          <a:xfrm>
            <a:off x="6858000" y="457200"/>
            <a:ext cx="1817370" cy="908685"/>
          </a:xfrm>
          <a:prstGeom prst="rect">
            <a:avLst/>
          </a:prstGeom>
          <a:noFill/>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Hygiene Theory (Frederick Herzberg) [3]</a:t>
            </a:r>
            <a:endParaRPr lang="en-US" sz="3800" dirty="0"/>
          </a:p>
        </p:txBody>
      </p:sp>
      <p:sp>
        <p:nvSpPr>
          <p:cNvPr id="3" name="Content Placeholder 2"/>
          <p:cNvSpPr>
            <a:spLocks noGrp="1"/>
          </p:cNvSpPr>
          <p:nvPr>
            <p:ph idx="1"/>
          </p:nvPr>
        </p:nvSpPr>
        <p:spPr>
          <a:xfrm>
            <a:off x="457200" y="1600201"/>
            <a:ext cx="8229600" cy="2971800"/>
          </a:xfrm>
        </p:spPr>
        <p:txBody>
          <a:bodyPr/>
          <a:lstStyle/>
          <a:p>
            <a:r>
              <a:rPr lang="en-US" sz="2000" dirty="0" smtClean="0"/>
              <a:t>There are two factors that contribute to </a:t>
            </a:r>
            <a:r>
              <a:rPr lang="en-US" sz="2000" i="1" dirty="0" smtClean="0">
                <a:solidFill>
                  <a:srgbClr val="C00000"/>
                </a:solidFill>
              </a:rPr>
              <a:t>motivation</a:t>
            </a:r>
            <a:r>
              <a:rPr lang="en-US" sz="2000" dirty="0" smtClean="0"/>
              <a:t>: hygiene factors and motivators.</a:t>
            </a:r>
          </a:p>
          <a:p>
            <a:r>
              <a:rPr lang="en-US" sz="2000" i="1" dirty="0" smtClean="0">
                <a:solidFill>
                  <a:srgbClr val="C00000"/>
                </a:solidFill>
              </a:rPr>
              <a:t>Hygiene factors</a:t>
            </a:r>
            <a:r>
              <a:rPr lang="en-US" sz="2000" dirty="0" smtClean="0"/>
              <a:t> deal with </a:t>
            </a:r>
            <a:r>
              <a:rPr lang="en-US" sz="2000" u="sng" dirty="0" smtClean="0"/>
              <a:t>work environment issues</a:t>
            </a:r>
            <a:r>
              <a:rPr lang="en-US" sz="2000" dirty="0" smtClean="0"/>
              <a:t>. They prevent dissatisfaction: Pay, benefits, the conditions of the work environment, and relationships with peers and managers.</a:t>
            </a:r>
          </a:p>
          <a:p>
            <a:r>
              <a:rPr lang="en-US" sz="2000" i="1" dirty="0" smtClean="0">
                <a:solidFill>
                  <a:srgbClr val="C00000"/>
                </a:solidFill>
              </a:rPr>
              <a:t>Motivators</a:t>
            </a:r>
            <a:r>
              <a:rPr lang="en-US" sz="2000" dirty="0" smtClean="0"/>
              <a:t> deal with the substance of the work itself and </a:t>
            </a:r>
            <a:r>
              <a:rPr lang="en-US" sz="2000" u="sng" dirty="0" smtClean="0"/>
              <a:t>the satisfaction one</a:t>
            </a:r>
            <a:r>
              <a:rPr lang="en-US" sz="2000" dirty="0" smtClean="0"/>
              <a:t> derives from performing the functions of the job. Motivators lead to satisfaction: The ability to advance, the opportunity to learn new skills, and the challenges involved in the work.</a:t>
            </a:r>
            <a:endParaRPr lang="en-US" sz="2000" dirty="0"/>
          </a:p>
        </p:txBody>
      </p:sp>
      <p:pic>
        <p:nvPicPr>
          <p:cNvPr id="89090" name="Picture 2" descr="https://www.businessdevelopmentcompany.co.nz/wp-content/uploads/2015/06/Frederick-Herzbergs-Theory-Image-1024x282.jpg"/>
          <p:cNvPicPr>
            <a:picLocks noChangeAspect="1" noChangeArrowheads="1"/>
          </p:cNvPicPr>
          <p:nvPr/>
        </p:nvPicPr>
        <p:blipFill>
          <a:blip r:embed="rId2" cstate="print"/>
          <a:srcRect/>
          <a:stretch>
            <a:fillRect/>
          </a:stretch>
        </p:blipFill>
        <p:spPr bwMode="auto">
          <a:xfrm>
            <a:off x="609600" y="4495800"/>
            <a:ext cx="7802880" cy="2148840"/>
          </a:xfrm>
          <a:prstGeom prst="rect">
            <a:avLst/>
          </a:prstGeom>
          <a:noFill/>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Expectancy Theory (Victor Vroom)</a:t>
            </a:r>
            <a:endParaRPr lang="en-US" dirty="0"/>
          </a:p>
        </p:txBody>
      </p:sp>
      <p:sp>
        <p:nvSpPr>
          <p:cNvPr id="3" name="Content Placeholder 2"/>
          <p:cNvSpPr>
            <a:spLocks noGrp="1"/>
          </p:cNvSpPr>
          <p:nvPr>
            <p:ph idx="1"/>
          </p:nvPr>
        </p:nvSpPr>
        <p:spPr>
          <a:xfrm>
            <a:off x="457200" y="1600201"/>
            <a:ext cx="8229600" cy="1752599"/>
          </a:xfrm>
        </p:spPr>
        <p:txBody>
          <a:bodyPr/>
          <a:lstStyle/>
          <a:p>
            <a:r>
              <a:rPr lang="en-US" sz="2200" dirty="0" smtClean="0"/>
              <a:t>The </a:t>
            </a:r>
            <a:r>
              <a:rPr lang="en-US" sz="2200" i="1" dirty="0" smtClean="0">
                <a:solidFill>
                  <a:srgbClr val="C00000"/>
                </a:solidFill>
              </a:rPr>
              <a:t>expectation of a positive outcome</a:t>
            </a:r>
            <a:r>
              <a:rPr lang="en-US" sz="2200" dirty="0" smtClean="0"/>
              <a:t> </a:t>
            </a:r>
            <a:r>
              <a:rPr lang="en-US" sz="2200" u="sng" dirty="0" smtClean="0"/>
              <a:t>drives motivation</a:t>
            </a:r>
            <a:r>
              <a:rPr lang="en-US" sz="2200" dirty="0" smtClean="0"/>
              <a:t>.</a:t>
            </a:r>
          </a:p>
          <a:p>
            <a:r>
              <a:rPr lang="en-US" sz="2200" dirty="0" smtClean="0"/>
              <a:t>People will behave in certain ways if they </a:t>
            </a:r>
            <a:r>
              <a:rPr lang="en-US" sz="2200" u="sng" dirty="0" smtClean="0"/>
              <a:t>think</a:t>
            </a:r>
            <a:r>
              <a:rPr lang="en-US" sz="2200" dirty="0" smtClean="0"/>
              <a:t> there will be </a:t>
            </a:r>
            <a:r>
              <a:rPr lang="en-US" sz="2200" i="1" dirty="0" smtClean="0">
                <a:solidFill>
                  <a:srgbClr val="C00000"/>
                </a:solidFill>
              </a:rPr>
              <a:t>good rewards</a:t>
            </a:r>
            <a:r>
              <a:rPr lang="en-US" sz="2200" dirty="0" smtClean="0"/>
              <a:t> for doing so.</a:t>
            </a:r>
          </a:p>
          <a:p>
            <a:r>
              <a:rPr lang="en-US" sz="2200" dirty="0" smtClean="0"/>
              <a:t>This theory also says that </a:t>
            </a:r>
            <a:r>
              <a:rPr lang="en-US" sz="2200" i="1" dirty="0" smtClean="0">
                <a:solidFill>
                  <a:srgbClr val="C00000"/>
                </a:solidFill>
              </a:rPr>
              <a:t>people become</a:t>
            </a:r>
            <a:r>
              <a:rPr lang="en-US" sz="2200" dirty="0" smtClean="0"/>
              <a:t> </a:t>
            </a:r>
            <a:r>
              <a:rPr lang="en-US" sz="2200" u="sng" dirty="0" smtClean="0"/>
              <a:t>what you expect</a:t>
            </a:r>
            <a:r>
              <a:rPr lang="en-US" sz="2200" dirty="0" smtClean="0"/>
              <a:t> of them.</a:t>
            </a:r>
            <a:endParaRPr lang="en-US" sz="2200" dirty="0"/>
          </a:p>
        </p:txBody>
      </p:sp>
      <p:sp>
        <p:nvSpPr>
          <p:cNvPr id="88066" name="AutoShape 2" descr="https://www.peteenns.com/wp-content/uploads/2015/08/low-reward-versus-high-reward.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8914" name="Picture 2" descr="https://g.foolcdn.com/image/?url=https%3A%2F%2Fg.foolcdn.com%2Feditorial%2Fimages%2F477375%2Fboss-criticizing_gettyimages-628480368.jpg&amp;w=1200&amp;h=630&amp;op=resize"/>
          <p:cNvPicPr>
            <a:picLocks noChangeAspect="1" noChangeArrowheads="1"/>
          </p:cNvPicPr>
          <p:nvPr/>
        </p:nvPicPr>
        <p:blipFill>
          <a:blip r:embed="rId2" cstate="print"/>
          <a:srcRect/>
          <a:stretch>
            <a:fillRect/>
          </a:stretch>
        </p:blipFill>
        <p:spPr bwMode="auto">
          <a:xfrm>
            <a:off x="5105400" y="3657600"/>
            <a:ext cx="3200400" cy="1680210"/>
          </a:xfrm>
          <a:prstGeom prst="rect">
            <a:avLst/>
          </a:prstGeom>
          <a:noFill/>
        </p:spPr>
      </p:pic>
      <p:sp>
        <p:nvSpPr>
          <p:cNvPr id="7" name="Rectangle 6"/>
          <p:cNvSpPr/>
          <p:nvPr/>
        </p:nvSpPr>
        <p:spPr>
          <a:xfrm>
            <a:off x="5334000" y="5562600"/>
            <a:ext cx="2819400" cy="769441"/>
          </a:xfrm>
          <a:prstGeom prst="rect">
            <a:avLst/>
          </a:prstGeom>
        </p:spPr>
        <p:txBody>
          <a:bodyPr wrap="square">
            <a:spAutoFit/>
          </a:bodyPr>
          <a:lstStyle/>
          <a:p>
            <a:pPr algn="ctr"/>
            <a:r>
              <a:rPr lang="en-US" sz="2200" dirty="0" smtClean="0">
                <a:latin typeface="+mj-lt"/>
              </a:rPr>
              <a:t>Never criticize people in public.</a:t>
            </a:r>
            <a:endParaRPr lang="en-US" sz="2200" dirty="0">
              <a:latin typeface="+mj-lt"/>
            </a:endParaRPr>
          </a:p>
        </p:txBody>
      </p:sp>
      <p:sp>
        <p:nvSpPr>
          <p:cNvPr id="9" name="Rectangle 8"/>
          <p:cNvSpPr/>
          <p:nvPr/>
        </p:nvSpPr>
        <p:spPr>
          <a:xfrm>
            <a:off x="533400" y="5638800"/>
            <a:ext cx="3810000" cy="769441"/>
          </a:xfrm>
          <a:prstGeom prst="rect">
            <a:avLst/>
          </a:prstGeom>
        </p:spPr>
        <p:txBody>
          <a:bodyPr wrap="square">
            <a:spAutoFit/>
          </a:bodyPr>
          <a:lstStyle/>
          <a:p>
            <a:pPr algn="ctr"/>
            <a:r>
              <a:rPr lang="en-US" sz="2200" dirty="0" smtClean="0">
                <a:latin typeface="+mj-lt"/>
              </a:rPr>
              <a:t>Treat people like valuable contributors.</a:t>
            </a:r>
            <a:endParaRPr lang="en-US" sz="2200" dirty="0">
              <a:latin typeface="+mj-lt"/>
            </a:endParaRPr>
          </a:p>
        </p:txBody>
      </p:sp>
      <p:pic>
        <p:nvPicPr>
          <p:cNvPr id="38916" name="Picture 4" descr="https://www.ittoolkit.com/assets/img/articles/600x300/team-participation.jpg"/>
          <p:cNvPicPr>
            <a:picLocks noChangeAspect="1" noChangeArrowheads="1"/>
          </p:cNvPicPr>
          <p:nvPr/>
        </p:nvPicPr>
        <p:blipFill>
          <a:blip r:embed="rId3" cstate="print"/>
          <a:srcRect/>
          <a:stretch>
            <a:fillRect/>
          </a:stretch>
        </p:blipFill>
        <p:spPr bwMode="auto">
          <a:xfrm>
            <a:off x="838200" y="3581400"/>
            <a:ext cx="3714750" cy="1857375"/>
          </a:xfrm>
          <a:prstGeom prst="rect">
            <a:avLst/>
          </a:prstGeom>
          <a:noFill/>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Coach by Encouragement</a:t>
            </a:r>
            <a:endParaRPr lang="en-US" dirty="0"/>
          </a:p>
        </p:txBody>
      </p:sp>
      <p:sp>
        <p:nvSpPr>
          <p:cNvPr id="5" name="Rectangle 4"/>
          <p:cNvSpPr/>
          <p:nvPr/>
        </p:nvSpPr>
        <p:spPr>
          <a:xfrm>
            <a:off x="457200" y="1482804"/>
            <a:ext cx="8153400" cy="1569660"/>
          </a:xfrm>
          <a:prstGeom prst="rect">
            <a:avLst/>
          </a:prstGeom>
          <a:noFill/>
        </p:spPr>
        <p:txBody>
          <a:bodyPr wrap="square">
            <a:spAutoFit/>
          </a:bodyPr>
          <a:lstStyle/>
          <a:p>
            <a:pPr marL="457200" indent="-457200">
              <a:buFont typeface="Arial" pitchFamily="34" charset="0"/>
              <a:buChar char="•"/>
            </a:pPr>
            <a:r>
              <a:rPr lang="en-US" sz="2400" dirty="0" smtClean="0">
                <a:latin typeface="+mj-lt"/>
              </a:rPr>
              <a:t>The purpose of </a:t>
            </a:r>
            <a:r>
              <a:rPr lang="en-US" sz="2400" i="1" dirty="0" smtClean="0">
                <a:solidFill>
                  <a:srgbClr val="C00000"/>
                </a:solidFill>
                <a:latin typeface="+mj-lt"/>
              </a:rPr>
              <a:t>coaching</a:t>
            </a:r>
            <a:r>
              <a:rPr lang="en-US" sz="2400" dirty="0" smtClean="0">
                <a:latin typeface="+mj-lt"/>
              </a:rPr>
              <a:t> is to </a:t>
            </a:r>
            <a:r>
              <a:rPr lang="en-US" sz="2400" u="sng" dirty="0" smtClean="0">
                <a:latin typeface="+mj-lt"/>
              </a:rPr>
              <a:t>redirect behavior</a:t>
            </a:r>
            <a:r>
              <a:rPr lang="en-US" sz="2400" dirty="0" smtClean="0">
                <a:latin typeface="+mj-lt"/>
              </a:rPr>
              <a:t> and mentally challenge the trainee.</a:t>
            </a:r>
          </a:p>
          <a:p>
            <a:pPr marL="457200" indent="-457200">
              <a:buFont typeface="Arial" pitchFamily="34" charset="0"/>
              <a:buChar char="•"/>
            </a:pPr>
            <a:r>
              <a:rPr lang="en-US" sz="2400" dirty="0" smtClean="0">
                <a:latin typeface="+mj-lt"/>
              </a:rPr>
              <a:t>Coaching is not intended to </a:t>
            </a:r>
            <a:r>
              <a:rPr lang="en-US" sz="2400" i="1" dirty="0" smtClean="0">
                <a:solidFill>
                  <a:srgbClr val="C00000"/>
                </a:solidFill>
                <a:latin typeface="+mj-lt"/>
              </a:rPr>
              <a:t>"do for" </a:t>
            </a:r>
            <a:r>
              <a:rPr lang="en-US" sz="2400" dirty="0" smtClean="0">
                <a:latin typeface="+mj-lt"/>
              </a:rPr>
              <a:t>the learner or </a:t>
            </a:r>
            <a:r>
              <a:rPr lang="en-US" sz="2400" i="1" dirty="0" smtClean="0">
                <a:solidFill>
                  <a:srgbClr val="C00000"/>
                </a:solidFill>
                <a:latin typeface="+mj-lt"/>
              </a:rPr>
              <a:t>point out mistakes</a:t>
            </a:r>
            <a:r>
              <a:rPr lang="en-US" sz="2400" dirty="0" smtClean="0">
                <a:latin typeface="+mj-lt"/>
              </a:rPr>
              <a:t>, blame, or criticize.</a:t>
            </a:r>
            <a:endParaRPr lang="en-US" sz="2400" dirty="0">
              <a:latin typeface="+mj-lt"/>
            </a:endParaRPr>
          </a:p>
        </p:txBody>
      </p:sp>
      <p:sp>
        <p:nvSpPr>
          <p:cNvPr id="6" name="Content Placeholder 2"/>
          <p:cNvSpPr>
            <a:spLocks noGrp="1"/>
          </p:cNvSpPr>
          <p:nvPr>
            <p:ph idx="1"/>
          </p:nvPr>
        </p:nvSpPr>
        <p:spPr>
          <a:xfrm>
            <a:off x="457200" y="3276600"/>
            <a:ext cx="5867400" cy="3200400"/>
          </a:xfrm>
        </p:spPr>
        <p:txBody>
          <a:bodyPr/>
          <a:lstStyle/>
          <a:p>
            <a:pPr>
              <a:buNone/>
            </a:pPr>
            <a:r>
              <a:rPr lang="en-US" sz="2400" i="1" dirty="0" smtClean="0">
                <a:solidFill>
                  <a:srgbClr val="C00000"/>
                </a:solidFill>
              </a:rPr>
              <a:t>Change</a:t>
            </a:r>
            <a:r>
              <a:rPr lang="en-US" sz="2400" dirty="0" smtClean="0"/>
              <a:t> incorrect actions or </a:t>
            </a:r>
            <a:r>
              <a:rPr lang="en-US" sz="2400" i="1" dirty="0" smtClean="0">
                <a:solidFill>
                  <a:srgbClr val="C00000"/>
                </a:solidFill>
              </a:rPr>
              <a:t>redirect</a:t>
            </a:r>
            <a:r>
              <a:rPr lang="en-US" sz="2400" dirty="0" smtClean="0"/>
              <a:t> the behavior:</a:t>
            </a:r>
          </a:p>
          <a:p>
            <a:r>
              <a:rPr lang="en-US" sz="2200" dirty="0" smtClean="0"/>
              <a:t>How else might you do it?</a:t>
            </a:r>
          </a:p>
          <a:p>
            <a:r>
              <a:rPr lang="en-US" sz="2200" dirty="0" smtClean="0"/>
              <a:t>See if this works better for you. (Be specific, explain, and demonstrate.)</a:t>
            </a:r>
          </a:p>
          <a:p>
            <a:r>
              <a:rPr lang="en-US" sz="2200" dirty="0" smtClean="0"/>
              <a:t>Why don't you try a different approach?</a:t>
            </a:r>
          </a:p>
          <a:p>
            <a:r>
              <a:rPr lang="en-US" sz="2200" dirty="0" smtClean="0"/>
              <a:t>Let me offer a suggestion.</a:t>
            </a:r>
          </a:p>
          <a:p>
            <a:r>
              <a:rPr lang="en-US" sz="2200" dirty="0" smtClean="0"/>
              <a:t>What happens if you don't do that step?</a:t>
            </a:r>
            <a:endParaRPr lang="en-US" sz="2200" dirty="0"/>
          </a:p>
        </p:txBody>
      </p:sp>
      <p:pic>
        <p:nvPicPr>
          <p:cNvPr id="2052" name="Picture 4" descr="http://www.mudpie.com.au/static/images/productimage-picture-what-s-wrong-cards-939_gif_280x280_q85.jpg"/>
          <p:cNvPicPr>
            <a:picLocks noChangeAspect="1" noChangeArrowheads="1"/>
          </p:cNvPicPr>
          <p:nvPr/>
        </p:nvPicPr>
        <p:blipFill>
          <a:blip r:embed="rId2" cstate="print"/>
          <a:srcRect/>
          <a:stretch>
            <a:fillRect/>
          </a:stretch>
        </p:blipFill>
        <p:spPr bwMode="auto">
          <a:xfrm>
            <a:off x="6400800" y="3581399"/>
            <a:ext cx="2286000" cy="2286001"/>
          </a:xfrm>
          <a:prstGeom prst="rect">
            <a:avLst/>
          </a:prstGeom>
          <a:noFill/>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Give Encouraging Feedback</a:t>
            </a:r>
            <a:endParaRPr lang="en-US" dirty="0"/>
          </a:p>
        </p:txBody>
      </p:sp>
      <p:sp>
        <p:nvSpPr>
          <p:cNvPr id="5" name="Rectangle 4"/>
          <p:cNvSpPr/>
          <p:nvPr/>
        </p:nvSpPr>
        <p:spPr>
          <a:xfrm>
            <a:off x="457200" y="1415296"/>
            <a:ext cx="8153400" cy="2123658"/>
          </a:xfrm>
          <a:prstGeom prst="rect">
            <a:avLst/>
          </a:prstGeom>
          <a:noFill/>
        </p:spPr>
        <p:txBody>
          <a:bodyPr wrap="square">
            <a:spAutoFit/>
          </a:bodyPr>
          <a:lstStyle/>
          <a:p>
            <a:pPr marL="457200" indent="-457200">
              <a:buFont typeface="Arial" pitchFamily="34" charset="0"/>
              <a:buChar char="•"/>
            </a:pPr>
            <a:r>
              <a:rPr lang="en-US" sz="2200" dirty="0" smtClean="0">
                <a:latin typeface="+mj-lt"/>
              </a:rPr>
              <a:t>The purpose of feedback is to </a:t>
            </a:r>
            <a:r>
              <a:rPr lang="en-US" sz="2200" i="1" dirty="0" smtClean="0">
                <a:solidFill>
                  <a:srgbClr val="C00000"/>
                </a:solidFill>
                <a:latin typeface="+mj-lt"/>
              </a:rPr>
              <a:t>build self-esteem</a:t>
            </a:r>
            <a:r>
              <a:rPr lang="en-US" sz="2200" dirty="0" smtClean="0">
                <a:latin typeface="+mj-lt"/>
              </a:rPr>
              <a:t> through encouragement.</a:t>
            </a:r>
          </a:p>
          <a:p>
            <a:pPr marL="457200" indent="-457200">
              <a:buFont typeface="Arial" pitchFamily="34" charset="0"/>
              <a:buChar char="•"/>
            </a:pPr>
            <a:r>
              <a:rPr lang="en-US" sz="2200" dirty="0" smtClean="0">
                <a:latin typeface="+mj-lt"/>
              </a:rPr>
              <a:t>Feedback should </a:t>
            </a:r>
            <a:r>
              <a:rPr lang="en-US" sz="2200" i="1" dirty="0" smtClean="0">
                <a:solidFill>
                  <a:srgbClr val="C00000"/>
                </a:solidFill>
                <a:latin typeface="+mj-lt"/>
              </a:rPr>
              <a:t>be specific, positive</a:t>
            </a:r>
            <a:r>
              <a:rPr lang="en-US" sz="2200" dirty="0" smtClean="0">
                <a:latin typeface="+mj-lt"/>
              </a:rPr>
              <a:t>, and focused on </a:t>
            </a:r>
            <a:r>
              <a:rPr lang="en-US" sz="2200" i="1" dirty="0" smtClean="0">
                <a:solidFill>
                  <a:srgbClr val="C00000"/>
                </a:solidFill>
                <a:latin typeface="+mj-lt"/>
              </a:rPr>
              <a:t>the strengths</a:t>
            </a:r>
            <a:r>
              <a:rPr lang="en-US" sz="2200" dirty="0" smtClean="0">
                <a:latin typeface="+mj-lt"/>
              </a:rPr>
              <a:t> and assets of the trainee; it should demonstrate acceptance of and confidence in the trainee; and it should recognize effort and improvement.</a:t>
            </a:r>
            <a:endParaRPr lang="en-US" sz="2200" dirty="0">
              <a:latin typeface="+mj-lt"/>
            </a:endParaRPr>
          </a:p>
        </p:txBody>
      </p:sp>
      <p:sp>
        <p:nvSpPr>
          <p:cNvPr id="6" name="Content Placeholder 2"/>
          <p:cNvSpPr>
            <a:spLocks noGrp="1"/>
          </p:cNvSpPr>
          <p:nvPr>
            <p:ph idx="1"/>
          </p:nvPr>
        </p:nvSpPr>
        <p:spPr>
          <a:xfrm>
            <a:off x="2286000" y="3657600"/>
            <a:ext cx="6400800" cy="2895600"/>
          </a:xfrm>
        </p:spPr>
        <p:txBody>
          <a:bodyPr/>
          <a:lstStyle/>
          <a:p>
            <a:pPr>
              <a:buFont typeface="Arial" pitchFamily="34" charset="0"/>
              <a:buChar char="•"/>
            </a:pPr>
            <a:r>
              <a:rPr lang="en-US" sz="2000" dirty="0" smtClean="0"/>
              <a:t>It usually takes a couple of practice sessions to master that step. You'll make it!</a:t>
            </a:r>
          </a:p>
          <a:p>
            <a:pPr>
              <a:buFont typeface="Arial" pitchFamily="34" charset="0"/>
              <a:buChar char="•"/>
            </a:pPr>
            <a:r>
              <a:rPr lang="en-US" sz="2000" dirty="0" smtClean="0"/>
              <a:t>Look how much better it went this time.</a:t>
            </a:r>
          </a:p>
          <a:p>
            <a:pPr>
              <a:buFont typeface="Arial" pitchFamily="34" charset="0"/>
              <a:buChar char="•"/>
            </a:pPr>
            <a:r>
              <a:rPr lang="en-US" sz="2000" dirty="0" smtClean="0"/>
              <a:t>You're making progress. Hang in there!</a:t>
            </a:r>
          </a:p>
          <a:p>
            <a:pPr>
              <a:buFont typeface="Arial" pitchFamily="34" charset="0"/>
              <a:buChar char="•"/>
            </a:pPr>
            <a:r>
              <a:rPr lang="en-US" sz="2000" dirty="0" smtClean="0"/>
              <a:t>You're really skilled in.................. (something specific)</a:t>
            </a:r>
          </a:p>
          <a:p>
            <a:pPr>
              <a:buFont typeface="Arial" pitchFamily="34" charset="0"/>
              <a:buChar char="•"/>
            </a:pPr>
            <a:r>
              <a:rPr lang="en-US" sz="2000" dirty="0" smtClean="0"/>
              <a:t>You must feel good about the improvement you've made.</a:t>
            </a:r>
          </a:p>
          <a:p>
            <a:pPr>
              <a:buFont typeface="Arial" pitchFamily="34" charset="0"/>
              <a:buChar char="•"/>
            </a:pPr>
            <a:r>
              <a:rPr lang="en-US" sz="2000" dirty="0" smtClean="0"/>
              <a:t>You have put a lot of effort into mastering that task.</a:t>
            </a:r>
            <a:endParaRPr lang="en-US" sz="2000" dirty="0"/>
          </a:p>
        </p:txBody>
      </p:sp>
      <p:pic>
        <p:nvPicPr>
          <p:cNvPr id="2050" name="Picture 2" descr="http://www.morelove.in/uploads/pics/Praise_encourage.gif"/>
          <p:cNvPicPr>
            <a:picLocks noChangeAspect="1" noChangeArrowheads="1"/>
          </p:cNvPicPr>
          <p:nvPr/>
        </p:nvPicPr>
        <p:blipFill>
          <a:blip r:embed="rId2" cstate="print"/>
          <a:srcRect/>
          <a:stretch>
            <a:fillRect/>
          </a:stretch>
        </p:blipFill>
        <p:spPr bwMode="auto">
          <a:xfrm>
            <a:off x="533400" y="4114800"/>
            <a:ext cx="1524000" cy="1752600"/>
          </a:xfrm>
          <a:prstGeom prst="rect">
            <a:avLst/>
          </a:prstGeom>
          <a:noFill/>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Achievement Theory (David McClelland)</a:t>
            </a:r>
            <a:endParaRPr lang="en-US" sz="3800" dirty="0"/>
          </a:p>
        </p:txBody>
      </p:sp>
      <p:sp>
        <p:nvSpPr>
          <p:cNvPr id="3" name="Content Placeholder 2"/>
          <p:cNvSpPr>
            <a:spLocks noGrp="1"/>
          </p:cNvSpPr>
          <p:nvPr>
            <p:ph idx="1"/>
          </p:nvPr>
        </p:nvSpPr>
        <p:spPr/>
        <p:txBody>
          <a:bodyPr/>
          <a:lstStyle/>
          <a:p>
            <a:r>
              <a:rPr lang="en-US" sz="2200" i="1" dirty="0" smtClean="0">
                <a:solidFill>
                  <a:srgbClr val="C00000"/>
                </a:solidFill>
              </a:rPr>
              <a:t>Achievement theory</a:t>
            </a:r>
            <a:r>
              <a:rPr lang="en-US" sz="2200" dirty="0" smtClean="0"/>
              <a:t> says that people are </a:t>
            </a:r>
            <a:r>
              <a:rPr lang="en-US" sz="2200" u="sng" dirty="0" smtClean="0"/>
              <a:t>motivated by</a:t>
            </a:r>
            <a:r>
              <a:rPr lang="en-US" sz="2200" dirty="0" smtClean="0"/>
              <a:t> the need for three things: </a:t>
            </a:r>
            <a:r>
              <a:rPr lang="en-US" sz="2200" u="sng" dirty="0" smtClean="0"/>
              <a:t>achievement</a:t>
            </a:r>
            <a:r>
              <a:rPr lang="en-US" sz="2200" dirty="0" smtClean="0"/>
              <a:t>, </a:t>
            </a:r>
            <a:r>
              <a:rPr lang="en-US" sz="2200" u="sng" dirty="0" smtClean="0"/>
              <a:t>power</a:t>
            </a:r>
            <a:r>
              <a:rPr lang="en-US" sz="2200" dirty="0" smtClean="0"/>
              <a:t>, and </a:t>
            </a:r>
            <a:r>
              <a:rPr lang="en-US" sz="2200" u="sng" dirty="0" smtClean="0"/>
              <a:t>affiliation</a:t>
            </a:r>
            <a:r>
              <a:rPr lang="en-US" sz="2200" dirty="0" smtClean="0"/>
              <a:t>.</a:t>
            </a:r>
          </a:p>
          <a:p>
            <a:r>
              <a:rPr lang="en-US" sz="2200" dirty="0" smtClean="0"/>
              <a:t>The </a:t>
            </a:r>
            <a:r>
              <a:rPr lang="en-US" sz="2200" i="1" dirty="0" smtClean="0">
                <a:solidFill>
                  <a:srgbClr val="C00000"/>
                </a:solidFill>
              </a:rPr>
              <a:t>achievement motivation</a:t>
            </a:r>
            <a:r>
              <a:rPr lang="en-US" sz="2200" dirty="0" smtClean="0"/>
              <a:t> is obviously the need to achieve or succeed.</a:t>
            </a:r>
          </a:p>
          <a:p>
            <a:r>
              <a:rPr lang="en-US" sz="2200" dirty="0" smtClean="0"/>
              <a:t>The </a:t>
            </a:r>
            <a:r>
              <a:rPr lang="en-US" sz="2200" i="1" dirty="0" smtClean="0">
                <a:solidFill>
                  <a:srgbClr val="C00000"/>
                </a:solidFill>
              </a:rPr>
              <a:t>power motivation</a:t>
            </a:r>
            <a:r>
              <a:rPr lang="en-US" sz="2200" dirty="0" smtClean="0"/>
              <a:t> involves a desire for influencing the behavior of others.</a:t>
            </a:r>
          </a:p>
          <a:p>
            <a:r>
              <a:rPr lang="en-US" sz="2200" dirty="0" smtClean="0"/>
              <a:t>And </a:t>
            </a:r>
            <a:r>
              <a:rPr lang="en-US" sz="2200" i="1" dirty="0" smtClean="0">
                <a:solidFill>
                  <a:srgbClr val="C00000"/>
                </a:solidFill>
              </a:rPr>
              <a:t>the need for affiliation</a:t>
            </a:r>
            <a:r>
              <a:rPr lang="en-US" sz="2200" dirty="0" smtClean="0"/>
              <a:t> is relationship oriented.</a:t>
            </a:r>
          </a:p>
          <a:p>
            <a:endParaRPr lang="en-US" sz="2200" dirty="0"/>
          </a:p>
        </p:txBody>
      </p:sp>
      <p:pic>
        <p:nvPicPr>
          <p:cNvPr id="4" name="Picture 2" descr="https://cdn-images-1.medium.com/max/2000/1*P5dS0A1o9ynXFC86pIexxA.jpeg"/>
          <p:cNvPicPr>
            <a:picLocks noChangeAspect="1" noChangeArrowheads="1"/>
          </p:cNvPicPr>
          <p:nvPr/>
        </p:nvPicPr>
        <p:blipFill>
          <a:blip r:embed="rId2" cstate="print"/>
          <a:srcRect/>
          <a:stretch>
            <a:fillRect/>
          </a:stretch>
        </p:blipFill>
        <p:spPr bwMode="auto">
          <a:xfrm>
            <a:off x="3201646" y="4575325"/>
            <a:ext cx="2741954" cy="1825475"/>
          </a:xfrm>
          <a:prstGeom prst="rect">
            <a:avLst/>
          </a:prstGeom>
          <a:noFill/>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Contingency Theory (Fred Fiedler)</a:t>
            </a:r>
            <a:endParaRPr lang="en-US" dirty="0"/>
          </a:p>
        </p:txBody>
      </p:sp>
      <p:sp>
        <p:nvSpPr>
          <p:cNvPr id="3" name="Content Placeholder 2"/>
          <p:cNvSpPr>
            <a:spLocks noGrp="1"/>
          </p:cNvSpPr>
          <p:nvPr>
            <p:ph idx="1"/>
          </p:nvPr>
        </p:nvSpPr>
        <p:spPr/>
        <p:txBody>
          <a:bodyPr/>
          <a:lstStyle/>
          <a:p>
            <a:r>
              <a:rPr lang="en-US" sz="2200" b="1" dirty="0" smtClean="0"/>
              <a:t>Fred Edward Fiedler (1967). Theory of Leadership Effectiveness. McGraw-Hill Education. </a:t>
            </a:r>
          </a:p>
          <a:p>
            <a:r>
              <a:rPr lang="en-US" sz="2200" i="1" dirty="0" smtClean="0">
                <a:solidFill>
                  <a:srgbClr val="C00000"/>
                </a:solidFill>
              </a:rPr>
              <a:t>No single leadership style</a:t>
            </a:r>
            <a:r>
              <a:rPr lang="en-US" sz="2200" dirty="0" smtClean="0"/>
              <a:t> is </a:t>
            </a:r>
            <a:r>
              <a:rPr lang="en-US" sz="2200" u="sng" dirty="0" smtClean="0"/>
              <a:t>perfect</a:t>
            </a:r>
            <a:r>
              <a:rPr lang="en-US" sz="2200" dirty="0" smtClean="0"/>
              <a:t> or ideal, as the needs change depending on circumstances and context.</a:t>
            </a:r>
          </a:p>
          <a:p>
            <a:r>
              <a:rPr lang="en-US" sz="2200" dirty="0" smtClean="0"/>
              <a:t>A </a:t>
            </a:r>
            <a:r>
              <a:rPr lang="en-US" sz="2200" i="1" dirty="0" smtClean="0">
                <a:solidFill>
                  <a:srgbClr val="C00000"/>
                </a:solidFill>
              </a:rPr>
              <a:t>leader's effectiveness</a:t>
            </a:r>
            <a:r>
              <a:rPr lang="en-US" sz="2200" dirty="0" smtClean="0"/>
              <a:t> is based on the </a:t>
            </a:r>
            <a:r>
              <a:rPr lang="en-US" sz="2200" u="sng" dirty="0" smtClean="0"/>
              <a:t>situation</a:t>
            </a:r>
            <a:r>
              <a:rPr lang="en-US" sz="2200" dirty="0" smtClean="0"/>
              <a:t>.</a:t>
            </a:r>
          </a:p>
          <a:p>
            <a:r>
              <a:rPr lang="en-US" sz="2200" dirty="0" smtClean="0"/>
              <a:t>This is the result of </a:t>
            </a:r>
            <a:r>
              <a:rPr lang="en-US" sz="2200" i="1" dirty="0" smtClean="0">
                <a:solidFill>
                  <a:srgbClr val="C00000"/>
                </a:solidFill>
              </a:rPr>
              <a:t>two factors</a:t>
            </a:r>
            <a:r>
              <a:rPr lang="en-US" sz="2200" dirty="0" smtClean="0"/>
              <a:t> – "leadership style" and "situational favorableness" (later called "situational control").</a:t>
            </a:r>
          </a:p>
          <a:p>
            <a:endParaRPr lang="en-US" sz="2200" dirty="0"/>
          </a:p>
        </p:txBody>
      </p:sp>
      <p:pic>
        <p:nvPicPr>
          <p:cNvPr id="4" name="Picture 2" descr="http://rachel.golearn.us/modules/en-oya/business-101/images/Chapter10/fiedlers-theory.jpg"/>
          <p:cNvPicPr>
            <a:picLocks noChangeAspect="1" noChangeArrowheads="1"/>
          </p:cNvPicPr>
          <p:nvPr/>
        </p:nvPicPr>
        <p:blipFill>
          <a:blip r:embed="rId2" cstate="print"/>
          <a:srcRect/>
          <a:stretch>
            <a:fillRect/>
          </a:stretch>
        </p:blipFill>
        <p:spPr bwMode="auto">
          <a:xfrm>
            <a:off x="3048000" y="4543424"/>
            <a:ext cx="2857500" cy="1628776"/>
          </a:xfrm>
          <a:prstGeom prst="rect">
            <a:avLst/>
          </a:prstGeom>
          <a:noFill/>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Least-Preferred Coworker Scale</a:t>
            </a:r>
            <a:endParaRPr lang="en-US" dirty="0"/>
          </a:p>
        </p:txBody>
      </p:sp>
      <p:sp>
        <p:nvSpPr>
          <p:cNvPr id="3" name="Content Placeholder 2"/>
          <p:cNvSpPr>
            <a:spLocks noGrp="1"/>
          </p:cNvSpPr>
          <p:nvPr>
            <p:ph idx="1"/>
          </p:nvPr>
        </p:nvSpPr>
        <p:spPr/>
        <p:txBody>
          <a:bodyPr/>
          <a:lstStyle/>
          <a:p>
            <a:r>
              <a:rPr lang="en-US" sz="2200" dirty="0" smtClean="0"/>
              <a:t>The </a:t>
            </a:r>
            <a:r>
              <a:rPr lang="en-US" sz="2200" i="1" dirty="0" smtClean="0">
                <a:solidFill>
                  <a:srgbClr val="C00000"/>
                </a:solidFill>
              </a:rPr>
              <a:t>least preferred coworker (LPC) scale</a:t>
            </a:r>
            <a:r>
              <a:rPr lang="en-US" sz="2200" dirty="0" smtClean="0"/>
              <a:t> requires a person to </a:t>
            </a:r>
            <a:r>
              <a:rPr lang="en-US" sz="2200" u="sng" dirty="0" smtClean="0"/>
              <a:t>rate the one individual</a:t>
            </a:r>
            <a:r>
              <a:rPr lang="en-US" sz="2200" dirty="0" smtClean="0"/>
              <a:t> they would </a:t>
            </a:r>
            <a:r>
              <a:rPr lang="en-US" sz="2200" u="sng" dirty="0" smtClean="0"/>
              <a:t>least want to work with</a:t>
            </a:r>
            <a:r>
              <a:rPr lang="en-US" sz="2200" dirty="0" smtClean="0"/>
              <a:t> — the least-preferred coworker — using a range of 18 to 25 bipolar (positive or negative) adjectives, with ratings from 1 to 8.</a:t>
            </a:r>
          </a:p>
          <a:p>
            <a:r>
              <a:rPr lang="en-US" sz="2200" dirty="0" smtClean="0"/>
              <a:t>The scale utilizes </a:t>
            </a:r>
            <a:r>
              <a:rPr lang="en-US" sz="2200" i="1" dirty="0" smtClean="0">
                <a:solidFill>
                  <a:srgbClr val="C00000"/>
                </a:solidFill>
              </a:rPr>
              <a:t>a subjective evaluation</a:t>
            </a:r>
            <a:r>
              <a:rPr lang="en-US" sz="2200" dirty="0" smtClean="0"/>
              <a:t> of an individual's attitudes toward their </a:t>
            </a:r>
            <a:r>
              <a:rPr lang="en-US" sz="2200" u="sng" dirty="0" smtClean="0"/>
              <a:t>least favorable coworker</a:t>
            </a:r>
            <a:r>
              <a:rPr lang="en-US" sz="2200" dirty="0" smtClean="0"/>
              <a:t>.</a:t>
            </a:r>
            <a:endParaRPr lang="en-US" sz="2200" dirty="0"/>
          </a:p>
        </p:txBody>
      </p:sp>
      <p:graphicFrame>
        <p:nvGraphicFramePr>
          <p:cNvPr id="4" name="Table 3"/>
          <p:cNvGraphicFramePr>
            <a:graphicFrameLocks noGrp="1"/>
          </p:cNvGraphicFramePr>
          <p:nvPr/>
        </p:nvGraphicFramePr>
        <p:xfrm>
          <a:off x="533400" y="5471850"/>
          <a:ext cx="8229600" cy="852750"/>
        </p:xfrm>
        <a:graphic>
          <a:graphicData uri="http://schemas.openxmlformats.org/drawingml/2006/table">
            <a:tbl>
              <a:tblPr>
                <a:tableStyleId>{BC89EF96-8CEA-46FF-86C4-4CE0E7609802}</a:tableStyleId>
              </a:tblPr>
              <a:tblGrid>
                <a:gridCol w="2743200"/>
                <a:gridCol w="2743200"/>
                <a:gridCol w="2743200"/>
              </a:tblGrid>
              <a:tr h="282873">
                <a:tc>
                  <a:txBody>
                    <a:bodyPr/>
                    <a:lstStyle/>
                    <a:p>
                      <a:r>
                        <a:rPr lang="en-US" sz="1600" dirty="0"/>
                        <a:t>Unfriendly</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Friendly</a:t>
                      </a:r>
                    </a:p>
                  </a:txBody>
                  <a:tcPr marL="40410" marR="40410" marT="20205" marB="20205" anchor="ctr"/>
                </a:tc>
              </a:tr>
              <a:tr h="282873">
                <a:tc>
                  <a:txBody>
                    <a:bodyPr/>
                    <a:lstStyle/>
                    <a:p>
                      <a:r>
                        <a:rPr lang="en-US" sz="1600"/>
                        <a:t>Unpleasant</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Pleasant</a:t>
                      </a:r>
                    </a:p>
                  </a:txBody>
                  <a:tcPr marL="40410" marR="40410" marT="20205" marB="20205" anchor="ctr"/>
                </a:tc>
              </a:tr>
              <a:tr h="282873">
                <a:tc>
                  <a:txBody>
                    <a:bodyPr/>
                    <a:lstStyle/>
                    <a:p>
                      <a:r>
                        <a:rPr lang="en-US" sz="1600" dirty="0"/>
                        <a:t>Rejecting</a:t>
                      </a:r>
                    </a:p>
                  </a:txBody>
                  <a:tcPr marL="40410" marR="40410" marT="20205" marB="20205" anchor="ctr"/>
                </a:tc>
                <a:tc>
                  <a:txBody>
                    <a:bodyPr/>
                    <a:lstStyle/>
                    <a:p>
                      <a:r>
                        <a:rPr lang="en-US" sz="1600" dirty="0"/>
                        <a:t>1   2   3   4   5   6   7   8</a:t>
                      </a:r>
                    </a:p>
                  </a:txBody>
                  <a:tcPr marL="40410" marR="40410" marT="20205" marB="20205" anchor="ctr"/>
                </a:tc>
                <a:tc>
                  <a:txBody>
                    <a:bodyPr/>
                    <a:lstStyle/>
                    <a:p>
                      <a:r>
                        <a:rPr lang="en-US" sz="1600" dirty="0"/>
                        <a:t>Accepting</a:t>
                      </a:r>
                    </a:p>
                  </a:txBody>
                  <a:tcPr marL="40410" marR="40410" marT="20205" marB="20205" anchor="ctr"/>
                </a:tc>
              </a:tr>
            </a:tbl>
          </a:graphicData>
        </a:graphic>
      </p:graphicFrame>
      <p:pic>
        <p:nvPicPr>
          <p:cNvPr id="1026" name="Picture 2" descr="https://tecnico.ulisboa.pt/files/2021/05/hate-covid-19.pt-um-projeto-que-seguira-o-rastro-ao-discurso-de-odio-em-portugues.jpg"/>
          <p:cNvPicPr>
            <a:picLocks noChangeAspect="1" noChangeArrowheads="1"/>
          </p:cNvPicPr>
          <p:nvPr/>
        </p:nvPicPr>
        <p:blipFill>
          <a:blip r:embed="rId2" cstate="print"/>
          <a:srcRect/>
          <a:stretch>
            <a:fillRect/>
          </a:stretch>
        </p:blipFill>
        <p:spPr bwMode="auto">
          <a:xfrm>
            <a:off x="5562600" y="3629660"/>
            <a:ext cx="2895600" cy="1628140"/>
          </a:xfrm>
          <a:prstGeom prst="rect">
            <a:avLst/>
          </a:prstGeom>
          <a:noFill/>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LPC Scale</a:t>
            </a:r>
            <a:endParaRPr lang="en-US" dirty="0"/>
          </a:p>
        </p:txBody>
      </p:sp>
      <p:graphicFrame>
        <p:nvGraphicFramePr>
          <p:cNvPr id="4" name="Content Placeholder 3"/>
          <p:cNvGraphicFramePr>
            <a:graphicFrameLocks noGrp="1"/>
          </p:cNvGraphicFramePr>
          <p:nvPr>
            <p:ph idx="1"/>
          </p:nvPr>
        </p:nvGraphicFramePr>
        <p:xfrm>
          <a:off x="457200" y="1589182"/>
          <a:ext cx="8229600" cy="4548000"/>
        </p:xfrm>
        <a:graphic>
          <a:graphicData uri="http://schemas.openxmlformats.org/drawingml/2006/table">
            <a:tbl>
              <a:tblPr>
                <a:tableStyleId>{BC89EF96-8CEA-46FF-86C4-4CE0E7609802}</a:tableStyleId>
              </a:tblPr>
              <a:tblGrid>
                <a:gridCol w="2743200"/>
                <a:gridCol w="2743200"/>
                <a:gridCol w="2743200"/>
              </a:tblGrid>
              <a:tr h="282873">
                <a:tc>
                  <a:txBody>
                    <a:bodyPr/>
                    <a:lstStyle/>
                    <a:p>
                      <a:r>
                        <a:rPr lang="en-US" sz="1600" dirty="0"/>
                        <a:t>Unfriendly</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Friendly</a:t>
                      </a:r>
                    </a:p>
                  </a:txBody>
                  <a:tcPr marL="40410" marR="40410" marT="20205" marB="20205" anchor="ctr"/>
                </a:tc>
              </a:tr>
              <a:tr h="282873">
                <a:tc>
                  <a:txBody>
                    <a:bodyPr/>
                    <a:lstStyle/>
                    <a:p>
                      <a:r>
                        <a:rPr lang="en-US" sz="1600"/>
                        <a:t>Unpleasant</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Pleasant</a:t>
                      </a:r>
                    </a:p>
                  </a:txBody>
                  <a:tcPr marL="40410" marR="40410" marT="20205" marB="20205" anchor="ctr"/>
                </a:tc>
              </a:tr>
              <a:tr h="282873">
                <a:tc>
                  <a:txBody>
                    <a:bodyPr/>
                    <a:lstStyle/>
                    <a:p>
                      <a:r>
                        <a:rPr lang="en-US" sz="1600" dirty="0"/>
                        <a:t>Rejecting</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Accepting</a:t>
                      </a:r>
                    </a:p>
                  </a:txBody>
                  <a:tcPr marL="40410" marR="40410" marT="20205" marB="20205" anchor="ctr"/>
                </a:tc>
              </a:tr>
              <a:tr h="282873">
                <a:tc>
                  <a:txBody>
                    <a:bodyPr/>
                    <a:lstStyle/>
                    <a:p>
                      <a:r>
                        <a:rPr lang="en-US" sz="1600"/>
                        <a:t>Tense</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Relaxed</a:t>
                      </a:r>
                    </a:p>
                  </a:txBody>
                  <a:tcPr marL="40410" marR="40410" marT="20205" marB="20205" anchor="ctr"/>
                </a:tc>
              </a:tr>
              <a:tr h="282873">
                <a:tc>
                  <a:txBody>
                    <a:bodyPr/>
                    <a:lstStyle/>
                    <a:p>
                      <a:r>
                        <a:rPr lang="en-US" sz="1600"/>
                        <a:t>Cold</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Warm</a:t>
                      </a:r>
                    </a:p>
                  </a:txBody>
                  <a:tcPr marL="40410" marR="40410" marT="20205" marB="20205" anchor="ctr"/>
                </a:tc>
              </a:tr>
              <a:tr h="282873">
                <a:tc>
                  <a:txBody>
                    <a:bodyPr/>
                    <a:lstStyle/>
                    <a:p>
                      <a:r>
                        <a:rPr lang="en-US" sz="1600"/>
                        <a:t>Boring</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Interesting</a:t>
                      </a:r>
                    </a:p>
                  </a:txBody>
                  <a:tcPr marL="40410" marR="40410" marT="20205" marB="20205" anchor="ctr"/>
                </a:tc>
              </a:tr>
              <a:tr h="282873">
                <a:tc>
                  <a:txBody>
                    <a:bodyPr/>
                    <a:lstStyle/>
                    <a:p>
                      <a:r>
                        <a:rPr lang="en-US" sz="1600"/>
                        <a:t>Backbiting</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Loyal</a:t>
                      </a:r>
                    </a:p>
                  </a:txBody>
                  <a:tcPr marL="40410" marR="40410" marT="20205" marB="20205" anchor="ctr"/>
                </a:tc>
              </a:tr>
              <a:tr h="282873">
                <a:tc>
                  <a:txBody>
                    <a:bodyPr/>
                    <a:lstStyle/>
                    <a:p>
                      <a:r>
                        <a:rPr lang="en-US" sz="1600"/>
                        <a:t>Uncooperative</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Cooperative</a:t>
                      </a:r>
                    </a:p>
                  </a:txBody>
                  <a:tcPr marL="40410" marR="40410" marT="20205" marB="20205" anchor="ctr"/>
                </a:tc>
              </a:tr>
              <a:tr h="282873">
                <a:tc>
                  <a:txBody>
                    <a:bodyPr/>
                    <a:lstStyle/>
                    <a:p>
                      <a:r>
                        <a:rPr lang="en-US" sz="1600"/>
                        <a:t>Hostile</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Supportive</a:t>
                      </a:r>
                    </a:p>
                  </a:txBody>
                  <a:tcPr marL="40410" marR="40410" marT="20205" marB="20205" anchor="ctr"/>
                </a:tc>
              </a:tr>
              <a:tr h="282873">
                <a:tc>
                  <a:txBody>
                    <a:bodyPr/>
                    <a:lstStyle/>
                    <a:p>
                      <a:r>
                        <a:rPr lang="en-US" sz="1600"/>
                        <a:t>Guarded</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Open</a:t>
                      </a:r>
                    </a:p>
                  </a:txBody>
                  <a:tcPr marL="40410" marR="40410" marT="20205" marB="20205" anchor="ctr"/>
                </a:tc>
              </a:tr>
              <a:tr h="282873">
                <a:tc>
                  <a:txBody>
                    <a:bodyPr/>
                    <a:lstStyle/>
                    <a:p>
                      <a:r>
                        <a:rPr lang="en-US" sz="1600"/>
                        <a:t>Insincere</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Sincere</a:t>
                      </a:r>
                    </a:p>
                  </a:txBody>
                  <a:tcPr marL="40410" marR="40410" marT="20205" marB="20205" anchor="ctr"/>
                </a:tc>
              </a:tr>
              <a:tr h="282873">
                <a:tc>
                  <a:txBody>
                    <a:bodyPr/>
                    <a:lstStyle/>
                    <a:p>
                      <a:r>
                        <a:rPr lang="en-US" sz="1600"/>
                        <a:t>Unkind</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Kind</a:t>
                      </a:r>
                    </a:p>
                  </a:txBody>
                  <a:tcPr marL="40410" marR="40410" marT="20205" marB="20205" anchor="ctr"/>
                </a:tc>
              </a:tr>
              <a:tr h="282873">
                <a:tc>
                  <a:txBody>
                    <a:bodyPr/>
                    <a:lstStyle/>
                    <a:p>
                      <a:r>
                        <a:rPr lang="en-US" sz="1600"/>
                        <a:t>Inconsiderate</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Considerate</a:t>
                      </a:r>
                    </a:p>
                  </a:txBody>
                  <a:tcPr marL="40410" marR="40410" marT="20205" marB="20205" anchor="ctr"/>
                </a:tc>
              </a:tr>
              <a:tr h="282873">
                <a:tc>
                  <a:txBody>
                    <a:bodyPr/>
                    <a:lstStyle/>
                    <a:p>
                      <a:r>
                        <a:rPr lang="en-US" sz="1600"/>
                        <a:t>Untrustworthy</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Trustworthy</a:t>
                      </a:r>
                    </a:p>
                  </a:txBody>
                  <a:tcPr marL="40410" marR="40410" marT="20205" marB="20205" anchor="ctr"/>
                </a:tc>
              </a:tr>
              <a:tr h="282873">
                <a:tc>
                  <a:txBody>
                    <a:bodyPr/>
                    <a:lstStyle/>
                    <a:p>
                      <a:r>
                        <a:rPr lang="en-US" sz="1600"/>
                        <a:t>Gloomy</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Cheerful</a:t>
                      </a:r>
                    </a:p>
                  </a:txBody>
                  <a:tcPr marL="40410" marR="40410" marT="20205" marB="20205" anchor="ctr"/>
                </a:tc>
              </a:tr>
              <a:tr h="282873">
                <a:tc>
                  <a:txBody>
                    <a:bodyPr/>
                    <a:lstStyle/>
                    <a:p>
                      <a:r>
                        <a:rPr lang="en-US" sz="1600"/>
                        <a:t>Quarrelsome</a:t>
                      </a:r>
                    </a:p>
                  </a:txBody>
                  <a:tcPr marL="40410" marR="40410" marT="20205" marB="20205" anchor="ctr"/>
                </a:tc>
                <a:tc>
                  <a:txBody>
                    <a:bodyPr/>
                    <a:lstStyle/>
                    <a:p>
                      <a:r>
                        <a:rPr lang="en-US" sz="1600"/>
                        <a:t>1   2   3   4   5   6   7   8</a:t>
                      </a:r>
                    </a:p>
                  </a:txBody>
                  <a:tcPr marL="40410" marR="40410" marT="20205" marB="20205" anchor="ctr"/>
                </a:tc>
                <a:tc>
                  <a:txBody>
                    <a:bodyPr/>
                    <a:lstStyle/>
                    <a:p>
                      <a:r>
                        <a:rPr lang="en-US" sz="1600" dirty="0"/>
                        <a:t>Harmonious</a:t>
                      </a:r>
                    </a:p>
                  </a:txBody>
                  <a:tcPr marL="40410" marR="40410" marT="20205" marB="20205" anchor="ctr"/>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LPC Score</a:t>
            </a:r>
            <a:endParaRPr lang="en-US" dirty="0"/>
          </a:p>
        </p:txBody>
      </p:sp>
      <p:sp>
        <p:nvSpPr>
          <p:cNvPr id="3" name="Content Placeholder 2"/>
          <p:cNvSpPr>
            <a:spLocks noGrp="1"/>
          </p:cNvSpPr>
          <p:nvPr>
            <p:ph idx="1"/>
          </p:nvPr>
        </p:nvSpPr>
        <p:spPr/>
        <p:txBody>
          <a:bodyPr/>
          <a:lstStyle/>
          <a:p>
            <a:r>
              <a:rPr lang="en-US" sz="2000" i="1" dirty="0" smtClean="0">
                <a:solidFill>
                  <a:srgbClr val="C00000"/>
                </a:solidFill>
              </a:rPr>
              <a:t>Task-oriented leaders</a:t>
            </a:r>
            <a:r>
              <a:rPr lang="en-US" sz="2000" dirty="0" smtClean="0"/>
              <a:t> usually view their LPCs more negatively, resulting in a </a:t>
            </a:r>
            <a:r>
              <a:rPr lang="en-US" sz="2000" u="sng" dirty="0" smtClean="0"/>
              <a:t>lower score</a:t>
            </a:r>
            <a:r>
              <a:rPr lang="en-US" sz="2000" dirty="0" smtClean="0"/>
              <a:t>. </a:t>
            </a:r>
            <a:r>
              <a:rPr lang="en-US" sz="2000" b="1" dirty="0" smtClean="0"/>
              <a:t>Low LPCs</a:t>
            </a:r>
            <a:r>
              <a:rPr lang="en-US" sz="2000" dirty="0" smtClean="0"/>
              <a:t> are very effective at completing tasks. They're quick to organize a group to get tasks and projects done. Relationship-building is a low priority.</a:t>
            </a:r>
          </a:p>
          <a:p>
            <a:r>
              <a:rPr lang="en-US" sz="2000" i="1" dirty="0" smtClean="0">
                <a:solidFill>
                  <a:srgbClr val="C00000"/>
                </a:solidFill>
              </a:rPr>
              <a:t>Relationship-oriented leaders</a:t>
            </a:r>
            <a:r>
              <a:rPr lang="en-US" sz="2000" dirty="0" smtClean="0"/>
              <a:t> usually view their LPCs more positively, giving them a </a:t>
            </a:r>
            <a:r>
              <a:rPr lang="en-US" sz="2000" u="sng" dirty="0" smtClean="0"/>
              <a:t>higher score</a:t>
            </a:r>
            <a:r>
              <a:rPr lang="en-US" sz="2000" dirty="0" smtClean="0"/>
              <a:t>. </a:t>
            </a:r>
            <a:r>
              <a:rPr lang="en-US" sz="2000" b="1" dirty="0" smtClean="0"/>
              <a:t>High LPCs</a:t>
            </a:r>
            <a:r>
              <a:rPr lang="en-US" sz="2000" dirty="0" smtClean="0"/>
              <a:t> focus more on personal connections, and they're good at avoiding and managing conflict. They're better able to make complex decisions.</a:t>
            </a:r>
            <a:endParaRPr lang="en-US" sz="2000" dirty="0"/>
          </a:p>
        </p:txBody>
      </p:sp>
      <p:pic>
        <p:nvPicPr>
          <p:cNvPr id="115714" name="Picture 2" descr="https://www.investopedia.com/thmb/jwXMBVcuh5zR-0FIuH31h852yQM=/2121x1414/filters:fill(auto,1)/GettyImages-913481088-d3e3bb0304454c168512e724d7a2d595.jpg"/>
          <p:cNvPicPr>
            <a:picLocks noChangeAspect="1" noChangeArrowheads="1"/>
          </p:cNvPicPr>
          <p:nvPr/>
        </p:nvPicPr>
        <p:blipFill>
          <a:blip r:embed="rId2" cstate="print"/>
          <a:srcRect/>
          <a:stretch>
            <a:fillRect/>
          </a:stretch>
        </p:blipFill>
        <p:spPr bwMode="auto">
          <a:xfrm>
            <a:off x="5638800" y="4495800"/>
            <a:ext cx="2424303" cy="1616202"/>
          </a:xfrm>
          <a:prstGeom prst="rect">
            <a:avLst/>
          </a:prstGeom>
          <a:noFill/>
        </p:spPr>
      </p:pic>
      <p:pic>
        <p:nvPicPr>
          <p:cNvPr id="115716" name="Picture 4" descr="http://ephlux.com/wp-content/uploads/2016/10/inside-sales-rep-sports.jpg"/>
          <p:cNvPicPr>
            <a:picLocks noChangeAspect="1" noChangeArrowheads="1"/>
          </p:cNvPicPr>
          <p:nvPr/>
        </p:nvPicPr>
        <p:blipFill>
          <a:blip r:embed="rId3" cstate="print"/>
          <a:srcRect/>
          <a:stretch>
            <a:fillRect/>
          </a:stretch>
        </p:blipFill>
        <p:spPr bwMode="auto">
          <a:xfrm>
            <a:off x="1219200" y="4572000"/>
            <a:ext cx="2667000" cy="1499235"/>
          </a:xfrm>
          <a:prstGeom prst="rect">
            <a:avLst/>
          </a:prstGeom>
          <a:noFill/>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Situational Favorableness</a:t>
            </a:r>
            <a:endParaRPr lang="en-US" dirty="0"/>
          </a:p>
        </p:txBody>
      </p:sp>
      <p:graphicFrame>
        <p:nvGraphicFramePr>
          <p:cNvPr id="4" name="Content Placeholder 3"/>
          <p:cNvGraphicFramePr>
            <a:graphicFrameLocks noGrp="1"/>
          </p:cNvGraphicFramePr>
          <p:nvPr>
            <p:ph idx="1"/>
          </p:nvPr>
        </p:nvGraphicFramePr>
        <p:xfrm>
          <a:off x="457200" y="2148840"/>
          <a:ext cx="8229600" cy="2956560"/>
        </p:xfrm>
        <a:graphic>
          <a:graphicData uri="http://schemas.openxmlformats.org/drawingml/2006/table">
            <a:tbl>
              <a:tblPr firstRow="1" bandRow="1">
                <a:tableStyleId>{5C22544A-7EE6-4342-B048-85BDC9FD1C3A}</a:tableStyleId>
              </a:tblPr>
              <a:tblGrid>
                <a:gridCol w="1371600"/>
                <a:gridCol w="762000"/>
                <a:gridCol w="1752600"/>
                <a:gridCol w="1905000"/>
                <a:gridCol w="1066800"/>
                <a:gridCol w="1371600"/>
              </a:tblGrid>
              <a:tr h="370840">
                <a:tc gridSpan="2">
                  <a:txBody>
                    <a:bodyPr/>
                    <a:lstStyle/>
                    <a:p>
                      <a:pPr algn="ctr"/>
                      <a:r>
                        <a:rPr lang="en-US" sz="2200" dirty="0" smtClean="0"/>
                        <a:t>Leader-Member Relations</a:t>
                      </a:r>
                      <a:endParaRPr lang="en-US" sz="2200" dirty="0"/>
                    </a:p>
                  </a:txBody>
                  <a:tcPr/>
                </a:tc>
                <a:tc hMerge="1">
                  <a:txBody>
                    <a:bodyPr/>
                    <a:lstStyle/>
                    <a:p>
                      <a:endParaRPr lang="en-US"/>
                    </a:p>
                  </a:txBody>
                  <a:tcPr/>
                </a:tc>
                <a:tc gridSpan="2">
                  <a:txBody>
                    <a:bodyPr/>
                    <a:lstStyle/>
                    <a:p>
                      <a:pPr algn="ctr"/>
                      <a:r>
                        <a:rPr lang="en-US" sz="2200" b="1" dirty="0" smtClean="0"/>
                        <a:t>Task Structure</a:t>
                      </a:r>
                      <a:endParaRPr lang="en-US" sz="2200" dirty="0"/>
                    </a:p>
                  </a:txBody>
                  <a:tcPr/>
                </a:tc>
                <a:tc hMerge="1">
                  <a:txBody>
                    <a:bodyPr/>
                    <a:lstStyle/>
                    <a:p>
                      <a:endParaRPr lang="en-US"/>
                    </a:p>
                  </a:txBody>
                  <a:tcPr/>
                </a:tc>
                <a:tc gridSpan="2">
                  <a:txBody>
                    <a:bodyPr/>
                    <a:lstStyle/>
                    <a:p>
                      <a:pPr algn="ctr"/>
                      <a:r>
                        <a:rPr lang="en-US" sz="2200" b="1" dirty="0" smtClean="0"/>
                        <a:t>Leader's Position Power</a:t>
                      </a:r>
                      <a:endParaRPr lang="en-US" sz="2200" dirty="0"/>
                    </a:p>
                  </a:txBody>
                  <a:tcPr/>
                </a:tc>
                <a:tc hMerge="1">
                  <a:txBody>
                    <a:bodyPr/>
                    <a:lstStyle/>
                    <a:p>
                      <a:endParaRPr lang="en-US"/>
                    </a:p>
                  </a:txBody>
                  <a:tcPr/>
                </a:tc>
              </a:tr>
              <a:tr h="370840">
                <a:tc gridSpan="2">
                  <a:txBody>
                    <a:bodyPr/>
                    <a:lstStyle/>
                    <a:p>
                      <a:pPr algn="ctr"/>
                      <a:r>
                        <a:rPr lang="en-US" sz="2200" dirty="0" smtClean="0"/>
                        <a:t>The level of trust and confidence that your team has in you.</a:t>
                      </a:r>
                      <a:endParaRPr lang="en-US" sz="2200" dirty="0"/>
                    </a:p>
                  </a:txBody>
                  <a:tcPr/>
                </a:tc>
                <a:tc hMerge="1">
                  <a:txBody>
                    <a:bodyPr/>
                    <a:lstStyle/>
                    <a:p>
                      <a:endParaRPr lang="en-US"/>
                    </a:p>
                  </a:txBody>
                  <a:tcPr/>
                </a:tc>
                <a:tc gridSpan="2">
                  <a:txBody>
                    <a:bodyPr/>
                    <a:lstStyle/>
                    <a:p>
                      <a:pPr algn="ctr"/>
                      <a:r>
                        <a:rPr lang="en-US" sz="2200" dirty="0" smtClean="0"/>
                        <a:t>The type of task you're doing: clear and structured, or vague and unstructured. </a:t>
                      </a:r>
                      <a:endParaRPr lang="en-US" sz="2200" dirty="0"/>
                    </a:p>
                  </a:txBody>
                  <a:tcPr/>
                </a:tc>
                <a:tc hMerge="1">
                  <a:txBody>
                    <a:bodyPr/>
                    <a:lstStyle/>
                    <a:p>
                      <a:endParaRPr lang="en-US"/>
                    </a:p>
                  </a:txBody>
                  <a:tcPr/>
                </a:tc>
                <a:tc gridSpan="2">
                  <a:txBody>
                    <a:bodyPr/>
                    <a:lstStyle/>
                    <a:p>
                      <a:pPr algn="ctr"/>
                      <a:r>
                        <a:rPr lang="en-US" sz="2200" dirty="0" smtClean="0"/>
                        <a:t>The amount of power you have to direct the group, and provide reward or punishment.</a:t>
                      </a:r>
                      <a:endParaRPr lang="en-US" sz="2200" dirty="0"/>
                    </a:p>
                  </a:txBody>
                  <a:tcPr/>
                </a:tc>
                <a:tc hMerge="1">
                  <a:txBody>
                    <a:bodyPr/>
                    <a:lstStyle/>
                    <a:p>
                      <a:endParaRPr lang="en-US"/>
                    </a:p>
                  </a:txBody>
                  <a:tcPr/>
                </a:tc>
              </a:tr>
              <a:tr h="370840">
                <a:tc>
                  <a:txBody>
                    <a:bodyPr/>
                    <a:lstStyle/>
                    <a:p>
                      <a:r>
                        <a:rPr lang="en-US" sz="2200" dirty="0" smtClean="0"/>
                        <a:t>Good</a:t>
                      </a:r>
                      <a:endParaRPr lang="en-US" sz="2200" dirty="0"/>
                    </a:p>
                  </a:txBody>
                  <a:tcPr/>
                </a:tc>
                <a:tc>
                  <a:txBody>
                    <a:bodyPr/>
                    <a:lstStyle/>
                    <a:p>
                      <a:r>
                        <a:rPr lang="en-US" sz="2200" dirty="0" smtClean="0"/>
                        <a:t>Poor</a:t>
                      </a:r>
                      <a:endParaRPr lang="en-US" sz="2200" dirty="0"/>
                    </a:p>
                  </a:txBody>
                  <a:tcPr/>
                </a:tc>
                <a:tc>
                  <a:txBody>
                    <a:bodyPr/>
                    <a:lstStyle/>
                    <a:p>
                      <a:r>
                        <a:rPr lang="en-US" sz="2200" dirty="0" smtClean="0"/>
                        <a:t>Structured</a:t>
                      </a:r>
                      <a:endParaRPr lang="en-US" sz="2200" dirty="0"/>
                    </a:p>
                  </a:txBody>
                  <a:tcPr/>
                </a:tc>
                <a:tc>
                  <a:txBody>
                    <a:bodyPr/>
                    <a:lstStyle/>
                    <a:p>
                      <a:r>
                        <a:rPr lang="en-US" sz="2200" dirty="0" smtClean="0"/>
                        <a:t>Unstructured</a:t>
                      </a:r>
                      <a:endParaRPr lang="en-US" sz="2200" dirty="0"/>
                    </a:p>
                  </a:txBody>
                  <a:tcPr/>
                </a:tc>
                <a:tc>
                  <a:txBody>
                    <a:bodyPr/>
                    <a:lstStyle/>
                    <a:p>
                      <a:r>
                        <a:rPr lang="en-US" sz="2200" dirty="0" smtClean="0"/>
                        <a:t>Strong</a:t>
                      </a:r>
                      <a:endParaRPr lang="en-US" sz="2200" dirty="0"/>
                    </a:p>
                  </a:txBody>
                  <a:tcPr/>
                </a:tc>
                <a:tc>
                  <a:txBody>
                    <a:bodyPr/>
                    <a:lstStyle/>
                    <a:p>
                      <a:r>
                        <a:rPr lang="en-US" sz="2200" dirty="0" smtClean="0"/>
                        <a:t>Weak</a:t>
                      </a:r>
                      <a:endParaRPr lang="en-US" sz="2200" dirty="0"/>
                    </a:p>
                  </a:txBody>
                  <a:tcPr/>
                </a:tc>
              </a:tr>
            </a:tbl>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Most Effective Leader Style</a:t>
            </a:r>
            <a:endParaRPr lang="en-US" dirty="0"/>
          </a:p>
        </p:txBody>
      </p:sp>
      <p:graphicFrame>
        <p:nvGraphicFramePr>
          <p:cNvPr id="7" name="Table 6"/>
          <p:cNvGraphicFramePr>
            <a:graphicFrameLocks noGrp="1"/>
          </p:cNvGraphicFramePr>
          <p:nvPr/>
        </p:nvGraphicFramePr>
        <p:xfrm>
          <a:off x="609600" y="1508760"/>
          <a:ext cx="7772400" cy="4511040"/>
        </p:xfrm>
        <a:graphic>
          <a:graphicData uri="http://schemas.openxmlformats.org/drawingml/2006/table">
            <a:tbl>
              <a:tblPr firstRow="1">
                <a:tableStyleId>{BC89EF96-8CEA-46FF-86C4-4CE0E7609802}</a:tableStyleId>
              </a:tblPr>
              <a:tblGrid>
                <a:gridCol w="1943100"/>
                <a:gridCol w="1943100"/>
                <a:gridCol w="1943100"/>
                <a:gridCol w="1943100"/>
              </a:tblGrid>
              <a:tr h="0">
                <a:tc>
                  <a:txBody>
                    <a:bodyPr/>
                    <a:lstStyle/>
                    <a:p>
                      <a:r>
                        <a:rPr lang="en-US" sz="2200" dirty="0"/>
                        <a:t>Leader-Member Relations</a:t>
                      </a:r>
                    </a:p>
                  </a:txBody>
                  <a:tcPr anchor="ctr"/>
                </a:tc>
                <a:tc>
                  <a:txBody>
                    <a:bodyPr/>
                    <a:lstStyle/>
                    <a:p>
                      <a:r>
                        <a:rPr lang="en-US" sz="2200" dirty="0"/>
                        <a:t>Task Structure</a:t>
                      </a:r>
                    </a:p>
                  </a:txBody>
                  <a:tcPr anchor="ctr"/>
                </a:tc>
                <a:tc>
                  <a:txBody>
                    <a:bodyPr/>
                    <a:lstStyle/>
                    <a:p>
                      <a:r>
                        <a:rPr lang="en-US" sz="2200" dirty="0" smtClean="0"/>
                        <a:t>Leader's </a:t>
                      </a:r>
                      <a:r>
                        <a:rPr lang="en-US" sz="2200" dirty="0"/>
                        <a:t>Position Power</a:t>
                      </a:r>
                    </a:p>
                  </a:txBody>
                  <a:tcPr anchor="ctr"/>
                </a:tc>
                <a:tc>
                  <a:txBody>
                    <a:bodyPr/>
                    <a:lstStyle/>
                    <a:p>
                      <a:r>
                        <a:rPr lang="en-US" sz="2200" i="0" dirty="0">
                          <a:solidFill>
                            <a:srgbClr val="C00000"/>
                          </a:solidFill>
                        </a:rPr>
                        <a:t>Most Effective Leader</a:t>
                      </a:r>
                    </a:p>
                  </a:txBody>
                  <a:tcPr anchor="ctr"/>
                </a:tc>
              </a:tr>
              <a:tr h="0">
                <a:tc>
                  <a:txBody>
                    <a:bodyPr/>
                    <a:lstStyle/>
                    <a:p>
                      <a:r>
                        <a:rPr lang="en-US" sz="2200"/>
                        <a:t>Good</a:t>
                      </a:r>
                    </a:p>
                  </a:txBody>
                  <a:tcPr anchor="ctr"/>
                </a:tc>
                <a:tc>
                  <a:txBody>
                    <a:bodyPr/>
                    <a:lstStyle/>
                    <a:p>
                      <a:r>
                        <a:rPr lang="en-US" sz="2200"/>
                        <a:t>Structured</a:t>
                      </a:r>
                    </a:p>
                  </a:txBody>
                  <a:tcPr anchor="ctr"/>
                </a:tc>
                <a:tc>
                  <a:txBody>
                    <a:bodyPr/>
                    <a:lstStyle/>
                    <a:p>
                      <a:r>
                        <a:rPr lang="en-US" sz="2200"/>
                        <a:t>Strong</a:t>
                      </a:r>
                    </a:p>
                  </a:txBody>
                  <a:tcPr anchor="ctr"/>
                </a:tc>
                <a:tc>
                  <a:txBody>
                    <a:bodyPr/>
                    <a:lstStyle/>
                    <a:p>
                      <a:r>
                        <a:rPr lang="en-US" sz="2200"/>
                        <a:t>Low LPC</a:t>
                      </a:r>
                    </a:p>
                  </a:txBody>
                  <a:tcPr anchor="ctr"/>
                </a:tc>
              </a:tr>
              <a:tr h="0">
                <a:tc>
                  <a:txBody>
                    <a:bodyPr/>
                    <a:lstStyle/>
                    <a:p>
                      <a:r>
                        <a:rPr lang="en-US" sz="2200"/>
                        <a:t>Good</a:t>
                      </a:r>
                    </a:p>
                  </a:txBody>
                  <a:tcPr anchor="ctr"/>
                </a:tc>
                <a:tc>
                  <a:txBody>
                    <a:bodyPr/>
                    <a:lstStyle/>
                    <a:p>
                      <a:r>
                        <a:rPr lang="en-US" sz="2200"/>
                        <a:t>Structured</a:t>
                      </a:r>
                    </a:p>
                  </a:txBody>
                  <a:tcPr anchor="ctr"/>
                </a:tc>
                <a:tc>
                  <a:txBody>
                    <a:bodyPr/>
                    <a:lstStyle/>
                    <a:p>
                      <a:r>
                        <a:rPr lang="en-US" sz="2200"/>
                        <a:t>Weak</a:t>
                      </a:r>
                    </a:p>
                  </a:txBody>
                  <a:tcPr anchor="ctr"/>
                </a:tc>
                <a:tc>
                  <a:txBody>
                    <a:bodyPr/>
                    <a:lstStyle/>
                    <a:p>
                      <a:r>
                        <a:rPr lang="en-US" sz="2200"/>
                        <a:t>Low LPC</a:t>
                      </a:r>
                    </a:p>
                  </a:txBody>
                  <a:tcPr anchor="ctr"/>
                </a:tc>
              </a:tr>
              <a:tr h="0">
                <a:tc>
                  <a:txBody>
                    <a:bodyPr/>
                    <a:lstStyle/>
                    <a:p>
                      <a:r>
                        <a:rPr lang="en-US" sz="2200"/>
                        <a:t>Good</a:t>
                      </a:r>
                    </a:p>
                  </a:txBody>
                  <a:tcPr anchor="ctr"/>
                </a:tc>
                <a:tc>
                  <a:txBody>
                    <a:bodyPr/>
                    <a:lstStyle/>
                    <a:p>
                      <a:r>
                        <a:rPr lang="en-US" sz="2200"/>
                        <a:t>Unstructured</a:t>
                      </a:r>
                    </a:p>
                  </a:txBody>
                  <a:tcPr anchor="ctr"/>
                </a:tc>
                <a:tc>
                  <a:txBody>
                    <a:bodyPr/>
                    <a:lstStyle/>
                    <a:p>
                      <a:r>
                        <a:rPr lang="en-US" sz="2200"/>
                        <a:t>Strong</a:t>
                      </a:r>
                    </a:p>
                  </a:txBody>
                  <a:tcPr anchor="ctr"/>
                </a:tc>
                <a:tc>
                  <a:txBody>
                    <a:bodyPr/>
                    <a:lstStyle/>
                    <a:p>
                      <a:r>
                        <a:rPr lang="en-US" sz="2200"/>
                        <a:t>Low LPC</a:t>
                      </a:r>
                    </a:p>
                  </a:txBody>
                  <a:tcPr anchor="ctr"/>
                </a:tc>
              </a:tr>
              <a:tr h="0">
                <a:tc>
                  <a:txBody>
                    <a:bodyPr/>
                    <a:lstStyle/>
                    <a:p>
                      <a:r>
                        <a:rPr lang="en-US" sz="2200"/>
                        <a:t>Good</a:t>
                      </a:r>
                    </a:p>
                  </a:txBody>
                  <a:tcPr anchor="ctr"/>
                </a:tc>
                <a:tc>
                  <a:txBody>
                    <a:bodyPr/>
                    <a:lstStyle/>
                    <a:p>
                      <a:r>
                        <a:rPr lang="en-US" sz="2200"/>
                        <a:t>Unstructured</a:t>
                      </a:r>
                    </a:p>
                  </a:txBody>
                  <a:tcPr anchor="ctr"/>
                </a:tc>
                <a:tc>
                  <a:txBody>
                    <a:bodyPr/>
                    <a:lstStyle/>
                    <a:p>
                      <a:r>
                        <a:rPr lang="en-US" sz="2200"/>
                        <a:t>Weak</a:t>
                      </a:r>
                    </a:p>
                  </a:txBody>
                  <a:tcPr anchor="ctr"/>
                </a:tc>
                <a:tc>
                  <a:txBody>
                    <a:bodyPr/>
                    <a:lstStyle/>
                    <a:p>
                      <a:r>
                        <a:rPr lang="en-US" sz="2200"/>
                        <a:t>High LPC</a:t>
                      </a:r>
                    </a:p>
                  </a:txBody>
                  <a:tcPr anchor="ctr"/>
                </a:tc>
              </a:tr>
              <a:tr h="0">
                <a:tc>
                  <a:txBody>
                    <a:bodyPr/>
                    <a:lstStyle/>
                    <a:p>
                      <a:r>
                        <a:rPr lang="en-US" sz="2200"/>
                        <a:t>Poor</a:t>
                      </a:r>
                    </a:p>
                  </a:txBody>
                  <a:tcPr anchor="ctr"/>
                </a:tc>
                <a:tc>
                  <a:txBody>
                    <a:bodyPr/>
                    <a:lstStyle/>
                    <a:p>
                      <a:r>
                        <a:rPr lang="en-US" sz="2200"/>
                        <a:t>Structured</a:t>
                      </a:r>
                    </a:p>
                  </a:txBody>
                  <a:tcPr anchor="ctr"/>
                </a:tc>
                <a:tc>
                  <a:txBody>
                    <a:bodyPr/>
                    <a:lstStyle/>
                    <a:p>
                      <a:r>
                        <a:rPr lang="en-US" sz="2200"/>
                        <a:t>Strong</a:t>
                      </a:r>
                    </a:p>
                  </a:txBody>
                  <a:tcPr anchor="ctr"/>
                </a:tc>
                <a:tc>
                  <a:txBody>
                    <a:bodyPr/>
                    <a:lstStyle/>
                    <a:p>
                      <a:r>
                        <a:rPr lang="en-US" sz="2200"/>
                        <a:t>High LPC</a:t>
                      </a:r>
                    </a:p>
                  </a:txBody>
                  <a:tcPr anchor="ctr"/>
                </a:tc>
              </a:tr>
              <a:tr h="0">
                <a:tc>
                  <a:txBody>
                    <a:bodyPr/>
                    <a:lstStyle/>
                    <a:p>
                      <a:r>
                        <a:rPr lang="en-US" sz="2200"/>
                        <a:t>Poor</a:t>
                      </a:r>
                    </a:p>
                  </a:txBody>
                  <a:tcPr anchor="ctr"/>
                </a:tc>
                <a:tc>
                  <a:txBody>
                    <a:bodyPr/>
                    <a:lstStyle/>
                    <a:p>
                      <a:r>
                        <a:rPr lang="en-US" sz="2200"/>
                        <a:t>Structured</a:t>
                      </a:r>
                    </a:p>
                  </a:txBody>
                  <a:tcPr anchor="ctr"/>
                </a:tc>
                <a:tc>
                  <a:txBody>
                    <a:bodyPr/>
                    <a:lstStyle/>
                    <a:p>
                      <a:r>
                        <a:rPr lang="en-US" sz="2200"/>
                        <a:t>Weak</a:t>
                      </a:r>
                    </a:p>
                  </a:txBody>
                  <a:tcPr anchor="ctr"/>
                </a:tc>
                <a:tc>
                  <a:txBody>
                    <a:bodyPr/>
                    <a:lstStyle/>
                    <a:p>
                      <a:r>
                        <a:rPr lang="en-US" sz="2200"/>
                        <a:t>High LPC</a:t>
                      </a:r>
                    </a:p>
                  </a:txBody>
                  <a:tcPr anchor="ctr"/>
                </a:tc>
              </a:tr>
              <a:tr h="0">
                <a:tc>
                  <a:txBody>
                    <a:bodyPr/>
                    <a:lstStyle/>
                    <a:p>
                      <a:r>
                        <a:rPr lang="en-US" sz="2200"/>
                        <a:t>Poor</a:t>
                      </a:r>
                    </a:p>
                  </a:txBody>
                  <a:tcPr anchor="ctr"/>
                </a:tc>
                <a:tc>
                  <a:txBody>
                    <a:bodyPr/>
                    <a:lstStyle/>
                    <a:p>
                      <a:r>
                        <a:rPr lang="en-US" sz="2200"/>
                        <a:t>Unstructured</a:t>
                      </a:r>
                    </a:p>
                  </a:txBody>
                  <a:tcPr anchor="ctr"/>
                </a:tc>
                <a:tc>
                  <a:txBody>
                    <a:bodyPr/>
                    <a:lstStyle/>
                    <a:p>
                      <a:r>
                        <a:rPr lang="en-US" sz="2200"/>
                        <a:t>Strong</a:t>
                      </a:r>
                    </a:p>
                  </a:txBody>
                  <a:tcPr anchor="ctr"/>
                </a:tc>
                <a:tc>
                  <a:txBody>
                    <a:bodyPr/>
                    <a:lstStyle/>
                    <a:p>
                      <a:r>
                        <a:rPr lang="en-US" sz="2200"/>
                        <a:t>High LPC</a:t>
                      </a:r>
                    </a:p>
                  </a:txBody>
                  <a:tcPr anchor="ctr"/>
                </a:tc>
              </a:tr>
              <a:tr h="0">
                <a:tc>
                  <a:txBody>
                    <a:bodyPr/>
                    <a:lstStyle/>
                    <a:p>
                      <a:r>
                        <a:rPr lang="en-US" sz="2200"/>
                        <a:t>Poor</a:t>
                      </a:r>
                    </a:p>
                  </a:txBody>
                  <a:tcPr anchor="ctr"/>
                </a:tc>
                <a:tc>
                  <a:txBody>
                    <a:bodyPr/>
                    <a:lstStyle/>
                    <a:p>
                      <a:r>
                        <a:rPr lang="en-US" sz="2200"/>
                        <a:t>Unstructured</a:t>
                      </a:r>
                    </a:p>
                  </a:txBody>
                  <a:tcPr anchor="ctr"/>
                </a:tc>
                <a:tc>
                  <a:txBody>
                    <a:bodyPr/>
                    <a:lstStyle/>
                    <a:p>
                      <a:r>
                        <a:rPr lang="en-US" sz="2200"/>
                        <a:t>Weak</a:t>
                      </a:r>
                    </a:p>
                  </a:txBody>
                  <a:tcPr anchor="ctr"/>
                </a:tc>
                <a:tc>
                  <a:txBody>
                    <a:bodyPr/>
                    <a:lstStyle/>
                    <a:p>
                      <a:r>
                        <a:rPr lang="en-US" sz="2200" dirty="0"/>
                        <a:t>Low LPC</a:t>
                      </a:r>
                    </a:p>
                  </a:txBody>
                  <a:tcPr anchor="ctr"/>
                </a:tc>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Power of Leaders</a:t>
            </a:r>
            <a:endParaRPr lang="en-US" dirty="0"/>
          </a:p>
        </p:txBody>
      </p:sp>
      <p:sp>
        <p:nvSpPr>
          <p:cNvPr id="3" name="Content Placeholder 2"/>
          <p:cNvSpPr>
            <a:spLocks noGrp="1"/>
          </p:cNvSpPr>
          <p:nvPr>
            <p:ph idx="1"/>
          </p:nvPr>
        </p:nvSpPr>
        <p:spPr>
          <a:xfrm>
            <a:off x="457200" y="1600201"/>
            <a:ext cx="8229600" cy="3048000"/>
          </a:xfrm>
        </p:spPr>
        <p:txBody>
          <a:bodyPr/>
          <a:lstStyle/>
          <a:p>
            <a:r>
              <a:rPr lang="en-US" sz="2200" i="1" dirty="0" smtClean="0">
                <a:solidFill>
                  <a:srgbClr val="C00000"/>
                </a:solidFill>
              </a:rPr>
              <a:t>Punishment</a:t>
            </a:r>
            <a:r>
              <a:rPr lang="en-US" sz="2200" dirty="0" smtClean="0"/>
              <a:t>, also known as </a:t>
            </a:r>
            <a:r>
              <a:rPr lang="en-US" sz="2200" i="1" dirty="0" smtClean="0">
                <a:solidFill>
                  <a:srgbClr val="C00000"/>
                </a:solidFill>
              </a:rPr>
              <a:t>coercive or penalty power</a:t>
            </a:r>
            <a:r>
              <a:rPr lang="en-US" sz="2200" dirty="0" smtClean="0"/>
              <a:t>, is just the opposite of reward power.</a:t>
            </a:r>
          </a:p>
          <a:p>
            <a:r>
              <a:rPr lang="en-US" sz="2200" i="1" dirty="0" smtClean="0">
                <a:solidFill>
                  <a:srgbClr val="C00000"/>
                </a:solidFill>
              </a:rPr>
              <a:t>Expert power</a:t>
            </a:r>
            <a:r>
              <a:rPr lang="en-US" sz="2200" dirty="0" smtClean="0"/>
              <a:t> occurs when the person being influenced believes the manager, or the person doing the influencing, is knowledgeable about the subject or has special abilities that make them an expert.</a:t>
            </a:r>
          </a:p>
          <a:p>
            <a:r>
              <a:rPr lang="en-US" sz="2200" i="1" dirty="0" smtClean="0">
                <a:solidFill>
                  <a:srgbClr val="C00000"/>
                </a:solidFill>
              </a:rPr>
              <a:t>Legitimate, or formal, power</a:t>
            </a:r>
            <a:r>
              <a:rPr lang="en-US" sz="2200" dirty="0" smtClean="0"/>
              <a:t> comes about as a result of the influencer's position.</a:t>
            </a:r>
          </a:p>
          <a:p>
            <a:r>
              <a:rPr lang="en-US" sz="2200" i="1" dirty="0" smtClean="0">
                <a:solidFill>
                  <a:srgbClr val="C00000"/>
                </a:solidFill>
              </a:rPr>
              <a:t>Referent power</a:t>
            </a:r>
            <a:r>
              <a:rPr lang="en-US" sz="2200" dirty="0" smtClean="0"/>
              <a:t> is inferred to the influencer by their subordinates.</a:t>
            </a:r>
            <a:endParaRPr lang="en-US" sz="2200" dirty="0"/>
          </a:p>
        </p:txBody>
      </p:sp>
      <p:pic>
        <p:nvPicPr>
          <p:cNvPr id="93186" name="Picture 2" descr="https://d8a8a12b527478184df8-1fd282026c3ff4ae711d11ecc95a1d47.ssl.cf1.rackcdn.com/wp-content/uploads/2013/06/powers-leaders-good-evil-giang-open-forum-display.jpg"/>
          <p:cNvPicPr>
            <a:picLocks noChangeAspect="1" noChangeArrowheads="1"/>
          </p:cNvPicPr>
          <p:nvPr/>
        </p:nvPicPr>
        <p:blipFill>
          <a:blip r:embed="rId2" cstate="print"/>
          <a:srcRect/>
          <a:stretch>
            <a:fillRect/>
          </a:stretch>
        </p:blipFill>
        <p:spPr bwMode="auto">
          <a:xfrm>
            <a:off x="3200400" y="4800600"/>
            <a:ext cx="3219450" cy="1685926"/>
          </a:xfrm>
          <a:prstGeom prst="rect">
            <a:avLst/>
          </a:prstGeom>
          <a:noFill/>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 (Sponsor) Persuasion</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Liking</a:t>
            </a:r>
            <a:r>
              <a:rPr lang="en-US" sz="2200" dirty="0" smtClean="0"/>
              <a:t>: People will agree more often with people they like.</a:t>
            </a:r>
          </a:p>
          <a:p>
            <a:r>
              <a:rPr lang="en-US" sz="2200" dirty="0" smtClean="0"/>
              <a:t>Take the time to build positive relationships with stakeholders.</a:t>
            </a:r>
          </a:p>
          <a:p>
            <a:r>
              <a:rPr lang="en-US" sz="2200" i="1" dirty="0" smtClean="0">
                <a:solidFill>
                  <a:srgbClr val="C00000"/>
                </a:solidFill>
              </a:rPr>
              <a:t>Reciprocity</a:t>
            </a:r>
            <a:r>
              <a:rPr lang="en-US" sz="2200" dirty="0" smtClean="0"/>
              <a:t>: Others will do things for us if we have first done things for them.</a:t>
            </a:r>
          </a:p>
        </p:txBody>
      </p:sp>
      <p:pic>
        <p:nvPicPr>
          <p:cNvPr id="2050" name="Picture 2" descr="https://blog.smile.io/content/images/2018/The%20Psychology%20of%20Reciprocity%20and%20Rewards/Reciprocity-and-Rewards-Feature-Image.jpg"/>
          <p:cNvPicPr>
            <a:picLocks noChangeAspect="1" noChangeArrowheads="1"/>
          </p:cNvPicPr>
          <p:nvPr/>
        </p:nvPicPr>
        <p:blipFill>
          <a:blip r:embed="rId2" cstate="print"/>
          <a:srcRect/>
          <a:stretch>
            <a:fillRect/>
          </a:stretch>
        </p:blipFill>
        <p:spPr bwMode="auto">
          <a:xfrm>
            <a:off x="2971800" y="3505200"/>
            <a:ext cx="3243136" cy="2263140"/>
          </a:xfrm>
          <a:prstGeom prst="rect">
            <a:avLst/>
          </a:prstGeom>
          <a:noFill/>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 (Sponsor) Influence</a:t>
            </a:r>
            <a:endParaRPr lang="en-US" dirty="0"/>
          </a:p>
        </p:txBody>
      </p:sp>
      <p:sp>
        <p:nvSpPr>
          <p:cNvPr id="3" name="Content Placeholder 2"/>
          <p:cNvSpPr>
            <a:spLocks noGrp="1"/>
          </p:cNvSpPr>
          <p:nvPr>
            <p:ph idx="1"/>
          </p:nvPr>
        </p:nvSpPr>
        <p:spPr>
          <a:xfrm>
            <a:off x="457200" y="1600200"/>
            <a:ext cx="4800600" cy="4525963"/>
          </a:xfrm>
        </p:spPr>
        <p:txBody>
          <a:bodyPr/>
          <a:lstStyle/>
          <a:p>
            <a:r>
              <a:rPr lang="en-US" sz="2200" i="1" dirty="0" smtClean="0">
                <a:solidFill>
                  <a:srgbClr val="C00000"/>
                </a:solidFill>
              </a:rPr>
              <a:t>Scarcity</a:t>
            </a:r>
            <a:r>
              <a:rPr lang="en-US" sz="2200" b="1" dirty="0" smtClean="0"/>
              <a:t>: </a:t>
            </a:r>
            <a:r>
              <a:rPr lang="en-US" sz="2200" dirty="0" smtClean="0"/>
              <a:t>What you do for this stakeholder must be seen as:</a:t>
            </a:r>
          </a:p>
          <a:p>
            <a:pPr lvl="1"/>
            <a:r>
              <a:rPr lang="en-US" sz="2000" dirty="0" smtClean="0"/>
              <a:t>Beneficial</a:t>
            </a:r>
          </a:p>
          <a:p>
            <a:pPr lvl="1"/>
            <a:r>
              <a:rPr lang="en-US" sz="2000" dirty="0" smtClean="0"/>
              <a:t>Unique</a:t>
            </a:r>
          </a:p>
          <a:p>
            <a:r>
              <a:rPr lang="en-US" sz="2200" dirty="0" smtClean="0"/>
              <a:t>The stakeholder must also understand what they can potentially lose.</a:t>
            </a:r>
          </a:p>
          <a:p>
            <a:r>
              <a:rPr lang="en-US" sz="2200" i="1" dirty="0" smtClean="0">
                <a:solidFill>
                  <a:srgbClr val="C00000"/>
                </a:solidFill>
              </a:rPr>
              <a:t>Authority</a:t>
            </a:r>
            <a:r>
              <a:rPr lang="en-US" sz="2200" dirty="0" smtClean="0"/>
              <a:t>: If you are seen as not just the person with “authority,” but as an authority or expert on what you are attempting to do in the project, people are more likely to agree with you and support what you are doing.</a:t>
            </a:r>
          </a:p>
        </p:txBody>
      </p:sp>
      <p:sp>
        <p:nvSpPr>
          <p:cNvPr id="46082" name="AutoShape 2" descr="https://cdn.economy-pedia.com/3822567/trfico_de_influencias_-_qu_es-_definicin_y_concepto_2021_economy-wikicom.jpg.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6086" name="Picture 6" descr="https://www.worldatlas.com/r/w1200/upload/aa/7c/a1/shutterstock-511571797.jpg"/>
          <p:cNvPicPr>
            <a:picLocks noChangeAspect="1" noChangeArrowheads="1"/>
          </p:cNvPicPr>
          <p:nvPr/>
        </p:nvPicPr>
        <p:blipFill>
          <a:blip r:embed="rId2" cstate="print"/>
          <a:srcRect/>
          <a:stretch>
            <a:fillRect/>
          </a:stretch>
        </p:blipFill>
        <p:spPr bwMode="auto">
          <a:xfrm>
            <a:off x="5638800" y="1676400"/>
            <a:ext cx="2794000" cy="1864360"/>
          </a:xfrm>
          <a:prstGeom prst="rect">
            <a:avLst/>
          </a:prstGeom>
          <a:noFill/>
        </p:spPr>
      </p:pic>
      <p:pic>
        <p:nvPicPr>
          <p:cNvPr id="46088" name="Picture 8" descr="https://f.hubspotusercontent40.net/hubfs/9253440/leader-guiding-team-power-vs-authority.jpg"/>
          <p:cNvPicPr>
            <a:picLocks noChangeAspect="1" noChangeArrowheads="1"/>
          </p:cNvPicPr>
          <p:nvPr/>
        </p:nvPicPr>
        <p:blipFill>
          <a:blip r:embed="rId3" cstate="print"/>
          <a:srcRect/>
          <a:stretch>
            <a:fillRect/>
          </a:stretch>
        </p:blipFill>
        <p:spPr bwMode="auto">
          <a:xfrm>
            <a:off x="5638800" y="4267200"/>
            <a:ext cx="2752725" cy="1831975"/>
          </a:xfrm>
          <a:prstGeom prst="rect">
            <a:avLst/>
          </a:prstGeom>
          <a:noFill/>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Multi-team Management</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685800" y="1554480"/>
            <a:ext cx="7620000" cy="4160520"/>
          </a:xfrm>
          <a:prstGeom prst="rect">
            <a:avLst/>
          </a:prstGeom>
          <a:noFill/>
          <a:ln w="9525">
            <a:noFill/>
            <a:miter lim="800000"/>
            <a:headEnd/>
            <a:tailEnd/>
          </a:ln>
        </p:spPr>
      </p:pic>
      <p:sp>
        <p:nvSpPr>
          <p:cNvPr id="5" name="Rectangle 4"/>
          <p:cNvSpPr/>
          <p:nvPr/>
        </p:nvSpPr>
        <p:spPr>
          <a:xfrm>
            <a:off x="1066800" y="5892225"/>
            <a:ext cx="6988773" cy="584775"/>
          </a:xfrm>
          <a:prstGeom prst="rect">
            <a:avLst/>
          </a:prstGeom>
          <a:solidFill>
            <a:schemeClr val="accent6"/>
          </a:solidFill>
        </p:spPr>
        <p:txBody>
          <a:bodyPr wrap="none">
            <a:spAutoFit/>
          </a:bodyPr>
          <a:lstStyle/>
          <a:p>
            <a:r>
              <a:rPr lang="en-US" sz="3200" dirty="0" smtClean="0">
                <a:solidFill>
                  <a:schemeClr val="bg1"/>
                </a:solidFill>
                <a:latin typeface="+mj-lt"/>
              </a:rPr>
              <a:t>Is there any way to partition the project?</a:t>
            </a:r>
            <a:endParaRPr lang="en-US" sz="3200" dirty="0">
              <a:solidFill>
                <a:schemeClr val="bg1"/>
              </a:solidFill>
              <a:latin typeface="+mj-lt"/>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 Assessment</a:t>
            </a: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685800" y="1905000"/>
            <a:ext cx="4480560" cy="2240280"/>
          </a:xfrm>
          <a:prstGeom prst="rect">
            <a:avLst/>
          </a:prstGeom>
          <a:noFill/>
          <a:ln w="9525">
            <a:noFill/>
            <a:miter lim="800000"/>
            <a:headEnd/>
            <a:tailEnd/>
          </a:ln>
        </p:spPr>
      </p:pic>
      <p:sp>
        <p:nvSpPr>
          <p:cNvPr id="6" name="Rectangle 5"/>
          <p:cNvSpPr/>
          <p:nvPr/>
        </p:nvSpPr>
        <p:spPr>
          <a:xfrm>
            <a:off x="5788764" y="4872633"/>
            <a:ext cx="2517036" cy="430887"/>
          </a:xfrm>
          <a:prstGeom prst="rect">
            <a:avLst/>
          </a:prstGeom>
        </p:spPr>
        <p:txBody>
          <a:bodyPr wrap="none">
            <a:spAutoFit/>
          </a:bodyPr>
          <a:lstStyle/>
          <a:p>
            <a:pPr marL="342900" indent="-342900"/>
            <a:r>
              <a:rPr lang="en-US" sz="2200" b="1" dirty="0" smtClean="0">
                <a:latin typeface="Consolas" pitchFamily="49" charset="0"/>
              </a:rPr>
              <a:t>Meeting minutes</a:t>
            </a:r>
            <a:endParaRPr lang="en-US" sz="2200" b="1" dirty="0">
              <a:latin typeface="Consolas" pitchFamily="49" charset="0"/>
            </a:endParaRPr>
          </a:p>
        </p:txBody>
      </p:sp>
      <p:pic>
        <p:nvPicPr>
          <p:cNvPr id="7" name="Picture 2" descr="http://kurld.com/images/wallpapers/document-image/document-image-17.jpg"/>
          <p:cNvPicPr>
            <a:picLocks noChangeAspect="1" noChangeArrowheads="1"/>
          </p:cNvPicPr>
          <p:nvPr/>
        </p:nvPicPr>
        <p:blipFill>
          <a:blip r:embed="rId3" cstate="print"/>
          <a:srcRect/>
          <a:stretch>
            <a:fillRect/>
          </a:stretch>
        </p:blipFill>
        <p:spPr bwMode="auto">
          <a:xfrm>
            <a:off x="5943600" y="2586633"/>
            <a:ext cx="1905000" cy="2133601"/>
          </a:xfrm>
          <a:prstGeom prst="rect">
            <a:avLst/>
          </a:prstGeom>
          <a:noFill/>
        </p:spPr>
      </p:pic>
      <p:pic>
        <p:nvPicPr>
          <p:cNvPr id="1026" name="Picture 2" descr="https://s3.amazonaws.com/uploads.bssskillmission/Dec162016160159.jpg"/>
          <p:cNvPicPr>
            <a:picLocks noChangeAspect="1" noChangeArrowheads="1"/>
          </p:cNvPicPr>
          <p:nvPr/>
        </p:nvPicPr>
        <p:blipFill>
          <a:blip r:embed="rId4" cstate="print"/>
          <a:srcRect/>
          <a:stretch>
            <a:fillRect/>
          </a:stretch>
        </p:blipFill>
        <p:spPr bwMode="auto">
          <a:xfrm>
            <a:off x="1600200" y="3810000"/>
            <a:ext cx="2857500" cy="2013966"/>
          </a:xfrm>
          <a:prstGeom prst="rect">
            <a:avLst/>
          </a:prstGeom>
          <a:noFill/>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McKinsey 7S Framework [11]</a:t>
            </a:r>
            <a:endParaRPr lang="en-US" dirty="0"/>
          </a:p>
        </p:txBody>
      </p:sp>
      <p:sp>
        <p:nvSpPr>
          <p:cNvPr id="3" name="Content Placeholder 2"/>
          <p:cNvSpPr>
            <a:spLocks noGrp="1"/>
          </p:cNvSpPr>
          <p:nvPr>
            <p:ph idx="1"/>
          </p:nvPr>
        </p:nvSpPr>
        <p:spPr/>
        <p:txBody>
          <a:bodyPr/>
          <a:lstStyle/>
          <a:p>
            <a:r>
              <a:rPr lang="en-US" sz="2400" dirty="0" smtClean="0"/>
              <a:t>How do you go about analyzing </a:t>
            </a:r>
            <a:r>
              <a:rPr lang="en-US" sz="2400" i="1" dirty="0" smtClean="0">
                <a:solidFill>
                  <a:srgbClr val="C00000"/>
                </a:solidFill>
              </a:rPr>
              <a:t>how well </a:t>
            </a:r>
            <a:r>
              <a:rPr lang="en-US" sz="2400" dirty="0" smtClean="0"/>
              <a:t>your organization is positioned to achieve its intended objective?</a:t>
            </a:r>
          </a:p>
          <a:p>
            <a:r>
              <a:rPr lang="en-US" sz="2400" dirty="0" smtClean="0"/>
              <a:t>While some models of organizational effectiveness go in and out of fashion, one that has persisted is the </a:t>
            </a:r>
            <a:r>
              <a:rPr lang="en-US" sz="2400" i="1" dirty="0" smtClean="0">
                <a:solidFill>
                  <a:srgbClr val="C00000"/>
                </a:solidFill>
              </a:rPr>
              <a:t>McKinsey 7S framework</a:t>
            </a:r>
            <a:r>
              <a:rPr lang="en-US" sz="2400" dirty="0" smtClean="0"/>
              <a:t>.</a:t>
            </a:r>
          </a:p>
          <a:p>
            <a:r>
              <a:rPr lang="en-US" sz="2400" dirty="0" smtClean="0"/>
              <a:t>Developed in the early 1980s by Tom Peters and Robert Waterman, two consultants working at the McKinsey &amp; Company consulting firm.</a:t>
            </a:r>
          </a:p>
          <a:p>
            <a:r>
              <a:rPr lang="en-US" sz="2400" dirty="0" smtClean="0"/>
              <a:t>The basic premise of the model is that there are </a:t>
            </a:r>
            <a:r>
              <a:rPr lang="en-US" sz="2400" i="1" dirty="0" smtClean="0">
                <a:solidFill>
                  <a:srgbClr val="C00000"/>
                </a:solidFill>
              </a:rPr>
              <a:t>seven internal aspects</a:t>
            </a:r>
            <a:r>
              <a:rPr lang="en-US" sz="2400" dirty="0" smtClean="0"/>
              <a:t> of an organization that need to be aligned if it is to </a:t>
            </a:r>
            <a:r>
              <a:rPr lang="en-US" sz="2400" u="sng" dirty="0" smtClean="0"/>
              <a:t>be successful</a:t>
            </a:r>
            <a:r>
              <a:rPr lang="en-US" sz="2400" dirty="0" smtClean="0"/>
              <a:t>.</a:t>
            </a:r>
            <a:endParaRPr lang="en-US" sz="24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Seven Elements</a:t>
            </a:r>
            <a:endParaRPr lang="en-US" dirty="0"/>
          </a:p>
        </p:txBody>
      </p:sp>
      <p:sp>
        <p:nvSpPr>
          <p:cNvPr id="3" name="Content Placeholder 2"/>
          <p:cNvSpPr>
            <a:spLocks noGrp="1"/>
          </p:cNvSpPr>
          <p:nvPr>
            <p:ph idx="1"/>
          </p:nvPr>
        </p:nvSpPr>
        <p:spPr>
          <a:xfrm>
            <a:off x="457200" y="1600200"/>
            <a:ext cx="5638800" cy="4525963"/>
          </a:xfrm>
        </p:spPr>
        <p:txBody>
          <a:bodyPr/>
          <a:lstStyle/>
          <a:p>
            <a:r>
              <a:rPr lang="en-US" sz="1800" i="1" dirty="0" smtClean="0">
                <a:solidFill>
                  <a:srgbClr val="C00000"/>
                </a:solidFill>
              </a:rPr>
              <a:t>Strategy</a:t>
            </a:r>
            <a:r>
              <a:rPr lang="en-US" sz="1800" dirty="0" smtClean="0"/>
              <a:t>: the plan devised to maintain and build competitive advantage over the competition.</a:t>
            </a:r>
          </a:p>
          <a:p>
            <a:r>
              <a:rPr lang="en-US" sz="1800" i="1" dirty="0" smtClean="0">
                <a:solidFill>
                  <a:srgbClr val="C00000"/>
                </a:solidFill>
              </a:rPr>
              <a:t>Structure</a:t>
            </a:r>
            <a:r>
              <a:rPr lang="en-US" sz="1800" dirty="0" smtClean="0"/>
              <a:t>: the way the organization is structured and who reports to whom.</a:t>
            </a:r>
          </a:p>
          <a:p>
            <a:r>
              <a:rPr lang="en-US" sz="1800" i="1" dirty="0" smtClean="0">
                <a:solidFill>
                  <a:srgbClr val="C00000"/>
                </a:solidFill>
              </a:rPr>
              <a:t>Systems</a:t>
            </a:r>
            <a:r>
              <a:rPr lang="en-US" sz="1800" dirty="0" smtClean="0"/>
              <a:t>: the daily activities and procedures that staff members engage in to get the job done.</a:t>
            </a:r>
          </a:p>
          <a:p>
            <a:r>
              <a:rPr lang="en-US" sz="1800" i="1" dirty="0" smtClean="0">
                <a:solidFill>
                  <a:srgbClr val="C00000"/>
                </a:solidFill>
              </a:rPr>
              <a:t>Shared Values</a:t>
            </a:r>
            <a:r>
              <a:rPr lang="en-US" sz="1800" dirty="0" smtClean="0"/>
              <a:t>: called "super-ordinate goals" when the model was first developed, these are the core values of the company that are evidenced in the corporate culture and the general work ethic.</a:t>
            </a:r>
          </a:p>
          <a:p>
            <a:r>
              <a:rPr lang="en-US" sz="1800" i="1" dirty="0" smtClean="0">
                <a:solidFill>
                  <a:srgbClr val="C00000"/>
                </a:solidFill>
              </a:rPr>
              <a:t>Style</a:t>
            </a:r>
            <a:r>
              <a:rPr lang="en-US" sz="1800" dirty="0" smtClean="0"/>
              <a:t>: the style of leadership adopted.</a:t>
            </a:r>
          </a:p>
          <a:p>
            <a:r>
              <a:rPr lang="en-US" sz="1800" i="1" dirty="0" smtClean="0">
                <a:solidFill>
                  <a:srgbClr val="C00000"/>
                </a:solidFill>
              </a:rPr>
              <a:t>Staff</a:t>
            </a:r>
            <a:r>
              <a:rPr lang="en-US" sz="1800" dirty="0" smtClean="0"/>
              <a:t>: the employees and their general capabilities.</a:t>
            </a:r>
          </a:p>
          <a:p>
            <a:r>
              <a:rPr lang="en-US" sz="1800" i="1" dirty="0" smtClean="0">
                <a:solidFill>
                  <a:srgbClr val="C00000"/>
                </a:solidFill>
              </a:rPr>
              <a:t>Skills</a:t>
            </a:r>
            <a:r>
              <a:rPr lang="en-US" sz="1800" dirty="0" smtClean="0"/>
              <a:t>: the actual skills and competencies of the employees working for the company.</a:t>
            </a:r>
            <a:endParaRPr lang="en-US" sz="1800" dirty="0"/>
          </a:p>
        </p:txBody>
      </p:sp>
      <p:pic>
        <p:nvPicPr>
          <p:cNvPr id="67586" name="Picture 2"/>
          <p:cNvPicPr>
            <a:picLocks noChangeAspect="1" noChangeArrowheads="1"/>
          </p:cNvPicPr>
          <p:nvPr/>
        </p:nvPicPr>
        <p:blipFill>
          <a:blip r:embed="rId2" cstate="print"/>
          <a:srcRect/>
          <a:stretch>
            <a:fillRect/>
          </a:stretch>
        </p:blipFill>
        <p:spPr bwMode="auto">
          <a:xfrm>
            <a:off x="6172200" y="2209800"/>
            <a:ext cx="2628900" cy="2714625"/>
          </a:xfrm>
          <a:prstGeom prst="rect">
            <a:avLst/>
          </a:prstGeom>
          <a:noFill/>
          <a:ln w="9525">
            <a:noFill/>
            <a:miter lim="800000"/>
            <a:headEnd/>
            <a:tailEnd/>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Takeaways</a:t>
            </a:r>
            <a:endParaRPr lang="en-US" dirty="0"/>
          </a:p>
        </p:txBody>
      </p:sp>
      <p:sp>
        <p:nvSpPr>
          <p:cNvPr id="3" name="Content Placeholder 2"/>
          <p:cNvSpPr>
            <a:spLocks noGrp="1"/>
          </p:cNvSpPr>
          <p:nvPr>
            <p:ph idx="1"/>
          </p:nvPr>
        </p:nvSpPr>
        <p:spPr/>
        <p:txBody>
          <a:bodyPr/>
          <a:lstStyle/>
          <a:p>
            <a:r>
              <a:rPr lang="en-US" sz="1400" dirty="0" smtClean="0"/>
              <a:t>Theory X.</a:t>
            </a:r>
          </a:p>
          <a:p>
            <a:r>
              <a:rPr lang="en-US" sz="1400" dirty="0" smtClean="0"/>
              <a:t>Theory Y.</a:t>
            </a:r>
          </a:p>
          <a:p>
            <a:r>
              <a:rPr lang="en-US" sz="1400" dirty="0" smtClean="0"/>
              <a:t>Theory Z.	</a:t>
            </a:r>
          </a:p>
          <a:p>
            <a:pPr>
              <a:buNone/>
            </a:pPr>
            <a:r>
              <a:rPr lang="en-US" sz="1400" dirty="0" smtClean="0"/>
              <a:t>		</a:t>
            </a:r>
            <a:r>
              <a:rPr lang="en-US" sz="1400" dirty="0" smtClean="0">
                <a:sym typeface="Wingdings" pitchFamily="2" charset="2"/>
              </a:rPr>
              <a:t></a:t>
            </a:r>
            <a:r>
              <a:rPr lang="en-US" sz="1400" dirty="0" smtClean="0"/>
              <a:t> Shared Values / Objectives.</a:t>
            </a:r>
          </a:p>
          <a:p>
            <a:pPr>
              <a:buNone/>
            </a:pPr>
            <a:r>
              <a:rPr lang="en-US" sz="1400" dirty="0" smtClean="0"/>
              <a:t>			</a:t>
            </a:r>
            <a:r>
              <a:rPr lang="en-US" sz="1400" dirty="0" smtClean="0">
                <a:sym typeface="Wingdings" pitchFamily="2" charset="2"/>
              </a:rPr>
              <a:t></a:t>
            </a:r>
            <a:r>
              <a:rPr lang="en-US" sz="1400" dirty="0" smtClean="0"/>
              <a:t> Team of Friends.</a:t>
            </a:r>
          </a:p>
          <a:p>
            <a:r>
              <a:rPr lang="en-US" sz="1400" dirty="0" smtClean="0"/>
              <a:t>Spanish Theory </a:t>
            </a:r>
            <a:r>
              <a:rPr lang="en-US" sz="1400" dirty="0" smtClean="0">
                <a:sym typeface="Wingdings" pitchFamily="2" charset="2"/>
              </a:rPr>
              <a:t></a:t>
            </a:r>
            <a:r>
              <a:rPr lang="en-US" sz="1400" dirty="0" smtClean="0"/>
              <a:t> Working Harder </a:t>
            </a:r>
            <a:r>
              <a:rPr lang="en-US" sz="1400" dirty="0" smtClean="0">
                <a:sym typeface="Wingdings" pitchFamily="2" charset="2"/>
              </a:rPr>
              <a:t></a:t>
            </a:r>
            <a:r>
              <a:rPr lang="en-US" sz="1400" dirty="0" smtClean="0"/>
              <a:t> Overtime.</a:t>
            </a:r>
          </a:p>
          <a:p>
            <a:r>
              <a:rPr lang="en-US" sz="1400" dirty="0" smtClean="0"/>
              <a:t>English Theory </a:t>
            </a:r>
            <a:r>
              <a:rPr lang="en-US" sz="1400" dirty="0" smtClean="0">
                <a:sym typeface="Wingdings" pitchFamily="2" charset="2"/>
              </a:rPr>
              <a:t></a:t>
            </a:r>
            <a:r>
              <a:rPr lang="en-US" sz="1400" dirty="0" smtClean="0"/>
              <a:t> Working Smarter.</a:t>
            </a:r>
          </a:p>
          <a:p>
            <a:pPr>
              <a:buNone/>
            </a:pPr>
            <a:r>
              <a:rPr lang="en-US" sz="1400" dirty="0" smtClean="0"/>
              <a:t>			</a:t>
            </a:r>
            <a:r>
              <a:rPr lang="en-US" sz="1400" dirty="0" smtClean="0">
                <a:sym typeface="Wingdings" pitchFamily="2" charset="2"/>
              </a:rPr>
              <a:t></a:t>
            </a:r>
            <a:r>
              <a:rPr lang="en-US" sz="1400" dirty="0" smtClean="0"/>
              <a:t> Innovation / Creativity / Technology</a:t>
            </a:r>
          </a:p>
          <a:p>
            <a:pPr>
              <a:buNone/>
            </a:pPr>
            <a:r>
              <a:rPr lang="en-US" sz="1400" dirty="0" smtClean="0"/>
              <a:t>				- </a:t>
            </a:r>
            <a:r>
              <a:rPr lang="en-US" sz="1400" dirty="0" err="1" smtClean="0"/>
              <a:t>GitLab</a:t>
            </a:r>
            <a:r>
              <a:rPr lang="en-US" sz="1400" dirty="0" smtClean="0"/>
              <a:t> / </a:t>
            </a:r>
            <a:r>
              <a:rPr lang="en-US" sz="1400" dirty="0" err="1" smtClean="0"/>
              <a:t>CircleCI</a:t>
            </a:r>
            <a:r>
              <a:rPr lang="en-US" sz="1400" dirty="0" smtClean="0"/>
              <a:t>.</a:t>
            </a:r>
          </a:p>
          <a:p>
            <a:pPr>
              <a:buNone/>
            </a:pPr>
            <a:r>
              <a:rPr lang="en-US" sz="1400" dirty="0" smtClean="0"/>
              <a:t>				- </a:t>
            </a:r>
            <a:r>
              <a:rPr lang="en-US" sz="1400" dirty="0" err="1" smtClean="0"/>
              <a:t>Docker</a:t>
            </a:r>
            <a:r>
              <a:rPr lang="en-US" sz="1400" dirty="0" smtClean="0"/>
              <a:t> / </a:t>
            </a:r>
            <a:r>
              <a:rPr lang="en-US" sz="1400" dirty="0" err="1" smtClean="0"/>
              <a:t>Kubernetes</a:t>
            </a:r>
            <a:r>
              <a:rPr lang="en-US" sz="1400" dirty="0" smtClean="0"/>
              <a:t>.</a:t>
            </a:r>
          </a:p>
          <a:p>
            <a:pPr>
              <a:buNone/>
            </a:pPr>
            <a:r>
              <a:rPr lang="en-US" sz="1400" dirty="0" smtClean="0"/>
              <a:t>				- Automation Tests.</a:t>
            </a:r>
          </a:p>
          <a:p>
            <a:pPr>
              <a:buNone/>
            </a:pPr>
            <a:r>
              <a:rPr lang="en-US" sz="1400" dirty="0" smtClean="0"/>
              <a:t>					</a:t>
            </a:r>
            <a:r>
              <a:rPr lang="en-US" sz="1400" dirty="0" smtClean="0">
                <a:sym typeface="Wingdings" pitchFamily="2" charset="2"/>
              </a:rPr>
              <a:t></a:t>
            </a:r>
            <a:r>
              <a:rPr lang="en-US" sz="1400" dirty="0" smtClean="0"/>
              <a:t> Time Reduction.</a:t>
            </a:r>
          </a:p>
          <a:p>
            <a:pPr>
              <a:buNone/>
            </a:pPr>
            <a:r>
              <a:rPr lang="en-US" sz="1400" dirty="0" smtClean="0"/>
              <a:t>						</a:t>
            </a:r>
            <a:r>
              <a:rPr lang="en-US" sz="1400" dirty="0" smtClean="0">
                <a:sym typeface="Wingdings" pitchFamily="2" charset="2"/>
              </a:rPr>
              <a:t></a:t>
            </a:r>
            <a:r>
              <a:rPr lang="en-US" sz="1400" dirty="0" smtClean="0"/>
              <a:t> Steep Learning Curve (Initial Difficulty).</a:t>
            </a:r>
          </a:p>
          <a:p>
            <a:r>
              <a:rPr lang="en-US" sz="1400" dirty="0" smtClean="0"/>
              <a:t>Motivation/Leadership.</a:t>
            </a:r>
          </a:p>
          <a:p>
            <a:pPr>
              <a:buNone/>
            </a:pPr>
            <a:r>
              <a:rPr lang="en-US" sz="1400" dirty="0" smtClean="0"/>
              <a:t>		</a:t>
            </a:r>
            <a:r>
              <a:rPr lang="en-US" sz="1400" dirty="0" smtClean="0">
                <a:sym typeface="Wingdings" pitchFamily="2" charset="2"/>
              </a:rPr>
              <a:t></a:t>
            </a:r>
            <a:r>
              <a:rPr lang="en-US" sz="1400" dirty="0" smtClean="0"/>
              <a:t> Needs.</a:t>
            </a:r>
          </a:p>
          <a:p>
            <a:pPr>
              <a:buNone/>
            </a:pPr>
            <a:r>
              <a:rPr lang="en-US" sz="1400" dirty="0" smtClean="0"/>
              <a:t>			</a:t>
            </a:r>
            <a:r>
              <a:rPr lang="en-US" sz="1400" dirty="0" smtClean="0">
                <a:sym typeface="Wingdings" pitchFamily="2" charset="2"/>
              </a:rPr>
              <a:t></a:t>
            </a:r>
            <a:r>
              <a:rPr lang="en-US" sz="1400" dirty="0" smtClean="0"/>
              <a:t> Other Theories.</a:t>
            </a:r>
          </a:p>
          <a:p>
            <a:r>
              <a:rPr lang="en-US" sz="1400" dirty="0" smtClean="0"/>
              <a:t>Performance.</a:t>
            </a:r>
          </a:p>
          <a:p>
            <a:pPr>
              <a:buNone/>
            </a:pPr>
            <a:r>
              <a:rPr lang="en-US" sz="1400" dirty="0" smtClean="0"/>
              <a:t>		</a:t>
            </a:r>
            <a:r>
              <a:rPr lang="en-US" sz="1400" dirty="0" smtClean="0">
                <a:sym typeface="Wingdings" pitchFamily="2" charset="2"/>
              </a:rPr>
              <a:t></a:t>
            </a:r>
            <a:r>
              <a:rPr lang="en-US" sz="1400" dirty="0" smtClean="0"/>
              <a:t> KPIs.</a:t>
            </a:r>
          </a:p>
        </p:txBody>
      </p:sp>
      <p:pic>
        <p:nvPicPr>
          <p:cNvPr id="1026" name="Picture 2"/>
          <p:cNvPicPr>
            <a:picLocks noChangeAspect="1" noChangeArrowheads="1"/>
          </p:cNvPicPr>
          <p:nvPr/>
        </p:nvPicPr>
        <p:blipFill>
          <a:blip r:embed="rId3" cstate="print"/>
          <a:srcRect/>
          <a:stretch>
            <a:fillRect/>
          </a:stretch>
        </p:blipFill>
        <p:spPr bwMode="auto">
          <a:xfrm>
            <a:off x="5562600" y="2286000"/>
            <a:ext cx="3140075" cy="1958975"/>
          </a:xfrm>
          <a:prstGeom prst="rect">
            <a:avLst/>
          </a:prstGeom>
          <a:noFill/>
          <a:ln w="9525">
            <a:noFill/>
            <a:miter lim="800000"/>
            <a:headEnd/>
            <a:tailEnd/>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a:t>
            </a:r>
            <a:endParaRPr lang="en-US" dirty="0"/>
          </a:p>
        </p:txBody>
      </p:sp>
      <p:sp>
        <p:nvSpPr>
          <p:cNvPr id="3" name="Content Placeholder 2"/>
          <p:cNvSpPr>
            <a:spLocks noGrp="1"/>
          </p:cNvSpPr>
          <p:nvPr>
            <p:ph idx="1"/>
          </p:nvPr>
        </p:nvSpPr>
        <p:spPr/>
        <p:txBody>
          <a:bodyPr>
            <a:normAutofit/>
          </a:bodyPr>
          <a:lstStyle/>
          <a:p>
            <a:pPr>
              <a:buFont typeface="+mj-lt"/>
              <a:buAutoNum type="arabicPeriod"/>
            </a:pPr>
            <a:r>
              <a:rPr lang="en-US" sz="2200" dirty="0" err="1" smtClean="0"/>
              <a:t>Lyssa</a:t>
            </a:r>
            <a:r>
              <a:rPr lang="en-US" sz="2200" dirty="0" smtClean="0"/>
              <a:t> Adkins (2010). Coaching Agile Teams. Addison-Wesley.</a:t>
            </a:r>
          </a:p>
          <a:p>
            <a:pPr>
              <a:buFont typeface="+mj-lt"/>
              <a:buAutoNum type="arabicPeriod"/>
            </a:pPr>
            <a:r>
              <a:rPr lang="en-US" sz="2200" dirty="0" smtClean="0"/>
              <a:t>Zachary Wong (2007). Human Factors in Project Management - Concepts, Tools, and Techniques for Inspiring Teamwork and Motivation. </a:t>
            </a:r>
            <a:r>
              <a:rPr lang="en-US" sz="2200" dirty="0" err="1" smtClean="0"/>
              <a:t>Jossey</a:t>
            </a:r>
            <a:r>
              <a:rPr lang="en-US" sz="2200" dirty="0" smtClean="0"/>
              <a:t>-Bass.</a:t>
            </a:r>
          </a:p>
        </p:txBody>
      </p:sp>
      <p:pic>
        <p:nvPicPr>
          <p:cNvPr id="4" name="Picture 2" descr="http://www.4aplus.com/wp-content/uploads/2014/02/shutterstock_74085415-1024x682.jpg"/>
          <p:cNvPicPr>
            <a:picLocks noChangeAspect="1" noChangeArrowheads="1"/>
          </p:cNvPicPr>
          <p:nvPr/>
        </p:nvPicPr>
        <p:blipFill>
          <a:blip r:embed="rId2" cstate="print"/>
          <a:srcRect/>
          <a:stretch>
            <a:fillRect/>
          </a:stretch>
        </p:blipFill>
        <p:spPr bwMode="auto">
          <a:xfrm>
            <a:off x="2971800" y="3549650"/>
            <a:ext cx="3251200" cy="2165350"/>
          </a:xfrm>
          <a:prstGeom prst="rect">
            <a:avLst/>
          </a:prstGeom>
          <a:noFill/>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14881</TotalTime>
  <Words>5466</Words>
  <Application>Microsoft Office PowerPoint</Application>
  <PresentationFormat>On-screen Show (4:3)</PresentationFormat>
  <Paragraphs>662</Paragraphs>
  <Slides>119</Slides>
  <Notes>10</Notes>
  <HiddenSlides>0</HiddenSlides>
  <MMClips>0</MMClips>
  <ScaleCrop>false</ScaleCrop>
  <HeadingPairs>
    <vt:vector size="4" baseType="variant">
      <vt:variant>
        <vt:lpstr>Theme</vt:lpstr>
      </vt:variant>
      <vt:variant>
        <vt:i4>1</vt:i4>
      </vt:variant>
      <vt:variant>
        <vt:lpstr>Slide Titles</vt:lpstr>
      </vt:variant>
      <vt:variant>
        <vt:i4>119</vt:i4>
      </vt:variant>
    </vt:vector>
  </HeadingPairs>
  <TitlesOfParts>
    <vt:vector size="120" baseType="lpstr">
      <vt:lpstr>Office Theme</vt:lpstr>
      <vt:lpstr>Software Team Management</vt:lpstr>
      <vt:lpstr>Objectives</vt:lpstr>
      <vt:lpstr>Contents</vt:lpstr>
      <vt:lpstr>References</vt:lpstr>
      <vt:lpstr>Why Do Projects Fail?</vt:lpstr>
      <vt:lpstr>What Causes Project Failures? [1]</vt:lpstr>
      <vt:lpstr>Why a Team?</vt:lpstr>
      <vt:lpstr>Software Team Formation</vt:lpstr>
      <vt:lpstr>Why a Project Manager/Leader?</vt:lpstr>
      <vt:lpstr>Project Manager/Leader Selection</vt:lpstr>
      <vt:lpstr>The Leadership Grid</vt:lpstr>
      <vt:lpstr>Project Manager/Leader's Time</vt:lpstr>
      <vt:lpstr>Slide 13</vt:lpstr>
      <vt:lpstr>Team Kick-off: Discussion Questions</vt:lpstr>
      <vt:lpstr>Kick-off Meeting</vt:lpstr>
      <vt:lpstr>Icebreakers</vt:lpstr>
      <vt:lpstr>How to Reach a Decision [2]</vt:lpstr>
      <vt:lpstr>How to Share a Work</vt:lpstr>
      <vt:lpstr>How to Conduct a Meeting?</vt:lpstr>
      <vt:lpstr>Slide 20</vt:lpstr>
      <vt:lpstr>How to Manage a Team?</vt:lpstr>
      <vt:lpstr>Management Styles: Discussion Questions</vt:lpstr>
      <vt:lpstr>Functional Organizations [3]</vt:lpstr>
      <vt:lpstr>Projectized Organizations</vt:lpstr>
      <vt:lpstr>Weak Matrix Organization</vt:lpstr>
      <vt:lpstr>Balanced Matrix Organization</vt:lpstr>
      <vt:lpstr>Strong Matrix Organization</vt:lpstr>
      <vt:lpstr>Why Understand  Organizational Structure?</vt:lpstr>
      <vt:lpstr>Answer</vt:lpstr>
      <vt:lpstr>Influence of Organizational Structures on Projects</vt:lpstr>
      <vt:lpstr>Slide 31</vt:lpstr>
      <vt:lpstr>Theory X [4]</vt:lpstr>
      <vt:lpstr>Theory Y [4, 5]</vt:lpstr>
      <vt:lpstr>From Theory X to Theory Y [5]</vt:lpstr>
      <vt:lpstr>Theory Z</vt:lpstr>
      <vt:lpstr>William Ouchi's Theory Z (I)</vt:lpstr>
      <vt:lpstr>William Ouchi's Theory Z (II)</vt:lpstr>
      <vt:lpstr>William Ouchi's Theory Z (III)</vt:lpstr>
      <vt:lpstr>Key Person [1]</vt:lpstr>
      <vt:lpstr>A Quota for Errors</vt:lpstr>
      <vt:lpstr>Management: The Bozo Definition</vt:lpstr>
      <vt:lpstr>The People Store</vt:lpstr>
      <vt:lpstr>Parkinson's Law</vt:lpstr>
      <vt:lpstr>Reserve Time for Thinking</vt:lpstr>
      <vt:lpstr>Slide 45</vt:lpstr>
      <vt:lpstr>Conflicts: Discussion Questions</vt:lpstr>
      <vt:lpstr>Example Conflicts</vt:lpstr>
      <vt:lpstr>Conflict is Not a Decision</vt:lpstr>
      <vt:lpstr>When Do We Get Conflicted? [6]</vt:lpstr>
      <vt:lpstr>Why Do We Get Conflicted? (I)</vt:lpstr>
      <vt:lpstr>Why Do We Get Conflicted? (II)</vt:lpstr>
      <vt:lpstr>Forms of Communication [3]</vt:lpstr>
      <vt:lpstr>Face to Face Communication</vt:lpstr>
      <vt:lpstr>Why Can't We Communicate? [7]</vt:lpstr>
      <vt:lpstr>Barriers to Effective Listening</vt:lpstr>
      <vt:lpstr>Active Listening</vt:lpstr>
      <vt:lpstr>Conflict Management Techniques [3]</vt:lpstr>
      <vt:lpstr>Division of Responsibilities and Value Conflicts</vt:lpstr>
      <vt:lpstr>Members' Conflict</vt:lpstr>
      <vt:lpstr>Intergroup Conflicts</vt:lpstr>
      <vt:lpstr>Reasoned Discussions and Explanations</vt:lpstr>
      <vt:lpstr>The Struggle for Recognition</vt:lpstr>
      <vt:lpstr>Slide 63</vt:lpstr>
      <vt:lpstr>Productivity: Discussion Questions</vt:lpstr>
      <vt:lpstr>How to Increase Team Productivity</vt:lpstr>
      <vt:lpstr>Overtime is Like Sprinting</vt:lpstr>
      <vt:lpstr>Force People Working Overtime</vt:lpstr>
      <vt:lpstr>Vienna Waits for You</vt:lpstr>
      <vt:lpstr>The English Theory</vt:lpstr>
      <vt:lpstr>Slide 70</vt:lpstr>
      <vt:lpstr>Motivation: Discussion Questions</vt:lpstr>
      <vt:lpstr>Maslow's Hierarchy of Needs [8]</vt:lpstr>
      <vt:lpstr>The Carrot and Stick Approach [9]</vt:lpstr>
      <vt:lpstr>When to Use?</vt:lpstr>
      <vt:lpstr>What Can You Do?</vt:lpstr>
      <vt:lpstr>Slide 76</vt:lpstr>
      <vt:lpstr>Performance: Discussion Questions</vt:lpstr>
      <vt:lpstr>Prevent Poor Performance</vt:lpstr>
      <vt:lpstr>1. Ask for Commitment</vt:lpstr>
      <vt:lpstr>2. Prevent the Second-System Effect [2]</vt:lpstr>
      <vt:lpstr>3. Provide Training [9]</vt:lpstr>
      <vt:lpstr>4. Perform Performance Reviews</vt:lpstr>
      <vt:lpstr>5. Solve Performance Problem</vt:lpstr>
      <vt:lpstr>6. Try Seven Step Feedback Model</vt:lpstr>
      <vt:lpstr>7. Make Agreement: Done Looks Like This</vt:lpstr>
      <vt:lpstr>8. Build Consistency</vt:lpstr>
      <vt:lpstr>9. Build Consensus</vt:lpstr>
      <vt:lpstr>The Mythical Man-Month</vt:lpstr>
      <vt:lpstr>Slide 89</vt:lpstr>
      <vt:lpstr>Leadership: Discussion Questions</vt:lpstr>
      <vt:lpstr>Intrinsic Motivation [10]</vt:lpstr>
      <vt:lpstr> Intrinsic Rewards</vt:lpstr>
      <vt:lpstr>Hygiene Theory (Frederick Herzberg) [3]</vt:lpstr>
      <vt:lpstr>Expectancy Theory (Victor Vroom)</vt:lpstr>
      <vt:lpstr>Coach by Encouragement</vt:lpstr>
      <vt:lpstr>Give Encouraging Feedback</vt:lpstr>
      <vt:lpstr>Achievement Theory (David McClelland)</vt:lpstr>
      <vt:lpstr>Slide 98</vt:lpstr>
      <vt:lpstr>Contingency Theory (Fred Fiedler)</vt:lpstr>
      <vt:lpstr>Least-Preferred Coworker Scale</vt:lpstr>
      <vt:lpstr>Example LPC Scale</vt:lpstr>
      <vt:lpstr>LPC Score</vt:lpstr>
      <vt:lpstr>Situational Favorableness</vt:lpstr>
      <vt:lpstr>Most Effective Leader Style</vt:lpstr>
      <vt:lpstr>The Power of Leaders</vt:lpstr>
      <vt:lpstr>Slide 106</vt:lpstr>
      <vt:lpstr>Stakeholder (Sponsor) Persuasion</vt:lpstr>
      <vt:lpstr>Stakeholder (Sponsor) Influence</vt:lpstr>
      <vt:lpstr>Slide 109</vt:lpstr>
      <vt:lpstr>Multi-team Management</vt:lpstr>
      <vt:lpstr>Slide 111</vt:lpstr>
      <vt:lpstr>Team Assessment</vt:lpstr>
      <vt:lpstr>The McKinsey 7S Framework [11]</vt:lpstr>
      <vt:lpstr>The Seven Elements</vt:lpstr>
      <vt:lpstr>Slide 115</vt:lpstr>
      <vt:lpstr>Key Takeaways</vt:lpstr>
      <vt:lpstr>Slide 117</vt:lpstr>
      <vt:lpstr>Further Reading</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6341</cp:revision>
  <dcterms:created xsi:type="dcterms:W3CDTF">2007-10-06T08:25:13Z</dcterms:created>
  <dcterms:modified xsi:type="dcterms:W3CDTF">2026-07-18T11:44:08Z</dcterms:modified>
</cp:coreProperties>
</file>