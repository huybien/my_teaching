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24"/>
  </p:handoutMasterIdLst>
  <p:sldIdLst>
    <p:sldId id="256" r:id="rId2"/>
    <p:sldId id="568" r:id="rId3"/>
    <p:sldId id="736" r:id="rId4"/>
    <p:sldId id="781" r:id="rId5"/>
    <p:sldId id="711" r:id="rId6"/>
    <p:sldId id="713" r:id="rId7"/>
    <p:sldId id="717" r:id="rId8"/>
    <p:sldId id="714" r:id="rId9"/>
    <p:sldId id="715" r:id="rId10"/>
    <p:sldId id="723" r:id="rId11"/>
    <p:sldId id="782" r:id="rId12"/>
    <p:sldId id="716" r:id="rId13"/>
    <p:sldId id="725" r:id="rId14"/>
    <p:sldId id="712" r:id="rId15"/>
    <p:sldId id="653" r:id="rId16"/>
    <p:sldId id="654" r:id="rId17"/>
    <p:sldId id="655" r:id="rId18"/>
    <p:sldId id="656" r:id="rId19"/>
    <p:sldId id="657" r:id="rId20"/>
    <p:sldId id="658" r:id="rId21"/>
    <p:sldId id="659" r:id="rId22"/>
    <p:sldId id="343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5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B4F4D-6C5D-4965-A58D-E78D48F63A99}" type="datetimeFigureOut">
              <a:rPr lang="en-US" smtClean="0"/>
              <a:pPr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16AB0-2FEF-4126-A715-1561160751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22529-39FC-4975-958A-4A162E08D73C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CA250-B66A-4775-87DB-EB84800E6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63F24-EDC5-4AC1-BBF3-701D3265C0F0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560A-061B-48C0-B2CD-FD45B6758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93403-793B-4D8F-9FEC-4AF224D32E78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52C6E-46C0-4010-AC43-966BCA71FB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CB48A-600C-4DC1-8EA1-38AF658D4E02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78F6E-304B-4324-9D62-1A3EF0D7A2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D8F79-1B84-4F29-B6FA-DF19C047C80A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461C5-50A1-4CDC-90D9-3D427B387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4970A-2714-4C1E-A2D9-FE7C820A5F33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01BA5-5111-4FB4-92AF-33C9B5101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0F181-F5EA-4B67-ABF8-F46B162D92B9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2ADCB-9881-4AD1-8E5A-788724C20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EE503-6329-42EE-8AA9-553BB8A67012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F0719-B780-4517-A2D5-2E3679197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8CD9F-022A-4872-B248-C7180CF39A46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8C095-1FB0-4C9F-B915-3EB4E62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5558E-B21D-4E72-81D8-DC34A69E01FA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9B394-3996-4C2F-921A-95EC56296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68C9C-C8D3-4F12-A71E-AD2950F316E7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8AFC8-B97D-43DF-B91B-804C2307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483B94-EDE5-41AE-A637-95B0FFB8A1B6}" type="datetimeFigureOut">
              <a:rPr lang="en-US"/>
              <a:pPr>
                <a:defRPr/>
              </a:pPr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D57FDE-E425-47BB-92C8-8977E8E90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Agile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 sz="3100" dirty="0" smtClean="0"/>
              <a:t>Lecturer: Ngo Huy Bien</a:t>
            </a:r>
          </a:p>
          <a:p>
            <a:pPr>
              <a:defRPr/>
            </a:pPr>
            <a:r>
              <a:rPr lang="en-US" sz="2600" dirty="0" smtClean="0"/>
              <a:t>Software Engineering Department</a:t>
            </a:r>
          </a:p>
          <a:p>
            <a:pPr>
              <a:defRPr/>
            </a:pPr>
            <a:r>
              <a:rPr lang="en-US" sz="2600" dirty="0" smtClean="0"/>
              <a:t>Faculty of Information Technology</a:t>
            </a:r>
          </a:p>
          <a:p>
            <a:pPr>
              <a:defRPr/>
            </a:pPr>
            <a:r>
              <a:rPr lang="en-US" sz="2600" dirty="0" smtClean="0"/>
              <a:t>VNUHCM - University of Science</a:t>
            </a:r>
          </a:p>
          <a:p>
            <a:pPr>
              <a:defRPr/>
            </a:pPr>
            <a:r>
              <a:rPr lang="en-US" sz="2600" dirty="0" smtClean="0"/>
              <a:t>Ho Chi Minh City, Vietnam</a:t>
            </a:r>
          </a:p>
          <a:p>
            <a:pPr>
              <a:defRPr/>
            </a:pPr>
            <a:r>
              <a:rPr lang="en-US" sz="2600" dirty="0" smtClean="0">
                <a:hlinkClick r:id="rId2"/>
              </a:rPr>
              <a:t>nhbien@fit.hcmus.edu.vn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562600" cy="41910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</a:t>
            </a:r>
            <a:r>
              <a:rPr lang="en-US" sz="2400" i="1" dirty="0" smtClean="0">
                <a:solidFill>
                  <a:srgbClr val="C00000"/>
                </a:solidFill>
              </a:rPr>
              <a:t> estimate size</a:t>
            </a:r>
            <a:r>
              <a:rPr lang="en-US" sz="2400" dirty="0" smtClean="0"/>
              <a:t> in story points.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</a:t>
            </a:r>
            <a:r>
              <a:rPr lang="en-US" sz="2400" i="1" dirty="0" smtClean="0">
                <a:solidFill>
                  <a:srgbClr val="C00000"/>
                </a:solidFill>
              </a:rPr>
              <a:t> estimate size</a:t>
            </a:r>
            <a:r>
              <a:rPr lang="en-US" sz="2400" dirty="0" smtClean="0"/>
              <a:t> using planning poker method.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</a:t>
            </a:r>
            <a:r>
              <a:rPr lang="en-US" sz="2400" i="1" dirty="0" smtClean="0">
                <a:solidFill>
                  <a:srgbClr val="C00000"/>
                </a:solidFill>
              </a:rPr>
              <a:t> estimate size</a:t>
            </a:r>
            <a:r>
              <a:rPr lang="en-US" sz="2400" dirty="0" smtClean="0"/>
              <a:t> using </a:t>
            </a:r>
            <a:r>
              <a:rPr lang="en-US" sz="2400" dirty="0" smtClean="0"/>
              <a:t>Wideband </a:t>
            </a:r>
            <a:r>
              <a:rPr lang="en-US" sz="2400" dirty="0" smtClean="0"/>
              <a:t>Delphi method.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Story Points.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Planning Poker.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Wideband Delphi Method.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Mike Cohn (2005). Agile Estimating And Planning. Pearson Education.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Jonathan </a:t>
            </a:r>
            <a:r>
              <a:rPr lang="en-US" sz="2400" dirty="0" err="1" smtClean="0"/>
              <a:t>Rasmusson</a:t>
            </a:r>
            <a:r>
              <a:rPr lang="en-US" sz="2400" dirty="0" smtClean="0"/>
              <a:t> (2010). The Agile Samurai: How Agile Masters Deliver Great Software. Pragmatic Bookshelf.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Karl E. </a:t>
            </a:r>
            <a:r>
              <a:rPr lang="en-US" sz="2400" dirty="0" err="1" smtClean="0"/>
              <a:t>Wiegers</a:t>
            </a:r>
            <a:r>
              <a:rPr lang="en-US" sz="2400" dirty="0" smtClean="0"/>
              <a:t> (2000). Stop Promising Miracles.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Estimating Size with Story Points [1]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Story points</a:t>
            </a:r>
            <a:r>
              <a:rPr lang="en-US" sz="2400" dirty="0" smtClean="0"/>
              <a:t> are a </a:t>
            </a:r>
            <a:r>
              <a:rPr lang="en-US" sz="2400" i="1" dirty="0" smtClean="0">
                <a:solidFill>
                  <a:srgbClr val="C00000"/>
                </a:solidFill>
              </a:rPr>
              <a:t>unit of measure</a:t>
            </a:r>
            <a:r>
              <a:rPr lang="en-US" sz="2400" dirty="0" smtClean="0"/>
              <a:t> for expressing the overall size of a user story, feature, or other piece of work.</a:t>
            </a:r>
          </a:p>
          <a:p>
            <a:r>
              <a:rPr lang="en-US" sz="2400" dirty="0" smtClean="0"/>
              <a:t>The raw value we assign is </a:t>
            </a:r>
            <a:r>
              <a:rPr lang="en-US" sz="2400" i="1" dirty="0" smtClean="0">
                <a:solidFill>
                  <a:srgbClr val="C00000"/>
                </a:solidFill>
              </a:rPr>
              <a:t>unimportant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What matters are the </a:t>
            </a:r>
            <a:r>
              <a:rPr lang="en-US" sz="2400" i="1" dirty="0" smtClean="0">
                <a:solidFill>
                  <a:srgbClr val="C00000"/>
                </a:solidFill>
              </a:rPr>
              <a:t>relative values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story that is assigned a two should be </a:t>
            </a:r>
            <a:r>
              <a:rPr lang="en-US" sz="2400" i="1" dirty="0" smtClean="0">
                <a:solidFill>
                  <a:srgbClr val="C00000"/>
                </a:solidFill>
              </a:rPr>
              <a:t>twice</a:t>
            </a:r>
            <a:r>
              <a:rPr lang="en-US" sz="2400" dirty="0" smtClean="0"/>
              <a:t> as much as a story that is assigned a one.</a:t>
            </a:r>
            <a:endParaRPr lang="en-US" sz="2400" dirty="0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343400"/>
            <a:ext cx="3175000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Velocity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Velocity</a:t>
            </a:r>
            <a:r>
              <a:rPr lang="en-US" sz="2400" dirty="0" smtClean="0"/>
              <a:t> is a measure of a team’s rate of progress.</a:t>
            </a:r>
          </a:p>
          <a:p>
            <a:r>
              <a:rPr lang="en-US" sz="2400" dirty="0" smtClean="0"/>
              <a:t>It is calculated by </a:t>
            </a:r>
            <a:r>
              <a:rPr lang="en-US" sz="2400" i="1" dirty="0" smtClean="0">
                <a:solidFill>
                  <a:srgbClr val="C00000"/>
                </a:solidFill>
              </a:rPr>
              <a:t>summing</a:t>
            </a:r>
            <a:r>
              <a:rPr lang="en-US" sz="2400" dirty="0" smtClean="0"/>
              <a:t> the number of story points assigned to each user story that the team completed during the iteration.</a:t>
            </a:r>
          </a:p>
          <a:p>
            <a:r>
              <a:rPr lang="en-US" sz="2400" dirty="0" smtClean="0"/>
              <a:t>If the team completed three stories each estimated at five story points then their velocity would be </a:t>
            </a:r>
            <a:r>
              <a:rPr lang="en-US" sz="2400" i="1" dirty="0" smtClean="0">
                <a:solidFill>
                  <a:srgbClr val="C00000"/>
                </a:solidFill>
              </a:rPr>
              <a:t>fifteen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419600"/>
            <a:ext cx="3860800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Ideal Days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 a software project, we may choose to estimate user stories or other work in </a:t>
            </a:r>
            <a:r>
              <a:rPr lang="en-US" sz="2400" i="1" dirty="0" smtClean="0">
                <a:solidFill>
                  <a:srgbClr val="C00000"/>
                </a:solidFill>
              </a:rPr>
              <a:t>ideal days</a:t>
            </a:r>
            <a:r>
              <a:rPr lang="en-US" sz="2400" i="1" dirty="0" smtClean="0"/>
              <a:t>.</a:t>
            </a:r>
          </a:p>
          <a:p>
            <a:r>
              <a:rPr lang="en-US" sz="2400" dirty="0" smtClean="0"/>
              <a:t>When estimating in ideal days you </a:t>
            </a:r>
            <a:r>
              <a:rPr lang="en-US" sz="2400" i="1" dirty="0" smtClean="0">
                <a:solidFill>
                  <a:srgbClr val="C00000"/>
                </a:solidFill>
              </a:rPr>
              <a:t>assume</a:t>
            </a:r>
            <a:r>
              <a:rPr lang="en-US" sz="2400" dirty="0" smtClean="0"/>
              <a:t> that:</a:t>
            </a:r>
          </a:p>
          <a:p>
            <a:pPr lvl="1"/>
            <a:r>
              <a:rPr lang="en-US" sz="1800" dirty="0" smtClean="0"/>
              <a:t>the story being estimated is the only thing you’ll work on</a:t>
            </a:r>
          </a:p>
          <a:p>
            <a:pPr lvl="1"/>
            <a:r>
              <a:rPr lang="en-US" sz="1800" dirty="0" smtClean="0"/>
              <a:t>everything you need will be on hand when you start</a:t>
            </a:r>
          </a:p>
          <a:p>
            <a:pPr lvl="1"/>
            <a:r>
              <a:rPr lang="en-US" sz="1800" dirty="0" smtClean="0"/>
              <a:t>there will be no interruptions</a:t>
            </a:r>
          </a:p>
          <a:p>
            <a:r>
              <a:rPr lang="en-US" sz="2400" dirty="0" smtClean="0"/>
              <a:t>When estimating in ideal days it is best to associate a </a:t>
            </a:r>
            <a:r>
              <a:rPr lang="en-US" sz="2400" i="1" dirty="0" smtClean="0">
                <a:solidFill>
                  <a:srgbClr val="C00000"/>
                </a:solidFill>
              </a:rPr>
              <a:t>single estimate</a:t>
            </a:r>
            <a:r>
              <a:rPr lang="en-US" sz="2400" dirty="0" smtClean="0"/>
              <a:t> with each </a:t>
            </a:r>
            <a:r>
              <a:rPr lang="en-US" sz="2400" u="sng" dirty="0" smtClean="0"/>
              <a:t>user story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Rather than estimating that a user story will take </a:t>
            </a:r>
            <a:r>
              <a:rPr lang="en-US" sz="2400" i="1" dirty="0" smtClean="0">
                <a:solidFill>
                  <a:srgbClr val="C00000"/>
                </a:solidFill>
              </a:rPr>
              <a:t>four</a:t>
            </a:r>
            <a:r>
              <a:rPr lang="en-US" sz="2400" dirty="0" smtClean="0"/>
              <a:t> programmer days, </a:t>
            </a:r>
            <a:r>
              <a:rPr lang="en-US" sz="2400" i="1" dirty="0" smtClean="0">
                <a:solidFill>
                  <a:srgbClr val="C00000"/>
                </a:solidFill>
              </a:rPr>
              <a:t>two</a:t>
            </a:r>
            <a:r>
              <a:rPr lang="en-US" sz="2400" dirty="0" smtClean="0"/>
              <a:t> tester days, and </a:t>
            </a:r>
            <a:r>
              <a:rPr lang="en-US" sz="2400" i="1" dirty="0" smtClean="0">
                <a:solidFill>
                  <a:srgbClr val="C00000"/>
                </a:solidFill>
              </a:rPr>
              <a:t>three</a:t>
            </a:r>
            <a:r>
              <a:rPr lang="en-US" sz="2400" dirty="0" smtClean="0"/>
              <a:t> product owner days, it is better to sum those and say the story as a whole will take </a:t>
            </a:r>
            <a:r>
              <a:rPr lang="en-US" sz="2400" i="1" dirty="0" smtClean="0">
                <a:solidFill>
                  <a:srgbClr val="C00000"/>
                </a:solidFill>
              </a:rPr>
              <a:t>nine ideal days</a:t>
            </a:r>
            <a:r>
              <a:rPr lang="en-US" sz="2400" dirty="0" smtClean="0"/>
              <a:t>. Why?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Estimation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1, 2, 3, 5, and 8: The gaps in the sequence become appropriately </a:t>
            </a:r>
            <a:r>
              <a:rPr lang="en-US" sz="2200" i="1" dirty="0" smtClean="0">
                <a:solidFill>
                  <a:srgbClr val="C00000"/>
                </a:solidFill>
              </a:rPr>
              <a:t>larger</a:t>
            </a:r>
            <a:r>
              <a:rPr lang="en-US" sz="2200" dirty="0" smtClean="0"/>
              <a:t> as the numbers increase.</a:t>
            </a:r>
          </a:p>
          <a:p>
            <a:pPr lvl="1"/>
            <a:r>
              <a:rPr lang="en-US" sz="1800" dirty="0" smtClean="0"/>
              <a:t>A number in the </a:t>
            </a:r>
            <a:r>
              <a:rPr lang="en-US" sz="1800" i="1" dirty="0" smtClean="0">
                <a:solidFill>
                  <a:srgbClr val="C00000"/>
                </a:solidFill>
              </a:rPr>
              <a:t>Fibonacci sequence</a:t>
            </a:r>
            <a:r>
              <a:rPr lang="en-US" sz="1800" dirty="0" smtClean="0"/>
              <a:t> is generated by taking the sum of the previous two numbers.</a:t>
            </a:r>
            <a:r>
              <a:rPr lang="en-US" sz="2200" dirty="0" smtClean="0"/>
              <a:t> </a:t>
            </a:r>
          </a:p>
          <a:p>
            <a:r>
              <a:rPr lang="en-US" sz="2200" dirty="0" smtClean="0"/>
              <a:t>1, 2, 4, and 8: each number is </a:t>
            </a:r>
            <a:r>
              <a:rPr lang="en-US" sz="2200" i="1" dirty="0" smtClean="0">
                <a:solidFill>
                  <a:srgbClr val="C00000"/>
                </a:solidFill>
              </a:rPr>
              <a:t>twice</a:t>
            </a:r>
            <a:r>
              <a:rPr lang="en-US" sz="2200" dirty="0" smtClean="0"/>
              <a:t> the number that precedes it.</a:t>
            </a:r>
          </a:p>
          <a:p>
            <a:r>
              <a:rPr lang="en-US" sz="2200" dirty="0" smtClean="0"/>
              <a:t>These non-linear sequences work well because they reflect the greater </a:t>
            </a:r>
            <a:r>
              <a:rPr lang="en-US" sz="2200" i="1" dirty="0" smtClean="0">
                <a:solidFill>
                  <a:srgbClr val="C00000"/>
                </a:solidFill>
              </a:rPr>
              <a:t>uncertainty</a:t>
            </a:r>
            <a:r>
              <a:rPr lang="en-US" sz="2200" dirty="0" smtClean="0"/>
              <a:t> associated with estimates for larger units of work.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Free lunches</a:t>
            </a:r>
            <a:r>
              <a:rPr lang="en-US" sz="2200" dirty="0" smtClean="0"/>
              <a:t>: If the team does elect to include 0 in its estimation scale, everyone involved in the project (especially the product owner) needs to understand that 13 × 0 ≠ 0.</a:t>
            </a:r>
            <a:endParaRPr lang="en-US" sz="2200" dirty="0"/>
          </a:p>
        </p:txBody>
      </p:sp>
      <p:pic>
        <p:nvPicPr>
          <p:cNvPr id="143362" name="Picture 2" descr="http://52kf04br56l1r3h1p1h5po3f.wpengine.netdna-cdn.com/wp-content/uploads/2013/05/significant-digits-measurements-0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5638800"/>
            <a:ext cx="3429000" cy="7600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Deriving an Estimate: Analogy [1, 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want to estimate each </a:t>
            </a:r>
            <a:r>
              <a:rPr lang="en-US" sz="2400" i="1" dirty="0" smtClean="0">
                <a:solidFill>
                  <a:srgbClr val="C00000"/>
                </a:solidFill>
              </a:rPr>
              <a:t>new story</a:t>
            </a:r>
            <a:r>
              <a:rPr lang="en-US" sz="2400" dirty="0" smtClean="0"/>
              <a:t> </a:t>
            </a:r>
            <a:r>
              <a:rPr lang="en-US" sz="2400" u="sng" dirty="0" smtClean="0"/>
              <a:t>against</a:t>
            </a:r>
            <a:r>
              <a:rPr lang="en-US" sz="2400" dirty="0" smtClean="0"/>
              <a:t> an assortment of those that have </a:t>
            </a:r>
            <a:r>
              <a:rPr lang="en-US" sz="2400" u="sng" dirty="0" smtClean="0"/>
              <a:t>already been estimated</a:t>
            </a:r>
            <a:r>
              <a:rPr lang="en-US" sz="2400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819400"/>
            <a:ext cx="3889375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Deriving an Estimate: Disaggregation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Splitting</a:t>
            </a:r>
            <a:r>
              <a:rPr lang="en-US" sz="2400" dirty="0" smtClean="0"/>
              <a:t> a story or feature into </a:t>
            </a:r>
            <a:r>
              <a:rPr lang="en-US" sz="2400" u="sng" dirty="0" smtClean="0"/>
              <a:t>smaller</a:t>
            </a:r>
            <a:r>
              <a:rPr lang="en-US" sz="2400" dirty="0" smtClean="0"/>
              <a:t>, easier-to-estimate pieces.</a:t>
            </a:r>
          </a:p>
          <a:p>
            <a:r>
              <a:rPr lang="en-US" sz="2400" dirty="0" smtClean="0"/>
              <a:t>If most of the user stories to be included in a project are in the range of </a:t>
            </a:r>
            <a:r>
              <a:rPr lang="en-US" sz="2400" u="sng" dirty="0" smtClean="0"/>
              <a:t>2-5 days</a:t>
            </a:r>
            <a:r>
              <a:rPr lang="en-US" sz="2400" dirty="0" smtClean="0"/>
              <a:t> to develop, it will be very </a:t>
            </a:r>
            <a:r>
              <a:rPr lang="en-US" sz="2400" i="1" dirty="0" smtClean="0">
                <a:solidFill>
                  <a:srgbClr val="C00000"/>
                </a:solidFill>
              </a:rPr>
              <a:t>difficult</a:t>
            </a:r>
            <a:r>
              <a:rPr lang="en-US" sz="2400" dirty="0" smtClean="0"/>
              <a:t> to estimate a single story that may be </a:t>
            </a:r>
            <a:r>
              <a:rPr lang="en-US" sz="2400" u="sng" dirty="0" smtClean="0"/>
              <a:t>100 days</a:t>
            </a:r>
            <a:r>
              <a:rPr lang="en-US" sz="2400" dirty="0" smtClean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810000"/>
            <a:ext cx="36703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Deriving an Estimate: Expert Opinion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approach is </a:t>
            </a:r>
            <a:r>
              <a:rPr lang="en-US" sz="2400" i="1" dirty="0" smtClean="0">
                <a:solidFill>
                  <a:srgbClr val="C00000"/>
                </a:solidFill>
              </a:rPr>
              <a:t>less useful</a:t>
            </a:r>
            <a:r>
              <a:rPr lang="en-US" sz="2400" dirty="0" smtClean="0"/>
              <a:t> on agile projects than on traditional projects. Why?</a:t>
            </a:r>
          </a:p>
          <a:p>
            <a:r>
              <a:rPr lang="en-US" sz="2400" dirty="0" smtClean="0"/>
              <a:t>On an agile project, estimates are assigned to user stories or other user-valued functionality.</a:t>
            </a:r>
          </a:p>
          <a:p>
            <a:r>
              <a:rPr lang="en-US" sz="2400" dirty="0" smtClean="0"/>
              <a:t>Developing this functionality is likely to require a </a:t>
            </a:r>
            <a:r>
              <a:rPr lang="en-US" sz="2400" i="1" dirty="0" smtClean="0">
                <a:solidFill>
                  <a:srgbClr val="C00000"/>
                </a:solidFill>
              </a:rPr>
              <a:t>variety of skills</a:t>
            </a:r>
            <a:r>
              <a:rPr lang="en-US" sz="2400" dirty="0" smtClean="0"/>
              <a:t> normally performed by more than one person.</a:t>
            </a:r>
          </a:p>
          <a:p>
            <a:r>
              <a:rPr lang="en-US" sz="2400" dirty="0" smtClean="0"/>
              <a:t>This makes it </a:t>
            </a:r>
            <a:r>
              <a:rPr lang="en-US" sz="2400" i="1" dirty="0" smtClean="0">
                <a:solidFill>
                  <a:srgbClr val="C00000"/>
                </a:solidFill>
              </a:rPr>
              <a:t>difficult</a:t>
            </a:r>
            <a:r>
              <a:rPr lang="en-US" sz="2400" dirty="0" smtClean="0"/>
              <a:t> to find suitable experts who can assess the effort across all disciplines.</a:t>
            </a:r>
          </a:p>
        </p:txBody>
      </p:sp>
      <p:pic>
        <p:nvPicPr>
          <p:cNvPr id="5122" name="Picture 2" descr="https://images.martechadvisor.com/images/uploads/content_images/25f0226fc68c7cfe0cf0362792d32c7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724400"/>
            <a:ext cx="2395728" cy="15971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Poker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Planning poker</a:t>
            </a:r>
            <a:r>
              <a:rPr lang="en-US" sz="2400" dirty="0" smtClean="0"/>
              <a:t> combines </a:t>
            </a:r>
            <a:r>
              <a:rPr lang="en-US" sz="2400" u="sng" dirty="0" smtClean="0"/>
              <a:t>expert opinion</a:t>
            </a:r>
            <a:r>
              <a:rPr lang="en-US" sz="2400" dirty="0" smtClean="0"/>
              <a:t>, </a:t>
            </a:r>
            <a:r>
              <a:rPr lang="en-US" sz="2400" u="sng" dirty="0" smtClean="0"/>
              <a:t>analogy</a:t>
            </a:r>
            <a:r>
              <a:rPr lang="en-US" sz="2400" dirty="0" smtClean="0"/>
              <a:t>, and </a:t>
            </a:r>
            <a:r>
              <a:rPr lang="en-US" sz="2400" u="sng" dirty="0" smtClean="0"/>
              <a:t>disaggregation</a:t>
            </a:r>
            <a:r>
              <a:rPr lang="en-US" sz="2400" dirty="0" smtClean="0"/>
              <a:t> into an enjoyable approach to estimating that results in quick but reliable estimates.</a:t>
            </a:r>
          </a:p>
          <a:p>
            <a:r>
              <a:rPr lang="en-US" sz="2400" dirty="0" smtClean="0"/>
              <a:t>The right amount of discussion: Buy a </a:t>
            </a:r>
            <a:r>
              <a:rPr lang="en-US" sz="2400" i="1" dirty="0" smtClean="0">
                <a:solidFill>
                  <a:srgbClr val="C00000"/>
                </a:solidFill>
              </a:rPr>
              <a:t>two-minute sand timer</a:t>
            </a:r>
            <a:r>
              <a:rPr lang="en-US" sz="2400" dirty="0" smtClean="0"/>
              <a:t> and place it in the middle of the table where planning poker is being played.</a:t>
            </a:r>
            <a:endParaRPr lang="en-US" sz="2400" dirty="0"/>
          </a:p>
        </p:txBody>
      </p:sp>
      <p:pic>
        <p:nvPicPr>
          <p:cNvPr id="147458" name="Picture 2" descr="http://www.metodoagil.com/wp-content/uploads/2017/05/planning_poker.jpg?x7827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30040"/>
            <a:ext cx="3200400" cy="2194560"/>
          </a:xfrm>
          <a:prstGeom prst="rect">
            <a:avLst/>
          </a:prstGeom>
          <a:noFill/>
        </p:spPr>
      </p:pic>
      <p:pic>
        <p:nvPicPr>
          <p:cNvPr id="147460" name="Picture 4" descr="http://www.coreworks.co/images/Scrum/PlanningPoker617x4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4038600"/>
            <a:ext cx="3385109" cy="2249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Does Planning Poker Work? [2]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325563"/>
          </a:xfrm>
        </p:spPr>
        <p:txBody>
          <a:bodyPr/>
          <a:lstStyle/>
          <a:p>
            <a:r>
              <a:rPr lang="en-US" sz="2400" dirty="0" smtClean="0"/>
              <a:t>Three juniors </a:t>
            </a:r>
            <a:r>
              <a:rPr lang="en-US" sz="2400" i="1" dirty="0" smtClean="0">
                <a:solidFill>
                  <a:srgbClr val="C00000"/>
                </a:solidFill>
              </a:rPr>
              <a:t>don’t outvote</a:t>
            </a:r>
            <a:r>
              <a:rPr lang="en-US" sz="2400" dirty="0" smtClean="0"/>
              <a:t> one experienced senior.</a:t>
            </a:r>
          </a:p>
          <a:p>
            <a:r>
              <a:rPr lang="en-US" sz="2400" dirty="0" smtClean="0"/>
              <a:t>Size your stories </a:t>
            </a:r>
            <a:r>
              <a:rPr lang="en-US" sz="2400" i="1" dirty="0" smtClean="0">
                <a:solidFill>
                  <a:srgbClr val="C00000"/>
                </a:solidFill>
              </a:rPr>
              <a:t>small</a:t>
            </a:r>
            <a:r>
              <a:rPr lang="en-US" sz="2400" dirty="0" smtClean="0"/>
              <a:t> (one, three, and five points with the occasional epic).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524000"/>
            <a:ext cx="387477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3" descr="https://edgh.washington.edu/sites/default/files/images/course-icons/icon_selfenro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685799"/>
            <a:ext cx="1628775" cy="11430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Wideband Delphi Method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382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problem specification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moderator</a:t>
            </a:r>
            <a:r>
              <a:rPr lang="en-US" sz="2400" dirty="0" smtClean="0"/>
              <a:t>, who plans and coordinates the activity, the </a:t>
            </a:r>
            <a:r>
              <a:rPr lang="en-US" sz="2400" i="1" dirty="0" smtClean="0">
                <a:solidFill>
                  <a:srgbClr val="C00000"/>
                </a:solidFill>
              </a:rPr>
              <a:t>project manager</a:t>
            </a:r>
            <a:r>
              <a:rPr lang="en-US" sz="2400" dirty="0" smtClean="0"/>
              <a:t> and two to </a:t>
            </a:r>
            <a:r>
              <a:rPr lang="en-US" sz="2400" i="1" dirty="0" smtClean="0">
                <a:solidFill>
                  <a:srgbClr val="C00000"/>
                </a:solidFill>
              </a:rPr>
              <a:t>four other estimators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The team reviews the estimation objectives and </a:t>
            </a:r>
            <a:r>
              <a:rPr lang="en-US" sz="2400" i="1" dirty="0" smtClean="0">
                <a:solidFill>
                  <a:srgbClr val="C00000"/>
                </a:solidFill>
              </a:rPr>
              <a:t>discusses</a:t>
            </a:r>
            <a:r>
              <a:rPr lang="en-US" sz="2400" dirty="0" smtClean="0"/>
              <a:t> the problem and any estimation issues.</a:t>
            </a:r>
          </a:p>
          <a:p>
            <a:r>
              <a:rPr lang="en-US" sz="2400" dirty="0" smtClean="0"/>
              <a:t>The participants agree on the </a:t>
            </a:r>
            <a:r>
              <a:rPr lang="en-US" sz="2400" i="1" dirty="0" smtClean="0">
                <a:solidFill>
                  <a:srgbClr val="C00000"/>
                </a:solidFill>
              </a:rPr>
              <a:t>estimation units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All team members are </a:t>
            </a:r>
            <a:r>
              <a:rPr lang="en-US" sz="2400" i="1" dirty="0" smtClean="0">
                <a:solidFill>
                  <a:srgbClr val="C00000"/>
                </a:solidFill>
              </a:rPr>
              <a:t>sufficiently knowledgeable</a:t>
            </a:r>
            <a:r>
              <a:rPr lang="en-US" sz="2400" dirty="0" smtClean="0"/>
              <a:t> to contribute to the estimation activity.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002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457200" y="16002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76400" y="16002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5105400"/>
            <a:ext cx="13620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382963"/>
          </a:xfrm>
        </p:spPr>
        <p:txBody>
          <a:bodyPr/>
          <a:lstStyle/>
          <a:p>
            <a:r>
              <a:rPr lang="en-US" sz="2400" dirty="0" smtClean="0"/>
              <a:t>The estimation process begins with each participant independently developing an initial </a:t>
            </a:r>
            <a:r>
              <a:rPr lang="en-US" sz="2400" i="1" dirty="0" smtClean="0">
                <a:solidFill>
                  <a:srgbClr val="C00000"/>
                </a:solidFill>
              </a:rPr>
              <a:t>list of the tasks</a:t>
            </a:r>
            <a:r>
              <a:rPr lang="en-US" sz="2400" dirty="0" smtClean="0"/>
              <a:t> that will have to be completed to reach the stated project goal.</a:t>
            </a:r>
          </a:p>
          <a:p>
            <a:r>
              <a:rPr lang="en-US" sz="2400" dirty="0" smtClean="0"/>
              <a:t>Each participant then estimates the </a:t>
            </a:r>
            <a:r>
              <a:rPr lang="en-US" sz="2400" i="1" dirty="0" smtClean="0">
                <a:solidFill>
                  <a:srgbClr val="C00000"/>
                </a:solidFill>
              </a:rPr>
              <a:t>effort</a:t>
            </a:r>
            <a:r>
              <a:rPr lang="en-US" sz="2400" dirty="0" smtClean="0"/>
              <a:t> each task will consume.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3048000" y="16002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67013" y="4562475"/>
            <a:ext cx="36099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1" y="4537906"/>
            <a:ext cx="1447800" cy="215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Meeting – Round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382963"/>
          </a:xfrm>
        </p:spPr>
        <p:txBody>
          <a:bodyPr/>
          <a:lstStyle/>
          <a:p>
            <a:r>
              <a:rPr lang="en-US" sz="2400" dirty="0" smtClean="0"/>
              <a:t>The moderator begins the estimation meeting by collecting the participants’ individual estimates and creating </a:t>
            </a:r>
            <a:r>
              <a:rPr lang="en-US" sz="2400" i="1" dirty="0" smtClean="0">
                <a:solidFill>
                  <a:srgbClr val="C00000"/>
                </a:solidFill>
              </a:rPr>
              <a:t>a chart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moderator does </a:t>
            </a:r>
            <a:r>
              <a:rPr lang="en-US" sz="2400" i="1" dirty="0" smtClean="0">
                <a:solidFill>
                  <a:srgbClr val="C00000"/>
                </a:solidFill>
              </a:rPr>
              <a:t>not identify who</a:t>
            </a:r>
            <a:r>
              <a:rPr lang="en-US" sz="2400" dirty="0" smtClean="0"/>
              <a:t> created each estimate.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4343400" y="16002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7888" y="4191000"/>
            <a:ext cx="48482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Meeting –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382963"/>
          </a:xfrm>
        </p:spPr>
        <p:txBody>
          <a:bodyPr/>
          <a:lstStyle/>
          <a:p>
            <a:r>
              <a:rPr lang="en-US" sz="2400" dirty="0" smtClean="0"/>
              <a:t>Each estimator </a:t>
            </a:r>
            <a:r>
              <a:rPr lang="en-US" sz="2400" i="1" dirty="0" smtClean="0">
                <a:solidFill>
                  <a:srgbClr val="C00000"/>
                </a:solidFill>
              </a:rPr>
              <a:t>reads out</a:t>
            </a:r>
            <a:r>
              <a:rPr lang="en-US" sz="2400" dirty="0" smtClean="0"/>
              <a:t> his or her initial task list, identifying any assumptions made and raising any questions or issues, </a:t>
            </a:r>
            <a:r>
              <a:rPr lang="en-US" sz="2400" i="1" dirty="0" smtClean="0">
                <a:solidFill>
                  <a:srgbClr val="C00000"/>
                </a:solidFill>
              </a:rPr>
              <a:t>without revealing</a:t>
            </a:r>
            <a:r>
              <a:rPr lang="en-US" sz="2400" dirty="0" smtClean="0"/>
              <a:t> which estimate was theirs.</a:t>
            </a:r>
          </a:p>
          <a:p>
            <a:r>
              <a:rPr lang="en-US" sz="2400" dirty="0" smtClean="0"/>
              <a:t>Each participant will have listed different tasks that need to be performed.  Combining these individual task lists leads to a more </a:t>
            </a:r>
            <a:r>
              <a:rPr lang="en-US" sz="2400" i="1" dirty="0" smtClean="0">
                <a:solidFill>
                  <a:srgbClr val="C00000"/>
                </a:solidFill>
              </a:rPr>
              <a:t>complete list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During this </a:t>
            </a:r>
            <a:r>
              <a:rPr lang="en-US" sz="2400" i="1" dirty="0" smtClean="0">
                <a:solidFill>
                  <a:srgbClr val="C00000"/>
                </a:solidFill>
              </a:rPr>
              <a:t>initial discussion</a:t>
            </a:r>
            <a:r>
              <a:rPr lang="en-US" sz="2400" dirty="0" smtClean="0"/>
              <a:t>, the team members also talk about their assumptions, estimation issues and questions they have about the problem.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4343400" y="16002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Meeting – Round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2362200"/>
          </a:xfrm>
        </p:spPr>
        <p:txBody>
          <a:bodyPr/>
          <a:lstStyle/>
          <a:p>
            <a:r>
              <a:rPr lang="en-US" sz="2400" dirty="0" smtClean="0"/>
              <a:t>All participants </a:t>
            </a:r>
            <a:r>
              <a:rPr lang="en-US" sz="2400" i="1" dirty="0" smtClean="0">
                <a:solidFill>
                  <a:srgbClr val="C00000"/>
                </a:solidFill>
              </a:rPr>
              <a:t>modify</a:t>
            </a:r>
            <a:r>
              <a:rPr lang="en-US" sz="2400" dirty="0" smtClean="0"/>
              <a:t> their estimates concurrently (and silently) in the meeting room. </a:t>
            </a:r>
          </a:p>
          <a:p>
            <a:r>
              <a:rPr lang="en-US" sz="2400" dirty="0" smtClean="0"/>
              <a:t>All estimators can </a:t>
            </a:r>
            <a:r>
              <a:rPr lang="en-US" sz="2400" i="1" dirty="0" smtClean="0">
                <a:solidFill>
                  <a:srgbClr val="C00000"/>
                </a:solidFill>
              </a:rPr>
              <a:t>add new tasks</a:t>
            </a:r>
            <a:r>
              <a:rPr lang="en-US" sz="2400" dirty="0" smtClean="0"/>
              <a:t> to their forms and </a:t>
            </a:r>
            <a:r>
              <a:rPr lang="en-US" sz="2400" i="1" dirty="0" smtClean="0">
                <a:solidFill>
                  <a:srgbClr val="C00000"/>
                </a:solidFill>
              </a:rPr>
              <a:t>note any changes</a:t>
            </a:r>
            <a:r>
              <a:rPr lang="en-US" sz="2400" dirty="0" smtClean="0"/>
              <a:t> they wish to make to their initial task estimates.</a:t>
            </a:r>
          </a:p>
          <a:p>
            <a:r>
              <a:rPr lang="en-US" sz="2400" dirty="0" smtClean="0"/>
              <a:t>The moderator </a:t>
            </a:r>
            <a:r>
              <a:rPr lang="en-US" sz="2400" i="1" dirty="0" smtClean="0">
                <a:solidFill>
                  <a:srgbClr val="C00000"/>
                </a:solidFill>
              </a:rPr>
              <a:t>collects</a:t>
            </a:r>
            <a:r>
              <a:rPr lang="en-US" sz="2400" dirty="0" smtClean="0"/>
              <a:t> the revised overall estimates and plots them on the same chart.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716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4343400" y="13716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4100" y="4819650"/>
            <a:ext cx="44958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Assembling Tasks and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33800"/>
          </a:xfrm>
        </p:spPr>
        <p:txBody>
          <a:bodyPr/>
          <a:lstStyle/>
          <a:p>
            <a:r>
              <a:rPr lang="en-US" sz="2400" dirty="0" smtClean="0"/>
              <a:t>Either the moderator or the project manager assembles the project tasks and their individual estimates into a </a:t>
            </a:r>
            <a:r>
              <a:rPr lang="en-US" sz="2400" i="1" dirty="0" smtClean="0">
                <a:solidFill>
                  <a:srgbClr val="C00000"/>
                </a:solidFill>
              </a:rPr>
              <a:t>single master task list</a:t>
            </a:r>
            <a:r>
              <a:rPr lang="en-US" sz="2400" dirty="0" smtClean="0"/>
              <a:t>, merges the individual </a:t>
            </a:r>
            <a:r>
              <a:rPr lang="en-US" sz="2400" i="1" dirty="0" smtClean="0">
                <a:solidFill>
                  <a:srgbClr val="C00000"/>
                </a:solidFill>
              </a:rPr>
              <a:t>lists of assumptions</a:t>
            </a:r>
            <a:r>
              <a:rPr lang="en-US" sz="2400" dirty="0" smtClean="0"/>
              <a:t>, quality- and process-related activities, overhead tasks and wait times.</a:t>
            </a:r>
          </a:p>
          <a:p>
            <a:r>
              <a:rPr lang="en-US" sz="2400" dirty="0" smtClean="0"/>
              <a:t>The merging process involves removing </a:t>
            </a:r>
            <a:r>
              <a:rPr lang="en-US" sz="2400" i="1" dirty="0" smtClean="0">
                <a:solidFill>
                  <a:srgbClr val="C00000"/>
                </a:solidFill>
              </a:rPr>
              <a:t>duplicate tasks</a:t>
            </a:r>
            <a:r>
              <a:rPr lang="en-US" sz="2400" dirty="0" smtClean="0"/>
              <a:t> and reaching some </a:t>
            </a:r>
            <a:r>
              <a:rPr lang="en-US" sz="2400" i="1" dirty="0" smtClean="0">
                <a:solidFill>
                  <a:srgbClr val="C00000"/>
                </a:solidFill>
              </a:rPr>
              <a:t>reasonable resolution</a:t>
            </a:r>
            <a:r>
              <a:rPr lang="en-US" sz="2400" dirty="0" smtClean="0"/>
              <a:t> of different estimates for individual tasks.</a:t>
            </a:r>
          </a:p>
          <a:p>
            <a:r>
              <a:rPr lang="en-US" sz="2400" dirty="0" smtClean="0"/>
              <a:t>The estimation team </a:t>
            </a:r>
            <a:r>
              <a:rPr lang="en-US" sz="2400" i="1" dirty="0" smtClean="0">
                <a:solidFill>
                  <a:srgbClr val="C00000"/>
                </a:solidFill>
              </a:rPr>
              <a:t>reviews</a:t>
            </a:r>
            <a:r>
              <a:rPr lang="en-US" sz="2400" dirty="0" smtClean="0"/>
              <a:t> the summarized results and reaches agreement on the final outcome.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71600"/>
            <a:ext cx="74485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5638800" y="13716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58000" y="1371600"/>
            <a:ext cx="1447800" cy="8382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Task List</a:t>
            </a:r>
          </a:p>
        </p:txBody>
      </p:sp>
      <p:pic>
        <p:nvPicPr>
          <p:cNvPr id="5120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04863" y="1849438"/>
            <a:ext cx="7534275" cy="40290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7997</TotalTime>
  <Words>1078</Words>
  <Application>Microsoft Office PowerPoint</Application>
  <PresentationFormat>On-screen Show (4:3)</PresentationFormat>
  <Paragraphs>85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Agile Estimation</vt:lpstr>
      <vt:lpstr>Objectives</vt:lpstr>
      <vt:lpstr>Contents</vt:lpstr>
      <vt:lpstr>References</vt:lpstr>
      <vt:lpstr>Estimating Size with Story Points [1]</vt:lpstr>
      <vt:lpstr>Velocity</vt:lpstr>
      <vt:lpstr>Ideal Days</vt:lpstr>
      <vt:lpstr>The Estimation Scale</vt:lpstr>
      <vt:lpstr>Deriving an Estimate: Analogy [1, 2]</vt:lpstr>
      <vt:lpstr>Deriving an Estimate: Disaggregation</vt:lpstr>
      <vt:lpstr>Deriving an Estimate: Expert Opinion</vt:lpstr>
      <vt:lpstr>Planning Poker [1]</vt:lpstr>
      <vt:lpstr>How Does Planning Poker Work? [2]</vt:lpstr>
      <vt:lpstr>Slide 14</vt:lpstr>
      <vt:lpstr>Wideband Delphi Method [3]</vt:lpstr>
      <vt:lpstr>Individual Preparation</vt:lpstr>
      <vt:lpstr>Estimation Meeting – Round 1</vt:lpstr>
      <vt:lpstr>Estimation Meeting – Discussion</vt:lpstr>
      <vt:lpstr>Estimation Meeting – Round 2</vt:lpstr>
      <vt:lpstr>Assembling Tasks and Review</vt:lpstr>
      <vt:lpstr>Master Task List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4350</cp:revision>
  <dcterms:created xsi:type="dcterms:W3CDTF">2007-10-06T08:25:13Z</dcterms:created>
  <dcterms:modified xsi:type="dcterms:W3CDTF">2023-06-29T11:34:15Z</dcterms:modified>
</cp:coreProperties>
</file>