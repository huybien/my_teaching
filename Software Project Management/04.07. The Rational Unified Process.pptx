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8" r:id="rId1"/>
  </p:sldMasterIdLst>
  <p:handoutMasterIdLst>
    <p:handoutMasterId r:id="rId46"/>
  </p:handoutMasterIdLst>
  <p:sldIdLst>
    <p:sldId id="256" r:id="rId2"/>
    <p:sldId id="558" r:id="rId3"/>
    <p:sldId id="559" r:id="rId4"/>
    <p:sldId id="560" r:id="rId5"/>
    <p:sldId id="561" r:id="rId6"/>
    <p:sldId id="563" r:id="rId7"/>
    <p:sldId id="562" r:id="rId8"/>
    <p:sldId id="581" r:id="rId9"/>
    <p:sldId id="553" r:id="rId10"/>
    <p:sldId id="554" r:id="rId11"/>
    <p:sldId id="556" r:id="rId12"/>
    <p:sldId id="557" r:id="rId13"/>
    <p:sldId id="583" r:id="rId14"/>
    <p:sldId id="544" r:id="rId15"/>
    <p:sldId id="565" r:id="rId16"/>
    <p:sldId id="545" r:id="rId17"/>
    <p:sldId id="585" r:id="rId18"/>
    <p:sldId id="584" r:id="rId19"/>
    <p:sldId id="546" r:id="rId20"/>
    <p:sldId id="582" r:id="rId21"/>
    <p:sldId id="586" r:id="rId22"/>
    <p:sldId id="568" r:id="rId23"/>
    <p:sldId id="578" r:id="rId24"/>
    <p:sldId id="567" r:id="rId25"/>
    <p:sldId id="566" r:id="rId26"/>
    <p:sldId id="569" r:id="rId27"/>
    <p:sldId id="588" r:id="rId28"/>
    <p:sldId id="570" r:id="rId29"/>
    <p:sldId id="577" r:id="rId30"/>
    <p:sldId id="571" r:id="rId31"/>
    <p:sldId id="579" r:id="rId32"/>
    <p:sldId id="572" r:id="rId33"/>
    <p:sldId id="589" r:id="rId34"/>
    <p:sldId id="573" r:id="rId35"/>
    <p:sldId id="576" r:id="rId36"/>
    <p:sldId id="575" r:id="rId37"/>
    <p:sldId id="574" r:id="rId38"/>
    <p:sldId id="587" r:id="rId39"/>
    <p:sldId id="591" r:id="rId40"/>
    <p:sldId id="590" r:id="rId41"/>
    <p:sldId id="564" r:id="rId42"/>
    <p:sldId id="449" r:id="rId43"/>
    <p:sldId id="542" r:id="rId44"/>
    <p:sldId id="343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 autoAdjust="0"/>
    <p:restoredTop sz="99639" autoAdjust="0"/>
  </p:normalViewPr>
  <p:slideViewPr>
    <p:cSldViewPr>
      <p:cViewPr>
        <p:scale>
          <a:sx n="50" d="100"/>
          <a:sy n="50" d="100"/>
        </p:scale>
        <p:origin x="-1526" y="-4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600" dirty="0" smtClean="0"/>
            <a:t>Project-oriented</a:t>
          </a:r>
          <a:endParaRPr lang="en-US" sz="26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43C0393A-46E1-4A9F-9CD6-60993EC2335B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600" dirty="0" smtClean="0"/>
            <a:t>Risk and value-driven</a:t>
          </a:r>
          <a:endParaRPr lang="en-US" sz="2600" dirty="0"/>
        </a:p>
      </dgm:t>
    </dgm:pt>
    <dgm:pt modelId="{C9BB6BC7-BBAF-4E47-A5D0-7E1793192DD2}" type="parTrans" cxnId="{6B7D6F0A-EEC4-429C-A17F-05FDC8D9F9A1}">
      <dgm:prSet/>
      <dgm:spPr/>
      <dgm:t>
        <a:bodyPr/>
        <a:lstStyle/>
        <a:p>
          <a:endParaRPr lang="en-US"/>
        </a:p>
      </dgm:t>
    </dgm:pt>
    <dgm:pt modelId="{92BD5F50-45E3-4744-AFBC-834C647F6544}" type="sibTrans" cxnId="{6B7D6F0A-EEC4-429C-A17F-05FDC8D9F9A1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600" dirty="0" smtClean="0"/>
            <a:t>Clear vision</a:t>
          </a:r>
          <a:endParaRPr lang="en-US" sz="26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0515448B-0F1F-4E8F-844E-2FB0227B03D7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600" dirty="0" smtClean="0"/>
            <a:t>Well-defined process</a:t>
          </a:r>
          <a:endParaRPr lang="en-US" sz="2600" dirty="0"/>
        </a:p>
      </dgm:t>
    </dgm:pt>
    <dgm:pt modelId="{B40022B8-2BFE-41E4-A269-A6EC5921F08F}" type="parTrans" cxnId="{BD0A6C8B-444F-42F7-AB73-932FB1364B6A}">
      <dgm:prSet/>
      <dgm:spPr/>
      <dgm:t>
        <a:bodyPr/>
        <a:lstStyle/>
        <a:p>
          <a:endParaRPr lang="en-US"/>
        </a:p>
      </dgm:t>
    </dgm:pt>
    <dgm:pt modelId="{9A42001F-83F8-49DE-9E17-E252059B4F7D}" type="sibTrans" cxnId="{BD0A6C8B-444F-42F7-AB73-932FB1364B6A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4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7B9833F8-797D-4A99-9CCC-108126CC8A37}" type="pres">
      <dgm:prSet presAssocID="{43C0393A-46E1-4A9F-9CD6-60993EC2335B}" presName="parentLin" presStyleCnt="0"/>
      <dgm:spPr/>
    </dgm:pt>
    <dgm:pt modelId="{00DAA942-0E35-430E-BE36-7DD1E0FA1F14}" type="pres">
      <dgm:prSet presAssocID="{43C0393A-46E1-4A9F-9CD6-60993EC2335B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9C3A0030-3328-4360-9C94-1B8585EC0465}" type="pres">
      <dgm:prSet presAssocID="{43C0393A-46E1-4A9F-9CD6-60993EC2335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FDD32-166F-44CC-B502-C5D390BFB49D}" type="pres">
      <dgm:prSet presAssocID="{43C0393A-46E1-4A9F-9CD6-60993EC2335B}" presName="negativeSpace" presStyleCnt="0"/>
      <dgm:spPr/>
    </dgm:pt>
    <dgm:pt modelId="{AE7E922B-5B2A-485B-BC5B-F9CBA0239F8F}" type="pres">
      <dgm:prSet presAssocID="{43C0393A-46E1-4A9F-9CD6-60993EC2335B}" presName="childText" presStyleLbl="conFgAcc1" presStyleIdx="1" presStyleCnt="4">
        <dgm:presLayoutVars>
          <dgm:bulletEnabled val="1"/>
        </dgm:presLayoutVars>
      </dgm:prSet>
      <dgm:spPr/>
    </dgm:pt>
    <dgm:pt modelId="{AA07E4A3-5671-42FD-8764-27FF8E0016A2}" type="pres">
      <dgm:prSet presAssocID="{92BD5F50-45E3-4744-AFBC-834C647F6544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2" presStyleCnt="4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AE2B37C9-A7AD-4445-8A90-E7CAEF3CC0E4}" type="pres">
      <dgm:prSet presAssocID="{0515448B-0F1F-4E8F-844E-2FB0227B03D7}" presName="parentLin" presStyleCnt="0"/>
      <dgm:spPr/>
    </dgm:pt>
    <dgm:pt modelId="{7499F0B7-D904-4D2E-B20F-A1C4D855B67C}" type="pres">
      <dgm:prSet presAssocID="{0515448B-0F1F-4E8F-844E-2FB0227B03D7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356075AC-4793-4F75-9905-30C562BDA3F4}" type="pres">
      <dgm:prSet presAssocID="{0515448B-0F1F-4E8F-844E-2FB0227B03D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728F41-403C-41CC-A1E1-4E332020012A}" type="pres">
      <dgm:prSet presAssocID="{0515448B-0F1F-4E8F-844E-2FB0227B03D7}" presName="negativeSpace" presStyleCnt="0"/>
      <dgm:spPr/>
    </dgm:pt>
    <dgm:pt modelId="{CFFCBFCE-53DB-4686-8FED-CB727D81632F}" type="pres">
      <dgm:prSet presAssocID="{0515448B-0F1F-4E8F-844E-2FB0227B03D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2212A5C-4CAF-47B2-BDD5-656D876D8196}" type="presOf" srcId="{5A232CEB-62D8-4589-8260-D2DD0950260D}" destId="{0B349CBC-8ED4-48C8-A222-9C9340338692}" srcOrd="0" destOrd="0" presId="urn:microsoft.com/office/officeart/2005/8/layout/list1"/>
    <dgm:cxn modelId="{3E4D8290-173F-4D2D-9CB0-8B8BD172AA2C}" type="presOf" srcId="{E7F16E8F-B07B-49CD-9F52-85A84C58F053}" destId="{A7CBC039-0BC2-4AA9-96C5-D53214E7072C}" srcOrd="0" destOrd="0" presId="urn:microsoft.com/office/officeart/2005/8/layout/list1"/>
    <dgm:cxn modelId="{66F907DD-AC0B-43D2-A26F-7BF1BD7B834A}" srcId="{259721CE-C292-4BF7-AA2B-27507BE9C04D}" destId="{E7F16E8F-B07B-49CD-9F52-85A84C58F053}" srcOrd="2" destOrd="0" parTransId="{34AEC5FF-E97D-4573-851C-EF83ABF7DC00}" sibTransId="{E4243C59-659E-46FE-A2F9-831D4FBC603F}"/>
    <dgm:cxn modelId="{51904FD4-92CA-4460-A457-0265C7370DC6}" type="presOf" srcId="{5A232CEB-62D8-4589-8260-D2DD0950260D}" destId="{848FFB67-E67A-4AED-860D-D3CE90B334DB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F90A5487-7077-4C0D-952E-596FBBB2606E}" type="presOf" srcId="{E7F16E8F-B07B-49CD-9F52-85A84C58F053}" destId="{35B351AB-B61D-4E2F-B86C-96E3F283D1FD}" srcOrd="1" destOrd="0" presId="urn:microsoft.com/office/officeart/2005/8/layout/list1"/>
    <dgm:cxn modelId="{DC38F5D7-36FD-4C9D-9604-913634F90C3D}" type="presOf" srcId="{43C0393A-46E1-4A9F-9CD6-60993EC2335B}" destId="{9C3A0030-3328-4360-9C94-1B8585EC0465}" srcOrd="1" destOrd="0" presId="urn:microsoft.com/office/officeart/2005/8/layout/list1"/>
    <dgm:cxn modelId="{6D9684A3-8CC7-49D4-8C90-57E4F5F47C71}" type="presOf" srcId="{43C0393A-46E1-4A9F-9CD6-60993EC2335B}" destId="{00DAA942-0E35-430E-BE36-7DD1E0FA1F14}" srcOrd="0" destOrd="0" presId="urn:microsoft.com/office/officeart/2005/8/layout/list1"/>
    <dgm:cxn modelId="{BE95B926-4783-4EE0-857A-0B1F4758BAB0}" type="presOf" srcId="{259721CE-C292-4BF7-AA2B-27507BE9C04D}" destId="{4D585F68-F1C3-491E-97C8-FE191B789273}" srcOrd="0" destOrd="0" presId="urn:microsoft.com/office/officeart/2005/8/layout/list1"/>
    <dgm:cxn modelId="{37385BB3-7C45-4BA1-9BB8-D4A940D11953}" type="presOf" srcId="{0515448B-0F1F-4E8F-844E-2FB0227B03D7}" destId="{356075AC-4793-4F75-9905-30C562BDA3F4}" srcOrd="1" destOrd="0" presId="urn:microsoft.com/office/officeart/2005/8/layout/list1"/>
    <dgm:cxn modelId="{D78F2B66-F6E0-4EDA-B10F-677736EADB28}" type="presOf" srcId="{0515448B-0F1F-4E8F-844E-2FB0227B03D7}" destId="{7499F0B7-D904-4D2E-B20F-A1C4D855B67C}" srcOrd="0" destOrd="0" presId="urn:microsoft.com/office/officeart/2005/8/layout/list1"/>
    <dgm:cxn modelId="{BD0A6C8B-444F-42F7-AB73-932FB1364B6A}" srcId="{259721CE-C292-4BF7-AA2B-27507BE9C04D}" destId="{0515448B-0F1F-4E8F-844E-2FB0227B03D7}" srcOrd="3" destOrd="0" parTransId="{B40022B8-2BFE-41E4-A269-A6EC5921F08F}" sibTransId="{9A42001F-83F8-49DE-9E17-E252059B4F7D}"/>
    <dgm:cxn modelId="{6B7D6F0A-EEC4-429C-A17F-05FDC8D9F9A1}" srcId="{259721CE-C292-4BF7-AA2B-27507BE9C04D}" destId="{43C0393A-46E1-4A9F-9CD6-60993EC2335B}" srcOrd="1" destOrd="0" parTransId="{C9BB6BC7-BBAF-4E47-A5D0-7E1793192DD2}" sibTransId="{92BD5F50-45E3-4744-AFBC-834C647F6544}"/>
    <dgm:cxn modelId="{7CAEE17A-EEA9-4849-8869-341AFA0C5685}" type="presParOf" srcId="{4D585F68-F1C3-491E-97C8-FE191B789273}" destId="{E9118B4B-820F-4974-9EC5-2AA1C73EF9CD}" srcOrd="0" destOrd="0" presId="urn:microsoft.com/office/officeart/2005/8/layout/list1"/>
    <dgm:cxn modelId="{367A6508-EFD9-46FF-ADCD-A75B3E24FC0A}" type="presParOf" srcId="{E9118B4B-820F-4974-9EC5-2AA1C73EF9CD}" destId="{0B349CBC-8ED4-48C8-A222-9C9340338692}" srcOrd="0" destOrd="0" presId="urn:microsoft.com/office/officeart/2005/8/layout/list1"/>
    <dgm:cxn modelId="{EF0499FE-AA62-43EE-AF90-81845895B955}" type="presParOf" srcId="{E9118B4B-820F-4974-9EC5-2AA1C73EF9CD}" destId="{848FFB67-E67A-4AED-860D-D3CE90B334DB}" srcOrd="1" destOrd="0" presId="urn:microsoft.com/office/officeart/2005/8/layout/list1"/>
    <dgm:cxn modelId="{63838C89-38D2-4699-BC73-73DB257C7E67}" type="presParOf" srcId="{4D585F68-F1C3-491E-97C8-FE191B789273}" destId="{E60DF7E8-B64D-4839-AD8F-7162382F7282}" srcOrd="1" destOrd="0" presId="urn:microsoft.com/office/officeart/2005/8/layout/list1"/>
    <dgm:cxn modelId="{E2487F72-1329-4CA7-9B77-50E0DD67DFC4}" type="presParOf" srcId="{4D585F68-F1C3-491E-97C8-FE191B789273}" destId="{5E62230B-D0E7-44B1-B792-63524C0AF476}" srcOrd="2" destOrd="0" presId="urn:microsoft.com/office/officeart/2005/8/layout/list1"/>
    <dgm:cxn modelId="{E34A7DE0-556E-456E-B6F7-87E27CB78E6F}" type="presParOf" srcId="{4D585F68-F1C3-491E-97C8-FE191B789273}" destId="{9AD6B864-3920-4D2F-995E-6A1AAEBE2594}" srcOrd="3" destOrd="0" presId="urn:microsoft.com/office/officeart/2005/8/layout/list1"/>
    <dgm:cxn modelId="{2FEC4146-9711-49E9-BD7A-FF64FAACAAEC}" type="presParOf" srcId="{4D585F68-F1C3-491E-97C8-FE191B789273}" destId="{7B9833F8-797D-4A99-9CCC-108126CC8A37}" srcOrd="4" destOrd="0" presId="urn:microsoft.com/office/officeart/2005/8/layout/list1"/>
    <dgm:cxn modelId="{6D4729D5-F2DF-492E-A806-86899351A120}" type="presParOf" srcId="{7B9833F8-797D-4A99-9CCC-108126CC8A37}" destId="{00DAA942-0E35-430E-BE36-7DD1E0FA1F14}" srcOrd="0" destOrd="0" presId="urn:microsoft.com/office/officeart/2005/8/layout/list1"/>
    <dgm:cxn modelId="{22FEC608-09C6-4FBC-B16D-62F0AE4ED352}" type="presParOf" srcId="{7B9833F8-797D-4A99-9CCC-108126CC8A37}" destId="{9C3A0030-3328-4360-9C94-1B8585EC0465}" srcOrd="1" destOrd="0" presId="urn:microsoft.com/office/officeart/2005/8/layout/list1"/>
    <dgm:cxn modelId="{857B7078-9809-46F8-AD88-95827D92AD1A}" type="presParOf" srcId="{4D585F68-F1C3-491E-97C8-FE191B789273}" destId="{3CBFDD32-166F-44CC-B502-C5D390BFB49D}" srcOrd="5" destOrd="0" presId="urn:microsoft.com/office/officeart/2005/8/layout/list1"/>
    <dgm:cxn modelId="{249CF193-5410-47F2-B49F-A75E255FCB83}" type="presParOf" srcId="{4D585F68-F1C3-491E-97C8-FE191B789273}" destId="{AE7E922B-5B2A-485B-BC5B-F9CBA0239F8F}" srcOrd="6" destOrd="0" presId="urn:microsoft.com/office/officeart/2005/8/layout/list1"/>
    <dgm:cxn modelId="{4FCDA279-D3CE-47B7-9144-D4A4F0A9294A}" type="presParOf" srcId="{4D585F68-F1C3-491E-97C8-FE191B789273}" destId="{AA07E4A3-5671-42FD-8764-27FF8E0016A2}" srcOrd="7" destOrd="0" presId="urn:microsoft.com/office/officeart/2005/8/layout/list1"/>
    <dgm:cxn modelId="{DEADED90-B0D0-4B84-9AE5-D723110C63FF}" type="presParOf" srcId="{4D585F68-F1C3-491E-97C8-FE191B789273}" destId="{9050E09B-0304-4E94-A05D-E80A6123DE47}" srcOrd="8" destOrd="0" presId="urn:microsoft.com/office/officeart/2005/8/layout/list1"/>
    <dgm:cxn modelId="{DCB36E92-383E-47C9-A0AC-52508F2BC31F}" type="presParOf" srcId="{9050E09B-0304-4E94-A05D-E80A6123DE47}" destId="{A7CBC039-0BC2-4AA9-96C5-D53214E7072C}" srcOrd="0" destOrd="0" presId="urn:microsoft.com/office/officeart/2005/8/layout/list1"/>
    <dgm:cxn modelId="{21FF2ACA-4C98-417C-ABE3-C31A1014853A}" type="presParOf" srcId="{9050E09B-0304-4E94-A05D-E80A6123DE47}" destId="{35B351AB-B61D-4E2F-B86C-96E3F283D1FD}" srcOrd="1" destOrd="0" presId="urn:microsoft.com/office/officeart/2005/8/layout/list1"/>
    <dgm:cxn modelId="{34418335-84B3-4FD1-92B4-2CF52992060D}" type="presParOf" srcId="{4D585F68-F1C3-491E-97C8-FE191B789273}" destId="{A1AB935D-4B4E-4F4B-A4EF-168A28D53E37}" srcOrd="9" destOrd="0" presId="urn:microsoft.com/office/officeart/2005/8/layout/list1"/>
    <dgm:cxn modelId="{0954B4CC-2CC0-48D3-89A4-D68BD2BC184A}" type="presParOf" srcId="{4D585F68-F1C3-491E-97C8-FE191B789273}" destId="{EDC5F971-55C6-44F2-8041-4D20B3A7D8A0}" srcOrd="10" destOrd="0" presId="urn:microsoft.com/office/officeart/2005/8/layout/list1"/>
    <dgm:cxn modelId="{E7FBBF16-5034-4ABD-8BDD-C51C0711F229}" type="presParOf" srcId="{4D585F68-F1C3-491E-97C8-FE191B789273}" destId="{7509880B-10B1-4282-819D-76C7F35E568C}" srcOrd="11" destOrd="0" presId="urn:microsoft.com/office/officeart/2005/8/layout/list1"/>
    <dgm:cxn modelId="{FA8C8B31-084A-4702-8D66-3063F0441140}" type="presParOf" srcId="{4D585F68-F1C3-491E-97C8-FE191B789273}" destId="{AE2B37C9-A7AD-4445-8A90-E7CAEF3CC0E4}" srcOrd="12" destOrd="0" presId="urn:microsoft.com/office/officeart/2005/8/layout/list1"/>
    <dgm:cxn modelId="{BDA70C0C-0460-4C2F-A676-FC5A480606C1}" type="presParOf" srcId="{AE2B37C9-A7AD-4445-8A90-E7CAEF3CC0E4}" destId="{7499F0B7-D904-4D2E-B20F-A1C4D855B67C}" srcOrd="0" destOrd="0" presId="urn:microsoft.com/office/officeart/2005/8/layout/list1"/>
    <dgm:cxn modelId="{2693E283-421F-4FC4-A8E6-700E5E989AAA}" type="presParOf" srcId="{AE2B37C9-A7AD-4445-8A90-E7CAEF3CC0E4}" destId="{356075AC-4793-4F75-9905-30C562BDA3F4}" srcOrd="1" destOrd="0" presId="urn:microsoft.com/office/officeart/2005/8/layout/list1"/>
    <dgm:cxn modelId="{AAA32156-6A25-4362-81F7-4860B86AE16E}" type="presParOf" srcId="{4D585F68-F1C3-491E-97C8-FE191B789273}" destId="{0E728F41-403C-41CC-A1E1-4E332020012A}" srcOrd="13" destOrd="0" presId="urn:microsoft.com/office/officeart/2005/8/layout/list1"/>
    <dgm:cxn modelId="{93194105-8878-476D-9EC2-D340E821E864}" type="presParOf" srcId="{4D585F68-F1C3-491E-97C8-FE191B789273}" destId="{CFFCBFCE-53DB-4686-8FED-CB727D81632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A26ED-5B7D-4DD2-96DA-CD90E0A80326}" type="datetimeFigureOut">
              <a:rPr lang="en-US" smtClean="0"/>
              <a:pPr/>
              <a:t>9/9/2019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58CF3-AF96-45C5-AB33-2203645827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The Rational Unified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05400" cy="3581399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when</a:t>
            </a:r>
            <a:r>
              <a:rPr lang="en-US" sz="2400" dirty="0" smtClean="0"/>
              <a:t> to use RUP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present RUP </a:t>
            </a:r>
            <a:r>
              <a:rPr lang="en-US" sz="2400" i="1" dirty="0" smtClean="0">
                <a:solidFill>
                  <a:srgbClr val="C00000"/>
                </a:solidFill>
              </a:rPr>
              <a:t>phases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present RUP </a:t>
            </a:r>
            <a:r>
              <a:rPr lang="en-US" sz="2400" i="1" dirty="0" smtClean="0">
                <a:solidFill>
                  <a:srgbClr val="C00000"/>
                </a:solidFill>
              </a:rPr>
              <a:t>activities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present RUP </a:t>
            </a:r>
            <a:r>
              <a:rPr lang="en-US" sz="2400" i="1" dirty="0" smtClean="0">
                <a:solidFill>
                  <a:srgbClr val="C00000"/>
                </a:solidFill>
              </a:rPr>
              <a:t>roles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present RUP </a:t>
            </a:r>
            <a:r>
              <a:rPr lang="en-US" sz="2400" i="1" dirty="0" smtClean="0">
                <a:solidFill>
                  <a:srgbClr val="C00000"/>
                </a:solidFill>
              </a:rPr>
              <a:t>products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apply</a:t>
            </a:r>
            <a:r>
              <a:rPr lang="en-US" sz="2400" dirty="0" smtClean="0"/>
              <a:t> RUP to develop a system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And Reading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562600" cy="4267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Per Kroll and Philippe </a:t>
            </a:r>
            <a:r>
              <a:rPr lang="en-US" sz="2400" dirty="0" err="1" smtClean="0">
                <a:latin typeface="+mj-lt"/>
              </a:rPr>
              <a:t>Kruchten</a:t>
            </a:r>
            <a:r>
              <a:rPr lang="en-US" sz="2400" dirty="0" smtClean="0">
                <a:latin typeface="+mj-lt"/>
              </a:rPr>
              <a:t> (</a:t>
            </a:r>
            <a:r>
              <a:rPr lang="en-US" sz="2400" dirty="0" smtClean="0"/>
              <a:t>2003)</a:t>
            </a:r>
            <a:r>
              <a:rPr lang="en-US" sz="2400" dirty="0" smtClean="0">
                <a:latin typeface="+mj-lt"/>
              </a:rPr>
              <a:t>. The Rational Unified Process Made Easy: A Practitioner's Guide to the RUP.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Philippe </a:t>
            </a:r>
            <a:r>
              <a:rPr lang="en-US" sz="2400" dirty="0" err="1" smtClean="0"/>
              <a:t>Kruchten</a:t>
            </a:r>
            <a:r>
              <a:rPr lang="en-US" sz="2400" dirty="0" smtClean="0"/>
              <a:t> (2003). The Rational Unified Process: An Introduction.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Craig </a:t>
            </a:r>
            <a:r>
              <a:rPr lang="en-US" sz="2400" dirty="0" err="1" smtClean="0">
                <a:latin typeface="+mj-lt"/>
              </a:rPr>
              <a:t>Larman</a:t>
            </a:r>
            <a:r>
              <a:rPr lang="en-US" sz="2400" dirty="0" smtClean="0">
                <a:latin typeface="+mj-lt"/>
              </a:rPr>
              <a:t> (</a:t>
            </a:r>
            <a:r>
              <a:rPr lang="en-US" sz="2400" dirty="0" smtClean="0"/>
              <a:t>2003).</a:t>
            </a:r>
            <a:r>
              <a:rPr lang="en-US" sz="2400" dirty="0" smtClean="0">
                <a:latin typeface="+mj-lt"/>
              </a:rPr>
              <a:t> Agile and Iterative Development: A Manager's Guide.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Development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0"/>
            <a:ext cx="47625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5181600"/>
            <a:ext cx="320171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Low-Ceremony</a:t>
            </a:r>
            <a:r>
              <a:rPr lang="en-US" sz="2800" dirty="0" smtClean="0">
                <a:latin typeface="+mj-lt"/>
              </a:rPr>
              <a:t>,</a:t>
            </a:r>
          </a:p>
          <a:p>
            <a:pPr algn="ctr"/>
            <a:r>
              <a:rPr lang="en-US" sz="2800" dirty="0" smtClean="0">
                <a:latin typeface="+mj-lt"/>
              </a:rPr>
              <a:t>Iterative Approaches</a:t>
            </a:r>
            <a:endParaRPr lang="en-US" sz="2800" dirty="0">
              <a:latin typeface="+mj-l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943600" y="1600200"/>
            <a:ext cx="2857500" cy="3495675"/>
            <a:chOff x="5943600" y="1828800"/>
            <a:chExt cx="2857500" cy="3495675"/>
          </a:xfrm>
        </p:grpSpPr>
        <p:pic>
          <p:nvPicPr>
            <p:cNvPr id="3789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8400" y="3581400"/>
              <a:ext cx="2400300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89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43600" y="1828800"/>
              <a:ext cx="2857500" cy="160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7"/>
          <p:cNvSpPr/>
          <p:nvPr/>
        </p:nvSpPr>
        <p:spPr>
          <a:xfrm>
            <a:off x="4191000" y="5257800"/>
            <a:ext cx="4724400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Our system is too complex.</a:t>
            </a:r>
          </a:p>
          <a:p>
            <a:pPr algn="ctr"/>
            <a:r>
              <a:rPr lang="en-US" sz="2800" dirty="0" smtClean="0">
                <a:latin typeface="+mj-lt"/>
              </a:rPr>
              <a:t>Our developers are not competent.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SEI CMM, SEI CMMI, ISO/IEC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5334000"/>
            <a:ext cx="367421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High Ceremony</a:t>
            </a:r>
            <a:r>
              <a:rPr lang="en-US" sz="2800" dirty="0" smtClean="0">
                <a:latin typeface="+mj-lt"/>
              </a:rPr>
              <a:t> Striving </a:t>
            </a:r>
          </a:p>
          <a:p>
            <a:pPr algn="ctr"/>
            <a:r>
              <a:rPr lang="en-US" sz="2800" dirty="0" smtClean="0">
                <a:latin typeface="+mj-lt"/>
              </a:rPr>
              <a:t>for Higher Predictability</a:t>
            </a:r>
            <a:endParaRPr lang="en-US" sz="2800" dirty="0">
              <a:latin typeface="+mj-lt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47625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5943600" y="1828800"/>
            <a:ext cx="2857500" cy="3495675"/>
            <a:chOff x="5943600" y="1828800"/>
            <a:chExt cx="2857500" cy="3495675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8400" y="3581400"/>
              <a:ext cx="2400300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43600" y="1828800"/>
              <a:ext cx="2857500" cy="160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Rectangle 9"/>
          <p:cNvSpPr/>
          <p:nvPr/>
        </p:nvSpPr>
        <p:spPr>
          <a:xfrm>
            <a:off x="4953000" y="5370493"/>
            <a:ext cx="396240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We do NOT have enough time and budget!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DOD-STD, MIL-STD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5486400"/>
            <a:ext cx="364170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High Ceremony</a:t>
            </a:r>
            <a:r>
              <a:rPr lang="en-US" sz="2800" dirty="0" smtClean="0">
                <a:latin typeface="+mj-lt"/>
              </a:rPr>
              <a:t> Striving</a:t>
            </a:r>
          </a:p>
          <a:p>
            <a:pPr algn="ctr"/>
            <a:r>
              <a:rPr lang="en-US" sz="2800" dirty="0" smtClean="0">
                <a:latin typeface="+mj-lt"/>
              </a:rPr>
              <a:t>for Higher Predictability</a:t>
            </a:r>
            <a:endParaRPr lang="en-US" sz="2800" dirty="0">
              <a:latin typeface="+mj-lt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76400"/>
            <a:ext cx="47625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5943600" y="1828800"/>
            <a:ext cx="2857500" cy="3495675"/>
            <a:chOff x="5943600" y="1828800"/>
            <a:chExt cx="2857500" cy="3495675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8400" y="3581400"/>
              <a:ext cx="2400300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43600" y="1828800"/>
              <a:ext cx="2857500" cy="160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Rectangle 9"/>
          <p:cNvSpPr/>
          <p:nvPr/>
        </p:nvSpPr>
        <p:spPr>
          <a:xfrm>
            <a:off x="4953000" y="5370493"/>
            <a:ext cx="396240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We do NOT have enough time and budget!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Rational Unified Process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6997" y="5410200"/>
            <a:ext cx="8884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An Iterative Approach with an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Adaptable Level</a:t>
            </a:r>
            <a:r>
              <a:rPr lang="en-US" sz="2800" dirty="0" smtClean="0">
                <a:latin typeface="+mj-lt"/>
              </a:rPr>
              <a:t> of Ceremony</a:t>
            </a:r>
            <a:endParaRPr lang="en-US" sz="28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690688"/>
            <a:ext cx="47625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Process Structure: Two Dimensions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600200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horizontal axis</a:t>
            </a:r>
            <a:r>
              <a:rPr lang="en-US" sz="2400" dirty="0" smtClean="0"/>
              <a:t> represents </a:t>
            </a:r>
            <a:r>
              <a:rPr lang="en-US" sz="2400" i="1" dirty="0" smtClean="0">
                <a:solidFill>
                  <a:srgbClr val="C00000"/>
                </a:solidFill>
              </a:rPr>
              <a:t>time</a:t>
            </a:r>
            <a:r>
              <a:rPr lang="en-US" sz="2400" dirty="0" smtClean="0"/>
              <a:t> and shows the lifecycle aspects of the process as it unfolds.</a:t>
            </a:r>
          </a:p>
          <a:p>
            <a:pPr lvl="1"/>
            <a:r>
              <a:rPr lang="en-US" sz="2000" dirty="0" smtClean="0"/>
              <a:t>It represents the dynamic aspect of the process as it is enacted, and it is expressed in terms of </a:t>
            </a:r>
            <a:r>
              <a:rPr lang="en-US" sz="2000" i="1" dirty="0" smtClean="0">
                <a:solidFill>
                  <a:srgbClr val="C00000"/>
                </a:solidFill>
              </a:rPr>
              <a:t>cycles</a:t>
            </a:r>
            <a:r>
              <a:rPr lang="en-US" sz="2000" dirty="0" smtClean="0"/>
              <a:t>, </a:t>
            </a:r>
            <a:r>
              <a:rPr lang="en-US" sz="2000" i="1" dirty="0" smtClean="0">
                <a:solidFill>
                  <a:srgbClr val="C00000"/>
                </a:solidFill>
              </a:rPr>
              <a:t>phases</a:t>
            </a:r>
            <a:r>
              <a:rPr lang="en-US" sz="2000" dirty="0" smtClean="0"/>
              <a:t>, </a:t>
            </a:r>
            <a:r>
              <a:rPr lang="en-US" sz="2000" i="1" dirty="0" smtClean="0">
                <a:solidFill>
                  <a:srgbClr val="C00000"/>
                </a:solidFill>
              </a:rPr>
              <a:t>iterations</a:t>
            </a:r>
            <a:r>
              <a:rPr lang="en-US" sz="2000" dirty="0" smtClean="0"/>
              <a:t>, and </a:t>
            </a:r>
            <a:r>
              <a:rPr lang="en-US" sz="2000" i="1" dirty="0" smtClean="0">
                <a:solidFill>
                  <a:srgbClr val="C00000"/>
                </a:solidFill>
              </a:rPr>
              <a:t>milestones</a:t>
            </a:r>
            <a:r>
              <a:rPr lang="en-US" sz="2000" dirty="0" smtClean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" y="3276600"/>
            <a:ext cx="47625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181600" y="28956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400" dirty="0" smtClean="0">
                <a:latin typeface="+mn-lt"/>
              </a:rPr>
              <a:t>The 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vertical axis</a:t>
            </a:r>
            <a:r>
              <a:rPr lang="en-US" sz="2400" dirty="0" smtClean="0">
                <a:latin typeface="+mn-lt"/>
              </a:rPr>
              <a:t> represents core process 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disciplines</a:t>
            </a:r>
            <a:r>
              <a:rPr lang="en-US" sz="2400" dirty="0" smtClean="0">
                <a:latin typeface="+mn-lt"/>
              </a:rPr>
              <a:t>, which group activities logically by nature.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</a:pPr>
            <a:r>
              <a:rPr lang="en-US" sz="2000" dirty="0" smtClean="0">
                <a:latin typeface="+mn-lt"/>
              </a:rPr>
              <a:t>It represents the static aspect of the process: its description in terms of process </a:t>
            </a:r>
            <a:r>
              <a:rPr lang="en-US" sz="2000" i="1" dirty="0" smtClean="0">
                <a:solidFill>
                  <a:srgbClr val="C00000"/>
                </a:solidFill>
                <a:latin typeface="+mn-lt"/>
              </a:rPr>
              <a:t>components</a:t>
            </a:r>
            <a:r>
              <a:rPr lang="en-US" sz="2000" dirty="0" smtClean="0">
                <a:latin typeface="+mn-lt"/>
              </a:rPr>
              <a:t>, </a:t>
            </a:r>
            <a:r>
              <a:rPr lang="en-US" sz="2000" i="1" dirty="0" smtClean="0">
                <a:solidFill>
                  <a:srgbClr val="C00000"/>
                </a:solidFill>
                <a:latin typeface="+mn-lt"/>
              </a:rPr>
              <a:t>activities</a:t>
            </a:r>
            <a:r>
              <a:rPr lang="en-US" sz="2000" dirty="0" smtClean="0">
                <a:latin typeface="+mn-lt"/>
              </a:rPr>
              <a:t>, </a:t>
            </a:r>
            <a:r>
              <a:rPr lang="en-US" sz="2000" i="1" dirty="0" smtClean="0">
                <a:solidFill>
                  <a:srgbClr val="C00000"/>
                </a:solidFill>
                <a:latin typeface="+mn-lt"/>
              </a:rPr>
              <a:t>disciplines</a:t>
            </a:r>
            <a:r>
              <a:rPr lang="en-US" sz="2000" dirty="0" smtClean="0">
                <a:latin typeface="+mn-lt"/>
              </a:rPr>
              <a:t>, </a:t>
            </a:r>
            <a:r>
              <a:rPr lang="en-US" sz="2000" i="1" dirty="0" smtClean="0">
                <a:solidFill>
                  <a:srgbClr val="C00000"/>
                </a:solidFill>
                <a:latin typeface="+mn-lt"/>
              </a:rPr>
              <a:t>artifacts</a:t>
            </a:r>
            <a:r>
              <a:rPr lang="en-US" sz="2000" dirty="0" smtClean="0">
                <a:latin typeface="+mn-lt"/>
              </a:rPr>
              <a:t>, and </a:t>
            </a:r>
            <a:r>
              <a:rPr lang="en-US" sz="2000" i="1" dirty="0" smtClean="0">
                <a:solidFill>
                  <a:srgbClr val="C00000"/>
                </a:solidFill>
                <a:latin typeface="+mn-lt"/>
              </a:rPr>
              <a:t>roles</a:t>
            </a:r>
            <a:r>
              <a:rPr lang="en-US" sz="2000" dirty="0" smtClean="0">
                <a:latin typeface="+mn-lt"/>
              </a:rPr>
              <a:t>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Divide the Time?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00200"/>
            <a:ext cx="47625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676" name="AutoShape 4" descr="graphics/04fig06.gif"/>
          <p:cNvSpPr>
            <a:spLocks noChangeAspect="1" noChangeArrowheads="1"/>
          </p:cNvSpPr>
          <p:nvPr/>
        </p:nvSpPr>
        <p:spPr bwMode="auto">
          <a:xfrm>
            <a:off x="63500" y="-136525"/>
            <a:ext cx="4762500" cy="1438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3048000"/>
            <a:ext cx="4762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48006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Should We Do?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447800"/>
            <a:ext cx="47625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28600" y="4876800"/>
            <a:ext cx="8610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The workflow of each iteration contains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activities</a:t>
            </a:r>
            <a:r>
              <a:rPr lang="en-US" sz="2200" dirty="0" smtClean="0">
                <a:latin typeface="+mj-lt"/>
              </a:rPr>
              <a:t> of requirements elicitation and analysis, of design and implementation, and of integration and test, not necessarily in this order.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From one iteration to the next and from one phase to the next,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emphasis</a:t>
            </a:r>
            <a:r>
              <a:rPr lang="en-US" sz="2200" dirty="0" smtClean="0">
                <a:latin typeface="+mj-lt"/>
              </a:rPr>
              <a:t> on the various activities changes.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Should We Create First?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657600"/>
            <a:ext cx="47625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85800" y="6019800"/>
            <a:ext cx="8229600" cy="76944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The use cases defined for a system are the </a:t>
            </a:r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basis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for the entire development process 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143000"/>
            <a:ext cx="43243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352800" y="1295400"/>
            <a:ext cx="5562600" cy="11079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The use-case modeling is one method of understanding and modeling the problem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recommended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by the Rational Unified Process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7650" name="Picture 2" descr="http://www.theelliottpartnership.co.uk/proble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3048000"/>
            <a:ext cx="3429000" cy="25717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Second Artifact?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95400"/>
            <a:ext cx="8229600" cy="110799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System architecture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is used in the Rational Unified Process as a primary artifact for conceptualizing, constructing, managing, and evolving the system under development.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5562600"/>
            <a:ext cx="6934200" cy="76944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Architecture is a complex concept that is best represented by multiple, coordinated architectural views.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" y="2609850"/>
            <a:ext cx="47625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3048000"/>
            <a:ext cx="286702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More Artifacts?</a:t>
            </a:r>
            <a:endParaRPr lang="en-US" dirty="0"/>
          </a:p>
        </p:txBody>
      </p:sp>
      <p:sp>
        <p:nvSpPr>
          <p:cNvPr id="2050" name="AutoShape 2" descr="graphics/09inf02.jpg"/>
          <p:cNvSpPr>
            <a:spLocks noChangeAspect="1" noChangeArrowheads="1"/>
          </p:cNvSpPr>
          <p:nvPr/>
        </p:nvSpPr>
        <p:spPr bwMode="auto">
          <a:xfrm>
            <a:off x="155575" y="-2566988"/>
            <a:ext cx="4762500" cy="53530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305800" cy="14465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artifact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a piece of information that is produced, modified, or used by a process. Artifacts are the tangible products of the project: the things the project produces or uses while working toward the final product.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2895600"/>
            <a:ext cx="3657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Artifacts are used as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input</a:t>
            </a:r>
            <a:r>
              <a:rPr lang="en-US" sz="2200" dirty="0" smtClean="0">
                <a:latin typeface="+mj-lt"/>
              </a:rPr>
              <a:t> by roles to perform an activity and are the result or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output</a:t>
            </a:r>
            <a:r>
              <a:rPr lang="en-US" sz="2200" dirty="0" smtClean="0">
                <a:latin typeface="+mj-lt"/>
              </a:rPr>
              <a:t> of such activities.</a:t>
            </a:r>
            <a:endParaRPr lang="en-US" sz="2200" dirty="0">
              <a:latin typeface="+mj-lt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819400"/>
            <a:ext cx="4343400" cy="3886200"/>
          </a:xfrm>
        </p:spPr>
        <p:txBody>
          <a:bodyPr/>
          <a:lstStyle/>
          <a:p>
            <a:r>
              <a:rPr lang="en-US" sz="2200" dirty="0" smtClean="0"/>
              <a:t>Business Vision</a:t>
            </a:r>
          </a:p>
          <a:p>
            <a:r>
              <a:rPr lang="en-US" sz="2200" dirty="0" smtClean="0"/>
              <a:t>Software Requirement</a:t>
            </a:r>
          </a:p>
          <a:p>
            <a:r>
              <a:rPr lang="en-US" sz="2200" dirty="0" smtClean="0"/>
              <a:t>Software Architecture Document</a:t>
            </a:r>
          </a:p>
          <a:p>
            <a:r>
              <a:rPr lang="en-US" sz="2200" dirty="0" smtClean="0"/>
              <a:t>Test Plan</a:t>
            </a:r>
          </a:p>
          <a:p>
            <a:r>
              <a:rPr lang="en-US" sz="2200" dirty="0" smtClean="0"/>
              <a:t>Configuration Management Plan</a:t>
            </a:r>
          </a:p>
          <a:p>
            <a:r>
              <a:rPr lang="en-US" sz="2200" dirty="0" smtClean="0"/>
              <a:t>Risk Management Plan</a:t>
            </a:r>
          </a:p>
          <a:p>
            <a:r>
              <a:rPr lang="en-US" sz="2200" dirty="0" smtClean="0"/>
              <a:t>Iteration Plan</a:t>
            </a:r>
          </a:p>
          <a:p>
            <a:r>
              <a:rPr lang="en-US" sz="2200" dirty="0" smtClean="0"/>
              <a:t>Iteration Assessment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876800"/>
            <a:ext cx="47625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Will Create the Artifacts?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76944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A </a:t>
            </a:r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role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defines the behavior and responsibilities of an individual or of a group of individuals working together as a team.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733800"/>
            <a:ext cx="47625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1000" y="2244804"/>
            <a:ext cx="82296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behavior is expressed in terms of activities the role performs</a:t>
            </a:r>
          </a:p>
          <a:p>
            <a:r>
              <a:rPr lang="en-US" sz="2200" dirty="0" smtClean="0">
                <a:latin typeface="+mj-lt"/>
              </a:rPr>
              <a:t>The responsibilities of each role are usually expressed in relation to certain artifacts that the role creates, modifies, or controls.</a:t>
            </a: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5486400" y="3733800"/>
            <a:ext cx="3276600" cy="212365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activity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a unit of work that an individual in that role may be asked to perform and that produces a meaningful result in the context of the project.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RUP 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4191000" cy="5105400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Analyst</a:t>
            </a:r>
            <a:r>
              <a:rPr lang="en-US" sz="2800" dirty="0" smtClean="0"/>
              <a:t> roles</a:t>
            </a:r>
          </a:p>
          <a:p>
            <a:pPr lvl="1"/>
            <a:r>
              <a:rPr lang="en-US" sz="2400" dirty="0" smtClean="0"/>
              <a:t>Business-Process Analyst</a:t>
            </a:r>
          </a:p>
          <a:p>
            <a:pPr lvl="1"/>
            <a:r>
              <a:rPr lang="en-US" sz="2400" dirty="0" smtClean="0"/>
              <a:t>System Analyst</a:t>
            </a:r>
          </a:p>
          <a:p>
            <a:pPr lvl="1"/>
            <a:r>
              <a:rPr lang="en-US" sz="2400" dirty="0" smtClean="0"/>
              <a:t>Requirements </a:t>
            </a:r>
            <a:r>
              <a:rPr lang="en-US" sz="2400" dirty="0" err="1" smtClean="0"/>
              <a:t>Specifier</a:t>
            </a:r>
            <a:endParaRPr lang="en-US" sz="2400" dirty="0" smtClean="0"/>
          </a:p>
          <a:p>
            <a:r>
              <a:rPr lang="en-US" sz="2800" i="1" dirty="0" smtClean="0">
                <a:solidFill>
                  <a:srgbClr val="C00000"/>
                </a:solidFill>
              </a:rPr>
              <a:t>Developer</a:t>
            </a:r>
            <a:r>
              <a:rPr lang="en-US" sz="2800" dirty="0" smtClean="0"/>
              <a:t> roles</a:t>
            </a:r>
          </a:p>
          <a:p>
            <a:pPr lvl="1"/>
            <a:r>
              <a:rPr lang="en-US" sz="2400" dirty="0" smtClean="0"/>
              <a:t>Software Architect</a:t>
            </a:r>
          </a:p>
          <a:p>
            <a:pPr lvl="1"/>
            <a:r>
              <a:rPr lang="en-US" sz="2400" dirty="0" smtClean="0"/>
              <a:t>Designer</a:t>
            </a:r>
          </a:p>
          <a:p>
            <a:pPr lvl="1"/>
            <a:r>
              <a:rPr lang="en-US" sz="2400" dirty="0" smtClean="0"/>
              <a:t>Implementer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Tester</a:t>
            </a:r>
            <a:r>
              <a:rPr lang="en-US" sz="2800" dirty="0" smtClean="0"/>
              <a:t> roles</a:t>
            </a:r>
          </a:p>
          <a:p>
            <a:pPr lvl="1"/>
            <a:r>
              <a:rPr lang="en-US" sz="2400" dirty="0" smtClean="0"/>
              <a:t>Test Designer</a:t>
            </a:r>
          </a:p>
          <a:p>
            <a:pPr lvl="1"/>
            <a:r>
              <a:rPr lang="en-US" sz="2400" dirty="0" smtClean="0"/>
              <a:t>Tester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191000" y="1371601"/>
            <a:ext cx="4876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roles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Manager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Process Engineer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Management Reviewer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Production and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support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roles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System Administrator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5029200"/>
            <a:ext cx="37719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Create An Artifact?</a:t>
            </a:r>
            <a:endParaRPr lang="en-US" dirty="0"/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4800600" y="3429000"/>
            <a:ext cx="3886200" cy="1200329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A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workflow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is a sequence of activities that produces a result of observable value.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1390650"/>
            <a:ext cx="368617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Detailed Should a Workflow Be?</a:t>
            </a:r>
            <a:endParaRPr lang="en-US" sz="4000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685800" y="5486400"/>
            <a:ext cx="7772400" cy="83099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Disciplines are natural groupings of process activities, roles, and artifacts.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47625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562600" y="2046744"/>
            <a:ext cx="3276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Core workflows</a:t>
            </a:r>
            <a:r>
              <a:rPr lang="en-US" sz="2400" dirty="0" smtClean="0">
                <a:latin typeface="+mj-lt"/>
              </a:rPr>
              <a:t>, associated to each discipline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Workflow details</a:t>
            </a:r>
            <a:r>
              <a:rPr lang="en-US" sz="2400" dirty="0" smtClean="0">
                <a:latin typeface="+mj-lt"/>
              </a:rPr>
              <a:t>, to refine the core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Iteration plans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Still Do Not Know How to Do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819400"/>
            <a:ext cx="2286000" cy="1905000"/>
          </a:xfrm>
        </p:spPr>
        <p:txBody>
          <a:bodyPr/>
          <a:lstStyle/>
          <a:p>
            <a:r>
              <a:rPr lang="en-US" sz="2400" dirty="0" smtClean="0"/>
              <a:t>Guidelines</a:t>
            </a:r>
          </a:p>
          <a:p>
            <a:r>
              <a:rPr lang="en-US" sz="2400" dirty="0" smtClean="0"/>
              <a:t>Templates</a:t>
            </a:r>
          </a:p>
          <a:p>
            <a:r>
              <a:rPr lang="en-US" sz="2400" dirty="0" smtClean="0"/>
              <a:t>Tool mentors</a:t>
            </a:r>
          </a:p>
          <a:p>
            <a:r>
              <a:rPr lang="en-US" sz="2400" dirty="0" smtClean="0"/>
              <a:t>Concepts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14600"/>
            <a:ext cx="47625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152400" y="1295400"/>
            <a:ext cx="4648200" cy="110799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Guidelines are rules, recommendations, or heuristics that support activities and steps, describe well-formed artifacts.</a:t>
            </a: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4953000" y="1295400"/>
            <a:ext cx="3886200" cy="110799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Tool mentors show you how to perform the steps using a specific software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6096000"/>
            <a:ext cx="8534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Guidelines, templates, and tool mentors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complement</a:t>
            </a:r>
            <a:r>
              <a:rPr lang="en-US" sz="2200" dirty="0" smtClean="0">
                <a:latin typeface="+mj-lt"/>
              </a:rPr>
              <a:t> the description of the process by providing detailed guidance to the practitioner.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About My Process?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3505200" cy="1969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1143000"/>
            <a:ext cx="47625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228600" y="3505200"/>
            <a:ext cx="3810000" cy="317009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The Rational Unified Process model is built on five fundamental elements: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Roles: the who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Activities: the how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Artifacts: the what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Workflows: the when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Disciplines: the "container" for the preceding four kinds of element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RUP?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Rational Unified Process is a </a:t>
            </a:r>
            <a:r>
              <a:rPr lang="en-US" sz="2400" i="1" dirty="0" smtClean="0">
                <a:solidFill>
                  <a:srgbClr val="C00000"/>
                </a:solidFill>
              </a:rPr>
              <a:t>software engineering process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It provides a disciplined approach to assigning tasks and responsibilities within a development organization.</a:t>
            </a:r>
          </a:p>
          <a:p>
            <a:endParaRPr lang="en-US" sz="2400" dirty="0" smtClean="0"/>
          </a:p>
          <a:p>
            <a:r>
              <a:rPr lang="en-US" sz="2400" dirty="0" smtClean="0"/>
              <a:t>The Rational Unified Process is a </a:t>
            </a:r>
            <a:r>
              <a:rPr lang="en-US" sz="2400" i="1" dirty="0" smtClean="0">
                <a:solidFill>
                  <a:srgbClr val="C00000"/>
                </a:solidFill>
              </a:rPr>
              <a:t>process product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It is developed and maintained by Rational Software and integrated with its suite of software development tools.</a:t>
            </a:r>
          </a:p>
          <a:p>
            <a:endParaRPr lang="en-US" sz="2400" dirty="0" smtClean="0"/>
          </a:p>
          <a:p>
            <a:r>
              <a:rPr lang="en-US" sz="2400" dirty="0" smtClean="0"/>
              <a:t>The Rational Unified Process is also a </a:t>
            </a:r>
            <a:r>
              <a:rPr lang="en-US" sz="2400" i="1" dirty="0" smtClean="0">
                <a:solidFill>
                  <a:srgbClr val="C00000"/>
                </a:solidFill>
              </a:rPr>
              <a:t>process framework</a:t>
            </a:r>
            <a:endParaRPr lang="en-US" sz="2400" dirty="0" smtClean="0"/>
          </a:p>
          <a:p>
            <a:pPr lvl="1"/>
            <a:r>
              <a:rPr lang="en-US" sz="2000" dirty="0" smtClean="0"/>
              <a:t>that can be adapted and extended to suit the needs of an adopting organization.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1143000"/>
          </a:xfrm>
        </p:spPr>
        <p:txBody>
          <a:bodyPr/>
          <a:lstStyle/>
          <a:p>
            <a:r>
              <a:rPr lang="en-US" sz="6000" dirty="0" smtClean="0"/>
              <a:t>The Project Management Discipline</a:t>
            </a:r>
            <a:endParaRPr lang="en-US" sz="60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13" y="3286125"/>
            <a:ext cx="300037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800" dirty="0" smtClean="0"/>
              <a:t>To provide a </a:t>
            </a:r>
            <a:r>
              <a:rPr lang="en-US" sz="2800" i="1" dirty="0" smtClean="0">
                <a:solidFill>
                  <a:srgbClr val="C00000"/>
                </a:solidFill>
              </a:rPr>
              <a:t>framework</a:t>
            </a:r>
            <a:r>
              <a:rPr lang="en-US" sz="2800" dirty="0" smtClean="0"/>
              <a:t> for managing software-intensive projects</a:t>
            </a:r>
          </a:p>
          <a:p>
            <a:r>
              <a:rPr lang="en-US" sz="2800" dirty="0" smtClean="0"/>
              <a:t>To provide </a:t>
            </a:r>
            <a:r>
              <a:rPr lang="en-US" sz="2800" i="1" dirty="0" smtClean="0">
                <a:solidFill>
                  <a:srgbClr val="C00000"/>
                </a:solidFill>
              </a:rPr>
              <a:t>practical guidelines</a:t>
            </a:r>
            <a:r>
              <a:rPr lang="en-US" sz="2800" dirty="0" smtClean="0"/>
              <a:t> for planning, staffing, executing, and monitoring projects</a:t>
            </a:r>
          </a:p>
          <a:p>
            <a:r>
              <a:rPr lang="en-US" sz="2800" dirty="0" smtClean="0"/>
              <a:t>To provide a framework for managing </a:t>
            </a:r>
            <a:r>
              <a:rPr lang="en-US" sz="2800" i="1" dirty="0" smtClean="0">
                <a:solidFill>
                  <a:srgbClr val="C00000"/>
                </a:solidFill>
              </a:rPr>
              <a:t>risk</a:t>
            </a:r>
          </a:p>
        </p:txBody>
      </p:sp>
      <p:pic>
        <p:nvPicPr>
          <p:cNvPr id="48130" name="Picture 2" descr="http://www.gaebler.com/images/Categories/Leadership-Best-Practic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514600"/>
            <a:ext cx="3412671" cy="2514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an Iterative Project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585913"/>
            <a:ext cx="47625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Artifacts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876425"/>
            <a:ext cx="476250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95600" y="5867400"/>
            <a:ext cx="32876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+mj-lt"/>
              </a:rPr>
              <a:t>Roles and Artifacts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in Project Management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295400"/>
            <a:ext cx="4762500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1143000"/>
          </a:xfrm>
        </p:spPr>
        <p:txBody>
          <a:bodyPr/>
          <a:lstStyle/>
          <a:p>
            <a:r>
              <a:rPr lang="en-US" sz="6000" dirty="0" smtClean="0"/>
              <a:t>The Requirements Discipline</a:t>
            </a:r>
            <a:endParaRPr lang="en-US" sz="6000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3238500"/>
            <a:ext cx="4953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800600"/>
          </a:xfrm>
        </p:spPr>
        <p:txBody>
          <a:bodyPr/>
          <a:lstStyle/>
          <a:p>
            <a:r>
              <a:rPr lang="en-US" sz="2200" dirty="0" smtClean="0"/>
              <a:t>To establish and maintain agreement with the customers and other stakeholders on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the system should do—and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!</a:t>
            </a:r>
          </a:p>
          <a:p>
            <a:r>
              <a:rPr lang="en-US" sz="2200" dirty="0" smtClean="0"/>
              <a:t>To provide system developers with a better understanding of the </a:t>
            </a:r>
            <a:r>
              <a:rPr lang="en-US" sz="2200" i="1" dirty="0" smtClean="0">
                <a:solidFill>
                  <a:srgbClr val="C00000"/>
                </a:solidFill>
              </a:rPr>
              <a:t>system requirements</a:t>
            </a:r>
          </a:p>
          <a:p>
            <a:r>
              <a:rPr lang="en-US" sz="2200" dirty="0" smtClean="0"/>
              <a:t>To define the </a:t>
            </a:r>
            <a:r>
              <a:rPr lang="en-US" sz="2200" i="1" dirty="0" smtClean="0">
                <a:solidFill>
                  <a:srgbClr val="C00000"/>
                </a:solidFill>
              </a:rPr>
              <a:t>boundaries</a:t>
            </a:r>
            <a:r>
              <a:rPr lang="en-US" sz="2200" dirty="0" smtClean="0"/>
              <a:t> of (delimit) the system</a:t>
            </a:r>
          </a:p>
          <a:p>
            <a:r>
              <a:rPr lang="en-US" sz="2200" dirty="0" smtClean="0"/>
              <a:t>To provide a basis for </a:t>
            </a:r>
            <a:r>
              <a:rPr lang="en-US" sz="2200" i="1" dirty="0" smtClean="0">
                <a:solidFill>
                  <a:srgbClr val="C00000"/>
                </a:solidFill>
              </a:rPr>
              <a:t>planning</a:t>
            </a:r>
            <a:r>
              <a:rPr lang="en-US" sz="2200" dirty="0" smtClean="0"/>
              <a:t> the technical contents of iterations</a:t>
            </a:r>
          </a:p>
          <a:p>
            <a:r>
              <a:rPr lang="en-US" sz="2200" dirty="0" smtClean="0"/>
              <a:t>To provide a basis for </a:t>
            </a:r>
            <a:r>
              <a:rPr lang="en-US" sz="2200" i="1" dirty="0" smtClean="0">
                <a:solidFill>
                  <a:srgbClr val="C00000"/>
                </a:solidFill>
              </a:rPr>
              <a:t>estimating</a:t>
            </a:r>
            <a:r>
              <a:rPr lang="en-US" sz="2200" dirty="0" smtClean="0"/>
              <a:t> cost and time to develop the system</a:t>
            </a:r>
          </a:p>
          <a:p>
            <a:r>
              <a:rPr lang="en-US" sz="2200" dirty="0" smtClean="0"/>
              <a:t>To define a </a:t>
            </a:r>
            <a:r>
              <a:rPr lang="en-US" sz="2200" i="1" dirty="0" smtClean="0">
                <a:solidFill>
                  <a:srgbClr val="C00000"/>
                </a:solidFill>
              </a:rPr>
              <a:t>user interface</a:t>
            </a:r>
            <a:r>
              <a:rPr lang="en-US" sz="2200" dirty="0" smtClean="0"/>
              <a:t> for the system, focusing on the needs and goals of the users</a:t>
            </a:r>
          </a:p>
        </p:txBody>
      </p:sp>
      <p:pic>
        <p:nvPicPr>
          <p:cNvPr id="49160" name="Picture 8" descr="http://www.dinokengscenarios.co.za/images/cartoon_purpos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438400"/>
            <a:ext cx="3124200" cy="3038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and Managing Requirements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447925"/>
            <a:ext cx="47625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Artifacts</a:t>
            </a:r>
            <a:endParaRPr lang="en-US" dirty="0"/>
          </a:p>
        </p:txBody>
      </p:sp>
      <p:pic>
        <p:nvPicPr>
          <p:cNvPr id="4" name="Picture 2" descr="http://www.ibm.com/developerworks/rational/library/apr07/santos/fig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981200"/>
            <a:ext cx="4133850" cy="3200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Workflow</a:t>
            </a:r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3650" y="1066800"/>
            <a:ext cx="40767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1143000"/>
          </a:xfrm>
        </p:spPr>
        <p:txBody>
          <a:bodyPr/>
          <a:lstStyle/>
          <a:p>
            <a:r>
              <a:rPr lang="en-US" sz="6000" dirty="0" smtClean="0"/>
              <a:t>The Implementation Discipline</a:t>
            </a:r>
            <a:endParaRPr lang="en-US" sz="6000" dirty="0"/>
          </a:p>
        </p:txBody>
      </p:sp>
      <p:pic>
        <p:nvPicPr>
          <p:cNvPr id="8194" name="Picture 2" descr="http://images.channeltimes.com/2010/11/software_implementation_sf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2766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505200"/>
          </a:xfrm>
        </p:spPr>
        <p:txBody>
          <a:bodyPr/>
          <a:lstStyle/>
          <a:p>
            <a:r>
              <a:rPr lang="en-US" sz="2600" dirty="0" smtClean="0"/>
              <a:t>To define the </a:t>
            </a:r>
            <a:r>
              <a:rPr lang="en-US" sz="2600" i="1" dirty="0" smtClean="0">
                <a:solidFill>
                  <a:srgbClr val="C00000"/>
                </a:solidFill>
              </a:rPr>
              <a:t>organization</a:t>
            </a:r>
            <a:r>
              <a:rPr lang="en-US" sz="2600" dirty="0" smtClean="0"/>
              <a:t> of the code in terms of implementation subsystems organized in layers</a:t>
            </a:r>
          </a:p>
          <a:p>
            <a:r>
              <a:rPr lang="en-US" sz="2600" dirty="0" smtClean="0"/>
              <a:t>To </a:t>
            </a:r>
            <a:r>
              <a:rPr lang="en-US" sz="2600" i="1" dirty="0" smtClean="0">
                <a:solidFill>
                  <a:srgbClr val="C00000"/>
                </a:solidFill>
              </a:rPr>
              <a:t>implement</a:t>
            </a:r>
            <a:r>
              <a:rPr lang="en-US" sz="2600" dirty="0" smtClean="0"/>
              <a:t> classes and objects in terms of components (source files, binaries, executables, and others)</a:t>
            </a:r>
          </a:p>
          <a:p>
            <a:r>
              <a:rPr lang="en-US" sz="2600" dirty="0" smtClean="0"/>
              <a:t>To </a:t>
            </a:r>
            <a:r>
              <a:rPr lang="en-US" sz="2600" i="1" dirty="0" smtClean="0">
                <a:solidFill>
                  <a:srgbClr val="C00000"/>
                </a:solidFill>
              </a:rPr>
              <a:t>test</a:t>
            </a:r>
            <a:r>
              <a:rPr lang="en-US" sz="2600" dirty="0" smtClean="0"/>
              <a:t> the developed components as units</a:t>
            </a:r>
          </a:p>
          <a:p>
            <a:r>
              <a:rPr lang="en-US" sz="2600" dirty="0" smtClean="0"/>
              <a:t>To </a:t>
            </a:r>
            <a:r>
              <a:rPr lang="en-US" sz="2600" i="1" dirty="0" smtClean="0">
                <a:solidFill>
                  <a:srgbClr val="C00000"/>
                </a:solidFill>
              </a:rPr>
              <a:t>integrate</a:t>
            </a:r>
            <a:r>
              <a:rPr lang="en-US" sz="2600" dirty="0" smtClean="0"/>
              <a:t> into an executable system the results produced by individual implementers or teams</a:t>
            </a:r>
          </a:p>
        </p:txBody>
      </p:sp>
      <p:pic>
        <p:nvPicPr>
          <p:cNvPr id="5" name="Picture 2" descr="http://t1.gstatic.com/images?q=tbn:ANd9GcSFIbnS-PGXpRiEnm7vBqKFwo96-_2NryLxdfsPWmw0q_DIXBqoY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953000"/>
            <a:ext cx="2695575" cy="16954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Artifacts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562225"/>
            <a:ext cx="47625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Workflow</a:t>
            </a:r>
            <a:endParaRPr lang="en-US" dirty="0"/>
          </a:p>
        </p:txBody>
      </p:sp>
      <p:sp>
        <p:nvSpPr>
          <p:cNvPr id="41986" name="AutoShape 2" descr="graphics/11fig02.gif"/>
          <p:cNvSpPr>
            <a:spLocks noChangeAspect="1" noChangeArrowheads="1"/>
          </p:cNvSpPr>
          <p:nvPr/>
        </p:nvSpPr>
        <p:spPr bwMode="auto">
          <a:xfrm>
            <a:off x="155575" y="-2476500"/>
            <a:ext cx="4762500" cy="51720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524000"/>
            <a:ext cx="4762500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More Disciplines?</a:t>
            </a:r>
            <a:endParaRPr lang="en-US" dirty="0"/>
          </a:p>
        </p:txBody>
      </p:sp>
      <p:pic>
        <p:nvPicPr>
          <p:cNvPr id="1026" name="Picture 2" descr="http://hodderscape.bookswarmlimited.netdna-cdn.com/wp-content/uploads/2015/02/readallthebook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2895600"/>
            <a:ext cx="2466975" cy="1857376"/>
          </a:xfrm>
          <a:prstGeom prst="rect">
            <a:avLst/>
          </a:prstGeom>
          <a:noFill/>
        </p:spPr>
      </p:pic>
      <p:pic>
        <p:nvPicPr>
          <p:cNvPr id="1028" name="Picture 4" descr="http://www.ibm.com/developerworks/rational/library/feb05/krebs/krebsfig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905000"/>
            <a:ext cx="4781550" cy="3133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http://academy.hubspot.com/Portals/137828/images/homepage-design-best-practic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286000"/>
            <a:ext cx="366299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RUP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525963"/>
          </a:xfrm>
        </p:spPr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Iterative</a:t>
            </a:r>
            <a:r>
              <a:rPr lang="en-US" sz="2600" dirty="0" smtClean="0"/>
              <a:t> development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Requirements</a:t>
            </a:r>
            <a:r>
              <a:rPr lang="en-US" sz="2600" dirty="0" smtClean="0"/>
              <a:t> management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Architecture</a:t>
            </a:r>
            <a:r>
              <a:rPr lang="en-US" sz="2600" dirty="0" smtClean="0"/>
              <a:t> and use of components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Modeling</a:t>
            </a:r>
            <a:r>
              <a:rPr lang="en-US" sz="2600" dirty="0" smtClean="0"/>
              <a:t> and the UML</a:t>
            </a:r>
          </a:p>
          <a:p>
            <a:r>
              <a:rPr lang="en-US" sz="2600" dirty="0" smtClean="0"/>
              <a:t>Configuration and </a:t>
            </a:r>
            <a:r>
              <a:rPr lang="en-US" sz="2600" i="1" dirty="0" smtClean="0">
                <a:solidFill>
                  <a:srgbClr val="C00000"/>
                </a:solidFill>
              </a:rPr>
              <a:t>change</a:t>
            </a:r>
            <a:r>
              <a:rPr lang="en-US" sz="2600" dirty="0" smtClean="0"/>
              <a:t> management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Use-Case-Driven</a:t>
            </a:r>
            <a:r>
              <a:rPr lang="en-US" sz="2600" dirty="0" smtClean="0"/>
              <a:t> development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Process</a:t>
            </a:r>
            <a:r>
              <a:rPr lang="en-US" sz="2600" dirty="0" smtClean="0"/>
              <a:t> configuration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Tools</a:t>
            </a:r>
            <a:r>
              <a:rPr lang="en-US" sz="2600" dirty="0" smtClean="0"/>
              <a:t> support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RUP Values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533400" y="1828800"/>
          <a:ext cx="54864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248400" y="2514600"/>
            <a:ext cx="21812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Pitfalls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r>
              <a:rPr lang="en-US" dirty="0" smtClean="0"/>
              <a:t>There's a lot of really good stuff here. We need to do it ALL.</a:t>
            </a:r>
          </a:p>
          <a:p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1752600"/>
            <a:ext cx="201930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11646</TotalTime>
  <Words>1170</Words>
  <Application>Microsoft Office PowerPoint</Application>
  <PresentationFormat>On-screen Show (4:3)</PresentationFormat>
  <Paragraphs>159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The Rational Unified Process</vt:lpstr>
      <vt:lpstr>Objectives</vt:lpstr>
      <vt:lpstr>Books And Reading</vt:lpstr>
      <vt:lpstr>Agile Development [1]</vt:lpstr>
      <vt:lpstr>SEI CMM, SEI CMMI, ISO/IEC</vt:lpstr>
      <vt:lpstr>DOD-STD, MIL-STD</vt:lpstr>
      <vt:lpstr>The Rational Unified Process</vt:lpstr>
      <vt:lpstr>Process Structure: Two Dimensions [2]</vt:lpstr>
      <vt:lpstr>How to Divide the Time?</vt:lpstr>
      <vt:lpstr>What Should We Do?</vt:lpstr>
      <vt:lpstr>What Should We Create First?</vt:lpstr>
      <vt:lpstr>What is the Second Artifact?</vt:lpstr>
      <vt:lpstr>Any More Artifacts?</vt:lpstr>
      <vt:lpstr>Who Will Create the Artifacts?</vt:lpstr>
      <vt:lpstr>RUP Roles</vt:lpstr>
      <vt:lpstr>How to Create An Artifact?</vt:lpstr>
      <vt:lpstr>How Detailed Should a Workflow Be?</vt:lpstr>
      <vt:lpstr>I Still Do Not Know How to Do It</vt:lpstr>
      <vt:lpstr>How About My Process?</vt:lpstr>
      <vt:lpstr>What Is the RUP?</vt:lpstr>
      <vt:lpstr>Slide 21</vt:lpstr>
      <vt:lpstr>The Project Management Discipline</vt:lpstr>
      <vt:lpstr>Purpose</vt:lpstr>
      <vt:lpstr>Planning an Iterative Project</vt:lpstr>
      <vt:lpstr>Roles and Artifacts</vt:lpstr>
      <vt:lpstr>Workflow in Project Management</vt:lpstr>
      <vt:lpstr>Slide 27</vt:lpstr>
      <vt:lpstr>The Requirements Discipline</vt:lpstr>
      <vt:lpstr>Purpose</vt:lpstr>
      <vt:lpstr>Capturing and Managing Requirements</vt:lpstr>
      <vt:lpstr>Roles and Artifacts</vt:lpstr>
      <vt:lpstr>Requirements Workflow</vt:lpstr>
      <vt:lpstr>Slide 33</vt:lpstr>
      <vt:lpstr>The Implementation Discipline</vt:lpstr>
      <vt:lpstr>Purpose</vt:lpstr>
      <vt:lpstr>Roles and Artifacts</vt:lpstr>
      <vt:lpstr>Implementation Workflow</vt:lpstr>
      <vt:lpstr>Slide 38</vt:lpstr>
      <vt:lpstr>Any More Disciplines?</vt:lpstr>
      <vt:lpstr>Slide 40</vt:lpstr>
      <vt:lpstr>RUP Practices</vt:lpstr>
      <vt:lpstr>RUP Values</vt:lpstr>
      <vt:lpstr>Pitfalls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4101</cp:revision>
  <dcterms:created xsi:type="dcterms:W3CDTF">2007-10-06T08:25:13Z</dcterms:created>
  <dcterms:modified xsi:type="dcterms:W3CDTF">2019-09-09T14:06:26Z</dcterms:modified>
</cp:coreProperties>
</file>