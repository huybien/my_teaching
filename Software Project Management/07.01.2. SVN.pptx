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54"/>
  </p:notesMasterIdLst>
  <p:sldIdLst>
    <p:sldId id="478" r:id="rId2"/>
    <p:sldId id="479" r:id="rId3"/>
    <p:sldId id="480" r:id="rId4"/>
    <p:sldId id="481" r:id="rId5"/>
    <p:sldId id="544" r:id="rId6"/>
    <p:sldId id="545" r:id="rId7"/>
    <p:sldId id="546" r:id="rId8"/>
    <p:sldId id="547" r:id="rId9"/>
    <p:sldId id="548" r:id="rId10"/>
    <p:sldId id="549" r:id="rId11"/>
    <p:sldId id="581" r:id="rId12"/>
    <p:sldId id="551" r:id="rId13"/>
    <p:sldId id="552" r:id="rId14"/>
    <p:sldId id="553" r:id="rId15"/>
    <p:sldId id="554" r:id="rId16"/>
    <p:sldId id="555" r:id="rId17"/>
    <p:sldId id="556" r:id="rId18"/>
    <p:sldId id="557" r:id="rId19"/>
    <p:sldId id="531" r:id="rId20"/>
    <p:sldId id="532" r:id="rId21"/>
    <p:sldId id="414" r:id="rId22"/>
    <p:sldId id="539" r:id="rId23"/>
    <p:sldId id="541" r:id="rId24"/>
    <p:sldId id="415" r:id="rId25"/>
    <p:sldId id="533" r:id="rId26"/>
    <p:sldId id="425" r:id="rId27"/>
    <p:sldId id="580" r:id="rId28"/>
    <p:sldId id="558" r:id="rId29"/>
    <p:sldId id="559" r:id="rId30"/>
    <p:sldId id="560" r:id="rId31"/>
    <p:sldId id="561" r:id="rId32"/>
    <p:sldId id="562" r:id="rId33"/>
    <p:sldId id="563" r:id="rId34"/>
    <p:sldId id="564" r:id="rId35"/>
    <p:sldId id="565" r:id="rId36"/>
    <p:sldId id="566" r:id="rId37"/>
    <p:sldId id="567" r:id="rId38"/>
    <p:sldId id="568" r:id="rId39"/>
    <p:sldId id="569" r:id="rId40"/>
    <p:sldId id="570" r:id="rId41"/>
    <p:sldId id="571" r:id="rId42"/>
    <p:sldId id="572" r:id="rId43"/>
    <p:sldId id="583" r:id="rId44"/>
    <p:sldId id="582" r:id="rId45"/>
    <p:sldId id="573" r:id="rId46"/>
    <p:sldId id="574" r:id="rId47"/>
    <p:sldId id="575" r:id="rId48"/>
    <p:sldId id="576" r:id="rId49"/>
    <p:sldId id="577" r:id="rId50"/>
    <p:sldId id="578" r:id="rId51"/>
    <p:sldId id="579" r:id="rId52"/>
    <p:sldId id="343" r:id="rId5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03" autoAdjust="0"/>
    <p:restoredTop sz="94667" autoAdjust="0"/>
  </p:normalViewPr>
  <p:slideViewPr>
    <p:cSldViewPr>
      <p:cViewPr>
        <p:scale>
          <a:sx n="50" d="100"/>
          <a:sy n="50" d="100"/>
        </p:scale>
        <p:origin x="-1534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D978AC-997C-4227-8BD2-20810003AE11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8077B3-611C-4D1D-AE65-7043F709506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11/20/2025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11/20/2025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11/20/2025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11/20/2025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11/20/2025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11/20/2025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visualsvn.com/server/download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tortoisesvn.net/downloads.html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subversion.apache.org/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SVN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25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88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72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72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72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72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7200" dirty="0" smtClean="0">
                <a:hlinkClick r:id="rId2"/>
              </a:rPr>
              <a:t>nhbien@fit.hcmus.edu.vn</a:t>
            </a:r>
            <a:endParaRPr lang="en-US" sz="7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562600" cy="41147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use </a:t>
            </a:r>
            <a:r>
              <a:rPr lang="en-US" sz="2400" i="1" dirty="0" err="1" smtClean="0">
                <a:solidFill>
                  <a:srgbClr val="C00000"/>
                </a:solidFill>
              </a:rPr>
              <a:t>VisualSVN</a:t>
            </a:r>
            <a:r>
              <a:rPr lang="en-US" sz="2400" i="1" dirty="0" smtClean="0">
                <a:solidFill>
                  <a:srgbClr val="C00000"/>
                </a:solidFill>
              </a:rPr>
              <a:t> Server</a:t>
            </a:r>
            <a:r>
              <a:rPr lang="en-US" sz="2400" dirty="0" smtClean="0"/>
              <a:t> and </a:t>
            </a:r>
            <a:r>
              <a:rPr lang="en-US" sz="2400" i="1" dirty="0" err="1" smtClean="0">
                <a:solidFill>
                  <a:srgbClr val="C00000"/>
                </a:solidFill>
              </a:rPr>
              <a:t>TortoiseSVN</a:t>
            </a:r>
            <a:r>
              <a:rPr lang="en-US" sz="2400" dirty="0" smtClean="0"/>
              <a:t> for automating version control tasks.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use </a:t>
            </a:r>
            <a:r>
              <a:rPr lang="en-US" sz="2400" i="1" dirty="0" smtClean="0">
                <a:solidFill>
                  <a:srgbClr val="C00000"/>
                </a:solidFill>
              </a:rPr>
              <a:t>Subversion</a:t>
            </a:r>
            <a:r>
              <a:rPr lang="en-US" sz="2400" dirty="0" smtClean="0"/>
              <a:t> for automating version control tasks.</a:t>
            </a:r>
          </a:p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245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err="1" smtClean="0"/>
              <a:t>VisualSVN</a:t>
            </a:r>
            <a:r>
              <a:rPr lang="en-US" sz="2400" dirty="0" smtClean="0"/>
              <a:t> Server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err="1" smtClean="0"/>
              <a:t>TortoiseSVN</a:t>
            </a:r>
            <a:endParaRPr lang="en-US" sz="2400" dirty="0" smtClean="0"/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Subversion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7450" y="1809750"/>
            <a:ext cx="2724150" cy="413385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5715000" cy="4724400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endParaRPr 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Download </a:t>
            </a:r>
            <a:r>
              <a:rPr lang="en-US" dirty="0" err="1" smtClean="0"/>
              <a:t>VisualSVN</a:t>
            </a:r>
            <a:r>
              <a:rPr lang="en-US" dirty="0" smtClean="0"/>
              <a:t> Server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https://www.visualsvn.com/server/download/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3270" y="2798127"/>
            <a:ext cx="7618730" cy="3069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Install </a:t>
            </a:r>
            <a:r>
              <a:rPr lang="en-US" dirty="0" err="1" smtClean="0"/>
              <a:t>VisualSVN</a:t>
            </a:r>
            <a:r>
              <a:rPr lang="en-US" dirty="0" smtClean="0"/>
              <a:t> Server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16150" y="2035175"/>
            <a:ext cx="4711700" cy="367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Select Components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27263" y="2124075"/>
            <a:ext cx="4689475" cy="3667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Select Server Configuration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27263" y="2047875"/>
            <a:ext cx="4689475" cy="3667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Select Authentication Mode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25675" y="1800225"/>
            <a:ext cx="4692650" cy="3686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Set Server URL</a:t>
            </a:r>
            <a:endParaRPr lang="en-US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67460" y="1724660"/>
            <a:ext cx="6809740" cy="4371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mtClean="0"/>
              <a:t>7. </a:t>
            </a:r>
            <a:r>
              <a:rPr lang="en-US" dirty="0" smtClean="0"/>
              <a:t>Import or Change Certificate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1850" y="2222500"/>
            <a:ext cx="7480300" cy="326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Compress all Repositories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08125" y="1838325"/>
            <a:ext cx="6127750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Copy ZIP File to New SVN Server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This ZIP file contains </a:t>
            </a:r>
            <a:r>
              <a:rPr lang="en-US" sz="2400" dirty="0" err="1" smtClean="0"/>
              <a:t>VisualSVN</a:t>
            </a:r>
            <a:r>
              <a:rPr lang="en-US" sz="2400" dirty="0" smtClean="0"/>
              <a:t> user credentials also.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79663" y="3270250"/>
            <a:ext cx="4384675" cy="175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Overwrite Repositories Folder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06688" y="2554288"/>
            <a:ext cx="3730625" cy="174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Manage Hooks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60550" y="2222500"/>
            <a:ext cx="5422900" cy="326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mtClean="0"/>
              <a:t>5. </a:t>
            </a:r>
            <a:r>
              <a:rPr lang="en-US" dirty="0" smtClean="0"/>
              <a:t>Edit a Hook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0" y="1828800"/>
            <a:ext cx="3655060" cy="40157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</a:t>
            </a:r>
            <a:r>
              <a:rPr lang="en-US" dirty="0" err="1" smtClean="0"/>
              <a:t>TortoiseSVN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https://tortoisesvn.net/downloads.html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6088" y="2498725"/>
            <a:ext cx="8251825" cy="344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Open a Repository</a:t>
            </a:r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0" y="2362200"/>
            <a:ext cx="2857500" cy="290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Create a Folder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1657350"/>
            <a:ext cx="5924550" cy="451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Create a Tag</a:t>
            </a:r>
            <a:endParaRPr lang="en-US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30475" y="1603375"/>
            <a:ext cx="4083050" cy="487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Enter a Name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solidFill>
                  <a:srgbClr val="C00000"/>
                </a:solidFill>
              </a:rPr>
              <a:t>Do NOT create the </a:t>
            </a:r>
            <a:r>
              <a:rPr lang="en-US" sz="2400" b="1" dirty="0" smtClean="0">
                <a:solidFill>
                  <a:srgbClr val="C00000"/>
                </a:solidFill>
              </a:rPr>
              <a:t>Tags/2022…</a:t>
            </a:r>
            <a:r>
              <a:rPr lang="en-US" sz="2400" dirty="0" smtClean="0">
                <a:solidFill>
                  <a:srgbClr val="C00000"/>
                </a:solidFill>
              </a:rPr>
              <a:t> folder first.</a:t>
            </a:r>
            <a:endParaRPr lang="en-US" sz="2400" dirty="0">
              <a:solidFill>
                <a:srgbClr val="C00000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70138" y="2743200"/>
            <a:ext cx="4403725" cy="317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Create a Patch</a:t>
            </a:r>
            <a:endParaRPr lang="en-US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1295400"/>
            <a:ext cx="5372100" cy="527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 smtClean="0">
                <a:solidFill>
                  <a:srgbClr val="FF0000"/>
                </a:solidFill>
              </a:rPr>
              <a:t>"not a working copy directory" Issue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/>
            <a:r>
              <a:rPr lang="en-US" sz="4800" b="1" dirty="0" smtClean="0">
                <a:solidFill>
                  <a:srgbClr val="FF0000"/>
                </a:solidFill>
              </a:rPr>
              <a:t>...XYZ "is not a working copy directory” error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"externally" remove XYZ from system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/>
              <a:t>svn</a:t>
            </a:r>
            <a:r>
              <a:rPr lang="en-US" dirty="0" smtClean="0"/>
              <a:t> cleanup (to unlock parent directory)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/>
              <a:t>svn</a:t>
            </a:r>
            <a:r>
              <a:rPr lang="en-US" dirty="0" smtClean="0"/>
              <a:t> revert XYZ (to remove "missing tag")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Check out </a:t>
            </a:r>
            <a:r>
              <a:rPr lang="en-US" dirty="0" smtClean="0"/>
              <a:t>a Single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Try </a:t>
            </a:r>
            <a:r>
              <a:rPr lang="en-US" dirty="0" err="1" smtClean="0"/>
              <a:t>svn</a:t>
            </a:r>
            <a:r>
              <a:rPr lang="en-US" dirty="0" smtClean="0"/>
              <a:t> export instead of </a:t>
            </a:r>
            <a:r>
              <a:rPr lang="en-US" dirty="0" err="1" smtClean="0"/>
              <a:t>svn</a:t>
            </a:r>
            <a:r>
              <a:rPr lang="en-US" dirty="0" smtClean="0"/>
              <a:t> checkout. That works for single files.</a:t>
            </a:r>
          </a:p>
          <a:p>
            <a:r>
              <a:rPr lang="en-US" dirty="0" smtClean="0"/>
              <a:t>The reason for the limitation is that </a:t>
            </a:r>
            <a:r>
              <a:rPr lang="en-US" b="1" dirty="0" smtClean="0">
                <a:solidFill>
                  <a:srgbClr val="FF0000"/>
                </a:solidFill>
              </a:rPr>
              <a:t>checkout creates a working copy</a:t>
            </a:r>
            <a:r>
              <a:rPr lang="en-US" dirty="0" smtClean="0"/>
              <a:t>, that contains meta-information about repository, revision, attributes, etc.</a:t>
            </a:r>
          </a:p>
          <a:p>
            <a:r>
              <a:rPr lang="en-US" dirty="0" smtClean="0"/>
              <a:t>That metadata is stored in </a:t>
            </a:r>
            <a:r>
              <a:rPr lang="en-US" b="1" dirty="0" smtClean="0">
                <a:solidFill>
                  <a:srgbClr val="FF0000"/>
                </a:solidFill>
              </a:rPr>
              <a:t>subdirectories named '.</a:t>
            </a:r>
            <a:r>
              <a:rPr lang="en-US" b="1" dirty="0" err="1" smtClean="0">
                <a:solidFill>
                  <a:srgbClr val="FF0000"/>
                </a:solidFill>
              </a:rPr>
              <a:t>svn</a:t>
            </a:r>
            <a:r>
              <a:rPr lang="en-US" b="1" dirty="0" smtClean="0">
                <a:solidFill>
                  <a:srgbClr val="FF0000"/>
                </a:solidFill>
              </a:rPr>
              <a:t>'</a:t>
            </a:r>
            <a:r>
              <a:rPr lang="en-US" dirty="0" smtClean="0"/>
              <a:t>. And single files don't have subdirectories.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Subversion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https://subversion.apache.org/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91000" y="5257800"/>
            <a:ext cx="47625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Create Repository (I)</a:t>
            </a:r>
            <a:endParaRPr lang="en-US" dirty="0"/>
          </a:p>
        </p:txBody>
      </p:sp>
      <p:sp>
        <p:nvSpPr>
          <p:cNvPr id="3" name="AutoShape 5" descr="mk:@MSITStore:D:\Teaching\Configuration%20Management\Books\Subversion-version-control-using-the-svn-control-system-in-development-projects.chm::/0131855182/images/0131855182/graphics/09fig04_alt.gif;430469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2362200"/>
            <a:ext cx="5543550" cy="339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81400" y="1447800"/>
            <a:ext cx="5172075" cy="145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Create Repository (II)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219200"/>
            <a:ext cx="6362700" cy="315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5029200"/>
            <a:ext cx="5305425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90800" y="3276600"/>
            <a:ext cx="6324600" cy="169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Commit Files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447800"/>
            <a:ext cx="4962525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24200" y="2895600"/>
            <a:ext cx="5781675" cy="176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800" y="4648200"/>
            <a:ext cx="573405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Update a Local Folder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905000"/>
            <a:ext cx="5638800" cy="134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5000" y="3505200"/>
            <a:ext cx="6343650" cy="245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Control Access to the Repository</a:t>
            </a:r>
            <a:endParaRPr lang="en-US" dirty="0"/>
          </a:p>
        </p:txBody>
      </p:sp>
      <p:pic>
        <p:nvPicPr>
          <p:cNvPr id="2969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600200"/>
            <a:ext cx="47625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0" y="3505200"/>
            <a:ext cx="6324600" cy="283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httpd.conf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752600"/>
            <a:ext cx="5991225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3657600"/>
            <a:ext cx="4762500" cy="2505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19800" y="3733800"/>
            <a:ext cx="268605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Lock a Remote File</a:t>
            </a:r>
            <a:endParaRPr 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752600"/>
            <a:ext cx="62865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38400" y="3733800"/>
            <a:ext cx="6276975" cy="120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1000" y="4953000"/>
            <a:ext cx="6315075" cy="159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Add Files to the Repository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14525" y="2638425"/>
            <a:ext cx="5705475" cy="178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8. Delete Files from the Repository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2514600"/>
            <a:ext cx="6296025" cy="176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9. Show Files Status</a:t>
            </a:r>
            <a:endParaRPr lang="en-US" dirty="0"/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2971800"/>
            <a:ext cx="5305425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10. Compare Revisions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276350"/>
            <a:ext cx="6315075" cy="268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0" y="4114800"/>
            <a:ext cx="6343650" cy="245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11. Show Revisions Difference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2438400"/>
            <a:ext cx="6267450" cy="245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12. Revert a File to the Previous Revision</a:t>
            </a:r>
            <a:endParaRPr lang="en-US" sz="38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2743200"/>
            <a:ext cx="6315075" cy="118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13. Clean Up a Folder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Consolas" pitchFamily="49" charset="0"/>
              </a:rPr>
              <a:t>svn clean </a:t>
            </a:r>
            <a:r>
              <a:rPr lang="en-US" sz="2400" dirty="0" smtClean="0">
                <a:latin typeface="Consolas" pitchFamily="49" charset="0"/>
              </a:rPr>
              <a:t>up</a:t>
            </a:r>
          </a:p>
          <a:p>
            <a:r>
              <a:rPr lang="en-US" sz="2400" dirty="0" smtClean="0">
                <a:latin typeface="Consolas" pitchFamily="49" charset="0"/>
              </a:rPr>
              <a:t># </a:t>
            </a:r>
            <a:r>
              <a:rPr lang="en-US" sz="2400" b="1" dirty="0" smtClean="0"/>
              <a:t>Pristine copies</a:t>
            </a:r>
            <a:r>
              <a:rPr lang="en-US" sz="2400" dirty="0" smtClean="0"/>
              <a:t>: SVN keeps a local “pristine” copy of every versioned file in your working copy. These are the exact versions of the files as last updated/checked out. SVN uses them to calculate differences when you do svn diff or svn status.</a:t>
            </a:r>
          </a:p>
          <a:p>
            <a:r>
              <a:rPr lang="en-US" sz="2400" b="1" dirty="0" smtClean="0"/>
              <a:t># Vacuuming</a:t>
            </a:r>
            <a:r>
              <a:rPr lang="en-US" sz="2400" dirty="0" smtClean="0"/>
              <a:t>: This removes unused or corrupted pristine copies to free up disk space. It essentially cleans the .svn/pristine directory.</a:t>
            </a:r>
            <a:endParaRPr lang="en-US" sz="24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Vacuum pristine </a:t>
            </a:r>
            <a:r>
              <a:rPr lang="en-US" dirty="0" smtClean="0"/>
              <a:t>copies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Consolas" pitchFamily="49" charset="0"/>
              </a:rPr>
              <a:t># </a:t>
            </a:r>
            <a:r>
              <a:rPr lang="en-US" sz="2400" b="1" dirty="0" smtClean="0"/>
              <a:t>Pristine copies</a:t>
            </a:r>
            <a:r>
              <a:rPr lang="en-US" sz="2400" dirty="0" smtClean="0"/>
              <a:t>: SVN keeps a local “pristine” copy of every versioned file in your working copy. These are the exact versions of the files as last updated/checked out. SVN uses them to calculate differences when you do svn diff or svn status.</a:t>
            </a:r>
          </a:p>
          <a:p>
            <a:r>
              <a:rPr lang="en-US" sz="2400" b="1" dirty="0" smtClean="0"/>
              <a:t># Vacuuming</a:t>
            </a:r>
            <a:r>
              <a:rPr lang="en-US" sz="2400" dirty="0" smtClean="0"/>
              <a:t>: This removes unused or corrupted pristine copies to free up disk space. It essentially cleans the .svn/pristine directory</a:t>
            </a:r>
            <a:r>
              <a:rPr lang="en-US" sz="2400" dirty="0" smtClean="0"/>
              <a:t>.</a:t>
            </a:r>
            <a:endParaRPr lang="en-US" sz="2400" dirty="0" smtClean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Vacuum </a:t>
            </a:r>
            <a:r>
              <a:rPr lang="en-US" smtClean="0"/>
              <a:t>pristine </a:t>
            </a:r>
            <a:r>
              <a:rPr lang="en-US" smtClean="0"/>
              <a:t>copies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When you select </a:t>
            </a:r>
            <a:r>
              <a:rPr lang="en-US" sz="2600" b="1" dirty="0" smtClean="0"/>
              <a:t>"Vacuum </a:t>
            </a:r>
            <a:r>
              <a:rPr lang="en-US" sz="2600" b="1" dirty="0" smtClean="0"/>
              <a:t>pristine </a:t>
            </a:r>
            <a:r>
              <a:rPr lang="en-US" sz="2600" b="1" dirty="0" smtClean="0"/>
              <a:t>copies"</a:t>
            </a:r>
            <a:r>
              <a:rPr lang="en-US" sz="2600" dirty="0" smtClean="0"/>
              <a:t>, </a:t>
            </a:r>
            <a:r>
              <a:rPr lang="en-US" sz="2600" dirty="0" smtClean="0"/>
              <a:t>SVN will:</a:t>
            </a:r>
          </a:p>
          <a:p>
            <a:pPr lvl="1"/>
            <a:r>
              <a:rPr lang="en-US" sz="2200" dirty="0" smtClean="0"/>
              <a:t>Delete any pristine copies that are no longer needed (for example, if the file hasn’t changed since the last update).</a:t>
            </a:r>
          </a:p>
          <a:p>
            <a:pPr lvl="1"/>
            <a:r>
              <a:rPr lang="en-US" sz="2200" dirty="0" smtClean="0"/>
              <a:t>Reduce disk usage in your working copy.</a:t>
            </a:r>
          </a:p>
          <a:p>
            <a:pPr lvl="1"/>
            <a:r>
              <a:rPr lang="en-US" sz="2200" dirty="0" smtClean="0"/>
              <a:t>Potentially fix issues with corrupted pristine files that might prevent commits, updates, or </a:t>
            </a:r>
            <a:r>
              <a:rPr lang="en-US" sz="2200" dirty="0" err="1" smtClean="0"/>
              <a:t>diffs</a:t>
            </a:r>
            <a:r>
              <a:rPr lang="en-US" sz="2200" dirty="0" smtClean="0"/>
              <a:t>.</a:t>
            </a:r>
          </a:p>
          <a:p>
            <a:r>
              <a:rPr lang="en-US" sz="2600" dirty="0" smtClean="0"/>
              <a:t>This does not remove your actual working files or modifications, only the internal pristine copies SVN uses</a:t>
            </a:r>
            <a:r>
              <a:rPr lang="en-US" sz="2600" dirty="0" smtClean="0"/>
              <a:t>.</a:t>
            </a:r>
          </a:p>
          <a:p>
            <a:r>
              <a:rPr lang="en-US" sz="2600" dirty="0" smtClean="0"/>
              <a:t>After </a:t>
            </a:r>
            <a:r>
              <a:rPr lang="en-US" sz="2600" dirty="0" smtClean="0"/>
              <a:t>vacuuming, SVN can regenerate them if needed, but doing so may slightly slow down the next diff or status operation until the copies are rebuilt.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14. Resolve Conflicts (I)</a:t>
            </a:r>
            <a:endParaRPr lang="en-US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381125"/>
            <a:ext cx="6343650" cy="117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4686300"/>
            <a:ext cx="2743200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8000" y="4762500"/>
            <a:ext cx="2543175" cy="171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04938" y="2628900"/>
            <a:ext cx="6334125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715000" y="4686300"/>
            <a:ext cx="3057525" cy="141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14. Resolve Conflicts (II)</a:t>
            </a:r>
            <a:endParaRPr lang="en-US" dirty="0"/>
          </a:p>
        </p:txBody>
      </p:sp>
      <p:pic>
        <p:nvPicPr>
          <p:cNvPr id="4" name="Picture 1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524000"/>
            <a:ext cx="6238875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10200" y="3067050"/>
            <a:ext cx="2819400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19200" y="4333875"/>
            <a:ext cx="6334125" cy="199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15. Create Tag/Branch (I)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409700"/>
            <a:ext cx="6334125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38400" y="3971925"/>
            <a:ext cx="6324600" cy="258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15. Create Tag/Branch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 err="1" smtClean="0">
                <a:latin typeface="Consolas" pitchFamily="49" charset="0"/>
              </a:rPr>
              <a:t>svn</a:t>
            </a:r>
            <a:r>
              <a:rPr lang="en-US" sz="1800" b="1" dirty="0" smtClean="0">
                <a:latin typeface="Consolas" pitchFamily="49" charset="0"/>
              </a:rPr>
              <a:t> copy "https://example.com:8443/svn/[ProjectName]/Source" "https://example.com:8443/svn/[ProjectName]/Tags/2019-05-13 Prior Patient Connect" -m "2019-05-13 Prior Patient Connect“</a:t>
            </a:r>
          </a:p>
          <a:p>
            <a:endParaRPr lang="en-US" sz="1800" b="1" dirty="0" smtClean="0">
              <a:latin typeface="Consolas" pitchFamily="49" charset="0"/>
            </a:endParaRPr>
          </a:p>
          <a:p>
            <a:r>
              <a:rPr lang="en-US" sz="1800" b="1" dirty="0" err="1" smtClean="0">
                <a:latin typeface="Consolas" pitchFamily="49" charset="0"/>
              </a:rPr>
              <a:t>svn</a:t>
            </a:r>
            <a:r>
              <a:rPr lang="en-US" sz="1800" b="1" dirty="0" smtClean="0">
                <a:latin typeface="Consolas" pitchFamily="49" charset="0"/>
              </a:rPr>
              <a:t> copy "https://example.com:8443/svn/NCM5/Source" "https://example.com:8443/svn/NCM5/Tags/2019-05-13 Prior Patient Connect" -m "2019-05-13 Prior Patient Connect"</a:t>
            </a:r>
            <a:endParaRPr lang="en-US" sz="1800" b="1" dirty="0">
              <a:latin typeface="Consolas" pitchFamily="49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4191000"/>
            <a:ext cx="5118100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16. Switch to a Branch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371600"/>
            <a:ext cx="6343650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1200" y="2895600"/>
            <a:ext cx="6315075" cy="162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1000" y="4648200"/>
            <a:ext cx="5676900" cy="183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17. Merge a Branch into Trunk (I)</a:t>
            </a:r>
            <a:endParaRPr lang="en-US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657350"/>
            <a:ext cx="4019550" cy="268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4619625"/>
            <a:ext cx="6305550" cy="162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24400" y="1685925"/>
            <a:ext cx="4000500" cy="120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17. Merge a Branch into Trunk (II)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90650" y="1852613"/>
            <a:ext cx="6362700" cy="315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8314</TotalTime>
  <Words>747</Words>
  <Application>Microsoft Office PowerPoint</Application>
  <PresentationFormat>On-screen Show (4:3)</PresentationFormat>
  <Paragraphs>87</Paragraphs>
  <Slides>52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3" baseType="lpstr">
      <vt:lpstr>Office Theme</vt:lpstr>
      <vt:lpstr>SVN</vt:lpstr>
      <vt:lpstr>Objectives</vt:lpstr>
      <vt:lpstr>Contents</vt:lpstr>
      <vt:lpstr>References</vt:lpstr>
      <vt:lpstr>1. Download VisualSVN Server</vt:lpstr>
      <vt:lpstr>2. Install VisualSVN Server</vt:lpstr>
      <vt:lpstr>3. Select Components</vt:lpstr>
      <vt:lpstr>4. Select Server Configuration</vt:lpstr>
      <vt:lpstr>5. Select Authentication Mode</vt:lpstr>
      <vt:lpstr>6. Set Server URL</vt:lpstr>
      <vt:lpstr>7. Import or Change Certificate</vt:lpstr>
      <vt:lpstr>Slide 12</vt:lpstr>
      <vt:lpstr>1. Compress all Repositories</vt:lpstr>
      <vt:lpstr>2. Copy ZIP File to New SVN Server</vt:lpstr>
      <vt:lpstr>3. Overwrite Repositories Folder</vt:lpstr>
      <vt:lpstr>4. Manage Hooks</vt:lpstr>
      <vt:lpstr>5. Edit a Hook</vt:lpstr>
      <vt:lpstr>Slide 18</vt:lpstr>
      <vt:lpstr>1. Install TortoiseSVN</vt:lpstr>
      <vt:lpstr>2. Open a Repository</vt:lpstr>
      <vt:lpstr>3. Create a Folder</vt:lpstr>
      <vt:lpstr>4. Create a Tag</vt:lpstr>
      <vt:lpstr>5. Enter a Name</vt:lpstr>
      <vt:lpstr>6. Create a Patch</vt:lpstr>
      <vt:lpstr>"not a working copy directory" Issue</vt:lpstr>
      <vt:lpstr>Check out a Single File</vt:lpstr>
      <vt:lpstr>Slide 27</vt:lpstr>
      <vt:lpstr>1. Install Subversion</vt:lpstr>
      <vt:lpstr>2. Create Repository (I)</vt:lpstr>
      <vt:lpstr>2. Create Repository (II)</vt:lpstr>
      <vt:lpstr>3. Commit Files</vt:lpstr>
      <vt:lpstr>4. Update a Local Folder</vt:lpstr>
      <vt:lpstr>5. Control Access to the Repository</vt:lpstr>
      <vt:lpstr>httpd.conf</vt:lpstr>
      <vt:lpstr>6. Lock a Remote File</vt:lpstr>
      <vt:lpstr>7. Add Files to the Repository</vt:lpstr>
      <vt:lpstr>8. Delete Files from the Repository</vt:lpstr>
      <vt:lpstr>9. Show Files Status</vt:lpstr>
      <vt:lpstr>10. Compare Revisions</vt:lpstr>
      <vt:lpstr>11. Show Revisions Difference</vt:lpstr>
      <vt:lpstr>12. Revert a File to the Previous Revision</vt:lpstr>
      <vt:lpstr>13. Clean Up a Folder</vt:lpstr>
      <vt:lpstr>Vacuum pristine copies (I)</vt:lpstr>
      <vt:lpstr>Vacuum pristine copies (II)</vt:lpstr>
      <vt:lpstr>14. Resolve Conflicts (I)</vt:lpstr>
      <vt:lpstr>14. Resolve Conflicts (II)</vt:lpstr>
      <vt:lpstr>15. Create Tag/Branch (I)</vt:lpstr>
      <vt:lpstr>15. Create Tag/Branch (II)</vt:lpstr>
      <vt:lpstr>16. Switch to a Branch</vt:lpstr>
      <vt:lpstr>17. Merge a Branch into Trunk (I)</vt:lpstr>
      <vt:lpstr>17. Merge a Branch into Trunk (II)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3524</cp:revision>
  <dcterms:created xsi:type="dcterms:W3CDTF">2007-10-06T08:25:13Z</dcterms:created>
  <dcterms:modified xsi:type="dcterms:W3CDTF">2025-11-19T19:12:07Z</dcterms:modified>
</cp:coreProperties>
</file>