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25"/>
  </p:notesMasterIdLst>
  <p:handoutMasterIdLst>
    <p:handoutMasterId r:id="rId26"/>
  </p:handoutMasterIdLst>
  <p:sldIdLst>
    <p:sldId id="256" r:id="rId2"/>
    <p:sldId id="443" r:id="rId3"/>
    <p:sldId id="444" r:id="rId4"/>
    <p:sldId id="480" r:id="rId5"/>
    <p:sldId id="489" r:id="rId6"/>
    <p:sldId id="455" r:id="rId7"/>
    <p:sldId id="509" r:id="rId8"/>
    <p:sldId id="491" r:id="rId9"/>
    <p:sldId id="451" r:id="rId10"/>
    <p:sldId id="510" r:id="rId11"/>
    <p:sldId id="456" r:id="rId12"/>
    <p:sldId id="492" r:id="rId13"/>
    <p:sldId id="425" r:id="rId14"/>
    <p:sldId id="440" r:id="rId15"/>
    <p:sldId id="511" r:id="rId16"/>
    <p:sldId id="498" r:id="rId17"/>
    <p:sldId id="499" r:id="rId18"/>
    <p:sldId id="500" r:id="rId19"/>
    <p:sldId id="501" r:id="rId20"/>
    <p:sldId id="502" r:id="rId21"/>
    <p:sldId id="504" r:id="rId22"/>
    <p:sldId id="512" r:id="rId23"/>
    <p:sldId id="343"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01" autoAdjust="0"/>
    <p:restoredTop sz="94667" autoAdjust="0"/>
  </p:normalViewPr>
  <p:slideViewPr>
    <p:cSldViewPr>
      <p:cViewPr>
        <p:scale>
          <a:sx n="50" d="100"/>
          <a:sy n="50" d="100"/>
        </p:scale>
        <p:origin x="-148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D6717D-20AA-4082-A4CC-C7533F7002B2}"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3405AFAB-F522-47C9-BD3F-F8734CB7B9C5}">
      <dgm:prSet phldrT="[Text]" custT="1"/>
      <dgm:spPr>
        <a:solidFill>
          <a:schemeClr val="accent2"/>
        </a:solidFill>
      </dgm:spPr>
      <dgm:t>
        <a:bodyPr/>
        <a:lstStyle/>
        <a:p>
          <a:r>
            <a:rPr lang="en-US" sz="1800" dirty="0" smtClean="0"/>
            <a:t>Process</a:t>
          </a:r>
          <a:endParaRPr lang="en-US" sz="1800" dirty="0"/>
        </a:p>
      </dgm:t>
    </dgm:pt>
    <dgm:pt modelId="{24B74581-09EF-49A8-85AF-B2F4D2C7A258}" type="parTrans" cxnId="{6111F4F9-7F82-45A9-B9E6-2FD499012E81}">
      <dgm:prSet/>
      <dgm:spPr/>
      <dgm:t>
        <a:bodyPr/>
        <a:lstStyle/>
        <a:p>
          <a:endParaRPr lang="en-US"/>
        </a:p>
      </dgm:t>
    </dgm:pt>
    <dgm:pt modelId="{26281582-F4E0-4723-A631-04D88B88B490}" type="sibTrans" cxnId="{6111F4F9-7F82-45A9-B9E6-2FD499012E81}">
      <dgm:prSet/>
      <dgm:spPr/>
      <dgm:t>
        <a:bodyPr/>
        <a:lstStyle/>
        <a:p>
          <a:endParaRPr lang="en-US"/>
        </a:p>
      </dgm:t>
    </dgm:pt>
    <dgm:pt modelId="{1C402D2C-F8D1-4FCC-B1B4-87FB787897DF}">
      <dgm:prSet phldrT="[Text]" custT="1"/>
      <dgm:spPr/>
      <dgm:t>
        <a:bodyPr/>
        <a:lstStyle/>
        <a:p>
          <a:r>
            <a:rPr lang="en-US" sz="1800" dirty="0" smtClean="0"/>
            <a:t>Training</a:t>
          </a:r>
          <a:endParaRPr lang="en-US" sz="1800" dirty="0"/>
        </a:p>
      </dgm:t>
    </dgm:pt>
    <dgm:pt modelId="{CD4E800D-7D6C-4C9E-A55F-8700E6D2E222}" type="parTrans" cxnId="{2A34DE9F-A724-471E-B1FA-1805A1801A9B}">
      <dgm:prSet/>
      <dgm:spPr/>
      <dgm:t>
        <a:bodyPr/>
        <a:lstStyle/>
        <a:p>
          <a:endParaRPr lang="en-US"/>
        </a:p>
      </dgm:t>
    </dgm:pt>
    <dgm:pt modelId="{E4A5E521-AC5C-4262-96C2-8A123FEBB4BE}" type="sibTrans" cxnId="{2A34DE9F-A724-471E-B1FA-1805A1801A9B}">
      <dgm:prSet/>
      <dgm:spPr/>
      <dgm:t>
        <a:bodyPr/>
        <a:lstStyle/>
        <a:p>
          <a:endParaRPr lang="en-US"/>
        </a:p>
      </dgm:t>
    </dgm:pt>
    <dgm:pt modelId="{93783CA1-0811-4516-9DBD-085FC34F8FE8}">
      <dgm:prSet phldrT="[Text]" custT="1"/>
      <dgm:spPr>
        <a:solidFill>
          <a:schemeClr val="accent3"/>
        </a:solidFill>
      </dgm:spPr>
      <dgm:t>
        <a:bodyPr/>
        <a:lstStyle/>
        <a:p>
          <a:r>
            <a:rPr lang="en-US" sz="1800" dirty="0" smtClean="0"/>
            <a:t>Money</a:t>
          </a:r>
          <a:endParaRPr lang="en-US" sz="1800" dirty="0"/>
        </a:p>
      </dgm:t>
    </dgm:pt>
    <dgm:pt modelId="{8EF22F68-6E1D-443F-A509-0154465876D3}" type="parTrans" cxnId="{AA399ACD-BA30-4AFD-B38E-937A715F21EE}">
      <dgm:prSet/>
      <dgm:spPr/>
      <dgm:t>
        <a:bodyPr/>
        <a:lstStyle/>
        <a:p>
          <a:endParaRPr lang="en-US"/>
        </a:p>
      </dgm:t>
    </dgm:pt>
    <dgm:pt modelId="{2F60FC66-3761-4438-A600-E8D055299149}" type="sibTrans" cxnId="{AA399ACD-BA30-4AFD-B38E-937A715F21EE}">
      <dgm:prSet/>
      <dgm:spPr/>
      <dgm:t>
        <a:bodyPr/>
        <a:lstStyle/>
        <a:p>
          <a:endParaRPr lang="en-US"/>
        </a:p>
      </dgm:t>
    </dgm:pt>
    <dgm:pt modelId="{65746382-84D9-457B-BFDD-43F4FB391F96}">
      <dgm:prSet phldrT="[Text]" custT="1"/>
      <dgm:spPr>
        <a:solidFill>
          <a:schemeClr val="accent4"/>
        </a:solidFill>
      </dgm:spPr>
      <dgm:t>
        <a:bodyPr/>
        <a:lstStyle/>
        <a:p>
          <a:r>
            <a:rPr lang="en-US" sz="1800" dirty="0" smtClean="0"/>
            <a:t>Skilled people</a:t>
          </a:r>
          <a:endParaRPr lang="en-US" sz="1800" dirty="0"/>
        </a:p>
      </dgm:t>
    </dgm:pt>
    <dgm:pt modelId="{6689DF45-E09D-4FD1-A202-4AD39FF16273}" type="parTrans" cxnId="{95B63D6F-596D-4ABF-A622-1C68C290F3EA}">
      <dgm:prSet/>
      <dgm:spPr/>
      <dgm:t>
        <a:bodyPr/>
        <a:lstStyle/>
        <a:p>
          <a:endParaRPr lang="en-US"/>
        </a:p>
      </dgm:t>
    </dgm:pt>
    <dgm:pt modelId="{A6C47287-61E1-4802-8B27-1F0B78074582}" type="sibTrans" cxnId="{95B63D6F-596D-4ABF-A622-1C68C290F3EA}">
      <dgm:prSet/>
      <dgm:spPr/>
      <dgm:t>
        <a:bodyPr/>
        <a:lstStyle/>
        <a:p>
          <a:endParaRPr lang="en-US"/>
        </a:p>
      </dgm:t>
    </dgm:pt>
    <dgm:pt modelId="{0AC642D4-70F6-4BB2-9105-432601F68A59}">
      <dgm:prSet phldrT="[Text]" custT="1"/>
      <dgm:spPr>
        <a:solidFill>
          <a:schemeClr val="accent5"/>
        </a:solidFill>
      </dgm:spPr>
      <dgm:t>
        <a:bodyPr/>
        <a:lstStyle/>
        <a:p>
          <a:r>
            <a:rPr lang="en-US" sz="1800" dirty="0" smtClean="0"/>
            <a:t>Proper tools</a:t>
          </a:r>
          <a:endParaRPr lang="en-US" sz="1800" dirty="0"/>
        </a:p>
      </dgm:t>
    </dgm:pt>
    <dgm:pt modelId="{B1600C6D-EFF6-41F8-9436-28D51058C817}" type="parTrans" cxnId="{EBE93801-21CC-4263-AF32-14607D9026F9}">
      <dgm:prSet/>
      <dgm:spPr/>
      <dgm:t>
        <a:bodyPr/>
        <a:lstStyle/>
        <a:p>
          <a:endParaRPr lang="en-US"/>
        </a:p>
      </dgm:t>
    </dgm:pt>
    <dgm:pt modelId="{D6380E9C-44DE-481C-A416-C214FA572187}" type="sibTrans" cxnId="{EBE93801-21CC-4263-AF32-14607D9026F9}">
      <dgm:prSet/>
      <dgm:spPr/>
      <dgm:t>
        <a:bodyPr/>
        <a:lstStyle/>
        <a:p>
          <a:endParaRPr lang="en-US"/>
        </a:p>
      </dgm:t>
    </dgm:pt>
    <dgm:pt modelId="{596FD411-8D84-40E9-A940-4DB6B332B8FA}">
      <dgm:prSet phldrT="[Text]" custT="1"/>
      <dgm:spPr>
        <a:solidFill>
          <a:schemeClr val="accent6"/>
        </a:solidFill>
      </dgm:spPr>
      <dgm:t>
        <a:bodyPr/>
        <a:lstStyle/>
        <a:p>
          <a:r>
            <a:rPr lang="en-US" sz="1800" dirty="0" smtClean="0"/>
            <a:t>Management commitment</a:t>
          </a:r>
          <a:endParaRPr lang="en-US" sz="1800" dirty="0"/>
        </a:p>
      </dgm:t>
    </dgm:pt>
    <dgm:pt modelId="{E5758C4C-234C-4B6C-B0EA-11721A7D62F0}" type="parTrans" cxnId="{77F44C01-1021-43DF-917B-E9582D4FDBAF}">
      <dgm:prSet/>
      <dgm:spPr/>
      <dgm:t>
        <a:bodyPr/>
        <a:lstStyle/>
        <a:p>
          <a:endParaRPr lang="en-US"/>
        </a:p>
      </dgm:t>
    </dgm:pt>
    <dgm:pt modelId="{07472F5F-4286-4DA4-9317-A6A8EE719087}" type="sibTrans" cxnId="{77F44C01-1021-43DF-917B-E9582D4FDBAF}">
      <dgm:prSet/>
      <dgm:spPr/>
      <dgm:t>
        <a:bodyPr/>
        <a:lstStyle/>
        <a:p>
          <a:endParaRPr lang="en-US"/>
        </a:p>
      </dgm:t>
    </dgm:pt>
    <dgm:pt modelId="{6738CD00-9CB1-4FDC-B116-616921140A9D}" type="pres">
      <dgm:prSet presAssocID="{20D6717D-20AA-4082-A4CC-C7533F7002B2}" presName="Name0" presStyleCnt="0">
        <dgm:presLayoutVars>
          <dgm:chMax val="1"/>
          <dgm:dir/>
          <dgm:animLvl val="ctr"/>
          <dgm:resizeHandles val="exact"/>
        </dgm:presLayoutVars>
      </dgm:prSet>
      <dgm:spPr/>
      <dgm:t>
        <a:bodyPr/>
        <a:lstStyle/>
        <a:p>
          <a:endParaRPr lang="en-US"/>
        </a:p>
      </dgm:t>
    </dgm:pt>
    <dgm:pt modelId="{0637435A-3221-478C-ABD0-EC779D068B4D}" type="pres">
      <dgm:prSet presAssocID="{3405AFAB-F522-47C9-BD3F-F8734CB7B9C5}" presName="centerShape" presStyleLbl="node0" presStyleIdx="0" presStyleCnt="1"/>
      <dgm:spPr/>
      <dgm:t>
        <a:bodyPr/>
        <a:lstStyle/>
        <a:p>
          <a:endParaRPr lang="en-US"/>
        </a:p>
      </dgm:t>
    </dgm:pt>
    <dgm:pt modelId="{EECA4BBD-A03B-402C-8C05-8C3DBFB078A9}" type="pres">
      <dgm:prSet presAssocID="{1C402D2C-F8D1-4FCC-B1B4-87FB787897DF}" presName="node" presStyleLbl="node1" presStyleIdx="0" presStyleCnt="5">
        <dgm:presLayoutVars>
          <dgm:bulletEnabled val="1"/>
        </dgm:presLayoutVars>
      </dgm:prSet>
      <dgm:spPr/>
      <dgm:t>
        <a:bodyPr/>
        <a:lstStyle/>
        <a:p>
          <a:endParaRPr lang="en-US"/>
        </a:p>
      </dgm:t>
    </dgm:pt>
    <dgm:pt modelId="{30DF4814-2F7F-4461-BD0D-632C3D706E2A}" type="pres">
      <dgm:prSet presAssocID="{1C402D2C-F8D1-4FCC-B1B4-87FB787897DF}" presName="dummy" presStyleCnt="0"/>
      <dgm:spPr/>
    </dgm:pt>
    <dgm:pt modelId="{D03BFF96-33A6-4404-82E7-F03FDF00C9F4}" type="pres">
      <dgm:prSet presAssocID="{E4A5E521-AC5C-4262-96C2-8A123FEBB4BE}" presName="sibTrans" presStyleLbl="sibTrans2D1" presStyleIdx="0" presStyleCnt="5"/>
      <dgm:spPr/>
      <dgm:t>
        <a:bodyPr/>
        <a:lstStyle/>
        <a:p>
          <a:endParaRPr lang="en-US"/>
        </a:p>
      </dgm:t>
    </dgm:pt>
    <dgm:pt modelId="{A4B779E2-B5FF-45CC-B528-23BC93F1FA49}" type="pres">
      <dgm:prSet presAssocID="{93783CA1-0811-4516-9DBD-085FC34F8FE8}" presName="node" presStyleLbl="node1" presStyleIdx="1" presStyleCnt="5">
        <dgm:presLayoutVars>
          <dgm:bulletEnabled val="1"/>
        </dgm:presLayoutVars>
      </dgm:prSet>
      <dgm:spPr/>
      <dgm:t>
        <a:bodyPr/>
        <a:lstStyle/>
        <a:p>
          <a:endParaRPr lang="en-US"/>
        </a:p>
      </dgm:t>
    </dgm:pt>
    <dgm:pt modelId="{79136C73-2472-4955-934B-3FF16074C749}" type="pres">
      <dgm:prSet presAssocID="{93783CA1-0811-4516-9DBD-085FC34F8FE8}" presName="dummy" presStyleCnt="0"/>
      <dgm:spPr/>
    </dgm:pt>
    <dgm:pt modelId="{B4F58D13-881F-48E0-A4CD-B500E1190BF0}" type="pres">
      <dgm:prSet presAssocID="{2F60FC66-3761-4438-A600-E8D055299149}" presName="sibTrans" presStyleLbl="sibTrans2D1" presStyleIdx="1" presStyleCnt="5"/>
      <dgm:spPr/>
      <dgm:t>
        <a:bodyPr/>
        <a:lstStyle/>
        <a:p>
          <a:endParaRPr lang="en-US"/>
        </a:p>
      </dgm:t>
    </dgm:pt>
    <dgm:pt modelId="{85F94C54-9CA6-4AE1-BA93-9E13BD5B8A90}" type="pres">
      <dgm:prSet presAssocID="{65746382-84D9-457B-BFDD-43F4FB391F96}" presName="node" presStyleLbl="node1" presStyleIdx="2" presStyleCnt="5">
        <dgm:presLayoutVars>
          <dgm:bulletEnabled val="1"/>
        </dgm:presLayoutVars>
      </dgm:prSet>
      <dgm:spPr/>
      <dgm:t>
        <a:bodyPr/>
        <a:lstStyle/>
        <a:p>
          <a:endParaRPr lang="en-US"/>
        </a:p>
      </dgm:t>
    </dgm:pt>
    <dgm:pt modelId="{F61681E9-458E-4639-8C15-AA6737A8E0A3}" type="pres">
      <dgm:prSet presAssocID="{65746382-84D9-457B-BFDD-43F4FB391F96}" presName="dummy" presStyleCnt="0"/>
      <dgm:spPr/>
    </dgm:pt>
    <dgm:pt modelId="{C1CE9904-86CC-43EB-BC68-FF0A597C8CC4}" type="pres">
      <dgm:prSet presAssocID="{A6C47287-61E1-4802-8B27-1F0B78074582}" presName="sibTrans" presStyleLbl="sibTrans2D1" presStyleIdx="2" presStyleCnt="5"/>
      <dgm:spPr/>
      <dgm:t>
        <a:bodyPr/>
        <a:lstStyle/>
        <a:p>
          <a:endParaRPr lang="en-US"/>
        </a:p>
      </dgm:t>
    </dgm:pt>
    <dgm:pt modelId="{C60FFB3C-6E82-41DC-AE41-0839DFE266BF}" type="pres">
      <dgm:prSet presAssocID="{0AC642D4-70F6-4BB2-9105-432601F68A59}" presName="node" presStyleLbl="node1" presStyleIdx="3" presStyleCnt="5">
        <dgm:presLayoutVars>
          <dgm:bulletEnabled val="1"/>
        </dgm:presLayoutVars>
      </dgm:prSet>
      <dgm:spPr/>
      <dgm:t>
        <a:bodyPr/>
        <a:lstStyle/>
        <a:p>
          <a:endParaRPr lang="en-US"/>
        </a:p>
      </dgm:t>
    </dgm:pt>
    <dgm:pt modelId="{B5A1B812-D357-4D29-B1BF-A311917F3C04}" type="pres">
      <dgm:prSet presAssocID="{0AC642D4-70F6-4BB2-9105-432601F68A59}" presName="dummy" presStyleCnt="0"/>
      <dgm:spPr/>
    </dgm:pt>
    <dgm:pt modelId="{530A551D-3706-4781-AC9D-586DEC452FA4}" type="pres">
      <dgm:prSet presAssocID="{D6380E9C-44DE-481C-A416-C214FA572187}" presName="sibTrans" presStyleLbl="sibTrans2D1" presStyleIdx="3" presStyleCnt="5"/>
      <dgm:spPr/>
      <dgm:t>
        <a:bodyPr/>
        <a:lstStyle/>
        <a:p>
          <a:endParaRPr lang="en-US"/>
        </a:p>
      </dgm:t>
    </dgm:pt>
    <dgm:pt modelId="{E02DEB49-C15C-43BE-B170-BE5DA636BD95}" type="pres">
      <dgm:prSet presAssocID="{596FD411-8D84-40E9-A940-4DB6B332B8FA}" presName="node" presStyleLbl="node1" presStyleIdx="4" presStyleCnt="5" custScaleX="150374" custScaleY="134764">
        <dgm:presLayoutVars>
          <dgm:bulletEnabled val="1"/>
        </dgm:presLayoutVars>
      </dgm:prSet>
      <dgm:spPr/>
      <dgm:t>
        <a:bodyPr/>
        <a:lstStyle/>
        <a:p>
          <a:endParaRPr lang="en-US"/>
        </a:p>
      </dgm:t>
    </dgm:pt>
    <dgm:pt modelId="{86367D4A-3F16-434E-AFA1-009D43010B4F}" type="pres">
      <dgm:prSet presAssocID="{596FD411-8D84-40E9-A940-4DB6B332B8FA}" presName="dummy" presStyleCnt="0"/>
      <dgm:spPr/>
    </dgm:pt>
    <dgm:pt modelId="{9BC3B400-5DDF-431D-913A-648985F37E6C}" type="pres">
      <dgm:prSet presAssocID="{07472F5F-4286-4DA4-9317-A6A8EE719087}" presName="sibTrans" presStyleLbl="sibTrans2D1" presStyleIdx="4" presStyleCnt="5"/>
      <dgm:spPr/>
      <dgm:t>
        <a:bodyPr/>
        <a:lstStyle/>
        <a:p>
          <a:endParaRPr lang="en-US"/>
        </a:p>
      </dgm:t>
    </dgm:pt>
  </dgm:ptLst>
  <dgm:cxnLst>
    <dgm:cxn modelId="{DF560953-AD4B-48AF-AA5E-1121559AFAB8}" type="presOf" srcId="{D6380E9C-44DE-481C-A416-C214FA572187}" destId="{530A551D-3706-4781-AC9D-586DEC452FA4}" srcOrd="0" destOrd="0" presId="urn:microsoft.com/office/officeart/2005/8/layout/radial6"/>
    <dgm:cxn modelId="{77F44C01-1021-43DF-917B-E9582D4FDBAF}" srcId="{3405AFAB-F522-47C9-BD3F-F8734CB7B9C5}" destId="{596FD411-8D84-40E9-A940-4DB6B332B8FA}" srcOrd="4" destOrd="0" parTransId="{E5758C4C-234C-4B6C-B0EA-11721A7D62F0}" sibTransId="{07472F5F-4286-4DA4-9317-A6A8EE719087}"/>
    <dgm:cxn modelId="{910223FE-7FE8-4A58-8238-9E89DF6C2CAE}" type="presOf" srcId="{93783CA1-0811-4516-9DBD-085FC34F8FE8}" destId="{A4B779E2-B5FF-45CC-B528-23BC93F1FA49}" srcOrd="0" destOrd="0" presId="urn:microsoft.com/office/officeart/2005/8/layout/radial6"/>
    <dgm:cxn modelId="{2A34DE9F-A724-471E-B1FA-1805A1801A9B}" srcId="{3405AFAB-F522-47C9-BD3F-F8734CB7B9C5}" destId="{1C402D2C-F8D1-4FCC-B1B4-87FB787897DF}" srcOrd="0" destOrd="0" parTransId="{CD4E800D-7D6C-4C9E-A55F-8700E6D2E222}" sibTransId="{E4A5E521-AC5C-4262-96C2-8A123FEBB4BE}"/>
    <dgm:cxn modelId="{DE2164F0-F984-40A1-A52A-AC3F8A5F7D49}" type="presOf" srcId="{2F60FC66-3761-4438-A600-E8D055299149}" destId="{B4F58D13-881F-48E0-A4CD-B500E1190BF0}" srcOrd="0" destOrd="0" presId="urn:microsoft.com/office/officeart/2005/8/layout/radial6"/>
    <dgm:cxn modelId="{1512B76D-0EA4-4D08-8E26-8EB49E3E5812}" type="presOf" srcId="{596FD411-8D84-40E9-A940-4DB6B332B8FA}" destId="{E02DEB49-C15C-43BE-B170-BE5DA636BD95}" srcOrd="0" destOrd="0" presId="urn:microsoft.com/office/officeart/2005/8/layout/radial6"/>
    <dgm:cxn modelId="{44D0705B-C762-4652-BFAC-323F2EB04F99}" type="presOf" srcId="{3405AFAB-F522-47C9-BD3F-F8734CB7B9C5}" destId="{0637435A-3221-478C-ABD0-EC779D068B4D}" srcOrd="0" destOrd="0" presId="urn:microsoft.com/office/officeart/2005/8/layout/radial6"/>
    <dgm:cxn modelId="{6AF050AE-671E-49EC-A7F8-E28621719453}" type="presOf" srcId="{E4A5E521-AC5C-4262-96C2-8A123FEBB4BE}" destId="{D03BFF96-33A6-4404-82E7-F03FDF00C9F4}" srcOrd="0" destOrd="0" presId="urn:microsoft.com/office/officeart/2005/8/layout/radial6"/>
    <dgm:cxn modelId="{713A8C49-26CF-4DB1-9AF3-47670B912CC4}" type="presOf" srcId="{A6C47287-61E1-4802-8B27-1F0B78074582}" destId="{C1CE9904-86CC-43EB-BC68-FF0A597C8CC4}" srcOrd="0" destOrd="0" presId="urn:microsoft.com/office/officeart/2005/8/layout/radial6"/>
    <dgm:cxn modelId="{76DD404D-07D3-48DC-89C5-43DA9825C33D}" type="presOf" srcId="{0AC642D4-70F6-4BB2-9105-432601F68A59}" destId="{C60FFB3C-6E82-41DC-AE41-0839DFE266BF}" srcOrd="0" destOrd="0" presId="urn:microsoft.com/office/officeart/2005/8/layout/radial6"/>
    <dgm:cxn modelId="{2A913BD2-BE82-4229-AD6E-47BA5DC308A0}" type="presOf" srcId="{20D6717D-20AA-4082-A4CC-C7533F7002B2}" destId="{6738CD00-9CB1-4FDC-B116-616921140A9D}" srcOrd="0" destOrd="0" presId="urn:microsoft.com/office/officeart/2005/8/layout/radial6"/>
    <dgm:cxn modelId="{95B63D6F-596D-4ABF-A622-1C68C290F3EA}" srcId="{3405AFAB-F522-47C9-BD3F-F8734CB7B9C5}" destId="{65746382-84D9-457B-BFDD-43F4FB391F96}" srcOrd="2" destOrd="0" parTransId="{6689DF45-E09D-4FD1-A202-4AD39FF16273}" sibTransId="{A6C47287-61E1-4802-8B27-1F0B78074582}"/>
    <dgm:cxn modelId="{EBE93801-21CC-4263-AF32-14607D9026F9}" srcId="{3405AFAB-F522-47C9-BD3F-F8734CB7B9C5}" destId="{0AC642D4-70F6-4BB2-9105-432601F68A59}" srcOrd="3" destOrd="0" parTransId="{B1600C6D-EFF6-41F8-9436-28D51058C817}" sibTransId="{D6380E9C-44DE-481C-A416-C214FA572187}"/>
    <dgm:cxn modelId="{9EE803B8-9D7D-4557-B54D-283C4C4C9185}" type="presOf" srcId="{65746382-84D9-457B-BFDD-43F4FB391F96}" destId="{85F94C54-9CA6-4AE1-BA93-9E13BD5B8A90}" srcOrd="0" destOrd="0" presId="urn:microsoft.com/office/officeart/2005/8/layout/radial6"/>
    <dgm:cxn modelId="{4BC01E4E-379B-4053-B1D5-1E279298368A}" type="presOf" srcId="{1C402D2C-F8D1-4FCC-B1B4-87FB787897DF}" destId="{EECA4BBD-A03B-402C-8C05-8C3DBFB078A9}" srcOrd="0" destOrd="0" presId="urn:microsoft.com/office/officeart/2005/8/layout/radial6"/>
    <dgm:cxn modelId="{A9932092-A4FD-45FA-A07E-6BA73B02E856}" type="presOf" srcId="{07472F5F-4286-4DA4-9317-A6A8EE719087}" destId="{9BC3B400-5DDF-431D-913A-648985F37E6C}" srcOrd="0" destOrd="0" presId="urn:microsoft.com/office/officeart/2005/8/layout/radial6"/>
    <dgm:cxn modelId="{6111F4F9-7F82-45A9-B9E6-2FD499012E81}" srcId="{20D6717D-20AA-4082-A4CC-C7533F7002B2}" destId="{3405AFAB-F522-47C9-BD3F-F8734CB7B9C5}" srcOrd="0" destOrd="0" parTransId="{24B74581-09EF-49A8-85AF-B2F4D2C7A258}" sibTransId="{26281582-F4E0-4723-A631-04D88B88B490}"/>
    <dgm:cxn modelId="{AA399ACD-BA30-4AFD-B38E-937A715F21EE}" srcId="{3405AFAB-F522-47C9-BD3F-F8734CB7B9C5}" destId="{93783CA1-0811-4516-9DBD-085FC34F8FE8}" srcOrd="1" destOrd="0" parTransId="{8EF22F68-6E1D-443F-A509-0154465876D3}" sibTransId="{2F60FC66-3761-4438-A600-E8D055299149}"/>
    <dgm:cxn modelId="{2C478AB9-A907-479F-BEBA-ECE0F014B419}" type="presParOf" srcId="{6738CD00-9CB1-4FDC-B116-616921140A9D}" destId="{0637435A-3221-478C-ABD0-EC779D068B4D}" srcOrd="0" destOrd="0" presId="urn:microsoft.com/office/officeart/2005/8/layout/radial6"/>
    <dgm:cxn modelId="{EC6D4D7F-CF94-4AC6-ABD7-2F5A33F98D75}" type="presParOf" srcId="{6738CD00-9CB1-4FDC-B116-616921140A9D}" destId="{EECA4BBD-A03B-402C-8C05-8C3DBFB078A9}" srcOrd="1" destOrd="0" presId="urn:microsoft.com/office/officeart/2005/8/layout/radial6"/>
    <dgm:cxn modelId="{0A9883B6-27EB-4768-B28F-FC65DB928A90}" type="presParOf" srcId="{6738CD00-9CB1-4FDC-B116-616921140A9D}" destId="{30DF4814-2F7F-4461-BD0D-632C3D706E2A}" srcOrd="2" destOrd="0" presId="urn:microsoft.com/office/officeart/2005/8/layout/radial6"/>
    <dgm:cxn modelId="{356914D9-E768-456F-A06F-356AC68659C0}" type="presParOf" srcId="{6738CD00-9CB1-4FDC-B116-616921140A9D}" destId="{D03BFF96-33A6-4404-82E7-F03FDF00C9F4}" srcOrd="3" destOrd="0" presId="urn:microsoft.com/office/officeart/2005/8/layout/radial6"/>
    <dgm:cxn modelId="{6D4068F3-B43D-4862-A0B7-282C8C99B67A}" type="presParOf" srcId="{6738CD00-9CB1-4FDC-B116-616921140A9D}" destId="{A4B779E2-B5FF-45CC-B528-23BC93F1FA49}" srcOrd="4" destOrd="0" presId="urn:microsoft.com/office/officeart/2005/8/layout/radial6"/>
    <dgm:cxn modelId="{CA285A7B-B447-4FA0-81FF-BF6A1F10B775}" type="presParOf" srcId="{6738CD00-9CB1-4FDC-B116-616921140A9D}" destId="{79136C73-2472-4955-934B-3FF16074C749}" srcOrd="5" destOrd="0" presId="urn:microsoft.com/office/officeart/2005/8/layout/radial6"/>
    <dgm:cxn modelId="{E4F5C9DC-F0E1-4590-B538-C975A0B6374B}" type="presParOf" srcId="{6738CD00-9CB1-4FDC-B116-616921140A9D}" destId="{B4F58D13-881F-48E0-A4CD-B500E1190BF0}" srcOrd="6" destOrd="0" presId="urn:microsoft.com/office/officeart/2005/8/layout/radial6"/>
    <dgm:cxn modelId="{ECDFEF40-4B21-4B74-A596-C25136FA4B12}" type="presParOf" srcId="{6738CD00-9CB1-4FDC-B116-616921140A9D}" destId="{85F94C54-9CA6-4AE1-BA93-9E13BD5B8A90}" srcOrd="7" destOrd="0" presId="urn:microsoft.com/office/officeart/2005/8/layout/radial6"/>
    <dgm:cxn modelId="{1C89CEC1-C6F0-492A-8654-C1141704A4BB}" type="presParOf" srcId="{6738CD00-9CB1-4FDC-B116-616921140A9D}" destId="{F61681E9-458E-4639-8C15-AA6737A8E0A3}" srcOrd="8" destOrd="0" presId="urn:microsoft.com/office/officeart/2005/8/layout/radial6"/>
    <dgm:cxn modelId="{70E87A92-8445-47CA-B1A2-EB5FA26CA3FE}" type="presParOf" srcId="{6738CD00-9CB1-4FDC-B116-616921140A9D}" destId="{C1CE9904-86CC-43EB-BC68-FF0A597C8CC4}" srcOrd="9" destOrd="0" presId="urn:microsoft.com/office/officeart/2005/8/layout/radial6"/>
    <dgm:cxn modelId="{87858E8C-42A2-4DBC-B9F4-68D272B26F02}" type="presParOf" srcId="{6738CD00-9CB1-4FDC-B116-616921140A9D}" destId="{C60FFB3C-6E82-41DC-AE41-0839DFE266BF}" srcOrd="10" destOrd="0" presId="urn:microsoft.com/office/officeart/2005/8/layout/radial6"/>
    <dgm:cxn modelId="{DB790BE5-EA9A-4199-8FEA-EFE2C81E37FF}" type="presParOf" srcId="{6738CD00-9CB1-4FDC-B116-616921140A9D}" destId="{B5A1B812-D357-4D29-B1BF-A311917F3C04}" srcOrd="11" destOrd="0" presId="urn:microsoft.com/office/officeart/2005/8/layout/radial6"/>
    <dgm:cxn modelId="{9325821B-639A-4C2A-A191-D8F8CDB27AA9}" type="presParOf" srcId="{6738CD00-9CB1-4FDC-B116-616921140A9D}" destId="{530A551D-3706-4781-AC9D-586DEC452FA4}" srcOrd="12" destOrd="0" presId="urn:microsoft.com/office/officeart/2005/8/layout/radial6"/>
    <dgm:cxn modelId="{ABD235E5-12DC-4278-B7E3-484001169624}" type="presParOf" srcId="{6738CD00-9CB1-4FDC-B116-616921140A9D}" destId="{E02DEB49-C15C-43BE-B170-BE5DA636BD95}" srcOrd="13" destOrd="0" presId="urn:microsoft.com/office/officeart/2005/8/layout/radial6"/>
    <dgm:cxn modelId="{05E44CBE-0E0B-4B65-8E3C-A70450E78C62}" type="presParOf" srcId="{6738CD00-9CB1-4FDC-B116-616921140A9D}" destId="{86367D4A-3F16-434E-AFA1-009D43010B4F}" srcOrd="14" destOrd="0" presId="urn:microsoft.com/office/officeart/2005/8/layout/radial6"/>
    <dgm:cxn modelId="{F200C8D6-8B9E-43C1-B2AC-26D30DBB8844}" type="presParOf" srcId="{6738CD00-9CB1-4FDC-B116-616921140A9D}" destId="{9BC3B400-5DDF-431D-913A-648985F37E6C}" srcOrd="15" destOrd="0" presId="urn:microsoft.com/office/officeart/2005/8/layout/radial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BC3B400-5DDF-431D-913A-648985F37E6C}">
      <dsp:nvSpPr>
        <dsp:cNvPr id="0" name=""/>
        <dsp:cNvSpPr/>
      </dsp:nvSpPr>
      <dsp:spPr>
        <a:xfrm>
          <a:off x="1298721" y="608196"/>
          <a:ext cx="4056564" cy="4056564"/>
        </a:xfrm>
        <a:prstGeom prst="blockArc">
          <a:avLst>
            <a:gd name="adj1" fmla="val 11880000"/>
            <a:gd name="adj2" fmla="val 162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0A551D-3706-4781-AC9D-586DEC452FA4}">
      <dsp:nvSpPr>
        <dsp:cNvPr id="0" name=""/>
        <dsp:cNvSpPr/>
      </dsp:nvSpPr>
      <dsp:spPr>
        <a:xfrm>
          <a:off x="1298721" y="608196"/>
          <a:ext cx="4056564" cy="4056564"/>
        </a:xfrm>
        <a:prstGeom prst="blockArc">
          <a:avLst>
            <a:gd name="adj1" fmla="val 7560000"/>
            <a:gd name="adj2" fmla="val 1188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CE9904-86CC-43EB-BC68-FF0A597C8CC4}">
      <dsp:nvSpPr>
        <dsp:cNvPr id="0" name=""/>
        <dsp:cNvSpPr/>
      </dsp:nvSpPr>
      <dsp:spPr>
        <a:xfrm>
          <a:off x="1298721" y="608196"/>
          <a:ext cx="4056564" cy="4056564"/>
        </a:xfrm>
        <a:prstGeom prst="blockArc">
          <a:avLst>
            <a:gd name="adj1" fmla="val 3240000"/>
            <a:gd name="adj2" fmla="val 756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F58D13-881F-48E0-A4CD-B500E1190BF0}">
      <dsp:nvSpPr>
        <dsp:cNvPr id="0" name=""/>
        <dsp:cNvSpPr/>
      </dsp:nvSpPr>
      <dsp:spPr>
        <a:xfrm>
          <a:off x="1298721" y="608196"/>
          <a:ext cx="4056564" cy="4056564"/>
        </a:xfrm>
        <a:prstGeom prst="blockArc">
          <a:avLst>
            <a:gd name="adj1" fmla="val 20520000"/>
            <a:gd name="adj2" fmla="val 324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3BFF96-33A6-4404-82E7-F03FDF00C9F4}">
      <dsp:nvSpPr>
        <dsp:cNvPr id="0" name=""/>
        <dsp:cNvSpPr/>
      </dsp:nvSpPr>
      <dsp:spPr>
        <a:xfrm>
          <a:off x="1298721" y="608196"/>
          <a:ext cx="4056564" cy="4056564"/>
        </a:xfrm>
        <a:prstGeom prst="blockArc">
          <a:avLst>
            <a:gd name="adj1" fmla="val 16200000"/>
            <a:gd name="adj2" fmla="val 2052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37435A-3221-478C-ABD0-EC779D068B4D}">
      <dsp:nvSpPr>
        <dsp:cNvPr id="0" name=""/>
        <dsp:cNvSpPr/>
      </dsp:nvSpPr>
      <dsp:spPr>
        <a:xfrm>
          <a:off x="2392828" y="1702303"/>
          <a:ext cx="1868351" cy="1868351"/>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Process</a:t>
          </a:r>
          <a:endParaRPr lang="en-US" sz="1800" kern="1200" dirty="0"/>
        </a:p>
      </dsp:txBody>
      <dsp:txXfrm>
        <a:off x="2392828" y="1702303"/>
        <a:ext cx="1868351" cy="1868351"/>
      </dsp:txXfrm>
    </dsp:sp>
    <dsp:sp modelId="{EECA4BBD-A03B-402C-8C05-8C3DBFB078A9}">
      <dsp:nvSpPr>
        <dsp:cNvPr id="0" name=""/>
        <dsp:cNvSpPr/>
      </dsp:nvSpPr>
      <dsp:spPr>
        <a:xfrm>
          <a:off x="2673080" y="1355"/>
          <a:ext cx="1307845" cy="130784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Training</a:t>
          </a:r>
          <a:endParaRPr lang="en-US" sz="1800" kern="1200" dirty="0"/>
        </a:p>
      </dsp:txBody>
      <dsp:txXfrm>
        <a:off x="2673080" y="1355"/>
        <a:ext cx="1307845" cy="1307845"/>
      </dsp:txXfrm>
    </dsp:sp>
    <dsp:sp modelId="{A4B779E2-B5FF-45CC-B528-23BC93F1FA49}">
      <dsp:nvSpPr>
        <dsp:cNvPr id="0" name=""/>
        <dsp:cNvSpPr/>
      </dsp:nvSpPr>
      <dsp:spPr>
        <a:xfrm>
          <a:off x="4557313" y="1370331"/>
          <a:ext cx="1307845" cy="1307845"/>
        </a:xfrm>
        <a:prstGeom prst="ellipse">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Money</a:t>
          </a:r>
          <a:endParaRPr lang="en-US" sz="1800" kern="1200" dirty="0"/>
        </a:p>
      </dsp:txBody>
      <dsp:txXfrm>
        <a:off x="4557313" y="1370331"/>
        <a:ext cx="1307845" cy="1307845"/>
      </dsp:txXfrm>
    </dsp:sp>
    <dsp:sp modelId="{85F94C54-9CA6-4AE1-BA93-9E13BD5B8A90}">
      <dsp:nvSpPr>
        <dsp:cNvPr id="0" name=""/>
        <dsp:cNvSpPr/>
      </dsp:nvSpPr>
      <dsp:spPr>
        <a:xfrm>
          <a:off x="3837600" y="3585380"/>
          <a:ext cx="1307845" cy="1307845"/>
        </a:xfrm>
        <a:prstGeom prst="ellipse">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Skilled people</a:t>
          </a:r>
          <a:endParaRPr lang="en-US" sz="1800" kern="1200" dirty="0"/>
        </a:p>
      </dsp:txBody>
      <dsp:txXfrm>
        <a:off x="3837600" y="3585380"/>
        <a:ext cx="1307845" cy="1307845"/>
      </dsp:txXfrm>
    </dsp:sp>
    <dsp:sp modelId="{C60FFB3C-6E82-41DC-AE41-0839DFE266BF}">
      <dsp:nvSpPr>
        <dsp:cNvPr id="0" name=""/>
        <dsp:cNvSpPr/>
      </dsp:nvSpPr>
      <dsp:spPr>
        <a:xfrm>
          <a:off x="1508560" y="3585380"/>
          <a:ext cx="1307845" cy="1307845"/>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Proper tools</a:t>
          </a:r>
          <a:endParaRPr lang="en-US" sz="1800" kern="1200" dirty="0"/>
        </a:p>
      </dsp:txBody>
      <dsp:txXfrm>
        <a:off x="1508560" y="3585380"/>
        <a:ext cx="1307845" cy="1307845"/>
      </dsp:txXfrm>
    </dsp:sp>
    <dsp:sp modelId="{E02DEB49-C15C-43BE-B170-BE5DA636BD95}">
      <dsp:nvSpPr>
        <dsp:cNvPr id="0" name=""/>
        <dsp:cNvSpPr/>
      </dsp:nvSpPr>
      <dsp:spPr>
        <a:xfrm>
          <a:off x="459440" y="1143001"/>
          <a:ext cx="1966659" cy="1762505"/>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Management commitment</a:t>
          </a:r>
          <a:endParaRPr lang="en-US" sz="1800" kern="1200" dirty="0"/>
        </a:p>
      </dsp:txBody>
      <dsp:txXfrm>
        <a:off x="459440" y="1143001"/>
        <a:ext cx="1966659" cy="1762505"/>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A6F6B56-B206-47E3-8148-295925D85CD2}" type="datetimeFigureOut">
              <a:rPr lang="en-US" smtClean="0"/>
              <a:pPr/>
              <a:t>9/25/2023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2944A64-02B1-4818-8227-23FA0B7646E6}"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E54CEF-B973-4BCD-BE04-8FC453D4C123}" type="datetimeFigureOut">
              <a:rPr lang="en-US" smtClean="0"/>
              <a:pPr/>
              <a:t>9/25/2023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E670EC-EF90-4A84-9798-83F1F2DBB46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9/25/2023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9/25/2023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9/25/2023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9/25/2023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9/25/2023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9/25/2023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9/25/2023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9/25/2023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9/25/2023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9/25/2023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9/25/2023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9/25/2023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Software Process</a:t>
            </a:r>
          </a:p>
        </p:txBody>
      </p:sp>
      <p:sp>
        <p:nvSpPr>
          <p:cNvPr id="3" name="Subtitle 2"/>
          <p:cNvSpPr>
            <a:spLocks noGrp="1"/>
          </p:cNvSpPr>
          <p:nvPr>
            <p:ph type="subTitle" idx="1"/>
          </p:nvPr>
        </p:nvSpPr>
        <p:spPr/>
        <p:txBody>
          <a:bodyPr rtlCol="0">
            <a:normAutofit fontScale="25000" lnSpcReduction="20000"/>
          </a:bodyPr>
          <a:lstStyle/>
          <a:p>
            <a:pPr eaLnBrk="1" fontAlgn="auto" hangingPunct="1">
              <a:spcAft>
                <a:spcPts val="0"/>
              </a:spcAft>
              <a:defRPr/>
            </a:pPr>
            <a:r>
              <a:rPr lang="en-US" sz="8800" dirty="0" smtClean="0"/>
              <a:t>Lecturer: Ngo Huy Bien</a:t>
            </a:r>
          </a:p>
          <a:p>
            <a:pPr eaLnBrk="1" fontAlgn="auto" hangingPunct="1">
              <a:spcAft>
                <a:spcPts val="0"/>
              </a:spcAft>
              <a:defRPr/>
            </a:pPr>
            <a:r>
              <a:rPr lang="en-US" sz="7200" dirty="0" smtClean="0"/>
              <a:t>Software Engineering Department</a:t>
            </a:r>
          </a:p>
          <a:p>
            <a:pPr eaLnBrk="1" fontAlgn="auto" hangingPunct="1">
              <a:spcAft>
                <a:spcPts val="0"/>
              </a:spcAft>
              <a:defRPr/>
            </a:pPr>
            <a:r>
              <a:rPr lang="en-US" sz="7200" dirty="0" smtClean="0"/>
              <a:t>Faculty of Information Technology</a:t>
            </a:r>
          </a:p>
          <a:p>
            <a:pPr eaLnBrk="1" fontAlgn="auto" hangingPunct="1">
              <a:spcAft>
                <a:spcPts val="0"/>
              </a:spcAft>
              <a:defRPr/>
            </a:pPr>
            <a:r>
              <a:rPr lang="en-US" sz="7200" dirty="0" smtClean="0"/>
              <a:t>VNUHCM - University of Science</a:t>
            </a:r>
          </a:p>
          <a:p>
            <a:pPr eaLnBrk="1" fontAlgn="auto" hangingPunct="1">
              <a:spcAft>
                <a:spcPts val="0"/>
              </a:spcAft>
              <a:defRPr/>
            </a:pPr>
            <a:r>
              <a:rPr lang="en-US" sz="7200" dirty="0" smtClean="0"/>
              <a:t>Ho Chi Minh City, Vietnam</a:t>
            </a:r>
          </a:p>
          <a:p>
            <a:pPr eaLnBrk="1" fontAlgn="auto" hangingPunct="1">
              <a:spcAft>
                <a:spcPts val="0"/>
              </a:spcAft>
              <a:defRPr/>
            </a:pPr>
            <a:r>
              <a:rPr lang="en-US" sz="7200" dirty="0" smtClean="0">
                <a:hlinkClick r:id="rId2"/>
              </a:rPr>
              <a:t>nhbien@fit.hcmus.edu.vn</a:t>
            </a:r>
            <a:endParaRPr lang="en-US" sz="72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410200" cy="3657599"/>
          </a:xfrm>
        </p:spPr>
        <p:txBody>
          <a:bodyPr/>
          <a:lstStyle/>
          <a:p>
            <a:pPr marL="514350" indent="-457200">
              <a:buFont typeface="Wingdings" pitchFamily="2" charset="2"/>
              <a:buChar char="Ø"/>
            </a:pPr>
            <a:r>
              <a:rPr lang="en-US" sz="2400" dirty="0" smtClean="0"/>
              <a:t>To present what is </a:t>
            </a:r>
            <a:r>
              <a:rPr lang="en-US" sz="2400" i="1" dirty="0" smtClean="0">
                <a:solidFill>
                  <a:srgbClr val="C00000"/>
                </a:solidFill>
              </a:rPr>
              <a:t>a process</a:t>
            </a:r>
            <a:r>
              <a:rPr lang="en-US" sz="2400" dirty="0" smtClean="0"/>
              <a:t>.</a:t>
            </a:r>
          </a:p>
          <a:p>
            <a:pPr marL="514350" indent="-457200">
              <a:buFont typeface="Wingdings" pitchFamily="2" charset="2"/>
              <a:buChar char="Ø"/>
            </a:pPr>
            <a:r>
              <a:rPr lang="en-US" sz="2400" dirty="0" smtClean="0"/>
              <a:t>To present what is </a:t>
            </a:r>
            <a:r>
              <a:rPr lang="en-US" sz="2400" i="1" dirty="0" smtClean="0">
                <a:solidFill>
                  <a:srgbClr val="C00000"/>
                </a:solidFill>
              </a:rPr>
              <a:t>a process model</a:t>
            </a:r>
            <a:r>
              <a:rPr lang="en-US" sz="2400" dirty="0" smtClean="0"/>
              <a:t>.</a:t>
            </a:r>
          </a:p>
          <a:p>
            <a:pPr marL="514350" indent="-457200">
              <a:buFont typeface="Wingdings" pitchFamily="2" charset="2"/>
              <a:buChar char="Ø"/>
            </a:pPr>
            <a:r>
              <a:rPr lang="en-US" sz="2400" dirty="0" smtClean="0"/>
              <a:t>To present the elements of </a:t>
            </a:r>
            <a:r>
              <a:rPr lang="en-US" sz="2400" i="1" dirty="0" smtClean="0">
                <a:solidFill>
                  <a:srgbClr val="C00000"/>
                </a:solidFill>
              </a:rPr>
              <a:t>a process model</a:t>
            </a:r>
            <a:r>
              <a:rPr lang="en-US" sz="2400" dirty="0" smtClean="0"/>
              <a:t>.</a:t>
            </a:r>
          </a:p>
          <a:p>
            <a:pPr marL="514350" indent="-457200">
              <a:buFont typeface="Wingdings" pitchFamily="2" charset="2"/>
              <a:buChar char="Ø"/>
            </a:pPr>
            <a:r>
              <a:rPr lang="en-US" sz="2400" dirty="0" smtClean="0"/>
              <a:t>To present how to use </a:t>
            </a:r>
            <a:r>
              <a:rPr lang="en-US" sz="2400" i="1" dirty="0" smtClean="0">
                <a:solidFill>
                  <a:srgbClr val="C00000"/>
                </a:solidFill>
              </a:rPr>
              <a:t>a process</a:t>
            </a:r>
            <a:r>
              <a:rPr lang="en-US" sz="2400" dirty="0" smtClean="0"/>
              <a:t>.</a:t>
            </a:r>
          </a:p>
          <a:p>
            <a:pPr marL="514350" indent="-457200">
              <a:buFont typeface="Wingdings" pitchFamily="2" charset="2"/>
              <a:buChar char="Ø"/>
            </a:pPr>
            <a:r>
              <a:rPr lang="en-US" sz="2400" dirty="0" smtClean="0"/>
              <a:t>To present why use </a:t>
            </a:r>
            <a:r>
              <a:rPr lang="en-US" sz="2400" i="1" dirty="0" smtClean="0">
                <a:solidFill>
                  <a:srgbClr val="C00000"/>
                </a:solidFill>
              </a:rPr>
              <a:t>a process</a:t>
            </a:r>
            <a:r>
              <a:rPr lang="en-US" sz="2400" dirty="0" smtClean="0"/>
              <a:t>.</a:t>
            </a:r>
          </a:p>
          <a:p>
            <a:pPr marL="514350" indent="-457200">
              <a:buFont typeface="Wingdings" pitchFamily="2" charset="2"/>
              <a:buChar char="Ø"/>
            </a:pPr>
            <a:r>
              <a:rPr lang="en-US" sz="2400" dirty="0" smtClean="0"/>
              <a:t>To </a:t>
            </a:r>
            <a:r>
              <a:rPr lang="en-US" sz="2400" i="1" dirty="0" smtClean="0">
                <a:solidFill>
                  <a:srgbClr val="C00000"/>
                </a:solidFill>
              </a:rPr>
              <a:t>define a process model</a:t>
            </a:r>
            <a:r>
              <a:rPr lang="en-US" sz="2400" dirty="0" smtClean="0"/>
              <a:t> for executing a project phase or activity.</a:t>
            </a:r>
          </a:p>
        </p:txBody>
      </p:sp>
      <p:pic>
        <p:nvPicPr>
          <p:cNvPr id="4" name="Picture 2"/>
          <p:cNvPicPr>
            <a:picLocks noChangeAspect="1" noChangeArrowheads="1"/>
          </p:cNvPicPr>
          <p:nvPr/>
        </p:nvPicPr>
        <p:blipFill>
          <a:blip r:embed="rId2" cstate="print"/>
          <a:srcRect/>
          <a:stretch>
            <a:fillRect/>
          </a:stretch>
        </p:blipFill>
        <p:spPr bwMode="auto">
          <a:xfrm>
            <a:off x="59245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809750"/>
            <a:ext cx="2724150" cy="4133850"/>
          </a:xfrm>
          <a:prstGeom prst="rect">
            <a:avLst/>
          </a:prstGeom>
          <a:noFill/>
        </p:spPr>
      </p:pic>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905000"/>
            <a:ext cx="5715000" cy="4495800"/>
          </a:xfrm>
        </p:spPr>
        <p:txBody>
          <a:bodyPr/>
          <a:lstStyle/>
          <a:p>
            <a:pPr marL="457200" indent="-457200">
              <a:buFont typeface="+mj-lt"/>
              <a:buAutoNum type="arabicPeriod"/>
            </a:pPr>
            <a:r>
              <a:rPr lang="da-DK" sz="2200" dirty="0" smtClean="0"/>
              <a:t>Bill Curtis et al. (1992) Process Modeling.</a:t>
            </a:r>
          </a:p>
          <a:p>
            <a:pPr marL="457200" indent="-457200">
              <a:buFont typeface="+mj-lt"/>
              <a:buAutoNum type="arabicPeriod"/>
            </a:pPr>
            <a:r>
              <a:rPr lang="en-US" sz="2200" dirty="0" smtClean="0"/>
              <a:t>Silvia T. </a:t>
            </a:r>
            <a:r>
              <a:rPr lang="en-US" sz="2200" dirty="0" err="1" smtClean="0"/>
              <a:t>Acuna</a:t>
            </a:r>
            <a:r>
              <a:rPr lang="en-US" sz="2200" dirty="0" smtClean="0"/>
              <a:t> and Xavier </a:t>
            </a:r>
            <a:r>
              <a:rPr lang="en-US" sz="2200" dirty="0" err="1" smtClean="0"/>
              <a:t>Ferre</a:t>
            </a:r>
            <a:r>
              <a:rPr lang="en-US" sz="2200" dirty="0" smtClean="0"/>
              <a:t> (1998). Software Process </a:t>
            </a:r>
            <a:r>
              <a:rPr lang="en-US" sz="2200" dirty="0" err="1" smtClean="0"/>
              <a:t>Modelling</a:t>
            </a:r>
            <a:r>
              <a:rPr lang="en-US" sz="2200" dirty="0" smtClean="0"/>
              <a:t>.</a:t>
            </a:r>
          </a:p>
          <a:p>
            <a:pPr marL="457200" indent="-457200">
              <a:buFont typeface="+mj-lt"/>
              <a:buAutoNum type="arabicPeriod"/>
            </a:pPr>
            <a:r>
              <a:rPr lang="en-US" sz="2400" dirty="0" smtClean="0"/>
              <a:t>Roger S. Pressman (2010). Software Engineering: A Practitioner’s Approach. 7th Edition. McGraw-Hill.</a:t>
            </a:r>
          </a:p>
          <a:p>
            <a:pPr marL="457200" indent="-457200">
              <a:buFont typeface="+mj-lt"/>
              <a:buAutoNum type="arabicPeriod"/>
            </a:pPr>
            <a:endParaRPr lang="en-US"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Execute a Project Phase?</a:t>
            </a:r>
            <a:endParaRPr lang="en-US" dirty="0"/>
          </a:p>
        </p:txBody>
      </p:sp>
      <p:pic>
        <p:nvPicPr>
          <p:cNvPr id="1026" name="Picture 2" descr="http://teamqualitypro.com/wp-content/uploads/b-devil-is-in-the-details.jpg"/>
          <p:cNvPicPr>
            <a:picLocks noChangeAspect="1" noChangeArrowheads="1"/>
          </p:cNvPicPr>
          <p:nvPr/>
        </p:nvPicPr>
        <p:blipFill>
          <a:blip r:embed="rId2" cstate="print"/>
          <a:srcRect/>
          <a:stretch>
            <a:fillRect/>
          </a:stretch>
        </p:blipFill>
        <p:spPr bwMode="auto">
          <a:xfrm>
            <a:off x="6172200" y="4114800"/>
            <a:ext cx="1714500" cy="1714500"/>
          </a:xfrm>
          <a:prstGeom prst="rect">
            <a:avLst/>
          </a:prstGeom>
          <a:noFill/>
        </p:spPr>
      </p:pic>
      <p:pic>
        <p:nvPicPr>
          <p:cNvPr id="1032" name="Picture 8"/>
          <p:cNvPicPr>
            <a:picLocks noChangeAspect="1" noChangeArrowheads="1"/>
          </p:cNvPicPr>
          <p:nvPr/>
        </p:nvPicPr>
        <p:blipFill>
          <a:blip r:embed="rId3" cstate="print"/>
          <a:srcRect/>
          <a:stretch>
            <a:fillRect/>
          </a:stretch>
        </p:blipFill>
        <p:spPr bwMode="auto">
          <a:xfrm>
            <a:off x="609600" y="2438400"/>
            <a:ext cx="4318000" cy="2870200"/>
          </a:xfrm>
          <a:prstGeom prst="rect">
            <a:avLst/>
          </a:prstGeom>
          <a:noFill/>
          <a:ln w="9525">
            <a:noFill/>
            <a:miter lim="800000"/>
            <a:headEnd/>
            <a:tailEnd/>
          </a:ln>
        </p:spPr>
      </p:pic>
      <p:pic>
        <p:nvPicPr>
          <p:cNvPr id="1033" name="Picture 9"/>
          <p:cNvPicPr>
            <a:picLocks noChangeAspect="1" noChangeArrowheads="1"/>
          </p:cNvPicPr>
          <p:nvPr/>
        </p:nvPicPr>
        <p:blipFill>
          <a:blip r:embed="rId4" cstate="print"/>
          <a:srcRect/>
          <a:stretch>
            <a:fillRect/>
          </a:stretch>
        </p:blipFill>
        <p:spPr bwMode="auto">
          <a:xfrm>
            <a:off x="5562600" y="2362200"/>
            <a:ext cx="2908300" cy="16383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Idea</a:t>
            </a:r>
            <a:endParaRPr lang="en-US" dirty="0"/>
          </a:p>
        </p:txBody>
      </p:sp>
      <p:pic>
        <p:nvPicPr>
          <p:cNvPr id="52230" name="Picture 6"/>
          <p:cNvPicPr>
            <a:picLocks noChangeAspect="1" noChangeArrowheads="1"/>
          </p:cNvPicPr>
          <p:nvPr/>
        </p:nvPicPr>
        <p:blipFill>
          <a:blip r:embed="rId2" cstate="print"/>
          <a:srcRect/>
          <a:stretch>
            <a:fillRect/>
          </a:stretch>
        </p:blipFill>
        <p:spPr bwMode="auto">
          <a:xfrm>
            <a:off x="958850" y="1371600"/>
            <a:ext cx="7226300" cy="49974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p:cNvPicPr>
            <a:picLocks noChangeAspect="1" noChangeArrowheads="1"/>
          </p:cNvPicPr>
          <p:nvPr/>
        </p:nvPicPr>
        <p:blipFill>
          <a:blip r:embed="rId2" cstate="print"/>
          <a:srcRect/>
          <a:stretch>
            <a:fillRect/>
          </a:stretch>
        </p:blipFill>
        <p:spPr bwMode="auto">
          <a:xfrm>
            <a:off x="5743575" y="1524000"/>
            <a:ext cx="340042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Process and Process Model [1, 3]</a:t>
            </a:r>
            <a:endParaRPr lang="en-US" dirty="0"/>
          </a:p>
        </p:txBody>
      </p:sp>
      <p:sp>
        <p:nvSpPr>
          <p:cNvPr id="3" name="Content Placeholder 2"/>
          <p:cNvSpPr>
            <a:spLocks noGrp="1"/>
          </p:cNvSpPr>
          <p:nvPr>
            <p:ph idx="1"/>
          </p:nvPr>
        </p:nvSpPr>
        <p:spPr>
          <a:xfrm>
            <a:off x="457200" y="1600200"/>
            <a:ext cx="5486400" cy="4525963"/>
          </a:xfrm>
        </p:spPr>
        <p:txBody>
          <a:bodyPr/>
          <a:lstStyle/>
          <a:p>
            <a:r>
              <a:rPr lang="en-US" sz="2200" dirty="0" smtClean="0"/>
              <a:t>A </a:t>
            </a:r>
            <a:r>
              <a:rPr lang="en-US" sz="2200" i="1" dirty="0" smtClean="0">
                <a:solidFill>
                  <a:srgbClr val="C00000"/>
                </a:solidFill>
              </a:rPr>
              <a:t>process</a:t>
            </a:r>
            <a:r>
              <a:rPr lang="en-US" sz="2200" dirty="0" smtClean="0"/>
              <a:t> is a set of partially ordered steps intended to reach a goal.</a:t>
            </a:r>
          </a:p>
          <a:p>
            <a:r>
              <a:rPr lang="en-US" sz="2200" dirty="0" smtClean="0"/>
              <a:t>A </a:t>
            </a:r>
            <a:r>
              <a:rPr lang="en-US" sz="2200" i="1" dirty="0" smtClean="0">
                <a:solidFill>
                  <a:srgbClr val="C00000"/>
                </a:solidFill>
              </a:rPr>
              <a:t>process model</a:t>
            </a:r>
            <a:r>
              <a:rPr lang="en-US" sz="2200" dirty="0" smtClean="0"/>
              <a:t> is an abstract description of an actual or proposed process that represents selected process elements that are considered important to the purpose of the model and can be enacted by a human or machine.</a:t>
            </a:r>
          </a:p>
          <a:p>
            <a:r>
              <a:rPr lang="en-US" sz="2200" i="1" dirty="0" smtClean="0">
                <a:solidFill>
                  <a:srgbClr val="C00000"/>
                </a:solidFill>
              </a:rPr>
              <a:t>Software process</a:t>
            </a:r>
            <a:r>
              <a:rPr lang="en-US" sz="2200" dirty="0" smtClean="0"/>
              <a:t> is a partially ordered set of activities undertaken to manage, develop and maintain software systems.</a:t>
            </a:r>
          </a:p>
          <a:p>
            <a:r>
              <a:rPr lang="en-US" sz="2200" dirty="0" smtClean="0"/>
              <a:t>A </a:t>
            </a:r>
            <a:r>
              <a:rPr lang="en-US" sz="2200" i="1" dirty="0" smtClean="0">
                <a:solidFill>
                  <a:srgbClr val="C00000"/>
                </a:solidFill>
              </a:rPr>
              <a:t>software process model</a:t>
            </a:r>
            <a:r>
              <a:rPr lang="en-US" sz="2200" dirty="0" smtClean="0"/>
              <a:t> is an abstract representation of the software process.</a:t>
            </a:r>
            <a:endParaRPr lang="en-US" sz="2200" dirty="0"/>
          </a:p>
        </p:txBody>
      </p:sp>
      <p:pic>
        <p:nvPicPr>
          <p:cNvPr id="1034" name="Picture 10"/>
          <p:cNvPicPr>
            <a:picLocks noChangeAspect="1" noChangeArrowheads="1"/>
          </p:cNvPicPr>
          <p:nvPr/>
        </p:nvPicPr>
        <p:blipFill>
          <a:blip r:embed="rId3" cstate="print"/>
          <a:srcRect/>
          <a:stretch>
            <a:fillRect/>
          </a:stretch>
        </p:blipFill>
        <p:spPr bwMode="auto">
          <a:xfrm>
            <a:off x="5657850" y="4086225"/>
            <a:ext cx="3486150" cy="24669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and Process Model [2]</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Process</a:t>
            </a:r>
            <a:r>
              <a:rPr lang="en-US" dirty="0" smtClean="0"/>
              <a:t> is a set of transformations of input elements into products.</a:t>
            </a:r>
          </a:p>
          <a:p>
            <a:r>
              <a:rPr lang="en-US" i="1" dirty="0" smtClean="0">
                <a:solidFill>
                  <a:srgbClr val="C00000"/>
                </a:solidFill>
              </a:rPr>
              <a:t>Process model</a:t>
            </a:r>
            <a:r>
              <a:rPr lang="en-US" dirty="0" smtClean="0"/>
              <a:t> is the description of a process expressed in a suitable process modeling language.</a:t>
            </a:r>
          </a:p>
          <a:p>
            <a:pPr lvl="1"/>
            <a:r>
              <a:rPr lang="en-US" dirty="0" smtClean="0"/>
              <a:t>A </a:t>
            </a:r>
            <a:r>
              <a:rPr lang="en-US" i="1" dirty="0" smtClean="0">
                <a:solidFill>
                  <a:srgbClr val="C00000"/>
                </a:solidFill>
              </a:rPr>
              <a:t>descriptive model</a:t>
            </a:r>
            <a:r>
              <a:rPr lang="en-US" dirty="0" smtClean="0"/>
              <a:t> describes the history of how a particular software system </a:t>
            </a:r>
            <a:r>
              <a:rPr lang="en-US" u="sng" dirty="0" smtClean="0"/>
              <a:t>was developed</a:t>
            </a:r>
            <a:r>
              <a:rPr lang="en-US" dirty="0" smtClean="0"/>
              <a:t>.</a:t>
            </a:r>
          </a:p>
          <a:p>
            <a:pPr lvl="1"/>
            <a:r>
              <a:rPr lang="en-US" dirty="0" smtClean="0"/>
              <a:t>A </a:t>
            </a:r>
            <a:r>
              <a:rPr lang="en-US" i="1" dirty="0" smtClean="0">
                <a:solidFill>
                  <a:srgbClr val="C00000"/>
                </a:solidFill>
              </a:rPr>
              <a:t>prescriptive model</a:t>
            </a:r>
            <a:r>
              <a:rPr lang="en-US" dirty="0" smtClean="0"/>
              <a:t> prescribes how a new software system </a:t>
            </a:r>
            <a:r>
              <a:rPr lang="en-US" u="sng" dirty="0" smtClean="0"/>
              <a:t>should be developed</a:t>
            </a:r>
            <a:r>
              <a:rPr lang="en-US" dirty="0" smtClean="0"/>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971675" y="4543425"/>
            <a:ext cx="5200650" cy="22383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Software Process vs. SDLC</a:t>
            </a:r>
            <a:endParaRPr lang="en-US" dirty="0"/>
          </a:p>
        </p:txBody>
      </p:sp>
      <p:sp>
        <p:nvSpPr>
          <p:cNvPr id="3" name="Content Placeholder 2"/>
          <p:cNvSpPr>
            <a:spLocks noGrp="1"/>
          </p:cNvSpPr>
          <p:nvPr>
            <p:ph idx="1"/>
          </p:nvPr>
        </p:nvSpPr>
        <p:spPr>
          <a:xfrm>
            <a:off x="457200" y="1295401"/>
            <a:ext cx="8229600" cy="3581400"/>
          </a:xfrm>
        </p:spPr>
        <p:txBody>
          <a:bodyPr/>
          <a:lstStyle/>
          <a:p>
            <a:r>
              <a:rPr lang="en-US" sz="2000" dirty="0" smtClean="0"/>
              <a:t>The life cycle centers on the </a:t>
            </a:r>
            <a:r>
              <a:rPr lang="en-US" sz="2000" i="1" dirty="0" smtClean="0">
                <a:solidFill>
                  <a:srgbClr val="C00000"/>
                </a:solidFill>
              </a:rPr>
              <a:t>product</a:t>
            </a:r>
            <a:r>
              <a:rPr lang="en-US" sz="2000" dirty="0" smtClean="0"/>
              <a:t>, defining the states through which the product passes from the start of construction (the initial state is the user need) until the software is in operation (this product state is the deployed system) and finally retired (the state is the retired system).</a:t>
            </a:r>
          </a:p>
          <a:p>
            <a:r>
              <a:rPr lang="en-US" sz="2000" dirty="0" smtClean="0"/>
              <a:t>The software process centers on the </a:t>
            </a:r>
            <a:r>
              <a:rPr lang="en-US" sz="2000" i="1" dirty="0" smtClean="0">
                <a:solidFill>
                  <a:srgbClr val="C00000"/>
                </a:solidFill>
              </a:rPr>
              <a:t>construction process</a:t>
            </a:r>
            <a:r>
              <a:rPr lang="en-US" sz="2000" dirty="0" smtClean="0"/>
              <a:t> rather than on the product(s) outputted.</a:t>
            </a:r>
          </a:p>
          <a:p>
            <a:r>
              <a:rPr lang="en-US" sz="2000" dirty="0" smtClean="0"/>
              <a:t>Software process can be used to develop more </a:t>
            </a:r>
            <a:r>
              <a:rPr lang="en-US" sz="2000" i="1" dirty="0" smtClean="0">
                <a:solidFill>
                  <a:srgbClr val="C00000"/>
                </a:solidFill>
              </a:rPr>
              <a:t>precise and formalized</a:t>
            </a:r>
            <a:r>
              <a:rPr lang="en-US" sz="2000" dirty="0" smtClean="0"/>
              <a:t> descriptions of software life cycle activities. </a:t>
            </a:r>
          </a:p>
          <a:p>
            <a:r>
              <a:rPr lang="en-US" sz="2000" dirty="0" smtClean="0"/>
              <a:t>Software process power emerges from their utilization of a sufficiently rich notation, syntax, or semantics, often suitable for </a:t>
            </a:r>
            <a:r>
              <a:rPr lang="en-US" sz="2000" i="1" dirty="0" smtClean="0">
                <a:solidFill>
                  <a:srgbClr val="C00000"/>
                </a:solidFill>
              </a:rPr>
              <a:t>computational processing</a:t>
            </a:r>
            <a:r>
              <a:rPr lang="en-US" sz="2000" dirty="0" smtClean="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752600"/>
            <a:ext cx="8229600" cy="4419600"/>
          </a:xfrm>
        </p:spPr>
        <p:txBody>
          <a:bodyPr/>
          <a:lstStyle/>
          <a:p>
            <a:r>
              <a:rPr lang="en-US" sz="2800" i="1" dirty="0" smtClean="0">
                <a:solidFill>
                  <a:srgbClr val="C00000"/>
                </a:solidFill>
              </a:rPr>
              <a:t>Activity</a:t>
            </a:r>
            <a:r>
              <a:rPr lang="en-US" sz="2800" dirty="0" smtClean="0"/>
              <a:t> is the stage of a process that produces externally visible changes of state in the software product.</a:t>
            </a:r>
          </a:p>
          <a:p>
            <a:r>
              <a:rPr lang="en-US" sz="2800" i="1" dirty="0" smtClean="0">
                <a:solidFill>
                  <a:srgbClr val="C00000"/>
                </a:solidFill>
              </a:rPr>
              <a:t>Artifact</a:t>
            </a:r>
            <a:r>
              <a:rPr lang="en-US" sz="2800" dirty="0" smtClean="0"/>
              <a:t> or Product is the (sub)product and the “raw material” of a process.</a:t>
            </a:r>
          </a:p>
          <a:p>
            <a:r>
              <a:rPr lang="en-US" sz="2800" i="1" dirty="0" smtClean="0">
                <a:solidFill>
                  <a:srgbClr val="C00000"/>
                </a:solidFill>
              </a:rPr>
              <a:t>Agent</a:t>
            </a:r>
            <a:r>
              <a:rPr lang="en-US" sz="2800" dirty="0" smtClean="0"/>
              <a:t> or </a:t>
            </a:r>
            <a:r>
              <a:rPr lang="en-US" sz="2800" i="1" dirty="0" smtClean="0">
                <a:solidFill>
                  <a:srgbClr val="C00000"/>
                </a:solidFill>
              </a:rPr>
              <a:t>Actor</a:t>
            </a:r>
            <a:r>
              <a:rPr lang="en-US" sz="2800" dirty="0" smtClean="0"/>
              <a:t> is an entity that executes a process.</a:t>
            </a:r>
          </a:p>
          <a:p>
            <a:r>
              <a:rPr lang="en-US" sz="2800" i="1" dirty="0" smtClean="0">
                <a:solidFill>
                  <a:srgbClr val="C00000"/>
                </a:solidFill>
              </a:rPr>
              <a:t>Role</a:t>
            </a:r>
            <a:r>
              <a:rPr lang="en-US" sz="2800" dirty="0" smtClean="0"/>
              <a:t> describes a set of agent or group responsibilities, rights and skills required to perform a specific software process activity.</a:t>
            </a:r>
            <a:endParaRPr lang="en-US" sz="2800" dirty="0"/>
          </a:p>
        </p:txBody>
      </p:sp>
      <p:sp>
        <p:nvSpPr>
          <p:cNvPr id="2" name="Title 1"/>
          <p:cNvSpPr>
            <a:spLocks noGrp="1"/>
          </p:cNvSpPr>
          <p:nvPr>
            <p:ph type="title"/>
          </p:nvPr>
        </p:nvSpPr>
        <p:spPr/>
        <p:txBody>
          <a:bodyPr/>
          <a:lstStyle/>
          <a:p>
            <a:r>
              <a:rPr lang="en-US" dirty="0" smtClean="0"/>
              <a:t>Elements of Process Model [2]</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Relationships Among Elements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681038" y="1781175"/>
            <a:ext cx="7781925" cy="416242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3352800" y="4038600"/>
            <a:ext cx="2981325" cy="25050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Software Process Objective</a:t>
            </a:r>
            <a:endParaRPr lang="en-US" dirty="0"/>
          </a:p>
        </p:txBody>
      </p:sp>
      <p:sp>
        <p:nvSpPr>
          <p:cNvPr id="3" name="Content Placeholder 2"/>
          <p:cNvSpPr>
            <a:spLocks noGrp="1"/>
          </p:cNvSpPr>
          <p:nvPr>
            <p:ph idx="1"/>
          </p:nvPr>
        </p:nvSpPr>
        <p:spPr>
          <a:xfrm>
            <a:off x="457200" y="1600201"/>
            <a:ext cx="8229600" cy="2362199"/>
          </a:xfrm>
        </p:spPr>
        <p:txBody>
          <a:bodyPr/>
          <a:lstStyle/>
          <a:p>
            <a:r>
              <a:rPr lang="en-US" sz="2400" dirty="0" smtClean="0"/>
              <a:t>The software process has a common objective: to </a:t>
            </a:r>
            <a:r>
              <a:rPr lang="en-US" sz="2400" i="1" dirty="0" smtClean="0">
                <a:solidFill>
                  <a:srgbClr val="C00000"/>
                </a:solidFill>
              </a:rPr>
              <a:t>build</a:t>
            </a:r>
            <a:r>
              <a:rPr lang="en-US" sz="2400" dirty="0" smtClean="0"/>
              <a:t> and </a:t>
            </a:r>
            <a:r>
              <a:rPr lang="en-US" sz="2400" i="1" dirty="0" smtClean="0">
                <a:solidFill>
                  <a:srgbClr val="C00000"/>
                </a:solidFill>
              </a:rPr>
              <a:t>maintain</a:t>
            </a:r>
            <a:r>
              <a:rPr lang="en-US" sz="2400" dirty="0" smtClean="0"/>
              <a:t> a </a:t>
            </a:r>
            <a:r>
              <a:rPr lang="en-US" sz="2400" u="sng" dirty="0" smtClean="0"/>
              <a:t>software product</a:t>
            </a:r>
            <a:r>
              <a:rPr lang="en-US" sz="2400" dirty="0" smtClean="0"/>
              <a:t> that satisfies a need detected by a user.</a:t>
            </a:r>
          </a:p>
          <a:p>
            <a:r>
              <a:rPr lang="en-US" sz="2400" dirty="0" smtClean="0"/>
              <a:t>The integral software process model seeks to do just this: </a:t>
            </a:r>
            <a:r>
              <a:rPr lang="en-US" sz="2400" i="1" dirty="0" smtClean="0">
                <a:solidFill>
                  <a:srgbClr val="C00000"/>
                </a:solidFill>
              </a:rPr>
              <a:t>define</a:t>
            </a:r>
            <a:r>
              <a:rPr lang="en-US" sz="2400" dirty="0" smtClean="0"/>
              <a:t> a </a:t>
            </a:r>
            <a:r>
              <a:rPr lang="en-US" sz="2400" u="sng" dirty="0" smtClean="0"/>
              <a:t>series of activities</a:t>
            </a:r>
            <a:r>
              <a:rPr lang="en-US" sz="2400" dirty="0" smtClean="0"/>
              <a:t> to be performed to </a:t>
            </a:r>
            <a:r>
              <a:rPr lang="en-US" sz="2400" u="sng" dirty="0" smtClean="0"/>
              <a:t>produce software</a:t>
            </a:r>
            <a:r>
              <a:rPr lang="en-US" sz="2400" dirty="0" smtClean="0"/>
              <a: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Solving Loop [3]</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76225" y="1800225"/>
            <a:ext cx="4219575" cy="30003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648200" y="1771650"/>
            <a:ext cx="4276725" cy="3105150"/>
          </a:xfrm>
          <a:prstGeom prst="rect">
            <a:avLst/>
          </a:prstGeom>
          <a:noFill/>
          <a:ln w="9525">
            <a:noFill/>
            <a:miter lim="800000"/>
            <a:headEnd/>
            <a:tailEnd/>
          </a:ln>
        </p:spPr>
      </p:pic>
      <p:sp>
        <p:nvSpPr>
          <p:cNvPr id="6" name="Rectangle 5"/>
          <p:cNvSpPr/>
          <p:nvPr/>
        </p:nvSpPr>
        <p:spPr>
          <a:xfrm>
            <a:off x="3810000" y="4876800"/>
            <a:ext cx="5105400" cy="1631216"/>
          </a:xfrm>
          <a:prstGeom prst="rect">
            <a:avLst/>
          </a:prstGeom>
        </p:spPr>
        <p:txBody>
          <a:bodyPr wrap="square">
            <a:spAutoFit/>
          </a:bodyPr>
          <a:lstStyle/>
          <a:p>
            <a:pPr algn="ctr"/>
            <a:r>
              <a:rPr lang="en-US" sz="2000" dirty="0" smtClean="0">
                <a:latin typeface="+mj-lt"/>
              </a:rPr>
              <a:t>Regardless of the process model that is chosen for a software project, all of the stages—status quo, problem definition, technical development, and solution integration—</a:t>
            </a:r>
            <a:r>
              <a:rPr lang="en-US" sz="2000" i="1" dirty="0" smtClean="0">
                <a:solidFill>
                  <a:srgbClr val="C00000"/>
                </a:solidFill>
                <a:latin typeface="+mj-lt"/>
              </a:rPr>
              <a:t>coexist simultaneously</a:t>
            </a:r>
            <a:r>
              <a:rPr lang="en-US" sz="2000" dirty="0" smtClean="0">
                <a:latin typeface="+mj-lt"/>
              </a:rPr>
              <a:t> at some </a:t>
            </a:r>
            <a:r>
              <a:rPr lang="en-US" sz="2000" u="sng" dirty="0" smtClean="0">
                <a:latin typeface="+mj-lt"/>
              </a:rPr>
              <a:t>level of detail</a:t>
            </a:r>
            <a:r>
              <a:rPr lang="en-US" sz="2000" dirty="0" smtClean="0">
                <a:latin typeface="+mj-lt"/>
              </a:rPr>
              <a:t>.</a:t>
            </a:r>
            <a:endParaRPr lang="en-US" sz="20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Use a Process?</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304800" y="1676400"/>
            <a:ext cx="3305175" cy="2981325"/>
          </a:xfrm>
          <a:prstGeom prst="rect">
            <a:avLst/>
          </a:prstGeom>
          <a:noFill/>
          <a:ln w="9525">
            <a:noFill/>
            <a:miter lim="800000"/>
            <a:headEnd/>
            <a:tailEnd/>
          </a:ln>
        </p:spPr>
      </p:pic>
      <p:sp>
        <p:nvSpPr>
          <p:cNvPr id="5" name="Content Placeholder 2"/>
          <p:cNvSpPr>
            <a:spLocks noGrp="1"/>
          </p:cNvSpPr>
          <p:nvPr>
            <p:ph idx="1"/>
          </p:nvPr>
        </p:nvSpPr>
        <p:spPr>
          <a:xfrm>
            <a:off x="152400" y="4953000"/>
            <a:ext cx="4343400" cy="1371600"/>
          </a:xfrm>
        </p:spPr>
        <p:txBody>
          <a:bodyPr/>
          <a:lstStyle/>
          <a:p>
            <a:pPr algn="r">
              <a:buFont typeface="Arial" pitchFamily="34" charset="0"/>
              <a:buChar char="•"/>
            </a:pPr>
            <a:r>
              <a:rPr lang="en-US" sz="1600" i="1" dirty="0" smtClean="0"/>
              <a:t>People are more important than any process.</a:t>
            </a:r>
          </a:p>
          <a:p>
            <a:pPr algn="r">
              <a:buFont typeface="Arial" pitchFamily="34" charset="0"/>
              <a:buChar char="•"/>
            </a:pPr>
            <a:r>
              <a:rPr lang="en-US" sz="1600" i="1" dirty="0" smtClean="0"/>
              <a:t>Good people with a good process will outperform good people with no process every time. </a:t>
            </a:r>
          </a:p>
          <a:p>
            <a:pPr algn="r">
              <a:buNone/>
            </a:pPr>
            <a:r>
              <a:rPr lang="en-US" sz="1600" dirty="0" smtClean="0"/>
              <a:t>– </a:t>
            </a:r>
            <a:r>
              <a:rPr lang="en-US" sz="1600" i="1" dirty="0" smtClean="0"/>
              <a:t>Grady </a:t>
            </a:r>
            <a:r>
              <a:rPr lang="en-US" sz="1600" i="1" dirty="0" err="1" smtClean="0"/>
              <a:t>Booch</a:t>
            </a:r>
            <a:endParaRPr lang="en-US" sz="1600" dirty="0" smtClean="0"/>
          </a:p>
        </p:txBody>
      </p:sp>
      <p:graphicFrame>
        <p:nvGraphicFramePr>
          <p:cNvPr id="6" name="Diagram 5"/>
          <p:cNvGraphicFramePr/>
          <p:nvPr/>
        </p:nvGraphicFramePr>
        <p:xfrm>
          <a:off x="3124200" y="1219200"/>
          <a:ext cx="63246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6492240" y="2362200"/>
            <a:ext cx="2346960" cy="245364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Why Software Process?</a:t>
            </a:r>
            <a:endParaRPr lang="en-US" dirty="0"/>
          </a:p>
        </p:txBody>
      </p:sp>
      <p:sp>
        <p:nvSpPr>
          <p:cNvPr id="3" name="Content Placeholder 2"/>
          <p:cNvSpPr>
            <a:spLocks noGrp="1"/>
          </p:cNvSpPr>
          <p:nvPr>
            <p:ph idx="1"/>
          </p:nvPr>
        </p:nvSpPr>
        <p:spPr>
          <a:xfrm>
            <a:off x="228600" y="1295400"/>
            <a:ext cx="6629400" cy="5105400"/>
          </a:xfrm>
        </p:spPr>
        <p:txBody>
          <a:bodyPr/>
          <a:lstStyle/>
          <a:p>
            <a:pPr lvl="0"/>
            <a:r>
              <a:rPr lang="en-US" sz="2400" dirty="0" smtClean="0"/>
              <a:t>Bringing </a:t>
            </a:r>
            <a:r>
              <a:rPr lang="en-US" sz="2400" i="1" dirty="0" smtClean="0">
                <a:solidFill>
                  <a:srgbClr val="C00000"/>
                </a:solidFill>
              </a:rPr>
              <a:t>discipline</a:t>
            </a:r>
            <a:r>
              <a:rPr lang="en-US" sz="2400" dirty="0" smtClean="0"/>
              <a:t> to various tasks in software development.</a:t>
            </a:r>
          </a:p>
          <a:p>
            <a:pPr lvl="2"/>
            <a:r>
              <a:rPr lang="en-US" sz="1800" dirty="0" smtClean="0"/>
              <a:t>This discipline leads to </a:t>
            </a:r>
            <a:r>
              <a:rPr lang="en-US" sz="1800" i="1" dirty="0" smtClean="0">
                <a:solidFill>
                  <a:srgbClr val="C00000"/>
                </a:solidFill>
              </a:rPr>
              <a:t>consistency</a:t>
            </a:r>
            <a:r>
              <a:rPr lang="en-US" sz="1800" dirty="0" smtClean="0"/>
              <a:t> and uniformity in products</a:t>
            </a:r>
            <a:r>
              <a:rPr lang="en-US" sz="1800" dirty="0" smtClean="0">
                <a:solidFill>
                  <a:schemeClr val="accent2"/>
                </a:solidFill>
              </a:rPr>
              <a:t> </a:t>
            </a:r>
            <a:r>
              <a:rPr lang="en-US" sz="1800" dirty="0" smtClean="0"/>
              <a:t>delivered at the end of these tasks.</a:t>
            </a:r>
          </a:p>
          <a:p>
            <a:pPr lvl="2"/>
            <a:r>
              <a:rPr lang="en-US" sz="1800" dirty="0" smtClean="0"/>
              <a:t>Project </a:t>
            </a:r>
            <a:r>
              <a:rPr lang="en-US" sz="1800" i="1" dirty="0" smtClean="0">
                <a:solidFill>
                  <a:srgbClr val="C00000"/>
                </a:solidFill>
              </a:rPr>
              <a:t>predictability</a:t>
            </a:r>
            <a:r>
              <a:rPr lang="en-US" sz="1800" dirty="0" smtClean="0"/>
              <a:t> (framework for software development plan)</a:t>
            </a:r>
            <a:endParaRPr lang="en-US" sz="1800" i="1" dirty="0" smtClean="0">
              <a:solidFill>
                <a:srgbClr val="C00000"/>
              </a:solidFill>
            </a:endParaRPr>
          </a:p>
          <a:p>
            <a:pPr lvl="2"/>
            <a:r>
              <a:rPr lang="en-US" sz="1800" dirty="0" smtClean="0"/>
              <a:t>Better </a:t>
            </a:r>
            <a:r>
              <a:rPr lang="en-US" sz="1800" i="1" dirty="0" smtClean="0">
                <a:solidFill>
                  <a:srgbClr val="C00000"/>
                </a:solidFill>
              </a:rPr>
              <a:t>communication</a:t>
            </a:r>
            <a:r>
              <a:rPr lang="en-US" sz="1800" dirty="0" smtClean="0"/>
              <a:t> and learning</a:t>
            </a:r>
          </a:p>
          <a:p>
            <a:pPr lvl="2"/>
            <a:r>
              <a:rPr lang="en-US" sz="1800" dirty="0" smtClean="0"/>
              <a:t>Preventing </a:t>
            </a:r>
            <a:r>
              <a:rPr lang="en-US" sz="1800" i="1" dirty="0" smtClean="0">
                <a:solidFill>
                  <a:srgbClr val="C00000"/>
                </a:solidFill>
              </a:rPr>
              <a:t>wasted effort</a:t>
            </a:r>
            <a:r>
              <a:rPr lang="en-US" sz="1800" dirty="0" smtClean="0"/>
              <a:t> and repeated errors</a:t>
            </a:r>
          </a:p>
          <a:p>
            <a:pPr lvl="0"/>
            <a:r>
              <a:rPr lang="en-US" sz="2400" dirty="0" smtClean="0"/>
              <a:t>Having </a:t>
            </a:r>
            <a:r>
              <a:rPr lang="en-US" sz="2400" i="1" dirty="0" smtClean="0">
                <a:solidFill>
                  <a:srgbClr val="C00000"/>
                </a:solidFill>
              </a:rPr>
              <a:t>good processes</a:t>
            </a:r>
            <a:r>
              <a:rPr lang="en-US" sz="2400" dirty="0" smtClean="0"/>
              <a:t> to follow vs. hiring only </a:t>
            </a:r>
            <a:r>
              <a:rPr lang="en-US" sz="2400" i="1" dirty="0" smtClean="0">
                <a:solidFill>
                  <a:srgbClr val="C00000"/>
                </a:solidFill>
              </a:rPr>
              <a:t>brilliant people</a:t>
            </a:r>
          </a:p>
          <a:p>
            <a:pPr lvl="0"/>
            <a:r>
              <a:rPr lang="en-US" sz="2400" dirty="0" smtClean="0"/>
              <a:t>Having people work </a:t>
            </a:r>
            <a:r>
              <a:rPr lang="en-US" sz="2400" i="1" dirty="0" smtClean="0">
                <a:solidFill>
                  <a:srgbClr val="C00000"/>
                </a:solidFill>
              </a:rPr>
              <a:t>smarter</a:t>
            </a:r>
            <a:r>
              <a:rPr lang="en-US" sz="2400" dirty="0" smtClean="0"/>
              <a:t> vs. having people work </a:t>
            </a:r>
            <a:r>
              <a:rPr lang="en-US" sz="2400" i="1" dirty="0" smtClean="0">
                <a:solidFill>
                  <a:srgbClr val="C00000"/>
                </a:solidFill>
              </a:rPr>
              <a:t>harder</a:t>
            </a:r>
          </a:p>
          <a:p>
            <a:pPr lvl="0"/>
            <a:r>
              <a:rPr lang="en-US" sz="2400" i="1" dirty="0" smtClean="0">
                <a:solidFill>
                  <a:srgbClr val="C00000"/>
                </a:solidFill>
              </a:rPr>
              <a:t>Guarantee</a:t>
            </a:r>
            <a:r>
              <a:rPr lang="en-US" sz="2400" dirty="0" smtClean="0"/>
              <a:t> for customers (schedule, budget and quality)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Model Information [1]</a:t>
            </a:r>
            <a:endParaRPr lang="en-US" dirty="0"/>
          </a:p>
        </p:txBody>
      </p:sp>
      <p:sp>
        <p:nvSpPr>
          <p:cNvPr id="3" name="Content Placeholder 2"/>
          <p:cNvSpPr>
            <a:spLocks noGrp="1"/>
          </p:cNvSpPr>
          <p:nvPr>
            <p:ph idx="1"/>
          </p:nvPr>
        </p:nvSpPr>
        <p:spPr/>
        <p:txBody>
          <a:bodyPr/>
          <a:lstStyle/>
          <a:p>
            <a:r>
              <a:rPr lang="en-US" sz="2600" i="1" dirty="0" smtClean="0">
                <a:solidFill>
                  <a:srgbClr val="C00000"/>
                </a:solidFill>
              </a:rPr>
              <a:t>Functional</a:t>
            </a:r>
            <a:r>
              <a:rPr lang="en-US" sz="2600" dirty="0" smtClean="0"/>
              <a:t>: represents which process elements are being implemented and which information entity flows are important for the above process elements.</a:t>
            </a:r>
          </a:p>
          <a:p>
            <a:r>
              <a:rPr lang="en-US" sz="2600" i="1" dirty="0" smtClean="0">
                <a:solidFill>
                  <a:srgbClr val="C00000"/>
                </a:solidFill>
              </a:rPr>
              <a:t>Behavioral</a:t>
            </a:r>
            <a:r>
              <a:rPr lang="en-US" sz="2600" dirty="0" smtClean="0"/>
              <a:t>: represents when (that is, </a:t>
            </a:r>
            <a:r>
              <a:rPr lang="en-US" sz="2600" dirty="0" err="1" smtClean="0"/>
              <a:t>sequentiality</a:t>
            </a:r>
            <a:r>
              <a:rPr lang="en-US" sz="2600" dirty="0" smtClean="0"/>
              <a:t>) and under which conditions the process elements are implemented.</a:t>
            </a:r>
          </a:p>
          <a:p>
            <a:r>
              <a:rPr lang="en-US" sz="2600" i="1" dirty="0" smtClean="0">
                <a:solidFill>
                  <a:srgbClr val="C00000"/>
                </a:solidFill>
              </a:rPr>
              <a:t>Organizational</a:t>
            </a:r>
            <a:r>
              <a:rPr lang="en-US" sz="2600" dirty="0" smtClean="0"/>
              <a:t>: represents where and by whom in the organization the process elements are implemented.</a:t>
            </a:r>
          </a:p>
          <a:p>
            <a:r>
              <a:rPr lang="en-US" sz="2600" i="1" dirty="0" smtClean="0">
                <a:solidFill>
                  <a:srgbClr val="C00000"/>
                </a:solidFill>
              </a:rPr>
              <a:t>Informative</a:t>
            </a:r>
            <a:r>
              <a:rPr lang="en-US" sz="2600" dirty="0" smtClean="0"/>
              <a:t>: represents the information entities output or manipulated by a process, including their structure and relationships.</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Effective Process Models</a:t>
            </a:r>
            <a:endParaRPr lang="en-US" dirty="0"/>
          </a:p>
        </p:txBody>
      </p:sp>
      <p:sp>
        <p:nvSpPr>
          <p:cNvPr id="3" name="Content Placeholder 2"/>
          <p:cNvSpPr>
            <a:spLocks noGrp="1"/>
          </p:cNvSpPr>
          <p:nvPr>
            <p:ph idx="1"/>
          </p:nvPr>
        </p:nvSpPr>
        <p:spPr>
          <a:xfrm>
            <a:off x="457200" y="1600201"/>
            <a:ext cx="8229600" cy="1828800"/>
          </a:xfrm>
        </p:spPr>
        <p:txBody>
          <a:bodyPr/>
          <a:lstStyle/>
          <a:p>
            <a:r>
              <a:rPr lang="en-US" sz="2400" dirty="0" smtClean="0"/>
              <a:t>Represent the way the work is actually (or is to be) </a:t>
            </a:r>
            <a:r>
              <a:rPr lang="en-US" sz="2400" i="1" dirty="0" smtClean="0">
                <a:solidFill>
                  <a:srgbClr val="C00000"/>
                </a:solidFill>
              </a:rPr>
              <a:t>performed</a:t>
            </a:r>
            <a:r>
              <a:rPr lang="en-US" sz="2400" dirty="0" smtClean="0"/>
              <a:t>.</a:t>
            </a:r>
          </a:p>
          <a:p>
            <a:r>
              <a:rPr lang="en-US" sz="2400" dirty="0" smtClean="0"/>
              <a:t>Provide a flexible and easily understandable, yet powerful, framework for </a:t>
            </a:r>
            <a:r>
              <a:rPr lang="en-US" sz="2400" i="1" dirty="0" smtClean="0">
                <a:solidFill>
                  <a:srgbClr val="C00000"/>
                </a:solidFill>
              </a:rPr>
              <a:t>representing and enhancing</a:t>
            </a:r>
            <a:r>
              <a:rPr lang="en-US" sz="2400" dirty="0" smtClean="0"/>
              <a:t> the process.</a:t>
            </a:r>
          </a:p>
          <a:p>
            <a:r>
              <a:rPr lang="en-US" sz="2400" dirty="0" smtClean="0"/>
              <a:t>Be </a:t>
            </a:r>
            <a:r>
              <a:rPr lang="en-US" sz="2400" i="1" dirty="0" err="1" smtClean="0">
                <a:solidFill>
                  <a:srgbClr val="C00000"/>
                </a:solidFill>
              </a:rPr>
              <a:t>refinable</a:t>
            </a:r>
            <a:r>
              <a:rPr lang="en-US" sz="2400" dirty="0" smtClean="0"/>
              <a:t> to whatever level of detail is needed.</a:t>
            </a:r>
            <a:endParaRPr lang="en-US" sz="2400" dirty="0"/>
          </a:p>
        </p:txBody>
      </p:sp>
      <p:pic>
        <p:nvPicPr>
          <p:cNvPr id="5" name="Picture 2" descr="https://upload.wikimedia.org/wikipedia/commons/thumb/e/ec/Spiral_model_%28Boehm%2C_1988%29.svg/2000px-Spiral_model_%28Boehm%2C_1988%29.svg.png"/>
          <p:cNvPicPr>
            <a:picLocks noChangeAspect="1" noChangeArrowheads="1"/>
          </p:cNvPicPr>
          <p:nvPr/>
        </p:nvPicPr>
        <p:blipFill>
          <a:blip r:embed="rId2" cstate="print"/>
          <a:srcRect/>
          <a:stretch>
            <a:fillRect/>
          </a:stretch>
        </p:blipFill>
        <p:spPr bwMode="auto">
          <a:xfrm>
            <a:off x="2590800" y="3453765"/>
            <a:ext cx="3810000" cy="317563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Modeling</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Software process modeling</a:t>
            </a:r>
            <a:r>
              <a:rPr lang="en-US" dirty="0" smtClean="0"/>
              <a:t> describes the </a:t>
            </a:r>
            <a:r>
              <a:rPr lang="en-US" u="sng" dirty="0" smtClean="0"/>
              <a:t>creation</a:t>
            </a:r>
            <a:r>
              <a:rPr lang="en-US" dirty="0" smtClean="0"/>
              <a:t> of software development process models.</a:t>
            </a:r>
          </a:p>
          <a:p>
            <a:pPr lvl="1"/>
            <a:r>
              <a:rPr lang="en-US" i="1" dirty="0" smtClean="0">
                <a:solidFill>
                  <a:srgbClr val="C00000"/>
                </a:solidFill>
              </a:rPr>
              <a:t>Problems</a:t>
            </a:r>
            <a:r>
              <a:rPr lang="en-US" dirty="0" smtClean="0"/>
              <a:t> in traditional process description</a:t>
            </a:r>
          </a:p>
          <a:p>
            <a:pPr lvl="2">
              <a:buNone/>
            </a:pPr>
            <a:r>
              <a:rPr lang="en-US" dirty="0" smtClean="0"/>
              <a:t>– Ambiguous, unusable descriptions</a:t>
            </a:r>
          </a:p>
          <a:p>
            <a:pPr lvl="2">
              <a:buNone/>
            </a:pPr>
            <a:r>
              <a:rPr lang="en-US" dirty="0" smtClean="0"/>
              <a:t>– Failure to update the documentation with change</a:t>
            </a:r>
          </a:p>
          <a:p>
            <a:pPr lvl="1"/>
            <a:r>
              <a:rPr lang="en-US" i="1" dirty="0" smtClean="0">
                <a:solidFill>
                  <a:srgbClr val="C00000"/>
                </a:solidFill>
              </a:rPr>
              <a:t>Needs</a:t>
            </a:r>
            <a:r>
              <a:rPr lang="en-US" dirty="0" smtClean="0"/>
              <a:t> from the enterprise</a:t>
            </a:r>
          </a:p>
          <a:p>
            <a:pPr lvl="2">
              <a:buNone/>
            </a:pPr>
            <a:r>
              <a:rPr lang="en-US" dirty="0" smtClean="0"/>
              <a:t>– Business process reengineering</a:t>
            </a:r>
          </a:p>
          <a:p>
            <a:pPr lvl="2">
              <a:buNone/>
            </a:pPr>
            <a:r>
              <a:rPr lang="en-US" dirty="0" smtClean="0"/>
              <a:t>– Coordination technology</a:t>
            </a:r>
          </a:p>
          <a:p>
            <a:pPr lvl="2">
              <a:buNone/>
            </a:pPr>
            <a:r>
              <a:rPr lang="en-US" dirty="0" smtClean="0"/>
              <a:t>– Process-driven software development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Process Modeling Goals and Benefits</a:t>
            </a:r>
            <a:endParaRPr lang="en-US" sz="4000" dirty="0"/>
          </a:p>
        </p:txBody>
      </p:sp>
      <p:sp>
        <p:nvSpPr>
          <p:cNvPr id="3" name="Content Placeholder 2"/>
          <p:cNvSpPr>
            <a:spLocks noGrp="1"/>
          </p:cNvSpPr>
          <p:nvPr>
            <p:ph idx="1"/>
          </p:nvPr>
        </p:nvSpPr>
        <p:spPr/>
        <p:txBody>
          <a:bodyPr/>
          <a:lstStyle/>
          <a:p>
            <a:r>
              <a:rPr lang="en-US" sz="2400" i="1" dirty="0" smtClean="0">
                <a:solidFill>
                  <a:srgbClr val="C00000"/>
                </a:solidFill>
              </a:rPr>
              <a:t>Human understanding</a:t>
            </a:r>
          </a:p>
          <a:p>
            <a:pPr lvl="1"/>
            <a:r>
              <a:rPr lang="en-US" sz="2200" dirty="0" smtClean="0"/>
              <a:t>Representation, training and communication</a:t>
            </a:r>
          </a:p>
          <a:p>
            <a:r>
              <a:rPr lang="en-US" sz="2400" i="1" dirty="0" smtClean="0">
                <a:solidFill>
                  <a:srgbClr val="C00000"/>
                </a:solidFill>
              </a:rPr>
              <a:t>Process improvement</a:t>
            </a:r>
          </a:p>
          <a:p>
            <a:pPr lvl="1"/>
            <a:r>
              <a:rPr lang="en-US" sz="2200" dirty="0" smtClean="0"/>
              <a:t>Comparison of alternative processes</a:t>
            </a:r>
          </a:p>
          <a:p>
            <a:r>
              <a:rPr lang="en-US" sz="2400" i="1" dirty="0" smtClean="0">
                <a:solidFill>
                  <a:srgbClr val="C00000"/>
                </a:solidFill>
              </a:rPr>
              <a:t>Process management</a:t>
            </a:r>
          </a:p>
          <a:p>
            <a:pPr lvl="1"/>
            <a:r>
              <a:rPr lang="en-US" sz="2200" dirty="0" smtClean="0"/>
              <a:t>Monitoring, management and co-coordination</a:t>
            </a:r>
          </a:p>
          <a:p>
            <a:r>
              <a:rPr lang="en-US" sz="2400" i="1" dirty="0" smtClean="0">
                <a:solidFill>
                  <a:srgbClr val="C00000"/>
                </a:solidFill>
              </a:rPr>
              <a:t>Automated execution</a:t>
            </a:r>
          </a:p>
          <a:p>
            <a:pPr lvl="1"/>
            <a:r>
              <a:rPr lang="en-US" sz="2200" dirty="0" smtClean="0"/>
              <a:t>Automated process parts, process integrity assurance</a:t>
            </a:r>
          </a:p>
          <a:p>
            <a:r>
              <a:rPr lang="en-US" sz="2400" i="1" dirty="0" smtClean="0">
                <a:solidFill>
                  <a:srgbClr val="C00000"/>
                </a:solidFill>
              </a:rPr>
              <a:t>Automated guidance</a:t>
            </a:r>
          </a:p>
          <a:p>
            <a:pPr lvl="1"/>
            <a:r>
              <a:rPr lang="en-US" sz="2200" dirty="0" smtClean="0"/>
              <a:t>Effective environment, user orientations, instructions and reference material</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Process Modeling Paradigms</a:t>
            </a:r>
            <a:endParaRPr lang="en-US" dirty="0"/>
          </a:p>
        </p:txBody>
      </p:sp>
      <p:sp>
        <p:nvSpPr>
          <p:cNvPr id="3" name="Content Placeholder 2"/>
          <p:cNvSpPr>
            <a:spLocks noGrp="1"/>
          </p:cNvSpPr>
          <p:nvPr>
            <p:ph idx="1"/>
          </p:nvPr>
        </p:nvSpPr>
        <p:spPr/>
        <p:txBody>
          <a:bodyPr/>
          <a:lstStyle/>
          <a:p>
            <a:r>
              <a:rPr lang="en-US" dirty="0" smtClean="0"/>
              <a:t>Programming models</a:t>
            </a:r>
          </a:p>
          <a:p>
            <a:r>
              <a:rPr lang="en-US" dirty="0" smtClean="0"/>
              <a:t>Functional models</a:t>
            </a:r>
          </a:p>
          <a:p>
            <a:r>
              <a:rPr lang="en-US" dirty="0" smtClean="0"/>
              <a:t>Plan-based models</a:t>
            </a:r>
          </a:p>
          <a:p>
            <a:r>
              <a:rPr lang="en-US" dirty="0" smtClean="0"/>
              <a:t>Petri-net models</a:t>
            </a:r>
          </a:p>
          <a:p>
            <a:r>
              <a:rPr lang="en-US" dirty="0" smtClean="0"/>
              <a:t>Quantitative models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z="3400" dirty="0" smtClean="0"/>
              <a:t>What is Business Process Modeling Notation?</a:t>
            </a:r>
          </a:p>
        </p:txBody>
      </p:sp>
      <p:sp>
        <p:nvSpPr>
          <p:cNvPr id="3075" name="Content Placeholder 2"/>
          <p:cNvSpPr>
            <a:spLocks noGrp="1"/>
          </p:cNvSpPr>
          <p:nvPr>
            <p:ph idx="1"/>
          </p:nvPr>
        </p:nvSpPr>
        <p:spPr>
          <a:xfrm>
            <a:off x="457200" y="1600201"/>
            <a:ext cx="8229600" cy="3352800"/>
          </a:xfrm>
        </p:spPr>
        <p:txBody>
          <a:bodyPr/>
          <a:lstStyle/>
          <a:p>
            <a:r>
              <a:rPr lang="en-US" sz="2400" i="1" dirty="0" smtClean="0">
                <a:solidFill>
                  <a:srgbClr val="C00000"/>
                </a:solidFill>
              </a:rPr>
              <a:t>Business Process Modeling Notation</a:t>
            </a:r>
            <a:r>
              <a:rPr lang="en-US" sz="2400" dirty="0" smtClean="0"/>
              <a:t> (BPMN) is a graphical representation for specifying business processes in a business process model.</a:t>
            </a:r>
          </a:p>
          <a:p>
            <a:r>
              <a:rPr lang="en-US" sz="2400" i="1" dirty="0" smtClean="0">
                <a:solidFill>
                  <a:srgbClr val="C00000"/>
                </a:solidFill>
              </a:rPr>
              <a:t>Flow Objects</a:t>
            </a:r>
            <a:r>
              <a:rPr lang="en-US" sz="2400" dirty="0" smtClean="0"/>
              <a:t>: Events, Activities, Gateways</a:t>
            </a:r>
          </a:p>
          <a:p>
            <a:r>
              <a:rPr lang="en-US" sz="2400" i="1" dirty="0" smtClean="0">
                <a:solidFill>
                  <a:srgbClr val="C00000"/>
                </a:solidFill>
              </a:rPr>
              <a:t>Connecting Objects</a:t>
            </a:r>
            <a:r>
              <a:rPr lang="en-US" sz="2400" dirty="0" smtClean="0"/>
              <a:t>: Sequence Flow, Message Flow, Association</a:t>
            </a:r>
          </a:p>
          <a:p>
            <a:r>
              <a:rPr lang="en-US" sz="2400" i="1" dirty="0" err="1" smtClean="0">
                <a:solidFill>
                  <a:srgbClr val="C00000"/>
                </a:solidFill>
              </a:rPr>
              <a:t>Swimlanes</a:t>
            </a:r>
            <a:r>
              <a:rPr lang="en-US" sz="2400" dirty="0" smtClean="0"/>
              <a:t>: Pool, Lane</a:t>
            </a:r>
          </a:p>
          <a:p>
            <a:r>
              <a:rPr lang="en-US" sz="2400" i="1" dirty="0" smtClean="0">
                <a:solidFill>
                  <a:srgbClr val="C00000"/>
                </a:solidFill>
              </a:rPr>
              <a:t>Artifacts</a:t>
            </a:r>
            <a:r>
              <a:rPr lang="en-US" sz="2400" dirty="0" smtClean="0"/>
              <a:t>: Data Object, Group, Annotation</a:t>
            </a:r>
          </a:p>
        </p:txBody>
      </p:sp>
      <p:pic>
        <p:nvPicPr>
          <p:cNvPr id="4" name="Picture 5"/>
          <p:cNvPicPr>
            <a:picLocks noChangeAspect="1" noChangeArrowheads="1"/>
          </p:cNvPicPr>
          <p:nvPr/>
        </p:nvPicPr>
        <p:blipFill>
          <a:blip r:embed="rId2" cstate="print"/>
          <a:srcRect/>
          <a:stretch>
            <a:fillRect/>
          </a:stretch>
        </p:blipFill>
        <p:spPr bwMode="auto">
          <a:xfrm>
            <a:off x="990600" y="5257800"/>
            <a:ext cx="1828800" cy="495300"/>
          </a:xfrm>
          <a:prstGeom prst="rect">
            <a:avLst/>
          </a:prstGeom>
          <a:noFill/>
          <a:ln w="9525">
            <a:noFill/>
            <a:miter lim="800000"/>
            <a:headEnd/>
            <a:tailEnd/>
          </a:ln>
        </p:spPr>
      </p:pic>
      <p:pic>
        <p:nvPicPr>
          <p:cNvPr id="5" name="Picture 6"/>
          <p:cNvPicPr>
            <a:picLocks noChangeAspect="1" noChangeArrowheads="1"/>
          </p:cNvPicPr>
          <p:nvPr/>
        </p:nvPicPr>
        <p:blipFill>
          <a:blip r:embed="rId3" cstate="print"/>
          <a:srcRect/>
          <a:stretch>
            <a:fillRect/>
          </a:stretch>
        </p:blipFill>
        <p:spPr bwMode="auto">
          <a:xfrm>
            <a:off x="990600" y="5943600"/>
            <a:ext cx="1866900" cy="533400"/>
          </a:xfrm>
          <a:prstGeom prst="rect">
            <a:avLst/>
          </a:prstGeom>
          <a:noFill/>
          <a:ln w="9525">
            <a:noFill/>
            <a:miter lim="800000"/>
            <a:headEnd/>
            <a:tailEnd/>
          </a:ln>
        </p:spPr>
      </p:pic>
      <p:pic>
        <p:nvPicPr>
          <p:cNvPr id="6" name="Picture 7"/>
          <p:cNvPicPr>
            <a:picLocks noChangeAspect="1" noChangeArrowheads="1"/>
          </p:cNvPicPr>
          <p:nvPr/>
        </p:nvPicPr>
        <p:blipFill>
          <a:blip r:embed="rId4" cstate="print"/>
          <a:srcRect/>
          <a:stretch>
            <a:fillRect/>
          </a:stretch>
        </p:blipFill>
        <p:spPr bwMode="auto">
          <a:xfrm>
            <a:off x="3276600" y="5486400"/>
            <a:ext cx="2790825" cy="647700"/>
          </a:xfrm>
          <a:prstGeom prst="rect">
            <a:avLst/>
          </a:prstGeom>
          <a:noFill/>
          <a:ln w="9525">
            <a:noFill/>
            <a:miter lim="800000"/>
            <a:headEnd/>
            <a:tailEnd/>
          </a:ln>
        </p:spPr>
      </p:pic>
      <p:pic>
        <p:nvPicPr>
          <p:cNvPr id="7" name="Picture 5"/>
          <p:cNvPicPr>
            <a:picLocks noChangeAspect="1" noChangeArrowheads="1"/>
          </p:cNvPicPr>
          <p:nvPr/>
        </p:nvPicPr>
        <p:blipFill>
          <a:blip r:embed="rId5" cstate="print"/>
          <a:srcRect/>
          <a:stretch>
            <a:fillRect/>
          </a:stretch>
        </p:blipFill>
        <p:spPr bwMode="auto">
          <a:xfrm>
            <a:off x="6629400" y="5105400"/>
            <a:ext cx="1419225" cy="138112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smtClean="0"/>
              <a:t>Software </a:t>
            </a:r>
            <a:r>
              <a:rPr lang="en-US" sz="2000" i="1" dirty="0" smtClean="0">
                <a:solidFill>
                  <a:srgbClr val="C00000"/>
                </a:solidFill>
              </a:rPr>
              <a:t>process</a:t>
            </a:r>
          </a:p>
          <a:p>
            <a:r>
              <a:rPr lang="en-US" sz="2000" dirty="0" smtClean="0"/>
              <a:t>Software </a:t>
            </a:r>
            <a:r>
              <a:rPr lang="en-US" sz="2000" i="1" dirty="0" smtClean="0">
                <a:solidFill>
                  <a:srgbClr val="C00000"/>
                </a:solidFill>
              </a:rPr>
              <a:t>process </a:t>
            </a:r>
            <a:r>
              <a:rPr lang="en-US" sz="2000" i="1" u="sng" dirty="0" smtClean="0">
                <a:solidFill>
                  <a:srgbClr val="C00000"/>
                </a:solidFill>
              </a:rPr>
              <a:t>model</a:t>
            </a:r>
          </a:p>
          <a:p>
            <a:r>
              <a:rPr lang="en-US" sz="2000" dirty="0" smtClean="0"/>
              <a:t>Software development </a:t>
            </a:r>
            <a:r>
              <a:rPr lang="en-US" sz="2000" i="1" dirty="0" smtClean="0">
                <a:solidFill>
                  <a:srgbClr val="C00000"/>
                </a:solidFill>
              </a:rPr>
              <a:t>life cycle</a:t>
            </a:r>
          </a:p>
          <a:p>
            <a:r>
              <a:rPr lang="en-US" sz="2000" dirty="0" smtClean="0"/>
              <a:t>Software development </a:t>
            </a:r>
            <a:r>
              <a:rPr lang="en-US" sz="2000" i="1" dirty="0" smtClean="0">
                <a:solidFill>
                  <a:srgbClr val="C00000"/>
                </a:solidFill>
              </a:rPr>
              <a:t>life cycle </a:t>
            </a:r>
            <a:r>
              <a:rPr lang="en-US" sz="2000" i="1" u="sng" dirty="0" smtClean="0">
                <a:solidFill>
                  <a:srgbClr val="C00000"/>
                </a:solidFill>
              </a:rPr>
              <a:t>model</a:t>
            </a:r>
          </a:p>
          <a:p>
            <a:r>
              <a:rPr lang="en-US" sz="2000" dirty="0" smtClean="0"/>
              <a:t>Software development </a:t>
            </a:r>
            <a:r>
              <a:rPr lang="en-US" sz="2000" i="1" u="sng" dirty="0" smtClean="0">
                <a:solidFill>
                  <a:srgbClr val="C00000"/>
                </a:solidFill>
              </a:rPr>
              <a:t>model</a:t>
            </a:r>
          </a:p>
          <a:p>
            <a:r>
              <a:rPr lang="en-US" sz="2000" dirty="0" smtClean="0"/>
              <a:t>Software development </a:t>
            </a:r>
            <a:r>
              <a:rPr lang="en-US" sz="2000" i="1" dirty="0" smtClean="0">
                <a:solidFill>
                  <a:srgbClr val="C00000"/>
                </a:solidFill>
              </a:rPr>
              <a:t>method</a:t>
            </a:r>
          </a:p>
          <a:p>
            <a:pPr lvl="1"/>
            <a:r>
              <a:rPr lang="en-US" sz="2000" dirty="0" smtClean="0"/>
              <a:t>Structured approaches to software development which include </a:t>
            </a:r>
            <a:r>
              <a:rPr lang="en-US" sz="2000" u="sng" dirty="0" smtClean="0"/>
              <a:t>models</a:t>
            </a:r>
            <a:r>
              <a:rPr lang="en-US" sz="2000" dirty="0" smtClean="0"/>
              <a:t>, notations, rules, design advice and </a:t>
            </a:r>
            <a:r>
              <a:rPr lang="en-US" sz="2000" u="sng" dirty="0" smtClean="0"/>
              <a:t>process</a:t>
            </a:r>
            <a:r>
              <a:rPr lang="en-US" sz="2000" dirty="0" smtClean="0"/>
              <a:t> guidance.</a:t>
            </a:r>
          </a:p>
          <a:p>
            <a:r>
              <a:rPr lang="en-US" sz="2000" dirty="0" smtClean="0"/>
              <a:t>Software development </a:t>
            </a:r>
            <a:r>
              <a:rPr lang="en-US" sz="2000" i="1" dirty="0" smtClean="0">
                <a:solidFill>
                  <a:srgbClr val="C00000"/>
                </a:solidFill>
              </a:rPr>
              <a:t>framework</a:t>
            </a:r>
          </a:p>
          <a:p>
            <a:pPr lvl="1"/>
            <a:r>
              <a:rPr lang="en-US" sz="2000" dirty="0" smtClean="0"/>
              <a:t>Method that leaves room for other practices and tools to be included.</a:t>
            </a:r>
            <a:endParaRPr lang="en-US" sz="2000" i="1" dirty="0" smtClean="0">
              <a:solidFill>
                <a:srgbClr val="C00000"/>
              </a:solidFill>
            </a:endParaRPr>
          </a:p>
          <a:p>
            <a:r>
              <a:rPr lang="en-US" sz="2000" dirty="0" smtClean="0"/>
              <a:t>Software development </a:t>
            </a:r>
            <a:r>
              <a:rPr lang="en-US" sz="2000" i="1" dirty="0" smtClean="0">
                <a:solidFill>
                  <a:srgbClr val="C00000"/>
                </a:solidFill>
              </a:rPr>
              <a:t>methodology</a:t>
            </a:r>
          </a:p>
          <a:p>
            <a:pPr lvl="1"/>
            <a:r>
              <a:rPr lang="en-US" sz="2000" dirty="0" smtClean="0"/>
              <a:t>Method-OLOGY: study </a:t>
            </a:r>
            <a:r>
              <a:rPr lang="en-US" sz="2000" dirty="0" smtClean="0"/>
              <a:t>method, </a:t>
            </a:r>
            <a:r>
              <a:rPr lang="en-US" sz="2000" u="sng" dirty="0" smtClean="0"/>
              <a:t>why</a:t>
            </a:r>
            <a:r>
              <a:rPr lang="en-US" sz="2000" dirty="0" smtClean="0"/>
              <a:t> </a:t>
            </a:r>
            <a:r>
              <a:rPr lang="en-US" sz="2000" dirty="0" smtClean="0"/>
              <a:t>method works, </a:t>
            </a:r>
            <a:r>
              <a:rPr lang="en-US" sz="2000" u="sng" dirty="0" smtClean="0"/>
              <a:t>when</a:t>
            </a:r>
            <a:r>
              <a:rPr lang="en-US" sz="2000" dirty="0" smtClean="0"/>
              <a:t> method is </a:t>
            </a:r>
            <a:r>
              <a:rPr lang="en-US" sz="2000" dirty="0" smtClean="0"/>
              <a:t>appropriate.</a:t>
            </a:r>
          </a:p>
        </p:txBody>
      </p:sp>
      <p:pic>
        <p:nvPicPr>
          <p:cNvPr id="1027" name="Picture 3"/>
          <p:cNvPicPr>
            <a:picLocks noChangeAspect="1" noChangeArrowheads="1"/>
          </p:cNvPicPr>
          <p:nvPr/>
        </p:nvPicPr>
        <p:blipFill>
          <a:blip r:embed="rId2" cstate="print"/>
          <a:srcRect/>
          <a:stretch>
            <a:fillRect/>
          </a:stretch>
        </p:blipFill>
        <p:spPr bwMode="auto">
          <a:xfrm>
            <a:off x="5029200" y="1533525"/>
            <a:ext cx="3543300" cy="19716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Terminologies Clarification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10842</TotalTime>
  <Words>1076</Words>
  <Application>Microsoft Office PowerPoint</Application>
  <PresentationFormat>On-screen Show (4:3)</PresentationFormat>
  <Paragraphs>119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Software Process</vt:lpstr>
      <vt:lpstr>Objectives</vt:lpstr>
      <vt:lpstr>References</vt:lpstr>
      <vt:lpstr>How to Execute a Project Phase?</vt:lpstr>
      <vt:lpstr>Solution Idea</vt:lpstr>
      <vt:lpstr>Process and Process Model [1, 3]</vt:lpstr>
      <vt:lpstr>Process and Process Model [2]</vt:lpstr>
      <vt:lpstr>Software Process vs. SDLC</vt:lpstr>
      <vt:lpstr>Elements of Process Model [2]</vt:lpstr>
      <vt:lpstr>Relationships Among Elements</vt:lpstr>
      <vt:lpstr>Software Process Objective</vt:lpstr>
      <vt:lpstr>Problem Solving Loop [3]</vt:lpstr>
      <vt:lpstr>How to Use a Process?</vt:lpstr>
      <vt:lpstr>Why Software Process?</vt:lpstr>
      <vt:lpstr>Slide 15</vt:lpstr>
      <vt:lpstr>Process Model Information [1]</vt:lpstr>
      <vt:lpstr>Effective Process Models</vt:lpstr>
      <vt:lpstr>Software Process Modeling</vt:lpstr>
      <vt:lpstr>Process Modeling Goals and Benefits</vt:lpstr>
      <vt:lpstr>Process Modeling Paradigms</vt:lpstr>
      <vt:lpstr>What is Business Process Modeling Notation?</vt:lpstr>
      <vt:lpstr>Terminologies Clarification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4173</cp:revision>
  <dcterms:created xsi:type="dcterms:W3CDTF">2007-10-06T08:25:13Z</dcterms:created>
  <dcterms:modified xsi:type="dcterms:W3CDTF">2023-09-25T11:42:01Z</dcterms:modified>
</cp:coreProperties>
</file>