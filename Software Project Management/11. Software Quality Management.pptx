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diagrams/drawing2.xml" ContentType="application/vnd.ms-office.drawingml.diagramDrawing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colors4.xml" ContentType="application/vnd.openxmlformats-officedocument.drawingml.diagramColor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diagrams/layout4.xml" ContentType="application/vnd.openxmlformats-officedocument.drawingml.diagramLayout+xml"/>
  <Override PartName="/ppt/slideLayouts/slideLayout10.xml" ContentType="application/vnd.openxmlformats-officedocument.presentationml.slideLayout+xml"/>
  <Default Extension="gif" ContentType="image/gif"/>
  <Override PartName="/ppt/diagrams/layout2.xml" ContentType="application/vnd.openxmlformats-officedocument.drawingml.diagramLayout+xml"/>
  <Override PartName="/ppt/diagrams/data3.xml" ContentType="application/vnd.openxmlformats-officedocument.drawingml.diagramData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61"/>
  </p:notesMasterIdLst>
  <p:handoutMasterIdLst>
    <p:handoutMasterId r:id="rId62"/>
  </p:handoutMasterIdLst>
  <p:sldIdLst>
    <p:sldId id="256" r:id="rId2"/>
    <p:sldId id="458" r:id="rId3"/>
    <p:sldId id="623" r:id="rId4"/>
    <p:sldId id="459" r:id="rId5"/>
    <p:sldId id="644" r:id="rId6"/>
    <p:sldId id="645" r:id="rId7"/>
    <p:sldId id="670" r:id="rId8"/>
    <p:sldId id="673" r:id="rId9"/>
    <p:sldId id="672" r:id="rId10"/>
    <p:sldId id="648" r:id="rId11"/>
    <p:sldId id="517" r:id="rId12"/>
    <p:sldId id="636" r:id="rId13"/>
    <p:sldId id="637" r:id="rId14"/>
    <p:sldId id="674" r:id="rId15"/>
    <p:sldId id="653" r:id="rId16"/>
    <p:sldId id="649" r:id="rId17"/>
    <p:sldId id="650" r:id="rId18"/>
    <p:sldId id="675" r:id="rId19"/>
    <p:sldId id="661" r:id="rId20"/>
    <p:sldId id="662" r:id="rId21"/>
    <p:sldId id="663" r:id="rId22"/>
    <p:sldId id="664" r:id="rId23"/>
    <p:sldId id="665" r:id="rId24"/>
    <p:sldId id="657" r:id="rId25"/>
    <p:sldId id="658" r:id="rId26"/>
    <p:sldId id="659" r:id="rId27"/>
    <p:sldId id="633" r:id="rId28"/>
    <p:sldId id="634" r:id="rId29"/>
    <p:sldId id="629" r:id="rId30"/>
    <p:sldId id="617" r:id="rId31"/>
    <p:sldId id="618" r:id="rId32"/>
    <p:sldId id="643" r:id="rId33"/>
    <p:sldId id="619" r:id="rId34"/>
    <p:sldId id="610" r:id="rId35"/>
    <p:sldId id="569" r:id="rId36"/>
    <p:sldId id="666" r:id="rId37"/>
    <p:sldId id="524" r:id="rId38"/>
    <p:sldId id="622" r:id="rId39"/>
    <p:sldId id="668" r:id="rId40"/>
    <p:sldId id="655" r:id="rId41"/>
    <p:sldId id="667" r:id="rId42"/>
    <p:sldId id="549" r:id="rId43"/>
    <p:sldId id="430" r:id="rId44"/>
    <p:sldId id="669" r:id="rId45"/>
    <p:sldId id="575" r:id="rId46"/>
    <p:sldId id="581" r:id="rId47"/>
    <p:sldId id="455" r:id="rId48"/>
    <p:sldId id="580" r:id="rId49"/>
    <p:sldId id="582" r:id="rId50"/>
    <p:sldId id="583" r:id="rId51"/>
    <p:sldId id="585" r:id="rId52"/>
    <p:sldId id="586" r:id="rId53"/>
    <p:sldId id="584" r:id="rId54"/>
    <p:sldId id="590" r:id="rId55"/>
    <p:sldId id="592" r:id="rId56"/>
    <p:sldId id="593" r:id="rId57"/>
    <p:sldId id="594" r:id="rId58"/>
    <p:sldId id="595" r:id="rId59"/>
    <p:sldId id="343" r:id="rId6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64" autoAdjust="0"/>
    <p:restoredTop sz="94585" autoAdjust="0"/>
  </p:normalViewPr>
  <p:slideViewPr>
    <p:cSldViewPr>
      <p:cViewPr>
        <p:scale>
          <a:sx n="50" d="100"/>
          <a:sy n="50" d="100"/>
        </p:scale>
        <p:origin x="-1788" y="-3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F8BCF7-B2BB-42BE-A20A-FF54BE578EC9}" type="doc">
      <dgm:prSet loTypeId="urn:microsoft.com/office/officeart/2005/8/layout/radial5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EC2F4A5-60E4-4CE8-B53F-41F9E908F954}">
      <dgm:prSet phldrT="[Text]" custT="1"/>
      <dgm:spPr/>
      <dgm:t>
        <a:bodyPr/>
        <a:lstStyle/>
        <a:p>
          <a:r>
            <a:rPr lang="en-US" sz="2200" dirty="0" smtClean="0"/>
            <a:t>QA</a:t>
          </a:r>
          <a:endParaRPr lang="en-US" sz="2200" dirty="0"/>
        </a:p>
      </dgm:t>
    </dgm:pt>
    <dgm:pt modelId="{39C9B7A5-75CC-45C2-81A5-1F5B0D7FE878}" type="parTrans" cxnId="{CE854F36-0900-442F-B3AB-43B029D256DB}">
      <dgm:prSet/>
      <dgm:spPr/>
      <dgm:t>
        <a:bodyPr/>
        <a:lstStyle/>
        <a:p>
          <a:endParaRPr lang="en-US"/>
        </a:p>
      </dgm:t>
    </dgm:pt>
    <dgm:pt modelId="{2B446B9E-CA41-4FCA-A3A5-41FC3A5FD884}" type="sibTrans" cxnId="{CE854F36-0900-442F-B3AB-43B029D256DB}">
      <dgm:prSet/>
      <dgm:spPr/>
      <dgm:t>
        <a:bodyPr/>
        <a:lstStyle/>
        <a:p>
          <a:endParaRPr lang="en-US"/>
        </a:p>
      </dgm:t>
    </dgm:pt>
    <dgm:pt modelId="{8DF7CEF2-8BCF-4C2B-9833-23C4A2F8E2FD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US" sz="2200" dirty="0" smtClean="0"/>
            <a:t>Process (PQA)</a:t>
          </a:r>
          <a:endParaRPr lang="en-US" sz="2200" dirty="0"/>
        </a:p>
      </dgm:t>
    </dgm:pt>
    <dgm:pt modelId="{06F18770-A847-4F29-AE58-20F0F7AE0EC7}" type="parTrans" cxnId="{8C85C766-BE12-477B-A48A-8F3E86A7E809}">
      <dgm:prSet/>
      <dgm:spPr/>
      <dgm:t>
        <a:bodyPr/>
        <a:lstStyle/>
        <a:p>
          <a:endParaRPr lang="en-US"/>
        </a:p>
      </dgm:t>
    </dgm:pt>
    <dgm:pt modelId="{6875C8BD-E72D-4169-BAA0-C7EE7A85FEAE}" type="sibTrans" cxnId="{8C85C766-BE12-477B-A48A-8F3E86A7E809}">
      <dgm:prSet/>
      <dgm:spPr/>
      <dgm:t>
        <a:bodyPr/>
        <a:lstStyle/>
        <a:p>
          <a:endParaRPr lang="en-US"/>
        </a:p>
      </dgm:t>
    </dgm:pt>
    <dgm:pt modelId="{EFF0130C-E83A-4797-912A-52E128B68322}">
      <dgm:prSet phldrT="[Text]" custT="1"/>
      <dgm:spPr>
        <a:solidFill>
          <a:schemeClr val="accent3"/>
        </a:solidFill>
      </dgm:spPr>
      <dgm:t>
        <a:bodyPr/>
        <a:lstStyle/>
        <a:p>
          <a:r>
            <a:rPr lang="en-US" sz="2200" dirty="0" smtClean="0"/>
            <a:t>Products (SQA)</a:t>
          </a:r>
          <a:endParaRPr lang="en-US" sz="2200" dirty="0"/>
        </a:p>
      </dgm:t>
    </dgm:pt>
    <dgm:pt modelId="{F775997E-588E-4E4A-BBDE-67AFD484B587}" type="parTrans" cxnId="{8154F393-EE73-4D3B-890A-C31E8C17867A}">
      <dgm:prSet/>
      <dgm:spPr/>
      <dgm:t>
        <a:bodyPr/>
        <a:lstStyle/>
        <a:p>
          <a:endParaRPr lang="en-US"/>
        </a:p>
      </dgm:t>
    </dgm:pt>
    <dgm:pt modelId="{D3BCCFFD-092E-4518-A32A-E5B2F0BA19FB}" type="sibTrans" cxnId="{8154F393-EE73-4D3B-890A-C31E8C17867A}">
      <dgm:prSet/>
      <dgm:spPr/>
      <dgm:t>
        <a:bodyPr/>
        <a:lstStyle/>
        <a:p>
          <a:endParaRPr lang="en-US"/>
        </a:p>
      </dgm:t>
    </dgm:pt>
    <dgm:pt modelId="{1D0F8DB1-980F-487B-AAEF-7C7C57027A8F}">
      <dgm:prSet phldrT="[Text]" custT="1"/>
      <dgm:spPr>
        <a:solidFill>
          <a:schemeClr val="accent4"/>
        </a:solidFill>
      </dgm:spPr>
      <dgm:t>
        <a:bodyPr/>
        <a:lstStyle/>
        <a:p>
          <a:r>
            <a:rPr lang="en-US" sz="2200" dirty="0" smtClean="0"/>
            <a:t>People</a:t>
          </a:r>
          <a:endParaRPr lang="en-US" sz="2200" dirty="0"/>
        </a:p>
      </dgm:t>
    </dgm:pt>
    <dgm:pt modelId="{A552A9CF-EE6D-4FC4-AF68-F1BFD0E44F2F}" type="parTrans" cxnId="{D2EC02F8-EAD4-43B6-BC91-16DCD1AFF826}">
      <dgm:prSet/>
      <dgm:spPr/>
      <dgm:t>
        <a:bodyPr/>
        <a:lstStyle/>
        <a:p>
          <a:endParaRPr lang="en-US"/>
        </a:p>
      </dgm:t>
    </dgm:pt>
    <dgm:pt modelId="{E46C091C-1C6C-40E8-BEA2-F1BA07D05AAC}" type="sibTrans" cxnId="{D2EC02F8-EAD4-43B6-BC91-16DCD1AFF826}">
      <dgm:prSet/>
      <dgm:spPr/>
      <dgm:t>
        <a:bodyPr/>
        <a:lstStyle/>
        <a:p>
          <a:endParaRPr lang="en-US"/>
        </a:p>
      </dgm:t>
    </dgm:pt>
    <dgm:pt modelId="{0E37D097-0A60-4969-9AEC-0D28E7676D9B}">
      <dgm:prSet phldrT="[Text]" custT="1"/>
      <dgm:spPr>
        <a:solidFill>
          <a:schemeClr val="accent5"/>
        </a:solidFill>
      </dgm:spPr>
      <dgm:t>
        <a:bodyPr/>
        <a:lstStyle/>
        <a:p>
          <a:r>
            <a:rPr lang="en-US" sz="2200" dirty="0" smtClean="0"/>
            <a:t>Services</a:t>
          </a:r>
          <a:endParaRPr lang="en-US" sz="2200" dirty="0"/>
        </a:p>
      </dgm:t>
    </dgm:pt>
    <dgm:pt modelId="{3B004702-81E5-4316-8C91-172A7D390754}" type="parTrans" cxnId="{C06C16C7-292E-4D5C-A8EF-A8F943F9334A}">
      <dgm:prSet/>
      <dgm:spPr/>
      <dgm:t>
        <a:bodyPr/>
        <a:lstStyle/>
        <a:p>
          <a:endParaRPr lang="en-US"/>
        </a:p>
      </dgm:t>
    </dgm:pt>
    <dgm:pt modelId="{4ED79201-BEA8-45F8-AFEA-3C2DA73E8149}" type="sibTrans" cxnId="{C06C16C7-292E-4D5C-A8EF-A8F943F9334A}">
      <dgm:prSet/>
      <dgm:spPr/>
      <dgm:t>
        <a:bodyPr/>
        <a:lstStyle/>
        <a:p>
          <a:endParaRPr lang="en-US"/>
        </a:p>
      </dgm:t>
    </dgm:pt>
    <dgm:pt modelId="{96D133AA-3EB4-481F-9112-146F5D295755}" type="pres">
      <dgm:prSet presAssocID="{A8F8BCF7-B2BB-42BE-A20A-FF54BE578EC9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4C9F337-1C35-4331-9845-69763631E744}" type="pres">
      <dgm:prSet presAssocID="{5EC2F4A5-60E4-4CE8-B53F-41F9E908F954}" presName="centerShape" presStyleLbl="node0" presStyleIdx="0" presStyleCnt="1" custScaleX="125337"/>
      <dgm:spPr/>
      <dgm:t>
        <a:bodyPr/>
        <a:lstStyle/>
        <a:p>
          <a:endParaRPr lang="en-US"/>
        </a:p>
      </dgm:t>
    </dgm:pt>
    <dgm:pt modelId="{1DB36B51-A7DD-4630-ACF0-B52F2FF030BD}" type="pres">
      <dgm:prSet presAssocID="{06F18770-A847-4F29-AE58-20F0F7AE0EC7}" presName="parTrans" presStyleLbl="sibTrans2D1" presStyleIdx="0" presStyleCnt="4"/>
      <dgm:spPr/>
      <dgm:t>
        <a:bodyPr/>
        <a:lstStyle/>
        <a:p>
          <a:endParaRPr lang="en-US"/>
        </a:p>
      </dgm:t>
    </dgm:pt>
    <dgm:pt modelId="{6B296D44-2BDD-43DA-8084-ADC0BC6F2CA5}" type="pres">
      <dgm:prSet presAssocID="{06F18770-A847-4F29-AE58-20F0F7AE0EC7}" presName="connectorText" presStyleLbl="sibTrans2D1" presStyleIdx="0" presStyleCnt="4"/>
      <dgm:spPr/>
      <dgm:t>
        <a:bodyPr/>
        <a:lstStyle/>
        <a:p>
          <a:endParaRPr lang="en-US"/>
        </a:p>
      </dgm:t>
    </dgm:pt>
    <dgm:pt modelId="{55486926-EF07-4FC0-A7FE-0FE0F1836277}" type="pres">
      <dgm:prSet presAssocID="{8DF7CEF2-8BCF-4C2B-9833-23C4A2F8E2FD}" presName="node" presStyleLbl="node1" presStyleIdx="0" presStyleCnt="4" custScaleX="149697" custScaleY="10934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0E4A5CA-1531-4F5A-A7B8-A3AA1A68EB32}" type="pres">
      <dgm:prSet presAssocID="{F775997E-588E-4E4A-BBDE-67AFD484B587}" presName="parTrans" presStyleLbl="sibTrans2D1" presStyleIdx="1" presStyleCnt="4"/>
      <dgm:spPr/>
      <dgm:t>
        <a:bodyPr/>
        <a:lstStyle/>
        <a:p>
          <a:endParaRPr lang="en-US"/>
        </a:p>
      </dgm:t>
    </dgm:pt>
    <dgm:pt modelId="{C4B3B92E-20BC-4DAA-B63D-7BBBD98E9116}" type="pres">
      <dgm:prSet presAssocID="{F775997E-588E-4E4A-BBDE-67AFD484B587}" presName="connectorText" presStyleLbl="sibTrans2D1" presStyleIdx="1" presStyleCnt="4"/>
      <dgm:spPr/>
      <dgm:t>
        <a:bodyPr/>
        <a:lstStyle/>
        <a:p>
          <a:endParaRPr lang="en-US"/>
        </a:p>
      </dgm:t>
    </dgm:pt>
    <dgm:pt modelId="{97430BD0-46D6-4616-99A3-18A1F8D16AC1}" type="pres">
      <dgm:prSet presAssocID="{EFF0130C-E83A-4797-912A-52E128B68322}" presName="node" presStyleLbl="node1" presStyleIdx="1" presStyleCnt="4" custScaleX="149697" custScaleY="109341" custRadScaleRad="1172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91F7E2A-9A9B-4D4B-B244-A8FDD321E330}" type="pres">
      <dgm:prSet presAssocID="{A552A9CF-EE6D-4FC4-AF68-F1BFD0E44F2F}" presName="parTrans" presStyleLbl="sibTrans2D1" presStyleIdx="2" presStyleCnt="4"/>
      <dgm:spPr/>
      <dgm:t>
        <a:bodyPr/>
        <a:lstStyle/>
        <a:p>
          <a:endParaRPr lang="en-US"/>
        </a:p>
      </dgm:t>
    </dgm:pt>
    <dgm:pt modelId="{E1CDEE55-09AD-4C4E-B38F-3B04E323D4E0}" type="pres">
      <dgm:prSet presAssocID="{A552A9CF-EE6D-4FC4-AF68-F1BFD0E44F2F}" presName="connectorText" presStyleLbl="sibTrans2D1" presStyleIdx="2" presStyleCnt="4"/>
      <dgm:spPr/>
      <dgm:t>
        <a:bodyPr/>
        <a:lstStyle/>
        <a:p>
          <a:endParaRPr lang="en-US"/>
        </a:p>
      </dgm:t>
    </dgm:pt>
    <dgm:pt modelId="{3E4144C2-5670-4C6E-958D-03489F5CCE5A}" type="pres">
      <dgm:prSet presAssocID="{1D0F8DB1-980F-487B-AAEF-7C7C57027A8F}" presName="node" presStyleLbl="node1" presStyleIdx="2" presStyleCnt="4" custScaleX="149697" custScaleY="10934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53B524B-4BFA-4219-8400-852A7F27F8D0}" type="pres">
      <dgm:prSet presAssocID="{3B004702-81E5-4316-8C91-172A7D390754}" presName="parTrans" presStyleLbl="sibTrans2D1" presStyleIdx="3" presStyleCnt="4"/>
      <dgm:spPr/>
      <dgm:t>
        <a:bodyPr/>
        <a:lstStyle/>
        <a:p>
          <a:endParaRPr lang="en-US"/>
        </a:p>
      </dgm:t>
    </dgm:pt>
    <dgm:pt modelId="{7CB72279-F4FA-46F7-8C20-42C88D1DDBF7}" type="pres">
      <dgm:prSet presAssocID="{3B004702-81E5-4316-8C91-172A7D390754}" presName="connectorText" presStyleLbl="sibTrans2D1" presStyleIdx="3" presStyleCnt="4"/>
      <dgm:spPr/>
      <dgm:t>
        <a:bodyPr/>
        <a:lstStyle/>
        <a:p>
          <a:endParaRPr lang="en-US"/>
        </a:p>
      </dgm:t>
    </dgm:pt>
    <dgm:pt modelId="{1BC20373-B949-4056-AA52-85CA4ED1861C}" type="pres">
      <dgm:prSet presAssocID="{0E37D097-0A60-4969-9AEC-0D28E7676D9B}" presName="node" presStyleLbl="node1" presStyleIdx="3" presStyleCnt="4" custScaleX="149697" custScaleY="109341" custRadScaleRad="1172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ED92E42-B8EF-4C7F-95A6-1A1DBB6C5967}" type="presOf" srcId="{3B004702-81E5-4316-8C91-172A7D390754}" destId="{7CB72279-F4FA-46F7-8C20-42C88D1DDBF7}" srcOrd="1" destOrd="0" presId="urn:microsoft.com/office/officeart/2005/8/layout/radial5"/>
    <dgm:cxn modelId="{8C85C766-BE12-477B-A48A-8F3E86A7E809}" srcId="{5EC2F4A5-60E4-4CE8-B53F-41F9E908F954}" destId="{8DF7CEF2-8BCF-4C2B-9833-23C4A2F8E2FD}" srcOrd="0" destOrd="0" parTransId="{06F18770-A847-4F29-AE58-20F0F7AE0EC7}" sibTransId="{6875C8BD-E72D-4169-BAA0-C7EE7A85FEAE}"/>
    <dgm:cxn modelId="{8154F393-EE73-4D3B-890A-C31E8C17867A}" srcId="{5EC2F4A5-60E4-4CE8-B53F-41F9E908F954}" destId="{EFF0130C-E83A-4797-912A-52E128B68322}" srcOrd="1" destOrd="0" parTransId="{F775997E-588E-4E4A-BBDE-67AFD484B587}" sibTransId="{D3BCCFFD-092E-4518-A32A-E5B2F0BA19FB}"/>
    <dgm:cxn modelId="{D2EC02F8-EAD4-43B6-BC91-16DCD1AFF826}" srcId="{5EC2F4A5-60E4-4CE8-B53F-41F9E908F954}" destId="{1D0F8DB1-980F-487B-AAEF-7C7C57027A8F}" srcOrd="2" destOrd="0" parTransId="{A552A9CF-EE6D-4FC4-AF68-F1BFD0E44F2F}" sibTransId="{E46C091C-1C6C-40E8-BEA2-F1BA07D05AAC}"/>
    <dgm:cxn modelId="{0D5E7349-02E6-4ADD-A435-272D898335E7}" type="presOf" srcId="{A8F8BCF7-B2BB-42BE-A20A-FF54BE578EC9}" destId="{96D133AA-3EB4-481F-9112-146F5D295755}" srcOrd="0" destOrd="0" presId="urn:microsoft.com/office/officeart/2005/8/layout/radial5"/>
    <dgm:cxn modelId="{6849805F-B2CA-4A93-9F4E-6445BD0AAA28}" type="presOf" srcId="{F775997E-588E-4E4A-BBDE-67AFD484B587}" destId="{80E4A5CA-1531-4F5A-A7B8-A3AA1A68EB32}" srcOrd="0" destOrd="0" presId="urn:microsoft.com/office/officeart/2005/8/layout/radial5"/>
    <dgm:cxn modelId="{523E9199-8715-461A-9920-7984390E11E7}" type="presOf" srcId="{F775997E-588E-4E4A-BBDE-67AFD484B587}" destId="{C4B3B92E-20BC-4DAA-B63D-7BBBD98E9116}" srcOrd="1" destOrd="0" presId="urn:microsoft.com/office/officeart/2005/8/layout/radial5"/>
    <dgm:cxn modelId="{813E1C79-8F7B-4E19-B20B-8560C6457F0E}" type="presOf" srcId="{EFF0130C-E83A-4797-912A-52E128B68322}" destId="{97430BD0-46D6-4616-99A3-18A1F8D16AC1}" srcOrd="0" destOrd="0" presId="urn:microsoft.com/office/officeart/2005/8/layout/radial5"/>
    <dgm:cxn modelId="{CE854F36-0900-442F-B3AB-43B029D256DB}" srcId="{A8F8BCF7-B2BB-42BE-A20A-FF54BE578EC9}" destId="{5EC2F4A5-60E4-4CE8-B53F-41F9E908F954}" srcOrd="0" destOrd="0" parTransId="{39C9B7A5-75CC-45C2-81A5-1F5B0D7FE878}" sibTransId="{2B446B9E-CA41-4FCA-A3A5-41FC3A5FD884}"/>
    <dgm:cxn modelId="{BF071D1E-2A81-4CFC-8FB9-734BAB638E19}" type="presOf" srcId="{0E37D097-0A60-4969-9AEC-0D28E7676D9B}" destId="{1BC20373-B949-4056-AA52-85CA4ED1861C}" srcOrd="0" destOrd="0" presId="urn:microsoft.com/office/officeart/2005/8/layout/radial5"/>
    <dgm:cxn modelId="{3FE3BB40-8FF0-4A38-A5B8-387B2539CA1A}" type="presOf" srcId="{06F18770-A847-4F29-AE58-20F0F7AE0EC7}" destId="{6B296D44-2BDD-43DA-8084-ADC0BC6F2CA5}" srcOrd="1" destOrd="0" presId="urn:microsoft.com/office/officeart/2005/8/layout/radial5"/>
    <dgm:cxn modelId="{5486C920-3621-441C-BBAF-85582D8C58F7}" type="presOf" srcId="{8DF7CEF2-8BCF-4C2B-9833-23C4A2F8E2FD}" destId="{55486926-EF07-4FC0-A7FE-0FE0F1836277}" srcOrd="0" destOrd="0" presId="urn:microsoft.com/office/officeart/2005/8/layout/radial5"/>
    <dgm:cxn modelId="{A0FFAC56-F8ED-415E-8DFE-5F5F638DA914}" type="presOf" srcId="{5EC2F4A5-60E4-4CE8-B53F-41F9E908F954}" destId="{54C9F337-1C35-4331-9845-69763631E744}" srcOrd="0" destOrd="0" presId="urn:microsoft.com/office/officeart/2005/8/layout/radial5"/>
    <dgm:cxn modelId="{5FF3953B-2F92-46B9-AED1-CE4242B038F8}" type="presOf" srcId="{3B004702-81E5-4316-8C91-172A7D390754}" destId="{753B524B-4BFA-4219-8400-852A7F27F8D0}" srcOrd="0" destOrd="0" presId="urn:microsoft.com/office/officeart/2005/8/layout/radial5"/>
    <dgm:cxn modelId="{C06C16C7-292E-4D5C-A8EF-A8F943F9334A}" srcId="{5EC2F4A5-60E4-4CE8-B53F-41F9E908F954}" destId="{0E37D097-0A60-4969-9AEC-0D28E7676D9B}" srcOrd="3" destOrd="0" parTransId="{3B004702-81E5-4316-8C91-172A7D390754}" sibTransId="{4ED79201-BEA8-45F8-AFEA-3C2DA73E8149}"/>
    <dgm:cxn modelId="{D26ECE80-6857-4B6A-A88D-7A7CC11085A4}" type="presOf" srcId="{06F18770-A847-4F29-AE58-20F0F7AE0EC7}" destId="{1DB36B51-A7DD-4630-ACF0-B52F2FF030BD}" srcOrd="0" destOrd="0" presId="urn:microsoft.com/office/officeart/2005/8/layout/radial5"/>
    <dgm:cxn modelId="{08AF81D6-88B2-47F2-A235-E1971F8C1ADD}" type="presOf" srcId="{1D0F8DB1-980F-487B-AAEF-7C7C57027A8F}" destId="{3E4144C2-5670-4C6E-958D-03489F5CCE5A}" srcOrd="0" destOrd="0" presId="urn:microsoft.com/office/officeart/2005/8/layout/radial5"/>
    <dgm:cxn modelId="{7215E584-4EDE-4320-93A7-C169ED4B0C67}" type="presOf" srcId="{A552A9CF-EE6D-4FC4-AF68-F1BFD0E44F2F}" destId="{791F7E2A-9A9B-4D4B-B244-A8FDD321E330}" srcOrd="0" destOrd="0" presId="urn:microsoft.com/office/officeart/2005/8/layout/radial5"/>
    <dgm:cxn modelId="{DE94F81D-C4DD-43E9-BABA-A22D77A38859}" type="presOf" srcId="{A552A9CF-EE6D-4FC4-AF68-F1BFD0E44F2F}" destId="{E1CDEE55-09AD-4C4E-B38F-3B04E323D4E0}" srcOrd="1" destOrd="0" presId="urn:microsoft.com/office/officeart/2005/8/layout/radial5"/>
    <dgm:cxn modelId="{FF45784B-3705-4CF0-9D53-2779A31AC3A1}" type="presParOf" srcId="{96D133AA-3EB4-481F-9112-146F5D295755}" destId="{54C9F337-1C35-4331-9845-69763631E744}" srcOrd="0" destOrd="0" presId="urn:microsoft.com/office/officeart/2005/8/layout/radial5"/>
    <dgm:cxn modelId="{98BE48AD-FE45-4E87-AD80-6574EDBAD2C5}" type="presParOf" srcId="{96D133AA-3EB4-481F-9112-146F5D295755}" destId="{1DB36B51-A7DD-4630-ACF0-B52F2FF030BD}" srcOrd="1" destOrd="0" presId="urn:microsoft.com/office/officeart/2005/8/layout/radial5"/>
    <dgm:cxn modelId="{E59BCC36-804A-4BC0-ABA8-C306079A26D1}" type="presParOf" srcId="{1DB36B51-A7DD-4630-ACF0-B52F2FF030BD}" destId="{6B296D44-2BDD-43DA-8084-ADC0BC6F2CA5}" srcOrd="0" destOrd="0" presId="urn:microsoft.com/office/officeart/2005/8/layout/radial5"/>
    <dgm:cxn modelId="{4CD690DA-6237-40A6-BF44-DEFBA37DEA9A}" type="presParOf" srcId="{96D133AA-3EB4-481F-9112-146F5D295755}" destId="{55486926-EF07-4FC0-A7FE-0FE0F1836277}" srcOrd="2" destOrd="0" presId="urn:microsoft.com/office/officeart/2005/8/layout/radial5"/>
    <dgm:cxn modelId="{F8178F67-EA26-48E3-8791-E61BF2A288F9}" type="presParOf" srcId="{96D133AA-3EB4-481F-9112-146F5D295755}" destId="{80E4A5CA-1531-4F5A-A7B8-A3AA1A68EB32}" srcOrd="3" destOrd="0" presId="urn:microsoft.com/office/officeart/2005/8/layout/radial5"/>
    <dgm:cxn modelId="{BB13E7EA-55A5-4C56-8130-3360B24F81BF}" type="presParOf" srcId="{80E4A5CA-1531-4F5A-A7B8-A3AA1A68EB32}" destId="{C4B3B92E-20BC-4DAA-B63D-7BBBD98E9116}" srcOrd="0" destOrd="0" presId="urn:microsoft.com/office/officeart/2005/8/layout/radial5"/>
    <dgm:cxn modelId="{5B45E442-7B31-403C-932C-E4BC26532E66}" type="presParOf" srcId="{96D133AA-3EB4-481F-9112-146F5D295755}" destId="{97430BD0-46D6-4616-99A3-18A1F8D16AC1}" srcOrd="4" destOrd="0" presId="urn:microsoft.com/office/officeart/2005/8/layout/radial5"/>
    <dgm:cxn modelId="{AAC0DD5D-1503-440B-A3D0-DC3B82F251EB}" type="presParOf" srcId="{96D133AA-3EB4-481F-9112-146F5D295755}" destId="{791F7E2A-9A9B-4D4B-B244-A8FDD321E330}" srcOrd="5" destOrd="0" presId="urn:microsoft.com/office/officeart/2005/8/layout/radial5"/>
    <dgm:cxn modelId="{A12229C3-9930-478C-AB7E-F0B4A481CFE2}" type="presParOf" srcId="{791F7E2A-9A9B-4D4B-B244-A8FDD321E330}" destId="{E1CDEE55-09AD-4C4E-B38F-3B04E323D4E0}" srcOrd="0" destOrd="0" presId="urn:microsoft.com/office/officeart/2005/8/layout/radial5"/>
    <dgm:cxn modelId="{337973CC-7A7F-4B54-82A5-9F67D49A5B98}" type="presParOf" srcId="{96D133AA-3EB4-481F-9112-146F5D295755}" destId="{3E4144C2-5670-4C6E-958D-03489F5CCE5A}" srcOrd="6" destOrd="0" presId="urn:microsoft.com/office/officeart/2005/8/layout/radial5"/>
    <dgm:cxn modelId="{D5E10439-CC58-4EA1-9255-2401DE5F2F51}" type="presParOf" srcId="{96D133AA-3EB4-481F-9112-146F5D295755}" destId="{753B524B-4BFA-4219-8400-852A7F27F8D0}" srcOrd="7" destOrd="0" presId="urn:microsoft.com/office/officeart/2005/8/layout/radial5"/>
    <dgm:cxn modelId="{996B82ED-1289-463D-815D-9C7F39597F09}" type="presParOf" srcId="{753B524B-4BFA-4219-8400-852A7F27F8D0}" destId="{7CB72279-F4FA-46F7-8C20-42C88D1DDBF7}" srcOrd="0" destOrd="0" presId="urn:microsoft.com/office/officeart/2005/8/layout/radial5"/>
    <dgm:cxn modelId="{85998457-B6F6-419C-8FC4-172A193FDE09}" type="presParOf" srcId="{96D133AA-3EB4-481F-9112-146F5D295755}" destId="{1BC20373-B949-4056-AA52-85CA4ED1861C}" srcOrd="8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8BAB512-1833-4780-B698-524B6E9FB3A5}" type="doc">
      <dgm:prSet loTypeId="urn:microsoft.com/office/officeart/2005/8/layout/pyramid2" loCatId="pyramid" qsTypeId="urn:microsoft.com/office/officeart/2005/8/quickstyle/simple1" qsCatId="simple" csTypeId="urn:microsoft.com/office/officeart/2005/8/colors/accent1_2" csCatId="accent1" phldr="1"/>
      <dgm:spPr/>
    </dgm:pt>
    <dgm:pt modelId="{F5031630-D688-402A-BC44-2059A3B63DB9}">
      <dgm:prSet phldrT="[Text]" custT="1"/>
      <dgm:spPr/>
      <dgm:t>
        <a:bodyPr/>
        <a:lstStyle/>
        <a:p>
          <a:r>
            <a:rPr lang="en-US" sz="2200" dirty="0" smtClean="0"/>
            <a:t>Process definition</a:t>
          </a:r>
          <a:endParaRPr lang="en-US" sz="2200" dirty="0"/>
        </a:p>
      </dgm:t>
    </dgm:pt>
    <dgm:pt modelId="{FC8E08CC-999E-4DD5-B9A7-28BCB13A8E7D}" type="parTrans" cxnId="{A06163DA-2A1A-466E-B9CD-A048AB9C9823}">
      <dgm:prSet/>
      <dgm:spPr/>
      <dgm:t>
        <a:bodyPr/>
        <a:lstStyle/>
        <a:p>
          <a:endParaRPr lang="en-US"/>
        </a:p>
      </dgm:t>
    </dgm:pt>
    <dgm:pt modelId="{221C6466-86F7-4E90-99CE-F35363B4C0A5}" type="sibTrans" cxnId="{A06163DA-2A1A-466E-B9CD-A048AB9C9823}">
      <dgm:prSet/>
      <dgm:spPr/>
      <dgm:t>
        <a:bodyPr/>
        <a:lstStyle/>
        <a:p>
          <a:endParaRPr lang="en-US"/>
        </a:p>
      </dgm:t>
    </dgm:pt>
    <dgm:pt modelId="{10BB3EB5-AD7B-4C54-B80A-C9A4E09C3B4D}">
      <dgm:prSet phldrT="[Text]" custT="1"/>
      <dgm:spPr/>
      <dgm:t>
        <a:bodyPr/>
        <a:lstStyle/>
        <a:p>
          <a:r>
            <a:rPr lang="en-US" sz="2200" dirty="0" smtClean="0"/>
            <a:t>Training</a:t>
          </a:r>
          <a:endParaRPr lang="en-US" sz="2200" dirty="0"/>
        </a:p>
      </dgm:t>
    </dgm:pt>
    <dgm:pt modelId="{59D5E676-F6B6-412F-8944-82AA327438B5}" type="parTrans" cxnId="{66C7C75A-B081-4CF1-B374-3B8AE98FF3DA}">
      <dgm:prSet/>
      <dgm:spPr/>
      <dgm:t>
        <a:bodyPr/>
        <a:lstStyle/>
        <a:p>
          <a:endParaRPr lang="en-US"/>
        </a:p>
      </dgm:t>
    </dgm:pt>
    <dgm:pt modelId="{CA046B30-8605-400F-9179-0BA29DB71F11}" type="sibTrans" cxnId="{66C7C75A-B081-4CF1-B374-3B8AE98FF3DA}">
      <dgm:prSet/>
      <dgm:spPr/>
      <dgm:t>
        <a:bodyPr/>
        <a:lstStyle/>
        <a:p>
          <a:endParaRPr lang="en-US"/>
        </a:p>
      </dgm:t>
    </dgm:pt>
    <dgm:pt modelId="{8B4C24B5-8386-4648-9FDE-142258F6534F}">
      <dgm:prSet phldrT="[Text]" custT="1"/>
      <dgm:spPr/>
      <dgm:t>
        <a:bodyPr/>
        <a:lstStyle/>
        <a:p>
          <a:r>
            <a:rPr lang="en-US" sz="2200" dirty="0" smtClean="0"/>
            <a:t>…</a:t>
          </a:r>
          <a:endParaRPr lang="en-US" sz="2200" dirty="0"/>
        </a:p>
      </dgm:t>
    </dgm:pt>
    <dgm:pt modelId="{F16B289C-ED4E-443E-BF09-6962639A5767}" type="parTrans" cxnId="{99BDFE07-B07E-4BA4-8187-60F729B93AF8}">
      <dgm:prSet/>
      <dgm:spPr/>
      <dgm:t>
        <a:bodyPr/>
        <a:lstStyle/>
        <a:p>
          <a:endParaRPr lang="en-US"/>
        </a:p>
      </dgm:t>
    </dgm:pt>
    <dgm:pt modelId="{5C79A35D-0F18-4B58-8E71-0488D2407595}" type="sibTrans" cxnId="{99BDFE07-B07E-4BA4-8187-60F729B93AF8}">
      <dgm:prSet/>
      <dgm:spPr/>
      <dgm:t>
        <a:bodyPr/>
        <a:lstStyle/>
        <a:p>
          <a:endParaRPr lang="en-US"/>
        </a:p>
      </dgm:t>
    </dgm:pt>
    <dgm:pt modelId="{FAA5903D-C3AE-4C7A-B212-CD626AA74F89}">
      <dgm:prSet phldrT="[Text]" custT="1"/>
      <dgm:spPr/>
      <dgm:t>
        <a:bodyPr/>
        <a:lstStyle/>
        <a:p>
          <a:r>
            <a:rPr lang="en-US" sz="2200" dirty="0" smtClean="0"/>
            <a:t>Tools selection</a:t>
          </a:r>
          <a:endParaRPr lang="en-US" sz="2200" dirty="0"/>
        </a:p>
      </dgm:t>
    </dgm:pt>
    <dgm:pt modelId="{B76FBBD6-E20A-4604-AF5B-088F90AA8C19}" type="parTrans" cxnId="{08F7EBAA-ECD9-45F5-AA42-EBE2399DC669}">
      <dgm:prSet/>
      <dgm:spPr/>
      <dgm:t>
        <a:bodyPr/>
        <a:lstStyle/>
        <a:p>
          <a:endParaRPr lang="en-US"/>
        </a:p>
      </dgm:t>
    </dgm:pt>
    <dgm:pt modelId="{E75D3DA0-9EC2-4CB9-ACC4-A5E4DC14FAF1}" type="sibTrans" cxnId="{08F7EBAA-ECD9-45F5-AA42-EBE2399DC669}">
      <dgm:prSet/>
      <dgm:spPr/>
      <dgm:t>
        <a:bodyPr/>
        <a:lstStyle/>
        <a:p>
          <a:endParaRPr lang="en-US"/>
        </a:p>
      </dgm:t>
    </dgm:pt>
    <dgm:pt modelId="{5CB3AF33-D18A-4F59-8C76-C372D8A7E4A0}" type="pres">
      <dgm:prSet presAssocID="{E8BAB512-1833-4780-B698-524B6E9FB3A5}" presName="compositeShape" presStyleCnt="0">
        <dgm:presLayoutVars>
          <dgm:dir/>
          <dgm:resizeHandles/>
        </dgm:presLayoutVars>
      </dgm:prSet>
      <dgm:spPr/>
    </dgm:pt>
    <dgm:pt modelId="{852F3201-B686-49F7-BE13-37688C99CBB8}" type="pres">
      <dgm:prSet presAssocID="{E8BAB512-1833-4780-B698-524B6E9FB3A5}" presName="pyramid" presStyleLbl="node1" presStyleIdx="0" presStyleCnt="1"/>
      <dgm:spPr/>
    </dgm:pt>
    <dgm:pt modelId="{38A1212F-F3CF-4A34-9CE6-7A5C5B08913A}" type="pres">
      <dgm:prSet presAssocID="{E8BAB512-1833-4780-B698-524B6E9FB3A5}" presName="theList" presStyleCnt="0"/>
      <dgm:spPr/>
    </dgm:pt>
    <dgm:pt modelId="{C8653508-7551-4A7E-832A-C2CA7EED37C2}" type="pres">
      <dgm:prSet presAssocID="{F5031630-D688-402A-BC44-2059A3B63DB9}" presName="aNode" presStyleLbl="fgAcc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0B4064C-DB88-45DA-9535-E0030A9ED5F6}" type="pres">
      <dgm:prSet presAssocID="{F5031630-D688-402A-BC44-2059A3B63DB9}" presName="aSpace" presStyleCnt="0"/>
      <dgm:spPr/>
    </dgm:pt>
    <dgm:pt modelId="{B9059133-E96A-4198-92C6-17F5B029F1A2}" type="pres">
      <dgm:prSet presAssocID="{FAA5903D-C3AE-4C7A-B212-CD626AA74F89}" presName="aNode" presStyleLbl="fgAcc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7A5DBFD-3C07-47F1-B362-43320BF20507}" type="pres">
      <dgm:prSet presAssocID="{FAA5903D-C3AE-4C7A-B212-CD626AA74F89}" presName="aSpace" presStyleCnt="0"/>
      <dgm:spPr/>
    </dgm:pt>
    <dgm:pt modelId="{2907C7F5-1FD6-4FF2-AF9F-034341F59BB7}" type="pres">
      <dgm:prSet presAssocID="{10BB3EB5-AD7B-4C54-B80A-C9A4E09C3B4D}" presName="aNode" presStyleLbl="fgAcc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3FCDE50-A70C-428F-AFF5-344410F795CB}" type="pres">
      <dgm:prSet presAssocID="{10BB3EB5-AD7B-4C54-B80A-C9A4E09C3B4D}" presName="aSpace" presStyleCnt="0"/>
      <dgm:spPr/>
    </dgm:pt>
    <dgm:pt modelId="{17BFA642-55CE-4A01-A2AC-ABB40C5575FA}" type="pres">
      <dgm:prSet presAssocID="{8B4C24B5-8386-4648-9FDE-142258F6534F}" presName="aNode" presStyleLbl="fgAcc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F3DA465-A623-4482-91B2-03262FBEE5EB}" type="pres">
      <dgm:prSet presAssocID="{8B4C24B5-8386-4648-9FDE-142258F6534F}" presName="aSpace" presStyleCnt="0"/>
      <dgm:spPr/>
    </dgm:pt>
  </dgm:ptLst>
  <dgm:cxnLst>
    <dgm:cxn modelId="{99BDFE07-B07E-4BA4-8187-60F729B93AF8}" srcId="{E8BAB512-1833-4780-B698-524B6E9FB3A5}" destId="{8B4C24B5-8386-4648-9FDE-142258F6534F}" srcOrd="3" destOrd="0" parTransId="{F16B289C-ED4E-443E-BF09-6962639A5767}" sibTransId="{5C79A35D-0F18-4B58-8E71-0488D2407595}"/>
    <dgm:cxn modelId="{08F7EBAA-ECD9-45F5-AA42-EBE2399DC669}" srcId="{E8BAB512-1833-4780-B698-524B6E9FB3A5}" destId="{FAA5903D-C3AE-4C7A-B212-CD626AA74F89}" srcOrd="1" destOrd="0" parTransId="{B76FBBD6-E20A-4604-AF5B-088F90AA8C19}" sibTransId="{E75D3DA0-9EC2-4CB9-ACC4-A5E4DC14FAF1}"/>
    <dgm:cxn modelId="{AFD86757-7A28-4CF8-966A-707FEC8B889A}" type="presOf" srcId="{10BB3EB5-AD7B-4C54-B80A-C9A4E09C3B4D}" destId="{2907C7F5-1FD6-4FF2-AF9F-034341F59BB7}" srcOrd="0" destOrd="0" presId="urn:microsoft.com/office/officeart/2005/8/layout/pyramid2"/>
    <dgm:cxn modelId="{D143CA1D-D3A1-40E7-AEA1-BD117D9B9424}" type="presOf" srcId="{FAA5903D-C3AE-4C7A-B212-CD626AA74F89}" destId="{B9059133-E96A-4198-92C6-17F5B029F1A2}" srcOrd="0" destOrd="0" presId="urn:microsoft.com/office/officeart/2005/8/layout/pyramid2"/>
    <dgm:cxn modelId="{A06163DA-2A1A-466E-B9CD-A048AB9C9823}" srcId="{E8BAB512-1833-4780-B698-524B6E9FB3A5}" destId="{F5031630-D688-402A-BC44-2059A3B63DB9}" srcOrd="0" destOrd="0" parTransId="{FC8E08CC-999E-4DD5-B9A7-28BCB13A8E7D}" sibTransId="{221C6466-86F7-4E90-99CE-F35363B4C0A5}"/>
    <dgm:cxn modelId="{0B512AA6-7047-4BFC-9B6F-B84DE9BA03D0}" type="presOf" srcId="{8B4C24B5-8386-4648-9FDE-142258F6534F}" destId="{17BFA642-55CE-4A01-A2AC-ABB40C5575FA}" srcOrd="0" destOrd="0" presId="urn:microsoft.com/office/officeart/2005/8/layout/pyramid2"/>
    <dgm:cxn modelId="{DB5ECBA3-DEE6-4A14-83DB-C145FEB3CDE7}" type="presOf" srcId="{E8BAB512-1833-4780-B698-524B6E9FB3A5}" destId="{5CB3AF33-D18A-4F59-8C76-C372D8A7E4A0}" srcOrd="0" destOrd="0" presId="urn:microsoft.com/office/officeart/2005/8/layout/pyramid2"/>
    <dgm:cxn modelId="{66C7C75A-B081-4CF1-B374-3B8AE98FF3DA}" srcId="{E8BAB512-1833-4780-B698-524B6E9FB3A5}" destId="{10BB3EB5-AD7B-4C54-B80A-C9A4E09C3B4D}" srcOrd="2" destOrd="0" parTransId="{59D5E676-F6B6-412F-8944-82AA327438B5}" sibTransId="{CA046B30-8605-400F-9179-0BA29DB71F11}"/>
    <dgm:cxn modelId="{F48CE354-4F51-4FD1-91AF-59A94A2B84D5}" type="presOf" srcId="{F5031630-D688-402A-BC44-2059A3B63DB9}" destId="{C8653508-7551-4A7E-832A-C2CA7EED37C2}" srcOrd="0" destOrd="0" presId="urn:microsoft.com/office/officeart/2005/8/layout/pyramid2"/>
    <dgm:cxn modelId="{D51A490E-39AA-4C36-9033-610EF80901A4}" type="presParOf" srcId="{5CB3AF33-D18A-4F59-8C76-C372D8A7E4A0}" destId="{852F3201-B686-49F7-BE13-37688C99CBB8}" srcOrd="0" destOrd="0" presId="urn:microsoft.com/office/officeart/2005/8/layout/pyramid2"/>
    <dgm:cxn modelId="{384A730C-DE61-4688-8883-D098AFFC61D1}" type="presParOf" srcId="{5CB3AF33-D18A-4F59-8C76-C372D8A7E4A0}" destId="{38A1212F-F3CF-4A34-9CE6-7A5C5B08913A}" srcOrd="1" destOrd="0" presId="urn:microsoft.com/office/officeart/2005/8/layout/pyramid2"/>
    <dgm:cxn modelId="{E530C038-2B6A-4884-A22C-9E6863154402}" type="presParOf" srcId="{38A1212F-F3CF-4A34-9CE6-7A5C5B08913A}" destId="{C8653508-7551-4A7E-832A-C2CA7EED37C2}" srcOrd="0" destOrd="0" presId="urn:microsoft.com/office/officeart/2005/8/layout/pyramid2"/>
    <dgm:cxn modelId="{DE4915BF-674D-4803-B704-AD1BDFDF2AD3}" type="presParOf" srcId="{38A1212F-F3CF-4A34-9CE6-7A5C5B08913A}" destId="{A0B4064C-DB88-45DA-9535-E0030A9ED5F6}" srcOrd="1" destOrd="0" presId="urn:microsoft.com/office/officeart/2005/8/layout/pyramid2"/>
    <dgm:cxn modelId="{BB194D22-1BF6-46BC-8348-E07267400E05}" type="presParOf" srcId="{38A1212F-F3CF-4A34-9CE6-7A5C5B08913A}" destId="{B9059133-E96A-4198-92C6-17F5B029F1A2}" srcOrd="2" destOrd="0" presId="urn:microsoft.com/office/officeart/2005/8/layout/pyramid2"/>
    <dgm:cxn modelId="{A08DDFA6-8834-43FD-933A-38B6456193A8}" type="presParOf" srcId="{38A1212F-F3CF-4A34-9CE6-7A5C5B08913A}" destId="{F7A5DBFD-3C07-47F1-B362-43320BF20507}" srcOrd="3" destOrd="0" presId="urn:microsoft.com/office/officeart/2005/8/layout/pyramid2"/>
    <dgm:cxn modelId="{F09A32E1-FB03-4C9C-B3D4-C11EC99EB3C5}" type="presParOf" srcId="{38A1212F-F3CF-4A34-9CE6-7A5C5B08913A}" destId="{2907C7F5-1FD6-4FF2-AF9F-034341F59BB7}" srcOrd="4" destOrd="0" presId="urn:microsoft.com/office/officeart/2005/8/layout/pyramid2"/>
    <dgm:cxn modelId="{ABB13D3B-B329-491C-B2E1-2D4EA8466C49}" type="presParOf" srcId="{38A1212F-F3CF-4A34-9CE6-7A5C5B08913A}" destId="{E3FCDE50-A70C-428F-AFF5-344410F795CB}" srcOrd="5" destOrd="0" presId="urn:microsoft.com/office/officeart/2005/8/layout/pyramid2"/>
    <dgm:cxn modelId="{17E89E6B-B069-4FD1-A77A-CDAAF432D76B}" type="presParOf" srcId="{38A1212F-F3CF-4A34-9CE6-7A5C5B08913A}" destId="{17BFA642-55CE-4A01-A2AC-ABB40C5575FA}" srcOrd="6" destOrd="0" presId="urn:microsoft.com/office/officeart/2005/8/layout/pyramid2"/>
    <dgm:cxn modelId="{0CB6B6ED-4971-45D8-8566-A5919C1790C2}" type="presParOf" srcId="{38A1212F-F3CF-4A34-9CE6-7A5C5B08913A}" destId="{7F3DA465-A623-4482-91B2-03262FBEE5EB}" srcOrd="7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xmlns="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8F8BCF7-B2BB-42BE-A20A-FF54BE578EC9}" type="doc">
      <dgm:prSet loTypeId="urn:microsoft.com/office/officeart/2005/8/layout/radial5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EC2F4A5-60E4-4CE8-B53F-41F9E908F954}">
      <dgm:prSet phldrT="[Text]" custT="1"/>
      <dgm:spPr/>
      <dgm:t>
        <a:bodyPr/>
        <a:lstStyle/>
        <a:p>
          <a:r>
            <a:rPr lang="en-US" sz="2200" dirty="0" smtClean="0"/>
            <a:t>QC</a:t>
          </a:r>
          <a:endParaRPr lang="en-US" sz="2200" dirty="0"/>
        </a:p>
      </dgm:t>
    </dgm:pt>
    <dgm:pt modelId="{39C9B7A5-75CC-45C2-81A5-1F5B0D7FE878}" type="parTrans" cxnId="{CE854F36-0900-442F-B3AB-43B029D256DB}">
      <dgm:prSet/>
      <dgm:spPr/>
      <dgm:t>
        <a:bodyPr/>
        <a:lstStyle/>
        <a:p>
          <a:endParaRPr lang="en-US"/>
        </a:p>
      </dgm:t>
    </dgm:pt>
    <dgm:pt modelId="{2B446B9E-CA41-4FCA-A3A5-41FC3A5FD884}" type="sibTrans" cxnId="{CE854F36-0900-442F-B3AB-43B029D256DB}">
      <dgm:prSet/>
      <dgm:spPr/>
      <dgm:t>
        <a:bodyPr/>
        <a:lstStyle/>
        <a:p>
          <a:endParaRPr lang="en-US"/>
        </a:p>
      </dgm:t>
    </dgm:pt>
    <dgm:pt modelId="{8DF7CEF2-8BCF-4C2B-9833-23C4A2F8E2FD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US" sz="2200" dirty="0" smtClean="0"/>
            <a:t>Process</a:t>
          </a:r>
          <a:endParaRPr lang="en-US" sz="2200" dirty="0"/>
        </a:p>
      </dgm:t>
    </dgm:pt>
    <dgm:pt modelId="{06F18770-A847-4F29-AE58-20F0F7AE0EC7}" type="parTrans" cxnId="{8C85C766-BE12-477B-A48A-8F3E86A7E809}">
      <dgm:prSet/>
      <dgm:spPr/>
      <dgm:t>
        <a:bodyPr/>
        <a:lstStyle/>
        <a:p>
          <a:endParaRPr lang="en-US"/>
        </a:p>
      </dgm:t>
    </dgm:pt>
    <dgm:pt modelId="{6875C8BD-E72D-4169-BAA0-C7EE7A85FEAE}" type="sibTrans" cxnId="{8C85C766-BE12-477B-A48A-8F3E86A7E809}">
      <dgm:prSet/>
      <dgm:spPr/>
      <dgm:t>
        <a:bodyPr/>
        <a:lstStyle/>
        <a:p>
          <a:endParaRPr lang="en-US"/>
        </a:p>
      </dgm:t>
    </dgm:pt>
    <dgm:pt modelId="{EFF0130C-E83A-4797-912A-52E128B68322}">
      <dgm:prSet phldrT="[Text]" custT="1"/>
      <dgm:spPr>
        <a:solidFill>
          <a:schemeClr val="accent3"/>
        </a:solidFill>
      </dgm:spPr>
      <dgm:t>
        <a:bodyPr/>
        <a:lstStyle/>
        <a:p>
          <a:r>
            <a:rPr lang="en-US" sz="2200" dirty="0" smtClean="0"/>
            <a:t>Products</a:t>
          </a:r>
          <a:endParaRPr lang="en-US" sz="2200" dirty="0"/>
        </a:p>
      </dgm:t>
    </dgm:pt>
    <dgm:pt modelId="{F775997E-588E-4E4A-BBDE-67AFD484B587}" type="parTrans" cxnId="{8154F393-EE73-4D3B-890A-C31E8C17867A}">
      <dgm:prSet/>
      <dgm:spPr/>
      <dgm:t>
        <a:bodyPr/>
        <a:lstStyle/>
        <a:p>
          <a:endParaRPr lang="en-US"/>
        </a:p>
      </dgm:t>
    </dgm:pt>
    <dgm:pt modelId="{D3BCCFFD-092E-4518-A32A-E5B2F0BA19FB}" type="sibTrans" cxnId="{8154F393-EE73-4D3B-890A-C31E8C17867A}">
      <dgm:prSet/>
      <dgm:spPr/>
      <dgm:t>
        <a:bodyPr/>
        <a:lstStyle/>
        <a:p>
          <a:endParaRPr lang="en-US"/>
        </a:p>
      </dgm:t>
    </dgm:pt>
    <dgm:pt modelId="{1D0F8DB1-980F-487B-AAEF-7C7C57027A8F}">
      <dgm:prSet phldrT="[Text]" custT="1"/>
      <dgm:spPr>
        <a:solidFill>
          <a:schemeClr val="accent4"/>
        </a:solidFill>
      </dgm:spPr>
      <dgm:t>
        <a:bodyPr/>
        <a:lstStyle/>
        <a:p>
          <a:r>
            <a:rPr lang="en-US" sz="2200" dirty="0" smtClean="0"/>
            <a:t>People</a:t>
          </a:r>
          <a:endParaRPr lang="en-US" sz="2200" dirty="0"/>
        </a:p>
      </dgm:t>
    </dgm:pt>
    <dgm:pt modelId="{A552A9CF-EE6D-4FC4-AF68-F1BFD0E44F2F}" type="parTrans" cxnId="{D2EC02F8-EAD4-43B6-BC91-16DCD1AFF826}">
      <dgm:prSet/>
      <dgm:spPr/>
      <dgm:t>
        <a:bodyPr/>
        <a:lstStyle/>
        <a:p>
          <a:endParaRPr lang="en-US"/>
        </a:p>
      </dgm:t>
    </dgm:pt>
    <dgm:pt modelId="{E46C091C-1C6C-40E8-BEA2-F1BA07D05AAC}" type="sibTrans" cxnId="{D2EC02F8-EAD4-43B6-BC91-16DCD1AFF826}">
      <dgm:prSet/>
      <dgm:spPr/>
      <dgm:t>
        <a:bodyPr/>
        <a:lstStyle/>
        <a:p>
          <a:endParaRPr lang="en-US"/>
        </a:p>
      </dgm:t>
    </dgm:pt>
    <dgm:pt modelId="{0E37D097-0A60-4969-9AEC-0D28E7676D9B}">
      <dgm:prSet phldrT="[Text]" custT="1"/>
      <dgm:spPr>
        <a:solidFill>
          <a:schemeClr val="accent5"/>
        </a:solidFill>
      </dgm:spPr>
      <dgm:t>
        <a:bodyPr/>
        <a:lstStyle/>
        <a:p>
          <a:r>
            <a:rPr lang="en-US" sz="2200" dirty="0" smtClean="0"/>
            <a:t>Services</a:t>
          </a:r>
          <a:endParaRPr lang="en-US" sz="2200" dirty="0"/>
        </a:p>
      </dgm:t>
    </dgm:pt>
    <dgm:pt modelId="{3B004702-81E5-4316-8C91-172A7D390754}" type="parTrans" cxnId="{C06C16C7-292E-4D5C-A8EF-A8F943F9334A}">
      <dgm:prSet/>
      <dgm:spPr/>
      <dgm:t>
        <a:bodyPr/>
        <a:lstStyle/>
        <a:p>
          <a:endParaRPr lang="en-US"/>
        </a:p>
      </dgm:t>
    </dgm:pt>
    <dgm:pt modelId="{4ED79201-BEA8-45F8-AFEA-3C2DA73E8149}" type="sibTrans" cxnId="{C06C16C7-292E-4D5C-A8EF-A8F943F9334A}">
      <dgm:prSet/>
      <dgm:spPr/>
      <dgm:t>
        <a:bodyPr/>
        <a:lstStyle/>
        <a:p>
          <a:endParaRPr lang="en-US"/>
        </a:p>
      </dgm:t>
    </dgm:pt>
    <dgm:pt modelId="{96D133AA-3EB4-481F-9112-146F5D295755}" type="pres">
      <dgm:prSet presAssocID="{A8F8BCF7-B2BB-42BE-A20A-FF54BE578EC9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4C9F337-1C35-4331-9845-69763631E744}" type="pres">
      <dgm:prSet presAssocID="{5EC2F4A5-60E4-4CE8-B53F-41F9E908F954}" presName="centerShape" presStyleLbl="node0" presStyleIdx="0" presStyleCnt="1" custScaleX="125451"/>
      <dgm:spPr/>
      <dgm:t>
        <a:bodyPr/>
        <a:lstStyle/>
        <a:p>
          <a:endParaRPr lang="en-US"/>
        </a:p>
      </dgm:t>
    </dgm:pt>
    <dgm:pt modelId="{1DB36B51-A7DD-4630-ACF0-B52F2FF030BD}" type="pres">
      <dgm:prSet presAssocID="{06F18770-A847-4F29-AE58-20F0F7AE0EC7}" presName="parTrans" presStyleLbl="sibTrans2D1" presStyleIdx="0" presStyleCnt="4"/>
      <dgm:spPr/>
      <dgm:t>
        <a:bodyPr/>
        <a:lstStyle/>
        <a:p>
          <a:endParaRPr lang="en-US"/>
        </a:p>
      </dgm:t>
    </dgm:pt>
    <dgm:pt modelId="{6B296D44-2BDD-43DA-8084-ADC0BC6F2CA5}" type="pres">
      <dgm:prSet presAssocID="{06F18770-A847-4F29-AE58-20F0F7AE0EC7}" presName="connectorText" presStyleLbl="sibTrans2D1" presStyleIdx="0" presStyleCnt="4"/>
      <dgm:spPr/>
      <dgm:t>
        <a:bodyPr/>
        <a:lstStyle/>
        <a:p>
          <a:endParaRPr lang="en-US"/>
        </a:p>
      </dgm:t>
    </dgm:pt>
    <dgm:pt modelId="{55486926-EF07-4FC0-A7FE-0FE0F1836277}" type="pres">
      <dgm:prSet presAssocID="{8DF7CEF2-8BCF-4C2B-9833-23C4A2F8E2FD}" presName="node" presStyleLbl="node1" presStyleIdx="0" presStyleCnt="4" custScaleX="149833" custScaleY="109341" custRadScaleRad="100151" custRadScaleInc="-647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0E4A5CA-1531-4F5A-A7B8-A3AA1A68EB32}" type="pres">
      <dgm:prSet presAssocID="{F775997E-588E-4E4A-BBDE-67AFD484B587}" presName="parTrans" presStyleLbl="sibTrans2D1" presStyleIdx="1" presStyleCnt="4"/>
      <dgm:spPr/>
      <dgm:t>
        <a:bodyPr/>
        <a:lstStyle/>
        <a:p>
          <a:endParaRPr lang="en-US"/>
        </a:p>
      </dgm:t>
    </dgm:pt>
    <dgm:pt modelId="{C4B3B92E-20BC-4DAA-B63D-7BBBD98E9116}" type="pres">
      <dgm:prSet presAssocID="{F775997E-588E-4E4A-BBDE-67AFD484B587}" presName="connectorText" presStyleLbl="sibTrans2D1" presStyleIdx="1" presStyleCnt="4"/>
      <dgm:spPr/>
      <dgm:t>
        <a:bodyPr/>
        <a:lstStyle/>
        <a:p>
          <a:endParaRPr lang="en-US"/>
        </a:p>
      </dgm:t>
    </dgm:pt>
    <dgm:pt modelId="{97430BD0-46D6-4616-99A3-18A1F8D16AC1}" type="pres">
      <dgm:prSet presAssocID="{EFF0130C-E83A-4797-912A-52E128B68322}" presName="node" presStyleLbl="node1" presStyleIdx="1" presStyleCnt="4" custScaleX="149833" custScaleY="109341" custRadScaleRad="117154" custRadScaleInc="-2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91F7E2A-9A9B-4D4B-B244-A8FDD321E330}" type="pres">
      <dgm:prSet presAssocID="{A552A9CF-EE6D-4FC4-AF68-F1BFD0E44F2F}" presName="parTrans" presStyleLbl="sibTrans2D1" presStyleIdx="2" presStyleCnt="4"/>
      <dgm:spPr/>
      <dgm:t>
        <a:bodyPr/>
        <a:lstStyle/>
        <a:p>
          <a:endParaRPr lang="en-US"/>
        </a:p>
      </dgm:t>
    </dgm:pt>
    <dgm:pt modelId="{E1CDEE55-09AD-4C4E-B38F-3B04E323D4E0}" type="pres">
      <dgm:prSet presAssocID="{A552A9CF-EE6D-4FC4-AF68-F1BFD0E44F2F}" presName="connectorText" presStyleLbl="sibTrans2D1" presStyleIdx="2" presStyleCnt="4"/>
      <dgm:spPr/>
      <dgm:t>
        <a:bodyPr/>
        <a:lstStyle/>
        <a:p>
          <a:endParaRPr lang="en-US"/>
        </a:p>
      </dgm:t>
    </dgm:pt>
    <dgm:pt modelId="{3E4144C2-5670-4C6E-958D-03489F5CCE5A}" type="pres">
      <dgm:prSet presAssocID="{1D0F8DB1-980F-487B-AAEF-7C7C57027A8F}" presName="node" presStyleLbl="node1" presStyleIdx="2" presStyleCnt="4" custScaleX="149833" custScaleY="109341" custRadScaleRad="100108" custRadScaleInc="648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53B524B-4BFA-4219-8400-852A7F27F8D0}" type="pres">
      <dgm:prSet presAssocID="{3B004702-81E5-4316-8C91-172A7D390754}" presName="parTrans" presStyleLbl="sibTrans2D1" presStyleIdx="3" presStyleCnt="4"/>
      <dgm:spPr/>
      <dgm:t>
        <a:bodyPr/>
        <a:lstStyle/>
        <a:p>
          <a:endParaRPr lang="en-US"/>
        </a:p>
      </dgm:t>
    </dgm:pt>
    <dgm:pt modelId="{7CB72279-F4FA-46F7-8C20-42C88D1DDBF7}" type="pres">
      <dgm:prSet presAssocID="{3B004702-81E5-4316-8C91-172A7D390754}" presName="connectorText" presStyleLbl="sibTrans2D1" presStyleIdx="3" presStyleCnt="4"/>
      <dgm:spPr/>
      <dgm:t>
        <a:bodyPr/>
        <a:lstStyle/>
        <a:p>
          <a:endParaRPr lang="en-US"/>
        </a:p>
      </dgm:t>
    </dgm:pt>
    <dgm:pt modelId="{1BC20373-B949-4056-AA52-85CA4ED1861C}" type="pres">
      <dgm:prSet presAssocID="{0E37D097-0A60-4969-9AEC-0D28E7676D9B}" presName="node" presStyleLbl="node1" presStyleIdx="3" presStyleCnt="4" custScaleX="149833" custScaleY="109341" custRadScaleRad="127342" custRadScaleInc="2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F09AF94-EC46-40AE-84B2-4FC496955973}" type="presOf" srcId="{3B004702-81E5-4316-8C91-172A7D390754}" destId="{753B524B-4BFA-4219-8400-852A7F27F8D0}" srcOrd="0" destOrd="0" presId="urn:microsoft.com/office/officeart/2005/8/layout/radial5"/>
    <dgm:cxn modelId="{8C85C766-BE12-477B-A48A-8F3E86A7E809}" srcId="{5EC2F4A5-60E4-4CE8-B53F-41F9E908F954}" destId="{8DF7CEF2-8BCF-4C2B-9833-23C4A2F8E2FD}" srcOrd="0" destOrd="0" parTransId="{06F18770-A847-4F29-AE58-20F0F7AE0EC7}" sibTransId="{6875C8BD-E72D-4169-BAA0-C7EE7A85FEAE}"/>
    <dgm:cxn modelId="{8154F393-EE73-4D3B-890A-C31E8C17867A}" srcId="{5EC2F4A5-60E4-4CE8-B53F-41F9E908F954}" destId="{EFF0130C-E83A-4797-912A-52E128B68322}" srcOrd="1" destOrd="0" parTransId="{F775997E-588E-4E4A-BBDE-67AFD484B587}" sibTransId="{D3BCCFFD-092E-4518-A32A-E5B2F0BA19FB}"/>
    <dgm:cxn modelId="{D2EC02F8-EAD4-43B6-BC91-16DCD1AFF826}" srcId="{5EC2F4A5-60E4-4CE8-B53F-41F9E908F954}" destId="{1D0F8DB1-980F-487B-AAEF-7C7C57027A8F}" srcOrd="2" destOrd="0" parTransId="{A552A9CF-EE6D-4FC4-AF68-F1BFD0E44F2F}" sibTransId="{E46C091C-1C6C-40E8-BEA2-F1BA07D05AAC}"/>
    <dgm:cxn modelId="{98E23198-91B1-439F-9131-56BB21E52F00}" type="presOf" srcId="{06F18770-A847-4F29-AE58-20F0F7AE0EC7}" destId="{6B296D44-2BDD-43DA-8084-ADC0BC6F2CA5}" srcOrd="1" destOrd="0" presId="urn:microsoft.com/office/officeart/2005/8/layout/radial5"/>
    <dgm:cxn modelId="{C8508D46-6F35-4464-B623-66223F21860F}" type="presOf" srcId="{0E37D097-0A60-4969-9AEC-0D28E7676D9B}" destId="{1BC20373-B949-4056-AA52-85CA4ED1861C}" srcOrd="0" destOrd="0" presId="urn:microsoft.com/office/officeart/2005/8/layout/radial5"/>
    <dgm:cxn modelId="{F4E52E60-9FCF-4E82-BD33-DC390C4B8B30}" type="presOf" srcId="{F775997E-588E-4E4A-BBDE-67AFD484B587}" destId="{80E4A5CA-1531-4F5A-A7B8-A3AA1A68EB32}" srcOrd="0" destOrd="0" presId="urn:microsoft.com/office/officeart/2005/8/layout/radial5"/>
    <dgm:cxn modelId="{CE854F36-0900-442F-B3AB-43B029D256DB}" srcId="{A8F8BCF7-B2BB-42BE-A20A-FF54BE578EC9}" destId="{5EC2F4A5-60E4-4CE8-B53F-41F9E908F954}" srcOrd="0" destOrd="0" parTransId="{39C9B7A5-75CC-45C2-81A5-1F5B0D7FE878}" sibTransId="{2B446B9E-CA41-4FCA-A3A5-41FC3A5FD884}"/>
    <dgm:cxn modelId="{45701932-50C7-427E-85D2-595D4CD34BA6}" type="presOf" srcId="{8DF7CEF2-8BCF-4C2B-9833-23C4A2F8E2FD}" destId="{55486926-EF07-4FC0-A7FE-0FE0F1836277}" srcOrd="0" destOrd="0" presId="urn:microsoft.com/office/officeart/2005/8/layout/radial5"/>
    <dgm:cxn modelId="{0E6DC9A8-D037-4602-9093-F755E253390F}" type="presOf" srcId="{EFF0130C-E83A-4797-912A-52E128B68322}" destId="{97430BD0-46D6-4616-99A3-18A1F8D16AC1}" srcOrd="0" destOrd="0" presId="urn:microsoft.com/office/officeart/2005/8/layout/radial5"/>
    <dgm:cxn modelId="{411ED150-62B3-4945-8C4B-5A606D4C2C15}" type="presOf" srcId="{A552A9CF-EE6D-4FC4-AF68-F1BFD0E44F2F}" destId="{791F7E2A-9A9B-4D4B-B244-A8FDD321E330}" srcOrd="0" destOrd="0" presId="urn:microsoft.com/office/officeart/2005/8/layout/radial5"/>
    <dgm:cxn modelId="{588CA281-47EB-4DE5-94FD-BA9690E21EF5}" type="presOf" srcId="{A8F8BCF7-B2BB-42BE-A20A-FF54BE578EC9}" destId="{96D133AA-3EB4-481F-9112-146F5D295755}" srcOrd="0" destOrd="0" presId="urn:microsoft.com/office/officeart/2005/8/layout/radial5"/>
    <dgm:cxn modelId="{C06C16C7-292E-4D5C-A8EF-A8F943F9334A}" srcId="{5EC2F4A5-60E4-4CE8-B53F-41F9E908F954}" destId="{0E37D097-0A60-4969-9AEC-0D28E7676D9B}" srcOrd="3" destOrd="0" parTransId="{3B004702-81E5-4316-8C91-172A7D390754}" sibTransId="{4ED79201-BEA8-45F8-AFEA-3C2DA73E8149}"/>
    <dgm:cxn modelId="{893D2D10-17AA-401F-9267-8260E35C5AFF}" type="presOf" srcId="{F775997E-588E-4E4A-BBDE-67AFD484B587}" destId="{C4B3B92E-20BC-4DAA-B63D-7BBBD98E9116}" srcOrd="1" destOrd="0" presId="urn:microsoft.com/office/officeart/2005/8/layout/radial5"/>
    <dgm:cxn modelId="{138EB02A-7FBD-4EC1-B820-1F8FEC84BFF8}" type="presOf" srcId="{5EC2F4A5-60E4-4CE8-B53F-41F9E908F954}" destId="{54C9F337-1C35-4331-9845-69763631E744}" srcOrd="0" destOrd="0" presId="urn:microsoft.com/office/officeart/2005/8/layout/radial5"/>
    <dgm:cxn modelId="{509FA113-6EE7-47E3-ACA1-FBDE44D3DED2}" type="presOf" srcId="{A552A9CF-EE6D-4FC4-AF68-F1BFD0E44F2F}" destId="{E1CDEE55-09AD-4C4E-B38F-3B04E323D4E0}" srcOrd="1" destOrd="0" presId="urn:microsoft.com/office/officeart/2005/8/layout/radial5"/>
    <dgm:cxn modelId="{FE35B39E-89D9-401D-B4CC-F5B6AB8A35F4}" type="presOf" srcId="{3B004702-81E5-4316-8C91-172A7D390754}" destId="{7CB72279-F4FA-46F7-8C20-42C88D1DDBF7}" srcOrd="1" destOrd="0" presId="urn:microsoft.com/office/officeart/2005/8/layout/radial5"/>
    <dgm:cxn modelId="{2EE0C20C-96DB-4AD7-BB38-C3F7D668AB83}" type="presOf" srcId="{06F18770-A847-4F29-AE58-20F0F7AE0EC7}" destId="{1DB36B51-A7DD-4630-ACF0-B52F2FF030BD}" srcOrd="0" destOrd="0" presId="urn:microsoft.com/office/officeart/2005/8/layout/radial5"/>
    <dgm:cxn modelId="{7EF4447E-F8D7-444A-888F-3E65338C2EC2}" type="presOf" srcId="{1D0F8DB1-980F-487B-AAEF-7C7C57027A8F}" destId="{3E4144C2-5670-4C6E-958D-03489F5CCE5A}" srcOrd="0" destOrd="0" presId="urn:microsoft.com/office/officeart/2005/8/layout/radial5"/>
    <dgm:cxn modelId="{990200D3-8206-40A6-96C9-3D635152C744}" type="presParOf" srcId="{96D133AA-3EB4-481F-9112-146F5D295755}" destId="{54C9F337-1C35-4331-9845-69763631E744}" srcOrd="0" destOrd="0" presId="urn:microsoft.com/office/officeart/2005/8/layout/radial5"/>
    <dgm:cxn modelId="{E0E9D43A-8F9C-440D-ADBF-E3F54EC8B5F7}" type="presParOf" srcId="{96D133AA-3EB4-481F-9112-146F5D295755}" destId="{1DB36B51-A7DD-4630-ACF0-B52F2FF030BD}" srcOrd="1" destOrd="0" presId="urn:microsoft.com/office/officeart/2005/8/layout/radial5"/>
    <dgm:cxn modelId="{11ADF98C-6B43-447C-A0AA-F230542CAE51}" type="presParOf" srcId="{1DB36B51-A7DD-4630-ACF0-B52F2FF030BD}" destId="{6B296D44-2BDD-43DA-8084-ADC0BC6F2CA5}" srcOrd="0" destOrd="0" presId="urn:microsoft.com/office/officeart/2005/8/layout/radial5"/>
    <dgm:cxn modelId="{BD015557-41DC-4282-BF1C-C604A1DC85C3}" type="presParOf" srcId="{96D133AA-3EB4-481F-9112-146F5D295755}" destId="{55486926-EF07-4FC0-A7FE-0FE0F1836277}" srcOrd="2" destOrd="0" presId="urn:microsoft.com/office/officeart/2005/8/layout/radial5"/>
    <dgm:cxn modelId="{11B382C9-97D0-48F6-A1E1-C8C871F5A0E2}" type="presParOf" srcId="{96D133AA-3EB4-481F-9112-146F5D295755}" destId="{80E4A5CA-1531-4F5A-A7B8-A3AA1A68EB32}" srcOrd="3" destOrd="0" presId="urn:microsoft.com/office/officeart/2005/8/layout/radial5"/>
    <dgm:cxn modelId="{B5ECBC22-CE66-4758-9A4F-07FCA901CF59}" type="presParOf" srcId="{80E4A5CA-1531-4F5A-A7B8-A3AA1A68EB32}" destId="{C4B3B92E-20BC-4DAA-B63D-7BBBD98E9116}" srcOrd="0" destOrd="0" presId="urn:microsoft.com/office/officeart/2005/8/layout/radial5"/>
    <dgm:cxn modelId="{9297ECB1-9F4F-49D9-A630-F8435A4EA014}" type="presParOf" srcId="{96D133AA-3EB4-481F-9112-146F5D295755}" destId="{97430BD0-46D6-4616-99A3-18A1F8D16AC1}" srcOrd="4" destOrd="0" presId="urn:microsoft.com/office/officeart/2005/8/layout/radial5"/>
    <dgm:cxn modelId="{DBBCCC0A-A982-4430-A7A2-40D19E644CEA}" type="presParOf" srcId="{96D133AA-3EB4-481F-9112-146F5D295755}" destId="{791F7E2A-9A9B-4D4B-B244-A8FDD321E330}" srcOrd="5" destOrd="0" presId="urn:microsoft.com/office/officeart/2005/8/layout/radial5"/>
    <dgm:cxn modelId="{8A69B82E-CF6F-4D81-A4DF-E9B703CD4AC9}" type="presParOf" srcId="{791F7E2A-9A9B-4D4B-B244-A8FDD321E330}" destId="{E1CDEE55-09AD-4C4E-B38F-3B04E323D4E0}" srcOrd="0" destOrd="0" presId="urn:microsoft.com/office/officeart/2005/8/layout/radial5"/>
    <dgm:cxn modelId="{C65C834C-D549-4928-A61B-16BCC157BADE}" type="presParOf" srcId="{96D133AA-3EB4-481F-9112-146F5D295755}" destId="{3E4144C2-5670-4C6E-958D-03489F5CCE5A}" srcOrd="6" destOrd="0" presId="urn:microsoft.com/office/officeart/2005/8/layout/radial5"/>
    <dgm:cxn modelId="{97E836E1-7147-4D98-8062-A40C7FDF8DEA}" type="presParOf" srcId="{96D133AA-3EB4-481F-9112-146F5D295755}" destId="{753B524B-4BFA-4219-8400-852A7F27F8D0}" srcOrd="7" destOrd="0" presId="urn:microsoft.com/office/officeart/2005/8/layout/radial5"/>
    <dgm:cxn modelId="{4E832641-94E3-436E-91AB-E2884BCB6DA3}" type="presParOf" srcId="{753B524B-4BFA-4219-8400-852A7F27F8D0}" destId="{7CB72279-F4FA-46F7-8C20-42C88D1DDBF7}" srcOrd="0" destOrd="0" presId="urn:microsoft.com/office/officeart/2005/8/layout/radial5"/>
    <dgm:cxn modelId="{44BB9B5E-248C-4533-81A8-66AB4F57A83E}" type="presParOf" srcId="{96D133AA-3EB4-481F-9112-146F5D295755}" destId="{1BC20373-B949-4056-AA52-85CA4ED1861C}" srcOrd="8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8BAB512-1833-4780-B698-524B6E9FB3A5}" type="doc">
      <dgm:prSet loTypeId="urn:microsoft.com/office/officeart/2005/8/layout/pyramid2" loCatId="pyramid" qsTypeId="urn:microsoft.com/office/officeart/2005/8/quickstyle/simple1" qsCatId="simple" csTypeId="urn:microsoft.com/office/officeart/2005/8/colors/accent1_2" csCatId="accent1" phldr="1"/>
      <dgm:spPr/>
    </dgm:pt>
    <dgm:pt modelId="{F5031630-D688-402A-BC44-2059A3B63DB9}">
      <dgm:prSet phldrT="[Text]" custT="1"/>
      <dgm:spPr/>
      <dgm:t>
        <a:bodyPr/>
        <a:lstStyle/>
        <a:p>
          <a:r>
            <a:rPr lang="en-US" sz="2200" dirty="0" smtClean="0"/>
            <a:t>Desk-checks</a:t>
          </a:r>
          <a:endParaRPr lang="en-US" sz="2200" dirty="0"/>
        </a:p>
      </dgm:t>
    </dgm:pt>
    <dgm:pt modelId="{FC8E08CC-999E-4DD5-B9A7-28BCB13A8E7D}" type="parTrans" cxnId="{A06163DA-2A1A-466E-B9CD-A048AB9C9823}">
      <dgm:prSet/>
      <dgm:spPr/>
      <dgm:t>
        <a:bodyPr/>
        <a:lstStyle/>
        <a:p>
          <a:endParaRPr lang="en-US"/>
        </a:p>
      </dgm:t>
    </dgm:pt>
    <dgm:pt modelId="{221C6466-86F7-4E90-99CE-F35363B4C0A5}" type="sibTrans" cxnId="{A06163DA-2A1A-466E-B9CD-A048AB9C9823}">
      <dgm:prSet/>
      <dgm:spPr/>
      <dgm:t>
        <a:bodyPr/>
        <a:lstStyle/>
        <a:p>
          <a:endParaRPr lang="en-US"/>
        </a:p>
      </dgm:t>
    </dgm:pt>
    <dgm:pt modelId="{C7F64429-9321-4685-BC61-81774D774A86}">
      <dgm:prSet phldrT="[Text]" custT="1"/>
      <dgm:spPr/>
      <dgm:t>
        <a:bodyPr/>
        <a:lstStyle/>
        <a:p>
          <a:r>
            <a:rPr lang="en-US" sz="2200" dirty="0" smtClean="0"/>
            <a:t>Walkthrough</a:t>
          </a:r>
          <a:endParaRPr lang="en-US" sz="2200" dirty="0"/>
        </a:p>
      </dgm:t>
    </dgm:pt>
    <dgm:pt modelId="{11073321-4147-4F7C-8631-B896BE12F4C4}" type="parTrans" cxnId="{40BB12A4-865D-42D4-820B-07D15A395F17}">
      <dgm:prSet/>
      <dgm:spPr/>
      <dgm:t>
        <a:bodyPr/>
        <a:lstStyle/>
        <a:p>
          <a:endParaRPr lang="en-US"/>
        </a:p>
      </dgm:t>
    </dgm:pt>
    <dgm:pt modelId="{9C56EAD2-70F3-4071-9F4C-9A5B592D4E9E}" type="sibTrans" cxnId="{40BB12A4-865D-42D4-820B-07D15A395F17}">
      <dgm:prSet/>
      <dgm:spPr/>
      <dgm:t>
        <a:bodyPr/>
        <a:lstStyle/>
        <a:p>
          <a:endParaRPr lang="en-US"/>
        </a:p>
      </dgm:t>
    </dgm:pt>
    <dgm:pt modelId="{DEAA349D-B797-43EB-BB8C-F701D730307A}">
      <dgm:prSet phldrT="[Text]" custT="1"/>
      <dgm:spPr/>
      <dgm:t>
        <a:bodyPr/>
        <a:lstStyle/>
        <a:p>
          <a:r>
            <a:rPr lang="en-US" sz="2200" b="1" dirty="0" smtClean="0">
              <a:solidFill>
                <a:srgbClr val="C00000"/>
              </a:solidFill>
            </a:rPr>
            <a:t>Testing</a:t>
          </a:r>
          <a:endParaRPr lang="en-US" sz="2200" b="1" dirty="0">
            <a:solidFill>
              <a:srgbClr val="C00000"/>
            </a:solidFill>
          </a:endParaRPr>
        </a:p>
      </dgm:t>
    </dgm:pt>
    <dgm:pt modelId="{006C7B5E-14D5-4014-B47F-6576F7769A6C}" type="parTrans" cxnId="{E6A50B86-8FB2-413B-92B6-7C5AFC7D796D}">
      <dgm:prSet/>
      <dgm:spPr/>
      <dgm:t>
        <a:bodyPr/>
        <a:lstStyle/>
        <a:p>
          <a:endParaRPr lang="en-US"/>
        </a:p>
      </dgm:t>
    </dgm:pt>
    <dgm:pt modelId="{16F73D6A-2C73-4B5C-AE0A-E5E1854E97C9}" type="sibTrans" cxnId="{E6A50B86-8FB2-413B-92B6-7C5AFC7D796D}">
      <dgm:prSet/>
      <dgm:spPr/>
      <dgm:t>
        <a:bodyPr/>
        <a:lstStyle/>
        <a:p>
          <a:endParaRPr lang="en-US"/>
        </a:p>
      </dgm:t>
    </dgm:pt>
    <dgm:pt modelId="{10BB3EB5-AD7B-4C54-B80A-C9A4E09C3B4D}">
      <dgm:prSet phldrT="[Text]" custT="1"/>
      <dgm:spPr/>
      <dgm:t>
        <a:bodyPr/>
        <a:lstStyle/>
        <a:p>
          <a:r>
            <a:rPr lang="en-US" sz="2200" dirty="0" smtClean="0"/>
            <a:t>Inspection</a:t>
          </a:r>
          <a:endParaRPr lang="en-US" sz="2200" dirty="0"/>
        </a:p>
      </dgm:t>
    </dgm:pt>
    <dgm:pt modelId="{59D5E676-F6B6-412F-8944-82AA327438B5}" type="parTrans" cxnId="{66C7C75A-B081-4CF1-B374-3B8AE98FF3DA}">
      <dgm:prSet/>
      <dgm:spPr/>
      <dgm:t>
        <a:bodyPr/>
        <a:lstStyle/>
        <a:p>
          <a:endParaRPr lang="en-US"/>
        </a:p>
      </dgm:t>
    </dgm:pt>
    <dgm:pt modelId="{CA046B30-8605-400F-9179-0BA29DB71F11}" type="sibTrans" cxnId="{66C7C75A-B081-4CF1-B374-3B8AE98FF3DA}">
      <dgm:prSet/>
      <dgm:spPr/>
      <dgm:t>
        <a:bodyPr/>
        <a:lstStyle/>
        <a:p>
          <a:endParaRPr lang="en-US"/>
        </a:p>
      </dgm:t>
    </dgm:pt>
    <dgm:pt modelId="{8B4C24B5-8386-4648-9FDE-142258F6534F}">
      <dgm:prSet phldrT="[Text]" custT="1"/>
      <dgm:spPr/>
      <dgm:t>
        <a:bodyPr/>
        <a:lstStyle/>
        <a:p>
          <a:r>
            <a:rPr lang="en-US" sz="2200" dirty="0" smtClean="0"/>
            <a:t>…</a:t>
          </a:r>
          <a:endParaRPr lang="en-US" sz="2200" dirty="0"/>
        </a:p>
      </dgm:t>
    </dgm:pt>
    <dgm:pt modelId="{F16B289C-ED4E-443E-BF09-6962639A5767}" type="parTrans" cxnId="{99BDFE07-B07E-4BA4-8187-60F729B93AF8}">
      <dgm:prSet/>
      <dgm:spPr/>
      <dgm:t>
        <a:bodyPr/>
        <a:lstStyle/>
        <a:p>
          <a:endParaRPr lang="en-US"/>
        </a:p>
      </dgm:t>
    </dgm:pt>
    <dgm:pt modelId="{5C79A35D-0F18-4B58-8E71-0488D2407595}" type="sibTrans" cxnId="{99BDFE07-B07E-4BA4-8187-60F729B93AF8}">
      <dgm:prSet/>
      <dgm:spPr/>
      <dgm:t>
        <a:bodyPr/>
        <a:lstStyle/>
        <a:p>
          <a:endParaRPr lang="en-US"/>
        </a:p>
      </dgm:t>
    </dgm:pt>
    <dgm:pt modelId="{5CB3AF33-D18A-4F59-8C76-C372D8A7E4A0}" type="pres">
      <dgm:prSet presAssocID="{E8BAB512-1833-4780-B698-524B6E9FB3A5}" presName="compositeShape" presStyleCnt="0">
        <dgm:presLayoutVars>
          <dgm:dir/>
          <dgm:resizeHandles/>
        </dgm:presLayoutVars>
      </dgm:prSet>
      <dgm:spPr/>
    </dgm:pt>
    <dgm:pt modelId="{852F3201-B686-49F7-BE13-37688C99CBB8}" type="pres">
      <dgm:prSet presAssocID="{E8BAB512-1833-4780-B698-524B6E9FB3A5}" presName="pyramid" presStyleLbl="node1" presStyleIdx="0" presStyleCnt="1" custLinFactNeighborY="862"/>
      <dgm:spPr/>
    </dgm:pt>
    <dgm:pt modelId="{38A1212F-F3CF-4A34-9CE6-7A5C5B08913A}" type="pres">
      <dgm:prSet presAssocID="{E8BAB512-1833-4780-B698-524B6E9FB3A5}" presName="theList" presStyleCnt="0"/>
      <dgm:spPr/>
    </dgm:pt>
    <dgm:pt modelId="{C8653508-7551-4A7E-832A-C2CA7EED37C2}" type="pres">
      <dgm:prSet presAssocID="{F5031630-D688-402A-BC44-2059A3B63DB9}" presName="aNode" presStyleLbl="fgAcc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0B4064C-DB88-45DA-9535-E0030A9ED5F6}" type="pres">
      <dgm:prSet presAssocID="{F5031630-D688-402A-BC44-2059A3B63DB9}" presName="aSpace" presStyleCnt="0"/>
      <dgm:spPr/>
    </dgm:pt>
    <dgm:pt modelId="{C1E2299F-AAA3-4950-9ADB-966A4F3A063E}" type="pres">
      <dgm:prSet presAssocID="{C7F64429-9321-4685-BC61-81774D774A86}" presName="aNode" presStyleLbl="fgAcc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9355B2E-D124-4C2F-A7ED-B63422B817E1}" type="pres">
      <dgm:prSet presAssocID="{C7F64429-9321-4685-BC61-81774D774A86}" presName="aSpace" presStyleCnt="0"/>
      <dgm:spPr/>
    </dgm:pt>
    <dgm:pt modelId="{7F4CC1CE-98E3-4F58-B5C2-757069215220}" type="pres">
      <dgm:prSet presAssocID="{DEAA349D-B797-43EB-BB8C-F701D730307A}" presName="aNode" presStyleLbl="fgAcc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A4FFA5B-1F14-4F53-BF51-DBEEB270AE40}" type="pres">
      <dgm:prSet presAssocID="{DEAA349D-B797-43EB-BB8C-F701D730307A}" presName="aSpace" presStyleCnt="0"/>
      <dgm:spPr/>
    </dgm:pt>
    <dgm:pt modelId="{2907C7F5-1FD6-4FF2-AF9F-034341F59BB7}" type="pres">
      <dgm:prSet presAssocID="{10BB3EB5-AD7B-4C54-B80A-C9A4E09C3B4D}" presName="aNode" presStyleLbl="fgAcc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3FCDE50-A70C-428F-AFF5-344410F795CB}" type="pres">
      <dgm:prSet presAssocID="{10BB3EB5-AD7B-4C54-B80A-C9A4E09C3B4D}" presName="aSpace" presStyleCnt="0"/>
      <dgm:spPr/>
    </dgm:pt>
    <dgm:pt modelId="{17BFA642-55CE-4A01-A2AC-ABB40C5575FA}" type="pres">
      <dgm:prSet presAssocID="{8B4C24B5-8386-4648-9FDE-142258F6534F}" presName="aNode" presStyleLbl="fgAcc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F3DA465-A623-4482-91B2-03262FBEE5EB}" type="pres">
      <dgm:prSet presAssocID="{8B4C24B5-8386-4648-9FDE-142258F6534F}" presName="aSpace" presStyleCnt="0"/>
      <dgm:spPr/>
    </dgm:pt>
  </dgm:ptLst>
  <dgm:cxnLst>
    <dgm:cxn modelId="{99BDFE07-B07E-4BA4-8187-60F729B93AF8}" srcId="{E8BAB512-1833-4780-B698-524B6E9FB3A5}" destId="{8B4C24B5-8386-4648-9FDE-142258F6534F}" srcOrd="4" destOrd="0" parTransId="{F16B289C-ED4E-443E-BF09-6962639A5767}" sibTransId="{5C79A35D-0F18-4B58-8E71-0488D2407595}"/>
    <dgm:cxn modelId="{EB27403D-9E95-4FA7-B771-0D1FD1D9E215}" type="presOf" srcId="{10BB3EB5-AD7B-4C54-B80A-C9A4E09C3B4D}" destId="{2907C7F5-1FD6-4FF2-AF9F-034341F59BB7}" srcOrd="0" destOrd="0" presId="urn:microsoft.com/office/officeart/2005/8/layout/pyramid2"/>
    <dgm:cxn modelId="{59D66203-3E01-4A0D-9CF1-63F05FD51D7D}" type="presOf" srcId="{8B4C24B5-8386-4648-9FDE-142258F6534F}" destId="{17BFA642-55CE-4A01-A2AC-ABB40C5575FA}" srcOrd="0" destOrd="0" presId="urn:microsoft.com/office/officeart/2005/8/layout/pyramid2"/>
    <dgm:cxn modelId="{A06163DA-2A1A-466E-B9CD-A048AB9C9823}" srcId="{E8BAB512-1833-4780-B698-524B6E9FB3A5}" destId="{F5031630-D688-402A-BC44-2059A3B63DB9}" srcOrd="0" destOrd="0" parTransId="{FC8E08CC-999E-4DD5-B9A7-28BCB13A8E7D}" sibTransId="{221C6466-86F7-4E90-99CE-F35363B4C0A5}"/>
    <dgm:cxn modelId="{66C7C75A-B081-4CF1-B374-3B8AE98FF3DA}" srcId="{E8BAB512-1833-4780-B698-524B6E9FB3A5}" destId="{10BB3EB5-AD7B-4C54-B80A-C9A4E09C3B4D}" srcOrd="3" destOrd="0" parTransId="{59D5E676-F6B6-412F-8944-82AA327438B5}" sibTransId="{CA046B30-8605-400F-9179-0BA29DB71F11}"/>
    <dgm:cxn modelId="{BA26B14A-4EC0-437E-931B-8E5796ECB66D}" type="presOf" srcId="{F5031630-D688-402A-BC44-2059A3B63DB9}" destId="{C8653508-7551-4A7E-832A-C2CA7EED37C2}" srcOrd="0" destOrd="0" presId="urn:microsoft.com/office/officeart/2005/8/layout/pyramid2"/>
    <dgm:cxn modelId="{1D5CA181-E5A4-420C-BB4F-0DEE49FC624D}" type="presOf" srcId="{C7F64429-9321-4685-BC61-81774D774A86}" destId="{C1E2299F-AAA3-4950-9ADB-966A4F3A063E}" srcOrd="0" destOrd="0" presId="urn:microsoft.com/office/officeart/2005/8/layout/pyramid2"/>
    <dgm:cxn modelId="{72D07AF3-D79F-43E9-8894-C71FDAF20377}" type="presOf" srcId="{E8BAB512-1833-4780-B698-524B6E9FB3A5}" destId="{5CB3AF33-D18A-4F59-8C76-C372D8A7E4A0}" srcOrd="0" destOrd="0" presId="urn:microsoft.com/office/officeart/2005/8/layout/pyramid2"/>
    <dgm:cxn modelId="{40BB12A4-865D-42D4-820B-07D15A395F17}" srcId="{E8BAB512-1833-4780-B698-524B6E9FB3A5}" destId="{C7F64429-9321-4685-BC61-81774D774A86}" srcOrd="1" destOrd="0" parTransId="{11073321-4147-4F7C-8631-B896BE12F4C4}" sibTransId="{9C56EAD2-70F3-4071-9F4C-9A5B592D4E9E}"/>
    <dgm:cxn modelId="{E6A50B86-8FB2-413B-92B6-7C5AFC7D796D}" srcId="{E8BAB512-1833-4780-B698-524B6E9FB3A5}" destId="{DEAA349D-B797-43EB-BB8C-F701D730307A}" srcOrd="2" destOrd="0" parTransId="{006C7B5E-14D5-4014-B47F-6576F7769A6C}" sibTransId="{16F73D6A-2C73-4B5C-AE0A-E5E1854E97C9}"/>
    <dgm:cxn modelId="{713A1683-3925-4F8C-8F8F-39D764270CAE}" type="presOf" srcId="{DEAA349D-B797-43EB-BB8C-F701D730307A}" destId="{7F4CC1CE-98E3-4F58-B5C2-757069215220}" srcOrd="0" destOrd="0" presId="urn:microsoft.com/office/officeart/2005/8/layout/pyramid2"/>
    <dgm:cxn modelId="{7F7B3CC2-84AB-4AAD-83E7-196A402361BB}" type="presParOf" srcId="{5CB3AF33-D18A-4F59-8C76-C372D8A7E4A0}" destId="{852F3201-B686-49F7-BE13-37688C99CBB8}" srcOrd="0" destOrd="0" presId="urn:microsoft.com/office/officeart/2005/8/layout/pyramid2"/>
    <dgm:cxn modelId="{96B03B22-6153-4002-BF48-EC9EF6D841FD}" type="presParOf" srcId="{5CB3AF33-D18A-4F59-8C76-C372D8A7E4A0}" destId="{38A1212F-F3CF-4A34-9CE6-7A5C5B08913A}" srcOrd="1" destOrd="0" presId="urn:microsoft.com/office/officeart/2005/8/layout/pyramid2"/>
    <dgm:cxn modelId="{162F99A6-348E-4644-B2F9-EBA6FF3F5EA8}" type="presParOf" srcId="{38A1212F-F3CF-4A34-9CE6-7A5C5B08913A}" destId="{C8653508-7551-4A7E-832A-C2CA7EED37C2}" srcOrd="0" destOrd="0" presId="urn:microsoft.com/office/officeart/2005/8/layout/pyramid2"/>
    <dgm:cxn modelId="{E31804A9-BC58-44D9-AC5A-F5EFDEE136FF}" type="presParOf" srcId="{38A1212F-F3CF-4A34-9CE6-7A5C5B08913A}" destId="{A0B4064C-DB88-45DA-9535-E0030A9ED5F6}" srcOrd="1" destOrd="0" presId="urn:microsoft.com/office/officeart/2005/8/layout/pyramid2"/>
    <dgm:cxn modelId="{D75E3411-D9D2-49C2-BA56-F538FCECA5CC}" type="presParOf" srcId="{38A1212F-F3CF-4A34-9CE6-7A5C5B08913A}" destId="{C1E2299F-AAA3-4950-9ADB-966A4F3A063E}" srcOrd="2" destOrd="0" presId="urn:microsoft.com/office/officeart/2005/8/layout/pyramid2"/>
    <dgm:cxn modelId="{8661528F-EB05-4411-ABC1-9F7BB07FFEE0}" type="presParOf" srcId="{38A1212F-F3CF-4A34-9CE6-7A5C5B08913A}" destId="{29355B2E-D124-4C2F-A7ED-B63422B817E1}" srcOrd="3" destOrd="0" presId="urn:microsoft.com/office/officeart/2005/8/layout/pyramid2"/>
    <dgm:cxn modelId="{9F21538E-77B4-43F5-89F1-D95FE240C06B}" type="presParOf" srcId="{38A1212F-F3CF-4A34-9CE6-7A5C5B08913A}" destId="{7F4CC1CE-98E3-4F58-B5C2-757069215220}" srcOrd="4" destOrd="0" presId="urn:microsoft.com/office/officeart/2005/8/layout/pyramid2"/>
    <dgm:cxn modelId="{6D68FDDA-3E9A-463C-8ADB-E4D895AD4FE2}" type="presParOf" srcId="{38A1212F-F3CF-4A34-9CE6-7A5C5B08913A}" destId="{EA4FFA5B-1F14-4F53-BF51-DBEEB270AE40}" srcOrd="5" destOrd="0" presId="urn:microsoft.com/office/officeart/2005/8/layout/pyramid2"/>
    <dgm:cxn modelId="{25BB3568-4AFE-4495-97F6-90BA1872743F}" type="presParOf" srcId="{38A1212F-F3CF-4A34-9CE6-7A5C5B08913A}" destId="{2907C7F5-1FD6-4FF2-AF9F-034341F59BB7}" srcOrd="6" destOrd="0" presId="urn:microsoft.com/office/officeart/2005/8/layout/pyramid2"/>
    <dgm:cxn modelId="{1577E36D-2BB3-4FCB-984C-1717AE0333E4}" type="presParOf" srcId="{38A1212F-F3CF-4A34-9CE6-7A5C5B08913A}" destId="{E3FCDE50-A70C-428F-AFF5-344410F795CB}" srcOrd="7" destOrd="0" presId="urn:microsoft.com/office/officeart/2005/8/layout/pyramid2"/>
    <dgm:cxn modelId="{EEC3035E-2F84-4608-9F78-B8A48B357992}" type="presParOf" srcId="{38A1212F-F3CF-4A34-9CE6-7A5C5B08913A}" destId="{17BFA642-55CE-4A01-A2AC-ABB40C5575FA}" srcOrd="8" destOrd="0" presId="urn:microsoft.com/office/officeart/2005/8/layout/pyramid2"/>
    <dgm:cxn modelId="{0A41F361-502C-4FC8-8B51-45F50CB11043}" type="presParOf" srcId="{38A1212F-F3CF-4A34-9CE6-7A5C5B08913A}" destId="{7F3DA465-A623-4482-91B2-03262FBEE5EB}" srcOrd="9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xmlns="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E4B72E-E8F5-43DF-8A4C-5F612E413BA8}" type="datetimeFigureOut">
              <a:rPr lang="en-US" smtClean="0"/>
              <a:pPr/>
              <a:t>11/19/2022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2B584B-FCE1-4DD5-AC5C-BD1535AC6D0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33D5C3-0820-4FAB-ABA1-6D9651D57222}" type="datetimeFigureOut">
              <a:rPr lang="en-US" smtClean="0"/>
              <a:pPr/>
              <a:t>11/19/2022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2560AE-83EB-4E74-ABFC-279D183C468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11/19/2022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11/19/2022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11/19/2022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11/19/2022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11/19/2022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11/19/2022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11/19/2022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11/19/2022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11/19/2022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11/19/2022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11/19/2022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11/19/2022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gi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image" Target="../media/image3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12" Type="http://schemas.openxmlformats.org/officeDocument/2006/relationships/image" Target="../media/image36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ontestpad.com/signup" TargetMode="External"/><Relationship Id="rId2" Type="http://schemas.openxmlformats.org/officeDocument/2006/relationships/hyperlink" Target="https://app.qase.io/signup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hyperlink" Target="https://trello.com/signup" TargetMode="Externa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jpe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Software Quality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410200" cy="43434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meet</a:t>
            </a:r>
            <a:r>
              <a:rPr lang="en-US" sz="2400" dirty="0" smtClean="0"/>
              <a:t> business, user </a:t>
            </a:r>
            <a:r>
              <a:rPr lang="en-US" sz="2400" smtClean="0"/>
              <a:t>and </a:t>
            </a:r>
            <a:r>
              <a:rPr lang="en-US" sz="2400" smtClean="0"/>
              <a:t>technical </a:t>
            </a:r>
            <a:r>
              <a:rPr lang="en-US" sz="2400" dirty="0" smtClean="0"/>
              <a:t>requirements</a:t>
            </a:r>
            <a:endParaRPr lang="en-US" sz="2400" i="1" dirty="0" smtClean="0">
              <a:solidFill>
                <a:srgbClr val="C0000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measure quality characteristics</a:t>
            </a:r>
            <a:r>
              <a:rPr lang="en-US" sz="2400" dirty="0" smtClean="0"/>
              <a:t> of a product, a project, a process and a person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present </a:t>
            </a:r>
            <a:r>
              <a:rPr lang="en-US" sz="2400" i="1" dirty="0" smtClean="0">
                <a:solidFill>
                  <a:srgbClr val="C00000"/>
                </a:solidFill>
              </a:rPr>
              <a:t>what</a:t>
            </a:r>
            <a:r>
              <a:rPr lang="en-US" sz="2400" dirty="0" smtClean="0"/>
              <a:t> is quality, </a:t>
            </a:r>
            <a:r>
              <a:rPr lang="en-US" sz="2400" i="1" dirty="0" smtClean="0">
                <a:solidFill>
                  <a:srgbClr val="C00000"/>
                </a:solidFill>
              </a:rPr>
              <a:t>how</a:t>
            </a:r>
            <a:r>
              <a:rPr lang="en-US" sz="2400" dirty="0" smtClean="0"/>
              <a:t> to perform quality management and </a:t>
            </a:r>
            <a:r>
              <a:rPr lang="en-US" sz="2400" i="1" dirty="0" smtClean="0">
                <a:solidFill>
                  <a:srgbClr val="C00000"/>
                </a:solidFill>
              </a:rPr>
              <a:t>why</a:t>
            </a:r>
            <a:r>
              <a:rPr lang="en-US" sz="2400" dirty="0" smtClean="0"/>
              <a:t> quality management is important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create a </a:t>
            </a:r>
            <a:r>
              <a:rPr lang="en-US" sz="2400" i="1" dirty="0" smtClean="0">
                <a:solidFill>
                  <a:srgbClr val="C00000"/>
                </a:solidFill>
              </a:rPr>
              <a:t>quality management plan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present </a:t>
            </a:r>
            <a:r>
              <a:rPr lang="en-US" sz="2400" i="1" dirty="0" smtClean="0">
                <a:solidFill>
                  <a:srgbClr val="C00000"/>
                </a:solidFill>
              </a:rPr>
              <a:t>key concepts</a:t>
            </a:r>
            <a:r>
              <a:rPr lang="en-US" sz="2400" dirty="0" smtClean="0"/>
              <a:t> of ISO 9001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27432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Quality characteristics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Quality metrics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Quality measurement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Quality standards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Quality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5715000" cy="4343400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sz="1800" dirty="0" smtClean="0"/>
              <a:t>J.A. McCall et al. (1977). Factors in Software Quality.</a:t>
            </a:r>
          </a:p>
          <a:p>
            <a:pPr>
              <a:buFont typeface="+mj-lt"/>
              <a:buAutoNum type="arabicPeriod"/>
            </a:pPr>
            <a:r>
              <a:rPr lang="en-US" sz="1800" dirty="0" smtClean="0"/>
              <a:t>Robert T. </a:t>
            </a:r>
            <a:r>
              <a:rPr lang="en-US" sz="1800" dirty="0" err="1" smtClean="0"/>
              <a:t>Futrell</a:t>
            </a:r>
            <a:r>
              <a:rPr lang="en-US" sz="1800" dirty="0" smtClean="0"/>
              <a:t> et al. (2002). Quality Software Project Management.</a:t>
            </a:r>
          </a:p>
          <a:p>
            <a:pPr>
              <a:buFont typeface="+mj-lt"/>
              <a:buAutoNum type="arabicPeriod"/>
            </a:pPr>
            <a:r>
              <a:rPr lang="en-US" sz="1800" dirty="0" smtClean="0"/>
              <a:t>Shari Lawrence </a:t>
            </a:r>
            <a:r>
              <a:rPr lang="en-US" sz="1800" dirty="0" err="1" smtClean="0"/>
              <a:t>Pfleeger</a:t>
            </a:r>
            <a:r>
              <a:rPr lang="en-US" sz="1800" dirty="0" smtClean="0"/>
              <a:t> et al. (1997). Status Report on Software Measurement.</a:t>
            </a:r>
          </a:p>
          <a:p>
            <a:pPr>
              <a:buFont typeface="+mj-lt"/>
              <a:buAutoNum type="arabicPeriod"/>
            </a:pPr>
            <a:r>
              <a:rPr lang="en-US" sz="1800" dirty="0" smtClean="0"/>
              <a:t>Stephen H. Kan. (2002). Metrics and Models in Software Quality Engineering.</a:t>
            </a:r>
          </a:p>
          <a:p>
            <a:pPr>
              <a:buFont typeface="+mj-lt"/>
              <a:buAutoNum type="arabicPeriod"/>
            </a:pPr>
            <a:r>
              <a:rPr lang="en-US" sz="1800" dirty="0" smtClean="0"/>
              <a:t>G. </a:t>
            </a:r>
            <a:r>
              <a:rPr lang="en-US" sz="1800" dirty="0" err="1" smtClean="0"/>
              <a:t>Canfora</a:t>
            </a:r>
            <a:r>
              <a:rPr lang="en-US" sz="1800" dirty="0" smtClean="0"/>
              <a:t> et al. (2005). A Family of Experiments to Validate Metrics for Software Process Models.</a:t>
            </a:r>
          </a:p>
          <a:p>
            <a:pPr>
              <a:buFont typeface="+mj-lt"/>
              <a:buAutoNum type="arabicPeriod"/>
            </a:pPr>
            <a:r>
              <a:rPr lang="en-US" sz="1800" dirty="0" smtClean="0"/>
              <a:t>Paul </a:t>
            </a:r>
            <a:r>
              <a:rPr lang="en-US" sz="1800" dirty="0" err="1" smtClean="0"/>
              <a:t>Pocatilu</a:t>
            </a:r>
            <a:r>
              <a:rPr lang="en-US" sz="1800" dirty="0" smtClean="0"/>
              <a:t> (2007). IT Project Management Metrics.</a:t>
            </a:r>
          </a:p>
          <a:p>
            <a:pPr>
              <a:buFont typeface="+mj-lt"/>
              <a:buAutoNum type="arabicPeriod"/>
            </a:pPr>
            <a:r>
              <a:rPr lang="en-US" sz="1800" dirty="0" smtClean="0"/>
              <a:t>ISO (2008). Guidance on the Documentation Requirements of ISO 9001.</a:t>
            </a:r>
          </a:p>
          <a:p>
            <a:pPr>
              <a:buFont typeface="+mj-lt"/>
              <a:buAutoNum type="arabicPeriod"/>
            </a:pPr>
            <a:r>
              <a:rPr lang="en-US" sz="1800" dirty="0" smtClean="0"/>
              <a:t>Aston. 14 Steps to Implementing ISO 9001 Quality Management System.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Do Projects Fail?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Product delivered </a:t>
            </a:r>
            <a:r>
              <a:rPr lang="en-US" sz="2400" dirty="0" smtClean="0">
                <a:sym typeface="Wingdings" pitchFamily="2" charset="2"/>
              </a:rPr>
              <a:t></a:t>
            </a:r>
            <a:r>
              <a:rPr lang="en-US" sz="2400" dirty="0" smtClean="0"/>
              <a:t> Client/Sponsor/Users </a:t>
            </a:r>
            <a:r>
              <a:rPr lang="en-US" sz="2400" dirty="0" smtClean="0">
                <a:sym typeface="Wingdings" pitchFamily="2" charset="2"/>
              </a:rPr>
              <a:t> Not </a:t>
            </a:r>
            <a:r>
              <a:rPr lang="en-US" sz="2400" dirty="0" smtClean="0"/>
              <a:t>Accepted.</a:t>
            </a:r>
          </a:p>
          <a:p>
            <a:r>
              <a:rPr lang="en-US" sz="2400" dirty="0" smtClean="0"/>
              <a:t>Product </a:t>
            </a:r>
            <a:r>
              <a:rPr lang="en-US" sz="2400" dirty="0" smtClean="0">
                <a:sym typeface="Wingdings" pitchFamily="2" charset="2"/>
              </a:rPr>
              <a:t> </a:t>
            </a:r>
            <a:r>
              <a:rPr lang="en-US" sz="2400" dirty="0" smtClean="0"/>
              <a:t>Low Quality </a:t>
            </a:r>
            <a:r>
              <a:rPr lang="en-US" sz="2400" dirty="0" smtClean="0">
                <a:sym typeface="Wingdings" pitchFamily="2" charset="2"/>
              </a:rPr>
              <a:t> No Usage </a:t>
            </a:r>
            <a:r>
              <a:rPr lang="en-US" sz="2400" dirty="0" smtClean="0"/>
              <a:t> Failure.</a:t>
            </a:r>
          </a:p>
          <a:p>
            <a:r>
              <a:rPr lang="en-US" sz="2400" dirty="0" smtClean="0"/>
              <a:t>Highest Quality </a:t>
            </a:r>
            <a:r>
              <a:rPr lang="en-US" sz="2400" dirty="0" smtClean="0">
                <a:sym typeface="Wingdings" pitchFamily="2" charset="2"/>
              </a:rPr>
              <a:t> Not Necessary (High Cost).</a:t>
            </a:r>
            <a:endParaRPr lang="en-US" sz="2400" dirty="0" smtClean="0"/>
          </a:p>
          <a:p>
            <a:r>
              <a:rPr lang="en-US" sz="2400" dirty="0" smtClean="0"/>
              <a:t>Goal: Acceptable Quality and Cost.</a:t>
            </a:r>
          </a:p>
        </p:txBody>
      </p:sp>
      <p:pic>
        <p:nvPicPr>
          <p:cNvPr id="4" name="Picture 2" descr="https://www.drupal.org/files/project-images/bounce_reasons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29000" y="4114800"/>
            <a:ext cx="2286000" cy="1206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How to Meet Business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Budget and revenue</a:t>
            </a:r>
          </a:p>
          <a:p>
            <a:r>
              <a:rPr lang="en-US" sz="2600" dirty="0" smtClean="0"/>
              <a:t>Baselines and standards:</a:t>
            </a:r>
          </a:p>
          <a:p>
            <a:pPr lvl="1"/>
            <a:r>
              <a:rPr lang="en-US" sz="2200" dirty="0" smtClean="0"/>
              <a:t>Similar systems (to be compared with)</a:t>
            </a:r>
          </a:p>
        </p:txBody>
      </p:sp>
      <p:pic>
        <p:nvPicPr>
          <p:cNvPr id="1026" name="Picture 2" descr="https://coamplifi.com/wp-content/uploads/2021/07/coamplifi_goals-750x55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28406" y="3477490"/>
            <a:ext cx="3572394" cy="261851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Meet User Requirements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Problems solved? Objectives achieved?</a:t>
            </a:r>
          </a:p>
          <a:p>
            <a:r>
              <a:rPr lang="en-US" sz="2600" dirty="0" smtClean="0"/>
              <a:t>Baselines/standards:</a:t>
            </a:r>
          </a:p>
          <a:p>
            <a:pPr lvl="1"/>
            <a:r>
              <a:rPr lang="en-US" sz="2200" dirty="0" smtClean="0"/>
              <a:t>Examples (to be compared with)</a:t>
            </a:r>
          </a:p>
          <a:p>
            <a:pPr lvl="1"/>
            <a:r>
              <a:rPr lang="en-US" sz="2200" dirty="0" smtClean="0"/>
              <a:t>Real world manual business processes (no software): Yes/No</a:t>
            </a:r>
          </a:p>
          <a:p>
            <a:pPr lvl="1"/>
            <a:r>
              <a:rPr lang="en-US" sz="2200" dirty="0" smtClean="0"/>
              <a:t>Prototype (workflow/story map) </a:t>
            </a:r>
            <a:r>
              <a:rPr lang="en-US" sz="2200" dirty="0" smtClean="0">
                <a:sym typeface="Wingdings" pitchFamily="2" charset="2"/>
              </a:rPr>
              <a:t> Exploratory tests (workflow/story map + BAD/MALICIUOS inputs/Hacking)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5029200" y="4343400"/>
            <a:ext cx="32004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Test cases?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Use cases?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1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itchFamily="49" charset="0"/>
                <a:ea typeface="+mn-ea"/>
                <a:cs typeface="+mn-cs"/>
              </a:rPr>
              <a:t>Quality of test cases!!!</a:t>
            </a:r>
          </a:p>
        </p:txBody>
      </p:sp>
      <p:pic>
        <p:nvPicPr>
          <p:cNvPr id="5" name="Picture 2" descr="https://www.salesforce.com/content/dam/web/en_ca/www/images/hub/technology/your-guide-to-app-development-software/your-guide-to-app-development-software-open-graph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4343400"/>
            <a:ext cx="3813175" cy="19939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Example: Performance Requirements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Response: Standard 3s</a:t>
            </a:r>
          </a:p>
          <a:p>
            <a:r>
              <a:rPr lang="en-US" sz="2800" dirty="0" smtClean="0"/>
              <a:t>CPU usage: Standard 25%</a:t>
            </a:r>
          </a:p>
          <a:p>
            <a:r>
              <a:rPr lang="en-US" sz="2800" dirty="0" smtClean="0"/>
              <a:t>RAM usage: Standard 600Mb</a:t>
            </a:r>
          </a:p>
        </p:txBody>
      </p:sp>
      <p:pic>
        <p:nvPicPr>
          <p:cNvPr id="67586" name="Picture 2" descr="https://bestarion.com/wp-content/uploads/2021/03/4.-Performance-testin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3657600"/>
            <a:ext cx="4876191" cy="243809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How to Meet Technical Requirements</a:t>
            </a:r>
            <a:endParaRPr lang="en-US" sz="4000" dirty="0"/>
          </a:p>
        </p:txBody>
      </p:sp>
      <p:pic>
        <p:nvPicPr>
          <p:cNvPr id="2052" name="Picture 4" descr="http://store.homeseer.com/store/Assets/ProductImages/Software-Source-Cod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1905000"/>
            <a:ext cx="2857500" cy="2857500"/>
          </a:xfrm>
          <a:prstGeom prst="rect">
            <a:avLst/>
          </a:prstGeom>
          <a:noFill/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953000" y="2057400"/>
            <a:ext cx="3505200" cy="3124200"/>
          </a:xfrm>
        </p:spPr>
        <p:txBody>
          <a:bodyPr/>
          <a:lstStyle/>
          <a:p>
            <a:r>
              <a:rPr lang="en-US" sz="2800" dirty="0" smtClean="0"/>
              <a:t>Definition of done?</a:t>
            </a:r>
          </a:p>
          <a:p>
            <a:r>
              <a:rPr lang="en-US" sz="2800" dirty="0" smtClean="0"/>
              <a:t>Coding standards, coding conventions?</a:t>
            </a:r>
          </a:p>
          <a:p>
            <a:r>
              <a:rPr lang="en-US" sz="2800" dirty="0" smtClean="0"/>
              <a:t>Unit tests?</a:t>
            </a:r>
          </a:p>
          <a:p>
            <a:r>
              <a:rPr lang="en-US" sz="2800" dirty="0" smtClean="0"/>
              <a:t>Examples?</a:t>
            </a:r>
          </a:p>
          <a:p>
            <a:r>
              <a:rPr lang="en-US" sz="2800" dirty="0" smtClean="0"/>
              <a:t>Experts?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5410200"/>
            <a:ext cx="49167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i="1" dirty="0" smtClean="0">
                <a:solidFill>
                  <a:srgbClr val="C00000"/>
                </a:solidFill>
                <a:latin typeface="Consolas" pitchFamily="49" charset="0"/>
              </a:rPr>
              <a:t>Quality of unit tests!!!</a:t>
            </a:r>
            <a:endParaRPr lang="en-US" sz="2800" b="1" i="1" dirty="0">
              <a:solidFill>
                <a:srgbClr val="C00000"/>
              </a:solidFill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Security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486400" cy="4525963"/>
          </a:xfrm>
        </p:spPr>
        <p:txBody>
          <a:bodyPr/>
          <a:lstStyle/>
          <a:p>
            <a:r>
              <a:rPr lang="pt-BR" dirty="0" smtClean="0"/>
              <a:t>Server</a:t>
            </a:r>
          </a:p>
          <a:p>
            <a:pPr lvl="1"/>
            <a:r>
              <a:rPr lang="pt-BR" dirty="0" smtClean="0"/>
              <a:t>? (OS)</a:t>
            </a:r>
          </a:p>
          <a:p>
            <a:r>
              <a:rPr lang="pt-BR" dirty="0" smtClean="0"/>
              <a:t>Code</a:t>
            </a:r>
          </a:p>
          <a:p>
            <a:pPr lvl="1"/>
            <a:r>
              <a:rPr lang="pt-BR" dirty="0" smtClean="0"/>
              <a:t>? (Penetration Testing, Components)</a:t>
            </a:r>
          </a:p>
          <a:p>
            <a:r>
              <a:rPr lang="pt-BR" dirty="0" smtClean="0"/>
              <a:t>Protocols:</a:t>
            </a:r>
          </a:p>
          <a:p>
            <a:pPr lvl="1"/>
            <a:r>
              <a:rPr lang="pt-BR" dirty="0" smtClean="0"/>
              <a:t>? (TLS 1.2)</a:t>
            </a:r>
            <a:endParaRPr lang="en-US" dirty="0" smtClean="0"/>
          </a:p>
        </p:txBody>
      </p:sp>
      <p:pic>
        <p:nvPicPr>
          <p:cNvPr id="69636" name="Picture 4" descr="https://image.freepik.com/free-vector/global-data-security-personal-data-security-cyber-data-security-online-concept-illustration-internet-security-information-privacy-protection_1150-3737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29275" y="2133600"/>
            <a:ext cx="2981325" cy="21240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Meet Document and Process Quality Requirements?</a:t>
            </a:r>
            <a:endParaRPr lang="en-US" dirty="0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24100" y="1905000"/>
            <a:ext cx="1485900" cy="1950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47260" y="1836420"/>
            <a:ext cx="1424940" cy="2049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49121" y="4114800"/>
            <a:ext cx="3866279" cy="248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152400" y="5257800"/>
            <a:ext cx="4800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latin typeface="+mj-lt"/>
                <a:cs typeface="Consolas" pitchFamily="49" charset="0"/>
              </a:rPr>
              <a:t>What is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  <a:cs typeface="Consolas" pitchFamily="49" charset="0"/>
              </a:rPr>
              <a:t>mechanism</a:t>
            </a:r>
            <a:r>
              <a:rPr lang="en-US" sz="2400" dirty="0" smtClean="0">
                <a:latin typeface="+mj-lt"/>
                <a:cs typeface="Consolas" pitchFamily="49" charset="0"/>
              </a:rPr>
              <a:t> for specifying the quality of documents or process.</a:t>
            </a:r>
            <a:endParaRPr lang="en-US" sz="2400" dirty="0">
              <a:latin typeface="+mj-lt"/>
              <a:cs typeface="Consolas" pitchFamily="49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981200" y="4343400"/>
            <a:ext cx="9144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Products, Process, Project </a:t>
            </a:r>
            <a:br>
              <a:rPr lang="en-US" dirty="0" smtClean="0"/>
            </a:br>
            <a:r>
              <a:rPr lang="en-US" dirty="0" smtClean="0"/>
              <a:t>and Environment Quality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/>
              <a:t>Program &amp; Source Code</a:t>
            </a:r>
          </a:p>
          <a:p>
            <a:r>
              <a:rPr lang="en-US" sz="2400" dirty="0" smtClean="0"/>
              <a:t>Software Requirements Specification</a:t>
            </a:r>
          </a:p>
          <a:p>
            <a:r>
              <a:rPr lang="en-US" sz="2400" dirty="0" smtClean="0"/>
              <a:t>Software Design Specification</a:t>
            </a:r>
          </a:p>
          <a:p>
            <a:r>
              <a:rPr lang="en-US" sz="2400" dirty="0" smtClean="0"/>
              <a:t>Software Testing Specification</a:t>
            </a:r>
          </a:p>
          <a:p>
            <a:r>
              <a:rPr lang="en-US" sz="2400" i="1" dirty="0" smtClean="0"/>
              <a:t>Software Development Process</a:t>
            </a:r>
          </a:p>
          <a:p>
            <a:r>
              <a:rPr lang="en-US" sz="2400" i="1" dirty="0" smtClean="0"/>
              <a:t>Software Project Plan</a:t>
            </a:r>
          </a:p>
          <a:p>
            <a:r>
              <a:rPr lang="en-US" sz="2400" i="1" dirty="0" smtClean="0"/>
              <a:t>Software Risk Management Plan</a:t>
            </a:r>
          </a:p>
          <a:p>
            <a:r>
              <a:rPr lang="en-US" sz="2400" i="1" dirty="0" smtClean="0"/>
              <a:t>Software Quality Assurance Plan</a:t>
            </a:r>
          </a:p>
          <a:p>
            <a:r>
              <a:rPr lang="en-US" sz="2400" i="1" dirty="0" smtClean="0"/>
              <a:t>Software Team</a:t>
            </a:r>
          </a:p>
          <a:p>
            <a:r>
              <a:rPr lang="en-US" sz="2400" dirty="0" smtClean="0"/>
              <a:t>Environment</a:t>
            </a:r>
          </a:p>
        </p:txBody>
      </p:sp>
      <p:pic>
        <p:nvPicPr>
          <p:cNvPr id="1026" name="Picture 2" descr="https://www.timeshighereducation.com/sites/default/files/styles/the_breaking_news_image_style/public/quality_under_the_magnifying_glass.jpg?itok=VxpVpZEl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2057400"/>
            <a:ext cx="2362200" cy="1573530"/>
          </a:xfrm>
          <a:prstGeom prst="rect">
            <a:avLst/>
          </a:prstGeom>
          <a:noFill/>
        </p:spPr>
      </p:pic>
      <p:pic>
        <p:nvPicPr>
          <p:cNvPr id="1028" name="Picture 4" descr="http://www.bsmc.net.au/wp-content/uploads/question-marks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43600" y="3657600"/>
            <a:ext cx="2331720" cy="23317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Select a Product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fact, select any artifact.</a:t>
            </a:r>
            <a:endParaRPr lang="en-US" dirty="0"/>
          </a:p>
        </p:txBody>
      </p:sp>
      <p:pic>
        <p:nvPicPr>
          <p:cNvPr id="4" name="Picture 4" descr="https://cdn.shopify.com/s/files/1/0297/7336/5332/products/Windows10ProBox_2000x.png?v=163481718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1800" y="2896007"/>
            <a:ext cx="3047593" cy="304759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Quality?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Quality</a:t>
            </a:r>
            <a:r>
              <a:rPr lang="en-US" sz="2400" dirty="0" smtClean="0"/>
              <a:t> is the degree to which a set of inherent </a:t>
            </a:r>
            <a:r>
              <a:rPr lang="en-US" sz="2400" u="sng" dirty="0" smtClean="0"/>
              <a:t>characteristics</a:t>
            </a:r>
            <a:r>
              <a:rPr lang="en-US" sz="2400" dirty="0" smtClean="0"/>
              <a:t> fulfills </a:t>
            </a:r>
            <a:r>
              <a:rPr lang="en-US" sz="2400" u="sng" dirty="0" smtClean="0"/>
              <a:t>requirements</a:t>
            </a:r>
            <a:r>
              <a:rPr lang="en-US" sz="2400" dirty="0" smtClean="0"/>
              <a:t> (need or expectation).</a:t>
            </a:r>
          </a:p>
          <a:p>
            <a:endParaRPr lang="en-US" sz="2400" dirty="0"/>
          </a:p>
        </p:txBody>
      </p:sp>
      <p:pic>
        <p:nvPicPr>
          <p:cNvPr id="51202" name="Picture 2" descr="https://www.aafp.org/dam/AAFP/images/ann/2019-january/quality_measures_position_paper92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3048000"/>
            <a:ext cx="38100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External Quality Characteristics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3600"/>
            <a:ext cx="8229600" cy="4267200"/>
          </a:xfrm>
        </p:spPr>
        <p:txBody>
          <a:bodyPr/>
          <a:lstStyle/>
          <a:p>
            <a:r>
              <a:rPr lang="en-US" sz="1500" i="1" dirty="0" smtClean="0">
                <a:solidFill>
                  <a:srgbClr val="C00000"/>
                </a:solidFill>
              </a:rPr>
              <a:t>CORRECTNESS</a:t>
            </a:r>
            <a:r>
              <a:rPr lang="en-US" sz="1500" dirty="0" smtClean="0"/>
              <a:t>. Extent to which a program satisfies its specifications and fulfills the user's mission objectives.</a:t>
            </a:r>
          </a:p>
          <a:p>
            <a:r>
              <a:rPr lang="en-US" sz="1500" i="1" dirty="0" smtClean="0">
                <a:solidFill>
                  <a:srgbClr val="C00000"/>
                </a:solidFill>
              </a:rPr>
              <a:t>RELIABILITY</a:t>
            </a:r>
            <a:r>
              <a:rPr lang="en-US" sz="1500" dirty="0" smtClean="0"/>
              <a:t> Extent to which a program can be expected to perform its intended function with required precision.</a:t>
            </a:r>
          </a:p>
          <a:p>
            <a:r>
              <a:rPr lang="en-US" sz="1500" i="1" dirty="0" smtClean="0">
                <a:solidFill>
                  <a:srgbClr val="C00000"/>
                </a:solidFill>
              </a:rPr>
              <a:t>EFFICIENCY</a:t>
            </a:r>
            <a:r>
              <a:rPr lang="en-US" sz="1500" dirty="0" smtClean="0"/>
              <a:t> The mount of computing resources and code required by a program to perform a function.</a:t>
            </a:r>
          </a:p>
          <a:p>
            <a:r>
              <a:rPr lang="en-US" sz="1500" i="1" dirty="0" smtClean="0">
                <a:solidFill>
                  <a:srgbClr val="C00000"/>
                </a:solidFill>
              </a:rPr>
              <a:t>INTERITY</a:t>
            </a:r>
            <a:r>
              <a:rPr lang="en-US" sz="1500" dirty="0" smtClean="0"/>
              <a:t> Extent to which access to software or data by unauthorized persons can be controlled.</a:t>
            </a:r>
          </a:p>
          <a:p>
            <a:r>
              <a:rPr lang="en-US" sz="1500" i="1" dirty="0" smtClean="0">
                <a:solidFill>
                  <a:srgbClr val="C00000"/>
                </a:solidFill>
              </a:rPr>
              <a:t>USABILITY</a:t>
            </a:r>
            <a:r>
              <a:rPr lang="en-US" sz="1500" dirty="0" smtClean="0"/>
              <a:t> Effort required to learn, operate, prepare input, and interpret output of a program.</a:t>
            </a:r>
          </a:p>
          <a:p>
            <a:r>
              <a:rPr lang="en-US" sz="1500" i="1" dirty="0" smtClean="0">
                <a:solidFill>
                  <a:srgbClr val="C00000"/>
                </a:solidFill>
              </a:rPr>
              <a:t>MAINTAINAILITY</a:t>
            </a:r>
            <a:r>
              <a:rPr lang="en-US" sz="1500" dirty="0" smtClean="0"/>
              <a:t> Effort required to locate and fix an error in an operational program.</a:t>
            </a:r>
          </a:p>
          <a:p>
            <a:r>
              <a:rPr lang="en-US" sz="1500" i="1" dirty="0" smtClean="0">
                <a:solidFill>
                  <a:srgbClr val="C00000"/>
                </a:solidFill>
              </a:rPr>
              <a:t>TESTABILTY</a:t>
            </a:r>
            <a:r>
              <a:rPr lang="en-US" sz="1500" dirty="0" smtClean="0"/>
              <a:t> Effort required to test a program to insure it performs its intended function.</a:t>
            </a:r>
          </a:p>
          <a:p>
            <a:r>
              <a:rPr lang="en-US" sz="1500" i="1" dirty="0" smtClean="0">
                <a:solidFill>
                  <a:srgbClr val="C00000"/>
                </a:solidFill>
              </a:rPr>
              <a:t>FLEXIBILITY</a:t>
            </a:r>
            <a:r>
              <a:rPr lang="en-US" sz="1500" dirty="0" smtClean="0"/>
              <a:t> Effort required to modify an operational program.</a:t>
            </a:r>
          </a:p>
          <a:p>
            <a:r>
              <a:rPr lang="en-US" sz="1500" i="1" dirty="0" smtClean="0">
                <a:solidFill>
                  <a:srgbClr val="C00000"/>
                </a:solidFill>
              </a:rPr>
              <a:t>PORTABILITY</a:t>
            </a:r>
            <a:r>
              <a:rPr lang="en-US" sz="1500" dirty="0" smtClean="0"/>
              <a:t> Effort required to transfer a program from one hardware configuration and/or software system environment to another.</a:t>
            </a:r>
          </a:p>
          <a:p>
            <a:r>
              <a:rPr lang="en-US" sz="1500" i="1" dirty="0" smtClean="0">
                <a:solidFill>
                  <a:srgbClr val="C00000"/>
                </a:solidFill>
              </a:rPr>
              <a:t>REUSABILITY</a:t>
            </a:r>
            <a:r>
              <a:rPr lang="en-US" sz="1500" dirty="0" smtClean="0"/>
              <a:t> Extent to which a program can be used in other applications - related to the packaging and scope of the functions that programs perform.</a:t>
            </a:r>
          </a:p>
          <a:p>
            <a:r>
              <a:rPr lang="en-US" sz="1500" i="1" dirty="0" smtClean="0">
                <a:solidFill>
                  <a:srgbClr val="C00000"/>
                </a:solidFill>
              </a:rPr>
              <a:t>INTEROPEABILITY</a:t>
            </a:r>
            <a:r>
              <a:rPr lang="en-US" sz="1500" dirty="0" smtClean="0"/>
              <a:t> Effort required to couple one system with another.</a:t>
            </a:r>
            <a:endParaRPr lang="en-US" sz="1500" dirty="0"/>
          </a:p>
        </p:txBody>
      </p:sp>
      <p:sp>
        <p:nvSpPr>
          <p:cNvPr id="4" name="Rectangle 3"/>
          <p:cNvSpPr/>
          <p:nvPr/>
        </p:nvSpPr>
        <p:spPr>
          <a:xfrm>
            <a:off x="990600" y="1371600"/>
            <a:ext cx="6019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i="1" dirty="0" smtClean="0">
                <a:solidFill>
                  <a:srgbClr val="C00000"/>
                </a:solidFill>
                <a:latin typeface="+mj-lt"/>
              </a:rPr>
              <a:t>Characteristic</a:t>
            </a:r>
            <a:r>
              <a:rPr lang="en-US" dirty="0" smtClean="0">
                <a:latin typeface="+mj-lt"/>
              </a:rPr>
              <a:t> – A </a:t>
            </a:r>
            <a:r>
              <a:rPr lang="en-US" u="sng" dirty="0" smtClean="0">
                <a:latin typeface="+mj-lt"/>
              </a:rPr>
              <a:t>condition</a:t>
            </a:r>
            <a:r>
              <a:rPr lang="en-US" dirty="0" smtClean="0">
                <a:latin typeface="+mj-lt"/>
              </a:rPr>
              <a:t> which actively contributes to the quality of the software.</a:t>
            </a:r>
            <a:endParaRPr lang="en-US" dirty="0">
              <a:latin typeface="+mj-lt"/>
            </a:endParaRPr>
          </a:p>
        </p:txBody>
      </p: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39000" y="1219200"/>
            <a:ext cx="1147156" cy="862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ISO 9126 Quality Characteristics [2]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395" y="1377522"/>
          <a:ext cx="8153404" cy="5152257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6019805"/>
                <a:gridCol w="2133599"/>
              </a:tblGrid>
              <a:tr h="180622"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Quality Characteristic </a:t>
                      </a:r>
                    </a:p>
                  </a:txBody>
                  <a:tcPr marL="45156" marR="45156" marT="22578" marB="2257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Subcharacteristic </a:t>
                      </a:r>
                    </a:p>
                  </a:txBody>
                  <a:tcPr marL="45156" marR="45156" marT="22578" marB="22578"/>
                </a:tc>
              </a:tr>
              <a:tr h="180622">
                <a:tc rowSpan="4">
                  <a:txBody>
                    <a:bodyPr/>
                    <a:lstStyle/>
                    <a:p>
                      <a:pPr algn="l"/>
                      <a:r>
                        <a:rPr lang="en-US" sz="1200" dirty="0" smtClean="0"/>
                        <a:t>Functionality</a:t>
                      </a:r>
                    </a:p>
                    <a:p>
                      <a:pPr algn="l"/>
                      <a:r>
                        <a:rPr lang="en-US" sz="1200" dirty="0" smtClean="0"/>
                        <a:t>(</a:t>
                      </a:r>
                      <a:r>
                        <a:rPr lang="en-US" sz="1200" dirty="0"/>
                        <a:t>Are the required functions available in the software</a:t>
                      </a:r>
                      <a:r>
                        <a:rPr lang="en-US" sz="1200" dirty="0" smtClean="0"/>
                        <a:t>?)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Functionality is the </a:t>
                      </a:r>
                      <a:r>
                        <a:rPr lang="en-US" sz="1200" u="sng" dirty="0" smtClean="0"/>
                        <a:t>set of attributes</a:t>
                      </a:r>
                      <a:r>
                        <a:rPr lang="en-US" sz="1200" dirty="0" smtClean="0"/>
                        <a:t> that bear on the existence of a set of functions and their specified properties.</a:t>
                      </a:r>
                    </a:p>
                  </a:txBody>
                  <a:tcPr marL="45156" marR="45156" marT="22578" marB="2257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Suitability</a:t>
                      </a:r>
                    </a:p>
                  </a:txBody>
                  <a:tcPr marL="45156" marR="45156" marT="22578" marB="22578"/>
                </a:tc>
              </a:tr>
              <a:tr h="1806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Accuracy</a:t>
                      </a:r>
                    </a:p>
                  </a:txBody>
                  <a:tcPr marL="45156" marR="45156" marT="22578" marB="22578"/>
                </a:tc>
              </a:tr>
              <a:tr h="1806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Interoperability</a:t>
                      </a:r>
                    </a:p>
                  </a:txBody>
                  <a:tcPr marL="45156" marR="45156" marT="22578" marB="22578"/>
                </a:tc>
              </a:tr>
              <a:tr h="1806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Security</a:t>
                      </a:r>
                    </a:p>
                  </a:txBody>
                  <a:tcPr marL="45156" marR="45156" marT="22578" marB="22578"/>
                </a:tc>
              </a:tr>
              <a:tr h="180622">
                <a:tc rowSpan="3"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Reliability</a:t>
                      </a:r>
                    </a:p>
                    <a:p>
                      <a:pPr algn="l"/>
                      <a:r>
                        <a:rPr lang="en-US" sz="1200" dirty="0"/>
                        <a:t>(How reliable is the software</a:t>
                      </a:r>
                      <a:r>
                        <a:rPr lang="en-US" sz="1200" dirty="0" smtClean="0"/>
                        <a:t>?)</a:t>
                      </a:r>
                    </a:p>
                    <a:p>
                      <a:pPr algn="l"/>
                      <a:r>
                        <a:rPr lang="en-US" sz="1200" dirty="0" smtClean="0"/>
                        <a:t>Reliability is the </a:t>
                      </a:r>
                      <a:r>
                        <a:rPr lang="en-US" sz="1200" u="sng" dirty="0" smtClean="0"/>
                        <a:t>set of attributes</a:t>
                      </a:r>
                      <a:r>
                        <a:rPr lang="en-US" sz="1200" dirty="0" smtClean="0"/>
                        <a:t> that bear on the capability of software to maintain its level of performance under stated conditions for a stated period of time.</a:t>
                      </a:r>
                      <a:endParaRPr lang="en-US" sz="1200" dirty="0"/>
                    </a:p>
                  </a:txBody>
                  <a:tcPr marL="45156" marR="45156" marT="22578" marB="2257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Maturity</a:t>
                      </a:r>
                    </a:p>
                  </a:txBody>
                  <a:tcPr marL="45156" marR="45156" marT="22578" marB="22578"/>
                </a:tc>
              </a:tr>
              <a:tr h="1806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Fault tolerance</a:t>
                      </a:r>
                    </a:p>
                  </a:txBody>
                  <a:tcPr marL="45156" marR="45156" marT="22578" marB="22578"/>
                </a:tc>
              </a:tr>
              <a:tr h="1806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Recoverability</a:t>
                      </a:r>
                    </a:p>
                  </a:txBody>
                  <a:tcPr marL="45156" marR="45156" marT="22578" marB="22578"/>
                </a:tc>
              </a:tr>
              <a:tr h="180622">
                <a:tc rowSpan="4"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Usability</a:t>
                      </a:r>
                    </a:p>
                    <a:p>
                      <a:pPr algn="l"/>
                      <a:r>
                        <a:rPr lang="en-US" sz="1200" dirty="0"/>
                        <a:t>(Is the software easy to use</a:t>
                      </a:r>
                      <a:r>
                        <a:rPr lang="en-US" sz="1200" dirty="0" smtClean="0"/>
                        <a:t>?)</a:t>
                      </a:r>
                    </a:p>
                    <a:p>
                      <a:pPr algn="l"/>
                      <a:r>
                        <a:rPr lang="en-US" sz="1200" dirty="0" smtClean="0"/>
                        <a:t>Usability is the </a:t>
                      </a:r>
                      <a:r>
                        <a:rPr lang="en-US" sz="1200" u="sng" dirty="0" smtClean="0"/>
                        <a:t>set of attributes</a:t>
                      </a:r>
                      <a:r>
                        <a:rPr lang="en-US" sz="1200" dirty="0" smtClean="0"/>
                        <a:t> that bear on the effort needed for use, and on the individual assessment of such use, by a stated or implied set of users.</a:t>
                      </a:r>
                      <a:endParaRPr lang="en-US" sz="1200" dirty="0"/>
                    </a:p>
                  </a:txBody>
                  <a:tcPr marL="45156" marR="45156" marT="22578" marB="2257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Understandability</a:t>
                      </a:r>
                    </a:p>
                  </a:txBody>
                  <a:tcPr marL="45156" marR="45156" marT="22578" marB="22578"/>
                </a:tc>
              </a:tr>
              <a:tr h="1806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Learnability</a:t>
                      </a:r>
                    </a:p>
                  </a:txBody>
                  <a:tcPr marL="45156" marR="45156" marT="22578" marB="22578"/>
                </a:tc>
              </a:tr>
              <a:tr h="1806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Operability</a:t>
                      </a:r>
                    </a:p>
                  </a:txBody>
                  <a:tcPr marL="45156" marR="45156" marT="22578" marB="22578"/>
                </a:tc>
              </a:tr>
              <a:tr h="1806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Attractiveness</a:t>
                      </a:r>
                    </a:p>
                  </a:txBody>
                  <a:tcPr marL="45156" marR="45156" marT="22578" marB="22578"/>
                </a:tc>
              </a:tr>
              <a:tr h="180622">
                <a:tc rowSpan="2"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Efficiency</a:t>
                      </a:r>
                    </a:p>
                    <a:p>
                      <a:pPr algn="l"/>
                      <a:r>
                        <a:rPr lang="en-US" sz="1200" dirty="0"/>
                        <a:t>(How efficient is the software</a:t>
                      </a:r>
                      <a:r>
                        <a:rPr lang="en-US" sz="1200" dirty="0" smtClean="0"/>
                        <a:t>?)</a:t>
                      </a:r>
                    </a:p>
                  </a:txBody>
                  <a:tcPr marL="45156" marR="45156" marT="22578" marB="2257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Time behavior</a:t>
                      </a:r>
                    </a:p>
                  </a:txBody>
                  <a:tcPr marL="45156" marR="45156" marT="22578" marB="22578"/>
                </a:tc>
              </a:tr>
              <a:tr h="27093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Resource behavior</a:t>
                      </a:r>
                    </a:p>
                  </a:txBody>
                  <a:tcPr marL="45156" marR="45156" marT="22578" marB="22578"/>
                </a:tc>
              </a:tr>
              <a:tr h="180622">
                <a:tc rowSpan="4"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Maintainability</a:t>
                      </a:r>
                    </a:p>
                    <a:p>
                      <a:pPr algn="l"/>
                      <a:r>
                        <a:rPr lang="en-US" sz="1200" dirty="0"/>
                        <a:t>(How easy is it to modify the software?)</a:t>
                      </a:r>
                    </a:p>
                  </a:txBody>
                  <a:tcPr marL="45156" marR="45156" marT="22578" marB="2257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Analyzability</a:t>
                      </a:r>
                    </a:p>
                  </a:txBody>
                  <a:tcPr marL="45156" marR="45156" marT="22578" marB="22578"/>
                </a:tc>
              </a:tr>
              <a:tr h="1806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Changeability</a:t>
                      </a:r>
                    </a:p>
                  </a:txBody>
                  <a:tcPr marL="45156" marR="45156" marT="22578" marB="22578"/>
                </a:tc>
              </a:tr>
              <a:tr h="1806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Stability</a:t>
                      </a:r>
                    </a:p>
                  </a:txBody>
                  <a:tcPr marL="45156" marR="45156" marT="22578" marB="22578"/>
                </a:tc>
              </a:tr>
              <a:tr h="1806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Testability</a:t>
                      </a:r>
                    </a:p>
                  </a:txBody>
                  <a:tcPr marL="45156" marR="45156" marT="22578" marB="22578"/>
                </a:tc>
              </a:tr>
              <a:tr h="180622">
                <a:tc rowSpan="4"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Portability</a:t>
                      </a:r>
                    </a:p>
                    <a:p>
                      <a:pPr algn="l"/>
                      <a:r>
                        <a:rPr lang="en-US" sz="1200" dirty="0"/>
                        <a:t>(How easy is it to transfer the software to another operating environment?)</a:t>
                      </a:r>
                    </a:p>
                  </a:txBody>
                  <a:tcPr marL="45156" marR="45156" marT="22578" marB="2257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Adaptability</a:t>
                      </a:r>
                    </a:p>
                  </a:txBody>
                  <a:tcPr marL="45156" marR="45156" marT="22578" marB="22578"/>
                </a:tc>
              </a:tr>
              <a:tr h="1806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Installability</a:t>
                      </a:r>
                    </a:p>
                  </a:txBody>
                  <a:tcPr marL="45156" marR="45156" marT="22578" marB="22578"/>
                </a:tc>
              </a:tr>
              <a:tr h="1806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Coexistence</a:t>
                      </a:r>
                    </a:p>
                  </a:txBody>
                  <a:tcPr marL="45156" marR="45156" marT="22578" marB="22578"/>
                </a:tc>
              </a:tr>
              <a:tr h="1806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/>
                        <a:t>Replace-ability</a:t>
                      </a:r>
                      <a:endParaRPr lang="en-US" sz="1200" dirty="0"/>
                    </a:p>
                  </a:txBody>
                  <a:tcPr marL="45156" marR="45156" marT="22578" marB="22578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Select Quality Characteristics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How many characteristics?</a:t>
            </a:r>
            <a:endParaRPr lang="en-US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29000" y="2819400"/>
            <a:ext cx="1912938" cy="274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blogs-images.forbes.com/gyro/files/2011/06/300px-Tape_measure_colored.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3600" y="2362200"/>
            <a:ext cx="2857500" cy="1905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3. Define Metrics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 typeface="Arial" charset="0"/>
              <a:buChar char="•"/>
            </a:pPr>
            <a:r>
              <a:rPr lang="en-US" sz="2000" dirty="0" smtClean="0"/>
              <a:t>Software </a:t>
            </a:r>
            <a:r>
              <a:rPr lang="en-US" sz="2000" i="1" dirty="0" smtClean="0">
                <a:solidFill>
                  <a:srgbClr val="C00000"/>
                </a:solidFill>
              </a:rPr>
              <a:t>measurement</a:t>
            </a:r>
            <a:r>
              <a:rPr lang="en-US" sz="2000" dirty="0" smtClean="0"/>
              <a:t> gathers </a:t>
            </a:r>
            <a:r>
              <a:rPr lang="en-US" sz="2000" u="sng" dirty="0" smtClean="0"/>
              <a:t>information</a:t>
            </a:r>
            <a:r>
              <a:rPr lang="en-US" sz="2000" dirty="0" smtClean="0"/>
              <a:t> about the software product, process, project and environment.</a:t>
            </a:r>
          </a:p>
          <a:p>
            <a:r>
              <a:rPr lang="en-US" sz="2000" dirty="0" smtClean="0"/>
              <a:t>We have to turn our </a:t>
            </a:r>
            <a:r>
              <a:rPr lang="en-US" sz="2000" i="1" dirty="0" smtClean="0">
                <a:solidFill>
                  <a:srgbClr val="C00000"/>
                </a:solidFill>
              </a:rPr>
              <a:t>vague ideas</a:t>
            </a:r>
            <a:r>
              <a:rPr lang="en-US" sz="2000" dirty="0" smtClean="0"/>
              <a:t> about quality into something </a:t>
            </a:r>
            <a:r>
              <a:rPr lang="en-US" sz="2000" i="1" dirty="0" smtClean="0">
                <a:solidFill>
                  <a:srgbClr val="C00000"/>
                </a:solidFill>
              </a:rPr>
              <a:t>measurable</a:t>
            </a:r>
            <a:r>
              <a:rPr lang="en-US" sz="2000" dirty="0" smtClean="0"/>
              <a:t>.</a:t>
            </a:r>
          </a:p>
          <a:p>
            <a:r>
              <a:rPr lang="en-US" sz="2000" i="1" dirty="0" smtClean="0">
                <a:solidFill>
                  <a:srgbClr val="C00000"/>
                </a:solidFill>
              </a:rPr>
              <a:t>Example</a:t>
            </a:r>
            <a:r>
              <a:rPr lang="en-US" sz="2000" dirty="0" smtClean="0"/>
              <a:t>: Software quality characteristics</a:t>
            </a:r>
          </a:p>
          <a:p>
            <a:pPr lvl="1"/>
            <a:r>
              <a:rPr lang="en-US" sz="2000" i="1" dirty="0" smtClean="0">
                <a:solidFill>
                  <a:srgbClr val="C00000"/>
                </a:solidFill>
              </a:rPr>
              <a:t>Correctness</a:t>
            </a:r>
            <a:r>
              <a:rPr lang="en-US" sz="2000" dirty="0" smtClean="0"/>
              <a:t> (vague idea) </a:t>
            </a:r>
          </a:p>
          <a:p>
            <a:pPr lvl="2"/>
            <a:r>
              <a:rPr lang="en-US" sz="2000" i="1" dirty="0" smtClean="0">
                <a:solidFill>
                  <a:srgbClr val="C00000"/>
                </a:solidFill>
              </a:rPr>
              <a:t>Test cases</a:t>
            </a:r>
            <a:r>
              <a:rPr lang="en-US" sz="2000" dirty="0" smtClean="0"/>
              <a:t> (measurable quantities)</a:t>
            </a:r>
          </a:p>
          <a:p>
            <a:pPr lvl="3"/>
            <a:r>
              <a:rPr lang="en-US" dirty="0" smtClean="0"/>
              <a:t>Number of </a:t>
            </a:r>
            <a:r>
              <a:rPr lang="en-US" i="1" dirty="0" smtClean="0">
                <a:solidFill>
                  <a:srgbClr val="C00000"/>
                </a:solidFill>
              </a:rPr>
              <a:t>passed</a:t>
            </a:r>
            <a:r>
              <a:rPr lang="en-US" dirty="0" smtClean="0"/>
              <a:t> test cases (</a:t>
            </a:r>
            <a:r>
              <a:rPr lang="en-US" u="sng" dirty="0" smtClean="0"/>
              <a:t>counts</a:t>
            </a:r>
            <a:r>
              <a:rPr lang="en-US" dirty="0" smtClean="0"/>
              <a:t>, </a:t>
            </a:r>
            <a:r>
              <a:rPr lang="en-US" u="sng" dirty="0" smtClean="0"/>
              <a:t>metrics</a:t>
            </a:r>
            <a:r>
              <a:rPr lang="en-US" dirty="0" smtClean="0"/>
              <a:t>)</a:t>
            </a:r>
          </a:p>
          <a:p>
            <a:pPr lvl="1"/>
            <a:r>
              <a:rPr lang="en-US" sz="2000" i="1" dirty="0" smtClean="0">
                <a:solidFill>
                  <a:srgbClr val="C00000"/>
                </a:solidFill>
              </a:rPr>
              <a:t>Usability</a:t>
            </a:r>
            <a:r>
              <a:rPr lang="en-US" sz="2000" dirty="0" smtClean="0"/>
              <a:t> (vague idea) </a:t>
            </a:r>
          </a:p>
          <a:p>
            <a:pPr lvl="2"/>
            <a:r>
              <a:rPr lang="en-US" sz="2000" i="1" dirty="0" smtClean="0">
                <a:solidFill>
                  <a:srgbClr val="C00000"/>
                </a:solidFill>
              </a:rPr>
              <a:t>Time</a:t>
            </a:r>
            <a:r>
              <a:rPr lang="en-US" sz="2000" dirty="0" smtClean="0"/>
              <a:t> taken to learn how to use system (measurable quantities)</a:t>
            </a:r>
          </a:p>
          <a:p>
            <a:pPr lvl="3"/>
            <a:r>
              <a:rPr lang="en-US" i="1" dirty="0" smtClean="0">
                <a:solidFill>
                  <a:srgbClr val="C00000"/>
                </a:solidFill>
              </a:rPr>
              <a:t>Average</a:t>
            </a:r>
            <a:r>
              <a:rPr lang="en-US" dirty="0" smtClean="0"/>
              <a:t> learning time of 100 users (</a:t>
            </a:r>
            <a:r>
              <a:rPr lang="en-US" u="sng" dirty="0" smtClean="0"/>
              <a:t>counts</a:t>
            </a:r>
            <a:r>
              <a:rPr lang="en-US" dirty="0" smtClean="0"/>
              <a:t>, </a:t>
            </a:r>
            <a:r>
              <a:rPr lang="en-US" u="sng" dirty="0" smtClean="0"/>
              <a:t>metrics</a:t>
            </a:r>
            <a:r>
              <a:rPr lang="en-US" dirty="0" smtClean="0"/>
              <a:t>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</a:t>
            </a:r>
            <a:endParaRPr lang="en-US" dirty="0"/>
          </a:p>
        </p:txBody>
      </p:sp>
      <p:graphicFrame>
        <p:nvGraphicFramePr>
          <p:cNvPr id="6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3911577"/>
          <a:ext cx="8229600" cy="24130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50672">
                <a:tc>
                  <a:txBody>
                    <a:bodyPr/>
                    <a:lstStyle/>
                    <a:p>
                      <a:r>
                        <a:rPr lang="en-US" sz="2600" dirty="0" smtClean="0"/>
                        <a:t>Qualitative  Data</a:t>
                      </a:r>
                      <a:endParaRPr lang="en-US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600" dirty="0" smtClean="0"/>
                        <a:t>Quantitative Data</a:t>
                      </a:r>
                      <a:endParaRPr lang="en-US" sz="2600" dirty="0"/>
                    </a:p>
                  </a:txBody>
                  <a:tcPr/>
                </a:tc>
              </a:tr>
              <a:tr h="1925343">
                <a:tc>
                  <a:txBody>
                    <a:bodyPr/>
                    <a:lstStyle/>
                    <a:p>
                      <a:pPr marL="457200" indent="-457200">
                        <a:buFont typeface="Arial" pitchFamily="34" charset="0"/>
                        <a:buChar char="•"/>
                      </a:pPr>
                      <a:r>
                        <a:rPr lang="en-US" sz="2400" dirty="0" smtClean="0"/>
                        <a:t>robust aroma</a:t>
                      </a:r>
                    </a:p>
                    <a:p>
                      <a:pPr marL="457200" indent="-457200">
                        <a:buFont typeface="Arial" pitchFamily="34" charset="0"/>
                        <a:buChar char="•"/>
                      </a:pPr>
                      <a:r>
                        <a:rPr lang="en-US" sz="2200" dirty="0" smtClean="0"/>
                        <a:t>frothy appearance</a:t>
                      </a:r>
                    </a:p>
                    <a:p>
                      <a:pPr marL="457200" indent="-457200">
                        <a:buFont typeface="Arial" pitchFamily="34" charset="0"/>
                        <a:buChar char="•"/>
                      </a:pPr>
                      <a:r>
                        <a:rPr lang="en-US" sz="2200" dirty="0" smtClean="0"/>
                        <a:t>strong taste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Font typeface="Arial" pitchFamily="34" charset="0"/>
                        <a:buChar char="•"/>
                      </a:pPr>
                      <a:r>
                        <a:rPr lang="en-US" sz="2400" dirty="0" smtClean="0"/>
                        <a:t>12 ounces of latte</a:t>
                      </a:r>
                    </a:p>
                    <a:p>
                      <a:pPr marL="457200" indent="-457200">
                        <a:buFont typeface="Arial" pitchFamily="34" charset="0"/>
                        <a:buChar char="•"/>
                      </a:pPr>
                      <a:r>
                        <a:rPr lang="en-US" sz="2200" dirty="0" smtClean="0"/>
                        <a:t>serving temperature 150º F.</a:t>
                      </a:r>
                    </a:p>
                    <a:p>
                      <a:pPr marL="457200" indent="-457200">
                        <a:buFont typeface="Arial" pitchFamily="34" charset="0"/>
                        <a:buChar char="•"/>
                      </a:pPr>
                      <a:r>
                        <a:rPr lang="en-US" sz="2200" dirty="0" smtClean="0"/>
                        <a:t>serving cup 7 inches in height</a:t>
                      </a:r>
                    </a:p>
                    <a:p>
                      <a:pPr marL="457200" indent="-457200">
                        <a:buFont typeface="Arial" pitchFamily="34" charset="0"/>
                        <a:buChar char="•"/>
                      </a:pPr>
                      <a:r>
                        <a:rPr lang="en-US" sz="2200" dirty="0" smtClean="0"/>
                        <a:t>cost $4.95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00363" y="1752600"/>
            <a:ext cx="3343275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1634490"/>
            <a:ext cx="2385060" cy="2023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81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00800" y="1447800"/>
            <a:ext cx="227838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Test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486400" cy="4525963"/>
          </a:xfrm>
        </p:spPr>
        <p:txBody>
          <a:bodyPr/>
          <a:lstStyle/>
          <a:p>
            <a:r>
              <a:rPr lang="en-US" sz="2400" dirty="0" smtClean="0"/>
              <a:t>The age of your car.</a:t>
            </a:r>
            <a:endParaRPr lang="en-US" sz="2400" dirty="0" smtClean="0">
              <a:solidFill>
                <a:schemeClr val="bg1"/>
              </a:solidFill>
            </a:endParaRPr>
          </a:p>
          <a:p>
            <a:endParaRPr lang="en-US" sz="2400" dirty="0" smtClean="0"/>
          </a:p>
          <a:p>
            <a:r>
              <a:rPr lang="en-US" sz="2400" dirty="0" smtClean="0"/>
              <a:t>The number of hairs on your knuckle.</a:t>
            </a:r>
          </a:p>
          <a:p>
            <a:endParaRPr lang="en-US" sz="2400" dirty="0" smtClean="0"/>
          </a:p>
          <a:p>
            <a:r>
              <a:rPr lang="en-US" sz="2400" dirty="0" smtClean="0"/>
              <a:t>The softness of a cat.</a:t>
            </a:r>
          </a:p>
          <a:p>
            <a:endParaRPr lang="en-US" sz="2400" dirty="0" smtClean="0"/>
          </a:p>
          <a:p>
            <a:r>
              <a:rPr lang="en-US" sz="2400" dirty="0" smtClean="0"/>
              <a:t>The color of the sky (expressed as blue, hazel, brown, etc.).</a:t>
            </a:r>
          </a:p>
          <a:p>
            <a:endParaRPr lang="en-US" sz="2400" dirty="0" smtClean="0"/>
          </a:p>
          <a:p>
            <a:r>
              <a:rPr lang="en-US" sz="2400" dirty="0" smtClean="0"/>
              <a:t>The number of pennies in your pocket.</a:t>
            </a:r>
          </a:p>
        </p:txBody>
      </p:sp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3844290"/>
            <a:ext cx="2385060" cy="2023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0" y="990600"/>
            <a:ext cx="227838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Answers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562600" cy="4525963"/>
          </a:xfrm>
        </p:spPr>
        <p:txBody>
          <a:bodyPr/>
          <a:lstStyle/>
          <a:p>
            <a:r>
              <a:rPr lang="en-US" sz="2200" dirty="0" smtClean="0"/>
              <a:t>The age of your car.</a:t>
            </a:r>
            <a:endParaRPr lang="en-US" sz="2200" dirty="0" smtClean="0">
              <a:solidFill>
                <a:schemeClr val="bg1"/>
              </a:solidFill>
            </a:endParaRPr>
          </a:p>
          <a:p>
            <a:pPr>
              <a:buFont typeface="Calibri" pitchFamily="34" charset="0"/>
              <a:buChar char="‒"/>
            </a:pPr>
            <a:r>
              <a:rPr lang="en-US" sz="2200" dirty="0" smtClean="0">
                <a:solidFill>
                  <a:srgbClr val="C00000"/>
                </a:solidFill>
              </a:rPr>
              <a:t>Quantitative.</a:t>
            </a:r>
          </a:p>
          <a:p>
            <a:r>
              <a:rPr lang="en-US" sz="2200" dirty="0" smtClean="0"/>
              <a:t>The number of hairs on your knuckle.</a:t>
            </a:r>
          </a:p>
          <a:p>
            <a:pPr>
              <a:buFont typeface="Calibri" pitchFamily="34" charset="0"/>
              <a:buChar char="‒"/>
            </a:pPr>
            <a:r>
              <a:rPr lang="en-US" sz="2200" dirty="0" smtClean="0">
                <a:solidFill>
                  <a:srgbClr val="C00000"/>
                </a:solidFill>
              </a:rPr>
              <a:t>Quantitative.</a:t>
            </a:r>
          </a:p>
          <a:p>
            <a:r>
              <a:rPr lang="en-US" sz="2200" dirty="0" smtClean="0"/>
              <a:t>The softness of a cat.</a:t>
            </a:r>
          </a:p>
          <a:p>
            <a:pPr>
              <a:buFont typeface="Calibri" pitchFamily="34" charset="0"/>
              <a:buChar char="‒"/>
            </a:pPr>
            <a:r>
              <a:rPr lang="en-US" sz="2200" dirty="0" smtClean="0">
                <a:solidFill>
                  <a:srgbClr val="C00000"/>
                </a:solidFill>
              </a:rPr>
              <a:t>Qualitative.</a:t>
            </a:r>
          </a:p>
          <a:p>
            <a:r>
              <a:rPr lang="en-US" sz="2200" dirty="0" smtClean="0"/>
              <a:t>The color of the sky (expressed as blue, hazel, brown, etc.).</a:t>
            </a:r>
          </a:p>
          <a:p>
            <a:pPr>
              <a:buFont typeface="Calibri" pitchFamily="34" charset="0"/>
              <a:buChar char="‒"/>
            </a:pPr>
            <a:r>
              <a:rPr lang="en-US" sz="2200" dirty="0" smtClean="0">
                <a:solidFill>
                  <a:srgbClr val="C00000"/>
                </a:solidFill>
              </a:rPr>
              <a:t>Qualitative.</a:t>
            </a:r>
          </a:p>
          <a:p>
            <a:r>
              <a:rPr lang="en-US" sz="2200" dirty="0" smtClean="0"/>
              <a:t>The number of pennies in your pocket.</a:t>
            </a:r>
          </a:p>
          <a:p>
            <a:pPr>
              <a:buFont typeface="Calibri" pitchFamily="34" charset="0"/>
              <a:buChar char="‒"/>
            </a:pPr>
            <a:r>
              <a:rPr lang="en-US" sz="2200" dirty="0" smtClean="0">
                <a:solidFill>
                  <a:srgbClr val="C00000"/>
                </a:solidFill>
              </a:rPr>
              <a:t>Quantitative.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4149090"/>
            <a:ext cx="2385060" cy="2023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0" y="1295400"/>
            <a:ext cx="227838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34200" y="190500"/>
            <a:ext cx="1940541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Select Evaluation Method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706880"/>
          <a:ext cx="82296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600" dirty="0" smtClean="0"/>
                        <a:t>Qualitative  Measurement</a:t>
                      </a:r>
                      <a:endParaRPr lang="en-US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600" dirty="0" smtClean="0"/>
                        <a:t>Quantitative Measurement</a:t>
                      </a:r>
                      <a:endParaRPr lang="en-US" sz="2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457200" indent="-457200">
                        <a:buFont typeface="Arial" pitchFamily="34" charset="0"/>
                        <a:buChar char="•"/>
                      </a:pPr>
                      <a:r>
                        <a:rPr lang="en-US" sz="2400" dirty="0" smtClean="0"/>
                        <a:t>Deals with </a:t>
                      </a:r>
                      <a:r>
                        <a:rPr lang="en-US" sz="2400" i="1" dirty="0" smtClean="0">
                          <a:solidFill>
                            <a:srgbClr val="C00000"/>
                          </a:solidFill>
                        </a:rPr>
                        <a:t>descriptions (words, </a:t>
                      </a:r>
                      <a:r>
                        <a:rPr lang="en-US" sz="2400" i="1" u="sng" dirty="0" smtClean="0">
                          <a:solidFill>
                            <a:srgbClr val="C00000"/>
                          </a:solidFill>
                        </a:rPr>
                        <a:t>categories</a:t>
                      </a:r>
                      <a:r>
                        <a:rPr lang="en-US" sz="2400" i="1" dirty="0" smtClean="0">
                          <a:solidFill>
                            <a:srgbClr val="C00000"/>
                          </a:solidFill>
                        </a:rPr>
                        <a:t>)</a:t>
                      </a:r>
                      <a:r>
                        <a:rPr lang="en-US" sz="2400" dirty="0" smtClean="0"/>
                        <a:t>.</a:t>
                      </a:r>
                    </a:p>
                    <a:p>
                      <a:pPr marL="457200" indent="-457200">
                        <a:buFont typeface="Arial" pitchFamily="34" charset="0"/>
                        <a:buChar char="•"/>
                      </a:pPr>
                      <a:r>
                        <a:rPr lang="en-US" sz="2400" dirty="0" smtClean="0"/>
                        <a:t>Data can be </a:t>
                      </a:r>
                      <a:r>
                        <a:rPr lang="en-US" sz="2400" i="1" dirty="0" smtClean="0">
                          <a:solidFill>
                            <a:srgbClr val="C00000"/>
                          </a:solidFill>
                        </a:rPr>
                        <a:t>observed</a:t>
                      </a:r>
                      <a:r>
                        <a:rPr lang="en-US" sz="2400" dirty="0" smtClean="0"/>
                        <a:t> but </a:t>
                      </a:r>
                      <a:r>
                        <a:rPr lang="en-US" sz="2400" u="sng" dirty="0" smtClean="0"/>
                        <a:t>not measured</a:t>
                      </a:r>
                      <a:r>
                        <a:rPr lang="en-US" sz="2400" dirty="0" smtClean="0"/>
                        <a:t>.</a:t>
                      </a:r>
                    </a:p>
                    <a:p>
                      <a:pPr marL="914400" lvl="1" indent="-457200">
                        <a:buFont typeface="Arial" pitchFamily="34" charset="0"/>
                        <a:buChar char="•"/>
                      </a:pPr>
                      <a:r>
                        <a:rPr lang="en-US" sz="2000" dirty="0" smtClean="0"/>
                        <a:t>Colors, textures, smells, tastes, appearance, beauty, etc.</a:t>
                      </a:r>
                    </a:p>
                    <a:p>
                      <a:pPr marL="914400" lvl="1" indent="-457200">
                        <a:buFont typeface="Arial" pitchFamily="34" charset="0"/>
                        <a:buChar char="•"/>
                      </a:pPr>
                      <a:r>
                        <a:rPr lang="en-US" sz="2000" dirty="0" smtClean="0"/>
                        <a:t>'Good job!' or 'He wasn't very nice.' </a:t>
                      </a:r>
                    </a:p>
                    <a:p>
                      <a:pPr marL="457200" indent="-457200">
                        <a:buFont typeface="Arial" pitchFamily="34" charset="0"/>
                        <a:buChar char="•"/>
                      </a:pPr>
                      <a:r>
                        <a:rPr lang="en-US" sz="2400" dirty="0" smtClean="0">
                          <a:solidFill>
                            <a:srgbClr val="C00000"/>
                          </a:solidFill>
                        </a:rPr>
                        <a:t>Qualitat</a:t>
                      </a:r>
                      <a:r>
                        <a:rPr lang="en-US" sz="2400" dirty="0" smtClean="0"/>
                        <a:t>ive → </a:t>
                      </a:r>
                      <a:r>
                        <a:rPr lang="en-US" sz="2400" dirty="0" smtClean="0">
                          <a:solidFill>
                            <a:srgbClr val="C00000"/>
                          </a:solidFill>
                        </a:rPr>
                        <a:t>Qualit</a:t>
                      </a:r>
                      <a:r>
                        <a:rPr lang="en-US" sz="2400" dirty="0" smtClean="0"/>
                        <a:t>y</a:t>
                      </a:r>
                    </a:p>
                    <a:p>
                      <a:pPr marL="914400" marR="0" lvl="1" indent="-4572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2000" dirty="0" smtClean="0"/>
                        <a:t>Qualitative measurement collects information that is </a:t>
                      </a:r>
                      <a:r>
                        <a:rPr lang="en-US" sz="2000" u="sng" dirty="0" smtClean="0"/>
                        <a:t>not numerical</a:t>
                      </a:r>
                      <a:r>
                        <a:rPr lang="en-US" sz="2000" dirty="0" smtClean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Font typeface="Arial" pitchFamily="34" charset="0"/>
                        <a:buChar char="•"/>
                      </a:pPr>
                      <a:r>
                        <a:rPr lang="en-US" sz="2400" dirty="0" smtClean="0"/>
                        <a:t>Deals with </a:t>
                      </a:r>
                      <a:r>
                        <a:rPr lang="en-US" sz="2400" i="1" dirty="0" smtClean="0">
                          <a:solidFill>
                            <a:srgbClr val="C00000"/>
                          </a:solidFill>
                        </a:rPr>
                        <a:t>numbers</a:t>
                      </a:r>
                      <a:r>
                        <a:rPr lang="en-US" sz="2400" dirty="0" smtClean="0"/>
                        <a:t>.</a:t>
                      </a:r>
                    </a:p>
                    <a:p>
                      <a:pPr marL="457200" indent="-457200">
                        <a:buFont typeface="Arial" pitchFamily="34" charset="0"/>
                        <a:buChar char="•"/>
                      </a:pPr>
                      <a:endParaRPr lang="en-US" sz="2400" dirty="0" smtClean="0"/>
                    </a:p>
                    <a:p>
                      <a:pPr marL="457200" indent="-457200">
                        <a:buFont typeface="Arial" pitchFamily="34" charset="0"/>
                        <a:buChar char="•"/>
                      </a:pPr>
                      <a:r>
                        <a:rPr lang="en-US" sz="2400" dirty="0" smtClean="0"/>
                        <a:t>Data which can be </a:t>
                      </a:r>
                      <a:r>
                        <a:rPr lang="en-US" sz="2400" i="1" dirty="0" smtClean="0">
                          <a:solidFill>
                            <a:srgbClr val="C00000"/>
                          </a:solidFill>
                        </a:rPr>
                        <a:t>measured</a:t>
                      </a:r>
                      <a:r>
                        <a:rPr lang="en-US" sz="2400" dirty="0" smtClean="0"/>
                        <a:t>.</a:t>
                      </a:r>
                    </a:p>
                    <a:p>
                      <a:pPr marL="914400" lvl="1" indent="-457200">
                        <a:buFont typeface="Arial" pitchFamily="34" charset="0"/>
                        <a:buChar char="•"/>
                      </a:pPr>
                      <a:r>
                        <a:rPr lang="en-US" sz="2000" dirty="0" smtClean="0"/>
                        <a:t>Length, height, area, volume, weight, speed, time, temperature, humidity, sound levels, cost, members, ages, etc.</a:t>
                      </a:r>
                    </a:p>
                    <a:p>
                      <a:pPr marL="457200" indent="-457200">
                        <a:buFont typeface="Arial" pitchFamily="34" charset="0"/>
                        <a:buChar char="•"/>
                      </a:pPr>
                      <a:r>
                        <a:rPr lang="en-US" sz="2400" dirty="0" smtClean="0">
                          <a:solidFill>
                            <a:srgbClr val="C00000"/>
                          </a:solidFill>
                        </a:rPr>
                        <a:t>Quantit</a:t>
                      </a:r>
                      <a:r>
                        <a:rPr lang="en-US" sz="2400" dirty="0" smtClean="0"/>
                        <a:t>ative → </a:t>
                      </a:r>
                      <a:r>
                        <a:rPr lang="en-US" sz="2400" dirty="0" smtClean="0">
                          <a:solidFill>
                            <a:srgbClr val="C00000"/>
                          </a:solidFill>
                        </a:rPr>
                        <a:t>Quantit</a:t>
                      </a:r>
                      <a:r>
                        <a:rPr lang="en-US" sz="2400" dirty="0" smtClean="0"/>
                        <a:t>y</a:t>
                      </a:r>
                    </a:p>
                    <a:p>
                      <a:pPr marL="914400" marR="0" lvl="1" indent="-4572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2000" dirty="0" smtClean="0"/>
                        <a:t>Quantitative measurement is measurement of data that can be put into</a:t>
                      </a:r>
                      <a:r>
                        <a:rPr lang="en-US" sz="2000" baseline="0" dirty="0" smtClean="0"/>
                        <a:t> </a:t>
                      </a:r>
                      <a:r>
                        <a:rPr lang="en-US" sz="2000" u="sng" dirty="0" smtClean="0"/>
                        <a:t>numbers</a:t>
                      </a:r>
                      <a:r>
                        <a:rPr lang="en-US" sz="2000" dirty="0" smtClean="0"/>
                        <a:t>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Define Quality Requirements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Quality</a:t>
            </a:r>
            <a:r>
              <a:rPr lang="en-US" sz="2400" dirty="0" smtClean="0"/>
              <a:t> is the degree to which a set of inherent </a:t>
            </a:r>
            <a:r>
              <a:rPr lang="en-US" sz="2400" u="sng" dirty="0" smtClean="0"/>
              <a:t>characteristics</a:t>
            </a:r>
            <a:r>
              <a:rPr lang="en-US" sz="2400" dirty="0" smtClean="0"/>
              <a:t> fulfills </a:t>
            </a:r>
            <a:r>
              <a:rPr lang="en-US" sz="2400" u="sng" dirty="0" smtClean="0"/>
              <a:t>requirements</a:t>
            </a:r>
            <a:r>
              <a:rPr lang="en-US" sz="2400" dirty="0" smtClean="0"/>
              <a:t> (need or expectation).</a:t>
            </a:r>
          </a:p>
          <a:p>
            <a:r>
              <a:rPr lang="en-US" sz="2400" dirty="0" smtClean="0"/>
              <a:t>No requirements (no baselines, no standards) </a:t>
            </a:r>
            <a:r>
              <a:rPr lang="en-US" sz="2400" dirty="0" smtClean="0">
                <a:sym typeface="Wingdings" pitchFamily="2" charset="2"/>
              </a:rPr>
              <a:t> No quality.</a:t>
            </a:r>
            <a:endParaRPr lang="en-US" sz="2400" dirty="0" smtClean="0"/>
          </a:p>
          <a:p>
            <a:endParaRPr lang="en-US" sz="2400" dirty="0"/>
          </a:p>
        </p:txBody>
      </p:sp>
      <p:sp>
        <p:nvSpPr>
          <p:cNvPr id="11" name="Rectangle 10"/>
          <p:cNvSpPr/>
          <p:nvPr/>
        </p:nvSpPr>
        <p:spPr>
          <a:xfrm>
            <a:off x="1219200" y="5105400"/>
            <a:ext cx="2971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latin typeface="+mj-lt"/>
              </a:rPr>
              <a:t>Quality requirements</a:t>
            </a:r>
            <a:endParaRPr lang="en-US" sz="2400" dirty="0">
              <a:latin typeface="+mj-lt"/>
            </a:endParaRPr>
          </a:p>
        </p:txBody>
      </p:sp>
      <p:sp>
        <p:nvSpPr>
          <p:cNvPr id="13" name="Left Arrow 12"/>
          <p:cNvSpPr/>
          <p:nvPr/>
        </p:nvSpPr>
        <p:spPr>
          <a:xfrm>
            <a:off x="4343400" y="3576935"/>
            <a:ext cx="1600200" cy="990600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 smtClean="0"/>
              <a:t>Meets</a:t>
            </a:r>
            <a:endParaRPr lang="en-US" sz="2200" dirty="0"/>
          </a:p>
        </p:txBody>
      </p:sp>
      <p:pic>
        <p:nvPicPr>
          <p:cNvPr id="1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3043535"/>
            <a:ext cx="1167666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Rectangle 14"/>
          <p:cNvSpPr/>
          <p:nvPr/>
        </p:nvSpPr>
        <p:spPr>
          <a:xfrm>
            <a:off x="5410200" y="4796135"/>
            <a:ext cx="3124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latin typeface="+mj-lt"/>
              </a:rPr>
              <a:t>Quality characteristics</a:t>
            </a:r>
            <a:endParaRPr lang="en-US" sz="2400" dirty="0">
              <a:latin typeface="+mj-lt"/>
            </a:endParaRPr>
          </a:p>
        </p:txBody>
      </p:sp>
      <p:pic>
        <p:nvPicPr>
          <p:cNvPr id="72706" name="Picture 2" descr="https://theblogrelay.com/wp-content/uploads/2020/06/identifyReq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3078480"/>
            <a:ext cx="2931160" cy="1950720"/>
          </a:xfrm>
          <a:prstGeom prst="rect">
            <a:avLst/>
          </a:prstGeom>
          <a:noFill/>
        </p:spPr>
      </p:pic>
      <p:sp>
        <p:nvSpPr>
          <p:cNvPr id="17" name="Rectangle 16"/>
          <p:cNvSpPr/>
          <p:nvPr/>
        </p:nvSpPr>
        <p:spPr>
          <a:xfrm>
            <a:off x="838200" y="5867400"/>
            <a:ext cx="7510005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latin typeface="+mj-lt"/>
              </a:rPr>
              <a:t>Quality requirements should be included in a specification.</a:t>
            </a:r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Quality Requirements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Quality</a:t>
            </a:r>
            <a:r>
              <a:rPr lang="en-US" sz="2400" dirty="0" smtClean="0"/>
              <a:t> is the degree to which a set of inherent </a:t>
            </a:r>
            <a:r>
              <a:rPr lang="en-US" sz="2400" u="sng" dirty="0" smtClean="0"/>
              <a:t>characteristics</a:t>
            </a:r>
            <a:r>
              <a:rPr lang="en-US" sz="2400" dirty="0" smtClean="0"/>
              <a:t> </a:t>
            </a:r>
            <a:r>
              <a:rPr lang="en-US" sz="2400" u="sng" dirty="0" smtClean="0"/>
              <a:t>fulfills requirements</a:t>
            </a:r>
            <a:r>
              <a:rPr lang="en-US" sz="2400" dirty="0" smtClean="0"/>
              <a:t> (need or expectation).</a:t>
            </a:r>
          </a:p>
          <a:p>
            <a:r>
              <a:rPr lang="en-US" sz="2400" dirty="0" smtClean="0"/>
              <a:t>Number of </a:t>
            </a:r>
            <a:r>
              <a:rPr lang="en-US" sz="2400" i="1" dirty="0" smtClean="0">
                <a:solidFill>
                  <a:srgbClr val="C00000"/>
                </a:solidFill>
              </a:rPr>
              <a:t>passed</a:t>
            </a:r>
            <a:r>
              <a:rPr lang="en-US" sz="2400" dirty="0" smtClean="0"/>
              <a:t> test cases: </a:t>
            </a:r>
            <a:r>
              <a:rPr lang="en-US" sz="2400" b="1" dirty="0" smtClean="0"/>
              <a:t>100%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Average</a:t>
            </a:r>
            <a:r>
              <a:rPr lang="en-US" sz="2400" dirty="0" smtClean="0"/>
              <a:t> learning time of 100 users: </a:t>
            </a:r>
            <a:r>
              <a:rPr lang="en-US" sz="2400" b="1" dirty="0" smtClean="0"/>
              <a:t>10 minutes</a:t>
            </a:r>
          </a:p>
          <a:p>
            <a:r>
              <a:rPr lang="en-US" sz="2400" dirty="0" smtClean="0"/>
              <a:t>Unit tests coverage: ?</a:t>
            </a:r>
          </a:p>
          <a:p>
            <a:r>
              <a:rPr lang="en-US" sz="2400" dirty="0" smtClean="0"/>
              <a:t>UIs: ?</a:t>
            </a:r>
          </a:p>
          <a:p>
            <a:r>
              <a:rPr lang="en-US" sz="2400" dirty="0" smtClean="0"/>
              <a:t>Business processes: ?</a:t>
            </a:r>
            <a:endParaRPr lang="en-US" sz="2400" dirty="0"/>
          </a:p>
        </p:txBody>
      </p:sp>
      <p:pic>
        <p:nvPicPr>
          <p:cNvPr id="14" name="Picture 2" descr="https://theblogrelay.com/wp-content/uploads/2020/06/identifyReq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50840" y="4221480"/>
            <a:ext cx="2931160" cy="19507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Quality Standards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Software </a:t>
            </a:r>
            <a:r>
              <a:rPr lang="en-US" sz="2400" i="1" dirty="0" smtClean="0">
                <a:solidFill>
                  <a:srgbClr val="C00000"/>
                </a:solidFill>
              </a:rPr>
              <a:t>quality management</a:t>
            </a:r>
            <a:r>
              <a:rPr lang="en-US" sz="2400" dirty="0" smtClean="0"/>
              <a:t> is concerned with ensuring that software </a:t>
            </a:r>
            <a:r>
              <a:rPr lang="en-US" sz="2400" i="1" dirty="0" smtClean="0">
                <a:solidFill>
                  <a:srgbClr val="C00000"/>
                </a:solidFill>
              </a:rPr>
              <a:t>meets</a:t>
            </a:r>
            <a:r>
              <a:rPr lang="en-US" sz="2400" dirty="0" smtClean="0"/>
              <a:t> its </a:t>
            </a:r>
            <a:r>
              <a:rPr lang="en-US" sz="2400" u="sng" dirty="0" smtClean="0"/>
              <a:t>required standards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Software standards are an encapsulation of </a:t>
            </a:r>
            <a:r>
              <a:rPr lang="en-US" sz="2400" i="1" dirty="0" smtClean="0">
                <a:solidFill>
                  <a:srgbClr val="C00000"/>
                </a:solidFill>
              </a:rPr>
              <a:t>best practice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There are </a:t>
            </a:r>
            <a:r>
              <a:rPr lang="en-US" sz="2400" i="1" dirty="0" smtClean="0">
                <a:solidFill>
                  <a:srgbClr val="C00000"/>
                </a:solidFill>
              </a:rPr>
              <a:t>no standardized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universally</a:t>
            </a:r>
            <a:r>
              <a:rPr lang="en-US" sz="2400" dirty="0" smtClean="0"/>
              <a:t> applicable software </a:t>
            </a:r>
            <a:r>
              <a:rPr lang="en-US" sz="2400" u="sng" dirty="0" smtClean="0"/>
              <a:t>metrics</a:t>
            </a:r>
            <a:r>
              <a:rPr lang="en-US" sz="2400" dirty="0" smtClean="0"/>
              <a:t>.</a:t>
            </a:r>
          </a:p>
          <a:p>
            <a:endParaRPr lang="en-US" sz="2400" dirty="0"/>
          </a:p>
        </p:txBody>
      </p:sp>
      <p:pic>
        <p:nvPicPr>
          <p:cNvPr id="4" name="Picture 10" descr="http://www.biocatalysts.com/wp-content/uploads/2015/10/Customer-Satisfaction-700x467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4088130"/>
            <a:ext cx="2667000" cy="1779270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5334000" y="4469130"/>
            <a:ext cx="2667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Consolas" pitchFamily="49" charset="0"/>
              </a:rPr>
              <a:t>Quantification (metrics)? </a:t>
            </a:r>
            <a:endParaRPr lang="en-US" sz="2400" b="1" dirty="0">
              <a:latin typeface="Consolas" pitchFamily="49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43400" y="4469130"/>
            <a:ext cx="91440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200" dirty="0" smtClean="0"/>
              <a:t>Describe the </a:t>
            </a:r>
            <a:r>
              <a:rPr lang="en-US" sz="2200" i="1" dirty="0" smtClean="0">
                <a:solidFill>
                  <a:srgbClr val="C00000"/>
                </a:solidFill>
              </a:rPr>
              <a:t>entity</a:t>
            </a:r>
            <a:r>
              <a:rPr lang="en-US" sz="2200" dirty="0" smtClean="0"/>
              <a:t> being measured (product).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/>
              <a:t>Describe </a:t>
            </a:r>
            <a:r>
              <a:rPr lang="en-US" sz="2200" i="1" dirty="0" smtClean="0">
                <a:solidFill>
                  <a:srgbClr val="C00000"/>
                </a:solidFill>
              </a:rPr>
              <a:t>what</a:t>
            </a:r>
            <a:r>
              <a:rPr lang="en-US" sz="2200" dirty="0" smtClean="0"/>
              <a:t> you want to find out (characteristics).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/>
              <a:t>Describe </a:t>
            </a:r>
            <a:r>
              <a:rPr lang="en-US" sz="2200" i="1" dirty="0" smtClean="0">
                <a:solidFill>
                  <a:srgbClr val="C00000"/>
                </a:solidFill>
              </a:rPr>
              <a:t>the attributes</a:t>
            </a:r>
            <a:r>
              <a:rPr lang="en-US" sz="2200" dirty="0" smtClean="0"/>
              <a:t> you will measure and the set of possible resulting measures (metrics).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/>
              <a:t>Describe </a:t>
            </a:r>
            <a:r>
              <a:rPr lang="en-US" sz="2200" i="1" dirty="0" smtClean="0">
                <a:solidFill>
                  <a:srgbClr val="C00000"/>
                </a:solidFill>
              </a:rPr>
              <a:t>how</a:t>
            </a:r>
            <a:r>
              <a:rPr lang="en-US" sz="2200" dirty="0" smtClean="0"/>
              <a:t> to approach measuring the attributes (evaluation method).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/>
              <a:t>Have </a:t>
            </a:r>
            <a:r>
              <a:rPr lang="en-US" sz="2200" i="1" dirty="0" smtClean="0">
                <a:solidFill>
                  <a:srgbClr val="C00000"/>
                </a:solidFill>
              </a:rPr>
              <a:t>standards</a:t>
            </a:r>
            <a:r>
              <a:rPr lang="en-US" sz="2200" dirty="0" smtClean="0"/>
              <a:t> to compare against (requirements).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Example</a:t>
            </a:r>
            <a:r>
              <a:rPr lang="en-US" sz="2200" dirty="0" smtClean="0"/>
              <a:t>:</a:t>
            </a:r>
          </a:p>
          <a:p>
            <a:pPr lvl="1">
              <a:buNone/>
            </a:pPr>
            <a:r>
              <a:rPr lang="en-US" sz="1600" dirty="0" smtClean="0"/>
              <a:t>1. Software application</a:t>
            </a:r>
          </a:p>
          <a:p>
            <a:pPr lvl="2">
              <a:buNone/>
            </a:pPr>
            <a:r>
              <a:rPr lang="en-US" sz="1600" dirty="0" smtClean="0"/>
              <a:t>2. Performance &gt; Resource utilization</a:t>
            </a:r>
          </a:p>
          <a:p>
            <a:pPr lvl="3">
              <a:buNone/>
            </a:pPr>
            <a:r>
              <a:rPr lang="en-US" sz="1600" dirty="0" smtClean="0"/>
              <a:t>3. CPU utilization, memory utilization</a:t>
            </a:r>
          </a:p>
          <a:p>
            <a:pPr lvl="1">
              <a:buNone/>
            </a:pPr>
            <a:r>
              <a:rPr lang="en-US" sz="1600" dirty="0" smtClean="0"/>
              <a:t>4. Run the application, start Task Manager, locate values</a:t>
            </a:r>
          </a:p>
          <a:p>
            <a:pPr lvl="1">
              <a:buNone/>
            </a:pPr>
            <a:r>
              <a:rPr lang="en-US" sz="1600" dirty="0" smtClean="0"/>
              <a:t>5. </a:t>
            </a:r>
            <a:r>
              <a:rPr lang="en-US" sz="1600" u="sng" dirty="0" smtClean="0"/>
              <a:t>Max</a:t>
            </a:r>
            <a:r>
              <a:rPr lang="en-US" sz="1600" dirty="0" smtClean="0"/>
              <a:t> CPU utilization: 10%, </a:t>
            </a:r>
            <a:r>
              <a:rPr lang="en-US" sz="1600" u="sng" dirty="0" smtClean="0"/>
              <a:t>max</a:t>
            </a:r>
            <a:r>
              <a:rPr lang="en-US" sz="1600" dirty="0" smtClean="0"/>
              <a:t> memory utilization: 200Mb</a:t>
            </a:r>
          </a:p>
        </p:txBody>
      </p: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24600" y="4495800"/>
            <a:ext cx="227838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Summary: How to Manage </a:t>
            </a:r>
            <a:br>
              <a:rPr lang="en-US" dirty="0" smtClean="0"/>
            </a:br>
            <a:r>
              <a:rPr lang="en-US" dirty="0" smtClean="0"/>
              <a:t>Quality of Something? [3]</a:t>
            </a: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Quality Metrics </a:t>
            </a:r>
            <a:br>
              <a:rPr lang="en-US" dirty="0" smtClean="0"/>
            </a:br>
            <a:r>
              <a:rPr lang="en-US" dirty="0" smtClean="0"/>
              <a:t>(Customer’s View) [4]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74837"/>
            <a:ext cx="8229600" cy="4525963"/>
          </a:xfrm>
        </p:spPr>
        <p:txBody>
          <a:bodyPr/>
          <a:lstStyle/>
          <a:p>
            <a:r>
              <a:rPr lang="en-US" sz="2800" dirty="0" smtClean="0"/>
              <a:t>Mean time to failure</a:t>
            </a:r>
          </a:p>
          <a:p>
            <a:pPr lvl="1"/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time</a:t>
            </a:r>
            <a:r>
              <a:rPr lang="en-US" sz="2400" dirty="0" smtClean="0"/>
              <a:t> between failures</a:t>
            </a:r>
          </a:p>
          <a:p>
            <a:r>
              <a:rPr lang="en-US" sz="2800" dirty="0" smtClean="0"/>
              <a:t>Defect density (rate)</a:t>
            </a:r>
          </a:p>
          <a:p>
            <a:pPr lvl="1"/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defects relative to</a:t>
            </a:r>
            <a:r>
              <a:rPr lang="en-US" sz="2400" dirty="0" smtClean="0"/>
              <a:t> the</a:t>
            </a:r>
          </a:p>
          <a:p>
            <a:pPr lvl="1">
              <a:buNone/>
            </a:pPr>
            <a:r>
              <a:rPr lang="en-US" sz="2400" dirty="0" smtClean="0"/>
              <a:t>	software size (lines of code, function points, etc.)</a:t>
            </a:r>
          </a:p>
          <a:p>
            <a:r>
              <a:rPr lang="en-US" sz="2800" dirty="0" smtClean="0"/>
              <a:t>Customer problems</a:t>
            </a:r>
          </a:p>
          <a:p>
            <a:pPr lvl="1"/>
            <a:r>
              <a:rPr lang="en-US" sz="2400" i="1" dirty="0" smtClean="0">
                <a:solidFill>
                  <a:srgbClr val="C00000"/>
                </a:solidFill>
              </a:rPr>
              <a:t>Total problems</a:t>
            </a:r>
            <a:r>
              <a:rPr lang="en-US" sz="2400" dirty="0" smtClean="0"/>
              <a:t> that customers reported (true defects and non-defect-oriented problems) for </a:t>
            </a:r>
            <a:r>
              <a:rPr lang="en-US" sz="2400" i="1" dirty="0" smtClean="0">
                <a:solidFill>
                  <a:srgbClr val="C00000"/>
                </a:solidFill>
              </a:rPr>
              <a:t>a time period</a:t>
            </a:r>
          </a:p>
          <a:p>
            <a:r>
              <a:rPr lang="en-US" sz="2800" dirty="0" smtClean="0"/>
              <a:t>Customer satisfaction</a:t>
            </a:r>
          </a:p>
          <a:p>
            <a:pPr lvl="1"/>
            <a:r>
              <a:rPr lang="en-US" sz="2400" dirty="0" smtClean="0"/>
              <a:t>Customer survey (Satisfied, Neutral, Dissatisfied)</a:t>
            </a:r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62600" y="1650047"/>
            <a:ext cx="3314700" cy="21297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 descr="http://tess-systems.com/wp-content/uploads/2016/08/customer-benefits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43657" y="1821030"/>
            <a:ext cx="1857143" cy="134920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 Quality Characteristics [5]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905000"/>
          <a:ext cx="82296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9967"/>
                <a:gridCol w="563963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Maintainability Sub-characteristic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Definition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Analyzability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Easiness shown by the model in discovering errors or deficiencies and in guessing the parts that should be modified.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Understandability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Easiness with which the model can be understood.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Modifiability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Easiness with which the model can be modified, for possible errors, a specific modification request or new requirements.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 Quality Metrics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1396"/>
                <a:gridCol w="669820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Metric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Definition</a:t>
                      </a:r>
                      <a:endParaRPr lang="en-US" sz="2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NA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Number of activities of the software process model</a:t>
                      </a:r>
                      <a:endParaRPr lang="en-US" sz="2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NWP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Number of work products of the software process model</a:t>
                      </a:r>
                      <a:endParaRPr lang="en-US" sz="2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NPR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Number of roles which participate in the process</a:t>
                      </a:r>
                      <a:endParaRPr lang="en-US" sz="2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err="1" smtClean="0"/>
                        <a:t>NDWPIn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Number of input dependences of the work products with the activities in the process</a:t>
                      </a:r>
                      <a:endParaRPr lang="en-US" sz="2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err="1" smtClean="0"/>
                        <a:t>NDWPOut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Number of output dependences of the work products with the activities in the process</a:t>
                      </a:r>
                      <a:endParaRPr lang="en-US" sz="2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NDWP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Number of dependences between work products and activities NDWP(PM) = </a:t>
                      </a:r>
                      <a:r>
                        <a:rPr lang="en-US" sz="2200" dirty="0" err="1" smtClean="0"/>
                        <a:t>NDWPIn</a:t>
                      </a:r>
                      <a:r>
                        <a:rPr lang="en-US" sz="2200" dirty="0" smtClean="0"/>
                        <a:t>(MP) + </a:t>
                      </a:r>
                      <a:r>
                        <a:rPr lang="en-US" sz="2200" dirty="0" err="1" smtClean="0"/>
                        <a:t>NDWPOut</a:t>
                      </a:r>
                      <a:r>
                        <a:rPr lang="en-US" sz="2200" dirty="0" smtClean="0"/>
                        <a:t>(MP)</a:t>
                      </a:r>
                      <a:endParaRPr lang="en-US" sz="2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NDA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Number of precedence dependences between activities</a:t>
                      </a:r>
                      <a:endParaRPr lang="en-US" sz="2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…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…</a:t>
                      </a:r>
                      <a:endParaRPr lang="en-US" sz="22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Quality Metrics [6]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10360"/>
          <a:ext cx="8229600" cy="494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807"/>
                <a:gridCol w="672679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Category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Metrics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Productivity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The number of lines of code/modules/classes/deliverables etc. developed on time unit or per resource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Quality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Project complexity</a:t>
                      </a:r>
                    </a:p>
                    <a:p>
                      <a:r>
                        <a:rPr lang="en-US" dirty="0" smtClean="0"/>
                        <a:t>Portfolio complexity</a:t>
                      </a:r>
                    </a:p>
                    <a:p>
                      <a:r>
                        <a:rPr lang="en-US" dirty="0" smtClean="0"/>
                        <a:t>The degree of client or executive management satisfaction by completing the project objectives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Deliverables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The ratio between the achieved deliverables and the planned deliverables</a:t>
                      </a:r>
                    </a:p>
                    <a:p>
                      <a:r>
                        <a:rPr lang="en-US" dirty="0" smtClean="0"/>
                        <a:t>The number of reworks because of no concordances between the specifications and the results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Costs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Statistics regarding different costs categories</a:t>
                      </a:r>
                    </a:p>
                    <a:p>
                      <a:r>
                        <a:rPr lang="en-US" dirty="0" smtClean="0"/>
                        <a:t>Project portfolio value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Resources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Statistics regarding resources usage</a:t>
                      </a:r>
                    </a:p>
                    <a:p>
                      <a:r>
                        <a:rPr lang="en-US" dirty="0" smtClean="0"/>
                        <a:t>Statistics regarding resources costs</a:t>
                      </a:r>
                    </a:p>
                    <a:p>
                      <a:r>
                        <a:rPr lang="en-US" dirty="0" smtClean="0"/>
                        <a:t>Statistics regarding resources loading and distribution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Person Quality Metrics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2133600"/>
          <a:ext cx="8153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4992"/>
                <a:gridCol w="4758408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Metric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Subjective evaluation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Social abilities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Use well known models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Personnel experience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The years of experience in the project’s specific field.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Degree of satisfaction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Sum of the degree of satisfaction for</a:t>
                      </a:r>
                    </a:p>
                    <a:p>
                      <a:r>
                        <a:rPr lang="en-US" sz="2400" dirty="0" smtClean="0"/>
                        <a:t>each requirement / total number of requirements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29200" y="2590800"/>
            <a:ext cx="3819525" cy="284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7. Create Quality Management Plan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410200" cy="4419600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i="1" dirty="0" smtClean="0">
                <a:solidFill>
                  <a:srgbClr val="C00000"/>
                </a:solidFill>
              </a:rPr>
              <a:t>products</a:t>
            </a:r>
            <a:r>
              <a:rPr lang="en-US" sz="2800" dirty="0" smtClean="0"/>
              <a:t>, </a:t>
            </a:r>
            <a:r>
              <a:rPr lang="en-US" sz="2800" i="1" dirty="0" smtClean="0">
                <a:solidFill>
                  <a:srgbClr val="C00000"/>
                </a:solidFill>
              </a:rPr>
              <a:t>project</a:t>
            </a:r>
            <a:r>
              <a:rPr lang="en-US" sz="2800" dirty="0" smtClean="0"/>
              <a:t>, </a:t>
            </a:r>
            <a:r>
              <a:rPr lang="en-US" sz="2800" i="1" dirty="0" smtClean="0">
                <a:solidFill>
                  <a:srgbClr val="C00000"/>
                </a:solidFill>
              </a:rPr>
              <a:t>process</a:t>
            </a:r>
            <a:r>
              <a:rPr lang="en-US" sz="2800" dirty="0" smtClean="0"/>
              <a:t>, and environment selection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 smtClean="0"/>
              <a:t>The entity </a:t>
            </a:r>
            <a:r>
              <a:rPr lang="en-US" sz="2800" i="1" dirty="0" smtClean="0">
                <a:solidFill>
                  <a:srgbClr val="C00000"/>
                </a:solidFill>
              </a:rPr>
              <a:t>attributes</a:t>
            </a:r>
            <a:r>
              <a:rPr lang="en-US" sz="2800" dirty="0" smtClean="0"/>
              <a:t> selection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 smtClean="0"/>
              <a:t>The quality </a:t>
            </a:r>
            <a:r>
              <a:rPr lang="en-US" sz="2800" i="1" dirty="0" smtClean="0">
                <a:solidFill>
                  <a:srgbClr val="C00000"/>
                </a:solidFill>
              </a:rPr>
              <a:t>requirements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i="1" dirty="0" smtClean="0">
                <a:solidFill>
                  <a:srgbClr val="C00000"/>
                </a:solidFill>
              </a:rPr>
              <a:t>methods</a:t>
            </a:r>
            <a:r>
              <a:rPr lang="en-US" sz="2800" dirty="0" smtClean="0"/>
              <a:t> to evaluate the selected entities</a:t>
            </a:r>
          </a:p>
          <a:p>
            <a:pPr lvl="1"/>
            <a:r>
              <a:rPr lang="en-US" sz="2400" dirty="0" smtClean="0"/>
              <a:t>Qualitative (CATEGORIES): subjective</a:t>
            </a:r>
          </a:p>
          <a:p>
            <a:pPr lvl="1"/>
            <a:r>
              <a:rPr lang="en-US" sz="2400" dirty="0" smtClean="0"/>
              <a:t>Quantitative (HOW MANY): objective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Quality Assurance 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95400"/>
            <a:ext cx="4419600" cy="5029200"/>
          </a:xfrm>
        </p:spPr>
        <p:txBody>
          <a:bodyPr/>
          <a:lstStyle/>
          <a:p>
            <a:r>
              <a:rPr lang="en-US" sz="1600" dirty="0" smtClean="0"/>
              <a:t>Purpose</a:t>
            </a:r>
          </a:p>
          <a:p>
            <a:r>
              <a:rPr lang="en-US" sz="1600" dirty="0" smtClean="0"/>
              <a:t>Reference documents</a:t>
            </a:r>
          </a:p>
          <a:p>
            <a:r>
              <a:rPr lang="en-US" sz="1600" dirty="0" smtClean="0"/>
              <a:t>Management</a:t>
            </a:r>
          </a:p>
          <a:p>
            <a:r>
              <a:rPr lang="en-US" sz="1600" dirty="0" smtClean="0"/>
              <a:t>Documentation</a:t>
            </a:r>
          </a:p>
          <a:p>
            <a:r>
              <a:rPr lang="en-US" sz="1600" i="1" dirty="0" smtClean="0">
                <a:solidFill>
                  <a:srgbClr val="C00000"/>
                </a:solidFill>
              </a:rPr>
              <a:t>Standards, practices, conventions, and metrics</a:t>
            </a:r>
          </a:p>
          <a:p>
            <a:r>
              <a:rPr lang="en-US" sz="1600" i="1" dirty="0" smtClean="0">
                <a:solidFill>
                  <a:srgbClr val="C00000"/>
                </a:solidFill>
              </a:rPr>
              <a:t>Software reviews</a:t>
            </a:r>
          </a:p>
          <a:p>
            <a:r>
              <a:rPr lang="en-US" sz="1600" i="1" dirty="0" smtClean="0">
                <a:solidFill>
                  <a:srgbClr val="C00000"/>
                </a:solidFill>
              </a:rPr>
              <a:t>Test</a:t>
            </a:r>
          </a:p>
          <a:p>
            <a:r>
              <a:rPr lang="en-US" sz="1600" i="1" dirty="0" smtClean="0">
                <a:solidFill>
                  <a:srgbClr val="C00000"/>
                </a:solidFill>
              </a:rPr>
              <a:t>Problem reporting</a:t>
            </a:r>
            <a:r>
              <a:rPr lang="en-US" sz="1600" dirty="0" smtClean="0"/>
              <a:t> and corrective action</a:t>
            </a:r>
          </a:p>
          <a:p>
            <a:r>
              <a:rPr lang="en-US" sz="1600" i="1" dirty="0" smtClean="0">
                <a:solidFill>
                  <a:srgbClr val="C00000"/>
                </a:solidFill>
              </a:rPr>
              <a:t>Tools</a:t>
            </a:r>
            <a:r>
              <a:rPr lang="en-US" sz="1600" dirty="0" smtClean="0"/>
              <a:t>, techniques, and methodologies</a:t>
            </a:r>
          </a:p>
          <a:p>
            <a:r>
              <a:rPr lang="en-US" sz="1600" dirty="0" smtClean="0"/>
              <a:t>Media control</a:t>
            </a:r>
          </a:p>
          <a:p>
            <a:r>
              <a:rPr lang="en-US" sz="1600" dirty="0" smtClean="0"/>
              <a:t>Supplier control</a:t>
            </a:r>
          </a:p>
          <a:p>
            <a:r>
              <a:rPr lang="en-US" sz="1600" dirty="0" smtClean="0"/>
              <a:t>Records collection, maintenance, and retention</a:t>
            </a:r>
          </a:p>
          <a:p>
            <a:r>
              <a:rPr lang="en-US" sz="1600" i="1" dirty="0" smtClean="0">
                <a:solidFill>
                  <a:srgbClr val="C00000"/>
                </a:solidFill>
              </a:rPr>
              <a:t>Training</a:t>
            </a:r>
          </a:p>
          <a:p>
            <a:r>
              <a:rPr lang="en-US" sz="1600" dirty="0" smtClean="0"/>
              <a:t>Risk management</a:t>
            </a:r>
          </a:p>
          <a:p>
            <a:r>
              <a:rPr lang="en-US" sz="1600" dirty="0" smtClean="0"/>
              <a:t>Glossary</a:t>
            </a:r>
          </a:p>
          <a:p>
            <a:r>
              <a:rPr lang="en-US" sz="1600" dirty="0" smtClean="0"/>
              <a:t>SQAP change procedure and history</a:t>
            </a:r>
            <a:endParaRPr lang="en-US" sz="1600" dirty="0"/>
          </a:p>
        </p:txBody>
      </p:sp>
      <p:sp>
        <p:nvSpPr>
          <p:cNvPr id="4" name="Rectangle 3"/>
          <p:cNvSpPr/>
          <p:nvPr/>
        </p:nvSpPr>
        <p:spPr>
          <a:xfrm>
            <a:off x="5029200" y="1447800"/>
            <a:ext cx="328006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>
                <a:latin typeface="+mj-lt"/>
              </a:rPr>
              <a:t>The IEEE 730-2002</a:t>
            </a:r>
            <a:endParaRPr lang="en-US" sz="3200" dirty="0">
              <a:latin typeface="+mj-lt"/>
            </a:endParaRPr>
          </a:p>
        </p:txBody>
      </p:sp>
      <p:pic>
        <p:nvPicPr>
          <p:cNvPr id="5" name="Picture 2" descr="http://www.ieee.org/documents/49263_ieee_mb_black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57800" y="2133600"/>
            <a:ext cx="2857500" cy="828676"/>
          </a:xfrm>
          <a:prstGeom prst="rect">
            <a:avLst/>
          </a:prstGeom>
          <a:noFill/>
        </p:spPr>
      </p:pic>
      <p:pic>
        <p:nvPicPr>
          <p:cNvPr id="6963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0" y="3276600"/>
            <a:ext cx="2867025" cy="311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8. Perform Quality Assurance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57200" y="1219200"/>
            <a:ext cx="8229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Quality assurance</a:t>
            </a:r>
            <a:r>
              <a:rPr lang="en-US" sz="2400" dirty="0" smtClean="0">
                <a:latin typeface="+mj-lt"/>
              </a:rPr>
              <a:t> is the part of quality management focused on </a:t>
            </a:r>
            <a:r>
              <a:rPr lang="en-US" sz="2400" u="sng" dirty="0" smtClean="0">
                <a:latin typeface="+mj-lt"/>
              </a:rPr>
              <a:t>providing confidence</a:t>
            </a:r>
            <a:r>
              <a:rPr lang="en-US" sz="2400" dirty="0" smtClean="0">
                <a:latin typeface="+mj-lt"/>
              </a:rPr>
              <a:t> that quality requirements will be fulfilled.</a:t>
            </a:r>
          </a:p>
        </p:txBody>
      </p:sp>
      <p:graphicFrame>
        <p:nvGraphicFramePr>
          <p:cNvPr id="7" name="Diagram 6"/>
          <p:cNvGraphicFramePr/>
          <p:nvPr/>
        </p:nvGraphicFramePr>
        <p:xfrm>
          <a:off x="533400" y="2286000"/>
          <a:ext cx="4953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4648200" y="2286000"/>
            <a:ext cx="3962400" cy="762000"/>
          </a:xfrm>
          <a:prstGeom prst="roundRect">
            <a:avLst/>
          </a:prstGeom>
          <a:solidFill>
            <a:schemeClr val="accent4"/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2200" dirty="0" smtClean="0">
                <a:solidFill>
                  <a:schemeClr val="bg1"/>
                </a:solidFill>
              </a:rPr>
              <a:t>The purpose of quality assurance is to </a:t>
            </a:r>
            <a:r>
              <a:rPr lang="en-US" sz="2200" u="sng" dirty="0" smtClean="0">
                <a:solidFill>
                  <a:schemeClr val="bg1"/>
                </a:solidFill>
              </a:rPr>
              <a:t>prevent defects</a:t>
            </a:r>
            <a:r>
              <a:rPr lang="en-US" sz="2200" dirty="0" smtClean="0">
                <a:solidFill>
                  <a:schemeClr val="bg1"/>
                </a:solidFill>
              </a:rPr>
              <a:t>.</a:t>
            </a:r>
            <a:endParaRPr lang="en-US" sz="2200" dirty="0">
              <a:solidFill>
                <a:schemeClr val="bg1"/>
              </a:solidFill>
            </a:endParaRPr>
          </a:p>
        </p:txBody>
      </p:sp>
      <p:graphicFrame>
        <p:nvGraphicFramePr>
          <p:cNvPr id="14" name="Diagram 13"/>
          <p:cNvGraphicFramePr/>
          <p:nvPr/>
        </p:nvGraphicFramePr>
        <p:xfrm>
          <a:off x="4953000" y="3352800"/>
          <a:ext cx="4191000" cy="294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181600" y="5029200"/>
            <a:ext cx="1280160" cy="128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9. Perform Quality Control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57200" y="1219200"/>
            <a:ext cx="8229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Quality control</a:t>
            </a:r>
            <a:r>
              <a:rPr lang="en-US" sz="2400" dirty="0" smtClean="0">
                <a:latin typeface="+mj-lt"/>
              </a:rPr>
              <a:t> is the part of quality management focused on </a:t>
            </a:r>
            <a:r>
              <a:rPr lang="en-US" sz="2400" u="sng" dirty="0" smtClean="0">
                <a:latin typeface="+mj-lt"/>
              </a:rPr>
              <a:t>fulfilling quality requirements</a:t>
            </a:r>
            <a:r>
              <a:rPr lang="en-US" sz="2400" dirty="0" smtClean="0">
                <a:latin typeface="+mj-lt"/>
              </a:rPr>
              <a:t>.</a:t>
            </a:r>
          </a:p>
        </p:txBody>
      </p:sp>
      <p:graphicFrame>
        <p:nvGraphicFramePr>
          <p:cNvPr id="7" name="Diagram 6"/>
          <p:cNvGraphicFramePr/>
          <p:nvPr/>
        </p:nvGraphicFramePr>
        <p:xfrm>
          <a:off x="76200" y="2286000"/>
          <a:ext cx="52578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4876800" y="2209800"/>
            <a:ext cx="3733800" cy="1143000"/>
          </a:xfrm>
          <a:prstGeom prst="roundRect">
            <a:avLst/>
          </a:prstGeom>
          <a:solidFill>
            <a:schemeClr val="accent4"/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2200" dirty="0" smtClean="0">
                <a:solidFill>
                  <a:schemeClr val="bg1"/>
                </a:solidFill>
              </a:rPr>
              <a:t>The purpose of quality control is to </a:t>
            </a:r>
            <a:r>
              <a:rPr lang="en-US" sz="2200" u="sng" dirty="0" smtClean="0">
                <a:solidFill>
                  <a:schemeClr val="bg1"/>
                </a:solidFill>
              </a:rPr>
              <a:t>detect defects</a:t>
            </a:r>
            <a:r>
              <a:rPr lang="en-US" sz="2200" dirty="0" smtClean="0">
                <a:solidFill>
                  <a:schemeClr val="bg1"/>
                </a:solidFill>
              </a:rPr>
              <a:t>.</a:t>
            </a:r>
          </a:p>
          <a:p>
            <a:r>
              <a:rPr lang="en-US" sz="2200" dirty="0" smtClean="0">
                <a:solidFill>
                  <a:schemeClr val="bg1"/>
                </a:solidFill>
              </a:rPr>
              <a:t>Lowest number of errors.</a:t>
            </a:r>
            <a:endParaRPr lang="en-US" sz="2200" dirty="0">
              <a:solidFill>
                <a:schemeClr val="bg1"/>
              </a:solidFill>
            </a:endParaRPr>
          </a:p>
        </p:txBody>
      </p:sp>
      <p:graphicFrame>
        <p:nvGraphicFramePr>
          <p:cNvPr id="6" name="Diagram 5"/>
          <p:cNvGraphicFramePr/>
          <p:nvPr/>
        </p:nvGraphicFramePr>
        <p:xfrm>
          <a:off x="4953000" y="3454400"/>
          <a:ext cx="4191000" cy="294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105400" y="4876800"/>
            <a:ext cx="1333500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0" name="Straight Arrow Connector 9"/>
          <p:cNvCxnSpPr/>
          <p:nvPr/>
        </p:nvCxnSpPr>
        <p:spPr>
          <a:xfrm flipV="1">
            <a:off x="6248400" y="4876800"/>
            <a:ext cx="838200" cy="3048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 Management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https://app.qase.io/signup</a:t>
            </a:r>
            <a:endParaRPr lang="en-US" sz="2400" dirty="0" smtClean="0"/>
          </a:p>
          <a:p>
            <a:r>
              <a:rPr lang="en-US" sz="2400" dirty="0" smtClean="0">
                <a:hlinkClick r:id="rId3"/>
              </a:rPr>
              <a:t>https://ontestpad.com/signup</a:t>
            </a:r>
            <a:endParaRPr lang="en-US" sz="2400" dirty="0" smtClean="0"/>
          </a:p>
          <a:p>
            <a:r>
              <a:rPr lang="en-US" sz="2400" dirty="0" smtClean="0">
                <a:hlinkClick r:id="rId4"/>
              </a:rPr>
              <a:t>https://trello.com/signup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21506" name="Picture 2" descr="https://qa.world/wp-content/uploads/2019/08/test-management-tools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819400" y="3733800"/>
            <a:ext cx="3810000" cy="20002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Who is Responsible for Quality?</a:t>
            </a:r>
            <a:endParaRPr lang="en-US" dirty="0"/>
          </a:p>
        </p:txBody>
      </p:sp>
      <p:pic>
        <p:nvPicPr>
          <p:cNvPr id="2050" name="Picture 2" descr="https://www.quickanddirtytips.com/sites/default/files/images/16151/overly-responsible-compressor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2152650"/>
            <a:ext cx="4445000" cy="33337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When to Manage Quality?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Statement of work.</a:t>
            </a:r>
          </a:p>
          <a:p>
            <a:r>
              <a:rPr lang="en-US" sz="2400" dirty="0" smtClean="0"/>
              <a:t>Project charter.</a:t>
            </a:r>
          </a:p>
          <a:p>
            <a:r>
              <a:rPr lang="en-US" sz="2400" dirty="0" smtClean="0"/>
              <a:t>Project vision and scope.</a:t>
            </a:r>
          </a:p>
        </p:txBody>
      </p:sp>
      <p:pic>
        <p:nvPicPr>
          <p:cNvPr id="4" name="Picture 2" descr="https://www.cpacanada.ca/-/media/site/operational/rg-research-guidance-and-support/images/02730-r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3429000"/>
            <a:ext cx="3810000" cy="24479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38600" y="4236720"/>
            <a:ext cx="3429000" cy="2011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5000" y="1371600"/>
            <a:ext cx="2971800" cy="278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Quality Management?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486400" cy="2286000"/>
          </a:xfrm>
        </p:spPr>
        <p:txBody>
          <a:bodyPr/>
          <a:lstStyle/>
          <a:p>
            <a:pPr marL="514350" indent="-514350" eaLnBrk="1" hangingPunct="1">
              <a:buFont typeface="Arial" pitchFamily="34" charset="0"/>
              <a:buChar char="•"/>
            </a:pPr>
            <a:r>
              <a:rPr lang="en-US" sz="2400" dirty="0" smtClean="0"/>
              <a:t>Improving </a:t>
            </a:r>
            <a:r>
              <a:rPr lang="en-US" sz="2400" i="1" dirty="0" smtClean="0">
                <a:solidFill>
                  <a:srgbClr val="C00000"/>
                </a:solidFill>
              </a:rPr>
              <a:t>customer’s satisfaction</a:t>
            </a:r>
          </a:p>
          <a:p>
            <a:pPr marL="514350" indent="-514350" eaLnBrk="1" hangingPunct="1">
              <a:buFont typeface="Arial" pitchFamily="34" charset="0"/>
              <a:buChar char="•"/>
            </a:pPr>
            <a:r>
              <a:rPr lang="en-US" sz="2400" dirty="0" smtClean="0"/>
              <a:t>Reducing </a:t>
            </a:r>
            <a:r>
              <a:rPr lang="en-US" sz="2400" i="1" dirty="0" smtClean="0">
                <a:solidFill>
                  <a:srgbClr val="C00000"/>
                </a:solidFill>
              </a:rPr>
              <a:t>development cost</a:t>
            </a:r>
          </a:p>
          <a:p>
            <a:pPr marL="514350" indent="-514350" eaLnBrk="1" hangingPunct="1">
              <a:buFont typeface="Arial" pitchFamily="34" charset="0"/>
              <a:buChar char="•"/>
            </a:pPr>
            <a:r>
              <a:rPr lang="en-US" sz="2400" dirty="0" smtClean="0"/>
              <a:t>Reducing </a:t>
            </a:r>
            <a:r>
              <a:rPr lang="en-US" sz="2400" i="1" dirty="0" smtClean="0">
                <a:solidFill>
                  <a:srgbClr val="C00000"/>
                </a:solidFill>
              </a:rPr>
              <a:t>maintenance cost</a:t>
            </a:r>
          </a:p>
          <a:p>
            <a:pPr marL="514350" indent="-514350" eaLnBrk="1" hangingPunct="1">
              <a:buFont typeface="Arial" pitchFamily="34" charset="0"/>
              <a:buChar char="•"/>
            </a:pPr>
            <a:r>
              <a:rPr lang="en-US" sz="2400" dirty="0" smtClean="0"/>
              <a:t>Required by some </a:t>
            </a:r>
            <a:r>
              <a:rPr lang="en-US" sz="2400" i="1" dirty="0" smtClean="0">
                <a:solidFill>
                  <a:srgbClr val="C00000"/>
                </a:solidFill>
              </a:rPr>
              <a:t>standards (ISO, CMMI)</a:t>
            </a:r>
          </a:p>
        </p:txBody>
      </p:sp>
      <p:pic>
        <p:nvPicPr>
          <p:cNvPr id="6" name="Picture 2" descr="Quality Management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43000" y="4314824"/>
            <a:ext cx="2200275" cy="20859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+mn-lt"/>
              </a:rPr>
              <a:t>QA/QC Hire (HP)</a:t>
            </a:r>
            <a:endParaRPr lang="en-US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3400" y="4419600"/>
            <a:ext cx="8153400" cy="2308324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marL="457200" indent="-457200">
              <a:buFont typeface="Courier New" pitchFamily="49" charset="0"/>
              <a:buChar char="o"/>
            </a:pPr>
            <a:r>
              <a:rPr lang="en-US" sz="1600" i="1" dirty="0" smtClean="0">
                <a:solidFill>
                  <a:schemeClr val="bg1"/>
                </a:solidFill>
                <a:latin typeface="+mj-lt"/>
              </a:rPr>
              <a:t>Define and measure product quality.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sz="1600" i="1" dirty="0" smtClean="0">
                <a:solidFill>
                  <a:schemeClr val="bg1"/>
                </a:solidFill>
                <a:latin typeface="+mj-lt"/>
              </a:rPr>
              <a:t>Define and establish appropriate quality management processes and tools across the R&amp;D organization.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sz="1600" i="1" dirty="0" smtClean="0">
                <a:solidFill>
                  <a:schemeClr val="bg1"/>
                </a:solidFill>
                <a:latin typeface="+mj-lt"/>
              </a:rPr>
              <a:t>Work closely with the Development and QA teams to establish and execute appropriate practices to actually meet the defined quality goals.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sz="1600" i="1" dirty="0" smtClean="0">
                <a:solidFill>
                  <a:schemeClr val="bg1"/>
                </a:solidFill>
                <a:latin typeface="+mj-lt"/>
              </a:rPr>
              <a:t>Work closely with the Management team to report on relevant quality metrics, and make recommendations as to whether a product is ready to be released to customers.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sz="1600" i="1" dirty="0" smtClean="0">
                <a:solidFill>
                  <a:schemeClr val="bg1"/>
                </a:solidFill>
                <a:latin typeface="+mj-lt"/>
              </a:rPr>
              <a:t>Look for opportunities to increase product quality and team efficiency, and drive improvement programs across the entire development project.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295400"/>
            <a:ext cx="23812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371600"/>
            <a:ext cx="6705600" cy="2819400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sz="1400" dirty="0" smtClean="0"/>
              <a:t>Bachelor’s Degree in Computer Science/Software Engineering or comparable.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400" dirty="0" smtClean="0"/>
              <a:t>Solid understanding of, and practical experience with software quality tools and processes (e.g. test planning, progress tracking, defect tracking, black box/white box testing, code coverage measurement, code complexity measurement, code analyzers, test automation, etc.).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400" dirty="0" smtClean="0"/>
              <a:t>Knowledge of SW Engineering tools (e.g. source code revision control systems, build process, etc.).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400" dirty="0" smtClean="0"/>
              <a:t>Thorough understanding of the entire Software Development process (using traditional waterfall-like development and/or agile/iterative development) in order to establish quality metrics and practices along the development cycle and not only in final product testing.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400" dirty="0" smtClean="0"/>
              <a:t>Experience working with customers (understanding customer needs/expectations).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 vs. Evaluation vs. Assessment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Test</a:t>
            </a:r>
            <a:r>
              <a:rPr lang="en-US" sz="2400" dirty="0" smtClean="0"/>
              <a:t> is the process of </a:t>
            </a:r>
            <a:r>
              <a:rPr lang="en-US" sz="2400" u="sng" dirty="0" smtClean="0"/>
              <a:t>measuring</a:t>
            </a:r>
            <a:r>
              <a:rPr lang="en-US" sz="2400" dirty="0" smtClean="0"/>
              <a:t> a quality attribute quantitatively or qualitatively.</a:t>
            </a:r>
          </a:p>
          <a:p>
            <a:pPr lvl="1"/>
            <a:r>
              <a:rPr lang="en-US" sz="2000" dirty="0" smtClean="0"/>
              <a:t>Input </a:t>
            </a:r>
            <a:r>
              <a:rPr lang="en-US" sz="2000" dirty="0" smtClean="0">
                <a:sym typeface="Wingdings" pitchFamily="2" charset="2"/>
              </a:rPr>
              <a:t> Test  Output vs. Expected Output.</a:t>
            </a:r>
          </a:p>
          <a:p>
            <a:pPr lvl="1"/>
            <a:r>
              <a:rPr lang="en-US" sz="2000" dirty="0" smtClean="0">
                <a:sym typeface="Wingdings" pitchFamily="2" charset="2"/>
              </a:rPr>
              <a:t>Product A passes performance test.</a:t>
            </a:r>
            <a:endParaRPr lang="en-US" sz="2000" dirty="0" smtClean="0"/>
          </a:p>
          <a:p>
            <a:r>
              <a:rPr lang="en-US" sz="2400" i="1" dirty="0" smtClean="0">
                <a:solidFill>
                  <a:srgbClr val="C00000"/>
                </a:solidFill>
              </a:rPr>
              <a:t>Evaluation</a:t>
            </a:r>
            <a:r>
              <a:rPr lang="en-US" sz="2400" dirty="0" smtClean="0"/>
              <a:t> is the process of </a:t>
            </a:r>
            <a:r>
              <a:rPr lang="en-US" sz="2400" u="sng" dirty="0" smtClean="0"/>
              <a:t>making judgments</a:t>
            </a:r>
            <a:r>
              <a:rPr lang="en-US" sz="2400" dirty="0" smtClean="0"/>
              <a:t> based on criteria and evidence. An evidence can be a test.</a:t>
            </a:r>
          </a:p>
          <a:p>
            <a:pPr lvl="1"/>
            <a:r>
              <a:rPr lang="en-US" sz="2000" dirty="0" smtClean="0"/>
              <a:t>Evidence </a:t>
            </a:r>
            <a:r>
              <a:rPr lang="en-US" sz="2000" dirty="0" smtClean="0">
                <a:sym typeface="Wingdings" pitchFamily="2" charset="2"/>
              </a:rPr>
              <a:t> </a:t>
            </a:r>
            <a:r>
              <a:rPr lang="en-US" sz="2000" dirty="0" smtClean="0"/>
              <a:t>Criteria </a:t>
            </a:r>
            <a:r>
              <a:rPr lang="en-US" sz="2000" dirty="0" smtClean="0">
                <a:sym typeface="Wingdings" pitchFamily="2" charset="2"/>
              </a:rPr>
              <a:t> Score  </a:t>
            </a:r>
            <a:r>
              <a:rPr lang="en-US" sz="2000" dirty="0" err="1" smtClean="0">
                <a:sym typeface="Wingdings" pitchFamily="2" charset="2"/>
              </a:rPr>
              <a:t>Judgement</a:t>
            </a:r>
            <a:r>
              <a:rPr lang="en-US" sz="2000" dirty="0" smtClean="0">
                <a:sym typeface="Wingdings" pitchFamily="2" charset="2"/>
              </a:rPr>
              <a:t>.</a:t>
            </a:r>
          </a:p>
          <a:p>
            <a:pPr lvl="1"/>
            <a:r>
              <a:rPr lang="en-US" sz="2000" dirty="0" smtClean="0">
                <a:sym typeface="Wingdings" pitchFamily="2" charset="2"/>
              </a:rPr>
              <a:t>Product A is better product B.</a:t>
            </a:r>
            <a:endParaRPr lang="en-US" sz="2000" dirty="0" smtClean="0"/>
          </a:p>
          <a:p>
            <a:r>
              <a:rPr lang="en-US" sz="2400" i="1" dirty="0" smtClean="0">
                <a:solidFill>
                  <a:srgbClr val="C00000"/>
                </a:solidFill>
              </a:rPr>
              <a:t>Assessment</a:t>
            </a:r>
            <a:r>
              <a:rPr lang="en-US" sz="2400" dirty="0" smtClean="0"/>
              <a:t> is the process of collecting information, performing tests, making evaluation and </a:t>
            </a:r>
            <a:r>
              <a:rPr lang="en-US" sz="2400" u="sng" dirty="0" smtClean="0"/>
              <a:t>providing conclusion</a:t>
            </a:r>
            <a:r>
              <a:rPr lang="en-US" sz="2400" dirty="0" smtClean="0"/>
              <a:t>.</a:t>
            </a:r>
          </a:p>
          <a:p>
            <a:pPr lvl="1"/>
            <a:r>
              <a:rPr lang="en-US" sz="2000" dirty="0" smtClean="0"/>
              <a:t>We should use product A for our project.</a:t>
            </a:r>
          </a:p>
          <a:p>
            <a:pPr lvl="1"/>
            <a:r>
              <a:rPr lang="en-US" sz="2000" dirty="0" smtClean="0"/>
              <a:t>Product A meets our requirements.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What is a Quality Management System? [7]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133601"/>
            <a:ext cx="4038600" cy="3200400"/>
          </a:xfrm>
        </p:spPr>
        <p:txBody>
          <a:bodyPr/>
          <a:lstStyle/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quality management system</a:t>
            </a:r>
            <a:r>
              <a:rPr lang="en-US" sz="2400" dirty="0" smtClean="0"/>
              <a:t> is a way of defining how an organization can </a:t>
            </a:r>
            <a:r>
              <a:rPr lang="en-US" sz="2400" u="sng" dirty="0" smtClean="0"/>
              <a:t>meet the requirements</a:t>
            </a:r>
            <a:r>
              <a:rPr lang="en-US" sz="2400" dirty="0" smtClean="0"/>
              <a:t> of its customers and other stakeholders affected by its work.</a:t>
            </a: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5800" y="2057400"/>
            <a:ext cx="4410075" cy="420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International Standards Organization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133600"/>
            <a:ext cx="7848600" cy="4343400"/>
          </a:xfrm>
        </p:spPr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ISO (the International Organization for Standardization)</a:t>
            </a:r>
            <a:r>
              <a:rPr lang="en-US" sz="2400" dirty="0" smtClean="0"/>
              <a:t> is a worldwide federation of national </a:t>
            </a:r>
            <a:r>
              <a:rPr lang="en-US" sz="2400" u="sng" dirty="0" smtClean="0"/>
              <a:t>standards</a:t>
            </a:r>
            <a:r>
              <a:rPr lang="en-US" sz="2400" dirty="0" smtClean="0"/>
              <a:t> bodies (ISO member bodies).</a:t>
            </a:r>
          </a:p>
          <a:p>
            <a:r>
              <a:rPr lang="en-US" sz="2400" dirty="0" smtClean="0"/>
              <a:t>The work of preparing International Standards is normally carried out through </a:t>
            </a:r>
            <a:r>
              <a:rPr lang="en-US" sz="2400" i="1" dirty="0" smtClean="0">
                <a:solidFill>
                  <a:srgbClr val="C00000"/>
                </a:solidFill>
              </a:rPr>
              <a:t>ISO technical committees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Each member body interested in a subject for which a technical committee has been established has the right to be represented on that committee.</a:t>
            </a:r>
          </a:p>
          <a:p>
            <a:r>
              <a:rPr lang="en-US" sz="2400" dirty="0" smtClean="0"/>
              <a:t>International organizations, governmental and non-governmental, in liaison with ISO, also take part in the work.</a:t>
            </a:r>
          </a:p>
        </p:txBody>
      </p:sp>
      <p:pic>
        <p:nvPicPr>
          <p:cNvPr id="12290" name="Picture 2" descr="https://www.iso.org/obp/VAADIN/themes/iso-public/common/img/is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67600" y="1219200"/>
            <a:ext cx="800100" cy="800100"/>
          </a:xfrm>
          <a:prstGeom prst="rect">
            <a:avLst/>
          </a:prstGeom>
          <a:solidFill>
            <a:schemeClr val="accent1"/>
          </a:solidFill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ISO 9000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28800"/>
            <a:ext cx="7848600" cy="2209800"/>
          </a:xfrm>
        </p:spPr>
        <p:txBody>
          <a:bodyPr/>
          <a:lstStyle/>
          <a:p>
            <a:r>
              <a:rPr lang="en-US" dirty="0" smtClean="0"/>
              <a:t>ISO 9000:2008 specifies the </a:t>
            </a:r>
            <a:r>
              <a:rPr lang="en-US" i="1" dirty="0" smtClean="0">
                <a:solidFill>
                  <a:srgbClr val="C00000"/>
                </a:solidFill>
              </a:rPr>
              <a:t>terms and definitions</a:t>
            </a:r>
            <a:r>
              <a:rPr lang="en-US" dirty="0" smtClean="0"/>
              <a:t> that apply to all quality management and quality management system standards developed by ISO/TC 176.</a:t>
            </a:r>
          </a:p>
        </p:txBody>
      </p:sp>
      <p:pic>
        <p:nvPicPr>
          <p:cNvPr id="3076" name="Picture 4" descr="http://www.cdc.gov/niosh/nas/ppt/QUADCharts06/Images/Z4FT_FY06_QC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3200" y="4267200"/>
            <a:ext cx="3810000" cy="1905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ISO 9001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ISO 9001 is a standard that sets out the </a:t>
            </a:r>
            <a:r>
              <a:rPr lang="en-US" sz="2400" i="1" dirty="0" smtClean="0">
                <a:solidFill>
                  <a:srgbClr val="C00000"/>
                </a:solidFill>
              </a:rPr>
              <a:t>requirements</a:t>
            </a:r>
            <a:r>
              <a:rPr lang="en-US" sz="2400" dirty="0" smtClean="0"/>
              <a:t> for a quality management system.</a:t>
            </a:r>
          </a:p>
          <a:p>
            <a:r>
              <a:rPr lang="en-US" sz="2400" dirty="0" smtClean="0"/>
              <a:t>It helps businesses and organizations to be more efficient and improve </a:t>
            </a:r>
            <a:r>
              <a:rPr lang="en-US" sz="2400" i="1" dirty="0" smtClean="0">
                <a:solidFill>
                  <a:srgbClr val="C00000"/>
                </a:solidFill>
              </a:rPr>
              <a:t>customer satisfaction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ISO 9001 is based on the idea of </a:t>
            </a:r>
            <a:r>
              <a:rPr lang="en-US" sz="2400" i="1" dirty="0" smtClean="0">
                <a:solidFill>
                  <a:srgbClr val="C00000"/>
                </a:solidFill>
              </a:rPr>
              <a:t>continual improvement</a:t>
            </a:r>
            <a:r>
              <a:rPr lang="en-US" sz="2400" dirty="0" smtClean="0"/>
              <a:t>. </a:t>
            </a:r>
          </a:p>
          <a:p>
            <a:r>
              <a:rPr lang="en-US" sz="2400" dirty="0" smtClean="0"/>
              <a:t>It doesn’t specify what the objectives relating to “quality” or “meeting customer needs” should be, but requires organizations to define </a:t>
            </a:r>
            <a:r>
              <a:rPr lang="en-US" sz="2400" i="1" dirty="0" smtClean="0">
                <a:solidFill>
                  <a:srgbClr val="C00000"/>
                </a:solidFill>
              </a:rPr>
              <a:t>these objectives themselves</a:t>
            </a:r>
            <a:r>
              <a:rPr lang="en-US" sz="2400" dirty="0" smtClean="0"/>
              <a:t> and continually improve their processes in order to reach them.</a:t>
            </a:r>
            <a:endParaRPr lang="en-US" sz="2400" dirty="0"/>
          </a:p>
        </p:txBody>
      </p:sp>
      <p:pic>
        <p:nvPicPr>
          <p:cNvPr id="51201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1800" y="5181600"/>
            <a:ext cx="3143250" cy="143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ISO 19011 and ISO 9004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ISO 19011 gives guidance for </a:t>
            </a:r>
            <a:r>
              <a:rPr lang="en-US" i="1" dirty="0" smtClean="0">
                <a:solidFill>
                  <a:srgbClr val="C00000"/>
                </a:solidFill>
              </a:rPr>
              <a:t>performing both internal and external audits</a:t>
            </a:r>
            <a:r>
              <a:rPr lang="en-US" dirty="0" smtClean="0"/>
              <a:t> to ISO 9001.</a:t>
            </a:r>
            <a:endParaRPr lang="en-US" smtClean="0"/>
          </a:p>
          <a:p>
            <a:pPr lvl="1"/>
            <a:r>
              <a:rPr lang="en-US" smtClean="0"/>
              <a:t>This </a:t>
            </a:r>
            <a:r>
              <a:rPr lang="en-US" dirty="0" smtClean="0"/>
              <a:t>will help ensure your quality management system delivers on promise and will prepare you for an external audit, should you decide to seek third-party certification.</a:t>
            </a:r>
          </a:p>
          <a:p>
            <a:r>
              <a:rPr lang="en-US" dirty="0" smtClean="0"/>
              <a:t>ISO 9004 provides guidance on </a:t>
            </a:r>
            <a:r>
              <a:rPr lang="en-US" i="1" dirty="0" smtClean="0">
                <a:solidFill>
                  <a:srgbClr val="C00000"/>
                </a:solidFill>
              </a:rPr>
              <a:t>how to achieve sustained success</a:t>
            </a:r>
            <a:r>
              <a:rPr lang="en-US" dirty="0" smtClean="0"/>
              <a:t> with your quality management system.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 ISO 9001?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904999"/>
          </a:xfrm>
        </p:spPr>
        <p:txBody>
          <a:bodyPr/>
          <a:lstStyle/>
          <a:p>
            <a:r>
              <a:rPr lang="en-US" dirty="0" smtClean="0"/>
              <a:t>Management </a:t>
            </a:r>
            <a:r>
              <a:rPr lang="en-US" i="1" dirty="0" smtClean="0">
                <a:solidFill>
                  <a:srgbClr val="C00000"/>
                </a:solidFill>
              </a:rPr>
              <a:t>problems happened</a:t>
            </a:r>
          </a:p>
          <a:p>
            <a:r>
              <a:rPr lang="en-US" dirty="0" smtClean="0"/>
              <a:t>Quality control approach </a:t>
            </a:r>
            <a:r>
              <a:rPr lang="en-US" i="1" dirty="0" smtClean="0">
                <a:solidFill>
                  <a:srgbClr val="C00000"/>
                </a:solidFill>
              </a:rPr>
              <a:t>showed failure</a:t>
            </a:r>
          </a:p>
          <a:p>
            <a:r>
              <a:rPr lang="en-US" dirty="0" smtClean="0"/>
              <a:t>Certificate is </a:t>
            </a:r>
            <a:r>
              <a:rPr lang="en-US" i="1" dirty="0" smtClean="0">
                <a:solidFill>
                  <a:srgbClr val="C00000"/>
                </a:solidFill>
              </a:rPr>
              <a:t>required</a:t>
            </a:r>
            <a:endParaRPr lang="en-US" i="1" dirty="0">
              <a:solidFill>
                <a:srgbClr val="C00000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4067175"/>
            <a:ext cx="4419600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ISO 9001:2008 Terms and Definitions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Document</a:t>
            </a:r>
            <a:r>
              <a:rPr lang="en-US" sz="2400" dirty="0" smtClean="0"/>
              <a:t> – information and its supporting medium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Procedure</a:t>
            </a:r>
            <a:r>
              <a:rPr lang="en-US" sz="2400" dirty="0" smtClean="0"/>
              <a:t> – specified way to carry out an activity or a process  (Note: Procedures can be documented or not)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Quality Manual</a:t>
            </a:r>
            <a:r>
              <a:rPr lang="en-US" sz="2400" dirty="0" smtClean="0"/>
              <a:t> – document specifying the quality management system of an  organization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Quality Plan</a:t>
            </a:r>
            <a:r>
              <a:rPr lang="en-US" sz="2400" dirty="0" smtClean="0"/>
              <a:t> – document specifying which procedures and associated resources shall be applied by whom and when to a specific project, product, process or contract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Record</a:t>
            </a:r>
            <a:r>
              <a:rPr lang="en-US" sz="2400" dirty="0" smtClean="0"/>
              <a:t> – document stating results achieved or providing evidence of activities performed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Specification</a:t>
            </a:r>
            <a:r>
              <a:rPr lang="en-US" sz="2400" dirty="0" smtClean="0"/>
              <a:t> – document stating requirements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i="1" dirty="0" smtClean="0">
                <a:solidFill>
                  <a:srgbClr val="C00000"/>
                </a:solidFill>
              </a:rPr>
              <a:t>Records</a:t>
            </a:r>
            <a:r>
              <a:rPr lang="en-US" sz="4000" dirty="0" smtClean="0"/>
              <a:t> Required by ISO 9001:2008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Management reviews</a:t>
            </a:r>
          </a:p>
          <a:p>
            <a:r>
              <a:rPr lang="en-US" sz="2200" dirty="0" smtClean="0"/>
              <a:t>Education, training, skills and experience</a:t>
            </a:r>
          </a:p>
          <a:p>
            <a:r>
              <a:rPr lang="en-US" sz="2200" dirty="0" smtClean="0"/>
              <a:t>Evidence that the realization processes and resulting product fulfill requirements</a:t>
            </a:r>
          </a:p>
          <a:p>
            <a:r>
              <a:rPr lang="en-US" sz="2200" dirty="0" smtClean="0"/>
              <a:t>Design and development inputs relating to product requirements</a:t>
            </a:r>
          </a:p>
          <a:p>
            <a:r>
              <a:rPr lang="en-US" sz="2200" dirty="0" smtClean="0"/>
              <a:t>Results of design and development reviews and any necessary actions</a:t>
            </a:r>
          </a:p>
          <a:p>
            <a:r>
              <a:rPr lang="en-US" sz="2200" dirty="0" smtClean="0"/>
              <a:t>Results of design and development validation and any necessary actions</a:t>
            </a:r>
          </a:p>
          <a:p>
            <a:r>
              <a:rPr lang="en-US" sz="2200" dirty="0" smtClean="0"/>
              <a:t>Results of the review of design and development changes and any necessary actions</a:t>
            </a:r>
          </a:p>
          <a:p>
            <a:r>
              <a:rPr lang="en-US" sz="2200" dirty="0" smtClean="0"/>
              <a:t>…</a:t>
            </a:r>
            <a:endParaRPr lang="en-US" sz="2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Should We Do?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Quality assurance </a:t>
            </a:r>
            <a:r>
              <a:rPr lang="en-US" u="sng" dirty="0" smtClean="0"/>
              <a:t>procedures</a:t>
            </a:r>
            <a:r>
              <a:rPr lang="en-US" dirty="0" smtClean="0"/>
              <a:t> should be </a:t>
            </a:r>
            <a:r>
              <a:rPr lang="en-US" i="1" dirty="0" smtClean="0">
                <a:solidFill>
                  <a:srgbClr val="C00000"/>
                </a:solidFill>
              </a:rPr>
              <a:t>documented</a:t>
            </a:r>
            <a:r>
              <a:rPr lang="en-US" dirty="0" smtClean="0"/>
              <a:t> in an organizational </a:t>
            </a:r>
            <a:r>
              <a:rPr lang="en-US" u="sng" dirty="0" smtClean="0"/>
              <a:t>quality manual</a:t>
            </a:r>
            <a:r>
              <a:rPr lang="en-US" dirty="0" smtClean="0"/>
              <a:t>.</a:t>
            </a: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3124200"/>
            <a:ext cx="4533900" cy="344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Implement ISO 9001 Quality Management System (I) [8]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51037"/>
            <a:ext cx="8229600" cy="4068763"/>
          </a:xfrm>
        </p:spPr>
        <p:txBody>
          <a:bodyPr/>
          <a:lstStyle/>
          <a:p>
            <a:pPr marL="514350" indent="-514350">
              <a:buFont typeface="+mj-lt"/>
              <a:buAutoNum type="arabicParenR"/>
            </a:pPr>
            <a:r>
              <a:rPr lang="en-US" sz="2400" dirty="0" smtClean="0"/>
              <a:t>Top management commitment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2400" dirty="0" smtClean="0"/>
              <a:t>Establish implementation team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2400" dirty="0" smtClean="0"/>
              <a:t>Start ISO 9000 awareness programs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2400" dirty="0" smtClean="0"/>
              <a:t>Provide Training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2400" dirty="0" smtClean="0"/>
              <a:t>Conduct initial status survey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7300" y="4343400"/>
            <a:ext cx="6629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Implement ISO 9001 Quality Management System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3916363"/>
          </a:xfrm>
        </p:spPr>
        <p:txBody>
          <a:bodyPr/>
          <a:lstStyle/>
          <a:p>
            <a:pPr marL="514350" indent="-514350">
              <a:buFont typeface="+mj-lt"/>
              <a:buAutoNum type="arabicParenR" startAt="6"/>
            </a:pPr>
            <a:r>
              <a:rPr lang="en-US" sz="2400" dirty="0" smtClean="0"/>
              <a:t>Create a documented implementation plan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33488" y="2514600"/>
            <a:ext cx="6677025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Implement ISO 9001 Quality Management System (III)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16363"/>
          </a:xfrm>
        </p:spPr>
        <p:txBody>
          <a:bodyPr/>
          <a:lstStyle/>
          <a:p>
            <a:pPr marL="514350" indent="-514350">
              <a:buFont typeface="+mj-lt"/>
              <a:buAutoNum type="arabicParenR" startAt="7"/>
            </a:pPr>
            <a:r>
              <a:rPr lang="en-US" sz="2400" dirty="0" smtClean="0"/>
              <a:t>Develop quality management system documentation (Use ISO 10013:1995 for guidance in quality documentation.)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4938" y="2562225"/>
            <a:ext cx="6334125" cy="406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Implement ISO 9001 Quality Management System (IV)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572000"/>
          </a:xfrm>
        </p:spPr>
        <p:txBody>
          <a:bodyPr/>
          <a:lstStyle/>
          <a:p>
            <a:pPr marL="514350" indent="-514350">
              <a:buFont typeface="+mj-lt"/>
              <a:buAutoNum type="arabicParenR" startAt="8"/>
            </a:pPr>
            <a:r>
              <a:rPr lang="en-US" sz="2400" dirty="0" smtClean="0"/>
              <a:t>Document control (Control is simply a means of managing the creation, approval, distribution, revision, storage, and disposal of the various types of documentation.)</a:t>
            </a:r>
          </a:p>
          <a:p>
            <a:pPr marL="514350" indent="-514350">
              <a:buFont typeface="+mj-lt"/>
              <a:buAutoNum type="arabicParenR" startAt="8"/>
            </a:pPr>
            <a:r>
              <a:rPr lang="en-US" sz="2400" dirty="0" smtClean="0"/>
              <a:t>Implementation</a:t>
            </a:r>
          </a:p>
          <a:p>
            <a:pPr marL="514350" indent="-514350">
              <a:buFont typeface="+mj-lt"/>
              <a:buAutoNum type="arabicParenR" startAt="8"/>
            </a:pPr>
            <a:r>
              <a:rPr lang="en-US" sz="2400" dirty="0" smtClean="0"/>
              <a:t>Internal quality audit (Use ISO 19011 for guidance in auditing, auditor qualification and </a:t>
            </a:r>
            <a:r>
              <a:rPr lang="en-US" sz="2400" dirty="0" err="1" smtClean="0"/>
              <a:t>programmes</a:t>
            </a:r>
            <a:r>
              <a:rPr lang="en-US" sz="2400" dirty="0" smtClean="0"/>
              <a:t>.)</a:t>
            </a:r>
          </a:p>
          <a:p>
            <a:pPr marL="514350" indent="-514350">
              <a:buFont typeface="+mj-lt"/>
              <a:buAutoNum type="arabicParenR" startAt="8"/>
            </a:pPr>
            <a:r>
              <a:rPr lang="en-US" sz="2400" dirty="0" smtClean="0"/>
              <a:t>Management review</a:t>
            </a:r>
          </a:p>
          <a:p>
            <a:pPr marL="514350" indent="-514350">
              <a:buFont typeface="+mj-lt"/>
              <a:buAutoNum type="arabicParenR" startAt="8"/>
            </a:pPr>
            <a:r>
              <a:rPr lang="en-US" sz="2400" dirty="0" smtClean="0"/>
              <a:t>Pre-assessment audit</a:t>
            </a:r>
          </a:p>
          <a:p>
            <a:pPr marL="514350" indent="-514350">
              <a:buFont typeface="+mj-lt"/>
              <a:buAutoNum type="arabicParenR" startAt="8"/>
            </a:pPr>
            <a:r>
              <a:rPr lang="en-US" sz="2400" dirty="0" smtClean="0"/>
              <a:t>Certification and registration</a:t>
            </a:r>
          </a:p>
          <a:p>
            <a:pPr marL="514350" indent="-514350">
              <a:buFont typeface="+mj-lt"/>
              <a:buAutoNum type="arabicParenR" startAt="8"/>
            </a:pPr>
            <a:r>
              <a:rPr lang="en-US" sz="2400" dirty="0" smtClean="0"/>
              <a:t>Continual Improvement (ISO 9004:2008 provides a methodology for continual improvement).</a:t>
            </a:r>
            <a:endParaRPr lang="en-US" sz="24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14314</TotalTime>
  <Words>2943</Words>
  <Application>Microsoft Office PowerPoint</Application>
  <PresentationFormat>On-screen Show (4:3)</PresentationFormat>
  <Paragraphs>434</Paragraphs>
  <Slides>59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0" baseType="lpstr">
      <vt:lpstr>Office Theme</vt:lpstr>
      <vt:lpstr>Software Quality Management</vt:lpstr>
      <vt:lpstr>Objectives</vt:lpstr>
      <vt:lpstr>Contents</vt:lpstr>
      <vt:lpstr>References</vt:lpstr>
      <vt:lpstr>Why Do Projects Fail?</vt:lpstr>
      <vt:lpstr>How to Meet Business Requirements</vt:lpstr>
      <vt:lpstr>How to Meet User Requirements</vt:lpstr>
      <vt:lpstr>Example: Performance Requirements </vt:lpstr>
      <vt:lpstr>How to Meet Technical Requirements</vt:lpstr>
      <vt:lpstr>Example: Security Requirements</vt:lpstr>
      <vt:lpstr>How to Meet Document and Process Quality Requirements?</vt:lpstr>
      <vt:lpstr>Products, Process, Project  and Environment Quality</vt:lpstr>
      <vt:lpstr>Slide 13</vt:lpstr>
      <vt:lpstr>1. Select a Product</vt:lpstr>
      <vt:lpstr>What is Quality?</vt:lpstr>
      <vt:lpstr>External Quality Characteristics [1]</vt:lpstr>
      <vt:lpstr>ISO 9126 Quality Characteristics [2]</vt:lpstr>
      <vt:lpstr>2. Select Quality Characteristics</vt:lpstr>
      <vt:lpstr>3. Define Metrics</vt:lpstr>
      <vt:lpstr>Data</vt:lpstr>
      <vt:lpstr>A Test</vt:lpstr>
      <vt:lpstr>Answers</vt:lpstr>
      <vt:lpstr>5. Select Evaluation Method</vt:lpstr>
      <vt:lpstr>6. Define Quality Requirements</vt:lpstr>
      <vt:lpstr>Example Quality Requirements</vt:lpstr>
      <vt:lpstr>Software Quality Standards</vt:lpstr>
      <vt:lpstr>Summary: How to Manage  Quality of Something? [3]</vt:lpstr>
      <vt:lpstr>Slide 28</vt:lpstr>
      <vt:lpstr>Software Quality Metrics  (Customer’s View) [4]</vt:lpstr>
      <vt:lpstr>Process Quality Characteristics [5]</vt:lpstr>
      <vt:lpstr>Process Quality Metrics</vt:lpstr>
      <vt:lpstr>Project Quality Metrics [6]</vt:lpstr>
      <vt:lpstr>Person Quality Metrics</vt:lpstr>
      <vt:lpstr>Slide 34</vt:lpstr>
      <vt:lpstr>7. Create Quality Management Plan</vt:lpstr>
      <vt:lpstr>Software Quality Assurance Plan</vt:lpstr>
      <vt:lpstr>8. Perform Quality Assurance</vt:lpstr>
      <vt:lpstr>9. Perform Quality Control</vt:lpstr>
      <vt:lpstr>Test Management Tools</vt:lpstr>
      <vt:lpstr>Who is Responsible for Quality?</vt:lpstr>
      <vt:lpstr>When to Manage Quality?</vt:lpstr>
      <vt:lpstr>Why Quality Management?</vt:lpstr>
      <vt:lpstr>QA/QC Hire (HP)</vt:lpstr>
      <vt:lpstr>Test vs. Evaluation vs. Assessment</vt:lpstr>
      <vt:lpstr>Slide 45</vt:lpstr>
      <vt:lpstr>What is a Quality Management System? [7]</vt:lpstr>
      <vt:lpstr>International Standards Organization</vt:lpstr>
      <vt:lpstr>ISO 9000</vt:lpstr>
      <vt:lpstr>ISO 9001</vt:lpstr>
      <vt:lpstr>ISO 19011 and ISO 9004</vt:lpstr>
      <vt:lpstr>Why  ISO 9001?</vt:lpstr>
      <vt:lpstr>ISO 9001:2008 Terms and Definitions</vt:lpstr>
      <vt:lpstr>Records Required by ISO 9001:2008</vt:lpstr>
      <vt:lpstr>What Should We Do?</vt:lpstr>
      <vt:lpstr>Implement ISO 9001 Quality Management System (I) [8]</vt:lpstr>
      <vt:lpstr>Implement ISO 9001 Quality Management System (II)</vt:lpstr>
      <vt:lpstr>Implement ISO 9001 Quality Management System (III)</vt:lpstr>
      <vt:lpstr>Implement ISO 9001 Quality Management System (IV)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5791</cp:revision>
  <dcterms:created xsi:type="dcterms:W3CDTF">2007-10-06T08:25:13Z</dcterms:created>
  <dcterms:modified xsi:type="dcterms:W3CDTF">2022-11-18T18:10:32Z</dcterms:modified>
</cp:coreProperties>
</file>