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16"/>
  </p:notesMasterIdLst>
  <p:handoutMasterIdLst>
    <p:handoutMasterId r:id="rId17"/>
  </p:handoutMasterIdLst>
  <p:sldIdLst>
    <p:sldId id="256" r:id="rId2"/>
    <p:sldId id="443" r:id="rId3"/>
    <p:sldId id="503" r:id="rId4"/>
    <p:sldId id="444" r:id="rId5"/>
    <p:sldId id="544" r:id="rId6"/>
    <p:sldId id="548" r:id="rId7"/>
    <p:sldId id="549" r:id="rId8"/>
    <p:sldId id="546" r:id="rId9"/>
    <p:sldId id="551" r:id="rId10"/>
    <p:sldId id="545" r:id="rId11"/>
    <p:sldId id="550" r:id="rId12"/>
    <p:sldId id="552" r:id="rId13"/>
    <p:sldId id="553" r:id="rId14"/>
    <p:sldId id="343"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2558" autoAdjust="0"/>
    <p:restoredTop sz="75865" autoAdjust="0"/>
  </p:normalViewPr>
  <p:slideViewPr>
    <p:cSldViewPr>
      <p:cViewPr>
        <p:scale>
          <a:sx n="50" d="100"/>
          <a:sy n="50" d="100"/>
        </p:scale>
        <p:origin x="-1476" y="-106"/>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A6F6B56-B206-47E3-8148-295925D85CD2}" type="datetimeFigureOut">
              <a:rPr lang="en-US" smtClean="0"/>
              <a:pPr/>
              <a:t>11/25/2021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2944A64-02B1-4818-8227-23FA0B7646E6}"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E54CEF-B973-4BCD-BE04-8FC453D4C123}" type="datetimeFigureOut">
              <a:rPr lang="en-US" smtClean="0"/>
              <a:pPr/>
              <a:t>11/25/2021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E670EC-EF90-4A84-9798-83F1F2DBB46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11/25/2021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11/25/2021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11/25/2021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11/25/2021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11/25/2021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11/25/2021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11/25/2021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11/25/2021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11/25/2021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11/25/2021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11/25/2021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11/25/2021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Comparison </a:t>
            </a:r>
            <a:r>
              <a:rPr lang="en-US" sz="6000" dirty="0" smtClean="0"/>
              <a:t>of </a:t>
            </a:r>
            <a:r>
              <a:rPr lang="en-US" sz="6000" dirty="0" smtClean="0"/>
              <a:t>Methodologies</a:t>
            </a:r>
          </a:p>
        </p:txBody>
      </p:sp>
      <p:sp>
        <p:nvSpPr>
          <p:cNvPr id="3" name="Subtitle 2"/>
          <p:cNvSpPr>
            <a:spLocks noGrp="1"/>
          </p:cNvSpPr>
          <p:nvPr>
            <p:ph type="subTitle" idx="1"/>
          </p:nvPr>
        </p:nvSpPr>
        <p:spPr/>
        <p:txBody>
          <a:bodyPr rtlCol="0">
            <a:normAutofit fontScale="25000" lnSpcReduction="20000"/>
          </a:bodyPr>
          <a:lstStyle/>
          <a:p>
            <a:pPr eaLnBrk="1" fontAlgn="auto" hangingPunct="1">
              <a:spcAft>
                <a:spcPts val="0"/>
              </a:spcAft>
              <a:defRPr/>
            </a:pPr>
            <a:r>
              <a:rPr lang="en-US" sz="8800" dirty="0" smtClean="0"/>
              <a:t>Lecturer: Ngo Huy Bien</a:t>
            </a:r>
          </a:p>
          <a:p>
            <a:pPr eaLnBrk="1" fontAlgn="auto" hangingPunct="1">
              <a:spcAft>
                <a:spcPts val="0"/>
              </a:spcAft>
              <a:defRPr/>
            </a:pPr>
            <a:r>
              <a:rPr lang="en-US" sz="7200" dirty="0" smtClean="0"/>
              <a:t>Software Engineering Department</a:t>
            </a:r>
          </a:p>
          <a:p>
            <a:pPr eaLnBrk="1" fontAlgn="auto" hangingPunct="1">
              <a:spcAft>
                <a:spcPts val="0"/>
              </a:spcAft>
              <a:defRPr/>
            </a:pPr>
            <a:r>
              <a:rPr lang="en-US" sz="7200" dirty="0" smtClean="0"/>
              <a:t>Faculty of Information Technology</a:t>
            </a:r>
          </a:p>
          <a:p>
            <a:pPr eaLnBrk="1" fontAlgn="auto" hangingPunct="1">
              <a:spcAft>
                <a:spcPts val="0"/>
              </a:spcAft>
              <a:defRPr/>
            </a:pPr>
            <a:r>
              <a:rPr lang="en-US" sz="7200" dirty="0" smtClean="0"/>
              <a:t>VNUHCM - University of Science</a:t>
            </a:r>
          </a:p>
          <a:p>
            <a:pPr eaLnBrk="1" fontAlgn="auto" hangingPunct="1">
              <a:spcAft>
                <a:spcPts val="0"/>
              </a:spcAft>
              <a:defRPr/>
            </a:pPr>
            <a:r>
              <a:rPr lang="en-US" sz="7200" dirty="0" smtClean="0"/>
              <a:t>Ho Chi Minh City, Vietnam</a:t>
            </a:r>
          </a:p>
          <a:p>
            <a:pPr eaLnBrk="1" fontAlgn="auto" hangingPunct="1">
              <a:spcAft>
                <a:spcPts val="0"/>
              </a:spcAft>
              <a:defRPr/>
            </a:pPr>
            <a:r>
              <a:rPr lang="en-US" sz="7200" dirty="0" smtClean="0">
                <a:hlinkClick r:id="rId2"/>
              </a:rPr>
              <a:t>nhbien@fit.hcmus.edu.vn</a:t>
            </a:r>
            <a:endParaRPr lang="en-US" sz="72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endParaRPr lang="en-US" sz="2800" dirty="0" smtClean="0"/>
          </a:p>
        </p:txBody>
      </p:sp>
      <p:pic>
        <p:nvPicPr>
          <p:cNvPr id="4" name="Picture 2"/>
          <p:cNvPicPr>
            <a:picLocks noChangeAspect="1" noChangeArrowheads="1"/>
          </p:cNvPicPr>
          <p:nvPr/>
        </p:nvPicPr>
        <p:blipFill>
          <a:blip r:embed="rId2" cstate="print"/>
          <a:srcRect/>
          <a:stretch>
            <a:fillRect/>
          </a:stretch>
        </p:blipFill>
        <p:spPr bwMode="auto">
          <a:xfrm>
            <a:off x="59245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2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809750"/>
            <a:ext cx="2724150" cy="4133850"/>
          </a:xfrm>
          <a:prstGeom prst="rect">
            <a:avLst/>
          </a:prstGeom>
          <a:noFill/>
        </p:spPr>
      </p:pic>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524000"/>
            <a:ext cx="5715000" cy="4724400"/>
          </a:xfrm>
        </p:spPr>
        <p:txBody>
          <a:bodyPr/>
          <a:lstStyle/>
          <a:p>
            <a:pPr marL="457200" indent="-457200">
              <a:buFont typeface="+mj-lt"/>
              <a:buAutoNum type="arabicPeriod"/>
            </a:pPr>
            <a:r>
              <a:rPr lang="fr-FR" sz="2400" dirty="0" err="1" smtClean="0"/>
              <a:t>Capers</a:t>
            </a:r>
            <a:r>
              <a:rPr lang="fr-FR" sz="2400" dirty="0" smtClean="0"/>
              <a:t> Jones (2018). Software </a:t>
            </a:r>
            <a:r>
              <a:rPr lang="fr-FR" sz="2400" dirty="0" err="1" smtClean="0"/>
              <a:t>Methodologies</a:t>
            </a:r>
            <a:r>
              <a:rPr lang="fr-FR" sz="2400" dirty="0" smtClean="0"/>
              <a:t> A Quantitative Guide. </a:t>
            </a:r>
            <a:r>
              <a:rPr lang="fr-FR" sz="2400" dirty="0" err="1" smtClean="0"/>
              <a:t>Auerbach</a:t>
            </a:r>
            <a:r>
              <a:rPr lang="fr-FR" sz="2400" dirty="0" smtClean="0"/>
              <a:t> Publications.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Too Many Methodologies? [1]</a:t>
            </a:r>
            <a:endParaRPr lang="en-US" dirty="0"/>
          </a:p>
        </p:txBody>
      </p:sp>
      <p:sp>
        <p:nvSpPr>
          <p:cNvPr id="3" name="Content Placeholder 2"/>
          <p:cNvSpPr>
            <a:spLocks noGrp="1"/>
          </p:cNvSpPr>
          <p:nvPr>
            <p:ph idx="1"/>
          </p:nvPr>
        </p:nvSpPr>
        <p:spPr/>
        <p:txBody>
          <a:bodyPr/>
          <a:lstStyle/>
          <a:p>
            <a:r>
              <a:rPr lang="en-US" sz="2400" dirty="0" smtClean="0"/>
              <a:t>Question 1: Why does software have more than 60 different development methodologies?</a:t>
            </a:r>
          </a:p>
          <a:p>
            <a:r>
              <a:rPr lang="en-US" sz="2400" dirty="0" smtClean="0"/>
              <a:t>Question 2: Why are new methodologies being developed about every 7 months?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r>
              <a:rPr lang="en-US" sz="2400" dirty="0" smtClean="0"/>
              <a:t>The most probable answer to Questions 1 and 2 is that software has had the </a:t>
            </a:r>
            <a:r>
              <a:rPr lang="en-US" sz="2400" u="sng" dirty="0" smtClean="0"/>
              <a:t>worst</a:t>
            </a:r>
            <a:r>
              <a:rPr lang="en-US" sz="2400" dirty="0" smtClean="0"/>
              <a:t> sets of </a:t>
            </a:r>
            <a:r>
              <a:rPr lang="en-US" sz="2400" i="1" dirty="0" smtClean="0">
                <a:solidFill>
                  <a:srgbClr val="C00000"/>
                </a:solidFill>
              </a:rPr>
              <a:t>measures</a:t>
            </a:r>
            <a:r>
              <a:rPr lang="en-US" sz="2400" dirty="0" smtClean="0"/>
              <a:t> and </a:t>
            </a:r>
            <a:r>
              <a:rPr lang="en-US" sz="2400" i="1" dirty="0" smtClean="0">
                <a:solidFill>
                  <a:srgbClr val="C00000"/>
                </a:solidFill>
              </a:rPr>
              <a:t>metrics</a:t>
            </a:r>
            <a:r>
              <a:rPr lang="en-US" sz="2400" dirty="0" smtClean="0"/>
              <a:t> of any industry in human history.</a:t>
            </a:r>
          </a:p>
          <a:p>
            <a:r>
              <a:rPr lang="en-US" sz="2400" dirty="0" smtClean="0"/>
              <a:t>Software develops lots of variations of programming languages, tools, and methodologies because </a:t>
            </a:r>
            <a:r>
              <a:rPr lang="en-US" sz="2400" u="sng" dirty="0" smtClean="0"/>
              <a:t>hardly</a:t>
            </a:r>
            <a:r>
              <a:rPr lang="en-US" sz="2400" dirty="0" smtClean="0"/>
              <a:t> anybody knows how to measure software </a:t>
            </a:r>
            <a:r>
              <a:rPr lang="en-US" sz="2400" i="1" dirty="0" smtClean="0">
                <a:solidFill>
                  <a:srgbClr val="C00000"/>
                </a:solidFill>
              </a:rPr>
              <a:t>productivity</a:t>
            </a:r>
            <a:r>
              <a:rPr lang="en-US" sz="2400" dirty="0" smtClean="0"/>
              <a:t> and </a:t>
            </a:r>
            <a:r>
              <a:rPr lang="en-US" sz="2400" i="1" dirty="0" smtClean="0">
                <a:solidFill>
                  <a:srgbClr val="C00000"/>
                </a:solidFill>
              </a:rPr>
              <a:t>quality</a:t>
            </a:r>
            <a:r>
              <a:rPr lang="en-US" sz="2400" dirty="0" smtClean="0"/>
              <a:t>, so there is no easy way to make rational selections.</a:t>
            </a:r>
          </a:p>
          <a:p>
            <a:r>
              <a:rPr lang="en-US" sz="2400" dirty="0" smtClean="0"/>
              <a:t>Methodologies, programming languages, test tools, static analysis tools, and other areas with lots of variations have only subjective claims of better quality and productivity; there is </a:t>
            </a:r>
            <a:r>
              <a:rPr lang="en-US" sz="2400" u="sng" dirty="0" smtClean="0"/>
              <a:t>scarcely</a:t>
            </a:r>
            <a:r>
              <a:rPr lang="en-US" sz="2400" dirty="0" smtClean="0"/>
              <a:t> any reliable </a:t>
            </a:r>
            <a:r>
              <a:rPr lang="en-US" sz="2400" i="1" dirty="0" smtClean="0">
                <a:solidFill>
                  <a:srgbClr val="C00000"/>
                </a:solidFill>
              </a:rPr>
              <a:t>empirical data</a:t>
            </a:r>
            <a:r>
              <a:rPr lang="en-US" sz="2400" dirty="0" smtClean="0"/>
              <a:t> available.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 (cont.)</a:t>
            </a:r>
            <a:endParaRPr lang="en-US" dirty="0"/>
          </a:p>
        </p:txBody>
      </p:sp>
      <p:sp>
        <p:nvSpPr>
          <p:cNvPr id="3" name="Content Placeholder 2"/>
          <p:cNvSpPr>
            <a:spLocks noGrp="1"/>
          </p:cNvSpPr>
          <p:nvPr>
            <p:ph idx="1"/>
          </p:nvPr>
        </p:nvSpPr>
        <p:spPr/>
        <p:txBody>
          <a:bodyPr/>
          <a:lstStyle/>
          <a:p>
            <a:r>
              <a:rPr lang="en-US" sz="2400" dirty="0" smtClean="0"/>
              <a:t>The simple answer is that since </a:t>
            </a:r>
            <a:r>
              <a:rPr lang="en-US" sz="2400" u="sng" dirty="0" smtClean="0"/>
              <a:t>none</a:t>
            </a:r>
            <a:r>
              <a:rPr lang="en-US" sz="2400" dirty="0" smtClean="0"/>
              <a:t> of the older methodologies have reliable </a:t>
            </a:r>
            <a:r>
              <a:rPr lang="en-US" sz="2400" i="1" dirty="0" smtClean="0">
                <a:solidFill>
                  <a:srgbClr val="C00000"/>
                </a:solidFill>
              </a:rPr>
              <a:t>quantitative data available</a:t>
            </a:r>
            <a:r>
              <a:rPr lang="en-US" sz="2400" dirty="0" smtClean="0"/>
              <a:t>, there is </a:t>
            </a:r>
            <a:r>
              <a:rPr lang="en-US" sz="2400" u="sng" dirty="0" smtClean="0"/>
              <a:t>no</a:t>
            </a:r>
            <a:r>
              <a:rPr lang="en-US" sz="2400" dirty="0" smtClean="0"/>
              <a:t> </a:t>
            </a:r>
            <a:r>
              <a:rPr lang="en-US" sz="2400" i="1" dirty="0" smtClean="0">
                <a:solidFill>
                  <a:srgbClr val="C00000"/>
                </a:solidFill>
              </a:rPr>
              <a:t>actual proof</a:t>
            </a:r>
            <a:r>
              <a:rPr lang="en-US" sz="2400" dirty="0" smtClean="0"/>
              <a:t> that any of them work well. Therefore, new methodologies or variations of existing methodologies are likely to keep appearing at frequent intervals.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Some Methodologies Grow Rapidly?</a:t>
            </a:r>
            <a:endParaRPr lang="en-US" dirty="0"/>
          </a:p>
        </p:txBody>
      </p:sp>
      <p:sp>
        <p:nvSpPr>
          <p:cNvPr id="3" name="Content Placeholder 2"/>
          <p:cNvSpPr>
            <a:spLocks noGrp="1"/>
          </p:cNvSpPr>
          <p:nvPr>
            <p:ph idx="1"/>
          </p:nvPr>
        </p:nvSpPr>
        <p:spPr/>
        <p:txBody>
          <a:bodyPr/>
          <a:lstStyle/>
          <a:p>
            <a:r>
              <a:rPr lang="en-US" sz="2400" dirty="0" smtClean="0"/>
              <a:t>A more difficult question is why some methodologies become popular cults while others, which may be just as effective, have low use.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marL="457200" indent="-457200"/>
            <a:r>
              <a:rPr lang="en-US" sz="2600" dirty="0" smtClean="0"/>
              <a:t>A typical software methodology life cycle</a:t>
            </a:r>
          </a:p>
          <a:p>
            <a:pPr marL="857250" lvl="1" indent="-457200">
              <a:buFont typeface="+mj-lt"/>
              <a:buAutoNum type="arabicPeriod"/>
            </a:pPr>
            <a:r>
              <a:rPr lang="en-US" sz="2000" dirty="0" smtClean="0"/>
              <a:t>Identification of a problem not solved by existing methodologies.</a:t>
            </a:r>
          </a:p>
          <a:p>
            <a:pPr marL="857250" lvl="1" indent="-457200">
              <a:buFont typeface="+mj-lt"/>
              <a:buAutoNum type="arabicPeriod"/>
            </a:pPr>
            <a:r>
              <a:rPr lang="en-US" sz="2000" dirty="0" smtClean="0"/>
              <a:t>Formulating a new or modified methodology to solve the problem.</a:t>
            </a:r>
          </a:p>
          <a:p>
            <a:pPr marL="857250" lvl="1" indent="-457200">
              <a:buFont typeface="+mj-lt"/>
              <a:buAutoNum type="arabicPeriod"/>
            </a:pPr>
            <a:r>
              <a:rPr lang="en-US" sz="2000" dirty="0" smtClean="0"/>
              <a:t>Trying the new methodology on one or more projects.</a:t>
            </a:r>
          </a:p>
          <a:p>
            <a:pPr marL="857250" lvl="1" indent="-457200">
              <a:buFont typeface="+mj-lt"/>
              <a:buAutoNum type="arabicPeriod"/>
            </a:pPr>
            <a:r>
              <a:rPr lang="en-US" sz="2000" dirty="0" smtClean="0"/>
              <a:t>Announcing the new methodology to other organizations.</a:t>
            </a:r>
          </a:p>
          <a:p>
            <a:pPr marL="857250" lvl="1" indent="-457200">
              <a:buFont typeface="+mj-lt"/>
              <a:buAutoNum type="arabicPeriod"/>
            </a:pPr>
            <a:r>
              <a:rPr lang="en-US" sz="2000" dirty="0" smtClean="0"/>
              <a:t>Other organizations use the new methodology on their projects.</a:t>
            </a:r>
          </a:p>
          <a:p>
            <a:pPr marL="857250" lvl="1" indent="-457200">
              <a:buFont typeface="+mj-lt"/>
              <a:buAutoNum type="arabicPeriod"/>
            </a:pPr>
            <a:r>
              <a:rPr lang="en-US" sz="2000" dirty="0" smtClean="0"/>
              <a:t>Publication of results from initial adopters.</a:t>
            </a:r>
          </a:p>
          <a:p>
            <a:pPr marL="857250" lvl="1" indent="-457200">
              <a:buFont typeface="+mj-lt"/>
              <a:buAutoNum type="arabicPeriod"/>
            </a:pPr>
            <a:r>
              <a:rPr lang="en-US" sz="2000" dirty="0" smtClean="0"/>
              <a:t>Additional adoption of methodology based on early adopters.</a:t>
            </a:r>
          </a:p>
          <a:p>
            <a:pPr marL="857250" lvl="1" indent="-457200">
              <a:buFont typeface="+mj-lt"/>
              <a:buAutoNum type="arabicPeriod"/>
            </a:pPr>
            <a:r>
              <a:rPr lang="en-US" sz="2000" dirty="0" smtClean="0"/>
              <a:t>New methodology found to have problems of its own.</a:t>
            </a:r>
          </a:p>
          <a:p>
            <a:pPr marL="857250" lvl="1" indent="-457200">
              <a:buFont typeface="+mj-lt"/>
              <a:buAutoNum type="arabicPeriod"/>
            </a:pPr>
            <a:r>
              <a:rPr lang="en-US" sz="2000" dirty="0" smtClean="0"/>
              <a:t>New methodology modified to solve observed problems if possible.</a:t>
            </a:r>
          </a:p>
          <a:p>
            <a:pPr marL="857250" lvl="1" indent="-457200">
              <a:buFont typeface="+mj-lt"/>
              <a:buAutoNum type="arabicPeriod"/>
            </a:pPr>
            <a:r>
              <a:rPr lang="en-US" sz="2000" dirty="0" smtClean="0"/>
              <a:t>Methodology use either expands or contracts based on user perceptions.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 (cont.)</a:t>
            </a:r>
            <a:endParaRPr lang="en-US" dirty="0"/>
          </a:p>
        </p:txBody>
      </p:sp>
      <p:sp>
        <p:nvSpPr>
          <p:cNvPr id="3" name="Content Placeholder 2"/>
          <p:cNvSpPr>
            <a:spLocks noGrp="1"/>
          </p:cNvSpPr>
          <p:nvPr>
            <p:ph idx="1"/>
          </p:nvPr>
        </p:nvSpPr>
        <p:spPr/>
        <p:txBody>
          <a:bodyPr/>
          <a:lstStyle/>
          <a:p>
            <a:pPr marL="457200" indent="-457200"/>
            <a:r>
              <a:rPr lang="en-US" sz="2600" i="1" dirty="0" smtClean="0">
                <a:solidFill>
                  <a:srgbClr val="C00000"/>
                </a:solidFill>
              </a:rPr>
              <a:t>Missing stages</a:t>
            </a:r>
            <a:r>
              <a:rPr lang="en-US" sz="2600" dirty="0" smtClean="0"/>
              <a:t> for software methodology development</a:t>
            </a:r>
          </a:p>
          <a:p>
            <a:pPr marL="857250" lvl="1" indent="-457200">
              <a:buFont typeface="+mj-lt"/>
              <a:buAutoNum type="arabicPeriod"/>
            </a:pPr>
            <a:r>
              <a:rPr lang="en-US" sz="2000" dirty="0" smtClean="0"/>
              <a:t>Measure the productivity of the methodology.</a:t>
            </a:r>
          </a:p>
          <a:p>
            <a:pPr marL="857250" lvl="1" indent="-457200">
              <a:buFont typeface="+mj-lt"/>
              <a:buAutoNum type="arabicPeriod"/>
            </a:pPr>
            <a:r>
              <a:rPr lang="en-US" sz="2000" dirty="0" smtClean="0"/>
              <a:t>Measure the quality of the methodology.</a:t>
            </a:r>
          </a:p>
          <a:p>
            <a:pPr marL="857250" lvl="1" indent="-457200">
              <a:buFont typeface="+mj-lt"/>
              <a:buAutoNum type="arabicPeriod"/>
            </a:pPr>
            <a:r>
              <a:rPr lang="en-US" sz="2000" dirty="0" smtClean="0"/>
              <a:t>Identify possible harmful side effects and negative results of the methodology.</a:t>
            </a:r>
          </a:p>
          <a:p>
            <a:pPr marL="857250" lvl="1" indent="-457200">
              <a:buFont typeface="+mj-lt"/>
              <a:buAutoNum type="arabicPeriod"/>
            </a:pPr>
            <a:r>
              <a:rPr lang="en-US" sz="2000" dirty="0" smtClean="0"/>
              <a:t>Identify possible security vulnerabilities in critical software.</a:t>
            </a:r>
          </a:p>
          <a:p>
            <a:pPr marL="857250" lvl="1" indent="-457200">
              <a:buFont typeface="+mj-lt"/>
              <a:buAutoNum type="arabicPeriod"/>
            </a:pPr>
            <a:r>
              <a:rPr lang="en-US" sz="2000" dirty="0" smtClean="0"/>
              <a:t>Identify optimal sizes and types of methodology use.</a:t>
            </a:r>
          </a:p>
          <a:p>
            <a:pPr marL="857250" lvl="1" indent="-457200">
              <a:buFont typeface="+mj-lt"/>
              <a:buAutoNum type="arabicPeriod"/>
            </a:pPr>
            <a:r>
              <a:rPr lang="en-US" sz="2000" dirty="0" smtClean="0"/>
              <a:t>Identify hazardous sizes and types of methodology use.</a:t>
            </a:r>
          </a:p>
          <a:p>
            <a:pPr marL="857250" lvl="1" indent="-457200">
              <a:buFont typeface="+mj-lt"/>
              <a:buAutoNum type="arabicPeriod"/>
            </a:pPr>
            <a:r>
              <a:rPr lang="en-US" sz="2000" dirty="0" smtClean="0"/>
              <a:t>Publish statistical ranges of methodology productivity and quality results.</a:t>
            </a:r>
          </a:p>
          <a:p>
            <a:pPr marL="857250" lvl="1" indent="-457200">
              <a:buFont typeface="+mj-lt"/>
              <a:buAutoNum type="arabicPeriod"/>
            </a:pPr>
            <a:r>
              <a:rPr lang="en-US" sz="2000" dirty="0" smtClean="0"/>
              <a:t>Publish warnings of harmful side effects or unsuitable applications.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 (cont.)</a:t>
            </a:r>
            <a:endParaRPr lang="en-US" dirty="0"/>
          </a:p>
        </p:txBody>
      </p:sp>
      <p:sp>
        <p:nvSpPr>
          <p:cNvPr id="3" name="Content Placeholder 2"/>
          <p:cNvSpPr>
            <a:spLocks noGrp="1"/>
          </p:cNvSpPr>
          <p:nvPr>
            <p:ph idx="1"/>
          </p:nvPr>
        </p:nvSpPr>
        <p:spPr/>
        <p:txBody>
          <a:bodyPr/>
          <a:lstStyle/>
          <a:p>
            <a:r>
              <a:rPr lang="en-US" sz="2400" dirty="0" smtClean="0"/>
              <a:t>Software methodologies are developed and released with </a:t>
            </a:r>
            <a:r>
              <a:rPr lang="en-US" sz="2400" u="sng" dirty="0" smtClean="0"/>
              <a:t>no</a:t>
            </a:r>
            <a:r>
              <a:rPr lang="en-US" sz="2400" dirty="0" smtClean="0"/>
              <a:t> </a:t>
            </a:r>
            <a:r>
              <a:rPr lang="en-US" sz="2400" i="1" dirty="0" smtClean="0">
                <a:solidFill>
                  <a:srgbClr val="C00000"/>
                </a:solidFill>
              </a:rPr>
              <a:t>warnings</a:t>
            </a:r>
            <a:r>
              <a:rPr lang="en-US" sz="2400" dirty="0" smtClean="0"/>
              <a:t> at all. This explains why almost every methodology has multiple variations and why some methodologies don’ t last very long.</a:t>
            </a:r>
          </a:p>
          <a:p>
            <a:r>
              <a:rPr lang="en-US" sz="2400" dirty="0" smtClean="0"/>
              <a:t>As long as software methodologies are built informally and do not have accurate measures of either productivity or quality, the industry will probably continue to churn out new and modified software development methodologies several times a year forever.</a:t>
            </a:r>
          </a:p>
          <a:p>
            <a:r>
              <a:rPr lang="en-US" sz="2400" dirty="0" smtClean="0"/>
              <a:t>Probably 80% of these new and modified methodologies will be of some value for some projects, but the other </a:t>
            </a:r>
            <a:r>
              <a:rPr lang="en-US" sz="2400" u="sng" dirty="0" smtClean="0"/>
              <a:t>20%</a:t>
            </a:r>
            <a:r>
              <a:rPr lang="en-US" sz="2400" dirty="0" smtClean="0"/>
              <a:t> may have </a:t>
            </a:r>
            <a:r>
              <a:rPr lang="en-US" sz="2400" i="1" dirty="0" smtClean="0">
                <a:solidFill>
                  <a:srgbClr val="C00000"/>
                </a:solidFill>
              </a:rPr>
              <a:t>negative value</a:t>
            </a:r>
            <a:r>
              <a:rPr lang="en-US" sz="2400" dirty="0" smtClean="0"/>
              <a: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 (cont.)</a:t>
            </a:r>
            <a:endParaRPr lang="en-US" dirty="0"/>
          </a:p>
        </p:txBody>
      </p:sp>
      <p:sp>
        <p:nvSpPr>
          <p:cNvPr id="3" name="Content Placeholder 2"/>
          <p:cNvSpPr>
            <a:spLocks noGrp="1"/>
          </p:cNvSpPr>
          <p:nvPr>
            <p:ph idx="1"/>
          </p:nvPr>
        </p:nvSpPr>
        <p:spPr/>
        <p:txBody>
          <a:bodyPr/>
          <a:lstStyle/>
          <a:p>
            <a:r>
              <a:rPr lang="en-US" sz="2400" dirty="0" smtClean="0"/>
              <a:t>Methodologies all seem to claim that they are panaceas, and </a:t>
            </a:r>
            <a:r>
              <a:rPr lang="en-US" sz="2400" u="sng" dirty="0" smtClean="0"/>
              <a:t>none</a:t>
            </a:r>
            <a:r>
              <a:rPr lang="en-US" sz="2400" dirty="0" smtClean="0"/>
              <a:t> publishes information about quantified results for </a:t>
            </a:r>
            <a:r>
              <a:rPr lang="en-US" sz="2400" i="1" dirty="0" smtClean="0">
                <a:solidFill>
                  <a:srgbClr val="C00000"/>
                </a:solidFill>
              </a:rPr>
              <a:t>quality</a:t>
            </a:r>
            <a:r>
              <a:rPr lang="en-US" sz="2400" dirty="0" smtClean="0"/>
              <a:t> and </a:t>
            </a:r>
            <a:r>
              <a:rPr lang="en-US" sz="2400" i="1" dirty="0" smtClean="0">
                <a:solidFill>
                  <a:srgbClr val="C00000"/>
                </a:solidFill>
              </a:rPr>
              <a:t>productivity</a:t>
            </a:r>
            <a:r>
              <a:rPr lang="en-US" sz="2400" dirty="0" smtClean="0"/>
              <a:t>, or about </a:t>
            </a:r>
            <a:r>
              <a:rPr lang="en-US" sz="2400" i="1" dirty="0" smtClean="0">
                <a:solidFill>
                  <a:srgbClr val="C00000"/>
                </a:solidFill>
              </a:rPr>
              <a:t>harmful side effects</a:t>
            </a:r>
            <a:r>
              <a:rPr lang="en-US" sz="2400" dirty="0" smtClean="0"/>
              <a:t> or </a:t>
            </a:r>
            <a:r>
              <a:rPr lang="en-US" sz="2400" i="1" dirty="0" smtClean="0">
                <a:solidFill>
                  <a:srgbClr val="C00000"/>
                </a:solidFill>
              </a:rPr>
              <a:t>out-of-range applications</a:t>
            </a:r>
            <a:r>
              <a:rPr lang="en-US" sz="2400" dirty="0" smtClean="0"/>
              <a:t> where the methodologies are ineffective.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Agile/Scrum Software Development</a:t>
            </a:r>
            <a:endParaRPr lang="en-US" dirty="0"/>
          </a:p>
        </p:txBody>
      </p:sp>
      <p:sp>
        <p:nvSpPr>
          <p:cNvPr id="3" name="Content Placeholder 2"/>
          <p:cNvSpPr>
            <a:spLocks noGrp="1"/>
          </p:cNvSpPr>
          <p:nvPr>
            <p:ph idx="1"/>
          </p:nvPr>
        </p:nvSpPr>
        <p:spPr/>
        <p:txBody>
          <a:bodyPr/>
          <a:lstStyle/>
          <a:p>
            <a:r>
              <a:rPr lang="en-US" sz="2400" dirty="0" smtClean="0"/>
              <a:t>For larger projects with geographic separation of teams (especially across many time zones), the Agile approach loses effectiveness.</a:t>
            </a:r>
          </a:p>
          <a:p>
            <a:r>
              <a:rPr lang="en-US" sz="2400" dirty="0" smtClean="0"/>
              <a:t>Agile is also a bit tricky for projects that involve multiple sub-contractors.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for Your Time</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11773</TotalTime>
  <Words>637</Words>
  <Application>Microsoft Office PowerPoint</Application>
  <PresentationFormat>On-screen Show (4:3)</PresentationFormat>
  <Paragraphs>54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Comparison of Methodologies</vt:lpstr>
      <vt:lpstr>Objectives</vt:lpstr>
      <vt:lpstr>Contents</vt:lpstr>
      <vt:lpstr>References</vt:lpstr>
      <vt:lpstr>Why Too Many Methodologies? [1]</vt:lpstr>
      <vt:lpstr>Answer</vt:lpstr>
      <vt:lpstr>Answer (cont.)</vt:lpstr>
      <vt:lpstr>Why Do Some Methodologies Grow Rapidly?</vt:lpstr>
      <vt:lpstr>Answer</vt:lpstr>
      <vt:lpstr>Answer (cont.)</vt:lpstr>
      <vt:lpstr>Answer (cont.)</vt:lpstr>
      <vt:lpstr>Answer (cont.)</vt:lpstr>
      <vt:lpstr>Agile/Scrum Software Development</vt:lpstr>
      <vt:lpstr>Thank You for Your Time</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4577</cp:revision>
  <dcterms:created xsi:type="dcterms:W3CDTF">2007-10-06T08:25:13Z</dcterms:created>
  <dcterms:modified xsi:type="dcterms:W3CDTF">2021-11-25T11:50:11Z</dcterms:modified>
</cp:coreProperties>
</file>