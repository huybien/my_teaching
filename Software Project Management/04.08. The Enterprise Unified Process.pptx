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sldIdLst>
    <p:sldId id="477" r:id="rId2"/>
    <p:sldId id="456" r:id="rId3"/>
    <p:sldId id="470" r:id="rId4"/>
    <p:sldId id="493" r:id="rId5"/>
    <p:sldId id="522" r:id="rId6"/>
    <p:sldId id="501" r:id="rId7"/>
    <p:sldId id="502" r:id="rId8"/>
    <p:sldId id="503" r:id="rId9"/>
    <p:sldId id="504" r:id="rId10"/>
    <p:sldId id="505" r:id="rId11"/>
    <p:sldId id="506" r:id="rId12"/>
    <p:sldId id="494" r:id="rId13"/>
    <p:sldId id="495" r:id="rId14"/>
    <p:sldId id="496" r:id="rId15"/>
    <p:sldId id="500" r:id="rId16"/>
    <p:sldId id="497" r:id="rId17"/>
    <p:sldId id="498" r:id="rId18"/>
    <p:sldId id="499" r:id="rId19"/>
    <p:sldId id="521" r:id="rId20"/>
    <p:sldId id="492" r:id="rId21"/>
    <p:sldId id="507" r:id="rId22"/>
    <p:sldId id="508" r:id="rId23"/>
    <p:sldId id="509" r:id="rId24"/>
    <p:sldId id="514" r:id="rId25"/>
    <p:sldId id="510" r:id="rId26"/>
    <p:sldId id="512" r:id="rId27"/>
    <p:sldId id="513" r:id="rId28"/>
    <p:sldId id="515" r:id="rId29"/>
    <p:sldId id="516" r:id="rId30"/>
    <p:sldId id="517" r:id="rId31"/>
    <p:sldId id="518" r:id="rId32"/>
    <p:sldId id="519" r:id="rId33"/>
    <p:sldId id="520" r:id="rId34"/>
    <p:sldId id="489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6" autoAdjust="0"/>
    <p:restoredTop sz="94667" autoAdjust="0"/>
  </p:normalViewPr>
  <p:slideViewPr>
    <p:cSldViewPr>
      <p:cViewPr varScale="1">
        <p:scale>
          <a:sx n="68" d="100"/>
          <a:sy n="68" d="100"/>
        </p:scale>
        <p:origin x="-121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ndesk.com/" TargetMode="External"/><Relationship Id="rId2" Type="http://schemas.openxmlformats.org/officeDocument/2006/relationships/hyperlink" Target="https://www.pingdom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19.%20Software%20Maintenance%20Process.ppt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6000" dirty="0" smtClean="0"/>
              <a:t>The Enterprise Unified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257800" cy="31241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i="1" dirty="0" smtClean="0">
                <a:solidFill>
                  <a:srgbClr val="C00000"/>
                </a:solidFill>
              </a:rPr>
              <a:t>present</a:t>
            </a:r>
            <a:r>
              <a:rPr lang="en-US" dirty="0" smtClean="0"/>
              <a:t> basic concepts of EUP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i="1" dirty="0" smtClean="0">
                <a:solidFill>
                  <a:srgbClr val="C00000"/>
                </a:solidFill>
              </a:rPr>
              <a:t>apply EUP</a:t>
            </a:r>
            <a:r>
              <a:rPr lang="en-US" dirty="0" smtClean="0"/>
              <a:t> in a real world project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And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912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Scott W. Ambler et al. The Enterprise Unified Process: Extending the Rational Unified Process. 2005.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Development Enough?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057400"/>
          </a:xfrm>
        </p:spPr>
        <p:txBody>
          <a:bodyPr/>
          <a:lstStyle/>
          <a:p>
            <a:r>
              <a:rPr lang="en-US" sz="2000" dirty="0" smtClean="0"/>
              <a:t>A large portion of the cost and effort for systems, </a:t>
            </a:r>
            <a:r>
              <a:rPr lang="en-US" sz="2000" i="1" dirty="0" smtClean="0">
                <a:solidFill>
                  <a:srgbClr val="C00000"/>
                </a:solidFill>
              </a:rPr>
              <a:t>upwards of 75%</a:t>
            </a:r>
            <a:r>
              <a:rPr lang="en-US" sz="2000" dirty="0" smtClean="0"/>
              <a:t> (Gartner 2000), occurs after systems are deployed.</a:t>
            </a:r>
          </a:p>
          <a:p>
            <a:r>
              <a:rPr lang="en-US" sz="2000" dirty="0" smtClean="0"/>
              <a:t>This includes their operation and support in production, maintenance fixes, and their eventual retirement.</a:t>
            </a:r>
          </a:p>
          <a:p>
            <a:r>
              <a:rPr lang="en-US" sz="2000" dirty="0" smtClean="0"/>
              <a:t>Any organization that wants to be </a:t>
            </a:r>
            <a:r>
              <a:rPr lang="en-US" sz="2000" i="1" dirty="0" smtClean="0">
                <a:solidFill>
                  <a:srgbClr val="C00000"/>
                </a:solidFill>
              </a:rPr>
              <a:t>successful</a:t>
            </a:r>
            <a:r>
              <a:rPr lang="en-US" sz="2000" dirty="0" smtClean="0"/>
              <a:t> at IT needs to look beyond the software DEVELOPMENT lifecycle.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3571875"/>
            <a:ext cx="715327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Development Enough?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057400"/>
          </a:xfrm>
        </p:spPr>
        <p:txBody>
          <a:bodyPr/>
          <a:lstStyle/>
          <a:p>
            <a:r>
              <a:rPr lang="en-US" sz="2000" dirty="0" smtClean="0"/>
              <a:t>A large portion of the cost and effort for systems, </a:t>
            </a:r>
            <a:r>
              <a:rPr lang="en-US" sz="2000" i="1" dirty="0" smtClean="0">
                <a:solidFill>
                  <a:srgbClr val="C00000"/>
                </a:solidFill>
              </a:rPr>
              <a:t>upwards of 75%</a:t>
            </a:r>
            <a:r>
              <a:rPr lang="en-US" sz="2000" dirty="0" smtClean="0"/>
              <a:t> (Gartner 2000), occurs after systems are deployed.</a:t>
            </a:r>
          </a:p>
          <a:p>
            <a:r>
              <a:rPr lang="en-US" sz="2000" dirty="0" smtClean="0"/>
              <a:t>This includes their operation and support in production, maintenance fixes, and their eventual retirement.</a:t>
            </a:r>
          </a:p>
          <a:p>
            <a:r>
              <a:rPr lang="en-US" sz="2000" dirty="0" smtClean="0"/>
              <a:t>Any organization that wants to be </a:t>
            </a:r>
            <a:r>
              <a:rPr lang="en-US" sz="2000" i="1" dirty="0" smtClean="0">
                <a:solidFill>
                  <a:srgbClr val="C00000"/>
                </a:solidFill>
              </a:rPr>
              <a:t>successful</a:t>
            </a:r>
            <a:r>
              <a:rPr lang="en-US" sz="2000" dirty="0" smtClean="0"/>
              <a:t> at IT needs to look beyond the software DEVELOPMENT lifecycle.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3571875"/>
            <a:ext cx="715327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Operate and Support a System?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2600"/>
            <a:ext cx="4572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2362200" y="2667000"/>
            <a:ext cx="1981200" cy="1447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265475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>
                <a:latin typeface="+mj-lt"/>
              </a:rPr>
              <a:t>HOW?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and Support Planning</a:t>
            </a:r>
            <a:endParaRPr lang="en-US" dirty="0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5" y="1981200"/>
            <a:ext cx="874395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2971800" y="3124200"/>
            <a:ext cx="1524000" cy="20574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19600" y="1828800"/>
            <a:ext cx="1402948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>
                <a:latin typeface="+mj-lt"/>
              </a:rPr>
              <a:t>WHAT?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 descr="http://www.praqma.com/sites/default/files/img/it_network_support_servic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000500"/>
            <a:ext cx="3810000" cy="28575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System Support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support will be provided: email, online web-based chat service, live call center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Defect reporting</a:t>
            </a:r>
            <a:r>
              <a:rPr lang="en-US" sz="2400" dirty="0" smtClean="0"/>
              <a:t> and enhancement request strategy</a:t>
            </a:r>
          </a:p>
          <a:p>
            <a:r>
              <a:rPr lang="en-US" sz="2400" dirty="0" smtClean="0"/>
              <a:t>Defect prioritization and resolution time periods</a:t>
            </a:r>
          </a:p>
          <a:p>
            <a:r>
              <a:rPr lang="en-US" sz="2400" dirty="0" smtClean="0"/>
              <a:t>System contact personnel</a:t>
            </a:r>
          </a:p>
          <a:p>
            <a:r>
              <a:rPr lang="en-US" sz="2400" dirty="0" smtClean="0"/>
              <a:t>How to </a:t>
            </a:r>
            <a:r>
              <a:rPr lang="en-US" sz="2400" i="1" dirty="0" smtClean="0">
                <a:solidFill>
                  <a:srgbClr val="C00000"/>
                </a:solidFill>
              </a:rPr>
              <a:t>deliver fixes</a:t>
            </a:r>
            <a:r>
              <a:rPr lang="en-US" sz="2400" dirty="0" smtClean="0"/>
              <a:t> into production outside the scope of an official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System Operations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uptime commitments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Failover strategy</a:t>
            </a:r>
          </a:p>
          <a:p>
            <a:r>
              <a:rPr lang="en-US" dirty="0" smtClean="0"/>
              <a:t>System operating procedures</a:t>
            </a:r>
          </a:p>
          <a:p>
            <a:pPr lvl="1"/>
            <a:r>
              <a:rPr lang="en-US" dirty="0" smtClean="0"/>
              <a:t> "For this type of problem, first take this action; if that does not work, take that action. If the problem still exists after X minutes, take this action." </a:t>
            </a:r>
          </a:p>
          <a:p>
            <a:r>
              <a:rPr lang="en-US" dirty="0" smtClean="0"/>
              <a:t>Backup and restore procedures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monitoring products</a:t>
            </a:r>
          </a:p>
          <a:p>
            <a:pPr lvl="1"/>
            <a:r>
              <a:rPr lang="en-US" dirty="0" smtClean="0">
                <a:hlinkClick r:id="rId2"/>
              </a:rPr>
              <a:t>http://www.spiceworks.com/free-network-monitoring-management-software/</a:t>
            </a:r>
          </a:p>
          <a:p>
            <a:pPr lvl="1"/>
            <a:r>
              <a:rPr lang="en-US" dirty="0" smtClean="0">
                <a:hlinkClick r:id="rId2"/>
              </a:rPr>
              <a:t>https://www.pingdom.com/</a:t>
            </a:r>
            <a:endParaRPr lang="en-US" dirty="0" smtClean="0"/>
          </a:p>
          <a:p>
            <a:r>
              <a:rPr lang="en-US" dirty="0" smtClean="0"/>
              <a:t>Help desk suite</a:t>
            </a:r>
          </a:p>
          <a:p>
            <a:pPr lvl="1"/>
            <a:r>
              <a:rPr lang="en-US" dirty="0" smtClean="0">
                <a:hlinkClick r:id="rId3"/>
              </a:rPr>
              <a:t>http://www.spiceworks.com/free-help-desk-software/</a:t>
            </a:r>
          </a:p>
          <a:p>
            <a:pPr lvl="1"/>
            <a:r>
              <a:rPr lang="en-US" dirty="0" smtClean="0">
                <a:hlinkClick r:id="rId3"/>
              </a:rPr>
              <a:t>https://www.zendesk.com/</a:t>
            </a: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Maintain a System?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7925" y="1276350"/>
            <a:ext cx="4562475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Concurrent Releases</a:t>
            </a:r>
            <a:endParaRPr lang="en-US" dirty="0"/>
          </a:p>
        </p:txBody>
      </p:sp>
      <p:sp>
        <p:nvSpPr>
          <p:cNvPr id="1026" name="AutoShape 2" descr="mk:@MSITStore:D:\My%20Teaching\Software%20Project%20Management\References\14.%20The%20Rational%20Unified%20Process\Scott%20W.%20Ambler%20et%20al.%20The%20Enterprise%20Unified%20Process%20--%20Extending%20the%20Rational%20Unified%20Process.%202005.chm::/0131914510/images/0131914510/graphics/04fig04_alt.gif;379354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838" y="1524000"/>
            <a:ext cx="71723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 descr="http://joelabrahamsson.com/PageFiles/215/1646_198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4572000"/>
            <a:ext cx="2362200" cy="166687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4191000" y="5105400"/>
            <a:ext cx="45720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The Production phase for a system </a:t>
            </a:r>
            <a:r>
              <a:rPr lang="en-US" sz="2400" u="sng" dirty="0" smtClean="0"/>
              <a:t>ends</a:t>
            </a:r>
            <a:r>
              <a:rPr lang="en-US" sz="2400" dirty="0" smtClean="0"/>
              <a:t> when support for that release of the system has been withdrawn.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Did Not Create this System</a:t>
            </a:r>
            <a:endParaRPr lang="en-US" dirty="0"/>
          </a:p>
        </p:txBody>
      </p:sp>
      <p:pic>
        <p:nvPicPr>
          <p:cNvPr id="4" name="Picture 4">
            <a:hlinkClick r:id="rId2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295275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Want to Remove a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Systems are retired for various reasons: they are </a:t>
            </a:r>
            <a:r>
              <a:rPr lang="en-US" i="1" dirty="0" smtClean="0">
                <a:solidFill>
                  <a:srgbClr val="C00000"/>
                </a:solidFill>
              </a:rPr>
              <a:t>replaced</a:t>
            </a:r>
            <a:r>
              <a:rPr lang="en-US" dirty="0" smtClean="0"/>
              <a:t> by new ones, they become </a:t>
            </a:r>
            <a:r>
              <a:rPr lang="en-US" i="1" dirty="0" smtClean="0">
                <a:solidFill>
                  <a:srgbClr val="C00000"/>
                </a:solidFill>
              </a:rPr>
              <a:t>redundant</a:t>
            </a:r>
            <a:r>
              <a:rPr lang="en-US" dirty="0" smtClean="0"/>
              <a:t>, or they simply become obsolete and are </a:t>
            </a:r>
            <a:r>
              <a:rPr lang="en-US" i="1" dirty="0" smtClean="0">
                <a:solidFill>
                  <a:srgbClr val="C00000"/>
                </a:solidFill>
              </a:rPr>
              <a:t>no longer needed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05175" y="3657600"/>
            <a:ext cx="25336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How to Remove a Release or a System?</a:t>
            </a:r>
            <a:endParaRPr lang="en-US" sz="36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304925"/>
            <a:ext cx="53340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715000" y="5181600"/>
            <a:ext cx="312420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Programs to remove the system and its data</a:t>
            </a:r>
            <a:endParaRPr lang="en-US" sz="2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486400" y="43434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 Careful About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a proper analysis and design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9225" y="2266950"/>
            <a:ext cx="63055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Projects Failure</a:t>
            </a:r>
            <a:endParaRPr lang="en-US" dirty="0"/>
          </a:p>
        </p:txBody>
      </p:sp>
      <p:pic>
        <p:nvPicPr>
          <p:cNvPr id="6146" name="Picture 2" descr="http://www.digiclayinfotech.com/img/school-management-syste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2381250" cy="2381250"/>
          </a:xfrm>
          <a:prstGeom prst="rect">
            <a:avLst/>
          </a:prstGeom>
          <a:noFill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4191000"/>
            <a:ext cx="33147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://playbook.amanet.org/wp-content/uploads/2014/09/shutterstock_rescuing-a-project-from-failure-620x25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09900" y="1752600"/>
            <a:ext cx="590550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More Than One System</a:t>
            </a:r>
            <a:endParaRPr lang="en-US" dirty="0"/>
          </a:p>
        </p:txBody>
      </p:sp>
      <p:sp>
        <p:nvSpPr>
          <p:cNvPr id="2050" name="AutoShape 2" descr="mk:@MSITStore:D:\My%20Teaching\Software%20Project%20Management\References\14.%20The%20Rational%20Unified%20Process\Scott%20W.%20Ambler%20et%20al.%20The%20Enterprise%20Unified%20Process%20--%20Extending%20the%20Rational%20Unified%20Process.%202005.chm::/0131914510/images/0131914510/graphics/03fig04_alt.jpg;379354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413" y="1838325"/>
            <a:ext cx="787717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Capture Enterprise Level Business Needs?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76400"/>
          <a:ext cx="8002611" cy="4924715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676401"/>
                <a:gridCol w="6326210"/>
              </a:tblGrid>
              <a:tr h="21961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Artifact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Description</a:t>
                      </a:r>
                    </a:p>
                  </a:txBody>
                  <a:tcPr marL="28301" marR="28301" marT="28301" marB="28301"/>
                </a:tc>
              </a:tr>
              <a:tr h="70866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Enterprise business rules specification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The definition of the constraints that influence or guide the everyday workings of an organization.</a:t>
                      </a:r>
                    </a:p>
                  </a:txBody>
                  <a:tcPr marL="28301" marR="28301" marT="28301" marB="28301"/>
                </a:tc>
              </a:tr>
              <a:tr h="103470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Enterprise business process model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Captures the fundamental business processes, the external entities (customers, suppliers, partners, or competitors), and the major workflows between them.</a:t>
                      </a:r>
                    </a:p>
                  </a:txBody>
                  <a:tcPr marL="28301" marR="28301" marT="28301" marB="28301"/>
                </a:tc>
              </a:tr>
              <a:tr h="70866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Enterprise domain model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Depicts the main business entities of interest to an organization and their relationships.</a:t>
                      </a:r>
                    </a:p>
                  </a:txBody>
                  <a:tcPr marL="28301" marR="28301" marT="28301" marB="28301"/>
                </a:tc>
              </a:tr>
              <a:tr h="545651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Enterprise mission statement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statement of the strategies to be followed to achieve the enterprise vision.</a:t>
                      </a:r>
                    </a:p>
                  </a:txBody>
                  <a:tcPr marL="28301" marR="28301" marT="28301" marB="28301"/>
                </a:tc>
              </a:tr>
              <a:tr h="382635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Enterprise vision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statement of the primary goal(s) of an organization.</a:t>
                      </a:r>
                    </a:p>
                  </a:txBody>
                  <a:tcPr marL="28301" marR="28301" marT="28301" marB="28301"/>
                </a:tc>
              </a:tr>
              <a:tr h="70866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Organization model</a:t>
                      </a:r>
                    </a:p>
                  </a:txBody>
                  <a:tcPr marL="28301" marR="28301" marT="28301" marB="2830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 definition of the location, positions, organizational units, and their interrelationships within an enterprise.</a:t>
                      </a:r>
                    </a:p>
                  </a:txBody>
                  <a:tcPr marL="28301" marR="28301" marT="28301" marB="28301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Model Enterprise Business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343025"/>
            <a:ext cx="476250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2590800" y="1371600"/>
            <a:ext cx="1371600" cy="1447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43000" y="1752600"/>
            <a:ext cx="1265475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>
                <a:latin typeface="+mj-lt"/>
              </a:rPr>
              <a:t>HOW?</a:t>
            </a:r>
            <a:endParaRPr lang="en-US" sz="3200" dirty="0">
              <a:latin typeface="+mj-lt"/>
            </a:endParaRPr>
          </a:p>
        </p:txBody>
      </p:sp>
      <p:sp>
        <p:nvSpPr>
          <p:cNvPr id="7" name="Oval 6"/>
          <p:cNvSpPr/>
          <p:nvPr/>
        </p:nvSpPr>
        <p:spPr>
          <a:xfrm>
            <a:off x="2286000" y="3429000"/>
            <a:ext cx="1371600" cy="1143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3733800"/>
            <a:ext cx="1265475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>
                <a:latin typeface="+mj-lt"/>
              </a:rPr>
              <a:t>HOW?</a:t>
            </a:r>
            <a:endParaRPr lang="en-US" sz="3200" dirty="0">
              <a:latin typeface="+mj-lt"/>
            </a:endParaRPr>
          </a:p>
        </p:txBody>
      </p:sp>
      <p:sp>
        <p:nvSpPr>
          <p:cNvPr id="9" name="Oval 8"/>
          <p:cNvSpPr/>
          <p:nvPr/>
        </p:nvSpPr>
        <p:spPr>
          <a:xfrm>
            <a:off x="2362200" y="4648200"/>
            <a:ext cx="1371600" cy="1143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14400" y="4876800"/>
            <a:ext cx="1265475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>
                <a:latin typeface="+mj-lt"/>
              </a:rPr>
              <a:t>HOW?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Enterprise Strategy</a:t>
            </a:r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1714500"/>
            <a:ext cx="64293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3733800" y="3733800"/>
            <a:ext cx="1752600" cy="1447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4114800"/>
            <a:ext cx="3008317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>
                <a:latin typeface="+mj-lt"/>
              </a:rPr>
              <a:t>WHAT? – Values.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Collection of Martial Arts Studios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vision</a:t>
            </a:r>
            <a:r>
              <a:rPr lang="en-US" sz="2200" dirty="0" smtClean="0"/>
              <a:t> might read, "The XYZ Schools will help their students improve their minds, bodies, and spirits through training in the martial arts.“</a:t>
            </a:r>
          </a:p>
          <a:p>
            <a:r>
              <a:rPr lang="en-US" sz="2200" dirty="0" smtClean="0"/>
              <a:t>The </a:t>
            </a:r>
            <a:r>
              <a:rPr lang="en-US" sz="2200" i="1" dirty="0" smtClean="0">
                <a:solidFill>
                  <a:srgbClr val="C00000"/>
                </a:solidFill>
              </a:rPr>
              <a:t>mission statement</a:t>
            </a:r>
            <a:r>
              <a:rPr lang="en-US" sz="2200" dirty="0" smtClean="0"/>
              <a:t> may contain the following points:</a:t>
            </a:r>
          </a:p>
          <a:p>
            <a:pPr lvl="1"/>
            <a:r>
              <a:rPr lang="en-US" sz="1800" dirty="0" smtClean="0"/>
              <a:t>XYZ Schools will offer training in </a:t>
            </a:r>
            <a:r>
              <a:rPr lang="en-US" sz="1800" dirty="0" err="1" smtClean="0"/>
              <a:t>Goju</a:t>
            </a:r>
            <a:r>
              <a:rPr lang="en-US" sz="1800" dirty="0" smtClean="0"/>
              <a:t> </a:t>
            </a:r>
            <a:r>
              <a:rPr lang="en-US" sz="1800" dirty="0" err="1" smtClean="0"/>
              <a:t>Ryu</a:t>
            </a:r>
            <a:r>
              <a:rPr lang="en-US" sz="1800" dirty="0" smtClean="0"/>
              <a:t> karate, </a:t>
            </a:r>
            <a:r>
              <a:rPr lang="en-US" sz="1800" dirty="0" err="1" smtClean="0"/>
              <a:t>Kobudo</a:t>
            </a:r>
            <a:r>
              <a:rPr lang="en-US" sz="1800" dirty="0" smtClean="0"/>
              <a:t>, </a:t>
            </a:r>
            <a:r>
              <a:rPr lang="en-US" sz="1800" dirty="0" err="1" smtClean="0"/>
              <a:t>Ju</a:t>
            </a:r>
            <a:r>
              <a:rPr lang="en-US" sz="1800" dirty="0" smtClean="0"/>
              <a:t> </a:t>
            </a:r>
            <a:r>
              <a:rPr lang="en-US" sz="1800" dirty="0" err="1" smtClean="0"/>
              <a:t>Jitsu</a:t>
            </a:r>
            <a:r>
              <a:rPr lang="en-US" sz="1800" dirty="0" smtClean="0"/>
              <a:t>, and Taoist Tai Chi.</a:t>
            </a:r>
          </a:p>
          <a:p>
            <a:pPr lvl="1"/>
            <a:r>
              <a:rPr lang="en-US" sz="1800" dirty="0" smtClean="0"/>
              <a:t>Both adults and children (at least six years of age) will be encouraged to train.</a:t>
            </a:r>
          </a:p>
          <a:p>
            <a:pPr lvl="1"/>
            <a:r>
              <a:rPr lang="en-US" sz="1800" dirty="0" smtClean="0"/>
              <a:t>Martial arts philosophies and history will be intertwined into training classes.</a:t>
            </a:r>
          </a:p>
          <a:p>
            <a:pPr lvl="1"/>
            <a:r>
              <a:rPr lang="en-US" sz="1800" dirty="0" smtClean="0"/>
              <a:t>Respect for family, self, and country will be encouraged in training classes.</a:t>
            </a:r>
          </a:p>
          <a:p>
            <a:pPr lvl="1"/>
            <a:r>
              <a:rPr lang="en-US" sz="1800" dirty="0" smtClean="0"/>
              <a:t>XYZ Schools will work with external experts to bring specialized skills to their students.</a:t>
            </a:r>
          </a:p>
          <a:p>
            <a:pPr lvl="1"/>
            <a:r>
              <a:rPr lang="en-US" sz="1800" dirty="0" smtClean="0"/>
              <a:t>Camaraderie between students will be encouraged. We should be able to have fun while we're learning.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Business Processes</a:t>
            </a:r>
            <a:endParaRPr lang="en-US" dirty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38" y="1314450"/>
            <a:ext cx="5572125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 Modeling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Data flow diagram (DFD)</a:t>
            </a:r>
          </a:p>
          <a:p>
            <a:r>
              <a:rPr lang="en-US" sz="2600" dirty="0" smtClean="0"/>
              <a:t>Integrated Computer-Aided Manufacturing Definition (IDEF0) diagram</a:t>
            </a:r>
          </a:p>
          <a:p>
            <a:r>
              <a:rPr lang="en-US" sz="2600" dirty="0" smtClean="0"/>
              <a:t>Unified Modeling Language (UML) 2.0 Activity diagram</a:t>
            </a:r>
          </a:p>
          <a:p>
            <a:r>
              <a:rPr lang="en-US" sz="2600" dirty="0" smtClean="0"/>
              <a:t>Use case model</a:t>
            </a:r>
          </a:p>
          <a:p>
            <a:r>
              <a:rPr lang="en-US" sz="2600" dirty="0" smtClean="0"/>
              <a:t>Value stream map</a:t>
            </a:r>
          </a:p>
          <a:p>
            <a:r>
              <a:rPr lang="en-US" sz="2600" dirty="0" smtClean="0"/>
              <a:t>Business Process Modeling Notation (BPMN)</a:t>
            </a:r>
          </a:p>
          <a:p>
            <a:r>
              <a:rPr lang="en-US" sz="2600" dirty="0" smtClean="0"/>
              <a:t>Detailed modeling:</a:t>
            </a:r>
          </a:p>
          <a:p>
            <a:pPr lvl="1"/>
            <a:r>
              <a:rPr lang="en-US" sz="2200" dirty="0" smtClean="0"/>
              <a:t>Business process execution language (BPEL)</a:t>
            </a:r>
          </a:p>
          <a:p>
            <a:pPr lvl="1"/>
            <a:r>
              <a:rPr lang="en-US" sz="2200" dirty="0" smtClean="0"/>
              <a:t>Object constraint language (OCL)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Business Process Diagram for XYZ Schools</a:t>
            </a:r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0" y="2133600"/>
            <a:ext cx="66675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600" dirty="0" smtClean="0"/>
              <a:t>Identify Process Implementation Options</a:t>
            </a:r>
            <a:endParaRPr lang="en-US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990600"/>
            <a:ext cx="4953000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4953000" y="3581400"/>
            <a:ext cx="1752600" cy="1447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53200" y="2514600"/>
            <a:ext cx="2286000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>
                <a:latin typeface="+mj-lt"/>
              </a:rPr>
              <a:t>WHAT TO AUTOMATE?</a:t>
            </a:r>
            <a:endParaRPr lang="en-US" sz="3200" b="1" dirty="0">
              <a:latin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the Domain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3525" y="1371600"/>
            <a:ext cx="607695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Modeling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Responsibility Collaborator (CRC) cards</a:t>
            </a:r>
          </a:p>
          <a:p>
            <a:r>
              <a:rPr lang="en-US" dirty="0" smtClean="0"/>
              <a:t>Logical Data Model</a:t>
            </a:r>
          </a:p>
          <a:p>
            <a:r>
              <a:rPr lang="en-US" dirty="0" smtClean="0"/>
              <a:t>UML 2 Class Diagram</a:t>
            </a:r>
          </a:p>
          <a:p>
            <a:r>
              <a:rPr lang="en-US" dirty="0" smtClean="0"/>
              <a:t>UML 2 Component Diagram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Enterprise Domain Model for XYZ Schools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563" y="1543050"/>
            <a:ext cx="8524875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the Organization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1457325"/>
            <a:ext cx="642937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Organization Model for XYZ Schools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88" y="1647825"/>
            <a:ext cx="7286625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for </a:t>
            </a:r>
            <a:r>
              <a:rPr lang="en-US" dirty="0" smtClean="0"/>
              <a:t>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10618</TotalTime>
  <Words>852</Words>
  <Application>Microsoft Office PowerPoint</Application>
  <PresentationFormat>On-screen Show (4:3)</PresentationFormat>
  <Paragraphs>109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The Enterprise Unified Process</vt:lpstr>
      <vt:lpstr>Objectives</vt:lpstr>
      <vt:lpstr>Books And Reading</vt:lpstr>
      <vt:lpstr>Is Development Enough? [1]</vt:lpstr>
      <vt:lpstr>Is Development Enough? [1]</vt:lpstr>
      <vt:lpstr>How Do We Operate and Support a System?</vt:lpstr>
      <vt:lpstr>Operations and Support Planning</vt:lpstr>
      <vt:lpstr>The System Support Plan</vt:lpstr>
      <vt:lpstr>The System Operations Plan</vt:lpstr>
      <vt:lpstr>Tools</vt:lpstr>
      <vt:lpstr>Slide 11</vt:lpstr>
      <vt:lpstr>How Do We Maintain a System?</vt:lpstr>
      <vt:lpstr>Handling Concurrent Releases</vt:lpstr>
      <vt:lpstr>We Did Not Create this System</vt:lpstr>
      <vt:lpstr>We Want to Remove a System</vt:lpstr>
      <vt:lpstr>How to Remove a Release or a System?</vt:lpstr>
      <vt:lpstr>Be Careful About This</vt:lpstr>
      <vt:lpstr>Slide 18</vt:lpstr>
      <vt:lpstr>Enterprise Projects Failure</vt:lpstr>
      <vt:lpstr>We Have More Than One System</vt:lpstr>
      <vt:lpstr>How to Capture Enterprise Level Business Needs?</vt:lpstr>
      <vt:lpstr>How To Model Enterprise Business</vt:lpstr>
      <vt:lpstr>Define Enterprise Strategy</vt:lpstr>
      <vt:lpstr>A Collection of Martial Arts Studios</vt:lpstr>
      <vt:lpstr>Model Business Processes</vt:lpstr>
      <vt:lpstr>Business Process Modeling Tools</vt:lpstr>
      <vt:lpstr>A Business Process Diagram for XYZ Schools</vt:lpstr>
      <vt:lpstr>Identify Process Implementation Options</vt:lpstr>
      <vt:lpstr>Model the Domain</vt:lpstr>
      <vt:lpstr>Domain Modeling Tools</vt:lpstr>
      <vt:lpstr>An Enterprise Domain Model for XYZ Schools</vt:lpstr>
      <vt:lpstr>Model the Organization</vt:lpstr>
      <vt:lpstr>An Organization Model for XYZ Schools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HuyBien</cp:lastModifiedBy>
  <cp:revision>3489</cp:revision>
  <dcterms:created xsi:type="dcterms:W3CDTF">2007-10-06T08:25:13Z</dcterms:created>
  <dcterms:modified xsi:type="dcterms:W3CDTF">2016-01-11T17:37:45Z</dcterms:modified>
</cp:coreProperties>
</file>