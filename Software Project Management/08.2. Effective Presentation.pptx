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18"/>
  </p:notesMasterIdLst>
  <p:handoutMasterIdLst>
    <p:handoutMasterId r:id="rId19"/>
  </p:handoutMasterIdLst>
  <p:sldIdLst>
    <p:sldId id="256" r:id="rId2"/>
    <p:sldId id="443" r:id="rId3"/>
    <p:sldId id="559" r:id="rId4"/>
    <p:sldId id="779" r:id="rId5"/>
    <p:sldId id="778" r:id="rId6"/>
    <p:sldId id="656" r:id="rId7"/>
    <p:sldId id="657" r:id="rId8"/>
    <p:sldId id="658" r:id="rId9"/>
    <p:sldId id="659" r:id="rId10"/>
    <p:sldId id="660" r:id="rId11"/>
    <p:sldId id="711" r:id="rId12"/>
    <p:sldId id="780" r:id="rId13"/>
    <p:sldId id="781" r:id="rId14"/>
    <p:sldId id="782" r:id="rId15"/>
    <p:sldId id="663" r:id="rId16"/>
    <p:sldId id="343" r:id="rId1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18" autoAdjust="0"/>
    <p:restoredTop sz="82552" autoAdjust="0"/>
  </p:normalViewPr>
  <p:slideViewPr>
    <p:cSldViewPr>
      <p:cViewPr>
        <p:scale>
          <a:sx n="50" d="100"/>
          <a:sy n="50" d="100"/>
        </p:scale>
        <p:origin x="-1584" y="-2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6F6B56-B206-47E3-8148-295925D85CD2}" type="datetimeFigureOut">
              <a:rPr lang="en-US" smtClean="0"/>
              <a:pPr/>
              <a:t>11/8/2022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944A64-02B1-4818-8227-23FA0B7646E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5A2214-4B2A-4BA1-95DD-123857D5F02A}" type="datetimeFigureOut">
              <a:rPr lang="en-US" smtClean="0"/>
              <a:pPr/>
              <a:t>11/8/2022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5589A3-3554-4210-9B13-D13DEBC6CFF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11/8/2022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11/8/2022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11/8/2022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11/8/2022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11/8/2022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11/8/2022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11/8/2022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11/8/2022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11/8/2022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11/8/2022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11/8/2022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11/8/2022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garrreynolds.com/preso-tips/design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www.mindmanager.com/en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hyperlink" Target="https://cmap.ihmc.us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hyperlink" Target="https://www.youtube.com/watch?v=PimSbFGrwX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nzc731iCUY" TargetMode="External"/><Relationship Id="rId2" Type="http://schemas.openxmlformats.org/officeDocument/2006/relationships/hyperlink" Target="https://www.youtube.com/watch?v=sh3EPjhhd4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Effective Presentation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1"/>
            <a:ext cx="5791200" cy="4190999"/>
          </a:xfrm>
        </p:spPr>
        <p:txBody>
          <a:bodyPr/>
          <a:lstStyle/>
          <a:p>
            <a:pPr marL="514350" indent="-45720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dirty="0" smtClean="0"/>
              <a:t>prepare and make a </a:t>
            </a:r>
            <a:r>
              <a:rPr lang="en-US" sz="2400" i="1" dirty="0" smtClean="0">
                <a:solidFill>
                  <a:srgbClr val="C00000"/>
                </a:solidFill>
              </a:rPr>
              <a:t>presentation</a:t>
            </a:r>
            <a:r>
              <a:rPr lang="en-US" sz="2400" dirty="0" smtClean="0"/>
              <a:t>.</a:t>
            </a:r>
            <a:endParaRPr lang="en-US" sz="2400" i="1" dirty="0" smtClean="0">
              <a:solidFill>
                <a:srgbClr val="C00000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769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Presentation Tips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Mind </a:t>
            </a:r>
            <a:r>
              <a:rPr lang="en-US" sz="2400" dirty="0" smtClean="0"/>
              <a:t>Map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Concept Map</a:t>
            </a: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Language &amp; Perception</a:t>
            </a: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How to Market </a:t>
            </a:r>
            <a:r>
              <a:rPr lang="en-US" sz="2400" dirty="0" smtClean="0"/>
              <a:t>Your Idea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809750"/>
            <a:ext cx="2724150" cy="413385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57150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John W. Budd (2003). Mind Maps as Classroom Exercises.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Joseph D. Novak (2006). The Theory Underlying Concept Maps and How.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Nancy Duarte (2008). </a:t>
            </a:r>
            <a:r>
              <a:rPr lang="en-US" sz="2400" dirty="0" err="1" smtClean="0"/>
              <a:t>Slide:ology</a:t>
            </a:r>
            <a:r>
              <a:rPr lang="en-US" sz="2400" dirty="0" smtClean="0"/>
              <a:t>.</a:t>
            </a: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http://i0.wp.com/thebusinesscommunication.com/wp-content/uploads/2013/11/What-is-a-communication-barriers.jpg?resize=560%2C42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7800" y="2743200"/>
            <a:ext cx="2844800" cy="21336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Effective Presentation?</a:t>
            </a:r>
            <a:endParaRPr lang="en-US" dirty="0"/>
          </a:p>
        </p:txBody>
      </p:sp>
      <p:pic>
        <p:nvPicPr>
          <p:cNvPr id="22530" name="Picture 2" descr="https://sethkorn.wikispaces.com/file/view/Picture6.gif/296362124/Picture6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3352800"/>
            <a:ext cx="1866900" cy="1524000"/>
          </a:xfrm>
          <a:prstGeom prst="rect">
            <a:avLst/>
          </a:prstGeom>
          <a:noFill/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Communication </a:t>
            </a:r>
            <a:r>
              <a:rPr lang="en-US" dirty="0" smtClean="0"/>
              <a:t>issue.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Presentation Tips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72200" y="1295400"/>
            <a:ext cx="2257425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5000" y="3733800"/>
            <a:ext cx="3053954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6" name="Rectangle 35"/>
          <p:cNvSpPr/>
          <p:nvPr/>
        </p:nvSpPr>
        <p:spPr>
          <a:xfrm>
            <a:off x="381000" y="1712416"/>
            <a:ext cx="51816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Courier New" pitchFamily="49" charset="0"/>
              <a:buChar char="o"/>
            </a:pPr>
            <a:r>
              <a:rPr lang="en-US" sz="2400" dirty="0" smtClean="0">
                <a:latin typeface="+mj-lt"/>
              </a:rPr>
              <a:t>The Preparation</a:t>
            </a:r>
          </a:p>
          <a:p>
            <a:pPr marL="514350" indent="-514350">
              <a:buFont typeface="Courier New" pitchFamily="49" charset="0"/>
              <a:buChar char="o"/>
            </a:pPr>
            <a:endParaRPr lang="en-US" sz="2400" dirty="0" smtClean="0">
              <a:latin typeface="+mj-lt"/>
            </a:endParaRPr>
          </a:p>
          <a:p>
            <a:pPr marL="514350" indent="-514350">
              <a:buFont typeface="Courier New" pitchFamily="49" charset="0"/>
              <a:buChar char="o"/>
            </a:pP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The Problem</a:t>
            </a:r>
            <a:r>
              <a:rPr lang="en-US" sz="2400" dirty="0" smtClean="0">
                <a:solidFill>
                  <a:srgbClr val="C00000"/>
                </a:solidFill>
                <a:latin typeface="+mj-lt"/>
              </a:rPr>
              <a:t>,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The Solution</a:t>
            </a:r>
          </a:p>
          <a:p>
            <a:pPr marL="514350" indent="-514350">
              <a:buFont typeface="Courier New" pitchFamily="49" charset="0"/>
              <a:buChar char="o"/>
            </a:pPr>
            <a:endParaRPr lang="en-US" sz="2400" i="1" dirty="0" smtClean="0">
              <a:solidFill>
                <a:srgbClr val="C00000"/>
              </a:solidFill>
              <a:latin typeface="+mj-lt"/>
            </a:endParaRPr>
          </a:p>
          <a:p>
            <a:pPr marL="514350" indent="-514350">
              <a:buFont typeface="Courier New" pitchFamily="49" charset="0"/>
              <a:buChar char="o"/>
            </a:pPr>
            <a:r>
              <a:rPr lang="en-US" sz="2400" dirty="0" smtClean="0">
                <a:latin typeface="+mj-lt"/>
              </a:rPr>
              <a:t>What, How, Why, Who, When</a:t>
            </a:r>
          </a:p>
          <a:p>
            <a:pPr marL="514350" indent="-514350">
              <a:buFont typeface="Courier New" pitchFamily="49" charset="0"/>
              <a:buChar char="o"/>
            </a:pPr>
            <a:endParaRPr lang="en-US" sz="2400" dirty="0" smtClean="0">
              <a:latin typeface="+mj-lt"/>
            </a:endParaRPr>
          </a:p>
          <a:p>
            <a:pPr marL="514350" indent="-514350">
              <a:buFont typeface="Courier New" pitchFamily="49" charset="0"/>
              <a:buChar char="o"/>
            </a:pPr>
            <a:r>
              <a:rPr lang="en-US" sz="2400" dirty="0" smtClean="0">
                <a:latin typeface="+mj-lt"/>
              </a:rPr>
              <a:t>The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Eyes</a:t>
            </a:r>
            <a:r>
              <a:rPr lang="en-US" sz="2400" dirty="0" smtClean="0">
                <a:latin typeface="+mj-lt"/>
              </a:rPr>
              <a:t>, The Voice, The Expression, The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Speed</a:t>
            </a:r>
            <a:r>
              <a:rPr lang="en-US" sz="2400" dirty="0" smtClean="0">
                <a:latin typeface="+mj-lt"/>
              </a:rPr>
              <a:t>, The Smiles</a:t>
            </a:r>
          </a:p>
          <a:p>
            <a:pPr marL="514350" indent="-514350">
              <a:buFont typeface="Courier New" pitchFamily="49" charset="0"/>
              <a:buChar char="o"/>
            </a:pPr>
            <a:endParaRPr lang="en-US" sz="2400" dirty="0" smtClean="0">
              <a:latin typeface="+mj-lt"/>
            </a:endParaRPr>
          </a:p>
          <a:p>
            <a:pPr marL="514350" indent="-514350">
              <a:buFont typeface="Courier New" pitchFamily="49" charset="0"/>
              <a:buChar char="o"/>
            </a:pPr>
            <a:r>
              <a:rPr lang="en-US" sz="2400" dirty="0" smtClean="0">
                <a:latin typeface="+mj-lt"/>
              </a:rPr>
              <a:t>Pictures, Jokes, Natural,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Short</a:t>
            </a:r>
            <a:r>
              <a:rPr lang="en-US" sz="2400" dirty="0" smtClean="0">
                <a:latin typeface="+mj-lt"/>
              </a:rPr>
              <a:t>, Sweet,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Self-Confident</a:t>
            </a:r>
            <a:r>
              <a:rPr lang="en-US" sz="2400" dirty="0" smtClean="0">
                <a:latin typeface="+mj-lt"/>
              </a:rPr>
              <a:t>, Rehearsal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Spaces, Contrast and Alignment </a:t>
            </a:r>
            <a:r>
              <a:rPr lang="en-US" sz="4200" dirty="0" smtClean="0"/>
              <a:t>[1]</a:t>
            </a:r>
            <a:endParaRPr lang="en-US" sz="4200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81225" y="1371600"/>
            <a:ext cx="4781550" cy="252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0" y="4267200"/>
            <a:ext cx="4048125" cy="221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Straight Connector 10"/>
          <p:cNvCxnSpPr/>
          <p:nvPr/>
        </p:nvCxnSpPr>
        <p:spPr>
          <a:xfrm>
            <a:off x="457200" y="4038600"/>
            <a:ext cx="845820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 Versus Images</a:t>
            </a:r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457200" y="4038600"/>
            <a:ext cx="845820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7888" y="1714500"/>
            <a:ext cx="4848225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00300" y="4267200"/>
            <a:ext cx="4343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1219200" y="6096000"/>
            <a:ext cx="6934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i="1" dirty="0" smtClean="0">
                <a:solidFill>
                  <a:srgbClr val="C00000"/>
                </a:solidFill>
                <a:latin typeface="+mj-lt"/>
              </a:rPr>
              <a:t>You cannot read and listen at the same time.</a:t>
            </a:r>
            <a:endParaRPr lang="en-US" sz="2800" i="1" dirty="0">
              <a:solidFill>
                <a:srgbClr val="C00000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Colors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3600" y="1600200"/>
            <a:ext cx="4867275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86225" y="3200400"/>
            <a:ext cx="4905375" cy="294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1925" y="3219450"/>
            <a:ext cx="3800475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Boxes</a:t>
            </a:r>
            <a:endParaRPr 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076450"/>
            <a:ext cx="3990975" cy="333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0625" y="2076450"/>
            <a:ext cx="3914775" cy="333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Straight Connector 8"/>
          <p:cNvCxnSpPr/>
          <p:nvPr/>
        </p:nvCxnSpPr>
        <p:spPr>
          <a:xfrm>
            <a:off x="4648200" y="1524000"/>
            <a:ext cx="0" cy="480060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Tips for Designing Slide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https://www.garrreynolds.com/preso-tips/design/</a:t>
            </a:r>
            <a:endParaRPr lang="en-US" sz="2400" dirty="0" smtClean="0"/>
          </a:p>
          <a:p>
            <a:r>
              <a:rPr lang="en-US" sz="2400" dirty="0" smtClean="0"/>
              <a:t>Keep it simple</a:t>
            </a:r>
          </a:p>
          <a:p>
            <a:r>
              <a:rPr lang="en-US" sz="2400" dirty="0" smtClean="0"/>
              <a:t>Limit bullet points &amp; text</a:t>
            </a:r>
          </a:p>
          <a:p>
            <a:r>
              <a:rPr lang="en-US" sz="2400" dirty="0" smtClean="0"/>
              <a:t>Limit transitions &amp; builds (animation)</a:t>
            </a:r>
          </a:p>
          <a:p>
            <a:r>
              <a:rPr lang="en-US" sz="2400" dirty="0" smtClean="0"/>
              <a:t>Use high-quality graphics</a:t>
            </a:r>
          </a:p>
          <a:p>
            <a:endParaRPr lang="en-US" sz="2400" dirty="0"/>
          </a:p>
        </p:txBody>
      </p:sp>
      <p:pic>
        <p:nvPicPr>
          <p:cNvPr id="4" name="Picture 6" descr="http://images.clipartpanda.com/reading-clipart-organize-partner-work-with-whisper-partners-bright-ideas-may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24200" y="4114800"/>
            <a:ext cx="3048000" cy="213931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Mind Map </a:t>
            </a:r>
            <a:r>
              <a:rPr lang="en-US" dirty="0" smtClean="0"/>
              <a:t>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mind map</a:t>
            </a:r>
            <a:r>
              <a:rPr lang="en-US" sz="2400" dirty="0" smtClean="0"/>
              <a:t> is a form of an </a:t>
            </a:r>
            <a:r>
              <a:rPr lang="en-US" sz="2400" u="sng" dirty="0" smtClean="0"/>
              <a:t>outline</a:t>
            </a:r>
            <a:r>
              <a:rPr lang="en-US" sz="2400" dirty="0" smtClean="0"/>
              <a:t> with ideas and pictures </a:t>
            </a:r>
            <a:r>
              <a:rPr lang="en-US" sz="2400" u="sng" dirty="0" smtClean="0"/>
              <a:t>radiating out</a:t>
            </a:r>
            <a:r>
              <a:rPr lang="en-US" sz="2400" dirty="0" smtClean="0"/>
              <a:t> from a central concept.</a:t>
            </a:r>
          </a:p>
          <a:p>
            <a:r>
              <a:rPr lang="en-US" sz="2400" dirty="0" smtClean="0">
                <a:hlinkClick r:id="rId2"/>
              </a:rPr>
              <a:t>https://www.mindmanager.com/en/</a:t>
            </a:r>
            <a:endParaRPr lang="en-US" sz="2400" dirty="0" smtClean="0"/>
          </a:p>
          <a:p>
            <a:endParaRPr lang="en-US" sz="2400" dirty="0" smtClean="0"/>
          </a:p>
          <a:p>
            <a:endParaRPr lang="en-US" sz="2400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38400" y="3276600"/>
            <a:ext cx="3987165" cy="290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Concept Map </a:t>
            </a:r>
            <a:r>
              <a:rPr lang="en-US" dirty="0" smtClean="0"/>
              <a:t>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666999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Concept maps</a:t>
            </a:r>
            <a:r>
              <a:rPr lang="en-US" sz="2400" dirty="0" smtClean="0"/>
              <a:t> are </a:t>
            </a:r>
            <a:r>
              <a:rPr lang="en-US" sz="2400" u="sng" dirty="0" smtClean="0"/>
              <a:t>graphical tools</a:t>
            </a:r>
            <a:r>
              <a:rPr lang="en-US" sz="2400" dirty="0" smtClean="0"/>
              <a:t> for organizing and representing knowledge.</a:t>
            </a:r>
          </a:p>
          <a:p>
            <a:r>
              <a:rPr lang="en-US" sz="2400" dirty="0" smtClean="0"/>
              <a:t>They include </a:t>
            </a:r>
            <a:r>
              <a:rPr lang="en-US" sz="2400" i="1" dirty="0" smtClean="0">
                <a:solidFill>
                  <a:srgbClr val="C00000"/>
                </a:solidFill>
              </a:rPr>
              <a:t>concepts</a:t>
            </a:r>
            <a:r>
              <a:rPr lang="en-US" sz="2400" dirty="0" smtClean="0"/>
              <a:t>, usually enclosed in circles or boxes of some type, and </a:t>
            </a:r>
            <a:r>
              <a:rPr lang="en-US" sz="2400" i="1" dirty="0" smtClean="0">
                <a:solidFill>
                  <a:srgbClr val="C00000"/>
                </a:solidFill>
              </a:rPr>
              <a:t>relationships</a:t>
            </a:r>
            <a:r>
              <a:rPr lang="en-US" sz="2400" dirty="0" smtClean="0"/>
              <a:t> between concepts indicated by a connecting line linking two concepts.</a:t>
            </a:r>
          </a:p>
          <a:p>
            <a:r>
              <a:rPr lang="en-US" sz="2400" dirty="0" smtClean="0">
                <a:hlinkClick r:id="rId2"/>
              </a:rPr>
              <a:t>https://cmap.ihmc.us/</a:t>
            </a:r>
            <a:endParaRPr lang="en-US" sz="2400" dirty="0" smtClean="0"/>
          </a:p>
        </p:txBody>
      </p:sp>
      <p:pic>
        <p:nvPicPr>
          <p:cNvPr id="56322" name="Picture 2" descr="https://sherman.library.nova.edu/sites/learn/files/2015/10/introduction_to_research-concept_maps10-201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00" y="4267200"/>
            <a:ext cx="3964686" cy="224218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Language &amp; Perception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Description of events ↔ </a:t>
            </a:r>
            <a:r>
              <a:rPr lang="en-US" sz="2400" i="1" dirty="0" smtClean="0">
                <a:solidFill>
                  <a:srgbClr val="C00000"/>
                </a:solidFill>
              </a:rPr>
              <a:t>Language</a:t>
            </a:r>
            <a:r>
              <a:rPr lang="en-US" sz="2400" dirty="0" smtClean="0"/>
              <a:t> ↔ Perception</a:t>
            </a:r>
          </a:p>
          <a:p>
            <a:r>
              <a:rPr lang="en-US" sz="2400" dirty="0" smtClean="0"/>
              <a:t>Look, listen, draw, and talk.</a:t>
            </a:r>
          </a:p>
          <a:p>
            <a:pPr lvl="1"/>
            <a:r>
              <a:rPr lang="en-US" sz="2200" dirty="0" smtClean="0"/>
              <a:t>Why? – Because they force the engagement of your linguistic motor and your visual apparatus.</a:t>
            </a:r>
          </a:p>
          <a:p>
            <a:r>
              <a:rPr lang="en-US" sz="2400" dirty="0" smtClean="0"/>
              <a:t>Beware of </a:t>
            </a:r>
            <a:r>
              <a:rPr lang="en-US" sz="2400" i="1" dirty="0" smtClean="0">
                <a:solidFill>
                  <a:srgbClr val="C00000"/>
                </a:solidFill>
              </a:rPr>
              <a:t>fast talkers</a:t>
            </a:r>
            <a:r>
              <a:rPr lang="en-US" sz="2400" dirty="0" smtClean="0"/>
              <a:t>.</a:t>
            </a:r>
          </a:p>
          <a:p>
            <a:pPr lvl="1"/>
            <a:r>
              <a:rPr lang="en-US" sz="2200" dirty="0" smtClean="0"/>
              <a:t>Why? – It's because that when they talk fast they're jamming your language processor and you can't think.</a:t>
            </a:r>
          </a:p>
          <a:p>
            <a:pPr lvl="1"/>
            <a:r>
              <a:rPr lang="en-US" sz="2200" dirty="0" smtClean="0">
                <a:hlinkClick r:id="rId2"/>
              </a:rPr>
              <a:t>https://www.youtube.com/watch?v=PimSbFGrwXM</a:t>
            </a:r>
            <a:endParaRPr lang="en-US" sz="2200" dirty="0" smtClean="0"/>
          </a:p>
          <a:p>
            <a:pPr lvl="1">
              <a:buNone/>
            </a:pPr>
            <a:endParaRPr lang="en-US" sz="2400" dirty="0" smtClean="0"/>
          </a:p>
          <a:p>
            <a:endParaRPr lang="en-US" dirty="0"/>
          </a:p>
        </p:txBody>
      </p:sp>
      <p:pic>
        <p:nvPicPr>
          <p:cNvPr id="4" name="Picture 4" descr="https://www.eecs.mit.edu/sites/default/files/person-photos/winston_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81400" y="5105400"/>
            <a:ext cx="1270000" cy="1301750"/>
          </a:xfrm>
          <a:prstGeom prst="rect">
            <a:avLst/>
          </a:prstGeom>
          <a:noFill/>
        </p:spPr>
      </p:pic>
      <p:pic>
        <p:nvPicPr>
          <p:cNvPr id="5" name="Picture 2" descr="http://menscompletelife.com/wp-content/uploads/2018/03/Talk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95400" y="4953000"/>
            <a:ext cx="1320165" cy="1524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/>
            <a:r>
              <a:rPr lang="en-US" dirty="0" smtClean="0"/>
              <a:t>How to Market Your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48200"/>
          </a:xfrm>
        </p:spPr>
        <p:txBody>
          <a:bodyPr/>
          <a:lstStyle/>
          <a:p>
            <a:r>
              <a:rPr lang="en-US" sz="2800" b="1" i="1" dirty="0" smtClean="0">
                <a:solidFill>
                  <a:srgbClr val="C00000"/>
                </a:solidFill>
              </a:rPr>
              <a:t>You can't learn unless you almost know already.</a:t>
            </a:r>
          </a:p>
          <a:p>
            <a:endParaRPr lang="en-US" sz="2800" dirty="0" smtClean="0"/>
          </a:p>
          <a:p>
            <a:r>
              <a:rPr lang="en-US" sz="2800" dirty="0" smtClean="0"/>
              <a:t>Symbol (Arch)</a:t>
            </a:r>
          </a:p>
          <a:p>
            <a:r>
              <a:rPr lang="en-US" sz="2800" dirty="0" smtClean="0"/>
              <a:t>Slogan (Near Miss)</a:t>
            </a:r>
          </a:p>
          <a:p>
            <a:r>
              <a:rPr lang="en-US" sz="2800" dirty="0" smtClean="0"/>
              <a:t>Surprise (One-shot learning)</a:t>
            </a:r>
          </a:p>
          <a:p>
            <a:r>
              <a:rPr lang="en-US" sz="2800" dirty="0" smtClean="0"/>
              <a:t>Salient (“Stick out”)</a:t>
            </a:r>
          </a:p>
          <a:p>
            <a:r>
              <a:rPr lang="en-US" sz="2800" dirty="0" smtClean="0"/>
              <a:t>Story</a:t>
            </a:r>
          </a:p>
          <a:p>
            <a:r>
              <a:rPr lang="en-US" sz="2800" dirty="0" smtClean="0">
                <a:hlinkClick r:id="rId2"/>
              </a:rPr>
              <a:t>https://www.youtube.com/watch?v=sh3EPjhhd40</a:t>
            </a:r>
            <a:endParaRPr lang="en-US" sz="2800" dirty="0" smtClean="0"/>
          </a:p>
          <a:p>
            <a:r>
              <a:rPr lang="en-US" sz="2800" dirty="0" smtClean="0">
                <a:hlinkClick r:id="rId3"/>
              </a:rPr>
              <a:t>https://www.youtube.com/watch?v=Unzc731iCUY</a:t>
            </a:r>
            <a:endParaRPr lang="en-US" sz="2800" dirty="0" smtClean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62600" y="2743200"/>
            <a:ext cx="2390775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14416</TotalTime>
  <Words>372</Words>
  <Application>Microsoft Office PowerPoint</Application>
  <PresentationFormat>On-screen Show (4:3)</PresentationFormat>
  <Paragraphs>67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Effective Presentation</vt:lpstr>
      <vt:lpstr>Objectives</vt:lpstr>
      <vt:lpstr>Contents</vt:lpstr>
      <vt:lpstr>References</vt:lpstr>
      <vt:lpstr>Why Effective Presentation?</vt:lpstr>
      <vt:lpstr>Presentation Tips</vt:lpstr>
      <vt:lpstr>Spaces, Contrast and Alignment [1]</vt:lpstr>
      <vt:lpstr>Text Versus Images</vt:lpstr>
      <vt:lpstr>Colors</vt:lpstr>
      <vt:lpstr>Boxes</vt:lpstr>
      <vt:lpstr>Tips for Designing Slide</vt:lpstr>
      <vt:lpstr>Mind Map [2]</vt:lpstr>
      <vt:lpstr>Concept Map [3]</vt:lpstr>
      <vt:lpstr>Language &amp; Perception</vt:lpstr>
      <vt:lpstr>How to Market Your Idea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6088</cp:revision>
  <dcterms:created xsi:type="dcterms:W3CDTF">2007-10-06T08:25:13Z</dcterms:created>
  <dcterms:modified xsi:type="dcterms:W3CDTF">2022-11-07T17:21:08Z</dcterms:modified>
</cp:coreProperties>
</file>