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0"/>
  </p:notesMasterIdLst>
  <p:handoutMasterIdLst>
    <p:handoutMasterId r:id="rId21"/>
  </p:handoutMasterIdLst>
  <p:sldIdLst>
    <p:sldId id="256" r:id="rId2"/>
    <p:sldId id="430" r:id="rId3"/>
    <p:sldId id="504" r:id="rId4"/>
    <p:sldId id="431" r:id="rId5"/>
    <p:sldId id="506" r:id="rId6"/>
    <p:sldId id="519" r:id="rId7"/>
    <p:sldId id="513" r:id="rId8"/>
    <p:sldId id="514" r:id="rId9"/>
    <p:sldId id="516" r:id="rId10"/>
    <p:sldId id="509" r:id="rId11"/>
    <p:sldId id="520" r:id="rId12"/>
    <p:sldId id="521" r:id="rId13"/>
    <p:sldId id="510" r:id="rId14"/>
    <p:sldId id="515" r:id="rId15"/>
    <p:sldId id="511" r:id="rId16"/>
    <p:sldId id="512" r:id="rId17"/>
    <p:sldId id="517" r:id="rId18"/>
    <p:sldId id="435" r:id="rId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3" autoAdjust="0"/>
    <p:restoredTop sz="90614" autoAdjust="0"/>
  </p:normalViewPr>
  <p:slideViewPr>
    <p:cSldViewPr>
      <p:cViewPr>
        <p:scale>
          <a:sx n="50" d="100"/>
          <a:sy n="50" d="100"/>
        </p:scale>
        <p:origin x="-1544" y="-3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12EEB-C7B7-4C23-8FB7-0A591F49244D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71026-BB6B-406D-800B-CCE6A61D74C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FFD4D-3F2F-41C7-82E0-EA9E09F0254F}" type="datetimeFigureOut">
              <a:rPr lang="en-US" smtClean="0"/>
              <a:pPr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599AA-89B5-4E53-9441-A8FD65B04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D599AA-89B5-4E53-9441-A8FD65B04516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Agile Risk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638800" cy="43433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identify</a:t>
            </a:r>
            <a:r>
              <a:rPr lang="en-US" sz="2400" dirty="0" smtClean="0"/>
              <a:t> project risks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analyze</a:t>
            </a:r>
            <a:r>
              <a:rPr lang="en-US" sz="2400" dirty="0" smtClean="0"/>
              <a:t> project risks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propose and select risk </a:t>
            </a:r>
            <a:r>
              <a:rPr lang="en-US" sz="2400" i="1" dirty="0" smtClean="0">
                <a:solidFill>
                  <a:srgbClr val="C00000"/>
                </a:solidFill>
              </a:rPr>
              <a:t>responses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risk management </a:t>
            </a:r>
            <a:r>
              <a:rPr lang="en-US" sz="2400" i="1" dirty="0" smtClean="0">
                <a:solidFill>
                  <a:srgbClr val="C00000"/>
                </a:solidFill>
              </a:rPr>
              <a:t>plan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monitor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track</a:t>
            </a:r>
            <a:r>
              <a:rPr lang="en-US" sz="2400" dirty="0" smtClean="0"/>
              <a:t> project risks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1336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Risk list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Risk mitigation stories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Risk exposure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Risk contingency stories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5943600" cy="44196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400" dirty="0" smtClean="0"/>
              <a:t>James Shore and Shane Warden (2008). The Art of Agile Development. O'Reilly.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Projects Fail?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Velocity only reflects the issues the team </a:t>
            </a:r>
            <a:r>
              <a:rPr lang="en-US" sz="2600" i="1" dirty="0" smtClean="0">
                <a:solidFill>
                  <a:srgbClr val="C00000"/>
                </a:solidFill>
              </a:rPr>
              <a:t>normally</a:t>
            </a:r>
            <a:r>
              <a:rPr lang="en-US" sz="2600" dirty="0" smtClean="0"/>
              <a:t> faces. Life always has some additional curve balls to throw.</a:t>
            </a:r>
          </a:p>
          <a:p>
            <a:pPr lvl="1"/>
            <a:r>
              <a:rPr lang="en-US" sz="2200" dirty="0" smtClean="0"/>
              <a:t>Team members get sick and take vacations;</a:t>
            </a:r>
          </a:p>
          <a:p>
            <a:pPr lvl="1"/>
            <a:r>
              <a:rPr lang="en-US" sz="2200" dirty="0" smtClean="0"/>
              <a:t>Hard drives crash;</a:t>
            </a:r>
          </a:p>
          <a:p>
            <a:pPr lvl="1"/>
            <a:r>
              <a:rPr lang="en-US" sz="2200" dirty="0" smtClean="0"/>
              <a:t>Although the backups worked, the restore doesn’t;</a:t>
            </a:r>
          </a:p>
          <a:p>
            <a:pPr lvl="1"/>
            <a:r>
              <a:rPr lang="en-US" sz="2200" dirty="0" smtClean="0"/>
              <a:t>New requirements;</a:t>
            </a:r>
          </a:p>
          <a:p>
            <a:pPr lvl="1"/>
            <a:r>
              <a:rPr lang="en-US" sz="2200" dirty="0" smtClean="0"/>
              <a:t>Work disruption.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2400" y="4267200"/>
            <a:ext cx="4343400" cy="2005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smtClean="0"/>
              <a:t>to Prevent </a:t>
            </a:r>
            <a:r>
              <a:rPr lang="en-US" dirty="0" smtClean="0"/>
              <a:t>Potential Problems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2209800"/>
            <a:ext cx="69342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Evaluate Your Process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Rigorous</a:t>
            </a:r>
            <a:r>
              <a:rPr lang="en-US" sz="2800" dirty="0" smtClean="0">
                <a:solidFill>
                  <a:schemeClr val="dk1"/>
                </a:solidFill>
              </a:rPr>
              <a:t> process approach</a:t>
            </a:r>
          </a:p>
          <a:p>
            <a:pPr lvl="1"/>
            <a:r>
              <a:rPr lang="en-US" sz="2400" dirty="0" smtClean="0"/>
              <a:t>Strictly follow “Definition of Done”, </a:t>
            </a:r>
          </a:p>
          <a:p>
            <a:pPr lvl="1"/>
            <a:r>
              <a:rPr lang="en-US" sz="2400" dirty="0" smtClean="0"/>
              <a:t>Stable velocity,</a:t>
            </a:r>
          </a:p>
          <a:p>
            <a:pPr lvl="1"/>
            <a:r>
              <a:rPr lang="en-US" sz="2400" dirty="0" smtClean="0"/>
              <a:t>Fix all bugs of previous iteration</a:t>
            </a:r>
          </a:p>
          <a:p>
            <a:pPr lvl="1"/>
            <a:r>
              <a:rPr lang="en-US" sz="2400" dirty="0" smtClean="0">
                <a:solidFill>
                  <a:schemeClr val="dk1"/>
                </a:solidFill>
              </a:rPr>
              <a:t>Finish </a:t>
            </a:r>
            <a:r>
              <a:rPr lang="en-US" sz="2400" dirty="0" smtClean="0"/>
              <a:t>other iteration work</a:t>
            </a:r>
            <a:endParaRPr lang="en-US" sz="2400" dirty="0" smtClean="0">
              <a:solidFill>
                <a:schemeClr val="dk1"/>
              </a:solidFill>
            </a:endParaRPr>
          </a:p>
          <a:p>
            <a:r>
              <a:rPr lang="en-US" sz="2800" i="1" dirty="0" smtClean="0">
                <a:solidFill>
                  <a:srgbClr val="C00000"/>
                </a:solidFill>
              </a:rPr>
              <a:t>Risky</a:t>
            </a:r>
            <a:r>
              <a:rPr lang="en-US" sz="2800" dirty="0" smtClean="0">
                <a:solidFill>
                  <a:schemeClr val="dk1"/>
                </a:solidFill>
              </a:rPr>
              <a:t> process approach</a:t>
            </a:r>
          </a:p>
        </p:txBody>
      </p:sp>
      <p:pic>
        <p:nvPicPr>
          <p:cNvPr id="2050" name="Picture 2" descr="https://upload.wikimedia.org/wikipedia/commons/a/a4/US_Navy_050517-N-8395K-054_Freshmen%2C_known_as_Plebes%2C_participate_in_an_11.5_hour_rigorous_physical_and_mental_challenge_at_the_United_States_Naval_Academy_known_as_Sea_Trial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4038600"/>
            <a:ext cx="3667354" cy="238963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Determine Risk Multipliers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a </a:t>
            </a:r>
            <a:r>
              <a:rPr lang="en-US" sz="2400" i="1" dirty="0" smtClean="0">
                <a:solidFill>
                  <a:srgbClr val="C00000"/>
                </a:solidFill>
              </a:rPr>
              <a:t>perfect world</a:t>
            </a:r>
            <a:r>
              <a:rPr lang="en-US" sz="2400" dirty="0" smtClean="0"/>
              <a:t>, your organization would have a database of the type shown in table below.</a:t>
            </a:r>
          </a:p>
          <a:p>
            <a:r>
              <a:rPr lang="en-US" sz="2400" dirty="0" smtClean="0"/>
              <a:t>Because most organizations </a:t>
            </a:r>
            <a:r>
              <a:rPr lang="en-US" sz="2400" i="1" dirty="0" smtClean="0">
                <a:solidFill>
                  <a:srgbClr val="C00000"/>
                </a:solidFill>
              </a:rPr>
              <a:t>don’t</a:t>
            </a:r>
            <a:r>
              <a:rPr lang="en-US" sz="2400" dirty="0" smtClean="0"/>
              <a:t> have this information available, I’ve provided some </a:t>
            </a:r>
            <a:r>
              <a:rPr lang="en-US" sz="2400" u="sng" dirty="0" smtClean="0"/>
              <a:t>generic</a:t>
            </a:r>
            <a:r>
              <a:rPr lang="en-US" sz="2400" dirty="0" smtClean="0"/>
              <a:t> risk multipliers instead.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" y="3505200"/>
          <a:ext cx="8030274" cy="280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1362830"/>
                <a:gridCol w="1304170"/>
                <a:gridCol w="31534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Percent chance of on-time completion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Rigorous </a:t>
                      </a:r>
                      <a:r>
                        <a:rPr lang="en-US" sz="20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S" sz="2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Risky </a:t>
                      </a:r>
                      <a:r>
                        <a:rPr lang="en-US" sz="20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Almost impossible (“ignore”)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x1.4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50-50 chance (“stretch goal”)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x1.8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Virtually certain (“commit”)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Apply the Risk Multipliers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Process = Rigorous.</a:t>
            </a:r>
          </a:p>
          <a:p>
            <a:r>
              <a:rPr lang="en-US" sz="2400" dirty="0" smtClean="0"/>
              <a:t>Velocity =  14 points.</a:t>
            </a:r>
          </a:p>
          <a:p>
            <a:r>
              <a:rPr lang="en-US" sz="2400" dirty="0" smtClean="0"/>
              <a:t># Sprints left = 10.</a:t>
            </a:r>
          </a:p>
          <a:p>
            <a:endParaRPr lang="en-US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3124200"/>
          <a:ext cx="803027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1362830"/>
                <a:gridCol w="1304170"/>
                <a:gridCol w="3153474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Percent chance of on-time completion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Rigorous </a:t>
                      </a:r>
                      <a:r>
                        <a:rPr lang="en-US" sz="20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S" sz="2000" dirty="0" smtClean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Risky </a:t>
                      </a:r>
                      <a:r>
                        <a:rPr lang="en-US" sz="2000" b="1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approach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Description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x1=140</a:t>
                      </a:r>
                    </a:p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= 140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Almost impossible (“ignore”)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x1.4=140</a:t>
                      </a:r>
                    </a:p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= 100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x2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50-50 chance (“stretch goal”)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90%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x1.8=140</a:t>
                      </a:r>
                    </a:p>
                    <a:p>
                      <a:r>
                        <a:rPr lang="en-US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 = 78</a:t>
                      </a:r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x4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Virtually certain (“commit”)</a:t>
                      </a:r>
                      <a:endParaRPr lang="en-US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Brainstorm Project-Specific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What about the project keeps you up at night?</a:t>
            </a:r>
          </a:p>
          <a:p>
            <a:r>
              <a:rPr lang="en-US" sz="2000" dirty="0" smtClean="0"/>
              <a:t>Imagine it’s a year after the project’s disastrous failure and you’re being interviewed about what went wrong. What happened?</a:t>
            </a:r>
          </a:p>
          <a:p>
            <a:r>
              <a:rPr lang="en-US" sz="2000" dirty="0" smtClean="0"/>
              <a:t>Imagine your best dreams for the project, then write down the opposite.</a:t>
            </a:r>
          </a:p>
          <a:p>
            <a:r>
              <a:rPr lang="en-US" sz="2000" dirty="0" smtClean="0"/>
              <a:t>How could the project fail without anyone being at fault?</a:t>
            </a:r>
          </a:p>
          <a:p>
            <a:r>
              <a:rPr lang="en-US" sz="2000" dirty="0" smtClean="0"/>
              <a:t>How could the project fail if it were the stakeholders’ faults? The customers’ faults? Testers? Programmers? Management? Your fault?</a:t>
            </a:r>
          </a:p>
          <a:p>
            <a:r>
              <a:rPr lang="en-US" sz="2000" dirty="0" smtClean="0"/>
              <a:t>How could the project succeed but leave one specific stakeholder unsatisfied or angry?</a:t>
            </a:r>
            <a:endParaRPr lang="en-US" sz="2000" dirty="0"/>
          </a:p>
        </p:txBody>
      </p:sp>
      <p:pic>
        <p:nvPicPr>
          <p:cNvPr id="24578" name="Picture 2" descr="https://study.com/cimages/multimages/16/hands_head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692950"/>
            <a:ext cx="2560320" cy="1707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Previous Classes </a:t>
            </a:r>
            <a:r>
              <a:rPr lang="en-US" dirty="0" smtClean="0"/>
              <a:t>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Team members leaving or losing </a:t>
            </a:r>
            <a:r>
              <a:rPr lang="en-US" sz="2400" dirty="0" smtClean="0"/>
              <a:t>motivation.</a:t>
            </a:r>
            <a:endParaRPr lang="en-US" sz="2400" dirty="0" smtClean="0"/>
          </a:p>
          <a:p>
            <a:r>
              <a:rPr lang="en-US" sz="2400" dirty="0" smtClean="0"/>
              <a:t>Unclear </a:t>
            </a:r>
            <a:r>
              <a:rPr lang="en-US" sz="2400" dirty="0" smtClean="0"/>
              <a:t>requirements: Real world problems, domain knowledge.</a:t>
            </a:r>
          </a:p>
          <a:p>
            <a:r>
              <a:rPr lang="en-US" sz="2400" dirty="0" smtClean="0"/>
              <a:t>Availability </a:t>
            </a:r>
            <a:r>
              <a:rPr lang="en-US" sz="2400" dirty="0" smtClean="0"/>
              <a:t>and </a:t>
            </a:r>
            <a:r>
              <a:rPr lang="en-US" sz="2400" dirty="0" smtClean="0"/>
              <a:t>cost </a:t>
            </a:r>
            <a:r>
              <a:rPr lang="en-US" sz="2400" dirty="0" smtClean="0"/>
              <a:t>of </a:t>
            </a:r>
            <a:r>
              <a:rPr lang="en-US" sz="2400" dirty="0" smtClean="0"/>
              <a:t>reliable </a:t>
            </a:r>
            <a:r>
              <a:rPr lang="en-US" sz="2400" dirty="0" smtClean="0"/>
              <a:t>AI </a:t>
            </a:r>
            <a:r>
              <a:rPr lang="en-US" sz="2400" dirty="0" smtClean="0"/>
              <a:t>coding agents.</a:t>
            </a:r>
          </a:p>
          <a:p>
            <a:r>
              <a:rPr lang="en-US" sz="2400" dirty="0" smtClean="0"/>
              <a:t>Earlier </a:t>
            </a:r>
            <a:r>
              <a:rPr lang="en-US" sz="2400" dirty="0" smtClean="0"/>
              <a:t>releases </a:t>
            </a:r>
            <a:r>
              <a:rPr lang="en-US" sz="2400" dirty="0" smtClean="0"/>
              <a:t>from </a:t>
            </a:r>
            <a:r>
              <a:rPr lang="en-US" sz="2400" dirty="0" smtClean="0"/>
              <a:t>competitors.</a:t>
            </a:r>
            <a:endParaRPr lang="en-US" sz="2400" dirty="0"/>
          </a:p>
        </p:txBody>
      </p:sp>
      <p:sp>
        <p:nvSpPr>
          <p:cNvPr id="1026" name="AutoShape 2" descr="https://now.fordham.edu/wp-content/uploads/2025/09/Group-Projects-1280.jpg"/>
          <p:cNvSpPr>
            <a:spLocks noChangeAspect="1" noChangeArrowheads="1"/>
          </p:cNvSpPr>
          <p:nvPr/>
        </p:nvSpPr>
        <p:spPr bwMode="auto">
          <a:xfrm>
            <a:off x="155575" y="-2719388"/>
            <a:ext cx="10077450" cy="56673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40000" y="3962400"/>
            <a:ext cx="40640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in Previous </a:t>
            </a:r>
            <a:r>
              <a:rPr lang="en-US" dirty="0" smtClean="0"/>
              <a:t>Classes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Not enough time</a:t>
            </a:r>
          </a:p>
          <a:p>
            <a:r>
              <a:rPr lang="en-US" sz="2400" dirty="0" smtClean="0"/>
              <a:t>Working on new </a:t>
            </a:r>
            <a:r>
              <a:rPr lang="en-US" sz="2400" dirty="0" smtClean="0"/>
              <a:t>technologies</a:t>
            </a:r>
            <a:endParaRPr lang="en-US" sz="2400" dirty="0" smtClean="0"/>
          </a:p>
          <a:p>
            <a:r>
              <a:rPr lang="en-US" sz="2400" dirty="0" smtClean="0"/>
              <a:t>Lack of leadership</a:t>
            </a:r>
          </a:p>
          <a:p>
            <a:r>
              <a:rPr lang="en-US" sz="2400" dirty="0" smtClean="0"/>
              <a:t>No status reporting</a:t>
            </a:r>
          </a:p>
          <a:p>
            <a:r>
              <a:rPr lang="en-US" sz="2400" dirty="0" smtClean="0"/>
              <a:t>Unclear requirements: Real world problems, domain knowledge.</a:t>
            </a:r>
          </a:p>
          <a:p>
            <a:endParaRPr lang="en-US" sz="2400" dirty="0"/>
          </a:p>
        </p:txBody>
      </p:sp>
      <p:pic>
        <p:nvPicPr>
          <p:cNvPr id="1032" name="Picture 8" descr="https://www.laniertech.edu/wp-content/uploads/2019/08/AdobeStock_6176694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267200"/>
            <a:ext cx="3175000" cy="211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Analyze Risks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Consider the risks within a </a:t>
            </a:r>
            <a:r>
              <a:rPr lang="en-US" sz="2400" i="1" dirty="0" smtClean="0">
                <a:solidFill>
                  <a:srgbClr val="C00000"/>
                </a:solidFill>
              </a:rPr>
              <a:t>smaller group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For each risk, determine: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Estimated probability</a:t>
            </a:r>
            <a:r>
              <a:rPr lang="en-US" sz="2200" dirty="0" smtClean="0"/>
              <a:t>—I prefer “high,” “medium,” and “low.”</a:t>
            </a:r>
          </a:p>
          <a:p>
            <a:pPr lvl="1"/>
            <a:r>
              <a:rPr lang="en-US" sz="2200" i="1" dirty="0" smtClean="0">
                <a:solidFill>
                  <a:srgbClr val="C00000"/>
                </a:solidFill>
              </a:rPr>
              <a:t>Specific impact</a:t>
            </a:r>
            <a:r>
              <a:rPr lang="en-US" sz="2200" dirty="0" smtClean="0"/>
              <a:t> to project if it occurs—dollars lost, </a:t>
            </a:r>
            <a:r>
              <a:rPr lang="en-US" sz="2200" u="sng" dirty="0" smtClean="0"/>
              <a:t>days delayed</a:t>
            </a:r>
            <a:r>
              <a:rPr lang="en-US" sz="2200" dirty="0" smtClean="0"/>
              <a:t>, and </a:t>
            </a:r>
            <a:r>
              <a:rPr lang="en-US" sz="2200" u="sng" dirty="0" smtClean="0"/>
              <a:t>project cancellation</a:t>
            </a:r>
            <a:r>
              <a:rPr lang="en-US" sz="2200" dirty="0" smtClean="0"/>
              <a:t> are common possibilities.</a:t>
            </a:r>
            <a:endParaRPr lang="en-US" sz="2200" dirty="0"/>
          </a:p>
        </p:txBody>
      </p:sp>
      <p:pic>
        <p:nvPicPr>
          <p:cNvPr id="8194" name="Picture 2" descr="https://www.shipownersclub.com/media/2017/02/Risk-matrix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928658"/>
            <a:ext cx="4919899" cy="247214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Prioritize Risks</a:t>
            </a:r>
            <a:endParaRPr lang="en-US" dirty="0"/>
          </a:p>
        </p:txBody>
      </p:sp>
      <p:pic>
        <p:nvPicPr>
          <p:cNvPr id="5" name="Picture 4" descr="http://theinnovationofrisk.com/wp-content/uploads/2012/05/top_10_pedistal_400_clr_6486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2667000"/>
            <a:ext cx="2143125" cy="2286000"/>
          </a:xfrm>
          <a:prstGeom prst="rect">
            <a:avLst/>
          </a:prstGeom>
          <a:noFill/>
        </p:spPr>
      </p:pic>
      <p:pic>
        <p:nvPicPr>
          <p:cNvPr id="28678" name="Picture 6" descr="https://thecleantrader.com/wp-content/uploads/2019/05/reduce-operational-risk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67200" y="2590800"/>
            <a:ext cx="3303270" cy="22326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Respond to a Risk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Avoid</a:t>
            </a:r>
            <a:r>
              <a:rPr lang="en-US" sz="2400" dirty="0" smtClean="0"/>
              <a:t> the risk by not taking the risky action;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Contain</a:t>
            </a:r>
            <a:r>
              <a:rPr lang="en-US" sz="2400" dirty="0" smtClean="0"/>
              <a:t> it by reserving extra time or money, as with the </a:t>
            </a:r>
            <a:r>
              <a:rPr lang="en-US" sz="2400" u="sng" dirty="0" smtClean="0"/>
              <a:t>risk multiplier</a:t>
            </a:r>
            <a:r>
              <a:rPr lang="en-US" sz="2400" dirty="0" smtClean="0"/>
              <a:t>;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Mitigate</a:t>
            </a:r>
            <a:r>
              <a:rPr lang="en-US" sz="2400" dirty="0" smtClean="0"/>
              <a:t> it by taking steps to reduce its impact.</a:t>
            </a:r>
          </a:p>
          <a:p>
            <a:r>
              <a:rPr lang="en-US" sz="2400" dirty="0" smtClean="0"/>
              <a:t>You can </a:t>
            </a:r>
            <a:r>
              <a:rPr lang="en-US" sz="2400" i="1" dirty="0" smtClean="0">
                <a:solidFill>
                  <a:srgbClr val="C00000"/>
                </a:solidFill>
              </a:rPr>
              <a:t>combine</a:t>
            </a:r>
            <a:r>
              <a:rPr lang="en-US" sz="2400" dirty="0" smtClean="0"/>
              <a:t> these actions.</a:t>
            </a:r>
            <a:endParaRPr lang="en-US" sz="2400" dirty="0"/>
          </a:p>
        </p:txBody>
      </p:sp>
      <p:pic>
        <p:nvPicPr>
          <p:cNvPr id="27650" name="Picture 2" descr="https://ethicalboardroom.com/wp-content/uploads/2017/03/HeckerWood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3886200"/>
            <a:ext cx="3657600" cy="243779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Respond to a Risk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Determine transition indicators, mitigation and contingency activities, and your risk exposure.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Transition indicators</a:t>
            </a:r>
            <a:r>
              <a:rPr lang="en-US" sz="2000" dirty="0" smtClean="0"/>
              <a:t> tell you when the risk will come true.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Mitigation activities</a:t>
            </a:r>
            <a:r>
              <a:rPr lang="en-US" sz="2000" dirty="0" smtClean="0"/>
              <a:t> reduce the impact of the risk. </a:t>
            </a:r>
            <a:r>
              <a:rPr lang="en-US" sz="2000" b="1" i="1" dirty="0" smtClean="0">
                <a:solidFill>
                  <a:srgbClr val="C00000"/>
                </a:solidFill>
              </a:rPr>
              <a:t>Create stories</a:t>
            </a:r>
            <a:r>
              <a:rPr lang="en-US" sz="2000" b="1" dirty="0" smtClean="0"/>
              <a:t> for them and add them to your release plan.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Contingency activities</a:t>
            </a:r>
            <a:r>
              <a:rPr lang="en-US" sz="2000" dirty="0" smtClean="0"/>
              <a:t> also reduce the impact of the risk, but they are only necessary if the risk occurs.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Risk exposure</a:t>
            </a:r>
            <a:r>
              <a:rPr lang="en-US" sz="2000" dirty="0" smtClean="0"/>
              <a:t> reflects how much time or money you should set aside to contain the risk.</a:t>
            </a:r>
            <a:endParaRPr lang="en-US" sz="2000" dirty="0"/>
          </a:p>
        </p:txBody>
      </p:sp>
      <p:pic>
        <p:nvPicPr>
          <p:cNvPr id="26626" name="Picture 2" descr="http://4everstatic.com/imagenes/animados/hombre-con-paraguas,-calle,-lluvia-183984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0" y="4800600"/>
            <a:ext cx="3048000" cy="182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Not enough time</a:t>
            </a:r>
          </a:p>
          <a:p>
            <a:pPr lvl="1"/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Working on new </a:t>
            </a:r>
            <a:r>
              <a:rPr lang="en-US" sz="2800" dirty="0" smtClean="0"/>
              <a:t>technologies</a:t>
            </a:r>
            <a:endParaRPr lang="en-US" sz="2800" dirty="0" smtClean="0"/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Lack of leadership</a:t>
            </a:r>
          </a:p>
          <a:p>
            <a:pPr lvl="1"/>
            <a:r>
              <a:rPr lang="en-US" sz="2400" dirty="0" smtClean="0"/>
              <a:t>?</a:t>
            </a:r>
          </a:p>
          <a:p>
            <a:r>
              <a:rPr lang="en-US" sz="2800" dirty="0" smtClean="0"/>
              <a:t>Unclear requirements</a:t>
            </a:r>
          </a:p>
          <a:p>
            <a:pPr lvl="1"/>
            <a:r>
              <a:rPr lang="en-US" sz="2400" dirty="0" smtClean="0"/>
              <a:t>?</a:t>
            </a:r>
          </a:p>
          <a:p>
            <a:pPr lvl="1"/>
            <a:r>
              <a:rPr lang="en-US" sz="2400" dirty="0" smtClean="0"/>
              <a:t>?</a:t>
            </a:r>
          </a:p>
        </p:txBody>
      </p:sp>
      <p:pic>
        <p:nvPicPr>
          <p:cNvPr id="4" name="Picture 8" descr="https://www.laniertech.edu/wp-content/uploads/2019/08/AdobeStock_61766940.jpe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5600" y="2514600"/>
            <a:ext cx="3175000" cy="211613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11573</TotalTime>
  <Words>709</Words>
  <Application>Microsoft Office PowerPoint</Application>
  <PresentationFormat>On-screen Show (4:3)</PresentationFormat>
  <Paragraphs>125</Paragraphs>
  <Slides>18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Agile Risk Management</vt:lpstr>
      <vt:lpstr>Objectives</vt:lpstr>
      <vt:lpstr>Contents</vt:lpstr>
      <vt:lpstr>References</vt:lpstr>
      <vt:lpstr>Why Do Projects Fail? [1]</vt:lpstr>
      <vt:lpstr>How to Prevent Potential Problems</vt:lpstr>
      <vt:lpstr>1. Evaluate Your Process Approach</vt:lpstr>
      <vt:lpstr>2. Determine Risk Multipliers</vt:lpstr>
      <vt:lpstr>3. Apply the Risk Multipliers</vt:lpstr>
      <vt:lpstr>4. Brainstorm Project-Specific Risks</vt:lpstr>
      <vt:lpstr>Challenges in Previous Classes (I)</vt:lpstr>
      <vt:lpstr>Challenges in Previous Classes (II)</vt:lpstr>
      <vt:lpstr>5. Analyze Risks</vt:lpstr>
      <vt:lpstr>6. Prioritize Risks</vt:lpstr>
      <vt:lpstr>7. Respond to a Risk</vt:lpstr>
      <vt:lpstr>7. Respond to a Risk (II)</vt:lpstr>
      <vt:lpstr>Example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4446</cp:revision>
  <dcterms:created xsi:type="dcterms:W3CDTF">2007-10-06T08:25:13Z</dcterms:created>
  <dcterms:modified xsi:type="dcterms:W3CDTF">2026-07-18T11:06:37Z</dcterms:modified>
</cp:coreProperties>
</file>