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diagrams/colors1.xml" ContentType="application/vnd.openxmlformats-officedocument.drawingml.diagramColors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diagrams/layout1.xml" ContentType="application/vnd.openxmlformats-officedocument.drawingml.diagram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diagrams/data1.xml" ContentType="application/vnd.openxmlformats-officedocument.drawingml.diagramData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diagrams/drawing1.xml" ContentType="application/vnd.ms-office.drawingml.diagramDrawing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diagrams/quickStyle1.xml" ContentType="application/vnd.openxmlformats-officedocument.drawingml.diagramStyl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708" r:id="rId1"/>
  </p:sldMasterIdLst>
  <p:notesMasterIdLst>
    <p:notesMasterId r:id="rId34"/>
  </p:notesMasterIdLst>
  <p:handoutMasterIdLst>
    <p:handoutMasterId r:id="rId35"/>
  </p:handoutMasterIdLst>
  <p:sldIdLst>
    <p:sldId id="256" r:id="rId2"/>
    <p:sldId id="513" r:id="rId3"/>
    <p:sldId id="722" r:id="rId4"/>
    <p:sldId id="514" r:id="rId5"/>
    <p:sldId id="767" r:id="rId6"/>
    <p:sldId id="772" r:id="rId7"/>
    <p:sldId id="768" r:id="rId8"/>
    <p:sldId id="770" r:id="rId9"/>
    <p:sldId id="757" r:id="rId10"/>
    <p:sldId id="758" r:id="rId11"/>
    <p:sldId id="759" r:id="rId12"/>
    <p:sldId id="748" r:id="rId13"/>
    <p:sldId id="735" r:id="rId14"/>
    <p:sldId id="736" r:id="rId15"/>
    <p:sldId id="737" r:id="rId16"/>
    <p:sldId id="749" r:id="rId17"/>
    <p:sldId id="752" r:id="rId18"/>
    <p:sldId id="750" r:id="rId19"/>
    <p:sldId id="751" r:id="rId20"/>
    <p:sldId id="732" r:id="rId21"/>
    <p:sldId id="762" r:id="rId22"/>
    <p:sldId id="764" r:id="rId23"/>
    <p:sldId id="754" r:id="rId24"/>
    <p:sldId id="766" r:id="rId25"/>
    <p:sldId id="765" r:id="rId26"/>
    <p:sldId id="755" r:id="rId27"/>
    <p:sldId id="725" r:id="rId28"/>
    <p:sldId id="741" r:id="rId29"/>
    <p:sldId id="728" r:id="rId30"/>
    <p:sldId id="729" r:id="rId31"/>
    <p:sldId id="730" r:id="rId32"/>
    <p:sldId id="343" r:id="rId33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aximized">
    <p:restoredLeft sz="22038" autoAdjust="0"/>
    <p:restoredTop sz="81860" autoAdjust="0"/>
  </p:normalViewPr>
  <p:slideViewPr>
    <p:cSldViewPr>
      <p:cViewPr>
        <p:scale>
          <a:sx n="50" d="100"/>
          <a:sy n="50" d="100"/>
        </p:scale>
        <p:origin x="-1476" y="-19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handoutMaster" Target="handoutMasters/handout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5066DED-DBA4-43A7-AF99-25BC86063D3B}" type="doc">
      <dgm:prSet loTypeId="urn:microsoft.com/office/officeart/2005/8/layout/process3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595587ED-7C5C-46E8-93AE-91084811BDE7}">
      <dgm:prSet phldrT="[Text]" custT="1"/>
      <dgm:spPr/>
      <dgm:t>
        <a:bodyPr/>
        <a:lstStyle/>
        <a:p>
          <a:r>
            <a:rPr lang="en-US" sz="2200" dirty="0" smtClean="0"/>
            <a:t>Product Release 1 </a:t>
          </a:r>
          <a:r>
            <a:rPr lang="en-US" sz="2000" dirty="0" smtClean="0"/>
            <a:t>(10/04/2021)</a:t>
          </a:r>
          <a:endParaRPr lang="en-US" sz="2000" dirty="0"/>
        </a:p>
      </dgm:t>
    </dgm:pt>
    <dgm:pt modelId="{7B21C7E4-FA73-413A-A672-9950CF2A914D}" type="parTrans" cxnId="{5F1876BA-4DE5-4816-BD7D-03FEDCD37D6E}">
      <dgm:prSet/>
      <dgm:spPr/>
      <dgm:t>
        <a:bodyPr/>
        <a:lstStyle/>
        <a:p>
          <a:endParaRPr lang="en-US"/>
        </a:p>
      </dgm:t>
    </dgm:pt>
    <dgm:pt modelId="{FFFCBDA7-9EA8-4D28-A3F6-8AC2D2264A36}" type="sibTrans" cxnId="{5F1876BA-4DE5-4816-BD7D-03FEDCD37D6E}">
      <dgm:prSet/>
      <dgm:spPr/>
      <dgm:t>
        <a:bodyPr/>
        <a:lstStyle/>
        <a:p>
          <a:endParaRPr lang="en-US"/>
        </a:p>
      </dgm:t>
    </dgm:pt>
    <dgm:pt modelId="{20F20C3D-6277-4812-AF1C-118B19F88B01}">
      <dgm:prSet phldrT="[Text]" custT="1"/>
      <dgm:spPr/>
      <dgm:t>
        <a:bodyPr/>
        <a:lstStyle/>
        <a:p>
          <a:r>
            <a:rPr lang="en-US" sz="1800" dirty="0" smtClean="0"/>
            <a:t>F1</a:t>
          </a:r>
          <a:endParaRPr lang="en-US" sz="1800" dirty="0"/>
        </a:p>
      </dgm:t>
    </dgm:pt>
    <dgm:pt modelId="{202EDF59-1282-417E-B7BB-6B9ABBB1E8C7}" type="parTrans" cxnId="{9ED9BAA9-03B6-450B-843A-15A34D139E81}">
      <dgm:prSet/>
      <dgm:spPr/>
      <dgm:t>
        <a:bodyPr/>
        <a:lstStyle/>
        <a:p>
          <a:endParaRPr lang="en-US"/>
        </a:p>
      </dgm:t>
    </dgm:pt>
    <dgm:pt modelId="{EB2E4B29-FE17-4429-A082-6AFC8100B70D}" type="sibTrans" cxnId="{9ED9BAA9-03B6-450B-843A-15A34D139E81}">
      <dgm:prSet/>
      <dgm:spPr/>
      <dgm:t>
        <a:bodyPr/>
        <a:lstStyle/>
        <a:p>
          <a:endParaRPr lang="en-US"/>
        </a:p>
      </dgm:t>
    </dgm:pt>
    <dgm:pt modelId="{19D05F77-75B4-460E-9D19-F92D7AA765E3}">
      <dgm:prSet phldrT="[Text]" custT="1"/>
      <dgm:spPr/>
      <dgm:t>
        <a:bodyPr/>
        <a:lstStyle/>
        <a:p>
          <a:r>
            <a:rPr lang="en-US" sz="2200" dirty="0" smtClean="0"/>
            <a:t>Product Release 2 </a:t>
          </a:r>
          <a:r>
            <a:rPr lang="en-US" sz="2000" dirty="0" smtClean="0"/>
            <a:t>(11/29/2021)</a:t>
          </a:r>
          <a:endParaRPr lang="en-US" sz="2000" dirty="0"/>
        </a:p>
      </dgm:t>
    </dgm:pt>
    <dgm:pt modelId="{B4C7D24C-15F0-4788-90EF-52F08328C791}" type="parTrans" cxnId="{0254327F-4D32-4304-A73A-2F9F6A4A9A10}">
      <dgm:prSet/>
      <dgm:spPr/>
      <dgm:t>
        <a:bodyPr/>
        <a:lstStyle/>
        <a:p>
          <a:endParaRPr lang="en-US"/>
        </a:p>
      </dgm:t>
    </dgm:pt>
    <dgm:pt modelId="{A6A9F71C-8879-4C22-8654-61EC4DC8933A}" type="sibTrans" cxnId="{0254327F-4D32-4304-A73A-2F9F6A4A9A10}">
      <dgm:prSet/>
      <dgm:spPr/>
      <dgm:t>
        <a:bodyPr/>
        <a:lstStyle/>
        <a:p>
          <a:endParaRPr lang="en-US"/>
        </a:p>
      </dgm:t>
    </dgm:pt>
    <dgm:pt modelId="{E7E6566C-F2F4-4779-97E9-19F78E0FE8BB}">
      <dgm:prSet phldrT="[Text]" custT="1"/>
      <dgm:spPr/>
      <dgm:t>
        <a:bodyPr/>
        <a:lstStyle/>
        <a:p>
          <a:r>
            <a:rPr lang="en-US" sz="2200" dirty="0" smtClean="0"/>
            <a:t>Product Release 3 </a:t>
          </a:r>
          <a:r>
            <a:rPr lang="en-US" sz="2000" dirty="0" smtClean="0"/>
            <a:t>(12/27/2021)</a:t>
          </a:r>
          <a:endParaRPr lang="en-US" sz="2000" dirty="0"/>
        </a:p>
      </dgm:t>
    </dgm:pt>
    <dgm:pt modelId="{CF4BB3C5-4659-4A24-8541-8EA5BF33BF32}" type="parTrans" cxnId="{14266164-25C3-403A-9FBE-2C265E47E019}">
      <dgm:prSet/>
      <dgm:spPr/>
      <dgm:t>
        <a:bodyPr/>
        <a:lstStyle/>
        <a:p>
          <a:endParaRPr lang="en-US"/>
        </a:p>
      </dgm:t>
    </dgm:pt>
    <dgm:pt modelId="{46E23FEE-318A-4DBD-8F07-D761795C2246}" type="sibTrans" cxnId="{14266164-25C3-403A-9FBE-2C265E47E019}">
      <dgm:prSet/>
      <dgm:spPr/>
      <dgm:t>
        <a:bodyPr/>
        <a:lstStyle/>
        <a:p>
          <a:endParaRPr lang="en-US"/>
        </a:p>
      </dgm:t>
    </dgm:pt>
    <dgm:pt modelId="{77E77D4E-9218-4BDD-A8BC-5BC05C3468DC}">
      <dgm:prSet phldrT="[Text]" custT="1"/>
      <dgm:spPr/>
      <dgm:t>
        <a:bodyPr/>
        <a:lstStyle/>
        <a:p>
          <a:r>
            <a:rPr lang="en-US" sz="1800" dirty="0" smtClean="0"/>
            <a:t>F2</a:t>
          </a:r>
          <a:endParaRPr lang="en-US" sz="1800" dirty="0"/>
        </a:p>
      </dgm:t>
    </dgm:pt>
    <dgm:pt modelId="{20897599-29AB-457C-87A4-095C0FD2955C}" type="parTrans" cxnId="{821380F5-B241-4E3D-89D8-08CA1EAA6CAF}">
      <dgm:prSet/>
      <dgm:spPr/>
      <dgm:t>
        <a:bodyPr/>
        <a:lstStyle/>
        <a:p>
          <a:endParaRPr lang="en-US"/>
        </a:p>
      </dgm:t>
    </dgm:pt>
    <dgm:pt modelId="{E59B444F-9495-43E3-901B-8DF5FC94D42B}" type="sibTrans" cxnId="{821380F5-B241-4E3D-89D8-08CA1EAA6CAF}">
      <dgm:prSet/>
      <dgm:spPr/>
      <dgm:t>
        <a:bodyPr/>
        <a:lstStyle/>
        <a:p>
          <a:endParaRPr lang="en-US"/>
        </a:p>
      </dgm:t>
    </dgm:pt>
    <dgm:pt modelId="{C7E27623-5E84-4175-9C8E-3EC4E543FCBE}">
      <dgm:prSet phldrT="[Text]" custT="1"/>
      <dgm:spPr/>
      <dgm:t>
        <a:bodyPr/>
        <a:lstStyle/>
        <a:p>
          <a:r>
            <a:rPr lang="en-US" sz="1800" dirty="0" smtClean="0"/>
            <a:t>F3</a:t>
          </a:r>
          <a:endParaRPr lang="en-US" sz="1800" dirty="0"/>
        </a:p>
      </dgm:t>
    </dgm:pt>
    <dgm:pt modelId="{52986A4B-B45B-4EC3-8500-A43154DE6CC2}" type="parTrans" cxnId="{25BAB1CB-6FF6-4B00-9423-994CF385C103}">
      <dgm:prSet/>
      <dgm:spPr/>
      <dgm:t>
        <a:bodyPr/>
        <a:lstStyle/>
        <a:p>
          <a:endParaRPr lang="en-US"/>
        </a:p>
      </dgm:t>
    </dgm:pt>
    <dgm:pt modelId="{E5067697-598A-46C4-BFA1-7242DCCFD7EC}" type="sibTrans" cxnId="{25BAB1CB-6FF6-4B00-9423-994CF385C103}">
      <dgm:prSet/>
      <dgm:spPr/>
      <dgm:t>
        <a:bodyPr/>
        <a:lstStyle/>
        <a:p>
          <a:endParaRPr lang="en-US"/>
        </a:p>
      </dgm:t>
    </dgm:pt>
    <dgm:pt modelId="{7BCB32B6-CD08-4BD8-B839-B3015E523F04}">
      <dgm:prSet phldrT="[Text]" custT="1"/>
      <dgm:spPr/>
      <dgm:t>
        <a:bodyPr/>
        <a:lstStyle/>
        <a:p>
          <a:r>
            <a:rPr lang="en-US" sz="1800" dirty="0" smtClean="0"/>
            <a:t>F6</a:t>
          </a:r>
          <a:endParaRPr lang="en-US" sz="1800" dirty="0"/>
        </a:p>
      </dgm:t>
    </dgm:pt>
    <dgm:pt modelId="{F073C809-942C-4DAA-89D7-1F0519A4FE1E}" type="parTrans" cxnId="{EE715410-C33D-4CEC-A2C4-DE6F9D2923E6}">
      <dgm:prSet/>
      <dgm:spPr/>
      <dgm:t>
        <a:bodyPr/>
        <a:lstStyle/>
        <a:p>
          <a:endParaRPr lang="en-US"/>
        </a:p>
      </dgm:t>
    </dgm:pt>
    <dgm:pt modelId="{3B1C1EAD-3348-47C1-8DC7-AD01A51F1017}" type="sibTrans" cxnId="{EE715410-C33D-4CEC-A2C4-DE6F9D2923E6}">
      <dgm:prSet/>
      <dgm:spPr/>
      <dgm:t>
        <a:bodyPr/>
        <a:lstStyle/>
        <a:p>
          <a:endParaRPr lang="en-US"/>
        </a:p>
      </dgm:t>
    </dgm:pt>
    <dgm:pt modelId="{D7204752-FDBE-4466-922D-C4CCB753FE64}">
      <dgm:prSet phldrT="[Text]" custT="1"/>
      <dgm:spPr/>
      <dgm:t>
        <a:bodyPr/>
        <a:lstStyle/>
        <a:p>
          <a:r>
            <a:rPr lang="en-US" sz="1800" dirty="0" smtClean="0"/>
            <a:t>F7</a:t>
          </a:r>
          <a:endParaRPr lang="en-US" sz="1800" dirty="0"/>
        </a:p>
      </dgm:t>
    </dgm:pt>
    <dgm:pt modelId="{E0225075-2CC0-459D-9F76-ACF205F9D642}" type="parTrans" cxnId="{2A73229F-5B67-48D3-B584-6E6C05795E9F}">
      <dgm:prSet/>
      <dgm:spPr/>
      <dgm:t>
        <a:bodyPr/>
        <a:lstStyle/>
        <a:p>
          <a:endParaRPr lang="en-US"/>
        </a:p>
      </dgm:t>
    </dgm:pt>
    <dgm:pt modelId="{291F175B-9830-47DE-9410-FB2D1D93CA8B}" type="sibTrans" cxnId="{2A73229F-5B67-48D3-B584-6E6C05795E9F}">
      <dgm:prSet/>
      <dgm:spPr/>
      <dgm:t>
        <a:bodyPr/>
        <a:lstStyle/>
        <a:p>
          <a:endParaRPr lang="en-US"/>
        </a:p>
      </dgm:t>
    </dgm:pt>
    <dgm:pt modelId="{F883E86D-1809-420D-858F-F8276D4762FF}">
      <dgm:prSet phldrT="[Text]" custT="1"/>
      <dgm:spPr/>
      <dgm:t>
        <a:bodyPr/>
        <a:lstStyle/>
        <a:p>
          <a:r>
            <a:rPr lang="en-US" sz="1800" dirty="0" smtClean="0"/>
            <a:t>F10</a:t>
          </a:r>
          <a:endParaRPr lang="en-US" sz="1800" dirty="0"/>
        </a:p>
      </dgm:t>
    </dgm:pt>
    <dgm:pt modelId="{FD5B987D-99AF-4F51-9A45-C44B828BD87E}" type="parTrans" cxnId="{D48A40A0-A0A7-4A64-82E1-826E32A455C0}">
      <dgm:prSet/>
      <dgm:spPr/>
      <dgm:t>
        <a:bodyPr/>
        <a:lstStyle/>
        <a:p>
          <a:endParaRPr lang="en-US"/>
        </a:p>
      </dgm:t>
    </dgm:pt>
    <dgm:pt modelId="{F0609EE8-2363-4290-AE06-E377D3BA5E6F}" type="sibTrans" cxnId="{D48A40A0-A0A7-4A64-82E1-826E32A455C0}">
      <dgm:prSet/>
      <dgm:spPr/>
      <dgm:t>
        <a:bodyPr/>
        <a:lstStyle/>
        <a:p>
          <a:endParaRPr lang="en-US"/>
        </a:p>
      </dgm:t>
    </dgm:pt>
    <dgm:pt modelId="{34BA63BE-F9CB-4499-9130-BF346E0F99C8}">
      <dgm:prSet phldrT="[Text]" custT="1"/>
      <dgm:spPr/>
      <dgm:t>
        <a:bodyPr/>
        <a:lstStyle/>
        <a:p>
          <a:r>
            <a:rPr lang="en-US" sz="1800" dirty="0" smtClean="0"/>
            <a:t>F11</a:t>
          </a:r>
          <a:endParaRPr lang="en-US" sz="1800" dirty="0"/>
        </a:p>
      </dgm:t>
    </dgm:pt>
    <dgm:pt modelId="{E458BFFD-381C-45EF-A28E-BDC62C63ACA2}" type="parTrans" cxnId="{EBB21BB6-EEBF-4710-B4B5-9212B36E4DFA}">
      <dgm:prSet/>
      <dgm:spPr/>
      <dgm:t>
        <a:bodyPr/>
        <a:lstStyle/>
        <a:p>
          <a:endParaRPr lang="en-US"/>
        </a:p>
      </dgm:t>
    </dgm:pt>
    <dgm:pt modelId="{7C50D979-5725-4907-A85D-1AE3E5C61F1A}" type="sibTrans" cxnId="{EBB21BB6-EEBF-4710-B4B5-9212B36E4DFA}">
      <dgm:prSet/>
      <dgm:spPr/>
      <dgm:t>
        <a:bodyPr/>
        <a:lstStyle/>
        <a:p>
          <a:endParaRPr lang="en-US"/>
        </a:p>
      </dgm:t>
    </dgm:pt>
    <dgm:pt modelId="{38927049-0753-468F-9AB5-9F4FBDDD43E9}">
      <dgm:prSet phldrT="[Text]" custT="1"/>
      <dgm:spPr/>
      <dgm:t>
        <a:bodyPr/>
        <a:lstStyle/>
        <a:p>
          <a:r>
            <a:rPr lang="en-US" sz="1800" dirty="0" smtClean="0"/>
            <a:t>F12</a:t>
          </a:r>
          <a:endParaRPr lang="en-US" sz="1800" dirty="0"/>
        </a:p>
      </dgm:t>
    </dgm:pt>
    <dgm:pt modelId="{C0826A22-B7EB-46D2-B65B-F319B8BFC4C9}" type="parTrans" cxnId="{4903658D-C6B9-400E-B631-D4FDF25DEBB2}">
      <dgm:prSet/>
      <dgm:spPr/>
      <dgm:t>
        <a:bodyPr/>
        <a:lstStyle/>
        <a:p>
          <a:endParaRPr lang="en-US"/>
        </a:p>
      </dgm:t>
    </dgm:pt>
    <dgm:pt modelId="{198A8C6A-3354-4629-8494-E75FD0011459}" type="sibTrans" cxnId="{4903658D-C6B9-400E-B631-D4FDF25DEBB2}">
      <dgm:prSet/>
      <dgm:spPr/>
      <dgm:t>
        <a:bodyPr/>
        <a:lstStyle/>
        <a:p>
          <a:endParaRPr lang="en-US"/>
        </a:p>
      </dgm:t>
    </dgm:pt>
    <dgm:pt modelId="{54C48828-D4A2-47F3-8C62-944C7D80B185}">
      <dgm:prSet phldrT="[Text]" custT="1"/>
      <dgm:spPr/>
      <dgm:t>
        <a:bodyPr/>
        <a:lstStyle/>
        <a:p>
          <a:r>
            <a:rPr lang="en-US" sz="1800" dirty="0" smtClean="0"/>
            <a:t>F4</a:t>
          </a:r>
          <a:endParaRPr lang="en-US" sz="1800" dirty="0"/>
        </a:p>
      </dgm:t>
    </dgm:pt>
    <dgm:pt modelId="{FE5E3A7C-93C6-4F5E-9383-AC57F24ACE60}" type="parTrans" cxnId="{E777F967-F1CE-47B4-9778-0D17243A7862}">
      <dgm:prSet/>
      <dgm:spPr/>
      <dgm:t>
        <a:bodyPr/>
        <a:lstStyle/>
        <a:p>
          <a:endParaRPr lang="en-US"/>
        </a:p>
      </dgm:t>
    </dgm:pt>
    <dgm:pt modelId="{46D48946-88F9-47DC-94AC-909922F0B6A2}" type="sibTrans" cxnId="{E777F967-F1CE-47B4-9778-0D17243A7862}">
      <dgm:prSet/>
      <dgm:spPr/>
      <dgm:t>
        <a:bodyPr/>
        <a:lstStyle/>
        <a:p>
          <a:endParaRPr lang="en-US"/>
        </a:p>
      </dgm:t>
    </dgm:pt>
    <dgm:pt modelId="{FCB9A11B-8264-45BF-8E6B-F5A77CC0A4F8}">
      <dgm:prSet phldrT="[Text]" custT="1"/>
      <dgm:spPr/>
      <dgm:t>
        <a:bodyPr/>
        <a:lstStyle/>
        <a:p>
          <a:r>
            <a:rPr lang="en-US" sz="1800" dirty="0" smtClean="0"/>
            <a:t>F5</a:t>
          </a:r>
          <a:endParaRPr lang="en-US" sz="1800" dirty="0"/>
        </a:p>
      </dgm:t>
    </dgm:pt>
    <dgm:pt modelId="{D5340B83-9275-4E20-AB2D-4EECAB6E41DD}" type="parTrans" cxnId="{C95792EA-A435-4877-B238-8233FB0019E8}">
      <dgm:prSet/>
      <dgm:spPr/>
      <dgm:t>
        <a:bodyPr/>
        <a:lstStyle/>
        <a:p>
          <a:endParaRPr lang="en-US"/>
        </a:p>
      </dgm:t>
    </dgm:pt>
    <dgm:pt modelId="{924808CB-0984-40EF-A091-A355205D2113}" type="sibTrans" cxnId="{C95792EA-A435-4877-B238-8233FB0019E8}">
      <dgm:prSet/>
      <dgm:spPr/>
      <dgm:t>
        <a:bodyPr/>
        <a:lstStyle/>
        <a:p>
          <a:endParaRPr lang="en-US"/>
        </a:p>
      </dgm:t>
    </dgm:pt>
    <dgm:pt modelId="{A8162EA6-800F-4073-A619-9A3F0C71F515}">
      <dgm:prSet phldrT="[Text]" custT="1"/>
      <dgm:spPr/>
      <dgm:t>
        <a:bodyPr/>
        <a:lstStyle/>
        <a:p>
          <a:r>
            <a:rPr lang="en-US" sz="1800" dirty="0" smtClean="0"/>
            <a:t>F8</a:t>
          </a:r>
          <a:endParaRPr lang="en-US" sz="1800" dirty="0"/>
        </a:p>
      </dgm:t>
    </dgm:pt>
    <dgm:pt modelId="{D75DD1E0-1776-48AD-9F90-E771053C1603}" type="parTrans" cxnId="{62285C4E-D634-4EB8-B43B-DF523678B4C9}">
      <dgm:prSet/>
      <dgm:spPr/>
      <dgm:t>
        <a:bodyPr/>
        <a:lstStyle/>
        <a:p>
          <a:endParaRPr lang="en-US"/>
        </a:p>
      </dgm:t>
    </dgm:pt>
    <dgm:pt modelId="{499BC45E-A2FC-4E8B-BFE1-5298DEFF734A}" type="sibTrans" cxnId="{62285C4E-D634-4EB8-B43B-DF523678B4C9}">
      <dgm:prSet/>
      <dgm:spPr/>
      <dgm:t>
        <a:bodyPr/>
        <a:lstStyle/>
        <a:p>
          <a:endParaRPr lang="en-US"/>
        </a:p>
      </dgm:t>
    </dgm:pt>
    <dgm:pt modelId="{D0FC011A-01BA-4755-B634-228764067056}">
      <dgm:prSet phldrT="[Text]" custT="1"/>
      <dgm:spPr/>
      <dgm:t>
        <a:bodyPr/>
        <a:lstStyle/>
        <a:p>
          <a:r>
            <a:rPr lang="en-US" sz="1800" dirty="0" smtClean="0"/>
            <a:t>F9</a:t>
          </a:r>
          <a:endParaRPr lang="en-US" sz="1800" dirty="0"/>
        </a:p>
      </dgm:t>
    </dgm:pt>
    <dgm:pt modelId="{AD1B8744-1FF2-4774-8033-904EC61958B9}" type="parTrans" cxnId="{81F815F0-0D0C-4715-89E5-5EE1213022DA}">
      <dgm:prSet/>
      <dgm:spPr/>
      <dgm:t>
        <a:bodyPr/>
        <a:lstStyle/>
        <a:p>
          <a:endParaRPr lang="en-US"/>
        </a:p>
      </dgm:t>
    </dgm:pt>
    <dgm:pt modelId="{09DC1589-A563-4A1B-9479-A7A28926A49C}" type="sibTrans" cxnId="{81F815F0-0D0C-4715-89E5-5EE1213022DA}">
      <dgm:prSet/>
      <dgm:spPr/>
      <dgm:t>
        <a:bodyPr/>
        <a:lstStyle/>
        <a:p>
          <a:endParaRPr lang="en-US"/>
        </a:p>
      </dgm:t>
    </dgm:pt>
    <dgm:pt modelId="{25A04943-E1E3-4616-974E-0DACEA556486}" type="pres">
      <dgm:prSet presAssocID="{A5066DED-DBA4-43A7-AF99-25BC86063D3B}" presName="linearFlow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41481A88-D0A1-46DA-9E5A-A1F4FE3D445E}" type="pres">
      <dgm:prSet presAssocID="{595587ED-7C5C-46E8-93AE-91084811BDE7}" presName="composite" presStyleCnt="0"/>
      <dgm:spPr/>
    </dgm:pt>
    <dgm:pt modelId="{01F88731-B48D-4BD0-A647-EA525074F037}" type="pres">
      <dgm:prSet presAssocID="{595587ED-7C5C-46E8-93AE-91084811BDE7}" presName="parTx" presStyleLbl="node1" presStyleIdx="0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B459FCA-93E9-4994-9CF1-C46EFCF63D0B}" type="pres">
      <dgm:prSet presAssocID="{595587ED-7C5C-46E8-93AE-91084811BDE7}" presName="parSh" presStyleLbl="node1" presStyleIdx="0" presStyleCnt="3" custScaleX="119225" custLinFactNeighborX="-220" custLinFactNeighborY="-1091"/>
      <dgm:spPr/>
      <dgm:t>
        <a:bodyPr/>
        <a:lstStyle/>
        <a:p>
          <a:endParaRPr lang="en-US"/>
        </a:p>
      </dgm:t>
    </dgm:pt>
    <dgm:pt modelId="{5B60B05F-3DDF-48E9-9143-1B48CE0E8BEB}" type="pres">
      <dgm:prSet presAssocID="{595587ED-7C5C-46E8-93AE-91084811BDE7}" presName="desTx" presStyleLbl="fgAcc1" presStyleIdx="0" presStyleCnt="3" custScaleY="63678" custLinFactNeighborX="1408" custLinFactNeighborY="86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4DC0CA5-3697-4896-BEF3-24014C4D5963}" type="pres">
      <dgm:prSet presAssocID="{FFFCBDA7-9EA8-4D28-A3F6-8AC2D2264A36}" presName="sibTrans" presStyleLbl="sibTrans2D1" presStyleIdx="0" presStyleCnt="2"/>
      <dgm:spPr/>
      <dgm:t>
        <a:bodyPr/>
        <a:lstStyle/>
        <a:p>
          <a:endParaRPr lang="en-US"/>
        </a:p>
      </dgm:t>
    </dgm:pt>
    <dgm:pt modelId="{D97006E8-C600-4274-9C56-21A52D58A989}" type="pres">
      <dgm:prSet presAssocID="{FFFCBDA7-9EA8-4D28-A3F6-8AC2D2264A36}" presName="connTx" presStyleLbl="sibTrans2D1" presStyleIdx="0" presStyleCnt="2"/>
      <dgm:spPr/>
      <dgm:t>
        <a:bodyPr/>
        <a:lstStyle/>
        <a:p>
          <a:endParaRPr lang="en-US"/>
        </a:p>
      </dgm:t>
    </dgm:pt>
    <dgm:pt modelId="{1BACB909-C558-42D3-B1CC-161086D301D3}" type="pres">
      <dgm:prSet presAssocID="{19D05F77-75B4-460E-9D19-F92D7AA765E3}" presName="composite" presStyleCnt="0"/>
      <dgm:spPr/>
    </dgm:pt>
    <dgm:pt modelId="{8B691EFC-EDC7-4B31-90DB-7829FF805980}" type="pres">
      <dgm:prSet presAssocID="{19D05F77-75B4-460E-9D19-F92D7AA765E3}" presName="parTx" presStyleLbl="node1" presStyleIdx="0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743320A-B16D-4747-A36B-6E31F52C8A76}" type="pres">
      <dgm:prSet presAssocID="{19D05F77-75B4-460E-9D19-F92D7AA765E3}" presName="parSh" presStyleLbl="node1" presStyleIdx="1" presStyleCnt="3" custScaleX="119225"/>
      <dgm:spPr/>
      <dgm:t>
        <a:bodyPr/>
        <a:lstStyle/>
        <a:p>
          <a:endParaRPr lang="en-US"/>
        </a:p>
      </dgm:t>
    </dgm:pt>
    <dgm:pt modelId="{3D09F52C-4F48-4227-B7CA-63D3B4D34278}" type="pres">
      <dgm:prSet presAssocID="{19D05F77-75B4-460E-9D19-F92D7AA765E3}" presName="desTx" presStyleLbl="fgAcc1" presStyleIdx="1" presStyleCnt="3" custScaleY="6367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C8941AF-BACB-43C8-B444-2AC078D647CA}" type="pres">
      <dgm:prSet presAssocID="{A6A9F71C-8879-4C22-8654-61EC4DC8933A}" presName="sibTrans" presStyleLbl="sibTrans2D1" presStyleIdx="1" presStyleCnt="2"/>
      <dgm:spPr/>
      <dgm:t>
        <a:bodyPr/>
        <a:lstStyle/>
        <a:p>
          <a:endParaRPr lang="en-US"/>
        </a:p>
      </dgm:t>
    </dgm:pt>
    <dgm:pt modelId="{2F716BE5-DAAF-4B64-BAAC-32FFFB3EA95D}" type="pres">
      <dgm:prSet presAssocID="{A6A9F71C-8879-4C22-8654-61EC4DC8933A}" presName="connTx" presStyleLbl="sibTrans2D1" presStyleIdx="1" presStyleCnt="2"/>
      <dgm:spPr/>
      <dgm:t>
        <a:bodyPr/>
        <a:lstStyle/>
        <a:p>
          <a:endParaRPr lang="en-US"/>
        </a:p>
      </dgm:t>
    </dgm:pt>
    <dgm:pt modelId="{D67FE10F-C6B8-4775-B777-A070A8394D23}" type="pres">
      <dgm:prSet presAssocID="{E7E6566C-F2F4-4779-97E9-19F78E0FE8BB}" presName="composite" presStyleCnt="0"/>
      <dgm:spPr/>
    </dgm:pt>
    <dgm:pt modelId="{3EE0D985-2C2D-4583-92D4-A071A158AB24}" type="pres">
      <dgm:prSet presAssocID="{E7E6566C-F2F4-4779-97E9-19F78E0FE8BB}" presName="parTx" presStyleLbl="node1" presStyleIdx="1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3519200-3A94-4F08-97AC-A814E7D0F2C0}" type="pres">
      <dgm:prSet presAssocID="{E7E6566C-F2F4-4779-97E9-19F78E0FE8BB}" presName="parSh" presStyleLbl="node1" presStyleIdx="2" presStyleCnt="3" custScaleX="119225"/>
      <dgm:spPr/>
      <dgm:t>
        <a:bodyPr/>
        <a:lstStyle/>
        <a:p>
          <a:endParaRPr lang="en-US"/>
        </a:p>
      </dgm:t>
    </dgm:pt>
    <dgm:pt modelId="{C3DE530F-2BE3-496B-88C1-96E1C341259A}" type="pres">
      <dgm:prSet presAssocID="{E7E6566C-F2F4-4779-97E9-19F78E0FE8BB}" presName="desTx" presStyleLbl="fgAcc1" presStyleIdx="2" presStyleCnt="3" custScaleY="6367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EE715410-C33D-4CEC-A2C4-DE6F9D2923E6}" srcId="{19D05F77-75B4-460E-9D19-F92D7AA765E3}" destId="{7BCB32B6-CD08-4BD8-B839-B3015E523F04}" srcOrd="0" destOrd="0" parTransId="{F073C809-942C-4DAA-89D7-1F0519A4FE1E}" sibTransId="{3B1C1EAD-3348-47C1-8DC7-AD01A51F1017}"/>
    <dgm:cxn modelId="{A5C9F219-889D-41EC-8C4E-4AE333109CEA}" type="presOf" srcId="{38927049-0753-468F-9AB5-9F4FBDDD43E9}" destId="{C3DE530F-2BE3-496B-88C1-96E1C341259A}" srcOrd="0" destOrd="2" presId="urn:microsoft.com/office/officeart/2005/8/layout/process3"/>
    <dgm:cxn modelId="{81F815F0-0D0C-4715-89E5-5EE1213022DA}" srcId="{19D05F77-75B4-460E-9D19-F92D7AA765E3}" destId="{D0FC011A-01BA-4755-B634-228764067056}" srcOrd="3" destOrd="0" parTransId="{AD1B8744-1FF2-4774-8033-904EC61958B9}" sibTransId="{09DC1589-A563-4A1B-9479-A7A28926A49C}"/>
    <dgm:cxn modelId="{14266164-25C3-403A-9FBE-2C265E47E019}" srcId="{A5066DED-DBA4-43A7-AF99-25BC86063D3B}" destId="{E7E6566C-F2F4-4779-97E9-19F78E0FE8BB}" srcOrd="2" destOrd="0" parTransId="{CF4BB3C5-4659-4A24-8541-8EA5BF33BF32}" sibTransId="{46E23FEE-318A-4DBD-8F07-D761795C2246}"/>
    <dgm:cxn modelId="{29B4F37B-8E17-4269-A07F-4E2A7F8C2C14}" type="presOf" srcId="{595587ED-7C5C-46E8-93AE-91084811BDE7}" destId="{01F88731-B48D-4BD0-A647-EA525074F037}" srcOrd="0" destOrd="0" presId="urn:microsoft.com/office/officeart/2005/8/layout/process3"/>
    <dgm:cxn modelId="{14885590-5B30-407B-BB42-0BEADFD31704}" type="presOf" srcId="{A6A9F71C-8879-4C22-8654-61EC4DC8933A}" destId="{4C8941AF-BACB-43C8-B444-2AC078D647CA}" srcOrd="0" destOrd="0" presId="urn:microsoft.com/office/officeart/2005/8/layout/process3"/>
    <dgm:cxn modelId="{EEAE62B7-9CF2-4210-90F4-1942FBDB3746}" type="presOf" srcId="{19D05F77-75B4-460E-9D19-F92D7AA765E3}" destId="{0743320A-B16D-4747-A36B-6E31F52C8A76}" srcOrd="1" destOrd="0" presId="urn:microsoft.com/office/officeart/2005/8/layout/process3"/>
    <dgm:cxn modelId="{5F1876BA-4DE5-4816-BD7D-03FEDCD37D6E}" srcId="{A5066DED-DBA4-43A7-AF99-25BC86063D3B}" destId="{595587ED-7C5C-46E8-93AE-91084811BDE7}" srcOrd="0" destOrd="0" parTransId="{7B21C7E4-FA73-413A-A672-9950CF2A914D}" sibTransId="{FFFCBDA7-9EA8-4D28-A3F6-8AC2D2264A36}"/>
    <dgm:cxn modelId="{4903658D-C6B9-400E-B631-D4FDF25DEBB2}" srcId="{E7E6566C-F2F4-4779-97E9-19F78E0FE8BB}" destId="{38927049-0753-468F-9AB5-9F4FBDDD43E9}" srcOrd="2" destOrd="0" parTransId="{C0826A22-B7EB-46D2-B65B-F319B8BFC4C9}" sibTransId="{198A8C6A-3354-4629-8494-E75FD0011459}"/>
    <dgm:cxn modelId="{1E7B2C29-E9FD-48E1-853D-A4531AFB192F}" type="presOf" srcId="{FFFCBDA7-9EA8-4D28-A3F6-8AC2D2264A36}" destId="{E4DC0CA5-3697-4896-BEF3-24014C4D5963}" srcOrd="0" destOrd="0" presId="urn:microsoft.com/office/officeart/2005/8/layout/process3"/>
    <dgm:cxn modelId="{BF8DF540-585E-4C7B-A641-A95B37590F1F}" type="presOf" srcId="{595587ED-7C5C-46E8-93AE-91084811BDE7}" destId="{AB459FCA-93E9-4994-9CF1-C46EFCF63D0B}" srcOrd="1" destOrd="0" presId="urn:microsoft.com/office/officeart/2005/8/layout/process3"/>
    <dgm:cxn modelId="{3CB718B0-ED28-4B52-922E-8DDF7E3A390B}" type="presOf" srcId="{34BA63BE-F9CB-4499-9130-BF346E0F99C8}" destId="{C3DE530F-2BE3-496B-88C1-96E1C341259A}" srcOrd="0" destOrd="1" presId="urn:microsoft.com/office/officeart/2005/8/layout/process3"/>
    <dgm:cxn modelId="{25BAB1CB-6FF6-4B00-9423-994CF385C103}" srcId="{595587ED-7C5C-46E8-93AE-91084811BDE7}" destId="{C7E27623-5E84-4175-9C8E-3EC4E543FCBE}" srcOrd="2" destOrd="0" parTransId="{52986A4B-B45B-4EC3-8500-A43154DE6CC2}" sibTransId="{E5067697-598A-46C4-BFA1-7242DCCFD7EC}"/>
    <dgm:cxn modelId="{E91E164F-44A4-4DE7-8F2F-D61CF3565F3C}" type="presOf" srcId="{D7204752-FDBE-4466-922D-C4CCB753FE64}" destId="{3D09F52C-4F48-4227-B7CA-63D3B4D34278}" srcOrd="0" destOrd="1" presId="urn:microsoft.com/office/officeart/2005/8/layout/process3"/>
    <dgm:cxn modelId="{EBB21BB6-EEBF-4710-B4B5-9212B36E4DFA}" srcId="{E7E6566C-F2F4-4779-97E9-19F78E0FE8BB}" destId="{34BA63BE-F9CB-4499-9130-BF346E0F99C8}" srcOrd="1" destOrd="0" parTransId="{E458BFFD-381C-45EF-A28E-BDC62C63ACA2}" sibTransId="{7C50D979-5725-4907-A85D-1AE3E5C61F1A}"/>
    <dgm:cxn modelId="{E3C9D70B-AA96-4DE5-B07A-BBE85DB9379F}" type="presOf" srcId="{7BCB32B6-CD08-4BD8-B839-B3015E523F04}" destId="{3D09F52C-4F48-4227-B7CA-63D3B4D34278}" srcOrd="0" destOrd="0" presId="urn:microsoft.com/office/officeart/2005/8/layout/process3"/>
    <dgm:cxn modelId="{821380F5-B241-4E3D-89D8-08CA1EAA6CAF}" srcId="{595587ED-7C5C-46E8-93AE-91084811BDE7}" destId="{77E77D4E-9218-4BDD-A8BC-5BC05C3468DC}" srcOrd="1" destOrd="0" parTransId="{20897599-29AB-457C-87A4-095C0FD2955C}" sibTransId="{E59B444F-9495-43E3-901B-8DF5FC94D42B}"/>
    <dgm:cxn modelId="{FFF57AE3-4C7D-417E-9AC0-68D5242C22B4}" type="presOf" srcId="{A5066DED-DBA4-43A7-AF99-25BC86063D3B}" destId="{25A04943-E1E3-4616-974E-0DACEA556486}" srcOrd="0" destOrd="0" presId="urn:microsoft.com/office/officeart/2005/8/layout/process3"/>
    <dgm:cxn modelId="{7CD7A5C7-937E-417B-952E-BE4BE1F43A56}" type="presOf" srcId="{FCB9A11B-8264-45BF-8E6B-F5A77CC0A4F8}" destId="{5B60B05F-3DDF-48E9-9143-1B48CE0E8BEB}" srcOrd="0" destOrd="4" presId="urn:microsoft.com/office/officeart/2005/8/layout/process3"/>
    <dgm:cxn modelId="{CED85369-E757-41FB-BF70-63ADF35492D6}" type="presOf" srcId="{20F20C3D-6277-4812-AF1C-118B19F88B01}" destId="{5B60B05F-3DDF-48E9-9143-1B48CE0E8BEB}" srcOrd="0" destOrd="0" presId="urn:microsoft.com/office/officeart/2005/8/layout/process3"/>
    <dgm:cxn modelId="{C95792EA-A435-4877-B238-8233FB0019E8}" srcId="{595587ED-7C5C-46E8-93AE-91084811BDE7}" destId="{FCB9A11B-8264-45BF-8E6B-F5A77CC0A4F8}" srcOrd="4" destOrd="0" parTransId="{D5340B83-9275-4E20-AB2D-4EECAB6E41DD}" sibTransId="{924808CB-0984-40EF-A091-A355205D2113}"/>
    <dgm:cxn modelId="{62CBD571-B4DB-45CD-A814-89C98C7F6A9B}" type="presOf" srcId="{19D05F77-75B4-460E-9D19-F92D7AA765E3}" destId="{8B691EFC-EDC7-4B31-90DB-7829FF805980}" srcOrd="0" destOrd="0" presId="urn:microsoft.com/office/officeart/2005/8/layout/process3"/>
    <dgm:cxn modelId="{10E8366E-9CDF-4623-96C3-24F535742D0D}" type="presOf" srcId="{D0FC011A-01BA-4755-B634-228764067056}" destId="{3D09F52C-4F48-4227-B7CA-63D3B4D34278}" srcOrd="0" destOrd="3" presId="urn:microsoft.com/office/officeart/2005/8/layout/process3"/>
    <dgm:cxn modelId="{EDAF17DE-BD84-42AA-B2CE-88D2E90EDA51}" type="presOf" srcId="{F883E86D-1809-420D-858F-F8276D4762FF}" destId="{C3DE530F-2BE3-496B-88C1-96E1C341259A}" srcOrd="0" destOrd="0" presId="urn:microsoft.com/office/officeart/2005/8/layout/process3"/>
    <dgm:cxn modelId="{A4EA3535-A825-47D5-B302-306D6FF89F68}" type="presOf" srcId="{54C48828-D4A2-47F3-8C62-944C7D80B185}" destId="{5B60B05F-3DDF-48E9-9143-1B48CE0E8BEB}" srcOrd="0" destOrd="3" presId="urn:microsoft.com/office/officeart/2005/8/layout/process3"/>
    <dgm:cxn modelId="{13842922-09F4-4747-BE10-B9535F622D3B}" type="presOf" srcId="{A6A9F71C-8879-4C22-8654-61EC4DC8933A}" destId="{2F716BE5-DAAF-4B64-BAAC-32FFFB3EA95D}" srcOrd="1" destOrd="0" presId="urn:microsoft.com/office/officeart/2005/8/layout/process3"/>
    <dgm:cxn modelId="{FA5FE82B-20D0-476E-AB68-F18752ED1F47}" type="presOf" srcId="{A8162EA6-800F-4073-A619-9A3F0C71F515}" destId="{3D09F52C-4F48-4227-B7CA-63D3B4D34278}" srcOrd="0" destOrd="2" presId="urn:microsoft.com/office/officeart/2005/8/layout/process3"/>
    <dgm:cxn modelId="{D48A40A0-A0A7-4A64-82E1-826E32A455C0}" srcId="{E7E6566C-F2F4-4779-97E9-19F78E0FE8BB}" destId="{F883E86D-1809-420D-858F-F8276D4762FF}" srcOrd="0" destOrd="0" parTransId="{FD5B987D-99AF-4F51-9A45-C44B828BD87E}" sibTransId="{F0609EE8-2363-4290-AE06-E377D3BA5E6F}"/>
    <dgm:cxn modelId="{3692928F-A2D4-46F9-B77E-726B7D300C3F}" type="presOf" srcId="{FFFCBDA7-9EA8-4D28-A3F6-8AC2D2264A36}" destId="{D97006E8-C600-4274-9C56-21A52D58A989}" srcOrd="1" destOrd="0" presId="urn:microsoft.com/office/officeart/2005/8/layout/process3"/>
    <dgm:cxn modelId="{0254327F-4D32-4304-A73A-2F9F6A4A9A10}" srcId="{A5066DED-DBA4-43A7-AF99-25BC86063D3B}" destId="{19D05F77-75B4-460E-9D19-F92D7AA765E3}" srcOrd="1" destOrd="0" parTransId="{B4C7D24C-15F0-4788-90EF-52F08328C791}" sibTransId="{A6A9F71C-8879-4C22-8654-61EC4DC8933A}"/>
    <dgm:cxn modelId="{2A73229F-5B67-48D3-B584-6E6C05795E9F}" srcId="{19D05F77-75B4-460E-9D19-F92D7AA765E3}" destId="{D7204752-FDBE-4466-922D-C4CCB753FE64}" srcOrd="1" destOrd="0" parTransId="{E0225075-2CC0-459D-9F76-ACF205F9D642}" sibTransId="{291F175B-9830-47DE-9410-FB2D1D93CA8B}"/>
    <dgm:cxn modelId="{62285C4E-D634-4EB8-B43B-DF523678B4C9}" srcId="{19D05F77-75B4-460E-9D19-F92D7AA765E3}" destId="{A8162EA6-800F-4073-A619-9A3F0C71F515}" srcOrd="2" destOrd="0" parTransId="{D75DD1E0-1776-48AD-9F90-E771053C1603}" sibTransId="{499BC45E-A2FC-4E8B-BFE1-5298DEFF734A}"/>
    <dgm:cxn modelId="{9ED9BAA9-03B6-450B-843A-15A34D139E81}" srcId="{595587ED-7C5C-46E8-93AE-91084811BDE7}" destId="{20F20C3D-6277-4812-AF1C-118B19F88B01}" srcOrd="0" destOrd="0" parTransId="{202EDF59-1282-417E-B7BB-6B9ABBB1E8C7}" sibTransId="{EB2E4B29-FE17-4429-A082-6AFC8100B70D}"/>
    <dgm:cxn modelId="{3C95BD3B-AC20-4D35-ABE6-F90A41925221}" type="presOf" srcId="{77E77D4E-9218-4BDD-A8BC-5BC05C3468DC}" destId="{5B60B05F-3DDF-48E9-9143-1B48CE0E8BEB}" srcOrd="0" destOrd="1" presId="urn:microsoft.com/office/officeart/2005/8/layout/process3"/>
    <dgm:cxn modelId="{61DC48C8-7B99-4509-9F09-F17F3160A231}" type="presOf" srcId="{C7E27623-5E84-4175-9C8E-3EC4E543FCBE}" destId="{5B60B05F-3DDF-48E9-9143-1B48CE0E8BEB}" srcOrd="0" destOrd="2" presId="urn:microsoft.com/office/officeart/2005/8/layout/process3"/>
    <dgm:cxn modelId="{AA59A01D-F322-425B-9563-A39E11CBE70D}" type="presOf" srcId="{E7E6566C-F2F4-4779-97E9-19F78E0FE8BB}" destId="{3EE0D985-2C2D-4583-92D4-A071A158AB24}" srcOrd="0" destOrd="0" presId="urn:microsoft.com/office/officeart/2005/8/layout/process3"/>
    <dgm:cxn modelId="{E777F967-F1CE-47B4-9778-0D17243A7862}" srcId="{595587ED-7C5C-46E8-93AE-91084811BDE7}" destId="{54C48828-D4A2-47F3-8C62-944C7D80B185}" srcOrd="3" destOrd="0" parTransId="{FE5E3A7C-93C6-4F5E-9383-AC57F24ACE60}" sibTransId="{46D48946-88F9-47DC-94AC-909922F0B6A2}"/>
    <dgm:cxn modelId="{F3AD51CE-7559-45C7-8E24-866B051BEF69}" type="presOf" srcId="{E7E6566C-F2F4-4779-97E9-19F78E0FE8BB}" destId="{73519200-3A94-4F08-97AC-A814E7D0F2C0}" srcOrd="1" destOrd="0" presId="urn:microsoft.com/office/officeart/2005/8/layout/process3"/>
    <dgm:cxn modelId="{184B1D7A-1414-4178-AB59-5B576CB82946}" type="presParOf" srcId="{25A04943-E1E3-4616-974E-0DACEA556486}" destId="{41481A88-D0A1-46DA-9E5A-A1F4FE3D445E}" srcOrd="0" destOrd="0" presId="urn:microsoft.com/office/officeart/2005/8/layout/process3"/>
    <dgm:cxn modelId="{D65046EF-E6E4-4769-9726-E108DCF9D268}" type="presParOf" srcId="{41481A88-D0A1-46DA-9E5A-A1F4FE3D445E}" destId="{01F88731-B48D-4BD0-A647-EA525074F037}" srcOrd="0" destOrd="0" presId="urn:microsoft.com/office/officeart/2005/8/layout/process3"/>
    <dgm:cxn modelId="{8B0430A5-7505-4E87-A981-BE37936700E6}" type="presParOf" srcId="{41481A88-D0A1-46DA-9E5A-A1F4FE3D445E}" destId="{AB459FCA-93E9-4994-9CF1-C46EFCF63D0B}" srcOrd="1" destOrd="0" presId="urn:microsoft.com/office/officeart/2005/8/layout/process3"/>
    <dgm:cxn modelId="{147328BA-A24D-4D0A-B0D8-10DACEE070D6}" type="presParOf" srcId="{41481A88-D0A1-46DA-9E5A-A1F4FE3D445E}" destId="{5B60B05F-3DDF-48E9-9143-1B48CE0E8BEB}" srcOrd="2" destOrd="0" presId="urn:microsoft.com/office/officeart/2005/8/layout/process3"/>
    <dgm:cxn modelId="{DF89AA7E-700A-41AB-989F-607D0CAB3745}" type="presParOf" srcId="{25A04943-E1E3-4616-974E-0DACEA556486}" destId="{E4DC0CA5-3697-4896-BEF3-24014C4D5963}" srcOrd="1" destOrd="0" presId="urn:microsoft.com/office/officeart/2005/8/layout/process3"/>
    <dgm:cxn modelId="{88AB7CAB-72FB-44EF-8D5D-7E7C2A781A05}" type="presParOf" srcId="{E4DC0CA5-3697-4896-BEF3-24014C4D5963}" destId="{D97006E8-C600-4274-9C56-21A52D58A989}" srcOrd="0" destOrd="0" presId="urn:microsoft.com/office/officeart/2005/8/layout/process3"/>
    <dgm:cxn modelId="{DDA564FA-505A-48F1-96E3-96F36CFF59D8}" type="presParOf" srcId="{25A04943-E1E3-4616-974E-0DACEA556486}" destId="{1BACB909-C558-42D3-B1CC-161086D301D3}" srcOrd="2" destOrd="0" presId="urn:microsoft.com/office/officeart/2005/8/layout/process3"/>
    <dgm:cxn modelId="{DBF1E900-846C-49A7-9C12-7B8669158634}" type="presParOf" srcId="{1BACB909-C558-42D3-B1CC-161086D301D3}" destId="{8B691EFC-EDC7-4B31-90DB-7829FF805980}" srcOrd="0" destOrd="0" presId="urn:microsoft.com/office/officeart/2005/8/layout/process3"/>
    <dgm:cxn modelId="{26297A54-4815-4B30-BD65-4CB5D11A4A5B}" type="presParOf" srcId="{1BACB909-C558-42D3-B1CC-161086D301D3}" destId="{0743320A-B16D-4747-A36B-6E31F52C8A76}" srcOrd="1" destOrd="0" presId="urn:microsoft.com/office/officeart/2005/8/layout/process3"/>
    <dgm:cxn modelId="{73EDC55F-6AA4-482F-B152-DB9D62C9405A}" type="presParOf" srcId="{1BACB909-C558-42D3-B1CC-161086D301D3}" destId="{3D09F52C-4F48-4227-B7CA-63D3B4D34278}" srcOrd="2" destOrd="0" presId="urn:microsoft.com/office/officeart/2005/8/layout/process3"/>
    <dgm:cxn modelId="{E553AA2E-40AF-43DE-8E25-5A78B7AD12DB}" type="presParOf" srcId="{25A04943-E1E3-4616-974E-0DACEA556486}" destId="{4C8941AF-BACB-43C8-B444-2AC078D647CA}" srcOrd="3" destOrd="0" presId="urn:microsoft.com/office/officeart/2005/8/layout/process3"/>
    <dgm:cxn modelId="{071D02E1-7CEE-48D9-9063-5A5F84E50808}" type="presParOf" srcId="{4C8941AF-BACB-43C8-B444-2AC078D647CA}" destId="{2F716BE5-DAAF-4B64-BAAC-32FFFB3EA95D}" srcOrd="0" destOrd="0" presId="urn:microsoft.com/office/officeart/2005/8/layout/process3"/>
    <dgm:cxn modelId="{ADFA386C-F5D9-4BE4-A1C0-21808512F5C4}" type="presParOf" srcId="{25A04943-E1E3-4616-974E-0DACEA556486}" destId="{D67FE10F-C6B8-4775-B777-A070A8394D23}" srcOrd="4" destOrd="0" presId="urn:microsoft.com/office/officeart/2005/8/layout/process3"/>
    <dgm:cxn modelId="{F7E6D5C6-786E-4F1C-BE75-82DDF7975459}" type="presParOf" srcId="{D67FE10F-C6B8-4775-B777-A070A8394D23}" destId="{3EE0D985-2C2D-4583-92D4-A071A158AB24}" srcOrd="0" destOrd="0" presId="urn:microsoft.com/office/officeart/2005/8/layout/process3"/>
    <dgm:cxn modelId="{52B9AC05-ADAE-4296-87C7-D38EC46E8DC1}" type="presParOf" srcId="{D67FE10F-C6B8-4775-B777-A070A8394D23}" destId="{73519200-3A94-4F08-97AC-A814E7D0F2C0}" srcOrd="1" destOrd="0" presId="urn:microsoft.com/office/officeart/2005/8/layout/process3"/>
    <dgm:cxn modelId="{4FE8CAC8-3791-46C8-83CC-DF9BAACBF483}" type="presParOf" srcId="{D67FE10F-C6B8-4775-B777-A070A8394D23}" destId="{C3DE530F-2BE3-496B-88C1-96E1C341259A}" srcOrd="2" destOrd="0" presId="urn:microsoft.com/office/officeart/2005/8/layout/process3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AB459FCA-93E9-4994-9CF1-C46EFCF63D0B}">
      <dsp:nvSpPr>
        <dsp:cNvPr id="0" name=""/>
        <dsp:cNvSpPr/>
      </dsp:nvSpPr>
      <dsp:spPr>
        <a:xfrm>
          <a:off x="0" y="160028"/>
          <a:ext cx="1987187" cy="2764800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464" tIns="156464" rIns="156464" bIns="83820" numCol="1" spcCol="1270" anchor="t" anchorCtr="0">
          <a:noAutofit/>
        </a:bodyPr>
        <a:lstStyle/>
        <a:p>
          <a:pPr lvl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smtClean="0"/>
            <a:t>Product Release 1 </a:t>
          </a:r>
          <a:r>
            <a:rPr lang="en-US" sz="2000" kern="1200" dirty="0" smtClean="0"/>
            <a:t>(10/04/2021)</a:t>
          </a:r>
          <a:endParaRPr lang="en-US" sz="2000" kern="1200" dirty="0"/>
        </a:p>
      </dsp:txBody>
      <dsp:txXfrm>
        <a:off x="0" y="160028"/>
        <a:ext cx="1987187" cy="666701"/>
      </dsp:txXfrm>
    </dsp:sp>
    <dsp:sp modelId="{5B60B05F-3DDF-48E9-9143-1B48CE0E8BEB}">
      <dsp:nvSpPr>
        <dsp:cNvPr id="0" name=""/>
        <dsp:cNvSpPr/>
      </dsp:nvSpPr>
      <dsp:spPr>
        <a:xfrm>
          <a:off x="527523" y="1558268"/>
          <a:ext cx="1666754" cy="234742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800" kern="1200" dirty="0" smtClean="0"/>
            <a:t>F1</a:t>
          </a:r>
          <a:endParaRPr lang="en-U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800" kern="1200" dirty="0" smtClean="0"/>
            <a:t>F2</a:t>
          </a:r>
          <a:endParaRPr lang="en-U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800" kern="1200" dirty="0" smtClean="0"/>
            <a:t>F3</a:t>
          </a:r>
          <a:endParaRPr lang="en-U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800" kern="1200" dirty="0" smtClean="0"/>
            <a:t>F4</a:t>
          </a:r>
          <a:endParaRPr lang="en-U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800" kern="1200" dirty="0" smtClean="0"/>
            <a:t>F5</a:t>
          </a:r>
          <a:endParaRPr lang="en-US" sz="1800" kern="1200" dirty="0"/>
        </a:p>
      </dsp:txBody>
      <dsp:txXfrm>
        <a:off x="527523" y="1558268"/>
        <a:ext cx="1666754" cy="2347425"/>
      </dsp:txXfrm>
    </dsp:sp>
    <dsp:sp modelId="{E4DC0CA5-3697-4896-BEF3-24014C4D5963}">
      <dsp:nvSpPr>
        <dsp:cNvPr id="0" name=""/>
        <dsp:cNvSpPr/>
      </dsp:nvSpPr>
      <dsp:spPr>
        <a:xfrm rot="36510">
          <a:off x="2200408" y="301110"/>
          <a:ext cx="452080" cy="414973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700" kern="1200"/>
        </a:p>
      </dsp:txBody>
      <dsp:txXfrm rot="36510">
        <a:off x="2200408" y="301110"/>
        <a:ext cx="452080" cy="414973"/>
      </dsp:txXfrm>
    </dsp:sp>
    <dsp:sp modelId="{0743320A-B16D-4747-A36B-6E31F52C8A76}">
      <dsp:nvSpPr>
        <dsp:cNvPr id="0" name=""/>
        <dsp:cNvSpPr/>
      </dsp:nvSpPr>
      <dsp:spPr>
        <a:xfrm>
          <a:off x="2840122" y="190192"/>
          <a:ext cx="1987187" cy="2764800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464" tIns="156464" rIns="156464" bIns="83820" numCol="1" spcCol="1270" anchor="t" anchorCtr="0">
          <a:noAutofit/>
        </a:bodyPr>
        <a:lstStyle/>
        <a:p>
          <a:pPr lvl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smtClean="0"/>
            <a:t>Product Release 2 </a:t>
          </a:r>
          <a:r>
            <a:rPr lang="en-US" sz="2000" kern="1200" dirty="0" smtClean="0"/>
            <a:t>(11/29/2021)</a:t>
          </a:r>
          <a:endParaRPr lang="en-US" sz="2000" kern="1200" dirty="0"/>
        </a:p>
      </dsp:txBody>
      <dsp:txXfrm>
        <a:off x="2840122" y="190192"/>
        <a:ext cx="1987187" cy="666701"/>
      </dsp:txXfrm>
    </dsp:sp>
    <dsp:sp modelId="{3D09F52C-4F48-4227-B7CA-63D3B4D34278}">
      <dsp:nvSpPr>
        <dsp:cNvPr id="0" name=""/>
        <dsp:cNvSpPr/>
      </dsp:nvSpPr>
      <dsp:spPr>
        <a:xfrm>
          <a:off x="3341722" y="1526381"/>
          <a:ext cx="1666754" cy="234742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800" kern="1200" dirty="0" smtClean="0"/>
            <a:t>F6</a:t>
          </a:r>
          <a:endParaRPr lang="en-U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800" kern="1200" dirty="0" smtClean="0"/>
            <a:t>F7</a:t>
          </a:r>
          <a:endParaRPr lang="en-U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800" kern="1200" dirty="0" smtClean="0"/>
            <a:t>F8</a:t>
          </a:r>
          <a:endParaRPr lang="en-U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800" kern="1200" dirty="0" smtClean="0"/>
            <a:t>F9</a:t>
          </a:r>
          <a:endParaRPr lang="en-US" sz="1800" kern="1200" dirty="0"/>
        </a:p>
      </dsp:txBody>
      <dsp:txXfrm>
        <a:off x="3341722" y="1526381"/>
        <a:ext cx="1666754" cy="2347425"/>
      </dsp:txXfrm>
    </dsp:sp>
    <dsp:sp modelId="{4C8941AF-BACB-43C8-B444-2AC078D647CA}">
      <dsp:nvSpPr>
        <dsp:cNvPr id="0" name=""/>
        <dsp:cNvSpPr/>
      </dsp:nvSpPr>
      <dsp:spPr>
        <a:xfrm>
          <a:off x="5039930" y="316056"/>
          <a:ext cx="450753" cy="414973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700" kern="1200"/>
        </a:p>
      </dsp:txBody>
      <dsp:txXfrm>
        <a:off x="5039930" y="316056"/>
        <a:ext cx="450753" cy="414973"/>
      </dsp:txXfrm>
    </dsp:sp>
    <dsp:sp modelId="{73519200-3A94-4F08-97AC-A814E7D0F2C0}">
      <dsp:nvSpPr>
        <dsp:cNvPr id="0" name=""/>
        <dsp:cNvSpPr/>
      </dsp:nvSpPr>
      <dsp:spPr>
        <a:xfrm>
          <a:off x="5677789" y="190192"/>
          <a:ext cx="1987187" cy="2764800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464" tIns="156464" rIns="156464" bIns="83820" numCol="1" spcCol="1270" anchor="t" anchorCtr="0">
          <a:noAutofit/>
        </a:bodyPr>
        <a:lstStyle/>
        <a:p>
          <a:pPr lvl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smtClean="0"/>
            <a:t>Product Release 3 </a:t>
          </a:r>
          <a:r>
            <a:rPr lang="en-US" sz="2000" kern="1200" dirty="0" smtClean="0"/>
            <a:t>(12/27/2021)</a:t>
          </a:r>
          <a:endParaRPr lang="en-US" sz="2000" kern="1200" dirty="0"/>
        </a:p>
      </dsp:txBody>
      <dsp:txXfrm>
        <a:off x="5677789" y="190192"/>
        <a:ext cx="1987187" cy="666701"/>
      </dsp:txXfrm>
    </dsp:sp>
    <dsp:sp modelId="{C3DE530F-2BE3-496B-88C1-96E1C341259A}">
      <dsp:nvSpPr>
        <dsp:cNvPr id="0" name=""/>
        <dsp:cNvSpPr/>
      </dsp:nvSpPr>
      <dsp:spPr>
        <a:xfrm>
          <a:off x="6179389" y="1526381"/>
          <a:ext cx="1666754" cy="234742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800" kern="1200" dirty="0" smtClean="0"/>
            <a:t>F10</a:t>
          </a:r>
          <a:endParaRPr lang="en-U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800" kern="1200" dirty="0" smtClean="0"/>
            <a:t>F11</a:t>
          </a:r>
          <a:endParaRPr lang="en-U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800" kern="1200" dirty="0" smtClean="0"/>
            <a:t>F12</a:t>
          </a:r>
          <a:endParaRPr lang="en-US" sz="1800" kern="1200" dirty="0"/>
        </a:p>
      </dsp:txBody>
      <dsp:txXfrm>
        <a:off x="6179389" y="1526381"/>
        <a:ext cx="1666754" cy="234742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3">
  <dgm:title val=""/>
  <dgm:desc val=""/>
  <dgm:catLst>
    <dgm:cat type="process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3" destOrd="0"/>
        <dgm:cxn modelId="12" srcId="1" destId="11" srcOrd="0" destOrd="0"/>
        <dgm:cxn modelId="23" srcId="2" destId="21" srcOrd="0" destOrd="0"/>
        <dgm:cxn modelId="34" srcId="3" destId="3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w" for="ch" ptType="sibTrans" refType="w" refFor="ch" refForName="composite" fact="0.3333"/>
      <dgm:constr type="w" for="des" forName="parTx"/>
      <dgm:constr type="h" for="des" forName="parTx" op="equ"/>
      <dgm:constr type="h" for="des" forName="parSh" op="equ"/>
      <dgm:constr type="w" for="des" forName="desTx"/>
      <dgm:constr type="h" for="des" forName="desTx" op="equ"/>
      <dgm:constr type="w" for="des" forName="parSh"/>
      <dgm:constr type="primFontSz" for="des" forName="parTx" val="65"/>
      <dgm:constr type="secFontSz" for="des" forName="desTx" refType="primFontSz" refFor="des" refForName="parTx" op="equ"/>
      <dgm:constr type="primFontSz" for="des" forName="connTx" refType="primFontSz" refFor="des" refForName="parTx" fact="0.8"/>
      <dgm:constr type="primFontSz" for="des" forName="connTx" refType="primFontSz" refFor="des" refForName="parTx" op="lte" fact="0.8"/>
      <dgm:constr type="h" for="des" forName="parTx" refType="primFontSz" refFor="des" refForName="parTx" fact="0.8"/>
      <dgm:constr type="h" for="des" forName="parSh" refType="primFontSz" refFor="des" refForName="parTx" fact="1.2"/>
      <dgm:constr type="h" for="des" forName="desTx" refType="primFontSz" refFor="des" refForName="parTx" fact="1.6"/>
      <dgm:constr type="h" for="des" forName="parSh" refType="h" refFor="des" refForName="parTx" op="lte" fact="1.5"/>
      <dgm:constr type="h" for="des" forName="parSh" refType="h" refFor="des" refForName="parTx" op="gte" fact="1.5"/>
    </dgm:constrLst>
    <dgm:ruleLst>
      <dgm:rule type="w" for="ch" forName="composite" val="0" fact="NaN" max="NaN"/>
      <dgm:rule type="primFontSz" for="des" forName="parTx" val="5" fact="NaN" max="NaN"/>
    </dgm:ruleLst>
    <dgm:forEach name="Name3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func="var" arg="dir" op="equ" val="norm">
            <dgm:constrLst>
              <dgm:constr type="h" refType="w" fact="1000"/>
              <dgm:constr type="l" for="ch" forName="parTx"/>
              <dgm:constr type="w" for="ch" forName="parTx" refType="w" fact="0.83"/>
              <dgm:constr type="t" for="ch" forName="parTx"/>
              <dgm:constr type="l" for="ch" forName="parSh"/>
              <dgm:constr type="w" for="ch" forName="parSh" refType="w" refFor="ch" refForName="parTx"/>
              <dgm:constr type="t" for="ch" forName="parSh"/>
              <dgm:constr type="l" for="ch" forName="desTx" refType="w" fact="0.17"/>
              <dgm:constr type="w" for="ch" forName="desTx" refType="w" refFor="ch" refForName="parTx"/>
              <dgm:constr type="t" for="ch" forName="desTx" refType="h" refFor="ch" refForName="parTx"/>
            </dgm:constrLst>
          </dgm:if>
          <dgm:else name="Name6">
            <dgm:constrLst>
              <dgm:constr type="h" refType="w" fact="1000"/>
              <dgm:constr type="l" for="ch" forName="parTx" refType="w" fact="0.17"/>
              <dgm:constr type="w" for="ch" forName="parTx" refType="w" fact="0.83"/>
              <dgm:constr type="t" for="ch" forName="parTx"/>
              <dgm:constr type="l" for="ch" forName="parSh" refType="w" fact="0.15"/>
              <dgm:constr type="w" for="ch" forName="parSh" refType="w" refFor="ch" refForName="parTx"/>
              <dgm:constr type="t" for="ch" forName="parSh"/>
              <dgm:constr type="l" for="ch" forName="desTx"/>
              <dgm:constr type="w" for="ch" forName="desTx" refType="w" refFor="ch" refForName="parTx"/>
              <dgm:constr type="t" for="ch" forName="desTx" refType="h" refFor="ch" refForName="parTx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1" hideGeom="1">
            <dgm:adjLst>
              <dgm:adj idx="1" val="0.1"/>
            </dgm:adjLst>
          </dgm:shape>
          <dgm:presOf axis="self" ptType="node"/>
          <dgm:constrLst>
            <dgm:constr type="h" refType="w" op="lte" fact="0.4"/>
            <dgm:constr type="bMarg" refType="primFontSz" fact="0.3"/>
            <dgm:constr type="h"/>
          </dgm:constrLst>
          <dgm:ruleLst>
            <dgm:rule type="h" val="INF" fact="NaN" max="NaN"/>
          </dgm:ruleLst>
        </dgm:layoutNode>
        <dgm:layoutNode name="parSh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 ptType="node"/>
          <dgm:constrLst>
            <dgm:constr type="h"/>
          </dgm:constrLst>
          <dgm:ruleLst/>
        </dgm:layoutNode>
        <dgm:layoutNode name="desTx" styleLbl="fgAcc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oundRect" r:blip="">
            <dgm:adjLst>
              <dgm:adj idx="1" val="0.1"/>
            </dgm:adjLst>
          </dgm:shape>
          <dgm:presOf axis="des" ptType="node"/>
          <dgm:constrLst>
            <dgm:constr type="secFontSz" val="65"/>
            <dgm:constr type="primFontSz" refType="secFontSz"/>
            <dgm:constr type="h"/>
          </dgm:constrLst>
          <dgm:ruleLst>
            <dgm:rule type="h" val="INF" fact="NaN" max="NaN"/>
          </dgm:ruleLst>
        </dgm:layoutNode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  <dgm:param type="srcNode" val="parTx"/>
            <dgm:param type="dstNode" val="parTx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Tx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61E422-FB89-4775-A8B2-5B125B77E1CF}" type="datetimeFigureOut">
              <a:rPr lang="en-US" smtClean="0"/>
              <a:pPr/>
              <a:t>10/30/2022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ED7B66-6963-4741-9F0A-D150F053015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72150E-24DE-4D23-AF8D-CF01896B0C83}" type="datetimeFigureOut">
              <a:rPr lang="en-US" smtClean="0"/>
              <a:pPr/>
              <a:t>10/30/2022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8E95B1-5ED0-4005-B293-784E4C93134E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10/30/2022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10/30/2022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10/30/2022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10/30/2022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10/30/2022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10/30/2022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10/30/2022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10/30/2022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10/30/2022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10/30/2022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10/30/2022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10/30/2022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www.microsoft.com/en-us/microsoft-365/visio/flowchart-software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s://lucid.app/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hyperlink" Target="https://screenful.com/" TargetMode="Externa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304800" y="2130425"/>
            <a:ext cx="8534400" cy="1470025"/>
          </a:xfrm>
        </p:spPr>
        <p:txBody>
          <a:bodyPr/>
          <a:lstStyle/>
          <a:p>
            <a:pPr eaLnBrk="1" hangingPunct="1"/>
            <a:r>
              <a:rPr lang="en-US" sz="6000" dirty="0" smtClean="0"/>
              <a:t>Agile Project Monitoring and Control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400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dirty="0" smtClean="0"/>
              <a:t>Lecturer: Ngo Huy Bien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Software Engineering Department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Faculty of Information Technology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VNUHCM - University of Science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Ho Chi Minh City, Vietnam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>
                <a:hlinkClick r:id="rId2"/>
              </a:rPr>
              <a:t>nhbien@fit.hcmus.edu.vn</a:t>
            </a:r>
            <a:endParaRPr lang="en-US" sz="4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5257800" cy="4190999"/>
          </a:xfrm>
        </p:spPr>
        <p:txBody>
          <a:bodyPr/>
          <a:lstStyle/>
          <a:p>
            <a:pPr marL="457200" indent="-457200">
              <a:buFont typeface="Wingdings" pitchFamily="2" charset="2"/>
              <a:buChar char="Ø"/>
            </a:pPr>
            <a:r>
              <a:rPr lang="en-US" sz="2400" dirty="0" smtClean="0"/>
              <a:t>To </a:t>
            </a:r>
            <a:r>
              <a:rPr lang="en-US" sz="2400" i="1" dirty="0" smtClean="0">
                <a:solidFill>
                  <a:srgbClr val="C00000"/>
                </a:solidFill>
              </a:rPr>
              <a:t>monitor</a:t>
            </a:r>
            <a:r>
              <a:rPr lang="en-US" sz="2400" dirty="0" smtClean="0"/>
              <a:t> and </a:t>
            </a:r>
            <a:r>
              <a:rPr lang="en-US" sz="2400" i="1" dirty="0" smtClean="0">
                <a:solidFill>
                  <a:srgbClr val="C00000"/>
                </a:solidFill>
              </a:rPr>
              <a:t>control</a:t>
            </a:r>
            <a:r>
              <a:rPr lang="en-US" sz="2400" dirty="0" smtClean="0"/>
              <a:t> project.</a:t>
            </a:r>
          </a:p>
          <a:p>
            <a:pPr marL="457200" indent="-457200">
              <a:buFont typeface="Wingdings" pitchFamily="2" charset="2"/>
              <a:buChar char="Ø"/>
            </a:pPr>
            <a:r>
              <a:rPr lang="en-US" sz="2400" dirty="0" smtClean="0"/>
              <a:t>To report </a:t>
            </a:r>
            <a:r>
              <a:rPr lang="en-US" sz="2400" i="1" dirty="0" smtClean="0">
                <a:solidFill>
                  <a:srgbClr val="C00000"/>
                </a:solidFill>
              </a:rPr>
              <a:t>project status</a:t>
            </a:r>
          </a:p>
          <a:p>
            <a:pPr marL="457200" indent="-457200">
              <a:buFont typeface="Wingdings" pitchFamily="2" charset="2"/>
              <a:buChar char="Ø"/>
            </a:pPr>
            <a:r>
              <a:rPr lang="en-US" sz="2400" dirty="0" smtClean="0"/>
              <a:t>To evaluate </a:t>
            </a:r>
            <a:r>
              <a:rPr lang="en-US" sz="2400" i="1" dirty="0" smtClean="0">
                <a:solidFill>
                  <a:srgbClr val="C00000"/>
                </a:solidFill>
              </a:rPr>
              <a:t>project results</a:t>
            </a:r>
          </a:p>
          <a:p>
            <a:pPr marL="457200" indent="-457200">
              <a:buFont typeface="Wingdings" pitchFamily="2" charset="2"/>
              <a:buChar char="Ø"/>
            </a:pPr>
            <a:r>
              <a:rPr lang="en-US" sz="2400" dirty="0" smtClean="0"/>
              <a:t>To evaluate </a:t>
            </a:r>
            <a:r>
              <a:rPr lang="en-US" sz="2400" i="1" dirty="0" smtClean="0">
                <a:solidFill>
                  <a:srgbClr val="C00000"/>
                </a:solidFill>
              </a:rPr>
              <a:t>team productivity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72150" y="283845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77000" y="2438400"/>
            <a:ext cx="239077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096000" cy="4525963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Stand-up meetings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Weekly demo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Burn down chart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Updated product backlog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Updated release plan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Project status report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Deliverables</a:t>
            </a:r>
          </a:p>
          <a:p>
            <a:pPr marL="571500" indent="-571500">
              <a:buFont typeface="+mj-lt"/>
              <a:buAutoNum type="romanUcPeriod"/>
            </a:pPr>
            <a:endParaRPr lang="en-US" sz="2400" dirty="0" smtClean="0"/>
          </a:p>
          <a:p>
            <a:pPr marL="571500" indent="-571500">
              <a:buFont typeface="+mj-lt"/>
              <a:buAutoNum type="romanUcPeriod"/>
            </a:pPr>
            <a:endParaRPr lang="en-US" sz="2400" dirty="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5486400" cy="4648200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sz="2400" dirty="0" smtClean="0"/>
              <a:t>James Shore and Shane Warden (2008). The Art of Agile Development. O'Reilly.</a:t>
            </a:r>
          </a:p>
        </p:txBody>
      </p:sp>
      <p:pic>
        <p:nvPicPr>
          <p:cNvPr id="4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0" y="1676400"/>
            <a:ext cx="2724150" cy="413385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Do Projects Fail?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7086600" cy="4525963"/>
          </a:xfrm>
        </p:spPr>
        <p:txBody>
          <a:bodyPr/>
          <a:lstStyle/>
          <a:p>
            <a:r>
              <a:rPr lang="en-US" sz="1800" dirty="0" smtClean="0"/>
              <a:t>Unclear requirements (no problems, no business/user requirements, no communication with clients/users)</a:t>
            </a:r>
          </a:p>
          <a:p>
            <a:pPr lvl="1"/>
            <a:r>
              <a:rPr lang="en-US" sz="1800" dirty="0" smtClean="0"/>
              <a:t>No executive summary, no project vision and scope</a:t>
            </a:r>
          </a:p>
          <a:p>
            <a:pPr lvl="1"/>
            <a:r>
              <a:rPr lang="en-US" sz="1800" dirty="0" smtClean="0"/>
              <a:t>No stories/use cases, no mockups, no prototypes</a:t>
            </a:r>
          </a:p>
          <a:p>
            <a:r>
              <a:rPr lang="en-US" sz="1800" dirty="0" smtClean="0"/>
              <a:t>Human factors</a:t>
            </a:r>
          </a:p>
          <a:p>
            <a:pPr lvl="1"/>
            <a:r>
              <a:rPr lang="en-US" sz="1800" dirty="0" smtClean="0">
                <a:sym typeface="Wingdings" pitchFamily="2" charset="2"/>
              </a:rPr>
              <a:t>No f</a:t>
            </a:r>
            <a:r>
              <a:rPr lang="en-US" sz="1800" dirty="0" smtClean="0"/>
              <a:t>eedback </a:t>
            </a:r>
            <a:r>
              <a:rPr lang="en-US" sz="1800" dirty="0" smtClean="0">
                <a:sym typeface="Wingdings" pitchFamily="2" charset="2"/>
              </a:rPr>
              <a:t> </a:t>
            </a:r>
            <a:r>
              <a:rPr lang="en-US" sz="1800" dirty="0" smtClean="0"/>
              <a:t>No working together</a:t>
            </a:r>
          </a:p>
          <a:p>
            <a:pPr lvl="1"/>
            <a:r>
              <a:rPr lang="en-US" sz="1800" dirty="0" smtClean="0">
                <a:sym typeface="Wingdings" pitchFamily="2" charset="2"/>
              </a:rPr>
              <a:t>No </a:t>
            </a:r>
            <a:r>
              <a:rPr lang="en-US" sz="1800" dirty="0" smtClean="0"/>
              <a:t>money, no challenges, no interesting works </a:t>
            </a:r>
            <a:r>
              <a:rPr lang="en-US" sz="1800" dirty="0" smtClean="0">
                <a:sym typeface="Wingdings" pitchFamily="2" charset="2"/>
              </a:rPr>
              <a:t></a:t>
            </a:r>
            <a:r>
              <a:rPr lang="en-US" sz="1800" dirty="0" smtClean="0"/>
              <a:t> No motivation</a:t>
            </a:r>
          </a:p>
          <a:p>
            <a:pPr marL="342900" lvl="1" indent="-342900">
              <a:buFont typeface="Arial" charset="0"/>
              <a:buChar char="•"/>
            </a:pPr>
            <a:r>
              <a:rPr lang="en-US" sz="1800" dirty="0" smtClean="0"/>
              <a:t>No estimation or incorrect estimation</a:t>
            </a:r>
          </a:p>
          <a:p>
            <a:pPr marL="742950" lvl="2" indent="-342900"/>
            <a:r>
              <a:rPr lang="en-US" sz="1800" dirty="0" smtClean="0"/>
              <a:t>Effort/Duration/Cost/Resources</a:t>
            </a:r>
          </a:p>
          <a:p>
            <a:pPr marL="342900" lvl="1" indent="-342900">
              <a:buFont typeface="Arial" charset="0"/>
              <a:buChar char="•"/>
            </a:pPr>
            <a:r>
              <a:rPr lang="en-US" sz="1800" dirty="0" smtClean="0"/>
              <a:t>No planning</a:t>
            </a:r>
          </a:p>
          <a:p>
            <a:pPr lvl="1"/>
            <a:r>
              <a:rPr lang="en-US" sz="1800" dirty="0" smtClean="0"/>
              <a:t>No project schedule/release plan</a:t>
            </a:r>
          </a:p>
          <a:p>
            <a:r>
              <a:rPr lang="en-US" sz="1800" i="1" dirty="0" smtClean="0">
                <a:solidFill>
                  <a:srgbClr val="C00000"/>
                </a:solidFill>
              </a:rPr>
              <a:t>No status reporting or incorrect status reporting</a:t>
            </a:r>
          </a:p>
          <a:p>
            <a:pPr lvl="1"/>
            <a:r>
              <a:rPr lang="en-US" sz="1800" dirty="0" smtClean="0"/>
              <a:t>No project schedule/release plan updates</a:t>
            </a:r>
          </a:p>
          <a:p>
            <a:r>
              <a:rPr lang="en-US" sz="1800" dirty="0" smtClean="0"/>
              <a:t>No risk management</a:t>
            </a:r>
          </a:p>
        </p:txBody>
      </p:sp>
      <p:pic>
        <p:nvPicPr>
          <p:cNvPr id="2050" name="Picture 2" descr="https://www.drupal.org/files/project-images/bounce_reasons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00800" y="2222500"/>
            <a:ext cx="2286000" cy="1206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is Your Project Going?</a:t>
            </a:r>
            <a:endParaRPr lang="en-US" dirty="0"/>
          </a:p>
        </p:txBody>
      </p:sp>
      <p:pic>
        <p:nvPicPr>
          <p:cNvPr id="1032" name="Picture 8" descr="https://cdn4.iconfinder.com/data/icons/ikooni-outline-seo-web/128/seo-51-512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33600" y="1524000"/>
            <a:ext cx="4876800" cy="487680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 smtClean="0"/>
              <a:t>Communication: Discussion Questions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sz="2200" dirty="0" smtClean="0"/>
              <a:t>When will your project be finished</a:t>
            </a:r>
            <a:r>
              <a:rPr lang="en-US" sz="2200" dirty="0" smtClean="0"/>
              <a:t>?</a:t>
            </a:r>
            <a:r>
              <a:rPr lang="en-US" sz="2000" dirty="0" smtClean="0"/>
              <a:t> 22/9/2021?, 3/2/2024?.</a:t>
            </a:r>
            <a:endParaRPr lang="en-US" sz="2200" dirty="0" smtClean="0"/>
          </a:p>
          <a:p>
            <a:pPr marL="514350" indent="-514350">
              <a:buFont typeface="+mj-lt"/>
              <a:buAutoNum type="arabicPeriod"/>
            </a:pPr>
            <a:r>
              <a:rPr lang="en-US" sz="2200" dirty="0" smtClean="0"/>
              <a:t>How much will be your project final cost? </a:t>
            </a:r>
            <a:r>
              <a:rPr lang="en-US" sz="2000" dirty="0" smtClean="0"/>
              <a:t>$1200?, $8000?.</a:t>
            </a:r>
            <a:endParaRPr lang="en-US" sz="2200" dirty="0" smtClean="0"/>
          </a:p>
          <a:p>
            <a:pPr marL="514350" indent="-514350">
              <a:buFont typeface="+mj-lt"/>
              <a:buAutoNum type="arabicPeriod"/>
            </a:pPr>
            <a:r>
              <a:rPr lang="en-US" sz="2200" dirty="0" smtClean="0"/>
              <a:t>How much work is left? </a:t>
            </a:r>
            <a:r>
              <a:rPr lang="en-US" sz="2000" dirty="0" smtClean="0"/>
              <a:t>10%?, 20%?, 33%?</a:t>
            </a:r>
            <a:endParaRPr lang="en-US" sz="2200" dirty="0" smtClean="0"/>
          </a:p>
          <a:p>
            <a:pPr marL="514350" indent="-514350">
              <a:buFont typeface="+mj-lt"/>
              <a:buAutoNum type="arabicPeriod"/>
            </a:pPr>
            <a:r>
              <a:rPr lang="en-US" sz="2200" dirty="0" smtClean="0"/>
              <a:t>How much budget is left? </a:t>
            </a:r>
            <a:r>
              <a:rPr lang="en-US" sz="2000" dirty="0" smtClean="0"/>
              <a:t>$</a:t>
            </a:r>
            <a:r>
              <a:rPr lang="en-US" sz="2000" dirty="0" smtClean="0"/>
              <a:t>70,000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 smtClean="0"/>
              <a:t>Status?: On Track?, Late?, Early?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200" dirty="0" smtClean="0"/>
              <a:t>How much</a:t>
            </a:r>
            <a:r>
              <a:rPr lang="en-US" sz="2200" dirty="0" smtClean="0"/>
              <a:t> is your team's productivity?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200" dirty="0" smtClean="0"/>
              <a:t>How much is your team member's productivity?</a:t>
            </a:r>
          </a:p>
          <a:p>
            <a:pPr marL="514350" indent="-514350">
              <a:buFont typeface="+mj-lt"/>
              <a:buAutoNum type="arabicPeriod"/>
            </a:pPr>
            <a:endParaRPr lang="en-US" sz="2200" dirty="0" smtClean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7839" y="4418119"/>
            <a:ext cx="3046761" cy="19826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Learning at Home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181600" cy="4525963"/>
          </a:xfrm>
        </p:spPr>
        <p:txBody>
          <a:bodyPr/>
          <a:lstStyle/>
          <a:p>
            <a:r>
              <a:rPr lang="en-US" sz="2600" dirty="0" smtClean="0"/>
              <a:t>Scrum</a:t>
            </a:r>
          </a:p>
          <a:p>
            <a:pPr lvl="1"/>
            <a:r>
              <a:rPr lang="en-US" sz="2400" dirty="0" smtClean="0"/>
              <a:t>Read slides </a:t>
            </a:r>
          </a:p>
          <a:p>
            <a:pPr lvl="1">
              <a:buNone/>
            </a:pPr>
            <a:r>
              <a:rPr lang="en-US" sz="2400" dirty="0" smtClean="0">
                <a:sym typeface="Wingdings" pitchFamily="2" charset="2"/>
              </a:rPr>
              <a:t>	 Focus on estimation, release planning, and</a:t>
            </a:r>
            <a:r>
              <a:rPr lang="en-US" sz="2400" dirty="0" smtClean="0"/>
              <a:t> burn down chart.</a:t>
            </a:r>
          </a:p>
          <a:p>
            <a:pPr lvl="1">
              <a:buNone/>
            </a:pPr>
            <a:r>
              <a:rPr lang="en-US" sz="2400" dirty="0" smtClean="0">
                <a:sym typeface="Wingdings" pitchFamily="2" charset="2"/>
              </a:rPr>
              <a:t>	 Prepare</a:t>
            </a:r>
            <a:r>
              <a:rPr lang="en-US" sz="2400" dirty="0" smtClean="0"/>
              <a:t> slides and artifacts based on your project.</a:t>
            </a:r>
          </a:p>
          <a:p>
            <a:pPr lvl="1">
              <a:buNone/>
            </a:pPr>
            <a:r>
              <a:rPr lang="en-US" sz="2400" dirty="0" smtClean="0">
                <a:sym typeface="Wingdings" pitchFamily="2" charset="2"/>
              </a:rPr>
              <a:t>	</a:t>
            </a:r>
            <a:r>
              <a:rPr lang="en-US" sz="2400" dirty="0" smtClean="0"/>
              <a:t> Make a presentation.</a:t>
            </a:r>
            <a:endParaRPr lang="en-US" sz="2400" dirty="0"/>
          </a:p>
        </p:txBody>
      </p:sp>
      <p:pic>
        <p:nvPicPr>
          <p:cNvPr id="8194" name="Picture 2" descr="https://assets.nst.com.my/images/articles/12nthomework_1492046205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867400" y="2743200"/>
            <a:ext cx="2857500" cy="190182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Create Project Timeline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smtClean="0"/>
              <a:t>Establish the timeline for </a:t>
            </a:r>
            <a:r>
              <a:rPr lang="en-US" sz="2200" i="1" dirty="0" smtClean="0">
                <a:solidFill>
                  <a:srgbClr val="C00000"/>
                </a:solidFill>
              </a:rPr>
              <a:t>deliverables</a:t>
            </a:r>
            <a:r>
              <a:rPr lang="en-US" sz="2200" dirty="0" smtClean="0"/>
              <a:t> for each phase of the project.</a:t>
            </a:r>
            <a:endParaRPr lang="en-US" sz="2200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38250" y="2857500"/>
            <a:ext cx="6667500" cy="2857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/>
              <a:t>Create a Timeline in Visio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 smtClean="0">
                <a:hlinkClick r:id="rId2"/>
              </a:rPr>
              <a:t>https://www.microsoft.com/en-us/microsoft-365/visio/flowchart-software</a:t>
            </a:r>
            <a:endParaRPr lang="en-US" sz="1800" dirty="0" smtClean="0"/>
          </a:p>
          <a:p>
            <a:endParaRPr lang="en-US" sz="1800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66800" y="2362200"/>
            <a:ext cx="7227434" cy="37970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Down Arrow 5"/>
          <p:cNvSpPr/>
          <p:nvPr/>
        </p:nvSpPr>
        <p:spPr>
          <a:xfrm>
            <a:off x="3048000" y="2743200"/>
            <a:ext cx="914400" cy="609600"/>
          </a:xfrm>
          <a:prstGeom prst="downArrow">
            <a:avLst/>
          </a:prstGeom>
          <a:solidFill>
            <a:schemeClr val="accent2">
              <a:alpha val="70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/>
              <a:t>Create a Timeline in Lucidchart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hlinkClick r:id="rId2"/>
              </a:rPr>
              <a:t>https://lucid.app</a:t>
            </a:r>
            <a:endParaRPr lang="en-US" sz="2400" dirty="0" smtClean="0"/>
          </a:p>
          <a:p>
            <a:endParaRPr lang="en-US" sz="24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66800" y="2362200"/>
            <a:ext cx="6935643" cy="37783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Down Arrow 4"/>
          <p:cNvSpPr/>
          <p:nvPr/>
        </p:nvSpPr>
        <p:spPr>
          <a:xfrm>
            <a:off x="1676400" y="2743200"/>
            <a:ext cx="914400" cy="609600"/>
          </a:xfrm>
          <a:prstGeom prst="downArrow">
            <a:avLst/>
          </a:prstGeom>
          <a:solidFill>
            <a:schemeClr val="accent2">
              <a:alpha val="70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2. Conduct Stand-Up Meetings [1]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What </a:t>
            </a:r>
            <a:r>
              <a:rPr lang="en-US" sz="2400" u="sng" dirty="0" smtClean="0"/>
              <a:t>did</a:t>
            </a:r>
            <a:r>
              <a:rPr lang="en-US" sz="2400" dirty="0" smtClean="0"/>
              <a:t> I do </a:t>
            </a:r>
            <a:r>
              <a:rPr lang="en-US" sz="2400" i="1" dirty="0" smtClean="0">
                <a:solidFill>
                  <a:srgbClr val="C00000"/>
                </a:solidFill>
              </a:rPr>
              <a:t>yesterday</a:t>
            </a:r>
            <a:r>
              <a:rPr lang="en-US" sz="2400" dirty="0" smtClean="0"/>
              <a:t>?</a:t>
            </a:r>
          </a:p>
          <a:p>
            <a:r>
              <a:rPr lang="en-US" sz="2400" dirty="0" smtClean="0"/>
              <a:t>What </a:t>
            </a:r>
            <a:r>
              <a:rPr lang="en-US" sz="2400" u="sng" dirty="0" smtClean="0"/>
              <a:t>will</a:t>
            </a:r>
            <a:r>
              <a:rPr lang="en-US" sz="2400" dirty="0" smtClean="0"/>
              <a:t> I do </a:t>
            </a:r>
            <a:r>
              <a:rPr lang="en-US" sz="2400" i="1" dirty="0" smtClean="0">
                <a:solidFill>
                  <a:srgbClr val="C00000"/>
                </a:solidFill>
              </a:rPr>
              <a:t>today</a:t>
            </a:r>
            <a:r>
              <a:rPr lang="en-US" sz="2400" dirty="0" smtClean="0"/>
              <a:t>?</a:t>
            </a:r>
          </a:p>
          <a:p>
            <a:r>
              <a:rPr lang="en-US" sz="2400" dirty="0" smtClean="0"/>
              <a:t>What </a:t>
            </a:r>
            <a:r>
              <a:rPr lang="en-US" sz="2400" i="1" dirty="0" smtClean="0">
                <a:solidFill>
                  <a:srgbClr val="C00000"/>
                </a:solidFill>
              </a:rPr>
              <a:t>problems</a:t>
            </a:r>
            <a:r>
              <a:rPr lang="en-US" sz="2400" dirty="0" smtClean="0"/>
              <a:t> are </a:t>
            </a:r>
            <a:r>
              <a:rPr lang="en-US" sz="2400" u="sng" dirty="0" smtClean="0"/>
              <a:t>preventing</a:t>
            </a:r>
            <a:r>
              <a:rPr lang="en-US" sz="2400" dirty="0" smtClean="0"/>
              <a:t> me from making progress?</a:t>
            </a:r>
          </a:p>
          <a:p>
            <a:endParaRPr lang="en-US" sz="2400" dirty="0"/>
          </a:p>
        </p:txBody>
      </p:sp>
      <p:pic>
        <p:nvPicPr>
          <p:cNvPr id="4" name="Picture 2" descr="https://www.martinfowler.com/articles/itsNotJustStandingUp/standingup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90800" y="3200400"/>
            <a:ext cx="4762500" cy="317182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When Things Go Wrong</a:t>
            </a:r>
            <a:endParaRPr lang="en-US" dirty="0"/>
          </a:p>
        </p:txBody>
      </p:sp>
      <p:pic>
        <p:nvPicPr>
          <p:cNvPr id="32770" name="Picture 2" descr="http://www.kristymlopez.com/wp-content/uploads/2018/03/Frustrated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0" y="1371600"/>
            <a:ext cx="2743823" cy="205740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Would using some of your </a:t>
            </a:r>
          </a:p>
          <a:p>
            <a:pPr>
              <a:buNone/>
            </a:pPr>
            <a:r>
              <a:rPr lang="en-US" sz="2400" dirty="0" smtClean="0"/>
              <a:t>	</a:t>
            </a:r>
            <a:r>
              <a:rPr lang="en-US" sz="2400" i="1" dirty="0" smtClean="0">
                <a:solidFill>
                  <a:srgbClr val="C00000"/>
                </a:solidFill>
              </a:rPr>
              <a:t>iteration slack</a:t>
            </a:r>
            <a:r>
              <a:rPr lang="en-US" sz="2400" dirty="0" smtClean="0"/>
              <a:t> help?</a:t>
            </a:r>
          </a:p>
          <a:p>
            <a:r>
              <a:rPr lang="en-US" sz="2400" dirty="0" smtClean="0"/>
              <a:t>Is there an engineering task that </a:t>
            </a:r>
          </a:p>
          <a:p>
            <a:pPr>
              <a:buNone/>
            </a:pPr>
            <a:r>
              <a:rPr lang="en-US" sz="2400" dirty="0" smtClean="0"/>
              <a:t>	you can </a:t>
            </a:r>
            <a:r>
              <a:rPr lang="en-US" sz="2400" i="1" dirty="0" smtClean="0">
                <a:solidFill>
                  <a:srgbClr val="C00000"/>
                </a:solidFill>
              </a:rPr>
              <a:t>simplify</a:t>
            </a:r>
            <a:r>
              <a:rPr lang="en-US" sz="2400" dirty="0" smtClean="0"/>
              <a:t> or </a:t>
            </a:r>
            <a:r>
              <a:rPr lang="en-US" sz="2400" i="1" dirty="0" smtClean="0">
                <a:solidFill>
                  <a:srgbClr val="C00000"/>
                </a:solidFill>
              </a:rPr>
              <a:t>postpone</a:t>
            </a:r>
            <a:r>
              <a:rPr lang="en-US" sz="2400" dirty="0" smtClean="0"/>
              <a:t>?</a:t>
            </a:r>
          </a:p>
          <a:p>
            <a:r>
              <a:rPr lang="en-US" sz="2400" i="1" dirty="0" smtClean="0">
                <a:solidFill>
                  <a:srgbClr val="C00000"/>
                </a:solidFill>
              </a:rPr>
              <a:t>Reduce the scope:</a:t>
            </a:r>
            <a:r>
              <a:rPr lang="en-US" sz="2400" dirty="0" smtClean="0"/>
              <a:t> split or remove a story.</a:t>
            </a:r>
          </a:p>
          <a:p>
            <a:r>
              <a:rPr lang="en-US" sz="2400" dirty="0" smtClean="0"/>
              <a:t>Always stay in control of your iteration, even if you have to change your plan to do so.</a:t>
            </a:r>
          </a:p>
          <a:p>
            <a:r>
              <a:rPr lang="en-US" sz="2400" dirty="0" smtClean="0"/>
              <a:t>Any iteration that delivers all of the stories in the current plan—even if you changed the plan—is a success.</a:t>
            </a:r>
          </a:p>
          <a:p>
            <a:r>
              <a:rPr lang="en-US" sz="2400" dirty="0" smtClean="0"/>
              <a:t>Under </a:t>
            </a:r>
            <a:r>
              <a:rPr lang="en-US" sz="2400" i="1" dirty="0" smtClean="0">
                <a:solidFill>
                  <a:srgbClr val="C00000"/>
                </a:solidFill>
              </a:rPr>
              <a:t>no circumstances</a:t>
            </a:r>
            <a:r>
              <a:rPr lang="en-US" sz="2400" dirty="0" smtClean="0"/>
              <a:t>, however, should you </a:t>
            </a:r>
            <a:r>
              <a:rPr lang="en-US" sz="2400" u="sng" dirty="0" smtClean="0"/>
              <a:t>change the iteration deadline</a:t>
            </a:r>
            <a:r>
              <a:rPr lang="en-US" sz="2400" dirty="0" smtClean="0"/>
              <a:t>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 Environment of Equality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The </a:t>
            </a:r>
            <a:r>
              <a:rPr lang="en-US" sz="2400" i="1" dirty="0" smtClean="0">
                <a:solidFill>
                  <a:srgbClr val="C00000"/>
                </a:solidFill>
              </a:rPr>
              <a:t>lesser skilled</a:t>
            </a:r>
            <a:r>
              <a:rPr lang="en-US" sz="2400" dirty="0" smtClean="0"/>
              <a:t> developers should be able to bring ideas and changes to the team which may actually be valuable.</a:t>
            </a:r>
          </a:p>
          <a:p>
            <a:r>
              <a:rPr lang="en-US" sz="2400" dirty="0" smtClean="0"/>
              <a:t>There's no I in Team. Leave no man behind.</a:t>
            </a:r>
            <a:endParaRPr lang="en-US" sz="2400" dirty="0"/>
          </a:p>
        </p:txBody>
      </p:sp>
      <p:pic>
        <p:nvPicPr>
          <p:cNvPr id="5" name="Picture 2" descr="https://grist.files.wordpress.com/2015/07/seesaw.jpg?w=1024&amp;h=576&amp;crop=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33600" y="3276600"/>
            <a:ext cx="4551680" cy="256032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Making Decisions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“I'm going to use </a:t>
            </a:r>
            <a:r>
              <a:rPr lang="en-US" sz="2400" dirty="0" err="1" smtClean="0"/>
              <a:t>NodeJS</a:t>
            </a:r>
            <a:r>
              <a:rPr lang="en-US" sz="2400" dirty="0" smtClean="0"/>
              <a:t>.”</a:t>
            </a:r>
          </a:p>
          <a:p>
            <a:r>
              <a:rPr lang="en-US" sz="2400" dirty="0" smtClean="0"/>
              <a:t>“Where are your unit tests?”</a:t>
            </a:r>
          </a:p>
          <a:p>
            <a:r>
              <a:rPr lang="en-US" sz="2400" dirty="0" smtClean="0"/>
              <a:t>Don't </a:t>
            </a:r>
            <a:r>
              <a:rPr lang="en-US" sz="2400" i="1" dirty="0" smtClean="0">
                <a:solidFill>
                  <a:srgbClr val="C00000"/>
                </a:solidFill>
              </a:rPr>
              <a:t>assume</a:t>
            </a:r>
            <a:r>
              <a:rPr lang="en-US" sz="2400" dirty="0" smtClean="0"/>
              <a:t> you know best for your team, even if you actually do.</a:t>
            </a:r>
          </a:p>
          <a:p>
            <a:r>
              <a:rPr lang="en-US" sz="2400" dirty="0" smtClean="0"/>
              <a:t>Explain WHY it's the right way we should follow with </a:t>
            </a:r>
            <a:r>
              <a:rPr lang="en-US" sz="2400" i="1" dirty="0" smtClean="0">
                <a:solidFill>
                  <a:srgbClr val="C00000"/>
                </a:solidFill>
              </a:rPr>
              <a:t>technical justifications</a:t>
            </a:r>
            <a:r>
              <a:rPr lang="en-US" sz="2400" dirty="0" smtClean="0"/>
              <a:t>.</a:t>
            </a:r>
            <a:endParaRPr lang="en-US" sz="2400" dirty="0"/>
          </a:p>
        </p:txBody>
      </p:sp>
      <p:pic>
        <p:nvPicPr>
          <p:cNvPr id="34818" name="Picture 2" descr="https://miro.medium.com/max/1000/1*9pD4-j17VeRF2jUmYLjP0g.jpe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743200" y="4038600"/>
            <a:ext cx="3810000" cy="254127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Understudy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Let people do what they're </a:t>
            </a:r>
            <a:r>
              <a:rPr lang="en-US" sz="2400" i="1" dirty="0" smtClean="0">
                <a:solidFill>
                  <a:srgbClr val="C00000"/>
                </a:solidFill>
              </a:rPr>
              <a:t>good at</a:t>
            </a:r>
            <a:r>
              <a:rPr lang="en-US" sz="2400" dirty="0" smtClean="0"/>
              <a:t>, but not to the extent where they are </a:t>
            </a:r>
            <a:r>
              <a:rPr lang="en-US" sz="2400" u="sng" dirty="0" smtClean="0"/>
              <a:t>the only one</a:t>
            </a:r>
            <a:r>
              <a:rPr lang="en-US" sz="2400" dirty="0" smtClean="0"/>
              <a:t> who knows what's going on with that particular area. </a:t>
            </a:r>
          </a:p>
          <a:p>
            <a:endParaRPr lang="en-US" sz="2400" dirty="0"/>
          </a:p>
        </p:txBody>
      </p:sp>
      <p:pic>
        <p:nvPicPr>
          <p:cNvPr id="4" name="Picture 2" descr="https://www.nycastings.com/wp-content/uploads/2017/09/shutterstock_207341242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57400" y="3124200"/>
            <a:ext cx="4572000" cy="304952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This slide is intentionally left blank.</a:t>
            </a:r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Don't Get Protective Over Code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Once you write code and check it in to source control, it's no longer 'your' code, it's the team’s.</a:t>
            </a:r>
          </a:p>
          <a:p>
            <a:r>
              <a:rPr lang="en-US" sz="2400" dirty="0" smtClean="0"/>
              <a:t>Any team member has </a:t>
            </a:r>
            <a:r>
              <a:rPr lang="en-US" sz="2400" i="1" dirty="0" smtClean="0">
                <a:solidFill>
                  <a:srgbClr val="C00000"/>
                </a:solidFill>
              </a:rPr>
              <a:t>the right to change</a:t>
            </a:r>
            <a:r>
              <a:rPr lang="en-US" sz="2400" dirty="0" smtClean="0"/>
              <a:t> any of the team’s code.</a:t>
            </a:r>
          </a:p>
          <a:p>
            <a:r>
              <a:rPr lang="en-US" sz="2400" dirty="0" smtClean="0"/>
              <a:t>Under NO circumstances should you arbitrarily </a:t>
            </a:r>
            <a:r>
              <a:rPr lang="en-US" sz="2400" strike="sngStrike" dirty="0" smtClean="0"/>
              <a:t>change it back</a:t>
            </a:r>
            <a:r>
              <a:rPr lang="en-US" sz="2400" dirty="0" smtClean="0"/>
              <a:t> </a:t>
            </a:r>
            <a:r>
              <a:rPr lang="en-US" sz="2400" i="1" dirty="0" smtClean="0">
                <a:solidFill>
                  <a:srgbClr val="C00000"/>
                </a:solidFill>
              </a:rPr>
              <a:t>without a discussion</a:t>
            </a:r>
            <a:r>
              <a:rPr lang="en-US" sz="2400" dirty="0" smtClean="0"/>
              <a:t>.</a:t>
            </a:r>
          </a:p>
          <a:p>
            <a:endParaRPr lang="en-US" sz="2400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505200" y="4114800"/>
            <a:ext cx="2214372" cy="2211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https://suffolkit.com/images/easyblog_shared/June_2017/6-21-17/b2ap3_large_block_access_to_control_panel_400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629400" y="609600"/>
            <a:ext cx="2286000" cy="228600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Technical No-No's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sz="2400" dirty="0" smtClean="0"/>
          </a:p>
          <a:p>
            <a:r>
              <a:rPr lang="en-US" sz="2400" dirty="0" smtClean="0"/>
              <a:t>Don't do partial check-ins.</a:t>
            </a:r>
          </a:p>
          <a:p>
            <a:r>
              <a:rPr lang="en-US" sz="2400" dirty="0" smtClean="0"/>
              <a:t>Run all unit tests before checking in.</a:t>
            </a:r>
          </a:p>
          <a:p>
            <a:r>
              <a:rPr lang="en-US" sz="2400" dirty="0" smtClean="0"/>
              <a:t>Don't change foundational technology or source code structure without discussion.</a:t>
            </a:r>
          </a:p>
          <a:p>
            <a:r>
              <a:rPr lang="en-US" sz="2400" dirty="0" smtClean="0"/>
              <a:t>Don't add new technology dependencies to source code without discussion.</a:t>
            </a:r>
          </a:p>
          <a:p>
            <a:r>
              <a:rPr lang="en-US" sz="2400" i="1" dirty="0" smtClean="0">
                <a:solidFill>
                  <a:srgbClr val="C00000"/>
                </a:solidFill>
              </a:rPr>
              <a:t>Nothing you do should ever stop other developers from working.</a:t>
            </a:r>
          </a:p>
          <a:p>
            <a:r>
              <a:rPr lang="en-US" sz="2400" i="1" dirty="0" smtClean="0">
                <a:solidFill>
                  <a:srgbClr val="C00000"/>
                </a:solidFill>
              </a:rPr>
              <a:t>Don't make anyone’s life difficult.</a:t>
            </a:r>
          </a:p>
          <a:p>
            <a:endParaRPr lang="en-US" sz="2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When to Report?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/>
            <a:r>
              <a:rPr lang="en-US" sz="2600" dirty="0" smtClean="0"/>
              <a:t>Scrum: Daily stand-up meeting, end of a sprint.</a:t>
            </a:r>
          </a:p>
          <a:p>
            <a:pPr marL="514350" indent="-514350"/>
            <a:r>
              <a:rPr lang="en-US" sz="2600" dirty="0" err="1" smtClean="0"/>
              <a:t>Kanban</a:t>
            </a:r>
            <a:r>
              <a:rPr lang="en-US" sz="2600" dirty="0" smtClean="0"/>
              <a:t>: Duration (latest 3 weeks).</a:t>
            </a:r>
          </a:p>
        </p:txBody>
      </p:sp>
      <p:pic>
        <p:nvPicPr>
          <p:cNvPr id="1028" name="Picture 4" descr="https://e4life.vn/wp-content/uploads/2021/07/phan-biet-thi-qua-khu-tiep-dien-voi-when-va-whi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0" y="3505200"/>
            <a:ext cx="4572000" cy="239268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s://www.macroeconomia.it/wp-content/uploads/2018/03/input-output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67000" y="4019550"/>
            <a:ext cx="4286250" cy="238125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are the Inputs?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/>
            <a:r>
              <a:rPr lang="en-US" sz="2600" dirty="0" err="1" smtClean="0"/>
              <a:t>Trello</a:t>
            </a:r>
            <a:r>
              <a:rPr lang="en-US" sz="2600" dirty="0" smtClean="0"/>
              <a:t>/</a:t>
            </a:r>
            <a:r>
              <a:rPr lang="en-US" sz="2600" dirty="0" err="1" smtClean="0"/>
              <a:t>Jira</a:t>
            </a:r>
            <a:r>
              <a:rPr lang="en-US" sz="2600" dirty="0" smtClean="0"/>
              <a:t> </a:t>
            </a:r>
            <a:r>
              <a:rPr lang="en-US" sz="2600" dirty="0" smtClean="0">
                <a:sym typeface="Wingdings" pitchFamily="2" charset="2"/>
              </a:rPr>
              <a:t> </a:t>
            </a:r>
            <a:r>
              <a:rPr lang="en-US" sz="2600" dirty="0" smtClean="0"/>
              <a:t>Items completed. Process demonstration?</a:t>
            </a:r>
          </a:p>
          <a:p>
            <a:pPr marL="514350" indent="-514350"/>
            <a:r>
              <a:rPr lang="en-US" sz="2600" dirty="0" smtClean="0"/>
              <a:t>Scrum/</a:t>
            </a:r>
            <a:r>
              <a:rPr lang="en-US" sz="2600" dirty="0" err="1" smtClean="0"/>
              <a:t>Kanban</a:t>
            </a:r>
            <a:endParaRPr lang="en-US" sz="2600" dirty="0" smtClean="0"/>
          </a:p>
          <a:p>
            <a:pPr marL="914400" lvl="1" indent="-514350"/>
            <a:r>
              <a:rPr lang="en-US" sz="2400" dirty="0" smtClean="0"/>
              <a:t>Product backlog (Updated for 9th week), </a:t>
            </a:r>
          </a:p>
          <a:p>
            <a:pPr marL="914400" lvl="1" indent="-514350"/>
            <a:r>
              <a:rPr lang="en-US" sz="2400" dirty="0" smtClean="0"/>
              <a:t>Release plan (Product Backlog + Date </a:t>
            </a:r>
            <a:r>
              <a:rPr lang="en-US" sz="2400" dirty="0" smtClean="0">
                <a:sym typeface="Wingdings" pitchFamily="2" charset="2"/>
              </a:rPr>
              <a:t></a:t>
            </a:r>
            <a:r>
              <a:rPr lang="en-US" sz="2400" dirty="0" smtClean="0"/>
              <a:t> Releases/Milestones) (Updated for 9th week)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3. Create Burn Down Chart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457200" y="1295400"/>
            <a:ext cx="81534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 smtClean="0">
                <a:latin typeface="+mj-lt"/>
              </a:rPr>
              <a:t>A </a:t>
            </a:r>
            <a:r>
              <a:rPr lang="en-US" sz="2400" i="1" dirty="0" smtClean="0">
                <a:solidFill>
                  <a:srgbClr val="C00000"/>
                </a:solidFill>
                <a:latin typeface="+mj-lt"/>
              </a:rPr>
              <a:t>burn down chart</a:t>
            </a:r>
            <a:r>
              <a:rPr lang="en-US" sz="2400" dirty="0" smtClean="0">
                <a:latin typeface="+mj-lt"/>
              </a:rPr>
              <a:t> is graphical representation of </a:t>
            </a:r>
            <a:r>
              <a:rPr lang="en-US" sz="2400" u="sng" dirty="0" smtClean="0">
                <a:latin typeface="+mj-lt"/>
              </a:rPr>
              <a:t>work left</a:t>
            </a:r>
            <a:r>
              <a:rPr lang="en-US" sz="2400" dirty="0" smtClean="0">
                <a:latin typeface="+mj-lt"/>
              </a:rPr>
              <a:t> to do versus </a:t>
            </a:r>
            <a:r>
              <a:rPr lang="en-US" sz="2400" u="sng" dirty="0" smtClean="0">
                <a:latin typeface="+mj-lt"/>
              </a:rPr>
              <a:t>time</a:t>
            </a:r>
            <a:r>
              <a:rPr lang="en-US" sz="2400" dirty="0" smtClean="0">
                <a:latin typeface="+mj-lt"/>
              </a:rPr>
              <a:t>. </a:t>
            </a:r>
            <a:endParaRPr lang="en-US" sz="2400" dirty="0">
              <a:latin typeface="+mj-lt"/>
            </a:endParaRPr>
          </a:p>
        </p:txBody>
      </p:sp>
      <p:pic>
        <p:nvPicPr>
          <p:cNvPr id="3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43000" y="2362200"/>
            <a:ext cx="6858000" cy="426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hlinkClick r:id="rId2"/>
              </a:rPr>
              <a:t>https://screenful.com/</a:t>
            </a:r>
            <a:endParaRPr lang="en-US" sz="2400" dirty="0" smtClean="0"/>
          </a:p>
          <a:p>
            <a:endParaRPr lang="en-US" sz="2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4. Perform Weekly Demo [1]</a:t>
            </a:r>
            <a:endParaRPr lang="en-US" dirty="0"/>
          </a:p>
        </p:txBody>
      </p:sp>
      <p:pic>
        <p:nvPicPr>
          <p:cNvPr id="2050" name="Picture 2" descr="https://www.projectmanager.com/wp-content/uploads/2018/08/190207_Blog_Feature_Scrum_Meeting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4400" y="1828800"/>
            <a:ext cx="7022592" cy="395020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5. Manage Changes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Scrum</a:t>
            </a:r>
          </a:p>
          <a:p>
            <a:pPr lvl="1"/>
            <a:r>
              <a:rPr lang="en-US" sz="2200" i="1" dirty="0" smtClean="0">
                <a:solidFill>
                  <a:srgbClr val="C00000"/>
                </a:solidFill>
              </a:rPr>
              <a:t>Warning</a:t>
            </a:r>
            <a:r>
              <a:rPr lang="en-US" sz="2200" dirty="0" smtClean="0"/>
              <a:t>: Start </a:t>
            </a:r>
            <a:r>
              <a:rPr lang="en-US" sz="2200" dirty="0" smtClean="0">
                <a:sym typeface="Wingdings" pitchFamily="2" charset="2"/>
              </a:rPr>
              <a:t></a:t>
            </a:r>
            <a:r>
              <a:rPr lang="en-US" sz="2200" dirty="0" smtClean="0"/>
              <a:t> End with no changes </a:t>
            </a:r>
          </a:p>
          <a:p>
            <a:pPr lvl="1">
              <a:buNone/>
            </a:pPr>
            <a:r>
              <a:rPr lang="en-US" sz="2200" dirty="0" smtClean="0">
                <a:sym typeface="Wingdings" pitchFamily="2" charset="2"/>
              </a:rPr>
              <a:t>	 </a:t>
            </a:r>
            <a:r>
              <a:rPr lang="en-US" sz="2200" dirty="0" smtClean="0"/>
              <a:t>RUP: Iterations = Sprints</a:t>
            </a:r>
          </a:p>
          <a:p>
            <a:pPr lvl="1"/>
            <a:r>
              <a:rPr lang="en-US" sz="2200" dirty="0" smtClean="0"/>
              <a:t>Adapt to changes.</a:t>
            </a:r>
          </a:p>
          <a:p>
            <a:pPr lvl="1"/>
            <a:r>
              <a:rPr lang="en-US" sz="2200" dirty="0" smtClean="0"/>
              <a:t>Product Owner </a:t>
            </a:r>
            <a:r>
              <a:rPr lang="en-US" sz="2200" dirty="0" smtClean="0">
                <a:sym typeface="Wingdings" pitchFamily="2" charset="2"/>
              </a:rPr>
              <a:t> Product backlog  </a:t>
            </a:r>
            <a:r>
              <a:rPr lang="en-US" sz="2200" b="1" dirty="0" smtClean="0">
                <a:sym typeface="Wingdings" pitchFamily="2" charset="2"/>
              </a:rPr>
              <a:t>Backlog grooming</a:t>
            </a:r>
            <a:endParaRPr lang="en-US" sz="2200" b="1" dirty="0" smtClean="0"/>
          </a:p>
          <a:p>
            <a:pPr lvl="1"/>
            <a:r>
              <a:rPr lang="en-US" sz="2200" dirty="0" smtClean="0">
                <a:sym typeface="Wingdings" pitchFamily="2" charset="2"/>
              </a:rPr>
              <a:t>Enough analysis, </a:t>
            </a:r>
            <a:r>
              <a:rPr lang="en-US" sz="2200" dirty="0" smtClean="0"/>
              <a:t>documentation and design</a:t>
            </a:r>
          </a:p>
          <a:p>
            <a:pPr lvl="1">
              <a:buNone/>
            </a:pPr>
            <a:r>
              <a:rPr lang="en-US" sz="2200" dirty="0" smtClean="0"/>
              <a:t>	</a:t>
            </a:r>
            <a:r>
              <a:rPr lang="en-US" sz="2200" dirty="0" smtClean="0">
                <a:sym typeface="Wingdings" pitchFamily="2" charset="2"/>
              </a:rPr>
              <a:t>  </a:t>
            </a:r>
            <a:r>
              <a:rPr lang="en-US" sz="2200" dirty="0" smtClean="0"/>
              <a:t>Early release </a:t>
            </a:r>
            <a:r>
              <a:rPr lang="en-US" sz="2200" dirty="0" smtClean="0">
                <a:sym typeface="Wingdings" pitchFamily="2" charset="2"/>
              </a:rPr>
              <a:t></a:t>
            </a:r>
            <a:r>
              <a:rPr lang="en-US" sz="2200" dirty="0" smtClean="0"/>
              <a:t> Business value </a:t>
            </a:r>
            <a:r>
              <a:rPr lang="en-US" sz="2200" dirty="0" smtClean="0">
                <a:sym typeface="Wingdings" pitchFamily="2" charset="2"/>
              </a:rPr>
              <a:t></a:t>
            </a:r>
            <a:r>
              <a:rPr lang="en-US" sz="2200" dirty="0" smtClean="0"/>
              <a:t> Solving problem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352800" y="4953000"/>
            <a:ext cx="24384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6. Update Release Plan</a:t>
            </a:r>
            <a:endParaRPr lang="en-US" dirty="0"/>
          </a:p>
        </p:txBody>
      </p:sp>
      <p:graphicFrame>
        <p:nvGraphicFramePr>
          <p:cNvPr id="5" name="Diagram 4"/>
          <p:cNvGraphicFramePr/>
          <p:nvPr/>
        </p:nvGraphicFramePr>
        <p:xfrm>
          <a:off x="685800" y="1828800"/>
          <a:ext cx="78486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7. Create Status Report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i="1" dirty="0" smtClean="0">
                <a:solidFill>
                  <a:srgbClr val="C00000"/>
                </a:solidFill>
              </a:rPr>
              <a:t>Completion scope</a:t>
            </a:r>
            <a:r>
              <a:rPr lang="en-US" sz="2000" dirty="0" smtClean="0"/>
              <a:t> (Percent completed): 30%?, 50%?</a:t>
            </a:r>
          </a:p>
          <a:p>
            <a:pPr>
              <a:buNone/>
            </a:pPr>
            <a:r>
              <a:rPr lang="en-US" sz="2000" dirty="0" smtClean="0">
                <a:sym typeface="Wingdings" pitchFamily="2" charset="2"/>
              </a:rPr>
              <a:t>	 </a:t>
            </a:r>
            <a:r>
              <a:rPr lang="en-US" sz="2000" dirty="0" smtClean="0"/>
              <a:t>Completed points / Total points.</a:t>
            </a:r>
          </a:p>
          <a:p>
            <a:r>
              <a:rPr lang="en-US" sz="2000" dirty="0" smtClean="0"/>
              <a:t>Completion date: ? </a:t>
            </a:r>
            <a:r>
              <a:rPr lang="en-US" sz="2000" dirty="0" smtClean="0">
                <a:sym typeface="Wingdings" pitchFamily="2" charset="2"/>
              </a:rPr>
              <a:t></a:t>
            </a:r>
            <a:r>
              <a:rPr lang="en-US" sz="2000" dirty="0" smtClean="0"/>
              <a:t> Total points / Velocity = # Sprints.</a:t>
            </a:r>
          </a:p>
          <a:p>
            <a:r>
              <a:rPr lang="en-US" sz="2000" dirty="0" smtClean="0"/>
              <a:t>Budget usage? Estimated final cost?</a:t>
            </a:r>
          </a:p>
          <a:p>
            <a:r>
              <a:rPr lang="en-US" sz="2000" i="1" dirty="0" smtClean="0">
                <a:solidFill>
                  <a:srgbClr val="C00000"/>
                </a:solidFill>
              </a:rPr>
              <a:t>Issues</a:t>
            </a:r>
            <a:r>
              <a:rPr lang="en-US" sz="2000" dirty="0" smtClean="0"/>
              <a:t> and resolutions.</a:t>
            </a:r>
          </a:p>
          <a:p>
            <a:r>
              <a:rPr lang="en-US" sz="2000" i="1" dirty="0" smtClean="0">
                <a:solidFill>
                  <a:srgbClr val="C00000"/>
                </a:solidFill>
              </a:rPr>
              <a:t>Changes</a:t>
            </a:r>
            <a:r>
              <a:rPr lang="en-US" sz="2000" dirty="0" smtClean="0"/>
              <a:t> and impacts.</a:t>
            </a:r>
          </a:p>
          <a:p>
            <a:r>
              <a:rPr lang="en-US" sz="2000" dirty="0" smtClean="0"/>
              <a:t>Updated product backlog.</a:t>
            </a:r>
          </a:p>
          <a:p>
            <a:pPr>
              <a:buNone/>
            </a:pPr>
            <a:r>
              <a:rPr lang="en-US" sz="2000" dirty="0" smtClean="0"/>
              <a:t>	</a:t>
            </a:r>
            <a:r>
              <a:rPr lang="en-US" sz="2000" dirty="0" smtClean="0">
                <a:sym typeface="Wingdings" pitchFamily="2" charset="2"/>
              </a:rPr>
              <a:t> </a:t>
            </a:r>
            <a:r>
              <a:rPr lang="en-US" sz="2000" dirty="0" smtClean="0"/>
              <a:t>A list of the </a:t>
            </a:r>
            <a:r>
              <a:rPr lang="en-US" sz="2000" i="1" dirty="0" smtClean="0">
                <a:solidFill>
                  <a:srgbClr val="C00000"/>
                </a:solidFill>
              </a:rPr>
              <a:t>stories completed</a:t>
            </a:r>
            <a:r>
              <a:rPr lang="en-US" sz="2000" dirty="0" smtClean="0"/>
              <a:t>.</a:t>
            </a:r>
          </a:p>
          <a:p>
            <a:pPr>
              <a:buNone/>
            </a:pPr>
            <a:r>
              <a:rPr lang="en-US" sz="2000" dirty="0" smtClean="0"/>
              <a:t>	</a:t>
            </a:r>
            <a:r>
              <a:rPr lang="en-US" sz="2000" dirty="0" smtClean="0">
                <a:sym typeface="Wingdings" pitchFamily="2" charset="2"/>
              </a:rPr>
              <a:t> </a:t>
            </a:r>
            <a:r>
              <a:rPr lang="en-US" sz="2000" dirty="0" smtClean="0"/>
              <a:t>Stories </a:t>
            </a:r>
            <a:r>
              <a:rPr lang="en-US" sz="2000" i="1" dirty="0" smtClean="0">
                <a:solidFill>
                  <a:srgbClr val="C00000"/>
                </a:solidFill>
              </a:rPr>
              <a:t>added</a:t>
            </a:r>
            <a:r>
              <a:rPr lang="en-US" sz="2000" dirty="0" smtClean="0"/>
              <a:t> or </a:t>
            </a:r>
            <a:r>
              <a:rPr lang="en-US" sz="2000" i="1" dirty="0" smtClean="0">
                <a:solidFill>
                  <a:srgbClr val="C00000"/>
                </a:solidFill>
              </a:rPr>
              <a:t>removed</a:t>
            </a:r>
            <a:r>
              <a:rPr lang="en-US" sz="2000" dirty="0" smtClean="0"/>
              <a:t>.</a:t>
            </a:r>
          </a:p>
          <a:p>
            <a:r>
              <a:rPr lang="en-US" sz="2000" dirty="0" smtClean="0"/>
              <a:t>Updated release plan.</a:t>
            </a:r>
          </a:p>
          <a:p>
            <a:r>
              <a:rPr lang="en-US" sz="2000" i="1" dirty="0" smtClean="0">
                <a:solidFill>
                  <a:srgbClr val="C00000"/>
                </a:solidFill>
              </a:rPr>
              <a:t>Risks</a:t>
            </a:r>
            <a:r>
              <a:rPr lang="en-US" sz="2000" dirty="0" smtClean="0"/>
              <a:t> with high probability and impact.</a:t>
            </a:r>
          </a:p>
          <a:p>
            <a:r>
              <a:rPr lang="en-US" sz="2000" i="1" dirty="0" smtClean="0">
                <a:solidFill>
                  <a:srgbClr val="C00000"/>
                </a:solidFill>
              </a:rPr>
              <a:t>Working software</a:t>
            </a:r>
            <a:r>
              <a:rPr lang="en-US" sz="2000" dirty="0" smtClean="0"/>
              <a:t> and </a:t>
            </a:r>
            <a:r>
              <a:rPr lang="en-US" sz="2000" i="1" dirty="0" smtClean="0">
                <a:solidFill>
                  <a:srgbClr val="C00000"/>
                </a:solidFill>
              </a:rPr>
              <a:t>documentation</a:t>
            </a:r>
            <a:r>
              <a:rPr lang="en-US" sz="2000" dirty="0" smtClean="0"/>
              <a:t>.</a:t>
            </a:r>
          </a:p>
        </p:txBody>
      </p:sp>
      <p:pic>
        <p:nvPicPr>
          <p:cNvPr id="4" name="Picture 4" descr="https://d1cr57qij2cwzh.cloudfront.net/wp-content/uploads/2018/04/EmailTesting_Icon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943600" y="3124200"/>
            <a:ext cx="2291715" cy="2286000"/>
          </a:xfrm>
          <a:prstGeom prst="rect">
            <a:avLst/>
          </a:prstGeom>
          <a:noFill/>
        </p:spPr>
      </p:pic>
      <p:sp>
        <p:nvSpPr>
          <p:cNvPr id="5" name="Rectangle 4"/>
          <p:cNvSpPr/>
          <p:nvPr/>
        </p:nvSpPr>
        <p:spPr>
          <a:xfrm>
            <a:off x="6248400" y="5562600"/>
            <a:ext cx="175291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b="1" dirty="0" smtClean="0">
                <a:latin typeface="+mj-lt"/>
              </a:rPr>
              <a:t>Status Email</a:t>
            </a:r>
            <a:endParaRPr lang="en-US" sz="2400" b="1" dirty="0">
              <a:latin typeface="+mj-lt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Management Reports to Consider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Productivity</a:t>
            </a:r>
          </a:p>
          <a:p>
            <a:r>
              <a:rPr lang="en-US" dirty="0" smtClean="0"/>
              <a:t>Throughput</a:t>
            </a:r>
          </a:p>
          <a:p>
            <a:pPr lvl="1"/>
            <a:r>
              <a:rPr lang="en-US" dirty="0" smtClean="0"/>
              <a:t>Throughput is the </a:t>
            </a:r>
            <a:r>
              <a:rPr lang="en-US" u="sng" dirty="0" smtClean="0"/>
              <a:t>number of features</a:t>
            </a:r>
            <a:r>
              <a:rPr lang="en-US" dirty="0" smtClean="0"/>
              <a:t> the team can develop in a particular amount of time.</a:t>
            </a:r>
          </a:p>
          <a:p>
            <a:r>
              <a:rPr lang="en-US" dirty="0" smtClean="0"/>
              <a:t>Defects</a:t>
            </a:r>
          </a:p>
          <a:p>
            <a:r>
              <a:rPr lang="en-US" dirty="0" smtClean="0"/>
              <a:t>Time usage</a:t>
            </a:r>
            <a:endParaRPr lang="en-US" dirty="0"/>
          </a:p>
        </p:txBody>
      </p:sp>
      <p:pic>
        <p:nvPicPr>
          <p:cNvPr id="6148" name="Picture 4" descr="https://www.datapine.com/blog/wp-content/uploads/2017/04/working-on-reports-on-computer-and-paper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495800" y="4267200"/>
            <a:ext cx="3718560" cy="188976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Reports to Avoid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324600" cy="4525963"/>
          </a:xfrm>
        </p:spPr>
        <p:txBody>
          <a:bodyPr/>
          <a:lstStyle/>
          <a:p>
            <a:r>
              <a:rPr lang="en-US" sz="2600" i="1" dirty="0" smtClean="0">
                <a:solidFill>
                  <a:srgbClr val="C00000"/>
                </a:solidFill>
              </a:rPr>
              <a:t>Source lines of code</a:t>
            </a:r>
            <a:r>
              <a:rPr lang="en-US" sz="2600" dirty="0" smtClean="0"/>
              <a:t> (SLOC) and function points</a:t>
            </a:r>
          </a:p>
          <a:p>
            <a:pPr lvl="1"/>
            <a:r>
              <a:rPr lang="en-US" sz="2200" dirty="0" smtClean="0"/>
              <a:t>Reporting SLOC encourages defects and high costs.</a:t>
            </a:r>
          </a:p>
          <a:p>
            <a:r>
              <a:rPr lang="en-US" sz="2600" i="1" dirty="0" smtClean="0">
                <a:solidFill>
                  <a:srgbClr val="C00000"/>
                </a:solidFill>
              </a:rPr>
              <a:t>Number of stories</a:t>
            </a:r>
          </a:p>
          <a:p>
            <a:r>
              <a:rPr lang="en-US" sz="2600" dirty="0" smtClean="0"/>
              <a:t>Velocity</a:t>
            </a:r>
          </a:p>
          <a:p>
            <a:pPr lvl="1"/>
            <a:r>
              <a:rPr lang="en-US" sz="2200" dirty="0" smtClean="0"/>
              <a:t>Never compare velocity across teams.</a:t>
            </a:r>
          </a:p>
          <a:p>
            <a:r>
              <a:rPr lang="en-US" sz="2600" dirty="0" smtClean="0"/>
              <a:t>Code quality (</a:t>
            </a:r>
            <a:r>
              <a:rPr lang="en-US" sz="2600" dirty="0" err="1" smtClean="0"/>
              <a:t>cyclomatic</a:t>
            </a:r>
            <a:r>
              <a:rPr lang="en-US" sz="2600" dirty="0" smtClean="0"/>
              <a:t> code complexity)</a:t>
            </a:r>
          </a:p>
          <a:p>
            <a:pPr lvl="1"/>
            <a:r>
              <a:rPr lang="en-US" sz="2200" dirty="0" smtClean="0"/>
              <a:t>They are a useful tool for developers but they’re too ambiguous for reporting to stakeholders.</a:t>
            </a:r>
          </a:p>
        </p:txBody>
      </p:sp>
      <p:pic>
        <p:nvPicPr>
          <p:cNvPr id="5122" name="Picture 2" descr="https://possibility-cp.com/wp-content/uploads/2018/09/dreamstime_s_29280231-dont-do-it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717792" y="2362200"/>
            <a:ext cx="2121408" cy="24384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https://www.appa.org/wp-content/uploads/2019/04/Guidelines-checkbox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58000" y="304800"/>
            <a:ext cx="1971675" cy="1460183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Reporting Guidelines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Appropriate reporting will help </a:t>
            </a:r>
          </a:p>
          <a:p>
            <a:pPr>
              <a:buNone/>
            </a:pPr>
            <a:r>
              <a:rPr lang="en-US" sz="2400" dirty="0" smtClean="0"/>
              <a:t>	stakeholders </a:t>
            </a:r>
            <a:r>
              <a:rPr lang="en-US" sz="2400" i="1" dirty="0" smtClean="0">
                <a:solidFill>
                  <a:srgbClr val="C00000"/>
                </a:solidFill>
              </a:rPr>
              <a:t>trust</a:t>
            </a:r>
            <a:r>
              <a:rPr lang="en-US" sz="2400" dirty="0" smtClean="0"/>
              <a:t> that your team is doing good work.</a:t>
            </a:r>
          </a:p>
          <a:p>
            <a:r>
              <a:rPr lang="en-US" sz="2400" dirty="0" smtClean="0"/>
              <a:t>Over time, the need for reports </a:t>
            </a:r>
            <a:r>
              <a:rPr lang="en-US" sz="2400" i="1" dirty="0" smtClean="0">
                <a:solidFill>
                  <a:srgbClr val="C00000"/>
                </a:solidFill>
              </a:rPr>
              <a:t>will decrease</a:t>
            </a:r>
            <a:r>
              <a:rPr lang="en-US" sz="2400" dirty="0" smtClean="0"/>
              <a:t>, </a:t>
            </a:r>
          </a:p>
          <a:p>
            <a:pPr>
              <a:buNone/>
            </a:pPr>
            <a:r>
              <a:rPr lang="en-US" sz="2400" dirty="0" smtClean="0"/>
              <a:t>	and you will be able to report less information less frequently.</a:t>
            </a:r>
          </a:p>
          <a:p>
            <a:r>
              <a:rPr lang="en-US" sz="2400" dirty="0" smtClean="0"/>
              <a:t>Time spent on reports is time </a:t>
            </a:r>
            <a:r>
              <a:rPr lang="en-US" sz="2400" i="1" dirty="0" smtClean="0">
                <a:solidFill>
                  <a:srgbClr val="C00000"/>
                </a:solidFill>
              </a:rPr>
              <a:t>not spent developing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Technically speaking, reports are </a:t>
            </a:r>
            <a:r>
              <a:rPr lang="en-US" sz="2400" i="1" dirty="0" smtClean="0">
                <a:solidFill>
                  <a:srgbClr val="C00000"/>
                </a:solidFill>
              </a:rPr>
              <a:t>wasteful</a:t>
            </a:r>
            <a:r>
              <a:rPr lang="en-US" sz="2400" dirty="0" smtClean="0"/>
              <a:t> because they don’t contribute to </a:t>
            </a:r>
            <a:r>
              <a:rPr lang="en-US" sz="2400" u="sng" dirty="0" smtClean="0"/>
              <a:t>development progress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To avoid creating reports manually, use the </a:t>
            </a:r>
            <a:r>
              <a:rPr lang="en-US" sz="2400" i="1" dirty="0" smtClean="0">
                <a:solidFill>
                  <a:srgbClr val="C00000"/>
                </a:solidFill>
              </a:rPr>
              <a:t>iteration demo</a:t>
            </a:r>
            <a:r>
              <a:rPr lang="en-US" sz="2400" dirty="0" smtClean="0"/>
              <a:t>, </a:t>
            </a:r>
            <a:r>
              <a:rPr lang="en-US" sz="2400" i="1" dirty="0" smtClean="0">
                <a:solidFill>
                  <a:srgbClr val="C00000"/>
                </a:solidFill>
              </a:rPr>
              <a:t>planning boards</a:t>
            </a:r>
            <a:r>
              <a:rPr lang="en-US" sz="2400" dirty="0" smtClean="0"/>
              <a:t>, and the </a:t>
            </a:r>
            <a:r>
              <a:rPr lang="en-US" sz="2400" i="1" dirty="0" smtClean="0">
                <a:solidFill>
                  <a:srgbClr val="C00000"/>
                </a:solidFill>
              </a:rPr>
              <a:t>burn-up chart</a:t>
            </a:r>
            <a:r>
              <a:rPr lang="en-US" sz="2400" dirty="0" smtClean="0"/>
              <a:t> as only reports </a:t>
            </a:r>
            <a:r>
              <a:rPr lang="en-US" sz="2400" u="sng" dirty="0" smtClean="0"/>
              <a:t>whenever possible</a:t>
            </a:r>
            <a:r>
              <a:rPr lang="en-US" sz="2400" dirty="0" smtClean="0"/>
              <a:t>.</a:t>
            </a:r>
            <a:endParaRPr lang="en-US" sz="24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You &amp; See You Again</a:t>
            </a:r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18334</TotalTime>
  <Words>802</Words>
  <Application>Microsoft Office PowerPoint</Application>
  <PresentationFormat>On-screen Show (4:3)</PresentationFormat>
  <Paragraphs>166</Paragraphs>
  <Slides>32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3" baseType="lpstr">
      <vt:lpstr>Office Theme</vt:lpstr>
      <vt:lpstr>Agile Project Monitoring and Control</vt:lpstr>
      <vt:lpstr>Objectives</vt:lpstr>
      <vt:lpstr>Contents</vt:lpstr>
      <vt:lpstr>References</vt:lpstr>
      <vt:lpstr>Why Do Projects Fail?</vt:lpstr>
      <vt:lpstr>How is Your Project Going?</vt:lpstr>
      <vt:lpstr>Communication: Discussion Questions</vt:lpstr>
      <vt:lpstr>Learning at Home</vt:lpstr>
      <vt:lpstr>1. Create Project Timeline</vt:lpstr>
      <vt:lpstr>Create a Timeline in Visio</vt:lpstr>
      <vt:lpstr>Create a Timeline in Lucidchart</vt:lpstr>
      <vt:lpstr>2. Conduct Stand-Up Meetings [1]</vt:lpstr>
      <vt:lpstr>When Things Go Wrong</vt:lpstr>
      <vt:lpstr>An Environment of Equality</vt:lpstr>
      <vt:lpstr>Making Decisions</vt:lpstr>
      <vt:lpstr>Understudy</vt:lpstr>
      <vt:lpstr>Slide 17</vt:lpstr>
      <vt:lpstr>Don't Get Protective Over Code</vt:lpstr>
      <vt:lpstr>Technical No-No's</vt:lpstr>
      <vt:lpstr>Slide 20</vt:lpstr>
      <vt:lpstr>When to Report?</vt:lpstr>
      <vt:lpstr>What are the Inputs?</vt:lpstr>
      <vt:lpstr>3. Create Burn Down Chart</vt:lpstr>
      <vt:lpstr>Slide 24</vt:lpstr>
      <vt:lpstr>4. Perform Weekly Demo [1]</vt:lpstr>
      <vt:lpstr>5. Manage Changes</vt:lpstr>
      <vt:lpstr>6. Update Release Plan</vt:lpstr>
      <vt:lpstr>7. Create Status Report</vt:lpstr>
      <vt:lpstr>Management Reports to Consider</vt:lpstr>
      <vt:lpstr>Reports to Avoid</vt:lpstr>
      <vt:lpstr>Reporting Guidelines</vt:lpstr>
      <vt:lpstr>Thank You &amp; See You Again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6128</cp:revision>
  <dcterms:created xsi:type="dcterms:W3CDTF">2007-10-06T08:25:13Z</dcterms:created>
  <dcterms:modified xsi:type="dcterms:W3CDTF">2022-10-29T18:40:07Z</dcterms:modified>
</cp:coreProperties>
</file>