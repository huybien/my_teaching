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7"/>
  </p:notesMasterIdLst>
  <p:handoutMasterIdLst>
    <p:handoutMasterId r:id="rId38"/>
  </p:handoutMasterIdLst>
  <p:sldIdLst>
    <p:sldId id="256" r:id="rId2"/>
    <p:sldId id="458" r:id="rId3"/>
    <p:sldId id="623" r:id="rId4"/>
    <p:sldId id="459" r:id="rId5"/>
    <p:sldId id="624" r:id="rId6"/>
    <p:sldId id="649" r:id="rId7"/>
    <p:sldId id="633" r:id="rId8"/>
    <p:sldId id="634" r:id="rId9"/>
    <p:sldId id="635" r:id="rId10"/>
    <p:sldId id="636" r:id="rId11"/>
    <p:sldId id="641" r:id="rId12"/>
    <p:sldId id="638" r:id="rId13"/>
    <p:sldId id="637" r:id="rId14"/>
    <p:sldId id="639" r:id="rId15"/>
    <p:sldId id="648" r:id="rId16"/>
    <p:sldId id="643" r:id="rId17"/>
    <p:sldId id="644" r:id="rId18"/>
    <p:sldId id="664" r:id="rId19"/>
    <p:sldId id="645" r:id="rId20"/>
    <p:sldId id="647" r:id="rId21"/>
    <p:sldId id="650" r:id="rId22"/>
    <p:sldId id="651" r:id="rId23"/>
    <p:sldId id="652" r:id="rId24"/>
    <p:sldId id="653" r:id="rId25"/>
    <p:sldId id="654" r:id="rId26"/>
    <p:sldId id="655" r:id="rId27"/>
    <p:sldId id="656" r:id="rId28"/>
    <p:sldId id="657" r:id="rId29"/>
    <p:sldId id="658" r:id="rId30"/>
    <p:sldId id="659" r:id="rId31"/>
    <p:sldId id="660" r:id="rId32"/>
    <p:sldId id="661" r:id="rId33"/>
    <p:sldId id="662" r:id="rId34"/>
    <p:sldId id="663" r:id="rId35"/>
    <p:sldId id="343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18" autoAdjust="0"/>
    <p:restoredTop sz="94585" autoAdjust="0"/>
  </p:normalViewPr>
  <p:slideViewPr>
    <p:cSldViewPr>
      <p:cViewPr>
        <p:scale>
          <a:sx n="50" d="100"/>
          <a:sy n="50" d="100"/>
        </p:scale>
        <p:origin x="-1718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4B72E-E8F5-43DF-8A4C-5F612E413BA8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B584B-FCE1-4DD5-AC5C-BD1535AC6D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33D5C3-0820-4FAB-ABA1-6D9651D57222}" type="datetimeFigureOut">
              <a:rPr lang="en-US" smtClean="0"/>
              <a:pPr/>
              <a:t>10/25/2023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560AE-83EB-4E74-ABFC-279D183C468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Human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410200" cy="43434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7432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715000" cy="4343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Zachary Wong (2007). Human Factors in Project Management. </a:t>
            </a:r>
            <a:r>
              <a:rPr lang="en-US" sz="2400" dirty="0" err="1" smtClean="0"/>
              <a:t>Jossey</a:t>
            </a:r>
            <a:r>
              <a:rPr lang="en-US" sz="2400" dirty="0" smtClean="0"/>
              <a:t>-Bass.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Peter </a:t>
            </a:r>
            <a:r>
              <a:rPr lang="en-US" sz="2400" dirty="0" err="1" smtClean="0"/>
              <a:t>Scholtes</a:t>
            </a:r>
            <a:r>
              <a:rPr lang="en-US" sz="2400" dirty="0" smtClean="0"/>
              <a:t> (1988). The Team Handbook. Joiner Associates Inc.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Project Success [1]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5625" y="2060575"/>
            <a:ext cx="5492750" cy="357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Three Spaces of Project Management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Project teams </a:t>
            </a:r>
            <a:r>
              <a:rPr lang="en-US" sz="2200" i="1" dirty="0" smtClean="0">
                <a:solidFill>
                  <a:srgbClr val="C00000"/>
                </a:solidFill>
              </a:rPr>
              <a:t>are influenced</a:t>
            </a:r>
            <a:r>
              <a:rPr lang="en-US" sz="2200" dirty="0" smtClean="0"/>
              <a:t> by three conceptual spaces: organizational, team, and personal.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514600"/>
            <a:ext cx="6400800" cy="361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Our values are rooted in our personal culture, experiences, and personality type.</a:t>
            </a:r>
          </a:p>
          <a:p>
            <a:r>
              <a:rPr lang="en-US" sz="2000" dirty="0" smtClean="0"/>
              <a:t>From our values, we have personal </a:t>
            </a:r>
            <a:r>
              <a:rPr lang="en-US" sz="2000" i="1" dirty="0" smtClean="0">
                <a:solidFill>
                  <a:srgbClr val="C00000"/>
                </a:solidFill>
              </a:rPr>
              <a:t>expectations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desires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We are inspired when we feel our desires are attainable and supported by organizational and team space.</a:t>
            </a:r>
          </a:p>
          <a:p>
            <a:r>
              <a:rPr lang="en-US" sz="2000" dirty="0" smtClean="0"/>
              <a:t>For example, we may believe that hard work will lead to a promotion.</a:t>
            </a:r>
          </a:p>
          <a:p>
            <a:r>
              <a:rPr lang="en-US" sz="2000" dirty="0" smtClean="0"/>
              <a:t>For us to feel motivated and inspired, that belief needs to be reinforced by organizational space.</a:t>
            </a:r>
            <a:endParaRPr lang="en-US" sz="2000" dirty="0"/>
          </a:p>
        </p:txBody>
      </p:sp>
      <p:pic>
        <p:nvPicPr>
          <p:cNvPr id="11266" name="Picture 2" descr="https://www.protradeunited.com.au/wp-content/uploads/2016/09/Expectatio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4800600"/>
            <a:ext cx="2597658" cy="1461516"/>
          </a:xfrm>
          <a:prstGeom prst="rect">
            <a:avLst/>
          </a:prstGeom>
          <a:noFill/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248400" y="4267200"/>
            <a:ext cx="1905000" cy="2286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Health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Wealth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Security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Justice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Learning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Freedom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Organizational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Company values are rooted in its </a:t>
            </a:r>
            <a:r>
              <a:rPr lang="en-US" sz="2200" i="1" dirty="0" smtClean="0">
                <a:solidFill>
                  <a:srgbClr val="C00000"/>
                </a:solidFill>
              </a:rPr>
              <a:t>history</a:t>
            </a:r>
            <a:r>
              <a:rPr lang="en-US" sz="2200" dirty="0" smtClean="0"/>
              <a:t> and institutional memory.</a:t>
            </a:r>
          </a:p>
          <a:p>
            <a:r>
              <a:rPr lang="en-US" sz="2200" dirty="0" smtClean="0"/>
              <a:t>There are three ways to identify your </a:t>
            </a:r>
            <a:r>
              <a:rPr lang="en-US" sz="2200" dirty="0" smtClean="0"/>
              <a:t>company's </a:t>
            </a:r>
            <a:r>
              <a:rPr lang="en-US" sz="2200" dirty="0" smtClean="0"/>
              <a:t>values: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dirty="0" smtClean="0"/>
              <a:t>company's </a:t>
            </a:r>
            <a:r>
              <a:rPr lang="en-US" sz="2000" dirty="0" smtClean="0"/>
              <a:t>vision, mission, objectives, and value statements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company's </a:t>
            </a:r>
            <a:r>
              <a:rPr lang="en-US" sz="2000" i="1" dirty="0" smtClean="0">
                <a:solidFill>
                  <a:srgbClr val="C00000"/>
                </a:solidFill>
              </a:rPr>
              <a:t>policies</a:t>
            </a:r>
            <a:r>
              <a:rPr lang="en-US" sz="2000" dirty="0" smtClean="0"/>
              <a:t> and key decisions</a:t>
            </a:r>
          </a:p>
          <a:p>
            <a:pPr lvl="1"/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C00000"/>
                </a:solidFill>
              </a:rPr>
              <a:t>behaviors</a:t>
            </a:r>
            <a:r>
              <a:rPr lang="en-US" sz="2000" dirty="0" smtClean="0"/>
              <a:t> of managers and peers</a:t>
            </a:r>
          </a:p>
          <a:p>
            <a:r>
              <a:rPr lang="en-US" sz="2200" dirty="0" smtClean="0"/>
              <a:t>Having stated values alone does not create a values-based organization.</a:t>
            </a:r>
          </a:p>
          <a:p>
            <a:r>
              <a:rPr lang="en-US" sz="2200" dirty="0" smtClean="0"/>
              <a:t>These values must be demonstrated in </a:t>
            </a:r>
            <a:r>
              <a:rPr lang="en-US" sz="2200" i="1" dirty="0" smtClean="0">
                <a:solidFill>
                  <a:srgbClr val="C00000"/>
                </a:solidFill>
              </a:rPr>
              <a:t>actions</a:t>
            </a:r>
            <a:r>
              <a:rPr lang="en-US" sz="2200" dirty="0" smtClean="0"/>
              <a:t>; otherwise, they are just words on a page.</a:t>
            </a:r>
            <a:endParaRPr lang="en-US" sz="2200" dirty="0"/>
          </a:p>
        </p:txBody>
      </p:sp>
      <p:pic>
        <p:nvPicPr>
          <p:cNvPr id="10242" name="Picture 2" descr="https://www.careerz360.com/blog/wp-content/uploads/2018/09/tips-for-career-planning-students-careerz360-e153864077830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5181600"/>
            <a:ext cx="2352675" cy="1247775"/>
          </a:xfrm>
          <a:prstGeom prst="rect">
            <a:avLst/>
          </a:prstGeom>
          <a:noFill/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248400" y="4724400"/>
            <a:ext cx="1905000" cy="1905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Innovation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Salaries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Teamwork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Trust</a:t>
            </a:r>
          </a:p>
          <a:p>
            <a:pPr marL="342900" lvl="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Respect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Personal vs. Organizational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If a </a:t>
            </a:r>
            <a:r>
              <a:rPr lang="en-US" sz="2000" dirty="0" smtClean="0"/>
              <a:t>person's </a:t>
            </a:r>
            <a:r>
              <a:rPr lang="en-US" sz="2000" dirty="0" smtClean="0"/>
              <a:t>values </a:t>
            </a:r>
            <a:r>
              <a:rPr lang="en-US" sz="2000" i="1" dirty="0" smtClean="0">
                <a:solidFill>
                  <a:srgbClr val="C00000"/>
                </a:solidFill>
              </a:rPr>
              <a:t>are not in strong alignment</a:t>
            </a:r>
            <a:r>
              <a:rPr lang="en-US" sz="2000" dirty="0" smtClean="0"/>
              <a:t> with those of the company, then conflicts will occur.</a:t>
            </a:r>
          </a:p>
          <a:p>
            <a:r>
              <a:rPr lang="en-US" sz="2000" dirty="0" smtClean="0"/>
              <a:t>When company values do not match your values, you may be forced to </a:t>
            </a:r>
            <a:r>
              <a:rPr lang="en-US" sz="2000" i="1" dirty="0" smtClean="0">
                <a:solidFill>
                  <a:srgbClr val="C00000"/>
                </a:solidFill>
              </a:rPr>
              <a:t>change your behaviors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Some people can readily adopt new behaviors.</a:t>
            </a:r>
          </a:p>
          <a:p>
            <a:r>
              <a:rPr lang="en-US" sz="2000" dirty="0" smtClean="0"/>
              <a:t>However, when behavioral modifications are made at the expense of your core values, those you believe in deeply, you will likely </a:t>
            </a:r>
            <a:r>
              <a:rPr lang="en-US" sz="2000" i="1" dirty="0" smtClean="0">
                <a:solidFill>
                  <a:srgbClr val="C00000"/>
                </a:solidFill>
              </a:rPr>
              <a:t>pay an emotional price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You may feel </a:t>
            </a:r>
            <a:r>
              <a:rPr lang="en-US" sz="2000" i="1" dirty="0" smtClean="0">
                <a:solidFill>
                  <a:srgbClr val="C00000"/>
                </a:solidFill>
              </a:rPr>
              <a:t>stressed</a:t>
            </a:r>
            <a:r>
              <a:rPr lang="en-US" sz="2000" dirty="0" smtClean="0"/>
              <a:t> at work, </a:t>
            </a:r>
            <a:r>
              <a:rPr lang="en-US" sz="2000" i="1" dirty="0" smtClean="0">
                <a:solidFill>
                  <a:srgbClr val="C00000"/>
                </a:solidFill>
              </a:rPr>
              <a:t>anger</a:t>
            </a:r>
            <a:r>
              <a:rPr lang="en-US" sz="2000" dirty="0" smtClean="0"/>
              <a:t> easily at work and at home, or work </a:t>
            </a:r>
            <a:r>
              <a:rPr lang="en-US" sz="2000" i="1" dirty="0" smtClean="0">
                <a:solidFill>
                  <a:srgbClr val="C00000"/>
                </a:solidFill>
              </a:rPr>
              <a:t>less diligently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7170" name="Picture 2" descr="https://www.corporatecomplianceinsights.com/wp-content/uploads/2020/06/conflic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4878324"/>
            <a:ext cx="2667000" cy="1674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 the Disparity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 you find yourself </a:t>
            </a:r>
            <a:r>
              <a:rPr lang="en-US" sz="2400" i="1" dirty="0" smtClean="0">
                <a:solidFill>
                  <a:srgbClr val="C00000"/>
                </a:solidFill>
              </a:rPr>
              <a:t>talking about</a:t>
            </a:r>
            <a:r>
              <a:rPr lang="en-US" sz="2400" dirty="0" smtClean="0"/>
              <a:t> the </a:t>
            </a:r>
            <a:r>
              <a:rPr lang="en-US" sz="2400" u="sng" dirty="0" smtClean="0"/>
              <a:t>company's </a:t>
            </a:r>
            <a:r>
              <a:rPr lang="en-US" sz="2400" u="sng" dirty="0" smtClean="0"/>
              <a:t>values</a:t>
            </a:r>
            <a:r>
              <a:rPr lang="en-US" sz="2400" dirty="0" smtClean="0"/>
              <a:t> to your spouse, family, and friends?</a:t>
            </a:r>
          </a:p>
          <a:p>
            <a:r>
              <a:rPr lang="en-US" sz="2400" dirty="0" smtClean="0"/>
              <a:t>Do you </a:t>
            </a:r>
            <a:r>
              <a:rPr lang="en-US" sz="2400" i="1" dirty="0" smtClean="0">
                <a:solidFill>
                  <a:srgbClr val="C00000"/>
                </a:solidFill>
              </a:rPr>
              <a:t>speak up</a:t>
            </a:r>
            <a:r>
              <a:rPr lang="en-US" sz="2400" dirty="0" smtClean="0"/>
              <a:t> in support of your </a:t>
            </a:r>
            <a:r>
              <a:rPr lang="en-US" sz="2400" dirty="0" smtClean="0"/>
              <a:t>company's </a:t>
            </a:r>
            <a:r>
              <a:rPr lang="en-US" sz="2400" dirty="0" smtClean="0"/>
              <a:t>values at work?</a:t>
            </a:r>
          </a:p>
          <a:p>
            <a:endParaRPr lang="en-US" sz="2400" dirty="0"/>
          </a:p>
        </p:txBody>
      </p:sp>
      <p:pic>
        <p:nvPicPr>
          <p:cNvPr id="6146" name="Picture 2" descr="https://lsaglobal.com/wp-content/uploads/2021/11/Meaning-for-Your-Teams-at-Work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4114800"/>
            <a:ext cx="2377440" cy="16802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Diversity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First, we need to recognize that people come from </a:t>
            </a:r>
            <a:r>
              <a:rPr lang="en-US" sz="2400" i="1" dirty="0" smtClean="0">
                <a:solidFill>
                  <a:srgbClr val="C00000"/>
                </a:solidFill>
              </a:rPr>
              <a:t>different cultures</a:t>
            </a:r>
            <a:r>
              <a:rPr lang="en-US" sz="2400" dirty="0" smtClean="0"/>
              <a:t> in life, and each of those cultures has a unique language, customs, beliefs, foods, music, and other sociological factors.</a:t>
            </a:r>
          </a:p>
          <a:p>
            <a:r>
              <a:rPr lang="en-US" sz="2400" dirty="0" smtClean="0"/>
              <a:t>Second, people of specific </a:t>
            </a:r>
            <a:r>
              <a:rPr lang="en-US" sz="2400" i="1" dirty="0" smtClean="0">
                <a:solidFill>
                  <a:srgbClr val="C00000"/>
                </a:solidFill>
              </a:rPr>
              <a:t>generations</a:t>
            </a:r>
            <a:r>
              <a:rPr lang="en-US" sz="2400" dirty="0" smtClean="0"/>
              <a:t> demonstrate similar behaviors and beliefs that are derived from their shared life experiences.</a:t>
            </a:r>
          </a:p>
          <a:p>
            <a:r>
              <a:rPr lang="en-US" sz="2400" dirty="0" smtClean="0"/>
              <a:t>Third, research has demonstrated that people are born with similar preferences or </a:t>
            </a:r>
            <a:r>
              <a:rPr lang="en-US" sz="2400" i="1" dirty="0" smtClean="0">
                <a:solidFill>
                  <a:srgbClr val="C00000"/>
                </a:solidFill>
              </a:rPr>
              <a:t>psychological typing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David </a:t>
            </a:r>
            <a:r>
              <a:rPr lang="en-US" sz="4200" dirty="0" err="1" smtClean="0"/>
              <a:t>Keirsey's</a:t>
            </a:r>
            <a:r>
              <a:rPr lang="en-US" sz="4200" dirty="0" smtClean="0"/>
              <a:t> </a:t>
            </a:r>
            <a:r>
              <a:rPr lang="en-US" sz="4200" dirty="0" smtClean="0"/>
              <a:t>Temperament Types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err="1" smtClean="0">
                <a:solidFill>
                  <a:srgbClr val="C00000"/>
                </a:solidFill>
              </a:rPr>
              <a:t>Rationals</a:t>
            </a:r>
            <a:r>
              <a:rPr lang="en-US" sz="2200" dirty="0" smtClean="0"/>
              <a:t> provide competitive drive, logic, analytical skills, critical thinking, innovation, and initiative. They connect ideas, thoughts, and facts to form a strategic view and actions for a team.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Idealists</a:t>
            </a:r>
            <a:r>
              <a:rPr lang="en-US" sz="2200" dirty="0" smtClean="0"/>
              <a:t> contribute patience, collaboration, thoughtfulness, sensitivity to people, intuition, and teamwork. They connect people and feelings to issues.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Artisans</a:t>
            </a:r>
            <a:r>
              <a:rPr lang="en-US" sz="2200" dirty="0" smtClean="0"/>
              <a:t> generate energy, emotions, speed, actions, creativity, and fun. They help a team embrace change, see opportunities, take risks, and break paradigms.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Guardians</a:t>
            </a:r>
            <a:r>
              <a:rPr lang="en-US" sz="2200" dirty="0" smtClean="0"/>
              <a:t> bring organization, processes, production, discipline, accuracy, and stability. They are able to successfully execute work plans and processes to meet team objectives.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a 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Each type shows a different behavioral pattern for learning, processing information, communicating, and interacting with their environment.</a:t>
            </a:r>
          </a:p>
          <a:p>
            <a:r>
              <a:rPr lang="en-US" sz="2400" dirty="0" smtClean="0"/>
              <a:t>No single type is better or worse for project management.</a:t>
            </a:r>
          </a:p>
          <a:p>
            <a:r>
              <a:rPr lang="en-US" sz="2400" dirty="0" smtClean="0"/>
              <a:t>Each type has special strengths and weaknesses.</a:t>
            </a:r>
          </a:p>
          <a:p>
            <a:r>
              <a:rPr lang="en-US" sz="2400" dirty="0" smtClean="0"/>
              <a:t>When these types are </a:t>
            </a:r>
            <a:r>
              <a:rPr lang="en-US" sz="2400" i="1" dirty="0" smtClean="0">
                <a:solidFill>
                  <a:srgbClr val="C00000"/>
                </a:solidFill>
              </a:rPr>
              <a:t>blended together</a:t>
            </a:r>
            <a:r>
              <a:rPr lang="en-US" sz="2400" dirty="0" smtClean="0"/>
              <a:t> on a team, the diversity of personalities generates greater creativity and higher-quality work than any </a:t>
            </a:r>
            <a:r>
              <a:rPr lang="en-US" sz="2400" u="sng" dirty="0" smtClean="0"/>
              <a:t>one type</a:t>
            </a:r>
            <a:r>
              <a:rPr lang="en-US" sz="2400" dirty="0" smtClean="0"/>
              <a:t> can accomplish alone.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Elements of Team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i="1" dirty="0" smtClean="0">
                <a:solidFill>
                  <a:srgbClr val="C00000"/>
                </a:solidFill>
              </a:rPr>
              <a:t>Content</a:t>
            </a:r>
            <a:r>
              <a:rPr lang="en-US" sz="2200" dirty="0" smtClean="0"/>
              <a:t> is the “what” or intent of the team—the </a:t>
            </a:r>
            <a:r>
              <a:rPr lang="en-US" sz="2200" u="sng" dirty="0" smtClean="0"/>
              <a:t>vision</a:t>
            </a:r>
            <a:r>
              <a:rPr lang="en-US" sz="2200" dirty="0" smtClean="0"/>
              <a:t>, </a:t>
            </a:r>
            <a:r>
              <a:rPr lang="en-US" sz="2200" u="sng" dirty="0" smtClean="0"/>
              <a:t>objectives</a:t>
            </a:r>
            <a:r>
              <a:rPr lang="en-US" sz="2200" dirty="0" smtClean="0"/>
              <a:t>, direction, opportunities, strategies, and assumptions.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Process</a:t>
            </a:r>
            <a:r>
              <a:rPr lang="en-US" sz="2200" dirty="0" smtClean="0"/>
              <a:t> is the “how”—the </a:t>
            </a:r>
            <a:r>
              <a:rPr lang="en-US" sz="2200" u="sng" dirty="0" smtClean="0"/>
              <a:t>tools</a:t>
            </a:r>
            <a:r>
              <a:rPr lang="en-US" sz="2200" dirty="0" smtClean="0"/>
              <a:t> and </a:t>
            </a:r>
            <a:r>
              <a:rPr lang="en-US" sz="2200" u="sng" dirty="0" smtClean="0"/>
              <a:t>procedures</a:t>
            </a:r>
            <a:r>
              <a:rPr lang="en-US" sz="2200" dirty="0" smtClean="0"/>
              <a:t> that help a team reach its objectives.</a:t>
            </a:r>
          </a:p>
          <a:p>
            <a:r>
              <a:rPr lang="en-US" sz="2200" i="1" dirty="0" smtClean="0">
                <a:solidFill>
                  <a:srgbClr val="C00000"/>
                </a:solidFill>
              </a:rPr>
              <a:t>Behavior</a:t>
            </a:r>
            <a:r>
              <a:rPr lang="en-US" sz="2200" dirty="0" smtClean="0"/>
              <a:t> is the </a:t>
            </a:r>
            <a:r>
              <a:rPr lang="en-US" sz="2200" u="sng" dirty="0" smtClean="0"/>
              <a:t>collective human interactions</a:t>
            </a:r>
            <a:r>
              <a:rPr lang="en-US" sz="2200" dirty="0" smtClean="0"/>
              <a:t> of the team, the </a:t>
            </a:r>
            <a:r>
              <a:rPr lang="en-US" sz="2200" u="sng" dirty="0" smtClean="0"/>
              <a:t>observable human actions</a:t>
            </a:r>
            <a:r>
              <a:rPr lang="en-US" sz="2200" dirty="0" smtClean="0"/>
              <a:t> and team dynamics.</a:t>
            </a:r>
          </a:p>
          <a:p>
            <a:r>
              <a:rPr lang="en-US" sz="2200" dirty="0" smtClean="0"/>
              <a:t>These three factors </a:t>
            </a:r>
            <a:r>
              <a:rPr lang="en-US" sz="2200" i="1" dirty="0" smtClean="0">
                <a:solidFill>
                  <a:srgbClr val="C00000"/>
                </a:solidFill>
              </a:rPr>
              <a:t>are interdependent variables</a:t>
            </a:r>
            <a:r>
              <a:rPr lang="en-US" sz="2200" dirty="0" smtClean="0"/>
              <a:t> and must be </a:t>
            </a:r>
            <a:r>
              <a:rPr lang="en-US" sz="2200" u="sng" dirty="0" smtClean="0"/>
              <a:t>in place</a:t>
            </a:r>
            <a:r>
              <a:rPr lang="en-US" sz="2200" dirty="0" smtClean="0"/>
              <a:t> and </a:t>
            </a:r>
            <a:r>
              <a:rPr lang="en-US" sz="2200" u="sng" dirty="0" smtClean="0"/>
              <a:t>working in synergy</a:t>
            </a:r>
            <a:r>
              <a:rPr lang="en-US" sz="2200" dirty="0" smtClean="0"/>
              <a:t> for a project team to be successful.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4640580"/>
            <a:ext cx="2880360" cy="1760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Interdependent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key to any high-performing team is the </a:t>
            </a:r>
            <a:r>
              <a:rPr lang="en-US" sz="2200" i="1" dirty="0" smtClean="0">
                <a:solidFill>
                  <a:srgbClr val="C00000"/>
                </a:solidFill>
              </a:rPr>
              <a:t>team's </a:t>
            </a:r>
            <a:r>
              <a:rPr lang="en-US" sz="2200" i="1" dirty="0" smtClean="0">
                <a:solidFill>
                  <a:srgbClr val="C00000"/>
                </a:solidFill>
              </a:rPr>
              <a:t>ability</a:t>
            </a:r>
            <a:r>
              <a:rPr lang="en-US" sz="2200" dirty="0" smtClean="0"/>
              <a:t> to</a:t>
            </a:r>
          </a:p>
          <a:p>
            <a:pPr lvl="1"/>
            <a:r>
              <a:rPr lang="en-US" sz="1800" dirty="0" smtClean="0"/>
              <a:t>develop and agree on the key purpose, goals, and plans of the project (</a:t>
            </a:r>
            <a:r>
              <a:rPr lang="en-US" sz="1800" i="1" dirty="0" smtClean="0">
                <a:solidFill>
                  <a:srgbClr val="C00000"/>
                </a:solidFill>
              </a:rPr>
              <a:t>content</a:t>
            </a:r>
            <a:r>
              <a:rPr lang="en-US" sz="1800" dirty="0" smtClean="0"/>
              <a:t>); </a:t>
            </a:r>
          </a:p>
          <a:p>
            <a:pPr lvl="1"/>
            <a:r>
              <a:rPr lang="en-US" sz="1800" dirty="0" smtClean="0"/>
              <a:t>use the right tools, techniques, and procedures to implement the </a:t>
            </a:r>
            <a:r>
              <a:rPr lang="en-US" sz="1800" dirty="0" smtClean="0"/>
              <a:t>team's </a:t>
            </a:r>
            <a:r>
              <a:rPr lang="en-US" sz="1800" dirty="0" smtClean="0"/>
              <a:t>work plan (</a:t>
            </a:r>
            <a:r>
              <a:rPr lang="en-US" sz="1800" i="1" dirty="0" smtClean="0">
                <a:solidFill>
                  <a:srgbClr val="C00000"/>
                </a:solidFill>
              </a:rPr>
              <a:t>process</a:t>
            </a:r>
            <a:r>
              <a:rPr lang="en-US" sz="1800" dirty="0" smtClean="0"/>
              <a:t>); and </a:t>
            </a:r>
          </a:p>
          <a:p>
            <a:pPr lvl="1"/>
            <a:r>
              <a:rPr lang="en-US" sz="1800" dirty="0" smtClean="0"/>
              <a:t>communicate, collaborate, and work in synergy (</a:t>
            </a:r>
            <a:r>
              <a:rPr lang="en-US" sz="1800" i="1" dirty="0" smtClean="0">
                <a:solidFill>
                  <a:srgbClr val="C00000"/>
                </a:solidFill>
              </a:rPr>
              <a:t>behavior</a:t>
            </a:r>
            <a:r>
              <a:rPr lang="en-US" sz="1800" dirty="0" smtClean="0"/>
              <a:t>).</a:t>
            </a:r>
          </a:p>
          <a:p>
            <a:r>
              <a:rPr lang="en-US" sz="2200" dirty="0" smtClean="0"/>
              <a:t>These three factors are interdependent variables and must </a:t>
            </a:r>
            <a:r>
              <a:rPr lang="en-US" sz="2200" i="1" dirty="0" smtClean="0">
                <a:solidFill>
                  <a:srgbClr val="C00000"/>
                </a:solidFill>
              </a:rPr>
              <a:t>be in place</a:t>
            </a:r>
            <a:r>
              <a:rPr lang="en-US" sz="2200" dirty="0" smtClean="0"/>
              <a:t> and </a:t>
            </a:r>
            <a:r>
              <a:rPr lang="en-US" sz="2200" i="1" dirty="0" smtClean="0">
                <a:solidFill>
                  <a:srgbClr val="C00000"/>
                </a:solidFill>
              </a:rPr>
              <a:t>working in synergy</a:t>
            </a:r>
            <a:r>
              <a:rPr lang="en-US" sz="2200" dirty="0" smtClean="0"/>
              <a:t> for a project team to be successful.</a:t>
            </a:r>
            <a:endParaRPr lang="en-US" sz="2200" dirty="0"/>
          </a:p>
        </p:txBody>
      </p:sp>
      <p:pic>
        <p:nvPicPr>
          <p:cNvPr id="21506" name="Picture 2" descr="https://ghitechsolutions.com/wp-content/uploads/2020/08/interdependence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61884" y="4495800"/>
            <a:ext cx="2857916" cy="19040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Team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Team meetings</a:t>
            </a:r>
          </a:p>
          <a:p>
            <a:r>
              <a:rPr lang="en-US" dirty="0" smtClean="0"/>
              <a:t>Roles and responsibilities</a:t>
            </a:r>
          </a:p>
          <a:p>
            <a:r>
              <a:rPr lang="en-US" dirty="0" smtClean="0"/>
              <a:t>Communications</a:t>
            </a:r>
          </a:p>
          <a:p>
            <a:r>
              <a:rPr lang="en-US" dirty="0" smtClean="0"/>
              <a:t>Decision making</a:t>
            </a:r>
          </a:p>
          <a:p>
            <a:r>
              <a:rPr lang="en-US" dirty="0" smtClean="0"/>
              <a:t>Measuring performance</a:t>
            </a:r>
          </a:p>
          <a:p>
            <a:r>
              <a:rPr lang="en-US" dirty="0" smtClean="0"/>
              <a:t>Team feedback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2590800"/>
            <a:ext cx="2946292" cy="2077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Team Behaviors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Mutual trust</a:t>
            </a:r>
          </a:p>
          <a:p>
            <a:r>
              <a:rPr lang="en-US" sz="2600" dirty="0" smtClean="0"/>
              <a:t>Interdependency</a:t>
            </a:r>
          </a:p>
          <a:p>
            <a:r>
              <a:rPr lang="en-US" sz="2600" dirty="0" smtClean="0"/>
              <a:t>Accountability</a:t>
            </a:r>
          </a:p>
          <a:p>
            <a:r>
              <a:rPr lang="en-US" sz="2600" dirty="0" smtClean="0"/>
              <a:t>Valuing individual differences</a:t>
            </a:r>
          </a:p>
          <a:p>
            <a:r>
              <a:rPr lang="en-US" sz="2600" dirty="0" smtClean="0"/>
              <a:t>Transparency</a:t>
            </a:r>
          </a:p>
          <a:p>
            <a:r>
              <a:rPr lang="en-US" sz="2600" dirty="0" smtClean="0"/>
              <a:t>Learning and recognition</a:t>
            </a:r>
            <a:endParaRPr lang="en-US" sz="2600" dirty="0"/>
          </a:p>
        </p:txBody>
      </p:sp>
      <p:pic>
        <p:nvPicPr>
          <p:cNvPr id="2050" name="Picture 2" descr="https://www.wealthmanagement.com/sites/wealthmanagement.com/files/team-climbin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4648200"/>
            <a:ext cx="3284775" cy="170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Encourage People to Speak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Focus on hearing and capturing ideas (content).</a:t>
            </a:r>
          </a:p>
          <a:p>
            <a:r>
              <a:rPr lang="en-US" sz="2400" dirty="0" smtClean="0"/>
              <a:t>Do </a:t>
            </a:r>
            <a:r>
              <a:rPr lang="en-US" sz="2400" u="sng" dirty="0" smtClean="0"/>
              <a:t>not</a:t>
            </a:r>
            <a:r>
              <a:rPr lang="en-US" sz="2400" dirty="0" smtClean="0"/>
              <a:t> give </a:t>
            </a:r>
            <a:r>
              <a:rPr lang="en-US" sz="2400" i="1" dirty="0" smtClean="0">
                <a:solidFill>
                  <a:srgbClr val="C00000"/>
                </a:solidFill>
              </a:rPr>
              <a:t>feedback</a:t>
            </a:r>
            <a:r>
              <a:rPr lang="en-US" sz="2400" dirty="0" smtClean="0"/>
              <a:t> on the ideas (other process).</a:t>
            </a:r>
          </a:p>
          <a:p>
            <a:r>
              <a:rPr lang="en-US" sz="2400" dirty="0" smtClean="0"/>
              <a:t>Do </a:t>
            </a:r>
            <a:r>
              <a:rPr lang="en-US" sz="2400" u="sng" dirty="0" smtClean="0"/>
              <a:t>not</a:t>
            </a:r>
            <a:r>
              <a:rPr lang="en-US" sz="2400" dirty="0" smtClean="0"/>
              <a:t> react </a:t>
            </a:r>
            <a:r>
              <a:rPr lang="en-US" sz="2400" i="1" dirty="0" smtClean="0">
                <a:solidFill>
                  <a:srgbClr val="C00000"/>
                </a:solidFill>
              </a:rPr>
              <a:t>negatively</a:t>
            </a:r>
            <a:r>
              <a:rPr lang="en-US" sz="2400" dirty="0" smtClean="0"/>
              <a:t> to the content (behavior and process).</a:t>
            </a:r>
          </a:p>
          <a:p>
            <a:r>
              <a:rPr lang="en-US" sz="2400" dirty="0" smtClean="0"/>
              <a:t>In short: Separate content, process, and behavior.</a:t>
            </a:r>
          </a:p>
          <a:p>
            <a:endParaRPr lang="en-US" sz="2400" dirty="0"/>
          </a:p>
        </p:txBody>
      </p:sp>
      <p:pic>
        <p:nvPicPr>
          <p:cNvPr id="5126" name="Picture 6" descr="https://specials-images.forbesimg.com/imageserve/5dca129c2c886a0007ebe7b3/960x0.jpg?fit=scal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657600"/>
            <a:ext cx="3657600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Radar Dysfunctional Team</a:t>
            </a:r>
            <a:br>
              <a:rPr lang="en-US" dirty="0" smtClean="0"/>
            </a:br>
            <a:r>
              <a:rPr lang="en-US" dirty="0" smtClean="0"/>
              <a:t>Behaviors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Ignoring others</a:t>
            </a:r>
          </a:p>
          <a:p>
            <a:r>
              <a:rPr lang="en-US" dirty="0" smtClean="0"/>
              <a:t>Having side conversations</a:t>
            </a:r>
          </a:p>
          <a:p>
            <a:r>
              <a:rPr lang="en-US" dirty="0" smtClean="0"/>
              <a:t>Distracting (e.g. using a phone)</a:t>
            </a:r>
          </a:p>
          <a:p>
            <a:r>
              <a:rPr lang="en-US" dirty="0" smtClean="0"/>
              <a:t>Withdrawing</a:t>
            </a:r>
          </a:p>
          <a:p>
            <a:r>
              <a:rPr lang="en-US" dirty="0" smtClean="0"/>
              <a:t>Dominating</a:t>
            </a:r>
          </a:p>
          <a:p>
            <a:r>
              <a:rPr lang="en-US" dirty="0" smtClean="0"/>
              <a:t>Stating opinion as fact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Intervention Grid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Dominating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Brainstorming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0863" y="2406650"/>
            <a:ext cx="5502275" cy="361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Intervention Grid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Dominating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One by one talking.</a:t>
            </a:r>
            <a:endParaRPr lang="en-US" sz="24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5313" y="2492375"/>
            <a:ext cx="5413375" cy="352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Intervention Grid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Dominating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Talking in private.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4838" y="2514600"/>
            <a:ext cx="5394325" cy="353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Intervention Grid (IV)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Dominating 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 Stop meeting, talking in front of group.</a:t>
            </a:r>
          </a:p>
          <a:p>
            <a:r>
              <a:rPr lang="en-US" sz="2400" dirty="0" smtClean="0"/>
              <a:t>Never use this.</a:t>
            </a:r>
            <a:endParaRPr lang="en-US" sz="24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3250" y="2673350"/>
            <a:ext cx="5397500" cy="349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Six Other Ways To Deal With</a:t>
            </a:r>
            <a:br>
              <a:rPr lang="en-US" dirty="0" smtClean="0"/>
            </a:br>
            <a:r>
              <a:rPr lang="en-US" dirty="0" smtClean="0"/>
              <a:t>Difficult Stakeholders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Reciprocity</a:t>
            </a:r>
          </a:p>
          <a:p>
            <a:r>
              <a:rPr lang="en-US" dirty="0" smtClean="0"/>
              <a:t>Scarcity</a:t>
            </a:r>
          </a:p>
          <a:p>
            <a:r>
              <a:rPr lang="en-US" dirty="0" smtClean="0"/>
              <a:t>Authority</a:t>
            </a:r>
          </a:p>
          <a:p>
            <a:r>
              <a:rPr lang="en-US" dirty="0" smtClean="0"/>
              <a:t>Consistency</a:t>
            </a:r>
          </a:p>
          <a:p>
            <a:r>
              <a:rPr lang="en-US" dirty="0" smtClean="0"/>
              <a:t>Liking</a:t>
            </a:r>
          </a:p>
          <a:p>
            <a:r>
              <a:rPr lang="en-US" dirty="0" smtClean="0"/>
              <a:t>Consensus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Reciprocity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Others will do things for us if we have first done things for them.</a:t>
            </a:r>
            <a:endParaRPr lang="en-US" sz="2400" dirty="0"/>
          </a:p>
        </p:txBody>
      </p:sp>
      <p:pic>
        <p:nvPicPr>
          <p:cNvPr id="10242" name="Picture 2" descr="https://loyaltyrewardco.com/wp-content/uploads/2022/08/repricosity-660x400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3048000"/>
            <a:ext cx="440055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Scarcity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What you do for this stakeholder must be seen as: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Beneficial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Unique</a:t>
            </a:r>
          </a:p>
          <a:p>
            <a:r>
              <a:rPr lang="en-US" sz="2600" dirty="0" smtClean="0"/>
              <a:t>The stakeholder must also understand what they can </a:t>
            </a:r>
            <a:r>
              <a:rPr lang="en-US" sz="2600" i="1" dirty="0" smtClean="0">
                <a:solidFill>
                  <a:srgbClr val="C00000"/>
                </a:solidFill>
              </a:rPr>
              <a:t>potentially lose</a:t>
            </a:r>
            <a:r>
              <a:rPr lang="en-US" sz="2600" dirty="0" smtClean="0"/>
              <a:t>.</a:t>
            </a:r>
            <a:endParaRPr lang="en-US" sz="2600" dirty="0"/>
          </a:p>
        </p:txBody>
      </p:sp>
      <p:pic>
        <p:nvPicPr>
          <p:cNvPr id="9218" name="Picture 2" descr="https://www.worldatlas.com/r/w1200/upload/aa/7c/a1/shutterstock-51157179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4191000"/>
            <a:ext cx="2794000" cy="1864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Authority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you are seen as not just the person with “authority,” but as an </a:t>
            </a:r>
            <a:r>
              <a:rPr lang="en-US" sz="2400" i="1" dirty="0" smtClean="0">
                <a:solidFill>
                  <a:srgbClr val="C00000"/>
                </a:solidFill>
              </a:rPr>
              <a:t>authority</a:t>
            </a:r>
            <a:r>
              <a:rPr lang="en-US" sz="2400" dirty="0" smtClean="0"/>
              <a:t> or </a:t>
            </a:r>
            <a:r>
              <a:rPr lang="en-US" sz="2400" i="1" dirty="0" smtClean="0">
                <a:solidFill>
                  <a:srgbClr val="C00000"/>
                </a:solidFill>
              </a:rPr>
              <a:t>expert</a:t>
            </a:r>
            <a:r>
              <a:rPr lang="en-US" sz="2400" dirty="0" smtClean="0"/>
              <a:t> on </a:t>
            </a:r>
            <a:r>
              <a:rPr lang="en-US" sz="2400" u="sng" dirty="0" smtClean="0"/>
              <a:t>what you are attempting to do</a:t>
            </a:r>
            <a:r>
              <a:rPr lang="en-US" sz="2400" dirty="0" smtClean="0"/>
              <a:t> in the project, people are more likely to agree with you and support what you are doing.</a:t>
            </a:r>
            <a:endParaRPr lang="en-US" sz="2400" dirty="0"/>
          </a:p>
        </p:txBody>
      </p:sp>
      <p:pic>
        <p:nvPicPr>
          <p:cNvPr id="8194" name="Picture 2" descr="https://media.licdn.com/dms/image/C5612AQEATtdcxTw21Q/article-cover_image-shrink_600_2000/0/1520087177440?e=2147483647&amp;v=beta&amp;t=yFlPCsNFRbSxmJju2VIV77blCqDPlQfTd1nLBaHWeh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505200"/>
            <a:ext cx="47244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Consistency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Consistency throughout the project in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things </a:t>
            </a:r>
            <a:r>
              <a:rPr lang="en-US" sz="2400" u="sng" dirty="0" smtClean="0"/>
              <a:t>are </a:t>
            </a:r>
            <a:r>
              <a:rPr lang="en-US" sz="2400" u="sng" dirty="0" smtClean="0"/>
              <a:t>done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r>
              <a:rPr lang="en-US" sz="2400" dirty="0" smtClean="0"/>
              <a:t>Consistency in </a:t>
            </a:r>
            <a:r>
              <a:rPr lang="en-US" sz="2400" i="1" dirty="0" smtClean="0">
                <a:solidFill>
                  <a:srgbClr val="C00000"/>
                </a:solidFill>
              </a:rPr>
              <a:t>how</a:t>
            </a:r>
            <a:r>
              <a:rPr lang="en-US" sz="2400" dirty="0" smtClean="0"/>
              <a:t> the project </a:t>
            </a:r>
            <a:r>
              <a:rPr lang="en-US" sz="2400" u="sng" dirty="0" smtClean="0"/>
              <a:t>integrates with</a:t>
            </a:r>
            <a:r>
              <a:rPr lang="en-US" sz="2400" dirty="0" smtClean="0"/>
              <a:t> and </a:t>
            </a:r>
            <a:r>
              <a:rPr lang="en-US" sz="2400" u="sng" dirty="0" smtClean="0"/>
              <a:t>adheres</a:t>
            </a:r>
            <a:r>
              <a:rPr lang="en-US" sz="2400" dirty="0" smtClean="0"/>
              <a:t> to organizational processes, procedures, guidelines, and </a:t>
            </a:r>
            <a:r>
              <a:rPr lang="en-US" sz="2400" dirty="0" smtClean="0"/>
              <a:t>policies.</a:t>
            </a:r>
            <a:endParaRPr lang="en-US" sz="2400" dirty="0" smtClean="0"/>
          </a:p>
          <a:p>
            <a:r>
              <a:rPr lang="en-US" sz="2400" dirty="0" smtClean="0"/>
              <a:t>Both of these can help deal with difficult Stakeholders.</a:t>
            </a:r>
            <a:endParaRPr lang="en-US" sz="2400" dirty="0"/>
          </a:p>
        </p:txBody>
      </p:sp>
      <p:pic>
        <p:nvPicPr>
          <p:cNvPr id="7170" name="Picture 2" descr="https://dv-website.s3.amazonaws.com/uploads/2022/06/kf_dataconsistency_june2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3733800"/>
            <a:ext cx="2857500" cy="213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People will agree more often with people they like.</a:t>
            </a:r>
          </a:p>
          <a:p>
            <a:r>
              <a:rPr lang="en-US" sz="2400" dirty="0" smtClean="0"/>
              <a:t>Take the time to </a:t>
            </a:r>
            <a:r>
              <a:rPr lang="en-US" sz="2400" i="1" dirty="0" smtClean="0">
                <a:solidFill>
                  <a:srgbClr val="C00000"/>
                </a:solidFill>
              </a:rPr>
              <a:t>build positive relationships</a:t>
            </a:r>
            <a:r>
              <a:rPr lang="en-US" sz="2400" dirty="0" smtClean="0"/>
              <a:t> with stakeholders.</a:t>
            </a:r>
            <a:endParaRPr lang="en-US" sz="2400" dirty="0"/>
          </a:p>
        </p:txBody>
      </p:sp>
      <p:pic>
        <p:nvPicPr>
          <p:cNvPr id="6146" name="Picture 2" descr="https://media.licdn.com/dms/image/C5612AQGJ6d5-t5y1sA/article-cover_image-shrink_720_1280/0/1531390396243?e=2147483647&amp;v=beta&amp;t=y4x7iMWoQolddVU6AqXs5lMfoACMl2FfTr7uEn-Vrt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3200400"/>
            <a:ext cx="3429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Consensus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As it is within the team, listening to all viewpoints and building consensus on which is the best idea or action that will help the project move forward is also important to stakeholders.</a:t>
            </a:r>
            <a:endParaRPr lang="en-US" sz="2400" dirty="0"/>
          </a:p>
        </p:txBody>
      </p:sp>
      <p:pic>
        <p:nvPicPr>
          <p:cNvPr id="5122" name="Picture 2" descr="https://www.tssg.ca/wp-content/uploads/2021/05/soft-skills-ask-the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3505200"/>
            <a:ext cx="2950464" cy="2438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Listen to team members and </a:t>
            </a:r>
            <a:r>
              <a:rPr lang="en-US" sz="2400" dirty="0" smtClean="0"/>
              <a:t>stakeholders.</a:t>
            </a:r>
            <a:endParaRPr lang="en-US" sz="2400" dirty="0" smtClean="0"/>
          </a:p>
          <a:p>
            <a:r>
              <a:rPr lang="en-US" sz="2400" dirty="0" smtClean="0"/>
              <a:t>Treat everyone on the team and every stakeholder with </a:t>
            </a:r>
            <a:r>
              <a:rPr lang="en-US" sz="2400" i="1" dirty="0" smtClean="0">
                <a:solidFill>
                  <a:srgbClr val="C00000"/>
                </a:solidFill>
              </a:rPr>
              <a:t>respect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... And you will have a solid foundation for </a:t>
            </a:r>
            <a:r>
              <a:rPr lang="en-US" sz="2400" i="1" dirty="0" smtClean="0"/>
              <a:t>Dealing With Difficult People.</a:t>
            </a:r>
            <a:endParaRPr lang="en-US" sz="2400" dirty="0"/>
          </a:p>
        </p:txBody>
      </p:sp>
      <p:pic>
        <p:nvPicPr>
          <p:cNvPr id="4098" name="Picture 2" descr="https://bonitavistacrusader.org/wp-content/uploads/2022/08/respect-graphi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4114800"/>
            <a:ext cx="4337050" cy="2209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</a:t>
            </a:r>
            <a:r>
              <a:rPr lang="en-US" smtClean="0"/>
              <a:t>See 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14977</TotalTime>
  <Words>1200</Words>
  <Application>Microsoft Office PowerPoint</Application>
  <PresentationFormat>On-screen Show (4:3)</PresentationFormat>
  <Paragraphs>139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Human Factors</vt:lpstr>
      <vt:lpstr>Objectives</vt:lpstr>
      <vt:lpstr>Contents</vt:lpstr>
      <vt:lpstr>References</vt:lpstr>
      <vt:lpstr>Project Success [1]</vt:lpstr>
      <vt:lpstr>Three Spaces of Project Management</vt:lpstr>
      <vt:lpstr>Personal Values</vt:lpstr>
      <vt:lpstr>Organizational Values</vt:lpstr>
      <vt:lpstr>Personal vs. Organizational Values</vt:lpstr>
      <vt:lpstr>Test the Disparity</vt:lpstr>
      <vt:lpstr>Slide 11</vt:lpstr>
      <vt:lpstr>Individual Diversity</vt:lpstr>
      <vt:lpstr>David Keirsey's Temperament Types</vt:lpstr>
      <vt:lpstr>Build a Team</vt:lpstr>
      <vt:lpstr>Slide 15</vt:lpstr>
      <vt:lpstr>Key Elements of Team Performance</vt:lpstr>
      <vt:lpstr>Interdependent Variables</vt:lpstr>
      <vt:lpstr>Key Team Processes</vt:lpstr>
      <vt:lpstr>Key Team Behaviors</vt:lpstr>
      <vt:lpstr>Encourage People to Speak Up</vt:lpstr>
      <vt:lpstr>Slide 21</vt:lpstr>
      <vt:lpstr>Radar Dysfunctional Team Behaviors [2]</vt:lpstr>
      <vt:lpstr>Intervention Grid (I)</vt:lpstr>
      <vt:lpstr>Intervention Grid (II)</vt:lpstr>
      <vt:lpstr>Intervention Grid (III)</vt:lpstr>
      <vt:lpstr>Intervention Grid (IV)</vt:lpstr>
      <vt:lpstr>Six Other Ways To Deal With Difficult Stakeholders</vt:lpstr>
      <vt:lpstr>Reciprocity</vt:lpstr>
      <vt:lpstr>Scarcity</vt:lpstr>
      <vt:lpstr>Authority</vt:lpstr>
      <vt:lpstr>Consistency</vt:lpstr>
      <vt:lpstr>Liking</vt:lpstr>
      <vt:lpstr>Consensus</vt:lpstr>
      <vt:lpstr>In Summary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6050</cp:revision>
  <dcterms:created xsi:type="dcterms:W3CDTF">2007-10-06T08:25:13Z</dcterms:created>
  <dcterms:modified xsi:type="dcterms:W3CDTF">2023-10-25T19:27:26Z</dcterms:modified>
</cp:coreProperties>
</file>