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7"/>
  </p:notesMasterIdLst>
  <p:sldIdLst>
    <p:sldId id="256" r:id="rId2"/>
    <p:sldId id="394" r:id="rId3"/>
    <p:sldId id="431" r:id="rId4"/>
    <p:sldId id="385" r:id="rId5"/>
    <p:sldId id="432" r:id="rId6"/>
    <p:sldId id="445" r:id="rId7"/>
    <p:sldId id="435" r:id="rId8"/>
    <p:sldId id="436" r:id="rId9"/>
    <p:sldId id="446" r:id="rId10"/>
    <p:sldId id="453" r:id="rId11"/>
    <p:sldId id="448" r:id="rId12"/>
    <p:sldId id="416" r:id="rId13"/>
    <p:sldId id="417" r:id="rId14"/>
    <p:sldId id="456" r:id="rId15"/>
    <p:sldId id="426" r:id="rId16"/>
    <p:sldId id="424" r:id="rId17"/>
    <p:sldId id="404" r:id="rId18"/>
    <p:sldId id="451" r:id="rId19"/>
    <p:sldId id="440" r:id="rId20"/>
    <p:sldId id="452" r:id="rId21"/>
    <p:sldId id="447" r:id="rId22"/>
    <p:sldId id="449" r:id="rId23"/>
    <p:sldId id="454" r:id="rId24"/>
    <p:sldId id="455" r:id="rId25"/>
    <p:sldId id="444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15" autoAdjust="0"/>
    <p:restoredTop sz="94667" autoAdjust="0"/>
  </p:normalViewPr>
  <p:slideViewPr>
    <p:cSldViewPr>
      <p:cViewPr>
        <p:scale>
          <a:sx n="50" d="100"/>
          <a:sy n="50" d="100"/>
        </p:scale>
        <p:origin x="-1542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hbien@fit.hcmus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Department of Software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Natural Sciences,  VNU HCMC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6745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PhD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Department of Software Engineering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Faculty of Information Technology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University of Natural Sciences,  VNU HCMC</a:t>
            </a: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4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location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I82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hours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Wednesday &amp; Friday: 13:30 p.m. </a:t>
            </a:r>
            <a:r>
              <a:rPr lang="en-US" sz="2400" smtClean="0">
                <a:latin typeface="Calibri" pitchFamily="34" charset="0"/>
                <a:cs typeface="Calibri" pitchFamily="34" charset="0"/>
              </a:rPr>
              <a:t>– 17:10 p.m.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decide whether to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for the course.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 smtClean="0"/>
              <a:t>estimate an </a:t>
            </a:r>
            <a:r>
              <a:rPr lang="en-US" sz="2400" i="1" dirty="0" smtClean="0">
                <a:solidFill>
                  <a:srgbClr val="C00000"/>
                </a:solidFill>
              </a:rPr>
              <a:t>expected grade</a:t>
            </a:r>
            <a:r>
              <a:rPr lang="en-US" sz="2400" dirty="0" smtClean="0"/>
              <a:t> for yourself.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target learners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learning outcomes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contents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Teaching and learning </a:t>
            </a:r>
            <a:r>
              <a:rPr lang="en-US" sz="2400" i="1" dirty="0" smtClean="0">
                <a:solidFill>
                  <a:srgbClr val="C00000"/>
                </a:solidFill>
              </a:rPr>
              <a:t>methods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References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policies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05200" y="4244876"/>
            <a:ext cx="5257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I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cannot cooperate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with others to get jobs done.</a:t>
            </a:r>
          </a:p>
          <a:p>
            <a:pPr algn="ctr"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Unexpected things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always happen when my projects are being developed.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311391"/>
            <a:ext cx="2286000" cy="169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4234934"/>
            <a:ext cx="289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+mj-lt"/>
              </a:rPr>
              <a:t>My projects are always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late</a:t>
            </a:r>
            <a:r>
              <a:rPr lang="en-US" sz="2400" dirty="0" smtClean="0">
                <a:latin typeface="+mj-lt"/>
              </a:rPr>
              <a:t>.</a:t>
            </a:r>
          </a:p>
          <a:p>
            <a:pPr algn="ctr">
              <a:buNone/>
            </a:pPr>
            <a:endParaRPr lang="en-US" sz="2400" dirty="0" smtClean="0">
              <a:latin typeface="+mj-lt"/>
            </a:endParaRPr>
          </a:p>
          <a:p>
            <a:pPr algn="ctr">
              <a:buNone/>
            </a:pPr>
            <a:r>
              <a:rPr lang="en-US" sz="2400" dirty="0" smtClean="0">
                <a:latin typeface="+mj-lt"/>
              </a:rPr>
              <a:t>My projects always get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low marks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316342"/>
            <a:ext cx="1721427" cy="1842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2209800"/>
            <a:ext cx="4038600" cy="38862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I want a higher salary because in addition to programming, I also know how to work with a team, how to decide which technologies will be used, how to solve problems, how to manage time and report progress.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9600" y="2209800"/>
            <a:ext cx="464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How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much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is the cost of this software?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How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long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will it take to produce this software?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Which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process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should be used to develop this software?</a:t>
            </a:r>
          </a:p>
        </p:txBody>
      </p:sp>
      <p:pic>
        <p:nvPicPr>
          <p:cNvPr id="47106" name="Picture 2" descr="https://staticwspieram.pl/upload/project/big/17858_project-e6f2405d9bf51bc56081656d8627fbf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905000"/>
            <a:ext cx="2933700" cy="1920240"/>
          </a:xfrm>
          <a:prstGeom prst="rect">
            <a:avLst/>
          </a:prstGeom>
          <a:noFill/>
        </p:spPr>
      </p:pic>
      <p:pic>
        <p:nvPicPr>
          <p:cNvPr id="47108" name="Picture 4" descr="https://www.freelancermap.com/images/seo_landing/itfreelanc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4114800"/>
            <a:ext cx="2606634" cy="1905434"/>
          </a:xfrm>
          <a:prstGeom prst="rect">
            <a:avLst/>
          </a:prstGeom>
          <a:noFill/>
        </p:spPr>
      </p:pic>
      <p:pic>
        <p:nvPicPr>
          <p:cNvPr id="47114" name="Picture 10" descr="https://pixfeeds.com/images/topic/8157/1200-8157-promotion-letters-photo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648200"/>
            <a:ext cx="27432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Course is Not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people who can get their projects done </a:t>
            </a:r>
            <a:r>
              <a:rPr lang="en-US" sz="2200" i="1" dirty="0" smtClean="0">
                <a:solidFill>
                  <a:srgbClr val="C00000"/>
                </a:solidFill>
              </a:rPr>
              <a:t>on time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on budget</a:t>
            </a:r>
            <a:r>
              <a:rPr lang="en-US" sz="2200" dirty="0" smtClean="0"/>
              <a:t>, without any </a:t>
            </a:r>
            <a:r>
              <a:rPr lang="en-US" sz="2200" i="1" dirty="0" smtClean="0">
                <a:solidFill>
                  <a:srgbClr val="C00000"/>
                </a:solidFill>
              </a:rPr>
              <a:t>unexpected problems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people who already know how to work in a team </a:t>
            </a:r>
            <a:r>
              <a:rPr lang="en-US" sz="2200" i="1" dirty="0" smtClean="0">
                <a:solidFill>
                  <a:srgbClr val="C00000"/>
                </a:solidFill>
              </a:rPr>
              <a:t>using a process</a:t>
            </a:r>
            <a:r>
              <a:rPr lang="en-US" sz="2200" dirty="0" smtClean="0"/>
              <a:t>, how to manage time, manage works and report project status.</a:t>
            </a:r>
          </a:p>
          <a:p>
            <a:r>
              <a:rPr lang="en-US" sz="2200" dirty="0" smtClean="0"/>
              <a:t>people who </a:t>
            </a:r>
            <a:r>
              <a:rPr lang="en-US" sz="2200" i="1" dirty="0" smtClean="0">
                <a:solidFill>
                  <a:srgbClr val="C00000"/>
                </a:solidFill>
              </a:rPr>
              <a:t>do not want</a:t>
            </a:r>
            <a:r>
              <a:rPr lang="en-US" sz="2200" dirty="0" smtClean="0"/>
              <a:t> to manage a team (or </a:t>
            </a:r>
            <a:r>
              <a:rPr lang="en-US" sz="2200" i="1" dirty="0" smtClean="0">
                <a:solidFill>
                  <a:srgbClr val="C00000"/>
                </a:solidFill>
              </a:rPr>
              <a:t>already know</a:t>
            </a:r>
            <a:r>
              <a:rPr lang="en-US" sz="2200" dirty="0" smtClean="0"/>
              <a:t> how to manage a team), have </a:t>
            </a:r>
            <a:r>
              <a:rPr lang="en-US" sz="2200" u="sng" dirty="0" smtClean="0"/>
              <a:t>no need</a:t>
            </a:r>
            <a:r>
              <a:rPr lang="en-US" sz="2200" dirty="0" smtClean="0"/>
              <a:t> of opening a </a:t>
            </a:r>
            <a:r>
              <a:rPr lang="en-US" sz="2200" i="1" dirty="0" smtClean="0">
                <a:solidFill>
                  <a:srgbClr val="C00000"/>
                </a:solidFill>
              </a:rPr>
              <a:t>start-up company</a:t>
            </a:r>
            <a:r>
              <a:rPr lang="en-US" sz="2200" dirty="0" smtClean="0"/>
              <a:t>, or to </a:t>
            </a:r>
            <a:r>
              <a:rPr lang="en-US" sz="2200" i="1" dirty="0" smtClean="0">
                <a:solidFill>
                  <a:srgbClr val="C00000"/>
                </a:solidFill>
              </a:rPr>
              <a:t>work freelance</a:t>
            </a:r>
            <a:r>
              <a:rPr lang="en-US" sz="2200" dirty="0" smtClean="0"/>
              <a:t>, do not software development.</a:t>
            </a:r>
          </a:p>
        </p:txBody>
      </p:sp>
      <p:pic>
        <p:nvPicPr>
          <p:cNvPr id="7" name="Picture 4" descr="http://duration-driven.com/wp-content/uploads/2015/02/business-team-celebrating-victory-in-office-x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4704588"/>
            <a:ext cx="2464308" cy="1696212"/>
          </a:xfrm>
          <a:prstGeom prst="rect">
            <a:avLst/>
          </a:prstGeom>
          <a:noFill/>
        </p:spPr>
      </p:pic>
      <p:pic>
        <p:nvPicPr>
          <p:cNvPr id="8" name="Picture 12" descr="https://www.cpp.edu/~oslcc/projectsuccess/img/Project%20Success%20Pi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4572000"/>
            <a:ext cx="1937656" cy="20062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does not matter whether you know about software project management, as long as you still </a:t>
            </a:r>
            <a:r>
              <a:rPr lang="en-US" sz="2400" u="sng" dirty="0" smtClean="0"/>
              <a:t>involve in software development</a:t>
            </a:r>
            <a:r>
              <a:rPr lang="en-US" sz="2400" dirty="0" smtClean="0"/>
              <a:t> it still </a:t>
            </a:r>
            <a:r>
              <a:rPr lang="en-US" sz="2400" u="sng" dirty="0" smtClean="0"/>
              <a:t>seriously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affects your career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 descr="https://media-exp1.licdn.com/dms/image/C5612AQEsSwcnBavKBQ/article-cover_image-shrink_720_1280/0/1589180275118?e=2147483647&amp;v=beta&amp;t=9bCSJrE1QFKoB6vLRoS_1lXTDu5ec5Lrdj29tKNXLb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5814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Prerequisites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601690"/>
            <a:ext cx="7848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Prerequisites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Software Engineering.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Prior-courses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Requirements.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Design.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Testing.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Web Application Development.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Mobile Application Development.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Parallel 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Game Development.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Machine Learning.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Required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knowledge and skills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read English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books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write reports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The presentation skill.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343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219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6248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Propose a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software development model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for a project.</a:t>
            </a:r>
          </a:p>
          <a:p>
            <a:pPr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Apply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management activities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to software project development, including initiating, planning, executing, monitoring and controlling, and closing a project.</a:t>
            </a:r>
          </a:p>
          <a:p>
            <a:pPr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Use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tools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for managing software projects and software development processes.</a:t>
            </a:r>
          </a:p>
          <a:p>
            <a:pPr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Explain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responsibility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ethics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of a project manager when managing a software project.</a:t>
            </a:r>
          </a:p>
          <a:p>
            <a:pPr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Explain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standards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related to the software development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600" y="3657600"/>
            <a:ext cx="266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6. Engineer software system with a </a:t>
            </a:r>
            <a:r>
              <a:rPr lang="en-US" sz="2400" b="1" i="1" dirty="0" smtClean="0">
                <a:solidFill>
                  <a:srgbClr val="C00000"/>
                </a:solidFill>
                <a:latin typeface="Calibri" pitchFamily="34" charset="0"/>
              </a:rPr>
              <a:t>team</a:t>
            </a:r>
            <a:r>
              <a:rPr lang="en-US" sz="2400" b="1" dirty="0" smtClean="0">
                <a:latin typeface="Calibri" pitchFamily="34" charset="0"/>
              </a:rPr>
              <a:t> of 5 people</a:t>
            </a:r>
            <a:r>
              <a:rPr lang="vi-VN" sz="2400" b="1" dirty="0" smtClean="0">
                <a:latin typeface="Calibri" pitchFamily="34" charset="0"/>
              </a:rPr>
              <a:t>.</a:t>
            </a:r>
            <a:endParaRPr lang="en-US" sz="2400" b="1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</a:t>
            </a:r>
            <a:r>
              <a:rPr lang="en-US" dirty="0" smtClean="0"/>
              <a:t>Content (I)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6388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</a:t>
            </a:r>
            <a:r>
              <a:rPr lang="en-US" sz="2200" dirty="0" smtClean="0"/>
              <a:t>Project.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Prompt Patterns.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</a:t>
            </a:r>
            <a:r>
              <a:rPr lang="en-US" sz="2200" dirty="0" smtClean="0"/>
              <a:t>Project </a:t>
            </a:r>
            <a:r>
              <a:rPr lang="en-US" sz="2200" dirty="0" smtClean="0"/>
              <a:t>Initiation.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Development </a:t>
            </a:r>
            <a:r>
              <a:rPr lang="en-US" sz="2200" dirty="0" smtClean="0"/>
              <a:t>Models.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AI in the SDLC.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</a:t>
            </a:r>
            <a:r>
              <a:rPr lang="en-US" sz="2200" dirty="0" smtClean="0"/>
              <a:t>Estimation.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Project </a:t>
            </a:r>
            <a:r>
              <a:rPr lang="en-US" sz="2200" dirty="0" smtClean="0"/>
              <a:t>Planning.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Configuration </a:t>
            </a:r>
            <a:r>
              <a:rPr lang="en-US" sz="2200" dirty="0" smtClean="0"/>
              <a:t>Management.</a:t>
            </a:r>
          </a:p>
          <a:p>
            <a:pPr marL="571500" indent="-571500">
              <a:buFont typeface="+mj-lt"/>
              <a:buAutoNum type="romanUcPeriod"/>
            </a:pPr>
            <a:r>
              <a:rPr lang="it-IT" sz="2200" dirty="0" smtClean="0"/>
              <a:t>AI </a:t>
            </a:r>
            <a:r>
              <a:rPr lang="it-IT" sz="2200" dirty="0" smtClean="0"/>
              <a:t>Coding </a:t>
            </a:r>
            <a:r>
              <a:rPr lang="it-IT" sz="2200" dirty="0" smtClean="0"/>
              <a:t>Assistants &amp; </a:t>
            </a:r>
            <a:r>
              <a:rPr lang="it-IT" sz="2200" dirty="0" smtClean="0"/>
              <a:t>AI Code Review</a:t>
            </a:r>
            <a:r>
              <a:rPr lang="it-IT" sz="2200" dirty="0" smtClean="0"/>
              <a:t>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</a:t>
            </a:r>
            <a:r>
              <a:rPr lang="en-US" dirty="0" smtClean="0"/>
              <a:t>Content (II)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6388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</a:t>
            </a:r>
            <a:r>
              <a:rPr lang="en-US" sz="2200" dirty="0" smtClean="0"/>
              <a:t>Team </a:t>
            </a:r>
            <a:r>
              <a:rPr lang="en-US" sz="2200" dirty="0" smtClean="0"/>
              <a:t>Management.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Project Monitoring and </a:t>
            </a:r>
            <a:r>
              <a:rPr lang="en-US" sz="2200" dirty="0" smtClean="0"/>
              <a:t>Control.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Risk </a:t>
            </a:r>
            <a:r>
              <a:rPr lang="en-US" sz="2200" dirty="0" smtClean="0"/>
              <a:t>Management.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Quality </a:t>
            </a:r>
            <a:r>
              <a:rPr lang="en-US" sz="2200" dirty="0" smtClean="0"/>
              <a:t>Management.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Tools for Software Project </a:t>
            </a:r>
            <a:r>
              <a:rPr lang="en-US" sz="2200" dirty="0" smtClean="0"/>
              <a:t>Management.</a:t>
            </a:r>
            <a:endParaRPr lang="en-US" sz="22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Project Management Methodologies</a:t>
            </a:r>
            <a:r>
              <a:rPr lang="en-US" sz="22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Software Process </a:t>
            </a:r>
            <a:r>
              <a:rPr lang="en-US" sz="2200" dirty="0" smtClean="0"/>
              <a:t>Improvement.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Responsible AI, Ethics, and Compliance for AI-Augmented Projects.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600" dirty="0" smtClean="0">
                <a:latin typeface="+mj-lt"/>
              </a:rPr>
              <a:t>The number of credits:	4</a:t>
            </a:r>
          </a:p>
          <a:p>
            <a:r>
              <a:rPr lang="en-US" sz="2600" dirty="0" smtClean="0"/>
              <a:t>Theoretical lessons</a:t>
            </a:r>
            <a:r>
              <a:rPr lang="en-US" sz="2600" dirty="0" smtClean="0">
                <a:latin typeface="+mj-lt"/>
              </a:rPr>
              <a:t>: 	45</a:t>
            </a:r>
          </a:p>
          <a:p>
            <a:r>
              <a:rPr lang="en-US" sz="2600" dirty="0" smtClean="0">
                <a:latin typeface="+mj-lt"/>
              </a:rPr>
              <a:t>Practical lessons:		30</a:t>
            </a:r>
          </a:p>
          <a:p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Self- learning lessons:</a:t>
            </a:r>
            <a:r>
              <a:rPr lang="en-US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90</a:t>
            </a:r>
            <a:endParaRPr lang="en-US" sz="2600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schedule: Refer to the course syllabus.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Monitors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Exercises in classroom (40%)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Midterm exam (20%)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Final oral exam (40%)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20%)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actively answer questions in classroom correctly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Personnel board (1 class leader and 1 deputy class leader)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Exercises</a:t>
            </a:r>
            <a:r>
              <a:rPr lang="en-US" dirty="0" smtClean="0"/>
              <a:t> in Classroom (40%)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Project artifacts.</a:t>
            </a:r>
          </a:p>
          <a:p>
            <a:endParaRPr lang="en-US" dirty="0"/>
          </a:p>
        </p:txBody>
      </p:sp>
      <p:pic>
        <p:nvPicPr>
          <p:cNvPr id="4" name="Picture 2" descr="http://www.drandyroark.com/wp-content/uploads/bigstock-Students-at-classes-882915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9718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www.simplilearn.com/ice9/free_resources_article_thumb/Project-Scope-Management-Cov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048000"/>
            <a:ext cx="3230880" cy="181737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Midterm Exam (20%)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743200"/>
            <a:ext cx="2558415" cy="231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Project artifacts.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Individual Oral </a:t>
            </a:r>
            <a:r>
              <a:rPr lang="en-US" smtClean="0"/>
              <a:t>Exam (40</a:t>
            </a:r>
            <a:r>
              <a:rPr lang="en-US" dirty="0" smtClean="0"/>
              <a:t>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990599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Programs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source code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documents</a:t>
            </a:r>
            <a:r>
              <a:rPr lang="en-US" sz="2800" dirty="0" smtClean="0"/>
              <a:t>, videos and related resources. </a:t>
            </a:r>
            <a:endParaRPr lang="en-US" sz="2600" dirty="0" smtClean="0"/>
          </a:p>
        </p:txBody>
      </p:sp>
      <p:pic>
        <p:nvPicPr>
          <p:cNvPr id="5122" name="Picture 2" descr="https://2e8ram2s1li74atce18qz5y1-wpengine.netdna-ssl.com/wp-content/uploads/2018/09/Tech-Interviews-Tech-Pros-Dice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276600"/>
            <a:ext cx="4572000" cy="2857500"/>
          </a:xfrm>
          <a:prstGeom prst="rect">
            <a:avLst/>
          </a:prstGeom>
          <a:noFill/>
        </p:spPr>
      </p:pic>
      <p:pic>
        <p:nvPicPr>
          <p:cNvPr id="5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81400"/>
            <a:ext cx="2410464" cy="2366882"/>
          </a:xfrm>
          <a:prstGeom prst="rect">
            <a:avLst/>
          </a:prstGeom>
          <a:noFill/>
        </p:spPr>
      </p:pic>
      <p:pic>
        <p:nvPicPr>
          <p:cNvPr id="6" name="Picture 2" descr="http://www.18thtechnology.com/images/software_developm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1295400"/>
            <a:ext cx="876300" cy="880110"/>
          </a:xfrm>
          <a:prstGeom prst="rect">
            <a:avLst/>
          </a:prstGeom>
          <a:noFill/>
        </p:spPr>
      </p:pic>
      <p:pic>
        <p:nvPicPr>
          <p:cNvPr id="7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2286000"/>
            <a:ext cx="609600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1900" dirty="0" smtClean="0"/>
              <a:t>Students who are </a:t>
            </a:r>
            <a:r>
              <a:rPr lang="en-US" sz="1900" u="sng" dirty="0" smtClean="0"/>
              <a:t>absent</a:t>
            </a:r>
            <a:r>
              <a:rPr lang="en-US" sz="1900" dirty="0" smtClean="0"/>
              <a:t> for more than </a:t>
            </a:r>
            <a:r>
              <a:rPr lang="en-US" sz="1900" i="1" dirty="0" smtClean="0">
                <a:solidFill>
                  <a:srgbClr val="C00000"/>
                </a:solidFill>
              </a:rPr>
              <a:t>30% of the course time</a:t>
            </a:r>
            <a:r>
              <a:rPr lang="en-US" sz="1900" dirty="0" smtClean="0"/>
              <a:t> shall not be allowed to take the exams and be graded </a:t>
            </a:r>
            <a:r>
              <a:rPr lang="en-US" sz="1900" i="1" dirty="0" smtClean="0">
                <a:solidFill>
                  <a:srgbClr val="C00000"/>
                </a:solidFill>
              </a:rPr>
              <a:t>0 </a:t>
            </a:r>
            <a:r>
              <a:rPr lang="en-US" sz="1900" dirty="0" smtClean="0"/>
              <a:t>for the whole course.</a:t>
            </a:r>
          </a:p>
          <a:p>
            <a:r>
              <a:rPr lang="en-US" sz="1900" dirty="0" smtClean="0">
                <a:latin typeface="+mj-lt"/>
              </a:rPr>
              <a:t>Students who are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sz="1900" dirty="0" smtClean="0">
                <a:latin typeface="+mj-lt"/>
              </a:rPr>
              <a:t>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course project</a:t>
            </a:r>
            <a:r>
              <a:rPr lang="en-US" sz="1900" dirty="0" smtClean="0">
                <a:latin typeface="+mj-lt"/>
              </a:rPr>
              <a:t> or 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total score of the individual tests </a:t>
            </a:r>
            <a:r>
              <a:rPr lang="en-US" sz="1900" dirty="0" smtClean="0">
                <a:latin typeface="+mj-lt"/>
              </a:rPr>
              <a:t>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during a test session will be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sz="1900" dirty="0" smtClean="0">
                <a:latin typeface="+mj-lt"/>
              </a:rPr>
              <a:t> for the test. The exception can only be applied to students who have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a hospital certificate of medical status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does a classroom test or homework or project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for their friends</a:t>
            </a:r>
            <a:r>
              <a:rPr lang="en-US" sz="1900" dirty="0" smtClean="0">
                <a:latin typeface="+mj-lt"/>
              </a:rPr>
              <a:t> will be graded 0 for the course.</a:t>
            </a:r>
          </a:p>
          <a:p>
            <a:r>
              <a:rPr lang="en-US" sz="1900" dirty="0" smtClean="0">
                <a:latin typeface="+mj-lt"/>
              </a:rPr>
              <a:t>Students who do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plagiarism</a:t>
            </a:r>
            <a:r>
              <a:rPr lang="en-US" sz="1900" dirty="0" smtClean="0">
                <a:latin typeface="+mj-lt"/>
              </a:rPr>
              <a:t> for their exercises or projects will be graded 0 for the course. This also applies to cases in which the lecturers find out later when students will have already completed the course.</a:t>
            </a:r>
          </a:p>
          <a:p>
            <a:r>
              <a:rPr lang="en-US" sz="1900" dirty="0" smtClean="0">
                <a:latin typeface="+mj-lt"/>
              </a:rPr>
              <a:t>Students who have proof of their friends’ cheating or plagiarism but do not notify the lecturers will be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deducted 50%</a:t>
            </a:r>
            <a:r>
              <a:rPr lang="en-US" sz="1900" dirty="0" smtClean="0">
                <a:latin typeface="+mj-lt"/>
              </a:rPr>
              <a:t> of the total grade that they will have achieved.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&amp;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Lectures contain the core knowledge with specific examples.</a:t>
            </a:r>
          </a:p>
          <a:p>
            <a:r>
              <a:rPr lang="en-US" sz="2400" dirty="0" smtClean="0"/>
              <a:t>Slides present general knowledge and provide details to lectures.</a:t>
            </a:r>
          </a:p>
          <a:p>
            <a:r>
              <a:rPr lang="en-US" sz="2400" dirty="0" smtClean="0"/>
              <a:t>Lectures &amp; Slides are not necessarily the same.</a:t>
            </a:r>
          </a:p>
          <a:p>
            <a:r>
              <a:rPr lang="en-US" sz="2400" dirty="0" smtClean="0"/>
              <a:t>Writing summary for lectures as articles </a:t>
            </a:r>
            <a:r>
              <a:rPr lang="en-US" sz="2400" dirty="0" smtClean="0">
                <a:sym typeface="Wingdings" pitchFamily="2" charset="2"/>
              </a:rPr>
              <a:t> Bonus points.</a:t>
            </a:r>
            <a:endParaRPr lang="en-US" sz="2400" dirty="0" smtClean="0"/>
          </a:p>
        </p:txBody>
      </p:sp>
      <p:pic>
        <p:nvPicPr>
          <p:cNvPr id="1026" name="Picture 2" descr="https://images1.whatuni.com/commimg/myhotcourses/blog/post/myhc_694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008120"/>
            <a:ext cx="3627120" cy="2011680"/>
          </a:xfrm>
          <a:prstGeom prst="rect">
            <a:avLst/>
          </a:prstGeom>
          <a:noFill/>
        </p:spPr>
      </p:pic>
      <p:pic>
        <p:nvPicPr>
          <p:cNvPr id="1030" name="Picture 6" descr="Cách làm trò chơi Lucky Number trên PowerPoint 20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053840"/>
            <a:ext cx="3086100" cy="1737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pPr lvl="0"/>
            <a:r>
              <a:rPr lang="en-US" sz="2200" dirty="0" smtClean="0"/>
              <a:t>Project Management Institute (2021). A Guide to the Project Management Body of Knowledge. Seventh Edition. Project Management Institute.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600200"/>
            <a:ext cx="180975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219200" y="5029200"/>
            <a:ext cx="6705600" cy="838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Specific materials for each course topic: Refer to the course slides.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11009</TotalTime>
  <Words>973</Words>
  <Application>Microsoft Office PowerPoint</Application>
  <PresentationFormat>On-screen Show (4:3)</PresentationFormat>
  <Paragraphs>135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Course Introduction</vt:lpstr>
      <vt:lpstr>Lecturer</vt:lpstr>
      <vt:lpstr>Objectives</vt:lpstr>
      <vt:lpstr>Contents</vt:lpstr>
      <vt:lpstr>I am a Student</vt:lpstr>
      <vt:lpstr>I am a Student</vt:lpstr>
      <vt:lpstr>I am a Student</vt:lpstr>
      <vt:lpstr>I am a Developer</vt:lpstr>
      <vt:lpstr>This Course is Not for</vt:lpstr>
      <vt:lpstr>But</vt:lpstr>
      <vt:lpstr>Course Prerequisites</vt:lpstr>
      <vt:lpstr>Course Learning Outcomes</vt:lpstr>
      <vt:lpstr>Course Content (I)</vt:lpstr>
      <vt:lpstr>Course Content (II)</vt:lpstr>
      <vt:lpstr>Course Schedule</vt:lpstr>
      <vt:lpstr>Class Monitors</vt:lpstr>
      <vt:lpstr>Course Assessment</vt:lpstr>
      <vt:lpstr>Exercises in Classroom (40%)</vt:lpstr>
      <vt:lpstr>Midterm Exam (20%)</vt:lpstr>
      <vt:lpstr>Final Individual Oral Exam (40%)</vt:lpstr>
      <vt:lpstr>Course Policies</vt:lpstr>
      <vt:lpstr>Lectures &amp; Slides</vt:lpstr>
      <vt:lpstr>References</vt:lpstr>
      <vt:lpstr>Questions and Answers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5238</cp:revision>
  <dcterms:created xsi:type="dcterms:W3CDTF">2007-10-06T08:25:13Z</dcterms:created>
  <dcterms:modified xsi:type="dcterms:W3CDTF">2026-05-21T11:49:31Z</dcterms:modified>
</cp:coreProperties>
</file>