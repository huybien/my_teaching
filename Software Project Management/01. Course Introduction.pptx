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708" r:id="rId1"/>
  </p:sldMasterIdLst>
  <p:notesMasterIdLst>
    <p:notesMasterId r:id="rId27"/>
  </p:notesMasterIdLst>
  <p:sldIdLst>
    <p:sldId id="256" r:id="rId2"/>
    <p:sldId id="394" r:id="rId3"/>
    <p:sldId id="431" r:id="rId4"/>
    <p:sldId id="385" r:id="rId5"/>
    <p:sldId id="432" r:id="rId6"/>
    <p:sldId id="445" r:id="rId7"/>
    <p:sldId id="435" r:id="rId8"/>
    <p:sldId id="436" r:id="rId9"/>
    <p:sldId id="446" r:id="rId10"/>
    <p:sldId id="453" r:id="rId11"/>
    <p:sldId id="448" r:id="rId12"/>
    <p:sldId id="416" r:id="rId13"/>
    <p:sldId id="417" r:id="rId14"/>
    <p:sldId id="426" r:id="rId15"/>
    <p:sldId id="424" r:id="rId16"/>
    <p:sldId id="450" r:id="rId17"/>
    <p:sldId id="404" r:id="rId18"/>
    <p:sldId id="451" r:id="rId19"/>
    <p:sldId id="440" r:id="rId20"/>
    <p:sldId id="452" r:id="rId21"/>
    <p:sldId id="447" r:id="rId22"/>
    <p:sldId id="449" r:id="rId23"/>
    <p:sldId id="454" r:id="rId24"/>
    <p:sldId id="455" r:id="rId25"/>
    <p:sldId id="444" r:id="rId26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815" autoAdjust="0"/>
    <p:restoredTop sz="94667" autoAdjust="0"/>
  </p:normalViewPr>
  <p:slideViewPr>
    <p:cSldViewPr>
      <p:cViewPr>
        <p:scale>
          <a:sx n="50" d="100"/>
          <a:sy n="50" d="100"/>
        </p:scale>
        <p:origin x="-1542" y="-48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36EAF5-5497-4E36-9AC6-23E218E1C14C}" type="datetimeFigureOut">
              <a:rPr lang="en-US" smtClean="0"/>
              <a:pPr/>
              <a:t>5/15/2026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CE2665-103D-49A0-B6D4-B2E4A0768843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4CE2665-103D-49A0-B6D4-B2E4A0768843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4CE2665-103D-49A0-B6D4-B2E4A0768843}" type="slidenum">
              <a:rPr lang="en-US" smtClean="0"/>
              <a:pPr/>
              <a:t>2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5/15/2026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5/15/2026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5/15/2026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5/15/2026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5/15/2026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5/15/2026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nhbien@fit.hcmus.edu.vn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nhbien@fit.hcmus.edu.vn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jpeg"/><Relationship Id="rId4" Type="http://schemas.openxmlformats.org/officeDocument/2006/relationships/image" Target="../media/image33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5400" dirty="0" smtClean="0"/>
              <a:t>Course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Department of Software Engineering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University of Natural Sciences,  VNU HCMC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3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Lecturer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267450" y="2667000"/>
            <a:ext cx="2571750" cy="2143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6477000" cy="4191000"/>
          </a:xfrm>
        </p:spPr>
        <p:txBody>
          <a:bodyPr/>
          <a:lstStyle/>
          <a:p>
            <a:r>
              <a:rPr lang="vi-VN" sz="2400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Ngô Huy Biên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, 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PhD</a:t>
            </a:r>
          </a:p>
          <a:p>
            <a:pPr>
              <a:buNone/>
            </a:pPr>
            <a:r>
              <a:rPr lang="en-US" sz="2400" dirty="0" smtClean="0">
                <a:latin typeface="Calibri" pitchFamily="34" charset="0"/>
                <a:cs typeface="Calibri" pitchFamily="34" charset="0"/>
              </a:rPr>
              <a:t>	Department of Software Engineering</a:t>
            </a:r>
          </a:p>
          <a:p>
            <a:pPr>
              <a:buNone/>
            </a:pPr>
            <a:r>
              <a:rPr lang="en-US" sz="2400" dirty="0" smtClean="0">
                <a:latin typeface="Calibri" pitchFamily="34" charset="0"/>
                <a:cs typeface="Calibri" pitchFamily="34" charset="0"/>
              </a:rPr>
              <a:t>	Faculty of Information Technology</a:t>
            </a:r>
          </a:p>
          <a:p>
            <a:pPr>
              <a:buNone/>
            </a:pPr>
            <a:r>
              <a:rPr lang="en-US" sz="2400" dirty="0" smtClean="0">
                <a:latin typeface="Calibri" pitchFamily="34" charset="0"/>
                <a:cs typeface="Calibri" pitchFamily="34" charset="0"/>
              </a:rPr>
              <a:t>	University of Natural Sciences,  VNU HCMC</a:t>
            </a:r>
          </a:p>
          <a:p>
            <a:r>
              <a:rPr lang="vi-VN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Email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: </a:t>
            </a:r>
            <a:r>
              <a:rPr lang="vi-VN" sz="2400" dirty="0" smtClean="0">
                <a:latin typeface="Calibri" pitchFamily="34" charset="0"/>
                <a:cs typeface="Calibri" pitchFamily="34" charset="0"/>
                <a:hlinkClick r:id="rId4"/>
              </a:rPr>
              <a:t>nhbien@fit.hcmus.edu.vn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</a:t>
            </a:r>
          </a:p>
          <a:p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Office location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: 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I82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.</a:t>
            </a:r>
            <a:endParaRPr lang="en-US" sz="24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Office hours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: Wednesday &amp; Friday: 13:30 p.m. </a:t>
            </a:r>
            <a:r>
              <a:rPr lang="en-US" sz="2400" smtClean="0">
                <a:latin typeface="Calibri" pitchFamily="34" charset="0"/>
                <a:cs typeface="Calibri" pitchFamily="34" charset="0"/>
              </a:rPr>
              <a:t>– 17:10 p.m.</a:t>
            </a:r>
            <a:endParaRPr lang="en-US" sz="2400" dirty="0" smtClean="0">
              <a:latin typeface="Calibri" pitchFamily="34" charset="0"/>
              <a:cs typeface="Calibri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905001"/>
            <a:ext cx="5181600" cy="4114799"/>
          </a:xfrm>
        </p:spPr>
        <p:txBody>
          <a:bodyPr/>
          <a:lstStyle/>
          <a:p>
            <a:pPr marL="571500" indent="-514350">
              <a:buFont typeface="Wingdings" pitchFamily="2" charset="2"/>
              <a:buChar char="Ø"/>
            </a:pPr>
            <a:r>
              <a:rPr lang="en-US" sz="2400" dirty="0" smtClean="0"/>
              <a:t>To decide whether to </a:t>
            </a:r>
            <a:r>
              <a:rPr lang="en-US" sz="2400" i="1" dirty="0" smtClean="0">
                <a:solidFill>
                  <a:srgbClr val="C00000"/>
                </a:solidFill>
              </a:rPr>
              <a:t>register</a:t>
            </a:r>
            <a:r>
              <a:rPr lang="en-US" sz="2400" dirty="0" smtClean="0"/>
              <a:t> for the course.</a:t>
            </a:r>
          </a:p>
          <a:p>
            <a:pPr marL="571500" indent="-514350">
              <a:buFont typeface="Wingdings" pitchFamily="2" charset="2"/>
              <a:buChar char="Ø"/>
            </a:pPr>
            <a:r>
              <a:rPr lang="en-US" sz="2400" dirty="0" smtClean="0"/>
              <a:t>To identify a </a:t>
            </a:r>
            <a:r>
              <a:rPr lang="en-US" sz="2400" i="1" dirty="0" smtClean="0">
                <a:solidFill>
                  <a:srgbClr val="C00000"/>
                </a:solidFill>
              </a:rPr>
              <a:t>group</a:t>
            </a:r>
            <a:r>
              <a:rPr lang="en-US" sz="2400" dirty="0" smtClean="0"/>
              <a:t> for developing the course project.</a:t>
            </a:r>
          </a:p>
          <a:p>
            <a:pPr marL="571500" indent="-514350">
              <a:buFont typeface="Wingdings" pitchFamily="2" charset="2"/>
              <a:buChar char="Ø"/>
            </a:pPr>
            <a:r>
              <a:rPr lang="en-US" sz="2400" dirty="0" smtClean="0"/>
              <a:t>To estimate an </a:t>
            </a:r>
            <a:r>
              <a:rPr lang="en-US" sz="2400" i="1" dirty="0" smtClean="0">
                <a:solidFill>
                  <a:srgbClr val="C00000"/>
                </a:solidFill>
              </a:rPr>
              <a:t>expected grade</a:t>
            </a:r>
            <a:r>
              <a:rPr lang="en-US" sz="2400" dirty="0" smtClean="0"/>
              <a:t> for yourself.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24550" y="24384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2400" dirty="0" smtClean="0"/>
              <a:t>Course </a:t>
            </a:r>
            <a:r>
              <a:rPr lang="en-US" sz="2400" i="1" dirty="0" smtClean="0">
                <a:solidFill>
                  <a:srgbClr val="C00000"/>
                </a:solidFill>
              </a:rPr>
              <a:t>target learners</a:t>
            </a:r>
            <a:r>
              <a:rPr lang="en-US" sz="2400" dirty="0" smtClean="0"/>
              <a:t>.</a:t>
            </a:r>
          </a:p>
          <a:p>
            <a:pPr lvl="0"/>
            <a:r>
              <a:rPr lang="en-US" sz="2400" dirty="0" smtClean="0"/>
              <a:t>Course </a:t>
            </a:r>
            <a:r>
              <a:rPr lang="en-US" sz="2400" i="1" dirty="0" smtClean="0">
                <a:solidFill>
                  <a:srgbClr val="C00000"/>
                </a:solidFill>
              </a:rPr>
              <a:t>learning outcomes</a:t>
            </a:r>
            <a:r>
              <a:rPr lang="en-US" sz="2400" dirty="0" smtClean="0"/>
              <a:t>.</a:t>
            </a:r>
          </a:p>
          <a:p>
            <a:pPr lvl="0"/>
            <a:r>
              <a:rPr lang="en-US" sz="2400" dirty="0" smtClean="0"/>
              <a:t>Course </a:t>
            </a:r>
            <a:r>
              <a:rPr lang="en-US" sz="2400" i="1" dirty="0" smtClean="0">
                <a:solidFill>
                  <a:srgbClr val="C00000"/>
                </a:solidFill>
              </a:rPr>
              <a:t>contents</a:t>
            </a:r>
            <a:r>
              <a:rPr lang="en-US" sz="2400" dirty="0" smtClean="0"/>
              <a:t>.</a:t>
            </a:r>
          </a:p>
          <a:p>
            <a:pPr lvl="0"/>
            <a:r>
              <a:rPr lang="en-US" sz="2400" dirty="0" smtClean="0"/>
              <a:t>Course </a:t>
            </a:r>
            <a:r>
              <a:rPr lang="en-US" sz="2400" i="1" dirty="0" smtClean="0">
                <a:solidFill>
                  <a:srgbClr val="C00000"/>
                </a:solidFill>
              </a:rPr>
              <a:t>schedule</a:t>
            </a:r>
            <a:r>
              <a:rPr lang="en-US" sz="2400" dirty="0" smtClean="0"/>
              <a:t>.</a:t>
            </a:r>
          </a:p>
          <a:p>
            <a:pPr lvl="0"/>
            <a:r>
              <a:rPr lang="en-US" sz="2400" dirty="0" smtClean="0"/>
              <a:t>Course </a:t>
            </a:r>
            <a:r>
              <a:rPr lang="en-US" sz="2400" i="1" dirty="0" smtClean="0">
                <a:solidFill>
                  <a:srgbClr val="C00000"/>
                </a:solidFill>
              </a:rPr>
              <a:t>assessment</a:t>
            </a:r>
            <a:r>
              <a:rPr lang="en-US" sz="2400" dirty="0" smtClean="0"/>
              <a:t>.</a:t>
            </a:r>
          </a:p>
          <a:p>
            <a:pPr lvl="0"/>
            <a:r>
              <a:rPr lang="en-US" sz="2400" dirty="0" smtClean="0"/>
              <a:t>Teaching and learning </a:t>
            </a:r>
            <a:r>
              <a:rPr lang="en-US" sz="2400" i="1" dirty="0" smtClean="0">
                <a:solidFill>
                  <a:srgbClr val="C00000"/>
                </a:solidFill>
              </a:rPr>
              <a:t>methods</a:t>
            </a:r>
            <a:r>
              <a:rPr lang="en-US" sz="2400" dirty="0" smtClean="0"/>
              <a:t>.</a:t>
            </a:r>
          </a:p>
          <a:p>
            <a:pPr lvl="0"/>
            <a:r>
              <a:rPr lang="en-US" sz="2400" i="1" dirty="0" smtClean="0">
                <a:solidFill>
                  <a:srgbClr val="C00000"/>
                </a:solidFill>
              </a:rPr>
              <a:t>References</a:t>
            </a:r>
            <a:r>
              <a:rPr lang="en-US" sz="2400" dirty="0" smtClean="0"/>
              <a:t>.</a:t>
            </a:r>
          </a:p>
          <a:p>
            <a:pPr lvl="0"/>
            <a:r>
              <a:rPr lang="en-US" sz="2400" dirty="0" smtClean="0"/>
              <a:t>Course </a:t>
            </a:r>
            <a:r>
              <a:rPr lang="en-US" sz="2400" i="1" dirty="0" smtClean="0">
                <a:solidFill>
                  <a:srgbClr val="C00000"/>
                </a:solidFill>
              </a:rPr>
              <a:t>policies</a:t>
            </a:r>
            <a:r>
              <a:rPr lang="en-US" sz="2400" dirty="0" smtClean="0"/>
              <a:t>.</a:t>
            </a:r>
          </a:p>
        </p:txBody>
      </p:sp>
      <p:pic>
        <p:nvPicPr>
          <p:cNvPr id="5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626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 am a Student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Should I learn this course?</a:t>
            </a:r>
            <a:endParaRPr lang="en-US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2971800"/>
            <a:ext cx="2434590" cy="21088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8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0" y="3276600"/>
            <a:ext cx="1828800" cy="1508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2" descr="https://encrypted-tbn3.gstatic.com/images?q=tbn:ANd9GcSHOzR7xsyO7vabfChNygfp53IhkVE6TqMQlVxCmE01VmAvSQGb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096000" y="2971800"/>
            <a:ext cx="2047875" cy="2228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 am a Student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Should I learn this course?</a:t>
            </a: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3505200" y="4244876"/>
            <a:ext cx="525780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400" dirty="0" smtClean="0">
                <a:latin typeface="Calibri" pitchFamily="34" charset="0"/>
                <a:cs typeface="Calibri" pitchFamily="34" charset="0"/>
              </a:rPr>
              <a:t>I </a:t>
            </a:r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cannot cooperate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with others to get jobs done.</a:t>
            </a:r>
          </a:p>
          <a:p>
            <a:pPr algn="ctr">
              <a:buNone/>
            </a:pPr>
            <a:endParaRPr lang="en-US" sz="2400" dirty="0" smtClean="0">
              <a:latin typeface="Calibri" pitchFamily="34" charset="0"/>
              <a:cs typeface="Calibri" pitchFamily="34" charset="0"/>
            </a:endParaRPr>
          </a:p>
          <a:p>
            <a:pPr algn="ctr">
              <a:buNone/>
            </a:pPr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Unexpected things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always happen when my projects are being developed.</a:t>
            </a:r>
          </a:p>
        </p:txBody>
      </p:sp>
      <p:pic>
        <p:nvPicPr>
          <p:cNvPr id="6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257800" y="2311391"/>
            <a:ext cx="2286000" cy="16949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Rectangle 6"/>
          <p:cNvSpPr/>
          <p:nvPr/>
        </p:nvSpPr>
        <p:spPr>
          <a:xfrm>
            <a:off x="381000" y="4234934"/>
            <a:ext cx="289560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400" dirty="0" smtClean="0">
                <a:latin typeface="+mj-lt"/>
              </a:rPr>
              <a:t>My projects are always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late</a:t>
            </a:r>
            <a:r>
              <a:rPr lang="en-US" sz="2400" dirty="0" smtClean="0">
                <a:latin typeface="+mj-lt"/>
              </a:rPr>
              <a:t>.</a:t>
            </a:r>
          </a:p>
          <a:p>
            <a:pPr algn="ctr">
              <a:buNone/>
            </a:pPr>
            <a:endParaRPr lang="en-US" sz="2400" dirty="0" smtClean="0">
              <a:latin typeface="+mj-lt"/>
            </a:endParaRPr>
          </a:p>
          <a:p>
            <a:pPr algn="ctr">
              <a:buNone/>
            </a:pPr>
            <a:r>
              <a:rPr lang="en-US" sz="2400" dirty="0" smtClean="0">
                <a:latin typeface="+mj-lt"/>
              </a:rPr>
              <a:t>My projects always get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low marks</a:t>
            </a:r>
            <a:r>
              <a:rPr lang="en-US" sz="2400" dirty="0" smtClean="0">
                <a:latin typeface="+mj-lt"/>
              </a:rPr>
              <a:t>.</a:t>
            </a:r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90600" y="2316342"/>
            <a:ext cx="1721427" cy="18423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 am a Student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Should I learn this course?</a:t>
            </a:r>
            <a:endParaRPr lang="en-US" dirty="0"/>
          </a:p>
        </p:txBody>
      </p:sp>
      <p:pic>
        <p:nvPicPr>
          <p:cNvPr id="3074" name="Picture 2" descr="https://www.greenbiz.com/sites/default/files/styles/gbz_article_primary_breakpoints_kalapicture_screen-md_1x/public/images/articles/featured/salary-tharakorn_arunothai-stock.jpg?itok=rlRQhXey&amp;timestamp=143923673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" y="2819400"/>
            <a:ext cx="3841750" cy="2332990"/>
          </a:xfrm>
          <a:prstGeom prst="rect">
            <a:avLst/>
          </a:prstGeom>
          <a:noFill/>
        </p:spPr>
      </p:pic>
      <p:sp>
        <p:nvSpPr>
          <p:cNvPr id="11" name="Cloud 10"/>
          <p:cNvSpPr/>
          <p:nvPr/>
        </p:nvSpPr>
        <p:spPr>
          <a:xfrm>
            <a:off x="4648200" y="2209800"/>
            <a:ext cx="4038600" cy="3886200"/>
          </a:xfrm>
          <a:prstGeom prst="cloud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 smtClean="0"/>
              <a:t>I want a higher salary because in addition to programming, I also know how to work with a team, how to decide which technologies will be used, how to solve problems, how to manage time and report progress.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 am a Developer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Should I learn this course?</a:t>
            </a:r>
          </a:p>
          <a:p>
            <a:endParaRPr lang="en-US" dirty="0"/>
          </a:p>
        </p:txBody>
      </p:sp>
      <p:sp>
        <p:nvSpPr>
          <p:cNvPr id="10" name="Rectangle 9"/>
          <p:cNvSpPr/>
          <p:nvPr/>
        </p:nvSpPr>
        <p:spPr>
          <a:xfrm>
            <a:off x="609600" y="2209800"/>
            <a:ext cx="464820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 smtClean="0">
                <a:latin typeface="Calibri" pitchFamily="34" charset="0"/>
                <a:cs typeface="Calibri" pitchFamily="34" charset="0"/>
              </a:rPr>
              <a:t>How </a:t>
            </a:r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much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is the cost of this software?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smtClean="0">
                <a:latin typeface="Calibri" pitchFamily="34" charset="0"/>
                <a:cs typeface="Calibri" pitchFamily="34" charset="0"/>
              </a:rPr>
              <a:t>How </a:t>
            </a:r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long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will it take to produce this software?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smtClean="0">
                <a:latin typeface="Calibri" pitchFamily="34" charset="0"/>
                <a:cs typeface="Calibri" pitchFamily="34" charset="0"/>
              </a:rPr>
              <a:t>Which </a:t>
            </a:r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process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should be used to develop this software?</a:t>
            </a:r>
          </a:p>
        </p:txBody>
      </p:sp>
      <p:pic>
        <p:nvPicPr>
          <p:cNvPr id="47106" name="Picture 2" descr="https://staticwspieram.pl/upload/project/big/17858_project-e6f2405d9bf51bc56081656d8627fbf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486400" y="1905000"/>
            <a:ext cx="2933700" cy="1920240"/>
          </a:xfrm>
          <a:prstGeom prst="rect">
            <a:avLst/>
          </a:prstGeom>
          <a:noFill/>
        </p:spPr>
      </p:pic>
      <p:pic>
        <p:nvPicPr>
          <p:cNvPr id="47108" name="Picture 4" descr="https://www.freelancermap.com/images/seo_landing/itfreelancer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791200" y="4114800"/>
            <a:ext cx="2606634" cy="1905434"/>
          </a:xfrm>
          <a:prstGeom prst="rect">
            <a:avLst/>
          </a:prstGeom>
          <a:noFill/>
        </p:spPr>
      </p:pic>
      <p:pic>
        <p:nvPicPr>
          <p:cNvPr id="47114" name="Picture 10" descr="https://pixfeeds.com/images/topic/8157/1200-8157-promotion-letters-photo3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828800" y="4648200"/>
            <a:ext cx="2743200" cy="18288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This Course is Not for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people who can get their projects done </a:t>
            </a:r>
            <a:r>
              <a:rPr lang="en-US" sz="2200" i="1" dirty="0" smtClean="0">
                <a:solidFill>
                  <a:srgbClr val="C00000"/>
                </a:solidFill>
              </a:rPr>
              <a:t>on time</a:t>
            </a:r>
            <a:r>
              <a:rPr lang="en-US" sz="2200" dirty="0" smtClean="0"/>
              <a:t>, </a:t>
            </a:r>
            <a:r>
              <a:rPr lang="en-US" sz="2200" i="1" dirty="0" smtClean="0">
                <a:solidFill>
                  <a:srgbClr val="C00000"/>
                </a:solidFill>
              </a:rPr>
              <a:t>on budget</a:t>
            </a:r>
            <a:r>
              <a:rPr lang="en-US" sz="2200" dirty="0" smtClean="0"/>
              <a:t>, without any </a:t>
            </a:r>
            <a:r>
              <a:rPr lang="en-US" sz="2200" i="1" dirty="0" smtClean="0">
                <a:solidFill>
                  <a:srgbClr val="C00000"/>
                </a:solidFill>
              </a:rPr>
              <a:t>unexpected problems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people who already know how to work in a team </a:t>
            </a:r>
            <a:r>
              <a:rPr lang="en-US" sz="2200" i="1" dirty="0" smtClean="0">
                <a:solidFill>
                  <a:srgbClr val="C00000"/>
                </a:solidFill>
              </a:rPr>
              <a:t>using a process</a:t>
            </a:r>
            <a:r>
              <a:rPr lang="en-US" sz="2200" dirty="0" smtClean="0"/>
              <a:t>, how to manage time, manage works and report project status.</a:t>
            </a:r>
          </a:p>
          <a:p>
            <a:r>
              <a:rPr lang="en-US" sz="2200" dirty="0" smtClean="0"/>
              <a:t>people who </a:t>
            </a:r>
            <a:r>
              <a:rPr lang="en-US" sz="2200" i="1" dirty="0" smtClean="0">
                <a:solidFill>
                  <a:srgbClr val="C00000"/>
                </a:solidFill>
              </a:rPr>
              <a:t>do not want</a:t>
            </a:r>
            <a:r>
              <a:rPr lang="en-US" sz="2200" dirty="0" smtClean="0"/>
              <a:t> to manage a team (or </a:t>
            </a:r>
            <a:r>
              <a:rPr lang="en-US" sz="2200" i="1" dirty="0" smtClean="0">
                <a:solidFill>
                  <a:srgbClr val="C00000"/>
                </a:solidFill>
              </a:rPr>
              <a:t>already know</a:t>
            </a:r>
            <a:r>
              <a:rPr lang="en-US" sz="2200" dirty="0" smtClean="0"/>
              <a:t> how to manage a team), have </a:t>
            </a:r>
            <a:r>
              <a:rPr lang="en-US" sz="2200" u="sng" dirty="0" smtClean="0"/>
              <a:t>no need</a:t>
            </a:r>
            <a:r>
              <a:rPr lang="en-US" sz="2200" dirty="0" smtClean="0"/>
              <a:t> of opening a </a:t>
            </a:r>
            <a:r>
              <a:rPr lang="en-US" sz="2200" i="1" dirty="0" smtClean="0">
                <a:solidFill>
                  <a:srgbClr val="C00000"/>
                </a:solidFill>
              </a:rPr>
              <a:t>start-up company</a:t>
            </a:r>
            <a:r>
              <a:rPr lang="en-US" sz="2200" dirty="0" smtClean="0"/>
              <a:t>, or to </a:t>
            </a:r>
            <a:r>
              <a:rPr lang="en-US" sz="2200" i="1" dirty="0" smtClean="0">
                <a:solidFill>
                  <a:srgbClr val="C00000"/>
                </a:solidFill>
              </a:rPr>
              <a:t>work freelance</a:t>
            </a:r>
            <a:r>
              <a:rPr lang="en-US" sz="2200" dirty="0" smtClean="0"/>
              <a:t>, do not software development.</a:t>
            </a:r>
          </a:p>
        </p:txBody>
      </p:sp>
      <p:pic>
        <p:nvPicPr>
          <p:cNvPr id="7" name="Picture 4" descr="http://duration-driven.com/wp-content/uploads/2015/02/business-team-celebrating-victory-in-office-xs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48200" y="4704588"/>
            <a:ext cx="2464308" cy="1696212"/>
          </a:xfrm>
          <a:prstGeom prst="rect">
            <a:avLst/>
          </a:prstGeom>
          <a:noFill/>
        </p:spPr>
      </p:pic>
      <p:pic>
        <p:nvPicPr>
          <p:cNvPr id="8" name="Picture 12" descr="https://www.cpp.edu/~oslcc/projectsuccess/img/Project%20Success%20Pic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057400" y="4572000"/>
            <a:ext cx="1937656" cy="200624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But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It does not matter whether you know about software project management, as long as you still </a:t>
            </a:r>
            <a:r>
              <a:rPr lang="en-US" sz="2400" u="sng" dirty="0" smtClean="0"/>
              <a:t>involve in software development</a:t>
            </a:r>
            <a:r>
              <a:rPr lang="en-US" sz="2400" dirty="0" smtClean="0"/>
              <a:t> it still </a:t>
            </a:r>
            <a:r>
              <a:rPr lang="en-US" sz="2400" u="sng" dirty="0" smtClean="0"/>
              <a:t>seriously</a:t>
            </a:r>
            <a:r>
              <a:rPr lang="en-US" sz="2400" dirty="0" smtClean="0"/>
              <a:t> </a:t>
            </a:r>
            <a:r>
              <a:rPr lang="en-US" sz="2400" i="1" dirty="0" smtClean="0">
                <a:solidFill>
                  <a:srgbClr val="C00000"/>
                </a:solidFill>
              </a:rPr>
              <a:t>affects your career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1026" name="Picture 2" descr="https://media-exp1.licdn.com/dms/image/C5612AQEsSwcnBavKBQ/article-cover_image-shrink_720_1280/0/1589180275118?e=2147483647&amp;v=beta&amp;t=9bCSJrE1QFKoB6vLRoS_1lXTDu5ec5Lrdj29tKNXLbk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95600" y="3581400"/>
            <a:ext cx="3429000" cy="2286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Course Prerequisites</a:t>
            </a:r>
            <a:endParaRPr lang="en-US" dirty="0"/>
          </a:p>
        </p:txBody>
      </p:sp>
      <p:sp>
        <p:nvSpPr>
          <p:cNvPr id="2050" name="Rectangle 2"/>
          <p:cNvSpPr>
            <a:spLocks noChangeArrowheads="1"/>
          </p:cNvSpPr>
          <p:nvPr/>
        </p:nvSpPr>
        <p:spPr bwMode="auto">
          <a:xfrm>
            <a:off x="1066800" y="1601690"/>
            <a:ext cx="7848600" cy="47089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indent="-457200" algn="just" eaLnBrk="0" hangingPunct="0">
              <a:buFont typeface="Courier New" pitchFamily="49" charset="0"/>
              <a:buChar char="o"/>
              <a:tabLst>
                <a:tab pos="1371600" algn="l"/>
              </a:tabLst>
            </a:pPr>
            <a:r>
              <a:rPr lang="en-US" sz="2000" b="1" dirty="0" smtClean="0">
                <a:latin typeface="+mj-lt"/>
                <a:ea typeface="Times New Roman" pitchFamily="18" charset="0"/>
                <a:cs typeface="Arial" pitchFamily="34" charset="0"/>
              </a:rPr>
              <a:t>Prerequisites</a:t>
            </a: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:</a:t>
            </a: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Introduction to Software Engineering.</a:t>
            </a:r>
          </a:p>
          <a:p>
            <a:pPr marL="457200" lvl="0" indent="-457200" algn="just" eaLnBrk="0" hangingPunct="0">
              <a:buFont typeface="Courier New" pitchFamily="49" charset="0"/>
              <a:buChar char="o"/>
              <a:tabLst>
                <a:tab pos="1371600" algn="l"/>
              </a:tabLst>
            </a:pPr>
            <a:r>
              <a:rPr lang="en-US" sz="2000" b="1" dirty="0" smtClean="0">
                <a:latin typeface="+mj-lt"/>
                <a:ea typeface="Times New Roman" pitchFamily="18" charset="0"/>
                <a:cs typeface="Arial" pitchFamily="34" charset="0"/>
              </a:rPr>
              <a:t>Prior-courses</a:t>
            </a: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Times New Roman" pitchFamily="18" charset="0"/>
                <a:cs typeface="Arial" pitchFamily="34" charset="0"/>
              </a:rPr>
              <a:t>:</a:t>
            </a:r>
            <a:endParaRPr lang="en-US" sz="2000" dirty="0" smtClean="0">
              <a:latin typeface="+mj-lt"/>
              <a:cs typeface="Arial" pitchFamily="34" charset="0"/>
            </a:endParaRP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Software Requirements.</a:t>
            </a: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Software Design.</a:t>
            </a: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Software Testing.</a:t>
            </a: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Web Application Development.</a:t>
            </a: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Mobile Application Development.</a:t>
            </a:r>
          </a:p>
          <a:p>
            <a:pPr marL="457200" lvl="0" indent="-457200" algn="just" eaLnBrk="0" hangingPunct="0">
              <a:buFont typeface="Courier New" pitchFamily="49" charset="0"/>
              <a:buChar char="o"/>
              <a:tabLst>
                <a:tab pos="1371600" algn="l"/>
              </a:tabLst>
            </a:pPr>
            <a:r>
              <a:rPr lang="en-US" sz="2000" b="1" dirty="0" smtClean="0">
                <a:latin typeface="+mj-lt"/>
                <a:ea typeface="Times New Roman" pitchFamily="18" charset="0"/>
                <a:cs typeface="Arial" pitchFamily="34" charset="0"/>
              </a:rPr>
              <a:t>Parallel courses</a:t>
            </a: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Times New Roman" pitchFamily="18" charset="0"/>
                <a:cs typeface="Arial" pitchFamily="34" charset="0"/>
              </a:rPr>
              <a:t>:</a:t>
            </a:r>
            <a:endParaRPr lang="en-US" sz="2000" dirty="0" smtClean="0">
              <a:latin typeface="+mj-lt"/>
              <a:cs typeface="Arial" pitchFamily="34" charset="0"/>
            </a:endParaRP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Game Development.</a:t>
            </a: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Machine Learning.</a:t>
            </a:r>
          </a:p>
          <a:p>
            <a:pPr marL="457200" marR="0" lvl="0" indent="-4572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itchFamily="49" charset="0"/>
              <a:buChar char="o"/>
              <a:tabLst>
                <a:tab pos="1371600" algn="l"/>
              </a:tabLst>
            </a:pPr>
            <a:r>
              <a:rPr kumimoji="0" 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Times New Roman" pitchFamily="18" charset="0"/>
                <a:cs typeface="Arial" pitchFamily="34" charset="0"/>
              </a:rPr>
              <a:t>Required</a:t>
            </a:r>
            <a:r>
              <a:rPr kumimoji="0" lang="en-US" sz="2000" b="1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Times New Roman" pitchFamily="18" charset="0"/>
                <a:cs typeface="Arial" pitchFamily="34" charset="0"/>
              </a:rPr>
              <a:t> knowledge and skills</a:t>
            </a: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Times New Roman" pitchFamily="18" charset="0"/>
                <a:cs typeface="Arial" pitchFamily="34" charset="0"/>
              </a:rPr>
              <a:t>: </a:t>
            </a:r>
            <a:endParaRPr lang="en-US" sz="2000" dirty="0" smtClean="0">
              <a:latin typeface="+mj-lt"/>
              <a:cs typeface="Arial" pitchFamily="34" charset="0"/>
            </a:endParaRP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Times New Roman" pitchFamily="18" charset="0"/>
                <a:cs typeface="Arial" pitchFamily="34" charset="0"/>
              </a:rPr>
              <a:t>The ability to read English</a:t>
            </a:r>
            <a:r>
              <a:rPr kumimoji="0" lang="en-US" sz="20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Times New Roman" pitchFamily="18" charset="0"/>
                <a:cs typeface="Arial" pitchFamily="34" charset="0"/>
              </a:rPr>
              <a:t> books</a:t>
            </a: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.</a:t>
            </a:r>
            <a:endParaRPr lang="en-US" sz="2000" dirty="0" smtClean="0">
              <a:latin typeface="+mj-lt"/>
              <a:cs typeface="Arial" pitchFamily="34" charset="0"/>
            </a:endParaRP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Times New Roman" pitchFamily="18" charset="0"/>
                <a:cs typeface="Arial" pitchFamily="34" charset="0"/>
              </a:rPr>
              <a:t>The ability to write reports</a:t>
            </a: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.</a:t>
            </a: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cs typeface="Arial" pitchFamily="34" charset="0"/>
              </a:rPr>
              <a:t>The presentation skill.</a:t>
            </a:r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2875" y="1600200"/>
            <a:ext cx="1000125" cy="981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26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4800" y="2971800"/>
            <a:ext cx="685800" cy="89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269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52400" y="4343400"/>
            <a:ext cx="981075" cy="981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" y="5486400"/>
            <a:ext cx="1000125" cy="981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2" name="Picture 4" descr="http://www.velaction.com/lean-information/wp-content/uploads/2009/06/improvement-objectives-300x299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553200" y="1219200"/>
            <a:ext cx="2446554" cy="24384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Course Learning Outcomes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676400"/>
            <a:ext cx="6248400" cy="4495800"/>
          </a:xfrm>
        </p:spPr>
        <p:txBody>
          <a:bodyPr/>
          <a:lstStyle/>
          <a:p>
            <a:pPr>
              <a:buFont typeface="+mj-lt"/>
              <a:buAutoNum type="arabicPeriod"/>
            </a:pPr>
            <a:r>
              <a:rPr lang="en-US" sz="2200" dirty="0" smtClean="0">
                <a:latin typeface="Calibri" pitchFamily="34" charset="0"/>
                <a:cs typeface="Calibri" pitchFamily="34" charset="0"/>
              </a:rPr>
              <a:t>Propose a </a:t>
            </a:r>
            <a:r>
              <a:rPr lang="en-US" sz="22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software development model</a:t>
            </a:r>
            <a:r>
              <a:rPr lang="en-US" sz="2200" dirty="0" smtClean="0">
                <a:latin typeface="Calibri" pitchFamily="34" charset="0"/>
                <a:cs typeface="Calibri" pitchFamily="34" charset="0"/>
              </a:rPr>
              <a:t> for a project.</a:t>
            </a:r>
          </a:p>
          <a:p>
            <a:pPr>
              <a:buFont typeface="+mj-lt"/>
              <a:buAutoNum type="arabicPeriod"/>
            </a:pPr>
            <a:r>
              <a:rPr lang="en-US" sz="2200" dirty="0" smtClean="0">
                <a:latin typeface="Calibri" pitchFamily="34" charset="0"/>
                <a:cs typeface="Calibri" pitchFamily="34" charset="0"/>
              </a:rPr>
              <a:t>Apply </a:t>
            </a:r>
            <a:r>
              <a:rPr lang="en-US" sz="22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management activities</a:t>
            </a:r>
            <a:r>
              <a:rPr lang="en-US" sz="2200" dirty="0" smtClean="0">
                <a:latin typeface="Calibri" pitchFamily="34" charset="0"/>
                <a:cs typeface="Calibri" pitchFamily="34" charset="0"/>
              </a:rPr>
              <a:t> to software project development, including initiating, planning, executing, monitoring and controlling, and closing a project.</a:t>
            </a:r>
          </a:p>
          <a:p>
            <a:pPr>
              <a:buFont typeface="+mj-lt"/>
              <a:buAutoNum type="arabicPeriod"/>
            </a:pPr>
            <a:r>
              <a:rPr lang="en-US" sz="2200" dirty="0" smtClean="0">
                <a:latin typeface="Calibri" pitchFamily="34" charset="0"/>
                <a:cs typeface="Calibri" pitchFamily="34" charset="0"/>
              </a:rPr>
              <a:t>Use </a:t>
            </a:r>
            <a:r>
              <a:rPr lang="en-US" sz="22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tools</a:t>
            </a:r>
            <a:r>
              <a:rPr lang="en-US" sz="2200" dirty="0" smtClean="0">
                <a:latin typeface="Calibri" pitchFamily="34" charset="0"/>
                <a:cs typeface="Calibri" pitchFamily="34" charset="0"/>
              </a:rPr>
              <a:t> for managing software projects and software development processes.</a:t>
            </a:r>
          </a:p>
          <a:p>
            <a:pPr>
              <a:buFont typeface="+mj-lt"/>
              <a:buAutoNum type="arabicPeriod"/>
            </a:pPr>
            <a:r>
              <a:rPr lang="en-US" sz="2200" dirty="0" smtClean="0">
                <a:latin typeface="Calibri" pitchFamily="34" charset="0"/>
                <a:cs typeface="Calibri" pitchFamily="34" charset="0"/>
              </a:rPr>
              <a:t>Explain </a:t>
            </a:r>
            <a:r>
              <a:rPr lang="en-US" sz="22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responsibility</a:t>
            </a:r>
            <a:r>
              <a:rPr lang="en-US" sz="2200" dirty="0" smtClean="0">
                <a:latin typeface="Calibri" pitchFamily="34" charset="0"/>
                <a:cs typeface="Calibri" pitchFamily="34" charset="0"/>
              </a:rPr>
              <a:t> and </a:t>
            </a:r>
            <a:r>
              <a:rPr lang="en-US" sz="22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ethics</a:t>
            </a:r>
            <a:r>
              <a:rPr lang="en-US" sz="2200" dirty="0" smtClean="0">
                <a:latin typeface="Calibri" pitchFamily="34" charset="0"/>
                <a:cs typeface="Calibri" pitchFamily="34" charset="0"/>
              </a:rPr>
              <a:t> of a project manager when managing a software project.</a:t>
            </a:r>
          </a:p>
          <a:p>
            <a:pPr>
              <a:buFont typeface="+mj-lt"/>
              <a:buAutoNum type="arabicPeriod"/>
            </a:pPr>
            <a:r>
              <a:rPr lang="en-US" sz="2200" dirty="0" smtClean="0">
                <a:latin typeface="Calibri" pitchFamily="34" charset="0"/>
                <a:cs typeface="Calibri" pitchFamily="34" charset="0"/>
              </a:rPr>
              <a:t>Explain </a:t>
            </a:r>
            <a:r>
              <a:rPr lang="en-US" sz="22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standards</a:t>
            </a:r>
            <a:r>
              <a:rPr lang="en-US" sz="2200" dirty="0" smtClean="0">
                <a:latin typeface="Calibri" pitchFamily="34" charset="0"/>
                <a:cs typeface="Calibri" pitchFamily="34" charset="0"/>
              </a:rPr>
              <a:t> related to the software development process.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24600" y="3657600"/>
            <a:ext cx="26670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</a:rPr>
              <a:t>6. Engineer software system with a </a:t>
            </a:r>
            <a:r>
              <a:rPr lang="en-US" sz="2400" b="1" i="1" dirty="0" smtClean="0">
                <a:solidFill>
                  <a:srgbClr val="C00000"/>
                </a:solidFill>
                <a:latin typeface="Calibri" pitchFamily="34" charset="0"/>
              </a:rPr>
              <a:t>team</a:t>
            </a:r>
            <a:r>
              <a:rPr lang="en-US" sz="2400" b="1" dirty="0" smtClean="0">
                <a:latin typeface="Calibri" pitchFamily="34" charset="0"/>
              </a:rPr>
              <a:t> of 5 people</a:t>
            </a:r>
            <a:r>
              <a:rPr lang="vi-VN" sz="2400" b="1" dirty="0" smtClean="0">
                <a:latin typeface="Calibri" pitchFamily="34" charset="0"/>
              </a:rPr>
              <a:t>.</a:t>
            </a:r>
            <a:endParaRPr lang="en-US" sz="2400" b="1" dirty="0" smtClean="0">
              <a:latin typeface="Calibri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Course Contents</a:t>
            </a:r>
            <a:endParaRPr lang="en-US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 bwMode="auto">
          <a:xfrm>
            <a:off x="381000" y="6019800"/>
            <a:ext cx="8458200" cy="60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kumimoji="0" lang="en-US" sz="3200" b="0" i="1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itchFamily="34" charset="0"/>
                <a:ea typeface="+mn-ea"/>
                <a:cs typeface="Calibri" pitchFamily="34" charset="0"/>
              </a:rPr>
              <a:t>Details</a:t>
            </a:r>
            <a:r>
              <a:rPr lang="en-US" sz="3200" i="1" noProof="0" dirty="0" smtClean="0">
                <a:latin typeface="Calibri" pitchFamily="34" charset="0"/>
                <a:cs typeface="Calibri" pitchFamily="34" charset="0"/>
              </a:rPr>
              <a:t>: </a:t>
            </a:r>
            <a:r>
              <a:rPr lang="en-US" sz="3200" i="1" baseline="0" dirty="0" smtClean="0">
                <a:latin typeface="Calibri" pitchFamily="34" charset="0"/>
                <a:cs typeface="Calibri" pitchFamily="34" charset="0"/>
              </a:rPr>
              <a:t>Refer to the course</a:t>
            </a:r>
            <a:r>
              <a:rPr lang="en-US" sz="3200" i="1" dirty="0" smtClean="0">
                <a:latin typeface="Calibri" pitchFamily="34" charset="0"/>
                <a:cs typeface="Calibri" pitchFamily="34" charset="0"/>
              </a:rPr>
              <a:t> syllabus.</a:t>
            </a:r>
          </a:p>
        </p:txBody>
      </p:sp>
      <p:pic>
        <p:nvPicPr>
          <p:cNvPr id="1028" name="Picture 4" descr="http://infopros.com/wp-content/uploads/project-management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29400" y="1600200"/>
            <a:ext cx="2011680" cy="1712976"/>
          </a:xfrm>
          <a:prstGeom prst="rect">
            <a:avLst/>
          </a:prstGeom>
          <a:noFill/>
        </p:spPr>
      </p:pic>
      <p:pic>
        <p:nvPicPr>
          <p:cNvPr id="1030" name="Picture 6" descr="http://mgt.sjp.ac.lk/acc/wp-content/uploads/2016/01/Book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05600" y="3581400"/>
            <a:ext cx="2321357" cy="1554480"/>
          </a:xfrm>
          <a:prstGeom prst="rect">
            <a:avLst/>
          </a:prstGeom>
          <a:noFill/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6324600" cy="3810000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000" dirty="0" smtClean="0"/>
              <a:t>Software Project &amp; AI-in-SE Framing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000" dirty="0" smtClean="0"/>
              <a:t>Software Project Initiation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000" dirty="0" smtClean="0"/>
              <a:t>Software Development Models &amp; AI in the SDLC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000" dirty="0" smtClean="0"/>
              <a:t>Software Estimation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000" dirty="0" smtClean="0"/>
              <a:t>Software Project Planning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000" dirty="0" smtClean="0"/>
              <a:t>Software Configuration Management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000" dirty="0" smtClean="0"/>
              <a:t>Software Team Management &amp; AI-Augmented Teams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000" dirty="0" smtClean="0"/>
              <a:t>Software Project Monitoring and Control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000" dirty="0" smtClean="0"/>
              <a:t>Software Risk Management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000" dirty="0" smtClean="0"/>
              <a:t>Software Quality Management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000" dirty="0" smtClean="0"/>
              <a:t>Tools for Software Project Management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000" dirty="0" smtClean="0"/>
              <a:t>Software Process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Course Schedule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514600"/>
          </a:xfrm>
        </p:spPr>
        <p:txBody>
          <a:bodyPr/>
          <a:lstStyle/>
          <a:p>
            <a:r>
              <a:rPr lang="en-US" sz="2600" dirty="0" smtClean="0">
                <a:latin typeface="+mj-lt"/>
              </a:rPr>
              <a:t>The number of credits:	4</a:t>
            </a:r>
          </a:p>
          <a:p>
            <a:r>
              <a:rPr lang="en-US" sz="2600" dirty="0" smtClean="0"/>
              <a:t>Theoretical lessons</a:t>
            </a:r>
            <a:r>
              <a:rPr lang="en-US" sz="2600" dirty="0" smtClean="0">
                <a:latin typeface="+mj-lt"/>
              </a:rPr>
              <a:t>: 	45</a:t>
            </a:r>
          </a:p>
          <a:p>
            <a:r>
              <a:rPr lang="en-US" sz="2600" dirty="0" smtClean="0">
                <a:latin typeface="+mj-lt"/>
              </a:rPr>
              <a:t>Practical lessons:		30</a:t>
            </a:r>
          </a:p>
          <a:p>
            <a:r>
              <a:rPr lang="vi-VN" sz="26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Self- learning lessons:</a:t>
            </a:r>
            <a:r>
              <a:rPr lang="en-US" sz="26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	90</a:t>
            </a:r>
            <a:endParaRPr lang="en-US" sz="2600" i="1" dirty="0">
              <a:solidFill>
                <a:srgbClr val="C00000"/>
              </a:solidFill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10243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638800" y="1447800"/>
            <a:ext cx="2962275" cy="3000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Content Placeholder 2"/>
          <p:cNvSpPr txBox="1">
            <a:spLocks/>
          </p:cNvSpPr>
          <p:nvPr/>
        </p:nvSpPr>
        <p:spPr bwMode="auto">
          <a:xfrm>
            <a:off x="762000" y="4800600"/>
            <a:ext cx="76200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lang="en-US" sz="3200" i="1" dirty="0" smtClean="0">
                <a:latin typeface="Calibri" pitchFamily="34" charset="0"/>
                <a:cs typeface="Calibri" pitchFamily="34" charset="0"/>
              </a:rPr>
              <a:t>Detailed schedule: Refer to the course syllabus.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Class Monitors</a:t>
            </a:r>
            <a:endParaRPr lang="en-US" dirty="0"/>
          </a:p>
        </p:txBody>
      </p:sp>
      <p:pic>
        <p:nvPicPr>
          <p:cNvPr id="1028" name="Picture 4" descr="https://pbs.twimg.com/media/Ca6IvlnUYAATojU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1619249"/>
            <a:ext cx="5715000" cy="470535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29786" y="332437"/>
            <a:ext cx="2257014" cy="1496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Team Forming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76400"/>
            <a:ext cx="8229600" cy="3429000"/>
          </a:xfrm>
        </p:spPr>
        <p:txBody>
          <a:bodyPr/>
          <a:lstStyle/>
          <a:p>
            <a:r>
              <a:rPr lang="en-US" sz="2000" dirty="0" smtClean="0">
                <a:latin typeface="Calibri" pitchFamily="34" charset="0"/>
              </a:rPr>
              <a:t>Select 8 </a:t>
            </a:r>
            <a:r>
              <a:rPr lang="en-US" sz="2000" i="1" dirty="0" smtClean="0">
                <a:solidFill>
                  <a:srgbClr val="C00000"/>
                </a:solidFill>
                <a:latin typeface="Calibri" pitchFamily="34" charset="0"/>
              </a:rPr>
              <a:t>team leaders</a:t>
            </a:r>
            <a:r>
              <a:rPr lang="en-US" sz="2000" dirty="0" smtClean="0">
                <a:latin typeface="Calibri" pitchFamily="34" charset="0"/>
              </a:rPr>
              <a:t>. </a:t>
            </a:r>
            <a:endParaRPr lang="vi-VN" sz="2000" dirty="0" smtClean="0">
              <a:latin typeface="Calibri" pitchFamily="34" charset="0"/>
            </a:endParaRPr>
          </a:p>
          <a:p>
            <a:r>
              <a:rPr lang="en-US" sz="2000" dirty="0" smtClean="0">
                <a:latin typeface="Calibri" pitchFamily="34" charset="0"/>
              </a:rPr>
              <a:t>Students select a team for themselves. Each team has </a:t>
            </a:r>
            <a:r>
              <a:rPr lang="en-US" sz="2000" i="1" dirty="0" smtClean="0">
                <a:solidFill>
                  <a:srgbClr val="C00000"/>
                </a:solidFill>
                <a:latin typeface="Calibri" pitchFamily="34" charset="0"/>
              </a:rPr>
              <a:t>maximum of 5 members (including a team leader)</a:t>
            </a:r>
            <a:r>
              <a:rPr lang="en-US" sz="2000" dirty="0" smtClean="0">
                <a:latin typeface="Calibri" pitchFamily="34" charset="0"/>
              </a:rPr>
              <a:t>.</a:t>
            </a:r>
          </a:p>
          <a:p>
            <a:r>
              <a:rPr lang="en-US" sz="2000" dirty="0" smtClean="0">
                <a:latin typeface="Calibri" pitchFamily="34" charset="0"/>
              </a:rPr>
              <a:t>If there are surplus students, some teams can have 8 people.</a:t>
            </a:r>
          </a:p>
          <a:p>
            <a:r>
              <a:rPr lang="en-US" sz="2000" dirty="0" smtClean="0">
                <a:latin typeface="Calibri" pitchFamily="34" charset="0"/>
              </a:rPr>
              <a:t>Team leaders send their team members list to class leader.</a:t>
            </a:r>
            <a:endParaRPr lang="vi-VN" sz="2000" dirty="0" smtClean="0">
              <a:latin typeface="Calibri" pitchFamily="34" charset="0"/>
            </a:endParaRPr>
          </a:p>
          <a:p>
            <a:r>
              <a:rPr lang="en-US" sz="2000" dirty="0" smtClean="0">
                <a:latin typeface="Calibri" pitchFamily="34" charset="0"/>
              </a:rPr>
              <a:t>The class leader collects and puts all the information to a class management file</a:t>
            </a:r>
            <a:r>
              <a:rPr lang="vi-VN" sz="2000" dirty="0" smtClean="0">
                <a:latin typeface="Calibri" pitchFamily="34" charset="0"/>
              </a:rPr>
              <a:t>.</a:t>
            </a:r>
            <a:endParaRPr lang="en-US" sz="2000" dirty="0" smtClean="0">
              <a:latin typeface="Calibri" pitchFamily="34" charset="0"/>
            </a:endParaRPr>
          </a:p>
          <a:p>
            <a:r>
              <a:rPr lang="en-US" sz="2000" dirty="0" smtClean="0">
                <a:latin typeface="Calibri" pitchFamily="34" charset="0"/>
              </a:rPr>
              <a:t>The class leader </a:t>
            </a:r>
            <a:r>
              <a:rPr lang="en-US" sz="2000" i="1" dirty="0" smtClean="0">
                <a:solidFill>
                  <a:srgbClr val="C00000"/>
                </a:solidFill>
                <a:latin typeface="Calibri" pitchFamily="34" charset="0"/>
              </a:rPr>
              <a:t>is authorized</a:t>
            </a:r>
            <a:r>
              <a:rPr lang="en-US" sz="2000" dirty="0" smtClean="0">
                <a:latin typeface="Calibri" pitchFamily="34" charset="0"/>
              </a:rPr>
              <a:t> to assign a team for an individual who is late to class or absent.</a:t>
            </a:r>
          </a:p>
        </p:txBody>
      </p:sp>
      <p:pic>
        <p:nvPicPr>
          <p:cNvPr id="11266" name="Picture 2" descr="https://cavemaninasuit.com/wp-content/uploads/2020/09/multidisc_teams-1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0" y="4953000"/>
            <a:ext cx="2333625" cy="13112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Course Assessment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33600" y="1524000"/>
            <a:ext cx="6705600" cy="3505200"/>
          </a:xfrm>
        </p:spPr>
        <p:txBody>
          <a:bodyPr/>
          <a:lstStyle/>
          <a:p>
            <a:pPr marL="514350" indent="-514350">
              <a:buFont typeface="Courier New" pitchFamily="49" charset="0"/>
              <a:buChar char="o"/>
            </a:pPr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The final grade is combined of:</a:t>
            </a:r>
          </a:p>
          <a:p>
            <a:pPr lvl="1">
              <a:buFont typeface="Wingdings" pitchFamily="2" charset="2"/>
              <a:buChar char="§"/>
            </a:pPr>
            <a:r>
              <a:rPr lang="en-US" sz="2000" dirty="0" smtClean="0">
                <a:latin typeface="Calibri" pitchFamily="34" charset="0"/>
                <a:cs typeface="Calibri" pitchFamily="34" charset="0"/>
              </a:rPr>
              <a:t>Exercises in classroom (40%)</a:t>
            </a:r>
          </a:p>
          <a:p>
            <a:pPr lvl="1">
              <a:buFont typeface="Wingdings" pitchFamily="2" charset="2"/>
              <a:buChar char="§"/>
            </a:pPr>
            <a:r>
              <a:rPr lang="en-US" sz="2000" dirty="0" smtClean="0">
                <a:latin typeface="Calibri" pitchFamily="34" charset="0"/>
                <a:cs typeface="Calibri" pitchFamily="34" charset="0"/>
              </a:rPr>
              <a:t>Midterm exam (20%)</a:t>
            </a:r>
          </a:p>
          <a:p>
            <a:pPr lvl="1">
              <a:buFont typeface="Wingdings" pitchFamily="2" charset="2"/>
              <a:buChar char="§"/>
            </a:pPr>
            <a:r>
              <a:rPr lang="en-US" sz="2000" dirty="0" smtClean="0">
                <a:latin typeface="Calibri" pitchFamily="34" charset="0"/>
                <a:cs typeface="Calibri" pitchFamily="34" charset="0"/>
              </a:rPr>
              <a:t>Final oral exam (40%)</a:t>
            </a:r>
          </a:p>
          <a:p>
            <a:pPr marL="514350" indent="-514350">
              <a:buFont typeface="Courier New" pitchFamily="49" charset="0"/>
              <a:buChar char="o"/>
            </a:pPr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Bonus points (up to 20%) for:</a:t>
            </a:r>
          </a:p>
          <a:p>
            <a:pPr marL="914400" lvl="1" indent="-514350">
              <a:buFont typeface="Wingdings" pitchFamily="2" charset="2"/>
              <a:buChar char="§"/>
            </a:pPr>
            <a:r>
              <a:rPr lang="en-US" sz="2000" dirty="0" smtClean="0">
                <a:latin typeface="Calibri" pitchFamily="34" charset="0"/>
                <a:cs typeface="Calibri" pitchFamily="34" charset="0"/>
              </a:rPr>
              <a:t>Students who actively answer questions in classroom correctly</a:t>
            </a:r>
          </a:p>
          <a:p>
            <a:pPr marL="914400" lvl="1" indent="-514350">
              <a:buFont typeface="Wingdings" pitchFamily="2" charset="2"/>
              <a:buChar char="§"/>
            </a:pPr>
            <a:r>
              <a:rPr lang="en-US" sz="2000" dirty="0" smtClean="0">
                <a:latin typeface="Calibri" pitchFamily="34" charset="0"/>
                <a:cs typeface="Calibri" pitchFamily="34" charset="0"/>
              </a:rPr>
              <a:t>Personnel board (1 class leader and 1 deputy class leader)</a:t>
            </a:r>
            <a:endParaRPr lang="en-US" sz="2800" dirty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4" name="Content Placeholder 2"/>
          <p:cNvSpPr txBox="1">
            <a:spLocks/>
          </p:cNvSpPr>
          <p:nvPr/>
        </p:nvSpPr>
        <p:spPr bwMode="auto">
          <a:xfrm>
            <a:off x="1143000" y="5334000"/>
            <a:ext cx="65532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lang="en-US" sz="3200" i="1" dirty="0" smtClean="0">
                <a:latin typeface="Calibri" pitchFamily="34" charset="0"/>
                <a:cs typeface="Calibri" pitchFamily="34" charset="0"/>
              </a:rPr>
              <a:t>Detailed assessment: Refer to the course syllabus.</a:t>
            </a:r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" y="1752600"/>
            <a:ext cx="1190625" cy="1590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2000" y="3886200"/>
            <a:ext cx="1323975" cy="1095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Calibri" pitchFamily="34" charset="0"/>
                <a:cs typeface="Calibri" pitchFamily="34" charset="0"/>
              </a:rPr>
              <a:t>Exercises</a:t>
            </a:r>
            <a:r>
              <a:rPr lang="en-US" dirty="0" smtClean="0"/>
              <a:t> in Classroom (40%)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 smtClean="0"/>
              <a:t>Project artifacts.</a:t>
            </a:r>
          </a:p>
          <a:p>
            <a:endParaRPr lang="en-US" dirty="0"/>
          </a:p>
        </p:txBody>
      </p:sp>
      <p:pic>
        <p:nvPicPr>
          <p:cNvPr id="4" name="Picture 2" descr="http://www.drandyroark.com/wp-content/uploads/bigstock-Students-at-classes-88291529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71800" y="2971800"/>
            <a:ext cx="3429000" cy="2286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2" descr="https://www.simplilearn.com/ice9/free_resources_article_thumb/Project-Scope-Management-Cover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19200" y="3048000"/>
            <a:ext cx="3230880" cy="181737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Midterm Exam (20%)</a:t>
            </a:r>
            <a:endParaRPr lang="en-US" dirty="0"/>
          </a:p>
        </p:txBody>
      </p:sp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257800" y="2743200"/>
            <a:ext cx="2558415" cy="23122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 smtClean="0"/>
              <a:t>Project artifacts.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Final Individual Oral </a:t>
            </a:r>
            <a:r>
              <a:rPr lang="en-US" smtClean="0"/>
              <a:t>Exam (40</a:t>
            </a:r>
            <a:r>
              <a:rPr lang="en-US" dirty="0" smtClean="0"/>
              <a:t>%)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6629400" cy="990599"/>
          </a:xfrm>
        </p:spPr>
        <p:txBody>
          <a:bodyPr/>
          <a:lstStyle/>
          <a:p>
            <a:r>
              <a:rPr lang="en-US" sz="2800" i="1" dirty="0" smtClean="0">
                <a:solidFill>
                  <a:srgbClr val="C00000"/>
                </a:solidFill>
              </a:rPr>
              <a:t>Programs</a:t>
            </a:r>
            <a:r>
              <a:rPr lang="en-US" sz="2800" dirty="0" smtClean="0"/>
              <a:t>, </a:t>
            </a:r>
            <a:r>
              <a:rPr lang="en-US" sz="2800" i="1" dirty="0" smtClean="0">
                <a:solidFill>
                  <a:srgbClr val="C00000"/>
                </a:solidFill>
              </a:rPr>
              <a:t>source code</a:t>
            </a:r>
            <a:r>
              <a:rPr lang="en-US" sz="2800" dirty="0" smtClean="0"/>
              <a:t>, </a:t>
            </a:r>
            <a:r>
              <a:rPr lang="en-US" sz="2800" i="1" dirty="0" smtClean="0">
                <a:solidFill>
                  <a:srgbClr val="C00000"/>
                </a:solidFill>
              </a:rPr>
              <a:t>documents</a:t>
            </a:r>
            <a:r>
              <a:rPr lang="en-US" sz="2800" dirty="0" smtClean="0"/>
              <a:t>, videos and related resources. </a:t>
            </a:r>
            <a:endParaRPr lang="en-US" sz="2600" dirty="0" smtClean="0"/>
          </a:p>
        </p:txBody>
      </p:sp>
      <p:pic>
        <p:nvPicPr>
          <p:cNvPr id="5122" name="Picture 2" descr="https://2e8ram2s1li74atce18qz5y1-wpengine.netdna-ssl.com/wp-content/uploads/2018/09/Tech-Interviews-Tech-Pros-Dice-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038600" y="3276600"/>
            <a:ext cx="4572000" cy="2857500"/>
          </a:xfrm>
          <a:prstGeom prst="rect">
            <a:avLst/>
          </a:prstGeom>
          <a:noFill/>
        </p:spPr>
      </p:pic>
      <p:pic>
        <p:nvPicPr>
          <p:cNvPr id="5" name="Picture 2" descr="http://4.bp.blogspot.com/_5xHBZqys6o8/TEB1A8EcgNI/AAAAAAAABO8/Uy0B8-abN2I/s1600/NoTextbooks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43000" y="3581400"/>
            <a:ext cx="2410464" cy="2366882"/>
          </a:xfrm>
          <a:prstGeom prst="rect">
            <a:avLst/>
          </a:prstGeom>
          <a:noFill/>
        </p:spPr>
      </p:pic>
      <p:pic>
        <p:nvPicPr>
          <p:cNvPr id="6" name="Picture 2" descr="http://www.18thtechnology.com/images/software_development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0" y="1295400"/>
            <a:ext cx="876300" cy="880110"/>
          </a:xfrm>
          <a:prstGeom prst="rect">
            <a:avLst/>
          </a:prstGeom>
          <a:noFill/>
        </p:spPr>
      </p:pic>
      <p:pic>
        <p:nvPicPr>
          <p:cNvPr id="7" name="Picture 3" descr="http://www.prm.nau.edu/PRM346/images/paper%20icon.jpg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7086600" y="2286000"/>
            <a:ext cx="609600" cy="609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Course Policies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905000"/>
            <a:ext cx="8763000" cy="4572000"/>
          </a:xfrm>
        </p:spPr>
        <p:txBody>
          <a:bodyPr/>
          <a:lstStyle/>
          <a:p>
            <a:r>
              <a:rPr lang="en-US" sz="1900" dirty="0" smtClean="0"/>
              <a:t>Students who are </a:t>
            </a:r>
            <a:r>
              <a:rPr lang="en-US" sz="1900" u="sng" dirty="0" smtClean="0"/>
              <a:t>absent</a:t>
            </a:r>
            <a:r>
              <a:rPr lang="en-US" sz="1900" dirty="0" smtClean="0"/>
              <a:t> for more than </a:t>
            </a:r>
            <a:r>
              <a:rPr lang="en-US" sz="1900" i="1" dirty="0" smtClean="0">
                <a:solidFill>
                  <a:srgbClr val="C00000"/>
                </a:solidFill>
              </a:rPr>
              <a:t>30% of the course time</a:t>
            </a:r>
            <a:r>
              <a:rPr lang="en-US" sz="1900" dirty="0" smtClean="0"/>
              <a:t> shall not be allowed to take the exams and be graded </a:t>
            </a:r>
            <a:r>
              <a:rPr lang="en-US" sz="1900" i="1" dirty="0" smtClean="0">
                <a:solidFill>
                  <a:srgbClr val="C00000"/>
                </a:solidFill>
              </a:rPr>
              <a:t>0 </a:t>
            </a:r>
            <a:r>
              <a:rPr lang="en-US" sz="1900" dirty="0" smtClean="0"/>
              <a:t>for the whole course.</a:t>
            </a:r>
          </a:p>
          <a:p>
            <a:r>
              <a:rPr lang="en-US" sz="1900" dirty="0" smtClean="0">
                <a:latin typeface="+mj-lt"/>
              </a:rPr>
              <a:t>Students who are graded </a:t>
            </a:r>
            <a:r>
              <a:rPr lang="en-US" sz="1900" i="1" dirty="0" smtClean="0">
                <a:solidFill>
                  <a:srgbClr val="C00000"/>
                </a:solidFill>
                <a:latin typeface="+mj-lt"/>
              </a:rPr>
              <a:t>0 </a:t>
            </a:r>
            <a:r>
              <a:rPr lang="en-US" sz="1900" dirty="0" smtClean="0">
                <a:latin typeface="+mj-lt"/>
              </a:rPr>
              <a:t>for the </a:t>
            </a:r>
            <a:r>
              <a:rPr lang="en-US" sz="1900" i="1" dirty="0" smtClean="0">
                <a:solidFill>
                  <a:srgbClr val="C00000"/>
                </a:solidFill>
                <a:latin typeface="+mj-lt"/>
              </a:rPr>
              <a:t>course project</a:t>
            </a:r>
            <a:r>
              <a:rPr lang="en-US" sz="1900" dirty="0" smtClean="0">
                <a:latin typeface="+mj-lt"/>
              </a:rPr>
              <a:t> or for the </a:t>
            </a:r>
            <a:r>
              <a:rPr lang="en-US" sz="1900" i="1" dirty="0" smtClean="0">
                <a:solidFill>
                  <a:srgbClr val="C00000"/>
                </a:solidFill>
                <a:latin typeface="+mj-lt"/>
              </a:rPr>
              <a:t>total score of the individual tests </a:t>
            </a:r>
            <a:r>
              <a:rPr lang="en-US" sz="1900" dirty="0" smtClean="0">
                <a:latin typeface="+mj-lt"/>
              </a:rPr>
              <a:t>shall not be allowed to take the exams.</a:t>
            </a:r>
          </a:p>
          <a:p>
            <a:r>
              <a:rPr lang="en-US" sz="1900" dirty="0" smtClean="0">
                <a:latin typeface="+mj-lt"/>
              </a:rPr>
              <a:t>Students who are </a:t>
            </a:r>
            <a:r>
              <a:rPr lang="en-US" sz="1900" u="sng" dirty="0" smtClean="0">
                <a:latin typeface="+mj-lt"/>
              </a:rPr>
              <a:t>absent</a:t>
            </a:r>
            <a:r>
              <a:rPr lang="en-US" sz="1900" dirty="0" smtClean="0">
                <a:latin typeface="+mj-lt"/>
              </a:rPr>
              <a:t> during a test session will be graded </a:t>
            </a:r>
            <a:r>
              <a:rPr lang="en-US" sz="1900" i="1" dirty="0" smtClean="0">
                <a:solidFill>
                  <a:srgbClr val="C00000"/>
                </a:solidFill>
                <a:latin typeface="+mj-lt"/>
              </a:rPr>
              <a:t>0</a:t>
            </a:r>
            <a:r>
              <a:rPr lang="en-US" sz="1900" dirty="0" smtClean="0">
                <a:latin typeface="+mj-lt"/>
              </a:rPr>
              <a:t> for the test. The exception can only be applied to students who have </a:t>
            </a:r>
            <a:r>
              <a:rPr lang="en-US" sz="1900" i="1" dirty="0" smtClean="0">
                <a:solidFill>
                  <a:srgbClr val="C00000"/>
                </a:solidFill>
                <a:latin typeface="+mj-lt"/>
              </a:rPr>
              <a:t>a hospital certificate of medical status</a:t>
            </a:r>
            <a:r>
              <a:rPr lang="en-US" sz="1900" dirty="0" smtClean="0">
                <a:latin typeface="+mj-lt"/>
              </a:rPr>
              <a:t>.</a:t>
            </a:r>
          </a:p>
          <a:p>
            <a:r>
              <a:rPr lang="en-US" sz="1900" dirty="0" smtClean="0">
                <a:latin typeface="+mj-lt"/>
              </a:rPr>
              <a:t>Students who does a classroom test or homework or project </a:t>
            </a:r>
            <a:r>
              <a:rPr lang="en-US" sz="1900" i="1" dirty="0" smtClean="0">
                <a:solidFill>
                  <a:srgbClr val="C00000"/>
                </a:solidFill>
                <a:latin typeface="+mj-lt"/>
              </a:rPr>
              <a:t>for their friends</a:t>
            </a:r>
            <a:r>
              <a:rPr lang="en-US" sz="1900" dirty="0" smtClean="0">
                <a:latin typeface="+mj-lt"/>
              </a:rPr>
              <a:t> will be graded 0 for the course.</a:t>
            </a:r>
          </a:p>
          <a:p>
            <a:r>
              <a:rPr lang="en-US" sz="1900" dirty="0" smtClean="0">
                <a:latin typeface="+mj-lt"/>
              </a:rPr>
              <a:t>Students who do </a:t>
            </a:r>
            <a:r>
              <a:rPr lang="en-US" sz="1900" i="1" dirty="0" smtClean="0">
                <a:solidFill>
                  <a:srgbClr val="C00000"/>
                </a:solidFill>
                <a:latin typeface="+mj-lt"/>
              </a:rPr>
              <a:t>plagiarism</a:t>
            </a:r>
            <a:r>
              <a:rPr lang="en-US" sz="1900" dirty="0" smtClean="0">
                <a:latin typeface="+mj-lt"/>
              </a:rPr>
              <a:t> for their exercises or projects will be graded 0 for the course. This also applies to cases in which the lecturers find out later when students will have already completed the course.</a:t>
            </a:r>
          </a:p>
          <a:p>
            <a:r>
              <a:rPr lang="en-US" sz="1900" dirty="0" smtClean="0">
                <a:latin typeface="+mj-lt"/>
              </a:rPr>
              <a:t>Students who have proof of their friends’ cheating or plagiarism but do not notify the lecturers will be </a:t>
            </a:r>
            <a:r>
              <a:rPr lang="en-US" sz="1900" i="1" dirty="0" smtClean="0">
                <a:solidFill>
                  <a:srgbClr val="C00000"/>
                </a:solidFill>
                <a:latin typeface="+mj-lt"/>
              </a:rPr>
              <a:t>deducted 50%</a:t>
            </a:r>
            <a:r>
              <a:rPr lang="en-US" sz="1900" dirty="0" smtClean="0">
                <a:latin typeface="+mj-lt"/>
              </a:rPr>
              <a:t> of the total grade that they will have achieved.</a:t>
            </a:r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7200" y="228600"/>
            <a:ext cx="2152650" cy="1428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Lectures &amp; Slides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Lectures contain the core knowledge with specific examples.</a:t>
            </a:r>
          </a:p>
          <a:p>
            <a:r>
              <a:rPr lang="en-US" sz="2400" dirty="0" smtClean="0"/>
              <a:t>Slides present general knowledge and provide details to lectures.</a:t>
            </a:r>
          </a:p>
          <a:p>
            <a:r>
              <a:rPr lang="en-US" sz="2400" dirty="0" smtClean="0"/>
              <a:t>Lectures &amp; Slides are not necessarily the same.</a:t>
            </a:r>
          </a:p>
          <a:p>
            <a:r>
              <a:rPr lang="en-US" sz="2400" dirty="0" smtClean="0"/>
              <a:t>Writing summary for lectures as articles </a:t>
            </a:r>
            <a:r>
              <a:rPr lang="en-US" sz="2400" dirty="0" smtClean="0">
                <a:sym typeface="Wingdings" pitchFamily="2" charset="2"/>
              </a:rPr>
              <a:t> Bonus points.</a:t>
            </a:r>
            <a:endParaRPr lang="en-US" sz="2400" dirty="0" smtClean="0"/>
          </a:p>
        </p:txBody>
      </p:sp>
      <p:pic>
        <p:nvPicPr>
          <p:cNvPr id="1026" name="Picture 2" descr="https://images1.whatuni.com/commimg/myhotcourses/blog/post/myhc_69446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600" y="4008120"/>
            <a:ext cx="3627120" cy="2011680"/>
          </a:xfrm>
          <a:prstGeom prst="rect">
            <a:avLst/>
          </a:prstGeom>
          <a:noFill/>
        </p:spPr>
      </p:pic>
      <p:pic>
        <p:nvPicPr>
          <p:cNvPr id="1030" name="Picture 6" descr="Cách làm trò chơi Lucky Number trên PowerPoint 2010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34000" y="4053840"/>
            <a:ext cx="3086100" cy="173736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324600" cy="4525963"/>
          </a:xfrm>
        </p:spPr>
        <p:txBody>
          <a:bodyPr/>
          <a:lstStyle/>
          <a:p>
            <a:pPr lvl="0"/>
            <a:r>
              <a:rPr lang="en-US" sz="2200" dirty="0" smtClean="0"/>
              <a:t>Project Management Institute (2021). A Guide to the Project Management Body of Knowledge. Seventh Edition. Project Management Institute</a:t>
            </a:r>
            <a:r>
              <a:rPr lang="en-US" sz="2200" dirty="0" smtClean="0"/>
              <a:t>.</a:t>
            </a:r>
            <a:endParaRPr lang="en-US" sz="2200" dirty="0" smtClean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781800" y="1600200"/>
            <a:ext cx="1809750" cy="1803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Content Placeholder 2"/>
          <p:cNvSpPr txBox="1">
            <a:spLocks/>
          </p:cNvSpPr>
          <p:nvPr/>
        </p:nvSpPr>
        <p:spPr bwMode="auto">
          <a:xfrm>
            <a:off x="1219200" y="5029200"/>
            <a:ext cx="6705600" cy="8382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lang="en-US" sz="2400" i="1" dirty="0" smtClean="0">
                <a:latin typeface="Calibri" pitchFamily="34" charset="0"/>
                <a:cs typeface="Calibri" pitchFamily="34" charset="0"/>
              </a:rPr>
              <a:t>Specific materials for each course topic: Refer to the course slides.</a:t>
            </a:r>
            <a:endParaRPr kumimoji="0" lang="en-US" sz="2400" b="0" i="1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itchFamily="34" charset="0"/>
              <a:ea typeface="+mn-ea"/>
              <a:cs typeface="Calibri" pitchFamily="34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Questions and Answers</a:t>
            </a:r>
            <a:endParaRPr lang="en-US" dirty="0"/>
          </a:p>
        </p:txBody>
      </p:sp>
      <p:pic>
        <p:nvPicPr>
          <p:cNvPr id="2457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19488" y="2233613"/>
            <a:ext cx="210502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10977</TotalTime>
  <Words>1019</Words>
  <Application>Microsoft Office PowerPoint</Application>
  <PresentationFormat>On-screen Show (4:3)</PresentationFormat>
  <Paragraphs>136</Paragraphs>
  <Slides>25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6" baseType="lpstr">
      <vt:lpstr>Office Theme</vt:lpstr>
      <vt:lpstr>Course Introduction</vt:lpstr>
      <vt:lpstr>Lecturer</vt:lpstr>
      <vt:lpstr>Objectives</vt:lpstr>
      <vt:lpstr>Contents</vt:lpstr>
      <vt:lpstr>I am a Student</vt:lpstr>
      <vt:lpstr>I am a Student</vt:lpstr>
      <vt:lpstr>I am a Student</vt:lpstr>
      <vt:lpstr>I am a Developer</vt:lpstr>
      <vt:lpstr>This Course is Not for</vt:lpstr>
      <vt:lpstr>But</vt:lpstr>
      <vt:lpstr>Course Prerequisites</vt:lpstr>
      <vt:lpstr>Course Learning Outcomes</vt:lpstr>
      <vt:lpstr>Course Contents</vt:lpstr>
      <vt:lpstr>Course Schedule</vt:lpstr>
      <vt:lpstr>Class Monitors</vt:lpstr>
      <vt:lpstr>Team Forming</vt:lpstr>
      <vt:lpstr>Course Assessment</vt:lpstr>
      <vt:lpstr>Exercises in Classroom (40%)</vt:lpstr>
      <vt:lpstr>Midterm Exam (20%)</vt:lpstr>
      <vt:lpstr>Final Individual Oral Exam (40%)</vt:lpstr>
      <vt:lpstr>Course Policies</vt:lpstr>
      <vt:lpstr>Lectures &amp; Slides</vt:lpstr>
      <vt:lpstr>References</vt:lpstr>
      <vt:lpstr>Questions and Answers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5208</cp:revision>
  <dcterms:created xsi:type="dcterms:W3CDTF">2007-10-06T08:25:13Z</dcterms:created>
  <dcterms:modified xsi:type="dcterms:W3CDTF">2026-05-15T12:25:54Z</dcterms:modified>
</cp:coreProperties>
</file>