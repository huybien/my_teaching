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22"/>
  </p:notesMasterIdLst>
  <p:sldIdLst>
    <p:sldId id="489" r:id="rId2"/>
    <p:sldId id="490" r:id="rId3"/>
    <p:sldId id="491" r:id="rId4"/>
    <p:sldId id="471" r:id="rId5"/>
    <p:sldId id="474" r:id="rId6"/>
    <p:sldId id="475" r:id="rId7"/>
    <p:sldId id="476" r:id="rId8"/>
    <p:sldId id="478" r:id="rId9"/>
    <p:sldId id="479" r:id="rId10"/>
    <p:sldId id="477" r:id="rId11"/>
    <p:sldId id="480" r:id="rId12"/>
    <p:sldId id="481" r:id="rId13"/>
    <p:sldId id="483" r:id="rId14"/>
    <p:sldId id="482" r:id="rId15"/>
    <p:sldId id="484" r:id="rId16"/>
    <p:sldId id="485" r:id="rId17"/>
    <p:sldId id="486" r:id="rId18"/>
    <p:sldId id="487" r:id="rId19"/>
    <p:sldId id="488" r:id="rId20"/>
    <p:sldId id="343" r:id="rId21"/>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22606" autoAdjust="0"/>
    <p:restoredTop sz="94667" autoAdjust="0"/>
  </p:normalViewPr>
  <p:slideViewPr>
    <p:cSldViewPr>
      <p:cViewPr>
        <p:scale>
          <a:sx n="60" d="100"/>
          <a:sy n="60" d="100"/>
        </p:scale>
        <p:origin x="-1152" y="-182"/>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276"/>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6D91D48-66D6-4640-B80C-776887D3C151}" type="datetimeFigureOut">
              <a:rPr lang="en-US" smtClean="0"/>
              <a:pPr/>
              <a:t>6/2/2016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3770CC0-502A-4C8B-8757-BFED04147011}"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0721B9AD-E267-41B8-AFB9-F339B3C6A571}" type="datetimeFigureOut">
              <a:rPr lang="en-US"/>
              <a:pPr>
                <a:defRPr/>
              </a:pPr>
              <a:t>6/2/2016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12FAA6B-5534-44A2-AEB6-C3AA6AD13725}"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D03B7B48-E476-4875-A0CA-B0673732DFDD}" type="datetimeFigureOut">
              <a:rPr lang="en-US"/>
              <a:pPr>
                <a:defRPr/>
              </a:pPr>
              <a:t>6/2/2016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D0A623A-42AC-4D11-AF54-DB15196F08D6}"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E8F0A2C2-9A3C-44C4-9D1F-47B44EB3EF12}" type="datetimeFigureOut">
              <a:rPr lang="en-US"/>
              <a:pPr>
                <a:defRPr/>
              </a:pPr>
              <a:t>6/2/2016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738AB1B-E996-4ECC-822F-4BC1227516D2}"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6E352965-9852-4C5D-9CFD-AA7D7C51A3F1}" type="datetimeFigureOut">
              <a:rPr lang="en-US"/>
              <a:pPr>
                <a:defRPr/>
              </a:pPr>
              <a:t>6/2/2016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5C6D760F-B2EC-4EEB-B282-45333B115766}"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A2ABA97A-E8D3-4153-8AD9-0AC754381ACA}" type="datetimeFigureOut">
              <a:rPr lang="en-US"/>
              <a:pPr>
                <a:defRPr/>
              </a:pPr>
              <a:t>6/2/2016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D26E96F6-D03D-4FB0-942F-6504F81FF6F0}"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60F1E0C7-1AF5-43CF-B84A-415948674BE8}" type="datetimeFigureOut">
              <a:rPr lang="en-US"/>
              <a:pPr>
                <a:defRPr/>
              </a:pPr>
              <a:t>6/2/2016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10B45132-88B8-4DDF-85A7-99B030F49BCA}"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3FF2F585-6AB3-4A98-8C00-3FB0F428366B}" type="datetimeFigureOut">
              <a:rPr lang="en-US"/>
              <a:pPr>
                <a:defRPr/>
              </a:pPr>
              <a:t>6/2/2016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BDEE648-0B22-4684-A888-DEB1CE6260BA}"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A955A04C-D082-4B30-8565-236556BDD91C}" type="datetimeFigureOut">
              <a:rPr lang="en-US"/>
              <a:pPr>
                <a:defRPr/>
              </a:pPr>
              <a:t>6/2/2016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7D6D829-2DC4-4B7D-B12C-FDD216EF07FE}"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E43085A-46E4-429D-86C3-B3CDAC36DAFB}" type="datetimeFigureOut">
              <a:rPr lang="en-US"/>
              <a:pPr>
                <a:defRPr/>
              </a:pPr>
              <a:t>6/2/2016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17732C7-0A09-4095-98E8-F693C2579E3C}"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9B0270D8-9F80-4CBC-9EEB-40BF8E1F9541}" type="datetimeFigureOut">
              <a:rPr lang="en-US"/>
              <a:pPr>
                <a:defRPr/>
              </a:pPr>
              <a:t>6/2/2016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846B142B-9F3F-466D-9D5E-77E7230DF7FC}"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0944C27D-6266-4BC5-9F9E-701F440BBF98}" type="datetimeFigureOut">
              <a:rPr lang="en-US"/>
              <a:pPr>
                <a:defRPr/>
              </a:pPr>
              <a:t>6/2/2016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EC74873-7D28-4297-9E3C-7A8D1F19C832}"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3A4E31BE-3B20-405B-8063-BB6777AF4DB8}" type="datetimeFigureOut">
              <a:rPr lang="en-US"/>
              <a:pPr>
                <a:defRPr/>
              </a:pPr>
              <a:t>6/2/2016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69667343-960E-49C7-A8DE-9C4E42370238}"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304800" y="2130425"/>
            <a:ext cx="8534400" cy="1470025"/>
          </a:xfrm>
        </p:spPr>
        <p:txBody>
          <a:bodyPr/>
          <a:lstStyle/>
          <a:p>
            <a:pPr eaLnBrk="1" hangingPunct="1"/>
            <a:r>
              <a:rPr lang="en-US" sz="6000" dirty="0" smtClean="0"/>
              <a:t>Software Configuration Management Patterns</a:t>
            </a:r>
            <a:endParaRPr lang="en-US" sz="6000" dirty="0" smtClean="0"/>
          </a:p>
        </p:txBody>
      </p:sp>
      <p:sp>
        <p:nvSpPr>
          <p:cNvPr id="3" name="Subtitle 2"/>
          <p:cNvSpPr>
            <a:spLocks noGrp="1"/>
          </p:cNvSpPr>
          <p:nvPr>
            <p:ph type="subTitle" idx="1"/>
          </p:nvPr>
        </p:nvSpPr>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VNUHCM - 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dirty="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600201"/>
            <a:ext cx="5410200" cy="4648199"/>
          </a:xfrm>
        </p:spPr>
        <p:txBody>
          <a:bodyPr/>
          <a:lstStyle/>
          <a:p>
            <a:pPr>
              <a:buFont typeface="Wingdings" pitchFamily="2" charset="2"/>
              <a:buChar char="Ø"/>
            </a:pPr>
            <a:endParaRPr lang="en-US" sz="2400" i="1" dirty="0" smtClean="0">
              <a:solidFill>
                <a:srgbClr val="C00000"/>
              </a:solidFill>
            </a:endParaRPr>
          </a:p>
        </p:txBody>
      </p:sp>
      <p:pic>
        <p:nvPicPr>
          <p:cNvPr id="4" name="Picture 2"/>
          <p:cNvPicPr>
            <a:picLocks noChangeAspect="1" noChangeArrowheads="1"/>
          </p:cNvPicPr>
          <p:nvPr/>
        </p:nvPicPr>
        <p:blipFill>
          <a:blip r:embed="rId2" cstate="print"/>
          <a:srcRect/>
          <a:stretch>
            <a:fillRect/>
          </a:stretch>
        </p:blipFill>
        <p:spPr bwMode="auto">
          <a:xfrm>
            <a:off x="5791200" y="1828800"/>
            <a:ext cx="2762250" cy="2114550"/>
          </a:xfrm>
          <a:prstGeom prst="rect">
            <a:avLst/>
          </a:prstGeom>
          <a:noFill/>
          <a:ln w="9525">
            <a:noFill/>
            <a:miter lim="800000"/>
            <a:headEnd/>
            <a:tailEnd/>
          </a:ln>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1600200"/>
            <a:ext cx="5638800" cy="4525963"/>
          </a:xfrm>
        </p:spPr>
        <p:txBody>
          <a:bodyPr/>
          <a:lstStyle/>
          <a:p>
            <a:pPr marL="457200" indent="-457200">
              <a:buFont typeface="+mj-lt"/>
              <a:buAutoNum type="arabicPeriod"/>
            </a:pPr>
            <a:r>
              <a:rPr lang="en-US" sz="2400" dirty="0" smtClean="0"/>
              <a:t>Software Configuration Management Patterns: Effective Teamwork, Practical Integration By Stephen P. </a:t>
            </a:r>
            <a:r>
              <a:rPr lang="en-US" sz="2400" dirty="0" err="1" smtClean="0"/>
              <a:t>Berczuk</a:t>
            </a:r>
            <a:r>
              <a:rPr lang="en-US" sz="2400" dirty="0" smtClean="0"/>
              <a:t>, Brad Appleton, </a:t>
            </a:r>
            <a:r>
              <a:rPr lang="en-US" sz="2400" dirty="0" smtClean="0"/>
              <a:t>2002.</a:t>
            </a:r>
            <a:endParaRPr lang="en-US" sz="2400" dirty="0" smtClean="0"/>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096000" y="1676400"/>
            <a:ext cx="2724150" cy="4133850"/>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Mainline</a:t>
            </a:r>
            <a:endParaRPr lang="en-US" dirty="0"/>
          </a:p>
        </p:txBody>
      </p:sp>
      <p:sp>
        <p:nvSpPr>
          <p:cNvPr id="1026" name="AutoShape 2" descr="graphics/04fig01.jpg"/>
          <p:cNvSpPr>
            <a:spLocks noChangeAspect="1" noChangeArrowheads="1"/>
          </p:cNvSpPr>
          <p:nvPr/>
        </p:nvSpPr>
        <p:spPr bwMode="auto">
          <a:xfrm>
            <a:off x="155575" y="-1157288"/>
            <a:ext cx="4762500" cy="2419351"/>
          </a:xfrm>
          <a:prstGeom prst="rect">
            <a:avLst/>
          </a:prstGeom>
          <a:noFill/>
        </p:spPr>
        <p:txBody>
          <a:bodyPr vert="horz" wrap="square" lIns="91440" tIns="45720" rIns="91440" bIns="45720" numCol="1" anchor="t" anchorCtr="0" compatLnSpc="1">
            <a:prstTxWarp prst="textNoShape">
              <a:avLst/>
            </a:prstTxWarp>
          </a:bodyPr>
          <a:lstStyle/>
          <a:p>
            <a:endParaRPr lang="en-US">
              <a:latin typeface="+mj-lt"/>
            </a:endParaRPr>
          </a:p>
        </p:txBody>
      </p:sp>
      <p:pic>
        <p:nvPicPr>
          <p:cNvPr id="1027" name="Picture 3"/>
          <p:cNvPicPr>
            <a:picLocks noChangeAspect="1" noChangeArrowheads="1"/>
          </p:cNvPicPr>
          <p:nvPr/>
        </p:nvPicPr>
        <p:blipFill>
          <a:blip r:embed="rId2" cstate="print"/>
          <a:srcRect/>
          <a:stretch>
            <a:fillRect/>
          </a:stretch>
        </p:blipFill>
        <p:spPr bwMode="auto">
          <a:xfrm>
            <a:off x="381000" y="2057400"/>
            <a:ext cx="4762500" cy="2419350"/>
          </a:xfrm>
          <a:prstGeom prst="rect">
            <a:avLst/>
          </a:prstGeom>
          <a:noFill/>
          <a:ln w="9525">
            <a:noFill/>
            <a:miter lim="800000"/>
            <a:headEnd/>
            <a:tailEnd/>
          </a:ln>
          <a:effectLst/>
        </p:spPr>
      </p:pic>
      <p:pic>
        <p:nvPicPr>
          <p:cNvPr id="1028" name="Picture 4"/>
          <p:cNvPicPr>
            <a:picLocks noChangeAspect="1" noChangeArrowheads="1"/>
          </p:cNvPicPr>
          <p:nvPr/>
        </p:nvPicPr>
        <p:blipFill>
          <a:blip r:embed="rId3" cstate="print"/>
          <a:srcRect/>
          <a:stretch>
            <a:fillRect/>
          </a:stretch>
        </p:blipFill>
        <p:spPr bwMode="auto">
          <a:xfrm>
            <a:off x="685800" y="4572000"/>
            <a:ext cx="4762500" cy="1876425"/>
          </a:xfrm>
          <a:prstGeom prst="rect">
            <a:avLst/>
          </a:prstGeom>
          <a:noFill/>
          <a:ln w="9525">
            <a:noFill/>
            <a:miter lim="800000"/>
            <a:headEnd/>
            <a:tailEnd/>
          </a:ln>
          <a:effectLst/>
        </p:spPr>
      </p:pic>
      <p:sp>
        <p:nvSpPr>
          <p:cNvPr id="1030" name="AutoShape 6" descr="graphics/04infig01.gif"/>
          <p:cNvSpPr>
            <a:spLocks noChangeAspect="1" noChangeArrowheads="1"/>
          </p:cNvSpPr>
          <p:nvPr/>
        </p:nvSpPr>
        <p:spPr bwMode="auto">
          <a:xfrm>
            <a:off x="155575" y="-1714500"/>
            <a:ext cx="4762500" cy="3581400"/>
          </a:xfrm>
          <a:prstGeom prst="rect">
            <a:avLst/>
          </a:prstGeom>
          <a:noFill/>
        </p:spPr>
        <p:txBody>
          <a:bodyPr vert="horz" wrap="square" lIns="91440" tIns="45720" rIns="91440" bIns="45720" numCol="1" anchor="t" anchorCtr="0" compatLnSpc="1">
            <a:prstTxWarp prst="textNoShape">
              <a:avLst/>
            </a:prstTxWarp>
          </a:bodyPr>
          <a:lstStyle/>
          <a:p>
            <a:endParaRPr lang="en-US">
              <a:latin typeface="+mj-lt"/>
            </a:endParaRPr>
          </a:p>
        </p:txBody>
      </p:sp>
      <p:sp>
        <p:nvSpPr>
          <p:cNvPr id="1032" name="AutoShape 8" descr="graphics/04infig01.gif"/>
          <p:cNvSpPr>
            <a:spLocks noChangeAspect="1" noChangeArrowheads="1"/>
          </p:cNvSpPr>
          <p:nvPr/>
        </p:nvSpPr>
        <p:spPr bwMode="auto">
          <a:xfrm>
            <a:off x="155575" y="-1714500"/>
            <a:ext cx="4762500" cy="3581400"/>
          </a:xfrm>
          <a:prstGeom prst="rect">
            <a:avLst/>
          </a:prstGeom>
          <a:noFill/>
        </p:spPr>
        <p:txBody>
          <a:bodyPr vert="horz" wrap="square" lIns="91440" tIns="45720" rIns="91440" bIns="45720" numCol="1" anchor="t" anchorCtr="0" compatLnSpc="1">
            <a:prstTxWarp prst="textNoShape">
              <a:avLst/>
            </a:prstTxWarp>
          </a:bodyPr>
          <a:lstStyle/>
          <a:p>
            <a:endParaRPr lang="en-US">
              <a:latin typeface="+mj-lt"/>
            </a:endParaRPr>
          </a:p>
        </p:txBody>
      </p:sp>
      <p:pic>
        <p:nvPicPr>
          <p:cNvPr id="1033" name="Picture 9"/>
          <p:cNvPicPr>
            <a:picLocks noChangeAspect="1" noChangeArrowheads="1"/>
          </p:cNvPicPr>
          <p:nvPr/>
        </p:nvPicPr>
        <p:blipFill>
          <a:blip r:embed="rId4" cstate="print"/>
          <a:srcRect/>
          <a:stretch>
            <a:fillRect/>
          </a:stretch>
        </p:blipFill>
        <p:spPr bwMode="auto">
          <a:xfrm>
            <a:off x="6248400" y="4876800"/>
            <a:ext cx="2381250" cy="1790700"/>
          </a:xfrm>
          <a:prstGeom prst="rect">
            <a:avLst/>
          </a:prstGeom>
          <a:noFill/>
          <a:ln w="9525">
            <a:noFill/>
            <a:miter lim="800000"/>
            <a:headEnd/>
            <a:tailEnd/>
          </a:ln>
          <a:effectLst/>
        </p:spPr>
      </p:pic>
      <p:sp>
        <p:nvSpPr>
          <p:cNvPr id="10" name="Rectangle 9"/>
          <p:cNvSpPr/>
          <p:nvPr/>
        </p:nvSpPr>
        <p:spPr>
          <a:xfrm>
            <a:off x="304800" y="1143000"/>
            <a:ext cx="8382000" cy="923330"/>
          </a:xfrm>
          <a:prstGeom prst="rect">
            <a:avLst/>
          </a:prstGeom>
          <a:solidFill>
            <a:schemeClr val="accent6"/>
          </a:solidFill>
        </p:spPr>
        <p:txBody>
          <a:bodyPr wrap="square">
            <a:spAutoFit/>
          </a:bodyPr>
          <a:lstStyle/>
          <a:p>
            <a:r>
              <a:rPr lang="en-US" i="1" dirty="0" smtClean="0">
                <a:solidFill>
                  <a:schemeClr val="bg1"/>
                </a:solidFill>
                <a:latin typeface="+mj-lt"/>
              </a:rPr>
              <a:t>How do you keep the number of currently active codelines to a manageable set and avoid growing the project's version tree too wide and too dense? How do you minimize the overhead of merging?</a:t>
            </a:r>
            <a:endParaRPr lang="en-US" i="1" dirty="0">
              <a:solidFill>
                <a:schemeClr val="bg1"/>
              </a:solidFill>
              <a:latin typeface="+mj-lt"/>
            </a:endParaRPr>
          </a:p>
        </p:txBody>
      </p:sp>
      <p:sp>
        <p:nvSpPr>
          <p:cNvPr id="6" name="Rectangle 5"/>
          <p:cNvSpPr/>
          <p:nvPr/>
        </p:nvSpPr>
        <p:spPr>
          <a:xfrm>
            <a:off x="5334000" y="2057400"/>
            <a:ext cx="3581400" cy="2862322"/>
          </a:xfrm>
          <a:prstGeom prst="rect">
            <a:avLst/>
          </a:prstGeom>
        </p:spPr>
        <p:txBody>
          <a:bodyPr wrap="square">
            <a:spAutoFit/>
          </a:bodyPr>
          <a:lstStyle/>
          <a:p>
            <a:r>
              <a:rPr lang="en-US" dirty="0" smtClean="0">
                <a:latin typeface="+mj-lt"/>
              </a:rPr>
              <a:t>When you are developing a single product release, develop off of a mainline. A mainline is a "home codeline" that you do all your development on except in special circumstances. When you do branch, consider your overall strategy before you create the branch. When in doubt, go for a simpler model.</a:t>
            </a:r>
            <a:endParaRPr lang="en-US" dirty="0">
              <a:latin typeface="+mj-l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Active Development Line</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533400" y="1981200"/>
            <a:ext cx="4762500" cy="1590675"/>
          </a:xfrm>
          <a:prstGeom prst="rect">
            <a:avLst/>
          </a:prstGeom>
          <a:noFill/>
          <a:ln w="9525">
            <a:noFill/>
            <a:miter lim="800000"/>
            <a:headEnd/>
            <a:tailEnd/>
          </a:ln>
          <a:effectLst/>
        </p:spPr>
      </p:pic>
      <p:sp>
        <p:nvSpPr>
          <p:cNvPr id="5" name="Rectangle 4"/>
          <p:cNvSpPr/>
          <p:nvPr/>
        </p:nvSpPr>
        <p:spPr>
          <a:xfrm>
            <a:off x="5562600" y="1524000"/>
            <a:ext cx="3200400" cy="2308324"/>
          </a:xfrm>
          <a:prstGeom prst="rect">
            <a:avLst/>
          </a:prstGeom>
        </p:spPr>
        <p:txBody>
          <a:bodyPr wrap="square">
            <a:spAutoFit/>
          </a:bodyPr>
          <a:lstStyle/>
          <a:p>
            <a:r>
              <a:rPr lang="en-US" dirty="0" smtClean="0">
                <a:latin typeface="+mj-lt"/>
              </a:rPr>
              <a:t>Institute policies that are effective in making your main development line stable enough for the work it needs to do. Do not aim for a perfect active development line but for a mainline that is usable and active enough for your needs.</a:t>
            </a:r>
            <a:endParaRPr lang="en-US" dirty="0">
              <a:latin typeface="+mj-lt"/>
            </a:endParaRPr>
          </a:p>
        </p:txBody>
      </p:sp>
      <p:sp>
        <p:nvSpPr>
          <p:cNvPr id="1028" name="AutoShape 4" descr="graphics/05fig02.gif"/>
          <p:cNvSpPr>
            <a:spLocks noChangeAspect="1" noChangeArrowheads="1"/>
          </p:cNvSpPr>
          <p:nvPr/>
        </p:nvSpPr>
        <p:spPr bwMode="auto">
          <a:xfrm>
            <a:off x="155575" y="-204788"/>
            <a:ext cx="4762500" cy="428626"/>
          </a:xfrm>
          <a:prstGeom prst="rect">
            <a:avLst/>
          </a:prstGeom>
          <a:noFill/>
        </p:spPr>
        <p:txBody>
          <a:bodyPr vert="horz" wrap="square" lIns="91440" tIns="45720" rIns="91440" bIns="45720" numCol="1" anchor="t" anchorCtr="0" compatLnSpc="1">
            <a:prstTxWarp prst="textNoShape">
              <a:avLst/>
            </a:prstTxWarp>
          </a:bodyPr>
          <a:lstStyle/>
          <a:p>
            <a:endParaRPr lang="en-US">
              <a:latin typeface="+mj-lt"/>
            </a:endParaRPr>
          </a:p>
        </p:txBody>
      </p:sp>
      <p:pic>
        <p:nvPicPr>
          <p:cNvPr id="1029" name="Picture 5"/>
          <p:cNvPicPr>
            <a:picLocks noChangeAspect="1" noChangeArrowheads="1"/>
          </p:cNvPicPr>
          <p:nvPr/>
        </p:nvPicPr>
        <p:blipFill>
          <a:blip r:embed="rId3" cstate="print"/>
          <a:srcRect/>
          <a:stretch>
            <a:fillRect/>
          </a:stretch>
        </p:blipFill>
        <p:spPr bwMode="auto">
          <a:xfrm>
            <a:off x="381000" y="3733800"/>
            <a:ext cx="4762500" cy="428625"/>
          </a:xfrm>
          <a:prstGeom prst="rect">
            <a:avLst/>
          </a:prstGeom>
          <a:noFill/>
          <a:ln w="9525">
            <a:noFill/>
            <a:miter lim="800000"/>
            <a:headEnd/>
            <a:tailEnd/>
          </a:ln>
          <a:effectLst/>
        </p:spPr>
      </p:pic>
      <p:pic>
        <p:nvPicPr>
          <p:cNvPr id="1030" name="Picture 6"/>
          <p:cNvPicPr>
            <a:picLocks noChangeAspect="1" noChangeArrowheads="1"/>
          </p:cNvPicPr>
          <p:nvPr/>
        </p:nvPicPr>
        <p:blipFill>
          <a:blip r:embed="rId4" cstate="print"/>
          <a:srcRect/>
          <a:stretch>
            <a:fillRect/>
          </a:stretch>
        </p:blipFill>
        <p:spPr bwMode="auto">
          <a:xfrm>
            <a:off x="457200" y="4648200"/>
            <a:ext cx="4762500" cy="352425"/>
          </a:xfrm>
          <a:prstGeom prst="rect">
            <a:avLst/>
          </a:prstGeom>
          <a:noFill/>
          <a:ln w="9525">
            <a:noFill/>
            <a:miter lim="800000"/>
            <a:headEnd/>
            <a:tailEnd/>
          </a:ln>
          <a:effectLst/>
        </p:spPr>
      </p:pic>
      <p:pic>
        <p:nvPicPr>
          <p:cNvPr id="1031" name="Picture 7"/>
          <p:cNvPicPr>
            <a:picLocks noChangeAspect="1" noChangeArrowheads="1"/>
          </p:cNvPicPr>
          <p:nvPr/>
        </p:nvPicPr>
        <p:blipFill>
          <a:blip r:embed="rId5" cstate="print"/>
          <a:srcRect/>
          <a:stretch>
            <a:fillRect/>
          </a:stretch>
        </p:blipFill>
        <p:spPr bwMode="auto">
          <a:xfrm>
            <a:off x="533400" y="5410200"/>
            <a:ext cx="4762500" cy="1095375"/>
          </a:xfrm>
          <a:prstGeom prst="rect">
            <a:avLst/>
          </a:prstGeom>
          <a:noFill/>
          <a:ln w="9525">
            <a:noFill/>
            <a:miter lim="800000"/>
            <a:headEnd/>
            <a:tailEnd/>
          </a:ln>
          <a:effectLst/>
        </p:spPr>
      </p:pic>
      <p:pic>
        <p:nvPicPr>
          <p:cNvPr id="1032" name="Picture 8"/>
          <p:cNvPicPr>
            <a:picLocks noChangeAspect="1" noChangeArrowheads="1"/>
          </p:cNvPicPr>
          <p:nvPr/>
        </p:nvPicPr>
        <p:blipFill>
          <a:blip r:embed="rId6" cstate="print"/>
          <a:srcRect/>
          <a:stretch>
            <a:fillRect/>
          </a:stretch>
        </p:blipFill>
        <p:spPr bwMode="auto">
          <a:xfrm>
            <a:off x="6324600" y="4419600"/>
            <a:ext cx="1905000" cy="1390650"/>
          </a:xfrm>
          <a:prstGeom prst="rect">
            <a:avLst/>
          </a:prstGeom>
          <a:noFill/>
          <a:ln w="9525">
            <a:noFill/>
            <a:miter lim="800000"/>
            <a:headEnd/>
            <a:tailEnd/>
          </a:ln>
          <a:effectLst/>
        </p:spPr>
      </p:pic>
      <p:sp>
        <p:nvSpPr>
          <p:cNvPr id="11" name="Rectangle 10"/>
          <p:cNvSpPr/>
          <p:nvPr/>
        </p:nvSpPr>
        <p:spPr>
          <a:xfrm>
            <a:off x="381000" y="1295400"/>
            <a:ext cx="4876800" cy="646331"/>
          </a:xfrm>
          <a:prstGeom prst="rect">
            <a:avLst/>
          </a:prstGeom>
          <a:solidFill>
            <a:schemeClr val="accent6"/>
          </a:solidFill>
        </p:spPr>
        <p:txBody>
          <a:bodyPr wrap="square">
            <a:spAutoFit/>
          </a:bodyPr>
          <a:lstStyle/>
          <a:p>
            <a:r>
              <a:rPr lang="en-US" i="1" dirty="0" smtClean="0">
                <a:solidFill>
                  <a:schemeClr val="bg1"/>
                </a:solidFill>
                <a:latin typeface="+mj-lt"/>
              </a:rPr>
              <a:t>How do you keep a rapidly evolving codeline stable enough to be useful?</a:t>
            </a:r>
            <a:endParaRPr lang="en-US" i="1" dirty="0">
              <a:solidFill>
                <a:schemeClr val="bg1"/>
              </a:solidFill>
              <a:latin typeface="+mj-l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Private Workspace</a:t>
            </a:r>
            <a:endParaRPr lang="en-US" dirty="0"/>
          </a:p>
        </p:txBody>
      </p:sp>
      <p:sp>
        <p:nvSpPr>
          <p:cNvPr id="4" name="Rectangle 3"/>
          <p:cNvSpPr/>
          <p:nvPr/>
        </p:nvSpPr>
        <p:spPr>
          <a:xfrm>
            <a:off x="381000" y="2438400"/>
            <a:ext cx="4419600" cy="1477328"/>
          </a:xfrm>
          <a:prstGeom prst="rect">
            <a:avLst/>
          </a:prstGeom>
        </p:spPr>
        <p:txBody>
          <a:bodyPr wrap="square">
            <a:spAutoFit/>
          </a:bodyPr>
          <a:lstStyle/>
          <a:p>
            <a:r>
              <a:rPr lang="en-US" dirty="0" smtClean="0">
                <a:latin typeface="+mj-lt"/>
              </a:rPr>
              <a:t>Do your work in a private workspace, where you control the versions of code and components you are working on. You will have total control over when and how your environment changes.</a:t>
            </a:r>
            <a:endParaRPr lang="en-US" dirty="0">
              <a:latin typeface="+mj-lt"/>
            </a:endParaRPr>
          </a:p>
        </p:txBody>
      </p:sp>
      <p:sp>
        <p:nvSpPr>
          <p:cNvPr id="5" name="Rectangle 4"/>
          <p:cNvSpPr/>
          <p:nvPr/>
        </p:nvSpPr>
        <p:spPr>
          <a:xfrm>
            <a:off x="457200" y="3962400"/>
            <a:ext cx="4572000" cy="2585323"/>
          </a:xfrm>
          <a:prstGeom prst="rect">
            <a:avLst/>
          </a:prstGeom>
        </p:spPr>
        <p:txBody>
          <a:bodyPr>
            <a:spAutoFit/>
          </a:bodyPr>
          <a:lstStyle/>
          <a:p>
            <a:pPr marL="342900" indent="-342900">
              <a:buFont typeface="+mj-lt"/>
              <a:buAutoNum type="arabicPeriod"/>
            </a:pPr>
            <a:r>
              <a:rPr lang="en-US" dirty="0" smtClean="0">
                <a:latin typeface="+mj-lt"/>
              </a:rPr>
              <a:t>Get up to date</a:t>
            </a:r>
          </a:p>
          <a:p>
            <a:pPr marL="342900" indent="-342900">
              <a:buFont typeface="+mj-lt"/>
              <a:buAutoNum type="arabicPeriod"/>
            </a:pPr>
            <a:r>
              <a:rPr lang="en-US" dirty="0" smtClean="0">
                <a:latin typeface="+mj-lt"/>
              </a:rPr>
              <a:t>Make your changes</a:t>
            </a:r>
          </a:p>
          <a:p>
            <a:pPr marL="342900" indent="-342900">
              <a:buFont typeface="+mj-lt"/>
              <a:buAutoNum type="arabicPeriod"/>
            </a:pPr>
            <a:r>
              <a:rPr lang="en-US" dirty="0" smtClean="0">
                <a:latin typeface="+mj-lt"/>
              </a:rPr>
              <a:t>Do a Private System Build</a:t>
            </a:r>
          </a:p>
          <a:p>
            <a:pPr marL="342900" indent="-342900">
              <a:buFont typeface="+mj-lt"/>
              <a:buAutoNum type="arabicPeriod"/>
            </a:pPr>
            <a:r>
              <a:rPr lang="en-US" dirty="0" smtClean="0">
                <a:latin typeface="+mj-lt"/>
              </a:rPr>
              <a:t>Test your change</a:t>
            </a:r>
          </a:p>
          <a:p>
            <a:pPr marL="342900" indent="-342900">
              <a:buFont typeface="+mj-lt"/>
              <a:buAutoNum type="arabicPeriod"/>
            </a:pPr>
            <a:r>
              <a:rPr lang="en-US" dirty="0" smtClean="0">
                <a:latin typeface="+mj-lt"/>
              </a:rPr>
              <a:t>Update the workspace to the latest versions of all other components by getting the latest versions of all components you have not changed.</a:t>
            </a:r>
          </a:p>
          <a:p>
            <a:pPr marL="342900" indent="-342900">
              <a:buFont typeface="+mj-lt"/>
              <a:buAutoNum type="arabicPeriod"/>
            </a:pPr>
            <a:r>
              <a:rPr lang="en-US" dirty="0" smtClean="0">
                <a:latin typeface="+mj-lt"/>
              </a:rPr>
              <a:t>Rebuild</a:t>
            </a:r>
            <a:endParaRPr lang="en-US" dirty="0">
              <a:latin typeface="+mj-lt"/>
            </a:endParaRPr>
          </a:p>
        </p:txBody>
      </p:sp>
      <p:pic>
        <p:nvPicPr>
          <p:cNvPr id="21508" name="Picture 4"/>
          <p:cNvPicPr>
            <a:picLocks noChangeAspect="1" noChangeArrowheads="1"/>
          </p:cNvPicPr>
          <p:nvPr/>
        </p:nvPicPr>
        <p:blipFill>
          <a:blip r:embed="rId2" cstate="print"/>
          <a:srcRect/>
          <a:stretch>
            <a:fillRect/>
          </a:stretch>
        </p:blipFill>
        <p:spPr bwMode="auto">
          <a:xfrm>
            <a:off x="5410200" y="1295400"/>
            <a:ext cx="3333750" cy="2238375"/>
          </a:xfrm>
          <a:prstGeom prst="rect">
            <a:avLst/>
          </a:prstGeom>
          <a:noFill/>
          <a:ln w="9525">
            <a:noFill/>
            <a:miter lim="800000"/>
            <a:headEnd/>
            <a:tailEnd/>
          </a:ln>
          <a:effectLst/>
        </p:spPr>
      </p:pic>
      <p:pic>
        <p:nvPicPr>
          <p:cNvPr id="21510" name="Picture 6"/>
          <p:cNvPicPr>
            <a:picLocks noChangeAspect="1" noChangeArrowheads="1"/>
          </p:cNvPicPr>
          <p:nvPr/>
        </p:nvPicPr>
        <p:blipFill>
          <a:blip r:embed="rId3" cstate="print"/>
          <a:srcRect/>
          <a:stretch>
            <a:fillRect/>
          </a:stretch>
        </p:blipFill>
        <p:spPr bwMode="auto">
          <a:xfrm>
            <a:off x="5715000" y="4038600"/>
            <a:ext cx="2857500" cy="2076450"/>
          </a:xfrm>
          <a:prstGeom prst="rect">
            <a:avLst/>
          </a:prstGeom>
          <a:noFill/>
          <a:ln w="9525">
            <a:noFill/>
            <a:miter lim="800000"/>
            <a:headEnd/>
            <a:tailEnd/>
          </a:ln>
          <a:effectLst/>
        </p:spPr>
      </p:pic>
      <p:sp>
        <p:nvSpPr>
          <p:cNvPr id="11" name="Rectangle 10"/>
          <p:cNvSpPr/>
          <p:nvPr/>
        </p:nvSpPr>
        <p:spPr>
          <a:xfrm>
            <a:off x="381000" y="1143000"/>
            <a:ext cx="4876800" cy="1200329"/>
          </a:xfrm>
          <a:prstGeom prst="rect">
            <a:avLst/>
          </a:prstGeom>
          <a:solidFill>
            <a:schemeClr val="accent6"/>
          </a:solidFill>
        </p:spPr>
        <p:txBody>
          <a:bodyPr wrap="square">
            <a:spAutoFit/>
          </a:bodyPr>
          <a:lstStyle/>
          <a:p>
            <a:r>
              <a:rPr lang="en-US" i="1" dirty="0" smtClean="0">
                <a:solidFill>
                  <a:schemeClr val="bg1"/>
                </a:solidFill>
                <a:latin typeface="+mj-lt"/>
              </a:rPr>
              <a:t>How do you do keep current with a continuously changing codeline and also make progress without being distracted by your environment changing out from under you?</a:t>
            </a:r>
            <a:endParaRPr lang="en-US" i="1" dirty="0">
              <a:solidFill>
                <a:schemeClr val="bg1"/>
              </a:solidFill>
              <a:latin typeface="+mj-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mn-lt"/>
              </a:rPr>
              <a:t>Repository</a:t>
            </a:r>
            <a:endParaRPr lang="en-US" dirty="0">
              <a:latin typeface="+mn-lt"/>
            </a:endParaRPr>
          </a:p>
        </p:txBody>
      </p:sp>
      <p:sp>
        <p:nvSpPr>
          <p:cNvPr id="4" name="Rectangle 3"/>
          <p:cNvSpPr/>
          <p:nvPr/>
        </p:nvSpPr>
        <p:spPr>
          <a:xfrm>
            <a:off x="3962400" y="1143000"/>
            <a:ext cx="4953000" cy="1200329"/>
          </a:xfrm>
          <a:prstGeom prst="rect">
            <a:avLst/>
          </a:prstGeom>
        </p:spPr>
        <p:txBody>
          <a:bodyPr wrap="square">
            <a:spAutoFit/>
          </a:bodyPr>
          <a:lstStyle/>
          <a:p>
            <a:r>
              <a:rPr lang="en-US" dirty="0" smtClean="0">
                <a:latin typeface="+mn-lt"/>
              </a:rPr>
              <a:t>Have a single point of access, or a repository, for your code and related artifacts. Make creating a developer workspace as simple and transparent as possible.</a:t>
            </a:r>
            <a:endParaRPr lang="en-US" dirty="0">
              <a:latin typeface="+mn-lt"/>
            </a:endParaRPr>
          </a:p>
        </p:txBody>
      </p:sp>
      <p:pic>
        <p:nvPicPr>
          <p:cNvPr id="22532" name="Picture 4"/>
          <p:cNvPicPr>
            <a:picLocks noChangeAspect="1" noChangeArrowheads="1"/>
          </p:cNvPicPr>
          <p:nvPr/>
        </p:nvPicPr>
        <p:blipFill>
          <a:blip r:embed="rId2" cstate="print"/>
          <a:srcRect/>
          <a:stretch>
            <a:fillRect/>
          </a:stretch>
        </p:blipFill>
        <p:spPr bwMode="auto">
          <a:xfrm>
            <a:off x="4038600" y="2667000"/>
            <a:ext cx="4762500" cy="3829050"/>
          </a:xfrm>
          <a:prstGeom prst="rect">
            <a:avLst/>
          </a:prstGeom>
          <a:noFill/>
          <a:ln w="9525">
            <a:noFill/>
            <a:miter lim="800000"/>
            <a:headEnd/>
            <a:tailEnd/>
          </a:ln>
          <a:effectLst/>
        </p:spPr>
      </p:pic>
      <p:pic>
        <p:nvPicPr>
          <p:cNvPr id="22533" name="Picture 5"/>
          <p:cNvPicPr>
            <a:picLocks noChangeAspect="1" noChangeArrowheads="1"/>
          </p:cNvPicPr>
          <p:nvPr/>
        </p:nvPicPr>
        <p:blipFill>
          <a:blip r:embed="rId3" cstate="print"/>
          <a:srcRect/>
          <a:stretch>
            <a:fillRect/>
          </a:stretch>
        </p:blipFill>
        <p:spPr bwMode="auto">
          <a:xfrm>
            <a:off x="381000" y="3048000"/>
            <a:ext cx="3352800" cy="2181225"/>
          </a:xfrm>
          <a:prstGeom prst="rect">
            <a:avLst/>
          </a:prstGeom>
          <a:noFill/>
          <a:ln w="9525">
            <a:noFill/>
            <a:miter lim="800000"/>
            <a:headEnd/>
            <a:tailEnd/>
          </a:ln>
          <a:effectLst/>
        </p:spPr>
      </p:pic>
      <p:sp>
        <p:nvSpPr>
          <p:cNvPr id="9" name="Rectangle 8"/>
          <p:cNvSpPr/>
          <p:nvPr/>
        </p:nvSpPr>
        <p:spPr>
          <a:xfrm>
            <a:off x="304800" y="1219200"/>
            <a:ext cx="3581400" cy="923330"/>
          </a:xfrm>
          <a:prstGeom prst="rect">
            <a:avLst/>
          </a:prstGeom>
          <a:solidFill>
            <a:schemeClr val="accent6"/>
          </a:solidFill>
        </p:spPr>
        <p:txBody>
          <a:bodyPr wrap="square">
            <a:spAutoFit/>
          </a:bodyPr>
          <a:lstStyle/>
          <a:p>
            <a:r>
              <a:rPr lang="en-US" i="1" dirty="0" smtClean="0">
                <a:solidFill>
                  <a:schemeClr val="bg1"/>
                </a:solidFill>
                <a:latin typeface="+mn-lt"/>
              </a:rPr>
              <a:t>How do you get the right versions of the right components into a new workspace?</a:t>
            </a:r>
            <a:endParaRPr lang="en-US" i="1" dirty="0">
              <a:solidFill>
                <a:schemeClr val="bg1"/>
              </a:solidFill>
              <a:latin typeface="+mn-lt"/>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Private System Build</a:t>
            </a:r>
            <a:endParaRPr lang="en-US" dirty="0"/>
          </a:p>
        </p:txBody>
      </p:sp>
      <p:sp>
        <p:nvSpPr>
          <p:cNvPr id="4" name="Rectangle 3"/>
          <p:cNvSpPr/>
          <p:nvPr/>
        </p:nvSpPr>
        <p:spPr>
          <a:xfrm>
            <a:off x="381000" y="2667000"/>
            <a:ext cx="3352800" cy="1200329"/>
          </a:xfrm>
          <a:prstGeom prst="rect">
            <a:avLst/>
          </a:prstGeom>
        </p:spPr>
        <p:txBody>
          <a:bodyPr wrap="square">
            <a:spAutoFit/>
          </a:bodyPr>
          <a:lstStyle/>
          <a:p>
            <a:r>
              <a:rPr lang="en-US" dirty="0" smtClean="0">
                <a:latin typeface="+mj-lt"/>
              </a:rPr>
              <a:t>Before making a submission to source control, build the system using a Private System Build similar to the nightly build.</a:t>
            </a:r>
            <a:endParaRPr lang="en-US" dirty="0">
              <a:latin typeface="+mj-lt"/>
            </a:endParaRPr>
          </a:p>
        </p:txBody>
      </p:sp>
      <p:pic>
        <p:nvPicPr>
          <p:cNvPr id="23554" name="Picture 2"/>
          <p:cNvPicPr>
            <a:picLocks noChangeAspect="1" noChangeArrowheads="1"/>
          </p:cNvPicPr>
          <p:nvPr/>
        </p:nvPicPr>
        <p:blipFill>
          <a:blip r:embed="rId2" cstate="print"/>
          <a:srcRect/>
          <a:stretch>
            <a:fillRect/>
          </a:stretch>
        </p:blipFill>
        <p:spPr bwMode="auto">
          <a:xfrm>
            <a:off x="4114800" y="1371600"/>
            <a:ext cx="4762500" cy="4295775"/>
          </a:xfrm>
          <a:prstGeom prst="rect">
            <a:avLst/>
          </a:prstGeom>
          <a:noFill/>
          <a:ln w="9525">
            <a:noFill/>
            <a:miter lim="800000"/>
            <a:headEnd/>
            <a:tailEnd/>
          </a:ln>
          <a:effectLst/>
        </p:spPr>
      </p:pic>
      <p:sp>
        <p:nvSpPr>
          <p:cNvPr id="6" name="Rectangle 5"/>
          <p:cNvSpPr/>
          <p:nvPr/>
        </p:nvSpPr>
        <p:spPr>
          <a:xfrm>
            <a:off x="533400" y="4191000"/>
            <a:ext cx="4572000" cy="1754326"/>
          </a:xfrm>
          <a:prstGeom prst="rect">
            <a:avLst/>
          </a:prstGeom>
        </p:spPr>
        <p:txBody>
          <a:bodyPr>
            <a:spAutoFit/>
          </a:bodyPr>
          <a:lstStyle/>
          <a:p>
            <a:pPr marL="342900" indent="-342900">
              <a:buFont typeface="+mj-lt"/>
              <a:buAutoNum type="arabicPeriod"/>
            </a:pPr>
            <a:r>
              <a:rPr lang="en-US" dirty="0" smtClean="0">
                <a:latin typeface="+mj-lt"/>
              </a:rPr>
              <a:t>Include all dependencies.</a:t>
            </a:r>
          </a:p>
          <a:p>
            <a:pPr marL="342900" indent="-342900">
              <a:buFont typeface="+mj-lt"/>
              <a:buAutoNum type="arabicPeriod"/>
            </a:pPr>
            <a:r>
              <a:rPr lang="en-US" dirty="0" smtClean="0">
                <a:latin typeface="+mj-lt"/>
              </a:rPr>
              <a:t>Can be done in an IDE or other development environment</a:t>
            </a:r>
          </a:p>
          <a:p>
            <a:pPr marL="342900" indent="-342900">
              <a:buFont typeface="+mj-lt"/>
              <a:buAutoNum type="arabicPeriod"/>
            </a:pPr>
            <a:r>
              <a:rPr lang="en-US" dirty="0" smtClean="0">
                <a:latin typeface="+mj-lt"/>
              </a:rPr>
              <a:t>Can skip steps that insert identifying information into the final product</a:t>
            </a:r>
          </a:p>
          <a:p>
            <a:pPr marL="342900" indent="-342900">
              <a:buFont typeface="+mj-lt"/>
              <a:buAutoNum type="arabicPeriod"/>
            </a:pPr>
            <a:r>
              <a:rPr lang="en-US" dirty="0" smtClean="0">
                <a:latin typeface="+mj-lt"/>
              </a:rPr>
              <a:t>Can skip some packaging steps</a:t>
            </a:r>
            <a:endParaRPr lang="en-US" dirty="0">
              <a:latin typeface="+mj-lt"/>
            </a:endParaRPr>
          </a:p>
        </p:txBody>
      </p:sp>
      <p:sp>
        <p:nvSpPr>
          <p:cNvPr id="7" name="Rectangle 6"/>
          <p:cNvSpPr/>
          <p:nvPr/>
        </p:nvSpPr>
        <p:spPr>
          <a:xfrm>
            <a:off x="381000" y="1371600"/>
            <a:ext cx="3886200" cy="923330"/>
          </a:xfrm>
          <a:prstGeom prst="rect">
            <a:avLst/>
          </a:prstGeom>
          <a:solidFill>
            <a:schemeClr val="accent6"/>
          </a:solidFill>
        </p:spPr>
        <p:txBody>
          <a:bodyPr wrap="square">
            <a:spAutoFit/>
          </a:bodyPr>
          <a:lstStyle/>
          <a:p>
            <a:r>
              <a:rPr lang="en-US" i="1" dirty="0" smtClean="0">
                <a:solidFill>
                  <a:schemeClr val="bg1"/>
                </a:solidFill>
                <a:latin typeface="+mj-lt"/>
              </a:rPr>
              <a:t>How do you verify that your changes do not break the build or the system before you check them in?</a:t>
            </a:r>
            <a:endParaRPr lang="en-US" i="1" dirty="0">
              <a:solidFill>
                <a:schemeClr val="bg1"/>
              </a:solidFill>
              <a:latin typeface="+mj-l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Integration Build</a:t>
            </a:r>
            <a:endParaRPr lang="en-US" dirty="0"/>
          </a:p>
        </p:txBody>
      </p:sp>
      <p:sp>
        <p:nvSpPr>
          <p:cNvPr id="4" name="Rectangle 3"/>
          <p:cNvSpPr/>
          <p:nvPr/>
        </p:nvSpPr>
        <p:spPr>
          <a:xfrm>
            <a:off x="381000" y="2133600"/>
            <a:ext cx="2895600" cy="1200329"/>
          </a:xfrm>
          <a:prstGeom prst="rect">
            <a:avLst/>
          </a:prstGeom>
        </p:spPr>
        <p:txBody>
          <a:bodyPr wrap="square">
            <a:spAutoFit/>
          </a:bodyPr>
          <a:lstStyle/>
          <a:p>
            <a:r>
              <a:rPr lang="en-US" dirty="0" smtClean="0">
                <a:latin typeface="+mj-lt"/>
              </a:rPr>
              <a:t>Be sure that all changes (and their dependencies) are built using a central integration build process.</a:t>
            </a:r>
            <a:endParaRPr lang="en-US" dirty="0">
              <a:latin typeface="+mj-lt"/>
            </a:endParaRPr>
          </a:p>
        </p:txBody>
      </p:sp>
      <p:pic>
        <p:nvPicPr>
          <p:cNvPr id="24578" name="Picture 2"/>
          <p:cNvPicPr>
            <a:picLocks noChangeAspect="1" noChangeArrowheads="1"/>
          </p:cNvPicPr>
          <p:nvPr/>
        </p:nvPicPr>
        <p:blipFill>
          <a:blip r:embed="rId2" cstate="print"/>
          <a:srcRect/>
          <a:stretch>
            <a:fillRect/>
          </a:stretch>
        </p:blipFill>
        <p:spPr bwMode="auto">
          <a:xfrm>
            <a:off x="3810000" y="1219200"/>
            <a:ext cx="4762500" cy="3457575"/>
          </a:xfrm>
          <a:prstGeom prst="rect">
            <a:avLst/>
          </a:prstGeom>
          <a:noFill/>
          <a:ln w="9525">
            <a:noFill/>
            <a:miter lim="800000"/>
            <a:headEnd/>
            <a:tailEnd/>
          </a:ln>
          <a:effectLst/>
        </p:spPr>
      </p:pic>
      <p:sp>
        <p:nvSpPr>
          <p:cNvPr id="6" name="Rectangle 5"/>
          <p:cNvSpPr/>
          <p:nvPr/>
        </p:nvSpPr>
        <p:spPr>
          <a:xfrm>
            <a:off x="457200" y="3810000"/>
            <a:ext cx="4572000" cy="2031325"/>
          </a:xfrm>
          <a:prstGeom prst="rect">
            <a:avLst/>
          </a:prstGeom>
        </p:spPr>
        <p:txBody>
          <a:bodyPr>
            <a:spAutoFit/>
          </a:bodyPr>
          <a:lstStyle/>
          <a:p>
            <a:pPr marL="342900" indent="-342900">
              <a:buFont typeface="+mj-lt"/>
              <a:buAutoNum type="arabicPeriod"/>
            </a:pPr>
            <a:r>
              <a:rPr lang="en-US" dirty="0" smtClean="0">
                <a:latin typeface="+mj-lt"/>
              </a:rPr>
              <a:t>Reproducible.</a:t>
            </a:r>
          </a:p>
          <a:p>
            <a:pPr marL="342900" indent="-342900">
              <a:buFont typeface="+mj-lt"/>
              <a:buAutoNum type="arabicPeriod"/>
            </a:pPr>
            <a:r>
              <a:rPr lang="en-US" dirty="0" smtClean="0">
                <a:latin typeface="+mj-lt"/>
              </a:rPr>
              <a:t>As close as possible to the final product build. </a:t>
            </a:r>
          </a:p>
          <a:p>
            <a:pPr marL="342900" indent="-342900">
              <a:buFont typeface="+mj-lt"/>
              <a:buAutoNum type="arabicPeriod"/>
            </a:pPr>
            <a:r>
              <a:rPr lang="en-US" dirty="0" smtClean="0">
                <a:latin typeface="+mj-lt"/>
              </a:rPr>
              <a:t>Automated or requiring minimal intervention to work.</a:t>
            </a:r>
          </a:p>
          <a:p>
            <a:pPr marL="342900" indent="-342900">
              <a:buFont typeface="+mj-lt"/>
              <a:buAutoNum type="arabicPeriod"/>
            </a:pPr>
            <a:r>
              <a:rPr lang="en-US" dirty="0" smtClean="0">
                <a:latin typeface="+mj-lt"/>
              </a:rPr>
              <a:t>A notification or logging mechanism to identify errors and inconsistencies.</a:t>
            </a:r>
            <a:endParaRPr lang="en-US" dirty="0">
              <a:latin typeface="+mj-lt"/>
            </a:endParaRPr>
          </a:p>
        </p:txBody>
      </p:sp>
      <p:sp>
        <p:nvSpPr>
          <p:cNvPr id="7" name="Rectangle 6"/>
          <p:cNvSpPr/>
          <p:nvPr/>
        </p:nvSpPr>
        <p:spPr>
          <a:xfrm>
            <a:off x="533400" y="1295400"/>
            <a:ext cx="4572000" cy="646331"/>
          </a:xfrm>
          <a:prstGeom prst="rect">
            <a:avLst/>
          </a:prstGeom>
          <a:solidFill>
            <a:schemeClr val="accent6"/>
          </a:solidFill>
        </p:spPr>
        <p:txBody>
          <a:bodyPr>
            <a:spAutoFit/>
          </a:bodyPr>
          <a:lstStyle/>
          <a:p>
            <a:r>
              <a:rPr lang="en-US" i="1" dirty="0" smtClean="0">
                <a:solidFill>
                  <a:schemeClr val="bg1"/>
                </a:solidFill>
                <a:latin typeface="+mj-lt"/>
              </a:rPr>
              <a:t>How do you make sure that the code base always builds reliably?</a:t>
            </a:r>
            <a:endParaRPr lang="en-US" i="1" dirty="0">
              <a:solidFill>
                <a:schemeClr val="bg1"/>
              </a:solidFill>
              <a:latin typeface="+mj-l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Third Party Codeline</a:t>
            </a:r>
            <a:endParaRPr lang="en-US" dirty="0"/>
          </a:p>
        </p:txBody>
      </p:sp>
      <p:pic>
        <p:nvPicPr>
          <p:cNvPr id="25602" name="Picture 2"/>
          <p:cNvPicPr>
            <a:picLocks noChangeAspect="1" noChangeArrowheads="1"/>
          </p:cNvPicPr>
          <p:nvPr/>
        </p:nvPicPr>
        <p:blipFill>
          <a:blip r:embed="rId2" cstate="print"/>
          <a:srcRect/>
          <a:stretch>
            <a:fillRect/>
          </a:stretch>
        </p:blipFill>
        <p:spPr bwMode="auto">
          <a:xfrm>
            <a:off x="4381500" y="1143000"/>
            <a:ext cx="4762500" cy="1895475"/>
          </a:xfrm>
          <a:prstGeom prst="rect">
            <a:avLst/>
          </a:prstGeom>
          <a:noFill/>
          <a:ln w="9525">
            <a:noFill/>
            <a:miter lim="800000"/>
            <a:headEnd/>
            <a:tailEnd/>
          </a:ln>
          <a:effectLst/>
        </p:spPr>
      </p:pic>
      <p:sp>
        <p:nvSpPr>
          <p:cNvPr id="5" name="Rectangle 4"/>
          <p:cNvSpPr/>
          <p:nvPr/>
        </p:nvSpPr>
        <p:spPr>
          <a:xfrm>
            <a:off x="0" y="1981200"/>
            <a:ext cx="4191000" cy="923330"/>
          </a:xfrm>
          <a:prstGeom prst="rect">
            <a:avLst/>
          </a:prstGeom>
        </p:spPr>
        <p:txBody>
          <a:bodyPr wrap="square">
            <a:spAutoFit/>
          </a:bodyPr>
          <a:lstStyle/>
          <a:p>
            <a:r>
              <a:rPr lang="en-US" dirty="0" smtClean="0">
                <a:latin typeface="+mj-lt"/>
              </a:rPr>
              <a:t>Create a codeline for third-party code. Build workspaces and installation kits from this codeline.</a:t>
            </a:r>
            <a:endParaRPr lang="en-US" dirty="0">
              <a:latin typeface="+mj-lt"/>
            </a:endParaRPr>
          </a:p>
        </p:txBody>
      </p:sp>
      <p:pic>
        <p:nvPicPr>
          <p:cNvPr id="25603" name="Picture 3"/>
          <p:cNvPicPr>
            <a:picLocks noChangeAspect="1" noChangeArrowheads="1"/>
          </p:cNvPicPr>
          <p:nvPr/>
        </p:nvPicPr>
        <p:blipFill>
          <a:blip r:embed="rId3" cstate="print"/>
          <a:srcRect/>
          <a:stretch>
            <a:fillRect/>
          </a:stretch>
        </p:blipFill>
        <p:spPr bwMode="auto">
          <a:xfrm>
            <a:off x="685800" y="5486400"/>
            <a:ext cx="4762500" cy="1219200"/>
          </a:xfrm>
          <a:prstGeom prst="rect">
            <a:avLst/>
          </a:prstGeom>
          <a:noFill/>
          <a:ln w="9525">
            <a:noFill/>
            <a:miter lim="800000"/>
            <a:headEnd/>
            <a:tailEnd/>
          </a:ln>
          <a:effectLst/>
        </p:spPr>
      </p:pic>
      <p:pic>
        <p:nvPicPr>
          <p:cNvPr id="25605" name="Picture 5"/>
          <p:cNvPicPr>
            <a:picLocks noChangeAspect="1" noChangeArrowheads="1"/>
          </p:cNvPicPr>
          <p:nvPr/>
        </p:nvPicPr>
        <p:blipFill>
          <a:blip r:embed="rId4" cstate="print"/>
          <a:srcRect/>
          <a:stretch>
            <a:fillRect/>
          </a:stretch>
        </p:blipFill>
        <p:spPr bwMode="auto">
          <a:xfrm>
            <a:off x="6096000" y="4495800"/>
            <a:ext cx="2857500" cy="2143125"/>
          </a:xfrm>
          <a:prstGeom prst="rect">
            <a:avLst/>
          </a:prstGeom>
          <a:noFill/>
          <a:ln w="9525">
            <a:noFill/>
            <a:miter lim="800000"/>
            <a:headEnd/>
            <a:tailEnd/>
          </a:ln>
          <a:effectLst/>
        </p:spPr>
      </p:pic>
      <p:sp>
        <p:nvSpPr>
          <p:cNvPr id="9" name="Rectangle 8"/>
          <p:cNvSpPr/>
          <p:nvPr/>
        </p:nvSpPr>
        <p:spPr>
          <a:xfrm>
            <a:off x="0" y="2895600"/>
            <a:ext cx="6477000" cy="2585323"/>
          </a:xfrm>
          <a:prstGeom prst="rect">
            <a:avLst/>
          </a:prstGeom>
        </p:spPr>
        <p:txBody>
          <a:bodyPr wrap="square">
            <a:spAutoFit/>
          </a:bodyPr>
          <a:lstStyle/>
          <a:p>
            <a:pPr marL="342900" indent="-342900">
              <a:buFont typeface="+mj-lt"/>
              <a:buAutoNum type="arabicPeriod"/>
            </a:pPr>
            <a:r>
              <a:rPr lang="en-US" dirty="0" smtClean="0">
                <a:latin typeface="+mj-lt"/>
              </a:rPr>
              <a:t>Add the vendor code to the appropriate directory of a vendor codeline. </a:t>
            </a:r>
          </a:p>
          <a:p>
            <a:pPr marL="342900" indent="-342900">
              <a:buFont typeface="+mj-lt"/>
              <a:buAutoNum type="arabicPeriod"/>
            </a:pPr>
            <a:r>
              <a:rPr lang="en-US" dirty="0" smtClean="0">
                <a:latin typeface="+mj-lt"/>
              </a:rPr>
              <a:t>Label the check-in point</a:t>
            </a:r>
          </a:p>
          <a:p>
            <a:pPr marL="342900" indent="-342900">
              <a:buFont typeface="+mj-lt"/>
              <a:buAutoNum type="arabicPeriod"/>
            </a:pPr>
            <a:r>
              <a:rPr lang="en-US" dirty="0" smtClean="0">
                <a:latin typeface="+mj-lt"/>
              </a:rPr>
              <a:t>Immediately branch this new codeline.</a:t>
            </a:r>
          </a:p>
          <a:p>
            <a:pPr marL="342900" indent="-342900">
              <a:buFont typeface="+mj-lt"/>
              <a:buAutoNum type="arabicPeriod"/>
            </a:pPr>
            <a:r>
              <a:rPr lang="en-US" dirty="0" smtClean="0">
                <a:latin typeface="+mj-lt"/>
              </a:rPr>
              <a:t>Check in derived objects here to save time and effort</a:t>
            </a:r>
          </a:p>
          <a:p>
            <a:pPr marL="342900" indent="-342900">
              <a:buFont typeface="+mj-lt"/>
              <a:buAutoNum type="arabicPeriod"/>
            </a:pPr>
            <a:r>
              <a:rPr lang="en-US" dirty="0" smtClean="0">
                <a:latin typeface="+mj-lt"/>
              </a:rPr>
              <a:t>When a new vendor release appears, add it to the mainline portion of the vendor codeline. </a:t>
            </a:r>
          </a:p>
          <a:p>
            <a:pPr marL="342900" indent="-342900">
              <a:buFont typeface="+mj-lt"/>
              <a:buAutoNum type="arabicPeriod"/>
            </a:pPr>
            <a:r>
              <a:rPr lang="en-US" dirty="0" smtClean="0">
                <a:latin typeface="+mj-lt"/>
              </a:rPr>
              <a:t>Branch again, and merge any relevant changes from the </a:t>
            </a:r>
          </a:p>
          <a:p>
            <a:pPr marL="342900" indent="-342900"/>
            <a:r>
              <a:rPr lang="en-US" dirty="0" smtClean="0">
                <a:latin typeface="+mj-lt"/>
              </a:rPr>
              <a:t>prior branch into the new branch.</a:t>
            </a:r>
            <a:endParaRPr lang="en-US" dirty="0">
              <a:latin typeface="+mj-lt"/>
            </a:endParaRPr>
          </a:p>
        </p:txBody>
      </p:sp>
      <p:sp>
        <p:nvSpPr>
          <p:cNvPr id="10" name="Rectangle 9"/>
          <p:cNvSpPr/>
          <p:nvPr/>
        </p:nvSpPr>
        <p:spPr>
          <a:xfrm>
            <a:off x="228600" y="1143000"/>
            <a:ext cx="4572000" cy="923330"/>
          </a:xfrm>
          <a:prstGeom prst="rect">
            <a:avLst/>
          </a:prstGeom>
          <a:solidFill>
            <a:schemeClr val="accent6"/>
          </a:solidFill>
        </p:spPr>
        <p:txBody>
          <a:bodyPr>
            <a:spAutoFit/>
          </a:bodyPr>
          <a:lstStyle/>
          <a:p>
            <a:r>
              <a:rPr lang="en-US" i="1" dirty="0" smtClean="0">
                <a:solidFill>
                  <a:schemeClr val="bg1"/>
                </a:solidFill>
                <a:latin typeface="+mj-lt"/>
              </a:rPr>
              <a:t>What is the most effective strategy to coordinate versions of vendor code with versions of product code?</a:t>
            </a:r>
            <a:endParaRPr lang="en-US" i="1" dirty="0">
              <a:solidFill>
                <a:schemeClr val="bg1"/>
              </a:solidFill>
              <a:latin typeface="+mj-l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Task Level Commit</a:t>
            </a:r>
            <a:endParaRPr lang="en-US" dirty="0"/>
          </a:p>
        </p:txBody>
      </p:sp>
      <p:sp>
        <p:nvSpPr>
          <p:cNvPr id="4" name="Rectangle 3"/>
          <p:cNvSpPr/>
          <p:nvPr/>
        </p:nvSpPr>
        <p:spPr>
          <a:xfrm>
            <a:off x="381000" y="2819400"/>
            <a:ext cx="3657600" cy="646331"/>
          </a:xfrm>
          <a:prstGeom prst="rect">
            <a:avLst/>
          </a:prstGeom>
        </p:spPr>
        <p:txBody>
          <a:bodyPr wrap="square">
            <a:spAutoFit/>
          </a:bodyPr>
          <a:lstStyle/>
          <a:p>
            <a:r>
              <a:rPr lang="en-US" dirty="0" smtClean="0">
                <a:latin typeface="+mj-lt"/>
              </a:rPr>
              <a:t>Do one commit per small-grained, consistent task.</a:t>
            </a:r>
            <a:endParaRPr lang="en-US" dirty="0">
              <a:latin typeface="+mj-lt"/>
            </a:endParaRPr>
          </a:p>
        </p:txBody>
      </p:sp>
      <p:sp>
        <p:nvSpPr>
          <p:cNvPr id="26626" name="AutoShape 2" descr="graphics/11infig01.gif"/>
          <p:cNvSpPr>
            <a:spLocks noChangeAspect="1" noChangeArrowheads="1"/>
          </p:cNvSpPr>
          <p:nvPr/>
        </p:nvSpPr>
        <p:spPr bwMode="auto">
          <a:xfrm>
            <a:off x="155575" y="-2400300"/>
            <a:ext cx="3810000" cy="5010150"/>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6627" name="Picture 3"/>
          <p:cNvPicPr>
            <a:picLocks noChangeAspect="1" noChangeArrowheads="1"/>
          </p:cNvPicPr>
          <p:nvPr/>
        </p:nvPicPr>
        <p:blipFill>
          <a:blip r:embed="rId2" cstate="print"/>
          <a:srcRect/>
          <a:stretch>
            <a:fillRect/>
          </a:stretch>
        </p:blipFill>
        <p:spPr bwMode="auto">
          <a:xfrm>
            <a:off x="4724400" y="1295400"/>
            <a:ext cx="3810000" cy="5010150"/>
          </a:xfrm>
          <a:prstGeom prst="rect">
            <a:avLst/>
          </a:prstGeom>
          <a:noFill/>
          <a:ln w="9525">
            <a:noFill/>
            <a:miter lim="800000"/>
            <a:headEnd/>
            <a:tailEnd/>
          </a:ln>
          <a:effectLst/>
        </p:spPr>
      </p:pic>
      <p:sp>
        <p:nvSpPr>
          <p:cNvPr id="7" name="Rectangle 6"/>
          <p:cNvSpPr/>
          <p:nvPr/>
        </p:nvSpPr>
        <p:spPr>
          <a:xfrm>
            <a:off x="304800" y="1295400"/>
            <a:ext cx="4038600" cy="1200329"/>
          </a:xfrm>
          <a:prstGeom prst="rect">
            <a:avLst/>
          </a:prstGeom>
          <a:solidFill>
            <a:schemeClr val="accent6"/>
          </a:solidFill>
        </p:spPr>
        <p:txBody>
          <a:bodyPr wrap="square">
            <a:spAutoFit/>
          </a:bodyPr>
          <a:lstStyle/>
          <a:p>
            <a:r>
              <a:rPr lang="en-US" i="1" dirty="0" smtClean="0">
                <a:solidFill>
                  <a:schemeClr val="bg1"/>
                </a:solidFill>
                <a:latin typeface="+mj-lt"/>
              </a:rPr>
              <a:t>How much work should you do between submissions to the version control system? How long should you wait before checking files in?</a:t>
            </a:r>
            <a:endParaRPr lang="en-US" i="1" dirty="0">
              <a:solidFill>
                <a:schemeClr val="bg1"/>
              </a:solidFill>
              <a:latin typeface="+mj-l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Codeline Policy</a:t>
            </a:r>
            <a:endParaRPr lang="en-US" dirty="0"/>
          </a:p>
        </p:txBody>
      </p:sp>
      <p:sp>
        <p:nvSpPr>
          <p:cNvPr id="4" name="Rectangle 3"/>
          <p:cNvSpPr/>
          <p:nvPr/>
        </p:nvSpPr>
        <p:spPr>
          <a:xfrm>
            <a:off x="381000" y="2133600"/>
            <a:ext cx="4038600" cy="1200329"/>
          </a:xfrm>
          <a:prstGeom prst="rect">
            <a:avLst/>
          </a:prstGeom>
        </p:spPr>
        <p:txBody>
          <a:bodyPr wrap="square">
            <a:spAutoFit/>
          </a:bodyPr>
          <a:lstStyle/>
          <a:p>
            <a:r>
              <a:rPr lang="en-US" dirty="0" smtClean="0">
                <a:latin typeface="+mj-lt"/>
              </a:rPr>
              <a:t>For each branch or codeline, formulate a policy that determines how and when developers should make changes. The policy should be concise and auditable.</a:t>
            </a:r>
            <a:endParaRPr lang="en-US" dirty="0">
              <a:latin typeface="+mj-lt"/>
            </a:endParaRPr>
          </a:p>
        </p:txBody>
      </p:sp>
      <p:pic>
        <p:nvPicPr>
          <p:cNvPr id="27650" name="Picture 2"/>
          <p:cNvPicPr>
            <a:picLocks noChangeAspect="1" noChangeArrowheads="1"/>
          </p:cNvPicPr>
          <p:nvPr/>
        </p:nvPicPr>
        <p:blipFill>
          <a:blip r:embed="rId2" cstate="print"/>
          <a:srcRect/>
          <a:stretch>
            <a:fillRect/>
          </a:stretch>
        </p:blipFill>
        <p:spPr bwMode="auto">
          <a:xfrm>
            <a:off x="4648200" y="1295400"/>
            <a:ext cx="3619500" cy="4857750"/>
          </a:xfrm>
          <a:prstGeom prst="rect">
            <a:avLst/>
          </a:prstGeom>
          <a:noFill/>
          <a:ln w="9525">
            <a:noFill/>
            <a:miter lim="800000"/>
            <a:headEnd/>
            <a:tailEnd/>
          </a:ln>
          <a:effectLst/>
        </p:spPr>
      </p:pic>
      <p:sp>
        <p:nvSpPr>
          <p:cNvPr id="6" name="Rectangle 5"/>
          <p:cNvSpPr/>
          <p:nvPr/>
        </p:nvSpPr>
        <p:spPr>
          <a:xfrm>
            <a:off x="457200" y="3581400"/>
            <a:ext cx="4038600" cy="2862322"/>
          </a:xfrm>
          <a:prstGeom prst="rect">
            <a:avLst/>
          </a:prstGeom>
        </p:spPr>
        <p:txBody>
          <a:bodyPr wrap="square">
            <a:spAutoFit/>
          </a:bodyPr>
          <a:lstStyle/>
          <a:p>
            <a:pPr marL="342900" indent="-342900">
              <a:buFont typeface="+mj-lt"/>
              <a:buAutoNum type="arabicPeriod"/>
            </a:pPr>
            <a:r>
              <a:rPr lang="en-US" dirty="0" smtClean="0">
                <a:latin typeface="+mj-lt"/>
              </a:rPr>
              <a:t>The kind of work encapsulated by the codeline</a:t>
            </a:r>
          </a:p>
          <a:p>
            <a:pPr marL="342900" indent="-342900">
              <a:buFont typeface="+mj-lt"/>
              <a:buAutoNum type="arabicPeriod"/>
            </a:pPr>
            <a:r>
              <a:rPr lang="en-US" dirty="0" smtClean="0">
                <a:latin typeface="+mj-lt"/>
              </a:rPr>
              <a:t>How and when elements should be checked in, checked out, branched, and merged</a:t>
            </a:r>
          </a:p>
          <a:p>
            <a:pPr marL="342900" indent="-342900">
              <a:buFont typeface="+mj-lt"/>
              <a:buAutoNum type="arabicPeriod"/>
            </a:pPr>
            <a:r>
              <a:rPr lang="en-US" dirty="0" smtClean="0">
                <a:latin typeface="+mj-lt"/>
              </a:rPr>
              <a:t>Access restrictions for various individuals, roles, and groups</a:t>
            </a:r>
          </a:p>
          <a:p>
            <a:pPr marL="342900" indent="-342900">
              <a:buFont typeface="+mj-lt"/>
              <a:buAutoNum type="arabicPeriod"/>
            </a:pPr>
            <a:r>
              <a:rPr lang="en-US" dirty="0" smtClean="0">
                <a:latin typeface="+mj-lt"/>
              </a:rPr>
              <a:t>Import/export relationships</a:t>
            </a:r>
          </a:p>
          <a:p>
            <a:pPr marL="342900" indent="-342900">
              <a:buFont typeface="+mj-lt"/>
              <a:buAutoNum type="arabicPeriod"/>
            </a:pPr>
            <a:r>
              <a:rPr lang="en-US" dirty="0" smtClean="0">
                <a:latin typeface="+mj-lt"/>
              </a:rPr>
              <a:t>The expected activity load and frequency of integration</a:t>
            </a:r>
            <a:endParaRPr lang="en-US" dirty="0">
              <a:latin typeface="+mj-lt"/>
            </a:endParaRPr>
          </a:p>
        </p:txBody>
      </p:sp>
      <p:sp>
        <p:nvSpPr>
          <p:cNvPr id="7" name="Rectangle 6"/>
          <p:cNvSpPr/>
          <p:nvPr/>
        </p:nvSpPr>
        <p:spPr>
          <a:xfrm>
            <a:off x="304800" y="1219200"/>
            <a:ext cx="4572000" cy="923330"/>
          </a:xfrm>
          <a:prstGeom prst="rect">
            <a:avLst/>
          </a:prstGeom>
          <a:solidFill>
            <a:schemeClr val="accent6"/>
          </a:solidFill>
        </p:spPr>
        <p:txBody>
          <a:bodyPr>
            <a:spAutoFit/>
          </a:bodyPr>
          <a:lstStyle/>
          <a:p>
            <a:r>
              <a:rPr lang="en-US" i="1" dirty="0" smtClean="0">
                <a:solidFill>
                  <a:schemeClr val="bg1"/>
                </a:solidFill>
                <a:latin typeface="+mj-lt"/>
              </a:rPr>
              <a:t>How do the developers know which codeline to check their code in to, when to check it in, and what tests to run before check-in?</a:t>
            </a:r>
            <a:endParaRPr lang="en-US" i="1" dirty="0">
              <a:solidFill>
                <a:schemeClr val="bg1"/>
              </a:solidFill>
              <a:latin typeface="+mj-l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Unit Test</a:t>
            </a:r>
            <a:endParaRPr lang="en-US" dirty="0"/>
          </a:p>
        </p:txBody>
      </p:sp>
      <p:sp>
        <p:nvSpPr>
          <p:cNvPr id="4" name="Rectangle 3"/>
          <p:cNvSpPr/>
          <p:nvPr/>
        </p:nvSpPr>
        <p:spPr>
          <a:xfrm>
            <a:off x="228600" y="1219200"/>
            <a:ext cx="8077200" cy="369332"/>
          </a:xfrm>
          <a:prstGeom prst="rect">
            <a:avLst/>
          </a:prstGeom>
          <a:solidFill>
            <a:schemeClr val="accent6"/>
          </a:solidFill>
        </p:spPr>
        <p:txBody>
          <a:bodyPr wrap="square">
            <a:spAutoFit/>
          </a:bodyPr>
          <a:lstStyle/>
          <a:p>
            <a:r>
              <a:rPr lang="en-US" i="1" dirty="0" smtClean="0">
                <a:solidFill>
                  <a:schemeClr val="bg1"/>
                </a:solidFill>
                <a:latin typeface="+mj-lt"/>
              </a:rPr>
              <a:t>How do you test whether a module still works as it should after you make a change?</a:t>
            </a:r>
            <a:endParaRPr lang="en-US" i="1" dirty="0">
              <a:solidFill>
                <a:schemeClr val="bg1"/>
              </a:solidFill>
              <a:latin typeface="+mj-lt"/>
            </a:endParaRPr>
          </a:p>
        </p:txBody>
      </p:sp>
      <p:sp>
        <p:nvSpPr>
          <p:cNvPr id="5" name="Rectangle 4"/>
          <p:cNvSpPr/>
          <p:nvPr/>
        </p:nvSpPr>
        <p:spPr>
          <a:xfrm>
            <a:off x="381000" y="2057400"/>
            <a:ext cx="2720168" cy="369332"/>
          </a:xfrm>
          <a:prstGeom prst="rect">
            <a:avLst/>
          </a:prstGeom>
        </p:spPr>
        <p:txBody>
          <a:bodyPr wrap="none">
            <a:spAutoFit/>
          </a:bodyPr>
          <a:lstStyle/>
          <a:p>
            <a:r>
              <a:rPr lang="en-US" dirty="0" smtClean="0">
                <a:latin typeface="+mj-lt"/>
              </a:rPr>
              <a:t>Develop and run unit tests.</a:t>
            </a:r>
            <a:endParaRPr lang="en-US" dirty="0">
              <a:latin typeface="+mj-lt"/>
            </a:endParaRPr>
          </a:p>
        </p:txBody>
      </p:sp>
      <p:sp>
        <p:nvSpPr>
          <p:cNvPr id="29698" name="AutoShape 2" descr="graphics/14infig01.gif"/>
          <p:cNvSpPr>
            <a:spLocks noChangeAspect="1" noChangeArrowheads="1"/>
          </p:cNvSpPr>
          <p:nvPr/>
        </p:nvSpPr>
        <p:spPr bwMode="auto">
          <a:xfrm>
            <a:off x="155575" y="-2400300"/>
            <a:ext cx="3810000" cy="5010150"/>
          </a:xfrm>
          <a:prstGeom prst="rect">
            <a:avLst/>
          </a:prstGeom>
          <a:noFill/>
        </p:spPr>
        <p:txBody>
          <a:bodyPr vert="horz" wrap="square" lIns="91440" tIns="45720" rIns="91440" bIns="45720" numCol="1" anchor="t" anchorCtr="0" compatLnSpc="1">
            <a:prstTxWarp prst="textNoShape">
              <a:avLst/>
            </a:prstTxWarp>
          </a:bodyPr>
          <a:lstStyle/>
          <a:p>
            <a:endParaRPr lang="en-US">
              <a:latin typeface="+mj-lt"/>
            </a:endParaRPr>
          </a:p>
        </p:txBody>
      </p:sp>
      <p:pic>
        <p:nvPicPr>
          <p:cNvPr id="29699" name="Picture 3"/>
          <p:cNvPicPr>
            <a:picLocks noChangeAspect="1" noChangeArrowheads="1"/>
          </p:cNvPicPr>
          <p:nvPr/>
        </p:nvPicPr>
        <p:blipFill>
          <a:blip r:embed="rId2" cstate="print"/>
          <a:srcRect/>
          <a:stretch>
            <a:fillRect/>
          </a:stretch>
        </p:blipFill>
        <p:spPr bwMode="auto">
          <a:xfrm>
            <a:off x="5029200" y="1676400"/>
            <a:ext cx="3810000" cy="5010150"/>
          </a:xfrm>
          <a:prstGeom prst="rect">
            <a:avLst/>
          </a:prstGeom>
          <a:noFill/>
          <a:ln w="9525">
            <a:noFill/>
            <a:miter lim="800000"/>
            <a:headEnd/>
            <a:tailEnd/>
          </a:ln>
          <a:effectLst/>
        </p:spPr>
      </p:pic>
      <p:sp>
        <p:nvSpPr>
          <p:cNvPr id="8" name="Rectangle 7"/>
          <p:cNvSpPr/>
          <p:nvPr/>
        </p:nvSpPr>
        <p:spPr>
          <a:xfrm>
            <a:off x="381000" y="3200400"/>
            <a:ext cx="4572000" cy="2031325"/>
          </a:xfrm>
          <a:prstGeom prst="rect">
            <a:avLst/>
          </a:prstGeom>
        </p:spPr>
        <p:txBody>
          <a:bodyPr>
            <a:spAutoFit/>
          </a:bodyPr>
          <a:lstStyle/>
          <a:p>
            <a:pPr marL="342900" indent="-342900">
              <a:buFont typeface="+mj-lt"/>
              <a:buAutoNum type="arabicPeriod"/>
            </a:pPr>
            <a:r>
              <a:rPr lang="en-US" dirty="0" smtClean="0">
                <a:latin typeface="+mj-lt"/>
              </a:rPr>
              <a:t>It is automatic and self-evaluating.</a:t>
            </a:r>
          </a:p>
          <a:p>
            <a:pPr marL="342900" indent="-342900">
              <a:buFont typeface="+mj-lt"/>
              <a:buAutoNum type="arabicPeriod"/>
            </a:pPr>
            <a:r>
              <a:rPr lang="en-US" dirty="0" smtClean="0">
                <a:latin typeface="+mj-lt"/>
              </a:rPr>
              <a:t>It is fine-grained.</a:t>
            </a:r>
          </a:p>
          <a:p>
            <a:pPr marL="342900" indent="-342900">
              <a:buFont typeface="+mj-lt"/>
              <a:buAutoNum type="arabicPeriod"/>
            </a:pPr>
            <a:r>
              <a:rPr lang="en-US" dirty="0" smtClean="0">
                <a:latin typeface="+mj-lt"/>
              </a:rPr>
              <a:t>It is isolated.</a:t>
            </a:r>
          </a:p>
          <a:p>
            <a:pPr marL="342900" indent="-342900">
              <a:buFont typeface="+mj-lt"/>
              <a:buAutoNum type="arabicPeriod"/>
            </a:pPr>
            <a:r>
              <a:rPr lang="en-US" dirty="0" smtClean="0">
                <a:latin typeface="+mj-lt"/>
              </a:rPr>
              <a:t>It tests the contract. </a:t>
            </a:r>
          </a:p>
          <a:p>
            <a:pPr marL="342900" indent="-342900">
              <a:buFont typeface="+mj-lt"/>
              <a:buAutoNum type="arabicPeriod"/>
            </a:pPr>
            <a:r>
              <a:rPr lang="en-US" dirty="0" smtClean="0">
                <a:latin typeface="+mj-lt"/>
              </a:rPr>
              <a:t>It is simple to run.</a:t>
            </a:r>
          </a:p>
          <a:p>
            <a:pPr marL="342900" indent="-342900">
              <a:buFont typeface="+mj-lt"/>
              <a:buAutoNum type="arabicPeriod"/>
            </a:pPr>
            <a:r>
              <a:rPr lang="en-US" dirty="0" smtClean="0">
                <a:latin typeface="+mj-lt"/>
              </a:rPr>
              <a:t>You should run unit tests while you are coding</a:t>
            </a:r>
            <a:endParaRPr lang="en-US" dirty="0">
              <a:latin typeface="+mj-l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Smoke Test</a:t>
            </a:r>
            <a:endParaRPr lang="en-US" dirty="0"/>
          </a:p>
        </p:txBody>
      </p:sp>
      <p:sp>
        <p:nvSpPr>
          <p:cNvPr id="4" name="Rectangle 3"/>
          <p:cNvSpPr/>
          <p:nvPr/>
        </p:nvSpPr>
        <p:spPr>
          <a:xfrm>
            <a:off x="381000" y="1905000"/>
            <a:ext cx="7772400" cy="646331"/>
          </a:xfrm>
          <a:prstGeom prst="rect">
            <a:avLst/>
          </a:prstGeom>
        </p:spPr>
        <p:txBody>
          <a:bodyPr wrap="square">
            <a:spAutoFit/>
          </a:bodyPr>
          <a:lstStyle/>
          <a:p>
            <a:r>
              <a:rPr lang="en-US" dirty="0" smtClean="0">
                <a:latin typeface="+mj-lt"/>
              </a:rPr>
              <a:t>Subject each build to a smoke test that verifies that the application has not broken in an obvious way.</a:t>
            </a:r>
            <a:endParaRPr lang="en-US" dirty="0">
              <a:latin typeface="+mj-lt"/>
            </a:endParaRPr>
          </a:p>
        </p:txBody>
      </p:sp>
      <p:sp>
        <p:nvSpPr>
          <p:cNvPr id="5" name="Rectangle 4"/>
          <p:cNvSpPr/>
          <p:nvPr/>
        </p:nvSpPr>
        <p:spPr>
          <a:xfrm>
            <a:off x="381000" y="1295400"/>
            <a:ext cx="8001000" cy="369332"/>
          </a:xfrm>
          <a:prstGeom prst="rect">
            <a:avLst/>
          </a:prstGeom>
          <a:solidFill>
            <a:schemeClr val="accent6"/>
          </a:solidFill>
        </p:spPr>
        <p:txBody>
          <a:bodyPr wrap="square">
            <a:spAutoFit/>
          </a:bodyPr>
          <a:lstStyle/>
          <a:p>
            <a:r>
              <a:rPr lang="en-US" i="1" dirty="0" smtClean="0">
                <a:solidFill>
                  <a:schemeClr val="bg1"/>
                </a:solidFill>
                <a:latin typeface="+mj-lt"/>
              </a:rPr>
              <a:t>How do you know that the system will still work after you make a change?</a:t>
            </a:r>
            <a:endParaRPr lang="en-US" i="1" dirty="0">
              <a:solidFill>
                <a:schemeClr val="bg1"/>
              </a:solidFill>
              <a:latin typeface="+mj-lt"/>
            </a:endParaRPr>
          </a:p>
        </p:txBody>
      </p:sp>
      <p:sp>
        <p:nvSpPr>
          <p:cNvPr id="6" name="Rectangle 5"/>
          <p:cNvSpPr/>
          <p:nvPr/>
        </p:nvSpPr>
        <p:spPr>
          <a:xfrm>
            <a:off x="533400" y="3200400"/>
            <a:ext cx="3276600" cy="3139321"/>
          </a:xfrm>
          <a:prstGeom prst="rect">
            <a:avLst/>
          </a:prstGeom>
        </p:spPr>
        <p:txBody>
          <a:bodyPr wrap="square">
            <a:spAutoFit/>
          </a:bodyPr>
          <a:lstStyle/>
          <a:p>
            <a:pPr marL="342900" indent="-342900">
              <a:buFont typeface="+mj-lt"/>
              <a:buAutoNum type="arabicPeriod"/>
            </a:pPr>
            <a:r>
              <a:rPr lang="en-US" dirty="0" smtClean="0">
                <a:latin typeface="+mj-lt"/>
              </a:rPr>
              <a:t>Be quick to run, where "quick" depends on your specific situation</a:t>
            </a:r>
          </a:p>
          <a:p>
            <a:pPr marL="342900" indent="-342900">
              <a:buFont typeface="+mj-lt"/>
              <a:buAutoNum type="arabicPeriod"/>
            </a:pPr>
            <a:r>
              <a:rPr lang="en-US" dirty="0" smtClean="0">
                <a:latin typeface="+mj-lt"/>
              </a:rPr>
              <a:t>Be self-scoring, as any automated test should be</a:t>
            </a:r>
          </a:p>
          <a:p>
            <a:pPr marL="342900" indent="-342900">
              <a:buFont typeface="+mj-lt"/>
              <a:buAutoNum type="arabicPeriod"/>
            </a:pPr>
            <a:r>
              <a:rPr lang="en-US" dirty="0" smtClean="0">
                <a:latin typeface="+mj-lt"/>
              </a:rPr>
              <a:t>Provide broad coverage across the system that you care about</a:t>
            </a:r>
          </a:p>
          <a:p>
            <a:pPr marL="342900" indent="-342900">
              <a:buFont typeface="+mj-lt"/>
              <a:buAutoNum type="arabicPeriod"/>
            </a:pPr>
            <a:r>
              <a:rPr lang="en-US" dirty="0" smtClean="0">
                <a:latin typeface="+mj-lt"/>
              </a:rPr>
              <a:t>Be runnable by developers as well as part of the quality assurance process</a:t>
            </a:r>
            <a:endParaRPr lang="en-US" dirty="0">
              <a:latin typeface="+mj-lt"/>
            </a:endParaRPr>
          </a:p>
        </p:txBody>
      </p:sp>
      <p:pic>
        <p:nvPicPr>
          <p:cNvPr id="28674" name="Picture 2"/>
          <p:cNvPicPr>
            <a:picLocks noChangeAspect="1" noChangeArrowheads="1"/>
          </p:cNvPicPr>
          <p:nvPr/>
        </p:nvPicPr>
        <p:blipFill>
          <a:blip r:embed="rId2" cstate="print"/>
          <a:srcRect/>
          <a:stretch>
            <a:fillRect/>
          </a:stretch>
        </p:blipFill>
        <p:spPr bwMode="auto">
          <a:xfrm>
            <a:off x="3962400" y="2514600"/>
            <a:ext cx="4762500" cy="3133725"/>
          </a:xfrm>
          <a:prstGeom prst="rect">
            <a:avLst/>
          </a:prstGeom>
          <a:noFill/>
          <a:ln w="9525">
            <a:noFill/>
            <a:miter lim="800000"/>
            <a:headEnd/>
            <a:tailEnd/>
          </a:ln>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Regression Test</a:t>
            </a:r>
            <a:endParaRPr lang="en-US" dirty="0"/>
          </a:p>
        </p:txBody>
      </p:sp>
      <p:sp>
        <p:nvSpPr>
          <p:cNvPr id="4" name="Rectangle 3"/>
          <p:cNvSpPr/>
          <p:nvPr/>
        </p:nvSpPr>
        <p:spPr>
          <a:xfrm>
            <a:off x="304800" y="1295400"/>
            <a:ext cx="8382000" cy="646331"/>
          </a:xfrm>
          <a:prstGeom prst="rect">
            <a:avLst/>
          </a:prstGeom>
          <a:solidFill>
            <a:schemeClr val="accent6"/>
          </a:solidFill>
        </p:spPr>
        <p:txBody>
          <a:bodyPr wrap="square">
            <a:spAutoFit/>
          </a:bodyPr>
          <a:lstStyle/>
          <a:p>
            <a:r>
              <a:rPr lang="en-US" i="1" dirty="0" smtClean="0">
                <a:solidFill>
                  <a:schemeClr val="bg1"/>
                </a:solidFill>
                <a:latin typeface="+mj-lt"/>
              </a:rPr>
              <a:t>How do you ensure that existing code doesn't get worse as you make other improvements?</a:t>
            </a:r>
            <a:endParaRPr lang="en-US" i="1" dirty="0">
              <a:solidFill>
                <a:schemeClr val="bg1"/>
              </a:solidFill>
              <a:latin typeface="+mj-lt"/>
            </a:endParaRPr>
          </a:p>
        </p:txBody>
      </p:sp>
      <p:sp>
        <p:nvSpPr>
          <p:cNvPr id="5" name="Rectangle 4"/>
          <p:cNvSpPr/>
          <p:nvPr/>
        </p:nvSpPr>
        <p:spPr>
          <a:xfrm>
            <a:off x="381000" y="2209800"/>
            <a:ext cx="3505200" cy="2308324"/>
          </a:xfrm>
          <a:prstGeom prst="rect">
            <a:avLst/>
          </a:prstGeom>
        </p:spPr>
        <p:txBody>
          <a:bodyPr wrap="square">
            <a:spAutoFit/>
          </a:bodyPr>
          <a:lstStyle/>
          <a:p>
            <a:r>
              <a:rPr lang="en-US" dirty="0" smtClean="0">
                <a:latin typeface="+mj-lt"/>
              </a:rPr>
              <a:t>Run regression tests on the system whenever you want to ensure stability of the codeline, such as before you release a build or before a particularly risky change. Create the regression tests from test cases the system has failed in the past.</a:t>
            </a:r>
            <a:endParaRPr lang="en-US" dirty="0">
              <a:latin typeface="+mj-lt"/>
            </a:endParaRPr>
          </a:p>
        </p:txBody>
      </p:sp>
      <p:pic>
        <p:nvPicPr>
          <p:cNvPr id="30722" name="Picture 2"/>
          <p:cNvPicPr>
            <a:picLocks noChangeAspect="1" noChangeArrowheads="1"/>
          </p:cNvPicPr>
          <p:nvPr/>
        </p:nvPicPr>
        <p:blipFill>
          <a:blip r:embed="rId2" cstate="print"/>
          <a:srcRect/>
          <a:stretch>
            <a:fillRect/>
          </a:stretch>
        </p:blipFill>
        <p:spPr bwMode="auto">
          <a:xfrm>
            <a:off x="4114800" y="2133600"/>
            <a:ext cx="4762500" cy="3619500"/>
          </a:xfrm>
          <a:prstGeom prst="rect">
            <a:avLst/>
          </a:prstGeom>
          <a:noFill/>
          <a:ln w="9525">
            <a:noFill/>
            <a:miter lim="800000"/>
            <a:headEnd/>
            <a:tailEnd/>
          </a:ln>
          <a:effectLst/>
        </p:spPr>
      </p:pic>
      <p:sp>
        <p:nvSpPr>
          <p:cNvPr id="7" name="Rectangle 6"/>
          <p:cNvSpPr/>
          <p:nvPr/>
        </p:nvSpPr>
        <p:spPr>
          <a:xfrm>
            <a:off x="381000" y="4876800"/>
            <a:ext cx="3429000" cy="1754326"/>
          </a:xfrm>
          <a:prstGeom prst="rect">
            <a:avLst/>
          </a:prstGeom>
        </p:spPr>
        <p:txBody>
          <a:bodyPr wrap="square">
            <a:spAutoFit/>
          </a:bodyPr>
          <a:lstStyle/>
          <a:p>
            <a:pPr marL="342900" indent="-342900">
              <a:buFont typeface="+mj-lt"/>
              <a:buAutoNum type="arabicPeriod"/>
            </a:pPr>
            <a:r>
              <a:rPr lang="en-US" dirty="0" smtClean="0">
                <a:latin typeface="+mj-lt"/>
              </a:rPr>
              <a:t>Problems that you find in the prerelease QA process</a:t>
            </a:r>
          </a:p>
          <a:p>
            <a:pPr marL="342900" indent="-342900">
              <a:buFont typeface="+mj-lt"/>
              <a:buAutoNum type="arabicPeriod"/>
            </a:pPr>
            <a:r>
              <a:rPr lang="en-US" dirty="0" smtClean="0">
                <a:latin typeface="+mj-lt"/>
              </a:rPr>
              <a:t>Customer- and user-reported problems</a:t>
            </a:r>
          </a:p>
          <a:p>
            <a:pPr marL="342900" indent="-342900">
              <a:buFont typeface="+mj-lt"/>
              <a:buAutoNum type="arabicPeriod"/>
            </a:pPr>
            <a:r>
              <a:rPr lang="en-US" dirty="0" smtClean="0">
                <a:latin typeface="+mj-lt"/>
              </a:rPr>
              <a:t>System-level tests based on requirements</a:t>
            </a:r>
            <a:endParaRPr lang="en-US" dirty="0">
              <a:latin typeface="+mj-lt"/>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Release Line</a:t>
            </a:r>
            <a:endParaRPr lang="en-US" dirty="0"/>
          </a:p>
        </p:txBody>
      </p:sp>
      <p:sp>
        <p:nvSpPr>
          <p:cNvPr id="4" name="Rectangle 3"/>
          <p:cNvSpPr/>
          <p:nvPr/>
        </p:nvSpPr>
        <p:spPr>
          <a:xfrm>
            <a:off x="457200" y="1371600"/>
            <a:ext cx="4572000" cy="923330"/>
          </a:xfrm>
          <a:prstGeom prst="rect">
            <a:avLst/>
          </a:prstGeom>
          <a:solidFill>
            <a:schemeClr val="accent6"/>
          </a:solidFill>
        </p:spPr>
        <p:txBody>
          <a:bodyPr>
            <a:spAutoFit/>
          </a:bodyPr>
          <a:lstStyle/>
          <a:p>
            <a:r>
              <a:rPr lang="en-US" i="1" dirty="0" smtClean="0">
                <a:solidFill>
                  <a:schemeClr val="bg1"/>
                </a:solidFill>
                <a:latin typeface="+mj-lt"/>
              </a:rPr>
              <a:t>How do you do maintenance on released versions without interfering with your current development work?</a:t>
            </a:r>
            <a:endParaRPr lang="en-US" i="1" dirty="0">
              <a:solidFill>
                <a:schemeClr val="bg1"/>
              </a:solidFill>
              <a:latin typeface="+mj-lt"/>
            </a:endParaRPr>
          </a:p>
        </p:txBody>
      </p:sp>
      <p:sp>
        <p:nvSpPr>
          <p:cNvPr id="5" name="Rectangle 4"/>
          <p:cNvSpPr/>
          <p:nvPr/>
        </p:nvSpPr>
        <p:spPr>
          <a:xfrm>
            <a:off x="457200" y="2514600"/>
            <a:ext cx="4572000" cy="1477328"/>
          </a:xfrm>
          <a:prstGeom prst="rect">
            <a:avLst/>
          </a:prstGeom>
        </p:spPr>
        <p:txBody>
          <a:bodyPr>
            <a:spAutoFit/>
          </a:bodyPr>
          <a:lstStyle/>
          <a:p>
            <a:r>
              <a:rPr lang="en-US" dirty="0" smtClean="0">
                <a:latin typeface="+mj-lt"/>
              </a:rPr>
              <a:t>Split maintenance/release and active development into separate codelines. Keep each released version on a release line. Allow the line to progress on its own for bug fixes. Branch each release from mainline.</a:t>
            </a:r>
            <a:endParaRPr lang="en-US" dirty="0">
              <a:latin typeface="+mj-lt"/>
            </a:endParaRPr>
          </a:p>
        </p:txBody>
      </p:sp>
      <p:sp>
        <p:nvSpPr>
          <p:cNvPr id="31746" name="AutoShape 2" descr="graphics/17fig04.gif"/>
          <p:cNvSpPr>
            <a:spLocks noChangeAspect="1" noChangeArrowheads="1"/>
          </p:cNvSpPr>
          <p:nvPr/>
        </p:nvSpPr>
        <p:spPr bwMode="auto">
          <a:xfrm>
            <a:off x="155575" y="-403225"/>
            <a:ext cx="4762500" cy="847725"/>
          </a:xfrm>
          <a:prstGeom prst="rect">
            <a:avLst/>
          </a:prstGeom>
          <a:noFill/>
        </p:spPr>
        <p:txBody>
          <a:bodyPr vert="horz" wrap="square" lIns="91440" tIns="45720" rIns="91440" bIns="45720" numCol="1" anchor="t" anchorCtr="0" compatLnSpc="1">
            <a:prstTxWarp prst="textNoShape">
              <a:avLst/>
            </a:prstTxWarp>
          </a:bodyPr>
          <a:lstStyle/>
          <a:p>
            <a:endParaRPr lang="en-US">
              <a:latin typeface="+mj-lt"/>
            </a:endParaRPr>
          </a:p>
        </p:txBody>
      </p:sp>
      <p:pic>
        <p:nvPicPr>
          <p:cNvPr id="31747" name="Picture 3"/>
          <p:cNvPicPr>
            <a:picLocks noChangeAspect="1" noChangeArrowheads="1"/>
          </p:cNvPicPr>
          <p:nvPr/>
        </p:nvPicPr>
        <p:blipFill>
          <a:blip r:embed="rId2" cstate="print"/>
          <a:srcRect/>
          <a:stretch>
            <a:fillRect/>
          </a:stretch>
        </p:blipFill>
        <p:spPr bwMode="auto">
          <a:xfrm>
            <a:off x="533400" y="5029200"/>
            <a:ext cx="4762500" cy="847725"/>
          </a:xfrm>
          <a:prstGeom prst="rect">
            <a:avLst/>
          </a:prstGeom>
          <a:noFill/>
          <a:ln w="9525">
            <a:noFill/>
            <a:miter lim="800000"/>
            <a:headEnd/>
            <a:tailEnd/>
          </a:ln>
          <a:effectLst/>
        </p:spPr>
      </p:pic>
      <p:pic>
        <p:nvPicPr>
          <p:cNvPr id="31748" name="Picture 4"/>
          <p:cNvPicPr>
            <a:picLocks noChangeAspect="1" noChangeArrowheads="1"/>
          </p:cNvPicPr>
          <p:nvPr/>
        </p:nvPicPr>
        <p:blipFill>
          <a:blip r:embed="rId3" cstate="print"/>
          <a:srcRect/>
          <a:stretch>
            <a:fillRect/>
          </a:stretch>
        </p:blipFill>
        <p:spPr bwMode="auto">
          <a:xfrm>
            <a:off x="5334000" y="1295400"/>
            <a:ext cx="3333750" cy="3381375"/>
          </a:xfrm>
          <a:prstGeom prst="rect">
            <a:avLst/>
          </a:prstGeom>
          <a:noFill/>
          <a:ln w="9525">
            <a:noFill/>
            <a:miter lim="800000"/>
            <a:headEnd/>
            <a:tailEnd/>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Development Enviroment</a:t>
            </a:r>
            <a:endParaRPr lang="en-US" dirty="0"/>
          </a:p>
        </p:txBody>
      </p:sp>
      <p:pic>
        <p:nvPicPr>
          <p:cNvPr id="1026" name="Picture 2"/>
          <p:cNvPicPr>
            <a:picLocks noChangeAspect="1" noChangeArrowheads="1"/>
          </p:cNvPicPr>
          <p:nvPr/>
        </p:nvPicPr>
        <p:blipFill>
          <a:blip r:embed="rId2" cstate="print"/>
          <a:srcRect/>
          <a:stretch>
            <a:fillRect/>
          </a:stretch>
        </p:blipFill>
        <p:spPr bwMode="auto">
          <a:xfrm>
            <a:off x="457200" y="2209800"/>
            <a:ext cx="5715000" cy="2733675"/>
          </a:xfrm>
          <a:prstGeom prst="rect">
            <a:avLst/>
          </a:prstGeom>
          <a:noFill/>
          <a:ln w="9525">
            <a:noFill/>
            <a:miter lim="800000"/>
            <a:headEnd/>
            <a:tailEnd/>
          </a:ln>
          <a:effectLst/>
        </p:spPr>
      </p:pic>
      <p:sp>
        <p:nvSpPr>
          <p:cNvPr id="4" name="Rectangle 3"/>
          <p:cNvSpPr/>
          <p:nvPr/>
        </p:nvSpPr>
        <p:spPr>
          <a:xfrm>
            <a:off x="381000" y="1524000"/>
            <a:ext cx="4572000" cy="646331"/>
          </a:xfrm>
          <a:prstGeom prst="rect">
            <a:avLst/>
          </a:prstGeom>
        </p:spPr>
        <p:txBody>
          <a:bodyPr>
            <a:spAutoFit/>
          </a:bodyPr>
          <a:lstStyle/>
          <a:p>
            <a:r>
              <a:rPr lang="en-US" dirty="0" smtClean="0">
                <a:latin typeface="+mj-lt"/>
              </a:rPr>
              <a:t>Source Server is the source-code repository for version-control.</a:t>
            </a:r>
            <a:endParaRPr lang="en-US" dirty="0">
              <a:latin typeface="+mj-lt"/>
            </a:endParaRPr>
          </a:p>
        </p:txBody>
      </p:sp>
      <p:sp>
        <p:nvSpPr>
          <p:cNvPr id="5" name="Rectangle 4"/>
          <p:cNvSpPr/>
          <p:nvPr/>
        </p:nvSpPr>
        <p:spPr>
          <a:xfrm>
            <a:off x="914400" y="5181600"/>
            <a:ext cx="4572000" cy="646331"/>
          </a:xfrm>
          <a:prstGeom prst="rect">
            <a:avLst/>
          </a:prstGeom>
        </p:spPr>
        <p:txBody>
          <a:bodyPr>
            <a:spAutoFit/>
          </a:bodyPr>
          <a:lstStyle/>
          <a:p>
            <a:r>
              <a:rPr lang="en-US" dirty="0" smtClean="0">
                <a:latin typeface="+mj-lt"/>
              </a:rPr>
              <a:t>Project Server is the hosting environment for latest/recent builds submitted by Build Server.</a:t>
            </a:r>
            <a:endParaRPr lang="en-US" dirty="0">
              <a:latin typeface="+mj-lt"/>
            </a:endParaRPr>
          </a:p>
        </p:txBody>
      </p:sp>
      <p:sp>
        <p:nvSpPr>
          <p:cNvPr id="6" name="Rectangle 5"/>
          <p:cNvSpPr/>
          <p:nvPr/>
        </p:nvSpPr>
        <p:spPr>
          <a:xfrm>
            <a:off x="6400800" y="1828800"/>
            <a:ext cx="2514600" cy="3693319"/>
          </a:xfrm>
          <a:prstGeom prst="rect">
            <a:avLst/>
          </a:prstGeom>
        </p:spPr>
        <p:txBody>
          <a:bodyPr wrap="square">
            <a:spAutoFit/>
          </a:bodyPr>
          <a:lstStyle/>
          <a:p>
            <a:r>
              <a:rPr lang="en-US" dirty="0" smtClean="0">
                <a:latin typeface="+mj-lt"/>
              </a:rPr>
              <a:t>Build Server is a Build Management repository, ideal for continuous-integration, smoke testing etc.</a:t>
            </a:r>
          </a:p>
          <a:p>
            <a:r>
              <a:rPr lang="en-US" b="1" i="1" u="sng" dirty="0" smtClean="0">
                <a:latin typeface="+mj-lt"/>
              </a:rPr>
              <a:t>Benefits:</a:t>
            </a:r>
          </a:p>
          <a:p>
            <a:pPr>
              <a:buFont typeface="Wingdings" pitchFamily="2" charset="2"/>
              <a:buChar char="ü"/>
            </a:pPr>
            <a:r>
              <a:rPr lang="en-US" dirty="0" smtClean="0">
                <a:latin typeface="+mj-lt"/>
              </a:rPr>
              <a:t>Static Code-Analysis</a:t>
            </a:r>
          </a:p>
          <a:p>
            <a:pPr>
              <a:buFont typeface="Wingdings" pitchFamily="2" charset="2"/>
              <a:buChar char="ü"/>
            </a:pPr>
            <a:r>
              <a:rPr lang="en-US" dirty="0" smtClean="0">
                <a:latin typeface="+mj-lt"/>
              </a:rPr>
              <a:t>Code Documentation</a:t>
            </a:r>
          </a:p>
          <a:p>
            <a:pPr>
              <a:buFont typeface="Wingdings" pitchFamily="2" charset="2"/>
              <a:buChar char="ü"/>
            </a:pPr>
            <a:r>
              <a:rPr lang="en-US" dirty="0" smtClean="0">
                <a:latin typeface="+mj-lt"/>
              </a:rPr>
              <a:t>No dependency on Development Team for builds</a:t>
            </a:r>
          </a:p>
          <a:p>
            <a:pPr>
              <a:buFont typeface="Wingdings" pitchFamily="2" charset="2"/>
              <a:buChar char="ü"/>
            </a:pPr>
            <a:r>
              <a:rPr lang="en-US" dirty="0" smtClean="0">
                <a:latin typeface="+mj-lt"/>
              </a:rPr>
              <a:t>Focused teams, enhanced productivity</a:t>
            </a:r>
            <a:endParaRPr lang="en-US" dirty="0">
              <a:latin typeface="+mj-l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Test And Stage Enviroment</a:t>
            </a:r>
            <a:endParaRPr lang="en-US" dirty="0"/>
          </a:p>
        </p:txBody>
      </p:sp>
      <p:pic>
        <p:nvPicPr>
          <p:cNvPr id="2050" name="Picture 2"/>
          <p:cNvPicPr>
            <a:picLocks noChangeAspect="1" noChangeArrowheads="1"/>
          </p:cNvPicPr>
          <p:nvPr/>
        </p:nvPicPr>
        <p:blipFill>
          <a:blip r:embed="rId2" cstate="print"/>
          <a:srcRect/>
          <a:stretch>
            <a:fillRect/>
          </a:stretch>
        </p:blipFill>
        <p:spPr bwMode="auto">
          <a:xfrm>
            <a:off x="304800" y="1219200"/>
            <a:ext cx="5229225" cy="2686050"/>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cstate="print"/>
          <a:srcRect/>
          <a:stretch>
            <a:fillRect/>
          </a:stretch>
        </p:blipFill>
        <p:spPr bwMode="auto">
          <a:xfrm>
            <a:off x="3581400" y="3962400"/>
            <a:ext cx="5362575" cy="2752725"/>
          </a:xfrm>
          <a:prstGeom prst="rect">
            <a:avLst/>
          </a:prstGeom>
          <a:noFill/>
          <a:ln w="9525">
            <a:noFill/>
            <a:miter lim="800000"/>
            <a:headEnd/>
            <a:tailEnd/>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Configuration Enviroment Architecture</a:t>
            </a:r>
            <a:endParaRPr lang="en-US" dirty="0"/>
          </a:p>
        </p:txBody>
      </p:sp>
      <p:pic>
        <p:nvPicPr>
          <p:cNvPr id="3074" name="Picture 2"/>
          <p:cNvPicPr>
            <a:picLocks noChangeAspect="1" noChangeArrowheads="1"/>
          </p:cNvPicPr>
          <p:nvPr/>
        </p:nvPicPr>
        <p:blipFill>
          <a:blip r:embed="rId2" cstate="print"/>
          <a:srcRect/>
          <a:stretch>
            <a:fillRect/>
          </a:stretch>
        </p:blipFill>
        <p:spPr bwMode="auto">
          <a:xfrm>
            <a:off x="228600" y="1752600"/>
            <a:ext cx="5715000" cy="3990975"/>
          </a:xfrm>
          <a:prstGeom prst="rect">
            <a:avLst/>
          </a:prstGeom>
          <a:noFill/>
          <a:ln w="9525">
            <a:noFill/>
            <a:miter lim="800000"/>
            <a:headEnd/>
            <a:tailEnd/>
          </a:ln>
          <a:effectLst/>
        </p:spPr>
      </p:pic>
      <p:sp>
        <p:nvSpPr>
          <p:cNvPr id="5" name="Rectangle 4"/>
          <p:cNvSpPr/>
          <p:nvPr/>
        </p:nvSpPr>
        <p:spPr>
          <a:xfrm>
            <a:off x="6172200" y="1752600"/>
            <a:ext cx="2743200" cy="2308324"/>
          </a:xfrm>
          <a:prstGeom prst="rect">
            <a:avLst/>
          </a:prstGeom>
        </p:spPr>
        <p:txBody>
          <a:bodyPr wrap="square">
            <a:spAutoFit/>
          </a:bodyPr>
          <a:lstStyle/>
          <a:p>
            <a:r>
              <a:rPr lang="en-US" b="1" i="1" u="sng" dirty="0" smtClean="0">
                <a:latin typeface="+mj-lt"/>
              </a:rPr>
              <a:t>Benefits:</a:t>
            </a:r>
          </a:p>
          <a:p>
            <a:pPr>
              <a:buFont typeface="Wingdings" pitchFamily="2" charset="2"/>
              <a:buChar char="ü"/>
            </a:pPr>
            <a:r>
              <a:rPr lang="en-US" dirty="0" smtClean="0">
                <a:latin typeface="+mj-lt"/>
              </a:rPr>
              <a:t>It minimizes integration risk</a:t>
            </a:r>
          </a:p>
          <a:p>
            <a:pPr>
              <a:buFont typeface="Wingdings" pitchFamily="2" charset="2"/>
              <a:buChar char="ü"/>
            </a:pPr>
            <a:r>
              <a:rPr lang="en-US" dirty="0" smtClean="0">
                <a:latin typeface="+mj-lt"/>
              </a:rPr>
              <a:t>It reduces the risk of low quality</a:t>
            </a:r>
          </a:p>
          <a:p>
            <a:pPr>
              <a:buFont typeface="Wingdings" pitchFamily="2" charset="2"/>
              <a:buChar char="ü"/>
            </a:pPr>
            <a:r>
              <a:rPr lang="en-US" dirty="0" smtClean="0">
                <a:latin typeface="+mj-lt"/>
              </a:rPr>
              <a:t>It supports easier defect diagnosis</a:t>
            </a:r>
          </a:p>
          <a:p>
            <a:pPr>
              <a:buFont typeface="Wingdings" pitchFamily="2" charset="2"/>
              <a:buChar char="ü"/>
            </a:pPr>
            <a:r>
              <a:rPr lang="en-US" dirty="0" smtClean="0">
                <a:latin typeface="+mj-lt"/>
              </a:rPr>
              <a:t>It improves morale</a:t>
            </a:r>
            <a:endParaRPr lang="en-US" dirty="0">
              <a:latin typeface="+mj-lt"/>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smtClean="0"/>
              <a:t>Thank you for your time</a:t>
            </a:r>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6651</TotalTime>
  <Words>1114</Words>
  <Application>Microsoft Office PowerPoint</Application>
  <PresentationFormat>On-screen Show (4:3)</PresentationFormat>
  <Paragraphs>105</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Software Configuration Management Patterns</vt:lpstr>
      <vt:lpstr>Objectives</vt:lpstr>
      <vt:lpstr>References</vt:lpstr>
      <vt:lpstr>Mainline</vt:lpstr>
      <vt:lpstr>Active Development Line</vt:lpstr>
      <vt:lpstr>Private Workspace</vt:lpstr>
      <vt:lpstr>Repository</vt:lpstr>
      <vt:lpstr>Private System Build</vt:lpstr>
      <vt:lpstr>Integration Build</vt:lpstr>
      <vt:lpstr>Third Party Codeline</vt:lpstr>
      <vt:lpstr>Task Level Commit</vt:lpstr>
      <vt:lpstr>Codeline Policy</vt:lpstr>
      <vt:lpstr>Unit Test</vt:lpstr>
      <vt:lpstr>Smoke Test</vt:lpstr>
      <vt:lpstr>Regression Test</vt:lpstr>
      <vt:lpstr>Release Line</vt:lpstr>
      <vt:lpstr>Development Enviroment</vt:lpstr>
      <vt:lpstr>Test And Stage Enviroment</vt:lpstr>
      <vt:lpstr>Configuration Enviroment Architecture</vt:lpstr>
      <vt:lpstr>Thank you for your time</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admin</cp:lastModifiedBy>
  <cp:revision>2709</cp:revision>
  <dcterms:created xsi:type="dcterms:W3CDTF">2007-10-06T08:25:13Z</dcterms:created>
  <dcterms:modified xsi:type="dcterms:W3CDTF">2016-06-01T20:42:46Z</dcterms:modified>
</cp:coreProperties>
</file>