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22"/>
  </p:notesMasterIdLst>
  <p:handoutMasterIdLst>
    <p:handoutMasterId r:id="rId23"/>
  </p:handoutMasterIdLst>
  <p:sldIdLst>
    <p:sldId id="256" r:id="rId2"/>
    <p:sldId id="829" r:id="rId3"/>
    <p:sldId id="830" r:id="rId4"/>
    <p:sldId id="831" r:id="rId5"/>
    <p:sldId id="586" r:id="rId6"/>
    <p:sldId id="709" r:id="rId7"/>
    <p:sldId id="707" r:id="rId8"/>
    <p:sldId id="710" r:id="rId9"/>
    <p:sldId id="826" r:id="rId10"/>
    <p:sldId id="827" r:id="rId11"/>
    <p:sldId id="713" r:id="rId12"/>
    <p:sldId id="828" r:id="rId13"/>
    <p:sldId id="510" r:id="rId14"/>
    <p:sldId id="712" r:id="rId15"/>
    <p:sldId id="819" r:id="rId16"/>
    <p:sldId id="511" r:id="rId17"/>
    <p:sldId id="820" r:id="rId18"/>
    <p:sldId id="512" r:id="rId19"/>
    <p:sldId id="714" r:id="rId20"/>
    <p:sldId id="343" r:id="rId2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39" autoAdjust="0"/>
    <p:restoredTop sz="90392" autoAdjust="0"/>
  </p:normalViewPr>
  <p:slideViewPr>
    <p:cSldViewPr>
      <p:cViewPr>
        <p:scale>
          <a:sx n="50" d="100"/>
          <a:sy n="50" d="100"/>
        </p:scale>
        <p:origin x="-14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9/29/2021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9/29/2021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9/29/2021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9/29/2021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9/29/2021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9/29/2021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9/29/2021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9/29/2021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9/29/2021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9/29/2021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9/29/2021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9/29/2021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9/29/2021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9/29/2021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COTS Software Selection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1"/>
            <a:ext cx="5105400" cy="24384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evaluate and select COTS software</a:t>
            </a:r>
            <a:endParaRPr lang="en-US" sz="2400" i="1" dirty="0" smtClean="0">
              <a:solidFill>
                <a:srgbClr val="C00000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60985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COTS Products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COTS Evaluation Methods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Multi Criteria Decision Making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257800" cy="4525963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sz="2400" dirty="0" smtClean="0"/>
              <a:t>Alejandra </a:t>
            </a:r>
            <a:r>
              <a:rPr lang="en-US" sz="2400" dirty="0" err="1" smtClean="0"/>
              <a:t>Cechich</a:t>
            </a:r>
            <a:r>
              <a:rPr lang="en-US" sz="2400" dirty="0" smtClean="0"/>
              <a:t> et al. (Eds.) (2003). Component-Based Software Quality - Methods and Techniques. Springer.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9125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Building or Buying?</a:t>
            </a:r>
            <a:endParaRPr lang="en-US" dirty="0"/>
          </a:p>
        </p:txBody>
      </p:sp>
      <p:pic>
        <p:nvPicPr>
          <p:cNvPr id="1026" name="Picture 2" descr="http://www.quicklessons.com/blog/wp-content/uploads/2012/04/Double-Dilemma-copy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2133600"/>
            <a:ext cx="7305675" cy="40100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Building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Complete control</a:t>
            </a:r>
          </a:p>
          <a:p>
            <a:r>
              <a:rPr lang="en-US" dirty="0" smtClean="0"/>
              <a:t>Tailored to unique business needs</a:t>
            </a:r>
          </a:p>
          <a:p>
            <a:r>
              <a:rPr lang="en-US" dirty="0" smtClean="0"/>
              <a:t>Ownership of the software code</a:t>
            </a:r>
          </a:p>
          <a:p>
            <a:r>
              <a:rPr lang="en-US" dirty="0" smtClean="0"/>
              <a:t>Knowledge and expertise</a:t>
            </a:r>
          </a:p>
          <a:p>
            <a:endParaRPr lang="en-US" dirty="0" smtClean="0"/>
          </a:p>
          <a:p>
            <a:r>
              <a:rPr lang="en-US" dirty="0" smtClean="0"/>
              <a:t>Thousands of </a:t>
            </a:r>
            <a:r>
              <a:rPr lang="en-US" i="1" dirty="0" smtClean="0">
                <a:solidFill>
                  <a:srgbClr val="C00000"/>
                </a:solidFill>
              </a:rPr>
              <a:t>hours</a:t>
            </a:r>
            <a:r>
              <a:rPr lang="en-US" dirty="0" smtClean="0"/>
              <a:t> of research and development</a:t>
            </a:r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05600" y="2057400"/>
            <a:ext cx="1714500" cy="15468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34200" y="4343400"/>
            <a:ext cx="1463040" cy="1363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COTS Products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Commercial Off-The-Shelf</a:t>
            </a:r>
            <a:r>
              <a:rPr lang="en-US" sz="2400" dirty="0" smtClean="0"/>
              <a:t> (COTS) products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Component-Based software development</a:t>
            </a:r>
            <a:r>
              <a:rPr lang="en-US" sz="2400" dirty="0" smtClean="0"/>
              <a:t> (CBSD):</a:t>
            </a:r>
          </a:p>
          <a:p>
            <a:pPr lvl="1"/>
            <a:r>
              <a:rPr lang="en-US" sz="2200" dirty="0" smtClean="0"/>
              <a:t>assembling previously existing components (COTS or other non-developmental items) into larger software systems, and</a:t>
            </a:r>
          </a:p>
          <a:p>
            <a:pPr lvl="1"/>
            <a:r>
              <a:rPr lang="en-US" sz="2200" dirty="0" smtClean="0"/>
              <a:t>migrating existing applications towards component-based systems.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5600" y="4095750"/>
            <a:ext cx="3409950" cy="230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COTS Issues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743199"/>
          </a:xfrm>
        </p:spPr>
        <p:txBody>
          <a:bodyPr/>
          <a:lstStyle/>
          <a:p>
            <a:r>
              <a:rPr lang="en-US" sz="2600" dirty="0" smtClean="0"/>
              <a:t>Using in </a:t>
            </a:r>
            <a:r>
              <a:rPr lang="en-US" sz="2600" i="1" dirty="0" smtClean="0">
                <a:solidFill>
                  <a:srgbClr val="C00000"/>
                </a:solidFill>
              </a:rPr>
              <a:t>different contexts</a:t>
            </a:r>
            <a:r>
              <a:rPr lang="en-US" sz="2600" dirty="0" smtClean="0"/>
              <a:t> (customization, vendors’ help).</a:t>
            </a:r>
          </a:p>
          <a:p>
            <a:r>
              <a:rPr lang="en-US" sz="2600" dirty="0" smtClean="0"/>
              <a:t>The absence of </a:t>
            </a:r>
            <a:r>
              <a:rPr lang="en-US" sz="2600" i="1" dirty="0" smtClean="0">
                <a:solidFill>
                  <a:srgbClr val="C00000"/>
                </a:solidFill>
              </a:rPr>
              <a:t>source code</a:t>
            </a:r>
            <a:r>
              <a:rPr lang="en-US" sz="2600" dirty="0" smtClean="0"/>
              <a:t> (pay more for it).</a:t>
            </a:r>
          </a:p>
          <a:p>
            <a:r>
              <a:rPr lang="en-US" sz="2600" dirty="0" smtClean="0"/>
              <a:t>Lack of access to the </a:t>
            </a:r>
            <a:r>
              <a:rPr lang="en-US" sz="2600" i="1" dirty="0" smtClean="0">
                <a:solidFill>
                  <a:srgbClr val="C00000"/>
                </a:solidFill>
              </a:rPr>
              <a:t>software engineering artifacts</a:t>
            </a:r>
            <a:r>
              <a:rPr lang="en-US" sz="2600" dirty="0" smtClean="0"/>
              <a:t> originally used in the design of the components (pay more for it).</a:t>
            </a:r>
          </a:p>
          <a:p>
            <a:r>
              <a:rPr lang="en-US" sz="2600" dirty="0" smtClean="0"/>
              <a:t>Trust: no embedded </a:t>
            </a:r>
            <a:r>
              <a:rPr lang="en-US" sz="2600" i="1" dirty="0" smtClean="0">
                <a:solidFill>
                  <a:srgbClr val="C00000"/>
                </a:solidFill>
              </a:rPr>
              <a:t>malicious</a:t>
            </a:r>
            <a:r>
              <a:rPr lang="en-US" sz="2600" dirty="0" smtClean="0"/>
              <a:t> behavior.</a:t>
            </a:r>
          </a:p>
        </p:txBody>
      </p:sp>
      <p:sp>
        <p:nvSpPr>
          <p:cNvPr id="2050" name="AutoShape 2" descr="http://www.dqweek.com/wp-content/uploads/2017/04/issues.jpg"/>
          <p:cNvSpPr>
            <a:spLocks noChangeAspect="1" noChangeArrowheads="1"/>
          </p:cNvSpPr>
          <p:nvPr/>
        </p:nvSpPr>
        <p:spPr bwMode="auto">
          <a:xfrm>
            <a:off x="155575" y="-1371600"/>
            <a:ext cx="3810000" cy="28575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http://www.dqweek.com/wp-content/uploads/2017/04/issues.jpg"/>
          <p:cNvSpPr>
            <a:spLocks noChangeAspect="1" noChangeArrowheads="1"/>
          </p:cNvSpPr>
          <p:nvPr/>
        </p:nvSpPr>
        <p:spPr bwMode="auto">
          <a:xfrm>
            <a:off x="155575" y="-1371600"/>
            <a:ext cx="3810000" cy="28575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05200" y="4648200"/>
            <a:ext cx="2286000" cy="171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So, Building or Buying?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523999"/>
          </a:xfrm>
        </p:spPr>
        <p:txBody>
          <a:bodyPr/>
          <a:lstStyle/>
          <a:p>
            <a:r>
              <a:rPr lang="en-US" sz="2800" i="1" dirty="0" smtClean="0">
                <a:solidFill>
                  <a:srgbClr val="C00000"/>
                </a:solidFill>
              </a:rPr>
              <a:t>Re-inventing</a:t>
            </a:r>
            <a:r>
              <a:rPr lang="en-US" sz="2800" dirty="0" smtClean="0"/>
              <a:t> the wheel?</a:t>
            </a:r>
          </a:p>
          <a:p>
            <a:r>
              <a:rPr lang="en-US" sz="2800" dirty="0" smtClean="0"/>
              <a:t>Learning from others and implementing what has been </a:t>
            </a:r>
            <a:r>
              <a:rPr lang="en-US" sz="2800" i="1" dirty="0" smtClean="0">
                <a:solidFill>
                  <a:srgbClr val="C00000"/>
                </a:solidFill>
              </a:rPr>
              <a:t>shown to work</a:t>
            </a:r>
            <a:r>
              <a:rPr lang="en-US" sz="2800" dirty="0" smtClean="0"/>
              <a:t>.</a:t>
            </a:r>
            <a:endParaRPr lang="en-US" sz="2800" dirty="0"/>
          </a:p>
        </p:txBody>
      </p:sp>
      <p:pic>
        <p:nvPicPr>
          <p:cNvPr id="89090" name="Picture 2" descr="http://www.tacticalgaming.net/hq/news/wp-content/uploads/2014/09/Reinventing-The-Wheel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3368040"/>
            <a:ext cx="4213860" cy="24231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Way To Guarantee The Failure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143000"/>
          </a:xfrm>
        </p:spPr>
        <p:txBody>
          <a:bodyPr/>
          <a:lstStyle/>
          <a:p>
            <a:r>
              <a:rPr lang="en-US" sz="2800" dirty="0" smtClean="0"/>
              <a:t>Buy a commercial off-the-shelf package and </a:t>
            </a:r>
            <a:r>
              <a:rPr lang="en-US" sz="2800" i="1" dirty="0" smtClean="0">
                <a:solidFill>
                  <a:srgbClr val="C00000"/>
                </a:solidFill>
              </a:rPr>
              <a:t>customize</a:t>
            </a:r>
            <a:r>
              <a:rPr lang="en-US" sz="2800" dirty="0" smtClean="0"/>
              <a:t> it </a:t>
            </a:r>
            <a:r>
              <a:rPr lang="en-US" sz="2800" u="sng" dirty="0" smtClean="0"/>
              <a:t>a lot</a:t>
            </a:r>
            <a:r>
              <a:rPr lang="en-US" sz="2800" dirty="0" smtClean="0"/>
              <a:t>.</a:t>
            </a:r>
            <a:endParaRPr lang="en-US" sz="2800" dirty="0"/>
          </a:p>
        </p:txBody>
      </p:sp>
      <p:pic>
        <p:nvPicPr>
          <p:cNvPr id="4" name="Picture 2" descr="http://www.incimages.com/uploaded_files/image/1940x900/Young-Businessman-short-of-finish-line_pan_1490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3048000"/>
            <a:ext cx="5913120" cy="2743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Another Way To Guarantee The Failure</a:t>
            </a:r>
            <a:endParaRPr lang="en-US" sz="4200" dirty="0"/>
          </a:p>
        </p:txBody>
      </p:sp>
      <p:pic>
        <p:nvPicPr>
          <p:cNvPr id="112642" name="Picture 2" descr="https://tmetiz.com.ua/image/data/zabivaem-gvozdi-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1828800"/>
            <a:ext cx="5181600" cy="406107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COTS Software Selection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371599"/>
          </a:xfrm>
        </p:spPr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COTS software selection</a:t>
            </a:r>
            <a:r>
              <a:rPr lang="en-US" sz="2400" i="1" dirty="0" smtClean="0">
                <a:solidFill>
                  <a:schemeClr val="accent2"/>
                </a:solidFill>
              </a:rPr>
              <a:t> </a:t>
            </a:r>
            <a:r>
              <a:rPr lang="en-US" sz="2400" dirty="0" smtClean="0"/>
              <a:t>is a process of </a:t>
            </a:r>
            <a:r>
              <a:rPr lang="en-US" sz="2400" u="sng" dirty="0" smtClean="0"/>
              <a:t>determining “fitness for use”</a:t>
            </a:r>
            <a:r>
              <a:rPr lang="en-US" sz="2400" dirty="0" smtClean="0"/>
              <a:t> of previously-developed components that are being applied in a </a:t>
            </a:r>
            <a:r>
              <a:rPr lang="en-US" sz="2400" u="sng" dirty="0" smtClean="0"/>
              <a:t>new system context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3200400"/>
            <a:ext cx="6172200" cy="269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Oval 6"/>
          <p:cNvSpPr/>
          <p:nvPr/>
        </p:nvSpPr>
        <p:spPr>
          <a:xfrm>
            <a:off x="3657600" y="4905375"/>
            <a:ext cx="1905000" cy="990600"/>
          </a:xfrm>
          <a:prstGeom prst="ellipse">
            <a:avLst/>
          </a:prstGeom>
          <a:solidFill>
            <a:srgbClr val="C00000">
              <a:alpha val="20000"/>
            </a:srgb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2" descr="https://assets.jobscore.com/pictures/retina_aotZ6gqfGr6A7gcR_n82lY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91200" y="2971800"/>
            <a:ext cx="2933700" cy="176231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COTS Evaluation Methods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172200" cy="4525963"/>
          </a:xfrm>
        </p:spPr>
        <p:txBody>
          <a:bodyPr/>
          <a:lstStyle/>
          <a:p>
            <a:r>
              <a:rPr lang="en-US" sz="2800" i="1" dirty="0" smtClean="0">
                <a:solidFill>
                  <a:srgbClr val="C00000"/>
                </a:solidFill>
              </a:rPr>
              <a:t>Paper evaluation</a:t>
            </a:r>
            <a:r>
              <a:rPr lang="en-US" sz="2800" dirty="0" smtClean="0"/>
              <a:t>: sales brochure, technical documents, telephone conversations, web site information.</a:t>
            </a:r>
          </a:p>
          <a:p>
            <a:r>
              <a:rPr lang="en-US" sz="2800" i="1" dirty="0" smtClean="0">
                <a:solidFill>
                  <a:srgbClr val="C00000"/>
                </a:solidFill>
              </a:rPr>
              <a:t>Market survey</a:t>
            </a:r>
            <a:r>
              <a:rPr lang="en-US" sz="2800" dirty="0" smtClean="0"/>
              <a:t>: questionnaires and interviews with vendors, trade shows, user community.</a:t>
            </a:r>
          </a:p>
          <a:p>
            <a:r>
              <a:rPr lang="en-US" sz="2800" i="1" dirty="0" smtClean="0">
                <a:solidFill>
                  <a:srgbClr val="C00000"/>
                </a:solidFill>
              </a:rPr>
              <a:t>Vendor analysis</a:t>
            </a:r>
            <a:r>
              <a:rPr lang="en-US" sz="2800" dirty="0" smtClean="0"/>
              <a:t>: installation assistance, training services and warranty, vendor reputation and vendor stability.</a:t>
            </a:r>
          </a:p>
        </p:txBody>
      </p:sp>
      <p:pic>
        <p:nvPicPr>
          <p:cNvPr id="110594" name="Picture 2" descr="http://www.theedmfactory.com/wp-content/uploads/2013/08/TimeConsuming20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05600" y="3248024"/>
            <a:ext cx="1933575" cy="1933576"/>
          </a:xfrm>
          <a:prstGeom prst="rect">
            <a:avLst/>
          </a:prstGeom>
          <a:noFill/>
        </p:spPr>
      </p:pic>
      <p:pic>
        <p:nvPicPr>
          <p:cNvPr id="110596" name="Picture 4" descr="http://mosamaria.co.za/wp-content/uploads/2016/12/important-notic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29400" y="1800224"/>
            <a:ext cx="2000250" cy="133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COTS Evaluation Methods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172200" cy="4525963"/>
          </a:xfrm>
        </p:spPr>
        <p:txBody>
          <a:bodyPr/>
          <a:lstStyle/>
          <a:p>
            <a:r>
              <a:rPr lang="en-US" sz="2800" i="1" dirty="0" smtClean="0">
                <a:solidFill>
                  <a:srgbClr val="C00000"/>
                </a:solidFill>
              </a:rPr>
              <a:t>Experimentation</a:t>
            </a:r>
            <a:r>
              <a:rPr lang="en-US" sz="2800" dirty="0" smtClean="0"/>
              <a:t>:</a:t>
            </a:r>
          </a:p>
          <a:p>
            <a:pPr lvl="1"/>
            <a:r>
              <a:rPr lang="en-US" sz="2400" dirty="0" smtClean="0"/>
              <a:t>acquisition and installation of the product,</a:t>
            </a:r>
          </a:p>
          <a:p>
            <a:pPr lvl="1"/>
            <a:r>
              <a:rPr lang="en-US" sz="2400" dirty="0" smtClean="0"/>
              <a:t>design of the appropriate prototype and test plan,</a:t>
            </a:r>
          </a:p>
          <a:p>
            <a:pPr lvl="1"/>
            <a:r>
              <a:rPr lang="en-US" sz="2400" dirty="0" smtClean="0"/>
              <a:t>evaluation of product and generation of report.</a:t>
            </a:r>
          </a:p>
          <a:p>
            <a:r>
              <a:rPr lang="en-US" sz="2800" i="1" dirty="0" smtClean="0">
                <a:solidFill>
                  <a:srgbClr val="C00000"/>
                </a:solidFill>
              </a:rPr>
              <a:t>Pilot study</a:t>
            </a:r>
            <a:r>
              <a:rPr lang="en-US" sz="2800" dirty="0" smtClean="0"/>
              <a:t>: an extended version of experimentation in which “real” data from the organization is used in the evaluation.</a:t>
            </a:r>
          </a:p>
        </p:txBody>
      </p:sp>
      <p:pic>
        <p:nvPicPr>
          <p:cNvPr id="6" name="Picture 2" descr="http://www.theedmfactory.com/wp-content/uploads/2013/08/TimeConsuming20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05600" y="3248024"/>
            <a:ext cx="1933575" cy="1933576"/>
          </a:xfrm>
          <a:prstGeom prst="rect">
            <a:avLst/>
          </a:prstGeom>
          <a:noFill/>
        </p:spPr>
      </p:pic>
      <p:pic>
        <p:nvPicPr>
          <p:cNvPr id="7" name="Picture 4" descr="http://mosamaria.co.za/wp-content/uploads/2016/12/important-notic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29400" y="1800224"/>
            <a:ext cx="2000250" cy="133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 Criteria Decision Making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981200"/>
          </a:xfrm>
        </p:spPr>
        <p:txBody>
          <a:bodyPr/>
          <a:lstStyle/>
          <a:p>
            <a:r>
              <a:rPr lang="en-US" sz="2400" dirty="0" smtClean="0"/>
              <a:t>The basic concepts of Multi Criteria Decision Making approaches are establishing </a:t>
            </a:r>
            <a:r>
              <a:rPr lang="en-US" sz="2400" i="1" dirty="0" smtClean="0">
                <a:solidFill>
                  <a:srgbClr val="C00000"/>
                </a:solidFill>
              </a:rPr>
              <a:t>a set of criteria</a:t>
            </a:r>
            <a:r>
              <a:rPr lang="en-US" sz="2400" dirty="0" smtClean="0"/>
              <a:t> that products should meet, assigning </a:t>
            </a:r>
            <a:r>
              <a:rPr lang="en-US" sz="2400" i="1" dirty="0" smtClean="0">
                <a:solidFill>
                  <a:srgbClr val="C00000"/>
                </a:solidFill>
              </a:rPr>
              <a:t>scores</a:t>
            </a:r>
            <a:r>
              <a:rPr lang="en-US" sz="2400" dirty="0" smtClean="0"/>
              <a:t> to each criterion based on its relative importance in the decision and then </a:t>
            </a:r>
            <a:r>
              <a:rPr lang="en-US" sz="2400" i="1" dirty="0" smtClean="0">
                <a:solidFill>
                  <a:srgbClr val="C00000"/>
                </a:solidFill>
              </a:rPr>
              <a:t>ranking</a:t>
            </a:r>
            <a:r>
              <a:rPr lang="en-US" sz="2400" dirty="0" smtClean="0"/>
              <a:t> products based on their </a:t>
            </a:r>
            <a:r>
              <a:rPr lang="en-US" sz="2400" i="1" dirty="0" smtClean="0">
                <a:solidFill>
                  <a:srgbClr val="C00000"/>
                </a:solidFill>
              </a:rPr>
              <a:t>total scores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3733800"/>
            <a:ext cx="5895975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28600" y="3733800"/>
            <a:ext cx="323498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i="1" u="sng" dirty="0" smtClean="0">
                <a:solidFill>
                  <a:srgbClr val="C00000"/>
                </a:solidFill>
                <a:latin typeface="+mj-lt"/>
              </a:rPr>
              <a:t>Weighted Scoring Method</a:t>
            </a:r>
            <a:endParaRPr lang="en-US" sz="2200" b="1" i="1" u="sng" dirty="0">
              <a:solidFill>
                <a:srgbClr val="C00000"/>
              </a:solidFill>
              <a:latin typeface="+mj-lt"/>
            </a:endParaRPr>
          </a:p>
        </p:txBody>
      </p:sp>
      <p:pic>
        <p:nvPicPr>
          <p:cNvPr id="56325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4114800"/>
            <a:ext cx="3038475" cy="70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Mobile Development Tools Evaluation</a:t>
            </a:r>
            <a:endParaRPr lang="en-US" sz="4000" dirty="0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23788" y="1676400"/>
          <a:ext cx="8339212" cy="432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1314768"/>
                <a:gridCol w="1690444"/>
                <a:gridCol w="1219200"/>
              </a:tblGrid>
              <a:tr h="381000"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App and tool features/Tool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err="1" smtClean="0"/>
                        <a:t>Xcode</a:t>
                      </a:r>
                      <a:r>
                        <a:rPr lang="en-US" sz="2200" baseline="0" dirty="0" smtClean="0"/>
                        <a:t> &amp; </a:t>
                      </a:r>
                      <a:r>
                        <a:rPr lang="en-US" sz="22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Android Studio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1" kern="1200" baseline="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Xamarin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/>
                        <a:t>React Native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Cordova</a:t>
                      </a:r>
                      <a:endParaRPr lang="en-US" sz="2200" dirty="0"/>
                    </a:p>
                  </a:txBody>
                  <a:tcPr/>
                </a:tc>
              </a:tr>
              <a:tr h="39188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/>
                        <a:t>Register, login, logout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200"/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/>
                        <a:t>Create,</a:t>
                      </a:r>
                      <a:r>
                        <a:rPr lang="en-US" sz="2200" baseline="0" dirty="0" smtClean="0"/>
                        <a:t> update, delete a ticket</a:t>
                      </a:r>
                      <a:endParaRPr lang="en-US" sz="2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200"/>
                    </a:p>
                  </a:txBody>
                  <a:tcPr/>
                </a:tc>
              </a:tr>
              <a:tr h="391886">
                <a:tc>
                  <a:txBody>
                    <a:bodyPr/>
                    <a:lstStyle/>
                    <a:p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200"/>
                    </a:p>
                  </a:txBody>
                  <a:tcPr/>
                </a:tc>
              </a:tr>
              <a:tr h="391886"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Performance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200" dirty="0"/>
                    </a:p>
                  </a:txBody>
                  <a:tcPr/>
                </a:tc>
              </a:tr>
              <a:tr h="39188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/>
                        <a:t>Integrated simulator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200"/>
                    </a:p>
                  </a:txBody>
                  <a:tcPr/>
                </a:tc>
              </a:tr>
              <a:tr h="391886"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UI</a:t>
                      </a:r>
                      <a:r>
                        <a:rPr lang="en-US" sz="2200" baseline="0" dirty="0" smtClean="0"/>
                        <a:t> builder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2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Analytical Hierarchy Process (AHP)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Thomas L. </a:t>
            </a:r>
            <a:r>
              <a:rPr lang="en-US" sz="2800" dirty="0" err="1" smtClean="0"/>
              <a:t>Saaty</a:t>
            </a:r>
            <a:r>
              <a:rPr lang="en-US" sz="2800" dirty="0" smtClean="0"/>
              <a:t> (1990). How to make a decision - The Analytic Hierarchy Process.</a:t>
            </a:r>
          </a:p>
          <a:p>
            <a:r>
              <a:rPr lang="en-US" sz="2800" dirty="0" smtClean="0"/>
              <a:t>Thomas L. </a:t>
            </a:r>
            <a:r>
              <a:rPr lang="en-US" sz="2800" dirty="0" err="1" smtClean="0"/>
              <a:t>Saaty</a:t>
            </a:r>
            <a:r>
              <a:rPr lang="en-US" sz="2800" dirty="0" smtClean="0"/>
              <a:t>. (2008). Decision Making With The Analytic Hierarchy Process.</a:t>
            </a:r>
          </a:p>
          <a:p>
            <a:r>
              <a:rPr lang="en-US" sz="2800" dirty="0" smtClean="0"/>
              <a:t>Thomas L. </a:t>
            </a:r>
            <a:r>
              <a:rPr lang="en-US" sz="2800" dirty="0" err="1" smtClean="0"/>
              <a:t>Saaty</a:t>
            </a:r>
            <a:r>
              <a:rPr lang="en-US" sz="2800" dirty="0" smtClean="0"/>
              <a:t>. (2013). The Analytic Network Process.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Outranking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M. </a:t>
            </a:r>
            <a:r>
              <a:rPr lang="en-US" dirty="0" err="1" smtClean="0"/>
              <a:t>Morisio</a:t>
            </a:r>
            <a:r>
              <a:rPr lang="en-US" dirty="0" smtClean="0"/>
              <a:t> And A. </a:t>
            </a:r>
            <a:r>
              <a:rPr lang="en-US" dirty="0" err="1" smtClean="0"/>
              <a:t>Tsoukias</a:t>
            </a:r>
            <a:r>
              <a:rPr lang="en-US" dirty="0" smtClean="0"/>
              <a:t> (1997). </a:t>
            </a:r>
            <a:r>
              <a:rPr lang="en-US" dirty="0" err="1" smtClean="0"/>
              <a:t>IusWare</a:t>
            </a:r>
            <a:r>
              <a:rPr lang="en-US" dirty="0" smtClean="0"/>
              <a:t>: A Methodology For The Evaluation And Selection Of Software Products.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</a:t>
            </a:r>
            <a:r>
              <a:rPr lang="en-US" dirty="0" smtClean="0"/>
              <a:t>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24695</TotalTime>
  <Words>537</Words>
  <Application>Microsoft Office PowerPoint</Application>
  <PresentationFormat>On-screen Show (4:3)</PresentationFormat>
  <Paragraphs>72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COTS Software Selection</vt:lpstr>
      <vt:lpstr>Objectives</vt:lpstr>
      <vt:lpstr>Contents</vt:lpstr>
      <vt:lpstr>References</vt:lpstr>
      <vt:lpstr>Building or Buying?</vt:lpstr>
      <vt:lpstr>Building</vt:lpstr>
      <vt:lpstr>COTS Products [2]</vt:lpstr>
      <vt:lpstr>COTS Issues</vt:lpstr>
      <vt:lpstr>So, Building or Buying?</vt:lpstr>
      <vt:lpstr>A Way To Guarantee The Failure</vt:lpstr>
      <vt:lpstr>Another Way To Guarantee The Failure</vt:lpstr>
      <vt:lpstr>Slide 12</vt:lpstr>
      <vt:lpstr>COTS Software Selection</vt:lpstr>
      <vt:lpstr>COTS Evaluation Methods (I)</vt:lpstr>
      <vt:lpstr>COTS Evaluation Methods (II)</vt:lpstr>
      <vt:lpstr>Multi Criteria Decision Making</vt:lpstr>
      <vt:lpstr>Mobile Development Tools Evaluation</vt:lpstr>
      <vt:lpstr>Analytical Hierarchy Process (AHP)</vt:lpstr>
      <vt:lpstr>Outranking Methods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8171</cp:revision>
  <dcterms:created xsi:type="dcterms:W3CDTF">2007-10-06T08:25:13Z</dcterms:created>
  <dcterms:modified xsi:type="dcterms:W3CDTF">2021-09-28T18:57:16Z</dcterms:modified>
</cp:coreProperties>
</file>