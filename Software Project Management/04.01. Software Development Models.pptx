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diagrams/drawing2.xml" ContentType="application/vnd.ms-office.drawingml.diagramDrawing+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diagrams/quickStyle2.xml" ContentType="application/vnd.openxmlformats-officedocument.drawingml.diagramStyle+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diagrams/layout5.xml" ContentType="application/vnd.openxmlformats-officedocument.drawingml.diagramLayout+xml"/>
  <Override PartName="/ppt/diagrams/data6.xml" ContentType="application/vnd.openxmlformats-officedocument.drawingml.diagramData+xml"/>
  <Override PartName="/ppt/diagrams/layout1.xml" ContentType="application/vnd.openxmlformats-officedocument.drawingml.diagramLayout+xml"/>
  <Override PartName="/ppt/diagrams/data2.xml" ContentType="application/vnd.openxmlformats-officedocument.drawingml.diagramData+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viewProps.xml" ContentType="application/vnd.openxmlformats-officedocument.presentationml.viewProps+xml"/>
  <Override PartName="/ppt/diagrams/colors4.xml" ContentType="application/vnd.openxmlformats-officedocument.drawingml.diagramColor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png" ContentType="image/png"/>
  <Override PartName="/ppt/diagrams/drawing3.xml" ContentType="application/vnd.ms-office.drawingml.diagramDrawing+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diagrams/quickStyle3.xml" ContentType="application/vnd.openxmlformats-officedocument.drawingml.diagramStyl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diagrams/layout6.xml" ContentType="application/vnd.openxmlformats-officedocument.drawingml.diagram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diagrams/layout4.xml" ContentType="application/vnd.openxmlformats-officedocument.drawingml.diagramLayout+xml"/>
  <Override PartName="/ppt/slideLayouts/slideLayout10.xml" ContentType="application/vnd.openxmlformats-officedocument.presentationml.slideLayout+xml"/>
  <Override PartName="/ppt/diagrams/layout2.xml" ContentType="application/vnd.openxmlformats-officedocument.drawingml.diagramLayout+xml"/>
  <Override PartName="/ppt/diagrams/data5.xml" ContentType="application/vnd.openxmlformats-officedocument.drawingml.diagramData+xml"/>
  <Override PartName="/ppt/diagrams/data3.xml" ContentType="application/vnd.openxmlformats-officedocument.drawingml.diagramData+xml"/>
  <Override PartName="/ppt/diagrams/colors5.xml" ContentType="application/vnd.openxmlformats-officedocument.drawingml.diagramColors+xml"/>
  <Override PartName="/ppt/diagrams/drawing6.xml" ContentType="application/vnd.ms-office.drawingml.diagramDrawing+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handoutMasters/handoutMaster1.xml" ContentType="application/vnd.openxmlformats-officedocument.presentationml.handoutMaster+xml"/>
  <Override PartName="/ppt/diagrams/data1.xml" ContentType="application/vnd.openxmlformats-officedocument.drawingml.diagramData+xml"/>
  <Override PartName="/ppt/diagrams/colors3.xml" ContentType="application/vnd.openxmlformats-officedocument.drawingml.diagramColors+xml"/>
  <Override PartName="/ppt/diagrams/drawing4.xml" ContentType="application/vnd.ms-office.drawingml.diagramDrawing+xml"/>
  <Override PartName="/ppt/diagrams/quickStyle6.xml" ContentType="application/vnd.openxmlformats-officedocument.drawingml.diagramStyl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diagrams/quickStyle4.xml" ContentType="application/vnd.openxmlformats-officedocument.drawingml.diagramStyl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diagrams/layout3.xml" ContentType="application/vnd.openxmlformats-officedocument.drawingml.diagramLayout+xml"/>
  <Override PartName="/ppt/diagrams/data4.xml" ContentType="application/vnd.openxmlformats-officedocument.drawingml.diagramData+xml"/>
  <Override PartName="/ppt/slides/slide79.xml" ContentType="application/vnd.openxmlformats-officedocument.presentationml.slide+xml"/>
  <Override PartName="/ppt/diagrams/colors6.xml" ContentType="application/vnd.openxmlformats-officedocument.drawingml.diagramColors+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Override PartName="/ppt/diagrams/drawing5.xml" ContentType="application/vnd.ms-office.drawingml.diagramDrawing+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diagrams/colors2.xml" ContentType="application/vnd.openxmlformats-officedocument.drawingml.diagramColors+xml"/>
  <Override PartName="/ppt/diagrams/quickStyle5.xml" ContentType="application/vnd.openxmlformats-officedocument.drawingml.diagramStyle+xml"/>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708" r:id="rId1"/>
  </p:sldMasterIdLst>
  <p:notesMasterIdLst>
    <p:notesMasterId r:id="rId90"/>
  </p:notesMasterIdLst>
  <p:handoutMasterIdLst>
    <p:handoutMasterId r:id="rId91"/>
  </p:handoutMasterIdLst>
  <p:sldIdLst>
    <p:sldId id="256" r:id="rId2"/>
    <p:sldId id="461" r:id="rId3"/>
    <p:sldId id="462" r:id="rId4"/>
    <p:sldId id="470" r:id="rId5"/>
    <p:sldId id="591" r:id="rId6"/>
    <p:sldId id="466" r:id="rId7"/>
    <p:sldId id="453" r:id="rId8"/>
    <p:sldId id="468" r:id="rId9"/>
    <p:sldId id="465" r:id="rId10"/>
    <p:sldId id="469" r:id="rId11"/>
    <p:sldId id="471" r:id="rId12"/>
    <p:sldId id="472" r:id="rId13"/>
    <p:sldId id="473" r:id="rId14"/>
    <p:sldId id="474" r:id="rId15"/>
    <p:sldId id="475" r:id="rId16"/>
    <p:sldId id="476" r:id="rId17"/>
    <p:sldId id="477" r:id="rId18"/>
    <p:sldId id="478" r:id="rId19"/>
    <p:sldId id="572" r:id="rId20"/>
    <p:sldId id="557" r:id="rId21"/>
    <p:sldId id="571" r:id="rId22"/>
    <p:sldId id="489" r:id="rId23"/>
    <p:sldId id="490" r:id="rId24"/>
    <p:sldId id="573" r:id="rId25"/>
    <p:sldId id="575" r:id="rId26"/>
    <p:sldId id="576" r:id="rId27"/>
    <p:sldId id="574" r:id="rId28"/>
    <p:sldId id="590" r:id="rId29"/>
    <p:sldId id="565" r:id="rId30"/>
    <p:sldId id="566" r:id="rId31"/>
    <p:sldId id="567" r:id="rId32"/>
    <p:sldId id="581" r:id="rId33"/>
    <p:sldId id="582" r:id="rId34"/>
    <p:sldId id="547" r:id="rId35"/>
    <p:sldId id="548" r:id="rId36"/>
    <p:sldId id="549" r:id="rId37"/>
    <p:sldId id="550" r:id="rId38"/>
    <p:sldId id="551" r:id="rId39"/>
    <p:sldId id="562" r:id="rId40"/>
    <p:sldId id="552" r:id="rId41"/>
    <p:sldId id="553" r:id="rId42"/>
    <p:sldId id="503" r:id="rId43"/>
    <p:sldId id="578" r:id="rId44"/>
    <p:sldId id="579" r:id="rId45"/>
    <p:sldId id="580" r:id="rId46"/>
    <p:sldId id="589" r:id="rId47"/>
    <p:sldId id="505" r:id="rId48"/>
    <p:sldId id="495" r:id="rId49"/>
    <p:sldId id="507" r:id="rId50"/>
    <p:sldId id="510" r:id="rId51"/>
    <p:sldId id="512" r:id="rId52"/>
    <p:sldId id="513" r:id="rId53"/>
    <p:sldId id="514" r:id="rId54"/>
    <p:sldId id="515" r:id="rId55"/>
    <p:sldId id="511" r:id="rId56"/>
    <p:sldId id="583" r:id="rId57"/>
    <p:sldId id="584" r:id="rId58"/>
    <p:sldId id="585" r:id="rId59"/>
    <p:sldId id="586" r:id="rId60"/>
    <p:sldId id="587" r:id="rId61"/>
    <p:sldId id="496" r:id="rId62"/>
    <p:sldId id="560" r:id="rId63"/>
    <p:sldId id="517" r:id="rId64"/>
    <p:sldId id="501" r:id="rId65"/>
    <p:sldId id="528" r:id="rId66"/>
    <p:sldId id="525" r:id="rId67"/>
    <p:sldId id="519" r:id="rId68"/>
    <p:sldId id="520" r:id="rId69"/>
    <p:sldId id="521" r:id="rId70"/>
    <p:sldId id="526" r:id="rId71"/>
    <p:sldId id="522" r:id="rId72"/>
    <p:sldId id="524" r:id="rId73"/>
    <p:sldId id="523" r:id="rId74"/>
    <p:sldId id="532" r:id="rId75"/>
    <p:sldId id="531" r:id="rId76"/>
    <p:sldId id="529" r:id="rId77"/>
    <p:sldId id="533" r:id="rId78"/>
    <p:sldId id="534" r:id="rId79"/>
    <p:sldId id="535" r:id="rId80"/>
    <p:sldId id="536" r:id="rId81"/>
    <p:sldId id="537" r:id="rId82"/>
    <p:sldId id="538" r:id="rId83"/>
    <p:sldId id="539" r:id="rId84"/>
    <p:sldId id="540" r:id="rId85"/>
    <p:sldId id="541" r:id="rId86"/>
    <p:sldId id="542" r:id="rId87"/>
    <p:sldId id="588" r:id="rId88"/>
    <p:sldId id="343" r:id="rId8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103" autoAdjust="0"/>
    <p:restoredTop sz="94667" autoAdjust="0"/>
  </p:normalViewPr>
  <p:slideViewPr>
    <p:cSldViewPr>
      <p:cViewPr>
        <p:scale>
          <a:sx n="50" d="100"/>
          <a:sy n="50" d="100"/>
        </p:scale>
        <p:origin x="-1530"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276"/>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notesMaster" Target="notesMasters/notesMaster1.xml"/><Relationship Id="rId95"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8348C74-419B-4CBD-A0F0-1F7ACFEF4050}" type="doc">
      <dgm:prSet loTypeId="urn:microsoft.com/office/officeart/2005/8/layout/process1" loCatId="process" qsTypeId="urn:microsoft.com/office/officeart/2005/8/quickstyle/simple1" qsCatId="simple" csTypeId="urn:microsoft.com/office/officeart/2005/8/colors/accent1_2" csCatId="accent1" phldr="1"/>
      <dgm:spPr/>
    </dgm:pt>
    <dgm:pt modelId="{552A21E8-2256-4714-B37E-03B5D0B5263A}">
      <dgm:prSet phldrT="[Text]"/>
      <dgm:spPr/>
      <dgm:t>
        <a:bodyPr/>
        <a:lstStyle/>
        <a:p>
          <a:r>
            <a:rPr lang="en-US" dirty="0" smtClean="0"/>
            <a:t>System specification (Optional)</a:t>
          </a:r>
          <a:endParaRPr lang="en-US" dirty="0"/>
        </a:p>
      </dgm:t>
    </dgm:pt>
    <dgm:pt modelId="{5DAA3A72-14B4-435A-B7A9-7BC6A0348AA3}" type="parTrans" cxnId="{1401E14B-7505-4CF4-AFD6-71E20FC0B307}">
      <dgm:prSet/>
      <dgm:spPr/>
      <dgm:t>
        <a:bodyPr/>
        <a:lstStyle/>
        <a:p>
          <a:endParaRPr lang="en-US"/>
        </a:p>
      </dgm:t>
    </dgm:pt>
    <dgm:pt modelId="{2E1DDFB8-B070-439E-80F7-3A2DA00016D0}" type="sibTrans" cxnId="{1401E14B-7505-4CF4-AFD6-71E20FC0B307}">
      <dgm:prSet/>
      <dgm:spPr/>
      <dgm:t>
        <a:bodyPr/>
        <a:lstStyle/>
        <a:p>
          <a:endParaRPr lang="en-US"/>
        </a:p>
      </dgm:t>
    </dgm:pt>
    <dgm:pt modelId="{1266C985-401A-43D7-BB34-CFAF96285975}">
      <dgm:prSet phldrT="[Text]"/>
      <dgm:spPr>
        <a:solidFill>
          <a:schemeClr val="accent2"/>
        </a:solidFill>
      </dgm:spPr>
      <dgm:t>
        <a:bodyPr/>
        <a:lstStyle/>
        <a:p>
          <a:r>
            <a:rPr lang="en-US" dirty="0" smtClean="0"/>
            <a:t>Analyze, Code and Fix</a:t>
          </a:r>
          <a:endParaRPr lang="en-US" dirty="0"/>
        </a:p>
      </dgm:t>
    </dgm:pt>
    <dgm:pt modelId="{68CDE167-C332-4815-A57D-3A792382C34A}" type="parTrans" cxnId="{C5F97755-AB50-4D14-9D6E-47DF79B80C06}">
      <dgm:prSet/>
      <dgm:spPr/>
      <dgm:t>
        <a:bodyPr/>
        <a:lstStyle/>
        <a:p>
          <a:endParaRPr lang="en-US"/>
        </a:p>
      </dgm:t>
    </dgm:pt>
    <dgm:pt modelId="{66AA9B7C-0D47-4117-B34E-E5438F25A6A4}" type="sibTrans" cxnId="{C5F97755-AB50-4D14-9D6E-47DF79B80C06}">
      <dgm:prSet/>
      <dgm:spPr/>
      <dgm:t>
        <a:bodyPr/>
        <a:lstStyle/>
        <a:p>
          <a:endParaRPr lang="en-US"/>
        </a:p>
      </dgm:t>
    </dgm:pt>
    <dgm:pt modelId="{8F56C670-B0E9-47FB-A22C-B14C13000B07}">
      <dgm:prSet phldrT="[Text]"/>
      <dgm:spPr>
        <a:solidFill>
          <a:schemeClr val="accent3"/>
        </a:solidFill>
      </dgm:spPr>
      <dgm:t>
        <a:bodyPr/>
        <a:lstStyle/>
        <a:p>
          <a:r>
            <a:rPr lang="en-US" dirty="0" smtClean="0"/>
            <a:t>Release (Maybe)</a:t>
          </a:r>
          <a:endParaRPr lang="en-US" dirty="0"/>
        </a:p>
      </dgm:t>
    </dgm:pt>
    <dgm:pt modelId="{33EF13E6-C1FB-4087-9F9D-7E46EAACCF7B}" type="parTrans" cxnId="{764AA28C-966F-41D6-B58C-A327E38DF52A}">
      <dgm:prSet/>
      <dgm:spPr/>
      <dgm:t>
        <a:bodyPr/>
        <a:lstStyle/>
        <a:p>
          <a:endParaRPr lang="en-US"/>
        </a:p>
      </dgm:t>
    </dgm:pt>
    <dgm:pt modelId="{C4ECC8AD-28E0-4A23-85BE-070F4D1AC617}" type="sibTrans" cxnId="{764AA28C-966F-41D6-B58C-A327E38DF52A}">
      <dgm:prSet/>
      <dgm:spPr/>
      <dgm:t>
        <a:bodyPr/>
        <a:lstStyle/>
        <a:p>
          <a:endParaRPr lang="en-US"/>
        </a:p>
      </dgm:t>
    </dgm:pt>
    <dgm:pt modelId="{2F0082C4-C4BE-4A13-9263-B664D488433A}" type="pres">
      <dgm:prSet presAssocID="{E8348C74-419B-4CBD-A0F0-1F7ACFEF4050}" presName="Name0" presStyleCnt="0">
        <dgm:presLayoutVars>
          <dgm:dir/>
          <dgm:resizeHandles val="exact"/>
        </dgm:presLayoutVars>
      </dgm:prSet>
      <dgm:spPr/>
    </dgm:pt>
    <dgm:pt modelId="{7DF612CB-4187-46A3-991A-6065F4B730C7}" type="pres">
      <dgm:prSet presAssocID="{552A21E8-2256-4714-B37E-03B5D0B5263A}" presName="node" presStyleLbl="node1" presStyleIdx="0" presStyleCnt="3">
        <dgm:presLayoutVars>
          <dgm:bulletEnabled val="1"/>
        </dgm:presLayoutVars>
      </dgm:prSet>
      <dgm:spPr/>
      <dgm:t>
        <a:bodyPr/>
        <a:lstStyle/>
        <a:p>
          <a:endParaRPr lang="en-US"/>
        </a:p>
      </dgm:t>
    </dgm:pt>
    <dgm:pt modelId="{CEF9E531-C8C7-4E7A-A225-EA39066A26DC}" type="pres">
      <dgm:prSet presAssocID="{2E1DDFB8-B070-439E-80F7-3A2DA00016D0}" presName="sibTrans" presStyleLbl="sibTrans2D1" presStyleIdx="0" presStyleCnt="2"/>
      <dgm:spPr/>
      <dgm:t>
        <a:bodyPr/>
        <a:lstStyle/>
        <a:p>
          <a:endParaRPr lang="en-US"/>
        </a:p>
      </dgm:t>
    </dgm:pt>
    <dgm:pt modelId="{1BE8C6AE-E5F3-4DA1-8286-830A6B08DC62}" type="pres">
      <dgm:prSet presAssocID="{2E1DDFB8-B070-439E-80F7-3A2DA00016D0}" presName="connectorText" presStyleLbl="sibTrans2D1" presStyleIdx="0" presStyleCnt="2"/>
      <dgm:spPr/>
      <dgm:t>
        <a:bodyPr/>
        <a:lstStyle/>
        <a:p>
          <a:endParaRPr lang="en-US"/>
        </a:p>
      </dgm:t>
    </dgm:pt>
    <dgm:pt modelId="{E1C9EB6C-F565-46C2-BCA3-9A71A4F13933}" type="pres">
      <dgm:prSet presAssocID="{1266C985-401A-43D7-BB34-CFAF96285975}" presName="node" presStyleLbl="node1" presStyleIdx="1" presStyleCnt="3">
        <dgm:presLayoutVars>
          <dgm:bulletEnabled val="1"/>
        </dgm:presLayoutVars>
      </dgm:prSet>
      <dgm:spPr/>
      <dgm:t>
        <a:bodyPr/>
        <a:lstStyle/>
        <a:p>
          <a:endParaRPr lang="en-US"/>
        </a:p>
      </dgm:t>
    </dgm:pt>
    <dgm:pt modelId="{4467DE2E-0571-4AEC-8946-E414EA4E4135}" type="pres">
      <dgm:prSet presAssocID="{66AA9B7C-0D47-4117-B34E-E5438F25A6A4}" presName="sibTrans" presStyleLbl="sibTrans2D1" presStyleIdx="1" presStyleCnt="2"/>
      <dgm:spPr/>
      <dgm:t>
        <a:bodyPr/>
        <a:lstStyle/>
        <a:p>
          <a:endParaRPr lang="en-US"/>
        </a:p>
      </dgm:t>
    </dgm:pt>
    <dgm:pt modelId="{925734E2-73BD-4B5B-AEC2-044F1A138E30}" type="pres">
      <dgm:prSet presAssocID="{66AA9B7C-0D47-4117-B34E-E5438F25A6A4}" presName="connectorText" presStyleLbl="sibTrans2D1" presStyleIdx="1" presStyleCnt="2"/>
      <dgm:spPr/>
      <dgm:t>
        <a:bodyPr/>
        <a:lstStyle/>
        <a:p>
          <a:endParaRPr lang="en-US"/>
        </a:p>
      </dgm:t>
    </dgm:pt>
    <dgm:pt modelId="{225816FD-231F-41D5-A364-CEF8575B3567}" type="pres">
      <dgm:prSet presAssocID="{8F56C670-B0E9-47FB-A22C-B14C13000B07}" presName="node" presStyleLbl="node1" presStyleIdx="2" presStyleCnt="3">
        <dgm:presLayoutVars>
          <dgm:bulletEnabled val="1"/>
        </dgm:presLayoutVars>
      </dgm:prSet>
      <dgm:spPr/>
      <dgm:t>
        <a:bodyPr/>
        <a:lstStyle/>
        <a:p>
          <a:endParaRPr lang="en-US"/>
        </a:p>
      </dgm:t>
    </dgm:pt>
  </dgm:ptLst>
  <dgm:cxnLst>
    <dgm:cxn modelId="{F38AEF69-4BD0-4E58-A0A8-CA34B9E01214}" type="presOf" srcId="{1266C985-401A-43D7-BB34-CFAF96285975}" destId="{E1C9EB6C-F565-46C2-BCA3-9A71A4F13933}" srcOrd="0" destOrd="0" presId="urn:microsoft.com/office/officeart/2005/8/layout/process1"/>
    <dgm:cxn modelId="{0CD3D5C6-7980-48F6-96E0-81ADE5874940}" type="presOf" srcId="{66AA9B7C-0D47-4117-B34E-E5438F25A6A4}" destId="{4467DE2E-0571-4AEC-8946-E414EA4E4135}" srcOrd="0" destOrd="0" presId="urn:microsoft.com/office/officeart/2005/8/layout/process1"/>
    <dgm:cxn modelId="{8498381F-2428-47D8-B423-59E3E84ABA7D}" type="presOf" srcId="{2E1DDFB8-B070-439E-80F7-3A2DA00016D0}" destId="{1BE8C6AE-E5F3-4DA1-8286-830A6B08DC62}" srcOrd="1" destOrd="0" presId="urn:microsoft.com/office/officeart/2005/8/layout/process1"/>
    <dgm:cxn modelId="{013B0955-6FC1-438E-9FD9-CDC8408026B4}" type="presOf" srcId="{66AA9B7C-0D47-4117-B34E-E5438F25A6A4}" destId="{925734E2-73BD-4B5B-AEC2-044F1A138E30}" srcOrd="1" destOrd="0" presId="urn:microsoft.com/office/officeart/2005/8/layout/process1"/>
    <dgm:cxn modelId="{971DA9C5-9C94-41C3-A5AE-B5E6008BFBFF}" type="presOf" srcId="{E8348C74-419B-4CBD-A0F0-1F7ACFEF4050}" destId="{2F0082C4-C4BE-4A13-9263-B664D488433A}" srcOrd="0" destOrd="0" presId="urn:microsoft.com/office/officeart/2005/8/layout/process1"/>
    <dgm:cxn modelId="{1401E14B-7505-4CF4-AFD6-71E20FC0B307}" srcId="{E8348C74-419B-4CBD-A0F0-1F7ACFEF4050}" destId="{552A21E8-2256-4714-B37E-03B5D0B5263A}" srcOrd="0" destOrd="0" parTransId="{5DAA3A72-14B4-435A-B7A9-7BC6A0348AA3}" sibTransId="{2E1DDFB8-B070-439E-80F7-3A2DA00016D0}"/>
    <dgm:cxn modelId="{BBD855AB-DEFE-423A-AEAB-43600DC40239}" type="presOf" srcId="{2E1DDFB8-B070-439E-80F7-3A2DA00016D0}" destId="{CEF9E531-C8C7-4E7A-A225-EA39066A26DC}" srcOrd="0" destOrd="0" presId="urn:microsoft.com/office/officeart/2005/8/layout/process1"/>
    <dgm:cxn modelId="{764AA28C-966F-41D6-B58C-A327E38DF52A}" srcId="{E8348C74-419B-4CBD-A0F0-1F7ACFEF4050}" destId="{8F56C670-B0E9-47FB-A22C-B14C13000B07}" srcOrd="2" destOrd="0" parTransId="{33EF13E6-C1FB-4087-9F9D-7E46EAACCF7B}" sibTransId="{C4ECC8AD-28E0-4A23-85BE-070F4D1AC617}"/>
    <dgm:cxn modelId="{AFEC2C77-D02E-4B53-B5DD-8CBA9583A43B}" type="presOf" srcId="{552A21E8-2256-4714-B37E-03B5D0B5263A}" destId="{7DF612CB-4187-46A3-991A-6065F4B730C7}" srcOrd="0" destOrd="0" presId="urn:microsoft.com/office/officeart/2005/8/layout/process1"/>
    <dgm:cxn modelId="{C5F97755-AB50-4D14-9D6E-47DF79B80C06}" srcId="{E8348C74-419B-4CBD-A0F0-1F7ACFEF4050}" destId="{1266C985-401A-43D7-BB34-CFAF96285975}" srcOrd="1" destOrd="0" parTransId="{68CDE167-C332-4815-A57D-3A792382C34A}" sibTransId="{66AA9B7C-0D47-4117-B34E-E5438F25A6A4}"/>
    <dgm:cxn modelId="{89EB4D30-5C5F-42ED-BC52-E848FDC9EF51}" type="presOf" srcId="{8F56C670-B0E9-47FB-A22C-B14C13000B07}" destId="{225816FD-231F-41D5-A364-CEF8575B3567}" srcOrd="0" destOrd="0" presId="urn:microsoft.com/office/officeart/2005/8/layout/process1"/>
    <dgm:cxn modelId="{6F411F0A-3624-47B0-8DBF-5A29AAA526A9}" type="presParOf" srcId="{2F0082C4-C4BE-4A13-9263-B664D488433A}" destId="{7DF612CB-4187-46A3-991A-6065F4B730C7}" srcOrd="0" destOrd="0" presId="urn:microsoft.com/office/officeart/2005/8/layout/process1"/>
    <dgm:cxn modelId="{B9F29D09-4A91-4B1E-B695-EA667910AA30}" type="presParOf" srcId="{2F0082C4-C4BE-4A13-9263-B664D488433A}" destId="{CEF9E531-C8C7-4E7A-A225-EA39066A26DC}" srcOrd="1" destOrd="0" presId="urn:microsoft.com/office/officeart/2005/8/layout/process1"/>
    <dgm:cxn modelId="{9BF97BD0-5CB2-4CEE-9C17-A90AF53B5565}" type="presParOf" srcId="{CEF9E531-C8C7-4E7A-A225-EA39066A26DC}" destId="{1BE8C6AE-E5F3-4DA1-8286-830A6B08DC62}" srcOrd="0" destOrd="0" presId="urn:microsoft.com/office/officeart/2005/8/layout/process1"/>
    <dgm:cxn modelId="{8CDCB8DF-EDB8-4E31-B2DD-F410B09EEA43}" type="presParOf" srcId="{2F0082C4-C4BE-4A13-9263-B664D488433A}" destId="{E1C9EB6C-F565-46C2-BCA3-9A71A4F13933}" srcOrd="2" destOrd="0" presId="urn:microsoft.com/office/officeart/2005/8/layout/process1"/>
    <dgm:cxn modelId="{5E56EDC4-CCEC-4229-9ECB-BD250F9BA715}" type="presParOf" srcId="{2F0082C4-C4BE-4A13-9263-B664D488433A}" destId="{4467DE2E-0571-4AEC-8946-E414EA4E4135}" srcOrd="3" destOrd="0" presId="urn:microsoft.com/office/officeart/2005/8/layout/process1"/>
    <dgm:cxn modelId="{58D2690D-4FAF-41C5-8022-E37E6BFF66BC}" type="presParOf" srcId="{4467DE2E-0571-4AEC-8946-E414EA4E4135}" destId="{925734E2-73BD-4B5B-AEC2-044F1A138E30}" srcOrd="0" destOrd="0" presId="urn:microsoft.com/office/officeart/2005/8/layout/process1"/>
    <dgm:cxn modelId="{B13380E2-25D9-43AB-8F78-9C528577252C}" type="presParOf" srcId="{2F0082C4-C4BE-4A13-9263-B664D488433A}" destId="{225816FD-231F-41D5-A364-CEF8575B3567}" srcOrd="4" destOrd="0" presId="urn:microsoft.com/office/officeart/2005/8/layout/process1"/>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5773B8E-2EBE-4AA2-8F65-06E88954053E}" type="doc">
      <dgm:prSet loTypeId="urn:microsoft.com/office/officeart/2005/8/layout/process5" loCatId="process" qsTypeId="urn:microsoft.com/office/officeart/2005/8/quickstyle/simple2" qsCatId="simple" csTypeId="urn:microsoft.com/office/officeart/2005/8/colors/colorful1" csCatId="colorful" phldr="1"/>
      <dgm:spPr/>
    </dgm:pt>
    <dgm:pt modelId="{96D483D0-5439-4AF2-BAD2-E44CA383B698}">
      <dgm:prSet phldrT="[Text]" custT="1"/>
      <dgm:spPr/>
      <dgm:t>
        <a:bodyPr/>
        <a:lstStyle/>
        <a:p>
          <a:r>
            <a:rPr lang="en-US" sz="1800" dirty="0" smtClean="0"/>
            <a:t>High level requirements</a:t>
          </a:r>
          <a:endParaRPr lang="en-US" sz="1800" dirty="0"/>
        </a:p>
      </dgm:t>
    </dgm:pt>
    <dgm:pt modelId="{5B7D5AF9-165B-4D1C-AF32-1C34258EAA20}" type="parTrans" cxnId="{DB9D2B77-FD4D-4E7D-871B-A8D413D690FB}">
      <dgm:prSet/>
      <dgm:spPr/>
      <dgm:t>
        <a:bodyPr/>
        <a:lstStyle/>
        <a:p>
          <a:endParaRPr lang="en-US"/>
        </a:p>
      </dgm:t>
    </dgm:pt>
    <dgm:pt modelId="{A526A16F-AF76-46CE-88CC-2E47137A8558}" type="sibTrans" cxnId="{DB9D2B77-FD4D-4E7D-871B-A8D413D690FB}">
      <dgm:prSet/>
      <dgm:spPr/>
      <dgm:t>
        <a:bodyPr/>
        <a:lstStyle/>
        <a:p>
          <a:endParaRPr lang="en-US"/>
        </a:p>
      </dgm:t>
    </dgm:pt>
    <dgm:pt modelId="{2703DF15-E0E6-45A1-A039-8A6BA396AE65}">
      <dgm:prSet phldrT="[Text]" custT="1"/>
      <dgm:spPr/>
      <dgm:t>
        <a:bodyPr/>
        <a:lstStyle/>
        <a:p>
          <a:r>
            <a:rPr lang="en-US" sz="1800" dirty="0" smtClean="0"/>
            <a:t>High level design (with prototypes and </a:t>
          </a:r>
          <a:r>
            <a:rPr lang="en-US" sz="1800" dirty="0" err="1" smtClean="0"/>
            <a:t>PoC</a:t>
          </a:r>
          <a:r>
            <a:rPr lang="en-US" sz="1800" dirty="0" smtClean="0"/>
            <a:t>)</a:t>
          </a:r>
          <a:endParaRPr lang="en-US" sz="1800" dirty="0"/>
        </a:p>
      </dgm:t>
    </dgm:pt>
    <dgm:pt modelId="{6CBC369A-F4CF-4D09-85C2-F7649914BF8C}" type="parTrans" cxnId="{E7D829B2-D3C9-4FC7-AC79-45D70ADD8AF4}">
      <dgm:prSet/>
      <dgm:spPr/>
      <dgm:t>
        <a:bodyPr/>
        <a:lstStyle/>
        <a:p>
          <a:endParaRPr lang="en-US"/>
        </a:p>
      </dgm:t>
    </dgm:pt>
    <dgm:pt modelId="{2ACD15BF-3A5F-43CE-858C-3AA77AE8E1E4}" type="sibTrans" cxnId="{E7D829B2-D3C9-4FC7-AC79-45D70ADD8AF4}">
      <dgm:prSet/>
      <dgm:spPr/>
      <dgm:t>
        <a:bodyPr/>
        <a:lstStyle/>
        <a:p>
          <a:endParaRPr lang="en-US"/>
        </a:p>
      </dgm:t>
    </dgm:pt>
    <dgm:pt modelId="{1EB59517-7DE3-483F-90D9-257BCF23510F}">
      <dgm:prSet phldrT="[Text]" custT="1"/>
      <dgm:spPr/>
      <dgm:t>
        <a:bodyPr/>
        <a:lstStyle/>
        <a:p>
          <a:r>
            <a:rPr lang="en-US" sz="1800" dirty="0" smtClean="0"/>
            <a:t>Full architecture and low level design</a:t>
          </a:r>
          <a:endParaRPr lang="en-US" sz="1800" dirty="0"/>
        </a:p>
      </dgm:t>
    </dgm:pt>
    <dgm:pt modelId="{EBDC6479-11EC-430A-A196-9100613A2AD6}" type="parTrans" cxnId="{CB7B78F1-7BFA-4080-8F76-09FFEC02E53F}">
      <dgm:prSet/>
      <dgm:spPr/>
      <dgm:t>
        <a:bodyPr/>
        <a:lstStyle/>
        <a:p>
          <a:endParaRPr lang="en-US"/>
        </a:p>
      </dgm:t>
    </dgm:pt>
    <dgm:pt modelId="{5CA72659-B40D-4B8F-B8F7-CE7C3FAC37D8}" type="sibTrans" cxnId="{CB7B78F1-7BFA-4080-8F76-09FFEC02E53F}">
      <dgm:prSet/>
      <dgm:spPr/>
      <dgm:t>
        <a:bodyPr/>
        <a:lstStyle/>
        <a:p>
          <a:endParaRPr lang="en-US"/>
        </a:p>
      </dgm:t>
    </dgm:pt>
    <dgm:pt modelId="{43601074-2190-453F-BAD7-B8DC51A6018B}">
      <dgm:prSet phldrT="[Text]" custT="1"/>
      <dgm:spPr/>
      <dgm:t>
        <a:bodyPr/>
        <a:lstStyle/>
        <a:p>
          <a:r>
            <a:rPr lang="en-US" sz="1800" dirty="0" smtClean="0"/>
            <a:t>First plan and estimation (</a:t>
          </a:r>
          <a:r>
            <a:rPr lang="en-US" sz="1800" u="sng" dirty="0" smtClean="0"/>
            <a:t>first contract</a:t>
          </a:r>
          <a:r>
            <a:rPr lang="en-US" sz="1800" dirty="0" smtClean="0"/>
            <a:t>)</a:t>
          </a:r>
          <a:endParaRPr lang="en-US" sz="1800" dirty="0"/>
        </a:p>
      </dgm:t>
    </dgm:pt>
    <dgm:pt modelId="{9AB966DC-7205-4533-B93C-5FC060939786}" type="parTrans" cxnId="{F21D1370-C02A-4FF3-90AD-76A6F65E7974}">
      <dgm:prSet/>
      <dgm:spPr/>
      <dgm:t>
        <a:bodyPr/>
        <a:lstStyle/>
        <a:p>
          <a:endParaRPr lang="en-US"/>
        </a:p>
      </dgm:t>
    </dgm:pt>
    <dgm:pt modelId="{055D1520-9FF7-42ED-83F8-586CE3219F28}" type="sibTrans" cxnId="{F21D1370-C02A-4FF3-90AD-76A6F65E7974}">
      <dgm:prSet/>
      <dgm:spPr/>
      <dgm:t>
        <a:bodyPr/>
        <a:lstStyle/>
        <a:p>
          <a:endParaRPr lang="en-US"/>
        </a:p>
      </dgm:t>
    </dgm:pt>
    <dgm:pt modelId="{1637D7FA-EBCD-4C5E-AFEA-7C51C026083E}">
      <dgm:prSet phldrT="[Text]" custT="1"/>
      <dgm:spPr/>
      <dgm:t>
        <a:bodyPr/>
        <a:lstStyle/>
        <a:p>
          <a:r>
            <a:rPr lang="en-US" sz="1800" dirty="0" smtClean="0"/>
            <a:t>Plan and schedule (</a:t>
          </a:r>
          <a:r>
            <a:rPr lang="en-US" sz="1800" u="sng" dirty="0" smtClean="0"/>
            <a:t>full contract</a:t>
          </a:r>
          <a:r>
            <a:rPr lang="en-US" sz="1800" dirty="0" smtClean="0"/>
            <a:t>)</a:t>
          </a:r>
          <a:endParaRPr lang="en-US" sz="1800" dirty="0"/>
        </a:p>
      </dgm:t>
    </dgm:pt>
    <dgm:pt modelId="{9B9BA3F0-555A-475A-8DB4-8BF8C0260F8F}" type="parTrans" cxnId="{97FF41F3-E41D-4BD4-A0AB-07E956C2F0C1}">
      <dgm:prSet/>
      <dgm:spPr/>
      <dgm:t>
        <a:bodyPr/>
        <a:lstStyle/>
        <a:p>
          <a:endParaRPr lang="en-US"/>
        </a:p>
      </dgm:t>
    </dgm:pt>
    <dgm:pt modelId="{6B48BDB3-F8D7-49FF-A405-425AC28D83E3}" type="sibTrans" cxnId="{97FF41F3-E41D-4BD4-A0AB-07E956C2F0C1}">
      <dgm:prSet/>
      <dgm:spPr/>
      <dgm:t>
        <a:bodyPr/>
        <a:lstStyle/>
        <a:p>
          <a:endParaRPr lang="en-US"/>
        </a:p>
      </dgm:t>
    </dgm:pt>
    <dgm:pt modelId="{D0360C75-7FA9-47EE-9CC5-19167771AAB5}">
      <dgm:prSet phldrT="[Text]" custT="1"/>
      <dgm:spPr/>
      <dgm:t>
        <a:bodyPr/>
        <a:lstStyle/>
        <a:p>
          <a:r>
            <a:rPr lang="en-US" sz="1800" dirty="0" smtClean="0"/>
            <a:t>Implementation/Unit testing (staged delivery if possible)</a:t>
          </a:r>
          <a:endParaRPr lang="en-US" sz="1800" dirty="0"/>
        </a:p>
      </dgm:t>
    </dgm:pt>
    <dgm:pt modelId="{9AB51C76-09EE-449A-89DB-ECC1A48C93C7}" type="parTrans" cxnId="{217C8FEC-FCED-4F3E-B50C-87DD56C37A40}">
      <dgm:prSet/>
      <dgm:spPr/>
      <dgm:t>
        <a:bodyPr/>
        <a:lstStyle/>
        <a:p>
          <a:endParaRPr lang="en-US"/>
        </a:p>
      </dgm:t>
    </dgm:pt>
    <dgm:pt modelId="{DCD62F01-08DC-48A2-A815-9957644A2A99}" type="sibTrans" cxnId="{217C8FEC-FCED-4F3E-B50C-87DD56C37A40}">
      <dgm:prSet/>
      <dgm:spPr/>
      <dgm:t>
        <a:bodyPr/>
        <a:lstStyle/>
        <a:p>
          <a:endParaRPr lang="en-US"/>
        </a:p>
      </dgm:t>
    </dgm:pt>
    <dgm:pt modelId="{9FBEFE03-CC21-4540-AE19-387E70496218}">
      <dgm:prSet phldrT="[Text]" custT="1"/>
      <dgm:spPr/>
      <dgm:t>
        <a:bodyPr/>
        <a:lstStyle/>
        <a:p>
          <a:r>
            <a:rPr lang="en-US" sz="1800" dirty="0" smtClean="0"/>
            <a:t>Detailed requirements and test cases</a:t>
          </a:r>
          <a:endParaRPr lang="en-US" sz="1800" dirty="0"/>
        </a:p>
      </dgm:t>
    </dgm:pt>
    <dgm:pt modelId="{5834F1DF-2085-45B8-8CDE-DA8C79116992}" type="parTrans" cxnId="{6617F8C4-CDF0-4F2A-BA4D-683EA11DCCB6}">
      <dgm:prSet/>
      <dgm:spPr/>
      <dgm:t>
        <a:bodyPr/>
        <a:lstStyle/>
        <a:p>
          <a:endParaRPr lang="en-US"/>
        </a:p>
      </dgm:t>
    </dgm:pt>
    <dgm:pt modelId="{6C72BD96-BF1E-46FC-A140-A057931585A2}" type="sibTrans" cxnId="{6617F8C4-CDF0-4F2A-BA4D-683EA11DCCB6}">
      <dgm:prSet/>
      <dgm:spPr/>
      <dgm:t>
        <a:bodyPr/>
        <a:lstStyle/>
        <a:p>
          <a:endParaRPr lang="en-US"/>
        </a:p>
      </dgm:t>
    </dgm:pt>
    <dgm:pt modelId="{D15B6918-351B-4EB2-87A4-EBC35DCCC4E5}">
      <dgm:prSet phldrT="[Text]" custT="1"/>
      <dgm:spPr/>
      <dgm:t>
        <a:bodyPr/>
        <a:lstStyle/>
        <a:p>
          <a:r>
            <a:rPr lang="en-US" sz="1800" dirty="0" smtClean="0"/>
            <a:t>System testing (staged delivery if possible)</a:t>
          </a:r>
          <a:endParaRPr lang="en-US" sz="1800" dirty="0"/>
        </a:p>
      </dgm:t>
    </dgm:pt>
    <dgm:pt modelId="{6A71E8D5-6056-482F-BA27-9B52ABABA9F2}" type="parTrans" cxnId="{E2DCDB1C-4BB3-4CFA-9241-4D362CF62457}">
      <dgm:prSet/>
      <dgm:spPr/>
      <dgm:t>
        <a:bodyPr/>
        <a:lstStyle/>
        <a:p>
          <a:endParaRPr lang="en-US"/>
        </a:p>
      </dgm:t>
    </dgm:pt>
    <dgm:pt modelId="{3A3936CE-3C1D-48B7-A7FB-80AE99738CEF}" type="sibTrans" cxnId="{E2DCDB1C-4BB3-4CFA-9241-4D362CF62457}">
      <dgm:prSet/>
      <dgm:spPr/>
      <dgm:t>
        <a:bodyPr/>
        <a:lstStyle/>
        <a:p>
          <a:endParaRPr lang="en-US"/>
        </a:p>
      </dgm:t>
    </dgm:pt>
    <dgm:pt modelId="{3A71F888-4DE7-4BD9-8D71-BD559D1FDF80}">
      <dgm:prSet phldrT="[Text]" custT="1"/>
      <dgm:spPr/>
      <dgm:t>
        <a:bodyPr/>
        <a:lstStyle/>
        <a:p>
          <a:r>
            <a:rPr lang="en-US" sz="1800" dirty="0" smtClean="0"/>
            <a:t>Production</a:t>
          </a:r>
          <a:endParaRPr lang="en-US" sz="1800" dirty="0"/>
        </a:p>
      </dgm:t>
    </dgm:pt>
    <dgm:pt modelId="{C2125F25-DF52-4AB5-8F23-A140498F5164}" type="parTrans" cxnId="{FFE539BF-D4C7-4525-891E-9BBC05DEDD9C}">
      <dgm:prSet/>
      <dgm:spPr/>
      <dgm:t>
        <a:bodyPr/>
        <a:lstStyle/>
        <a:p>
          <a:endParaRPr lang="en-US"/>
        </a:p>
      </dgm:t>
    </dgm:pt>
    <dgm:pt modelId="{5F8AEC31-304F-4531-A7E1-EB9A2BBBF2ED}" type="sibTrans" cxnId="{FFE539BF-D4C7-4525-891E-9BBC05DEDD9C}">
      <dgm:prSet/>
      <dgm:spPr/>
      <dgm:t>
        <a:bodyPr/>
        <a:lstStyle/>
        <a:p>
          <a:endParaRPr lang="en-US"/>
        </a:p>
      </dgm:t>
    </dgm:pt>
    <dgm:pt modelId="{2968A398-A6C4-4346-B216-8A0AC86B2048}" type="pres">
      <dgm:prSet presAssocID="{45773B8E-2EBE-4AA2-8F65-06E88954053E}" presName="diagram" presStyleCnt="0">
        <dgm:presLayoutVars>
          <dgm:dir/>
          <dgm:resizeHandles val="exact"/>
        </dgm:presLayoutVars>
      </dgm:prSet>
      <dgm:spPr/>
    </dgm:pt>
    <dgm:pt modelId="{6C3573BE-1F1F-460C-9FB4-D4CE4D4054D3}" type="pres">
      <dgm:prSet presAssocID="{96D483D0-5439-4AF2-BAD2-E44CA383B698}" presName="node" presStyleLbl="node1" presStyleIdx="0" presStyleCnt="9">
        <dgm:presLayoutVars>
          <dgm:bulletEnabled val="1"/>
        </dgm:presLayoutVars>
      </dgm:prSet>
      <dgm:spPr/>
      <dgm:t>
        <a:bodyPr/>
        <a:lstStyle/>
        <a:p>
          <a:endParaRPr lang="en-US"/>
        </a:p>
      </dgm:t>
    </dgm:pt>
    <dgm:pt modelId="{475D3339-A35B-4D84-BC88-5EFBDE329552}" type="pres">
      <dgm:prSet presAssocID="{A526A16F-AF76-46CE-88CC-2E47137A8558}" presName="sibTrans" presStyleLbl="sibTrans2D1" presStyleIdx="0" presStyleCnt="8"/>
      <dgm:spPr/>
      <dgm:t>
        <a:bodyPr/>
        <a:lstStyle/>
        <a:p>
          <a:endParaRPr lang="en-US"/>
        </a:p>
      </dgm:t>
    </dgm:pt>
    <dgm:pt modelId="{3DCE81AB-91B0-44FE-B499-31AC912C892D}" type="pres">
      <dgm:prSet presAssocID="{A526A16F-AF76-46CE-88CC-2E47137A8558}" presName="connectorText" presStyleLbl="sibTrans2D1" presStyleIdx="0" presStyleCnt="8"/>
      <dgm:spPr/>
      <dgm:t>
        <a:bodyPr/>
        <a:lstStyle/>
        <a:p>
          <a:endParaRPr lang="en-US"/>
        </a:p>
      </dgm:t>
    </dgm:pt>
    <dgm:pt modelId="{8D6AFF72-8480-4B75-B35E-D866F381B23F}" type="pres">
      <dgm:prSet presAssocID="{2703DF15-E0E6-45A1-A039-8A6BA396AE65}" presName="node" presStyleLbl="node1" presStyleIdx="1" presStyleCnt="9">
        <dgm:presLayoutVars>
          <dgm:bulletEnabled val="1"/>
        </dgm:presLayoutVars>
      </dgm:prSet>
      <dgm:spPr/>
      <dgm:t>
        <a:bodyPr/>
        <a:lstStyle/>
        <a:p>
          <a:endParaRPr lang="en-US"/>
        </a:p>
      </dgm:t>
    </dgm:pt>
    <dgm:pt modelId="{942E51FA-4CCD-42BF-BF47-392BC1AC4C89}" type="pres">
      <dgm:prSet presAssocID="{2ACD15BF-3A5F-43CE-858C-3AA77AE8E1E4}" presName="sibTrans" presStyleLbl="sibTrans2D1" presStyleIdx="1" presStyleCnt="8"/>
      <dgm:spPr/>
      <dgm:t>
        <a:bodyPr/>
        <a:lstStyle/>
        <a:p>
          <a:endParaRPr lang="en-US"/>
        </a:p>
      </dgm:t>
    </dgm:pt>
    <dgm:pt modelId="{67A9E360-FAEB-4143-B56D-5B0E479A8704}" type="pres">
      <dgm:prSet presAssocID="{2ACD15BF-3A5F-43CE-858C-3AA77AE8E1E4}" presName="connectorText" presStyleLbl="sibTrans2D1" presStyleIdx="1" presStyleCnt="8"/>
      <dgm:spPr/>
      <dgm:t>
        <a:bodyPr/>
        <a:lstStyle/>
        <a:p>
          <a:endParaRPr lang="en-US"/>
        </a:p>
      </dgm:t>
    </dgm:pt>
    <dgm:pt modelId="{C4E48D0C-30CB-469A-BC84-FDAAB6AAEA95}" type="pres">
      <dgm:prSet presAssocID="{43601074-2190-453F-BAD7-B8DC51A6018B}" presName="node" presStyleLbl="node1" presStyleIdx="2" presStyleCnt="9">
        <dgm:presLayoutVars>
          <dgm:bulletEnabled val="1"/>
        </dgm:presLayoutVars>
      </dgm:prSet>
      <dgm:spPr/>
      <dgm:t>
        <a:bodyPr/>
        <a:lstStyle/>
        <a:p>
          <a:endParaRPr lang="en-US"/>
        </a:p>
      </dgm:t>
    </dgm:pt>
    <dgm:pt modelId="{805A60FC-F65B-4E81-B091-101DD1752236}" type="pres">
      <dgm:prSet presAssocID="{055D1520-9FF7-42ED-83F8-586CE3219F28}" presName="sibTrans" presStyleLbl="sibTrans2D1" presStyleIdx="2" presStyleCnt="8"/>
      <dgm:spPr/>
      <dgm:t>
        <a:bodyPr/>
        <a:lstStyle/>
        <a:p>
          <a:endParaRPr lang="en-US"/>
        </a:p>
      </dgm:t>
    </dgm:pt>
    <dgm:pt modelId="{F7F255F0-ACD5-445A-9C5C-821EE5383D82}" type="pres">
      <dgm:prSet presAssocID="{055D1520-9FF7-42ED-83F8-586CE3219F28}" presName="connectorText" presStyleLbl="sibTrans2D1" presStyleIdx="2" presStyleCnt="8"/>
      <dgm:spPr/>
      <dgm:t>
        <a:bodyPr/>
        <a:lstStyle/>
        <a:p>
          <a:endParaRPr lang="en-US"/>
        </a:p>
      </dgm:t>
    </dgm:pt>
    <dgm:pt modelId="{BCB032F7-CAAC-416B-B72D-05E73C6B30F9}" type="pres">
      <dgm:prSet presAssocID="{9FBEFE03-CC21-4540-AE19-387E70496218}" presName="node" presStyleLbl="node1" presStyleIdx="3" presStyleCnt="9">
        <dgm:presLayoutVars>
          <dgm:bulletEnabled val="1"/>
        </dgm:presLayoutVars>
      </dgm:prSet>
      <dgm:spPr/>
      <dgm:t>
        <a:bodyPr/>
        <a:lstStyle/>
        <a:p>
          <a:endParaRPr lang="en-US"/>
        </a:p>
      </dgm:t>
    </dgm:pt>
    <dgm:pt modelId="{A48FA335-27D0-4A38-B9F0-8EEEF3A70E8D}" type="pres">
      <dgm:prSet presAssocID="{6C72BD96-BF1E-46FC-A140-A057931585A2}" presName="sibTrans" presStyleLbl="sibTrans2D1" presStyleIdx="3" presStyleCnt="8"/>
      <dgm:spPr/>
      <dgm:t>
        <a:bodyPr/>
        <a:lstStyle/>
        <a:p>
          <a:endParaRPr lang="en-US"/>
        </a:p>
      </dgm:t>
    </dgm:pt>
    <dgm:pt modelId="{8FFC5543-E5AB-460E-A4A8-D6CE5EE88834}" type="pres">
      <dgm:prSet presAssocID="{6C72BD96-BF1E-46FC-A140-A057931585A2}" presName="connectorText" presStyleLbl="sibTrans2D1" presStyleIdx="3" presStyleCnt="8"/>
      <dgm:spPr/>
      <dgm:t>
        <a:bodyPr/>
        <a:lstStyle/>
        <a:p>
          <a:endParaRPr lang="en-US"/>
        </a:p>
      </dgm:t>
    </dgm:pt>
    <dgm:pt modelId="{1BCD375B-6198-4FB1-A03C-3B0D2C12EE8F}" type="pres">
      <dgm:prSet presAssocID="{1EB59517-7DE3-483F-90D9-257BCF23510F}" presName="node" presStyleLbl="node1" presStyleIdx="4" presStyleCnt="9">
        <dgm:presLayoutVars>
          <dgm:bulletEnabled val="1"/>
        </dgm:presLayoutVars>
      </dgm:prSet>
      <dgm:spPr/>
      <dgm:t>
        <a:bodyPr/>
        <a:lstStyle/>
        <a:p>
          <a:endParaRPr lang="en-US"/>
        </a:p>
      </dgm:t>
    </dgm:pt>
    <dgm:pt modelId="{D23C27CA-7D01-4471-B58B-621618001768}" type="pres">
      <dgm:prSet presAssocID="{5CA72659-B40D-4B8F-B8F7-CE7C3FAC37D8}" presName="sibTrans" presStyleLbl="sibTrans2D1" presStyleIdx="4" presStyleCnt="8"/>
      <dgm:spPr/>
      <dgm:t>
        <a:bodyPr/>
        <a:lstStyle/>
        <a:p>
          <a:endParaRPr lang="en-US"/>
        </a:p>
      </dgm:t>
    </dgm:pt>
    <dgm:pt modelId="{353D149D-BBB6-4FF4-8F34-AF032A817DF2}" type="pres">
      <dgm:prSet presAssocID="{5CA72659-B40D-4B8F-B8F7-CE7C3FAC37D8}" presName="connectorText" presStyleLbl="sibTrans2D1" presStyleIdx="4" presStyleCnt="8"/>
      <dgm:spPr/>
      <dgm:t>
        <a:bodyPr/>
        <a:lstStyle/>
        <a:p>
          <a:endParaRPr lang="en-US"/>
        </a:p>
      </dgm:t>
    </dgm:pt>
    <dgm:pt modelId="{08A130AA-DE8A-4E13-99FD-19C8956F3A83}" type="pres">
      <dgm:prSet presAssocID="{1637D7FA-EBCD-4C5E-AFEA-7C51C026083E}" presName="node" presStyleLbl="node1" presStyleIdx="5" presStyleCnt="9">
        <dgm:presLayoutVars>
          <dgm:bulletEnabled val="1"/>
        </dgm:presLayoutVars>
      </dgm:prSet>
      <dgm:spPr/>
      <dgm:t>
        <a:bodyPr/>
        <a:lstStyle/>
        <a:p>
          <a:endParaRPr lang="en-US"/>
        </a:p>
      </dgm:t>
    </dgm:pt>
    <dgm:pt modelId="{2346B461-EE95-45AF-BB5B-4C4B8BA6A006}" type="pres">
      <dgm:prSet presAssocID="{6B48BDB3-F8D7-49FF-A405-425AC28D83E3}" presName="sibTrans" presStyleLbl="sibTrans2D1" presStyleIdx="5" presStyleCnt="8"/>
      <dgm:spPr/>
      <dgm:t>
        <a:bodyPr/>
        <a:lstStyle/>
        <a:p>
          <a:endParaRPr lang="en-US"/>
        </a:p>
      </dgm:t>
    </dgm:pt>
    <dgm:pt modelId="{6D435A7B-2380-4902-9B0B-07B33D456102}" type="pres">
      <dgm:prSet presAssocID="{6B48BDB3-F8D7-49FF-A405-425AC28D83E3}" presName="connectorText" presStyleLbl="sibTrans2D1" presStyleIdx="5" presStyleCnt="8"/>
      <dgm:spPr/>
      <dgm:t>
        <a:bodyPr/>
        <a:lstStyle/>
        <a:p>
          <a:endParaRPr lang="en-US"/>
        </a:p>
      </dgm:t>
    </dgm:pt>
    <dgm:pt modelId="{EDD4CB7B-6B9C-49B7-AA20-BB293497FE53}" type="pres">
      <dgm:prSet presAssocID="{D0360C75-7FA9-47EE-9CC5-19167771AAB5}" presName="node" presStyleLbl="node1" presStyleIdx="6" presStyleCnt="9">
        <dgm:presLayoutVars>
          <dgm:bulletEnabled val="1"/>
        </dgm:presLayoutVars>
      </dgm:prSet>
      <dgm:spPr/>
      <dgm:t>
        <a:bodyPr/>
        <a:lstStyle/>
        <a:p>
          <a:endParaRPr lang="en-US"/>
        </a:p>
      </dgm:t>
    </dgm:pt>
    <dgm:pt modelId="{5A869DD6-AC45-4673-8198-D02E31875A49}" type="pres">
      <dgm:prSet presAssocID="{DCD62F01-08DC-48A2-A815-9957644A2A99}" presName="sibTrans" presStyleLbl="sibTrans2D1" presStyleIdx="6" presStyleCnt="8"/>
      <dgm:spPr/>
      <dgm:t>
        <a:bodyPr/>
        <a:lstStyle/>
        <a:p>
          <a:endParaRPr lang="en-US"/>
        </a:p>
      </dgm:t>
    </dgm:pt>
    <dgm:pt modelId="{CCE10781-8DE8-43AE-B271-6BB15D544BDC}" type="pres">
      <dgm:prSet presAssocID="{DCD62F01-08DC-48A2-A815-9957644A2A99}" presName="connectorText" presStyleLbl="sibTrans2D1" presStyleIdx="6" presStyleCnt="8"/>
      <dgm:spPr/>
      <dgm:t>
        <a:bodyPr/>
        <a:lstStyle/>
        <a:p>
          <a:endParaRPr lang="en-US"/>
        </a:p>
      </dgm:t>
    </dgm:pt>
    <dgm:pt modelId="{626BB590-1027-4507-BA9A-D49C2AF6C234}" type="pres">
      <dgm:prSet presAssocID="{D15B6918-351B-4EB2-87A4-EBC35DCCC4E5}" presName="node" presStyleLbl="node1" presStyleIdx="7" presStyleCnt="9">
        <dgm:presLayoutVars>
          <dgm:bulletEnabled val="1"/>
        </dgm:presLayoutVars>
      </dgm:prSet>
      <dgm:spPr/>
      <dgm:t>
        <a:bodyPr/>
        <a:lstStyle/>
        <a:p>
          <a:endParaRPr lang="en-US"/>
        </a:p>
      </dgm:t>
    </dgm:pt>
    <dgm:pt modelId="{70E9C0F6-B301-4FE8-A317-54D93CBB09E5}" type="pres">
      <dgm:prSet presAssocID="{3A3936CE-3C1D-48B7-A7FB-80AE99738CEF}" presName="sibTrans" presStyleLbl="sibTrans2D1" presStyleIdx="7" presStyleCnt="8"/>
      <dgm:spPr/>
      <dgm:t>
        <a:bodyPr/>
        <a:lstStyle/>
        <a:p>
          <a:endParaRPr lang="en-US"/>
        </a:p>
      </dgm:t>
    </dgm:pt>
    <dgm:pt modelId="{7C634A58-405F-46F6-82AC-FAC2F22D17E9}" type="pres">
      <dgm:prSet presAssocID="{3A3936CE-3C1D-48B7-A7FB-80AE99738CEF}" presName="connectorText" presStyleLbl="sibTrans2D1" presStyleIdx="7" presStyleCnt="8"/>
      <dgm:spPr/>
      <dgm:t>
        <a:bodyPr/>
        <a:lstStyle/>
        <a:p>
          <a:endParaRPr lang="en-US"/>
        </a:p>
      </dgm:t>
    </dgm:pt>
    <dgm:pt modelId="{35774DE3-BE64-4894-A502-246A28210597}" type="pres">
      <dgm:prSet presAssocID="{3A71F888-4DE7-4BD9-8D71-BD559D1FDF80}" presName="node" presStyleLbl="node1" presStyleIdx="8" presStyleCnt="9">
        <dgm:presLayoutVars>
          <dgm:bulletEnabled val="1"/>
        </dgm:presLayoutVars>
      </dgm:prSet>
      <dgm:spPr/>
      <dgm:t>
        <a:bodyPr/>
        <a:lstStyle/>
        <a:p>
          <a:endParaRPr lang="en-US"/>
        </a:p>
      </dgm:t>
    </dgm:pt>
  </dgm:ptLst>
  <dgm:cxnLst>
    <dgm:cxn modelId="{CB7B78F1-7BFA-4080-8F76-09FFEC02E53F}" srcId="{45773B8E-2EBE-4AA2-8F65-06E88954053E}" destId="{1EB59517-7DE3-483F-90D9-257BCF23510F}" srcOrd="4" destOrd="0" parTransId="{EBDC6479-11EC-430A-A196-9100613A2AD6}" sibTransId="{5CA72659-B40D-4B8F-B8F7-CE7C3FAC37D8}"/>
    <dgm:cxn modelId="{EC16D356-659B-4F56-A115-762EE4C46ED0}" type="presOf" srcId="{2703DF15-E0E6-45A1-A039-8A6BA396AE65}" destId="{8D6AFF72-8480-4B75-B35E-D866F381B23F}" srcOrd="0" destOrd="0" presId="urn:microsoft.com/office/officeart/2005/8/layout/process5"/>
    <dgm:cxn modelId="{8038C2A4-340E-4A0C-868B-8CDDBBB93B88}" type="presOf" srcId="{43601074-2190-453F-BAD7-B8DC51A6018B}" destId="{C4E48D0C-30CB-469A-BC84-FDAAB6AAEA95}" srcOrd="0" destOrd="0" presId="urn:microsoft.com/office/officeart/2005/8/layout/process5"/>
    <dgm:cxn modelId="{71315966-E519-4D28-B126-8EEFFBE67F58}" type="presOf" srcId="{A526A16F-AF76-46CE-88CC-2E47137A8558}" destId="{475D3339-A35B-4D84-BC88-5EFBDE329552}" srcOrd="0" destOrd="0" presId="urn:microsoft.com/office/officeart/2005/8/layout/process5"/>
    <dgm:cxn modelId="{99E4B761-E4C6-4C80-BCE2-856479B4F762}" type="presOf" srcId="{9FBEFE03-CC21-4540-AE19-387E70496218}" destId="{BCB032F7-CAAC-416B-B72D-05E73C6B30F9}" srcOrd="0" destOrd="0" presId="urn:microsoft.com/office/officeart/2005/8/layout/process5"/>
    <dgm:cxn modelId="{A884FBD3-6DA7-4772-A7FB-BFDC93EC15A7}" type="presOf" srcId="{2ACD15BF-3A5F-43CE-858C-3AA77AE8E1E4}" destId="{67A9E360-FAEB-4143-B56D-5B0E479A8704}" srcOrd="1" destOrd="0" presId="urn:microsoft.com/office/officeart/2005/8/layout/process5"/>
    <dgm:cxn modelId="{6A27464A-E819-4396-88FC-98E599ADF860}" type="presOf" srcId="{96D483D0-5439-4AF2-BAD2-E44CA383B698}" destId="{6C3573BE-1F1F-460C-9FB4-D4CE4D4054D3}" srcOrd="0" destOrd="0" presId="urn:microsoft.com/office/officeart/2005/8/layout/process5"/>
    <dgm:cxn modelId="{E2DCDB1C-4BB3-4CFA-9241-4D362CF62457}" srcId="{45773B8E-2EBE-4AA2-8F65-06E88954053E}" destId="{D15B6918-351B-4EB2-87A4-EBC35DCCC4E5}" srcOrd="7" destOrd="0" parTransId="{6A71E8D5-6056-482F-BA27-9B52ABABA9F2}" sibTransId="{3A3936CE-3C1D-48B7-A7FB-80AE99738CEF}"/>
    <dgm:cxn modelId="{F4365774-43CC-4DD9-925B-7E5D772F4415}" type="presOf" srcId="{6C72BD96-BF1E-46FC-A140-A057931585A2}" destId="{A48FA335-27D0-4A38-B9F0-8EEEF3A70E8D}" srcOrd="0" destOrd="0" presId="urn:microsoft.com/office/officeart/2005/8/layout/process5"/>
    <dgm:cxn modelId="{3F2A618B-CFCC-41B7-9B85-98132AE386BF}" type="presOf" srcId="{DCD62F01-08DC-48A2-A815-9957644A2A99}" destId="{CCE10781-8DE8-43AE-B271-6BB15D544BDC}" srcOrd="1" destOrd="0" presId="urn:microsoft.com/office/officeart/2005/8/layout/process5"/>
    <dgm:cxn modelId="{E7D829B2-D3C9-4FC7-AC79-45D70ADD8AF4}" srcId="{45773B8E-2EBE-4AA2-8F65-06E88954053E}" destId="{2703DF15-E0E6-45A1-A039-8A6BA396AE65}" srcOrd="1" destOrd="0" parTransId="{6CBC369A-F4CF-4D09-85C2-F7649914BF8C}" sibTransId="{2ACD15BF-3A5F-43CE-858C-3AA77AE8E1E4}"/>
    <dgm:cxn modelId="{75F351EF-436A-45DA-BEEE-A82BA3DF98DF}" type="presOf" srcId="{055D1520-9FF7-42ED-83F8-586CE3219F28}" destId="{805A60FC-F65B-4E81-B091-101DD1752236}" srcOrd="0" destOrd="0" presId="urn:microsoft.com/office/officeart/2005/8/layout/process5"/>
    <dgm:cxn modelId="{FFE539BF-D4C7-4525-891E-9BBC05DEDD9C}" srcId="{45773B8E-2EBE-4AA2-8F65-06E88954053E}" destId="{3A71F888-4DE7-4BD9-8D71-BD559D1FDF80}" srcOrd="8" destOrd="0" parTransId="{C2125F25-DF52-4AB5-8F23-A140498F5164}" sibTransId="{5F8AEC31-304F-4531-A7E1-EB9A2BBBF2ED}"/>
    <dgm:cxn modelId="{E7E45918-347D-4F49-B6AE-B4A1DDB86D12}" type="presOf" srcId="{A526A16F-AF76-46CE-88CC-2E47137A8558}" destId="{3DCE81AB-91B0-44FE-B499-31AC912C892D}" srcOrd="1" destOrd="0" presId="urn:microsoft.com/office/officeart/2005/8/layout/process5"/>
    <dgm:cxn modelId="{8772ABCC-CBAA-4A41-91E5-6620BBF2834F}" type="presOf" srcId="{1EB59517-7DE3-483F-90D9-257BCF23510F}" destId="{1BCD375B-6198-4FB1-A03C-3B0D2C12EE8F}" srcOrd="0" destOrd="0" presId="urn:microsoft.com/office/officeart/2005/8/layout/process5"/>
    <dgm:cxn modelId="{833DD324-0BAE-4DD2-9F99-FFD99E5B59B0}" type="presOf" srcId="{6C72BD96-BF1E-46FC-A140-A057931585A2}" destId="{8FFC5543-E5AB-460E-A4A8-D6CE5EE88834}" srcOrd="1" destOrd="0" presId="urn:microsoft.com/office/officeart/2005/8/layout/process5"/>
    <dgm:cxn modelId="{A794638F-B98C-412B-B739-0D92E4E0AF9E}" type="presOf" srcId="{5CA72659-B40D-4B8F-B8F7-CE7C3FAC37D8}" destId="{353D149D-BBB6-4FF4-8F34-AF032A817DF2}" srcOrd="1" destOrd="0" presId="urn:microsoft.com/office/officeart/2005/8/layout/process5"/>
    <dgm:cxn modelId="{6ACD1C4B-E345-4EDF-97F9-8C63D0186F96}" type="presOf" srcId="{45773B8E-2EBE-4AA2-8F65-06E88954053E}" destId="{2968A398-A6C4-4346-B216-8A0AC86B2048}" srcOrd="0" destOrd="0" presId="urn:microsoft.com/office/officeart/2005/8/layout/process5"/>
    <dgm:cxn modelId="{5A2077A7-2FB2-4C47-9423-EEAD71831A25}" type="presOf" srcId="{5CA72659-B40D-4B8F-B8F7-CE7C3FAC37D8}" destId="{D23C27CA-7D01-4471-B58B-621618001768}" srcOrd="0" destOrd="0" presId="urn:microsoft.com/office/officeart/2005/8/layout/process5"/>
    <dgm:cxn modelId="{F21D1370-C02A-4FF3-90AD-76A6F65E7974}" srcId="{45773B8E-2EBE-4AA2-8F65-06E88954053E}" destId="{43601074-2190-453F-BAD7-B8DC51A6018B}" srcOrd="2" destOrd="0" parTransId="{9AB966DC-7205-4533-B93C-5FC060939786}" sibTransId="{055D1520-9FF7-42ED-83F8-586CE3219F28}"/>
    <dgm:cxn modelId="{97FF41F3-E41D-4BD4-A0AB-07E956C2F0C1}" srcId="{45773B8E-2EBE-4AA2-8F65-06E88954053E}" destId="{1637D7FA-EBCD-4C5E-AFEA-7C51C026083E}" srcOrd="5" destOrd="0" parTransId="{9B9BA3F0-555A-475A-8DB4-8BF8C0260F8F}" sibTransId="{6B48BDB3-F8D7-49FF-A405-425AC28D83E3}"/>
    <dgm:cxn modelId="{1DC40DF8-F6C3-44FF-BA0D-33277F88BFB2}" type="presOf" srcId="{3A71F888-4DE7-4BD9-8D71-BD559D1FDF80}" destId="{35774DE3-BE64-4894-A502-246A28210597}" srcOrd="0" destOrd="0" presId="urn:microsoft.com/office/officeart/2005/8/layout/process5"/>
    <dgm:cxn modelId="{4E8BFD4D-4E94-4F5C-BD93-441418B6F89D}" type="presOf" srcId="{6B48BDB3-F8D7-49FF-A405-425AC28D83E3}" destId="{6D435A7B-2380-4902-9B0B-07B33D456102}" srcOrd="1" destOrd="0" presId="urn:microsoft.com/office/officeart/2005/8/layout/process5"/>
    <dgm:cxn modelId="{217C8FEC-FCED-4F3E-B50C-87DD56C37A40}" srcId="{45773B8E-2EBE-4AA2-8F65-06E88954053E}" destId="{D0360C75-7FA9-47EE-9CC5-19167771AAB5}" srcOrd="6" destOrd="0" parTransId="{9AB51C76-09EE-449A-89DB-ECC1A48C93C7}" sibTransId="{DCD62F01-08DC-48A2-A815-9957644A2A99}"/>
    <dgm:cxn modelId="{58007F1D-6A29-4818-8D5D-D2DAF237C088}" type="presOf" srcId="{3A3936CE-3C1D-48B7-A7FB-80AE99738CEF}" destId="{70E9C0F6-B301-4FE8-A317-54D93CBB09E5}" srcOrd="0" destOrd="0" presId="urn:microsoft.com/office/officeart/2005/8/layout/process5"/>
    <dgm:cxn modelId="{6617F8C4-CDF0-4F2A-BA4D-683EA11DCCB6}" srcId="{45773B8E-2EBE-4AA2-8F65-06E88954053E}" destId="{9FBEFE03-CC21-4540-AE19-387E70496218}" srcOrd="3" destOrd="0" parTransId="{5834F1DF-2085-45B8-8CDE-DA8C79116992}" sibTransId="{6C72BD96-BF1E-46FC-A140-A057931585A2}"/>
    <dgm:cxn modelId="{93E4B21F-3461-4B4D-95FE-80CB4245479E}" type="presOf" srcId="{1637D7FA-EBCD-4C5E-AFEA-7C51C026083E}" destId="{08A130AA-DE8A-4E13-99FD-19C8956F3A83}" srcOrd="0" destOrd="0" presId="urn:microsoft.com/office/officeart/2005/8/layout/process5"/>
    <dgm:cxn modelId="{DBEDE9F5-3DD8-44B2-A24B-E86E108CECF6}" type="presOf" srcId="{2ACD15BF-3A5F-43CE-858C-3AA77AE8E1E4}" destId="{942E51FA-4CCD-42BF-BF47-392BC1AC4C89}" srcOrd="0" destOrd="0" presId="urn:microsoft.com/office/officeart/2005/8/layout/process5"/>
    <dgm:cxn modelId="{F3ED1393-82C7-4141-9321-B53C5A38D6F8}" type="presOf" srcId="{D0360C75-7FA9-47EE-9CC5-19167771AAB5}" destId="{EDD4CB7B-6B9C-49B7-AA20-BB293497FE53}" srcOrd="0" destOrd="0" presId="urn:microsoft.com/office/officeart/2005/8/layout/process5"/>
    <dgm:cxn modelId="{E2E1291C-B7B6-4F1A-AD23-A64EA94C7D9F}" type="presOf" srcId="{055D1520-9FF7-42ED-83F8-586CE3219F28}" destId="{F7F255F0-ACD5-445A-9C5C-821EE5383D82}" srcOrd="1" destOrd="0" presId="urn:microsoft.com/office/officeart/2005/8/layout/process5"/>
    <dgm:cxn modelId="{1D97D47C-E190-4665-BA39-BC7F68CA812C}" type="presOf" srcId="{D15B6918-351B-4EB2-87A4-EBC35DCCC4E5}" destId="{626BB590-1027-4507-BA9A-D49C2AF6C234}" srcOrd="0" destOrd="0" presId="urn:microsoft.com/office/officeart/2005/8/layout/process5"/>
    <dgm:cxn modelId="{DB9D2B77-FD4D-4E7D-871B-A8D413D690FB}" srcId="{45773B8E-2EBE-4AA2-8F65-06E88954053E}" destId="{96D483D0-5439-4AF2-BAD2-E44CA383B698}" srcOrd="0" destOrd="0" parTransId="{5B7D5AF9-165B-4D1C-AF32-1C34258EAA20}" sibTransId="{A526A16F-AF76-46CE-88CC-2E47137A8558}"/>
    <dgm:cxn modelId="{A6D98A57-679C-4E09-A1F8-5E689A797F20}" type="presOf" srcId="{6B48BDB3-F8D7-49FF-A405-425AC28D83E3}" destId="{2346B461-EE95-45AF-BB5B-4C4B8BA6A006}" srcOrd="0" destOrd="0" presId="urn:microsoft.com/office/officeart/2005/8/layout/process5"/>
    <dgm:cxn modelId="{684D350E-F828-44D1-A38B-EC6151A751B7}" type="presOf" srcId="{3A3936CE-3C1D-48B7-A7FB-80AE99738CEF}" destId="{7C634A58-405F-46F6-82AC-FAC2F22D17E9}" srcOrd="1" destOrd="0" presId="urn:microsoft.com/office/officeart/2005/8/layout/process5"/>
    <dgm:cxn modelId="{6E9EB280-FE85-412B-BE28-861F64496CA5}" type="presOf" srcId="{DCD62F01-08DC-48A2-A815-9957644A2A99}" destId="{5A869DD6-AC45-4673-8198-D02E31875A49}" srcOrd="0" destOrd="0" presId="urn:microsoft.com/office/officeart/2005/8/layout/process5"/>
    <dgm:cxn modelId="{9BBC4395-0810-4F7F-B54F-F5921378E102}" type="presParOf" srcId="{2968A398-A6C4-4346-B216-8A0AC86B2048}" destId="{6C3573BE-1F1F-460C-9FB4-D4CE4D4054D3}" srcOrd="0" destOrd="0" presId="urn:microsoft.com/office/officeart/2005/8/layout/process5"/>
    <dgm:cxn modelId="{A9B2F538-C55C-40B4-99E1-4DB85CD43037}" type="presParOf" srcId="{2968A398-A6C4-4346-B216-8A0AC86B2048}" destId="{475D3339-A35B-4D84-BC88-5EFBDE329552}" srcOrd="1" destOrd="0" presId="urn:microsoft.com/office/officeart/2005/8/layout/process5"/>
    <dgm:cxn modelId="{17AFC1E4-9CCF-443C-A91C-89195434F718}" type="presParOf" srcId="{475D3339-A35B-4D84-BC88-5EFBDE329552}" destId="{3DCE81AB-91B0-44FE-B499-31AC912C892D}" srcOrd="0" destOrd="0" presId="urn:microsoft.com/office/officeart/2005/8/layout/process5"/>
    <dgm:cxn modelId="{9735F4C9-2626-44A1-AEF9-A2104CD1549E}" type="presParOf" srcId="{2968A398-A6C4-4346-B216-8A0AC86B2048}" destId="{8D6AFF72-8480-4B75-B35E-D866F381B23F}" srcOrd="2" destOrd="0" presId="urn:microsoft.com/office/officeart/2005/8/layout/process5"/>
    <dgm:cxn modelId="{91F8E7E2-6D6B-4D66-83DB-42FAC98AD0D7}" type="presParOf" srcId="{2968A398-A6C4-4346-B216-8A0AC86B2048}" destId="{942E51FA-4CCD-42BF-BF47-392BC1AC4C89}" srcOrd="3" destOrd="0" presId="urn:microsoft.com/office/officeart/2005/8/layout/process5"/>
    <dgm:cxn modelId="{0D6E7C62-461E-4313-86BE-9698F63A83AA}" type="presParOf" srcId="{942E51FA-4CCD-42BF-BF47-392BC1AC4C89}" destId="{67A9E360-FAEB-4143-B56D-5B0E479A8704}" srcOrd="0" destOrd="0" presId="urn:microsoft.com/office/officeart/2005/8/layout/process5"/>
    <dgm:cxn modelId="{4CA0C32A-C476-42E0-AF01-439E1FE7E310}" type="presParOf" srcId="{2968A398-A6C4-4346-B216-8A0AC86B2048}" destId="{C4E48D0C-30CB-469A-BC84-FDAAB6AAEA95}" srcOrd="4" destOrd="0" presId="urn:microsoft.com/office/officeart/2005/8/layout/process5"/>
    <dgm:cxn modelId="{83943DB5-F664-4034-A81C-D84ECEF243FF}" type="presParOf" srcId="{2968A398-A6C4-4346-B216-8A0AC86B2048}" destId="{805A60FC-F65B-4E81-B091-101DD1752236}" srcOrd="5" destOrd="0" presId="urn:microsoft.com/office/officeart/2005/8/layout/process5"/>
    <dgm:cxn modelId="{660D3C61-A07F-4F74-8304-CA48C5D0DE13}" type="presParOf" srcId="{805A60FC-F65B-4E81-B091-101DD1752236}" destId="{F7F255F0-ACD5-445A-9C5C-821EE5383D82}" srcOrd="0" destOrd="0" presId="urn:microsoft.com/office/officeart/2005/8/layout/process5"/>
    <dgm:cxn modelId="{7483480A-E2D9-44D9-93B6-08CAC0DEBEC1}" type="presParOf" srcId="{2968A398-A6C4-4346-B216-8A0AC86B2048}" destId="{BCB032F7-CAAC-416B-B72D-05E73C6B30F9}" srcOrd="6" destOrd="0" presId="urn:microsoft.com/office/officeart/2005/8/layout/process5"/>
    <dgm:cxn modelId="{BEA30AD5-4193-40B3-A6C2-C751E5E8015D}" type="presParOf" srcId="{2968A398-A6C4-4346-B216-8A0AC86B2048}" destId="{A48FA335-27D0-4A38-B9F0-8EEEF3A70E8D}" srcOrd="7" destOrd="0" presId="urn:microsoft.com/office/officeart/2005/8/layout/process5"/>
    <dgm:cxn modelId="{26774A3C-B4C2-4084-A3AB-109112984E6F}" type="presParOf" srcId="{A48FA335-27D0-4A38-B9F0-8EEEF3A70E8D}" destId="{8FFC5543-E5AB-460E-A4A8-D6CE5EE88834}" srcOrd="0" destOrd="0" presId="urn:microsoft.com/office/officeart/2005/8/layout/process5"/>
    <dgm:cxn modelId="{BEBCA1D6-1E80-466B-8FA4-D2C32524F50B}" type="presParOf" srcId="{2968A398-A6C4-4346-B216-8A0AC86B2048}" destId="{1BCD375B-6198-4FB1-A03C-3B0D2C12EE8F}" srcOrd="8" destOrd="0" presId="urn:microsoft.com/office/officeart/2005/8/layout/process5"/>
    <dgm:cxn modelId="{09230664-2E7D-41C1-94AF-94BDFE6762F8}" type="presParOf" srcId="{2968A398-A6C4-4346-B216-8A0AC86B2048}" destId="{D23C27CA-7D01-4471-B58B-621618001768}" srcOrd="9" destOrd="0" presId="urn:microsoft.com/office/officeart/2005/8/layout/process5"/>
    <dgm:cxn modelId="{977CD24A-4F29-4C7A-8064-5FD375C84F13}" type="presParOf" srcId="{D23C27CA-7D01-4471-B58B-621618001768}" destId="{353D149D-BBB6-4FF4-8F34-AF032A817DF2}" srcOrd="0" destOrd="0" presId="urn:microsoft.com/office/officeart/2005/8/layout/process5"/>
    <dgm:cxn modelId="{0782D2AF-1D0F-4B27-8674-05EDB9AD9D18}" type="presParOf" srcId="{2968A398-A6C4-4346-B216-8A0AC86B2048}" destId="{08A130AA-DE8A-4E13-99FD-19C8956F3A83}" srcOrd="10" destOrd="0" presId="urn:microsoft.com/office/officeart/2005/8/layout/process5"/>
    <dgm:cxn modelId="{9E3B394F-4D76-4651-8A99-0B4D766B17E4}" type="presParOf" srcId="{2968A398-A6C4-4346-B216-8A0AC86B2048}" destId="{2346B461-EE95-45AF-BB5B-4C4B8BA6A006}" srcOrd="11" destOrd="0" presId="urn:microsoft.com/office/officeart/2005/8/layout/process5"/>
    <dgm:cxn modelId="{61F01D33-9FBE-46FF-B4FA-D2B15A919E08}" type="presParOf" srcId="{2346B461-EE95-45AF-BB5B-4C4B8BA6A006}" destId="{6D435A7B-2380-4902-9B0B-07B33D456102}" srcOrd="0" destOrd="0" presId="urn:microsoft.com/office/officeart/2005/8/layout/process5"/>
    <dgm:cxn modelId="{78E7D988-3409-4153-B2E3-BA5DC349313C}" type="presParOf" srcId="{2968A398-A6C4-4346-B216-8A0AC86B2048}" destId="{EDD4CB7B-6B9C-49B7-AA20-BB293497FE53}" srcOrd="12" destOrd="0" presId="urn:microsoft.com/office/officeart/2005/8/layout/process5"/>
    <dgm:cxn modelId="{802A8743-2347-4A86-86CE-6615BCA5157F}" type="presParOf" srcId="{2968A398-A6C4-4346-B216-8A0AC86B2048}" destId="{5A869DD6-AC45-4673-8198-D02E31875A49}" srcOrd="13" destOrd="0" presId="urn:microsoft.com/office/officeart/2005/8/layout/process5"/>
    <dgm:cxn modelId="{37071C7D-A200-48DF-943C-A6B28FB59465}" type="presParOf" srcId="{5A869DD6-AC45-4673-8198-D02E31875A49}" destId="{CCE10781-8DE8-43AE-B271-6BB15D544BDC}" srcOrd="0" destOrd="0" presId="urn:microsoft.com/office/officeart/2005/8/layout/process5"/>
    <dgm:cxn modelId="{15E761CD-358F-4E4F-B84A-0ADB8E366E9E}" type="presParOf" srcId="{2968A398-A6C4-4346-B216-8A0AC86B2048}" destId="{626BB590-1027-4507-BA9A-D49C2AF6C234}" srcOrd="14" destOrd="0" presId="urn:microsoft.com/office/officeart/2005/8/layout/process5"/>
    <dgm:cxn modelId="{525D3556-794E-4AB6-A761-40B43EA0B1A2}" type="presParOf" srcId="{2968A398-A6C4-4346-B216-8A0AC86B2048}" destId="{70E9C0F6-B301-4FE8-A317-54D93CBB09E5}" srcOrd="15" destOrd="0" presId="urn:microsoft.com/office/officeart/2005/8/layout/process5"/>
    <dgm:cxn modelId="{7A1F5955-8DC0-4AC7-AA51-6F98FFFC0112}" type="presParOf" srcId="{70E9C0F6-B301-4FE8-A317-54D93CBB09E5}" destId="{7C634A58-405F-46F6-82AC-FAC2F22D17E9}" srcOrd="0" destOrd="0" presId="urn:microsoft.com/office/officeart/2005/8/layout/process5"/>
    <dgm:cxn modelId="{950701F2-0CAA-4403-A1B1-740705A922A5}" type="presParOf" srcId="{2968A398-A6C4-4346-B216-8A0AC86B2048}" destId="{35774DE3-BE64-4894-A502-246A28210597}" srcOrd="16" destOrd="0" presId="urn:microsoft.com/office/officeart/2005/8/layout/process5"/>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5773B8E-2EBE-4AA2-8F65-06E88954053E}" type="doc">
      <dgm:prSet loTypeId="urn:microsoft.com/office/officeart/2005/8/layout/process5" loCatId="process" qsTypeId="urn:microsoft.com/office/officeart/2005/8/quickstyle/simple2" qsCatId="simple" csTypeId="urn:microsoft.com/office/officeart/2005/8/colors/colorful1" csCatId="colorful" phldr="1"/>
      <dgm:spPr/>
    </dgm:pt>
    <dgm:pt modelId="{96D483D0-5439-4AF2-BAD2-E44CA383B698}">
      <dgm:prSet phldrT="[Text]" custT="1"/>
      <dgm:spPr/>
      <dgm:t>
        <a:bodyPr/>
        <a:lstStyle/>
        <a:p>
          <a:r>
            <a:rPr lang="en-US" sz="1800" dirty="0" smtClean="0"/>
            <a:t>High level requirements</a:t>
          </a:r>
          <a:endParaRPr lang="en-US" sz="1800" dirty="0"/>
        </a:p>
      </dgm:t>
    </dgm:pt>
    <dgm:pt modelId="{5B7D5AF9-165B-4D1C-AF32-1C34258EAA20}" type="parTrans" cxnId="{DB9D2B77-FD4D-4E7D-871B-A8D413D690FB}">
      <dgm:prSet/>
      <dgm:spPr/>
      <dgm:t>
        <a:bodyPr/>
        <a:lstStyle/>
        <a:p>
          <a:endParaRPr lang="en-US"/>
        </a:p>
      </dgm:t>
    </dgm:pt>
    <dgm:pt modelId="{A526A16F-AF76-46CE-88CC-2E47137A8558}" type="sibTrans" cxnId="{DB9D2B77-FD4D-4E7D-871B-A8D413D690FB}">
      <dgm:prSet/>
      <dgm:spPr/>
      <dgm:t>
        <a:bodyPr/>
        <a:lstStyle/>
        <a:p>
          <a:endParaRPr lang="en-US"/>
        </a:p>
      </dgm:t>
    </dgm:pt>
    <dgm:pt modelId="{2703DF15-E0E6-45A1-A039-8A6BA396AE65}">
      <dgm:prSet phldrT="[Text]" custT="1"/>
      <dgm:spPr/>
      <dgm:t>
        <a:bodyPr/>
        <a:lstStyle/>
        <a:p>
          <a:r>
            <a:rPr lang="en-US" sz="1800" dirty="0" smtClean="0"/>
            <a:t>Current system understanding (with prototypes and </a:t>
          </a:r>
          <a:r>
            <a:rPr lang="en-US" sz="1800" dirty="0" err="1" smtClean="0"/>
            <a:t>PoC</a:t>
          </a:r>
          <a:r>
            <a:rPr lang="en-US" sz="1800" dirty="0" smtClean="0"/>
            <a:t>)</a:t>
          </a:r>
          <a:endParaRPr lang="en-US" sz="1800" dirty="0"/>
        </a:p>
      </dgm:t>
    </dgm:pt>
    <dgm:pt modelId="{6CBC369A-F4CF-4D09-85C2-F7649914BF8C}" type="parTrans" cxnId="{E7D829B2-D3C9-4FC7-AC79-45D70ADD8AF4}">
      <dgm:prSet/>
      <dgm:spPr/>
      <dgm:t>
        <a:bodyPr/>
        <a:lstStyle/>
        <a:p>
          <a:endParaRPr lang="en-US"/>
        </a:p>
      </dgm:t>
    </dgm:pt>
    <dgm:pt modelId="{2ACD15BF-3A5F-43CE-858C-3AA77AE8E1E4}" type="sibTrans" cxnId="{E7D829B2-D3C9-4FC7-AC79-45D70ADD8AF4}">
      <dgm:prSet/>
      <dgm:spPr/>
      <dgm:t>
        <a:bodyPr/>
        <a:lstStyle/>
        <a:p>
          <a:endParaRPr lang="en-US"/>
        </a:p>
      </dgm:t>
    </dgm:pt>
    <dgm:pt modelId="{1EB59517-7DE3-483F-90D9-257BCF23510F}">
      <dgm:prSet phldrT="[Text]" custT="1"/>
      <dgm:spPr/>
      <dgm:t>
        <a:bodyPr/>
        <a:lstStyle/>
        <a:p>
          <a:r>
            <a:rPr lang="en-US" sz="1800" dirty="0" smtClean="0"/>
            <a:t>Revised architecture and low level design</a:t>
          </a:r>
          <a:endParaRPr lang="en-US" sz="1800" dirty="0"/>
        </a:p>
      </dgm:t>
    </dgm:pt>
    <dgm:pt modelId="{EBDC6479-11EC-430A-A196-9100613A2AD6}" type="parTrans" cxnId="{CB7B78F1-7BFA-4080-8F76-09FFEC02E53F}">
      <dgm:prSet/>
      <dgm:spPr/>
      <dgm:t>
        <a:bodyPr/>
        <a:lstStyle/>
        <a:p>
          <a:endParaRPr lang="en-US"/>
        </a:p>
      </dgm:t>
    </dgm:pt>
    <dgm:pt modelId="{5CA72659-B40D-4B8F-B8F7-CE7C3FAC37D8}" type="sibTrans" cxnId="{CB7B78F1-7BFA-4080-8F76-09FFEC02E53F}">
      <dgm:prSet/>
      <dgm:spPr/>
      <dgm:t>
        <a:bodyPr/>
        <a:lstStyle/>
        <a:p>
          <a:endParaRPr lang="en-US"/>
        </a:p>
      </dgm:t>
    </dgm:pt>
    <dgm:pt modelId="{43601074-2190-453F-BAD7-B8DC51A6018B}">
      <dgm:prSet phldrT="[Text]" custT="1"/>
      <dgm:spPr/>
      <dgm:t>
        <a:bodyPr/>
        <a:lstStyle/>
        <a:p>
          <a:r>
            <a:rPr lang="en-US" sz="1800" dirty="0" smtClean="0"/>
            <a:t>First plan and estimation (</a:t>
          </a:r>
          <a:r>
            <a:rPr lang="en-US" sz="1800" u="sng" dirty="0" smtClean="0"/>
            <a:t>first contract</a:t>
          </a:r>
          <a:r>
            <a:rPr lang="en-US" sz="1800" dirty="0" smtClean="0"/>
            <a:t>)</a:t>
          </a:r>
          <a:endParaRPr lang="en-US" sz="1800" dirty="0"/>
        </a:p>
      </dgm:t>
    </dgm:pt>
    <dgm:pt modelId="{9AB966DC-7205-4533-B93C-5FC060939786}" type="parTrans" cxnId="{F21D1370-C02A-4FF3-90AD-76A6F65E7974}">
      <dgm:prSet/>
      <dgm:spPr/>
      <dgm:t>
        <a:bodyPr/>
        <a:lstStyle/>
        <a:p>
          <a:endParaRPr lang="en-US"/>
        </a:p>
      </dgm:t>
    </dgm:pt>
    <dgm:pt modelId="{055D1520-9FF7-42ED-83F8-586CE3219F28}" type="sibTrans" cxnId="{F21D1370-C02A-4FF3-90AD-76A6F65E7974}">
      <dgm:prSet/>
      <dgm:spPr/>
      <dgm:t>
        <a:bodyPr/>
        <a:lstStyle/>
        <a:p>
          <a:endParaRPr lang="en-US"/>
        </a:p>
      </dgm:t>
    </dgm:pt>
    <dgm:pt modelId="{1637D7FA-EBCD-4C5E-AFEA-7C51C026083E}">
      <dgm:prSet phldrT="[Text]" custT="1"/>
      <dgm:spPr/>
      <dgm:t>
        <a:bodyPr/>
        <a:lstStyle/>
        <a:p>
          <a:r>
            <a:rPr lang="en-US" sz="1800" dirty="0" smtClean="0"/>
            <a:t>Plan and schedule (</a:t>
          </a:r>
          <a:r>
            <a:rPr lang="en-US" sz="1800" u="sng" dirty="0" smtClean="0"/>
            <a:t>full contract</a:t>
          </a:r>
          <a:r>
            <a:rPr lang="en-US" sz="1800" dirty="0" smtClean="0"/>
            <a:t>)</a:t>
          </a:r>
          <a:endParaRPr lang="en-US" sz="1800" dirty="0"/>
        </a:p>
      </dgm:t>
    </dgm:pt>
    <dgm:pt modelId="{9B9BA3F0-555A-475A-8DB4-8BF8C0260F8F}" type="parTrans" cxnId="{97FF41F3-E41D-4BD4-A0AB-07E956C2F0C1}">
      <dgm:prSet/>
      <dgm:spPr/>
      <dgm:t>
        <a:bodyPr/>
        <a:lstStyle/>
        <a:p>
          <a:endParaRPr lang="en-US"/>
        </a:p>
      </dgm:t>
    </dgm:pt>
    <dgm:pt modelId="{6B48BDB3-F8D7-49FF-A405-425AC28D83E3}" type="sibTrans" cxnId="{97FF41F3-E41D-4BD4-A0AB-07E956C2F0C1}">
      <dgm:prSet/>
      <dgm:spPr/>
      <dgm:t>
        <a:bodyPr/>
        <a:lstStyle/>
        <a:p>
          <a:endParaRPr lang="en-US"/>
        </a:p>
      </dgm:t>
    </dgm:pt>
    <dgm:pt modelId="{D0360C75-7FA9-47EE-9CC5-19167771AAB5}">
      <dgm:prSet phldrT="[Text]" custT="1"/>
      <dgm:spPr/>
      <dgm:t>
        <a:bodyPr/>
        <a:lstStyle/>
        <a:p>
          <a:r>
            <a:rPr lang="en-US" sz="1800" dirty="0" smtClean="0"/>
            <a:t>Implementation/Unit testing (staged delivery if possible)</a:t>
          </a:r>
          <a:endParaRPr lang="en-US" sz="1800" dirty="0"/>
        </a:p>
      </dgm:t>
    </dgm:pt>
    <dgm:pt modelId="{9AB51C76-09EE-449A-89DB-ECC1A48C93C7}" type="parTrans" cxnId="{217C8FEC-FCED-4F3E-B50C-87DD56C37A40}">
      <dgm:prSet/>
      <dgm:spPr/>
      <dgm:t>
        <a:bodyPr/>
        <a:lstStyle/>
        <a:p>
          <a:endParaRPr lang="en-US"/>
        </a:p>
      </dgm:t>
    </dgm:pt>
    <dgm:pt modelId="{DCD62F01-08DC-48A2-A815-9957644A2A99}" type="sibTrans" cxnId="{217C8FEC-FCED-4F3E-B50C-87DD56C37A40}">
      <dgm:prSet/>
      <dgm:spPr/>
      <dgm:t>
        <a:bodyPr/>
        <a:lstStyle/>
        <a:p>
          <a:endParaRPr lang="en-US"/>
        </a:p>
      </dgm:t>
    </dgm:pt>
    <dgm:pt modelId="{9FBEFE03-CC21-4540-AE19-387E70496218}">
      <dgm:prSet phldrT="[Text]" custT="1"/>
      <dgm:spPr/>
      <dgm:t>
        <a:bodyPr/>
        <a:lstStyle/>
        <a:p>
          <a:r>
            <a:rPr lang="en-US" sz="1800" dirty="0" smtClean="0"/>
            <a:t>Detailed requirements and test cases</a:t>
          </a:r>
          <a:endParaRPr lang="en-US" sz="1800" dirty="0"/>
        </a:p>
      </dgm:t>
    </dgm:pt>
    <dgm:pt modelId="{5834F1DF-2085-45B8-8CDE-DA8C79116992}" type="parTrans" cxnId="{6617F8C4-CDF0-4F2A-BA4D-683EA11DCCB6}">
      <dgm:prSet/>
      <dgm:spPr/>
      <dgm:t>
        <a:bodyPr/>
        <a:lstStyle/>
        <a:p>
          <a:endParaRPr lang="en-US"/>
        </a:p>
      </dgm:t>
    </dgm:pt>
    <dgm:pt modelId="{6C72BD96-BF1E-46FC-A140-A057931585A2}" type="sibTrans" cxnId="{6617F8C4-CDF0-4F2A-BA4D-683EA11DCCB6}">
      <dgm:prSet/>
      <dgm:spPr/>
      <dgm:t>
        <a:bodyPr/>
        <a:lstStyle/>
        <a:p>
          <a:endParaRPr lang="en-US"/>
        </a:p>
      </dgm:t>
    </dgm:pt>
    <dgm:pt modelId="{D15B6918-351B-4EB2-87A4-EBC35DCCC4E5}">
      <dgm:prSet phldrT="[Text]" custT="1"/>
      <dgm:spPr/>
      <dgm:t>
        <a:bodyPr/>
        <a:lstStyle/>
        <a:p>
          <a:r>
            <a:rPr lang="en-US" sz="1800" dirty="0" smtClean="0"/>
            <a:t>System testing (staged delivery if possible) and pilot</a:t>
          </a:r>
          <a:endParaRPr lang="en-US" sz="1800" dirty="0"/>
        </a:p>
      </dgm:t>
    </dgm:pt>
    <dgm:pt modelId="{6A71E8D5-6056-482F-BA27-9B52ABABA9F2}" type="parTrans" cxnId="{E2DCDB1C-4BB3-4CFA-9241-4D362CF62457}">
      <dgm:prSet/>
      <dgm:spPr/>
      <dgm:t>
        <a:bodyPr/>
        <a:lstStyle/>
        <a:p>
          <a:endParaRPr lang="en-US"/>
        </a:p>
      </dgm:t>
    </dgm:pt>
    <dgm:pt modelId="{3A3936CE-3C1D-48B7-A7FB-80AE99738CEF}" type="sibTrans" cxnId="{E2DCDB1C-4BB3-4CFA-9241-4D362CF62457}">
      <dgm:prSet/>
      <dgm:spPr/>
      <dgm:t>
        <a:bodyPr/>
        <a:lstStyle/>
        <a:p>
          <a:endParaRPr lang="en-US"/>
        </a:p>
      </dgm:t>
    </dgm:pt>
    <dgm:pt modelId="{3A71F888-4DE7-4BD9-8D71-BD559D1FDF80}">
      <dgm:prSet phldrT="[Text]" custT="1"/>
      <dgm:spPr/>
      <dgm:t>
        <a:bodyPr/>
        <a:lstStyle/>
        <a:p>
          <a:r>
            <a:rPr lang="en-US" sz="1800" dirty="0" smtClean="0"/>
            <a:t>Production</a:t>
          </a:r>
          <a:endParaRPr lang="en-US" sz="1800" dirty="0"/>
        </a:p>
      </dgm:t>
    </dgm:pt>
    <dgm:pt modelId="{C2125F25-DF52-4AB5-8F23-A140498F5164}" type="parTrans" cxnId="{FFE539BF-D4C7-4525-891E-9BBC05DEDD9C}">
      <dgm:prSet/>
      <dgm:spPr/>
      <dgm:t>
        <a:bodyPr/>
        <a:lstStyle/>
        <a:p>
          <a:endParaRPr lang="en-US"/>
        </a:p>
      </dgm:t>
    </dgm:pt>
    <dgm:pt modelId="{5F8AEC31-304F-4531-A7E1-EB9A2BBBF2ED}" type="sibTrans" cxnId="{FFE539BF-D4C7-4525-891E-9BBC05DEDD9C}">
      <dgm:prSet/>
      <dgm:spPr/>
      <dgm:t>
        <a:bodyPr/>
        <a:lstStyle/>
        <a:p>
          <a:endParaRPr lang="en-US"/>
        </a:p>
      </dgm:t>
    </dgm:pt>
    <dgm:pt modelId="{2968A398-A6C4-4346-B216-8A0AC86B2048}" type="pres">
      <dgm:prSet presAssocID="{45773B8E-2EBE-4AA2-8F65-06E88954053E}" presName="diagram" presStyleCnt="0">
        <dgm:presLayoutVars>
          <dgm:dir/>
          <dgm:resizeHandles val="exact"/>
        </dgm:presLayoutVars>
      </dgm:prSet>
      <dgm:spPr/>
    </dgm:pt>
    <dgm:pt modelId="{6C3573BE-1F1F-460C-9FB4-D4CE4D4054D3}" type="pres">
      <dgm:prSet presAssocID="{96D483D0-5439-4AF2-BAD2-E44CA383B698}" presName="node" presStyleLbl="node1" presStyleIdx="0" presStyleCnt="9">
        <dgm:presLayoutVars>
          <dgm:bulletEnabled val="1"/>
        </dgm:presLayoutVars>
      </dgm:prSet>
      <dgm:spPr/>
      <dgm:t>
        <a:bodyPr/>
        <a:lstStyle/>
        <a:p>
          <a:endParaRPr lang="en-US"/>
        </a:p>
      </dgm:t>
    </dgm:pt>
    <dgm:pt modelId="{475D3339-A35B-4D84-BC88-5EFBDE329552}" type="pres">
      <dgm:prSet presAssocID="{A526A16F-AF76-46CE-88CC-2E47137A8558}" presName="sibTrans" presStyleLbl="sibTrans2D1" presStyleIdx="0" presStyleCnt="8"/>
      <dgm:spPr/>
      <dgm:t>
        <a:bodyPr/>
        <a:lstStyle/>
        <a:p>
          <a:endParaRPr lang="en-US"/>
        </a:p>
      </dgm:t>
    </dgm:pt>
    <dgm:pt modelId="{3DCE81AB-91B0-44FE-B499-31AC912C892D}" type="pres">
      <dgm:prSet presAssocID="{A526A16F-AF76-46CE-88CC-2E47137A8558}" presName="connectorText" presStyleLbl="sibTrans2D1" presStyleIdx="0" presStyleCnt="8"/>
      <dgm:spPr/>
      <dgm:t>
        <a:bodyPr/>
        <a:lstStyle/>
        <a:p>
          <a:endParaRPr lang="en-US"/>
        </a:p>
      </dgm:t>
    </dgm:pt>
    <dgm:pt modelId="{8D6AFF72-8480-4B75-B35E-D866F381B23F}" type="pres">
      <dgm:prSet presAssocID="{2703DF15-E0E6-45A1-A039-8A6BA396AE65}" presName="node" presStyleLbl="node1" presStyleIdx="1" presStyleCnt="9">
        <dgm:presLayoutVars>
          <dgm:bulletEnabled val="1"/>
        </dgm:presLayoutVars>
      </dgm:prSet>
      <dgm:spPr/>
      <dgm:t>
        <a:bodyPr/>
        <a:lstStyle/>
        <a:p>
          <a:endParaRPr lang="en-US"/>
        </a:p>
      </dgm:t>
    </dgm:pt>
    <dgm:pt modelId="{942E51FA-4CCD-42BF-BF47-392BC1AC4C89}" type="pres">
      <dgm:prSet presAssocID="{2ACD15BF-3A5F-43CE-858C-3AA77AE8E1E4}" presName="sibTrans" presStyleLbl="sibTrans2D1" presStyleIdx="1" presStyleCnt="8"/>
      <dgm:spPr/>
      <dgm:t>
        <a:bodyPr/>
        <a:lstStyle/>
        <a:p>
          <a:endParaRPr lang="en-US"/>
        </a:p>
      </dgm:t>
    </dgm:pt>
    <dgm:pt modelId="{67A9E360-FAEB-4143-B56D-5B0E479A8704}" type="pres">
      <dgm:prSet presAssocID="{2ACD15BF-3A5F-43CE-858C-3AA77AE8E1E4}" presName="connectorText" presStyleLbl="sibTrans2D1" presStyleIdx="1" presStyleCnt="8"/>
      <dgm:spPr/>
      <dgm:t>
        <a:bodyPr/>
        <a:lstStyle/>
        <a:p>
          <a:endParaRPr lang="en-US"/>
        </a:p>
      </dgm:t>
    </dgm:pt>
    <dgm:pt modelId="{C4E48D0C-30CB-469A-BC84-FDAAB6AAEA95}" type="pres">
      <dgm:prSet presAssocID="{43601074-2190-453F-BAD7-B8DC51A6018B}" presName="node" presStyleLbl="node1" presStyleIdx="2" presStyleCnt="9">
        <dgm:presLayoutVars>
          <dgm:bulletEnabled val="1"/>
        </dgm:presLayoutVars>
      </dgm:prSet>
      <dgm:spPr/>
      <dgm:t>
        <a:bodyPr/>
        <a:lstStyle/>
        <a:p>
          <a:endParaRPr lang="en-US"/>
        </a:p>
      </dgm:t>
    </dgm:pt>
    <dgm:pt modelId="{805A60FC-F65B-4E81-B091-101DD1752236}" type="pres">
      <dgm:prSet presAssocID="{055D1520-9FF7-42ED-83F8-586CE3219F28}" presName="sibTrans" presStyleLbl="sibTrans2D1" presStyleIdx="2" presStyleCnt="8"/>
      <dgm:spPr/>
      <dgm:t>
        <a:bodyPr/>
        <a:lstStyle/>
        <a:p>
          <a:endParaRPr lang="en-US"/>
        </a:p>
      </dgm:t>
    </dgm:pt>
    <dgm:pt modelId="{F7F255F0-ACD5-445A-9C5C-821EE5383D82}" type="pres">
      <dgm:prSet presAssocID="{055D1520-9FF7-42ED-83F8-586CE3219F28}" presName="connectorText" presStyleLbl="sibTrans2D1" presStyleIdx="2" presStyleCnt="8"/>
      <dgm:spPr/>
      <dgm:t>
        <a:bodyPr/>
        <a:lstStyle/>
        <a:p>
          <a:endParaRPr lang="en-US"/>
        </a:p>
      </dgm:t>
    </dgm:pt>
    <dgm:pt modelId="{BCB032F7-CAAC-416B-B72D-05E73C6B30F9}" type="pres">
      <dgm:prSet presAssocID="{9FBEFE03-CC21-4540-AE19-387E70496218}" presName="node" presStyleLbl="node1" presStyleIdx="3" presStyleCnt="9">
        <dgm:presLayoutVars>
          <dgm:bulletEnabled val="1"/>
        </dgm:presLayoutVars>
      </dgm:prSet>
      <dgm:spPr/>
      <dgm:t>
        <a:bodyPr/>
        <a:lstStyle/>
        <a:p>
          <a:endParaRPr lang="en-US"/>
        </a:p>
      </dgm:t>
    </dgm:pt>
    <dgm:pt modelId="{A48FA335-27D0-4A38-B9F0-8EEEF3A70E8D}" type="pres">
      <dgm:prSet presAssocID="{6C72BD96-BF1E-46FC-A140-A057931585A2}" presName="sibTrans" presStyleLbl="sibTrans2D1" presStyleIdx="3" presStyleCnt="8"/>
      <dgm:spPr/>
      <dgm:t>
        <a:bodyPr/>
        <a:lstStyle/>
        <a:p>
          <a:endParaRPr lang="en-US"/>
        </a:p>
      </dgm:t>
    </dgm:pt>
    <dgm:pt modelId="{8FFC5543-E5AB-460E-A4A8-D6CE5EE88834}" type="pres">
      <dgm:prSet presAssocID="{6C72BD96-BF1E-46FC-A140-A057931585A2}" presName="connectorText" presStyleLbl="sibTrans2D1" presStyleIdx="3" presStyleCnt="8"/>
      <dgm:spPr/>
      <dgm:t>
        <a:bodyPr/>
        <a:lstStyle/>
        <a:p>
          <a:endParaRPr lang="en-US"/>
        </a:p>
      </dgm:t>
    </dgm:pt>
    <dgm:pt modelId="{1BCD375B-6198-4FB1-A03C-3B0D2C12EE8F}" type="pres">
      <dgm:prSet presAssocID="{1EB59517-7DE3-483F-90D9-257BCF23510F}" presName="node" presStyleLbl="node1" presStyleIdx="4" presStyleCnt="9">
        <dgm:presLayoutVars>
          <dgm:bulletEnabled val="1"/>
        </dgm:presLayoutVars>
      </dgm:prSet>
      <dgm:spPr/>
      <dgm:t>
        <a:bodyPr/>
        <a:lstStyle/>
        <a:p>
          <a:endParaRPr lang="en-US"/>
        </a:p>
      </dgm:t>
    </dgm:pt>
    <dgm:pt modelId="{D23C27CA-7D01-4471-B58B-621618001768}" type="pres">
      <dgm:prSet presAssocID="{5CA72659-B40D-4B8F-B8F7-CE7C3FAC37D8}" presName="sibTrans" presStyleLbl="sibTrans2D1" presStyleIdx="4" presStyleCnt="8"/>
      <dgm:spPr/>
      <dgm:t>
        <a:bodyPr/>
        <a:lstStyle/>
        <a:p>
          <a:endParaRPr lang="en-US"/>
        </a:p>
      </dgm:t>
    </dgm:pt>
    <dgm:pt modelId="{353D149D-BBB6-4FF4-8F34-AF032A817DF2}" type="pres">
      <dgm:prSet presAssocID="{5CA72659-B40D-4B8F-B8F7-CE7C3FAC37D8}" presName="connectorText" presStyleLbl="sibTrans2D1" presStyleIdx="4" presStyleCnt="8"/>
      <dgm:spPr/>
      <dgm:t>
        <a:bodyPr/>
        <a:lstStyle/>
        <a:p>
          <a:endParaRPr lang="en-US"/>
        </a:p>
      </dgm:t>
    </dgm:pt>
    <dgm:pt modelId="{08A130AA-DE8A-4E13-99FD-19C8956F3A83}" type="pres">
      <dgm:prSet presAssocID="{1637D7FA-EBCD-4C5E-AFEA-7C51C026083E}" presName="node" presStyleLbl="node1" presStyleIdx="5" presStyleCnt="9">
        <dgm:presLayoutVars>
          <dgm:bulletEnabled val="1"/>
        </dgm:presLayoutVars>
      </dgm:prSet>
      <dgm:spPr/>
      <dgm:t>
        <a:bodyPr/>
        <a:lstStyle/>
        <a:p>
          <a:endParaRPr lang="en-US"/>
        </a:p>
      </dgm:t>
    </dgm:pt>
    <dgm:pt modelId="{2346B461-EE95-45AF-BB5B-4C4B8BA6A006}" type="pres">
      <dgm:prSet presAssocID="{6B48BDB3-F8D7-49FF-A405-425AC28D83E3}" presName="sibTrans" presStyleLbl="sibTrans2D1" presStyleIdx="5" presStyleCnt="8"/>
      <dgm:spPr/>
      <dgm:t>
        <a:bodyPr/>
        <a:lstStyle/>
        <a:p>
          <a:endParaRPr lang="en-US"/>
        </a:p>
      </dgm:t>
    </dgm:pt>
    <dgm:pt modelId="{6D435A7B-2380-4902-9B0B-07B33D456102}" type="pres">
      <dgm:prSet presAssocID="{6B48BDB3-F8D7-49FF-A405-425AC28D83E3}" presName="connectorText" presStyleLbl="sibTrans2D1" presStyleIdx="5" presStyleCnt="8"/>
      <dgm:spPr/>
      <dgm:t>
        <a:bodyPr/>
        <a:lstStyle/>
        <a:p>
          <a:endParaRPr lang="en-US"/>
        </a:p>
      </dgm:t>
    </dgm:pt>
    <dgm:pt modelId="{EDD4CB7B-6B9C-49B7-AA20-BB293497FE53}" type="pres">
      <dgm:prSet presAssocID="{D0360C75-7FA9-47EE-9CC5-19167771AAB5}" presName="node" presStyleLbl="node1" presStyleIdx="6" presStyleCnt="9">
        <dgm:presLayoutVars>
          <dgm:bulletEnabled val="1"/>
        </dgm:presLayoutVars>
      </dgm:prSet>
      <dgm:spPr/>
      <dgm:t>
        <a:bodyPr/>
        <a:lstStyle/>
        <a:p>
          <a:endParaRPr lang="en-US"/>
        </a:p>
      </dgm:t>
    </dgm:pt>
    <dgm:pt modelId="{5A869DD6-AC45-4673-8198-D02E31875A49}" type="pres">
      <dgm:prSet presAssocID="{DCD62F01-08DC-48A2-A815-9957644A2A99}" presName="sibTrans" presStyleLbl="sibTrans2D1" presStyleIdx="6" presStyleCnt="8"/>
      <dgm:spPr/>
      <dgm:t>
        <a:bodyPr/>
        <a:lstStyle/>
        <a:p>
          <a:endParaRPr lang="en-US"/>
        </a:p>
      </dgm:t>
    </dgm:pt>
    <dgm:pt modelId="{CCE10781-8DE8-43AE-B271-6BB15D544BDC}" type="pres">
      <dgm:prSet presAssocID="{DCD62F01-08DC-48A2-A815-9957644A2A99}" presName="connectorText" presStyleLbl="sibTrans2D1" presStyleIdx="6" presStyleCnt="8"/>
      <dgm:spPr/>
      <dgm:t>
        <a:bodyPr/>
        <a:lstStyle/>
        <a:p>
          <a:endParaRPr lang="en-US"/>
        </a:p>
      </dgm:t>
    </dgm:pt>
    <dgm:pt modelId="{626BB590-1027-4507-BA9A-D49C2AF6C234}" type="pres">
      <dgm:prSet presAssocID="{D15B6918-351B-4EB2-87A4-EBC35DCCC4E5}" presName="node" presStyleLbl="node1" presStyleIdx="7" presStyleCnt="9">
        <dgm:presLayoutVars>
          <dgm:bulletEnabled val="1"/>
        </dgm:presLayoutVars>
      </dgm:prSet>
      <dgm:spPr/>
      <dgm:t>
        <a:bodyPr/>
        <a:lstStyle/>
        <a:p>
          <a:endParaRPr lang="en-US"/>
        </a:p>
      </dgm:t>
    </dgm:pt>
    <dgm:pt modelId="{70E9C0F6-B301-4FE8-A317-54D93CBB09E5}" type="pres">
      <dgm:prSet presAssocID="{3A3936CE-3C1D-48B7-A7FB-80AE99738CEF}" presName="sibTrans" presStyleLbl="sibTrans2D1" presStyleIdx="7" presStyleCnt="8"/>
      <dgm:spPr/>
      <dgm:t>
        <a:bodyPr/>
        <a:lstStyle/>
        <a:p>
          <a:endParaRPr lang="en-US"/>
        </a:p>
      </dgm:t>
    </dgm:pt>
    <dgm:pt modelId="{7C634A58-405F-46F6-82AC-FAC2F22D17E9}" type="pres">
      <dgm:prSet presAssocID="{3A3936CE-3C1D-48B7-A7FB-80AE99738CEF}" presName="connectorText" presStyleLbl="sibTrans2D1" presStyleIdx="7" presStyleCnt="8"/>
      <dgm:spPr/>
      <dgm:t>
        <a:bodyPr/>
        <a:lstStyle/>
        <a:p>
          <a:endParaRPr lang="en-US"/>
        </a:p>
      </dgm:t>
    </dgm:pt>
    <dgm:pt modelId="{35774DE3-BE64-4894-A502-246A28210597}" type="pres">
      <dgm:prSet presAssocID="{3A71F888-4DE7-4BD9-8D71-BD559D1FDF80}" presName="node" presStyleLbl="node1" presStyleIdx="8" presStyleCnt="9">
        <dgm:presLayoutVars>
          <dgm:bulletEnabled val="1"/>
        </dgm:presLayoutVars>
      </dgm:prSet>
      <dgm:spPr/>
      <dgm:t>
        <a:bodyPr/>
        <a:lstStyle/>
        <a:p>
          <a:endParaRPr lang="en-US"/>
        </a:p>
      </dgm:t>
    </dgm:pt>
  </dgm:ptLst>
  <dgm:cxnLst>
    <dgm:cxn modelId="{CB7B78F1-7BFA-4080-8F76-09FFEC02E53F}" srcId="{45773B8E-2EBE-4AA2-8F65-06E88954053E}" destId="{1EB59517-7DE3-483F-90D9-257BCF23510F}" srcOrd="4" destOrd="0" parTransId="{EBDC6479-11EC-430A-A196-9100613A2AD6}" sibTransId="{5CA72659-B40D-4B8F-B8F7-CE7C3FAC37D8}"/>
    <dgm:cxn modelId="{ACA0248B-6C13-4879-B078-7C530407ADCE}" type="presOf" srcId="{D0360C75-7FA9-47EE-9CC5-19167771AAB5}" destId="{EDD4CB7B-6B9C-49B7-AA20-BB293497FE53}" srcOrd="0" destOrd="0" presId="urn:microsoft.com/office/officeart/2005/8/layout/process5"/>
    <dgm:cxn modelId="{650FDF43-D6C6-4361-AD1B-4361616DD922}" type="presOf" srcId="{DCD62F01-08DC-48A2-A815-9957644A2A99}" destId="{CCE10781-8DE8-43AE-B271-6BB15D544BDC}" srcOrd="1" destOrd="0" presId="urn:microsoft.com/office/officeart/2005/8/layout/process5"/>
    <dgm:cxn modelId="{6617F8C4-CDF0-4F2A-BA4D-683EA11DCCB6}" srcId="{45773B8E-2EBE-4AA2-8F65-06E88954053E}" destId="{9FBEFE03-CC21-4540-AE19-387E70496218}" srcOrd="3" destOrd="0" parTransId="{5834F1DF-2085-45B8-8CDE-DA8C79116992}" sibTransId="{6C72BD96-BF1E-46FC-A140-A057931585A2}"/>
    <dgm:cxn modelId="{217C8FEC-FCED-4F3E-B50C-87DD56C37A40}" srcId="{45773B8E-2EBE-4AA2-8F65-06E88954053E}" destId="{D0360C75-7FA9-47EE-9CC5-19167771AAB5}" srcOrd="6" destOrd="0" parTransId="{9AB51C76-09EE-449A-89DB-ECC1A48C93C7}" sibTransId="{DCD62F01-08DC-48A2-A815-9957644A2A99}"/>
    <dgm:cxn modelId="{97FF41F3-E41D-4BD4-A0AB-07E956C2F0C1}" srcId="{45773B8E-2EBE-4AA2-8F65-06E88954053E}" destId="{1637D7FA-EBCD-4C5E-AFEA-7C51C026083E}" srcOrd="5" destOrd="0" parTransId="{9B9BA3F0-555A-475A-8DB4-8BF8C0260F8F}" sibTransId="{6B48BDB3-F8D7-49FF-A405-425AC28D83E3}"/>
    <dgm:cxn modelId="{E7D829B2-D3C9-4FC7-AC79-45D70ADD8AF4}" srcId="{45773B8E-2EBE-4AA2-8F65-06E88954053E}" destId="{2703DF15-E0E6-45A1-A039-8A6BA396AE65}" srcOrd="1" destOrd="0" parTransId="{6CBC369A-F4CF-4D09-85C2-F7649914BF8C}" sibTransId="{2ACD15BF-3A5F-43CE-858C-3AA77AE8E1E4}"/>
    <dgm:cxn modelId="{877F7497-9ABD-4CE8-8314-DA94B4089E8D}" type="presOf" srcId="{2703DF15-E0E6-45A1-A039-8A6BA396AE65}" destId="{8D6AFF72-8480-4B75-B35E-D866F381B23F}" srcOrd="0" destOrd="0" presId="urn:microsoft.com/office/officeart/2005/8/layout/process5"/>
    <dgm:cxn modelId="{23719A54-8295-47F3-869C-9E3C5603B683}" type="presOf" srcId="{6C72BD96-BF1E-46FC-A140-A057931585A2}" destId="{8FFC5543-E5AB-460E-A4A8-D6CE5EE88834}" srcOrd="1" destOrd="0" presId="urn:microsoft.com/office/officeart/2005/8/layout/process5"/>
    <dgm:cxn modelId="{7B017659-D3A4-43FF-879F-C9216C28967D}" type="presOf" srcId="{A526A16F-AF76-46CE-88CC-2E47137A8558}" destId="{475D3339-A35B-4D84-BC88-5EFBDE329552}" srcOrd="0" destOrd="0" presId="urn:microsoft.com/office/officeart/2005/8/layout/process5"/>
    <dgm:cxn modelId="{E2DCDB1C-4BB3-4CFA-9241-4D362CF62457}" srcId="{45773B8E-2EBE-4AA2-8F65-06E88954053E}" destId="{D15B6918-351B-4EB2-87A4-EBC35DCCC4E5}" srcOrd="7" destOrd="0" parTransId="{6A71E8D5-6056-482F-BA27-9B52ABABA9F2}" sibTransId="{3A3936CE-3C1D-48B7-A7FB-80AE99738CEF}"/>
    <dgm:cxn modelId="{05F76C2A-C73A-4247-80DE-DAFBD07F4FE9}" type="presOf" srcId="{3A3936CE-3C1D-48B7-A7FB-80AE99738CEF}" destId="{7C634A58-405F-46F6-82AC-FAC2F22D17E9}" srcOrd="1" destOrd="0" presId="urn:microsoft.com/office/officeart/2005/8/layout/process5"/>
    <dgm:cxn modelId="{218CBCFF-139D-444F-87CD-78B92A16B649}" type="presOf" srcId="{6B48BDB3-F8D7-49FF-A405-425AC28D83E3}" destId="{2346B461-EE95-45AF-BB5B-4C4B8BA6A006}" srcOrd="0" destOrd="0" presId="urn:microsoft.com/office/officeart/2005/8/layout/process5"/>
    <dgm:cxn modelId="{048F7173-3F9F-47B4-9BFD-DE9FD66BAC35}" type="presOf" srcId="{3A3936CE-3C1D-48B7-A7FB-80AE99738CEF}" destId="{70E9C0F6-B301-4FE8-A317-54D93CBB09E5}" srcOrd="0" destOrd="0" presId="urn:microsoft.com/office/officeart/2005/8/layout/process5"/>
    <dgm:cxn modelId="{FFE539BF-D4C7-4525-891E-9BBC05DEDD9C}" srcId="{45773B8E-2EBE-4AA2-8F65-06E88954053E}" destId="{3A71F888-4DE7-4BD9-8D71-BD559D1FDF80}" srcOrd="8" destOrd="0" parTransId="{C2125F25-DF52-4AB5-8F23-A140498F5164}" sibTransId="{5F8AEC31-304F-4531-A7E1-EB9A2BBBF2ED}"/>
    <dgm:cxn modelId="{B8F2ED0D-3F21-4B4B-A943-A319315C39C9}" type="presOf" srcId="{96D483D0-5439-4AF2-BAD2-E44CA383B698}" destId="{6C3573BE-1F1F-460C-9FB4-D4CE4D4054D3}" srcOrd="0" destOrd="0" presId="urn:microsoft.com/office/officeart/2005/8/layout/process5"/>
    <dgm:cxn modelId="{DB9D2B77-FD4D-4E7D-871B-A8D413D690FB}" srcId="{45773B8E-2EBE-4AA2-8F65-06E88954053E}" destId="{96D483D0-5439-4AF2-BAD2-E44CA383B698}" srcOrd="0" destOrd="0" parTransId="{5B7D5AF9-165B-4D1C-AF32-1C34258EAA20}" sibTransId="{A526A16F-AF76-46CE-88CC-2E47137A8558}"/>
    <dgm:cxn modelId="{E24EB43F-DD64-4EDB-9B09-76AFD012A14E}" type="presOf" srcId="{A526A16F-AF76-46CE-88CC-2E47137A8558}" destId="{3DCE81AB-91B0-44FE-B499-31AC912C892D}" srcOrd="1" destOrd="0" presId="urn:microsoft.com/office/officeart/2005/8/layout/process5"/>
    <dgm:cxn modelId="{C6C243ED-6409-49FC-AE06-38A1BFF7F2FA}" type="presOf" srcId="{2ACD15BF-3A5F-43CE-858C-3AA77AE8E1E4}" destId="{67A9E360-FAEB-4143-B56D-5B0E479A8704}" srcOrd="1" destOrd="0" presId="urn:microsoft.com/office/officeart/2005/8/layout/process5"/>
    <dgm:cxn modelId="{FF278350-2ADF-4300-86AF-9AA1F9CE44BE}" type="presOf" srcId="{2ACD15BF-3A5F-43CE-858C-3AA77AE8E1E4}" destId="{942E51FA-4CCD-42BF-BF47-392BC1AC4C89}" srcOrd="0" destOrd="0" presId="urn:microsoft.com/office/officeart/2005/8/layout/process5"/>
    <dgm:cxn modelId="{F108E2BA-1D87-4A0C-8BB6-A7FF28C8A6F7}" type="presOf" srcId="{43601074-2190-453F-BAD7-B8DC51A6018B}" destId="{C4E48D0C-30CB-469A-BC84-FDAAB6AAEA95}" srcOrd="0" destOrd="0" presId="urn:microsoft.com/office/officeart/2005/8/layout/process5"/>
    <dgm:cxn modelId="{B3312978-7C6D-42B2-96FD-DA0422CFFFD7}" type="presOf" srcId="{5CA72659-B40D-4B8F-B8F7-CE7C3FAC37D8}" destId="{353D149D-BBB6-4FF4-8F34-AF032A817DF2}" srcOrd="1" destOrd="0" presId="urn:microsoft.com/office/officeart/2005/8/layout/process5"/>
    <dgm:cxn modelId="{740E864C-5AE2-4F8E-A21C-BEB94978F28B}" type="presOf" srcId="{3A71F888-4DE7-4BD9-8D71-BD559D1FDF80}" destId="{35774DE3-BE64-4894-A502-246A28210597}" srcOrd="0" destOrd="0" presId="urn:microsoft.com/office/officeart/2005/8/layout/process5"/>
    <dgm:cxn modelId="{F21D1370-C02A-4FF3-90AD-76A6F65E7974}" srcId="{45773B8E-2EBE-4AA2-8F65-06E88954053E}" destId="{43601074-2190-453F-BAD7-B8DC51A6018B}" srcOrd="2" destOrd="0" parTransId="{9AB966DC-7205-4533-B93C-5FC060939786}" sibTransId="{055D1520-9FF7-42ED-83F8-586CE3219F28}"/>
    <dgm:cxn modelId="{86D7937C-773F-4AF7-81A5-514A23E95D27}" type="presOf" srcId="{6C72BD96-BF1E-46FC-A140-A057931585A2}" destId="{A48FA335-27D0-4A38-B9F0-8EEEF3A70E8D}" srcOrd="0" destOrd="0" presId="urn:microsoft.com/office/officeart/2005/8/layout/process5"/>
    <dgm:cxn modelId="{D2B84576-F62B-4CD4-A7FE-EDF81DA9E38B}" type="presOf" srcId="{055D1520-9FF7-42ED-83F8-586CE3219F28}" destId="{F7F255F0-ACD5-445A-9C5C-821EE5383D82}" srcOrd="1" destOrd="0" presId="urn:microsoft.com/office/officeart/2005/8/layout/process5"/>
    <dgm:cxn modelId="{09653F7F-D450-45DB-A07F-8414240D63DA}" type="presOf" srcId="{5CA72659-B40D-4B8F-B8F7-CE7C3FAC37D8}" destId="{D23C27CA-7D01-4471-B58B-621618001768}" srcOrd="0" destOrd="0" presId="urn:microsoft.com/office/officeart/2005/8/layout/process5"/>
    <dgm:cxn modelId="{CD610758-DCBB-43E2-99BB-5D0A82DAA53B}" type="presOf" srcId="{055D1520-9FF7-42ED-83F8-586CE3219F28}" destId="{805A60FC-F65B-4E81-B091-101DD1752236}" srcOrd="0" destOrd="0" presId="urn:microsoft.com/office/officeart/2005/8/layout/process5"/>
    <dgm:cxn modelId="{7961369E-C812-4C94-9C7E-5496F4E6DF2A}" type="presOf" srcId="{D15B6918-351B-4EB2-87A4-EBC35DCCC4E5}" destId="{626BB590-1027-4507-BA9A-D49C2AF6C234}" srcOrd="0" destOrd="0" presId="urn:microsoft.com/office/officeart/2005/8/layout/process5"/>
    <dgm:cxn modelId="{F29D8516-742F-4EEB-ABED-D661A40946BB}" type="presOf" srcId="{45773B8E-2EBE-4AA2-8F65-06E88954053E}" destId="{2968A398-A6C4-4346-B216-8A0AC86B2048}" srcOrd="0" destOrd="0" presId="urn:microsoft.com/office/officeart/2005/8/layout/process5"/>
    <dgm:cxn modelId="{A1449B6A-45D5-4749-B399-00D55E61D0DD}" type="presOf" srcId="{1EB59517-7DE3-483F-90D9-257BCF23510F}" destId="{1BCD375B-6198-4FB1-A03C-3B0D2C12EE8F}" srcOrd="0" destOrd="0" presId="urn:microsoft.com/office/officeart/2005/8/layout/process5"/>
    <dgm:cxn modelId="{47A11AC3-1A80-4C3E-8A99-99D6DB685E98}" type="presOf" srcId="{DCD62F01-08DC-48A2-A815-9957644A2A99}" destId="{5A869DD6-AC45-4673-8198-D02E31875A49}" srcOrd="0" destOrd="0" presId="urn:microsoft.com/office/officeart/2005/8/layout/process5"/>
    <dgm:cxn modelId="{4C95A8F2-4313-4405-92D2-A651D3AFDBEC}" type="presOf" srcId="{6B48BDB3-F8D7-49FF-A405-425AC28D83E3}" destId="{6D435A7B-2380-4902-9B0B-07B33D456102}" srcOrd="1" destOrd="0" presId="urn:microsoft.com/office/officeart/2005/8/layout/process5"/>
    <dgm:cxn modelId="{190D3A50-8E11-436E-B6F0-36EC888BEF3A}" type="presOf" srcId="{1637D7FA-EBCD-4C5E-AFEA-7C51C026083E}" destId="{08A130AA-DE8A-4E13-99FD-19C8956F3A83}" srcOrd="0" destOrd="0" presId="urn:microsoft.com/office/officeart/2005/8/layout/process5"/>
    <dgm:cxn modelId="{F5694D55-8A6F-42FA-9252-DDAF2AB1D329}" type="presOf" srcId="{9FBEFE03-CC21-4540-AE19-387E70496218}" destId="{BCB032F7-CAAC-416B-B72D-05E73C6B30F9}" srcOrd="0" destOrd="0" presId="urn:microsoft.com/office/officeart/2005/8/layout/process5"/>
    <dgm:cxn modelId="{BA8E92F3-E1B3-49CA-A22E-BBF599832A4F}" type="presParOf" srcId="{2968A398-A6C4-4346-B216-8A0AC86B2048}" destId="{6C3573BE-1F1F-460C-9FB4-D4CE4D4054D3}" srcOrd="0" destOrd="0" presId="urn:microsoft.com/office/officeart/2005/8/layout/process5"/>
    <dgm:cxn modelId="{EBEE7C49-6782-4D2F-9F06-D2F1DA4B7201}" type="presParOf" srcId="{2968A398-A6C4-4346-B216-8A0AC86B2048}" destId="{475D3339-A35B-4D84-BC88-5EFBDE329552}" srcOrd="1" destOrd="0" presId="urn:microsoft.com/office/officeart/2005/8/layout/process5"/>
    <dgm:cxn modelId="{81B86931-CA4A-4705-B938-7E986533DD0C}" type="presParOf" srcId="{475D3339-A35B-4D84-BC88-5EFBDE329552}" destId="{3DCE81AB-91B0-44FE-B499-31AC912C892D}" srcOrd="0" destOrd="0" presId="urn:microsoft.com/office/officeart/2005/8/layout/process5"/>
    <dgm:cxn modelId="{740319FB-1449-4F9B-93FD-24D4EAA02770}" type="presParOf" srcId="{2968A398-A6C4-4346-B216-8A0AC86B2048}" destId="{8D6AFF72-8480-4B75-B35E-D866F381B23F}" srcOrd="2" destOrd="0" presId="urn:microsoft.com/office/officeart/2005/8/layout/process5"/>
    <dgm:cxn modelId="{3D54C327-FB84-4093-BCFA-C3FFFE2C7D20}" type="presParOf" srcId="{2968A398-A6C4-4346-B216-8A0AC86B2048}" destId="{942E51FA-4CCD-42BF-BF47-392BC1AC4C89}" srcOrd="3" destOrd="0" presId="urn:microsoft.com/office/officeart/2005/8/layout/process5"/>
    <dgm:cxn modelId="{F7AC1D53-B56F-492E-98A5-EC62AD461E8C}" type="presParOf" srcId="{942E51FA-4CCD-42BF-BF47-392BC1AC4C89}" destId="{67A9E360-FAEB-4143-B56D-5B0E479A8704}" srcOrd="0" destOrd="0" presId="urn:microsoft.com/office/officeart/2005/8/layout/process5"/>
    <dgm:cxn modelId="{34439B39-EEE8-4A73-A81D-B79CF02DAD7F}" type="presParOf" srcId="{2968A398-A6C4-4346-B216-8A0AC86B2048}" destId="{C4E48D0C-30CB-469A-BC84-FDAAB6AAEA95}" srcOrd="4" destOrd="0" presId="urn:microsoft.com/office/officeart/2005/8/layout/process5"/>
    <dgm:cxn modelId="{345B386A-843D-47F4-8AD4-F836B5FA3BC3}" type="presParOf" srcId="{2968A398-A6C4-4346-B216-8A0AC86B2048}" destId="{805A60FC-F65B-4E81-B091-101DD1752236}" srcOrd="5" destOrd="0" presId="urn:microsoft.com/office/officeart/2005/8/layout/process5"/>
    <dgm:cxn modelId="{C40C2A96-2FE3-4FDD-8C56-5BD3955CA121}" type="presParOf" srcId="{805A60FC-F65B-4E81-B091-101DD1752236}" destId="{F7F255F0-ACD5-445A-9C5C-821EE5383D82}" srcOrd="0" destOrd="0" presId="urn:microsoft.com/office/officeart/2005/8/layout/process5"/>
    <dgm:cxn modelId="{7262FD9F-FE00-4473-8FE1-0C415AF1E98D}" type="presParOf" srcId="{2968A398-A6C4-4346-B216-8A0AC86B2048}" destId="{BCB032F7-CAAC-416B-B72D-05E73C6B30F9}" srcOrd="6" destOrd="0" presId="urn:microsoft.com/office/officeart/2005/8/layout/process5"/>
    <dgm:cxn modelId="{1A8E7F2A-455A-4AD5-8E94-427DAC0EBD98}" type="presParOf" srcId="{2968A398-A6C4-4346-B216-8A0AC86B2048}" destId="{A48FA335-27D0-4A38-B9F0-8EEEF3A70E8D}" srcOrd="7" destOrd="0" presId="urn:microsoft.com/office/officeart/2005/8/layout/process5"/>
    <dgm:cxn modelId="{E8F07247-2F39-4A47-ADC1-5D286AE1F2EA}" type="presParOf" srcId="{A48FA335-27D0-4A38-B9F0-8EEEF3A70E8D}" destId="{8FFC5543-E5AB-460E-A4A8-D6CE5EE88834}" srcOrd="0" destOrd="0" presId="urn:microsoft.com/office/officeart/2005/8/layout/process5"/>
    <dgm:cxn modelId="{B50DC1C8-D3D2-4E30-BD1F-2E696680C6FD}" type="presParOf" srcId="{2968A398-A6C4-4346-B216-8A0AC86B2048}" destId="{1BCD375B-6198-4FB1-A03C-3B0D2C12EE8F}" srcOrd="8" destOrd="0" presId="urn:microsoft.com/office/officeart/2005/8/layout/process5"/>
    <dgm:cxn modelId="{BEC5D8CB-F135-47EF-8B74-7F5A6F8EC978}" type="presParOf" srcId="{2968A398-A6C4-4346-B216-8A0AC86B2048}" destId="{D23C27CA-7D01-4471-B58B-621618001768}" srcOrd="9" destOrd="0" presId="urn:microsoft.com/office/officeart/2005/8/layout/process5"/>
    <dgm:cxn modelId="{F1BCCF2E-BDB0-46CF-ACFF-51B36D145A35}" type="presParOf" srcId="{D23C27CA-7D01-4471-B58B-621618001768}" destId="{353D149D-BBB6-4FF4-8F34-AF032A817DF2}" srcOrd="0" destOrd="0" presId="urn:microsoft.com/office/officeart/2005/8/layout/process5"/>
    <dgm:cxn modelId="{298BAC8E-5E7C-419B-8313-1C81B8522791}" type="presParOf" srcId="{2968A398-A6C4-4346-B216-8A0AC86B2048}" destId="{08A130AA-DE8A-4E13-99FD-19C8956F3A83}" srcOrd="10" destOrd="0" presId="urn:microsoft.com/office/officeart/2005/8/layout/process5"/>
    <dgm:cxn modelId="{124E9D1E-4937-4161-8E69-3D666210DC62}" type="presParOf" srcId="{2968A398-A6C4-4346-B216-8A0AC86B2048}" destId="{2346B461-EE95-45AF-BB5B-4C4B8BA6A006}" srcOrd="11" destOrd="0" presId="urn:microsoft.com/office/officeart/2005/8/layout/process5"/>
    <dgm:cxn modelId="{AE5CAE42-23B6-4A6A-B41F-C0E737846B89}" type="presParOf" srcId="{2346B461-EE95-45AF-BB5B-4C4B8BA6A006}" destId="{6D435A7B-2380-4902-9B0B-07B33D456102}" srcOrd="0" destOrd="0" presId="urn:microsoft.com/office/officeart/2005/8/layout/process5"/>
    <dgm:cxn modelId="{B9F360C3-6819-434B-847D-6662AE961368}" type="presParOf" srcId="{2968A398-A6C4-4346-B216-8A0AC86B2048}" destId="{EDD4CB7B-6B9C-49B7-AA20-BB293497FE53}" srcOrd="12" destOrd="0" presId="urn:microsoft.com/office/officeart/2005/8/layout/process5"/>
    <dgm:cxn modelId="{2EA5D34D-0D6F-4BF9-86DE-113FD9A2A1F0}" type="presParOf" srcId="{2968A398-A6C4-4346-B216-8A0AC86B2048}" destId="{5A869DD6-AC45-4673-8198-D02E31875A49}" srcOrd="13" destOrd="0" presId="urn:microsoft.com/office/officeart/2005/8/layout/process5"/>
    <dgm:cxn modelId="{9D5EFADB-9FEE-4B73-A596-7631C0B80FDA}" type="presParOf" srcId="{5A869DD6-AC45-4673-8198-D02E31875A49}" destId="{CCE10781-8DE8-43AE-B271-6BB15D544BDC}" srcOrd="0" destOrd="0" presId="urn:microsoft.com/office/officeart/2005/8/layout/process5"/>
    <dgm:cxn modelId="{157E49E5-934E-4AFE-95C3-5D93CDBE1BBB}" type="presParOf" srcId="{2968A398-A6C4-4346-B216-8A0AC86B2048}" destId="{626BB590-1027-4507-BA9A-D49C2AF6C234}" srcOrd="14" destOrd="0" presId="urn:microsoft.com/office/officeart/2005/8/layout/process5"/>
    <dgm:cxn modelId="{45297932-1680-4C8F-B161-DDA7359450CA}" type="presParOf" srcId="{2968A398-A6C4-4346-B216-8A0AC86B2048}" destId="{70E9C0F6-B301-4FE8-A317-54D93CBB09E5}" srcOrd="15" destOrd="0" presId="urn:microsoft.com/office/officeart/2005/8/layout/process5"/>
    <dgm:cxn modelId="{38600534-F3DC-4394-ABC9-E056FEEEF26A}" type="presParOf" srcId="{70E9C0F6-B301-4FE8-A317-54D93CBB09E5}" destId="{7C634A58-405F-46F6-82AC-FAC2F22D17E9}" srcOrd="0" destOrd="0" presId="urn:microsoft.com/office/officeart/2005/8/layout/process5"/>
    <dgm:cxn modelId="{FE4B6E23-C250-41EE-92CF-89099D20533E}" type="presParOf" srcId="{2968A398-A6C4-4346-B216-8A0AC86B2048}" destId="{35774DE3-BE64-4894-A502-246A28210597}" srcOrd="16" destOrd="0" presId="urn:microsoft.com/office/officeart/2005/8/layout/process5"/>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E8D6F5C-3A7B-4BED-95E5-7D0C8A8E834A}" type="doc">
      <dgm:prSet loTypeId="urn:microsoft.com/office/officeart/2005/8/layout/chart3" loCatId="cycle" qsTypeId="urn:microsoft.com/office/officeart/2005/8/quickstyle/simple1" qsCatId="simple" csTypeId="urn:microsoft.com/office/officeart/2005/8/colors/accent1_2" csCatId="accent1" phldr="1"/>
      <dgm:spPr/>
    </dgm:pt>
    <dgm:pt modelId="{B1DC85EA-037D-4CC9-82B3-DC82B59E92E4}">
      <dgm:prSet phldrT="[Text]"/>
      <dgm:spPr>
        <a:solidFill>
          <a:srgbClr val="C00000"/>
        </a:solidFill>
      </dgm:spPr>
      <dgm:t>
        <a:bodyPr/>
        <a:lstStyle/>
        <a:p>
          <a:r>
            <a:rPr lang="en-US" dirty="0" smtClean="0"/>
            <a:t>Increment 5</a:t>
          </a:r>
          <a:endParaRPr lang="en-US" dirty="0"/>
        </a:p>
      </dgm:t>
    </dgm:pt>
    <dgm:pt modelId="{47C8D3EB-8E44-4E52-939B-1EE7133FB03A}" type="parTrans" cxnId="{3FFBDAF2-7DAE-40DE-81CA-94BEB645FF76}">
      <dgm:prSet/>
      <dgm:spPr/>
      <dgm:t>
        <a:bodyPr/>
        <a:lstStyle/>
        <a:p>
          <a:endParaRPr lang="en-US"/>
        </a:p>
      </dgm:t>
    </dgm:pt>
    <dgm:pt modelId="{F7529517-F42D-476F-9070-E080FB7E4D13}" type="sibTrans" cxnId="{3FFBDAF2-7DAE-40DE-81CA-94BEB645FF76}">
      <dgm:prSet/>
      <dgm:spPr/>
      <dgm:t>
        <a:bodyPr/>
        <a:lstStyle/>
        <a:p>
          <a:endParaRPr lang="en-US"/>
        </a:p>
      </dgm:t>
    </dgm:pt>
    <dgm:pt modelId="{7C2A49E9-5F16-4131-A5E4-ADF00490CFBB}">
      <dgm:prSet phldrT="[Text]"/>
      <dgm:spPr>
        <a:solidFill>
          <a:schemeClr val="accent3"/>
        </a:solidFill>
      </dgm:spPr>
      <dgm:t>
        <a:bodyPr/>
        <a:lstStyle/>
        <a:p>
          <a:r>
            <a:rPr lang="en-US" dirty="0" smtClean="0"/>
            <a:t>Increment 1</a:t>
          </a:r>
          <a:endParaRPr lang="en-US" dirty="0"/>
        </a:p>
      </dgm:t>
    </dgm:pt>
    <dgm:pt modelId="{DED631CB-5B47-4ED3-9B07-6D17B8744B23}" type="parTrans" cxnId="{65C1AECF-AEC2-4EF0-9FE5-C150C9A162AD}">
      <dgm:prSet/>
      <dgm:spPr/>
      <dgm:t>
        <a:bodyPr/>
        <a:lstStyle/>
        <a:p>
          <a:endParaRPr lang="en-US"/>
        </a:p>
      </dgm:t>
    </dgm:pt>
    <dgm:pt modelId="{EA755748-8790-4944-A7B6-33D9841919F9}" type="sibTrans" cxnId="{65C1AECF-AEC2-4EF0-9FE5-C150C9A162AD}">
      <dgm:prSet/>
      <dgm:spPr/>
      <dgm:t>
        <a:bodyPr/>
        <a:lstStyle/>
        <a:p>
          <a:endParaRPr lang="en-US"/>
        </a:p>
      </dgm:t>
    </dgm:pt>
    <dgm:pt modelId="{F34E2B29-203F-4597-8DC6-E0E3FD0C59E5}">
      <dgm:prSet phldrT="[Text]"/>
      <dgm:spPr/>
      <dgm:t>
        <a:bodyPr/>
        <a:lstStyle/>
        <a:p>
          <a:r>
            <a:rPr lang="en-US" dirty="0" smtClean="0"/>
            <a:t>Increment 4</a:t>
          </a:r>
          <a:endParaRPr lang="en-US" dirty="0"/>
        </a:p>
      </dgm:t>
    </dgm:pt>
    <dgm:pt modelId="{9F957A55-C17B-4E1E-BEF7-5FE9F5186E92}" type="parTrans" cxnId="{B3705A4A-E3A3-4F48-A468-64B3B0766FD5}">
      <dgm:prSet/>
      <dgm:spPr/>
      <dgm:t>
        <a:bodyPr/>
        <a:lstStyle/>
        <a:p>
          <a:endParaRPr lang="en-US"/>
        </a:p>
      </dgm:t>
    </dgm:pt>
    <dgm:pt modelId="{727E2621-B384-4A07-B003-98FA54565752}" type="sibTrans" cxnId="{B3705A4A-E3A3-4F48-A468-64B3B0766FD5}">
      <dgm:prSet/>
      <dgm:spPr/>
      <dgm:t>
        <a:bodyPr/>
        <a:lstStyle/>
        <a:p>
          <a:endParaRPr lang="en-US"/>
        </a:p>
      </dgm:t>
    </dgm:pt>
    <dgm:pt modelId="{8CAE8BD7-9B9C-4D2A-BEB2-EC5350F7EC83}">
      <dgm:prSet phldrT="[Text]"/>
      <dgm:spPr/>
      <dgm:t>
        <a:bodyPr/>
        <a:lstStyle/>
        <a:p>
          <a:r>
            <a:rPr lang="en-US" dirty="0" smtClean="0"/>
            <a:t>Increment 2</a:t>
          </a:r>
          <a:endParaRPr lang="en-US" dirty="0"/>
        </a:p>
      </dgm:t>
    </dgm:pt>
    <dgm:pt modelId="{B68FD0CA-77C7-45FC-9D10-C1906CAB8AA3}" type="parTrans" cxnId="{E4BD420F-D865-457A-834D-B6586AAE8743}">
      <dgm:prSet/>
      <dgm:spPr/>
      <dgm:t>
        <a:bodyPr/>
        <a:lstStyle/>
        <a:p>
          <a:endParaRPr lang="en-US"/>
        </a:p>
      </dgm:t>
    </dgm:pt>
    <dgm:pt modelId="{7C7720FA-7644-4CEF-A153-CE3E6EAD9B8F}" type="sibTrans" cxnId="{E4BD420F-D865-457A-834D-B6586AAE8743}">
      <dgm:prSet/>
      <dgm:spPr/>
      <dgm:t>
        <a:bodyPr/>
        <a:lstStyle/>
        <a:p>
          <a:endParaRPr lang="en-US"/>
        </a:p>
      </dgm:t>
    </dgm:pt>
    <dgm:pt modelId="{90E7CB64-B2F3-4900-95E6-8C5729CB37AC}">
      <dgm:prSet phldrT="[Text]"/>
      <dgm:spPr>
        <a:solidFill>
          <a:schemeClr val="accent4"/>
        </a:solidFill>
      </dgm:spPr>
      <dgm:t>
        <a:bodyPr/>
        <a:lstStyle/>
        <a:p>
          <a:r>
            <a:rPr lang="en-US" dirty="0" smtClean="0"/>
            <a:t>Increment 3</a:t>
          </a:r>
          <a:endParaRPr lang="en-US" dirty="0"/>
        </a:p>
      </dgm:t>
    </dgm:pt>
    <dgm:pt modelId="{62C0AB1B-CE07-40A9-A9E6-BEABFA9700D7}" type="parTrans" cxnId="{D8759A5A-D534-47E8-B355-3F1B6F279B80}">
      <dgm:prSet/>
      <dgm:spPr/>
      <dgm:t>
        <a:bodyPr/>
        <a:lstStyle/>
        <a:p>
          <a:endParaRPr lang="en-US"/>
        </a:p>
      </dgm:t>
    </dgm:pt>
    <dgm:pt modelId="{136B02DF-4A6A-4FD1-B707-CD9C692271F4}" type="sibTrans" cxnId="{D8759A5A-D534-47E8-B355-3F1B6F279B80}">
      <dgm:prSet/>
      <dgm:spPr/>
      <dgm:t>
        <a:bodyPr/>
        <a:lstStyle/>
        <a:p>
          <a:endParaRPr lang="en-US"/>
        </a:p>
      </dgm:t>
    </dgm:pt>
    <dgm:pt modelId="{F5917A7C-640A-4259-9707-E23D9BE209E8}" type="pres">
      <dgm:prSet presAssocID="{3E8D6F5C-3A7B-4BED-95E5-7D0C8A8E834A}" presName="compositeShape" presStyleCnt="0">
        <dgm:presLayoutVars>
          <dgm:chMax val="7"/>
          <dgm:dir/>
          <dgm:resizeHandles val="exact"/>
        </dgm:presLayoutVars>
      </dgm:prSet>
      <dgm:spPr/>
    </dgm:pt>
    <dgm:pt modelId="{BD6458D1-3138-4A12-BE59-1D343B7E64FB}" type="pres">
      <dgm:prSet presAssocID="{3E8D6F5C-3A7B-4BED-95E5-7D0C8A8E834A}" presName="wedge1" presStyleLbl="node1" presStyleIdx="0" presStyleCnt="5"/>
      <dgm:spPr/>
      <dgm:t>
        <a:bodyPr/>
        <a:lstStyle/>
        <a:p>
          <a:endParaRPr lang="en-US"/>
        </a:p>
      </dgm:t>
    </dgm:pt>
    <dgm:pt modelId="{7D56DD06-32F4-4E25-A1AA-A886E32C208D}" type="pres">
      <dgm:prSet presAssocID="{3E8D6F5C-3A7B-4BED-95E5-7D0C8A8E834A}" presName="wedge1Tx" presStyleLbl="node1" presStyleIdx="0" presStyleCnt="5">
        <dgm:presLayoutVars>
          <dgm:chMax val="0"/>
          <dgm:chPref val="0"/>
          <dgm:bulletEnabled val="1"/>
        </dgm:presLayoutVars>
      </dgm:prSet>
      <dgm:spPr/>
      <dgm:t>
        <a:bodyPr/>
        <a:lstStyle/>
        <a:p>
          <a:endParaRPr lang="en-US"/>
        </a:p>
      </dgm:t>
    </dgm:pt>
    <dgm:pt modelId="{EF746AB4-AD99-48AC-B5AE-2594A36935EA}" type="pres">
      <dgm:prSet presAssocID="{3E8D6F5C-3A7B-4BED-95E5-7D0C8A8E834A}" presName="wedge2" presStyleLbl="node1" presStyleIdx="1" presStyleCnt="5"/>
      <dgm:spPr/>
      <dgm:t>
        <a:bodyPr/>
        <a:lstStyle/>
        <a:p>
          <a:endParaRPr lang="en-US"/>
        </a:p>
      </dgm:t>
    </dgm:pt>
    <dgm:pt modelId="{DFB68492-8317-4433-A4C1-9B1BBFABFDB3}" type="pres">
      <dgm:prSet presAssocID="{3E8D6F5C-3A7B-4BED-95E5-7D0C8A8E834A}" presName="wedge2Tx" presStyleLbl="node1" presStyleIdx="1" presStyleCnt="5">
        <dgm:presLayoutVars>
          <dgm:chMax val="0"/>
          <dgm:chPref val="0"/>
          <dgm:bulletEnabled val="1"/>
        </dgm:presLayoutVars>
      </dgm:prSet>
      <dgm:spPr/>
      <dgm:t>
        <a:bodyPr/>
        <a:lstStyle/>
        <a:p>
          <a:endParaRPr lang="en-US"/>
        </a:p>
      </dgm:t>
    </dgm:pt>
    <dgm:pt modelId="{73793427-AA50-4797-8820-3A8FBE3F5F04}" type="pres">
      <dgm:prSet presAssocID="{3E8D6F5C-3A7B-4BED-95E5-7D0C8A8E834A}" presName="wedge3" presStyleLbl="node1" presStyleIdx="2" presStyleCnt="5"/>
      <dgm:spPr/>
      <dgm:t>
        <a:bodyPr/>
        <a:lstStyle/>
        <a:p>
          <a:endParaRPr lang="en-US"/>
        </a:p>
      </dgm:t>
    </dgm:pt>
    <dgm:pt modelId="{40A031CE-B85D-4679-B012-FEBBECAA6287}" type="pres">
      <dgm:prSet presAssocID="{3E8D6F5C-3A7B-4BED-95E5-7D0C8A8E834A}" presName="wedge3Tx" presStyleLbl="node1" presStyleIdx="2" presStyleCnt="5">
        <dgm:presLayoutVars>
          <dgm:chMax val="0"/>
          <dgm:chPref val="0"/>
          <dgm:bulletEnabled val="1"/>
        </dgm:presLayoutVars>
      </dgm:prSet>
      <dgm:spPr/>
      <dgm:t>
        <a:bodyPr/>
        <a:lstStyle/>
        <a:p>
          <a:endParaRPr lang="en-US"/>
        </a:p>
      </dgm:t>
    </dgm:pt>
    <dgm:pt modelId="{FF7A51B1-9211-49F0-B78E-71917264B3E2}" type="pres">
      <dgm:prSet presAssocID="{3E8D6F5C-3A7B-4BED-95E5-7D0C8A8E834A}" presName="wedge4" presStyleLbl="node1" presStyleIdx="3" presStyleCnt="5"/>
      <dgm:spPr/>
      <dgm:t>
        <a:bodyPr/>
        <a:lstStyle/>
        <a:p>
          <a:endParaRPr lang="en-US"/>
        </a:p>
      </dgm:t>
    </dgm:pt>
    <dgm:pt modelId="{530BCD4F-6A29-485F-BD01-7839324C134A}" type="pres">
      <dgm:prSet presAssocID="{3E8D6F5C-3A7B-4BED-95E5-7D0C8A8E834A}" presName="wedge4Tx" presStyleLbl="node1" presStyleIdx="3" presStyleCnt="5">
        <dgm:presLayoutVars>
          <dgm:chMax val="0"/>
          <dgm:chPref val="0"/>
          <dgm:bulletEnabled val="1"/>
        </dgm:presLayoutVars>
      </dgm:prSet>
      <dgm:spPr/>
      <dgm:t>
        <a:bodyPr/>
        <a:lstStyle/>
        <a:p>
          <a:endParaRPr lang="en-US"/>
        </a:p>
      </dgm:t>
    </dgm:pt>
    <dgm:pt modelId="{FA8487C7-2B8E-4AFE-AC49-4DF6551BFC09}" type="pres">
      <dgm:prSet presAssocID="{3E8D6F5C-3A7B-4BED-95E5-7D0C8A8E834A}" presName="wedge5" presStyleLbl="node1" presStyleIdx="4" presStyleCnt="5"/>
      <dgm:spPr/>
      <dgm:t>
        <a:bodyPr/>
        <a:lstStyle/>
        <a:p>
          <a:endParaRPr lang="en-US"/>
        </a:p>
      </dgm:t>
    </dgm:pt>
    <dgm:pt modelId="{B234249B-5F26-4927-BDB5-A6001D4C8F72}" type="pres">
      <dgm:prSet presAssocID="{3E8D6F5C-3A7B-4BED-95E5-7D0C8A8E834A}" presName="wedge5Tx" presStyleLbl="node1" presStyleIdx="4" presStyleCnt="5">
        <dgm:presLayoutVars>
          <dgm:chMax val="0"/>
          <dgm:chPref val="0"/>
          <dgm:bulletEnabled val="1"/>
        </dgm:presLayoutVars>
      </dgm:prSet>
      <dgm:spPr/>
      <dgm:t>
        <a:bodyPr/>
        <a:lstStyle/>
        <a:p>
          <a:endParaRPr lang="en-US"/>
        </a:p>
      </dgm:t>
    </dgm:pt>
  </dgm:ptLst>
  <dgm:cxnLst>
    <dgm:cxn modelId="{16F4335E-2335-43AE-AB23-A192BE8985AD}" type="presOf" srcId="{F34E2B29-203F-4597-8DC6-E0E3FD0C59E5}" destId="{B234249B-5F26-4927-BDB5-A6001D4C8F72}" srcOrd="1" destOrd="0" presId="urn:microsoft.com/office/officeart/2005/8/layout/chart3"/>
    <dgm:cxn modelId="{6905566C-94D2-44AE-AF5F-2A0E32405199}" type="presOf" srcId="{F34E2B29-203F-4597-8DC6-E0E3FD0C59E5}" destId="{FA8487C7-2B8E-4AFE-AC49-4DF6551BFC09}" srcOrd="0" destOrd="0" presId="urn:microsoft.com/office/officeart/2005/8/layout/chart3"/>
    <dgm:cxn modelId="{3FFBDAF2-7DAE-40DE-81CA-94BEB645FF76}" srcId="{3E8D6F5C-3A7B-4BED-95E5-7D0C8A8E834A}" destId="{B1DC85EA-037D-4CC9-82B3-DC82B59E92E4}" srcOrd="0" destOrd="0" parTransId="{47C8D3EB-8E44-4E52-939B-1EE7133FB03A}" sibTransId="{F7529517-F42D-476F-9070-E080FB7E4D13}"/>
    <dgm:cxn modelId="{F5A683F1-CD13-49AA-8405-DD29A4088993}" type="presOf" srcId="{B1DC85EA-037D-4CC9-82B3-DC82B59E92E4}" destId="{7D56DD06-32F4-4E25-A1AA-A886E32C208D}" srcOrd="1" destOrd="0" presId="urn:microsoft.com/office/officeart/2005/8/layout/chart3"/>
    <dgm:cxn modelId="{2E9D17CB-5B4D-4D19-A754-3FB491793BF8}" type="presOf" srcId="{90E7CB64-B2F3-4900-95E6-8C5729CB37AC}" destId="{FF7A51B1-9211-49F0-B78E-71917264B3E2}" srcOrd="0" destOrd="0" presId="urn:microsoft.com/office/officeart/2005/8/layout/chart3"/>
    <dgm:cxn modelId="{D8759A5A-D534-47E8-B355-3F1B6F279B80}" srcId="{3E8D6F5C-3A7B-4BED-95E5-7D0C8A8E834A}" destId="{90E7CB64-B2F3-4900-95E6-8C5729CB37AC}" srcOrd="3" destOrd="0" parTransId="{62C0AB1B-CE07-40A9-A9E6-BEABFA9700D7}" sibTransId="{136B02DF-4A6A-4FD1-B707-CD9C692271F4}"/>
    <dgm:cxn modelId="{3B19796B-E7AD-4A5A-8A2E-1A4606F8B05D}" type="presOf" srcId="{B1DC85EA-037D-4CC9-82B3-DC82B59E92E4}" destId="{BD6458D1-3138-4A12-BE59-1D343B7E64FB}" srcOrd="0" destOrd="0" presId="urn:microsoft.com/office/officeart/2005/8/layout/chart3"/>
    <dgm:cxn modelId="{D2488779-AA6E-4341-A6AE-34DF67CC690A}" type="presOf" srcId="{8CAE8BD7-9B9C-4D2A-BEB2-EC5350F7EC83}" destId="{40A031CE-B85D-4679-B012-FEBBECAA6287}" srcOrd="1" destOrd="0" presId="urn:microsoft.com/office/officeart/2005/8/layout/chart3"/>
    <dgm:cxn modelId="{0DCC8E5E-E89B-4D84-BC2A-638F03B9B9B9}" type="presOf" srcId="{7C2A49E9-5F16-4131-A5E4-ADF00490CFBB}" destId="{EF746AB4-AD99-48AC-B5AE-2594A36935EA}" srcOrd="0" destOrd="0" presId="urn:microsoft.com/office/officeart/2005/8/layout/chart3"/>
    <dgm:cxn modelId="{65C1AECF-AEC2-4EF0-9FE5-C150C9A162AD}" srcId="{3E8D6F5C-3A7B-4BED-95E5-7D0C8A8E834A}" destId="{7C2A49E9-5F16-4131-A5E4-ADF00490CFBB}" srcOrd="1" destOrd="0" parTransId="{DED631CB-5B47-4ED3-9B07-6D17B8744B23}" sibTransId="{EA755748-8790-4944-A7B6-33D9841919F9}"/>
    <dgm:cxn modelId="{E4BD420F-D865-457A-834D-B6586AAE8743}" srcId="{3E8D6F5C-3A7B-4BED-95E5-7D0C8A8E834A}" destId="{8CAE8BD7-9B9C-4D2A-BEB2-EC5350F7EC83}" srcOrd="2" destOrd="0" parTransId="{B68FD0CA-77C7-45FC-9D10-C1906CAB8AA3}" sibTransId="{7C7720FA-7644-4CEF-A153-CE3E6EAD9B8F}"/>
    <dgm:cxn modelId="{F5A1AD9A-8CF6-4400-B0B7-4084DB660D62}" type="presOf" srcId="{8CAE8BD7-9B9C-4D2A-BEB2-EC5350F7EC83}" destId="{73793427-AA50-4797-8820-3A8FBE3F5F04}" srcOrd="0" destOrd="0" presId="urn:microsoft.com/office/officeart/2005/8/layout/chart3"/>
    <dgm:cxn modelId="{A24913C7-D3DB-481D-8463-41D123CA38A5}" type="presOf" srcId="{3E8D6F5C-3A7B-4BED-95E5-7D0C8A8E834A}" destId="{F5917A7C-640A-4259-9707-E23D9BE209E8}" srcOrd="0" destOrd="0" presId="urn:microsoft.com/office/officeart/2005/8/layout/chart3"/>
    <dgm:cxn modelId="{B3705A4A-E3A3-4F48-A468-64B3B0766FD5}" srcId="{3E8D6F5C-3A7B-4BED-95E5-7D0C8A8E834A}" destId="{F34E2B29-203F-4597-8DC6-E0E3FD0C59E5}" srcOrd="4" destOrd="0" parTransId="{9F957A55-C17B-4E1E-BEF7-5FE9F5186E92}" sibTransId="{727E2621-B384-4A07-B003-98FA54565752}"/>
    <dgm:cxn modelId="{ED7BE11C-2095-466F-ADE1-00624EB2083B}" type="presOf" srcId="{7C2A49E9-5F16-4131-A5E4-ADF00490CFBB}" destId="{DFB68492-8317-4433-A4C1-9B1BBFABFDB3}" srcOrd="1" destOrd="0" presId="urn:microsoft.com/office/officeart/2005/8/layout/chart3"/>
    <dgm:cxn modelId="{53C9663B-33DD-47A0-9F21-176751B20493}" type="presOf" srcId="{90E7CB64-B2F3-4900-95E6-8C5729CB37AC}" destId="{530BCD4F-6A29-485F-BD01-7839324C134A}" srcOrd="1" destOrd="0" presId="urn:microsoft.com/office/officeart/2005/8/layout/chart3"/>
    <dgm:cxn modelId="{DAC9B860-D8B2-492C-A60D-6C77E05A580A}" type="presParOf" srcId="{F5917A7C-640A-4259-9707-E23D9BE209E8}" destId="{BD6458D1-3138-4A12-BE59-1D343B7E64FB}" srcOrd="0" destOrd="0" presId="urn:microsoft.com/office/officeart/2005/8/layout/chart3"/>
    <dgm:cxn modelId="{179F2011-1FDC-4E1A-9050-59C382FA16BA}" type="presParOf" srcId="{F5917A7C-640A-4259-9707-E23D9BE209E8}" destId="{7D56DD06-32F4-4E25-A1AA-A886E32C208D}" srcOrd="1" destOrd="0" presId="urn:microsoft.com/office/officeart/2005/8/layout/chart3"/>
    <dgm:cxn modelId="{1B80F344-39C9-4879-842C-8F04E475DA57}" type="presParOf" srcId="{F5917A7C-640A-4259-9707-E23D9BE209E8}" destId="{EF746AB4-AD99-48AC-B5AE-2594A36935EA}" srcOrd="2" destOrd="0" presId="urn:microsoft.com/office/officeart/2005/8/layout/chart3"/>
    <dgm:cxn modelId="{6F88D409-FE6A-45C3-B286-F65D91DBB95B}" type="presParOf" srcId="{F5917A7C-640A-4259-9707-E23D9BE209E8}" destId="{DFB68492-8317-4433-A4C1-9B1BBFABFDB3}" srcOrd="3" destOrd="0" presId="urn:microsoft.com/office/officeart/2005/8/layout/chart3"/>
    <dgm:cxn modelId="{C70ADBC9-E6F2-4EB7-8025-CF42A11968EC}" type="presParOf" srcId="{F5917A7C-640A-4259-9707-E23D9BE209E8}" destId="{73793427-AA50-4797-8820-3A8FBE3F5F04}" srcOrd="4" destOrd="0" presId="urn:microsoft.com/office/officeart/2005/8/layout/chart3"/>
    <dgm:cxn modelId="{BA02AFC8-DCF7-4303-99F1-0B33E0A5C7A8}" type="presParOf" srcId="{F5917A7C-640A-4259-9707-E23D9BE209E8}" destId="{40A031CE-B85D-4679-B012-FEBBECAA6287}" srcOrd="5" destOrd="0" presId="urn:microsoft.com/office/officeart/2005/8/layout/chart3"/>
    <dgm:cxn modelId="{E3D8EA2D-63E1-42C0-992F-DCE48153214D}" type="presParOf" srcId="{F5917A7C-640A-4259-9707-E23D9BE209E8}" destId="{FF7A51B1-9211-49F0-B78E-71917264B3E2}" srcOrd="6" destOrd="0" presId="urn:microsoft.com/office/officeart/2005/8/layout/chart3"/>
    <dgm:cxn modelId="{9310A8B8-F34A-431A-A3FA-E2C671F6AAF0}" type="presParOf" srcId="{F5917A7C-640A-4259-9707-E23D9BE209E8}" destId="{530BCD4F-6A29-485F-BD01-7839324C134A}" srcOrd="7" destOrd="0" presId="urn:microsoft.com/office/officeart/2005/8/layout/chart3"/>
    <dgm:cxn modelId="{6C8481B9-DBEB-4618-90F3-A8D33C4E72F3}" type="presParOf" srcId="{F5917A7C-640A-4259-9707-E23D9BE209E8}" destId="{FA8487C7-2B8E-4AFE-AC49-4DF6551BFC09}" srcOrd="8" destOrd="0" presId="urn:microsoft.com/office/officeart/2005/8/layout/chart3"/>
    <dgm:cxn modelId="{9547DA38-C973-4CF0-9AAC-3047332508D9}" type="presParOf" srcId="{F5917A7C-640A-4259-9707-E23D9BE209E8}" destId="{B234249B-5F26-4927-BDB5-A6001D4C8F72}" srcOrd="9" destOrd="0" presId="urn:microsoft.com/office/officeart/2005/8/layout/chart3"/>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5773B8E-2EBE-4AA2-8F65-06E88954053E}" type="doc">
      <dgm:prSet loTypeId="urn:microsoft.com/office/officeart/2005/8/layout/process5" loCatId="process" qsTypeId="urn:microsoft.com/office/officeart/2005/8/quickstyle/simple2" qsCatId="simple" csTypeId="urn:microsoft.com/office/officeart/2005/8/colors/colorful1" csCatId="colorful" phldr="1"/>
      <dgm:spPr/>
    </dgm:pt>
    <dgm:pt modelId="{96D483D0-5439-4AF2-BAD2-E44CA383B698}">
      <dgm:prSet phldrT="[Text]" custT="1"/>
      <dgm:spPr/>
      <dgm:t>
        <a:bodyPr/>
        <a:lstStyle/>
        <a:p>
          <a:r>
            <a:rPr lang="en-US" sz="1600" dirty="0" smtClean="0"/>
            <a:t>High level requirements</a:t>
          </a:r>
          <a:endParaRPr lang="en-US" sz="1600" dirty="0"/>
        </a:p>
      </dgm:t>
    </dgm:pt>
    <dgm:pt modelId="{5B7D5AF9-165B-4D1C-AF32-1C34258EAA20}" type="parTrans" cxnId="{DB9D2B77-FD4D-4E7D-871B-A8D413D690FB}">
      <dgm:prSet/>
      <dgm:spPr/>
      <dgm:t>
        <a:bodyPr/>
        <a:lstStyle/>
        <a:p>
          <a:endParaRPr lang="en-US"/>
        </a:p>
      </dgm:t>
    </dgm:pt>
    <dgm:pt modelId="{A526A16F-AF76-46CE-88CC-2E47137A8558}" type="sibTrans" cxnId="{DB9D2B77-FD4D-4E7D-871B-A8D413D690FB}">
      <dgm:prSet/>
      <dgm:spPr/>
      <dgm:t>
        <a:bodyPr/>
        <a:lstStyle/>
        <a:p>
          <a:endParaRPr lang="en-US"/>
        </a:p>
      </dgm:t>
    </dgm:pt>
    <dgm:pt modelId="{2703DF15-E0E6-45A1-A039-8A6BA396AE65}">
      <dgm:prSet phldrT="[Text]" custT="1"/>
      <dgm:spPr/>
      <dgm:t>
        <a:bodyPr/>
        <a:lstStyle/>
        <a:p>
          <a:r>
            <a:rPr lang="en-US" sz="1600" dirty="0" smtClean="0"/>
            <a:t>High level design (with </a:t>
          </a:r>
          <a:r>
            <a:rPr lang="en-US" sz="1600" dirty="0" err="1" smtClean="0"/>
            <a:t>PoC</a:t>
          </a:r>
          <a:r>
            <a:rPr lang="en-US" sz="1600" dirty="0" smtClean="0"/>
            <a:t>/prototype)</a:t>
          </a:r>
          <a:endParaRPr lang="en-US" sz="1600" dirty="0"/>
        </a:p>
      </dgm:t>
    </dgm:pt>
    <dgm:pt modelId="{6CBC369A-F4CF-4D09-85C2-F7649914BF8C}" type="parTrans" cxnId="{E7D829B2-D3C9-4FC7-AC79-45D70ADD8AF4}">
      <dgm:prSet/>
      <dgm:spPr/>
      <dgm:t>
        <a:bodyPr/>
        <a:lstStyle/>
        <a:p>
          <a:endParaRPr lang="en-US"/>
        </a:p>
      </dgm:t>
    </dgm:pt>
    <dgm:pt modelId="{2ACD15BF-3A5F-43CE-858C-3AA77AE8E1E4}" type="sibTrans" cxnId="{E7D829B2-D3C9-4FC7-AC79-45D70ADD8AF4}">
      <dgm:prSet/>
      <dgm:spPr/>
      <dgm:t>
        <a:bodyPr/>
        <a:lstStyle/>
        <a:p>
          <a:endParaRPr lang="en-US"/>
        </a:p>
      </dgm:t>
    </dgm:pt>
    <dgm:pt modelId="{1EB59517-7DE3-483F-90D9-257BCF23510F}">
      <dgm:prSet phldrT="[Text]" custT="1"/>
      <dgm:spPr/>
      <dgm:t>
        <a:bodyPr/>
        <a:lstStyle/>
        <a:p>
          <a:r>
            <a:rPr lang="en-US" sz="1600" dirty="0" smtClean="0"/>
            <a:t>Waterfall 2: a maintenance system (partial production if possible)</a:t>
          </a:r>
          <a:endParaRPr lang="en-US" sz="1600" dirty="0"/>
        </a:p>
      </dgm:t>
    </dgm:pt>
    <dgm:pt modelId="{EBDC6479-11EC-430A-A196-9100613A2AD6}" type="parTrans" cxnId="{CB7B78F1-7BFA-4080-8F76-09FFEC02E53F}">
      <dgm:prSet/>
      <dgm:spPr/>
      <dgm:t>
        <a:bodyPr/>
        <a:lstStyle/>
        <a:p>
          <a:endParaRPr lang="en-US"/>
        </a:p>
      </dgm:t>
    </dgm:pt>
    <dgm:pt modelId="{5CA72659-B40D-4B8F-B8F7-CE7C3FAC37D8}" type="sibTrans" cxnId="{CB7B78F1-7BFA-4080-8F76-09FFEC02E53F}">
      <dgm:prSet/>
      <dgm:spPr/>
      <dgm:t>
        <a:bodyPr/>
        <a:lstStyle/>
        <a:p>
          <a:endParaRPr lang="en-US"/>
        </a:p>
      </dgm:t>
    </dgm:pt>
    <dgm:pt modelId="{43601074-2190-453F-BAD7-B8DC51A6018B}">
      <dgm:prSet phldrT="[Text]" custT="1"/>
      <dgm:spPr/>
      <dgm:t>
        <a:bodyPr/>
        <a:lstStyle/>
        <a:p>
          <a:r>
            <a:rPr lang="en-US" sz="1600" dirty="0" smtClean="0"/>
            <a:t>First plan and estimation (</a:t>
          </a:r>
          <a:r>
            <a:rPr lang="en-US" sz="1600" u="sng" dirty="0" smtClean="0"/>
            <a:t>flexible contract</a:t>
          </a:r>
          <a:r>
            <a:rPr lang="en-US" sz="1600" dirty="0" smtClean="0"/>
            <a:t>)</a:t>
          </a:r>
          <a:endParaRPr lang="en-US" sz="1600" dirty="0"/>
        </a:p>
      </dgm:t>
    </dgm:pt>
    <dgm:pt modelId="{9AB966DC-7205-4533-B93C-5FC060939786}" type="parTrans" cxnId="{F21D1370-C02A-4FF3-90AD-76A6F65E7974}">
      <dgm:prSet/>
      <dgm:spPr/>
      <dgm:t>
        <a:bodyPr/>
        <a:lstStyle/>
        <a:p>
          <a:endParaRPr lang="en-US"/>
        </a:p>
      </dgm:t>
    </dgm:pt>
    <dgm:pt modelId="{055D1520-9FF7-42ED-83F8-586CE3219F28}" type="sibTrans" cxnId="{F21D1370-C02A-4FF3-90AD-76A6F65E7974}">
      <dgm:prSet/>
      <dgm:spPr/>
      <dgm:t>
        <a:bodyPr/>
        <a:lstStyle/>
        <a:p>
          <a:endParaRPr lang="en-US"/>
        </a:p>
      </dgm:t>
    </dgm:pt>
    <dgm:pt modelId="{1637D7FA-EBCD-4C5E-AFEA-7C51C026083E}">
      <dgm:prSet phldrT="[Text]" custT="1"/>
      <dgm:spPr/>
      <dgm:t>
        <a:bodyPr/>
        <a:lstStyle/>
        <a:p>
          <a:r>
            <a:rPr lang="en-US" sz="1600" dirty="0" smtClean="0"/>
            <a:t>…</a:t>
          </a:r>
          <a:endParaRPr lang="en-US" sz="1600" dirty="0"/>
        </a:p>
      </dgm:t>
    </dgm:pt>
    <dgm:pt modelId="{9B9BA3F0-555A-475A-8DB4-8BF8C0260F8F}" type="parTrans" cxnId="{97FF41F3-E41D-4BD4-A0AB-07E956C2F0C1}">
      <dgm:prSet/>
      <dgm:spPr/>
      <dgm:t>
        <a:bodyPr/>
        <a:lstStyle/>
        <a:p>
          <a:endParaRPr lang="en-US"/>
        </a:p>
      </dgm:t>
    </dgm:pt>
    <dgm:pt modelId="{6B48BDB3-F8D7-49FF-A405-425AC28D83E3}" type="sibTrans" cxnId="{97FF41F3-E41D-4BD4-A0AB-07E956C2F0C1}">
      <dgm:prSet/>
      <dgm:spPr/>
      <dgm:t>
        <a:bodyPr/>
        <a:lstStyle/>
        <a:p>
          <a:endParaRPr lang="en-US"/>
        </a:p>
      </dgm:t>
    </dgm:pt>
    <dgm:pt modelId="{9FBEFE03-CC21-4540-AE19-387E70496218}">
      <dgm:prSet phldrT="[Text]" custT="1"/>
      <dgm:spPr/>
      <dgm:t>
        <a:bodyPr/>
        <a:lstStyle/>
        <a:p>
          <a:r>
            <a:rPr lang="en-US" sz="1600" dirty="0" smtClean="0"/>
            <a:t>Waterfall 1: a new system (partial production if possible)</a:t>
          </a:r>
          <a:endParaRPr lang="en-US" sz="1600" dirty="0"/>
        </a:p>
      </dgm:t>
    </dgm:pt>
    <dgm:pt modelId="{5834F1DF-2085-45B8-8CDE-DA8C79116992}" type="parTrans" cxnId="{6617F8C4-CDF0-4F2A-BA4D-683EA11DCCB6}">
      <dgm:prSet/>
      <dgm:spPr/>
      <dgm:t>
        <a:bodyPr/>
        <a:lstStyle/>
        <a:p>
          <a:endParaRPr lang="en-US"/>
        </a:p>
      </dgm:t>
    </dgm:pt>
    <dgm:pt modelId="{6C72BD96-BF1E-46FC-A140-A057931585A2}" type="sibTrans" cxnId="{6617F8C4-CDF0-4F2A-BA4D-683EA11DCCB6}">
      <dgm:prSet/>
      <dgm:spPr/>
      <dgm:t>
        <a:bodyPr/>
        <a:lstStyle/>
        <a:p>
          <a:endParaRPr lang="en-US"/>
        </a:p>
      </dgm:t>
    </dgm:pt>
    <dgm:pt modelId="{3A71F888-4DE7-4BD9-8D71-BD559D1FDF80}">
      <dgm:prSet phldrT="[Text]" custT="1"/>
      <dgm:spPr/>
      <dgm:t>
        <a:bodyPr/>
        <a:lstStyle/>
        <a:p>
          <a:r>
            <a:rPr lang="en-US" sz="1600" dirty="0" smtClean="0"/>
            <a:t>Full production</a:t>
          </a:r>
          <a:endParaRPr lang="en-US" sz="1600" dirty="0"/>
        </a:p>
      </dgm:t>
    </dgm:pt>
    <dgm:pt modelId="{C2125F25-DF52-4AB5-8F23-A140498F5164}" type="parTrans" cxnId="{FFE539BF-D4C7-4525-891E-9BBC05DEDD9C}">
      <dgm:prSet/>
      <dgm:spPr/>
      <dgm:t>
        <a:bodyPr/>
        <a:lstStyle/>
        <a:p>
          <a:endParaRPr lang="en-US"/>
        </a:p>
      </dgm:t>
    </dgm:pt>
    <dgm:pt modelId="{5F8AEC31-304F-4531-A7E1-EB9A2BBBF2ED}" type="sibTrans" cxnId="{FFE539BF-D4C7-4525-891E-9BBC05DEDD9C}">
      <dgm:prSet/>
      <dgm:spPr/>
      <dgm:t>
        <a:bodyPr/>
        <a:lstStyle/>
        <a:p>
          <a:endParaRPr lang="en-US"/>
        </a:p>
      </dgm:t>
    </dgm:pt>
    <dgm:pt modelId="{D0360C75-7FA9-47EE-9CC5-19167771AAB5}">
      <dgm:prSet phldrT="[Text]" custT="1"/>
      <dgm:spPr/>
      <dgm:t>
        <a:bodyPr/>
        <a:lstStyle/>
        <a:p>
          <a:r>
            <a:rPr lang="en-US" sz="1600" dirty="0" smtClean="0"/>
            <a:t>Waterfall n: a maintenance </a:t>
          </a:r>
          <a:r>
            <a:rPr lang="en-US" sz="1600" smtClean="0"/>
            <a:t>system (partial production if possible)</a:t>
          </a:r>
          <a:endParaRPr lang="en-US" sz="1600" dirty="0"/>
        </a:p>
      </dgm:t>
    </dgm:pt>
    <dgm:pt modelId="{DCD62F01-08DC-48A2-A815-9957644A2A99}" type="sibTrans" cxnId="{217C8FEC-FCED-4F3E-B50C-87DD56C37A40}">
      <dgm:prSet/>
      <dgm:spPr/>
      <dgm:t>
        <a:bodyPr/>
        <a:lstStyle/>
        <a:p>
          <a:endParaRPr lang="en-US"/>
        </a:p>
      </dgm:t>
    </dgm:pt>
    <dgm:pt modelId="{9AB51C76-09EE-449A-89DB-ECC1A48C93C7}" type="parTrans" cxnId="{217C8FEC-FCED-4F3E-B50C-87DD56C37A40}">
      <dgm:prSet/>
      <dgm:spPr/>
      <dgm:t>
        <a:bodyPr/>
        <a:lstStyle/>
        <a:p>
          <a:endParaRPr lang="en-US"/>
        </a:p>
      </dgm:t>
    </dgm:pt>
    <dgm:pt modelId="{8BC8A664-52CD-43F6-820A-1EC4E1FE2FD7}">
      <dgm:prSet phldrT="[Text]" custT="1"/>
      <dgm:spPr/>
      <dgm:t>
        <a:bodyPr/>
        <a:lstStyle/>
        <a:p>
          <a:r>
            <a:rPr lang="en-US" sz="1600" dirty="0" smtClean="0"/>
            <a:t>…</a:t>
          </a:r>
          <a:endParaRPr lang="en-US" sz="1600" dirty="0"/>
        </a:p>
      </dgm:t>
    </dgm:pt>
    <dgm:pt modelId="{68BDAD05-B104-4E2C-86D0-46153263A920}" type="parTrans" cxnId="{9BE15AB2-1988-440E-877E-6D90FD6F4B2E}">
      <dgm:prSet/>
      <dgm:spPr/>
      <dgm:t>
        <a:bodyPr/>
        <a:lstStyle/>
        <a:p>
          <a:endParaRPr lang="en-US"/>
        </a:p>
      </dgm:t>
    </dgm:pt>
    <dgm:pt modelId="{853BAB51-F3F6-4B6E-97E6-131DA49ED53E}" type="sibTrans" cxnId="{9BE15AB2-1988-440E-877E-6D90FD6F4B2E}">
      <dgm:prSet/>
      <dgm:spPr/>
      <dgm:t>
        <a:bodyPr/>
        <a:lstStyle/>
        <a:p>
          <a:endParaRPr lang="en-US"/>
        </a:p>
      </dgm:t>
    </dgm:pt>
    <dgm:pt modelId="{2968A398-A6C4-4346-B216-8A0AC86B2048}" type="pres">
      <dgm:prSet presAssocID="{45773B8E-2EBE-4AA2-8F65-06E88954053E}" presName="diagram" presStyleCnt="0">
        <dgm:presLayoutVars>
          <dgm:dir/>
          <dgm:resizeHandles val="exact"/>
        </dgm:presLayoutVars>
      </dgm:prSet>
      <dgm:spPr/>
    </dgm:pt>
    <dgm:pt modelId="{6C3573BE-1F1F-460C-9FB4-D4CE4D4054D3}" type="pres">
      <dgm:prSet presAssocID="{96D483D0-5439-4AF2-BAD2-E44CA383B698}" presName="node" presStyleLbl="node1" presStyleIdx="0" presStyleCnt="9">
        <dgm:presLayoutVars>
          <dgm:bulletEnabled val="1"/>
        </dgm:presLayoutVars>
      </dgm:prSet>
      <dgm:spPr/>
      <dgm:t>
        <a:bodyPr/>
        <a:lstStyle/>
        <a:p>
          <a:endParaRPr lang="en-US"/>
        </a:p>
      </dgm:t>
    </dgm:pt>
    <dgm:pt modelId="{475D3339-A35B-4D84-BC88-5EFBDE329552}" type="pres">
      <dgm:prSet presAssocID="{A526A16F-AF76-46CE-88CC-2E47137A8558}" presName="sibTrans" presStyleLbl="sibTrans2D1" presStyleIdx="0" presStyleCnt="8"/>
      <dgm:spPr/>
      <dgm:t>
        <a:bodyPr/>
        <a:lstStyle/>
        <a:p>
          <a:endParaRPr lang="en-US"/>
        </a:p>
      </dgm:t>
    </dgm:pt>
    <dgm:pt modelId="{3DCE81AB-91B0-44FE-B499-31AC912C892D}" type="pres">
      <dgm:prSet presAssocID="{A526A16F-AF76-46CE-88CC-2E47137A8558}" presName="connectorText" presStyleLbl="sibTrans2D1" presStyleIdx="0" presStyleCnt="8"/>
      <dgm:spPr/>
      <dgm:t>
        <a:bodyPr/>
        <a:lstStyle/>
        <a:p>
          <a:endParaRPr lang="en-US"/>
        </a:p>
      </dgm:t>
    </dgm:pt>
    <dgm:pt modelId="{8D6AFF72-8480-4B75-B35E-D866F381B23F}" type="pres">
      <dgm:prSet presAssocID="{2703DF15-E0E6-45A1-A039-8A6BA396AE65}" presName="node" presStyleLbl="node1" presStyleIdx="1" presStyleCnt="9">
        <dgm:presLayoutVars>
          <dgm:bulletEnabled val="1"/>
        </dgm:presLayoutVars>
      </dgm:prSet>
      <dgm:spPr/>
      <dgm:t>
        <a:bodyPr/>
        <a:lstStyle/>
        <a:p>
          <a:endParaRPr lang="en-US"/>
        </a:p>
      </dgm:t>
    </dgm:pt>
    <dgm:pt modelId="{942E51FA-4CCD-42BF-BF47-392BC1AC4C89}" type="pres">
      <dgm:prSet presAssocID="{2ACD15BF-3A5F-43CE-858C-3AA77AE8E1E4}" presName="sibTrans" presStyleLbl="sibTrans2D1" presStyleIdx="1" presStyleCnt="8"/>
      <dgm:spPr/>
      <dgm:t>
        <a:bodyPr/>
        <a:lstStyle/>
        <a:p>
          <a:endParaRPr lang="en-US"/>
        </a:p>
      </dgm:t>
    </dgm:pt>
    <dgm:pt modelId="{67A9E360-FAEB-4143-B56D-5B0E479A8704}" type="pres">
      <dgm:prSet presAssocID="{2ACD15BF-3A5F-43CE-858C-3AA77AE8E1E4}" presName="connectorText" presStyleLbl="sibTrans2D1" presStyleIdx="1" presStyleCnt="8"/>
      <dgm:spPr/>
      <dgm:t>
        <a:bodyPr/>
        <a:lstStyle/>
        <a:p>
          <a:endParaRPr lang="en-US"/>
        </a:p>
      </dgm:t>
    </dgm:pt>
    <dgm:pt modelId="{C4E48D0C-30CB-469A-BC84-FDAAB6AAEA95}" type="pres">
      <dgm:prSet presAssocID="{43601074-2190-453F-BAD7-B8DC51A6018B}" presName="node" presStyleLbl="node1" presStyleIdx="2" presStyleCnt="9">
        <dgm:presLayoutVars>
          <dgm:bulletEnabled val="1"/>
        </dgm:presLayoutVars>
      </dgm:prSet>
      <dgm:spPr/>
      <dgm:t>
        <a:bodyPr/>
        <a:lstStyle/>
        <a:p>
          <a:endParaRPr lang="en-US"/>
        </a:p>
      </dgm:t>
    </dgm:pt>
    <dgm:pt modelId="{805A60FC-F65B-4E81-B091-101DD1752236}" type="pres">
      <dgm:prSet presAssocID="{055D1520-9FF7-42ED-83F8-586CE3219F28}" presName="sibTrans" presStyleLbl="sibTrans2D1" presStyleIdx="2" presStyleCnt="8"/>
      <dgm:spPr/>
      <dgm:t>
        <a:bodyPr/>
        <a:lstStyle/>
        <a:p>
          <a:endParaRPr lang="en-US"/>
        </a:p>
      </dgm:t>
    </dgm:pt>
    <dgm:pt modelId="{F7F255F0-ACD5-445A-9C5C-821EE5383D82}" type="pres">
      <dgm:prSet presAssocID="{055D1520-9FF7-42ED-83F8-586CE3219F28}" presName="connectorText" presStyleLbl="sibTrans2D1" presStyleIdx="2" presStyleCnt="8"/>
      <dgm:spPr/>
      <dgm:t>
        <a:bodyPr/>
        <a:lstStyle/>
        <a:p>
          <a:endParaRPr lang="en-US"/>
        </a:p>
      </dgm:t>
    </dgm:pt>
    <dgm:pt modelId="{BCB032F7-CAAC-416B-B72D-05E73C6B30F9}" type="pres">
      <dgm:prSet presAssocID="{9FBEFE03-CC21-4540-AE19-387E70496218}" presName="node" presStyleLbl="node1" presStyleIdx="3" presStyleCnt="9">
        <dgm:presLayoutVars>
          <dgm:bulletEnabled val="1"/>
        </dgm:presLayoutVars>
      </dgm:prSet>
      <dgm:spPr/>
      <dgm:t>
        <a:bodyPr/>
        <a:lstStyle/>
        <a:p>
          <a:endParaRPr lang="en-US"/>
        </a:p>
      </dgm:t>
    </dgm:pt>
    <dgm:pt modelId="{A48FA335-27D0-4A38-B9F0-8EEEF3A70E8D}" type="pres">
      <dgm:prSet presAssocID="{6C72BD96-BF1E-46FC-A140-A057931585A2}" presName="sibTrans" presStyleLbl="sibTrans2D1" presStyleIdx="3" presStyleCnt="8"/>
      <dgm:spPr/>
      <dgm:t>
        <a:bodyPr/>
        <a:lstStyle/>
        <a:p>
          <a:endParaRPr lang="en-US"/>
        </a:p>
      </dgm:t>
    </dgm:pt>
    <dgm:pt modelId="{8FFC5543-E5AB-460E-A4A8-D6CE5EE88834}" type="pres">
      <dgm:prSet presAssocID="{6C72BD96-BF1E-46FC-A140-A057931585A2}" presName="connectorText" presStyleLbl="sibTrans2D1" presStyleIdx="3" presStyleCnt="8"/>
      <dgm:spPr/>
      <dgm:t>
        <a:bodyPr/>
        <a:lstStyle/>
        <a:p>
          <a:endParaRPr lang="en-US"/>
        </a:p>
      </dgm:t>
    </dgm:pt>
    <dgm:pt modelId="{1BCD375B-6198-4FB1-A03C-3B0D2C12EE8F}" type="pres">
      <dgm:prSet presAssocID="{1EB59517-7DE3-483F-90D9-257BCF23510F}" presName="node" presStyleLbl="node1" presStyleIdx="4" presStyleCnt="9">
        <dgm:presLayoutVars>
          <dgm:bulletEnabled val="1"/>
        </dgm:presLayoutVars>
      </dgm:prSet>
      <dgm:spPr/>
      <dgm:t>
        <a:bodyPr/>
        <a:lstStyle/>
        <a:p>
          <a:endParaRPr lang="en-US"/>
        </a:p>
      </dgm:t>
    </dgm:pt>
    <dgm:pt modelId="{D23C27CA-7D01-4471-B58B-621618001768}" type="pres">
      <dgm:prSet presAssocID="{5CA72659-B40D-4B8F-B8F7-CE7C3FAC37D8}" presName="sibTrans" presStyleLbl="sibTrans2D1" presStyleIdx="4" presStyleCnt="8"/>
      <dgm:spPr/>
      <dgm:t>
        <a:bodyPr/>
        <a:lstStyle/>
        <a:p>
          <a:endParaRPr lang="en-US"/>
        </a:p>
      </dgm:t>
    </dgm:pt>
    <dgm:pt modelId="{353D149D-BBB6-4FF4-8F34-AF032A817DF2}" type="pres">
      <dgm:prSet presAssocID="{5CA72659-B40D-4B8F-B8F7-CE7C3FAC37D8}" presName="connectorText" presStyleLbl="sibTrans2D1" presStyleIdx="4" presStyleCnt="8"/>
      <dgm:spPr/>
      <dgm:t>
        <a:bodyPr/>
        <a:lstStyle/>
        <a:p>
          <a:endParaRPr lang="en-US"/>
        </a:p>
      </dgm:t>
    </dgm:pt>
    <dgm:pt modelId="{08A130AA-DE8A-4E13-99FD-19C8956F3A83}" type="pres">
      <dgm:prSet presAssocID="{1637D7FA-EBCD-4C5E-AFEA-7C51C026083E}" presName="node" presStyleLbl="node1" presStyleIdx="5" presStyleCnt="9">
        <dgm:presLayoutVars>
          <dgm:bulletEnabled val="1"/>
        </dgm:presLayoutVars>
      </dgm:prSet>
      <dgm:spPr/>
      <dgm:t>
        <a:bodyPr/>
        <a:lstStyle/>
        <a:p>
          <a:endParaRPr lang="en-US"/>
        </a:p>
      </dgm:t>
    </dgm:pt>
    <dgm:pt modelId="{2346B461-EE95-45AF-BB5B-4C4B8BA6A006}" type="pres">
      <dgm:prSet presAssocID="{6B48BDB3-F8D7-49FF-A405-425AC28D83E3}" presName="sibTrans" presStyleLbl="sibTrans2D1" presStyleIdx="5" presStyleCnt="8"/>
      <dgm:spPr/>
      <dgm:t>
        <a:bodyPr/>
        <a:lstStyle/>
        <a:p>
          <a:endParaRPr lang="en-US"/>
        </a:p>
      </dgm:t>
    </dgm:pt>
    <dgm:pt modelId="{6D435A7B-2380-4902-9B0B-07B33D456102}" type="pres">
      <dgm:prSet presAssocID="{6B48BDB3-F8D7-49FF-A405-425AC28D83E3}" presName="connectorText" presStyleLbl="sibTrans2D1" presStyleIdx="5" presStyleCnt="8"/>
      <dgm:spPr/>
      <dgm:t>
        <a:bodyPr/>
        <a:lstStyle/>
        <a:p>
          <a:endParaRPr lang="en-US"/>
        </a:p>
      </dgm:t>
    </dgm:pt>
    <dgm:pt modelId="{57147499-261E-4F9A-8425-94F25BF22220}" type="pres">
      <dgm:prSet presAssocID="{8BC8A664-52CD-43F6-820A-1EC4E1FE2FD7}" presName="node" presStyleLbl="node1" presStyleIdx="6" presStyleCnt="9">
        <dgm:presLayoutVars>
          <dgm:bulletEnabled val="1"/>
        </dgm:presLayoutVars>
      </dgm:prSet>
      <dgm:spPr/>
      <dgm:t>
        <a:bodyPr/>
        <a:lstStyle/>
        <a:p>
          <a:endParaRPr lang="en-US"/>
        </a:p>
      </dgm:t>
    </dgm:pt>
    <dgm:pt modelId="{FD4F30AE-0B9F-4825-BB39-5F011FA0234F}" type="pres">
      <dgm:prSet presAssocID="{853BAB51-F3F6-4B6E-97E6-131DA49ED53E}" presName="sibTrans" presStyleLbl="sibTrans2D1" presStyleIdx="6" presStyleCnt="8"/>
      <dgm:spPr/>
      <dgm:t>
        <a:bodyPr/>
        <a:lstStyle/>
        <a:p>
          <a:endParaRPr lang="en-US"/>
        </a:p>
      </dgm:t>
    </dgm:pt>
    <dgm:pt modelId="{0D509667-9E84-4C65-A5B7-F87F04304136}" type="pres">
      <dgm:prSet presAssocID="{853BAB51-F3F6-4B6E-97E6-131DA49ED53E}" presName="connectorText" presStyleLbl="sibTrans2D1" presStyleIdx="6" presStyleCnt="8"/>
      <dgm:spPr/>
      <dgm:t>
        <a:bodyPr/>
        <a:lstStyle/>
        <a:p>
          <a:endParaRPr lang="en-US"/>
        </a:p>
      </dgm:t>
    </dgm:pt>
    <dgm:pt modelId="{EDD4CB7B-6B9C-49B7-AA20-BB293497FE53}" type="pres">
      <dgm:prSet presAssocID="{D0360C75-7FA9-47EE-9CC5-19167771AAB5}" presName="node" presStyleLbl="node1" presStyleIdx="7" presStyleCnt="9">
        <dgm:presLayoutVars>
          <dgm:bulletEnabled val="1"/>
        </dgm:presLayoutVars>
      </dgm:prSet>
      <dgm:spPr/>
      <dgm:t>
        <a:bodyPr/>
        <a:lstStyle/>
        <a:p>
          <a:endParaRPr lang="en-US"/>
        </a:p>
      </dgm:t>
    </dgm:pt>
    <dgm:pt modelId="{5A869DD6-AC45-4673-8198-D02E31875A49}" type="pres">
      <dgm:prSet presAssocID="{DCD62F01-08DC-48A2-A815-9957644A2A99}" presName="sibTrans" presStyleLbl="sibTrans2D1" presStyleIdx="7" presStyleCnt="8"/>
      <dgm:spPr/>
      <dgm:t>
        <a:bodyPr/>
        <a:lstStyle/>
        <a:p>
          <a:endParaRPr lang="en-US"/>
        </a:p>
      </dgm:t>
    </dgm:pt>
    <dgm:pt modelId="{CCE10781-8DE8-43AE-B271-6BB15D544BDC}" type="pres">
      <dgm:prSet presAssocID="{DCD62F01-08DC-48A2-A815-9957644A2A99}" presName="connectorText" presStyleLbl="sibTrans2D1" presStyleIdx="7" presStyleCnt="8"/>
      <dgm:spPr/>
      <dgm:t>
        <a:bodyPr/>
        <a:lstStyle/>
        <a:p>
          <a:endParaRPr lang="en-US"/>
        </a:p>
      </dgm:t>
    </dgm:pt>
    <dgm:pt modelId="{35774DE3-BE64-4894-A502-246A28210597}" type="pres">
      <dgm:prSet presAssocID="{3A71F888-4DE7-4BD9-8D71-BD559D1FDF80}" presName="node" presStyleLbl="node1" presStyleIdx="8" presStyleCnt="9">
        <dgm:presLayoutVars>
          <dgm:bulletEnabled val="1"/>
        </dgm:presLayoutVars>
      </dgm:prSet>
      <dgm:spPr/>
      <dgm:t>
        <a:bodyPr/>
        <a:lstStyle/>
        <a:p>
          <a:endParaRPr lang="en-US"/>
        </a:p>
      </dgm:t>
    </dgm:pt>
  </dgm:ptLst>
  <dgm:cxnLst>
    <dgm:cxn modelId="{CB7B78F1-7BFA-4080-8F76-09FFEC02E53F}" srcId="{45773B8E-2EBE-4AA2-8F65-06E88954053E}" destId="{1EB59517-7DE3-483F-90D9-257BCF23510F}" srcOrd="4" destOrd="0" parTransId="{EBDC6479-11EC-430A-A196-9100613A2AD6}" sibTransId="{5CA72659-B40D-4B8F-B8F7-CE7C3FAC37D8}"/>
    <dgm:cxn modelId="{9C6FC3C7-EFE1-4072-9CBD-7281F4DAA456}" type="presOf" srcId="{43601074-2190-453F-BAD7-B8DC51A6018B}" destId="{C4E48D0C-30CB-469A-BC84-FDAAB6AAEA95}" srcOrd="0" destOrd="0" presId="urn:microsoft.com/office/officeart/2005/8/layout/process5"/>
    <dgm:cxn modelId="{43D2E01F-6A95-49BF-9DD2-2CEBEDC1FFB8}" type="presOf" srcId="{D0360C75-7FA9-47EE-9CC5-19167771AAB5}" destId="{EDD4CB7B-6B9C-49B7-AA20-BB293497FE53}" srcOrd="0" destOrd="0" presId="urn:microsoft.com/office/officeart/2005/8/layout/process5"/>
    <dgm:cxn modelId="{2C5B02C8-D090-417A-BC60-1CB63435A9BD}" type="presOf" srcId="{853BAB51-F3F6-4B6E-97E6-131DA49ED53E}" destId="{FD4F30AE-0B9F-4825-BB39-5F011FA0234F}" srcOrd="0" destOrd="0" presId="urn:microsoft.com/office/officeart/2005/8/layout/process5"/>
    <dgm:cxn modelId="{33FAC518-B73F-4AFF-95E7-A5E41B1064F6}" type="presOf" srcId="{DCD62F01-08DC-48A2-A815-9957644A2A99}" destId="{CCE10781-8DE8-43AE-B271-6BB15D544BDC}" srcOrd="1" destOrd="0" presId="urn:microsoft.com/office/officeart/2005/8/layout/process5"/>
    <dgm:cxn modelId="{035770F5-9B93-4D0A-92DC-6EF75BC6A5B2}" type="presOf" srcId="{5CA72659-B40D-4B8F-B8F7-CE7C3FAC37D8}" destId="{353D149D-BBB6-4FF4-8F34-AF032A817DF2}" srcOrd="1" destOrd="0" presId="urn:microsoft.com/office/officeart/2005/8/layout/process5"/>
    <dgm:cxn modelId="{746B48C0-A227-4A94-B665-12BDD2D022FF}" type="presOf" srcId="{5CA72659-B40D-4B8F-B8F7-CE7C3FAC37D8}" destId="{D23C27CA-7D01-4471-B58B-621618001768}" srcOrd="0" destOrd="0" presId="urn:microsoft.com/office/officeart/2005/8/layout/process5"/>
    <dgm:cxn modelId="{6AECF6B9-4C22-4658-9FF9-E48B1322C689}" type="presOf" srcId="{055D1520-9FF7-42ED-83F8-586CE3219F28}" destId="{F7F255F0-ACD5-445A-9C5C-821EE5383D82}" srcOrd="1" destOrd="0" presId="urn:microsoft.com/office/officeart/2005/8/layout/process5"/>
    <dgm:cxn modelId="{457DEA47-2315-4DEA-A4C9-1649C0E0735B}" type="presOf" srcId="{1EB59517-7DE3-483F-90D9-257BCF23510F}" destId="{1BCD375B-6198-4FB1-A03C-3B0D2C12EE8F}" srcOrd="0" destOrd="0" presId="urn:microsoft.com/office/officeart/2005/8/layout/process5"/>
    <dgm:cxn modelId="{6617F8C4-CDF0-4F2A-BA4D-683EA11DCCB6}" srcId="{45773B8E-2EBE-4AA2-8F65-06E88954053E}" destId="{9FBEFE03-CC21-4540-AE19-387E70496218}" srcOrd="3" destOrd="0" parTransId="{5834F1DF-2085-45B8-8CDE-DA8C79116992}" sibTransId="{6C72BD96-BF1E-46FC-A140-A057931585A2}"/>
    <dgm:cxn modelId="{217C8FEC-FCED-4F3E-B50C-87DD56C37A40}" srcId="{45773B8E-2EBE-4AA2-8F65-06E88954053E}" destId="{D0360C75-7FA9-47EE-9CC5-19167771AAB5}" srcOrd="7" destOrd="0" parTransId="{9AB51C76-09EE-449A-89DB-ECC1A48C93C7}" sibTransId="{DCD62F01-08DC-48A2-A815-9957644A2A99}"/>
    <dgm:cxn modelId="{87AEAEF8-C761-4990-9B6F-4EAFE83C491A}" type="presOf" srcId="{055D1520-9FF7-42ED-83F8-586CE3219F28}" destId="{805A60FC-F65B-4E81-B091-101DD1752236}" srcOrd="0" destOrd="0" presId="urn:microsoft.com/office/officeart/2005/8/layout/process5"/>
    <dgm:cxn modelId="{9816380A-FB7F-4EAD-8E39-9DA5F4E8E178}" type="presOf" srcId="{A526A16F-AF76-46CE-88CC-2E47137A8558}" destId="{3DCE81AB-91B0-44FE-B499-31AC912C892D}" srcOrd="1" destOrd="0" presId="urn:microsoft.com/office/officeart/2005/8/layout/process5"/>
    <dgm:cxn modelId="{97FF41F3-E41D-4BD4-A0AB-07E956C2F0C1}" srcId="{45773B8E-2EBE-4AA2-8F65-06E88954053E}" destId="{1637D7FA-EBCD-4C5E-AFEA-7C51C026083E}" srcOrd="5" destOrd="0" parTransId="{9B9BA3F0-555A-475A-8DB4-8BF8C0260F8F}" sibTransId="{6B48BDB3-F8D7-49FF-A405-425AC28D83E3}"/>
    <dgm:cxn modelId="{E7D829B2-D3C9-4FC7-AC79-45D70ADD8AF4}" srcId="{45773B8E-2EBE-4AA2-8F65-06E88954053E}" destId="{2703DF15-E0E6-45A1-A039-8A6BA396AE65}" srcOrd="1" destOrd="0" parTransId="{6CBC369A-F4CF-4D09-85C2-F7649914BF8C}" sibTransId="{2ACD15BF-3A5F-43CE-858C-3AA77AE8E1E4}"/>
    <dgm:cxn modelId="{96061341-CF39-4B69-8BCF-CE0D64146F8E}" type="presOf" srcId="{6B48BDB3-F8D7-49FF-A405-425AC28D83E3}" destId="{2346B461-EE95-45AF-BB5B-4C4B8BA6A006}" srcOrd="0" destOrd="0" presId="urn:microsoft.com/office/officeart/2005/8/layout/process5"/>
    <dgm:cxn modelId="{4D190F04-6A7F-4240-A56A-5C256C193B39}" type="presOf" srcId="{1637D7FA-EBCD-4C5E-AFEA-7C51C026083E}" destId="{08A130AA-DE8A-4E13-99FD-19C8956F3A83}" srcOrd="0" destOrd="0" presId="urn:microsoft.com/office/officeart/2005/8/layout/process5"/>
    <dgm:cxn modelId="{93A216DB-40CA-4351-9310-C0C5B28854B6}" type="presOf" srcId="{9FBEFE03-CC21-4540-AE19-387E70496218}" destId="{BCB032F7-CAAC-416B-B72D-05E73C6B30F9}" srcOrd="0" destOrd="0" presId="urn:microsoft.com/office/officeart/2005/8/layout/process5"/>
    <dgm:cxn modelId="{FFE539BF-D4C7-4525-891E-9BBC05DEDD9C}" srcId="{45773B8E-2EBE-4AA2-8F65-06E88954053E}" destId="{3A71F888-4DE7-4BD9-8D71-BD559D1FDF80}" srcOrd="8" destOrd="0" parTransId="{C2125F25-DF52-4AB5-8F23-A140498F5164}" sibTransId="{5F8AEC31-304F-4531-A7E1-EB9A2BBBF2ED}"/>
    <dgm:cxn modelId="{07BAEEC1-DB71-4E42-AF3A-8E506328A268}" type="presOf" srcId="{6B48BDB3-F8D7-49FF-A405-425AC28D83E3}" destId="{6D435A7B-2380-4902-9B0B-07B33D456102}" srcOrd="1" destOrd="0" presId="urn:microsoft.com/office/officeart/2005/8/layout/process5"/>
    <dgm:cxn modelId="{C0531018-B83C-4C57-B18C-2F79400BB946}" type="presOf" srcId="{96D483D0-5439-4AF2-BAD2-E44CA383B698}" destId="{6C3573BE-1F1F-460C-9FB4-D4CE4D4054D3}" srcOrd="0" destOrd="0" presId="urn:microsoft.com/office/officeart/2005/8/layout/process5"/>
    <dgm:cxn modelId="{DB9D2B77-FD4D-4E7D-871B-A8D413D690FB}" srcId="{45773B8E-2EBE-4AA2-8F65-06E88954053E}" destId="{96D483D0-5439-4AF2-BAD2-E44CA383B698}" srcOrd="0" destOrd="0" parTransId="{5B7D5AF9-165B-4D1C-AF32-1C34258EAA20}" sibTransId="{A526A16F-AF76-46CE-88CC-2E47137A8558}"/>
    <dgm:cxn modelId="{B14D4F4E-CCD4-41C7-8CB0-7BE7D38BBE3D}" type="presOf" srcId="{8BC8A664-52CD-43F6-820A-1EC4E1FE2FD7}" destId="{57147499-261E-4F9A-8425-94F25BF22220}" srcOrd="0" destOrd="0" presId="urn:microsoft.com/office/officeart/2005/8/layout/process5"/>
    <dgm:cxn modelId="{6BDC412C-A790-4ECC-896D-D4DE9E5F6B6A}" type="presOf" srcId="{6C72BD96-BF1E-46FC-A140-A057931585A2}" destId="{8FFC5543-E5AB-460E-A4A8-D6CE5EE88834}" srcOrd="1" destOrd="0" presId="urn:microsoft.com/office/officeart/2005/8/layout/process5"/>
    <dgm:cxn modelId="{9BE15AB2-1988-440E-877E-6D90FD6F4B2E}" srcId="{45773B8E-2EBE-4AA2-8F65-06E88954053E}" destId="{8BC8A664-52CD-43F6-820A-1EC4E1FE2FD7}" srcOrd="6" destOrd="0" parTransId="{68BDAD05-B104-4E2C-86D0-46153263A920}" sibTransId="{853BAB51-F3F6-4B6E-97E6-131DA49ED53E}"/>
    <dgm:cxn modelId="{F21D1370-C02A-4FF3-90AD-76A6F65E7974}" srcId="{45773B8E-2EBE-4AA2-8F65-06E88954053E}" destId="{43601074-2190-453F-BAD7-B8DC51A6018B}" srcOrd="2" destOrd="0" parTransId="{9AB966DC-7205-4533-B93C-5FC060939786}" sibTransId="{055D1520-9FF7-42ED-83F8-586CE3219F28}"/>
    <dgm:cxn modelId="{BE359AA8-98A5-498B-AD90-1D3B470A7471}" type="presOf" srcId="{2ACD15BF-3A5F-43CE-858C-3AA77AE8E1E4}" destId="{942E51FA-4CCD-42BF-BF47-392BC1AC4C89}" srcOrd="0" destOrd="0" presId="urn:microsoft.com/office/officeart/2005/8/layout/process5"/>
    <dgm:cxn modelId="{3AC4DCC1-32DA-40E1-B588-A674EAF04E05}" type="presOf" srcId="{2703DF15-E0E6-45A1-A039-8A6BA396AE65}" destId="{8D6AFF72-8480-4B75-B35E-D866F381B23F}" srcOrd="0" destOrd="0" presId="urn:microsoft.com/office/officeart/2005/8/layout/process5"/>
    <dgm:cxn modelId="{C382D156-F3A4-4F3F-8BE5-2638608AFA6A}" type="presOf" srcId="{3A71F888-4DE7-4BD9-8D71-BD559D1FDF80}" destId="{35774DE3-BE64-4894-A502-246A28210597}" srcOrd="0" destOrd="0" presId="urn:microsoft.com/office/officeart/2005/8/layout/process5"/>
    <dgm:cxn modelId="{F8506E41-D9AE-4F1C-9A3D-AAB2401A9BA3}" type="presOf" srcId="{A526A16F-AF76-46CE-88CC-2E47137A8558}" destId="{475D3339-A35B-4D84-BC88-5EFBDE329552}" srcOrd="0" destOrd="0" presId="urn:microsoft.com/office/officeart/2005/8/layout/process5"/>
    <dgm:cxn modelId="{73610B6F-890C-4C4B-8C1A-12B9EEE114DB}" type="presOf" srcId="{853BAB51-F3F6-4B6E-97E6-131DA49ED53E}" destId="{0D509667-9E84-4C65-A5B7-F87F04304136}" srcOrd="1" destOrd="0" presId="urn:microsoft.com/office/officeart/2005/8/layout/process5"/>
    <dgm:cxn modelId="{449A68B2-160F-40F7-9E37-023F7837AB6D}" type="presOf" srcId="{2ACD15BF-3A5F-43CE-858C-3AA77AE8E1E4}" destId="{67A9E360-FAEB-4143-B56D-5B0E479A8704}" srcOrd="1" destOrd="0" presId="urn:microsoft.com/office/officeart/2005/8/layout/process5"/>
    <dgm:cxn modelId="{CC1B5F94-10D4-4EB0-9984-E435671D3BB3}" type="presOf" srcId="{6C72BD96-BF1E-46FC-A140-A057931585A2}" destId="{A48FA335-27D0-4A38-B9F0-8EEEF3A70E8D}" srcOrd="0" destOrd="0" presId="urn:microsoft.com/office/officeart/2005/8/layout/process5"/>
    <dgm:cxn modelId="{7F1DD3FD-615A-44DB-AA88-FFF718AAC653}" type="presOf" srcId="{45773B8E-2EBE-4AA2-8F65-06E88954053E}" destId="{2968A398-A6C4-4346-B216-8A0AC86B2048}" srcOrd="0" destOrd="0" presId="urn:microsoft.com/office/officeart/2005/8/layout/process5"/>
    <dgm:cxn modelId="{5E3A8FFC-2423-41BF-B0D9-843D50EF2374}" type="presOf" srcId="{DCD62F01-08DC-48A2-A815-9957644A2A99}" destId="{5A869DD6-AC45-4673-8198-D02E31875A49}" srcOrd="0" destOrd="0" presId="urn:microsoft.com/office/officeart/2005/8/layout/process5"/>
    <dgm:cxn modelId="{058175B2-2025-4383-B113-44672DF37C2B}" type="presParOf" srcId="{2968A398-A6C4-4346-B216-8A0AC86B2048}" destId="{6C3573BE-1F1F-460C-9FB4-D4CE4D4054D3}" srcOrd="0" destOrd="0" presId="urn:microsoft.com/office/officeart/2005/8/layout/process5"/>
    <dgm:cxn modelId="{00D5A204-E10B-4310-AF68-91035E8EBDF4}" type="presParOf" srcId="{2968A398-A6C4-4346-B216-8A0AC86B2048}" destId="{475D3339-A35B-4D84-BC88-5EFBDE329552}" srcOrd="1" destOrd="0" presId="urn:microsoft.com/office/officeart/2005/8/layout/process5"/>
    <dgm:cxn modelId="{65DFE259-B489-4F37-8AA1-514F6173FC9F}" type="presParOf" srcId="{475D3339-A35B-4D84-BC88-5EFBDE329552}" destId="{3DCE81AB-91B0-44FE-B499-31AC912C892D}" srcOrd="0" destOrd="0" presId="urn:microsoft.com/office/officeart/2005/8/layout/process5"/>
    <dgm:cxn modelId="{C2C24B01-554A-4BD1-80B6-02B59F66E939}" type="presParOf" srcId="{2968A398-A6C4-4346-B216-8A0AC86B2048}" destId="{8D6AFF72-8480-4B75-B35E-D866F381B23F}" srcOrd="2" destOrd="0" presId="urn:microsoft.com/office/officeart/2005/8/layout/process5"/>
    <dgm:cxn modelId="{1B647F5E-D84B-4A0D-A552-16B9CDD3470A}" type="presParOf" srcId="{2968A398-A6C4-4346-B216-8A0AC86B2048}" destId="{942E51FA-4CCD-42BF-BF47-392BC1AC4C89}" srcOrd="3" destOrd="0" presId="urn:microsoft.com/office/officeart/2005/8/layout/process5"/>
    <dgm:cxn modelId="{B412D8D2-6585-4834-9031-4A1426903FF4}" type="presParOf" srcId="{942E51FA-4CCD-42BF-BF47-392BC1AC4C89}" destId="{67A9E360-FAEB-4143-B56D-5B0E479A8704}" srcOrd="0" destOrd="0" presId="urn:microsoft.com/office/officeart/2005/8/layout/process5"/>
    <dgm:cxn modelId="{132266DC-763F-4AAB-8530-FB24FE356C9A}" type="presParOf" srcId="{2968A398-A6C4-4346-B216-8A0AC86B2048}" destId="{C4E48D0C-30CB-469A-BC84-FDAAB6AAEA95}" srcOrd="4" destOrd="0" presId="urn:microsoft.com/office/officeart/2005/8/layout/process5"/>
    <dgm:cxn modelId="{285C216E-457A-4374-B33F-D48A5D1D5CB0}" type="presParOf" srcId="{2968A398-A6C4-4346-B216-8A0AC86B2048}" destId="{805A60FC-F65B-4E81-B091-101DD1752236}" srcOrd="5" destOrd="0" presId="urn:microsoft.com/office/officeart/2005/8/layout/process5"/>
    <dgm:cxn modelId="{29C1FA4E-19E9-483B-A405-FE8EC01E9C42}" type="presParOf" srcId="{805A60FC-F65B-4E81-B091-101DD1752236}" destId="{F7F255F0-ACD5-445A-9C5C-821EE5383D82}" srcOrd="0" destOrd="0" presId="urn:microsoft.com/office/officeart/2005/8/layout/process5"/>
    <dgm:cxn modelId="{7E018BD9-5DAA-43C0-A69D-1F8B39115DEA}" type="presParOf" srcId="{2968A398-A6C4-4346-B216-8A0AC86B2048}" destId="{BCB032F7-CAAC-416B-B72D-05E73C6B30F9}" srcOrd="6" destOrd="0" presId="urn:microsoft.com/office/officeart/2005/8/layout/process5"/>
    <dgm:cxn modelId="{C51849DA-AF7E-4CD2-96B5-7C0EB29D2948}" type="presParOf" srcId="{2968A398-A6C4-4346-B216-8A0AC86B2048}" destId="{A48FA335-27D0-4A38-B9F0-8EEEF3A70E8D}" srcOrd="7" destOrd="0" presId="urn:microsoft.com/office/officeart/2005/8/layout/process5"/>
    <dgm:cxn modelId="{8796DD73-A4FA-4DC3-9681-B4E618E9192C}" type="presParOf" srcId="{A48FA335-27D0-4A38-B9F0-8EEEF3A70E8D}" destId="{8FFC5543-E5AB-460E-A4A8-D6CE5EE88834}" srcOrd="0" destOrd="0" presId="urn:microsoft.com/office/officeart/2005/8/layout/process5"/>
    <dgm:cxn modelId="{10C77DA9-98E0-4D1E-894C-39E70F507559}" type="presParOf" srcId="{2968A398-A6C4-4346-B216-8A0AC86B2048}" destId="{1BCD375B-6198-4FB1-A03C-3B0D2C12EE8F}" srcOrd="8" destOrd="0" presId="urn:microsoft.com/office/officeart/2005/8/layout/process5"/>
    <dgm:cxn modelId="{A8E88A8C-92E6-4829-94ED-2677105A6771}" type="presParOf" srcId="{2968A398-A6C4-4346-B216-8A0AC86B2048}" destId="{D23C27CA-7D01-4471-B58B-621618001768}" srcOrd="9" destOrd="0" presId="urn:microsoft.com/office/officeart/2005/8/layout/process5"/>
    <dgm:cxn modelId="{213D53FF-CE30-4768-956D-13B4F2B5B235}" type="presParOf" srcId="{D23C27CA-7D01-4471-B58B-621618001768}" destId="{353D149D-BBB6-4FF4-8F34-AF032A817DF2}" srcOrd="0" destOrd="0" presId="urn:microsoft.com/office/officeart/2005/8/layout/process5"/>
    <dgm:cxn modelId="{5548E908-8B24-4CDB-B4FE-2F2862613FC8}" type="presParOf" srcId="{2968A398-A6C4-4346-B216-8A0AC86B2048}" destId="{08A130AA-DE8A-4E13-99FD-19C8956F3A83}" srcOrd="10" destOrd="0" presId="urn:microsoft.com/office/officeart/2005/8/layout/process5"/>
    <dgm:cxn modelId="{9E583E60-505A-469C-90AD-5AED80CEBE0F}" type="presParOf" srcId="{2968A398-A6C4-4346-B216-8A0AC86B2048}" destId="{2346B461-EE95-45AF-BB5B-4C4B8BA6A006}" srcOrd="11" destOrd="0" presId="urn:microsoft.com/office/officeart/2005/8/layout/process5"/>
    <dgm:cxn modelId="{9E2FF292-A6CA-442D-B824-C9C9D0DB448D}" type="presParOf" srcId="{2346B461-EE95-45AF-BB5B-4C4B8BA6A006}" destId="{6D435A7B-2380-4902-9B0B-07B33D456102}" srcOrd="0" destOrd="0" presId="urn:microsoft.com/office/officeart/2005/8/layout/process5"/>
    <dgm:cxn modelId="{7923F8D6-F842-4017-B1FF-02D9101DCE66}" type="presParOf" srcId="{2968A398-A6C4-4346-B216-8A0AC86B2048}" destId="{57147499-261E-4F9A-8425-94F25BF22220}" srcOrd="12" destOrd="0" presId="urn:microsoft.com/office/officeart/2005/8/layout/process5"/>
    <dgm:cxn modelId="{85060012-5BDD-4BDD-8BB1-3EAAA2F3A5D2}" type="presParOf" srcId="{2968A398-A6C4-4346-B216-8A0AC86B2048}" destId="{FD4F30AE-0B9F-4825-BB39-5F011FA0234F}" srcOrd="13" destOrd="0" presId="urn:microsoft.com/office/officeart/2005/8/layout/process5"/>
    <dgm:cxn modelId="{C6AB3625-98A9-4BBB-A64D-66443F6C4910}" type="presParOf" srcId="{FD4F30AE-0B9F-4825-BB39-5F011FA0234F}" destId="{0D509667-9E84-4C65-A5B7-F87F04304136}" srcOrd="0" destOrd="0" presId="urn:microsoft.com/office/officeart/2005/8/layout/process5"/>
    <dgm:cxn modelId="{53EE9F9B-5F83-41E8-A462-F450FF42954A}" type="presParOf" srcId="{2968A398-A6C4-4346-B216-8A0AC86B2048}" destId="{EDD4CB7B-6B9C-49B7-AA20-BB293497FE53}" srcOrd="14" destOrd="0" presId="urn:microsoft.com/office/officeart/2005/8/layout/process5"/>
    <dgm:cxn modelId="{97C2692E-492F-4717-89EF-5180E6AB1D60}" type="presParOf" srcId="{2968A398-A6C4-4346-B216-8A0AC86B2048}" destId="{5A869DD6-AC45-4673-8198-D02E31875A49}" srcOrd="15" destOrd="0" presId="urn:microsoft.com/office/officeart/2005/8/layout/process5"/>
    <dgm:cxn modelId="{035A7BC5-7ED2-4F56-89B7-D204F6A615D9}" type="presParOf" srcId="{5A869DD6-AC45-4673-8198-D02E31875A49}" destId="{CCE10781-8DE8-43AE-B271-6BB15D544BDC}" srcOrd="0" destOrd="0" presId="urn:microsoft.com/office/officeart/2005/8/layout/process5"/>
    <dgm:cxn modelId="{FBD551C2-7200-4425-89F2-53BCFFB97F83}" type="presParOf" srcId="{2968A398-A6C4-4346-B216-8A0AC86B2048}" destId="{35774DE3-BE64-4894-A502-246A28210597}" srcOrd="16" destOrd="0" presId="urn:microsoft.com/office/officeart/2005/8/layout/process5"/>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5773B8E-2EBE-4AA2-8F65-06E88954053E}" type="doc">
      <dgm:prSet loTypeId="urn:microsoft.com/office/officeart/2005/8/layout/process5" loCatId="process" qsTypeId="urn:microsoft.com/office/officeart/2005/8/quickstyle/simple2" qsCatId="simple" csTypeId="urn:microsoft.com/office/officeart/2005/8/colors/colorful1" csCatId="colorful" phldr="1"/>
      <dgm:spPr/>
    </dgm:pt>
    <dgm:pt modelId="{96D483D0-5439-4AF2-BAD2-E44CA383B698}">
      <dgm:prSet phldrT="[Text]" custT="1"/>
      <dgm:spPr/>
      <dgm:t>
        <a:bodyPr/>
        <a:lstStyle/>
        <a:p>
          <a:r>
            <a:rPr lang="en-US" sz="1600" dirty="0" smtClean="0"/>
            <a:t>High level requirements</a:t>
          </a:r>
          <a:endParaRPr lang="en-US" sz="1600" dirty="0"/>
        </a:p>
      </dgm:t>
    </dgm:pt>
    <dgm:pt modelId="{5B7D5AF9-165B-4D1C-AF32-1C34258EAA20}" type="parTrans" cxnId="{DB9D2B77-FD4D-4E7D-871B-A8D413D690FB}">
      <dgm:prSet/>
      <dgm:spPr/>
      <dgm:t>
        <a:bodyPr/>
        <a:lstStyle/>
        <a:p>
          <a:endParaRPr lang="en-US"/>
        </a:p>
      </dgm:t>
    </dgm:pt>
    <dgm:pt modelId="{A526A16F-AF76-46CE-88CC-2E47137A8558}" type="sibTrans" cxnId="{DB9D2B77-FD4D-4E7D-871B-A8D413D690FB}">
      <dgm:prSet/>
      <dgm:spPr/>
      <dgm:t>
        <a:bodyPr/>
        <a:lstStyle/>
        <a:p>
          <a:endParaRPr lang="en-US"/>
        </a:p>
      </dgm:t>
    </dgm:pt>
    <dgm:pt modelId="{2703DF15-E0E6-45A1-A039-8A6BA396AE65}">
      <dgm:prSet phldrT="[Text]" custT="1"/>
      <dgm:spPr/>
      <dgm:t>
        <a:bodyPr/>
        <a:lstStyle/>
        <a:p>
          <a:r>
            <a:rPr lang="en-US" sz="1600" dirty="0" smtClean="0"/>
            <a:t>Current system understanding (with </a:t>
          </a:r>
          <a:r>
            <a:rPr lang="en-US" sz="1600" dirty="0" err="1" smtClean="0"/>
            <a:t>PoC</a:t>
          </a:r>
          <a:r>
            <a:rPr lang="en-US" sz="1600" dirty="0" smtClean="0"/>
            <a:t>/prototype)</a:t>
          </a:r>
          <a:endParaRPr lang="en-US" sz="1600" dirty="0"/>
        </a:p>
      </dgm:t>
    </dgm:pt>
    <dgm:pt modelId="{6CBC369A-F4CF-4D09-85C2-F7649914BF8C}" type="parTrans" cxnId="{E7D829B2-D3C9-4FC7-AC79-45D70ADD8AF4}">
      <dgm:prSet/>
      <dgm:spPr/>
      <dgm:t>
        <a:bodyPr/>
        <a:lstStyle/>
        <a:p>
          <a:endParaRPr lang="en-US"/>
        </a:p>
      </dgm:t>
    </dgm:pt>
    <dgm:pt modelId="{2ACD15BF-3A5F-43CE-858C-3AA77AE8E1E4}" type="sibTrans" cxnId="{E7D829B2-D3C9-4FC7-AC79-45D70ADD8AF4}">
      <dgm:prSet/>
      <dgm:spPr/>
      <dgm:t>
        <a:bodyPr/>
        <a:lstStyle/>
        <a:p>
          <a:endParaRPr lang="en-US"/>
        </a:p>
      </dgm:t>
    </dgm:pt>
    <dgm:pt modelId="{1EB59517-7DE3-483F-90D9-257BCF23510F}">
      <dgm:prSet phldrT="[Text]" custT="1"/>
      <dgm:spPr/>
      <dgm:t>
        <a:bodyPr/>
        <a:lstStyle/>
        <a:p>
          <a:r>
            <a:rPr lang="en-US" sz="1600" dirty="0" smtClean="0"/>
            <a:t>Waterfall 2: a maintained system (partial production if possible)</a:t>
          </a:r>
          <a:endParaRPr lang="en-US" sz="1600" dirty="0"/>
        </a:p>
      </dgm:t>
    </dgm:pt>
    <dgm:pt modelId="{EBDC6479-11EC-430A-A196-9100613A2AD6}" type="parTrans" cxnId="{CB7B78F1-7BFA-4080-8F76-09FFEC02E53F}">
      <dgm:prSet/>
      <dgm:spPr/>
      <dgm:t>
        <a:bodyPr/>
        <a:lstStyle/>
        <a:p>
          <a:endParaRPr lang="en-US"/>
        </a:p>
      </dgm:t>
    </dgm:pt>
    <dgm:pt modelId="{5CA72659-B40D-4B8F-B8F7-CE7C3FAC37D8}" type="sibTrans" cxnId="{CB7B78F1-7BFA-4080-8F76-09FFEC02E53F}">
      <dgm:prSet/>
      <dgm:spPr/>
      <dgm:t>
        <a:bodyPr/>
        <a:lstStyle/>
        <a:p>
          <a:endParaRPr lang="en-US"/>
        </a:p>
      </dgm:t>
    </dgm:pt>
    <dgm:pt modelId="{43601074-2190-453F-BAD7-B8DC51A6018B}">
      <dgm:prSet phldrT="[Text]" custT="1"/>
      <dgm:spPr/>
      <dgm:t>
        <a:bodyPr/>
        <a:lstStyle/>
        <a:p>
          <a:r>
            <a:rPr lang="en-US" sz="1600" dirty="0" smtClean="0"/>
            <a:t>First plan and estimation (</a:t>
          </a:r>
          <a:r>
            <a:rPr lang="en-US" sz="1600" u="sng" dirty="0" smtClean="0"/>
            <a:t>flexible contract</a:t>
          </a:r>
          <a:r>
            <a:rPr lang="en-US" sz="1600" dirty="0" smtClean="0"/>
            <a:t>)</a:t>
          </a:r>
          <a:endParaRPr lang="en-US" sz="1600" dirty="0"/>
        </a:p>
      </dgm:t>
    </dgm:pt>
    <dgm:pt modelId="{9AB966DC-7205-4533-B93C-5FC060939786}" type="parTrans" cxnId="{F21D1370-C02A-4FF3-90AD-76A6F65E7974}">
      <dgm:prSet/>
      <dgm:spPr/>
      <dgm:t>
        <a:bodyPr/>
        <a:lstStyle/>
        <a:p>
          <a:endParaRPr lang="en-US"/>
        </a:p>
      </dgm:t>
    </dgm:pt>
    <dgm:pt modelId="{055D1520-9FF7-42ED-83F8-586CE3219F28}" type="sibTrans" cxnId="{F21D1370-C02A-4FF3-90AD-76A6F65E7974}">
      <dgm:prSet/>
      <dgm:spPr/>
      <dgm:t>
        <a:bodyPr/>
        <a:lstStyle/>
        <a:p>
          <a:endParaRPr lang="en-US"/>
        </a:p>
      </dgm:t>
    </dgm:pt>
    <dgm:pt modelId="{1637D7FA-EBCD-4C5E-AFEA-7C51C026083E}">
      <dgm:prSet phldrT="[Text]" custT="1"/>
      <dgm:spPr/>
      <dgm:t>
        <a:bodyPr/>
        <a:lstStyle/>
        <a:p>
          <a:r>
            <a:rPr lang="en-US" sz="1600" dirty="0" smtClean="0"/>
            <a:t>…</a:t>
          </a:r>
          <a:endParaRPr lang="en-US" sz="1600" dirty="0"/>
        </a:p>
      </dgm:t>
    </dgm:pt>
    <dgm:pt modelId="{9B9BA3F0-555A-475A-8DB4-8BF8C0260F8F}" type="parTrans" cxnId="{97FF41F3-E41D-4BD4-A0AB-07E956C2F0C1}">
      <dgm:prSet/>
      <dgm:spPr/>
      <dgm:t>
        <a:bodyPr/>
        <a:lstStyle/>
        <a:p>
          <a:endParaRPr lang="en-US"/>
        </a:p>
      </dgm:t>
    </dgm:pt>
    <dgm:pt modelId="{6B48BDB3-F8D7-49FF-A405-425AC28D83E3}" type="sibTrans" cxnId="{97FF41F3-E41D-4BD4-A0AB-07E956C2F0C1}">
      <dgm:prSet/>
      <dgm:spPr/>
      <dgm:t>
        <a:bodyPr/>
        <a:lstStyle/>
        <a:p>
          <a:endParaRPr lang="en-US"/>
        </a:p>
      </dgm:t>
    </dgm:pt>
    <dgm:pt modelId="{9FBEFE03-CC21-4540-AE19-387E70496218}">
      <dgm:prSet phldrT="[Text]" custT="1"/>
      <dgm:spPr/>
      <dgm:t>
        <a:bodyPr/>
        <a:lstStyle/>
        <a:p>
          <a:r>
            <a:rPr lang="en-US" sz="1600" dirty="0" smtClean="0"/>
            <a:t>Waterfall 1: a maintained system (partial production if possible)</a:t>
          </a:r>
          <a:endParaRPr lang="en-US" sz="1600" dirty="0"/>
        </a:p>
      </dgm:t>
    </dgm:pt>
    <dgm:pt modelId="{5834F1DF-2085-45B8-8CDE-DA8C79116992}" type="parTrans" cxnId="{6617F8C4-CDF0-4F2A-BA4D-683EA11DCCB6}">
      <dgm:prSet/>
      <dgm:spPr/>
      <dgm:t>
        <a:bodyPr/>
        <a:lstStyle/>
        <a:p>
          <a:endParaRPr lang="en-US"/>
        </a:p>
      </dgm:t>
    </dgm:pt>
    <dgm:pt modelId="{6C72BD96-BF1E-46FC-A140-A057931585A2}" type="sibTrans" cxnId="{6617F8C4-CDF0-4F2A-BA4D-683EA11DCCB6}">
      <dgm:prSet/>
      <dgm:spPr/>
      <dgm:t>
        <a:bodyPr/>
        <a:lstStyle/>
        <a:p>
          <a:endParaRPr lang="en-US"/>
        </a:p>
      </dgm:t>
    </dgm:pt>
    <dgm:pt modelId="{3A71F888-4DE7-4BD9-8D71-BD559D1FDF80}">
      <dgm:prSet phldrT="[Text]" custT="1"/>
      <dgm:spPr/>
      <dgm:t>
        <a:bodyPr/>
        <a:lstStyle/>
        <a:p>
          <a:r>
            <a:rPr lang="en-US" sz="1600" dirty="0" smtClean="0"/>
            <a:t>Full production</a:t>
          </a:r>
          <a:endParaRPr lang="en-US" sz="1600" dirty="0"/>
        </a:p>
      </dgm:t>
    </dgm:pt>
    <dgm:pt modelId="{C2125F25-DF52-4AB5-8F23-A140498F5164}" type="parTrans" cxnId="{FFE539BF-D4C7-4525-891E-9BBC05DEDD9C}">
      <dgm:prSet/>
      <dgm:spPr/>
      <dgm:t>
        <a:bodyPr/>
        <a:lstStyle/>
        <a:p>
          <a:endParaRPr lang="en-US"/>
        </a:p>
      </dgm:t>
    </dgm:pt>
    <dgm:pt modelId="{5F8AEC31-304F-4531-A7E1-EB9A2BBBF2ED}" type="sibTrans" cxnId="{FFE539BF-D4C7-4525-891E-9BBC05DEDD9C}">
      <dgm:prSet/>
      <dgm:spPr/>
      <dgm:t>
        <a:bodyPr/>
        <a:lstStyle/>
        <a:p>
          <a:endParaRPr lang="en-US"/>
        </a:p>
      </dgm:t>
    </dgm:pt>
    <dgm:pt modelId="{D0360C75-7FA9-47EE-9CC5-19167771AAB5}">
      <dgm:prSet phldrT="[Text]" custT="1"/>
      <dgm:spPr/>
      <dgm:t>
        <a:bodyPr/>
        <a:lstStyle/>
        <a:p>
          <a:r>
            <a:rPr lang="en-US" sz="1600" dirty="0" smtClean="0"/>
            <a:t>Waterfall n: a maintained system (partial production if possible)</a:t>
          </a:r>
          <a:endParaRPr lang="en-US" sz="1600" dirty="0"/>
        </a:p>
      </dgm:t>
    </dgm:pt>
    <dgm:pt modelId="{DCD62F01-08DC-48A2-A815-9957644A2A99}" type="sibTrans" cxnId="{217C8FEC-FCED-4F3E-B50C-87DD56C37A40}">
      <dgm:prSet/>
      <dgm:spPr/>
      <dgm:t>
        <a:bodyPr/>
        <a:lstStyle/>
        <a:p>
          <a:endParaRPr lang="en-US"/>
        </a:p>
      </dgm:t>
    </dgm:pt>
    <dgm:pt modelId="{9AB51C76-09EE-449A-89DB-ECC1A48C93C7}" type="parTrans" cxnId="{217C8FEC-FCED-4F3E-B50C-87DD56C37A40}">
      <dgm:prSet/>
      <dgm:spPr/>
      <dgm:t>
        <a:bodyPr/>
        <a:lstStyle/>
        <a:p>
          <a:endParaRPr lang="en-US"/>
        </a:p>
      </dgm:t>
    </dgm:pt>
    <dgm:pt modelId="{8BC8A664-52CD-43F6-820A-1EC4E1FE2FD7}">
      <dgm:prSet phldrT="[Text]" custT="1"/>
      <dgm:spPr/>
      <dgm:t>
        <a:bodyPr/>
        <a:lstStyle/>
        <a:p>
          <a:r>
            <a:rPr lang="en-US" sz="1600" dirty="0" smtClean="0"/>
            <a:t>…</a:t>
          </a:r>
          <a:endParaRPr lang="en-US" sz="1600" dirty="0"/>
        </a:p>
      </dgm:t>
    </dgm:pt>
    <dgm:pt modelId="{68BDAD05-B104-4E2C-86D0-46153263A920}" type="parTrans" cxnId="{9BE15AB2-1988-440E-877E-6D90FD6F4B2E}">
      <dgm:prSet/>
      <dgm:spPr/>
      <dgm:t>
        <a:bodyPr/>
        <a:lstStyle/>
        <a:p>
          <a:endParaRPr lang="en-US"/>
        </a:p>
      </dgm:t>
    </dgm:pt>
    <dgm:pt modelId="{853BAB51-F3F6-4B6E-97E6-131DA49ED53E}" type="sibTrans" cxnId="{9BE15AB2-1988-440E-877E-6D90FD6F4B2E}">
      <dgm:prSet/>
      <dgm:spPr/>
      <dgm:t>
        <a:bodyPr/>
        <a:lstStyle/>
        <a:p>
          <a:endParaRPr lang="en-US"/>
        </a:p>
      </dgm:t>
    </dgm:pt>
    <dgm:pt modelId="{2968A398-A6C4-4346-B216-8A0AC86B2048}" type="pres">
      <dgm:prSet presAssocID="{45773B8E-2EBE-4AA2-8F65-06E88954053E}" presName="diagram" presStyleCnt="0">
        <dgm:presLayoutVars>
          <dgm:dir/>
          <dgm:resizeHandles val="exact"/>
        </dgm:presLayoutVars>
      </dgm:prSet>
      <dgm:spPr/>
    </dgm:pt>
    <dgm:pt modelId="{6C3573BE-1F1F-460C-9FB4-D4CE4D4054D3}" type="pres">
      <dgm:prSet presAssocID="{96D483D0-5439-4AF2-BAD2-E44CA383B698}" presName="node" presStyleLbl="node1" presStyleIdx="0" presStyleCnt="9">
        <dgm:presLayoutVars>
          <dgm:bulletEnabled val="1"/>
        </dgm:presLayoutVars>
      </dgm:prSet>
      <dgm:spPr/>
      <dgm:t>
        <a:bodyPr/>
        <a:lstStyle/>
        <a:p>
          <a:endParaRPr lang="en-US"/>
        </a:p>
      </dgm:t>
    </dgm:pt>
    <dgm:pt modelId="{475D3339-A35B-4D84-BC88-5EFBDE329552}" type="pres">
      <dgm:prSet presAssocID="{A526A16F-AF76-46CE-88CC-2E47137A8558}" presName="sibTrans" presStyleLbl="sibTrans2D1" presStyleIdx="0" presStyleCnt="8"/>
      <dgm:spPr/>
      <dgm:t>
        <a:bodyPr/>
        <a:lstStyle/>
        <a:p>
          <a:endParaRPr lang="en-US"/>
        </a:p>
      </dgm:t>
    </dgm:pt>
    <dgm:pt modelId="{3DCE81AB-91B0-44FE-B499-31AC912C892D}" type="pres">
      <dgm:prSet presAssocID="{A526A16F-AF76-46CE-88CC-2E47137A8558}" presName="connectorText" presStyleLbl="sibTrans2D1" presStyleIdx="0" presStyleCnt="8"/>
      <dgm:spPr/>
      <dgm:t>
        <a:bodyPr/>
        <a:lstStyle/>
        <a:p>
          <a:endParaRPr lang="en-US"/>
        </a:p>
      </dgm:t>
    </dgm:pt>
    <dgm:pt modelId="{8D6AFF72-8480-4B75-B35E-D866F381B23F}" type="pres">
      <dgm:prSet presAssocID="{2703DF15-E0E6-45A1-A039-8A6BA396AE65}" presName="node" presStyleLbl="node1" presStyleIdx="1" presStyleCnt="9">
        <dgm:presLayoutVars>
          <dgm:bulletEnabled val="1"/>
        </dgm:presLayoutVars>
      </dgm:prSet>
      <dgm:spPr/>
      <dgm:t>
        <a:bodyPr/>
        <a:lstStyle/>
        <a:p>
          <a:endParaRPr lang="en-US"/>
        </a:p>
      </dgm:t>
    </dgm:pt>
    <dgm:pt modelId="{942E51FA-4CCD-42BF-BF47-392BC1AC4C89}" type="pres">
      <dgm:prSet presAssocID="{2ACD15BF-3A5F-43CE-858C-3AA77AE8E1E4}" presName="sibTrans" presStyleLbl="sibTrans2D1" presStyleIdx="1" presStyleCnt="8"/>
      <dgm:spPr/>
      <dgm:t>
        <a:bodyPr/>
        <a:lstStyle/>
        <a:p>
          <a:endParaRPr lang="en-US"/>
        </a:p>
      </dgm:t>
    </dgm:pt>
    <dgm:pt modelId="{67A9E360-FAEB-4143-B56D-5B0E479A8704}" type="pres">
      <dgm:prSet presAssocID="{2ACD15BF-3A5F-43CE-858C-3AA77AE8E1E4}" presName="connectorText" presStyleLbl="sibTrans2D1" presStyleIdx="1" presStyleCnt="8"/>
      <dgm:spPr/>
      <dgm:t>
        <a:bodyPr/>
        <a:lstStyle/>
        <a:p>
          <a:endParaRPr lang="en-US"/>
        </a:p>
      </dgm:t>
    </dgm:pt>
    <dgm:pt modelId="{C4E48D0C-30CB-469A-BC84-FDAAB6AAEA95}" type="pres">
      <dgm:prSet presAssocID="{43601074-2190-453F-BAD7-B8DC51A6018B}" presName="node" presStyleLbl="node1" presStyleIdx="2" presStyleCnt="9">
        <dgm:presLayoutVars>
          <dgm:bulletEnabled val="1"/>
        </dgm:presLayoutVars>
      </dgm:prSet>
      <dgm:spPr/>
      <dgm:t>
        <a:bodyPr/>
        <a:lstStyle/>
        <a:p>
          <a:endParaRPr lang="en-US"/>
        </a:p>
      </dgm:t>
    </dgm:pt>
    <dgm:pt modelId="{805A60FC-F65B-4E81-B091-101DD1752236}" type="pres">
      <dgm:prSet presAssocID="{055D1520-9FF7-42ED-83F8-586CE3219F28}" presName="sibTrans" presStyleLbl="sibTrans2D1" presStyleIdx="2" presStyleCnt="8"/>
      <dgm:spPr/>
      <dgm:t>
        <a:bodyPr/>
        <a:lstStyle/>
        <a:p>
          <a:endParaRPr lang="en-US"/>
        </a:p>
      </dgm:t>
    </dgm:pt>
    <dgm:pt modelId="{F7F255F0-ACD5-445A-9C5C-821EE5383D82}" type="pres">
      <dgm:prSet presAssocID="{055D1520-9FF7-42ED-83F8-586CE3219F28}" presName="connectorText" presStyleLbl="sibTrans2D1" presStyleIdx="2" presStyleCnt="8"/>
      <dgm:spPr/>
      <dgm:t>
        <a:bodyPr/>
        <a:lstStyle/>
        <a:p>
          <a:endParaRPr lang="en-US"/>
        </a:p>
      </dgm:t>
    </dgm:pt>
    <dgm:pt modelId="{BCB032F7-CAAC-416B-B72D-05E73C6B30F9}" type="pres">
      <dgm:prSet presAssocID="{9FBEFE03-CC21-4540-AE19-387E70496218}" presName="node" presStyleLbl="node1" presStyleIdx="3" presStyleCnt="9">
        <dgm:presLayoutVars>
          <dgm:bulletEnabled val="1"/>
        </dgm:presLayoutVars>
      </dgm:prSet>
      <dgm:spPr/>
      <dgm:t>
        <a:bodyPr/>
        <a:lstStyle/>
        <a:p>
          <a:endParaRPr lang="en-US"/>
        </a:p>
      </dgm:t>
    </dgm:pt>
    <dgm:pt modelId="{A48FA335-27D0-4A38-B9F0-8EEEF3A70E8D}" type="pres">
      <dgm:prSet presAssocID="{6C72BD96-BF1E-46FC-A140-A057931585A2}" presName="sibTrans" presStyleLbl="sibTrans2D1" presStyleIdx="3" presStyleCnt="8"/>
      <dgm:spPr/>
      <dgm:t>
        <a:bodyPr/>
        <a:lstStyle/>
        <a:p>
          <a:endParaRPr lang="en-US"/>
        </a:p>
      </dgm:t>
    </dgm:pt>
    <dgm:pt modelId="{8FFC5543-E5AB-460E-A4A8-D6CE5EE88834}" type="pres">
      <dgm:prSet presAssocID="{6C72BD96-BF1E-46FC-A140-A057931585A2}" presName="connectorText" presStyleLbl="sibTrans2D1" presStyleIdx="3" presStyleCnt="8"/>
      <dgm:spPr/>
      <dgm:t>
        <a:bodyPr/>
        <a:lstStyle/>
        <a:p>
          <a:endParaRPr lang="en-US"/>
        </a:p>
      </dgm:t>
    </dgm:pt>
    <dgm:pt modelId="{1BCD375B-6198-4FB1-A03C-3B0D2C12EE8F}" type="pres">
      <dgm:prSet presAssocID="{1EB59517-7DE3-483F-90D9-257BCF23510F}" presName="node" presStyleLbl="node1" presStyleIdx="4" presStyleCnt="9">
        <dgm:presLayoutVars>
          <dgm:bulletEnabled val="1"/>
        </dgm:presLayoutVars>
      </dgm:prSet>
      <dgm:spPr/>
      <dgm:t>
        <a:bodyPr/>
        <a:lstStyle/>
        <a:p>
          <a:endParaRPr lang="en-US"/>
        </a:p>
      </dgm:t>
    </dgm:pt>
    <dgm:pt modelId="{D23C27CA-7D01-4471-B58B-621618001768}" type="pres">
      <dgm:prSet presAssocID="{5CA72659-B40D-4B8F-B8F7-CE7C3FAC37D8}" presName="sibTrans" presStyleLbl="sibTrans2D1" presStyleIdx="4" presStyleCnt="8"/>
      <dgm:spPr/>
      <dgm:t>
        <a:bodyPr/>
        <a:lstStyle/>
        <a:p>
          <a:endParaRPr lang="en-US"/>
        </a:p>
      </dgm:t>
    </dgm:pt>
    <dgm:pt modelId="{353D149D-BBB6-4FF4-8F34-AF032A817DF2}" type="pres">
      <dgm:prSet presAssocID="{5CA72659-B40D-4B8F-B8F7-CE7C3FAC37D8}" presName="connectorText" presStyleLbl="sibTrans2D1" presStyleIdx="4" presStyleCnt="8"/>
      <dgm:spPr/>
      <dgm:t>
        <a:bodyPr/>
        <a:lstStyle/>
        <a:p>
          <a:endParaRPr lang="en-US"/>
        </a:p>
      </dgm:t>
    </dgm:pt>
    <dgm:pt modelId="{08A130AA-DE8A-4E13-99FD-19C8956F3A83}" type="pres">
      <dgm:prSet presAssocID="{1637D7FA-EBCD-4C5E-AFEA-7C51C026083E}" presName="node" presStyleLbl="node1" presStyleIdx="5" presStyleCnt="9">
        <dgm:presLayoutVars>
          <dgm:bulletEnabled val="1"/>
        </dgm:presLayoutVars>
      </dgm:prSet>
      <dgm:spPr/>
      <dgm:t>
        <a:bodyPr/>
        <a:lstStyle/>
        <a:p>
          <a:endParaRPr lang="en-US"/>
        </a:p>
      </dgm:t>
    </dgm:pt>
    <dgm:pt modelId="{2346B461-EE95-45AF-BB5B-4C4B8BA6A006}" type="pres">
      <dgm:prSet presAssocID="{6B48BDB3-F8D7-49FF-A405-425AC28D83E3}" presName="sibTrans" presStyleLbl="sibTrans2D1" presStyleIdx="5" presStyleCnt="8"/>
      <dgm:spPr/>
      <dgm:t>
        <a:bodyPr/>
        <a:lstStyle/>
        <a:p>
          <a:endParaRPr lang="en-US"/>
        </a:p>
      </dgm:t>
    </dgm:pt>
    <dgm:pt modelId="{6D435A7B-2380-4902-9B0B-07B33D456102}" type="pres">
      <dgm:prSet presAssocID="{6B48BDB3-F8D7-49FF-A405-425AC28D83E3}" presName="connectorText" presStyleLbl="sibTrans2D1" presStyleIdx="5" presStyleCnt="8"/>
      <dgm:spPr/>
      <dgm:t>
        <a:bodyPr/>
        <a:lstStyle/>
        <a:p>
          <a:endParaRPr lang="en-US"/>
        </a:p>
      </dgm:t>
    </dgm:pt>
    <dgm:pt modelId="{57147499-261E-4F9A-8425-94F25BF22220}" type="pres">
      <dgm:prSet presAssocID="{8BC8A664-52CD-43F6-820A-1EC4E1FE2FD7}" presName="node" presStyleLbl="node1" presStyleIdx="6" presStyleCnt="9">
        <dgm:presLayoutVars>
          <dgm:bulletEnabled val="1"/>
        </dgm:presLayoutVars>
      </dgm:prSet>
      <dgm:spPr/>
      <dgm:t>
        <a:bodyPr/>
        <a:lstStyle/>
        <a:p>
          <a:endParaRPr lang="en-US"/>
        </a:p>
      </dgm:t>
    </dgm:pt>
    <dgm:pt modelId="{FD4F30AE-0B9F-4825-BB39-5F011FA0234F}" type="pres">
      <dgm:prSet presAssocID="{853BAB51-F3F6-4B6E-97E6-131DA49ED53E}" presName="sibTrans" presStyleLbl="sibTrans2D1" presStyleIdx="6" presStyleCnt="8"/>
      <dgm:spPr/>
      <dgm:t>
        <a:bodyPr/>
        <a:lstStyle/>
        <a:p>
          <a:endParaRPr lang="en-US"/>
        </a:p>
      </dgm:t>
    </dgm:pt>
    <dgm:pt modelId="{0D509667-9E84-4C65-A5B7-F87F04304136}" type="pres">
      <dgm:prSet presAssocID="{853BAB51-F3F6-4B6E-97E6-131DA49ED53E}" presName="connectorText" presStyleLbl="sibTrans2D1" presStyleIdx="6" presStyleCnt="8"/>
      <dgm:spPr/>
      <dgm:t>
        <a:bodyPr/>
        <a:lstStyle/>
        <a:p>
          <a:endParaRPr lang="en-US"/>
        </a:p>
      </dgm:t>
    </dgm:pt>
    <dgm:pt modelId="{EDD4CB7B-6B9C-49B7-AA20-BB293497FE53}" type="pres">
      <dgm:prSet presAssocID="{D0360C75-7FA9-47EE-9CC5-19167771AAB5}" presName="node" presStyleLbl="node1" presStyleIdx="7" presStyleCnt="9">
        <dgm:presLayoutVars>
          <dgm:bulletEnabled val="1"/>
        </dgm:presLayoutVars>
      </dgm:prSet>
      <dgm:spPr/>
      <dgm:t>
        <a:bodyPr/>
        <a:lstStyle/>
        <a:p>
          <a:endParaRPr lang="en-US"/>
        </a:p>
      </dgm:t>
    </dgm:pt>
    <dgm:pt modelId="{5A869DD6-AC45-4673-8198-D02E31875A49}" type="pres">
      <dgm:prSet presAssocID="{DCD62F01-08DC-48A2-A815-9957644A2A99}" presName="sibTrans" presStyleLbl="sibTrans2D1" presStyleIdx="7" presStyleCnt="8"/>
      <dgm:spPr/>
      <dgm:t>
        <a:bodyPr/>
        <a:lstStyle/>
        <a:p>
          <a:endParaRPr lang="en-US"/>
        </a:p>
      </dgm:t>
    </dgm:pt>
    <dgm:pt modelId="{CCE10781-8DE8-43AE-B271-6BB15D544BDC}" type="pres">
      <dgm:prSet presAssocID="{DCD62F01-08DC-48A2-A815-9957644A2A99}" presName="connectorText" presStyleLbl="sibTrans2D1" presStyleIdx="7" presStyleCnt="8"/>
      <dgm:spPr/>
      <dgm:t>
        <a:bodyPr/>
        <a:lstStyle/>
        <a:p>
          <a:endParaRPr lang="en-US"/>
        </a:p>
      </dgm:t>
    </dgm:pt>
    <dgm:pt modelId="{35774DE3-BE64-4894-A502-246A28210597}" type="pres">
      <dgm:prSet presAssocID="{3A71F888-4DE7-4BD9-8D71-BD559D1FDF80}" presName="node" presStyleLbl="node1" presStyleIdx="8" presStyleCnt="9">
        <dgm:presLayoutVars>
          <dgm:bulletEnabled val="1"/>
        </dgm:presLayoutVars>
      </dgm:prSet>
      <dgm:spPr/>
      <dgm:t>
        <a:bodyPr/>
        <a:lstStyle/>
        <a:p>
          <a:endParaRPr lang="en-US"/>
        </a:p>
      </dgm:t>
    </dgm:pt>
  </dgm:ptLst>
  <dgm:cxnLst>
    <dgm:cxn modelId="{3E20E051-F4A9-4FEB-8E7E-E7A1906FA02A}" type="presOf" srcId="{853BAB51-F3F6-4B6E-97E6-131DA49ED53E}" destId="{FD4F30AE-0B9F-4825-BB39-5F011FA0234F}" srcOrd="0" destOrd="0" presId="urn:microsoft.com/office/officeart/2005/8/layout/process5"/>
    <dgm:cxn modelId="{CD024B57-D9D9-42B9-A6FA-B746542F83AD}" type="presOf" srcId="{5CA72659-B40D-4B8F-B8F7-CE7C3FAC37D8}" destId="{353D149D-BBB6-4FF4-8F34-AF032A817DF2}" srcOrd="1" destOrd="0" presId="urn:microsoft.com/office/officeart/2005/8/layout/process5"/>
    <dgm:cxn modelId="{98871F7F-4F99-417C-A011-C41AC675CFE7}" type="presOf" srcId="{5CA72659-B40D-4B8F-B8F7-CE7C3FAC37D8}" destId="{D23C27CA-7D01-4471-B58B-621618001768}" srcOrd="0" destOrd="0" presId="urn:microsoft.com/office/officeart/2005/8/layout/process5"/>
    <dgm:cxn modelId="{CB7B78F1-7BFA-4080-8F76-09FFEC02E53F}" srcId="{45773B8E-2EBE-4AA2-8F65-06E88954053E}" destId="{1EB59517-7DE3-483F-90D9-257BCF23510F}" srcOrd="4" destOrd="0" parTransId="{EBDC6479-11EC-430A-A196-9100613A2AD6}" sibTransId="{5CA72659-B40D-4B8F-B8F7-CE7C3FAC37D8}"/>
    <dgm:cxn modelId="{861CBC79-BDE9-4C29-9265-0557F398E28F}" type="presOf" srcId="{853BAB51-F3F6-4B6E-97E6-131DA49ED53E}" destId="{0D509667-9E84-4C65-A5B7-F87F04304136}" srcOrd="1" destOrd="0" presId="urn:microsoft.com/office/officeart/2005/8/layout/process5"/>
    <dgm:cxn modelId="{1CE1F48D-3C4C-41AD-8C3D-B62FFFA08AF7}" type="presOf" srcId="{DCD62F01-08DC-48A2-A815-9957644A2A99}" destId="{5A869DD6-AC45-4673-8198-D02E31875A49}" srcOrd="0" destOrd="0" presId="urn:microsoft.com/office/officeart/2005/8/layout/process5"/>
    <dgm:cxn modelId="{8C8D6CD1-03DF-47D4-85E3-BF2C4560E55F}" type="presOf" srcId="{6B48BDB3-F8D7-49FF-A405-425AC28D83E3}" destId="{2346B461-EE95-45AF-BB5B-4C4B8BA6A006}" srcOrd="0" destOrd="0" presId="urn:microsoft.com/office/officeart/2005/8/layout/process5"/>
    <dgm:cxn modelId="{3C25B251-DF69-4ACE-B2BD-4FC47AA3B0A2}" type="presOf" srcId="{3A71F888-4DE7-4BD9-8D71-BD559D1FDF80}" destId="{35774DE3-BE64-4894-A502-246A28210597}" srcOrd="0" destOrd="0" presId="urn:microsoft.com/office/officeart/2005/8/layout/process5"/>
    <dgm:cxn modelId="{6965F32D-5C55-4429-BB0A-3F9384345810}" type="presOf" srcId="{6B48BDB3-F8D7-49FF-A405-425AC28D83E3}" destId="{6D435A7B-2380-4902-9B0B-07B33D456102}" srcOrd="1" destOrd="0" presId="urn:microsoft.com/office/officeart/2005/8/layout/process5"/>
    <dgm:cxn modelId="{EF450DF7-7772-45E2-9F42-1ACBD57438B3}" type="presOf" srcId="{055D1520-9FF7-42ED-83F8-586CE3219F28}" destId="{F7F255F0-ACD5-445A-9C5C-821EE5383D82}" srcOrd="1" destOrd="0" presId="urn:microsoft.com/office/officeart/2005/8/layout/process5"/>
    <dgm:cxn modelId="{D8D81ECD-714F-4986-A463-E068B4234A40}" type="presOf" srcId="{1EB59517-7DE3-483F-90D9-257BCF23510F}" destId="{1BCD375B-6198-4FB1-A03C-3B0D2C12EE8F}" srcOrd="0" destOrd="0" presId="urn:microsoft.com/office/officeart/2005/8/layout/process5"/>
    <dgm:cxn modelId="{434C1F9E-9DFF-4AA9-8255-0A219BCF0625}" type="presOf" srcId="{055D1520-9FF7-42ED-83F8-586CE3219F28}" destId="{805A60FC-F65B-4E81-B091-101DD1752236}" srcOrd="0" destOrd="0" presId="urn:microsoft.com/office/officeart/2005/8/layout/process5"/>
    <dgm:cxn modelId="{443972E1-5C17-4C0F-89DB-F2A26E6EFA77}" type="presOf" srcId="{2703DF15-E0E6-45A1-A039-8A6BA396AE65}" destId="{8D6AFF72-8480-4B75-B35E-D866F381B23F}" srcOrd="0" destOrd="0" presId="urn:microsoft.com/office/officeart/2005/8/layout/process5"/>
    <dgm:cxn modelId="{A29FE224-386B-4F83-8262-3ABDE87F210E}" type="presOf" srcId="{6C72BD96-BF1E-46FC-A140-A057931585A2}" destId="{8FFC5543-E5AB-460E-A4A8-D6CE5EE88834}" srcOrd="1" destOrd="0" presId="urn:microsoft.com/office/officeart/2005/8/layout/process5"/>
    <dgm:cxn modelId="{88E317A7-43E3-4517-8BFB-7496ED27C9AD}" type="presOf" srcId="{2ACD15BF-3A5F-43CE-858C-3AA77AE8E1E4}" destId="{942E51FA-4CCD-42BF-BF47-392BC1AC4C89}" srcOrd="0" destOrd="0" presId="urn:microsoft.com/office/officeart/2005/8/layout/process5"/>
    <dgm:cxn modelId="{E7D829B2-D3C9-4FC7-AC79-45D70ADD8AF4}" srcId="{45773B8E-2EBE-4AA2-8F65-06E88954053E}" destId="{2703DF15-E0E6-45A1-A039-8A6BA396AE65}" srcOrd="1" destOrd="0" parTransId="{6CBC369A-F4CF-4D09-85C2-F7649914BF8C}" sibTransId="{2ACD15BF-3A5F-43CE-858C-3AA77AE8E1E4}"/>
    <dgm:cxn modelId="{CBC3FA0A-FF15-41EB-9B30-A4732A7F8952}" type="presOf" srcId="{8BC8A664-52CD-43F6-820A-1EC4E1FE2FD7}" destId="{57147499-261E-4F9A-8425-94F25BF22220}" srcOrd="0" destOrd="0" presId="urn:microsoft.com/office/officeart/2005/8/layout/process5"/>
    <dgm:cxn modelId="{FFE539BF-D4C7-4525-891E-9BBC05DEDD9C}" srcId="{45773B8E-2EBE-4AA2-8F65-06E88954053E}" destId="{3A71F888-4DE7-4BD9-8D71-BD559D1FDF80}" srcOrd="8" destOrd="0" parTransId="{C2125F25-DF52-4AB5-8F23-A140498F5164}" sibTransId="{5F8AEC31-304F-4531-A7E1-EB9A2BBBF2ED}"/>
    <dgm:cxn modelId="{F21D1370-C02A-4FF3-90AD-76A6F65E7974}" srcId="{45773B8E-2EBE-4AA2-8F65-06E88954053E}" destId="{43601074-2190-453F-BAD7-B8DC51A6018B}" srcOrd="2" destOrd="0" parTransId="{9AB966DC-7205-4533-B93C-5FC060939786}" sibTransId="{055D1520-9FF7-42ED-83F8-586CE3219F28}"/>
    <dgm:cxn modelId="{97FF41F3-E41D-4BD4-A0AB-07E956C2F0C1}" srcId="{45773B8E-2EBE-4AA2-8F65-06E88954053E}" destId="{1637D7FA-EBCD-4C5E-AFEA-7C51C026083E}" srcOrd="5" destOrd="0" parTransId="{9B9BA3F0-555A-475A-8DB4-8BF8C0260F8F}" sibTransId="{6B48BDB3-F8D7-49FF-A405-425AC28D83E3}"/>
    <dgm:cxn modelId="{B6A68965-E9A0-45B5-9B7D-044DBE2E7A75}" type="presOf" srcId="{2ACD15BF-3A5F-43CE-858C-3AA77AE8E1E4}" destId="{67A9E360-FAEB-4143-B56D-5B0E479A8704}" srcOrd="1" destOrd="0" presId="urn:microsoft.com/office/officeart/2005/8/layout/process5"/>
    <dgm:cxn modelId="{479230FF-E762-4888-8A81-ADFB16B6116C}" type="presOf" srcId="{D0360C75-7FA9-47EE-9CC5-19167771AAB5}" destId="{EDD4CB7B-6B9C-49B7-AA20-BB293497FE53}" srcOrd="0" destOrd="0" presId="urn:microsoft.com/office/officeart/2005/8/layout/process5"/>
    <dgm:cxn modelId="{1389CB2D-5881-44E4-A2FC-3EEA0E1201C9}" type="presOf" srcId="{96D483D0-5439-4AF2-BAD2-E44CA383B698}" destId="{6C3573BE-1F1F-460C-9FB4-D4CE4D4054D3}" srcOrd="0" destOrd="0" presId="urn:microsoft.com/office/officeart/2005/8/layout/process5"/>
    <dgm:cxn modelId="{A7099507-8A6F-4A6A-83E0-4DB9A5C0572C}" type="presOf" srcId="{6C72BD96-BF1E-46FC-A140-A057931585A2}" destId="{A48FA335-27D0-4A38-B9F0-8EEEF3A70E8D}" srcOrd="0" destOrd="0" presId="urn:microsoft.com/office/officeart/2005/8/layout/process5"/>
    <dgm:cxn modelId="{1B827DEB-5425-431A-8FB8-1D06ED579E66}" type="presOf" srcId="{1637D7FA-EBCD-4C5E-AFEA-7C51C026083E}" destId="{08A130AA-DE8A-4E13-99FD-19C8956F3A83}" srcOrd="0" destOrd="0" presId="urn:microsoft.com/office/officeart/2005/8/layout/process5"/>
    <dgm:cxn modelId="{217C8FEC-FCED-4F3E-B50C-87DD56C37A40}" srcId="{45773B8E-2EBE-4AA2-8F65-06E88954053E}" destId="{D0360C75-7FA9-47EE-9CC5-19167771AAB5}" srcOrd="7" destOrd="0" parTransId="{9AB51C76-09EE-449A-89DB-ECC1A48C93C7}" sibTransId="{DCD62F01-08DC-48A2-A815-9957644A2A99}"/>
    <dgm:cxn modelId="{567F19BF-A4AA-4186-969F-3CCC66C872E8}" type="presOf" srcId="{A526A16F-AF76-46CE-88CC-2E47137A8558}" destId="{475D3339-A35B-4D84-BC88-5EFBDE329552}" srcOrd="0" destOrd="0" presId="urn:microsoft.com/office/officeart/2005/8/layout/process5"/>
    <dgm:cxn modelId="{67C5BCC4-4122-4B63-A63D-B4EB511E8DDA}" type="presOf" srcId="{9FBEFE03-CC21-4540-AE19-387E70496218}" destId="{BCB032F7-CAAC-416B-B72D-05E73C6B30F9}" srcOrd="0" destOrd="0" presId="urn:microsoft.com/office/officeart/2005/8/layout/process5"/>
    <dgm:cxn modelId="{33BD45DE-B6E0-4DD3-8FA7-AF364397179E}" type="presOf" srcId="{45773B8E-2EBE-4AA2-8F65-06E88954053E}" destId="{2968A398-A6C4-4346-B216-8A0AC86B2048}" srcOrd="0" destOrd="0" presId="urn:microsoft.com/office/officeart/2005/8/layout/process5"/>
    <dgm:cxn modelId="{6617F8C4-CDF0-4F2A-BA4D-683EA11DCCB6}" srcId="{45773B8E-2EBE-4AA2-8F65-06E88954053E}" destId="{9FBEFE03-CC21-4540-AE19-387E70496218}" srcOrd="3" destOrd="0" parTransId="{5834F1DF-2085-45B8-8CDE-DA8C79116992}" sibTransId="{6C72BD96-BF1E-46FC-A140-A057931585A2}"/>
    <dgm:cxn modelId="{84BC2BC7-44D4-4E9F-B6F8-0804F457DD0C}" type="presOf" srcId="{43601074-2190-453F-BAD7-B8DC51A6018B}" destId="{C4E48D0C-30CB-469A-BC84-FDAAB6AAEA95}" srcOrd="0" destOrd="0" presId="urn:microsoft.com/office/officeart/2005/8/layout/process5"/>
    <dgm:cxn modelId="{9BE15AB2-1988-440E-877E-6D90FD6F4B2E}" srcId="{45773B8E-2EBE-4AA2-8F65-06E88954053E}" destId="{8BC8A664-52CD-43F6-820A-1EC4E1FE2FD7}" srcOrd="6" destOrd="0" parTransId="{68BDAD05-B104-4E2C-86D0-46153263A920}" sibTransId="{853BAB51-F3F6-4B6E-97E6-131DA49ED53E}"/>
    <dgm:cxn modelId="{DB9D2B77-FD4D-4E7D-871B-A8D413D690FB}" srcId="{45773B8E-2EBE-4AA2-8F65-06E88954053E}" destId="{96D483D0-5439-4AF2-BAD2-E44CA383B698}" srcOrd="0" destOrd="0" parTransId="{5B7D5AF9-165B-4D1C-AF32-1C34258EAA20}" sibTransId="{A526A16F-AF76-46CE-88CC-2E47137A8558}"/>
    <dgm:cxn modelId="{0E8CD03A-9BE1-452C-A38E-F0833859E173}" type="presOf" srcId="{A526A16F-AF76-46CE-88CC-2E47137A8558}" destId="{3DCE81AB-91B0-44FE-B499-31AC912C892D}" srcOrd="1" destOrd="0" presId="urn:microsoft.com/office/officeart/2005/8/layout/process5"/>
    <dgm:cxn modelId="{9E5046F4-65DB-410B-92CE-F2AB7E8D0F02}" type="presOf" srcId="{DCD62F01-08DC-48A2-A815-9957644A2A99}" destId="{CCE10781-8DE8-43AE-B271-6BB15D544BDC}" srcOrd="1" destOrd="0" presId="urn:microsoft.com/office/officeart/2005/8/layout/process5"/>
    <dgm:cxn modelId="{0BDFA8E5-4140-462D-BC91-0BB5E7CBE964}" type="presParOf" srcId="{2968A398-A6C4-4346-B216-8A0AC86B2048}" destId="{6C3573BE-1F1F-460C-9FB4-D4CE4D4054D3}" srcOrd="0" destOrd="0" presId="urn:microsoft.com/office/officeart/2005/8/layout/process5"/>
    <dgm:cxn modelId="{95B76431-0A81-4C35-BA5E-8B1BEAB904E3}" type="presParOf" srcId="{2968A398-A6C4-4346-B216-8A0AC86B2048}" destId="{475D3339-A35B-4D84-BC88-5EFBDE329552}" srcOrd="1" destOrd="0" presId="urn:microsoft.com/office/officeart/2005/8/layout/process5"/>
    <dgm:cxn modelId="{6CF714E3-8D0B-4D49-911D-B9A8BF83449D}" type="presParOf" srcId="{475D3339-A35B-4D84-BC88-5EFBDE329552}" destId="{3DCE81AB-91B0-44FE-B499-31AC912C892D}" srcOrd="0" destOrd="0" presId="urn:microsoft.com/office/officeart/2005/8/layout/process5"/>
    <dgm:cxn modelId="{FD30E50C-6621-4B2B-98B8-4EB1DE8A5B49}" type="presParOf" srcId="{2968A398-A6C4-4346-B216-8A0AC86B2048}" destId="{8D6AFF72-8480-4B75-B35E-D866F381B23F}" srcOrd="2" destOrd="0" presId="urn:microsoft.com/office/officeart/2005/8/layout/process5"/>
    <dgm:cxn modelId="{F3EC7F1E-8713-4A32-9C82-8479B6DD0762}" type="presParOf" srcId="{2968A398-A6C4-4346-B216-8A0AC86B2048}" destId="{942E51FA-4CCD-42BF-BF47-392BC1AC4C89}" srcOrd="3" destOrd="0" presId="urn:microsoft.com/office/officeart/2005/8/layout/process5"/>
    <dgm:cxn modelId="{8E502E40-25BF-44BE-BCE9-A81F1C397DC8}" type="presParOf" srcId="{942E51FA-4CCD-42BF-BF47-392BC1AC4C89}" destId="{67A9E360-FAEB-4143-B56D-5B0E479A8704}" srcOrd="0" destOrd="0" presId="urn:microsoft.com/office/officeart/2005/8/layout/process5"/>
    <dgm:cxn modelId="{33663AD1-03C8-4E3C-BA4D-DE7488A9543E}" type="presParOf" srcId="{2968A398-A6C4-4346-B216-8A0AC86B2048}" destId="{C4E48D0C-30CB-469A-BC84-FDAAB6AAEA95}" srcOrd="4" destOrd="0" presId="urn:microsoft.com/office/officeart/2005/8/layout/process5"/>
    <dgm:cxn modelId="{82BAE2E7-8EF1-4FBF-A13F-D2E481CE5427}" type="presParOf" srcId="{2968A398-A6C4-4346-B216-8A0AC86B2048}" destId="{805A60FC-F65B-4E81-B091-101DD1752236}" srcOrd="5" destOrd="0" presId="urn:microsoft.com/office/officeart/2005/8/layout/process5"/>
    <dgm:cxn modelId="{8C920E2D-456A-4EBC-9FEA-D356F71FAF15}" type="presParOf" srcId="{805A60FC-F65B-4E81-B091-101DD1752236}" destId="{F7F255F0-ACD5-445A-9C5C-821EE5383D82}" srcOrd="0" destOrd="0" presId="urn:microsoft.com/office/officeart/2005/8/layout/process5"/>
    <dgm:cxn modelId="{520301C7-4D71-4946-86A3-DE897F6E91C5}" type="presParOf" srcId="{2968A398-A6C4-4346-B216-8A0AC86B2048}" destId="{BCB032F7-CAAC-416B-B72D-05E73C6B30F9}" srcOrd="6" destOrd="0" presId="urn:microsoft.com/office/officeart/2005/8/layout/process5"/>
    <dgm:cxn modelId="{59136D88-74D9-4DDC-BC01-9CBAB3A432DB}" type="presParOf" srcId="{2968A398-A6C4-4346-B216-8A0AC86B2048}" destId="{A48FA335-27D0-4A38-B9F0-8EEEF3A70E8D}" srcOrd="7" destOrd="0" presId="urn:microsoft.com/office/officeart/2005/8/layout/process5"/>
    <dgm:cxn modelId="{A81D66E6-2FC9-4E76-8B04-79C18BA25D3F}" type="presParOf" srcId="{A48FA335-27D0-4A38-B9F0-8EEEF3A70E8D}" destId="{8FFC5543-E5AB-460E-A4A8-D6CE5EE88834}" srcOrd="0" destOrd="0" presId="urn:microsoft.com/office/officeart/2005/8/layout/process5"/>
    <dgm:cxn modelId="{4414FC58-83EB-4755-94ED-7073C2B6AB3C}" type="presParOf" srcId="{2968A398-A6C4-4346-B216-8A0AC86B2048}" destId="{1BCD375B-6198-4FB1-A03C-3B0D2C12EE8F}" srcOrd="8" destOrd="0" presId="urn:microsoft.com/office/officeart/2005/8/layout/process5"/>
    <dgm:cxn modelId="{232A11F1-86DA-440A-8886-B67BBB2F60CD}" type="presParOf" srcId="{2968A398-A6C4-4346-B216-8A0AC86B2048}" destId="{D23C27CA-7D01-4471-B58B-621618001768}" srcOrd="9" destOrd="0" presId="urn:microsoft.com/office/officeart/2005/8/layout/process5"/>
    <dgm:cxn modelId="{A03AF591-F995-4D3D-9223-19D59D546451}" type="presParOf" srcId="{D23C27CA-7D01-4471-B58B-621618001768}" destId="{353D149D-BBB6-4FF4-8F34-AF032A817DF2}" srcOrd="0" destOrd="0" presId="urn:microsoft.com/office/officeart/2005/8/layout/process5"/>
    <dgm:cxn modelId="{223E7C00-4110-4C00-BDAB-F9D55DACBF6E}" type="presParOf" srcId="{2968A398-A6C4-4346-B216-8A0AC86B2048}" destId="{08A130AA-DE8A-4E13-99FD-19C8956F3A83}" srcOrd="10" destOrd="0" presId="urn:microsoft.com/office/officeart/2005/8/layout/process5"/>
    <dgm:cxn modelId="{AE622C4E-58FD-4ABC-A237-4A56E13ECF53}" type="presParOf" srcId="{2968A398-A6C4-4346-B216-8A0AC86B2048}" destId="{2346B461-EE95-45AF-BB5B-4C4B8BA6A006}" srcOrd="11" destOrd="0" presId="urn:microsoft.com/office/officeart/2005/8/layout/process5"/>
    <dgm:cxn modelId="{6FCF0F2E-A400-4497-BCDF-7602D3D0D9E1}" type="presParOf" srcId="{2346B461-EE95-45AF-BB5B-4C4B8BA6A006}" destId="{6D435A7B-2380-4902-9B0B-07B33D456102}" srcOrd="0" destOrd="0" presId="urn:microsoft.com/office/officeart/2005/8/layout/process5"/>
    <dgm:cxn modelId="{222ABE58-4D4F-47EC-8713-04FAE8480CB2}" type="presParOf" srcId="{2968A398-A6C4-4346-B216-8A0AC86B2048}" destId="{57147499-261E-4F9A-8425-94F25BF22220}" srcOrd="12" destOrd="0" presId="urn:microsoft.com/office/officeart/2005/8/layout/process5"/>
    <dgm:cxn modelId="{3D759BBD-A04F-4F14-B3E8-BB7B10D6A280}" type="presParOf" srcId="{2968A398-A6C4-4346-B216-8A0AC86B2048}" destId="{FD4F30AE-0B9F-4825-BB39-5F011FA0234F}" srcOrd="13" destOrd="0" presId="urn:microsoft.com/office/officeart/2005/8/layout/process5"/>
    <dgm:cxn modelId="{1ED46E5A-1588-4C60-AF65-83D6125DB5CC}" type="presParOf" srcId="{FD4F30AE-0B9F-4825-BB39-5F011FA0234F}" destId="{0D509667-9E84-4C65-A5B7-F87F04304136}" srcOrd="0" destOrd="0" presId="urn:microsoft.com/office/officeart/2005/8/layout/process5"/>
    <dgm:cxn modelId="{76814632-7E00-49A6-88F4-93919AD971D7}" type="presParOf" srcId="{2968A398-A6C4-4346-B216-8A0AC86B2048}" destId="{EDD4CB7B-6B9C-49B7-AA20-BB293497FE53}" srcOrd="14" destOrd="0" presId="urn:microsoft.com/office/officeart/2005/8/layout/process5"/>
    <dgm:cxn modelId="{8E53FC23-7478-4132-92ED-D755F1A93150}" type="presParOf" srcId="{2968A398-A6C4-4346-B216-8A0AC86B2048}" destId="{5A869DD6-AC45-4673-8198-D02E31875A49}" srcOrd="15" destOrd="0" presId="urn:microsoft.com/office/officeart/2005/8/layout/process5"/>
    <dgm:cxn modelId="{8847DFC3-9B7C-49AB-AE9C-FC0A7FE0DD2F}" type="presParOf" srcId="{5A869DD6-AC45-4673-8198-D02E31875A49}" destId="{CCE10781-8DE8-43AE-B271-6BB15D544BDC}" srcOrd="0" destOrd="0" presId="urn:microsoft.com/office/officeart/2005/8/layout/process5"/>
    <dgm:cxn modelId="{68B497F4-E4AA-4EBA-97B8-F5ACA7011A62}" type="presParOf" srcId="{2968A398-A6C4-4346-B216-8A0AC86B2048}" destId="{35774DE3-BE64-4894-A502-246A28210597}" srcOrd="16" destOrd="0" presId="urn:microsoft.com/office/officeart/2005/8/layout/process5"/>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7DF612CB-4187-46A3-991A-6065F4B730C7}">
      <dsp:nvSpPr>
        <dsp:cNvPr id="0" name=""/>
        <dsp:cNvSpPr/>
      </dsp:nvSpPr>
      <dsp:spPr>
        <a:xfrm>
          <a:off x="7500" y="165615"/>
          <a:ext cx="2241946" cy="134516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lvl="0" algn="ctr" defTabSz="1111250">
            <a:lnSpc>
              <a:spcPct val="90000"/>
            </a:lnSpc>
            <a:spcBef>
              <a:spcPct val="0"/>
            </a:spcBef>
            <a:spcAft>
              <a:spcPct val="35000"/>
            </a:spcAft>
          </a:pPr>
          <a:r>
            <a:rPr lang="en-US" sz="2500" kern="1200" dirty="0" smtClean="0"/>
            <a:t>System specification (Optional)</a:t>
          </a:r>
          <a:endParaRPr lang="en-US" sz="2500" kern="1200" dirty="0"/>
        </a:p>
      </dsp:txBody>
      <dsp:txXfrm>
        <a:off x="7500" y="165615"/>
        <a:ext cx="2241946" cy="1345168"/>
      </dsp:txXfrm>
    </dsp:sp>
    <dsp:sp modelId="{CEF9E531-C8C7-4E7A-A225-EA39066A26DC}">
      <dsp:nvSpPr>
        <dsp:cNvPr id="0" name=""/>
        <dsp:cNvSpPr/>
      </dsp:nvSpPr>
      <dsp:spPr>
        <a:xfrm>
          <a:off x="2473642" y="560198"/>
          <a:ext cx="475292" cy="55600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89000">
            <a:lnSpc>
              <a:spcPct val="90000"/>
            </a:lnSpc>
            <a:spcBef>
              <a:spcPct val="0"/>
            </a:spcBef>
            <a:spcAft>
              <a:spcPct val="35000"/>
            </a:spcAft>
          </a:pPr>
          <a:endParaRPr lang="en-US" sz="2000" kern="1200"/>
        </a:p>
      </dsp:txBody>
      <dsp:txXfrm>
        <a:off x="2473642" y="560198"/>
        <a:ext cx="475292" cy="556002"/>
      </dsp:txXfrm>
    </dsp:sp>
    <dsp:sp modelId="{E1C9EB6C-F565-46C2-BCA3-9A71A4F13933}">
      <dsp:nvSpPr>
        <dsp:cNvPr id="0" name=""/>
        <dsp:cNvSpPr/>
      </dsp:nvSpPr>
      <dsp:spPr>
        <a:xfrm>
          <a:off x="3146226" y="165615"/>
          <a:ext cx="2241946" cy="1345168"/>
        </a:xfrm>
        <a:prstGeom prst="roundRect">
          <a:avLst>
            <a:gd name="adj" fmla="val 10000"/>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lvl="0" algn="ctr" defTabSz="1111250">
            <a:lnSpc>
              <a:spcPct val="90000"/>
            </a:lnSpc>
            <a:spcBef>
              <a:spcPct val="0"/>
            </a:spcBef>
            <a:spcAft>
              <a:spcPct val="35000"/>
            </a:spcAft>
          </a:pPr>
          <a:r>
            <a:rPr lang="en-US" sz="2500" kern="1200" dirty="0" smtClean="0"/>
            <a:t>Analyze, Code and Fix</a:t>
          </a:r>
          <a:endParaRPr lang="en-US" sz="2500" kern="1200" dirty="0"/>
        </a:p>
      </dsp:txBody>
      <dsp:txXfrm>
        <a:off x="3146226" y="165615"/>
        <a:ext cx="2241946" cy="1345168"/>
      </dsp:txXfrm>
    </dsp:sp>
    <dsp:sp modelId="{4467DE2E-0571-4AEC-8946-E414EA4E4135}">
      <dsp:nvSpPr>
        <dsp:cNvPr id="0" name=""/>
        <dsp:cNvSpPr/>
      </dsp:nvSpPr>
      <dsp:spPr>
        <a:xfrm>
          <a:off x="5612368" y="560198"/>
          <a:ext cx="475292" cy="55600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89000">
            <a:lnSpc>
              <a:spcPct val="90000"/>
            </a:lnSpc>
            <a:spcBef>
              <a:spcPct val="0"/>
            </a:spcBef>
            <a:spcAft>
              <a:spcPct val="35000"/>
            </a:spcAft>
          </a:pPr>
          <a:endParaRPr lang="en-US" sz="2000" kern="1200"/>
        </a:p>
      </dsp:txBody>
      <dsp:txXfrm>
        <a:off x="5612368" y="560198"/>
        <a:ext cx="475292" cy="556002"/>
      </dsp:txXfrm>
    </dsp:sp>
    <dsp:sp modelId="{225816FD-231F-41D5-A364-CEF8575B3567}">
      <dsp:nvSpPr>
        <dsp:cNvPr id="0" name=""/>
        <dsp:cNvSpPr/>
      </dsp:nvSpPr>
      <dsp:spPr>
        <a:xfrm>
          <a:off x="6284952" y="165615"/>
          <a:ext cx="2241946" cy="1345168"/>
        </a:xfrm>
        <a:prstGeom prst="roundRect">
          <a:avLst>
            <a:gd name="adj" fmla="val 10000"/>
          </a:avLst>
        </a:prstGeom>
        <a:solidFill>
          <a:schemeClr val="accent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lvl="0" algn="ctr" defTabSz="1111250">
            <a:lnSpc>
              <a:spcPct val="90000"/>
            </a:lnSpc>
            <a:spcBef>
              <a:spcPct val="0"/>
            </a:spcBef>
            <a:spcAft>
              <a:spcPct val="35000"/>
            </a:spcAft>
          </a:pPr>
          <a:r>
            <a:rPr lang="en-US" sz="2500" kern="1200" dirty="0" smtClean="0"/>
            <a:t>Release (Maybe)</a:t>
          </a:r>
          <a:endParaRPr lang="en-US" sz="2500" kern="1200" dirty="0"/>
        </a:p>
      </dsp:txBody>
      <dsp:txXfrm>
        <a:off x="6284952" y="165615"/>
        <a:ext cx="2241946" cy="1345168"/>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drawing3.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drawing4.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drawing5.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drawing6.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5.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097BF1C-2B1C-4403-A88A-29FE351AEBD2}" type="datetimeFigureOut">
              <a:rPr lang="en-US" smtClean="0"/>
              <a:pPr/>
              <a:t>7/21/2026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58F4B0F-5F69-4785-A2CF-A4448012E5CA}"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CA83F80-6C56-4D09-80A7-630765842771}" type="datetimeFigureOut">
              <a:rPr lang="en-US" smtClean="0"/>
              <a:pPr/>
              <a:t>7/21/2026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79156F3-2B39-4BA0-AF81-B5A802ADA925}"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79156F3-2B39-4BA0-AF81-B5A802ADA925}" type="slidenum">
              <a:rPr lang="en-US" smtClean="0"/>
              <a:pPr/>
              <a:t>52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79156F3-2B39-4BA0-AF81-B5A802ADA925}" type="slidenum">
              <a:rPr lang="en-US" smtClean="0"/>
              <a:pPr/>
              <a:t>53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721B9AD-E267-41B8-AFB9-F339B3C6A571}" type="datetimeFigureOut">
              <a:rPr lang="en-US"/>
              <a:pPr>
                <a:defRPr/>
              </a:pPr>
              <a:t>7/21/2026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FAA6B-5534-44A2-AEB6-C3AA6AD13725}"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03B7B48-E476-4875-A0CA-B0673732DFDD}" type="datetimeFigureOut">
              <a:rPr lang="en-US"/>
              <a:pPr>
                <a:defRPr/>
              </a:pPr>
              <a:t>7/21/2026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D0A623A-42AC-4D11-AF54-DB15196F08D6}"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8F0A2C2-9A3C-44C4-9D1F-47B44EB3EF12}" type="datetimeFigureOut">
              <a:rPr lang="en-US"/>
              <a:pPr>
                <a:defRPr/>
              </a:pPr>
              <a:t>7/21/2026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738AB1B-E996-4ECC-822F-4BC1227516D2}"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6E352965-9852-4C5D-9CFD-AA7D7C51A3F1}" type="datetimeFigureOut">
              <a:rPr lang="en-US"/>
              <a:pPr>
                <a:defRPr/>
              </a:pPr>
              <a:t>7/21/2026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C6D760F-B2EC-4EEB-B282-45333B11576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A2ABA97A-E8D3-4153-8AD9-0AC754381ACA}" type="datetimeFigureOut">
              <a:rPr lang="en-US"/>
              <a:pPr>
                <a:defRPr/>
              </a:pPr>
              <a:t>7/21/2026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26E96F6-D03D-4FB0-942F-6504F81FF6F0}"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0F1E0C7-1AF5-43CF-B84A-415948674BE8}" type="datetimeFigureOut">
              <a:rPr lang="en-US"/>
              <a:pPr>
                <a:defRPr/>
              </a:pPr>
              <a:t>7/21/2026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10B45132-88B8-4DDF-85A7-99B030F49BCA}"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FF2F585-6AB3-4A98-8C00-3FB0F428366B}" type="datetimeFigureOut">
              <a:rPr lang="en-US"/>
              <a:pPr>
                <a:defRPr/>
              </a:pPr>
              <a:t>7/21/2026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BDEE648-0B22-4684-A888-DEB1CE6260B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955A04C-D082-4B30-8565-236556BDD91C}" type="datetimeFigureOut">
              <a:rPr lang="en-US"/>
              <a:pPr>
                <a:defRPr/>
              </a:pPr>
              <a:t>7/21/2026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7D6D829-2DC4-4B7D-B12C-FDD216EF07F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E43085A-46E4-429D-86C3-B3CDAC36DAFB}" type="datetimeFigureOut">
              <a:rPr lang="en-US"/>
              <a:pPr>
                <a:defRPr/>
              </a:pPr>
              <a:t>7/21/2026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17732C7-0A09-4095-98E8-F693C2579E3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B0270D8-9F80-4CBC-9EEB-40BF8E1F9541}" type="datetimeFigureOut">
              <a:rPr lang="en-US"/>
              <a:pPr>
                <a:defRPr/>
              </a:pPr>
              <a:t>7/21/2026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46B142B-9F3F-466D-9D5E-77E7230DF7F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944C27D-6266-4BC5-9F9E-701F440BBF98}" type="datetimeFigureOut">
              <a:rPr lang="en-US"/>
              <a:pPr>
                <a:defRPr/>
              </a:pPr>
              <a:t>7/21/2026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EC74873-7D28-4297-9E3C-7A8D1F19C832}"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3A4E31BE-3B20-405B-8063-BB6777AF4DB8}" type="datetimeFigureOut">
              <a:rPr lang="en-US"/>
              <a:pPr>
                <a:defRPr/>
              </a:pPr>
              <a:t>7/21/2026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69667343-960E-49C7-A8DE-9C4E42370238}"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jpeg"/></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3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4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lstStyle/>
          <a:p>
            <a:pPr eaLnBrk="1" hangingPunct="1"/>
            <a:r>
              <a:rPr lang="en-US" sz="6000" dirty="0" smtClean="0"/>
              <a:t>Software Development Models</a:t>
            </a:r>
          </a:p>
        </p:txBody>
      </p:sp>
      <p:sp>
        <p:nvSpPr>
          <p:cNvPr id="3" name="Subtitle 2"/>
          <p:cNvSpPr>
            <a:spLocks noGrp="1"/>
          </p:cNvSpPr>
          <p:nvPr>
            <p:ph type="subTitle" idx="1"/>
          </p:nvPr>
        </p:nvSpPr>
        <p:spPr/>
        <p:txBody>
          <a:bodyPr rtlCol="0">
            <a:normAutofit fontScale="25000" lnSpcReduction="20000"/>
          </a:bodyPr>
          <a:lstStyle/>
          <a:p>
            <a:pPr eaLnBrk="1" fontAlgn="auto" hangingPunct="1">
              <a:spcAft>
                <a:spcPts val="0"/>
              </a:spcAft>
              <a:defRPr/>
            </a:pPr>
            <a:r>
              <a:rPr lang="en-US" sz="8800" dirty="0" smtClean="0"/>
              <a:t>Lecturer: Ngo Huy Bien</a:t>
            </a:r>
          </a:p>
          <a:p>
            <a:pPr eaLnBrk="1" fontAlgn="auto" hangingPunct="1">
              <a:spcAft>
                <a:spcPts val="0"/>
              </a:spcAft>
              <a:defRPr/>
            </a:pPr>
            <a:r>
              <a:rPr lang="en-US" sz="7200" dirty="0" smtClean="0"/>
              <a:t>Software Engineering Department</a:t>
            </a:r>
          </a:p>
          <a:p>
            <a:pPr eaLnBrk="1" fontAlgn="auto" hangingPunct="1">
              <a:spcAft>
                <a:spcPts val="0"/>
              </a:spcAft>
              <a:defRPr/>
            </a:pPr>
            <a:r>
              <a:rPr lang="en-US" sz="7200" dirty="0" smtClean="0"/>
              <a:t>Faculty of Information Technology</a:t>
            </a:r>
          </a:p>
          <a:p>
            <a:pPr eaLnBrk="1" fontAlgn="auto" hangingPunct="1">
              <a:spcAft>
                <a:spcPts val="0"/>
              </a:spcAft>
              <a:defRPr/>
            </a:pPr>
            <a:r>
              <a:rPr lang="en-US" sz="7200" dirty="0" smtClean="0"/>
              <a:t>VNUHCM - University of Science</a:t>
            </a:r>
          </a:p>
          <a:p>
            <a:pPr eaLnBrk="1" fontAlgn="auto" hangingPunct="1">
              <a:spcAft>
                <a:spcPts val="0"/>
              </a:spcAft>
              <a:defRPr/>
            </a:pPr>
            <a:r>
              <a:rPr lang="en-US" sz="7200" dirty="0" smtClean="0"/>
              <a:t>Ho Chi Minh City, Vietnam</a:t>
            </a:r>
          </a:p>
          <a:p>
            <a:pPr eaLnBrk="1" fontAlgn="auto" hangingPunct="1">
              <a:spcAft>
                <a:spcPts val="0"/>
              </a:spcAft>
              <a:defRPr/>
            </a:pPr>
            <a:r>
              <a:rPr lang="en-US" sz="7200" dirty="0" smtClean="0">
                <a:hlinkClick r:id="rId2"/>
              </a:rPr>
              <a:t>nhbien@fit.hcmus.edu.vn</a:t>
            </a:r>
            <a:endParaRPr lang="en-US" sz="72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600201"/>
            <a:ext cx="5257800" cy="4495799"/>
          </a:xfrm>
        </p:spPr>
        <p:txBody>
          <a:bodyPr/>
          <a:lstStyle/>
          <a:p>
            <a:pPr>
              <a:buFont typeface="Wingdings" pitchFamily="2" charset="2"/>
              <a:buChar char="Ø"/>
            </a:pPr>
            <a:r>
              <a:rPr lang="en-US" sz="2400" dirty="0" smtClean="0"/>
              <a:t>To present </a:t>
            </a:r>
            <a:r>
              <a:rPr lang="en-US" sz="2400" i="1" dirty="0" smtClean="0">
                <a:solidFill>
                  <a:srgbClr val="C00000"/>
                </a:solidFill>
              </a:rPr>
              <a:t>Waterfall</a:t>
            </a:r>
            <a:r>
              <a:rPr lang="en-US" sz="2400" dirty="0" smtClean="0"/>
              <a:t> model</a:t>
            </a:r>
          </a:p>
          <a:p>
            <a:pPr>
              <a:buFont typeface="Wingdings" pitchFamily="2" charset="2"/>
              <a:buChar char="Ø"/>
            </a:pPr>
            <a:endParaRPr lang="en-US" sz="2400" dirty="0" smtClean="0"/>
          </a:p>
          <a:p>
            <a:pPr>
              <a:buFont typeface="Wingdings" pitchFamily="2" charset="2"/>
              <a:buChar char="Ø"/>
            </a:pPr>
            <a:r>
              <a:rPr lang="en-US" sz="2400" dirty="0" smtClean="0"/>
              <a:t>To present </a:t>
            </a:r>
            <a:r>
              <a:rPr lang="en-US" sz="2400" i="1" dirty="0" smtClean="0">
                <a:solidFill>
                  <a:srgbClr val="C00000"/>
                </a:solidFill>
              </a:rPr>
              <a:t>modified Waterfall</a:t>
            </a:r>
            <a:r>
              <a:rPr lang="en-US" sz="2400" dirty="0" smtClean="0"/>
              <a:t> models</a:t>
            </a:r>
          </a:p>
          <a:p>
            <a:pPr>
              <a:buFont typeface="Wingdings" pitchFamily="2" charset="2"/>
              <a:buChar char="Ø"/>
            </a:pPr>
            <a:endParaRPr lang="en-US" sz="2400" dirty="0" smtClean="0"/>
          </a:p>
          <a:p>
            <a:pPr>
              <a:buFont typeface="Wingdings" pitchFamily="2" charset="2"/>
              <a:buChar char="Ø"/>
            </a:pPr>
            <a:r>
              <a:rPr lang="en-US" sz="2400" dirty="0" smtClean="0"/>
              <a:t>To present </a:t>
            </a:r>
            <a:r>
              <a:rPr lang="en-US" sz="2400" i="1" dirty="0" smtClean="0">
                <a:solidFill>
                  <a:srgbClr val="C00000"/>
                </a:solidFill>
              </a:rPr>
              <a:t>Iterative and Incremental development </a:t>
            </a:r>
            <a:r>
              <a:rPr lang="en-US" sz="2400" dirty="0" smtClean="0"/>
              <a:t>(IID) model</a:t>
            </a:r>
          </a:p>
          <a:p>
            <a:pPr>
              <a:buFont typeface="Wingdings" pitchFamily="2" charset="2"/>
              <a:buChar char="Ø"/>
            </a:pPr>
            <a:endParaRPr lang="en-US" sz="2400" dirty="0" smtClean="0"/>
          </a:p>
          <a:p>
            <a:pPr>
              <a:buFont typeface="Wingdings" pitchFamily="2" charset="2"/>
              <a:buChar char="Ø"/>
            </a:pPr>
            <a:r>
              <a:rPr lang="en-US" sz="2400" dirty="0" smtClean="0"/>
              <a:t>To present </a:t>
            </a:r>
            <a:r>
              <a:rPr lang="en-US" sz="2400" i="1" dirty="0" smtClean="0">
                <a:solidFill>
                  <a:srgbClr val="C00000"/>
                </a:solidFill>
              </a:rPr>
              <a:t>Spiral</a:t>
            </a:r>
            <a:r>
              <a:rPr lang="en-US" sz="2400" dirty="0" smtClean="0"/>
              <a:t> model</a:t>
            </a:r>
          </a:p>
          <a:p>
            <a:pPr>
              <a:buFont typeface="Wingdings" pitchFamily="2" charset="2"/>
              <a:buChar char="Ø"/>
            </a:pPr>
            <a:endParaRPr lang="en-US" sz="2400" dirty="0" smtClean="0"/>
          </a:p>
          <a:p>
            <a:pPr>
              <a:buFont typeface="Wingdings" pitchFamily="2" charset="2"/>
              <a:buChar char="Ø"/>
            </a:pPr>
            <a:r>
              <a:rPr lang="en-US" sz="2400" dirty="0" smtClean="0"/>
              <a:t>To present </a:t>
            </a:r>
            <a:r>
              <a:rPr lang="en-US" sz="2400" i="1" dirty="0" err="1" smtClean="0">
                <a:solidFill>
                  <a:srgbClr val="C00000"/>
                </a:solidFill>
              </a:rPr>
              <a:t>Vee</a:t>
            </a:r>
            <a:r>
              <a:rPr lang="en-US" sz="2400" dirty="0" smtClean="0"/>
              <a:t> model</a:t>
            </a:r>
          </a:p>
        </p:txBody>
      </p:sp>
      <p:pic>
        <p:nvPicPr>
          <p:cNvPr id="4" name="Picture 2"/>
          <p:cNvPicPr>
            <a:picLocks noChangeAspect="1" noChangeArrowheads="1"/>
          </p:cNvPicPr>
          <p:nvPr/>
        </p:nvPicPr>
        <p:blipFill>
          <a:blip r:embed="rId2" cstate="print"/>
          <a:srcRect/>
          <a:stretch>
            <a:fillRect/>
          </a:stretch>
        </p:blipFill>
        <p:spPr bwMode="auto">
          <a:xfrm>
            <a:off x="6019800" y="1828800"/>
            <a:ext cx="2762250" cy="2114550"/>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267450" y="1676400"/>
            <a:ext cx="2724150" cy="4133850"/>
          </a:xfrm>
          <a:prstGeom prst="rect">
            <a:avLst/>
          </a:prstGeom>
          <a:noFill/>
        </p:spPr>
      </p:pic>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228600" y="1600200"/>
            <a:ext cx="6172200" cy="4876800"/>
          </a:xfrm>
        </p:spPr>
        <p:txBody>
          <a:bodyPr/>
          <a:lstStyle/>
          <a:p>
            <a:pPr marL="457200" indent="-457200" eaLnBrk="1" hangingPunct="1">
              <a:buFont typeface="+mj-lt"/>
              <a:buAutoNum type="arabicPeriod"/>
            </a:pPr>
            <a:r>
              <a:rPr lang="en-US" sz="1800" dirty="0" smtClean="0"/>
              <a:t>Herbert D. Bennington (1956). Production of Large Computer Programs.</a:t>
            </a:r>
          </a:p>
          <a:p>
            <a:pPr marL="457200" indent="-457200" eaLnBrk="1" hangingPunct="1">
              <a:buFont typeface="+mj-lt"/>
              <a:buAutoNum type="arabicPeriod"/>
            </a:pPr>
            <a:r>
              <a:rPr lang="en-US" sz="1800" dirty="0" smtClean="0"/>
              <a:t>Winston Royce (1970). Managing The Development of Large Software Systems.</a:t>
            </a:r>
          </a:p>
          <a:p>
            <a:pPr marL="457200" indent="-457200" eaLnBrk="1" hangingPunct="1">
              <a:buFont typeface="+mj-lt"/>
              <a:buAutoNum type="arabicPeriod"/>
            </a:pPr>
            <a:r>
              <a:rPr lang="en-US" sz="1800" dirty="0" smtClean="0"/>
              <a:t>Steve </a:t>
            </a:r>
            <a:r>
              <a:rPr lang="en-US" sz="1800" dirty="0" err="1" smtClean="0"/>
              <a:t>Mcconnell</a:t>
            </a:r>
            <a:r>
              <a:rPr lang="en-US" sz="1800" dirty="0" smtClean="0"/>
              <a:t> (1996). Rapid Development: Taming Wild Software Schedules. Microsoft Press.</a:t>
            </a:r>
          </a:p>
          <a:p>
            <a:pPr marL="457200" indent="-457200" eaLnBrk="1" hangingPunct="1">
              <a:buFont typeface="+mj-lt"/>
              <a:buAutoNum type="arabicPeriod"/>
            </a:pPr>
            <a:r>
              <a:rPr lang="en-US" sz="1800" dirty="0" smtClean="0"/>
              <a:t>Craig </a:t>
            </a:r>
            <a:r>
              <a:rPr lang="en-US" sz="1800" dirty="0" err="1" smtClean="0"/>
              <a:t>Larman</a:t>
            </a:r>
            <a:r>
              <a:rPr lang="en-US" sz="1800" dirty="0" smtClean="0"/>
              <a:t> (2003). Agile and Iterative Development: A Manager's Guide.</a:t>
            </a:r>
          </a:p>
          <a:p>
            <a:pPr marL="457200" indent="-457200" eaLnBrk="1" hangingPunct="1">
              <a:buFont typeface="+mj-lt"/>
              <a:buAutoNum type="arabicPeriod"/>
            </a:pPr>
            <a:r>
              <a:rPr lang="en-US" sz="1800" dirty="0" smtClean="0"/>
              <a:t>Barry Boehm (1988). A Spiral Model of Software Development and Enhancement.</a:t>
            </a:r>
          </a:p>
          <a:p>
            <a:pPr marL="457200" indent="-457200" eaLnBrk="1" hangingPunct="1">
              <a:buFont typeface="+mj-lt"/>
              <a:buAutoNum type="arabicPeriod"/>
            </a:pPr>
            <a:r>
              <a:rPr lang="en-US" sz="1800" dirty="0" err="1" smtClean="0"/>
              <a:t>Nayan</a:t>
            </a:r>
            <a:r>
              <a:rPr lang="en-US" sz="1800" dirty="0" smtClean="0"/>
              <a:t> B. </a:t>
            </a:r>
            <a:r>
              <a:rPr lang="en-US" sz="1800" dirty="0" err="1" smtClean="0"/>
              <a:t>Ruparelia</a:t>
            </a:r>
            <a:r>
              <a:rPr lang="en-US" sz="1800" dirty="0" smtClean="0"/>
              <a:t> (2010). Software Development Lifecycle.</a:t>
            </a:r>
          </a:p>
          <a:p>
            <a:pPr marL="457200" indent="-457200" eaLnBrk="1" hangingPunct="1">
              <a:buFont typeface="+mj-lt"/>
              <a:buAutoNum type="arabicPeriod"/>
            </a:pPr>
            <a:r>
              <a:rPr lang="en-US" sz="1800" dirty="0" smtClean="0"/>
              <a:t>Barry Boehm (2000). Spiral Development: Experience, Principles, and Refinements.</a:t>
            </a:r>
          </a:p>
          <a:p>
            <a:pPr marL="457200" indent="-457200" eaLnBrk="1" hangingPunct="1">
              <a:buFont typeface="+mj-lt"/>
              <a:buAutoNum type="arabicPeriod"/>
            </a:pPr>
            <a:r>
              <a:rPr lang="en-US" sz="1800" dirty="0" smtClean="0"/>
              <a:t>Kevin Forsberg and Harold </a:t>
            </a:r>
            <a:r>
              <a:rPr lang="en-US" sz="1800" dirty="0" err="1" smtClean="0"/>
              <a:t>Mooz</a:t>
            </a:r>
            <a:r>
              <a:rPr lang="en-US" sz="1800" dirty="0" smtClean="0"/>
              <a:t> (1991). The Relationship of System Engineering to the Project Cycle.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Why Software Development Models?</a:t>
            </a:r>
            <a:endParaRPr lang="en-US" sz="4000" dirty="0"/>
          </a:p>
        </p:txBody>
      </p:sp>
      <p:pic>
        <p:nvPicPr>
          <p:cNvPr id="2055" name="Picture 7"/>
          <p:cNvPicPr>
            <a:picLocks noChangeAspect="1" noChangeArrowheads="1"/>
          </p:cNvPicPr>
          <p:nvPr/>
        </p:nvPicPr>
        <p:blipFill>
          <a:blip r:embed="rId2" cstate="print"/>
          <a:srcRect/>
          <a:stretch>
            <a:fillRect/>
          </a:stretch>
        </p:blipFill>
        <p:spPr bwMode="auto">
          <a:xfrm>
            <a:off x="381000" y="1714500"/>
            <a:ext cx="3810000" cy="2857500"/>
          </a:xfrm>
          <a:prstGeom prst="rect">
            <a:avLst/>
          </a:prstGeom>
          <a:noFill/>
          <a:ln w="9525">
            <a:noFill/>
            <a:miter lim="800000"/>
            <a:headEnd/>
            <a:tailEnd/>
          </a:ln>
          <a:effectLst/>
        </p:spPr>
      </p:pic>
      <p:sp>
        <p:nvSpPr>
          <p:cNvPr id="10" name="Rectangle 9"/>
          <p:cNvSpPr/>
          <p:nvPr/>
        </p:nvSpPr>
        <p:spPr>
          <a:xfrm>
            <a:off x="228600" y="4691896"/>
            <a:ext cx="5257800" cy="1785104"/>
          </a:xfrm>
          <a:prstGeom prst="rect">
            <a:avLst/>
          </a:prstGeom>
          <a:noFill/>
        </p:spPr>
        <p:txBody>
          <a:bodyPr wrap="square">
            <a:spAutoFit/>
          </a:bodyPr>
          <a:lstStyle/>
          <a:p>
            <a:pPr marL="457200" indent="-457200">
              <a:buFont typeface="Arial" pitchFamily="34" charset="0"/>
              <a:buChar char="•"/>
              <a:defRPr/>
            </a:pPr>
            <a:r>
              <a:rPr lang="en-US" sz="2200" dirty="0" smtClean="0">
                <a:latin typeface="+mj-lt"/>
              </a:rPr>
              <a:t>Which step should we do </a:t>
            </a:r>
            <a:r>
              <a:rPr lang="en-US" sz="2200" i="1" dirty="0" smtClean="0">
                <a:solidFill>
                  <a:srgbClr val="C00000"/>
                </a:solidFill>
                <a:latin typeface="+mj-lt"/>
              </a:rPr>
              <a:t>next</a:t>
            </a:r>
            <a:r>
              <a:rPr lang="en-US" sz="2200" dirty="0" smtClean="0">
                <a:latin typeface="+mj-lt"/>
              </a:rPr>
              <a:t>?</a:t>
            </a:r>
          </a:p>
          <a:p>
            <a:pPr marL="457200" indent="-457200">
              <a:buFont typeface="Arial" pitchFamily="34" charset="0"/>
              <a:buChar char="•"/>
              <a:defRPr/>
            </a:pPr>
            <a:r>
              <a:rPr lang="en-US" sz="2200" dirty="0" smtClean="0">
                <a:latin typeface="+mj-lt"/>
              </a:rPr>
              <a:t>How </a:t>
            </a:r>
            <a:r>
              <a:rPr lang="en-US" sz="2200" i="1" dirty="0" smtClean="0">
                <a:solidFill>
                  <a:srgbClr val="C00000"/>
                </a:solidFill>
                <a:latin typeface="+mj-lt"/>
              </a:rPr>
              <a:t>long</a:t>
            </a:r>
            <a:r>
              <a:rPr lang="en-US" sz="2200" b="1" dirty="0" smtClean="0">
                <a:latin typeface="+mj-lt"/>
              </a:rPr>
              <a:t> </a:t>
            </a:r>
            <a:r>
              <a:rPr lang="en-US" sz="2200" dirty="0" smtClean="0">
                <a:latin typeface="+mj-lt"/>
              </a:rPr>
              <a:t>will it take?</a:t>
            </a:r>
          </a:p>
          <a:p>
            <a:pPr marL="457200" indent="-457200">
              <a:buFont typeface="Arial" pitchFamily="34" charset="0"/>
              <a:buChar char="•"/>
              <a:defRPr/>
            </a:pPr>
            <a:r>
              <a:rPr lang="en-US" sz="2200" i="1" dirty="0" smtClean="0">
                <a:solidFill>
                  <a:srgbClr val="C00000"/>
                </a:solidFill>
                <a:latin typeface="+mj-lt"/>
              </a:rPr>
              <a:t>How</a:t>
            </a:r>
            <a:r>
              <a:rPr lang="en-US" sz="2200" dirty="0" smtClean="0">
                <a:latin typeface="+mj-lt"/>
              </a:rPr>
              <a:t> to perform the step?</a:t>
            </a:r>
          </a:p>
          <a:p>
            <a:pPr marL="457200" indent="-457200">
              <a:buFont typeface="Arial" pitchFamily="34" charset="0"/>
              <a:buChar char="•"/>
              <a:defRPr/>
            </a:pPr>
            <a:r>
              <a:rPr lang="en-US" sz="2200" dirty="0" smtClean="0">
                <a:latin typeface="+mj-lt"/>
              </a:rPr>
              <a:t>Which </a:t>
            </a:r>
            <a:r>
              <a:rPr lang="en-US" sz="2200" i="1" u="sng" dirty="0" smtClean="0">
                <a:solidFill>
                  <a:srgbClr val="C00000"/>
                </a:solidFill>
                <a:latin typeface="+mj-lt"/>
              </a:rPr>
              <a:t>artifacts</a:t>
            </a:r>
            <a:r>
              <a:rPr lang="en-US" sz="2200" dirty="0" smtClean="0">
                <a:latin typeface="+mj-lt"/>
              </a:rPr>
              <a:t> will it use and produce?</a:t>
            </a:r>
          </a:p>
          <a:p>
            <a:pPr marL="457200" indent="-457200">
              <a:buFont typeface="Arial" pitchFamily="34" charset="0"/>
              <a:buChar char="•"/>
              <a:defRPr/>
            </a:pPr>
            <a:r>
              <a:rPr lang="en-US" sz="2200" i="1" dirty="0" smtClean="0">
                <a:solidFill>
                  <a:srgbClr val="C00000"/>
                </a:solidFill>
                <a:latin typeface="+mj-lt"/>
              </a:rPr>
              <a:t>Who</a:t>
            </a:r>
            <a:r>
              <a:rPr lang="en-US" sz="2200" dirty="0" smtClean="0">
                <a:latin typeface="+mj-lt"/>
              </a:rPr>
              <a:t> is responsible for doing the step?</a:t>
            </a:r>
          </a:p>
        </p:txBody>
      </p:sp>
      <p:pic>
        <p:nvPicPr>
          <p:cNvPr id="8" name="Picture 6"/>
          <p:cNvPicPr>
            <a:picLocks noChangeAspect="1" noChangeArrowheads="1"/>
          </p:cNvPicPr>
          <p:nvPr/>
        </p:nvPicPr>
        <p:blipFill>
          <a:blip r:embed="rId3" cstate="print"/>
          <a:srcRect/>
          <a:stretch>
            <a:fillRect/>
          </a:stretch>
        </p:blipFill>
        <p:spPr bwMode="auto">
          <a:xfrm>
            <a:off x="4724400" y="1676400"/>
            <a:ext cx="4038599" cy="3686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Notes</a:t>
            </a:r>
            <a:endParaRPr lang="en-US" dirty="0"/>
          </a:p>
        </p:txBody>
      </p:sp>
      <p:sp>
        <p:nvSpPr>
          <p:cNvPr id="3" name="Content Placeholder 2"/>
          <p:cNvSpPr>
            <a:spLocks noGrp="1"/>
          </p:cNvSpPr>
          <p:nvPr>
            <p:ph idx="1"/>
          </p:nvPr>
        </p:nvSpPr>
        <p:spPr/>
        <p:txBody>
          <a:bodyPr/>
          <a:lstStyle/>
          <a:p>
            <a:r>
              <a:rPr lang="en-US" sz="2400" dirty="0" smtClean="0"/>
              <a:t>Royce (Waterfall, 1970), </a:t>
            </a:r>
            <a:r>
              <a:rPr lang="en-US" sz="2400" dirty="0" smtClean="0"/>
              <a:t>Boehm </a:t>
            </a:r>
            <a:r>
              <a:rPr lang="en-US" sz="2400" dirty="0" smtClean="0"/>
              <a:t>(Spiral, 1988)</a:t>
            </a:r>
            <a:r>
              <a:rPr lang="en-US" sz="2400" dirty="0" smtClean="0"/>
              <a:t>, </a:t>
            </a:r>
            <a:r>
              <a:rPr lang="de-DE" sz="2400" dirty="0" smtClean="0"/>
              <a:t>Scrum (Schwaber, 1995</a:t>
            </a:r>
            <a:r>
              <a:rPr lang="de-DE" sz="2400" dirty="0" smtClean="0"/>
              <a:t>)</a:t>
            </a:r>
            <a:r>
              <a:rPr lang="en-US" sz="2400" dirty="0" smtClean="0"/>
              <a:t>, </a:t>
            </a:r>
            <a:r>
              <a:rPr lang="en-US" sz="2400" dirty="0" err="1" smtClean="0"/>
              <a:t>Kruchten</a:t>
            </a:r>
            <a:r>
              <a:rPr lang="en-US" sz="2400" dirty="0" smtClean="0"/>
              <a:t> (RUP, 1998)</a:t>
            </a:r>
            <a:r>
              <a:rPr lang="en-US" sz="2400" dirty="0" smtClean="0"/>
              <a:t>, </a:t>
            </a:r>
            <a:r>
              <a:rPr lang="en-US" sz="2400" dirty="0" smtClean="0"/>
              <a:t>Beck (</a:t>
            </a:r>
            <a:r>
              <a:rPr lang="en-US" sz="2400" dirty="0" smtClean="0"/>
              <a:t>XP, 1999)</a:t>
            </a:r>
            <a:r>
              <a:rPr lang="de-DE" sz="2400" dirty="0" smtClean="0"/>
              <a:t>, and Kanban </a:t>
            </a:r>
            <a:r>
              <a:rPr lang="de-DE" sz="2400" dirty="0" smtClean="0"/>
              <a:t>(</a:t>
            </a:r>
            <a:r>
              <a:rPr lang="de-DE" sz="2400" dirty="0" smtClean="0"/>
              <a:t>Anderson, 2010)</a:t>
            </a:r>
            <a:r>
              <a:rPr lang="en-US" sz="2400" dirty="0" smtClean="0"/>
              <a:t> had no </a:t>
            </a:r>
            <a:r>
              <a:rPr lang="en-US" sz="2400" dirty="0" smtClean="0"/>
              <a:t>controlled studies. They were </a:t>
            </a:r>
            <a:r>
              <a:rPr lang="en-US" sz="2400" i="1" dirty="0" smtClean="0">
                <a:solidFill>
                  <a:srgbClr val="C00000"/>
                </a:solidFill>
              </a:rPr>
              <a:t>experience</a:t>
            </a:r>
            <a:r>
              <a:rPr lang="en-US" sz="2400" dirty="0" smtClean="0"/>
              <a:t> </a:t>
            </a:r>
            <a:r>
              <a:rPr lang="en-US" sz="2400" dirty="0" smtClean="0"/>
              <a:t>papers and became landmarks.</a:t>
            </a:r>
          </a:p>
          <a:p>
            <a:r>
              <a:rPr lang="en-US" sz="2400" dirty="0" smtClean="0"/>
              <a:t>Landmark </a:t>
            </a:r>
            <a:r>
              <a:rPr lang="en-US" sz="2400" dirty="0" smtClean="0"/>
              <a:t>conceptual papers won on </a:t>
            </a:r>
            <a:r>
              <a:rPr lang="en-US" sz="2400" i="1" dirty="0" smtClean="0">
                <a:solidFill>
                  <a:srgbClr val="C00000"/>
                </a:solidFill>
              </a:rPr>
              <a:t>conceptual depth,  distinctiveness, operational mechanism</a:t>
            </a:r>
            <a:r>
              <a:rPr lang="en-US" sz="2400" dirty="0" smtClean="0"/>
              <a:t>, </a:t>
            </a:r>
            <a:r>
              <a:rPr lang="en-US" sz="2400" dirty="0" smtClean="0"/>
              <a:t>and substituted </a:t>
            </a:r>
            <a:r>
              <a:rPr lang="en-US" sz="2400" dirty="0" smtClean="0"/>
              <a:t>them </a:t>
            </a:r>
            <a:r>
              <a:rPr lang="en-US" sz="2400" dirty="0" smtClean="0"/>
              <a:t>for </a:t>
            </a:r>
            <a:r>
              <a:rPr lang="en-US" sz="2400" u="sng" dirty="0" smtClean="0"/>
              <a:t>evaluation</a:t>
            </a:r>
            <a:r>
              <a:rPr lang="en-US" sz="2400" dirty="0" smtClean="0"/>
              <a:t>.</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Analysis and Coding [1, 2]</a:t>
            </a:r>
            <a:endParaRPr lang="en-US" dirty="0"/>
          </a:p>
        </p:txBody>
      </p:sp>
      <p:sp>
        <p:nvSpPr>
          <p:cNvPr id="3" name="Content Placeholder 2"/>
          <p:cNvSpPr>
            <a:spLocks noGrp="1"/>
          </p:cNvSpPr>
          <p:nvPr>
            <p:ph idx="1"/>
          </p:nvPr>
        </p:nvSpPr>
        <p:spPr/>
        <p:txBody>
          <a:bodyPr/>
          <a:lstStyle/>
          <a:p>
            <a:r>
              <a:rPr lang="en-US" sz="2400" dirty="0" smtClean="0"/>
              <a:t>There are two essential steps common to all computer program developments, </a:t>
            </a:r>
            <a:r>
              <a:rPr lang="en-US" sz="2400" i="1" dirty="0" smtClean="0">
                <a:solidFill>
                  <a:srgbClr val="C00000"/>
                </a:solidFill>
              </a:rPr>
              <a:t>regardless of size or complexity</a:t>
            </a:r>
            <a:r>
              <a:rPr lang="en-US" sz="2400" dirty="0" smtClean="0"/>
              <a:t>. There is first an </a:t>
            </a:r>
            <a:r>
              <a:rPr lang="en-US" sz="2400" i="1" dirty="0" smtClean="0">
                <a:solidFill>
                  <a:srgbClr val="C00000"/>
                </a:solidFill>
              </a:rPr>
              <a:t>analysis</a:t>
            </a:r>
            <a:r>
              <a:rPr lang="en-US" sz="2400" dirty="0" smtClean="0"/>
              <a:t> step, followed second by a </a:t>
            </a:r>
            <a:r>
              <a:rPr lang="en-US" sz="2400" i="1" dirty="0" smtClean="0">
                <a:solidFill>
                  <a:srgbClr val="C00000"/>
                </a:solidFill>
              </a:rPr>
              <a:t>coding</a:t>
            </a:r>
            <a:r>
              <a:rPr lang="en-US" sz="2400" dirty="0" smtClean="0"/>
              <a:t> step.</a:t>
            </a:r>
          </a:p>
          <a:p>
            <a:endParaRPr lang="en-US" sz="2400" dirty="0" smtClean="0"/>
          </a:p>
          <a:p>
            <a:endParaRPr lang="en-US" sz="2400" dirty="0" smtClean="0"/>
          </a:p>
          <a:p>
            <a:endParaRPr lang="en-US" sz="2400" dirty="0" smtClean="0"/>
          </a:p>
          <a:p>
            <a:endParaRPr lang="en-US" sz="2400" dirty="0" smtClean="0"/>
          </a:p>
          <a:p>
            <a:r>
              <a:rPr lang="en-US" sz="2400" dirty="0" smtClean="0"/>
              <a:t>It's the development effort for which most customers are</a:t>
            </a:r>
            <a:r>
              <a:rPr lang="en-US" sz="2400" i="1" dirty="0" smtClean="0">
                <a:solidFill>
                  <a:schemeClr val="accent2"/>
                </a:solidFill>
              </a:rPr>
              <a:t> </a:t>
            </a:r>
            <a:r>
              <a:rPr lang="en-US" sz="2400" i="1" dirty="0" smtClean="0">
                <a:solidFill>
                  <a:srgbClr val="C00000"/>
                </a:solidFill>
              </a:rPr>
              <a:t>happy to pay</a:t>
            </a:r>
            <a:r>
              <a:rPr lang="en-US" sz="2400" dirty="0" smtClean="0"/>
              <a:t>, since both steps involve genuinely creative work which directly contributes to </a:t>
            </a:r>
            <a:r>
              <a:rPr lang="en-US" sz="2400" i="1" dirty="0" smtClean="0">
                <a:solidFill>
                  <a:srgbClr val="C00000"/>
                </a:solidFill>
              </a:rPr>
              <a:t>the usefulness</a:t>
            </a:r>
            <a:r>
              <a:rPr lang="en-US" sz="2400" dirty="0" smtClean="0"/>
              <a:t> of the final product.</a:t>
            </a:r>
            <a:endParaRPr lang="en-US" sz="2400" dirty="0"/>
          </a:p>
        </p:txBody>
      </p:sp>
      <p:pic>
        <p:nvPicPr>
          <p:cNvPr id="1027" name="Picture 3"/>
          <p:cNvPicPr>
            <a:picLocks noChangeAspect="1" noChangeArrowheads="1"/>
          </p:cNvPicPr>
          <p:nvPr/>
        </p:nvPicPr>
        <p:blipFill>
          <a:blip r:embed="rId2" cstate="print"/>
          <a:srcRect/>
          <a:stretch>
            <a:fillRect/>
          </a:stretch>
        </p:blipFill>
        <p:spPr bwMode="auto">
          <a:xfrm>
            <a:off x="2076450" y="2895600"/>
            <a:ext cx="2800350" cy="192405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Code and Fix</a:t>
            </a:r>
            <a:endParaRPr lang="en-US" dirty="0"/>
          </a:p>
        </p:txBody>
      </p:sp>
      <p:graphicFrame>
        <p:nvGraphicFramePr>
          <p:cNvPr id="4" name="Diagram 3"/>
          <p:cNvGraphicFramePr/>
          <p:nvPr/>
        </p:nvGraphicFramePr>
        <p:xfrm>
          <a:off x="304800" y="2514600"/>
          <a:ext cx="8534400" cy="1676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10"/>
          <p:cNvSpPr txBox="1">
            <a:spLocks noChangeArrowheads="1"/>
          </p:cNvSpPr>
          <p:nvPr/>
        </p:nvSpPr>
        <p:spPr bwMode="auto">
          <a:xfrm>
            <a:off x="381000" y="1295400"/>
            <a:ext cx="8229600" cy="830997"/>
          </a:xfrm>
          <a:prstGeom prst="rect">
            <a:avLst/>
          </a:prstGeom>
          <a:noFill/>
          <a:ln w="9525">
            <a:noFill/>
            <a:miter lim="800000"/>
            <a:headEnd/>
            <a:tailEnd/>
          </a:ln>
        </p:spPr>
        <p:txBody>
          <a:bodyPr wrap="square">
            <a:spAutoFit/>
          </a:bodyPr>
          <a:lstStyle/>
          <a:p>
            <a:pPr algn="ctr"/>
            <a:r>
              <a:rPr lang="en-US" sz="2400" i="1" dirty="0" smtClean="0">
                <a:solidFill>
                  <a:srgbClr val="C00000"/>
                </a:solidFill>
                <a:latin typeface="+mj-lt"/>
              </a:rPr>
              <a:t>Code and Fix</a:t>
            </a:r>
            <a:r>
              <a:rPr lang="en-US" sz="2400" dirty="0" smtClean="0">
                <a:latin typeface="+mj-lt"/>
              </a:rPr>
              <a:t> is the development method in which you write some code and then fix the problems in the code.</a:t>
            </a:r>
            <a:endParaRPr lang="en-US" sz="2400" dirty="0">
              <a:latin typeface="+mj-lt"/>
            </a:endParaRPr>
          </a:p>
        </p:txBody>
      </p:sp>
      <p:sp>
        <p:nvSpPr>
          <p:cNvPr id="7" name="Rectangle 6"/>
          <p:cNvSpPr/>
          <p:nvPr/>
        </p:nvSpPr>
        <p:spPr>
          <a:xfrm>
            <a:off x="304800" y="4463296"/>
            <a:ext cx="4419600" cy="1785104"/>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marL="457200" indent="-457200">
              <a:buFont typeface="Wingdings" pitchFamily="2" charset="2"/>
              <a:buChar char="ü"/>
            </a:pPr>
            <a:r>
              <a:rPr lang="en-US" sz="2200" dirty="0" smtClean="0">
                <a:latin typeface="+mj-lt"/>
              </a:rPr>
              <a:t>No Overhead (No planning, documentation, QA, standards enforcing, etc., just coding.) </a:t>
            </a:r>
          </a:p>
          <a:p>
            <a:pPr marL="457200" indent="-457200">
              <a:buFont typeface="Wingdings" pitchFamily="2" charset="2"/>
              <a:buChar char="ü"/>
            </a:pPr>
            <a:r>
              <a:rPr lang="en-US" sz="2200" dirty="0" smtClean="0">
                <a:latin typeface="+mj-lt"/>
              </a:rPr>
              <a:t>Requires no expertise; anybody can do this.</a:t>
            </a:r>
            <a:endParaRPr lang="en-US" sz="2200" dirty="0">
              <a:latin typeface="+mj-lt"/>
            </a:endParaRPr>
          </a:p>
        </p:txBody>
      </p:sp>
      <p:sp>
        <p:nvSpPr>
          <p:cNvPr id="8" name="Rectangle 7"/>
          <p:cNvSpPr/>
          <p:nvPr/>
        </p:nvSpPr>
        <p:spPr>
          <a:xfrm>
            <a:off x="4876800" y="4343400"/>
            <a:ext cx="4038600" cy="2123658"/>
          </a:xfrm>
          <a:prstGeom prst="rect">
            <a:avLst/>
          </a:prstGeom>
          <a:noFill/>
        </p:spPr>
        <p:txBody>
          <a:bodyPr wrap="square">
            <a:spAutoFit/>
          </a:bodyPr>
          <a:lstStyle/>
          <a:p>
            <a:pPr marL="457200" indent="-457200">
              <a:buFont typeface="Wingdings" pitchFamily="2" charset="2"/>
              <a:buChar char="v"/>
            </a:pPr>
            <a:r>
              <a:rPr lang="en-US" sz="2200" dirty="0" smtClean="0">
                <a:latin typeface="+mj-lt"/>
              </a:rPr>
              <a:t>No way of identifying risk</a:t>
            </a:r>
          </a:p>
          <a:p>
            <a:pPr marL="457200" indent="-457200">
              <a:buFont typeface="Wingdings" pitchFamily="2" charset="2"/>
              <a:buChar char="v"/>
            </a:pPr>
            <a:r>
              <a:rPr lang="en-US" sz="2200" dirty="0" smtClean="0">
                <a:latin typeface="+mj-lt"/>
              </a:rPr>
              <a:t>Poor match to user’s need</a:t>
            </a:r>
          </a:p>
          <a:p>
            <a:pPr marL="457200" indent="-457200">
              <a:buFont typeface="Wingdings" pitchFamily="2" charset="2"/>
              <a:buChar char="v"/>
            </a:pPr>
            <a:r>
              <a:rPr lang="en-US" sz="2200" dirty="0" smtClean="0">
                <a:latin typeface="+mj-lt"/>
              </a:rPr>
              <a:t>Poor structure</a:t>
            </a:r>
          </a:p>
          <a:p>
            <a:pPr marL="457200" indent="-457200">
              <a:buFont typeface="Wingdings" pitchFamily="2" charset="2"/>
              <a:buChar char="v"/>
            </a:pPr>
            <a:r>
              <a:rPr lang="en-US" sz="2200" dirty="0" smtClean="0">
                <a:latin typeface="+mj-lt"/>
              </a:rPr>
              <a:t>No way of accessing quality</a:t>
            </a:r>
          </a:p>
          <a:p>
            <a:pPr marL="457200" indent="-457200">
              <a:buFont typeface="Wingdings" pitchFamily="2" charset="2"/>
              <a:buChar char="v"/>
            </a:pPr>
            <a:r>
              <a:rPr lang="en-US" sz="2200" dirty="0" smtClean="0">
                <a:latin typeface="+mj-lt"/>
              </a:rPr>
              <a:t>Expensive fix</a:t>
            </a:r>
          </a:p>
          <a:p>
            <a:pPr marL="457200" indent="-457200">
              <a:buFont typeface="Wingdings" pitchFamily="2" charset="2"/>
              <a:buChar char="v"/>
            </a:pPr>
            <a:r>
              <a:rPr lang="en-US" sz="2200" dirty="0" smtClean="0">
                <a:latin typeface="+mj-lt"/>
              </a:rPr>
              <a:t>No way of accessing progress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More Grandiose Approach</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857250" y="1743075"/>
            <a:ext cx="7429500" cy="4581525"/>
          </a:xfrm>
          <a:prstGeom prst="rect">
            <a:avLst/>
          </a:prstGeom>
          <a:noFill/>
          <a:ln w="9525">
            <a:noFill/>
            <a:miter lim="800000"/>
            <a:headEnd/>
            <a:tailEnd/>
          </a:ln>
        </p:spPr>
      </p:pic>
      <p:sp>
        <p:nvSpPr>
          <p:cNvPr id="5" name="Oval 4"/>
          <p:cNvSpPr/>
          <p:nvPr/>
        </p:nvSpPr>
        <p:spPr>
          <a:xfrm>
            <a:off x="3733800" y="3581400"/>
            <a:ext cx="1676400" cy="914400"/>
          </a:xfrm>
          <a:prstGeom prst="ellipse">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762000" y="1600200"/>
            <a:ext cx="2667000" cy="1524000"/>
          </a:xfrm>
          <a:prstGeom prst="ellipse">
            <a:avLst/>
          </a:prstGeom>
          <a:noFill/>
          <a:ln w="762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C00000"/>
              </a:solidFill>
            </a:endParaRPr>
          </a:p>
        </p:txBody>
      </p:sp>
      <p:sp>
        <p:nvSpPr>
          <p:cNvPr id="8" name="Oval 7"/>
          <p:cNvSpPr/>
          <p:nvPr/>
        </p:nvSpPr>
        <p:spPr>
          <a:xfrm>
            <a:off x="5715000" y="4953000"/>
            <a:ext cx="2667000" cy="1524000"/>
          </a:xfrm>
          <a:prstGeom prst="ellipse">
            <a:avLst/>
          </a:prstGeom>
          <a:noFill/>
          <a:ln w="762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4114800" y="1600200"/>
            <a:ext cx="4800600" cy="1446550"/>
          </a:xfrm>
          <a:prstGeom prst="rect">
            <a:avLst/>
          </a:prstGeom>
        </p:spPr>
        <p:txBody>
          <a:bodyPr wrap="square">
            <a:spAutoFit/>
          </a:bodyPr>
          <a:lstStyle/>
          <a:p>
            <a:pPr algn="ctr"/>
            <a:r>
              <a:rPr lang="en-US" sz="2200" dirty="0" smtClean="0">
                <a:latin typeface="+mj-lt"/>
              </a:rPr>
              <a:t>In my experience, the simpler model . . . [such as the one pictured in</a:t>
            </a:r>
          </a:p>
          <a:p>
            <a:pPr algn="ctr"/>
            <a:r>
              <a:rPr lang="en-US" sz="2200" dirty="0" smtClean="0">
                <a:latin typeface="+mj-lt"/>
              </a:rPr>
              <a:t>this slide] </a:t>
            </a:r>
            <a:r>
              <a:rPr lang="en-US" sz="2200" i="1" dirty="0" smtClean="0">
                <a:solidFill>
                  <a:srgbClr val="C00000"/>
                </a:solidFill>
                <a:latin typeface="+mj-lt"/>
              </a:rPr>
              <a:t>has never worked</a:t>
            </a:r>
            <a:r>
              <a:rPr lang="en-US" sz="2200" dirty="0" smtClean="0">
                <a:latin typeface="+mj-lt"/>
              </a:rPr>
              <a:t> on large software development efforts.</a:t>
            </a:r>
            <a:endParaRPr lang="en-US" sz="2200" dirty="0">
              <a:latin typeface="+mj-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Iterative Relationship Between Successive Phases</a:t>
            </a:r>
            <a:endParaRPr lang="en-US" dirty="0"/>
          </a:p>
        </p:txBody>
      </p:sp>
      <p:pic>
        <p:nvPicPr>
          <p:cNvPr id="3074" name="Picture 2"/>
          <p:cNvPicPr>
            <a:picLocks noChangeAspect="1" noChangeArrowheads="1"/>
          </p:cNvPicPr>
          <p:nvPr/>
        </p:nvPicPr>
        <p:blipFill>
          <a:blip r:embed="rId2" cstate="print"/>
          <a:srcRect/>
          <a:stretch>
            <a:fillRect/>
          </a:stretch>
        </p:blipFill>
        <p:spPr bwMode="auto">
          <a:xfrm>
            <a:off x="842963" y="1524000"/>
            <a:ext cx="7458075" cy="4572000"/>
          </a:xfrm>
          <a:prstGeom prst="rect">
            <a:avLst/>
          </a:prstGeom>
          <a:noFill/>
          <a:ln w="9525">
            <a:noFill/>
            <a:miter lim="800000"/>
            <a:headEnd/>
            <a:tailEnd/>
          </a:ln>
        </p:spPr>
      </p:pic>
      <p:sp>
        <p:nvSpPr>
          <p:cNvPr id="4" name="Rectangle 3"/>
          <p:cNvSpPr/>
          <p:nvPr/>
        </p:nvSpPr>
        <p:spPr>
          <a:xfrm>
            <a:off x="4648200" y="1447800"/>
            <a:ext cx="4343400" cy="2800767"/>
          </a:xfrm>
          <a:prstGeom prst="rect">
            <a:avLst/>
          </a:prstGeom>
        </p:spPr>
        <p:txBody>
          <a:bodyPr wrap="square">
            <a:spAutoFit/>
          </a:bodyPr>
          <a:lstStyle/>
          <a:p>
            <a:pPr algn="r"/>
            <a:r>
              <a:rPr lang="en-US" sz="2200" dirty="0" smtClean="0">
                <a:latin typeface="+mj-lt"/>
              </a:rPr>
              <a:t>As each step progresses and the design is further detailed, there is </a:t>
            </a:r>
            <a:r>
              <a:rPr lang="en-US" sz="2200" i="1" dirty="0" smtClean="0">
                <a:solidFill>
                  <a:srgbClr val="C00000"/>
                </a:solidFill>
                <a:latin typeface="+mj-lt"/>
              </a:rPr>
              <a:t>an iteration</a:t>
            </a:r>
            <a:r>
              <a:rPr lang="en-US" sz="2200" i="1" dirty="0" smtClean="0">
                <a:solidFill>
                  <a:schemeClr val="accent2"/>
                </a:solidFill>
                <a:latin typeface="+mj-lt"/>
              </a:rPr>
              <a:t> </a:t>
            </a:r>
            <a:r>
              <a:rPr lang="en-US" sz="2200" dirty="0" smtClean="0">
                <a:latin typeface="+mj-lt"/>
              </a:rPr>
              <a:t>with the preceding and succeeding steps but rarely with the more remote steps in the sequence.</a:t>
            </a:r>
          </a:p>
          <a:p>
            <a:pPr algn="r"/>
            <a:r>
              <a:rPr lang="en-US" sz="2200" dirty="0" smtClean="0">
                <a:latin typeface="+mj-lt"/>
              </a:rPr>
              <a:t>As the design proceeds </a:t>
            </a:r>
            <a:r>
              <a:rPr lang="en-US" sz="2200" i="1" dirty="0" smtClean="0">
                <a:solidFill>
                  <a:srgbClr val="C00000"/>
                </a:solidFill>
                <a:latin typeface="+mj-lt"/>
              </a:rPr>
              <a:t>the change process</a:t>
            </a:r>
            <a:r>
              <a:rPr lang="en-US" sz="2200" dirty="0" smtClean="0">
                <a:latin typeface="+mj-lt"/>
              </a:rPr>
              <a:t> is scoped down to manageable limits.</a:t>
            </a:r>
          </a:p>
        </p:txBody>
      </p:sp>
      <p:sp>
        <p:nvSpPr>
          <p:cNvPr id="5" name="Rectangle 4"/>
          <p:cNvSpPr/>
          <p:nvPr/>
        </p:nvSpPr>
        <p:spPr>
          <a:xfrm>
            <a:off x="76200" y="3919478"/>
            <a:ext cx="4724400" cy="2862322"/>
          </a:xfrm>
          <a:prstGeom prst="rect">
            <a:avLst/>
          </a:prstGeom>
        </p:spPr>
        <p:txBody>
          <a:bodyPr wrap="square">
            <a:spAutoFit/>
          </a:bodyPr>
          <a:lstStyle/>
          <a:p>
            <a:r>
              <a:rPr lang="en-US" sz="2000" dirty="0" smtClean="0">
                <a:latin typeface="+mj-lt"/>
              </a:rPr>
              <a:t>At any point in the design process</a:t>
            </a:r>
          </a:p>
          <a:p>
            <a:r>
              <a:rPr lang="en-US" sz="2000" dirty="0" smtClean="0">
                <a:latin typeface="+mj-lt"/>
              </a:rPr>
              <a:t>after the requirements analysis is completed there exists a firm and close-up</a:t>
            </a:r>
            <a:r>
              <a:rPr lang="en-US" sz="2000" b="1" dirty="0" smtClean="0">
                <a:solidFill>
                  <a:schemeClr val="tx2"/>
                </a:solidFill>
                <a:latin typeface="+mj-lt"/>
              </a:rPr>
              <a:t>, </a:t>
            </a:r>
            <a:r>
              <a:rPr lang="en-US" sz="2000" i="1" dirty="0" smtClean="0">
                <a:solidFill>
                  <a:srgbClr val="C00000"/>
                </a:solidFill>
                <a:latin typeface="+mj-lt"/>
              </a:rPr>
              <a:t>moving baseline</a:t>
            </a:r>
            <a:r>
              <a:rPr lang="en-US" sz="2000" dirty="0" smtClean="0">
                <a:latin typeface="+mj-lt"/>
              </a:rPr>
              <a:t> to which to return in the event of </a:t>
            </a:r>
            <a:r>
              <a:rPr lang="en-US" sz="2000" i="1" dirty="0" smtClean="0">
                <a:solidFill>
                  <a:srgbClr val="C00000"/>
                </a:solidFill>
                <a:latin typeface="+mj-lt"/>
              </a:rPr>
              <a:t>unforeseen design difficulties</a:t>
            </a:r>
            <a:r>
              <a:rPr lang="en-US" sz="2000" dirty="0" smtClean="0">
                <a:latin typeface="+mj-lt"/>
              </a:rPr>
              <a:t>.</a:t>
            </a:r>
          </a:p>
          <a:p>
            <a:r>
              <a:rPr lang="en-US" sz="2000" dirty="0" smtClean="0">
                <a:latin typeface="+mj-lt"/>
              </a:rPr>
              <a:t>What we have is an </a:t>
            </a:r>
            <a:r>
              <a:rPr lang="en-US" sz="2000" i="1" dirty="0" smtClean="0">
                <a:solidFill>
                  <a:srgbClr val="C00000"/>
                </a:solidFill>
                <a:latin typeface="+mj-lt"/>
              </a:rPr>
              <a:t>effective fallback position</a:t>
            </a:r>
            <a:r>
              <a:rPr lang="en-US" sz="2000" dirty="0" smtClean="0">
                <a:latin typeface="+mj-lt"/>
              </a:rPr>
              <a:t> that tends to maximize the extent of early work that is salvageable and preserved.</a:t>
            </a:r>
            <a:endParaRPr lang="en-US" sz="2000" dirty="0">
              <a:latin typeface="+mj-lt"/>
            </a:endParaRPr>
          </a:p>
        </p:txBody>
      </p:sp>
      <p:cxnSp>
        <p:nvCxnSpPr>
          <p:cNvPr id="7" name="Straight Arrow Connector 6"/>
          <p:cNvCxnSpPr/>
          <p:nvPr/>
        </p:nvCxnSpPr>
        <p:spPr>
          <a:xfrm>
            <a:off x="685800" y="2209800"/>
            <a:ext cx="6400800" cy="3810000"/>
          </a:xfrm>
          <a:prstGeom prst="straightConnector1">
            <a:avLst/>
          </a:prstGeom>
          <a:ln w="76200">
            <a:tailEnd type="arrow"/>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4114800" y="6096000"/>
            <a:ext cx="4876800" cy="646331"/>
          </a:xfrm>
          <a:prstGeom prst="rect">
            <a:avLst/>
          </a:prstGeom>
          <a:solidFill>
            <a:schemeClr val="accent4"/>
          </a:solidFill>
        </p:spPr>
        <p:txBody>
          <a:bodyPr wrap="square">
            <a:spAutoFit/>
          </a:bodyPr>
          <a:lstStyle/>
          <a:p>
            <a:pPr algn="ctr"/>
            <a:r>
              <a:rPr lang="en-US" dirty="0" smtClean="0">
                <a:solidFill>
                  <a:schemeClr val="bg1"/>
                </a:solidFill>
                <a:latin typeface="+mj-lt"/>
              </a:rPr>
              <a:t>Hopefully, the iterative interaction between the various phases is confined to successive steps.</a:t>
            </a:r>
            <a:endParaRPr lang="en-US" dirty="0">
              <a:solidFill>
                <a:schemeClr val="bg1"/>
              </a:solidFill>
              <a:latin typeface="+mj-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Development Risk</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828675" y="1809750"/>
            <a:ext cx="7486650" cy="4514850"/>
          </a:xfrm>
          <a:prstGeom prst="rect">
            <a:avLst/>
          </a:prstGeom>
          <a:noFill/>
          <a:ln w="9525">
            <a:noFill/>
            <a:miter lim="800000"/>
            <a:headEnd/>
            <a:tailEnd/>
          </a:ln>
        </p:spPr>
      </p:pic>
      <p:sp>
        <p:nvSpPr>
          <p:cNvPr id="7" name="Oval 6"/>
          <p:cNvSpPr/>
          <p:nvPr/>
        </p:nvSpPr>
        <p:spPr>
          <a:xfrm>
            <a:off x="1600200" y="2209800"/>
            <a:ext cx="1676400" cy="1066800"/>
          </a:xfrm>
          <a:prstGeom prst="ellipse">
            <a:avLst/>
          </a:prstGeom>
          <a:noFill/>
          <a:ln w="762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3733800" y="3581400"/>
            <a:ext cx="1676400" cy="1066800"/>
          </a:xfrm>
          <a:prstGeom prst="ellipse">
            <a:avLst/>
          </a:prstGeom>
          <a:noFill/>
          <a:ln w="762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5791200" y="4800600"/>
            <a:ext cx="1676400" cy="1066800"/>
          </a:xfrm>
          <a:prstGeom prst="ellipse">
            <a:avLst/>
          </a:prstGeom>
          <a:noFill/>
          <a:ln w="762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2362200" y="5791200"/>
            <a:ext cx="3505200" cy="769441"/>
          </a:xfrm>
          <a:prstGeom prst="rect">
            <a:avLst/>
          </a:prstGeom>
          <a:solidFill>
            <a:schemeClr val="accent2"/>
          </a:solidFill>
        </p:spPr>
        <p:txBody>
          <a:bodyPr wrap="square">
            <a:spAutoFit/>
          </a:bodyPr>
          <a:lstStyle/>
          <a:p>
            <a:pPr algn="r"/>
            <a:r>
              <a:rPr lang="en-US" sz="2200" dirty="0" smtClean="0">
                <a:solidFill>
                  <a:schemeClr val="bg1"/>
                </a:solidFill>
                <a:latin typeface="+mj-lt"/>
              </a:rPr>
              <a:t>System fails to satisfy the various external constraints</a:t>
            </a:r>
            <a:endParaRPr lang="en-US" sz="2200" dirty="0">
              <a:solidFill>
                <a:schemeClr val="bg1"/>
              </a:solidFill>
              <a:latin typeface="+mj-lt"/>
            </a:endParaRPr>
          </a:p>
        </p:txBody>
      </p:sp>
      <p:sp>
        <p:nvSpPr>
          <p:cNvPr id="11" name="Rectangle 10"/>
          <p:cNvSpPr/>
          <p:nvPr/>
        </p:nvSpPr>
        <p:spPr>
          <a:xfrm>
            <a:off x="5410200" y="3352800"/>
            <a:ext cx="3505200" cy="430887"/>
          </a:xfrm>
          <a:prstGeom prst="rect">
            <a:avLst/>
          </a:prstGeom>
          <a:solidFill>
            <a:schemeClr val="accent2"/>
          </a:solidFill>
        </p:spPr>
        <p:txBody>
          <a:bodyPr wrap="square">
            <a:spAutoFit/>
          </a:bodyPr>
          <a:lstStyle/>
          <a:p>
            <a:pPr algn="r"/>
            <a:r>
              <a:rPr lang="en-US" sz="2200" dirty="0" smtClean="0">
                <a:solidFill>
                  <a:schemeClr val="bg1"/>
                </a:solidFill>
                <a:latin typeface="+mj-lt"/>
              </a:rPr>
              <a:t>A major redesign is required</a:t>
            </a:r>
            <a:endParaRPr lang="en-US" sz="2200" dirty="0">
              <a:solidFill>
                <a:schemeClr val="bg1"/>
              </a:solidFill>
              <a:latin typeface="+mj-lt"/>
            </a:endParaRPr>
          </a:p>
        </p:txBody>
      </p:sp>
      <p:sp>
        <p:nvSpPr>
          <p:cNvPr id="13" name="Rectangle 12"/>
          <p:cNvSpPr/>
          <p:nvPr/>
        </p:nvSpPr>
        <p:spPr>
          <a:xfrm>
            <a:off x="3276600" y="2083713"/>
            <a:ext cx="3886200" cy="430887"/>
          </a:xfrm>
          <a:prstGeom prst="rect">
            <a:avLst/>
          </a:prstGeom>
          <a:solidFill>
            <a:schemeClr val="accent2"/>
          </a:solidFill>
        </p:spPr>
        <p:txBody>
          <a:bodyPr wrap="square">
            <a:spAutoFit/>
          </a:bodyPr>
          <a:lstStyle/>
          <a:p>
            <a:r>
              <a:rPr lang="en-US" sz="2200" dirty="0" smtClean="0">
                <a:solidFill>
                  <a:schemeClr val="bg1"/>
                </a:solidFill>
                <a:latin typeface="+mj-lt"/>
              </a:rPr>
              <a:t>Requirements must be modified</a:t>
            </a:r>
            <a:endParaRPr lang="en-US" sz="2200" dirty="0">
              <a:solidFill>
                <a:schemeClr val="bg1"/>
              </a:solidFill>
              <a:latin typeface="+mj-lt"/>
            </a:endParaRPr>
          </a:p>
        </p:txBody>
      </p:sp>
      <p:sp>
        <p:nvSpPr>
          <p:cNvPr id="14" name="Rectangle 13"/>
          <p:cNvSpPr/>
          <p:nvPr/>
        </p:nvSpPr>
        <p:spPr>
          <a:xfrm>
            <a:off x="2286000" y="1219200"/>
            <a:ext cx="6553200" cy="769441"/>
          </a:xfrm>
          <a:prstGeom prst="rect">
            <a:avLst/>
          </a:prstGeom>
          <a:noFill/>
        </p:spPr>
        <p:txBody>
          <a:bodyPr wrap="square">
            <a:spAutoFit/>
          </a:bodyPr>
          <a:lstStyle/>
          <a:p>
            <a:pPr algn="ctr"/>
            <a:r>
              <a:rPr lang="en-US" sz="2200" i="1" dirty="0" smtClean="0">
                <a:solidFill>
                  <a:srgbClr val="C00000"/>
                </a:solidFill>
                <a:latin typeface="+mj-lt"/>
              </a:rPr>
              <a:t>Unfortunately</a:t>
            </a:r>
            <a:r>
              <a:rPr lang="en-US" sz="2200" dirty="0" smtClean="0">
                <a:latin typeface="+mj-lt"/>
              </a:rPr>
              <a:t>, the design iterations are </a:t>
            </a:r>
            <a:r>
              <a:rPr lang="en-US" sz="2200" i="1" dirty="0" smtClean="0">
                <a:solidFill>
                  <a:srgbClr val="C00000"/>
                </a:solidFill>
                <a:latin typeface="+mj-lt"/>
              </a:rPr>
              <a:t>never confined</a:t>
            </a:r>
            <a:r>
              <a:rPr lang="en-US" sz="2200" dirty="0" smtClean="0">
                <a:latin typeface="+mj-lt"/>
              </a:rPr>
              <a:t> to the successive steps</a:t>
            </a:r>
            <a:endParaRPr lang="en-US" sz="2200" dirty="0">
              <a:latin typeface="+mj-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Preliminary Program Design</a:t>
            </a:r>
            <a:endParaRPr lang="en-US" dirty="0"/>
          </a:p>
        </p:txBody>
      </p:sp>
      <p:pic>
        <p:nvPicPr>
          <p:cNvPr id="1028" name="Picture 4"/>
          <p:cNvPicPr>
            <a:picLocks noChangeAspect="1" noChangeArrowheads="1"/>
          </p:cNvPicPr>
          <p:nvPr/>
        </p:nvPicPr>
        <p:blipFill>
          <a:blip r:embed="rId2" cstate="print"/>
          <a:srcRect/>
          <a:stretch>
            <a:fillRect/>
          </a:stretch>
        </p:blipFill>
        <p:spPr bwMode="auto">
          <a:xfrm>
            <a:off x="1495425" y="1695450"/>
            <a:ext cx="7191375" cy="4781550"/>
          </a:xfrm>
          <a:prstGeom prst="rect">
            <a:avLst/>
          </a:prstGeom>
          <a:noFill/>
          <a:ln w="9525">
            <a:noFill/>
            <a:miter lim="800000"/>
            <a:headEnd/>
            <a:tailEnd/>
          </a:ln>
        </p:spPr>
      </p:pic>
      <p:sp>
        <p:nvSpPr>
          <p:cNvPr id="7" name="Rectangle 6"/>
          <p:cNvSpPr/>
          <p:nvPr/>
        </p:nvSpPr>
        <p:spPr>
          <a:xfrm>
            <a:off x="5105400" y="1371600"/>
            <a:ext cx="3810000" cy="2462213"/>
          </a:xfrm>
          <a:prstGeom prst="rect">
            <a:avLst/>
          </a:prstGeom>
        </p:spPr>
        <p:txBody>
          <a:bodyPr wrap="square">
            <a:spAutoFit/>
          </a:bodyPr>
          <a:lstStyle/>
          <a:p>
            <a:pPr algn="r"/>
            <a:r>
              <a:rPr lang="en-US" sz="2200" dirty="0" smtClean="0">
                <a:latin typeface="+mj-lt"/>
              </a:rPr>
              <a:t>As the analysis proceeds in the succeeding phase the program designer must impose on the analyst the storage, timing, and operational </a:t>
            </a:r>
            <a:r>
              <a:rPr lang="en-US" sz="2200" i="1" dirty="0" smtClean="0">
                <a:solidFill>
                  <a:srgbClr val="C00000"/>
                </a:solidFill>
                <a:latin typeface="+mj-lt"/>
              </a:rPr>
              <a:t>constraints</a:t>
            </a:r>
            <a:r>
              <a:rPr lang="en-US" sz="2200" dirty="0" smtClean="0">
                <a:latin typeface="+mj-lt"/>
              </a:rPr>
              <a:t> in such a way that he senses the consequences.</a:t>
            </a:r>
            <a:endParaRPr lang="en-US" sz="2200" dirty="0">
              <a:latin typeface="+mj-lt"/>
            </a:endParaRPr>
          </a:p>
        </p:txBody>
      </p:sp>
      <p:sp>
        <p:nvSpPr>
          <p:cNvPr id="8" name="Rectangle 7"/>
          <p:cNvSpPr/>
          <p:nvPr/>
        </p:nvSpPr>
        <p:spPr>
          <a:xfrm>
            <a:off x="76200" y="1371600"/>
            <a:ext cx="2209800" cy="3170099"/>
          </a:xfrm>
          <a:prstGeom prst="rect">
            <a:avLst/>
          </a:prstGeom>
        </p:spPr>
        <p:txBody>
          <a:bodyPr wrap="square">
            <a:spAutoFit/>
          </a:bodyPr>
          <a:lstStyle/>
          <a:p>
            <a:r>
              <a:rPr lang="en-US" sz="2000" dirty="0" smtClean="0">
                <a:latin typeface="+mj-lt"/>
              </a:rPr>
              <a:t>If something wrong is recognized at this earlier stage, the iteration with requirements and preliminary design can be </a:t>
            </a:r>
            <a:r>
              <a:rPr lang="en-US" sz="2000" i="1" dirty="0" smtClean="0">
                <a:solidFill>
                  <a:srgbClr val="C00000"/>
                </a:solidFill>
                <a:latin typeface="+mj-lt"/>
              </a:rPr>
              <a:t>redone</a:t>
            </a:r>
            <a:r>
              <a:rPr lang="en-US" sz="2000" i="1" dirty="0" smtClean="0">
                <a:solidFill>
                  <a:schemeClr val="accent2"/>
                </a:solidFill>
                <a:latin typeface="+mj-lt"/>
              </a:rPr>
              <a:t> </a:t>
            </a:r>
            <a:r>
              <a:rPr lang="en-US" sz="2000" dirty="0" smtClean="0">
                <a:latin typeface="+mj-lt"/>
              </a:rPr>
              <a:t>before final design, coding and test commences.</a:t>
            </a:r>
            <a:endParaRPr lang="en-US" sz="2000" dirty="0">
              <a:latin typeface="+mj-lt"/>
            </a:endParaRPr>
          </a:p>
        </p:txBody>
      </p:sp>
      <p:sp>
        <p:nvSpPr>
          <p:cNvPr id="9" name="Rectangle 8"/>
          <p:cNvSpPr/>
          <p:nvPr/>
        </p:nvSpPr>
        <p:spPr>
          <a:xfrm>
            <a:off x="457200" y="6336268"/>
            <a:ext cx="7315200" cy="369332"/>
          </a:xfrm>
          <a:prstGeom prst="rect">
            <a:avLst/>
          </a:prstGeom>
          <a:solidFill>
            <a:schemeClr val="tx2"/>
          </a:solidFill>
        </p:spPr>
        <p:txBody>
          <a:bodyPr wrap="square">
            <a:spAutoFit/>
          </a:bodyPr>
          <a:lstStyle/>
          <a:p>
            <a:pPr algn="ctr"/>
            <a:r>
              <a:rPr lang="en-US" i="1" dirty="0" smtClean="0">
                <a:solidFill>
                  <a:schemeClr val="bg1"/>
                </a:solidFill>
                <a:latin typeface="+mj-lt"/>
              </a:rPr>
              <a:t>Insure that a preliminary program design is complete before analysis begins</a:t>
            </a:r>
            <a:endParaRPr lang="en-US" i="1" dirty="0">
              <a:solidFill>
                <a:schemeClr val="bg1"/>
              </a:solidFill>
              <a:latin typeface="+mj-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Document The Design</a:t>
            </a:r>
            <a:endParaRPr lang="en-US" dirty="0"/>
          </a:p>
        </p:txBody>
      </p:sp>
      <p:pic>
        <p:nvPicPr>
          <p:cNvPr id="2052" name="Picture 4"/>
          <p:cNvPicPr>
            <a:picLocks noChangeAspect="1" noChangeArrowheads="1"/>
          </p:cNvPicPr>
          <p:nvPr/>
        </p:nvPicPr>
        <p:blipFill>
          <a:blip r:embed="rId2" cstate="print"/>
          <a:srcRect/>
          <a:stretch>
            <a:fillRect/>
          </a:stretch>
        </p:blipFill>
        <p:spPr bwMode="auto">
          <a:xfrm>
            <a:off x="1438275" y="1285875"/>
            <a:ext cx="6267450" cy="5419725"/>
          </a:xfrm>
          <a:prstGeom prst="rect">
            <a:avLst/>
          </a:prstGeom>
          <a:noFill/>
          <a:ln w="9525">
            <a:noFill/>
            <a:miter lim="800000"/>
            <a:headEnd/>
            <a:tailEnd/>
          </a:ln>
        </p:spPr>
      </p:pic>
      <p:sp>
        <p:nvSpPr>
          <p:cNvPr id="7" name="Rectangle 6"/>
          <p:cNvSpPr/>
          <p:nvPr/>
        </p:nvSpPr>
        <p:spPr>
          <a:xfrm>
            <a:off x="4724400" y="1219200"/>
            <a:ext cx="4038600" cy="1785104"/>
          </a:xfrm>
          <a:prstGeom prst="rect">
            <a:avLst/>
          </a:prstGeom>
        </p:spPr>
        <p:txBody>
          <a:bodyPr wrap="square">
            <a:spAutoFit/>
          </a:bodyPr>
          <a:lstStyle/>
          <a:p>
            <a:r>
              <a:rPr lang="en-US" sz="2200" dirty="0" smtClean="0">
                <a:latin typeface="+mj-lt"/>
              </a:rPr>
              <a:t>Why so much </a:t>
            </a:r>
            <a:r>
              <a:rPr lang="en-US" sz="2200" i="1" dirty="0" smtClean="0">
                <a:solidFill>
                  <a:srgbClr val="C00000"/>
                </a:solidFill>
                <a:latin typeface="+mj-lt"/>
              </a:rPr>
              <a:t>documentation</a:t>
            </a:r>
            <a:r>
              <a:rPr lang="en-US" sz="2200" dirty="0" smtClean="0">
                <a:latin typeface="+mj-lt"/>
              </a:rPr>
              <a:t>?</a:t>
            </a:r>
          </a:p>
          <a:p>
            <a:pPr marL="457200" indent="-457200">
              <a:buFont typeface="+mj-lt"/>
              <a:buAutoNum type="arabicPeriod"/>
            </a:pPr>
            <a:r>
              <a:rPr lang="en-US" sz="2200" dirty="0" smtClean="0">
                <a:latin typeface="+mj-lt"/>
              </a:rPr>
              <a:t>Communication</a:t>
            </a:r>
          </a:p>
          <a:p>
            <a:pPr marL="457200" indent="-457200">
              <a:buFont typeface="+mj-lt"/>
              <a:buAutoNum type="arabicPeriod"/>
            </a:pPr>
            <a:r>
              <a:rPr lang="en-US" sz="2200" dirty="0" smtClean="0">
                <a:latin typeface="+mj-lt"/>
              </a:rPr>
              <a:t>Quality control</a:t>
            </a:r>
          </a:p>
          <a:p>
            <a:pPr marL="457200" indent="-457200">
              <a:buFont typeface="+mj-lt"/>
              <a:buAutoNum type="arabicPeriod"/>
            </a:pPr>
            <a:r>
              <a:rPr lang="en-US" sz="2200" dirty="0" smtClean="0">
                <a:latin typeface="+mj-lt"/>
              </a:rPr>
              <a:t>All phases activities support</a:t>
            </a:r>
          </a:p>
          <a:p>
            <a:pPr marL="457200" indent="-457200">
              <a:buFont typeface="+mj-lt"/>
              <a:buAutoNum type="arabicPeriod"/>
            </a:pPr>
            <a:r>
              <a:rPr lang="en-US" sz="2200" dirty="0" smtClean="0">
                <a:latin typeface="+mj-lt"/>
              </a:rPr>
              <a:t>Redesign support</a:t>
            </a:r>
          </a:p>
        </p:txBody>
      </p:sp>
      <p:sp>
        <p:nvSpPr>
          <p:cNvPr id="8" name="Rectangle 7"/>
          <p:cNvSpPr/>
          <p:nvPr/>
        </p:nvSpPr>
        <p:spPr>
          <a:xfrm>
            <a:off x="152400" y="5943600"/>
            <a:ext cx="5715000" cy="400110"/>
          </a:xfrm>
          <a:prstGeom prst="rect">
            <a:avLst/>
          </a:prstGeom>
          <a:solidFill>
            <a:schemeClr val="tx2"/>
          </a:solidFill>
        </p:spPr>
        <p:txBody>
          <a:bodyPr wrap="square">
            <a:spAutoFit/>
          </a:bodyPr>
          <a:lstStyle/>
          <a:p>
            <a:pPr algn="ctr"/>
            <a:r>
              <a:rPr lang="en-US" sz="2000" i="1" dirty="0" smtClean="0">
                <a:solidFill>
                  <a:schemeClr val="bg1"/>
                </a:solidFill>
                <a:latin typeface="+mj-lt"/>
              </a:rPr>
              <a:t>Insure that documentation is current and complete</a:t>
            </a:r>
            <a:endParaRPr lang="en-US" sz="2000" i="1" dirty="0">
              <a:solidFill>
                <a:schemeClr val="bg1"/>
              </a:solidFill>
              <a:latin typeface="+mj-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 It Twice</a:t>
            </a:r>
            <a:endParaRPr lang="en-US" dirty="0"/>
          </a:p>
        </p:txBody>
      </p:sp>
      <p:pic>
        <p:nvPicPr>
          <p:cNvPr id="3074" name="Picture 2"/>
          <p:cNvPicPr>
            <a:picLocks noChangeAspect="1" noChangeArrowheads="1"/>
          </p:cNvPicPr>
          <p:nvPr/>
        </p:nvPicPr>
        <p:blipFill>
          <a:blip r:embed="rId2" cstate="print"/>
          <a:srcRect/>
          <a:stretch>
            <a:fillRect/>
          </a:stretch>
        </p:blipFill>
        <p:spPr bwMode="auto">
          <a:xfrm>
            <a:off x="1257300" y="1295400"/>
            <a:ext cx="7581900" cy="5286375"/>
          </a:xfrm>
          <a:prstGeom prst="rect">
            <a:avLst/>
          </a:prstGeom>
          <a:noFill/>
          <a:ln w="9525">
            <a:noFill/>
            <a:miter lim="800000"/>
            <a:headEnd/>
            <a:tailEnd/>
          </a:ln>
        </p:spPr>
      </p:pic>
      <p:sp>
        <p:nvSpPr>
          <p:cNvPr id="5" name="Rectangle 4"/>
          <p:cNvSpPr/>
          <p:nvPr/>
        </p:nvSpPr>
        <p:spPr>
          <a:xfrm>
            <a:off x="4648200" y="1295400"/>
            <a:ext cx="4267200" cy="2123658"/>
          </a:xfrm>
          <a:prstGeom prst="rect">
            <a:avLst/>
          </a:prstGeom>
          <a:solidFill>
            <a:schemeClr val="bg1"/>
          </a:solidFill>
        </p:spPr>
        <p:txBody>
          <a:bodyPr wrap="square">
            <a:spAutoFit/>
          </a:bodyPr>
          <a:lstStyle/>
          <a:p>
            <a:pPr algn="r"/>
            <a:r>
              <a:rPr lang="en-US" sz="2200" dirty="0" smtClean="0">
                <a:latin typeface="+mj-lt"/>
              </a:rPr>
              <a:t>If the computer program in question is being developed for the first time, attempt to do the job </a:t>
            </a:r>
            <a:r>
              <a:rPr lang="en-US" sz="2200" i="1" dirty="0" smtClean="0">
                <a:solidFill>
                  <a:srgbClr val="C00000"/>
                </a:solidFill>
                <a:latin typeface="+mj-lt"/>
              </a:rPr>
              <a:t>twice</a:t>
            </a:r>
            <a:r>
              <a:rPr lang="en-US" sz="2200" dirty="0" smtClean="0">
                <a:latin typeface="+mj-lt"/>
              </a:rPr>
              <a:t> - the first result provides an early </a:t>
            </a:r>
            <a:r>
              <a:rPr lang="en-US" sz="2200" i="1" dirty="0" smtClean="0">
                <a:solidFill>
                  <a:srgbClr val="C00000"/>
                </a:solidFill>
                <a:latin typeface="+mj-lt"/>
              </a:rPr>
              <a:t>simulation</a:t>
            </a:r>
            <a:r>
              <a:rPr lang="en-US" sz="2200" dirty="0" smtClean="0">
                <a:latin typeface="+mj-lt"/>
              </a:rPr>
              <a:t> of the final product.</a:t>
            </a:r>
            <a:endParaRPr lang="en-US" sz="2200" dirty="0">
              <a:latin typeface="+mj-lt"/>
            </a:endParaRPr>
          </a:p>
        </p:txBody>
      </p:sp>
      <p:sp>
        <p:nvSpPr>
          <p:cNvPr id="6" name="Rectangle 5"/>
          <p:cNvSpPr/>
          <p:nvPr/>
        </p:nvSpPr>
        <p:spPr>
          <a:xfrm>
            <a:off x="304800" y="3657600"/>
            <a:ext cx="1676400" cy="2862322"/>
          </a:xfrm>
          <a:prstGeom prst="rect">
            <a:avLst/>
          </a:prstGeom>
        </p:spPr>
        <p:txBody>
          <a:bodyPr wrap="square">
            <a:spAutoFit/>
          </a:bodyPr>
          <a:lstStyle/>
          <a:p>
            <a:r>
              <a:rPr lang="en-US" sz="2000" dirty="0" smtClean="0">
                <a:latin typeface="+mj-lt"/>
              </a:rPr>
              <a:t>This process is done in </a:t>
            </a:r>
            <a:r>
              <a:rPr lang="en-US" sz="2000" i="1" dirty="0" smtClean="0">
                <a:solidFill>
                  <a:srgbClr val="C00000"/>
                </a:solidFill>
                <a:latin typeface="+mj-lt"/>
              </a:rPr>
              <a:t>miniature</a:t>
            </a:r>
            <a:r>
              <a:rPr lang="en-US" sz="2000" dirty="0" smtClean="0">
                <a:latin typeface="+mj-lt"/>
              </a:rPr>
              <a:t>, to a time scale that is relatively small with respect to the overall effort.</a:t>
            </a:r>
            <a:endParaRPr lang="en-US" sz="2000" dirty="0">
              <a:latin typeface="+mj-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Plan, Control and Monitor Testing</a:t>
            </a:r>
            <a:endParaRPr lang="en-US" dirty="0"/>
          </a:p>
        </p:txBody>
      </p:sp>
      <p:pic>
        <p:nvPicPr>
          <p:cNvPr id="4101" name="Picture 5"/>
          <p:cNvPicPr>
            <a:picLocks noChangeAspect="1" noChangeArrowheads="1"/>
          </p:cNvPicPr>
          <p:nvPr/>
        </p:nvPicPr>
        <p:blipFill>
          <a:blip r:embed="rId2" cstate="print"/>
          <a:srcRect/>
          <a:stretch>
            <a:fillRect/>
          </a:stretch>
        </p:blipFill>
        <p:spPr bwMode="auto">
          <a:xfrm>
            <a:off x="338138" y="1885950"/>
            <a:ext cx="8467725" cy="4362450"/>
          </a:xfrm>
          <a:prstGeom prst="rect">
            <a:avLst/>
          </a:prstGeom>
          <a:noFill/>
          <a:ln w="9525">
            <a:noFill/>
            <a:miter lim="800000"/>
            <a:headEnd/>
            <a:tailEnd/>
          </a:ln>
        </p:spPr>
      </p:pic>
      <p:sp>
        <p:nvSpPr>
          <p:cNvPr id="8" name="Rectangle 7"/>
          <p:cNvSpPr/>
          <p:nvPr/>
        </p:nvSpPr>
        <p:spPr>
          <a:xfrm>
            <a:off x="3429000" y="1524000"/>
            <a:ext cx="5486400" cy="769441"/>
          </a:xfrm>
          <a:prstGeom prst="rect">
            <a:avLst/>
          </a:prstGeom>
          <a:noFill/>
        </p:spPr>
        <p:txBody>
          <a:bodyPr wrap="square">
            <a:spAutoFit/>
          </a:bodyPr>
          <a:lstStyle/>
          <a:p>
            <a:pPr algn="ctr"/>
            <a:r>
              <a:rPr lang="en-US" sz="2200" dirty="0" smtClean="0">
                <a:latin typeface="+mj-lt"/>
              </a:rPr>
              <a:t>This step will uncover the majority of </a:t>
            </a:r>
            <a:r>
              <a:rPr lang="en-US" sz="2200" i="1" dirty="0" smtClean="0">
                <a:solidFill>
                  <a:srgbClr val="C00000"/>
                </a:solidFill>
                <a:latin typeface="+mj-lt"/>
              </a:rPr>
              <a:t>coding errors </a:t>
            </a:r>
            <a:r>
              <a:rPr lang="en-US" sz="2200" dirty="0" smtClean="0">
                <a:latin typeface="+mj-lt"/>
              </a:rPr>
              <a:t>although it is difficult for large systems.</a:t>
            </a:r>
          </a:p>
        </p:txBody>
      </p:sp>
      <p:cxnSp>
        <p:nvCxnSpPr>
          <p:cNvPr id="10" name="Straight Arrow Connector 9"/>
          <p:cNvCxnSpPr/>
          <p:nvPr/>
        </p:nvCxnSpPr>
        <p:spPr>
          <a:xfrm flipV="1">
            <a:off x="5943600" y="2286000"/>
            <a:ext cx="457200" cy="1295400"/>
          </a:xfrm>
          <a:prstGeom prst="straightConnector1">
            <a:avLst/>
          </a:prstGeom>
          <a:ln w="76200">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Involve the Customer</a:t>
            </a:r>
            <a:endParaRPr lang="en-US" dirty="0"/>
          </a:p>
        </p:txBody>
      </p:sp>
      <p:pic>
        <p:nvPicPr>
          <p:cNvPr id="5122" name="Picture 2"/>
          <p:cNvPicPr>
            <a:picLocks noChangeAspect="1" noChangeArrowheads="1"/>
          </p:cNvPicPr>
          <p:nvPr/>
        </p:nvPicPr>
        <p:blipFill>
          <a:blip r:embed="rId2" cstate="print"/>
          <a:srcRect/>
          <a:stretch>
            <a:fillRect/>
          </a:stretch>
        </p:blipFill>
        <p:spPr bwMode="auto">
          <a:xfrm>
            <a:off x="804863" y="1219200"/>
            <a:ext cx="7534275" cy="5029200"/>
          </a:xfrm>
          <a:prstGeom prst="rect">
            <a:avLst/>
          </a:prstGeom>
          <a:noFill/>
          <a:ln w="9525">
            <a:noFill/>
            <a:miter lim="800000"/>
            <a:headEnd/>
            <a:tailEnd/>
          </a:ln>
        </p:spPr>
      </p:pic>
      <p:sp>
        <p:nvSpPr>
          <p:cNvPr id="5" name="Rectangle 4"/>
          <p:cNvSpPr/>
          <p:nvPr/>
        </p:nvSpPr>
        <p:spPr>
          <a:xfrm>
            <a:off x="5029200" y="1600200"/>
            <a:ext cx="3810000" cy="1446550"/>
          </a:xfrm>
          <a:prstGeom prst="rect">
            <a:avLst/>
          </a:prstGeom>
        </p:spPr>
        <p:txBody>
          <a:bodyPr wrap="square">
            <a:spAutoFit/>
          </a:bodyPr>
          <a:lstStyle/>
          <a:p>
            <a:r>
              <a:rPr lang="en-US" sz="2200" dirty="0" smtClean="0">
                <a:latin typeface="+mj-lt"/>
              </a:rPr>
              <a:t>To give the contractor </a:t>
            </a:r>
            <a:r>
              <a:rPr lang="en-US" sz="2200" i="1" dirty="0" smtClean="0">
                <a:solidFill>
                  <a:srgbClr val="C00000"/>
                </a:solidFill>
                <a:latin typeface="+mj-lt"/>
              </a:rPr>
              <a:t>free rein</a:t>
            </a:r>
            <a:r>
              <a:rPr lang="en-US" sz="2200" i="1" dirty="0" smtClean="0">
                <a:solidFill>
                  <a:schemeClr val="accent2"/>
                </a:solidFill>
                <a:latin typeface="+mj-lt"/>
              </a:rPr>
              <a:t> </a:t>
            </a:r>
            <a:r>
              <a:rPr lang="en-US" sz="2200" dirty="0" smtClean="0">
                <a:latin typeface="+mj-lt"/>
              </a:rPr>
              <a:t>between requirement definition and operation is inviting trouble.</a:t>
            </a:r>
          </a:p>
        </p:txBody>
      </p:sp>
      <p:sp>
        <p:nvSpPr>
          <p:cNvPr id="7" name="Rectangle 6"/>
          <p:cNvSpPr/>
          <p:nvPr/>
        </p:nvSpPr>
        <p:spPr>
          <a:xfrm>
            <a:off x="381000" y="3200400"/>
            <a:ext cx="3200400" cy="1446550"/>
          </a:xfrm>
          <a:prstGeom prst="rect">
            <a:avLst/>
          </a:prstGeom>
        </p:spPr>
        <p:txBody>
          <a:bodyPr wrap="square">
            <a:spAutoFit/>
          </a:bodyPr>
          <a:lstStyle/>
          <a:p>
            <a:r>
              <a:rPr lang="en-US" sz="2200" dirty="0" smtClean="0">
                <a:latin typeface="+mj-lt"/>
              </a:rPr>
              <a:t>The insight, </a:t>
            </a:r>
            <a:r>
              <a:rPr lang="en-US" sz="2200" i="1" dirty="0" smtClean="0">
                <a:solidFill>
                  <a:srgbClr val="C00000"/>
                </a:solidFill>
                <a:latin typeface="+mj-lt"/>
              </a:rPr>
              <a:t>judgment, and commitment</a:t>
            </a:r>
            <a:r>
              <a:rPr lang="en-US" sz="2200" dirty="0" smtClean="0">
                <a:latin typeface="+mj-lt"/>
              </a:rPr>
              <a:t> of the customer can bolster the development effort.</a:t>
            </a:r>
            <a:endParaRPr lang="en-US" sz="2200" dirty="0">
              <a:latin typeface="+mj-lt"/>
            </a:endParaRPr>
          </a:p>
        </p:txBody>
      </p:sp>
      <p:sp>
        <p:nvSpPr>
          <p:cNvPr id="8" name="Rectangle 7"/>
          <p:cNvSpPr/>
          <p:nvPr/>
        </p:nvSpPr>
        <p:spPr>
          <a:xfrm>
            <a:off x="762000" y="6324600"/>
            <a:ext cx="6553200" cy="400110"/>
          </a:xfrm>
          <a:prstGeom prst="rect">
            <a:avLst/>
          </a:prstGeom>
          <a:solidFill>
            <a:schemeClr val="tx2"/>
          </a:solidFill>
        </p:spPr>
        <p:txBody>
          <a:bodyPr wrap="square">
            <a:spAutoFit/>
          </a:bodyPr>
          <a:lstStyle/>
          <a:p>
            <a:pPr algn="ctr"/>
            <a:r>
              <a:rPr lang="en-US" sz="2000" i="1" dirty="0" smtClean="0">
                <a:solidFill>
                  <a:schemeClr val="bg1"/>
                </a:solidFill>
                <a:latin typeface="+mj-lt"/>
              </a:rPr>
              <a:t>The involvement should be formal, in-depth and continuing.</a:t>
            </a:r>
            <a:endParaRPr lang="en-US" sz="2000" i="1" dirty="0">
              <a:solidFill>
                <a:schemeClr val="bg1"/>
              </a:solidFill>
              <a:latin typeface="+mj-l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Managing the Development of </a:t>
            </a:r>
            <a:r>
              <a:rPr lang="en-US" i="1" u="sng" dirty="0" smtClean="0">
                <a:solidFill>
                  <a:srgbClr val="C00000"/>
                </a:solidFill>
              </a:rPr>
              <a:t>Large</a:t>
            </a:r>
            <a:r>
              <a:rPr lang="en-US" dirty="0" smtClean="0"/>
              <a:t> Software Systems</a:t>
            </a:r>
            <a:endParaRPr lang="en-US" dirty="0"/>
          </a:p>
        </p:txBody>
      </p:sp>
      <p:pic>
        <p:nvPicPr>
          <p:cNvPr id="6149" name="Picture 5"/>
          <p:cNvPicPr>
            <a:picLocks noChangeAspect="1" noChangeArrowheads="1"/>
          </p:cNvPicPr>
          <p:nvPr/>
        </p:nvPicPr>
        <p:blipFill>
          <a:blip r:embed="rId2" cstate="print"/>
          <a:srcRect/>
          <a:stretch>
            <a:fillRect/>
          </a:stretch>
        </p:blipFill>
        <p:spPr bwMode="auto">
          <a:xfrm>
            <a:off x="104775" y="1685925"/>
            <a:ext cx="8934450" cy="4943475"/>
          </a:xfrm>
          <a:prstGeom prst="rect">
            <a:avLst/>
          </a:prstGeom>
          <a:noFill/>
          <a:ln w="9525">
            <a:noFill/>
            <a:miter lim="800000"/>
            <a:headEnd/>
            <a:tailEnd/>
          </a:ln>
        </p:spPr>
      </p:pic>
      <p:sp>
        <p:nvSpPr>
          <p:cNvPr id="8" name="Rectangle 7"/>
          <p:cNvSpPr/>
          <p:nvPr/>
        </p:nvSpPr>
        <p:spPr>
          <a:xfrm>
            <a:off x="7391400" y="2895600"/>
            <a:ext cx="1524000" cy="1169551"/>
          </a:xfrm>
          <a:prstGeom prst="rect">
            <a:avLst/>
          </a:prstGeom>
        </p:spPr>
        <p:txBody>
          <a:bodyPr wrap="square">
            <a:spAutoFit/>
          </a:bodyPr>
          <a:lstStyle/>
          <a:p>
            <a:pPr algn="ctr"/>
            <a:r>
              <a:rPr lang="en-US" sz="1000" dirty="0" smtClean="0">
                <a:latin typeface="+mj-lt"/>
              </a:rPr>
              <a:t>If the relatively simpler process without the five complexities described here would work successfully, then of course the </a:t>
            </a:r>
            <a:r>
              <a:rPr lang="en-US" sz="1000" b="1" dirty="0" smtClean="0">
                <a:solidFill>
                  <a:srgbClr val="C00000"/>
                </a:solidFill>
                <a:latin typeface="+mj-lt"/>
              </a:rPr>
              <a:t>additional money</a:t>
            </a:r>
            <a:r>
              <a:rPr lang="en-US" sz="1000" dirty="0" smtClean="0">
                <a:latin typeface="+mj-lt"/>
              </a:rPr>
              <a:t> is not well spent.</a:t>
            </a:r>
            <a:endParaRPr lang="en-US" sz="1000" dirty="0">
              <a:latin typeface="+mj-lt"/>
            </a:endParaRPr>
          </a:p>
        </p:txBody>
      </p:sp>
      <p:sp>
        <p:nvSpPr>
          <p:cNvPr id="9" name="Rectangle 8"/>
          <p:cNvSpPr/>
          <p:nvPr/>
        </p:nvSpPr>
        <p:spPr>
          <a:xfrm>
            <a:off x="76200" y="5581471"/>
            <a:ext cx="2133600" cy="1200329"/>
          </a:xfrm>
          <a:prstGeom prst="rect">
            <a:avLst/>
          </a:prstGeom>
        </p:spPr>
        <p:txBody>
          <a:bodyPr wrap="square">
            <a:spAutoFit/>
          </a:bodyPr>
          <a:lstStyle/>
          <a:p>
            <a:r>
              <a:rPr lang="en-US" sz="1200" dirty="0" smtClean="0">
                <a:latin typeface="+mj-lt"/>
              </a:rPr>
              <a:t>The simpler method has </a:t>
            </a:r>
            <a:r>
              <a:rPr lang="en-US" sz="1200" b="1" dirty="0" smtClean="0">
                <a:solidFill>
                  <a:srgbClr val="C00000"/>
                </a:solidFill>
                <a:latin typeface="+mj-lt"/>
              </a:rPr>
              <a:t>never worked</a:t>
            </a:r>
            <a:r>
              <a:rPr lang="en-US" sz="1200" b="1" dirty="0" smtClean="0">
                <a:solidFill>
                  <a:schemeClr val="accent2"/>
                </a:solidFill>
                <a:latin typeface="+mj-lt"/>
              </a:rPr>
              <a:t> </a:t>
            </a:r>
            <a:r>
              <a:rPr lang="en-US" sz="1200" dirty="0" smtClean="0">
                <a:latin typeface="+mj-lt"/>
              </a:rPr>
              <a:t>on large software development efforts and the costs to recover far exceeded those required to finance the five-step process listed.</a:t>
            </a:r>
            <a:endParaRPr lang="en-US" sz="1200" dirty="0">
              <a:latin typeface="+mj-l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(Winston Royce’s) Waterfall Model</a:t>
            </a:r>
            <a:endParaRPr lang="en-US" dirty="0"/>
          </a:p>
        </p:txBody>
      </p:sp>
      <p:sp>
        <p:nvSpPr>
          <p:cNvPr id="3" name="Content Placeholder 2"/>
          <p:cNvSpPr>
            <a:spLocks noGrp="1"/>
          </p:cNvSpPr>
          <p:nvPr>
            <p:ph idx="1"/>
          </p:nvPr>
        </p:nvSpPr>
        <p:spPr>
          <a:xfrm>
            <a:off x="228600" y="1600200"/>
            <a:ext cx="6781800" cy="4525963"/>
          </a:xfrm>
        </p:spPr>
        <p:txBody>
          <a:bodyPr/>
          <a:lstStyle/>
          <a:p>
            <a:r>
              <a:rPr lang="en-US" sz="2400" dirty="0" smtClean="0"/>
              <a:t>The (Winston Royce’s) </a:t>
            </a:r>
            <a:r>
              <a:rPr lang="en-US" sz="2400" i="1" dirty="0" smtClean="0">
                <a:solidFill>
                  <a:srgbClr val="C00000"/>
                </a:solidFill>
              </a:rPr>
              <a:t>successful waterfall model</a:t>
            </a:r>
            <a:r>
              <a:rPr lang="en-US" sz="2400" dirty="0" smtClean="0"/>
              <a:t> is a SDLC model that has the following characteristics:</a:t>
            </a:r>
          </a:p>
          <a:p>
            <a:pPr lvl="1"/>
            <a:r>
              <a:rPr lang="en-US" sz="2000" dirty="0" smtClean="0"/>
              <a:t>It consists of definite phases that are </a:t>
            </a:r>
            <a:r>
              <a:rPr lang="en-US" sz="2000" i="1" dirty="0" smtClean="0">
                <a:solidFill>
                  <a:srgbClr val="C00000"/>
                </a:solidFill>
              </a:rPr>
              <a:t>executed in sequence</a:t>
            </a:r>
            <a:r>
              <a:rPr lang="en-US" sz="2000" dirty="0" smtClean="0"/>
              <a:t>.</a:t>
            </a:r>
          </a:p>
          <a:p>
            <a:pPr lvl="1"/>
            <a:r>
              <a:rPr lang="en-US" sz="2000" dirty="0" smtClean="0"/>
              <a:t>There are </a:t>
            </a:r>
            <a:r>
              <a:rPr lang="en-US" sz="2000" i="1" dirty="0" smtClean="0">
                <a:solidFill>
                  <a:srgbClr val="C00000"/>
                </a:solidFill>
              </a:rPr>
              <a:t>tangible deliverables produced</a:t>
            </a:r>
            <a:r>
              <a:rPr lang="en-US" sz="2000" dirty="0" smtClean="0"/>
              <a:t> at the end of each phase.</a:t>
            </a:r>
          </a:p>
          <a:p>
            <a:pPr lvl="1"/>
            <a:r>
              <a:rPr lang="en-US" sz="2000" dirty="0" smtClean="0"/>
              <a:t>The phases </a:t>
            </a:r>
            <a:r>
              <a:rPr lang="en-US" sz="2000" i="1" dirty="0" smtClean="0">
                <a:solidFill>
                  <a:srgbClr val="C00000"/>
                </a:solidFill>
              </a:rPr>
              <a:t>be revisited</a:t>
            </a:r>
            <a:r>
              <a:rPr lang="en-US" sz="2000" dirty="0" smtClean="0"/>
              <a:t> but the overall cycle is completely executed no more than </a:t>
            </a:r>
            <a:r>
              <a:rPr lang="en-US" sz="2000" i="1" dirty="0" smtClean="0">
                <a:solidFill>
                  <a:srgbClr val="C00000"/>
                </a:solidFill>
              </a:rPr>
              <a:t>2 times</a:t>
            </a:r>
            <a:r>
              <a:rPr lang="en-US" sz="2000" dirty="0" smtClean="0"/>
              <a:t>. If executed more than once, the first cycle is for a simulation.</a:t>
            </a:r>
          </a:p>
          <a:p>
            <a:pPr lvl="1"/>
            <a:r>
              <a:rPr lang="en-US" sz="2000" dirty="0" smtClean="0"/>
              <a:t>Once design begins, a formal </a:t>
            </a:r>
            <a:r>
              <a:rPr lang="en-US" sz="2000" i="1" dirty="0" smtClean="0">
                <a:solidFill>
                  <a:srgbClr val="C00000"/>
                </a:solidFill>
              </a:rPr>
              <a:t>change-control process</a:t>
            </a:r>
            <a:r>
              <a:rPr lang="en-US" sz="2000" dirty="0" smtClean="0"/>
              <a:t> is used.</a:t>
            </a:r>
          </a:p>
          <a:p>
            <a:pPr lvl="1"/>
            <a:r>
              <a:rPr lang="en-US" sz="2000" dirty="0" smtClean="0"/>
              <a:t>The process is </a:t>
            </a:r>
            <a:r>
              <a:rPr lang="en-US" sz="2000" i="1" dirty="0" smtClean="0">
                <a:solidFill>
                  <a:srgbClr val="C00000"/>
                </a:solidFill>
              </a:rPr>
              <a:t>document-driven</a:t>
            </a:r>
            <a:r>
              <a:rPr lang="en-US" sz="2000" dirty="0" smtClean="0"/>
              <a:t>.</a:t>
            </a:r>
          </a:p>
        </p:txBody>
      </p:sp>
      <p:pic>
        <p:nvPicPr>
          <p:cNvPr id="7" name="Picture 2"/>
          <p:cNvPicPr>
            <a:picLocks noChangeAspect="1" noChangeArrowheads="1"/>
          </p:cNvPicPr>
          <p:nvPr/>
        </p:nvPicPr>
        <p:blipFill>
          <a:blip r:embed="rId2" cstate="print"/>
          <a:srcRect/>
          <a:stretch>
            <a:fillRect/>
          </a:stretch>
        </p:blipFill>
        <p:spPr bwMode="auto">
          <a:xfrm>
            <a:off x="7239000" y="3657600"/>
            <a:ext cx="1657350" cy="2752725"/>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2" cstate="print"/>
          <a:srcRect/>
          <a:stretch>
            <a:fillRect/>
          </a:stretch>
        </p:blipFill>
        <p:spPr bwMode="auto">
          <a:xfrm>
            <a:off x="5562600" y="1066800"/>
            <a:ext cx="2857500" cy="2857500"/>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smtClean="0"/>
              <a:t>Waterfall Model Pros &amp; Cons</a:t>
            </a:r>
            <a:endParaRPr lang="en-US" dirty="0"/>
          </a:p>
        </p:txBody>
      </p:sp>
      <p:sp>
        <p:nvSpPr>
          <p:cNvPr id="6" name="Rectangle 5"/>
          <p:cNvSpPr/>
          <p:nvPr/>
        </p:nvSpPr>
        <p:spPr>
          <a:xfrm>
            <a:off x="304800" y="3429000"/>
            <a:ext cx="8610600" cy="3139321"/>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marL="457200" indent="-457200">
              <a:buFont typeface="Arial" pitchFamily="34" charset="0"/>
              <a:buChar char="•"/>
            </a:pPr>
            <a:r>
              <a:rPr lang="en-US" sz="2200" dirty="0" smtClean="0">
                <a:latin typeface="+mj-lt"/>
              </a:rPr>
              <a:t>Its emphasis on </a:t>
            </a:r>
            <a:r>
              <a:rPr lang="en-US" sz="2200" i="1" dirty="0" smtClean="0">
                <a:solidFill>
                  <a:srgbClr val="C00000"/>
                </a:solidFill>
                <a:latin typeface="+mj-lt"/>
              </a:rPr>
              <a:t>fully elaborated documents</a:t>
            </a:r>
            <a:r>
              <a:rPr lang="en-US" sz="2200" dirty="0" smtClean="0">
                <a:latin typeface="+mj-lt"/>
              </a:rPr>
              <a:t> as completion criteria for early requirements and design phases. </a:t>
            </a:r>
          </a:p>
          <a:p>
            <a:pPr marL="457200" indent="-457200">
              <a:buFont typeface="Arial" pitchFamily="34" charset="0"/>
              <a:buChar char="•"/>
            </a:pPr>
            <a:r>
              <a:rPr lang="en-US" sz="2200" dirty="0" smtClean="0">
                <a:latin typeface="+mj-lt"/>
              </a:rPr>
              <a:t>Document-driven standards have pushed many projects to write </a:t>
            </a:r>
            <a:r>
              <a:rPr lang="en-US" sz="2200" i="1" dirty="0" smtClean="0">
                <a:solidFill>
                  <a:srgbClr val="C00000"/>
                </a:solidFill>
                <a:latin typeface="+mj-lt"/>
              </a:rPr>
              <a:t>elaborate specifications</a:t>
            </a:r>
            <a:r>
              <a:rPr lang="en-US" sz="2200" dirty="0" smtClean="0">
                <a:latin typeface="+mj-lt"/>
              </a:rPr>
              <a:t> of poorly understood user interfaces and decision support functions, followed by the design and development of </a:t>
            </a:r>
            <a:r>
              <a:rPr lang="en-US" sz="2200" i="1" dirty="0" smtClean="0">
                <a:solidFill>
                  <a:srgbClr val="C00000"/>
                </a:solidFill>
                <a:latin typeface="+mj-lt"/>
              </a:rPr>
              <a:t>large quantities of unusable code</a:t>
            </a:r>
            <a:r>
              <a:rPr lang="en-US" sz="2200" dirty="0" smtClean="0">
                <a:latin typeface="+mj-lt"/>
              </a:rPr>
              <a:t>.</a:t>
            </a:r>
          </a:p>
          <a:p>
            <a:pPr marL="457200" indent="-457200">
              <a:buFont typeface="Arial" pitchFamily="34" charset="0"/>
              <a:buChar char="•"/>
            </a:pPr>
            <a:r>
              <a:rPr lang="en-US" sz="2200" dirty="0" smtClean="0">
                <a:latin typeface="+mj-lt"/>
              </a:rPr>
              <a:t>In real life there is a need to initiate software design and coding, and hardware modeling, earlier in the project cycle to ensure that user requirements are understood and to </a:t>
            </a:r>
            <a:r>
              <a:rPr lang="en-US" sz="2200" i="1" dirty="0" smtClean="0">
                <a:solidFill>
                  <a:srgbClr val="C00000"/>
                </a:solidFill>
                <a:latin typeface="+mj-lt"/>
              </a:rPr>
              <a:t>prove technical feasibility</a:t>
            </a:r>
            <a:r>
              <a:rPr lang="en-US" sz="2200" dirty="0" smtClean="0">
                <a:latin typeface="+mj-lt"/>
              </a:rPr>
              <a:t>.</a:t>
            </a:r>
          </a:p>
        </p:txBody>
      </p:sp>
      <p:sp>
        <p:nvSpPr>
          <p:cNvPr id="7" name="Rectangle 6"/>
          <p:cNvSpPr/>
          <p:nvPr/>
        </p:nvSpPr>
        <p:spPr>
          <a:xfrm>
            <a:off x="381000" y="1371600"/>
            <a:ext cx="5029200" cy="1785104"/>
          </a:xfrm>
          <a:prstGeom prst="rect">
            <a:avLst/>
          </a:prstGeom>
          <a:noFill/>
        </p:spPr>
        <p:txBody>
          <a:bodyPr wrap="square">
            <a:spAutoFit/>
          </a:bodyPr>
          <a:lstStyle/>
          <a:p>
            <a:pPr marL="457200" indent="-457200">
              <a:buFont typeface="Arial" pitchFamily="34" charset="0"/>
              <a:buChar char="•"/>
            </a:pPr>
            <a:r>
              <a:rPr lang="en-US" sz="2200" i="1" dirty="0" smtClean="0">
                <a:solidFill>
                  <a:srgbClr val="C00000"/>
                </a:solidFill>
                <a:latin typeface="+mj-lt"/>
              </a:rPr>
              <a:t>Limit risk</a:t>
            </a:r>
            <a:r>
              <a:rPr lang="en-US" sz="2200" dirty="0" smtClean="0">
                <a:latin typeface="+mj-lt"/>
              </a:rPr>
              <a:t> to an affordable sum.</a:t>
            </a:r>
          </a:p>
          <a:p>
            <a:pPr marL="457200" indent="-457200">
              <a:buFont typeface="Arial" pitchFamily="34" charset="0"/>
              <a:buChar char="•"/>
            </a:pPr>
            <a:r>
              <a:rPr lang="en-US" sz="2200" i="1" dirty="0" smtClean="0">
                <a:solidFill>
                  <a:srgbClr val="C00000"/>
                </a:solidFill>
                <a:latin typeface="+mj-lt"/>
              </a:rPr>
              <a:t>Minimize effort</a:t>
            </a:r>
            <a:r>
              <a:rPr lang="en-US" sz="2200" dirty="0" smtClean="0">
                <a:latin typeface="+mj-lt"/>
              </a:rPr>
              <a:t> spent on unproductive or undesired directions.</a:t>
            </a:r>
          </a:p>
          <a:p>
            <a:pPr marL="457200" indent="-457200">
              <a:buFont typeface="Arial" pitchFamily="34" charset="0"/>
              <a:buChar char="•"/>
            </a:pPr>
            <a:r>
              <a:rPr lang="en-US" sz="2200" dirty="0" smtClean="0">
                <a:latin typeface="+mj-lt"/>
              </a:rPr>
              <a:t>Avoid the possibility of </a:t>
            </a:r>
            <a:r>
              <a:rPr lang="en-US" sz="2200" i="1" dirty="0" smtClean="0">
                <a:solidFill>
                  <a:srgbClr val="C00000"/>
                </a:solidFill>
                <a:latin typeface="+mj-lt"/>
              </a:rPr>
              <a:t>losing control </a:t>
            </a:r>
            <a:r>
              <a:rPr lang="en-US" sz="2200" dirty="0" smtClean="0">
                <a:latin typeface="+mj-lt"/>
              </a:rPr>
              <a:t>of a project.</a:t>
            </a:r>
            <a:endParaRPr lang="en-US" sz="2200" dirty="0">
              <a:latin typeface="+mj-l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p:cNvPicPr>
            <a:picLocks noChangeAspect="1" noChangeArrowheads="1"/>
          </p:cNvPicPr>
          <p:nvPr/>
        </p:nvPicPr>
        <p:blipFill>
          <a:blip r:embed="rId2" cstate="print"/>
          <a:srcRect/>
          <a:stretch>
            <a:fillRect/>
          </a:stretch>
        </p:blipFill>
        <p:spPr bwMode="auto">
          <a:xfrm>
            <a:off x="152400" y="1295400"/>
            <a:ext cx="5715000" cy="4019550"/>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Waterfall with Risk-Reduction [3]</a:t>
            </a:r>
            <a:endParaRPr lang="en-US" dirty="0"/>
          </a:p>
        </p:txBody>
      </p:sp>
      <p:sp>
        <p:nvSpPr>
          <p:cNvPr id="8" name="Cloud Callout 7"/>
          <p:cNvSpPr/>
          <p:nvPr/>
        </p:nvSpPr>
        <p:spPr>
          <a:xfrm>
            <a:off x="4876800" y="1371600"/>
            <a:ext cx="2895600" cy="914400"/>
          </a:xfrm>
          <a:prstGeom prst="cloudCallout">
            <a:avLst>
              <a:gd name="adj1" fmla="val -145342"/>
              <a:gd name="adj2" fmla="val 17790"/>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smtClean="0">
                <a:latin typeface="+mj-lt"/>
              </a:rPr>
              <a:t>Risk Reduction</a:t>
            </a:r>
            <a:endParaRPr lang="en-US" sz="2200" dirty="0">
              <a:latin typeface="+mj-lt"/>
            </a:endParaRPr>
          </a:p>
        </p:txBody>
      </p:sp>
      <p:sp>
        <p:nvSpPr>
          <p:cNvPr id="11" name="Cloud Callout 10"/>
          <p:cNvSpPr/>
          <p:nvPr/>
        </p:nvSpPr>
        <p:spPr>
          <a:xfrm>
            <a:off x="5791200" y="2286000"/>
            <a:ext cx="3136900" cy="914400"/>
          </a:xfrm>
          <a:prstGeom prst="cloudCallout">
            <a:avLst>
              <a:gd name="adj1" fmla="val -136385"/>
              <a:gd name="adj2" fmla="val -7583"/>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smtClean="0">
                <a:latin typeface="+mj-lt"/>
              </a:rPr>
              <a:t>Risk Reduction</a:t>
            </a:r>
            <a:endParaRPr lang="en-US" sz="2200" dirty="0">
              <a:latin typeface="+mj-lt"/>
            </a:endParaRPr>
          </a:p>
        </p:txBody>
      </p:sp>
      <p:sp>
        <p:nvSpPr>
          <p:cNvPr id="4" name="Rectangle 3"/>
          <p:cNvSpPr/>
          <p:nvPr/>
        </p:nvSpPr>
        <p:spPr>
          <a:xfrm>
            <a:off x="609600" y="5486400"/>
            <a:ext cx="3581400" cy="461665"/>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gn="ctr"/>
            <a:r>
              <a:rPr lang="en-US" sz="2400" dirty="0" smtClean="0">
                <a:latin typeface="+mj-lt"/>
              </a:rPr>
              <a:t> It requires more effort.</a:t>
            </a:r>
          </a:p>
        </p:txBody>
      </p:sp>
      <p:sp>
        <p:nvSpPr>
          <p:cNvPr id="7" name="TextBox 10"/>
          <p:cNvSpPr txBox="1">
            <a:spLocks noChangeArrowheads="1"/>
          </p:cNvSpPr>
          <p:nvPr/>
        </p:nvSpPr>
        <p:spPr bwMode="auto">
          <a:xfrm>
            <a:off x="6019800" y="3413879"/>
            <a:ext cx="2895600" cy="3139321"/>
          </a:xfrm>
          <a:prstGeom prst="rect">
            <a:avLst/>
          </a:prstGeom>
          <a:noFill/>
          <a:ln w="9525">
            <a:noFill/>
            <a:miter lim="800000"/>
            <a:headEnd/>
            <a:tailEnd/>
          </a:ln>
        </p:spPr>
        <p:txBody>
          <a:bodyPr wrap="square">
            <a:spAutoFit/>
          </a:bodyPr>
          <a:lstStyle/>
          <a:p>
            <a:pPr marL="457200" indent="-457200">
              <a:buFont typeface="+mj-lt"/>
              <a:buAutoNum type="arabicPeriod"/>
            </a:pPr>
            <a:r>
              <a:rPr lang="en-US" sz="2200" dirty="0" smtClean="0">
                <a:latin typeface="+mj-lt"/>
              </a:rPr>
              <a:t>Develop a user-interface prototype</a:t>
            </a:r>
          </a:p>
          <a:p>
            <a:pPr marL="457200" indent="-457200">
              <a:buFont typeface="+mj-lt"/>
              <a:buAutoNum type="arabicPeriod"/>
            </a:pPr>
            <a:r>
              <a:rPr lang="en-US" sz="2200" dirty="0" smtClean="0">
                <a:latin typeface="+mj-lt"/>
              </a:rPr>
              <a:t>Use system storyboarding</a:t>
            </a:r>
          </a:p>
          <a:p>
            <a:pPr marL="457200" indent="-457200">
              <a:buFont typeface="+mj-lt"/>
              <a:buAutoNum type="arabicPeriod"/>
            </a:pPr>
            <a:r>
              <a:rPr lang="en-US" sz="2200" dirty="0" smtClean="0">
                <a:latin typeface="+mj-lt"/>
              </a:rPr>
              <a:t>Conduct user interviews</a:t>
            </a:r>
          </a:p>
          <a:p>
            <a:pPr marL="457200" indent="-457200">
              <a:buFont typeface="+mj-lt"/>
              <a:buAutoNum type="arabicPeriod"/>
            </a:pPr>
            <a:r>
              <a:rPr lang="en-US" sz="2200" dirty="0" smtClean="0">
                <a:latin typeface="+mj-lt"/>
              </a:rPr>
              <a:t>Videotape users interacting with an older system</a:t>
            </a:r>
            <a:endParaRPr lang="en-US" sz="2200" dirty="0">
              <a:latin typeface="+mj-lt"/>
            </a:endParaRPr>
          </a:p>
        </p:txBody>
      </p:sp>
      <p:sp>
        <p:nvSpPr>
          <p:cNvPr id="12" name="Oval 11"/>
          <p:cNvSpPr/>
          <p:nvPr/>
        </p:nvSpPr>
        <p:spPr>
          <a:xfrm>
            <a:off x="762000" y="1752600"/>
            <a:ext cx="2514600" cy="1524000"/>
          </a:xfrm>
          <a:prstGeom prst="ellipse">
            <a:avLst/>
          </a:prstGeom>
          <a:noFill/>
          <a:ln w="762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Customer Confidence</a:t>
            </a:r>
            <a:endParaRPr lang="en-US" dirty="0"/>
          </a:p>
        </p:txBody>
      </p:sp>
      <p:sp>
        <p:nvSpPr>
          <p:cNvPr id="5" name="Rectangle 4"/>
          <p:cNvSpPr/>
          <p:nvPr/>
        </p:nvSpPr>
        <p:spPr>
          <a:xfrm>
            <a:off x="152400" y="1676400"/>
            <a:ext cx="3429000" cy="1446550"/>
          </a:xfrm>
          <a:prstGeom prst="rect">
            <a:avLst/>
          </a:prstGeom>
          <a:noFill/>
        </p:spPr>
        <p:txBody>
          <a:bodyPr wrap="square">
            <a:spAutoFit/>
          </a:bodyPr>
          <a:lstStyle/>
          <a:p>
            <a:pPr marL="457200" indent="-457200">
              <a:buFont typeface="Wingdings" pitchFamily="2" charset="2"/>
              <a:buChar char="q"/>
            </a:pPr>
            <a:r>
              <a:rPr lang="en-US" sz="2200" dirty="0" smtClean="0">
                <a:latin typeface="+mj-lt"/>
              </a:rPr>
              <a:t>When will I receive my product?</a:t>
            </a:r>
          </a:p>
          <a:p>
            <a:pPr marL="457200" indent="-457200">
              <a:buFont typeface="Wingdings" pitchFamily="2" charset="2"/>
              <a:buChar char="q"/>
            </a:pPr>
            <a:r>
              <a:rPr lang="en-US" sz="2200" dirty="0" smtClean="0">
                <a:latin typeface="+mj-lt"/>
              </a:rPr>
              <a:t>How will it look like?</a:t>
            </a:r>
          </a:p>
          <a:p>
            <a:pPr marL="457200" indent="-457200">
              <a:buFont typeface="Wingdings" pitchFamily="2" charset="2"/>
              <a:buChar char="q"/>
            </a:pPr>
            <a:r>
              <a:rPr lang="en-US" sz="2200" dirty="0" smtClean="0">
                <a:latin typeface="+mj-lt"/>
              </a:rPr>
              <a:t>Will it be usable?</a:t>
            </a:r>
          </a:p>
        </p:txBody>
      </p:sp>
      <p:pic>
        <p:nvPicPr>
          <p:cNvPr id="1027" name="Picture 3"/>
          <p:cNvPicPr>
            <a:picLocks noChangeAspect="1" noChangeArrowheads="1"/>
          </p:cNvPicPr>
          <p:nvPr/>
        </p:nvPicPr>
        <p:blipFill>
          <a:blip r:embed="rId2" cstate="print"/>
          <a:srcRect/>
          <a:stretch>
            <a:fillRect/>
          </a:stretch>
        </p:blipFill>
        <p:spPr bwMode="auto">
          <a:xfrm>
            <a:off x="838200" y="3352800"/>
            <a:ext cx="2286000" cy="1828800"/>
          </a:xfrm>
          <a:prstGeom prst="rect">
            <a:avLst/>
          </a:prstGeom>
          <a:noFill/>
          <a:ln w="9525">
            <a:noFill/>
            <a:miter lim="800000"/>
            <a:headEnd/>
            <a:tailEnd/>
          </a:ln>
          <a:effectLst/>
        </p:spPr>
      </p:pic>
      <p:sp>
        <p:nvSpPr>
          <p:cNvPr id="8" name="Rectangle 7"/>
          <p:cNvSpPr/>
          <p:nvPr/>
        </p:nvSpPr>
        <p:spPr>
          <a:xfrm>
            <a:off x="838200" y="5334000"/>
            <a:ext cx="7696200" cy="1107996"/>
          </a:xfrm>
          <a:prstGeom prst="rect">
            <a:avLst/>
          </a:prstGeom>
          <a:solidFill>
            <a:schemeClr val="accent3"/>
          </a:solidFill>
        </p:spPr>
        <p:txBody>
          <a:bodyPr wrap="square">
            <a:spAutoFit/>
          </a:bodyPr>
          <a:lstStyle/>
          <a:p>
            <a:pPr algn="ctr"/>
            <a:r>
              <a:rPr lang="en-US" sz="2200" dirty="0" smtClean="0">
                <a:solidFill>
                  <a:schemeClr val="bg1"/>
                </a:solidFill>
                <a:latin typeface="+mj-lt"/>
              </a:rPr>
              <a:t>Deliver business values to client fast and repeatedly.</a:t>
            </a:r>
          </a:p>
          <a:p>
            <a:pPr algn="ctr"/>
            <a:r>
              <a:rPr lang="en-US" sz="2200" dirty="0" smtClean="0">
                <a:solidFill>
                  <a:schemeClr val="bg1"/>
                </a:solidFill>
                <a:latin typeface="+mj-lt"/>
              </a:rPr>
              <a:t>Gives customers a chance to “try software” periodically and provide feedback.</a:t>
            </a:r>
            <a:endParaRPr lang="en-US" sz="2200" dirty="0">
              <a:solidFill>
                <a:schemeClr val="bg1"/>
              </a:solidFill>
              <a:latin typeface="+mj-lt"/>
            </a:endParaRPr>
          </a:p>
        </p:txBody>
      </p:sp>
      <p:pic>
        <p:nvPicPr>
          <p:cNvPr id="71682" name="Picture 2" descr="Image result for iphone 11 pro camera functions"/>
          <p:cNvPicPr>
            <a:picLocks noChangeAspect="1" noChangeArrowheads="1"/>
          </p:cNvPicPr>
          <p:nvPr/>
        </p:nvPicPr>
        <p:blipFill>
          <a:blip r:embed="rId3" cstate="print"/>
          <a:srcRect/>
          <a:stretch>
            <a:fillRect/>
          </a:stretch>
        </p:blipFill>
        <p:spPr bwMode="auto">
          <a:xfrm>
            <a:off x="4038600" y="1752600"/>
            <a:ext cx="4286250" cy="2409826"/>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Sashimi Model</a:t>
            </a:r>
            <a:endParaRPr lang="en-US" dirty="0"/>
          </a:p>
        </p:txBody>
      </p:sp>
      <p:sp>
        <p:nvSpPr>
          <p:cNvPr id="5" name="TextBox 10"/>
          <p:cNvSpPr txBox="1">
            <a:spLocks noChangeArrowheads="1"/>
          </p:cNvSpPr>
          <p:nvPr/>
        </p:nvSpPr>
        <p:spPr bwMode="auto">
          <a:xfrm>
            <a:off x="381000" y="1295400"/>
            <a:ext cx="8458200" cy="2123658"/>
          </a:xfrm>
          <a:prstGeom prst="rect">
            <a:avLst/>
          </a:prstGeom>
          <a:noFill/>
          <a:ln w="9525">
            <a:noFill/>
            <a:miter lim="800000"/>
            <a:headEnd/>
            <a:tailEnd/>
          </a:ln>
        </p:spPr>
        <p:txBody>
          <a:bodyPr wrap="square">
            <a:spAutoFit/>
          </a:bodyPr>
          <a:lstStyle/>
          <a:p>
            <a:pPr marL="457200" indent="-457200">
              <a:buFont typeface="Arial" pitchFamily="34" charset="0"/>
              <a:buChar char="•"/>
            </a:pPr>
            <a:r>
              <a:rPr lang="en-US" sz="2200" dirty="0" smtClean="0">
                <a:latin typeface="+mj-lt"/>
              </a:rPr>
              <a:t>Most of the weaknesses in the pure waterfall model arise not from problems with these activities but from the treatment of these activities as </a:t>
            </a:r>
            <a:r>
              <a:rPr lang="en-US" sz="2200" i="1" dirty="0" smtClean="0">
                <a:solidFill>
                  <a:srgbClr val="C00000"/>
                </a:solidFill>
                <a:latin typeface="+mj-lt"/>
              </a:rPr>
              <a:t>disjoint, sequential phases</a:t>
            </a:r>
            <a:r>
              <a:rPr lang="en-US" sz="2200" dirty="0" smtClean="0">
                <a:latin typeface="+mj-lt"/>
              </a:rPr>
              <a:t>.</a:t>
            </a:r>
          </a:p>
          <a:p>
            <a:pPr marL="457200" indent="-457200">
              <a:buFont typeface="Arial" pitchFamily="34" charset="0"/>
              <a:buChar char="•"/>
            </a:pPr>
            <a:r>
              <a:rPr lang="en-US" sz="2200" dirty="0" smtClean="0">
                <a:latin typeface="+mj-lt"/>
              </a:rPr>
              <a:t>The traditional waterfall model allows for </a:t>
            </a:r>
            <a:r>
              <a:rPr lang="en-US" sz="2200" i="1" dirty="0" smtClean="0">
                <a:solidFill>
                  <a:srgbClr val="C00000"/>
                </a:solidFill>
                <a:latin typeface="+mj-lt"/>
              </a:rPr>
              <a:t>minimal overlapping</a:t>
            </a:r>
            <a:r>
              <a:rPr lang="en-US" sz="2200" dirty="0" smtClean="0">
                <a:latin typeface="+mj-lt"/>
              </a:rPr>
              <a:t> between phases at the end-of-phase review.</a:t>
            </a:r>
          </a:p>
          <a:p>
            <a:pPr marL="457200" indent="-457200">
              <a:buFont typeface="Arial" pitchFamily="34" charset="0"/>
              <a:buChar char="•"/>
            </a:pPr>
            <a:r>
              <a:rPr lang="en-US" sz="2200" dirty="0" smtClean="0">
                <a:latin typeface="+mj-lt"/>
              </a:rPr>
              <a:t>This model suggests a </a:t>
            </a:r>
            <a:r>
              <a:rPr lang="en-US" sz="2200" i="1" dirty="0" smtClean="0">
                <a:solidFill>
                  <a:srgbClr val="C00000"/>
                </a:solidFill>
                <a:latin typeface="+mj-lt"/>
              </a:rPr>
              <a:t>stronger degree of overlap</a:t>
            </a:r>
            <a:r>
              <a:rPr lang="en-US" sz="2200" dirty="0" smtClean="0">
                <a:latin typeface="+mj-lt"/>
              </a:rPr>
              <a:t>.</a:t>
            </a:r>
            <a:endParaRPr lang="en-US" sz="2200" dirty="0">
              <a:latin typeface="+mj-lt"/>
            </a:endParaRPr>
          </a:p>
        </p:txBody>
      </p:sp>
      <p:sp>
        <p:nvSpPr>
          <p:cNvPr id="6" name="Rectangle 5"/>
          <p:cNvSpPr/>
          <p:nvPr/>
        </p:nvSpPr>
        <p:spPr>
          <a:xfrm>
            <a:off x="1447800" y="5257800"/>
            <a:ext cx="4572000" cy="369332"/>
          </a:xfrm>
          <a:prstGeom prst="rect">
            <a:avLst/>
          </a:prstGeom>
        </p:spPr>
        <p:txBody>
          <a:bodyPr>
            <a:spAutoFit/>
          </a:bodyPr>
          <a:lstStyle/>
          <a:p>
            <a:endParaRPr lang="en-US" dirty="0">
              <a:latin typeface="+mj-lt"/>
            </a:endParaRPr>
          </a:p>
        </p:txBody>
      </p:sp>
      <p:sp>
        <p:nvSpPr>
          <p:cNvPr id="7" name="Rectangle 6"/>
          <p:cNvSpPr/>
          <p:nvPr/>
        </p:nvSpPr>
        <p:spPr>
          <a:xfrm>
            <a:off x="4495800" y="3657600"/>
            <a:ext cx="4343400" cy="2462213"/>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marL="457200" indent="-457200">
              <a:buFont typeface="Arial" pitchFamily="34" charset="0"/>
              <a:buChar char="•"/>
            </a:pPr>
            <a:r>
              <a:rPr lang="en-US" sz="2200" dirty="0" smtClean="0">
                <a:latin typeface="+mj-lt"/>
              </a:rPr>
              <a:t>Milestones are </a:t>
            </a:r>
            <a:r>
              <a:rPr lang="en-US" sz="2200" i="1" dirty="0" smtClean="0">
                <a:solidFill>
                  <a:srgbClr val="C00000"/>
                </a:solidFill>
                <a:latin typeface="+mj-lt"/>
              </a:rPr>
              <a:t>more ambiguous</a:t>
            </a:r>
            <a:r>
              <a:rPr lang="en-US" sz="2200" dirty="0" smtClean="0">
                <a:latin typeface="+mj-lt"/>
              </a:rPr>
              <a:t>. It’s harder to track progress accurately.</a:t>
            </a:r>
          </a:p>
          <a:p>
            <a:pPr marL="457200" indent="-457200">
              <a:buFont typeface="Arial" pitchFamily="34" charset="0"/>
              <a:buChar char="•"/>
            </a:pPr>
            <a:r>
              <a:rPr lang="en-US" sz="2200" dirty="0" smtClean="0">
                <a:latin typeface="+mj-lt"/>
              </a:rPr>
              <a:t>Performing activities in parallel can lead to </a:t>
            </a:r>
            <a:r>
              <a:rPr lang="en-US" sz="2200" i="1" dirty="0" smtClean="0">
                <a:solidFill>
                  <a:srgbClr val="C00000"/>
                </a:solidFill>
                <a:latin typeface="+mj-lt"/>
              </a:rPr>
              <a:t>miscommunication</a:t>
            </a:r>
            <a:r>
              <a:rPr lang="en-US" sz="2200" dirty="0" smtClean="0">
                <a:latin typeface="+mj-lt"/>
              </a:rPr>
              <a:t>, </a:t>
            </a:r>
            <a:r>
              <a:rPr lang="en-US" sz="2200" i="1" dirty="0" smtClean="0">
                <a:solidFill>
                  <a:srgbClr val="C00000"/>
                </a:solidFill>
                <a:latin typeface="+mj-lt"/>
              </a:rPr>
              <a:t>mistaken assumptions</a:t>
            </a:r>
            <a:r>
              <a:rPr lang="en-US" sz="2200" dirty="0" smtClean="0">
                <a:latin typeface="+mj-lt"/>
              </a:rPr>
              <a:t>, and inefficiency.</a:t>
            </a:r>
            <a:endParaRPr lang="en-US" sz="2200" dirty="0">
              <a:latin typeface="+mj-lt"/>
            </a:endParaRPr>
          </a:p>
        </p:txBody>
      </p:sp>
      <p:pic>
        <p:nvPicPr>
          <p:cNvPr id="1028" name="Picture 4"/>
          <p:cNvPicPr>
            <a:picLocks noChangeAspect="1" noChangeArrowheads="1"/>
          </p:cNvPicPr>
          <p:nvPr/>
        </p:nvPicPr>
        <p:blipFill>
          <a:blip r:embed="rId2" cstate="print"/>
          <a:srcRect/>
          <a:stretch>
            <a:fillRect/>
          </a:stretch>
        </p:blipFill>
        <p:spPr bwMode="auto">
          <a:xfrm>
            <a:off x="685800" y="3581400"/>
            <a:ext cx="3409950" cy="3048000"/>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Waterfall with Subprojects</a:t>
            </a:r>
            <a:endParaRPr lang="en-US" dirty="0"/>
          </a:p>
        </p:txBody>
      </p:sp>
      <p:pic>
        <p:nvPicPr>
          <p:cNvPr id="1027" name="Picture 3"/>
          <p:cNvPicPr>
            <a:picLocks noChangeAspect="1" noChangeArrowheads="1"/>
          </p:cNvPicPr>
          <p:nvPr/>
        </p:nvPicPr>
        <p:blipFill>
          <a:blip r:embed="rId2" cstate="print"/>
          <a:srcRect/>
          <a:stretch>
            <a:fillRect/>
          </a:stretch>
        </p:blipFill>
        <p:spPr bwMode="auto">
          <a:xfrm>
            <a:off x="152400" y="2819400"/>
            <a:ext cx="5876925" cy="3933825"/>
          </a:xfrm>
          <a:prstGeom prst="rect">
            <a:avLst/>
          </a:prstGeom>
          <a:noFill/>
          <a:ln w="9525">
            <a:noFill/>
            <a:miter lim="800000"/>
            <a:headEnd/>
            <a:tailEnd/>
          </a:ln>
        </p:spPr>
      </p:pic>
      <p:sp>
        <p:nvSpPr>
          <p:cNvPr id="4" name="Rectangle 3"/>
          <p:cNvSpPr/>
          <p:nvPr/>
        </p:nvSpPr>
        <p:spPr>
          <a:xfrm>
            <a:off x="5638800" y="2895600"/>
            <a:ext cx="3276600" cy="1107996"/>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gn="ctr"/>
            <a:r>
              <a:rPr lang="en-US" sz="2200" dirty="0" smtClean="0">
                <a:latin typeface="+mj-lt"/>
              </a:rPr>
              <a:t>The main risk with this approach is </a:t>
            </a:r>
            <a:r>
              <a:rPr lang="en-US" sz="2200" i="1" dirty="0" smtClean="0">
                <a:solidFill>
                  <a:srgbClr val="C00000"/>
                </a:solidFill>
                <a:latin typeface="+mj-lt"/>
              </a:rPr>
              <a:t>unforeseen interdependences</a:t>
            </a:r>
            <a:r>
              <a:rPr lang="en-US" sz="2200" dirty="0" smtClean="0">
                <a:latin typeface="+mj-lt"/>
              </a:rPr>
              <a:t>.</a:t>
            </a:r>
            <a:endParaRPr lang="en-US" sz="2200" dirty="0">
              <a:latin typeface="+mj-lt"/>
            </a:endParaRPr>
          </a:p>
        </p:txBody>
      </p:sp>
      <p:sp>
        <p:nvSpPr>
          <p:cNvPr id="5" name="TextBox 10"/>
          <p:cNvSpPr txBox="1">
            <a:spLocks noChangeArrowheads="1"/>
          </p:cNvSpPr>
          <p:nvPr/>
        </p:nvSpPr>
        <p:spPr bwMode="auto">
          <a:xfrm>
            <a:off x="228600" y="1295400"/>
            <a:ext cx="8686800" cy="1446550"/>
          </a:xfrm>
          <a:prstGeom prst="rect">
            <a:avLst/>
          </a:prstGeom>
          <a:noFill/>
          <a:ln w="9525">
            <a:noFill/>
            <a:miter lim="800000"/>
            <a:headEnd/>
            <a:tailEnd/>
          </a:ln>
        </p:spPr>
        <p:txBody>
          <a:bodyPr wrap="square">
            <a:spAutoFit/>
          </a:bodyPr>
          <a:lstStyle/>
          <a:p>
            <a:pPr algn="ctr"/>
            <a:r>
              <a:rPr lang="en-US" sz="2200" dirty="0" smtClean="0">
                <a:latin typeface="+mj-lt"/>
              </a:rPr>
              <a:t>Why delay the implementation of the areas that are easy to design just because we're </a:t>
            </a:r>
            <a:r>
              <a:rPr lang="en-US" sz="2200" i="1" dirty="0" smtClean="0">
                <a:solidFill>
                  <a:srgbClr val="C00000"/>
                </a:solidFill>
                <a:latin typeface="+mj-lt"/>
              </a:rPr>
              <a:t>waiting for</a:t>
            </a:r>
            <a:r>
              <a:rPr lang="en-US" sz="2200" dirty="0" smtClean="0">
                <a:latin typeface="+mj-lt"/>
              </a:rPr>
              <a:t> the design of a difficult area? If the architecture has broken the system into </a:t>
            </a:r>
            <a:r>
              <a:rPr lang="en-US" sz="2200" i="1" dirty="0" smtClean="0">
                <a:solidFill>
                  <a:srgbClr val="C00000"/>
                </a:solidFill>
                <a:latin typeface="+mj-lt"/>
              </a:rPr>
              <a:t>logically independent subsystems</a:t>
            </a:r>
            <a:r>
              <a:rPr lang="en-US" sz="2200" dirty="0" smtClean="0">
                <a:latin typeface="+mj-lt"/>
              </a:rPr>
              <a:t>, you can spin off separate projects, each of which can proceed at its own pace.</a:t>
            </a:r>
            <a:endParaRPr lang="en-US" sz="2200" dirty="0">
              <a:latin typeface="+mj-l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Staged Delivery</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1752600" y="2019300"/>
            <a:ext cx="4762500" cy="4762500"/>
          </a:xfrm>
          <a:prstGeom prst="rect">
            <a:avLst/>
          </a:prstGeom>
          <a:noFill/>
          <a:ln w="9525">
            <a:noFill/>
            <a:miter lim="800000"/>
            <a:headEnd/>
            <a:tailEnd/>
          </a:ln>
          <a:effectLst/>
        </p:spPr>
      </p:pic>
      <p:sp>
        <p:nvSpPr>
          <p:cNvPr id="5" name="TextBox 10"/>
          <p:cNvSpPr txBox="1">
            <a:spLocks noChangeArrowheads="1"/>
          </p:cNvSpPr>
          <p:nvPr/>
        </p:nvSpPr>
        <p:spPr bwMode="auto">
          <a:xfrm>
            <a:off x="304800" y="1211759"/>
            <a:ext cx="8305800" cy="769441"/>
          </a:xfrm>
          <a:prstGeom prst="rect">
            <a:avLst/>
          </a:prstGeom>
          <a:noFill/>
          <a:ln w="9525">
            <a:noFill/>
            <a:miter lim="800000"/>
            <a:headEnd/>
            <a:tailEnd/>
          </a:ln>
        </p:spPr>
        <p:txBody>
          <a:bodyPr wrap="square">
            <a:spAutoFit/>
          </a:bodyPr>
          <a:lstStyle/>
          <a:p>
            <a:pPr algn="ctr"/>
            <a:r>
              <a:rPr lang="en-US" sz="2200" dirty="0" smtClean="0">
                <a:latin typeface="+mj-lt"/>
              </a:rPr>
              <a:t>The staged-delivery is a model in which you show software to the customer in </a:t>
            </a:r>
            <a:r>
              <a:rPr lang="en-US" sz="2200" i="1" dirty="0" smtClean="0">
                <a:solidFill>
                  <a:srgbClr val="C00000"/>
                </a:solidFill>
                <a:latin typeface="+mj-lt"/>
              </a:rPr>
              <a:t>successively refined stages</a:t>
            </a:r>
            <a:r>
              <a:rPr lang="en-US" sz="2200" dirty="0" smtClean="0">
                <a:latin typeface="+mj-lt"/>
              </a:rPr>
              <a:t>.</a:t>
            </a:r>
            <a:endParaRPr lang="en-US" sz="2200" dirty="0">
              <a:latin typeface="+mj-lt"/>
            </a:endParaRPr>
          </a:p>
        </p:txBody>
      </p:sp>
      <p:sp>
        <p:nvSpPr>
          <p:cNvPr id="6" name="Rectangle 5"/>
          <p:cNvSpPr/>
          <p:nvPr/>
        </p:nvSpPr>
        <p:spPr>
          <a:xfrm>
            <a:off x="228600" y="2362200"/>
            <a:ext cx="2895600" cy="1938992"/>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marL="457200" indent="-457200">
              <a:buFont typeface="Wingdings" pitchFamily="2" charset="2"/>
              <a:buChar char="ü"/>
            </a:pPr>
            <a:r>
              <a:rPr lang="en-US" sz="2000" dirty="0" smtClean="0">
                <a:latin typeface="+mj-lt"/>
              </a:rPr>
              <a:t>Avoid problem of </a:t>
            </a:r>
            <a:r>
              <a:rPr lang="en-US" sz="2000" i="1" dirty="0" smtClean="0">
                <a:solidFill>
                  <a:srgbClr val="C00000"/>
                </a:solidFill>
                <a:latin typeface="+mj-lt"/>
              </a:rPr>
              <a:t>no part of the system</a:t>
            </a:r>
            <a:r>
              <a:rPr lang="en-US" sz="2000" b="1" i="1" dirty="0" smtClean="0">
                <a:solidFill>
                  <a:srgbClr val="C00000"/>
                </a:solidFill>
                <a:latin typeface="+mj-lt"/>
              </a:rPr>
              <a:t> </a:t>
            </a:r>
            <a:r>
              <a:rPr lang="en-US" sz="2000" dirty="0" smtClean="0">
                <a:latin typeface="+mj-lt"/>
              </a:rPr>
              <a:t>being done until all is done.</a:t>
            </a:r>
          </a:p>
          <a:p>
            <a:pPr marL="457200" indent="-457200">
              <a:buFont typeface="Wingdings" pitchFamily="2" charset="2"/>
              <a:buChar char="ü"/>
            </a:pPr>
            <a:r>
              <a:rPr lang="en-US" sz="2000" dirty="0" smtClean="0">
                <a:latin typeface="+mj-lt"/>
              </a:rPr>
              <a:t>Provide </a:t>
            </a:r>
            <a:r>
              <a:rPr lang="en-US" sz="2000" i="1" dirty="0" smtClean="0">
                <a:solidFill>
                  <a:srgbClr val="C00000"/>
                </a:solidFill>
                <a:latin typeface="+mj-lt"/>
              </a:rPr>
              <a:t>tangible signs of progress</a:t>
            </a:r>
            <a:r>
              <a:rPr lang="en-US" sz="2000" dirty="0" smtClean="0">
                <a:latin typeface="+mj-lt"/>
              </a:rPr>
              <a:t> earlier.</a:t>
            </a:r>
            <a:endParaRPr lang="en-US" sz="2000" dirty="0">
              <a:latin typeface="+mj-lt"/>
            </a:endParaRPr>
          </a:p>
        </p:txBody>
      </p:sp>
      <p:sp>
        <p:nvSpPr>
          <p:cNvPr id="7" name="Rectangle 6"/>
          <p:cNvSpPr/>
          <p:nvPr/>
        </p:nvSpPr>
        <p:spPr>
          <a:xfrm>
            <a:off x="6400800" y="2133600"/>
            <a:ext cx="2514600" cy="2246769"/>
          </a:xfrm>
          <a:prstGeom prst="rect">
            <a:avLst/>
          </a:prstGeom>
          <a:ln/>
        </p:spPr>
        <p:style>
          <a:lnRef idx="2">
            <a:schemeClr val="accent6"/>
          </a:lnRef>
          <a:fillRef idx="1">
            <a:schemeClr val="lt1"/>
          </a:fillRef>
          <a:effectRef idx="0">
            <a:schemeClr val="accent6"/>
          </a:effectRef>
          <a:fontRef idx="minor">
            <a:schemeClr val="dk1"/>
          </a:fontRef>
        </p:style>
        <p:txBody>
          <a:bodyPr wrap="square">
            <a:spAutoFit/>
          </a:bodyPr>
          <a:lstStyle/>
          <a:p>
            <a:pPr marL="457200" indent="-457200">
              <a:buFont typeface="Wingdings" pitchFamily="2" charset="2"/>
              <a:buChar char="v"/>
            </a:pPr>
            <a:r>
              <a:rPr lang="en-US" sz="2000" dirty="0" smtClean="0">
                <a:latin typeface="+mj-lt"/>
              </a:rPr>
              <a:t>Must account for  all </a:t>
            </a:r>
            <a:r>
              <a:rPr lang="en-US" sz="2000" i="1" dirty="0" smtClean="0">
                <a:solidFill>
                  <a:srgbClr val="C00000"/>
                </a:solidFill>
                <a:latin typeface="+mj-lt"/>
              </a:rPr>
              <a:t>technical dependencies </a:t>
            </a:r>
            <a:r>
              <a:rPr lang="en-US" sz="2000" dirty="0" smtClean="0">
                <a:latin typeface="+mj-lt"/>
              </a:rPr>
              <a:t>between different components of the product.</a:t>
            </a:r>
          </a:p>
          <a:p>
            <a:pPr marL="457200" indent="-457200">
              <a:buFont typeface="Wingdings" pitchFamily="2" charset="2"/>
              <a:buChar char="v"/>
            </a:pPr>
            <a:r>
              <a:rPr lang="en-US" sz="2000" i="1" dirty="0" smtClean="0">
                <a:solidFill>
                  <a:srgbClr val="C00000"/>
                </a:solidFill>
                <a:latin typeface="+mj-lt"/>
              </a:rPr>
              <a:t>Integration</a:t>
            </a:r>
            <a:r>
              <a:rPr lang="en-US" sz="2000" dirty="0" smtClean="0">
                <a:latin typeface="+mj-lt"/>
              </a:rPr>
              <a:t> cost.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t>Real World Waterfall Model: A New System</a:t>
            </a:r>
            <a:endParaRPr lang="en-US" sz="3600" dirty="0"/>
          </a:p>
        </p:txBody>
      </p:sp>
      <p:graphicFrame>
        <p:nvGraphicFramePr>
          <p:cNvPr id="5" name="Diagram 4"/>
          <p:cNvGraphicFramePr/>
          <p:nvPr/>
        </p:nvGraphicFramePr>
        <p:xfrm>
          <a:off x="609600" y="1447800"/>
          <a:ext cx="7924800" cy="4978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Real World Waterfall Model: System Maintenance</a:t>
            </a:r>
            <a:endParaRPr lang="en-US" sz="3200" dirty="0"/>
          </a:p>
        </p:txBody>
      </p:sp>
      <p:graphicFrame>
        <p:nvGraphicFramePr>
          <p:cNvPr id="5" name="Diagram 4"/>
          <p:cNvGraphicFramePr/>
          <p:nvPr/>
        </p:nvGraphicFramePr>
        <p:xfrm>
          <a:off x="609600" y="1447800"/>
          <a:ext cx="7924800" cy="4978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When To Use Waterfall Model?</a:t>
            </a:r>
            <a:endParaRPr lang="en-US" dirty="0"/>
          </a:p>
        </p:txBody>
      </p:sp>
      <p:sp>
        <p:nvSpPr>
          <p:cNvPr id="3" name="Content Placeholder 2"/>
          <p:cNvSpPr>
            <a:spLocks noGrp="1"/>
          </p:cNvSpPr>
          <p:nvPr>
            <p:ph idx="1"/>
          </p:nvPr>
        </p:nvSpPr>
        <p:spPr>
          <a:xfrm>
            <a:off x="457200" y="1600200"/>
            <a:ext cx="5105400" cy="4525963"/>
          </a:xfrm>
        </p:spPr>
        <p:txBody>
          <a:bodyPr/>
          <a:lstStyle/>
          <a:p>
            <a:r>
              <a:rPr lang="en-US" sz="2400" i="1" dirty="0" smtClean="0">
                <a:solidFill>
                  <a:srgbClr val="C00000"/>
                </a:solidFill>
              </a:rPr>
              <a:t>Cost</a:t>
            </a:r>
            <a:r>
              <a:rPr lang="en-US" sz="2400" dirty="0" smtClean="0"/>
              <a:t> and </a:t>
            </a:r>
            <a:r>
              <a:rPr lang="en-US" sz="2400" i="1" dirty="0" smtClean="0">
                <a:solidFill>
                  <a:srgbClr val="C00000"/>
                </a:solidFill>
              </a:rPr>
              <a:t>time</a:t>
            </a:r>
            <a:r>
              <a:rPr lang="en-US" sz="2400" dirty="0" smtClean="0"/>
              <a:t> are clear and </a:t>
            </a:r>
            <a:r>
              <a:rPr lang="en-US" sz="2400" u="sng" dirty="0" smtClean="0"/>
              <a:t>fixed</a:t>
            </a:r>
            <a:r>
              <a:rPr lang="en-US" sz="2400" dirty="0" smtClean="0"/>
              <a:t>.</a:t>
            </a:r>
          </a:p>
          <a:p>
            <a:r>
              <a:rPr lang="en-US" sz="2400" i="1" dirty="0" smtClean="0">
                <a:solidFill>
                  <a:srgbClr val="C00000"/>
                </a:solidFill>
              </a:rPr>
              <a:t>Objectives</a:t>
            </a:r>
            <a:r>
              <a:rPr lang="en-US" sz="2400" dirty="0" smtClean="0"/>
              <a:t> are clear, reliable and </a:t>
            </a:r>
            <a:r>
              <a:rPr lang="en-US" sz="2400" u="sng" dirty="0" smtClean="0"/>
              <a:t>fixed</a:t>
            </a:r>
            <a:r>
              <a:rPr lang="en-US" sz="2400" dirty="0" smtClean="0"/>
              <a:t>.</a:t>
            </a:r>
          </a:p>
          <a:p>
            <a:r>
              <a:rPr lang="en-US" sz="2400" i="1" dirty="0" smtClean="0">
                <a:solidFill>
                  <a:srgbClr val="C00000"/>
                </a:solidFill>
              </a:rPr>
              <a:t>Requirements</a:t>
            </a:r>
            <a:r>
              <a:rPr lang="en-US" sz="2400" dirty="0" smtClean="0"/>
              <a:t> can be specified and are not </a:t>
            </a:r>
            <a:r>
              <a:rPr lang="en-US" sz="2400" u="sng" dirty="0" smtClean="0"/>
              <a:t>ambiguous</a:t>
            </a:r>
            <a:r>
              <a:rPr lang="en-US" sz="2400" dirty="0" smtClean="0"/>
              <a:t>.</a:t>
            </a:r>
          </a:p>
          <a:p>
            <a:r>
              <a:rPr lang="en-US" sz="2400" i="1" dirty="0" smtClean="0">
                <a:solidFill>
                  <a:srgbClr val="C00000"/>
                </a:solidFill>
              </a:rPr>
              <a:t>Technology</a:t>
            </a:r>
            <a:r>
              <a:rPr lang="en-US" sz="2400" dirty="0" smtClean="0"/>
              <a:t> is </a:t>
            </a:r>
            <a:r>
              <a:rPr lang="en-US" sz="2400" u="sng" dirty="0" smtClean="0"/>
              <a:t>understood</a:t>
            </a:r>
            <a:r>
              <a:rPr lang="en-US" sz="2400" dirty="0" smtClean="0"/>
              <a:t>.</a:t>
            </a:r>
          </a:p>
          <a:p>
            <a:r>
              <a:rPr lang="en-US" sz="2400" i="1" dirty="0" smtClean="0">
                <a:solidFill>
                  <a:srgbClr val="C00000"/>
                </a:solidFill>
              </a:rPr>
              <a:t>Resources</a:t>
            </a:r>
            <a:r>
              <a:rPr lang="en-US" sz="2400" dirty="0" smtClean="0"/>
              <a:t> (with expertise) are </a:t>
            </a:r>
            <a:r>
              <a:rPr lang="en-US" sz="2400" u="sng" dirty="0" smtClean="0"/>
              <a:t>available</a:t>
            </a:r>
            <a:r>
              <a:rPr lang="en-US" sz="2400" dirty="0" smtClean="0"/>
              <a:t>.</a:t>
            </a:r>
          </a:p>
          <a:p>
            <a:r>
              <a:rPr lang="en-US" sz="2400" i="1" dirty="0" smtClean="0">
                <a:solidFill>
                  <a:srgbClr val="C00000"/>
                </a:solidFill>
              </a:rPr>
              <a:t>Similar</a:t>
            </a:r>
            <a:r>
              <a:rPr lang="en-US" sz="2400" dirty="0" smtClean="0"/>
              <a:t> projects exist.</a:t>
            </a:r>
          </a:p>
          <a:p>
            <a:r>
              <a:rPr lang="en-US" sz="2400" i="1" dirty="0" smtClean="0">
                <a:solidFill>
                  <a:srgbClr val="C00000"/>
                </a:solidFill>
              </a:rPr>
              <a:t>Existing (maintenance) system</a:t>
            </a:r>
            <a:r>
              <a:rPr lang="en-US" sz="2400" dirty="0" smtClean="0"/>
              <a:t> should be </a:t>
            </a:r>
            <a:r>
              <a:rPr lang="en-US" sz="2400" u="sng" dirty="0" smtClean="0"/>
              <a:t>available</a:t>
            </a:r>
            <a:r>
              <a:rPr lang="en-US" sz="2400" dirty="0" smtClean="0"/>
              <a:t> at the beginning.</a:t>
            </a:r>
            <a:endParaRPr lang="en-US" sz="2400" dirty="0"/>
          </a:p>
        </p:txBody>
      </p:sp>
      <p:pic>
        <p:nvPicPr>
          <p:cNvPr id="2050" name="Picture 2" descr="http://www.newelectronics.co.uk/article-images/62836/test1_popup.jpg"/>
          <p:cNvPicPr>
            <a:picLocks noChangeAspect="1" noChangeArrowheads="1"/>
          </p:cNvPicPr>
          <p:nvPr/>
        </p:nvPicPr>
        <p:blipFill>
          <a:blip r:embed="rId2" cstate="print"/>
          <a:srcRect/>
          <a:stretch>
            <a:fillRect/>
          </a:stretch>
        </p:blipFill>
        <p:spPr bwMode="auto">
          <a:xfrm>
            <a:off x="5343525" y="2514600"/>
            <a:ext cx="3571875" cy="2381250"/>
          </a:xfrm>
          <a:prstGeom prst="rect">
            <a:avLst/>
          </a:prstGeo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Actually, Waterfall is Often Used When</a:t>
            </a:r>
            <a:endParaRPr lang="en-US" sz="4000" dirty="0"/>
          </a:p>
        </p:txBody>
      </p:sp>
      <p:pic>
        <p:nvPicPr>
          <p:cNvPr id="5" name="Picture 2" descr="Image result for &quot;low customer involvement&quot; + scrum"/>
          <p:cNvPicPr>
            <a:picLocks noChangeAspect="1" noChangeArrowheads="1"/>
          </p:cNvPicPr>
          <p:nvPr/>
        </p:nvPicPr>
        <p:blipFill>
          <a:blip r:embed="rId2" cstate="print"/>
          <a:srcRect/>
          <a:stretch>
            <a:fillRect/>
          </a:stretch>
        </p:blipFill>
        <p:spPr bwMode="auto">
          <a:xfrm>
            <a:off x="3429000" y="1447800"/>
            <a:ext cx="2476500" cy="1322070"/>
          </a:xfrm>
          <a:prstGeom prst="rect">
            <a:avLst/>
          </a:prstGeom>
          <a:noFill/>
        </p:spPr>
      </p:pic>
      <p:pic>
        <p:nvPicPr>
          <p:cNvPr id="105476" name="Picture 4" descr="Related image"/>
          <p:cNvPicPr>
            <a:picLocks noChangeAspect="1" noChangeArrowheads="1"/>
          </p:cNvPicPr>
          <p:nvPr/>
        </p:nvPicPr>
        <p:blipFill>
          <a:blip r:embed="rId3" cstate="print"/>
          <a:srcRect/>
          <a:stretch>
            <a:fillRect/>
          </a:stretch>
        </p:blipFill>
        <p:spPr bwMode="auto">
          <a:xfrm>
            <a:off x="3429000" y="3124200"/>
            <a:ext cx="2543175" cy="1905000"/>
          </a:xfrm>
          <a:prstGeom prst="rect">
            <a:avLst/>
          </a:prstGeom>
          <a:noFill/>
        </p:spPr>
      </p:pic>
      <p:pic>
        <p:nvPicPr>
          <p:cNvPr id="105478" name="Picture 6" descr="Related image"/>
          <p:cNvPicPr>
            <a:picLocks noChangeAspect="1" noChangeArrowheads="1"/>
          </p:cNvPicPr>
          <p:nvPr/>
        </p:nvPicPr>
        <p:blipFill>
          <a:blip r:embed="rId4" cstate="print"/>
          <a:srcRect/>
          <a:stretch>
            <a:fillRect/>
          </a:stretch>
        </p:blipFill>
        <p:spPr bwMode="auto">
          <a:xfrm>
            <a:off x="381000" y="3200400"/>
            <a:ext cx="2857500" cy="1905000"/>
          </a:xfrm>
          <a:prstGeom prst="rect">
            <a:avLst/>
          </a:prstGeom>
          <a:noFill/>
        </p:spPr>
      </p:pic>
      <p:pic>
        <p:nvPicPr>
          <p:cNvPr id="105480" name="Picture 8" descr="Image result for &quot;hierarchical structure&quot;"/>
          <p:cNvPicPr>
            <a:picLocks noChangeAspect="1" noChangeArrowheads="1"/>
          </p:cNvPicPr>
          <p:nvPr/>
        </p:nvPicPr>
        <p:blipFill>
          <a:blip r:embed="rId5" cstate="print"/>
          <a:srcRect/>
          <a:stretch>
            <a:fillRect/>
          </a:stretch>
        </p:blipFill>
        <p:spPr bwMode="auto">
          <a:xfrm>
            <a:off x="6096000" y="3276600"/>
            <a:ext cx="2743200" cy="1440180"/>
          </a:xfrm>
          <a:prstGeom prst="rect">
            <a:avLst/>
          </a:prstGeom>
          <a:noFill/>
        </p:spPr>
      </p:pic>
      <p:sp>
        <p:nvSpPr>
          <p:cNvPr id="9" name="Rectangle 8"/>
          <p:cNvSpPr/>
          <p:nvPr/>
        </p:nvSpPr>
        <p:spPr>
          <a:xfrm>
            <a:off x="457200" y="5334000"/>
            <a:ext cx="3148202" cy="830997"/>
          </a:xfrm>
          <a:prstGeom prst="rect">
            <a:avLst/>
          </a:prstGeom>
        </p:spPr>
        <p:txBody>
          <a:bodyPr wrap="square">
            <a:spAutoFit/>
          </a:bodyPr>
          <a:lstStyle/>
          <a:p>
            <a:pPr algn="ctr"/>
            <a:r>
              <a:rPr lang="en-US" sz="2400" dirty="0" smtClean="0">
                <a:latin typeface="+mj-lt"/>
              </a:rPr>
              <a:t>Low customer engagement</a:t>
            </a:r>
            <a:endParaRPr lang="en-US" sz="2400" dirty="0">
              <a:latin typeface="+mj-lt"/>
            </a:endParaRPr>
          </a:p>
        </p:txBody>
      </p:sp>
      <p:sp>
        <p:nvSpPr>
          <p:cNvPr id="10" name="Rectangle 9"/>
          <p:cNvSpPr/>
          <p:nvPr/>
        </p:nvSpPr>
        <p:spPr>
          <a:xfrm>
            <a:off x="3352800" y="5181600"/>
            <a:ext cx="2895600" cy="1200329"/>
          </a:xfrm>
          <a:prstGeom prst="rect">
            <a:avLst/>
          </a:prstGeom>
        </p:spPr>
        <p:txBody>
          <a:bodyPr wrap="square">
            <a:spAutoFit/>
          </a:bodyPr>
          <a:lstStyle/>
          <a:p>
            <a:pPr algn="ctr"/>
            <a:r>
              <a:rPr lang="en-US" sz="2400" dirty="0" smtClean="0">
                <a:latin typeface="+mj-lt"/>
              </a:rPr>
              <a:t>Low supplier development transparency</a:t>
            </a:r>
          </a:p>
        </p:txBody>
      </p:sp>
      <p:sp>
        <p:nvSpPr>
          <p:cNvPr id="12" name="Rectangle 11"/>
          <p:cNvSpPr/>
          <p:nvPr/>
        </p:nvSpPr>
        <p:spPr>
          <a:xfrm>
            <a:off x="6553200" y="4953000"/>
            <a:ext cx="2057400" cy="1200329"/>
          </a:xfrm>
          <a:prstGeom prst="rect">
            <a:avLst/>
          </a:prstGeom>
        </p:spPr>
        <p:txBody>
          <a:bodyPr wrap="square">
            <a:spAutoFit/>
          </a:bodyPr>
          <a:lstStyle/>
          <a:p>
            <a:pPr algn="ctr"/>
            <a:r>
              <a:rPr lang="en-US" sz="2400" dirty="0" smtClean="0">
                <a:latin typeface="+mj-lt"/>
              </a:rPr>
              <a:t>Bureaucracy management style</a:t>
            </a:r>
            <a:endParaRPr lang="en-US" sz="2400" dirty="0">
              <a:latin typeface="+mj-l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Requirements Gathering</a:t>
            </a:r>
            <a:endParaRPr lang="en-US" dirty="0"/>
          </a:p>
        </p:txBody>
      </p:sp>
      <p:pic>
        <p:nvPicPr>
          <p:cNvPr id="4" name="Picture 6"/>
          <p:cNvPicPr>
            <a:picLocks noChangeAspect="1" noChangeArrowheads="1"/>
          </p:cNvPicPr>
          <p:nvPr/>
        </p:nvPicPr>
        <p:blipFill>
          <a:blip r:embed="rId2" cstate="print"/>
          <a:srcRect/>
          <a:stretch>
            <a:fillRect/>
          </a:stretch>
        </p:blipFill>
        <p:spPr bwMode="auto">
          <a:xfrm>
            <a:off x="1981200" y="1600200"/>
            <a:ext cx="5334000" cy="2390775"/>
          </a:xfrm>
          <a:prstGeom prst="rect">
            <a:avLst/>
          </a:prstGeom>
          <a:noFill/>
          <a:ln w="9525">
            <a:noFill/>
            <a:miter lim="800000"/>
            <a:headEnd/>
            <a:tailEnd/>
          </a:ln>
          <a:effectLst/>
        </p:spPr>
      </p:pic>
      <p:sp>
        <p:nvSpPr>
          <p:cNvPr id="5" name="Rectangle 4"/>
          <p:cNvSpPr/>
          <p:nvPr/>
        </p:nvSpPr>
        <p:spPr>
          <a:xfrm>
            <a:off x="2057400" y="4495800"/>
            <a:ext cx="5257800" cy="1077218"/>
          </a:xfrm>
          <a:prstGeom prst="rect">
            <a:avLst/>
          </a:prstGeom>
          <a:solidFill>
            <a:schemeClr val="accent2"/>
          </a:solidFill>
        </p:spPr>
        <p:txBody>
          <a:bodyPr wrap="square">
            <a:spAutoFit/>
          </a:bodyPr>
          <a:lstStyle/>
          <a:p>
            <a:pPr algn="ctr"/>
            <a:r>
              <a:rPr lang="en-US" sz="3200" i="1" dirty="0" smtClean="0">
                <a:solidFill>
                  <a:schemeClr val="bg1"/>
                </a:solidFill>
                <a:latin typeface="+mj-lt"/>
              </a:rPr>
              <a:t>I can’t tell you what I want, but I’ll know it when I see it.</a:t>
            </a:r>
            <a:endParaRPr lang="en-US" sz="3200" i="1" dirty="0">
              <a:solidFill>
                <a:schemeClr val="bg1"/>
              </a:solidFill>
              <a:latin typeface="+mj-l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Changes</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3657600" y="1371600"/>
            <a:ext cx="5238750" cy="4524375"/>
          </a:xfrm>
          <a:prstGeom prst="rect">
            <a:avLst/>
          </a:prstGeom>
          <a:noFill/>
          <a:ln w="9525">
            <a:noFill/>
            <a:miter lim="800000"/>
            <a:headEnd/>
            <a:tailEnd/>
          </a:ln>
          <a:effectLst/>
        </p:spPr>
      </p:pic>
      <p:pic>
        <p:nvPicPr>
          <p:cNvPr id="1028" name="Picture 4"/>
          <p:cNvPicPr>
            <a:picLocks noChangeAspect="1" noChangeArrowheads="1"/>
          </p:cNvPicPr>
          <p:nvPr/>
        </p:nvPicPr>
        <p:blipFill>
          <a:blip r:embed="rId3" cstate="print"/>
          <a:srcRect/>
          <a:stretch>
            <a:fillRect/>
          </a:stretch>
        </p:blipFill>
        <p:spPr bwMode="auto">
          <a:xfrm>
            <a:off x="228600" y="3571875"/>
            <a:ext cx="3333750" cy="2219325"/>
          </a:xfrm>
          <a:prstGeom prst="rect">
            <a:avLst/>
          </a:prstGeom>
          <a:noFill/>
          <a:ln w="9525">
            <a:noFill/>
            <a:miter lim="800000"/>
            <a:headEnd/>
            <a:tailEnd/>
          </a:ln>
          <a:effectLst/>
        </p:spPr>
      </p:pic>
      <p:sp>
        <p:nvSpPr>
          <p:cNvPr id="8" name="Rectangle 7"/>
          <p:cNvSpPr/>
          <p:nvPr/>
        </p:nvSpPr>
        <p:spPr>
          <a:xfrm>
            <a:off x="228600" y="1674674"/>
            <a:ext cx="3276600" cy="1754326"/>
          </a:xfrm>
          <a:prstGeom prst="rect">
            <a:avLst/>
          </a:prstGeom>
          <a:noFill/>
        </p:spPr>
        <p:txBody>
          <a:bodyPr wrap="square">
            <a:spAutoFit/>
          </a:bodyPr>
          <a:lstStyle/>
          <a:p>
            <a:pPr marL="342900" indent="-342900">
              <a:buFont typeface="Wingdings" pitchFamily="2" charset="2"/>
              <a:buChar char="q"/>
            </a:pPr>
            <a:r>
              <a:rPr lang="en-US" dirty="0" smtClean="0">
                <a:latin typeface="+mj-lt"/>
              </a:rPr>
              <a:t>The requirements change.</a:t>
            </a:r>
          </a:p>
          <a:p>
            <a:pPr marL="342900" indent="-342900">
              <a:buFont typeface="Wingdings" pitchFamily="2" charset="2"/>
              <a:buChar char="q"/>
            </a:pPr>
            <a:r>
              <a:rPr lang="en-US" dirty="0" smtClean="0">
                <a:latin typeface="+mj-lt"/>
              </a:rPr>
              <a:t>The design changes.</a:t>
            </a:r>
          </a:p>
          <a:p>
            <a:pPr marL="342900" indent="-342900">
              <a:buFont typeface="Wingdings" pitchFamily="2" charset="2"/>
              <a:buChar char="q"/>
            </a:pPr>
            <a:r>
              <a:rPr lang="en-US" dirty="0" smtClean="0">
                <a:latin typeface="+mj-lt"/>
              </a:rPr>
              <a:t>The business changes. </a:t>
            </a:r>
          </a:p>
          <a:p>
            <a:pPr marL="342900" indent="-342900">
              <a:buFont typeface="Wingdings" pitchFamily="2" charset="2"/>
              <a:buChar char="q"/>
            </a:pPr>
            <a:r>
              <a:rPr lang="en-US" dirty="0" smtClean="0">
                <a:latin typeface="+mj-lt"/>
              </a:rPr>
              <a:t>The technology changes.</a:t>
            </a:r>
          </a:p>
          <a:p>
            <a:pPr marL="342900" indent="-342900">
              <a:buFont typeface="Wingdings" pitchFamily="2" charset="2"/>
              <a:buChar char="q"/>
            </a:pPr>
            <a:r>
              <a:rPr lang="en-US" dirty="0" smtClean="0">
                <a:latin typeface="+mj-lt"/>
              </a:rPr>
              <a:t>The team changes.</a:t>
            </a:r>
          </a:p>
          <a:p>
            <a:pPr marL="342900" indent="-342900">
              <a:buFont typeface="Wingdings" pitchFamily="2" charset="2"/>
              <a:buChar char="q"/>
            </a:pPr>
            <a:r>
              <a:rPr lang="en-US" dirty="0" smtClean="0">
                <a:latin typeface="+mj-lt"/>
              </a:rPr>
              <a:t>The team members change. </a:t>
            </a:r>
            <a:endParaRPr lang="en-US" dirty="0">
              <a:latin typeface="+mj-lt"/>
            </a:endParaRPr>
          </a:p>
        </p:txBody>
      </p:sp>
      <p:sp>
        <p:nvSpPr>
          <p:cNvPr id="9" name="Rectangle 8"/>
          <p:cNvSpPr/>
          <p:nvPr/>
        </p:nvSpPr>
        <p:spPr>
          <a:xfrm>
            <a:off x="381000" y="5934670"/>
            <a:ext cx="8382000" cy="769441"/>
          </a:xfrm>
          <a:prstGeom prst="rect">
            <a:avLst/>
          </a:prstGeom>
          <a:solidFill>
            <a:schemeClr val="accent3"/>
          </a:solidFill>
        </p:spPr>
        <p:txBody>
          <a:bodyPr wrap="square">
            <a:spAutoFit/>
          </a:bodyPr>
          <a:lstStyle/>
          <a:p>
            <a:pPr algn="ctr"/>
            <a:r>
              <a:rPr lang="en-US" sz="2200" dirty="0" smtClean="0">
                <a:solidFill>
                  <a:schemeClr val="bg1"/>
                </a:solidFill>
                <a:latin typeface="+mj-lt"/>
              </a:rPr>
              <a:t>The problem isn't change, because change is going to happen; the problem, rather, is our inability to cope with change.</a:t>
            </a:r>
            <a:endParaRPr lang="en-US" sz="2200" dirty="0">
              <a:solidFill>
                <a:schemeClr val="bg1"/>
              </a:solidFill>
              <a:latin typeface="+mj-lt"/>
            </a:endParaRPr>
          </a:p>
        </p:txBody>
      </p:sp>
      <p:sp>
        <p:nvSpPr>
          <p:cNvPr id="10" name="Rectangle 9"/>
          <p:cNvSpPr/>
          <p:nvPr/>
        </p:nvSpPr>
        <p:spPr>
          <a:xfrm>
            <a:off x="304800" y="1143000"/>
            <a:ext cx="8382000" cy="369332"/>
          </a:xfrm>
          <a:prstGeom prst="rect">
            <a:avLst/>
          </a:prstGeom>
        </p:spPr>
        <p:txBody>
          <a:bodyPr wrap="square">
            <a:spAutoFit/>
          </a:bodyPr>
          <a:lstStyle/>
          <a:p>
            <a:r>
              <a:rPr lang="en-US" dirty="0" smtClean="0">
                <a:latin typeface="+mj-lt"/>
              </a:rPr>
              <a:t>Software Development is more like New Product Development than Manufacturing</a:t>
            </a:r>
            <a:endParaRPr lang="en-US" dirty="0">
              <a:latin typeface="+mj-lt"/>
            </a:endParaRPr>
          </a:p>
        </p:txBody>
      </p:sp>
      <p:sp>
        <p:nvSpPr>
          <p:cNvPr id="11" name="Rectangle 10"/>
          <p:cNvSpPr/>
          <p:nvPr/>
        </p:nvSpPr>
        <p:spPr>
          <a:xfrm>
            <a:off x="685800" y="5029200"/>
            <a:ext cx="2209800" cy="646331"/>
          </a:xfrm>
          <a:prstGeom prst="rect">
            <a:avLst/>
          </a:prstGeom>
          <a:solidFill>
            <a:schemeClr val="accent2"/>
          </a:solidFill>
        </p:spPr>
        <p:txBody>
          <a:bodyPr wrap="square">
            <a:spAutoFit/>
          </a:bodyPr>
          <a:lstStyle/>
          <a:p>
            <a:pPr algn="ctr"/>
            <a:r>
              <a:rPr lang="en-US" dirty="0" smtClean="0">
                <a:solidFill>
                  <a:schemeClr val="bg1"/>
                </a:solidFill>
                <a:latin typeface="+mj-lt"/>
              </a:rPr>
              <a:t>Uncertainty and Unknown Variables</a:t>
            </a:r>
            <a:endParaRPr lang="en-US" dirty="0">
              <a:solidFill>
                <a:schemeClr val="bg1"/>
              </a:solidFill>
              <a:latin typeface="+mj-l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Evolutionary Delivery</a:t>
            </a:r>
            <a:endParaRPr lang="en-US" dirty="0"/>
          </a:p>
        </p:txBody>
      </p:sp>
      <p:sp>
        <p:nvSpPr>
          <p:cNvPr id="6" name="TextBox 10"/>
          <p:cNvSpPr txBox="1">
            <a:spLocks noChangeArrowheads="1"/>
          </p:cNvSpPr>
          <p:nvPr/>
        </p:nvSpPr>
        <p:spPr bwMode="auto">
          <a:xfrm>
            <a:off x="381000" y="1219200"/>
            <a:ext cx="8534400" cy="1107996"/>
          </a:xfrm>
          <a:prstGeom prst="rect">
            <a:avLst/>
          </a:prstGeom>
          <a:noFill/>
          <a:ln w="9525">
            <a:noFill/>
            <a:miter lim="800000"/>
            <a:headEnd/>
            <a:tailEnd/>
          </a:ln>
        </p:spPr>
        <p:txBody>
          <a:bodyPr wrap="square">
            <a:spAutoFit/>
          </a:bodyPr>
          <a:lstStyle/>
          <a:p>
            <a:pPr algn="ctr"/>
            <a:r>
              <a:rPr lang="en-US" sz="2200" i="1" dirty="0" smtClean="0">
                <a:solidFill>
                  <a:srgbClr val="C00000"/>
                </a:solidFill>
                <a:latin typeface="+mj-lt"/>
              </a:rPr>
              <a:t>Evolutionary delivery</a:t>
            </a:r>
            <a:r>
              <a:rPr lang="en-US" sz="2200" dirty="0" smtClean="0">
                <a:latin typeface="+mj-lt"/>
              </a:rPr>
              <a:t> is a lifecycle model in which you develop a version of your product, show it to your customer, and refine the product based on customer feedback.</a:t>
            </a:r>
            <a:endParaRPr lang="en-US" sz="2200" dirty="0">
              <a:latin typeface="+mj-lt"/>
            </a:endParaRPr>
          </a:p>
        </p:txBody>
      </p:sp>
      <p:pic>
        <p:nvPicPr>
          <p:cNvPr id="2050" name="Picture 2"/>
          <p:cNvPicPr>
            <a:picLocks noChangeAspect="1" noChangeArrowheads="1"/>
          </p:cNvPicPr>
          <p:nvPr/>
        </p:nvPicPr>
        <p:blipFill>
          <a:blip r:embed="rId2" cstate="print"/>
          <a:srcRect/>
          <a:stretch>
            <a:fillRect/>
          </a:stretch>
        </p:blipFill>
        <p:spPr bwMode="auto">
          <a:xfrm>
            <a:off x="990600" y="2486025"/>
            <a:ext cx="5753100" cy="4295775"/>
          </a:xfrm>
          <a:prstGeom prst="rect">
            <a:avLst/>
          </a:prstGeom>
          <a:noFill/>
          <a:ln w="9525">
            <a:noFill/>
            <a:miter lim="800000"/>
            <a:headEnd/>
            <a:tailEnd/>
          </a:ln>
        </p:spPr>
      </p:pic>
      <p:sp>
        <p:nvSpPr>
          <p:cNvPr id="7" name="Rectangle 6"/>
          <p:cNvSpPr/>
          <p:nvPr/>
        </p:nvSpPr>
        <p:spPr>
          <a:xfrm>
            <a:off x="4267200" y="2363450"/>
            <a:ext cx="4724400" cy="1446550"/>
          </a:xfrm>
          <a:prstGeom prst="rect">
            <a:avLst/>
          </a:prstGeom>
        </p:spPr>
        <p:txBody>
          <a:bodyPr wrap="square">
            <a:spAutoFit/>
          </a:bodyPr>
          <a:lstStyle/>
          <a:p>
            <a:r>
              <a:rPr lang="en-US" sz="2200" dirty="0" smtClean="0">
                <a:latin typeface="+mj-lt"/>
              </a:rPr>
              <a:t>Your initial emphasis is on </a:t>
            </a:r>
            <a:r>
              <a:rPr lang="en-US" sz="2200" i="1" dirty="0" smtClean="0">
                <a:solidFill>
                  <a:srgbClr val="C00000"/>
                </a:solidFill>
                <a:latin typeface="+mj-lt"/>
              </a:rPr>
              <a:t>the </a:t>
            </a:r>
            <a:r>
              <a:rPr lang="en-US" sz="2200" i="1" u="sng" dirty="0" smtClean="0">
                <a:solidFill>
                  <a:srgbClr val="C00000"/>
                </a:solidFill>
                <a:latin typeface="+mj-lt"/>
              </a:rPr>
              <a:t>core</a:t>
            </a:r>
            <a:r>
              <a:rPr lang="en-US" sz="2200" i="1" dirty="0" smtClean="0">
                <a:solidFill>
                  <a:srgbClr val="C00000"/>
                </a:solidFill>
                <a:latin typeface="+mj-lt"/>
              </a:rPr>
              <a:t> of the system</a:t>
            </a:r>
            <a:r>
              <a:rPr lang="en-US" sz="2200" dirty="0" smtClean="0">
                <a:latin typeface="+mj-lt"/>
              </a:rPr>
              <a:t>, which consists of </a:t>
            </a:r>
            <a:r>
              <a:rPr lang="en-US" sz="2200" u="sng" dirty="0" smtClean="0">
                <a:latin typeface="+mj-lt"/>
              </a:rPr>
              <a:t>lower level</a:t>
            </a:r>
            <a:r>
              <a:rPr lang="en-US" sz="2200" dirty="0" smtClean="0">
                <a:latin typeface="+mj-lt"/>
              </a:rPr>
              <a:t> system functions that are </a:t>
            </a:r>
            <a:r>
              <a:rPr lang="en-US" sz="2200" i="1" dirty="0" smtClean="0">
                <a:solidFill>
                  <a:srgbClr val="C00000"/>
                </a:solidFill>
                <a:latin typeface="+mj-lt"/>
              </a:rPr>
              <a:t>unlikely to be changed</a:t>
            </a:r>
            <a:r>
              <a:rPr lang="en-US" sz="2200" dirty="0" smtClean="0">
                <a:latin typeface="+mj-lt"/>
              </a:rPr>
              <a:t> by customer feedback.</a:t>
            </a:r>
            <a:endParaRPr lang="en-US" sz="2200" dirty="0">
              <a:latin typeface="+mj-lt"/>
            </a:endParaRPr>
          </a:p>
        </p:txBody>
      </p:sp>
      <p:sp>
        <p:nvSpPr>
          <p:cNvPr id="8" name="Cloud Callout 7"/>
          <p:cNvSpPr/>
          <p:nvPr/>
        </p:nvSpPr>
        <p:spPr>
          <a:xfrm>
            <a:off x="6553200" y="4953000"/>
            <a:ext cx="2362200" cy="685800"/>
          </a:xfrm>
          <a:prstGeom prst="cloudCallout">
            <a:avLst>
              <a:gd name="adj1" fmla="val -99662"/>
              <a:gd name="adj2" fmla="val -37434"/>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smtClean="0">
                <a:latin typeface="+mj-lt"/>
              </a:rPr>
              <a:t>HOW? – IID</a:t>
            </a:r>
            <a:endParaRPr lang="en-US" sz="2200" dirty="0">
              <a:latin typeface="+mj-l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Evolutionary Prototyping Model</a:t>
            </a:r>
            <a:endParaRPr lang="en-US" dirty="0"/>
          </a:p>
        </p:txBody>
      </p:sp>
      <p:sp>
        <p:nvSpPr>
          <p:cNvPr id="4" name="TextBox 10"/>
          <p:cNvSpPr txBox="1">
            <a:spLocks noChangeArrowheads="1"/>
          </p:cNvSpPr>
          <p:nvPr/>
        </p:nvSpPr>
        <p:spPr bwMode="auto">
          <a:xfrm>
            <a:off x="228600" y="1295400"/>
            <a:ext cx="8610600" cy="1107996"/>
          </a:xfrm>
          <a:prstGeom prst="rect">
            <a:avLst/>
          </a:prstGeom>
          <a:noFill/>
          <a:ln w="9525">
            <a:noFill/>
            <a:miter lim="800000"/>
            <a:headEnd/>
            <a:tailEnd/>
          </a:ln>
        </p:spPr>
        <p:txBody>
          <a:bodyPr wrap="square">
            <a:spAutoFit/>
          </a:bodyPr>
          <a:lstStyle/>
          <a:p>
            <a:pPr algn="ctr"/>
            <a:r>
              <a:rPr lang="en-US" sz="2200" i="1" dirty="0" smtClean="0">
                <a:solidFill>
                  <a:srgbClr val="C00000"/>
                </a:solidFill>
                <a:latin typeface="+mj-lt"/>
              </a:rPr>
              <a:t>Evolutionary prototyping</a:t>
            </a:r>
            <a:r>
              <a:rPr lang="en-US" sz="2200" dirty="0" smtClean="0">
                <a:latin typeface="+mj-lt"/>
              </a:rPr>
              <a:t> is a lifecycle model whose stages consist of expanding increments of an operational software product, with the directions of evolution being determined by operational experience.</a:t>
            </a:r>
            <a:endParaRPr lang="en-US" sz="2200" dirty="0">
              <a:latin typeface="+mj-lt"/>
            </a:endParaRPr>
          </a:p>
        </p:txBody>
      </p:sp>
      <p:pic>
        <p:nvPicPr>
          <p:cNvPr id="2050" name="Picture 2"/>
          <p:cNvPicPr>
            <a:picLocks noChangeAspect="1" noChangeArrowheads="1"/>
          </p:cNvPicPr>
          <p:nvPr/>
        </p:nvPicPr>
        <p:blipFill>
          <a:blip r:embed="rId2" cstate="print"/>
          <a:srcRect/>
          <a:stretch>
            <a:fillRect/>
          </a:stretch>
        </p:blipFill>
        <p:spPr bwMode="auto">
          <a:xfrm>
            <a:off x="2324100" y="2457450"/>
            <a:ext cx="4457700" cy="1657350"/>
          </a:xfrm>
          <a:prstGeom prst="rect">
            <a:avLst/>
          </a:prstGeom>
          <a:noFill/>
          <a:ln w="9525">
            <a:noFill/>
            <a:miter lim="800000"/>
            <a:headEnd/>
            <a:tailEnd/>
          </a:ln>
        </p:spPr>
      </p:pic>
      <p:sp>
        <p:nvSpPr>
          <p:cNvPr id="7" name="Content Placeholder 2"/>
          <p:cNvSpPr>
            <a:spLocks noGrp="1"/>
          </p:cNvSpPr>
          <p:nvPr>
            <p:ph idx="1"/>
          </p:nvPr>
        </p:nvSpPr>
        <p:spPr>
          <a:xfrm>
            <a:off x="152400" y="4038600"/>
            <a:ext cx="8763000" cy="2743200"/>
          </a:xfrm>
        </p:spPr>
        <p:txBody>
          <a:bodyPr/>
          <a:lstStyle/>
          <a:p>
            <a:r>
              <a:rPr lang="en-US" sz="2200" dirty="0" smtClean="0"/>
              <a:t>Begin by developing the </a:t>
            </a:r>
            <a:r>
              <a:rPr lang="en-US" sz="2200" i="1" dirty="0" smtClean="0">
                <a:solidFill>
                  <a:srgbClr val="C00000"/>
                </a:solidFill>
              </a:rPr>
              <a:t>most </a:t>
            </a:r>
            <a:r>
              <a:rPr lang="en-US" sz="2200" i="1" u="sng" dirty="0" smtClean="0">
                <a:solidFill>
                  <a:srgbClr val="C00000"/>
                </a:solidFill>
              </a:rPr>
              <a:t>visible</a:t>
            </a:r>
            <a:r>
              <a:rPr lang="en-US" sz="2200" i="1" dirty="0" smtClean="0">
                <a:solidFill>
                  <a:srgbClr val="C00000"/>
                </a:solidFill>
              </a:rPr>
              <a:t> aspects</a:t>
            </a:r>
            <a:r>
              <a:rPr lang="en-US" sz="2200" dirty="0" smtClean="0"/>
              <a:t> of the system.</a:t>
            </a:r>
          </a:p>
          <a:p>
            <a:r>
              <a:rPr lang="en-US" sz="2200" dirty="0" smtClean="0"/>
              <a:t>Demonstrate that part of the system to the customer and then continue to develop die prototype based on </a:t>
            </a:r>
            <a:r>
              <a:rPr lang="en-US" sz="2200" i="1" dirty="0" smtClean="0">
                <a:solidFill>
                  <a:srgbClr val="C00000"/>
                </a:solidFill>
              </a:rPr>
              <a:t>the feedback</a:t>
            </a:r>
            <a:r>
              <a:rPr lang="en-US" sz="2200" dirty="0" smtClean="0"/>
              <a:t> you receive.</a:t>
            </a:r>
          </a:p>
          <a:p>
            <a:r>
              <a:rPr lang="en-US" sz="2200" dirty="0" smtClean="0"/>
              <a:t>At some point, you and the customer agree that the prototype is "</a:t>
            </a:r>
            <a:r>
              <a:rPr lang="en-US" sz="2200" i="1" dirty="0" smtClean="0">
                <a:solidFill>
                  <a:srgbClr val="C00000"/>
                </a:solidFill>
              </a:rPr>
              <a:t>good enough</a:t>
            </a:r>
            <a:r>
              <a:rPr lang="en-US" sz="2200" dirty="0" smtClean="0"/>
              <a:t>."</a:t>
            </a:r>
          </a:p>
          <a:p>
            <a:r>
              <a:rPr lang="en-US" sz="2200" dirty="0" smtClean="0"/>
              <a:t>At that point, you </a:t>
            </a:r>
            <a:r>
              <a:rPr lang="en-US" sz="2200" i="1" dirty="0" smtClean="0">
                <a:solidFill>
                  <a:srgbClr val="C00000"/>
                </a:solidFill>
              </a:rPr>
              <a:t>complete any remaining work</a:t>
            </a:r>
            <a:r>
              <a:rPr lang="en-US" sz="2200" dirty="0" smtClean="0"/>
              <a:t> on the system and release the prototype as the final product.</a:t>
            </a:r>
            <a:endParaRPr lang="en-US" sz="2200" dirty="0"/>
          </a:p>
        </p:txBody>
      </p:sp>
      <p:sp>
        <p:nvSpPr>
          <p:cNvPr id="6" name="Cloud Callout 5"/>
          <p:cNvSpPr/>
          <p:nvPr/>
        </p:nvSpPr>
        <p:spPr>
          <a:xfrm>
            <a:off x="6477000" y="3276600"/>
            <a:ext cx="2362200" cy="685800"/>
          </a:xfrm>
          <a:prstGeom prst="cloudCallout">
            <a:avLst>
              <a:gd name="adj1" fmla="val -114684"/>
              <a:gd name="adj2" fmla="val -3603"/>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smtClean="0">
                <a:latin typeface="+mj-lt"/>
              </a:rPr>
              <a:t>HOW? – IID</a:t>
            </a:r>
            <a:endParaRPr lang="en-US" sz="2200" dirty="0">
              <a:latin typeface="+mj-lt"/>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p:cNvPicPr>
            <a:picLocks noChangeAspect="1" noChangeArrowheads="1"/>
          </p:cNvPicPr>
          <p:nvPr/>
        </p:nvPicPr>
        <p:blipFill>
          <a:blip r:embed="rId2" cstate="print"/>
          <a:srcRect/>
          <a:stretch>
            <a:fillRect/>
          </a:stretch>
        </p:blipFill>
        <p:spPr bwMode="auto">
          <a:xfrm>
            <a:off x="137584" y="4248150"/>
            <a:ext cx="3901016" cy="2533650"/>
          </a:xfrm>
          <a:prstGeom prst="rect">
            <a:avLst/>
          </a:prstGeom>
          <a:noFill/>
          <a:ln w="9525">
            <a:noFill/>
            <a:miter lim="800000"/>
            <a:headEnd/>
            <a:tailEnd/>
          </a:ln>
          <a:effectLst/>
        </p:spPr>
      </p:pic>
      <p:sp>
        <p:nvSpPr>
          <p:cNvPr id="4098" name="Title 1"/>
          <p:cNvSpPr>
            <a:spLocks noGrp="1"/>
          </p:cNvSpPr>
          <p:nvPr>
            <p:ph type="title"/>
          </p:nvPr>
        </p:nvSpPr>
        <p:spPr/>
        <p:txBody>
          <a:bodyPr/>
          <a:lstStyle/>
          <a:p>
            <a:r>
              <a:rPr lang="en-US" sz="3600" dirty="0" smtClean="0"/>
              <a:t>Iterative and Incremental Development [4]</a:t>
            </a:r>
          </a:p>
        </p:txBody>
      </p:sp>
      <p:sp>
        <p:nvSpPr>
          <p:cNvPr id="9" name="TextBox 10"/>
          <p:cNvSpPr txBox="1">
            <a:spLocks noChangeArrowheads="1"/>
          </p:cNvSpPr>
          <p:nvPr/>
        </p:nvSpPr>
        <p:spPr bwMode="auto">
          <a:xfrm>
            <a:off x="4191000" y="5521404"/>
            <a:ext cx="4724400" cy="923330"/>
          </a:xfrm>
          <a:prstGeom prst="rect">
            <a:avLst/>
          </a:prstGeom>
          <a:noFill/>
          <a:ln w="9525">
            <a:noFill/>
            <a:miter lim="800000"/>
            <a:headEnd/>
            <a:tailEnd/>
          </a:ln>
        </p:spPr>
        <p:txBody>
          <a:bodyPr wrap="square">
            <a:spAutoFit/>
          </a:bodyPr>
          <a:lstStyle/>
          <a:p>
            <a:pPr algn="ctr"/>
            <a:r>
              <a:rPr lang="en-US" dirty="0" smtClean="0">
                <a:latin typeface="+mj-lt"/>
              </a:rPr>
              <a:t>The goal for the end of an iteration is an iteration release, a stable, integrated and tested </a:t>
            </a:r>
            <a:r>
              <a:rPr lang="en-US" i="1" dirty="0" smtClean="0">
                <a:solidFill>
                  <a:srgbClr val="C00000"/>
                </a:solidFill>
                <a:latin typeface="+mj-lt"/>
              </a:rPr>
              <a:t>partially complete system</a:t>
            </a:r>
            <a:r>
              <a:rPr lang="en-US" dirty="0" smtClean="0">
                <a:latin typeface="+mj-lt"/>
              </a:rPr>
              <a:t>.</a:t>
            </a:r>
            <a:endParaRPr lang="en-US" dirty="0">
              <a:latin typeface="+mj-lt"/>
            </a:endParaRPr>
          </a:p>
        </p:txBody>
      </p:sp>
      <p:sp>
        <p:nvSpPr>
          <p:cNvPr id="4" name="TextBox 10"/>
          <p:cNvSpPr txBox="1">
            <a:spLocks noChangeArrowheads="1"/>
          </p:cNvSpPr>
          <p:nvPr/>
        </p:nvSpPr>
        <p:spPr bwMode="auto">
          <a:xfrm>
            <a:off x="152400" y="1447800"/>
            <a:ext cx="8610600" cy="923330"/>
          </a:xfrm>
          <a:prstGeom prst="rect">
            <a:avLst/>
          </a:prstGeom>
          <a:noFill/>
          <a:ln w="9525">
            <a:noFill/>
            <a:miter lim="800000"/>
            <a:headEnd/>
            <a:tailEnd/>
          </a:ln>
        </p:spPr>
        <p:txBody>
          <a:bodyPr wrap="square">
            <a:spAutoFit/>
          </a:bodyPr>
          <a:lstStyle/>
          <a:p>
            <a:pPr algn="ctr"/>
            <a:r>
              <a:rPr lang="en-US" i="1" dirty="0" smtClean="0">
                <a:solidFill>
                  <a:srgbClr val="C00000"/>
                </a:solidFill>
                <a:latin typeface="+mj-lt"/>
              </a:rPr>
              <a:t>Iterative and incremental development</a:t>
            </a:r>
            <a:r>
              <a:rPr lang="en-US" dirty="0" smtClean="0">
                <a:latin typeface="+mj-lt"/>
              </a:rPr>
              <a:t> is an approach to building software in which the overall lifecycle is composed of </a:t>
            </a:r>
            <a:r>
              <a:rPr lang="en-US" i="1" dirty="0" smtClean="0">
                <a:solidFill>
                  <a:srgbClr val="C00000"/>
                </a:solidFill>
                <a:latin typeface="+mj-lt"/>
              </a:rPr>
              <a:t>several iterations </a:t>
            </a:r>
            <a:r>
              <a:rPr lang="en-US" dirty="0" smtClean="0">
                <a:latin typeface="+mj-lt"/>
              </a:rPr>
              <a:t>in sequence and system functionality are sliced into </a:t>
            </a:r>
            <a:r>
              <a:rPr lang="en-US" i="1" dirty="0" smtClean="0">
                <a:solidFill>
                  <a:srgbClr val="C00000"/>
                </a:solidFill>
                <a:latin typeface="+mj-lt"/>
              </a:rPr>
              <a:t>increments</a:t>
            </a:r>
            <a:r>
              <a:rPr lang="en-US" dirty="0" smtClean="0">
                <a:latin typeface="+mj-lt"/>
              </a:rPr>
              <a:t> (portions).</a:t>
            </a:r>
            <a:endParaRPr lang="en-US" dirty="0">
              <a:latin typeface="+mj-lt"/>
            </a:endParaRPr>
          </a:p>
        </p:txBody>
      </p:sp>
      <p:sp>
        <p:nvSpPr>
          <p:cNvPr id="8" name="TextBox 10"/>
          <p:cNvSpPr txBox="1">
            <a:spLocks noChangeArrowheads="1"/>
          </p:cNvSpPr>
          <p:nvPr/>
        </p:nvSpPr>
        <p:spPr bwMode="auto">
          <a:xfrm>
            <a:off x="228600" y="2438400"/>
            <a:ext cx="2438400" cy="1754326"/>
          </a:xfrm>
          <a:prstGeom prst="rect">
            <a:avLst/>
          </a:prstGeom>
          <a:noFill/>
          <a:ln w="9525">
            <a:noFill/>
            <a:miter lim="800000"/>
            <a:headEnd/>
            <a:tailEnd/>
          </a:ln>
        </p:spPr>
        <p:txBody>
          <a:bodyPr wrap="square">
            <a:spAutoFit/>
          </a:bodyPr>
          <a:lstStyle/>
          <a:p>
            <a:pPr algn="ctr"/>
            <a:r>
              <a:rPr lang="en-US" i="1" dirty="0" smtClean="0">
                <a:solidFill>
                  <a:srgbClr val="C00000"/>
                </a:solidFill>
                <a:latin typeface="+mj-lt"/>
              </a:rPr>
              <a:t>Each iteration</a:t>
            </a:r>
            <a:r>
              <a:rPr lang="en-US" dirty="0" smtClean="0">
                <a:latin typeface="+mj-lt"/>
              </a:rPr>
              <a:t> is a self-contained mini-project composed of activities such as requirements analysis, design, programming, and test.</a:t>
            </a:r>
            <a:endParaRPr lang="en-US" dirty="0">
              <a:latin typeface="+mj-lt"/>
            </a:endParaRPr>
          </a:p>
        </p:txBody>
      </p:sp>
      <p:pic>
        <p:nvPicPr>
          <p:cNvPr id="6146" name="Picture 2"/>
          <p:cNvPicPr>
            <a:picLocks noChangeAspect="1" noChangeArrowheads="1"/>
          </p:cNvPicPr>
          <p:nvPr/>
        </p:nvPicPr>
        <p:blipFill>
          <a:blip r:embed="rId3" cstate="print"/>
          <a:srcRect/>
          <a:stretch>
            <a:fillRect/>
          </a:stretch>
        </p:blipFill>
        <p:spPr bwMode="auto">
          <a:xfrm>
            <a:off x="2924175" y="2419350"/>
            <a:ext cx="6219825" cy="2914650"/>
          </a:xfrm>
          <a:prstGeom prst="rect">
            <a:avLst/>
          </a:prstGeom>
          <a:noFill/>
          <a:ln w="9525">
            <a:no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Incremental Delivery</a:t>
            </a:r>
            <a:endParaRPr lang="en-US" dirty="0"/>
          </a:p>
        </p:txBody>
      </p:sp>
      <p:sp>
        <p:nvSpPr>
          <p:cNvPr id="4" name="TextBox 10"/>
          <p:cNvSpPr txBox="1">
            <a:spLocks noChangeArrowheads="1"/>
          </p:cNvSpPr>
          <p:nvPr/>
        </p:nvSpPr>
        <p:spPr bwMode="auto">
          <a:xfrm>
            <a:off x="381000" y="1295400"/>
            <a:ext cx="8458200" cy="1200329"/>
          </a:xfrm>
          <a:prstGeom prst="rect">
            <a:avLst/>
          </a:prstGeom>
          <a:noFill/>
          <a:ln w="9525">
            <a:noFill/>
            <a:miter lim="800000"/>
            <a:headEnd/>
            <a:tailEnd/>
          </a:ln>
        </p:spPr>
        <p:txBody>
          <a:bodyPr wrap="square">
            <a:spAutoFit/>
          </a:bodyPr>
          <a:lstStyle/>
          <a:p>
            <a:pPr algn="ctr"/>
            <a:r>
              <a:rPr lang="en-US" sz="2400" i="1" dirty="0" smtClean="0">
                <a:solidFill>
                  <a:srgbClr val="C00000"/>
                </a:solidFill>
                <a:latin typeface="+mj-lt"/>
              </a:rPr>
              <a:t>Incremental delivery</a:t>
            </a:r>
            <a:r>
              <a:rPr lang="en-US" sz="2400" dirty="0" smtClean="0">
                <a:latin typeface="+mj-lt"/>
              </a:rPr>
              <a:t> is the practice of repeatedly delivering a system into production (or the marketplace) in a series of expanding capabilities.</a:t>
            </a:r>
            <a:endParaRPr lang="en-US" sz="2400" dirty="0">
              <a:latin typeface="+mj-lt"/>
            </a:endParaRPr>
          </a:p>
        </p:txBody>
      </p:sp>
      <p:graphicFrame>
        <p:nvGraphicFramePr>
          <p:cNvPr id="29" name="Diagram 28"/>
          <p:cNvGraphicFramePr/>
          <p:nvPr/>
        </p:nvGraphicFramePr>
        <p:xfrm>
          <a:off x="2667000" y="2362200"/>
          <a:ext cx="40386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Rectangle 7"/>
          <p:cNvSpPr/>
          <p:nvPr/>
        </p:nvSpPr>
        <p:spPr>
          <a:xfrm>
            <a:off x="5562600" y="6019800"/>
            <a:ext cx="1827552" cy="584775"/>
          </a:xfrm>
          <a:prstGeom prst="rect">
            <a:avLst/>
          </a:prstGeom>
        </p:spPr>
        <p:txBody>
          <a:bodyPr wrap="none">
            <a:spAutoFit/>
          </a:bodyPr>
          <a:lstStyle/>
          <a:p>
            <a:r>
              <a:rPr lang="en-US" sz="3200" i="1" u="sng" dirty="0" smtClean="0">
                <a:solidFill>
                  <a:srgbClr val="C00000"/>
                </a:solidFill>
                <a:latin typeface="+mj-lt"/>
              </a:rPr>
              <a:t>A product</a:t>
            </a:r>
            <a:endParaRPr lang="en-US" sz="3200" i="1" u="sng" dirty="0">
              <a:solidFill>
                <a:srgbClr val="C00000"/>
              </a:solidFill>
              <a:latin typeface="+mj-lt"/>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Evolutionary Delivery</a:t>
            </a:r>
            <a:endParaRPr lang="en-US" dirty="0"/>
          </a:p>
        </p:txBody>
      </p:sp>
      <p:sp>
        <p:nvSpPr>
          <p:cNvPr id="4" name="TextBox 10"/>
          <p:cNvSpPr txBox="1">
            <a:spLocks noChangeArrowheads="1"/>
          </p:cNvSpPr>
          <p:nvPr/>
        </p:nvSpPr>
        <p:spPr bwMode="auto">
          <a:xfrm>
            <a:off x="457200" y="1371600"/>
            <a:ext cx="8305800" cy="1569660"/>
          </a:xfrm>
          <a:prstGeom prst="rect">
            <a:avLst/>
          </a:prstGeom>
          <a:noFill/>
          <a:ln w="9525">
            <a:noFill/>
            <a:miter lim="800000"/>
            <a:headEnd/>
            <a:tailEnd/>
          </a:ln>
        </p:spPr>
        <p:txBody>
          <a:bodyPr wrap="square">
            <a:spAutoFit/>
          </a:bodyPr>
          <a:lstStyle/>
          <a:p>
            <a:pPr algn="ctr"/>
            <a:r>
              <a:rPr lang="en-US" sz="2400" i="1" dirty="0" smtClean="0">
                <a:solidFill>
                  <a:srgbClr val="C00000"/>
                </a:solidFill>
                <a:latin typeface="+mj-lt"/>
              </a:rPr>
              <a:t>Evolutionary delivery</a:t>
            </a:r>
            <a:r>
              <a:rPr lang="en-US" sz="2400" dirty="0" smtClean="0">
                <a:latin typeface="+mj-lt"/>
              </a:rPr>
              <a:t> is a </a:t>
            </a:r>
            <a:r>
              <a:rPr lang="en-US" sz="2400" u="sng" dirty="0" smtClean="0">
                <a:latin typeface="+mj-lt"/>
              </a:rPr>
              <a:t>refinement</a:t>
            </a:r>
            <a:r>
              <a:rPr lang="en-US" sz="2400" dirty="0" smtClean="0">
                <a:latin typeface="+mj-lt"/>
              </a:rPr>
              <a:t> of the practice of incremental delivery in which there is a vigorous attempt to capture feedback regarding the installed product, and use this to guide the next delivery.</a:t>
            </a:r>
            <a:endParaRPr lang="en-US" sz="2400" dirty="0">
              <a:latin typeface="+mj-lt"/>
            </a:endParaRPr>
          </a:p>
        </p:txBody>
      </p:sp>
      <p:pic>
        <p:nvPicPr>
          <p:cNvPr id="2054" name="Picture 6"/>
          <p:cNvPicPr>
            <a:picLocks noChangeAspect="1" noChangeArrowheads="1"/>
          </p:cNvPicPr>
          <p:nvPr/>
        </p:nvPicPr>
        <p:blipFill>
          <a:blip r:embed="rId2" cstate="print"/>
          <a:srcRect/>
          <a:stretch>
            <a:fillRect/>
          </a:stretch>
        </p:blipFill>
        <p:spPr bwMode="auto">
          <a:xfrm>
            <a:off x="1295400" y="3067050"/>
            <a:ext cx="3714750" cy="3333750"/>
          </a:xfrm>
          <a:prstGeom prst="rect">
            <a:avLst/>
          </a:prstGeom>
          <a:noFill/>
          <a:ln w="9525">
            <a:noFill/>
            <a:miter lim="800000"/>
            <a:headEnd/>
            <a:tailEnd/>
          </a:ln>
          <a:effectLst/>
        </p:spPr>
      </p:pic>
      <p:pic>
        <p:nvPicPr>
          <p:cNvPr id="2055" name="Picture 7"/>
          <p:cNvPicPr>
            <a:picLocks noChangeAspect="1" noChangeArrowheads="1"/>
          </p:cNvPicPr>
          <p:nvPr/>
        </p:nvPicPr>
        <p:blipFill>
          <a:blip r:embed="rId3" cstate="print"/>
          <a:srcRect/>
          <a:stretch>
            <a:fillRect/>
          </a:stretch>
        </p:blipFill>
        <p:spPr bwMode="auto">
          <a:xfrm>
            <a:off x="4876800" y="3143250"/>
            <a:ext cx="1602557" cy="3238500"/>
          </a:xfrm>
          <a:prstGeom prst="rect">
            <a:avLst/>
          </a:prstGeom>
          <a:noFill/>
          <a:ln w="9525">
            <a:noFill/>
            <a:miter lim="800000"/>
            <a:headEnd/>
            <a:tailEnd/>
          </a:ln>
          <a:effectLst/>
        </p:spPr>
      </p:pic>
      <p:pic>
        <p:nvPicPr>
          <p:cNvPr id="2057" name="Picture 9"/>
          <p:cNvPicPr>
            <a:picLocks noChangeAspect="1" noChangeArrowheads="1"/>
          </p:cNvPicPr>
          <p:nvPr/>
        </p:nvPicPr>
        <p:blipFill>
          <a:blip r:embed="rId4" cstate="print"/>
          <a:srcRect/>
          <a:stretch>
            <a:fillRect/>
          </a:stretch>
        </p:blipFill>
        <p:spPr bwMode="auto">
          <a:xfrm>
            <a:off x="6553200" y="3143250"/>
            <a:ext cx="1564578" cy="2990850"/>
          </a:xfrm>
          <a:prstGeom prst="rect">
            <a:avLst/>
          </a:prstGeom>
          <a:noFill/>
          <a:ln w="9525">
            <a:noFill/>
            <a:miter lim="800000"/>
            <a:headEnd/>
            <a:tailEnd/>
          </a:ln>
          <a:effectLst/>
        </p:spPr>
      </p:pic>
      <p:sp>
        <p:nvSpPr>
          <p:cNvPr id="7" name="Rectangle 6"/>
          <p:cNvSpPr/>
          <p:nvPr/>
        </p:nvSpPr>
        <p:spPr>
          <a:xfrm>
            <a:off x="4008457" y="6120825"/>
            <a:ext cx="4068743" cy="584775"/>
          </a:xfrm>
          <a:prstGeom prst="rect">
            <a:avLst/>
          </a:prstGeom>
        </p:spPr>
        <p:txBody>
          <a:bodyPr wrap="none">
            <a:spAutoFit/>
          </a:bodyPr>
          <a:lstStyle/>
          <a:p>
            <a:r>
              <a:rPr lang="en-US" sz="3200" i="1" u="sng" dirty="0" smtClean="0">
                <a:solidFill>
                  <a:srgbClr val="C00000"/>
                </a:solidFill>
                <a:latin typeface="+mj-lt"/>
              </a:rPr>
              <a:t>A property of a product</a:t>
            </a:r>
            <a:endParaRPr lang="en-US" sz="3200" i="1" u="sng" dirty="0">
              <a:solidFill>
                <a:srgbClr val="C00000"/>
              </a:solidFill>
              <a:latin typeface="+mj-l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Incremental Evolutionary Delivery</a:t>
            </a:r>
            <a:endParaRPr lang="en-US" dirty="0"/>
          </a:p>
        </p:txBody>
      </p:sp>
      <p:pic>
        <p:nvPicPr>
          <p:cNvPr id="3076" name="Picture 4"/>
          <p:cNvPicPr>
            <a:picLocks noChangeAspect="1" noChangeArrowheads="1"/>
          </p:cNvPicPr>
          <p:nvPr/>
        </p:nvPicPr>
        <p:blipFill>
          <a:blip r:embed="rId2" cstate="print"/>
          <a:srcRect/>
          <a:stretch>
            <a:fillRect/>
          </a:stretch>
        </p:blipFill>
        <p:spPr bwMode="auto">
          <a:xfrm>
            <a:off x="228600" y="1371600"/>
            <a:ext cx="3429000" cy="2205715"/>
          </a:xfrm>
          <a:prstGeom prst="rect">
            <a:avLst/>
          </a:prstGeom>
          <a:noFill/>
          <a:ln w="9525">
            <a:noFill/>
            <a:miter lim="800000"/>
            <a:headEnd/>
            <a:tailEnd/>
          </a:ln>
          <a:effectLst/>
        </p:spPr>
      </p:pic>
      <p:pic>
        <p:nvPicPr>
          <p:cNvPr id="7" name="Picture 2"/>
          <p:cNvPicPr>
            <a:picLocks noChangeAspect="1" noChangeArrowheads="1"/>
          </p:cNvPicPr>
          <p:nvPr/>
        </p:nvPicPr>
        <p:blipFill>
          <a:blip r:embed="rId3" cstate="print"/>
          <a:srcRect/>
          <a:stretch>
            <a:fillRect/>
          </a:stretch>
        </p:blipFill>
        <p:spPr bwMode="auto">
          <a:xfrm>
            <a:off x="5333999" y="1295400"/>
            <a:ext cx="3054277" cy="2209799"/>
          </a:xfrm>
          <a:prstGeom prst="rect">
            <a:avLst/>
          </a:prstGeom>
          <a:noFill/>
          <a:ln w="9525">
            <a:noFill/>
            <a:miter lim="800000"/>
            <a:headEnd/>
            <a:tailEnd/>
          </a:ln>
          <a:effectLst/>
        </p:spPr>
      </p:pic>
      <p:pic>
        <p:nvPicPr>
          <p:cNvPr id="8" name="Picture 3"/>
          <p:cNvPicPr>
            <a:picLocks noChangeAspect="1" noChangeArrowheads="1"/>
          </p:cNvPicPr>
          <p:nvPr/>
        </p:nvPicPr>
        <p:blipFill>
          <a:blip r:embed="rId4" cstate="print"/>
          <a:srcRect/>
          <a:stretch>
            <a:fillRect/>
          </a:stretch>
        </p:blipFill>
        <p:spPr bwMode="auto">
          <a:xfrm>
            <a:off x="5334000" y="4436079"/>
            <a:ext cx="3124200" cy="2269521"/>
          </a:xfrm>
          <a:prstGeom prst="rect">
            <a:avLst/>
          </a:prstGeom>
          <a:noFill/>
          <a:ln w="9525">
            <a:noFill/>
            <a:miter lim="800000"/>
            <a:headEnd/>
            <a:tailEnd/>
          </a:ln>
          <a:effectLst/>
        </p:spPr>
      </p:pic>
      <p:pic>
        <p:nvPicPr>
          <p:cNvPr id="3077" name="Picture 5"/>
          <p:cNvPicPr>
            <a:picLocks noChangeAspect="1" noChangeArrowheads="1"/>
          </p:cNvPicPr>
          <p:nvPr/>
        </p:nvPicPr>
        <p:blipFill>
          <a:blip r:embed="rId5" cstate="print"/>
          <a:srcRect/>
          <a:stretch>
            <a:fillRect/>
          </a:stretch>
        </p:blipFill>
        <p:spPr bwMode="auto">
          <a:xfrm>
            <a:off x="228600" y="4267200"/>
            <a:ext cx="3463909" cy="2228850"/>
          </a:xfrm>
          <a:prstGeom prst="rect">
            <a:avLst/>
          </a:prstGeom>
          <a:noFill/>
          <a:ln w="9525">
            <a:noFill/>
            <a:miter lim="800000"/>
            <a:headEnd/>
            <a:tailEnd/>
          </a:ln>
          <a:effectLst/>
        </p:spPr>
      </p:pic>
      <p:sp>
        <p:nvSpPr>
          <p:cNvPr id="10" name="Right Arrow 9"/>
          <p:cNvSpPr/>
          <p:nvPr/>
        </p:nvSpPr>
        <p:spPr>
          <a:xfrm>
            <a:off x="4038600" y="1981200"/>
            <a:ext cx="990600" cy="457200"/>
          </a:xfrm>
          <a:prstGeom prst="righ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latin typeface="+mj-lt"/>
            </a:endParaRPr>
          </a:p>
        </p:txBody>
      </p:sp>
      <p:sp>
        <p:nvSpPr>
          <p:cNvPr id="11" name="Down Arrow 10"/>
          <p:cNvSpPr/>
          <p:nvPr/>
        </p:nvSpPr>
        <p:spPr>
          <a:xfrm>
            <a:off x="5638800" y="3733800"/>
            <a:ext cx="228600" cy="304800"/>
          </a:xfrm>
          <a:prstGeom prst="down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latin typeface="+mj-lt"/>
            </a:endParaRPr>
          </a:p>
        </p:txBody>
      </p:sp>
      <p:sp>
        <p:nvSpPr>
          <p:cNvPr id="12" name="Right Arrow 11"/>
          <p:cNvSpPr/>
          <p:nvPr/>
        </p:nvSpPr>
        <p:spPr>
          <a:xfrm rot="10800000">
            <a:off x="4114800" y="4800600"/>
            <a:ext cx="914400" cy="457200"/>
          </a:xfrm>
          <a:prstGeom prst="rightArrow">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en-US">
              <a:latin typeface="+mj-lt"/>
            </a:endParaRPr>
          </a:p>
        </p:txBody>
      </p:sp>
      <p:sp>
        <p:nvSpPr>
          <p:cNvPr id="13" name="Rectangle 12"/>
          <p:cNvSpPr/>
          <p:nvPr/>
        </p:nvSpPr>
        <p:spPr>
          <a:xfrm>
            <a:off x="3810000" y="2590800"/>
            <a:ext cx="1371600" cy="1200329"/>
          </a:xfrm>
          <a:prstGeom prst="rect">
            <a:avLst/>
          </a:prstGeom>
          <a:noFill/>
        </p:spPr>
        <p:txBody>
          <a:bodyPr wrap="square">
            <a:spAutoFit/>
          </a:bodyPr>
          <a:lstStyle/>
          <a:p>
            <a:pPr algn="ctr"/>
            <a:r>
              <a:rPr lang="en-US" dirty="0" smtClean="0">
                <a:latin typeface="+mj-lt"/>
              </a:rPr>
              <a:t>Add, revise and improve parts of the system.</a:t>
            </a:r>
            <a:endParaRPr lang="en-US" dirty="0">
              <a:latin typeface="+mj-lt"/>
            </a:endParaRPr>
          </a:p>
        </p:txBody>
      </p:sp>
      <p:sp>
        <p:nvSpPr>
          <p:cNvPr id="15" name="Rectangle 14"/>
          <p:cNvSpPr/>
          <p:nvPr/>
        </p:nvSpPr>
        <p:spPr>
          <a:xfrm>
            <a:off x="3886200" y="5334000"/>
            <a:ext cx="1371600" cy="1200329"/>
          </a:xfrm>
          <a:prstGeom prst="rect">
            <a:avLst/>
          </a:prstGeom>
          <a:noFill/>
        </p:spPr>
        <p:txBody>
          <a:bodyPr wrap="square">
            <a:spAutoFit/>
          </a:bodyPr>
          <a:lstStyle/>
          <a:p>
            <a:r>
              <a:rPr lang="en-US" dirty="0" smtClean="0">
                <a:latin typeface="+mj-lt"/>
              </a:rPr>
              <a:t>Add, revise and improve parts of the system.</a:t>
            </a:r>
            <a:endParaRPr lang="en-US" dirty="0">
              <a:latin typeface="+mj-lt"/>
            </a:endParaRPr>
          </a:p>
        </p:txBody>
      </p:sp>
      <p:sp>
        <p:nvSpPr>
          <p:cNvPr id="16" name="Rectangle 15"/>
          <p:cNvSpPr/>
          <p:nvPr/>
        </p:nvSpPr>
        <p:spPr>
          <a:xfrm>
            <a:off x="5943600" y="3657600"/>
            <a:ext cx="2514600" cy="646331"/>
          </a:xfrm>
          <a:prstGeom prst="rect">
            <a:avLst/>
          </a:prstGeom>
          <a:noFill/>
        </p:spPr>
        <p:txBody>
          <a:bodyPr wrap="square">
            <a:spAutoFit/>
          </a:bodyPr>
          <a:lstStyle/>
          <a:p>
            <a:r>
              <a:rPr lang="en-US" dirty="0" smtClean="0">
                <a:latin typeface="+mj-lt"/>
              </a:rPr>
              <a:t>Add, revise and improve parts of the system.</a:t>
            </a:r>
            <a:endParaRPr lang="en-US" dirty="0">
              <a:latin typeface="+mj-lt"/>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Time-boxed Iterative Development</a:t>
            </a:r>
            <a:endParaRPr lang="en-US" dirty="0"/>
          </a:p>
        </p:txBody>
      </p:sp>
      <p:sp>
        <p:nvSpPr>
          <p:cNvPr id="4" name="TextBox 10"/>
          <p:cNvSpPr txBox="1">
            <a:spLocks noChangeArrowheads="1"/>
          </p:cNvSpPr>
          <p:nvPr/>
        </p:nvSpPr>
        <p:spPr bwMode="auto">
          <a:xfrm>
            <a:off x="381000" y="1295400"/>
            <a:ext cx="8229600" cy="830997"/>
          </a:xfrm>
          <a:prstGeom prst="rect">
            <a:avLst/>
          </a:prstGeom>
          <a:noFill/>
          <a:ln w="9525">
            <a:noFill/>
            <a:miter lim="800000"/>
            <a:headEnd/>
            <a:tailEnd/>
          </a:ln>
        </p:spPr>
        <p:txBody>
          <a:bodyPr wrap="square">
            <a:spAutoFit/>
          </a:bodyPr>
          <a:lstStyle/>
          <a:p>
            <a:pPr algn="ctr"/>
            <a:r>
              <a:rPr lang="en-US" sz="2400" i="1" dirty="0" smtClean="0">
                <a:solidFill>
                  <a:srgbClr val="C00000"/>
                </a:solidFill>
                <a:latin typeface="+mj-lt"/>
              </a:rPr>
              <a:t>Iteration time-boxing</a:t>
            </a:r>
            <a:r>
              <a:rPr lang="en-US" sz="2400" dirty="0" smtClean="0">
                <a:latin typeface="+mj-lt"/>
              </a:rPr>
              <a:t> is the practice of fixing the iteration end date and not allowing it to change.</a:t>
            </a:r>
            <a:endParaRPr lang="en-US" sz="2400" dirty="0">
              <a:latin typeface="+mj-lt"/>
            </a:endParaRPr>
          </a:p>
        </p:txBody>
      </p:sp>
      <p:sp>
        <p:nvSpPr>
          <p:cNvPr id="3074" name="AutoShape 2" descr="graphics/02fig03.jpg"/>
          <p:cNvSpPr>
            <a:spLocks noChangeAspect="1" noChangeArrowheads="1"/>
          </p:cNvSpPr>
          <p:nvPr/>
        </p:nvSpPr>
        <p:spPr bwMode="auto">
          <a:xfrm>
            <a:off x="155575" y="-1439863"/>
            <a:ext cx="4762500" cy="30099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92161" name="Picture 1"/>
          <p:cNvPicPr>
            <a:picLocks noChangeAspect="1" noChangeArrowheads="1"/>
          </p:cNvPicPr>
          <p:nvPr/>
        </p:nvPicPr>
        <p:blipFill>
          <a:blip r:embed="rId2" cstate="print"/>
          <a:srcRect/>
          <a:stretch>
            <a:fillRect/>
          </a:stretch>
        </p:blipFill>
        <p:spPr bwMode="auto">
          <a:xfrm>
            <a:off x="1066800" y="2209800"/>
            <a:ext cx="6477000" cy="4135126"/>
          </a:xfrm>
          <a:prstGeom prst="rect">
            <a:avLst/>
          </a:prstGeom>
          <a:noFill/>
          <a:ln w="9525">
            <a:noFill/>
            <a:miter lim="800000"/>
            <a:headEnd/>
            <a:tailEnd/>
          </a:ln>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Evolutionary Iterative Development (IID)</a:t>
            </a:r>
            <a:endParaRPr lang="en-US" dirty="0"/>
          </a:p>
        </p:txBody>
      </p:sp>
      <p:sp>
        <p:nvSpPr>
          <p:cNvPr id="4" name="TextBox 10"/>
          <p:cNvSpPr txBox="1">
            <a:spLocks noChangeArrowheads="1"/>
          </p:cNvSpPr>
          <p:nvPr/>
        </p:nvSpPr>
        <p:spPr bwMode="auto">
          <a:xfrm>
            <a:off x="228600" y="1752600"/>
            <a:ext cx="8763000" cy="1569660"/>
          </a:xfrm>
          <a:prstGeom prst="rect">
            <a:avLst/>
          </a:prstGeom>
          <a:noFill/>
          <a:ln w="9525">
            <a:noFill/>
            <a:miter lim="800000"/>
            <a:headEnd/>
            <a:tailEnd/>
          </a:ln>
        </p:spPr>
        <p:txBody>
          <a:bodyPr wrap="square">
            <a:spAutoFit/>
          </a:bodyPr>
          <a:lstStyle/>
          <a:p>
            <a:pPr algn="ctr"/>
            <a:r>
              <a:rPr lang="en-US" sz="2400" i="1" dirty="0" smtClean="0">
                <a:solidFill>
                  <a:srgbClr val="C00000"/>
                </a:solidFill>
                <a:latin typeface="+mj-lt"/>
              </a:rPr>
              <a:t>Evolutionary iterative development</a:t>
            </a:r>
            <a:r>
              <a:rPr lang="en-US" sz="2400" dirty="0" smtClean="0">
                <a:latin typeface="+mj-lt"/>
              </a:rPr>
              <a:t> implies that the requirements, plan, estimates, and solution </a:t>
            </a:r>
            <a:r>
              <a:rPr lang="en-US" sz="2400" u="sng" dirty="0" smtClean="0">
                <a:latin typeface="+mj-lt"/>
              </a:rPr>
              <a:t>evolve</a:t>
            </a:r>
            <a:r>
              <a:rPr lang="en-US" sz="2400" dirty="0" smtClean="0">
                <a:latin typeface="+mj-lt"/>
              </a:rPr>
              <a:t> or are </a:t>
            </a:r>
            <a:r>
              <a:rPr lang="en-US" sz="2400" u="sng" dirty="0" smtClean="0">
                <a:latin typeface="+mj-lt"/>
              </a:rPr>
              <a:t>refined</a:t>
            </a:r>
            <a:r>
              <a:rPr lang="en-US" sz="2400" dirty="0" smtClean="0">
                <a:latin typeface="+mj-lt"/>
              </a:rPr>
              <a:t> over the course of the iterations, rather than </a:t>
            </a:r>
            <a:r>
              <a:rPr lang="en-US" sz="2400" u="sng" dirty="0" smtClean="0">
                <a:latin typeface="+mj-lt"/>
              </a:rPr>
              <a:t>fully defined</a:t>
            </a:r>
            <a:r>
              <a:rPr lang="en-US" sz="2400" dirty="0" smtClean="0">
                <a:latin typeface="+mj-lt"/>
              </a:rPr>
              <a:t> and "</a:t>
            </a:r>
            <a:r>
              <a:rPr lang="en-US" sz="2400" u="sng" dirty="0" smtClean="0">
                <a:latin typeface="+mj-lt"/>
              </a:rPr>
              <a:t>frozen</a:t>
            </a:r>
            <a:r>
              <a:rPr lang="en-US" sz="2400" dirty="0" smtClean="0">
                <a:latin typeface="+mj-lt"/>
              </a:rPr>
              <a:t>" in a major up-front specification effort before the development iterations begin.</a:t>
            </a:r>
            <a:endParaRPr lang="en-US" sz="2400" dirty="0">
              <a:latin typeface="+mj-lt"/>
            </a:endParaRPr>
          </a:p>
        </p:txBody>
      </p:sp>
      <p:pic>
        <p:nvPicPr>
          <p:cNvPr id="1030" name="Picture 6"/>
          <p:cNvPicPr>
            <a:picLocks noChangeAspect="1" noChangeArrowheads="1"/>
          </p:cNvPicPr>
          <p:nvPr/>
        </p:nvPicPr>
        <p:blipFill>
          <a:blip r:embed="rId2" cstate="print"/>
          <a:srcRect/>
          <a:stretch>
            <a:fillRect/>
          </a:stretch>
        </p:blipFill>
        <p:spPr bwMode="auto">
          <a:xfrm>
            <a:off x="228600" y="3333750"/>
            <a:ext cx="5219700" cy="3371850"/>
          </a:xfrm>
          <a:prstGeom prst="rect">
            <a:avLst/>
          </a:prstGeom>
          <a:noFill/>
          <a:ln w="9525">
            <a:noFill/>
            <a:miter lim="800000"/>
            <a:headEnd/>
            <a:tailEnd/>
          </a:ln>
          <a:effectLst/>
        </p:spPr>
      </p:pic>
      <p:pic>
        <p:nvPicPr>
          <p:cNvPr id="1026" name="Picture 2"/>
          <p:cNvPicPr>
            <a:picLocks noChangeAspect="1" noChangeArrowheads="1"/>
          </p:cNvPicPr>
          <p:nvPr/>
        </p:nvPicPr>
        <p:blipFill>
          <a:blip r:embed="rId3" cstate="print"/>
          <a:srcRect/>
          <a:stretch>
            <a:fillRect/>
          </a:stretch>
        </p:blipFill>
        <p:spPr bwMode="auto">
          <a:xfrm>
            <a:off x="5410200" y="3419475"/>
            <a:ext cx="3400425" cy="2981325"/>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Evolutionary And Iterative Requirements Engineering</a:t>
            </a:r>
            <a:endParaRPr lang="en-US" dirty="0"/>
          </a:p>
        </p:txBody>
      </p:sp>
      <p:sp>
        <p:nvSpPr>
          <p:cNvPr id="5" name="Rectangle 4"/>
          <p:cNvSpPr/>
          <p:nvPr/>
        </p:nvSpPr>
        <p:spPr>
          <a:xfrm>
            <a:off x="152400" y="5943600"/>
            <a:ext cx="8839200" cy="769441"/>
          </a:xfrm>
          <a:prstGeom prst="rect">
            <a:avLst/>
          </a:prstGeom>
          <a:noFill/>
        </p:spPr>
        <p:txBody>
          <a:bodyPr wrap="square">
            <a:spAutoFit/>
          </a:bodyPr>
          <a:lstStyle/>
          <a:p>
            <a:pPr algn="ctr"/>
            <a:r>
              <a:rPr lang="en-US" sz="2200" dirty="0" smtClean="0">
                <a:latin typeface="+mj-lt"/>
              </a:rPr>
              <a:t>20-iteration project. Most requirements will be discovered and refined within the </a:t>
            </a:r>
            <a:r>
              <a:rPr lang="en-US" sz="2200" i="1" dirty="0" smtClean="0">
                <a:solidFill>
                  <a:srgbClr val="C00000"/>
                </a:solidFill>
                <a:latin typeface="+mj-lt"/>
              </a:rPr>
              <a:t>first four iterations</a:t>
            </a:r>
            <a:endParaRPr lang="en-US" sz="2200" i="1" dirty="0">
              <a:solidFill>
                <a:srgbClr val="C00000"/>
              </a:solidFill>
              <a:latin typeface="+mj-lt"/>
            </a:endParaRPr>
          </a:p>
        </p:txBody>
      </p:sp>
      <p:sp>
        <p:nvSpPr>
          <p:cNvPr id="6" name="Rectangle 5"/>
          <p:cNvSpPr/>
          <p:nvPr/>
        </p:nvSpPr>
        <p:spPr>
          <a:xfrm>
            <a:off x="152400" y="1524000"/>
            <a:ext cx="8763000" cy="430887"/>
          </a:xfrm>
          <a:prstGeom prst="rect">
            <a:avLst/>
          </a:prstGeom>
          <a:noFill/>
        </p:spPr>
        <p:txBody>
          <a:bodyPr wrap="square">
            <a:spAutoFit/>
          </a:bodyPr>
          <a:lstStyle/>
          <a:p>
            <a:pPr algn="ctr"/>
            <a:r>
              <a:rPr lang="en-US" sz="2200" dirty="0" smtClean="0">
                <a:latin typeface="+mj-lt"/>
              </a:rPr>
              <a:t>Are the requirements </a:t>
            </a:r>
            <a:r>
              <a:rPr lang="en-US" sz="2200" i="1" dirty="0" smtClean="0">
                <a:solidFill>
                  <a:srgbClr val="C00000"/>
                </a:solidFill>
                <a:latin typeface="+mj-lt"/>
              </a:rPr>
              <a:t>forever unbounded</a:t>
            </a:r>
            <a:r>
              <a:rPr lang="en-US" sz="2200" dirty="0" smtClean="0">
                <a:latin typeface="+mj-lt"/>
              </a:rPr>
              <a:t> or </a:t>
            </a:r>
            <a:r>
              <a:rPr lang="en-US" sz="2200" i="1" dirty="0" smtClean="0">
                <a:solidFill>
                  <a:srgbClr val="C00000"/>
                </a:solidFill>
                <a:latin typeface="+mj-lt"/>
              </a:rPr>
              <a:t>always changing</a:t>
            </a:r>
            <a:r>
              <a:rPr lang="en-US" sz="2200" dirty="0" smtClean="0">
                <a:latin typeface="+mj-lt"/>
              </a:rPr>
              <a:t> at a high rate?</a:t>
            </a:r>
            <a:endParaRPr lang="en-US" sz="2200" dirty="0">
              <a:latin typeface="+mj-lt"/>
            </a:endParaRPr>
          </a:p>
        </p:txBody>
      </p:sp>
      <p:pic>
        <p:nvPicPr>
          <p:cNvPr id="5121" name="Picture 1"/>
          <p:cNvPicPr>
            <a:picLocks noChangeAspect="1" noChangeArrowheads="1"/>
          </p:cNvPicPr>
          <p:nvPr/>
        </p:nvPicPr>
        <p:blipFill>
          <a:blip r:embed="rId2" cstate="print"/>
          <a:srcRect/>
          <a:stretch>
            <a:fillRect/>
          </a:stretch>
        </p:blipFill>
        <p:spPr bwMode="auto">
          <a:xfrm>
            <a:off x="1371600" y="2057400"/>
            <a:ext cx="6619875" cy="3741668"/>
          </a:xfrm>
          <a:prstGeom prst="rect">
            <a:avLst/>
          </a:prstGeom>
          <a:noFill/>
          <a:ln w="9525">
            <a:noFill/>
            <a:miter lim="800000"/>
            <a:headEnd/>
            <a:tailEnd/>
          </a:ln>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smtClean="0"/>
              <a:t>Evolutionary and Adaptive Planning</a:t>
            </a:r>
            <a:endParaRPr lang="en-US" sz="4000" dirty="0"/>
          </a:p>
        </p:txBody>
      </p:sp>
      <p:sp>
        <p:nvSpPr>
          <p:cNvPr id="6" name="Rectangle 5"/>
          <p:cNvSpPr/>
          <p:nvPr/>
        </p:nvSpPr>
        <p:spPr>
          <a:xfrm>
            <a:off x="609600" y="1397913"/>
            <a:ext cx="8153400" cy="430887"/>
          </a:xfrm>
          <a:prstGeom prst="rect">
            <a:avLst/>
          </a:prstGeom>
          <a:noFill/>
        </p:spPr>
        <p:txBody>
          <a:bodyPr wrap="square">
            <a:spAutoFit/>
          </a:bodyPr>
          <a:lstStyle/>
          <a:p>
            <a:pPr algn="ctr"/>
            <a:r>
              <a:rPr lang="en-US" sz="2200" dirty="0" smtClean="0">
                <a:latin typeface="+mj-lt"/>
              </a:rPr>
              <a:t>Are the estimates and schedules are </a:t>
            </a:r>
            <a:r>
              <a:rPr lang="en-US" sz="2200" i="1" dirty="0" smtClean="0">
                <a:solidFill>
                  <a:srgbClr val="C00000"/>
                </a:solidFill>
                <a:latin typeface="+mj-lt"/>
              </a:rPr>
              <a:t>forever unbounded or unknown</a:t>
            </a:r>
            <a:r>
              <a:rPr lang="en-US" sz="2200" dirty="0" smtClean="0">
                <a:latin typeface="+mj-lt"/>
              </a:rPr>
              <a:t>?</a:t>
            </a:r>
            <a:endParaRPr lang="en-US" sz="2200" dirty="0">
              <a:latin typeface="+mj-lt"/>
            </a:endParaRPr>
          </a:p>
        </p:txBody>
      </p:sp>
      <p:sp>
        <p:nvSpPr>
          <p:cNvPr id="8" name="Rectangle 7"/>
          <p:cNvSpPr/>
          <p:nvPr/>
        </p:nvSpPr>
        <p:spPr>
          <a:xfrm>
            <a:off x="4440248" y="6248400"/>
            <a:ext cx="2507418" cy="430887"/>
          </a:xfrm>
          <a:prstGeom prst="rect">
            <a:avLst/>
          </a:prstGeom>
          <a:noFill/>
        </p:spPr>
        <p:txBody>
          <a:bodyPr wrap="none">
            <a:spAutoFit/>
          </a:bodyPr>
          <a:lstStyle/>
          <a:p>
            <a:pPr algn="ctr"/>
            <a:r>
              <a:rPr lang="en-US" sz="2200" b="1" i="1" u="sng" dirty="0" smtClean="0">
                <a:solidFill>
                  <a:srgbClr val="C00000"/>
                </a:solidFill>
                <a:latin typeface="+mj-lt"/>
              </a:rPr>
              <a:t>Cone of Uncertainty</a:t>
            </a:r>
            <a:endParaRPr lang="en-US" sz="2200" b="1" i="1" u="sng" dirty="0">
              <a:solidFill>
                <a:srgbClr val="C00000"/>
              </a:solidFill>
              <a:latin typeface="+mj-lt"/>
            </a:endParaRPr>
          </a:p>
        </p:txBody>
      </p:sp>
      <p:pic>
        <p:nvPicPr>
          <p:cNvPr id="2051" name="Picture 3"/>
          <p:cNvPicPr>
            <a:picLocks noChangeAspect="1" noChangeArrowheads="1"/>
          </p:cNvPicPr>
          <p:nvPr/>
        </p:nvPicPr>
        <p:blipFill>
          <a:blip r:embed="rId2" cstate="print"/>
          <a:srcRect/>
          <a:stretch>
            <a:fillRect/>
          </a:stretch>
        </p:blipFill>
        <p:spPr bwMode="auto">
          <a:xfrm>
            <a:off x="1666875" y="1962150"/>
            <a:ext cx="7248525" cy="4210050"/>
          </a:xfrm>
          <a:prstGeom prst="rect">
            <a:avLst/>
          </a:prstGeom>
          <a:noFill/>
          <a:ln w="9525">
            <a:noFill/>
            <a:miter lim="800000"/>
            <a:headEnd/>
            <a:tailEnd/>
          </a:ln>
          <a:effectLst/>
        </p:spPr>
      </p:pic>
      <p:sp>
        <p:nvSpPr>
          <p:cNvPr id="7" name="TextBox 6"/>
          <p:cNvSpPr txBox="1"/>
          <p:nvPr/>
        </p:nvSpPr>
        <p:spPr>
          <a:xfrm>
            <a:off x="381000" y="3886200"/>
            <a:ext cx="1154483" cy="461665"/>
          </a:xfrm>
          <a:prstGeom prst="rect">
            <a:avLst/>
          </a:prstGeom>
          <a:noFill/>
        </p:spPr>
        <p:txBody>
          <a:bodyPr wrap="none" rtlCol="0">
            <a:spAutoFit/>
          </a:bodyPr>
          <a:lstStyle/>
          <a:p>
            <a:r>
              <a:rPr lang="en-US" sz="2400" b="1" i="1" dirty="0" smtClean="0">
                <a:solidFill>
                  <a:srgbClr val="C00000"/>
                </a:solidFill>
                <a:latin typeface="+mj-lt"/>
              </a:rPr>
              <a:t>33 days</a:t>
            </a:r>
            <a:endParaRPr lang="en-US" sz="2400" b="1" i="1" dirty="0">
              <a:solidFill>
                <a:srgbClr val="C00000"/>
              </a:solidFill>
              <a:latin typeface="+mj-lt"/>
            </a:endParaRPr>
          </a:p>
        </p:txBody>
      </p:sp>
      <p:sp>
        <p:nvSpPr>
          <p:cNvPr id="9" name="TextBox 8"/>
          <p:cNvSpPr txBox="1"/>
          <p:nvPr/>
        </p:nvSpPr>
        <p:spPr>
          <a:xfrm>
            <a:off x="533400" y="5486400"/>
            <a:ext cx="998991" cy="461665"/>
          </a:xfrm>
          <a:prstGeom prst="rect">
            <a:avLst/>
          </a:prstGeom>
          <a:noFill/>
        </p:spPr>
        <p:txBody>
          <a:bodyPr wrap="none" rtlCol="0">
            <a:spAutoFit/>
          </a:bodyPr>
          <a:lstStyle/>
          <a:p>
            <a:r>
              <a:rPr lang="en-US" sz="2400" b="1" i="1" dirty="0" smtClean="0">
                <a:latin typeface="+mj-lt"/>
              </a:rPr>
              <a:t>8 days</a:t>
            </a:r>
            <a:endParaRPr lang="en-US" sz="2400" b="1" i="1" dirty="0">
              <a:latin typeface="+mj-lt"/>
            </a:endParaRPr>
          </a:p>
        </p:txBody>
      </p:sp>
      <p:sp>
        <p:nvSpPr>
          <p:cNvPr id="10" name="TextBox 9"/>
          <p:cNvSpPr txBox="1"/>
          <p:nvPr/>
        </p:nvSpPr>
        <p:spPr>
          <a:xfrm>
            <a:off x="304800" y="2590800"/>
            <a:ext cx="1309974" cy="461665"/>
          </a:xfrm>
          <a:prstGeom prst="rect">
            <a:avLst/>
          </a:prstGeom>
          <a:noFill/>
        </p:spPr>
        <p:txBody>
          <a:bodyPr wrap="none" rtlCol="0">
            <a:spAutoFit/>
          </a:bodyPr>
          <a:lstStyle/>
          <a:p>
            <a:r>
              <a:rPr lang="en-US" sz="2400" b="1" i="1" dirty="0" smtClean="0">
                <a:latin typeface="+mj-lt"/>
              </a:rPr>
              <a:t>132 days</a:t>
            </a:r>
            <a:endParaRPr lang="en-US" sz="2400" b="1" i="1" dirty="0">
              <a:latin typeface="+mj-lt"/>
            </a:endParaRPr>
          </a:p>
        </p:txBody>
      </p:sp>
      <p:sp>
        <p:nvSpPr>
          <p:cNvPr id="12" name="Down Arrow 11"/>
          <p:cNvSpPr/>
          <p:nvPr/>
        </p:nvSpPr>
        <p:spPr>
          <a:xfrm>
            <a:off x="381000" y="4495800"/>
            <a:ext cx="762000" cy="990600"/>
          </a:xfrm>
          <a:prstGeom prst="down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en-US"/>
          </a:p>
        </p:txBody>
      </p:sp>
      <p:sp>
        <p:nvSpPr>
          <p:cNvPr id="13" name="Up Arrow 12"/>
          <p:cNvSpPr/>
          <p:nvPr/>
        </p:nvSpPr>
        <p:spPr>
          <a:xfrm>
            <a:off x="381000" y="3048000"/>
            <a:ext cx="762000" cy="762000"/>
          </a:xfrm>
          <a:prstGeom prst="upArrow">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Pros &amp; Cons of IID</a:t>
            </a:r>
            <a:endParaRPr lang="en-US" dirty="0"/>
          </a:p>
        </p:txBody>
      </p:sp>
      <p:sp>
        <p:nvSpPr>
          <p:cNvPr id="6" name="Rectangle 5"/>
          <p:cNvSpPr/>
          <p:nvPr/>
        </p:nvSpPr>
        <p:spPr>
          <a:xfrm>
            <a:off x="304800" y="4572000"/>
            <a:ext cx="8610600" cy="2123658"/>
          </a:xfrm>
          <a:prstGeom prst="rect">
            <a:avLst/>
          </a:prstGeom>
          <a:ln>
            <a:noFill/>
          </a:ln>
        </p:spPr>
        <p:style>
          <a:lnRef idx="2">
            <a:schemeClr val="accent6"/>
          </a:lnRef>
          <a:fillRef idx="1">
            <a:schemeClr val="lt1"/>
          </a:fillRef>
          <a:effectRef idx="0">
            <a:schemeClr val="accent6"/>
          </a:effectRef>
          <a:fontRef idx="minor">
            <a:schemeClr val="dk1"/>
          </a:fontRef>
        </p:style>
        <p:txBody>
          <a:bodyPr wrap="square">
            <a:spAutoFit/>
          </a:bodyPr>
          <a:lstStyle/>
          <a:p>
            <a:pPr marL="457200" indent="-457200">
              <a:buFont typeface="Wingdings" pitchFamily="2" charset="2"/>
              <a:buChar char="v"/>
            </a:pPr>
            <a:r>
              <a:rPr lang="en-US" sz="2200" dirty="0" smtClean="0">
                <a:latin typeface="+mj-lt"/>
              </a:rPr>
              <a:t>It's impossible to know at the outset of the project </a:t>
            </a:r>
            <a:r>
              <a:rPr lang="en-US" sz="2200" i="1" dirty="0" smtClean="0">
                <a:solidFill>
                  <a:srgbClr val="C00000"/>
                </a:solidFill>
                <a:latin typeface="+mj-lt"/>
              </a:rPr>
              <a:t>how long it will take</a:t>
            </a:r>
            <a:r>
              <a:rPr lang="en-US" sz="2200" dirty="0" smtClean="0">
                <a:latin typeface="+mj-lt"/>
              </a:rPr>
              <a:t> to create an acceptable product.</a:t>
            </a:r>
          </a:p>
          <a:p>
            <a:pPr marL="457200" indent="-457200">
              <a:buFont typeface="Wingdings" pitchFamily="2" charset="2"/>
              <a:buChar char="v"/>
            </a:pPr>
            <a:r>
              <a:rPr lang="en-US" sz="2200" dirty="0" smtClean="0">
                <a:latin typeface="+mj-lt"/>
              </a:rPr>
              <a:t>It’s hard for several  independently evolved </a:t>
            </a:r>
            <a:r>
              <a:rPr lang="en-US" sz="2200" dirty="0" smtClean="0">
                <a:solidFill>
                  <a:schemeClr val="tx1"/>
                </a:solidFill>
                <a:latin typeface="+mj-lt"/>
              </a:rPr>
              <a:t>applications to be</a:t>
            </a:r>
            <a:r>
              <a:rPr lang="en-US" sz="2200" i="1" dirty="0" smtClean="0">
                <a:solidFill>
                  <a:srgbClr val="C00000"/>
                </a:solidFill>
                <a:latin typeface="+mj-lt"/>
              </a:rPr>
              <a:t> integrated</a:t>
            </a:r>
            <a:r>
              <a:rPr lang="en-US" sz="2200" dirty="0" smtClean="0">
                <a:latin typeface="+mj-lt"/>
              </a:rPr>
              <a:t>.</a:t>
            </a:r>
          </a:p>
          <a:p>
            <a:pPr marL="457200" indent="-457200">
              <a:buFont typeface="Wingdings" pitchFamily="2" charset="2"/>
              <a:buChar char="v"/>
            </a:pPr>
            <a:r>
              <a:rPr lang="en-US" sz="2200" dirty="0" smtClean="0">
                <a:latin typeface="+mj-lt"/>
              </a:rPr>
              <a:t>It's easy to</a:t>
            </a:r>
            <a:r>
              <a:rPr lang="en-US" sz="2200" b="1" dirty="0" smtClean="0">
                <a:latin typeface="+mj-lt"/>
              </a:rPr>
              <a:t> </a:t>
            </a:r>
            <a:r>
              <a:rPr lang="en-US" sz="2200" dirty="0" smtClean="0">
                <a:solidFill>
                  <a:schemeClr val="tx1"/>
                </a:solidFill>
                <a:latin typeface="+mj-lt"/>
              </a:rPr>
              <a:t>evolve a lot of </a:t>
            </a:r>
            <a:r>
              <a:rPr lang="en-US" sz="2200" i="1" dirty="0" smtClean="0">
                <a:solidFill>
                  <a:srgbClr val="C00000"/>
                </a:solidFill>
                <a:latin typeface="+mj-lt"/>
              </a:rPr>
              <a:t>hard-to-change code</a:t>
            </a:r>
            <a:r>
              <a:rPr lang="en-US" sz="2200" dirty="0" smtClean="0">
                <a:latin typeface="+mj-lt"/>
              </a:rPr>
              <a:t> before addressing long-range architectural and usage considerations.</a:t>
            </a:r>
          </a:p>
        </p:txBody>
      </p:sp>
      <p:sp>
        <p:nvSpPr>
          <p:cNvPr id="7" name="Rectangle 6"/>
          <p:cNvSpPr/>
          <p:nvPr/>
        </p:nvSpPr>
        <p:spPr>
          <a:xfrm>
            <a:off x="304800" y="1542633"/>
            <a:ext cx="6096000" cy="2800767"/>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marL="457200" indent="-457200">
              <a:buFont typeface="Wingdings" pitchFamily="2" charset="2"/>
              <a:buChar char="ü"/>
            </a:pPr>
            <a:r>
              <a:rPr lang="en-US" sz="2200" i="1" dirty="0" smtClean="0">
                <a:solidFill>
                  <a:srgbClr val="C00000"/>
                </a:solidFill>
                <a:latin typeface="+mj-lt"/>
              </a:rPr>
              <a:t>Requirements</a:t>
            </a:r>
            <a:r>
              <a:rPr lang="en-US" sz="2200" dirty="0" smtClean="0">
                <a:solidFill>
                  <a:schemeClr val="tx1"/>
                </a:solidFill>
                <a:latin typeface="+mj-lt"/>
              </a:rPr>
              <a:t> are changing rapidly.</a:t>
            </a:r>
          </a:p>
          <a:p>
            <a:pPr marL="457200" indent="-457200">
              <a:buFont typeface="Wingdings" pitchFamily="2" charset="2"/>
              <a:buChar char="ü"/>
            </a:pPr>
            <a:r>
              <a:rPr lang="en-US" sz="2200" dirty="0" smtClean="0">
                <a:solidFill>
                  <a:schemeClr val="tx1"/>
                </a:solidFill>
                <a:latin typeface="+mj-lt"/>
              </a:rPr>
              <a:t>Customer is reluctant to commit to a set of requirements.</a:t>
            </a:r>
          </a:p>
          <a:p>
            <a:pPr marL="457200" indent="-457200">
              <a:buFont typeface="Wingdings" pitchFamily="2" charset="2"/>
              <a:buChar char="ü"/>
            </a:pPr>
            <a:r>
              <a:rPr lang="en-US" sz="2200" dirty="0" smtClean="0">
                <a:solidFill>
                  <a:schemeClr val="tx1"/>
                </a:solidFill>
                <a:latin typeface="+mj-lt"/>
              </a:rPr>
              <a:t>Neither you nor your customer understands the </a:t>
            </a:r>
            <a:r>
              <a:rPr lang="en-US" sz="2200" i="1" dirty="0" smtClean="0">
                <a:solidFill>
                  <a:srgbClr val="C00000"/>
                </a:solidFill>
                <a:latin typeface="+mj-lt"/>
              </a:rPr>
              <a:t>application area</a:t>
            </a:r>
            <a:r>
              <a:rPr lang="en-US" sz="2200" dirty="0" smtClean="0">
                <a:solidFill>
                  <a:schemeClr val="tx1"/>
                </a:solidFill>
                <a:latin typeface="+mj-lt"/>
              </a:rPr>
              <a:t> well.</a:t>
            </a:r>
          </a:p>
          <a:p>
            <a:pPr marL="457200" indent="-457200">
              <a:buFont typeface="Wingdings" pitchFamily="2" charset="2"/>
              <a:buChar char="ü"/>
            </a:pPr>
            <a:r>
              <a:rPr lang="en-US" sz="2200" dirty="0" smtClean="0">
                <a:solidFill>
                  <a:schemeClr val="tx1"/>
                </a:solidFill>
                <a:latin typeface="+mj-lt"/>
              </a:rPr>
              <a:t>Developers are unsure</a:t>
            </a:r>
            <a:r>
              <a:rPr lang="en-US" sz="2200" b="1" dirty="0" smtClean="0">
                <a:solidFill>
                  <a:schemeClr val="tx1"/>
                </a:solidFill>
                <a:latin typeface="+mj-lt"/>
              </a:rPr>
              <a:t> </a:t>
            </a:r>
            <a:r>
              <a:rPr lang="en-US" sz="2200" dirty="0" smtClean="0">
                <a:solidFill>
                  <a:schemeClr val="tx1"/>
                </a:solidFill>
                <a:latin typeface="+mj-lt"/>
              </a:rPr>
              <a:t>of the optimal </a:t>
            </a:r>
            <a:r>
              <a:rPr lang="en-US" sz="2200" i="1" dirty="0" smtClean="0">
                <a:solidFill>
                  <a:srgbClr val="C00000"/>
                </a:solidFill>
                <a:latin typeface="+mj-lt"/>
              </a:rPr>
              <a:t>architecture</a:t>
            </a:r>
            <a:r>
              <a:rPr lang="en-US" sz="2200" dirty="0" smtClean="0">
                <a:solidFill>
                  <a:schemeClr val="tx1"/>
                </a:solidFill>
                <a:latin typeface="+mj-lt"/>
              </a:rPr>
              <a:t> or </a:t>
            </a:r>
            <a:r>
              <a:rPr lang="en-US" sz="2200" i="1" dirty="0" smtClean="0">
                <a:solidFill>
                  <a:srgbClr val="C00000"/>
                </a:solidFill>
                <a:latin typeface="+mj-lt"/>
              </a:rPr>
              <a:t>algorithms</a:t>
            </a:r>
            <a:r>
              <a:rPr lang="en-US" sz="2200" dirty="0" smtClean="0">
                <a:solidFill>
                  <a:schemeClr val="tx1"/>
                </a:solidFill>
                <a:latin typeface="+mj-lt"/>
              </a:rPr>
              <a:t> to use.</a:t>
            </a:r>
          </a:p>
          <a:p>
            <a:pPr marL="457200" indent="-457200">
              <a:buFont typeface="Wingdings" pitchFamily="2" charset="2"/>
              <a:buChar char="ü"/>
            </a:pPr>
            <a:r>
              <a:rPr lang="en-US" sz="2200" dirty="0" smtClean="0">
                <a:solidFill>
                  <a:schemeClr val="tx1"/>
                </a:solidFill>
                <a:latin typeface="+mj-lt"/>
              </a:rPr>
              <a:t>Steady, visible signs of </a:t>
            </a:r>
            <a:r>
              <a:rPr lang="en-US" sz="2200" i="1" dirty="0" smtClean="0">
                <a:solidFill>
                  <a:srgbClr val="C00000"/>
                </a:solidFill>
                <a:latin typeface="+mj-lt"/>
              </a:rPr>
              <a:t>progress</a:t>
            </a:r>
            <a:r>
              <a:rPr lang="en-US" sz="2200" dirty="0" smtClean="0">
                <a:solidFill>
                  <a:schemeClr val="tx1"/>
                </a:solidFill>
                <a:latin typeface="+mj-lt"/>
              </a:rPr>
              <a:t>.</a:t>
            </a:r>
            <a:endParaRPr lang="en-US" sz="2200" dirty="0">
              <a:solidFill>
                <a:schemeClr val="tx1"/>
              </a:solidFill>
              <a:latin typeface="+mj-lt"/>
            </a:endParaRPr>
          </a:p>
        </p:txBody>
      </p:sp>
      <p:pic>
        <p:nvPicPr>
          <p:cNvPr id="1026" name="Picture 2" descr="http://t2.gstatic.com/images?q=tbn:ANd9GcSpMMOfaNeKNZaAEZVW6a8SMQlo-mMvQj4Q6Gi1Aqa43MBwA_Lr&amp;t=1"/>
          <p:cNvPicPr>
            <a:picLocks noChangeAspect="1" noChangeArrowheads="1"/>
          </p:cNvPicPr>
          <p:nvPr/>
        </p:nvPicPr>
        <p:blipFill>
          <a:blip r:embed="rId2" cstate="print"/>
          <a:srcRect/>
          <a:stretch>
            <a:fillRect/>
          </a:stretch>
        </p:blipFill>
        <p:spPr bwMode="auto">
          <a:xfrm>
            <a:off x="6629400" y="1828800"/>
            <a:ext cx="1828800" cy="2105026"/>
          </a:xfrm>
          <a:prstGeom prst="rect">
            <a:avLst/>
          </a:prstGeo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t>Real World IID Model: A New System</a:t>
            </a:r>
            <a:endParaRPr lang="en-US" sz="3600" dirty="0"/>
          </a:p>
        </p:txBody>
      </p:sp>
      <p:graphicFrame>
        <p:nvGraphicFramePr>
          <p:cNvPr id="5" name="Diagram 4"/>
          <p:cNvGraphicFramePr/>
          <p:nvPr/>
        </p:nvGraphicFramePr>
        <p:xfrm>
          <a:off x="609600" y="1447800"/>
          <a:ext cx="7924800" cy="4978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Real World IID: System Maintenance</a:t>
            </a:r>
            <a:endParaRPr lang="en-US" sz="3200" dirty="0"/>
          </a:p>
        </p:txBody>
      </p:sp>
      <p:graphicFrame>
        <p:nvGraphicFramePr>
          <p:cNvPr id="4" name="Diagram 3"/>
          <p:cNvGraphicFramePr/>
          <p:nvPr/>
        </p:nvGraphicFramePr>
        <p:xfrm>
          <a:off x="609600" y="1447800"/>
          <a:ext cx="7924800" cy="4978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When To Use IID Model?</a:t>
            </a:r>
            <a:endParaRPr lang="en-US" dirty="0"/>
          </a:p>
        </p:txBody>
      </p:sp>
      <p:sp>
        <p:nvSpPr>
          <p:cNvPr id="3" name="Content Placeholder 2"/>
          <p:cNvSpPr>
            <a:spLocks noGrp="1"/>
          </p:cNvSpPr>
          <p:nvPr>
            <p:ph idx="1"/>
          </p:nvPr>
        </p:nvSpPr>
        <p:spPr>
          <a:xfrm>
            <a:off x="457200" y="1600200"/>
            <a:ext cx="4876800" cy="4525963"/>
          </a:xfrm>
        </p:spPr>
        <p:txBody>
          <a:bodyPr/>
          <a:lstStyle/>
          <a:p>
            <a:r>
              <a:rPr lang="en-US" sz="2400" i="1" dirty="0" smtClean="0">
                <a:solidFill>
                  <a:srgbClr val="C00000"/>
                </a:solidFill>
              </a:rPr>
              <a:t>Cost</a:t>
            </a:r>
            <a:r>
              <a:rPr lang="en-US" sz="2400" dirty="0" smtClean="0"/>
              <a:t> and </a:t>
            </a:r>
            <a:r>
              <a:rPr lang="en-US" sz="2400" i="1" dirty="0" smtClean="0">
                <a:solidFill>
                  <a:srgbClr val="C00000"/>
                </a:solidFill>
              </a:rPr>
              <a:t>time</a:t>
            </a:r>
            <a:r>
              <a:rPr lang="en-US" sz="2400" dirty="0" smtClean="0"/>
              <a:t> are </a:t>
            </a:r>
            <a:r>
              <a:rPr lang="en-US" sz="2400" u="sng" dirty="0" smtClean="0"/>
              <a:t>flexible</a:t>
            </a:r>
            <a:r>
              <a:rPr lang="en-US" sz="2400" dirty="0" smtClean="0"/>
              <a:t>.</a:t>
            </a:r>
          </a:p>
          <a:p>
            <a:r>
              <a:rPr lang="en-US" sz="2400" i="1" dirty="0" smtClean="0">
                <a:solidFill>
                  <a:srgbClr val="C00000"/>
                </a:solidFill>
              </a:rPr>
              <a:t>Objectives</a:t>
            </a:r>
            <a:r>
              <a:rPr lang="en-US" sz="2400" dirty="0" smtClean="0"/>
              <a:t> are </a:t>
            </a:r>
            <a:r>
              <a:rPr lang="en-US" sz="2400" u="sng" dirty="0" smtClean="0"/>
              <a:t>clear</a:t>
            </a:r>
            <a:r>
              <a:rPr lang="en-US" sz="2400" dirty="0" smtClean="0"/>
              <a:t> but </a:t>
            </a:r>
            <a:r>
              <a:rPr lang="en-US" sz="2400" u="sng" dirty="0" smtClean="0"/>
              <a:t>not fixed</a:t>
            </a:r>
            <a:r>
              <a:rPr lang="en-US" sz="2400" dirty="0" smtClean="0"/>
              <a:t>.</a:t>
            </a:r>
          </a:p>
          <a:p>
            <a:r>
              <a:rPr lang="en-US" sz="2400" i="1" dirty="0" smtClean="0">
                <a:solidFill>
                  <a:srgbClr val="C00000"/>
                </a:solidFill>
              </a:rPr>
              <a:t>Requirements</a:t>
            </a:r>
            <a:r>
              <a:rPr lang="en-US" sz="2400" dirty="0" smtClean="0"/>
              <a:t> cannot be specified (without system </a:t>
            </a:r>
            <a:r>
              <a:rPr lang="en-US" sz="2400" u="sng" dirty="0" smtClean="0"/>
              <a:t>implementation</a:t>
            </a:r>
            <a:r>
              <a:rPr lang="en-US" sz="2400" dirty="0" smtClean="0"/>
              <a:t>) or are </a:t>
            </a:r>
            <a:r>
              <a:rPr lang="en-US" sz="2400" u="sng" dirty="0" smtClean="0"/>
              <a:t>ambiguous</a:t>
            </a:r>
            <a:r>
              <a:rPr lang="en-US" sz="2400" dirty="0" smtClean="0"/>
              <a:t>.</a:t>
            </a:r>
          </a:p>
          <a:p>
            <a:r>
              <a:rPr lang="en-US" sz="2400" i="1" dirty="0" smtClean="0">
                <a:solidFill>
                  <a:srgbClr val="C00000"/>
                </a:solidFill>
              </a:rPr>
              <a:t>Technology</a:t>
            </a:r>
            <a:r>
              <a:rPr lang="en-US" sz="2400" dirty="0" smtClean="0"/>
              <a:t> is </a:t>
            </a:r>
            <a:r>
              <a:rPr lang="en-US" sz="2400" u="sng" dirty="0" smtClean="0"/>
              <a:t>new</a:t>
            </a:r>
            <a:r>
              <a:rPr lang="en-US" sz="2400" dirty="0" smtClean="0"/>
              <a:t>.</a:t>
            </a:r>
          </a:p>
          <a:p>
            <a:r>
              <a:rPr lang="en-US" sz="2400" i="1" dirty="0" smtClean="0">
                <a:solidFill>
                  <a:srgbClr val="C00000"/>
                </a:solidFill>
              </a:rPr>
              <a:t>Resources</a:t>
            </a:r>
            <a:r>
              <a:rPr lang="en-US" sz="2400" dirty="0" smtClean="0"/>
              <a:t> (with expertise) are not </a:t>
            </a:r>
            <a:r>
              <a:rPr lang="en-US" sz="2400" u="sng" dirty="0" smtClean="0"/>
              <a:t>available</a:t>
            </a:r>
            <a:r>
              <a:rPr lang="en-US" sz="2400" dirty="0" smtClean="0"/>
              <a:t>.</a:t>
            </a:r>
          </a:p>
          <a:p>
            <a:r>
              <a:rPr lang="en-US" sz="2400" i="1" dirty="0" smtClean="0">
                <a:solidFill>
                  <a:srgbClr val="C00000"/>
                </a:solidFill>
              </a:rPr>
              <a:t>Similar</a:t>
            </a:r>
            <a:r>
              <a:rPr lang="en-US" sz="2400" dirty="0" smtClean="0"/>
              <a:t> projects do not exist.</a:t>
            </a:r>
          </a:p>
          <a:p>
            <a:r>
              <a:rPr lang="en-US" sz="2400" i="1" dirty="0" smtClean="0">
                <a:solidFill>
                  <a:srgbClr val="C00000"/>
                </a:solidFill>
              </a:rPr>
              <a:t>Existing (maintenance) system</a:t>
            </a:r>
            <a:r>
              <a:rPr lang="en-US" sz="2400" dirty="0" smtClean="0"/>
              <a:t> may </a:t>
            </a:r>
            <a:r>
              <a:rPr lang="en-US" sz="2400" u="sng" dirty="0" smtClean="0"/>
              <a:t>not be available</a:t>
            </a:r>
            <a:r>
              <a:rPr lang="en-US" sz="2400" dirty="0" smtClean="0"/>
              <a:t> at the beginning.</a:t>
            </a:r>
            <a:endParaRPr lang="en-US" sz="2400" dirty="0"/>
          </a:p>
        </p:txBody>
      </p:sp>
      <p:pic>
        <p:nvPicPr>
          <p:cNvPr id="2050" name="Picture 2" descr="http://www.newelectronics.co.uk/article-images/62836/test1_popup.jpg"/>
          <p:cNvPicPr>
            <a:picLocks noChangeAspect="1" noChangeArrowheads="1"/>
          </p:cNvPicPr>
          <p:nvPr/>
        </p:nvPicPr>
        <p:blipFill>
          <a:blip r:embed="rId2" cstate="print"/>
          <a:srcRect/>
          <a:stretch>
            <a:fillRect/>
          </a:stretch>
        </p:blipFill>
        <p:spPr bwMode="auto">
          <a:xfrm>
            <a:off x="5343525" y="2514600"/>
            <a:ext cx="3571875" cy="2381250"/>
          </a:xfrm>
          <a:prstGeom prst="rect">
            <a:avLst/>
          </a:prstGeom>
          <a:noFill/>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r>
              <a:rPr lang="en-US" dirty="0" smtClean="0"/>
              <a:t>Spiral Model [5, 6]</a:t>
            </a:r>
          </a:p>
        </p:txBody>
      </p:sp>
      <p:pic>
        <p:nvPicPr>
          <p:cNvPr id="1027" name="Picture 3"/>
          <p:cNvPicPr>
            <a:picLocks noChangeAspect="1" noChangeArrowheads="1"/>
          </p:cNvPicPr>
          <p:nvPr/>
        </p:nvPicPr>
        <p:blipFill>
          <a:blip r:embed="rId2" cstate="print"/>
          <a:srcRect/>
          <a:stretch>
            <a:fillRect/>
          </a:stretch>
        </p:blipFill>
        <p:spPr bwMode="auto">
          <a:xfrm>
            <a:off x="76200" y="1133475"/>
            <a:ext cx="6172200" cy="5572125"/>
          </a:xfrm>
          <a:prstGeom prst="rect">
            <a:avLst/>
          </a:prstGeom>
          <a:noFill/>
          <a:ln w="9525">
            <a:noFill/>
            <a:miter lim="800000"/>
            <a:headEnd/>
            <a:tailEnd/>
          </a:ln>
          <a:effectLst/>
        </p:spPr>
      </p:pic>
      <p:sp>
        <p:nvSpPr>
          <p:cNvPr id="10" name="Oval 9"/>
          <p:cNvSpPr/>
          <p:nvPr/>
        </p:nvSpPr>
        <p:spPr>
          <a:xfrm>
            <a:off x="2971800" y="1219200"/>
            <a:ext cx="838200" cy="457200"/>
          </a:xfrm>
          <a:prstGeom prst="ellipse">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867400" y="1219200"/>
            <a:ext cx="3124200" cy="5509200"/>
          </a:xfrm>
          <a:prstGeom prst="rect">
            <a:avLst/>
          </a:prstGeom>
        </p:spPr>
        <p:txBody>
          <a:bodyPr wrap="square">
            <a:spAutoFit/>
          </a:bodyPr>
          <a:lstStyle/>
          <a:p>
            <a:pPr marL="342900" indent="-342900">
              <a:buFont typeface="+mj-lt"/>
              <a:buAutoNum type="arabicPeriod"/>
            </a:pPr>
            <a:r>
              <a:rPr lang="en-IE" sz="2200" dirty="0" smtClean="0">
                <a:latin typeface="+mj-lt"/>
              </a:rPr>
              <a:t>The </a:t>
            </a:r>
            <a:r>
              <a:rPr lang="en-IE" sz="2200" i="1" dirty="0" smtClean="0">
                <a:solidFill>
                  <a:srgbClr val="C00000"/>
                </a:solidFill>
                <a:latin typeface="+mj-lt"/>
              </a:rPr>
              <a:t>radial dimension</a:t>
            </a:r>
            <a:r>
              <a:rPr lang="en-IE" sz="2200" dirty="0" smtClean="0">
                <a:latin typeface="+mj-lt"/>
              </a:rPr>
              <a:t> represents the </a:t>
            </a:r>
            <a:r>
              <a:rPr lang="en-IE" sz="2200" i="1" dirty="0" smtClean="0">
                <a:solidFill>
                  <a:srgbClr val="C00000"/>
                </a:solidFill>
                <a:latin typeface="+mj-lt"/>
              </a:rPr>
              <a:t>cumulative cost</a:t>
            </a:r>
            <a:r>
              <a:rPr lang="en-IE" sz="2200" dirty="0" smtClean="0">
                <a:latin typeface="+mj-lt"/>
              </a:rPr>
              <a:t> incurred in accomplishing the steps to date.</a:t>
            </a:r>
          </a:p>
          <a:p>
            <a:pPr marL="342900" indent="-342900">
              <a:buFont typeface="+mj-lt"/>
              <a:buAutoNum type="arabicPeriod"/>
            </a:pPr>
            <a:r>
              <a:rPr lang="en-IE" sz="2200" dirty="0" smtClean="0">
                <a:latin typeface="+mj-lt"/>
              </a:rPr>
              <a:t>The </a:t>
            </a:r>
            <a:r>
              <a:rPr lang="en-IE" sz="2200" i="1" dirty="0" smtClean="0">
                <a:solidFill>
                  <a:srgbClr val="C00000"/>
                </a:solidFill>
                <a:latin typeface="+mj-lt"/>
              </a:rPr>
              <a:t>angular dimension</a:t>
            </a:r>
            <a:r>
              <a:rPr lang="en-IE" sz="2200" dirty="0" smtClean="0">
                <a:latin typeface="+mj-lt"/>
              </a:rPr>
              <a:t> represents the </a:t>
            </a:r>
            <a:r>
              <a:rPr lang="en-IE" sz="2200" i="1" dirty="0" smtClean="0">
                <a:solidFill>
                  <a:srgbClr val="C00000"/>
                </a:solidFill>
                <a:latin typeface="+mj-lt"/>
              </a:rPr>
              <a:t>progress</a:t>
            </a:r>
            <a:r>
              <a:rPr lang="en-IE" sz="2200" dirty="0" smtClean="0">
                <a:latin typeface="+mj-lt"/>
              </a:rPr>
              <a:t> made in completing each </a:t>
            </a:r>
            <a:r>
              <a:rPr lang="en-IE" sz="2200" i="1" dirty="0" smtClean="0">
                <a:solidFill>
                  <a:srgbClr val="C00000"/>
                </a:solidFill>
                <a:latin typeface="+mj-lt"/>
              </a:rPr>
              <a:t>cycle of the spiral</a:t>
            </a:r>
            <a:r>
              <a:rPr lang="en-IE" sz="2200" dirty="0" smtClean="0">
                <a:latin typeface="+mj-lt"/>
              </a:rPr>
              <a:t>.</a:t>
            </a:r>
          </a:p>
          <a:p>
            <a:pPr marL="342900" indent="-342900">
              <a:buFont typeface="+mj-lt"/>
              <a:buAutoNum type="arabicPeriod"/>
            </a:pPr>
            <a:r>
              <a:rPr lang="en-US" sz="2200" dirty="0" smtClean="0">
                <a:latin typeface="+mj-lt"/>
              </a:rPr>
              <a:t>The risks are categorized as </a:t>
            </a:r>
            <a:r>
              <a:rPr lang="en-US" sz="2200" i="1" dirty="0" smtClean="0">
                <a:solidFill>
                  <a:srgbClr val="C00000"/>
                </a:solidFill>
                <a:latin typeface="+mj-lt"/>
              </a:rPr>
              <a:t>performance</a:t>
            </a:r>
            <a:r>
              <a:rPr lang="en-US" sz="2200" dirty="0" smtClean="0">
                <a:latin typeface="+mj-lt"/>
              </a:rPr>
              <a:t> (or user interface) related risks or </a:t>
            </a:r>
            <a:r>
              <a:rPr lang="en-US" sz="2200" i="1" dirty="0" smtClean="0">
                <a:solidFill>
                  <a:srgbClr val="C00000"/>
                </a:solidFill>
                <a:latin typeface="+mj-lt"/>
              </a:rPr>
              <a:t>development</a:t>
            </a:r>
            <a:r>
              <a:rPr lang="en-US" sz="2200" dirty="0" smtClean="0">
                <a:latin typeface="+mj-lt"/>
              </a:rPr>
              <a:t> risks.</a:t>
            </a:r>
            <a:endParaRPr lang="en-IE" sz="2200" dirty="0" smtClean="0">
              <a:latin typeface="+mj-lt"/>
            </a:endParaRPr>
          </a:p>
        </p:txBody>
      </p:sp>
      <p:sp>
        <p:nvSpPr>
          <p:cNvPr id="12" name="Oval 11"/>
          <p:cNvSpPr/>
          <p:nvPr/>
        </p:nvSpPr>
        <p:spPr>
          <a:xfrm>
            <a:off x="2895600" y="1752600"/>
            <a:ext cx="838200" cy="533400"/>
          </a:xfrm>
          <a:prstGeom prst="ellipse">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r>
              <a:rPr lang="en-US" dirty="0" smtClean="0"/>
              <a:t>Start</a:t>
            </a:r>
          </a:p>
        </p:txBody>
      </p:sp>
      <p:pic>
        <p:nvPicPr>
          <p:cNvPr id="1027" name="Picture 3"/>
          <p:cNvPicPr>
            <a:picLocks noChangeAspect="1" noChangeArrowheads="1"/>
          </p:cNvPicPr>
          <p:nvPr/>
        </p:nvPicPr>
        <p:blipFill>
          <a:blip r:embed="rId2" cstate="print"/>
          <a:srcRect/>
          <a:stretch>
            <a:fillRect/>
          </a:stretch>
        </p:blipFill>
        <p:spPr bwMode="auto">
          <a:xfrm>
            <a:off x="76200" y="1133475"/>
            <a:ext cx="6172200" cy="5572125"/>
          </a:xfrm>
          <a:prstGeom prst="rect">
            <a:avLst/>
          </a:prstGeom>
          <a:noFill/>
          <a:ln w="9525">
            <a:noFill/>
            <a:miter lim="800000"/>
            <a:headEnd/>
            <a:tailEnd/>
          </a:ln>
          <a:effectLst/>
        </p:spPr>
      </p:pic>
      <p:sp>
        <p:nvSpPr>
          <p:cNvPr id="5" name="Dodecagon 4"/>
          <p:cNvSpPr/>
          <p:nvPr/>
        </p:nvSpPr>
        <p:spPr>
          <a:xfrm>
            <a:off x="1219200" y="2209800"/>
            <a:ext cx="457200" cy="304800"/>
          </a:xfrm>
          <a:prstGeom prst="dodec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sp>
        <p:nvSpPr>
          <p:cNvPr id="11" name="Rectangle 10"/>
          <p:cNvSpPr/>
          <p:nvPr/>
        </p:nvSpPr>
        <p:spPr>
          <a:xfrm>
            <a:off x="5715000" y="920889"/>
            <a:ext cx="3352800" cy="5632311"/>
          </a:xfrm>
          <a:prstGeom prst="rect">
            <a:avLst/>
          </a:prstGeom>
        </p:spPr>
        <p:txBody>
          <a:bodyPr wrap="square">
            <a:spAutoFit/>
          </a:bodyPr>
          <a:lstStyle/>
          <a:p>
            <a:r>
              <a:rPr lang="en-US" sz="2000" i="1" dirty="0" smtClean="0">
                <a:solidFill>
                  <a:srgbClr val="C00000"/>
                </a:solidFill>
                <a:latin typeface="+mj-lt"/>
              </a:rPr>
              <a:t>Each cycle</a:t>
            </a:r>
            <a:r>
              <a:rPr lang="en-US" sz="2000" dirty="0" smtClean="0">
                <a:latin typeface="+mj-lt"/>
              </a:rPr>
              <a:t> of the spiral begins with the identification of</a:t>
            </a:r>
          </a:p>
          <a:p>
            <a:pPr marL="342900" indent="-342900">
              <a:buFont typeface="+mj-lt"/>
              <a:buAutoNum type="arabicPeriod"/>
            </a:pPr>
            <a:r>
              <a:rPr lang="en-US" sz="2000" i="1" dirty="0" smtClean="0">
                <a:solidFill>
                  <a:srgbClr val="C00000"/>
                </a:solidFill>
                <a:latin typeface="+mj-lt"/>
              </a:rPr>
              <a:t>the objectives</a:t>
            </a:r>
            <a:r>
              <a:rPr lang="en-US" sz="2000" i="1" dirty="0" smtClean="0">
                <a:solidFill>
                  <a:schemeClr val="accent2"/>
                </a:solidFill>
                <a:latin typeface="+mj-lt"/>
              </a:rPr>
              <a:t> </a:t>
            </a:r>
            <a:r>
              <a:rPr lang="en-US" sz="2000" dirty="0" smtClean="0">
                <a:latin typeface="+mj-lt"/>
              </a:rPr>
              <a:t>of the portion of the product being elaborated (performance, functionality, ability to accommodate change, etc.);</a:t>
            </a:r>
          </a:p>
          <a:p>
            <a:pPr marL="342900" indent="-342900">
              <a:buFont typeface="+mj-lt"/>
              <a:buAutoNum type="arabicPeriod"/>
            </a:pPr>
            <a:r>
              <a:rPr lang="en-US" sz="2000" i="1" dirty="0" smtClean="0">
                <a:solidFill>
                  <a:srgbClr val="C00000"/>
                </a:solidFill>
                <a:latin typeface="+mj-lt"/>
              </a:rPr>
              <a:t>the alternative means</a:t>
            </a:r>
            <a:r>
              <a:rPr lang="en-US" sz="2000" i="1" dirty="0" smtClean="0">
                <a:solidFill>
                  <a:schemeClr val="accent2"/>
                </a:solidFill>
                <a:latin typeface="+mj-lt"/>
              </a:rPr>
              <a:t> </a:t>
            </a:r>
            <a:r>
              <a:rPr lang="en-US" sz="2000" dirty="0" smtClean="0">
                <a:latin typeface="+mj-lt"/>
              </a:rPr>
              <a:t>of implementing this portion of the product (design A , design B, reuse, buy, etc.); and</a:t>
            </a:r>
          </a:p>
          <a:p>
            <a:pPr marL="342900" indent="-342900">
              <a:buFont typeface="+mj-lt"/>
              <a:buAutoNum type="arabicPeriod"/>
            </a:pPr>
            <a:r>
              <a:rPr lang="en-US" sz="2000" i="1" dirty="0" smtClean="0">
                <a:solidFill>
                  <a:srgbClr val="C00000"/>
                </a:solidFill>
                <a:latin typeface="+mj-lt"/>
              </a:rPr>
              <a:t>the constraints</a:t>
            </a:r>
            <a:r>
              <a:rPr lang="en-US" sz="2000" i="1" dirty="0" smtClean="0">
                <a:solidFill>
                  <a:schemeClr val="accent2"/>
                </a:solidFill>
                <a:latin typeface="+mj-lt"/>
              </a:rPr>
              <a:t> </a:t>
            </a:r>
            <a:r>
              <a:rPr lang="en-US" sz="2000" dirty="0" smtClean="0">
                <a:latin typeface="+mj-lt"/>
              </a:rPr>
              <a:t>imposed on the application of the alternatives (cost, schedule, inter-face, etc.).</a:t>
            </a:r>
            <a:endParaRPr lang="en-US" sz="2000" dirty="0">
              <a:latin typeface="+mj-lt"/>
            </a:endParaRPr>
          </a:p>
        </p:txBody>
      </p:sp>
      <p:sp>
        <p:nvSpPr>
          <p:cNvPr id="12" name="Oval 11"/>
          <p:cNvSpPr/>
          <p:nvPr/>
        </p:nvSpPr>
        <p:spPr>
          <a:xfrm>
            <a:off x="1981200" y="3657600"/>
            <a:ext cx="838200" cy="457200"/>
          </a:xfrm>
          <a:prstGeom prst="ellipse">
            <a:avLst/>
          </a:prstGeom>
          <a:solidFill>
            <a:srgbClr val="C00000"/>
          </a:solid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r>
              <a:rPr lang="en-US" dirty="0" smtClean="0"/>
              <a:t>Risk Analysis</a:t>
            </a:r>
          </a:p>
        </p:txBody>
      </p:sp>
      <p:pic>
        <p:nvPicPr>
          <p:cNvPr id="1027" name="Picture 3"/>
          <p:cNvPicPr>
            <a:picLocks noChangeAspect="1" noChangeArrowheads="1"/>
          </p:cNvPicPr>
          <p:nvPr/>
        </p:nvPicPr>
        <p:blipFill>
          <a:blip r:embed="rId2" cstate="print"/>
          <a:srcRect/>
          <a:stretch>
            <a:fillRect/>
          </a:stretch>
        </p:blipFill>
        <p:spPr bwMode="auto">
          <a:xfrm>
            <a:off x="76200" y="1133475"/>
            <a:ext cx="6172200" cy="5572125"/>
          </a:xfrm>
          <a:prstGeom prst="rect">
            <a:avLst/>
          </a:prstGeom>
          <a:noFill/>
          <a:ln w="9525">
            <a:noFill/>
            <a:miter lim="800000"/>
            <a:headEnd/>
            <a:tailEnd/>
          </a:ln>
          <a:effectLst/>
        </p:spPr>
      </p:pic>
      <p:sp>
        <p:nvSpPr>
          <p:cNvPr id="6" name="Dodecagon 5"/>
          <p:cNvSpPr/>
          <p:nvPr/>
        </p:nvSpPr>
        <p:spPr>
          <a:xfrm>
            <a:off x="4495800" y="2057400"/>
            <a:ext cx="457200" cy="304800"/>
          </a:xfrm>
          <a:prstGeom prst="dodecagon">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endParaRPr lang="en-US" dirty="0"/>
          </a:p>
        </p:txBody>
      </p:sp>
      <p:sp>
        <p:nvSpPr>
          <p:cNvPr id="10" name="Rectangle 9"/>
          <p:cNvSpPr/>
          <p:nvPr/>
        </p:nvSpPr>
        <p:spPr>
          <a:xfrm>
            <a:off x="5715000" y="1143000"/>
            <a:ext cx="3276600" cy="5324535"/>
          </a:xfrm>
          <a:prstGeom prst="rect">
            <a:avLst/>
          </a:prstGeom>
        </p:spPr>
        <p:txBody>
          <a:bodyPr wrap="square">
            <a:spAutoFit/>
          </a:bodyPr>
          <a:lstStyle/>
          <a:p>
            <a:r>
              <a:rPr lang="en-IE" sz="2000" dirty="0" smtClean="0">
                <a:latin typeface="+mj-lt"/>
              </a:rPr>
              <a:t>Evaluate the </a:t>
            </a:r>
            <a:r>
              <a:rPr lang="en-IE" sz="2000" i="1" dirty="0" smtClean="0">
                <a:solidFill>
                  <a:srgbClr val="C00000"/>
                </a:solidFill>
                <a:latin typeface="+mj-lt"/>
              </a:rPr>
              <a:t>alternatives</a:t>
            </a:r>
            <a:r>
              <a:rPr lang="en-IE" sz="2000" dirty="0" smtClean="0">
                <a:latin typeface="+mj-lt"/>
              </a:rPr>
              <a:t> relative to the objectives and constraints. </a:t>
            </a:r>
          </a:p>
          <a:p>
            <a:pPr marL="342900" indent="-342900">
              <a:buFont typeface="+mj-lt"/>
              <a:buAutoNum type="arabicPeriod"/>
            </a:pPr>
            <a:r>
              <a:rPr lang="en-IE" sz="2000" dirty="0" smtClean="0">
                <a:latin typeface="+mj-lt"/>
              </a:rPr>
              <a:t>Identify areas of </a:t>
            </a:r>
            <a:r>
              <a:rPr lang="en-IE" sz="2000" i="1" dirty="0" smtClean="0">
                <a:solidFill>
                  <a:srgbClr val="C00000"/>
                </a:solidFill>
                <a:latin typeface="+mj-lt"/>
              </a:rPr>
              <a:t>uncertainty</a:t>
            </a:r>
            <a:r>
              <a:rPr lang="en-IE" sz="2000" dirty="0" smtClean="0">
                <a:latin typeface="+mj-lt"/>
              </a:rPr>
              <a:t> that are significant sources of project risk. </a:t>
            </a:r>
          </a:p>
          <a:p>
            <a:pPr marL="342900" indent="-342900">
              <a:buFont typeface="+mj-lt"/>
              <a:buAutoNum type="arabicPeriod"/>
            </a:pPr>
            <a:r>
              <a:rPr lang="en-IE" sz="2000" dirty="0" smtClean="0">
                <a:latin typeface="+mj-lt"/>
              </a:rPr>
              <a:t>If so, the next step should involve the formulation of a cost-effective </a:t>
            </a:r>
            <a:r>
              <a:rPr lang="en-IE" sz="2000" i="1" dirty="0" smtClean="0">
                <a:solidFill>
                  <a:srgbClr val="C00000"/>
                </a:solidFill>
                <a:latin typeface="+mj-lt"/>
              </a:rPr>
              <a:t>strategy</a:t>
            </a:r>
            <a:r>
              <a:rPr lang="en-IE" sz="2000" i="1" dirty="0" smtClean="0">
                <a:solidFill>
                  <a:schemeClr val="accent2"/>
                </a:solidFill>
                <a:latin typeface="+mj-lt"/>
              </a:rPr>
              <a:t> </a:t>
            </a:r>
            <a:r>
              <a:rPr lang="en-IE" sz="2000" dirty="0" smtClean="0">
                <a:latin typeface="+mj-lt"/>
              </a:rPr>
              <a:t>for resolving the sources of risk. This may involve prototyping, simulation, benchmarking, reference checking, administering user questionnaires, analytic modelling.</a:t>
            </a:r>
          </a:p>
        </p:txBody>
      </p:sp>
      <p:sp>
        <p:nvSpPr>
          <p:cNvPr id="12" name="Oval 11"/>
          <p:cNvSpPr/>
          <p:nvPr/>
        </p:nvSpPr>
        <p:spPr>
          <a:xfrm>
            <a:off x="3124200" y="3962400"/>
            <a:ext cx="2895600" cy="457200"/>
          </a:xfrm>
          <a:prstGeom prst="ellipse">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2667000" y="3657600"/>
            <a:ext cx="1143000" cy="457200"/>
          </a:xfrm>
          <a:prstGeom prst="ellipse">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r>
              <a:rPr lang="en-US" dirty="0" smtClean="0"/>
              <a:t>Another Prototype</a:t>
            </a:r>
          </a:p>
        </p:txBody>
      </p:sp>
      <p:pic>
        <p:nvPicPr>
          <p:cNvPr id="1027" name="Picture 3"/>
          <p:cNvPicPr>
            <a:picLocks noChangeAspect="1" noChangeArrowheads="1"/>
          </p:cNvPicPr>
          <p:nvPr/>
        </p:nvPicPr>
        <p:blipFill>
          <a:blip r:embed="rId2" cstate="print"/>
          <a:srcRect/>
          <a:stretch>
            <a:fillRect/>
          </a:stretch>
        </p:blipFill>
        <p:spPr bwMode="auto">
          <a:xfrm>
            <a:off x="76200" y="1133475"/>
            <a:ext cx="6172200" cy="5572125"/>
          </a:xfrm>
          <a:prstGeom prst="rect">
            <a:avLst/>
          </a:prstGeom>
          <a:noFill/>
          <a:ln w="9525">
            <a:noFill/>
            <a:miter lim="800000"/>
            <a:headEnd/>
            <a:tailEnd/>
          </a:ln>
          <a:effectLst/>
        </p:spPr>
      </p:pic>
      <p:sp>
        <p:nvSpPr>
          <p:cNvPr id="6" name="Dodecagon 5"/>
          <p:cNvSpPr/>
          <p:nvPr/>
        </p:nvSpPr>
        <p:spPr>
          <a:xfrm>
            <a:off x="4495800" y="2057400"/>
            <a:ext cx="457200" cy="304800"/>
          </a:xfrm>
          <a:prstGeom prst="dodecagon">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endParaRPr lang="en-US" dirty="0"/>
          </a:p>
        </p:txBody>
      </p:sp>
      <p:sp>
        <p:nvSpPr>
          <p:cNvPr id="10" name="Rectangle 9"/>
          <p:cNvSpPr/>
          <p:nvPr/>
        </p:nvSpPr>
        <p:spPr>
          <a:xfrm>
            <a:off x="6096000" y="1443841"/>
            <a:ext cx="2895600" cy="5016758"/>
          </a:xfrm>
          <a:prstGeom prst="rect">
            <a:avLst/>
          </a:prstGeom>
        </p:spPr>
        <p:txBody>
          <a:bodyPr wrap="square">
            <a:spAutoFit/>
          </a:bodyPr>
          <a:lstStyle/>
          <a:p>
            <a:r>
              <a:rPr lang="en-US" sz="2000" dirty="0" smtClean="0">
                <a:latin typeface="+mj-lt"/>
              </a:rPr>
              <a:t>If </a:t>
            </a:r>
            <a:r>
              <a:rPr lang="en-US" sz="2000" i="1" dirty="0" smtClean="0">
                <a:solidFill>
                  <a:srgbClr val="C00000"/>
                </a:solidFill>
                <a:latin typeface="+mj-lt"/>
              </a:rPr>
              <a:t>performance or user-interface risks</a:t>
            </a:r>
            <a:r>
              <a:rPr lang="en-US" sz="2000" i="1" dirty="0" smtClean="0">
                <a:solidFill>
                  <a:schemeClr val="accent2"/>
                </a:solidFill>
                <a:latin typeface="+mj-lt"/>
              </a:rPr>
              <a:t> </a:t>
            </a:r>
            <a:r>
              <a:rPr lang="en-US" sz="2000" dirty="0" smtClean="0">
                <a:latin typeface="+mj-lt"/>
              </a:rPr>
              <a:t>strongly dominate program development or internal interface-control risks, the next step may be an </a:t>
            </a:r>
            <a:r>
              <a:rPr lang="en-US" sz="2000" i="1" dirty="0" smtClean="0">
                <a:solidFill>
                  <a:srgbClr val="C00000"/>
                </a:solidFill>
                <a:latin typeface="+mj-lt"/>
              </a:rPr>
              <a:t>evolutionary development one</a:t>
            </a:r>
            <a:r>
              <a:rPr lang="en-US" sz="2000" dirty="0" smtClean="0">
                <a:latin typeface="+mj-lt"/>
              </a:rPr>
              <a:t>: a minimal effort to specify the overall nature of the product, a plan for the next level of prototyping, and the development of a </a:t>
            </a:r>
            <a:r>
              <a:rPr lang="en-US" sz="2000" i="1" dirty="0" smtClean="0">
                <a:solidFill>
                  <a:srgbClr val="C00000"/>
                </a:solidFill>
                <a:latin typeface="+mj-lt"/>
              </a:rPr>
              <a:t>more detailed prototype</a:t>
            </a:r>
            <a:r>
              <a:rPr lang="en-US" sz="2000" dirty="0" smtClean="0">
                <a:latin typeface="+mj-lt"/>
              </a:rPr>
              <a:t> to continue to resolve the major risk issues.</a:t>
            </a:r>
          </a:p>
        </p:txBody>
      </p:sp>
      <p:sp>
        <p:nvSpPr>
          <p:cNvPr id="12" name="Oval 11"/>
          <p:cNvSpPr/>
          <p:nvPr/>
        </p:nvSpPr>
        <p:spPr>
          <a:xfrm>
            <a:off x="3733800" y="3962400"/>
            <a:ext cx="2286000" cy="457200"/>
          </a:xfrm>
          <a:prstGeom prst="ellipse">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3048000" y="3276600"/>
            <a:ext cx="1143000" cy="457200"/>
          </a:xfrm>
          <a:prstGeom prst="ellipse">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3581400" y="3581400"/>
            <a:ext cx="1143000" cy="457200"/>
          </a:xfrm>
          <a:prstGeom prst="ellipse">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odecagon 8"/>
          <p:cNvSpPr/>
          <p:nvPr/>
        </p:nvSpPr>
        <p:spPr>
          <a:xfrm>
            <a:off x="4724400" y="6248400"/>
            <a:ext cx="457200" cy="304800"/>
          </a:xfrm>
          <a:prstGeom prst="dodecagon">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3</a:t>
            </a:r>
            <a:endParaRPr lang="en-US" dirty="0"/>
          </a:p>
        </p:txBody>
      </p:sp>
      <p:sp>
        <p:nvSpPr>
          <p:cNvPr id="11" name="Oval 10"/>
          <p:cNvSpPr/>
          <p:nvPr/>
        </p:nvSpPr>
        <p:spPr>
          <a:xfrm>
            <a:off x="3733800" y="6248400"/>
            <a:ext cx="1143000" cy="533400"/>
          </a:xfrm>
          <a:prstGeom prst="ellipse">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1219200" y="5867400"/>
            <a:ext cx="1219200" cy="533400"/>
          </a:xfrm>
          <a:prstGeom prst="ellipse">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odecagon 14"/>
          <p:cNvSpPr/>
          <p:nvPr/>
        </p:nvSpPr>
        <p:spPr>
          <a:xfrm>
            <a:off x="838200" y="5943600"/>
            <a:ext cx="457200" cy="304800"/>
          </a:xfrm>
          <a:prstGeom prst="dodecagon">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4</a:t>
            </a:r>
            <a:endParaRPr lang="en-US"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r>
              <a:rPr lang="en-US" dirty="0" smtClean="0"/>
              <a:t>Series of Evolutionary Prototypes</a:t>
            </a:r>
          </a:p>
        </p:txBody>
      </p:sp>
      <p:pic>
        <p:nvPicPr>
          <p:cNvPr id="1027" name="Picture 3"/>
          <p:cNvPicPr>
            <a:picLocks noChangeAspect="1" noChangeArrowheads="1"/>
          </p:cNvPicPr>
          <p:nvPr/>
        </p:nvPicPr>
        <p:blipFill>
          <a:blip r:embed="rId2" cstate="print"/>
          <a:srcRect/>
          <a:stretch>
            <a:fillRect/>
          </a:stretch>
        </p:blipFill>
        <p:spPr bwMode="auto">
          <a:xfrm>
            <a:off x="76200" y="1133475"/>
            <a:ext cx="6172200" cy="5572125"/>
          </a:xfrm>
          <a:prstGeom prst="rect">
            <a:avLst/>
          </a:prstGeom>
          <a:noFill/>
          <a:ln w="9525">
            <a:noFill/>
            <a:miter lim="800000"/>
            <a:headEnd/>
            <a:tailEnd/>
          </a:ln>
          <a:effectLst/>
        </p:spPr>
      </p:pic>
      <p:sp>
        <p:nvSpPr>
          <p:cNvPr id="10" name="Rectangle 9"/>
          <p:cNvSpPr/>
          <p:nvPr/>
        </p:nvSpPr>
        <p:spPr>
          <a:xfrm>
            <a:off x="6172200" y="1443841"/>
            <a:ext cx="2819400" cy="5078313"/>
          </a:xfrm>
          <a:prstGeom prst="rect">
            <a:avLst/>
          </a:prstGeom>
        </p:spPr>
        <p:txBody>
          <a:bodyPr wrap="square">
            <a:spAutoFit/>
          </a:bodyPr>
          <a:lstStyle/>
          <a:p>
            <a:r>
              <a:rPr lang="en-US" dirty="0" smtClean="0">
                <a:latin typeface="+mj-lt"/>
              </a:rPr>
              <a:t>If this prototype is operationally useful and </a:t>
            </a:r>
            <a:r>
              <a:rPr lang="en-US" i="1" dirty="0" smtClean="0">
                <a:solidFill>
                  <a:srgbClr val="C00000"/>
                </a:solidFill>
                <a:latin typeface="+mj-lt"/>
              </a:rPr>
              <a:t>robust enough</a:t>
            </a:r>
            <a:r>
              <a:rPr lang="en-US" dirty="0" smtClean="0">
                <a:latin typeface="+mj-lt"/>
              </a:rPr>
              <a:t> to serve as a low-risk base for future product evolution, the subsequent risk-driven steps would be the evolving</a:t>
            </a:r>
            <a:r>
              <a:rPr lang="en-US" i="1" dirty="0" smtClean="0">
                <a:solidFill>
                  <a:schemeClr val="accent2"/>
                </a:solidFill>
                <a:latin typeface="+mj-lt"/>
              </a:rPr>
              <a:t> </a:t>
            </a:r>
            <a:r>
              <a:rPr lang="en-US" i="1" dirty="0" smtClean="0">
                <a:solidFill>
                  <a:srgbClr val="C00000"/>
                </a:solidFill>
                <a:latin typeface="+mj-lt"/>
              </a:rPr>
              <a:t>series of evolutionary prototypes</a:t>
            </a:r>
            <a:r>
              <a:rPr lang="en-US" i="1" dirty="0" smtClean="0">
                <a:solidFill>
                  <a:schemeClr val="accent2"/>
                </a:solidFill>
                <a:latin typeface="+mj-lt"/>
              </a:rPr>
              <a:t> </a:t>
            </a:r>
            <a:r>
              <a:rPr lang="en-US" dirty="0" smtClean="0">
                <a:latin typeface="+mj-lt"/>
              </a:rPr>
              <a:t>going toward the right of the figure. </a:t>
            </a:r>
          </a:p>
          <a:p>
            <a:r>
              <a:rPr lang="en-US" dirty="0" smtClean="0">
                <a:latin typeface="+mj-lt"/>
              </a:rPr>
              <a:t>In this case, the option of writing </a:t>
            </a:r>
            <a:r>
              <a:rPr lang="en-US" i="1" u="sng" dirty="0" smtClean="0">
                <a:latin typeface="+mj-lt"/>
              </a:rPr>
              <a:t>specifications would be addressed but not exercised</a:t>
            </a:r>
            <a:r>
              <a:rPr lang="en-US" dirty="0" smtClean="0">
                <a:latin typeface="+mj-lt"/>
              </a:rPr>
              <a:t>. Thus, risk considerations can lead to a project implementing only </a:t>
            </a:r>
            <a:r>
              <a:rPr lang="en-US" i="1" dirty="0" smtClean="0">
                <a:solidFill>
                  <a:srgbClr val="C00000"/>
                </a:solidFill>
                <a:latin typeface="+mj-lt"/>
              </a:rPr>
              <a:t>a subset</a:t>
            </a:r>
            <a:r>
              <a:rPr lang="en-US" dirty="0" smtClean="0">
                <a:latin typeface="+mj-lt"/>
              </a:rPr>
              <a:t> of all the potential steps in the model. </a:t>
            </a:r>
          </a:p>
        </p:txBody>
      </p:sp>
      <p:sp>
        <p:nvSpPr>
          <p:cNvPr id="13" name="Oval 12"/>
          <p:cNvSpPr/>
          <p:nvPr/>
        </p:nvSpPr>
        <p:spPr>
          <a:xfrm>
            <a:off x="5181600" y="3733800"/>
            <a:ext cx="914400" cy="381000"/>
          </a:xfrm>
          <a:prstGeom prst="ellipse">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r>
              <a:rPr lang="en-US" dirty="0" smtClean="0"/>
              <a:t>Waterfall Approach</a:t>
            </a:r>
          </a:p>
        </p:txBody>
      </p:sp>
      <p:pic>
        <p:nvPicPr>
          <p:cNvPr id="1027" name="Picture 3"/>
          <p:cNvPicPr>
            <a:picLocks noChangeAspect="1" noChangeArrowheads="1"/>
          </p:cNvPicPr>
          <p:nvPr/>
        </p:nvPicPr>
        <p:blipFill>
          <a:blip r:embed="rId3" cstate="print"/>
          <a:srcRect/>
          <a:stretch>
            <a:fillRect/>
          </a:stretch>
        </p:blipFill>
        <p:spPr bwMode="auto">
          <a:xfrm>
            <a:off x="76200" y="1133475"/>
            <a:ext cx="6172200" cy="5572125"/>
          </a:xfrm>
          <a:prstGeom prst="rect">
            <a:avLst/>
          </a:prstGeom>
          <a:noFill/>
          <a:ln w="9525">
            <a:noFill/>
            <a:miter lim="800000"/>
            <a:headEnd/>
            <a:tailEnd/>
          </a:ln>
          <a:effectLst/>
        </p:spPr>
      </p:pic>
      <p:sp>
        <p:nvSpPr>
          <p:cNvPr id="10" name="Rectangle 9"/>
          <p:cNvSpPr/>
          <p:nvPr/>
        </p:nvSpPr>
        <p:spPr>
          <a:xfrm>
            <a:off x="6019800" y="1350288"/>
            <a:ext cx="3048000" cy="5355312"/>
          </a:xfrm>
          <a:prstGeom prst="rect">
            <a:avLst/>
          </a:prstGeom>
        </p:spPr>
        <p:txBody>
          <a:bodyPr wrap="square">
            <a:spAutoFit/>
          </a:bodyPr>
          <a:lstStyle/>
          <a:p>
            <a:r>
              <a:rPr lang="en-US" dirty="0" smtClean="0">
                <a:latin typeface="+mj-lt"/>
              </a:rPr>
              <a:t>On the other hand, if previous prototyping efforts have already </a:t>
            </a:r>
            <a:r>
              <a:rPr lang="en-US" i="1" dirty="0" smtClean="0">
                <a:solidFill>
                  <a:srgbClr val="C00000"/>
                </a:solidFill>
                <a:latin typeface="+mj-lt"/>
              </a:rPr>
              <a:t>resolved</a:t>
            </a:r>
            <a:r>
              <a:rPr lang="en-US" dirty="0" smtClean="0">
                <a:latin typeface="+mj-lt"/>
              </a:rPr>
              <a:t> all of the performance or user-interface risks, and </a:t>
            </a:r>
            <a:r>
              <a:rPr lang="en-US" i="1" dirty="0" smtClean="0">
                <a:solidFill>
                  <a:srgbClr val="C00000"/>
                </a:solidFill>
                <a:latin typeface="+mj-lt"/>
              </a:rPr>
              <a:t>program development or interface-control risks</a:t>
            </a:r>
            <a:r>
              <a:rPr lang="en-US" i="1" dirty="0" smtClean="0">
                <a:solidFill>
                  <a:schemeClr val="accent2"/>
                </a:solidFill>
                <a:latin typeface="+mj-lt"/>
              </a:rPr>
              <a:t> </a:t>
            </a:r>
            <a:r>
              <a:rPr lang="en-US" dirty="0" smtClean="0">
                <a:latin typeface="+mj-lt"/>
              </a:rPr>
              <a:t>dominate, the next step follows the basic</a:t>
            </a:r>
            <a:r>
              <a:rPr lang="en-US" i="1" dirty="0" smtClean="0">
                <a:solidFill>
                  <a:schemeClr val="accent2"/>
                </a:solidFill>
                <a:latin typeface="+mj-lt"/>
              </a:rPr>
              <a:t> </a:t>
            </a:r>
            <a:r>
              <a:rPr lang="en-US" i="1" dirty="0" smtClean="0">
                <a:solidFill>
                  <a:srgbClr val="C00000"/>
                </a:solidFill>
                <a:latin typeface="+mj-lt"/>
              </a:rPr>
              <a:t>waterfall</a:t>
            </a:r>
            <a:r>
              <a:rPr lang="en-US" dirty="0" smtClean="0">
                <a:latin typeface="+mj-lt"/>
              </a:rPr>
              <a:t> approach</a:t>
            </a:r>
            <a:r>
              <a:rPr lang="en-US" b="1" dirty="0" smtClean="0">
                <a:latin typeface="+mj-lt"/>
              </a:rPr>
              <a:t> </a:t>
            </a:r>
            <a:r>
              <a:rPr lang="en-US" dirty="0" smtClean="0">
                <a:latin typeface="+mj-lt"/>
              </a:rPr>
              <a:t>(concept of operation, soft-ware requirements, preliminary design, etc.), modified as appropriate to incorporate incremental development.</a:t>
            </a:r>
          </a:p>
          <a:p>
            <a:r>
              <a:rPr lang="en-US" dirty="0" smtClean="0">
                <a:latin typeface="+mj-lt"/>
              </a:rPr>
              <a:t>Each level of software specification in the figure is then followed by </a:t>
            </a:r>
            <a:r>
              <a:rPr lang="en-US" i="1" dirty="0" smtClean="0">
                <a:solidFill>
                  <a:srgbClr val="C00000"/>
                </a:solidFill>
                <a:latin typeface="+mj-lt"/>
              </a:rPr>
              <a:t>a validation step</a:t>
            </a:r>
            <a:r>
              <a:rPr lang="en-US" dirty="0" smtClean="0">
                <a:latin typeface="+mj-lt"/>
              </a:rPr>
              <a:t> and the preparation of plans for the succeeding cycle.</a:t>
            </a:r>
          </a:p>
        </p:txBody>
      </p:sp>
      <p:sp>
        <p:nvSpPr>
          <p:cNvPr id="13" name="Oval 12"/>
          <p:cNvSpPr/>
          <p:nvPr/>
        </p:nvSpPr>
        <p:spPr>
          <a:xfrm>
            <a:off x="2743200" y="4191000"/>
            <a:ext cx="914400" cy="381000"/>
          </a:xfrm>
          <a:prstGeom prst="ellipse">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3581400" y="4419600"/>
            <a:ext cx="914400" cy="457200"/>
          </a:xfrm>
          <a:prstGeom prst="ellipse">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4267200" y="4572000"/>
            <a:ext cx="914400" cy="457200"/>
          </a:xfrm>
          <a:prstGeom prst="ellipse">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5105400" y="4495800"/>
            <a:ext cx="914400" cy="457200"/>
          </a:xfrm>
          <a:prstGeom prst="ellipse">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3810000" y="3733800"/>
            <a:ext cx="914400" cy="381000"/>
          </a:xfrm>
          <a:prstGeom prst="ellipse">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2895600" y="4876800"/>
            <a:ext cx="914400" cy="381000"/>
          </a:xfrm>
          <a:prstGeom prst="ellipse">
            <a:avLst/>
          </a:prstGeom>
          <a:noFill/>
          <a:ln w="508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2895600" y="5334000"/>
            <a:ext cx="990600" cy="457200"/>
          </a:xfrm>
          <a:prstGeom prst="ellipse">
            <a:avLst/>
          </a:prstGeom>
          <a:noFill/>
          <a:ln w="508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1676400" y="4114800"/>
            <a:ext cx="1066800" cy="381000"/>
          </a:xfrm>
          <a:prstGeom prst="ellipse">
            <a:avLst/>
          </a:prstGeom>
          <a:no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2209800" y="4876800"/>
            <a:ext cx="762000" cy="381000"/>
          </a:xfrm>
          <a:prstGeom prst="ellipse">
            <a:avLst/>
          </a:prstGeom>
          <a:no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2057400" y="5257800"/>
            <a:ext cx="914400" cy="533400"/>
          </a:xfrm>
          <a:prstGeom prst="ellipse">
            <a:avLst/>
          </a:prstGeom>
          <a:no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r>
              <a:rPr lang="en-US" dirty="0" smtClean="0"/>
              <a:t>Review</a:t>
            </a:r>
          </a:p>
        </p:txBody>
      </p:sp>
      <p:pic>
        <p:nvPicPr>
          <p:cNvPr id="1027" name="Picture 3"/>
          <p:cNvPicPr>
            <a:picLocks noChangeAspect="1" noChangeArrowheads="1"/>
          </p:cNvPicPr>
          <p:nvPr/>
        </p:nvPicPr>
        <p:blipFill>
          <a:blip r:embed="rId3" cstate="print"/>
          <a:srcRect/>
          <a:stretch>
            <a:fillRect/>
          </a:stretch>
        </p:blipFill>
        <p:spPr bwMode="auto">
          <a:xfrm>
            <a:off x="2971800" y="1133475"/>
            <a:ext cx="6172200" cy="5572125"/>
          </a:xfrm>
          <a:prstGeom prst="rect">
            <a:avLst/>
          </a:prstGeom>
          <a:noFill/>
          <a:ln w="9525">
            <a:noFill/>
            <a:miter lim="800000"/>
            <a:headEnd/>
            <a:tailEnd/>
          </a:ln>
          <a:effectLst/>
        </p:spPr>
      </p:pic>
      <p:sp>
        <p:nvSpPr>
          <p:cNvPr id="10" name="Rectangle 9"/>
          <p:cNvSpPr/>
          <p:nvPr/>
        </p:nvSpPr>
        <p:spPr>
          <a:xfrm>
            <a:off x="228600" y="1828800"/>
            <a:ext cx="3124200" cy="1785104"/>
          </a:xfrm>
          <a:prstGeom prst="rect">
            <a:avLst/>
          </a:prstGeom>
        </p:spPr>
        <p:txBody>
          <a:bodyPr wrap="square">
            <a:spAutoFit/>
          </a:bodyPr>
          <a:lstStyle/>
          <a:p>
            <a:r>
              <a:rPr lang="en-US" sz="2200" dirty="0" smtClean="0">
                <a:latin typeface="+mj-lt"/>
              </a:rPr>
              <a:t>Each cycle is completed by a review involving the primary </a:t>
            </a:r>
            <a:r>
              <a:rPr lang="en-US" sz="2200" i="1" dirty="0" smtClean="0">
                <a:solidFill>
                  <a:srgbClr val="C00000"/>
                </a:solidFill>
                <a:latin typeface="+mj-lt"/>
              </a:rPr>
              <a:t>people</a:t>
            </a:r>
            <a:r>
              <a:rPr lang="en-US" sz="2200" dirty="0" smtClean="0">
                <a:latin typeface="+mj-lt"/>
              </a:rPr>
              <a:t> or organizations concerned with the product.</a:t>
            </a:r>
          </a:p>
        </p:txBody>
      </p:sp>
      <p:sp>
        <p:nvSpPr>
          <p:cNvPr id="15" name="Oval 14"/>
          <p:cNvSpPr/>
          <p:nvPr/>
        </p:nvSpPr>
        <p:spPr>
          <a:xfrm>
            <a:off x="2971800" y="3733800"/>
            <a:ext cx="1524000" cy="762000"/>
          </a:xfrm>
          <a:prstGeom prst="ellipse">
            <a:avLst/>
          </a:prstGeom>
          <a:no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228600" y="4319587"/>
            <a:ext cx="3657600" cy="2462213"/>
          </a:xfrm>
          <a:prstGeom prst="rect">
            <a:avLst/>
          </a:prstGeom>
        </p:spPr>
        <p:txBody>
          <a:bodyPr wrap="square">
            <a:spAutoFit/>
          </a:bodyPr>
          <a:lstStyle/>
          <a:p>
            <a:r>
              <a:rPr lang="en-US" sz="2200" dirty="0" smtClean="0">
                <a:latin typeface="+mj-lt"/>
              </a:rPr>
              <a:t>The plans for succeeding phases may also include a partition of the product into increments for successive development or components to be developed by </a:t>
            </a:r>
            <a:r>
              <a:rPr lang="en-US" sz="2200" i="1" dirty="0" smtClean="0">
                <a:solidFill>
                  <a:srgbClr val="C00000"/>
                </a:solidFill>
                <a:latin typeface="+mj-lt"/>
              </a:rPr>
              <a:t>individual organizations or persons</a:t>
            </a:r>
            <a:r>
              <a:rPr lang="en-US" sz="2200" dirty="0" smtClean="0">
                <a:latin typeface="+mj-lt"/>
              </a:rPr>
              <a:t>.</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2" cstate="print"/>
          <a:srcRect/>
          <a:stretch>
            <a:fillRect/>
          </a:stretch>
        </p:blipFill>
        <p:spPr bwMode="auto">
          <a:xfrm>
            <a:off x="76200" y="1133475"/>
            <a:ext cx="6172200" cy="5572125"/>
          </a:xfrm>
          <a:prstGeom prst="rect">
            <a:avLst/>
          </a:prstGeom>
          <a:noFill/>
          <a:ln w="9525">
            <a:noFill/>
            <a:miter lim="800000"/>
            <a:headEnd/>
            <a:tailEnd/>
          </a:ln>
          <a:effectLst/>
        </p:spPr>
      </p:pic>
      <p:sp>
        <p:nvSpPr>
          <p:cNvPr id="2" name="Title 1"/>
          <p:cNvSpPr>
            <a:spLocks noGrp="1"/>
          </p:cNvSpPr>
          <p:nvPr>
            <p:ph type="title"/>
          </p:nvPr>
        </p:nvSpPr>
        <p:spPr/>
        <p:txBody>
          <a:bodyPr/>
          <a:lstStyle/>
          <a:p>
            <a:r>
              <a:rPr lang="en-US" dirty="0" smtClean="0"/>
              <a:t>Initiating and Terminating the Spiral</a:t>
            </a:r>
            <a:endParaRPr lang="en-US" dirty="0"/>
          </a:p>
        </p:txBody>
      </p:sp>
      <p:sp>
        <p:nvSpPr>
          <p:cNvPr id="3" name="Content Placeholder 2"/>
          <p:cNvSpPr>
            <a:spLocks noGrp="1"/>
          </p:cNvSpPr>
          <p:nvPr>
            <p:ph idx="1"/>
          </p:nvPr>
        </p:nvSpPr>
        <p:spPr>
          <a:xfrm>
            <a:off x="5715000" y="990600"/>
            <a:ext cx="3352800" cy="5791200"/>
          </a:xfrm>
        </p:spPr>
        <p:txBody>
          <a:bodyPr/>
          <a:lstStyle/>
          <a:p>
            <a:r>
              <a:rPr lang="en-US" sz="2000" dirty="0" smtClean="0"/>
              <a:t>The spiral gets started by a hypothesis that a particular </a:t>
            </a:r>
            <a:r>
              <a:rPr lang="en-US" sz="2000" i="1" dirty="0" smtClean="0">
                <a:solidFill>
                  <a:srgbClr val="C00000"/>
                </a:solidFill>
              </a:rPr>
              <a:t>operational mission</a:t>
            </a:r>
            <a:r>
              <a:rPr lang="en-US" sz="2000" i="1" dirty="0" smtClean="0">
                <a:solidFill>
                  <a:schemeClr val="accent2"/>
                </a:solidFill>
              </a:rPr>
              <a:t> </a:t>
            </a:r>
            <a:r>
              <a:rPr lang="en-US" sz="2000" dirty="0" smtClean="0"/>
              <a:t>(or set of missions) could be improved by a software effort.</a:t>
            </a:r>
          </a:p>
          <a:p>
            <a:r>
              <a:rPr lang="en-US" sz="2000" dirty="0" smtClean="0"/>
              <a:t>The spiral process then involves a test of this hypothesis: at any time, if the </a:t>
            </a:r>
            <a:r>
              <a:rPr lang="en-US" sz="2000" i="1" dirty="0" smtClean="0">
                <a:solidFill>
                  <a:srgbClr val="C00000"/>
                </a:solidFill>
              </a:rPr>
              <a:t>hypothesis fails</a:t>
            </a:r>
            <a:r>
              <a:rPr lang="en-US" sz="2000" i="1" dirty="0" smtClean="0">
                <a:solidFill>
                  <a:schemeClr val="accent2"/>
                </a:solidFill>
              </a:rPr>
              <a:t> </a:t>
            </a:r>
            <a:r>
              <a:rPr lang="en-US" sz="2000" dirty="0" smtClean="0"/>
              <a:t>the test the spiral is terminated.</a:t>
            </a:r>
          </a:p>
          <a:p>
            <a:r>
              <a:rPr lang="en-US" sz="2000" dirty="0" smtClean="0"/>
              <a:t>Otherwise, it terminates with the installation of </a:t>
            </a:r>
            <a:r>
              <a:rPr lang="en-US" sz="2000" i="1" dirty="0" smtClean="0">
                <a:solidFill>
                  <a:srgbClr val="C00000"/>
                </a:solidFill>
              </a:rPr>
              <a:t>new on modified software</a:t>
            </a:r>
            <a:r>
              <a:rPr lang="en-US" sz="2000" dirty="0" smtClean="0"/>
              <a:t>, and the hypothesis is tested by observing the effect on the operational mission.</a:t>
            </a:r>
            <a:endParaRPr lang="en-US" sz="2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r>
              <a:rPr lang="en-US" dirty="0" smtClean="0"/>
              <a:t>Spiral Model</a:t>
            </a:r>
          </a:p>
        </p:txBody>
      </p:sp>
      <p:pic>
        <p:nvPicPr>
          <p:cNvPr id="1027" name="Picture 3"/>
          <p:cNvPicPr>
            <a:picLocks noChangeAspect="1" noChangeArrowheads="1"/>
          </p:cNvPicPr>
          <p:nvPr/>
        </p:nvPicPr>
        <p:blipFill>
          <a:blip r:embed="rId2" cstate="print"/>
          <a:srcRect/>
          <a:stretch>
            <a:fillRect/>
          </a:stretch>
        </p:blipFill>
        <p:spPr bwMode="auto">
          <a:xfrm>
            <a:off x="76200" y="1133475"/>
            <a:ext cx="6172200" cy="5572125"/>
          </a:xfrm>
          <a:prstGeom prst="rect">
            <a:avLst/>
          </a:prstGeom>
          <a:noFill/>
          <a:ln w="9525">
            <a:noFill/>
            <a:miter lim="800000"/>
            <a:headEnd/>
            <a:tailEnd/>
          </a:ln>
          <a:effectLst/>
        </p:spPr>
      </p:pic>
      <p:sp>
        <p:nvSpPr>
          <p:cNvPr id="4" name="TextBox 10"/>
          <p:cNvSpPr txBox="1">
            <a:spLocks noChangeArrowheads="1"/>
          </p:cNvSpPr>
          <p:nvPr/>
        </p:nvSpPr>
        <p:spPr bwMode="auto">
          <a:xfrm>
            <a:off x="6096000" y="1237833"/>
            <a:ext cx="2971800" cy="2800767"/>
          </a:xfrm>
          <a:prstGeom prst="rect">
            <a:avLst/>
          </a:prstGeom>
          <a:solidFill>
            <a:schemeClr val="accent1"/>
          </a:solidFill>
          <a:ln w="9525">
            <a:noFill/>
            <a:miter lim="800000"/>
            <a:headEnd/>
            <a:tailEnd/>
          </a:ln>
        </p:spPr>
        <p:txBody>
          <a:bodyPr wrap="square">
            <a:spAutoFit/>
          </a:bodyPr>
          <a:lstStyle/>
          <a:p>
            <a:r>
              <a:rPr lang="en-US" sz="2200" i="1" dirty="0" smtClean="0">
                <a:solidFill>
                  <a:schemeClr val="bg1"/>
                </a:solidFill>
                <a:latin typeface="+mj-lt"/>
              </a:rPr>
              <a:t>The spiral model is a software development process that uses a </a:t>
            </a:r>
            <a:r>
              <a:rPr lang="en-US" sz="2200" i="1" u="sng" dirty="0" smtClean="0">
                <a:solidFill>
                  <a:schemeClr val="bg1"/>
                </a:solidFill>
                <a:latin typeface="+mj-lt"/>
              </a:rPr>
              <a:t>risk-driven approach</a:t>
            </a:r>
            <a:r>
              <a:rPr lang="en-US" sz="2200" i="1" dirty="0" smtClean="0">
                <a:solidFill>
                  <a:schemeClr val="bg1"/>
                </a:solidFill>
                <a:latin typeface="+mj-lt"/>
              </a:rPr>
              <a:t> to the software process rather than a primarily </a:t>
            </a:r>
            <a:r>
              <a:rPr lang="en-US" sz="2200" i="1" u="sng" dirty="0" smtClean="0">
                <a:solidFill>
                  <a:schemeClr val="bg1"/>
                </a:solidFill>
                <a:latin typeface="+mj-lt"/>
              </a:rPr>
              <a:t>document-driven</a:t>
            </a:r>
            <a:r>
              <a:rPr lang="en-US" sz="2200" i="1" dirty="0" smtClean="0">
                <a:solidFill>
                  <a:schemeClr val="bg1"/>
                </a:solidFill>
                <a:latin typeface="+mj-lt"/>
              </a:rPr>
              <a:t> or </a:t>
            </a:r>
            <a:r>
              <a:rPr lang="en-US" sz="2200" i="1" u="sng" dirty="0" smtClean="0">
                <a:solidFill>
                  <a:schemeClr val="bg1"/>
                </a:solidFill>
                <a:latin typeface="+mj-lt"/>
              </a:rPr>
              <a:t>code-driven</a:t>
            </a:r>
            <a:r>
              <a:rPr lang="en-US" sz="2200" i="1" dirty="0" smtClean="0">
                <a:solidFill>
                  <a:schemeClr val="bg1"/>
                </a:solidFill>
                <a:latin typeface="+mj-lt"/>
              </a:rPr>
              <a:t> process.</a:t>
            </a:r>
            <a:endParaRPr lang="en-US" sz="2200" i="1" dirty="0">
              <a:solidFill>
                <a:schemeClr val="bg1"/>
              </a:solidFill>
              <a:latin typeface="+mj-lt"/>
            </a:endParaRPr>
          </a:p>
        </p:txBody>
      </p:sp>
      <p:sp>
        <p:nvSpPr>
          <p:cNvPr id="5" name="Dodecagon 4"/>
          <p:cNvSpPr/>
          <p:nvPr/>
        </p:nvSpPr>
        <p:spPr>
          <a:xfrm>
            <a:off x="1219200" y="2209800"/>
            <a:ext cx="457200" cy="304800"/>
          </a:xfrm>
          <a:prstGeom prst="dodec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1</a:t>
            </a:r>
            <a:endParaRPr lang="en-US" dirty="0"/>
          </a:p>
        </p:txBody>
      </p:sp>
      <p:sp>
        <p:nvSpPr>
          <p:cNvPr id="6" name="Dodecagon 5"/>
          <p:cNvSpPr/>
          <p:nvPr/>
        </p:nvSpPr>
        <p:spPr>
          <a:xfrm>
            <a:off x="4495800" y="2057400"/>
            <a:ext cx="457200" cy="304800"/>
          </a:xfrm>
          <a:prstGeom prst="dodecagon">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2</a:t>
            </a:r>
            <a:endParaRPr lang="en-US" dirty="0"/>
          </a:p>
        </p:txBody>
      </p:sp>
      <p:sp>
        <p:nvSpPr>
          <p:cNvPr id="7" name="Dodecagon 6"/>
          <p:cNvSpPr/>
          <p:nvPr/>
        </p:nvSpPr>
        <p:spPr>
          <a:xfrm>
            <a:off x="4724400" y="6248400"/>
            <a:ext cx="457200" cy="304800"/>
          </a:xfrm>
          <a:prstGeom prst="dodecagon">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3</a:t>
            </a:r>
            <a:endParaRPr lang="en-US" dirty="0"/>
          </a:p>
        </p:txBody>
      </p:sp>
      <p:sp>
        <p:nvSpPr>
          <p:cNvPr id="8" name="Dodecagon 7"/>
          <p:cNvSpPr/>
          <p:nvPr/>
        </p:nvSpPr>
        <p:spPr>
          <a:xfrm>
            <a:off x="838200" y="5943600"/>
            <a:ext cx="457200" cy="304800"/>
          </a:xfrm>
          <a:prstGeom prst="dodecagon">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4</a:t>
            </a:r>
            <a:endParaRPr lang="en-US" dirty="0"/>
          </a:p>
        </p:txBody>
      </p:sp>
      <p:sp>
        <p:nvSpPr>
          <p:cNvPr id="9" name="Rounded Rectangle 8"/>
          <p:cNvSpPr/>
          <p:nvPr/>
        </p:nvSpPr>
        <p:spPr>
          <a:xfrm>
            <a:off x="6172200" y="4191000"/>
            <a:ext cx="2667000" cy="304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smtClean="0"/>
              <a:t>Risk resolution</a:t>
            </a:r>
            <a:endParaRPr lang="en-US" sz="2200" dirty="0"/>
          </a:p>
        </p:txBody>
      </p:sp>
      <p:pic>
        <p:nvPicPr>
          <p:cNvPr id="6146" name="Picture 2" descr="http://sunset.usc.edu/events/1999/cocomo-scm14/icse99/boehm.jpg"/>
          <p:cNvPicPr>
            <a:picLocks noChangeAspect="1" noChangeArrowheads="1"/>
          </p:cNvPicPr>
          <p:nvPr/>
        </p:nvPicPr>
        <p:blipFill>
          <a:blip r:embed="rId3" cstate="print"/>
          <a:srcRect/>
          <a:stretch>
            <a:fillRect/>
          </a:stretch>
        </p:blipFill>
        <p:spPr bwMode="auto">
          <a:xfrm>
            <a:off x="6705600" y="4648200"/>
            <a:ext cx="1428750" cy="1638300"/>
          </a:xfrm>
          <a:prstGeom prst="rect">
            <a:avLst/>
          </a:prstGeom>
          <a:noFill/>
        </p:spPr>
      </p:pic>
      <p:sp>
        <p:nvSpPr>
          <p:cNvPr id="11" name="Rectangle 10"/>
          <p:cNvSpPr/>
          <p:nvPr/>
        </p:nvSpPr>
        <p:spPr>
          <a:xfrm>
            <a:off x="6705600" y="6324600"/>
            <a:ext cx="1407308" cy="369332"/>
          </a:xfrm>
          <a:prstGeom prst="rect">
            <a:avLst/>
          </a:prstGeom>
        </p:spPr>
        <p:txBody>
          <a:bodyPr wrap="none">
            <a:spAutoFit/>
          </a:bodyPr>
          <a:lstStyle/>
          <a:p>
            <a:r>
              <a:rPr lang="en-IE" dirty="0" smtClean="0">
                <a:latin typeface="+mj-lt"/>
              </a:rPr>
              <a:t>Barry Boehm</a:t>
            </a:r>
            <a:endParaRPr lang="en-US" dirty="0">
              <a:latin typeface="+mj-lt"/>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Spiral Model Definition [7]</a:t>
            </a:r>
            <a:endParaRPr lang="en-US" dirty="0"/>
          </a:p>
        </p:txBody>
      </p:sp>
      <p:sp>
        <p:nvSpPr>
          <p:cNvPr id="3" name="Content Placeholder 2"/>
          <p:cNvSpPr>
            <a:spLocks noGrp="1"/>
          </p:cNvSpPr>
          <p:nvPr>
            <p:ph idx="1"/>
          </p:nvPr>
        </p:nvSpPr>
        <p:spPr/>
        <p:txBody>
          <a:bodyPr/>
          <a:lstStyle/>
          <a:p>
            <a:r>
              <a:rPr lang="en-US" sz="2500" dirty="0" smtClean="0"/>
              <a:t>The spiral development model is a </a:t>
            </a:r>
            <a:r>
              <a:rPr lang="en-US" sz="2500" i="1" dirty="0" smtClean="0">
                <a:solidFill>
                  <a:srgbClr val="C00000"/>
                </a:solidFill>
              </a:rPr>
              <a:t>risk-driven process model generator</a:t>
            </a:r>
            <a:r>
              <a:rPr lang="en-US" sz="2500" dirty="0" smtClean="0"/>
              <a:t>.</a:t>
            </a:r>
          </a:p>
          <a:p>
            <a:r>
              <a:rPr lang="en-US" sz="2500" dirty="0" smtClean="0"/>
              <a:t>It is used to guide multi-stakeholder concurrent engineering of software intensive systems.</a:t>
            </a:r>
          </a:p>
          <a:p>
            <a:r>
              <a:rPr lang="en-US" sz="2500" dirty="0" smtClean="0"/>
              <a:t>It has two main distinguishing features.</a:t>
            </a:r>
          </a:p>
          <a:p>
            <a:r>
              <a:rPr lang="en-US" sz="2500" dirty="0" smtClean="0"/>
              <a:t>One is a </a:t>
            </a:r>
            <a:r>
              <a:rPr lang="en-US" sz="2500" i="1" dirty="0" smtClean="0">
                <a:solidFill>
                  <a:srgbClr val="C00000"/>
                </a:solidFill>
              </a:rPr>
              <a:t>cyclic approach</a:t>
            </a:r>
            <a:r>
              <a:rPr lang="en-US" sz="2500" dirty="0" smtClean="0"/>
              <a:t> for incrementally growing a system's degree of definition and implementation while decreasing its degree of risk.</a:t>
            </a:r>
          </a:p>
          <a:p>
            <a:r>
              <a:rPr lang="en-US" sz="2500" dirty="0" smtClean="0"/>
              <a:t>The other is a set of </a:t>
            </a:r>
            <a:r>
              <a:rPr lang="en-US" sz="2500" i="1" dirty="0" smtClean="0">
                <a:solidFill>
                  <a:srgbClr val="C00000"/>
                </a:solidFill>
              </a:rPr>
              <a:t>anchor point milestones</a:t>
            </a:r>
            <a:r>
              <a:rPr lang="en-US" sz="2500" dirty="0" smtClean="0"/>
              <a:t> for ensuring stakeholder commitment to feasible and mutually satisfactory system solutions.</a:t>
            </a:r>
            <a:endParaRPr lang="en-US" sz="25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Process Model Generator</a:t>
            </a:r>
            <a:endParaRPr lang="en-US" dirty="0"/>
          </a:p>
        </p:txBody>
      </p:sp>
      <p:sp>
        <p:nvSpPr>
          <p:cNvPr id="3" name="Content Placeholder 2"/>
          <p:cNvSpPr>
            <a:spLocks noGrp="1"/>
          </p:cNvSpPr>
          <p:nvPr>
            <p:ph idx="1"/>
          </p:nvPr>
        </p:nvSpPr>
        <p:spPr/>
        <p:txBody>
          <a:bodyPr/>
          <a:lstStyle/>
          <a:p>
            <a:r>
              <a:rPr lang="en-US" sz="2600" dirty="0" smtClean="0"/>
              <a:t>A </a:t>
            </a:r>
            <a:r>
              <a:rPr lang="en-US" sz="2600" i="1" dirty="0" smtClean="0">
                <a:solidFill>
                  <a:srgbClr val="C00000"/>
                </a:solidFill>
              </a:rPr>
              <a:t>process model</a:t>
            </a:r>
            <a:r>
              <a:rPr lang="en-US" sz="2600" dirty="0" smtClean="0"/>
              <a:t> answers two main questions:</a:t>
            </a:r>
          </a:p>
          <a:p>
            <a:pPr lvl="1"/>
            <a:r>
              <a:rPr lang="en-US" sz="2200" dirty="0" smtClean="0"/>
              <a:t>What should be done next?</a:t>
            </a:r>
          </a:p>
          <a:p>
            <a:pPr lvl="1"/>
            <a:r>
              <a:rPr lang="en-US" sz="2200" dirty="0" smtClean="0"/>
              <a:t>For how long should it continue?</a:t>
            </a:r>
          </a:p>
          <a:p>
            <a:r>
              <a:rPr lang="en-US" sz="2600" dirty="0" smtClean="0"/>
              <a:t>Under the spiral model the answers to these questions are driven by </a:t>
            </a:r>
            <a:r>
              <a:rPr lang="en-US" sz="2600" i="1" dirty="0" smtClean="0">
                <a:solidFill>
                  <a:srgbClr val="C00000"/>
                </a:solidFill>
              </a:rPr>
              <a:t>risk considerations</a:t>
            </a:r>
            <a:r>
              <a:rPr lang="en-US" sz="2600" dirty="0" smtClean="0"/>
              <a:t> and </a:t>
            </a:r>
            <a:r>
              <a:rPr lang="en-US" sz="2600" i="1" dirty="0" smtClean="0">
                <a:solidFill>
                  <a:srgbClr val="C00000"/>
                </a:solidFill>
              </a:rPr>
              <a:t>vary from project to project</a:t>
            </a:r>
            <a:r>
              <a:rPr lang="en-US" sz="2600" dirty="0" smtClean="0"/>
              <a:t> and sometimes from one spiral cycle to the next.</a:t>
            </a:r>
          </a:p>
          <a:p>
            <a:pPr lvl="1"/>
            <a:r>
              <a:rPr lang="en-US" sz="2200" dirty="0" smtClean="0"/>
              <a:t>Each choice of answers generates a different process model.</a:t>
            </a:r>
          </a:p>
          <a:p>
            <a:pPr lvl="1"/>
            <a:r>
              <a:rPr lang="en-US" sz="2200" dirty="0" smtClean="0"/>
              <a:t>At the start of a cycle, all of the project’s success-critical stakeholders must participate concurrently in reviewing risks and choosing the project’s process model accordingly.</a:t>
            </a:r>
            <a:endParaRPr lang="en-US" sz="2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Anchor Point Milestones</a:t>
            </a:r>
            <a:endParaRPr lang="en-US" dirty="0"/>
          </a:p>
        </p:txBody>
      </p:sp>
      <p:sp>
        <p:nvSpPr>
          <p:cNvPr id="3" name="Content Placeholder 2"/>
          <p:cNvSpPr>
            <a:spLocks noGrp="1"/>
          </p:cNvSpPr>
          <p:nvPr>
            <p:ph idx="1"/>
          </p:nvPr>
        </p:nvSpPr>
        <p:spPr/>
        <p:txBody>
          <a:bodyPr/>
          <a:lstStyle/>
          <a:p>
            <a:r>
              <a:rPr lang="en-US" sz="2400" dirty="0" smtClean="0"/>
              <a:t>A major difficulty of the original spiral model was its lack of </a:t>
            </a:r>
            <a:r>
              <a:rPr lang="en-US" sz="2400" i="1" dirty="0" smtClean="0">
                <a:solidFill>
                  <a:srgbClr val="C00000"/>
                </a:solidFill>
              </a:rPr>
              <a:t>intermediate milestones</a:t>
            </a:r>
            <a:r>
              <a:rPr lang="en-US" sz="2400" dirty="0" smtClean="0"/>
              <a:t> to serve as commitment points and </a:t>
            </a:r>
            <a:r>
              <a:rPr lang="en-US" sz="2400" u="sng" dirty="0" smtClean="0"/>
              <a:t>progress checkpoints</a:t>
            </a:r>
            <a:r>
              <a:rPr lang="en-US" sz="2400" dirty="0" smtClean="0"/>
              <a:t>.</a:t>
            </a:r>
          </a:p>
          <a:p>
            <a:r>
              <a:rPr lang="en-US" sz="2400" dirty="0" smtClean="0"/>
              <a:t>This difficulty has been remedied by the development of a set of </a:t>
            </a:r>
            <a:r>
              <a:rPr lang="en-US" sz="2400" i="1" dirty="0" smtClean="0">
                <a:solidFill>
                  <a:srgbClr val="C00000"/>
                </a:solidFill>
              </a:rPr>
              <a:t>anchor point milestones</a:t>
            </a:r>
            <a:r>
              <a:rPr lang="en-US" sz="2400" dirty="0" smtClean="0"/>
              <a:t>: Life Cycle Objectives (LCO), Life Cycle Architecture (LCA), and Initial Operational Capability (IOC).</a:t>
            </a:r>
          </a:p>
          <a:p>
            <a:r>
              <a:rPr lang="en-US" sz="2400" dirty="0" smtClean="0"/>
              <a:t>These can be described as stakeholder commitment points in the software life cycle: LCO is the stakeholders’ commitment to support architecting; LCA is the stakeholders' commitment to support full life cycle; and IOC is the stakeholders' commitment to support operations.</a:t>
            </a:r>
            <a:endParaRPr lang="en-US" sz="24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Life Cycle Objectives (LCO) &amp; Life Cycle Architecture (LCA)</a:t>
            </a:r>
            <a:endParaRPr lang="en-US" dirty="0"/>
          </a:p>
        </p:txBody>
      </p:sp>
      <p:sp>
        <p:nvSpPr>
          <p:cNvPr id="3" name="Content Placeholder 2"/>
          <p:cNvSpPr>
            <a:spLocks noGrp="1"/>
          </p:cNvSpPr>
          <p:nvPr>
            <p:ph idx="1"/>
          </p:nvPr>
        </p:nvSpPr>
        <p:spPr/>
        <p:txBody>
          <a:bodyPr/>
          <a:lstStyle/>
          <a:p>
            <a:r>
              <a:rPr lang="en-US" sz="2400" dirty="0" smtClean="0"/>
              <a:t>Definition of Operational Concept</a:t>
            </a:r>
          </a:p>
          <a:p>
            <a:r>
              <a:rPr lang="en-US" sz="2400" dirty="0" smtClean="0"/>
              <a:t>System Prototype(s)</a:t>
            </a:r>
          </a:p>
          <a:p>
            <a:r>
              <a:rPr lang="en-US" sz="2400" dirty="0" smtClean="0"/>
              <a:t>Definition of System Requirements</a:t>
            </a:r>
          </a:p>
          <a:p>
            <a:r>
              <a:rPr lang="en-US" sz="2400" dirty="0" smtClean="0"/>
              <a:t>Definition of System &amp; Software Architecture</a:t>
            </a:r>
          </a:p>
          <a:p>
            <a:r>
              <a:rPr lang="en-US" sz="2400" dirty="0" smtClean="0"/>
              <a:t>Definition of Life-Cycle Plan</a:t>
            </a:r>
          </a:p>
          <a:p>
            <a:r>
              <a:rPr lang="en-US" sz="2400" dirty="0" smtClean="0"/>
              <a:t>Feasibility Rationale</a:t>
            </a:r>
          </a:p>
          <a:p>
            <a:r>
              <a:rPr lang="en-US" sz="2400" dirty="0" smtClean="0"/>
              <a:t>Their focus is </a:t>
            </a:r>
            <a:r>
              <a:rPr lang="en-US" sz="2400" i="1" dirty="0" smtClean="0">
                <a:solidFill>
                  <a:srgbClr val="C00000"/>
                </a:solidFill>
              </a:rPr>
              <a:t>not</a:t>
            </a:r>
            <a:r>
              <a:rPr lang="en-US" sz="2400" dirty="0" smtClean="0"/>
              <a:t> on </a:t>
            </a:r>
            <a:r>
              <a:rPr lang="en-US" sz="2400" u="sng" dirty="0" smtClean="0"/>
              <a:t>requirements snapshots</a:t>
            </a:r>
            <a:r>
              <a:rPr lang="en-US" sz="2400" dirty="0" smtClean="0"/>
              <a:t> or </a:t>
            </a:r>
            <a:r>
              <a:rPr lang="en-US" sz="2400" u="sng" dirty="0" smtClean="0"/>
              <a:t>architecture point solutions</a:t>
            </a:r>
            <a:r>
              <a:rPr lang="en-US" sz="2400" dirty="0" smtClean="0"/>
              <a:t>, but on requirements and architectural specifications which </a:t>
            </a:r>
            <a:r>
              <a:rPr lang="en-US" sz="2400" i="1" dirty="0" smtClean="0">
                <a:solidFill>
                  <a:srgbClr val="C00000"/>
                </a:solidFill>
              </a:rPr>
              <a:t>anticipate</a:t>
            </a:r>
            <a:r>
              <a:rPr lang="en-US" sz="2400" dirty="0" smtClean="0"/>
              <a:t> and </a:t>
            </a:r>
            <a:r>
              <a:rPr lang="en-US" sz="2400" i="1" dirty="0" smtClean="0">
                <a:solidFill>
                  <a:srgbClr val="C00000"/>
                </a:solidFill>
              </a:rPr>
              <a:t>accommodate system evolution</a:t>
            </a:r>
            <a:r>
              <a:rPr lang="en-US" sz="2400" dirty="0" smtClean="0"/>
              <a:t>. This is the reason for calling them the "Life Cycle" Objectives and Architecture milestones.</a:t>
            </a:r>
            <a:endParaRPr lang="en-US" sz="24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Initial Operational Capability (IOC)</a:t>
            </a:r>
            <a:endParaRPr lang="en-US" dirty="0"/>
          </a:p>
        </p:txBody>
      </p:sp>
      <p:sp>
        <p:nvSpPr>
          <p:cNvPr id="3" name="Content Placeholder 2"/>
          <p:cNvSpPr>
            <a:spLocks noGrp="1"/>
          </p:cNvSpPr>
          <p:nvPr>
            <p:ph idx="1"/>
          </p:nvPr>
        </p:nvSpPr>
        <p:spPr/>
        <p:txBody>
          <a:bodyPr/>
          <a:lstStyle/>
          <a:p>
            <a:r>
              <a:rPr lang="en-US" sz="2400" dirty="0" smtClean="0"/>
              <a:t>The Initial Operational capability (IOC) is the first the users will see of a functioning system.</a:t>
            </a:r>
          </a:p>
          <a:p>
            <a:r>
              <a:rPr lang="en-US" sz="2400" i="1" dirty="0" smtClean="0">
                <a:solidFill>
                  <a:srgbClr val="C00000"/>
                </a:solidFill>
              </a:rPr>
              <a:t>Software preparation</a:t>
            </a:r>
            <a:r>
              <a:rPr lang="en-US" sz="2400" dirty="0" smtClean="0"/>
              <a:t>, including both operational and support software with appropriate commentary and documentation; data preparation or conversion.</a:t>
            </a:r>
          </a:p>
          <a:p>
            <a:r>
              <a:rPr lang="en-US" sz="2400" i="1" dirty="0" smtClean="0">
                <a:solidFill>
                  <a:srgbClr val="C00000"/>
                </a:solidFill>
              </a:rPr>
              <a:t>Site preparation</a:t>
            </a:r>
            <a:r>
              <a:rPr lang="en-US" sz="2400" dirty="0" smtClean="0"/>
              <a:t>, including facilities, equipment, supplies, and COTS vendor support arrangements.</a:t>
            </a:r>
          </a:p>
          <a:p>
            <a:r>
              <a:rPr lang="en-US" sz="2400" i="1" dirty="0" smtClean="0">
                <a:solidFill>
                  <a:srgbClr val="C00000"/>
                </a:solidFill>
              </a:rPr>
              <a:t>User, operator and maintainer preparation</a:t>
            </a:r>
            <a:r>
              <a:rPr lang="en-US" sz="2400" dirty="0" smtClean="0"/>
              <a:t>, including selection, teambuilding, training and other qualification for familiarization, usage, operations, or maintenance.</a:t>
            </a:r>
            <a:endParaRPr lang="en-US" sz="24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Pros &amp; Cons of Spiral Model</a:t>
            </a:r>
            <a:endParaRPr lang="en-US" dirty="0"/>
          </a:p>
        </p:txBody>
      </p:sp>
      <p:sp>
        <p:nvSpPr>
          <p:cNvPr id="6" name="Rectangle 5"/>
          <p:cNvSpPr/>
          <p:nvPr/>
        </p:nvSpPr>
        <p:spPr>
          <a:xfrm>
            <a:off x="685800" y="3734812"/>
            <a:ext cx="8305800" cy="2800767"/>
          </a:xfrm>
          <a:prstGeom prst="rect">
            <a:avLst/>
          </a:prstGeom>
          <a:noFill/>
        </p:spPr>
        <p:txBody>
          <a:bodyPr wrap="square">
            <a:spAutoFit/>
          </a:bodyPr>
          <a:lstStyle/>
          <a:p>
            <a:pPr marL="457200" indent="-457200">
              <a:buFont typeface="Wingdings" pitchFamily="2" charset="2"/>
              <a:buChar char="Ø"/>
            </a:pPr>
            <a:r>
              <a:rPr lang="en-US" sz="2200" dirty="0" smtClean="0">
                <a:latin typeface="+mj-lt"/>
              </a:rPr>
              <a:t>Complex and time consuming</a:t>
            </a:r>
          </a:p>
          <a:p>
            <a:pPr marL="457200" indent="-457200">
              <a:buFont typeface="Wingdings" pitchFamily="2" charset="2"/>
              <a:buChar char="Ø"/>
            </a:pPr>
            <a:r>
              <a:rPr lang="en-US" sz="2200" dirty="0" smtClean="0">
                <a:latin typeface="+mj-lt"/>
              </a:rPr>
              <a:t>Only intended for internal projects (inside a company), because risk is assessed as the project is developed.</a:t>
            </a:r>
          </a:p>
          <a:p>
            <a:pPr marL="457200" indent="-457200">
              <a:buFont typeface="Wingdings" pitchFamily="2" charset="2"/>
              <a:buChar char="Ø"/>
            </a:pPr>
            <a:r>
              <a:rPr lang="en-US" sz="2200" dirty="0" smtClean="0">
                <a:latin typeface="+mj-lt"/>
              </a:rPr>
              <a:t>Spiral model is risk driven. Therefore it requires </a:t>
            </a:r>
            <a:r>
              <a:rPr lang="en-US" sz="2200" i="1" dirty="0" smtClean="0">
                <a:solidFill>
                  <a:srgbClr val="C00000"/>
                </a:solidFill>
                <a:latin typeface="+mj-lt"/>
              </a:rPr>
              <a:t>knowledgeable</a:t>
            </a:r>
            <a:r>
              <a:rPr lang="en-US" sz="2200" dirty="0" smtClean="0">
                <a:latin typeface="+mj-lt"/>
              </a:rPr>
              <a:t> staff.</a:t>
            </a:r>
          </a:p>
          <a:p>
            <a:pPr marL="457200" indent="-457200">
              <a:buFont typeface="Wingdings" pitchFamily="2" charset="2"/>
              <a:buChar char="Ø"/>
            </a:pPr>
            <a:r>
              <a:rPr lang="en-US" sz="2200" dirty="0" smtClean="0">
                <a:latin typeface="+mj-lt"/>
              </a:rPr>
              <a:t>Suitable for only large scale software development. It does not make sense if the </a:t>
            </a:r>
            <a:r>
              <a:rPr lang="en-US" sz="2200" i="1" dirty="0" smtClean="0">
                <a:solidFill>
                  <a:srgbClr val="C00000"/>
                </a:solidFill>
                <a:latin typeface="+mj-lt"/>
              </a:rPr>
              <a:t>cost of risk analysis</a:t>
            </a:r>
            <a:r>
              <a:rPr lang="en-US" sz="2200" dirty="0" smtClean="0">
                <a:latin typeface="+mj-lt"/>
              </a:rPr>
              <a:t> is a major part of the overall project cost.</a:t>
            </a:r>
          </a:p>
        </p:txBody>
      </p:sp>
      <p:sp>
        <p:nvSpPr>
          <p:cNvPr id="7" name="Rectangle 6"/>
          <p:cNvSpPr/>
          <p:nvPr/>
        </p:nvSpPr>
        <p:spPr>
          <a:xfrm>
            <a:off x="685800" y="1295400"/>
            <a:ext cx="4724400" cy="2123658"/>
          </a:xfrm>
          <a:prstGeom prst="rect">
            <a:avLst/>
          </a:prstGeom>
          <a:noFill/>
        </p:spPr>
        <p:txBody>
          <a:bodyPr wrap="square">
            <a:spAutoFit/>
          </a:bodyPr>
          <a:lstStyle/>
          <a:p>
            <a:pPr marL="457200" indent="-457200">
              <a:buFont typeface="Wingdings" pitchFamily="2" charset="2"/>
              <a:buChar char="v"/>
            </a:pPr>
            <a:r>
              <a:rPr lang="en-US" sz="2200" dirty="0" smtClean="0">
                <a:latin typeface="+mj-lt"/>
              </a:rPr>
              <a:t>Very </a:t>
            </a:r>
            <a:r>
              <a:rPr lang="en-US" sz="2200" i="1" dirty="0" smtClean="0">
                <a:solidFill>
                  <a:srgbClr val="C00000"/>
                </a:solidFill>
                <a:latin typeface="+mj-lt"/>
              </a:rPr>
              <a:t>flexible</a:t>
            </a:r>
          </a:p>
          <a:p>
            <a:pPr marL="457200" indent="-457200">
              <a:buFont typeface="Wingdings" pitchFamily="2" charset="2"/>
              <a:buChar char="v"/>
            </a:pPr>
            <a:r>
              <a:rPr lang="en-US" sz="2200" dirty="0" smtClean="0">
                <a:latin typeface="+mj-lt"/>
              </a:rPr>
              <a:t>It is more able to cope with the (nearly inevitable) </a:t>
            </a:r>
            <a:r>
              <a:rPr lang="en-US" sz="2200" i="1" dirty="0" smtClean="0">
                <a:solidFill>
                  <a:srgbClr val="C00000"/>
                </a:solidFill>
                <a:latin typeface="+mj-lt"/>
              </a:rPr>
              <a:t>changes</a:t>
            </a:r>
          </a:p>
          <a:p>
            <a:pPr marL="457200" indent="-457200">
              <a:buFont typeface="Wingdings" pitchFamily="2" charset="2"/>
              <a:buChar char="v"/>
            </a:pPr>
            <a:r>
              <a:rPr lang="en-US" sz="2200" dirty="0" smtClean="0">
                <a:latin typeface="+mj-lt"/>
              </a:rPr>
              <a:t>Takes a </a:t>
            </a:r>
            <a:r>
              <a:rPr lang="en-US" sz="2200" i="1" dirty="0" smtClean="0">
                <a:solidFill>
                  <a:srgbClr val="C00000"/>
                </a:solidFill>
                <a:latin typeface="+mj-lt"/>
              </a:rPr>
              <a:t>pro-active stance</a:t>
            </a:r>
            <a:r>
              <a:rPr lang="en-US" sz="2200" dirty="0" smtClean="0">
                <a:latin typeface="+mj-lt"/>
              </a:rPr>
              <a:t> on risks with explicit risk analysis assessment and resolving stage</a:t>
            </a:r>
          </a:p>
        </p:txBody>
      </p:sp>
      <p:pic>
        <p:nvPicPr>
          <p:cNvPr id="4098" name="Picture 2" descr="outsourcing pros and cons"/>
          <p:cNvPicPr>
            <a:picLocks noChangeAspect="1" noChangeArrowheads="1"/>
          </p:cNvPicPr>
          <p:nvPr/>
        </p:nvPicPr>
        <p:blipFill>
          <a:blip r:embed="rId2" cstate="print"/>
          <a:srcRect/>
          <a:stretch>
            <a:fillRect/>
          </a:stretch>
        </p:blipFill>
        <p:spPr bwMode="auto">
          <a:xfrm>
            <a:off x="5562600" y="1905000"/>
            <a:ext cx="2505075" cy="1714500"/>
          </a:xfrm>
          <a:prstGeom prst="rect">
            <a:avLst/>
          </a:prstGeom>
          <a:noFill/>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Vee</a:t>
            </a:r>
            <a:r>
              <a:rPr lang="en-US" dirty="0" smtClean="0"/>
              <a:t>-Model Introduction [8]</a:t>
            </a:r>
            <a:endParaRPr lang="en-US" dirty="0"/>
          </a:p>
        </p:txBody>
      </p:sp>
      <p:sp>
        <p:nvSpPr>
          <p:cNvPr id="3" name="Content Placeholder 2"/>
          <p:cNvSpPr>
            <a:spLocks noGrp="1"/>
          </p:cNvSpPr>
          <p:nvPr>
            <p:ph idx="1"/>
          </p:nvPr>
        </p:nvSpPr>
        <p:spPr/>
        <p:txBody>
          <a:bodyPr/>
          <a:lstStyle/>
          <a:p>
            <a:r>
              <a:rPr lang="en-US" sz="2800" dirty="0" smtClean="0"/>
              <a:t>In real life there is a need to initiate </a:t>
            </a:r>
            <a:r>
              <a:rPr lang="en-US" sz="2800" i="1" dirty="0" smtClean="0">
                <a:solidFill>
                  <a:srgbClr val="C00000"/>
                </a:solidFill>
              </a:rPr>
              <a:t>software design and coding</a:t>
            </a:r>
            <a:r>
              <a:rPr lang="en-US" sz="2800" dirty="0" smtClean="0"/>
              <a:t>, and hardware modeling, </a:t>
            </a:r>
            <a:r>
              <a:rPr lang="en-US" sz="2800" u="sng" dirty="0" smtClean="0"/>
              <a:t>earlier</a:t>
            </a:r>
            <a:r>
              <a:rPr lang="en-US" sz="2800" dirty="0" smtClean="0"/>
              <a:t> in the project cycle to ensure that User Requirements are understood and to prove </a:t>
            </a:r>
            <a:r>
              <a:rPr lang="en-US" sz="2800" u="sng" dirty="0" smtClean="0"/>
              <a:t>technical feasibility</a:t>
            </a:r>
            <a:r>
              <a:rPr lang="en-US" sz="2800" dirty="0" smtClean="0"/>
              <a:t>.</a:t>
            </a:r>
          </a:p>
          <a:p>
            <a:r>
              <a:rPr lang="en-US" sz="2800" dirty="0" smtClean="0"/>
              <a:t>Spiral model attempts to resolve the above deficiency by addressing the need for </a:t>
            </a:r>
            <a:r>
              <a:rPr lang="en-US" sz="2800" i="1" dirty="0" smtClean="0">
                <a:solidFill>
                  <a:srgbClr val="C00000"/>
                </a:solidFill>
              </a:rPr>
              <a:t>early feasibility modeling</a:t>
            </a:r>
            <a:r>
              <a:rPr lang="en-US" sz="2800" dirty="0" smtClean="0"/>
              <a:t> (“prototyping”) to identify risks and define appropriate action.</a:t>
            </a:r>
          </a:p>
          <a:p>
            <a:r>
              <a:rPr lang="en-US" sz="2800" dirty="0" smtClean="0"/>
              <a:t>The </a:t>
            </a:r>
            <a:r>
              <a:rPr lang="en-US" sz="2800" i="1" dirty="0" smtClean="0">
                <a:solidFill>
                  <a:srgbClr val="C00000"/>
                </a:solidFill>
              </a:rPr>
              <a:t>system engineering role</a:t>
            </a:r>
            <a:r>
              <a:rPr lang="en-US" sz="2800" dirty="0" smtClean="0"/>
              <a:t> is still </a:t>
            </a:r>
            <a:r>
              <a:rPr lang="en-US" sz="2800" u="sng" dirty="0" smtClean="0"/>
              <a:t>obscured</a:t>
            </a:r>
            <a:r>
              <a:rPr lang="en-US" sz="2800" dirty="0" smtClean="0"/>
              <a:t>.</a:t>
            </a:r>
            <a:endParaRPr lang="en-US" sz="2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Vee</a:t>
            </a:r>
            <a:r>
              <a:rPr lang="en-US" dirty="0" smtClean="0"/>
              <a:t>-Model Overview</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762000" y="1600200"/>
            <a:ext cx="7267575" cy="47339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Nine Phases</a:t>
            </a:r>
            <a:endParaRPr lang="en-US" dirty="0"/>
          </a:p>
        </p:txBody>
      </p:sp>
      <p:sp>
        <p:nvSpPr>
          <p:cNvPr id="3" name="Content Placeholder 2"/>
          <p:cNvSpPr>
            <a:spLocks noGrp="1"/>
          </p:cNvSpPr>
          <p:nvPr>
            <p:ph idx="1"/>
          </p:nvPr>
        </p:nvSpPr>
        <p:spPr>
          <a:xfrm>
            <a:off x="228600" y="1219200"/>
            <a:ext cx="8686800" cy="5410200"/>
          </a:xfrm>
        </p:spPr>
        <p:txBody>
          <a:bodyPr/>
          <a:lstStyle/>
          <a:p>
            <a:pPr marL="457200" indent="-457200">
              <a:buFont typeface="+mj-lt"/>
              <a:buAutoNum type="arabicPeriod"/>
            </a:pPr>
            <a:r>
              <a:rPr lang="en-US" sz="2200" dirty="0" smtClean="0"/>
              <a:t>Understand user requirements, develop system concept and validation plan</a:t>
            </a:r>
          </a:p>
          <a:p>
            <a:pPr marL="457200" indent="-457200">
              <a:buFont typeface="+mj-lt"/>
              <a:buAutoNum type="arabicPeriod"/>
            </a:pPr>
            <a:r>
              <a:rPr lang="en-US" sz="2200" dirty="0" smtClean="0"/>
              <a:t>Develop system performance specification and system verification plan</a:t>
            </a:r>
          </a:p>
          <a:p>
            <a:pPr marL="457200" indent="-457200">
              <a:buFont typeface="+mj-lt"/>
              <a:buAutoNum type="arabicPeriod"/>
            </a:pPr>
            <a:r>
              <a:rPr lang="en-US" sz="2200" dirty="0" smtClean="0"/>
              <a:t>Expand system performance specification into CI </a:t>
            </a:r>
            <a:r>
              <a:rPr lang="en-US" sz="2200" i="1" dirty="0" smtClean="0">
                <a:solidFill>
                  <a:srgbClr val="C00000"/>
                </a:solidFill>
              </a:rPr>
              <a:t>“Design-to” specifications</a:t>
            </a:r>
            <a:r>
              <a:rPr lang="en-US" sz="2200" dirty="0" smtClean="0"/>
              <a:t> and CI verification plan</a:t>
            </a:r>
          </a:p>
          <a:p>
            <a:pPr marL="457200" indent="-457200">
              <a:buFont typeface="+mj-lt"/>
              <a:buAutoNum type="arabicPeriod"/>
            </a:pPr>
            <a:r>
              <a:rPr lang="en-US" sz="2200" dirty="0" smtClean="0"/>
              <a:t>Evolve “Design-to” specifications into </a:t>
            </a:r>
            <a:r>
              <a:rPr lang="en-US" sz="2200" i="1" dirty="0" smtClean="0">
                <a:solidFill>
                  <a:srgbClr val="C00000"/>
                </a:solidFill>
              </a:rPr>
              <a:t>“Build-to” documentation</a:t>
            </a:r>
            <a:r>
              <a:rPr lang="en-US" sz="2200" dirty="0" smtClean="0"/>
              <a:t> and inspection plan</a:t>
            </a:r>
          </a:p>
          <a:p>
            <a:pPr marL="457200" indent="-457200">
              <a:buFont typeface="+mj-lt"/>
              <a:buAutoNum type="arabicPeriod"/>
            </a:pPr>
            <a:r>
              <a:rPr lang="en-US" sz="2200" dirty="0" smtClean="0"/>
              <a:t>Fabricate, assemble and code to “Build-to” documentation</a:t>
            </a:r>
          </a:p>
          <a:p>
            <a:pPr marL="457200" indent="-457200">
              <a:buFont typeface="+mj-lt"/>
              <a:buAutoNum type="arabicPeriod"/>
            </a:pPr>
            <a:r>
              <a:rPr lang="en-US" sz="2200" dirty="0" smtClean="0"/>
              <a:t>Inspect to “Build-to” documentation</a:t>
            </a:r>
          </a:p>
          <a:p>
            <a:pPr marL="457200" indent="-457200">
              <a:buFont typeface="+mj-lt"/>
              <a:buAutoNum type="arabicPeriod"/>
            </a:pPr>
            <a:r>
              <a:rPr lang="en-US" sz="2200" dirty="0" smtClean="0"/>
              <a:t>Assemble CIs and perform CI verification to CI “Design-to” specifications</a:t>
            </a:r>
          </a:p>
          <a:p>
            <a:pPr marL="457200" indent="-457200">
              <a:buFont typeface="+mj-lt"/>
              <a:buAutoNum type="arabicPeriod"/>
            </a:pPr>
            <a:r>
              <a:rPr lang="en-US" sz="2200" dirty="0" smtClean="0"/>
              <a:t>Integrate system and perform system verification to performance specification</a:t>
            </a:r>
          </a:p>
          <a:p>
            <a:pPr marL="457200" indent="-457200">
              <a:buFont typeface="+mj-lt"/>
              <a:buAutoNum type="arabicPeriod"/>
            </a:pPr>
            <a:r>
              <a:rPr lang="en-US" sz="2200" dirty="0" smtClean="0"/>
              <a:t>Demonstrate and validate system to user validation plan</a:t>
            </a:r>
            <a:endParaRPr lang="en-US" sz="2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t>
            </a:r>
            <a:r>
              <a:rPr lang="en-US" dirty="0" err="1" smtClean="0"/>
              <a:t>Vee</a:t>
            </a:r>
            <a:r>
              <a:rPr lang="en-US" dirty="0" smtClean="0"/>
              <a:t>” Chart</a:t>
            </a:r>
            <a:endParaRPr lang="en-US" dirty="0"/>
          </a:p>
        </p:txBody>
      </p:sp>
      <p:sp>
        <p:nvSpPr>
          <p:cNvPr id="3" name="Content Placeholder 2"/>
          <p:cNvSpPr>
            <a:spLocks noGrp="1"/>
          </p:cNvSpPr>
          <p:nvPr>
            <p:ph idx="1"/>
          </p:nvPr>
        </p:nvSpPr>
        <p:spPr/>
        <p:txBody>
          <a:bodyPr/>
          <a:lstStyle/>
          <a:p>
            <a:r>
              <a:rPr lang="en-US" sz="2200" dirty="0" smtClean="0"/>
              <a:t>V-model is a software development model in which the </a:t>
            </a:r>
            <a:r>
              <a:rPr lang="en-US" sz="2200" i="1" dirty="0" smtClean="0">
                <a:solidFill>
                  <a:srgbClr val="C00000"/>
                </a:solidFill>
              </a:rPr>
              <a:t>technical aspect</a:t>
            </a:r>
            <a:r>
              <a:rPr lang="en-US" sz="2200" dirty="0" smtClean="0"/>
              <a:t> of the project cycle is envisioned as a “</a:t>
            </a:r>
            <a:r>
              <a:rPr lang="en-US" sz="2200" dirty="0" err="1" smtClean="0"/>
              <a:t>Vee</a:t>
            </a:r>
            <a:r>
              <a:rPr lang="en-US" sz="2200" dirty="0" smtClean="0"/>
              <a:t>,” starting with User needs on the upper left and ending with a User-validated system on the upper right.</a:t>
            </a:r>
          </a:p>
          <a:p>
            <a:r>
              <a:rPr lang="en-US" sz="2200" dirty="0" smtClean="0"/>
              <a:t>On the left side of the chart, </a:t>
            </a:r>
            <a:r>
              <a:rPr lang="en-US" sz="2200" i="1" dirty="0" smtClean="0">
                <a:solidFill>
                  <a:srgbClr val="C00000"/>
                </a:solidFill>
              </a:rPr>
              <a:t>Decomposition and Definition</a:t>
            </a:r>
            <a:r>
              <a:rPr lang="en-US" sz="2200" dirty="0" smtClean="0"/>
              <a:t> descends as in the waterfall model.</a:t>
            </a:r>
          </a:p>
          <a:p>
            <a:r>
              <a:rPr lang="en-US" sz="2200" dirty="0" smtClean="0"/>
              <a:t>However, </a:t>
            </a:r>
            <a:r>
              <a:rPr lang="en-US" sz="2200" i="1" dirty="0" smtClean="0">
                <a:solidFill>
                  <a:srgbClr val="C00000"/>
                </a:solidFill>
              </a:rPr>
              <a:t>Integration and Verification</a:t>
            </a:r>
            <a:r>
              <a:rPr lang="en-US" sz="2200" dirty="0" smtClean="0"/>
              <a:t> flows up and to the right as successively higher levels of assemblies, units, components, and subsystems are verified, culminating at the system level.</a:t>
            </a:r>
          </a:p>
          <a:p>
            <a:r>
              <a:rPr lang="en-US" sz="2200" dirty="0" smtClean="0"/>
              <a:t>The substantial advance in visualization of the technical aspect of the project cycle, and the role of system engineering, is gained by understanding the </a:t>
            </a:r>
            <a:r>
              <a:rPr lang="en-US" sz="2200" i="1" dirty="0" smtClean="0">
                <a:solidFill>
                  <a:srgbClr val="C00000"/>
                </a:solidFill>
              </a:rPr>
              <a:t>comprehensive “</a:t>
            </a:r>
            <a:r>
              <a:rPr lang="en-US" sz="2200" i="1" dirty="0" err="1" smtClean="0">
                <a:solidFill>
                  <a:srgbClr val="C00000"/>
                </a:solidFill>
              </a:rPr>
              <a:t>Vee</a:t>
            </a:r>
            <a:r>
              <a:rPr lang="en-US" sz="2200" i="1" dirty="0" smtClean="0">
                <a:solidFill>
                  <a:srgbClr val="C00000"/>
                </a:solidFill>
              </a:rPr>
              <a:t>” chart</a:t>
            </a:r>
            <a:r>
              <a:rPr lang="en-US" sz="2200" dirty="0" smtClean="0"/>
              <a: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p:cNvPicPr>
            <a:picLocks noChangeAspect="1" noChangeArrowheads="1"/>
          </p:cNvPicPr>
          <p:nvPr/>
        </p:nvPicPr>
        <p:blipFill>
          <a:blip r:embed="rId2" cstate="print"/>
          <a:srcRect/>
          <a:stretch>
            <a:fillRect/>
          </a:stretch>
        </p:blipFill>
        <p:spPr bwMode="auto">
          <a:xfrm>
            <a:off x="762000" y="28575"/>
            <a:ext cx="7620000" cy="6800850"/>
          </a:xfrm>
          <a:prstGeom prst="rect">
            <a:avLst/>
          </a:prstGeom>
          <a:noFill/>
          <a:ln w="9525">
            <a:noFill/>
            <a:miter lim="800000"/>
            <a:headEnd/>
            <a:tailEnd/>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cstate="print"/>
          <a:srcRect/>
          <a:stretch>
            <a:fillRect/>
          </a:stretch>
        </p:blipFill>
        <p:spPr bwMode="auto">
          <a:xfrm>
            <a:off x="704850" y="14288"/>
            <a:ext cx="7734300" cy="6829425"/>
          </a:xfrm>
          <a:prstGeom prst="rect">
            <a:avLst/>
          </a:prstGeom>
          <a:noFill/>
          <a:ln w="9525">
            <a:noFill/>
            <a:miter lim="800000"/>
            <a:headEnd/>
            <a:tailEnd/>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Segments and Configuration Items</a:t>
            </a:r>
            <a:endParaRPr lang="en-US" dirty="0"/>
          </a:p>
        </p:txBody>
      </p:sp>
      <p:pic>
        <p:nvPicPr>
          <p:cNvPr id="1028" name="Picture 4"/>
          <p:cNvPicPr>
            <a:picLocks noChangeAspect="1" noChangeArrowheads="1"/>
          </p:cNvPicPr>
          <p:nvPr/>
        </p:nvPicPr>
        <p:blipFill>
          <a:blip r:embed="rId2" cstate="print"/>
          <a:srcRect/>
          <a:stretch>
            <a:fillRect/>
          </a:stretch>
        </p:blipFill>
        <p:spPr bwMode="auto">
          <a:xfrm>
            <a:off x="533400" y="3019425"/>
            <a:ext cx="8077200" cy="3686175"/>
          </a:xfrm>
          <a:prstGeom prst="rect">
            <a:avLst/>
          </a:prstGeom>
          <a:noFill/>
          <a:ln w="9525">
            <a:noFill/>
            <a:miter lim="800000"/>
            <a:headEnd/>
            <a:tailEnd/>
          </a:ln>
        </p:spPr>
      </p:pic>
      <p:sp>
        <p:nvSpPr>
          <p:cNvPr id="3" name="Content Placeholder 2"/>
          <p:cNvSpPr>
            <a:spLocks noGrp="1"/>
          </p:cNvSpPr>
          <p:nvPr>
            <p:ph idx="1"/>
          </p:nvPr>
        </p:nvSpPr>
        <p:spPr>
          <a:xfrm>
            <a:off x="457200" y="1417637"/>
            <a:ext cx="8229600" cy="1477963"/>
          </a:xfrm>
        </p:spPr>
        <p:txBody>
          <a:bodyPr/>
          <a:lstStyle/>
          <a:p>
            <a:r>
              <a:rPr lang="en-US" sz="2200" dirty="0" smtClean="0"/>
              <a:t>At each level, moving into the depth of the paper (perpendicular to the surface) there are a number of </a:t>
            </a:r>
            <a:r>
              <a:rPr lang="en-US" sz="2200" i="1" dirty="0" smtClean="0">
                <a:solidFill>
                  <a:srgbClr val="C00000"/>
                </a:solidFill>
              </a:rPr>
              <a:t>parallel boxes</a:t>
            </a:r>
            <a:r>
              <a:rPr lang="en-US" sz="2200" dirty="0" smtClean="0"/>
              <a:t> illustrating that there may be many </a:t>
            </a:r>
            <a:r>
              <a:rPr lang="en-US" sz="2200" i="1" dirty="0" smtClean="0">
                <a:solidFill>
                  <a:srgbClr val="C00000"/>
                </a:solidFill>
              </a:rPr>
              <a:t>Segments or Configuration Items</a:t>
            </a:r>
            <a:r>
              <a:rPr lang="en-US" sz="2200" dirty="0" smtClean="0"/>
              <a:t> that make up the system at that level of decomposition.</a:t>
            </a:r>
          </a:p>
        </p:txBody>
      </p:sp>
      <p:sp>
        <p:nvSpPr>
          <p:cNvPr id="7" name="Oval 6"/>
          <p:cNvSpPr/>
          <p:nvPr/>
        </p:nvSpPr>
        <p:spPr>
          <a:xfrm>
            <a:off x="6248400" y="5791200"/>
            <a:ext cx="2438400" cy="1066800"/>
          </a:xfrm>
          <a:prstGeom prst="ellipse">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3962400" y="4724400"/>
            <a:ext cx="2819400" cy="990600"/>
          </a:xfrm>
          <a:prstGeom prst="ellipse">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Alternate Concepts</a:t>
            </a:r>
            <a:endParaRPr lang="en-US" dirty="0"/>
          </a:p>
        </p:txBody>
      </p:sp>
      <p:pic>
        <p:nvPicPr>
          <p:cNvPr id="1028" name="Picture 4"/>
          <p:cNvPicPr>
            <a:picLocks noChangeAspect="1" noChangeArrowheads="1"/>
          </p:cNvPicPr>
          <p:nvPr/>
        </p:nvPicPr>
        <p:blipFill>
          <a:blip r:embed="rId2" cstate="print"/>
          <a:srcRect/>
          <a:stretch>
            <a:fillRect/>
          </a:stretch>
        </p:blipFill>
        <p:spPr bwMode="auto">
          <a:xfrm>
            <a:off x="533400" y="3019425"/>
            <a:ext cx="8077200" cy="3686175"/>
          </a:xfrm>
          <a:prstGeom prst="rect">
            <a:avLst/>
          </a:prstGeom>
          <a:noFill/>
          <a:ln w="9525">
            <a:noFill/>
            <a:miter lim="800000"/>
            <a:headEnd/>
            <a:tailEnd/>
          </a:ln>
        </p:spPr>
      </p:pic>
      <p:sp>
        <p:nvSpPr>
          <p:cNvPr id="3" name="Content Placeholder 2"/>
          <p:cNvSpPr>
            <a:spLocks noGrp="1"/>
          </p:cNvSpPr>
          <p:nvPr>
            <p:ph idx="1"/>
          </p:nvPr>
        </p:nvSpPr>
        <p:spPr>
          <a:xfrm>
            <a:off x="457200" y="1219200"/>
            <a:ext cx="8229600" cy="1858963"/>
          </a:xfrm>
        </p:spPr>
        <p:txBody>
          <a:bodyPr/>
          <a:lstStyle/>
          <a:p>
            <a:r>
              <a:rPr lang="en-US" sz="2200" dirty="0" smtClean="0"/>
              <a:t>Also at the System level, on the left of the chart, the number of parallel boxes illustrates that </a:t>
            </a:r>
            <a:r>
              <a:rPr lang="en-US" sz="2200" i="1" dirty="0" smtClean="0">
                <a:solidFill>
                  <a:srgbClr val="C00000"/>
                </a:solidFill>
              </a:rPr>
              <a:t>alternate concepts</a:t>
            </a:r>
            <a:r>
              <a:rPr lang="en-US" sz="2200" dirty="0" smtClean="0"/>
              <a:t> should be evaluated to determine the best solution for the User’s needs. At the System Requirements Review (SRR), the choice is approved and a single concept is base-lined for further definition.</a:t>
            </a:r>
          </a:p>
        </p:txBody>
      </p:sp>
      <p:sp>
        <p:nvSpPr>
          <p:cNvPr id="7" name="Oval 6"/>
          <p:cNvSpPr/>
          <p:nvPr/>
        </p:nvSpPr>
        <p:spPr>
          <a:xfrm>
            <a:off x="3733800" y="4648200"/>
            <a:ext cx="3276600" cy="1219200"/>
          </a:xfrm>
          <a:prstGeom prst="ellipse">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Baselines and Control Gates</a:t>
            </a:r>
            <a:endParaRPr lang="en-US" dirty="0"/>
          </a:p>
        </p:txBody>
      </p:sp>
      <p:pic>
        <p:nvPicPr>
          <p:cNvPr id="1028" name="Picture 4"/>
          <p:cNvPicPr>
            <a:picLocks noChangeAspect="1" noChangeArrowheads="1"/>
          </p:cNvPicPr>
          <p:nvPr/>
        </p:nvPicPr>
        <p:blipFill>
          <a:blip r:embed="rId2" cstate="print"/>
          <a:srcRect/>
          <a:stretch>
            <a:fillRect/>
          </a:stretch>
        </p:blipFill>
        <p:spPr bwMode="auto">
          <a:xfrm>
            <a:off x="533400" y="3019425"/>
            <a:ext cx="8077200" cy="3686175"/>
          </a:xfrm>
          <a:prstGeom prst="rect">
            <a:avLst/>
          </a:prstGeom>
          <a:noFill/>
          <a:ln w="9525">
            <a:noFill/>
            <a:miter lim="800000"/>
            <a:headEnd/>
            <a:tailEnd/>
          </a:ln>
        </p:spPr>
      </p:pic>
      <p:sp>
        <p:nvSpPr>
          <p:cNvPr id="3" name="Content Placeholder 2"/>
          <p:cNvSpPr>
            <a:spLocks noGrp="1"/>
          </p:cNvSpPr>
          <p:nvPr>
            <p:ph idx="1"/>
          </p:nvPr>
        </p:nvSpPr>
        <p:spPr>
          <a:xfrm>
            <a:off x="228600" y="1295400"/>
            <a:ext cx="8686800" cy="1858963"/>
          </a:xfrm>
        </p:spPr>
        <p:txBody>
          <a:bodyPr/>
          <a:lstStyle/>
          <a:p>
            <a:r>
              <a:rPr lang="en-US" sz="2200" dirty="0" smtClean="0"/>
              <a:t>As project development progresses, a series of </a:t>
            </a:r>
            <a:r>
              <a:rPr lang="en-US" sz="2200" i="1" dirty="0" smtClean="0">
                <a:solidFill>
                  <a:srgbClr val="C00000"/>
                </a:solidFill>
              </a:rPr>
              <a:t>six baselines</a:t>
            </a:r>
            <a:r>
              <a:rPr lang="en-US" sz="2200" dirty="0" smtClean="0"/>
              <a:t> are established to systematically manage cohesive system development. Each of the baselines is put under formal Configuration Management at the time they are approved.</a:t>
            </a:r>
          </a:p>
          <a:p>
            <a:r>
              <a:rPr lang="en-US" sz="2200" dirty="0" smtClean="0"/>
              <a:t>The </a:t>
            </a:r>
            <a:r>
              <a:rPr lang="en-US" sz="2200" i="1" dirty="0" smtClean="0">
                <a:solidFill>
                  <a:srgbClr val="C00000"/>
                </a:solidFill>
              </a:rPr>
              <a:t>Control Gates</a:t>
            </a:r>
            <a:r>
              <a:rPr lang="en-US" sz="2200" dirty="0" smtClean="0"/>
              <a:t> define significant decision points in the project cycle.</a:t>
            </a:r>
          </a:p>
        </p:txBody>
      </p:sp>
      <p:sp>
        <p:nvSpPr>
          <p:cNvPr id="5" name="Oval 4"/>
          <p:cNvSpPr/>
          <p:nvPr/>
        </p:nvSpPr>
        <p:spPr>
          <a:xfrm>
            <a:off x="228600" y="4114800"/>
            <a:ext cx="2819400" cy="990600"/>
          </a:xfrm>
          <a:prstGeom prst="ellipse">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381000" y="5486400"/>
            <a:ext cx="2819400" cy="990600"/>
          </a:xfrm>
          <a:prstGeom prst="ellipse">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3810000" y="4419600"/>
            <a:ext cx="914400" cy="990600"/>
          </a:xfrm>
          <a:prstGeom prst="ellipse">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Six Baselines</a:t>
            </a:r>
            <a:endParaRPr lang="en-US" dirty="0"/>
          </a:p>
        </p:txBody>
      </p:sp>
      <p:sp>
        <p:nvSpPr>
          <p:cNvPr id="3" name="Content Placeholder 2"/>
          <p:cNvSpPr>
            <a:spLocks noGrp="1"/>
          </p:cNvSpPr>
          <p:nvPr>
            <p:ph idx="1"/>
          </p:nvPr>
        </p:nvSpPr>
        <p:spPr>
          <a:xfrm>
            <a:off x="457200" y="1371600"/>
            <a:ext cx="8229600" cy="5181600"/>
          </a:xfrm>
        </p:spPr>
        <p:txBody>
          <a:bodyPr/>
          <a:lstStyle/>
          <a:p>
            <a:r>
              <a:rPr lang="en-US" sz="2200" dirty="0" smtClean="0"/>
              <a:t>“User Requirements Baseline” established by the </a:t>
            </a:r>
            <a:r>
              <a:rPr lang="en-US" sz="2200" i="1" dirty="0" smtClean="0">
                <a:solidFill>
                  <a:srgbClr val="C00000"/>
                </a:solidFill>
              </a:rPr>
              <a:t>System Requirement</a:t>
            </a:r>
            <a:r>
              <a:rPr lang="en-US" sz="2200" dirty="0" smtClean="0"/>
              <a:t> Document approved and put under Configuration Management prior to the System Requirements Review (SRR).</a:t>
            </a:r>
          </a:p>
          <a:p>
            <a:r>
              <a:rPr lang="en-US" sz="2200" dirty="0" smtClean="0"/>
              <a:t>“Concept Baseline” established by the </a:t>
            </a:r>
            <a:r>
              <a:rPr lang="en-US" sz="2200" i="1" dirty="0" smtClean="0">
                <a:solidFill>
                  <a:srgbClr val="C00000"/>
                </a:solidFill>
              </a:rPr>
              <a:t>Concept Definition</a:t>
            </a:r>
            <a:r>
              <a:rPr lang="en-US" sz="2200" dirty="0" smtClean="0"/>
              <a:t> section of the Integrated Program Summary document at the SRR.</a:t>
            </a:r>
          </a:p>
          <a:p>
            <a:r>
              <a:rPr lang="en-US" sz="2200" dirty="0" smtClean="0"/>
              <a:t>“System Performance Baseline” (or Development Baseline) established by the </a:t>
            </a:r>
            <a:r>
              <a:rPr lang="en-US" sz="2200" i="1" dirty="0" smtClean="0">
                <a:solidFill>
                  <a:srgbClr val="C00000"/>
                </a:solidFill>
              </a:rPr>
              <a:t>System Performance Specification</a:t>
            </a:r>
            <a:r>
              <a:rPr lang="en-US" sz="2200" dirty="0" smtClean="0"/>
              <a:t> at the System Design Review (SDR).</a:t>
            </a:r>
          </a:p>
          <a:p>
            <a:r>
              <a:rPr lang="en-US" sz="2200" dirty="0" smtClean="0"/>
              <a:t>“‘Design-To’ Baseline” (or Allocated Baseline) established at the series of Preliminary Design Reviews (PDRs).</a:t>
            </a:r>
          </a:p>
          <a:p>
            <a:r>
              <a:rPr lang="en-US" sz="2200" dirty="0" smtClean="0"/>
              <a:t>“‘Build-To’ Baseline” (or preliminary Product Baseline) established at the series of Critical Design Reviews (CDRs).</a:t>
            </a:r>
          </a:p>
          <a:p>
            <a:r>
              <a:rPr lang="en-US" sz="2200" dirty="0" smtClean="0"/>
              <a:t>“‘As-Built’ Baseline” (or Production Baseline) established at the series of Formal Qualification Reviews (FQRs).</a:t>
            </a:r>
            <a:endParaRPr lang="en-US" sz="22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Off-core Activities</a:t>
            </a:r>
            <a:endParaRPr lang="en-US" dirty="0"/>
          </a:p>
        </p:txBody>
      </p:sp>
      <p:pic>
        <p:nvPicPr>
          <p:cNvPr id="1028" name="Picture 4"/>
          <p:cNvPicPr>
            <a:picLocks noChangeAspect="1" noChangeArrowheads="1"/>
          </p:cNvPicPr>
          <p:nvPr/>
        </p:nvPicPr>
        <p:blipFill>
          <a:blip r:embed="rId2" cstate="print"/>
          <a:srcRect/>
          <a:stretch>
            <a:fillRect/>
          </a:stretch>
        </p:blipFill>
        <p:spPr bwMode="auto">
          <a:xfrm>
            <a:off x="533400" y="3019425"/>
            <a:ext cx="8077200" cy="3686175"/>
          </a:xfrm>
          <a:prstGeom prst="rect">
            <a:avLst/>
          </a:prstGeom>
          <a:noFill/>
          <a:ln w="9525">
            <a:noFill/>
            <a:miter lim="800000"/>
            <a:headEnd/>
            <a:tailEnd/>
          </a:ln>
        </p:spPr>
      </p:pic>
      <p:sp>
        <p:nvSpPr>
          <p:cNvPr id="3" name="Content Placeholder 2"/>
          <p:cNvSpPr>
            <a:spLocks noGrp="1"/>
          </p:cNvSpPr>
          <p:nvPr>
            <p:ph idx="1"/>
          </p:nvPr>
        </p:nvSpPr>
        <p:spPr>
          <a:xfrm>
            <a:off x="457200" y="1143000"/>
            <a:ext cx="8229600" cy="1828800"/>
          </a:xfrm>
        </p:spPr>
        <p:txBody>
          <a:bodyPr/>
          <a:lstStyle/>
          <a:p>
            <a:r>
              <a:rPr lang="en-US" sz="2200" dirty="0" smtClean="0"/>
              <a:t>The left side of </a:t>
            </a:r>
            <a:r>
              <a:rPr lang="en-US" sz="2200" i="1" dirty="0" smtClean="0">
                <a:solidFill>
                  <a:srgbClr val="C00000"/>
                </a:solidFill>
              </a:rPr>
              <a:t>the core of the “</a:t>
            </a:r>
            <a:r>
              <a:rPr lang="en-US" sz="2200" i="1" dirty="0" err="1" smtClean="0">
                <a:solidFill>
                  <a:srgbClr val="C00000"/>
                </a:solidFill>
              </a:rPr>
              <a:t>Vee</a:t>
            </a:r>
            <a:r>
              <a:rPr lang="en-US" sz="2200" i="1" dirty="0" smtClean="0">
                <a:solidFill>
                  <a:srgbClr val="C00000"/>
                </a:solidFill>
              </a:rPr>
              <a:t>”</a:t>
            </a:r>
            <a:r>
              <a:rPr lang="en-US" sz="2200" dirty="0" smtClean="0"/>
              <a:t> (the shaded area) follows the well-established waterfall model for the project cycle.</a:t>
            </a:r>
          </a:p>
          <a:p>
            <a:r>
              <a:rPr lang="en-US" sz="2200" dirty="0" smtClean="0"/>
              <a:t>As the project progresses, detailed analyses, risk identification, and risk reduction modeling continues. This is shown on the chart by the vertical and descending </a:t>
            </a:r>
            <a:r>
              <a:rPr lang="en-US" sz="2200" i="1" dirty="0" smtClean="0">
                <a:solidFill>
                  <a:srgbClr val="C00000"/>
                </a:solidFill>
              </a:rPr>
              <a:t>off-core activities</a:t>
            </a:r>
            <a:r>
              <a:rPr lang="en-US" sz="2200" dirty="0" smtClean="0"/>
              <a:t>.</a:t>
            </a:r>
          </a:p>
        </p:txBody>
      </p:sp>
      <p:cxnSp>
        <p:nvCxnSpPr>
          <p:cNvPr id="11" name="Straight Arrow Connector 10"/>
          <p:cNvCxnSpPr/>
          <p:nvPr/>
        </p:nvCxnSpPr>
        <p:spPr>
          <a:xfrm>
            <a:off x="3124200" y="3962400"/>
            <a:ext cx="4724400" cy="2362200"/>
          </a:xfrm>
          <a:prstGeom prst="straightConnector1">
            <a:avLst/>
          </a:prstGeom>
          <a:ln w="76200">
            <a:tailEnd type="arrow"/>
          </a:ln>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2971800" y="4724400"/>
            <a:ext cx="1524000" cy="1981200"/>
          </a:xfrm>
          <a:prstGeom prst="ellipse">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4648200" y="5791200"/>
            <a:ext cx="1524000" cy="838200"/>
          </a:xfrm>
          <a:prstGeom prst="ellipse">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Off-core Activities Repeat</a:t>
            </a:r>
            <a:endParaRPr lang="en-US" dirty="0"/>
          </a:p>
        </p:txBody>
      </p:sp>
      <p:pic>
        <p:nvPicPr>
          <p:cNvPr id="1028" name="Picture 4"/>
          <p:cNvPicPr>
            <a:picLocks noChangeAspect="1" noChangeArrowheads="1"/>
          </p:cNvPicPr>
          <p:nvPr/>
        </p:nvPicPr>
        <p:blipFill>
          <a:blip r:embed="rId2" cstate="print"/>
          <a:srcRect/>
          <a:stretch>
            <a:fillRect/>
          </a:stretch>
        </p:blipFill>
        <p:spPr bwMode="auto">
          <a:xfrm>
            <a:off x="533400" y="3019425"/>
            <a:ext cx="8077200" cy="3686175"/>
          </a:xfrm>
          <a:prstGeom prst="rect">
            <a:avLst/>
          </a:prstGeom>
          <a:noFill/>
          <a:ln w="9525">
            <a:noFill/>
            <a:miter lim="800000"/>
            <a:headEnd/>
            <a:tailEnd/>
          </a:ln>
        </p:spPr>
      </p:pic>
      <p:sp>
        <p:nvSpPr>
          <p:cNvPr id="3" name="Content Placeholder 2"/>
          <p:cNvSpPr>
            <a:spLocks noGrp="1"/>
          </p:cNvSpPr>
          <p:nvPr>
            <p:ph idx="1"/>
          </p:nvPr>
        </p:nvSpPr>
        <p:spPr>
          <a:xfrm>
            <a:off x="304800" y="1143000"/>
            <a:ext cx="8382000" cy="2057400"/>
          </a:xfrm>
        </p:spPr>
        <p:txBody>
          <a:bodyPr/>
          <a:lstStyle/>
          <a:p>
            <a:r>
              <a:rPr lang="en-US" sz="2200" dirty="0" smtClean="0"/>
              <a:t>While technical feasibility decisions are made in the off-core activities only </a:t>
            </a:r>
            <a:r>
              <a:rPr lang="en-US" sz="2200" i="1" dirty="0" smtClean="0">
                <a:solidFill>
                  <a:srgbClr val="C00000"/>
                </a:solidFill>
              </a:rPr>
              <a:t>decisions</a:t>
            </a:r>
            <a:r>
              <a:rPr lang="en-US" sz="2200" dirty="0" smtClean="0"/>
              <a:t> at the core-level are put under Configuration Management at the various Control Gates.</a:t>
            </a:r>
          </a:p>
          <a:p>
            <a:r>
              <a:rPr lang="en-US" sz="2200" dirty="0" smtClean="0"/>
              <a:t>The off-core work is not formally controlled, and will be </a:t>
            </a:r>
            <a:r>
              <a:rPr lang="en-US" sz="2200" i="1" dirty="0" smtClean="0">
                <a:solidFill>
                  <a:srgbClr val="C00000"/>
                </a:solidFill>
              </a:rPr>
              <a:t>repeated</a:t>
            </a:r>
            <a:r>
              <a:rPr lang="en-US" sz="2200" dirty="0" smtClean="0"/>
              <a:t> at the appropriate level to prepare justification for introduction into the baseline definition. </a:t>
            </a:r>
          </a:p>
        </p:txBody>
      </p:sp>
      <p:cxnSp>
        <p:nvCxnSpPr>
          <p:cNvPr id="11" name="Straight Arrow Connector 10"/>
          <p:cNvCxnSpPr/>
          <p:nvPr/>
        </p:nvCxnSpPr>
        <p:spPr>
          <a:xfrm>
            <a:off x="3124200" y="3962400"/>
            <a:ext cx="4724400" cy="2362200"/>
          </a:xfrm>
          <a:prstGeom prst="straightConnector1">
            <a:avLst/>
          </a:prstGeom>
          <a:ln w="76200">
            <a:tailEnd type="arrow"/>
          </a:ln>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2971800" y="4724400"/>
            <a:ext cx="1524000" cy="1981200"/>
          </a:xfrm>
          <a:prstGeom prst="ellipse">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4648200" y="5791200"/>
            <a:ext cx="1524000" cy="838200"/>
          </a:xfrm>
          <a:prstGeom prst="ellipse">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Downward Iteration</a:t>
            </a:r>
            <a:endParaRPr lang="en-US" dirty="0"/>
          </a:p>
        </p:txBody>
      </p:sp>
      <p:pic>
        <p:nvPicPr>
          <p:cNvPr id="1028" name="Picture 4"/>
          <p:cNvPicPr>
            <a:picLocks noChangeAspect="1" noChangeArrowheads="1"/>
          </p:cNvPicPr>
          <p:nvPr/>
        </p:nvPicPr>
        <p:blipFill>
          <a:blip r:embed="rId2" cstate="print"/>
          <a:srcRect/>
          <a:stretch>
            <a:fillRect/>
          </a:stretch>
        </p:blipFill>
        <p:spPr bwMode="auto">
          <a:xfrm>
            <a:off x="533400" y="3019425"/>
            <a:ext cx="8077200" cy="3686175"/>
          </a:xfrm>
          <a:prstGeom prst="rect">
            <a:avLst/>
          </a:prstGeom>
          <a:noFill/>
          <a:ln w="9525">
            <a:noFill/>
            <a:miter lim="800000"/>
            <a:headEnd/>
            <a:tailEnd/>
          </a:ln>
        </p:spPr>
      </p:pic>
      <p:sp>
        <p:nvSpPr>
          <p:cNvPr id="3" name="Content Placeholder 2"/>
          <p:cNvSpPr>
            <a:spLocks noGrp="1"/>
          </p:cNvSpPr>
          <p:nvPr>
            <p:ph idx="1"/>
          </p:nvPr>
        </p:nvSpPr>
        <p:spPr>
          <a:xfrm>
            <a:off x="457200" y="1295400"/>
            <a:ext cx="8229600" cy="1447800"/>
          </a:xfrm>
        </p:spPr>
        <p:txBody>
          <a:bodyPr/>
          <a:lstStyle/>
          <a:p>
            <a:r>
              <a:rPr lang="en-US" sz="2200" dirty="0" smtClean="0"/>
              <a:t>The multiple arrows descending from the bottom of the left side of the core of the “</a:t>
            </a:r>
            <a:r>
              <a:rPr lang="en-US" sz="2200" dirty="0" err="1" smtClean="0"/>
              <a:t>Vee</a:t>
            </a:r>
            <a:r>
              <a:rPr lang="en-US" sz="2200" dirty="0" smtClean="0"/>
              <a:t>” indicate that there can, and should be, sufficient </a:t>
            </a:r>
            <a:r>
              <a:rPr lang="en-US" sz="2200" i="1" dirty="0" smtClean="0">
                <a:solidFill>
                  <a:srgbClr val="C00000"/>
                </a:solidFill>
              </a:rPr>
              <a:t>iteration</a:t>
            </a:r>
            <a:r>
              <a:rPr lang="en-US" sz="2200" dirty="0" smtClean="0"/>
              <a:t> downward to establish feasibility and to identify and quantify risks.</a:t>
            </a:r>
          </a:p>
        </p:txBody>
      </p:sp>
      <p:sp>
        <p:nvSpPr>
          <p:cNvPr id="8" name="Oval 7"/>
          <p:cNvSpPr/>
          <p:nvPr/>
        </p:nvSpPr>
        <p:spPr>
          <a:xfrm>
            <a:off x="2971800" y="3657600"/>
            <a:ext cx="1524000" cy="2286000"/>
          </a:xfrm>
          <a:prstGeom prst="ellipse">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4572000" y="5181600"/>
            <a:ext cx="1524000" cy="1524000"/>
          </a:xfrm>
          <a:prstGeom prst="ellipse">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Upward Iteration</a:t>
            </a:r>
            <a:endParaRPr lang="en-US" dirty="0"/>
          </a:p>
        </p:txBody>
      </p:sp>
      <p:pic>
        <p:nvPicPr>
          <p:cNvPr id="1028" name="Picture 4"/>
          <p:cNvPicPr>
            <a:picLocks noChangeAspect="1" noChangeArrowheads="1"/>
          </p:cNvPicPr>
          <p:nvPr/>
        </p:nvPicPr>
        <p:blipFill>
          <a:blip r:embed="rId2" cstate="print"/>
          <a:srcRect/>
          <a:stretch>
            <a:fillRect/>
          </a:stretch>
        </p:blipFill>
        <p:spPr bwMode="auto">
          <a:xfrm>
            <a:off x="533400" y="3095625"/>
            <a:ext cx="8077200" cy="3686175"/>
          </a:xfrm>
          <a:prstGeom prst="rect">
            <a:avLst/>
          </a:prstGeom>
          <a:noFill/>
          <a:ln w="9525">
            <a:noFill/>
            <a:miter lim="800000"/>
            <a:headEnd/>
            <a:tailEnd/>
          </a:ln>
        </p:spPr>
      </p:pic>
      <p:sp>
        <p:nvSpPr>
          <p:cNvPr id="3" name="Content Placeholder 2"/>
          <p:cNvSpPr>
            <a:spLocks noGrp="1"/>
          </p:cNvSpPr>
          <p:nvPr>
            <p:ph idx="1"/>
          </p:nvPr>
        </p:nvSpPr>
        <p:spPr>
          <a:xfrm>
            <a:off x="457200" y="1143000"/>
            <a:ext cx="8229600" cy="2133600"/>
          </a:xfrm>
        </p:spPr>
        <p:txBody>
          <a:bodyPr/>
          <a:lstStyle/>
          <a:p>
            <a:r>
              <a:rPr lang="en-US" sz="2200" dirty="0" smtClean="0"/>
              <a:t>Upward iteration with User Requirements (and levels leading to them) is permitted, but should be kept to a </a:t>
            </a:r>
            <a:r>
              <a:rPr lang="en-US" sz="2200" i="1" dirty="0" smtClean="0">
                <a:solidFill>
                  <a:srgbClr val="C00000"/>
                </a:solidFill>
              </a:rPr>
              <a:t>minimum</a:t>
            </a:r>
            <a:r>
              <a:rPr lang="en-US" sz="2200" dirty="0" smtClean="0"/>
              <a:t> unless the user is still generating requirements. The User needs to be cautioned that changes in requirements during the development process will cause positive or negative changes in the predicted </a:t>
            </a:r>
            <a:r>
              <a:rPr lang="en-US" sz="2200" i="1" dirty="0" smtClean="0">
                <a:solidFill>
                  <a:srgbClr val="C00000"/>
                </a:solidFill>
              </a:rPr>
              <a:t>cost and schedule</a:t>
            </a:r>
            <a:r>
              <a:rPr lang="en-US" sz="2200" dirty="0" smtClean="0"/>
              <a:t>.</a:t>
            </a:r>
          </a:p>
        </p:txBody>
      </p:sp>
      <p:sp>
        <p:nvSpPr>
          <p:cNvPr id="8" name="Oval 7"/>
          <p:cNvSpPr/>
          <p:nvPr/>
        </p:nvSpPr>
        <p:spPr>
          <a:xfrm>
            <a:off x="4419600" y="3352800"/>
            <a:ext cx="1524000" cy="2286000"/>
          </a:xfrm>
          <a:prstGeom prst="ellipse">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6781800" y="3581400"/>
            <a:ext cx="1524000" cy="2667000"/>
          </a:xfrm>
          <a:prstGeom prst="ellipse">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Modification of User Requirements</a:t>
            </a:r>
            <a:endParaRPr lang="en-US" dirty="0"/>
          </a:p>
        </p:txBody>
      </p:sp>
      <p:sp>
        <p:nvSpPr>
          <p:cNvPr id="3" name="Content Placeholder 2"/>
          <p:cNvSpPr>
            <a:spLocks noGrp="1"/>
          </p:cNvSpPr>
          <p:nvPr>
            <p:ph idx="1"/>
          </p:nvPr>
        </p:nvSpPr>
        <p:spPr/>
        <p:txBody>
          <a:bodyPr/>
          <a:lstStyle/>
          <a:p>
            <a:r>
              <a:rPr lang="en-US" sz="2400" dirty="0" smtClean="0"/>
              <a:t>Often in software projects upward confirmation of solutions with the User is necessary because User Requirements cannot be adequately </a:t>
            </a:r>
            <a:r>
              <a:rPr lang="en-US" sz="2400" i="1" dirty="0" smtClean="0">
                <a:solidFill>
                  <a:srgbClr val="C00000"/>
                </a:solidFill>
              </a:rPr>
              <a:t>defined</a:t>
            </a:r>
            <a:r>
              <a:rPr lang="en-US" sz="2400" dirty="0" smtClean="0"/>
              <a:t> at the start.</a:t>
            </a:r>
          </a:p>
          <a:p>
            <a:r>
              <a:rPr lang="en-US" sz="2400" dirty="0" smtClean="0"/>
              <a:t>Iteration with User Requirements should be </a:t>
            </a:r>
            <a:r>
              <a:rPr lang="en-US" sz="2400" i="1" dirty="0" smtClean="0">
                <a:solidFill>
                  <a:srgbClr val="C00000"/>
                </a:solidFill>
              </a:rPr>
              <a:t>stopped</a:t>
            </a:r>
            <a:r>
              <a:rPr lang="en-US" sz="2400" dirty="0" smtClean="0"/>
              <a:t> at PDR.</a:t>
            </a:r>
          </a:p>
          <a:p>
            <a:r>
              <a:rPr lang="en-US" sz="2400" dirty="0" smtClean="0"/>
              <a:t>Modification of User Requirements after PDR should be held for the next model or release. If </a:t>
            </a:r>
            <a:r>
              <a:rPr lang="en-US" sz="2400" i="1" dirty="0" smtClean="0">
                <a:solidFill>
                  <a:srgbClr val="C00000"/>
                </a:solidFill>
              </a:rPr>
              <a:t>significant changes</a:t>
            </a:r>
            <a:r>
              <a:rPr lang="en-US" sz="2400" dirty="0" smtClean="0"/>
              <a:t> to User Requirements must absolutely be made after PDR, then the project should be </a:t>
            </a:r>
            <a:r>
              <a:rPr lang="en-US" sz="2400" i="1" dirty="0" smtClean="0">
                <a:solidFill>
                  <a:srgbClr val="C00000"/>
                </a:solidFill>
              </a:rPr>
              <a:t>stopped and restarted</a:t>
            </a:r>
            <a:r>
              <a:rPr lang="en-US" sz="2400" dirty="0" smtClean="0"/>
              <a:t> at the start of a new “</a:t>
            </a:r>
            <a:r>
              <a:rPr lang="en-US" sz="2400" dirty="0" err="1" smtClean="0"/>
              <a:t>Vee</a:t>
            </a:r>
            <a:r>
              <a:rPr lang="en-US" sz="2400" dirty="0" smtClean="0"/>
              <a:t>,”</a:t>
            </a:r>
            <a:r>
              <a:rPr lang="en-US" sz="2400" b="1" u="sng" dirty="0" smtClean="0"/>
              <a:t> </a:t>
            </a:r>
            <a:r>
              <a:rPr lang="en-US" sz="2400" dirty="0" smtClean="0"/>
              <a:t>reinitiating the entire process.</a:t>
            </a:r>
          </a:p>
          <a:p>
            <a:r>
              <a:rPr lang="en-US" sz="2400" dirty="0" smtClean="0"/>
              <a:t>The repeat of the process may be </a:t>
            </a:r>
            <a:r>
              <a:rPr lang="en-US" sz="2400" i="1" dirty="0" smtClean="0">
                <a:solidFill>
                  <a:srgbClr val="C00000"/>
                </a:solidFill>
              </a:rPr>
              <a:t>quicker</a:t>
            </a:r>
            <a:r>
              <a:rPr lang="en-US" sz="2400" dirty="0" smtClean="0"/>
              <a:t> because of the lessons learned, but all steps must be redone.</a:t>
            </a:r>
            <a:endParaRPr lang="en-US" sz="24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Incremental Development</a:t>
            </a:r>
            <a:endParaRPr lang="en-US" dirty="0"/>
          </a:p>
        </p:txBody>
      </p:sp>
      <p:sp>
        <p:nvSpPr>
          <p:cNvPr id="3" name="Content Placeholder 2"/>
          <p:cNvSpPr>
            <a:spLocks noGrp="1"/>
          </p:cNvSpPr>
          <p:nvPr>
            <p:ph idx="1"/>
          </p:nvPr>
        </p:nvSpPr>
        <p:spPr>
          <a:xfrm>
            <a:off x="457200" y="1143000"/>
            <a:ext cx="8229600" cy="2057400"/>
          </a:xfrm>
        </p:spPr>
        <p:txBody>
          <a:bodyPr/>
          <a:lstStyle/>
          <a:p>
            <a:r>
              <a:rPr lang="en-US" sz="2200" dirty="0" smtClean="0"/>
              <a:t>If the User Requirements are </a:t>
            </a:r>
            <a:r>
              <a:rPr lang="en-US" sz="2200" i="1" dirty="0" smtClean="0">
                <a:solidFill>
                  <a:srgbClr val="C00000"/>
                </a:solidFill>
              </a:rPr>
              <a:t>too vague</a:t>
            </a:r>
            <a:r>
              <a:rPr lang="en-US" sz="2200" dirty="0" smtClean="0"/>
              <a:t> to permit final definition at PDR, one approach is to develop the project in predetermined incremental releases.</a:t>
            </a:r>
          </a:p>
          <a:p>
            <a:r>
              <a:rPr lang="en-US" sz="2200" dirty="0" smtClean="0"/>
              <a:t>The first release is focused on meeting a </a:t>
            </a:r>
            <a:r>
              <a:rPr lang="en-US" sz="2200" i="1" dirty="0" smtClean="0">
                <a:solidFill>
                  <a:srgbClr val="C00000"/>
                </a:solidFill>
              </a:rPr>
              <a:t>minimum</a:t>
            </a:r>
            <a:r>
              <a:rPr lang="en-US" sz="2200" dirty="0" smtClean="0"/>
              <a:t> set of User Requirements, with subsequent releases providing added functionality and performance.</a:t>
            </a:r>
            <a:endParaRPr lang="en-US" sz="2200" dirty="0"/>
          </a:p>
        </p:txBody>
      </p:sp>
      <p:pic>
        <p:nvPicPr>
          <p:cNvPr id="1030" name="Picture 6"/>
          <p:cNvPicPr>
            <a:picLocks noChangeAspect="1" noChangeArrowheads="1"/>
          </p:cNvPicPr>
          <p:nvPr/>
        </p:nvPicPr>
        <p:blipFill>
          <a:blip r:embed="rId2" cstate="print"/>
          <a:srcRect/>
          <a:stretch>
            <a:fillRect/>
          </a:stretch>
        </p:blipFill>
        <p:spPr bwMode="auto">
          <a:xfrm>
            <a:off x="1000125" y="3352800"/>
            <a:ext cx="7143750" cy="3352800"/>
          </a:xfrm>
          <a:prstGeom prst="rect">
            <a:avLst/>
          </a:prstGeom>
          <a:noFill/>
          <a:ln w="9525">
            <a:noFill/>
            <a:miter lim="800000"/>
            <a:headEnd/>
            <a:tailEnd/>
          </a:ln>
        </p:spPr>
      </p:pic>
      <p:sp>
        <p:nvSpPr>
          <p:cNvPr id="9" name="Oval 8"/>
          <p:cNvSpPr/>
          <p:nvPr/>
        </p:nvSpPr>
        <p:spPr>
          <a:xfrm>
            <a:off x="7010400" y="5715000"/>
            <a:ext cx="1524000" cy="1066800"/>
          </a:xfrm>
          <a:prstGeom prst="ellipse">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Concurrent Engineering</a:t>
            </a:r>
            <a:endParaRPr lang="en-US" dirty="0"/>
          </a:p>
        </p:txBody>
      </p:sp>
      <p:sp>
        <p:nvSpPr>
          <p:cNvPr id="3" name="Content Placeholder 2"/>
          <p:cNvSpPr>
            <a:spLocks noGrp="1"/>
          </p:cNvSpPr>
          <p:nvPr>
            <p:ph idx="1"/>
          </p:nvPr>
        </p:nvSpPr>
        <p:spPr>
          <a:xfrm>
            <a:off x="533400" y="1219200"/>
            <a:ext cx="8229600" cy="4525963"/>
          </a:xfrm>
        </p:spPr>
        <p:txBody>
          <a:bodyPr/>
          <a:lstStyle/>
          <a:p>
            <a:r>
              <a:rPr lang="en-US" sz="2200" dirty="0" smtClean="0"/>
              <a:t>If </a:t>
            </a:r>
            <a:r>
              <a:rPr lang="en-US" sz="2200" i="1" dirty="0" smtClean="0">
                <a:solidFill>
                  <a:srgbClr val="C00000"/>
                </a:solidFill>
              </a:rPr>
              <a:t>high iteration</a:t>
            </a:r>
            <a:r>
              <a:rPr lang="en-US" sz="2200" dirty="0" smtClean="0"/>
              <a:t> with User Requirements is required after the System Design Review (SDR), it is probable that the project has passed early Control Gates prematurely, and it is not sufficiently defined.</a:t>
            </a:r>
          </a:p>
          <a:p>
            <a:r>
              <a:rPr lang="en-US" sz="2200" dirty="0" smtClean="0"/>
              <a:t>One cause of premature advance is that the appropriate </a:t>
            </a:r>
            <a:r>
              <a:rPr lang="en-US" sz="2200" i="1" dirty="0" smtClean="0">
                <a:solidFill>
                  <a:srgbClr val="C00000"/>
                </a:solidFill>
              </a:rPr>
              <a:t>technical experts</a:t>
            </a:r>
            <a:r>
              <a:rPr lang="en-US" sz="2200" dirty="0" smtClean="0"/>
              <a:t> were not involved at early stages, resulting in acceptance of requirements and design concepts which cannot be built, inspected, and/or maintained.</a:t>
            </a:r>
            <a:endParaRPr lang="en-US" sz="2200" dirty="0"/>
          </a:p>
        </p:txBody>
      </p:sp>
      <p:pic>
        <p:nvPicPr>
          <p:cNvPr id="2052" name="Picture 4"/>
          <p:cNvPicPr>
            <a:picLocks noChangeAspect="1" noChangeArrowheads="1"/>
          </p:cNvPicPr>
          <p:nvPr/>
        </p:nvPicPr>
        <p:blipFill>
          <a:blip r:embed="rId2" cstate="print"/>
          <a:srcRect/>
          <a:stretch>
            <a:fillRect/>
          </a:stretch>
        </p:blipFill>
        <p:spPr bwMode="auto">
          <a:xfrm>
            <a:off x="400050" y="4095750"/>
            <a:ext cx="8343900" cy="2686050"/>
          </a:xfrm>
          <a:prstGeom prst="rect">
            <a:avLst/>
          </a:prstGeom>
          <a:noFill/>
          <a:ln w="9525">
            <a:noFill/>
            <a:miter lim="800000"/>
            <a:headEnd/>
            <a:tailEnd/>
          </a:ln>
        </p:spPr>
      </p:pic>
      <p:sp>
        <p:nvSpPr>
          <p:cNvPr id="6" name="Oval 5"/>
          <p:cNvSpPr/>
          <p:nvPr/>
        </p:nvSpPr>
        <p:spPr>
          <a:xfrm>
            <a:off x="6934200" y="3810000"/>
            <a:ext cx="1524000" cy="2819400"/>
          </a:xfrm>
          <a:prstGeom prst="ellipse">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Role of System Engineering</a:t>
            </a:r>
            <a:endParaRPr lang="en-US" dirty="0"/>
          </a:p>
        </p:txBody>
      </p:sp>
      <p:sp>
        <p:nvSpPr>
          <p:cNvPr id="3" name="Content Placeholder 2"/>
          <p:cNvSpPr>
            <a:spLocks noGrp="1"/>
          </p:cNvSpPr>
          <p:nvPr>
            <p:ph idx="1"/>
          </p:nvPr>
        </p:nvSpPr>
        <p:spPr>
          <a:xfrm>
            <a:off x="457200" y="1189037"/>
            <a:ext cx="8229600" cy="4525963"/>
          </a:xfrm>
        </p:spPr>
        <p:txBody>
          <a:bodyPr/>
          <a:lstStyle/>
          <a:p>
            <a:r>
              <a:rPr lang="en-US" sz="2200" dirty="0" smtClean="0"/>
              <a:t>Above the line </a:t>
            </a:r>
            <a:r>
              <a:rPr lang="en-US" sz="2200" i="1" dirty="0" smtClean="0">
                <a:solidFill>
                  <a:srgbClr val="C00000"/>
                </a:solidFill>
              </a:rPr>
              <a:t>System Engineering</a:t>
            </a:r>
            <a:r>
              <a:rPr lang="en-US" sz="2200" dirty="0" smtClean="0"/>
              <a:t> is responsible, and Design Engineering provides technical assistance. Below the line </a:t>
            </a:r>
            <a:r>
              <a:rPr lang="en-US" sz="2200" i="1" dirty="0" smtClean="0">
                <a:solidFill>
                  <a:srgbClr val="C00000"/>
                </a:solidFill>
              </a:rPr>
              <a:t>Design Engineering</a:t>
            </a:r>
            <a:r>
              <a:rPr lang="en-US" sz="2200" dirty="0" smtClean="0"/>
              <a:t> is responsible, and System Engineering performs technical audit.</a:t>
            </a:r>
          </a:p>
          <a:p>
            <a:r>
              <a:rPr lang="en-US" sz="2200" dirty="0" smtClean="0"/>
              <a:t>Note that System Engineering is influential throughout the </a:t>
            </a:r>
            <a:r>
              <a:rPr lang="en-US" sz="2200" i="1" dirty="0" smtClean="0">
                <a:solidFill>
                  <a:srgbClr val="C00000"/>
                </a:solidFill>
              </a:rPr>
              <a:t>entire project</a:t>
            </a:r>
            <a:r>
              <a:rPr lang="en-US" sz="2200" dirty="0" smtClean="0"/>
              <a:t> life cycle, from User Requirements development to system decommissioning.</a:t>
            </a:r>
            <a:endParaRPr lang="en-US" sz="2200" dirty="0"/>
          </a:p>
        </p:txBody>
      </p:sp>
      <p:pic>
        <p:nvPicPr>
          <p:cNvPr id="3075" name="Picture 3"/>
          <p:cNvPicPr>
            <a:picLocks noChangeAspect="1" noChangeArrowheads="1"/>
          </p:cNvPicPr>
          <p:nvPr/>
        </p:nvPicPr>
        <p:blipFill>
          <a:blip r:embed="rId2" cstate="print"/>
          <a:srcRect/>
          <a:stretch>
            <a:fillRect/>
          </a:stretch>
        </p:blipFill>
        <p:spPr bwMode="auto">
          <a:xfrm>
            <a:off x="357188" y="3724275"/>
            <a:ext cx="8429625" cy="2981325"/>
          </a:xfrm>
          <a:prstGeom prst="rect">
            <a:avLst/>
          </a:prstGeom>
          <a:noFill/>
          <a:ln w="9525">
            <a:noFill/>
            <a:miter lim="800000"/>
            <a:headEnd/>
            <a:tailEnd/>
          </a:ln>
        </p:spPr>
      </p:pic>
      <p:sp>
        <p:nvSpPr>
          <p:cNvPr id="6" name="Oval 5"/>
          <p:cNvSpPr/>
          <p:nvPr/>
        </p:nvSpPr>
        <p:spPr>
          <a:xfrm>
            <a:off x="6934200" y="5029200"/>
            <a:ext cx="1981200" cy="1600200"/>
          </a:xfrm>
          <a:prstGeom prst="ellipse">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Technology Insertion</a:t>
            </a:r>
            <a:endParaRPr lang="en-US" dirty="0"/>
          </a:p>
        </p:txBody>
      </p:sp>
      <p:sp>
        <p:nvSpPr>
          <p:cNvPr id="3" name="Content Placeholder 2"/>
          <p:cNvSpPr>
            <a:spLocks noGrp="1"/>
          </p:cNvSpPr>
          <p:nvPr>
            <p:ph idx="1"/>
          </p:nvPr>
        </p:nvSpPr>
        <p:spPr>
          <a:xfrm>
            <a:off x="457200" y="1295400"/>
            <a:ext cx="8229600" cy="1523999"/>
          </a:xfrm>
        </p:spPr>
        <p:txBody>
          <a:bodyPr/>
          <a:lstStyle/>
          <a:p>
            <a:r>
              <a:rPr lang="en-US" sz="2200" i="1" dirty="0" smtClean="0">
                <a:solidFill>
                  <a:srgbClr val="C00000"/>
                </a:solidFill>
              </a:rPr>
              <a:t>Technology development</a:t>
            </a:r>
            <a:r>
              <a:rPr lang="en-US" sz="2200" dirty="0" smtClean="0"/>
              <a:t> can be done in parallel with the project evolution, and inserted as late as Preliminary Design Review.</a:t>
            </a:r>
          </a:p>
          <a:p>
            <a:r>
              <a:rPr lang="en-US" sz="2200" dirty="0" smtClean="0"/>
              <a:t>The technology development would be represented by a horizontal bar off the core, at the Configuration Item level (or below).</a:t>
            </a:r>
            <a:endParaRPr lang="en-US" sz="2200" dirty="0"/>
          </a:p>
        </p:txBody>
      </p:sp>
      <p:pic>
        <p:nvPicPr>
          <p:cNvPr id="4099" name="Picture 3"/>
          <p:cNvPicPr>
            <a:picLocks noChangeAspect="1" noChangeArrowheads="1"/>
          </p:cNvPicPr>
          <p:nvPr/>
        </p:nvPicPr>
        <p:blipFill>
          <a:blip r:embed="rId2" cstate="print"/>
          <a:srcRect/>
          <a:stretch>
            <a:fillRect/>
          </a:stretch>
        </p:blipFill>
        <p:spPr bwMode="auto">
          <a:xfrm>
            <a:off x="257175" y="3209925"/>
            <a:ext cx="8629650" cy="3571875"/>
          </a:xfrm>
          <a:prstGeom prst="rect">
            <a:avLst/>
          </a:prstGeom>
          <a:noFill/>
          <a:ln w="9525">
            <a:noFill/>
            <a:miter lim="800000"/>
            <a:headEnd/>
            <a:tailEnd/>
          </a:ln>
        </p:spPr>
      </p:pic>
      <p:sp>
        <p:nvSpPr>
          <p:cNvPr id="6" name="Oval 5"/>
          <p:cNvSpPr/>
          <p:nvPr/>
        </p:nvSpPr>
        <p:spPr>
          <a:xfrm>
            <a:off x="4572000" y="5029200"/>
            <a:ext cx="1524000" cy="1600200"/>
          </a:xfrm>
          <a:prstGeom prst="ellipse">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2895600" y="2819400"/>
            <a:ext cx="1524000" cy="1600200"/>
          </a:xfrm>
          <a:prstGeom prst="ellipse">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Integration and Verification</a:t>
            </a:r>
            <a:endParaRPr lang="en-US" dirty="0"/>
          </a:p>
        </p:txBody>
      </p:sp>
      <p:sp>
        <p:nvSpPr>
          <p:cNvPr id="3" name="Content Placeholder 2"/>
          <p:cNvSpPr>
            <a:spLocks noGrp="1"/>
          </p:cNvSpPr>
          <p:nvPr>
            <p:ph idx="1"/>
          </p:nvPr>
        </p:nvSpPr>
        <p:spPr>
          <a:xfrm>
            <a:off x="76200" y="1722437"/>
            <a:ext cx="4038600" cy="4525963"/>
          </a:xfrm>
        </p:spPr>
        <p:txBody>
          <a:bodyPr/>
          <a:lstStyle/>
          <a:p>
            <a:r>
              <a:rPr lang="en-US" sz="2200" dirty="0" smtClean="0"/>
              <a:t>Ascending the right side of the “</a:t>
            </a:r>
            <a:r>
              <a:rPr lang="en-US" sz="2200" dirty="0" err="1" smtClean="0"/>
              <a:t>Vee</a:t>
            </a:r>
            <a:r>
              <a:rPr lang="en-US" sz="2200" dirty="0" smtClean="0"/>
              <a:t>” is the process of </a:t>
            </a:r>
            <a:r>
              <a:rPr lang="en-US" sz="2200" i="1" dirty="0" smtClean="0">
                <a:solidFill>
                  <a:srgbClr val="C00000"/>
                </a:solidFill>
              </a:rPr>
              <a:t>Integration and Verification</a:t>
            </a:r>
            <a:r>
              <a:rPr lang="en-US" sz="2200" dirty="0" smtClean="0"/>
              <a:t>.</a:t>
            </a:r>
          </a:p>
          <a:p>
            <a:r>
              <a:rPr lang="en-US" sz="2200" dirty="0" smtClean="0"/>
              <a:t>At each level there is a direct </a:t>
            </a:r>
            <a:r>
              <a:rPr lang="en-US" sz="2200" i="1" dirty="0" smtClean="0">
                <a:solidFill>
                  <a:srgbClr val="C00000"/>
                </a:solidFill>
              </a:rPr>
              <a:t>correspondence</a:t>
            </a:r>
            <a:r>
              <a:rPr lang="en-US" sz="2200" dirty="0" smtClean="0"/>
              <a:t> between activities on the left and right sides of the chart. This is deliberate. The method of verification must be determined as the requirements are developed and documented at each level.</a:t>
            </a:r>
          </a:p>
        </p:txBody>
      </p:sp>
      <p:pic>
        <p:nvPicPr>
          <p:cNvPr id="1027" name="Picture 3"/>
          <p:cNvPicPr>
            <a:picLocks noChangeAspect="1" noChangeArrowheads="1"/>
          </p:cNvPicPr>
          <p:nvPr/>
        </p:nvPicPr>
        <p:blipFill>
          <a:blip r:embed="rId2" cstate="print"/>
          <a:srcRect/>
          <a:stretch>
            <a:fillRect/>
          </a:stretch>
        </p:blipFill>
        <p:spPr bwMode="auto">
          <a:xfrm>
            <a:off x="4419600" y="1066800"/>
            <a:ext cx="4552950" cy="5734050"/>
          </a:xfrm>
          <a:prstGeom prst="rect">
            <a:avLst/>
          </a:prstGeom>
          <a:noFill/>
          <a:ln w="9525">
            <a:noFill/>
            <a:miter lim="800000"/>
            <a:headEnd/>
            <a:tailEnd/>
          </a:ln>
        </p:spPr>
      </p:pic>
      <p:sp>
        <p:nvSpPr>
          <p:cNvPr id="6" name="Rectangle 5"/>
          <p:cNvSpPr/>
          <p:nvPr/>
        </p:nvSpPr>
        <p:spPr>
          <a:xfrm>
            <a:off x="304800" y="5877580"/>
            <a:ext cx="4495800" cy="523220"/>
          </a:xfrm>
          <a:prstGeom prst="rect">
            <a:avLst/>
          </a:prstGeom>
        </p:spPr>
        <p:txBody>
          <a:bodyPr wrap="square">
            <a:spAutoFit/>
          </a:bodyPr>
          <a:lstStyle/>
          <a:p>
            <a:r>
              <a:rPr lang="en-US" sz="1400" dirty="0" smtClean="0">
                <a:latin typeface="+mj-lt"/>
              </a:rPr>
              <a:t>Verification is the process of proving that each product meets its </a:t>
            </a:r>
            <a:r>
              <a:rPr lang="en-US" sz="1400" i="1" dirty="0" smtClean="0">
                <a:solidFill>
                  <a:srgbClr val="C00000"/>
                </a:solidFill>
                <a:latin typeface="+mj-lt"/>
              </a:rPr>
              <a:t>specification</a:t>
            </a:r>
            <a:r>
              <a:rPr lang="en-US" sz="1400" dirty="0" smtClean="0">
                <a:latin typeface="+mj-lt"/>
              </a:rPr>
              <a:t> (“Have we built the system right?”). </a:t>
            </a:r>
            <a:endParaRPr lang="en-US" sz="1400" dirty="0">
              <a:latin typeface="+mj-lt"/>
            </a:endParaRPr>
          </a:p>
        </p:txBody>
      </p:sp>
      <p:sp>
        <p:nvSpPr>
          <p:cNvPr id="7" name="Rectangle 6"/>
          <p:cNvSpPr/>
          <p:nvPr/>
        </p:nvSpPr>
        <p:spPr>
          <a:xfrm>
            <a:off x="1066800" y="1066800"/>
            <a:ext cx="6477000" cy="461665"/>
          </a:xfrm>
          <a:prstGeom prst="rect">
            <a:avLst/>
          </a:prstGeom>
        </p:spPr>
        <p:txBody>
          <a:bodyPr wrap="square">
            <a:spAutoFit/>
          </a:bodyPr>
          <a:lstStyle/>
          <a:p>
            <a:r>
              <a:rPr lang="en-US" sz="1200" dirty="0" smtClean="0">
                <a:latin typeface="+mj-lt"/>
              </a:rPr>
              <a:t>Validation is the process of demonstrating (as opposed to proving) that the product satisfies the </a:t>
            </a:r>
            <a:r>
              <a:rPr lang="en-US" sz="1200" i="1" dirty="0" smtClean="0">
                <a:solidFill>
                  <a:srgbClr val="C00000"/>
                </a:solidFill>
                <a:latin typeface="+mj-lt"/>
              </a:rPr>
              <a:t>User Needs</a:t>
            </a:r>
            <a:r>
              <a:rPr lang="en-US" sz="1200" dirty="0" smtClean="0">
                <a:latin typeface="+mj-lt"/>
              </a:rPr>
              <a:t>, “regardless” of what the system specification requires (“Have we built the right system?”).</a:t>
            </a:r>
            <a:endParaRPr lang="en-US" sz="1200" dirty="0">
              <a:latin typeface="+mj-lt"/>
            </a:endParaRPr>
          </a:p>
        </p:txBody>
      </p:sp>
      <p:sp>
        <p:nvSpPr>
          <p:cNvPr id="8" name="Oval 7"/>
          <p:cNvSpPr/>
          <p:nvPr/>
        </p:nvSpPr>
        <p:spPr>
          <a:xfrm>
            <a:off x="7467600" y="838200"/>
            <a:ext cx="1524000" cy="1600200"/>
          </a:xfrm>
          <a:prstGeom prst="ellipse">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495800" y="3429000"/>
            <a:ext cx="1524000" cy="1600200"/>
          </a:xfrm>
          <a:prstGeom prst="ellipse">
            <a:avLst/>
          </a:prstGeom>
          <a:no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Analysis and Design Process</a:t>
            </a:r>
            <a:endParaRPr lang="en-US" dirty="0"/>
          </a:p>
        </p:txBody>
      </p:sp>
      <p:pic>
        <p:nvPicPr>
          <p:cNvPr id="2051" name="Picture 3"/>
          <p:cNvPicPr>
            <a:picLocks noChangeAspect="1" noChangeArrowheads="1"/>
          </p:cNvPicPr>
          <p:nvPr/>
        </p:nvPicPr>
        <p:blipFill>
          <a:blip r:embed="rId2" cstate="print"/>
          <a:srcRect/>
          <a:stretch>
            <a:fillRect/>
          </a:stretch>
        </p:blipFill>
        <p:spPr bwMode="auto">
          <a:xfrm>
            <a:off x="1628775" y="2028825"/>
            <a:ext cx="5886450" cy="4295775"/>
          </a:xfrm>
          <a:prstGeom prst="rect">
            <a:avLst/>
          </a:prstGeom>
          <a:noFill/>
          <a:ln w="9525">
            <a:noFill/>
            <a:miter lim="800000"/>
            <a:headEnd/>
            <a:tailEnd/>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000" dirty="0" smtClean="0"/>
              <a:t>Application of the System Analysis and Design Process to the Technical Aspect of the Project Cycle</a:t>
            </a:r>
            <a:endParaRPr lang="en-US" sz="3000" dirty="0"/>
          </a:p>
        </p:txBody>
      </p:sp>
      <p:pic>
        <p:nvPicPr>
          <p:cNvPr id="3074" name="Picture 2"/>
          <p:cNvPicPr>
            <a:picLocks noChangeAspect="1" noChangeArrowheads="1"/>
          </p:cNvPicPr>
          <p:nvPr/>
        </p:nvPicPr>
        <p:blipFill>
          <a:blip r:embed="rId2" cstate="print"/>
          <a:srcRect/>
          <a:stretch>
            <a:fillRect/>
          </a:stretch>
        </p:blipFill>
        <p:spPr bwMode="auto">
          <a:xfrm>
            <a:off x="1681163" y="1447800"/>
            <a:ext cx="5781675" cy="4324350"/>
          </a:xfrm>
          <a:prstGeom prst="rect">
            <a:avLst/>
          </a:prstGeom>
          <a:noFill/>
          <a:ln w="9525">
            <a:noFill/>
            <a:miter lim="800000"/>
            <a:headEnd/>
            <a:tailEnd/>
          </a:ln>
        </p:spPr>
      </p:pic>
      <p:sp>
        <p:nvSpPr>
          <p:cNvPr id="5" name="Rectangle 4"/>
          <p:cNvSpPr/>
          <p:nvPr/>
        </p:nvSpPr>
        <p:spPr>
          <a:xfrm>
            <a:off x="990600" y="5791200"/>
            <a:ext cx="7620000" cy="769441"/>
          </a:xfrm>
          <a:prstGeom prst="rect">
            <a:avLst/>
          </a:prstGeom>
        </p:spPr>
        <p:txBody>
          <a:bodyPr wrap="square">
            <a:spAutoFit/>
          </a:bodyPr>
          <a:lstStyle/>
          <a:p>
            <a:r>
              <a:rPr lang="en-US" sz="2200" dirty="0" smtClean="0">
                <a:latin typeface="+mj-lt"/>
              </a:rPr>
              <a:t>The </a:t>
            </a:r>
            <a:r>
              <a:rPr lang="en-US" sz="2200" u="sng" dirty="0" smtClean="0">
                <a:latin typeface="+mj-lt"/>
              </a:rPr>
              <a:t>system engineering process</a:t>
            </a:r>
            <a:r>
              <a:rPr lang="en-US" sz="2200" dirty="0" smtClean="0">
                <a:latin typeface="+mj-lt"/>
              </a:rPr>
              <a:t> is </a:t>
            </a:r>
            <a:r>
              <a:rPr lang="en-US" sz="2200" i="1" dirty="0" smtClean="0">
                <a:solidFill>
                  <a:srgbClr val="C00000"/>
                </a:solidFill>
                <a:latin typeface="+mj-lt"/>
              </a:rPr>
              <a:t>repeated</a:t>
            </a:r>
            <a:r>
              <a:rPr lang="en-US" sz="2200" dirty="0" smtClean="0">
                <a:latin typeface="+mj-lt"/>
              </a:rPr>
              <a:t> at </a:t>
            </a:r>
            <a:r>
              <a:rPr lang="en-US" sz="2200" u="sng" dirty="0" smtClean="0">
                <a:latin typeface="+mj-lt"/>
              </a:rPr>
              <a:t>every level</a:t>
            </a:r>
            <a:r>
              <a:rPr lang="en-US" sz="2200" dirty="0" smtClean="0">
                <a:latin typeface="+mj-lt"/>
              </a:rPr>
              <a:t> of the cycle, and may be repeated many times within a phase.</a:t>
            </a:r>
            <a:endParaRPr lang="en-US" sz="2200" dirty="0">
              <a:latin typeface="+mj-lt"/>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Verification and Integration Process</a:t>
            </a:r>
            <a:endParaRPr lang="en-US" dirty="0"/>
          </a:p>
        </p:txBody>
      </p:sp>
      <p:pic>
        <p:nvPicPr>
          <p:cNvPr id="4098" name="Picture 2"/>
          <p:cNvPicPr>
            <a:picLocks noChangeAspect="1" noChangeArrowheads="1"/>
          </p:cNvPicPr>
          <p:nvPr/>
        </p:nvPicPr>
        <p:blipFill>
          <a:blip r:embed="rId2" cstate="print"/>
          <a:srcRect/>
          <a:stretch>
            <a:fillRect/>
          </a:stretch>
        </p:blipFill>
        <p:spPr bwMode="auto">
          <a:xfrm>
            <a:off x="971550" y="1895475"/>
            <a:ext cx="7200900" cy="3067050"/>
          </a:xfrm>
          <a:prstGeom prst="rect">
            <a:avLst/>
          </a:prstGeom>
          <a:noFill/>
          <a:ln w="9525">
            <a:noFill/>
            <a:miter lim="800000"/>
            <a:headEnd/>
            <a:tailEnd/>
          </a:ln>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smtClean="0"/>
              <a:t>Application of the System Verification and Integration Process to the Technical Aspect of the Project Cycle</a:t>
            </a:r>
            <a:endParaRPr lang="en-US" sz="2800" dirty="0"/>
          </a:p>
        </p:txBody>
      </p:sp>
      <p:pic>
        <p:nvPicPr>
          <p:cNvPr id="5122" name="Picture 2"/>
          <p:cNvPicPr>
            <a:picLocks noChangeAspect="1" noChangeArrowheads="1"/>
          </p:cNvPicPr>
          <p:nvPr/>
        </p:nvPicPr>
        <p:blipFill>
          <a:blip r:embed="rId2" cstate="print"/>
          <a:srcRect/>
          <a:stretch>
            <a:fillRect/>
          </a:stretch>
        </p:blipFill>
        <p:spPr bwMode="auto">
          <a:xfrm>
            <a:off x="971550" y="1638300"/>
            <a:ext cx="7200900" cy="4991100"/>
          </a:xfrm>
          <a:prstGeom prst="rect">
            <a:avLst/>
          </a:prstGeom>
          <a:noFill/>
          <a:ln w="9525">
            <a:noFill/>
            <a:miter lim="800000"/>
            <a:headEnd/>
            <a:tailEnd/>
          </a:ln>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Engineering Definition</a:t>
            </a:r>
            <a:endParaRPr lang="en-US" dirty="0"/>
          </a:p>
        </p:txBody>
      </p:sp>
      <p:sp>
        <p:nvSpPr>
          <p:cNvPr id="3" name="Content Placeholder 2"/>
          <p:cNvSpPr>
            <a:spLocks noGrp="1"/>
          </p:cNvSpPr>
          <p:nvPr>
            <p:ph idx="1"/>
          </p:nvPr>
        </p:nvSpPr>
        <p:spPr>
          <a:xfrm>
            <a:off x="457200" y="1600201"/>
            <a:ext cx="8229600" cy="2438400"/>
          </a:xfrm>
        </p:spPr>
        <p:txBody>
          <a:bodyPr/>
          <a:lstStyle/>
          <a:p>
            <a:r>
              <a:rPr lang="en-US" sz="2400" i="1" dirty="0" smtClean="0">
                <a:solidFill>
                  <a:srgbClr val="C00000"/>
                </a:solidFill>
              </a:rPr>
              <a:t>System Engineering</a:t>
            </a:r>
            <a:r>
              <a:rPr lang="en-US" sz="2400" dirty="0" smtClean="0"/>
              <a:t> can now be more </a:t>
            </a:r>
            <a:r>
              <a:rPr lang="en-US" sz="2400" u="sng" dirty="0" smtClean="0"/>
              <a:t>accurately</a:t>
            </a:r>
            <a:r>
              <a:rPr lang="en-US" sz="2400" dirty="0" smtClean="0"/>
              <a:t> defined as the application of the System Analysis and Design Process and the Integration and Verification Process to the logical sequence of the Technical Aspect of the Project Cycle.</a:t>
            </a:r>
          </a:p>
          <a:p>
            <a:r>
              <a:rPr lang="en-US" sz="2400" dirty="0" smtClean="0"/>
              <a:t>Emphasize </a:t>
            </a:r>
            <a:r>
              <a:rPr lang="en-US" sz="2400" i="1" dirty="0" smtClean="0">
                <a:solidFill>
                  <a:srgbClr val="C00000"/>
                </a:solidFill>
              </a:rPr>
              <a:t>baseline management</a:t>
            </a:r>
            <a:r>
              <a:rPr lang="en-US" sz="2400" dirty="0" smtClean="0"/>
              <a:t> and </a:t>
            </a:r>
            <a:r>
              <a:rPr lang="en-US" sz="2400" i="1" dirty="0" smtClean="0">
                <a:solidFill>
                  <a:srgbClr val="C00000"/>
                </a:solidFill>
              </a:rPr>
              <a:t>configuration control</a:t>
            </a:r>
            <a:r>
              <a:rPr lang="en-US" sz="2400" dirty="0" smtClean="0"/>
              <a:t> that is an essential discipline to </a:t>
            </a:r>
            <a:r>
              <a:rPr lang="en-US" sz="2400" u="sng" dirty="0" smtClean="0"/>
              <a:t>good</a:t>
            </a:r>
            <a:r>
              <a:rPr lang="en-US" sz="2400" dirty="0" smtClean="0"/>
              <a:t> system management.</a:t>
            </a:r>
          </a:p>
        </p:txBody>
      </p:sp>
      <p:pic>
        <p:nvPicPr>
          <p:cNvPr id="4" name="Picture 4" descr="https://upload.wikimedia.org/wikipedia/commons/thumb/e/e8/Systems_Engineering_Process_II.svg/1200px-Systems_Engineering_Process_II.svg.png"/>
          <p:cNvPicPr>
            <a:picLocks noChangeAspect="1" noChangeArrowheads="1"/>
          </p:cNvPicPr>
          <p:nvPr/>
        </p:nvPicPr>
        <p:blipFill>
          <a:blip r:embed="rId2" cstate="print"/>
          <a:srcRect/>
          <a:stretch>
            <a:fillRect/>
          </a:stretch>
        </p:blipFill>
        <p:spPr bwMode="auto">
          <a:xfrm>
            <a:off x="2209800" y="4038600"/>
            <a:ext cx="4572000" cy="2541270"/>
          </a:xfrm>
          <a:prstGeom prst="rect">
            <a:avLst/>
          </a:prstGeom>
          <a:noFill/>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a:t>
            </a:r>
            <a:r>
              <a:rPr lang="en-US" smtClean="0"/>
              <a:t>You Again</a:t>
            </a:r>
            <a:endParaRPr lang="en-US" dirty="0" smtClean="0"/>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12648</TotalTime>
  <Words>4982</Words>
  <Application>Microsoft Office PowerPoint</Application>
  <PresentationFormat>On-screen Show (4:3)</PresentationFormat>
  <Paragraphs>416</Paragraphs>
  <Slides>88</Slides>
  <Notes>2</Notes>
  <HiddenSlides>0</HiddenSlides>
  <MMClips>0</MMClips>
  <ScaleCrop>false</ScaleCrop>
  <HeadingPairs>
    <vt:vector size="4" baseType="variant">
      <vt:variant>
        <vt:lpstr>Theme</vt:lpstr>
      </vt:variant>
      <vt:variant>
        <vt:i4>1</vt:i4>
      </vt:variant>
      <vt:variant>
        <vt:lpstr>Slide Titles</vt:lpstr>
      </vt:variant>
      <vt:variant>
        <vt:i4>88</vt:i4>
      </vt:variant>
    </vt:vector>
  </HeadingPairs>
  <TitlesOfParts>
    <vt:vector size="89" baseType="lpstr">
      <vt:lpstr>Office Theme</vt:lpstr>
      <vt:lpstr>Software Development Models</vt:lpstr>
      <vt:lpstr>Objectives</vt:lpstr>
      <vt:lpstr>References</vt:lpstr>
      <vt:lpstr>Why Software Development Models?</vt:lpstr>
      <vt:lpstr>Notes</vt:lpstr>
      <vt:lpstr>Analysis and Coding [1, 2]</vt:lpstr>
      <vt:lpstr>Code and Fix</vt:lpstr>
      <vt:lpstr>A More Grandiose Approach</vt:lpstr>
      <vt:lpstr>Iterative Relationship Between Successive Phases</vt:lpstr>
      <vt:lpstr>Development Risk</vt:lpstr>
      <vt:lpstr>Preliminary Program Design</vt:lpstr>
      <vt:lpstr>Document The Design</vt:lpstr>
      <vt:lpstr>Do It Twice</vt:lpstr>
      <vt:lpstr>Plan, Control and Monitor Testing</vt:lpstr>
      <vt:lpstr>Involve the Customer</vt:lpstr>
      <vt:lpstr>Managing the Development of Large Software Systems</vt:lpstr>
      <vt:lpstr>(Winston Royce’s) Waterfall Model</vt:lpstr>
      <vt:lpstr>Waterfall Model Pros &amp; Cons</vt:lpstr>
      <vt:lpstr>Waterfall with Risk-Reduction [3]</vt:lpstr>
      <vt:lpstr>Slide 20</vt:lpstr>
      <vt:lpstr>Customer Confidence</vt:lpstr>
      <vt:lpstr>Sashimi Model</vt:lpstr>
      <vt:lpstr>Waterfall with Subprojects</vt:lpstr>
      <vt:lpstr>Staged Delivery</vt:lpstr>
      <vt:lpstr>Real World Waterfall Model: A New System</vt:lpstr>
      <vt:lpstr>Real World Waterfall Model: System Maintenance</vt:lpstr>
      <vt:lpstr>When To Use Waterfall Model?</vt:lpstr>
      <vt:lpstr>Actually, Waterfall is Often Used When</vt:lpstr>
      <vt:lpstr>Slide 29</vt:lpstr>
      <vt:lpstr>Requirements Gathering</vt:lpstr>
      <vt:lpstr>Software Changes</vt:lpstr>
      <vt:lpstr>Evolutionary Delivery</vt:lpstr>
      <vt:lpstr>Evolutionary Prototyping Model</vt:lpstr>
      <vt:lpstr>Iterative and Incremental Development [4]</vt:lpstr>
      <vt:lpstr>Incremental Delivery</vt:lpstr>
      <vt:lpstr>Evolutionary Delivery</vt:lpstr>
      <vt:lpstr>Incremental Evolutionary Delivery</vt:lpstr>
      <vt:lpstr>Time-boxed Iterative Development</vt:lpstr>
      <vt:lpstr>Evolutionary Iterative Development (IID)</vt:lpstr>
      <vt:lpstr>Evolutionary And Iterative Requirements Engineering</vt:lpstr>
      <vt:lpstr>Evolutionary and Adaptive Planning</vt:lpstr>
      <vt:lpstr>Pros &amp; Cons of IID</vt:lpstr>
      <vt:lpstr>Real World IID Model: A New System</vt:lpstr>
      <vt:lpstr>Real World IID: System Maintenance</vt:lpstr>
      <vt:lpstr>When To Use IID Model?</vt:lpstr>
      <vt:lpstr>Slide 46</vt:lpstr>
      <vt:lpstr>Spiral Model [5, 6]</vt:lpstr>
      <vt:lpstr>Start</vt:lpstr>
      <vt:lpstr>Risk Analysis</vt:lpstr>
      <vt:lpstr>Another Prototype</vt:lpstr>
      <vt:lpstr>Series of Evolutionary Prototypes</vt:lpstr>
      <vt:lpstr>Waterfall Approach</vt:lpstr>
      <vt:lpstr>Review</vt:lpstr>
      <vt:lpstr>Initiating and Terminating the Spiral</vt:lpstr>
      <vt:lpstr>Spiral Model</vt:lpstr>
      <vt:lpstr>Spiral Model Definition [7]</vt:lpstr>
      <vt:lpstr>A Process Model Generator</vt:lpstr>
      <vt:lpstr>Anchor Point Milestones</vt:lpstr>
      <vt:lpstr>Life Cycle Objectives (LCO) &amp; Life Cycle Architecture (LCA)</vt:lpstr>
      <vt:lpstr>Initial Operational Capability (IOC)</vt:lpstr>
      <vt:lpstr>Pros &amp; Cons of Spiral Model</vt:lpstr>
      <vt:lpstr>Slide 62</vt:lpstr>
      <vt:lpstr>Vee-Model Introduction [8]</vt:lpstr>
      <vt:lpstr>Vee-Model Overview</vt:lpstr>
      <vt:lpstr>Nine Phases</vt:lpstr>
      <vt:lpstr>The “Vee” Chart</vt:lpstr>
      <vt:lpstr>Slide 67</vt:lpstr>
      <vt:lpstr>Slide 68</vt:lpstr>
      <vt:lpstr>Segments and Configuration Items</vt:lpstr>
      <vt:lpstr>Alternate Concepts</vt:lpstr>
      <vt:lpstr>Baselines and Control Gates</vt:lpstr>
      <vt:lpstr>Six Baselines</vt:lpstr>
      <vt:lpstr>Off-core Activities</vt:lpstr>
      <vt:lpstr>Off-core Activities Repeat</vt:lpstr>
      <vt:lpstr>Downward Iteration</vt:lpstr>
      <vt:lpstr>Upward Iteration</vt:lpstr>
      <vt:lpstr>Modification of User Requirements</vt:lpstr>
      <vt:lpstr>Incremental Development</vt:lpstr>
      <vt:lpstr>Concurrent Engineering</vt:lpstr>
      <vt:lpstr>Role of System Engineering</vt:lpstr>
      <vt:lpstr>Technology Insertion</vt:lpstr>
      <vt:lpstr>Integration and Verification</vt:lpstr>
      <vt:lpstr>System Analysis and Design Process</vt:lpstr>
      <vt:lpstr>Application of the System Analysis and Design Process to the Technical Aspect of the Project Cycle</vt:lpstr>
      <vt:lpstr>System Verification and Integration Process</vt:lpstr>
      <vt:lpstr>Application of the System Verification and Integration Process to the Technical Aspect of the Project Cycle</vt:lpstr>
      <vt:lpstr>System Engineering Definition</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4427</cp:revision>
  <dcterms:created xsi:type="dcterms:W3CDTF">2007-10-06T08:25:13Z</dcterms:created>
  <dcterms:modified xsi:type="dcterms:W3CDTF">2026-07-20T21:04:36Z</dcterms:modified>
</cp:coreProperties>
</file>