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92" r:id="rId2"/>
    <p:sldId id="293" r:id="rId3"/>
    <p:sldId id="294" r:id="rId4"/>
    <p:sldId id="295" r:id="rId5"/>
    <p:sldId id="297" r:id="rId6"/>
    <p:sldId id="306" r:id="rId7"/>
    <p:sldId id="309" r:id="rId8"/>
    <p:sldId id="308" r:id="rId9"/>
    <p:sldId id="307" r:id="rId10"/>
    <p:sldId id="304" r:id="rId11"/>
    <p:sldId id="305" r:id="rId12"/>
    <p:sldId id="298" r:id="rId13"/>
    <p:sldId id="299" r:id="rId14"/>
    <p:sldId id="300" r:id="rId15"/>
    <p:sldId id="303" r:id="rId16"/>
    <p:sldId id="301" r:id="rId17"/>
    <p:sldId id="302" r:id="rId18"/>
    <p:sldId id="279"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42" autoAdjust="0"/>
    <p:restoredTop sz="94660"/>
  </p:normalViewPr>
  <p:slideViewPr>
    <p:cSldViewPr>
      <p:cViewPr>
        <p:scale>
          <a:sx n="50" d="100"/>
          <a:sy n="50" d="100"/>
        </p:scale>
        <p:origin x="-1494" y="-4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F74688-041D-4FC9-902F-D5E3D355A780}" type="datetimeFigureOut">
              <a:rPr lang="en-US" smtClean="0"/>
              <a:pPr/>
              <a:t>10/17/2023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FF8F4A-5E88-493E-905F-12CD3520EA5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5C43B9-1B5B-487E-9475-53D990437C3F}"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BC74E-99FC-4AD3-80E3-205DCB542E0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5C43B9-1B5B-487E-9475-53D990437C3F}" type="datetimeFigureOut">
              <a:rPr lang="en-US" smtClean="0"/>
              <a:pPr/>
              <a:t>10/17/2023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1BC74E-99FC-4AD3-80E3-205DCB542E0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MS Excel</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6000750" y="2381250"/>
            <a:ext cx="2762250" cy="21145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0"/>
            <a:ext cx="5562600" cy="4191000"/>
          </a:xfrm>
        </p:spPr>
        <p:txBody>
          <a:bodyPr/>
          <a:lstStyle/>
          <a:p>
            <a:pPr>
              <a:buFont typeface="Wingdings" pitchFamily="2" charset="2"/>
              <a:buChar char="Ø"/>
            </a:pPr>
            <a:endParaRPr lang="en-US" sz="2200" i="1" dirty="0" smtClean="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4864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638800" cy="4525963"/>
          </a:xfrm>
        </p:spPr>
        <p:txBody>
          <a:bodyPr/>
          <a:lstStyle/>
          <a:p>
            <a:pPr marL="457200" indent="-457200">
              <a:buFont typeface="+mj-lt"/>
              <a:buAutoNum type="arabicPeriod"/>
            </a:pPr>
            <a:endParaRPr lang="en-US" sz="2400" dirty="0" smtClean="0">
              <a:latin typeface="+mj-lt"/>
            </a:endParaRP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Cell reference in Excel</a:t>
            </a:r>
            <a:endParaRPr lang="en-US" dirty="0"/>
          </a:p>
        </p:txBody>
      </p:sp>
      <p:sp>
        <p:nvSpPr>
          <p:cNvPr id="3" name="Content Placeholder 2"/>
          <p:cNvSpPr>
            <a:spLocks noGrp="1"/>
          </p:cNvSpPr>
          <p:nvPr>
            <p:ph idx="1"/>
          </p:nvPr>
        </p:nvSpPr>
        <p:spPr/>
        <p:txBody>
          <a:bodyPr>
            <a:noAutofit/>
          </a:bodyPr>
          <a:lstStyle/>
          <a:p>
            <a:r>
              <a:rPr lang="en-US" sz="2000" dirty="0" smtClean="0"/>
              <a:t>A </a:t>
            </a:r>
            <a:r>
              <a:rPr lang="en-US" sz="2000" b="1" dirty="0" smtClean="0"/>
              <a:t>cell reference</a:t>
            </a:r>
            <a:r>
              <a:rPr lang="en-US" sz="2000" dirty="0" smtClean="0"/>
              <a:t> or </a:t>
            </a:r>
            <a:r>
              <a:rPr lang="en-US" sz="2000" b="1" dirty="0" smtClean="0"/>
              <a:t>cell address</a:t>
            </a:r>
            <a:r>
              <a:rPr lang="en-US" sz="2000" dirty="0" smtClean="0"/>
              <a:t> is a combination of a column letter and a row number that identifies a cell on a worksheet.</a:t>
            </a:r>
          </a:p>
          <a:p>
            <a:r>
              <a:rPr lang="en-US" sz="2000" dirty="0" smtClean="0"/>
              <a:t>For example, A1 refers to the cell at the intersection of column A and row 1.</a:t>
            </a:r>
          </a:p>
          <a:p>
            <a:r>
              <a:rPr lang="en-US" sz="2000" dirty="0" smtClean="0"/>
              <a:t>A </a:t>
            </a:r>
            <a:r>
              <a:rPr lang="en-US" sz="2000" b="1" dirty="0" smtClean="0"/>
              <a:t>relative reference</a:t>
            </a:r>
            <a:r>
              <a:rPr lang="en-US" sz="2000" dirty="0" smtClean="0"/>
              <a:t> is the one </a:t>
            </a:r>
            <a:r>
              <a:rPr lang="en-US" sz="2000" i="1" dirty="0" smtClean="0">
                <a:solidFill>
                  <a:srgbClr val="C00000"/>
                </a:solidFill>
              </a:rPr>
              <a:t>without the $ sign</a:t>
            </a:r>
            <a:r>
              <a:rPr lang="en-US" sz="2000" dirty="0" smtClean="0"/>
              <a:t> in the row and column coordinates, like A1. By default, all cell addresses in Excel are relative.</a:t>
            </a:r>
          </a:p>
          <a:p>
            <a:r>
              <a:rPr lang="en-US" sz="2000" dirty="0" smtClean="0"/>
              <a:t>An </a:t>
            </a:r>
            <a:r>
              <a:rPr lang="en-US" sz="2000" b="1" dirty="0" smtClean="0"/>
              <a:t>absolute reference</a:t>
            </a:r>
            <a:r>
              <a:rPr lang="en-US" sz="2000" dirty="0" smtClean="0"/>
              <a:t> is the one with the dollar sign ($) in the row or column coordinates, like $A$1 or $C$12.</a:t>
            </a:r>
          </a:p>
          <a:p>
            <a:r>
              <a:rPr lang="en-US" sz="2000" dirty="0" smtClean="0"/>
              <a:t>An absolute cell reference remains unchanged when filling other cells with the same formula.</a:t>
            </a:r>
          </a:p>
          <a:p>
            <a:r>
              <a:rPr lang="en-US" sz="2000" dirty="0" smtClean="0"/>
              <a:t>Absolute addresses are especially useful when you want to perform multiple calculations with a value in a specific cell or when you need to copy a formula to other cells without changing references.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COUNTIF</a:t>
            </a:r>
            <a:r>
              <a:rPr lang="en-US" dirty="0" smtClean="0"/>
              <a:t> </a:t>
            </a:r>
            <a:r>
              <a:rPr lang="en-US" dirty="0" smtClean="0"/>
              <a:t>function</a:t>
            </a:r>
            <a:endParaRPr lang="en-US" dirty="0"/>
          </a:p>
        </p:txBody>
      </p:sp>
      <p:sp>
        <p:nvSpPr>
          <p:cNvPr id="3" name="Content Placeholder 2"/>
          <p:cNvSpPr>
            <a:spLocks noGrp="1"/>
          </p:cNvSpPr>
          <p:nvPr>
            <p:ph idx="1"/>
          </p:nvPr>
        </p:nvSpPr>
        <p:spPr/>
        <p:txBody>
          <a:bodyPr>
            <a:noAutofit/>
          </a:bodyPr>
          <a:lstStyle/>
          <a:p>
            <a:r>
              <a:rPr lang="en-US" sz="2000" dirty="0" smtClean="0"/>
              <a:t>Inputs:</a:t>
            </a:r>
            <a:br>
              <a:rPr lang="en-US" sz="2000" dirty="0" smtClean="0"/>
            </a:br>
            <a:r>
              <a:rPr lang="en-US" sz="2000" dirty="0" smtClean="0"/>
              <a:t>- </a:t>
            </a:r>
            <a:r>
              <a:rPr lang="en-US" sz="2000" b="1" dirty="0" smtClean="0"/>
              <a:t>range</a:t>
            </a:r>
            <a:r>
              <a:rPr lang="en-US" sz="2000" dirty="0" smtClean="0"/>
              <a:t>: Required.</a:t>
            </a:r>
            <a:endParaRPr lang="en-US" sz="2000" dirty="0" smtClean="0"/>
          </a:p>
          <a:p>
            <a:pPr>
              <a:buNone/>
            </a:pPr>
            <a:r>
              <a:rPr lang="en-US" sz="2000" dirty="0" smtClean="0"/>
              <a:t>	- </a:t>
            </a:r>
            <a:r>
              <a:rPr lang="en-US" sz="2000" b="1" dirty="0" smtClean="0"/>
              <a:t>criteria</a:t>
            </a:r>
            <a:r>
              <a:rPr lang="en-US" sz="2000" dirty="0" smtClean="0"/>
              <a:t>: </a:t>
            </a:r>
            <a:r>
              <a:rPr lang="en-US" sz="2000" dirty="0" smtClean="0"/>
              <a:t>Required. Selects the row in array from which to return a value</a:t>
            </a:r>
            <a:r>
              <a:rPr lang="en-US" sz="2000" dirty="0" smtClean="0"/>
              <a:t>.</a:t>
            </a:r>
          </a:p>
          <a:p>
            <a:r>
              <a:rPr lang="en-US" sz="2000" dirty="0" smtClean="0"/>
              <a:t>Output:</a:t>
            </a:r>
            <a:br>
              <a:rPr lang="en-US" sz="2000" dirty="0" smtClean="0"/>
            </a:br>
            <a:r>
              <a:rPr lang="en-US" sz="2000" dirty="0" smtClean="0"/>
              <a:t>- Returns the </a:t>
            </a:r>
            <a:r>
              <a:rPr lang="en-US" sz="2000" dirty="0" smtClean="0"/>
              <a:t>count of </a:t>
            </a:r>
            <a:r>
              <a:rPr lang="en-US" sz="2000" dirty="0" smtClean="0"/>
              <a:t>the cells with text.</a:t>
            </a:r>
            <a:endParaRPr lang="en-US" sz="2000" dirty="0" smtClean="0"/>
          </a:p>
          <a:p>
            <a:r>
              <a:rPr lang="en-US" sz="2000" dirty="0" smtClean="0"/>
              <a:t>Examples</a:t>
            </a:r>
            <a:r>
              <a:rPr lang="en-US" sz="2000" dirty="0" smtClean="0"/>
              <a:t>:</a:t>
            </a:r>
          </a:p>
          <a:p>
            <a:pPr>
              <a:buNone/>
            </a:pPr>
            <a:r>
              <a:rPr lang="en-US" sz="2000" dirty="0" smtClean="0"/>
              <a:t>	- </a:t>
            </a:r>
            <a:r>
              <a:rPr lang="en-US" sz="2000" dirty="0" smtClean="0"/>
              <a:t>COUNTIF(A7:A32</a:t>
            </a:r>
            <a:r>
              <a:rPr lang="en-US" sz="2000" dirty="0" smtClean="0"/>
              <a:t>, "*"). The </a:t>
            </a:r>
            <a:r>
              <a:rPr lang="en-US" sz="2000" dirty="0" smtClean="0"/>
              <a:t>"*" </a:t>
            </a:r>
            <a:r>
              <a:rPr lang="en-US" sz="2000" dirty="0" smtClean="0"/>
              <a:t>symbol specifies anything other than numbers to be counted, including blank spaces and special characters</a:t>
            </a:r>
            <a:r>
              <a:rPr lang="en-US" sz="2000" dirty="0" smtClean="0"/>
              <a:t>.</a:t>
            </a:r>
          </a:p>
          <a:p>
            <a:pPr>
              <a:buNone/>
            </a:pPr>
            <a:r>
              <a:rPr lang="en-US" sz="2000" dirty="0" smtClean="0"/>
              <a:t>	- COUNTIF(A7:A32, </a:t>
            </a:r>
            <a:r>
              <a:rPr lang="en-US" sz="2000" dirty="0" smtClean="0"/>
              <a:t>"?*"). </a:t>
            </a:r>
            <a:r>
              <a:rPr lang="en-US" sz="2000" dirty="0" smtClean="0"/>
              <a:t>The </a:t>
            </a:r>
            <a:r>
              <a:rPr lang="en-US" sz="2000" dirty="0" smtClean="0"/>
              <a:t>"?*" criteria counts </a:t>
            </a:r>
            <a:r>
              <a:rPr lang="en-US" sz="2000" dirty="0" smtClean="0"/>
              <a:t>the cells which have at least one </a:t>
            </a:r>
            <a:r>
              <a:rPr lang="en-US" sz="2000" smtClean="0"/>
              <a:t>character</a:t>
            </a:r>
            <a:r>
              <a:rPr lang="en-US" sz="2000" smtClean="0"/>
              <a:t>.</a:t>
            </a:r>
            <a:endParaRPr lang="en-US" sz="2000" dirty="0" smtClean="0"/>
          </a:p>
          <a:p>
            <a:pPr>
              <a:buNone/>
            </a:pPr>
            <a:endParaRPr lang="en-US" sz="2000"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 function</a:t>
            </a:r>
            <a:endParaRPr lang="en-US" dirty="0"/>
          </a:p>
        </p:txBody>
      </p:sp>
      <p:sp>
        <p:nvSpPr>
          <p:cNvPr id="3" name="Content Placeholder 2"/>
          <p:cNvSpPr>
            <a:spLocks noGrp="1"/>
          </p:cNvSpPr>
          <p:nvPr>
            <p:ph idx="1"/>
          </p:nvPr>
        </p:nvSpPr>
        <p:spPr/>
        <p:txBody>
          <a:bodyPr>
            <a:noAutofit/>
          </a:bodyPr>
          <a:lstStyle/>
          <a:p>
            <a:r>
              <a:rPr lang="en-US" sz="2000" dirty="0" smtClean="0"/>
              <a:t>Inputs:</a:t>
            </a:r>
            <a:br>
              <a:rPr lang="en-US" sz="2000" dirty="0" smtClean="0"/>
            </a:br>
            <a:r>
              <a:rPr lang="en-US" sz="2000" dirty="0" smtClean="0"/>
              <a:t>- </a:t>
            </a:r>
            <a:r>
              <a:rPr lang="en-US" sz="2000" b="1" dirty="0" smtClean="0"/>
              <a:t>array</a:t>
            </a:r>
            <a:r>
              <a:rPr lang="en-US" sz="2000" dirty="0" smtClean="0"/>
              <a:t>: Required. A range of cells or an array constant.</a:t>
            </a:r>
          </a:p>
          <a:p>
            <a:pPr>
              <a:buNone/>
            </a:pPr>
            <a:r>
              <a:rPr lang="en-US" sz="2000" dirty="0" smtClean="0"/>
              <a:t>	- </a:t>
            </a:r>
            <a:r>
              <a:rPr lang="en-US" sz="2000" b="1" dirty="0" err="1" smtClean="0"/>
              <a:t>row_num</a:t>
            </a:r>
            <a:r>
              <a:rPr lang="en-US" sz="2000" dirty="0" smtClean="0"/>
              <a:t>: Required. Selects the row in array from which to return a value.</a:t>
            </a:r>
          </a:p>
          <a:p>
            <a:pPr>
              <a:buNone/>
            </a:pPr>
            <a:r>
              <a:rPr lang="en-US" sz="2000" dirty="0" smtClean="0"/>
              <a:t>	- </a:t>
            </a:r>
            <a:r>
              <a:rPr lang="en-US" sz="2000" b="1" dirty="0" err="1" smtClean="0"/>
              <a:t>column_num</a:t>
            </a:r>
            <a:r>
              <a:rPr lang="en-US" sz="2000" dirty="0" smtClean="0"/>
              <a:t>: Optional. Selects the column in array from which to return a value. </a:t>
            </a:r>
          </a:p>
          <a:p>
            <a:r>
              <a:rPr lang="en-US" sz="2000" dirty="0" smtClean="0"/>
              <a:t>Output:</a:t>
            </a:r>
            <a:br>
              <a:rPr lang="en-US" sz="2000" dirty="0" smtClean="0"/>
            </a:br>
            <a:r>
              <a:rPr lang="en-US" sz="2000" dirty="0" smtClean="0"/>
              <a:t>- Returns the value of an element in a table or an array, </a:t>
            </a:r>
            <a:r>
              <a:rPr lang="en-US" sz="2000" b="1" dirty="0" smtClean="0"/>
              <a:t>selected by </a:t>
            </a:r>
            <a:r>
              <a:rPr lang="en-US" sz="2000" dirty="0" smtClean="0"/>
              <a:t>the row and column number indexes.</a:t>
            </a:r>
            <a:endParaRPr lang="en-US" sz="2000" dirty="0"/>
          </a:p>
          <a:p>
            <a:r>
              <a:rPr lang="en-US" sz="2000" dirty="0" smtClean="0"/>
              <a:t>Examples:</a:t>
            </a:r>
          </a:p>
          <a:p>
            <a:pPr>
              <a:buNone/>
            </a:pPr>
            <a:r>
              <a:rPr lang="en-US" sz="2000" dirty="0" smtClean="0"/>
              <a:t>	- INDEX(A2:C6, 2, 3) = The intersection of the second row and third column in the range A2:C6, which is the contents of cell C3.</a:t>
            </a:r>
          </a:p>
          <a:p>
            <a:pPr>
              <a:buNone/>
            </a:pPr>
            <a:r>
              <a:rPr lang="en-US" sz="2000" dirty="0" smtClean="0"/>
              <a:t>	- INDEX(L18:W18&lt;&gt;0,) = TRUE/FALSE</a:t>
            </a:r>
          </a:p>
          <a:p>
            <a:pPr>
              <a:buNone/>
            </a:pPr>
            <a:r>
              <a:rPr lang="en-US" sz="2000" dirty="0" smtClean="0"/>
              <a:t>	- INDEX($L$15:$W$15,1) = The contents of cell $L$15.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MATCH function</a:t>
            </a:r>
            <a:endParaRPr lang="en-US" dirty="0"/>
          </a:p>
        </p:txBody>
      </p:sp>
      <p:sp>
        <p:nvSpPr>
          <p:cNvPr id="3" name="Content Placeholder 2"/>
          <p:cNvSpPr>
            <a:spLocks noGrp="1"/>
          </p:cNvSpPr>
          <p:nvPr>
            <p:ph idx="1"/>
          </p:nvPr>
        </p:nvSpPr>
        <p:spPr/>
        <p:txBody>
          <a:bodyPr>
            <a:normAutofit/>
          </a:bodyPr>
          <a:lstStyle/>
          <a:p>
            <a:r>
              <a:rPr lang="en-US" sz="2400" dirty="0" smtClean="0"/>
              <a:t>Inputs:</a:t>
            </a:r>
            <a:br>
              <a:rPr lang="en-US" sz="2400" dirty="0" smtClean="0"/>
            </a:br>
            <a:r>
              <a:rPr lang="en-US" sz="2400" dirty="0" smtClean="0"/>
              <a:t>- </a:t>
            </a:r>
            <a:r>
              <a:rPr lang="en-US" sz="2400" b="1" dirty="0" err="1" smtClean="0"/>
              <a:t>lookup_value</a:t>
            </a:r>
            <a:r>
              <a:rPr lang="en-US" sz="2400" dirty="0" smtClean="0"/>
              <a:t>: Required. The value that you want to match in </a:t>
            </a:r>
            <a:r>
              <a:rPr lang="en-US" sz="2400" dirty="0" err="1" smtClean="0"/>
              <a:t>lookup_array</a:t>
            </a:r>
            <a:r>
              <a:rPr lang="en-US" sz="2400" dirty="0" smtClean="0"/>
              <a:t>.</a:t>
            </a:r>
          </a:p>
          <a:p>
            <a:pPr>
              <a:buNone/>
            </a:pPr>
            <a:r>
              <a:rPr lang="en-US" sz="2400" dirty="0" smtClean="0"/>
              <a:t>	- </a:t>
            </a:r>
            <a:r>
              <a:rPr lang="en-US" sz="2400" b="1" dirty="0" err="1" smtClean="0"/>
              <a:t>lookup_array</a:t>
            </a:r>
            <a:r>
              <a:rPr lang="en-US" sz="2400" dirty="0" smtClean="0"/>
              <a:t>: Required. The range of cells being searched.</a:t>
            </a:r>
          </a:p>
          <a:p>
            <a:pPr>
              <a:buNone/>
            </a:pPr>
            <a:r>
              <a:rPr lang="en-US" sz="2400" dirty="0" smtClean="0"/>
              <a:t>	- </a:t>
            </a:r>
            <a:r>
              <a:rPr lang="en-US" sz="2400" b="1" dirty="0" err="1" smtClean="0"/>
              <a:t>match_type</a:t>
            </a:r>
            <a:r>
              <a:rPr lang="en-US" sz="2400" dirty="0" smtClean="0"/>
              <a:t>: Optional. The number -1 (smallest value), 0 (first value), or 1 (largest value, default).</a:t>
            </a:r>
          </a:p>
          <a:p>
            <a:r>
              <a:rPr lang="en-US" sz="2400" dirty="0" smtClean="0"/>
              <a:t>Output:</a:t>
            </a:r>
            <a:br>
              <a:rPr lang="en-US" sz="2400" dirty="0" smtClean="0"/>
            </a:br>
            <a:r>
              <a:rPr lang="en-US" sz="2400" dirty="0" smtClean="0"/>
              <a:t>- Returns the </a:t>
            </a:r>
            <a:r>
              <a:rPr lang="en-US" sz="2400" b="1" dirty="0" smtClean="0"/>
              <a:t>position</a:t>
            </a:r>
            <a:r>
              <a:rPr lang="en-US" sz="2400" dirty="0" smtClean="0"/>
              <a:t> of the matched value within </a:t>
            </a:r>
            <a:r>
              <a:rPr lang="en-US" sz="2400" b="1" i="1" dirty="0" err="1" smtClean="0"/>
              <a:t>lookup_array</a:t>
            </a:r>
            <a:r>
              <a:rPr lang="en-US" sz="2400" dirty="0" smtClean="0"/>
              <a:t>, not the value itself. </a:t>
            </a:r>
            <a:endParaRPr lang="en-US" sz="2400" dirty="0"/>
          </a:p>
          <a:p>
            <a:r>
              <a:rPr lang="en-US" sz="2400" dirty="0" smtClean="0"/>
              <a:t>Examples:</a:t>
            </a:r>
          </a:p>
          <a:p>
            <a:pPr>
              <a:buNone/>
            </a:pPr>
            <a:r>
              <a:rPr lang="en-US" sz="2400" dirty="0" smtClean="0"/>
              <a:t>	- MATCH(TRUE,INDEX(L18:W18&lt;&gt;0,),0) =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WORKDAY function</a:t>
            </a:r>
            <a:endParaRPr lang="en-US" dirty="0"/>
          </a:p>
        </p:txBody>
      </p:sp>
      <p:sp>
        <p:nvSpPr>
          <p:cNvPr id="3" name="Content Placeholder 2"/>
          <p:cNvSpPr>
            <a:spLocks noGrp="1"/>
          </p:cNvSpPr>
          <p:nvPr>
            <p:ph idx="1"/>
          </p:nvPr>
        </p:nvSpPr>
        <p:spPr/>
        <p:txBody>
          <a:bodyPr>
            <a:normAutofit/>
          </a:bodyPr>
          <a:lstStyle/>
          <a:p>
            <a:r>
              <a:rPr lang="en-US" sz="2400" dirty="0" smtClean="0"/>
              <a:t>Inputs:</a:t>
            </a:r>
            <a:br>
              <a:rPr lang="en-US" sz="2400" dirty="0" smtClean="0"/>
            </a:br>
            <a:r>
              <a:rPr lang="en-US" sz="2400" dirty="0" smtClean="0"/>
              <a:t>- </a:t>
            </a:r>
            <a:r>
              <a:rPr lang="en-US" sz="2400" dirty="0" err="1" smtClean="0"/>
              <a:t>Start_date</a:t>
            </a:r>
            <a:r>
              <a:rPr lang="en-US" sz="2400" dirty="0" smtClean="0"/>
              <a:t>: Required.</a:t>
            </a:r>
            <a:br>
              <a:rPr lang="en-US" sz="2400" dirty="0" smtClean="0"/>
            </a:br>
            <a:r>
              <a:rPr lang="en-US" sz="2400" dirty="0" smtClean="0"/>
              <a:t>- Days: Required. The number of </a:t>
            </a:r>
            <a:r>
              <a:rPr lang="en-US" sz="2400" dirty="0" err="1" smtClean="0"/>
              <a:t>nonweekend</a:t>
            </a:r>
            <a:r>
              <a:rPr lang="en-US" sz="2400" dirty="0" smtClean="0"/>
              <a:t> and </a:t>
            </a:r>
            <a:r>
              <a:rPr lang="en-US" sz="2400" dirty="0" err="1" smtClean="0"/>
              <a:t>nonholiday</a:t>
            </a:r>
            <a:r>
              <a:rPr lang="en-US" sz="2400" dirty="0" smtClean="0"/>
              <a:t> days after </a:t>
            </a:r>
            <a:r>
              <a:rPr lang="en-US" sz="2400" dirty="0" err="1" smtClean="0"/>
              <a:t>Start_date</a:t>
            </a:r>
            <a:r>
              <a:rPr lang="en-US" sz="2400" dirty="0" smtClean="0"/>
              <a:t>.</a:t>
            </a:r>
            <a:br>
              <a:rPr lang="en-US" sz="2400" dirty="0" smtClean="0"/>
            </a:br>
            <a:r>
              <a:rPr lang="en-US" sz="2400" dirty="0" smtClean="0"/>
              <a:t>- Holidays: Optional. An optional list of one or more dates to exclude from the working calendar, such as state and federal holidays and floating holidays.</a:t>
            </a:r>
          </a:p>
          <a:p>
            <a:r>
              <a:rPr lang="en-US" sz="2400" dirty="0" smtClean="0"/>
              <a:t>Output:</a:t>
            </a:r>
            <a:br>
              <a:rPr lang="en-US" sz="2400" dirty="0" smtClean="0"/>
            </a:br>
            <a:r>
              <a:rPr lang="en-US" sz="2400" dirty="0" smtClean="0"/>
              <a:t>- </a:t>
            </a:r>
            <a:r>
              <a:rPr lang="en-US" sz="2400" dirty="0" err="1" smtClean="0"/>
              <a:t>End_date</a:t>
            </a:r>
            <a:r>
              <a:rPr lang="en-US" sz="2400" dirty="0" smtClean="0"/>
              <a:t> = </a:t>
            </a:r>
            <a:r>
              <a:rPr lang="en-US" sz="2400" dirty="0" err="1" smtClean="0"/>
              <a:t>Start_date</a:t>
            </a:r>
            <a:r>
              <a:rPr lang="en-US" sz="2400" dirty="0" smtClean="0"/>
              <a:t> + number of working days before or after a date (the starting date) - Holidays.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SUBTOTAL </a:t>
            </a:r>
            <a:r>
              <a:rPr lang="en-US" dirty="0" smtClean="0"/>
              <a:t>function</a:t>
            </a:r>
            <a:endParaRPr lang="en-US" dirty="0"/>
          </a:p>
        </p:txBody>
      </p:sp>
      <p:sp>
        <p:nvSpPr>
          <p:cNvPr id="3" name="Content Placeholder 2"/>
          <p:cNvSpPr>
            <a:spLocks noGrp="1"/>
          </p:cNvSpPr>
          <p:nvPr>
            <p:ph idx="1"/>
          </p:nvPr>
        </p:nvSpPr>
        <p:spPr/>
        <p:txBody>
          <a:bodyPr>
            <a:normAutofit/>
          </a:bodyPr>
          <a:lstStyle/>
          <a:p>
            <a:r>
              <a:rPr lang="en-US" sz="2400" dirty="0" smtClean="0"/>
              <a:t>Inputs:</a:t>
            </a:r>
          </a:p>
          <a:p>
            <a:pPr>
              <a:buNone/>
            </a:pPr>
            <a:r>
              <a:rPr lang="en-US" sz="2400" dirty="0" smtClean="0"/>
              <a:t>	- </a:t>
            </a:r>
            <a:r>
              <a:rPr lang="en-US" sz="2400" dirty="0" err="1" smtClean="0"/>
              <a:t>function_num</a:t>
            </a:r>
            <a:r>
              <a:rPr lang="en-US" sz="2400" dirty="0" smtClean="0"/>
              <a:t>: Required. Examples: 109 = SUM, 101 = AVERAGE.</a:t>
            </a:r>
          </a:p>
          <a:p>
            <a:pPr>
              <a:buNone/>
            </a:pPr>
            <a:r>
              <a:rPr lang="en-US" sz="2400" dirty="0" smtClean="0"/>
              <a:t>	- ref1: Required. The first named range or reference for which you want the subtotal. Range example: A2:A5. Column name example: [Hours Total].</a:t>
            </a:r>
          </a:p>
          <a:p>
            <a:r>
              <a:rPr lang="en-US" sz="2400" dirty="0" smtClean="0"/>
              <a:t>Output:</a:t>
            </a:r>
          </a:p>
          <a:p>
            <a:pPr>
              <a:buNone/>
            </a:pPr>
            <a:r>
              <a:rPr lang="en-US" sz="2400" dirty="0" smtClean="0"/>
              <a:t>	- Returns a subtotal (e.g. SUM) in a list or database (e.g. ref1).</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SUBTOTAL function?</a:t>
            </a:r>
            <a:endParaRPr lang="en-US" dirty="0"/>
          </a:p>
        </p:txBody>
      </p:sp>
      <p:sp>
        <p:nvSpPr>
          <p:cNvPr id="3" name="Content Placeholder 2"/>
          <p:cNvSpPr>
            <a:spLocks noGrp="1"/>
          </p:cNvSpPr>
          <p:nvPr>
            <p:ph idx="1"/>
          </p:nvPr>
        </p:nvSpPr>
        <p:spPr/>
        <p:txBody>
          <a:bodyPr>
            <a:normAutofit/>
          </a:bodyPr>
          <a:lstStyle/>
          <a:p>
            <a:r>
              <a:rPr lang="en-US" sz="2400" dirty="0" smtClean="0"/>
              <a:t>You can use SUBTOTAL to ignore values in hidden rows.</a:t>
            </a:r>
          </a:p>
          <a:p>
            <a:r>
              <a:rPr lang="en-US" sz="2400" dirty="0" smtClean="0"/>
              <a:t>You can use SUBTOTAL to dynamically summarize data</a:t>
            </a:r>
          </a:p>
          <a:p>
            <a:r>
              <a:rPr lang="en-US" sz="2400" dirty="0" smtClean="0"/>
              <a:t>If there are </a:t>
            </a:r>
            <a:r>
              <a:rPr lang="en-US" sz="2400" i="1" dirty="0" smtClean="0"/>
              <a:t>subtotals</a:t>
            </a:r>
            <a:r>
              <a:rPr lang="en-US" sz="2400" dirty="0" smtClean="0"/>
              <a:t> in SUBTOTAL range, they will be neglected.</a:t>
            </a:r>
          </a:p>
          <a:p>
            <a:endParaRPr lang="en-US" sz="2400" dirty="0"/>
          </a:p>
        </p:txBody>
      </p:sp>
      <p:pic>
        <p:nvPicPr>
          <p:cNvPr id="1029" name="Picture 5" descr="Excel Subtotal Function - Avoid Double Counting | MyExcelOnline"/>
          <p:cNvPicPr>
            <a:picLocks noChangeAspect="1" noChangeArrowheads="1"/>
          </p:cNvPicPr>
          <p:nvPr/>
        </p:nvPicPr>
        <p:blipFill>
          <a:blip r:embed="rId2" cstate="print"/>
          <a:srcRect/>
          <a:stretch>
            <a:fillRect/>
          </a:stretch>
        </p:blipFill>
        <p:spPr bwMode="auto">
          <a:xfrm>
            <a:off x="2590800" y="3733800"/>
            <a:ext cx="3581400" cy="229235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dirty="0" smtClean="0"/>
              <a:t>View or edit Excel names (variables)</a:t>
            </a:r>
            <a:endParaRPr lang="en-US" sz="4200" dirty="0"/>
          </a:p>
        </p:txBody>
      </p:sp>
      <p:sp>
        <p:nvSpPr>
          <p:cNvPr id="3" name="Content Placeholder 2"/>
          <p:cNvSpPr>
            <a:spLocks noGrp="1"/>
          </p:cNvSpPr>
          <p:nvPr>
            <p:ph idx="1"/>
          </p:nvPr>
        </p:nvSpPr>
        <p:spPr/>
        <p:txBody>
          <a:bodyPr>
            <a:noAutofit/>
          </a:bodyPr>
          <a:lstStyle/>
          <a:p>
            <a:r>
              <a:rPr lang="en-US" sz="1800" dirty="0" smtClean="0"/>
              <a:t>Variables in Microsoft Excel are a method of assigning a numerical value, equation or formula to a shorter name, cell reference or function.</a:t>
            </a:r>
          </a:p>
          <a:p>
            <a:r>
              <a:rPr lang="en-US" sz="1800" dirty="0" smtClean="0"/>
              <a:t>The "Cell Reference" feature is part of the Excel program that allows you to insert the value of a specific cell into a formula using the name of the cell. You can find the cell name by looking at the column the cell is in, labeled with letters, and then looking at the row the cell is in, labeled with numbers. Combining the letters and numbers creates the name of the cell. For example, a cell in column "C" and row "5" has the name C5 as its cell reference.</a:t>
            </a:r>
          </a:p>
          <a:p>
            <a:r>
              <a:rPr lang="en-US" sz="1800" dirty="0" smtClean="0"/>
              <a:t>The "Defined Names" group beneath the "Formula" tab of the Excel program allows you to name what a specific cell is without using it as a reference. For example, you can name a cell "Sum" and another cell "Difference" and use those names in other Excel functions.</a:t>
            </a:r>
          </a:p>
          <a:p>
            <a:r>
              <a:rPr lang="en-US" sz="1800" dirty="0" smtClean="0"/>
              <a:t>To view or edit Excel names (variables):</a:t>
            </a:r>
            <a:br>
              <a:rPr lang="en-US" sz="1800" dirty="0" smtClean="0"/>
            </a:br>
            <a:r>
              <a:rPr lang="en-US" sz="1800" dirty="0" smtClean="0"/>
              <a:t>- Click Formulas.</a:t>
            </a:r>
            <a:br>
              <a:rPr lang="en-US" sz="1800" dirty="0" smtClean="0"/>
            </a:br>
            <a:r>
              <a:rPr lang="en-US" sz="1800" dirty="0" smtClean="0"/>
              <a:t>- Click Name Manager.</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Excel structured reference</a:t>
            </a:r>
            <a:endParaRPr lang="en-US" dirty="0"/>
          </a:p>
        </p:txBody>
      </p:sp>
      <p:sp>
        <p:nvSpPr>
          <p:cNvPr id="3" name="Content Placeholder 2"/>
          <p:cNvSpPr>
            <a:spLocks noGrp="1"/>
          </p:cNvSpPr>
          <p:nvPr>
            <p:ph idx="1"/>
          </p:nvPr>
        </p:nvSpPr>
        <p:spPr/>
        <p:txBody>
          <a:bodyPr>
            <a:noAutofit/>
          </a:bodyPr>
          <a:lstStyle/>
          <a:p>
            <a:r>
              <a:rPr lang="en-US" sz="1800" dirty="0" smtClean="0"/>
              <a:t>To add up the numbers in the "Sales" column of Table1, you use a structured reference:</a:t>
            </a:r>
            <a:br>
              <a:rPr lang="en-US" sz="1800" dirty="0" smtClean="0"/>
            </a:br>
            <a:r>
              <a:rPr lang="en-US" sz="1800" dirty="0" smtClean="0"/>
              <a:t>=SUM(Table1[Sales])</a:t>
            </a:r>
          </a:p>
          <a:p>
            <a:r>
              <a:rPr lang="en-US" sz="1800" dirty="0" smtClean="0"/>
              <a:t>A reference includes three components:</a:t>
            </a:r>
            <a:br>
              <a:rPr lang="en-US" sz="1800" dirty="0" smtClean="0"/>
            </a:br>
            <a:r>
              <a:rPr lang="en-US" sz="1800" dirty="0" smtClean="0"/>
              <a:t>- Table name</a:t>
            </a:r>
            <a:br>
              <a:rPr lang="en-US" sz="1800" dirty="0" smtClean="0"/>
            </a:br>
            <a:r>
              <a:rPr lang="en-US" sz="1800" dirty="0" smtClean="0"/>
              <a:t>- Item </a:t>
            </a:r>
            <a:r>
              <a:rPr lang="en-US" sz="1800" dirty="0" err="1" smtClean="0"/>
              <a:t>specifier</a:t>
            </a:r>
            <a:r>
              <a:rPr lang="en-US" sz="1800" dirty="0" smtClean="0"/>
              <a:t/>
            </a:r>
            <a:br>
              <a:rPr lang="en-US" sz="1800" dirty="0" smtClean="0"/>
            </a:br>
            <a:r>
              <a:rPr lang="en-US" sz="1800" dirty="0" smtClean="0"/>
              <a:t>- Column </a:t>
            </a:r>
            <a:r>
              <a:rPr lang="en-US" sz="1800" dirty="0" err="1" smtClean="0"/>
              <a:t>specifiers</a:t>
            </a:r>
            <a:r>
              <a:rPr lang="en-US" sz="1800" dirty="0" smtClean="0"/>
              <a:t/>
            </a:r>
            <a:br>
              <a:rPr lang="en-US" sz="1800" dirty="0" smtClean="0"/>
            </a:br>
            <a:r>
              <a:rPr lang="en-US" sz="1800" dirty="0" smtClean="0"/>
              <a:t>1. The table name references only the table data, without header row or total rows. It can be a default table name like Table1 or a custom name like Regions.</a:t>
            </a:r>
            <a:br>
              <a:rPr lang="en-US" sz="1800" dirty="0" smtClean="0"/>
            </a:br>
            <a:r>
              <a:rPr lang="en-US" sz="1800" dirty="0" smtClean="0"/>
              <a:t>2. Column </a:t>
            </a:r>
            <a:r>
              <a:rPr lang="en-US" sz="1800" dirty="0" err="1" smtClean="0"/>
              <a:t>specifier</a:t>
            </a:r>
            <a:r>
              <a:rPr lang="en-US" sz="1800" dirty="0" smtClean="0"/>
              <a:t> references the data in the corresponding column, without the header row and total row. A column </a:t>
            </a:r>
            <a:r>
              <a:rPr lang="en-US" sz="1800" dirty="0" err="1" smtClean="0"/>
              <a:t>specifier</a:t>
            </a:r>
            <a:r>
              <a:rPr lang="en-US" sz="1800" dirty="0" smtClean="0"/>
              <a:t> is represented by the column name enclosed in brackets, e.g. [South].</a:t>
            </a:r>
            <a:br>
              <a:rPr lang="en-US" sz="1800" dirty="0" smtClean="0"/>
            </a:br>
            <a:r>
              <a:rPr lang="en-US" sz="1800" dirty="0" smtClean="0"/>
              <a:t>3. Item </a:t>
            </a:r>
            <a:r>
              <a:rPr lang="en-US" sz="1800" dirty="0" err="1" smtClean="0"/>
              <a:t>specifier</a:t>
            </a:r>
            <a:r>
              <a:rPr lang="en-US" sz="1800" dirty="0" smtClean="0"/>
              <a:t> refer to specific parts of a table, you can use any of the following </a:t>
            </a:r>
            <a:r>
              <a:rPr lang="en-US" sz="1800" dirty="0" err="1" smtClean="0"/>
              <a:t>specifiers</a:t>
            </a:r>
            <a:r>
              <a:rPr lang="en-US" sz="1800" dirty="0" smtClean="0"/>
              <a:t>.</a:t>
            </a:r>
            <a:br>
              <a:rPr lang="en-US" sz="1800" dirty="0" smtClean="0"/>
            </a:br>
            <a:r>
              <a:rPr lang="en-US" sz="1800" dirty="0" smtClean="0"/>
              <a:t>#All: The entire table, including column headers, data, and totals (if any).</a:t>
            </a:r>
            <a:br>
              <a:rPr lang="en-US" sz="1800" dirty="0" smtClean="0"/>
            </a:br>
            <a:r>
              <a:rPr lang="en-US" sz="1800" dirty="0" smtClean="0"/>
              <a:t>#This Row, or @, or @[Column Name]: Just the cells in the same row as the formula.</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dirty="0" smtClean="0"/>
              <a:t>Excel structured reference Example 1</a:t>
            </a:r>
            <a:endParaRPr lang="en-US" sz="4200" dirty="0"/>
          </a:p>
        </p:txBody>
      </p:sp>
      <p:sp>
        <p:nvSpPr>
          <p:cNvPr id="3" name="Content Placeholder 2"/>
          <p:cNvSpPr>
            <a:spLocks noGrp="1"/>
          </p:cNvSpPr>
          <p:nvPr>
            <p:ph idx="1"/>
          </p:nvPr>
        </p:nvSpPr>
        <p:spPr/>
        <p:txBody>
          <a:bodyPr>
            <a:noAutofit/>
          </a:bodyPr>
          <a:lstStyle/>
          <a:p>
            <a:r>
              <a:rPr lang="en-US" sz="2000" dirty="0" smtClean="0">
                <a:latin typeface="Consolas" pitchFamily="49" charset="0"/>
              </a:rPr>
              <a:t>Margin = 'Project Overview - 1'!F31</a:t>
            </a:r>
          </a:p>
          <a:p>
            <a:r>
              <a:rPr lang="en-US" sz="2000" dirty="0" smtClean="0">
                <a:latin typeface="Consolas" pitchFamily="49" charset="0"/>
              </a:rPr>
              <a:t>Margin = IF('Project Overview - 1'!F28&lt;&gt;0, 'Project Overview - 1'!F30/'Project Overview - 1'!F28, 0)</a:t>
            </a:r>
            <a:endParaRPr lang="en-US" sz="2000" dirty="0">
              <a:latin typeface="Consolas"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dirty="0" smtClean="0"/>
              <a:t>Excel structured reference Example 2</a:t>
            </a:r>
            <a:endParaRPr lang="en-US" sz="4200" dirty="0"/>
          </a:p>
        </p:txBody>
      </p:sp>
      <p:sp>
        <p:nvSpPr>
          <p:cNvPr id="3" name="Content Placeholder 2"/>
          <p:cNvSpPr>
            <a:spLocks noGrp="1"/>
          </p:cNvSpPr>
          <p:nvPr>
            <p:ph idx="1"/>
          </p:nvPr>
        </p:nvSpPr>
        <p:spPr/>
        <p:txBody>
          <a:bodyPr>
            <a:noAutofit/>
          </a:bodyPr>
          <a:lstStyle/>
          <a:p>
            <a:r>
              <a:rPr lang="en-US" sz="2000" dirty="0" smtClean="0">
                <a:latin typeface="Consolas" pitchFamily="49" charset="0"/>
              </a:rPr>
              <a:t>Margin = IF(</a:t>
            </a:r>
            <a:br>
              <a:rPr lang="en-US" sz="2000" dirty="0" smtClean="0">
                <a:latin typeface="Consolas" pitchFamily="49" charset="0"/>
              </a:rPr>
            </a:br>
            <a:r>
              <a:rPr lang="en-US" sz="2000" dirty="0" smtClean="0">
                <a:latin typeface="Consolas" pitchFamily="49" charset="0"/>
              </a:rPr>
              <a:t>AND(</a:t>
            </a:r>
            <a:br>
              <a:rPr lang="en-US" sz="2000" dirty="0" smtClean="0">
                <a:latin typeface="Consolas" pitchFamily="49" charset="0"/>
              </a:rPr>
            </a:br>
            <a:r>
              <a:rPr lang="en-US" sz="2000" dirty="0" err="1" smtClean="0">
                <a:latin typeface="Consolas" pitchFamily="49" charset="0"/>
              </a:rPr>
              <a:t>tbl_Pricing_Model</a:t>
            </a:r>
            <a:r>
              <a:rPr lang="en-US" sz="2000" dirty="0" smtClean="0">
                <a:latin typeface="Consolas" pitchFamily="49" charset="0"/>
              </a:rPr>
              <a:t>[[#This Row], [</a:t>
            </a:r>
            <a:r>
              <a:rPr lang="en-US" sz="2000" dirty="0" err="1" smtClean="0">
                <a:latin typeface="Consolas" pitchFamily="49" charset="0"/>
              </a:rPr>
              <a:t>PlannedMarket</a:t>
            </a:r>
            <a:r>
              <a:rPr lang="en-US" sz="2000" dirty="0" smtClean="0">
                <a:latin typeface="Consolas" pitchFamily="49" charset="0"/>
              </a:rPr>
              <a:t>]] &lt;&gt; "",</a:t>
            </a:r>
            <a:br>
              <a:rPr lang="en-US" sz="2000" dirty="0" smtClean="0">
                <a:latin typeface="Consolas" pitchFamily="49" charset="0"/>
              </a:rPr>
            </a:br>
            <a:r>
              <a:rPr lang="en-US" sz="2000" dirty="0" err="1" smtClean="0">
                <a:latin typeface="Consolas" pitchFamily="49" charset="0"/>
              </a:rPr>
              <a:t>tbl_Pricing_Model</a:t>
            </a:r>
            <a:r>
              <a:rPr lang="en-US" sz="2000" dirty="0" smtClean="0">
                <a:latin typeface="Consolas" pitchFamily="49" charset="0"/>
              </a:rPr>
              <a:t>[[#This Row], [</a:t>
            </a:r>
            <a:r>
              <a:rPr lang="en-US" sz="2000" dirty="0" err="1" smtClean="0">
                <a:latin typeface="Consolas" pitchFamily="49" charset="0"/>
              </a:rPr>
              <a:t>ProjectedHourlyRate</a:t>
            </a:r>
            <a:r>
              <a:rPr lang="en-US" sz="2000" dirty="0" smtClean="0">
                <a:latin typeface="Consolas" pitchFamily="49" charset="0"/>
              </a:rPr>
              <a:t>]] &lt;&gt; "",</a:t>
            </a:r>
            <a:br>
              <a:rPr lang="en-US" sz="2000" dirty="0" smtClean="0">
                <a:latin typeface="Consolas" pitchFamily="49" charset="0"/>
              </a:rPr>
            </a:br>
            <a:r>
              <a:rPr lang="en-US" sz="2000" dirty="0" err="1" smtClean="0">
                <a:latin typeface="Consolas" pitchFamily="49" charset="0"/>
              </a:rPr>
              <a:t>tbl_Pricing_Model</a:t>
            </a:r>
            <a:r>
              <a:rPr lang="en-US" sz="2000" dirty="0" smtClean="0">
                <a:latin typeface="Consolas" pitchFamily="49" charset="0"/>
              </a:rPr>
              <a:t>[[#This Row], [</a:t>
            </a:r>
            <a:r>
              <a:rPr lang="en-US" sz="2000" dirty="0" err="1" smtClean="0">
                <a:latin typeface="Consolas" pitchFamily="49" charset="0"/>
              </a:rPr>
              <a:t>ProjectedLCR</a:t>
            </a:r>
            <a:r>
              <a:rPr lang="en-US" sz="2000" dirty="0" smtClean="0">
                <a:latin typeface="Consolas" pitchFamily="49" charset="0"/>
              </a:rPr>
              <a:t>]] &lt;&gt; 0</a:t>
            </a:r>
            <a:br>
              <a:rPr lang="en-US" sz="2000" dirty="0" smtClean="0">
                <a:latin typeface="Consolas" pitchFamily="49" charset="0"/>
              </a:rPr>
            </a:br>
            <a:r>
              <a:rPr lang="en-US" sz="2000" dirty="0" smtClean="0">
                <a:latin typeface="Consolas" pitchFamily="49" charset="0"/>
              </a:rPr>
              <a:t>),</a:t>
            </a:r>
            <a:br>
              <a:rPr lang="en-US" sz="2000" dirty="0" smtClean="0">
                <a:latin typeface="Consolas" pitchFamily="49" charset="0"/>
              </a:rPr>
            </a:br>
            <a:r>
              <a:rPr lang="en-US" sz="2000" dirty="0" smtClean="0">
                <a:latin typeface="Consolas" pitchFamily="49" charset="0"/>
              </a:rPr>
              <a:t>(</a:t>
            </a:r>
            <a:r>
              <a:rPr lang="en-US" sz="2000" dirty="0" err="1" smtClean="0">
                <a:latin typeface="Consolas" pitchFamily="49" charset="0"/>
              </a:rPr>
              <a:t>tbl_Pricing_Model</a:t>
            </a:r>
            <a:r>
              <a:rPr lang="en-US" sz="2000" dirty="0" smtClean="0">
                <a:latin typeface="Consolas" pitchFamily="49" charset="0"/>
              </a:rPr>
              <a:t>[[#This Row], [</a:t>
            </a:r>
            <a:r>
              <a:rPr lang="en-US" sz="2000" dirty="0" err="1" smtClean="0">
                <a:latin typeface="Consolas" pitchFamily="49" charset="0"/>
              </a:rPr>
              <a:t>ProjectedHourlyRate</a:t>
            </a:r>
            <a:r>
              <a:rPr lang="en-US" sz="2000" dirty="0" smtClean="0">
                <a:latin typeface="Consolas" pitchFamily="49" charset="0"/>
              </a:rPr>
              <a:t>]] - </a:t>
            </a:r>
            <a:r>
              <a:rPr lang="en-US" sz="2000" dirty="0" err="1" smtClean="0">
                <a:latin typeface="Consolas" pitchFamily="49" charset="0"/>
              </a:rPr>
              <a:t>tbl_Pricing_Model</a:t>
            </a:r>
            <a:r>
              <a:rPr lang="en-US" sz="2000" dirty="0" smtClean="0">
                <a:latin typeface="Consolas" pitchFamily="49" charset="0"/>
              </a:rPr>
              <a:t>[[#This Row], [</a:t>
            </a:r>
            <a:r>
              <a:rPr lang="en-US" sz="2000" dirty="0" err="1" smtClean="0">
                <a:latin typeface="Consolas" pitchFamily="49" charset="0"/>
              </a:rPr>
              <a:t>ProjectedLCR</a:t>
            </a:r>
            <a:r>
              <a:rPr lang="en-US" sz="2000" dirty="0" smtClean="0">
                <a:latin typeface="Consolas" pitchFamily="49" charset="0"/>
              </a:rPr>
              <a:t>]]),</a:t>
            </a:r>
            <a:br>
              <a:rPr lang="en-US" sz="2000" dirty="0" smtClean="0">
                <a:latin typeface="Consolas" pitchFamily="49" charset="0"/>
              </a:rPr>
            </a:br>
            <a:r>
              <a:rPr lang="en-US" sz="2000" dirty="0" smtClean="0">
                <a:latin typeface="Consolas" pitchFamily="49" charset="0"/>
              </a:rPr>
              <a:t>""</a:t>
            </a:r>
            <a:br>
              <a:rPr lang="en-US" sz="2000" dirty="0" smtClean="0">
                <a:latin typeface="Consolas" pitchFamily="49" charset="0"/>
              </a:rPr>
            </a:br>
            <a:r>
              <a:rPr lang="en-US" sz="2000" dirty="0" smtClean="0">
                <a:latin typeface="Consolas" pitchFamily="49" charset="0"/>
              </a:rPr>
              <a:t>)</a:t>
            </a:r>
            <a:endParaRPr lang="en-US" sz="2000" dirty="0">
              <a:latin typeface="Consolas"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Excel file types</a:t>
            </a:r>
            <a:endParaRPr lang="en-US" dirty="0"/>
          </a:p>
        </p:txBody>
      </p:sp>
      <p:sp>
        <p:nvSpPr>
          <p:cNvPr id="3" name="Content Placeholder 2"/>
          <p:cNvSpPr>
            <a:spLocks noGrp="1"/>
          </p:cNvSpPr>
          <p:nvPr>
            <p:ph idx="1"/>
          </p:nvPr>
        </p:nvSpPr>
        <p:spPr/>
        <p:txBody>
          <a:bodyPr>
            <a:noAutofit/>
          </a:bodyPr>
          <a:lstStyle/>
          <a:p>
            <a:r>
              <a:rPr lang="en-US" sz="2400" dirty="0" smtClean="0"/>
              <a:t>A CSV file uses comma-separated value TEXT format while An XLS file uses the standard BINARY format.</a:t>
            </a:r>
          </a:p>
          <a:p>
            <a:r>
              <a:rPr lang="en-US" sz="2400" dirty="0" smtClean="0"/>
              <a:t>XLSX file uses a format that is based on XML. XLSX is also compatible with software outside Windows, such as </a:t>
            </a:r>
            <a:r>
              <a:rPr lang="en-US" sz="2400" dirty="0" err="1" smtClean="0"/>
              <a:t>MacOS</a:t>
            </a:r>
            <a:r>
              <a:rPr lang="en-US" sz="2400" dirty="0" smtClean="0"/>
              <a:t>, Android devices, and </a:t>
            </a:r>
            <a:r>
              <a:rPr lang="en-US" sz="2400" dirty="0" err="1" smtClean="0"/>
              <a:t>iOS</a:t>
            </a:r>
            <a:r>
              <a:rPr lang="en-US" sz="2400" dirty="0" smtClean="0"/>
              <a:t> devices.</a:t>
            </a:r>
          </a:p>
          <a:p>
            <a:r>
              <a:rPr lang="en-US" sz="2400" dirty="0" smtClean="0"/>
              <a:t>An XLSM file can contain macro code while an XLSX file cannot contain code. In order to open code in an XLSM file:</a:t>
            </a:r>
            <a:br>
              <a:rPr lang="en-US" sz="2400" dirty="0" smtClean="0"/>
            </a:br>
            <a:r>
              <a:rPr lang="en-US" sz="2400" dirty="0" smtClean="0"/>
              <a:t>- Right click a tab name.</a:t>
            </a:r>
            <a:br>
              <a:rPr lang="en-US" sz="2400" dirty="0" smtClean="0"/>
            </a:br>
            <a:r>
              <a:rPr lang="en-US" sz="2400" dirty="0" smtClean="0"/>
              <a:t>- Click View Code menu item.</a:t>
            </a:r>
          </a:p>
          <a:p>
            <a:r>
              <a:rPr lang="en-US" sz="2400" dirty="0" smtClean="0"/>
              <a:t>smartsheet.com does NOT support XLSM file </a:t>
            </a:r>
            <a:r>
              <a:rPr lang="en-US" sz="2400" dirty="0" err="1" smtClean="0"/>
              <a:t>file</a:t>
            </a:r>
            <a:r>
              <a:rPr lang="en-US" sz="2400" dirty="0" smtClean="0"/>
              <a:t>. It only supports CSV, XLS and XLSX file files.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Delete O365 Excel Files</a:t>
            </a:r>
            <a:endParaRPr lang="en-US" dirty="0"/>
          </a:p>
        </p:txBody>
      </p:sp>
      <p:sp>
        <p:nvSpPr>
          <p:cNvPr id="3" name="Content Placeholder 2"/>
          <p:cNvSpPr>
            <a:spLocks noGrp="1"/>
          </p:cNvSpPr>
          <p:nvPr>
            <p:ph idx="1"/>
          </p:nvPr>
        </p:nvSpPr>
        <p:spPr/>
        <p:txBody>
          <a:bodyPr>
            <a:noAutofit/>
          </a:bodyPr>
          <a:lstStyle/>
          <a:p>
            <a:r>
              <a:rPr lang="en-US" sz="2200" dirty="0" smtClean="0"/>
              <a:t>Open </a:t>
            </a:r>
            <a:r>
              <a:rPr lang="en-US" sz="2200" b="1" dirty="0" err="1" smtClean="0"/>
              <a:t>OneDrive</a:t>
            </a:r>
            <a:r>
              <a:rPr lang="en-US" sz="2200" dirty="0" smtClean="0"/>
              <a:t> web app.</a:t>
            </a:r>
          </a:p>
          <a:p>
            <a:r>
              <a:rPr lang="en-US" sz="2200" dirty="0" smtClean="0"/>
              <a:t>Click </a:t>
            </a:r>
            <a:r>
              <a:rPr lang="en-US" sz="2200" b="1" dirty="0" smtClean="0"/>
              <a:t>My files</a:t>
            </a:r>
            <a:r>
              <a:rPr lang="en-US" sz="2200" dirty="0" smtClean="0"/>
              <a:t> link on the left menu.</a:t>
            </a:r>
          </a:p>
          <a:p>
            <a:r>
              <a:rPr lang="en-US" sz="2200" dirty="0" smtClean="0"/>
              <a:t>Hover a file name, click three dots icon, click </a:t>
            </a:r>
            <a:r>
              <a:rPr lang="en-US" sz="2200" b="1" dirty="0" smtClean="0"/>
              <a:t>Delete</a:t>
            </a:r>
            <a:r>
              <a:rPr lang="en-US" sz="2200" dirty="0" smtClean="0"/>
              <a:t> twice.</a:t>
            </a:r>
          </a:p>
        </p:txBody>
      </p:sp>
      <p:pic>
        <p:nvPicPr>
          <p:cNvPr id="1027" name="Picture 3"/>
          <p:cNvPicPr>
            <a:picLocks noChangeAspect="1" noChangeArrowheads="1"/>
          </p:cNvPicPr>
          <p:nvPr/>
        </p:nvPicPr>
        <p:blipFill>
          <a:blip r:embed="rId2" cstate="print"/>
          <a:srcRect/>
          <a:stretch>
            <a:fillRect/>
          </a:stretch>
        </p:blipFill>
        <p:spPr bwMode="auto">
          <a:xfrm>
            <a:off x="1600200" y="3276600"/>
            <a:ext cx="5932248" cy="3029304"/>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951</TotalTime>
  <Words>631</Words>
  <Application>Microsoft Office PowerPoint</Application>
  <PresentationFormat>On-screen Show (4:3)</PresentationFormat>
  <Paragraphs>76</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MS Excel</vt:lpstr>
      <vt:lpstr>Objectives</vt:lpstr>
      <vt:lpstr>Contents</vt:lpstr>
      <vt:lpstr>References</vt:lpstr>
      <vt:lpstr>Cell reference in Excel</vt:lpstr>
      <vt:lpstr>COUNTIF function</vt:lpstr>
      <vt:lpstr>INDEX function</vt:lpstr>
      <vt:lpstr>MATCH function</vt:lpstr>
      <vt:lpstr>WORKDAY function</vt:lpstr>
      <vt:lpstr>SUBTOTAL function</vt:lpstr>
      <vt:lpstr>Why SUBTOTAL function?</vt:lpstr>
      <vt:lpstr>View or edit Excel names (variables)</vt:lpstr>
      <vt:lpstr>Excel structured reference</vt:lpstr>
      <vt:lpstr>Excel structured reference Example 1</vt:lpstr>
      <vt:lpstr>Excel structured reference Example 2</vt:lpstr>
      <vt:lpstr>Excel file types</vt:lpstr>
      <vt:lpstr>Delete O365 Excel Files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 Project</dc:title>
  <dc:creator>Huy Bien</dc:creator>
  <cp:lastModifiedBy>Ngo Huy Bien</cp:lastModifiedBy>
  <cp:revision>583</cp:revision>
  <dcterms:created xsi:type="dcterms:W3CDTF">2009-01-06T14:34:07Z</dcterms:created>
  <dcterms:modified xsi:type="dcterms:W3CDTF">2023-10-17T11:42:46Z</dcterms:modified>
</cp:coreProperties>
</file>