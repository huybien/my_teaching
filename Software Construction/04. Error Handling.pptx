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Default Extension="docx" ContentType="application/vnd.openxmlformats-officedocument.wordprocessingml.document"/>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430" r:id="rId3"/>
    <p:sldId id="487" r:id="rId4"/>
    <p:sldId id="411" r:id="rId5"/>
    <p:sldId id="433" r:id="rId6"/>
    <p:sldId id="436" r:id="rId7"/>
    <p:sldId id="426" r:id="rId8"/>
    <p:sldId id="474" r:id="rId9"/>
    <p:sldId id="425" r:id="rId10"/>
    <p:sldId id="439" r:id="rId11"/>
    <p:sldId id="446" r:id="rId12"/>
    <p:sldId id="445" r:id="rId13"/>
    <p:sldId id="442" r:id="rId14"/>
    <p:sldId id="448" r:id="rId15"/>
    <p:sldId id="449" r:id="rId16"/>
    <p:sldId id="450" r:id="rId17"/>
    <p:sldId id="477" r:id="rId18"/>
    <p:sldId id="452" r:id="rId19"/>
    <p:sldId id="453" r:id="rId20"/>
    <p:sldId id="454" r:id="rId21"/>
    <p:sldId id="480" r:id="rId22"/>
    <p:sldId id="479" r:id="rId23"/>
    <p:sldId id="440" r:id="rId24"/>
    <p:sldId id="475" r:id="rId25"/>
    <p:sldId id="461" r:id="rId26"/>
    <p:sldId id="462" r:id="rId27"/>
    <p:sldId id="463" r:id="rId28"/>
    <p:sldId id="464" r:id="rId29"/>
    <p:sldId id="465" r:id="rId30"/>
    <p:sldId id="481" r:id="rId31"/>
    <p:sldId id="482" r:id="rId32"/>
    <p:sldId id="483" r:id="rId33"/>
    <p:sldId id="485" r:id="rId34"/>
    <p:sldId id="484" r:id="rId35"/>
    <p:sldId id="478" r:id="rId36"/>
    <p:sldId id="466" r:id="rId37"/>
    <p:sldId id="467" r:id="rId38"/>
    <p:sldId id="343"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76" autoAdjust="0"/>
    <p:restoredTop sz="94667" autoAdjust="0"/>
  </p:normalViewPr>
  <p:slideViewPr>
    <p:cSldViewPr>
      <p:cViewPr>
        <p:scale>
          <a:sx n="50" d="100"/>
          <a:sy n="50" d="100"/>
        </p:scale>
        <p:origin x="-1474" y="-39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3D4A66-AB9C-4814-8825-AA0D1120384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ACFB7B3-A704-4D31-A882-8B4C8AFF8790}">
      <dgm:prSet phldrT="[Text]" custT="1"/>
      <dgm:spPr/>
      <dgm:t>
        <a:bodyPr/>
        <a:lstStyle/>
        <a:p>
          <a:r>
            <a:rPr lang="en-US" sz="2000" dirty="0" smtClean="0"/>
            <a:t>Improve robustness</a:t>
          </a:r>
          <a:endParaRPr lang="en-US" sz="2000" dirty="0"/>
        </a:p>
      </dgm:t>
    </dgm:pt>
    <dgm:pt modelId="{4EF81432-E29E-4D0E-BF31-AA352E32C1F5}" type="parTrans" cxnId="{08258049-596A-4FA2-831F-93B7CDCE77B4}">
      <dgm:prSet/>
      <dgm:spPr/>
      <dgm:t>
        <a:bodyPr/>
        <a:lstStyle/>
        <a:p>
          <a:endParaRPr lang="en-US"/>
        </a:p>
      </dgm:t>
    </dgm:pt>
    <dgm:pt modelId="{0B252FFC-FB48-4D46-91F2-4B85643311DC}" type="sibTrans" cxnId="{08258049-596A-4FA2-831F-93B7CDCE77B4}">
      <dgm:prSet/>
      <dgm:spPr/>
      <dgm:t>
        <a:bodyPr/>
        <a:lstStyle/>
        <a:p>
          <a:endParaRPr lang="en-US"/>
        </a:p>
      </dgm:t>
    </dgm:pt>
    <dgm:pt modelId="{92ACF9B7-5120-499C-AE82-2EF6A8FBD088}">
      <dgm:prSet phldrT="[Text]" custT="1"/>
      <dgm:spPr/>
      <dgm:t>
        <a:bodyPr/>
        <a:lstStyle/>
        <a:p>
          <a:r>
            <a:rPr lang="en-US" sz="2000" dirty="0" smtClean="0"/>
            <a:t>Make program more decent</a:t>
          </a:r>
          <a:endParaRPr lang="en-US" sz="2000" dirty="0"/>
        </a:p>
      </dgm:t>
    </dgm:pt>
    <dgm:pt modelId="{799BD38E-5214-48C9-84E7-78D5BEDB85A2}" type="parTrans" cxnId="{D846CCCD-4FA1-4329-8822-632774955842}">
      <dgm:prSet/>
      <dgm:spPr/>
      <dgm:t>
        <a:bodyPr/>
        <a:lstStyle/>
        <a:p>
          <a:endParaRPr lang="en-US"/>
        </a:p>
      </dgm:t>
    </dgm:pt>
    <dgm:pt modelId="{2286E237-7CA7-497A-B54E-4CA128C5EE7D}" type="sibTrans" cxnId="{D846CCCD-4FA1-4329-8822-632774955842}">
      <dgm:prSet/>
      <dgm:spPr/>
      <dgm:t>
        <a:bodyPr/>
        <a:lstStyle/>
        <a:p>
          <a:endParaRPr lang="en-US"/>
        </a:p>
      </dgm:t>
    </dgm:pt>
    <dgm:pt modelId="{AC574443-A0D6-4103-B98C-C2070D2662E0}">
      <dgm:prSet phldrT="[Text]" custT="1"/>
      <dgm:spPr/>
      <dgm:t>
        <a:bodyPr/>
        <a:lstStyle/>
        <a:p>
          <a:r>
            <a:rPr lang="en-US" sz="2000" dirty="0" smtClean="0"/>
            <a:t>Easier to find bug</a:t>
          </a:r>
          <a:endParaRPr lang="en-US" sz="2000" dirty="0"/>
        </a:p>
      </dgm:t>
    </dgm:pt>
    <dgm:pt modelId="{9EAA6998-3D8A-4D90-9647-80A32ABE8959}" type="sibTrans" cxnId="{22437341-7523-4C2A-B09C-75E0A107E3AF}">
      <dgm:prSet/>
      <dgm:spPr/>
      <dgm:t>
        <a:bodyPr/>
        <a:lstStyle/>
        <a:p>
          <a:endParaRPr lang="en-US"/>
        </a:p>
      </dgm:t>
    </dgm:pt>
    <dgm:pt modelId="{FC712CE4-6F39-4FBA-A153-17A88A2FE81E}" type="parTrans" cxnId="{22437341-7523-4C2A-B09C-75E0A107E3AF}">
      <dgm:prSet/>
      <dgm:spPr/>
      <dgm:t>
        <a:bodyPr/>
        <a:lstStyle/>
        <a:p>
          <a:endParaRPr lang="en-US"/>
        </a:p>
      </dgm:t>
    </dgm:pt>
    <dgm:pt modelId="{5EF10288-D630-44AB-A23F-B3EEC9098755}">
      <dgm:prSet phldrT="[Text]" custT="1"/>
      <dgm:spPr>
        <a:solidFill>
          <a:schemeClr val="accent6"/>
        </a:solidFill>
      </dgm:spPr>
      <dgm:t>
        <a:bodyPr/>
        <a:lstStyle/>
        <a:p>
          <a:r>
            <a:rPr lang="en-US" sz="2000" dirty="0" smtClean="0"/>
            <a:t>Require mass of the code</a:t>
          </a:r>
          <a:endParaRPr lang="en-US" sz="2000" dirty="0"/>
        </a:p>
      </dgm:t>
    </dgm:pt>
    <dgm:pt modelId="{610549E9-9FF3-41F5-87E9-4390D60E2858}" type="parTrans" cxnId="{A36CFC2E-B75D-48E7-96D2-3061675F8D12}">
      <dgm:prSet/>
      <dgm:spPr/>
      <dgm:t>
        <a:bodyPr/>
        <a:lstStyle/>
        <a:p>
          <a:endParaRPr lang="en-US"/>
        </a:p>
      </dgm:t>
    </dgm:pt>
    <dgm:pt modelId="{48B10EAF-AE25-4D69-BDD0-753B72EC8C0C}" type="sibTrans" cxnId="{A36CFC2E-B75D-48E7-96D2-3061675F8D12}">
      <dgm:prSet/>
      <dgm:spPr/>
      <dgm:t>
        <a:bodyPr/>
        <a:lstStyle/>
        <a:p>
          <a:endParaRPr lang="en-US"/>
        </a:p>
      </dgm:t>
    </dgm:pt>
    <dgm:pt modelId="{6CE53A2F-BFDB-498E-BC58-A04C707F3BA8}">
      <dgm:prSet phldrT="[Text]" custT="1"/>
      <dgm:spPr>
        <a:solidFill>
          <a:schemeClr val="accent6"/>
        </a:solidFill>
      </dgm:spPr>
      <dgm:t>
        <a:bodyPr/>
        <a:lstStyle/>
        <a:p>
          <a:r>
            <a:rPr lang="en-US" sz="2000" dirty="0" smtClean="0"/>
            <a:t>May hide bug</a:t>
          </a:r>
          <a:endParaRPr lang="en-US" sz="2000" dirty="0"/>
        </a:p>
      </dgm:t>
    </dgm:pt>
    <dgm:pt modelId="{EC005BDF-C1DD-4AA0-BD07-F008DAA27362}" type="parTrans" cxnId="{FFF85FFD-634B-4B93-AE16-BB9EE07E7EE3}">
      <dgm:prSet/>
      <dgm:spPr/>
      <dgm:t>
        <a:bodyPr/>
        <a:lstStyle/>
        <a:p>
          <a:endParaRPr lang="en-US"/>
        </a:p>
      </dgm:t>
    </dgm:pt>
    <dgm:pt modelId="{9AF57D23-6D6A-4144-8C8B-BDBCBBB1717E}" type="sibTrans" cxnId="{FFF85FFD-634B-4B93-AE16-BB9EE07E7EE3}">
      <dgm:prSet/>
      <dgm:spPr/>
      <dgm:t>
        <a:bodyPr/>
        <a:lstStyle/>
        <a:p>
          <a:endParaRPr lang="en-US"/>
        </a:p>
      </dgm:t>
    </dgm:pt>
    <dgm:pt modelId="{92C442C4-0251-45D6-BBC7-CFAE19069270}">
      <dgm:prSet phldrT="[Text]" custT="1"/>
      <dgm:spPr>
        <a:solidFill>
          <a:schemeClr val="accent6"/>
        </a:solidFill>
      </dgm:spPr>
      <dgm:t>
        <a:bodyPr/>
        <a:lstStyle/>
        <a:p>
          <a:r>
            <a:rPr lang="en-US" sz="2000" dirty="0" smtClean="0"/>
            <a:t>Affect speed</a:t>
          </a:r>
          <a:endParaRPr lang="en-US" sz="2000" dirty="0"/>
        </a:p>
      </dgm:t>
    </dgm:pt>
    <dgm:pt modelId="{4B5C8962-ACBC-494A-91C3-0B1AAC15EDB5}" type="parTrans" cxnId="{06E10F35-16EA-43AD-9549-5802527E4A37}">
      <dgm:prSet/>
      <dgm:spPr/>
      <dgm:t>
        <a:bodyPr/>
        <a:lstStyle/>
        <a:p>
          <a:endParaRPr lang="en-US"/>
        </a:p>
      </dgm:t>
    </dgm:pt>
    <dgm:pt modelId="{58D674B0-1C98-4A3A-B654-03CD70684B7A}" type="sibTrans" cxnId="{06E10F35-16EA-43AD-9549-5802527E4A37}">
      <dgm:prSet/>
      <dgm:spPr/>
      <dgm:t>
        <a:bodyPr/>
        <a:lstStyle/>
        <a:p>
          <a:endParaRPr lang="en-US"/>
        </a:p>
      </dgm:t>
    </dgm:pt>
    <dgm:pt modelId="{E14E604F-3D07-4883-866B-537FE4E76DE1}" type="pres">
      <dgm:prSet presAssocID="{F43D4A66-AB9C-4814-8825-AA0D1120384B}" presName="linear" presStyleCnt="0">
        <dgm:presLayoutVars>
          <dgm:dir/>
          <dgm:animLvl val="lvl"/>
          <dgm:resizeHandles val="exact"/>
        </dgm:presLayoutVars>
      </dgm:prSet>
      <dgm:spPr/>
      <dgm:t>
        <a:bodyPr/>
        <a:lstStyle/>
        <a:p>
          <a:endParaRPr lang="en-US"/>
        </a:p>
      </dgm:t>
    </dgm:pt>
    <dgm:pt modelId="{318F3B30-BBBD-4A04-9E6D-953125E44759}" type="pres">
      <dgm:prSet presAssocID="{DACFB7B3-A704-4D31-A882-8B4C8AFF8790}" presName="parentLin" presStyleCnt="0"/>
      <dgm:spPr/>
    </dgm:pt>
    <dgm:pt modelId="{B2A1E193-E353-495C-929E-589E77A57A55}" type="pres">
      <dgm:prSet presAssocID="{DACFB7B3-A704-4D31-A882-8B4C8AFF8790}" presName="parentLeftMargin" presStyleLbl="node1" presStyleIdx="0" presStyleCnt="6"/>
      <dgm:spPr/>
      <dgm:t>
        <a:bodyPr/>
        <a:lstStyle/>
        <a:p>
          <a:endParaRPr lang="en-US"/>
        </a:p>
      </dgm:t>
    </dgm:pt>
    <dgm:pt modelId="{BDDD5803-B274-4178-A6A6-0862CD09DDCD}" type="pres">
      <dgm:prSet presAssocID="{DACFB7B3-A704-4D31-A882-8B4C8AFF8790}" presName="parentText" presStyleLbl="node1" presStyleIdx="0" presStyleCnt="6">
        <dgm:presLayoutVars>
          <dgm:chMax val="0"/>
          <dgm:bulletEnabled val="1"/>
        </dgm:presLayoutVars>
      </dgm:prSet>
      <dgm:spPr/>
      <dgm:t>
        <a:bodyPr/>
        <a:lstStyle/>
        <a:p>
          <a:endParaRPr lang="en-US"/>
        </a:p>
      </dgm:t>
    </dgm:pt>
    <dgm:pt modelId="{EEB6BA90-BF89-4243-8547-F307A6E42D43}" type="pres">
      <dgm:prSet presAssocID="{DACFB7B3-A704-4D31-A882-8B4C8AFF8790}" presName="negativeSpace" presStyleCnt="0"/>
      <dgm:spPr/>
    </dgm:pt>
    <dgm:pt modelId="{0B72BF46-F888-413B-867B-5661DB69668A}" type="pres">
      <dgm:prSet presAssocID="{DACFB7B3-A704-4D31-A882-8B4C8AFF8790}" presName="childText" presStyleLbl="conFgAcc1" presStyleIdx="0" presStyleCnt="6">
        <dgm:presLayoutVars>
          <dgm:bulletEnabled val="1"/>
        </dgm:presLayoutVars>
      </dgm:prSet>
      <dgm:spPr/>
    </dgm:pt>
    <dgm:pt modelId="{05763751-171D-4D06-AE76-AD0A98293EDB}" type="pres">
      <dgm:prSet presAssocID="{0B252FFC-FB48-4D46-91F2-4B85643311DC}" presName="spaceBetweenRectangles" presStyleCnt="0"/>
      <dgm:spPr/>
    </dgm:pt>
    <dgm:pt modelId="{7881950E-D929-4AB2-84E2-B4B100EAFDE2}" type="pres">
      <dgm:prSet presAssocID="{AC574443-A0D6-4103-B98C-C2070D2662E0}" presName="parentLin" presStyleCnt="0"/>
      <dgm:spPr/>
    </dgm:pt>
    <dgm:pt modelId="{9A6C9BED-466B-4320-9CCD-3C4ADC1843A3}" type="pres">
      <dgm:prSet presAssocID="{AC574443-A0D6-4103-B98C-C2070D2662E0}" presName="parentLeftMargin" presStyleLbl="node1" presStyleIdx="0" presStyleCnt="6"/>
      <dgm:spPr/>
      <dgm:t>
        <a:bodyPr/>
        <a:lstStyle/>
        <a:p>
          <a:endParaRPr lang="en-US"/>
        </a:p>
      </dgm:t>
    </dgm:pt>
    <dgm:pt modelId="{9014ACA5-440E-408B-B5E6-FD9AA61271A2}" type="pres">
      <dgm:prSet presAssocID="{AC574443-A0D6-4103-B98C-C2070D2662E0}" presName="parentText" presStyleLbl="node1" presStyleIdx="1" presStyleCnt="6">
        <dgm:presLayoutVars>
          <dgm:chMax val="0"/>
          <dgm:bulletEnabled val="1"/>
        </dgm:presLayoutVars>
      </dgm:prSet>
      <dgm:spPr/>
      <dgm:t>
        <a:bodyPr/>
        <a:lstStyle/>
        <a:p>
          <a:endParaRPr lang="en-US"/>
        </a:p>
      </dgm:t>
    </dgm:pt>
    <dgm:pt modelId="{305D01B2-EA9B-43B0-B624-953C4AE263AF}" type="pres">
      <dgm:prSet presAssocID="{AC574443-A0D6-4103-B98C-C2070D2662E0}" presName="negativeSpace" presStyleCnt="0"/>
      <dgm:spPr/>
    </dgm:pt>
    <dgm:pt modelId="{2DED7322-9FCA-4576-AE93-55283DE4247F}" type="pres">
      <dgm:prSet presAssocID="{AC574443-A0D6-4103-B98C-C2070D2662E0}" presName="childText" presStyleLbl="conFgAcc1" presStyleIdx="1" presStyleCnt="6">
        <dgm:presLayoutVars>
          <dgm:bulletEnabled val="1"/>
        </dgm:presLayoutVars>
      </dgm:prSet>
      <dgm:spPr/>
    </dgm:pt>
    <dgm:pt modelId="{19D88B23-4DC3-41A2-9EC5-527950684AD2}" type="pres">
      <dgm:prSet presAssocID="{9EAA6998-3D8A-4D90-9647-80A32ABE8959}" presName="spaceBetweenRectangles" presStyleCnt="0"/>
      <dgm:spPr/>
    </dgm:pt>
    <dgm:pt modelId="{15B17563-24F7-4DE3-8819-DDD983FB8D03}" type="pres">
      <dgm:prSet presAssocID="{92ACF9B7-5120-499C-AE82-2EF6A8FBD088}" presName="parentLin" presStyleCnt="0"/>
      <dgm:spPr/>
    </dgm:pt>
    <dgm:pt modelId="{4577737C-3CE6-44EF-85BB-29703C74660D}" type="pres">
      <dgm:prSet presAssocID="{92ACF9B7-5120-499C-AE82-2EF6A8FBD088}" presName="parentLeftMargin" presStyleLbl="node1" presStyleIdx="1" presStyleCnt="6"/>
      <dgm:spPr/>
      <dgm:t>
        <a:bodyPr/>
        <a:lstStyle/>
        <a:p>
          <a:endParaRPr lang="en-US"/>
        </a:p>
      </dgm:t>
    </dgm:pt>
    <dgm:pt modelId="{6D9361E9-B939-4704-A291-EB36ABB6998F}" type="pres">
      <dgm:prSet presAssocID="{92ACF9B7-5120-499C-AE82-2EF6A8FBD088}" presName="parentText" presStyleLbl="node1" presStyleIdx="2" presStyleCnt="6">
        <dgm:presLayoutVars>
          <dgm:chMax val="0"/>
          <dgm:bulletEnabled val="1"/>
        </dgm:presLayoutVars>
      </dgm:prSet>
      <dgm:spPr/>
      <dgm:t>
        <a:bodyPr/>
        <a:lstStyle/>
        <a:p>
          <a:endParaRPr lang="en-US"/>
        </a:p>
      </dgm:t>
    </dgm:pt>
    <dgm:pt modelId="{3DCDFACC-3F06-477F-85FC-3715C58E3873}" type="pres">
      <dgm:prSet presAssocID="{92ACF9B7-5120-499C-AE82-2EF6A8FBD088}" presName="negativeSpace" presStyleCnt="0"/>
      <dgm:spPr/>
    </dgm:pt>
    <dgm:pt modelId="{40972801-CD19-48D6-BFE4-59748B39B1AD}" type="pres">
      <dgm:prSet presAssocID="{92ACF9B7-5120-499C-AE82-2EF6A8FBD088}" presName="childText" presStyleLbl="conFgAcc1" presStyleIdx="2" presStyleCnt="6">
        <dgm:presLayoutVars>
          <dgm:bulletEnabled val="1"/>
        </dgm:presLayoutVars>
      </dgm:prSet>
      <dgm:spPr/>
    </dgm:pt>
    <dgm:pt modelId="{E41B95AA-D91F-4AAB-9E66-7DE0B8C80361}" type="pres">
      <dgm:prSet presAssocID="{2286E237-7CA7-497A-B54E-4CA128C5EE7D}" presName="spaceBetweenRectangles" presStyleCnt="0"/>
      <dgm:spPr/>
    </dgm:pt>
    <dgm:pt modelId="{DE21252D-D180-4F76-A05E-F28B9EB017D4}" type="pres">
      <dgm:prSet presAssocID="{6CE53A2F-BFDB-498E-BC58-A04C707F3BA8}" presName="parentLin" presStyleCnt="0"/>
      <dgm:spPr/>
    </dgm:pt>
    <dgm:pt modelId="{B07BA704-E251-484B-8683-617B12DA9BF8}" type="pres">
      <dgm:prSet presAssocID="{6CE53A2F-BFDB-498E-BC58-A04C707F3BA8}" presName="parentLeftMargin" presStyleLbl="node1" presStyleIdx="2" presStyleCnt="6"/>
      <dgm:spPr/>
      <dgm:t>
        <a:bodyPr/>
        <a:lstStyle/>
        <a:p>
          <a:endParaRPr lang="en-US"/>
        </a:p>
      </dgm:t>
    </dgm:pt>
    <dgm:pt modelId="{81793EC5-AB73-4E59-A755-AF3B5489DED1}" type="pres">
      <dgm:prSet presAssocID="{6CE53A2F-BFDB-498E-BC58-A04C707F3BA8}" presName="parentText" presStyleLbl="node1" presStyleIdx="3" presStyleCnt="6">
        <dgm:presLayoutVars>
          <dgm:chMax val="0"/>
          <dgm:bulletEnabled val="1"/>
        </dgm:presLayoutVars>
      </dgm:prSet>
      <dgm:spPr/>
      <dgm:t>
        <a:bodyPr/>
        <a:lstStyle/>
        <a:p>
          <a:endParaRPr lang="en-US"/>
        </a:p>
      </dgm:t>
    </dgm:pt>
    <dgm:pt modelId="{EECA64F6-FD87-412F-AA51-33D4E6A58D81}" type="pres">
      <dgm:prSet presAssocID="{6CE53A2F-BFDB-498E-BC58-A04C707F3BA8}" presName="negativeSpace" presStyleCnt="0"/>
      <dgm:spPr/>
    </dgm:pt>
    <dgm:pt modelId="{C93FA71B-5BC2-4E90-960B-56B72FA529C9}" type="pres">
      <dgm:prSet presAssocID="{6CE53A2F-BFDB-498E-BC58-A04C707F3BA8}" presName="childText" presStyleLbl="conFgAcc1" presStyleIdx="3" presStyleCnt="6">
        <dgm:presLayoutVars>
          <dgm:bulletEnabled val="1"/>
        </dgm:presLayoutVars>
      </dgm:prSet>
      <dgm:spPr/>
    </dgm:pt>
    <dgm:pt modelId="{F5FCCDC0-CE96-4F93-A915-E04B7EED993A}" type="pres">
      <dgm:prSet presAssocID="{9AF57D23-6D6A-4144-8C8B-BDBCBBB1717E}" presName="spaceBetweenRectangles" presStyleCnt="0"/>
      <dgm:spPr/>
    </dgm:pt>
    <dgm:pt modelId="{A6877BB7-88E1-41DD-8AE0-1C71139335B0}" type="pres">
      <dgm:prSet presAssocID="{5EF10288-D630-44AB-A23F-B3EEC9098755}" presName="parentLin" presStyleCnt="0"/>
      <dgm:spPr/>
    </dgm:pt>
    <dgm:pt modelId="{03557CD0-7F20-4933-BF7A-38FA373B8571}" type="pres">
      <dgm:prSet presAssocID="{5EF10288-D630-44AB-A23F-B3EEC9098755}" presName="parentLeftMargin" presStyleLbl="node1" presStyleIdx="3" presStyleCnt="6"/>
      <dgm:spPr/>
      <dgm:t>
        <a:bodyPr/>
        <a:lstStyle/>
        <a:p>
          <a:endParaRPr lang="en-US"/>
        </a:p>
      </dgm:t>
    </dgm:pt>
    <dgm:pt modelId="{57A51D2B-5394-4F05-AF24-78800621AB66}" type="pres">
      <dgm:prSet presAssocID="{5EF10288-D630-44AB-A23F-B3EEC9098755}" presName="parentText" presStyleLbl="node1" presStyleIdx="4" presStyleCnt="6">
        <dgm:presLayoutVars>
          <dgm:chMax val="0"/>
          <dgm:bulletEnabled val="1"/>
        </dgm:presLayoutVars>
      </dgm:prSet>
      <dgm:spPr/>
      <dgm:t>
        <a:bodyPr/>
        <a:lstStyle/>
        <a:p>
          <a:endParaRPr lang="en-US"/>
        </a:p>
      </dgm:t>
    </dgm:pt>
    <dgm:pt modelId="{DA240133-111D-41DB-A322-33B0F9969348}" type="pres">
      <dgm:prSet presAssocID="{5EF10288-D630-44AB-A23F-B3EEC9098755}" presName="negativeSpace" presStyleCnt="0"/>
      <dgm:spPr/>
    </dgm:pt>
    <dgm:pt modelId="{DCC6B70C-3019-4565-92C0-D9B0CC558E78}" type="pres">
      <dgm:prSet presAssocID="{5EF10288-D630-44AB-A23F-B3EEC9098755}" presName="childText" presStyleLbl="conFgAcc1" presStyleIdx="4" presStyleCnt="6">
        <dgm:presLayoutVars>
          <dgm:bulletEnabled val="1"/>
        </dgm:presLayoutVars>
      </dgm:prSet>
      <dgm:spPr/>
    </dgm:pt>
    <dgm:pt modelId="{537CDDA1-5C9B-4F9E-8CFE-758ACAF0959D}" type="pres">
      <dgm:prSet presAssocID="{48B10EAF-AE25-4D69-BDD0-753B72EC8C0C}" presName="spaceBetweenRectangles" presStyleCnt="0"/>
      <dgm:spPr/>
    </dgm:pt>
    <dgm:pt modelId="{E7A8457F-93FC-4037-A05F-29D9948246EB}" type="pres">
      <dgm:prSet presAssocID="{92C442C4-0251-45D6-BBC7-CFAE19069270}" presName="parentLin" presStyleCnt="0"/>
      <dgm:spPr/>
    </dgm:pt>
    <dgm:pt modelId="{8EC3EFB9-8600-43F7-A538-0E292BB4DDAC}" type="pres">
      <dgm:prSet presAssocID="{92C442C4-0251-45D6-BBC7-CFAE19069270}" presName="parentLeftMargin" presStyleLbl="node1" presStyleIdx="4" presStyleCnt="6"/>
      <dgm:spPr/>
      <dgm:t>
        <a:bodyPr/>
        <a:lstStyle/>
        <a:p>
          <a:endParaRPr lang="en-US"/>
        </a:p>
      </dgm:t>
    </dgm:pt>
    <dgm:pt modelId="{4FBBCB4E-6587-4E45-BC6E-D4B63C978D1E}" type="pres">
      <dgm:prSet presAssocID="{92C442C4-0251-45D6-BBC7-CFAE19069270}" presName="parentText" presStyleLbl="node1" presStyleIdx="5" presStyleCnt="6">
        <dgm:presLayoutVars>
          <dgm:chMax val="0"/>
          <dgm:bulletEnabled val="1"/>
        </dgm:presLayoutVars>
      </dgm:prSet>
      <dgm:spPr/>
      <dgm:t>
        <a:bodyPr/>
        <a:lstStyle/>
        <a:p>
          <a:endParaRPr lang="en-US"/>
        </a:p>
      </dgm:t>
    </dgm:pt>
    <dgm:pt modelId="{A1ED6BC7-F4EC-4FCD-AFF8-214C4FA87356}" type="pres">
      <dgm:prSet presAssocID="{92C442C4-0251-45D6-BBC7-CFAE19069270}" presName="negativeSpace" presStyleCnt="0"/>
      <dgm:spPr/>
    </dgm:pt>
    <dgm:pt modelId="{20AF3CC1-ACEE-47BF-BF08-87C1347311DD}" type="pres">
      <dgm:prSet presAssocID="{92C442C4-0251-45D6-BBC7-CFAE19069270}" presName="childText" presStyleLbl="conFgAcc1" presStyleIdx="5" presStyleCnt="6">
        <dgm:presLayoutVars>
          <dgm:bulletEnabled val="1"/>
        </dgm:presLayoutVars>
      </dgm:prSet>
      <dgm:spPr/>
    </dgm:pt>
  </dgm:ptLst>
  <dgm:cxnLst>
    <dgm:cxn modelId="{76A04361-ABC4-4790-8AC5-B451A59A2BC5}" type="presOf" srcId="{92C442C4-0251-45D6-BBC7-CFAE19069270}" destId="{4FBBCB4E-6587-4E45-BC6E-D4B63C978D1E}" srcOrd="1" destOrd="0" presId="urn:microsoft.com/office/officeart/2005/8/layout/list1"/>
    <dgm:cxn modelId="{F0FDD24C-C9FD-44CF-8388-796630F046D8}" type="presOf" srcId="{92ACF9B7-5120-499C-AE82-2EF6A8FBD088}" destId="{4577737C-3CE6-44EF-85BB-29703C74660D}" srcOrd="0" destOrd="0" presId="urn:microsoft.com/office/officeart/2005/8/layout/list1"/>
    <dgm:cxn modelId="{A36CFC2E-B75D-48E7-96D2-3061675F8D12}" srcId="{F43D4A66-AB9C-4814-8825-AA0D1120384B}" destId="{5EF10288-D630-44AB-A23F-B3EEC9098755}" srcOrd="4" destOrd="0" parTransId="{610549E9-9FF3-41F5-87E9-4390D60E2858}" sibTransId="{48B10EAF-AE25-4D69-BDD0-753B72EC8C0C}"/>
    <dgm:cxn modelId="{B2C4A4F2-FB55-4EA6-98CB-EC5D4BF35F5D}" type="presOf" srcId="{DACFB7B3-A704-4D31-A882-8B4C8AFF8790}" destId="{B2A1E193-E353-495C-929E-589E77A57A55}" srcOrd="0" destOrd="0" presId="urn:microsoft.com/office/officeart/2005/8/layout/list1"/>
    <dgm:cxn modelId="{F4FC309A-D23D-4B09-B4BE-E0F95D4F18A5}" type="presOf" srcId="{5EF10288-D630-44AB-A23F-B3EEC9098755}" destId="{03557CD0-7F20-4933-BF7A-38FA373B8571}" srcOrd="0" destOrd="0" presId="urn:microsoft.com/office/officeart/2005/8/layout/list1"/>
    <dgm:cxn modelId="{FFF85FFD-634B-4B93-AE16-BB9EE07E7EE3}" srcId="{F43D4A66-AB9C-4814-8825-AA0D1120384B}" destId="{6CE53A2F-BFDB-498E-BC58-A04C707F3BA8}" srcOrd="3" destOrd="0" parTransId="{EC005BDF-C1DD-4AA0-BD07-F008DAA27362}" sibTransId="{9AF57D23-6D6A-4144-8C8B-BDBCBBB1717E}"/>
    <dgm:cxn modelId="{2728F31B-5DFB-46EE-BA03-BB334238C9BF}" type="presOf" srcId="{92ACF9B7-5120-499C-AE82-2EF6A8FBD088}" destId="{6D9361E9-B939-4704-A291-EB36ABB6998F}" srcOrd="1" destOrd="0" presId="urn:microsoft.com/office/officeart/2005/8/layout/list1"/>
    <dgm:cxn modelId="{08258049-596A-4FA2-831F-93B7CDCE77B4}" srcId="{F43D4A66-AB9C-4814-8825-AA0D1120384B}" destId="{DACFB7B3-A704-4D31-A882-8B4C8AFF8790}" srcOrd="0" destOrd="0" parTransId="{4EF81432-E29E-4D0E-BF31-AA352E32C1F5}" sibTransId="{0B252FFC-FB48-4D46-91F2-4B85643311DC}"/>
    <dgm:cxn modelId="{D846CCCD-4FA1-4329-8822-632774955842}" srcId="{F43D4A66-AB9C-4814-8825-AA0D1120384B}" destId="{92ACF9B7-5120-499C-AE82-2EF6A8FBD088}" srcOrd="2" destOrd="0" parTransId="{799BD38E-5214-48C9-84E7-78D5BEDB85A2}" sibTransId="{2286E237-7CA7-497A-B54E-4CA128C5EE7D}"/>
    <dgm:cxn modelId="{0350AE88-3E3F-44F1-958E-B976276F9DC2}" type="presOf" srcId="{5EF10288-D630-44AB-A23F-B3EEC9098755}" destId="{57A51D2B-5394-4F05-AF24-78800621AB66}" srcOrd="1" destOrd="0" presId="urn:microsoft.com/office/officeart/2005/8/layout/list1"/>
    <dgm:cxn modelId="{134444F2-A6B3-4D5D-871D-A18C7CD4BB48}" type="presOf" srcId="{DACFB7B3-A704-4D31-A882-8B4C8AFF8790}" destId="{BDDD5803-B274-4178-A6A6-0862CD09DDCD}" srcOrd="1" destOrd="0" presId="urn:microsoft.com/office/officeart/2005/8/layout/list1"/>
    <dgm:cxn modelId="{22437341-7523-4C2A-B09C-75E0A107E3AF}" srcId="{F43D4A66-AB9C-4814-8825-AA0D1120384B}" destId="{AC574443-A0D6-4103-B98C-C2070D2662E0}" srcOrd="1" destOrd="0" parTransId="{FC712CE4-6F39-4FBA-A153-17A88A2FE81E}" sibTransId="{9EAA6998-3D8A-4D90-9647-80A32ABE8959}"/>
    <dgm:cxn modelId="{43800C37-D326-4356-B98B-A70A305C32C9}" type="presOf" srcId="{F43D4A66-AB9C-4814-8825-AA0D1120384B}" destId="{E14E604F-3D07-4883-866B-537FE4E76DE1}" srcOrd="0" destOrd="0" presId="urn:microsoft.com/office/officeart/2005/8/layout/list1"/>
    <dgm:cxn modelId="{18F22C2B-B5FF-4144-88D3-22211487D004}" type="presOf" srcId="{6CE53A2F-BFDB-498E-BC58-A04C707F3BA8}" destId="{B07BA704-E251-484B-8683-617B12DA9BF8}" srcOrd="0" destOrd="0" presId="urn:microsoft.com/office/officeart/2005/8/layout/list1"/>
    <dgm:cxn modelId="{337EA5F5-1D9B-4F0C-98B9-6FF76701DACD}" type="presOf" srcId="{92C442C4-0251-45D6-BBC7-CFAE19069270}" destId="{8EC3EFB9-8600-43F7-A538-0E292BB4DDAC}" srcOrd="0" destOrd="0" presId="urn:microsoft.com/office/officeart/2005/8/layout/list1"/>
    <dgm:cxn modelId="{46C100DB-66DE-42C3-8773-3C4925045432}" type="presOf" srcId="{6CE53A2F-BFDB-498E-BC58-A04C707F3BA8}" destId="{81793EC5-AB73-4E59-A755-AF3B5489DED1}" srcOrd="1" destOrd="0" presId="urn:microsoft.com/office/officeart/2005/8/layout/list1"/>
    <dgm:cxn modelId="{9E04D407-E61D-4239-9AF8-2E24371171E2}" type="presOf" srcId="{AC574443-A0D6-4103-B98C-C2070D2662E0}" destId="{9A6C9BED-466B-4320-9CCD-3C4ADC1843A3}" srcOrd="0" destOrd="0" presId="urn:microsoft.com/office/officeart/2005/8/layout/list1"/>
    <dgm:cxn modelId="{06E10F35-16EA-43AD-9549-5802527E4A37}" srcId="{F43D4A66-AB9C-4814-8825-AA0D1120384B}" destId="{92C442C4-0251-45D6-BBC7-CFAE19069270}" srcOrd="5" destOrd="0" parTransId="{4B5C8962-ACBC-494A-91C3-0B1AAC15EDB5}" sibTransId="{58D674B0-1C98-4A3A-B654-03CD70684B7A}"/>
    <dgm:cxn modelId="{79D68885-5167-4748-ABD0-C85108A762FE}" type="presOf" srcId="{AC574443-A0D6-4103-B98C-C2070D2662E0}" destId="{9014ACA5-440E-408B-B5E6-FD9AA61271A2}" srcOrd="1" destOrd="0" presId="urn:microsoft.com/office/officeart/2005/8/layout/list1"/>
    <dgm:cxn modelId="{A7AB5A11-5E1E-440C-8E0A-26938CEB83E5}" type="presParOf" srcId="{E14E604F-3D07-4883-866B-537FE4E76DE1}" destId="{318F3B30-BBBD-4A04-9E6D-953125E44759}" srcOrd="0" destOrd="0" presId="urn:microsoft.com/office/officeart/2005/8/layout/list1"/>
    <dgm:cxn modelId="{C9F85E8C-3B03-450C-ACCB-A965BE1DE765}" type="presParOf" srcId="{318F3B30-BBBD-4A04-9E6D-953125E44759}" destId="{B2A1E193-E353-495C-929E-589E77A57A55}" srcOrd="0" destOrd="0" presId="urn:microsoft.com/office/officeart/2005/8/layout/list1"/>
    <dgm:cxn modelId="{50BA0DCB-7EEE-42E2-86CA-E1DDF696D6A0}" type="presParOf" srcId="{318F3B30-BBBD-4A04-9E6D-953125E44759}" destId="{BDDD5803-B274-4178-A6A6-0862CD09DDCD}" srcOrd="1" destOrd="0" presId="urn:microsoft.com/office/officeart/2005/8/layout/list1"/>
    <dgm:cxn modelId="{CE1FC47A-5AFF-427F-A00E-A07127275324}" type="presParOf" srcId="{E14E604F-3D07-4883-866B-537FE4E76DE1}" destId="{EEB6BA90-BF89-4243-8547-F307A6E42D43}" srcOrd="1" destOrd="0" presId="urn:microsoft.com/office/officeart/2005/8/layout/list1"/>
    <dgm:cxn modelId="{B9979007-F4EA-4254-B7C1-7F2F15F310A7}" type="presParOf" srcId="{E14E604F-3D07-4883-866B-537FE4E76DE1}" destId="{0B72BF46-F888-413B-867B-5661DB69668A}" srcOrd="2" destOrd="0" presId="urn:microsoft.com/office/officeart/2005/8/layout/list1"/>
    <dgm:cxn modelId="{8B1928D8-DD43-4C2C-99BF-8A7F1B8EF28C}" type="presParOf" srcId="{E14E604F-3D07-4883-866B-537FE4E76DE1}" destId="{05763751-171D-4D06-AE76-AD0A98293EDB}" srcOrd="3" destOrd="0" presId="urn:microsoft.com/office/officeart/2005/8/layout/list1"/>
    <dgm:cxn modelId="{B8251260-F49E-4EB0-8214-4E4A3B61FCB3}" type="presParOf" srcId="{E14E604F-3D07-4883-866B-537FE4E76DE1}" destId="{7881950E-D929-4AB2-84E2-B4B100EAFDE2}" srcOrd="4" destOrd="0" presId="urn:microsoft.com/office/officeart/2005/8/layout/list1"/>
    <dgm:cxn modelId="{BB2F7874-FA15-4AE1-8322-9D35A1C2EBA2}" type="presParOf" srcId="{7881950E-D929-4AB2-84E2-B4B100EAFDE2}" destId="{9A6C9BED-466B-4320-9CCD-3C4ADC1843A3}" srcOrd="0" destOrd="0" presId="urn:microsoft.com/office/officeart/2005/8/layout/list1"/>
    <dgm:cxn modelId="{EC551228-6855-4791-8D86-A51D70D6E752}" type="presParOf" srcId="{7881950E-D929-4AB2-84E2-B4B100EAFDE2}" destId="{9014ACA5-440E-408B-B5E6-FD9AA61271A2}" srcOrd="1" destOrd="0" presId="urn:microsoft.com/office/officeart/2005/8/layout/list1"/>
    <dgm:cxn modelId="{DFA8A927-773A-43CC-A1B2-5D7AA7DC1450}" type="presParOf" srcId="{E14E604F-3D07-4883-866B-537FE4E76DE1}" destId="{305D01B2-EA9B-43B0-B624-953C4AE263AF}" srcOrd="5" destOrd="0" presId="urn:microsoft.com/office/officeart/2005/8/layout/list1"/>
    <dgm:cxn modelId="{9980DF90-EE11-4316-BD2E-6178E5586B2D}" type="presParOf" srcId="{E14E604F-3D07-4883-866B-537FE4E76DE1}" destId="{2DED7322-9FCA-4576-AE93-55283DE4247F}" srcOrd="6" destOrd="0" presId="urn:microsoft.com/office/officeart/2005/8/layout/list1"/>
    <dgm:cxn modelId="{B4D49908-10E6-4FFC-8B04-DC0429C9A90C}" type="presParOf" srcId="{E14E604F-3D07-4883-866B-537FE4E76DE1}" destId="{19D88B23-4DC3-41A2-9EC5-527950684AD2}" srcOrd="7" destOrd="0" presId="urn:microsoft.com/office/officeart/2005/8/layout/list1"/>
    <dgm:cxn modelId="{1DCE074F-8D06-4A2C-A7D8-D155B92462F7}" type="presParOf" srcId="{E14E604F-3D07-4883-866B-537FE4E76DE1}" destId="{15B17563-24F7-4DE3-8819-DDD983FB8D03}" srcOrd="8" destOrd="0" presId="urn:microsoft.com/office/officeart/2005/8/layout/list1"/>
    <dgm:cxn modelId="{11C0894C-645C-43C0-9EC3-2C119BC301F6}" type="presParOf" srcId="{15B17563-24F7-4DE3-8819-DDD983FB8D03}" destId="{4577737C-3CE6-44EF-85BB-29703C74660D}" srcOrd="0" destOrd="0" presId="urn:microsoft.com/office/officeart/2005/8/layout/list1"/>
    <dgm:cxn modelId="{DF154F93-92AC-4142-B394-2454536A4163}" type="presParOf" srcId="{15B17563-24F7-4DE3-8819-DDD983FB8D03}" destId="{6D9361E9-B939-4704-A291-EB36ABB6998F}" srcOrd="1" destOrd="0" presId="urn:microsoft.com/office/officeart/2005/8/layout/list1"/>
    <dgm:cxn modelId="{12553397-F25A-4AE6-B60F-87EAE45C0849}" type="presParOf" srcId="{E14E604F-3D07-4883-866B-537FE4E76DE1}" destId="{3DCDFACC-3F06-477F-85FC-3715C58E3873}" srcOrd="9" destOrd="0" presId="urn:microsoft.com/office/officeart/2005/8/layout/list1"/>
    <dgm:cxn modelId="{09766D44-83BC-4F9C-9022-C06290D4A033}" type="presParOf" srcId="{E14E604F-3D07-4883-866B-537FE4E76DE1}" destId="{40972801-CD19-48D6-BFE4-59748B39B1AD}" srcOrd="10" destOrd="0" presId="urn:microsoft.com/office/officeart/2005/8/layout/list1"/>
    <dgm:cxn modelId="{03BF14AC-0115-40D3-97A6-27E570903209}" type="presParOf" srcId="{E14E604F-3D07-4883-866B-537FE4E76DE1}" destId="{E41B95AA-D91F-4AAB-9E66-7DE0B8C80361}" srcOrd="11" destOrd="0" presId="urn:microsoft.com/office/officeart/2005/8/layout/list1"/>
    <dgm:cxn modelId="{3BB5D288-9795-469E-91C7-3E98745C4444}" type="presParOf" srcId="{E14E604F-3D07-4883-866B-537FE4E76DE1}" destId="{DE21252D-D180-4F76-A05E-F28B9EB017D4}" srcOrd="12" destOrd="0" presId="urn:microsoft.com/office/officeart/2005/8/layout/list1"/>
    <dgm:cxn modelId="{ED0206C1-8376-4C87-98F4-31685041FE0C}" type="presParOf" srcId="{DE21252D-D180-4F76-A05E-F28B9EB017D4}" destId="{B07BA704-E251-484B-8683-617B12DA9BF8}" srcOrd="0" destOrd="0" presId="urn:microsoft.com/office/officeart/2005/8/layout/list1"/>
    <dgm:cxn modelId="{18C5D310-A6D4-4FD9-8A7C-E07AACCAD8FD}" type="presParOf" srcId="{DE21252D-D180-4F76-A05E-F28B9EB017D4}" destId="{81793EC5-AB73-4E59-A755-AF3B5489DED1}" srcOrd="1" destOrd="0" presId="urn:microsoft.com/office/officeart/2005/8/layout/list1"/>
    <dgm:cxn modelId="{8E897CA7-1F41-4F58-9AD2-BB117658029D}" type="presParOf" srcId="{E14E604F-3D07-4883-866B-537FE4E76DE1}" destId="{EECA64F6-FD87-412F-AA51-33D4E6A58D81}" srcOrd="13" destOrd="0" presId="urn:microsoft.com/office/officeart/2005/8/layout/list1"/>
    <dgm:cxn modelId="{AFD7AAA2-43EA-410F-AF40-8786A3ED5BCF}" type="presParOf" srcId="{E14E604F-3D07-4883-866B-537FE4E76DE1}" destId="{C93FA71B-5BC2-4E90-960B-56B72FA529C9}" srcOrd="14" destOrd="0" presId="urn:microsoft.com/office/officeart/2005/8/layout/list1"/>
    <dgm:cxn modelId="{86758CB0-387F-4E1B-B017-16B8608B3587}" type="presParOf" srcId="{E14E604F-3D07-4883-866B-537FE4E76DE1}" destId="{F5FCCDC0-CE96-4F93-A915-E04B7EED993A}" srcOrd="15" destOrd="0" presId="urn:microsoft.com/office/officeart/2005/8/layout/list1"/>
    <dgm:cxn modelId="{7CE5CC92-4ADE-4950-BD74-3308AB435C4A}" type="presParOf" srcId="{E14E604F-3D07-4883-866B-537FE4E76DE1}" destId="{A6877BB7-88E1-41DD-8AE0-1C71139335B0}" srcOrd="16" destOrd="0" presId="urn:microsoft.com/office/officeart/2005/8/layout/list1"/>
    <dgm:cxn modelId="{98CE077C-531D-41D9-8A7D-7668CCF17D33}" type="presParOf" srcId="{A6877BB7-88E1-41DD-8AE0-1C71139335B0}" destId="{03557CD0-7F20-4933-BF7A-38FA373B8571}" srcOrd="0" destOrd="0" presId="urn:microsoft.com/office/officeart/2005/8/layout/list1"/>
    <dgm:cxn modelId="{8D27A5F3-12E9-4F09-8BB6-9296654D65F8}" type="presParOf" srcId="{A6877BB7-88E1-41DD-8AE0-1C71139335B0}" destId="{57A51D2B-5394-4F05-AF24-78800621AB66}" srcOrd="1" destOrd="0" presId="urn:microsoft.com/office/officeart/2005/8/layout/list1"/>
    <dgm:cxn modelId="{6DC7410A-BA6C-40C9-8AE9-FE54ECD7FB0B}" type="presParOf" srcId="{E14E604F-3D07-4883-866B-537FE4E76DE1}" destId="{DA240133-111D-41DB-A322-33B0F9969348}" srcOrd="17" destOrd="0" presId="urn:microsoft.com/office/officeart/2005/8/layout/list1"/>
    <dgm:cxn modelId="{E678DDE6-7394-4D97-9F05-D9A8DBF5DB41}" type="presParOf" srcId="{E14E604F-3D07-4883-866B-537FE4E76DE1}" destId="{DCC6B70C-3019-4565-92C0-D9B0CC558E78}" srcOrd="18" destOrd="0" presId="urn:microsoft.com/office/officeart/2005/8/layout/list1"/>
    <dgm:cxn modelId="{04C7FF7D-67C1-401D-B65E-E68861EDED0E}" type="presParOf" srcId="{E14E604F-3D07-4883-866B-537FE4E76DE1}" destId="{537CDDA1-5C9B-4F9E-8CFE-758ACAF0959D}" srcOrd="19" destOrd="0" presId="urn:microsoft.com/office/officeart/2005/8/layout/list1"/>
    <dgm:cxn modelId="{C943F707-0BFA-4442-B099-72E95527A214}" type="presParOf" srcId="{E14E604F-3D07-4883-866B-537FE4E76DE1}" destId="{E7A8457F-93FC-4037-A05F-29D9948246EB}" srcOrd="20" destOrd="0" presId="urn:microsoft.com/office/officeart/2005/8/layout/list1"/>
    <dgm:cxn modelId="{97F4CED7-1AB2-437A-9CED-DF817E3C5A56}" type="presParOf" srcId="{E7A8457F-93FC-4037-A05F-29D9948246EB}" destId="{8EC3EFB9-8600-43F7-A538-0E292BB4DDAC}" srcOrd="0" destOrd="0" presId="urn:microsoft.com/office/officeart/2005/8/layout/list1"/>
    <dgm:cxn modelId="{4ABD435D-1DA1-4444-845D-B608E846E80D}" type="presParOf" srcId="{E7A8457F-93FC-4037-A05F-29D9948246EB}" destId="{4FBBCB4E-6587-4E45-BC6E-D4B63C978D1E}" srcOrd="1" destOrd="0" presId="urn:microsoft.com/office/officeart/2005/8/layout/list1"/>
    <dgm:cxn modelId="{5902A120-CF52-4423-B447-B1CF6C281B25}" type="presParOf" srcId="{E14E604F-3D07-4883-866B-537FE4E76DE1}" destId="{A1ED6BC7-F4EC-4FCD-AFF8-214C4FA87356}" srcOrd="21" destOrd="0" presId="urn:microsoft.com/office/officeart/2005/8/layout/list1"/>
    <dgm:cxn modelId="{5828A2C4-6B03-4BC5-9320-051D427EF4FC}" type="presParOf" srcId="{E14E604F-3D07-4883-866B-537FE4E76DE1}" destId="{20AF3CC1-ACEE-47BF-BF08-87C1347311DD}" srcOrd="22"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B72BF46-F888-413B-867B-5661DB69668A}">
      <dsp:nvSpPr>
        <dsp:cNvPr id="0" name=""/>
        <dsp:cNvSpPr/>
      </dsp:nvSpPr>
      <dsp:spPr>
        <a:xfrm>
          <a:off x="0" y="282419"/>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DD5803-B274-4178-A6A6-0862CD09DDCD}">
      <dsp:nvSpPr>
        <dsp:cNvPr id="0" name=""/>
        <dsp:cNvSpPr/>
      </dsp:nvSpPr>
      <dsp:spPr>
        <a:xfrm>
          <a:off x="236220" y="75779"/>
          <a:ext cx="330708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Improve robustness</a:t>
          </a:r>
          <a:endParaRPr lang="en-US" sz="2000" kern="1200" dirty="0"/>
        </a:p>
      </dsp:txBody>
      <dsp:txXfrm>
        <a:off x="236220" y="75779"/>
        <a:ext cx="3307080" cy="413280"/>
      </dsp:txXfrm>
    </dsp:sp>
    <dsp:sp modelId="{2DED7322-9FCA-4576-AE93-55283DE4247F}">
      <dsp:nvSpPr>
        <dsp:cNvPr id="0" name=""/>
        <dsp:cNvSpPr/>
      </dsp:nvSpPr>
      <dsp:spPr>
        <a:xfrm>
          <a:off x="0" y="917460"/>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14ACA5-440E-408B-B5E6-FD9AA61271A2}">
      <dsp:nvSpPr>
        <dsp:cNvPr id="0" name=""/>
        <dsp:cNvSpPr/>
      </dsp:nvSpPr>
      <dsp:spPr>
        <a:xfrm>
          <a:off x="236220" y="710819"/>
          <a:ext cx="330708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Easier to find bug</a:t>
          </a:r>
          <a:endParaRPr lang="en-US" sz="2000" kern="1200" dirty="0"/>
        </a:p>
      </dsp:txBody>
      <dsp:txXfrm>
        <a:off x="236220" y="710819"/>
        <a:ext cx="3307080" cy="413280"/>
      </dsp:txXfrm>
    </dsp:sp>
    <dsp:sp modelId="{40972801-CD19-48D6-BFE4-59748B39B1AD}">
      <dsp:nvSpPr>
        <dsp:cNvPr id="0" name=""/>
        <dsp:cNvSpPr/>
      </dsp:nvSpPr>
      <dsp:spPr>
        <a:xfrm>
          <a:off x="0" y="1552500"/>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9361E9-B939-4704-A291-EB36ABB6998F}">
      <dsp:nvSpPr>
        <dsp:cNvPr id="0" name=""/>
        <dsp:cNvSpPr/>
      </dsp:nvSpPr>
      <dsp:spPr>
        <a:xfrm>
          <a:off x="236220" y="1345860"/>
          <a:ext cx="330708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Make program more decent</a:t>
          </a:r>
          <a:endParaRPr lang="en-US" sz="2000" kern="1200" dirty="0"/>
        </a:p>
      </dsp:txBody>
      <dsp:txXfrm>
        <a:off x="236220" y="1345860"/>
        <a:ext cx="3307080" cy="413280"/>
      </dsp:txXfrm>
    </dsp:sp>
    <dsp:sp modelId="{C93FA71B-5BC2-4E90-960B-56B72FA529C9}">
      <dsp:nvSpPr>
        <dsp:cNvPr id="0" name=""/>
        <dsp:cNvSpPr/>
      </dsp:nvSpPr>
      <dsp:spPr>
        <a:xfrm>
          <a:off x="0" y="2187540"/>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793EC5-AB73-4E59-A755-AF3B5489DED1}">
      <dsp:nvSpPr>
        <dsp:cNvPr id="0" name=""/>
        <dsp:cNvSpPr/>
      </dsp:nvSpPr>
      <dsp:spPr>
        <a:xfrm>
          <a:off x="236220" y="1980900"/>
          <a:ext cx="3307080" cy="413280"/>
        </a:xfrm>
        <a:prstGeom prst="round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May hide bug</a:t>
          </a:r>
          <a:endParaRPr lang="en-US" sz="2000" kern="1200" dirty="0"/>
        </a:p>
      </dsp:txBody>
      <dsp:txXfrm>
        <a:off x="236220" y="1980900"/>
        <a:ext cx="3307080" cy="413280"/>
      </dsp:txXfrm>
    </dsp:sp>
    <dsp:sp modelId="{DCC6B70C-3019-4565-92C0-D9B0CC558E78}">
      <dsp:nvSpPr>
        <dsp:cNvPr id="0" name=""/>
        <dsp:cNvSpPr/>
      </dsp:nvSpPr>
      <dsp:spPr>
        <a:xfrm>
          <a:off x="0" y="2822580"/>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A51D2B-5394-4F05-AF24-78800621AB66}">
      <dsp:nvSpPr>
        <dsp:cNvPr id="0" name=""/>
        <dsp:cNvSpPr/>
      </dsp:nvSpPr>
      <dsp:spPr>
        <a:xfrm>
          <a:off x="236220" y="2615939"/>
          <a:ext cx="3307080" cy="413280"/>
        </a:xfrm>
        <a:prstGeom prst="round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Require mass of the code</a:t>
          </a:r>
          <a:endParaRPr lang="en-US" sz="2000" kern="1200" dirty="0"/>
        </a:p>
      </dsp:txBody>
      <dsp:txXfrm>
        <a:off x="236220" y="2615939"/>
        <a:ext cx="3307080" cy="413280"/>
      </dsp:txXfrm>
    </dsp:sp>
    <dsp:sp modelId="{20AF3CC1-ACEE-47BF-BF08-87C1347311DD}">
      <dsp:nvSpPr>
        <dsp:cNvPr id="0" name=""/>
        <dsp:cNvSpPr/>
      </dsp:nvSpPr>
      <dsp:spPr>
        <a:xfrm>
          <a:off x="0" y="3457620"/>
          <a:ext cx="4724399"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BBCB4E-6587-4E45-BC6E-D4B63C978D1E}">
      <dsp:nvSpPr>
        <dsp:cNvPr id="0" name=""/>
        <dsp:cNvSpPr/>
      </dsp:nvSpPr>
      <dsp:spPr>
        <a:xfrm>
          <a:off x="236220" y="3250980"/>
          <a:ext cx="3307080" cy="413280"/>
        </a:xfrm>
        <a:prstGeom prst="round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000" tIns="0" rIns="125000" bIns="0" numCol="1" spcCol="1270" anchor="ctr" anchorCtr="0">
          <a:noAutofit/>
        </a:bodyPr>
        <a:lstStyle/>
        <a:p>
          <a:pPr lvl="0" algn="l" defTabSz="889000">
            <a:lnSpc>
              <a:spcPct val="90000"/>
            </a:lnSpc>
            <a:spcBef>
              <a:spcPct val="0"/>
            </a:spcBef>
            <a:spcAft>
              <a:spcPct val="35000"/>
            </a:spcAft>
          </a:pPr>
          <a:r>
            <a:rPr lang="en-US" sz="2000" kern="1200" dirty="0" smtClean="0"/>
            <a:t>Affect speed</a:t>
          </a:r>
          <a:endParaRPr lang="en-US" sz="2000" kern="1200" dirty="0"/>
        </a:p>
      </dsp:txBody>
      <dsp:txXfrm>
        <a:off x="236220" y="3250980"/>
        <a:ext cx="3307080" cy="4132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3/24/2020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3/24/2020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3/24/2020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3/24/2020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3/24/2020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3/24/2020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3/24/2020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3/24/2020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3/24/2020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3/24/2020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3/24/2020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3/24/2020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drdobbs.com/cpp/logging-in-c/201804215?pgno=3" TargetMode="External"/><Relationship Id="rId2" Type="http://schemas.openxmlformats.org/officeDocument/2006/relationships/hyperlink" Target="https://today.java.net/article/2006/04/04/exception-handling-antipatterns"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msdn.microsoft.com/en-us/library/ms973865.aspx" TargetMode="External"/><Relationship Id="rId4" Type="http://schemas.openxmlformats.org/officeDocument/2006/relationships/hyperlink" Target="http://www.drdobbs.com/cpp/logging-in-c/201804215?pgno=1"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package" Target="../embeddings/Microsoft_Office_Word_Document2.docx"/></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msdn.microsoft.com/en-us/library/dd264808(v=vs.110).aspx?f=255&amp;MSPPError=-214721739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log4cpp.sourceforge.net/" TargetMode="External"/><Relationship Id="rId2" Type="http://schemas.openxmlformats.org/officeDocument/2006/relationships/hyperlink" Target="http://logging.apache.org/log4cxx/index.html" TargetMode="External"/><Relationship Id="rId1" Type="http://schemas.openxmlformats.org/officeDocument/2006/relationships/slideLayout" Target="../slideLayouts/slideLayout2.xml"/><Relationship Id="rId5" Type="http://schemas.openxmlformats.org/officeDocument/2006/relationships/hyperlink" Target="http://logging.apache.org/log4net/" TargetMode="External"/><Relationship Id="rId4" Type="http://schemas.openxmlformats.org/officeDocument/2006/relationships/hyperlink" Target="http://logging.apache.org/log4j/"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www.codeproject.com/Articles/690136/All-About-TransactionScop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Error Handling</a:t>
            </a:r>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257800" cy="4724399"/>
          </a:xfrm>
        </p:spPr>
        <p:txBody>
          <a:bodyPr>
            <a:normAutofit/>
          </a:bodyPr>
          <a:lstStyle/>
          <a:p>
            <a:pPr>
              <a:buFont typeface="Wingdings" pitchFamily="2" charset="2"/>
              <a:buChar char="Ø"/>
            </a:pPr>
            <a:r>
              <a:rPr lang="en-US" sz="2400" dirty="0" smtClean="0"/>
              <a:t>To </a:t>
            </a:r>
            <a:r>
              <a:rPr lang="en-US" sz="2400" i="1" dirty="0" smtClean="0">
                <a:solidFill>
                  <a:srgbClr val="C00000"/>
                </a:solidFill>
              </a:rPr>
              <a:t>handle errors</a:t>
            </a:r>
          </a:p>
          <a:p>
            <a:pPr>
              <a:buFont typeface="Wingdings" pitchFamily="2" charset="2"/>
              <a:buChar char="Ø"/>
            </a:pPr>
            <a:endParaRPr lang="en-US" sz="2400" i="1" dirty="0" smtClean="0">
              <a:solidFill>
                <a:srgbClr val="C00000"/>
              </a:solidFill>
            </a:endParaRPr>
          </a:p>
          <a:p>
            <a:pPr>
              <a:buFont typeface="Wingdings" pitchFamily="2" charset="2"/>
              <a:buChar char="Ø"/>
            </a:pPr>
            <a:r>
              <a:rPr lang="en-US" sz="2400" dirty="0" smtClean="0"/>
              <a:t>To use </a:t>
            </a:r>
            <a:r>
              <a:rPr lang="en-US" sz="2400" i="1" dirty="0" smtClean="0">
                <a:solidFill>
                  <a:srgbClr val="C00000"/>
                </a:solidFill>
              </a:rPr>
              <a:t>exceptions</a:t>
            </a:r>
          </a:p>
          <a:p>
            <a:pPr>
              <a:buFont typeface="Wingdings" pitchFamily="2" charset="2"/>
              <a:buChar char="Ø"/>
            </a:pPr>
            <a:endParaRPr lang="en-US" sz="2400" i="1" dirty="0" smtClean="0">
              <a:solidFill>
                <a:srgbClr val="C00000"/>
              </a:solidFill>
            </a:endParaRPr>
          </a:p>
          <a:p>
            <a:pPr>
              <a:buFont typeface="Wingdings" pitchFamily="2" charset="2"/>
              <a:buChar char="Ø"/>
            </a:pPr>
            <a:r>
              <a:rPr lang="en-US" sz="2400" dirty="0" smtClean="0"/>
              <a:t>To use</a:t>
            </a:r>
            <a:r>
              <a:rPr lang="en-US" sz="2400" i="1" dirty="0" smtClean="0">
                <a:solidFill>
                  <a:srgbClr val="C00000"/>
                </a:solidFill>
              </a:rPr>
              <a:t> </a:t>
            </a:r>
            <a:r>
              <a:rPr lang="en-US" sz="2400" i="1" dirty="0" smtClean="0">
                <a:solidFill>
                  <a:srgbClr val="C00000"/>
                </a:solidFill>
              </a:rPr>
              <a:t>transactions</a:t>
            </a: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410200" cy="4800600"/>
          </a:xfrm>
        </p:spPr>
        <p:txBody>
          <a:bodyPr/>
          <a:lstStyle/>
          <a:p>
            <a:pPr marL="457200" lvl="0" indent="-457200">
              <a:buFont typeface="+mj-lt"/>
              <a:buAutoNum type="arabicPeriod"/>
            </a:pPr>
            <a:r>
              <a:rPr lang="en-US" sz="1600" dirty="0" smtClean="0"/>
              <a:t>Steve McConnell, Code Complete, Second Edition. 2004.</a:t>
            </a:r>
          </a:p>
          <a:p>
            <a:pPr marL="457200" lvl="0" indent="-457200">
              <a:buFont typeface="+mj-lt"/>
              <a:buAutoNum type="arabicPeriod"/>
            </a:pPr>
            <a:r>
              <a:rPr lang="en-US" sz="1600" dirty="0" smtClean="0">
                <a:hlinkClick r:id="rId2"/>
              </a:rPr>
              <a:t>https://today.java.net/article/2006/04/04/exception-handling-antipatterns</a:t>
            </a:r>
            <a:endParaRPr lang="en-US" sz="1600" dirty="0" smtClean="0"/>
          </a:p>
          <a:p>
            <a:pPr marL="457200" indent="-457200">
              <a:buFont typeface="+mj-lt"/>
              <a:buAutoNum type="arabicPeriod"/>
            </a:pPr>
            <a:r>
              <a:rPr lang="en-US" sz="1600" dirty="0" smtClean="0">
                <a:hlinkClick r:id="rId3"/>
              </a:rPr>
              <a:t>http://c2.com/cgi/wiki?DontUseExceptionsForFlowControl</a:t>
            </a:r>
          </a:p>
          <a:p>
            <a:pPr marL="457200" indent="-457200">
              <a:buFont typeface="+mj-lt"/>
              <a:buAutoNum type="arabicPeriod"/>
            </a:pPr>
            <a:r>
              <a:rPr lang="en-US" sz="1600" dirty="0" smtClean="0">
                <a:hlinkClick r:id="rId3"/>
              </a:rPr>
              <a:t>http://c2.com/cgi/wiki?PrincipleOfLeastAstonishment</a:t>
            </a:r>
          </a:p>
          <a:p>
            <a:pPr marL="457200" indent="-457200">
              <a:buFont typeface="+mj-lt"/>
              <a:buAutoNum type="arabicPeriod"/>
            </a:pPr>
            <a:r>
              <a:rPr lang="en-US" sz="1600" dirty="0" smtClean="0"/>
              <a:t>Logging In C++ </a:t>
            </a:r>
            <a:r>
              <a:rPr lang="en-US" sz="1600" dirty="0" smtClean="0">
                <a:hlinkClick r:id="rId4"/>
              </a:rPr>
              <a:t>http://www.drdobbs.com/cpp/logging-in-c/201804215?pgno=1</a:t>
            </a:r>
            <a:endParaRPr lang="en-US" sz="1600" dirty="0" smtClean="0"/>
          </a:p>
          <a:p>
            <a:pPr marL="457200" indent="-457200">
              <a:buFont typeface="+mj-lt"/>
              <a:buAutoNum type="arabicPeriod"/>
            </a:pPr>
            <a:r>
              <a:rPr lang="en-US" sz="1600" dirty="0" smtClean="0"/>
              <a:t>Introducing </a:t>
            </a:r>
            <a:r>
              <a:rPr lang="en-US" sz="1600" dirty="0" err="1" smtClean="0"/>
              <a:t>System.Transactions</a:t>
            </a:r>
            <a:r>
              <a:rPr lang="en-US" sz="1600" dirty="0" smtClean="0"/>
              <a:t> in the .NET Framework 2.0 </a:t>
            </a:r>
            <a:r>
              <a:rPr lang="en-US" sz="1600" dirty="0" smtClean="0">
                <a:hlinkClick r:id="rId5"/>
              </a:rPr>
              <a:t>http://msdn.microsoft.com/en-us/library/ms973865.aspx</a:t>
            </a:r>
          </a:p>
          <a:p>
            <a:pPr marL="457200" lvl="0" indent="-457200">
              <a:buFont typeface="+mj-lt"/>
              <a:buAutoNum type="arabicPeriod"/>
            </a:pPr>
            <a:r>
              <a:rPr lang="en-US" sz="1600" dirty="0" smtClean="0"/>
              <a:t>Roger </a:t>
            </a:r>
            <a:r>
              <a:rPr lang="en-US" sz="1600" dirty="0" err="1" smtClean="0"/>
              <a:t>Barga</a:t>
            </a:r>
            <a:r>
              <a:rPr lang="en-US" sz="1600" dirty="0" smtClean="0"/>
              <a:t> et al. Recovery Guarantees for Internet Applications. 2004.</a:t>
            </a:r>
          </a:p>
          <a:p>
            <a:pPr marL="457200" lvl="0" indent="-457200">
              <a:buFont typeface="+mj-lt"/>
              <a:buAutoNum type="arabicPeriod"/>
            </a:pPr>
            <a:r>
              <a:rPr lang="en-US" sz="1600" dirty="0" smtClean="0"/>
              <a:t>Dino Esposito and Andrea </a:t>
            </a:r>
            <a:r>
              <a:rPr lang="en-US" sz="1600" dirty="0" err="1" smtClean="0"/>
              <a:t>Saltarello</a:t>
            </a:r>
            <a:r>
              <a:rPr lang="en-US" sz="1600" dirty="0" smtClean="0"/>
              <a:t>. Microsoft .NET - Architecting Applications for the Enterprise, Second Edition. 2014</a:t>
            </a:r>
            <a:r>
              <a:rPr lang="en-US" sz="1600" dirty="0" smtClean="0"/>
              <a:t>.</a:t>
            </a:r>
            <a:endParaRPr lang="en-US" sz="1600" dirty="0" smtClean="0"/>
          </a:p>
        </p:txBody>
      </p:sp>
      <p:pic>
        <p:nvPicPr>
          <p:cNvPr id="4" name="Picture 4" descr="http://2.bp.blogspot.com/-FqRM_5NQE6Q/TaSdzyWfvtI/AAAAAAAAAFg/C_2LDJWJOx4/s1600/books-pile.jpg"/>
          <p:cNvPicPr>
            <a:picLocks noChangeAspect="1" noChangeArrowheads="1"/>
          </p:cNvPicPr>
          <p:nvPr/>
        </p:nvPicPr>
        <p:blipFill>
          <a:blip r:embed="rId6"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Sources [1]</a:t>
            </a:r>
            <a:endParaRPr lang="en-US" dirty="0"/>
          </a:p>
        </p:txBody>
      </p:sp>
      <p:sp>
        <p:nvSpPr>
          <p:cNvPr id="3" name="Content Placeholder 2"/>
          <p:cNvSpPr>
            <a:spLocks noGrp="1"/>
          </p:cNvSpPr>
          <p:nvPr>
            <p:ph idx="1"/>
          </p:nvPr>
        </p:nvSpPr>
        <p:spPr>
          <a:xfrm>
            <a:off x="457200" y="1600200"/>
            <a:ext cx="5791200" cy="4525963"/>
          </a:xfrm>
        </p:spPr>
        <p:txBody>
          <a:bodyPr/>
          <a:lstStyle/>
          <a:p>
            <a:r>
              <a:rPr lang="en-US" sz="2400" dirty="0" smtClean="0"/>
              <a:t>Unexpected or malformed user </a:t>
            </a:r>
            <a:r>
              <a:rPr lang="en-US" sz="2400" i="1" dirty="0" smtClean="0">
                <a:solidFill>
                  <a:srgbClr val="C00000"/>
                </a:solidFill>
              </a:rPr>
              <a:t>input</a:t>
            </a:r>
          </a:p>
          <a:p>
            <a:endParaRPr lang="en-US" sz="2400" i="1" dirty="0" smtClean="0">
              <a:solidFill>
                <a:srgbClr val="C00000"/>
              </a:solidFill>
            </a:endParaRPr>
          </a:p>
          <a:p>
            <a:r>
              <a:rPr lang="en-US" sz="2400" dirty="0" smtClean="0"/>
              <a:t>Failure of one or more </a:t>
            </a:r>
            <a:r>
              <a:rPr lang="en-US" sz="2400" i="1" dirty="0" smtClean="0">
                <a:solidFill>
                  <a:srgbClr val="C00000"/>
                </a:solidFill>
              </a:rPr>
              <a:t>hardware</a:t>
            </a:r>
            <a:r>
              <a:rPr lang="en-US" sz="2400" dirty="0" smtClean="0"/>
              <a:t> components</a:t>
            </a:r>
          </a:p>
          <a:p>
            <a:endParaRPr lang="en-US" sz="2400" i="1" dirty="0" smtClean="0">
              <a:solidFill>
                <a:srgbClr val="C00000"/>
              </a:solidFill>
            </a:endParaRPr>
          </a:p>
          <a:p>
            <a:r>
              <a:rPr lang="en-US" sz="2400" i="1" dirty="0" smtClean="0">
                <a:solidFill>
                  <a:srgbClr val="C00000"/>
                </a:solidFill>
              </a:rPr>
              <a:t>Network</a:t>
            </a:r>
            <a:r>
              <a:rPr lang="en-US" sz="2400" dirty="0" smtClean="0"/>
              <a:t> errors or maintenance</a:t>
            </a:r>
          </a:p>
          <a:p>
            <a:endParaRPr lang="en-US" sz="2400" dirty="0" smtClean="0"/>
          </a:p>
          <a:p>
            <a:r>
              <a:rPr lang="en-US" sz="2400" i="1" dirty="0" smtClean="0">
                <a:solidFill>
                  <a:srgbClr val="C00000"/>
                </a:solidFill>
              </a:rPr>
              <a:t>Third party</a:t>
            </a:r>
            <a:r>
              <a:rPr lang="en-US" sz="2400" dirty="0" smtClean="0"/>
              <a:t> services problem</a:t>
            </a:r>
            <a:endParaRPr lang="en-US" sz="2400" dirty="0"/>
          </a:p>
        </p:txBody>
      </p:sp>
      <p:pic>
        <p:nvPicPr>
          <p:cNvPr id="4" name="Picture 4"/>
          <p:cNvPicPr>
            <a:picLocks noChangeAspect="1" noChangeArrowheads="1"/>
          </p:cNvPicPr>
          <p:nvPr/>
        </p:nvPicPr>
        <p:blipFill>
          <a:blip r:embed="rId2" cstate="print"/>
          <a:srcRect/>
          <a:stretch>
            <a:fillRect/>
          </a:stretch>
        </p:blipFill>
        <p:spPr bwMode="auto">
          <a:xfrm>
            <a:off x="6324600" y="3228975"/>
            <a:ext cx="2466975" cy="1647825"/>
          </a:xfrm>
          <a:prstGeom prst="rect">
            <a:avLst/>
          </a:prstGeom>
          <a:noFill/>
          <a:ln w="9525">
            <a:noFill/>
            <a:miter lim="800000"/>
            <a:headEnd/>
            <a:tailEnd/>
          </a:ln>
          <a:effectLst/>
        </p:spPr>
      </p:pic>
      <p:pic>
        <p:nvPicPr>
          <p:cNvPr id="32772" name="Picture 4" descr="http://www.miesoftware.com/support/Articles/MIE_err_msgbox.gif"/>
          <p:cNvPicPr>
            <a:picLocks noChangeAspect="1" noChangeArrowheads="1"/>
          </p:cNvPicPr>
          <p:nvPr/>
        </p:nvPicPr>
        <p:blipFill>
          <a:blip r:embed="rId3" cstate="print"/>
          <a:srcRect/>
          <a:stretch>
            <a:fillRect/>
          </a:stretch>
        </p:blipFill>
        <p:spPr bwMode="auto">
          <a:xfrm>
            <a:off x="6343650" y="1743074"/>
            <a:ext cx="2419350" cy="1228726"/>
          </a:xfrm>
          <a:prstGeom prst="rect">
            <a:avLst/>
          </a:prstGeom>
          <a:noFill/>
        </p:spPr>
      </p:pic>
      <p:pic>
        <p:nvPicPr>
          <p:cNvPr id="32774" name="Picture 6" descr="http://www.intel.com/support/graphics/intel845g/Img/software-error.gif"/>
          <p:cNvPicPr>
            <a:picLocks noChangeAspect="1" noChangeArrowheads="1"/>
          </p:cNvPicPr>
          <p:nvPr/>
        </p:nvPicPr>
        <p:blipFill>
          <a:blip r:embed="rId4" cstate="print"/>
          <a:srcRect/>
          <a:stretch>
            <a:fillRect/>
          </a:stretch>
        </p:blipFill>
        <p:spPr bwMode="auto">
          <a:xfrm>
            <a:off x="4991100" y="5191124"/>
            <a:ext cx="3771900" cy="113347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Error-Handling</a:t>
            </a:r>
            <a:endParaRPr lang="en-US" dirty="0"/>
          </a:p>
        </p:txBody>
      </p:sp>
      <p:sp>
        <p:nvSpPr>
          <p:cNvPr id="3" name="Content Placeholder 2"/>
          <p:cNvSpPr>
            <a:spLocks noGrp="1"/>
          </p:cNvSpPr>
          <p:nvPr>
            <p:ph idx="1"/>
          </p:nvPr>
        </p:nvSpPr>
        <p:spPr/>
        <p:txBody>
          <a:bodyPr/>
          <a:lstStyle/>
          <a:p>
            <a:r>
              <a:rPr lang="en-US" dirty="0" smtClean="0"/>
              <a:t>Error handling is code that's used to handle errors that you do </a:t>
            </a:r>
            <a:r>
              <a:rPr lang="en-US" i="1" dirty="0" smtClean="0">
                <a:solidFill>
                  <a:srgbClr val="C00000"/>
                </a:solidFill>
              </a:rPr>
              <a:t>expect</a:t>
            </a:r>
            <a:r>
              <a:rPr lang="en-US" dirty="0" smtClean="0"/>
              <a:t> to occur. </a:t>
            </a:r>
          </a:p>
          <a:p>
            <a:pPr lvl="1"/>
            <a:r>
              <a:rPr lang="en-US" sz="2400" dirty="0" smtClean="0"/>
              <a:t>Return a neutral value</a:t>
            </a:r>
          </a:p>
          <a:p>
            <a:pPr lvl="1"/>
            <a:r>
              <a:rPr lang="en-US" sz="2400" dirty="0" smtClean="0"/>
              <a:t>Return an error code</a:t>
            </a:r>
          </a:p>
          <a:p>
            <a:pPr lvl="1"/>
            <a:r>
              <a:rPr lang="en-US" sz="2400" dirty="0" smtClean="0"/>
              <a:t>Log a warning message to a file</a:t>
            </a:r>
          </a:p>
          <a:p>
            <a:pPr lvl="1"/>
            <a:r>
              <a:rPr lang="en-US" sz="2400" dirty="0" smtClean="0"/>
              <a:t>Display an error message wherever the error is encountered</a:t>
            </a:r>
          </a:p>
          <a:p>
            <a:pPr lvl="1"/>
            <a:r>
              <a:rPr lang="en-US" sz="2400" dirty="0" smtClean="0"/>
              <a:t>Shut down</a:t>
            </a:r>
          </a:p>
          <a:p>
            <a:r>
              <a:rPr lang="en-US" dirty="0" smtClean="0"/>
              <a:t>Robustness vs. </a:t>
            </a:r>
            <a:r>
              <a:rPr lang="en-US" i="1" dirty="0" smtClean="0">
                <a:solidFill>
                  <a:srgbClr val="C00000"/>
                </a:solidFill>
              </a:rPr>
              <a:t>Correctness</a:t>
            </a:r>
          </a:p>
        </p:txBody>
      </p:sp>
      <p:pic>
        <p:nvPicPr>
          <p:cNvPr id="4" name="Picture 2"/>
          <p:cNvPicPr>
            <a:picLocks noChangeAspect="1" noChangeArrowheads="1"/>
          </p:cNvPicPr>
          <p:nvPr/>
        </p:nvPicPr>
        <p:blipFill>
          <a:blip r:embed="rId2" cstate="print"/>
          <a:srcRect/>
          <a:stretch>
            <a:fillRect/>
          </a:stretch>
        </p:blipFill>
        <p:spPr bwMode="auto">
          <a:xfrm>
            <a:off x="6324600" y="4953000"/>
            <a:ext cx="2286000" cy="1143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Barricades</a:t>
            </a:r>
            <a:endParaRPr lang="en-US" dirty="0"/>
          </a:p>
        </p:txBody>
      </p:sp>
      <p:sp>
        <p:nvSpPr>
          <p:cNvPr id="5" name="Rectangle 4"/>
          <p:cNvSpPr/>
          <p:nvPr/>
        </p:nvSpPr>
        <p:spPr>
          <a:xfrm>
            <a:off x="152400" y="1143000"/>
            <a:ext cx="8915400" cy="1015663"/>
          </a:xfrm>
          <a:prstGeom prst="rect">
            <a:avLst/>
          </a:prstGeom>
          <a:solidFill>
            <a:schemeClr val="accent1"/>
          </a:solidFill>
        </p:spPr>
        <p:txBody>
          <a:bodyPr wrap="square">
            <a:spAutoFit/>
          </a:bodyPr>
          <a:lstStyle/>
          <a:p>
            <a:pPr algn="ctr"/>
            <a:r>
              <a:rPr lang="en-US" sz="2000" i="1" u="sng" dirty="0" smtClean="0">
                <a:solidFill>
                  <a:schemeClr val="bg1"/>
                </a:solidFill>
                <a:latin typeface="+mj-lt"/>
              </a:rPr>
              <a:t>Barricades</a:t>
            </a:r>
            <a:r>
              <a:rPr lang="en-US" sz="2000" i="1" dirty="0" smtClean="0">
                <a:solidFill>
                  <a:schemeClr val="bg1"/>
                </a:solidFill>
                <a:latin typeface="+mj-lt"/>
              </a:rPr>
              <a:t> are a damage-containment strategy. </a:t>
            </a:r>
          </a:p>
          <a:p>
            <a:pPr algn="ctr"/>
            <a:r>
              <a:rPr lang="en-US" sz="2000" i="1" dirty="0" smtClean="0">
                <a:solidFill>
                  <a:schemeClr val="bg1"/>
                </a:solidFill>
                <a:latin typeface="+mj-lt"/>
              </a:rPr>
              <a:t>Designate certain interfaces as </a:t>
            </a:r>
            <a:r>
              <a:rPr lang="en-US" sz="2000" i="1" u="sng" dirty="0" smtClean="0">
                <a:solidFill>
                  <a:schemeClr val="bg1"/>
                </a:solidFill>
                <a:latin typeface="+mj-lt"/>
              </a:rPr>
              <a:t>boundaries</a:t>
            </a:r>
            <a:r>
              <a:rPr lang="en-US" sz="2000" i="1" dirty="0" smtClean="0">
                <a:solidFill>
                  <a:schemeClr val="bg1"/>
                </a:solidFill>
                <a:latin typeface="+mj-lt"/>
              </a:rPr>
              <a:t> to "safe" areas. </a:t>
            </a:r>
            <a:r>
              <a:rPr lang="en-US" sz="2000" i="1" u="sng" dirty="0" smtClean="0">
                <a:solidFill>
                  <a:schemeClr val="bg1"/>
                </a:solidFill>
                <a:latin typeface="+mj-lt"/>
              </a:rPr>
              <a:t>Check data</a:t>
            </a:r>
            <a:r>
              <a:rPr lang="en-US" sz="2000" i="1" dirty="0" smtClean="0">
                <a:solidFill>
                  <a:schemeClr val="bg1"/>
                </a:solidFill>
                <a:latin typeface="+mj-lt"/>
              </a:rPr>
              <a:t> crossing the boundaries of a safe area for validity, and respond sensibly if the data isn't valid. </a:t>
            </a:r>
            <a:endParaRPr lang="en-US" sz="2000" i="1" dirty="0">
              <a:solidFill>
                <a:schemeClr val="bg1"/>
              </a:solidFill>
              <a:latin typeface="+mj-lt"/>
            </a:endParaRPr>
          </a:p>
        </p:txBody>
      </p:sp>
      <p:pic>
        <p:nvPicPr>
          <p:cNvPr id="2050" name="Picture 2"/>
          <p:cNvPicPr>
            <a:picLocks noChangeAspect="1" noChangeArrowheads="1"/>
          </p:cNvPicPr>
          <p:nvPr/>
        </p:nvPicPr>
        <p:blipFill>
          <a:blip r:embed="rId2" cstate="print"/>
          <a:srcRect/>
          <a:stretch>
            <a:fillRect/>
          </a:stretch>
        </p:blipFill>
        <p:spPr bwMode="auto">
          <a:xfrm>
            <a:off x="1981200" y="2343150"/>
            <a:ext cx="5305425" cy="44386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Assertions</a:t>
            </a:r>
            <a:endParaRPr lang="en-US" dirty="0"/>
          </a:p>
        </p:txBody>
      </p:sp>
      <p:sp>
        <p:nvSpPr>
          <p:cNvPr id="4" name="Rectangle 3"/>
          <p:cNvSpPr/>
          <p:nvPr/>
        </p:nvSpPr>
        <p:spPr>
          <a:xfrm>
            <a:off x="381000" y="1219200"/>
            <a:ext cx="8382000" cy="1446550"/>
          </a:xfrm>
          <a:prstGeom prst="rect">
            <a:avLst/>
          </a:prstGeom>
          <a:solidFill>
            <a:schemeClr val="accent1"/>
          </a:solidFill>
        </p:spPr>
        <p:txBody>
          <a:bodyPr wrap="square">
            <a:spAutoFit/>
          </a:bodyPr>
          <a:lstStyle/>
          <a:p>
            <a:pPr algn="ctr"/>
            <a:r>
              <a:rPr lang="en-US" sz="2200" i="1" u="sng" dirty="0" smtClean="0">
                <a:solidFill>
                  <a:schemeClr val="bg1"/>
                </a:solidFill>
                <a:latin typeface="+mj-lt"/>
              </a:rPr>
              <a:t>An assertion</a:t>
            </a:r>
            <a:r>
              <a:rPr lang="en-US" sz="2200" i="1" dirty="0" smtClean="0">
                <a:solidFill>
                  <a:schemeClr val="bg1"/>
                </a:solidFill>
                <a:latin typeface="+mj-lt"/>
              </a:rPr>
              <a:t> is code that's used during development—usually a routine or macro—that allows a program to check itself as it runs. When an assertion is true, that means everything is operating as expected. When it's false, that means it has detected an unexpected error in the code.</a:t>
            </a:r>
            <a:endParaRPr lang="en-US" sz="2200" i="1" dirty="0">
              <a:solidFill>
                <a:schemeClr val="bg1"/>
              </a:solidFill>
              <a:latin typeface="+mj-lt"/>
            </a:endParaRPr>
          </a:p>
        </p:txBody>
      </p:sp>
      <p:sp>
        <p:nvSpPr>
          <p:cNvPr id="5" name="Rectangle 4"/>
          <p:cNvSpPr/>
          <p:nvPr/>
        </p:nvSpPr>
        <p:spPr>
          <a:xfrm>
            <a:off x="304800" y="4876800"/>
            <a:ext cx="4572000" cy="769441"/>
          </a:xfrm>
          <a:prstGeom prst="rect">
            <a:avLst/>
          </a:prstGeom>
          <a:solidFill>
            <a:schemeClr val="accent6"/>
          </a:solidFill>
        </p:spPr>
        <p:txBody>
          <a:bodyPr wrap="square">
            <a:spAutoFit/>
          </a:bodyPr>
          <a:lstStyle/>
          <a:p>
            <a:pPr algn="ctr"/>
            <a:r>
              <a:rPr lang="en-US" sz="2200" i="1" dirty="0" smtClean="0">
                <a:solidFill>
                  <a:schemeClr val="bg1"/>
                </a:solidFill>
                <a:latin typeface="+mj-lt"/>
              </a:rPr>
              <a:t>Assertions are used to handle errors that should never occur in the code. </a:t>
            </a:r>
            <a:endParaRPr lang="en-US" sz="2200" i="1" dirty="0">
              <a:solidFill>
                <a:schemeClr val="bg1"/>
              </a:solidFill>
              <a:latin typeface="+mj-lt"/>
            </a:endParaRPr>
          </a:p>
        </p:txBody>
      </p:sp>
      <p:graphicFrame>
        <p:nvGraphicFramePr>
          <p:cNvPr id="10241" name="Object 1"/>
          <p:cNvGraphicFramePr>
            <a:graphicFrameLocks noChangeAspect="1"/>
          </p:cNvGraphicFramePr>
          <p:nvPr/>
        </p:nvGraphicFramePr>
        <p:xfrm>
          <a:off x="-1588" y="2733675"/>
          <a:ext cx="5868988" cy="2143125"/>
        </p:xfrm>
        <a:graphic>
          <a:graphicData uri="http://schemas.openxmlformats.org/presentationml/2006/ole">
            <p:oleObj spid="_x0000_s67586" name="Document" r:id="rId3" imgW="5940848" imgH="2174633" progId="Word.Document.12">
              <p:embed/>
            </p:oleObj>
          </a:graphicData>
        </a:graphic>
      </p:graphicFrame>
      <p:pic>
        <p:nvPicPr>
          <p:cNvPr id="10242" name="Picture 2"/>
          <p:cNvPicPr>
            <a:picLocks noChangeAspect="1" noChangeArrowheads="1"/>
          </p:cNvPicPr>
          <p:nvPr/>
        </p:nvPicPr>
        <p:blipFill>
          <a:blip r:embed="rId4" cstate="print"/>
          <a:srcRect/>
          <a:stretch>
            <a:fillRect/>
          </a:stretch>
        </p:blipFill>
        <p:spPr bwMode="auto">
          <a:xfrm>
            <a:off x="5067300" y="4467225"/>
            <a:ext cx="3924300" cy="22383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US" dirty="0"/>
          </a:p>
        </p:txBody>
      </p:sp>
      <p:sp>
        <p:nvSpPr>
          <p:cNvPr id="4" name="Rectangle 3"/>
          <p:cNvSpPr/>
          <p:nvPr/>
        </p:nvSpPr>
        <p:spPr>
          <a:xfrm>
            <a:off x="381000" y="1287959"/>
            <a:ext cx="8382000" cy="769441"/>
          </a:xfrm>
          <a:prstGeom prst="rect">
            <a:avLst/>
          </a:prstGeom>
          <a:solidFill>
            <a:schemeClr val="accent1"/>
          </a:solidFill>
        </p:spPr>
        <p:txBody>
          <a:bodyPr wrap="square">
            <a:spAutoFit/>
          </a:bodyPr>
          <a:lstStyle/>
          <a:p>
            <a:pPr algn="ctr"/>
            <a:r>
              <a:rPr lang="en-US" sz="2200" i="1" u="sng" dirty="0" smtClean="0">
                <a:solidFill>
                  <a:schemeClr val="bg1"/>
                </a:solidFill>
                <a:latin typeface="+mj-lt"/>
              </a:rPr>
              <a:t>Exceptions</a:t>
            </a:r>
            <a:r>
              <a:rPr lang="en-US" sz="2200" i="1" dirty="0" smtClean="0">
                <a:solidFill>
                  <a:schemeClr val="bg1"/>
                </a:solidFill>
                <a:latin typeface="+mj-lt"/>
              </a:rPr>
              <a:t> are a specific means by which code can pass along errors or exceptional events to the code that called it.</a:t>
            </a:r>
            <a:endParaRPr lang="en-US" sz="2200" i="1" dirty="0">
              <a:solidFill>
                <a:schemeClr val="bg1"/>
              </a:solidFill>
              <a:latin typeface="+mj-lt"/>
            </a:endParaRPr>
          </a:p>
        </p:txBody>
      </p:sp>
      <p:pic>
        <p:nvPicPr>
          <p:cNvPr id="8193" name="Picture 1"/>
          <p:cNvPicPr>
            <a:picLocks noChangeAspect="1" noChangeArrowheads="1"/>
          </p:cNvPicPr>
          <p:nvPr/>
        </p:nvPicPr>
        <p:blipFill>
          <a:blip r:embed="rId3" cstate="print"/>
          <a:srcRect/>
          <a:stretch>
            <a:fillRect/>
          </a:stretch>
        </p:blipFill>
        <p:spPr bwMode="auto">
          <a:xfrm>
            <a:off x="3200400" y="5334000"/>
            <a:ext cx="3200400" cy="1209675"/>
          </a:xfrm>
          <a:prstGeom prst="rect">
            <a:avLst/>
          </a:prstGeom>
          <a:noFill/>
          <a:ln w="9525">
            <a:noFill/>
            <a:miter lim="800000"/>
            <a:headEnd/>
            <a:tailEnd/>
          </a:ln>
          <a:effectLst/>
        </p:spPr>
      </p:pic>
      <p:graphicFrame>
        <p:nvGraphicFramePr>
          <p:cNvPr id="8194" name="Object 2"/>
          <p:cNvGraphicFramePr>
            <a:graphicFrameLocks noChangeAspect="1"/>
          </p:cNvGraphicFramePr>
          <p:nvPr/>
        </p:nvGraphicFramePr>
        <p:xfrm>
          <a:off x="533400" y="2209800"/>
          <a:ext cx="7478713" cy="3725862"/>
        </p:xfrm>
        <a:graphic>
          <a:graphicData uri="http://schemas.openxmlformats.org/presentationml/2006/ole">
            <p:oleObj spid="_x0000_s29698" name="Document" r:id="rId4" imgW="7588525" imgH="3773883" progId="Word.Document.12">
              <p:embed/>
            </p:oleObj>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Exception Handling Model</a:t>
            </a:r>
            <a:endParaRPr lang="en-US" dirty="0"/>
          </a:p>
        </p:txBody>
      </p:sp>
      <p:pic>
        <p:nvPicPr>
          <p:cNvPr id="51202" name="Picture 2"/>
          <p:cNvPicPr>
            <a:picLocks noChangeAspect="1" noChangeArrowheads="1"/>
          </p:cNvPicPr>
          <p:nvPr/>
        </p:nvPicPr>
        <p:blipFill>
          <a:blip r:embed="rId2" cstate="print"/>
          <a:srcRect/>
          <a:stretch>
            <a:fillRect/>
          </a:stretch>
        </p:blipFill>
        <p:spPr bwMode="auto">
          <a:xfrm>
            <a:off x="1004888" y="1733550"/>
            <a:ext cx="7134225" cy="48958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 Types [2]</a:t>
            </a:r>
            <a:endParaRPr lang="en-US" dirty="0"/>
          </a:p>
        </p:txBody>
      </p:sp>
      <p:sp>
        <p:nvSpPr>
          <p:cNvPr id="3" name="Content Placeholder 2"/>
          <p:cNvSpPr>
            <a:spLocks noGrp="1"/>
          </p:cNvSpPr>
          <p:nvPr>
            <p:ph idx="1"/>
          </p:nvPr>
        </p:nvSpPr>
        <p:spPr>
          <a:xfrm>
            <a:off x="457200" y="1600200"/>
            <a:ext cx="5562600" cy="4800600"/>
          </a:xfrm>
        </p:spPr>
        <p:txBody>
          <a:bodyPr/>
          <a:lstStyle/>
          <a:p>
            <a:r>
              <a:rPr lang="en-US" sz="2200" i="1" dirty="0" smtClean="0">
                <a:solidFill>
                  <a:srgbClr val="C00000"/>
                </a:solidFill>
              </a:rPr>
              <a:t>Checked exceptions</a:t>
            </a:r>
            <a:r>
              <a:rPr lang="en-US" sz="2200" dirty="0" smtClean="0"/>
              <a:t> are exceptions indicating an expected problem that can occur during normal system operation.</a:t>
            </a:r>
          </a:p>
          <a:p>
            <a:endParaRPr lang="en-US" sz="2200" dirty="0" smtClean="0"/>
          </a:p>
          <a:p>
            <a:r>
              <a:rPr lang="en-US" sz="2200" i="1" dirty="0" smtClean="0">
                <a:solidFill>
                  <a:srgbClr val="C00000"/>
                </a:solidFill>
              </a:rPr>
              <a:t>Unchecked exceptions</a:t>
            </a:r>
            <a:r>
              <a:rPr lang="en-US" sz="2200" dirty="0" smtClean="0"/>
              <a:t> are exceptions indicating an unexpected problem that is probably due to a bug in the code (</a:t>
            </a:r>
            <a:r>
              <a:rPr lang="en-US" sz="2200" dirty="0" err="1" smtClean="0"/>
              <a:t>NullPointerException</a:t>
            </a:r>
            <a:r>
              <a:rPr lang="en-US" sz="2200" dirty="0" smtClean="0"/>
              <a:t>, </a:t>
            </a:r>
            <a:r>
              <a:rPr lang="en-US" sz="2200" dirty="0" err="1" smtClean="0"/>
              <a:t>IllegalAccessException</a:t>
            </a:r>
            <a:r>
              <a:rPr lang="en-US" sz="2200" dirty="0" smtClean="0"/>
              <a:t>...).</a:t>
            </a:r>
          </a:p>
          <a:p>
            <a:endParaRPr lang="en-US" sz="2200" dirty="0" smtClean="0"/>
          </a:p>
          <a:p>
            <a:r>
              <a:rPr lang="en-US" sz="2200" i="1" dirty="0" smtClean="0">
                <a:solidFill>
                  <a:srgbClr val="C00000"/>
                </a:solidFill>
              </a:rPr>
              <a:t>Errors</a:t>
            </a:r>
            <a:r>
              <a:rPr lang="en-US" sz="2200" dirty="0" smtClean="0"/>
              <a:t> are serious problems that are almost certainly not recoverable (</a:t>
            </a:r>
            <a:r>
              <a:rPr lang="en-US" sz="2200" dirty="0" err="1" smtClean="0"/>
              <a:t>OutOfMemoryError</a:t>
            </a:r>
            <a:r>
              <a:rPr lang="en-US" sz="2200" dirty="0" smtClean="0"/>
              <a:t>, </a:t>
            </a:r>
            <a:r>
              <a:rPr lang="en-US" sz="2200" dirty="0" err="1" smtClean="0"/>
              <a:t>StackOverflowError</a:t>
            </a:r>
            <a:r>
              <a:rPr lang="en-US" sz="2200" dirty="0" smtClean="0"/>
              <a:t>...)</a:t>
            </a:r>
          </a:p>
        </p:txBody>
      </p:sp>
      <p:pic>
        <p:nvPicPr>
          <p:cNvPr id="63491" name="Picture 3"/>
          <p:cNvPicPr>
            <a:picLocks noChangeAspect="1" noChangeArrowheads="1"/>
          </p:cNvPicPr>
          <p:nvPr/>
        </p:nvPicPr>
        <p:blipFill>
          <a:blip r:embed="rId2" cstate="print"/>
          <a:srcRect/>
          <a:stretch>
            <a:fillRect/>
          </a:stretch>
        </p:blipFill>
        <p:spPr bwMode="auto">
          <a:xfrm>
            <a:off x="5762625" y="2362200"/>
            <a:ext cx="3381375" cy="28575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to Catch Exception?</a:t>
            </a:r>
            <a:endParaRPr lang="en-US" dirty="0"/>
          </a:p>
        </p:txBody>
      </p:sp>
      <p:pic>
        <p:nvPicPr>
          <p:cNvPr id="47106" name="Picture 2"/>
          <p:cNvPicPr>
            <a:picLocks noChangeAspect="1" noChangeArrowheads="1"/>
          </p:cNvPicPr>
          <p:nvPr/>
        </p:nvPicPr>
        <p:blipFill>
          <a:blip r:embed="rId2" cstate="print"/>
          <a:srcRect/>
          <a:stretch>
            <a:fillRect/>
          </a:stretch>
        </p:blipFill>
        <p:spPr bwMode="auto">
          <a:xfrm>
            <a:off x="685800" y="1981200"/>
            <a:ext cx="3514725" cy="3971925"/>
          </a:xfrm>
          <a:prstGeom prst="rect">
            <a:avLst/>
          </a:prstGeom>
          <a:noFill/>
          <a:ln w="9525">
            <a:noFill/>
            <a:miter lim="800000"/>
            <a:headEnd/>
            <a:tailEnd/>
          </a:ln>
          <a:effectLst/>
        </p:spPr>
      </p:pic>
      <p:sp>
        <p:nvSpPr>
          <p:cNvPr id="5" name="Rectangle 4"/>
          <p:cNvSpPr/>
          <p:nvPr/>
        </p:nvSpPr>
        <p:spPr>
          <a:xfrm>
            <a:off x="2667000" y="5181600"/>
            <a:ext cx="6324600" cy="1323439"/>
          </a:xfrm>
          <a:prstGeom prst="rect">
            <a:avLst/>
          </a:prstGeom>
          <a:solidFill>
            <a:schemeClr val="bg2"/>
          </a:solidFill>
          <a:ln>
            <a:solidFill>
              <a:schemeClr val="tx1">
                <a:lumMod val="50000"/>
                <a:lumOff val="50000"/>
              </a:schemeClr>
            </a:solidFill>
          </a:ln>
        </p:spPr>
        <p:txBody>
          <a:bodyPr wrap="square">
            <a:spAutoFit/>
          </a:bodyPr>
          <a:lstStyle/>
          <a:p>
            <a:r>
              <a:rPr lang="en-US" sz="1600" dirty="0" smtClean="0">
                <a:solidFill>
                  <a:srgbClr val="C00000"/>
                </a:solidFill>
                <a:latin typeface="Consolas" pitchFamily="49" charset="0"/>
                <a:cs typeface="Consolas" pitchFamily="49" charset="0"/>
              </a:rPr>
              <a:t>catch(</a:t>
            </a:r>
            <a:r>
              <a:rPr lang="en-US" sz="1600" dirty="0" err="1" smtClean="0">
                <a:solidFill>
                  <a:srgbClr val="C00000"/>
                </a:solidFill>
                <a:latin typeface="Consolas" pitchFamily="49" charset="0"/>
                <a:cs typeface="Consolas" pitchFamily="49" charset="0"/>
              </a:rPr>
              <a:t>SQLException</a:t>
            </a:r>
            <a:r>
              <a:rPr lang="en-US" sz="1600" dirty="0" smtClean="0">
                <a:solidFill>
                  <a:srgbClr val="C00000"/>
                </a:solidFill>
                <a:latin typeface="Consolas" pitchFamily="49" charset="0"/>
                <a:cs typeface="Consolas" pitchFamily="49" charset="0"/>
              </a:rPr>
              <a:t> e) </a:t>
            </a:r>
            <a:r>
              <a:rPr lang="en-US" sz="1600" i="1" dirty="0" smtClean="0">
                <a:solidFill>
                  <a:schemeClr val="accent5"/>
                </a:solidFill>
                <a:latin typeface="Consolas" pitchFamily="49" charset="0"/>
                <a:cs typeface="Consolas" pitchFamily="49" charset="0"/>
              </a:rPr>
              <a:t>//Preserve encapsulation</a:t>
            </a:r>
            <a:r>
              <a:rPr lang="en-US" sz="1600" dirty="0" smtClean="0">
                <a:solidFill>
                  <a:srgbClr val="C00000"/>
                </a:solidFill>
                <a:latin typeface="Consolas" pitchFamily="49" charset="0"/>
                <a:cs typeface="Consolas" pitchFamily="49" charset="0"/>
              </a:rPr>
              <a:t/>
            </a:r>
            <a:br>
              <a:rPr lang="en-US" sz="1600" dirty="0" smtClean="0">
                <a:solidFill>
                  <a:srgbClr val="C00000"/>
                </a:solidFill>
                <a:latin typeface="Consolas" pitchFamily="49" charset="0"/>
                <a:cs typeface="Consolas" pitchFamily="49" charset="0"/>
              </a:rPr>
            </a:br>
            <a:r>
              <a:rPr lang="en-US" sz="1600" dirty="0" smtClean="0">
                <a:solidFill>
                  <a:srgbClr val="C00000"/>
                </a:solidFill>
                <a:latin typeface="Consolas" pitchFamily="49" charset="0"/>
                <a:cs typeface="Consolas" pitchFamily="49" charset="0"/>
              </a:rPr>
              <a:t>{</a:t>
            </a:r>
            <a:br>
              <a:rPr lang="en-US" sz="1600" dirty="0" smtClean="0">
                <a:solidFill>
                  <a:srgbClr val="C00000"/>
                </a:solidFill>
                <a:latin typeface="Consolas" pitchFamily="49" charset="0"/>
                <a:cs typeface="Consolas" pitchFamily="49" charset="0"/>
              </a:rPr>
            </a:br>
            <a:r>
              <a:rPr lang="en-US" sz="1600" dirty="0" smtClean="0">
                <a:solidFill>
                  <a:srgbClr val="C00000"/>
                </a:solidFill>
                <a:latin typeface="Consolas" pitchFamily="49" charset="0"/>
                <a:cs typeface="Consolas" pitchFamily="49" charset="0"/>
              </a:rPr>
              <a:t>   </a:t>
            </a:r>
            <a:r>
              <a:rPr lang="en-US" sz="1600" dirty="0" err="1" smtClean="0">
                <a:solidFill>
                  <a:srgbClr val="C00000"/>
                </a:solidFill>
                <a:latin typeface="Consolas" pitchFamily="49" charset="0"/>
                <a:cs typeface="Consolas" pitchFamily="49" charset="0"/>
              </a:rPr>
              <a:t>DataException</a:t>
            </a:r>
            <a:r>
              <a:rPr lang="en-US" sz="1600" dirty="0" smtClean="0">
                <a:solidFill>
                  <a:srgbClr val="C00000"/>
                </a:solidFill>
                <a:latin typeface="Consolas" pitchFamily="49" charset="0"/>
                <a:cs typeface="Consolas" pitchFamily="49" charset="0"/>
              </a:rPr>
              <a:t> exception = new </a:t>
            </a:r>
            <a:r>
              <a:rPr lang="en-US" sz="1600" dirty="0" err="1" smtClean="0">
                <a:solidFill>
                  <a:srgbClr val="C00000"/>
                </a:solidFill>
                <a:latin typeface="Consolas" pitchFamily="49" charset="0"/>
                <a:cs typeface="Consolas" pitchFamily="49" charset="0"/>
              </a:rPr>
              <a:t>DataException</a:t>
            </a:r>
            <a:r>
              <a:rPr lang="en-US" sz="1600" dirty="0" smtClean="0">
                <a:solidFill>
                  <a:srgbClr val="C00000"/>
                </a:solidFill>
                <a:latin typeface="Consolas" pitchFamily="49" charset="0"/>
                <a:cs typeface="Consolas" pitchFamily="49" charset="0"/>
              </a:rPr>
              <a:t>(e);</a:t>
            </a:r>
            <a:br>
              <a:rPr lang="en-US" sz="1600" dirty="0" smtClean="0">
                <a:solidFill>
                  <a:srgbClr val="C00000"/>
                </a:solidFill>
                <a:latin typeface="Consolas" pitchFamily="49" charset="0"/>
                <a:cs typeface="Consolas" pitchFamily="49" charset="0"/>
              </a:rPr>
            </a:br>
            <a:r>
              <a:rPr lang="en-US" sz="1600" dirty="0" smtClean="0">
                <a:solidFill>
                  <a:srgbClr val="C00000"/>
                </a:solidFill>
                <a:latin typeface="Consolas" pitchFamily="49" charset="0"/>
                <a:cs typeface="Consolas" pitchFamily="49" charset="0"/>
              </a:rPr>
              <a:t>   throw exception;</a:t>
            </a:r>
            <a:br>
              <a:rPr lang="en-US" sz="1600" dirty="0" smtClean="0">
                <a:solidFill>
                  <a:srgbClr val="C00000"/>
                </a:solidFill>
                <a:latin typeface="Consolas" pitchFamily="49" charset="0"/>
                <a:cs typeface="Consolas" pitchFamily="49" charset="0"/>
              </a:rPr>
            </a:br>
            <a:r>
              <a:rPr lang="en-US" sz="1600" dirty="0" smtClean="0">
                <a:solidFill>
                  <a:srgbClr val="C00000"/>
                </a:solidFill>
                <a:latin typeface="Consolas" pitchFamily="49" charset="0"/>
                <a:cs typeface="Consolas" pitchFamily="49" charset="0"/>
              </a:rPr>
              <a:t>} </a:t>
            </a:r>
            <a:endParaRPr lang="en-US" sz="1600" dirty="0">
              <a:solidFill>
                <a:srgbClr val="C00000"/>
              </a:solidFill>
              <a:latin typeface="Consolas" pitchFamily="49" charset="0"/>
              <a:cs typeface="Consolas" pitchFamily="49" charset="0"/>
            </a:endParaRPr>
          </a:p>
        </p:txBody>
      </p:sp>
      <p:sp>
        <p:nvSpPr>
          <p:cNvPr id="6" name="Rectangle 5"/>
          <p:cNvSpPr/>
          <p:nvPr/>
        </p:nvSpPr>
        <p:spPr>
          <a:xfrm>
            <a:off x="4343400" y="3657600"/>
            <a:ext cx="4114800" cy="1323439"/>
          </a:xfrm>
          <a:prstGeom prst="rect">
            <a:avLst/>
          </a:prstGeom>
          <a:solidFill>
            <a:schemeClr val="bg2"/>
          </a:solidFill>
          <a:ln>
            <a:solidFill>
              <a:schemeClr val="tx1">
                <a:lumMod val="50000"/>
                <a:lumOff val="50000"/>
              </a:schemeClr>
            </a:solidFill>
          </a:ln>
        </p:spPr>
        <p:txBody>
          <a:bodyPr wrap="square">
            <a:spAutoFit/>
          </a:bodyPr>
          <a:lstStyle/>
          <a:p>
            <a:r>
              <a:rPr lang="en-US" sz="1600" dirty="0" smtClean="0">
                <a:solidFill>
                  <a:srgbClr val="C00000"/>
                </a:solidFill>
                <a:latin typeface="Consolas" pitchFamily="49" charset="0"/>
                <a:cs typeface="Consolas" pitchFamily="49" charset="0"/>
              </a:rPr>
              <a:t>catch(</a:t>
            </a:r>
            <a:r>
              <a:rPr lang="en-US" sz="1600" dirty="0" err="1" smtClean="0">
                <a:solidFill>
                  <a:srgbClr val="C00000"/>
                </a:solidFill>
                <a:latin typeface="Consolas" pitchFamily="49" charset="0"/>
                <a:cs typeface="Consolas" pitchFamily="49" charset="0"/>
              </a:rPr>
              <a:t>DataException</a:t>
            </a:r>
            <a:r>
              <a:rPr lang="en-US" sz="1600" dirty="0" smtClean="0">
                <a:solidFill>
                  <a:srgbClr val="C00000"/>
                </a:solidFill>
                <a:latin typeface="Consolas" pitchFamily="49" charset="0"/>
                <a:cs typeface="Consolas" pitchFamily="49" charset="0"/>
              </a:rPr>
              <a:t> e)</a:t>
            </a:r>
          </a:p>
          <a:p>
            <a:r>
              <a:rPr lang="en-US" sz="1600" dirty="0" smtClean="0">
                <a:solidFill>
                  <a:srgbClr val="C00000"/>
                </a:solidFill>
                <a:latin typeface="Consolas" pitchFamily="49" charset="0"/>
                <a:cs typeface="Consolas" pitchFamily="49" charset="0"/>
              </a:rPr>
              <a:t>{</a:t>
            </a:r>
          </a:p>
          <a:p>
            <a:r>
              <a:rPr lang="en-US" sz="1600" dirty="0" smtClean="0">
                <a:solidFill>
                  <a:srgbClr val="C00000"/>
                </a:solidFill>
                <a:latin typeface="Consolas" pitchFamily="49" charset="0"/>
                <a:cs typeface="Consolas" pitchFamily="49" charset="0"/>
              </a:rPr>
              <a:t>   </a:t>
            </a:r>
            <a:r>
              <a:rPr lang="en-US" sz="1600" i="1" dirty="0" smtClean="0">
                <a:solidFill>
                  <a:schemeClr val="accent5"/>
                </a:solidFill>
                <a:latin typeface="Consolas" pitchFamily="49" charset="0"/>
                <a:cs typeface="Consolas" pitchFamily="49" charset="0"/>
              </a:rPr>
              <a:t>//Do something</a:t>
            </a:r>
          </a:p>
          <a:p>
            <a:r>
              <a:rPr lang="en-US" sz="1600" dirty="0" smtClean="0">
                <a:solidFill>
                  <a:srgbClr val="C00000"/>
                </a:solidFill>
                <a:latin typeface="Consolas" pitchFamily="49" charset="0"/>
                <a:cs typeface="Consolas" pitchFamily="49" charset="0"/>
              </a:rPr>
              <a:t>   throw;</a:t>
            </a:r>
          </a:p>
          <a:p>
            <a:r>
              <a:rPr lang="en-US" sz="1600" dirty="0" smtClean="0">
                <a:solidFill>
                  <a:srgbClr val="C00000"/>
                </a:solidFill>
                <a:latin typeface="Consolas" pitchFamily="49" charset="0"/>
                <a:cs typeface="Consolas" pitchFamily="49" charset="0"/>
              </a:rPr>
              <a:t>}</a:t>
            </a:r>
            <a:endParaRPr lang="en-US" sz="1600" dirty="0">
              <a:solidFill>
                <a:srgbClr val="C00000"/>
              </a:solidFill>
              <a:latin typeface="Consolas" pitchFamily="49" charset="0"/>
              <a:cs typeface="Consolas" pitchFamily="49" charset="0"/>
            </a:endParaRPr>
          </a:p>
        </p:txBody>
      </p:sp>
      <p:sp>
        <p:nvSpPr>
          <p:cNvPr id="7" name="Rectangle 6"/>
          <p:cNvSpPr/>
          <p:nvPr/>
        </p:nvSpPr>
        <p:spPr>
          <a:xfrm>
            <a:off x="4343400" y="1447800"/>
            <a:ext cx="4495800" cy="1815882"/>
          </a:xfrm>
          <a:prstGeom prst="rect">
            <a:avLst/>
          </a:prstGeom>
          <a:solidFill>
            <a:schemeClr val="bg2"/>
          </a:solidFill>
          <a:ln>
            <a:solidFill>
              <a:schemeClr val="tx1">
                <a:lumMod val="50000"/>
                <a:lumOff val="50000"/>
              </a:schemeClr>
            </a:solidFill>
          </a:ln>
        </p:spPr>
        <p:txBody>
          <a:bodyPr wrap="square">
            <a:spAutoFit/>
          </a:bodyPr>
          <a:lstStyle/>
          <a:p>
            <a:r>
              <a:rPr lang="en-US" sz="1600" dirty="0" smtClean="0">
                <a:solidFill>
                  <a:srgbClr val="C00000"/>
                </a:solidFill>
                <a:latin typeface="Consolas" pitchFamily="49" charset="0"/>
                <a:cs typeface="Consolas" pitchFamily="49" charset="0"/>
              </a:rPr>
              <a:t>catch(</a:t>
            </a:r>
            <a:r>
              <a:rPr lang="en-US" sz="1600" dirty="0" err="1" smtClean="0">
                <a:solidFill>
                  <a:srgbClr val="C00000"/>
                </a:solidFill>
                <a:latin typeface="Consolas" pitchFamily="49" charset="0"/>
                <a:cs typeface="Consolas" pitchFamily="49" charset="0"/>
              </a:rPr>
              <a:t>DataException</a:t>
            </a:r>
            <a:r>
              <a:rPr lang="en-US" sz="1600" dirty="0" smtClean="0">
                <a:solidFill>
                  <a:srgbClr val="C00000"/>
                </a:solidFill>
                <a:latin typeface="Consolas" pitchFamily="49" charset="0"/>
                <a:cs typeface="Consolas" pitchFamily="49" charset="0"/>
              </a:rPr>
              <a:t> e)</a:t>
            </a:r>
          </a:p>
          <a:p>
            <a:r>
              <a:rPr lang="en-US" sz="1600" dirty="0" smtClean="0">
                <a:solidFill>
                  <a:srgbClr val="C00000"/>
                </a:solidFill>
                <a:latin typeface="Consolas" pitchFamily="49" charset="0"/>
                <a:cs typeface="Consolas" pitchFamily="49" charset="0"/>
              </a:rPr>
              <a:t>{  </a:t>
            </a:r>
            <a:r>
              <a:rPr lang="en-US" sz="1600" i="1" dirty="0" smtClean="0">
                <a:solidFill>
                  <a:schemeClr val="accent5"/>
                </a:solidFill>
                <a:latin typeface="Consolas" pitchFamily="49" charset="0"/>
                <a:cs typeface="Consolas" pitchFamily="49" charset="0"/>
              </a:rPr>
              <a:t>//Provide extra information</a:t>
            </a:r>
          </a:p>
          <a:p>
            <a:r>
              <a:rPr lang="en-US" sz="1600" dirty="0" smtClean="0">
                <a:solidFill>
                  <a:srgbClr val="C00000"/>
                </a:solidFill>
                <a:latin typeface="Consolas" pitchFamily="49" charset="0"/>
                <a:cs typeface="Consolas" pitchFamily="49" charset="0"/>
              </a:rPr>
              <a:t>   </a:t>
            </a:r>
            <a:r>
              <a:rPr lang="en-US" sz="1600" dirty="0" err="1" smtClean="0">
                <a:solidFill>
                  <a:srgbClr val="C00000"/>
                </a:solidFill>
                <a:latin typeface="Consolas" pitchFamily="49" charset="0"/>
                <a:cs typeface="Consolas" pitchFamily="49" charset="0"/>
              </a:rPr>
              <a:t>LogicException</a:t>
            </a:r>
            <a:r>
              <a:rPr lang="en-US" sz="1600" dirty="0" smtClean="0">
                <a:solidFill>
                  <a:srgbClr val="C00000"/>
                </a:solidFill>
                <a:latin typeface="Consolas" pitchFamily="49" charset="0"/>
                <a:cs typeface="Consolas" pitchFamily="49" charset="0"/>
              </a:rPr>
              <a:t> exception = </a:t>
            </a:r>
          </a:p>
          <a:p>
            <a:r>
              <a:rPr lang="en-US" sz="1600" smtClean="0">
                <a:solidFill>
                  <a:srgbClr val="C00000"/>
                </a:solidFill>
                <a:latin typeface="Consolas" pitchFamily="49" charset="0"/>
                <a:cs typeface="Consolas" pitchFamily="49" charset="0"/>
              </a:rPr>
              <a:t>	new </a:t>
            </a:r>
            <a:r>
              <a:rPr lang="en-US" sz="1600" dirty="0" err="1" smtClean="0">
                <a:solidFill>
                  <a:srgbClr val="C00000"/>
                </a:solidFill>
                <a:latin typeface="Consolas" pitchFamily="49" charset="0"/>
                <a:cs typeface="Consolas" pitchFamily="49" charset="0"/>
              </a:rPr>
              <a:t>LogicException</a:t>
            </a:r>
            <a:r>
              <a:rPr lang="en-US" sz="1600" dirty="0" smtClean="0">
                <a:solidFill>
                  <a:srgbClr val="C00000"/>
                </a:solidFill>
                <a:latin typeface="Consolas" pitchFamily="49" charset="0"/>
                <a:cs typeface="Consolas" pitchFamily="49" charset="0"/>
              </a:rPr>
              <a:t>("Unable to access the configured data source");</a:t>
            </a:r>
          </a:p>
          <a:p>
            <a:r>
              <a:rPr lang="en-US" sz="1600" dirty="0" smtClean="0">
                <a:solidFill>
                  <a:srgbClr val="C00000"/>
                </a:solidFill>
                <a:latin typeface="Consolas" pitchFamily="49" charset="0"/>
                <a:cs typeface="Consolas" pitchFamily="49" charset="0"/>
              </a:rPr>
              <a:t>   throw exception;</a:t>
            </a:r>
          </a:p>
          <a:p>
            <a:r>
              <a:rPr lang="en-US" sz="1600" dirty="0" smtClean="0">
                <a:solidFill>
                  <a:srgbClr val="C00000"/>
                </a:solidFill>
                <a:latin typeface="Consolas" pitchFamily="49" charset="0"/>
                <a:cs typeface="Consolas" pitchFamily="49" charset="0"/>
              </a:rPr>
              <a:t>}</a:t>
            </a:r>
            <a:endParaRPr lang="en-US" sz="1600" dirty="0">
              <a:solidFill>
                <a:srgbClr val="C00000"/>
              </a:solidFill>
              <a:latin typeface="Consolas" pitchFamily="49" charset="0"/>
              <a:cs typeface="Consolas" pitchFamily="49" charset="0"/>
            </a:endParaRPr>
          </a:p>
        </p:txBody>
      </p:sp>
      <p:cxnSp>
        <p:nvCxnSpPr>
          <p:cNvPr id="9" name="Curved Connector 8"/>
          <p:cNvCxnSpPr/>
          <p:nvPr/>
        </p:nvCxnSpPr>
        <p:spPr>
          <a:xfrm rot="5400000" flipH="1" flipV="1">
            <a:off x="3619500" y="2552700"/>
            <a:ext cx="457200" cy="381000"/>
          </a:xfrm>
          <a:prstGeom prst="curvedConnector3">
            <a:avLst>
              <a:gd name="adj1" fmla="val 100746"/>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Curved Connector 10"/>
          <p:cNvCxnSpPr/>
          <p:nvPr/>
        </p:nvCxnSpPr>
        <p:spPr>
          <a:xfrm>
            <a:off x="3886200" y="4114800"/>
            <a:ext cx="381000" cy="304800"/>
          </a:xfrm>
          <a:prstGeom prst="curvedConnector3">
            <a:avLst>
              <a:gd name="adj1" fmla="val 7015"/>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314700" y="5066506"/>
            <a:ext cx="2286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Exceptions?</a:t>
            </a:r>
            <a:endParaRPr lang="en-US" dirty="0"/>
          </a:p>
        </p:txBody>
      </p:sp>
      <p:sp>
        <p:nvSpPr>
          <p:cNvPr id="3" name="Content Placeholder 2"/>
          <p:cNvSpPr>
            <a:spLocks noGrp="1"/>
          </p:cNvSpPr>
          <p:nvPr>
            <p:ph idx="1"/>
          </p:nvPr>
        </p:nvSpPr>
        <p:spPr>
          <a:xfrm>
            <a:off x="457200" y="1600200"/>
            <a:ext cx="4724400" cy="4495799"/>
          </a:xfrm>
        </p:spPr>
        <p:txBody>
          <a:bodyPr/>
          <a:lstStyle/>
          <a:p>
            <a:pPr lvl="0"/>
            <a:r>
              <a:rPr lang="en-US" sz="2200" dirty="0" smtClean="0"/>
              <a:t>Opening files</a:t>
            </a:r>
          </a:p>
          <a:p>
            <a:pPr lvl="0"/>
            <a:r>
              <a:rPr lang="en-US" sz="2200" dirty="0" smtClean="0"/>
              <a:t>Reading files</a:t>
            </a:r>
          </a:p>
          <a:p>
            <a:pPr lvl="0"/>
            <a:r>
              <a:rPr lang="en-US" sz="2200" dirty="0" smtClean="0"/>
              <a:t>Saving files</a:t>
            </a:r>
          </a:p>
          <a:p>
            <a:pPr lvl="0"/>
            <a:r>
              <a:rPr lang="en-US" sz="2200" dirty="0" smtClean="0"/>
              <a:t>Deleting files</a:t>
            </a:r>
          </a:p>
          <a:p>
            <a:pPr lvl="0"/>
            <a:endParaRPr lang="en-US" sz="2200" dirty="0" smtClean="0"/>
          </a:p>
          <a:p>
            <a:pPr lvl="0"/>
            <a:endParaRPr lang="en-US" sz="2200" dirty="0" smtClean="0"/>
          </a:p>
          <a:p>
            <a:pPr lvl="0"/>
            <a:endParaRPr lang="en-US" sz="2200" dirty="0" smtClean="0"/>
          </a:p>
          <a:p>
            <a:pPr lvl="0"/>
            <a:endParaRPr lang="en-US" sz="2200" dirty="0" smtClean="0"/>
          </a:p>
          <a:p>
            <a:pPr lvl="0"/>
            <a:r>
              <a:rPr lang="en-US" sz="2200" dirty="0" smtClean="0"/>
              <a:t>Connecting to database</a:t>
            </a:r>
          </a:p>
          <a:p>
            <a:pPr lvl="0"/>
            <a:r>
              <a:rPr lang="en-US" sz="2200" dirty="0" smtClean="0"/>
              <a:t>Reading from database</a:t>
            </a:r>
          </a:p>
          <a:p>
            <a:pPr lvl="0"/>
            <a:r>
              <a:rPr lang="en-US" sz="2200" dirty="0" smtClean="0"/>
              <a:t>Saving to database</a:t>
            </a:r>
          </a:p>
          <a:p>
            <a:pPr lvl="0"/>
            <a:r>
              <a:rPr lang="en-US" sz="2200" dirty="0" smtClean="0"/>
              <a:t>Deleting from database</a:t>
            </a:r>
          </a:p>
        </p:txBody>
      </p:sp>
      <p:pic>
        <p:nvPicPr>
          <p:cNvPr id="4" name="Picture 2"/>
          <p:cNvPicPr>
            <a:picLocks noChangeAspect="1" noChangeArrowheads="1"/>
          </p:cNvPicPr>
          <p:nvPr/>
        </p:nvPicPr>
        <p:blipFill>
          <a:blip r:embed="rId2" cstate="print"/>
          <a:srcRect/>
          <a:stretch>
            <a:fillRect/>
          </a:stretch>
        </p:blipFill>
        <p:spPr bwMode="auto">
          <a:xfrm>
            <a:off x="2895600" y="1524000"/>
            <a:ext cx="1828800" cy="1828800"/>
          </a:xfrm>
          <a:prstGeom prst="rect">
            <a:avLst/>
          </a:prstGeom>
          <a:noFill/>
          <a:ln w="9525">
            <a:noFill/>
            <a:miter lim="800000"/>
            <a:headEnd/>
            <a:tailEnd/>
          </a:ln>
          <a:effectLst/>
        </p:spPr>
      </p:pic>
      <p:sp>
        <p:nvSpPr>
          <p:cNvPr id="7" name="Rectangle 6"/>
          <p:cNvSpPr/>
          <p:nvPr/>
        </p:nvSpPr>
        <p:spPr>
          <a:xfrm>
            <a:off x="5029200" y="1371600"/>
            <a:ext cx="3886200" cy="3139321"/>
          </a:xfrm>
          <a:prstGeom prst="rect">
            <a:avLst/>
          </a:prstGeom>
        </p:spPr>
        <p:txBody>
          <a:bodyPr wrap="square">
            <a:spAutoFit/>
          </a:bodyPr>
          <a:lstStyle/>
          <a:p>
            <a:pPr marL="457200" indent="-457200">
              <a:buFont typeface="+mj-lt"/>
              <a:buAutoNum type="arabicPeriod"/>
            </a:pPr>
            <a:r>
              <a:rPr lang="en-US" sz="2200" dirty="0" smtClean="0">
                <a:latin typeface="+mj-lt"/>
              </a:rPr>
              <a:t>Exceptions due to </a:t>
            </a:r>
            <a:r>
              <a:rPr lang="en-US" sz="2200" i="1" dirty="0" smtClean="0">
                <a:solidFill>
                  <a:srgbClr val="C00000"/>
                </a:solidFill>
                <a:latin typeface="+mj-lt"/>
              </a:rPr>
              <a:t>programming errors</a:t>
            </a:r>
            <a:r>
              <a:rPr lang="en-US" sz="2200" dirty="0" smtClean="0">
                <a:latin typeface="+mj-lt"/>
              </a:rPr>
              <a:t> (null, invalid arguments)</a:t>
            </a:r>
          </a:p>
          <a:p>
            <a:pPr marL="457200" indent="-457200">
              <a:buFont typeface="+mj-lt"/>
              <a:buAutoNum type="arabicPeriod"/>
            </a:pPr>
            <a:r>
              <a:rPr lang="en-US" sz="2200" dirty="0" smtClean="0">
                <a:latin typeface="+mj-lt"/>
              </a:rPr>
              <a:t>Exceptions due to client </a:t>
            </a:r>
            <a:r>
              <a:rPr lang="en-US" sz="2200" i="1" dirty="0" smtClean="0">
                <a:solidFill>
                  <a:srgbClr val="C00000"/>
                </a:solidFill>
                <a:latin typeface="+mj-lt"/>
              </a:rPr>
              <a:t>code errors</a:t>
            </a:r>
            <a:r>
              <a:rPr lang="en-US" sz="2200" dirty="0" smtClean="0">
                <a:latin typeface="+mj-lt"/>
              </a:rPr>
              <a:t> (invalid API input)</a:t>
            </a:r>
          </a:p>
          <a:p>
            <a:pPr marL="457200" indent="-457200">
              <a:buFont typeface="+mj-lt"/>
              <a:buAutoNum type="arabicPeriod"/>
            </a:pPr>
            <a:r>
              <a:rPr lang="en-US" sz="2200" dirty="0" smtClean="0">
                <a:latin typeface="+mj-lt"/>
              </a:rPr>
              <a:t>Exceptions due to </a:t>
            </a:r>
            <a:r>
              <a:rPr lang="en-US" sz="2200" i="1" dirty="0" smtClean="0">
                <a:solidFill>
                  <a:srgbClr val="C00000"/>
                </a:solidFill>
                <a:latin typeface="+mj-lt"/>
              </a:rPr>
              <a:t>resource failures</a:t>
            </a:r>
            <a:r>
              <a:rPr lang="en-US" sz="2200" dirty="0" smtClean="0">
                <a:latin typeface="+mj-lt"/>
              </a:rPr>
              <a:t> (network, file, database...)</a:t>
            </a:r>
            <a:endParaRPr lang="en-US" sz="2200" dirty="0">
              <a:latin typeface="+mj-lt"/>
            </a:endParaRPr>
          </a:p>
        </p:txBody>
      </p:sp>
      <p:pic>
        <p:nvPicPr>
          <p:cNvPr id="53249" name="Picture 1"/>
          <p:cNvPicPr>
            <a:picLocks noChangeAspect="1" noChangeArrowheads="1"/>
          </p:cNvPicPr>
          <p:nvPr/>
        </p:nvPicPr>
        <p:blipFill>
          <a:blip r:embed="rId3" cstate="print"/>
          <a:srcRect/>
          <a:stretch>
            <a:fillRect/>
          </a:stretch>
        </p:blipFill>
        <p:spPr bwMode="auto">
          <a:xfrm>
            <a:off x="4572000" y="4724400"/>
            <a:ext cx="3781425" cy="18478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 and Throw Anti-Pattern [2]</a:t>
            </a:r>
            <a:endParaRPr lang="en-US" dirty="0"/>
          </a:p>
        </p:txBody>
      </p:sp>
      <p:sp>
        <p:nvSpPr>
          <p:cNvPr id="3" name="Content Placeholder 2"/>
          <p:cNvSpPr>
            <a:spLocks noGrp="1"/>
          </p:cNvSpPr>
          <p:nvPr>
            <p:ph idx="1"/>
          </p:nvPr>
        </p:nvSpPr>
        <p:spPr>
          <a:xfrm>
            <a:off x="457200" y="4876800"/>
            <a:ext cx="8229600" cy="1219200"/>
          </a:xfrm>
        </p:spPr>
        <p:txBody>
          <a:bodyPr/>
          <a:lstStyle/>
          <a:p>
            <a:r>
              <a:rPr lang="en-US" sz="2400" dirty="0" smtClean="0"/>
              <a:t>Either log the exception, or throw it, but </a:t>
            </a:r>
            <a:r>
              <a:rPr lang="en-US" sz="2400" i="1" dirty="0" smtClean="0">
                <a:solidFill>
                  <a:srgbClr val="C00000"/>
                </a:solidFill>
              </a:rPr>
              <a:t>never do both</a:t>
            </a:r>
            <a:r>
              <a:rPr lang="en-US" sz="2400" dirty="0" smtClean="0"/>
              <a:t>.</a:t>
            </a:r>
          </a:p>
          <a:p>
            <a:r>
              <a:rPr lang="en-US" sz="2400" dirty="0" smtClean="0"/>
              <a:t>Logging and throwing results in </a:t>
            </a:r>
            <a:r>
              <a:rPr lang="en-US" sz="2400" i="1" dirty="0" smtClean="0">
                <a:solidFill>
                  <a:srgbClr val="C00000"/>
                </a:solidFill>
              </a:rPr>
              <a:t>multiple log messages</a:t>
            </a:r>
            <a:r>
              <a:rPr lang="en-US" sz="2400" dirty="0" smtClean="0"/>
              <a:t> for a single problem in the code.</a:t>
            </a:r>
            <a:endParaRPr lang="en-US" sz="2400" dirty="0"/>
          </a:p>
        </p:txBody>
      </p:sp>
      <p:sp>
        <p:nvSpPr>
          <p:cNvPr id="4" name="Rectangle 3"/>
          <p:cNvSpPr/>
          <p:nvPr/>
        </p:nvSpPr>
        <p:spPr>
          <a:xfrm>
            <a:off x="457200" y="1600200"/>
            <a:ext cx="8229600" cy="1323439"/>
          </a:xfrm>
          <a:prstGeom prst="rect">
            <a:avLst/>
          </a:prstGeom>
          <a:solidFill>
            <a:schemeClr val="bg2"/>
          </a:solidFill>
          <a:ln>
            <a:solidFill>
              <a:schemeClr val="tx1">
                <a:lumMod val="50000"/>
                <a:lumOff val="50000"/>
              </a:schemeClr>
            </a:solidFill>
          </a:ln>
        </p:spPr>
        <p:txBody>
          <a:bodyPr wrap="square">
            <a:spAutoFit/>
          </a:bodyPr>
          <a:lstStyle/>
          <a:p>
            <a:r>
              <a:rPr lang="en-US" sz="2000" dirty="0" smtClean="0">
                <a:solidFill>
                  <a:schemeClr val="accent5"/>
                </a:solidFill>
                <a:latin typeface="Consolas" pitchFamily="49" charset="0"/>
                <a:cs typeface="Consolas" pitchFamily="49" charset="0"/>
              </a:rPr>
              <a:t>catch</a:t>
            </a:r>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NoSuchMethodException</a:t>
            </a:r>
            <a:r>
              <a:rPr lang="en-US" sz="2000" dirty="0" smtClean="0">
                <a:solidFill>
                  <a:srgbClr val="C00000"/>
                </a:solidFill>
                <a:latin typeface="Consolas" pitchFamily="49" charset="0"/>
                <a:cs typeface="Consolas" pitchFamily="49" charset="0"/>
              </a:rPr>
              <a:t> e) {</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LOG.error</a:t>
            </a:r>
            <a:r>
              <a:rPr lang="en-US" sz="2000" dirty="0" smtClean="0">
                <a:solidFill>
                  <a:srgbClr val="C00000"/>
                </a:solidFill>
                <a:latin typeface="Consolas" pitchFamily="49" charset="0"/>
                <a:cs typeface="Consolas" pitchFamily="49" charset="0"/>
              </a:rPr>
              <a:t>("Blah", e);</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  </a:t>
            </a:r>
            <a:r>
              <a:rPr lang="en-US" sz="2000" dirty="0" smtClean="0">
                <a:solidFill>
                  <a:schemeClr val="accent5"/>
                </a:solidFill>
                <a:latin typeface="Consolas" pitchFamily="49" charset="0"/>
                <a:cs typeface="Consolas" pitchFamily="49" charset="0"/>
              </a:rPr>
              <a:t>throw</a:t>
            </a:r>
            <a:r>
              <a:rPr lang="en-US" sz="2000" dirty="0" smtClean="0">
                <a:solidFill>
                  <a:srgbClr val="C00000"/>
                </a:solidFill>
                <a:latin typeface="Consolas" pitchFamily="49" charset="0"/>
                <a:cs typeface="Consolas" pitchFamily="49" charset="0"/>
              </a:rPr>
              <a:t> e;</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a:t>
            </a:r>
            <a:endParaRPr lang="en-US" sz="2000" dirty="0">
              <a:solidFill>
                <a:srgbClr val="C00000"/>
              </a:solidFill>
              <a:latin typeface="Consolas" pitchFamily="49" charset="0"/>
              <a:cs typeface="Consolas" pitchFamily="49" charset="0"/>
            </a:endParaRPr>
          </a:p>
        </p:txBody>
      </p:sp>
      <p:sp>
        <p:nvSpPr>
          <p:cNvPr id="5" name="Rectangle 4"/>
          <p:cNvSpPr/>
          <p:nvPr/>
        </p:nvSpPr>
        <p:spPr>
          <a:xfrm>
            <a:off x="457200" y="3200400"/>
            <a:ext cx="8229600" cy="1323439"/>
          </a:xfrm>
          <a:prstGeom prst="rect">
            <a:avLst/>
          </a:prstGeom>
          <a:solidFill>
            <a:schemeClr val="bg2"/>
          </a:solidFill>
          <a:ln>
            <a:solidFill>
              <a:schemeClr val="tx1">
                <a:lumMod val="50000"/>
                <a:lumOff val="50000"/>
              </a:schemeClr>
            </a:solidFill>
          </a:ln>
        </p:spPr>
        <p:txBody>
          <a:bodyPr wrap="square">
            <a:spAutoFit/>
          </a:bodyPr>
          <a:lstStyle/>
          <a:p>
            <a:r>
              <a:rPr lang="en-US" sz="2000" dirty="0" smtClean="0">
                <a:solidFill>
                  <a:schemeClr val="accent5"/>
                </a:solidFill>
                <a:latin typeface="Consolas" pitchFamily="49" charset="0"/>
                <a:cs typeface="Consolas" pitchFamily="49" charset="0"/>
              </a:rPr>
              <a:t>catch</a:t>
            </a:r>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NoSuchMethodException</a:t>
            </a:r>
            <a:r>
              <a:rPr lang="en-US" sz="2000" dirty="0" smtClean="0">
                <a:solidFill>
                  <a:srgbClr val="C00000"/>
                </a:solidFill>
                <a:latin typeface="Consolas" pitchFamily="49" charset="0"/>
                <a:cs typeface="Consolas" pitchFamily="49" charset="0"/>
              </a:rPr>
              <a:t> e) {</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LOG.error</a:t>
            </a:r>
            <a:r>
              <a:rPr lang="en-US" sz="2000" dirty="0" smtClean="0">
                <a:solidFill>
                  <a:srgbClr val="C00000"/>
                </a:solidFill>
                <a:latin typeface="Consolas" pitchFamily="49" charset="0"/>
                <a:cs typeface="Consolas" pitchFamily="49" charset="0"/>
              </a:rPr>
              <a:t>("Blah", e);</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  </a:t>
            </a:r>
            <a:r>
              <a:rPr lang="en-US" sz="2000" dirty="0" smtClean="0">
                <a:solidFill>
                  <a:schemeClr val="accent5"/>
                </a:solidFill>
                <a:latin typeface="Consolas" pitchFamily="49" charset="0"/>
                <a:cs typeface="Consolas" pitchFamily="49" charset="0"/>
              </a:rPr>
              <a:t>throw</a:t>
            </a:r>
            <a:r>
              <a:rPr lang="en-US" sz="2000" dirty="0" smtClean="0">
                <a:solidFill>
                  <a:srgbClr val="C00000"/>
                </a:solidFill>
                <a:latin typeface="Consolas" pitchFamily="49" charset="0"/>
                <a:cs typeface="Consolas" pitchFamily="49" charset="0"/>
              </a:rPr>
              <a:t> new </a:t>
            </a:r>
            <a:r>
              <a:rPr lang="en-US" sz="2000" dirty="0" err="1" smtClean="0">
                <a:solidFill>
                  <a:srgbClr val="C00000"/>
                </a:solidFill>
                <a:latin typeface="Consolas" pitchFamily="49" charset="0"/>
                <a:cs typeface="Consolas" pitchFamily="49" charset="0"/>
              </a:rPr>
              <a:t>MyServiceException</a:t>
            </a:r>
            <a:r>
              <a:rPr lang="en-US" sz="2000" dirty="0" smtClean="0">
                <a:solidFill>
                  <a:srgbClr val="C00000"/>
                </a:solidFill>
                <a:latin typeface="Consolas" pitchFamily="49" charset="0"/>
                <a:cs typeface="Consolas" pitchFamily="49" charset="0"/>
              </a:rPr>
              <a:t>("Blah", e);</a:t>
            </a:r>
            <a:br>
              <a:rPr lang="en-US" sz="2000" dirty="0" smtClean="0">
                <a:solidFill>
                  <a:srgbClr val="C00000"/>
                </a:solidFill>
                <a:latin typeface="Consolas" pitchFamily="49" charset="0"/>
                <a:cs typeface="Consolas" pitchFamily="49" charset="0"/>
              </a:rPr>
            </a:br>
            <a:r>
              <a:rPr lang="en-US" sz="2000" dirty="0" smtClean="0">
                <a:solidFill>
                  <a:srgbClr val="C00000"/>
                </a:solidFill>
                <a:latin typeface="Consolas" pitchFamily="49" charset="0"/>
                <a:cs typeface="Consolas" pitchFamily="49" charset="0"/>
              </a:rPr>
              <a:t>}</a:t>
            </a:r>
            <a:endParaRPr lang="en-US" sz="2000" dirty="0">
              <a:solidFill>
                <a:srgbClr val="C00000"/>
              </a:solidFill>
              <a:latin typeface="Consolas" pitchFamily="49" charset="0"/>
              <a:cs typeface="Consolas"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Catching Exception Anti-Pattern</a:t>
            </a:r>
            <a:endParaRPr lang="en-US" dirty="0"/>
          </a:p>
        </p:txBody>
      </p:sp>
      <p:sp>
        <p:nvSpPr>
          <p:cNvPr id="3" name="Content Placeholder 2"/>
          <p:cNvSpPr>
            <a:spLocks noGrp="1"/>
          </p:cNvSpPr>
          <p:nvPr>
            <p:ph idx="1"/>
          </p:nvPr>
        </p:nvSpPr>
        <p:spPr>
          <a:xfrm>
            <a:off x="457200" y="3733800"/>
            <a:ext cx="8229600" cy="1600200"/>
          </a:xfrm>
        </p:spPr>
        <p:txBody>
          <a:bodyPr/>
          <a:lstStyle/>
          <a:p>
            <a:r>
              <a:rPr lang="en-US" sz="2400" dirty="0" smtClean="0"/>
              <a:t>Catch the </a:t>
            </a:r>
            <a:r>
              <a:rPr lang="en-US" sz="2400" i="1" dirty="0" smtClean="0">
                <a:solidFill>
                  <a:srgbClr val="C00000"/>
                </a:solidFill>
              </a:rPr>
              <a:t>specific</a:t>
            </a:r>
            <a:r>
              <a:rPr lang="en-US" sz="2400" dirty="0" smtClean="0"/>
              <a:t> exceptions that can be thrown.</a:t>
            </a:r>
          </a:p>
          <a:p>
            <a:r>
              <a:rPr lang="en-US" sz="2400" dirty="0" smtClean="0"/>
              <a:t>If the method you are calling </a:t>
            </a:r>
            <a:r>
              <a:rPr lang="en-US" sz="2400" i="1" dirty="0" smtClean="0">
                <a:solidFill>
                  <a:srgbClr val="C00000"/>
                </a:solidFill>
              </a:rPr>
              <a:t>later</a:t>
            </a:r>
            <a:r>
              <a:rPr lang="en-US" sz="2400" dirty="0" smtClean="0"/>
              <a:t> adds a new checked exception to its method signature, the developer's intent is that you should handle the specific new exception.</a:t>
            </a:r>
            <a:endParaRPr lang="en-US" sz="2400" dirty="0"/>
          </a:p>
        </p:txBody>
      </p:sp>
      <p:sp>
        <p:nvSpPr>
          <p:cNvPr id="4" name="Rectangle 3"/>
          <p:cNvSpPr/>
          <p:nvPr/>
        </p:nvSpPr>
        <p:spPr>
          <a:xfrm>
            <a:off x="457200" y="1600200"/>
            <a:ext cx="8229600" cy="1631216"/>
          </a:xfrm>
          <a:prstGeom prst="rect">
            <a:avLst/>
          </a:prstGeom>
          <a:solidFill>
            <a:schemeClr val="bg2"/>
          </a:solidFill>
          <a:ln>
            <a:solidFill>
              <a:schemeClr val="tx1">
                <a:lumMod val="50000"/>
                <a:lumOff val="50000"/>
              </a:schemeClr>
            </a:solidFill>
          </a:ln>
        </p:spPr>
        <p:txBody>
          <a:bodyPr wrap="square">
            <a:spAutoFit/>
          </a:bodyPr>
          <a:lstStyle/>
          <a:p>
            <a:r>
              <a:rPr lang="en-US" sz="2000" dirty="0" smtClean="0">
                <a:solidFill>
                  <a:srgbClr val="C00000"/>
                </a:solidFill>
                <a:latin typeface="Consolas" pitchFamily="49" charset="0"/>
                <a:cs typeface="Consolas" pitchFamily="49" charset="0"/>
              </a:rPr>
              <a:t>try {</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foo</a:t>
            </a:r>
            <a:r>
              <a:rPr lang="en-US" sz="2000" dirty="0" smtClean="0">
                <a:solidFill>
                  <a:srgbClr val="C00000"/>
                </a:solidFill>
                <a:latin typeface="Consolas" pitchFamily="49" charset="0"/>
                <a:cs typeface="Consolas" pitchFamily="49" charset="0"/>
              </a:rPr>
              <a:t>();</a:t>
            </a:r>
          </a:p>
          <a:p>
            <a:r>
              <a:rPr lang="en-US" sz="2000" dirty="0" smtClean="0">
                <a:solidFill>
                  <a:srgbClr val="C00000"/>
                </a:solidFill>
                <a:latin typeface="Consolas" pitchFamily="49" charset="0"/>
                <a:cs typeface="Consolas" pitchFamily="49" charset="0"/>
              </a:rPr>
              <a:t>} catch (Exception e) {</a:t>
            </a:r>
          </a:p>
          <a:p>
            <a:r>
              <a:rPr lang="en-US" sz="2000" dirty="0" smtClean="0">
                <a:solidFill>
                  <a:srgbClr val="C00000"/>
                </a:solidFill>
                <a:latin typeface="Consolas" pitchFamily="49" charset="0"/>
                <a:cs typeface="Consolas" pitchFamily="49" charset="0"/>
              </a:rPr>
              <a:t>  </a:t>
            </a:r>
            <a:r>
              <a:rPr lang="en-US" sz="2000" dirty="0" err="1" smtClean="0">
                <a:solidFill>
                  <a:srgbClr val="C00000"/>
                </a:solidFill>
                <a:latin typeface="Consolas" pitchFamily="49" charset="0"/>
                <a:cs typeface="Consolas" pitchFamily="49" charset="0"/>
              </a:rPr>
              <a:t>LOG.error</a:t>
            </a:r>
            <a:r>
              <a:rPr lang="en-US" sz="2000" dirty="0" smtClean="0">
                <a:solidFill>
                  <a:srgbClr val="C00000"/>
                </a:solidFill>
                <a:latin typeface="Consolas" pitchFamily="49" charset="0"/>
                <a:cs typeface="Consolas" pitchFamily="49" charset="0"/>
              </a:rPr>
              <a:t>("</a:t>
            </a:r>
            <a:r>
              <a:rPr lang="en-US" sz="2000" dirty="0" err="1" smtClean="0">
                <a:solidFill>
                  <a:srgbClr val="C00000"/>
                </a:solidFill>
                <a:latin typeface="Consolas" pitchFamily="49" charset="0"/>
                <a:cs typeface="Consolas" pitchFamily="49" charset="0"/>
              </a:rPr>
              <a:t>Foo</a:t>
            </a:r>
            <a:r>
              <a:rPr lang="en-US" sz="2000" dirty="0" smtClean="0">
                <a:solidFill>
                  <a:srgbClr val="C00000"/>
                </a:solidFill>
                <a:latin typeface="Consolas" pitchFamily="49" charset="0"/>
                <a:cs typeface="Consolas" pitchFamily="49" charset="0"/>
              </a:rPr>
              <a:t> failed", e);</a:t>
            </a:r>
          </a:p>
          <a:p>
            <a:r>
              <a:rPr lang="en-US" sz="2000" dirty="0" smtClean="0">
                <a:solidFill>
                  <a:srgbClr val="C00000"/>
                </a:solidFill>
                <a:latin typeface="Consolas" pitchFamily="49" charset="0"/>
                <a:cs typeface="Consolas" pitchFamily="49" charset="0"/>
              </a:rPr>
              <a:t>}</a:t>
            </a:r>
            <a:endParaRPr lang="en-US" sz="2000" dirty="0">
              <a:solidFill>
                <a:srgbClr val="C00000"/>
              </a:solidFill>
              <a:latin typeface="Consolas" pitchFamily="49" charset="0"/>
              <a:cs typeface="Consolas"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Null or Exceptions?</a:t>
            </a:r>
            <a:endParaRPr lang="en-US" dirty="0"/>
          </a:p>
        </p:txBody>
      </p:sp>
      <p:sp>
        <p:nvSpPr>
          <p:cNvPr id="4" name="Rectangle 3"/>
          <p:cNvSpPr/>
          <p:nvPr/>
        </p:nvSpPr>
        <p:spPr>
          <a:xfrm>
            <a:off x="457200" y="1806476"/>
            <a:ext cx="8229600" cy="2862322"/>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User </a:t>
            </a:r>
            <a:r>
              <a:rPr lang="en-US" dirty="0" err="1" smtClean="0">
                <a:solidFill>
                  <a:srgbClr val="C00000"/>
                </a:solidFill>
                <a:latin typeface="Consolas" pitchFamily="49" charset="0"/>
                <a:cs typeface="Consolas" pitchFamily="49" charset="0"/>
              </a:rPr>
              <a:t>getUser</a:t>
            </a:r>
            <a:r>
              <a:rPr lang="en-US" dirty="0" smtClean="0">
                <a:solidFill>
                  <a:srgbClr val="C00000"/>
                </a:solidFill>
                <a:latin typeface="Consolas" pitchFamily="49" charset="0"/>
                <a:cs typeface="Consolas" pitchFamily="49" charset="0"/>
              </a:rPr>
              <a:t>(</a:t>
            </a:r>
            <a:r>
              <a:rPr lang="en-US" dirty="0" err="1" smtClean="0">
                <a:solidFill>
                  <a:srgbClr val="C00000"/>
                </a:solidFill>
                <a:latin typeface="Consolas" pitchFamily="49" charset="0"/>
                <a:cs typeface="Consolas" pitchFamily="49" charset="0"/>
              </a:rPr>
              <a:t>Guid</a:t>
            </a:r>
            <a:r>
              <a:rPr lang="en-US" dirty="0" smtClean="0">
                <a:solidFill>
                  <a:srgbClr val="C00000"/>
                </a:solidFill>
                <a:latin typeface="Consolas" pitchFamily="49" charset="0"/>
                <a:cs typeface="Consolas" pitchFamily="49" charset="0"/>
              </a:rPr>
              <a:t> </a:t>
            </a:r>
            <a:r>
              <a:rPr lang="en-US" dirty="0" err="1" smtClean="0">
                <a:solidFill>
                  <a:srgbClr val="C00000"/>
                </a:solidFill>
                <a:latin typeface="Consolas" pitchFamily="49" charset="0"/>
                <a:cs typeface="Consolas" pitchFamily="49" charset="0"/>
              </a:rPr>
              <a:t>userId</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if (!</a:t>
            </a:r>
            <a:r>
              <a:rPr lang="en-US" dirty="0" err="1" smtClean="0">
                <a:solidFill>
                  <a:srgbClr val="C00000"/>
                </a:solidFill>
                <a:latin typeface="Consolas" pitchFamily="49" charset="0"/>
                <a:cs typeface="Consolas" pitchFamily="49" charset="0"/>
              </a:rPr>
              <a:t>this.UserExists</a:t>
            </a:r>
            <a:r>
              <a:rPr lang="en-US" dirty="0" smtClean="0">
                <a:solidFill>
                  <a:srgbClr val="C00000"/>
                </a:solidFill>
                <a:latin typeface="Consolas" pitchFamily="49" charset="0"/>
                <a:cs typeface="Consolas" pitchFamily="49" charset="0"/>
              </a:rPr>
              <a:t>(</a:t>
            </a:r>
            <a:r>
              <a:rPr lang="en-US" dirty="0" err="1" smtClean="0">
                <a:solidFill>
                  <a:srgbClr val="C00000"/>
                </a:solidFill>
                <a:latin typeface="Consolas" pitchFamily="49" charset="0"/>
                <a:cs typeface="Consolas" pitchFamily="49" charset="0"/>
              </a:rPr>
              <a:t>userId</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throw new </a:t>
            </a:r>
            <a:r>
              <a:rPr lang="en-US" dirty="0" err="1" smtClean="0">
                <a:solidFill>
                  <a:srgbClr val="C00000"/>
                </a:solidFill>
                <a:latin typeface="Consolas" pitchFamily="49" charset="0"/>
                <a:cs typeface="Consolas" pitchFamily="49" charset="0"/>
              </a:rPr>
              <a:t>ApplicationException</a:t>
            </a:r>
            <a:r>
              <a:rPr lang="en-US" dirty="0" smtClean="0">
                <a:solidFill>
                  <a:srgbClr val="C00000"/>
                </a:solidFill>
                <a:latin typeface="Consolas" pitchFamily="49" charset="0"/>
                <a:cs typeface="Consolas" pitchFamily="49" charset="0"/>
              </a:rPr>
              <a:t>(“User does not exist.”);</a:t>
            </a:r>
          </a:p>
          <a:p>
            <a:r>
              <a:rPr lang="en-US" dirty="0" smtClean="0">
                <a:solidFill>
                  <a:srgbClr val="C00000"/>
                </a:solidFill>
                <a:latin typeface="Consolas" pitchFamily="49" charset="0"/>
                <a:cs typeface="Consolas" pitchFamily="49" charset="0"/>
              </a:rPr>
              <a:t>      // return null;</a:t>
            </a:r>
          </a:p>
          <a:p>
            <a:endParaRPr lang="en-US" dirty="0" smtClean="0">
              <a:solidFill>
                <a:srgbClr val="C00000"/>
              </a:solidFill>
              <a:latin typeface="Consolas" pitchFamily="49" charset="0"/>
              <a:cs typeface="Consolas" pitchFamily="49" charset="0"/>
            </a:endParaRPr>
          </a:p>
          <a:p>
            <a:r>
              <a:rPr lang="en-US" dirty="0" smtClean="0">
                <a:solidFill>
                  <a:srgbClr val="C00000"/>
                </a:solidFill>
                <a:latin typeface="Consolas" pitchFamily="49" charset="0"/>
                <a:cs typeface="Consolas" pitchFamily="49" charset="0"/>
              </a:rPr>
              <a:t>   User </a:t>
            </a:r>
            <a:r>
              <a:rPr lang="en-US" dirty="0" err="1" smtClean="0">
                <a:solidFill>
                  <a:srgbClr val="C00000"/>
                </a:solidFill>
                <a:latin typeface="Consolas" pitchFamily="49" charset="0"/>
                <a:cs typeface="Consolas" pitchFamily="49" charset="0"/>
              </a:rPr>
              <a:t>user</a:t>
            </a:r>
            <a:r>
              <a:rPr lang="en-US" dirty="0" smtClean="0">
                <a:solidFill>
                  <a:srgbClr val="C00000"/>
                </a:solidFill>
                <a:latin typeface="Consolas" pitchFamily="49" charset="0"/>
                <a:cs typeface="Consolas" pitchFamily="49" charset="0"/>
              </a:rPr>
              <a:t> = null;</a:t>
            </a:r>
          </a:p>
          <a:p>
            <a:r>
              <a:rPr lang="en-US" dirty="0" smtClean="0">
                <a:solidFill>
                  <a:srgbClr val="C00000"/>
                </a:solidFill>
                <a:latin typeface="Consolas" pitchFamily="49" charset="0"/>
                <a:cs typeface="Consolas" pitchFamily="49" charset="0"/>
              </a:rPr>
              <a:t>   //Do something else</a:t>
            </a:r>
          </a:p>
          <a:p>
            <a:r>
              <a:rPr lang="en-US" dirty="0" smtClean="0">
                <a:solidFill>
                  <a:srgbClr val="C00000"/>
                </a:solidFill>
                <a:latin typeface="Consolas" pitchFamily="49" charset="0"/>
                <a:cs typeface="Consolas" pitchFamily="49" charset="0"/>
              </a:rPr>
              <a:t>   return user;</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 Of Least Astonishment [4]</a:t>
            </a:r>
            <a:endParaRPr lang="en-US" dirty="0"/>
          </a:p>
        </p:txBody>
      </p:sp>
      <p:sp>
        <p:nvSpPr>
          <p:cNvPr id="3" name="Content Placeholder 2"/>
          <p:cNvSpPr>
            <a:spLocks noGrp="1"/>
          </p:cNvSpPr>
          <p:nvPr>
            <p:ph idx="1"/>
          </p:nvPr>
        </p:nvSpPr>
        <p:spPr>
          <a:xfrm>
            <a:off x="457200" y="1600201"/>
            <a:ext cx="8229600" cy="1676400"/>
          </a:xfrm>
        </p:spPr>
        <p:txBody>
          <a:bodyPr/>
          <a:lstStyle/>
          <a:p>
            <a:r>
              <a:rPr lang="en-US" sz="2400" dirty="0" smtClean="0"/>
              <a:t>The </a:t>
            </a:r>
            <a:r>
              <a:rPr lang="en-US" sz="2400" i="1" dirty="0" smtClean="0">
                <a:solidFill>
                  <a:srgbClr val="C00000"/>
                </a:solidFill>
              </a:rPr>
              <a:t>Principle of Least Astonishment</a:t>
            </a:r>
            <a:r>
              <a:rPr lang="en-US" sz="2400" dirty="0" smtClean="0"/>
              <a:t> states that the result of performing some </a:t>
            </a:r>
            <a:r>
              <a:rPr lang="en-US" sz="2400" u="sng" dirty="0" smtClean="0"/>
              <a:t>operation</a:t>
            </a:r>
            <a:r>
              <a:rPr lang="en-US" sz="2400" dirty="0" smtClean="0"/>
              <a:t> should be obvious, consistent, and </a:t>
            </a:r>
            <a:r>
              <a:rPr lang="en-US" sz="2400" u="sng" dirty="0" smtClean="0"/>
              <a:t>predictable</a:t>
            </a:r>
            <a:r>
              <a:rPr lang="en-US" sz="2400" dirty="0" smtClean="0"/>
              <a:t>, based upon the </a:t>
            </a:r>
            <a:r>
              <a:rPr lang="en-US" sz="2400" u="sng" dirty="0" smtClean="0"/>
              <a:t>name</a:t>
            </a:r>
            <a:r>
              <a:rPr lang="en-US" sz="2400" dirty="0" smtClean="0"/>
              <a:t> of the operation and other clues.</a:t>
            </a:r>
            <a:endParaRPr lang="en-US" sz="2400" dirty="0"/>
          </a:p>
        </p:txBody>
      </p:sp>
      <p:sp>
        <p:nvSpPr>
          <p:cNvPr id="7" name="Content Placeholder 2"/>
          <p:cNvSpPr txBox="1">
            <a:spLocks/>
          </p:cNvSpPr>
          <p:nvPr/>
        </p:nvSpPr>
        <p:spPr bwMode="auto">
          <a:xfrm>
            <a:off x="457200" y="3352800"/>
            <a:ext cx="8229600" cy="2895600"/>
          </a:xfrm>
          <a:prstGeom prst="rect">
            <a:avLst/>
          </a:prstGeom>
          <a:solidFill>
            <a:schemeClr val="bg2"/>
          </a:solidFill>
          <a:ln w="9525">
            <a:solidFill>
              <a:schemeClr val="tx1">
                <a:lumMod val="50000"/>
                <a:lumOff val="50000"/>
              </a:schemeClr>
            </a:solidFill>
            <a:miter lim="800000"/>
            <a:headEnd/>
            <a:tailEnd/>
          </a:ln>
        </p:spPr>
        <p:txBody>
          <a:bodyPr vert="horz" wrap="square" lIns="91440" tIns="45720" rIns="91440" bIns="45720" numCol="1" anchor="t" anchorCtr="0" compatLnSpc="1">
            <a:prstTxWarp prst="textNoShape">
              <a:avLst/>
            </a:prstTxWarp>
          </a:bodyPr>
          <a:lstStyle/>
          <a:p>
            <a:pPr marL="342900" lvl="0" indent="-342900" eaLnBrk="0" hangingPunct="0">
              <a:spcBef>
                <a:spcPct val="20000"/>
              </a:spcBef>
              <a:buFont typeface="Arial" charset="0"/>
              <a:buChar char="•"/>
            </a:pPr>
            <a:r>
              <a:rPr lang="en-US" sz="2200" dirty="0" smtClean="0">
                <a:solidFill>
                  <a:srgbClr val="C00000"/>
                </a:solidFill>
                <a:latin typeface="Consolas" pitchFamily="49" charset="0"/>
                <a:cs typeface="Consolas" pitchFamily="49" charset="0"/>
              </a:rPr>
              <a:t>Bad:</a:t>
            </a:r>
          </a:p>
          <a:p>
            <a:pPr marL="342900" lvl="0" indent="-342900" eaLnBrk="0" hangingPunct="0">
              <a:spcBef>
                <a:spcPct val="20000"/>
              </a:spcBef>
            </a:pPr>
            <a:r>
              <a:rPr lang="en-US" sz="2200" dirty="0" smtClean="0">
                <a:solidFill>
                  <a:srgbClr val="C00000"/>
                </a:solidFill>
                <a:latin typeface="Consolas" pitchFamily="49" charset="0"/>
                <a:cs typeface="Consolas" pitchFamily="49" charset="0"/>
              </a:rPr>
              <a:t>		</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a:t>
            </a:r>
            <a:r>
              <a:rPr lang="en-US" sz="2200" b="1" dirty="0" smtClean="0">
                <a:solidFill>
                  <a:srgbClr val="C00000"/>
                </a:solidFill>
                <a:latin typeface="Consolas" pitchFamily="49" charset="0"/>
                <a:cs typeface="Consolas" pitchFamily="49" charset="0"/>
              </a:rPr>
              <a:t>multiply</a:t>
            </a:r>
            <a:r>
              <a:rPr lang="en-US" sz="2200" dirty="0" smtClean="0">
                <a:solidFill>
                  <a:srgbClr val="C00000"/>
                </a:solidFill>
                <a:latin typeface="Consolas" pitchFamily="49" charset="0"/>
                <a:cs typeface="Consolas" pitchFamily="49" charset="0"/>
              </a:rPr>
              <a:t>(</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a, </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b)</a:t>
            </a:r>
          </a:p>
          <a:p>
            <a:pPr marL="342900" lvl="0" indent="-342900" eaLnBrk="0" hangingPunct="0">
              <a:spcBef>
                <a:spcPct val="20000"/>
              </a:spcBef>
            </a:pPr>
            <a:r>
              <a:rPr lang="en-US" sz="2200" dirty="0" smtClean="0">
                <a:solidFill>
                  <a:srgbClr val="C00000"/>
                </a:solidFill>
                <a:latin typeface="Consolas" pitchFamily="49" charset="0"/>
                <a:cs typeface="Consolas" pitchFamily="49" charset="0"/>
              </a:rPr>
              <a:t>		{ return a </a:t>
            </a:r>
            <a:r>
              <a:rPr lang="en-US" sz="2200" b="1" dirty="0" smtClean="0">
                <a:solidFill>
                  <a:srgbClr val="C00000"/>
                </a:solidFill>
                <a:latin typeface="Consolas" pitchFamily="49" charset="0"/>
                <a:cs typeface="Consolas" pitchFamily="49" charset="0"/>
              </a:rPr>
              <a:t>+</a:t>
            </a:r>
            <a:r>
              <a:rPr lang="en-US" sz="2200" dirty="0" smtClean="0">
                <a:solidFill>
                  <a:srgbClr val="C00000"/>
                </a:solidFill>
                <a:latin typeface="Consolas" pitchFamily="49" charset="0"/>
                <a:cs typeface="Consolas" pitchFamily="49" charset="0"/>
              </a:rPr>
              <a:t> b; }</a:t>
            </a:r>
          </a:p>
          <a:p>
            <a:pPr marL="342900" lvl="0" indent="-342900" eaLnBrk="0" hangingPunct="0">
              <a:spcBef>
                <a:spcPct val="20000"/>
              </a:spcBef>
            </a:pPr>
            <a:endParaRPr lang="en-US" sz="2200" dirty="0" smtClean="0">
              <a:solidFill>
                <a:srgbClr val="C00000"/>
              </a:solidFill>
              <a:latin typeface="Consolas" pitchFamily="49" charset="0"/>
              <a:cs typeface="Consolas" pitchFamily="49" charset="0"/>
            </a:endParaRPr>
          </a:p>
          <a:p>
            <a:pPr marL="342900" lvl="0" indent="-342900" eaLnBrk="0" hangingPunct="0">
              <a:spcBef>
                <a:spcPct val="20000"/>
              </a:spcBef>
              <a:buFont typeface="Arial" pitchFamily="34" charset="0"/>
              <a:buChar char="•"/>
            </a:pPr>
            <a:r>
              <a:rPr lang="en-US" sz="2200" dirty="0" smtClean="0">
                <a:solidFill>
                  <a:srgbClr val="C00000"/>
                </a:solidFill>
                <a:latin typeface="Consolas" pitchFamily="49" charset="0"/>
                <a:cs typeface="Consolas" pitchFamily="49" charset="0"/>
              </a:rPr>
              <a:t>Better:</a:t>
            </a:r>
          </a:p>
          <a:p>
            <a:pPr marL="800100" lvl="1" indent="-342900" eaLnBrk="0" hangingPunct="0">
              <a:spcBef>
                <a:spcPct val="20000"/>
              </a:spcBef>
            </a:pPr>
            <a:r>
              <a:rPr lang="en-US" sz="2200" dirty="0" smtClean="0">
                <a:solidFill>
                  <a:srgbClr val="C00000"/>
                </a:solidFill>
                <a:latin typeface="Consolas" pitchFamily="49" charset="0"/>
                <a:cs typeface="Consolas" pitchFamily="49" charset="0"/>
              </a:rPr>
              <a:t>		</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a:t>
            </a:r>
            <a:r>
              <a:rPr lang="en-US" sz="2200" b="1" dirty="0" smtClean="0">
                <a:solidFill>
                  <a:srgbClr val="C00000"/>
                </a:solidFill>
                <a:latin typeface="Consolas" pitchFamily="49" charset="0"/>
                <a:cs typeface="Consolas" pitchFamily="49" charset="0"/>
              </a:rPr>
              <a:t>multiply</a:t>
            </a:r>
            <a:r>
              <a:rPr lang="en-US" sz="2200" dirty="0" smtClean="0">
                <a:solidFill>
                  <a:srgbClr val="C00000"/>
                </a:solidFill>
                <a:latin typeface="Consolas" pitchFamily="49" charset="0"/>
                <a:cs typeface="Consolas" pitchFamily="49" charset="0"/>
              </a:rPr>
              <a:t>(</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a, </a:t>
            </a:r>
            <a:r>
              <a:rPr lang="en-US" sz="2200" dirty="0" err="1" smtClean="0">
                <a:solidFill>
                  <a:srgbClr val="C00000"/>
                </a:solidFill>
                <a:latin typeface="Consolas" pitchFamily="49" charset="0"/>
                <a:cs typeface="Consolas" pitchFamily="49" charset="0"/>
              </a:rPr>
              <a:t>int</a:t>
            </a:r>
            <a:r>
              <a:rPr lang="en-US" sz="2200" dirty="0" smtClean="0">
                <a:solidFill>
                  <a:srgbClr val="C00000"/>
                </a:solidFill>
                <a:latin typeface="Consolas" pitchFamily="49" charset="0"/>
                <a:cs typeface="Consolas" pitchFamily="49" charset="0"/>
              </a:rPr>
              <a:t> b) </a:t>
            </a:r>
          </a:p>
          <a:p>
            <a:pPr marL="342900" lvl="0" indent="-342900" eaLnBrk="0" hangingPunct="0">
              <a:spcBef>
                <a:spcPct val="20000"/>
              </a:spcBef>
            </a:pPr>
            <a:r>
              <a:rPr lang="en-US" sz="2200" dirty="0" smtClean="0">
                <a:solidFill>
                  <a:srgbClr val="C00000"/>
                </a:solidFill>
                <a:latin typeface="Consolas" pitchFamily="49" charset="0"/>
                <a:cs typeface="Consolas" pitchFamily="49" charset="0"/>
              </a:rPr>
              <a:t>		{ return a </a:t>
            </a:r>
            <a:r>
              <a:rPr lang="en-US" sz="2200" b="1" dirty="0" smtClean="0">
                <a:solidFill>
                  <a:srgbClr val="C00000"/>
                </a:solidFill>
                <a:latin typeface="Consolas" pitchFamily="49" charset="0"/>
                <a:cs typeface="Consolas" pitchFamily="49" charset="0"/>
              </a:rPr>
              <a:t>*</a:t>
            </a:r>
            <a:r>
              <a:rPr lang="en-US" sz="2200" dirty="0" smtClean="0">
                <a:solidFill>
                  <a:srgbClr val="C00000"/>
                </a:solidFill>
                <a:latin typeface="Consolas" pitchFamily="49" charset="0"/>
                <a:cs typeface="Consolas" pitchFamily="49" charset="0"/>
              </a:rPr>
              <a:t> b; } </a:t>
            </a:r>
            <a:endParaRPr kumimoji="0" lang="en-US" sz="2200" b="0" i="0" u="none" strike="noStrike" kern="1200" cap="none" spc="0" normalizeH="0" baseline="0" noProof="0" dirty="0">
              <a:ln>
                <a:noFill/>
              </a:ln>
              <a:solidFill>
                <a:srgbClr val="C00000"/>
              </a:solidFill>
              <a:effectLst/>
              <a:uLnTx/>
              <a:uFillTx/>
              <a:latin typeface="Consolas" pitchFamily="49" charset="0"/>
              <a:cs typeface="Consolas"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Don't Use Exceptions For Flow Control [3]</a:t>
            </a:r>
            <a:endParaRPr lang="en-US" dirty="0"/>
          </a:p>
        </p:txBody>
      </p:sp>
      <p:sp>
        <p:nvSpPr>
          <p:cNvPr id="4" name="Rectangle 3"/>
          <p:cNvSpPr/>
          <p:nvPr/>
        </p:nvSpPr>
        <p:spPr>
          <a:xfrm>
            <a:off x="457200" y="1752600"/>
            <a:ext cx="8229600" cy="2585323"/>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void </a:t>
            </a:r>
            <a:r>
              <a:rPr lang="en-US" dirty="0" err="1" smtClean="0">
                <a:solidFill>
                  <a:srgbClr val="C00000"/>
                </a:solidFill>
                <a:latin typeface="Consolas" pitchFamily="49" charset="0"/>
                <a:cs typeface="Consolas" pitchFamily="49" charset="0"/>
              </a:rPr>
              <a:t>binaryTreeSearch</a:t>
            </a:r>
            <a:r>
              <a:rPr lang="en-US" dirty="0" smtClean="0">
                <a:solidFill>
                  <a:srgbClr val="C00000"/>
                </a:solidFill>
                <a:latin typeface="Consolas" pitchFamily="49" charset="0"/>
                <a:cs typeface="Consolas" pitchFamily="49" charset="0"/>
              </a:rPr>
              <a:t>(</a:t>
            </a:r>
            <a:r>
              <a:rPr lang="en-US" dirty="0" err="1" smtClean="0">
                <a:solidFill>
                  <a:srgbClr val="C00000"/>
                </a:solidFill>
                <a:latin typeface="Consolas" pitchFamily="49" charset="0"/>
                <a:cs typeface="Consolas" pitchFamily="49" charset="0"/>
              </a:rPr>
              <a:t>TreeNode</a:t>
            </a:r>
            <a:r>
              <a:rPr lang="en-US" dirty="0" smtClean="0">
                <a:solidFill>
                  <a:srgbClr val="C00000"/>
                </a:solidFill>
                <a:latin typeface="Consolas" pitchFamily="49" charset="0"/>
                <a:cs typeface="Consolas" pitchFamily="49" charset="0"/>
              </a:rPr>
              <a:t> node, Object data)</a:t>
            </a:r>
          </a:p>
          <a:p>
            <a:r>
              <a:rPr lang="en-US" dirty="0" smtClean="0">
                <a:solidFill>
                  <a:srgbClr val="C00000"/>
                </a:solidFill>
                <a:latin typeface="Consolas" pitchFamily="49" charset="0"/>
                <a:cs typeface="Consolas" pitchFamily="49" charset="0"/>
              </a:rPr>
              <a:t>          throws </a:t>
            </a:r>
            <a:r>
              <a:rPr lang="en-US" dirty="0" err="1" smtClean="0">
                <a:solidFill>
                  <a:srgbClr val="C00000"/>
                </a:solidFill>
                <a:latin typeface="Consolas" pitchFamily="49" charset="0"/>
                <a:cs typeface="Consolas" pitchFamily="49" charset="0"/>
              </a:rPr>
              <a:t>ResultException</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if (</a:t>
            </a:r>
            <a:r>
              <a:rPr lang="en-US" dirty="0" err="1" smtClean="0">
                <a:solidFill>
                  <a:srgbClr val="C00000"/>
                </a:solidFill>
                <a:latin typeface="Consolas" pitchFamily="49" charset="0"/>
                <a:cs typeface="Consolas" pitchFamily="49" charset="0"/>
              </a:rPr>
              <a:t>node.data.equals</a:t>
            </a:r>
            <a:r>
              <a:rPr lang="en-US" dirty="0" smtClean="0">
                <a:solidFill>
                  <a:srgbClr val="C00000"/>
                </a:solidFill>
                <a:latin typeface="Consolas" pitchFamily="49" charset="0"/>
                <a:cs typeface="Consolas" pitchFamily="49" charset="0"/>
              </a:rPr>
              <a:t>(data))</a:t>
            </a:r>
          </a:p>
          <a:p>
            <a:r>
              <a:rPr lang="en-US" dirty="0" smtClean="0">
                <a:solidFill>
                  <a:srgbClr val="C00000"/>
                </a:solidFill>
                <a:latin typeface="Consolas" pitchFamily="49" charset="0"/>
                <a:cs typeface="Consolas" pitchFamily="49" charset="0"/>
              </a:rPr>
              <a:t>      throw new </a:t>
            </a:r>
            <a:r>
              <a:rPr lang="en-US" dirty="0" err="1" smtClean="0">
                <a:solidFill>
                  <a:srgbClr val="C00000"/>
                </a:solidFill>
                <a:latin typeface="Consolas" pitchFamily="49" charset="0"/>
                <a:cs typeface="Consolas" pitchFamily="49" charset="0"/>
              </a:rPr>
              <a:t>ResultException</a:t>
            </a:r>
            <a:r>
              <a:rPr lang="en-US" dirty="0" smtClean="0">
                <a:solidFill>
                  <a:srgbClr val="C00000"/>
                </a:solidFill>
                <a:latin typeface="Consolas" pitchFamily="49" charset="0"/>
                <a:cs typeface="Consolas" pitchFamily="49" charset="0"/>
              </a:rPr>
              <a:t>(node);</a:t>
            </a:r>
          </a:p>
          <a:p>
            <a:r>
              <a:rPr lang="en-US" dirty="0" smtClean="0">
                <a:solidFill>
                  <a:srgbClr val="C00000"/>
                </a:solidFill>
                <a:latin typeface="Consolas" pitchFamily="49" charset="0"/>
                <a:cs typeface="Consolas" pitchFamily="49" charset="0"/>
              </a:rPr>
              <a:t>   else {</a:t>
            </a:r>
          </a:p>
          <a:p>
            <a:r>
              <a:rPr lang="en-US" dirty="0" smtClean="0">
                <a:solidFill>
                  <a:srgbClr val="C00000"/>
                </a:solidFill>
                <a:latin typeface="Consolas" pitchFamily="49" charset="0"/>
                <a:cs typeface="Consolas" pitchFamily="49" charset="0"/>
              </a:rPr>
              <a:t>      search(</a:t>
            </a:r>
            <a:r>
              <a:rPr lang="en-US" dirty="0" err="1" smtClean="0">
                <a:solidFill>
                  <a:srgbClr val="C00000"/>
                </a:solidFill>
                <a:latin typeface="Consolas" pitchFamily="49" charset="0"/>
                <a:cs typeface="Consolas" pitchFamily="49" charset="0"/>
              </a:rPr>
              <a:t>node.leftChild</a:t>
            </a:r>
            <a:r>
              <a:rPr lang="en-US" dirty="0" smtClean="0">
                <a:solidFill>
                  <a:srgbClr val="C00000"/>
                </a:solidFill>
                <a:latin typeface="Consolas" pitchFamily="49" charset="0"/>
                <a:cs typeface="Consolas" pitchFamily="49" charset="0"/>
              </a:rPr>
              <a:t>, data);</a:t>
            </a:r>
          </a:p>
          <a:p>
            <a:r>
              <a:rPr lang="en-US" dirty="0" smtClean="0">
                <a:solidFill>
                  <a:srgbClr val="C00000"/>
                </a:solidFill>
                <a:latin typeface="Consolas" pitchFamily="49" charset="0"/>
                <a:cs typeface="Consolas" pitchFamily="49" charset="0"/>
              </a:rPr>
              <a:t>      search(</a:t>
            </a:r>
            <a:r>
              <a:rPr lang="en-US" dirty="0" err="1" smtClean="0">
                <a:solidFill>
                  <a:srgbClr val="C00000"/>
                </a:solidFill>
                <a:latin typeface="Consolas" pitchFamily="49" charset="0"/>
                <a:cs typeface="Consolas" pitchFamily="49" charset="0"/>
              </a:rPr>
              <a:t>node.rightChild</a:t>
            </a:r>
            <a:r>
              <a:rPr lang="en-US" dirty="0" smtClean="0">
                <a:solidFill>
                  <a:srgbClr val="C00000"/>
                </a:solidFill>
                <a:latin typeface="Consolas" pitchFamily="49" charset="0"/>
                <a:cs typeface="Consolas" pitchFamily="49" charset="0"/>
              </a:rPr>
              <a:t>, data);</a:t>
            </a:r>
          </a:p>
          <a:p>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sp>
        <p:nvSpPr>
          <p:cNvPr id="5" name="Content Placeholder 2"/>
          <p:cNvSpPr>
            <a:spLocks noGrp="1"/>
          </p:cNvSpPr>
          <p:nvPr>
            <p:ph idx="1"/>
          </p:nvPr>
        </p:nvSpPr>
        <p:spPr>
          <a:xfrm>
            <a:off x="152400" y="4648200"/>
            <a:ext cx="5105400" cy="1828800"/>
          </a:xfrm>
        </p:spPr>
        <p:txBody>
          <a:bodyPr/>
          <a:lstStyle/>
          <a:p>
            <a:r>
              <a:rPr lang="en-US" sz="1800" dirty="0" smtClean="0"/>
              <a:t>The cute trick here is that the exception will break out of the recursion in one step no matter </a:t>
            </a:r>
            <a:r>
              <a:rPr lang="en-US" sz="1800" i="1" dirty="0" smtClean="0">
                <a:solidFill>
                  <a:srgbClr val="C00000"/>
                </a:solidFill>
              </a:rPr>
              <a:t>how deep</a:t>
            </a:r>
            <a:r>
              <a:rPr lang="en-US" sz="1800" dirty="0" smtClean="0"/>
              <a:t> it has got.</a:t>
            </a:r>
          </a:p>
          <a:p>
            <a:r>
              <a:rPr lang="en-US" sz="1800" dirty="0" smtClean="0"/>
              <a:t>This violates the </a:t>
            </a:r>
            <a:r>
              <a:rPr lang="en-US" sz="1800" dirty="0" err="1" smtClean="0"/>
              <a:t>PrincipleOfLeastAstonishment</a:t>
            </a:r>
            <a:r>
              <a:rPr lang="en-US" sz="1800" dirty="0" smtClean="0"/>
              <a:t>.</a:t>
            </a:r>
          </a:p>
          <a:p>
            <a:r>
              <a:rPr lang="en-US" sz="1800" dirty="0" smtClean="0"/>
              <a:t>This makes it harder for programmers to read. </a:t>
            </a:r>
            <a:endParaRPr lang="en-US" sz="1800" dirty="0"/>
          </a:p>
        </p:txBody>
      </p:sp>
      <p:pic>
        <p:nvPicPr>
          <p:cNvPr id="70660" name="Picture 4" descr="http://mathworld.wolfram.com/images/eps-gif/CompleteBinaryTree_1000.gif"/>
          <p:cNvPicPr>
            <a:picLocks noChangeAspect="1" noChangeArrowheads="1"/>
          </p:cNvPicPr>
          <p:nvPr/>
        </p:nvPicPr>
        <p:blipFill>
          <a:blip r:embed="rId2" cstate="print"/>
          <a:srcRect/>
          <a:stretch>
            <a:fillRect/>
          </a:stretch>
        </p:blipFill>
        <p:spPr bwMode="auto">
          <a:xfrm>
            <a:off x="5029200" y="4343400"/>
            <a:ext cx="3924300" cy="2371726"/>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 Benefits [1]</a:t>
            </a:r>
            <a:endParaRPr lang="en-US" dirty="0"/>
          </a:p>
        </p:txBody>
      </p:sp>
      <p:sp>
        <p:nvSpPr>
          <p:cNvPr id="3" name="Content Placeholder 2"/>
          <p:cNvSpPr>
            <a:spLocks noGrp="1"/>
          </p:cNvSpPr>
          <p:nvPr>
            <p:ph idx="1"/>
          </p:nvPr>
        </p:nvSpPr>
        <p:spPr>
          <a:xfrm>
            <a:off x="457200" y="1600201"/>
            <a:ext cx="6400800" cy="3352800"/>
          </a:xfrm>
        </p:spPr>
        <p:txBody>
          <a:bodyPr/>
          <a:lstStyle/>
          <a:p>
            <a:pPr lvl="0"/>
            <a:r>
              <a:rPr lang="en-US" sz="2400" dirty="0" smtClean="0"/>
              <a:t>Keep </a:t>
            </a:r>
            <a:r>
              <a:rPr lang="en-US" sz="2400" i="1" dirty="0" smtClean="0">
                <a:solidFill>
                  <a:srgbClr val="C00000"/>
                </a:solidFill>
              </a:rPr>
              <a:t>cleanup code</a:t>
            </a:r>
            <a:r>
              <a:rPr lang="en-US" sz="2400" dirty="0" smtClean="0"/>
              <a:t> in a localized location, and to be sure that this cleanup code will execute</a:t>
            </a:r>
          </a:p>
          <a:p>
            <a:pPr lvl="0"/>
            <a:r>
              <a:rPr lang="en-US" sz="2400" dirty="0" smtClean="0"/>
              <a:t>Keep code that deals with exceptional situations in one </a:t>
            </a:r>
            <a:r>
              <a:rPr lang="en-US" sz="2400" i="1" dirty="0" smtClean="0">
                <a:solidFill>
                  <a:srgbClr val="C00000"/>
                </a:solidFill>
              </a:rPr>
              <a:t>central place</a:t>
            </a:r>
          </a:p>
          <a:p>
            <a:pPr lvl="0"/>
            <a:r>
              <a:rPr lang="en-US" sz="2400" i="1" dirty="0" smtClean="0">
                <a:solidFill>
                  <a:srgbClr val="C00000"/>
                </a:solidFill>
              </a:rPr>
              <a:t>Don’t</a:t>
            </a:r>
            <a:r>
              <a:rPr lang="en-US" sz="2400" dirty="0" smtClean="0"/>
              <a:t> have to be caught or detected at the place they occur</a:t>
            </a:r>
          </a:p>
          <a:p>
            <a:pPr lvl="0"/>
            <a:r>
              <a:rPr lang="en-US" sz="2400" i="1" dirty="0" smtClean="0">
                <a:solidFill>
                  <a:srgbClr val="C00000"/>
                </a:solidFill>
              </a:rPr>
              <a:t>More descriptive</a:t>
            </a:r>
            <a:r>
              <a:rPr lang="en-US" sz="2400" dirty="0" smtClean="0"/>
              <a:t> than error codes</a:t>
            </a:r>
          </a:p>
          <a:p>
            <a:pPr lvl="0"/>
            <a:r>
              <a:rPr lang="en-US" sz="2400" dirty="0" smtClean="0"/>
              <a:t>Provide </a:t>
            </a:r>
            <a:r>
              <a:rPr lang="en-US" sz="2400" i="1" dirty="0" smtClean="0">
                <a:solidFill>
                  <a:srgbClr val="C00000"/>
                </a:solidFill>
              </a:rPr>
              <a:t>repair model</a:t>
            </a:r>
          </a:p>
        </p:txBody>
      </p:sp>
      <p:pic>
        <p:nvPicPr>
          <p:cNvPr id="4" name="Picture 3"/>
          <p:cNvPicPr>
            <a:picLocks noChangeAspect="1" noChangeArrowheads="1"/>
          </p:cNvPicPr>
          <p:nvPr/>
        </p:nvPicPr>
        <p:blipFill>
          <a:blip r:embed="rId2" cstate="print"/>
          <a:srcRect/>
          <a:stretch>
            <a:fillRect/>
          </a:stretch>
        </p:blipFill>
        <p:spPr bwMode="auto">
          <a:xfrm>
            <a:off x="3352800" y="5029200"/>
            <a:ext cx="3305175" cy="1590675"/>
          </a:xfrm>
          <a:prstGeom prst="rect">
            <a:avLst/>
          </a:prstGeom>
          <a:noFill/>
          <a:ln w="9525">
            <a:noFill/>
            <a:miter lim="800000"/>
            <a:headEnd/>
            <a:tailEnd/>
          </a:ln>
          <a:effectLst/>
        </p:spPr>
      </p:pic>
      <p:pic>
        <p:nvPicPr>
          <p:cNvPr id="5" name="Picture 7"/>
          <p:cNvPicPr>
            <a:picLocks noChangeAspect="1" noChangeArrowheads="1"/>
          </p:cNvPicPr>
          <p:nvPr/>
        </p:nvPicPr>
        <p:blipFill>
          <a:blip r:embed="rId3" cstate="print"/>
          <a:srcRect/>
          <a:stretch>
            <a:fillRect/>
          </a:stretch>
        </p:blipFill>
        <p:spPr bwMode="auto">
          <a:xfrm>
            <a:off x="6858000" y="1828800"/>
            <a:ext cx="1905000" cy="14287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4648200" y="1524000"/>
            <a:ext cx="3810000" cy="42862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Exceptions Pros and Cons</a:t>
            </a:r>
            <a:endParaRPr lang="en-US" dirty="0"/>
          </a:p>
        </p:txBody>
      </p:sp>
      <p:graphicFrame>
        <p:nvGraphicFramePr>
          <p:cNvPr id="5" name="Diagram 4"/>
          <p:cNvGraphicFramePr/>
          <p:nvPr/>
        </p:nvGraphicFramePr>
        <p:xfrm>
          <a:off x="457200" y="2209800"/>
          <a:ext cx="4724400" cy="388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If-Then-Throw Pattern [8]</a:t>
            </a:r>
            <a:endParaRPr lang="en-US" dirty="0"/>
          </a:p>
        </p:txBody>
      </p:sp>
      <p:sp>
        <p:nvSpPr>
          <p:cNvPr id="4" name="Rectangle 3"/>
          <p:cNvSpPr/>
          <p:nvPr/>
        </p:nvSpPr>
        <p:spPr>
          <a:xfrm>
            <a:off x="457200" y="1752600"/>
            <a:ext cx="8229600" cy="4247317"/>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public class Match()</a:t>
            </a:r>
          </a:p>
          <a:p>
            <a:r>
              <a:rPr lang="en-US" dirty="0" smtClean="0">
                <a:solidFill>
                  <a:srgbClr val="C00000"/>
                </a:solidFill>
                <a:latin typeface="Consolas" pitchFamily="49" charset="0"/>
                <a:cs typeface="Consolas" pitchFamily="49" charset="0"/>
              </a:rPr>
              <a:t>{</a:t>
            </a:r>
          </a:p>
          <a:p>
            <a:pPr lvl="1"/>
            <a:r>
              <a:rPr lang="en-US" dirty="0" smtClean="0">
                <a:solidFill>
                  <a:srgbClr val="C00000"/>
                </a:solidFill>
                <a:latin typeface="Consolas" pitchFamily="49" charset="0"/>
                <a:cs typeface="Consolas" pitchFamily="49" charset="0"/>
              </a:rPr>
              <a:t>public Match(String id, String home, String visitors)</a:t>
            </a:r>
          </a:p>
          <a:p>
            <a:pPr lvl="1"/>
            <a:r>
              <a:rPr lang="en-US" dirty="0" smtClean="0">
                <a:solidFill>
                  <a:srgbClr val="C00000"/>
                </a:solidFill>
                <a:latin typeface="Consolas" pitchFamily="49" charset="0"/>
                <a:cs typeface="Consolas" pitchFamily="49" charset="0"/>
              </a:rPr>
              <a:t>{</a:t>
            </a:r>
          </a:p>
          <a:p>
            <a:pPr lvl="2"/>
            <a:r>
              <a:rPr lang="en-US" dirty="0" smtClean="0">
                <a:solidFill>
                  <a:srgbClr val="C00000"/>
                </a:solidFill>
                <a:latin typeface="Consolas" pitchFamily="49" charset="0"/>
                <a:cs typeface="Consolas" pitchFamily="49" charset="0"/>
              </a:rPr>
              <a:t>// If-Then-Throw implementation</a:t>
            </a:r>
          </a:p>
          <a:p>
            <a:pPr lvl="2"/>
            <a:r>
              <a:rPr lang="en-US" dirty="0" smtClean="0">
                <a:solidFill>
                  <a:srgbClr val="C00000"/>
                </a:solidFill>
                <a:latin typeface="Consolas" pitchFamily="49" charset="0"/>
                <a:cs typeface="Consolas" pitchFamily="49" charset="0"/>
              </a:rPr>
              <a:t>if (</a:t>
            </a:r>
            <a:r>
              <a:rPr lang="en-US" dirty="0" err="1" smtClean="0">
                <a:solidFill>
                  <a:srgbClr val="C00000"/>
                </a:solidFill>
                <a:latin typeface="Consolas" pitchFamily="49" charset="0"/>
                <a:cs typeface="Consolas" pitchFamily="49" charset="0"/>
              </a:rPr>
              <a:t>String.IsNullOrWhitespace</a:t>
            </a:r>
            <a:r>
              <a:rPr lang="en-US" dirty="0" smtClean="0">
                <a:solidFill>
                  <a:srgbClr val="C00000"/>
                </a:solidFill>
                <a:latin typeface="Consolas" pitchFamily="49" charset="0"/>
                <a:cs typeface="Consolas" pitchFamily="49" charset="0"/>
              </a:rPr>
              <a:t>(id))</a:t>
            </a:r>
          </a:p>
          <a:p>
            <a:pPr lvl="2"/>
            <a:r>
              <a:rPr lang="en-US" dirty="0" smtClean="0">
                <a:solidFill>
                  <a:srgbClr val="C00000"/>
                </a:solidFill>
                <a:latin typeface="Consolas" pitchFamily="49" charset="0"/>
                <a:cs typeface="Consolas" pitchFamily="49" charset="0"/>
              </a:rPr>
              <a:t>throw new </a:t>
            </a:r>
            <a:r>
              <a:rPr lang="en-US" dirty="0" err="1" smtClean="0">
                <a:solidFill>
                  <a:srgbClr val="C00000"/>
                </a:solidFill>
                <a:latin typeface="Consolas" pitchFamily="49" charset="0"/>
                <a:cs typeface="Consolas" pitchFamily="49" charset="0"/>
              </a:rPr>
              <a:t>ArgumentException</a:t>
            </a:r>
            <a:r>
              <a:rPr lang="en-US" dirty="0" smtClean="0">
                <a:solidFill>
                  <a:srgbClr val="C00000"/>
                </a:solidFill>
                <a:latin typeface="Consolas" pitchFamily="49" charset="0"/>
                <a:cs typeface="Consolas" pitchFamily="49" charset="0"/>
              </a:rPr>
              <a:t>("id");</a:t>
            </a:r>
          </a:p>
          <a:p>
            <a:pPr lvl="2"/>
            <a:r>
              <a:rPr lang="en-US" dirty="0" smtClean="0">
                <a:solidFill>
                  <a:srgbClr val="C00000"/>
                </a:solidFill>
                <a:latin typeface="Consolas" pitchFamily="49" charset="0"/>
                <a:cs typeface="Consolas" pitchFamily="49" charset="0"/>
              </a:rPr>
              <a:t>if (</a:t>
            </a:r>
            <a:r>
              <a:rPr lang="en-US" dirty="0" err="1" smtClean="0">
                <a:solidFill>
                  <a:srgbClr val="C00000"/>
                </a:solidFill>
                <a:latin typeface="Consolas" pitchFamily="49" charset="0"/>
                <a:cs typeface="Consolas" pitchFamily="49" charset="0"/>
              </a:rPr>
              <a:t>String.IsNullOrWhitespace</a:t>
            </a:r>
            <a:r>
              <a:rPr lang="en-US" dirty="0" smtClean="0">
                <a:solidFill>
                  <a:srgbClr val="C00000"/>
                </a:solidFill>
                <a:latin typeface="Consolas" pitchFamily="49" charset="0"/>
                <a:cs typeface="Consolas" pitchFamily="49" charset="0"/>
              </a:rPr>
              <a:t>(home))</a:t>
            </a:r>
          </a:p>
          <a:p>
            <a:pPr lvl="2"/>
            <a:r>
              <a:rPr lang="en-US" dirty="0" smtClean="0">
                <a:solidFill>
                  <a:srgbClr val="C00000"/>
                </a:solidFill>
                <a:latin typeface="Consolas" pitchFamily="49" charset="0"/>
                <a:cs typeface="Consolas" pitchFamily="49" charset="0"/>
              </a:rPr>
              <a:t>throw new </a:t>
            </a:r>
            <a:r>
              <a:rPr lang="en-US" dirty="0" err="1" smtClean="0">
                <a:solidFill>
                  <a:srgbClr val="C00000"/>
                </a:solidFill>
                <a:latin typeface="Consolas" pitchFamily="49" charset="0"/>
                <a:cs typeface="Consolas" pitchFamily="49" charset="0"/>
              </a:rPr>
              <a:t>ArgumentException</a:t>
            </a:r>
            <a:r>
              <a:rPr lang="en-US" dirty="0" smtClean="0">
                <a:solidFill>
                  <a:srgbClr val="C00000"/>
                </a:solidFill>
                <a:latin typeface="Consolas" pitchFamily="49" charset="0"/>
                <a:cs typeface="Consolas" pitchFamily="49" charset="0"/>
              </a:rPr>
              <a:t>("home");</a:t>
            </a:r>
          </a:p>
          <a:p>
            <a:pPr lvl="2"/>
            <a:r>
              <a:rPr lang="en-US" dirty="0" smtClean="0">
                <a:solidFill>
                  <a:srgbClr val="C00000"/>
                </a:solidFill>
                <a:latin typeface="Consolas" pitchFamily="49" charset="0"/>
                <a:cs typeface="Consolas" pitchFamily="49" charset="0"/>
              </a:rPr>
              <a:t>if (</a:t>
            </a:r>
            <a:r>
              <a:rPr lang="en-US" dirty="0" err="1" smtClean="0">
                <a:solidFill>
                  <a:srgbClr val="C00000"/>
                </a:solidFill>
                <a:latin typeface="Consolas" pitchFamily="49" charset="0"/>
                <a:cs typeface="Consolas" pitchFamily="49" charset="0"/>
              </a:rPr>
              <a:t>String.IsNullOrWhitespace</a:t>
            </a:r>
            <a:r>
              <a:rPr lang="en-US" dirty="0" smtClean="0">
                <a:solidFill>
                  <a:srgbClr val="C00000"/>
                </a:solidFill>
                <a:latin typeface="Consolas" pitchFamily="49" charset="0"/>
                <a:cs typeface="Consolas" pitchFamily="49" charset="0"/>
              </a:rPr>
              <a:t>(visitors))</a:t>
            </a:r>
          </a:p>
          <a:p>
            <a:pPr lvl="2"/>
            <a:r>
              <a:rPr lang="en-US" dirty="0" smtClean="0">
                <a:solidFill>
                  <a:srgbClr val="C00000"/>
                </a:solidFill>
                <a:latin typeface="Consolas" pitchFamily="49" charset="0"/>
                <a:cs typeface="Consolas" pitchFamily="49" charset="0"/>
              </a:rPr>
              <a:t>throw new </a:t>
            </a:r>
            <a:r>
              <a:rPr lang="en-US" dirty="0" err="1" smtClean="0">
                <a:solidFill>
                  <a:srgbClr val="C00000"/>
                </a:solidFill>
                <a:latin typeface="Consolas" pitchFamily="49" charset="0"/>
                <a:cs typeface="Consolas" pitchFamily="49" charset="0"/>
              </a:rPr>
              <a:t>ArgumentException</a:t>
            </a:r>
            <a:r>
              <a:rPr lang="en-US" dirty="0" smtClean="0">
                <a:solidFill>
                  <a:srgbClr val="C00000"/>
                </a:solidFill>
                <a:latin typeface="Consolas" pitchFamily="49" charset="0"/>
                <a:cs typeface="Consolas" pitchFamily="49" charset="0"/>
              </a:rPr>
              <a:t>("visitors");</a:t>
            </a:r>
          </a:p>
          <a:p>
            <a:pPr lvl="2"/>
            <a:r>
              <a:rPr lang="en-US" dirty="0" smtClean="0">
                <a:solidFill>
                  <a:srgbClr val="C00000"/>
                </a:solidFill>
                <a:latin typeface="Consolas" pitchFamily="49" charset="0"/>
                <a:cs typeface="Consolas" pitchFamily="49" charset="0"/>
              </a:rPr>
              <a:t>...</a:t>
            </a:r>
          </a:p>
          <a:p>
            <a:pPr lvl="1"/>
            <a:r>
              <a:rPr lang="en-US" dirty="0" smtClean="0">
                <a:solidFill>
                  <a:srgbClr val="C00000"/>
                </a:solidFill>
                <a:latin typeface="Consolas" pitchFamily="49" charset="0"/>
                <a:cs typeface="Consolas" pitchFamily="49" charset="0"/>
              </a:rPr>
              <a:t>}</a:t>
            </a:r>
          </a:p>
          <a:p>
            <a:pPr lvl="1"/>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Contracts</a:t>
            </a:r>
            <a:endParaRPr lang="en-US" dirty="0"/>
          </a:p>
        </p:txBody>
      </p:sp>
      <p:sp>
        <p:nvSpPr>
          <p:cNvPr id="3" name="Content Placeholder 2"/>
          <p:cNvSpPr>
            <a:spLocks noGrp="1"/>
          </p:cNvSpPr>
          <p:nvPr>
            <p:ph idx="1"/>
          </p:nvPr>
        </p:nvSpPr>
        <p:spPr/>
        <p:txBody>
          <a:bodyPr/>
          <a:lstStyle/>
          <a:p>
            <a:r>
              <a:rPr lang="en-US" sz="2400" dirty="0" smtClean="0"/>
              <a:t>Under which conditions can the method be invoked?</a:t>
            </a:r>
          </a:p>
          <a:p>
            <a:pPr lvl="1"/>
            <a:r>
              <a:rPr lang="en-US" sz="2000" dirty="0" smtClean="0"/>
              <a:t>Pre-conditions</a:t>
            </a:r>
          </a:p>
          <a:p>
            <a:r>
              <a:rPr lang="en-US" sz="2400" dirty="0" smtClean="0"/>
              <a:t>Which conditions are verified after the method terminates?</a:t>
            </a:r>
          </a:p>
          <a:p>
            <a:pPr lvl="1"/>
            <a:r>
              <a:rPr lang="en-US" sz="2000" dirty="0" smtClean="0"/>
              <a:t>Post-conditions</a:t>
            </a:r>
          </a:p>
          <a:p>
            <a:r>
              <a:rPr lang="en-US" sz="2400" dirty="0" smtClean="0"/>
              <a:t>Which conditions do not change before and after the method execution?</a:t>
            </a:r>
          </a:p>
          <a:p>
            <a:pPr lvl="1"/>
            <a:r>
              <a:rPr lang="en-US" sz="2000" dirty="0" smtClean="0"/>
              <a:t>Invariants</a:t>
            </a:r>
          </a:p>
          <a:p>
            <a:r>
              <a:rPr lang="en-US" sz="2400" dirty="0" smtClean="0">
                <a:hlinkClick r:id="rId2"/>
              </a:rPr>
              <a:t>http://research.microsoft.com/en-us/projects/contracts/</a:t>
            </a:r>
          </a:p>
          <a:p>
            <a:r>
              <a:rPr lang="en-US" sz="2400" dirty="0" smtClean="0">
                <a:hlinkClick r:id="rId2"/>
              </a:rPr>
              <a:t>https://msdn.microsoft.com/en-us/library/dd264808%28v=vs.110%29.aspx?f=255&amp;MSPPError=-2147217396</a:t>
            </a:r>
            <a:r>
              <a:rPr lang="en-US" sz="2400" dirty="0" smtClean="0"/>
              <a:t> (</a:t>
            </a:r>
            <a:r>
              <a:rPr lang="en-US" sz="2400" smtClean="0"/>
              <a:t>MS Tool)</a:t>
            </a:r>
            <a:endParaRPr lang="en-US"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Logging [5]</a:t>
            </a:r>
            <a:endParaRPr lang="en-US" dirty="0"/>
          </a:p>
        </p:txBody>
      </p:sp>
      <p:sp>
        <p:nvSpPr>
          <p:cNvPr id="3" name="Content Placeholder 2"/>
          <p:cNvSpPr>
            <a:spLocks noGrp="1"/>
          </p:cNvSpPr>
          <p:nvPr>
            <p:ph idx="1"/>
          </p:nvPr>
        </p:nvSpPr>
        <p:spPr/>
        <p:txBody>
          <a:bodyPr/>
          <a:lstStyle/>
          <a:p>
            <a:r>
              <a:rPr lang="en-US" sz="2200" dirty="0" smtClean="0"/>
              <a:t>Logging is a critical technique for </a:t>
            </a:r>
            <a:r>
              <a:rPr lang="en-US" sz="2200" i="1" dirty="0" smtClean="0">
                <a:solidFill>
                  <a:srgbClr val="C00000"/>
                </a:solidFill>
              </a:rPr>
              <a:t>troubleshooting</a:t>
            </a:r>
            <a:r>
              <a:rPr lang="en-US" sz="2200" dirty="0" smtClean="0"/>
              <a:t> and </a:t>
            </a:r>
            <a:r>
              <a:rPr lang="en-US" sz="2200" i="1" dirty="0" smtClean="0">
                <a:solidFill>
                  <a:srgbClr val="C00000"/>
                </a:solidFill>
              </a:rPr>
              <a:t>maintaining</a:t>
            </a:r>
            <a:r>
              <a:rPr lang="en-US" sz="2200" dirty="0" smtClean="0"/>
              <a:t> software systems.</a:t>
            </a:r>
          </a:p>
          <a:p>
            <a:r>
              <a:rPr lang="en-US" sz="2200" dirty="0" smtClean="0"/>
              <a:t>Good logging mechanisms can </a:t>
            </a:r>
            <a:r>
              <a:rPr lang="en-US" sz="2200" i="1" dirty="0" smtClean="0">
                <a:solidFill>
                  <a:srgbClr val="C00000"/>
                </a:solidFill>
              </a:rPr>
              <a:t>save long debugging sessions</a:t>
            </a:r>
            <a:r>
              <a:rPr lang="en-US" sz="2200" dirty="0" smtClean="0"/>
              <a:t> and dramatically increase the maintainability of applications.</a:t>
            </a:r>
          </a:p>
          <a:p>
            <a:r>
              <a:rPr lang="en-US" sz="2200" dirty="0" smtClean="0"/>
              <a:t>Logging is a useful means to figure out if an application is actually doing what it is </a:t>
            </a:r>
            <a:r>
              <a:rPr lang="en-US" sz="2200" i="1" dirty="0" smtClean="0">
                <a:solidFill>
                  <a:srgbClr val="C00000"/>
                </a:solidFill>
              </a:rPr>
              <a:t>supposed to do</a:t>
            </a:r>
            <a:r>
              <a:rPr lang="en-US" sz="2200" dirty="0" smtClean="0"/>
              <a:t>.</a:t>
            </a:r>
          </a:p>
          <a:p>
            <a:r>
              <a:rPr lang="en-US" sz="2200" dirty="0" smtClean="0"/>
              <a:t>It provides information without requiring knowledge of </a:t>
            </a:r>
            <a:r>
              <a:rPr lang="en-US" sz="2200" i="1" dirty="0" smtClean="0">
                <a:solidFill>
                  <a:srgbClr val="C00000"/>
                </a:solidFill>
              </a:rPr>
              <a:t>programming language</a:t>
            </a:r>
            <a:r>
              <a:rPr lang="en-US" sz="2200" dirty="0" smtClean="0"/>
              <a:t>, and does not require </a:t>
            </a:r>
            <a:r>
              <a:rPr lang="en-US" sz="2200" i="1" dirty="0" smtClean="0">
                <a:solidFill>
                  <a:srgbClr val="C00000"/>
                </a:solidFill>
              </a:rPr>
              <a:t>specialized tools</a:t>
            </a:r>
            <a:r>
              <a:rPr lang="en-US" sz="2200" dirty="0" smtClean="0"/>
              <a:t>.</a:t>
            </a:r>
          </a:p>
          <a:p>
            <a:r>
              <a:rPr lang="en-US" sz="2200" dirty="0" smtClean="0">
                <a:hlinkClick r:id="rId2"/>
              </a:rPr>
              <a:t>http://logging.apache.org/log4cxx/index.html</a:t>
            </a:r>
            <a:endParaRPr lang="en-US" sz="2200" dirty="0" smtClean="0"/>
          </a:p>
          <a:p>
            <a:r>
              <a:rPr lang="en-US" sz="2200" dirty="0" smtClean="0">
                <a:hlinkClick r:id="rId3"/>
              </a:rPr>
              <a:t>http://log4cpp.sourceforge.net/</a:t>
            </a:r>
            <a:endParaRPr lang="en-US" sz="2200" dirty="0" smtClean="0"/>
          </a:p>
          <a:p>
            <a:r>
              <a:rPr lang="en-US" sz="2000" u="sng" dirty="0" smtClean="0">
                <a:hlinkClick r:id="rId4"/>
              </a:rPr>
              <a:t>http://logging.apache.org/log4j/</a:t>
            </a:r>
            <a:endParaRPr lang="en-US" sz="2000" dirty="0" smtClean="0"/>
          </a:p>
          <a:p>
            <a:r>
              <a:rPr lang="en-US" sz="2000" u="sng" dirty="0" smtClean="0">
                <a:hlinkClick r:id="rId5"/>
              </a:rPr>
              <a:t>http://logging.apache.org/log4net/</a:t>
            </a:r>
            <a:endParaRPr lang="en-US" sz="2000" dirty="0" smtClean="0"/>
          </a:p>
          <a:p>
            <a:endParaRPr lang="en-US" sz="22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52400" y="1551087"/>
            <a:ext cx="8839200" cy="5078313"/>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try</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using(</a:t>
            </a:r>
            <a:r>
              <a:rPr lang="en-US" dirty="0" err="1" smtClean="0">
                <a:solidFill>
                  <a:srgbClr val="C00000"/>
                </a:solidFill>
                <a:latin typeface="Consolas" pitchFamily="49" charset="0"/>
                <a:cs typeface="Consolas" pitchFamily="49" charset="0"/>
              </a:rPr>
              <a:t>TransactionScope</a:t>
            </a:r>
            <a:r>
              <a:rPr lang="en-US" dirty="0" smtClean="0">
                <a:solidFill>
                  <a:srgbClr val="C00000"/>
                </a:solidFill>
                <a:latin typeface="Consolas" pitchFamily="49" charset="0"/>
                <a:cs typeface="Consolas" pitchFamily="49" charset="0"/>
              </a:rPr>
              <a:t> scope = new </a:t>
            </a:r>
            <a:r>
              <a:rPr lang="en-US" dirty="0" err="1" smtClean="0">
                <a:solidFill>
                  <a:srgbClr val="C00000"/>
                </a:solidFill>
                <a:latin typeface="Consolas" pitchFamily="49" charset="0"/>
                <a:cs typeface="Consolas" pitchFamily="49" charset="0"/>
              </a:rPr>
              <a:t>TransactionScope</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      /* Perform transactional work here */</a:t>
            </a:r>
          </a:p>
          <a:p>
            <a:r>
              <a:rPr lang="en-US" dirty="0" smtClean="0">
                <a:solidFill>
                  <a:srgbClr val="C00000"/>
                </a:solidFill>
                <a:latin typeface="Consolas" pitchFamily="49" charset="0"/>
                <a:cs typeface="Consolas" pitchFamily="49" charset="0"/>
              </a:rPr>
              <a:t>      // No errors-commit transaction</a:t>
            </a:r>
          </a:p>
          <a:p>
            <a:r>
              <a:rPr lang="en-US" dirty="0" smtClean="0">
                <a:solidFill>
                  <a:srgbClr val="C00000"/>
                </a:solidFill>
                <a:latin typeface="Consolas" pitchFamily="49" charset="0"/>
                <a:cs typeface="Consolas" pitchFamily="49" charset="0"/>
              </a:rPr>
              <a:t>      </a:t>
            </a:r>
            <a:r>
              <a:rPr lang="en-US" dirty="0" err="1" smtClean="0">
                <a:solidFill>
                  <a:srgbClr val="C00000"/>
                </a:solidFill>
                <a:latin typeface="Consolas" pitchFamily="49" charset="0"/>
                <a:cs typeface="Consolas" pitchFamily="49" charset="0"/>
              </a:rPr>
              <a:t>scope.Complete</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catch(</a:t>
            </a:r>
            <a:r>
              <a:rPr lang="en-US" dirty="0" err="1" smtClean="0">
                <a:solidFill>
                  <a:srgbClr val="C00000"/>
                </a:solidFill>
                <a:latin typeface="Consolas" pitchFamily="49" charset="0"/>
                <a:cs typeface="Consolas" pitchFamily="49" charset="0"/>
              </a:rPr>
              <a:t>TransactionAbortedException</a:t>
            </a:r>
            <a:r>
              <a:rPr lang="en-US" dirty="0" smtClean="0">
                <a:solidFill>
                  <a:srgbClr val="C00000"/>
                </a:solidFill>
                <a:latin typeface="Consolas" pitchFamily="49" charset="0"/>
                <a:cs typeface="Consolas" pitchFamily="49" charset="0"/>
              </a:rPr>
              <a:t> e)</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 handle abort condition</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catch // Any other exception took place</a:t>
            </a: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r>
              <a:rPr lang="en-US" dirty="0" err="1" smtClean="0">
                <a:solidFill>
                  <a:srgbClr val="C00000"/>
                </a:solidFill>
                <a:latin typeface="Consolas" pitchFamily="49" charset="0"/>
                <a:cs typeface="Consolas" pitchFamily="49" charset="0"/>
              </a:rPr>
              <a:t>Trace.WriteLine</a:t>
            </a:r>
            <a:r>
              <a:rPr lang="en-US" dirty="0" smtClean="0">
                <a:solidFill>
                  <a:srgbClr val="C00000"/>
                </a:solidFill>
                <a:latin typeface="Consolas" pitchFamily="49" charset="0"/>
                <a:cs typeface="Consolas" pitchFamily="49" charset="0"/>
              </a:rPr>
              <a:t>("Cannot complete transaction");</a:t>
            </a:r>
          </a:p>
          <a:p>
            <a:r>
              <a:rPr lang="en-US" dirty="0" smtClean="0">
                <a:solidFill>
                  <a:srgbClr val="C00000"/>
                </a:solidFill>
                <a:latin typeface="Consolas" pitchFamily="49" charset="0"/>
                <a:cs typeface="Consolas" pitchFamily="49" charset="0"/>
              </a:rPr>
              <a:t>   throw;</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pic>
        <p:nvPicPr>
          <p:cNvPr id="8" name="Picture 2" descr="http://i.msdn.microsoft.com/dynimg/IC174234.gif"/>
          <p:cNvPicPr>
            <a:picLocks noChangeAspect="1" noChangeArrowheads="1"/>
          </p:cNvPicPr>
          <p:nvPr/>
        </p:nvPicPr>
        <p:blipFill>
          <a:blip r:embed="rId2" cstate="print"/>
          <a:srcRect/>
          <a:stretch>
            <a:fillRect/>
          </a:stretch>
        </p:blipFill>
        <p:spPr bwMode="auto">
          <a:xfrm>
            <a:off x="6781800" y="2971800"/>
            <a:ext cx="2095500" cy="2228850"/>
          </a:xfrm>
          <a:prstGeom prst="rect">
            <a:avLst/>
          </a:prstGeom>
          <a:noFill/>
        </p:spPr>
      </p:pic>
      <p:sp>
        <p:nvSpPr>
          <p:cNvPr id="2" name="Title 1"/>
          <p:cNvSpPr>
            <a:spLocks noGrp="1"/>
          </p:cNvSpPr>
          <p:nvPr>
            <p:ph type="title"/>
          </p:nvPr>
        </p:nvSpPr>
        <p:spPr/>
        <p:txBody>
          <a:bodyPr/>
          <a:lstStyle/>
          <a:p>
            <a:r>
              <a:rPr lang="en-US" dirty="0" smtClean="0"/>
              <a:t>Error Handling with Transaction [6]</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Boundary</a:t>
            </a:r>
            <a:endParaRPr lang="en-US" dirty="0"/>
          </a:p>
        </p:txBody>
      </p:sp>
      <p:pic>
        <p:nvPicPr>
          <p:cNvPr id="75778" name="Picture 2" descr="http://i.msdn.microsoft.com/dynimg/IC43791.gif"/>
          <p:cNvPicPr>
            <a:picLocks noChangeAspect="1" noChangeArrowheads="1"/>
          </p:cNvPicPr>
          <p:nvPr/>
        </p:nvPicPr>
        <p:blipFill>
          <a:blip r:embed="rId2" cstate="print"/>
          <a:srcRect/>
          <a:stretch>
            <a:fillRect/>
          </a:stretch>
        </p:blipFill>
        <p:spPr bwMode="auto">
          <a:xfrm>
            <a:off x="304800" y="1543050"/>
            <a:ext cx="3200400" cy="2800351"/>
          </a:xfrm>
          <a:prstGeom prst="rect">
            <a:avLst/>
          </a:prstGeom>
          <a:noFill/>
        </p:spPr>
      </p:pic>
      <p:sp>
        <p:nvSpPr>
          <p:cNvPr id="5" name="Rectangle 4"/>
          <p:cNvSpPr/>
          <p:nvPr/>
        </p:nvSpPr>
        <p:spPr>
          <a:xfrm>
            <a:off x="304800" y="4488359"/>
            <a:ext cx="3276600" cy="769441"/>
          </a:xfrm>
          <a:prstGeom prst="rect">
            <a:avLst/>
          </a:prstGeom>
        </p:spPr>
        <p:txBody>
          <a:bodyPr wrap="square">
            <a:spAutoFit/>
          </a:bodyPr>
          <a:lstStyle/>
          <a:p>
            <a:pPr algn="ctr"/>
            <a:r>
              <a:rPr lang="en-US" sz="2200" dirty="0" smtClean="0">
                <a:latin typeface="+mj-lt"/>
              </a:rPr>
              <a:t>Multiple objects / single resource transaction</a:t>
            </a:r>
            <a:endParaRPr lang="en-US" sz="2200" dirty="0">
              <a:latin typeface="+mj-lt"/>
            </a:endParaRPr>
          </a:p>
        </p:txBody>
      </p:sp>
      <p:pic>
        <p:nvPicPr>
          <p:cNvPr id="75780" name="Picture 4" descr="http://i.msdn.microsoft.com/dynimg/IC22538.gif"/>
          <p:cNvPicPr>
            <a:picLocks noChangeAspect="1" noChangeArrowheads="1"/>
          </p:cNvPicPr>
          <p:nvPr/>
        </p:nvPicPr>
        <p:blipFill>
          <a:blip r:embed="rId3" cstate="print"/>
          <a:srcRect/>
          <a:stretch>
            <a:fillRect/>
          </a:stretch>
        </p:blipFill>
        <p:spPr bwMode="auto">
          <a:xfrm>
            <a:off x="4114800" y="1524000"/>
            <a:ext cx="4800600" cy="3048001"/>
          </a:xfrm>
          <a:prstGeom prst="rect">
            <a:avLst/>
          </a:prstGeom>
          <a:noFill/>
        </p:spPr>
      </p:pic>
      <p:sp>
        <p:nvSpPr>
          <p:cNvPr id="7" name="Rectangle 6"/>
          <p:cNvSpPr/>
          <p:nvPr/>
        </p:nvSpPr>
        <p:spPr>
          <a:xfrm>
            <a:off x="4267200" y="4716959"/>
            <a:ext cx="4648200" cy="769441"/>
          </a:xfrm>
          <a:prstGeom prst="rect">
            <a:avLst/>
          </a:prstGeom>
        </p:spPr>
        <p:txBody>
          <a:bodyPr wrap="square">
            <a:spAutoFit/>
          </a:bodyPr>
          <a:lstStyle/>
          <a:p>
            <a:pPr algn="ctr"/>
            <a:r>
              <a:rPr lang="en-US" sz="2200" dirty="0" smtClean="0">
                <a:latin typeface="+mj-lt"/>
              </a:rPr>
              <a:t>Multiple objects accessing multiple resources</a:t>
            </a:r>
            <a:endParaRPr lang="en-US" sz="2200" dirty="0">
              <a:latin typeface="+mj-lt"/>
            </a:endParaRPr>
          </a:p>
        </p:txBody>
      </p:sp>
      <p:sp>
        <p:nvSpPr>
          <p:cNvPr id="8" name="Rectangle 7"/>
          <p:cNvSpPr/>
          <p:nvPr/>
        </p:nvSpPr>
        <p:spPr>
          <a:xfrm>
            <a:off x="4114800" y="5638800"/>
            <a:ext cx="4572000" cy="1015663"/>
          </a:xfrm>
          <a:prstGeom prst="rect">
            <a:avLst/>
          </a:prstGeom>
        </p:spPr>
        <p:txBody>
          <a:bodyPr>
            <a:spAutoFit/>
          </a:bodyPr>
          <a:lstStyle/>
          <a:p>
            <a:pPr algn="ctr"/>
            <a:r>
              <a:rPr lang="en-US" sz="2000" b="1" dirty="0" smtClean="0">
                <a:latin typeface="+mj-lt"/>
              </a:rPr>
              <a:t>MSDTC (Microsoft Distributed Transaction Coordinator) manages distributed transactions.</a:t>
            </a:r>
            <a:endParaRPr lang="en-US" sz="2000" b="1" dirty="0">
              <a:latin typeface="+mj-lt"/>
            </a:endParaRPr>
          </a:p>
        </p:txBody>
      </p:sp>
      <p:sp>
        <p:nvSpPr>
          <p:cNvPr id="9" name="Rectangle 8"/>
          <p:cNvSpPr/>
          <p:nvPr/>
        </p:nvSpPr>
        <p:spPr>
          <a:xfrm>
            <a:off x="381001" y="5562600"/>
            <a:ext cx="2971800" cy="707886"/>
          </a:xfrm>
          <a:prstGeom prst="rect">
            <a:avLst/>
          </a:prstGeom>
        </p:spPr>
        <p:txBody>
          <a:bodyPr wrap="square">
            <a:spAutoFit/>
          </a:bodyPr>
          <a:lstStyle/>
          <a:p>
            <a:pPr algn="ctr"/>
            <a:r>
              <a:rPr lang="en-US" sz="2000" b="1" dirty="0" smtClean="0">
                <a:latin typeface="+mj-lt"/>
              </a:rPr>
              <a:t>Lightweight Transaction Manager (LTM)</a:t>
            </a:r>
            <a:endParaRPr lang="en-US" sz="2000" b="1" dirty="0">
              <a:latin typeface="+mj-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Scope Options</a:t>
            </a:r>
            <a:endParaRPr lang="en-US" dirty="0"/>
          </a:p>
        </p:txBody>
      </p:sp>
      <p:sp>
        <p:nvSpPr>
          <p:cNvPr id="3" name="Content Placeholder 2"/>
          <p:cNvSpPr>
            <a:spLocks noGrp="1"/>
          </p:cNvSpPr>
          <p:nvPr>
            <p:ph idx="1"/>
          </p:nvPr>
        </p:nvSpPr>
        <p:spPr>
          <a:xfrm>
            <a:off x="457200" y="1676400"/>
            <a:ext cx="8229600" cy="3048000"/>
          </a:xfrm>
        </p:spPr>
        <p:txBody>
          <a:bodyPr/>
          <a:lstStyle/>
          <a:p>
            <a:r>
              <a:rPr lang="en-US" sz="2400" dirty="0" smtClean="0"/>
              <a:t>The </a:t>
            </a:r>
            <a:r>
              <a:rPr lang="en-US" sz="2400" i="1" dirty="0" smtClean="0">
                <a:solidFill>
                  <a:srgbClr val="C00000"/>
                </a:solidFill>
              </a:rPr>
              <a:t>ambient transaction</a:t>
            </a:r>
            <a:r>
              <a:rPr lang="en-US" sz="2400" dirty="0" smtClean="0"/>
              <a:t> is the transaction that is present in the thread that the current application code is executing within.</a:t>
            </a:r>
          </a:p>
          <a:p>
            <a:r>
              <a:rPr lang="en-US" sz="2400" dirty="0" smtClean="0"/>
              <a:t>A </a:t>
            </a:r>
            <a:r>
              <a:rPr lang="en-US" sz="2400" i="1" dirty="0" err="1" smtClean="0">
                <a:solidFill>
                  <a:srgbClr val="C00000"/>
                </a:solidFill>
              </a:rPr>
              <a:t>TransactionScope</a:t>
            </a:r>
            <a:r>
              <a:rPr lang="en-US" sz="2400" dirty="0" smtClean="0"/>
              <a:t> object has three options:</a:t>
            </a:r>
          </a:p>
          <a:p>
            <a:pPr lvl="1"/>
            <a:r>
              <a:rPr lang="en-US" sz="2000" dirty="0" smtClean="0"/>
              <a:t>Join the ambient transaction.</a:t>
            </a:r>
          </a:p>
          <a:p>
            <a:pPr lvl="1"/>
            <a:r>
              <a:rPr lang="en-US" sz="2000" dirty="0" smtClean="0"/>
              <a:t>Be a new scope root, that is, start a new transaction and have that transaction be the new ambient transaction inside its own scope.</a:t>
            </a:r>
          </a:p>
          <a:p>
            <a:pPr lvl="1"/>
            <a:r>
              <a:rPr lang="en-US" sz="2000" dirty="0" smtClean="0"/>
              <a:t>Do not take part in a transaction at all.</a:t>
            </a:r>
          </a:p>
          <a:p>
            <a:endParaRPr lang="en-US" sz="2400" dirty="0"/>
          </a:p>
        </p:txBody>
      </p:sp>
      <p:sp>
        <p:nvSpPr>
          <p:cNvPr id="5" name="Rectangle 4"/>
          <p:cNvSpPr/>
          <p:nvPr/>
        </p:nvSpPr>
        <p:spPr>
          <a:xfrm>
            <a:off x="457200" y="5029200"/>
            <a:ext cx="8382000" cy="1477328"/>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using (</a:t>
            </a:r>
            <a:r>
              <a:rPr lang="en-US" dirty="0" err="1" smtClean="0">
                <a:solidFill>
                  <a:srgbClr val="C00000"/>
                </a:solidFill>
                <a:latin typeface="Consolas" pitchFamily="49" charset="0"/>
                <a:cs typeface="Consolas" pitchFamily="49" charset="0"/>
              </a:rPr>
              <a:t>TransactionScope</a:t>
            </a:r>
            <a:r>
              <a:rPr lang="en-US" dirty="0" smtClean="0">
                <a:solidFill>
                  <a:srgbClr val="C00000"/>
                </a:solidFill>
                <a:latin typeface="Consolas" pitchFamily="49" charset="0"/>
                <a:cs typeface="Consolas" pitchFamily="49" charset="0"/>
              </a:rPr>
              <a:t> scope = new </a:t>
            </a:r>
          </a:p>
          <a:p>
            <a:r>
              <a:rPr lang="en-US" dirty="0" err="1" smtClean="0">
                <a:solidFill>
                  <a:srgbClr val="C00000"/>
                </a:solidFill>
                <a:latin typeface="Consolas" pitchFamily="49" charset="0"/>
                <a:cs typeface="Consolas" pitchFamily="49" charset="0"/>
              </a:rPr>
              <a:t>TransactionScope</a:t>
            </a:r>
            <a:r>
              <a:rPr lang="en-US" dirty="0" smtClean="0">
                <a:solidFill>
                  <a:srgbClr val="C00000"/>
                </a:solidFill>
                <a:latin typeface="Consolas" pitchFamily="49" charset="0"/>
                <a:cs typeface="Consolas" pitchFamily="49" charset="0"/>
              </a:rPr>
              <a:t>(</a:t>
            </a:r>
            <a:r>
              <a:rPr lang="en-US" dirty="0" err="1" smtClean="0">
                <a:solidFill>
                  <a:srgbClr val="C00000"/>
                </a:solidFill>
                <a:latin typeface="Consolas" pitchFamily="49" charset="0"/>
                <a:cs typeface="Consolas" pitchFamily="49" charset="0"/>
              </a:rPr>
              <a:t>TransactionScopeOption.Required</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r>
              <a:rPr lang="en-US" dirty="0" err="1" smtClean="0">
                <a:solidFill>
                  <a:srgbClr val="C00000"/>
                </a:solidFill>
                <a:latin typeface="Consolas" pitchFamily="49" charset="0"/>
                <a:cs typeface="Consolas" pitchFamily="49" charset="0"/>
              </a:rPr>
              <a:t>TransactionScopeOption.RequiresNew</a:t>
            </a:r>
            <a:endParaRPr lang="en-US" dirty="0" smtClean="0">
              <a:solidFill>
                <a:srgbClr val="C00000"/>
              </a:solidFill>
              <a:latin typeface="Consolas" pitchFamily="49" charset="0"/>
              <a:cs typeface="Consolas" pitchFamily="49" charset="0"/>
            </a:endParaRPr>
          </a:p>
          <a:p>
            <a:r>
              <a:rPr lang="en-US" dirty="0" smtClean="0">
                <a:solidFill>
                  <a:srgbClr val="C00000"/>
                </a:solidFill>
                <a:latin typeface="Consolas" pitchFamily="49" charset="0"/>
                <a:cs typeface="Consolas" pitchFamily="49" charset="0"/>
              </a:rPr>
              <a:t>		  //</a:t>
            </a:r>
            <a:r>
              <a:rPr lang="en-US" dirty="0" err="1" smtClean="0">
                <a:solidFill>
                  <a:srgbClr val="C00000"/>
                </a:solidFill>
                <a:latin typeface="Consolas" pitchFamily="49" charset="0"/>
                <a:cs typeface="Consolas" pitchFamily="49" charset="0"/>
              </a:rPr>
              <a:t>TransactionScopeOption.Suppress</a:t>
            </a:r>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Flow Across Scopes</a:t>
            </a:r>
            <a:endParaRPr lang="en-US" dirty="0"/>
          </a:p>
        </p:txBody>
      </p:sp>
      <p:pic>
        <p:nvPicPr>
          <p:cNvPr id="76802" name="Picture 2" descr="http://i.msdn.microsoft.com/dynimg/IC6543.gif"/>
          <p:cNvPicPr>
            <a:picLocks noChangeAspect="1" noChangeArrowheads="1"/>
          </p:cNvPicPr>
          <p:nvPr/>
        </p:nvPicPr>
        <p:blipFill>
          <a:blip r:embed="rId2" cstate="print"/>
          <a:srcRect/>
          <a:stretch>
            <a:fillRect/>
          </a:stretch>
        </p:blipFill>
        <p:spPr bwMode="auto">
          <a:xfrm>
            <a:off x="4143375" y="2590800"/>
            <a:ext cx="4924425" cy="2828925"/>
          </a:xfrm>
          <a:prstGeom prst="rect">
            <a:avLst/>
          </a:prstGeom>
          <a:noFill/>
        </p:spPr>
      </p:pic>
      <p:sp>
        <p:nvSpPr>
          <p:cNvPr id="5" name="Rectangle 4"/>
          <p:cNvSpPr/>
          <p:nvPr/>
        </p:nvSpPr>
        <p:spPr>
          <a:xfrm>
            <a:off x="76200" y="1707952"/>
            <a:ext cx="3962400" cy="4616648"/>
          </a:xfrm>
          <a:prstGeom prst="rect">
            <a:avLst/>
          </a:prstGeom>
          <a:solidFill>
            <a:schemeClr val="bg2"/>
          </a:solidFill>
          <a:ln>
            <a:solidFill>
              <a:schemeClr val="tx1">
                <a:lumMod val="50000"/>
                <a:lumOff val="50000"/>
              </a:schemeClr>
            </a:solidFill>
          </a:ln>
        </p:spPr>
        <p:txBody>
          <a:bodyPr wrap="square">
            <a:spAutoFit/>
          </a:bodyPr>
          <a:lstStyle/>
          <a:p>
            <a:r>
              <a:rPr lang="en-US" sz="1400" dirty="0" smtClean="0">
                <a:solidFill>
                  <a:srgbClr val="C00000"/>
                </a:solidFill>
                <a:latin typeface="Consolas" pitchFamily="49" charset="0"/>
                <a:cs typeface="Consolas" pitchFamily="49" charset="0"/>
              </a:rPr>
              <a:t>using(</a:t>
            </a:r>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 scope1 = new </a:t>
            </a:r>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//Default is Required</a:t>
            </a:r>
          </a:p>
          <a:p>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using(</a:t>
            </a:r>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 scope2 = new </a:t>
            </a:r>
          </a:p>
          <a:p>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TransactionScopeOption.Required</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using(</a:t>
            </a:r>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 scope3 = new </a:t>
            </a:r>
          </a:p>
          <a:p>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TransactionScopeOption.RequiresNew</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using(</a:t>
            </a:r>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 scope4 = new </a:t>
            </a:r>
          </a:p>
          <a:p>
            <a:r>
              <a:rPr lang="en-US" sz="1400" dirty="0" err="1" smtClean="0">
                <a:solidFill>
                  <a:srgbClr val="C00000"/>
                </a:solidFill>
                <a:latin typeface="Consolas" pitchFamily="49" charset="0"/>
                <a:cs typeface="Consolas" pitchFamily="49" charset="0"/>
              </a:rPr>
              <a:t>TransactionScope</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TransactionScopeOption.Suppress</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a:t>
            </a:r>
          </a:p>
          <a:p>
            <a:endParaRPr lang="en-US" sz="1400" dirty="0" smtClean="0">
              <a:solidFill>
                <a:srgbClr val="C00000"/>
              </a:solidFill>
              <a:latin typeface="Consolas" pitchFamily="49" charset="0"/>
              <a:cs typeface="Consolas" pitchFamily="49" charset="0"/>
            </a:endParaRPr>
          </a:p>
          <a:p>
            <a:r>
              <a:rPr lang="en-US" sz="1400" dirty="0" smtClean="0">
                <a:solidFill>
                  <a:srgbClr val="C00000"/>
                </a:solidFill>
                <a:latin typeface="Consolas" pitchFamily="49" charset="0"/>
                <a:cs typeface="Consolas" pitchFamily="49" charset="0"/>
              </a:rPr>
              <a:t>   ...</a:t>
            </a:r>
          </a:p>
          <a:p>
            <a:r>
              <a:rPr lang="en-US" sz="1400" dirty="0" smtClean="0">
                <a:solidFill>
                  <a:srgbClr val="C00000"/>
                </a:solidFill>
                <a:latin typeface="Consolas" pitchFamily="49" charset="0"/>
                <a:cs typeface="Consolas" pitchFamily="49" charset="0"/>
              </a:rPr>
              <a:t>}</a:t>
            </a:r>
            <a:endParaRPr lang="en-US" sz="1400" dirty="0">
              <a:solidFill>
                <a:srgbClr val="C00000"/>
              </a:solidFill>
              <a:latin typeface="Consolas" pitchFamily="49" charset="0"/>
              <a:cs typeface="Consolas"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Declarative Programming Model</a:t>
            </a:r>
            <a:endParaRPr lang="en-US" dirty="0"/>
          </a:p>
        </p:txBody>
      </p:sp>
      <p:sp>
        <p:nvSpPr>
          <p:cNvPr id="3" name="Content Placeholder 2"/>
          <p:cNvSpPr>
            <a:spLocks noGrp="1"/>
          </p:cNvSpPr>
          <p:nvPr>
            <p:ph idx="1"/>
          </p:nvPr>
        </p:nvSpPr>
        <p:spPr>
          <a:xfrm>
            <a:off x="457200" y="4876800"/>
            <a:ext cx="8382000" cy="1828800"/>
          </a:xfrm>
        </p:spPr>
        <p:txBody>
          <a:bodyPr/>
          <a:lstStyle/>
          <a:p>
            <a:r>
              <a:rPr lang="en-US" sz="2200" dirty="0" smtClean="0"/>
              <a:t>All the object has to do is inform .NET whether it should </a:t>
            </a:r>
            <a:r>
              <a:rPr lang="en-US" sz="2200" i="1" dirty="0" smtClean="0">
                <a:solidFill>
                  <a:srgbClr val="C00000"/>
                </a:solidFill>
              </a:rPr>
              <a:t>commit or abort</a:t>
            </a:r>
            <a:r>
              <a:rPr lang="en-US" sz="2200" dirty="0" smtClean="0"/>
              <a:t> the transaction.</a:t>
            </a:r>
          </a:p>
          <a:p>
            <a:r>
              <a:rPr lang="en-US" sz="2200" dirty="0" smtClean="0"/>
              <a:t>In a method with the AutoComplete attribute, if no exception is thrown then the application will </a:t>
            </a:r>
            <a:r>
              <a:rPr lang="en-US" sz="2200" i="1" dirty="0" smtClean="0">
                <a:solidFill>
                  <a:srgbClr val="C00000"/>
                </a:solidFill>
              </a:rPr>
              <a:t>implicitly</a:t>
            </a:r>
            <a:r>
              <a:rPr lang="en-US" sz="2200" dirty="0" smtClean="0"/>
              <a:t> request a commit of the transaction.</a:t>
            </a:r>
            <a:endParaRPr lang="en-US" sz="2200" dirty="0"/>
          </a:p>
        </p:txBody>
      </p:sp>
      <p:sp>
        <p:nvSpPr>
          <p:cNvPr id="4" name="Rectangle 3"/>
          <p:cNvSpPr/>
          <p:nvPr/>
        </p:nvSpPr>
        <p:spPr>
          <a:xfrm>
            <a:off x="457200" y="1371600"/>
            <a:ext cx="8382000" cy="3416320"/>
          </a:xfrm>
          <a:prstGeom prst="rect">
            <a:avLst/>
          </a:prstGeom>
          <a:solidFill>
            <a:schemeClr val="bg2"/>
          </a:solidFill>
          <a:ln>
            <a:solidFill>
              <a:schemeClr val="tx1">
                <a:lumMod val="50000"/>
                <a:lumOff val="50000"/>
              </a:schemeClr>
            </a:solidFill>
          </a:ln>
        </p:spPr>
        <p:txBody>
          <a:bodyPr wrap="square">
            <a:spAutoFit/>
          </a:bodyPr>
          <a:lstStyle/>
          <a:p>
            <a:r>
              <a:rPr lang="en-US" dirty="0" smtClean="0">
                <a:solidFill>
                  <a:srgbClr val="C00000"/>
                </a:solidFill>
                <a:latin typeface="Consolas" pitchFamily="49" charset="0"/>
                <a:cs typeface="Consolas" pitchFamily="49" charset="0"/>
              </a:rPr>
              <a:t>using </a:t>
            </a:r>
            <a:r>
              <a:rPr lang="en-US" dirty="0" err="1" smtClean="0">
                <a:solidFill>
                  <a:srgbClr val="C00000"/>
                </a:solidFill>
                <a:latin typeface="Consolas" pitchFamily="49" charset="0"/>
                <a:cs typeface="Consolas" pitchFamily="49" charset="0"/>
              </a:rPr>
              <a:t>System.EnterpriseServices</a:t>
            </a:r>
            <a:r>
              <a:rPr lang="en-US" dirty="0" smtClean="0">
                <a:solidFill>
                  <a:srgbClr val="C00000"/>
                </a:solidFill>
                <a:latin typeface="Consolas" pitchFamily="49" charset="0"/>
                <a:cs typeface="Consolas" pitchFamily="49" charset="0"/>
              </a:rPr>
              <a:t>;</a:t>
            </a:r>
          </a:p>
          <a:p>
            <a:endParaRPr lang="en-US" dirty="0" smtClean="0">
              <a:solidFill>
                <a:srgbClr val="C00000"/>
              </a:solidFill>
              <a:latin typeface="Consolas" pitchFamily="49" charset="0"/>
              <a:cs typeface="Consolas" pitchFamily="49" charset="0"/>
            </a:endParaRPr>
          </a:p>
          <a:p>
            <a:r>
              <a:rPr lang="en-US" b="1" dirty="0" smtClean="0">
                <a:solidFill>
                  <a:srgbClr val="C00000"/>
                </a:solidFill>
                <a:latin typeface="Consolas" pitchFamily="49" charset="0"/>
                <a:cs typeface="Consolas" pitchFamily="49" charset="0"/>
              </a:rPr>
              <a:t>[Transaction]</a:t>
            </a:r>
          </a:p>
          <a:p>
            <a:r>
              <a:rPr lang="en-US" dirty="0" smtClean="0">
                <a:solidFill>
                  <a:srgbClr val="C00000"/>
                </a:solidFill>
                <a:latin typeface="Consolas" pitchFamily="49" charset="0"/>
                <a:cs typeface="Consolas" pitchFamily="49" charset="0"/>
              </a:rPr>
              <a:t>public class </a:t>
            </a:r>
            <a:r>
              <a:rPr lang="en-US" dirty="0" err="1" smtClean="0">
                <a:solidFill>
                  <a:srgbClr val="C00000"/>
                </a:solidFill>
                <a:latin typeface="Consolas" pitchFamily="49" charset="0"/>
                <a:cs typeface="Consolas" pitchFamily="49" charset="0"/>
              </a:rPr>
              <a:t>MyComponent</a:t>
            </a:r>
            <a:r>
              <a:rPr lang="en-US" dirty="0" smtClean="0">
                <a:solidFill>
                  <a:srgbClr val="C00000"/>
                </a:solidFill>
                <a:latin typeface="Consolas" pitchFamily="49" charset="0"/>
                <a:cs typeface="Consolas" pitchFamily="49" charset="0"/>
              </a:rPr>
              <a:t> : </a:t>
            </a:r>
            <a:r>
              <a:rPr lang="en-US" dirty="0" err="1" smtClean="0">
                <a:solidFill>
                  <a:srgbClr val="C00000"/>
                </a:solidFill>
                <a:latin typeface="Consolas" pitchFamily="49" charset="0"/>
                <a:cs typeface="Consolas" pitchFamily="49" charset="0"/>
              </a:rPr>
              <a:t>ServicedComponent</a:t>
            </a:r>
            <a:endParaRPr lang="en-US" dirty="0" smtClean="0">
              <a:solidFill>
                <a:srgbClr val="C00000"/>
              </a:solidFill>
              <a:latin typeface="Consolas" pitchFamily="49" charset="0"/>
              <a:cs typeface="Consolas" pitchFamily="49" charset="0"/>
            </a:endParaRPr>
          </a:p>
          <a:p>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r>
              <a:rPr lang="en-US" b="1" dirty="0" smtClean="0">
                <a:solidFill>
                  <a:srgbClr val="C00000"/>
                </a:solidFill>
                <a:latin typeface="Consolas" pitchFamily="49" charset="0"/>
                <a:cs typeface="Consolas" pitchFamily="49" charset="0"/>
              </a:rPr>
              <a:t>[AutoComplete]</a:t>
            </a:r>
          </a:p>
          <a:p>
            <a:r>
              <a:rPr lang="en-US" dirty="0" smtClean="0">
                <a:solidFill>
                  <a:srgbClr val="C00000"/>
                </a:solidFill>
                <a:latin typeface="Consolas" pitchFamily="49" charset="0"/>
                <a:cs typeface="Consolas" pitchFamily="49" charset="0"/>
              </a:rPr>
              <a:t>   public void </a:t>
            </a:r>
            <a:r>
              <a:rPr lang="en-US" dirty="0" err="1" smtClean="0">
                <a:solidFill>
                  <a:srgbClr val="C00000"/>
                </a:solidFill>
                <a:latin typeface="Consolas" pitchFamily="49" charset="0"/>
                <a:cs typeface="Consolas" pitchFamily="49" charset="0"/>
              </a:rPr>
              <a:t>MyMethod</a:t>
            </a:r>
            <a:r>
              <a:rPr lang="en-US" dirty="0" smtClean="0">
                <a:solidFill>
                  <a:srgbClr val="C00000"/>
                </a:solidFill>
                <a:latin typeface="Consolas" pitchFamily="49" charset="0"/>
                <a:cs typeface="Consolas" pitchFamily="49" charset="0"/>
              </a:rPr>
              <a:t>()</a:t>
            </a:r>
          </a:p>
          <a:p>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      /*Interact with other serviced components</a:t>
            </a:r>
          </a:p>
          <a:p>
            <a:r>
              <a:rPr lang="en-US" dirty="0" smtClean="0">
                <a:solidFill>
                  <a:srgbClr val="C00000"/>
                </a:solidFill>
                <a:latin typeface="Consolas" pitchFamily="49" charset="0"/>
                <a:cs typeface="Consolas" pitchFamily="49" charset="0"/>
              </a:rPr>
              <a:t>      and resource managers */</a:t>
            </a:r>
          </a:p>
          <a:p>
            <a:r>
              <a:rPr lang="en-US" dirty="0" smtClean="0">
                <a:solidFill>
                  <a:srgbClr val="C00000"/>
                </a:solidFill>
                <a:latin typeface="Consolas" pitchFamily="49" charset="0"/>
                <a:cs typeface="Consolas" pitchFamily="49" charset="0"/>
              </a:rPr>
              <a:t>   }</a:t>
            </a:r>
          </a:p>
          <a:p>
            <a:r>
              <a:rPr lang="en-US" dirty="0" smtClean="0">
                <a:solidFill>
                  <a:srgbClr val="C00000"/>
                </a:solidFill>
                <a:latin typeface="Consolas" pitchFamily="49" charset="0"/>
                <a:cs typeface="Consolas" pitchFamily="49" charset="0"/>
              </a:rPr>
              <a:t>}</a:t>
            </a:r>
            <a:endParaRPr lang="en-US" dirty="0">
              <a:solidFill>
                <a:srgbClr val="C00000"/>
              </a:solidFill>
              <a:latin typeface="Consolas" pitchFamily="49" charset="0"/>
              <a:cs typeface="Consolas"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Transaction System Architecture</a:t>
            </a:r>
            <a:endParaRPr lang="en-US" dirty="0"/>
          </a:p>
        </p:txBody>
      </p:sp>
      <p:sp>
        <p:nvSpPr>
          <p:cNvPr id="3" name="Content Placeholder 2"/>
          <p:cNvSpPr>
            <a:spLocks noGrp="1"/>
          </p:cNvSpPr>
          <p:nvPr>
            <p:ph idx="1"/>
          </p:nvPr>
        </p:nvSpPr>
        <p:spPr>
          <a:xfrm>
            <a:off x="457200" y="1600200"/>
            <a:ext cx="8229600" cy="1981199"/>
          </a:xfrm>
        </p:spPr>
        <p:txBody>
          <a:bodyPr/>
          <a:lstStyle/>
          <a:p>
            <a:r>
              <a:rPr lang="en-US" sz="1400" dirty="0" smtClean="0">
                <a:hlinkClick r:id="rId2"/>
              </a:rPr>
              <a:t>http://www.codeproject.com/Articles/690136/All-About-TransactionScope</a:t>
            </a:r>
            <a:endParaRPr lang="en-US" sz="1400" dirty="0" smtClean="0"/>
          </a:p>
          <a:p>
            <a:r>
              <a:rPr lang="en-US" sz="1400" dirty="0" smtClean="0"/>
              <a:t>Transaction Manager: Maintains a log and uses that log if recovery is needed. There are two types of transaction managers. </a:t>
            </a:r>
          </a:p>
          <a:p>
            <a:r>
              <a:rPr lang="en-US" sz="1400" dirty="0" smtClean="0"/>
              <a:t>Local Transaction Manager: Coordinates transaction over a single resource only.</a:t>
            </a:r>
          </a:p>
          <a:p>
            <a:r>
              <a:rPr lang="en-US" sz="1400" dirty="0" smtClean="0"/>
              <a:t>Global Transaction Manager: Coordinates transaction over multiple resources.</a:t>
            </a:r>
          </a:p>
          <a:p>
            <a:r>
              <a:rPr lang="en-US" sz="1400" dirty="0" smtClean="0"/>
              <a:t>Transaction Coordinator: Starting the execution of transactions that originate at the site. Distributes sub-transactions at appropriate sites so that they can execute in those sites. Coordinates each transaction of each site. As a result the transaction is committed or rolled back to all sites. </a:t>
            </a:r>
            <a:endParaRPr lang="en-US" sz="1400" dirty="0"/>
          </a:p>
        </p:txBody>
      </p:sp>
      <p:pic>
        <p:nvPicPr>
          <p:cNvPr id="112642" name="Picture 2" descr="http://www.codeproject.com/KB/dotnet/690136/TransactionArchitecture.png"/>
          <p:cNvPicPr>
            <a:picLocks noChangeAspect="1" noChangeArrowheads="1"/>
          </p:cNvPicPr>
          <p:nvPr/>
        </p:nvPicPr>
        <p:blipFill>
          <a:blip r:embed="rId3" cstate="print"/>
          <a:srcRect/>
          <a:stretch>
            <a:fillRect/>
          </a:stretch>
        </p:blipFill>
        <p:spPr bwMode="auto">
          <a:xfrm>
            <a:off x="2438400" y="3752849"/>
            <a:ext cx="5095875" cy="272415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MSDTC Configuration</a:t>
            </a:r>
            <a:endParaRPr lang="en-US" dirty="0"/>
          </a:p>
        </p:txBody>
      </p:sp>
      <p:sp>
        <p:nvSpPr>
          <p:cNvPr id="3" name="Content Placeholder 2"/>
          <p:cNvSpPr>
            <a:spLocks noGrp="1"/>
          </p:cNvSpPr>
          <p:nvPr>
            <p:ph idx="1"/>
          </p:nvPr>
        </p:nvSpPr>
        <p:spPr/>
        <p:txBody>
          <a:bodyPr/>
          <a:lstStyle/>
          <a:p>
            <a:r>
              <a:rPr lang="en-US" sz="2000" b="1" dirty="0" err="1" smtClean="0"/>
              <a:t>ControlPanel</a:t>
            </a:r>
            <a:r>
              <a:rPr lang="en-US" sz="2000" b="1" dirty="0" smtClean="0"/>
              <a:t> &gt; </a:t>
            </a:r>
            <a:r>
              <a:rPr lang="en-US" sz="2000" b="1" dirty="0" err="1" smtClean="0"/>
              <a:t>AdministritiveTools</a:t>
            </a:r>
            <a:r>
              <a:rPr lang="en-US" sz="2000" b="1" dirty="0" smtClean="0"/>
              <a:t> &gt; </a:t>
            </a:r>
            <a:r>
              <a:rPr lang="en-US" sz="2000" b="1" dirty="0" err="1" smtClean="0"/>
              <a:t>ComponentServices</a:t>
            </a:r>
            <a:r>
              <a:rPr lang="en-US" sz="2000" b="1" dirty="0" smtClean="0"/>
              <a:t> &gt; </a:t>
            </a:r>
            <a:r>
              <a:rPr lang="en-US" sz="2000" b="1" dirty="0" err="1" smtClean="0"/>
              <a:t>DistributedTransactionCoordinator</a:t>
            </a:r>
            <a:r>
              <a:rPr lang="en-US" sz="2000" b="1" dirty="0" smtClean="0"/>
              <a:t>  &gt; </a:t>
            </a:r>
            <a:r>
              <a:rPr lang="en-US" sz="2000" b="1" dirty="0" err="1" smtClean="0"/>
              <a:t>LocalDTC</a:t>
            </a:r>
            <a:r>
              <a:rPr lang="en-US" sz="2000" b="1" dirty="0" smtClean="0"/>
              <a:t> &gt; Right click &gt; Properties &gt; Security</a:t>
            </a:r>
            <a:endParaRPr lang="en-US" sz="2000" b="1" dirty="0"/>
          </a:p>
        </p:txBody>
      </p:sp>
      <p:pic>
        <p:nvPicPr>
          <p:cNvPr id="117764" name="Picture 4"/>
          <p:cNvPicPr>
            <a:picLocks noChangeAspect="1" noChangeArrowheads="1"/>
          </p:cNvPicPr>
          <p:nvPr/>
        </p:nvPicPr>
        <p:blipFill>
          <a:blip r:embed="rId2" cstate="print"/>
          <a:srcRect/>
          <a:stretch>
            <a:fillRect/>
          </a:stretch>
        </p:blipFill>
        <p:spPr bwMode="auto">
          <a:xfrm>
            <a:off x="1897063" y="2625725"/>
            <a:ext cx="5349875" cy="400367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MSDTC Firewall</a:t>
            </a:r>
            <a:endParaRPr lang="en-US" dirty="0"/>
          </a:p>
        </p:txBody>
      </p:sp>
      <p:pic>
        <p:nvPicPr>
          <p:cNvPr id="118790" name="Picture 6"/>
          <p:cNvPicPr>
            <a:picLocks noChangeAspect="1" noChangeArrowheads="1"/>
          </p:cNvPicPr>
          <p:nvPr/>
        </p:nvPicPr>
        <p:blipFill>
          <a:blip r:embed="rId2" cstate="print"/>
          <a:srcRect/>
          <a:stretch>
            <a:fillRect/>
          </a:stretch>
        </p:blipFill>
        <p:spPr bwMode="auto">
          <a:xfrm>
            <a:off x="1144588" y="1292225"/>
            <a:ext cx="6854825" cy="4346575"/>
          </a:xfrm>
          <a:prstGeom prst="rect">
            <a:avLst/>
          </a:prstGeom>
          <a:noFill/>
          <a:ln w="9525">
            <a:noFill/>
            <a:miter lim="800000"/>
            <a:headEnd/>
            <a:tailEnd/>
          </a:ln>
        </p:spPr>
      </p:pic>
      <p:pic>
        <p:nvPicPr>
          <p:cNvPr id="118791" name="Picture 7"/>
          <p:cNvPicPr>
            <a:picLocks noChangeAspect="1" noChangeArrowheads="1"/>
          </p:cNvPicPr>
          <p:nvPr/>
        </p:nvPicPr>
        <p:blipFill>
          <a:blip r:embed="rId3" cstate="print"/>
          <a:srcRect/>
          <a:stretch>
            <a:fillRect/>
          </a:stretch>
        </p:blipFill>
        <p:spPr bwMode="auto">
          <a:xfrm>
            <a:off x="1117600" y="5334000"/>
            <a:ext cx="6908800" cy="13652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MSDTC Services</a:t>
            </a:r>
            <a:endParaRPr lang="en-US" dirty="0"/>
          </a:p>
        </p:txBody>
      </p:sp>
      <p:pic>
        <p:nvPicPr>
          <p:cNvPr id="119810" name="Picture 2"/>
          <p:cNvPicPr>
            <a:picLocks noChangeAspect="1" noChangeArrowheads="1"/>
          </p:cNvPicPr>
          <p:nvPr/>
        </p:nvPicPr>
        <p:blipFill>
          <a:blip r:embed="rId2" cstate="print"/>
          <a:srcRect/>
          <a:stretch>
            <a:fillRect/>
          </a:stretch>
        </p:blipFill>
        <p:spPr bwMode="auto">
          <a:xfrm>
            <a:off x="1341438" y="2062163"/>
            <a:ext cx="6461125" cy="27336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MSDTC And NetBIOS</a:t>
            </a:r>
            <a:endParaRPr lang="en-US" dirty="0"/>
          </a:p>
        </p:txBody>
      </p:sp>
      <p:sp>
        <p:nvSpPr>
          <p:cNvPr id="3" name="Content Placeholder 2"/>
          <p:cNvSpPr>
            <a:spLocks noGrp="1"/>
          </p:cNvSpPr>
          <p:nvPr>
            <p:ph idx="1"/>
          </p:nvPr>
        </p:nvSpPr>
        <p:spPr/>
        <p:txBody>
          <a:bodyPr/>
          <a:lstStyle/>
          <a:p>
            <a:r>
              <a:rPr lang="en-US" dirty="0" smtClean="0"/>
              <a:t>On computer 1: </a:t>
            </a:r>
            <a:r>
              <a:rPr lang="en-US" dirty="0" err="1" smtClean="0"/>
              <a:t>ipconfig</a:t>
            </a:r>
            <a:r>
              <a:rPr lang="en-US" dirty="0" smtClean="0"/>
              <a:t> /all &gt; Host Name 1</a:t>
            </a:r>
          </a:p>
          <a:p>
            <a:r>
              <a:rPr lang="en-US" dirty="0" smtClean="0"/>
              <a:t>On computer 2: ping  Host Name 1</a:t>
            </a:r>
          </a:p>
          <a:p>
            <a:endParaRPr lang="en-US" dirty="0" smtClean="0"/>
          </a:p>
          <a:p>
            <a:r>
              <a:rPr lang="en-US" dirty="0" smtClean="0"/>
              <a:t>On computer 2: </a:t>
            </a:r>
            <a:r>
              <a:rPr lang="en-US" dirty="0" err="1" smtClean="0"/>
              <a:t>ipconfig</a:t>
            </a:r>
            <a:r>
              <a:rPr lang="en-US" dirty="0" smtClean="0"/>
              <a:t> /all &gt; Host Name 2</a:t>
            </a:r>
          </a:p>
          <a:p>
            <a:r>
              <a:rPr lang="en-US" dirty="0" smtClean="0"/>
              <a:t>On </a:t>
            </a:r>
            <a:r>
              <a:rPr lang="en-US" smtClean="0"/>
              <a:t>computer 1: </a:t>
            </a:r>
            <a:r>
              <a:rPr lang="en-US" dirty="0" smtClean="0"/>
              <a:t>ping  </a:t>
            </a:r>
            <a:r>
              <a:rPr lang="en-US" smtClean="0"/>
              <a:t>Host Name 2</a:t>
            </a:r>
            <a:endParaRPr lang="en-US"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Isolation Level</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Recovery [7]</a:t>
            </a:r>
            <a:endParaRPr lang="en-US" dirty="0"/>
          </a:p>
        </p:txBody>
      </p:sp>
      <p:sp>
        <p:nvSpPr>
          <p:cNvPr id="3" name="Content Placeholder 2"/>
          <p:cNvSpPr>
            <a:spLocks noGrp="1"/>
          </p:cNvSpPr>
          <p:nvPr>
            <p:ph idx="1"/>
          </p:nvPr>
        </p:nvSpPr>
        <p:spPr/>
        <p:txBody>
          <a:bodyPr/>
          <a:lstStyle/>
          <a:p>
            <a:r>
              <a:rPr lang="en-US" sz="2200" dirty="0" smtClean="0"/>
              <a:t>Transactions guarantee </a:t>
            </a:r>
            <a:r>
              <a:rPr lang="en-US" sz="2200" i="1" dirty="0" smtClean="0">
                <a:solidFill>
                  <a:srgbClr val="C00000"/>
                </a:solidFill>
              </a:rPr>
              <a:t>all-or-nothing</a:t>
            </a:r>
            <a:r>
              <a:rPr lang="en-US" sz="2200" dirty="0" smtClean="0"/>
              <a:t> </a:t>
            </a:r>
            <a:r>
              <a:rPr lang="en-US" sz="2200" i="1" dirty="0" smtClean="0">
                <a:solidFill>
                  <a:srgbClr val="C00000"/>
                </a:solidFill>
              </a:rPr>
              <a:t>atomicity</a:t>
            </a:r>
            <a:r>
              <a:rPr lang="en-US" sz="2200" dirty="0" smtClean="0"/>
              <a:t> in the sense that a failure in the middle of an ongoing transaction does not leave any traces and </a:t>
            </a:r>
            <a:r>
              <a:rPr lang="en-US" sz="2200" i="1" dirty="0" smtClean="0">
                <a:solidFill>
                  <a:srgbClr val="C00000"/>
                </a:solidFill>
              </a:rPr>
              <a:t>persistence</a:t>
            </a:r>
            <a:r>
              <a:rPr lang="en-US" sz="2200" dirty="0" smtClean="0"/>
              <a:t> in the sense that the effects of a committed (i.e., successfully completed) transaction will survive future failures.</a:t>
            </a:r>
          </a:p>
          <a:p>
            <a:r>
              <a:rPr lang="en-US" sz="2200" dirty="0" smtClean="0"/>
              <a:t>Atomicity and persistence are usually implemented by </a:t>
            </a:r>
            <a:r>
              <a:rPr lang="en-US" sz="2200" i="1" dirty="0" smtClean="0">
                <a:solidFill>
                  <a:srgbClr val="C00000"/>
                </a:solidFill>
              </a:rPr>
              <a:t>logging data modifications</a:t>
            </a:r>
            <a:r>
              <a:rPr lang="en-US" sz="2200" dirty="0" smtClean="0"/>
              <a:t> on stable storage, typically, one or more dedicated disks.</a:t>
            </a:r>
          </a:p>
          <a:p>
            <a:r>
              <a:rPr lang="en-US" sz="2200" dirty="0" smtClean="0"/>
              <a:t>During </a:t>
            </a:r>
            <a:r>
              <a:rPr lang="en-US" sz="2200" i="1" dirty="0" smtClean="0">
                <a:solidFill>
                  <a:srgbClr val="C00000"/>
                </a:solidFill>
              </a:rPr>
              <a:t>recovery after a failure</a:t>
            </a:r>
            <a:r>
              <a:rPr lang="en-US" sz="2200" dirty="0" smtClean="0"/>
              <a:t> log entries are sequentially read from the stable log file.</a:t>
            </a:r>
          </a:p>
          <a:p>
            <a:r>
              <a:rPr lang="en-US" sz="2200" dirty="0" smtClean="0"/>
              <a:t>In a </a:t>
            </a:r>
            <a:r>
              <a:rPr lang="en-US" sz="2200" i="1" dirty="0" smtClean="0">
                <a:solidFill>
                  <a:srgbClr val="C00000"/>
                </a:solidFill>
              </a:rPr>
              <a:t>redo pass</a:t>
            </a:r>
            <a:r>
              <a:rPr lang="en-US" sz="2200" dirty="0" smtClean="0"/>
              <a:t>, all updates that are not reflected in database pages on the disk are redone by replaying log operations.</a:t>
            </a:r>
          </a:p>
          <a:p>
            <a:r>
              <a:rPr lang="en-US" sz="2200" dirty="0" smtClean="0"/>
              <a:t>Then an </a:t>
            </a:r>
            <a:r>
              <a:rPr lang="en-US" sz="2200" i="1" dirty="0" smtClean="0">
                <a:solidFill>
                  <a:srgbClr val="C00000"/>
                </a:solidFill>
              </a:rPr>
              <a:t>undo pass</a:t>
            </a:r>
            <a:r>
              <a:rPr lang="en-US" sz="2200" dirty="0" smtClean="0"/>
              <a:t> considers all log entries that belong to incomplete transactions and removes their effects.</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Recovery</a:t>
            </a:r>
            <a:endParaRPr lang="en-US" dirty="0"/>
          </a:p>
        </p:txBody>
      </p:sp>
      <p:pic>
        <p:nvPicPr>
          <p:cNvPr id="65541" name="Picture 5"/>
          <p:cNvPicPr>
            <a:picLocks noChangeAspect="1" noChangeArrowheads="1"/>
          </p:cNvPicPr>
          <p:nvPr/>
        </p:nvPicPr>
        <p:blipFill>
          <a:blip r:embed="rId2" cstate="print"/>
          <a:srcRect/>
          <a:stretch>
            <a:fillRect/>
          </a:stretch>
        </p:blipFill>
        <p:spPr bwMode="auto">
          <a:xfrm>
            <a:off x="1271588" y="1371600"/>
            <a:ext cx="6600825" cy="3829050"/>
          </a:xfrm>
          <a:prstGeom prst="rect">
            <a:avLst/>
          </a:prstGeom>
          <a:noFill/>
          <a:ln w="9525">
            <a:noFill/>
            <a:miter lim="800000"/>
            <a:headEnd/>
            <a:tailEnd/>
          </a:ln>
        </p:spPr>
      </p:pic>
      <p:sp>
        <p:nvSpPr>
          <p:cNvPr id="8" name="Rectangle 7"/>
          <p:cNvSpPr/>
          <p:nvPr/>
        </p:nvSpPr>
        <p:spPr>
          <a:xfrm>
            <a:off x="381000" y="5259050"/>
            <a:ext cx="8305800" cy="1446550"/>
          </a:xfrm>
          <a:prstGeom prst="rect">
            <a:avLst/>
          </a:prstGeom>
        </p:spPr>
        <p:txBody>
          <a:bodyPr wrap="square">
            <a:spAutoFit/>
          </a:bodyPr>
          <a:lstStyle/>
          <a:p>
            <a:pPr algn="ctr"/>
            <a:r>
              <a:rPr lang="en-US" sz="2200" i="1" dirty="0" smtClean="0">
                <a:solidFill>
                  <a:srgbClr val="C00000"/>
                </a:solidFill>
                <a:latin typeface="+mj-lt"/>
              </a:rPr>
              <a:t>Queued transactions</a:t>
            </a:r>
            <a:r>
              <a:rPr lang="en-US" sz="2200" dirty="0" smtClean="0">
                <a:latin typeface="+mj-lt"/>
              </a:rPr>
              <a:t>, invented for OLTP (online transaction processing) and supported by most TP monitors (e.g., IBM MQ Series, BEA Tuxedo, Microsoft MTS) and associated web application servers (e.g., IBM </a:t>
            </a:r>
            <a:r>
              <a:rPr lang="en-US" sz="2200" dirty="0" err="1" smtClean="0">
                <a:latin typeface="+mj-lt"/>
              </a:rPr>
              <a:t>WebSphere</a:t>
            </a:r>
            <a:r>
              <a:rPr lang="en-US" sz="2200" dirty="0" smtClean="0">
                <a:latin typeface="+mj-lt"/>
              </a:rPr>
              <a:t>, BEA </a:t>
            </a:r>
            <a:r>
              <a:rPr lang="en-US" sz="2200" dirty="0" err="1" smtClean="0">
                <a:latin typeface="+mj-lt"/>
              </a:rPr>
              <a:t>WebLogic</a:t>
            </a:r>
            <a:r>
              <a:rPr lang="en-US" sz="2200" dirty="0" smtClean="0">
                <a:latin typeface="+mj-lt"/>
              </a:rPr>
              <a:t>, Microsoft IIS).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a:t>
            </a:r>
            <a:r>
              <a:rPr lang="en-US" smtClean="0"/>
              <a:t>You &amp;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9518</TotalTime>
  <Words>1682</Words>
  <Application>Microsoft Office PowerPoint</Application>
  <PresentationFormat>On-screen Show (4:3)</PresentationFormat>
  <Paragraphs>270</Paragraphs>
  <Slides>38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Office Theme</vt:lpstr>
      <vt:lpstr>Document</vt:lpstr>
      <vt:lpstr>Error Handling</vt:lpstr>
      <vt:lpstr>Objectives</vt:lpstr>
      <vt:lpstr>Contents</vt:lpstr>
      <vt:lpstr>References</vt:lpstr>
      <vt:lpstr>Error Sources [1]</vt:lpstr>
      <vt:lpstr>Error-Handling</vt:lpstr>
      <vt:lpstr>Barricades</vt:lpstr>
      <vt:lpstr>Assertions</vt:lpstr>
      <vt:lpstr>Exceptions</vt:lpstr>
      <vt:lpstr>C++ Exception Handling Model</vt:lpstr>
      <vt:lpstr>Exception Types [2]</vt:lpstr>
      <vt:lpstr>Where to Catch Exception?</vt:lpstr>
      <vt:lpstr>When to use Exceptions?</vt:lpstr>
      <vt:lpstr>Log and Throw Anti-Pattern [2]</vt:lpstr>
      <vt:lpstr>Catching Exception Anti-Pattern</vt:lpstr>
      <vt:lpstr>Null or Exceptions?</vt:lpstr>
      <vt:lpstr>Principle Of Least Astonishment [4]</vt:lpstr>
      <vt:lpstr>Don't Use Exceptions For Flow Control [3]</vt:lpstr>
      <vt:lpstr>Exceptions Benefits [1]</vt:lpstr>
      <vt:lpstr>Exceptions Pros and Cons</vt:lpstr>
      <vt:lpstr>The If-Then-Throw Pattern [8]</vt:lpstr>
      <vt:lpstr>Code Contracts</vt:lpstr>
      <vt:lpstr>Why Logging [5]</vt:lpstr>
      <vt:lpstr>Slide 24</vt:lpstr>
      <vt:lpstr>Error Handling with Transaction [6]</vt:lpstr>
      <vt:lpstr>Transaction Boundary</vt:lpstr>
      <vt:lpstr>Transaction Scope Options</vt:lpstr>
      <vt:lpstr>Transaction Flow Across Scopes</vt:lpstr>
      <vt:lpstr>Declarative Programming Model</vt:lpstr>
      <vt:lpstr>Distributed Transaction System Architecture</vt:lpstr>
      <vt:lpstr>MSDTC Configuration</vt:lpstr>
      <vt:lpstr>MSDTC Firewall</vt:lpstr>
      <vt:lpstr>MSDTC Services</vt:lpstr>
      <vt:lpstr>MSDTC And NetBIOS</vt:lpstr>
      <vt:lpstr>Transaction Isolation Level</vt:lpstr>
      <vt:lpstr>Data Recovery [7]</vt:lpstr>
      <vt:lpstr>Application Recovery</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3445</cp:revision>
  <dcterms:created xsi:type="dcterms:W3CDTF">2007-10-06T08:25:13Z</dcterms:created>
  <dcterms:modified xsi:type="dcterms:W3CDTF">2020-03-24T11:39:00Z</dcterms:modified>
</cp:coreProperties>
</file>