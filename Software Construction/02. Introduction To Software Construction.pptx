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handoutMasterIdLst>
    <p:handoutMasterId r:id="rId24"/>
  </p:handoutMasterIdLst>
  <p:sldIdLst>
    <p:sldId id="256" r:id="rId2"/>
    <p:sldId id="431" r:id="rId3"/>
    <p:sldId id="460" r:id="rId4"/>
    <p:sldId id="423" r:id="rId5"/>
    <p:sldId id="353" r:id="rId6"/>
    <p:sldId id="406" r:id="rId7"/>
    <p:sldId id="454" r:id="rId8"/>
    <p:sldId id="432" r:id="rId9"/>
    <p:sldId id="459" r:id="rId10"/>
    <p:sldId id="433" r:id="rId11"/>
    <p:sldId id="434" r:id="rId12"/>
    <p:sldId id="435" r:id="rId13"/>
    <p:sldId id="436" r:id="rId14"/>
    <p:sldId id="461" r:id="rId15"/>
    <p:sldId id="450" r:id="rId16"/>
    <p:sldId id="451" r:id="rId17"/>
    <p:sldId id="452" r:id="rId18"/>
    <p:sldId id="453" r:id="rId19"/>
    <p:sldId id="462" r:id="rId20"/>
    <p:sldId id="463" r:id="rId21"/>
    <p:sldId id="455" r:id="rId22"/>
    <p:sldId id="343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1029" autoAdjust="0"/>
    <p:restoredTop sz="94667" autoAdjust="0"/>
  </p:normalViewPr>
  <p:slideViewPr>
    <p:cSldViewPr>
      <p:cViewPr>
        <p:scale>
          <a:sx n="60" d="100"/>
          <a:sy n="60" d="100"/>
        </p:scale>
        <p:origin x="-1186" y="-1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2/27/2023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2/27/2023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2/27/2023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2/27/2023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2/27/2023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2/27/2023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2/27/2023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smtClean="0"/>
              <a:t>Introduction </a:t>
            </a:r>
            <a:r>
              <a:rPr lang="en-US" sz="6000" smtClean="0"/>
              <a:t>to </a:t>
            </a:r>
            <a:r>
              <a:rPr lang="en-US" sz="6000" dirty="0" smtClean="0"/>
              <a:t>Software Construction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34289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present </a:t>
            </a:r>
            <a:r>
              <a:rPr lang="en-US" sz="2400" i="1" dirty="0" smtClean="0">
                <a:solidFill>
                  <a:srgbClr val="C00000"/>
                </a:solidFill>
              </a:rPr>
              <a:t>what</a:t>
            </a:r>
            <a:r>
              <a:rPr lang="en-US" sz="2400" dirty="0" smtClean="0"/>
              <a:t> is software construction.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present </a:t>
            </a:r>
            <a:r>
              <a:rPr lang="en-US" sz="2400" i="1" dirty="0" smtClean="0">
                <a:solidFill>
                  <a:srgbClr val="C00000"/>
                </a:solidFill>
              </a:rPr>
              <a:t>why</a:t>
            </a:r>
            <a:r>
              <a:rPr lang="en-US" sz="2400" dirty="0" smtClean="0"/>
              <a:t> software construction is important.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prepare software construction </a:t>
            </a:r>
            <a:r>
              <a:rPr lang="en-US" sz="2400" i="1" dirty="0" smtClean="0">
                <a:solidFill>
                  <a:srgbClr val="C00000"/>
                </a:solidFill>
              </a:rPr>
              <a:t>prerequisites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Software Construction.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Programming Languages.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Technology Stacks.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Metaphors.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it-IT" sz="2400" dirty="0" smtClean="0"/>
              <a:t>Steve McConnell (2004). Code Complete. Microsoft Press.</a:t>
            </a: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Construction [1]</a:t>
            </a:r>
          </a:p>
        </p:txBody>
      </p:sp>
      <p:sp>
        <p:nvSpPr>
          <p:cNvPr id="9218" name="AutoShape 2" descr="mk:@MSITStore:D:\Teaching\Software%20Construction\Books\Code%20Complete,%202nd%20Edition.chm::/0735619670/images/0735619670/graphics/01fig01_alt.gif"/>
          <p:cNvSpPr>
            <a:spLocks noChangeAspect="1" noChangeArrowheads="1"/>
          </p:cNvSpPr>
          <p:nvPr/>
        </p:nvSpPr>
        <p:spPr bwMode="auto">
          <a:xfrm>
            <a:off x="63500" y="-136525"/>
            <a:ext cx="10191750" cy="9972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24063" y="1409700"/>
            <a:ext cx="5095875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Software Construction?</a:t>
            </a:r>
            <a:endParaRPr lang="en-US" dirty="0"/>
          </a:p>
        </p:txBody>
      </p:sp>
      <p:sp>
        <p:nvSpPr>
          <p:cNvPr id="25602" name="AutoShape 2" descr="mk:@MSITStore:D:\Teaching\Software%20Construction\Books\Code%20Complete,%202nd%20Edition.chm::/0735619670/images/0735619670/graphics/01fig02_alt.gif"/>
          <p:cNvSpPr>
            <a:spLocks noChangeAspect="1" noChangeArrowheads="1"/>
          </p:cNvSpPr>
          <p:nvPr/>
        </p:nvSpPr>
        <p:spPr bwMode="auto">
          <a:xfrm>
            <a:off x="63500" y="-136525"/>
            <a:ext cx="9629775" cy="7848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2057400"/>
            <a:ext cx="4819650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8-Point Star 12"/>
          <p:cNvSpPr/>
          <p:nvPr/>
        </p:nvSpPr>
        <p:spPr>
          <a:xfrm>
            <a:off x="6477000" y="4038600"/>
            <a:ext cx="2590800" cy="2743200"/>
          </a:xfrm>
          <a:prstGeom prst="star8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smtClean="0"/>
              <a:t>Construction is the only activity that's guaranteed to be done</a:t>
            </a:r>
            <a:endParaRPr lang="en-US" sz="2000" dirty="0"/>
          </a:p>
        </p:txBody>
      </p:sp>
      <p:sp>
        <p:nvSpPr>
          <p:cNvPr id="14" name="8-Point Star 13"/>
          <p:cNvSpPr/>
          <p:nvPr/>
        </p:nvSpPr>
        <p:spPr>
          <a:xfrm>
            <a:off x="152400" y="1143000"/>
            <a:ext cx="2362200" cy="1752600"/>
          </a:xfrm>
          <a:prstGeom prst="star8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smtClean="0"/>
              <a:t>Construction is a large part of software development</a:t>
            </a:r>
            <a:endParaRPr lang="en-US" sz="2000" dirty="0"/>
          </a:p>
        </p:txBody>
      </p:sp>
      <p:sp>
        <p:nvSpPr>
          <p:cNvPr id="15" name="8-Point Star 14"/>
          <p:cNvSpPr/>
          <p:nvPr/>
        </p:nvSpPr>
        <p:spPr>
          <a:xfrm>
            <a:off x="6477000" y="1143000"/>
            <a:ext cx="2590800" cy="2438400"/>
          </a:xfrm>
          <a:prstGeom prst="star8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smtClean="0"/>
              <a:t>Construction is the central activity in software development</a:t>
            </a:r>
            <a:endParaRPr lang="en-US" sz="2000" dirty="0"/>
          </a:p>
        </p:txBody>
      </p:sp>
      <p:sp>
        <p:nvSpPr>
          <p:cNvPr id="16" name="8-Point Star 15"/>
          <p:cNvSpPr/>
          <p:nvPr/>
        </p:nvSpPr>
        <p:spPr>
          <a:xfrm>
            <a:off x="76200" y="3352800"/>
            <a:ext cx="2438400" cy="3276600"/>
          </a:xfrm>
          <a:prstGeom prst="star8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smtClean="0"/>
              <a:t>Construction's product, the source code, is often the only </a:t>
            </a:r>
            <a:r>
              <a:rPr lang="en-US" sz="2000" u="sng" dirty="0" smtClean="0"/>
              <a:t>accurate description</a:t>
            </a:r>
            <a:r>
              <a:rPr lang="en-US" sz="2000" dirty="0" smtClean="0"/>
              <a:t> of the software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Construction Tasks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100" b="1" dirty="0" smtClean="0">
                <a:solidFill>
                  <a:srgbClr val="C00000"/>
                </a:solidFill>
              </a:rPr>
              <a:t>Verifying that the groundwork has been laid so that construction can proceed successfully</a:t>
            </a:r>
          </a:p>
          <a:p>
            <a:r>
              <a:rPr lang="en-US" sz="2100" dirty="0" smtClean="0"/>
              <a:t>Determining how your code will be tested</a:t>
            </a:r>
          </a:p>
          <a:p>
            <a:r>
              <a:rPr lang="en-US" sz="2100" dirty="0" smtClean="0"/>
              <a:t>Designing and writing classes and routines</a:t>
            </a:r>
          </a:p>
          <a:p>
            <a:r>
              <a:rPr lang="en-US" sz="2100" dirty="0" smtClean="0"/>
              <a:t>Creating and naming variables and named constants</a:t>
            </a:r>
          </a:p>
          <a:p>
            <a:r>
              <a:rPr lang="en-US" sz="2100" dirty="0" smtClean="0"/>
              <a:t>Selecting control structures and organizing blocks of statements</a:t>
            </a:r>
          </a:p>
          <a:p>
            <a:r>
              <a:rPr lang="en-US" sz="2100" dirty="0" smtClean="0"/>
              <a:t>Unit testing, integration testing, and debugging your own code</a:t>
            </a:r>
          </a:p>
          <a:p>
            <a:r>
              <a:rPr lang="en-US" sz="2100" dirty="0" smtClean="0"/>
              <a:t>Reviewing other team members' low-level designs and code and having them review yours</a:t>
            </a:r>
          </a:p>
          <a:p>
            <a:r>
              <a:rPr lang="en-US" sz="2100" dirty="0" smtClean="0"/>
              <a:t>Polishing code by carefully formatting and commenting it</a:t>
            </a:r>
          </a:p>
          <a:p>
            <a:r>
              <a:rPr lang="en-US" sz="2100" dirty="0" smtClean="0"/>
              <a:t>Integrating software components that were created separately</a:t>
            </a:r>
          </a:p>
          <a:p>
            <a:r>
              <a:rPr lang="en-US" sz="2100" dirty="0" smtClean="0"/>
              <a:t>Tuning code to make it faster and use fewer resources</a:t>
            </a:r>
            <a:endParaRPr lang="en-US" sz="2100" dirty="0"/>
          </a:p>
        </p:txBody>
      </p:sp>
      <p:pic>
        <p:nvPicPr>
          <p:cNvPr id="1026" name="Picture 2" descr="https://www.bluecollarpeople.com/content/uploads/2016/01/young-worker-man-400x26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0400" y="2133600"/>
            <a:ext cx="1828800" cy="12207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Software Construction </a:t>
            </a:r>
            <a:r>
              <a:rPr lang="en-US" sz="4000" i="1" dirty="0" smtClean="0">
                <a:solidFill>
                  <a:srgbClr val="C00000"/>
                </a:solidFill>
              </a:rPr>
              <a:t>Prerequisites</a:t>
            </a:r>
            <a:endParaRPr lang="en-US" sz="4000" dirty="0"/>
          </a:p>
        </p:txBody>
      </p:sp>
      <p:pic>
        <p:nvPicPr>
          <p:cNvPr id="3074" name="Picture 2" descr="http://saphanatutorial.com/wp-content/uploads/2013/12/SAP-HANA-Prequisit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2438400"/>
            <a:ext cx="2381250" cy="24955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Programming Languages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4988" y="1447800"/>
            <a:ext cx="5534025" cy="353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 descr="https://rjohnthebad.files.wordpress.com/2015/10/question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48500" y="4648200"/>
            <a:ext cx="1714500" cy="171450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1066800" y="5181600"/>
            <a:ext cx="6019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 smtClean="0">
                <a:latin typeface="+mj-lt"/>
              </a:rPr>
              <a:t>Why </a:t>
            </a:r>
            <a:r>
              <a:rPr lang="en-US" sz="2800" i="1" dirty="0" smtClean="0">
                <a:solidFill>
                  <a:srgbClr val="C00000"/>
                </a:solidFill>
                <a:latin typeface="+mj-lt"/>
              </a:rPr>
              <a:t>SO many</a:t>
            </a:r>
            <a:r>
              <a:rPr lang="en-US" sz="2800" dirty="0" smtClean="0">
                <a:latin typeface="+mj-lt"/>
              </a:rPr>
              <a:t> programming languages?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Development Platform</a:t>
            </a:r>
            <a:endParaRPr lang="en-US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295400"/>
            <a:ext cx="2571750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0" y="1371600"/>
            <a:ext cx="273367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4343400"/>
            <a:ext cx="3048000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2708" name="Picture 4" descr="http://images.gizmag.com/hero/ios6overview-11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24400" y="4343400"/>
            <a:ext cx="3600450" cy="2024404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048000" y="2743200"/>
            <a:ext cx="1933575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72000" cy="4525963"/>
          </a:xfrm>
        </p:spPr>
        <p:txBody>
          <a:bodyPr/>
          <a:lstStyle/>
          <a:p>
            <a:r>
              <a:rPr lang="en-US" sz="2800" dirty="0" smtClean="0"/>
              <a:t>Core C# / C# Collection / LINQ,</a:t>
            </a:r>
          </a:p>
          <a:p>
            <a:r>
              <a:rPr lang="en-US" sz="2800" dirty="0" smtClean="0"/>
              <a:t>Automation Tests with Visual Studio Unit Test,</a:t>
            </a:r>
          </a:p>
          <a:p>
            <a:r>
              <a:rPr lang="en-US" sz="2800" dirty="0" smtClean="0"/>
              <a:t>ADO.NET / ORM / Entity Framework,</a:t>
            </a:r>
          </a:p>
          <a:p>
            <a:r>
              <a:rPr lang="en-US" sz="2800" dirty="0" smtClean="0"/>
              <a:t>HTML5 / CSS3 / </a:t>
            </a:r>
            <a:r>
              <a:rPr lang="en-US" sz="2800" dirty="0" err="1" smtClean="0"/>
              <a:t>Javascript</a:t>
            </a:r>
            <a:r>
              <a:rPr lang="en-US" sz="2800" dirty="0" smtClean="0"/>
              <a:t> / </a:t>
            </a:r>
            <a:r>
              <a:rPr lang="en-US" sz="2800" dirty="0" err="1" smtClean="0"/>
              <a:t>JQuery</a:t>
            </a:r>
            <a:r>
              <a:rPr lang="en-US" sz="2800" dirty="0" smtClean="0"/>
              <a:t>,</a:t>
            </a:r>
          </a:p>
          <a:p>
            <a:r>
              <a:rPr lang="en-US" sz="2800" dirty="0" smtClean="0"/>
              <a:t>ASP.NET / ASP.NET MVC</a:t>
            </a:r>
          </a:p>
        </p:txBody>
      </p:sp>
      <p:pic>
        <p:nvPicPr>
          <p:cNvPr id="3074" name="Picture 2" descr="https://pablojuancruz.files.wordpress.com/2013/07/versc3b5es-framework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1371600"/>
            <a:ext cx="3299460" cy="45643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667000"/>
          </a:xfrm>
        </p:spPr>
        <p:txBody>
          <a:bodyPr/>
          <a:lstStyle/>
          <a:p>
            <a:r>
              <a:rPr lang="en-US" sz="2800" dirty="0" smtClean="0"/>
              <a:t>Core Java / Java Collection Framework,</a:t>
            </a:r>
          </a:p>
          <a:p>
            <a:r>
              <a:rPr lang="en-US" sz="2800" dirty="0" smtClean="0"/>
              <a:t>Automation Tests with </a:t>
            </a:r>
            <a:r>
              <a:rPr lang="en-US" sz="2800" dirty="0" err="1" smtClean="0"/>
              <a:t>JUnit</a:t>
            </a:r>
            <a:r>
              <a:rPr lang="en-US" sz="2800" dirty="0" smtClean="0"/>
              <a:t>,</a:t>
            </a:r>
          </a:p>
          <a:p>
            <a:r>
              <a:rPr lang="en-US" sz="2800" dirty="0" smtClean="0"/>
              <a:t>JDBC / ORM / Hibernate 3.0,</a:t>
            </a:r>
          </a:p>
          <a:p>
            <a:r>
              <a:rPr lang="en-US" sz="2800" dirty="0" smtClean="0"/>
              <a:t>HTML5 / CSS3 / </a:t>
            </a:r>
            <a:r>
              <a:rPr lang="en-US" sz="2800" dirty="0" err="1" smtClean="0"/>
              <a:t>Javascript</a:t>
            </a:r>
            <a:r>
              <a:rPr lang="en-US" sz="2800" dirty="0" smtClean="0"/>
              <a:t> / </a:t>
            </a:r>
            <a:r>
              <a:rPr lang="en-US" sz="2800" dirty="0" err="1" smtClean="0"/>
              <a:t>JQuery</a:t>
            </a:r>
            <a:r>
              <a:rPr lang="en-US" sz="2800" dirty="0" smtClean="0"/>
              <a:t>,</a:t>
            </a:r>
          </a:p>
          <a:p>
            <a:r>
              <a:rPr lang="en-US" sz="2800" dirty="0" smtClean="0"/>
              <a:t>JSP </a:t>
            </a:r>
            <a:r>
              <a:rPr lang="en-US" sz="2800" dirty="0" err="1" smtClean="0"/>
              <a:t>Servlet</a:t>
            </a:r>
            <a:r>
              <a:rPr lang="en-US" sz="2800" dirty="0" smtClean="0"/>
              <a:t> / Spring / Spring MVC</a:t>
            </a:r>
          </a:p>
        </p:txBody>
      </p:sp>
      <p:pic>
        <p:nvPicPr>
          <p:cNvPr id="2050" name="Picture 2" descr="https://javadeveloperzone.com/wp-content/uploads/2017/03/Java-9-Features-1024x48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4343400"/>
            <a:ext cx="3901440" cy="18592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C++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Standard Template Library (STL),</a:t>
            </a:r>
          </a:p>
          <a:p>
            <a:r>
              <a:rPr lang="en-US" sz="2400" dirty="0" smtClean="0"/>
              <a:t>File Processing, C++ Desktop Programming,</a:t>
            </a:r>
          </a:p>
          <a:p>
            <a:r>
              <a:rPr lang="en-US" sz="2400" dirty="0" smtClean="0"/>
              <a:t>Windows API, User Controls, Hook, Shared </a:t>
            </a:r>
            <a:r>
              <a:rPr lang="en-US" sz="2400" dirty="0" err="1" smtClean="0"/>
              <a:t>Mem</a:t>
            </a:r>
            <a:r>
              <a:rPr lang="en-US" sz="2400" dirty="0" smtClean="0"/>
              <a:t>,</a:t>
            </a:r>
          </a:p>
          <a:p>
            <a:r>
              <a:rPr lang="en-US" sz="2400" dirty="0" smtClean="0"/>
              <a:t>MPI, Error Handling / Debug </a:t>
            </a:r>
            <a:r>
              <a:rPr lang="en-US" sz="2400" dirty="0" err="1" smtClean="0"/>
              <a:t>Tracert</a:t>
            </a:r>
            <a:r>
              <a:rPr lang="en-US" sz="2400" dirty="0" smtClean="0"/>
              <a:t> Tracking,</a:t>
            </a:r>
          </a:p>
          <a:p>
            <a:r>
              <a:rPr lang="en-US" sz="2400" dirty="0" smtClean="0"/>
              <a:t>Automation Test with </a:t>
            </a:r>
            <a:r>
              <a:rPr lang="en-US" sz="2400" dirty="0" err="1" smtClean="0"/>
              <a:t>CPPUnit</a:t>
            </a:r>
            <a:endParaRPr lang="en-US" sz="2400" dirty="0" smtClean="0"/>
          </a:p>
        </p:txBody>
      </p:sp>
      <p:pic>
        <p:nvPicPr>
          <p:cNvPr id="1026" name="Picture 2" descr="https://www.edx.org/sites/default/files/course/image/promoted/dev210x-course_card_image-378x22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4191000"/>
            <a:ext cx="3600450" cy="2143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Technology Stacks</a:t>
            </a:r>
            <a:endParaRPr lang="en-US" dirty="0"/>
          </a:p>
        </p:txBody>
      </p:sp>
      <p:pic>
        <p:nvPicPr>
          <p:cNvPr id="1026" name="Picture 2" descr="https://codecondo.com/wp-content/uploads/2017/09/MEAN-vs-LAM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600200"/>
            <a:ext cx="4486275" cy="2234565"/>
          </a:xfrm>
          <a:prstGeom prst="rect">
            <a:avLst/>
          </a:prstGeom>
          <a:noFill/>
        </p:spPr>
      </p:pic>
      <p:pic>
        <p:nvPicPr>
          <p:cNvPr id="1028" name="Picture 4" descr="https://media-exp1.licdn.com/dms/image/C4E12AQG_G4cVE_j-Uw/article-cover_image-shrink_600_2000/0?e=1605139200&amp;v=beta&amp;t=Ct4IA9ligSTGAM1jeLHHTZzWCgginM1ww4ghc2wx6CU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1600200"/>
            <a:ext cx="3143250" cy="2223135"/>
          </a:xfrm>
          <a:prstGeom prst="rect">
            <a:avLst/>
          </a:prstGeom>
          <a:noFill/>
        </p:spPr>
      </p:pic>
      <p:pic>
        <p:nvPicPr>
          <p:cNvPr id="1030" name="Picture 6" descr="https://cdn.filestackcontent.com/Fyt43eEpRUehYxfjwa7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0" y="4267200"/>
            <a:ext cx="4829175" cy="1905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Software Penmanship: Writing Code</a:t>
            </a:r>
            <a:endParaRPr lang="en-US" sz="4000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4900" y="3238500"/>
            <a:ext cx="6934200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533400" y="1524000"/>
            <a:ext cx="8001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 smtClean="0">
                <a:latin typeface="+mj-lt"/>
              </a:rPr>
              <a:t>The letter-writing metaphor suggests that the software process relies on </a:t>
            </a:r>
            <a:r>
              <a:rPr lang="en-US" sz="2800" i="1" dirty="0" smtClean="0">
                <a:solidFill>
                  <a:srgbClr val="C00000"/>
                </a:solidFill>
                <a:latin typeface="+mj-lt"/>
              </a:rPr>
              <a:t>expensive trial and error</a:t>
            </a:r>
            <a:r>
              <a:rPr lang="en-US" sz="2800" dirty="0" smtClean="0">
                <a:latin typeface="+mj-lt"/>
              </a:rPr>
              <a:t> rather than </a:t>
            </a:r>
            <a:r>
              <a:rPr lang="en-US" sz="2800" u="sng" dirty="0" smtClean="0">
                <a:latin typeface="+mj-lt"/>
              </a:rPr>
              <a:t>careful</a:t>
            </a:r>
            <a:r>
              <a:rPr lang="en-US" sz="2800" dirty="0" smtClean="0">
                <a:latin typeface="+mj-lt"/>
              </a:rPr>
              <a:t> planning and design.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Software Farming: Growing a System</a:t>
            </a:r>
            <a:endParaRPr lang="en-US" sz="4000" dirty="0"/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4442460"/>
            <a:ext cx="6393180" cy="1882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91400" y="1905000"/>
            <a:ext cx="1339596" cy="1152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33400" y="1654076"/>
            <a:ext cx="6705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You design a piece, code a piece, test a piece, and add it to the system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a little bit at a time</a:t>
            </a:r>
            <a:r>
              <a:rPr lang="en-US" sz="2400" dirty="0" smtClean="0">
                <a:latin typeface="+mj-lt"/>
              </a:rPr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The incremental technique is valuable, but the farming metaphor is terrible.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You don't have any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direct control </a:t>
            </a:r>
            <a:r>
              <a:rPr lang="en-US" sz="2400" dirty="0" smtClean="0">
                <a:latin typeface="+mj-lt"/>
              </a:rPr>
              <a:t>over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(the weather) </a:t>
            </a:r>
            <a:r>
              <a:rPr lang="en-US" sz="2400" dirty="0" smtClean="0">
                <a:latin typeface="+mj-lt"/>
              </a:rPr>
              <a:t>how the software develops.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Software Oyster Farming: System Accretion</a:t>
            </a:r>
            <a:endParaRPr lang="en-US" sz="3600" dirty="0"/>
          </a:p>
        </p:txBody>
      </p:sp>
      <p:sp>
        <p:nvSpPr>
          <p:cNvPr id="4" name="Rectangle 3"/>
          <p:cNvSpPr/>
          <p:nvPr/>
        </p:nvSpPr>
        <p:spPr>
          <a:xfrm>
            <a:off x="533400" y="1447800"/>
            <a:ext cx="8153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Other words closely related to accretion are "incremental," "iterative," "adaptive," and "evolutionary."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You first make the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simplest possible version</a:t>
            </a:r>
            <a:r>
              <a:rPr lang="en-US" sz="2400" dirty="0" smtClean="0">
                <a:latin typeface="+mj-lt"/>
              </a:rPr>
              <a:t> of the system that will run.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After you've formed the skeleton,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little by little</a:t>
            </a:r>
            <a:r>
              <a:rPr lang="en-US" sz="2400" dirty="0" smtClean="0">
                <a:latin typeface="+mj-lt"/>
              </a:rPr>
              <a:t> you lay on the muscle and skin.</a:t>
            </a:r>
          </a:p>
        </p:txBody>
      </p:sp>
      <p:pic>
        <p:nvPicPr>
          <p:cNvPr id="5122" name="Picture 2" descr="https://mettahu.files.wordpress.com/2014/03/pear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4038600"/>
            <a:ext cx="3623310" cy="23774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Software Construction: Building Software</a:t>
            </a:r>
            <a:endParaRPr lang="en-US" sz="3600" dirty="0"/>
          </a:p>
        </p:txBody>
      </p:sp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476321"/>
            <a:ext cx="3810000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0" y="2743200"/>
            <a:ext cx="22860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609600" y="5048071"/>
            <a:ext cx="4343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Careful planning</a:t>
            </a:r>
            <a:r>
              <a:rPr lang="en-US" sz="2400" dirty="0" smtClean="0">
                <a:latin typeface="+mj-lt"/>
              </a:rPr>
              <a:t> doesn't necessarily mean </a:t>
            </a:r>
            <a:r>
              <a:rPr lang="en-US" sz="2400" u="sng" dirty="0" smtClean="0">
                <a:latin typeface="+mj-lt"/>
              </a:rPr>
              <a:t>exhaustive planning</a:t>
            </a:r>
            <a:r>
              <a:rPr lang="en-US" sz="2400" dirty="0" smtClean="0">
                <a:latin typeface="+mj-lt"/>
              </a:rPr>
              <a:t> or </a:t>
            </a:r>
            <a:r>
              <a:rPr lang="en-US" sz="2400" u="sng" dirty="0" smtClean="0">
                <a:latin typeface="+mj-lt"/>
              </a:rPr>
              <a:t>over-planning</a:t>
            </a:r>
            <a:r>
              <a:rPr lang="en-US" sz="2400" dirty="0" smtClean="0">
                <a:latin typeface="+mj-lt"/>
              </a:rPr>
              <a:t>.</a:t>
            </a:r>
            <a:endParaRPr lang="en-US" sz="2400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1524000"/>
            <a:ext cx="7924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It's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compatible with the idea of software accretion</a:t>
            </a:r>
            <a:r>
              <a:rPr lang="en-US" sz="2400" dirty="0" smtClean="0">
                <a:latin typeface="+mj-lt"/>
              </a:rPr>
              <a:t> and provides more detailed guidance.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266825"/>
            <a:ext cx="4048125" cy="292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Solution (aka The Architecture)</a:t>
            </a:r>
            <a:endParaRPr lang="en-US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4114800"/>
            <a:ext cx="8039100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38800" y="1343025"/>
            <a:ext cx="2419350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4800600"/>
            <a:ext cx="952500" cy="159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Actual Solution (aka The Detailed Design)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33800" y="1600200"/>
            <a:ext cx="4600575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1600200"/>
            <a:ext cx="2647950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05400" y="4724400"/>
            <a:ext cx="2219325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24000" y="4876800"/>
            <a:ext cx="1668463" cy="161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Combining Metaphors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525963"/>
          </a:xfrm>
        </p:spPr>
        <p:txBody>
          <a:bodyPr/>
          <a:lstStyle/>
          <a:p>
            <a:r>
              <a:rPr lang="en-US" sz="2600" dirty="0" smtClean="0"/>
              <a:t>You can use </a:t>
            </a:r>
            <a:r>
              <a:rPr lang="en-US" sz="2600" i="1" dirty="0" smtClean="0">
                <a:solidFill>
                  <a:srgbClr val="C00000"/>
                </a:solidFill>
              </a:rPr>
              <a:t>both</a:t>
            </a:r>
            <a:r>
              <a:rPr lang="en-US" sz="2600" dirty="0" smtClean="0"/>
              <a:t> the accretion and the construction metaphors.</a:t>
            </a:r>
          </a:p>
          <a:p>
            <a:r>
              <a:rPr lang="en-US" sz="2600" dirty="0" smtClean="0"/>
              <a:t>You can use </a:t>
            </a:r>
            <a:r>
              <a:rPr lang="en-US" sz="2600" i="1" dirty="0" smtClean="0">
                <a:solidFill>
                  <a:srgbClr val="C00000"/>
                </a:solidFill>
              </a:rPr>
              <a:t>writing</a:t>
            </a:r>
            <a:r>
              <a:rPr lang="en-US" sz="2600" dirty="0" smtClean="0"/>
              <a:t> if you want to, and you can combine writing with driving, hunting for werewolves, or drowning in a tar pit with dinosaurs.</a:t>
            </a:r>
          </a:p>
          <a:p>
            <a:r>
              <a:rPr lang="en-US" sz="2600" dirty="0" smtClean="0"/>
              <a:t>Use whatever metaphor or combination of metaphors </a:t>
            </a:r>
            <a:r>
              <a:rPr lang="en-US" sz="2600" i="1" dirty="0" smtClean="0">
                <a:solidFill>
                  <a:srgbClr val="C00000"/>
                </a:solidFill>
              </a:rPr>
              <a:t>stimulates your own thinking</a:t>
            </a:r>
            <a:r>
              <a:rPr lang="en-US" sz="2600" dirty="0" smtClean="0"/>
              <a:t> or </a:t>
            </a:r>
            <a:r>
              <a:rPr lang="en-US" sz="2600" i="1" dirty="0" smtClean="0">
                <a:solidFill>
                  <a:srgbClr val="C00000"/>
                </a:solidFill>
              </a:rPr>
              <a:t>communicates well with others</a:t>
            </a:r>
            <a:r>
              <a:rPr lang="en-US" sz="2600" dirty="0" smtClean="0"/>
              <a:t> on your team.</a:t>
            </a:r>
            <a:endParaRPr lang="en-US" sz="2600" dirty="0"/>
          </a:p>
        </p:txBody>
      </p:sp>
      <p:pic>
        <p:nvPicPr>
          <p:cNvPr id="43010" name="Picture 2" descr="https://lh6.ggpht.com/vNoCKeY1OGy5_uJ2wqTj8UCjIfko7hHWkr2WVD45py9uh3_a3QCZtf9rIoeIGNJ1pf0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20574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7191</TotalTime>
  <Words>606</Words>
  <Application>Microsoft Office PowerPoint</Application>
  <PresentationFormat>On-screen Show (4:3)</PresentationFormat>
  <Paragraphs>78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Introduction to Software Construction</vt:lpstr>
      <vt:lpstr>Objectives</vt:lpstr>
      <vt:lpstr>Contents</vt:lpstr>
      <vt:lpstr>References</vt:lpstr>
      <vt:lpstr>Software Construction [1]</vt:lpstr>
      <vt:lpstr>Why Software Construction?</vt:lpstr>
      <vt:lpstr>Software Construction Tasks</vt:lpstr>
      <vt:lpstr>Software Construction Prerequisites</vt:lpstr>
      <vt:lpstr>Programming Languages</vt:lpstr>
      <vt:lpstr>Development Platform</vt:lpstr>
      <vt:lpstr>.NET</vt:lpstr>
      <vt:lpstr>Java</vt:lpstr>
      <vt:lpstr>C++</vt:lpstr>
      <vt:lpstr>Technology Stacks</vt:lpstr>
      <vt:lpstr>Software Penmanship: Writing Code</vt:lpstr>
      <vt:lpstr>Software Farming: Growing a System</vt:lpstr>
      <vt:lpstr>Software Oyster Farming: System Accretion</vt:lpstr>
      <vt:lpstr>Software Construction: Building Software</vt:lpstr>
      <vt:lpstr>The Solution (aka The Architecture)</vt:lpstr>
      <vt:lpstr>The Actual Solution (aka The Detailed Design)</vt:lpstr>
      <vt:lpstr>Combining Metaphors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2934</cp:revision>
  <dcterms:created xsi:type="dcterms:W3CDTF">2007-10-06T08:25:13Z</dcterms:created>
  <dcterms:modified xsi:type="dcterms:W3CDTF">2023-02-26T18:33:17Z</dcterms:modified>
</cp:coreProperties>
</file>