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8"/>
  </p:notesMasterIdLst>
  <p:handoutMasterIdLst>
    <p:handoutMasterId r:id="rId49"/>
  </p:handoutMasterIdLst>
  <p:sldIdLst>
    <p:sldId id="607" r:id="rId2"/>
    <p:sldId id="608" r:id="rId3"/>
    <p:sldId id="609" r:id="rId4"/>
    <p:sldId id="610" r:id="rId5"/>
    <p:sldId id="573" r:id="rId6"/>
    <p:sldId id="601" r:id="rId7"/>
    <p:sldId id="602" r:id="rId8"/>
    <p:sldId id="616" r:id="rId9"/>
    <p:sldId id="574" r:id="rId10"/>
    <p:sldId id="575" r:id="rId11"/>
    <p:sldId id="592" r:id="rId12"/>
    <p:sldId id="593" r:id="rId13"/>
    <p:sldId id="617" r:id="rId14"/>
    <p:sldId id="591" r:id="rId15"/>
    <p:sldId id="576" r:id="rId16"/>
    <p:sldId id="577" r:id="rId17"/>
    <p:sldId id="596" r:id="rId18"/>
    <p:sldId id="597" r:id="rId19"/>
    <p:sldId id="614" r:id="rId20"/>
    <p:sldId id="599" r:id="rId21"/>
    <p:sldId id="605" r:id="rId22"/>
    <p:sldId id="606" r:id="rId23"/>
    <p:sldId id="612" r:id="rId24"/>
    <p:sldId id="613" r:id="rId25"/>
    <p:sldId id="619" r:id="rId26"/>
    <p:sldId id="618" r:id="rId27"/>
    <p:sldId id="615" r:id="rId28"/>
    <p:sldId id="594" r:id="rId29"/>
    <p:sldId id="600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477" r:id="rId38"/>
    <p:sldId id="461" r:id="rId39"/>
    <p:sldId id="462" r:id="rId40"/>
    <p:sldId id="463" r:id="rId41"/>
    <p:sldId id="478" r:id="rId42"/>
    <p:sldId id="464" r:id="rId43"/>
    <p:sldId id="465" r:id="rId44"/>
    <p:sldId id="466" r:id="rId45"/>
    <p:sldId id="467" r:id="rId46"/>
    <p:sldId id="343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12" autoAdjust="0"/>
    <p:restoredTop sz="94667" autoAdjust="0"/>
  </p:normalViewPr>
  <p:slideViewPr>
    <p:cSldViewPr>
      <p:cViewPr>
        <p:scale>
          <a:sx n="50" d="100"/>
          <a:sy n="50" d="100"/>
        </p:scale>
        <p:origin x="-148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0497B-5798-422F-BCA5-837460096250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E158B-9637-4A1B-846B-D85FF16BCD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2CE49-B9AB-495E-8E07-8FC879715A9E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E564D-6C27-4A19-B074-9515D63417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E564D-6C27-4A19-B074-9515D63417F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21B9AD-E267-41B8-AFB9-F339B3C6A571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2FAA6B-5534-44A2-AEB6-C3AA6AD137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3B7B48-E476-4875-A0CA-B0673732DFDD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A623A-42AC-4D11-AF54-DB15196F08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F0A2C2-9A3C-44C4-9D1F-47B44EB3EF12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38AB1B-E996-4ECC-822F-4BC1227516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352965-9852-4C5D-9CFD-AA7D7C51A3F1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D760F-B2EC-4EEB-B282-45333B1157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ABA97A-E8D3-4153-8AD9-0AC754381ACA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6E96F6-D03D-4FB0-942F-6504F81FF6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1E0C7-1AF5-43CF-B84A-415948674BE8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B45132-88B8-4DDF-85A7-99B030F49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F2F585-6AB3-4A98-8C00-3FB0F428366B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DEE648-0B22-4684-A888-DEB1CE6260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55A04C-D082-4B30-8565-236556BDD91C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6D829-2DC4-4B7D-B12C-FDD216EF07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3085A-46E4-429D-86C3-B3CDAC36DAFB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7732C7-0A09-4095-98E8-F693C2579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0270D8-9F80-4CBC-9EEB-40BF8E1F9541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6B142B-9F3F-466D-9D5E-77E7230DF7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44C27D-6266-4BC5-9F9E-701F440BBF98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74873-7D28-4297-9E3C-7A8D1F19C8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 smtClean="0"/>
              <a:pPr>
                <a:defRPr/>
              </a:pPr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gios.com/" TargetMode="External"/><Relationship Id="rId2" Type="http://schemas.openxmlformats.org/officeDocument/2006/relationships/hyperlink" Target="https://www.weblogexpert.com/lite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www.dynatrace.com/technologies/net-monitor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pagetest.org/" TargetMode="External"/><Relationship Id="rId7" Type="http://schemas.openxmlformats.org/officeDocument/2006/relationships/hyperlink" Target="https://gtmetrix.com/" TargetMode="External"/><Relationship Id="rId2" Type="http://schemas.openxmlformats.org/officeDocument/2006/relationships/hyperlink" Target="https://developers.google.com/speed/pagespeed/insigh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hynopadlock.com/" TargetMode="External"/><Relationship Id="rId5" Type="http://schemas.openxmlformats.org/officeDocument/2006/relationships/hyperlink" Target="https://tools.pingdom.com/" TargetMode="External"/><Relationship Id="rId4" Type="http://schemas.openxmlformats.org/officeDocument/2006/relationships/hyperlink" Target="http://minify.mobi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eblogs.asp.net/scottgu/new-bundling-and-minification-support-asp-net-4-5-seri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d-gate.com/products/dotnet-development/ants-performance-profiler/walkthrough" TargetMode="External"/><Relationship Id="rId2" Type="http://schemas.openxmlformats.org/officeDocument/2006/relationships/hyperlink" Target="http://www.red-gate.com/products/dotnet-development/ants-performance-profil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jetbrains.com/help/profiler/2017.1/Get_Started_with_Performance_Viewer.html" TargetMode="External"/><Relationship Id="rId4" Type="http://schemas.openxmlformats.org/officeDocument/2006/relationships/hyperlink" Target="https://www.jetbrains.com/profiler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ailto:email1@domain.co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mmarskog.se/dynamic_sql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1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package" Target="../embeddings/Microsoft_Office_Word_Document4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Program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improve system </a:t>
            </a:r>
            <a:r>
              <a:rPr lang="en-US" sz="2400" i="1" dirty="0" smtClean="0">
                <a:solidFill>
                  <a:srgbClr val="C00000"/>
                </a:solidFill>
              </a:rPr>
              <a:t>performance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apply </a:t>
            </a:r>
            <a:r>
              <a:rPr lang="en-US" sz="2400" i="1" dirty="0" smtClean="0">
                <a:solidFill>
                  <a:srgbClr val="C00000"/>
                </a:solidFill>
              </a:rPr>
              <a:t>table driven methods</a:t>
            </a:r>
            <a:r>
              <a:rPr lang="en-US" sz="2400" dirty="0" smtClean="0"/>
              <a:t> to write more understandable code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it-IT" sz="2400" dirty="0" smtClean="0"/>
              <a:t>Steve McConnell (2004). Code Complete. Microsoft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Matt </a:t>
            </a:r>
            <a:r>
              <a:rPr lang="en-US" sz="2400" dirty="0" err="1" smtClean="0"/>
              <a:t>Perdeck</a:t>
            </a:r>
            <a:r>
              <a:rPr lang="en-US" sz="2400" dirty="0" smtClean="0"/>
              <a:t> (2010). ASP.NET Site Performance Secrets.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Issue</a:t>
            </a:r>
            <a:endParaRPr lang="en-US" dirty="0"/>
          </a:p>
        </p:txBody>
      </p:sp>
      <p:pic>
        <p:nvPicPr>
          <p:cNvPr id="84994" name="Picture 2" descr="http://4.bp.blogspot.com/_xvIMpAYhy6c/TT06NYEJoBI/AAAAAAAAD-s/vOU0I6x998Y/s1600/dt-improved-perform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371600"/>
            <a:ext cx="7620000" cy="5076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Monitor </a:t>
            </a:r>
            <a:r>
              <a:rPr lang="en-US" dirty="0" smtClean="0"/>
              <a:t>Web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https://www.weblogexpert.com/lite.htm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https://www.nagios.com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https://www.dynatrace.com/technologies/net-monitoring/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1673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3048000"/>
            <a:ext cx="7445445" cy="329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</a:t>
            </a:r>
            <a:r>
              <a:rPr lang="en-US" dirty="0" smtClean="0"/>
              <a:t>IIS Worker Process</a:t>
            </a:r>
            <a:endParaRPr lang="en-US" dirty="0"/>
          </a:p>
        </p:txBody>
      </p:sp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962400"/>
            <a:ext cx="60960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447800"/>
            <a:ext cx="63627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Web Application Performance Levels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UI (JS/HTML/CSS) level</a:t>
            </a:r>
          </a:p>
          <a:p>
            <a:pPr lvl="1"/>
            <a:r>
              <a:rPr lang="en-US" sz="1800" dirty="0" smtClean="0">
                <a:hlinkClick r:id="rId2"/>
              </a:rPr>
              <a:t>https://developers.google.com/speed/pagespeed/insights/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3"/>
              </a:rPr>
              <a:t>https://www.webpagetest.org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4"/>
              </a:rPr>
              <a:t>http://minify.mobi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5"/>
              </a:rPr>
              <a:t>https://tools.pingdom.com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6"/>
              </a:rPr>
              <a:t>https://www.whynopadlock.com</a:t>
            </a:r>
            <a:endParaRPr lang="en-US" sz="1800" dirty="0" smtClean="0"/>
          </a:p>
          <a:p>
            <a:pPr lvl="1"/>
            <a:r>
              <a:rPr lang="en-US" sz="1800" dirty="0" smtClean="0">
                <a:hlinkClick r:id="rId7"/>
              </a:rPr>
              <a:t>https://gtmetrix.com</a:t>
            </a:r>
            <a:endParaRPr lang="en-US" sz="1800" dirty="0" smtClean="0"/>
          </a:p>
          <a:p>
            <a:r>
              <a:rPr lang="en-US" sz="2200" dirty="0" smtClean="0"/>
              <a:t>Code level</a:t>
            </a:r>
          </a:p>
          <a:p>
            <a:pPr lvl="1"/>
            <a:r>
              <a:rPr lang="en-US" sz="2200" dirty="0" smtClean="0"/>
              <a:t> Code profiling </a:t>
            </a:r>
          </a:p>
          <a:p>
            <a:r>
              <a:rPr lang="en-US" sz="2200" dirty="0" smtClean="0"/>
              <a:t>DB level</a:t>
            </a:r>
          </a:p>
          <a:p>
            <a:r>
              <a:rPr lang="en-US" sz="2200" dirty="0" smtClean="0"/>
              <a:t>Server level</a:t>
            </a:r>
          </a:p>
          <a:p>
            <a:r>
              <a:rPr lang="en-US" sz="2200" dirty="0" smtClean="0"/>
              <a:t>Network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1. Use </a:t>
            </a:r>
            <a:r>
              <a:rPr lang="en-US" dirty="0" smtClean="0"/>
              <a:t>UI Bundling and </a:t>
            </a:r>
            <a:r>
              <a:rPr lang="en-US" dirty="0" err="1" smtClean="0"/>
              <a:t>Minification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</a:t>
            </a:r>
            <a:r>
              <a:rPr lang="en-US" sz="2400" smtClean="0">
                <a:hlinkClick r:id="rId2"/>
              </a:rPr>
              <a:t>://weblogs.asp.net/scottgu/new-bundling-and-minification-support-asp-net-4-5-series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</a:t>
            </a:r>
            <a:r>
              <a:rPr lang="en-US" dirty="0" smtClean="0"/>
              <a:t>Data Transfer Compression</a:t>
            </a:r>
            <a:endParaRPr 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9075" y="1762125"/>
            <a:ext cx="616585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Leverage </a:t>
            </a:r>
            <a:r>
              <a:rPr lang="en-US" dirty="0" smtClean="0"/>
              <a:t>Browser Caching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</a:t>
            </a:r>
            <a:r>
              <a:rPr lang="en-US" sz="2400" dirty="0" err="1" smtClean="0">
                <a:latin typeface="Consolas" pitchFamily="49" charset="0"/>
              </a:rPr>
              <a:t>system.webServer</a:t>
            </a:r>
            <a:r>
              <a:rPr lang="en-US" sz="2400" dirty="0" smtClean="0">
                <a:latin typeface="Consolas" pitchFamily="49" charset="0"/>
              </a:rPr>
              <a:t>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 &lt;</a:t>
            </a:r>
            <a:r>
              <a:rPr lang="en-US" sz="2400" dirty="0" err="1" smtClean="0">
                <a:latin typeface="Consolas" pitchFamily="49" charset="0"/>
              </a:rPr>
              <a:t>staticContent</a:t>
            </a:r>
            <a:r>
              <a:rPr lang="en-US" sz="2400" dirty="0" smtClean="0">
                <a:latin typeface="Consolas" pitchFamily="49" charset="0"/>
              </a:rPr>
              <a:t>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     &lt;</a:t>
            </a:r>
            <a:r>
              <a:rPr lang="en-US" sz="2400" dirty="0" err="1" smtClean="0">
                <a:latin typeface="Consolas" pitchFamily="49" charset="0"/>
              </a:rPr>
              <a:t>clientCache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cacheControlCustom</a:t>
            </a:r>
            <a:r>
              <a:rPr lang="en-US" sz="2400" dirty="0" smtClean="0">
                <a:latin typeface="Consolas" pitchFamily="49" charset="0"/>
              </a:rPr>
              <a:t>="public" </a:t>
            </a:r>
            <a:r>
              <a:rPr lang="en-US" sz="2400" dirty="0" err="1" smtClean="0">
                <a:latin typeface="Consolas" pitchFamily="49" charset="0"/>
              </a:rPr>
              <a:t>cacheControlMode</a:t>
            </a:r>
            <a:r>
              <a:rPr lang="en-US" sz="2400" dirty="0" smtClean="0">
                <a:latin typeface="Consolas" pitchFamily="49" charset="0"/>
              </a:rPr>
              <a:t>="</a:t>
            </a:r>
            <a:r>
              <a:rPr lang="en-US" sz="2400" dirty="0" err="1" smtClean="0">
                <a:latin typeface="Consolas" pitchFamily="49" charset="0"/>
              </a:rPr>
              <a:t>UseMaxAge</a:t>
            </a:r>
            <a:r>
              <a:rPr lang="en-US" sz="2400" dirty="0" smtClean="0">
                <a:latin typeface="Consolas" pitchFamily="49" charset="0"/>
              </a:rPr>
              <a:t>" </a:t>
            </a:r>
            <a:r>
              <a:rPr lang="en-US" sz="2400" dirty="0" err="1" smtClean="0">
                <a:latin typeface="Consolas" pitchFamily="49" charset="0"/>
              </a:rPr>
              <a:t>cacheControlMaxAge</a:t>
            </a:r>
            <a:r>
              <a:rPr lang="en-US" sz="2400" dirty="0" smtClean="0">
                <a:latin typeface="Consolas" pitchFamily="49" charset="0"/>
              </a:rPr>
              <a:t>="31.00:00:00" /&gt;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 &lt;/</a:t>
            </a:r>
            <a:r>
              <a:rPr lang="en-US" sz="2400" dirty="0" err="1" smtClean="0">
                <a:latin typeface="Consolas" pitchFamily="49" charset="0"/>
              </a:rPr>
              <a:t>staticContent</a:t>
            </a:r>
            <a:r>
              <a:rPr lang="en-US" sz="2400" dirty="0" smtClean="0">
                <a:latin typeface="Consolas" pitchFamily="49" charset="0"/>
              </a:rPr>
              <a:t>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&lt;/</a:t>
            </a:r>
            <a:r>
              <a:rPr lang="en-US" sz="2400" dirty="0" err="1" smtClean="0">
                <a:latin typeface="Consolas" pitchFamily="49" charset="0"/>
              </a:rPr>
              <a:t>system.webServer</a:t>
            </a:r>
            <a:r>
              <a:rPr lang="en-US" sz="2400" dirty="0" smtClean="0">
                <a:latin typeface="Consolas" pitchFamily="49" charset="0"/>
              </a:rPr>
              <a:t>&gt;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Detect </a:t>
            </a:r>
            <a:r>
              <a:rPr lang="en-US" dirty="0" smtClean="0"/>
              <a:t>Code Bottlenecks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http://www.red-gate.com/products/dotnet-development/ants-performance-profiler/</a:t>
            </a:r>
            <a:endParaRPr lang="en-US" sz="2200" dirty="0" smtClean="0"/>
          </a:p>
          <a:p>
            <a:r>
              <a:rPr lang="en-US" sz="2200" dirty="0" smtClean="0">
                <a:hlinkClick r:id="rId3"/>
              </a:rPr>
              <a:t>http://www.red-gate.com/products/dotnet-development/ants-performance-profiler/walkthrough</a:t>
            </a:r>
            <a:endParaRPr lang="en-US" sz="2200" dirty="0" smtClean="0"/>
          </a:p>
          <a:p>
            <a:r>
              <a:rPr lang="en-US" sz="2200" dirty="0" smtClean="0">
                <a:hlinkClick r:id="rId4"/>
              </a:rPr>
              <a:t>https://www.jetbrains.com/profiler/</a:t>
            </a:r>
            <a:endParaRPr lang="en-US" sz="2200" dirty="0" smtClean="0"/>
          </a:p>
          <a:p>
            <a:r>
              <a:rPr lang="en-US" sz="2200" dirty="0" smtClean="0">
                <a:hlinkClick r:id="rId5"/>
              </a:rPr>
              <a:t>https://www.jetbrains.com/help/profiler/2017.1/Get_Started_with_Performance_Viewer.html</a:t>
            </a:r>
            <a:endParaRPr lang="en-US" sz="2200" dirty="0" smtClean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4606925"/>
            <a:ext cx="7426325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Avoid </a:t>
            </a:r>
            <a:r>
              <a:rPr lang="en-US" dirty="0" smtClean="0"/>
              <a:t>Inefficient Code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6477000" cy="4525963"/>
          </a:xfrm>
        </p:spPr>
        <p:txBody>
          <a:bodyPr>
            <a:no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Input/output operations</a:t>
            </a:r>
            <a:r>
              <a:rPr lang="en-US" sz="2200" dirty="0" smtClean="0"/>
              <a:t>. One of the most significant sources of inefficiency is unnecessary input/output (I/O).</a:t>
            </a:r>
          </a:p>
          <a:p>
            <a:r>
              <a:rPr lang="en-US" sz="2200" dirty="0" smtClean="0"/>
              <a:t>If you have a choice of working with a file in memory vs. on disk, in a database, or across a network, use an </a:t>
            </a:r>
            <a:r>
              <a:rPr lang="en-US" sz="2200" i="1" dirty="0" smtClean="0">
                <a:solidFill>
                  <a:srgbClr val="C00000"/>
                </a:solidFill>
              </a:rPr>
              <a:t>in-memory data structure</a:t>
            </a:r>
            <a:r>
              <a:rPr lang="en-US" sz="2200" dirty="0" smtClean="0"/>
              <a:t> unless space is critical.</a:t>
            </a:r>
          </a:p>
          <a:p>
            <a:r>
              <a:rPr lang="en-US" sz="2200" dirty="0" smtClean="0"/>
              <a:t>Explicitly </a:t>
            </a:r>
            <a:r>
              <a:rPr lang="en-US" sz="2200" i="1" dirty="0" smtClean="0">
                <a:solidFill>
                  <a:srgbClr val="C00000"/>
                </a:solidFill>
              </a:rPr>
              <a:t>dispose</a:t>
            </a:r>
            <a:r>
              <a:rPr lang="en-US" sz="2200" dirty="0" smtClean="0"/>
              <a:t> or </a:t>
            </a:r>
            <a:r>
              <a:rPr lang="en-US" sz="2200" i="1" dirty="0" smtClean="0">
                <a:solidFill>
                  <a:srgbClr val="C00000"/>
                </a:solidFill>
              </a:rPr>
              <a:t>close</a:t>
            </a:r>
            <a:r>
              <a:rPr lang="en-US" sz="2200" dirty="0" smtClean="0"/>
              <a:t> all the resources</a:t>
            </a:r>
          </a:p>
          <a:p>
            <a:r>
              <a:rPr lang="en-US" sz="2200" dirty="0" smtClean="0"/>
              <a:t>Leaving </a:t>
            </a:r>
            <a:r>
              <a:rPr lang="en-US" sz="2200" i="1" dirty="0" smtClean="0">
                <a:solidFill>
                  <a:srgbClr val="C00000"/>
                </a:solidFill>
              </a:rPr>
              <a:t>debugging code</a:t>
            </a:r>
            <a:r>
              <a:rPr lang="en-US" sz="2200" dirty="0" smtClean="0"/>
              <a:t> turned on (such as logging trace information to a file).</a:t>
            </a:r>
          </a:p>
          <a:p>
            <a:r>
              <a:rPr lang="en-US" sz="2200" dirty="0" smtClean="0"/>
              <a:t>Forgetting to </a:t>
            </a:r>
            <a:r>
              <a:rPr lang="en-US" sz="2200" i="1" dirty="0" smtClean="0">
                <a:solidFill>
                  <a:srgbClr val="C00000"/>
                </a:solidFill>
              </a:rPr>
              <a:t>de-allocate</a:t>
            </a:r>
            <a:r>
              <a:rPr lang="en-US" sz="2200" dirty="0" smtClean="0"/>
              <a:t> memory.</a:t>
            </a:r>
          </a:p>
          <a:p>
            <a:r>
              <a:rPr lang="en-US" sz="2200" dirty="0" smtClean="0"/>
              <a:t>Polling nonexistent devices until they </a:t>
            </a:r>
            <a:r>
              <a:rPr lang="en-US" sz="2200" i="1" dirty="0" smtClean="0">
                <a:solidFill>
                  <a:srgbClr val="C00000"/>
                </a:solidFill>
              </a:rPr>
              <a:t>time out</a:t>
            </a:r>
            <a:r>
              <a:rPr lang="en-US" sz="2200" dirty="0" smtClean="0"/>
              <a:t>.</a:t>
            </a:r>
          </a:p>
        </p:txBody>
      </p:sp>
      <p:pic>
        <p:nvPicPr>
          <p:cNvPr id="993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9450" y="2514600"/>
            <a:ext cx="18097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200" dirty="0" smtClean="0"/>
              <a:t>3. Select </a:t>
            </a:r>
            <a:r>
              <a:rPr lang="en-US" sz="4200" dirty="0" smtClean="0"/>
              <a:t>Appropriate Data Structures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Use faster libraries (e.g. </a:t>
            </a:r>
            <a:r>
              <a:rPr lang="en-US" sz="3100" b="1" dirty="0" err="1" smtClean="0">
                <a:latin typeface="Consolas" pitchFamily="49" charset="0"/>
              </a:rPr>
              <a:t>StringBuilder</a:t>
            </a:r>
            <a:r>
              <a:rPr lang="en-US" sz="3100" dirty="0" smtClean="0"/>
              <a:t> vs. </a:t>
            </a:r>
            <a:r>
              <a:rPr lang="en-US" sz="3100" b="1" dirty="0" smtClean="0">
                <a:latin typeface="Consolas" pitchFamily="49" charset="0"/>
              </a:rPr>
              <a:t>String</a:t>
            </a:r>
            <a:r>
              <a:rPr lang="en-US" sz="3100" dirty="0" smtClean="0"/>
              <a:t>, </a:t>
            </a:r>
            <a:r>
              <a:rPr lang="en-US" sz="3100" b="1" dirty="0" err="1" smtClean="0">
                <a:latin typeface="Consolas" pitchFamily="49" charset="0"/>
              </a:rPr>
              <a:t>IList</a:t>
            </a:r>
            <a:r>
              <a:rPr lang="en-US" sz="3100" b="1" dirty="0" smtClean="0">
                <a:latin typeface="Consolas" pitchFamily="49" charset="0"/>
              </a:rPr>
              <a:t>&lt;T&gt;</a:t>
            </a:r>
            <a:r>
              <a:rPr lang="en-US" sz="3100" dirty="0" smtClean="0"/>
              <a:t> vs. </a:t>
            </a:r>
            <a:r>
              <a:rPr lang="en-US" sz="3100" b="1" dirty="0" err="1" smtClean="0">
                <a:latin typeface="Consolas" pitchFamily="49" charset="0"/>
              </a:rPr>
              <a:t>ArrayList</a:t>
            </a:r>
            <a:r>
              <a:rPr lang="en-US" sz="3100" dirty="0" smtClean="0"/>
              <a:t>)</a:t>
            </a:r>
          </a:p>
          <a:p>
            <a:r>
              <a:rPr lang="en-US" sz="3100" b="1" dirty="0" err="1" smtClean="0">
                <a:latin typeface="Consolas" pitchFamily="49" charset="0"/>
              </a:rPr>
              <a:t>OutOfMemoryException</a:t>
            </a:r>
            <a:r>
              <a:rPr lang="en-US" sz="3100" dirty="0" smtClean="0"/>
              <a:t> while populating </a:t>
            </a:r>
            <a:r>
              <a:rPr lang="en-US" sz="3100" b="1" dirty="0" err="1" smtClean="0">
                <a:latin typeface="Consolas" pitchFamily="49" charset="0"/>
              </a:rPr>
              <a:t>MemoryStream</a:t>
            </a:r>
            <a:endParaRPr lang="en-US" sz="3100" b="1" dirty="0" smtClean="0">
              <a:latin typeface="Consolas" pitchFamily="49" charset="0"/>
            </a:endParaRPr>
          </a:p>
          <a:p>
            <a:pPr lvl="1"/>
            <a:r>
              <a:rPr lang="en-US" sz="2300" dirty="0" err="1" smtClean="0"/>
              <a:t>MemoryStream</a:t>
            </a:r>
            <a:r>
              <a:rPr lang="en-US" sz="2300" dirty="0" smtClean="0"/>
              <a:t> has internal byte[] buffer to keep all the data. It cannot predict exact size of this buffer, so it just initializes it with some initial value.</a:t>
            </a:r>
          </a:p>
          <a:p>
            <a:pPr lvl="1"/>
            <a:r>
              <a:rPr lang="en-US" sz="2300" dirty="0" smtClean="0"/>
              <a:t>When this internal buffer can not fit all the data, it should be "re-sized", but in real life it means </a:t>
            </a:r>
            <a:r>
              <a:rPr lang="en-US" sz="2300" b="1" dirty="0" smtClean="0"/>
              <a:t>creating new buffer</a:t>
            </a:r>
            <a:r>
              <a:rPr lang="en-US" sz="2300" dirty="0" smtClean="0"/>
              <a:t> twice as size as previous one, and then copying data from old buffer to new buffer.</a:t>
            </a:r>
          </a:p>
          <a:p>
            <a:pPr lvl="1"/>
            <a:r>
              <a:rPr lang="en-US" sz="2300" dirty="0" smtClean="0"/>
              <a:t>So, if the length of your buffer is 256Mb, and you need new data to be written, this means that </a:t>
            </a:r>
            <a:r>
              <a:rPr lang="en-US" sz="2300" dirty="0" err="1" smtClean="0"/>
              <a:t>.Net</a:t>
            </a:r>
            <a:r>
              <a:rPr lang="en-US" sz="2300" dirty="0" smtClean="0"/>
              <a:t> need to find yet another 512Mb block of data - having all the rest in place, so heap should be at least 768Mb on the moment of memory allocation when you receive </a:t>
            </a:r>
            <a:r>
              <a:rPr lang="en-US" sz="2300" dirty="0" err="1" smtClean="0"/>
              <a:t>OutOfMemory</a:t>
            </a:r>
            <a:r>
              <a:rPr lang="en-US" sz="2300" dirty="0" smtClean="0"/>
              <a:t>.</a:t>
            </a:r>
          </a:p>
          <a:p>
            <a:endParaRPr lang="en-US" dirty="0"/>
          </a:p>
        </p:txBody>
      </p:sp>
      <p:pic>
        <p:nvPicPr>
          <p:cNvPr id="99332" name="Picture 4" descr="https://media.geeksforgeeks.org/wp-content/cdn-uploads/20190515174003/Learning-Data-Structures-and-Algorithms-is-Important-1024x42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876800"/>
            <a:ext cx="3900953" cy="1615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4. Select </a:t>
            </a:r>
            <a:r>
              <a:rPr lang="en-US" dirty="0" smtClean="0"/>
              <a:t>Appropriate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Quick sort vs. Selection sort</a:t>
            </a:r>
          </a:p>
          <a:p>
            <a:endParaRPr lang="en-US" dirty="0"/>
          </a:p>
        </p:txBody>
      </p:sp>
      <p:pic>
        <p:nvPicPr>
          <p:cNvPr id="99332" name="Picture 4" descr="https://media.geeksforgeeks.org/wp-content/cdn-uploads/20190515174003/Learning-Data-Structures-and-Algorithms-is-Important-1024x42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581400"/>
            <a:ext cx="3900953" cy="1615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Use </a:t>
            </a:r>
            <a:r>
              <a:rPr lang="en-US" dirty="0" smtClean="0"/>
              <a:t>Low-Level Languages</a:t>
            </a:r>
            <a:endParaRPr lang="en-US" dirty="0"/>
          </a:p>
        </p:txBody>
      </p:sp>
      <p:pic>
        <p:nvPicPr>
          <p:cNvPr id="114690" name="Picture 2" descr="https://media.geeksforgeeks.org/wp-content/cdn-uploads/Clanguage-1024x34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67000"/>
            <a:ext cx="7801906" cy="25980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Cache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http://memcached.org/</a:t>
            </a:r>
          </a:p>
          <a:p>
            <a:endParaRPr lang="en-US" sz="2400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200400"/>
            <a:ext cx="24955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Redis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Install </a:t>
            </a:r>
            <a:r>
              <a:rPr lang="en-US" sz="2600" dirty="0" err="1" smtClean="0"/>
              <a:t>Redis</a:t>
            </a:r>
            <a:endParaRPr lang="en-US" sz="2600" dirty="0" smtClean="0"/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sudo</a:t>
            </a:r>
            <a:r>
              <a:rPr lang="en-US" sz="2000" b="1" dirty="0" smtClean="0">
                <a:latin typeface="Consolas" pitchFamily="49" charset="0"/>
              </a:rPr>
              <a:t> apt-get update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sudo</a:t>
            </a:r>
            <a:r>
              <a:rPr lang="en-US" sz="2000" b="1" dirty="0" smtClean="0">
                <a:latin typeface="Consolas" pitchFamily="49" charset="0"/>
              </a:rPr>
              <a:t> apt-get install </a:t>
            </a:r>
            <a:r>
              <a:rPr lang="en-US" sz="2000" b="1" dirty="0" err="1" smtClean="0">
                <a:latin typeface="Consolas" pitchFamily="49" charset="0"/>
              </a:rPr>
              <a:t>redis</a:t>
            </a:r>
            <a:r>
              <a:rPr lang="en-US" sz="2000" b="1" dirty="0" smtClean="0">
                <a:latin typeface="Consolas" pitchFamily="49" charset="0"/>
              </a:rPr>
              <a:t>-server</a:t>
            </a:r>
          </a:p>
          <a:p>
            <a:r>
              <a:rPr lang="en-US" sz="2600" dirty="0" smtClean="0"/>
              <a:t>Start </a:t>
            </a:r>
            <a:r>
              <a:rPr lang="en-US" sz="2600" dirty="0" err="1" smtClean="0"/>
              <a:t>Redis</a:t>
            </a:r>
            <a:endParaRPr lang="en-US" sz="2600" dirty="0" smtClean="0"/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redis</a:t>
            </a:r>
            <a:r>
              <a:rPr lang="en-US" sz="2000" b="1" dirty="0" smtClean="0">
                <a:latin typeface="Consolas" pitchFamily="49" charset="0"/>
              </a:rPr>
              <a:t>-server</a:t>
            </a:r>
          </a:p>
          <a:p>
            <a:pPr lvl="2"/>
            <a:r>
              <a:rPr lang="en-US" sz="1800" dirty="0" smtClean="0"/>
              <a:t>The service may already be started automatically.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2600" dirty="0" smtClean="0"/>
              <a:t>Check if </a:t>
            </a:r>
            <a:r>
              <a:rPr lang="en-US" sz="2600" dirty="0" err="1" smtClean="0"/>
              <a:t>Redis</a:t>
            </a:r>
            <a:r>
              <a:rPr lang="en-US" sz="2600" dirty="0" smtClean="0"/>
              <a:t> is working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redis-cli</a:t>
            </a:r>
            <a:endParaRPr lang="en-US" sz="2000" b="1" dirty="0">
              <a:latin typeface="Consolas" pitchFamily="49" charset="0"/>
            </a:endParaRPr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5029200"/>
            <a:ext cx="5310188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Call </a:t>
            </a:r>
            <a:r>
              <a:rPr lang="en-US" dirty="0" err="1" smtClean="0"/>
              <a:t>Redis</a:t>
            </a:r>
            <a:r>
              <a:rPr lang="en-US" dirty="0" smtClean="0"/>
              <a:t>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onsolas" pitchFamily="49" charset="0"/>
              </a:rPr>
              <a:t>SET </a:t>
            </a:r>
            <a:r>
              <a:rPr lang="en-US" sz="2400" dirty="0" smtClean="0">
                <a:latin typeface="Consolas" pitchFamily="49" charset="0"/>
                <a:hlinkClick r:id="rId2"/>
              </a:rPr>
              <a:t>email1@domain.com</a:t>
            </a:r>
            <a:r>
              <a:rPr lang="en-US" sz="2400" dirty="0" smtClean="0">
                <a:latin typeface="Consolas" pitchFamily="49" charset="0"/>
              </a:rPr>
              <a:t> user1Value</a:t>
            </a:r>
          </a:p>
          <a:p>
            <a:r>
              <a:rPr lang="en-US" sz="2400" dirty="0" smtClean="0">
                <a:latin typeface="Consolas" pitchFamily="49" charset="0"/>
              </a:rPr>
              <a:t>GET </a:t>
            </a:r>
            <a:r>
              <a:rPr lang="en-US" sz="2400" dirty="0" smtClean="0">
                <a:latin typeface="Consolas" pitchFamily="49" charset="0"/>
                <a:hlinkClick r:id="rId2"/>
              </a:rPr>
              <a:t>email1@domain.com</a:t>
            </a:r>
            <a:endParaRPr lang="en-US" sz="2400" dirty="0" smtClean="0">
              <a:latin typeface="Consolas" pitchFamily="49" charset="0"/>
            </a:endParaRPr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086100"/>
            <a:ext cx="76009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4. </a:t>
            </a:r>
            <a:r>
              <a:rPr lang="en-US" sz="3800" dirty="0" smtClean="0"/>
              <a:t>Enable </a:t>
            </a:r>
            <a:r>
              <a:rPr lang="en-US" sz="3800" dirty="0" smtClean="0"/>
              <a:t>Remote Connections for </a:t>
            </a:r>
            <a:r>
              <a:rPr lang="en-US" sz="3800" dirty="0" err="1" smtClean="0"/>
              <a:t>Redis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/etc/</a:t>
            </a:r>
            <a:r>
              <a:rPr lang="en-US" sz="2200" dirty="0" err="1" smtClean="0">
                <a:latin typeface="Consolas" pitchFamily="49" charset="0"/>
              </a:rPr>
              <a:t>redis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redis.conf</a:t>
            </a:r>
            <a:endParaRPr lang="en-US" sz="22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2200" i="1" dirty="0" smtClean="0">
                <a:latin typeface="Consolas" pitchFamily="49" charset="0"/>
              </a:rPr>
              <a:t>		bind 0.0.0.0 ::1</a:t>
            </a:r>
          </a:p>
          <a:p>
            <a:pPr>
              <a:buNone/>
            </a:pPr>
            <a:r>
              <a:rPr lang="en-US" sz="2200" i="1" dirty="0" smtClean="0">
                <a:latin typeface="Consolas" pitchFamily="49" charset="0"/>
              </a:rPr>
              <a:t>		protected-mode no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allow 6379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ufw</a:t>
            </a:r>
            <a:r>
              <a:rPr lang="en-US" sz="2200" dirty="0" smtClean="0">
                <a:latin typeface="Consolas" pitchFamily="49" charset="0"/>
              </a:rPr>
              <a:t> allow 6379/</a:t>
            </a:r>
            <a:r>
              <a:rPr lang="en-US" sz="2200" dirty="0" err="1" smtClean="0">
                <a:latin typeface="Consolas" pitchFamily="49" charset="0"/>
              </a:rPr>
              <a:t>tcp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service </a:t>
            </a:r>
            <a:r>
              <a:rPr lang="en-US" sz="2200" dirty="0" err="1" smtClean="0">
                <a:latin typeface="Consolas" pitchFamily="49" charset="0"/>
              </a:rPr>
              <a:t>redis</a:t>
            </a:r>
            <a:r>
              <a:rPr lang="en-US" sz="2200" dirty="0" smtClean="0">
                <a:latin typeface="Consolas" pitchFamily="49" charset="0"/>
              </a:rPr>
              <a:t>-server restart</a:t>
            </a: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5. Connect </a:t>
            </a:r>
            <a:r>
              <a:rPr lang="en-US" sz="4200" dirty="0" smtClean="0"/>
              <a:t>to a Remote </a:t>
            </a:r>
            <a:r>
              <a:rPr lang="en-US" sz="4200" dirty="0" err="1" smtClean="0"/>
              <a:t>Redis</a:t>
            </a:r>
            <a:r>
              <a:rPr lang="en-US" sz="4200" dirty="0" smtClean="0"/>
              <a:t> Server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>
                <a:latin typeface="+mj-lt"/>
              </a:rPr>
              <a:t>On 192.168.1.11 computer.</a:t>
            </a:r>
          </a:p>
          <a:p>
            <a:pPr lvl="1"/>
            <a:r>
              <a:rPr lang="en-US" sz="2200" dirty="0" err="1" smtClean="0">
                <a:latin typeface="Consolas" pitchFamily="49" charset="0"/>
              </a:rPr>
              <a:t>redis-cli</a:t>
            </a:r>
            <a:r>
              <a:rPr lang="en-US" sz="2200" dirty="0" smtClean="0">
                <a:latin typeface="Consolas" pitchFamily="49" charset="0"/>
              </a:rPr>
              <a:t> -h </a:t>
            </a: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</a:rPr>
              <a:t>192.168.1.19</a:t>
            </a:r>
            <a:r>
              <a:rPr lang="en-US" sz="2200" dirty="0" smtClean="0">
                <a:latin typeface="Consolas" pitchFamily="49" charset="0"/>
              </a:rPr>
              <a:t> ping</a:t>
            </a:r>
          </a:p>
          <a:p>
            <a:pPr lvl="1"/>
            <a:r>
              <a:rPr lang="en-US" sz="2200" dirty="0" err="1" smtClean="0">
                <a:latin typeface="Consolas" pitchFamily="49" charset="0"/>
              </a:rPr>
              <a:t>redis-cli</a:t>
            </a:r>
            <a:r>
              <a:rPr lang="en-US" sz="2200" dirty="0" smtClean="0">
                <a:latin typeface="Consolas" pitchFamily="49" charset="0"/>
              </a:rPr>
              <a:t> -h </a:t>
            </a: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</a:rPr>
              <a:t>192.168.1.19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GET email1@domain.com</a:t>
            </a:r>
          </a:p>
          <a:p>
            <a:pPr lvl="1"/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657600"/>
            <a:ext cx="6110288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Redis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Consolas" pitchFamily="49" charset="0"/>
              </a:rPr>
              <a:t>brew update</a:t>
            </a:r>
          </a:p>
          <a:p>
            <a:r>
              <a:rPr lang="en-US" sz="2200" dirty="0" smtClean="0">
                <a:latin typeface="Consolas" pitchFamily="49" charset="0"/>
              </a:rPr>
              <a:t>brew install </a:t>
            </a:r>
            <a:r>
              <a:rPr lang="en-US" sz="2200" dirty="0" err="1" smtClean="0">
                <a:latin typeface="Consolas" pitchFamily="49" charset="0"/>
              </a:rPr>
              <a:t>redis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brew services start </a:t>
            </a:r>
            <a:r>
              <a:rPr lang="en-US" sz="2200" dirty="0" err="1" smtClean="0">
                <a:latin typeface="Consolas" pitchFamily="49" charset="0"/>
              </a:rPr>
              <a:t>redis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redis-cli</a:t>
            </a:r>
            <a:r>
              <a:rPr lang="en-US" sz="2200" dirty="0" smtClean="0">
                <a:latin typeface="Consolas" pitchFamily="49" charset="0"/>
              </a:rPr>
              <a:t> ping</a:t>
            </a:r>
          </a:p>
          <a:p>
            <a:r>
              <a:rPr lang="en-US" sz="2200" dirty="0" smtClean="0">
                <a:latin typeface="Consolas" pitchFamily="49" charset="0"/>
              </a:rPr>
              <a:t>brew services stop </a:t>
            </a:r>
            <a:r>
              <a:rPr lang="en-US" sz="2200" dirty="0" err="1" smtClean="0">
                <a:latin typeface="Consolas" pitchFamily="49" charset="0"/>
              </a:rPr>
              <a:t>redis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7367588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 .NET Memory Cache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Start an elevated console prompt (right-click the shortcut and use Run as Administrator) and type these commands: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cd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C:\Windows\Microsoft.NET\Framework\v4.0.30319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lodctr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netmemorycache.ini</a:t>
            </a:r>
          </a:p>
          <a:p>
            <a:r>
              <a:rPr lang="en-US" sz="2400" dirty="0" smtClean="0"/>
              <a:t>That adds the required registry entries so the </a:t>
            </a:r>
            <a:r>
              <a:rPr lang="en-US" sz="2400" dirty="0" err="1" smtClean="0"/>
              <a:t>MemoryCache</a:t>
            </a:r>
            <a:r>
              <a:rPr lang="en-US" sz="2400" dirty="0" smtClean="0"/>
              <a:t> can create these counters at runtime.</a:t>
            </a:r>
          </a:p>
          <a:p>
            <a:r>
              <a:rPr lang="en-US" sz="2400" dirty="0" smtClean="0"/>
              <a:t>Start your program so an instance of </a:t>
            </a:r>
            <a:r>
              <a:rPr lang="en-US" sz="2400" dirty="0" err="1" smtClean="0"/>
              <a:t>MemoryCache</a:t>
            </a:r>
            <a:r>
              <a:rPr lang="en-US" sz="2400" dirty="0" smtClean="0"/>
              <a:t> is created.</a:t>
            </a:r>
          </a:p>
          <a:p>
            <a:r>
              <a:rPr lang="en-US" sz="2400" dirty="0" smtClean="0"/>
              <a:t>Run </a:t>
            </a:r>
            <a:r>
              <a:rPr lang="en-US" sz="2400" b="1" dirty="0" smtClean="0"/>
              <a:t>Perfmon.exe</a:t>
            </a:r>
            <a:r>
              <a:rPr lang="en-US" sz="2400" dirty="0" smtClean="0"/>
              <a:t>, right-click the graph, </a:t>
            </a:r>
            <a:r>
              <a:rPr lang="en-US" sz="2400" b="1" dirty="0" smtClean="0"/>
              <a:t>Add Counters</a:t>
            </a:r>
            <a:r>
              <a:rPr lang="en-US" sz="2400" dirty="0" smtClean="0"/>
              <a:t> and pick from the added </a:t>
            </a:r>
            <a:r>
              <a:rPr lang="en-US" sz="2400" b="1" dirty="0" smtClean="0"/>
              <a:t>.NET Memory Cache 4.0</a:t>
            </a:r>
            <a:r>
              <a:rPr lang="en-US" sz="2400" dirty="0" smtClean="0"/>
              <a:t> category.</a:t>
            </a:r>
          </a:p>
          <a:p>
            <a:r>
              <a:rPr lang="en-US" sz="2400" dirty="0" smtClean="0"/>
              <a:t>Also select the instance of your program.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Use </a:t>
            </a:r>
            <a:r>
              <a:rPr lang="en-US" dirty="0" smtClean="0"/>
              <a:t>64bit Process</a:t>
            </a:r>
            <a:endParaRPr lang="en-US" dirty="0"/>
          </a:p>
        </p:txBody>
      </p:sp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9925" y="1828800"/>
            <a:ext cx="52641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Increase </a:t>
            </a:r>
            <a:r>
              <a:rPr lang="en-US" dirty="0" smtClean="0"/>
              <a:t>Hardware Capability</a:t>
            </a:r>
            <a:endParaRPr lang="en-US" dirty="0"/>
          </a:p>
        </p:txBody>
      </p:sp>
      <p:pic>
        <p:nvPicPr>
          <p:cNvPr id="105474" name="Picture 2" descr="Các thông số cần biết của CPU intel khi chọn mua laptop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00200"/>
            <a:ext cx="2514600" cy="1833372"/>
          </a:xfrm>
          <a:prstGeom prst="rect">
            <a:avLst/>
          </a:prstGeom>
          <a:noFill/>
        </p:spPr>
      </p:pic>
      <p:pic>
        <p:nvPicPr>
          <p:cNvPr id="105476" name="Picture 4" descr="https://media.kingston.com/kingston/content/ktc-custom-solutions-server-memory-why-upgrad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676400"/>
            <a:ext cx="2882265" cy="1684020"/>
          </a:xfrm>
          <a:prstGeom prst="rect">
            <a:avLst/>
          </a:prstGeom>
          <a:noFill/>
        </p:spPr>
      </p:pic>
      <p:pic>
        <p:nvPicPr>
          <p:cNvPr id="105480" name="Picture 8" descr="https://www.servethehome.com/wp-content/uploads/2018/06/ADATA-IM3P33EC-M.3-SSD-in-AIC-Serv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0" y="3733800"/>
            <a:ext cx="3556000" cy="22758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 Data Access Speed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Properly </a:t>
            </a:r>
            <a:r>
              <a:rPr lang="en-US" sz="2400" i="1" dirty="0" smtClean="0">
                <a:solidFill>
                  <a:srgbClr val="C00000"/>
                </a:solidFill>
              </a:rPr>
              <a:t>designing</a:t>
            </a:r>
            <a:r>
              <a:rPr lang="en-US" sz="2400" dirty="0" smtClean="0"/>
              <a:t> database.</a:t>
            </a:r>
          </a:p>
          <a:p>
            <a:endParaRPr lang="en-US" sz="2400" dirty="0" smtClean="0"/>
          </a:p>
          <a:p>
            <a:r>
              <a:rPr lang="en-US" sz="2600" dirty="0" smtClean="0"/>
              <a:t>Getting only </a:t>
            </a:r>
            <a:r>
              <a:rPr lang="en-US" sz="2600" i="1" dirty="0" smtClean="0">
                <a:solidFill>
                  <a:srgbClr val="C00000"/>
                </a:solidFill>
              </a:rPr>
              <a:t>needed</a:t>
            </a:r>
            <a:r>
              <a:rPr lang="en-US" sz="2600" dirty="0" smtClean="0"/>
              <a:t> data</a:t>
            </a:r>
          </a:p>
          <a:p>
            <a:endParaRPr lang="en-US" sz="2400" dirty="0" smtClean="0"/>
          </a:p>
          <a:p>
            <a:r>
              <a:rPr lang="en-US" sz="2600" b="1" dirty="0" smtClean="0"/>
              <a:t>Implementing </a:t>
            </a:r>
            <a:r>
              <a:rPr lang="en-US" sz="2600" b="1" i="1" dirty="0" smtClean="0">
                <a:solidFill>
                  <a:srgbClr val="C00000"/>
                </a:solidFill>
              </a:rPr>
              <a:t>database paging</a:t>
            </a:r>
          </a:p>
          <a:p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Using </a:t>
            </a:r>
            <a:r>
              <a:rPr lang="en-US" b="1" i="1" dirty="0" smtClean="0">
                <a:solidFill>
                  <a:srgbClr val="C00000"/>
                </a:solidFill>
              </a:rPr>
              <a:t>indexes</a:t>
            </a:r>
          </a:p>
          <a:p>
            <a:endParaRPr lang="en-US" sz="2400" i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	CREATE INDEX 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UserIdIndex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ON Users 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UserId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  <a:endParaRPr lang="en-US" sz="2400" i="1" dirty="0" smtClean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98306" name="Picture 2" descr="http://www.condusiv.com/images/file-optimiz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209800"/>
            <a:ext cx="3267075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Avoid Expensive Queries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Using full-text search instead of LIKE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SELECT Title, Author FROM 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dbo.Book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WHERE Title LIKE '%Quixote'</a:t>
            </a:r>
          </a:p>
          <a:p>
            <a:r>
              <a:rPr lang="en-US" sz="2400" dirty="0" smtClean="0"/>
              <a:t>Avoiding functions on columns in WHERE clauses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SELECT Title, Author FROM 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dbo.Book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WHERE LEFT(Title, 1)='D‘</a:t>
            </a:r>
          </a:p>
          <a:p>
            <a:pPr>
              <a:buNone/>
            </a:pPr>
            <a:r>
              <a:rPr lang="en-US" sz="1600" b="1" i="1" dirty="0" smtClean="0">
                <a:latin typeface="Courier New" pitchFamily="49" charset="0"/>
                <a:cs typeface="Courier New" pitchFamily="49" charset="0"/>
              </a:rPr>
              <a:t>SELECT Title, Author FROM </a:t>
            </a:r>
            <a:r>
              <a:rPr lang="en-US" sz="1600" b="1" i="1" dirty="0" err="1" smtClean="0">
                <a:latin typeface="Courier New" pitchFamily="49" charset="0"/>
                <a:cs typeface="Courier New" pitchFamily="49" charset="0"/>
              </a:rPr>
              <a:t>dbo.Book</a:t>
            </a:r>
            <a:r>
              <a:rPr lang="en-US" sz="1600" b="1" i="1" dirty="0" smtClean="0">
                <a:latin typeface="Courier New" pitchFamily="49" charset="0"/>
                <a:cs typeface="Courier New" pitchFamily="49" charset="0"/>
              </a:rPr>
              <a:t> WHERE Title LIKE 'D%'</a:t>
            </a:r>
            <a:endParaRPr lang="en-US" sz="1600" b="1" i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/>
              <a:t>Using EXISTS instead of COUNT to find existence of records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DECLARE @n 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sz="18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SELECT @n = COUNT(*) FROM 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dbo.Book</a:t>
            </a:r>
            <a:endParaRPr lang="en-US" sz="18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 @n &gt; 0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print 'Records found‘</a:t>
            </a:r>
          </a:p>
          <a:p>
            <a:pPr>
              <a:buNone/>
            </a:pPr>
            <a:r>
              <a:rPr lang="en-US" sz="1800" b="1" i="1" dirty="0" smtClean="0">
                <a:latin typeface="Courier New" pitchFamily="49" charset="0"/>
                <a:cs typeface="Courier New" pitchFamily="49" charset="0"/>
              </a:rPr>
              <a:t>IF EXISTS(SELECT * FROM </a:t>
            </a:r>
            <a:r>
              <a:rPr lang="en-US" sz="1800" b="1" i="1" dirty="0" err="1" smtClean="0">
                <a:latin typeface="Courier New" pitchFamily="49" charset="0"/>
                <a:cs typeface="Courier New" pitchFamily="49" charset="0"/>
              </a:rPr>
              <a:t>dbo.Book</a:t>
            </a:r>
            <a:r>
              <a:rPr lang="en-US" sz="1800" b="1" i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i="1" dirty="0" smtClean="0">
                <a:latin typeface="Courier New" pitchFamily="49" charset="0"/>
                <a:cs typeface="Courier New" pitchFamily="49" charset="0"/>
              </a:rPr>
              <a:t>print 'Records found'</a:t>
            </a:r>
            <a:endParaRPr lang="en-US" sz="1800" b="1" i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Reduce Database Round Trips</a:t>
            </a:r>
            <a:endParaRPr lang="en-US" dirty="0"/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667000"/>
            <a:ext cx="6960870" cy="238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 Connection Pooling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See “</a:t>
            </a:r>
            <a:r>
              <a:rPr lang="en-US" sz="2400" b="1" dirty="0" smtClean="0"/>
              <a:t>Database Management Systems</a:t>
            </a:r>
            <a:r>
              <a:rPr lang="en-US" sz="2400" dirty="0" smtClean="0"/>
              <a:t>” &gt;&gt; “</a:t>
            </a:r>
            <a:r>
              <a:rPr lang="en-US" sz="2400" b="1" dirty="0" smtClean="0"/>
              <a:t>04. SQL Server Deadlocks.pptx</a:t>
            </a:r>
            <a:r>
              <a:rPr lang="en-US" sz="2400" dirty="0" smtClean="0"/>
              <a:t>”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SQL Statements vs. Stored Procedures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hlinkClick r:id="rId2"/>
              </a:rPr>
              <a:t>http://www.sommarskog.se/dynamic_sql.html</a:t>
            </a:r>
            <a:endParaRPr lang="en-US" sz="2800" dirty="0" smtClean="0"/>
          </a:p>
          <a:p>
            <a:r>
              <a:rPr lang="en-US" sz="2800" dirty="0" smtClean="0"/>
              <a:t>Stored procedure advantages</a:t>
            </a:r>
          </a:p>
          <a:p>
            <a:pPr lvl="1"/>
            <a:r>
              <a:rPr lang="en-US" sz="2400" dirty="0" smtClean="0"/>
              <a:t>Reducing network traffic</a:t>
            </a:r>
          </a:p>
          <a:p>
            <a:pPr lvl="1"/>
            <a:r>
              <a:rPr lang="en-US" sz="2400" dirty="0" smtClean="0"/>
              <a:t>Encapsulating logic (modularizing your code)</a:t>
            </a:r>
          </a:p>
          <a:p>
            <a:pPr lvl="1"/>
            <a:r>
              <a:rPr lang="en-US" sz="2400" dirty="0" smtClean="0"/>
              <a:t>Keeping track of what is used (you can use </a:t>
            </a:r>
            <a:r>
              <a:rPr lang="en-US" sz="2400" dirty="0" err="1" smtClean="0"/>
              <a:t>sp_depends</a:t>
            </a:r>
            <a:r>
              <a:rPr lang="en-US" sz="2400" dirty="0" smtClean="0"/>
              <a:t> if you use SPs)</a:t>
            </a:r>
          </a:p>
          <a:p>
            <a:pPr lvl="1"/>
            <a:r>
              <a:rPr lang="en-US" sz="2400" dirty="0" smtClean="0"/>
              <a:t>Addressing bugs and problems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Complicated Logic [1]</a:t>
            </a:r>
            <a:endParaRPr lang="en-US" dirty="0"/>
          </a:p>
        </p:txBody>
      </p:sp>
      <p:pic>
        <p:nvPicPr>
          <p:cNvPr id="66562" name="Picture 2" descr="http://www.legalpracticeintelligence.com.au/userfiles/image/KM-It%27s-Complicat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133600"/>
            <a:ext cx="5238750" cy="3762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Access Tables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0175" y="1257300"/>
            <a:ext cx="3781425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" y="2754868"/>
            <a:ext cx="4953000" cy="43088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solidFill>
                  <a:schemeClr val="bg1"/>
                </a:solidFill>
                <a:latin typeface="+mj-lt"/>
              </a:rPr>
              <a:t>Classify a Character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67361"/>
            <a:ext cx="4953000" cy="132343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A table-driven method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is a scheme that allows you to look up information in a table rather than using logic statements (if and case) to figure it out.</a:t>
            </a:r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-609600" y="3321050"/>
          <a:ext cx="5867400" cy="3384550"/>
        </p:xfrm>
        <a:graphic>
          <a:graphicData uri="http://schemas.openxmlformats.org/presentationml/2006/ole">
            <p:oleObj spid="_x0000_s48130" name="Document" r:id="rId4" imgW="5940848" imgH="343788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Classifying a Character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4582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Put your program's knowledge into its </a:t>
            </a:r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data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rather than into its logic—in the table instead of in the if tests.</a:t>
            </a:r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060575" y="2360613"/>
          <a:ext cx="5868988" cy="3740150"/>
        </p:xfrm>
        <a:graphic>
          <a:graphicData uri="http://schemas.openxmlformats.org/presentationml/2006/ole">
            <p:oleObj spid="_x0000_s49154" name="Document" r:id="rId3" imgW="5940848" imgH="3788303" progId="Word.Document.12">
              <p:embed/>
            </p:oleObj>
          </a:graphicData>
        </a:graphic>
      </p:graphicFrame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28600" y="2412117"/>
            <a:ext cx="84582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private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static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IDictionary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&lt;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&gt;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{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1" eaLnBrk="0" hangingPunct="0"/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get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1" eaLnBrk="0" hangingPunct="0"/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{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IDictionary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&lt;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&gt;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new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Dictionary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&lt;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&gt;();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characterTypes.Add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'a'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"Letter"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characterTypes.Add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'b'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"Letter"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characterTypes.Add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'c'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"Letter"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//...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characterTypes.Add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'8'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"Digit"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characterTypes.Add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'9'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"Digit"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2" eaLnBrk="0" hangingPunct="0"/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return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lvl="1" eaLnBrk="0" hangingPunct="0"/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static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void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Main(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args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{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	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inputChar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Console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.ReadKey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().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KeyChar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Console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.WriteLine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(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CharacterTypes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inputChar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]);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Day-In-Month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-304800" y="1497013"/>
          <a:ext cx="5786438" cy="3684587"/>
        </p:xfrm>
        <a:graphic>
          <a:graphicData uri="http://schemas.openxmlformats.org/presentationml/2006/ole">
            <p:oleObj spid="_x0000_s50178" name="Document" r:id="rId3" imgW="5940848" imgH="3787943" progId="Word.Document.12">
              <p:embed/>
            </p:oleObj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676400" y="5029200"/>
          <a:ext cx="6959600" cy="1174750"/>
        </p:xfrm>
        <a:graphic>
          <a:graphicData uri="http://schemas.openxmlformats.org/presentationml/2006/ole">
            <p:oleObj spid="_x0000_s50179" name="Document" r:id="rId4" imgW="7062449" imgH="1188622" progId="Word.Document.12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4419600" y="5867400"/>
            <a:ext cx="1904496" cy="584775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+mj-lt"/>
              </a:rPr>
              <a:t>leap year?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Assigning the Category Numbers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720840"/>
            <a:ext cx="4648200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if ( ( a &amp;&amp; !c ) || ( a &amp;&amp; b &amp;&amp; c ) ) {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category = 1;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else if ( ( b &amp;&amp; !a ) || ( a &amp;&amp; c &amp;&amp; !b ) ) {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category = 2;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else if ( c &amp;&amp; !a &amp;&amp; !b ) {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category = 3;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else {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category = 0;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600200"/>
            <a:ext cx="386715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Insurance Rate</a:t>
            </a:r>
            <a:endParaRPr lang="en-US" dirty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95313" y="1379538"/>
          <a:ext cx="7778750" cy="5340350"/>
        </p:xfrm>
        <a:graphic>
          <a:graphicData uri="http://schemas.openxmlformats.org/presentationml/2006/ole">
            <p:oleObj spid="_x0000_s51202" name="Document" r:id="rId3" imgW="8168576" imgH="5805031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" y="685800"/>
            <a:ext cx="4762500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Indexed Access Tables</a:t>
            </a:r>
            <a:endParaRPr lang="en-US" dirty="0"/>
          </a:p>
        </p:txBody>
      </p:sp>
      <p:sp>
        <p:nvSpPr>
          <p:cNvPr id="2050" name="AutoShape 2" descr="mk:@MSITStore:D:\Teaching\Software%20Construction\Books\Code%20Complete,%202nd%20Edition.chm::/0735619670/images/0735619670/graphics/18fig04.gif"/>
          <p:cNvSpPr>
            <a:spLocks noChangeAspect="1" noChangeArrowheads="1"/>
          </p:cNvSpPr>
          <p:nvPr/>
        </p:nvSpPr>
        <p:spPr bwMode="auto">
          <a:xfrm>
            <a:off x="155575" y="-2819400"/>
            <a:ext cx="4762500" cy="58769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33600" y="1219200"/>
            <a:ext cx="67056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Rather than being accessed directly, an indexed access table is accessed via an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intermediate index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6336268"/>
            <a:ext cx="6858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" y="1371600"/>
            <a:ext cx="6858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0" y="5638800"/>
            <a:ext cx="6934200" cy="1015663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When you use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indexes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, you use the primary data to look up a key in an index table and then you use the value from the index table to look up the main data you're interested 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62200"/>
            <a:ext cx="3048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5105400"/>
            <a:ext cx="533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20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953000" y="2133600"/>
          <a:ext cx="1447800" cy="3094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89890"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77000" y="2133600"/>
          <a:ext cx="255390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587"/>
                <a:gridCol w="426720"/>
                <a:gridCol w="457200"/>
                <a:gridCol w="457200"/>
                <a:gridCol w="45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Stair-Step Access Tables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2362200"/>
            <a:ext cx="47339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1371600"/>
            <a:ext cx="861060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The stair-step approach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categorizes each entry by determining the level at which it hits a "staircase." The "step" it hits determines its category.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2362200"/>
          <a:ext cx="2667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Grade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Wingdings"/>
                        <a:buNone/>
                      </a:pPr>
                      <a:r>
                        <a:rPr lang="en-US" dirty="0" smtClean="0"/>
                        <a:t>&gt;=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8.5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7.5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&lt;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5410200"/>
            <a:ext cx="8610600" cy="1323439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To use the stair-step method, you put the upper end of each range into a table and then write a loop to check a score against the upper end of each range. When you find the point at which the score first exceeds the top of a range, you know what the grade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0" y="2667000"/>
            <a:ext cx="533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0" y="3200400"/>
            <a:ext cx="533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8.5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0" y="3733800"/>
            <a:ext cx="533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0" y="4267200"/>
            <a:ext cx="5334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7.5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Stair-Step Table Lookup</a:t>
            </a:r>
            <a:endParaRPr lang="en-US" dirty="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28600" y="2097881"/>
            <a:ext cx="8686800" cy="3693319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double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studentScore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6.8;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studentGrade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.Empty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double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scoreRange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new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double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{ 5, 6, 7.5, 8, 8.5, 9 };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grades =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new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[] {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"G"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"F"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"E"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"D"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"C"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"B"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"A"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};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for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count = 0; count &lt;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scoreRange.Length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 count++)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{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if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studentScore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&lt;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scoreRange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[count])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{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studentGrade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= grades[count];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break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   }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}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14051</TotalTime>
  <Words>1400</Words>
  <Application>Microsoft Office PowerPoint</Application>
  <PresentationFormat>On-screen Show (4:3)</PresentationFormat>
  <Paragraphs>274</Paragraphs>
  <Slides>46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Office Theme</vt:lpstr>
      <vt:lpstr>Document</vt:lpstr>
      <vt:lpstr>Program Optimization</vt:lpstr>
      <vt:lpstr>Objectives</vt:lpstr>
      <vt:lpstr>Contents</vt:lpstr>
      <vt:lpstr>References</vt:lpstr>
      <vt:lpstr>Performance Issue</vt:lpstr>
      <vt:lpstr>1. Monitor Web Requests</vt:lpstr>
      <vt:lpstr>2. Use IIS Worker Process</vt:lpstr>
      <vt:lpstr>Slide 8</vt:lpstr>
      <vt:lpstr>Web Application Performance Levels</vt:lpstr>
      <vt:lpstr>1. Use UI Bundling and Minification</vt:lpstr>
      <vt:lpstr>2. Use Data Transfer Compression</vt:lpstr>
      <vt:lpstr>3. Leverage Browser Caching</vt:lpstr>
      <vt:lpstr>Slide 13</vt:lpstr>
      <vt:lpstr>1. Detect Code Bottlenecks</vt:lpstr>
      <vt:lpstr>2. Avoid Inefficient Code [1]</vt:lpstr>
      <vt:lpstr>3. Select Appropriate Data Structures</vt:lpstr>
      <vt:lpstr>4. Select Appropriate Algorithms</vt:lpstr>
      <vt:lpstr>5. Use Low-Level Languages</vt:lpstr>
      <vt:lpstr>Slide 19</vt:lpstr>
      <vt:lpstr>1. Cache Data</vt:lpstr>
      <vt:lpstr>2. Install Redis on Ubuntu</vt:lpstr>
      <vt:lpstr>3. Call Redis APIs</vt:lpstr>
      <vt:lpstr>4. Enable Remote Connections for Redis</vt:lpstr>
      <vt:lpstr>5. Connect to a Remote Redis Server</vt:lpstr>
      <vt:lpstr>Install Redis on macOS</vt:lpstr>
      <vt:lpstr>Monitor .NET Memory Cache</vt:lpstr>
      <vt:lpstr>Slide 27</vt:lpstr>
      <vt:lpstr>1. Use 64bit Process</vt:lpstr>
      <vt:lpstr>2. Increase Hardware Capability</vt:lpstr>
      <vt:lpstr>Slide 30</vt:lpstr>
      <vt:lpstr>Optimize Data Access Speed</vt:lpstr>
      <vt:lpstr>Avoid Expensive Queries [2]</vt:lpstr>
      <vt:lpstr>Reduce Database Round Trips</vt:lpstr>
      <vt:lpstr>Manage Connection Pooling</vt:lpstr>
      <vt:lpstr>SQL Statements vs. Stored Procedures</vt:lpstr>
      <vt:lpstr>Slide 36</vt:lpstr>
      <vt:lpstr>Complicated Logic [1]</vt:lpstr>
      <vt:lpstr>Direct Access Tables</vt:lpstr>
      <vt:lpstr>Classifying a Character</vt:lpstr>
      <vt:lpstr>Day-In-Month</vt:lpstr>
      <vt:lpstr>Assigning the Category Numbers</vt:lpstr>
      <vt:lpstr>Insurance Rate</vt:lpstr>
      <vt:lpstr>Indexed Access Tables</vt:lpstr>
      <vt:lpstr>Stair-Step Access Tables</vt:lpstr>
      <vt:lpstr>Stair-Step Table Lookup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4268</cp:revision>
  <dcterms:created xsi:type="dcterms:W3CDTF">2007-10-06T08:25:13Z</dcterms:created>
  <dcterms:modified xsi:type="dcterms:W3CDTF">2025-03-21T18:13:05Z</dcterms:modified>
</cp:coreProperties>
</file>