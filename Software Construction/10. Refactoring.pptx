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docx" ContentType="application/vnd.openxmlformats-officedocument.wordprocessingml.document"/>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Default Extension="vml" ContentType="application/vnd.openxmlformats-officedocument.vmlDrawing"/>
  <Default Extension="gif" ContentType="image/gif"/>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emf" ContentType="image/x-em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3"/>
  </p:notesMasterIdLst>
  <p:sldIdLst>
    <p:sldId id="432" r:id="rId2"/>
    <p:sldId id="423" r:id="rId3"/>
    <p:sldId id="433" r:id="rId4"/>
    <p:sldId id="430" r:id="rId5"/>
    <p:sldId id="429" r:id="rId6"/>
    <p:sldId id="398" r:id="rId7"/>
    <p:sldId id="427" r:id="rId8"/>
    <p:sldId id="402" r:id="rId9"/>
    <p:sldId id="434" r:id="rId10"/>
    <p:sldId id="416" r:id="rId11"/>
    <p:sldId id="415" r:id="rId12"/>
    <p:sldId id="418" r:id="rId13"/>
    <p:sldId id="419" r:id="rId14"/>
    <p:sldId id="420" r:id="rId15"/>
    <p:sldId id="422" r:id="rId16"/>
    <p:sldId id="421" r:id="rId17"/>
    <p:sldId id="424" r:id="rId18"/>
    <p:sldId id="425" r:id="rId19"/>
    <p:sldId id="426" r:id="rId20"/>
    <p:sldId id="428" r:id="rId21"/>
    <p:sldId id="431"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17" autoAdjust="0"/>
    <p:restoredTop sz="94667" autoAdjust="0"/>
  </p:normalViewPr>
  <p:slideViewPr>
    <p:cSldViewPr>
      <p:cViewPr>
        <p:scale>
          <a:sx n="50" d="100"/>
          <a:sy n="50" d="100"/>
        </p:scale>
        <p:origin x="-1522"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6F5EBB-4BD4-408F-9DF6-98F5D69B6D59}" type="doc">
      <dgm:prSet loTypeId="urn:microsoft.com/office/officeart/2005/8/layout/cycle8" loCatId="cycle" qsTypeId="urn:microsoft.com/office/officeart/2005/8/quickstyle/simple1" qsCatId="simple" csTypeId="urn:microsoft.com/office/officeart/2005/8/colors/accent1_2" csCatId="accent1" phldr="1"/>
      <dgm:spPr/>
    </dgm:pt>
    <dgm:pt modelId="{4EC39AD9-FA5A-42DA-ADAE-E9342BADB608}">
      <dgm:prSet phldrT="[Text]" custT="1"/>
      <dgm:spPr/>
      <dgm:t>
        <a:bodyPr/>
        <a:lstStyle/>
        <a:p>
          <a:r>
            <a:rPr lang="en-US" sz="1800" dirty="0" smtClean="0"/>
            <a:t>Makes Software Easier to Understand</a:t>
          </a:r>
          <a:endParaRPr lang="en-US" sz="1800" dirty="0"/>
        </a:p>
      </dgm:t>
    </dgm:pt>
    <dgm:pt modelId="{7BE42619-DD95-4311-BFE1-2E9F24F79B9E}" type="parTrans" cxnId="{4DEA1E11-E343-4E63-990B-FFEE08C2B17E}">
      <dgm:prSet/>
      <dgm:spPr/>
      <dgm:t>
        <a:bodyPr/>
        <a:lstStyle/>
        <a:p>
          <a:endParaRPr lang="en-US"/>
        </a:p>
      </dgm:t>
    </dgm:pt>
    <dgm:pt modelId="{4E1CC3A6-02E8-421A-AA2D-9866926BEB75}" type="sibTrans" cxnId="{4DEA1E11-E343-4E63-990B-FFEE08C2B17E}">
      <dgm:prSet/>
      <dgm:spPr/>
      <dgm:t>
        <a:bodyPr/>
        <a:lstStyle/>
        <a:p>
          <a:endParaRPr lang="en-US"/>
        </a:p>
      </dgm:t>
    </dgm:pt>
    <dgm:pt modelId="{812B22C4-773C-4FDC-87F7-0D6C6725EEB6}">
      <dgm:prSet phldrT="[Text]" custT="1"/>
      <dgm:spPr/>
      <dgm:t>
        <a:bodyPr/>
        <a:lstStyle/>
        <a:p>
          <a:r>
            <a:rPr lang="en-US" sz="1800" dirty="0" smtClean="0"/>
            <a:t>Improves the Design of Software</a:t>
          </a:r>
          <a:endParaRPr lang="en-US" sz="1800" dirty="0"/>
        </a:p>
      </dgm:t>
    </dgm:pt>
    <dgm:pt modelId="{3DD08BC9-53A9-4461-8E7E-B8DE5C7424B5}" type="sibTrans" cxnId="{AAF0494B-B9CE-4296-85CF-2416F6272B93}">
      <dgm:prSet/>
      <dgm:spPr/>
      <dgm:t>
        <a:bodyPr/>
        <a:lstStyle/>
        <a:p>
          <a:endParaRPr lang="en-US"/>
        </a:p>
      </dgm:t>
    </dgm:pt>
    <dgm:pt modelId="{F42C6A3D-B5C5-46D2-A9CD-36771DC4CC61}" type="parTrans" cxnId="{AAF0494B-B9CE-4296-85CF-2416F6272B93}">
      <dgm:prSet/>
      <dgm:spPr/>
      <dgm:t>
        <a:bodyPr/>
        <a:lstStyle/>
        <a:p>
          <a:endParaRPr lang="en-US"/>
        </a:p>
      </dgm:t>
    </dgm:pt>
    <dgm:pt modelId="{79394ECB-9D08-4F2A-A40D-79CBAD72166D}" type="pres">
      <dgm:prSet presAssocID="{B76F5EBB-4BD4-408F-9DF6-98F5D69B6D59}" presName="compositeShape" presStyleCnt="0">
        <dgm:presLayoutVars>
          <dgm:chMax val="7"/>
          <dgm:dir/>
          <dgm:resizeHandles val="exact"/>
        </dgm:presLayoutVars>
      </dgm:prSet>
      <dgm:spPr/>
    </dgm:pt>
    <dgm:pt modelId="{81A2AFAE-DDBB-4F7C-AF05-0B4F2FA7670A}" type="pres">
      <dgm:prSet presAssocID="{B76F5EBB-4BD4-408F-9DF6-98F5D69B6D59}" presName="wedge1" presStyleLbl="node1" presStyleIdx="0" presStyleCnt="2"/>
      <dgm:spPr/>
      <dgm:t>
        <a:bodyPr/>
        <a:lstStyle/>
        <a:p>
          <a:endParaRPr lang="en-US"/>
        </a:p>
      </dgm:t>
    </dgm:pt>
    <dgm:pt modelId="{BC037DF5-00CD-46F5-BAD6-97159AA94F45}" type="pres">
      <dgm:prSet presAssocID="{B76F5EBB-4BD4-408F-9DF6-98F5D69B6D59}" presName="dummy1a" presStyleCnt="0"/>
      <dgm:spPr/>
    </dgm:pt>
    <dgm:pt modelId="{A4405981-55F9-4800-AAA9-14F7D9548778}" type="pres">
      <dgm:prSet presAssocID="{B76F5EBB-4BD4-408F-9DF6-98F5D69B6D59}" presName="dummy1b" presStyleCnt="0"/>
      <dgm:spPr/>
    </dgm:pt>
    <dgm:pt modelId="{C93FDF2E-571E-4EA8-9499-E6772E0DA1E2}" type="pres">
      <dgm:prSet presAssocID="{B76F5EBB-4BD4-408F-9DF6-98F5D69B6D59}" presName="wedge1Tx" presStyleLbl="node1" presStyleIdx="0" presStyleCnt="2">
        <dgm:presLayoutVars>
          <dgm:chMax val="0"/>
          <dgm:chPref val="0"/>
          <dgm:bulletEnabled val="1"/>
        </dgm:presLayoutVars>
      </dgm:prSet>
      <dgm:spPr/>
      <dgm:t>
        <a:bodyPr/>
        <a:lstStyle/>
        <a:p>
          <a:endParaRPr lang="en-US"/>
        </a:p>
      </dgm:t>
    </dgm:pt>
    <dgm:pt modelId="{D4A80362-8CBA-4448-9DFD-17C7B5939BD2}" type="pres">
      <dgm:prSet presAssocID="{B76F5EBB-4BD4-408F-9DF6-98F5D69B6D59}" presName="wedge2" presStyleLbl="node1" presStyleIdx="1" presStyleCnt="2"/>
      <dgm:spPr/>
      <dgm:t>
        <a:bodyPr/>
        <a:lstStyle/>
        <a:p>
          <a:endParaRPr lang="en-US"/>
        </a:p>
      </dgm:t>
    </dgm:pt>
    <dgm:pt modelId="{1EBDDE43-4484-44B2-8403-6B3C907C023E}" type="pres">
      <dgm:prSet presAssocID="{B76F5EBB-4BD4-408F-9DF6-98F5D69B6D59}" presName="dummy2a" presStyleCnt="0"/>
      <dgm:spPr/>
    </dgm:pt>
    <dgm:pt modelId="{FF73089B-5C59-49A3-B3B8-8E363F081528}" type="pres">
      <dgm:prSet presAssocID="{B76F5EBB-4BD4-408F-9DF6-98F5D69B6D59}" presName="dummy2b" presStyleCnt="0"/>
      <dgm:spPr/>
    </dgm:pt>
    <dgm:pt modelId="{CCA0E30F-FB4B-45C0-8465-552D70C801DA}" type="pres">
      <dgm:prSet presAssocID="{B76F5EBB-4BD4-408F-9DF6-98F5D69B6D59}" presName="wedge2Tx" presStyleLbl="node1" presStyleIdx="1" presStyleCnt="2">
        <dgm:presLayoutVars>
          <dgm:chMax val="0"/>
          <dgm:chPref val="0"/>
          <dgm:bulletEnabled val="1"/>
        </dgm:presLayoutVars>
      </dgm:prSet>
      <dgm:spPr/>
      <dgm:t>
        <a:bodyPr/>
        <a:lstStyle/>
        <a:p>
          <a:endParaRPr lang="en-US"/>
        </a:p>
      </dgm:t>
    </dgm:pt>
    <dgm:pt modelId="{E0C5BA0B-29AE-4E18-8AA8-0C3BCFF9E6C0}" type="pres">
      <dgm:prSet presAssocID="{4E1CC3A6-02E8-421A-AA2D-9866926BEB75}" presName="arrowWedge1" presStyleLbl="fgSibTrans2D1" presStyleIdx="0" presStyleCnt="2"/>
      <dgm:spPr/>
      <dgm:t>
        <a:bodyPr/>
        <a:lstStyle/>
        <a:p>
          <a:endParaRPr lang="en-US"/>
        </a:p>
      </dgm:t>
    </dgm:pt>
    <dgm:pt modelId="{28358436-2AF0-42FC-91C1-6ED6D59A3BE4}" type="pres">
      <dgm:prSet presAssocID="{3DD08BC9-53A9-4461-8E7E-B8DE5C7424B5}" presName="arrowWedge2" presStyleLbl="fgSibTrans2D1" presStyleIdx="1" presStyleCnt="2"/>
      <dgm:spPr/>
    </dgm:pt>
  </dgm:ptLst>
  <dgm:cxnLst>
    <dgm:cxn modelId="{AAF0494B-B9CE-4296-85CF-2416F6272B93}" srcId="{B76F5EBB-4BD4-408F-9DF6-98F5D69B6D59}" destId="{812B22C4-773C-4FDC-87F7-0D6C6725EEB6}" srcOrd="1" destOrd="0" parTransId="{F42C6A3D-B5C5-46D2-A9CD-36771DC4CC61}" sibTransId="{3DD08BC9-53A9-4461-8E7E-B8DE5C7424B5}"/>
    <dgm:cxn modelId="{424D2993-45F4-43E7-852C-CFE639E7F415}" type="presOf" srcId="{812B22C4-773C-4FDC-87F7-0D6C6725EEB6}" destId="{CCA0E30F-FB4B-45C0-8465-552D70C801DA}" srcOrd="1" destOrd="0" presId="urn:microsoft.com/office/officeart/2005/8/layout/cycle8"/>
    <dgm:cxn modelId="{34232655-94B0-4424-B538-96520D15AA34}" type="presOf" srcId="{B76F5EBB-4BD4-408F-9DF6-98F5D69B6D59}" destId="{79394ECB-9D08-4F2A-A40D-79CBAD72166D}" srcOrd="0" destOrd="0" presId="urn:microsoft.com/office/officeart/2005/8/layout/cycle8"/>
    <dgm:cxn modelId="{DB935B2C-2A12-47C8-8B9A-F786458F764D}" type="presOf" srcId="{812B22C4-773C-4FDC-87F7-0D6C6725EEB6}" destId="{D4A80362-8CBA-4448-9DFD-17C7B5939BD2}" srcOrd="0" destOrd="0" presId="urn:microsoft.com/office/officeart/2005/8/layout/cycle8"/>
    <dgm:cxn modelId="{397B8D49-41E8-41D3-B7FA-860A7CAEC849}" type="presOf" srcId="{4EC39AD9-FA5A-42DA-ADAE-E9342BADB608}" destId="{81A2AFAE-DDBB-4F7C-AF05-0B4F2FA7670A}" srcOrd="0" destOrd="0" presId="urn:microsoft.com/office/officeart/2005/8/layout/cycle8"/>
    <dgm:cxn modelId="{4DEA1E11-E343-4E63-990B-FFEE08C2B17E}" srcId="{B76F5EBB-4BD4-408F-9DF6-98F5D69B6D59}" destId="{4EC39AD9-FA5A-42DA-ADAE-E9342BADB608}" srcOrd="0" destOrd="0" parTransId="{7BE42619-DD95-4311-BFE1-2E9F24F79B9E}" sibTransId="{4E1CC3A6-02E8-421A-AA2D-9866926BEB75}"/>
    <dgm:cxn modelId="{02D5D421-D4F6-4851-8424-1964F87A4ADC}" type="presOf" srcId="{4EC39AD9-FA5A-42DA-ADAE-E9342BADB608}" destId="{C93FDF2E-571E-4EA8-9499-E6772E0DA1E2}" srcOrd="1" destOrd="0" presId="urn:microsoft.com/office/officeart/2005/8/layout/cycle8"/>
    <dgm:cxn modelId="{BDF5C08B-1590-45B1-A049-27D4A1DAB693}" type="presParOf" srcId="{79394ECB-9D08-4F2A-A40D-79CBAD72166D}" destId="{81A2AFAE-DDBB-4F7C-AF05-0B4F2FA7670A}" srcOrd="0" destOrd="0" presId="urn:microsoft.com/office/officeart/2005/8/layout/cycle8"/>
    <dgm:cxn modelId="{09803777-365D-439C-8952-4CADCAB5550D}" type="presParOf" srcId="{79394ECB-9D08-4F2A-A40D-79CBAD72166D}" destId="{BC037DF5-00CD-46F5-BAD6-97159AA94F45}" srcOrd="1" destOrd="0" presId="urn:microsoft.com/office/officeart/2005/8/layout/cycle8"/>
    <dgm:cxn modelId="{82BB226C-33EA-4E79-B4E2-C18537E94A4F}" type="presParOf" srcId="{79394ECB-9D08-4F2A-A40D-79CBAD72166D}" destId="{A4405981-55F9-4800-AAA9-14F7D9548778}" srcOrd="2" destOrd="0" presId="urn:microsoft.com/office/officeart/2005/8/layout/cycle8"/>
    <dgm:cxn modelId="{A40B9DD3-2132-418C-AC82-105EA975E54E}" type="presParOf" srcId="{79394ECB-9D08-4F2A-A40D-79CBAD72166D}" destId="{C93FDF2E-571E-4EA8-9499-E6772E0DA1E2}" srcOrd="3" destOrd="0" presId="urn:microsoft.com/office/officeart/2005/8/layout/cycle8"/>
    <dgm:cxn modelId="{7F1FF848-FE06-40C8-AE90-371A71908AC9}" type="presParOf" srcId="{79394ECB-9D08-4F2A-A40D-79CBAD72166D}" destId="{D4A80362-8CBA-4448-9DFD-17C7B5939BD2}" srcOrd="4" destOrd="0" presId="urn:microsoft.com/office/officeart/2005/8/layout/cycle8"/>
    <dgm:cxn modelId="{AA26C88F-DC8E-4B82-BF16-3BA3395BD7F7}" type="presParOf" srcId="{79394ECB-9D08-4F2A-A40D-79CBAD72166D}" destId="{1EBDDE43-4484-44B2-8403-6B3C907C023E}" srcOrd="5" destOrd="0" presId="urn:microsoft.com/office/officeart/2005/8/layout/cycle8"/>
    <dgm:cxn modelId="{B51B5C1A-78D3-4F68-9745-2F08E18F9803}" type="presParOf" srcId="{79394ECB-9D08-4F2A-A40D-79CBAD72166D}" destId="{FF73089B-5C59-49A3-B3B8-8E363F081528}" srcOrd="6" destOrd="0" presId="urn:microsoft.com/office/officeart/2005/8/layout/cycle8"/>
    <dgm:cxn modelId="{347EF9E5-51C6-468E-8118-92BC9B4510FA}" type="presParOf" srcId="{79394ECB-9D08-4F2A-A40D-79CBAD72166D}" destId="{CCA0E30F-FB4B-45C0-8465-552D70C801DA}" srcOrd="7" destOrd="0" presId="urn:microsoft.com/office/officeart/2005/8/layout/cycle8"/>
    <dgm:cxn modelId="{8970884D-9DAC-4D12-B0A1-5C05BDE78177}" type="presParOf" srcId="{79394ECB-9D08-4F2A-A40D-79CBAD72166D}" destId="{E0C5BA0B-29AE-4E18-8AA8-0C3BCFF9E6C0}" srcOrd="8" destOrd="0" presId="urn:microsoft.com/office/officeart/2005/8/layout/cycle8"/>
    <dgm:cxn modelId="{41872F30-A226-4204-BC02-DDD4C43BB6B4}" type="presParOf" srcId="{79394ECB-9D08-4F2A-A40D-79CBAD72166D}" destId="{28358436-2AF0-42FC-91C1-6ED6D59A3BE4}" srcOrd="9" destOrd="0" presId="urn:microsoft.com/office/officeart/2005/8/layout/cycle8"/>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CB111A-FDFF-4E45-9739-91B0234BE42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9271477-2C79-4FCE-A73C-DB29B127D9B5}">
      <dgm:prSet phldrT="[Text]" custT="1"/>
      <dgm:spPr/>
      <dgm:t>
        <a:bodyPr/>
        <a:lstStyle/>
        <a:p>
          <a:r>
            <a:rPr lang="en-US" sz="2200" dirty="0" err="1" smtClean="0"/>
            <a:t>Refactor</a:t>
          </a:r>
          <a:r>
            <a:rPr lang="en-US" sz="2200" dirty="0" smtClean="0"/>
            <a:t> When You Add Function</a:t>
          </a:r>
          <a:endParaRPr lang="en-US" sz="2200" dirty="0"/>
        </a:p>
      </dgm:t>
    </dgm:pt>
    <dgm:pt modelId="{5849FA6E-7ADF-4376-84C1-B271FB31572E}" type="parTrans" cxnId="{85515E6B-9605-4424-BF04-21C0D8CC7C8E}">
      <dgm:prSet/>
      <dgm:spPr/>
      <dgm:t>
        <a:bodyPr/>
        <a:lstStyle/>
        <a:p>
          <a:endParaRPr lang="en-US"/>
        </a:p>
      </dgm:t>
    </dgm:pt>
    <dgm:pt modelId="{FB42B203-1D53-4FFF-AF75-74DFC694EFF4}" type="sibTrans" cxnId="{85515E6B-9605-4424-BF04-21C0D8CC7C8E}">
      <dgm:prSet/>
      <dgm:spPr/>
      <dgm:t>
        <a:bodyPr/>
        <a:lstStyle/>
        <a:p>
          <a:endParaRPr lang="en-US"/>
        </a:p>
      </dgm:t>
    </dgm:pt>
    <dgm:pt modelId="{6AFE807A-0538-45A3-B579-044D38EE0B21}">
      <dgm:prSet phldrT="[Text]" custT="1"/>
      <dgm:spPr/>
      <dgm:t>
        <a:bodyPr/>
        <a:lstStyle/>
        <a:p>
          <a:r>
            <a:rPr lang="en-US" sz="2200" dirty="0" err="1" smtClean="0"/>
            <a:t>Refactor</a:t>
          </a:r>
          <a:r>
            <a:rPr lang="en-US" sz="2200" dirty="0" smtClean="0"/>
            <a:t> When You Need to Fix a Bug</a:t>
          </a:r>
          <a:endParaRPr lang="en-US" sz="2200" dirty="0"/>
        </a:p>
      </dgm:t>
    </dgm:pt>
    <dgm:pt modelId="{A950EEF4-EDA9-482D-B310-5F4AEB2BF92A}" type="parTrans" cxnId="{4F331897-14D3-472B-A2A5-48D3D283C95F}">
      <dgm:prSet/>
      <dgm:spPr/>
      <dgm:t>
        <a:bodyPr/>
        <a:lstStyle/>
        <a:p>
          <a:endParaRPr lang="en-US"/>
        </a:p>
      </dgm:t>
    </dgm:pt>
    <dgm:pt modelId="{00297C2B-0FBE-42C4-B6B3-2779CA165CB9}" type="sibTrans" cxnId="{4F331897-14D3-472B-A2A5-48D3D283C95F}">
      <dgm:prSet/>
      <dgm:spPr/>
      <dgm:t>
        <a:bodyPr/>
        <a:lstStyle/>
        <a:p>
          <a:endParaRPr lang="en-US"/>
        </a:p>
      </dgm:t>
    </dgm:pt>
    <dgm:pt modelId="{FE0C8F38-75B6-48CC-ABAC-50B264240DE3}">
      <dgm:prSet phldrT="[Text]" custT="1"/>
      <dgm:spPr/>
      <dgm:t>
        <a:bodyPr/>
        <a:lstStyle/>
        <a:p>
          <a:r>
            <a:rPr lang="en-US" sz="2200" dirty="0" err="1" smtClean="0"/>
            <a:t>Refactor</a:t>
          </a:r>
          <a:r>
            <a:rPr lang="en-US" sz="2200" dirty="0" smtClean="0"/>
            <a:t> As You Do a Code Review</a:t>
          </a:r>
          <a:endParaRPr lang="en-US" sz="2200" dirty="0"/>
        </a:p>
      </dgm:t>
    </dgm:pt>
    <dgm:pt modelId="{7832CE11-8DAB-464C-9C06-FFCE7E178ADC}" type="parTrans" cxnId="{28E44706-07B2-4B38-A157-8C736D90246A}">
      <dgm:prSet/>
      <dgm:spPr/>
      <dgm:t>
        <a:bodyPr/>
        <a:lstStyle/>
        <a:p>
          <a:endParaRPr lang="en-US"/>
        </a:p>
      </dgm:t>
    </dgm:pt>
    <dgm:pt modelId="{65F9C6FE-E24E-43C4-BDAC-3FB39196FB41}" type="sibTrans" cxnId="{28E44706-07B2-4B38-A157-8C736D90246A}">
      <dgm:prSet/>
      <dgm:spPr/>
      <dgm:t>
        <a:bodyPr/>
        <a:lstStyle/>
        <a:p>
          <a:endParaRPr lang="en-US"/>
        </a:p>
      </dgm:t>
    </dgm:pt>
    <dgm:pt modelId="{73C612C6-493A-4FBD-BFBD-B4856C4765A1}" type="pres">
      <dgm:prSet presAssocID="{CECB111A-FDFF-4E45-9739-91B0234BE421}" presName="linear" presStyleCnt="0">
        <dgm:presLayoutVars>
          <dgm:dir/>
          <dgm:animLvl val="lvl"/>
          <dgm:resizeHandles val="exact"/>
        </dgm:presLayoutVars>
      </dgm:prSet>
      <dgm:spPr/>
      <dgm:t>
        <a:bodyPr/>
        <a:lstStyle/>
        <a:p>
          <a:endParaRPr lang="en-US"/>
        </a:p>
      </dgm:t>
    </dgm:pt>
    <dgm:pt modelId="{A57107FC-5DAF-419A-935F-9D406E697AA4}" type="pres">
      <dgm:prSet presAssocID="{39271477-2C79-4FCE-A73C-DB29B127D9B5}" presName="parentLin" presStyleCnt="0"/>
      <dgm:spPr/>
    </dgm:pt>
    <dgm:pt modelId="{7B19A39A-3E89-4B4F-8F14-446B66DCF2D0}" type="pres">
      <dgm:prSet presAssocID="{39271477-2C79-4FCE-A73C-DB29B127D9B5}" presName="parentLeftMargin" presStyleLbl="node1" presStyleIdx="0" presStyleCnt="3"/>
      <dgm:spPr/>
      <dgm:t>
        <a:bodyPr/>
        <a:lstStyle/>
        <a:p>
          <a:endParaRPr lang="en-US"/>
        </a:p>
      </dgm:t>
    </dgm:pt>
    <dgm:pt modelId="{10A4F778-80A8-4974-9318-80C1D98F1EAB}" type="pres">
      <dgm:prSet presAssocID="{39271477-2C79-4FCE-A73C-DB29B127D9B5}" presName="parentText" presStyleLbl="node1" presStyleIdx="0" presStyleCnt="3" custScaleX="128104">
        <dgm:presLayoutVars>
          <dgm:chMax val="0"/>
          <dgm:bulletEnabled val="1"/>
        </dgm:presLayoutVars>
      </dgm:prSet>
      <dgm:spPr/>
      <dgm:t>
        <a:bodyPr/>
        <a:lstStyle/>
        <a:p>
          <a:endParaRPr lang="en-US"/>
        </a:p>
      </dgm:t>
    </dgm:pt>
    <dgm:pt modelId="{EFAB9186-7AB0-4D53-8AD7-4A82A0EBF12A}" type="pres">
      <dgm:prSet presAssocID="{39271477-2C79-4FCE-A73C-DB29B127D9B5}" presName="negativeSpace" presStyleCnt="0"/>
      <dgm:spPr/>
    </dgm:pt>
    <dgm:pt modelId="{83A3CE02-28B5-4FAD-AFA4-C6F4D9235651}" type="pres">
      <dgm:prSet presAssocID="{39271477-2C79-4FCE-A73C-DB29B127D9B5}" presName="childText" presStyleLbl="conFgAcc1" presStyleIdx="0" presStyleCnt="3">
        <dgm:presLayoutVars>
          <dgm:bulletEnabled val="1"/>
        </dgm:presLayoutVars>
      </dgm:prSet>
      <dgm:spPr/>
    </dgm:pt>
    <dgm:pt modelId="{7870F5DE-C78E-4710-9C6C-28C31FD83CC6}" type="pres">
      <dgm:prSet presAssocID="{FB42B203-1D53-4FFF-AF75-74DFC694EFF4}" presName="spaceBetweenRectangles" presStyleCnt="0"/>
      <dgm:spPr/>
    </dgm:pt>
    <dgm:pt modelId="{38DAC78B-FDC7-4548-9BEB-5712B8FC732E}" type="pres">
      <dgm:prSet presAssocID="{6AFE807A-0538-45A3-B579-044D38EE0B21}" presName="parentLin" presStyleCnt="0"/>
      <dgm:spPr/>
    </dgm:pt>
    <dgm:pt modelId="{787C297C-9394-41C8-BD69-29B685D3F785}" type="pres">
      <dgm:prSet presAssocID="{6AFE807A-0538-45A3-B579-044D38EE0B21}" presName="parentLeftMargin" presStyleLbl="node1" presStyleIdx="0" presStyleCnt="3"/>
      <dgm:spPr/>
      <dgm:t>
        <a:bodyPr/>
        <a:lstStyle/>
        <a:p>
          <a:endParaRPr lang="en-US"/>
        </a:p>
      </dgm:t>
    </dgm:pt>
    <dgm:pt modelId="{EEB6F7C7-05C5-4FB0-B6DD-21E49FCCF90C}" type="pres">
      <dgm:prSet presAssocID="{6AFE807A-0538-45A3-B579-044D38EE0B21}" presName="parentText" presStyleLbl="node1" presStyleIdx="1" presStyleCnt="3" custScaleX="128104">
        <dgm:presLayoutVars>
          <dgm:chMax val="0"/>
          <dgm:bulletEnabled val="1"/>
        </dgm:presLayoutVars>
      </dgm:prSet>
      <dgm:spPr/>
      <dgm:t>
        <a:bodyPr/>
        <a:lstStyle/>
        <a:p>
          <a:endParaRPr lang="en-US"/>
        </a:p>
      </dgm:t>
    </dgm:pt>
    <dgm:pt modelId="{46725337-EE91-414C-8112-D5C7B1D62358}" type="pres">
      <dgm:prSet presAssocID="{6AFE807A-0538-45A3-B579-044D38EE0B21}" presName="negativeSpace" presStyleCnt="0"/>
      <dgm:spPr/>
    </dgm:pt>
    <dgm:pt modelId="{1CBEF746-1EA9-47EC-8D28-66615FEDDB13}" type="pres">
      <dgm:prSet presAssocID="{6AFE807A-0538-45A3-B579-044D38EE0B21}" presName="childText" presStyleLbl="conFgAcc1" presStyleIdx="1" presStyleCnt="3">
        <dgm:presLayoutVars>
          <dgm:bulletEnabled val="1"/>
        </dgm:presLayoutVars>
      </dgm:prSet>
      <dgm:spPr/>
    </dgm:pt>
    <dgm:pt modelId="{AB474AA8-4D30-46E1-AF3E-FA6F04706F1F}" type="pres">
      <dgm:prSet presAssocID="{00297C2B-0FBE-42C4-B6B3-2779CA165CB9}" presName="spaceBetweenRectangles" presStyleCnt="0"/>
      <dgm:spPr/>
    </dgm:pt>
    <dgm:pt modelId="{8ED5990B-5883-4EAF-A7E0-EC27810EC136}" type="pres">
      <dgm:prSet presAssocID="{FE0C8F38-75B6-48CC-ABAC-50B264240DE3}" presName="parentLin" presStyleCnt="0"/>
      <dgm:spPr/>
    </dgm:pt>
    <dgm:pt modelId="{7B1517DE-31D7-4A0D-B534-DDE56CE8272D}" type="pres">
      <dgm:prSet presAssocID="{FE0C8F38-75B6-48CC-ABAC-50B264240DE3}" presName="parentLeftMargin" presStyleLbl="node1" presStyleIdx="1" presStyleCnt="3"/>
      <dgm:spPr/>
      <dgm:t>
        <a:bodyPr/>
        <a:lstStyle/>
        <a:p>
          <a:endParaRPr lang="en-US"/>
        </a:p>
      </dgm:t>
    </dgm:pt>
    <dgm:pt modelId="{2392317F-AA09-43B9-829F-AB4084E0AC43}" type="pres">
      <dgm:prSet presAssocID="{FE0C8F38-75B6-48CC-ABAC-50B264240DE3}" presName="parentText" presStyleLbl="node1" presStyleIdx="2" presStyleCnt="3" custScaleX="128104">
        <dgm:presLayoutVars>
          <dgm:chMax val="0"/>
          <dgm:bulletEnabled val="1"/>
        </dgm:presLayoutVars>
      </dgm:prSet>
      <dgm:spPr/>
      <dgm:t>
        <a:bodyPr/>
        <a:lstStyle/>
        <a:p>
          <a:endParaRPr lang="en-US"/>
        </a:p>
      </dgm:t>
    </dgm:pt>
    <dgm:pt modelId="{13F64C12-8109-491C-BEC1-821507ED2293}" type="pres">
      <dgm:prSet presAssocID="{FE0C8F38-75B6-48CC-ABAC-50B264240DE3}" presName="negativeSpace" presStyleCnt="0"/>
      <dgm:spPr/>
    </dgm:pt>
    <dgm:pt modelId="{23036697-3052-4B65-B5B7-1CBE4BE3D1BA}" type="pres">
      <dgm:prSet presAssocID="{FE0C8F38-75B6-48CC-ABAC-50B264240DE3}" presName="childText" presStyleLbl="conFgAcc1" presStyleIdx="2" presStyleCnt="3">
        <dgm:presLayoutVars>
          <dgm:bulletEnabled val="1"/>
        </dgm:presLayoutVars>
      </dgm:prSet>
      <dgm:spPr/>
    </dgm:pt>
  </dgm:ptLst>
  <dgm:cxnLst>
    <dgm:cxn modelId="{BA3EEB58-C5D4-43D5-932C-8E18D8AC4C63}" type="presOf" srcId="{FE0C8F38-75B6-48CC-ABAC-50B264240DE3}" destId="{2392317F-AA09-43B9-829F-AB4084E0AC43}" srcOrd="1" destOrd="0" presId="urn:microsoft.com/office/officeart/2005/8/layout/list1"/>
    <dgm:cxn modelId="{F38D134A-D873-4222-953C-40DAF8E90C35}" type="presOf" srcId="{39271477-2C79-4FCE-A73C-DB29B127D9B5}" destId="{10A4F778-80A8-4974-9318-80C1D98F1EAB}" srcOrd="1" destOrd="0" presId="urn:microsoft.com/office/officeart/2005/8/layout/list1"/>
    <dgm:cxn modelId="{E19A49BE-5700-42ED-89CA-1F7459C3B390}" type="presOf" srcId="{39271477-2C79-4FCE-A73C-DB29B127D9B5}" destId="{7B19A39A-3E89-4B4F-8F14-446B66DCF2D0}" srcOrd="0" destOrd="0" presId="urn:microsoft.com/office/officeart/2005/8/layout/list1"/>
    <dgm:cxn modelId="{263249C3-7641-418E-8B6B-9888A0BCCF78}" type="presOf" srcId="{FE0C8F38-75B6-48CC-ABAC-50B264240DE3}" destId="{7B1517DE-31D7-4A0D-B534-DDE56CE8272D}" srcOrd="0" destOrd="0" presId="urn:microsoft.com/office/officeart/2005/8/layout/list1"/>
    <dgm:cxn modelId="{4F331897-14D3-472B-A2A5-48D3D283C95F}" srcId="{CECB111A-FDFF-4E45-9739-91B0234BE421}" destId="{6AFE807A-0538-45A3-B579-044D38EE0B21}" srcOrd="1" destOrd="0" parTransId="{A950EEF4-EDA9-482D-B310-5F4AEB2BF92A}" sibTransId="{00297C2B-0FBE-42C4-B6B3-2779CA165CB9}"/>
    <dgm:cxn modelId="{45D1BA4E-0E93-40E2-BE6D-A9FA105C4744}" type="presOf" srcId="{6AFE807A-0538-45A3-B579-044D38EE0B21}" destId="{EEB6F7C7-05C5-4FB0-B6DD-21E49FCCF90C}" srcOrd="1" destOrd="0" presId="urn:microsoft.com/office/officeart/2005/8/layout/list1"/>
    <dgm:cxn modelId="{28E44706-07B2-4B38-A157-8C736D90246A}" srcId="{CECB111A-FDFF-4E45-9739-91B0234BE421}" destId="{FE0C8F38-75B6-48CC-ABAC-50B264240DE3}" srcOrd="2" destOrd="0" parTransId="{7832CE11-8DAB-464C-9C06-FFCE7E178ADC}" sibTransId="{65F9C6FE-E24E-43C4-BDAC-3FB39196FB41}"/>
    <dgm:cxn modelId="{85515E6B-9605-4424-BF04-21C0D8CC7C8E}" srcId="{CECB111A-FDFF-4E45-9739-91B0234BE421}" destId="{39271477-2C79-4FCE-A73C-DB29B127D9B5}" srcOrd="0" destOrd="0" parTransId="{5849FA6E-7ADF-4376-84C1-B271FB31572E}" sibTransId="{FB42B203-1D53-4FFF-AF75-74DFC694EFF4}"/>
    <dgm:cxn modelId="{34C6A652-729D-4DD8-BF8B-62D49216F5A3}" type="presOf" srcId="{6AFE807A-0538-45A3-B579-044D38EE0B21}" destId="{787C297C-9394-41C8-BD69-29B685D3F785}" srcOrd="0" destOrd="0" presId="urn:microsoft.com/office/officeart/2005/8/layout/list1"/>
    <dgm:cxn modelId="{B2B45189-71AF-41ED-A7C1-4D6120903D07}" type="presOf" srcId="{CECB111A-FDFF-4E45-9739-91B0234BE421}" destId="{73C612C6-493A-4FBD-BFBD-B4856C4765A1}" srcOrd="0" destOrd="0" presId="urn:microsoft.com/office/officeart/2005/8/layout/list1"/>
    <dgm:cxn modelId="{057E7EA0-00A5-4541-8967-272FCAFCF7B3}" type="presParOf" srcId="{73C612C6-493A-4FBD-BFBD-B4856C4765A1}" destId="{A57107FC-5DAF-419A-935F-9D406E697AA4}" srcOrd="0" destOrd="0" presId="urn:microsoft.com/office/officeart/2005/8/layout/list1"/>
    <dgm:cxn modelId="{3A89AF35-3A59-47D7-A162-2303B17B8EFF}" type="presParOf" srcId="{A57107FC-5DAF-419A-935F-9D406E697AA4}" destId="{7B19A39A-3E89-4B4F-8F14-446B66DCF2D0}" srcOrd="0" destOrd="0" presId="urn:microsoft.com/office/officeart/2005/8/layout/list1"/>
    <dgm:cxn modelId="{1104EAC9-5464-4D24-97FE-4E7170FFF266}" type="presParOf" srcId="{A57107FC-5DAF-419A-935F-9D406E697AA4}" destId="{10A4F778-80A8-4974-9318-80C1D98F1EAB}" srcOrd="1" destOrd="0" presId="urn:microsoft.com/office/officeart/2005/8/layout/list1"/>
    <dgm:cxn modelId="{0E96DAF6-1F03-488A-A1FE-DC6AEF6F401F}" type="presParOf" srcId="{73C612C6-493A-4FBD-BFBD-B4856C4765A1}" destId="{EFAB9186-7AB0-4D53-8AD7-4A82A0EBF12A}" srcOrd="1" destOrd="0" presId="urn:microsoft.com/office/officeart/2005/8/layout/list1"/>
    <dgm:cxn modelId="{C71BDCE0-9C29-47E0-A8E3-BF44CD8E988F}" type="presParOf" srcId="{73C612C6-493A-4FBD-BFBD-B4856C4765A1}" destId="{83A3CE02-28B5-4FAD-AFA4-C6F4D9235651}" srcOrd="2" destOrd="0" presId="urn:microsoft.com/office/officeart/2005/8/layout/list1"/>
    <dgm:cxn modelId="{84DD0D96-9500-45BE-9E5F-961DE751046E}" type="presParOf" srcId="{73C612C6-493A-4FBD-BFBD-B4856C4765A1}" destId="{7870F5DE-C78E-4710-9C6C-28C31FD83CC6}" srcOrd="3" destOrd="0" presId="urn:microsoft.com/office/officeart/2005/8/layout/list1"/>
    <dgm:cxn modelId="{1DF07723-6433-490B-87E5-D8F2749C95E5}" type="presParOf" srcId="{73C612C6-493A-4FBD-BFBD-B4856C4765A1}" destId="{38DAC78B-FDC7-4548-9BEB-5712B8FC732E}" srcOrd="4" destOrd="0" presId="urn:microsoft.com/office/officeart/2005/8/layout/list1"/>
    <dgm:cxn modelId="{56BC0468-4E02-4B68-915B-BB49FC607670}" type="presParOf" srcId="{38DAC78B-FDC7-4548-9BEB-5712B8FC732E}" destId="{787C297C-9394-41C8-BD69-29B685D3F785}" srcOrd="0" destOrd="0" presId="urn:microsoft.com/office/officeart/2005/8/layout/list1"/>
    <dgm:cxn modelId="{24EB924B-9B7F-4A30-8DEB-5FF11FE1554B}" type="presParOf" srcId="{38DAC78B-FDC7-4548-9BEB-5712B8FC732E}" destId="{EEB6F7C7-05C5-4FB0-B6DD-21E49FCCF90C}" srcOrd="1" destOrd="0" presId="urn:microsoft.com/office/officeart/2005/8/layout/list1"/>
    <dgm:cxn modelId="{CD7C98B2-540E-4D46-A33A-5D6348526D5A}" type="presParOf" srcId="{73C612C6-493A-4FBD-BFBD-B4856C4765A1}" destId="{46725337-EE91-414C-8112-D5C7B1D62358}" srcOrd="5" destOrd="0" presId="urn:microsoft.com/office/officeart/2005/8/layout/list1"/>
    <dgm:cxn modelId="{20F70EC5-B936-4E39-8FD6-A05B9CCE599B}" type="presParOf" srcId="{73C612C6-493A-4FBD-BFBD-B4856C4765A1}" destId="{1CBEF746-1EA9-47EC-8D28-66615FEDDB13}" srcOrd="6" destOrd="0" presId="urn:microsoft.com/office/officeart/2005/8/layout/list1"/>
    <dgm:cxn modelId="{AD6ED57F-B258-4568-ABC0-7D13E716609E}" type="presParOf" srcId="{73C612C6-493A-4FBD-BFBD-B4856C4765A1}" destId="{AB474AA8-4D30-46E1-AF3E-FA6F04706F1F}" srcOrd="7" destOrd="0" presId="urn:microsoft.com/office/officeart/2005/8/layout/list1"/>
    <dgm:cxn modelId="{479C8158-33DD-4BF2-8DCC-3D588E060C7C}" type="presParOf" srcId="{73C612C6-493A-4FBD-BFBD-B4856C4765A1}" destId="{8ED5990B-5883-4EAF-A7E0-EC27810EC136}" srcOrd="8" destOrd="0" presId="urn:microsoft.com/office/officeart/2005/8/layout/list1"/>
    <dgm:cxn modelId="{FBD965B1-F7B2-4D64-9A89-35104CFFE3E3}" type="presParOf" srcId="{8ED5990B-5883-4EAF-A7E0-EC27810EC136}" destId="{7B1517DE-31D7-4A0D-B534-DDE56CE8272D}" srcOrd="0" destOrd="0" presId="urn:microsoft.com/office/officeart/2005/8/layout/list1"/>
    <dgm:cxn modelId="{CF4DA428-F2CE-4621-8E41-92A03277021C}" type="presParOf" srcId="{8ED5990B-5883-4EAF-A7E0-EC27810EC136}" destId="{2392317F-AA09-43B9-829F-AB4084E0AC43}" srcOrd="1" destOrd="0" presId="urn:microsoft.com/office/officeart/2005/8/layout/list1"/>
    <dgm:cxn modelId="{CEB7CEC6-DC59-47E4-9857-EECBAFDD4B52}" type="presParOf" srcId="{73C612C6-493A-4FBD-BFBD-B4856C4765A1}" destId="{13F64C12-8109-491C-BEC1-821507ED2293}" srcOrd="9" destOrd="0" presId="urn:microsoft.com/office/officeart/2005/8/layout/list1"/>
    <dgm:cxn modelId="{989ECD76-933F-46A4-A5B5-27CF3B16590F}" type="presParOf" srcId="{73C612C6-493A-4FBD-BFBD-B4856C4765A1}" destId="{23036697-3052-4B65-B5B7-1CBE4BE3D1BA}" srcOrd="10" destOrd="0" presId="urn:microsoft.com/office/officeart/2005/8/layout/list1"/>
  </dgm:cxnLst>
  <dgm:bg/>
  <dgm:whole/>
  <dgm:extLst>
    <a:ext uri="http://schemas.microsoft.com/office/drawing/2008/diagram">
      <dsp:dataModelExt xmlns:dsp="http://schemas.microsoft.com/office/drawing/2008/diagram" xmlns="" relId="rId11"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1A2AFAE-DDBB-4F7C-AF05-0B4F2FA7670A}">
      <dsp:nvSpPr>
        <dsp:cNvPr id="0" name=""/>
        <dsp:cNvSpPr/>
      </dsp:nvSpPr>
      <dsp:spPr>
        <a:xfrm>
          <a:off x="469900" y="307119"/>
          <a:ext cx="3413760" cy="3413760"/>
        </a:xfrm>
        <a:prstGeom prst="pie">
          <a:avLst>
            <a:gd name="adj1" fmla="val 16200000"/>
            <a:gd name="adj2" fmla="val 54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smtClean="0"/>
            <a:t>Makes Software Easier to Understand</a:t>
          </a:r>
          <a:endParaRPr lang="en-US" sz="1800" kern="1200" dirty="0"/>
        </a:p>
      </dsp:txBody>
      <dsp:txXfrm>
        <a:off x="2335276" y="1201200"/>
        <a:ext cx="1219200" cy="1625600"/>
      </dsp:txXfrm>
    </dsp:sp>
    <dsp:sp modelId="{D4A80362-8CBA-4448-9DFD-17C7B5939BD2}">
      <dsp:nvSpPr>
        <dsp:cNvPr id="0" name=""/>
        <dsp:cNvSpPr/>
      </dsp:nvSpPr>
      <dsp:spPr>
        <a:xfrm>
          <a:off x="307340" y="307119"/>
          <a:ext cx="3413760" cy="3413760"/>
        </a:xfrm>
        <a:prstGeom prst="pie">
          <a:avLst>
            <a:gd name="adj1" fmla="val 5400000"/>
            <a:gd name="adj2" fmla="val 162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smtClean="0"/>
            <a:t>Improves the Design of Software</a:t>
          </a:r>
          <a:endParaRPr lang="en-US" sz="1800" kern="1200" dirty="0"/>
        </a:p>
      </dsp:txBody>
      <dsp:txXfrm>
        <a:off x="636524" y="1201200"/>
        <a:ext cx="1219200" cy="1625600"/>
      </dsp:txXfrm>
    </dsp:sp>
    <dsp:sp modelId="{E0C5BA0B-29AE-4E18-8AA8-0C3BCFF9E6C0}">
      <dsp:nvSpPr>
        <dsp:cNvPr id="0" name=""/>
        <dsp:cNvSpPr/>
      </dsp:nvSpPr>
      <dsp:spPr>
        <a:xfrm>
          <a:off x="258571" y="95791"/>
          <a:ext cx="3836416" cy="3836416"/>
        </a:xfrm>
        <a:prstGeom prst="circularArrow">
          <a:avLst>
            <a:gd name="adj1" fmla="val 5085"/>
            <a:gd name="adj2" fmla="val 327528"/>
            <a:gd name="adj3" fmla="val 5072472"/>
            <a:gd name="adj4" fmla="val 162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8358436-2AF0-42FC-91C1-6ED6D59A3BE4}">
      <dsp:nvSpPr>
        <dsp:cNvPr id="0" name=""/>
        <dsp:cNvSpPr/>
      </dsp:nvSpPr>
      <dsp:spPr>
        <a:xfrm>
          <a:off x="96011" y="95791"/>
          <a:ext cx="3836416" cy="3836416"/>
        </a:xfrm>
        <a:prstGeom prst="circularArrow">
          <a:avLst>
            <a:gd name="adj1" fmla="val 5085"/>
            <a:gd name="adj2" fmla="val 327528"/>
            <a:gd name="adj3" fmla="val 15872472"/>
            <a:gd name="adj4" fmla="val 54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83A3CE02-28B5-4FAD-AFA4-C6F4D9235651}">
      <dsp:nvSpPr>
        <dsp:cNvPr id="0" name=""/>
        <dsp:cNvSpPr/>
      </dsp:nvSpPr>
      <dsp:spPr>
        <a:xfrm>
          <a:off x="0" y="463359"/>
          <a:ext cx="4114800" cy="705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0A4F778-80A8-4974-9318-80C1D98F1EAB}">
      <dsp:nvSpPr>
        <dsp:cNvPr id="0" name=""/>
        <dsp:cNvSpPr/>
      </dsp:nvSpPr>
      <dsp:spPr>
        <a:xfrm>
          <a:off x="205740" y="50079"/>
          <a:ext cx="3689856" cy="826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871" tIns="0" rIns="108871" bIns="0" numCol="1" spcCol="1270" anchor="ctr" anchorCtr="0">
          <a:noAutofit/>
        </a:bodyPr>
        <a:lstStyle/>
        <a:p>
          <a:pPr lvl="0" algn="l" defTabSz="977900">
            <a:lnSpc>
              <a:spcPct val="90000"/>
            </a:lnSpc>
            <a:spcBef>
              <a:spcPct val="0"/>
            </a:spcBef>
            <a:spcAft>
              <a:spcPct val="35000"/>
            </a:spcAft>
          </a:pPr>
          <a:r>
            <a:rPr lang="en-US" sz="2200" kern="1200" dirty="0" err="1" smtClean="0"/>
            <a:t>Refactor</a:t>
          </a:r>
          <a:r>
            <a:rPr lang="en-US" sz="2200" kern="1200" dirty="0" smtClean="0"/>
            <a:t> When You Add Function</a:t>
          </a:r>
          <a:endParaRPr lang="en-US" sz="2200" kern="1200" dirty="0"/>
        </a:p>
      </dsp:txBody>
      <dsp:txXfrm>
        <a:off x="205740" y="50079"/>
        <a:ext cx="3689856" cy="826560"/>
      </dsp:txXfrm>
    </dsp:sp>
    <dsp:sp modelId="{1CBEF746-1EA9-47EC-8D28-66615FEDDB13}">
      <dsp:nvSpPr>
        <dsp:cNvPr id="0" name=""/>
        <dsp:cNvSpPr/>
      </dsp:nvSpPr>
      <dsp:spPr>
        <a:xfrm>
          <a:off x="0" y="1733440"/>
          <a:ext cx="4114800" cy="705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EB6F7C7-05C5-4FB0-B6DD-21E49FCCF90C}">
      <dsp:nvSpPr>
        <dsp:cNvPr id="0" name=""/>
        <dsp:cNvSpPr/>
      </dsp:nvSpPr>
      <dsp:spPr>
        <a:xfrm>
          <a:off x="205740" y="1320159"/>
          <a:ext cx="3689856" cy="826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871" tIns="0" rIns="108871" bIns="0" numCol="1" spcCol="1270" anchor="ctr" anchorCtr="0">
          <a:noAutofit/>
        </a:bodyPr>
        <a:lstStyle/>
        <a:p>
          <a:pPr lvl="0" algn="l" defTabSz="977900">
            <a:lnSpc>
              <a:spcPct val="90000"/>
            </a:lnSpc>
            <a:spcBef>
              <a:spcPct val="0"/>
            </a:spcBef>
            <a:spcAft>
              <a:spcPct val="35000"/>
            </a:spcAft>
          </a:pPr>
          <a:r>
            <a:rPr lang="en-US" sz="2200" kern="1200" dirty="0" err="1" smtClean="0"/>
            <a:t>Refactor</a:t>
          </a:r>
          <a:r>
            <a:rPr lang="en-US" sz="2200" kern="1200" dirty="0" smtClean="0"/>
            <a:t> When You Need to Fix a Bug</a:t>
          </a:r>
          <a:endParaRPr lang="en-US" sz="2200" kern="1200" dirty="0"/>
        </a:p>
      </dsp:txBody>
      <dsp:txXfrm>
        <a:off x="205740" y="1320159"/>
        <a:ext cx="3689856" cy="826560"/>
      </dsp:txXfrm>
    </dsp:sp>
    <dsp:sp modelId="{23036697-3052-4B65-B5B7-1CBE4BE3D1BA}">
      <dsp:nvSpPr>
        <dsp:cNvPr id="0" name=""/>
        <dsp:cNvSpPr/>
      </dsp:nvSpPr>
      <dsp:spPr>
        <a:xfrm>
          <a:off x="0" y="3003520"/>
          <a:ext cx="4114800" cy="7056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392317F-AA09-43B9-829F-AB4084E0AC43}">
      <dsp:nvSpPr>
        <dsp:cNvPr id="0" name=""/>
        <dsp:cNvSpPr/>
      </dsp:nvSpPr>
      <dsp:spPr>
        <a:xfrm>
          <a:off x="205740" y="2590240"/>
          <a:ext cx="3689856" cy="826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8871" tIns="0" rIns="108871" bIns="0" numCol="1" spcCol="1270" anchor="ctr" anchorCtr="0">
          <a:noAutofit/>
        </a:bodyPr>
        <a:lstStyle/>
        <a:p>
          <a:pPr lvl="0" algn="l" defTabSz="977900">
            <a:lnSpc>
              <a:spcPct val="90000"/>
            </a:lnSpc>
            <a:spcBef>
              <a:spcPct val="0"/>
            </a:spcBef>
            <a:spcAft>
              <a:spcPct val="35000"/>
            </a:spcAft>
          </a:pPr>
          <a:r>
            <a:rPr lang="en-US" sz="2200" kern="1200" dirty="0" err="1" smtClean="0"/>
            <a:t>Refactor</a:t>
          </a:r>
          <a:r>
            <a:rPr lang="en-US" sz="2200" kern="1200" dirty="0" smtClean="0"/>
            <a:t> As You Do a Code Review</a:t>
          </a:r>
          <a:endParaRPr lang="en-US" sz="2200" kern="1200" dirty="0"/>
        </a:p>
      </dsp:txBody>
      <dsp:txXfrm>
        <a:off x="205740" y="2590240"/>
        <a:ext cx="3689856" cy="826560"/>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114574-EE8E-4B96-B676-8258660E66FF}" type="datetimeFigureOut">
              <a:rPr lang="en-US" smtClean="0"/>
              <a:pPr/>
              <a:t>6/20/2021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270B5E-A4B0-45A9-B40C-D558A976559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4CE2665-103D-49A0-B6D4-B2E4A0768843}"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6/20/2021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6/20/2021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6/20/2021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6/20/2021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6/20/2021</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6/20/2021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6/20/2021</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6/20/2021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6/20/2021</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6/20/2021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6/20/2021</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6/20/2021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hbien@fit.hcmus.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Office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package" Target="../embeddings/Microsoft_Office_Word_Document2.docx"/></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Office_Word_Document3.docx"/><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0.png"/><Relationship Id="rId4" Type="http://schemas.openxmlformats.org/officeDocument/2006/relationships/package" Target="../embeddings/Microsoft_Office_Word_Document4.docx"/></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Office_Word_Document5.docx"/><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gif"/><Relationship Id="rId1" Type="http://schemas.openxmlformats.org/officeDocument/2006/relationships/slideLayout" Target="../slideLayouts/slideLayout2.xml"/><Relationship Id="rId5" Type="http://schemas.openxmlformats.org/officeDocument/2006/relationships/hyperlink" Target="http://www.sublimetext.com/" TargetMode="External"/><Relationship Id="rId4" Type="http://schemas.openxmlformats.org/officeDocument/2006/relationships/hyperlink" Target="http://www.wholetomato.com/"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5400" dirty="0" smtClean="0"/>
              <a:t>Refactoring</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3"/>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257800" cy="4724399"/>
          </a:xfrm>
        </p:spPr>
        <p:txBody>
          <a:bodyPr>
            <a:normAutofit/>
          </a:bodyPr>
          <a:lstStyle/>
          <a:p>
            <a:pPr>
              <a:buFont typeface="Wingdings" pitchFamily="2" charset="2"/>
              <a:buChar char="Ø"/>
            </a:pPr>
            <a:r>
              <a:rPr lang="en-US" dirty="0" smtClean="0"/>
              <a:t>To present what is refactoring</a:t>
            </a:r>
          </a:p>
          <a:p>
            <a:pPr>
              <a:buFont typeface="Wingdings" pitchFamily="2" charset="2"/>
              <a:buChar char="Ø"/>
            </a:pPr>
            <a:r>
              <a:rPr lang="en-US" dirty="0" smtClean="0"/>
              <a:t>To present why </a:t>
            </a:r>
            <a:r>
              <a:rPr lang="en-US" dirty="0" err="1" smtClean="0"/>
              <a:t>refactor</a:t>
            </a:r>
            <a:r>
              <a:rPr lang="en-US" dirty="0" smtClean="0"/>
              <a:t> system</a:t>
            </a:r>
          </a:p>
          <a:p>
            <a:pPr>
              <a:buFont typeface="Wingdings" pitchFamily="2" charset="2"/>
              <a:buChar char="Ø"/>
            </a:pPr>
            <a:r>
              <a:rPr lang="en-US" dirty="0" smtClean="0"/>
              <a:t>To present how to </a:t>
            </a:r>
            <a:r>
              <a:rPr lang="en-US" dirty="0" err="1" smtClean="0"/>
              <a:t>refactor</a:t>
            </a:r>
            <a:r>
              <a:rPr lang="en-US" dirty="0" smtClean="0"/>
              <a:t> system</a:t>
            </a:r>
          </a:p>
          <a:p>
            <a:pPr>
              <a:buFont typeface="Wingdings" pitchFamily="2" charset="2"/>
              <a:buChar char="Ø"/>
            </a:pPr>
            <a:r>
              <a:rPr lang="en-US" dirty="0" smtClean="0"/>
              <a:t>To use tools for refactoring</a:t>
            </a: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55626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514350" lvl="0" indent="-514350">
              <a:buFont typeface="+mj-lt"/>
              <a:buAutoNum type="arabicPeriod"/>
            </a:pPr>
            <a:r>
              <a:rPr lang="en-US" sz="2400" dirty="0" smtClean="0"/>
              <a:t>Martin Fowler (2019). Refactoring - Improving the Design of Existing Code. 2nd Edition. Addison-Wesley Professional.</a:t>
            </a:r>
          </a:p>
          <a:p>
            <a:pPr marL="514350" lvl="0" indent="-514350">
              <a:buFont typeface="+mj-lt"/>
              <a:buAutoNum type="arabicPeriod"/>
            </a:pPr>
            <a:r>
              <a:rPr lang="en-US" sz="2400" dirty="0" smtClean="0"/>
              <a:t>Steve McConnell (2004). Code Complete, Second Edition. Microsoft Press.</a:t>
            </a:r>
          </a:p>
          <a:p>
            <a:pPr marL="514350" lvl="0" indent="-514350">
              <a:buFont typeface="+mj-lt"/>
              <a:buAutoNum type="arabicPeriod"/>
            </a:pPr>
            <a:r>
              <a:rPr lang="en-US" sz="2400" dirty="0" smtClean="0"/>
              <a:t>Martin Fowler et al. (1999). Refactoring: Improving the Design of Existing Code.</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&amp; What [1]</a:t>
            </a:r>
            <a:endParaRPr lang="en-US" dirty="0"/>
          </a:p>
        </p:txBody>
      </p:sp>
      <p:sp>
        <p:nvSpPr>
          <p:cNvPr id="3" name="Content Placeholder 2"/>
          <p:cNvSpPr>
            <a:spLocks noGrp="1"/>
          </p:cNvSpPr>
          <p:nvPr>
            <p:ph idx="1"/>
          </p:nvPr>
        </p:nvSpPr>
        <p:spPr/>
        <p:txBody>
          <a:bodyPr/>
          <a:lstStyle/>
          <a:p>
            <a:r>
              <a:rPr lang="en-US" sz="2400" dirty="0" smtClean="0"/>
              <a:t>When you have to add a feature to a program but the code is not structured in a convenient way, first </a:t>
            </a:r>
            <a:r>
              <a:rPr lang="en-US" sz="2400" dirty="0" err="1" smtClean="0"/>
              <a:t>refactor</a:t>
            </a:r>
            <a:r>
              <a:rPr lang="en-US" sz="2400" dirty="0" smtClean="0"/>
              <a:t> the program to make it easy to add the feature, then add the feature.</a:t>
            </a:r>
          </a:p>
          <a:p>
            <a:r>
              <a:rPr lang="en-US" sz="2400" dirty="0" smtClean="0"/>
              <a:t>Before you start refactoring, make sure you have a solid suite of tests. These tests must be </a:t>
            </a:r>
            <a:r>
              <a:rPr lang="en-US" sz="2400" dirty="0" err="1" smtClean="0"/>
              <a:t>selfchecking</a:t>
            </a:r>
            <a:r>
              <a:rPr lang="en-US" sz="2400" dirty="0" smtClean="0"/>
              <a:t>.</a:t>
            </a:r>
          </a:p>
          <a:p>
            <a:r>
              <a:rPr lang="en-US" sz="2400" dirty="0" smtClean="0"/>
              <a:t>Refactoring changes the programs in small steps, so if you make a mistake, it is easy to find where the bug is.</a:t>
            </a:r>
          </a:p>
          <a:p>
            <a:r>
              <a:rPr lang="en-US" sz="2400" dirty="0" smtClean="0"/>
              <a:t>Any fool can write code that a computer can understand. Good programmers write code that humans can understand.</a:t>
            </a:r>
          </a:p>
          <a:p>
            <a:r>
              <a:rPr lang="en-US" sz="2400" dirty="0" smtClean="0"/>
              <a:t>The true test of good code is how easy it is to change it.</a:t>
            </a:r>
          </a:p>
          <a:p>
            <a:r>
              <a:rPr lang="en-US" sz="2400" dirty="0" smtClean="0"/>
              <a:t>The whole purpose of refactoring is to make us program faster, producing more value with less effort.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Refactoring [2]</a:t>
            </a:r>
            <a:endParaRPr lang="en-US" dirty="0"/>
          </a:p>
        </p:txBody>
      </p:sp>
      <p:sp>
        <p:nvSpPr>
          <p:cNvPr id="4" name="Rectangle 3"/>
          <p:cNvSpPr/>
          <p:nvPr/>
        </p:nvSpPr>
        <p:spPr>
          <a:xfrm>
            <a:off x="457200" y="1143000"/>
            <a:ext cx="7924800" cy="1107996"/>
          </a:xfrm>
          <a:prstGeom prst="rect">
            <a:avLst/>
          </a:prstGeom>
          <a:solidFill>
            <a:schemeClr val="accent1"/>
          </a:solidFill>
        </p:spPr>
        <p:txBody>
          <a:bodyPr wrap="square">
            <a:spAutoFit/>
          </a:bodyPr>
          <a:lstStyle/>
          <a:p>
            <a:pPr algn="ctr"/>
            <a:r>
              <a:rPr lang="en-US" sz="2200" i="1" dirty="0" smtClean="0">
                <a:solidFill>
                  <a:schemeClr val="bg1"/>
                </a:solidFill>
                <a:latin typeface="+mj-lt"/>
              </a:rPr>
              <a:t>Refactoring is the process of changing a software system in such a way that it does not alter the external behavior of the code yet improves its internal structure. </a:t>
            </a:r>
          </a:p>
        </p:txBody>
      </p:sp>
      <p:graphicFrame>
        <p:nvGraphicFramePr>
          <p:cNvPr id="6" name="Diagram 5"/>
          <p:cNvGraphicFramePr/>
          <p:nvPr/>
        </p:nvGraphicFramePr>
        <p:xfrm>
          <a:off x="152400" y="2489200"/>
          <a:ext cx="4191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2530" name="AutoShape 2" descr="mk:@MSITStore:D:\Teaching\Software%20Construction\Books\Code%20Complete,%202nd%20Edition.chm::/0735619670/images/0735619670/graphics/10fig02.gif"/>
          <p:cNvSpPr>
            <a:spLocks noChangeAspect="1" noChangeArrowheads="1"/>
          </p:cNvSpPr>
          <p:nvPr/>
        </p:nvSpPr>
        <p:spPr bwMode="auto">
          <a:xfrm>
            <a:off x="155575" y="-1074738"/>
            <a:ext cx="2943225" cy="2238376"/>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9" name="Diagram 8"/>
          <p:cNvGraphicFramePr/>
          <p:nvPr/>
        </p:nvGraphicFramePr>
        <p:xfrm>
          <a:off x="4800600" y="2641600"/>
          <a:ext cx="4114800" cy="3759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Refactoring</a:t>
            </a:r>
            <a:endParaRPr lang="en-US" dirty="0"/>
          </a:p>
        </p:txBody>
      </p:sp>
      <p:sp>
        <p:nvSpPr>
          <p:cNvPr id="3" name="Content Placeholder 2"/>
          <p:cNvSpPr>
            <a:spLocks noGrp="1"/>
          </p:cNvSpPr>
          <p:nvPr>
            <p:ph idx="1"/>
          </p:nvPr>
        </p:nvSpPr>
        <p:spPr/>
        <p:txBody>
          <a:bodyPr/>
          <a:lstStyle/>
          <a:p>
            <a:r>
              <a:rPr lang="en-US" sz="2800" dirty="0" smtClean="0"/>
              <a:t>Software productivity and reliability improvement.</a:t>
            </a:r>
          </a:p>
          <a:p>
            <a:pPr lvl="1"/>
            <a:r>
              <a:rPr lang="en-US" sz="2400" dirty="0" smtClean="0"/>
              <a:t>Refactoring Improves the Design of Software</a:t>
            </a:r>
          </a:p>
          <a:p>
            <a:pPr lvl="1"/>
            <a:r>
              <a:rPr lang="en-US" sz="2400" dirty="0" smtClean="0"/>
              <a:t>Refactoring Makes Software Easier to Understand</a:t>
            </a:r>
          </a:p>
          <a:p>
            <a:pPr lvl="1"/>
            <a:r>
              <a:rPr lang="en-US" sz="2400" dirty="0" smtClean="0"/>
              <a:t>Refactoring Helps You Find Bugs</a:t>
            </a:r>
          </a:p>
          <a:p>
            <a:pPr lvl="1"/>
            <a:r>
              <a:rPr lang="en-US" sz="2400" dirty="0" smtClean="0"/>
              <a:t>Refactoring Helps You Program Faster</a:t>
            </a:r>
          </a:p>
          <a:p>
            <a:pPr lvl="2"/>
            <a:r>
              <a:rPr lang="en-US" sz="2000" dirty="0" smtClean="0"/>
              <a:t>A good design is essential for rapid software development.</a:t>
            </a:r>
          </a:p>
          <a:p>
            <a:r>
              <a:rPr lang="en-US" sz="2800" dirty="0" smtClean="0"/>
              <a:t>With refactoring you still do upfront design, but now you don't try to find the solution. Instead all you want is a </a:t>
            </a:r>
            <a:r>
              <a:rPr lang="en-US" sz="2800" b="1" dirty="0" smtClean="0">
                <a:solidFill>
                  <a:schemeClr val="tx2"/>
                </a:solidFill>
              </a:rPr>
              <a:t>reasonable solution</a:t>
            </a:r>
            <a:r>
              <a:rPr lang="en-US" sz="2800" dirty="0" smtClean="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Duplicated Code: same expression in two methods</a:t>
            </a:r>
            <a:endParaRPr lang="en-US" dirty="0"/>
          </a:p>
        </p:txBody>
      </p:sp>
      <p:graphicFrame>
        <p:nvGraphicFramePr>
          <p:cNvPr id="1028" name="Object 4"/>
          <p:cNvGraphicFramePr>
            <a:graphicFrameLocks noChangeAspect="1"/>
          </p:cNvGraphicFramePr>
          <p:nvPr/>
        </p:nvGraphicFramePr>
        <p:xfrm>
          <a:off x="-234950" y="1066800"/>
          <a:ext cx="7397750" cy="6797675"/>
        </p:xfrm>
        <a:graphic>
          <a:graphicData uri="http://schemas.openxmlformats.org/presentationml/2006/ole">
            <p:oleObj spid="_x0000_s1028" name="Document" r:id="rId3" imgW="7505404" imgH="6884055" progId="Word.Document.12">
              <p:embed/>
            </p:oleObj>
          </a:graphicData>
        </a:graphic>
      </p:graphicFrame>
      <p:sp>
        <p:nvSpPr>
          <p:cNvPr id="8" name="Rectangle 7"/>
          <p:cNvSpPr/>
          <p:nvPr/>
        </p:nvSpPr>
        <p:spPr>
          <a:xfrm>
            <a:off x="5334000" y="5638800"/>
            <a:ext cx="3429000" cy="923330"/>
          </a:xfrm>
          <a:prstGeom prst="rect">
            <a:avLst/>
          </a:prstGeom>
          <a:solidFill>
            <a:schemeClr val="accent1"/>
          </a:solidFill>
        </p:spPr>
        <p:txBody>
          <a:bodyPr wrap="square">
            <a:spAutoFit/>
          </a:bodyPr>
          <a:lstStyle/>
          <a:p>
            <a:r>
              <a:rPr lang="en-US" dirty="0" smtClean="0">
                <a:solidFill>
                  <a:schemeClr val="bg1"/>
                </a:solidFill>
                <a:latin typeface="+mj-lt"/>
              </a:rPr>
              <a:t>Turn the fragment into a method whose name explains the purpose of the method.</a:t>
            </a:r>
            <a:endParaRPr lang="en-US" dirty="0">
              <a:solidFill>
                <a:schemeClr val="bg1"/>
              </a:solidFill>
              <a:latin typeface="+mj-lt"/>
            </a:endParaRPr>
          </a:p>
        </p:txBody>
      </p:sp>
      <p:sp>
        <p:nvSpPr>
          <p:cNvPr id="9" name="Rectangle 8"/>
          <p:cNvSpPr/>
          <p:nvPr/>
        </p:nvSpPr>
        <p:spPr>
          <a:xfrm>
            <a:off x="6629400" y="5181600"/>
            <a:ext cx="2125262" cy="461665"/>
          </a:xfrm>
          <a:prstGeom prst="rect">
            <a:avLst/>
          </a:prstGeom>
          <a:solidFill>
            <a:schemeClr val="accent6"/>
          </a:solidFill>
        </p:spPr>
        <p:txBody>
          <a:bodyPr wrap="none">
            <a:spAutoFit/>
          </a:bodyPr>
          <a:lstStyle/>
          <a:p>
            <a:r>
              <a:rPr lang="en-US" sz="2400" dirty="0" smtClean="0">
                <a:latin typeface="+mj-lt"/>
              </a:rPr>
              <a:t>Extract Method</a:t>
            </a:r>
            <a:endParaRPr lang="en-US" sz="2400" dirty="0">
              <a:latin typeface="+mj-lt"/>
            </a:endParaRPr>
          </a:p>
        </p:txBody>
      </p:sp>
      <p:pic>
        <p:nvPicPr>
          <p:cNvPr id="1032" name="Picture 8"/>
          <p:cNvPicPr>
            <a:picLocks noChangeAspect="1" noChangeArrowheads="1"/>
          </p:cNvPicPr>
          <p:nvPr/>
        </p:nvPicPr>
        <p:blipFill>
          <a:blip r:embed="rId4" cstate="print"/>
          <a:srcRect/>
          <a:stretch>
            <a:fillRect/>
          </a:stretch>
        </p:blipFill>
        <p:spPr bwMode="auto">
          <a:xfrm>
            <a:off x="5181600" y="2590800"/>
            <a:ext cx="3609975" cy="10668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Replace Method with Method Object</a:t>
            </a:r>
            <a:endParaRPr lang="en-US" dirty="0"/>
          </a:p>
        </p:txBody>
      </p:sp>
      <p:sp>
        <p:nvSpPr>
          <p:cNvPr id="3" name="Content Placeholder 2"/>
          <p:cNvSpPr>
            <a:spLocks noGrp="1"/>
          </p:cNvSpPr>
          <p:nvPr>
            <p:ph idx="1"/>
          </p:nvPr>
        </p:nvSpPr>
        <p:spPr/>
        <p:txBody>
          <a:bodyPr/>
          <a:lstStyle/>
          <a:p>
            <a:r>
              <a:rPr lang="en-US" dirty="0" smtClean="0"/>
              <a:t>You have a long method that uses local variables in such a way that you cannot apply Extract Method.</a:t>
            </a:r>
          </a:p>
          <a:p>
            <a:endParaRPr lang="en-US" dirty="0" smtClean="0"/>
          </a:p>
          <a:p>
            <a:r>
              <a:rPr lang="en-US" dirty="0" smtClean="0"/>
              <a:t>Turn the method into its own object so that all the local variables become fields on that object. You can then decompose the method into other methods on the same object.</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4" name="Picture 6"/>
          <p:cNvPicPr>
            <a:picLocks noChangeAspect="1" noChangeArrowheads="1"/>
          </p:cNvPicPr>
          <p:nvPr/>
        </p:nvPicPr>
        <p:blipFill>
          <a:blip r:embed="rId3" cstate="print"/>
          <a:srcRect/>
          <a:stretch>
            <a:fillRect/>
          </a:stretch>
        </p:blipFill>
        <p:spPr bwMode="auto">
          <a:xfrm>
            <a:off x="4267200" y="3886200"/>
            <a:ext cx="4762500" cy="148590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Duplicated Code: same expression in two sibling subclasses</a:t>
            </a:r>
            <a:endParaRPr lang="en-US" dirty="0"/>
          </a:p>
        </p:txBody>
      </p:sp>
      <p:sp>
        <p:nvSpPr>
          <p:cNvPr id="5" name="Rectangle 4"/>
          <p:cNvSpPr/>
          <p:nvPr/>
        </p:nvSpPr>
        <p:spPr>
          <a:xfrm>
            <a:off x="5322582" y="2286000"/>
            <a:ext cx="3429000" cy="369332"/>
          </a:xfrm>
          <a:prstGeom prst="rect">
            <a:avLst/>
          </a:prstGeom>
          <a:solidFill>
            <a:schemeClr val="accent1"/>
          </a:solidFill>
        </p:spPr>
        <p:txBody>
          <a:bodyPr wrap="square">
            <a:spAutoFit/>
          </a:bodyPr>
          <a:lstStyle/>
          <a:p>
            <a:r>
              <a:rPr lang="en-US" dirty="0" smtClean="0">
                <a:solidFill>
                  <a:schemeClr val="bg1"/>
                </a:solidFill>
                <a:latin typeface="+mj-lt"/>
              </a:rPr>
              <a:t>Move the field to the super-class</a:t>
            </a:r>
            <a:endParaRPr lang="en-US" dirty="0">
              <a:solidFill>
                <a:schemeClr val="bg1"/>
              </a:solidFill>
              <a:latin typeface="+mj-lt"/>
            </a:endParaRPr>
          </a:p>
        </p:txBody>
      </p:sp>
      <p:sp>
        <p:nvSpPr>
          <p:cNvPr id="6" name="Rectangle 5"/>
          <p:cNvSpPr/>
          <p:nvPr/>
        </p:nvSpPr>
        <p:spPr>
          <a:xfrm>
            <a:off x="7010400" y="1828800"/>
            <a:ext cx="1741182" cy="461665"/>
          </a:xfrm>
          <a:prstGeom prst="rect">
            <a:avLst/>
          </a:prstGeom>
          <a:solidFill>
            <a:schemeClr val="accent6"/>
          </a:solidFill>
        </p:spPr>
        <p:txBody>
          <a:bodyPr wrap="none">
            <a:spAutoFit/>
          </a:bodyPr>
          <a:lstStyle/>
          <a:p>
            <a:r>
              <a:rPr lang="en-US" sz="2400" dirty="0" smtClean="0">
                <a:latin typeface="+mj-lt"/>
              </a:rPr>
              <a:t>Pull Up Field</a:t>
            </a:r>
            <a:endParaRPr lang="en-US" sz="2400" dirty="0">
              <a:latin typeface="+mj-lt"/>
            </a:endParaRPr>
          </a:p>
        </p:txBody>
      </p:sp>
      <p:graphicFrame>
        <p:nvGraphicFramePr>
          <p:cNvPr id="22531" name="Object 3"/>
          <p:cNvGraphicFramePr>
            <a:graphicFrameLocks noChangeAspect="1"/>
          </p:cNvGraphicFramePr>
          <p:nvPr/>
        </p:nvGraphicFramePr>
        <p:xfrm>
          <a:off x="609600" y="1600200"/>
          <a:ext cx="5868988" cy="4926012"/>
        </p:xfrm>
        <a:graphic>
          <a:graphicData uri="http://schemas.openxmlformats.org/presentationml/2006/ole">
            <p:oleObj spid="_x0000_s22531" name="Document" r:id="rId4" imgW="5940848" imgH="5002522" progId="Word.Document.12">
              <p:embed/>
            </p:oleObj>
          </a:graphicData>
        </a:graphic>
      </p:graphicFrame>
      <p:sp>
        <p:nvSpPr>
          <p:cNvPr id="22533" name="AutoShape 5" descr="graphics/11fig01.gif"/>
          <p:cNvSpPr>
            <a:spLocks noChangeAspect="1" noChangeArrowheads="1"/>
          </p:cNvSpPr>
          <p:nvPr/>
        </p:nvSpPr>
        <p:spPr bwMode="auto">
          <a:xfrm>
            <a:off x="155575" y="-708025"/>
            <a:ext cx="4762500" cy="14859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Duplicated Code: similar expression in two sibling subclasses.</a:t>
            </a:r>
            <a:endParaRPr lang="en-US" sz="4000" dirty="0"/>
          </a:p>
        </p:txBody>
      </p:sp>
      <p:graphicFrame>
        <p:nvGraphicFramePr>
          <p:cNvPr id="2050" name="Object 2"/>
          <p:cNvGraphicFramePr>
            <a:graphicFrameLocks noChangeAspect="1"/>
          </p:cNvGraphicFramePr>
          <p:nvPr/>
        </p:nvGraphicFramePr>
        <p:xfrm>
          <a:off x="0" y="1295400"/>
          <a:ext cx="5867400" cy="3384550"/>
        </p:xfrm>
        <a:graphic>
          <a:graphicData uri="http://schemas.openxmlformats.org/presentationml/2006/ole">
            <p:oleObj spid="_x0000_s2050" name="Document" r:id="rId3" imgW="5940848" imgH="3433916" progId="Word.Document.12">
              <p:embed/>
            </p:oleObj>
          </a:graphicData>
        </a:graphic>
      </p:graphicFrame>
      <p:graphicFrame>
        <p:nvGraphicFramePr>
          <p:cNvPr id="2051" name="Object 3"/>
          <p:cNvGraphicFramePr>
            <a:graphicFrameLocks noChangeAspect="1"/>
          </p:cNvGraphicFramePr>
          <p:nvPr/>
        </p:nvGraphicFramePr>
        <p:xfrm>
          <a:off x="4313238" y="1870075"/>
          <a:ext cx="5867400" cy="2333625"/>
        </p:xfrm>
        <a:graphic>
          <a:graphicData uri="http://schemas.openxmlformats.org/presentationml/2006/ole">
            <p:oleObj spid="_x0000_s2051" name="Document" r:id="rId4" imgW="5940848" imgH="2379767" progId="Word.Document.12">
              <p:embed/>
            </p:oleObj>
          </a:graphicData>
        </a:graphic>
      </p:graphicFrame>
      <p:sp>
        <p:nvSpPr>
          <p:cNvPr id="7" name="Rectangle 6"/>
          <p:cNvSpPr/>
          <p:nvPr/>
        </p:nvSpPr>
        <p:spPr>
          <a:xfrm>
            <a:off x="4648200" y="5257800"/>
            <a:ext cx="4038600" cy="1200329"/>
          </a:xfrm>
          <a:prstGeom prst="rect">
            <a:avLst/>
          </a:prstGeom>
          <a:solidFill>
            <a:schemeClr val="accent1"/>
          </a:solidFill>
        </p:spPr>
        <p:txBody>
          <a:bodyPr wrap="square">
            <a:spAutoFit/>
          </a:bodyPr>
          <a:lstStyle/>
          <a:p>
            <a:r>
              <a:rPr lang="en-US" dirty="0" smtClean="0">
                <a:solidFill>
                  <a:schemeClr val="bg1"/>
                </a:solidFill>
                <a:latin typeface="+mj-lt"/>
              </a:rPr>
              <a:t>Get the steps into methods with the same signature, so that the original methods become the same. Then you can pull them up.</a:t>
            </a:r>
            <a:endParaRPr lang="en-US" dirty="0">
              <a:solidFill>
                <a:schemeClr val="bg1"/>
              </a:solidFill>
              <a:latin typeface="+mj-lt"/>
            </a:endParaRPr>
          </a:p>
        </p:txBody>
      </p:sp>
      <p:sp>
        <p:nvSpPr>
          <p:cNvPr id="8" name="Rectangle 7"/>
          <p:cNvSpPr/>
          <p:nvPr/>
        </p:nvSpPr>
        <p:spPr>
          <a:xfrm>
            <a:off x="5556841" y="4800600"/>
            <a:ext cx="3129959" cy="461665"/>
          </a:xfrm>
          <a:prstGeom prst="rect">
            <a:avLst/>
          </a:prstGeom>
          <a:solidFill>
            <a:schemeClr val="accent6"/>
          </a:solidFill>
        </p:spPr>
        <p:txBody>
          <a:bodyPr wrap="none">
            <a:spAutoFit/>
          </a:bodyPr>
          <a:lstStyle/>
          <a:p>
            <a:r>
              <a:rPr lang="en-US" sz="2400" dirty="0" smtClean="0">
                <a:latin typeface="+mj-lt"/>
              </a:rPr>
              <a:t>Form Template Method</a:t>
            </a:r>
            <a:endParaRPr lang="en-US" sz="2400" dirty="0">
              <a:latin typeface="+mj-lt"/>
            </a:endParaRPr>
          </a:p>
        </p:txBody>
      </p:sp>
      <p:pic>
        <p:nvPicPr>
          <p:cNvPr id="2053" name="Picture 5"/>
          <p:cNvPicPr>
            <a:picLocks noChangeAspect="1" noChangeArrowheads="1"/>
          </p:cNvPicPr>
          <p:nvPr/>
        </p:nvPicPr>
        <p:blipFill>
          <a:blip r:embed="rId5" cstate="print"/>
          <a:srcRect/>
          <a:stretch>
            <a:fillRect/>
          </a:stretch>
        </p:blipFill>
        <p:spPr bwMode="auto">
          <a:xfrm>
            <a:off x="781050" y="4695825"/>
            <a:ext cx="3105150" cy="2009775"/>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Duplicated Code in two unrelated classes.</a:t>
            </a:r>
            <a:endParaRPr lang="en-US" sz="4000" dirty="0"/>
          </a:p>
        </p:txBody>
      </p:sp>
      <p:sp>
        <p:nvSpPr>
          <p:cNvPr id="7" name="Rectangle 6"/>
          <p:cNvSpPr/>
          <p:nvPr/>
        </p:nvSpPr>
        <p:spPr>
          <a:xfrm>
            <a:off x="6096000" y="5257800"/>
            <a:ext cx="2590800" cy="1477328"/>
          </a:xfrm>
          <a:prstGeom prst="rect">
            <a:avLst/>
          </a:prstGeom>
          <a:solidFill>
            <a:schemeClr val="accent1"/>
          </a:solidFill>
        </p:spPr>
        <p:txBody>
          <a:bodyPr wrap="square">
            <a:spAutoFit/>
          </a:bodyPr>
          <a:lstStyle/>
          <a:p>
            <a:r>
              <a:rPr lang="en-US" dirty="0" smtClean="0">
                <a:solidFill>
                  <a:schemeClr val="bg1"/>
                </a:solidFill>
                <a:latin typeface="+mj-lt"/>
              </a:rPr>
              <a:t>Create a new class and move the relevant fields and methods from the old class into the new class.</a:t>
            </a:r>
            <a:endParaRPr lang="en-US" dirty="0">
              <a:solidFill>
                <a:schemeClr val="bg1"/>
              </a:solidFill>
              <a:latin typeface="+mj-lt"/>
            </a:endParaRPr>
          </a:p>
        </p:txBody>
      </p:sp>
      <p:sp>
        <p:nvSpPr>
          <p:cNvPr id="8" name="Rectangle 7"/>
          <p:cNvSpPr/>
          <p:nvPr/>
        </p:nvSpPr>
        <p:spPr>
          <a:xfrm>
            <a:off x="6934200" y="4800600"/>
            <a:ext cx="1743811" cy="461665"/>
          </a:xfrm>
          <a:prstGeom prst="rect">
            <a:avLst/>
          </a:prstGeom>
          <a:solidFill>
            <a:schemeClr val="accent6"/>
          </a:solidFill>
        </p:spPr>
        <p:txBody>
          <a:bodyPr wrap="none">
            <a:spAutoFit/>
          </a:bodyPr>
          <a:lstStyle/>
          <a:p>
            <a:r>
              <a:rPr lang="en-US" sz="2400" dirty="0" smtClean="0">
                <a:latin typeface="+mj-lt"/>
              </a:rPr>
              <a:t>Extract Class</a:t>
            </a:r>
            <a:endParaRPr lang="en-US" sz="2400" dirty="0">
              <a:latin typeface="+mj-lt"/>
            </a:endParaRPr>
          </a:p>
        </p:txBody>
      </p:sp>
      <p:graphicFrame>
        <p:nvGraphicFramePr>
          <p:cNvPr id="23556" name="Object 4"/>
          <p:cNvGraphicFramePr>
            <a:graphicFrameLocks noChangeAspect="1"/>
          </p:cNvGraphicFramePr>
          <p:nvPr/>
        </p:nvGraphicFramePr>
        <p:xfrm>
          <a:off x="-76200" y="1446213"/>
          <a:ext cx="6113462" cy="5281612"/>
        </p:xfrm>
        <a:graphic>
          <a:graphicData uri="http://schemas.openxmlformats.org/presentationml/2006/ole">
            <p:oleObj spid="_x0000_s23556" name="Document" r:id="rId3" imgW="6204246" imgH="5359433" progId="Word.Document.12">
              <p:embed/>
            </p:oleObj>
          </a:graphicData>
        </a:graphic>
      </p:graphicFrame>
      <p:pic>
        <p:nvPicPr>
          <p:cNvPr id="23557" name="Picture 5"/>
          <p:cNvPicPr>
            <a:picLocks noChangeAspect="1" noChangeArrowheads="1"/>
          </p:cNvPicPr>
          <p:nvPr/>
        </p:nvPicPr>
        <p:blipFill>
          <a:blip r:embed="rId4" cstate="print"/>
          <a:srcRect/>
          <a:stretch>
            <a:fillRect/>
          </a:stretch>
        </p:blipFill>
        <p:spPr bwMode="auto">
          <a:xfrm>
            <a:off x="3962400" y="3733800"/>
            <a:ext cx="4762500" cy="962025"/>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Long Method</a:t>
            </a:r>
            <a:endParaRPr lang="en-US" dirty="0"/>
          </a:p>
        </p:txBody>
      </p:sp>
      <p:sp>
        <p:nvSpPr>
          <p:cNvPr id="3" name="Rectangle 2"/>
          <p:cNvSpPr/>
          <p:nvPr/>
        </p:nvSpPr>
        <p:spPr>
          <a:xfrm>
            <a:off x="228600" y="1230868"/>
            <a:ext cx="8763000" cy="369332"/>
          </a:xfrm>
          <a:prstGeom prst="rect">
            <a:avLst/>
          </a:prstGeom>
          <a:solidFill>
            <a:schemeClr val="accent1"/>
          </a:solidFill>
        </p:spPr>
        <p:txBody>
          <a:bodyPr wrap="square">
            <a:spAutoFit/>
          </a:bodyPr>
          <a:lstStyle/>
          <a:p>
            <a:r>
              <a:rPr lang="en-US" i="1" dirty="0" smtClean="0">
                <a:solidFill>
                  <a:schemeClr val="bg1"/>
                </a:solidFill>
                <a:latin typeface="+mj-lt"/>
              </a:rPr>
              <a:t>Long Method is a method that is too long, so it is difficult to understand, change, or extend.</a:t>
            </a:r>
          </a:p>
        </p:txBody>
      </p:sp>
      <p:pic>
        <p:nvPicPr>
          <p:cNvPr id="4" name="Picture 2"/>
          <p:cNvPicPr>
            <a:picLocks noChangeAspect="1" noChangeArrowheads="1"/>
          </p:cNvPicPr>
          <p:nvPr/>
        </p:nvPicPr>
        <p:blipFill>
          <a:blip r:embed="rId2" cstate="print"/>
          <a:srcRect/>
          <a:stretch>
            <a:fillRect/>
          </a:stretch>
        </p:blipFill>
        <p:spPr bwMode="auto">
          <a:xfrm>
            <a:off x="2905125" y="2228850"/>
            <a:ext cx="3333750" cy="333375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Large Class</a:t>
            </a:r>
            <a:endParaRPr lang="en-US" dirty="0"/>
          </a:p>
        </p:txBody>
      </p:sp>
      <p:pic>
        <p:nvPicPr>
          <p:cNvPr id="25602" name="Picture 2"/>
          <p:cNvPicPr>
            <a:picLocks noChangeAspect="1" noChangeArrowheads="1"/>
          </p:cNvPicPr>
          <p:nvPr/>
        </p:nvPicPr>
        <p:blipFill>
          <a:blip r:embed="rId2" cstate="print"/>
          <a:srcRect/>
          <a:stretch>
            <a:fillRect/>
          </a:stretch>
        </p:blipFill>
        <p:spPr bwMode="auto">
          <a:xfrm>
            <a:off x="2905125" y="2228850"/>
            <a:ext cx="3333750" cy="3333750"/>
          </a:xfrm>
          <a:prstGeom prst="rect">
            <a:avLst/>
          </a:prstGeom>
          <a:noFill/>
          <a:ln w="9525">
            <a:noFill/>
            <a:miter lim="800000"/>
            <a:headEnd/>
            <a:tailEnd/>
          </a:ln>
          <a:effectLst/>
        </p:spPr>
      </p:pic>
      <p:sp>
        <p:nvSpPr>
          <p:cNvPr id="4" name="Rectangle 3"/>
          <p:cNvSpPr/>
          <p:nvPr/>
        </p:nvSpPr>
        <p:spPr>
          <a:xfrm>
            <a:off x="228600" y="1230868"/>
            <a:ext cx="8763000" cy="646331"/>
          </a:xfrm>
          <a:prstGeom prst="rect">
            <a:avLst/>
          </a:prstGeom>
          <a:solidFill>
            <a:schemeClr val="accent1"/>
          </a:solidFill>
        </p:spPr>
        <p:txBody>
          <a:bodyPr wrap="square">
            <a:spAutoFit/>
          </a:bodyPr>
          <a:lstStyle/>
          <a:p>
            <a:r>
              <a:rPr lang="en-US" i="1" dirty="0" smtClean="0">
                <a:solidFill>
                  <a:schemeClr val="bg1"/>
                </a:solidFill>
                <a:latin typeface="+mj-lt"/>
              </a:rPr>
              <a:t>Large Class means that a class is trying to do too much. These classes have too many instance variables or methods.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Primitive Obsession</a:t>
            </a:r>
            <a:endParaRPr lang="en-US" dirty="0"/>
          </a:p>
        </p:txBody>
      </p:sp>
      <p:pic>
        <p:nvPicPr>
          <p:cNvPr id="25602" name="Picture 2"/>
          <p:cNvPicPr>
            <a:picLocks noChangeAspect="1" noChangeArrowheads="1"/>
          </p:cNvPicPr>
          <p:nvPr/>
        </p:nvPicPr>
        <p:blipFill>
          <a:blip r:embed="rId2" cstate="print"/>
          <a:srcRect/>
          <a:stretch>
            <a:fillRect/>
          </a:stretch>
        </p:blipFill>
        <p:spPr bwMode="auto">
          <a:xfrm>
            <a:off x="2905125" y="2228850"/>
            <a:ext cx="3333750" cy="3333750"/>
          </a:xfrm>
          <a:prstGeom prst="rect">
            <a:avLst/>
          </a:prstGeom>
          <a:noFill/>
          <a:ln w="9525">
            <a:noFill/>
            <a:miter lim="800000"/>
            <a:headEnd/>
            <a:tailEnd/>
          </a:ln>
          <a:effectLst/>
        </p:spPr>
      </p:pic>
      <p:sp>
        <p:nvSpPr>
          <p:cNvPr id="4" name="Rectangle 3"/>
          <p:cNvSpPr/>
          <p:nvPr/>
        </p:nvSpPr>
        <p:spPr>
          <a:xfrm>
            <a:off x="228600" y="1230868"/>
            <a:ext cx="8763000" cy="646331"/>
          </a:xfrm>
          <a:prstGeom prst="rect">
            <a:avLst/>
          </a:prstGeom>
          <a:solidFill>
            <a:schemeClr val="accent1"/>
          </a:solidFill>
        </p:spPr>
        <p:txBody>
          <a:bodyPr wrap="square">
            <a:spAutoFit/>
          </a:bodyPr>
          <a:lstStyle/>
          <a:p>
            <a:r>
              <a:rPr lang="en-US" i="1" dirty="0" smtClean="0">
                <a:solidFill>
                  <a:schemeClr val="bg1"/>
                </a:solidFill>
                <a:latin typeface="+mj-lt"/>
              </a:rPr>
              <a:t>Primitive Obsession smell represents a case where primitives are used instead of small classes.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Long Parameter List</a:t>
            </a:r>
            <a:endParaRPr lang="en-US" dirty="0"/>
          </a:p>
        </p:txBody>
      </p:sp>
      <p:pic>
        <p:nvPicPr>
          <p:cNvPr id="4" name="Picture 2"/>
          <p:cNvPicPr>
            <a:picLocks noChangeAspect="1" noChangeArrowheads="1"/>
          </p:cNvPicPr>
          <p:nvPr/>
        </p:nvPicPr>
        <p:blipFill>
          <a:blip r:embed="rId2" cstate="print"/>
          <a:srcRect/>
          <a:stretch>
            <a:fillRect/>
          </a:stretch>
        </p:blipFill>
        <p:spPr bwMode="auto">
          <a:xfrm>
            <a:off x="2905125" y="2228850"/>
            <a:ext cx="3333750" cy="3333750"/>
          </a:xfrm>
          <a:prstGeom prst="rect">
            <a:avLst/>
          </a:prstGeom>
          <a:noFill/>
          <a:ln w="9525">
            <a:noFill/>
            <a:miter lim="800000"/>
            <a:headEnd/>
            <a:tailEnd/>
          </a:ln>
          <a:effectLst/>
        </p:spPr>
      </p:pic>
      <p:sp>
        <p:nvSpPr>
          <p:cNvPr id="5" name="Rectangle 4"/>
          <p:cNvSpPr/>
          <p:nvPr/>
        </p:nvSpPr>
        <p:spPr>
          <a:xfrm>
            <a:off x="228600" y="1230868"/>
            <a:ext cx="8763000" cy="369332"/>
          </a:xfrm>
          <a:prstGeom prst="rect">
            <a:avLst/>
          </a:prstGeom>
          <a:solidFill>
            <a:schemeClr val="accent1"/>
          </a:solidFill>
        </p:spPr>
        <p:txBody>
          <a:bodyPr wrap="square">
            <a:spAutoFit/>
          </a:bodyPr>
          <a:lstStyle/>
          <a:p>
            <a:r>
              <a:rPr lang="en-US" i="1" dirty="0" smtClean="0">
                <a:solidFill>
                  <a:schemeClr val="bg1"/>
                </a:solidFill>
                <a:latin typeface="+mj-lt"/>
              </a:rPr>
              <a:t>Long Parameter List is a parameter list that is too long and thus difficult to understand.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Bad Smells in Code and Refactoring</a:t>
            </a:r>
            <a:endParaRPr lang="en-US" dirty="0"/>
          </a:p>
        </p:txBody>
      </p:sp>
      <p:sp>
        <p:nvSpPr>
          <p:cNvPr id="3" name="Content Placeholder 2"/>
          <p:cNvSpPr>
            <a:spLocks noGrp="1"/>
          </p:cNvSpPr>
          <p:nvPr>
            <p:ph idx="1"/>
          </p:nvPr>
        </p:nvSpPr>
        <p:spPr/>
        <p:txBody>
          <a:bodyPr/>
          <a:lstStyle/>
          <a:p>
            <a:r>
              <a:rPr lang="en-US" dirty="0" smtClean="0"/>
              <a:t>[Fow99] Martin Fowler, </a:t>
            </a:r>
            <a:r>
              <a:rPr lang="en-US" i="1" dirty="0" smtClean="0"/>
              <a:t>Refactoring: Improving the design of existing code</a:t>
            </a:r>
            <a:r>
              <a:rPr lang="en-US" dirty="0" smtClean="0"/>
              <a:t>. Addison Wesley, 1999.</a:t>
            </a:r>
          </a:p>
          <a:p>
            <a:pPr lvl="1"/>
            <a:r>
              <a:rPr lang="en-US" dirty="0" smtClean="0"/>
              <a:t>Duplicated Code, Long Method, Large Class, Long Parameter List, Divergent Change, Shotgun Surgery</a:t>
            </a:r>
          </a:p>
          <a:p>
            <a:pPr lvl="1"/>
            <a:r>
              <a:rPr lang="en-US" dirty="0" smtClean="0"/>
              <a:t>Extract Method, Pull Up Field, Substitute Algorithm, Extract Class, Hide Delegate, Move Method</a:t>
            </a:r>
          </a:p>
          <a:p>
            <a:pPr lvl="1">
              <a:buFont typeface="Wingdings" pitchFamily="2" charset="2"/>
              <a:buChar char="q"/>
            </a:pPr>
            <a:r>
              <a:rPr lang="en-US" dirty="0" smtClean="0">
                <a:solidFill>
                  <a:srgbClr val="FF0000"/>
                </a:solidFill>
              </a:rPr>
              <a:t>Human intuition is the key for finding the smells</a:t>
            </a:r>
            <a:endParaRPr lang="en-US"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Bad Code Smells – Taxonomy &amp; Measures</a:t>
            </a:r>
            <a:endParaRPr lang="en-US" dirty="0"/>
          </a:p>
        </p:txBody>
      </p:sp>
      <p:sp>
        <p:nvSpPr>
          <p:cNvPr id="3" name="Content Placeholder 2"/>
          <p:cNvSpPr>
            <a:spLocks noGrp="1"/>
          </p:cNvSpPr>
          <p:nvPr>
            <p:ph idx="1"/>
          </p:nvPr>
        </p:nvSpPr>
        <p:spPr/>
        <p:txBody>
          <a:bodyPr/>
          <a:lstStyle/>
          <a:p>
            <a:r>
              <a:rPr lang="en-US" dirty="0" smtClean="0"/>
              <a:t>[Man03] M. </a:t>
            </a:r>
            <a:r>
              <a:rPr lang="en-US" dirty="0" err="1" smtClean="0"/>
              <a:t>Mantula</a:t>
            </a:r>
            <a:r>
              <a:rPr lang="en-US" dirty="0" smtClean="0"/>
              <a:t>, </a:t>
            </a:r>
            <a:r>
              <a:rPr lang="en-US" i="1" dirty="0" smtClean="0"/>
              <a:t>Bad Smells in Software. A Taxonomy and an Empirical Study</a:t>
            </a:r>
            <a:r>
              <a:rPr lang="en-US" dirty="0" smtClean="0"/>
              <a:t>. Master’s Thesis, 2003.</a:t>
            </a:r>
          </a:p>
          <a:p>
            <a:pPr lvl="1"/>
            <a:r>
              <a:rPr lang="en-US" dirty="0" smtClean="0"/>
              <a:t>The Bloaters, The Object-Orientation Abusers, The Change Preventers, The Dispensable</a:t>
            </a:r>
          </a:p>
          <a:p>
            <a:pPr lvl="1"/>
            <a:r>
              <a:rPr lang="en-US" dirty="0" smtClean="0"/>
              <a:t>Relating the bad code smells against source code measures.</a:t>
            </a:r>
          </a:p>
          <a:p>
            <a:pPr lvl="1">
              <a:buFont typeface="Wingdings" pitchFamily="2" charset="2"/>
              <a:buChar char="q"/>
            </a:pPr>
            <a:r>
              <a:rPr lang="en-US" dirty="0" smtClean="0">
                <a:solidFill>
                  <a:srgbClr val="FF0000"/>
                </a:solidFill>
              </a:rPr>
              <a:t>This method cannot be applied for Primitive Obsession, Divergent Change, Shotgun Surgery.</a:t>
            </a:r>
          </a:p>
          <a:p>
            <a:pPr lvl="1"/>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Architectural Bad Smells</a:t>
            </a:r>
            <a:endParaRPr lang="en-US" dirty="0"/>
          </a:p>
        </p:txBody>
      </p:sp>
      <p:sp>
        <p:nvSpPr>
          <p:cNvPr id="3" name="Content Placeholder 2"/>
          <p:cNvSpPr>
            <a:spLocks noGrp="1"/>
          </p:cNvSpPr>
          <p:nvPr>
            <p:ph idx="1"/>
          </p:nvPr>
        </p:nvSpPr>
        <p:spPr/>
        <p:txBody>
          <a:bodyPr/>
          <a:lstStyle/>
          <a:p>
            <a:r>
              <a:rPr lang="en-US" dirty="0" smtClean="0"/>
              <a:t>[GPEM09] Joshua Garcia, Daniel </a:t>
            </a:r>
            <a:r>
              <a:rPr lang="en-US" dirty="0" err="1" smtClean="0"/>
              <a:t>Popescu</a:t>
            </a:r>
            <a:r>
              <a:rPr lang="en-US" dirty="0" smtClean="0"/>
              <a:t>, George Edwards and </a:t>
            </a:r>
            <a:r>
              <a:rPr lang="en-US" dirty="0" err="1" smtClean="0"/>
              <a:t>Nenad</a:t>
            </a:r>
            <a:r>
              <a:rPr lang="en-US" dirty="0" smtClean="0"/>
              <a:t> </a:t>
            </a:r>
            <a:r>
              <a:rPr lang="en-US" dirty="0" err="1" smtClean="0"/>
              <a:t>Medvidovic</a:t>
            </a:r>
            <a:r>
              <a:rPr lang="en-US" dirty="0" smtClean="0"/>
              <a:t>, </a:t>
            </a:r>
            <a:r>
              <a:rPr lang="en-US" i="1" dirty="0" smtClean="0"/>
              <a:t>Indentifying Architectural Bad Smells</a:t>
            </a:r>
            <a:r>
              <a:rPr lang="en-US" dirty="0" smtClean="0"/>
              <a:t>, Proceedings of the 2009 European Conference on Software Maintenance and Reengineering.</a:t>
            </a:r>
          </a:p>
          <a:p>
            <a:pPr lvl="1"/>
            <a:r>
              <a:rPr lang="en-US" dirty="0" smtClean="0"/>
              <a:t>Connector Envy, Scattered Functionality, Ambiguous Interfaces and Extraneous Connector</a:t>
            </a:r>
          </a:p>
          <a:p>
            <a:pPr lvl="1"/>
            <a:r>
              <a:rPr lang="en-US" dirty="0" smtClean="0"/>
              <a:t>Impact of the smell</a:t>
            </a:r>
          </a:p>
          <a:p>
            <a:pPr lvl="1">
              <a:buFont typeface="Wingdings" pitchFamily="2" charset="2"/>
              <a:buChar char="q"/>
            </a:pPr>
            <a:r>
              <a:rPr lang="en-US" dirty="0" smtClean="0">
                <a:solidFill>
                  <a:srgbClr val="FF0000"/>
                </a:solidFill>
              </a:rPr>
              <a:t>Human intuition is the key for finding the smells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Tools for Refactoring And Producing Readable Code</a:t>
            </a:r>
            <a:endParaRPr lang="en-US" dirty="0"/>
          </a:p>
        </p:txBody>
      </p:sp>
      <p:pic>
        <p:nvPicPr>
          <p:cNvPr id="12290" name="Picture 2" descr="http://www.codeproject.com/KB/showcase/VisualAssistX_IDEA/with_vax.gif"/>
          <p:cNvPicPr>
            <a:picLocks noChangeAspect="1" noChangeArrowheads="1"/>
          </p:cNvPicPr>
          <p:nvPr/>
        </p:nvPicPr>
        <p:blipFill>
          <a:blip r:embed="rId2" cstate="print"/>
          <a:srcRect/>
          <a:stretch>
            <a:fillRect/>
          </a:stretch>
        </p:blipFill>
        <p:spPr bwMode="auto">
          <a:xfrm>
            <a:off x="381000" y="1981200"/>
            <a:ext cx="4295775" cy="3219451"/>
          </a:xfrm>
          <a:prstGeom prst="rect">
            <a:avLst/>
          </a:prstGeom>
          <a:noFill/>
        </p:spPr>
      </p:pic>
      <p:pic>
        <p:nvPicPr>
          <p:cNvPr id="12292" name="Picture 4" descr="http://i54.fastpic.ru/big/2013/0103/2d/a9cb73352068fb463644027e6f362c2d.jpg"/>
          <p:cNvPicPr>
            <a:picLocks noChangeAspect="1" noChangeArrowheads="1"/>
          </p:cNvPicPr>
          <p:nvPr/>
        </p:nvPicPr>
        <p:blipFill>
          <a:blip r:embed="rId3" cstate="print"/>
          <a:srcRect/>
          <a:stretch>
            <a:fillRect/>
          </a:stretch>
        </p:blipFill>
        <p:spPr bwMode="auto">
          <a:xfrm>
            <a:off x="4800600" y="2667000"/>
            <a:ext cx="3971925" cy="1724025"/>
          </a:xfrm>
          <a:prstGeom prst="rect">
            <a:avLst/>
          </a:prstGeom>
          <a:noFill/>
        </p:spPr>
      </p:pic>
      <p:sp>
        <p:nvSpPr>
          <p:cNvPr id="6" name="Rectangle 5"/>
          <p:cNvSpPr/>
          <p:nvPr/>
        </p:nvSpPr>
        <p:spPr>
          <a:xfrm>
            <a:off x="2590800" y="5410200"/>
            <a:ext cx="4604402" cy="830997"/>
          </a:xfrm>
          <a:prstGeom prst="rect">
            <a:avLst/>
          </a:prstGeom>
        </p:spPr>
        <p:txBody>
          <a:bodyPr wrap="none">
            <a:spAutoFit/>
          </a:bodyPr>
          <a:lstStyle/>
          <a:p>
            <a:pPr marL="457200" indent="-457200">
              <a:buFont typeface="Arial" pitchFamily="34" charset="0"/>
              <a:buChar char="•"/>
            </a:pPr>
            <a:r>
              <a:rPr lang="en-US" sz="2400" dirty="0" smtClean="0">
                <a:latin typeface="+mj-lt"/>
                <a:hlinkClick r:id="rId4"/>
              </a:rPr>
              <a:t>http://www.wholetomato.com/</a:t>
            </a:r>
            <a:endParaRPr lang="en-US" sz="2400" dirty="0" smtClean="0">
              <a:latin typeface="+mj-lt"/>
            </a:endParaRPr>
          </a:p>
          <a:p>
            <a:pPr marL="457200" indent="-457200">
              <a:buFont typeface="Arial" pitchFamily="34" charset="0"/>
              <a:buChar char="•"/>
            </a:pPr>
            <a:r>
              <a:rPr lang="en-US" sz="2400" dirty="0" smtClean="0">
                <a:latin typeface="+mj-lt"/>
                <a:hlinkClick r:id="rId5"/>
              </a:rPr>
              <a:t>http://www.sublimetext.com/</a:t>
            </a:r>
            <a:endParaRPr lang="en-US" sz="2400" dirty="0" smtClean="0">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t>
            </a:r>
            <a:r>
              <a:rPr lang="en-US" dirty="0" smtClean="0"/>
              <a:t>&amp;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8462</TotalTime>
  <Words>851</Words>
  <Application>Microsoft Office PowerPoint</Application>
  <PresentationFormat>On-screen Show (4:3)</PresentationFormat>
  <Paragraphs>83</Paragraphs>
  <Slides>21</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3" baseType="lpstr">
      <vt:lpstr>Office Theme</vt:lpstr>
      <vt:lpstr>Document</vt:lpstr>
      <vt:lpstr>Refactoring</vt:lpstr>
      <vt:lpstr>Objectives</vt:lpstr>
      <vt:lpstr>Contents</vt:lpstr>
      <vt:lpstr>References</vt:lpstr>
      <vt:lpstr>Why &amp; What [1]</vt:lpstr>
      <vt:lpstr>Refactoring [2]</vt:lpstr>
      <vt:lpstr>Refactoring</vt:lpstr>
      <vt:lpstr>Duplicated Code: same expression in two methods</vt:lpstr>
      <vt:lpstr>Replace Method with Method Object</vt:lpstr>
      <vt:lpstr>Duplicated Code: same expression in two sibling subclasses</vt:lpstr>
      <vt:lpstr>Duplicated Code: similar expression in two sibling subclasses.</vt:lpstr>
      <vt:lpstr>Duplicated Code in two unrelated classes.</vt:lpstr>
      <vt:lpstr>Long Method</vt:lpstr>
      <vt:lpstr>Large Class</vt:lpstr>
      <vt:lpstr>Primitive Obsession</vt:lpstr>
      <vt:lpstr>Long Parameter List</vt:lpstr>
      <vt:lpstr>Bad Smells in Code and Refactoring</vt:lpstr>
      <vt:lpstr>Bad Code Smells – Taxonomy &amp; Measures</vt:lpstr>
      <vt:lpstr>Architectural Bad Smells</vt:lpstr>
      <vt:lpstr>Tools for Refactoring And Producing Readable Code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2929</cp:revision>
  <dcterms:created xsi:type="dcterms:W3CDTF">2007-10-06T08:25:13Z</dcterms:created>
  <dcterms:modified xsi:type="dcterms:W3CDTF">2021-06-19T19:48:14Z</dcterms:modified>
</cp:coreProperties>
</file>