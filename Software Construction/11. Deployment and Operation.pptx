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handoutMasterIdLst>
    <p:handoutMasterId r:id="rId15"/>
  </p:handoutMasterIdLst>
  <p:sldIdLst>
    <p:sldId id="256" r:id="rId2"/>
    <p:sldId id="349" r:id="rId3"/>
    <p:sldId id="396" r:id="rId4"/>
    <p:sldId id="344" r:id="rId5"/>
    <p:sldId id="398" r:id="rId6"/>
    <p:sldId id="405" r:id="rId7"/>
    <p:sldId id="399" r:id="rId8"/>
    <p:sldId id="407" r:id="rId9"/>
    <p:sldId id="402" r:id="rId10"/>
    <p:sldId id="404" r:id="rId11"/>
    <p:sldId id="406" r:id="rId12"/>
    <p:sldId id="408" r:id="rId13"/>
    <p:sldId id="343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82" autoAdjust="0"/>
    <p:restoredTop sz="94667" autoAdjust="0"/>
  </p:normalViewPr>
  <p:slideViewPr>
    <p:cSldViewPr>
      <p:cViewPr>
        <p:scale>
          <a:sx n="50" d="100"/>
          <a:sy n="50" d="100"/>
        </p:scale>
        <p:origin x="-148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AA374-89F4-4375-8B51-E7FD6968BF95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929E6-FEAF-4558-9452-7E3EC430F9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roku.com/what" TargetMode="External"/><Relationship Id="rId2" Type="http://schemas.openxmlformats.org/officeDocument/2006/relationships/hyperlink" Target="https://docs.docker.com/get-docke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azon.com/Deployment-Operations-Software-Engineers-Engineering/dp/B09XT6L7T5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Deployment and Operation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>
                <a:hlinkClick r:id="rId2"/>
              </a:rPr>
              <a:t>nhbien@fit.hcmus.edu.vn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105400" cy="40386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deploy</a:t>
            </a:r>
            <a:r>
              <a:rPr lang="en-US" sz="2400" dirty="0" smtClean="0"/>
              <a:t> software.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operate</a:t>
            </a:r>
            <a:r>
              <a:rPr lang="en-US" sz="2400" dirty="0" smtClean="0"/>
              <a:t> a software system.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Deployment Plan.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Operation Plan.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Deployment and Operation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715000" cy="4525963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Fresh Deployment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Physical environment</a:t>
            </a:r>
          </a:p>
          <a:p>
            <a:r>
              <a:rPr lang="en-US" sz="2400" dirty="0" smtClean="0"/>
              <a:t>Hardware</a:t>
            </a:r>
          </a:p>
          <a:p>
            <a:r>
              <a:rPr lang="en-US" sz="2400" dirty="0" smtClean="0"/>
              <a:t>3</a:t>
            </a:r>
            <a:r>
              <a:rPr lang="en-US" sz="2400" baseline="30000" dirty="0" smtClean="0"/>
              <a:t>rd</a:t>
            </a:r>
            <a:r>
              <a:rPr lang="en-US" sz="2400" dirty="0" smtClean="0"/>
              <a:t> party software</a:t>
            </a:r>
          </a:p>
          <a:p>
            <a:r>
              <a:rPr lang="en-US" sz="2400" dirty="0" smtClean="0"/>
              <a:t>Software being deployed</a:t>
            </a:r>
          </a:p>
          <a:p>
            <a:r>
              <a:rPr lang="en-US" sz="2400" dirty="0" smtClean="0"/>
              <a:t>Database being deployed</a:t>
            </a:r>
          </a:p>
          <a:p>
            <a:r>
              <a:rPr lang="en-US" sz="2400" dirty="0" smtClean="0"/>
              <a:t>Deployment documentation</a:t>
            </a:r>
          </a:p>
          <a:p>
            <a:r>
              <a:rPr lang="en-US" sz="2400" dirty="0" smtClean="0"/>
              <a:t>Deployment training</a:t>
            </a:r>
          </a:p>
          <a:p>
            <a:r>
              <a:rPr lang="en-US" sz="2400" dirty="0" smtClean="0"/>
              <a:t>Production testing</a:t>
            </a:r>
            <a:endParaRPr lang="en-US" sz="2400" dirty="0"/>
          </a:p>
        </p:txBody>
      </p:sp>
      <p:pic>
        <p:nvPicPr>
          <p:cNvPr id="2050" name="Picture 2" descr="https://campingpraiadaarmacao.com.br/temp/BIN_38_2GWEomt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1828800"/>
            <a:ext cx="3159760" cy="1778000"/>
          </a:xfrm>
          <a:prstGeom prst="rect">
            <a:avLst/>
          </a:prstGeom>
          <a:noFill/>
        </p:spPr>
      </p:pic>
      <p:pic>
        <p:nvPicPr>
          <p:cNvPr id="2052" name="Picture 4" descr="https://blog.qatestlab.com/wp-content/uploads/2018/01/project-piloting-1200x545_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6800" y="4267200"/>
            <a:ext cx="3429000" cy="15573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Why is Production Deployment Hard?</a:t>
            </a:r>
            <a:endParaRPr lang="en-US" sz="4000" dirty="0"/>
          </a:p>
        </p:txBody>
      </p:sp>
      <p:pic>
        <p:nvPicPr>
          <p:cNvPr id="66564" name="Picture 4" descr="https://cxm.world/wp-content/uploads/2017/11/frustrated-750x4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86175" y="2438400"/>
            <a:ext cx="5000625" cy="2667000"/>
          </a:xfrm>
          <a:prstGeom prst="rect">
            <a:avLst/>
          </a:prstGeom>
          <a:noFill/>
        </p:spPr>
      </p:pic>
      <p:pic>
        <p:nvPicPr>
          <p:cNvPr id="66562" name="Picture 2" descr="https://wpfixd.com/wp-content/uploads/2019/06/shutterstock_717832600-Converted-5a29aaf3b39d030037b2cda9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" y="2773680"/>
            <a:ext cx="2926080" cy="19507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Upgrade Deployment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Physical environment</a:t>
            </a:r>
          </a:p>
          <a:p>
            <a:r>
              <a:rPr lang="en-US" sz="2400" dirty="0" smtClean="0"/>
              <a:t>Hardware</a:t>
            </a:r>
          </a:p>
          <a:p>
            <a:r>
              <a:rPr lang="en-US" sz="2400" dirty="0" smtClean="0"/>
              <a:t>3</a:t>
            </a:r>
            <a:r>
              <a:rPr lang="en-US" sz="2400" baseline="30000" dirty="0" smtClean="0"/>
              <a:t>rd</a:t>
            </a:r>
            <a:r>
              <a:rPr lang="en-US" sz="2400" dirty="0" smtClean="0"/>
              <a:t> party software</a:t>
            </a:r>
          </a:p>
          <a:p>
            <a:r>
              <a:rPr lang="en-US" sz="2400" dirty="0" smtClean="0"/>
              <a:t>Software being deployed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Patches</a:t>
            </a:r>
          </a:p>
          <a:p>
            <a:r>
              <a:rPr lang="en-US" sz="2400" dirty="0" smtClean="0"/>
              <a:t>Database being deployed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Upgrading schema, data migration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Rollback plan</a:t>
            </a:r>
          </a:p>
          <a:p>
            <a:r>
              <a:rPr lang="en-US" sz="2400" dirty="0" smtClean="0"/>
              <a:t>Deployment documentation</a:t>
            </a:r>
          </a:p>
          <a:p>
            <a:r>
              <a:rPr lang="en-US" sz="2400" dirty="0" smtClean="0"/>
              <a:t>Deployment training</a:t>
            </a:r>
          </a:p>
          <a:p>
            <a:r>
              <a:rPr lang="en-US" sz="2400" dirty="0" smtClean="0"/>
              <a:t>Production testing</a:t>
            </a:r>
          </a:p>
        </p:txBody>
      </p:sp>
      <p:pic>
        <p:nvPicPr>
          <p:cNvPr id="1026" name="Picture 2" descr="https://www.valuepersqft.com/wp-content/uploads/2019/03/Checklist-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905000"/>
            <a:ext cx="2286000" cy="2286000"/>
          </a:xfrm>
          <a:prstGeom prst="rect">
            <a:avLst/>
          </a:prstGeom>
          <a:noFill/>
        </p:spPr>
      </p:pic>
      <p:pic>
        <p:nvPicPr>
          <p:cNvPr id="5" name="Picture 4" descr="https://blog.qatestlab.com/wp-content/uploads/2018/01/project-piloting-1200x545_c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4648200"/>
            <a:ext cx="3429000" cy="15573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Rollback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486400" cy="4525963"/>
          </a:xfrm>
        </p:spPr>
        <p:txBody>
          <a:bodyPr/>
          <a:lstStyle/>
          <a:p>
            <a:r>
              <a:rPr lang="en-US" sz="2400" dirty="0" smtClean="0"/>
              <a:t>Make a backup of the existing code and data files and database.</a:t>
            </a:r>
          </a:p>
          <a:p>
            <a:r>
              <a:rPr lang="en-US" sz="2400" dirty="0" smtClean="0"/>
              <a:t>Update the code and database.</a:t>
            </a:r>
          </a:p>
          <a:p>
            <a:r>
              <a:rPr lang="en-US" sz="2400" dirty="0" smtClean="0"/>
              <a:t>If problem occurs then</a:t>
            </a:r>
          </a:p>
          <a:p>
            <a:pPr lvl="1"/>
            <a:r>
              <a:rPr lang="en-US" sz="2000" dirty="0" smtClean="0"/>
              <a:t>Delete the new code.</a:t>
            </a:r>
          </a:p>
          <a:p>
            <a:pPr lvl="1"/>
            <a:r>
              <a:rPr lang="en-US" sz="2000" dirty="0" smtClean="0"/>
              <a:t>Revert the code using the code backup.</a:t>
            </a:r>
          </a:p>
          <a:p>
            <a:pPr lvl="1"/>
            <a:r>
              <a:rPr lang="en-US" sz="2000" dirty="0" smtClean="0"/>
              <a:t>Revert the data files using the data files backup.</a:t>
            </a:r>
          </a:p>
          <a:p>
            <a:pPr lvl="1"/>
            <a:r>
              <a:rPr lang="en-US" sz="2000" dirty="0" smtClean="0"/>
              <a:t>Revert the database using the database backup.</a:t>
            </a:r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endParaRPr lang="en-US" sz="2400" dirty="0"/>
          </a:p>
        </p:txBody>
      </p:sp>
      <p:pic>
        <p:nvPicPr>
          <p:cNvPr id="4" name="Picture 2" descr="https://cdn.windowsreport.com/wp-content/uploads/2019/11/file-deleter-softwar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2514600"/>
            <a:ext cx="2286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Point of No Return</a:t>
            </a:r>
            <a:endParaRPr lang="en-US" dirty="0"/>
          </a:p>
        </p:txBody>
      </p:sp>
      <p:pic>
        <p:nvPicPr>
          <p:cNvPr id="64514" name="Picture 2" descr="https://wemakeconsultores.com/wp-content/uploads/2018/11/nouturn-601x3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2286000"/>
            <a:ext cx="5724525" cy="30575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Availability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05400" cy="4525963"/>
          </a:xfrm>
        </p:spPr>
        <p:txBody>
          <a:bodyPr/>
          <a:lstStyle/>
          <a:p>
            <a:r>
              <a:rPr lang="en-US" dirty="0" smtClean="0"/>
              <a:t>Cold backup</a:t>
            </a:r>
          </a:p>
          <a:p>
            <a:r>
              <a:rPr lang="en-US" dirty="0" smtClean="0"/>
              <a:t>Warm standby</a:t>
            </a:r>
          </a:p>
          <a:p>
            <a:pPr lvl="1"/>
            <a:r>
              <a:rPr lang="en-US" dirty="0" smtClean="0"/>
              <a:t>Periodic (nightly) data synchronization.</a:t>
            </a:r>
          </a:p>
          <a:p>
            <a:r>
              <a:rPr lang="en-US" dirty="0" smtClean="0"/>
              <a:t>Hot failover</a:t>
            </a:r>
          </a:p>
          <a:p>
            <a:pPr lvl="1"/>
            <a:r>
              <a:rPr lang="en-US" dirty="0" smtClean="0"/>
              <a:t>Real-time data synchronization.</a:t>
            </a:r>
          </a:p>
        </p:txBody>
      </p:sp>
      <p:pic>
        <p:nvPicPr>
          <p:cNvPr id="68610" name="Picture 2" descr="https://s.eet.eu/products/5_failovergreyhydrablu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1524000"/>
            <a:ext cx="2200000" cy="2200000"/>
          </a:xfrm>
          <a:prstGeom prst="rect">
            <a:avLst/>
          </a:prstGeom>
          <a:noFill/>
        </p:spPr>
      </p:pic>
      <p:pic>
        <p:nvPicPr>
          <p:cNvPr id="68612" name="Picture 4" descr="https://cdn.lynda.com/course/529634/529634-637199616937628465-16x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4114800"/>
            <a:ext cx="3657600" cy="205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Hands-On Exercises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943600" cy="4525963"/>
          </a:xfrm>
        </p:spPr>
        <p:txBody>
          <a:bodyPr/>
          <a:lstStyle/>
          <a:p>
            <a:r>
              <a:rPr lang="en-US" sz="2400" dirty="0" smtClean="0">
                <a:hlinkClick r:id="rId2"/>
              </a:rPr>
              <a:t>https://aws.amazon.com/free/</a:t>
            </a:r>
          </a:p>
          <a:p>
            <a:r>
              <a:rPr lang="en-US" sz="2400" dirty="0" smtClean="0">
                <a:hlinkClick r:id="rId3"/>
              </a:rPr>
              <a:t>https://www.heroku.com/what</a:t>
            </a:r>
            <a:endParaRPr lang="en-US" sz="2400" dirty="0" smtClean="0"/>
          </a:p>
          <a:p>
            <a:r>
              <a:rPr lang="en-US" sz="2400" dirty="0" smtClean="0">
                <a:hlinkClick r:id="rId2"/>
              </a:rPr>
              <a:t>https://docs.docker.com/get-docker/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00800" y="1600200"/>
            <a:ext cx="2257014" cy="1496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www.amazon.com/Deployment-Operations-Software-Engineers-Engineering/dp/B09XT6L7T5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10673</TotalTime>
  <Words>212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Deployment and Operation</vt:lpstr>
      <vt:lpstr>Objectives</vt:lpstr>
      <vt:lpstr>Contents</vt:lpstr>
      <vt:lpstr>References</vt:lpstr>
      <vt:lpstr>Fresh Deployment Plan</vt:lpstr>
      <vt:lpstr>Why is Production Deployment Hard?</vt:lpstr>
      <vt:lpstr>Upgrade Deployment Plan</vt:lpstr>
      <vt:lpstr>Example Rollback Plan</vt:lpstr>
      <vt:lpstr>The Point of No Return</vt:lpstr>
      <vt:lpstr>High Availability</vt:lpstr>
      <vt:lpstr>Hands-On Exercises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3513</cp:revision>
  <dcterms:created xsi:type="dcterms:W3CDTF">2007-10-06T08:25:13Z</dcterms:created>
  <dcterms:modified xsi:type="dcterms:W3CDTF">2025-09-29T18:55:38Z</dcterms:modified>
</cp:coreProperties>
</file>