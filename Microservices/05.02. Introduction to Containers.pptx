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6"/>
  </p:notesMasterIdLst>
  <p:sldIdLst>
    <p:sldId id="371" r:id="rId2"/>
    <p:sldId id="562" r:id="rId3"/>
    <p:sldId id="563" r:id="rId4"/>
    <p:sldId id="564" r:id="rId5"/>
    <p:sldId id="649" r:id="rId6"/>
    <p:sldId id="507" r:id="rId7"/>
    <p:sldId id="508" r:id="rId8"/>
    <p:sldId id="510" r:id="rId9"/>
    <p:sldId id="735" r:id="rId10"/>
    <p:sldId id="736" r:id="rId11"/>
    <p:sldId id="737" r:id="rId12"/>
    <p:sldId id="738" r:id="rId13"/>
    <p:sldId id="739" r:id="rId14"/>
    <p:sldId id="740" r:id="rId15"/>
    <p:sldId id="741" r:id="rId16"/>
    <p:sldId id="742" r:id="rId17"/>
    <p:sldId id="743" r:id="rId18"/>
    <p:sldId id="744" r:id="rId19"/>
    <p:sldId id="748" r:id="rId20"/>
    <p:sldId id="745" r:id="rId21"/>
    <p:sldId id="746" r:id="rId22"/>
    <p:sldId id="747" r:id="rId23"/>
    <p:sldId id="749" r:id="rId24"/>
    <p:sldId id="34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36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8E95B1-5ED0-4005-B293-784E4C93134E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l-cdn.alpinelinux.org/alpine/v3.23/releases/x86_64/alpine-minirootfs-3.23.0-x86_64.tar.gz" TargetMode="External"/><Relationship Id="rId2" Type="http://schemas.openxmlformats.org/officeDocument/2006/relationships/hyperlink" Target="https://www.alpinelinux.org/download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nanikjava/gontainer.gi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Introduction to Containers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explain</a:t>
            </a:r>
            <a:r>
              <a:rPr lang="en-US" sz="2400" dirty="0" smtClean="0"/>
              <a:t> how containers work.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Containers.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Linux Namespaces.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Linux Control Groups.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Linux Root </a:t>
            </a:r>
            <a:r>
              <a:rPr lang="en-US" sz="2400" dirty="0" err="1" smtClean="0"/>
              <a:t>Filesystem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Elton </a:t>
            </a:r>
            <a:r>
              <a:rPr lang="en-US" sz="2400" dirty="0" err="1" smtClean="0"/>
              <a:t>Stoneman</a:t>
            </a:r>
            <a:r>
              <a:rPr lang="en-US" sz="2400" dirty="0" smtClean="0"/>
              <a:t> (2020). Learn </a:t>
            </a:r>
            <a:r>
              <a:rPr lang="en-US" sz="2400" dirty="0" err="1" smtClean="0"/>
              <a:t>Docker</a:t>
            </a:r>
            <a:r>
              <a:rPr lang="en-US" sz="2400" dirty="0" smtClean="0"/>
              <a:t> in a Month of Lunches. Manning Publications.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Nanik</a:t>
            </a:r>
            <a:r>
              <a:rPr lang="en-US" sz="2400" dirty="0" smtClean="0"/>
              <a:t> </a:t>
            </a:r>
            <a:r>
              <a:rPr lang="en-US" sz="2400" dirty="0" err="1" smtClean="0"/>
              <a:t>Tolaram</a:t>
            </a:r>
            <a:r>
              <a:rPr lang="en-US" sz="2400" dirty="0" smtClean="0"/>
              <a:t> (2023). Software Development with Go. Cloud-Native Programming using </a:t>
            </a:r>
            <a:r>
              <a:rPr lang="en-US" sz="2400" dirty="0" err="1" smtClean="0"/>
              <a:t>Golang</a:t>
            </a:r>
            <a:r>
              <a:rPr lang="en-US" sz="2400" dirty="0" smtClean="0"/>
              <a:t> with Linux and </a:t>
            </a:r>
            <a:r>
              <a:rPr lang="en-US" sz="2400" dirty="0" err="1" smtClean="0"/>
              <a:t>Docker</a:t>
            </a:r>
            <a:r>
              <a:rPr lang="en-US" sz="2400" dirty="0" smtClean="0"/>
              <a:t>. </a:t>
            </a:r>
            <a:r>
              <a:rPr lang="en-US" sz="2400" dirty="0" err="1" smtClean="0"/>
              <a:t>Apress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Machines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Every VM needs </a:t>
            </a:r>
            <a:r>
              <a:rPr lang="en-US" sz="1800" i="1" dirty="0" smtClean="0">
                <a:solidFill>
                  <a:srgbClr val="C00000"/>
                </a:solidFill>
              </a:rPr>
              <a:t>its own operating system</a:t>
            </a:r>
            <a:r>
              <a:rPr lang="en-US" sz="1800" dirty="0" smtClean="0"/>
              <a:t>, and that OS can use </a:t>
            </a:r>
            <a:r>
              <a:rPr lang="en-US" sz="1800" u="sng" dirty="0" smtClean="0"/>
              <a:t>gigabytes of memory</a:t>
            </a:r>
            <a:r>
              <a:rPr lang="en-US" sz="1800" dirty="0" smtClean="0"/>
              <a:t> and </a:t>
            </a:r>
            <a:r>
              <a:rPr lang="en-US" sz="1800" u="sng" dirty="0" smtClean="0"/>
              <a:t>lots of CPU time</a:t>
            </a:r>
            <a:r>
              <a:rPr lang="en-US" sz="1800" dirty="0" smtClean="0"/>
              <a:t>—soaking up compute power that should be available for your applications.</a:t>
            </a:r>
          </a:p>
          <a:p>
            <a:r>
              <a:rPr lang="en-US" sz="1800" dirty="0" smtClean="0"/>
              <a:t>There are other concerns too, like </a:t>
            </a:r>
            <a:r>
              <a:rPr lang="en-US" sz="1800" i="1" dirty="0" smtClean="0">
                <a:solidFill>
                  <a:srgbClr val="C00000"/>
                </a:solidFill>
              </a:rPr>
              <a:t>licensing costs for the OS</a:t>
            </a:r>
            <a:r>
              <a:rPr lang="en-US" sz="1800" dirty="0" smtClean="0"/>
              <a:t> and the </a:t>
            </a:r>
            <a:r>
              <a:rPr lang="en-US" sz="1800" i="1" dirty="0" smtClean="0">
                <a:solidFill>
                  <a:srgbClr val="C00000"/>
                </a:solidFill>
              </a:rPr>
              <a:t>maintenance burden of installing OS updates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200400"/>
            <a:ext cx="4766310" cy="3345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Container?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err="1" smtClean="0">
                <a:solidFill>
                  <a:srgbClr val="C00000"/>
                </a:solidFill>
              </a:rPr>
              <a:t>Docker</a:t>
            </a:r>
            <a:r>
              <a:rPr lang="en-US" sz="2400" i="1" dirty="0" smtClean="0">
                <a:solidFill>
                  <a:srgbClr val="C00000"/>
                </a:solidFill>
              </a:rPr>
              <a:t> container</a:t>
            </a:r>
            <a:r>
              <a:rPr lang="en-US" sz="2400" dirty="0" smtClean="0"/>
              <a:t> is the same idea as a physical container—think of it like </a:t>
            </a:r>
            <a:r>
              <a:rPr lang="en-US" sz="2400" u="sng" dirty="0" smtClean="0"/>
              <a:t>a box with an application in it</a:t>
            </a:r>
            <a:r>
              <a:rPr lang="en-US" sz="2400" dirty="0" smtClean="0"/>
              <a:t>.</a:t>
            </a:r>
          </a:p>
          <a:p>
            <a:r>
              <a:rPr lang="en-US" sz="2400" u="sng" dirty="0" smtClean="0"/>
              <a:t>Inside the box</a:t>
            </a:r>
            <a:r>
              <a:rPr lang="en-US" sz="2400" dirty="0" smtClean="0"/>
              <a:t>, the application seems to have </a:t>
            </a:r>
            <a:r>
              <a:rPr lang="en-US" sz="2400" u="sng" dirty="0" smtClean="0"/>
              <a:t>a computer</a:t>
            </a:r>
            <a:r>
              <a:rPr lang="en-US" sz="2400" dirty="0" smtClean="0"/>
              <a:t> all to itself: it has its own </a:t>
            </a:r>
            <a:r>
              <a:rPr lang="en-US" sz="2400" i="1" dirty="0" smtClean="0">
                <a:solidFill>
                  <a:srgbClr val="C00000"/>
                </a:solidFill>
              </a:rPr>
              <a:t>machine name </a:t>
            </a:r>
            <a:r>
              <a:rPr lang="en-US" sz="2400" dirty="0" smtClean="0"/>
              <a:t>and </a:t>
            </a:r>
            <a:r>
              <a:rPr lang="en-US" sz="2400" i="1" dirty="0" smtClean="0">
                <a:solidFill>
                  <a:srgbClr val="C00000"/>
                </a:solidFill>
              </a:rPr>
              <a:t>IP address</a:t>
            </a:r>
            <a:r>
              <a:rPr lang="en-US" sz="2400" dirty="0" smtClean="0"/>
              <a:t>, and it also has its own </a:t>
            </a:r>
            <a:r>
              <a:rPr lang="en-US" sz="2400" i="1" dirty="0" smtClean="0">
                <a:solidFill>
                  <a:srgbClr val="C00000"/>
                </a:solidFill>
              </a:rPr>
              <a:t>disk drive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665220"/>
            <a:ext cx="7010400" cy="2354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Containers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application inside the box can't see anything outside the box, but the box is running on a computer, and that computer can also be running lots of other boxes.</a:t>
            </a:r>
          </a:p>
          <a:p>
            <a:r>
              <a:rPr lang="en-US" sz="2000" dirty="0" smtClean="0"/>
              <a:t>They all </a:t>
            </a:r>
            <a:r>
              <a:rPr lang="en-US" sz="2000" i="1" dirty="0" smtClean="0">
                <a:solidFill>
                  <a:srgbClr val="C00000"/>
                </a:solidFill>
              </a:rPr>
              <a:t>share the CPU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memory</a:t>
            </a:r>
            <a:r>
              <a:rPr lang="en-US" sz="2000" dirty="0" smtClean="0"/>
              <a:t> of the computer, and </a:t>
            </a:r>
            <a:r>
              <a:rPr lang="en-US" sz="2000" b="1" i="1" dirty="0" smtClean="0">
                <a:solidFill>
                  <a:srgbClr val="C00000"/>
                </a:solidFill>
              </a:rPr>
              <a:t>they all share the computer's operating system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429000"/>
            <a:ext cx="4777740" cy="2960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/sys directory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>
                <a:solidFill>
                  <a:srgbClr val="C00000"/>
                </a:solidFill>
              </a:rPr>
              <a:t>virtual </a:t>
            </a:r>
            <a:r>
              <a:rPr lang="en-US" i="1" dirty="0" err="1" smtClean="0">
                <a:solidFill>
                  <a:srgbClr val="C00000"/>
                </a:solidFill>
              </a:rPr>
              <a:t>filesystem</a:t>
            </a:r>
            <a:r>
              <a:rPr lang="en-US" dirty="0" smtClean="0"/>
              <a:t> containing device drivers, device information, and other kernel features.</a:t>
            </a:r>
          </a:p>
          <a:p>
            <a:r>
              <a:rPr lang="en-US" dirty="0" err="1" smtClean="0">
                <a:latin typeface="Consolas" pitchFamily="49" charset="0"/>
              </a:rPr>
              <a:t>ls</a:t>
            </a:r>
            <a:r>
              <a:rPr lang="en-US" dirty="0" smtClean="0">
                <a:latin typeface="Consolas" pitchFamily="49" charset="0"/>
              </a:rPr>
              <a:t> /sys</a:t>
            </a:r>
            <a:endParaRPr lang="en-US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038600"/>
            <a:ext cx="53625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/proc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/proc directory is also known as </a:t>
            </a:r>
            <a:r>
              <a:rPr lang="en-US" sz="2800" dirty="0" err="1" smtClean="0"/>
              <a:t>procfs</a:t>
            </a:r>
            <a:r>
              <a:rPr lang="en-US" sz="2800" dirty="0" smtClean="0"/>
              <a:t>, and it contains useful information about </a:t>
            </a:r>
            <a:r>
              <a:rPr lang="en-US" sz="2800" i="1" dirty="0" smtClean="0">
                <a:solidFill>
                  <a:srgbClr val="C00000"/>
                </a:solidFill>
              </a:rPr>
              <a:t>processes</a:t>
            </a:r>
            <a:r>
              <a:rPr lang="en-US" sz="2800" dirty="0" smtClean="0"/>
              <a:t> that are currently running.</a:t>
            </a:r>
          </a:p>
          <a:p>
            <a:r>
              <a:rPr lang="en-US" sz="2800" dirty="0" err="1" smtClean="0">
                <a:latin typeface="Consolas" pitchFamily="49" charset="0"/>
              </a:rPr>
              <a:t>ls</a:t>
            </a:r>
            <a:r>
              <a:rPr lang="en-US" sz="2800" dirty="0" smtClean="0">
                <a:latin typeface="Consolas" pitchFamily="49" charset="0"/>
              </a:rPr>
              <a:t> /proc -la</a:t>
            </a:r>
            <a:endParaRPr lang="en-US" sz="28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8913" y="3844925"/>
            <a:ext cx="6226175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 Namespace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namespace</a:t>
            </a:r>
            <a:r>
              <a:rPr lang="en-US" sz="2400" dirty="0" smtClean="0"/>
              <a:t> is a feature provided by the Linux kernel for creating an </a:t>
            </a:r>
            <a:r>
              <a:rPr lang="en-US" sz="2400" u="sng" dirty="0" smtClean="0"/>
              <a:t>isolated environment for processes</a:t>
            </a:r>
            <a:r>
              <a:rPr lang="en-US" sz="2400" dirty="0" smtClean="0"/>
              <a:t> that you want to run with their own resources.</a:t>
            </a:r>
          </a:p>
          <a:p>
            <a:r>
              <a:rPr lang="en-US" sz="2400" dirty="0" smtClean="0"/>
              <a:t>Each application that is running inside a namespace cannot access anything outside its own namespace.</a:t>
            </a:r>
          </a:p>
          <a:p>
            <a:r>
              <a:rPr lang="en-US" sz="2400" dirty="0" smtClean="0"/>
              <a:t>For example, App1 cannot access App2 resources.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495800"/>
            <a:ext cx="3376613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namespace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# list processes: </a:t>
            </a:r>
            <a:r>
              <a:rPr lang="en-US" sz="2200" dirty="0" err="1" smtClean="0"/>
              <a:t>ps</a:t>
            </a:r>
            <a:r>
              <a:rPr lang="en-US" sz="2200" dirty="0" smtClean="0"/>
              <a:t> au</a:t>
            </a:r>
          </a:p>
          <a:p>
            <a:r>
              <a:rPr lang="en-US" sz="2200" dirty="0" smtClean="0"/>
              <a:t># list network interfaces: # </a:t>
            </a:r>
            <a:r>
              <a:rPr lang="en-US" sz="2200" dirty="0" err="1" smtClean="0"/>
              <a:t>ip</a:t>
            </a:r>
            <a:r>
              <a:rPr lang="en-US" sz="2200" dirty="0" smtClean="0"/>
              <a:t> link</a:t>
            </a:r>
          </a:p>
          <a:p>
            <a:r>
              <a:rPr lang="en-US" sz="2200" dirty="0" smtClean="0"/>
              <a:t># create a namespace and run bash inside the created namespace: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unshare</a:t>
            </a:r>
            <a:r>
              <a:rPr lang="en-US" sz="2200" dirty="0" smtClean="0">
                <a:latin typeface="Consolas" pitchFamily="49" charset="0"/>
              </a:rPr>
              <a:t> --user --</a:t>
            </a:r>
            <a:r>
              <a:rPr lang="en-US" sz="2200" dirty="0" err="1" smtClean="0">
                <a:latin typeface="Consolas" pitchFamily="49" charset="0"/>
              </a:rPr>
              <a:t>pid</a:t>
            </a:r>
            <a:r>
              <a:rPr lang="en-US" sz="2200" dirty="0" smtClean="0">
                <a:latin typeface="Consolas" pitchFamily="49" charset="0"/>
              </a:rPr>
              <a:t> --map-root-user --</a:t>
            </a:r>
            <a:r>
              <a:rPr lang="en-US" sz="2200" dirty="0" err="1" smtClean="0">
                <a:latin typeface="Consolas" pitchFamily="49" charset="0"/>
              </a:rPr>
              <a:t>cgroup</a:t>
            </a:r>
            <a:r>
              <a:rPr lang="en-US" sz="2200" dirty="0" smtClean="0">
                <a:latin typeface="Consolas" pitchFamily="49" charset="0"/>
              </a:rPr>
              <a:t> --mount-proc --net --</a:t>
            </a:r>
            <a:r>
              <a:rPr lang="en-US" sz="2200" dirty="0" err="1" smtClean="0">
                <a:latin typeface="Consolas" pitchFamily="49" charset="0"/>
              </a:rPr>
              <a:t>uts</a:t>
            </a:r>
            <a:r>
              <a:rPr lang="en-US" sz="2200" dirty="0" smtClean="0">
                <a:latin typeface="Consolas" pitchFamily="49" charset="0"/>
              </a:rPr>
              <a:t> --fork bash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19100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cgroups</a:t>
            </a:r>
            <a:r>
              <a:rPr lang="en-US" sz="2200" dirty="0" smtClean="0"/>
              <a:t> stands for </a:t>
            </a:r>
            <a:r>
              <a:rPr lang="en-US" sz="2200" i="1" dirty="0" smtClean="0">
                <a:solidFill>
                  <a:srgbClr val="C00000"/>
                </a:solidFill>
              </a:rPr>
              <a:t>control groups</a:t>
            </a:r>
            <a:r>
              <a:rPr lang="en-US" sz="2200" dirty="0" smtClean="0"/>
              <a:t>, which is a feature provided by the Linux kernel.</a:t>
            </a:r>
          </a:p>
          <a:p>
            <a:r>
              <a:rPr lang="en-US" sz="2200" dirty="0" smtClean="0"/>
              <a:t>Namespaces go hand in hand with </a:t>
            </a:r>
            <a:r>
              <a:rPr lang="en-US" sz="2200" dirty="0" err="1" smtClean="0"/>
              <a:t>cgroups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cgroups</a:t>
            </a:r>
            <a:r>
              <a:rPr lang="en-US" sz="2200" dirty="0" smtClean="0"/>
              <a:t> gives users the ability to limit certain resources such as the CPU and memory network allocated for a particular process or processes.</a:t>
            </a:r>
          </a:p>
          <a:p>
            <a:r>
              <a:rPr lang="en-US" sz="2200" dirty="0" err="1" smtClean="0"/>
              <a:t>cgroups</a:t>
            </a:r>
            <a:r>
              <a:rPr lang="en-US" sz="2200" dirty="0" smtClean="0"/>
              <a:t> resides inside the </a:t>
            </a:r>
            <a:r>
              <a:rPr lang="en-US" sz="2200" b="1" dirty="0" smtClean="0"/>
              <a:t>/sys/</a:t>
            </a:r>
            <a:r>
              <a:rPr lang="en-US" sz="2200" b="1" dirty="0" err="1" smtClean="0"/>
              <a:t>fs</a:t>
            </a:r>
            <a:r>
              <a:rPr lang="en-US" sz="2200" b="1" dirty="0" smtClean="0"/>
              <a:t>/</a:t>
            </a:r>
            <a:r>
              <a:rPr lang="en-US" sz="2200" b="1" dirty="0" err="1" smtClean="0"/>
              <a:t>cgroup</a:t>
            </a:r>
            <a:r>
              <a:rPr lang="en-US" sz="2200" dirty="0" smtClean="0"/>
              <a:t> directory.</a:t>
            </a:r>
          </a:p>
          <a:p>
            <a:r>
              <a:rPr lang="en-US" sz="2200" b="1" dirty="0" err="1" smtClean="0">
                <a:latin typeface="Consolas" pitchFamily="49" charset="0"/>
              </a:rPr>
              <a:t>ls</a:t>
            </a:r>
            <a:r>
              <a:rPr lang="en-US" sz="2200" b="1" dirty="0" smtClean="0">
                <a:latin typeface="Consolas" pitchFamily="49" charset="0"/>
              </a:rPr>
              <a:t> /sys/</a:t>
            </a:r>
            <a:r>
              <a:rPr lang="en-US" sz="2200" b="1" dirty="0" err="1" smtClean="0">
                <a:latin typeface="Consolas" pitchFamily="49" charset="0"/>
              </a:rPr>
              <a:t>fs</a:t>
            </a:r>
            <a:r>
              <a:rPr lang="en-US" sz="2200" b="1" dirty="0" smtClean="0">
                <a:latin typeface="Consolas" pitchFamily="49" charset="0"/>
              </a:rPr>
              <a:t>/</a:t>
            </a:r>
            <a:r>
              <a:rPr lang="en-US" sz="2200" b="1" dirty="0" err="1" smtClean="0">
                <a:latin typeface="Consolas" pitchFamily="49" charset="0"/>
              </a:rPr>
              <a:t>cgroup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800600"/>
            <a:ext cx="62833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</a:t>
            </a:r>
            <a:r>
              <a:rPr lang="en-US" dirty="0" err="1" smtClean="0"/>
              <a:t>cgroup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mkdir</a:t>
            </a:r>
            <a:r>
              <a:rPr lang="en-US" sz="2400" dirty="0" smtClean="0">
                <a:latin typeface="Consolas" pitchFamily="49" charset="0"/>
              </a:rPr>
              <a:t> /sys/</a:t>
            </a:r>
            <a:r>
              <a:rPr lang="en-US" sz="2400" dirty="0" err="1" smtClean="0">
                <a:latin typeface="Consolas" pitchFamily="49" charset="0"/>
              </a:rPr>
              <a:t>fs</a:t>
            </a:r>
            <a:r>
              <a:rPr lang="en-US" sz="2400" dirty="0" smtClean="0">
                <a:latin typeface="Consolas" pitchFamily="49" charset="0"/>
              </a:rPr>
              <a:t>/</a:t>
            </a:r>
            <a:r>
              <a:rPr lang="en-US" sz="2400" dirty="0" err="1" smtClean="0">
                <a:latin typeface="Consolas" pitchFamily="49" charset="0"/>
              </a:rPr>
              <a:t>cgroup</a:t>
            </a:r>
            <a:r>
              <a:rPr lang="en-US" sz="2400" dirty="0" smtClean="0">
                <a:latin typeface="Consolas" pitchFamily="49" charset="0"/>
              </a:rPr>
              <a:t>/example</a:t>
            </a: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</a:t>
            </a:r>
            <a:r>
              <a:rPr lang="en-US" sz="2400" dirty="0" err="1" smtClean="0">
                <a:latin typeface="Consolas" pitchFamily="49" charset="0"/>
              </a:rPr>
              <a:t>ls</a:t>
            </a:r>
            <a:r>
              <a:rPr lang="en-US" sz="2400" dirty="0" smtClean="0">
                <a:latin typeface="Consolas" pitchFamily="49" charset="0"/>
              </a:rPr>
              <a:t> /sys/</a:t>
            </a:r>
            <a:r>
              <a:rPr lang="en-US" sz="2400" dirty="0" err="1" smtClean="0">
                <a:latin typeface="Consolas" pitchFamily="49" charset="0"/>
              </a:rPr>
              <a:t>fs</a:t>
            </a:r>
            <a:r>
              <a:rPr lang="en-US" sz="2400" dirty="0" smtClean="0">
                <a:latin typeface="Consolas" pitchFamily="49" charset="0"/>
              </a:rPr>
              <a:t>/</a:t>
            </a:r>
            <a:r>
              <a:rPr lang="en-US" sz="2400" dirty="0" err="1" smtClean="0">
                <a:latin typeface="Consolas" pitchFamily="49" charset="0"/>
              </a:rPr>
              <a:t>cgroup</a:t>
            </a:r>
            <a:r>
              <a:rPr lang="en-US" sz="2400" dirty="0" smtClean="0">
                <a:latin typeface="Consolas" pitchFamily="49" charset="0"/>
              </a:rPr>
              <a:t>/example -la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2766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new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err="1" smtClean="0"/>
              <a:t>sudo</a:t>
            </a:r>
            <a:r>
              <a:rPr lang="en-US" sz="2200" b="1" dirty="0" smtClean="0"/>
              <a:t> apt install stress</a:t>
            </a:r>
          </a:p>
          <a:p>
            <a:r>
              <a:rPr lang="en-US" sz="2200" dirty="0" smtClean="0"/>
              <a:t># The application will run for 60 seconds using one core and consuming 100% of CPU usage:</a:t>
            </a:r>
          </a:p>
          <a:p>
            <a:r>
              <a:rPr lang="en-US" sz="2200" b="1" dirty="0" smtClean="0"/>
              <a:t>stress --</a:t>
            </a:r>
            <a:r>
              <a:rPr lang="en-US" sz="2200" b="1" dirty="0" err="1" smtClean="0"/>
              <a:t>cpu</a:t>
            </a:r>
            <a:r>
              <a:rPr lang="en-US" sz="2200" b="1" dirty="0" smtClean="0"/>
              <a:t> 1 --timeout 60</a:t>
            </a:r>
          </a:p>
          <a:p>
            <a:r>
              <a:rPr lang="en-US" sz="2200" dirty="0" smtClean="0"/>
              <a:t># Open another terminal:</a:t>
            </a:r>
          </a:p>
          <a:p>
            <a:r>
              <a:rPr lang="en-US" sz="2200" b="1" dirty="0" smtClean="0"/>
              <a:t>top</a:t>
            </a:r>
          </a:p>
          <a:p>
            <a:endParaRPr lang="en-US" sz="2200" dirty="0" smtClean="0"/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34340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Add a process to a </a:t>
            </a:r>
            <a:r>
              <a:rPr lang="en-US" dirty="0" err="1" smtClean="0"/>
              <a:t>cgroup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# </a:t>
            </a:r>
            <a:r>
              <a:rPr lang="en-US" sz="1800" b="1" dirty="0" smtClean="0"/>
              <a:t>tee</a:t>
            </a:r>
            <a:r>
              <a:rPr lang="en-US" sz="1800" dirty="0" smtClean="0"/>
              <a:t> is a standard Unix utility that reads from standard input and writes the data to both standard output and one or more files.</a:t>
            </a:r>
          </a:p>
          <a:p>
            <a:r>
              <a:rPr lang="en-US" sz="1800" dirty="0" smtClean="0"/>
              <a:t># </a:t>
            </a:r>
            <a:r>
              <a:rPr lang="en-US" sz="1800" b="1" dirty="0" smtClean="0"/>
              <a:t>quota = 200000 microseconds</a:t>
            </a:r>
            <a:endParaRPr lang="en-US" sz="1800" dirty="0" smtClean="0"/>
          </a:p>
          <a:p>
            <a:r>
              <a:rPr lang="en-US" sz="1800" b="1" dirty="0" smtClean="0"/>
              <a:t># period = 1000000 microseconds (1 second)</a:t>
            </a:r>
            <a:endParaRPr lang="en-US" sz="1800" dirty="0" smtClean="0"/>
          </a:p>
          <a:p>
            <a:r>
              <a:rPr lang="en-US" sz="1800" dirty="0" smtClean="0"/>
              <a:t>echo "200000 1000000" | </a:t>
            </a:r>
            <a:r>
              <a:rPr lang="en-US" sz="1800" dirty="0" err="1" smtClean="0"/>
              <a:t>sudo</a:t>
            </a:r>
            <a:r>
              <a:rPr lang="en-US" sz="1800" dirty="0" smtClean="0"/>
              <a:t> tee /sys/</a:t>
            </a:r>
            <a:r>
              <a:rPr lang="en-US" sz="1800" dirty="0" err="1" smtClean="0"/>
              <a:t>fs</a:t>
            </a:r>
            <a:r>
              <a:rPr lang="en-US" sz="1800" dirty="0" smtClean="0"/>
              <a:t>/</a:t>
            </a:r>
            <a:r>
              <a:rPr lang="en-US" sz="1800" dirty="0" err="1" smtClean="0"/>
              <a:t>cgroup</a:t>
            </a:r>
            <a:r>
              <a:rPr lang="en-US" sz="1800" dirty="0" smtClean="0"/>
              <a:t>/example/cpu.max</a:t>
            </a:r>
          </a:p>
          <a:p>
            <a:r>
              <a:rPr lang="en-US" sz="1800" dirty="0" smtClean="0"/>
              <a:t># Insert the value of the process id into the </a:t>
            </a:r>
            <a:r>
              <a:rPr lang="en-US" sz="1800" dirty="0" err="1" smtClean="0"/>
              <a:t>cgroups</a:t>
            </a:r>
            <a:r>
              <a:rPr lang="en-US" sz="1800" dirty="0" smtClean="0"/>
              <a:t> directory:</a:t>
            </a:r>
          </a:p>
          <a:p>
            <a:r>
              <a:rPr lang="en-US" sz="1800" dirty="0" smtClean="0"/>
              <a:t>echo "</a:t>
            </a:r>
            <a:r>
              <a:rPr lang="en-US" sz="1800" b="1" dirty="0" smtClean="0"/>
              <a:t>3611</a:t>
            </a:r>
            <a:r>
              <a:rPr lang="en-US" sz="1800" dirty="0" smtClean="0"/>
              <a:t>" | </a:t>
            </a:r>
            <a:r>
              <a:rPr lang="en-US" sz="1800" dirty="0" err="1" smtClean="0"/>
              <a:t>sudo</a:t>
            </a:r>
            <a:r>
              <a:rPr lang="en-US" sz="1800" dirty="0" smtClean="0"/>
              <a:t> tee /sys/</a:t>
            </a:r>
            <a:r>
              <a:rPr lang="en-US" sz="1800" dirty="0" err="1" smtClean="0"/>
              <a:t>fs</a:t>
            </a:r>
            <a:r>
              <a:rPr lang="en-US" sz="1800" dirty="0" smtClean="0"/>
              <a:t>/</a:t>
            </a:r>
            <a:r>
              <a:rPr lang="en-US" sz="1800" dirty="0" err="1" smtClean="0"/>
              <a:t>cgroup</a:t>
            </a:r>
            <a:r>
              <a:rPr lang="en-US" sz="1800" dirty="0" smtClean="0"/>
              <a:t>/example/</a:t>
            </a:r>
            <a:r>
              <a:rPr lang="en-US" sz="1800" dirty="0" err="1" smtClean="0"/>
              <a:t>cgroup.procs</a:t>
            </a:r>
            <a:endParaRPr lang="en-US" sz="1800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210050"/>
            <a:ext cx="628332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rootfs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rootfs</a:t>
            </a:r>
            <a:r>
              <a:rPr lang="en-US" sz="2400" dirty="0" smtClean="0"/>
              <a:t> stands for </a:t>
            </a:r>
            <a:r>
              <a:rPr lang="en-US" sz="2400" i="1" dirty="0" smtClean="0">
                <a:solidFill>
                  <a:srgbClr val="C00000"/>
                </a:solidFill>
              </a:rPr>
              <a:t>root </a:t>
            </a:r>
            <a:r>
              <a:rPr lang="en-US" sz="2400" i="1" dirty="0" err="1" smtClean="0">
                <a:solidFill>
                  <a:srgbClr val="C00000"/>
                </a:solidFill>
              </a:rPr>
              <a:t>filesystem</a:t>
            </a:r>
            <a:r>
              <a:rPr lang="en-US" sz="2400" dirty="0" smtClean="0"/>
              <a:t>, which simply means it is the </a:t>
            </a:r>
            <a:r>
              <a:rPr lang="en-US" sz="2400" dirty="0" err="1" smtClean="0"/>
              <a:t>filesystem</a:t>
            </a:r>
            <a:r>
              <a:rPr lang="en-US" sz="2400" dirty="0" smtClean="0"/>
              <a:t> containing all the basic necessary files required to boot the operating system.</a:t>
            </a:r>
          </a:p>
          <a:p>
            <a:r>
              <a:rPr lang="en-US" sz="2400" dirty="0" smtClean="0"/>
              <a:t>Without the correct </a:t>
            </a:r>
            <a:r>
              <a:rPr lang="en-US" sz="2400" dirty="0" err="1" smtClean="0"/>
              <a:t>rootfs</a:t>
            </a:r>
            <a:r>
              <a:rPr lang="en-US" sz="2400" dirty="0" smtClean="0"/>
              <a:t>, the operating system will not boot up and no application can run.</a:t>
            </a:r>
          </a:p>
          <a:p>
            <a:r>
              <a:rPr lang="en-US" sz="2400" dirty="0" err="1" smtClean="0"/>
              <a:t>rootfs</a:t>
            </a:r>
            <a:r>
              <a:rPr lang="en-US" sz="2400" dirty="0" smtClean="0"/>
              <a:t> is required so that the operating system can allow other file systems to be mounted, which includes configuration, essential startup processes and data, and other </a:t>
            </a:r>
            <a:r>
              <a:rPr lang="en-US" sz="2400" dirty="0" err="1" smtClean="0"/>
              <a:t>filesystems</a:t>
            </a:r>
            <a:r>
              <a:rPr lang="en-US" sz="2400" dirty="0" smtClean="0"/>
              <a:t> that are located in other disk partitions.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Minimal </a:t>
            </a:r>
            <a:r>
              <a:rPr lang="en-US" dirty="0" err="1" smtClean="0"/>
              <a:t>rootfs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https://www.alpinelinux.org/downloads/</a:t>
            </a:r>
            <a:endParaRPr lang="en-US" sz="2200" dirty="0" smtClean="0"/>
          </a:p>
          <a:p>
            <a:r>
              <a:rPr lang="en-US" sz="2200" dirty="0" smtClean="0"/>
              <a:t>Alpine is a very well-known Linux distribution that is used widely when creating containers because of its small image size.</a:t>
            </a:r>
          </a:p>
          <a:p>
            <a:r>
              <a:rPr lang="en-US" sz="2200" dirty="0" smtClean="0"/>
              <a:t># Check machine architecture:</a:t>
            </a:r>
          </a:p>
          <a:p>
            <a:r>
              <a:rPr lang="en-US" sz="2200" b="1" dirty="0" err="1" smtClean="0"/>
              <a:t>uname</a:t>
            </a:r>
            <a:r>
              <a:rPr lang="en-US" sz="2200" b="1" dirty="0" smtClean="0"/>
              <a:t> -m</a:t>
            </a:r>
          </a:p>
          <a:p>
            <a:r>
              <a:rPr lang="en-US" sz="2200" dirty="0" err="1" smtClean="0"/>
              <a:t>wget</a:t>
            </a:r>
            <a:r>
              <a:rPr lang="en-US" sz="2200" dirty="0" smtClean="0"/>
              <a:t> </a:t>
            </a:r>
            <a:r>
              <a:rPr lang="en-US" sz="2200" dirty="0" smtClean="0">
                <a:hlinkClick r:id="rId3"/>
              </a:rPr>
              <a:t>https://dl-cdn.alpinelinux.org/alpine/v3.23/releases/x86_64/alpine-minirootfs-3.23.0-x86_64.tar.gz</a:t>
            </a:r>
            <a:endParaRPr lang="en-US" sz="2200" dirty="0" smtClean="0"/>
          </a:p>
          <a:p>
            <a:r>
              <a:rPr lang="en-US" sz="2200" dirty="0" err="1" smtClean="0"/>
              <a:t>mkdir</a:t>
            </a:r>
            <a:r>
              <a:rPr lang="en-US" sz="2200" dirty="0" smtClean="0"/>
              <a:t> alpine-</a:t>
            </a:r>
            <a:r>
              <a:rPr lang="en-US" sz="2200" dirty="0" err="1" smtClean="0"/>
              <a:t>rootfs</a:t>
            </a:r>
            <a:endParaRPr lang="en-US" sz="2200" dirty="0" smtClean="0"/>
          </a:p>
          <a:p>
            <a:r>
              <a:rPr lang="en-US" sz="2200" dirty="0" smtClean="0"/>
              <a:t>tar -</a:t>
            </a:r>
            <a:r>
              <a:rPr lang="en-US" sz="2200" dirty="0" err="1" smtClean="0"/>
              <a:t>xvf</a:t>
            </a:r>
            <a:r>
              <a:rPr lang="en-US" sz="2200" dirty="0" smtClean="0"/>
              <a:t> alpine-minirootfs-3.23.0-x86_64.tar.gz -C alpine-</a:t>
            </a:r>
            <a:r>
              <a:rPr lang="en-US" sz="2200" dirty="0" err="1" smtClean="0"/>
              <a:t>rootfs</a:t>
            </a:r>
            <a:endParaRPr lang="en-US" sz="2200" dirty="0" smtClean="0"/>
          </a:p>
          <a:p>
            <a:r>
              <a:rPr lang="en-US" sz="2200" dirty="0" err="1" smtClean="0"/>
              <a:t>ls</a:t>
            </a:r>
            <a:r>
              <a:rPr lang="en-US" sz="2200" dirty="0" smtClean="0"/>
              <a:t> alpine-</a:t>
            </a:r>
            <a:r>
              <a:rPr lang="en-US" sz="2200" dirty="0" err="1" smtClean="0"/>
              <a:t>rootfs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chroot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chroot</a:t>
            </a:r>
            <a:r>
              <a:rPr lang="en-US" dirty="0" smtClean="0"/>
              <a:t> in </a:t>
            </a:r>
            <a:r>
              <a:rPr lang="en-US" dirty="0" err="1" smtClean="0"/>
              <a:t>Ubuntu</a:t>
            </a:r>
            <a:r>
              <a:rPr lang="en-US" dirty="0" smtClean="0"/>
              <a:t> (and all Unix-like systems) is a mechanism that changes the apparent root directory (/) for a running process.</a:t>
            </a:r>
          </a:p>
          <a:p>
            <a:r>
              <a:rPr lang="en-US" dirty="0" smtClean="0"/>
              <a:t>After entering a </a:t>
            </a:r>
            <a:r>
              <a:rPr lang="en-US" dirty="0" err="1" smtClean="0"/>
              <a:t>chroot</a:t>
            </a:r>
            <a:r>
              <a:rPr lang="en-US" dirty="0" smtClean="0"/>
              <a:t>, the process cannot "see" files outside that directory </a:t>
            </a:r>
            <a:r>
              <a:rPr lang="en-US" dirty="0" err="1" smtClean="0"/>
              <a:t>subtree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Run a </a:t>
            </a:r>
            <a:r>
              <a:rPr lang="en-US" smtClean="0"/>
              <a:t>Simple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git</a:t>
            </a:r>
            <a:r>
              <a:rPr lang="en-US" sz="2400" dirty="0" smtClean="0"/>
              <a:t> clone </a:t>
            </a:r>
            <a:r>
              <a:rPr lang="en-US" sz="2400" dirty="0" smtClean="0">
                <a:hlinkClick r:id="rId2"/>
              </a:rPr>
              <a:t>https://github.com/nanikjava/gontainer.git</a:t>
            </a:r>
            <a:endParaRPr lang="en-US" sz="2400" dirty="0" smtClean="0"/>
          </a:p>
          <a:p>
            <a:r>
              <a:rPr lang="en-US" sz="2400" dirty="0" err="1" smtClean="0"/>
              <a:t>cd</a:t>
            </a:r>
            <a:r>
              <a:rPr lang="en-US" sz="2400" dirty="0" smtClean="0"/>
              <a:t> </a:t>
            </a:r>
            <a:r>
              <a:rPr lang="en-US" sz="2400" dirty="0" err="1" smtClean="0"/>
              <a:t>gontainer</a:t>
            </a:r>
            <a:endParaRPr lang="en-US" sz="2400" dirty="0" smtClean="0"/>
          </a:p>
          <a:p>
            <a:r>
              <a:rPr lang="en-US" sz="2400" dirty="0" smtClean="0"/>
              <a:t>go build</a:t>
            </a:r>
          </a:p>
          <a:p>
            <a:r>
              <a:rPr lang="en-US" sz="2400" dirty="0" err="1" smtClean="0"/>
              <a:t>ls</a:t>
            </a:r>
            <a:endParaRPr lang="en-US" sz="2400" dirty="0" smtClean="0"/>
          </a:p>
          <a:p>
            <a:r>
              <a:rPr lang="en-US" sz="2400" dirty="0" err="1" smtClean="0"/>
              <a:t>sudo</a:t>
            </a:r>
            <a:r>
              <a:rPr lang="en-US" sz="2400" dirty="0" smtClean="0"/>
              <a:t> ./</a:t>
            </a:r>
            <a:r>
              <a:rPr lang="en-US" sz="2400" dirty="0" err="1" smtClean="0"/>
              <a:t>gontainer</a:t>
            </a:r>
            <a:r>
              <a:rPr lang="en-US" sz="2400" dirty="0" smtClean="0"/>
              <a:t> --</a:t>
            </a:r>
            <a:r>
              <a:rPr lang="en-US" sz="2400" dirty="0" err="1" smtClean="0"/>
              <a:t>chrt</a:t>
            </a:r>
            <a:r>
              <a:rPr lang="en-US" sz="2400" dirty="0" smtClean="0"/>
              <a:t> "/home/</a:t>
            </a:r>
            <a:r>
              <a:rPr lang="en-US" sz="2400" dirty="0" err="1" smtClean="0"/>
              <a:t>ubuntu</a:t>
            </a:r>
            <a:r>
              <a:rPr lang="en-US" sz="2400" dirty="0" smtClean="0"/>
              <a:t>/alpine-</a:t>
            </a:r>
            <a:r>
              <a:rPr lang="en-US" sz="2400" dirty="0" err="1" smtClean="0"/>
              <a:t>rootfs</a:t>
            </a:r>
            <a:r>
              <a:rPr lang="en-US" sz="2400" dirty="0" smtClean="0"/>
              <a:t>" run </a:t>
            </a:r>
            <a:r>
              <a:rPr lang="en-US" sz="2400" dirty="0" err="1" smtClean="0"/>
              <a:t>sh</a:t>
            </a:r>
            <a:endParaRPr lang="en-US" sz="2400" dirty="0" smtClean="0"/>
          </a:p>
          <a:p>
            <a:r>
              <a:rPr lang="en-US" sz="2400" dirty="0" err="1" smtClean="0"/>
              <a:t>ls</a:t>
            </a:r>
            <a:endParaRPr lang="en-US" sz="2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4538" y="4743450"/>
            <a:ext cx="76549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 Process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6050" y="1790700"/>
            <a:ext cx="6311900" cy="415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Set </a:t>
            </a:r>
            <a:r>
              <a:rPr lang="en-US" dirty="0" err="1" smtClean="0"/>
              <a:t>chroot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9700" y="1638300"/>
            <a:ext cx="632460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 smtClean="0"/>
              <a:t>Liz Rice (2020). Container Security - Fundamental Technology Concepts that Protect Containerized Applications. O'Reilly Media.</a:t>
            </a:r>
            <a:endParaRPr lang="en-US" sz="2200" dirty="0"/>
          </a:p>
        </p:txBody>
      </p:sp>
      <p:pic>
        <p:nvPicPr>
          <p:cNvPr id="4" name="Picture 2" descr="http://www.4aplus.com/wp-content/uploads/2014/02/shutterstock_74085415-1024x6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3886200"/>
            <a:ext cx="2600221" cy="1732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</a:t>
            </a:r>
            <a:r>
              <a:rPr lang="en-US" smtClean="0"/>
              <a:t>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26435</TotalTime>
  <Words>856</Words>
  <Application>Microsoft Office PowerPoint</Application>
  <PresentationFormat>On-screen Show (4:3)</PresentationFormat>
  <Paragraphs>92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Introduction to Containers</vt:lpstr>
      <vt:lpstr>Objectives</vt:lpstr>
      <vt:lpstr>Contents</vt:lpstr>
      <vt:lpstr>References</vt:lpstr>
      <vt:lpstr>Virtual Machines [1]</vt:lpstr>
      <vt:lpstr>What is a Container?</vt:lpstr>
      <vt:lpstr>Multiple Containers</vt:lpstr>
      <vt:lpstr>Slide 8</vt:lpstr>
      <vt:lpstr>The /sys directory [2]</vt:lpstr>
      <vt:lpstr>The /proc directory</vt:lpstr>
      <vt:lpstr>Linux Namespace</vt:lpstr>
      <vt:lpstr>1. Create a namespace</vt:lpstr>
      <vt:lpstr>cgroups</vt:lpstr>
      <vt:lpstr>2. Create a cgroup</vt:lpstr>
      <vt:lpstr>3. Create a new process</vt:lpstr>
      <vt:lpstr>4. Add a process to a cgroup</vt:lpstr>
      <vt:lpstr>rootfs</vt:lpstr>
      <vt:lpstr>Minimal rootfs</vt:lpstr>
      <vt:lpstr>chroot</vt:lpstr>
      <vt:lpstr>5. Run a Simple Container</vt:lpstr>
      <vt:lpstr>6. Create a Process</vt:lpstr>
      <vt:lpstr>7. Set chroot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8040</cp:revision>
  <dcterms:created xsi:type="dcterms:W3CDTF">2007-10-06T08:25:13Z</dcterms:created>
  <dcterms:modified xsi:type="dcterms:W3CDTF">2025-12-07T20:12:18Z</dcterms:modified>
</cp:coreProperties>
</file>