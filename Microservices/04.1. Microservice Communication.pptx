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Default Extension="gif" ContentType="image/gif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notesMasterIdLst>
    <p:notesMasterId r:id="rId24"/>
  </p:notesMasterIdLst>
  <p:sldIdLst>
    <p:sldId id="658" r:id="rId2"/>
    <p:sldId id="646" r:id="rId3"/>
    <p:sldId id="647" r:id="rId4"/>
    <p:sldId id="517" r:id="rId5"/>
    <p:sldId id="621" r:id="rId6"/>
    <p:sldId id="617" r:id="rId7"/>
    <p:sldId id="720" r:id="rId8"/>
    <p:sldId id="685" r:id="rId9"/>
    <p:sldId id="686" r:id="rId10"/>
    <p:sldId id="687" r:id="rId11"/>
    <p:sldId id="688" r:id="rId12"/>
    <p:sldId id="689" r:id="rId13"/>
    <p:sldId id="690" r:id="rId14"/>
    <p:sldId id="692" r:id="rId15"/>
    <p:sldId id="693" r:id="rId16"/>
    <p:sldId id="694" r:id="rId17"/>
    <p:sldId id="699" r:id="rId18"/>
    <p:sldId id="696" r:id="rId19"/>
    <p:sldId id="711" r:id="rId20"/>
    <p:sldId id="714" r:id="rId21"/>
    <p:sldId id="715" r:id="rId22"/>
    <p:sldId id="516" r:id="rId23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1034" autoAdjust="0"/>
    <p:restoredTop sz="86318" autoAdjust="0"/>
  </p:normalViewPr>
  <p:slideViewPr>
    <p:cSldViewPr>
      <p:cViewPr>
        <p:scale>
          <a:sx n="50" d="100"/>
          <a:sy n="50" d="100"/>
        </p:scale>
        <p:origin x="-1534" y="-268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66" d="100"/>
        <a:sy n="66" d="100"/>
      </p:scale>
      <p:origin x="0" y="0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F0940CE-BE1D-4C40-AF8B-3898A4D1F5EC}" type="datetimeFigureOut">
              <a:rPr lang="en-US" smtClean="0"/>
              <a:pPr/>
              <a:t>6/2/2021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70CC96-DB61-4850-AF79-05CA5E4B3D0A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70CC96-DB61-4850-AF79-05CA5E4B3D0A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3B12F3-13D8-4BC6-B271-EF890D2E3EA0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D65A0-8A45-49A8-B2B4-890662407FE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F2554BB-BED8-407D-871B-BC3BF099B766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6A513C-A265-4672-ADF9-9C420A0C09A7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83AE9F-B8F4-4A27-A258-84000ADADD35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C0325C-EBE7-4A11-97E9-DF8C42B04A73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B4F403C-A7D9-4211-8DC1-5865845C9F38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091B809-96F5-477B-8E72-8AB6B5E4AEA1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09C128-87F1-4A1D-AC95-1D0A8C2820AC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C251F8E-6BBA-4EBA-BCCA-61145C18CC0B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DD7EAC8-1610-4C8B-8A2E-7959779A26B0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F43CFA-8BED-4A88-AB21-8477601BA319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D13CF8C-ED99-4E62-9F8F-039B47F842EB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73FA9176-712D-4387-A1B9-79FDD21B413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A10295A-2761-40EA-9DA2-E88C0504267F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6EFA140-F156-4425-B953-A67D35160EB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7036556-1340-40FC-A073-D70D8832A760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B3919B8-AF1D-4524-AED9-AA87E5FE0640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5375E21-F618-4DDC-86A2-77C690CACCAF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EDB1DC0-76E8-4C19-B643-CDC8176FDDA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B4CE7E0-80C2-49E8-81AC-9B27623F73A4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9D05C-0F0F-4E8B-B47F-3C2F1A4BC70E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18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921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2F5EA699-B790-4630-B1C5-9840307833F6}" type="datetimeFigureOut">
              <a:rPr lang="en-US"/>
              <a:pPr>
                <a:defRPr/>
              </a:pPr>
              <a:t>6/2/2021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09E2BD1-610D-47CE-BC14-E90E7753FA52}" type="slidenum">
              <a:rPr lang="en-US"/>
              <a:pPr>
                <a:defRPr/>
              </a:pPr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tinfowler.com/articles/microservices.html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martinfowler.com/bliki/CircuitBreaker.html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gif"/><Relationship Id="rId2" Type="http://schemas.openxmlformats.org/officeDocument/2006/relationships/hyperlink" Target="https://martinfowler.com/articles/consumerDrivenContracts.html" TargetMode="Externa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hyperlink" Target="https://martinfowler.com/bliki/ContractTest.html" TargetMode="Externa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pact-foundation/pact-net" TargetMode="External"/><Relationship Id="rId2" Type="http://schemas.openxmlformats.org/officeDocument/2006/relationships/hyperlink" Target="https://docs.pact.io/" TargetMode="Externa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philcalcado.com/2015/09/18/the_back_end_for_front_end_pattern_bff.html" TargetMode="Externa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eaLnBrk="1" hangingPunct="1"/>
            <a:r>
              <a:rPr lang="en-US" sz="4800" dirty="0" err="1" smtClean="0"/>
              <a:t>Microservice</a:t>
            </a:r>
            <a:r>
              <a:rPr lang="en-US" sz="4800" dirty="0" smtClean="0"/>
              <a:t> </a:t>
            </a:r>
            <a:r>
              <a:rPr lang="en-US" sz="4800" dirty="0" smtClean="0"/>
              <a:t>Communication</a:t>
            </a:r>
            <a:endParaRPr lang="en-US" sz="4800" dirty="0" smtClean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5334000" cy="4419599"/>
          </a:xfrm>
        </p:spPr>
        <p:txBody>
          <a:bodyPr/>
          <a:lstStyle/>
          <a:p>
            <a:pPr>
              <a:buFont typeface="Wingdings" pitchFamily="2" charset="2"/>
              <a:buChar char="Ø"/>
            </a:pPr>
            <a:r>
              <a:rPr lang="en-US" sz="2400" dirty="0" smtClean="0"/>
              <a:t>To </a:t>
            </a:r>
            <a:r>
              <a:rPr lang="en-US" sz="2400" i="1" dirty="0" smtClean="0">
                <a:solidFill>
                  <a:srgbClr val="C00000"/>
                </a:solidFill>
              </a:rPr>
              <a:t>connect</a:t>
            </a:r>
            <a:r>
              <a:rPr lang="en-US" sz="2400" dirty="0" smtClean="0"/>
              <a:t> </a:t>
            </a:r>
            <a:r>
              <a:rPr lang="en-US" sz="2400" dirty="0" err="1" smtClean="0"/>
              <a:t>microservices</a:t>
            </a:r>
            <a:r>
              <a:rPr lang="en-US" sz="2400" dirty="0" smtClean="0"/>
              <a:t> one another.</a:t>
            </a:r>
          </a:p>
        </p:txBody>
      </p:sp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19800" y="182880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52600"/>
            <a:ext cx="5867400" cy="4495800"/>
          </a:xfrm>
        </p:spPr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en-US" sz="1800" dirty="0" smtClean="0">
                <a:hlinkClick r:id="rId3"/>
              </a:rPr>
              <a:t>https://martinfowler.com/articles/microservices.html</a:t>
            </a:r>
            <a:endParaRPr lang="en-US" sz="1800" dirty="0" smtClean="0"/>
          </a:p>
          <a:p>
            <a:pPr marL="457200" indent="-457200">
              <a:buFont typeface="+mj-lt"/>
              <a:buAutoNum type="arabicPeriod"/>
            </a:pPr>
            <a:r>
              <a:rPr lang="en-US" sz="1800" dirty="0" smtClean="0"/>
              <a:t>Cloves </a:t>
            </a:r>
            <a:r>
              <a:rPr lang="en-US" sz="1800" dirty="0" err="1" smtClean="0"/>
              <a:t>Carneiro</a:t>
            </a:r>
            <a:r>
              <a:rPr lang="en-US" sz="1800" dirty="0" smtClean="0"/>
              <a:t> and Tim </a:t>
            </a:r>
            <a:r>
              <a:rPr lang="en-US" sz="1800" dirty="0" err="1" smtClean="0"/>
              <a:t>Schmelmer</a:t>
            </a:r>
            <a:r>
              <a:rPr lang="en-US" sz="1800" dirty="0" smtClean="0"/>
              <a:t> (2016). </a:t>
            </a:r>
            <a:r>
              <a:rPr lang="en-US" sz="1800" dirty="0" err="1" smtClean="0"/>
              <a:t>Microservices</a:t>
            </a:r>
            <a:r>
              <a:rPr lang="en-US" sz="1800" dirty="0" smtClean="0"/>
              <a:t> From Day One. </a:t>
            </a:r>
            <a:r>
              <a:rPr lang="en-US" sz="1800" dirty="0" err="1" smtClean="0"/>
              <a:t>Apress</a:t>
            </a:r>
            <a:r>
              <a:rPr lang="en-US" sz="1800" dirty="0" smtClean="0"/>
              <a:t>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 smtClean="0"/>
              <a:t>Michael </a:t>
            </a:r>
            <a:r>
              <a:rPr lang="en-US" sz="1800" dirty="0" smtClean="0"/>
              <a:t>T. </a:t>
            </a:r>
            <a:r>
              <a:rPr lang="en-US" sz="1800" dirty="0" err="1" smtClean="0"/>
              <a:t>Nygard</a:t>
            </a:r>
            <a:r>
              <a:rPr lang="en-US" sz="1800" dirty="0" smtClean="0"/>
              <a:t> (2018). Release It - Design and Deploy Production-Ready Software. Pragmatic Bookshelf.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1800" dirty="0" err="1" smtClean="0"/>
              <a:t>Gaurav</a:t>
            </a:r>
            <a:r>
              <a:rPr lang="en-US" sz="1800" dirty="0" smtClean="0"/>
              <a:t> </a:t>
            </a:r>
            <a:r>
              <a:rPr lang="en-US" sz="1800" dirty="0" err="1" smtClean="0"/>
              <a:t>Aroraa</a:t>
            </a:r>
            <a:r>
              <a:rPr lang="en-US" sz="1800" dirty="0" smtClean="0"/>
              <a:t> (2017). Building </a:t>
            </a:r>
            <a:r>
              <a:rPr lang="en-US" sz="1800" dirty="0" err="1" smtClean="0"/>
              <a:t>Microservices</a:t>
            </a:r>
            <a:r>
              <a:rPr lang="en-US" sz="1800" dirty="0" smtClean="0"/>
              <a:t> with .NET Core 2.0. </a:t>
            </a:r>
            <a:r>
              <a:rPr lang="en-US" sz="1800" dirty="0" err="1" smtClean="0"/>
              <a:t>Packt</a:t>
            </a:r>
            <a:r>
              <a:rPr lang="en-US" sz="1800" dirty="0" smtClean="0"/>
              <a:t> Publishing.</a:t>
            </a:r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Communication Protocols 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The </a:t>
            </a:r>
            <a:r>
              <a:rPr lang="en-US" sz="2400" i="1" dirty="0" smtClean="0">
                <a:solidFill>
                  <a:srgbClr val="C00000"/>
                </a:solidFill>
              </a:rPr>
              <a:t>two protocols</a:t>
            </a:r>
            <a:r>
              <a:rPr lang="en-US" sz="2400" dirty="0" smtClean="0"/>
              <a:t> used most commonly are </a:t>
            </a:r>
            <a:r>
              <a:rPr lang="en-US" sz="2400" u="sng" dirty="0" smtClean="0"/>
              <a:t>HTTP request-response</a:t>
            </a:r>
            <a:r>
              <a:rPr lang="en-US" sz="2400" dirty="0" smtClean="0"/>
              <a:t> with resource API's and </a:t>
            </a:r>
            <a:r>
              <a:rPr lang="en-US" sz="2400" u="sng" dirty="0" smtClean="0"/>
              <a:t>lightweight messaging</a:t>
            </a:r>
            <a:r>
              <a:rPr lang="en-US" sz="2400" dirty="0" smtClean="0"/>
              <a:t>.</a:t>
            </a:r>
          </a:p>
          <a:p>
            <a:r>
              <a:rPr lang="en-US" sz="2400" dirty="0" smtClean="0"/>
              <a:t>The best expression of the first is</a:t>
            </a:r>
          </a:p>
          <a:p>
            <a:pPr algn="r">
              <a:buNone/>
            </a:pPr>
            <a:r>
              <a:rPr lang="en-US" sz="2400" dirty="0" smtClean="0"/>
              <a:t>    </a:t>
            </a:r>
            <a:r>
              <a:rPr lang="en-US" sz="2400" i="1" dirty="0" smtClean="0">
                <a:solidFill>
                  <a:srgbClr val="C00000"/>
                </a:solidFill>
              </a:rPr>
              <a:t>be of the web</a:t>
            </a:r>
            <a:r>
              <a:rPr lang="en-US" sz="2400" dirty="0" smtClean="0"/>
              <a:t>, not behind the web</a:t>
            </a:r>
          </a:p>
          <a:p>
            <a:pPr algn="r">
              <a:buNone/>
            </a:pPr>
            <a:r>
              <a:rPr lang="en-US" sz="2400" dirty="0" smtClean="0"/>
              <a:t>    -- Ian Robinson</a:t>
            </a:r>
          </a:p>
          <a:p>
            <a:r>
              <a:rPr lang="en-US" sz="2400" dirty="0" smtClean="0"/>
              <a:t>The infrastructure chosen is typically dumb (dumb as in </a:t>
            </a:r>
            <a:r>
              <a:rPr lang="en-US" sz="2400" i="1" dirty="0" smtClean="0">
                <a:solidFill>
                  <a:srgbClr val="C00000"/>
                </a:solidFill>
              </a:rPr>
              <a:t>acts as a message router only</a:t>
            </a:r>
            <a:r>
              <a:rPr lang="en-US" sz="2400" dirty="0" smtClean="0"/>
              <a:t>) - simple implementations such as </a:t>
            </a:r>
            <a:r>
              <a:rPr lang="en-US" sz="2400" dirty="0" err="1" smtClean="0"/>
              <a:t>RabbitMQ</a:t>
            </a:r>
            <a:r>
              <a:rPr lang="en-US" sz="2400" dirty="0" smtClean="0"/>
              <a:t> or </a:t>
            </a:r>
            <a:r>
              <a:rPr lang="en-US" sz="2400" dirty="0" err="1" smtClean="0"/>
              <a:t>ZeroMQ</a:t>
            </a:r>
            <a:r>
              <a:rPr lang="en-US" sz="2400" dirty="0" smtClean="0"/>
              <a:t> don't do much more than provide a reliable asynchronous fabric - the smarts still live in the end points that are producing and consuming messages; in the services.</a:t>
            </a:r>
            <a:endParaRPr lang="en-US" sz="2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Explicit Communication [2]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By contrast,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architectures tend to work with very </a:t>
            </a:r>
            <a:r>
              <a:rPr lang="en-US" sz="2400" i="1" dirty="0" smtClean="0">
                <a:solidFill>
                  <a:srgbClr val="C00000"/>
                </a:solidFill>
              </a:rPr>
              <a:t>explicitly</a:t>
            </a:r>
            <a:r>
              <a:rPr lang="en-US" sz="2400" dirty="0" smtClean="0"/>
              <a:t> published, small and rather simple contracts between the single service applications.</a:t>
            </a:r>
          </a:p>
          <a:p>
            <a:r>
              <a:rPr lang="en-US" sz="2400" dirty="0" err="1" smtClean="0"/>
              <a:t>RESTful</a:t>
            </a:r>
            <a:r>
              <a:rPr lang="en-US" sz="2400" dirty="0" smtClean="0"/>
              <a:t> </a:t>
            </a:r>
            <a:r>
              <a:rPr lang="en-US" sz="2400" dirty="0" err="1" smtClean="0"/>
              <a:t>microservice</a:t>
            </a:r>
            <a:r>
              <a:rPr lang="en-US" sz="2400" dirty="0" smtClean="0"/>
              <a:t> APIs often favor </a:t>
            </a:r>
            <a:r>
              <a:rPr lang="en-US" sz="2400" i="1" dirty="0" smtClean="0">
                <a:solidFill>
                  <a:srgbClr val="C00000"/>
                </a:solidFill>
              </a:rPr>
              <a:t>coarse-grained</a:t>
            </a:r>
            <a:r>
              <a:rPr lang="en-US" sz="2400" dirty="0" smtClean="0"/>
              <a:t>, or even batch, endpoints to reduce the impact of the unavoidable latency introduced by out-of-process and HTTP calls, or the transfer of documents via lightweight ESBs.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API Gateway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600200" y="1676400"/>
            <a:ext cx="6030468" cy="446227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3200" dirty="0" smtClean="0"/>
              <a:t>Azure API Management (aka API Gateway)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600" dirty="0" smtClean="0"/>
              <a:t>It acts as a proxy between client applications and services.</a:t>
            </a:r>
          </a:p>
          <a:p>
            <a:r>
              <a:rPr lang="en-US" sz="2600" dirty="0" smtClean="0"/>
              <a:t>It is responsible for the following functionalities:</a:t>
            </a:r>
          </a:p>
          <a:p>
            <a:pPr lvl="1"/>
            <a:r>
              <a:rPr lang="en-US" sz="2200" dirty="0" smtClean="0"/>
              <a:t>Accepting API calls and routes them to your </a:t>
            </a:r>
            <a:r>
              <a:rPr lang="en-US" sz="2200" dirty="0" err="1" smtClean="0"/>
              <a:t>backends</a:t>
            </a:r>
            <a:endParaRPr lang="en-US" sz="2200" dirty="0" smtClean="0"/>
          </a:p>
          <a:p>
            <a:pPr lvl="1"/>
            <a:r>
              <a:rPr lang="en-US" sz="2200" dirty="0" smtClean="0"/>
              <a:t>Verifying API keys, JWT tokens, and certificates</a:t>
            </a:r>
          </a:p>
          <a:p>
            <a:pPr lvl="1"/>
            <a:r>
              <a:rPr lang="en-US" sz="2200" dirty="0" smtClean="0"/>
              <a:t>Supporting Auth through Azure AD and the </a:t>
            </a:r>
            <a:r>
              <a:rPr lang="en-US" sz="2200" dirty="0" err="1" smtClean="0"/>
              <a:t>OAuth</a:t>
            </a:r>
            <a:r>
              <a:rPr lang="en-US" sz="2200" dirty="0" smtClean="0"/>
              <a:t> 2.0 access token</a:t>
            </a:r>
          </a:p>
          <a:p>
            <a:pPr lvl="1"/>
            <a:r>
              <a:rPr lang="en-US" sz="2200" dirty="0" smtClean="0"/>
              <a:t>Enforcing usage quotas and rate limits</a:t>
            </a:r>
          </a:p>
          <a:p>
            <a:pPr lvl="1"/>
            <a:r>
              <a:rPr lang="en-US" sz="2200" dirty="0" smtClean="0"/>
              <a:t>Transforming your API on the fly without code modifications</a:t>
            </a:r>
          </a:p>
          <a:p>
            <a:pPr lvl="1"/>
            <a:r>
              <a:rPr lang="en-US" sz="2200" dirty="0" smtClean="0"/>
              <a:t>Caching backend responses wherever they are set up</a:t>
            </a:r>
          </a:p>
          <a:p>
            <a:pPr lvl="1"/>
            <a:r>
              <a:rPr lang="en-US" sz="2200" dirty="0" smtClean="0"/>
              <a:t>Logging call metadata for analytics purposes</a:t>
            </a:r>
          </a:p>
          <a:p>
            <a:pPr>
              <a:buNone/>
            </a:pPr>
            <a:endParaRPr lang="en-US" sz="2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Circuit Breaker (I)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https://martinfowler.com/bliki/CircuitBreaker.html</a:t>
            </a:r>
            <a:endParaRPr lang="en-US" sz="2400" dirty="0" smtClean="0"/>
          </a:p>
          <a:p>
            <a:r>
              <a:rPr lang="en-US" sz="2400" dirty="0" smtClean="0"/>
              <a:t>One of the big differences between in-memory calls and remote calls is that </a:t>
            </a:r>
            <a:r>
              <a:rPr lang="en-US" sz="2400" i="1" dirty="0" smtClean="0">
                <a:solidFill>
                  <a:srgbClr val="C00000"/>
                </a:solidFill>
              </a:rPr>
              <a:t>remote calls can fail</a:t>
            </a:r>
            <a:r>
              <a:rPr lang="en-US" sz="2400" dirty="0" smtClean="0"/>
              <a:t>, or hang without a response until some timeout limit is reached.</a:t>
            </a:r>
          </a:p>
          <a:p>
            <a:r>
              <a:rPr lang="en-US" sz="2400" dirty="0" smtClean="0"/>
              <a:t>What's worse if you have many callers on a unresponsive supplier, then you can </a:t>
            </a:r>
            <a:r>
              <a:rPr lang="en-US" sz="2400" i="1" dirty="0" smtClean="0">
                <a:solidFill>
                  <a:srgbClr val="C00000"/>
                </a:solidFill>
              </a:rPr>
              <a:t>run out of critical resources</a:t>
            </a:r>
            <a:r>
              <a:rPr lang="en-US" sz="2400" dirty="0" smtClean="0"/>
              <a:t> leading to cascading failures across multiple systems.</a:t>
            </a: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514600" y="4572000"/>
            <a:ext cx="3886200" cy="16687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lang="en-US" dirty="0" smtClean="0"/>
              <a:t>Circuit Breaker (II)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4648200" cy="4525963"/>
          </a:xfrm>
        </p:spPr>
        <p:txBody>
          <a:bodyPr/>
          <a:lstStyle/>
          <a:p>
            <a:r>
              <a:rPr lang="en-US" sz="2200" dirty="0" smtClean="0"/>
              <a:t>The basic idea behind the circuit breaker that you </a:t>
            </a:r>
            <a:r>
              <a:rPr lang="en-US" sz="2200" i="1" dirty="0" smtClean="0">
                <a:solidFill>
                  <a:srgbClr val="C00000"/>
                </a:solidFill>
              </a:rPr>
              <a:t>wrap a protected function call</a:t>
            </a:r>
            <a:r>
              <a:rPr lang="en-US" sz="2200" dirty="0" smtClean="0"/>
              <a:t> in a circuit breaker object, which </a:t>
            </a:r>
            <a:r>
              <a:rPr lang="en-US" sz="2200" u="sng" dirty="0" smtClean="0"/>
              <a:t>monitors for failures</a:t>
            </a:r>
            <a:r>
              <a:rPr lang="en-US" sz="2200" dirty="0" smtClean="0"/>
              <a:t>.</a:t>
            </a:r>
          </a:p>
          <a:p>
            <a:r>
              <a:rPr lang="en-US" sz="2200" dirty="0" smtClean="0"/>
              <a:t>Once the failures reach a certain </a:t>
            </a:r>
            <a:r>
              <a:rPr lang="en-US" sz="2200" i="1" dirty="0" smtClean="0">
                <a:solidFill>
                  <a:srgbClr val="C00000"/>
                </a:solidFill>
              </a:rPr>
              <a:t>threshold</a:t>
            </a:r>
            <a:r>
              <a:rPr lang="en-US" sz="2200" dirty="0" smtClean="0"/>
              <a:t>, the circuit breaker trips, and all further calls to the circuit breaker return with an error, without the protected call being made at all.</a:t>
            </a:r>
          </a:p>
          <a:p>
            <a:r>
              <a:rPr lang="en-US" sz="2200" dirty="0" smtClean="0"/>
              <a:t>Usually you'll also want some kind of monitor alert if the circuit breaker trips.</a:t>
            </a:r>
            <a:endParaRPr lang="en-US" sz="2200" dirty="0"/>
          </a:p>
        </p:txBody>
      </p:sp>
      <p:pic>
        <p:nvPicPr>
          <p:cNvPr id="2053" name="Picture 5" descr="https://martinfowler.com/bliki/images/circuitBreaker/sketch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257799" y="914399"/>
            <a:ext cx="3543482" cy="560098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885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882390" y="2362200"/>
            <a:ext cx="4880610" cy="304419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Circuit Breaker </a:t>
            </a:r>
            <a:r>
              <a:rPr lang="en-US" dirty="0" smtClean="0"/>
              <a:t>[3]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733800" cy="4525963"/>
          </a:xfrm>
        </p:spPr>
        <p:txBody>
          <a:bodyPr/>
          <a:lstStyle/>
          <a:p>
            <a:r>
              <a:rPr lang="en-US" sz="1600" dirty="0" smtClean="0"/>
              <a:t>When the circuit is “open,” calls to the circuit breaker fail immediately, without any attempt to execute the real operation.</a:t>
            </a:r>
          </a:p>
          <a:p>
            <a:r>
              <a:rPr lang="en-US" sz="1600" dirty="0" smtClean="0"/>
              <a:t>After a suitable amount of time, the circuit breaker decides that the operation has a chance of succeeding, so it goes into the “half-open” state. In this state, the next call to the circuit breaker is allowed to execute the dangerous operation.</a:t>
            </a:r>
          </a:p>
          <a:p>
            <a:r>
              <a:rPr lang="en-US" sz="1600" dirty="0" smtClean="0"/>
              <a:t>Should the call succeed, the circuit breaker resets and returns to the “closed” state, ready for more routine operation.</a:t>
            </a:r>
          </a:p>
          <a:p>
            <a:r>
              <a:rPr lang="en-US" sz="1600" dirty="0" smtClean="0"/>
              <a:t>If this trial call fails, however, the circuit breaker returns to the open state until another timeout elapses.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Circuit Breaker Example Code?</a:t>
            </a:r>
            <a:endParaRPr lang="en-US" dirty="0"/>
          </a:p>
        </p:txBody>
      </p:sp>
      <p:pic>
        <p:nvPicPr>
          <p:cNvPr id="79880" name="Picture 8" descr="Got a Benefits Question?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438400" y="2514600"/>
            <a:ext cx="4286250" cy="223837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Consumer-Driven Contracts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>
                <a:hlinkClick r:id="rId2"/>
              </a:rPr>
              <a:t>https://martinfowler.com/articles/consumerDrivenContracts.html</a:t>
            </a:r>
            <a:endParaRPr lang="en-US" sz="2000" dirty="0" smtClean="0"/>
          </a:p>
          <a:p>
            <a:r>
              <a:rPr lang="en-US" sz="2000" dirty="0" smtClean="0"/>
              <a:t>Evolving a Service: An Example</a:t>
            </a:r>
          </a:p>
          <a:p>
            <a:endParaRPr lang="en-US" sz="2000" dirty="0" smtClean="0"/>
          </a:p>
          <a:p>
            <a:endParaRPr lang="en-US" sz="2000" dirty="0" smtClean="0"/>
          </a:p>
          <a:p>
            <a:endParaRPr lang="en-US" sz="2000" dirty="0" smtClean="0"/>
          </a:p>
          <a:p>
            <a:r>
              <a:rPr lang="en-US" sz="2000" dirty="0" smtClean="0"/>
              <a:t>In our example, after the </a:t>
            </a:r>
            <a:r>
              <a:rPr lang="en-US" sz="2000" dirty="0" err="1" smtClean="0"/>
              <a:t>ProductSearch</a:t>
            </a:r>
            <a:r>
              <a:rPr lang="en-US" sz="2000" dirty="0" smtClean="0"/>
              <a:t> service has been in production for some time, a second reseller considers using it, but asks that a </a:t>
            </a:r>
            <a:r>
              <a:rPr lang="en-US" sz="2000" i="1" dirty="0" smtClean="0">
                <a:solidFill>
                  <a:srgbClr val="C00000"/>
                </a:solidFill>
              </a:rPr>
              <a:t>Description</a:t>
            </a:r>
            <a:r>
              <a:rPr lang="en-US" sz="2000" dirty="0" smtClean="0"/>
              <a:t> field be added to each product.</a:t>
            </a:r>
          </a:p>
          <a:p>
            <a:r>
              <a:rPr lang="en-US" sz="2000" dirty="0" smtClean="0"/>
              <a:t>First, we could modify our original schema and require each consumer to update its copy of the schema in order correctly to validate search results.</a:t>
            </a:r>
          </a:p>
          <a:p>
            <a:r>
              <a:rPr lang="en-US" sz="2000" dirty="0" smtClean="0"/>
              <a:t>Alternatively, we could choose to add a second operation and schema to the service provider on behalf of the new consumer, and maintain the original operation and schema on behalf of the existing consumers.</a:t>
            </a:r>
          </a:p>
        </p:txBody>
      </p:sp>
      <p:pic>
        <p:nvPicPr>
          <p:cNvPr id="2050" name="Picture 2" descr="https://martinfowler.com/articles/consumerDrivenContracts/products1.gif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667000" y="2514600"/>
            <a:ext cx="2752725" cy="9239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Extension Points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1800" dirty="0" smtClean="0"/>
              <a:t>Now when we receive a change request to add a description to each product, we can publish a new schema with an additional </a:t>
            </a:r>
            <a:r>
              <a:rPr lang="en-US" sz="1800" i="1" dirty="0" smtClean="0">
                <a:solidFill>
                  <a:srgbClr val="C00000"/>
                </a:solidFill>
              </a:rPr>
              <a:t>Description</a:t>
            </a:r>
            <a:r>
              <a:rPr lang="en-US" sz="1800" dirty="0" smtClean="0"/>
              <a:t> element that the provider inserts into the extension container.</a:t>
            </a:r>
          </a:p>
          <a:p>
            <a:r>
              <a:rPr lang="en-US" sz="1800" dirty="0" smtClean="0"/>
              <a:t>This allows the </a:t>
            </a:r>
            <a:r>
              <a:rPr lang="en-US" sz="1800" dirty="0" err="1" smtClean="0"/>
              <a:t>ProductSearch</a:t>
            </a:r>
            <a:r>
              <a:rPr lang="en-US" sz="1800" dirty="0" smtClean="0"/>
              <a:t> service to return results that include product descriptions, and consumers using the new schema to validate the entire document.</a:t>
            </a:r>
          </a:p>
          <a:p>
            <a:r>
              <a:rPr lang="en-US" sz="1800" dirty="0" smtClean="0"/>
              <a:t>Consumers using the old schema will not break, though they will not process the description.</a:t>
            </a:r>
            <a:endParaRPr lang="en-US" sz="1800" dirty="0"/>
          </a:p>
        </p:txBody>
      </p:sp>
      <p:pic>
        <p:nvPicPr>
          <p:cNvPr id="38914" name="Picture 2" descr="https://martinfowler.com/articles/consumerDrivenContracts/products2.gif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209800" y="4181475"/>
            <a:ext cx="4581525" cy="206692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Contract Testing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https://martinfowler.com/bliki/ContractTest.html</a:t>
            </a:r>
            <a:endParaRPr lang="en-US" sz="2400" dirty="0" smtClean="0"/>
          </a:p>
          <a:p>
            <a:r>
              <a:rPr lang="en-US" sz="2400" dirty="0" smtClean="0"/>
              <a:t>A test double is handy, it stops your own tests from being slow and unreliable.</a:t>
            </a:r>
          </a:p>
          <a:p>
            <a:r>
              <a:rPr lang="en-US" sz="2400" dirty="0" smtClean="0"/>
              <a:t>But testing against a double always raises the question of whether the double is indeed an accurate representation of the external service, and what happens if the external service changes its contract?</a:t>
            </a:r>
          </a:p>
          <a:p>
            <a:r>
              <a:rPr lang="en-US" sz="2400" dirty="0" smtClean="0"/>
              <a:t>A good way to deal with this is to run your own tests against the double, but to periodically run a separate set of contract tests that checks all the calls against your test doubles return the same results as a call to the external service would. </a:t>
            </a:r>
            <a:endParaRPr lang="en-US" sz="2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Pact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https://docs.pact.io/</a:t>
            </a:r>
            <a:endParaRPr lang="en-US" sz="2400" dirty="0" smtClean="0">
              <a:hlinkClick r:id="rId3"/>
            </a:endParaRPr>
          </a:p>
          <a:p>
            <a:r>
              <a:rPr lang="en-US" sz="2400" dirty="0" smtClean="0">
                <a:hlinkClick r:id="rId3"/>
              </a:rPr>
              <a:t>https://github.com/pact-foundation/pact-net</a:t>
            </a:r>
            <a:endParaRPr lang="en-US" sz="2400" dirty="0" smtClean="0"/>
          </a:p>
          <a:p>
            <a:r>
              <a:rPr lang="en-US" sz="2400" dirty="0" smtClean="0"/>
              <a:t>Pact is a code-first tool for testing HTTP and message integrations using contract tests.</a:t>
            </a:r>
          </a:p>
          <a:p>
            <a:r>
              <a:rPr lang="en-US" sz="2400" dirty="0" smtClean="0"/>
              <a:t>Contract tests assert that inter-application messages conform to a shared understanding that is documented in a contract. Without contract testing, the only way to ensure that applications will work correctly together is by using expensive and brittle integration tests.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One Public API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3505200" cy="4525963"/>
          </a:xfrm>
        </p:spPr>
        <p:txBody>
          <a:bodyPr/>
          <a:lstStyle/>
          <a:p>
            <a:r>
              <a:rPr lang="en-US" sz="1600" dirty="0" smtClean="0">
                <a:hlinkClick r:id="rId2"/>
              </a:rPr>
              <a:t>https://philcalcado.com/2015/09/18/the_back_end_for_front_end_pattern_bff.html</a:t>
            </a:r>
            <a:endParaRPr lang="en-US" sz="1600" dirty="0" smtClean="0"/>
          </a:p>
          <a:p>
            <a:r>
              <a:rPr lang="en-US" sz="1600" dirty="0" smtClean="0"/>
              <a:t>If we were to use the public API only, there was nothing that we could offer in our platform that </a:t>
            </a:r>
            <a:r>
              <a:rPr lang="en-US" sz="1600" i="1" dirty="0" smtClean="0">
                <a:solidFill>
                  <a:srgbClr val="C00000"/>
                </a:solidFill>
              </a:rPr>
              <a:t>wouldn’t be available</a:t>
            </a:r>
            <a:r>
              <a:rPr lang="en-US" sz="1600" dirty="0" smtClean="0"/>
              <a:t> for third-party API clients.</a:t>
            </a:r>
          </a:p>
          <a:p>
            <a:r>
              <a:rPr lang="en-US" sz="1600" dirty="0" smtClean="0"/>
              <a:t>To empower third-party developers to build </a:t>
            </a:r>
            <a:r>
              <a:rPr lang="en-US" sz="1600" i="1" dirty="0" smtClean="0">
                <a:solidFill>
                  <a:srgbClr val="C00000"/>
                </a:solidFill>
              </a:rPr>
              <a:t>interesting integrations</a:t>
            </a:r>
            <a:r>
              <a:rPr lang="en-US" sz="1600" dirty="0" smtClean="0"/>
              <a:t>, you need to design an API that makes </a:t>
            </a:r>
            <a:r>
              <a:rPr lang="en-US" sz="1600" u="sng" dirty="0" smtClean="0"/>
              <a:t>no assumptions about how the data is going to be used</a:t>
            </a:r>
            <a:r>
              <a:rPr lang="en-US" sz="1600" dirty="0" smtClean="0"/>
              <a:t>. This results in very fine-grained endpoints.</a:t>
            </a:r>
          </a:p>
          <a:p>
            <a:r>
              <a:rPr lang="en-US" sz="1600" dirty="0" smtClean="0"/>
              <a:t>Even without the monolith, we still had a </a:t>
            </a:r>
            <a:r>
              <a:rPr lang="en-US" sz="1600" i="1" dirty="0" smtClean="0">
                <a:solidFill>
                  <a:srgbClr val="C00000"/>
                </a:solidFill>
              </a:rPr>
              <a:t>bottleneck</a:t>
            </a:r>
            <a:r>
              <a:rPr lang="en-US" sz="1600" dirty="0" smtClean="0"/>
              <a:t> on the API.</a:t>
            </a:r>
          </a:p>
          <a:p>
            <a:endParaRPr lang="en-US" sz="1600" dirty="0"/>
          </a:p>
        </p:txBody>
      </p:sp>
      <p:pic>
        <p:nvPicPr>
          <p:cNvPr id="1026" name="Picture 2" descr="https://philcalcado.com/img/2015-09-back-end-for-front-end-pattern/sc-next-and-mobile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038600" y="2286000"/>
            <a:ext cx="4676775" cy="3590926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The Back-end for Front-end Pattern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There was a lot of duplicated code across all BFFs fetching and merging data for them.</a:t>
            </a:r>
          </a:p>
          <a:p>
            <a:endParaRPr lang="en-US" sz="2200" dirty="0"/>
          </a:p>
        </p:txBody>
      </p:sp>
      <p:pic>
        <p:nvPicPr>
          <p:cNvPr id="4" name="Picture 2" descr="https://philcalcado.com/img/2015-09-back-end-for-front-end-pattern/sc-bff-2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828800" y="2590800"/>
            <a:ext cx="5086350" cy="3581400"/>
          </a:xfrm>
          <a:prstGeom prst="rect">
            <a:avLst/>
          </a:prstGeom>
          <a:noFill/>
        </p:spPr>
      </p:pic>
      <p:sp>
        <p:nvSpPr>
          <p:cNvPr id="5" name="Rectangle 4"/>
          <p:cNvSpPr/>
          <p:nvPr/>
        </p:nvSpPr>
        <p:spPr>
          <a:xfrm>
            <a:off x="2860378" y="6096000"/>
            <a:ext cx="3099375" cy="430887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200" dirty="0" smtClean="0">
                <a:latin typeface="+mj-lt"/>
              </a:rPr>
              <a:t>The simple version of BFF</a:t>
            </a:r>
            <a:endParaRPr lang="en-US" sz="2200" dirty="0">
              <a:latin typeface="+mj-lt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Full Version of BFF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Moving towards an architecture where most of the core objects understood by users had their own </a:t>
            </a:r>
            <a:r>
              <a:rPr lang="en-US" sz="2000" dirty="0" err="1" smtClean="0"/>
              <a:t>microservice</a:t>
            </a:r>
            <a:r>
              <a:rPr lang="en-US" sz="2000" dirty="0" smtClean="0"/>
              <a:t> backing them.</a:t>
            </a:r>
            <a:endParaRPr lang="en-US" sz="2000" dirty="0"/>
          </a:p>
        </p:txBody>
      </p:sp>
      <p:pic>
        <p:nvPicPr>
          <p:cNvPr id="96258" name="Picture 2" descr="https://philcalcado.com/img/2015-09-back-end-for-front-end-pattern/sc-bff-6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1524000" y="2590800"/>
            <a:ext cx="6048375" cy="3505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23919</TotalTime>
  <Words>1075</Words>
  <Application>Microsoft Office PowerPoint</Application>
  <PresentationFormat>On-screen Show (4:3)</PresentationFormat>
  <Paragraphs>84</Paragraphs>
  <Slides>22</Slides>
  <Notes>1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Microservice Communication</vt:lpstr>
      <vt:lpstr>Objectives</vt:lpstr>
      <vt:lpstr>Contents</vt:lpstr>
      <vt:lpstr>References</vt:lpstr>
      <vt:lpstr>Communication Protocols [1]</vt:lpstr>
      <vt:lpstr>Explicit Communication [2]</vt:lpstr>
      <vt:lpstr>Slide 7</vt:lpstr>
      <vt:lpstr>API Gateway</vt:lpstr>
      <vt:lpstr>Azure API Management (aka API Gateway)</vt:lpstr>
      <vt:lpstr>Circuit Breaker (I)</vt:lpstr>
      <vt:lpstr>Circuit Breaker (II)</vt:lpstr>
      <vt:lpstr>Circuit Breaker [3]</vt:lpstr>
      <vt:lpstr>Circuit Breaker Example Code?</vt:lpstr>
      <vt:lpstr>Consumer-Driven Contracts</vt:lpstr>
      <vt:lpstr>Extension Points</vt:lpstr>
      <vt:lpstr>Contract Testing</vt:lpstr>
      <vt:lpstr>Pact</vt:lpstr>
      <vt:lpstr>Slide 18</vt:lpstr>
      <vt:lpstr>One Public API Problems</vt:lpstr>
      <vt:lpstr>The Back-end for Front-end Pattern</vt:lpstr>
      <vt:lpstr>Full Version of BFF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5436</cp:revision>
  <dcterms:created xsi:type="dcterms:W3CDTF">2007-10-06T08:25:13Z</dcterms:created>
  <dcterms:modified xsi:type="dcterms:W3CDTF">2021-06-01T19:21:46Z</dcterms:modified>
</cp:coreProperties>
</file>