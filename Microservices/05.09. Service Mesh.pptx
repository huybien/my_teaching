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s/slide7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7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6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s/slide66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slides/slide64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s/slide62.xml" ContentType="application/vnd.openxmlformats-officedocument.presentationml.slide+xml"/>
  <Override PartName="/ppt/slides/slide71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Layouts/slideLayout8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76"/>
  </p:notesMasterIdLst>
  <p:sldIdLst>
    <p:sldId id="256" r:id="rId2"/>
    <p:sldId id="349" r:id="rId3"/>
    <p:sldId id="396" r:id="rId4"/>
    <p:sldId id="344" r:id="rId5"/>
    <p:sldId id="398" r:id="rId6"/>
    <p:sldId id="399" r:id="rId7"/>
    <p:sldId id="401" r:id="rId8"/>
    <p:sldId id="402" r:id="rId9"/>
    <p:sldId id="403" r:id="rId10"/>
    <p:sldId id="452" r:id="rId11"/>
    <p:sldId id="451" r:id="rId12"/>
    <p:sldId id="404" r:id="rId13"/>
    <p:sldId id="405" r:id="rId14"/>
    <p:sldId id="406" r:id="rId15"/>
    <p:sldId id="407" r:id="rId16"/>
    <p:sldId id="466" r:id="rId17"/>
    <p:sldId id="467" r:id="rId18"/>
    <p:sldId id="468" r:id="rId19"/>
    <p:sldId id="470" r:id="rId20"/>
    <p:sldId id="465" r:id="rId21"/>
    <p:sldId id="469" r:id="rId22"/>
    <p:sldId id="471" r:id="rId23"/>
    <p:sldId id="473" r:id="rId24"/>
    <p:sldId id="454" r:id="rId25"/>
    <p:sldId id="456" r:id="rId26"/>
    <p:sldId id="457" r:id="rId27"/>
    <p:sldId id="460" r:id="rId28"/>
    <p:sldId id="463" r:id="rId29"/>
    <p:sldId id="464" r:id="rId30"/>
    <p:sldId id="461" r:id="rId31"/>
    <p:sldId id="459" r:id="rId32"/>
    <p:sldId id="458" r:id="rId33"/>
    <p:sldId id="472" r:id="rId34"/>
    <p:sldId id="475" r:id="rId35"/>
    <p:sldId id="476" r:id="rId36"/>
    <p:sldId id="455" r:id="rId37"/>
    <p:sldId id="408" r:id="rId38"/>
    <p:sldId id="409" r:id="rId39"/>
    <p:sldId id="410" r:id="rId40"/>
    <p:sldId id="411" r:id="rId41"/>
    <p:sldId id="412" r:id="rId42"/>
    <p:sldId id="413" r:id="rId43"/>
    <p:sldId id="418" r:id="rId44"/>
    <p:sldId id="453" r:id="rId45"/>
    <p:sldId id="420" r:id="rId46"/>
    <p:sldId id="421" r:id="rId47"/>
    <p:sldId id="422" r:id="rId48"/>
    <p:sldId id="423" r:id="rId49"/>
    <p:sldId id="424" r:id="rId50"/>
    <p:sldId id="425" r:id="rId51"/>
    <p:sldId id="426" r:id="rId52"/>
    <p:sldId id="427" r:id="rId53"/>
    <p:sldId id="428" r:id="rId54"/>
    <p:sldId id="429" r:id="rId55"/>
    <p:sldId id="430" r:id="rId56"/>
    <p:sldId id="431" r:id="rId57"/>
    <p:sldId id="432" r:id="rId58"/>
    <p:sldId id="433" r:id="rId59"/>
    <p:sldId id="435" r:id="rId60"/>
    <p:sldId id="436" r:id="rId61"/>
    <p:sldId id="437" r:id="rId62"/>
    <p:sldId id="438" r:id="rId63"/>
    <p:sldId id="440" r:id="rId64"/>
    <p:sldId id="441" r:id="rId65"/>
    <p:sldId id="442" r:id="rId66"/>
    <p:sldId id="443" r:id="rId67"/>
    <p:sldId id="444" r:id="rId68"/>
    <p:sldId id="445" r:id="rId69"/>
    <p:sldId id="446" r:id="rId70"/>
    <p:sldId id="447" r:id="rId71"/>
    <p:sldId id="448" r:id="rId72"/>
    <p:sldId id="449" r:id="rId73"/>
    <p:sldId id="450" r:id="rId74"/>
    <p:sldId id="343" r:id="rId7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03" autoAdjust="0"/>
    <p:restoredTop sz="94667" autoAdjust="0"/>
  </p:normalViewPr>
  <p:slideViewPr>
    <p:cSldViewPr>
      <p:cViewPr>
        <p:scale>
          <a:sx n="50" d="100"/>
          <a:sy n="50" d="100"/>
        </p:scale>
        <p:origin x="-1484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FB1E61-C19C-4EB9-A84C-BFF45D303BF2}" type="datetimeFigureOut">
              <a:rPr lang="en-US" smtClean="0"/>
              <a:pPr/>
              <a:t>7/9/2026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5EF36E-07BF-409F-AB2B-FE2A93BEB887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7/9/2026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7/9/2026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7/9/2026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7/9/2026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7/9/2026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7/9/2026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envoyproxy.io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istio.io/latest/docs/setup/getting-started/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istio.io/latest/docs/setup/getting-started/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://192.168.1.45:8080/productpage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://192.168.1.45:9090/query?g0.expr=sum(rate(istio_requests_total%5b5m%5d))&amp;g0.show_tree=0&amp;g0.tab=graph&amp;g0.range_input=1h&amp;g0.res_type=auto&amp;g0.res_density=medium&amp;g0.display_mode=lines&amp;g0.show_exemplars=0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linkerd.io/2.16/getting-started/" TargetMode="Externa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linkerd.io/2-edge/tasks/uninstall/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80/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dotnetfullstackdev.medium.com/service-mesh-with-linkerd-in-a-net-microservice-architecture-e87d3d406b06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Service Mesh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625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36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2800" dirty="0" smtClean="0">
                <a:hlinkClick r:id="rId2"/>
              </a:rPr>
              <a:t>nhbien@fit.hcmus.edu.vn</a:t>
            </a:r>
            <a:endParaRPr lang="en-US" sz="28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828800"/>
            <a:ext cx="5105400" cy="40386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endParaRPr lang="en-US" sz="2400" dirty="0" smtClean="0">
              <a:latin typeface="+mj-lt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Service </a:t>
            </a:r>
            <a:r>
              <a:rPr lang="en-US" sz="2400" dirty="0" smtClean="0"/>
              <a:t>Mesh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err="1" smtClean="0"/>
              <a:t>Istio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err="1" smtClean="0"/>
              <a:t>Linkerd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15000" cy="4525963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400" dirty="0" err="1" smtClean="0"/>
              <a:t>Wubin</a:t>
            </a:r>
            <a:r>
              <a:rPr lang="en-US" sz="2400" dirty="0" smtClean="0"/>
              <a:t> Li et al. (2019). Service Mesh - Challenges, State of the Art, and Future Research Opportunities</a:t>
            </a:r>
            <a:r>
              <a:rPr lang="en-US" sz="2400" dirty="0" smtClean="0"/>
              <a:t>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Christian E. Posta and </a:t>
            </a:r>
            <a:r>
              <a:rPr lang="en-US" sz="2400" dirty="0" err="1" smtClean="0"/>
              <a:t>Rinor</a:t>
            </a:r>
            <a:r>
              <a:rPr lang="en-US" sz="2400" dirty="0" smtClean="0"/>
              <a:t> </a:t>
            </a:r>
            <a:r>
              <a:rPr lang="en-US" sz="2400" dirty="0" err="1" smtClean="0"/>
              <a:t>Maloku</a:t>
            </a:r>
            <a:r>
              <a:rPr lang="en-US" sz="2400" dirty="0" smtClean="0"/>
              <a:t> (2022). </a:t>
            </a:r>
            <a:r>
              <a:rPr lang="en-US" sz="2400" dirty="0" err="1" smtClean="0"/>
              <a:t>Istio</a:t>
            </a:r>
            <a:r>
              <a:rPr lang="en-US" sz="2400" dirty="0" smtClean="0"/>
              <a:t> in Action. Manning </a:t>
            </a:r>
            <a:r>
              <a:rPr lang="en-US" sz="2400" dirty="0" smtClean="0"/>
              <a:t>Publications.</a:t>
            </a:r>
            <a:endParaRPr lang="en-US" sz="2400" dirty="0" smtClean="0"/>
          </a:p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Jason Morgan and Flynn (2024).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Up and Running. O'Reilly Media.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Luke </a:t>
            </a:r>
            <a:r>
              <a:rPr lang="en-US" sz="2400" dirty="0" err="1" smtClean="0"/>
              <a:t>Kysow</a:t>
            </a:r>
            <a:r>
              <a:rPr lang="en-US" sz="2400" dirty="0" smtClean="0"/>
              <a:t> (2022). Consul - Up and Running. O'Reilly Media.</a:t>
            </a:r>
            <a:endParaRPr lang="en-US" sz="24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Introduction to Service Mesh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dedicated infrastructure layer</a:t>
            </a:r>
            <a:r>
              <a:rPr lang="en-US" sz="2400" dirty="0" smtClean="0"/>
              <a:t> over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without imposing modification on the service implementations.</a:t>
            </a:r>
          </a:p>
          <a:p>
            <a:r>
              <a:rPr lang="en-US" sz="2400" dirty="0" smtClean="0"/>
              <a:t>Serving as a fully manageable </a:t>
            </a:r>
            <a:r>
              <a:rPr lang="en-US" sz="2400" i="1" dirty="0" smtClean="0">
                <a:solidFill>
                  <a:srgbClr val="C00000"/>
                </a:solidFill>
              </a:rPr>
              <a:t>service-to-service communication platform</a:t>
            </a:r>
            <a:r>
              <a:rPr lang="en-US" sz="2400" dirty="0" smtClean="0"/>
              <a:t>, a service mesh is designed to </a:t>
            </a:r>
            <a:r>
              <a:rPr lang="en-US" sz="2400" u="sng" dirty="0" smtClean="0"/>
              <a:t>standardize</a:t>
            </a:r>
            <a:r>
              <a:rPr lang="en-US" sz="2400" dirty="0" smtClean="0"/>
              <a:t> the runtime operations of applications.</a:t>
            </a:r>
          </a:p>
          <a:p>
            <a:r>
              <a:rPr lang="en-US" sz="2400" dirty="0" smtClean="0"/>
              <a:t>The service mesh technologies hold the promise in addressing</a:t>
            </a:r>
          </a:p>
          <a:p>
            <a:pPr lvl="1"/>
            <a:r>
              <a:rPr lang="en-US" sz="2000" dirty="0" smtClean="0"/>
              <a:t>communication-related concerns</a:t>
            </a:r>
          </a:p>
          <a:p>
            <a:pPr lvl="1"/>
            <a:r>
              <a:rPr lang="en-US" sz="2000" dirty="0" smtClean="0"/>
              <a:t>interoperability</a:t>
            </a:r>
          </a:p>
          <a:p>
            <a:pPr lvl="1"/>
            <a:r>
              <a:rPr lang="en-US" sz="2000" dirty="0" smtClean="0"/>
              <a:t>traffic segmentation</a:t>
            </a:r>
          </a:p>
          <a:p>
            <a:pPr lvl="1"/>
            <a:r>
              <a:rPr lang="en-US" sz="2000" dirty="0" smtClean="0"/>
              <a:t>dependency control</a:t>
            </a:r>
          </a:p>
          <a:p>
            <a:pPr lvl="1"/>
            <a:r>
              <a:rPr lang="en-US" sz="2000" dirty="0" smtClean="0"/>
              <a:t>runtime enforcement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Definition of Service Mesh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service mesh</a:t>
            </a:r>
            <a:r>
              <a:rPr lang="en-US" sz="2400" dirty="0" smtClean="0"/>
              <a:t> is a </a:t>
            </a:r>
            <a:r>
              <a:rPr lang="en-US" sz="2400" u="sng" dirty="0" smtClean="0"/>
              <a:t>dedicated infrastructure layer</a:t>
            </a:r>
            <a:r>
              <a:rPr lang="en-US" sz="2400" dirty="0" smtClean="0"/>
              <a:t> for handling </a:t>
            </a:r>
            <a:r>
              <a:rPr lang="en-US" sz="2400" u="sng" dirty="0" smtClean="0"/>
              <a:t>service-to-service communication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It’s responsible for the </a:t>
            </a:r>
            <a:r>
              <a:rPr lang="en-US" sz="2400" i="1" dirty="0" smtClean="0">
                <a:solidFill>
                  <a:srgbClr val="C00000"/>
                </a:solidFill>
              </a:rPr>
              <a:t>reliable delivery of requests</a:t>
            </a:r>
            <a:r>
              <a:rPr lang="en-US" sz="2400" dirty="0" smtClean="0"/>
              <a:t> through the complex topology of services that comprise a modern, cloud native application.</a:t>
            </a:r>
          </a:p>
          <a:p>
            <a:r>
              <a:rPr lang="en-US" sz="2400" dirty="0" smtClean="0"/>
              <a:t>In practice, the service mesh is typically implemented as an array of lightweight network proxies that are </a:t>
            </a:r>
            <a:r>
              <a:rPr lang="en-US" sz="2400" i="1" dirty="0" smtClean="0">
                <a:solidFill>
                  <a:srgbClr val="C00000"/>
                </a:solidFill>
              </a:rPr>
              <a:t>deployed alongside application code</a:t>
            </a:r>
            <a:r>
              <a:rPr lang="en-US" sz="2400" dirty="0" smtClean="0"/>
              <a:t>, without the application needing to be aware.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800" dirty="0" smtClean="0"/>
              <a:t>Architectural Overview of Service Mesh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service mesh infrastructure</a:t>
            </a:r>
            <a:r>
              <a:rPr lang="en-US" sz="2000" dirty="0" smtClean="0"/>
              <a:t> logically consists of a </a:t>
            </a:r>
            <a:r>
              <a:rPr lang="en-US" sz="2000" u="sng" dirty="0" smtClean="0"/>
              <a:t>data plane</a:t>
            </a:r>
            <a:r>
              <a:rPr lang="en-US" sz="2000" dirty="0" smtClean="0"/>
              <a:t> and a </a:t>
            </a:r>
            <a:r>
              <a:rPr lang="en-US" sz="2000" u="sng" dirty="0" smtClean="0"/>
              <a:t>control plane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 data plane is composed of a set of </a:t>
            </a:r>
            <a:r>
              <a:rPr lang="en-US" sz="2000" i="1" dirty="0" smtClean="0">
                <a:solidFill>
                  <a:srgbClr val="C00000"/>
                </a:solidFill>
              </a:rPr>
              <a:t>intelligent proxies</a:t>
            </a:r>
            <a:r>
              <a:rPr lang="en-US" sz="2000" dirty="0" smtClean="0"/>
              <a:t>, which are typically deployed as </a:t>
            </a:r>
            <a:r>
              <a:rPr lang="en-US" sz="2000" u="sng" dirty="0" smtClean="0"/>
              <a:t>sidecars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 control plane </a:t>
            </a:r>
            <a:r>
              <a:rPr lang="en-US" sz="2000" i="1" dirty="0" smtClean="0">
                <a:solidFill>
                  <a:srgbClr val="C00000"/>
                </a:solidFill>
              </a:rPr>
              <a:t>manages</a:t>
            </a:r>
            <a:r>
              <a:rPr lang="en-US" sz="2000" dirty="0" smtClean="0"/>
              <a:t> and configures the proxies for </a:t>
            </a:r>
            <a:r>
              <a:rPr lang="en-US" sz="2000" u="sng" dirty="0" smtClean="0"/>
              <a:t>traffic routing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3788" y="3822700"/>
            <a:ext cx="4416425" cy="219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 Mesh Features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Service discovery</a:t>
            </a:r>
          </a:p>
          <a:p>
            <a:pPr lvl="1"/>
            <a:r>
              <a:rPr lang="en-US" sz="2400" dirty="0" smtClean="0"/>
              <a:t>Typically, service instances are discovered by looking up a registry underneath which keeps records of new instances as well as instances that are removed from the network.</a:t>
            </a:r>
          </a:p>
          <a:p>
            <a:r>
              <a:rPr lang="en-US" sz="2800" dirty="0" smtClean="0"/>
              <a:t>Load balancing</a:t>
            </a:r>
          </a:p>
          <a:p>
            <a:r>
              <a:rPr lang="en-US" sz="2800" dirty="0" smtClean="0"/>
              <a:t>Fault tolerance</a:t>
            </a:r>
          </a:p>
          <a:p>
            <a:r>
              <a:rPr lang="en-US" sz="2800" dirty="0" smtClean="0"/>
              <a:t>Traffic monitoring</a:t>
            </a:r>
          </a:p>
          <a:p>
            <a:r>
              <a:rPr lang="en-US" sz="2800" dirty="0" smtClean="0"/>
              <a:t>Circuit breaking</a:t>
            </a:r>
          </a:p>
          <a:p>
            <a:r>
              <a:rPr lang="en-US" sz="2800" dirty="0" smtClean="0"/>
              <a:t>Authentication and access control</a:t>
            </a:r>
            <a:endParaRPr lang="en-US" sz="2800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05600" y="3429000"/>
            <a:ext cx="1623554" cy="2435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Enablement Technologies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Istio</a:t>
            </a:r>
            <a:endParaRPr lang="en-US" sz="2400" dirty="0" smtClean="0"/>
          </a:p>
          <a:p>
            <a:r>
              <a:rPr lang="en-US" sz="2400" dirty="0" err="1" smtClean="0"/>
              <a:t>Linkerd</a:t>
            </a:r>
            <a:endParaRPr lang="en-US" sz="2400" dirty="0" smtClean="0"/>
          </a:p>
          <a:p>
            <a:r>
              <a:rPr lang="en-US" sz="2400" dirty="0" err="1" smtClean="0"/>
              <a:t>Airbnb</a:t>
            </a:r>
            <a:r>
              <a:rPr lang="en-US" sz="2400" dirty="0" smtClean="0"/>
              <a:t> Synapse</a:t>
            </a:r>
          </a:p>
          <a:p>
            <a:pPr lvl="1"/>
            <a:r>
              <a:rPr lang="en-US" sz="2000" dirty="0" smtClean="0"/>
              <a:t>it solves the problem of automated failover through a simplistic but efficient, </a:t>
            </a:r>
            <a:r>
              <a:rPr lang="en-US" sz="2000" dirty="0" err="1" smtClean="0"/>
              <a:t>Zookeeperbased</a:t>
            </a:r>
            <a:r>
              <a:rPr lang="en-US" sz="2000" dirty="0" smtClean="0"/>
              <a:t> service discovery mechanism. In detail, Synapse configures a local </a:t>
            </a:r>
            <a:r>
              <a:rPr lang="en-US" sz="2000" dirty="0" err="1" smtClean="0"/>
              <a:t>HAProxy</a:t>
            </a:r>
            <a:r>
              <a:rPr lang="en-US" sz="2000" dirty="0" smtClean="0"/>
              <a:t> process using the information read from Zookeeper where states of the services are stored and continuously updated. By doing so, the local </a:t>
            </a:r>
            <a:r>
              <a:rPr lang="en-US" sz="2000" dirty="0" err="1" smtClean="0"/>
              <a:t>HAProxy</a:t>
            </a:r>
            <a:r>
              <a:rPr lang="en-US" sz="2000" dirty="0" smtClean="0"/>
              <a:t> can take care of properly routing the request from a service consumer. With an optimized </a:t>
            </a:r>
            <a:r>
              <a:rPr lang="en-US" sz="2000" dirty="0" err="1" smtClean="0"/>
              <a:t>HAProxy</a:t>
            </a:r>
            <a:r>
              <a:rPr lang="en-US" sz="2000" dirty="0" smtClean="0"/>
              <a:t>, Synapse can react to the change (e.g., service failure) in Zookeeper, and reconfigure </a:t>
            </a:r>
            <a:r>
              <a:rPr lang="en-US" sz="2000" dirty="0" err="1" smtClean="0"/>
              <a:t>HAProxy</a:t>
            </a:r>
            <a:r>
              <a:rPr lang="en-US" sz="2000" dirty="0" smtClean="0"/>
              <a:t> immediately.</a:t>
            </a:r>
          </a:p>
          <a:p>
            <a:r>
              <a:rPr lang="en-US" sz="2400" dirty="0" smtClean="0"/>
              <a:t>Amazon App Mesh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Service Mesh?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Debugging </a:t>
            </a:r>
            <a:r>
              <a:rPr lang="en-US" sz="2800" dirty="0" err="1" smtClean="0"/>
              <a:t>microservices</a:t>
            </a:r>
            <a:r>
              <a:rPr lang="en-US" sz="2800" dirty="0" smtClean="0"/>
              <a:t> applications turns out to be a challenging task due to </a:t>
            </a:r>
          </a:p>
          <a:p>
            <a:pPr lvl="1"/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complexity of service dependencies</a:t>
            </a:r>
            <a:r>
              <a:rPr lang="en-US" sz="2400" dirty="0" smtClean="0"/>
              <a:t> and </a:t>
            </a:r>
          </a:p>
          <a:p>
            <a:pPr lvl="1"/>
            <a:r>
              <a:rPr lang="en-US" sz="2400" dirty="0" smtClean="0"/>
              <a:t>the fact that any service can become </a:t>
            </a:r>
            <a:r>
              <a:rPr lang="en-US" sz="2400" i="1" dirty="0" smtClean="0">
                <a:solidFill>
                  <a:srgbClr val="C00000"/>
                </a:solidFill>
              </a:rPr>
              <a:t>temporarily inaccessible</a:t>
            </a:r>
            <a:r>
              <a:rPr lang="en-US" sz="2400" dirty="0" smtClean="0"/>
              <a:t> to its consumers</a:t>
            </a:r>
          </a:p>
          <a:p>
            <a:pPr lvl="1"/>
            <a:r>
              <a:rPr lang="en-US" sz="2400" dirty="0" smtClean="0"/>
              <a:t>as the </a:t>
            </a:r>
            <a:r>
              <a:rPr lang="en-US" sz="2400" u="sng" dirty="0" smtClean="0"/>
              <a:t>application behavior</a:t>
            </a:r>
            <a:r>
              <a:rPr lang="en-US" sz="2400" dirty="0" smtClean="0"/>
              <a:t> depends on the flow of the traffic among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, </a:t>
            </a:r>
            <a:r>
              <a:rPr lang="en-US" sz="2400" i="1" dirty="0" smtClean="0">
                <a:solidFill>
                  <a:srgbClr val="C00000"/>
                </a:solidFill>
              </a:rPr>
              <a:t>traffic control</a:t>
            </a:r>
            <a:r>
              <a:rPr lang="en-US" sz="2400" dirty="0" smtClean="0"/>
              <a:t> becomes a must (but currently missing) for runtime operation.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Security </a:t>
            </a:r>
            <a:r>
              <a:rPr lang="en-US" dirty="0" smtClean="0"/>
              <a:t>[3]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2362200"/>
            <a:ext cx="6305550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Reliability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2514600"/>
            <a:ext cx="5286375" cy="2619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Observability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2667000"/>
            <a:ext cx="6424613" cy="2619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Application </a:t>
            </a:r>
            <a:r>
              <a:rPr lang="en-US" sz="4200" dirty="0" smtClean="0"/>
              <a:t>Networking Libraries [2]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429000" cy="4525963"/>
          </a:xfrm>
        </p:spPr>
        <p:txBody>
          <a:bodyPr/>
          <a:lstStyle/>
          <a:p>
            <a:r>
              <a:rPr lang="en-US" sz="2400" dirty="0" err="1" smtClean="0"/>
              <a:t>Hystrix</a:t>
            </a:r>
            <a:r>
              <a:rPr lang="en-US" sz="2400" dirty="0" smtClean="0"/>
              <a:t>—Circuit </a:t>
            </a:r>
            <a:r>
              <a:rPr lang="en-US" sz="2400" dirty="0" smtClean="0"/>
              <a:t>breaking and </a:t>
            </a:r>
            <a:r>
              <a:rPr lang="en-US" sz="2400" dirty="0" err="1" smtClean="0"/>
              <a:t>bulkheading</a:t>
            </a:r>
            <a:endParaRPr lang="en-US" sz="2400" dirty="0" smtClean="0"/>
          </a:p>
          <a:p>
            <a:r>
              <a:rPr lang="en-US" sz="2400" dirty="0" smtClean="0"/>
              <a:t>Ribbon—Client-side </a:t>
            </a:r>
            <a:r>
              <a:rPr lang="en-US" sz="2400" dirty="0" smtClean="0"/>
              <a:t>load balancing</a:t>
            </a:r>
          </a:p>
          <a:p>
            <a:r>
              <a:rPr lang="en-US" sz="2400" dirty="0" smtClean="0"/>
              <a:t>Eureka—Service </a:t>
            </a:r>
            <a:r>
              <a:rPr lang="en-US" sz="2400" dirty="0" smtClean="0"/>
              <a:t>registration and discovery</a:t>
            </a:r>
          </a:p>
          <a:p>
            <a:r>
              <a:rPr lang="en-US" sz="2400" dirty="0" err="1" smtClean="0"/>
              <a:t>Zuul</a:t>
            </a:r>
            <a:r>
              <a:rPr lang="en-US" sz="2400" dirty="0" smtClean="0"/>
              <a:t>—Dynamic </a:t>
            </a:r>
            <a:r>
              <a:rPr lang="en-US" sz="2400" dirty="0" smtClean="0"/>
              <a:t>edge proxy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3800" y="1676400"/>
            <a:ext cx="4759325" cy="2746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4191000" y="4572000"/>
            <a:ext cx="4191000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dirty="0" smtClean="0"/>
              <a:t>Application networking libraries commingled with an application.</a:t>
            </a:r>
            <a:endParaRPr lang="en-US" dirty="0" smtClean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</a:t>
            </a:r>
            <a:r>
              <a:rPr lang="en-US" dirty="0" smtClean="0"/>
              <a:t>Envoy proxy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The Envoy proxy </a:t>
            </a:r>
            <a:r>
              <a:rPr lang="en-US" dirty="0" smtClean="0"/>
              <a:t>is an </a:t>
            </a:r>
            <a:r>
              <a:rPr lang="en-US" dirty="0" smtClean="0"/>
              <a:t>out-of-process participant </a:t>
            </a:r>
            <a:r>
              <a:rPr lang="en-US" dirty="0" smtClean="0"/>
              <a:t>in application </a:t>
            </a:r>
            <a:r>
              <a:rPr lang="en-US" dirty="0" smtClean="0"/>
              <a:t>networking</a:t>
            </a:r>
            <a:r>
              <a:rPr lang="en-US" dirty="0" smtClean="0"/>
              <a:t>.</a:t>
            </a:r>
          </a:p>
          <a:p>
            <a:r>
              <a:rPr lang="en-US" dirty="0" smtClean="0">
                <a:hlinkClick r:id="rId2"/>
              </a:rPr>
              <a:t>https://www.envoyproxy.io</a:t>
            </a:r>
            <a:r>
              <a:rPr lang="en-US" dirty="0" smtClean="0">
                <a:hlinkClick r:id="rId2"/>
              </a:rPr>
              <a:t>/</a:t>
            </a:r>
            <a:endParaRPr lang="en-US" dirty="0" smtClean="0"/>
          </a:p>
          <a:p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47875" y="3813175"/>
            <a:ext cx="5048250" cy="1901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 Proxies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We can deploy service proxies alongside our applications to get these </a:t>
            </a:r>
            <a:r>
              <a:rPr lang="en-US" sz="2200" dirty="0" smtClean="0"/>
              <a:t>features (resilience </a:t>
            </a:r>
            <a:r>
              <a:rPr lang="en-US" sz="2200" dirty="0" smtClean="0"/>
              <a:t>and </a:t>
            </a:r>
            <a:r>
              <a:rPr lang="en-US" sz="2200" dirty="0" err="1" smtClean="0"/>
              <a:t>observability</a:t>
            </a:r>
            <a:r>
              <a:rPr lang="en-US" sz="2200" dirty="0" smtClean="0"/>
              <a:t>) out-of-process from the application, but at a fidelity </a:t>
            </a:r>
            <a:r>
              <a:rPr lang="en-US" sz="2200" dirty="0" smtClean="0"/>
              <a:t>that is </a:t>
            </a:r>
            <a:r>
              <a:rPr lang="en-US" sz="2200" dirty="0" smtClean="0"/>
              <a:t>very application specific.</a:t>
            </a:r>
            <a:endParaRPr lang="en-US" sz="22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66925" y="3025775"/>
            <a:ext cx="5010150" cy="3146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</a:t>
            </a:r>
            <a:r>
              <a:rPr lang="en-US" dirty="0" smtClean="0"/>
              <a:t>sidecar </a:t>
            </a:r>
            <a:r>
              <a:rPr lang="en-US" dirty="0" smtClean="0"/>
              <a:t>deployment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sidecar deployment is an </a:t>
            </a:r>
            <a:r>
              <a:rPr lang="en-US" sz="2400" dirty="0" smtClean="0"/>
              <a:t>additional process </a:t>
            </a:r>
            <a:r>
              <a:rPr lang="en-US" sz="2400" dirty="0" smtClean="0"/>
              <a:t>that works cooperatively with the </a:t>
            </a:r>
            <a:r>
              <a:rPr lang="en-US" sz="2400" dirty="0" smtClean="0"/>
              <a:t>main application </a:t>
            </a:r>
            <a:r>
              <a:rPr lang="en-US" sz="2400" dirty="0" smtClean="0"/>
              <a:t>process to deliver a piece of functionality.</a:t>
            </a:r>
            <a:endParaRPr lang="en-US" sz="2200" dirty="0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3352800"/>
            <a:ext cx="2139950" cy="2568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Istio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Istio</a:t>
            </a:r>
            <a:r>
              <a:rPr lang="en-US" sz="2400" dirty="0" smtClean="0"/>
              <a:t> is an open source implementation of a service mesh founded by Google, </a:t>
            </a:r>
            <a:r>
              <a:rPr lang="en-US" sz="2400" dirty="0" smtClean="0"/>
              <a:t>IBM, and </a:t>
            </a:r>
            <a:r>
              <a:rPr lang="en-US" sz="2400" dirty="0" err="1" smtClean="0"/>
              <a:t>Lyft</a:t>
            </a:r>
            <a:r>
              <a:rPr lang="en-US" sz="2400" dirty="0" smtClean="0"/>
              <a:t>.</a:t>
            </a:r>
          </a:p>
          <a:p>
            <a:r>
              <a:rPr lang="en-US" sz="2400" dirty="0" err="1" smtClean="0"/>
              <a:t>Istio’s</a:t>
            </a:r>
            <a:r>
              <a:rPr lang="en-US" sz="2400" dirty="0" smtClean="0"/>
              <a:t> </a:t>
            </a:r>
            <a:r>
              <a:rPr lang="en-US" sz="2400" i="1" dirty="0" smtClean="0">
                <a:solidFill>
                  <a:srgbClr val="C00000"/>
                </a:solidFill>
              </a:rPr>
              <a:t>data plane</a:t>
            </a:r>
            <a:r>
              <a:rPr lang="en-US" sz="2400" dirty="0" smtClean="0"/>
              <a:t> uses the </a:t>
            </a:r>
            <a:r>
              <a:rPr lang="en-US" sz="2400" dirty="0" smtClean="0"/>
              <a:t>Envoy proxy </a:t>
            </a:r>
            <a:r>
              <a:rPr lang="en-US" sz="2400" dirty="0" smtClean="0"/>
              <a:t>and helps you configure your application to have an instance of the </a:t>
            </a:r>
            <a:r>
              <a:rPr lang="en-US" sz="2400" dirty="0" smtClean="0"/>
              <a:t>service proxy </a:t>
            </a:r>
            <a:r>
              <a:rPr lang="en-US" sz="2400" dirty="0" smtClean="0"/>
              <a:t>(Envoy) deployed alongside </a:t>
            </a:r>
            <a:r>
              <a:rPr lang="en-US" sz="2400" dirty="0" smtClean="0"/>
              <a:t>it.</a:t>
            </a:r>
          </a:p>
          <a:p>
            <a:r>
              <a:rPr lang="en-US" sz="2400" dirty="0" err="1" smtClean="0"/>
              <a:t>Istio’s</a:t>
            </a:r>
            <a:r>
              <a:rPr lang="en-US" sz="2400" dirty="0" smtClean="0"/>
              <a:t> </a:t>
            </a:r>
            <a:r>
              <a:rPr lang="en-US" sz="2400" i="1" dirty="0" smtClean="0">
                <a:solidFill>
                  <a:srgbClr val="C00000"/>
                </a:solidFill>
              </a:rPr>
              <a:t>control plane</a:t>
            </a:r>
            <a:r>
              <a:rPr lang="en-US" sz="2400" dirty="0" smtClean="0"/>
              <a:t> is made up of a few </a:t>
            </a:r>
            <a:r>
              <a:rPr lang="en-US" sz="2400" dirty="0" smtClean="0"/>
              <a:t>components that </a:t>
            </a:r>
            <a:r>
              <a:rPr lang="en-US" sz="2400" dirty="0" smtClean="0"/>
              <a:t>provide APIs for end users/operators, configuration APIs for the </a:t>
            </a:r>
            <a:r>
              <a:rPr lang="en-US" sz="2400" dirty="0" smtClean="0"/>
              <a:t>proxies, security </a:t>
            </a:r>
            <a:r>
              <a:rPr lang="en-US" sz="2400" dirty="0" smtClean="0"/>
              <a:t>settings, policy declarations, and more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You </a:t>
            </a:r>
            <a:r>
              <a:rPr lang="en-US" sz="2400" dirty="0" smtClean="0"/>
              <a:t>can use an </a:t>
            </a:r>
            <a:r>
              <a:rPr lang="en-US" sz="2400" dirty="0" err="1" smtClean="0"/>
              <a:t>Istio</a:t>
            </a:r>
            <a:r>
              <a:rPr lang="en-US" sz="2400" dirty="0" smtClean="0"/>
              <a:t>-based </a:t>
            </a:r>
            <a:r>
              <a:rPr lang="en-US" sz="2400" dirty="0" smtClean="0"/>
              <a:t>service mesh </a:t>
            </a:r>
            <a:r>
              <a:rPr lang="en-US" sz="2400" dirty="0" smtClean="0"/>
              <a:t>across deployment platforms like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, </a:t>
            </a:r>
            <a:r>
              <a:rPr lang="en-US" sz="2400" dirty="0" err="1" smtClean="0"/>
              <a:t>OpenShift</a:t>
            </a:r>
            <a:r>
              <a:rPr lang="en-US" sz="2400" dirty="0" smtClean="0"/>
              <a:t>, and even </a:t>
            </a:r>
            <a:r>
              <a:rPr lang="en-US" sz="2400" dirty="0" smtClean="0"/>
              <a:t>traditional deployment </a:t>
            </a:r>
            <a:r>
              <a:rPr lang="en-US" sz="2400" dirty="0" smtClean="0"/>
              <a:t>environments like virtual machines (VMs</a:t>
            </a:r>
            <a:r>
              <a:rPr lang="en-US" sz="2400" dirty="0" smtClean="0"/>
              <a:t>).</a:t>
            </a:r>
          </a:p>
          <a:p>
            <a:r>
              <a:rPr lang="en-US" sz="2400" i="1" dirty="0" err="1" smtClean="0"/>
              <a:t>Istio</a:t>
            </a:r>
            <a:r>
              <a:rPr lang="en-US" sz="2400" i="1" dirty="0" smtClean="0"/>
              <a:t> is Greek for “</a:t>
            </a:r>
            <a:r>
              <a:rPr lang="en-US" sz="2400" i="1" dirty="0" smtClean="0"/>
              <a:t>sail”.</a:t>
            </a:r>
            <a:endParaRPr lang="en-US" sz="2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Istio's</a:t>
            </a:r>
            <a:r>
              <a:rPr lang="en-US" dirty="0" smtClean="0"/>
              <a:t>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2590800" cy="4525963"/>
          </a:xfrm>
        </p:spPr>
        <p:txBody>
          <a:bodyPr/>
          <a:lstStyle/>
          <a:p>
            <a:r>
              <a:rPr lang="en-US" sz="2400" dirty="0" err="1" smtClean="0"/>
              <a:t>Istio</a:t>
            </a:r>
            <a:r>
              <a:rPr lang="en-US" sz="2400" dirty="0" smtClean="0"/>
              <a:t> is an implementation of a service mesh with a data plane based on </a:t>
            </a:r>
            <a:r>
              <a:rPr lang="en-US" sz="2400" dirty="0" smtClean="0"/>
              <a:t>Envoy and </a:t>
            </a:r>
            <a:r>
              <a:rPr lang="en-US" sz="2400" dirty="0" smtClean="0"/>
              <a:t>a control plane.</a:t>
            </a:r>
            <a:endParaRPr lang="en-US" sz="240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1752600"/>
            <a:ext cx="5578475" cy="4089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Separation </a:t>
            </a:r>
            <a:r>
              <a:rPr lang="en-US" dirty="0" smtClean="0"/>
              <a:t>of concerns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76600" cy="4525963"/>
          </a:xfrm>
        </p:spPr>
        <p:txBody>
          <a:bodyPr/>
          <a:lstStyle/>
          <a:p>
            <a:r>
              <a:rPr lang="en-US" sz="2400" dirty="0" err="1" smtClean="0"/>
              <a:t>Istio</a:t>
            </a:r>
            <a:r>
              <a:rPr lang="en-US" sz="2400" dirty="0" smtClean="0"/>
              <a:t> plays a supporting role to the application layer and sits above the lower-level deployment layer.</a:t>
            </a:r>
            <a:endParaRPr lang="en-US" sz="2400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86200" y="1905000"/>
            <a:ext cx="4438650" cy="37528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Download </a:t>
            </a:r>
            <a:r>
              <a:rPr lang="en-US" dirty="0" err="1" smtClean="0"/>
              <a:t>Istio</a:t>
            </a:r>
            <a:r>
              <a:rPr lang="en-US" dirty="0" smtClean="0"/>
              <a:t>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https://istio.io/latest/docs/setup/getting-started/#download</a:t>
            </a:r>
            <a:endParaRPr lang="en-US" sz="2400" dirty="0" smtClean="0"/>
          </a:p>
          <a:p>
            <a:r>
              <a:rPr lang="en-US" sz="2400" dirty="0" smtClean="0"/>
              <a:t>curl -L https://istio.io/downloadIstio | </a:t>
            </a:r>
            <a:r>
              <a:rPr lang="en-US" sz="2400" dirty="0" err="1" smtClean="0"/>
              <a:t>sh</a:t>
            </a:r>
            <a:r>
              <a:rPr lang="en-US" sz="2400" dirty="0" smtClean="0"/>
              <a:t> -</a:t>
            </a:r>
          </a:p>
          <a:p>
            <a:r>
              <a:rPr lang="en-US" sz="2400" dirty="0" err="1" smtClean="0"/>
              <a:t>cd</a:t>
            </a:r>
            <a:r>
              <a:rPr lang="en-US" sz="2400" dirty="0" smtClean="0"/>
              <a:t> istio-1.30.2</a:t>
            </a:r>
          </a:p>
          <a:p>
            <a:r>
              <a:rPr lang="en-US" sz="2400" dirty="0" smtClean="0"/>
              <a:t>export PATH=$PWD/bin:$PATH</a:t>
            </a:r>
          </a:p>
          <a:p>
            <a:endParaRPr lang="en-US" sz="2200" dirty="0" smtClean="0">
              <a:latin typeface="Consolas" pitchFamily="49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30338" y="3810000"/>
            <a:ext cx="6283325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Install </a:t>
            </a:r>
            <a:r>
              <a:rPr lang="en-US" dirty="0" err="1" smtClean="0"/>
              <a:t>Istio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hlinkClick r:id="rId2"/>
              </a:rPr>
              <a:t>https://istio.io/latest/docs/setup/getting-started/</a:t>
            </a:r>
            <a:endParaRPr lang="en-US" sz="2200" dirty="0" smtClean="0"/>
          </a:p>
          <a:p>
            <a:r>
              <a:rPr lang="en-US" sz="2200" dirty="0" smtClean="0"/>
              <a:t># Install </a:t>
            </a:r>
            <a:r>
              <a:rPr lang="en-US" sz="2200" dirty="0" err="1" smtClean="0"/>
              <a:t>Istio</a:t>
            </a:r>
            <a:r>
              <a:rPr lang="en-US" sz="2200" dirty="0" smtClean="0"/>
              <a:t> using the demo profile.</a:t>
            </a:r>
          </a:p>
          <a:p>
            <a:r>
              <a:rPr lang="en-US" sz="2200" dirty="0" smtClean="0"/>
              <a:t># Claude Code: What id </a:t>
            </a:r>
            <a:r>
              <a:rPr lang="en-US" sz="2200" dirty="0" err="1" smtClean="0"/>
              <a:t>Istio</a:t>
            </a:r>
            <a:r>
              <a:rPr lang="en-US" sz="2200" dirty="0" smtClean="0"/>
              <a:t> profile?</a:t>
            </a:r>
          </a:p>
          <a:p>
            <a:r>
              <a:rPr lang="en-US" sz="2200" dirty="0" err="1" smtClean="0"/>
              <a:t>istioctl</a:t>
            </a:r>
            <a:r>
              <a:rPr lang="en-US" sz="2200" dirty="0" smtClean="0"/>
              <a:t> install --set profile=demo -y</a:t>
            </a:r>
          </a:p>
          <a:p>
            <a:r>
              <a:rPr lang="en-US" sz="2200" dirty="0" smtClean="0"/>
              <a:t># Add a namespace label to instruct </a:t>
            </a:r>
            <a:r>
              <a:rPr lang="en-US" sz="2200" dirty="0" err="1" smtClean="0"/>
              <a:t>Istio</a:t>
            </a:r>
            <a:r>
              <a:rPr lang="en-US" sz="2200" dirty="0" smtClean="0"/>
              <a:t> to automatically inject Envoy sidecar proxies when you deploy your application later:</a:t>
            </a:r>
          </a:p>
          <a:p>
            <a:r>
              <a:rPr lang="en-US" sz="2200" dirty="0" err="1" smtClean="0"/>
              <a:t>kubectl</a:t>
            </a:r>
            <a:r>
              <a:rPr lang="en-US" sz="2200" dirty="0" smtClean="0"/>
              <a:t> label namespace default </a:t>
            </a:r>
            <a:r>
              <a:rPr lang="en-US" sz="2200" dirty="0" err="1" smtClean="0"/>
              <a:t>istio</a:t>
            </a:r>
            <a:r>
              <a:rPr lang="en-US" sz="2200" dirty="0" smtClean="0"/>
              <a:t>-injection=enabled</a:t>
            </a: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30338" y="4572000"/>
            <a:ext cx="6283325" cy="1752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Install the </a:t>
            </a:r>
            <a:r>
              <a:rPr lang="en-US" dirty="0" err="1" smtClean="0"/>
              <a:t>Kubernetes</a:t>
            </a:r>
            <a:r>
              <a:rPr lang="en-US" dirty="0" smtClean="0"/>
              <a:t> Gateway API CRDs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# The </a:t>
            </a:r>
            <a:r>
              <a:rPr lang="en-US" sz="2200" dirty="0" err="1" smtClean="0"/>
              <a:t>Kubernetes</a:t>
            </a:r>
            <a:r>
              <a:rPr lang="en-US" sz="2200" dirty="0" smtClean="0"/>
              <a:t> Gateway API CRDs do not come installed by default on most </a:t>
            </a:r>
            <a:r>
              <a:rPr lang="en-US" sz="2200" dirty="0" err="1" smtClean="0"/>
              <a:t>Kubernetes</a:t>
            </a:r>
            <a:r>
              <a:rPr lang="en-US" sz="2200" dirty="0" smtClean="0"/>
              <a:t> clusters, so make sure they are installed before using the Gateway API.</a:t>
            </a:r>
          </a:p>
          <a:p>
            <a:r>
              <a:rPr lang="en-US" sz="2200" dirty="0" err="1" smtClean="0"/>
              <a:t>kubectl</a:t>
            </a:r>
            <a:r>
              <a:rPr lang="en-US" sz="2200" dirty="0" smtClean="0"/>
              <a:t> get </a:t>
            </a:r>
            <a:r>
              <a:rPr lang="en-US" sz="2200" dirty="0" err="1" smtClean="0"/>
              <a:t>crd</a:t>
            </a:r>
            <a:r>
              <a:rPr lang="en-US" sz="2200" dirty="0" smtClean="0"/>
              <a:t> gateways.gateway.networking.k8s.io &amp;&gt; /dev/null || \</a:t>
            </a:r>
          </a:p>
          <a:p>
            <a:r>
              <a:rPr lang="en-US" sz="2200" dirty="0" smtClean="0"/>
              <a:t>{ </a:t>
            </a:r>
            <a:r>
              <a:rPr lang="en-US" sz="2200" dirty="0" err="1" smtClean="0"/>
              <a:t>kubectl</a:t>
            </a:r>
            <a:r>
              <a:rPr lang="en-US" sz="2200" dirty="0" smtClean="0"/>
              <a:t> </a:t>
            </a:r>
            <a:r>
              <a:rPr lang="en-US" sz="2200" dirty="0" err="1" smtClean="0"/>
              <a:t>kustomize</a:t>
            </a:r>
            <a:r>
              <a:rPr lang="en-US" sz="2200" dirty="0" smtClean="0"/>
              <a:t> "github.com/</a:t>
            </a:r>
            <a:r>
              <a:rPr lang="en-US" sz="2200" dirty="0" err="1" smtClean="0"/>
              <a:t>kubernetes</a:t>
            </a:r>
            <a:r>
              <a:rPr lang="en-US" sz="2200" dirty="0" smtClean="0"/>
              <a:t>-sigs/gateway-</a:t>
            </a:r>
            <a:r>
              <a:rPr lang="en-US" sz="2200" dirty="0" err="1" smtClean="0"/>
              <a:t>api</a:t>
            </a:r>
            <a:r>
              <a:rPr lang="en-US" sz="2200" dirty="0" smtClean="0"/>
              <a:t>/</a:t>
            </a:r>
            <a:r>
              <a:rPr lang="en-US" sz="2200" dirty="0" err="1" smtClean="0"/>
              <a:t>config</a:t>
            </a:r>
            <a:r>
              <a:rPr lang="en-US" sz="2200" dirty="0" smtClean="0"/>
              <a:t>/</a:t>
            </a:r>
            <a:r>
              <a:rPr lang="en-US" sz="2200" dirty="0" err="1" smtClean="0"/>
              <a:t>crd?ref</a:t>
            </a:r>
            <a:r>
              <a:rPr lang="en-US" sz="2200" dirty="0" smtClean="0"/>
              <a:t>=v1.5.1" | </a:t>
            </a:r>
            <a:r>
              <a:rPr lang="en-US" sz="2200" dirty="0" err="1" smtClean="0"/>
              <a:t>kubectl</a:t>
            </a:r>
            <a:r>
              <a:rPr lang="en-US" sz="2200" dirty="0" smtClean="0"/>
              <a:t> apply -f -; 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Deploy the </a:t>
            </a:r>
            <a:r>
              <a:rPr lang="en-US" dirty="0" err="1" smtClean="0"/>
              <a:t>Bookinfo</a:t>
            </a:r>
            <a:r>
              <a:rPr lang="en-US" dirty="0" smtClean="0"/>
              <a:t> sample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kubectl</a:t>
            </a:r>
            <a:r>
              <a:rPr lang="en-US" sz="2400" dirty="0" smtClean="0"/>
              <a:t> apply -f samples/</a:t>
            </a:r>
            <a:r>
              <a:rPr lang="en-US" sz="2400" dirty="0" err="1" smtClean="0"/>
              <a:t>bookinfo</a:t>
            </a:r>
            <a:r>
              <a:rPr lang="en-US" sz="2400" dirty="0" smtClean="0"/>
              <a:t>/platform/</a:t>
            </a:r>
            <a:r>
              <a:rPr lang="en-US" sz="2400" dirty="0" err="1" smtClean="0"/>
              <a:t>kube</a:t>
            </a:r>
            <a:r>
              <a:rPr lang="en-US" sz="2400" dirty="0" smtClean="0"/>
              <a:t>/</a:t>
            </a:r>
            <a:r>
              <a:rPr lang="en-US" sz="2400" dirty="0" err="1" smtClean="0"/>
              <a:t>bookinfo.yaml</a:t>
            </a:r>
            <a:endParaRPr lang="en-US" sz="2400" dirty="0" smtClean="0"/>
          </a:p>
          <a:p>
            <a:r>
              <a:rPr lang="en-US" sz="2400" dirty="0" err="1" smtClean="0"/>
              <a:t>kubectl</a:t>
            </a:r>
            <a:r>
              <a:rPr lang="en-US" sz="2400" dirty="0" smtClean="0"/>
              <a:t> get services</a:t>
            </a:r>
          </a:p>
          <a:p>
            <a:r>
              <a:rPr lang="en-US" sz="2400" dirty="0" err="1" smtClean="0"/>
              <a:t>kubectl</a:t>
            </a:r>
            <a:r>
              <a:rPr lang="en-US" sz="2400" dirty="0" smtClean="0"/>
              <a:t> get pods</a:t>
            </a:r>
            <a:endParaRPr lang="en-US" sz="2200" dirty="0" smtClean="0"/>
          </a:p>
          <a:p>
            <a:r>
              <a:rPr lang="en-US" sz="2200" dirty="0" err="1" smtClean="0"/>
              <a:t>kubectl</a:t>
            </a:r>
            <a:r>
              <a:rPr lang="en-US" sz="2200" dirty="0" smtClean="0"/>
              <a:t> exec "$(</a:t>
            </a:r>
            <a:r>
              <a:rPr lang="en-US" sz="2200" dirty="0" err="1" smtClean="0"/>
              <a:t>kubectl</a:t>
            </a:r>
            <a:r>
              <a:rPr lang="en-US" sz="2200" dirty="0" smtClean="0"/>
              <a:t> get pod -l app=ratings -o </a:t>
            </a:r>
            <a:r>
              <a:rPr lang="en-US" sz="2200" dirty="0" err="1" smtClean="0"/>
              <a:t>jsonpath</a:t>
            </a:r>
            <a:r>
              <a:rPr lang="en-US" sz="2200" dirty="0" smtClean="0"/>
              <a:t>='{.items[0].</a:t>
            </a:r>
            <a:r>
              <a:rPr lang="en-US" sz="2200" dirty="0" err="1" smtClean="0"/>
              <a:t>metadata.name</a:t>
            </a:r>
            <a:r>
              <a:rPr lang="en-US" sz="2200" dirty="0" smtClean="0"/>
              <a:t>}')" -c ratings -- curl -</a:t>
            </a:r>
            <a:r>
              <a:rPr lang="en-US" sz="2200" dirty="0" err="1" smtClean="0"/>
              <a:t>sS</a:t>
            </a:r>
            <a:r>
              <a:rPr lang="en-US" sz="2200" dirty="0" smtClean="0"/>
              <a:t> productpage:9080/</a:t>
            </a:r>
            <a:r>
              <a:rPr lang="en-US" sz="2200" dirty="0" err="1" smtClean="0"/>
              <a:t>productpage</a:t>
            </a:r>
            <a:r>
              <a:rPr lang="en-US" sz="2200" dirty="0" smtClean="0"/>
              <a:t> | </a:t>
            </a:r>
            <a:r>
              <a:rPr lang="en-US" sz="2200" dirty="0" err="1" smtClean="0"/>
              <a:t>grep</a:t>
            </a:r>
            <a:r>
              <a:rPr lang="en-US" sz="2200" dirty="0" smtClean="0"/>
              <a:t> -o "&lt;title&gt;.*&lt;/title&gt;"</a:t>
            </a:r>
          </a:p>
          <a:p>
            <a:endParaRPr lang="en-US" sz="2200" dirty="0" smtClean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Open the application to outside traffic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# Create a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 Gateway for the </a:t>
            </a:r>
            <a:r>
              <a:rPr lang="en-US" sz="2400" dirty="0" err="1" smtClean="0"/>
              <a:t>Bookinfo</a:t>
            </a:r>
            <a:r>
              <a:rPr lang="en-US" sz="2400" dirty="0" smtClean="0"/>
              <a:t> application:</a:t>
            </a:r>
          </a:p>
          <a:p>
            <a:r>
              <a:rPr lang="en-US" sz="2400" dirty="0" err="1" smtClean="0"/>
              <a:t>kubectl</a:t>
            </a:r>
            <a:r>
              <a:rPr lang="en-US" sz="2400" dirty="0" smtClean="0"/>
              <a:t> apply -f samples/</a:t>
            </a:r>
            <a:r>
              <a:rPr lang="en-US" sz="2400" dirty="0" err="1" smtClean="0"/>
              <a:t>bookinfo</a:t>
            </a:r>
            <a:r>
              <a:rPr lang="en-US" sz="2400" dirty="0" smtClean="0"/>
              <a:t>/gateway-</a:t>
            </a:r>
            <a:r>
              <a:rPr lang="en-US" sz="2400" dirty="0" err="1" smtClean="0"/>
              <a:t>api</a:t>
            </a:r>
            <a:r>
              <a:rPr lang="en-US" sz="2400" dirty="0" smtClean="0"/>
              <a:t>/</a:t>
            </a:r>
            <a:r>
              <a:rPr lang="en-US" sz="2400" dirty="0" err="1" smtClean="0"/>
              <a:t>bookinfo-gateway.yaml</a:t>
            </a:r>
            <a:endParaRPr lang="en-US" sz="2400" dirty="0" smtClean="0"/>
          </a:p>
          <a:p>
            <a:r>
              <a:rPr lang="en-US" sz="2400" dirty="0" smtClean="0"/>
              <a:t># Change the service type to </a:t>
            </a:r>
            <a:r>
              <a:rPr lang="en-US" sz="2400" dirty="0" err="1" smtClean="0"/>
              <a:t>ClusterIP</a:t>
            </a:r>
            <a:r>
              <a:rPr lang="en-US" sz="2400" dirty="0" smtClean="0"/>
              <a:t> by annotating the gateway:</a:t>
            </a:r>
          </a:p>
          <a:p>
            <a:r>
              <a:rPr lang="en-US" sz="2400" dirty="0" err="1" smtClean="0"/>
              <a:t>kubectl</a:t>
            </a:r>
            <a:r>
              <a:rPr lang="en-US" sz="2400" dirty="0" smtClean="0"/>
              <a:t> annotate gateway </a:t>
            </a:r>
            <a:r>
              <a:rPr lang="en-US" sz="2400" dirty="0" err="1" smtClean="0"/>
              <a:t>bookinfo</a:t>
            </a:r>
            <a:r>
              <a:rPr lang="en-US" sz="2400" dirty="0" smtClean="0"/>
              <a:t>-gateway networking.istio.io/service-type=</a:t>
            </a:r>
            <a:r>
              <a:rPr lang="en-US" sz="2400" dirty="0" err="1" smtClean="0"/>
              <a:t>ClusterIP</a:t>
            </a:r>
            <a:r>
              <a:rPr lang="en-US" sz="2400" dirty="0" smtClean="0"/>
              <a:t> --namespace=default</a:t>
            </a:r>
          </a:p>
          <a:p>
            <a:r>
              <a:rPr lang="en-US" sz="2400" dirty="0" smtClean="0"/>
              <a:t># Check the status of the gateway:</a:t>
            </a:r>
          </a:p>
          <a:p>
            <a:r>
              <a:rPr lang="en-US" sz="2400" dirty="0" err="1" smtClean="0"/>
              <a:t>kubectl</a:t>
            </a:r>
            <a:r>
              <a:rPr lang="en-US" sz="2400" dirty="0" smtClean="0"/>
              <a:t> get gateway</a:t>
            </a:r>
          </a:p>
          <a:p>
            <a:endParaRPr lang="en-US" sz="2200" dirty="0" smtClean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Access the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kubectl</a:t>
            </a:r>
            <a:r>
              <a:rPr lang="en-US" sz="2400" dirty="0" smtClean="0"/>
              <a:t> port-forward --address 0.0.0.0 svc/</a:t>
            </a:r>
            <a:r>
              <a:rPr lang="en-US" sz="2400" dirty="0" err="1" smtClean="0"/>
              <a:t>bookinfo</a:t>
            </a:r>
            <a:r>
              <a:rPr lang="en-US" sz="2400" dirty="0" smtClean="0"/>
              <a:t>-gateway-</a:t>
            </a:r>
            <a:r>
              <a:rPr lang="en-US" sz="2400" dirty="0" err="1" smtClean="0"/>
              <a:t>istio</a:t>
            </a:r>
            <a:r>
              <a:rPr lang="en-US" sz="2400" dirty="0" smtClean="0"/>
              <a:t> 8080:80</a:t>
            </a:r>
          </a:p>
          <a:p>
            <a:r>
              <a:rPr lang="en-US" sz="2200" dirty="0" smtClean="0">
                <a:hlinkClick r:id="rId2"/>
              </a:rPr>
              <a:t>http://192.168.1.45:8080/productpage</a:t>
            </a:r>
            <a:endParaRPr lang="en-US" sz="2200" dirty="0" smtClean="0"/>
          </a:p>
          <a:p>
            <a:endParaRPr lang="en-US" sz="2200" dirty="0" smtClean="0"/>
          </a:p>
          <a:p>
            <a:endParaRPr lang="en-US" sz="2200" dirty="0" smtClean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</a:t>
            </a:r>
            <a:r>
              <a:rPr lang="en-US" dirty="0" err="1" smtClean="0"/>
              <a:t>Istio</a:t>
            </a:r>
            <a:r>
              <a:rPr lang="en-US" dirty="0" smtClean="0"/>
              <a:t> for Online Boutique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# Restart the </a:t>
            </a:r>
            <a:r>
              <a:rPr lang="en-US" sz="2200" b="1" dirty="0" smtClean="0"/>
              <a:t>boutique</a:t>
            </a:r>
            <a:r>
              <a:rPr lang="en-US" sz="2200" dirty="0" smtClean="0"/>
              <a:t> so Envoy sidecars get injected (pods become 2/2):</a:t>
            </a:r>
          </a:p>
          <a:p>
            <a:r>
              <a:rPr lang="en-US" sz="2200" dirty="0" err="1" smtClean="0"/>
              <a:t>kubectl</a:t>
            </a:r>
            <a:r>
              <a:rPr lang="en-US" sz="2200" dirty="0" smtClean="0"/>
              <a:t> rollout restart deployment -n default</a:t>
            </a:r>
          </a:p>
          <a:p>
            <a:r>
              <a:rPr lang="en-US" sz="2200" dirty="0" err="1" smtClean="0"/>
              <a:t>kubectl</a:t>
            </a:r>
            <a:r>
              <a:rPr lang="en-US" sz="2200" dirty="0" smtClean="0"/>
              <a:t> get pods -n default</a:t>
            </a:r>
          </a:p>
          <a:p>
            <a:r>
              <a:rPr lang="en-US" sz="2200" dirty="0" smtClean="0"/>
              <a:t># Add the gateway route (ingress gateway -&gt; frontend service).</a:t>
            </a:r>
          </a:p>
          <a:p>
            <a:r>
              <a:rPr lang="en-US" sz="2200" dirty="0" err="1" smtClean="0"/>
              <a:t>kubectl</a:t>
            </a:r>
            <a:r>
              <a:rPr lang="en-US" sz="2200" dirty="0" smtClean="0"/>
              <a:t> apply -f </a:t>
            </a:r>
            <a:r>
              <a:rPr lang="en-US" sz="2200" dirty="0" err="1" smtClean="0"/>
              <a:t>istio</a:t>
            </a:r>
            <a:r>
              <a:rPr lang="en-US" sz="2200" dirty="0" smtClean="0"/>
              <a:t>-manifests/frontend-</a:t>
            </a:r>
            <a:r>
              <a:rPr lang="en-US" sz="2200" dirty="0" err="1" smtClean="0"/>
              <a:t>gateway.yaml</a:t>
            </a:r>
            <a:endParaRPr lang="en-US" sz="2200" dirty="0" smtClean="0"/>
          </a:p>
          <a:p>
            <a:r>
              <a:rPr lang="en-US" sz="2200" dirty="0" smtClean="0"/>
              <a:t># Access via the ingress gateway</a:t>
            </a:r>
          </a:p>
          <a:p>
            <a:r>
              <a:rPr lang="en-US" sz="2200" dirty="0" err="1" smtClean="0"/>
              <a:t>kubectl</a:t>
            </a:r>
            <a:r>
              <a:rPr lang="en-US" sz="2200" dirty="0" smtClean="0"/>
              <a:t> port-forward -n </a:t>
            </a:r>
            <a:r>
              <a:rPr lang="en-US" sz="2200" dirty="0" err="1" smtClean="0"/>
              <a:t>istio</a:t>
            </a:r>
            <a:r>
              <a:rPr lang="en-US" sz="2200" dirty="0" smtClean="0"/>
              <a:t>-system --address 0.0.0.0 svc/</a:t>
            </a:r>
            <a:r>
              <a:rPr lang="en-US" sz="2200" dirty="0" err="1" smtClean="0"/>
              <a:t>istio-ingressgateway</a:t>
            </a:r>
            <a:r>
              <a:rPr lang="en-US" sz="2200" dirty="0" smtClean="0"/>
              <a:t> 8081:80</a:t>
            </a:r>
          </a:p>
          <a:p>
            <a:r>
              <a:rPr lang="en-US" sz="2200" dirty="0" smtClean="0"/>
              <a:t># local: http://localhost:8081   |   LAN: http://192.168.1.45:8081</a:t>
            </a:r>
          </a:p>
          <a:p>
            <a:endParaRPr lang="en-US" sz="2200" dirty="0" smtClean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Verify the Status of </a:t>
            </a:r>
            <a:r>
              <a:rPr lang="en-US" dirty="0" err="1" smtClean="0"/>
              <a:t>Istio</a:t>
            </a:r>
            <a:r>
              <a:rPr lang="en-US" dirty="0" smtClean="0"/>
              <a:t> Sidecars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# Once </a:t>
            </a:r>
            <a:r>
              <a:rPr lang="en-US" sz="2200" dirty="0" err="1" smtClean="0"/>
              <a:t>Istio</a:t>
            </a:r>
            <a:r>
              <a:rPr lang="en-US" sz="2200" dirty="0" smtClean="0"/>
              <a:t> sidecars are running, Prometheus scrapes their metrics.</a:t>
            </a:r>
          </a:p>
          <a:p>
            <a:r>
              <a:rPr lang="en-US" sz="2200" dirty="0" err="1" smtClean="0"/>
              <a:t>kubectl</a:t>
            </a:r>
            <a:r>
              <a:rPr lang="en-US" sz="2200" dirty="0" smtClean="0"/>
              <a:t> port-forward -n monitoring svc/</a:t>
            </a:r>
            <a:r>
              <a:rPr lang="en-US" sz="2200" dirty="0" err="1" smtClean="0"/>
              <a:t>prometheus</a:t>
            </a:r>
            <a:r>
              <a:rPr lang="en-US" sz="2200" dirty="0" smtClean="0"/>
              <a:t>-server 9090:80</a:t>
            </a:r>
          </a:p>
          <a:p>
            <a:r>
              <a:rPr lang="en-US" sz="2200" dirty="0" smtClean="0">
                <a:hlinkClick r:id="rId2"/>
              </a:rPr>
              <a:t>http://192.168.1.45:9090/query?g0.expr=sum%28rate%28istio_requests_total%5B5m%5D%29%29&amp;g0.show_tree=0&amp;g0.tab=graph&amp;g0.range_input=1h&amp;g0.res_type=auto&amp;g0.res_density=medium&amp;g0.display_mode=lines&amp;g0.show_exemplars=0</a:t>
            </a:r>
            <a:endParaRPr lang="en-US" sz="2200" dirty="0" smtClean="0"/>
          </a:p>
          <a:p>
            <a:endParaRPr lang="en-US" sz="2200" dirty="0" smtClean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Istio</a:t>
            </a:r>
            <a:r>
              <a:rPr lang="en-US" dirty="0" smtClean="0"/>
              <a:t> control plane and supporting components</a:t>
            </a:r>
            <a:endParaRPr lang="en-US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4963" y="2139950"/>
            <a:ext cx="5934075" cy="3346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Istiod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/>
              <a:t>Istio’s</a:t>
            </a:r>
            <a:r>
              <a:rPr lang="en-US" sz="2000" dirty="0" smtClean="0"/>
              <a:t> control-plane responsibilities are implemented in the </a:t>
            </a:r>
            <a:r>
              <a:rPr lang="en-US" sz="2000" dirty="0" err="1" smtClean="0"/>
              <a:t>istiod</a:t>
            </a:r>
            <a:r>
              <a:rPr lang="en-US" sz="2000" dirty="0" smtClean="0"/>
              <a:t> component.</a:t>
            </a:r>
          </a:p>
          <a:p>
            <a:r>
              <a:rPr lang="en-US" sz="2000" b="1" dirty="0" err="1" smtClean="0"/>
              <a:t>istiod</a:t>
            </a:r>
            <a:r>
              <a:rPr lang="en-US" sz="2000" dirty="0" smtClean="0"/>
              <a:t>, sometimes referred to as </a:t>
            </a:r>
            <a:r>
              <a:rPr lang="en-US" sz="2000" dirty="0" err="1" smtClean="0"/>
              <a:t>Istio</a:t>
            </a:r>
            <a:r>
              <a:rPr lang="en-US" sz="2000" dirty="0" smtClean="0"/>
              <a:t> Pilot, is responsible for taking higher-level </a:t>
            </a:r>
            <a:r>
              <a:rPr lang="en-US" sz="2000" dirty="0" err="1" smtClean="0"/>
              <a:t>Istio</a:t>
            </a:r>
            <a:r>
              <a:rPr lang="en-US" sz="2000" dirty="0" smtClean="0"/>
              <a:t> configurations </a:t>
            </a:r>
            <a:r>
              <a:rPr lang="en-US" sz="2000" dirty="0" smtClean="0"/>
              <a:t>specified by the user/operator and turning them into </a:t>
            </a:r>
            <a:r>
              <a:rPr lang="en-US" sz="2000" dirty="0" smtClean="0"/>
              <a:t>proxy-specific configurations </a:t>
            </a:r>
            <a:r>
              <a:rPr lang="en-US" sz="2000" dirty="0" smtClean="0"/>
              <a:t>for each data-plane service proxy</a:t>
            </a:r>
            <a:endParaRPr lang="en-US" sz="2000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46238" y="3581400"/>
            <a:ext cx="5851525" cy="2657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Istio</a:t>
            </a:r>
            <a:r>
              <a:rPr lang="en-US" dirty="0" smtClean="0"/>
              <a:t> and </a:t>
            </a:r>
            <a:r>
              <a:rPr lang="en-US" dirty="0" err="1" smtClean="0"/>
              <a:t>Kubernetes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/>
              <a:t>Istio</a:t>
            </a:r>
            <a:r>
              <a:rPr lang="en-US" sz="2400" dirty="0" smtClean="0"/>
              <a:t> uses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 custom resources when deployed on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.</a:t>
            </a:r>
            <a:endParaRPr lang="en-US" sz="2400" dirty="0" smtClean="0"/>
          </a:p>
          <a:p>
            <a:r>
              <a:rPr lang="en-US" sz="2400" dirty="0" err="1" smtClean="0"/>
              <a:t>Istio’s</a:t>
            </a:r>
            <a:r>
              <a:rPr lang="en-US" sz="2400" dirty="0" smtClean="0"/>
              <a:t> configuration resources are implemented as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 custom </a:t>
            </a:r>
            <a:r>
              <a:rPr lang="en-US" sz="2400" dirty="0" smtClean="0"/>
              <a:t>resource definitions </a:t>
            </a:r>
            <a:r>
              <a:rPr lang="en-US" sz="2400" dirty="0" smtClean="0"/>
              <a:t>(CRDs</a:t>
            </a:r>
            <a:r>
              <a:rPr lang="en-US" sz="2400" dirty="0" smtClean="0"/>
              <a:t>).</a:t>
            </a:r>
          </a:p>
          <a:p>
            <a:r>
              <a:rPr lang="en-US" sz="2400" dirty="0" smtClean="0"/>
              <a:t>CRDs </a:t>
            </a:r>
            <a:r>
              <a:rPr lang="en-US" sz="2400" dirty="0" smtClean="0"/>
              <a:t>are used to extend the native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 API to add </a:t>
            </a:r>
            <a:r>
              <a:rPr lang="en-US" sz="2400" dirty="0" smtClean="0"/>
              <a:t>new functionality </a:t>
            </a:r>
            <a:r>
              <a:rPr lang="en-US" sz="2400" dirty="0" smtClean="0"/>
              <a:t>to a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 cluster without having to modify any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 code.</a:t>
            </a:r>
          </a:p>
          <a:p>
            <a:r>
              <a:rPr lang="en-US" sz="2400" dirty="0" smtClean="0"/>
              <a:t>In the case of </a:t>
            </a:r>
            <a:r>
              <a:rPr lang="en-US" sz="2400" dirty="0" err="1" smtClean="0"/>
              <a:t>Istio</a:t>
            </a:r>
            <a:r>
              <a:rPr lang="en-US" sz="2400" dirty="0" smtClean="0"/>
              <a:t>, we can use </a:t>
            </a:r>
            <a:r>
              <a:rPr lang="en-US" sz="2400" dirty="0" err="1" smtClean="0"/>
              <a:t>Istio’s</a:t>
            </a:r>
            <a:r>
              <a:rPr lang="en-US" sz="2400" dirty="0" smtClean="0"/>
              <a:t> custom resources (CRs) to add </a:t>
            </a:r>
            <a:r>
              <a:rPr lang="en-US" sz="2400" dirty="0" err="1" smtClean="0"/>
              <a:t>Istio</a:t>
            </a:r>
            <a:r>
              <a:rPr lang="en-US" sz="2400" dirty="0" smtClean="0"/>
              <a:t> </a:t>
            </a:r>
            <a:r>
              <a:rPr lang="en-US" sz="2400" dirty="0" smtClean="0"/>
              <a:t>functionality to </a:t>
            </a:r>
            <a:r>
              <a:rPr lang="en-US" sz="2400" dirty="0" smtClean="0"/>
              <a:t>a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 cluster and </a:t>
            </a:r>
            <a:r>
              <a:rPr lang="en-US" sz="2400" i="1" dirty="0" smtClean="0">
                <a:solidFill>
                  <a:srgbClr val="C00000"/>
                </a:solidFill>
              </a:rPr>
              <a:t>use native </a:t>
            </a:r>
            <a:r>
              <a:rPr lang="en-US" sz="2400" i="1" dirty="0" err="1" smtClean="0">
                <a:solidFill>
                  <a:srgbClr val="C00000"/>
                </a:solidFill>
              </a:rPr>
              <a:t>Kubernetes</a:t>
            </a:r>
            <a:r>
              <a:rPr lang="en-US" sz="2400" i="1" dirty="0" smtClean="0">
                <a:solidFill>
                  <a:srgbClr val="C00000"/>
                </a:solidFill>
              </a:rPr>
              <a:t> tools</a:t>
            </a:r>
            <a:r>
              <a:rPr lang="en-US" sz="2400" dirty="0" smtClean="0"/>
              <a:t> to apply, create, </a:t>
            </a:r>
            <a:r>
              <a:rPr lang="en-US" sz="2400" dirty="0" smtClean="0"/>
              <a:t>and delete </a:t>
            </a:r>
            <a:r>
              <a:rPr lang="en-US" sz="2400" dirty="0" smtClean="0"/>
              <a:t>the resources. </a:t>
            </a:r>
            <a:r>
              <a:rPr lang="en-US" sz="2400" dirty="0" err="1" smtClean="0"/>
              <a:t>Istio</a:t>
            </a:r>
            <a:r>
              <a:rPr lang="en-US" sz="2400" dirty="0" smtClean="0"/>
              <a:t> implements a controller that watches for these new </a:t>
            </a:r>
            <a:r>
              <a:rPr lang="en-US" sz="2400" dirty="0" smtClean="0"/>
              <a:t>CRs to </a:t>
            </a:r>
            <a:r>
              <a:rPr lang="en-US" sz="2400" dirty="0" smtClean="0"/>
              <a:t>be added and reacts to them accordingly.</a:t>
            </a:r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 to </a:t>
            </a:r>
            <a:r>
              <a:rPr lang="en-US" dirty="0" err="1" smtClean="0"/>
              <a:t>Linkerd</a:t>
            </a:r>
            <a:r>
              <a:rPr lang="en-US" dirty="0" smtClean="0"/>
              <a:t> </a:t>
            </a:r>
            <a:r>
              <a:rPr lang="en-US" dirty="0" smtClean="0"/>
              <a:t>[3]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38463" y="1489075"/>
            <a:ext cx="3267075" cy="4683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Linkerd</a:t>
            </a:r>
            <a:r>
              <a:rPr lang="en-US" dirty="0" smtClean="0"/>
              <a:t> Architecture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981200"/>
            <a:ext cx="5924550" cy="4005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</a:t>
            </a:r>
            <a:r>
              <a:rPr lang="en-US" dirty="0" err="1" smtClean="0"/>
              <a:t>Linkerd</a:t>
            </a:r>
            <a:r>
              <a:rPr lang="en-US" dirty="0" smtClean="0"/>
              <a:t> Control Plane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1600200"/>
            <a:ext cx="3677603" cy="466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Linkerd</a:t>
            </a:r>
            <a:r>
              <a:rPr lang="en-US" dirty="0" smtClean="0"/>
              <a:t> </a:t>
            </a:r>
            <a:r>
              <a:rPr lang="en-US" dirty="0" err="1" smtClean="0"/>
              <a:t>Viz</a:t>
            </a:r>
            <a:r>
              <a:rPr lang="en-US" dirty="0" smtClean="0"/>
              <a:t> (Dashboard)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1981200"/>
            <a:ext cx="6072188" cy="3890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Linkerd</a:t>
            </a:r>
            <a:r>
              <a:rPr lang="en-US" dirty="0" smtClean="0"/>
              <a:t> </a:t>
            </a:r>
            <a:r>
              <a:rPr lang="en-US" dirty="0" err="1" smtClean="0"/>
              <a:t>Multicluster</a:t>
            </a:r>
            <a:r>
              <a:rPr lang="en-US" dirty="0" smtClean="0"/>
              <a:t> (Extension)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81175" y="2209800"/>
            <a:ext cx="5457825" cy="3476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Linkerd</a:t>
            </a:r>
            <a:r>
              <a:rPr lang="en-US" dirty="0" smtClean="0"/>
              <a:t> Jaeger (Distributed Tracing)</a:t>
            </a:r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895600"/>
            <a:ext cx="5613400" cy="2025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the </a:t>
            </a:r>
            <a:r>
              <a:rPr lang="en-US" dirty="0" err="1" smtClean="0"/>
              <a:t>linkerd</a:t>
            </a:r>
            <a:r>
              <a:rPr lang="en-US" dirty="0" smtClean="0"/>
              <a:t> CLI on </a:t>
            </a:r>
            <a:r>
              <a:rPr lang="en-US" dirty="0" err="1" smtClean="0"/>
              <a:t>macOS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https://linkerd.io/2.16/getting-started/</a:t>
            </a:r>
            <a:endParaRPr lang="en-US" sz="2400" dirty="0" smtClean="0"/>
          </a:p>
          <a:p>
            <a:r>
              <a:rPr lang="en-US" sz="2200" dirty="0" err="1" smtClean="0">
                <a:latin typeface="Consolas" pitchFamily="49" charset="0"/>
              </a:rPr>
              <a:t>kubectl</a:t>
            </a:r>
            <a:r>
              <a:rPr lang="en-US" sz="2200" dirty="0" smtClean="0">
                <a:latin typeface="Consolas" pitchFamily="49" charset="0"/>
              </a:rPr>
              <a:t> version</a:t>
            </a:r>
          </a:p>
          <a:p>
            <a:r>
              <a:rPr lang="en-US" sz="2200" dirty="0" smtClean="0">
                <a:latin typeface="Consolas" pitchFamily="49" charset="0"/>
              </a:rPr>
              <a:t>curl --proto '=https' --tlsv1.2 -</a:t>
            </a:r>
            <a:r>
              <a:rPr lang="en-US" sz="2200" dirty="0" err="1" smtClean="0">
                <a:latin typeface="Consolas" pitchFamily="49" charset="0"/>
              </a:rPr>
              <a:t>sSfL</a:t>
            </a:r>
            <a:r>
              <a:rPr lang="en-US" sz="2200" dirty="0" smtClean="0">
                <a:latin typeface="Consolas" pitchFamily="49" charset="0"/>
              </a:rPr>
              <a:t> https://run.linkerd.io/install-edge | </a:t>
            </a:r>
            <a:r>
              <a:rPr lang="en-US" sz="2200" dirty="0" err="1" smtClean="0">
                <a:latin typeface="Consolas" pitchFamily="49" charset="0"/>
              </a:rPr>
              <a:t>sh</a:t>
            </a:r>
            <a:endParaRPr lang="en-US" sz="2200" dirty="0" smtClean="0">
              <a:latin typeface="Consolas" pitchFamily="49" charset="0"/>
            </a:endParaRPr>
          </a:p>
          <a:p>
            <a:r>
              <a:rPr lang="en-US" sz="2200" dirty="0" err="1" smtClean="0">
                <a:latin typeface="Consolas" pitchFamily="49" charset="0"/>
              </a:rPr>
              <a:t>sudo</a:t>
            </a:r>
            <a:r>
              <a:rPr lang="en-US" sz="2200" dirty="0" smtClean="0">
                <a:latin typeface="Consolas" pitchFamily="49" charset="0"/>
              </a:rPr>
              <a:t> </a:t>
            </a:r>
            <a:r>
              <a:rPr lang="en-US" sz="2200" dirty="0" err="1" smtClean="0">
                <a:latin typeface="Consolas" pitchFamily="49" charset="0"/>
              </a:rPr>
              <a:t>nano</a:t>
            </a:r>
            <a:r>
              <a:rPr lang="en-US" sz="2200" dirty="0" smtClean="0">
                <a:latin typeface="Consolas" pitchFamily="49" charset="0"/>
              </a:rPr>
              <a:t> /etc/paths</a:t>
            </a:r>
          </a:p>
          <a:p>
            <a:pPr lvl="1"/>
            <a:r>
              <a:rPr lang="en-US" sz="1800" dirty="0" smtClean="0">
                <a:latin typeface="Consolas" pitchFamily="49" charset="0"/>
              </a:rPr>
              <a:t>$HOME/.linkerd2/bin</a:t>
            </a: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version</a:t>
            </a:r>
          </a:p>
          <a:p>
            <a:endParaRPr lang="en-US" sz="2200" dirty="0" smtClean="0">
              <a:latin typeface="Consolas" pitchFamily="49" charset="0"/>
            </a:endParaRP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081212" y="4724400"/>
            <a:ext cx="5081588" cy="142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Create a k3d Cluster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 smtClean="0">
                <a:latin typeface="Consolas" pitchFamily="49" charset="0"/>
              </a:rPr>
              <a:t>k3d cluster create </a:t>
            </a:r>
            <a:r>
              <a:rPr lang="en-US" sz="1800" dirty="0" err="1" smtClean="0">
                <a:latin typeface="Consolas" pitchFamily="49" charset="0"/>
              </a:rPr>
              <a:t>linkerd</a:t>
            </a:r>
            <a:endParaRPr lang="en-US" sz="1800" dirty="0" smtClean="0">
              <a:latin typeface="Consolas" pitchFamily="49" charset="0"/>
            </a:endParaRPr>
          </a:p>
          <a:p>
            <a:r>
              <a:rPr lang="en-US" sz="1800" dirty="0" err="1" smtClean="0">
                <a:latin typeface="Consolas" pitchFamily="49" charset="0"/>
              </a:rPr>
              <a:t>kubectl</a:t>
            </a:r>
            <a:r>
              <a:rPr lang="en-US" sz="1800" dirty="0" smtClean="0">
                <a:latin typeface="Consolas" pitchFamily="49" charset="0"/>
              </a:rPr>
              <a:t> get nodes</a:t>
            </a:r>
          </a:p>
          <a:p>
            <a:r>
              <a:rPr lang="en-US" sz="1800" dirty="0" smtClean="0">
                <a:latin typeface="Consolas" pitchFamily="49" charset="0"/>
              </a:rPr>
              <a:t># validate that the cluster is configured correctly</a:t>
            </a:r>
          </a:p>
          <a:p>
            <a:r>
              <a:rPr lang="en-US" sz="1800" dirty="0" err="1" smtClean="0">
                <a:latin typeface="Consolas" pitchFamily="49" charset="0"/>
              </a:rPr>
              <a:t>linkerd</a:t>
            </a:r>
            <a:r>
              <a:rPr lang="en-US" sz="1800" dirty="0" smtClean="0">
                <a:latin typeface="Consolas" pitchFamily="49" charset="0"/>
              </a:rPr>
              <a:t> check --pre</a:t>
            </a: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19200" y="3390900"/>
            <a:ext cx="6796088" cy="2628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Install </a:t>
            </a:r>
            <a:r>
              <a:rPr lang="en-US" dirty="0" err="1" smtClean="0"/>
              <a:t>Linkerd</a:t>
            </a:r>
            <a:r>
              <a:rPr lang="en-US" dirty="0" smtClean="0"/>
              <a:t> via the CLI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latin typeface="+mj-lt"/>
              </a:rPr>
              <a:t># </a:t>
            </a:r>
            <a:r>
              <a:rPr lang="en-US" sz="2400" dirty="0" err="1" smtClean="0">
                <a:latin typeface="+mj-lt"/>
              </a:rPr>
              <a:t>linkerd</a:t>
            </a:r>
            <a:r>
              <a:rPr lang="en-US" sz="2400" dirty="0" smtClean="0">
                <a:latin typeface="+mj-lt"/>
              </a:rPr>
              <a:t> install will silently create certificates for you.</a:t>
            </a:r>
          </a:p>
          <a:p>
            <a:r>
              <a:rPr lang="en-US" sz="2400" dirty="0" smtClean="0">
                <a:latin typeface="+mj-lt"/>
              </a:rPr>
              <a:t># This is OK for a demo, but </a:t>
            </a:r>
            <a:r>
              <a:rPr lang="en-US" sz="2400" i="1" dirty="0" smtClean="0">
                <a:latin typeface="+mj-lt"/>
              </a:rPr>
              <a:t>not </a:t>
            </a:r>
            <a:r>
              <a:rPr lang="en-US" sz="2400" dirty="0" smtClean="0">
                <a:latin typeface="+mj-lt"/>
              </a:rPr>
              <a:t>for production.</a:t>
            </a: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install --</a:t>
            </a:r>
            <a:r>
              <a:rPr lang="en-US" sz="2200" dirty="0" err="1" smtClean="0">
                <a:latin typeface="Consolas" pitchFamily="49" charset="0"/>
              </a:rPr>
              <a:t>crds</a:t>
            </a:r>
            <a:r>
              <a:rPr lang="en-US" sz="2200" dirty="0" smtClean="0">
                <a:latin typeface="Consolas" pitchFamily="49" charset="0"/>
              </a:rPr>
              <a:t> | </a:t>
            </a:r>
            <a:r>
              <a:rPr lang="en-US" sz="2200" dirty="0" err="1" smtClean="0">
                <a:latin typeface="Consolas" pitchFamily="49" charset="0"/>
              </a:rPr>
              <a:t>kubectl</a:t>
            </a:r>
            <a:r>
              <a:rPr lang="en-US" sz="2200" dirty="0" smtClean="0">
                <a:latin typeface="Consolas" pitchFamily="49" charset="0"/>
              </a:rPr>
              <a:t> apply -f -</a:t>
            </a: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install | </a:t>
            </a:r>
            <a:r>
              <a:rPr lang="en-US" sz="2200" dirty="0" err="1" smtClean="0">
                <a:latin typeface="Consolas" pitchFamily="49" charset="0"/>
              </a:rPr>
              <a:t>kubectl</a:t>
            </a:r>
            <a:r>
              <a:rPr lang="en-US" sz="2200" dirty="0" smtClean="0">
                <a:latin typeface="Consolas" pitchFamily="49" charset="0"/>
              </a:rPr>
              <a:t> apply -f -</a:t>
            </a: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check</a:t>
            </a: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35238" y="4057650"/>
            <a:ext cx="4073525" cy="1885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Install </a:t>
            </a:r>
            <a:r>
              <a:rPr lang="en-US" dirty="0" err="1" smtClean="0"/>
              <a:t>Linkerd</a:t>
            </a:r>
            <a:r>
              <a:rPr lang="en-US" dirty="0" smtClean="0"/>
              <a:t> </a:t>
            </a:r>
            <a:r>
              <a:rPr lang="en-US" dirty="0" err="1" smtClean="0"/>
              <a:t>Viz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>
                <a:latin typeface="Consolas" pitchFamily="49" charset="0"/>
              </a:rPr>
              <a:t>linkerd</a:t>
            </a:r>
            <a:r>
              <a:rPr lang="en-US" sz="2400" dirty="0" smtClean="0">
                <a:latin typeface="Consolas" pitchFamily="49" charset="0"/>
              </a:rPr>
              <a:t> </a:t>
            </a:r>
            <a:r>
              <a:rPr lang="en-US" sz="2400" dirty="0" err="1" smtClean="0">
                <a:latin typeface="Consolas" pitchFamily="49" charset="0"/>
              </a:rPr>
              <a:t>viz</a:t>
            </a:r>
            <a:r>
              <a:rPr lang="en-US" sz="2400" dirty="0" smtClean="0">
                <a:latin typeface="Consolas" pitchFamily="49" charset="0"/>
              </a:rPr>
              <a:t> install | </a:t>
            </a:r>
            <a:r>
              <a:rPr lang="en-US" sz="2400" dirty="0" err="1" smtClean="0">
                <a:latin typeface="Consolas" pitchFamily="49" charset="0"/>
              </a:rPr>
              <a:t>kubectl</a:t>
            </a:r>
            <a:r>
              <a:rPr lang="en-US" sz="2400" dirty="0" smtClean="0">
                <a:latin typeface="Consolas" pitchFamily="49" charset="0"/>
              </a:rPr>
              <a:t> apply -f -</a:t>
            </a:r>
          </a:p>
          <a:p>
            <a:r>
              <a:rPr lang="en-US" sz="2400" dirty="0" err="1" smtClean="0">
                <a:latin typeface="Consolas" pitchFamily="49" charset="0"/>
              </a:rPr>
              <a:t>linkerd</a:t>
            </a:r>
            <a:r>
              <a:rPr lang="en-US" sz="2400" dirty="0" smtClean="0">
                <a:latin typeface="Consolas" pitchFamily="49" charset="0"/>
              </a:rPr>
              <a:t> check</a:t>
            </a:r>
          </a:p>
          <a:p>
            <a:endParaRPr lang="en-US" sz="2200" dirty="0" smtClean="0">
              <a:latin typeface="Consolas" pitchFamily="49" charset="0"/>
            </a:endParaRP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63738" y="3295650"/>
            <a:ext cx="5216525" cy="1885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Open </a:t>
            </a:r>
            <a:r>
              <a:rPr lang="en-US" dirty="0" err="1" smtClean="0"/>
              <a:t>Linkerd</a:t>
            </a:r>
            <a:r>
              <a:rPr lang="en-US" dirty="0" smtClean="0"/>
              <a:t> </a:t>
            </a:r>
            <a:r>
              <a:rPr lang="en-US" dirty="0" err="1" smtClean="0"/>
              <a:t>Viz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>
                <a:latin typeface="Consolas" pitchFamily="49" charset="0"/>
              </a:rPr>
              <a:t>linkerd</a:t>
            </a:r>
            <a:r>
              <a:rPr lang="en-US" sz="2400" dirty="0" smtClean="0">
                <a:latin typeface="Consolas" pitchFamily="49" charset="0"/>
              </a:rPr>
              <a:t> </a:t>
            </a:r>
            <a:r>
              <a:rPr lang="en-US" sz="2400" dirty="0" err="1" smtClean="0">
                <a:latin typeface="Consolas" pitchFamily="49" charset="0"/>
              </a:rPr>
              <a:t>viz</a:t>
            </a:r>
            <a:r>
              <a:rPr lang="en-US" sz="2400" dirty="0" smtClean="0">
                <a:latin typeface="Consolas" pitchFamily="49" charset="0"/>
              </a:rPr>
              <a:t> dashboard</a:t>
            </a:r>
          </a:p>
          <a:p>
            <a:endParaRPr lang="en-US" sz="2200" dirty="0" smtClean="0">
              <a:latin typeface="Consolas" pitchFamily="49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2819400"/>
            <a:ext cx="6338888" cy="2028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Uninstall </a:t>
            </a:r>
            <a:r>
              <a:rPr lang="en-US" dirty="0" err="1" smtClean="0"/>
              <a:t>Linkerd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>
                <a:latin typeface="Consolas" pitchFamily="49" charset="0"/>
                <a:hlinkClick r:id="rId2"/>
              </a:rPr>
              <a:t>https://linkerd.io/2-edge/tasks/uninstall/</a:t>
            </a:r>
            <a:endParaRPr lang="en-US" sz="2200" dirty="0" smtClean="0">
              <a:latin typeface="Consolas" pitchFamily="49" charset="0"/>
            </a:endParaRP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</a:t>
            </a:r>
            <a:r>
              <a:rPr lang="en-US" sz="2200" dirty="0" err="1" smtClean="0">
                <a:latin typeface="Consolas" pitchFamily="49" charset="0"/>
              </a:rPr>
              <a:t>viz</a:t>
            </a:r>
            <a:r>
              <a:rPr lang="en-US" sz="2200" dirty="0" smtClean="0">
                <a:latin typeface="Consolas" pitchFamily="49" charset="0"/>
              </a:rPr>
              <a:t> uninstall | </a:t>
            </a:r>
            <a:r>
              <a:rPr lang="en-US" sz="2200" dirty="0" err="1" smtClean="0">
                <a:latin typeface="Consolas" pitchFamily="49" charset="0"/>
              </a:rPr>
              <a:t>kubectl</a:t>
            </a:r>
            <a:r>
              <a:rPr lang="en-US" sz="2200" dirty="0" smtClean="0">
                <a:latin typeface="Consolas" pitchFamily="49" charset="0"/>
              </a:rPr>
              <a:t> delete -f -</a:t>
            </a:r>
          </a:p>
          <a:p>
            <a:r>
              <a:rPr lang="en-US" sz="2200" dirty="0" err="1" smtClean="0">
                <a:latin typeface="Consolas" pitchFamily="49" charset="0"/>
              </a:rPr>
              <a:t>linkerd</a:t>
            </a:r>
            <a:r>
              <a:rPr lang="en-US" sz="2200" dirty="0" smtClean="0">
                <a:latin typeface="Consolas" pitchFamily="49" charset="0"/>
              </a:rPr>
              <a:t> uninstall | </a:t>
            </a:r>
            <a:r>
              <a:rPr lang="en-US" sz="2200" dirty="0" err="1" smtClean="0">
                <a:latin typeface="Consolas" pitchFamily="49" charset="0"/>
              </a:rPr>
              <a:t>kubectl</a:t>
            </a:r>
            <a:r>
              <a:rPr lang="en-US" sz="2200" dirty="0" smtClean="0">
                <a:latin typeface="Consolas" pitchFamily="49" charset="0"/>
              </a:rPr>
              <a:t> delete -f -</a:t>
            </a:r>
          </a:p>
          <a:p>
            <a:r>
              <a:rPr lang="en-US" sz="2200" dirty="0" smtClean="0">
                <a:latin typeface="Consolas" pitchFamily="49" charset="0"/>
              </a:rPr>
              <a:t>#  delete cluster.</a:t>
            </a:r>
          </a:p>
          <a:p>
            <a:r>
              <a:rPr lang="en-US" sz="2200" dirty="0" smtClean="0">
                <a:latin typeface="Consolas" pitchFamily="49" charset="0"/>
              </a:rPr>
              <a:t>k3d cluster delete </a:t>
            </a:r>
            <a:r>
              <a:rPr lang="en-US" sz="2200" dirty="0" err="1" smtClean="0">
                <a:latin typeface="Consolas" pitchFamily="49" charset="0"/>
              </a:rPr>
              <a:t>linkerd</a:t>
            </a:r>
            <a:endParaRPr lang="en-US" sz="2200" dirty="0" smtClean="0">
              <a:latin typeface="Consolas" pitchFamily="49" charset="0"/>
            </a:endParaRPr>
          </a:p>
          <a:p>
            <a:endParaRPr lang="en-US" sz="2200" dirty="0" smtClean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Opaque and Skip Ports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Opaque ports and skip ports are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names for ports to which special rules are applied.</a:t>
            </a:r>
          </a:p>
          <a:p>
            <a:r>
              <a:rPr lang="en-US" sz="2400" dirty="0" smtClean="0"/>
              <a:t>An </a:t>
            </a:r>
            <a:r>
              <a:rPr lang="en-US" sz="2400" i="1" dirty="0" smtClean="0">
                <a:solidFill>
                  <a:srgbClr val="C00000"/>
                </a:solidFill>
              </a:rPr>
              <a:t>opaque port</a:t>
            </a:r>
            <a:r>
              <a:rPr lang="en-US" sz="2400" dirty="0" smtClean="0"/>
              <a:t> in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is a port that should be treated as a generic TCP connection.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will still use </a:t>
            </a:r>
            <a:r>
              <a:rPr lang="en-US" sz="2400" dirty="0" err="1" smtClean="0"/>
              <a:t>mTLS</a:t>
            </a:r>
            <a:r>
              <a:rPr lang="en-US" sz="2400" dirty="0" smtClean="0"/>
              <a:t> on opaque traffic.</a:t>
            </a:r>
          </a:p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skip port</a:t>
            </a:r>
            <a:r>
              <a:rPr lang="en-US" sz="2400" dirty="0" smtClean="0"/>
              <a:t> is one that you instruct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to completely ignore.</a:t>
            </a:r>
            <a:endParaRPr lang="en-US" sz="2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Mutual TLS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962400" cy="4525963"/>
          </a:xfrm>
        </p:spPr>
        <p:txBody>
          <a:bodyPr/>
          <a:lstStyle/>
          <a:p>
            <a:r>
              <a:rPr lang="en-US" sz="2400" dirty="0" err="1" smtClean="0"/>
              <a:t>mTLS</a:t>
            </a:r>
            <a:endParaRPr lang="en-US" sz="2400" dirty="0" smtClean="0"/>
          </a:p>
          <a:p>
            <a:pPr lvl="1"/>
            <a:r>
              <a:rPr lang="en-US" sz="2000" dirty="0" smtClean="0"/>
              <a:t>Authenticate both ends of the connection.</a:t>
            </a:r>
          </a:p>
          <a:p>
            <a:pPr lvl="1"/>
            <a:r>
              <a:rPr lang="en-US" sz="2000" dirty="0" smtClean="0"/>
              <a:t>Require both ends to send certificates for identification.</a:t>
            </a:r>
          </a:p>
          <a:p>
            <a:r>
              <a:rPr lang="en-US" sz="2400" dirty="0" smtClean="0"/>
              <a:t>TLS: Only the receiver identifies itself.</a:t>
            </a:r>
            <a:endParaRPr lang="en-US" sz="2400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24400" y="1981200"/>
            <a:ext cx="3451225" cy="3708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Workloads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76400" y="2133600"/>
            <a:ext cx="5891213" cy="3762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Adding a workload to the mesh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Adding the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 sidecar to each of your workload’s Pods.</a:t>
            </a:r>
            <a:endParaRPr lang="en-US" sz="2400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2590800"/>
            <a:ext cx="5843588" cy="3457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proxy injector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err="1" smtClean="0"/>
              <a:t>Linkerd</a:t>
            </a:r>
            <a:r>
              <a:rPr lang="en-US" sz="2000" dirty="0" smtClean="0"/>
              <a:t> includes a </a:t>
            </a:r>
            <a:r>
              <a:rPr lang="en-US" sz="2000" dirty="0" err="1" smtClean="0"/>
              <a:t>Kubernetes</a:t>
            </a:r>
            <a:r>
              <a:rPr lang="en-US" sz="2000" dirty="0" smtClean="0"/>
              <a:t> admission controller called the </a:t>
            </a:r>
            <a:r>
              <a:rPr lang="en-US" sz="2000" dirty="0" err="1" smtClean="0"/>
              <a:t>linkerd</a:t>
            </a:r>
            <a:r>
              <a:rPr lang="en-US" sz="2000" dirty="0" smtClean="0"/>
              <a:t>-proxy-injector.</a:t>
            </a:r>
          </a:p>
          <a:p>
            <a:r>
              <a:rPr lang="en-US" sz="2000" dirty="0" smtClean="0"/>
              <a:t>Its job, unsurprisingly, is to inject </a:t>
            </a:r>
            <a:r>
              <a:rPr lang="en-US" sz="2000" dirty="0" err="1" smtClean="0"/>
              <a:t>Linkerd</a:t>
            </a:r>
            <a:r>
              <a:rPr lang="en-US" sz="2000" dirty="0" smtClean="0"/>
              <a:t> proxies into workload Pods.</a:t>
            </a:r>
          </a:p>
          <a:p>
            <a:r>
              <a:rPr lang="en-US" sz="2000" dirty="0" smtClean="0"/>
              <a:t>Of course, it doesn’t do this blindly; instead, it looks for </a:t>
            </a:r>
            <a:r>
              <a:rPr lang="en-US" sz="2000" dirty="0" err="1" smtClean="0"/>
              <a:t>Kubernetes</a:t>
            </a:r>
            <a:r>
              <a:rPr lang="en-US" sz="2000" dirty="0" smtClean="0"/>
              <a:t> annotations that tell it which Pods need to be injected.</a:t>
            </a:r>
            <a:endParaRPr lang="en-US" sz="2000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78100" y="3733800"/>
            <a:ext cx="3987800" cy="2133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Install the demo app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# Install </a:t>
            </a:r>
            <a:r>
              <a:rPr lang="en-US" sz="2400" dirty="0" err="1" smtClean="0"/>
              <a:t>Emojivoto</a:t>
            </a:r>
            <a:r>
              <a:rPr lang="en-US" sz="2400" dirty="0" smtClean="0"/>
              <a:t> into the </a:t>
            </a:r>
            <a:r>
              <a:rPr lang="en-US" sz="2400" dirty="0" err="1" smtClean="0"/>
              <a:t>emojivoto</a:t>
            </a:r>
            <a:r>
              <a:rPr lang="en-US" sz="2400" dirty="0" smtClean="0"/>
              <a:t> namespace:</a:t>
            </a:r>
          </a:p>
          <a:p>
            <a:r>
              <a:rPr lang="en-US" sz="2400" dirty="0" smtClean="0">
                <a:latin typeface="Consolas" pitchFamily="49" charset="0"/>
              </a:rPr>
              <a:t>curl --proto '=https' --tlsv1.2 -</a:t>
            </a:r>
            <a:r>
              <a:rPr lang="en-US" sz="2400" dirty="0" err="1" smtClean="0">
                <a:latin typeface="Consolas" pitchFamily="49" charset="0"/>
              </a:rPr>
              <a:t>sSfL</a:t>
            </a:r>
            <a:r>
              <a:rPr lang="en-US" sz="2400" dirty="0" smtClean="0">
                <a:latin typeface="Consolas" pitchFamily="49" charset="0"/>
              </a:rPr>
              <a:t> https://run.linkerd.io/emojivoto.yml | </a:t>
            </a:r>
            <a:r>
              <a:rPr lang="en-US" sz="2400" dirty="0" err="1" smtClean="0">
                <a:latin typeface="Consolas" pitchFamily="49" charset="0"/>
              </a:rPr>
              <a:t>kubectl</a:t>
            </a:r>
            <a:r>
              <a:rPr lang="en-US" sz="2400" dirty="0" smtClean="0">
                <a:latin typeface="Consolas" pitchFamily="49" charset="0"/>
              </a:rPr>
              <a:t> apply -f -</a:t>
            </a:r>
          </a:p>
          <a:p>
            <a:r>
              <a:rPr lang="en-US" sz="2400" dirty="0" err="1" smtClean="0">
                <a:latin typeface="Consolas" pitchFamily="49" charset="0"/>
              </a:rPr>
              <a:t>kubectl</a:t>
            </a:r>
            <a:r>
              <a:rPr lang="en-US" sz="2400" dirty="0" smtClean="0">
                <a:latin typeface="Consolas" pitchFamily="49" charset="0"/>
              </a:rPr>
              <a:t> -n </a:t>
            </a:r>
            <a:r>
              <a:rPr lang="en-US" sz="2400" dirty="0" err="1" smtClean="0">
                <a:latin typeface="Consolas" pitchFamily="49" charset="0"/>
              </a:rPr>
              <a:t>emojivoto</a:t>
            </a:r>
            <a:r>
              <a:rPr lang="en-US" sz="2400" dirty="0" smtClean="0">
                <a:latin typeface="Consolas" pitchFamily="49" charset="0"/>
              </a:rPr>
              <a:t> port-forward svc/web-svc 8080:80</a:t>
            </a:r>
          </a:p>
          <a:p>
            <a:r>
              <a:rPr lang="en-US" sz="2400" dirty="0" smtClean="0"/>
              <a:t># Now visit </a:t>
            </a:r>
            <a:r>
              <a:rPr lang="en-US" sz="2400" dirty="0" smtClean="0">
                <a:hlinkClick r:id="rId2"/>
              </a:rPr>
              <a:t>http://localhost:8080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Add </a:t>
            </a:r>
            <a:r>
              <a:rPr lang="en-US" dirty="0" err="1" smtClean="0"/>
              <a:t>Linkerd’s</a:t>
            </a:r>
            <a:r>
              <a:rPr lang="en-US" dirty="0" smtClean="0"/>
              <a:t> data plane proxies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# This command retrieves all of the deployments running in the </a:t>
            </a:r>
            <a:r>
              <a:rPr lang="en-US" sz="2000" dirty="0" err="1" smtClean="0"/>
              <a:t>emojivoto</a:t>
            </a:r>
            <a:r>
              <a:rPr lang="en-US" sz="2000" dirty="0" smtClean="0"/>
              <a:t> namespace, runs their manifests through </a:t>
            </a:r>
            <a:r>
              <a:rPr lang="en-US" sz="2000" dirty="0" err="1" smtClean="0"/>
              <a:t>linkerd</a:t>
            </a:r>
            <a:r>
              <a:rPr lang="en-US" sz="2000" dirty="0" smtClean="0"/>
              <a:t> inject, and then reapplies it to the cluster.</a:t>
            </a:r>
          </a:p>
          <a:p>
            <a:r>
              <a:rPr lang="en-US" sz="2000" b="1" dirty="0" err="1" smtClean="0">
                <a:latin typeface="Consolas" pitchFamily="49" charset="0"/>
              </a:rPr>
              <a:t>kubectl</a:t>
            </a:r>
            <a:r>
              <a:rPr lang="en-US" sz="2000" b="1" dirty="0" smtClean="0">
                <a:latin typeface="Consolas" pitchFamily="49" charset="0"/>
              </a:rPr>
              <a:t> get -n </a:t>
            </a:r>
            <a:r>
              <a:rPr lang="en-US" sz="2000" b="1" dirty="0" err="1" smtClean="0">
                <a:latin typeface="Consolas" pitchFamily="49" charset="0"/>
              </a:rPr>
              <a:t>emojivoto</a:t>
            </a:r>
            <a:r>
              <a:rPr lang="en-US" sz="2000" b="1" dirty="0" smtClean="0">
                <a:latin typeface="Consolas" pitchFamily="49" charset="0"/>
              </a:rPr>
              <a:t> deploy -o </a:t>
            </a:r>
            <a:r>
              <a:rPr lang="en-US" sz="2000" b="1" dirty="0" err="1" smtClean="0">
                <a:latin typeface="Consolas" pitchFamily="49" charset="0"/>
              </a:rPr>
              <a:t>yaml</a:t>
            </a:r>
            <a:r>
              <a:rPr lang="en-US" sz="2000" b="1" dirty="0" smtClean="0">
                <a:latin typeface="Consolas" pitchFamily="49" charset="0"/>
              </a:rPr>
              <a:t>  | </a:t>
            </a:r>
            <a:r>
              <a:rPr lang="en-US" sz="2000" b="1" dirty="0" err="1" smtClean="0">
                <a:latin typeface="Consolas" pitchFamily="49" charset="0"/>
              </a:rPr>
              <a:t>linkerd</a:t>
            </a:r>
            <a:r>
              <a:rPr lang="en-US" sz="2000" b="1" dirty="0" smtClean="0">
                <a:latin typeface="Consolas" pitchFamily="49" charset="0"/>
              </a:rPr>
              <a:t> inject -  | </a:t>
            </a:r>
            <a:r>
              <a:rPr lang="en-US" sz="2000" b="1" dirty="0" err="1" smtClean="0">
                <a:latin typeface="Consolas" pitchFamily="49" charset="0"/>
              </a:rPr>
              <a:t>kubectl</a:t>
            </a:r>
            <a:r>
              <a:rPr lang="en-US" sz="2000" b="1" dirty="0" smtClean="0">
                <a:latin typeface="Consolas" pitchFamily="49" charset="0"/>
              </a:rPr>
              <a:t> apply -f -</a:t>
            </a:r>
          </a:p>
          <a:p>
            <a:r>
              <a:rPr lang="en-US" sz="2000" b="1" dirty="0" err="1" smtClean="0">
                <a:latin typeface="Consolas" pitchFamily="49" charset="0"/>
              </a:rPr>
              <a:t>linkerd</a:t>
            </a:r>
            <a:r>
              <a:rPr lang="en-US" sz="2000" b="1" dirty="0" smtClean="0">
                <a:latin typeface="Consolas" pitchFamily="49" charset="0"/>
              </a:rPr>
              <a:t> -n </a:t>
            </a:r>
            <a:r>
              <a:rPr lang="en-US" sz="2000" b="1" dirty="0" err="1" smtClean="0">
                <a:latin typeface="Consolas" pitchFamily="49" charset="0"/>
              </a:rPr>
              <a:t>emojivoto</a:t>
            </a:r>
            <a:r>
              <a:rPr lang="en-US" sz="2000" b="1" dirty="0" smtClean="0">
                <a:latin typeface="Consolas" pitchFamily="49" charset="0"/>
              </a:rPr>
              <a:t> check --proxy</a:t>
            </a:r>
          </a:p>
          <a:p>
            <a:r>
              <a:rPr lang="en-US" sz="2000" b="1" dirty="0" err="1" smtClean="0">
                <a:latin typeface="Consolas" pitchFamily="49" charset="0"/>
              </a:rPr>
              <a:t>kubectl</a:t>
            </a:r>
            <a:r>
              <a:rPr lang="en-US" sz="2000" b="1" dirty="0" smtClean="0">
                <a:latin typeface="Consolas" pitchFamily="49" charset="0"/>
              </a:rPr>
              <a:t> -n </a:t>
            </a:r>
            <a:r>
              <a:rPr lang="en-US" sz="2000" b="1" dirty="0" err="1" smtClean="0">
                <a:latin typeface="Consolas" pitchFamily="49" charset="0"/>
              </a:rPr>
              <a:t>emojivoto</a:t>
            </a:r>
            <a:r>
              <a:rPr lang="en-US" sz="2000" b="1" dirty="0" smtClean="0">
                <a:latin typeface="Consolas" pitchFamily="49" charset="0"/>
              </a:rPr>
              <a:t> port-forward svc/web-svc 8080:80</a:t>
            </a:r>
            <a:endParaRPr lang="en-US" sz="2000" b="1" dirty="0">
              <a:latin typeface="Consolas" pitchFamily="49" charset="0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Explore </a:t>
            </a:r>
            <a:r>
              <a:rPr lang="en-US" dirty="0" err="1" smtClean="0"/>
              <a:t>Linkerd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err="1" smtClean="0">
                <a:latin typeface="Consolas" pitchFamily="49" charset="0"/>
              </a:rPr>
              <a:t>linkerd</a:t>
            </a:r>
            <a:r>
              <a:rPr lang="en-US" sz="2400" dirty="0" smtClean="0">
                <a:latin typeface="Consolas" pitchFamily="49" charset="0"/>
              </a:rPr>
              <a:t> </a:t>
            </a:r>
            <a:r>
              <a:rPr lang="en-US" sz="2400" dirty="0" err="1" smtClean="0">
                <a:latin typeface="Consolas" pitchFamily="49" charset="0"/>
              </a:rPr>
              <a:t>viz</a:t>
            </a:r>
            <a:r>
              <a:rPr lang="en-US" sz="2400" dirty="0" smtClean="0">
                <a:latin typeface="Consolas" pitchFamily="49" charset="0"/>
              </a:rPr>
              <a:t> dashboard &amp;</a:t>
            </a:r>
          </a:p>
          <a:p>
            <a:r>
              <a:rPr lang="en-US" sz="2400" dirty="0" smtClean="0">
                <a:latin typeface="+mj-lt"/>
              </a:rPr>
              <a:t># Review Namespaces &gt; </a:t>
            </a:r>
            <a:r>
              <a:rPr lang="en-US" sz="2400" dirty="0" err="1" smtClean="0">
                <a:latin typeface="+mj-lt"/>
              </a:rPr>
              <a:t>emojivoto</a:t>
            </a:r>
            <a:endParaRPr lang="en-US" sz="2400" dirty="0">
              <a:latin typeface="+mj-lt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.NET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https://dotnetfullstackdev.medium.com/service-mesh-with-linkerd-in-a-net-microservice-architecture-e87d3d406b06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 typical software </a:t>
            </a:r>
            <a:r>
              <a:rPr lang="en-US" smtClean="0"/>
              <a:t>stack </a:t>
            </a:r>
            <a:r>
              <a:rPr lang="en-US" smtClean="0"/>
              <a:t>[4]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590800"/>
            <a:ext cx="5981700" cy="2774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Sidecar Proxies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proxy</a:t>
            </a:r>
            <a:r>
              <a:rPr lang="en-US" sz="2000" dirty="0" smtClean="0"/>
              <a:t> is an application that traffic is routed through on the way to its destination.</a:t>
            </a:r>
          </a:p>
          <a:p>
            <a:r>
              <a:rPr lang="en-US" sz="2000" dirty="0" smtClean="0"/>
              <a:t>Popular proxies you may have heard of are NGINX, </a:t>
            </a:r>
            <a:r>
              <a:rPr lang="en-US" sz="2000" dirty="0" err="1" smtClean="0"/>
              <a:t>HAProxy</a:t>
            </a:r>
            <a:r>
              <a:rPr lang="en-US" sz="2000" dirty="0" smtClean="0"/>
              <a:t>, and Envoy.</a:t>
            </a:r>
          </a:p>
          <a:p>
            <a:r>
              <a:rPr lang="en-US" sz="2000" dirty="0" smtClean="0"/>
              <a:t>In most service meshes, all service traffic (inbound and outbound) is routed through a local proxy dedicated to each service instance.</a:t>
            </a:r>
          </a:p>
          <a:p>
            <a:r>
              <a:rPr lang="en-US" sz="2000" dirty="0" smtClean="0"/>
              <a:t>Each instance of a service must be deployed with its own local proxy.</a:t>
            </a:r>
          </a:p>
          <a:p>
            <a:r>
              <a:rPr lang="en-US" sz="2000" dirty="0" smtClean="0"/>
              <a:t>The pattern of deploying a helper application—in this case a proxy—alongside the main service is known as the sidecar pattern, and so local proxies are referred to as </a:t>
            </a:r>
            <a:r>
              <a:rPr lang="en-US" sz="2000" i="1" dirty="0" smtClean="0">
                <a:solidFill>
                  <a:srgbClr val="C00000"/>
                </a:solidFill>
              </a:rPr>
              <a:t>sidecar proxies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4953000"/>
            <a:ext cx="5905500" cy="5381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Control Plane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The control plane’s job is to manage and configure the sidecar proxies.</a:t>
            </a:r>
          </a:p>
          <a:p>
            <a:r>
              <a:rPr lang="en-US" sz="2000" dirty="0" smtClean="0"/>
              <a:t>The control plane is where most of the complex logic of the service mesh lives: it must watch for services starting and stopping, sign and distribute certificates, reconfigure proxies, etc.</a:t>
            </a:r>
          </a:p>
          <a:p>
            <a:r>
              <a:rPr lang="en-US" sz="2000" dirty="0" smtClean="0"/>
              <a:t>The sidecar proxies themselves are relatively simple: they receive configuration from the control plane detailing which actions to perform on traffic, and they perform those actions.</a:t>
            </a:r>
            <a:endParaRPr lang="en-US" sz="20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24025" y="4419600"/>
            <a:ext cx="5743575" cy="1604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a Service Mesh Works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" y="2133600"/>
            <a:ext cx="7874000" cy="3619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Use a Service Mesh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service mesh provides features in four areas: security, </a:t>
            </a:r>
            <a:r>
              <a:rPr lang="en-US" sz="2400" dirty="0" err="1" smtClean="0"/>
              <a:t>observability</a:t>
            </a:r>
            <a:r>
              <a:rPr lang="en-US" sz="2400" dirty="0" smtClean="0"/>
              <a:t>, reliability, and traffic control.</a:t>
            </a:r>
          </a:p>
          <a:p>
            <a:r>
              <a:rPr lang="en-US" sz="2400" dirty="0" smtClean="0"/>
              <a:t>The fundamental value proposition of a service mesh is the ability to provide these features across every service and workload </a:t>
            </a:r>
            <a:r>
              <a:rPr lang="en-US" sz="2400" i="1" dirty="0" smtClean="0">
                <a:solidFill>
                  <a:srgbClr val="C00000"/>
                </a:solidFill>
              </a:rPr>
              <a:t>without modifying service code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Consul Architecture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1828800"/>
            <a:ext cx="4414838" cy="4043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backend service is registered with its IP address—for example, 1.2.3.4— onto the Consul client on that node.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A new service being started on a node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3429000"/>
            <a:ext cx="6872288" cy="2471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Consul client configures the proxy and keeps the connection open for future reconfiguration.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Consul client configuring the backend proxy</a:t>
            </a:r>
            <a:endParaRPr lang="en-US" dirty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3276600"/>
            <a:ext cx="4024313" cy="284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Frontend service is configured to talk to the backend service, but it doesn’t yet know which address to use.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Frontend service is configured to talk to the backend service</a:t>
            </a:r>
            <a:endParaRPr lang="en-US" dirty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3352800"/>
            <a:ext cx="6448425" cy="24526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dirty="0" err="1" smtClean="0"/>
              <a:t>frontend’s</a:t>
            </a:r>
            <a:r>
              <a:rPr lang="en-US" sz="2400" dirty="0" smtClean="0"/>
              <a:t> proxy learning the address of the backend service in order to make a request.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The </a:t>
            </a:r>
            <a:r>
              <a:rPr lang="en-US" dirty="0" err="1" smtClean="0"/>
              <a:t>frontend’s</a:t>
            </a:r>
            <a:r>
              <a:rPr lang="en-US" dirty="0" smtClean="0"/>
              <a:t> proxy learning the address of the backend service</a:t>
            </a:r>
            <a:endParaRPr lang="en-US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2819400"/>
            <a:ext cx="5128260" cy="3337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Sidecar proxies capture inbound and outbound traffic and follow their configured rules to act on that traffic.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Sidecar proxies capture inbound and outbound traffic</a:t>
            </a:r>
            <a:endParaRPr lang="en-US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36813" y="3765550"/>
            <a:ext cx="4270375" cy="1949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Consul Versus Other Meshes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There are many other service meshes in the marketplace, such as </a:t>
            </a:r>
            <a:r>
              <a:rPr lang="en-US" sz="2400" dirty="0" err="1" smtClean="0"/>
              <a:t>Istio</a:t>
            </a:r>
            <a:r>
              <a:rPr lang="en-US" sz="2400" dirty="0" smtClean="0"/>
              <a:t> and </a:t>
            </a:r>
            <a:r>
              <a:rPr lang="en-US" sz="2400" dirty="0" err="1" smtClean="0"/>
              <a:t>Linkerd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Most services meshes follow the same general architecture with a control plane that manages sidecar proxies.</a:t>
            </a:r>
          </a:p>
          <a:p>
            <a:r>
              <a:rPr lang="en-US" sz="2400" dirty="0" smtClean="0"/>
              <a:t>Consul is unique among other meshes in that its control plane can run entirely </a:t>
            </a:r>
            <a:r>
              <a:rPr lang="en-US" sz="2400" i="1" dirty="0" smtClean="0">
                <a:solidFill>
                  <a:srgbClr val="C00000"/>
                </a:solidFill>
              </a:rPr>
              <a:t>separate from </a:t>
            </a:r>
            <a:r>
              <a:rPr lang="en-US" sz="2400" i="1" dirty="0" err="1" smtClean="0">
                <a:solidFill>
                  <a:srgbClr val="C00000"/>
                </a:solidFill>
              </a:rPr>
              <a:t>Kubernetes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This means if you’re managing a VM cluster that you don’t need to also run </a:t>
            </a:r>
            <a:r>
              <a:rPr lang="en-US" sz="2400" dirty="0" err="1" smtClean="0"/>
              <a:t>Kubernetes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</a:t>
            </a:r>
            <a:r>
              <a:rPr lang="en-US" smtClean="0"/>
              <a:t>You Again</a:t>
            </a:r>
            <a:endParaRPr lang="en-US" dirty="0" smtClean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12487</TotalTime>
  <Words>2249</Words>
  <Application>Microsoft Office PowerPoint</Application>
  <PresentationFormat>On-screen Show (4:3)</PresentationFormat>
  <Paragraphs>230</Paragraphs>
  <Slides>74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5" baseType="lpstr">
      <vt:lpstr>Office Theme</vt:lpstr>
      <vt:lpstr>Service Mesh</vt:lpstr>
      <vt:lpstr>Objectives</vt:lpstr>
      <vt:lpstr>Contents</vt:lpstr>
      <vt:lpstr>References</vt:lpstr>
      <vt:lpstr>Introduction to Service Mesh [1]</vt:lpstr>
      <vt:lpstr>The Definition of Service Mesh</vt:lpstr>
      <vt:lpstr>Architectural Overview of Service Mesh</vt:lpstr>
      <vt:lpstr>Service Mesh Features</vt:lpstr>
      <vt:lpstr>Enablement Technologies</vt:lpstr>
      <vt:lpstr>Slide 10</vt:lpstr>
      <vt:lpstr>Why Service Mesh?</vt:lpstr>
      <vt:lpstr>Security [3]</vt:lpstr>
      <vt:lpstr>Reliability</vt:lpstr>
      <vt:lpstr>Observability</vt:lpstr>
      <vt:lpstr>Slide 15</vt:lpstr>
      <vt:lpstr>Application Networking Libraries [2]</vt:lpstr>
      <vt:lpstr>The Envoy proxy</vt:lpstr>
      <vt:lpstr>Service Proxies</vt:lpstr>
      <vt:lpstr>The sidecar deployment pattern</vt:lpstr>
      <vt:lpstr>Istio</vt:lpstr>
      <vt:lpstr>Istio's Architecture</vt:lpstr>
      <vt:lpstr>Separation of concerns</vt:lpstr>
      <vt:lpstr>Slide 23</vt:lpstr>
      <vt:lpstr>1. Download Istio on macOS</vt:lpstr>
      <vt:lpstr>2. Install Istio</vt:lpstr>
      <vt:lpstr>3. Install the Kubernetes Gateway API CRDs</vt:lpstr>
      <vt:lpstr>4. Deploy the Bookinfo sample application</vt:lpstr>
      <vt:lpstr>5. Open the application to outside traffic</vt:lpstr>
      <vt:lpstr>6. Access the application</vt:lpstr>
      <vt:lpstr>Slide 30</vt:lpstr>
      <vt:lpstr>1. Install Istio for Online Boutique</vt:lpstr>
      <vt:lpstr>2. Verify the Status of Istio Sidecars</vt:lpstr>
      <vt:lpstr>Istio control plane and supporting components</vt:lpstr>
      <vt:lpstr>Istiod</vt:lpstr>
      <vt:lpstr>Istio and Kubernetes</vt:lpstr>
      <vt:lpstr>Slide 36</vt:lpstr>
      <vt:lpstr>Intro to Linkerd [3]</vt:lpstr>
      <vt:lpstr>Linkerd Architecture</vt:lpstr>
      <vt:lpstr>The Linkerd Control Plane</vt:lpstr>
      <vt:lpstr>Linkerd Viz (Dashboard)</vt:lpstr>
      <vt:lpstr>Linkerd Multicluster (Extension)</vt:lpstr>
      <vt:lpstr>Linkerd Jaeger (Distributed Tracing)</vt:lpstr>
      <vt:lpstr>Slide 43</vt:lpstr>
      <vt:lpstr>1. Install the linkerd CLI on macOS</vt:lpstr>
      <vt:lpstr>2. Create a k3d Cluster</vt:lpstr>
      <vt:lpstr>3. Install Linkerd via the CLI</vt:lpstr>
      <vt:lpstr>4. Install Linkerd Viz</vt:lpstr>
      <vt:lpstr>5. Open Linkerd Viz</vt:lpstr>
      <vt:lpstr>6. Uninstall Linkerd</vt:lpstr>
      <vt:lpstr>Opaque and Skip Ports</vt:lpstr>
      <vt:lpstr>Mutual TLS</vt:lpstr>
      <vt:lpstr>Slide 52</vt:lpstr>
      <vt:lpstr>Workloads</vt:lpstr>
      <vt:lpstr>Adding a workload to the mesh</vt:lpstr>
      <vt:lpstr>The proxy injector</vt:lpstr>
      <vt:lpstr>1. Install the demo app</vt:lpstr>
      <vt:lpstr>2. Add Linkerd’s data plane proxies</vt:lpstr>
      <vt:lpstr>3. Explore Linkerd</vt:lpstr>
      <vt:lpstr>Slide 59</vt:lpstr>
      <vt:lpstr>.NET Example</vt:lpstr>
      <vt:lpstr>Slide 61</vt:lpstr>
      <vt:lpstr>A typical software stack [4]</vt:lpstr>
      <vt:lpstr>Sidecar Proxies</vt:lpstr>
      <vt:lpstr>Control Plane</vt:lpstr>
      <vt:lpstr>How a Service Mesh Works</vt:lpstr>
      <vt:lpstr>Why Use a Service Mesh</vt:lpstr>
      <vt:lpstr>Consul Architecture</vt:lpstr>
      <vt:lpstr>1. A new service being started on a node</vt:lpstr>
      <vt:lpstr>2. Consul client configuring the backend proxy</vt:lpstr>
      <vt:lpstr>3. Frontend service is configured to talk to the backend service</vt:lpstr>
      <vt:lpstr>4. The frontend’s proxy learning the address of the backend service</vt:lpstr>
      <vt:lpstr>5. Sidecar proxies capture inbound and outbound traffic</vt:lpstr>
      <vt:lpstr>Consul Versus Other Meshes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4324</cp:revision>
  <dcterms:created xsi:type="dcterms:W3CDTF">2007-10-06T08:25:13Z</dcterms:created>
  <dcterms:modified xsi:type="dcterms:W3CDTF">2026-07-08T18:34:23Z</dcterms:modified>
</cp:coreProperties>
</file>