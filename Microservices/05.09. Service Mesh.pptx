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s/slide47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slides/slide45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slides/slide43.xml" ContentType="application/vnd.openxmlformats-officedocument.presentationml.slide+xml"/>
  <Override PartName="/ppt/slides/slide5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slides/slide32.xml" ContentType="application/vnd.openxmlformats-officedocument.presentationml.slide+xml"/>
  <Override PartName="/ppt/slides/slide41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4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s/slide48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44.xml" ContentType="application/vnd.openxmlformats-officedocument.presentationml.slide+xml"/>
  <Override PartName="/ppt/slides/slide53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31.xml" ContentType="application/vnd.openxmlformats-officedocument.presentationml.slide+xml"/>
  <Override PartName="/ppt/slides/slide42.xml" ContentType="application/vnd.openxmlformats-officedocument.presentationml.slide+xml"/>
  <Override PartName="/ppt/slides/slide5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20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55"/>
  </p:notesMasterIdLst>
  <p:sldIdLst>
    <p:sldId id="256" r:id="rId2"/>
    <p:sldId id="349" r:id="rId3"/>
    <p:sldId id="396" r:id="rId4"/>
    <p:sldId id="344" r:id="rId5"/>
    <p:sldId id="397" r:id="rId6"/>
    <p:sldId id="398" r:id="rId7"/>
    <p:sldId id="399" r:id="rId8"/>
    <p:sldId id="401" r:id="rId9"/>
    <p:sldId id="402" r:id="rId10"/>
    <p:sldId id="403" r:id="rId11"/>
    <p:sldId id="434" r:id="rId12"/>
    <p:sldId id="404" r:id="rId13"/>
    <p:sldId id="405" r:id="rId14"/>
    <p:sldId id="406" r:id="rId15"/>
    <p:sldId id="407" r:id="rId16"/>
    <p:sldId id="408" r:id="rId17"/>
    <p:sldId id="409" r:id="rId18"/>
    <p:sldId id="410" r:id="rId19"/>
    <p:sldId id="411" r:id="rId20"/>
    <p:sldId id="412" r:id="rId21"/>
    <p:sldId id="413" r:id="rId22"/>
    <p:sldId id="418" r:id="rId23"/>
    <p:sldId id="419" r:id="rId24"/>
    <p:sldId id="420" r:id="rId25"/>
    <p:sldId id="421" r:id="rId26"/>
    <p:sldId id="422" r:id="rId27"/>
    <p:sldId id="423" r:id="rId28"/>
    <p:sldId id="424" r:id="rId29"/>
    <p:sldId id="425" r:id="rId30"/>
    <p:sldId id="426" r:id="rId31"/>
    <p:sldId id="427" r:id="rId32"/>
    <p:sldId id="428" r:id="rId33"/>
    <p:sldId id="429" r:id="rId34"/>
    <p:sldId id="430" r:id="rId35"/>
    <p:sldId id="431" r:id="rId36"/>
    <p:sldId id="432" r:id="rId37"/>
    <p:sldId id="433" r:id="rId38"/>
    <p:sldId id="435" r:id="rId39"/>
    <p:sldId id="436" r:id="rId40"/>
    <p:sldId id="437" r:id="rId41"/>
    <p:sldId id="438" r:id="rId42"/>
    <p:sldId id="440" r:id="rId43"/>
    <p:sldId id="441" r:id="rId44"/>
    <p:sldId id="442" r:id="rId45"/>
    <p:sldId id="443" r:id="rId46"/>
    <p:sldId id="444" r:id="rId47"/>
    <p:sldId id="445" r:id="rId48"/>
    <p:sldId id="446" r:id="rId49"/>
    <p:sldId id="447" r:id="rId50"/>
    <p:sldId id="448" r:id="rId51"/>
    <p:sldId id="449" r:id="rId52"/>
    <p:sldId id="450" r:id="rId53"/>
    <p:sldId id="343" r:id="rId54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303" autoAdjust="0"/>
    <p:restoredTop sz="94667" autoAdjust="0"/>
  </p:normalViewPr>
  <p:slideViewPr>
    <p:cSldViewPr>
      <p:cViewPr>
        <p:scale>
          <a:sx n="50" d="100"/>
          <a:sy n="50" d="100"/>
        </p:scale>
        <p:origin x="-1484" y="-4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276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FB1E61-C19C-4EB9-A84C-BFF45D303BF2}" type="datetimeFigureOut">
              <a:rPr lang="en-US" smtClean="0"/>
              <a:pPr/>
              <a:t>12/15/2025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5EF36E-07BF-409F-AB2B-FE2A93BEB887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21B9AD-E267-41B8-AFB9-F339B3C6A571}" type="datetimeFigureOut">
              <a:rPr lang="en-US"/>
              <a:pPr>
                <a:defRPr/>
              </a:pPr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FAA6B-5534-44A2-AEB6-C3AA6AD1372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3B7B48-E476-4875-A0CA-B0673732DFDD}" type="datetimeFigureOut">
              <a:rPr lang="en-US"/>
              <a:pPr>
                <a:defRPr/>
              </a:pPr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D0A623A-42AC-4D11-AF54-DB15196F08D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8F0A2C2-9A3C-44C4-9D1F-47B44EB3EF12}" type="datetimeFigureOut">
              <a:rPr lang="en-US"/>
              <a:pPr>
                <a:defRPr/>
              </a:pPr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38AB1B-E996-4ECC-822F-4BC1227516D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352965-9852-4C5D-9CFD-AA7D7C51A3F1}" type="datetimeFigureOut">
              <a:rPr lang="en-US"/>
              <a:pPr>
                <a:defRPr/>
              </a:pPr>
              <a:t>12/15/2025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C6D760F-B2EC-4EEB-B282-45333B11576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2ABA97A-E8D3-4153-8AD9-0AC754381ACA}" type="datetimeFigureOut">
              <a:rPr lang="en-US"/>
              <a:pPr>
                <a:defRPr/>
              </a:pPr>
              <a:t>12/15/2025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26E96F6-D03D-4FB0-942F-6504F81FF6F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F1E0C7-1AF5-43CF-B84A-415948674BE8}" type="datetimeFigureOut">
              <a:rPr lang="en-US"/>
              <a:pPr>
                <a:defRPr/>
              </a:pPr>
              <a:t>12/15/2025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0B45132-88B8-4DDF-85A7-99B030F49BC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F2F585-6AB3-4A98-8C00-3FB0F428366B}" type="datetimeFigureOut">
              <a:rPr lang="en-US"/>
              <a:pPr>
                <a:defRPr/>
              </a:pPr>
              <a:t>12/15/2025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DEE648-0B22-4684-A888-DEB1CE6260B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55A04C-D082-4B30-8565-236556BDD91C}" type="datetimeFigureOut">
              <a:rPr lang="en-US"/>
              <a:pPr>
                <a:defRPr/>
              </a:pPr>
              <a:t>12/15/2025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7D6D829-2DC4-4B7D-B12C-FDD216EF07F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43085A-46E4-429D-86C3-B3CDAC36DAFB}" type="datetimeFigureOut">
              <a:rPr lang="en-US"/>
              <a:pPr>
                <a:defRPr/>
              </a:pPr>
              <a:t>12/15/2025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7732C7-0A09-4095-98E8-F693C2579E3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0270D8-9F80-4CBC-9EEB-40BF8E1F9541}" type="datetimeFigureOut">
              <a:rPr lang="en-US"/>
              <a:pPr>
                <a:defRPr/>
              </a:pPr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6B142B-9F3F-466D-9D5E-77E7230DF7F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944C27D-6266-4BC5-9F9E-701F440BBF98}" type="datetimeFigureOut">
              <a:rPr lang="en-US"/>
              <a:pPr>
                <a:defRPr/>
              </a:pPr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EC74873-7D28-4297-9E3C-7A8D1F19C83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3A4E31BE-3B20-405B-8063-BB6777AF4DB8}" type="datetimeFigureOut">
              <a:rPr lang="en-US"/>
              <a:pPr>
                <a:defRPr/>
              </a:pPr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69667343-960E-49C7-A8DE-9C4E4237023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hyperlink" Target="https://linkerd.io/2.16/getting-started/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hyperlink" Target="https://linkerd.io/2-edge/tasks/uninstall/" TargetMode="Externa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hyperlink" Target="http://localhost:8080/" TargetMode="Externa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hyperlink" Target="https://dotnetfullstackdev.medium.com/service-mesh-with-linkerd-in-a-net-microservice-architecture-e87d3d406b06" TargetMode="Externa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>
          <a:xfrm>
            <a:off x="304800" y="2130425"/>
            <a:ext cx="8534400" cy="1470025"/>
          </a:xfrm>
        </p:spPr>
        <p:txBody>
          <a:bodyPr/>
          <a:lstStyle/>
          <a:p>
            <a:pPr eaLnBrk="1" hangingPunct="1"/>
            <a:r>
              <a:rPr lang="en-US" sz="6000" dirty="0" smtClean="0"/>
              <a:t>Service Mesh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625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36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28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28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28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28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2800" dirty="0" smtClean="0">
                <a:hlinkClick r:id="rId2"/>
              </a:rPr>
              <a:t>nhbien@fit.hcmus.edu.vn</a:t>
            </a:r>
            <a:endParaRPr lang="en-US" sz="28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828800"/>
            <a:ext cx="5105400" cy="4038600"/>
          </a:xfrm>
        </p:spPr>
        <p:txBody>
          <a:bodyPr/>
          <a:lstStyle/>
          <a:p>
            <a:pPr marL="457200" indent="-457200">
              <a:buFont typeface="Wingdings" pitchFamily="2" charset="2"/>
              <a:buChar char="Ø"/>
            </a:pPr>
            <a:endParaRPr lang="en-US" sz="2400" dirty="0" smtClean="0">
              <a:latin typeface="+mj-lt"/>
            </a:endParaRP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867400" y="281940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5626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Service Mesh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err="1" smtClean="0"/>
              <a:t>Linkerd</a:t>
            </a:r>
            <a:endParaRPr lang="en-US" sz="2400" dirty="0" smtClean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715000" cy="4525963"/>
          </a:xfrm>
        </p:spPr>
        <p:txBody>
          <a:bodyPr/>
          <a:lstStyle/>
          <a:p>
            <a:pPr marL="457200" lvl="0" indent="-457200">
              <a:buFont typeface="+mj-lt"/>
              <a:buAutoNum type="arabicPeriod"/>
            </a:pPr>
            <a:r>
              <a:rPr lang="en-US" sz="2400" dirty="0" err="1" smtClean="0"/>
              <a:t>Wubin</a:t>
            </a:r>
            <a:r>
              <a:rPr lang="en-US" sz="2400" dirty="0" smtClean="0"/>
              <a:t> Li et al. (2019). Service Mesh - Challenges, State of the Art, and Future Research Opportunities.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US" sz="2400" dirty="0" smtClean="0"/>
              <a:t>Jason Morgan and Flynn (2024). </a:t>
            </a:r>
            <a:r>
              <a:rPr lang="en-US" sz="2400" dirty="0" err="1" smtClean="0"/>
              <a:t>Linkerd</a:t>
            </a:r>
            <a:r>
              <a:rPr lang="en-US" sz="2400" dirty="0" smtClean="0"/>
              <a:t> Up and Running. O'Reilly Media.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US" sz="2400" dirty="0" smtClean="0"/>
              <a:t>Luke </a:t>
            </a:r>
            <a:r>
              <a:rPr lang="en-US" sz="2400" dirty="0" err="1" smtClean="0"/>
              <a:t>Kysow</a:t>
            </a:r>
            <a:r>
              <a:rPr lang="en-US" sz="2400" dirty="0" smtClean="0"/>
              <a:t> (2022). Consul - Up and Running. O'Reilly Media.</a:t>
            </a:r>
            <a:endParaRPr lang="en-US" sz="2400" dirty="0"/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9600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Why? </a:t>
            </a:r>
            <a:r>
              <a:rPr lang="en-US" smtClean="0"/>
              <a:t>[1]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Debugging </a:t>
            </a:r>
            <a:r>
              <a:rPr lang="en-US" sz="2400" dirty="0" err="1" smtClean="0"/>
              <a:t>microservices</a:t>
            </a:r>
            <a:r>
              <a:rPr lang="en-US" sz="2400" dirty="0" smtClean="0"/>
              <a:t> applications turns out to be a challenging task due to </a:t>
            </a:r>
          </a:p>
          <a:p>
            <a:pPr lvl="1"/>
            <a:r>
              <a:rPr lang="en-US" sz="2000" dirty="0" smtClean="0"/>
              <a:t>the </a:t>
            </a:r>
            <a:r>
              <a:rPr lang="en-US" sz="2000" i="1" dirty="0" smtClean="0">
                <a:solidFill>
                  <a:srgbClr val="C00000"/>
                </a:solidFill>
              </a:rPr>
              <a:t>complexity of service dependencies</a:t>
            </a:r>
            <a:r>
              <a:rPr lang="en-US" sz="2000" dirty="0" smtClean="0"/>
              <a:t> and </a:t>
            </a:r>
          </a:p>
          <a:p>
            <a:pPr lvl="1"/>
            <a:r>
              <a:rPr lang="en-US" sz="2000" dirty="0" smtClean="0"/>
              <a:t>the fact that any service can become </a:t>
            </a:r>
            <a:r>
              <a:rPr lang="en-US" sz="2000" i="1" dirty="0" smtClean="0">
                <a:solidFill>
                  <a:srgbClr val="C00000"/>
                </a:solidFill>
              </a:rPr>
              <a:t>temporarily inaccessible</a:t>
            </a:r>
            <a:r>
              <a:rPr lang="en-US" sz="2000" dirty="0" smtClean="0"/>
              <a:t> to its consumers</a:t>
            </a:r>
          </a:p>
          <a:p>
            <a:pPr lvl="1"/>
            <a:r>
              <a:rPr lang="en-US" sz="2000" dirty="0" smtClean="0"/>
              <a:t>as the </a:t>
            </a:r>
            <a:r>
              <a:rPr lang="en-US" sz="2000" u="sng" dirty="0" smtClean="0"/>
              <a:t>application behavior</a:t>
            </a:r>
            <a:r>
              <a:rPr lang="en-US" sz="2000" dirty="0" smtClean="0"/>
              <a:t> depends on the flow of the traffic among </a:t>
            </a:r>
            <a:r>
              <a:rPr lang="en-US" sz="2000" dirty="0" err="1" smtClean="0"/>
              <a:t>microservices</a:t>
            </a:r>
            <a:r>
              <a:rPr lang="en-US" sz="2000" dirty="0" smtClean="0"/>
              <a:t>, </a:t>
            </a:r>
            <a:r>
              <a:rPr lang="en-US" sz="2000" i="1" dirty="0" smtClean="0">
                <a:solidFill>
                  <a:srgbClr val="C00000"/>
                </a:solidFill>
              </a:rPr>
              <a:t>traffic control</a:t>
            </a:r>
            <a:r>
              <a:rPr lang="en-US" sz="2000" dirty="0" smtClean="0"/>
              <a:t> becomes a must (but currently missing) for runtime operation.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Introduction to Service Mesh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 </a:t>
            </a:r>
            <a:r>
              <a:rPr lang="en-US" sz="2400" i="1" dirty="0" smtClean="0">
                <a:solidFill>
                  <a:srgbClr val="C00000"/>
                </a:solidFill>
              </a:rPr>
              <a:t>dedicated infrastructure layer</a:t>
            </a:r>
            <a:r>
              <a:rPr lang="en-US" sz="2400" dirty="0" smtClean="0"/>
              <a:t> over </a:t>
            </a:r>
            <a:r>
              <a:rPr lang="en-US" sz="2400" dirty="0" err="1" smtClean="0"/>
              <a:t>microservices</a:t>
            </a:r>
            <a:r>
              <a:rPr lang="en-US" sz="2400" dirty="0" smtClean="0"/>
              <a:t> without imposing modification on the service implementations.</a:t>
            </a:r>
          </a:p>
          <a:p>
            <a:r>
              <a:rPr lang="en-US" sz="2400" dirty="0" smtClean="0"/>
              <a:t>Serving as a fully manageable </a:t>
            </a:r>
            <a:r>
              <a:rPr lang="en-US" sz="2400" i="1" dirty="0" smtClean="0">
                <a:solidFill>
                  <a:srgbClr val="C00000"/>
                </a:solidFill>
              </a:rPr>
              <a:t>service-to-service communication platform</a:t>
            </a:r>
            <a:r>
              <a:rPr lang="en-US" sz="2400" dirty="0" smtClean="0"/>
              <a:t>, a service mesh is designed to </a:t>
            </a:r>
            <a:r>
              <a:rPr lang="en-US" sz="2400" u="sng" dirty="0" smtClean="0"/>
              <a:t>standardize</a:t>
            </a:r>
            <a:r>
              <a:rPr lang="en-US" sz="2400" dirty="0" smtClean="0"/>
              <a:t> the runtime operations of applications.</a:t>
            </a:r>
          </a:p>
          <a:p>
            <a:r>
              <a:rPr lang="en-US" sz="2400" dirty="0" smtClean="0"/>
              <a:t>The service mesh technologies hold the promise in addressing</a:t>
            </a:r>
          </a:p>
          <a:p>
            <a:pPr lvl="1"/>
            <a:r>
              <a:rPr lang="en-US" sz="2000" dirty="0" smtClean="0"/>
              <a:t>communication-related concerns</a:t>
            </a:r>
          </a:p>
          <a:p>
            <a:pPr lvl="1"/>
            <a:r>
              <a:rPr lang="en-US" sz="2000" dirty="0" smtClean="0"/>
              <a:t>interoperability</a:t>
            </a:r>
          </a:p>
          <a:p>
            <a:pPr lvl="1"/>
            <a:r>
              <a:rPr lang="en-US" sz="2000" dirty="0" smtClean="0"/>
              <a:t>traffic segmentation</a:t>
            </a:r>
          </a:p>
          <a:p>
            <a:pPr lvl="1"/>
            <a:r>
              <a:rPr lang="en-US" sz="2000" dirty="0" smtClean="0"/>
              <a:t>dependency control</a:t>
            </a:r>
          </a:p>
          <a:p>
            <a:pPr lvl="1"/>
            <a:r>
              <a:rPr lang="en-US" sz="2000" dirty="0" smtClean="0"/>
              <a:t>runtime enforcement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Definition of Service Mesh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 service mesh is a dedicated infrastructure layer for handling service-to-service communication.</a:t>
            </a:r>
          </a:p>
          <a:p>
            <a:r>
              <a:rPr lang="en-US" sz="2400" dirty="0" smtClean="0"/>
              <a:t>It’s responsible for the reliable delivery of requests through the complex topology of services that comprise a modern, cloud native application.</a:t>
            </a:r>
          </a:p>
          <a:p>
            <a:r>
              <a:rPr lang="en-US" sz="2400" dirty="0" smtClean="0"/>
              <a:t>In practice, the service mesh is typically implemented as an array of lightweight network proxies that are deployed alongside application code, without the application needing to be aware.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800" dirty="0" smtClean="0"/>
              <a:t>Architectural Overview of Service Mesh</a:t>
            </a:r>
            <a:endParaRPr lang="en-US" sz="3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A service mesh infrastructure logically consists of a data plane and a control plane.</a:t>
            </a:r>
          </a:p>
          <a:p>
            <a:r>
              <a:rPr lang="en-US" sz="2000" dirty="0" smtClean="0"/>
              <a:t>The data plane is composed of a set of intelligent proxies, which are typically deployed as sidecars.</a:t>
            </a:r>
          </a:p>
          <a:p>
            <a:r>
              <a:rPr lang="en-US" sz="2000" dirty="0" smtClean="0"/>
              <a:t>The control plane manages and configures the proxies for traffic routing.</a:t>
            </a:r>
            <a:endParaRPr lang="en-US" sz="2000" dirty="0"/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63788" y="3822700"/>
            <a:ext cx="4416425" cy="219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Service Mesh Features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Service discovery</a:t>
            </a:r>
          </a:p>
          <a:p>
            <a:pPr lvl="1"/>
            <a:r>
              <a:rPr lang="en-US" sz="2000" dirty="0" smtClean="0"/>
              <a:t>Typically, service instances are discovered by looking up a registry underneath which keeps records of new instances as well as instances that are removed from the network.</a:t>
            </a:r>
          </a:p>
          <a:p>
            <a:r>
              <a:rPr lang="en-US" sz="2400" dirty="0" smtClean="0"/>
              <a:t>Load balancing</a:t>
            </a:r>
          </a:p>
          <a:p>
            <a:r>
              <a:rPr lang="en-US" sz="2400" dirty="0" smtClean="0"/>
              <a:t>Fault tolerance</a:t>
            </a:r>
          </a:p>
          <a:p>
            <a:r>
              <a:rPr lang="en-US" sz="2400" dirty="0" smtClean="0"/>
              <a:t>Traffic monitoring</a:t>
            </a:r>
          </a:p>
          <a:p>
            <a:r>
              <a:rPr lang="en-US" sz="2400" dirty="0" smtClean="0"/>
              <a:t>Circuit breaking</a:t>
            </a:r>
          </a:p>
          <a:p>
            <a:r>
              <a:rPr lang="en-US" sz="2400" dirty="0" smtClean="0"/>
              <a:t>Authentication and access control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Enablement Technologies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err="1" smtClean="0"/>
              <a:t>Istio</a:t>
            </a:r>
            <a:endParaRPr lang="en-US" sz="2400" dirty="0" smtClean="0"/>
          </a:p>
          <a:p>
            <a:r>
              <a:rPr lang="en-US" sz="2400" dirty="0" err="1" smtClean="0"/>
              <a:t>Linkerd</a:t>
            </a:r>
            <a:endParaRPr lang="en-US" sz="2400" dirty="0" smtClean="0"/>
          </a:p>
          <a:p>
            <a:r>
              <a:rPr lang="en-US" sz="2400" dirty="0" err="1" smtClean="0"/>
              <a:t>Airbnb</a:t>
            </a:r>
            <a:r>
              <a:rPr lang="en-US" sz="2400" dirty="0" smtClean="0"/>
              <a:t> Synapse</a:t>
            </a:r>
          </a:p>
          <a:p>
            <a:pPr lvl="1"/>
            <a:r>
              <a:rPr lang="en-US" sz="2000" dirty="0" smtClean="0"/>
              <a:t>it solves the problem of automated failover through a simplistic but efficient, </a:t>
            </a:r>
            <a:r>
              <a:rPr lang="en-US" sz="2000" dirty="0" err="1" smtClean="0"/>
              <a:t>Zookeeperbased</a:t>
            </a:r>
            <a:r>
              <a:rPr lang="en-US" sz="2000" dirty="0" smtClean="0"/>
              <a:t> service discovery mechanism. In detail, Synapse configures a local </a:t>
            </a:r>
            <a:r>
              <a:rPr lang="en-US" sz="2000" dirty="0" err="1" smtClean="0"/>
              <a:t>HAProxy</a:t>
            </a:r>
            <a:r>
              <a:rPr lang="en-US" sz="2000" dirty="0" smtClean="0"/>
              <a:t> process using the information read from Zookeeper where states of the services are stored and continuously updated. By doing so, the local </a:t>
            </a:r>
            <a:r>
              <a:rPr lang="en-US" sz="2000" dirty="0" err="1" smtClean="0"/>
              <a:t>HAProxy</a:t>
            </a:r>
            <a:r>
              <a:rPr lang="en-US" sz="2000" dirty="0" smtClean="0"/>
              <a:t> can take care of properly routing the request from a service consumer. With an optimized </a:t>
            </a:r>
            <a:r>
              <a:rPr lang="en-US" sz="2000" dirty="0" err="1" smtClean="0"/>
              <a:t>HAProxy</a:t>
            </a:r>
            <a:r>
              <a:rPr lang="en-US" sz="2000" dirty="0" smtClean="0"/>
              <a:t>, Synapse can react to the change (e.g., service failure) in Zookeeper, and reconfigure </a:t>
            </a:r>
            <a:r>
              <a:rPr lang="en-US" sz="2000" dirty="0" err="1" smtClean="0"/>
              <a:t>HAProxy</a:t>
            </a:r>
            <a:r>
              <a:rPr lang="en-US" sz="2000" dirty="0" smtClean="0"/>
              <a:t> immediately.</a:t>
            </a:r>
          </a:p>
          <a:p>
            <a:r>
              <a:rPr lang="en-US" sz="2400" dirty="0" smtClean="0"/>
              <a:t>Amazon App Mesh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Security [2]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47800" y="2362200"/>
            <a:ext cx="6305550" cy="279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Reliability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133600" y="2514600"/>
            <a:ext cx="5286375" cy="2619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Observability</a:t>
            </a:r>
            <a:endParaRPr 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00200" y="2667000"/>
            <a:ext cx="6424613" cy="2619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Intro to </a:t>
            </a:r>
            <a:r>
              <a:rPr lang="en-US" dirty="0" err="1" smtClean="0"/>
              <a:t>Linkerd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938463" y="1489075"/>
            <a:ext cx="3267075" cy="4683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Linkerd</a:t>
            </a:r>
            <a:r>
              <a:rPr lang="en-US" dirty="0" smtClean="0"/>
              <a:t> Architecture</a:t>
            </a:r>
            <a:endParaRPr lang="en-US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24000" y="1981200"/>
            <a:ext cx="5924550" cy="40052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</a:t>
            </a:r>
            <a:r>
              <a:rPr lang="en-US" dirty="0" err="1" smtClean="0"/>
              <a:t>Linkerd</a:t>
            </a:r>
            <a:r>
              <a:rPr lang="en-US" dirty="0" smtClean="0"/>
              <a:t> Control Plane</a:t>
            </a:r>
            <a:endParaRPr lang="en-US" dirty="0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67000" y="1600200"/>
            <a:ext cx="3677603" cy="466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Linkerd</a:t>
            </a:r>
            <a:r>
              <a:rPr lang="en-US" dirty="0" smtClean="0"/>
              <a:t> </a:t>
            </a:r>
            <a:r>
              <a:rPr lang="en-US" dirty="0" err="1" smtClean="0"/>
              <a:t>Viz</a:t>
            </a:r>
            <a:r>
              <a:rPr lang="en-US" dirty="0" smtClean="0"/>
              <a:t> (Dashboard)</a:t>
            </a:r>
            <a:endParaRPr lang="en-US" dirty="0"/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00200" y="1981200"/>
            <a:ext cx="6072188" cy="3890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Linkerd</a:t>
            </a:r>
            <a:r>
              <a:rPr lang="en-US" dirty="0" smtClean="0"/>
              <a:t> </a:t>
            </a:r>
            <a:r>
              <a:rPr lang="en-US" dirty="0" err="1" smtClean="0"/>
              <a:t>Multicluster</a:t>
            </a:r>
            <a:r>
              <a:rPr lang="en-US" dirty="0" smtClean="0"/>
              <a:t> (Extension)</a:t>
            </a:r>
            <a:endParaRPr lang="en-US" dirty="0"/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81175" y="2209800"/>
            <a:ext cx="5457825" cy="3476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Linkerd</a:t>
            </a:r>
            <a:r>
              <a:rPr lang="en-US" dirty="0" smtClean="0"/>
              <a:t> Jaeger (Distributed Tracing)</a:t>
            </a:r>
            <a:endParaRPr lang="en-US" dirty="0"/>
          </a:p>
        </p:txBody>
      </p:sp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52600" y="2895600"/>
            <a:ext cx="5613400" cy="2025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Install the </a:t>
            </a:r>
            <a:r>
              <a:rPr lang="en-US" dirty="0" err="1" smtClean="0"/>
              <a:t>linkerd</a:t>
            </a:r>
            <a:r>
              <a:rPr lang="en-US" dirty="0" smtClean="0"/>
              <a:t> CLI on </a:t>
            </a:r>
            <a:r>
              <a:rPr lang="en-US" dirty="0" err="1" smtClean="0"/>
              <a:t>macOS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https://linkerd.io/2.16/getting-started/</a:t>
            </a:r>
            <a:endParaRPr lang="en-US" sz="2400" dirty="0" smtClean="0"/>
          </a:p>
          <a:p>
            <a:r>
              <a:rPr lang="en-US" sz="2200" dirty="0" err="1" smtClean="0">
                <a:latin typeface="Consolas" pitchFamily="49" charset="0"/>
              </a:rPr>
              <a:t>kubectl</a:t>
            </a:r>
            <a:r>
              <a:rPr lang="en-US" sz="2200" dirty="0" smtClean="0">
                <a:latin typeface="Consolas" pitchFamily="49" charset="0"/>
              </a:rPr>
              <a:t> version</a:t>
            </a:r>
          </a:p>
          <a:p>
            <a:r>
              <a:rPr lang="en-US" sz="2200" dirty="0" smtClean="0">
                <a:latin typeface="Consolas" pitchFamily="49" charset="0"/>
              </a:rPr>
              <a:t>curl --proto '=https' --tlsv1.2 -</a:t>
            </a:r>
            <a:r>
              <a:rPr lang="en-US" sz="2200" dirty="0" err="1" smtClean="0">
                <a:latin typeface="Consolas" pitchFamily="49" charset="0"/>
              </a:rPr>
              <a:t>sSfL</a:t>
            </a:r>
            <a:r>
              <a:rPr lang="en-US" sz="2200" dirty="0" smtClean="0">
                <a:latin typeface="Consolas" pitchFamily="49" charset="0"/>
              </a:rPr>
              <a:t> https://run.linkerd.io/install-edge | </a:t>
            </a:r>
            <a:r>
              <a:rPr lang="en-US" sz="2200" dirty="0" err="1" smtClean="0">
                <a:latin typeface="Consolas" pitchFamily="49" charset="0"/>
              </a:rPr>
              <a:t>sh</a:t>
            </a:r>
            <a:endParaRPr lang="en-US" sz="2200" dirty="0" smtClean="0">
              <a:latin typeface="Consolas" pitchFamily="49" charset="0"/>
            </a:endParaRPr>
          </a:p>
          <a:p>
            <a:r>
              <a:rPr lang="en-US" sz="2200" dirty="0" err="1" smtClean="0">
                <a:latin typeface="Consolas" pitchFamily="49" charset="0"/>
              </a:rPr>
              <a:t>sudo</a:t>
            </a:r>
            <a:r>
              <a:rPr lang="en-US" sz="2200" dirty="0" smtClean="0">
                <a:latin typeface="Consolas" pitchFamily="49" charset="0"/>
              </a:rPr>
              <a:t> </a:t>
            </a:r>
            <a:r>
              <a:rPr lang="en-US" sz="2200" dirty="0" err="1" smtClean="0">
                <a:latin typeface="Consolas" pitchFamily="49" charset="0"/>
              </a:rPr>
              <a:t>nano</a:t>
            </a:r>
            <a:r>
              <a:rPr lang="en-US" sz="2200" dirty="0" smtClean="0">
                <a:latin typeface="Consolas" pitchFamily="49" charset="0"/>
              </a:rPr>
              <a:t> /etc/paths</a:t>
            </a:r>
          </a:p>
          <a:p>
            <a:pPr lvl="1"/>
            <a:r>
              <a:rPr lang="en-US" sz="1800" dirty="0" smtClean="0">
                <a:latin typeface="Consolas" pitchFamily="49" charset="0"/>
              </a:rPr>
              <a:t>$HOME/.linkerd2/bin</a:t>
            </a:r>
          </a:p>
          <a:p>
            <a:r>
              <a:rPr lang="en-US" sz="2200" dirty="0" err="1" smtClean="0">
                <a:latin typeface="Consolas" pitchFamily="49" charset="0"/>
              </a:rPr>
              <a:t>linkerd</a:t>
            </a:r>
            <a:r>
              <a:rPr lang="en-US" sz="2200" dirty="0" smtClean="0">
                <a:latin typeface="Consolas" pitchFamily="49" charset="0"/>
              </a:rPr>
              <a:t> version</a:t>
            </a:r>
          </a:p>
          <a:p>
            <a:endParaRPr lang="en-US" sz="2200" dirty="0" smtClean="0">
              <a:latin typeface="Consolas" pitchFamily="49" charset="0"/>
            </a:endParaRPr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081212" y="4724400"/>
            <a:ext cx="5081588" cy="1428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Create a k3d Cluster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800" dirty="0" smtClean="0">
                <a:latin typeface="Consolas" pitchFamily="49" charset="0"/>
              </a:rPr>
              <a:t>k3d cluster create </a:t>
            </a:r>
            <a:r>
              <a:rPr lang="en-US" sz="1800" dirty="0" err="1" smtClean="0">
                <a:latin typeface="Consolas" pitchFamily="49" charset="0"/>
              </a:rPr>
              <a:t>linkerd</a:t>
            </a:r>
            <a:endParaRPr lang="en-US" sz="1800" dirty="0" smtClean="0">
              <a:latin typeface="Consolas" pitchFamily="49" charset="0"/>
            </a:endParaRPr>
          </a:p>
          <a:p>
            <a:r>
              <a:rPr lang="en-US" sz="1800" dirty="0" err="1" smtClean="0">
                <a:latin typeface="Consolas" pitchFamily="49" charset="0"/>
              </a:rPr>
              <a:t>kubectl</a:t>
            </a:r>
            <a:r>
              <a:rPr lang="en-US" sz="1800" dirty="0" smtClean="0">
                <a:latin typeface="Consolas" pitchFamily="49" charset="0"/>
              </a:rPr>
              <a:t> get nodes</a:t>
            </a:r>
          </a:p>
          <a:p>
            <a:r>
              <a:rPr lang="en-US" sz="1800" dirty="0" smtClean="0">
                <a:latin typeface="Consolas" pitchFamily="49" charset="0"/>
              </a:rPr>
              <a:t># validate that the cluster is configured correctly</a:t>
            </a:r>
          </a:p>
          <a:p>
            <a:r>
              <a:rPr lang="en-US" sz="1800" dirty="0" err="1" smtClean="0">
                <a:latin typeface="Consolas" pitchFamily="49" charset="0"/>
              </a:rPr>
              <a:t>linkerd</a:t>
            </a:r>
            <a:r>
              <a:rPr lang="en-US" sz="1800" dirty="0" smtClean="0">
                <a:latin typeface="Consolas" pitchFamily="49" charset="0"/>
              </a:rPr>
              <a:t> check --pre</a:t>
            </a:r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19200" y="3390900"/>
            <a:ext cx="6796088" cy="2628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Install </a:t>
            </a:r>
            <a:r>
              <a:rPr lang="en-US" dirty="0" err="1" smtClean="0"/>
              <a:t>Linkerd</a:t>
            </a:r>
            <a:r>
              <a:rPr lang="en-US" dirty="0" smtClean="0"/>
              <a:t> via the CLI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latin typeface="+mj-lt"/>
              </a:rPr>
              <a:t># </a:t>
            </a:r>
            <a:r>
              <a:rPr lang="en-US" sz="2400" dirty="0" err="1" smtClean="0">
                <a:latin typeface="+mj-lt"/>
              </a:rPr>
              <a:t>linkerd</a:t>
            </a:r>
            <a:r>
              <a:rPr lang="en-US" sz="2400" dirty="0" smtClean="0">
                <a:latin typeface="+mj-lt"/>
              </a:rPr>
              <a:t> install will silently create certificates for you.</a:t>
            </a:r>
          </a:p>
          <a:p>
            <a:r>
              <a:rPr lang="en-US" sz="2400" dirty="0" smtClean="0">
                <a:latin typeface="+mj-lt"/>
              </a:rPr>
              <a:t># This is OK for a demo, but </a:t>
            </a:r>
            <a:r>
              <a:rPr lang="en-US" sz="2400" i="1" dirty="0" smtClean="0">
                <a:latin typeface="+mj-lt"/>
              </a:rPr>
              <a:t>not </a:t>
            </a:r>
            <a:r>
              <a:rPr lang="en-US" sz="2400" dirty="0" smtClean="0">
                <a:latin typeface="+mj-lt"/>
              </a:rPr>
              <a:t>for production.</a:t>
            </a:r>
          </a:p>
          <a:p>
            <a:r>
              <a:rPr lang="en-US" sz="2200" dirty="0" err="1" smtClean="0">
                <a:latin typeface="Consolas" pitchFamily="49" charset="0"/>
              </a:rPr>
              <a:t>linkerd</a:t>
            </a:r>
            <a:r>
              <a:rPr lang="en-US" sz="2200" dirty="0" smtClean="0">
                <a:latin typeface="Consolas" pitchFamily="49" charset="0"/>
              </a:rPr>
              <a:t> install --</a:t>
            </a:r>
            <a:r>
              <a:rPr lang="en-US" sz="2200" dirty="0" err="1" smtClean="0">
                <a:latin typeface="Consolas" pitchFamily="49" charset="0"/>
              </a:rPr>
              <a:t>crds</a:t>
            </a:r>
            <a:r>
              <a:rPr lang="en-US" sz="2200" dirty="0" smtClean="0">
                <a:latin typeface="Consolas" pitchFamily="49" charset="0"/>
              </a:rPr>
              <a:t> | </a:t>
            </a:r>
            <a:r>
              <a:rPr lang="en-US" sz="2200" dirty="0" err="1" smtClean="0">
                <a:latin typeface="Consolas" pitchFamily="49" charset="0"/>
              </a:rPr>
              <a:t>kubectl</a:t>
            </a:r>
            <a:r>
              <a:rPr lang="en-US" sz="2200" dirty="0" smtClean="0">
                <a:latin typeface="Consolas" pitchFamily="49" charset="0"/>
              </a:rPr>
              <a:t> apply -f -</a:t>
            </a:r>
          </a:p>
          <a:p>
            <a:r>
              <a:rPr lang="en-US" sz="2200" dirty="0" err="1" smtClean="0">
                <a:latin typeface="Consolas" pitchFamily="49" charset="0"/>
              </a:rPr>
              <a:t>linkerd</a:t>
            </a:r>
            <a:r>
              <a:rPr lang="en-US" sz="2200" dirty="0" smtClean="0">
                <a:latin typeface="Consolas" pitchFamily="49" charset="0"/>
              </a:rPr>
              <a:t> install | </a:t>
            </a:r>
            <a:r>
              <a:rPr lang="en-US" sz="2200" dirty="0" err="1" smtClean="0">
                <a:latin typeface="Consolas" pitchFamily="49" charset="0"/>
              </a:rPr>
              <a:t>kubectl</a:t>
            </a:r>
            <a:r>
              <a:rPr lang="en-US" sz="2200" dirty="0" smtClean="0">
                <a:latin typeface="Consolas" pitchFamily="49" charset="0"/>
              </a:rPr>
              <a:t> apply -f -</a:t>
            </a:r>
          </a:p>
          <a:p>
            <a:r>
              <a:rPr lang="en-US" sz="2200" dirty="0" err="1" smtClean="0">
                <a:latin typeface="Consolas" pitchFamily="49" charset="0"/>
              </a:rPr>
              <a:t>linkerd</a:t>
            </a:r>
            <a:r>
              <a:rPr lang="en-US" sz="2200" dirty="0" smtClean="0">
                <a:latin typeface="Consolas" pitchFamily="49" charset="0"/>
              </a:rPr>
              <a:t> check</a:t>
            </a:r>
          </a:p>
        </p:txBody>
      </p:sp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35238" y="4057650"/>
            <a:ext cx="4073525" cy="1885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Install </a:t>
            </a:r>
            <a:r>
              <a:rPr lang="en-US" dirty="0" err="1" smtClean="0"/>
              <a:t>Linkerd</a:t>
            </a:r>
            <a:r>
              <a:rPr lang="en-US" dirty="0" smtClean="0"/>
              <a:t> </a:t>
            </a:r>
            <a:r>
              <a:rPr lang="en-US" dirty="0" err="1" smtClean="0"/>
              <a:t>Viz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err="1" smtClean="0">
                <a:latin typeface="Consolas" pitchFamily="49" charset="0"/>
              </a:rPr>
              <a:t>linkerd</a:t>
            </a:r>
            <a:r>
              <a:rPr lang="en-US" sz="2400" dirty="0" smtClean="0">
                <a:latin typeface="Consolas" pitchFamily="49" charset="0"/>
              </a:rPr>
              <a:t> </a:t>
            </a:r>
            <a:r>
              <a:rPr lang="en-US" sz="2400" dirty="0" err="1" smtClean="0">
                <a:latin typeface="Consolas" pitchFamily="49" charset="0"/>
              </a:rPr>
              <a:t>viz</a:t>
            </a:r>
            <a:r>
              <a:rPr lang="en-US" sz="2400" dirty="0" smtClean="0">
                <a:latin typeface="Consolas" pitchFamily="49" charset="0"/>
              </a:rPr>
              <a:t> install | </a:t>
            </a:r>
            <a:r>
              <a:rPr lang="en-US" sz="2400" dirty="0" err="1" smtClean="0">
                <a:latin typeface="Consolas" pitchFamily="49" charset="0"/>
              </a:rPr>
              <a:t>kubectl</a:t>
            </a:r>
            <a:r>
              <a:rPr lang="en-US" sz="2400" dirty="0" smtClean="0">
                <a:latin typeface="Consolas" pitchFamily="49" charset="0"/>
              </a:rPr>
              <a:t> apply -f -</a:t>
            </a:r>
          </a:p>
          <a:p>
            <a:r>
              <a:rPr lang="en-US" sz="2400" dirty="0" err="1" smtClean="0">
                <a:latin typeface="Consolas" pitchFamily="49" charset="0"/>
              </a:rPr>
              <a:t>linkerd</a:t>
            </a:r>
            <a:r>
              <a:rPr lang="en-US" sz="2400" dirty="0" smtClean="0">
                <a:latin typeface="Consolas" pitchFamily="49" charset="0"/>
              </a:rPr>
              <a:t> check</a:t>
            </a:r>
          </a:p>
          <a:p>
            <a:endParaRPr lang="en-US" sz="2200" dirty="0" smtClean="0">
              <a:latin typeface="Consolas" pitchFamily="49" charset="0"/>
            </a:endParaRPr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63738" y="3295650"/>
            <a:ext cx="5216525" cy="1885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Open </a:t>
            </a:r>
            <a:r>
              <a:rPr lang="en-US" dirty="0" err="1" smtClean="0"/>
              <a:t>Linkerd</a:t>
            </a:r>
            <a:r>
              <a:rPr lang="en-US" dirty="0" smtClean="0"/>
              <a:t> </a:t>
            </a:r>
            <a:r>
              <a:rPr lang="en-US" dirty="0" err="1" smtClean="0"/>
              <a:t>Viz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err="1" smtClean="0">
                <a:latin typeface="Consolas" pitchFamily="49" charset="0"/>
              </a:rPr>
              <a:t>linkerd</a:t>
            </a:r>
            <a:r>
              <a:rPr lang="en-US" sz="2400" dirty="0" smtClean="0">
                <a:latin typeface="Consolas" pitchFamily="49" charset="0"/>
              </a:rPr>
              <a:t> </a:t>
            </a:r>
            <a:r>
              <a:rPr lang="en-US" sz="2400" dirty="0" err="1" smtClean="0">
                <a:latin typeface="Consolas" pitchFamily="49" charset="0"/>
              </a:rPr>
              <a:t>viz</a:t>
            </a:r>
            <a:r>
              <a:rPr lang="en-US" sz="2400" dirty="0" smtClean="0">
                <a:latin typeface="Consolas" pitchFamily="49" charset="0"/>
              </a:rPr>
              <a:t> dashboard</a:t>
            </a:r>
          </a:p>
          <a:p>
            <a:endParaRPr lang="en-US" sz="2200" dirty="0" smtClean="0">
              <a:latin typeface="Consolas" pitchFamily="49" charset="0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24000" y="2819400"/>
            <a:ext cx="6338888" cy="2028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Uninstall </a:t>
            </a:r>
            <a:r>
              <a:rPr lang="en-US" dirty="0" err="1" smtClean="0"/>
              <a:t>Linkerd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latin typeface="Consolas" pitchFamily="49" charset="0"/>
                <a:hlinkClick r:id="rId2"/>
              </a:rPr>
              <a:t>https://linkerd.io/2-edge/tasks/uninstall/</a:t>
            </a:r>
            <a:endParaRPr lang="en-US" sz="2200" dirty="0" smtClean="0">
              <a:latin typeface="Consolas" pitchFamily="49" charset="0"/>
            </a:endParaRPr>
          </a:p>
          <a:p>
            <a:r>
              <a:rPr lang="en-US" sz="2200" dirty="0" err="1" smtClean="0">
                <a:latin typeface="Consolas" pitchFamily="49" charset="0"/>
              </a:rPr>
              <a:t>linkerd</a:t>
            </a:r>
            <a:r>
              <a:rPr lang="en-US" sz="2200" dirty="0" smtClean="0">
                <a:latin typeface="Consolas" pitchFamily="49" charset="0"/>
              </a:rPr>
              <a:t> </a:t>
            </a:r>
            <a:r>
              <a:rPr lang="en-US" sz="2200" dirty="0" err="1" smtClean="0">
                <a:latin typeface="Consolas" pitchFamily="49" charset="0"/>
              </a:rPr>
              <a:t>viz</a:t>
            </a:r>
            <a:r>
              <a:rPr lang="en-US" sz="2200" dirty="0" smtClean="0">
                <a:latin typeface="Consolas" pitchFamily="49" charset="0"/>
              </a:rPr>
              <a:t> uninstall | </a:t>
            </a:r>
            <a:r>
              <a:rPr lang="en-US" sz="2200" dirty="0" err="1" smtClean="0">
                <a:latin typeface="Consolas" pitchFamily="49" charset="0"/>
              </a:rPr>
              <a:t>kubectl</a:t>
            </a:r>
            <a:r>
              <a:rPr lang="en-US" sz="2200" dirty="0" smtClean="0">
                <a:latin typeface="Consolas" pitchFamily="49" charset="0"/>
              </a:rPr>
              <a:t> delete -f -</a:t>
            </a:r>
          </a:p>
          <a:p>
            <a:r>
              <a:rPr lang="en-US" sz="2200" dirty="0" err="1" smtClean="0">
                <a:latin typeface="Consolas" pitchFamily="49" charset="0"/>
              </a:rPr>
              <a:t>linkerd</a:t>
            </a:r>
            <a:r>
              <a:rPr lang="en-US" sz="2200" dirty="0" smtClean="0">
                <a:latin typeface="Consolas" pitchFamily="49" charset="0"/>
              </a:rPr>
              <a:t> uninstall | </a:t>
            </a:r>
            <a:r>
              <a:rPr lang="en-US" sz="2200" dirty="0" err="1" smtClean="0">
                <a:latin typeface="Consolas" pitchFamily="49" charset="0"/>
              </a:rPr>
              <a:t>kubectl</a:t>
            </a:r>
            <a:r>
              <a:rPr lang="en-US" sz="2200" dirty="0" smtClean="0">
                <a:latin typeface="Consolas" pitchFamily="49" charset="0"/>
              </a:rPr>
              <a:t> delete -f -</a:t>
            </a:r>
          </a:p>
          <a:p>
            <a:r>
              <a:rPr lang="en-US" sz="2200" dirty="0" smtClean="0">
                <a:latin typeface="Consolas" pitchFamily="49" charset="0"/>
              </a:rPr>
              <a:t>#  delete cluster.</a:t>
            </a:r>
          </a:p>
          <a:p>
            <a:r>
              <a:rPr lang="en-US" sz="2200" dirty="0" smtClean="0">
                <a:latin typeface="Consolas" pitchFamily="49" charset="0"/>
              </a:rPr>
              <a:t>k3d cluster delete </a:t>
            </a:r>
            <a:r>
              <a:rPr lang="en-US" sz="2200" dirty="0" err="1" smtClean="0">
                <a:latin typeface="Consolas" pitchFamily="49" charset="0"/>
              </a:rPr>
              <a:t>linkerd</a:t>
            </a:r>
            <a:endParaRPr lang="en-US" sz="2200" dirty="0" smtClean="0">
              <a:latin typeface="Consolas" pitchFamily="49" charset="0"/>
            </a:endParaRPr>
          </a:p>
          <a:p>
            <a:endParaRPr lang="en-US" sz="2200" dirty="0" smtClean="0">
              <a:latin typeface="Consolas" pitchFamily="49" charset="0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Opaque and Skip Ports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Opaque ports and skip ports are </a:t>
            </a:r>
            <a:r>
              <a:rPr lang="en-US" sz="2400" dirty="0" err="1" smtClean="0"/>
              <a:t>Linkerd</a:t>
            </a:r>
            <a:r>
              <a:rPr lang="en-US" sz="2400" dirty="0" smtClean="0"/>
              <a:t> names for ports to which special rules are applied.</a:t>
            </a:r>
          </a:p>
          <a:p>
            <a:r>
              <a:rPr lang="en-US" sz="2400" dirty="0" smtClean="0"/>
              <a:t>An </a:t>
            </a:r>
            <a:r>
              <a:rPr lang="en-US" sz="2400" i="1" dirty="0" smtClean="0">
                <a:solidFill>
                  <a:srgbClr val="C00000"/>
                </a:solidFill>
              </a:rPr>
              <a:t>opaque port</a:t>
            </a:r>
            <a:r>
              <a:rPr lang="en-US" sz="2400" dirty="0" smtClean="0"/>
              <a:t> in </a:t>
            </a:r>
            <a:r>
              <a:rPr lang="en-US" sz="2400" dirty="0" err="1" smtClean="0"/>
              <a:t>Linkerd</a:t>
            </a:r>
            <a:r>
              <a:rPr lang="en-US" sz="2400" dirty="0" smtClean="0"/>
              <a:t> is a port that should be treated as a generic TCP connection. </a:t>
            </a:r>
            <a:r>
              <a:rPr lang="en-US" sz="2400" dirty="0" err="1" smtClean="0"/>
              <a:t>Linkerd</a:t>
            </a:r>
            <a:r>
              <a:rPr lang="en-US" sz="2400" dirty="0" smtClean="0"/>
              <a:t> will still use </a:t>
            </a:r>
            <a:r>
              <a:rPr lang="en-US" sz="2400" dirty="0" err="1" smtClean="0"/>
              <a:t>mTLS</a:t>
            </a:r>
            <a:r>
              <a:rPr lang="en-US" sz="2400" dirty="0" smtClean="0"/>
              <a:t> on opaque traffic.</a:t>
            </a:r>
          </a:p>
          <a:p>
            <a:r>
              <a:rPr lang="en-US" sz="2400" dirty="0" smtClean="0"/>
              <a:t>A </a:t>
            </a:r>
            <a:r>
              <a:rPr lang="en-US" sz="2400" i="1" dirty="0" smtClean="0">
                <a:solidFill>
                  <a:srgbClr val="C00000"/>
                </a:solidFill>
              </a:rPr>
              <a:t>skip port</a:t>
            </a:r>
            <a:r>
              <a:rPr lang="en-US" sz="2400" dirty="0" smtClean="0"/>
              <a:t> is one that you instruct </a:t>
            </a:r>
            <a:r>
              <a:rPr lang="en-US" sz="2400" dirty="0" err="1" smtClean="0"/>
              <a:t>Linkerd</a:t>
            </a:r>
            <a:r>
              <a:rPr lang="en-US" sz="2400" dirty="0" smtClean="0"/>
              <a:t> to completely ignore.</a:t>
            </a:r>
            <a:endParaRPr lang="en-US" sz="2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Mutual TLS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3962400" cy="4525963"/>
          </a:xfrm>
        </p:spPr>
        <p:txBody>
          <a:bodyPr/>
          <a:lstStyle/>
          <a:p>
            <a:r>
              <a:rPr lang="en-US" sz="2400" dirty="0" err="1" smtClean="0"/>
              <a:t>mTLS</a:t>
            </a:r>
            <a:endParaRPr lang="en-US" sz="2400" dirty="0" smtClean="0"/>
          </a:p>
          <a:p>
            <a:pPr lvl="1"/>
            <a:r>
              <a:rPr lang="en-US" sz="2000" dirty="0" smtClean="0"/>
              <a:t>Authenticate both ends of the connection.</a:t>
            </a:r>
          </a:p>
          <a:p>
            <a:pPr lvl="1"/>
            <a:r>
              <a:rPr lang="en-US" sz="2000" dirty="0" smtClean="0"/>
              <a:t>Require both ends to send certificates for identification.</a:t>
            </a:r>
          </a:p>
          <a:p>
            <a:r>
              <a:rPr lang="en-US" sz="2400" dirty="0" smtClean="0"/>
              <a:t>TLS: Only the receiver identifies itself.</a:t>
            </a:r>
            <a:endParaRPr lang="en-US" sz="2400" dirty="0"/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24400" y="1981200"/>
            <a:ext cx="3451225" cy="3708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Workloads</a:t>
            </a:r>
            <a:endParaRPr lang="en-US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76400" y="2133600"/>
            <a:ext cx="5891213" cy="3762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Adding a workload to the mesh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Adding the </a:t>
            </a:r>
            <a:r>
              <a:rPr lang="en-US" sz="2400" dirty="0" err="1" smtClean="0"/>
              <a:t>Linkerd</a:t>
            </a:r>
            <a:r>
              <a:rPr lang="en-US" sz="2400" dirty="0" smtClean="0"/>
              <a:t> sidecar to each of your workload’s Pods.</a:t>
            </a:r>
            <a:endParaRPr lang="en-US" sz="2400" dirty="0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00200" y="2590800"/>
            <a:ext cx="5843588" cy="34575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proxy injector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err="1" smtClean="0"/>
              <a:t>Linkerd</a:t>
            </a:r>
            <a:r>
              <a:rPr lang="en-US" sz="2000" dirty="0" smtClean="0"/>
              <a:t> includes a </a:t>
            </a:r>
            <a:r>
              <a:rPr lang="en-US" sz="2000" dirty="0" err="1" smtClean="0"/>
              <a:t>Kubernetes</a:t>
            </a:r>
            <a:r>
              <a:rPr lang="en-US" sz="2000" dirty="0" smtClean="0"/>
              <a:t> admission controller called the </a:t>
            </a:r>
            <a:r>
              <a:rPr lang="en-US" sz="2000" dirty="0" err="1" smtClean="0"/>
              <a:t>linkerd</a:t>
            </a:r>
            <a:r>
              <a:rPr lang="en-US" sz="2000" dirty="0" smtClean="0"/>
              <a:t>-proxy-injector.</a:t>
            </a:r>
          </a:p>
          <a:p>
            <a:r>
              <a:rPr lang="en-US" sz="2000" dirty="0" smtClean="0"/>
              <a:t>Its job, unsurprisingly, is to inject </a:t>
            </a:r>
            <a:r>
              <a:rPr lang="en-US" sz="2000" dirty="0" err="1" smtClean="0"/>
              <a:t>Linkerd</a:t>
            </a:r>
            <a:r>
              <a:rPr lang="en-US" sz="2000" dirty="0" smtClean="0"/>
              <a:t> proxies into workload Pods.</a:t>
            </a:r>
          </a:p>
          <a:p>
            <a:r>
              <a:rPr lang="en-US" sz="2000" dirty="0" smtClean="0"/>
              <a:t>Of course, it doesn’t do this blindly; instead, it looks for </a:t>
            </a:r>
            <a:r>
              <a:rPr lang="en-US" sz="2000" dirty="0" err="1" smtClean="0"/>
              <a:t>Kubernetes</a:t>
            </a:r>
            <a:r>
              <a:rPr lang="en-US" sz="2000" dirty="0" smtClean="0"/>
              <a:t> annotations that tell it which Pods need to be injected.</a:t>
            </a:r>
            <a:endParaRPr lang="en-US" sz="2000" dirty="0"/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78100" y="3733800"/>
            <a:ext cx="3987800" cy="2133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Install the demo app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# Install </a:t>
            </a:r>
            <a:r>
              <a:rPr lang="en-US" sz="2400" dirty="0" err="1" smtClean="0"/>
              <a:t>Emojivoto</a:t>
            </a:r>
            <a:r>
              <a:rPr lang="en-US" sz="2400" dirty="0" smtClean="0"/>
              <a:t> into the </a:t>
            </a:r>
            <a:r>
              <a:rPr lang="en-US" sz="2400" dirty="0" err="1" smtClean="0"/>
              <a:t>emojivoto</a:t>
            </a:r>
            <a:r>
              <a:rPr lang="en-US" sz="2400" dirty="0" smtClean="0"/>
              <a:t> namespace:</a:t>
            </a:r>
          </a:p>
          <a:p>
            <a:r>
              <a:rPr lang="en-US" sz="2400" dirty="0" smtClean="0">
                <a:latin typeface="Consolas" pitchFamily="49" charset="0"/>
              </a:rPr>
              <a:t>curl --proto '=https' --tlsv1.2 -</a:t>
            </a:r>
            <a:r>
              <a:rPr lang="en-US" sz="2400" dirty="0" err="1" smtClean="0">
                <a:latin typeface="Consolas" pitchFamily="49" charset="0"/>
              </a:rPr>
              <a:t>sSfL</a:t>
            </a:r>
            <a:r>
              <a:rPr lang="en-US" sz="2400" dirty="0" smtClean="0">
                <a:latin typeface="Consolas" pitchFamily="49" charset="0"/>
              </a:rPr>
              <a:t> https://run.linkerd.io/emojivoto.yml | </a:t>
            </a:r>
            <a:r>
              <a:rPr lang="en-US" sz="2400" dirty="0" err="1" smtClean="0">
                <a:latin typeface="Consolas" pitchFamily="49" charset="0"/>
              </a:rPr>
              <a:t>kubectl</a:t>
            </a:r>
            <a:r>
              <a:rPr lang="en-US" sz="2400" dirty="0" smtClean="0">
                <a:latin typeface="Consolas" pitchFamily="49" charset="0"/>
              </a:rPr>
              <a:t> apply -f -</a:t>
            </a:r>
          </a:p>
          <a:p>
            <a:r>
              <a:rPr lang="en-US" sz="2400" dirty="0" err="1" smtClean="0">
                <a:latin typeface="Consolas" pitchFamily="49" charset="0"/>
              </a:rPr>
              <a:t>kubectl</a:t>
            </a:r>
            <a:r>
              <a:rPr lang="en-US" sz="2400" dirty="0" smtClean="0">
                <a:latin typeface="Consolas" pitchFamily="49" charset="0"/>
              </a:rPr>
              <a:t> -n </a:t>
            </a:r>
            <a:r>
              <a:rPr lang="en-US" sz="2400" dirty="0" err="1" smtClean="0">
                <a:latin typeface="Consolas" pitchFamily="49" charset="0"/>
              </a:rPr>
              <a:t>emojivoto</a:t>
            </a:r>
            <a:r>
              <a:rPr lang="en-US" sz="2400" dirty="0" smtClean="0">
                <a:latin typeface="Consolas" pitchFamily="49" charset="0"/>
              </a:rPr>
              <a:t> port-forward svc/web-svc 8080:80</a:t>
            </a:r>
          </a:p>
          <a:p>
            <a:r>
              <a:rPr lang="en-US" sz="2400" dirty="0" smtClean="0"/>
              <a:t># Now visit </a:t>
            </a:r>
            <a:r>
              <a:rPr lang="en-US" sz="2400" dirty="0" smtClean="0">
                <a:hlinkClick r:id="rId2"/>
              </a:rPr>
              <a:t>http://localhost:8080</a:t>
            </a:r>
            <a:endParaRPr lang="en-US" sz="2400" dirty="0" smtClean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Add </a:t>
            </a:r>
            <a:r>
              <a:rPr lang="en-US" dirty="0" err="1" smtClean="0"/>
              <a:t>Linkerd’s</a:t>
            </a:r>
            <a:r>
              <a:rPr lang="en-US" dirty="0" smtClean="0"/>
              <a:t> data plane proxies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# This command retrieves all of the deployments running in the </a:t>
            </a:r>
            <a:r>
              <a:rPr lang="en-US" sz="2000" dirty="0" err="1" smtClean="0"/>
              <a:t>emojivoto</a:t>
            </a:r>
            <a:r>
              <a:rPr lang="en-US" sz="2000" dirty="0" smtClean="0"/>
              <a:t> namespace, runs their manifests through </a:t>
            </a:r>
            <a:r>
              <a:rPr lang="en-US" sz="2000" dirty="0" err="1" smtClean="0"/>
              <a:t>linkerd</a:t>
            </a:r>
            <a:r>
              <a:rPr lang="en-US" sz="2000" dirty="0" smtClean="0"/>
              <a:t> inject, and then reapplies it to the cluster.</a:t>
            </a:r>
          </a:p>
          <a:p>
            <a:r>
              <a:rPr lang="en-US" sz="2000" b="1" dirty="0" err="1" smtClean="0">
                <a:latin typeface="Consolas" pitchFamily="49" charset="0"/>
              </a:rPr>
              <a:t>kubectl</a:t>
            </a:r>
            <a:r>
              <a:rPr lang="en-US" sz="2000" b="1" dirty="0" smtClean="0">
                <a:latin typeface="Consolas" pitchFamily="49" charset="0"/>
              </a:rPr>
              <a:t> get -n </a:t>
            </a:r>
            <a:r>
              <a:rPr lang="en-US" sz="2000" b="1" dirty="0" err="1" smtClean="0">
                <a:latin typeface="Consolas" pitchFamily="49" charset="0"/>
              </a:rPr>
              <a:t>emojivoto</a:t>
            </a:r>
            <a:r>
              <a:rPr lang="en-US" sz="2000" b="1" dirty="0" smtClean="0">
                <a:latin typeface="Consolas" pitchFamily="49" charset="0"/>
              </a:rPr>
              <a:t> deploy -o </a:t>
            </a:r>
            <a:r>
              <a:rPr lang="en-US" sz="2000" b="1" dirty="0" err="1" smtClean="0">
                <a:latin typeface="Consolas" pitchFamily="49" charset="0"/>
              </a:rPr>
              <a:t>yaml</a:t>
            </a:r>
            <a:r>
              <a:rPr lang="en-US" sz="2000" b="1" dirty="0" smtClean="0">
                <a:latin typeface="Consolas" pitchFamily="49" charset="0"/>
              </a:rPr>
              <a:t>  | </a:t>
            </a:r>
            <a:r>
              <a:rPr lang="en-US" sz="2000" b="1" dirty="0" err="1" smtClean="0">
                <a:latin typeface="Consolas" pitchFamily="49" charset="0"/>
              </a:rPr>
              <a:t>linkerd</a:t>
            </a:r>
            <a:r>
              <a:rPr lang="en-US" sz="2000" b="1" dirty="0" smtClean="0">
                <a:latin typeface="Consolas" pitchFamily="49" charset="0"/>
              </a:rPr>
              <a:t> inject -  | </a:t>
            </a:r>
            <a:r>
              <a:rPr lang="en-US" sz="2000" b="1" dirty="0" err="1" smtClean="0">
                <a:latin typeface="Consolas" pitchFamily="49" charset="0"/>
              </a:rPr>
              <a:t>kubectl</a:t>
            </a:r>
            <a:r>
              <a:rPr lang="en-US" sz="2000" b="1" dirty="0" smtClean="0">
                <a:latin typeface="Consolas" pitchFamily="49" charset="0"/>
              </a:rPr>
              <a:t> apply -f -</a:t>
            </a:r>
          </a:p>
          <a:p>
            <a:r>
              <a:rPr lang="en-US" sz="2000" b="1" dirty="0" err="1" smtClean="0">
                <a:latin typeface="Consolas" pitchFamily="49" charset="0"/>
              </a:rPr>
              <a:t>linkerd</a:t>
            </a:r>
            <a:r>
              <a:rPr lang="en-US" sz="2000" b="1" dirty="0" smtClean="0">
                <a:latin typeface="Consolas" pitchFamily="49" charset="0"/>
              </a:rPr>
              <a:t> -n </a:t>
            </a:r>
            <a:r>
              <a:rPr lang="en-US" sz="2000" b="1" dirty="0" err="1" smtClean="0">
                <a:latin typeface="Consolas" pitchFamily="49" charset="0"/>
              </a:rPr>
              <a:t>emojivoto</a:t>
            </a:r>
            <a:r>
              <a:rPr lang="en-US" sz="2000" b="1" dirty="0" smtClean="0">
                <a:latin typeface="Consolas" pitchFamily="49" charset="0"/>
              </a:rPr>
              <a:t> check --proxy</a:t>
            </a:r>
          </a:p>
          <a:p>
            <a:r>
              <a:rPr lang="en-US" sz="2000" b="1" dirty="0" err="1" smtClean="0">
                <a:latin typeface="Consolas" pitchFamily="49" charset="0"/>
              </a:rPr>
              <a:t>kubectl</a:t>
            </a:r>
            <a:r>
              <a:rPr lang="en-US" sz="2000" b="1" dirty="0" smtClean="0">
                <a:latin typeface="Consolas" pitchFamily="49" charset="0"/>
              </a:rPr>
              <a:t> -n </a:t>
            </a:r>
            <a:r>
              <a:rPr lang="en-US" sz="2000" b="1" dirty="0" err="1" smtClean="0">
                <a:latin typeface="Consolas" pitchFamily="49" charset="0"/>
              </a:rPr>
              <a:t>emojivoto</a:t>
            </a:r>
            <a:r>
              <a:rPr lang="en-US" sz="2000" b="1" dirty="0" smtClean="0">
                <a:latin typeface="Consolas" pitchFamily="49" charset="0"/>
              </a:rPr>
              <a:t> port-forward svc/web-svc 8080:80</a:t>
            </a:r>
            <a:endParaRPr lang="en-US" sz="2000" b="1" dirty="0">
              <a:latin typeface="Consolas" pitchFamily="49" charset="0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Explore </a:t>
            </a:r>
            <a:r>
              <a:rPr lang="en-US" dirty="0" err="1" smtClean="0"/>
              <a:t>Linkerd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err="1" smtClean="0">
                <a:latin typeface="Consolas" pitchFamily="49" charset="0"/>
              </a:rPr>
              <a:t>linkerd</a:t>
            </a:r>
            <a:r>
              <a:rPr lang="en-US" sz="2400" dirty="0" smtClean="0">
                <a:latin typeface="Consolas" pitchFamily="49" charset="0"/>
              </a:rPr>
              <a:t> </a:t>
            </a:r>
            <a:r>
              <a:rPr lang="en-US" sz="2400" dirty="0" err="1" smtClean="0">
                <a:latin typeface="Consolas" pitchFamily="49" charset="0"/>
              </a:rPr>
              <a:t>viz</a:t>
            </a:r>
            <a:r>
              <a:rPr lang="en-US" sz="2400" dirty="0" smtClean="0">
                <a:latin typeface="Consolas" pitchFamily="49" charset="0"/>
              </a:rPr>
              <a:t> dashboard &amp;</a:t>
            </a:r>
          </a:p>
          <a:p>
            <a:r>
              <a:rPr lang="en-US" sz="2400" dirty="0" smtClean="0">
                <a:latin typeface="+mj-lt"/>
              </a:rPr>
              <a:t># Review Namespaces &gt; </a:t>
            </a:r>
            <a:r>
              <a:rPr lang="en-US" sz="2400" dirty="0" err="1" smtClean="0">
                <a:latin typeface="+mj-lt"/>
              </a:rPr>
              <a:t>emojivoto</a:t>
            </a:r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.NET Example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https://dotnetfullstackdev.medium.com/service-mesh-with-linkerd-in-a-net-microservice-architecture-e87d3d406b06</a:t>
            </a:r>
            <a:endParaRPr lang="en-US" sz="2400" dirty="0" smtClean="0"/>
          </a:p>
          <a:p>
            <a:endParaRPr lang="en-US" sz="24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 typical software stack [3]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52600" y="2590800"/>
            <a:ext cx="5981700" cy="2774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Sidecar Proxies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A </a:t>
            </a:r>
            <a:r>
              <a:rPr lang="en-US" sz="2000" i="1" dirty="0" smtClean="0">
                <a:solidFill>
                  <a:srgbClr val="C00000"/>
                </a:solidFill>
              </a:rPr>
              <a:t>proxy</a:t>
            </a:r>
            <a:r>
              <a:rPr lang="en-US" sz="2000" dirty="0" smtClean="0"/>
              <a:t> is an application that traffic is routed through on the way to its destination.</a:t>
            </a:r>
          </a:p>
          <a:p>
            <a:r>
              <a:rPr lang="en-US" sz="2000" dirty="0" smtClean="0"/>
              <a:t>Popular proxies you may have heard of are NGINX, </a:t>
            </a:r>
            <a:r>
              <a:rPr lang="en-US" sz="2000" dirty="0" err="1" smtClean="0"/>
              <a:t>HAProxy</a:t>
            </a:r>
            <a:r>
              <a:rPr lang="en-US" sz="2000" dirty="0" smtClean="0"/>
              <a:t>, and Envoy.</a:t>
            </a:r>
          </a:p>
          <a:p>
            <a:r>
              <a:rPr lang="en-US" sz="2000" dirty="0" smtClean="0"/>
              <a:t>In most service meshes, all service traffic (inbound and outbound) is routed through a local proxy dedicated to each service instance.</a:t>
            </a:r>
          </a:p>
          <a:p>
            <a:r>
              <a:rPr lang="en-US" sz="2000" dirty="0" smtClean="0"/>
              <a:t>Each instance of a service must be deployed with its own local proxy.</a:t>
            </a:r>
          </a:p>
          <a:p>
            <a:r>
              <a:rPr lang="en-US" sz="2000" dirty="0" smtClean="0"/>
              <a:t>The pattern of deploying a helper application—in this case a proxy—alongside the main service is known as the sidecar pattern, and so local proxies are referred to as </a:t>
            </a:r>
            <a:r>
              <a:rPr lang="en-US" sz="2000" i="1" dirty="0" smtClean="0">
                <a:solidFill>
                  <a:srgbClr val="C00000"/>
                </a:solidFill>
              </a:rPr>
              <a:t>sidecar proxies</a:t>
            </a:r>
            <a:r>
              <a:rPr lang="en-US" sz="2000" dirty="0" smtClean="0"/>
              <a:t>.</a:t>
            </a:r>
            <a:endParaRPr lang="en-US" sz="200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828800" y="4953000"/>
            <a:ext cx="5905500" cy="5381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Control Plane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The control plane’s job is to manage and configure the sidecar proxies.</a:t>
            </a:r>
          </a:p>
          <a:p>
            <a:r>
              <a:rPr lang="en-US" sz="2000" dirty="0" smtClean="0"/>
              <a:t>The control plane is where most of the complex logic of the service mesh lives: it must watch for services starting and stopping, sign and distribute certificates, reconfigure proxies, etc.</a:t>
            </a:r>
          </a:p>
          <a:p>
            <a:r>
              <a:rPr lang="en-US" sz="2000" dirty="0" smtClean="0"/>
              <a:t>The sidecar proxies themselves are relatively simple: they receive configuration from the control plane detailing which actions to perform on traffic, and they perform those actions.</a:t>
            </a:r>
            <a:endParaRPr lang="en-US" sz="2000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24025" y="4419600"/>
            <a:ext cx="5743575" cy="1604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How a Service Mesh Works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85800" y="2133600"/>
            <a:ext cx="7874000" cy="36195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Use a Service Mesh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 service mesh provides features in four areas: security, </a:t>
            </a:r>
            <a:r>
              <a:rPr lang="en-US" sz="2400" dirty="0" err="1" smtClean="0"/>
              <a:t>observability</a:t>
            </a:r>
            <a:r>
              <a:rPr lang="en-US" sz="2400" dirty="0" smtClean="0"/>
              <a:t>, reliability, and traffic control.</a:t>
            </a:r>
          </a:p>
          <a:p>
            <a:r>
              <a:rPr lang="en-US" sz="2400" dirty="0" smtClean="0"/>
              <a:t>The fundamental value proposition of a service mesh is the ability to provide these features across every service and workload </a:t>
            </a:r>
            <a:r>
              <a:rPr lang="en-US" sz="2400" i="1" dirty="0" smtClean="0">
                <a:solidFill>
                  <a:srgbClr val="C00000"/>
                </a:solidFill>
              </a:rPr>
              <a:t>without modifying service code</a:t>
            </a:r>
            <a:r>
              <a:rPr lang="en-US" sz="2400" dirty="0" smtClean="0"/>
              <a:t>.</a:t>
            </a:r>
            <a:endParaRPr lang="en-US" sz="24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Consul Architecture</a:t>
            </a:r>
            <a:endParaRPr lang="en-US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67000" y="1828800"/>
            <a:ext cx="4414838" cy="40433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The backend service is registered with its IP address—for example, 1.2.3.4— onto the Consul client on that node.</a:t>
            </a:r>
            <a:endParaRPr lang="en-US" sz="240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A new service being started on a node</a:t>
            </a:r>
            <a:endParaRPr lang="en-US" dirty="0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43000" y="3429000"/>
            <a:ext cx="6872288" cy="24717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The Consul client configures the proxy and keeps the connection open for future reconfiguration.</a:t>
            </a:r>
            <a:endParaRPr lang="en-US" sz="240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Consul client configuring the backend proxy</a:t>
            </a:r>
            <a:endParaRPr lang="en-US" dirty="0"/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4600" y="3276600"/>
            <a:ext cx="4024313" cy="284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Frontend service is configured to talk to the backend service, but it doesn’t yet know which address to use.</a:t>
            </a:r>
            <a:endParaRPr lang="en-US" sz="240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Frontend service is configured to talk to the backend service</a:t>
            </a:r>
            <a:endParaRPr lang="en-US" dirty="0"/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47800" y="3352800"/>
            <a:ext cx="6448425" cy="2452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The </a:t>
            </a:r>
            <a:r>
              <a:rPr lang="en-US" sz="2400" dirty="0" err="1" smtClean="0"/>
              <a:t>frontend’s</a:t>
            </a:r>
            <a:r>
              <a:rPr lang="en-US" sz="2400" dirty="0" smtClean="0"/>
              <a:t> proxy learning the address of the backend service in order to make a request.</a:t>
            </a:r>
            <a:endParaRPr lang="en-US" sz="240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The </a:t>
            </a:r>
            <a:r>
              <a:rPr lang="en-US" dirty="0" err="1" smtClean="0"/>
              <a:t>frontend’s</a:t>
            </a:r>
            <a:r>
              <a:rPr lang="en-US" dirty="0" smtClean="0"/>
              <a:t> proxy learning the address of the backend service</a:t>
            </a:r>
            <a:endParaRPr lang="en-US" dirty="0"/>
          </a:p>
        </p:txBody>
      </p:sp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81200" y="2819400"/>
            <a:ext cx="5128260" cy="33375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Sidecar proxies capture inbound and outbound traffic and follow their configured rules to act on that traffic.</a:t>
            </a:r>
            <a:endParaRPr lang="en-US" sz="240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Sidecar proxies capture inbound and outbound traffic</a:t>
            </a:r>
            <a:endParaRPr lang="en-US" dirty="0"/>
          </a:p>
        </p:txBody>
      </p:sp>
      <p:pic>
        <p:nvPicPr>
          <p:cNvPr id="1024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436813" y="3765550"/>
            <a:ext cx="4270375" cy="1949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Consul Versus Other Meshes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There are many other service meshes in the marketplace, such as </a:t>
            </a:r>
            <a:r>
              <a:rPr lang="en-US" sz="2400" dirty="0" err="1" smtClean="0"/>
              <a:t>Istio</a:t>
            </a:r>
            <a:r>
              <a:rPr lang="en-US" sz="2400" dirty="0" smtClean="0"/>
              <a:t> and </a:t>
            </a:r>
            <a:r>
              <a:rPr lang="en-US" sz="2400" dirty="0" err="1" smtClean="0"/>
              <a:t>Linkerd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Most services meshes follow the same general architecture with a control plane that manages sidecar proxies.</a:t>
            </a:r>
          </a:p>
          <a:p>
            <a:r>
              <a:rPr lang="en-US" sz="2400" dirty="0" smtClean="0"/>
              <a:t>Consul is unique among other meshes in that its control plane can run entirely </a:t>
            </a:r>
            <a:r>
              <a:rPr lang="en-US" sz="2400" i="1" dirty="0" smtClean="0">
                <a:solidFill>
                  <a:srgbClr val="C00000"/>
                </a:solidFill>
              </a:rPr>
              <a:t>separate from </a:t>
            </a:r>
            <a:r>
              <a:rPr lang="en-US" sz="2400" i="1" dirty="0" err="1" smtClean="0">
                <a:solidFill>
                  <a:srgbClr val="C00000"/>
                </a:solidFill>
              </a:rPr>
              <a:t>Kubernetes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This means if you’re managing a VM cluster that you don’t need to also run </a:t>
            </a:r>
            <a:r>
              <a:rPr lang="en-US" sz="2400" dirty="0" err="1" smtClean="0"/>
              <a:t>Kubernetes</a:t>
            </a:r>
            <a:r>
              <a:rPr lang="en-US" sz="2400" dirty="0" smtClean="0"/>
              <a:t>.</a:t>
            </a:r>
            <a:endParaRPr lang="en-US" sz="24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</a:t>
            </a:r>
            <a:r>
              <a:rPr lang="en-US" smtClean="0"/>
              <a:t>You Again</a:t>
            </a:r>
            <a:endParaRPr lang="en-US" dirty="0" smtClean="0"/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12108</TotalTime>
  <Words>1435</Words>
  <Application>Microsoft Office PowerPoint</Application>
  <PresentationFormat>On-screen Show (4:3)</PresentationFormat>
  <Paragraphs>152</Paragraphs>
  <Slides>53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54" baseType="lpstr">
      <vt:lpstr>Office Theme</vt:lpstr>
      <vt:lpstr>Service Mesh</vt:lpstr>
      <vt:lpstr>Objectives</vt:lpstr>
      <vt:lpstr>Contents</vt:lpstr>
      <vt:lpstr>References</vt:lpstr>
      <vt:lpstr>Why? [1]</vt:lpstr>
      <vt:lpstr>Introduction to Service Mesh</vt:lpstr>
      <vt:lpstr>The Definition of Service Mesh</vt:lpstr>
      <vt:lpstr>Architectural Overview of Service Mesh</vt:lpstr>
      <vt:lpstr>Service Mesh Features</vt:lpstr>
      <vt:lpstr>Enablement Technologies</vt:lpstr>
      <vt:lpstr>Slide 11</vt:lpstr>
      <vt:lpstr>Security [2]</vt:lpstr>
      <vt:lpstr>Reliability</vt:lpstr>
      <vt:lpstr>Observability</vt:lpstr>
      <vt:lpstr>Slide 15</vt:lpstr>
      <vt:lpstr>Intro to Linkerd</vt:lpstr>
      <vt:lpstr>Linkerd Architecture</vt:lpstr>
      <vt:lpstr>The Linkerd Control Plane</vt:lpstr>
      <vt:lpstr>Linkerd Viz (Dashboard)</vt:lpstr>
      <vt:lpstr>Linkerd Multicluster (Extension)</vt:lpstr>
      <vt:lpstr>Linkerd Jaeger (Distributed Tracing)</vt:lpstr>
      <vt:lpstr>Slide 22</vt:lpstr>
      <vt:lpstr>1. Install the linkerd CLI on macOS</vt:lpstr>
      <vt:lpstr>2. Create a k3d Cluster</vt:lpstr>
      <vt:lpstr>3. Install Linkerd via the CLI</vt:lpstr>
      <vt:lpstr>4. Install Linkerd Viz</vt:lpstr>
      <vt:lpstr>5. Open Linkerd Viz</vt:lpstr>
      <vt:lpstr>6. Uninstall Linkerd</vt:lpstr>
      <vt:lpstr>Opaque and Skip Ports</vt:lpstr>
      <vt:lpstr>Mutual TLS</vt:lpstr>
      <vt:lpstr>Slide 31</vt:lpstr>
      <vt:lpstr>Workloads</vt:lpstr>
      <vt:lpstr>Adding a workload to the mesh</vt:lpstr>
      <vt:lpstr>The proxy injector</vt:lpstr>
      <vt:lpstr>1. Install the demo app</vt:lpstr>
      <vt:lpstr>2. Add Linkerd’s data plane proxies</vt:lpstr>
      <vt:lpstr>3. Explore Linkerd</vt:lpstr>
      <vt:lpstr>Slide 38</vt:lpstr>
      <vt:lpstr>.NET Example</vt:lpstr>
      <vt:lpstr>Slide 40</vt:lpstr>
      <vt:lpstr>A typical software stack [3]</vt:lpstr>
      <vt:lpstr>Sidecar Proxies</vt:lpstr>
      <vt:lpstr>Control Plane</vt:lpstr>
      <vt:lpstr>How a Service Mesh Works</vt:lpstr>
      <vt:lpstr>Why Use a Service Mesh</vt:lpstr>
      <vt:lpstr>Consul Architecture</vt:lpstr>
      <vt:lpstr>1. A new service being started on a node</vt:lpstr>
      <vt:lpstr>2. Consul client configuring the backend proxy</vt:lpstr>
      <vt:lpstr>3. Frontend service is configured to talk to the backend service</vt:lpstr>
      <vt:lpstr>4. The frontend’s proxy learning the address of the backend service</vt:lpstr>
      <vt:lpstr>5. Sidecar proxies capture inbound and outbound traffic</vt:lpstr>
      <vt:lpstr>Consul Versus Other Meshes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4096</cp:revision>
  <dcterms:created xsi:type="dcterms:W3CDTF">2007-10-06T08:25:13Z</dcterms:created>
  <dcterms:modified xsi:type="dcterms:W3CDTF">2025-12-14T18:54:43Z</dcterms:modified>
</cp:coreProperties>
</file>