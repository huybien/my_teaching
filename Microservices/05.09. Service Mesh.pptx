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5"/>
  </p:notesMasterIdLst>
  <p:sldIdLst>
    <p:sldId id="256" r:id="rId2"/>
    <p:sldId id="349" r:id="rId3"/>
    <p:sldId id="396" r:id="rId4"/>
    <p:sldId id="344" r:id="rId5"/>
    <p:sldId id="398" r:id="rId6"/>
    <p:sldId id="399" r:id="rId7"/>
    <p:sldId id="401" r:id="rId8"/>
    <p:sldId id="402" r:id="rId9"/>
    <p:sldId id="403" r:id="rId10"/>
    <p:sldId id="452" r:id="rId11"/>
    <p:sldId id="451" r:id="rId12"/>
    <p:sldId id="404" r:id="rId13"/>
    <p:sldId id="405" r:id="rId14"/>
    <p:sldId id="406" r:id="rId15"/>
    <p:sldId id="407" r:id="rId16"/>
    <p:sldId id="454" r:id="rId17"/>
    <p:sldId id="456" r:id="rId18"/>
    <p:sldId id="457" r:id="rId19"/>
    <p:sldId id="460" r:id="rId20"/>
    <p:sldId id="463" r:id="rId21"/>
    <p:sldId id="464" r:id="rId22"/>
    <p:sldId id="461" r:id="rId23"/>
    <p:sldId id="459" r:id="rId24"/>
    <p:sldId id="458" r:id="rId25"/>
    <p:sldId id="455" r:id="rId26"/>
    <p:sldId id="408" r:id="rId27"/>
    <p:sldId id="409" r:id="rId28"/>
    <p:sldId id="410" r:id="rId29"/>
    <p:sldId id="411" r:id="rId30"/>
    <p:sldId id="412" r:id="rId31"/>
    <p:sldId id="413" r:id="rId32"/>
    <p:sldId id="418" r:id="rId33"/>
    <p:sldId id="453" r:id="rId34"/>
    <p:sldId id="420" r:id="rId35"/>
    <p:sldId id="421" r:id="rId36"/>
    <p:sldId id="422" r:id="rId37"/>
    <p:sldId id="423" r:id="rId38"/>
    <p:sldId id="424" r:id="rId39"/>
    <p:sldId id="425" r:id="rId40"/>
    <p:sldId id="426" r:id="rId41"/>
    <p:sldId id="427" r:id="rId42"/>
    <p:sldId id="428" r:id="rId43"/>
    <p:sldId id="429" r:id="rId44"/>
    <p:sldId id="430" r:id="rId45"/>
    <p:sldId id="431" r:id="rId46"/>
    <p:sldId id="432" r:id="rId47"/>
    <p:sldId id="433" r:id="rId48"/>
    <p:sldId id="435" r:id="rId49"/>
    <p:sldId id="436" r:id="rId50"/>
    <p:sldId id="437" r:id="rId51"/>
    <p:sldId id="438" r:id="rId52"/>
    <p:sldId id="440" r:id="rId53"/>
    <p:sldId id="441" r:id="rId54"/>
    <p:sldId id="442" r:id="rId55"/>
    <p:sldId id="443" r:id="rId56"/>
    <p:sldId id="444" r:id="rId57"/>
    <p:sldId id="445" r:id="rId58"/>
    <p:sldId id="446" r:id="rId59"/>
    <p:sldId id="447" r:id="rId60"/>
    <p:sldId id="448" r:id="rId61"/>
    <p:sldId id="449" r:id="rId62"/>
    <p:sldId id="450" r:id="rId63"/>
    <p:sldId id="343" r:id="rId6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3" autoAdjust="0"/>
    <p:restoredTop sz="94667" autoAdjust="0"/>
  </p:normalViewPr>
  <p:slideViewPr>
    <p:cSldViewPr>
      <p:cViewPr>
        <p:scale>
          <a:sx n="50" d="100"/>
          <a:sy n="50" d="100"/>
        </p:scale>
        <p:origin x="-148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B1E61-C19C-4EB9-A84C-BFF45D303BF2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EF36E-07BF-409F-AB2B-FE2A93BEB8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istio.io/latest/docs/setup/getting-started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istio.io/latest/docs/setup/getting-started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192.168.1.45:8080/productpag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192.168.1.45:9090/query?g0.expr=sum(rate(istio_requests_total%5b5m%5d))&amp;g0.show_tree=0&amp;g0.tab=graph&amp;g0.range_input=1h&amp;g0.res_type=auto&amp;g0.res_density=medium&amp;g0.display_mode=lines&amp;g0.show_exemplars=0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linkerd.io/2.16/getting-started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erd.io/2-edge/tasks/uninstall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fullstackdev.medium.com/service-mesh-with-linkerd-in-a-net-microservice-architecture-e87d3d406b06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Service Mesh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Service Mesh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Linkerd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Wubin</a:t>
            </a:r>
            <a:r>
              <a:rPr lang="en-US" sz="2400" dirty="0" smtClean="0"/>
              <a:t> Li et al. (2019). Service Mesh - Challenges, State of the Art, and Future Research Opportunities.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Jason Morgan and Flynn (2024). </a:t>
            </a:r>
            <a:r>
              <a:rPr lang="en-US" sz="2400" dirty="0" err="1" smtClean="0"/>
              <a:t>Linkerd</a:t>
            </a:r>
            <a:r>
              <a:rPr lang="en-US" sz="2400" dirty="0" smtClean="0"/>
              <a:t> Up and Running. O'Reilly Media.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Luke </a:t>
            </a:r>
            <a:r>
              <a:rPr lang="en-US" sz="2400" dirty="0" err="1" smtClean="0"/>
              <a:t>Kysow</a:t>
            </a:r>
            <a:r>
              <a:rPr lang="en-US" sz="2400" dirty="0" smtClean="0"/>
              <a:t> (2022). Consul - Up and Running. O'Reilly Media.</a:t>
            </a:r>
            <a:endParaRPr lang="en-US" sz="24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Service Mesh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dedicated infrastructure layer</a:t>
            </a:r>
            <a:r>
              <a:rPr lang="en-US" sz="2400" dirty="0" smtClean="0"/>
              <a:t> over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without imposing modification on the service implementations.</a:t>
            </a:r>
          </a:p>
          <a:p>
            <a:r>
              <a:rPr lang="en-US" sz="2400" dirty="0" smtClean="0"/>
              <a:t>Serving as a fully manageable </a:t>
            </a:r>
            <a:r>
              <a:rPr lang="en-US" sz="2400" i="1" dirty="0" smtClean="0">
                <a:solidFill>
                  <a:srgbClr val="C00000"/>
                </a:solidFill>
              </a:rPr>
              <a:t>service-to-service communication platform</a:t>
            </a:r>
            <a:r>
              <a:rPr lang="en-US" sz="2400" dirty="0" smtClean="0"/>
              <a:t>, a service mesh is designed to </a:t>
            </a:r>
            <a:r>
              <a:rPr lang="en-US" sz="2400" u="sng" dirty="0" smtClean="0"/>
              <a:t>standardize</a:t>
            </a:r>
            <a:r>
              <a:rPr lang="en-US" sz="2400" dirty="0" smtClean="0"/>
              <a:t> the runtime operations of applications.</a:t>
            </a:r>
          </a:p>
          <a:p>
            <a:r>
              <a:rPr lang="en-US" sz="2400" dirty="0" smtClean="0"/>
              <a:t>The service mesh technologies hold the promise in addressing</a:t>
            </a:r>
          </a:p>
          <a:p>
            <a:pPr lvl="1"/>
            <a:r>
              <a:rPr lang="en-US" sz="2000" dirty="0" smtClean="0"/>
              <a:t>communication-related concerns</a:t>
            </a:r>
          </a:p>
          <a:p>
            <a:pPr lvl="1"/>
            <a:r>
              <a:rPr lang="en-US" sz="2000" dirty="0" smtClean="0"/>
              <a:t>interoperability</a:t>
            </a:r>
          </a:p>
          <a:p>
            <a:pPr lvl="1"/>
            <a:r>
              <a:rPr lang="en-US" sz="2000" dirty="0" smtClean="0"/>
              <a:t>traffic segmentation</a:t>
            </a:r>
          </a:p>
          <a:p>
            <a:pPr lvl="1"/>
            <a:r>
              <a:rPr lang="en-US" sz="2000" dirty="0" smtClean="0"/>
              <a:t>dependency control</a:t>
            </a:r>
          </a:p>
          <a:p>
            <a:pPr lvl="1"/>
            <a:r>
              <a:rPr lang="en-US" sz="2000" dirty="0" smtClean="0"/>
              <a:t>runtime enforcement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Definition of Service Mesh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service mesh</a:t>
            </a:r>
            <a:r>
              <a:rPr lang="en-US" sz="2400" dirty="0" smtClean="0"/>
              <a:t> is a </a:t>
            </a:r>
            <a:r>
              <a:rPr lang="en-US" sz="2400" u="sng" dirty="0" smtClean="0"/>
              <a:t>dedicated infrastructure layer</a:t>
            </a:r>
            <a:r>
              <a:rPr lang="en-US" sz="2400" dirty="0" smtClean="0"/>
              <a:t> for handling </a:t>
            </a:r>
            <a:r>
              <a:rPr lang="en-US" sz="2400" u="sng" dirty="0" smtClean="0"/>
              <a:t>service-to-service communication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It’s responsible for the </a:t>
            </a:r>
            <a:r>
              <a:rPr lang="en-US" sz="2400" i="1" dirty="0" smtClean="0">
                <a:solidFill>
                  <a:srgbClr val="C00000"/>
                </a:solidFill>
              </a:rPr>
              <a:t>reliable delivery of requests</a:t>
            </a:r>
            <a:r>
              <a:rPr lang="en-US" sz="2400" dirty="0" smtClean="0"/>
              <a:t> through the complex topology of services that comprise a modern, cloud native application.</a:t>
            </a:r>
          </a:p>
          <a:p>
            <a:r>
              <a:rPr lang="en-US" sz="2400" dirty="0" smtClean="0"/>
              <a:t>In practice, the service mesh is typically implemented as an array of lightweight network proxies that are </a:t>
            </a:r>
            <a:r>
              <a:rPr lang="en-US" sz="2400" i="1" dirty="0" smtClean="0">
                <a:solidFill>
                  <a:srgbClr val="C00000"/>
                </a:solidFill>
              </a:rPr>
              <a:t>deployed alongside application code</a:t>
            </a:r>
            <a:r>
              <a:rPr lang="en-US" sz="2400" dirty="0" smtClean="0"/>
              <a:t>, without the application needing to be aware.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Architectural Overview of Service Mesh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service mesh infrastructure</a:t>
            </a:r>
            <a:r>
              <a:rPr lang="en-US" sz="2000" dirty="0" smtClean="0"/>
              <a:t> logically consists of a </a:t>
            </a:r>
            <a:r>
              <a:rPr lang="en-US" sz="2000" u="sng" dirty="0" smtClean="0"/>
              <a:t>data plane</a:t>
            </a:r>
            <a:r>
              <a:rPr lang="en-US" sz="2000" dirty="0" smtClean="0"/>
              <a:t> and a </a:t>
            </a:r>
            <a:r>
              <a:rPr lang="en-US" sz="2000" u="sng" dirty="0" smtClean="0"/>
              <a:t>control plane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data plane is composed of a set of </a:t>
            </a:r>
            <a:r>
              <a:rPr lang="en-US" sz="2000" i="1" dirty="0" smtClean="0">
                <a:solidFill>
                  <a:srgbClr val="C00000"/>
                </a:solidFill>
              </a:rPr>
              <a:t>intelligent proxies</a:t>
            </a:r>
            <a:r>
              <a:rPr lang="en-US" sz="2000" dirty="0" smtClean="0"/>
              <a:t>, which are typically deployed as </a:t>
            </a:r>
            <a:r>
              <a:rPr lang="en-US" sz="2000" u="sng" dirty="0" smtClean="0"/>
              <a:t>sidecars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control plane </a:t>
            </a:r>
            <a:r>
              <a:rPr lang="en-US" sz="2000" i="1" dirty="0" smtClean="0">
                <a:solidFill>
                  <a:srgbClr val="C00000"/>
                </a:solidFill>
              </a:rPr>
              <a:t>manages</a:t>
            </a:r>
            <a:r>
              <a:rPr lang="en-US" sz="2000" dirty="0" smtClean="0"/>
              <a:t> and configures the proxies for </a:t>
            </a:r>
            <a:r>
              <a:rPr lang="en-US" sz="2000" u="sng" dirty="0" smtClean="0"/>
              <a:t>traffic routing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3788" y="3822700"/>
            <a:ext cx="4416425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Mesh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Service discovery</a:t>
            </a:r>
          </a:p>
          <a:p>
            <a:pPr lvl="1"/>
            <a:r>
              <a:rPr lang="en-US" sz="2400" dirty="0" smtClean="0"/>
              <a:t>Typically, service instances are discovered by looking up a registry underneath which keeps records of new instances as well as instances that are removed from the network.</a:t>
            </a:r>
          </a:p>
          <a:p>
            <a:r>
              <a:rPr lang="en-US" sz="2800" dirty="0" smtClean="0"/>
              <a:t>Load balancing</a:t>
            </a:r>
          </a:p>
          <a:p>
            <a:r>
              <a:rPr lang="en-US" sz="2800" dirty="0" smtClean="0"/>
              <a:t>Fault tolerance</a:t>
            </a:r>
          </a:p>
          <a:p>
            <a:r>
              <a:rPr lang="en-US" sz="2800" dirty="0" smtClean="0"/>
              <a:t>Traffic monitoring</a:t>
            </a:r>
          </a:p>
          <a:p>
            <a:r>
              <a:rPr lang="en-US" sz="2800" dirty="0" smtClean="0"/>
              <a:t>Circuit breaking</a:t>
            </a:r>
          </a:p>
          <a:p>
            <a:r>
              <a:rPr lang="en-US" sz="2800" dirty="0" smtClean="0"/>
              <a:t>Authentication and access control</a:t>
            </a:r>
            <a:endParaRPr lang="en-US" sz="28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3429000"/>
            <a:ext cx="1623554" cy="2435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Enablement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Istio</a:t>
            </a:r>
            <a:endParaRPr lang="en-US" sz="2400" dirty="0" smtClean="0"/>
          </a:p>
          <a:p>
            <a:r>
              <a:rPr lang="en-US" sz="2400" dirty="0" err="1" smtClean="0"/>
              <a:t>Linkerd</a:t>
            </a:r>
            <a:endParaRPr lang="en-US" sz="2400" dirty="0" smtClean="0"/>
          </a:p>
          <a:p>
            <a:r>
              <a:rPr lang="en-US" sz="2400" dirty="0" err="1" smtClean="0"/>
              <a:t>Airbnb</a:t>
            </a:r>
            <a:r>
              <a:rPr lang="en-US" sz="2400" dirty="0" smtClean="0"/>
              <a:t> Synapse</a:t>
            </a:r>
          </a:p>
          <a:p>
            <a:pPr lvl="1"/>
            <a:r>
              <a:rPr lang="en-US" sz="2000" dirty="0" smtClean="0"/>
              <a:t>it solves the problem of automated failover through a simplistic but efficient, </a:t>
            </a:r>
            <a:r>
              <a:rPr lang="en-US" sz="2000" dirty="0" err="1" smtClean="0"/>
              <a:t>Zookeeperbased</a:t>
            </a:r>
            <a:r>
              <a:rPr lang="en-US" sz="2000" dirty="0" smtClean="0"/>
              <a:t> service discovery mechanism. In detail, Synapse configures a local </a:t>
            </a:r>
            <a:r>
              <a:rPr lang="en-US" sz="2000" dirty="0" err="1" smtClean="0"/>
              <a:t>HAProxy</a:t>
            </a:r>
            <a:r>
              <a:rPr lang="en-US" sz="2000" dirty="0" smtClean="0"/>
              <a:t> process using the information read from Zookeeper where states of the services are stored and continuously updated. By doing so, the local </a:t>
            </a:r>
            <a:r>
              <a:rPr lang="en-US" sz="2000" dirty="0" err="1" smtClean="0"/>
              <a:t>HAProxy</a:t>
            </a:r>
            <a:r>
              <a:rPr lang="en-US" sz="2000" dirty="0" smtClean="0"/>
              <a:t> can take care of properly routing the request from a service consumer. With an optimized </a:t>
            </a:r>
            <a:r>
              <a:rPr lang="en-US" sz="2000" dirty="0" err="1" smtClean="0"/>
              <a:t>HAProxy</a:t>
            </a:r>
            <a:r>
              <a:rPr lang="en-US" sz="2000" dirty="0" smtClean="0"/>
              <a:t>, Synapse can react to the change (e.g., service failure) in Zookeeper, and reconfigure </a:t>
            </a:r>
            <a:r>
              <a:rPr lang="en-US" sz="2000" dirty="0" err="1" smtClean="0"/>
              <a:t>HAProxy</a:t>
            </a:r>
            <a:r>
              <a:rPr lang="en-US" sz="2000" dirty="0" smtClean="0"/>
              <a:t> immediately.</a:t>
            </a:r>
          </a:p>
          <a:p>
            <a:r>
              <a:rPr lang="en-US" sz="2400" dirty="0" smtClean="0"/>
              <a:t>Amazon App Mesh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Service Mesh?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Debugging </a:t>
            </a:r>
            <a:r>
              <a:rPr lang="en-US" sz="2800" dirty="0" err="1" smtClean="0"/>
              <a:t>microservices</a:t>
            </a:r>
            <a:r>
              <a:rPr lang="en-US" sz="2800" dirty="0" smtClean="0"/>
              <a:t> applications turns out to be a challenging task due to </a:t>
            </a:r>
          </a:p>
          <a:p>
            <a:pPr lvl="1"/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complexity of service dependencies</a:t>
            </a:r>
            <a:r>
              <a:rPr lang="en-US" sz="2400" dirty="0" smtClean="0"/>
              <a:t> and </a:t>
            </a:r>
          </a:p>
          <a:p>
            <a:pPr lvl="1"/>
            <a:r>
              <a:rPr lang="en-US" sz="2400" dirty="0" smtClean="0"/>
              <a:t>the fact that any service can become </a:t>
            </a:r>
            <a:r>
              <a:rPr lang="en-US" sz="2400" i="1" dirty="0" smtClean="0">
                <a:solidFill>
                  <a:srgbClr val="C00000"/>
                </a:solidFill>
              </a:rPr>
              <a:t>temporarily inaccessible</a:t>
            </a:r>
            <a:r>
              <a:rPr lang="en-US" sz="2400" dirty="0" smtClean="0"/>
              <a:t> to its consumers</a:t>
            </a:r>
          </a:p>
          <a:p>
            <a:pPr lvl="1"/>
            <a:r>
              <a:rPr lang="en-US" sz="2400" dirty="0" smtClean="0"/>
              <a:t>as the </a:t>
            </a:r>
            <a:r>
              <a:rPr lang="en-US" sz="2400" u="sng" dirty="0" smtClean="0"/>
              <a:t>application behavior</a:t>
            </a:r>
            <a:r>
              <a:rPr lang="en-US" sz="2400" dirty="0" smtClean="0"/>
              <a:t> depends on the flow of the traffic among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traffic control</a:t>
            </a:r>
            <a:r>
              <a:rPr lang="en-US" sz="2400" dirty="0" smtClean="0"/>
              <a:t> becomes a must (but currently missing) for runtime operation.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Security [2]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362200"/>
            <a:ext cx="630555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Reliability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514600"/>
            <a:ext cx="528637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Observability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667000"/>
            <a:ext cx="6424613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</a:t>
            </a:r>
            <a:r>
              <a:rPr lang="en-US" dirty="0" err="1" smtClean="0"/>
              <a:t>Istio</a:t>
            </a:r>
            <a:r>
              <a:rPr lang="en-US" dirty="0" smtClean="0"/>
              <a:t>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https://istio.io/latest/docs/setup/getting-started/#download</a:t>
            </a:r>
            <a:endParaRPr lang="en-US" sz="2400" dirty="0" smtClean="0"/>
          </a:p>
          <a:p>
            <a:r>
              <a:rPr lang="en-US" sz="2400" dirty="0" smtClean="0"/>
              <a:t>curl -L https://istio.io/downloadIstio | </a:t>
            </a:r>
            <a:r>
              <a:rPr lang="en-US" sz="2400" dirty="0" err="1" smtClean="0"/>
              <a:t>sh</a:t>
            </a:r>
            <a:r>
              <a:rPr lang="en-US" sz="2400" dirty="0" smtClean="0"/>
              <a:t> -</a:t>
            </a:r>
          </a:p>
          <a:p>
            <a:r>
              <a:rPr lang="en-US" sz="2400" dirty="0" err="1" smtClean="0"/>
              <a:t>cd</a:t>
            </a:r>
            <a:r>
              <a:rPr lang="en-US" sz="2400" dirty="0" smtClean="0"/>
              <a:t> istio-1.30.2</a:t>
            </a:r>
          </a:p>
          <a:p>
            <a:r>
              <a:rPr lang="en-US" sz="2400" dirty="0" smtClean="0"/>
              <a:t>export PATH=$PWD/bin:$PATH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3810000"/>
            <a:ext cx="6283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</a:t>
            </a:r>
            <a:r>
              <a:rPr lang="en-US" dirty="0" err="1" smtClean="0"/>
              <a:t>Istio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https://istio.io/latest/docs/setup/getting-started</a:t>
            </a:r>
            <a:r>
              <a:rPr lang="en-US" sz="2200" dirty="0" smtClean="0">
                <a:hlinkClick r:id="rId2"/>
              </a:rPr>
              <a:t>/</a:t>
            </a:r>
            <a:endParaRPr lang="en-US" sz="2200" dirty="0" smtClean="0"/>
          </a:p>
          <a:p>
            <a:r>
              <a:rPr lang="en-US" sz="2200" dirty="0" smtClean="0"/>
              <a:t># </a:t>
            </a:r>
            <a:r>
              <a:rPr lang="en-US" sz="2200" dirty="0" smtClean="0"/>
              <a:t>Install </a:t>
            </a:r>
            <a:r>
              <a:rPr lang="en-US" sz="2200" dirty="0" err="1" smtClean="0"/>
              <a:t>Istio</a:t>
            </a:r>
            <a:r>
              <a:rPr lang="en-US" sz="2200" dirty="0" smtClean="0"/>
              <a:t> using the demo profile.</a:t>
            </a:r>
          </a:p>
          <a:p>
            <a:r>
              <a:rPr lang="en-US" sz="2200" dirty="0" smtClean="0"/>
              <a:t># Claude Code: What id </a:t>
            </a:r>
            <a:r>
              <a:rPr lang="en-US" sz="2200" dirty="0" err="1" smtClean="0"/>
              <a:t>Istio</a:t>
            </a:r>
            <a:r>
              <a:rPr lang="en-US" sz="2200" dirty="0" smtClean="0"/>
              <a:t> profile?</a:t>
            </a:r>
          </a:p>
          <a:p>
            <a:r>
              <a:rPr lang="en-US" sz="2200" dirty="0" err="1" smtClean="0"/>
              <a:t>istioctl</a:t>
            </a:r>
            <a:r>
              <a:rPr lang="en-US" sz="2200" dirty="0" smtClean="0"/>
              <a:t> install --set profile=demo -y</a:t>
            </a:r>
          </a:p>
          <a:p>
            <a:r>
              <a:rPr lang="en-US" sz="2200" dirty="0" smtClean="0"/>
              <a:t># Add a namespace label to instruct </a:t>
            </a:r>
            <a:r>
              <a:rPr lang="en-US" sz="2200" dirty="0" err="1" smtClean="0"/>
              <a:t>Istio</a:t>
            </a:r>
            <a:r>
              <a:rPr lang="en-US" sz="2200" dirty="0" smtClean="0"/>
              <a:t> to automatically inject Envoy sidecar proxies when you deploy your application later:</a:t>
            </a:r>
          </a:p>
          <a:p>
            <a:r>
              <a:rPr lang="en-US" sz="2200" dirty="0" err="1" smtClean="0"/>
              <a:t>kubectl</a:t>
            </a:r>
            <a:r>
              <a:rPr lang="en-US" sz="2200" dirty="0" smtClean="0"/>
              <a:t> label namespace default </a:t>
            </a:r>
            <a:r>
              <a:rPr lang="en-US" sz="2200" dirty="0" err="1" smtClean="0"/>
              <a:t>istio</a:t>
            </a:r>
            <a:r>
              <a:rPr lang="en-US" sz="2200" dirty="0" smtClean="0"/>
              <a:t>-injection=enabled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4572000"/>
            <a:ext cx="6283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</a:t>
            </a:r>
            <a:r>
              <a:rPr lang="en-US" dirty="0" smtClean="0"/>
              <a:t>Install the </a:t>
            </a:r>
            <a:r>
              <a:rPr lang="en-US" dirty="0" err="1" smtClean="0"/>
              <a:t>Kubernetes</a:t>
            </a:r>
            <a:r>
              <a:rPr lang="en-US" dirty="0" smtClean="0"/>
              <a:t> Gateway API CRDs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# The </a:t>
            </a:r>
            <a:r>
              <a:rPr lang="en-US" sz="2200" dirty="0" err="1" smtClean="0"/>
              <a:t>Kubernetes</a:t>
            </a:r>
            <a:r>
              <a:rPr lang="en-US" sz="2200" dirty="0" smtClean="0"/>
              <a:t> Gateway API CRDs do not come installed by default on most </a:t>
            </a:r>
            <a:r>
              <a:rPr lang="en-US" sz="2200" dirty="0" err="1" smtClean="0"/>
              <a:t>Kubernetes</a:t>
            </a:r>
            <a:r>
              <a:rPr lang="en-US" sz="2200" dirty="0" smtClean="0"/>
              <a:t> clusters, so make sure they are installed before using the Gateway API.</a:t>
            </a:r>
          </a:p>
          <a:p>
            <a:r>
              <a:rPr lang="en-US" sz="2200" dirty="0" err="1" smtClean="0"/>
              <a:t>kubectl</a:t>
            </a:r>
            <a:r>
              <a:rPr lang="en-US" sz="2200" dirty="0" smtClean="0"/>
              <a:t> </a:t>
            </a:r>
            <a:r>
              <a:rPr lang="en-US" sz="2200" dirty="0" smtClean="0"/>
              <a:t>get </a:t>
            </a:r>
            <a:r>
              <a:rPr lang="en-US" sz="2200" dirty="0" err="1" smtClean="0"/>
              <a:t>crd</a:t>
            </a:r>
            <a:r>
              <a:rPr lang="en-US" sz="2200" dirty="0" smtClean="0"/>
              <a:t> gateways.gateway.networking.k8s.io &amp;&gt; /dev/null || \</a:t>
            </a:r>
          </a:p>
          <a:p>
            <a:r>
              <a:rPr lang="en-US" sz="2200" dirty="0" smtClean="0"/>
              <a:t>{ </a:t>
            </a:r>
            <a:r>
              <a:rPr lang="en-US" sz="2200" dirty="0" err="1" smtClean="0"/>
              <a:t>kubectl</a:t>
            </a:r>
            <a:r>
              <a:rPr lang="en-US" sz="2200" dirty="0" smtClean="0"/>
              <a:t> </a:t>
            </a:r>
            <a:r>
              <a:rPr lang="en-US" sz="2200" dirty="0" err="1" smtClean="0"/>
              <a:t>kustomize</a:t>
            </a:r>
            <a:r>
              <a:rPr lang="en-US" sz="2200" dirty="0" smtClean="0"/>
              <a:t> "github.com/</a:t>
            </a:r>
            <a:r>
              <a:rPr lang="en-US" sz="2200" dirty="0" err="1" smtClean="0"/>
              <a:t>kubernetes</a:t>
            </a:r>
            <a:r>
              <a:rPr lang="en-US" sz="2200" dirty="0" smtClean="0"/>
              <a:t>-sigs/gateway-</a:t>
            </a:r>
            <a:r>
              <a:rPr lang="en-US" sz="2200" dirty="0" err="1" smtClean="0"/>
              <a:t>api</a:t>
            </a:r>
            <a:r>
              <a:rPr lang="en-US" sz="2200" dirty="0" smtClean="0"/>
              <a:t>/</a:t>
            </a:r>
            <a:r>
              <a:rPr lang="en-US" sz="2200" dirty="0" err="1" smtClean="0"/>
              <a:t>config</a:t>
            </a:r>
            <a:r>
              <a:rPr lang="en-US" sz="2200" dirty="0" smtClean="0"/>
              <a:t>/</a:t>
            </a:r>
            <a:r>
              <a:rPr lang="en-US" sz="2200" dirty="0" err="1" smtClean="0"/>
              <a:t>crd?ref</a:t>
            </a:r>
            <a:r>
              <a:rPr lang="en-US" sz="2200" dirty="0" smtClean="0"/>
              <a:t>=v1.5.1" | </a:t>
            </a:r>
            <a:r>
              <a:rPr lang="en-US" sz="2200" dirty="0" err="1" smtClean="0"/>
              <a:t>kubectl</a:t>
            </a:r>
            <a:r>
              <a:rPr lang="en-US" sz="2200" dirty="0" smtClean="0"/>
              <a:t> apply -f -;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dirty="0" smtClean="0"/>
              <a:t>Deploy the </a:t>
            </a:r>
            <a:r>
              <a:rPr lang="en-US" dirty="0" err="1" smtClean="0"/>
              <a:t>Bookinfo</a:t>
            </a:r>
            <a:r>
              <a:rPr lang="en-US" dirty="0" smtClean="0"/>
              <a:t> sample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kubectl</a:t>
            </a:r>
            <a:r>
              <a:rPr lang="en-US" sz="2400" dirty="0" smtClean="0"/>
              <a:t> apply -f </a:t>
            </a:r>
            <a:r>
              <a:rPr lang="en-US" sz="2400" dirty="0" smtClean="0"/>
              <a:t>samples/</a:t>
            </a:r>
            <a:r>
              <a:rPr lang="en-US" sz="2400" dirty="0" err="1" smtClean="0"/>
              <a:t>bookinfo</a:t>
            </a:r>
            <a:r>
              <a:rPr lang="en-US" sz="2400" dirty="0" smtClean="0"/>
              <a:t>/platform/</a:t>
            </a:r>
            <a:r>
              <a:rPr lang="en-US" sz="2400" dirty="0" err="1" smtClean="0"/>
              <a:t>kube</a:t>
            </a:r>
            <a:r>
              <a:rPr lang="en-US" sz="2400" dirty="0" smtClean="0"/>
              <a:t>/</a:t>
            </a:r>
            <a:r>
              <a:rPr lang="en-US" sz="2400" dirty="0" err="1" smtClean="0"/>
              <a:t>bookinfo.yaml</a:t>
            </a:r>
            <a:endParaRPr lang="en-US" sz="2400" dirty="0" smtClean="0"/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get services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</a:t>
            </a:r>
            <a:r>
              <a:rPr lang="en-US" sz="2400" dirty="0" smtClean="0"/>
              <a:t>get </a:t>
            </a:r>
            <a:r>
              <a:rPr lang="en-US" sz="2400" dirty="0" smtClean="0"/>
              <a:t>pods</a:t>
            </a:r>
            <a:endParaRPr lang="en-US" sz="2200" dirty="0" smtClean="0"/>
          </a:p>
          <a:p>
            <a:r>
              <a:rPr lang="en-US" sz="2200" dirty="0" err="1" smtClean="0"/>
              <a:t>kubectl</a:t>
            </a:r>
            <a:r>
              <a:rPr lang="en-US" sz="2200" dirty="0" smtClean="0"/>
              <a:t> </a:t>
            </a:r>
            <a:r>
              <a:rPr lang="en-US" sz="2200" dirty="0" smtClean="0"/>
              <a:t>exec "$(</a:t>
            </a:r>
            <a:r>
              <a:rPr lang="en-US" sz="2200" dirty="0" err="1" smtClean="0"/>
              <a:t>kubectl</a:t>
            </a:r>
            <a:r>
              <a:rPr lang="en-US" sz="2200" dirty="0" smtClean="0"/>
              <a:t> get pod -l app=ratings -o </a:t>
            </a:r>
            <a:r>
              <a:rPr lang="en-US" sz="2200" dirty="0" err="1" smtClean="0"/>
              <a:t>jsonpath</a:t>
            </a:r>
            <a:r>
              <a:rPr lang="en-US" sz="2200" dirty="0" smtClean="0"/>
              <a:t>='{.items[0].</a:t>
            </a:r>
            <a:r>
              <a:rPr lang="en-US" sz="2200" dirty="0" err="1" smtClean="0"/>
              <a:t>metadata.name</a:t>
            </a:r>
            <a:r>
              <a:rPr lang="en-US" sz="2200" dirty="0" smtClean="0"/>
              <a:t>}')" -c ratings -- curl -</a:t>
            </a:r>
            <a:r>
              <a:rPr lang="en-US" sz="2200" dirty="0" err="1" smtClean="0"/>
              <a:t>sS</a:t>
            </a:r>
            <a:r>
              <a:rPr lang="en-US" sz="2200" dirty="0" smtClean="0"/>
              <a:t> productpage:9080/</a:t>
            </a:r>
            <a:r>
              <a:rPr lang="en-US" sz="2200" dirty="0" err="1" smtClean="0"/>
              <a:t>productpage</a:t>
            </a:r>
            <a:r>
              <a:rPr lang="en-US" sz="2200" dirty="0" smtClean="0"/>
              <a:t> | </a:t>
            </a:r>
            <a:r>
              <a:rPr lang="en-US" sz="2200" dirty="0" err="1" smtClean="0"/>
              <a:t>grep</a:t>
            </a:r>
            <a:r>
              <a:rPr lang="en-US" sz="2200" dirty="0" smtClean="0"/>
              <a:t> -o "&lt;title&gt;.*&lt;/title&gt;"</a:t>
            </a:r>
          </a:p>
          <a:p>
            <a:endParaRPr lang="en-US" sz="2200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</a:t>
            </a:r>
            <a:r>
              <a:rPr lang="en-US" dirty="0" smtClean="0"/>
              <a:t>Open the application to outside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# Create a </a:t>
            </a:r>
            <a:r>
              <a:rPr lang="en-US" sz="2400" dirty="0" err="1" smtClean="0"/>
              <a:t>Kubernetes</a:t>
            </a:r>
            <a:r>
              <a:rPr lang="en-US" sz="2400" dirty="0" smtClean="0"/>
              <a:t> Gateway for the </a:t>
            </a:r>
            <a:r>
              <a:rPr lang="en-US" sz="2400" dirty="0" err="1" smtClean="0"/>
              <a:t>Bookinfo</a:t>
            </a:r>
            <a:r>
              <a:rPr lang="en-US" sz="2400" dirty="0" smtClean="0"/>
              <a:t> application: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</a:t>
            </a:r>
            <a:r>
              <a:rPr lang="en-US" sz="2400" dirty="0" smtClean="0"/>
              <a:t>apply -f </a:t>
            </a:r>
            <a:r>
              <a:rPr lang="en-US" sz="2400" dirty="0" smtClean="0"/>
              <a:t>samples/</a:t>
            </a:r>
            <a:r>
              <a:rPr lang="en-US" sz="2400" dirty="0" err="1" smtClean="0"/>
              <a:t>bookinfo</a:t>
            </a:r>
            <a:r>
              <a:rPr lang="en-US" sz="2400" dirty="0" smtClean="0"/>
              <a:t>/gateway-</a:t>
            </a:r>
            <a:r>
              <a:rPr lang="en-US" sz="2400" dirty="0" err="1" smtClean="0"/>
              <a:t>api</a:t>
            </a:r>
            <a:r>
              <a:rPr lang="en-US" sz="2400" dirty="0" smtClean="0"/>
              <a:t>/</a:t>
            </a:r>
            <a:r>
              <a:rPr lang="en-US" sz="2400" dirty="0" err="1" smtClean="0"/>
              <a:t>bookinfo-gateway.yaml</a:t>
            </a:r>
            <a:endParaRPr lang="en-US" sz="2400" dirty="0" smtClean="0"/>
          </a:p>
          <a:p>
            <a:r>
              <a:rPr lang="en-US" sz="2400" dirty="0" smtClean="0"/>
              <a:t># Change the service type to </a:t>
            </a:r>
            <a:r>
              <a:rPr lang="en-US" sz="2400" dirty="0" err="1" smtClean="0"/>
              <a:t>ClusterIP</a:t>
            </a:r>
            <a:r>
              <a:rPr lang="en-US" sz="2400" dirty="0" smtClean="0"/>
              <a:t> by annotating the gateway</a:t>
            </a:r>
            <a:r>
              <a:rPr lang="en-US" sz="2400" dirty="0" smtClean="0"/>
              <a:t>:</a:t>
            </a:r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annotate gateway </a:t>
            </a:r>
            <a:r>
              <a:rPr lang="en-US" sz="2400" dirty="0" err="1" smtClean="0"/>
              <a:t>bookinfo</a:t>
            </a:r>
            <a:r>
              <a:rPr lang="en-US" sz="2400" dirty="0" smtClean="0"/>
              <a:t>-gateway networking.istio.io/service-type=</a:t>
            </a:r>
            <a:r>
              <a:rPr lang="en-US" sz="2400" dirty="0" err="1" smtClean="0"/>
              <a:t>ClusterIP</a:t>
            </a:r>
            <a:r>
              <a:rPr lang="en-US" sz="2400" dirty="0" smtClean="0"/>
              <a:t> --</a:t>
            </a:r>
            <a:r>
              <a:rPr lang="en-US" sz="2400" dirty="0" smtClean="0"/>
              <a:t>namespace=default</a:t>
            </a:r>
          </a:p>
          <a:p>
            <a:r>
              <a:rPr lang="en-US" sz="2400" dirty="0" smtClean="0"/>
              <a:t># </a:t>
            </a:r>
            <a:r>
              <a:rPr lang="en-US" sz="2400" dirty="0" smtClean="0"/>
              <a:t>Check </a:t>
            </a:r>
            <a:r>
              <a:rPr lang="en-US" sz="2400" dirty="0" smtClean="0"/>
              <a:t>the status of the </a:t>
            </a:r>
            <a:r>
              <a:rPr lang="en-US" sz="2400" dirty="0" smtClean="0"/>
              <a:t>gateway:</a:t>
            </a:r>
            <a:endParaRPr lang="en-US" sz="2400" dirty="0" smtClean="0"/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get gateway</a:t>
            </a:r>
            <a:endParaRPr lang="en-US" sz="2400" dirty="0" smtClean="0"/>
          </a:p>
          <a:p>
            <a:endParaRPr lang="en-US" sz="22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</a:t>
            </a:r>
            <a:r>
              <a:rPr lang="en-US" dirty="0" smtClean="0"/>
              <a:t>Access </a:t>
            </a:r>
            <a:r>
              <a:rPr lang="en-US" dirty="0" smtClean="0"/>
              <a:t>the </a:t>
            </a:r>
            <a:r>
              <a:rPr lang="en-US" dirty="0" smtClean="0"/>
              <a:t>application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kubectl</a:t>
            </a:r>
            <a:r>
              <a:rPr lang="en-US" sz="2400" dirty="0" smtClean="0"/>
              <a:t> </a:t>
            </a:r>
            <a:r>
              <a:rPr lang="en-US" sz="2400" dirty="0" smtClean="0"/>
              <a:t>port-forward </a:t>
            </a:r>
            <a:r>
              <a:rPr lang="en-US" sz="2400" dirty="0" smtClean="0"/>
              <a:t>--address 0.0.0.0</a:t>
            </a:r>
            <a:r>
              <a:rPr lang="en-US" sz="2400" dirty="0" smtClean="0"/>
              <a:t> </a:t>
            </a:r>
            <a:r>
              <a:rPr lang="en-US" sz="2400" dirty="0" smtClean="0"/>
              <a:t>svc/</a:t>
            </a:r>
            <a:r>
              <a:rPr lang="en-US" sz="2400" dirty="0" err="1" smtClean="0"/>
              <a:t>bookinfo</a:t>
            </a:r>
            <a:r>
              <a:rPr lang="en-US" sz="2400" dirty="0" smtClean="0"/>
              <a:t>-gateway-</a:t>
            </a:r>
            <a:r>
              <a:rPr lang="en-US" sz="2400" dirty="0" err="1" smtClean="0"/>
              <a:t>istio</a:t>
            </a:r>
            <a:r>
              <a:rPr lang="en-US" sz="2400" dirty="0" smtClean="0"/>
              <a:t> </a:t>
            </a:r>
            <a:r>
              <a:rPr lang="en-US" sz="2400" dirty="0" smtClean="0"/>
              <a:t>8080:80</a:t>
            </a:r>
          </a:p>
          <a:p>
            <a:r>
              <a:rPr lang="en-US" sz="2200" dirty="0" smtClean="0">
                <a:hlinkClick r:id="rId2"/>
              </a:rPr>
              <a:t>http://</a:t>
            </a:r>
            <a:r>
              <a:rPr lang="en-US" sz="2200" dirty="0" smtClean="0">
                <a:hlinkClick r:id="rId2"/>
              </a:rPr>
              <a:t>192.168.1.45:8080/productpage</a:t>
            </a:r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dirty="0" smtClean="0"/>
              <a:t>Install </a:t>
            </a:r>
            <a:r>
              <a:rPr lang="en-US" dirty="0" err="1" smtClean="0"/>
              <a:t>Istio</a:t>
            </a:r>
            <a:r>
              <a:rPr lang="en-US" dirty="0" smtClean="0"/>
              <a:t> for Online Boutique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# Restart the </a:t>
            </a:r>
            <a:r>
              <a:rPr lang="en-US" sz="2200" b="1" dirty="0" smtClean="0"/>
              <a:t>boutique</a:t>
            </a:r>
            <a:r>
              <a:rPr lang="en-US" sz="2200" dirty="0" smtClean="0"/>
              <a:t> so Envoy sidecars get injected (pods become 2/2):</a:t>
            </a:r>
          </a:p>
          <a:p>
            <a:r>
              <a:rPr lang="en-US" sz="2200" dirty="0" err="1" smtClean="0"/>
              <a:t>kubectl</a:t>
            </a:r>
            <a:r>
              <a:rPr lang="en-US" sz="2200" dirty="0" smtClean="0"/>
              <a:t> rollout restart deployment -n default</a:t>
            </a:r>
          </a:p>
          <a:p>
            <a:r>
              <a:rPr lang="en-US" sz="2200" dirty="0" err="1" smtClean="0"/>
              <a:t>kubectl</a:t>
            </a:r>
            <a:r>
              <a:rPr lang="en-US" sz="2200" dirty="0" smtClean="0"/>
              <a:t> get pods -n default</a:t>
            </a:r>
          </a:p>
          <a:p>
            <a:r>
              <a:rPr lang="en-US" sz="2200" dirty="0" smtClean="0"/>
              <a:t># Add the gateway route (ingress gateway -&gt; frontend service).</a:t>
            </a:r>
          </a:p>
          <a:p>
            <a:r>
              <a:rPr lang="en-US" sz="2200" dirty="0" err="1" smtClean="0"/>
              <a:t>kubectl</a:t>
            </a:r>
            <a:r>
              <a:rPr lang="en-US" sz="2200" dirty="0" smtClean="0"/>
              <a:t> apply -f </a:t>
            </a:r>
            <a:r>
              <a:rPr lang="en-US" sz="2200" dirty="0" err="1" smtClean="0"/>
              <a:t>istio</a:t>
            </a:r>
            <a:r>
              <a:rPr lang="en-US" sz="2200" dirty="0" smtClean="0"/>
              <a:t>-manifests/frontend-</a:t>
            </a:r>
            <a:r>
              <a:rPr lang="en-US" sz="2200" dirty="0" err="1" smtClean="0"/>
              <a:t>gateway.yaml</a:t>
            </a:r>
            <a:endParaRPr lang="en-US" sz="2200" dirty="0" smtClean="0"/>
          </a:p>
          <a:p>
            <a:r>
              <a:rPr lang="en-US" sz="2200" dirty="0" smtClean="0"/>
              <a:t># Access via the ingress gateway</a:t>
            </a:r>
          </a:p>
          <a:p>
            <a:r>
              <a:rPr lang="en-US" sz="2200" dirty="0" err="1" smtClean="0"/>
              <a:t>kubectl</a:t>
            </a:r>
            <a:r>
              <a:rPr lang="en-US" sz="2200" dirty="0" smtClean="0"/>
              <a:t> port-forward -n </a:t>
            </a:r>
            <a:r>
              <a:rPr lang="en-US" sz="2200" dirty="0" err="1" smtClean="0"/>
              <a:t>istio</a:t>
            </a:r>
            <a:r>
              <a:rPr lang="en-US" sz="2200" dirty="0" smtClean="0"/>
              <a:t>-system --address 0.0.0.0 svc/</a:t>
            </a:r>
            <a:r>
              <a:rPr lang="en-US" sz="2200" dirty="0" err="1" smtClean="0"/>
              <a:t>istio-ingressgateway</a:t>
            </a:r>
            <a:r>
              <a:rPr lang="en-US" sz="2200" dirty="0" smtClean="0"/>
              <a:t> 8081:80</a:t>
            </a:r>
          </a:p>
          <a:p>
            <a:r>
              <a:rPr lang="en-US" sz="2200" dirty="0" smtClean="0"/>
              <a:t># local: http://localhost:8081   |   LAN: http://192.168.1.45:8081</a:t>
            </a:r>
          </a:p>
          <a:p>
            <a:endParaRPr lang="en-US" sz="22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Verify the Status of </a:t>
            </a:r>
            <a:r>
              <a:rPr lang="en-US" dirty="0" err="1" smtClean="0"/>
              <a:t>Istio</a:t>
            </a:r>
            <a:r>
              <a:rPr lang="en-US" dirty="0" smtClean="0"/>
              <a:t> Sidecars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# Once </a:t>
            </a:r>
            <a:r>
              <a:rPr lang="en-US" sz="2200" dirty="0" err="1" smtClean="0"/>
              <a:t>Istio</a:t>
            </a:r>
            <a:r>
              <a:rPr lang="en-US" sz="2200" dirty="0" smtClean="0"/>
              <a:t> sidecars are running, Prometheus scrapes their metrics.</a:t>
            </a:r>
          </a:p>
          <a:p>
            <a:r>
              <a:rPr lang="en-US" sz="2200" dirty="0" err="1" smtClean="0"/>
              <a:t>kubectl</a:t>
            </a:r>
            <a:r>
              <a:rPr lang="en-US" sz="2200" dirty="0" smtClean="0"/>
              <a:t> port-forward -n monitoring svc/</a:t>
            </a:r>
            <a:r>
              <a:rPr lang="en-US" sz="2200" dirty="0" err="1" smtClean="0"/>
              <a:t>prometheus</a:t>
            </a:r>
            <a:r>
              <a:rPr lang="en-US" sz="2200" dirty="0" smtClean="0"/>
              <a:t>-server 9090:80</a:t>
            </a:r>
          </a:p>
          <a:p>
            <a:r>
              <a:rPr lang="en-US" sz="2200" dirty="0" smtClean="0">
                <a:hlinkClick r:id="rId2"/>
              </a:rPr>
              <a:t>http://192.168.1.45:9090/query?g0.expr=sum%28rate%28istio_requests_total%5B5m%5D%29%29&amp;g0.show_tree=0&amp;g0.tab=graph&amp;g0.range_input=1h&amp;g0.res_type=auto&amp;g0.res_density=medium&amp;g0.display_mode=lines&amp;g0.show_exemplars=0</a:t>
            </a:r>
            <a:endParaRPr lang="en-US" sz="2200" dirty="0" smtClean="0"/>
          </a:p>
          <a:p>
            <a:endParaRPr lang="en-US" sz="2200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 to </a:t>
            </a:r>
            <a:r>
              <a:rPr lang="en-US" dirty="0" err="1" smtClean="0"/>
              <a:t>Linkerd</a:t>
            </a:r>
            <a:r>
              <a:rPr lang="en-US" dirty="0" smtClean="0"/>
              <a:t> [2]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38463" y="1489075"/>
            <a:ext cx="3267075" cy="468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Linkerd</a:t>
            </a:r>
            <a:r>
              <a:rPr lang="en-US" dirty="0" smtClean="0"/>
              <a:t> Architecture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981200"/>
            <a:ext cx="5924550" cy="400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Linkerd</a:t>
            </a:r>
            <a:r>
              <a:rPr lang="en-US" dirty="0" smtClean="0"/>
              <a:t> Control Plane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600200"/>
            <a:ext cx="3677603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Linkerd</a:t>
            </a:r>
            <a:r>
              <a:rPr lang="en-US" dirty="0" smtClean="0"/>
              <a:t> </a:t>
            </a:r>
            <a:r>
              <a:rPr lang="en-US" dirty="0" err="1" smtClean="0"/>
              <a:t>Viz</a:t>
            </a:r>
            <a:r>
              <a:rPr lang="en-US" dirty="0" smtClean="0"/>
              <a:t> (Dashboard)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981200"/>
            <a:ext cx="6072188" cy="389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Linkerd</a:t>
            </a:r>
            <a:r>
              <a:rPr lang="en-US" dirty="0" smtClean="0"/>
              <a:t> </a:t>
            </a:r>
            <a:r>
              <a:rPr lang="en-US" dirty="0" err="1" smtClean="0"/>
              <a:t>Multicluster</a:t>
            </a:r>
            <a:r>
              <a:rPr lang="en-US" dirty="0" smtClean="0"/>
              <a:t> (Extension)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1175" y="2209800"/>
            <a:ext cx="545782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Linkerd</a:t>
            </a:r>
            <a:r>
              <a:rPr lang="en-US" dirty="0" smtClean="0"/>
              <a:t> Jaeger (Distributed Tracing)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895600"/>
            <a:ext cx="5613400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the </a:t>
            </a:r>
            <a:r>
              <a:rPr lang="en-US" dirty="0" err="1" smtClean="0"/>
              <a:t>linkerd</a:t>
            </a:r>
            <a:r>
              <a:rPr lang="en-US" dirty="0" smtClean="0"/>
              <a:t> CLI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https://linkerd.io/2.16/getting-started/</a:t>
            </a:r>
            <a:endParaRPr lang="en-US" sz="2400" dirty="0" smtClean="0"/>
          </a:p>
          <a:p>
            <a:r>
              <a:rPr lang="en-US" sz="2200" dirty="0" err="1" smtClean="0">
                <a:latin typeface="Consolas" pitchFamily="49" charset="0"/>
              </a:rPr>
              <a:t>kubectl</a:t>
            </a:r>
            <a:r>
              <a:rPr lang="en-US" sz="2200" dirty="0" smtClean="0">
                <a:latin typeface="Consolas" pitchFamily="49" charset="0"/>
              </a:rPr>
              <a:t> version</a:t>
            </a:r>
          </a:p>
          <a:p>
            <a:r>
              <a:rPr lang="en-US" sz="2200" dirty="0" smtClean="0">
                <a:latin typeface="Consolas" pitchFamily="49" charset="0"/>
              </a:rPr>
              <a:t>curl --proto '=https' --tlsv1.2 -</a:t>
            </a:r>
            <a:r>
              <a:rPr lang="en-US" sz="2200" dirty="0" err="1" smtClean="0">
                <a:latin typeface="Consolas" pitchFamily="49" charset="0"/>
              </a:rPr>
              <a:t>sSfL</a:t>
            </a:r>
            <a:r>
              <a:rPr lang="en-US" sz="2200" dirty="0" smtClean="0">
                <a:latin typeface="Consolas" pitchFamily="49" charset="0"/>
              </a:rPr>
              <a:t> https://run.linkerd.io/install-edge | </a:t>
            </a:r>
            <a:r>
              <a:rPr lang="en-US" sz="2200" dirty="0" err="1" smtClean="0">
                <a:latin typeface="Consolas" pitchFamily="49" charset="0"/>
              </a:rPr>
              <a:t>sh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nano</a:t>
            </a:r>
            <a:r>
              <a:rPr lang="en-US" sz="2200" dirty="0" smtClean="0">
                <a:latin typeface="Consolas" pitchFamily="49" charset="0"/>
              </a:rPr>
              <a:t> /etc/paths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$HOME/.linkerd2/bin</a:t>
            </a:r>
          </a:p>
          <a:p>
            <a:r>
              <a:rPr lang="en-US" sz="2200" dirty="0" err="1" smtClean="0">
                <a:latin typeface="Consolas" pitchFamily="49" charset="0"/>
              </a:rPr>
              <a:t>linkerd</a:t>
            </a:r>
            <a:r>
              <a:rPr lang="en-US" sz="2200" dirty="0" smtClean="0">
                <a:latin typeface="Consolas" pitchFamily="49" charset="0"/>
              </a:rPr>
              <a:t> version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1212" y="4724400"/>
            <a:ext cx="5081588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k3d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</a:rPr>
              <a:t>k3d cluster create </a:t>
            </a:r>
            <a:r>
              <a:rPr lang="en-US" sz="1800" dirty="0" err="1" smtClean="0">
                <a:latin typeface="Consolas" pitchFamily="49" charset="0"/>
              </a:rPr>
              <a:t>linkerd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kubectl</a:t>
            </a:r>
            <a:r>
              <a:rPr lang="en-US" sz="1800" dirty="0" smtClean="0">
                <a:latin typeface="Consolas" pitchFamily="49" charset="0"/>
              </a:rPr>
              <a:t> get nodes</a:t>
            </a:r>
          </a:p>
          <a:p>
            <a:r>
              <a:rPr lang="en-US" sz="1800" dirty="0" smtClean="0">
                <a:latin typeface="Consolas" pitchFamily="49" charset="0"/>
              </a:rPr>
              <a:t># validate that the cluster is configured correctly</a:t>
            </a:r>
          </a:p>
          <a:p>
            <a:r>
              <a:rPr lang="en-US" sz="1800" dirty="0" err="1" smtClean="0">
                <a:latin typeface="Consolas" pitchFamily="49" charset="0"/>
              </a:rPr>
              <a:t>linkerd</a:t>
            </a:r>
            <a:r>
              <a:rPr lang="en-US" sz="1800" dirty="0" smtClean="0">
                <a:latin typeface="Consolas" pitchFamily="49" charset="0"/>
              </a:rPr>
              <a:t> check --pre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390900"/>
            <a:ext cx="6796088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Install </a:t>
            </a:r>
            <a:r>
              <a:rPr lang="en-US" dirty="0" err="1" smtClean="0"/>
              <a:t>Linkerd</a:t>
            </a:r>
            <a:r>
              <a:rPr lang="en-US" dirty="0" smtClean="0"/>
              <a:t> via the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</a:rPr>
              <a:t># </a:t>
            </a:r>
            <a:r>
              <a:rPr lang="en-US" sz="2400" dirty="0" err="1" smtClean="0">
                <a:latin typeface="+mj-lt"/>
              </a:rPr>
              <a:t>linkerd</a:t>
            </a:r>
            <a:r>
              <a:rPr lang="en-US" sz="2400" dirty="0" smtClean="0">
                <a:latin typeface="+mj-lt"/>
              </a:rPr>
              <a:t> install will silently create certificates for you.</a:t>
            </a:r>
          </a:p>
          <a:p>
            <a:r>
              <a:rPr lang="en-US" sz="2400" dirty="0" smtClean="0">
                <a:latin typeface="+mj-lt"/>
              </a:rPr>
              <a:t># This is OK for a demo, but </a:t>
            </a:r>
            <a:r>
              <a:rPr lang="en-US" sz="2400" i="1" dirty="0" smtClean="0">
                <a:latin typeface="+mj-lt"/>
              </a:rPr>
              <a:t>not </a:t>
            </a:r>
            <a:r>
              <a:rPr lang="en-US" sz="2400" dirty="0" smtClean="0">
                <a:latin typeface="+mj-lt"/>
              </a:rPr>
              <a:t>for production.</a:t>
            </a:r>
          </a:p>
          <a:p>
            <a:r>
              <a:rPr lang="en-US" sz="2200" dirty="0" err="1" smtClean="0">
                <a:latin typeface="Consolas" pitchFamily="49" charset="0"/>
              </a:rPr>
              <a:t>linkerd</a:t>
            </a:r>
            <a:r>
              <a:rPr lang="en-US" sz="2200" dirty="0" smtClean="0">
                <a:latin typeface="Consolas" pitchFamily="49" charset="0"/>
              </a:rPr>
              <a:t> install --</a:t>
            </a:r>
            <a:r>
              <a:rPr lang="en-US" sz="2200" dirty="0" err="1" smtClean="0">
                <a:latin typeface="Consolas" pitchFamily="49" charset="0"/>
              </a:rPr>
              <a:t>crds</a:t>
            </a:r>
            <a:r>
              <a:rPr lang="en-US" sz="2200" dirty="0" smtClean="0">
                <a:latin typeface="Consolas" pitchFamily="49" charset="0"/>
              </a:rPr>
              <a:t> | </a:t>
            </a:r>
            <a:r>
              <a:rPr lang="en-US" sz="2200" dirty="0" err="1" smtClean="0">
                <a:latin typeface="Consolas" pitchFamily="49" charset="0"/>
              </a:rPr>
              <a:t>kubectl</a:t>
            </a:r>
            <a:r>
              <a:rPr lang="en-US" sz="2200" dirty="0" smtClean="0">
                <a:latin typeface="Consolas" pitchFamily="49" charset="0"/>
              </a:rPr>
              <a:t> apply -f -</a:t>
            </a:r>
          </a:p>
          <a:p>
            <a:r>
              <a:rPr lang="en-US" sz="2200" dirty="0" err="1" smtClean="0">
                <a:latin typeface="Consolas" pitchFamily="49" charset="0"/>
              </a:rPr>
              <a:t>linkerd</a:t>
            </a:r>
            <a:r>
              <a:rPr lang="en-US" sz="2200" dirty="0" smtClean="0">
                <a:latin typeface="Consolas" pitchFamily="49" charset="0"/>
              </a:rPr>
              <a:t> install | </a:t>
            </a:r>
            <a:r>
              <a:rPr lang="en-US" sz="2200" dirty="0" err="1" smtClean="0">
                <a:latin typeface="Consolas" pitchFamily="49" charset="0"/>
              </a:rPr>
              <a:t>kubectl</a:t>
            </a:r>
            <a:r>
              <a:rPr lang="en-US" sz="2200" dirty="0" smtClean="0">
                <a:latin typeface="Consolas" pitchFamily="49" charset="0"/>
              </a:rPr>
              <a:t> apply -f -</a:t>
            </a:r>
          </a:p>
          <a:p>
            <a:r>
              <a:rPr lang="en-US" sz="2200" dirty="0" err="1" smtClean="0">
                <a:latin typeface="Consolas" pitchFamily="49" charset="0"/>
              </a:rPr>
              <a:t>linkerd</a:t>
            </a:r>
            <a:r>
              <a:rPr lang="en-US" sz="2200" dirty="0" smtClean="0">
                <a:latin typeface="Consolas" pitchFamily="49" charset="0"/>
              </a:rPr>
              <a:t> check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5238" y="4057650"/>
            <a:ext cx="40735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Install </a:t>
            </a:r>
            <a:r>
              <a:rPr lang="en-US" dirty="0" err="1" smtClean="0"/>
              <a:t>Linkerd</a:t>
            </a:r>
            <a:r>
              <a:rPr lang="en-US" dirty="0" smtClean="0"/>
              <a:t> </a:t>
            </a:r>
            <a:r>
              <a:rPr lang="en-US" dirty="0" err="1" smtClean="0"/>
              <a:t>Viz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linkerd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viz</a:t>
            </a:r>
            <a:r>
              <a:rPr lang="en-US" sz="2400" dirty="0" smtClean="0">
                <a:latin typeface="Consolas" pitchFamily="49" charset="0"/>
              </a:rPr>
              <a:t> install | </a:t>
            </a:r>
            <a:r>
              <a:rPr lang="en-US" sz="2400" dirty="0" err="1" smtClean="0">
                <a:latin typeface="Consolas" pitchFamily="49" charset="0"/>
              </a:rPr>
              <a:t>kubectl</a:t>
            </a:r>
            <a:r>
              <a:rPr lang="en-US" sz="2400" dirty="0" smtClean="0">
                <a:latin typeface="Consolas" pitchFamily="49" charset="0"/>
              </a:rPr>
              <a:t> apply -f -</a:t>
            </a:r>
          </a:p>
          <a:p>
            <a:r>
              <a:rPr lang="en-US" sz="2400" dirty="0" err="1" smtClean="0">
                <a:latin typeface="Consolas" pitchFamily="49" charset="0"/>
              </a:rPr>
              <a:t>linkerd</a:t>
            </a:r>
            <a:r>
              <a:rPr lang="en-US" sz="2400" dirty="0" smtClean="0">
                <a:latin typeface="Consolas" pitchFamily="49" charset="0"/>
              </a:rPr>
              <a:t> check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3738" y="3295650"/>
            <a:ext cx="52165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Open </a:t>
            </a:r>
            <a:r>
              <a:rPr lang="en-US" dirty="0" err="1" smtClean="0"/>
              <a:t>Linkerd</a:t>
            </a:r>
            <a:r>
              <a:rPr lang="en-US" dirty="0" smtClean="0"/>
              <a:t> </a:t>
            </a:r>
            <a:r>
              <a:rPr lang="en-US" dirty="0" err="1" smtClean="0"/>
              <a:t>Viz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linkerd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viz</a:t>
            </a:r>
            <a:r>
              <a:rPr lang="en-US" sz="2400" dirty="0" smtClean="0">
                <a:latin typeface="Consolas" pitchFamily="49" charset="0"/>
              </a:rPr>
              <a:t> dashboard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819400"/>
            <a:ext cx="6338888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Uninstall </a:t>
            </a:r>
            <a:r>
              <a:rPr lang="en-US" dirty="0" err="1" smtClean="0"/>
              <a:t>Linkerd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  <a:hlinkClick r:id="rId2"/>
              </a:rPr>
              <a:t>https://linkerd.io/2-edge/tasks/uninstall/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linkerd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viz</a:t>
            </a:r>
            <a:r>
              <a:rPr lang="en-US" sz="2200" dirty="0" smtClean="0">
                <a:latin typeface="Consolas" pitchFamily="49" charset="0"/>
              </a:rPr>
              <a:t> uninstall | </a:t>
            </a:r>
            <a:r>
              <a:rPr lang="en-US" sz="2200" dirty="0" err="1" smtClean="0">
                <a:latin typeface="Consolas" pitchFamily="49" charset="0"/>
              </a:rPr>
              <a:t>kubectl</a:t>
            </a:r>
            <a:r>
              <a:rPr lang="en-US" sz="2200" dirty="0" smtClean="0">
                <a:latin typeface="Consolas" pitchFamily="49" charset="0"/>
              </a:rPr>
              <a:t> delete -f -</a:t>
            </a:r>
          </a:p>
          <a:p>
            <a:r>
              <a:rPr lang="en-US" sz="2200" dirty="0" err="1" smtClean="0">
                <a:latin typeface="Consolas" pitchFamily="49" charset="0"/>
              </a:rPr>
              <a:t>linkerd</a:t>
            </a:r>
            <a:r>
              <a:rPr lang="en-US" sz="2200" dirty="0" smtClean="0">
                <a:latin typeface="Consolas" pitchFamily="49" charset="0"/>
              </a:rPr>
              <a:t> uninstall | </a:t>
            </a:r>
            <a:r>
              <a:rPr lang="en-US" sz="2200" dirty="0" err="1" smtClean="0">
                <a:latin typeface="Consolas" pitchFamily="49" charset="0"/>
              </a:rPr>
              <a:t>kubectl</a:t>
            </a:r>
            <a:r>
              <a:rPr lang="en-US" sz="2200" dirty="0" smtClean="0">
                <a:latin typeface="Consolas" pitchFamily="49" charset="0"/>
              </a:rPr>
              <a:t> delete -f -</a:t>
            </a:r>
          </a:p>
          <a:p>
            <a:r>
              <a:rPr lang="en-US" sz="2200" dirty="0" smtClean="0">
                <a:latin typeface="Consolas" pitchFamily="49" charset="0"/>
              </a:rPr>
              <a:t>#  delete cluster.</a:t>
            </a:r>
          </a:p>
          <a:p>
            <a:r>
              <a:rPr lang="en-US" sz="2200" dirty="0" smtClean="0">
                <a:latin typeface="Consolas" pitchFamily="49" charset="0"/>
              </a:rPr>
              <a:t>k3d cluster delete </a:t>
            </a:r>
            <a:r>
              <a:rPr lang="en-US" sz="2200" dirty="0" err="1" smtClean="0">
                <a:latin typeface="Consolas" pitchFamily="49" charset="0"/>
              </a:rPr>
              <a:t>linkerd</a:t>
            </a:r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Opaque and Skip Ports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Opaque ports and skip ports are </a:t>
            </a:r>
            <a:r>
              <a:rPr lang="en-US" sz="2400" dirty="0" err="1" smtClean="0"/>
              <a:t>Linkerd</a:t>
            </a:r>
            <a:r>
              <a:rPr lang="en-US" sz="2400" dirty="0" smtClean="0"/>
              <a:t> names for ports to which special rules are applied.</a:t>
            </a:r>
          </a:p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opaque port</a:t>
            </a:r>
            <a:r>
              <a:rPr lang="en-US" sz="2400" dirty="0" smtClean="0"/>
              <a:t> in </a:t>
            </a:r>
            <a:r>
              <a:rPr lang="en-US" sz="2400" dirty="0" err="1" smtClean="0"/>
              <a:t>Linkerd</a:t>
            </a:r>
            <a:r>
              <a:rPr lang="en-US" sz="2400" dirty="0" smtClean="0"/>
              <a:t> is a port that should be treated as a generic TCP connection. </a:t>
            </a:r>
            <a:r>
              <a:rPr lang="en-US" sz="2400" dirty="0" err="1" smtClean="0"/>
              <a:t>Linkerd</a:t>
            </a:r>
            <a:r>
              <a:rPr lang="en-US" sz="2400" dirty="0" smtClean="0"/>
              <a:t> will still use </a:t>
            </a:r>
            <a:r>
              <a:rPr lang="en-US" sz="2400" dirty="0" err="1" smtClean="0"/>
              <a:t>mTLS</a:t>
            </a:r>
            <a:r>
              <a:rPr lang="en-US" sz="2400" dirty="0" smtClean="0"/>
              <a:t> on opaque traffic.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skip port</a:t>
            </a:r>
            <a:r>
              <a:rPr lang="en-US" sz="2400" dirty="0" smtClean="0"/>
              <a:t> is one that you instruct </a:t>
            </a:r>
            <a:r>
              <a:rPr lang="en-US" sz="2400" dirty="0" err="1" smtClean="0"/>
              <a:t>Linkerd</a:t>
            </a:r>
            <a:r>
              <a:rPr lang="en-US" sz="2400" dirty="0" smtClean="0"/>
              <a:t> to completely ignore.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Mutual TLS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US" sz="2400" dirty="0" err="1" smtClean="0"/>
              <a:t>mTLS</a:t>
            </a:r>
            <a:endParaRPr lang="en-US" sz="2400" dirty="0" smtClean="0"/>
          </a:p>
          <a:p>
            <a:pPr lvl="1"/>
            <a:r>
              <a:rPr lang="en-US" sz="2000" dirty="0" smtClean="0"/>
              <a:t>Authenticate both ends of the connection.</a:t>
            </a:r>
          </a:p>
          <a:p>
            <a:pPr lvl="1"/>
            <a:r>
              <a:rPr lang="en-US" sz="2000" dirty="0" smtClean="0"/>
              <a:t>Require both ends to send certificates for identification.</a:t>
            </a:r>
          </a:p>
          <a:p>
            <a:r>
              <a:rPr lang="en-US" sz="2400" dirty="0" smtClean="0"/>
              <a:t>TLS: Only the receiver identifies itself.</a:t>
            </a:r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981200"/>
            <a:ext cx="3451225" cy="37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Workloads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133600"/>
            <a:ext cx="5891213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 workload to the mesh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Adding the </a:t>
            </a:r>
            <a:r>
              <a:rPr lang="en-US" sz="2400" dirty="0" err="1" smtClean="0"/>
              <a:t>Linkerd</a:t>
            </a:r>
            <a:r>
              <a:rPr lang="en-US" sz="2400" dirty="0" smtClean="0"/>
              <a:t> sidecar to each of your workload’s Pods.</a:t>
            </a:r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590800"/>
            <a:ext cx="5843588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proxy injector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/>
              <a:t>Linkerd</a:t>
            </a:r>
            <a:r>
              <a:rPr lang="en-US" sz="2000" dirty="0" smtClean="0"/>
              <a:t> includes a </a:t>
            </a:r>
            <a:r>
              <a:rPr lang="en-US" sz="2000" dirty="0" err="1" smtClean="0"/>
              <a:t>Kubernetes</a:t>
            </a:r>
            <a:r>
              <a:rPr lang="en-US" sz="2000" dirty="0" smtClean="0"/>
              <a:t> admission controller called the </a:t>
            </a:r>
            <a:r>
              <a:rPr lang="en-US" sz="2000" dirty="0" err="1" smtClean="0"/>
              <a:t>linkerd</a:t>
            </a:r>
            <a:r>
              <a:rPr lang="en-US" sz="2000" dirty="0" smtClean="0"/>
              <a:t>-proxy-injector.</a:t>
            </a:r>
          </a:p>
          <a:p>
            <a:r>
              <a:rPr lang="en-US" sz="2000" dirty="0" smtClean="0"/>
              <a:t>Its job, unsurprisingly, is to inject </a:t>
            </a:r>
            <a:r>
              <a:rPr lang="en-US" sz="2000" dirty="0" err="1" smtClean="0"/>
              <a:t>Linkerd</a:t>
            </a:r>
            <a:r>
              <a:rPr lang="en-US" sz="2000" dirty="0" smtClean="0"/>
              <a:t> proxies into workload Pods.</a:t>
            </a:r>
          </a:p>
          <a:p>
            <a:r>
              <a:rPr lang="en-US" sz="2000" dirty="0" smtClean="0"/>
              <a:t>Of course, it doesn’t do this blindly; instead, it looks for </a:t>
            </a:r>
            <a:r>
              <a:rPr lang="en-US" sz="2000" dirty="0" err="1" smtClean="0"/>
              <a:t>Kubernetes</a:t>
            </a:r>
            <a:r>
              <a:rPr lang="en-US" sz="2000" dirty="0" smtClean="0"/>
              <a:t> annotations that tell it which Pods need to be injected.</a:t>
            </a:r>
            <a:endParaRPr lang="en-US" sz="2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8100" y="3733800"/>
            <a:ext cx="39878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the demo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# Install </a:t>
            </a:r>
            <a:r>
              <a:rPr lang="en-US" sz="2400" dirty="0" err="1" smtClean="0"/>
              <a:t>Emojivoto</a:t>
            </a:r>
            <a:r>
              <a:rPr lang="en-US" sz="2400" dirty="0" smtClean="0"/>
              <a:t> into the </a:t>
            </a:r>
            <a:r>
              <a:rPr lang="en-US" sz="2400" dirty="0" err="1" smtClean="0"/>
              <a:t>emojivoto</a:t>
            </a:r>
            <a:r>
              <a:rPr lang="en-US" sz="2400" dirty="0" smtClean="0"/>
              <a:t> namespace:</a:t>
            </a:r>
          </a:p>
          <a:p>
            <a:r>
              <a:rPr lang="en-US" sz="2400" dirty="0" smtClean="0">
                <a:latin typeface="Consolas" pitchFamily="49" charset="0"/>
              </a:rPr>
              <a:t>curl --proto '=https' --tlsv1.2 -</a:t>
            </a:r>
            <a:r>
              <a:rPr lang="en-US" sz="2400" dirty="0" err="1" smtClean="0">
                <a:latin typeface="Consolas" pitchFamily="49" charset="0"/>
              </a:rPr>
              <a:t>sSfL</a:t>
            </a:r>
            <a:r>
              <a:rPr lang="en-US" sz="2400" dirty="0" smtClean="0">
                <a:latin typeface="Consolas" pitchFamily="49" charset="0"/>
              </a:rPr>
              <a:t> https://run.linkerd.io/emojivoto.yml | </a:t>
            </a:r>
            <a:r>
              <a:rPr lang="en-US" sz="2400" dirty="0" err="1" smtClean="0">
                <a:latin typeface="Consolas" pitchFamily="49" charset="0"/>
              </a:rPr>
              <a:t>kubectl</a:t>
            </a:r>
            <a:r>
              <a:rPr lang="en-US" sz="2400" dirty="0" smtClean="0">
                <a:latin typeface="Consolas" pitchFamily="49" charset="0"/>
              </a:rPr>
              <a:t> apply -f -</a:t>
            </a:r>
          </a:p>
          <a:p>
            <a:r>
              <a:rPr lang="en-US" sz="2400" dirty="0" err="1" smtClean="0">
                <a:latin typeface="Consolas" pitchFamily="49" charset="0"/>
              </a:rPr>
              <a:t>kubectl</a:t>
            </a:r>
            <a:r>
              <a:rPr lang="en-US" sz="2400" dirty="0" smtClean="0">
                <a:latin typeface="Consolas" pitchFamily="49" charset="0"/>
              </a:rPr>
              <a:t> -n </a:t>
            </a:r>
            <a:r>
              <a:rPr lang="en-US" sz="2400" dirty="0" err="1" smtClean="0">
                <a:latin typeface="Consolas" pitchFamily="49" charset="0"/>
              </a:rPr>
              <a:t>emojivoto</a:t>
            </a:r>
            <a:r>
              <a:rPr lang="en-US" sz="2400" dirty="0" smtClean="0">
                <a:latin typeface="Consolas" pitchFamily="49" charset="0"/>
              </a:rPr>
              <a:t> port-forward svc/web-svc 8080:80</a:t>
            </a:r>
          </a:p>
          <a:p>
            <a:r>
              <a:rPr lang="en-US" sz="2400" dirty="0" smtClean="0"/>
              <a:t># Now visit </a:t>
            </a:r>
            <a:r>
              <a:rPr lang="en-US" sz="2400" dirty="0" smtClean="0">
                <a:hlinkClick r:id="rId2"/>
              </a:rPr>
              <a:t>http://localhost:8080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Add </a:t>
            </a:r>
            <a:r>
              <a:rPr lang="en-US" dirty="0" err="1" smtClean="0"/>
              <a:t>Linkerd’s</a:t>
            </a:r>
            <a:r>
              <a:rPr lang="en-US" dirty="0" smtClean="0"/>
              <a:t> data plane proxies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# This command retrieves all of the deployments running in the </a:t>
            </a:r>
            <a:r>
              <a:rPr lang="en-US" sz="2000" dirty="0" err="1" smtClean="0"/>
              <a:t>emojivoto</a:t>
            </a:r>
            <a:r>
              <a:rPr lang="en-US" sz="2000" dirty="0" smtClean="0"/>
              <a:t> namespace, runs their manifests through </a:t>
            </a:r>
            <a:r>
              <a:rPr lang="en-US" sz="2000" dirty="0" err="1" smtClean="0"/>
              <a:t>linkerd</a:t>
            </a:r>
            <a:r>
              <a:rPr lang="en-US" sz="2000" dirty="0" smtClean="0"/>
              <a:t> inject, and then reapplies it to the cluster.</a:t>
            </a:r>
          </a:p>
          <a:p>
            <a:r>
              <a:rPr lang="en-US" sz="2000" b="1" dirty="0" err="1" smtClean="0">
                <a:latin typeface="Consolas" pitchFamily="49" charset="0"/>
              </a:rPr>
              <a:t>kubectl</a:t>
            </a:r>
            <a:r>
              <a:rPr lang="en-US" sz="2000" b="1" dirty="0" smtClean="0">
                <a:latin typeface="Consolas" pitchFamily="49" charset="0"/>
              </a:rPr>
              <a:t> get -n </a:t>
            </a:r>
            <a:r>
              <a:rPr lang="en-US" sz="2000" b="1" dirty="0" err="1" smtClean="0">
                <a:latin typeface="Consolas" pitchFamily="49" charset="0"/>
              </a:rPr>
              <a:t>emojivoto</a:t>
            </a:r>
            <a:r>
              <a:rPr lang="en-US" sz="2000" b="1" dirty="0" smtClean="0">
                <a:latin typeface="Consolas" pitchFamily="49" charset="0"/>
              </a:rPr>
              <a:t> deploy -o </a:t>
            </a:r>
            <a:r>
              <a:rPr lang="en-US" sz="2000" b="1" dirty="0" err="1" smtClean="0">
                <a:latin typeface="Consolas" pitchFamily="49" charset="0"/>
              </a:rPr>
              <a:t>yaml</a:t>
            </a:r>
            <a:r>
              <a:rPr lang="en-US" sz="2000" b="1" dirty="0" smtClean="0">
                <a:latin typeface="Consolas" pitchFamily="49" charset="0"/>
              </a:rPr>
              <a:t>  | </a:t>
            </a:r>
            <a:r>
              <a:rPr lang="en-US" sz="2000" b="1" dirty="0" err="1" smtClean="0">
                <a:latin typeface="Consolas" pitchFamily="49" charset="0"/>
              </a:rPr>
              <a:t>linkerd</a:t>
            </a:r>
            <a:r>
              <a:rPr lang="en-US" sz="2000" b="1" dirty="0" smtClean="0">
                <a:latin typeface="Consolas" pitchFamily="49" charset="0"/>
              </a:rPr>
              <a:t> inject -  | </a:t>
            </a:r>
            <a:r>
              <a:rPr lang="en-US" sz="2000" b="1" dirty="0" err="1" smtClean="0">
                <a:latin typeface="Consolas" pitchFamily="49" charset="0"/>
              </a:rPr>
              <a:t>kubectl</a:t>
            </a:r>
            <a:r>
              <a:rPr lang="en-US" sz="2000" b="1" dirty="0" smtClean="0">
                <a:latin typeface="Consolas" pitchFamily="49" charset="0"/>
              </a:rPr>
              <a:t> apply -f -</a:t>
            </a:r>
          </a:p>
          <a:p>
            <a:r>
              <a:rPr lang="en-US" sz="2000" b="1" dirty="0" err="1" smtClean="0">
                <a:latin typeface="Consolas" pitchFamily="49" charset="0"/>
              </a:rPr>
              <a:t>linkerd</a:t>
            </a:r>
            <a:r>
              <a:rPr lang="en-US" sz="2000" b="1" dirty="0" smtClean="0">
                <a:latin typeface="Consolas" pitchFamily="49" charset="0"/>
              </a:rPr>
              <a:t> -n </a:t>
            </a:r>
            <a:r>
              <a:rPr lang="en-US" sz="2000" b="1" dirty="0" err="1" smtClean="0">
                <a:latin typeface="Consolas" pitchFamily="49" charset="0"/>
              </a:rPr>
              <a:t>emojivoto</a:t>
            </a:r>
            <a:r>
              <a:rPr lang="en-US" sz="2000" b="1" dirty="0" smtClean="0">
                <a:latin typeface="Consolas" pitchFamily="49" charset="0"/>
              </a:rPr>
              <a:t> check --proxy</a:t>
            </a:r>
          </a:p>
          <a:p>
            <a:r>
              <a:rPr lang="en-US" sz="2000" b="1" dirty="0" err="1" smtClean="0">
                <a:latin typeface="Consolas" pitchFamily="49" charset="0"/>
              </a:rPr>
              <a:t>kubectl</a:t>
            </a:r>
            <a:r>
              <a:rPr lang="en-US" sz="2000" b="1" dirty="0" smtClean="0">
                <a:latin typeface="Consolas" pitchFamily="49" charset="0"/>
              </a:rPr>
              <a:t> -n </a:t>
            </a:r>
            <a:r>
              <a:rPr lang="en-US" sz="2000" b="1" dirty="0" err="1" smtClean="0">
                <a:latin typeface="Consolas" pitchFamily="49" charset="0"/>
              </a:rPr>
              <a:t>emojivoto</a:t>
            </a:r>
            <a:r>
              <a:rPr lang="en-US" sz="2000" b="1" dirty="0" smtClean="0">
                <a:latin typeface="Consolas" pitchFamily="49" charset="0"/>
              </a:rPr>
              <a:t> port-forward svc/web-svc 8080:80</a:t>
            </a:r>
            <a:endParaRPr lang="en-US" sz="20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Explore </a:t>
            </a:r>
            <a:r>
              <a:rPr lang="en-US" dirty="0" err="1" smtClean="0"/>
              <a:t>Linkerd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linkerd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viz</a:t>
            </a:r>
            <a:r>
              <a:rPr lang="en-US" sz="2400" dirty="0" smtClean="0">
                <a:latin typeface="Consolas" pitchFamily="49" charset="0"/>
              </a:rPr>
              <a:t> dashboard &amp;</a:t>
            </a:r>
          </a:p>
          <a:p>
            <a:r>
              <a:rPr lang="en-US" sz="2400" dirty="0" smtClean="0">
                <a:latin typeface="+mj-lt"/>
              </a:rPr>
              <a:t># Review Namespaces &gt; </a:t>
            </a:r>
            <a:r>
              <a:rPr lang="en-US" sz="2400" dirty="0" err="1" smtClean="0">
                <a:latin typeface="+mj-lt"/>
              </a:rPr>
              <a:t>emojivoto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https://dotnetfullstackdev.medium.com/service-mesh-with-linkerd-in-a-net-microservice-architecture-e87d3d406b06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typical software stack [3]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590800"/>
            <a:ext cx="5981700" cy="277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Sidecar Proxies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proxy</a:t>
            </a:r>
            <a:r>
              <a:rPr lang="en-US" sz="2000" dirty="0" smtClean="0"/>
              <a:t> is an application that traffic is routed through on the way to its destination.</a:t>
            </a:r>
          </a:p>
          <a:p>
            <a:r>
              <a:rPr lang="en-US" sz="2000" dirty="0" smtClean="0"/>
              <a:t>Popular proxies you may have heard of are NGINX, </a:t>
            </a:r>
            <a:r>
              <a:rPr lang="en-US" sz="2000" dirty="0" err="1" smtClean="0"/>
              <a:t>HAProxy</a:t>
            </a:r>
            <a:r>
              <a:rPr lang="en-US" sz="2000" dirty="0" smtClean="0"/>
              <a:t>, and Envoy.</a:t>
            </a:r>
          </a:p>
          <a:p>
            <a:r>
              <a:rPr lang="en-US" sz="2000" dirty="0" smtClean="0"/>
              <a:t>In most service meshes, all service traffic (inbound and outbound) is routed through a local proxy dedicated to each service instance.</a:t>
            </a:r>
          </a:p>
          <a:p>
            <a:r>
              <a:rPr lang="en-US" sz="2000" dirty="0" smtClean="0"/>
              <a:t>Each instance of a service must be deployed with its own local proxy.</a:t>
            </a:r>
          </a:p>
          <a:p>
            <a:r>
              <a:rPr lang="en-US" sz="2000" dirty="0" smtClean="0"/>
              <a:t>The pattern of deploying a helper application—in this case a proxy—alongside the main service is known as the sidecar pattern, and so local proxies are referred to as </a:t>
            </a:r>
            <a:r>
              <a:rPr lang="en-US" sz="2000" i="1" dirty="0" smtClean="0">
                <a:solidFill>
                  <a:srgbClr val="C00000"/>
                </a:solidFill>
              </a:rPr>
              <a:t>sidecar proxies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4953000"/>
            <a:ext cx="5905500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control plane’s job is to manage and configure the sidecar proxies.</a:t>
            </a:r>
          </a:p>
          <a:p>
            <a:r>
              <a:rPr lang="en-US" sz="2000" dirty="0" smtClean="0"/>
              <a:t>The control plane is where most of the complex logic of the service mesh lives: it must watch for services starting and stopping, sign and distribute certificates, reconfigure proxies, etc.</a:t>
            </a:r>
          </a:p>
          <a:p>
            <a:r>
              <a:rPr lang="en-US" sz="2000" dirty="0" smtClean="0"/>
              <a:t>The sidecar proxies themselves are relatively simple: they receive configuration from the control plane detailing which actions to perform on traffic, and they perform those actions.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4025" y="4419600"/>
            <a:ext cx="5743575" cy="160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 Service Mesh Works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33600"/>
            <a:ext cx="787400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a Service Mesh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service mesh provides features in four areas: security, </a:t>
            </a:r>
            <a:r>
              <a:rPr lang="en-US" sz="2400" dirty="0" err="1" smtClean="0"/>
              <a:t>observability</a:t>
            </a:r>
            <a:r>
              <a:rPr lang="en-US" sz="2400" dirty="0" smtClean="0"/>
              <a:t>, reliability, and traffic control.</a:t>
            </a:r>
          </a:p>
          <a:p>
            <a:r>
              <a:rPr lang="en-US" sz="2400" dirty="0" smtClean="0"/>
              <a:t>The fundamental value proposition of a service mesh is the ability to provide these features across every service and workload </a:t>
            </a:r>
            <a:r>
              <a:rPr lang="en-US" sz="2400" i="1" dirty="0" smtClean="0">
                <a:solidFill>
                  <a:srgbClr val="C00000"/>
                </a:solidFill>
              </a:rPr>
              <a:t>without modifying service code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Consul Architecture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828800"/>
            <a:ext cx="4414838" cy="404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backend service is registered with its IP address—for example, 1.2.3.4— onto the Consul client on that node.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 new service being started on a node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429000"/>
            <a:ext cx="6872288" cy="247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Consul client configures the proxy and keeps the connection open for future reconfiguration.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Consul client configuring the backend proxy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276600"/>
            <a:ext cx="4024313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Frontend service is configured to talk to the backend service, but it doesn’t yet know which address to use.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Frontend service is configured to talk to the backend service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352800"/>
            <a:ext cx="6448425" cy="245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dirty="0" err="1" smtClean="0"/>
              <a:t>frontend’s</a:t>
            </a:r>
            <a:r>
              <a:rPr lang="en-US" sz="2400" dirty="0" smtClean="0"/>
              <a:t> proxy learning the address of the backend service in order to make a request.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The </a:t>
            </a:r>
            <a:r>
              <a:rPr lang="en-US" dirty="0" err="1" smtClean="0"/>
              <a:t>frontend’s</a:t>
            </a:r>
            <a:r>
              <a:rPr lang="en-US" dirty="0" smtClean="0"/>
              <a:t> proxy learning the address of the backend service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819400"/>
            <a:ext cx="5128260" cy="3337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Sidecar proxies capture inbound and outbound traffic and follow their configured rules to act on that traffic.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Sidecar proxies capture inbound and outbound traffic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6813" y="3765550"/>
            <a:ext cx="4270375" cy="194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Consul Versus Other Meshes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There are many other service meshes in the marketplace, such as </a:t>
            </a:r>
            <a:r>
              <a:rPr lang="en-US" sz="2400" dirty="0" err="1" smtClean="0"/>
              <a:t>Istio</a:t>
            </a:r>
            <a:r>
              <a:rPr lang="en-US" sz="2400" dirty="0" smtClean="0"/>
              <a:t> and </a:t>
            </a:r>
            <a:r>
              <a:rPr lang="en-US" sz="2400" dirty="0" err="1" smtClean="0"/>
              <a:t>Linkerd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Most services meshes follow the same general architecture with a control plane that manages sidecar proxies.</a:t>
            </a:r>
          </a:p>
          <a:p>
            <a:r>
              <a:rPr lang="en-US" sz="2400" dirty="0" smtClean="0"/>
              <a:t>Consul is unique among other meshes in that its control plane can run entirely </a:t>
            </a:r>
            <a:r>
              <a:rPr lang="en-US" sz="2400" i="1" dirty="0" smtClean="0">
                <a:solidFill>
                  <a:srgbClr val="C00000"/>
                </a:solidFill>
              </a:rPr>
              <a:t>separate from </a:t>
            </a:r>
            <a:r>
              <a:rPr lang="en-US" sz="2400" i="1" dirty="0" err="1" smtClean="0">
                <a:solidFill>
                  <a:srgbClr val="C00000"/>
                </a:solidFill>
              </a:rPr>
              <a:t>Kubernetes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means if you’re managing a VM cluster that you don’t need to also run </a:t>
            </a:r>
            <a:r>
              <a:rPr lang="en-US" sz="2400" dirty="0" err="1" smtClean="0"/>
              <a:t>Kubernetes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12434</TotalTime>
  <Words>1814</Words>
  <Application>Microsoft Office PowerPoint</Application>
  <PresentationFormat>On-screen Show (4:3)</PresentationFormat>
  <Paragraphs>196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Office Theme</vt:lpstr>
      <vt:lpstr>Service Mesh</vt:lpstr>
      <vt:lpstr>Objectives</vt:lpstr>
      <vt:lpstr>Contents</vt:lpstr>
      <vt:lpstr>References</vt:lpstr>
      <vt:lpstr>Introduction to Service Mesh [1]</vt:lpstr>
      <vt:lpstr>The Definition of Service Mesh</vt:lpstr>
      <vt:lpstr>Architectural Overview of Service Mesh</vt:lpstr>
      <vt:lpstr>Service Mesh Features</vt:lpstr>
      <vt:lpstr>Enablement Technologies</vt:lpstr>
      <vt:lpstr>Slide 10</vt:lpstr>
      <vt:lpstr>Why Service Mesh?</vt:lpstr>
      <vt:lpstr>Security [2]</vt:lpstr>
      <vt:lpstr>Reliability</vt:lpstr>
      <vt:lpstr>Observability</vt:lpstr>
      <vt:lpstr>Slide 15</vt:lpstr>
      <vt:lpstr>1. Download Istio on macOS</vt:lpstr>
      <vt:lpstr>2. Install Istio</vt:lpstr>
      <vt:lpstr>3. Install the Kubernetes Gateway API CRDs</vt:lpstr>
      <vt:lpstr>4. Deploy the Bookinfo sample application</vt:lpstr>
      <vt:lpstr>5. Open the application to outside traffic</vt:lpstr>
      <vt:lpstr>6. Access the application</vt:lpstr>
      <vt:lpstr>Slide 22</vt:lpstr>
      <vt:lpstr>1. Install Istio for Online Boutique</vt:lpstr>
      <vt:lpstr>2. Verify the Status of Istio Sidecars</vt:lpstr>
      <vt:lpstr>Slide 25</vt:lpstr>
      <vt:lpstr>Intro to Linkerd [2]</vt:lpstr>
      <vt:lpstr>Linkerd Architecture</vt:lpstr>
      <vt:lpstr>The Linkerd Control Plane</vt:lpstr>
      <vt:lpstr>Linkerd Viz (Dashboard)</vt:lpstr>
      <vt:lpstr>Linkerd Multicluster (Extension)</vt:lpstr>
      <vt:lpstr>Linkerd Jaeger (Distributed Tracing)</vt:lpstr>
      <vt:lpstr>Slide 32</vt:lpstr>
      <vt:lpstr>1. Install the linkerd CLI on macOS</vt:lpstr>
      <vt:lpstr>2. Create a k3d Cluster</vt:lpstr>
      <vt:lpstr>3. Install Linkerd via the CLI</vt:lpstr>
      <vt:lpstr>4. Install Linkerd Viz</vt:lpstr>
      <vt:lpstr>5. Open Linkerd Viz</vt:lpstr>
      <vt:lpstr>6. Uninstall Linkerd</vt:lpstr>
      <vt:lpstr>Opaque and Skip Ports</vt:lpstr>
      <vt:lpstr>Mutual TLS</vt:lpstr>
      <vt:lpstr>Slide 41</vt:lpstr>
      <vt:lpstr>Workloads</vt:lpstr>
      <vt:lpstr>Adding a workload to the mesh</vt:lpstr>
      <vt:lpstr>The proxy injector</vt:lpstr>
      <vt:lpstr>1. Install the demo app</vt:lpstr>
      <vt:lpstr>2. Add Linkerd’s data plane proxies</vt:lpstr>
      <vt:lpstr>3. Explore Linkerd</vt:lpstr>
      <vt:lpstr>Slide 48</vt:lpstr>
      <vt:lpstr>.NET Example</vt:lpstr>
      <vt:lpstr>Slide 50</vt:lpstr>
      <vt:lpstr>A typical software stack [3]</vt:lpstr>
      <vt:lpstr>Sidecar Proxies</vt:lpstr>
      <vt:lpstr>Control Plane</vt:lpstr>
      <vt:lpstr>How a Service Mesh Works</vt:lpstr>
      <vt:lpstr>Why Use a Service Mesh</vt:lpstr>
      <vt:lpstr>Consul Architecture</vt:lpstr>
      <vt:lpstr>1. A new service being started on a node</vt:lpstr>
      <vt:lpstr>2. Consul client configuring the backend proxy</vt:lpstr>
      <vt:lpstr>3. Frontend service is configured to talk to the backend service</vt:lpstr>
      <vt:lpstr>4. The frontend’s proxy learning the address of the backend service</vt:lpstr>
      <vt:lpstr>5. Sidecar proxies capture inbound and outbound traffic</vt:lpstr>
      <vt:lpstr>Consul Versus Other Meshes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4233</cp:revision>
  <dcterms:created xsi:type="dcterms:W3CDTF">2007-10-06T08:25:13Z</dcterms:created>
  <dcterms:modified xsi:type="dcterms:W3CDTF">2026-07-07T18:40:04Z</dcterms:modified>
</cp:coreProperties>
</file>