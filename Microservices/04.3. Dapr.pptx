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handoutMasterIdLst>
    <p:handoutMasterId r:id="rId24"/>
  </p:handoutMasterIdLst>
  <p:sldIdLst>
    <p:sldId id="256" r:id="rId2"/>
    <p:sldId id="431" r:id="rId3"/>
    <p:sldId id="603" r:id="rId4"/>
    <p:sldId id="423" r:id="rId5"/>
    <p:sldId id="832" r:id="rId6"/>
    <p:sldId id="772" r:id="rId7"/>
    <p:sldId id="827" r:id="rId8"/>
    <p:sldId id="782" r:id="rId9"/>
    <p:sldId id="783" r:id="rId10"/>
    <p:sldId id="785" r:id="rId11"/>
    <p:sldId id="788" r:id="rId12"/>
    <p:sldId id="684" r:id="rId13"/>
    <p:sldId id="828" r:id="rId14"/>
    <p:sldId id="716" r:id="rId15"/>
    <p:sldId id="811" r:id="rId16"/>
    <p:sldId id="829" r:id="rId17"/>
    <p:sldId id="831" r:id="rId18"/>
    <p:sldId id="830" r:id="rId19"/>
    <p:sldId id="757" r:id="rId20"/>
    <p:sldId id="754" r:id="rId21"/>
    <p:sldId id="343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08" autoAdjust="0"/>
    <p:restoredTop sz="94667" autoAdjust="0"/>
  </p:normalViewPr>
  <p:slideViewPr>
    <p:cSldViewPr>
      <p:cViewPr>
        <p:scale>
          <a:sx n="50" d="100"/>
          <a:sy n="50" d="100"/>
        </p:scale>
        <p:origin x="-148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B3018-FF02-4441-8D87-E9B566FD53EF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F6CB5-B151-4F47-887A-7ABC8BA9B683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833D9-8C88-4559-AEEC-FA15E51A85A2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E0F57-CE62-46C5-A669-7AD0AACE55B3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93293-CF09-4AAD-A4BD-0074CCA109E2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6846F-C523-4D16-86A8-82DD20AD8787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B14D5-E86C-4379-A86F-A3B92BC58CD0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8E9931-0EC3-43E4-9D97-7A7BFDA94F82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56DE0-3B49-44FD-B226-B60DFFBF9F16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D892B-F098-4A6E-A674-A78BC00813D7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5C0DE-736A-42CE-A274-75999CBF0414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9AE29E-8B2F-4393-91E6-B1BB4BFB24C5}" type="datetime1">
              <a:rPr lang="en-US" smtClean="0"/>
              <a:pPr>
                <a:defRPr/>
              </a:pPr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dapr.io/getting-started/install-dapr-cli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dapr/quickstarts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community.microsoft.com/blog/azuredevcommunityblog/decoding-the-dynamics-dapr-vs-service-meshes/4021563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err="1" smtClean="0"/>
              <a:t>Dapr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>
                <a:cs typeface="Calibri" pitchFamily="34" charset="0"/>
              </a:rPr>
              <a:t>Haishi</a:t>
            </a:r>
            <a:r>
              <a:rPr lang="en-US" sz="2400" dirty="0" smtClean="0">
                <a:cs typeface="Calibri" pitchFamily="34" charset="0"/>
              </a:rPr>
              <a:t> </a:t>
            </a:r>
            <a:r>
              <a:rPr lang="en-US" sz="2400" dirty="0" err="1" smtClean="0">
                <a:cs typeface="Calibri" pitchFamily="34" charset="0"/>
              </a:rPr>
              <a:t>Bai</a:t>
            </a:r>
            <a:r>
              <a:rPr lang="en-US" sz="2400" dirty="0" smtClean="0">
                <a:cs typeface="Calibri" pitchFamily="34" charset="0"/>
              </a:rPr>
              <a:t> and </a:t>
            </a:r>
            <a:r>
              <a:rPr lang="en-US" sz="2400" dirty="0" err="1" smtClean="0">
                <a:cs typeface="Calibri" pitchFamily="34" charset="0"/>
              </a:rPr>
              <a:t>Yaron</a:t>
            </a:r>
            <a:r>
              <a:rPr lang="en-US" sz="2400" dirty="0" smtClean="0">
                <a:cs typeface="Calibri" pitchFamily="34" charset="0"/>
              </a:rPr>
              <a:t> Schneider (2020). Learning </a:t>
            </a:r>
            <a:r>
              <a:rPr lang="en-US" sz="2400" dirty="0" err="1" smtClean="0">
                <a:cs typeface="Calibri" pitchFamily="34" charset="0"/>
              </a:rPr>
              <a:t>Dapr</a:t>
            </a:r>
            <a:r>
              <a:rPr lang="en-US" sz="2400" dirty="0" smtClean="0">
                <a:cs typeface="Calibri" pitchFamily="34" charset="0"/>
              </a:rPr>
              <a:t>. O'Reilly Media.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>
                <a:cs typeface="Calibri" pitchFamily="34" charset="0"/>
              </a:rPr>
              <a:t>Radoslav</a:t>
            </a:r>
            <a:r>
              <a:rPr lang="en-US" sz="2400" dirty="0" smtClean="0">
                <a:cs typeface="Calibri" pitchFamily="34" charset="0"/>
              </a:rPr>
              <a:t> </a:t>
            </a:r>
            <a:r>
              <a:rPr lang="en-US" sz="2400" dirty="0" err="1" smtClean="0">
                <a:cs typeface="Calibri" pitchFamily="34" charset="0"/>
              </a:rPr>
              <a:t>Gatev</a:t>
            </a:r>
            <a:r>
              <a:rPr lang="en-US" sz="2400" dirty="0" smtClean="0">
                <a:cs typeface="Calibri" pitchFamily="34" charset="0"/>
              </a:rPr>
              <a:t> (2021). Introducing Distributed Application Runtime (</a:t>
            </a:r>
            <a:r>
              <a:rPr lang="en-US" sz="2400" dirty="0" err="1" smtClean="0">
                <a:cs typeface="Calibri" pitchFamily="34" charset="0"/>
              </a:rPr>
              <a:t>Dapr</a:t>
            </a:r>
            <a:r>
              <a:rPr lang="en-US" sz="2400" dirty="0" smtClean="0">
                <a:cs typeface="Calibri" pitchFamily="34" charset="0"/>
              </a:rPr>
              <a:t>). </a:t>
            </a:r>
            <a:r>
              <a:rPr lang="en-US" sz="2400" dirty="0" err="1" smtClean="0">
                <a:cs typeface="Calibri" pitchFamily="34" charset="0"/>
              </a:rPr>
              <a:t>Apress</a:t>
            </a:r>
            <a:r>
              <a:rPr lang="en-US" sz="2400" dirty="0" smtClean="0">
                <a:cs typeface="Calibri" pitchFamily="34" charset="0"/>
              </a:rPr>
              <a:t>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Calibri" pitchFamily="34" charset="0"/>
              </a:rPr>
              <a:t>Distributed </a:t>
            </a:r>
            <a:r>
              <a:rPr lang="en-US" smtClean="0">
                <a:cs typeface="Calibri" pitchFamily="34" charset="0"/>
              </a:rPr>
              <a:t>Application </a:t>
            </a:r>
            <a:r>
              <a:rPr lang="en-US" smtClean="0">
                <a:cs typeface="Calibri" pitchFamily="34" charset="0"/>
              </a:rPr>
              <a:t>Runtime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the </a:t>
            </a:r>
            <a:r>
              <a:rPr lang="en-US" dirty="0" err="1" smtClean="0"/>
              <a:t>Dapr</a:t>
            </a:r>
            <a:r>
              <a:rPr lang="en-US" dirty="0" smtClean="0"/>
              <a:t> CLI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https://docs.dapr.io/getting-started/install-dapr-cli/</a:t>
            </a:r>
            <a:endParaRPr lang="en-US" sz="2400" dirty="0" smtClean="0"/>
          </a:p>
          <a:p>
            <a:r>
              <a:rPr lang="en-US" sz="2000" dirty="0" smtClean="0">
                <a:latin typeface="Consolas" pitchFamily="49" charset="0"/>
              </a:rPr>
              <a:t>curl -</a:t>
            </a:r>
            <a:r>
              <a:rPr lang="en-US" sz="2000" dirty="0" err="1" smtClean="0">
                <a:latin typeface="Consolas" pitchFamily="49" charset="0"/>
              </a:rPr>
              <a:t>fsSL</a:t>
            </a:r>
            <a:r>
              <a:rPr lang="en-US" sz="2000" dirty="0" smtClean="0">
                <a:latin typeface="Consolas" pitchFamily="49" charset="0"/>
              </a:rPr>
              <a:t> https://raw.githubusercontent.com/dapr/cli/master/install/install.sh | /bin/bash</a:t>
            </a:r>
          </a:p>
          <a:p>
            <a:r>
              <a:rPr lang="en-US" sz="2000" dirty="0" err="1" smtClean="0">
                <a:latin typeface="Consolas" pitchFamily="49" charset="0"/>
              </a:rPr>
              <a:t>dapr</a:t>
            </a:r>
            <a:r>
              <a:rPr lang="en-US" sz="2000" dirty="0" smtClean="0">
                <a:latin typeface="Consolas" pitchFamily="49" charset="0"/>
              </a:rPr>
              <a:t> -h</a:t>
            </a:r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3733800"/>
            <a:ext cx="62833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Allow the default </a:t>
            </a:r>
            <a:r>
              <a:rPr lang="en-US" dirty="0" err="1" smtClean="0"/>
              <a:t>Docker</a:t>
            </a:r>
            <a:r>
              <a:rPr lang="en-US" dirty="0" smtClean="0"/>
              <a:t> socket to be used</a:t>
            </a: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063" y="2292350"/>
            <a:ext cx="7635875" cy="304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Initialize </a:t>
            </a:r>
            <a:r>
              <a:rPr lang="en-US" dirty="0" err="1" smtClean="0"/>
              <a:t>Dapr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dapr</a:t>
            </a:r>
            <a:r>
              <a:rPr lang="en-US" sz="2400" dirty="0" smtClean="0">
                <a:latin typeface="Consolas" pitchFamily="49" charset="0"/>
              </a:rPr>
              <a:t> init</a:t>
            </a:r>
            <a:endParaRPr lang="en-US" sz="2200" dirty="0" smtClean="0">
              <a:latin typeface="Consolas" pitchFamily="49" charset="0"/>
              <a:sym typeface="Wingdings" pitchFamily="2" charset="2"/>
            </a:endParaRPr>
          </a:p>
        </p:txBody>
      </p:sp>
      <p:pic>
        <p:nvPicPr>
          <p:cNvPr id="1167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743200"/>
            <a:ext cx="62833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Dapr</a:t>
            </a:r>
            <a:r>
              <a:rPr lang="en-US" dirty="0" smtClean="0"/>
              <a:t> initialization includes: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Running a </a:t>
            </a:r>
            <a:r>
              <a:rPr lang="en-US" sz="2400" b="1" dirty="0" err="1" smtClean="0"/>
              <a:t>Redis</a:t>
            </a:r>
            <a:r>
              <a:rPr lang="en-US" sz="2400" b="1" dirty="0" smtClean="0"/>
              <a:t> container instance</a:t>
            </a:r>
            <a:r>
              <a:rPr lang="en-US" sz="2400" dirty="0" smtClean="0"/>
              <a:t> to be used as a local state store and message broker.</a:t>
            </a:r>
          </a:p>
          <a:p>
            <a:r>
              <a:rPr lang="en-US" sz="2400" dirty="0" smtClean="0"/>
              <a:t>Running a </a:t>
            </a:r>
            <a:r>
              <a:rPr lang="en-US" sz="2400" b="1" dirty="0" err="1" smtClean="0"/>
              <a:t>Zipkin</a:t>
            </a:r>
            <a:r>
              <a:rPr lang="en-US" sz="2400" b="1" dirty="0" smtClean="0"/>
              <a:t> container instance</a:t>
            </a:r>
            <a:r>
              <a:rPr lang="en-US" sz="2400" dirty="0" smtClean="0"/>
              <a:t> for </a:t>
            </a:r>
            <a:r>
              <a:rPr lang="en-US" sz="2400" dirty="0" err="1" smtClean="0"/>
              <a:t>observability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Creating a </a:t>
            </a:r>
            <a:r>
              <a:rPr lang="en-US" sz="2400" b="1" dirty="0" smtClean="0"/>
              <a:t>default components folder</a:t>
            </a:r>
            <a:r>
              <a:rPr lang="en-US" sz="2400" dirty="0" smtClean="0"/>
              <a:t> with component definitions for the above.</a:t>
            </a:r>
          </a:p>
          <a:p>
            <a:r>
              <a:rPr lang="en-US" sz="2400" dirty="0" smtClean="0"/>
              <a:t>Running a </a:t>
            </a:r>
            <a:r>
              <a:rPr lang="en-US" sz="2400" b="1" dirty="0" err="1" smtClean="0"/>
              <a:t>Dapr</a:t>
            </a:r>
            <a:r>
              <a:rPr lang="en-US" sz="2400" b="1" dirty="0" smtClean="0"/>
              <a:t> placement service container instance</a:t>
            </a:r>
            <a:r>
              <a:rPr lang="en-US" sz="2400" dirty="0" smtClean="0"/>
              <a:t> for local actor support.</a:t>
            </a:r>
          </a:p>
          <a:p>
            <a:r>
              <a:rPr lang="en-US" sz="2400" dirty="0" smtClean="0"/>
              <a:t>Running a </a:t>
            </a:r>
            <a:r>
              <a:rPr lang="en-US" sz="2400" b="1" dirty="0" err="1" smtClean="0"/>
              <a:t>Dapr</a:t>
            </a:r>
            <a:r>
              <a:rPr lang="en-US" sz="2400" b="1" dirty="0" smtClean="0"/>
              <a:t> scheduler service container instance</a:t>
            </a:r>
            <a:r>
              <a:rPr lang="en-US" sz="2400" dirty="0" smtClean="0"/>
              <a:t> for job scheduling.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ym typeface="Wingdings" pitchFamily="2" charset="2"/>
              </a:rPr>
              <a:t>4. </a:t>
            </a:r>
            <a:r>
              <a:rPr lang="en-US" dirty="0" smtClean="0"/>
              <a:t>Verify </a:t>
            </a:r>
            <a:r>
              <a:rPr lang="en-US" dirty="0" err="1" smtClean="0"/>
              <a:t>Dapr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dapr</a:t>
            </a:r>
            <a:r>
              <a:rPr lang="en-US" sz="2400" dirty="0" smtClean="0">
                <a:latin typeface="Consolas" pitchFamily="49" charset="0"/>
              </a:rPr>
              <a:t> --version</a:t>
            </a:r>
          </a:p>
          <a:p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ps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/>
              <a:t>ls</a:t>
            </a:r>
            <a:r>
              <a:rPr lang="en-US" sz="2400" dirty="0" smtClean="0"/>
              <a:t> $HOME/.</a:t>
            </a:r>
            <a:r>
              <a:rPr lang="en-US" sz="2400" dirty="0" err="1" smtClean="0"/>
              <a:t>dapr</a:t>
            </a:r>
            <a:endParaRPr lang="en-US" sz="2400" dirty="0" smtClean="0">
              <a:latin typeface="Consolas" pitchFamily="49" charset="0"/>
              <a:sym typeface="Wingdings" pitchFamily="2" charset="2"/>
            </a:endParaRPr>
          </a:p>
        </p:txBody>
      </p:sp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695700"/>
            <a:ext cx="61658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ym typeface="Wingdings" pitchFamily="2" charset="2"/>
              </a:rPr>
              <a:t>5. Review Node Hello World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https://github.com/dapr/quickstarts/tree/master/tutorials/hello-world</a:t>
            </a:r>
          </a:p>
          <a:p>
            <a:r>
              <a:rPr lang="en-US" sz="2000" dirty="0" err="1" smtClean="0">
                <a:latin typeface="Consolas" pitchFamily="49" charset="0"/>
              </a:rPr>
              <a:t>git</a:t>
            </a:r>
            <a:r>
              <a:rPr lang="en-US" sz="2000" dirty="0" smtClean="0">
                <a:latin typeface="Consolas" pitchFamily="49" charset="0"/>
              </a:rPr>
              <a:t> clone </a:t>
            </a:r>
            <a:r>
              <a:rPr lang="en-US" sz="2000" dirty="0" smtClean="0">
                <a:latin typeface="Consolas" pitchFamily="49" charset="0"/>
                <a:hlinkClick r:id="rId2"/>
              </a:rPr>
              <a:t>https://github.com/dapr/quickstarts.git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quickstarts</a:t>
            </a:r>
            <a:r>
              <a:rPr lang="en-US" sz="2000" dirty="0" smtClean="0">
                <a:latin typeface="Consolas" pitchFamily="49" charset="0"/>
              </a:rPr>
              <a:t>/tutorials/hello-world/node</a:t>
            </a:r>
          </a:p>
          <a:p>
            <a:endParaRPr lang="en-US" sz="2000" dirty="0" smtClean="0">
              <a:sym typeface="Wingdings" pitchFamily="2" charset="2"/>
            </a:endParaRPr>
          </a:p>
        </p:txBody>
      </p:sp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5600" y="3194050"/>
            <a:ext cx="5892800" cy="274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Run Node.js app with </a:t>
            </a:r>
            <a:r>
              <a:rPr lang="en-US" dirty="0" err="1" smtClean="0"/>
              <a:t>Dapr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npm</a:t>
            </a:r>
            <a:r>
              <a:rPr lang="en-US" sz="2400" dirty="0" smtClean="0"/>
              <a:t> install</a:t>
            </a:r>
          </a:p>
          <a:p>
            <a:r>
              <a:rPr lang="en-US" sz="2400" dirty="0" err="1" smtClean="0"/>
              <a:t>dapr</a:t>
            </a:r>
            <a:r>
              <a:rPr lang="en-US" sz="2400" dirty="0" smtClean="0"/>
              <a:t> run --app-id </a:t>
            </a:r>
            <a:r>
              <a:rPr lang="en-US" sz="2400" dirty="0" err="1" smtClean="0"/>
              <a:t>nodeapp</a:t>
            </a:r>
            <a:r>
              <a:rPr lang="en-US" sz="2400" dirty="0" smtClean="0"/>
              <a:t> --app-port 3000 --</a:t>
            </a:r>
            <a:r>
              <a:rPr lang="en-US" sz="2400" dirty="0" err="1" smtClean="0"/>
              <a:t>dapr</a:t>
            </a:r>
            <a:r>
              <a:rPr lang="en-US" sz="2400" dirty="0" smtClean="0"/>
              <a:t>-http-port 3500 node app.js</a:t>
            </a:r>
          </a:p>
          <a:p>
            <a:endParaRPr lang="en-US" sz="2400" dirty="0" smtClean="0">
              <a:latin typeface="Consolas" pitchFamily="49" charset="0"/>
            </a:endParaRPr>
          </a:p>
        </p:txBody>
      </p:sp>
      <p:pic>
        <p:nvPicPr>
          <p:cNvPr id="634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1738" y="3124200"/>
            <a:ext cx="67405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Post messages to the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quickstarts</a:t>
            </a:r>
            <a:r>
              <a:rPr lang="en-US" sz="2000" dirty="0" smtClean="0">
                <a:latin typeface="Consolas" pitchFamily="49" charset="0"/>
              </a:rPr>
              <a:t>/tutorials/hello-world/node</a:t>
            </a:r>
          </a:p>
          <a:p>
            <a:r>
              <a:rPr lang="en-US" sz="2000" dirty="0" err="1" smtClean="0">
                <a:latin typeface="Consolas" pitchFamily="49" charset="0"/>
              </a:rPr>
              <a:t>dapr</a:t>
            </a:r>
            <a:r>
              <a:rPr lang="en-US" sz="2000" dirty="0" smtClean="0">
                <a:latin typeface="Consolas" pitchFamily="49" charset="0"/>
              </a:rPr>
              <a:t> invoke --app-id </a:t>
            </a:r>
            <a:r>
              <a:rPr lang="en-US" sz="2000" dirty="0" err="1" smtClean="0">
                <a:latin typeface="Consolas" pitchFamily="49" charset="0"/>
              </a:rPr>
              <a:t>nodeapp</a:t>
            </a:r>
            <a:r>
              <a:rPr lang="en-US" sz="2000" dirty="0" smtClean="0">
                <a:latin typeface="Consolas" pitchFamily="49" charset="0"/>
              </a:rPr>
              <a:t> --method </a:t>
            </a:r>
            <a:r>
              <a:rPr lang="en-US" sz="2000" dirty="0" err="1" smtClean="0">
                <a:latin typeface="Consolas" pitchFamily="49" charset="0"/>
              </a:rPr>
              <a:t>neworder</a:t>
            </a:r>
            <a:r>
              <a:rPr lang="en-US" sz="2000" dirty="0" smtClean="0">
                <a:latin typeface="Consolas" pitchFamily="49" charset="0"/>
              </a:rPr>
              <a:t> --data-file </a:t>
            </a:r>
            <a:r>
              <a:rPr lang="en-US" sz="2000" dirty="0" err="1" smtClean="0">
                <a:latin typeface="Consolas" pitchFamily="49" charset="0"/>
              </a:rPr>
              <a:t>sample.json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dapr</a:t>
            </a:r>
            <a:r>
              <a:rPr lang="en-US" sz="2000" dirty="0" smtClean="0">
                <a:latin typeface="Consolas" pitchFamily="49" charset="0"/>
              </a:rPr>
              <a:t> invoke --app-id </a:t>
            </a:r>
            <a:r>
              <a:rPr lang="en-US" sz="2000" dirty="0" err="1" smtClean="0">
                <a:latin typeface="Consolas" pitchFamily="49" charset="0"/>
              </a:rPr>
              <a:t>nodeapp</a:t>
            </a:r>
            <a:r>
              <a:rPr lang="en-US" sz="2000" dirty="0" smtClean="0">
                <a:latin typeface="Consolas" pitchFamily="49" charset="0"/>
              </a:rPr>
              <a:t> --method order --verb GET</a:t>
            </a:r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1225" y="3686175"/>
            <a:ext cx="47815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Dapr</a:t>
            </a:r>
            <a:r>
              <a:rPr lang="en-US" dirty="0" smtClean="0"/>
              <a:t>? (I)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Dapr</a:t>
            </a:r>
            <a:r>
              <a:rPr lang="en-US" sz="2200" dirty="0" smtClean="0"/>
              <a:t> is a an event-driven, portable runtime for building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for the cloud and the edge.</a:t>
            </a:r>
          </a:p>
          <a:p>
            <a:r>
              <a:rPr lang="en-US" sz="2200" dirty="0" smtClean="0"/>
              <a:t>It uses a companion container or process to deliver the building blocks needed by distributed applications, including state management, service discovery, reliable messaging, </a:t>
            </a:r>
            <a:r>
              <a:rPr lang="en-US" sz="2200" dirty="0" err="1" smtClean="0"/>
              <a:t>observability</a:t>
            </a:r>
            <a:r>
              <a:rPr lang="en-US" sz="2200" dirty="0" smtClean="0"/>
              <a:t>.</a:t>
            </a:r>
          </a:p>
          <a:p>
            <a:r>
              <a:rPr lang="en-US" sz="2200" dirty="0" err="1" smtClean="0"/>
              <a:t>Dapr</a:t>
            </a:r>
            <a:r>
              <a:rPr lang="en-US" sz="2200" dirty="0" smtClean="0"/>
              <a:t> companion processes, or </a:t>
            </a:r>
            <a:r>
              <a:rPr lang="en-US" sz="2200" i="1" dirty="0" smtClean="0"/>
              <a:t>sidecars, expose a standard API surface through </a:t>
            </a:r>
            <a:r>
              <a:rPr lang="en-US" sz="2200" dirty="0" smtClean="0"/>
              <a:t>HTTP/</a:t>
            </a:r>
            <a:r>
              <a:rPr lang="en-US" sz="2200" dirty="0" err="1" smtClean="0"/>
              <a:t>gRPC</a:t>
            </a:r>
            <a:r>
              <a:rPr lang="en-US" sz="2200" dirty="0" smtClean="0"/>
              <a:t> protocols. This allows </a:t>
            </a:r>
            <a:r>
              <a:rPr lang="en-US" sz="2200" dirty="0" err="1" smtClean="0"/>
              <a:t>Dapr</a:t>
            </a:r>
            <a:r>
              <a:rPr lang="en-US" sz="2200" dirty="0" smtClean="0"/>
              <a:t> to support any programming language that supports HTTP or </a:t>
            </a:r>
            <a:r>
              <a:rPr lang="en-US" sz="2200" dirty="0" err="1" smtClean="0"/>
              <a:t>gRPC</a:t>
            </a:r>
            <a:r>
              <a:rPr lang="en-US" sz="2200" dirty="0" smtClean="0"/>
              <a:t> without requiring any SDKs for libraries to be included in application code.</a:t>
            </a:r>
          </a:p>
          <a:p>
            <a:r>
              <a:rPr lang="en-US" sz="2200" dirty="0" err="1" smtClean="0"/>
              <a:t>Dapr</a:t>
            </a:r>
            <a:r>
              <a:rPr lang="en-US" sz="2200" dirty="0" smtClean="0"/>
              <a:t> sidecars are interconnected to form an isolated, distributed runtime for a distributed application.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Dapr</a:t>
            </a:r>
            <a:r>
              <a:rPr lang="en-US" dirty="0" smtClean="0"/>
              <a:t>? (II)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4025" y="1857375"/>
            <a:ext cx="3155950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Dapr</a:t>
            </a:r>
            <a:r>
              <a:rPr lang="en-US" dirty="0" smtClean="0"/>
              <a:t>? (III) [2]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362200"/>
            <a:ext cx="6810375" cy="275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Dapr</a:t>
            </a:r>
            <a:r>
              <a:rPr lang="en-US" dirty="0" smtClean="0"/>
              <a:t> vs. Service Meshes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https://techcommunity.microsoft.com/blog/azuredevcommunityblog/decoding-the-dynamics-dapr-vs-service-meshes/4021563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4290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32217</TotalTime>
  <Words>397</Words>
  <Application>Microsoft Office PowerPoint</Application>
  <PresentationFormat>On-screen Show (4:3)</PresentationFormat>
  <Paragraphs>53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Dapr</vt:lpstr>
      <vt:lpstr>Objectives</vt:lpstr>
      <vt:lpstr>Contents</vt:lpstr>
      <vt:lpstr>References</vt:lpstr>
      <vt:lpstr>Distributed Application Runtime</vt:lpstr>
      <vt:lpstr>1. Install the Dapr CLI on macOS</vt:lpstr>
      <vt:lpstr>2. Allow the default Docker socket to be used</vt:lpstr>
      <vt:lpstr>3. Initialize Dapr</vt:lpstr>
      <vt:lpstr>Dapr initialization includes:</vt:lpstr>
      <vt:lpstr>4. Verify Dapr Installation</vt:lpstr>
      <vt:lpstr>5. Review Node Hello World Code</vt:lpstr>
      <vt:lpstr>6. Run Node.js app with Dapr</vt:lpstr>
      <vt:lpstr>7. Post messages to the service</vt:lpstr>
      <vt:lpstr>Slide 14</vt:lpstr>
      <vt:lpstr>What is Dapr? (I) [1]</vt:lpstr>
      <vt:lpstr>What is Dapr? (II)</vt:lpstr>
      <vt:lpstr>What is Dapr? (III) [2]</vt:lpstr>
      <vt:lpstr>Dapr vs. Service Meshes</vt:lpstr>
      <vt:lpstr>Slide 19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6432</cp:revision>
  <dcterms:created xsi:type="dcterms:W3CDTF">2007-10-06T08:25:13Z</dcterms:created>
  <dcterms:modified xsi:type="dcterms:W3CDTF">2025-04-11T13:03:09Z</dcterms:modified>
</cp:coreProperties>
</file>