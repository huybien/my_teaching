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08" r:id="rId1"/>
  </p:sldMasterIdLst>
  <p:notesMasterIdLst>
    <p:notesMasterId r:id="rId42"/>
  </p:notesMasterIdLst>
  <p:sldIdLst>
    <p:sldId id="600" r:id="rId2"/>
    <p:sldId id="601" r:id="rId3"/>
    <p:sldId id="603" r:id="rId4"/>
    <p:sldId id="602" r:id="rId5"/>
    <p:sldId id="611" r:id="rId6"/>
    <p:sldId id="487" r:id="rId7"/>
    <p:sldId id="500" r:id="rId8"/>
    <p:sldId id="598" r:id="rId9"/>
    <p:sldId id="502" r:id="rId10"/>
    <p:sldId id="597" r:id="rId11"/>
    <p:sldId id="492" r:id="rId12"/>
    <p:sldId id="607" r:id="rId13"/>
    <p:sldId id="610" r:id="rId14"/>
    <p:sldId id="517" r:id="rId15"/>
    <p:sldId id="499" r:id="rId16"/>
    <p:sldId id="544" r:id="rId17"/>
    <p:sldId id="612" r:id="rId18"/>
    <p:sldId id="613" r:id="rId19"/>
    <p:sldId id="614" r:id="rId20"/>
    <p:sldId id="615" r:id="rId21"/>
    <p:sldId id="616" r:id="rId22"/>
    <p:sldId id="617" r:id="rId23"/>
    <p:sldId id="618" r:id="rId24"/>
    <p:sldId id="619" r:id="rId25"/>
    <p:sldId id="620" r:id="rId26"/>
    <p:sldId id="621" r:id="rId27"/>
    <p:sldId id="622" r:id="rId28"/>
    <p:sldId id="623" r:id="rId29"/>
    <p:sldId id="624" r:id="rId30"/>
    <p:sldId id="625" r:id="rId31"/>
    <p:sldId id="626" r:id="rId32"/>
    <p:sldId id="627" r:id="rId33"/>
    <p:sldId id="628" r:id="rId34"/>
    <p:sldId id="629" r:id="rId35"/>
    <p:sldId id="630" r:id="rId36"/>
    <p:sldId id="631" r:id="rId37"/>
    <p:sldId id="632" r:id="rId38"/>
    <p:sldId id="633" r:id="rId39"/>
    <p:sldId id="634" r:id="rId40"/>
    <p:sldId id="495"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09" autoAdjust="0"/>
    <p:restoredTop sz="94667" autoAdjust="0"/>
  </p:normalViewPr>
  <p:slideViewPr>
    <p:cSldViewPr>
      <p:cViewPr>
        <p:scale>
          <a:sx n="50" d="100"/>
          <a:sy n="50" d="100"/>
        </p:scale>
        <p:origin x="-1542"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1904DB-4A6B-4FD1-8300-AC48B6BD18CB}" type="datetimeFigureOut">
              <a:rPr lang="en-US" smtClean="0"/>
              <a:pPr/>
              <a:t>4/4/2024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51A86C-6354-47C6-821A-4100A8F28FB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4/4/2024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4/4/2024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4/4/2024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4/4/2024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4/4/2024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4/4/2024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4/4/2024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base64converter.com/" TargetMode="External"/><Relationship Id="rId2" Type="http://schemas.openxmlformats.org/officeDocument/2006/relationships/hyperlink" Target="https://www.soapui.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dotnet/framework/wcf/whats-wcf" TargetMode="External"/><Relationship Id="rId2" Type="http://schemas.openxmlformats.org/officeDocument/2006/relationships/hyperlink" Target="https://axis.apache.or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dirty="0" smtClean="0"/>
              <a:t>SOAP APIs</a:t>
            </a:r>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3428999"/>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SOAP Web Services</a:t>
            </a:r>
          </a:p>
          <a:p>
            <a:pPr marL="571500" indent="-571500">
              <a:buFont typeface="+mj-lt"/>
              <a:buAutoNum type="romanUcPeriod"/>
            </a:pPr>
            <a:r>
              <a:rPr lang="en-US" sz="2400" dirty="0" smtClean="0"/>
              <a:t>Service Bus </a:t>
            </a:r>
            <a:r>
              <a:rPr lang="en-US" sz="2400" dirty="0" smtClean="0"/>
              <a:t>Architecture (Web Services Platform Architecture)</a:t>
            </a:r>
            <a:endParaRPr lang="en-US" sz="2400" dirty="0" smtClean="0"/>
          </a:p>
          <a:p>
            <a:pPr marL="571500" indent="-571500">
              <a:buFont typeface="+mj-lt"/>
              <a:buAutoNum type="romanUcPeriod"/>
            </a:pPr>
            <a:r>
              <a:rPr lang="en-US" sz="2400" dirty="0" smtClean="0"/>
              <a:t>SOAP Web Services Architecture</a:t>
            </a:r>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334000" cy="4525963"/>
          </a:xfrm>
        </p:spPr>
        <p:txBody>
          <a:bodyPr>
            <a:noAutofit/>
          </a:bodyPr>
          <a:lstStyle/>
          <a:p>
            <a:pPr marL="514350" indent="-514350">
              <a:buFont typeface="+mj-lt"/>
              <a:buAutoNum type="arabicPeriod"/>
            </a:pPr>
            <a:r>
              <a:rPr lang="en-US" sz="1600" dirty="0" err="1" smtClean="0"/>
              <a:t>Hye</a:t>
            </a:r>
            <a:r>
              <a:rPr lang="en-US" sz="1600" dirty="0" smtClean="0"/>
              <a:t>-young Paik et al. (2017). Web Service Implementation and Composition Techniques. Springer.</a:t>
            </a:r>
          </a:p>
          <a:p>
            <a:pPr marL="514350" indent="-514350">
              <a:buFont typeface="+mj-lt"/>
              <a:buAutoNum type="arabicPeriod"/>
            </a:pPr>
            <a:r>
              <a:rPr lang="en-US" sz="1600" dirty="0" smtClean="0"/>
              <a:t>Francisco </a:t>
            </a:r>
            <a:r>
              <a:rPr lang="en-US" sz="1600" dirty="0" err="1" smtClean="0"/>
              <a:t>Curbera</a:t>
            </a:r>
            <a:r>
              <a:rPr lang="en-US" sz="1600" dirty="0" smtClean="0"/>
              <a:t> et al. (2002). Unraveling the Web Services Web An Introduction to SOAP, WSDL, and UDDI.</a:t>
            </a:r>
          </a:p>
          <a:p>
            <a:pPr marL="514350" lvl="0" indent="-514350">
              <a:buFont typeface="+mj-lt"/>
              <a:buAutoNum type="arabicPeriod"/>
            </a:pPr>
            <a:r>
              <a:rPr lang="en-US" sz="1600" dirty="0" smtClean="0"/>
              <a:t>M.P. </a:t>
            </a:r>
            <a:r>
              <a:rPr lang="en-US" sz="1600" dirty="0" err="1" smtClean="0"/>
              <a:t>Papazoglou</a:t>
            </a:r>
            <a:r>
              <a:rPr lang="en-US" sz="1600" dirty="0" smtClean="0"/>
              <a:t> (2003). Service-Oriented Computing.</a:t>
            </a:r>
          </a:p>
          <a:p>
            <a:pPr marL="514350" indent="-514350">
              <a:buFont typeface="+mj-lt"/>
              <a:buAutoNum type="arabicPeriod"/>
            </a:pPr>
            <a:r>
              <a:rPr lang="en-US" sz="1600" dirty="0" smtClean="0"/>
              <a:t>Mark </a:t>
            </a:r>
            <a:r>
              <a:rPr lang="en-US" sz="1600" dirty="0" err="1" smtClean="0"/>
              <a:t>Endrei</a:t>
            </a:r>
            <a:r>
              <a:rPr lang="en-US" sz="1600" dirty="0" smtClean="0"/>
              <a:t> et al. (2004). Patterns - Service-Oriented Architecture and Web Services. IBM Corp.</a:t>
            </a:r>
          </a:p>
          <a:p>
            <a:pPr marL="514350" indent="-514350">
              <a:buFont typeface="+mj-lt"/>
              <a:buAutoNum type="arabicPeriod"/>
            </a:pPr>
            <a:r>
              <a:rPr lang="en-US" sz="1600" dirty="0" err="1" smtClean="0"/>
              <a:t>Sanjiva</a:t>
            </a:r>
            <a:r>
              <a:rPr lang="en-US" sz="1600" dirty="0" smtClean="0"/>
              <a:t> </a:t>
            </a:r>
            <a:r>
              <a:rPr lang="en-US" sz="1600" dirty="0" err="1" smtClean="0"/>
              <a:t>Weerawarana</a:t>
            </a:r>
            <a:r>
              <a:rPr lang="en-US" sz="1600" dirty="0" smtClean="0"/>
              <a:t> et al. (2005). Web Services Platform Architecture. Prentice Hall PTR.</a:t>
            </a:r>
          </a:p>
          <a:p>
            <a:pPr marL="514350" indent="-514350">
              <a:buFont typeface="+mj-lt"/>
              <a:buAutoNum type="arabicPeriod"/>
            </a:pPr>
            <a:r>
              <a:rPr lang="en-US" sz="1600" dirty="0" err="1" smtClean="0"/>
              <a:t>Gautam</a:t>
            </a:r>
            <a:r>
              <a:rPr lang="en-US" sz="1600" dirty="0" smtClean="0"/>
              <a:t> </a:t>
            </a:r>
            <a:r>
              <a:rPr lang="en-US" sz="1600" dirty="0" err="1" smtClean="0"/>
              <a:t>Shroff</a:t>
            </a:r>
            <a:r>
              <a:rPr lang="en-US" sz="1600" dirty="0" smtClean="0"/>
              <a:t> (2010). Enterprise Cloud Computing. Cambridge University Press.</a:t>
            </a:r>
          </a:p>
          <a:p>
            <a:pPr marL="514350" indent="-514350">
              <a:buFont typeface="+mj-lt"/>
              <a:buAutoNum type="arabicPeriod"/>
            </a:pPr>
            <a:r>
              <a:rPr lang="en-US" sz="1600" dirty="0" err="1" smtClean="0"/>
              <a:t>Sanjiva</a:t>
            </a:r>
            <a:r>
              <a:rPr lang="en-US" sz="1600" dirty="0" smtClean="0"/>
              <a:t> </a:t>
            </a:r>
            <a:r>
              <a:rPr lang="en-US" sz="1600" dirty="0" err="1" smtClean="0"/>
              <a:t>Weerawarana</a:t>
            </a:r>
            <a:r>
              <a:rPr lang="en-US" sz="1600" dirty="0" smtClean="0"/>
              <a:t> et al. (2005). Web Services Platform Architecture. Prentice Hall PTR.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SOAP Web Services Overview [1]</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1143000" y="2819400"/>
            <a:ext cx="6661060" cy="2664424"/>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Simple Object Access Protocol (SOAP) [2]</a:t>
            </a:r>
            <a:endParaRPr lang="en-US" sz="3800" dirty="0"/>
          </a:p>
        </p:txBody>
      </p:sp>
      <p:sp>
        <p:nvSpPr>
          <p:cNvPr id="3" name="Content Placeholder 2"/>
          <p:cNvSpPr>
            <a:spLocks noGrp="1"/>
          </p:cNvSpPr>
          <p:nvPr>
            <p:ph idx="1"/>
          </p:nvPr>
        </p:nvSpPr>
        <p:spPr>
          <a:xfrm>
            <a:off x="457200" y="1600201"/>
            <a:ext cx="8229600" cy="2514600"/>
          </a:xfrm>
        </p:spPr>
        <p:txBody>
          <a:bodyPr/>
          <a:lstStyle/>
          <a:p>
            <a:r>
              <a:rPr lang="en-US" sz="2200" i="1" dirty="0" smtClean="0">
                <a:solidFill>
                  <a:srgbClr val="C00000"/>
                </a:solidFill>
              </a:rPr>
              <a:t>SOAP</a:t>
            </a:r>
            <a:r>
              <a:rPr lang="en-US" sz="2200" dirty="0" smtClean="0"/>
              <a:t> is an XML-based protocol for messaging and remote procedure calls (RPCs).</a:t>
            </a:r>
          </a:p>
          <a:p>
            <a:r>
              <a:rPr lang="en-US" sz="2200" dirty="0" smtClean="0"/>
              <a:t>Rather than define a new transport protocol, SOAP works on </a:t>
            </a:r>
            <a:r>
              <a:rPr lang="en-US" sz="2200" i="1" dirty="0" smtClean="0">
                <a:solidFill>
                  <a:srgbClr val="C00000"/>
                </a:solidFill>
              </a:rPr>
              <a:t>existing transports</a:t>
            </a:r>
            <a:r>
              <a:rPr lang="en-US" sz="2200" dirty="0" smtClean="0"/>
              <a:t>, such as HTTP, SMTP, and </a:t>
            </a:r>
            <a:r>
              <a:rPr lang="en-US" sz="2200" dirty="0" err="1" smtClean="0"/>
              <a:t>MQSeries</a:t>
            </a:r>
            <a:r>
              <a:rPr lang="en-US" sz="2200" dirty="0" smtClean="0"/>
              <a:t>.</a:t>
            </a:r>
          </a:p>
          <a:p>
            <a:r>
              <a:rPr lang="en-US" sz="2200" dirty="0" smtClean="0"/>
              <a:t>A </a:t>
            </a:r>
            <a:r>
              <a:rPr lang="en-US" sz="2200" i="1" dirty="0" smtClean="0">
                <a:solidFill>
                  <a:srgbClr val="C00000"/>
                </a:solidFill>
              </a:rPr>
              <a:t>SOAP message</a:t>
            </a:r>
            <a:r>
              <a:rPr lang="en-US" sz="2200" dirty="0" smtClean="0"/>
              <a:t> has a very simple structure: an XML element with two child elements, one of which contains the header and the other the body.</a:t>
            </a:r>
            <a:endParaRPr lang="en-US" sz="2200" dirty="0"/>
          </a:p>
        </p:txBody>
      </p:sp>
      <p:pic>
        <p:nvPicPr>
          <p:cNvPr id="1027" name="Picture 3"/>
          <p:cNvPicPr>
            <a:picLocks noChangeAspect="1" noChangeArrowheads="1"/>
          </p:cNvPicPr>
          <p:nvPr/>
        </p:nvPicPr>
        <p:blipFill>
          <a:blip r:embed="rId2" cstate="print"/>
          <a:srcRect/>
          <a:stretch>
            <a:fillRect/>
          </a:stretch>
        </p:blipFill>
        <p:spPr bwMode="auto">
          <a:xfrm>
            <a:off x="2133600" y="4114800"/>
            <a:ext cx="5162550" cy="23526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 Using SOAP</a:t>
            </a:r>
            <a:endParaRPr lang="en-US" dirty="0"/>
          </a:p>
        </p:txBody>
      </p:sp>
      <p:sp>
        <p:nvSpPr>
          <p:cNvPr id="7" name="Rectangle 6"/>
          <p:cNvSpPr/>
          <p:nvPr/>
        </p:nvSpPr>
        <p:spPr>
          <a:xfrm>
            <a:off x="609600" y="1073289"/>
            <a:ext cx="7924800" cy="5632311"/>
          </a:xfrm>
          <a:prstGeom prst="rect">
            <a:avLst/>
          </a:prstGeom>
        </p:spPr>
        <p:txBody>
          <a:bodyPr wrap="square">
            <a:spAutoFit/>
          </a:bodyPr>
          <a:lstStyle/>
          <a:p>
            <a:r>
              <a:rPr lang="en-US" sz="1200" b="1" dirty="0" smtClean="0">
                <a:latin typeface="Courier New" pitchFamily="49" charset="0"/>
                <a:cs typeface="Courier New" pitchFamily="49" charset="0"/>
              </a:rPr>
              <a:t>The request:</a:t>
            </a:r>
          </a:p>
          <a:p>
            <a:r>
              <a:rPr lang="en-US" sz="1200" dirty="0" smtClean="0">
                <a:latin typeface="Courier New" pitchFamily="49" charset="0"/>
                <a:cs typeface="Courier New" pitchFamily="49" charset="0"/>
              </a:rPr>
              <a:t> GET /</a:t>
            </a:r>
            <a:r>
              <a:rPr lang="en-US" sz="1200" dirty="0" err="1" smtClean="0">
                <a:latin typeface="Courier New" pitchFamily="49" charset="0"/>
                <a:cs typeface="Courier New" pitchFamily="49" charset="0"/>
              </a:rPr>
              <a:t>StockPrice</a:t>
            </a:r>
            <a:r>
              <a:rPr lang="en-US" sz="1200" dirty="0" smtClean="0">
                <a:latin typeface="Courier New" pitchFamily="49" charset="0"/>
                <a:cs typeface="Courier New" pitchFamily="49" charset="0"/>
              </a:rPr>
              <a:t> HTTP/1.1</a:t>
            </a:r>
          </a:p>
          <a:p>
            <a:r>
              <a:rPr lang="en-US" sz="1200" dirty="0" smtClean="0">
                <a:latin typeface="Courier New" pitchFamily="49" charset="0"/>
                <a:cs typeface="Courier New" pitchFamily="49" charset="0"/>
              </a:rPr>
              <a:t>Host: example.org</a:t>
            </a:r>
          </a:p>
          <a:p>
            <a:r>
              <a:rPr lang="en-US" sz="1200" dirty="0" smtClean="0">
                <a:latin typeface="Courier New" pitchFamily="49" charset="0"/>
                <a:cs typeface="Courier New" pitchFamily="49" charset="0"/>
              </a:rPr>
              <a:t>Content-Type: application/</a:t>
            </a:r>
            <a:r>
              <a:rPr lang="en-US" sz="1200" dirty="0" err="1" smtClean="0">
                <a:latin typeface="Courier New" pitchFamily="49" charset="0"/>
                <a:cs typeface="Courier New" pitchFamily="49" charset="0"/>
              </a:rPr>
              <a:t>soap+xml</a:t>
            </a:r>
            <a:r>
              <a:rPr lang="en-US" sz="1200" dirty="0" smtClean="0">
                <a:latin typeface="Courier New" pitchFamily="49" charset="0"/>
                <a:cs typeface="Courier New" pitchFamily="49" charset="0"/>
              </a:rPr>
              <a:t>; </a:t>
            </a:r>
            <a:r>
              <a:rPr lang="en-US" sz="1200" dirty="0" err="1" smtClean="0">
                <a:latin typeface="Courier New" pitchFamily="49" charset="0"/>
                <a:cs typeface="Courier New" pitchFamily="49" charset="0"/>
              </a:rPr>
              <a:t>charset</a:t>
            </a:r>
            <a:r>
              <a:rPr lang="en-US" sz="1200" dirty="0" smtClean="0">
                <a:latin typeface="Courier New" pitchFamily="49" charset="0"/>
                <a:cs typeface="Courier New" pitchFamily="49" charset="0"/>
              </a:rPr>
              <a:t>=utf-8</a:t>
            </a:r>
          </a:p>
          <a:p>
            <a:r>
              <a:rPr lang="en-US" sz="1200" dirty="0" smtClean="0">
                <a:latin typeface="Courier New" pitchFamily="49" charset="0"/>
                <a:cs typeface="Courier New" pitchFamily="49" charset="0"/>
              </a:rPr>
              <a:t>Content-Length: </a:t>
            </a:r>
            <a:r>
              <a:rPr lang="en-US" sz="1200" dirty="0" err="1" smtClean="0">
                <a:latin typeface="Courier New" pitchFamily="49" charset="0"/>
                <a:cs typeface="Courier New" pitchFamily="49" charset="0"/>
              </a:rPr>
              <a:t>nnn</a:t>
            </a:r>
            <a:endParaRPr lang="en-US" sz="1200" dirty="0" smtClean="0">
              <a:latin typeface="Courier New" pitchFamily="49" charset="0"/>
              <a:cs typeface="Courier New" pitchFamily="49" charset="0"/>
            </a:endParaRPr>
          </a:p>
          <a:p>
            <a:endParaRPr lang="en-US" sz="1200" dirty="0" smtClean="0">
              <a:latin typeface="Courier New" pitchFamily="49" charset="0"/>
              <a:cs typeface="Courier New" pitchFamily="49" charset="0"/>
            </a:endParaRPr>
          </a:p>
          <a:p>
            <a:r>
              <a:rPr lang="en-US" sz="1200" dirty="0" smtClean="0">
                <a:latin typeface="Courier New" pitchFamily="49" charset="0"/>
                <a:cs typeface="Courier New" pitchFamily="49" charset="0"/>
              </a:rPr>
              <a:t>&lt;?xml version="1.0"?&gt;</a:t>
            </a:r>
          </a:p>
          <a:p>
            <a:r>
              <a:rPr lang="en-US" sz="1200" dirty="0" smtClean="0">
                <a:latin typeface="Courier New" pitchFamily="49" charset="0"/>
                <a:cs typeface="Courier New" pitchFamily="49" charset="0"/>
              </a:rPr>
              <a:t>&lt;</a:t>
            </a:r>
            <a:r>
              <a:rPr lang="en-US" sz="1200" dirty="0" err="1" smtClean="0">
                <a:latin typeface="Courier New" pitchFamily="49" charset="0"/>
                <a:cs typeface="Courier New" pitchFamily="49" charset="0"/>
              </a:rPr>
              <a:t>env:Envelope</a:t>
            </a:r>
            <a:r>
              <a:rPr lang="en-US" sz="1200" dirty="0" smtClean="0">
                <a:latin typeface="Courier New" pitchFamily="49" charset="0"/>
                <a:cs typeface="Courier New" pitchFamily="49" charset="0"/>
              </a:rPr>
              <a:t> </a:t>
            </a:r>
            <a:r>
              <a:rPr lang="en-US" sz="1200" dirty="0" err="1" smtClean="0">
                <a:latin typeface="Courier New" pitchFamily="49" charset="0"/>
                <a:cs typeface="Courier New" pitchFamily="49" charset="0"/>
              </a:rPr>
              <a:t>xmlns:env</a:t>
            </a:r>
            <a:r>
              <a:rPr lang="en-US" sz="1200" dirty="0" smtClean="0">
                <a:latin typeface="Courier New" pitchFamily="49" charset="0"/>
                <a:cs typeface="Courier New" pitchFamily="49" charset="0"/>
              </a:rPr>
              <a:t>="http://www.w3.org/2003/05/soap-envelope"</a:t>
            </a:r>
          </a:p>
          <a:p>
            <a:r>
              <a:rPr lang="en-US" sz="1200" dirty="0" smtClean="0">
                <a:latin typeface="Courier New" pitchFamily="49" charset="0"/>
                <a:cs typeface="Courier New" pitchFamily="49" charset="0"/>
              </a:rPr>
              <a:t>   </a:t>
            </a:r>
            <a:r>
              <a:rPr lang="en-US" sz="1200" dirty="0" err="1" smtClean="0">
                <a:latin typeface="Courier New" pitchFamily="49" charset="0"/>
                <a:cs typeface="Courier New" pitchFamily="49" charset="0"/>
              </a:rPr>
              <a:t>xmlns:s</a:t>
            </a:r>
            <a:r>
              <a:rPr lang="en-US" sz="1200" dirty="0" smtClean="0">
                <a:latin typeface="Courier New" pitchFamily="49" charset="0"/>
                <a:cs typeface="Courier New" pitchFamily="49" charset="0"/>
              </a:rPr>
              <a:t>="http://www.example.org/stock-service"&gt;</a:t>
            </a:r>
          </a:p>
          <a:p>
            <a:r>
              <a:rPr lang="en-US" sz="1200" dirty="0" smtClean="0">
                <a:latin typeface="Courier New" pitchFamily="49" charset="0"/>
                <a:cs typeface="Courier New" pitchFamily="49" charset="0"/>
              </a:rPr>
              <a:t>   &lt;</a:t>
            </a:r>
            <a:r>
              <a:rPr lang="en-US" sz="1200" dirty="0" err="1" smtClean="0">
                <a:latin typeface="Courier New" pitchFamily="49" charset="0"/>
                <a:cs typeface="Courier New" pitchFamily="49" charset="0"/>
              </a:rPr>
              <a:t>env:Body</a:t>
            </a:r>
            <a:r>
              <a:rPr lang="en-US" sz="1200" dirty="0" smtClean="0">
                <a:latin typeface="Courier New" pitchFamily="49" charset="0"/>
                <a:cs typeface="Courier New" pitchFamily="49" charset="0"/>
              </a:rPr>
              <a:t>&gt;</a:t>
            </a:r>
          </a:p>
          <a:p>
            <a:r>
              <a:rPr lang="en-US" sz="1200" dirty="0" smtClean="0">
                <a:latin typeface="Courier New" pitchFamily="49" charset="0"/>
                <a:cs typeface="Courier New" pitchFamily="49" charset="0"/>
              </a:rPr>
              <a:t>     &lt;s:GetStockQuote&gt;</a:t>
            </a:r>
          </a:p>
          <a:p>
            <a:r>
              <a:rPr lang="en-US" sz="1200" dirty="0" smtClean="0">
                <a:latin typeface="Courier New" pitchFamily="49" charset="0"/>
                <a:cs typeface="Courier New" pitchFamily="49" charset="0"/>
              </a:rPr>
              <a:t>          &lt;s:TickerSymbol&gt;IBM&lt;/s:TickerSymbol&gt;</a:t>
            </a:r>
          </a:p>
          <a:p>
            <a:r>
              <a:rPr lang="en-US" sz="1200" dirty="0" smtClean="0">
                <a:latin typeface="Courier New" pitchFamily="49" charset="0"/>
                <a:cs typeface="Courier New" pitchFamily="49" charset="0"/>
              </a:rPr>
              <a:t>     &lt;/s:GetStockQuote&gt;</a:t>
            </a:r>
          </a:p>
          <a:p>
            <a:r>
              <a:rPr lang="en-US" sz="1200" dirty="0" smtClean="0">
                <a:latin typeface="Courier New" pitchFamily="49" charset="0"/>
                <a:cs typeface="Courier New" pitchFamily="49" charset="0"/>
              </a:rPr>
              <a:t>   &lt;/</a:t>
            </a:r>
            <a:r>
              <a:rPr lang="en-US" sz="1200" dirty="0" err="1" smtClean="0">
                <a:latin typeface="Courier New" pitchFamily="49" charset="0"/>
                <a:cs typeface="Courier New" pitchFamily="49" charset="0"/>
              </a:rPr>
              <a:t>env:Body</a:t>
            </a:r>
            <a:r>
              <a:rPr lang="en-US" sz="1200" dirty="0" smtClean="0">
                <a:latin typeface="Courier New" pitchFamily="49" charset="0"/>
                <a:cs typeface="Courier New" pitchFamily="49" charset="0"/>
              </a:rPr>
              <a:t>&gt;</a:t>
            </a:r>
          </a:p>
          <a:p>
            <a:r>
              <a:rPr lang="en-US" sz="1200" dirty="0" smtClean="0">
                <a:latin typeface="Courier New" pitchFamily="49" charset="0"/>
                <a:cs typeface="Courier New" pitchFamily="49" charset="0"/>
              </a:rPr>
              <a:t>&lt;/</a:t>
            </a:r>
            <a:r>
              <a:rPr lang="en-US" sz="1200" dirty="0" err="1" smtClean="0">
                <a:latin typeface="Courier New" pitchFamily="49" charset="0"/>
                <a:cs typeface="Courier New" pitchFamily="49" charset="0"/>
              </a:rPr>
              <a:t>env:Envelope</a:t>
            </a:r>
            <a:r>
              <a:rPr lang="en-US" sz="1200" dirty="0" smtClean="0">
                <a:latin typeface="Courier New" pitchFamily="49" charset="0"/>
                <a:cs typeface="Courier New" pitchFamily="49" charset="0"/>
              </a:rPr>
              <a:t>&gt;</a:t>
            </a:r>
          </a:p>
          <a:p>
            <a:endParaRPr lang="en-US" sz="1200" dirty="0" smtClean="0">
              <a:latin typeface="Courier New" pitchFamily="49" charset="0"/>
              <a:cs typeface="Courier New" pitchFamily="49" charset="0"/>
            </a:endParaRPr>
          </a:p>
          <a:p>
            <a:r>
              <a:rPr lang="en-US" sz="1200" b="1" dirty="0" smtClean="0">
                <a:latin typeface="Courier New" pitchFamily="49" charset="0"/>
                <a:cs typeface="Courier New" pitchFamily="49" charset="0"/>
              </a:rPr>
              <a:t>The response:</a:t>
            </a:r>
          </a:p>
          <a:p>
            <a:r>
              <a:rPr lang="en-US" sz="1200" dirty="0" smtClean="0">
                <a:latin typeface="Courier New" pitchFamily="49" charset="0"/>
                <a:cs typeface="Courier New" pitchFamily="49" charset="0"/>
              </a:rPr>
              <a:t> HTTP/1.1 200 OK</a:t>
            </a:r>
          </a:p>
          <a:p>
            <a:r>
              <a:rPr lang="en-US" sz="1200" dirty="0" smtClean="0">
                <a:latin typeface="Courier New" pitchFamily="49" charset="0"/>
                <a:cs typeface="Courier New" pitchFamily="49" charset="0"/>
              </a:rPr>
              <a:t>Content-Type: application/</a:t>
            </a:r>
            <a:r>
              <a:rPr lang="en-US" sz="1200" dirty="0" err="1" smtClean="0">
                <a:latin typeface="Courier New" pitchFamily="49" charset="0"/>
                <a:cs typeface="Courier New" pitchFamily="49" charset="0"/>
              </a:rPr>
              <a:t>soap+xml</a:t>
            </a:r>
            <a:r>
              <a:rPr lang="en-US" sz="1200" dirty="0" smtClean="0">
                <a:latin typeface="Courier New" pitchFamily="49" charset="0"/>
                <a:cs typeface="Courier New" pitchFamily="49" charset="0"/>
              </a:rPr>
              <a:t>; </a:t>
            </a:r>
            <a:r>
              <a:rPr lang="en-US" sz="1200" dirty="0" err="1" smtClean="0">
                <a:latin typeface="Courier New" pitchFamily="49" charset="0"/>
                <a:cs typeface="Courier New" pitchFamily="49" charset="0"/>
              </a:rPr>
              <a:t>charset</a:t>
            </a:r>
            <a:r>
              <a:rPr lang="en-US" sz="1200" dirty="0" smtClean="0">
                <a:latin typeface="Courier New" pitchFamily="49" charset="0"/>
                <a:cs typeface="Courier New" pitchFamily="49" charset="0"/>
              </a:rPr>
              <a:t>=utf-8</a:t>
            </a:r>
          </a:p>
          <a:p>
            <a:r>
              <a:rPr lang="en-US" sz="1200" dirty="0" smtClean="0">
                <a:latin typeface="Courier New" pitchFamily="49" charset="0"/>
                <a:cs typeface="Courier New" pitchFamily="49" charset="0"/>
              </a:rPr>
              <a:t>Content-Length: </a:t>
            </a:r>
            <a:r>
              <a:rPr lang="en-US" sz="1200" dirty="0" err="1" smtClean="0">
                <a:latin typeface="Courier New" pitchFamily="49" charset="0"/>
                <a:cs typeface="Courier New" pitchFamily="49" charset="0"/>
              </a:rPr>
              <a:t>nnn</a:t>
            </a:r>
            <a:endParaRPr lang="en-US" sz="1200" dirty="0" smtClean="0">
              <a:latin typeface="Courier New" pitchFamily="49" charset="0"/>
              <a:cs typeface="Courier New" pitchFamily="49" charset="0"/>
            </a:endParaRPr>
          </a:p>
          <a:p>
            <a:endParaRPr lang="en-US" sz="1200" dirty="0" smtClean="0">
              <a:latin typeface="Courier New" pitchFamily="49" charset="0"/>
              <a:cs typeface="Courier New" pitchFamily="49" charset="0"/>
            </a:endParaRPr>
          </a:p>
          <a:p>
            <a:r>
              <a:rPr lang="en-US" sz="1200" dirty="0" smtClean="0">
                <a:latin typeface="Courier New" pitchFamily="49" charset="0"/>
                <a:cs typeface="Courier New" pitchFamily="49" charset="0"/>
              </a:rPr>
              <a:t>&lt;?xml version="1.0"?&gt;</a:t>
            </a:r>
          </a:p>
          <a:p>
            <a:r>
              <a:rPr lang="en-US" sz="1200" dirty="0" smtClean="0">
                <a:latin typeface="Courier New" pitchFamily="49" charset="0"/>
                <a:cs typeface="Courier New" pitchFamily="49" charset="0"/>
              </a:rPr>
              <a:t>&lt;</a:t>
            </a:r>
            <a:r>
              <a:rPr lang="en-US" sz="1200" dirty="0" err="1" smtClean="0">
                <a:latin typeface="Courier New" pitchFamily="49" charset="0"/>
                <a:cs typeface="Courier New" pitchFamily="49" charset="0"/>
              </a:rPr>
              <a:t>env:Envelope</a:t>
            </a:r>
            <a:r>
              <a:rPr lang="en-US" sz="1200" dirty="0" smtClean="0">
                <a:latin typeface="Courier New" pitchFamily="49" charset="0"/>
                <a:cs typeface="Courier New" pitchFamily="49" charset="0"/>
              </a:rPr>
              <a:t> </a:t>
            </a:r>
            <a:r>
              <a:rPr lang="en-US" sz="1200" dirty="0" err="1" smtClean="0">
                <a:latin typeface="Courier New" pitchFamily="49" charset="0"/>
                <a:cs typeface="Courier New" pitchFamily="49" charset="0"/>
              </a:rPr>
              <a:t>xmlns:env</a:t>
            </a:r>
            <a:r>
              <a:rPr lang="en-US" sz="1200" dirty="0" smtClean="0">
                <a:latin typeface="Courier New" pitchFamily="49" charset="0"/>
                <a:cs typeface="Courier New" pitchFamily="49" charset="0"/>
              </a:rPr>
              <a:t>="http://www.w3.org/2003/05/soap-envelope"</a:t>
            </a:r>
          </a:p>
          <a:p>
            <a:r>
              <a:rPr lang="en-US" sz="1200" dirty="0" smtClean="0">
                <a:latin typeface="Courier New" pitchFamily="49" charset="0"/>
                <a:cs typeface="Courier New" pitchFamily="49" charset="0"/>
              </a:rPr>
              <a:t>   </a:t>
            </a:r>
            <a:r>
              <a:rPr lang="en-US" sz="1200" dirty="0" err="1" smtClean="0">
                <a:latin typeface="Courier New" pitchFamily="49" charset="0"/>
                <a:cs typeface="Courier New" pitchFamily="49" charset="0"/>
              </a:rPr>
              <a:t>xmlns:s</a:t>
            </a:r>
            <a:r>
              <a:rPr lang="en-US" sz="1200" dirty="0" smtClean="0">
                <a:latin typeface="Courier New" pitchFamily="49" charset="0"/>
                <a:cs typeface="Courier New" pitchFamily="49" charset="0"/>
              </a:rPr>
              <a:t>="http://www.example.org/stock-service"&gt;</a:t>
            </a:r>
          </a:p>
          <a:p>
            <a:r>
              <a:rPr lang="en-US" sz="1200" dirty="0" smtClean="0">
                <a:latin typeface="Courier New" pitchFamily="49" charset="0"/>
                <a:cs typeface="Courier New" pitchFamily="49" charset="0"/>
              </a:rPr>
              <a:t>   &lt;</a:t>
            </a:r>
            <a:r>
              <a:rPr lang="en-US" sz="1200" dirty="0" err="1" smtClean="0">
                <a:latin typeface="Courier New" pitchFamily="49" charset="0"/>
                <a:cs typeface="Courier New" pitchFamily="49" charset="0"/>
              </a:rPr>
              <a:t>env:Body</a:t>
            </a:r>
            <a:r>
              <a:rPr lang="en-US" sz="1200" dirty="0" smtClean="0">
                <a:latin typeface="Courier New" pitchFamily="49" charset="0"/>
                <a:cs typeface="Courier New" pitchFamily="49" charset="0"/>
              </a:rPr>
              <a:t>&gt;</a:t>
            </a:r>
          </a:p>
          <a:p>
            <a:r>
              <a:rPr lang="en-US" sz="1200" dirty="0" smtClean="0">
                <a:latin typeface="Courier New" pitchFamily="49" charset="0"/>
                <a:cs typeface="Courier New" pitchFamily="49" charset="0"/>
              </a:rPr>
              <a:t>     &lt;s:GetStockQuoteResponse&gt;</a:t>
            </a:r>
          </a:p>
          <a:p>
            <a:r>
              <a:rPr lang="en-US" sz="1200" dirty="0" smtClean="0">
                <a:latin typeface="Courier New" pitchFamily="49" charset="0"/>
                <a:cs typeface="Courier New" pitchFamily="49" charset="0"/>
              </a:rPr>
              <a:t>          &lt;s:StockPrice&gt;45.25&lt;/s:StockPrice&gt;</a:t>
            </a:r>
          </a:p>
          <a:p>
            <a:r>
              <a:rPr lang="en-US" sz="1200" dirty="0" smtClean="0">
                <a:latin typeface="Courier New" pitchFamily="49" charset="0"/>
                <a:cs typeface="Courier New" pitchFamily="49" charset="0"/>
              </a:rPr>
              <a:t>     &lt;/s:GetStockQuoteResponse&gt;</a:t>
            </a:r>
          </a:p>
          <a:p>
            <a:r>
              <a:rPr lang="en-US" sz="1200" dirty="0" smtClean="0">
                <a:latin typeface="Courier New" pitchFamily="49" charset="0"/>
                <a:cs typeface="Courier New" pitchFamily="49" charset="0"/>
              </a:rPr>
              <a:t>   &lt;/</a:t>
            </a:r>
            <a:r>
              <a:rPr lang="en-US" sz="1200" dirty="0" err="1" smtClean="0">
                <a:latin typeface="Courier New" pitchFamily="49" charset="0"/>
                <a:cs typeface="Courier New" pitchFamily="49" charset="0"/>
              </a:rPr>
              <a:t>env:Body</a:t>
            </a:r>
            <a:r>
              <a:rPr lang="en-US" sz="1200" dirty="0" smtClean="0">
                <a:latin typeface="Courier New" pitchFamily="49" charset="0"/>
                <a:cs typeface="Courier New" pitchFamily="49" charset="0"/>
              </a:rPr>
              <a:t>&gt;</a:t>
            </a:r>
          </a:p>
          <a:p>
            <a:r>
              <a:rPr lang="en-US" sz="1200" dirty="0" smtClean="0">
                <a:latin typeface="Courier New" pitchFamily="49" charset="0"/>
                <a:cs typeface="Courier New" pitchFamily="49" charset="0"/>
              </a:rPr>
              <a:t>&lt;/</a:t>
            </a:r>
            <a:r>
              <a:rPr lang="en-US" sz="1200" dirty="0" err="1" smtClean="0">
                <a:latin typeface="Courier New" pitchFamily="49" charset="0"/>
                <a:cs typeface="Courier New" pitchFamily="49" charset="0"/>
              </a:rPr>
              <a:t>env:Envelope</a:t>
            </a:r>
            <a:r>
              <a:rPr lang="en-US" sz="1200" dirty="0" smtClean="0">
                <a:latin typeface="Courier New" pitchFamily="49" charset="0"/>
                <a:cs typeface="Courier New" pitchFamily="49" charset="0"/>
              </a:rPr>
              <a:t>&gt;</a:t>
            </a:r>
            <a:endParaRPr lang="en-US" sz="1200" dirty="0">
              <a:latin typeface="Courier New" pitchFamily="49" charset="0"/>
              <a:cs typeface="Courier New"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 for Calling Web Services</a:t>
            </a:r>
            <a:endParaRPr lang="en-US" dirty="0"/>
          </a:p>
        </p:txBody>
      </p:sp>
      <p:sp>
        <p:nvSpPr>
          <p:cNvPr id="3" name="Content Placeholder 2"/>
          <p:cNvSpPr>
            <a:spLocks noGrp="1"/>
          </p:cNvSpPr>
          <p:nvPr>
            <p:ph idx="1"/>
          </p:nvPr>
        </p:nvSpPr>
        <p:spPr/>
        <p:txBody>
          <a:bodyPr/>
          <a:lstStyle/>
          <a:p>
            <a:r>
              <a:rPr lang="en-US" dirty="0" err="1" smtClean="0"/>
              <a:t>SoapUI</a:t>
            </a:r>
            <a:endParaRPr lang="en-US" dirty="0" smtClean="0"/>
          </a:p>
          <a:p>
            <a:pPr lvl="1"/>
            <a:r>
              <a:rPr lang="en-US" dirty="0" smtClean="0">
                <a:hlinkClick r:id="rId2"/>
              </a:rPr>
              <a:t>https://www.soapui.org/</a:t>
            </a:r>
            <a:endParaRPr lang="en-US" dirty="0" smtClean="0"/>
          </a:p>
          <a:p>
            <a:pPr lvl="2"/>
            <a:r>
              <a:rPr lang="en-US" dirty="0" smtClean="0">
                <a:hlinkClick r:id="rId3"/>
              </a:rPr>
              <a:t>https://base64converter.com/</a:t>
            </a:r>
            <a:endParaRPr lang="en-US" dirty="0" smtClean="0"/>
          </a:p>
          <a:p>
            <a:pPr lvl="2"/>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Web Services Description Language</a:t>
            </a:r>
            <a:endParaRPr lang="en-US" sz="4000" dirty="0"/>
          </a:p>
        </p:txBody>
      </p:sp>
      <p:sp>
        <p:nvSpPr>
          <p:cNvPr id="3" name="Content Placeholder 2"/>
          <p:cNvSpPr>
            <a:spLocks noGrp="1"/>
          </p:cNvSpPr>
          <p:nvPr>
            <p:ph idx="1"/>
          </p:nvPr>
        </p:nvSpPr>
        <p:spPr>
          <a:xfrm>
            <a:off x="457200" y="1447801"/>
            <a:ext cx="8229600" cy="1676400"/>
          </a:xfrm>
        </p:spPr>
        <p:txBody>
          <a:bodyPr/>
          <a:lstStyle/>
          <a:p>
            <a:r>
              <a:rPr lang="en-US" sz="2400" dirty="0" smtClean="0"/>
              <a:t>The </a:t>
            </a:r>
            <a:r>
              <a:rPr lang="en-US" sz="2400" i="1" dirty="0" smtClean="0">
                <a:solidFill>
                  <a:srgbClr val="C00000"/>
                </a:solidFill>
              </a:rPr>
              <a:t>Web Services Description Language</a:t>
            </a:r>
            <a:r>
              <a:rPr lang="en-US" sz="2400" dirty="0" smtClean="0"/>
              <a:t> (WSDL) is an XML language for describing web services.</a:t>
            </a:r>
          </a:p>
          <a:p>
            <a:r>
              <a:rPr lang="en-US" sz="2400" i="1" dirty="0" smtClean="0">
                <a:solidFill>
                  <a:srgbClr val="C00000"/>
                </a:solidFill>
              </a:rPr>
              <a:t>WSDL 1.1</a:t>
            </a:r>
            <a:r>
              <a:rPr lang="en-US" sz="2400" dirty="0" smtClean="0"/>
              <a:t> has five major elements: types, message, </a:t>
            </a:r>
            <a:r>
              <a:rPr lang="en-US" sz="2400" dirty="0" err="1" smtClean="0"/>
              <a:t>portType</a:t>
            </a:r>
            <a:r>
              <a:rPr lang="en-US" sz="2400" dirty="0" smtClean="0"/>
              <a:t>, binding, and service.</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1076325" y="3200400"/>
            <a:ext cx="6991350" cy="32861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Web Application Description Language</a:t>
            </a:r>
            <a:endParaRPr lang="en-US" sz="4000" dirty="0"/>
          </a:p>
        </p:txBody>
      </p:sp>
      <p:sp>
        <p:nvSpPr>
          <p:cNvPr id="3" name="Content Placeholder 2"/>
          <p:cNvSpPr>
            <a:spLocks noGrp="1"/>
          </p:cNvSpPr>
          <p:nvPr>
            <p:ph idx="1"/>
          </p:nvPr>
        </p:nvSpPr>
        <p:spPr/>
        <p:txBody>
          <a:bodyPr/>
          <a:lstStyle/>
          <a:p>
            <a:r>
              <a:rPr lang="en-US" sz="2400" i="1" dirty="0" smtClean="0">
                <a:solidFill>
                  <a:srgbClr val="C00000"/>
                </a:solidFill>
              </a:rPr>
              <a:t>Web Application Description Language</a:t>
            </a:r>
            <a:r>
              <a:rPr lang="en-US" sz="2400" dirty="0" smtClean="0"/>
              <a:t> (WADL), is a specification developed to be an alternative to WSDL with specific support for </a:t>
            </a:r>
            <a:r>
              <a:rPr lang="en-US" sz="2400" i="1" dirty="0" err="1" smtClean="0"/>
              <a:t>RESTful</a:t>
            </a:r>
            <a:r>
              <a:rPr lang="en-US" sz="2400" i="1" dirty="0" smtClean="0"/>
              <a:t> web services</a:t>
            </a:r>
            <a:r>
              <a:rPr lang="en-US" sz="2400" dirty="0" smtClean="0"/>
              <a: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Service [3]</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Web service</a:t>
            </a:r>
            <a:r>
              <a:rPr lang="en-US" sz="2400" dirty="0" smtClean="0"/>
              <a:t> is a specific kind of service that is identified by a URI, whose service description and transport utilize open Internet standards.</a:t>
            </a:r>
          </a:p>
          <a:p>
            <a:pPr lvl="1"/>
            <a:r>
              <a:rPr lang="en-US" sz="2200" i="1" dirty="0" smtClean="0">
                <a:solidFill>
                  <a:srgbClr val="C00000"/>
                </a:solidFill>
              </a:rPr>
              <a:t>Interactions</a:t>
            </a:r>
            <a:r>
              <a:rPr lang="en-US" sz="2200" dirty="0" smtClean="0"/>
              <a:t> between Web services typically occur as SOAP calls carrying XML data content.</a:t>
            </a:r>
          </a:p>
          <a:p>
            <a:pPr lvl="1"/>
            <a:r>
              <a:rPr lang="en-US" sz="2200" i="1" dirty="0" smtClean="0">
                <a:solidFill>
                  <a:srgbClr val="C00000"/>
                </a:solidFill>
              </a:rPr>
              <a:t>Interface descriptions</a:t>
            </a:r>
            <a:r>
              <a:rPr lang="en-US" sz="2200" dirty="0" smtClean="0"/>
              <a:t> of the Web services are expressed using Web Services Definition Language (WSDL).</a:t>
            </a:r>
          </a:p>
          <a:p>
            <a:pPr lvl="1"/>
            <a:r>
              <a:rPr lang="en-US" sz="2200" dirty="0" smtClean="0"/>
              <a:t>The </a:t>
            </a:r>
            <a:r>
              <a:rPr lang="en-US" sz="2200" i="1" dirty="0" smtClean="0">
                <a:solidFill>
                  <a:srgbClr val="C00000"/>
                </a:solidFill>
              </a:rPr>
              <a:t>Universal Description, Discovery, and Integration (UDDI) standard</a:t>
            </a:r>
            <a:r>
              <a:rPr lang="en-US" sz="2200" dirty="0" smtClean="0"/>
              <a:t> defines a protocol for directory services that contain Web service descriptions.</a:t>
            </a:r>
          </a:p>
          <a:p>
            <a:pPr lvl="1"/>
            <a:r>
              <a:rPr lang="en-US" sz="2200" dirty="0" smtClean="0"/>
              <a:t>UDDI enables Web service clients to locate candidate services and discover their details.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UDDI? [4]</a:t>
            </a:r>
            <a:endParaRPr lang="en-US" dirty="0"/>
          </a:p>
        </p:txBody>
      </p:sp>
      <p:sp>
        <p:nvSpPr>
          <p:cNvPr id="3" name="Content Placeholder 2"/>
          <p:cNvSpPr>
            <a:spLocks noGrp="1"/>
          </p:cNvSpPr>
          <p:nvPr>
            <p:ph idx="1"/>
          </p:nvPr>
        </p:nvSpPr>
        <p:spPr/>
        <p:txBody>
          <a:bodyPr/>
          <a:lstStyle/>
          <a:p>
            <a:r>
              <a:rPr lang="en-US" sz="2400" dirty="0" smtClean="0"/>
              <a:t>The UDDI registry is often compared to the Yellow Pages of a telephone system.</a:t>
            </a:r>
          </a:p>
          <a:p>
            <a:r>
              <a:rPr lang="en-US" sz="2400" i="1" dirty="0" smtClean="0">
                <a:solidFill>
                  <a:srgbClr val="C00000"/>
                </a:solidFill>
              </a:rPr>
              <a:t>Direct request</a:t>
            </a:r>
            <a:r>
              <a:rPr lang="en-US" sz="2400" dirty="0" smtClean="0"/>
              <a:t>: When you need to know the telephone number of a person, one of the easiest ways to get it is to request it from that person directly.</a:t>
            </a:r>
          </a:p>
          <a:p>
            <a:r>
              <a:rPr lang="en-US" sz="2400" i="1" dirty="0" smtClean="0">
                <a:solidFill>
                  <a:srgbClr val="C00000"/>
                </a:solidFill>
              </a:rPr>
              <a:t>Simple aggregate publishing</a:t>
            </a:r>
            <a:r>
              <a:rPr lang="en-US" sz="2400" dirty="0" smtClean="0"/>
              <a:t>: When business people meet, they often exchange business cards. You need to have them printed in the first place, which adds some complexity over the direct request solution.</a:t>
            </a:r>
          </a:p>
          <a:p>
            <a:r>
              <a:rPr lang="en-US" sz="2400" i="1" dirty="0" smtClean="0">
                <a:solidFill>
                  <a:srgbClr val="C00000"/>
                </a:solidFill>
              </a:rPr>
              <a:t>Directory use</a:t>
            </a:r>
            <a:r>
              <a:rPr lang="en-US" sz="2400" dirty="0" smtClean="0"/>
              <a:t>: It is only on some occasions that people refer to Yellow Pages; for example, to discover a service provider in a domain they are not familiar with.</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UDDI Analogy</a:t>
            </a:r>
            <a:endParaRPr lang="en-US" dirty="0"/>
          </a:p>
        </p:txBody>
      </p:sp>
      <p:sp>
        <p:nvSpPr>
          <p:cNvPr id="3" name="Content Placeholder 2"/>
          <p:cNvSpPr>
            <a:spLocks noGrp="1"/>
          </p:cNvSpPr>
          <p:nvPr>
            <p:ph idx="1"/>
          </p:nvPr>
        </p:nvSpPr>
        <p:spPr/>
        <p:txBody>
          <a:bodyPr/>
          <a:lstStyle/>
          <a:p>
            <a:r>
              <a:rPr lang="en-US" sz="2400" dirty="0" smtClean="0"/>
              <a:t>The exchange of a service description on anything from an e-mail to a diskette can be compared to a </a:t>
            </a:r>
            <a:r>
              <a:rPr lang="en-US" sz="2400" u="sng" dirty="0" smtClean="0"/>
              <a:t>direct request</a:t>
            </a:r>
            <a:r>
              <a:rPr lang="en-US" sz="2400" dirty="0" smtClean="0"/>
              <a:t>.</a:t>
            </a:r>
          </a:p>
          <a:p>
            <a:r>
              <a:rPr lang="en-US" sz="2400" i="1" dirty="0" smtClean="0">
                <a:solidFill>
                  <a:srgbClr val="C00000"/>
                </a:solidFill>
              </a:rPr>
              <a:t>WS-Inspection Language</a:t>
            </a:r>
            <a:r>
              <a:rPr lang="en-US" sz="2400" dirty="0" smtClean="0"/>
              <a:t> can be compared to </a:t>
            </a:r>
            <a:r>
              <a:rPr lang="en-US" sz="2400" u="sng" dirty="0" smtClean="0"/>
              <a:t>business cards</a:t>
            </a:r>
            <a:r>
              <a:rPr lang="en-US" sz="2400" dirty="0" smtClean="0"/>
              <a:t>.</a:t>
            </a:r>
          </a:p>
          <a:p>
            <a:r>
              <a:rPr lang="en-US" sz="2400" dirty="0" smtClean="0"/>
              <a:t>The </a:t>
            </a:r>
            <a:r>
              <a:rPr lang="en-US" sz="2400" i="1" dirty="0" smtClean="0">
                <a:solidFill>
                  <a:srgbClr val="C00000"/>
                </a:solidFill>
              </a:rPr>
              <a:t>UDDI registries</a:t>
            </a:r>
            <a:r>
              <a:rPr lang="en-US" sz="2400" dirty="0" smtClean="0"/>
              <a:t> can be compared to </a:t>
            </a:r>
            <a:r>
              <a:rPr lang="en-US" sz="2400" u="sng" dirty="0" smtClean="0"/>
              <a:t>Yellow Pages</a:t>
            </a:r>
            <a:r>
              <a:rPr lang="en-US" sz="2400" dirty="0" smtClean="0"/>
              <a:t>.</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1660525" y="3470275"/>
            <a:ext cx="5822950" cy="29305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UDDI? [5]</a:t>
            </a:r>
            <a:endParaRPr lang="en-US" dirty="0"/>
          </a:p>
        </p:txBody>
      </p:sp>
      <p:sp>
        <p:nvSpPr>
          <p:cNvPr id="3" name="Content Placeholder 2"/>
          <p:cNvSpPr>
            <a:spLocks noGrp="1"/>
          </p:cNvSpPr>
          <p:nvPr>
            <p:ph idx="1"/>
          </p:nvPr>
        </p:nvSpPr>
        <p:spPr/>
        <p:txBody>
          <a:bodyPr/>
          <a:lstStyle/>
          <a:p>
            <a:r>
              <a:rPr lang="en-US" sz="2400" dirty="0" smtClean="0"/>
              <a:t>One of the main benefits of a SOA is the ability to reuse services through the process of "</a:t>
            </a:r>
            <a:r>
              <a:rPr lang="en-US" sz="2400" i="1" dirty="0" smtClean="0">
                <a:solidFill>
                  <a:srgbClr val="C00000"/>
                </a:solidFill>
              </a:rPr>
              <a:t>service composition</a:t>
            </a:r>
            <a:r>
              <a:rPr lang="en-US" sz="2400" dirty="0" smtClean="0"/>
              <a:t>," the process in which existing services are assembled to create new services and applications. To realize this benefit, designers and developers need to know what existing services are available and how to interact with them.</a:t>
            </a:r>
          </a:p>
          <a:p>
            <a:r>
              <a:rPr lang="en-US" sz="2400" dirty="0" smtClean="0"/>
              <a:t>A second benefit is the ability to </a:t>
            </a:r>
            <a:r>
              <a:rPr lang="en-US" sz="2400" i="1" dirty="0" smtClean="0">
                <a:solidFill>
                  <a:srgbClr val="C00000"/>
                </a:solidFill>
              </a:rPr>
              <a:t>dynamically</a:t>
            </a:r>
            <a:r>
              <a:rPr lang="en-US" sz="2400" dirty="0" smtClean="0"/>
              <a:t> </a:t>
            </a:r>
            <a:r>
              <a:rPr lang="en-US" sz="2400" u="sng" dirty="0" smtClean="0"/>
              <a:t>select an implementation</a:t>
            </a:r>
            <a:r>
              <a:rPr lang="en-US" sz="2400" dirty="0" smtClean="0"/>
              <a:t> of a service at runtime. Either the application or the infrastructure that is hosting it can perform this selection. UDDI also enables service providers to publish their service implementations, and service users to find the one that provides the best match with their requirements.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SOAP/WSDL Web Services [6]</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SOAP/WSDL web services</a:t>
            </a:r>
            <a:r>
              <a:rPr lang="en-US" sz="2000" dirty="0" smtClean="0"/>
              <a:t> evolved from the need to programmatically interconnect web-based applications.</a:t>
            </a:r>
          </a:p>
          <a:p>
            <a:r>
              <a:rPr lang="en-US" sz="2000" i="1" dirty="0" smtClean="0">
                <a:solidFill>
                  <a:srgbClr val="C00000"/>
                </a:solidFill>
              </a:rPr>
              <a:t>SOAP/WSDL web services</a:t>
            </a:r>
            <a:r>
              <a:rPr lang="en-US" sz="2000" dirty="0" smtClean="0"/>
              <a:t> are essentially a form of remote procedure calls over HTTP, while also including support for nested structures (objects).</a:t>
            </a:r>
          </a:p>
          <a:p>
            <a:r>
              <a:rPr lang="en-US" sz="2000" dirty="0" smtClean="0"/>
              <a:t>A </a:t>
            </a:r>
            <a:r>
              <a:rPr lang="en-US" sz="2000" i="1" dirty="0" smtClean="0">
                <a:solidFill>
                  <a:srgbClr val="C00000"/>
                </a:solidFill>
              </a:rPr>
              <a:t>client application</a:t>
            </a:r>
            <a:r>
              <a:rPr lang="en-US" sz="2000" dirty="0" smtClean="0"/>
              <a:t> can invoke this web service by sending a SOAP request in XML form.</a:t>
            </a:r>
          </a:p>
          <a:p>
            <a:r>
              <a:rPr lang="en-US" sz="2000" i="1" dirty="0" smtClean="0">
                <a:solidFill>
                  <a:srgbClr val="C00000"/>
                </a:solidFill>
              </a:rPr>
              <a:t>The specifications</a:t>
            </a:r>
            <a:r>
              <a:rPr lang="en-US" sz="2000" dirty="0" smtClean="0"/>
              <a:t> of the service, including the service URL and other parameters, are made available by the service provider as another XML file, in WSDL format.</a:t>
            </a:r>
          </a:p>
          <a:p>
            <a:r>
              <a:rPr lang="en-US" sz="2000" i="1" dirty="0" smtClean="0">
                <a:solidFill>
                  <a:srgbClr val="C00000"/>
                </a:solidFill>
              </a:rPr>
              <a:t>The client-server interface</a:t>
            </a:r>
            <a:r>
              <a:rPr lang="en-US" sz="2000" dirty="0" smtClean="0"/>
              <a:t> would be specified WSDL file, from which client and server stubs would be generated, along with libraries to handle complex data structures and data serialization across machine boundaries.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Creating SOAP APIs</a:t>
            </a:r>
            <a:endParaRPr lang="en-US" dirty="0"/>
          </a:p>
        </p:txBody>
      </p:sp>
      <p:sp>
        <p:nvSpPr>
          <p:cNvPr id="3" name="Content Placeholder 2"/>
          <p:cNvSpPr>
            <a:spLocks noGrp="1"/>
          </p:cNvSpPr>
          <p:nvPr>
            <p:ph idx="1"/>
          </p:nvPr>
        </p:nvSpPr>
        <p:spPr/>
        <p:txBody>
          <a:bodyPr/>
          <a:lstStyle/>
          <a:p>
            <a:r>
              <a:rPr lang="en-US" sz="2400" dirty="0" smtClean="0"/>
              <a:t>Apache Axis </a:t>
            </a:r>
            <a:r>
              <a:rPr lang="en-US" sz="2400" dirty="0" smtClean="0">
                <a:hlinkClick r:id="rId2"/>
              </a:rPr>
              <a:t>https://axis.apache.org/</a:t>
            </a:r>
            <a:endParaRPr lang="en-US" sz="2400" dirty="0" smtClean="0"/>
          </a:p>
          <a:p>
            <a:r>
              <a:rPr lang="en-US" sz="2400" dirty="0" smtClean="0"/>
              <a:t>Windows Communication Foundation </a:t>
            </a:r>
            <a:r>
              <a:rPr lang="en-US" sz="2400" dirty="0" smtClean="0">
                <a:hlinkClick r:id="rId3"/>
              </a:rPr>
              <a:t>https://learn.microsoft.com/en-us/dotnet/framework/wcf/whats-wcf</a:t>
            </a:r>
            <a:endParaRPr lang="en-US" sz="2400" dirty="0" smtClean="0"/>
          </a:p>
          <a:p>
            <a:endParaRPr lang="en-US" sz="24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Bus in SOA [7]</a:t>
            </a:r>
            <a:endParaRPr lang="en-US" dirty="0"/>
          </a:p>
        </p:txBody>
      </p:sp>
      <p:sp>
        <p:nvSpPr>
          <p:cNvPr id="3" name="Content Placeholder 2"/>
          <p:cNvSpPr>
            <a:spLocks noGrp="1"/>
          </p:cNvSpPr>
          <p:nvPr>
            <p:ph idx="1"/>
          </p:nvPr>
        </p:nvSpPr>
        <p:spPr>
          <a:xfrm>
            <a:off x="457200" y="1295400"/>
            <a:ext cx="8229600" cy="2590800"/>
          </a:xfrm>
        </p:spPr>
        <p:txBody>
          <a:bodyPr/>
          <a:lstStyle/>
          <a:p>
            <a:r>
              <a:rPr lang="en-US" sz="2400" dirty="0" smtClean="0"/>
              <a:t>A </a:t>
            </a:r>
            <a:r>
              <a:rPr lang="en-US" sz="2400" i="1" dirty="0" smtClean="0">
                <a:solidFill>
                  <a:srgbClr val="C00000"/>
                </a:solidFill>
              </a:rPr>
              <a:t>service bus</a:t>
            </a:r>
            <a:r>
              <a:rPr lang="en-US" sz="2400" dirty="0" smtClean="0"/>
              <a:t> provides a significantly improved ease-of-use experience for implementation of SOA. The bus</a:t>
            </a:r>
          </a:p>
          <a:p>
            <a:pPr lvl="1"/>
            <a:r>
              <a:rPr lang="en-US" sz="1800" dirty="0" smtClean="0"/>
              <a:t>takes the service description and uses a discovery facility to find the list of qualifying services, selects one of them, retrieves the necessary binding information, binds the service accordingly,</a:t>
            </a:r>
          </a:p>
          <a:p>
            <a:pPr lvl="1"/>
            <a:r>
              <a:rPr lang="en-US" sz="1800" dirty="0" smtClean="0"/>
              <a:t>transforms the input data from the requester properly, sends the corresponding request message to the service, receives the response, and passes this response in the proper format to the requester.</a:t>
            </a:r>
          </a:p>
        </p:txBody>
      </p:sp>
      <p:pic>
        <p:nvPicPr>
          <p:cNvPr id="1027" name="Picture 3"/>
          <p:cNvPicPr>
            <a:picLocks noChangeAspect="1" noChangeArrowheads="1"/>
          </p:cNvPicPr>
          <p:nvPr/>
        </p:nvPicPr>
        <p:blipFill>
          <a:blip r:embed="rId2" cstate="print"/>
          <a:srcRect/>
          <a:stretch>
            <a:fillRect/>
          </a:stretch>
        </p:blipFill>
        <p:spPr bwMode="auto">
          <a:xfrm>
            <a:off x="2428875" y="3962400"/>
            <a:ext cx="4286250" cy="269557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Bus Architecture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333500" y="1600200"/>
            <a:ext cx="6477000" cy="47244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SOAP Web Services Architecture</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62063" y="1581150"/>
            <a:ext cx="6619875" cy="48196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WS-Addressing</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WS-Addressing</a:t>
            </a:r>
            <a:r>
              <a:rPr lang="en-US" sz="2400" dirty="0" smtClean="0"/>
              <a:t> provides an interoperable, transport-independent way of identifying message senders and receivers that are associated with message exchange.</a:t>
            </a:r>
          </a:p>
          <a:p>
            <a:r>
              <a:rPr lang="en-US" sz="2400" dirty="0" smtClean="0"/>
              <a:t>WS-Addressing decouples </a:t>
            </a:r>
            <a:r>
              <a:rPr lang="en-US" sz="2400" i="1" dirty="0" smtClean="0">
                <a:solidFill>
                  <a:srgbClr val="C00000"/>
                </a:solidFill>
              </a:rPr>
              <a:t>address information</a:t>
            </a:r>
            <a:r>
              <a:rPr lang="en-US" sz="2400" dirty="0" smtClean="0"/>
              <a:t> from the specific transport used by providing a mechanism to place the target, source, and other important address information directly within the Web service message. </a:t>
            </a:r>
          </a:p>
          <a:p>
            <a:r>
              <a:rPr lang="en-US" sz="2400" i="1" dirty="0" smtClean="0">
                <a:solidFill>
                  <a:srgbClr val="C00000"/>
                </a:solidFill>
              </a:rPr>
              <a:t>WS-Addressing</a:t>
            </a:r>
            <a:r>
              <a:rPr lang="en-US" sz="2400" dirty="0" smtClean="0"/>
              <a:t> defines two fundamental concepts:</a:t>
            </a:r>
          </a:p>
          <a:p>
            <a:pPr lvl="1"/>
            <a:r>
              <a:rPr lang="en-US" sz="2000" i="1" dirty="0" smtClean="0">
                <a:solidFill>
                  <a:srgbClr val="C00000"/>
                </a:solidFill>
              </a:rPr>
              <a:t>endpoint references</a:t>
            </a:r>
            <a:r>
              <a:rPr lang="en-US" sz="2000" dirty="0" smtClean="0"/>
              <a:t> as a general-purpose way of encoding the addressing information needed to reach service endpoints,</a:t>
            </a:r>
          </a:p>
          <a:p>
            <a:pPr lvl="1"/>
            <a:r>
              <a:rPr lang="en-US" sz="2000" dirty="0" smtClean="0"/>
              <a:t>and </a:t>
            </a:r>
            <a:r>
              <a:rPr lang="en-US" sz="2000" i="1" dirty="0" smtClean="0">
                <a:solidFill>
                  <a:srgbClr val="C00000"/>
                </a:solidFill>
              </a:rPr>
              <a:t>message information headers</a:t>
            </a:r>
            <a:r>
              <a:rPr lang="en-US" sz="2000" dirty="0" smtClean="0"/>
              <a:t> to support the use of endpoint references in addressing and exchanging Web service messages.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Endpoint References</a:t>
            </a:r>
            <a:endParaRPr lang="en-US" dirty="0"/>
          </a:p>
        </p:txBody>
      </p:sp>
      <p:sp>
        <p:nvSpPr>
          <p:cNvPr id="3" name="Content Placeholder 2"/>
          <p:cNvSpPr>
            <a:spLocks noGrp="1"/>
          </p:cNvSpPr>
          <p:nvPr>
            <p:ph idx="1"/>
          </p:nvPr>
        </p:nvSpPr>
        <p:spPr>
          <a:xfrm>
            <a:off x="457200" y="1371601"/>
            <a:ext cx="8229600" cy="2438400"/>
          </a:xfrm>
        </p:spPr>
        <p:txBody>
          <a:bodyPr/>
          <a:lstStyle/>
          <a:p>
            <a:r>
              <a:rPr lang="en-US" sz="2400" dirty="0" smtClean="0"/>
              <a:t>An </a:t>
            </a:r>
            <a:r>
              <a:rPr lang="en-US" sz="2400" i="1" dirty="0" smtClean="0">
                <a:solidFill>
                  <a:srgbClr val="C00000"/>
                </a:solidFill>
              </a:rPr>
              <a:t>endpoint reference</a:t>
            </a:r>
            <a:r>
              <a:rPr lang="en-US" sz="2400" dirty="0" smtClean="0"/>
              <a:t> is a data structure that is defined to encapsulate all the information that is required to reach a service endpoint at runtime.</a:t>
            </a:r>
          </a:p>
          <a:p>
            <a:r>
              <a:rPr lang="en-US" sz="2400" dirty="0" smtClean="0"/>
              <a:t>An </a:t>
            </a:r>
            <a:r>
              <a:rPr lang="en-US" sz="2400" i="1" dirty="0" smtClean="0"/>
              <a:t>endpoint reference</a:t>
            </a:r>
            <a:r>
              <a:rPr lang="en-US" sz="2400" dirty="0" smtClean="0"/>
              <a:t> contains two types of information: </a:t>
            </a:r>
            <a:r>
              <a:rPr lang="en-US" sz="2400" i="1" dirty="0" smtClean="0">
                <a:solidFill>
                  <a:srgbClr val="C00000"/>
                </a:solidFill>
              </a:rPr>
              <a:t>runtime information</a:t>
            </a:r>
            <a:r>
              <a:rPr lang="en-US" sz="2400" dirty="0" smtClean="0"/>
              <a:t> required for the interaction with the endpoint, and </a:t>
            </a:r>
            <a:r>
              <a:rPr lang="en-US" sz="2400" i="1" dirty="0" smtClean="0">
                <a:solidFill>
                  <a:srgbClr val="C00000"/>
                </a:solidFill>
              </a:rPr>
              <a:t>associated metadata</a:t>
            </a:r>
            <a:r>
              <a:rPr lang="en-US" sz="2400" dirty="0" smtClean="0"/>
              <a:t>.</a:t>
            </a:r>
          </a:p>
          <a:p>
            <a:endParaRPr lang="en-US" sz="2400" dirty="0" smtClean="0"/>
          </a:p>
        </p:txBody>
      </p:sp>
      <p:sp>
        <p:nvSpPr>
          <p:cNvPr id="4" name="Rectangle 3"/>
          <p:cNvSpPr/>
          <p:nvPr/>
        </p:nvSpPr>
        <p:spPr>
          <a:xfrm>
            <a:off x="304800" y="3886200"/>
            <a:ext cx="8534400" cy="2677656"/>
          </a:xfrm>
          <a:prstGeom prst="rect">
            <a:avLst/>
          </a:prstGeom>
          <a:solidFill>
            <a:schemeClr val="bg2"/>
          </a:solidFill>
          <a:ln>
            <a:solidFill>
              <a:schemeClr val="tx1">
                <a:lumMod val="50000"/>
                <a:lumOff val="50000"/>
              </a:schemeClr>
            </a:solidFill>
          </a:ln>
        </p:spPr>
        <p:txBody>
          <a:bodyPr wrap="square">
            <a:spAutoFit/>
          </a:bodyPr>
          <a:lstStyle/>
          <a:p>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wsa:EndpointReference</a:t>
            </a:r>
            <a:r>
              <a:rPr lang="en-US" sz="1400" dirty="0" smtClean="0">
                <a:solidFill>
                  <a:srgbClr val="C00000"/>
                </a:solidFill>
                <a:latin typeface="Consolas" pitchFamily="49" charset="0"/>
                <a:cs typeface="Consolas" pitchFamily="49" charset="0"/>
              </a:rPr>
              <a:t>&gt; </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wsa:Address</a:t>
            </a:r>
            <a:r>
              <a:rPr lang="en-US" sz="1400" dirty="0" smtClean="0">
                <a:solidFill>
                  <a:srgbClr val="C00000"/>
                </a:solidFill>
                <a:latin typeface="Consolas" pitchFamily="49" charset="0"/>
                <a:cs typeface="Consolas" pitchFamily="49" charset="0"/>
              </a:rPr>
              <a:t>&gt;http://www.example.com/stq&lt;/wsa:Address&gt;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wsa:ReferenceProperties</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exp:customer</a:t>
            </a:r>
            <a:r>
              <a:rPr lang="en-US" sz="1400" dirty="0" smtClean="0">
                <a:solidFill>
                  <a:srgbClr val="C00000"/>
                </a:solidFill>
                <a:latin typeface="Consolas" pitchFamily="49" charset="0"/>
                <a:cs typeface="Consolas" pitchFamily="49" charset="0"/>
              </a:rPr>
              <a:t>-id&gt;xgtopsnlk-0001&lt;</a:t>
            </a:r>
            <a:r>
              <a:rPr lang="en-US" sz="1400" dirty="0" err="1" smtClean="0">
                <a:solidFill>
                  <a:srgbClr val="C00000"/>
                </a:solidFill>
                <a:latin typeface="Consolas" pitchFamily="49" charset="0"/>
                <a:cs typeface="Consolas" pitchFamily="49" charset="0"/>
              </a:rPr>
              <a:t>exp:customer</a:t>
            </a:r>
            <a:r>
              <a:rPr lang="en-US" sz="1400" dirty="0" smtClean="0">
                <a:solidFill>
                  <a:srgbClr val="C00000"/>
                </a:solidFill>
                <a:latin typeface="Consolas" pitchFamily="49" charset="0"/>
                <a:cs typeface="Consolas" pitchFamily="49" charset="0"/>
              </a:rPr>
              <a:t>-id&gt; 	&lt;/</a:t>
            </a:r>
            <a:r>
              <a:rPr lang="en-US" sz="1400" dirty="0" err="1" smtClean="0">
                <a:solidFill>
                  <a:srgbClr val="C00000"/>
                </a:solidFill>
                <a:latin typeface="Consolas" pitchFamily="49" charset="0"/>
                <a:cs typeface="Consolas" pitchFamily="49" charset="0"/>
              </a:rPr>
              <a:t>wsa:ReferenceProperties</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wsa:ReferenceParameters</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exp:model</a:t>
            </a:r>
            <a:r>
              <a:rPr lang="en-US" sz="1400" dirty="0" smtClean="0">
                <a:solidFill>
                  <a:srgbClr val="C00000"/>
                </a:solidFill>
                <a:latin typeface="Consolas" pitchFamily="49" charset="0"/>
                <a:cs typeface="Consolas" pitchFamily="49" charset="0"/>
              </a:rPr>
              <a:t>-id&gt;llp-11&lt;</a:t>
            </a:r>
            <a:r>
              <a:rPr lang="en-US" sz="1400" dirty="0" err="1" smtClean="0">
                <a:solidFill>
                  <a:srgbClr val="C00000"/>
                </a:solidFill>
                <a:latin typeface="Consolas" pitchFamily="49" charset="0"/>
                <a:cs typeface="Consolas" pitchFamily="49" charset="0"/>
              </a:rPr>
              <a:t>exp:model</a:t>
            </a:r>
            <a:r>
              <a:rPr lang="en-US" sz="1400" dirty="0" smtClean="0">
                <a:solidFill>
                  <a:srgbClr val="C00000"/>
                </a:solidFill>
                <a:latin typeface="Consolas" pitchFamily="49" charset="0"/>
                <a:cs typeface="Consolas" pitchFamily="49" charset="0"/>
              </a:rPr>
              <a:t>-id&gt;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wsa:ReferenceParameters</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wsa:PortType</a:t>
            </a:r>
            <a:r>
              <a:rPr lang="en-US" sz="1400" dirty="0" smtClean="0">
                <a:solidFill>
                  <a:srgbClr val="C00000"/>
                </a:solidFill>
                <a:latin typeface="Consolas" pitchFamily="49" charset="0"/>
                <a:cs typeface="Consolas" pitchFamily="49" charset="0"/>
              </a:rPr>
              <a:t>&gt;</a:t>
            </a:r>
            <a:r>
              <a:rPr lang="en-US" sz="1400" dirty="0" err="1" smtClean="0">
                <a:solidFill>
                  <a:srgbClr val="C00000"/>
                </a:solidFill>
                <a:latin typeface="Consolas" pitchFamily="49" charset="0"/>
                <a:cs typeface="Consolas" pitchFamily="49" charset="0"/>
              </a:rPr>
              <a:t>tns:StockQuotePortType</a:t>
            </a:r>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wsa:PortType</a:t>
            </a:r>
            <a:r>
              <a:rPr lang="en-US" sz="1400" dirty="0" smtClean="0">
                <a:solidFill>
                  <a:srgbClr val="C00000"/>
                </a:solidFill>
                <a:latin typeface="Consolas" pitchFamily="49" charset="0"/>
                <a:cs typeface="Consolas" pitchFamily="49" charset="0"/>
              </a:rPr>
              <a:t>&gt; </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wsa:ServiceName</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PortName</a:t>
            </a:r>
            <a:r>
              <a:rPr lang="en-US" sz="1400" dirty="0" smtClean="0">
                <a:solidFill>
                  <a:srgbClr val="C00000"/>
                </a:solidFill>
                <a:latin typeface="Consolas" pitchFamily="49" charset="0"/>
                <a:cs typeface="Consolas" pitchFamily="49" charset="0"/>
              </a:rPr>
              <a:t>="</a:t>
            </a:r>
            <a:r>
              <a:rPr lang="en-US" sz="1400" dirty="0" err="1" smtClean="0">
                <a:solidFill>
                  <a:srgbClr val="C00000"/>
                </a:solidFill>
                <a:latin typeface="Consolas" pitchFamily="49" charset="0"/>
                <a:cs typeface="Consolas" pitchFamily="49" charset="0"/>
              </a:rPr>
              <a:t>StockQuotePort</a:t>
            </a:r>
            <a:r>
              <a:rPr lang="en-US" sz="1400" dirty="0" smtClean="0">
                <a:solidFill>
                  <a:srgbClr val="C00000"/>
                </a:solidFill>
                <a:latin typeface="Consolas" pitchFamily="49" charset="0"/>
                <a:cs typeface="Consolas" pitchFamily="49" charset="0"/>
              </a:rPr>
              <a:t>"&gt;</a:t>
            </a:r>
            <a:r>
              <a:rPr lang="en-US" sz="1400" dirty="0" err="1" smtClean="0">
                <a:solidFill>
                  <a:srgbClr val="C00000"/>
                </a:solidFill>
                <a:latin typeface="Consolas" pitchFamily="49" charset="0"/>
                <a:cs typeface="Consolas" pitchFamily="49" charset="0"/>
              </a:rPr>
              <a:t>tns:StockQuoteService</a:t>
            </a:r>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wsa:ServiceName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wsa:EndpointReference</a:t>
            </a:r>
            <a:r>
              <a:rPr lang="en-US" sz="1400" dirty="0" smtClean="0">
                <a:solidFill>
                  <a:srgbClr val="C00000"/>
                </a:solidFill>
                <a:latin typeface="Consolas" pitchFamily="49" charset="0"/>
                <a:cs typeface="Consolas" pitchFamily="49" charset="0"/>
              </a:rPr>
              <a:t>&gt; </a:t>
            </a:r>
            <a:endParaRPr lang="en-US" sz="1400" dirty="0">
              <a:solidFill>
                <a:srgbClr val="C00000"/>
              </a:solidFill>
              <a:latin typeface="Consolas" pitchFamily="49" charset="0"/>
              <a:cs typeface="Consolas"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WS-Addressing in SOAP messages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990725" y="1466850"/>
            <a:ext cx="5162550" cy="50863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WS-Policy Framework</a:t>
            </a:r>
            <a:endParaRPr lang="en-US" dirty="0"/>
          </a:p>
        </p:txBody>
      </p:sp>
      <p:sp>
        <p:nvSpPr>
          <p:cNvPr id="3" name="Content Placeholder 2"/>
          <p:cNvSpPr>
            <a:spLocks noGrp="1"/>
          </p:cNvSpPr>
          <p:nvPr>
            <p:ph idx="1"/>
          </p:nvPr>
        </p:nvSpPr>
        <p:spPr/>
        <p:txBody>
          <a:bodyPr/>
          <a:lstStyle/>
          <a:p>
            <a:r>
              <a:rPr lang="en-US" sz="2000" dirty="0" smtClean="0"/>
              <a:t>The </a:t>
            </a:r>
            <a:r>
              <a:rPr lang="en-US" sz="2000" i="1" dirty="0" smtClean="0">
                <a:solidFill>
                  <a:srgbClr val="C00000"/>
                </a:solidFill>
              </a:rPr>
              <a:t>WS-Policy framework</a:t>
            </a:r>
            <a:r>
              <a:rPr lang="en-US" sz="2000" dirty="0" smtClean="0"/>
              <a:t> consists of two specifications: WS-Policy and WS-</a:t>
            </a:r>
            <a:r>
              <a:rPr lang="en-US" sz="2000" dirty="0" err="1" smtClean="0"/>
              <a:t>PolicyAttachment</a:t>
            </a:r>
            <a:r>
              <a:rPr lang="en-US" sz="2000" dirty="0" smtClean="0"/>
              <a:t>.</a:t>
            </a:r>
          </a:p>
          <a:p>
            <a:endParaRPr lang="en-US" sz="2000" dirty="0" smtClean="0"/>
          </a:p>
          <a:p>
            <a:r>
              <a:rPr lang="en-US" sz="2000" dirty="0" smtClean="0"/>
              <a:t>The </a:t>
            </a:r>
            <a:r>
              <a:rPr lang="en-US" sz="2000" i="1" dirty="0" smtClean="0">
                <a:solidFill>
                  <a:srgbClr val="C00000"/>
                </a:solidFill>
              </a:rPr>
              <a:t>WS-Policy</a:t>
            </a:r>
            <a:r>
              <a:rPr lang="en-US" sz="2000" dirty="0" smtClean="0"/>
              <a:t> specification describes the grammar for expressing policy alternatives and composing them as combinations of domain assertions.</a:t>
            </a:r>
          </a:p>
          <a:p>
            <a:r>
              <a:rPr lang="en-US" sz="2000" dirty="0" smtClean="0"/>
              <a:t>The </a:t>
            </a:r>
            <a:r>
              <a:rPr lang="en-US" sz="2000" i="1" dirty="0" smtClean="0"/>
              <a:t>WS-Policy</a:t>
            </a:r>
            <a:r>
              <a:rPr lang="en-US" sz="2000" dirty="0" smtClean="0"/>
              <a:t> specification also describes the basic mechanisms for the </a:t>
            </a:r>
            <a:r>
              <a:rPr lang="en-US" sz="2000" i="1" dirty="0" smtClean="0">
                <a:solidFill>
                  <a:srgbClr val="C00000"/>
                </a:solidFill>
              </a:rPr>
              <a:t>merging of multiple policies</a:t>
            </a:r>
            <a:r>
              <a:rPr lang="en-US" sz="2000" dirty="0" smtClean="0"/>
              <a:t> that apply to a common subject and the intersection of policies to determine compatibility.</a:t>
            </a:r>
          </a:p>
          <a:p>
            <a:r>
              <a:rPr lang="en-US" sz="2000" i="1" dirty="0" smtClean="0"/>
              <a:t>WS-Policy</a:t>
            </a:r>
            <a:r>
              <a:rPr lang="en-US" sz="2000" dirty="0" smtClean="0"/>
              <a:t> is critical to achieving interoperability at the higher-level functional operation of the service. Security, transactions, reliable messaging, and other specifications require </a:t>
            </a:r>
            <a:r>
              <a:rPr lang="en-US" sz="2000" i="1" dirty="0" smtClean="0">
                <a:solidFill>
                  <a:srgbClr val="C00000"/>
                </a:solidFill>
              </a:rPr>
              <a:t>concrete WS-Policy schema</a:t>
            </a:r>
            <a:r>
              <a:rPr lang="en-US" sz="2000" dirty="0" smtClean="0"/>
              <a:t>.</a:t>
            </a:r>
          </a:p>
          <a:p>
            <a:r>
              <a:rPr lang="en-US" sz="2000" dirty="0" smtClean="0"/>
              <a:t>The </a:t>
            </a:r>
            <a:r>
              <a:rPr lang="en-US" sz="2000" i="1" dirty="0" smtClean="0">
                <a:solidFill>
                  <a:srgbClr val="C00000"/>
                </a:solidFill>
              </a:rPr>
              <a:t>WS-</a:t>
            </a:r>
            <a:r>
              <a:rPr lang="en-US" sz="2000" i="1" dirty="0" err="1" smtClean="0">
                <a:solidFill>
                  <a:srgbClr val="C00000"/>
                </a:solidFill>
              </a:rPr>
              <a:t>PolicyAttachment</a:t>
            </a:r>
            <a:r>
              <a:rPr lang="en-US" sz="2000" dirty="0" smtClean="0"/>
              <a:t> specification describes how to associate policies with a particular subject.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Attaching Policies to Web Services</a:t>
            </a:r>
            <a:endParaRPr lang="en-US" dirty="0"/>
          </a:p>
        </p:txBody>
      </p:sp>
      <p:sp>
        <p:nvSpPr>
          <p:cNvPr id="3" name="Content Placeholder 2"/>
          <p:cNvSpPr>
            <a:spLocks noGrp="1"/>
          </p:cNvSpPr>
          <p:nvPr>
            <p:ph idx="1"/>
          </p:nvPr>
        </p:nvSpPr>
        <p:spPr>
          <a:xfrm>
            <a:off x="457200" y="1295400"/>
            <a:ext cx="8229600" cy="1676400"/>
          </a:xfrm>
        </p:spPr>
        <p:txBody>
          <a:bodyPr/>
          <a:lstStyle/>
          <a:p>
            <a:r>
              <a:rPr lang="en-US" sz="2000" dirty="0" smtClean="0"/>
              <a:t>In the context of Web services, policies </a:t>
            </a:r>
            <a:r>
              <a:rPr lang="en-US" sz="2000" i="1" dirty="0" smtClean="0">
                <a:solidFill>
                  <a:srgbClr val="C00000"/>
                </a:solidFill>
              </a:rPr>
              <a:t>describe</a:t>
            </a:r>
            <a:r>
              <a:rPr lang="en-US" sz="2000" dirty="0" smtClean="0"/>
              <a:t> the constraints on an interaction between two or more Web service endpoints typically a service provider and a service requester.</a:t>
            </a:r>
          </a:p>
          <a:p>
            <a:r>
              <a:rPr lang="en-US" sz="2000" dirty="0" smtClean="0"/>
              <a:t>You </a:t>
            </a:r>
            <a:r>
              <a:rPr lang="en-US" sz="2000" i="1" dirty="0" smtClean="0">
                <a:solidFill>
                  <a:srgbClr val="C00000"/>
                </a:solidFill>
              </a:rPr>
              <a:t>create</a:t>
            </a:r>
            <a:r>
              <a:rPr lang="en-US" sz="2000" dirty="0" smtClean="0"/>
              <a:t> policy annotations using the </a:t>
            </a:r>
            <a:r>
              <a:rPr lang="en-US" sz="2000" dirty="0" err="1" smtClean="0"/>
              <a:t>PolicyURIs</a:t>
            </a:r>
            <a:r>
              <a:rPr lang="en-US" sz="2000" dirty="0" smtClean="0"/>
              <a:t> attribute or the </a:t>
            </a:r>
            <a:r>
              <a:rPr lang="en-US" sz="2000" dirty="0" err="1" smtClean="0"/>
              <a:t>PolicyReference</a:t>
            </a:r>
            <a:r>
              <a:rPr lang="en-US" sz="2000" dirty="0" smtClean="0"/>
              <a:t> element.</a:t>
            </a:r>
            <a:endParaRPr lang="en-US" sz="2000" dirty="0"/>
          </a:p>
        </p:txBody>
      </p:sp>
      <p:sp>
        <p:nvSpPr>
          <p:cNvPr id="5" name="Rectangle 4"/>
          <p:cNvSpPr/>
          <p:nvPr/>
        </p:nvSpPr>
        <p:spPr>
          <a:xfrm>
            <a:off x="609600" y="3229213"/>
            <a:ext cx="8001000" cy="3323987"/>
          </a:xfrm>
          <a:prstGeom prst="rect">
            <a:avLst/>
          </a:prstGeom>
          <a:solidFill>
            <a:schemeClr val="bg2"/>
          </a:solidFill>
          <a:ln>
            <a:solidFill>
              <a:schemeClr val="tx1">
                <a:lumMod val="50000"/>
                <a:lumOff val="50000"/>
              </a:schemeClr>
            </a:solidFill>
          </a:ln>
        </p:spPr>
        <p:txBody>
          <a:bodyPr wrap="square">
            <a:spAutoFit/>
          </a:bodyPr>
          <a:lstStyle/>
          <a:p>
            <a:r>
              <a:rPr lang="en-US" sz="1400" dirty="0" smtClean="0">
                <a:solidFill>
                  <a:srgbClr val="C00000"/>
                </a:solidFill>
                <a:latin typeface="Consolas" pitchFamily="49" charset="0"/>
                <a:cs typeface="Consolas" pitchFamily="49" charset="0"/>
              </a:rPr>
              <a:t>&lt;binding name="</a:t>
            </a:r>
            <a:r>
              <a:rPr lang="en-US" sz="1400" dirty="0" err="1" smtClean="0">
                <a:solidFill>
                  <a:srgbClr val="C00000"/>
                </a:solidFill>
                <a:latin typeface="Consolas" pitchFamily="49" charset="0"/>
                <a:cs typeface="Consolas" pitchFamily="49" charset="0"/>
              </a:rPr>
              <a:t>stockQuoteSoapBinding</a:t>
            </a:r>
            <a:r>
              <a:rPr lang="en-US" sz="1400" dirty="0" smtClean="0">
                <a:solidFill>
                  <a:srgbClr val="C00000"/>
                </a:solidFill>
                <a:latin typeface="Consolas" pitchFamily="49" charset="0"/>
                <a:cs typeface="Consolas" pitchFamily="49" charset="0"/>
              </a:rPr>
              <a:t>"</a:t>
            </a:r>
          </a:p>
          <a:p>
            <a:r>
              <a:rPr lang="en-US" sz="1400" dirty="0" smtClean="0">
                <a:solidFill>
                  <a:srgbClr val="C00000"/>
                </a:solidFill>
                <a:latin typeface="Consolas" pitchFamily="49" charset="0"/>
                <a:cs typeface="Consolas" pitchFamily="49" charset="0"/>
              </a:rPr>
              <a:t>    type="</a:t>
            </a:r>
            <a:r>
              <a:rPr lang="en-US" sz="1400" dirty="0" err="1" smtClean="0">
                <a:solidFill>
                  <a:srgbClr val="C00000"/>
                </a:solidFill>
                <a:latin typeface="Consolas" pitchFamily="49" charset="0"/>
                <a:cs typeface="Consolas" pitchFamily="49" charset="0"/>
              </a:rPr>
              <a:t>tns:StockQuotePortType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soap:binding</a:t>
            </a:r>
            <a:r>
              <a:rPr lang="en-US" sz="1400" dirty="0" smtClean="0">
                <a:solidFill>
                  <a:srgbClr val="C00000"/>
                </a:solidFill>
                <a:latin typeface="Consolas" pitchFamily="49" charset="0"/>
                <a:cs typeface="Consolas" pitchFamily="49" charset="0"/>
              </a:rPr>
              <a:t> style="document"</a:t>
            </a:r>
          </a:p>
          <a:p>
            <a:r>
              <a:rPr lang="en-US" sz="1400" dirty="0" smtClean="0">
                <a:solidFill>
                  <a:srgbClr val="C00000"/>
                </a:solidFill>
                <a:latin typeface="Consolas" pitchFamily="49" charset="0"/>
                <a:cs typeface="Consolas" pitchFamily="49" charset="0"/>
              </a:rPr>
              <a:t>      transport="http://schemas.xmlsoap.org/soap/http"/&gt;</a:t>
            </a:r>
          </a:p>
          <a:p>
            <a:r>
              <a:rPr lang="en-US" sz="1400" dirty="0" smtClean="0">
                <a:solidFill>
                  <a:srgbClr val="C00000"/>
                </a:solidFill>
                <a:latin typeface="Consolas" pitchFamily="49" charset="0"/>
                <a:cs typeface="Consolas" pitchFamily="49" charset="0"/>
              </a:rPr>
              <a:t>   &lt;operation name="</a:t>
            </a:r>
            <a:r>
              <a:rPr lang="en-US" sz="1400" dirty="0" err="1" smtClean="0">
                <a:solidFill>
                  <a:srgbClr val="C00000"/>
                </a:solidFill>
                <a:latin typeface="Consolas" pitchFamily="49" charset="0"/>
                <a:cs typeface="Consolas" pitchFamily="49" charset="0"/>
              </a:rPr>
              <a:t>GetLastTradePrice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soap:operation</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soapAction</a:t>
            </a:r>
            <a:r>
              <a:rPr lang="en-US" sz="1400" dirty="0" smtClean="0">
                <a:solidFill>
                  <a:srgbClr val="C00000"/>
                </a:solidFill>
                <a:latin typeface="Consolas" pitchFamily="49" charset="0"/>
                <a:cs typeface="Consolas" pitchFamily="49" charset="0"/>
              </a:rPr>
              <a:t>="http://example.com/GetLastTradePrice"/&gt;</a:t>
            </a:r>
          </a:p>
          <a:p>
            <a:r>
              <a:rPr lang="en-US" sz="1400" dirty="0" smtClean="0">
                <a:solidFill>
                  <a:srgbClr val="C00000"/>
                </a:solidFill>
                <a:latin typeface="Consolas" pitchFamily="49" charset="0"/>
                <a:cs typeface="Consolas" pitchFamily="49" charset="0"/>
              </a:rPr>
              <a:t>    &lt;input&gt;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wsp:PolicyReference</a:t>
            </a:r>
            <a:r>
              <a:rPr lang="en-US" sz="1400" dirty="0" smtClean="0">
                <a:solidFill>
                  <a:srgbClr val="C00000"/>
                </a:solidFill>
                <a:latin typeface="Consolas" pitchFamily="49" charset="0"/>
                <a:cs typeface="Consolas" pitchFamily="49" charset="0"/>
              </a:rPr>
              <a:t> URI="http://www.example.com/StdSecurityPolicy1"/&gt;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soap:body</a:t>
            </a:r>
            <a:r>
              <a:rPr lang="en-US" sz="1400" dirty="0" smtClean="0">
                <a:solidFill>
                  <a:srgbClr val="C00000"/>
                </a:solidFill>
                <a:latin typeface="Consolas" pitchFamily="49" charset="0"/>
                <a:cs typeface="Consolas" pitchFamily="49" charset="0"/>
              </a:rPr>
              <a:t> use="literal"/&gt;</a:t>
            </a:r>
          </a:p>
          <a:p>
            <a:r>
              <a:rPr lang="en-US" sz="1400" dirty="0" smtClean="0">
                <a:solidFill>
                  <a:srgbClr val="C00000"/>
                </a:solidFill>
                <a:latin typeface="Consolas" pitchFamily="49" charset="0"/>
                <a:cs typeface="Consolas" pitchFamily="49" charset="0"/>
              </a:rPr>
              <a:t>      &lt;/input&gt;</a:t>
            </a:r>
          </a:p>
          <a:p>
            <a:r>
              <a:rPr lang="en-US" sz="1400" dirty="0" smtClean="0">
                <a:solidFill>
                  <a:srgbClr val="C00000"/>
                </a:solidFill>
                <a:latin typeface="Consolas" pitchFamily="49" charset="0"/>
                <a:cs typeface="Consolas" pitchFamily="49" charset="0"/>
              </a:rPr>
              <a:t>      &lt;output&gt;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soap:body</a:t>
            </a:r>
            <a:r>
              <a:rPr lang="en-US" sz="1400" dirty="0" smtClean="0">
                <a:solidFill>
                  <a:srgbClr val="C00000"/>
                </a:solidFill>
                <a:latin typeface="Consolas" pitchFamily="49" charset="0"/>
                <a:cs typeface="Consolas" pitchFamily="49" charset="0"/>
              </a:rPr>
              <a:t> use="literal"/&gt;</a:t>
            </a:r>
          </a:p>
          <a:p>
            <a:r>
              <a:rPr lang="en-US" sz="1400" dirty="0" smtClean="0">
                <a:solidFill>
                  <a:srgbClr val="C00000"/>
                </a:solidFill>
                <a:latin typeface="Consolas" pitchFamily="49" charset="0"/>
                <a:cs typeface="Consolas" pitchFamily="49" charset="0"/>
              </a:rPr>
              <a:t>      &lt;/output&gt;</a:t>
            </a:r>
          </a:p>
          <a:p>
            <a:r>
              <a:rPr lang="en-US" sz="1400" dirty="0" smtClean="0">
                <a:solidFill>
                  <a:srgbClr val="C00000"/>
                </a:solidFill>
                <a:latin typeface="Consolas" pitchFamily="49" charset="0"/>
                <a:cs typeface="Consolas" pitchFamily="49" charset="0"/>
              </a:rPr>
              <a:t>  &lt;/operation&gt;</a:t>
            </a:r>
          </a:p>
          <a:p>
            <a:r>
              <a:rPr lang="en-US" sz="1400" dirty="0" smtClean="0">
                <a:solidFill>
                  <a:srgbClr val="C00000"/>
                </a:solidFill>
                <a:latin typeface="Consolas" pitchFamily="49" charset="0"/>
                <a:cs typeface="Consolas" pitchFamily="49" charset="0"/>
              </a:rPr>
              <a:t>&lt;/binding&gt;</a:t>
            </a:r>
            <a:endParaRPr lang="en-US" sz="1400" dirty="0">
              <a:solidFill>
                <a:srgbClr val="C00000"/>
              </a:solidFill>
              <a:latin typeface="Consolas" pitchFamily="49" charset="0"/>
              <a:cs typeface="Consolas"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WS-Policy vs. WSDL</a:t>
            </a:r>
            <a:endParaRPr lang="en-US" dirty="0"/>
          </a:p>
        </p:txBody>
      </p:sp>
      <p:sp>
        <p:nvSpPr>
          <p:cNvPr id="3" name="Content Placeholder 2"/>
          <p:cNvSpPr>
            <a:spLocks noGrp="1"/>
          </p:cNvSpPr>
          <p:nvPr>
            <p:ph idx="1"/>
          </p:nvPr>
        </p:nvSpPr>
        <p:spPr/>
        <p:txBody>
          <a:bodyPr/>
          <a:lstStyle/>
          <a:p>
            <a:r>
              <a:rPr lang="en-US" sz="1600" dirty="0" smtClean="0"/>
              <a:t>There is the benefit of clearly </a:t>
            </a:r>
            <a:r>
              <a:rPr lang="en-US" sz="1600" i="1" dirty="0" smtClean="0">
                <a:solidFill>
                  <a:srgbClr val="C00000"/>
                </a:solidFill>
              </a:rPr>
              <a:t>separating concerns</a:t>
            </a:r>
            <a:r>
              <a:rPr lang="en-US" sz="1600" dirty="0" smtClean="0"/>
              <a:t>, avoiding a single monolithic specification to deal with all the diversity of service description information.</a:t>
            </a:r>
          </a:p>
          <a:p>
            <a:r>
              <a:rPr lang="en-US" sz="1600" dirty="0" smtClean="0"/>
              <a:t>WSDL has a clear focus on functional descriptions. Nonfunctional descriptions and quality of service aspects are naturally dealt with in a compose-able, reusable specification, such as WS-Policy.</a:t>
            </a:r>
          </a:p>
          <a:p>
            <a:r>
              <a:rPr lang="en-US" sz="1600" dirty="0" smtClean="0"/>
              <a:t>Additional service description aspects, such as semantics, are best left to a different description language (such as OWL-S).</a:t>
            </a:r>
          </a:p>
          <a:p>
            <a:r>
              <a:rPr lang="en-US" sz="1600" dirty="0" smtClean="0"/>
              <a:t>XML documents, </a:t>
            </a:r>
            <a:r>
              <a:rPr lang="en-US" sz="1600" dirty="0" err="1" smtClean="0"/>
              <a:t>stateful</a:t>
            </a:r>
            <a:r>
              <a:rPr lang="en-US" sz="1600" dirty="0" smtClean="0"/>
              <a:t> resources of every kind, reliable messaging sessions, and so on can be legitimate subjects on which policies will need to be asserted to ensure interoperability among services.</a:t>
            </a:r>
          </a:p>
          <a:p>
            <a:r>
              <a:rPr lang="en-US" sz="1600" dirty="0" smtClean="0"/>
              <a:t>For this reason, WS-Policy strives to provide a flexible, extensible policy attachment mechanism for </a:t>
            </a:r>
            <a:r>
              <a:rPr lang="en-US" sz="1600" i="1" dirty="0" smtClean="0">
                <a:solidFill>
                  <a:srgbClr val="C00000"/>
                </a:solidFill>
              </a:rPr>
              <a:t>associating policies with subjects</a:t>
            </a:r>
            <a:r>
              <a:rPr lang="en-US" sz="1600" dirty="0" smtClean="0"/>
              <a:t>. WSDL is concerned only with service endpoints.</a:t>
            </a:r>
          </a:p>
          <a:p>
            <a:r>
              <a:rPr lang="en-US" sz="1600" dirty="0" smtClean="0"/>
              <a:t>The flexibility of the attachment mechanism satisfies a third requirement that WSDL is not designed to support. That requirement involves representing the </a:t>
            </a:r>
            <a:r>
              <a:rPr lang="en-US" sz="1600" i="1" dirty="0" smtClean="0">
                <a:solidFill>
                  <a:srgbClr val="C00000"/>
                </a:solidFill>
              </a:rPr>
              <a:t>incremental addition of capabilities</a:t>
            </a:r>
            <a:r>
              <a:rPr lang="en-US" sz="1600" dirty="0" smtClean="0"/>
              <a:t> to an existing service. For example, confidentiality, authentication, support for reliable messaging protocols, and so on might be added to a service without impacting an application.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WS-Security</a:t>
            </a:r>
            <a:endParaRPr lang="en-US" dirty="0"/>
          </a:p>
        </p:txBody>
      </p:sp>
      <p:sp>
        <p:nvSpPr>
          <p:cNvPr id="3" name="Content Placeholder 2"/>
          <p:cNvSpPr>
            <a:spLocks noGrp="1"/>
          </p:cNvSpPr>
          <p:nvPr>
            <p:ph idx="1"/>
          </p:nvPr>
        </p:nvSpPr>
        <p:spPr>
          <a:xfrm>
            <a:off x="457200" y="1371600"/>
            <a:ext cx="8229600" cy="3992563"/>
          </a:xfrm>
        </p:spPr>
        <p:txBody>
          <a:bodyPr/>
          <a:lstStyle/>
          <a:p>
            <a:r>
              <a:rPr lang="en-US" sz="2200" i="1" dirty="0" smtClean="0">
                <a:solidFill>
                  <a:srgbClr val="C00000"/>
                </a:solidFill>
              </a:rPr>
              <a:t>WS-Security</a:t>
            </a:r>
            <a:r>
              <a:rPr lang="en-US" sz="2200" dirty="0" smtClean="0"/>
              <a:t> uses existing security models (such as Kerberos and X509). The specifications concretely define how to use the existing models in an interoperable way.</a:t>
            </a:r>
          </a:p>
          <a:p>
            <a:r>
              <a:rPr lang="en-US" sz="2200" i="1" dirty="0" smtClean="0">
                <a:solidFill>
                  <a:srgbClr val="C00000"/>
                </a:solidFill>
              </a:rPr>
              <a:t>WS-Security: SOAP Message Security</a:t>
            </a:r>
            <a:r>
              <a:rPr lang="en-US" sz="2200" dirty="0" smtClean="0"/>
              <a:t> provides support for end-to-end message security. This specification introduces three key concepts:</a:t>
            </a:r>
          </a:p>
          <a:p>
            <a:pPr lvl="1"/>
            <a:r>
              <a:rPr lang="en-US" sz="1800" i="1" dirty="0" smtClean="0">
                <a:solidFill>
                  <a:srgbClr val="C00000"/>
                </a:solidFill>
              </a:rPr>
              <a:t>Security tokens</a:t>
            </a:r>
            <a:r>
              <a:rPr lang="en-US" sz="1800" dirty="0" smtClean="0"/>
              <a:t> SOAP messages can contain security tokens with authentication information. These tokens can flow with the message through intermediaries to vouch for message claims to downstream systems.</a:t>
            </a:r>
          </a:p>
          <a:p>
            <a:pPr lvl="1"/>
            <a:r>
              <a:rPr lang="en-US" sz="1800" i="1" dirty="0" smtClean="0">
                <a:solidFill>
                  <a:srgbClr val="C00000"/>
                </a:solidFill>
              </a:rPr>
              <a:t>Signature elements</a:t>
            </a:r>
            <a:r>
              <a:rPr lang="en-US" sz="1800" dirty="0" smtClean="0"/>
              <a:t> SOAP messages can contain digital signature information for all or part of a message.</a:t>
            </a:r>
          </a:p>
          <a:p>
            <a:pPr lvl="1"/>
            <a:r>
              <a:rPr lang="en-US" sz="1800" i="1" dirty="0" smtClean="0">
                <a:solidFill>
                  <a:srgbClr val="C00000"/>
                </a:solidFill>
              </a:rPr>
              <a:t>Encryption element</a:t>
            </a:r>
            <a:r>
              <a:rPr lang="en-US" sz="1800" dirty="0" smtClean="0"/>
              <a:t> SOAP messages can be encrypted, either wholly or in part.</a:t>
            </a:r>
          </a:p>
        </p:txBody>
      </p:sp>
      <p:pic>
        <p:nvPicPr>
          <p:cNvPr id="5122" name="Picture 2"/>
          <p:cNvPicPr>
            <a:picLocks noChangeAspect="1" noChangeArrowheads="1"/>
          </p:cNvPicPr>
          <p:nvPr/>
        </p:nvPicPr>
        <p:blipFill>
          <a:blip r:embed="rId2" cstate="print"/>
          <a:srcRect/>
          <a:stretch>
            <a:fillRect/>
          </a:stretch>
        </p:blipFill>
        <p:spPr bwMode="auto">
          <a:xfrm>
            <a:off x="2428875" y="5457825"/>
            <a:ext cx="4286250" cy="124777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WS-Trust</a:t>
            </a:r>
            <a:endParaRPr lang="en-US" dirty="0"/>
          </a:p>
        </p:txBody>
      </p:sp>
      <p:sp>
        <p:nvSpPr>
          <p:cNvPr id="3" name="Content Placeholder 2"/>
          <p:cNvSpPr>
            <a:spLocks noGrp="1"/>
          </p:cNvSpPr>
          <p:nvPr>
            <p:ph idx="1"/>
          </p:nvPr>
        </p:nvSpPr>
        <p:spPr>
          <a:xfrm>
            <a:off x="457200" y="1417637"/>
            <a:ext cx="8229600" cy="5059363"/>
          </a:xfrm>
        </p:spPr>
        <p:txBody>
          <a:bodyPr/>
          <a:lstStyle/>
          <a:p>
            <a:r>
              <a:rPr lang="en-US" sz="1900" dirty="0" smtClean="0"/>
              <a:t>Security relies on </a:t>
            </a:r>
            <a:r>
              <a:rPr lang="en-US" sz="1900" i="1" dirty="0" smtClean="0">
                <a:solidFill>
                  <a:srgbClr val="C00000"/>
                </a:solidFill>
              </a:rPr>
              <a:t>predefined trust relationships</a:t>
            </a:r>
            <a:r>
              <a:rPr lang="en-US" sz="1900" dirty="0" smtClean="0"/>
              <a:t>. Kerberos works because participants trust the Kerberos Key Distribution Center. Public Key Infrastructure (PKI) works because participants trust the root certificate authorities.</a:t>
            </a:r>
          </a:p>
          <a:p>
            <a:r>
              <a:rPr lang="en-US" sz="1900" i="1" dirty="0" smtClean="0">
                <a:solidFill>
                  <a:srgbClr val="C00000"/>
                </a:solidFill>
              </a:rPr>
              <a:t>WS-Trust</a:t>
            </a:r>
            <a:r>
              <a:rPr lang="en-US" sz="1900" dirty="0" smtClean="0"/>
              <a:t> defines an extensible model for setting up and verifying trust relationships. </a:t>
            </a:r>
          </a:p>
          <a:p>
            <a:r>
              <a:rPr lang="en-US" sz="1900" dirty="0" smtClean="0"/>
              <a:t>The key concept in WS-Trust is a </a:t>
            </a:r>
            <a:r>
              <a:rPr lang="en-US" sz="1900" i="1" dirty="0" smtClean="0">
                <a:solidFill>
                  <a:srgbClr val="C00000"/>
                </a:solidFill>
              </a:rPr>
              <a:t>Security Token Service (STS)</a:t>
            </a:r>
            <a:r>
              <a:rPr lang="en-US" sz="1900" dirty="0" smtClean="0"/>
              <a:t>. An STS is a distinguished Web service that issues, exchanges, and validates security tokens.</a:t>
            </a:r>
          </a:p>
          <a:p>
            <a:r>
              <a:rPr lang="en-US" sz="1900" dirty="0" smtClean="0"/>
              <a:t>WS-Trust allows Web services to set up and agree on which </a:t>
            </a:r>
            <a:r>
              <a:rPr lang="en-US" sz="1900" i="1" dirty="0" smtClean="0">
                <a:solidFill>
                  <a:srgbClr val="C00000"/>
                </a:solidFill>
              </a:rPr>
              <a:t>security servers</a:t>
            </a:r>
            <a:r>
              <a:rPr lang="en-US" sz="1900" dirty="0" smtClean="0"/>
              <a:t> they trust, and to rely on these servers.</a:t>
            </a:r>
          </a:p>
          <a:p>
            <a:r>
              <a:rPr lang="en-US" sz="1900" dirty="0" smtClean="0"/>
              <a:t>Participants often use WS-Security with public keys to start a conversation or session, and they use </a:t>
            </a:r>
            <a:r>
              <a:rPr lang="en-US" sz="1900" i="1" dirty="0" smtClean="0">
                <a:solidFill>
                  <a:srgbClr val="C00000"/>
                </a:solidFill>
              </a:rPr>
              <a:t>WS-</a:t>
            </a:r>
            <a:r>
              <a:rPr lang="en-US" sz="1900" i="1" dirty="0" err="1" smtClean="0">
                <a:solidFill>
                  <a:srgbClr val="C00000"/>
                </a:solidFill>
              </a:rPr>
              <a:t>SecureConversation</a:t>
            </a:r>
            <a:r>
              <a:rPr lang="en-US" sz="1900" dirty="0" smtClean="0"/>
              <a:t> to agree on session specific keys for signing and encrypting information.</a:t>
            </a:r>
          </a:p>
          <a:p>
            <a:r>
              <a:rPr lang="en-US" sz="1900" i="1" dirty="0" smtClean="0">
                <a:solidFill>
                  <a:srgbClr val="C00000"/>
                </a:solidFill>
              </a:rPr>
              <a:t>WS-Federation</a:t>
            </a:r>
            <a:r>
              <a:rPr lang="en-US" sz="1900" dirty="0" smtClean="0"/>
              <a:t> allows a set of organizations to establish a single, virtual security domain.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WS-Security Model</a:t>
            </a:r>
            <a:endParaRPr lang="en-US" dirty="0"/>
          </a:p>
        </p:txBody>
      </p:sp>
      <p:sp>
        <p:nvSpPr>
          <p:cNvPr id="3" name="Content Placeholder 2"/>
          <p:cNvSpPr>
            <a:spLocks noGrp="1"/>
          </p:cNvSpPr>
          <p:nvPr>
            <p:ph idx="1"/>
          </p:nvPr>
        </p:nvSpPr>
        <p:spPr>
          <a:xfrm>
            <a:off x="457200" y="1371600"/>
            <a:ext cx="8229600" cy="2971800"/>
          </a:xfrm>
        </p:spPr>
        <p:txBody>
          <a:bodyPr/>
          <a:lstStyle/>
          <a:p>
            <a:r>
              <a:rPr lang="en-US" sz="1800" dirty="0" smtClean="0"/>
              <a:t>The requester might have </a:t>
            </a:r>
            <a:r>
              <a:rPr lang="en-US" sz="1800" i="1" dirty="0" smtClean="0">
                <a:solidFill>
                  <a:srgbClr val="C00000"/>
                </a:solidFill>
              </a:rPr>
              <a:t>claims</a:t>
            </a:r>
            <a:r>
              <a:rPr lang="en-US" sz="1800" dirty="0" smtClean="0"/>
              <a:t> regarding the message's security properties, such as identity and authorization claims.</a:t>
            </a:r>
          </a:p>
          <a:p>
            <a:r>
              <a:rPr lang="en-US" sz="1800" dirty="0" smtClean="0"/>
              <a:t>WS-Security provides a way to represent the set of claims. This is represented as a </a:t>
            </a:r>
            <a:r>
              <a:rPr lang="en-US" sz="1800" i="1" dirty="0" smtClean="0">
                <a:solidFill>
                  <a:srgbClr val="C00000"/>
                </a:solidFill>
              </a:rPr>
              <a:t>security token</a:t>
            </a:r>
            <a:r>
              <a:rPr lang="en-US" sz="1800" dirty="0" smtClean="0"/>
              <a:t>, and WS-Security defines a standard XML format for transporting security tokens.</a:t>
            </a:r>
          </a:p>
          <a:p>
            <a:r>
              <a:rPr lang="en-US" sz="1800" dirty="0" smtClean="0"/>
              <a:t>The implementing Web service has a set of requirements for a request to be accepted. These requirements are described as the service's policy, and in particular </a:t>
            </a:r>
            <a:r>
              <a:rPr lang="en-US" sz="1800" i="1" dirty="0" smtClean="0">
                <a:solidFill>
                  <a:srgbClr val="C00000"/>
                </a:solidFill>
              </a:rPr>
              <a:t>security policy</a:t>
            </a:r>
            <a:r>
              <a:rPr lang="en-US" sz="1800" dirty="0" smtClean="0"/>
              <a:t>, which is made known to the requester through UDDI or WS-</a:t>
            </a:r>
            <a:r>
              <a:rPr lang="en-US" sz="1800" dirty="0" err="1" smtClean="0"/>
              <a:t>MetadataExchange</a:t>
            </a:r>
            <a:r>
              <a:rPr lang="en-US" sz="1800" dirty="0" smtClean="0"/>
              <a:t>.</a:t>
            </a:r>
          </a:p>
          <a:p>
            <a:r>
              <a:rPr lang="en-US" sz="1800" dirty="0" smtClean="0"/>
              <a:t>WS-Trust defines the interfaces to a </a:t>
            </a:r>
            <a:r>
              <a:rPr lang="en-US" sz="1800" i="1" dirty="0" smtClean="0">
                <a:solidFill>
                  <a:srgbClr val="C00000"/>
                </a:solidFill>
              </a:rPr>
              <a:t>Security Token Server</a:t>
            </a:r>
            <a:r>
              <a:rPr lang="en-US" sz="1800" dirty="0" smtClean="0"/>
              <a:t>.</a:t>
            </a:r>
          </a:p>
        </p:txBody>
      </p:sp>
      <p:pic>
        <p:nvPicPr>
          <p:cNvPr id="1026" name="Picture 2"/>
          <p:cNvPicPr>
            <a:picLocks noChangeAspect="1" noChangeArrowheads="1"/>
          </p:cNvPicPr>
          <p:nvPr/>
        </p:nvPicPr>
        <p:blipFill>
          <a:blip r:embed="rId2" cstate="print"/>
          <a:srcRect/>
          <a:stretch>
            <a:fillRect/>
          </a:stretch>
        </p:blipFill>
        <p:spPr bwMode="auto">
          <a:xfrm>
            <a:off x="1571625" y="4438650"/>
            <a:ext cx="6000750" cy="21907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WS-Security Processing Model</a:t>
            </a:r>
            <a:endParaRPr lang="en-US" dirty="0"/>
          </a:p>
        </p:txBody>
      </p:sp>
      <p:sp>
        <p:nvSpPr>
          <p:cNvPr id="3" name="Content Placeholder 2"/>
          <p:cNvSpPr>
            <a:spLocks noGrp="1"/>
          </p:cNvSpPr>
          <p:nvPr>
            <p:ph idx="1"/>
          </p:nvPr>
        </p:nvSpPr>
        <p:spPr>
          <a:xfrm>
            <a:off x="457200" y="1295400"/>
            <a:ext cx="8229600" cy="2743200"/>
          </a:xfrm>
        </p:spPr>
        <p:txBody>
          <a:bodyPr/>
          <a:lstStyle/>
          <a:p>
            <a:r>
              <a:rPr lang="en-US" sz="2000" dirty="0" smtClean="0"/>
              <a:t>The </a:t>
            </a:r>
            <a:r>
              <a:rPr lang="en-US" sz="2000" i="1" dirty="0" smtClean="0">
                <a:solidFill>
                  <a:srgbClr val="C00000"/>
                </a:solidFill>
              </a:rPr>
              <a:t>processing model</a:t>
            </a:r>
            <a:r>
              <a:rPr lang="en-US" sz="2000" dirty="0" smtClean="0"/>
              <a:t> of WS-Security is built on top of the substrate provided by SOAP, XML Signature, and XML Encryption.</a:t>
            </a:r>
          </a:p>
          <a:p>
            <a:r>
              <a:rPr lang="en-US" sz="2000" i="1" dirty="0" smtClean="0">
                <a:solidFill>
                  <a:srgbClr val="C00000"/>
                </a:solidFill>
              </a:rPr>
              <a:t>XML Signature</a:t>
            </a:r>
            <a:r>
              <a:rPr lang="en-US" sz="2000" dirty="0" smtClean="0"/>
              <a:t> protects parts of an XML document from unauthorized modifications using a cryptographic technique called digital signature.</a:t>
            </a:r>
          </a:p>
          <a:p>
            <a:r>
              <a:rPr lang="en-US" sz="2000" dirty="0" smtClean="0"/>
              <a:t>The signature algorithm can be either a symmetric cryptosystem such as Triple DES and AES (Advanced Encryption Standard), or an asymmetric (public key) cryptosystem such as RSA and DSA.</a:t>
            </a:r>
          </a:p>
          <a:p>
            <a:r>
              <a:rPr lang="en-US" sz="2000" i="1" dirty="0" smtClean="0">
                <a:solidFill>
                  <a:srgbClr val="C00000"/>
                </a:solidFill>
              </a:rPr>
              <a:t>XML Encryption</a:t>
            </a:r>
            <a:r>
              <a:rPr lang="en-US" sz="2000" dirty="0" smtClean="0"/>
              <a:t> encrypts portions of an XML document.</a:t>
            </a:r>
          </a:p>
          <a:p>
            <a:endParaRPr lang="en-US" sz="2000" dirty="0"/>
          </a:p>
        </p:txBody>
      </p:sp>
      <p:sp>
        <p:nvSpPr>
          <p:cNvPr id="5" name="Rectangle 4"/>
          <p:cNvSpPr/>
          <p:nvPr/>
        </p:nvSpPr>
        <p:spPr>
          <a:xfrm>
            <a:off x="609600" y="4027944"/>
            <a:ext cx="7924800" cy="2677656"/>
          </a:xfrm>
          <a:prstGeom prst="rect">
            <a:avLst/>
          </a:prstGeom>
          <a:solidFill>
            <a:schemeClr val="bg2"/>
          </a:solidFill>
          <a:ln>
            <a:solidFill>
              <a:schemeClr val="tx1">
                <a:lumMod val="50000"/>
                <a:lumOff val="50000"/>
              </a:schemeClr>
            </a:solidFill>
          </a:ln>
        </p:spPr>
        <p:txBody>
          <a:bodyPr wrap="square">
            <a:spAutoFit/>
          </a:bodyPr>
          <a:lstStyle/>
          <a:p>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ds:Signature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ds:SignedInfo</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ds:CanonicalizationMethod</a:t>
            </a:r>
            <a:r>
              <a:rPr lang="en-US" sz="1400" dirty="0" smtClean="0">
                <a:solidFill>
                  <a:srgbClr val="C00000"/>
                </a:solidFill>
                <a:latin typeface="Consolas" pitchFamily="49" charset="0"/>
                <a:cs typeface="Consolas" pitchFamily="49" charset="0"/>
              </a:rPr>
              <a:t> Algorithm="..."/&gt;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ds:SignatureMethod</a:t>
            </a:r>
            <a:r>
              <a:rPr lang="en-US" sz="1400" dirty="0" smtClean="0">
                <a:solidFill>
                  <a:srgbClr val="C00000"/>
                </a:solidFill>
                <a:latin typeface="Consolas" pitchFamily="49" charset="0"/>
                <a:cs typeface="Consolas" pitchFamily="49" charset="0"/>
              </a:rPr>
              <a:t> Algorithm="..."/&gt;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ds:Reference</a:t>
            </a:r>
            <a:r>
              <a:rPr lang="en-US" sz="1400" dirty="0" smtClean="0">
                <a:solidFill>
                  <a:srgbClr val="C00000"/>
                </a:solidFill>
                <a:latin typeface="Consolas" pitchFamily="49" charset="0"/>
                <a:cs typeface="Consolas" pitchFamily="49" charset="0"/>
              </a:rPr>
              <a:t> URI="..."&gt;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ds:Transforms</a:t>
            </a:r>
            <a:r>
              <a:rPr lang="en-US" sz="1400" dirty="0" smtClean="0">
                <a:solidFill>
                  <a:srgbClr val="C00000"/>
                </a:solidFill>
                <a:latin typeface="Consolas" pitchFamily="49" charset="0"/>
                <a:cs typeface="Consolas" pitchFamily="49" charset="0"/>
              </a:rPr>
              <a:t>&gt; ... &lt;/</a:t>
            </a:r>
            <a:r>
              <a:rPr lang="en-US" sz="1400" dirty="0" err="1" smtClean="0">
                <a:solidFill>
                  <a:srgbClr val="C00000"/>
                </a:solidFill>
                <a:latin typeface="Consolas" pitchFamily="49" charset="0"/>
                <a:cs typeface="Consolas" pitchFamily="49" charset="0"/>
              </a:rPr>
              <a:t>ds:Transforms</a:t>
            </a:r>
            <a:r>
              <a:rPr lang="en-US" sz="1400" dirty="0" smtClean="0">
                <a:solidFill>
                  <a:srgbClr val="C00000"/>
                </a:solidFill>
                <a:latin typeface="Consolas" pitchFamily="49" charset="0"/>
                <a:cs typeface="Consolas" pitchFamily="49" charset="0"/>
              </a:rPr>
              <a:t>&gt;&lt;</a:t>
            </a:r>
            <a:r>
              <a:rPr lang="en-US" sz="1400" dirty="0" err="1" smtClean="0">
                <a:solidFill>
                  <a:srgbClr val="C00000"/>
                </a:solidFill>
                <a:latin typeface="Consolas" pitchFamily="49" charset="0"/>
                <a:cs typeface="Consolas" pitchFamily="49" charset="0"/>
              </a:rPr>
              <a:t>ds:DigestMethod</a:t>
            </a:r>
            <a:r>
              <a:rPr lang="en-US" sz="1400" dirty="0" smtClean="0">
                <a:solidFill>
                  <a:srgbClr val="C00000"/>
                </a:solidFill>
                <a:latin typeface="Consolas" pitchFamily="49" charset="0"/>
                <a:cs typeface="Consolas" pitchFamily="49" charset="0"/>
              </a:rPr>
              <a:t> Algorithm="..."/&gt;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ds:DigestValue</a:t>
            </a:r>
            <a:r>
              <a:rPr lang="en-US" sz="1400" dirty="0" smtClean="0">
                <a:solidFill>
                  <a:srgbClr val="C00000"/>
                </a:solidFill>
                <a:latin typeface="Consolas" pitchFamily="49" charset="0"/>
                <a:cs typeface="Consolas" pitchFamily="49" charset="0"/>
              </a:rPr>
              <a:t>&gt; ... &lt;/</a:t>
            </a:r>
            <a:r>
              <a:rPr lang="en-US" sz="1400" dirty="0" err="1" smtClean="0">
                <a:solidFill>
                  <a:srgbClr val="C00000"/>
                </a:solidFill>
                <a:latin typeface="Consolas" pitchFamily="49" charset="0"/>
                <a:cs typeface="Consolas" pitchFamily="49" charset="0"/>
              </a:rPr>
              <a:t>ds:DigestValue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ds:Reference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ds:SignedInfo</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ds:SignatureValue</a:t>
            </a:r>
            <a:r>
              <a:rPr lang="en-US" sz="1400" dirty="0" smtClean="0">
                <a:solidFill>
                  <a:srgbClr val="C00000"/>
                </a:solidFill>
                <a:latin typeface="Consolas" pitchFamily="49" charset="0"/>
                <a:cs typeface="Consolas" pitchFamily="49" charset="0"/>
              </a:rPr>
              <a:t>&gt; ... &lt;/</a:t>
            </a:r>
            <a:r>
              <a:rPr lang="en-US" sz="1400" dirty="0" err="1" smtClean="0">
                <a:solidFill>
                  <a:srgbClr val="C00000"/>
                </a:solidFill>
                <a:latin typeface="Consolas" pitchFamily="49" charset="0"/>
                <a:cs typeface="Consolas" pitchFamily="49" charset="0"/>
              </a:rPr>
              <a:t>ds:SignatureValue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ds:KeyInfo</a:t>
            </a:r>
            <a:r>
              <a:rPr lang="en-US" sz="1400" dirty="0" smtClean="0">
                <a:solidFill>
                  <a:srgbClr val="C00000"/>
                </a:solidFill>
                <a:latin typeface="Consolas" pitchFamily="49" charset="0"/>
                <a:cs typeface="Consolas" pitchFamily="49" charset="0"/>
              </a:rPr>
              <a:t>&gt; ... &lt;/</a:t>
            </a:r>
            <a:r>
              <a:rPr lang="en-US" sz="1400" dirty="0" err="1" smtClean="0">
                <a:solidFill>
                  <a:srgbClr val="C00000"/>
                </a:solidFill>
                <a:latin typeface="Consolas" pitchFamily="49" charset="0"/>
                <a:cs typeface="Consolas" pitchFamily="49" charset="0"/>
              </a:rPr>
              <a:t>ds:KeyInfo</a:t>
            </a:r>
            <a:r>
              <a:rPr lang="en-US" sz="1400" dirty="0" smtClean="0">
                <a:solidFill>
                  <a:srgbClr val="C00000"/>
                </a:solidFill>
                <a:latin typeface="Consolas" pitchFamily="49" charset="0"/>
                <a:cs typeface="Consolas" pitchFamily="49" charset="0"/>
              </a:rPr>
              <a:t>&gt;&lt;</a:t>
            </a:r>
            <a:r>
              <a:rPr lang="en-US" sz="1400" dirty="0" err="1" smtClean="0">
                <a:solidFill>
                  <a:srgbClr val="C00000"/>
                </a:solidFill>
                <a:latin typeface="Consolas" pitchFamily="49" charset="0"/>
                <a:cs typeface="Consolas" pitchFamily="49" charset="0"/>
              </a:rPr>
              <a:t>ds:Object</a:t>
            </a:r>
            <a:r>
              <a:rPr lang="en-US" sz="1400" dirty="0" smtClean="0">
                <a:solidFill>
                  <a:srgbClr val="C00000"/>
                </a:solidFill>
                <a:latin typeface="Consolas" pitchFamily="49" charset="0"/>
                <a:cs typeface="Consolas" pitchFamily="49" charset="0"/>
              </a:rPr>
              <a:t>&gt; ... &lt;/</a:t>
            </a:r>
            <a:r>
              <a:rPr lang="en-US" sz="1400" dirty="0" err="1" smtClean="0">
                <a:solidFill>
                  <a:srgbClr val="C00000"/>
                </a:solidFill>
                <a:latin typeface="Consolas" pitchFamily="49" charset="0"/>
                <a:cs typeface="Consolas" pitchFamily="49" charset="0"/>
              </a:rPr>
              <a:t>ds:Object</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ds:Signature</a:t>
            </a:r>
            <a:r>
              <a:rPr lang="en-US" sz="1400" dirty="0" smtClean="0">
                <a:solidFill>
                  <a:srgbClr val="C00000"/>
                </a:solidFill>
                <a:latin typeface="Consolas" pitchFamily="49" charset="0"/>
                <a:cs typeface="Consolas" pitchFamily="49" charset="0"/>
              </a:rPr>
              <a:t>&gt;</a:t>
            </a:r>
            <a:endParaRPr lang="en-US" sz="1400" dirty="0">
              <a:solidFill>
                <a:srgbClr val="C00000"/>
              </a:solidFill>
              <a:latin typeface="Consolas" pitchFamily="49" charset="0"/>
              <a:cs typeface="Consolas"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a:t>
            </a:r>
            <a:r>
              <a:rPr lang="en-US" dirty="0" err="1" smtClean="0"/>
              <a:t>ReliableMessaging</a:t>
            </a:r>
            <a:endParaRPr lang="en-US" dirty="0"/>
          </a:p>
        </p:txBody>
      </p:sp>
      <p:sp>
        <p:nvSpPr>
          <p:cNvPr id="3" name="Content Placeholder 2"/>
          <p:cNvSpPr>
            <a:spLocks noGrp="1"/>
          </p:cNvSpPr>
          <p:nvPr>
            <p:ph idx="1"/>
          </p:nvPr>
        </p:nvSpPr>
        <p:spPr>
          <a:xfrm>
            <a:off x="457200" y="1295401"/>
            <a:ext cx="8229600" cy="2819400"/>
          </a:xfrm>
        </p:spPr>
        <p:txBody>
          <a:bodyPr/>
          <a:lstStyle/>
          <a:p>
            <a:r>
              <a:rPr lang="en-US" sz="2200" i="1" dirty="0" smtClean="0">
                <a:solidFill>
                  <a:srgbClr val="C00000"/>
                </a:solidFill>
              </a:rPr>
              <a:t>WS-</a:t>
            </a:r>
            <a:r>
              <a:rPr lang="en-US" sz="2200" i="1" dirty="0" err="1" smtClean="0">
                <a:solidFill>
                  <a:srgbClr val="C00000"/>
                </a:solidFill>
              </a:rPr>
              <a:t>ReliableMessaging</a:t>
            </a:r>
            <a:r>
              <a:rPr lang="en-US" sz="2200" dirty="0" smtClean="0"/>
              <a:t> defines protocols that enable Web services to ensure reliable, interoperable exchange of messages with specified delivery assurances.</a:t>
            </a:r>
          </a:p>
          <a:p>
            <a:r>
              <a:rPr lang="en-US" sz="2200" dirty="0" smtClean="0"/>
              <a:t>The specification defines three basic assurances:</a:t>
            </a:r>
          </a:p>
          <a:p>
            <a:pPr lvl="1"/>
            <a:r>
              <a:rPr lang="en-US" sz="1800" i="1" dirty="0" smtClean="0">
                <a:solidFill>
                  <a:srgbClr val="C00000"/>
                </a:solidFill>
              </a:rPr>
              <a:t>In-order delivery</a:t>
            </a:r>
            <a:r>
              <a:rPr lang="en-US" sz="1800" dirty="0" smtClean="0"/>
              <a:t> The messages are delivered in the same order in which they were sent.</a:t>
            </a:r>
          </a:p>
          <a:p>
            <a:pPr lvl="1"/>
            <a:r>
              <a:rPr lang="en-US" sz="1800" i="1" dirty="0" smtClean="0">
                <a:solidFill>
                  <a:srgbClr val="C00000"/>
                </a:solidFill>
              </a:rPr>
              <a:t>At least once delivery</a:t>
            </a:r>
            <a:r>
              <a:rPr lang="en-US" sz="1800" dirty="0" smtClean="0"/>
              <a:t> Each message that is sent is delivered at least one time.</a:t>
            </a:r>
          </a:p>
          <a:p>
            <a:pPr lvl="1"/>
            <a:r>
              <a:rPr lang="en-US" sz="1800" i="1" dirty="0" smtClean="0">
                <a:solidFill>
                  <a:srgbClr val="C00000"/>
                </a:solidFill>
              </a:rPr>
              <a:t>At most once delivery</a:t>
            </a:r>
            <a:r>
              <a:rPr lang="en-US" sz="1800" dirty="0" smtClean="0"/>
              <a:t> No duplicate messages are delivered.</a:t>
            </a:r>
          </a:p>
        </p:txBody>
      </p:sp>
      <p:sp>
        <p:nvSpPr>
          <p:cNvPr id="5" name="Rectangle 4"/>
          <p:cNvSpPr/>
          <p:nvPr/>
        </p:nvSpPr>
        <p:spPr>
          <a:xfrm>
            <a:off x="533400" y="4167187"/>
            <a:ext cx="8001000" cy="2462213"/>
          </a:xfrm>
          <a:prstGeom prst="rect">
            <a:avLst/>
          </a:prstGeom>
          <a:solidFill>
            <a:schemeClr val="bg2"/>
          </a:solidFill>
          <a:ln>
            <a:solidFill>
              <a:schemeClr val="tx1">
                <a:lumMod val="50000"/>
                <a:lumOff val="50000"/>
              </a:schemeClr>
            </a:solidFill>
          </a:ln>
        </p:spPr>
        <p:txBody>
          <a:bodyPr wrap="square">
            <a:spAutoFit/>
          </a:bodyPr>
          <a:lstStyle/>
          <a:p>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soap:Envelope</a:t>
            </a:r>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xmlns:soap</a:t>
            </a:r>
            <a:r>
              <a:rPr lang="en-US" sz="1400" dirty="0" smtClean="0">
                <a:solidFill>
                  <a:srgbClr val="C00000"/>
                </a:solidFill>
                <a:latin typeface="Consolas" pitchFamily="49" charset="0"/>
                <a:cs typeface="Consolas" pitchFamily="49" charset="0"/>
              </a:rPr>
              <a:t>="http://schemas.xmlsoap.org/soap/envelope/” </a:t>
            </a:r>
            <a:r>
              <a:rPr lang="en-US" sz="1400" dirty="0" err="1" smtClean="0">
                <a:solidFill>
                  <a:srgbClr val="C00000"/>
                </a:solidFill>
                <a:latin typeface="Consolas" pitchFamily="49" charset="0"/>
                <a:cs typeface="Consolas" pitchFamily="49" charset="0"/>
              </a:rPr>
              <a:t>xmlns:wsa</a:t>
            </a:r>
            <a:r>
              <a:rPr lang="en-US" sz="1400" dirty="0" smtClean="0">
                <a:solidFill>
                  <a:srgbClr val="C00000"/>
                </a:solidFill>
                <a:latin typeface="Consolas" pitchFamily="49" charset="0"/>
                <a:cs typeface="Consolas" pitchFamily="49" charset="0"/>
              </a:rPr>
              <a:t>="http://schemas.xmlsoap.org/ws/2004/08/addressing"</a:t>
            </a:r>
          </a:p>
          <a:p>
            <a:r>
              <a:rPr lang="en-US" sz="1400" dirty="0" smtClean="0">
                <a:solidFill>
                  <a:srgbClr val="C00000"/>
                </a:solidFill>
                <a:latin typeface="Consolas" pitchFamily="49" charset="0"/>
                <a:cs typeface="Consolas" pitchFamily="49" charset="0"/>
              </a:rPr>
              <a:t> </a:t>
            </a:r>
            <a:r>
              <a:rPr lang="en-US" sz="1400" dirty="0" err="1" smtClean="0">
                <a:solidFill>
                  <a:srgbClr val="C00000"/>
                </a:solidFill>
                <a:latin typeface="Consolas" pitchFamily="49" charset="0"/>
                <a:cs typeface="Consolas" pitchFamily="49" charset="0"/>
              </a:rPr>
              <a:t>xmlns:wsrm</a:t>
            </a:r>
            <a:r>
              <a:rPr lang="en-US" sz="1400" dirty="0" smtClean="0">
                <a:solidFill>
                  <a:srgbClr val="C00000"/>
                </a:solidFill>
                <a:latin typeface="Consolas" pitchFamily="49" charset="0"/>
                <a:cs typeface="Consolas" pitchFamily="49" charset="0"/>
              </a:rPr>
              <a:t>="http://schemas.xmlsoap.org/ws/2005/02/rm"&gt;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soap:Header</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rm:Sequence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rm:Identifier</a:t>
            </a:r>
            <a:r>
              <a:rPr lang="en-US" sz="1400" dirty="0" smtClean="0">
                <a:solidFill>
                  <a:srgbClr val="C00000"/>
                </a:solidFill>
                <a:latin typeface="Consolas" pitchFamily="49" charset="0"/>
                <a:cs typeface="Consolas" pitchFamily="49" charset="0"/>
              </a:rPr>
              <a:t>&gt;20030818-11010001-0500@example.com&lt;/</a:t>
            </a:r>
            <a:r>
              <a:rPr lang="en-US" sz="1400" dirty="0" err="1" smtClean="0">
                <a:solidFill>
                  <a:srgbClr val="C00000"/>
                </a:solidFill>
                <a:latin typeface="Consolas" pitchFamily="49" charset="0"/>
                <a:cs typeface="Consolas" pitchFamily="49" charset="0"/>
              </a:rPr>
              <a:t>rm:Identifier</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rm:MessageNumber</a:t>
            </a:r>
            <a:r>
              <a:rPr lang="en-US" sz="1400" dirty="0" smtClean="0">
                <a:solidFill>
                  <a:srgbClr val="C00000"/>
                </a:solidFill>
                <a:latin typeface="Consolas" pitchFamily="49" charset="0"/>
                <a:cs typeface="Consolas" pitchFamily="49" charset="0"/>
              </a:rPr>
              <a:t>&gt;1&lt;/</a:t>
            </a:r>
            <a:r>
              <a:rPr lang="en-US" sz="1400" dirty="0" err="1" smtClean="0">
                <a:solidFill>
                  <a:srgbClr val="C00000"/>
                </a:solidFill>
                <a:latin typeface="Consolas" pitchFamily="49" charset="0"/>
                <a:cs typeface="Consolas" pitchFamily="49" charset="0"/>
              </a:rPr>
              <a:t>rm:MessageNumber</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rm:Sequence</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soap:Header</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  &lt;</a:t>
            </a:r>
            <a:r>
              <a:rPr lang="en-US" sz="1400" dirty="0" err="1" smtClean="0">
                <a:solidFill>
                  <a:srgbClr val="C00000"/>
                </a:solidFill>
                <a:latin typeface="Consolas" pitchFamily="49" charset="0"/>
                <a:cs typeface="Consolas" pitchFamily="49" charset="0"/>
              </a:rPr>
              <a:t>soap:Body</a:t>
            </a:r>
            <a:r>
              <a:rPr lang="en-US" sz="1400" dirty="0" smtClean="0">
                <a:solidFill>
                  <a:srgbClr val="C00000"/>
                </a:solidFill>
                <a:latin typeface="Consolas" pitchFamily="49" charset="0"/>
                <a:cs typeface="Consolas" pitchFamily="49" charset="0"/>
              </a:rPr>
              <a:t>&gt;…/</a:t>
            </a:r>
            <a:r>
              <a:rPr lang="en-US" sz="1400" dirty="0" err="1" smtClean="0">
                <a:solidFill>
                  <a:srgbClr val="C00000"/>
                </a:solidFill>
                <a:latin typeface="Consolas" pitchFamily="49" charset="0"/>
                <a:cs typeface="Consolas" pitchFamily="49" charset="0"/>
              </a:rPr>
              <a:t>soap:Body</a:t>
            </a:r>
            <a:r>
              <a:rPr lang="en-US" sz="1400" dirty="0" smtClean="0">
                <a:solidFill>
                  <a:srgbClr val="C00000"/>
                </a:solidFill>
                <a:latin typeface="Consolas" pitchFamily="49" charset="0"/>
                <a:cs typeface="Consolas" pitchFamily="49" charset="0"/>
              </a:rPr>
              <a:t>&gt;</a:t>
            </a:r>
          </a:p>
          <a:p>
            <a:r>
              <a:rPr lang="en-US" sz="1400" dirty="0" smtClean="0">
                <a:solidFill>
                  <a:srgbClr val="C00000"/>
                </a:solidFill>
                <a:latin typeface="Consolas" pitchFamily="49" charset="0"/>
                <a:cs typeface="Consolas" pitchFamily="49" charset="0"/>
              </a:rPr>
              <a:t>&lt;/</a:t>
            </a:r>
            <a:r>
              <a:rPr lang="en-US" sz="1400" dirty="0" err="1" smtClean="0">
                <a:solidFill>
                  <a:srgbClr val="C00000"/>
                </a:solidFill>
                <a:latin typeface="Consolas" pitchFamily="49" charset="0"/>
                <a:cs typeface="Consolas" pitchFamily="49" charset="0"/>
              </a:rPr>
              <a:t>soap:Envelope</a:t>
            </a:r>
            <a:r>
              <a:rPr lang="en-US" sz="1400" dirty="0" smtClean="0">
                <a:solidFill>
                  <a:srgbClr val="C00000"/>
                </a:solidFill>
                <a:latin typeface="Consolas" pitchFamily="49" charset="0"/>
                <a:cs typeface="Consolas" pitchFamily="49" charset="0"/>
              </a:rPr>
              <a:t>&gt;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WS-Coordination</a:t>
            </a:r>
            <a:r>
              <a:rPr lang="en-US" sz="2200" dirty="0" smtClean="0"/>
              <a:t> is a general mechanism for initiating and agreeing on the outcome of multiparty, multi-message Web service tasks.</a:t>
            </a:r>
          </a:p>
          <a:p>
            <a:r>
              <a:rPr lang="en-US" sz="2200" i="1" dirty="0" smtClean="0">
                <a:solidFill>
                  <a:srgbClr val="C00000"/>
                </a:solidFill>
              </a:rPr>
              <a:t>WS-</a:t>
            </a:r>
            <a:r>
              <a:rPr lang="en-US" sz="2200" i="1" dirty="0" err="1" smtClean="0">
                <a:solidFill>
                  <a:srgbClr val="C00000"/>
                </a:solidFill>
              </a:rPr>
              <a:t>AtomicTransaction</a:t>
            </a:r>
            <a:r>
              <a:rPr lang="en-US" sz="2200" dirty="0" smtClean="0"/>
              <a:t> defines a specific set of protocols that plug into WS-Coordination to implement the traditional two-phase atomic ACID transaction protocols.</a:t>
            </a:r>
          </a:p>
          <a:p>
            <a:pPr lvl="1"/>
            <a:r>
              <a:rPr lang="en-US" sz="1800" dirty="0" smtClean="0"/>
              <a:t>Application operations on Web services occur </a:t>
            </a:r>
            <a:r>
              <a:rPr lang="en-US" sz="1800" i="1" dirty="0" smtClean="0">
                <a:solidFill>
                  <a:srgbClr val="C00000"/>
                </a:solidFill>
              </a:rPr>
              <a:t>completely or not at all</a:t>
            </a:r>
            <a:r>
              <a:rPr lang="en-US" sz="1800" dirty="0" smtClean="0"/>
              <a:t>, and results are not available until the transaction is complete.</a:t>
            </a:r>
          </a:p>
          <a:p>
            <a:r>
              <a:rPr lang="en-US" sz="2200" i="1" dirty="0" smtClean="0">
                <a:solidFill>
                  <a:srgbClr val="C00000"/>
                </a:solidFill>
              </a:rPr>
              <a:t>WS-</a:t>
            </a:r>
            <a:r>
              <a:rPr lang="en-US" sz="2200" i="1" dirty="0" err="1" smtClean="0">
                <a:solidFill>
                  <a:srgbClr val="C00000"/>
                </a:solidFill>
              </a:rPr>
              <a:t>BusinessActivity</a:t>
            </a:r>
            <a:r>
              <a:rPr lang="en-US" sz="2200" dirty="0" smtClean="0"/>
              <a:t> defines a specific set of protocols that plug into the WS-Coordination model to provide such long-running, compensation-based transaction protocols.</a:t>
            </a:r>
          </a:p>
          <a:p>
            <a:pPr lvl="1"/>
            <a:r>
              <a:rPr lang="en-US" sz="1800" dirty="0" smtClean="0"/>
              <a:t>Application operations on Web services exhibit a </a:t>
            </a:r>
            <a:r>
              <a:rPr lang="en-US" sz="1800" i="1" dirty="0" smtClean="0">
                <a:solidFill>
                  <a:srgbClr val="C00000"/>
                </a:solidFill>
              </a:rPr>
              <a:t>loose unit of work</a:t>
            </a:r>
            <a:r>
              <a:rPr lang="en-US" sz="1800" dirty="0" smtClean="0"/>
              <a:t>, in which results are shared prior to completion of the overall activity. Each participant undoes the operations it has performed within the conversation.</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Classic Transaction</a:t>
            </a:r>
            <a:endParaRPr lang="en-US" dirty="0"/>
          </a:p>
        </p:txBody>
      </p:sp>
      <p:sp>
        <p:nvSpPr>
          <p:cNvPr id="1028" name="AutoShape 4" descr="mk:@MSITStore:D:\My%20Study\PhD\Seminar%201\Books\Sanjiva%20Weerawarana%20et%20al..%20Web%20Services%20Platform%20Architecture%20--%20SOAP,%20WSDL,%20WS-Policy,%20WS-Addressing,%20WS-BPEL,%20WS-Reliable%20Messaging,%20and%20More.%20Prentice%20Hall%20PTR.%202005.chm::/0131488740/images/0131488740/graphics/11fig03_alt.gif;400479"/>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p:cNvPicPr>
            <a:picLocks noChangeAspect="1" noChangeArrowheads="1"/>
          </p:cNvPicPr>
          <p:nvPr/>
        </p:nvPicPr>
        <p:blipFill>
          <a:blip r:embed="rId2" cstate="print"/>
          <a:srcRect/>
          <a:stretch>
            <a:fillRect/>
          </a:stretch>
        </p:blipFill>
        <p:spPr bwMode="auto">
          <a:xfrm>
            <a:off x="152400" y="4114800"/>
            <a:ext cx="4333875" cy="2295525"/>
          </a:xfrm>
          <a:prstGeom prst="rect">
            <a:avLst/>
          </a:prstGeom>
          <a:noFill/>
          <a:ln w="9525">
            <a:noFill/>
            <a:miter lim="800000"/>
            <a:headEnd/>
            <a:tailEnd/>
          </a:ln>
        </p:spPr>
      </p:pic>
      <p:pic>
        <p:nvPicPr>
          <p:cNvPr id="1031" name="Picture 7"/>
          <p:cNvPicPr>
            <a:picLocks noChangeAspect="1" noChangeArrowheads="1"/>
          </p:cNvPicPr>
          <p:nvPr/>
        </p:nvPicPr>
        <p:blipFill>
          <a:blip r:embed="rId3" cstate="print"/>
          <a:srcRect/>
          <a:stretch>
            <a:fillRect/>
          </a:stretch>
        </p:blipFill>
        <p:spPr bwMode="auto">
          <a:xfrm>
            <a:off x="2743200" y="1543050"/>
            <a:ext cx="3352800" cy="2419350"/>
          </a:xfrm>
          <a:prstGeom prst="rect">
            <a:avLst/>
          </a:prstGeom>
          <a:noFill/>
          <a:ln w="9525">
            <a:noFill/>
            <a:miter lim="800000"/>
            <a:headEnd/>
            <a:tailEnd/>
          </a:ln>
        </p:spPr>
      </p:pic>
      <p:pic>
        <p:nvPicPr>
          <p:cNvPr id="1032" name="Picture 8"/>
          <p:cNvPicPr>
            <a:picLocks noChangeAspect="1" noChangeArrowheads="1"/>
          </p:cNvPicPr>
          <p:nvPr/>
        </p:nvPicPr>
        <p:blipFill>
          <a:blip r:embed="rId4" cstate="print"/>
          <a:srcRect/>
          <a:stretch>
            <a:fillRect/>
          </a:stretch>
        </p:blipFill>
        <p:spPr bwMode="auto">
          <a:xfrm>
            <a:off x="4648200" y="4114800"/>
            <a:ext cx="4333875" cy="2286000"/>
          </a:xfrm>
          <a:prstGeom prst="rect">
            <a:avLst/>
          </a:prstGeom>
          <a:noFill/>
          <a:ln w="9525">
            <a:noFill/>
            <a:miter lim="800000"/>
            <a:headEnd/>
            <a:tailEnd/>
          </a:ln>
        </p:spPr>
      </p:pic>
      <p:sp>
        <p:nvSpPr>
          <p:cNvPr id="11" name="Rectangle 10"/>
          <p:cNvSpPr/>
          <p:nvPr/>
        </p:nvSpPr>
        <p:spPr>
          <a:xfrm>
            <a:off x="6172200" y="1524000"/>
            <a:ext cx="2743200" cy="2554545"/>
          </a:xfrm>
          <a:prstGeom prst="rect">
            <a:avLst/>
          </a:prstGeom>
        </p:spPr>
        <p:txBody>
          <a:bodyPr wrap="square">
            <a:spAutoFit/>
          </a:bodyPr>
          <a:lstStyle/>
          <a:p>
            <a:r>
              <a:rPr lang="en-US" sz="2000" dirty="0" smtClean="0">
                <a:latin typeface="+mj-lt"/>
              </a:rPr>
              <a:t>After returning the Phase 1 response, each participant who returns a Prepared response must remain </a:t>
            </a:r>
            <a:r>
              <a:rPr lang="en-US" sz="2000" i="1" dirty="0" smtClean="0">
                <a:solidFill>
                  <a:srgbClr val="C00000"/>
                </a:solidFill>
                <a:latin typeface="+mj-lt"/>
              </a:rPr>
              <a:t>blocked</a:t>
            </a:r>
            <a:r>
              <a:rPr lang="en-US" sz="2000" dirty="0" smtClean="0">
                <a:latin typeface="+mj-lt"/>
              </a:rPr>
              <a:t> until it has received the coordinator's Phase 2 message.</a:t>
            </a:r>
            <a:endParaRPr lang="en-US" sz="2000" dirty="0">
              <a:latin typeface="+mj-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WS-Coordination</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476375" y="1866900"/>
            <a:ext cx="6191250" cy="40005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WS-Coordination Elements</a:t>
            </a:r>
            <a:endParaRPr lang="en-US" dirty="0"/>
          </a:p>
        </p:txBody>
      </p:sp>
      <p:sp>
        <p:nvSpPr>
          <p:cNvPr id="3" name="Content Placeholder 2"/>
          <p:cNvSpPr>
            <a:spLocks noGrp="1"/>
          </p:cNvSpPr>
          <p:nvPr>
            <p:ph idx="1"/>
          </p:nvPr>
        </p:nvSpPr>
        <p:spPr/>
        <p:txBody>
          <a:bodyPr/>
          <a:lstStyle/>
          <a:p>
            <a:r>
              <a:rPr lang="en-US" sz="1800" i="1" dirty="0" smtClean="0">
                <a:solidFill>
                  <a:srgbClr val="C00000"/>
                </a:solidFill>
              </a:rPr>
              <a:t>Activation</a:t>
            </a:r>
            <a:r>
              <a:rPr lang="en-US" sz="1800" dirty="0" smtClean="0"/>
              <a:t> The WS-Coordination activation service creates a new activity and returns a context containing an identifier that uniquely distinguishes a particular work scope. Furthermore, activation defines the coordinator who is responsible for managing the coordination protocol processing and specifies the coordination protocols that are supported (WS-Coordination, </a:t>
            </a:r>
            <a:r>
              <a:rPr lang="en-US" sz="1800" dirty="0" err="1" smtClean="0"/>
              <a:t>CreateCoordinationContext</a:t>
            </a:r>
            <a:r>
              <a:rPr lang="en-US" sz="1800" dirty="0" smtClean="0"/>
              <a:t>).</a:t>
            </a:r>
          </a:p>
          <a:p>
            <a:r>
              <a:rPr lang="en-US" sz="1800" i="1" dirty="0" smtClean="0">
                <a:solidFill>
                  <a:srgbClr val="C00000"/>
                </a:solidFill>
              </a:rPr>
              <a:t>Context</a:t>
            </a:r>
            <a:r>
              <a:rPr lang="en-US" sz="1800" dirty="0" smtClean="0"/>
              <a:t> The context that is returned at activation is passed along with the Web services operations and used to identify the operation as contained within the activity scope.</a:t>
            </a:r>
          </a:p>
          <a:p>
            <a:r>
              <a:rPr lang="en-US" sz="1800" i="1" dirty="0" smtClean="0">
                <a:solidFill>
                  <a:srgbClr val="C00000"/>
                </a:solidFill>
              </a:rPr>
              <a:t>Registration</a:t>
            </a:r>
            <a:r>
              <a:rPr lang="en-US" sz="1800" dirty="0" smtClean="0"/>
              <a:t> The Web service that is receiving an operation with context might register for inclusion in the outcome processing that is associated with the activity completion. Further, the registration selects from the coordination protocols that are supported (WS-Coordination, Register).</a:t>
            </a:r>
          </a:p>
          <a:p>
            <a:r>
              <a:rPr lang="en-US" sz="1800" i="1" dirty="0" smtClean="0">
                <a:solidFill>
                  <a:srgbClr val="C00000"/>
                </a:solidFill>
              </a:rPr>
              <a:t>Coordination Protocol</a:t>
            </a:r>
            <a:r>
              <a:rPr lang="en-US" sz="1800" dirty="0" smtClean="0"/>
              <a:t> A protocol service (such as WS-</a:t>
            </a:r>
            <a:r>
              <a:rPr lang="en-US" sz="1800" dirty="0" err="1" smtClean="0"/>
              <a:t>AtomicTransaction</a:t>
            </a:r>
            <a:r>
              <a:rPr lang="en-US" sz="1800" dirty="0" smtClean="0"/>
              <a:t> or WS-Business Activity) provides the logic to drive a specific completion-processing pattern.</a:t>
            </a:r>
          </a:p>
          <a:p>
            <a:r>
              <a:rPr lang="en-US" sz="1800" dirty="0" smtClean="0"/>
              <a:t>The operations and messages for the services are defined using WSDL.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Service Transaction Flow</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000125" y="1333500"/>
            <a:ext cx="7143750" cy="51435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WS-Atomic Transaction: Completion Protocol</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305050" y="1790700"/>
            <a:ext cx="4533900" cy="22479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76200" y="4267200"/>
            <a:ext cx="4467225" cy="2209800"/>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4733925" y="4267200"/>
            <a:ext cx="4333875" cy="21336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WS-Atomic Transaction: Durable Two-Phase Commit Protocol</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114300" y="2400300"/>
            <a:ext cx="4610100" cy="3086100"/>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4733925" y="2362200"/>
            <a:ext cx="4333875" cy="31432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WS-Atomic Transaction: Volatile Two-Phase Commit Protocol</a:t>
            </a: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1995488" y="1781175"/>
            <a:ext cx="5153025" cy="461962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18191</TotalTime>
  <Words>2672</Words>
  <Application>Microsoft Office PowerPoint</Application>
  <PresentationFormat>On-screen Show (4:3)</PresentationFormat>
  <Paragraphs>222</Paragraphs>
  <Slides>40</Slides>
  <Notes>1</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SOAP APIs</vt:lpstr>
      <vt:lpstr>Objectives</vt:lpstr>
      <vt:lpstr>Contents</vt:lpstr>
      <vt:lpstr>References</vt:lpstr>
      <vt:lpstr>SOAP Web Services Overview [1]</vt:lpstr>
      <vt:lpstr>Simple Object Access Protocol (SOAP) [2]</vt:lpstr>
      <vt:lpstr>Messaging Using SOAP</vt:lpstr>
      <vt:lpstr>Tool for Calling Web Services</vt:lpstr>
      <vt:lpstr>Web Services Description Language</vt:lpstr>
      <vt:lpstr>Web Application Description Language</vt:lpstr>
      <vt:lpstr>Web Service [3]</vt:lpstr>
      <vt:lpstr>What is UDDI? [4]</vt:lpstr>
      <vt:lpstr>UDDI Analogy</vt:lpstr>
      <vt:lpstr>Why UDDI? [5]</vt:lpstr>
      <vt:lpstr>SOAP/WSDL Web Services [6]</vt:lpstr>
      <vt:lpstr>Tools for Creating SOAP APIs</vt:lpstr>
      <vt:lpstr>Slide 17</vt:lpstr>
      <vt:lpstr>Service Bus in SOA [7]</vt:lpstr>
      <vt:lpstr>Service Bus Architecture</vt:lpstr>
      <vt:lpstr>SOAP Web Services Architecture</vt:lpstr>
      <vt:lpstr>WS-Addressing</vt:lpstr>
      <vt:lpstr>Endpoint References</vt:lpstr>
      <vt:lpstr>WS-Addressing in SOAP messages</vt:lpstr>
      <vt:lpstr>WS-Policy Framework</vt:lpstr>
      <vt:lpstr>Attaching Policies to Web Services</vt:lpstr>
      <vt:lpstr>WS-Policy vs. WSDL</vt:lpstr>
      <vt:lpstr>WS-Security</vt:lpstr>
      <vt:lpstr>WS-Trust</vt:lpstr>
      <vt:lpstr>WS-Security Model</vt:lpstr>
      <vt:lpstr>WS-Security Processing Model</vt:lpstr>
      <vt:lpstr>WS-ReliableMessaging</vt:lpstr>
      <vt:lpstr>Transactions</vt:lpstr>
      <vt:lpstr>Classic Transaction</vt:lpstr>
      <vt:lpstr>WS-Coordination</vt:lpstr>
      <vt:lpstr>WS-Coordination Elements</vt:lpstr>
      <vt:lpstr>Web Service Transaction Flow</vt:lpstr>
      <vt:lpstr>WS-Atomic Transaction: Completion Protocol</vt:lpstr>
      <vt:lpstr>WS-Atomic Transaction: Durable Two-Phase Commit Protocol</vt:lpstr>
      <vt:lpstr>WS-Atomic Transaction: Volatile Two-Phase Commit Protocol</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4895</cp:revision>
  <dcterms:created xsi:type="dcterms:W3CDTF">2007-10-06T08:25:13Z</dcterms:created>
  <dcterms:modified xsi:type="dcterms:W3CDTF">2024-04-03T17:54:40Z</dcterms:modified>
</cp:coreProperties>
</file>