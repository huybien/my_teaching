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5"/>
  </p:notesMasterIdLst>
  <p:handoutMasterIdLst>
    <p:handoutMasterId r:id="rId106"/>
  </p:handoutMasterIdLst>
  <p:sldIdLst>
    <p:sldId id="256" r:id="rId2"/>
    <p:sldId id="431" r:id="rId3"/>
    <p:sldId id="603" r:id="rId4"/>
    <p:sldId id="423" r:id="rId5"/>
    <p:sldId id="772" r:id="rId6"/>
    <p:sldId id="782" r:id="rId7"/>
    <p:sldId id="796" r:id="rId8"/>
    <p:sldId id="783" r:id="rId9"/>
    <p:sldId id="785" r:id="rId10"/>
    <p:sldId id="787" r:id="rId11"/>
    <p:sldId id="788" r:id="rId12"/>
    <p:sldId id="795" r:id="rId13"/>
    <p:sldId id="780" r:id="rId14"/>
    <p:sldId id="791" r:id="rId15"/>
    <p:sldId id="781" r:id="rId16"/>
    <p:sldId id="778" r:id="rId17"/>
    <p:sldId id="771" r:id="rId18"/>
    <p:sldId id="763" r:id="rId19"/>
    <p:sldId id="764" r:id="rId20"/>
    <p:sldId id="766" r:id="rId21"/>
    <p:sldId id="799" r:id="rId22"/>
    <p:sldId id="797" r:id="rId23"/>
    <p:sldId id="798" r:id="rId24"/>
    <p:sldId id="800" r:id="rId25"/>
    <p:sldId id="801" r:id="rId26"/>
    <p:sldId id="802" r:id="rId27"/>
    <p:sldId id="803" r:id="rId28"/>
    <p:sldId id="804" r:id="rId29"/>
    <p:sldId id="808" r:id="rId30"/>
    <p:sldId id="765" r:id="rId31"/>
    <p:sldId id="686" r:id="rId32"/>
    <p:sldId id="691" r:id="rId33"/>
    <p:sldId id="692" r:id="rId34"/>
    <p:sldId id="693" r:id="rId35"/>
    <p:sldId id="794" r:id="rId36"/>
    <p:sldId id="792" r:id="rId37"/>
    <p:sldId id="793" r:id="rId38"/>
    <p:sldId id="790" r:id="rId39"/>
    <p:sldId id="805" r:id="rId40"/>
    <p:sldId id="806" r:id="rId41"/>
    <p:sldId id="807" r:id="rId42"/>
    <p:sldId id="789" r:id="rId43"/>
    <p:sldId id="733" r:id="rId44"/>
    <p:sldId id="705" r:id="rId45"/>
    <p:sldId id="680" r:id="rId46"/>
    <p:sldId id="707" r:id="rId47"/>
    <p:sldId id="681" r:id="rId48"/>
    <p:sldId id="709" r:id="rId49"/>
    <p:sldId id="710" r:id="rId50"/>
    <p:sldId id="682" r:id="rId51"/>
    <p:sldId id="809" r:id="rId52"/>
    <p:sldId id="708" r:id="rId53"/>
    <p:sldId id="711" r:id="rId54"/>
    <p:sldId id="712" r:id="rId55"/>
    <p:sldId id="713" r:id="rId56"/>
    <p:sldId id="684" r:id="rId57"/>
    <p:sldId id="810" r:id="rId58"/>
    <p:sldId id="716" r:id="rId59"/>
    <p:sldId id="811" r:id="rId60"/>
    <p:sldId id="717" r:id="rId61"/>
    <p:sldId id="719" r:id="rId62"/>
    <p:sldId id="720" r:id="rId63"/>
    <p:sldId id="722" r:id="rId64"/>
    <p:sldId id="725" r:id="rId65"/>
    <p:sldId id="726" r:id="rId66"/>
    <p:sldId id="812" r:id="rId67"/>
    <p:sldId id="727" r:id="rId68"/>
    <p:sldId id="728" r:id="rId69"/>
    <p:sldId id="729" r:id="rId70"/>
    <p:sldId id="730" r:id="rId71"/>
    <p:sldId id="731" r:id="rId72"/>
    <p:sldId id="732" r:id="rId73"/>
    <p:sldId id="813" r:id="rId74"/>
    <p:sldId id="820" r:id="rId75"/>
    <p:sldId id="815" r:id="rId76"/>
    <p:sldId id="816" r:id="rId77"/>
    <p:sldId id="817" r:id="rId78"/>
    <p:sldId id="819" r:id="rId79"/>
    <p:sldId id="821" r:id="rId80"/>
    <p:sldId id="822" r:id="rId81"/>
    <p:sldId id="823" r:id="rId82"/>
    <p:sldId id="824" r:id="rId83"/>
    <p:sldId id="825" r:id="rId84"/>
    <p:sldId id="826" r:id="rId85"/>
    <p:sldId id="735" r:id="rId86"/>
    <p:sldId id="737" r:id="rId87"/>
    <p:sldId id="738" r:id="rId88"/>
    <p:sldId id="741" r:id="rId89"/>
    <p:sldId id="742" r:id="rId90"/>
    <p:sldId id="743" r:id="rId91"/>
    <p:sldId id="744" r:id="rId92"/>
    <p:sldId id="745" r:id="rId93"/>
    <p:sldId id="746" r:id="rId94"/>
    <p:sldId id="747" r:id="rId95"/>
    <p:sldId id="748" r:id="rId96"/>
    <p:sldId id="749" r:id="rId97"/>
    <p:sldId id="750" r:id="rId98"/>
    <p:sldId id="751" r:id="rId99"/>
    <p:sldId id="752" r:id="rId100"/>
    <p:sldId id="753" r:id="rId101"/>
    <p:sldId id="757" r:id="rId102"/>
    <p:sldId id="754" r:id="rId103"/>
    <p:sldId id="343" r:id="rId10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08" autoAdjust="0"/>
    <p:restoredTop sz="94667" autoAdjust="0"/>
  </p:normalViewPr>
  <p:slideViewPr>
    <p:cSldViewPr>
      <p:cViewPr>
        <p:scale>
          <a:sx n="50" d="100"/>
          <a:sy n="50" d="100"/>
        </p:scale>
        <p:origin x="-148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5C7060-FA44-42F0-8808-1D08F5DA2F41}" type="datetimeFigureOut">
              <a:rPr lang="en-US" smtClean="0"/>
              <a:pPr/>
              <a:t>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E0EE6-BA34-4C45-82C4-9F1F3A459FA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45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46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68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69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70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71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72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87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94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95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96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97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100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4AB3018-FF02-4441-8D87-E9B566FD53EF}" type="datetime1">
              <a:rPr lang="en-US" smtClean="0"/>
              <a:pPr>
                <a:defRPr/>
              </a:pPr>
              <a:t>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12F6CB5-B151-4F47-887A-7ABC8BA9B683}" type="datetime1">
              <a:rPr lang="en-US" smtClean="0"/>
              <a:pPr>
                <a:defRPr/>
              </a:pPr>
              <a:t>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D6833D9-8C88-4559-AEEC-FA15E51A85A2}" type="datetime1">
              <a:rPr lang="en-US" smtClean="0"/>
              <a:pPr>
                <a:defRPr/>
              </a:pPr>
              <a:t>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2DE0F57-CE62-46C5-A669-7AD0AACE55B3}" type="datetime1">
              <a:rPr lang="en-US" smtClean="0"/>
              <a:pPr>
                <a:defRPr/>
              </a:pPr>
              <a:t>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EA93293-CF09-4AAD-A4BD-0074CCA109E2}" type="datetime1">
              <a:rPr lang="en-US" smtClean="0"/>
              <a:pPr>
                <a:defRPr/>
              </a:pPr>
              <a:t>1/8/2026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136846F-C523-4D16-86A8-82DD20AD8787}" type="datetime1">
              <a:rPr lang="en-US" smtClean="0"/>
              <a:pPr>
                <a:defRPr/>
              </a:pPr>
              <a:t>1/8/2026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7FB14D5-E86C-4379-A86F-A3B92BC58CD0}" type="datetime1">
              <a:rPr lang="en-US" smtClean="0"/>
              <a:pPr>
                <a:defRPr/>
              </a:pPr>
              <a:t>1/8/2026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68E9931-0EC3-43E4-9D97-7A7BFDA94F82}" type="datetime1">
              <a:rPr lang="en-US" smtClean="0"/>
              <a:pPr>
                <a:defRPr/>
              </a:pPr>
              <a:t>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8256DE0-3B49-44FD-B226-B60DFFBF9F16}" type="datetime1">
              <a:rPr lang="en-US" smtClean="0"/>
              <a:pPr>
                <a:defRPr/>
              </a:pPr>
              <a:t>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3CD892B-F098-4A6E-A674-A78BC00813D7}" type="datetime1">
              <a:rPr lang="en-US" smtClean="0"/>
              <a:pPr>
                <a:defRPr/>
              </a:pPr>
              <a:t>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175C0DE-736A-42CE-A274-75999CBF0414}" type="datetime1">
              <a:rPr lang="en-US" smtClean="0"/>
              <a:pPr>
                <a:defRPr/>
              </a:pPr>
              <a:t>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A9AE29E-8B2F-4393-91E6-B1BB4BFB24C5}" type="datetime1">
              <a:rPr lang="en-US" smtClean="0"/>
              <a:pPr>
                <a:defRPr/>
              </a:pPr>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learn.microsoft.com/en-us/dotnet/standard/serializa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protobuf.dev/overview/"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protobuf.dev/programming-guides/proto3/"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protobuf.dev/programming-guides/encodin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protocolbuffers/protobuf/release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protobuf.dev/programming-guides/proto3/"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grpc/grpc-node/tree/master/exampl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rfc-editor.org/rfc/rfc9113.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java.com/en/download/" TargetMode="External"/><Relationship Id="rId2" Type="http://schemas.openxmlformats.org/officeDocument/2006/relationships/hyperlink" Target="https://go.dev/dl/" TargetMode="External"/><Relationship Id="rId1" Type="http://schemas.openxmlformats.org/officeDocument/2006/relationships/slideLayout" Target="../slideLayouts/slideLayout2.xml"/><Relationship Id="rId5" Type="http://schemas.openxmlformats.org/officeDocument/2006/relationships/hyperlink" Target="https://github.com/protocolbuffers/protobuf/releases/" TargetMode="External"/><Relationship Id="rId4" Type="http://schemas.openxmlformats.org/officeDocument/2006/relationships/hyperlink" Target="https://gradle.org/instal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grpc.io/docs/languages/go/quickstart/"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grpc.io/docs/languages/go/quickstart/"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grpc.io/docs/languages/go/quickstart/"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err="1" smtClean="0"/>
              <a:t>gRPC</a:t>
            </a:r>
            <a:r>
              <a:rPr lang="en-US" sz="6000" dirty="0" smtClean="0"/>
              <a:t> APIs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marL="457200" indent="-457200">
              <a:buFont typeface="Wingdings" pitchFamily="2" charset="2"/>
              <a:buChar char="Ø"/>
            </a:pPr>
            <a:r>
              <a:rPr lang="en-US" sz="2400" dirty="0" smtClean="0"/>
              <a:t>To </a:t>
            </a:r>
            <a:r>
              <a:rPr lang="en-US" sz="2400" i="1" dirty="0" smtClean="0">
                <a:solidFill>
                  <a:srgbClr val="C00000"/>
                </a:solidFill>
              </a:rPr>
              <a:t>create</a:t>
            </a:r>
            <a:r>
              <a:rPr lang="en-US" sz="2400" dirty="0" smtClean="0"/>
              <a:t> a </a:t>
            </a:r>
            <a:r>
              <a:rPr lang="en-US" sz="2400" dirty="0" err="1" smtClean="0"/>
              <a:t>gRPC</a:t>
            </a:r>
            <a:r>
              <a:rPr lang="en-US" sz="2400" dirty="0" smtClean="0"/>
              <a:t> API.</a:t>
            </a:r>
          </a:p>
          <a:p>
            <a:pPr marL="457200" indent="-457200">
              <a:buFont typeface="Wingdings" pitchFamily="2" charset="2"/>
              <a:buChar char="Ø"/>
            </a:pPr>
            <a:r>
              <a:rPr lang="en-US" sz="2400" dirty="0" smtClean="0"/>
              <a:t>To </a:t>
            </a:r>
            <a:r>
              <a:rPr lang="en-US" sz="2400" i="1" dirty="0" smtClean="0">
                <a:solidFill>
                  <a:srgbClr val="C00000"/>
                </a:solidFill>
              </a:rPr>
              <a:t>consume</a:t>
            </a:r>
            <a:r>
              <a:rPr lang="en-US" sz="2400" dirty="0" smtClean="0"/>
              <a:t> a </a:t>
            </a:r>
            <a:r>
              <a:rPr lang="en-US" sz="2400" dirty="0" err="1" smtClean="0"/>
              <a:t>gRPC</a:t>
            </a:r>
            <a:r>
              <a:rPr lang="en-US" sz="2400" dirty="0" smtClean="0"/>
              <a:t> API.</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Binary Encoding vs. Text Encoding.</a:t>
            </a:r>
          </a:p>
          <a:p>
            <a:pPr marL="571500" indent="-571500">
              <a:buFont typeface="+mj-lt"/>
              <a:buAutoNum type="romanUcPeriod"/>
            </a:pPr>
            <a:r>
              <a:rPr lang="en-US" sz="2400" dirty="0" smtClean="0"/>
              <a:t>Serialization and </a:t>
            </a:r>
            <a:r>
              <a:rPr lang="en-US" sz="2400" dirty="0" err="1" smtClean="0"/>
              <a:t>Deserialization</a:t>
            </a:r>
            <a:r>
              <a:rPr lang="en-US" sz="2400" dirty="0" smtClean="0"/>
              <a:t>.</a:t>
            </a:r>
          </a:p>
          <a:p>
            <a:pPr marL="571500" indent="-571500">
              <a:buFont typeface="+mj-lt"/>
              <a:buAutoNum type="romanUcPeriod"/>
            </a:pPr>
            <a:r>
              <a:rPr lang="pt-BR" sz="2400" dirty="0" smtClean="0"/>
              <a:t>Text Protocol vs. Binary Protocol.</a:t>
            </a:r>
            <a:endParaRPr lang="en-US" sz="2400" dirty="0" smtClean="0"/>
          </a:p>
          <a:p>
            <a:pPr marL="571500" indent="-571500">
              <a:buFont typeface="+mj-lt"/>
              <a:buAutoNum type="romanUcPeriod"/>
            </a:pPr>
            <a:r>
              <a:rPr lang="en-US" sz="2400" dirty="0" smtClean="0"/>
              <a:t>Protocol Buffers.</a:t>
            </a:r>
          </a:p>
          <a:p>
            <a:pPr marL="571500" indent="-571500">
              <a:buFont typeface="+mj-lt"/>
              <a:buAutoNum type="romanUcPeriod"/>
            </a:pPr>
            <a:r>
              <a:rPr lang="en-US" sz="2400" dirty="0" smtClean="0"/>
              <a:t>SOAP APIs vs. </a:t>
            </a:r>
            <a:r>
              <a:rPr lang="en-US" sz="2400" dirty="0" err="1" smtClean="0"/>
              <a:t>gRPC</a:t>
            </a:r>
            <a:r>
              <a:rPr lang="en-US" sz="2400" dirty="0" smtClean="0"/>
              <a:t> APIs.</a:t>
            </a:r>
          </a:p>
          <a:p>
            <a:pPr marL="571500" indent="-571500">
              <a:buFont typeface="+mj-lt"/>
              <a:buAutoNum type="romanUcPeriod"/>
            </a:pPr>
            <a:r>
              <a:rPr lang="en-US" sz="2400" dirty="0" err="1" smtClean="0"/>
              <a:t>RESTful</a:t>
            </a:r>
            <a:r>
              <a:rPr lang="en-US" sz="2400" dirty="0" smtClean="0"/>
              <a:t> APIs vs. </a:t>
            </a:r>
            <a:r>
              <a:rPr lang="en-US" sz="2400" dirty="0" err="1" smtClean="0"/>
              <a:t>gRPC</a:t>
            </a:r>
            <a:r>
              <a:rPr lang="en-US" sz="2400" dirty="0" smtClean="0"/>
              <a:t> APIs.</a:t>
            </a:r>
          </a:p>
          <a:p>
            <a:pPr marL="571500" indent="-571500">
              <a:buFont typeface="+mj-lt"/>
              <a:buAutoNum type="romanUcPeriod"/>
            </a:pPr>
            <a:r>
              <a:rPr lang="en-US" sz="2400" dirty="0" smtClean="0"/>
              <a:t>Node.js Demo.</a:t>
            </a:r>
          </a:p>
          <a:p>
            <a:pPr marL="571500" indent="-571500">
              <a:buFont typeface="+mj-lt"/>
              <a:buAutoNum type="romanUcPeriod"/>
            </a:pPr>
            <a:r>
              <a:rPr lang="en-US" sz="2400" dirty="0" smtClean="0"/>
              <a:t>Go Demo.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000" dirty="0" smtClean="0">
                <a:cs typeface="Calibri" pitchFamily="34" charset="0"/>
              </a:rPr>
              <a:t>Jan </a:t>
            </a:r>
            <a:r>
              <a:rPr lang="en-US" sz="2000" dirty="0" err="1" smtClean="0">
                <a:cs typeface="Calibri" pitchFamily="34" charset="0"/>
              </a:rPr>
              <a:t>Vanura</a:t>
            </a:r>
            <a:r>
              <a:rPr lang="en-US" sz="2000" dirty="0" smtClean="0">
                <a:cs typeface="Calibri" pitchFamily="34" charset="0"/>
              </a:rPr>
              <a:t> and </a:t>
            </a:r>
            <a:r>
              <a:rPr lang="en-US" sz="2000" dirty="0" err="1" smtClean="0">
                <a:cs typeface="Calibri" pitchFamily="34" charset="0"/>
              </a:rPr>
              <a:t>Pavel</a:t>
            </a:r>
            <a:r>
              <a:rPr lang="en-US" sz="2000" dirty="0" smtClean="0">
                <a:cs typeface="Calibri" pitchFamily="34" charset="0"/>
              </a:rPr>
              <a:t> </a:t>
            </a:r>
            <a:r>
              <a:rPr lang="en-US" sz="2000" dirty="0" err="1" smtClean="0">
                <a:cs typeface="Calibri" pitchFamily="34" charset="0"/>
              </a:rPr>
              <a:t>Kriz</a:t>
            </a:r>
            <a:r>
              <a:rPr lang="en-US" sz="2000" dirty="0" smtClean="0">
                <a:cs typeface="Calibri" pitchFamily="34" charset="0"/>
              </a:rPr>
              <a:t> (2018). </a:t>
            </a:r>
            <a:r>
              <a:rPr lang="en-US" sz="2000" dirty="0" err="1" smtClean="0">
                <a:cs typeface="Calibri" pitchFamily="34" charset="0"/>
              </a:rPr>
              <a:t>Perfomance</a:t>
            </a:r>
            <a:r>
              <a:rPr lang="en-US" sz="2000" dirty="0" smtClean="0">
                <a:cs typeface="Calibri" pitchFamily="34" charset="0"/>
              </a:rPr>
              <a:t> Evaluation of Java, JavaScript and PHP Serialization Libraries for XML, JSON and Binary Formats.</a:t>
            </a:r>
          </a:p>
          <a:p>
            <a:pPr marL="457200" indent="-457200">
              <a:buFont typeface="+mj-lt"/>
              <a:buAutoNum type="arabicPeriod"/>
            </a:pPr>
            <a:r>
              <a:rPr lang="en-US" sz="2000" dirty="0" err="1" smtClean="0">
                <a:cs typeface="Calibri" pitchFamily="34" charset="0"/>
              </a:rPr>
              <a:t>Kasun</a:t>
            </a:r>
            <a:r>
              <a:rPr lang="en-US" sz="2000" dirty="0" smtClean="0">
                <a:cs typeface="Calibri" pitchFamily="34" charset="0"/>
              </a:rPr>
              <a:t> </a:t>
            </a:r>
            <a:r>
              <a:rPr lang="en-US" sz="2000" dirty="0" err="1" smtClean="0">
                <a:cs typeface="Calibri" pitchFamily="34" charset="0"/>
              </a:rPr>
              <a:t>Indrasiri</a:t>
            </a:r>
            <a:r>
              <a:rPr lang="en-US" sz="2000" dirty="0" smtClean="0">
                <a:cs typeface="Calibri" pitchFamily="34" charset="0"/>
              </a:rPr>
              <a:t> and </a:t>
            </a:r>
            <a:r>
              <a:rPr lang="en-US" sz="2000" dirty="0" err="1" smtClean="0">
                <a:cs typeface="Calibri" pitchFamily="34" charset="0"/>
              </a:rPr>
              <a:t>Danesh</a:t>
            </a:r>
            <a:r>
              <a:rPr lang="en-US" sz="2000" dirty="0" smtClean="0">
                <a:cs typeface="Calibri" pitchFamily="34" charset="0"/>
              </a:rPr>
              <a:t> </a:t>
            </a:r>
            <a:r>
              <a:rPr lang="en-US" sz="2000" dirty="0" err="1" smtClean="0">
                <a:cs typeface="Calibri" pitchFamily="34" charset="0"/>
              </a:rPr>
              <a:t>Kuruppu</a:t>
            </a:r>
            <a:r>
              <a:rPr lang="en-US" sz="2000" dirty="0" smtClean="0">
                <a:cs typeface="Calibri" pitchFamily="34" charset="0"/>
              </a:rPr>
              <a:t> (2020). </a:t>
            </a:r>
            <a:r>
              <a:rPr lang="en-US" sz="2000" dirty="0" err="1" smtClean="0">
                <a:cs typeface="Calibri" pitchFamily="34" charset="0"/>
              </a:rPr>
              <a:t>gRPC</a:t>
            </a:r>
            <a:r>
              <a:rPr lang="en-US" sz="2000" dirty="0" smtClean="0">
                <a:cs typeface="Calibri" pitchFamily="34" charset="0"/>
              </a:rPr>
              <a:t> - Up &amp; Running - Building Cloud Native Applications with Go and Java for </a:t>
            </a:r>
            <a:r>
              <a:rPr lang="en-US" sz="2000" dirty="0" err="1" smtClean="0">
                <a:cs typeface="Calibri" pitchFamily="34" charset="0"/>
              </a:rPr>
              <a:t>Docker</a:t>
            </a:r>
            <a:r>
              <a:rPr lang="en-US" sz="2000" dirty="0" smtClean="0">
                <a:cs typeface="Calibri" pitchFamily="34" charset="0"/>
              </a:rPr>
              <a:t> and </a:t>
            </a:r>
            <a:r>
              <a:rPr lang="en-US" sz="2000" dirty="0" err="1" smtClean="0">
                <a:cs typeface="Calibri" pitchFamily="34" charset="0"/>
              </a:rPr>
              <a:t>Kubernetes</a:t>
            </a:r>
            <a:r>
              <a:rPr lang="en-US" sz="2000" dirty="0" smtClean="0">
                <a:cs typeface="Calibri" pitchFamily="34" charset="0"/>
              </a:rPr>
              <a:t>. O'Reilly Media.</a:t>
            </a:r>
          </a:p>
          <a:p>
            <a:pPr marL="457200" indent="-457200">
              <a:buFont typeface="+mj-lt"/>
              <a:buAutoNum type="arabicPeriod"/>
            </a:pPr>
            <a:r>
              <a:rPr lang="en-US" sz="2000" dirty="0" smtClean="0">
                <a:cs typeface="Calibri" pitchFamily="34" charset="0"/>
              </a:rPr>
              <a:t>Barry Pollard (2019). HTTP/2 in Action. Manning Publications.</a:t>
            </a:r>
          </a:p>
          <a:p>
            <a:pPr marL="457200" indent="-457200">
              <a:buFont typeface="+mj-lt"/>
              <a:buAutoNum type="arabicPeriod"/>
            </a:pPr>
            <a:r>
              <a:rPr lang="en-US" sz="2000" dirty="0" smtClean="0">
                <a:cs typeface="Calibri" pitchFamily="34" charset="0"/>
              </a:rPr>
              <a:t>Thomas Hunter II (2021). Distributed Systems with Node.js. O'Reilly Media.</a:t>
            </a:r>
          </a:p>
          <a:p>
            <a:pPr marL="457200" indent="-457200">
              <a:buFont typeface="+mj-lt"/>
              <a:buAutoNum type="arabicPeriod"/>
            </a:pPr>
            <a:r>
              <a:rPr lang="en-US" sz="2000" dirty="0" smtClean="0">
                <a:cs typeface="Calibri" pitchFamily="34" charset="0"/>
              </a:rPr>
              <a:t>Travis Jeffery (2021). Distributed Services with Go: Your Guide to Reliable, Scalable, and Maintainable Systems. Pragmatic Bookshelf.</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Encoding vs. Text Encoding</a:t>
            </a:r>
            <a:endParaRPr lang="en-US" dirty="0"/>
          </a:p>
        </p:txBody>
      </p:sp>
      <p:sp>
        <p:nvSpPr>
          <p:cNvPr id="3" name="Content Placeholder 2"/>
          <p:cNvSpPr>
            <a:spLocks noGrp="1"/>
          </p:cNvSpPr>
          <p:nvPr>
            <p:ph idx="1"/>
          </p:nvPr>
        </p:nvSpPr>
        <p:spPr/>
        <p:txBody>
          <a:bodyPr/>
          <a:lstStyle/>
          <a:p>
            <a:r>
              <a:rPr lang="en-US" sz="2400" dirty="0" smtClean="0"/>
              <a:t>Name: "ABC"</a:t>
            </a:r>
          </a:p>
          <a:p>
            <a:r>
              <a:rPr lang="en-US" sz="2400" dirty="0" smtClean="0"/>
              <a:t>Age: 53</a:t>
            </a:r>
          </a:p>
          <a:p>
            <a:r>
              <a:rPr lang="en-US" sz="2400" dirty="0" smtClean="0"/>
              <a:t>How to store the data in hard disk?</a:t>
            </a:r>
          </a:p>
          <a:p>
            <a:r>
              <a:rPr lang="en-US" sz="2400" dirty="0" smtClean="0"/>
              <a:t>String (ASCII, UTF-8, Unicode) vs. Byte[].</a:t>
            </a:r>
          </a:p>
          <a:p>
            <a:r>
              <a:rPr lang="en-US" sz="2400" dirty="0" err="1" smtClean="0">
                <a:latin typeface="Consolas" pitchFamily="49" charset="0"/>
              </a:rPr>
              <a:t>int</a:t>
            </a:r>
            <a:r>
              <a:rPr lang="en-US" sz="2400" dirty="0" smtClean="0"/>
              <a:t> with the value 53 (4 bytes) instead of two characters '5' '3' (8 bytes).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Serialization</a:t>
            </a:r>
            <a:endParaRPr lang="en-US" dirty="0"/>
          </a:p>
        </p:txBody>
      </p:sp>
      <p:sp>
        <p:nvSpPr>
          <p:cNvPr id="3" name="Content Placeholder 2"/>
          <p:cNvSpPr>
            <a:spLocks noGrp="1"/>
          </p:cNvSpPr>
          <p:nvPr>
            <p:ph idx="1"/>
          </p:nvPr>
        </p:nvSpPr>
        <p:spPr/>
        <p:txBody>
          <a:bodyPr/>
          <a:lstStyle/>
          <a:p>
            <a:r>
              <a:rPr lang="en-US" sz="2200" dirty="0" smtClean="0"/>
              <a:t>Programming language object (in memory) </a:t>
            </a:r>
            <a:r>
              <a:rPr lang="en-US" sz="2200" dirty="0" smtClean="0">
                <a:sym typeface="Wingdings" pitchFamily="2" charset="2"/>
              </a:rPr>
              <a:t> JSON, Byte[].</a:t>
            </a:r>
          </a:p>
          <a:p>
            <a:r>
              <a:rPr lang="en-US" sz="2200" dirty="0" smtClean="0">
                <a:sym typeface="Wingdings" pitchFamily="2" charset="2"/>
                <a:hlinkClick r:id="rId2"/>
              </a:rPr>
              <a:t>https://learn.microsoft.com/en-us/dotnet/standard/serialization/</a:t>
            </a:r>
            <a:endParaRPr lang="en-US" sz="2200" dirty="0" smtClean="0">
              <a:sym typeface="Wingdings" pitchFamily="2" charset="2"/>
            </a:endParaRPr>
          </a:p>
          <a:p>
            <a:r>
              <a:rPr lang="en-US" sz="2200" dirty="0" smtClean="0">
                <a:sym typeface="Wingdings" pitchFamily="2" charset="2"/>
              </a:rPr>
              <a:t>Serialization is the process of converting the state of an object into a form that can be persisted or transported.</a:t>
            </a:r>
          </a:p>
          <a:p>
            <a:r>
              <a:rPr lang="en-US" sz="2200" dirty="0" smtClean="0">
                <a:sym typeface="Wingdings" pitchFamily="2" charset="2"/>
              </a:rPr>
              <a:t>The complement of serialization is </a:t>
            </a:r>
            <a:r>
              <a:rPr lang="en-US" sz="2200" dirty="0" err="1" smtClean="0">
                <a:sym typeface="Wingdings" pitchFamily="2" charset="2"/>
              </a:rPr>
              <a:t>deserialization</a:t>
            </a:r>
            <a:r>
              <a:rPr lang="en-US" sz="2200" dirty="0" smtClean="0">
                <a:sym typeface="Wingdings" pitchFamily="2" charset="2"/>
              </a:rPr>
              <a:t>, which converts a stream into an object.</a:t>
            </a:r>
          </a:p>
          <a:p>
            <a:r>
              <a:rPr lang="en-US" sz="2200" dirty="0" smtClean="0">
                <a:sym typeface="Wingdings" pitchFamily="2" charset="2"/>
              </a:rPr>
              <a:t>Together, these processes allow data to be stored and transferred.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TEXT File Formats</a:t>
            </a:r>
            <a:endParaRPr lang="en-US" dirty="0"/>
          </a:p>
        </p:txBody>
      </p:sp>
      <p:sp>
        <p:nvSpPr>
          <p:cNvPr id="3" name="Content Placeholder 2"/>
          <p:cNvSpPr>
            <a:spLocks noGrp="1"/>
          </p:cNvSpPr>
          <p:nvPr>
            <p:ph idx="1"/>
          </p:nvPr>
        </p:nvSpPr>
        <p:spPr/>
        <p:txBody>
          <a:bodyPr/>
          <a:lstStyle/>
          <a:p>
            <a:r>
              <a:rPr lang="en-US" dirty="0" smtClean="0"/>
              <a:t>.txt</a:t>
            </a:r>
          </a:p>
          <a:p>
            <a:r>
              <a:rPr lang="en-US" dirty="0" smtClean="0"/>
              <a:t>.xml</a:t>
            </a:r>
          </a:p>
          <a:p>
            <a:r>
              <a:rPr lang="en-US" dirty="0" smtClean="0"/>
              <a:t>.</a:t>
            </a:r>
            <a:r>
              <a:rPr lang="en-US" dirty="0" err="1" smtClean="0"/>
              <a:t>json</a:t>
            </a:r>
            <a:endParaRPr lang="en-US" dirty="0" smtClean="0"/>
          </a:p>
          <a:p>
            <a:r>
              <a:rPr lang="en-US" dirty="0" smtClean="0"/>
              <a:t>.</a:t>
            </a:r>
            <a:r>
              <a:rPr lang="en-US" dirty="0" err="1" smtClean="0"/>
              <a:t>js</a:t>
            </a:r>
            <a:endParaRPr lang="en-US" dirty="0" smtClean="0"/>
          </a:p>
        </p:txBody>
      </p:sp>
      <p:pic>
        <p:nvPicPr>
          <p:cNvPr id="1026" name="Picture 2"/>
          <p:cNvPicPr>
            <a:picLocks noChangeAspect="1" noChangeArrowheads="1"/>
          </p:cNvPicPr>
          <p:nvPr/>
        </p:nvPicPr>
        <p:blipFill>
          <a:blip r:embed="rId2" cstate="print"/>
          <a:srcRect/>
          <a:stretch>
            <a:fillRect/>
          </a:stretch>
        </p:blipFill>
        <p:spPr bwMode="auto">
          <a:xfrm>
            <a:off x="4114800" y="2209800"/>
            <a:ext cx="3105150" cy="29813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Wingdings" pitchFamily="2" charset="2"/>
              </a:rPr>
              <a:t>JSON Serialization</a:t>
            </a:r>
            <a:endParaRPr lang="en-US" dirty="0"/>
          </a:p>
        </p:txBody>
      </p:sp>
      <p:sp>
        <p:nvSpPr>
          <p:cNvPr id="3" name="Content Placeholder 2"/>
          <p:cNvSpPr>
            <a:spLocks noGrp="1"/>
          </p:cNvSpPr>
          <p:nvPr>
            <p:ph idx="1"/>
          </p:nvPr>
        </p:nvSpPr>
        <p:spPr/>
        <p:txBody>
          <a:bodyPr/>
          <a:lstStyle/>
          <a:p>
            <a:r>
              <a:rPr lang="en-US" sz="2400" dirty="0" smtClean="0">
                <a:sym typeface="Wingdings" pitchFamily="2" charset="2"/>
              </a:rPr>
              <a:t>JSON serialization serializes only public properties and does not preserve </a:t>
            </a:r>
            <a:r>
              <a:rPr lang="en-US" sz="2400" i="1" dirty="0" smtClean="0">
                <a:solidFill>
                  <a:srgbClr val="C00000"/>
                </a:solidFill>
                <a:sym typeface="Wingdings" pitchFamily="2" charset="2"/>
              </a:rPr>
              <a:t>type fidelity</a:t>
            </a:r>
            <a:r>
              <a:rPr lang="en-US" sz="2400" dirty="0" smtClean="0">
                <a:sym typeface="Wingdings" pitchFamily="2" charset="2"/>
              </a:rPr>
              <a:t>.</a:t>
            </a:r>
          </a:p>
          <a:p>
            <a:r>
              <a:rPr lang="en-US" sz="2400" dirty="0" err="1" smtClean="0">
                <a:sym typeface="Wingdings" pitchFamily="2" charset="2"/>
              </a:rPr>
              <a:t>System.Text.Json</a:t>
            </a:r>
            <a:r>
              <a:rPr lang="en-US" sz="2400" dirty="0" smtClean="0">
                <a:sym typeface="Wingdings" pitchFamily="2" charset="2"/>
              </a:rPr>
              <a:t>: Contains classes that can be used to serialize objects into JSON format documents or streams.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Wingdings" pitchFamily="2" charset="2"/>
              </a:rPr>
              <a:t>XML </a:t>
            </a:r>
            <a:r>
              <a:rPr lang="en-US" dirty="0" smtClean="0"/>
              <a:t>Serialization</a:t>
            </a:r>
            <a:endParaRPr lang="en-US" dirty="0"/>
          </a:p>
        </p:txBody>
      </p:sp>
      <p:sp>
        <p:nvSpPr>
          <p:cNvPr id="3" name="Content Placeholder 2"/>
          <p:cNvSpPr>
            <a:spLocks noGrp="1"/>
          </p:cNvSpPr>
          <p:nvPr>
            <p:ph idx="1"/>
          </p:nvPr>
        </p:nvSpPr>
        <p:spPr/>
        <p:txBody>
          <a:bodyPr/>
          <a:lstStyle/>
          <a:p>
            <a:r>
              <a:rPr lang="en-US" sz="2400" dirty="0" smtClean="0">
                <a:sym typeface="Wingdings" pitchFamily="2" charset="2"/>
              </a:rPr>
              <a:t>XML serialization serializes only public properties and fields and does not preserve </a:t>
            </a:r>
            <a:r>
              <a:rPr lang="en-US" sz="2400" i="1" dirty="0" smtClean="0">
                <a:solidFill>
                  <a:srgbClr val="C00000"/>
                </a:solidFill>
                <a:sym typeface="Wingdings" pitchFamily="2" charset="2"/>
              </a:rPr>
              <a:t>type fidelity</a:t>
            </a:r>
            <a:r>
              <a:rPr lang="en-US" sz="2400" dirty="0" smtClean="0">
                <a:sym typeface="Wingdings" pitchFamily="2" charset="2"/>
              </a:rPr>
              <a:t>.</a:t>
            </a:r>
          </a:p>
          <a:p>
            <a:r>
              <a:rPr lang="en-US" sz="2400" dirty="0" err="1" smtClean="0">
                <a:sym typeface="Wingdings" pitchFamily="2" charset="2"/>
              </a:rPr>
              <a:t>System.Xml.Serialization</a:t>
            </a:r>
            <a:r>
              <a:rPr lang="en-US" sz="2400" dirty="0" smtClean="0">
                <a:sym typeface="Wingdings" pitchFamily="2" charset="2"/>
              </a:rPr>
              <a:t>: Contains classes that can be used to serialize objects into XML format documents or streams.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Saving an Object to Text File</a:t>
            </a:r>
            <a:endParaRPr lang="en-US" dirty="0"/>
          </a:p>
        </p:txBody>
      </p:sp>
      <p:sp>
        <p:nvSpPr>
          <p:cNvPr id="3" name="Content Placeholder 2"/>
          <p:cNvSpPr>
            <a:spLocks noGrp="1"/>
          </p:cNvSpPr>
          <p:nvPr>
            <p:ph idx="1"/>
          </p:nvPr>
        </p:nvSpPr>
        <p:spPr/>
        <p:txBody>
          <a:bodyPr/>
          <a:lstStyle/>
          <a:p>
            <a:pPr>
              <a:buNone/>
            </a:pPr>
            <a:r>
              <a:rPr lang="en-US" sz="2400" dirty="0" smtClean="0"/>
              <a:t>Programming language </a:t>
            </a:r>
            <a:r>
              <a:rPr lang="en-US" sz="2400" u="sng" dirty="0" smtClean="0"/>
              <a:t>data structures</a:t>
            </a:r>
            <a:r>
              <a:rPr lang="en-US" sz="2400" dirty="0" smtClean="0"/>
              <a:t> (objects)</a:t>
            </a:r>
          </a:p>
          <a:p>
            <a:pPr>
              <a:buNone/>
            </a:pPr>
            <a:r>
              <a:rPr lang="en-US" sz="2400" dirty="0" smtClean="0"/>
              <a:t>↓</a:t>
            </a:r>
          </a:p>
          <a:p>
            <a:pPr>
              <a:buNone/>
            </a:pPr>
            <a:r>
              <a:rPr lang="en-US" sz="2400" dirty="0" smtClean="0"/>
              <a:t>Text serialization</a:t>
            </a:r>
          </a:p>
          <a:p>
            <a:pPr>
              <a:buNone/>
            </a:pPr>
            <a:r>
              <a:rPr lang="en-US" sz="2400" dirty="0" smtClean="0"/>
              <a:t>↓</a:t>
            </a:r>
          </a:p>
          <a:p>
            <a:pPr>
              <a:buNone/>
            </a:pPr>
            <a:r>
              <a:rPr lang="en-US" sz="2400" dirty="0" smtClean="0"/>
              <a:t>Text format (XML, JSON)</a:t>
            </a:r>
          </a:p>
          <a:p>
            <a:pPr>
              <a:buNone/>
            </a:pPr>
            <a:r>
              <a:rPr lang="en-US" sz="2400" dirty="0" smtClean="0"/>
              <a:t>↓</a:t>
            </a:r>
          </a:p>
          <a:p>
            <a:pPr>
              <a:buNone/>
            </a:pPr>
            <a:r>
              <a:rPr lang="en-US" sz="2400" dirty="0" smtClean="0"/>
              <a:t>Text file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Wingdings" pitchFamily="2" charset="2"/>
              </a:rPr>
              <a:t>Binary </a:t>
            </a:r>
            <a:r>
              <a:rPr lang="en-US" dirty="0" smtClean="0"/>
              <a:t>Serialization</a:t>
            </a:r>
            <a:endParaRPr lang="en-US" dirty="0"/>
          </a:p>
        </p:txBody>
      </p:sp>
      <p:sp>
        <p:nvSpPr>
          <p:cNvPr id="3" name="Content Placeholder 2"/>
          <p:cNvSpPr>
            <a:spLocks noGrp="1"/>
          </p:cNvSpPr>
          <p:nvPr>
            <p:ph idx="1"/>
          </p:nvPr>
        </p:nvSpPr>
        <p:spPr/>
        <p:txBody>
          <a:bodyPr/>
          <a:lstStyle/>
          <a:p>
            <a:r>
              <a:rPr lang="en-US" sz="2400" dirty="0" smtClean="0">
                <a:sym typeface="Wingdings" pitchFamily="2" charset="2"/>
              </a:rPr>
              <a:t>Binary serialization preserves </a:t>
            </a:r>
            <a:r>
              <a:rPr lang="en-US" sz="2400" i="1" dirty="0" smtClean="0">
                <a:solidFill>
                  <a:srgbClr val="C00000"/>
                </a:solidFill>
                <a:sym typeface="Wingdings" pitchFamily="2" charset="2"/>
              </a:rPr>
              <a:t>type fidelity</a:t>
            </a:r>
            <a:r>
              <a:rPr lang="en-US" sz="2400" dirty="0" smtClean="0">
                <a:sym typeface="Wingdings" pitchFamily="2" charset="2"/>
              </a:rPr>
              <a:t>, which means that the complete state of the object is recorded and when you </a:t>
            </a:r>
            <a:r>
              <a:rPr lang="en-US" sz="2400" dirty="0" err="1" smtClean="0">
                <a:sym typeface="Wingdings" pitchFamily="2" charset="2"/>
              </a:rPr>
              <a:t>deserialize</a:t>
            </a:r>
            <a:r>
              <a:rPr lang="en-US" sz="2400" dirty="0" smtClean="0">
                <a:sym typeface="Wingdings" pitchFamily="2" charset="2"/>
              </a:rPr>
              <a:t>, an exact copy is created.</a:t>
            </a:r>
          </a:p>
          <a:p>
            <a:r>
              <a:rPr lang="en-US" sz="2400" dirty="0" err="1" smtClean="0">
                <a:sym typeface="Wingdings" pitchFamily="2" charset="2"/>
              </a:rPr>
              <a:t>System.Runtime.Serialization</a:t>
            </a:r>
            <a:r>
              <a:rPr lang="en-US" sz="2400" dirty="0" smtClean="0">
                <a:sym typeface="Wingdings" pitchFamily="2" charset="2"/>
              </a:rPr>
              <a:t>: Contains classes that can be used for serializing and </a:t>
            </a:r>
            <a:r>
              <a:rPr lang="en-US" sz="2400" dirty="0" err="1" smtClean="0">
                <a:sym typeface="Wingdings" pitchFamily="2" charset="2"/>
              </a:rPr>
              <a:t>deserializing</a:t>
            </a:r>
            <a:r>
              <a:rPr lang="en-US" sz="2400" dirty="0" smtClean="0">
                <a:sym typeface="Wingdings" pitchFamily="2" charset="2"/>
              </a:rPr>
              <a:t> objects.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Binary File Formats</a:t>
            </a:r>
            <a:endParaRPr lang="en-US" dirty="0"/>
          </a:p>
        </p:txBody>
      </p:sp>
      <p:sp>
        <p:nvSpPr>
          <p:cNvPr id="3" name="Content Placeholder 2"/>
          <p:cNvSpPr>
            <a:spLocks noGrp="1"/>
          </p:cNvSpPr>
          <p:nvPr>
            <p:ph idx="1"/>
          </p:nvPr>
        </p:nvSpPr>
        <p:spPr/>
        <p:txBody>
          <a:bodyPr/>
          <a:lstStyle/>
          <a:p>
            <a:r>
              <a:rPr lang="en-US" dirty="0" smtClean="0"/>
              <a:t>.jpg, .</a:t>
            </a:r>
            <a:r>
              <a:rPr lang="en-US" dirty="0" err="1" smtClean="0"/>
              <a:t>png</a:t>
            </a:r>
            <a:r>
              <a:rPr lang="en-US" dirty="0" smtClean="0"/>
              <a:t>, .gif</a:t>
            </a:r>
          </a:p>
          <a:p>
            <a:r>
              <a:rPr lang="en-US" dirty="0" smtClean="0"/>
              <a:t>.zip</a:t>
            </a:r>
          </a:p>
          <a:p>
            <a:r>
              <a:rPr lang="en-US" dirty="0" smtClean="0"/>
              <a:t>.exe</a:t>
            </a:r>
          </a:p>
          <a:p>
            <a:r>
              <a:rPr lang="en-US" dirty="0" smtClean="0"/>
              <a:t>.</a:t>
            </a:r>
            <a:r>
              <a:rPr lang="en-US" dirty="0" err="1" smtClean="0"/>
              <a:t>dll</a:t>
            </a:r>
            <a:endParaRPr lang="en-US" dirty="0" smtClean="0"/>
          </a:p>
          <a:p>
            <a:r>
              <a:rPr lang="en-US" dirty="0" smtClean="0"/>
              <a:t>.bin</a:t>
            </a:r>
          </a:p>
          <a:p>
            <a:r>
              <a:rPr lang="en-US" dirty="0" smtClean="0"/>
              <a:t>.class</a:t>
            </a:r>
          </a:p>
          <a:p>
            <a:r>
              <a:rPr lang="en-US" dirty="0" smtClean="0"/>
              <a:t>.rtf, .doc</a:t>
            </a:r>
          </a:p>
          <a:p>
            <a:r>
              <a:rPr lang="en-US" dirty="0" smtClean="0"/>
              <a:t>.</a:t>
            </a:r>
            <a:r>
              <a:rPr lang="en-US" dirty="0" err="1" smtClean="0"/>
              <a:t>pdf</a:t>
            </a:r>
            <a:endParaRPr lang="en-US" dirty="0"/>
          </a:p>
        </p:txBody>
      </p:sp>
      <p:pic>
        <p:nvPicPr>
          <p:cNvPr id="2050" name="Picture 2" descr="https://dw-images.com/wp-content/uploads/2019/10/JPG-File-Icon.jpg"/>
          <p:cNvPicPr>
            <a:picLocks noChangeAspect="1" noChangeArrowheads="1"/>
          </p:cNvPicPr>
          <p:nvPr/>
        </p:nvPicPr>
        <p:blipFill>
          <a:blip r:embed="rId2" cstate="print"/>
          <a:srcRect/>
          <a:stretch>
            <a:fillRect/>
          </a:stretch>
        </p:blipFill>
        <p:spPr bwMode="auto">
          <a:xfrm>
            <a:off x="4038600" y="2362200"/>
            <a:ext cx="3251200" cy="32512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Saving an Object to Binary File</a:t>
            </a:r>
            <a:endParaRPr lang="en-US" dirty="0"/>
          </a:p>
        </p:txBody>
      </p:sp>
      <p:sp>
        <p:nvSpPr>
          <p:cNvPr id="3" name="Content Placeholder 2"/>
          <p:cNvSpPr>
            <a:spLocks noGrp="1"/>
          </p:cNvSpPr>
          <p:nvPr>
            <p:ph idx="1"/>
          </p:nvPr>
        </p:nvSpPr>
        <p:spPr/>
        <p:txBody>
          <a:bodyPr/>
          <a:lstStyle/>
          <a:p>
            <a:pPr>
              <a:buNone/>
            </a:pPr>
            <a:r>
              <a:rPr lang="en-US" sz="2400" dirty="0" smtClean="0"/>
              <a:t>Programming language </a:t>
            </a:r>
            <a:r>
              <a:rPr lang="en-US" sz="2400" u="sng" dirty="0" smtClean="0"/>
              <a:t>data structures</a:t>
            </a:r>
            <a:r>
              <a:rPr lang="en-US" sz="2400" dirty="0" smtClean="0"/>
              <a:t> (objects)</a:t>
            </a:r>
          </a:p>
          <a:p>
            <a:pPr>
              <a:buNone/>
            </a:pPr>
            <a:r>
              <a:rPr lang="en-US" sz="2400" dirty="0" smtClean="0"/>
              <a:t>↓</a:t>
            </a:r>
          </a:p>
          <a:p>
            <a:pPr>
              <a:buNone/>
            </a:pPr>
            <a:r>
              <a:rPr lang="en-US" sz="2400" dirty="0" smtClean="0"/>
              <a:t>Binary serialization</a:t>
            </a:r>
          </a:p>
          <a:p>
            <a:pPr>
              <a:buNone/>
            </a:pPr>
            <a:r>
              <a:rPr lang="en-US" sz="2400" dirty="0" smtClean="0"/>
              <a:t>↓</a:t>
            </a:r>
          </a:p>
          <a:p>
            <a:pPr>
              <a:buNone/>
            </a:pPr>
            <a:r>
              <a:rPr lang="en-US" sz="2400" dirty="0" smtClean="0"/>
              <a:t>Binary format (</a:t>
            </a:r>
            <a:r>
              <a:rPr lang="en-US" sz="2400" dirty="0" err="1" smtClean="0"/>
              <a:t>Protobuf</a:t>
            </a:r>
            <a:r>
              <a:rPr lang="en-US" sz="2400" dirty="0" smtClean="0"/>
              <a:t>) or stream of bytes (010011)</a:t>
            </a:r>
          </a:p>
          <a:p>
            <a:pPr>
              <a:buNone/>
            </a:pPr>
            <a:r>
              <a:rPr lang="en-US" sz="2400" dirty="0" smtClean="0"/>
              <a:t>↓</a:t>
            </a:r>
          </a:p>
          <a:p>
            <a:pPr>
              <a:buNone/>
            </a:pPr>
            <a:r>
              <a:rPr lang="en-US" sz="2400" dirty="0" smtClean="0"/>
              <a:t>Binary file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Sending Object to Server</a:t>
            </a:r>
            <a:endParaRPr lang="en-US" dirty="0"/>
          </a:p>
        </p:txBody>
      </p:sp>
      <p:sp>
        <p:nvSpPr>
          <p:cNvPr id="3" name="Content Placeholder 2"/>
          <p:cNvSpPr>
            <a:spLocks noGrp="1"/>
          </p:cNvSpPr>
          <p:nvPr>
            <p:ph idx="1"/>
          </p:nvPr>
        </p:nvSpPr>
        <p:spPr/>
        <p:txBody>
          <a:bodyPr/>
          <a:lstStyle/>
          <a:p>
            <a:pPr>
              <a:buNone/>
            </a:pPr>
            <a:r>
              <a:rPr lang="en-US" sz="2200" dirty="0" smtClean="0"/>
              <a:t>Programming language </a:t>
            </a:r>
            <a:r>
              <a:rPr lang="en-US" sz="2200" u="sng" dirty="0" smtClean="0"/>
              <a:t>data structures</a:t>
            </a:r>
            <a:r>
              <a:rPr lang="en-US" sz="2200" dirty="0" smtClean="0"/>
              <a:t> (objects)</a:t>
            </a:r>
          </a:p>
          <a:p>
            <a:pPr>
              <a:buNone/>
            </a:pPr>
            <a:r>
              <a:rPr lang="en-US" sz="2200" dirty="0" smtClean="0"/>
              <a:t>↓</a:t>
            </a:r>
          </a:p>
          <a:p>
            <a:pPr>
              <a:buNone/>
            </a:pPr>
            <a:r>
              <a:rPr lang="en-US" sz="2200" i="1" dirty="0" smtClean="0">
                <a:solidFill>
                  <a:srgbClr val="C00000"/>
                </a:solidFill>
              </a:rPr>
              <a:t>Text serialization</a:t>
            </a:r>
          </a:p>
          <a:p>
            <a:pPr>
              <a:buNone/>
            </a:pPr>
            <a:r>
              <a:rPr lang="en-US" sz="2200" i="1" dirty="0" smtClean="0"/>
              <a:t>↓</a:t>
            </a:r>
          </a:p>
          <a:p>
            <a:pPr>
              <a:buNone/>
            </a:pPr>
            <a:r>
              <a:rPr lang="en-US" sz="2200" i="1" dirty="0" smtClean="0">
                <a:solidFill>
                  <a:srgbClr val="C00000"/>
                </a:solidFill>
              </a:rPr>
              <a:t>Text format (XML, JSON)</a:t>
            </a:r>
          </a:p>
          <a:p>
            <a:pPr>
              <a:buNone/>
            </a:pPr>
            <a:r>
              <a:rPr lang="en-US" sz="2200" i="1" dirty="0" smtClean="0"/>
              <a:t>↓</a:t>
            </a:r>
          </a:p>
          <a:p>
            <a:pPr>
              <a:buNone/>
            </a:pPr>
            <a:r>
              <a:rPr lang="en-US" sz="2200" dirty="0" smtClean="0"/>
              <a:t>Binary serialization</a:t>
            </a:r>
          </a:p>
          <a:p>
            <a:pPr>
              <a:buNone/>
            </a:pPr>
            <a:r>
              <a:rPr lang="en-US" sz="2200" dirty="0" smtClean="0"/>
              <a:t>↓</a:t>
            </a:r>
          </a:p>
          <a:p>
            <a:pPr>
              <a:buNone/>
            </a:pPr>
            <a:r>
              <a:rPr lang="en-US" sz="2200" dirty="0" smtClean="0"/>
              <a:t>Binary format or stream of bytes (010011)</a:t>
            </a:r>
          </a:p>
          <a:p>
            <a:pPr>
              <a:buNone/>
            </a:pPr>
            <a:r>
              <a:rPr lang="en-US" sz="2200" dirty="0" smtClean="0"/>
              <a:t>↓</a:t>
            </a:r>
          </a:p>
          <a:p>
            <a:pPr>
              <a:buNone/>
            </a:pPr>
            <a:r>
              <a:rPr lang="en-US" sz="2200" dirty="0" smtClean="0"/>
              <a:t>Server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Text Protocol vs. Binary Protocol</a:t>
            </a:r>
            <a:endParaRPr lang="en-US" dirty="0"/>
          </a:p>
        </p:txBody>
      </p:sp>
      <p:sp>
        <p:nvSpPr>
          <p:cNvPr id="3" name="Content Placeholder 2"/>
          <p:cNvSpPr>
            <a:spLocks noGrp="1"/>
          </p:cNvSpPr>
          <p:nvPr>
            <p:ph idx="1"/>
          </p:nvPr>
        </p:nvSpPr>
        <p:spPr/>
        <p:txBody>
          <a:bodyPr/>
          <a:lstStyle/>
          <a:p>
            <a:r>
              <a:rPr lang="en-US" sz="2400" b="1" dirty="0" smtClean="0"/>
              <a:t>Text Response</a:t>
            </a:r>
          </a:p>
          <a:p>
            <a:pPr lvl="1">
              <a:buNone/>
            </a:pPr>
            <a:r>
              <a:rPr lang="en-US" sz="1800" dirty="0" smtClean="0">
                <a:latin typeface="Consolas" pitchFamily="49" charset="0"/>
              </a:rPr>
              <a:t>HTTP/1.1 200 OK </a:t>
            </a:r>
          </a:p>
          <a:p>
            <a:pPr lvl="1">
              <a:buNone/>
            </a:pPr>
            <a:r>
              <a:rPr lang="en-US" sz="1800" dirty="0" smtClean="0">
                <a:latin typeface="Consolas" pitchFamily="49" charset="0"/>
              </a:rPr>
              <a:t>Date: Mon, 19 Jan 1998 03:52:51 GMT </a:t>
            </a:r>
          </a:p>
          <a:p>
            <a:pPr lvl="1">
              <a:buNone/>
            </a:pPr>
            <a:r>
              <a:rPr lang="en-US" sz="1800" dirty="0" smtClean="0">
                <a:latin typeface="Consolas" pitchFamily="49" charset="0"/>
              </a:rPr>
              <a:t>Server: Apache/1.2.4</a:t>
            </a:r>
          </a:p>
          <a:p>
            <a:r>
              <a:rPr lang="en-US" sz="2400" b="1" dirty="0" smtClean="0"/>
              <a:t>Binary Response</a:t>
            </a:r>
          </a:p>
          <a:p>
            <a:pPr lvl="1">
              <a:buNone/>
            </a:pPr>
            <a:r>
              <a:rPr lang="en-US" sz="1800" dirty="0" err="1" smtClean="0">
                <a:latin typeface="Consolas" pitchFamily="49" charset="0"/>
              </a:rPr>
              <a:t>struct</a:t>
            </a:r>
            <a:r>
              <a:rPr lang="en-US" sz="1800" dirty="0" smtClean="0">
                <a:latin typeface="Consolas" pitchFamily="49" charset="0"/>
              </a:rPr>
              <a:t> response { </a:t>
            </a:r>
          </a:p>
          <a:p>
            <a:pPr lvl="1">
              <a:buNone/>
            </a:pPr>
            <a:r>
              <a:rPr lang="en-US" sz="1800" dirty="0" smtClean="0">
                <a:latin typeface="Consolas" pitchFamily="49" charset="0"/>
              </a:rPr>
              <a:t>char </a:t>
            </a:r>
            <a:r>
              <a:rPr lang="en-US" sz="1800" dirty="0" err="1" smtClean="0">
                <a:latin typeface="Consolas" pitchFamily="49" charset="0"/>
              </a:rPr>
              <a:t>protocolName</a:t>
            </a:r>
            <a:r>
              <a:rPr lang="en-US" sz="1800" dirty="0" smtClean="0">
                <a:latin typeface="Consolas" pitchFamily="49" charset="0"/>
              </a:rPr>
              <a:t>[5];</a:t>
            </a:r>
          </a:p>
          <a:p>
            <a:pPr lvl="1">
              <a:buNone/>
            </a:pPr>
            <a:r>
              <a:rPr lang="en-US" sz="1800" dirty="0" err="1" smtClean="0">
                <a:latin typeface="Consolas" pitchFamily="49" charset="0"/>
              </a:rPr>
              <a:t>int</a:t>
            </a:r>
            <a:r>
              <a:rPr lang="en-US" sz="1800" dirty="0" smtClean="0">
                <a:latin typeface="Consolas" pitchFamily="49" charset="0"/>
              </a:rPr>
              <a:t> </a:t>
            </a:r>
            <a:r>
              <a:rPr lang="en-US" sz="1800" dirty="0" err="1" smtClean="0">
                <a:latin typeface="Consolas" pitchFamily="49" charset="0"/>
              </a:rPr>
              <a:t>protocolVersion</a:t>
            </a:r>
            <a:r>
              <a:rPr lang="en-US" sz="1800" dirty="0" smtClean="0">
                <a:latin typeface="Consolas" pitchFamily="49" charset="0"/>
              </a:rPr>
              <a:t>;</a:t>
            </a:r>
          </a:p>
          <a:p>
            <a:pPr lvl="1">
              <a:buNone/>
            </a:pPr>
            <a:r>
              <a:rPr lang="en-US" sz="1800" dirty="0" err="1" smtClean="0">
                <a:latin typeface="Consolas" pitchFamily="49" charset="0"/>
              </a:rPr>
              <a:t>int</a:t>
            </a:r>
            <a:r>
              <a:rPr lang="en-US" sz="1800" dirty="0" smtClean="0">
                <a:latin typeface="Consolas" pitchFamily="49" charset="0"/>
              </a:rPr>
              <a:t> </a:t>
            </a:r>
            <a:r>
              <a:rPr lang="en-US" sz="1800" dirty="0" err="1" smtClean="0">
                <a:latin typeface="Consolas" pitchFamily="49" charset="0"/>
              </a:rPr>
              <a:t>responseType</a:t>
            </a:r>
            <a:r>
              <a:rPr lang="en-US" sz="1800" dirty="0" smtClean="0">
                <a:latin typeface="Consolas" pitchFamily="49" charset="0"/>
              </a:rPr>
              <a:t>; </a:t>
            </a:r>
          </a:p>
          <a:p>
            <a:pPr lvl="1">
              <a:buNone/>
            </a:pPr>
            <a:r>
              <a:rPr lang="en-US" sz="1800" dirty="0" err="1" smtClean="0">
                <a:latin typeface="Consolas" pitchFamily="49" charset="0"/>
              </a:rPr>
              <a:t>int</a:t>
            </a:r>
            <a:r>
              <a:rPr lang="en-US" sz="1800" dirty="0" smtClean="0">
                <a:latin typeface="Consolas" pitchFamily="49" charset="0"/>
              </a:rPr>
              <a:t> status;</a:t>
            </a:r>
          </a:p>
          <a:p>
            <a:pPr lvl="1">
              <a:buNone/>
            </a:pPr>
            <a:r>
              <a:rPr lang="en-US" sz="1800" dirty="0" err="1" smtClean="0">
                <a:latin typeface="Consolas" pitchFamily="49" charset="0"/>
              </a:rPr>
              <a:t>time_t</a:t>
            </a:r>
            <a:r>
              <a:rPr lang="en-US" sz="1800" dirty="0" smtClean="0">
                <a:latin typeface="Consolas" pitchFamily="49" charset="0"/>
              </a:rPr>
              <a:t> date;</a:t>
            </a:r>
          </a:p>
          <a:p>
            <a:pPr lvl="1">
              <a:buNone/>
            </a:pPr>
            <a:r>
              <a:rPr lang="en-US" sz="1800" dirty="0" smtClean="0">
                <a:latin typeface="Consolas" pitchFamily="49" charset="0"/>
              </a:rPr>
              <a:t>char host[1024];</a:t>
            </a:r>
          </a:p>
          <a:p>
            <a:pPr lvl="1">
              <a:buNone/>
            </a:pPr>
            <a:r>
              <a:rPr lang="en-US" sz="1800" dirty="0" smtClean="0">
                <a:latin typeface="Consolas" pitchFamily="49" charset="0"/>
              </a:rPr>
              <a:t>}</a:t>
            </a:r>
          </a:p>
        </p:txBody>
      </p:sp>
      <p:sp>
        <p:nvSpPr>
          <p:cNvPr id="5" name="Rectangle 4"/>
          <p:cNvSpPr/>
          <p:nvPr/>
        </p:nvSpPr>
        <p:spPr>
          <a:xfrm>
            <a:off x="3886200" y="2971800"/>
            <a:ext cx="4800600"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457200" indent="-457200">
              <a:buFont typeface="Arial" pitchFamily="34" charset="0"/>
              <a:buChar char="•"/>
            </a:pPr>
            <a:r>
              <a:rPr lang="en-US" sz="2000" b="1" dirty="0" err="1" smtClean="0">
                <a:latin typeface="+mj-lt"/>
              </a:rPr>
              <a:t>responseType</a:t>
            </a:r>
            <a:r>
              <a:rPr lang="en-US" sz="2000" dirty="0" smtClean="0">
                <a:latin typeface="+mj-lt"/>
              </a:rPr>
              <a:t> in the response structure is an </a:t>
            </a:r>
            <a:r>
              <a:rPr lang="en-US" sz="2000" b="1" dirty="0" err="1" smtClean="0">
                <a:latin typeface="+mj-lt"/>
              </a:rPr>
              <a:t>int</a:t>
            </a:r>
            <a:r>
              <a:rPr lang="en-US" sz="2000" dirty="0" smtClean="0">
                <a:latin typeface="+mj-lt"/>
              </a:rPr>
              <a:t> with the value </a:t>
            </a:r>
            <a:r>
              <a:rPr lang="en-US" sz="2000" b="1" dirty="0" smtClean="0">
                <a:latin typeface="+mj-lt"/>
              </a:rPr>
              <a:t>200</a:t>
            </a:r>
            <a:r>
              <a:rPr lang="en-US" sz="2000" dirty="0" smtClean="0">
                <a:latin typeface="+mj-lt"/>
              </a:rPr>
              <a:t> instead of three characters '</a:t>
            </a:r>
            <a:r>
              <a:rPr lang="en-US" sz="2000" b="1" dirty="0" smtClean="0">
                <a:latin typeface="+mj-lt"/>
              </a:rPr>
              <a:t>2</a:t>
            </a:r>
            <a:r>
              <a:rPr lang="en-US" sz="2000" dirty="0" smtClean="0">
                <a:latin typeface="+mj-lt"/>
              </a:rPr>
              <a:t>' '</a:t>
            </a:r>
            <a:r>
              <a:rPr lang="en-US" sz="2000" b="1" dirty="0" smtClean="0">
                <a:latin typeface="+mj-lt"/>
              </a:rPr>
              <a:t>0</a:t>
            </a:r>
            <a:r>
              <a:rPr lang="en-US" sz="2000" dirty="0" smtClean="0">
                <a:latin typeface="+mj-lt"/>
              </a:rPr>
              <a:t>' '</a:t>
            </a:r>
            <a:r>
              <a:rPr lang="en-US" sz="2000" b="1" dirty="0" smtClean="0">
                <a:latin typeface="+mj-lt"/>
              </a:rPr>
              <a:t>0</a:t>
            </a:r>
            <a:r>
              <a:rPr lang="en-US" sz="2000" dirty="0" smtClean="0">
                <a:latin typeface="+mj-lt"/>
              </a:rPr>
              <a:t>'.</a:t>
            </a:r>
          </a:p>
          <a:p>
            <a:pPr marL="457200" indent="-457200">
              <a:buFont typeface="Arial" pitchFamily="34" charset="0"/>
              <a:buChar char="•"/>
            </a:pPr>
            <a:r>
              <a:rPr lang="en-US" sz="2000" dirty="0" smtClean="0">
                <a:latin typeface="+mj-lt"/>
              </a:rPr>
              <a:t>A </a:t>
            </a:r>
            <a:r>
              <a:rPr lang="en-US" sz="2000" i="1" dirty="0" smtClean="0">
                <a:solidFill>
                  <a:srgbClr val="C00000"/>
                </a:solidFill>
                <a:latin typeface="+mj-lt"/>
              </a:rPr>
              <a:t>text based protocol</a:t>
            </a:r>
            <a:r>
              <a:rPr lang="en-US" sz="2000" dirty="0" smtClean="0">
                <a:latin typeface="+mj-lt"/>
              </a:rPr>
              <a:t> is one that is designed to be communicated as a flat stream of (usually human-readable) </a:t>
            </a:r>
            <a:r>
              <a:rPr lang="en-US" sz="2000" u="sng" dirty="0" smtClean="0">
                <a:solidFill>
                  <a:schemeClr val="tx1"/>
                </a:solidFill>
                <a:latin typeface="+mj-lt"/>
              </a:rPr>
              <a:t>lines of text</a:t>
            </a:r>
            <a:r>
              <a:rPr lang="en-US" sz="2000" dirty="0" smtClean="0">
                <a:latin typeface="+mj-lt"/>
              </a:rPr>
              <a:t>, rather than as </a:t>
            </a:r>
            <a:r>
              <a:rPr lang="en-US" sz="2000" i="1" dirty="0" smtClean="0">
                <a:solidFill>
                  <a:srgbClr val="C00000"/>
                </a:solidFill>
                <a:latin typeface="+mj-lt"/>
              </a:rPr>
              <a:t>structured data of many different types</a:t>
            </a:r>
            <a:r>
              <a:rPr lang="en-US" sz="2000" dirty="0" smtClean="0">
                <a:latin typeface="+mj-lt"/>
              </a:rPr>
              <a:t>.</a:t>
            </a:r>
          </a:p>
          <a:p>
            <a:pPr marL="457200" indent="-457200">
              <a:buFont typeface="Arial" pitchFamily="34" charset="0"/>
              <a:buChar char="•"/>
            </a:pPr>
            <a:r>
              <a:rPr lang="en-US" sz="2000" dirty="0" smtClean="0"/>
              <a:t>The </a:t>
            </a:r>
            <a:r>
              <a:rPr lang="en-US" sz="2000" i="1" dirty="0" smtClean="0">
                <a:solidFill>
                  <a:srgbClr val="C00000"/>
                </a:solidFill>
              </a:rPr>
              <a:t>difference</a:t>
            </a:r>
            <a:r>
              <a:rPr lang="en-US" sz="2000" dirty="0" smtClean="0"/>
              <a:t> is really whether the protocol is oriented around </a:t>
            </a:r>
            <a:r>
              <a:rPr lang="en-US" sz="2000" u="sng" dirty="0" smtClean="0"/>
              <a:t>data structures</a:t>
            </a:r>
            <a:r>
              <a:rPr lang="en-US" sz="2000" dirty="0" smtClean="0"/>
              <a:t> or around </a:t>
            </a:r>
            <a:r>
              <a:rPr lang="en-US" sz="2000" u="sng" dirty="0" smtClean="0"/>
              <a:t>text strings</a:t>
            </a:r>
            <a:r>
              <a:rPr lang="en-US" sz="2000" dirty="0" smtClean="0"/>
              <a:t>.</a:t>
            </a:r>
            <a:endParaRPr lang="en-US" sz="20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Serialization and </a:t>
            </a:r>
            <a:r>
              <a:rPr lang="en-US" dirty="0" err="1" smtClean="0"/>
              <a:t>Deserialization</a:t>
            </a:r>
            <a:r>
              <a:rPr lang="en-US" dirty="0" smtClean="0"/>
              <a:t> [1]</a:t>
            </a:r>
            <a:endParaRPr lang="en-US" dirty="0"/>
          </a:p>
        </p:txBody>
      </p:sp>
      <p:sp>
        <p:nvSpPr>
          <p:cNvPr id="3" name="Content Placeholder 2"/>
          <p:cNvSpPr>
            <a:spLocks noGrp="1"/>
          </p:cNvSpPr>
          <p:nvPr>
            <p:ph idx="1"/>
          </p:nvPr>
        </p:nvSpPr>
        <p:spPr/>
        <p:txBody>
          <a:bodyPr/>
          <a:lstStyle/>
          <a:p>
            <a:r>
              <a:rPr lang="en-US" sz="2400" dirty="0" smtClean="0"/>
              <a:t>In order to </a:t>
            </a:r>
            <a:r>
              <a:rPr lang="en-US" sz="2400" i="1" dirty="0" smtClean="0">
                <a:solidFill>
                  <a:srgbClr val="C00000"/>
                </a:solidFill>
              </a:rPr>
              <a:t>exchange the data</a:t>
            </a:r>
            <a:r>
              <a:rPr lang="en-US" sz="2400" dirty="0" smtClean="0"/>
              <a:t> between the client and the server (a Web service), it is necessary for the data to be transmitted in a </a:t>
            </a:r>
            <a:r>
              <a:rPr lang="en-US" sz="2400" u="sng" dirty="0" smtClean="0"/>
              <a:t>format</a:t>
            </a:r>
            <a:r>
              <a:rPr lang="en-US" sz="2400" dirty="0" smtClean="0"/>
              <a:t> that is </a:t>
            </a:r>
            <a:r>
              <a:rPr lang="en-US" sz="2400" u="sng" dirty="0" smtClean="0"/>
              <a:t>understood by both sides</a:t>
            </a:r>
            <a:r>
              <a:rPr lang="en-US" sz="2400" dirty="0" smtClean="0"/>
              <a:t>.</a:t>
            </a:r>
          </a:p>
          <a:p>
            <a:r>
              <a:rPr lang="en-US" sz="2400" dirty="0" smtClean="0"/>
              <a:t>The process of converting </a:t>
            </a:r>
            <a:r>
              <a:rPr lang="en-US" sz="2400" u="sng" dirty="0" smtClean="0"/>
              <a:t>data structures</a:t>
            </a:r>
            <a:r>
              <a:rPr lang="en-US" sz="2400" dirty="0" smtClean="0"/>
              <a:t> from a program code into these formats is called </a:t>
            </a:r>
            <a:r>
              <a:rPr lang="en-US" sz="2400" i="1" dirty="0" smtClean="0">
                <a:solidFill>
                  <a:srgbClr val="C00000"/>
                </a:solidFill>
              </a:rPr>
              <a:t>serialization</a:t>
            </a:r>
            <a:r>
              <a:rPr lang="en-US" sz="2400" dirty="0" smtClean="0"/>
              <a:t> or </a:t>
            </a:r>
            <a:r>
              <a:rPr lang="en-US" sz="2400" i="1" dirty="0" smtClean="0">
                <a:solidFill>
                  <a:srgbClr val="C00000"/>
                </a:solidFill>
              </a:rPr>
              <a:t>marshalling</a:t>
            </a:r>
            <a:r>
              <a:rPr lang="en-US" sz="2400" dirty="0" smtClean="0"/>
              <a:t>.</a:t>
            </a:r>
          </a:p>
          <a:p>
            <a:r>
              <a:rPr lang="en-US" sz="2400" dirty="0" smtClean="0"/>
              <a:t>In general, it transforms the data into </a:t>
            </a:r>
            <a:r>
              <a:rPr lang="en-US" sz="2400" u="sng" dirty="0" smtClean="0"/>
              <a:t>a stream of bytes</a:t>
            </a:r>
            <a:r>
              <a:rPr lang="en-US" sz="2400" dirty="0" smtClean="0"/>
              <a:t>, so a complex object can be saved into a file or sent via a network.</a:t>
            </a:r>
          </a:p>
          <a:p>
            <a:r>
              <a:rPr lang="en-US" sz="2400" dirty="0" smtClean="0"/>
              <a:t>The reverse process is called </a:t>
            </a:r>
            <a:r>
              <a:rPr lang="en-US" sz="2400" i="1" dirty="0" err="1" smtClean="0">
                <a:solidFill>
                  <a:srgbClr val="C00000"/>
                </a:solidFill>
              </a:rPr>
              <a:t>deserialization</a:t>
            </a:r>
            <a:r>
              <a:rPr lang="en-US" sz="2400" dirty="0" smtClean="0"/>
              <a:t> or </a:t>
            </a:r>
            <a:r>
              <a:rPr lang="en-US" sz="2400" i="1" dirty="0" err="1" smtClean="0">
                <a:solidFill>
                  <a:srgbClr val="C00000"/>
                </a:solidFill>
              </a:rPr>
              <a:t>unmarshalling</a:t>
            </a:r>
            <a:r>
              <a:rPr lang="en-US" sz="2400" dirty="0" smtClean="0"/>
              <a:t>.</a:t>
            </a:r>
          </a:p>
          <a:p>
            <a:r>
              <a:rPr lang="en-US" sz="2400" dirty="0" smtClean="0"/>
              <a:t>This is the process of converting </a:t>
            </a:r>
            <a:r>
              <a:rPr lang="en-US" sz="2400" u="sng" dirty="0" smtClean="0"/>
              <a:t>a stream of bytes</a:t>
            </a:r>
            <a:r>
              <a:rPr lang="en-US" sz="2400" dirty="0" smtClean="0"/>
              <a:t> back into the programming language </a:t>
            </a:r>
            <a:r>
              <a:rPr lang="en-US" sz="2400" u="sng" dirty="0" smtClean="0"/>
              <a:t>data structures</a:t>
            </a:r>
            <a:r>
              <a:rPr lang="en-US" sz="2400" dirty="0" smtClean="0"/>
              <a: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XML (</a:t>
            </a:r>
            <a:r>
              <a:rPr lang="en-US" sz="2400" i="1" dirty="0" err="1" smtClean="0">
                <a:solidFill>
                  <a:srgbClr val="C00000"/>
                </a:solidFill>
              </a:rPr>
              <a:t>eXtensible</a:t>
            </a:r>
            <a:r>
              <a:rPr lang="en-US" sz="2400" i="1" dirty="0" smtClean="0">
                <a:solidFill>
                  <a:srgbClr val="C00000"/>
                </a:solidFill>
              </a:rPr>
              <a:t> Markup Language)</a:t>
            </a:r>
            <a:r>
              <a:rPr lang="en-US" sz="2400" dirty="0" smtClean="0"/>
              <a:t>: </a:t>
            </a:r>
            <a:r>
              <a:rPr lang="en-US" sz="2400" u="sng" dirty="0" smtClean="0"/>
              <a:t>text format</a:t>
            </a:r>
            <a:r>
              <a:rPr lang="en-US" sz="2400" dirty="0" smtClean="0"/>
              <a:t> defined by W3C (World Wide Web Consortium). Data are structured using elements and attributes.</a:t>
            </a:r>
          </a:p>
          <a:p>
            <a:r>
              <a:rPr lang="en-US" sz="2400" i="1" dirty="0" smtClean="0">
                <a:solidFill>
                  <a:srgbClr val="C00000"/>
                </a:solidFill>
              </a:rPr>
              <a:t>JSON (JavaScript Object Notation)</a:t>
            </a:r>
            <a:r>
              <a:rPr lang="en-US" sz="2400" dirty="0" smtClean="0"/>
              <a:t>: </a:t>
            </a:r>
            <a:r>
              <a:rPr lang="en-US" sz="2400" u="sng" dirty="0" smtClean="0"/>
              <a:t>lightweight text format</a:t>
            </a:r>
            <a:r>
              <a:rPr lang="en-US" sz="2400" dirty="0" smtClean="0"/>
              <a:t> based on the JavaScript syntax, which often replaces XML due to XML's verbosity and size inefficiency.</a:t>
            </a:r>
          </a:p>
          <a:p>
            <a:r>
              <a:rPr lang="en-US" sz="2400" i="1" dirty="0" smtClean="0">
                <a:solidFill>
                  <a:srgbClr val="C00000"/>
                </a:solidFill>
              </a:rPr>
              <a:t>Protocol Buffers or </a:t>
            </a:r>
            <a:r>
              <a:rPr lang="en-US" sz="2400" i="1" dirty="0" err="1" smtClean="0">
                <a:solidFill>
                  <a:srgbClr val="C00000"/>
                </a:solidFill>
              </a:rPr>
              <a:t>Protobuf</a:t>
            </a:r>
            <a:r>
              <a:rPr lang="en-US" sz="2400" dirty="0" smtClean="0"/>
              <a:t>: </a:t>
            </a:r>
            <a:r>
              <a:rPr lang="en-US" sz="2400" u="sng" dirty="0" smtClean="0"/>
              <a:t>binary format</a:t>
            </a:r>
            <a:r>
              <a:rPr lang="en-US" sz="2400" dirty="0" smtClean="0"/>
              <a:t> developed by Google, that requires a pre-defined schema. This schema must be defined before the data serialization can be performed. The structure is defined in a </a:t>
            </a:r>
            <a:r>
              <a:rPr lang="en-US" sz="2400" dirty="0" smtClean="0">
                <a:latin typeface="Consolas" pitchFamily="49" charset="0"/>
              </a:rPr>
              <a:t>.proto</a:t>
            </a:r>
            <a:r>
              <a:rPr lang="en-US" sz="2400" dirty="0" smtClean="0"/>
              <a:t> file, which is in a readable text format.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Serialization Helpers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PHP</a:t>
            </a:r>
            <a:r>
              <a:rPr lang="en-US" sz="2400" dirty="0" smtClean="0"/>
              <a:t> provides </a:t>
            </a:r>
            <a:r>
              <a:rPr lang="en-US" sz="2400" dirty="0" smtClean="0">
                <a:latin typeface="Consolas" pitchFamily="49" charset="0"/>
              </a:rPr>
              <a:t>serialize()</a:t>
            </a:r>
            <a:r>
              <a:rPr lang="en-US" sz="2400" dirty="0" smtClean="0"/>
              <a:t> and </a:t>
            </a:r>
            <a:r>
              <a:rPr lang="en-US" sz="2400" dirty="0" err="1" smtClean="0">
                <a:latin typeface="Consolas" pitchFamily="49" charset="0"/>
              </a:rPr>
              <a:t>unserialize</a:t>
            </a:r>
            <a:r>
              <a:rPr lang="en-US" sz="2400" dirty="0" smtClean="0">
                <a:latin typeface="Consolas" pitchFamily="49" charset="0"/>
              </a:rPr>
              <a:t>()</a:t>
            </a:r>
            <a:r>
              <a:rPr lang="en-US" sz="2400" dirty="0" smtClean="0"/>
              <a:t> functions.</a:t>
            </a:r>
          </a:p>
          <a:p>
            <a:r>
              <a:rPr lang="en-US" sz="2400" dirty="0" smtClean="0"/>
              <a:t>In </a:t>
            </a:r>
            <a:r>
              <a:rPr lang="en-US" sz="2400" i="1" dirty="0" smtClean="0">
                <a:solidFill>
                  <a:srgbClr val="C00000"/>
                </a:solidFill>
              </a:rPr>
              <a:t>Java</a:t>
            </a:r>
            <a:r>
              <a:rPr lang="en-US" sz="2400" dirty="0" smtClean="0"/>
              <a:t>, there are </a:t>
            </a:r>
            <a:r>
              <a:rPr lang="en-US" sz="2400" dirty="0" err="1" smtClean="0">
                <a:latin typeface="Consolas" pitchFamily="49" charset="0"/>
              </a:rPr>
              <a:t>ObjectOutputStream</a:t>
            </a:r>
            <a:r>
              <a:rPr lang="en-US" sz="2400" dirty="0" smtClean="0"/>
              <a:t> and </a:t>
            </a:r>
            <a:r>
              <a:rPr lang="en-US" sz="2400" dirty="0" err="1" smtClean="0">
                <a:latin typeface="Consolas" pitchFamily="49" charset="0"/>
              </a:rPr>
              <a:t>ObjectInputStream</a:t>
            </a:r>
            <a:r>
              <a:rPr lang="en-US" sz="2400" dirty="0" smtClean="0"/>
              <a:t> classes.</a:t>
            </a:r>
          </a:p>
          <a:p>
            <a:r>
              <a:rPr lang="en-US" sz="2400" i="1" dirty="0" smtClean="0">
                <a:solidFill>
                  <a:srgbClr val="C00000"/>
                </a:solidFill>
              </a:rPr>
              <a:t>JavaScript</a:t>
            </a:r>
            <a:r>
              <a:rPr lang="en-US" sz="2400" dirty="0" smtClean="0"/>
              <a:t> provides </a:t>
            </a:r>
            <a:r>
              <a:rPr lang="en-US" sz="2400" dirty="0" err="1" smtClean="0">
                <a:latin typeface="Consolas" pitchFamily="49" charset="0"/>
              </a:rPr>
              <a:t>JSON.stringify</a:t>
            </a:r>
            <a:r>
              <a:rPr lang="en-US" sz="2400" dirty="0" smtClean="0">
                <a:latin typeface="Consolas" pitchFamily="49" charset="0"/>
              </a:rPr>
              <a:t>()</a:t>
            </a:r>
            <a:r>
              <a:rPr lang="en-US" sz="2400" dirty="0" smtClean="0"/>
              <a:t> and </a:t>
            </a:r>
            <a:r>
              <a:rPr lang="en-US" sz="2400" dirty="0" err="1" smtClean="0">
                <a:latin typeface="Consolas" pitchFamily="49" charset="0"/>
              </a:rPr>
              <a:t>JSON.parse</a:t>
            </a:r>
            <a:r>
              <a:rPr lang="en-US" sz="2400" dirty="0" smtClean="0">
                <a:latin typeface="Consolas" pitchFamily="49" charset="0"/>
              </a:rPr>
              <a:t>()</a:t>
            </a:r>
            <a:r>
              <a:rPr lang="en-US" sz="2400" dirty="0" smtClean="0"/>
              <a:t> functions to convert Object to JSON string.</a:t>
            </a:r>
          </a:p>
          <a:p>
            <a:r>
              <a:rPr lang="en-US" sz="2400" i="1" dirty="0" smtClean="0">
                <a:solidFill>
                  <a:srgbClr val="C00000"/>
                </a:solidFill>
              </a:rPr>
              <a:t>JavaScript v8 library</a:t>
            </a:r>
            <a:r>
              <a:rPr lang="en-US" sz="2400" dirty="0" smtClean="0"/>
              <a:t> provides </a:t>
            </a:r>
            <a:r>
              <a:rPr lang="en-US" sz="2400" dirty="0" smtClean="0">
                <a:latin typeface="Consolas" pitchFamily="49" charset="0"/>
              </a:rPr>
              <a:t>serialize</a:t>
            </a:r>
            <a:r>
              <a:rPr lang="en-US" sz="2400" dirty="0" smtClean="0"/>
              <a:t> and </a:t>
            </a:r>
            <a:r>
              <a:rPr lang="en-US" sz="2400" dirty="0" err="1" smtClean="0">
                <a:latin typeface="Consolas" pitchFamily="49" charset="0"/>
              </a:rPr>
              <a:t>deserialize</a:t>
            </a:r>
            <a:r>
              <a:rPr lang="en-US" sz="2400" dirty="0" smtClean="0"/>
              <a:t> functions to convert Object to Buffer.</a:t>
            </a:r>
          </a:p>
          <a:p>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 Buffers</a:t>
            </a:r>
            <a:endParaRPr lang="en-US" dirty="0"/>
          </a:p>
        </p:txBody>
      </p:sp>
      <p:sp>
        <p:nvSpPr>
          <p:cNvPr id="3" name="Content Placeholder 2"/>
          <p:cNvSpPr>
            <a:spLocks noGrp="1"/>
          </p:cNvSpPr>
          <p:nvPr>
            <p:ph idx="1"/>
          </p:nvPr>
        </p:nvSpPr>
        <p:spPr/>
        <p:txBody>
          <a:bodyPr/>
          <a:lstStyle/>
          <a:p>
            <a:r>
              <a:rPr lang="en-US" sz="2400" dirty="0" smtClean="0">
                <a:hlinkClick r:id="rId2"/>
              </a:rPr>
              <a:t>https://protobuf.dev/overview/</a:t>
            </a:r>
            <a:endParaRPr lang="en-US" sz="2400" dirty="0" smtClean="0"/>
          </a:p>
          <a:p>
            <a:r>
              <a:rPr lang="en-US" sz="2400" i="1" dirty="0" smtClean="0">
                <a:solidFill>
                  <a:srgbClr val="C00000"/>
                </a:solidFill>
              </a:rPr>
              <a:t>Protocol Buffers</a:t>
            </a:r>
            <a:r>
              <a:rPr lang="en-US" sz="2400" dirty="0" smtClean="0"/>
              <a:t> are a language-neutral, platform-neutral extensible mechanism for </a:t>
            </a:r>
            <a:r>
              <a:rPr lang="en-US" sz="2400" u="sng" dirty="0" smtClean="0"/>
              <a:t>serializing structured data</a:t>
            </a:r>
            <a:r>
              <a:rPr lang="en-US" sz="2400" dirty="0" smtClean="0"/>
              <a:t>.</a:t>
            </a:r>
          </a:p>
          <a:p>
            <a:r>
              <a:rPr lang="en-US" sz="2400" dirty="0" smtClean="0"/>
              <a:t>Protocol buffers provide a </a:t>
            </a:r>
            <a:r>
              <a:rPr lang="en-US" sz="2400" i="1" dirty="0" smtClean="0">
                <a:solidFill>
                  <a:srgbClr val="C00000"/>
                </a:solidFill>
              </a:rPr>
              <a:t>serialization format</a:t>
            </a:r>
            <a:r>
              <a:rPr lang="en-US" sz="2400" dirty="0" smtClean="0"/>
              <a:t> for packets of typed, structured data that are up to a few megabytes in size.</a:t>
            </a:r>
          </a:p>
          <a:p>
            <a:r>
              <a:rPr lang="en-US" sz="2400" dirty="0" smtClean="0"/>
              <a:t>The </a:t>
            </a:r>
            <a:r>
              <a:rPr lang="en-US" sz="2400" i="1" dirty="0" smtClean="0">
                <a:solidFill>
                  <a:srgbClr val="C00000"/>
                </a:solidFill>
              </a:rPr>
              <a:t>format</a:t>
            </a:r>
            <a:r>
              <a:rPr lang="en-US" sz="2400" dirty="0" smtClean="0"/>
              <a:t> is suitable for both ephemeral network traffic and long-term data storage.</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Protocol Buffer Message</a:t>
            </a:r>
            <a:endParaRPr lang="en-US" dirty="0"/>
          </a:p>
        </p:txBody>
      </p:sp>
      <p:sp>
        <p:nvSpPr>
          <p:cNvPr id="3" name="Content Placeholder 2"/>
          <p:cNvSpPr>
            <a:spLocks noGrp="1"/>
          </p:cNvSpPr>
          <p:nvPr>
            <p:ph idx="1"/>
          </p:nvPr>
        </p:nvSpPr>
        <p:spPr>
          <a:xfrm>
            <a:off x="457200" y="3886200"/>
            <a:ext cx="8229600" cy="2239963"/>
          </a:xfrm>
        </p:spPr>
        <p:txBody>
          <a:bodyPr/>
          <a:lstStyle/>
          <a:p>
            <a:r>
              <a:rPr lang="en-US" sz="2400" dirty="0" smtClean="0">
                <a:hlinkClick r:id="rId2"/>
              </a:rPr>
              <a:t>https://protobuf.dev/programming-guides/proto3/</a:t>
            </a:r>
            <a:endParaRPr lang="en-US" sz="2400" dirty="0" smtClean="0"/>
          </a:p>
          <a:p>
            <a:r>
              <a:rPr lang="en-US" sz="2400" dirty="0" smtClean="0"/>
              <a:t>Each </a:t>
            </a:r>
            <a:r>
              <a:rPr lang="en-US" sz="2400" i="1" dirty="0" smtClean="0">
                <a:solidFill>
                  <a:srgbClr val="C00000"/>
                </a:solidFill>
              </a:rPr>
              <a:t>field</a:t>
            </a:r>
            <a:r>
              <a:rPr lang="en-US" sz="2400" dirty="0" smtClean="0"/>
              <a:t> has a </a:t>
            </a:r>
            <a:r>
              <a:rPr lang="en-US" sz="2400" u="sng" dirty="0" smtClean="0"/>
              <a:t>name</a:t>
            </a:r>
            <a:r>
              <a:rPr lang="en-US" sz="2400" dirty="0" smtClean="0"/>
              <a:t> and a </a:t>
            </a:r>
            <a:r>
              <a:rPr lang="en-US" sz="2400" u="sng" dirty="0" smtClean="0"/>
              <a:t>type</a:t>
            </a:r>
            <a:r>
              <a:rPr lang="en-US" sz="2400" dirty="0" smtClean="0"/>
              <a:t>.</a:t>
            </a:r>
          </a:p>
          <a:p>
            <a:r>
              <a:rPr lang="en-US" sz="2400" dirty="0" smtClean="0"/>
              <a:t>The given number must be </a:t>
            </a:r>
            <a:r>
              <a:rPr lang="en-US" sz="2400" i="1" dirty="0" smtClean="0">
                <a:solidFill>
                  <a:srgbClr val="C00000"/>
                </a:solidFill>
              </a:rPr>
              <a:t>unique</a:t>
            </a:r>
            <a:r>
              <a:rPr lang="en-US" sz="2400" dirty="0" smtClean="0"/>
              <a:t> among all fields. This number </a:t>
            </a:r>
            <a:r>
              <a:rPr lang="en-US" sz="2400" i="1" dirty="0" smtClean="0">
                <a:solidFill>
                  <a:srgbClr val="C00000"/>
                </a:solidFill>
              </a:rPr>
              <a:t>cannot</a:t>
            </a:r>
            <a:r>
              <a:rPr lang="en-US" sz="2400" dirty="0" smtClean="0"/>
              <a:t> be changed once your message type is in use because it identifies the field in the message wire format.</a:t>
            </a:r>
          </a:p>
          <a:p>
            <a:endParaRPr lang="en-US" sz="2400" dirty="0"/>
          </a:p>
        </p:txBody>
      </p:sp>
      <p:sp>
        <p:nvSpPr>
          <p:cNvPr id="4" name="Rectangle 3"/>
          <p:cNvSpPr/>
          <p:nvPr/>
        </p:nvSpPr>
        <p:spPr>
          <a:xfrm>
            <a:off x="533400" y="1600200"/>
            <a:ext cx="8077200" cy="203132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smtClean="0">
                <a:solidFill>
                  <a:srgbClr val="000000"/>
                </a:solidFill>
                <a:latin typeface="Consolas" pitchFamily="49" charset="0"/>
              </a:rPr>
              <a:t>syntax</a:t>
            </a:r>
            <a:r>
              <a:rPr lang="en-US" dirty="0" smtClean="0">
                <a:latin typeface="Consolas" pitchFamily="49" charset="0"/>
              </a:rPr>
              <a:t> </a:t>
            </a:r>
            <a:r>
              <a:rPr lang="en-US" b="1" dirty="0" smtClean="0">
                <a:solidFill>
                  <a:srgbClr val="CE5C00"/>
                </a:solidFill>
                <a:latin typeface="Consolas" pitchFamily="49" charset="0"/>
              </a:rPr>
              <a:t>=</a:t>
            </a:r>
            <a:r>
              <a:rPr lang="en-US" dirty="0" smtClean="0">
                <a:latin typeface="Consolas" pitchFamily="49" charset="0"/>
              </a:rPr>
              <a:t> </a:t>
            </a:r>
            <a:r>
              <a:rPr lang="en-US" dirty="0" smtClean="0">
                <a:solidFill>
                  <a:srgbClr val="4E9A06"/>
                </a:solidFill>
                <a:latin typeface="Consolas" pitchFamily="49" charset="0"/>
              </a:rPr>
              <a:t>"proto3"</a:t>
            </a:r>
            <a:r>
              <a:rPr lang="en-US" b="1" dirty="0" smtClean="0">
                <a:solidFill>
                  <a:srgbClr val="000000"/>
                </a:solidFill>
                <a:latin typeface="Consolas" pitchFamily="49" charset="0"/>
              </a:rPr>
              <a:t>;</a:t>
            </a:r>
          </a:p>
          <a:p>
            <a:endParaRPr lang="en-US" dirty="0" smtClean="0">
              <a:solidFill>
                <a:srgbClr val="A40000"/>
              </a:solidFill>
              <a:latin typeface="Consolas" pitchFamily="49" charset="0"/>
            </a:endParaRPr>
          </a:p>
          <a:p>
            <a:r>
              <a:rPr lang="en-US" b="1" dirty="0" smtClean="0">
                <a:solidFill>
                  <a:srgbClr val="204A87"/>
                </a:solidFill>
                <a:latin typeface="Consolas" pitchFamily="49" charset="0"/>
              </a:rPr>
              <a:t>message</a:t>
            </a:r>
            <a:r>
              <a:rPr lang="en-US" dirty="0" smtClean="0">
                <a:latin typeface="Consolas" pitchFamily="49" charset="0"/>
              </a:rPr>
              <a:t> </a:t>
            </a:r>
            <a:r>
              <a:rPr lang="en-US" dirty="0" err="1" smtClean="0">
                <a:solidFill>
                  <a:srgbClr val="000000"/>
                </a:solidFill>
                <a:latin typeface="Consolas" pitchFamily="49" charset="0"/>
              </a:rPr>
              <a:t>SearchRequest</a:t>
            </a:r>
            <a:r>
              <a:rPr lang="en-US" dirty="0" smtClean="0">
                <a:latin typeface="Consolas" pitchFamily="49" charset="0"/>
              </a:rPr>
              <a:t> </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204A87"/>
                </a:solidFill>
                <a:latin typeface="Consolas" pitchFamily="49" charset="0"/>
              </a:rPr>
              <a:t>    string</a:t>
            </a:r>
            <a:r>
              <a:rPr lang="en-US" dirty="0" smtClean="0">
                <a:latin typeface="Consolas" pitchFamily="49" charset="0"/>
              </a:rPr>
              <a:t> </a:t>
            </a:r>
            <a:r>
              <a:rPr lang="en-US" dirty="0" smtClean="0">
                <a:solidFill>
                  <a:srgbClr val="000000"/>
                </a:solidFill>
                <a:latin typeface="Consolas" pitchFamily="49" charset="0"/>
              </a:rPr>
              <a:t>query</a:t>
            </a:r>
            <a:r>
              <a:rPr lang="en-US" dirty="0" smtClean="0">
                <a:latin typeface="Consolas" pitchFamily="49" charset="0"/>
              </a:rPr>
              <a:t> </a:t>
            </a:r>
            <a:r>
              <a:rPr lang="en-US" b="1" dirty="0" smtClean="0">
                <a:solidFill>
                  <a:srgbClr val="CE5C00"/>
                </a:solidFill>
                <a:latin typeface="Consolas" pitchFamily="49" charset="0"/>
              </a:rPr>
              <a:t>=</a:t>
            </a:r>
            <a:r>
              <a:rPr lang="en-US" dirty="0" smtClean="0">
                <a:latin typeface="Consolas" pitchFamily="49" charset="0"/>
              </a:rPr>
              <a:t> </a:t>
            </a:r>
            <a:r>
              <a:rPr lang="en-US" b="1" dirty="0" smtClean="0">
                <a:solidFill>
                  <a:srgbClr val="0000CF"/>
                </a:solidFill>
                <a:latin typeface="Consolas" pitchFamily="49" charset="0"/>
              </a:rPr>
              <a:t>1</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204A87"/>
                </a:solidFill>
                <a:latin typeface="Consolas" pitchFamily="49" charset="0"/>
              </a:rPr>
              <a:t>    int32</a:t>
            </a:r>
            <a:r>
              <a:rPr lang="en-US" dirty="0" smtClean="0">
                <a:latin typeface="Consolas" pitchFamily="49" charset="0"/>
              </a:rPr>
              <a:t> </a:t>
            </a:r>
            <a:r>
              <a:rPr lang="en-US" dirty="0" err="1" smtClean="0">
                <a:solidFill>
                  <a:srgbClr val="000000"/>
                </a:solidFill>
                <a:latin typeface="Consolas" pitchFamily="49" charset="0"/>
              </a:rPr>
              <a:t>page_number</a:t>
            </a:r>
            <a:r>
              <a:rPr lang="en-US" dirty="0" smtClean="0">
                <a:latin typeface="Consolas" pitchFamily="49" charset="0"/>
              </a:rPr>
              <a:t> </a:t>
            </a:r>
            <a:r>
              <a:rPr lang="en-US" b="1" dirty="0" smtClean="0">
                <a:solidFill>
                  <a:srgbClr val="CE5C00"/>
                </a:solidFill>
                <a:latin typeface="Consolas" pitchFamily="49" charset="0"/>
              </a:rPr>
              <a:t>=</a:t>
            </a:r>
            <a:r>
              <a:rPr lang="en-US" dirty="0" smtClean="0">
                <a:latin typeface="Consolas" pitchFamily="49" charset="0"/>
              </a:rPr>
              <a:t> </a:t>
            </a:r>
            <a:r>
              <a:rPr lang="en-US" b="1" dirty="0" smtClean="0">
                <a:solidFill>
                  <a:srgbClr val="0000CF"/>
                </a:solidFill>
                <a:latin typeface="Consolas" pitchFamily="49" charset="0"/>
              </a:rPr>
              <a:t>2</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204A87"/>
                </a:solidFill>
                <a:latin typeface="Consolas" pitchFamily="49" charset="0"/>
              </a:rPr>
              <a:t>    int32</a:t>
            </a:r>
            <a:r>
              <a:rPr lang="en-US" dirty="0" smtClean="0">
                <a:latin typeface="Consolas" pitchFamily="49" charset="0"/>
              </a:rPr>
              <a:t> </a:t>
            </a:r>
            <a:r>
              <a:rPr lang="en-US" dirty="0" err="1" smtClean="0">
                <a:solidFill>
                  <a:srgbClr val="000000"/>
                </a:solidFill>
                <a:latin typeface="Consolas" pitchFamily="49" charset="0"/>
              </a:rPr>
              <a:t>results_per_page</a:t>
            </a:r>
            <a:r>
              <a:rPr lang="en-US" dirty="0" smtClean="0">
                <a:latin typeface="Consolas" pitchFamily="49" charset="0"/>
              </a:rPr>
              <a:t> </a:t>
            </a:r>
            <a:r>
              <a:rPr lang="en-US" b="1" dirty="0" smtClean="0">
                <a:solidFill>
                  <a:srgbClr val="CE5C00"/>
                </a:solidFill>
                <a:latin typeface="Consolas" pitchFamily="49" charset="0"/>
              </a:rPr>
              <a:t>=</a:t>
            </a:r>
            <a:r>
              <a:rPr lang="en-US" dirty="0" smtClean="0">
                <a:latin typeface="Consolas" pitchFamily="49" charset="0"/>
              </a:rPr>
              <a:t> </a:t>
            </a:r>
            <a:r>
              <a:rPr lang="en-US" b="1" dirty="0" smtClean="0">
                <a:solidFill>
                  <a:srgbClr val="0000CF"/>
                </a:solidFill>
                <a:latin typeface="Consolas" pitchFamily="49" charset="0"/>
              </a:rPr>
              <a:t>3</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000000"/>
                </a:solidFill>
                <a:latin typeface="Consolas" pitchFamily="49" charset="0"/>
              </a:rPr>
              <a:t>}</a:t>
            </a:r>
            <a:endParaRPr lang="en-US" b="0" dirty="0">
              <a:solidFill>
                <a:srgbClr val="D4D4D4"/>
              </a:solidFill>
              <a:latin typeface="Consolas"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 Buffer Wire Format</a:t>
            </a:r>
            <a:endParaRPr lang="en-US" dirty="0"/>
          </a:p>
        </p:txBody>
      </p:sp>
      <p:sp>
        <p:nvSpPr>
          <p:cNvPr id="3" name="Content Placeholder 2"/>
          <p:cNvSpPr>
            <a:spLocks noGrp="1"/>
          </p:cNvSpPr>
          <p:nvPr>
            <p:ph idx="1"/>
          </p:nvPr>
        </p:nvSpPr>
        <p:spPr>
          <a:xfrm>
            <a:off x="457200" y="2971800"/>
            <a:ext cx="8229600" cy="3154363"/>
          </a:xfrm>
        </p:spPr>
        <p:txBody>
          <a:bodyPr/>
          <a:lstStyle/>
          <a:p>
            <a:r>
              <a:rPr lang="en-US" sz="2400" dirty="0" smtClean="0">
                <a:hlinkClick r:id="rId2"/>
              </a:rPr>
              <a:t>https://protobuf.dev/programming-guides/encoding/</a:t>
            </a:r>
            <a:endParaRPr lang="en-US" sz="2400" dirty="0" smtClean="0"/>
          </a:p>
          <a:p>
            <a:r>
              <a:rPr lang="en-US" sz="2400" dirty="0" smtClean="0"/>
              <a:t>n an application, you create a Test1 message and set a to 150. You then serialize the message to an output stream. If you were able to examine the encoded message, you’d see three bytes: </a:t>
            </a:r>
            <a:r>
              <a:rPr lang="en-US" sz="2400" b="1" dirty="0" smtClean="0"/>
              <a:t>08</a:t>
            </a:r>
            <a:r>
              <a:rPr lang="en-US" sz="2400" dirty="0" smtClean="0"/>
              <a:t> </a:t>
            </a:r>
            <a:r>
              <a:rPr lang="en-US" sz="2400" b="1" dirty="0" smtClean="0"/>
              <a:t>96</a:t>
            </a:r>
            <a:r>
              <a:rPr lang="en-US" sz="2400" dirty="0" smtClean="0"/>
              <a:t> </a:t>
            </a:r>
            <a:r>
              <a:rPr lang="en-US" sz="2400" b="1" dirty="0" smtClean="0"/>
              <a:t>01</a:t>
            </a:r>
          </a:p>
          <a:p>
            <a:r>
              <a:rPr lang="en-US" sz="2400" dirty="0" smtClean="0"/>
              <a:t>If you use the </a:t>
            </a:r>
            <a:r>
              <a:rPr lang="en-US" sz="2400" dirty="0" err="1" smtClean="0"/>
              <a:t>Protoscope</a:t>
            </a:r>
            <a:r>
              <a:rPr lang="en-US" sz="2400" dirty="0" smtClean="0"/>
              <a:t> tool to dump those bytes, you’d get something like </a:t>
            </a:r>
            <a:r>
              <a:rPr lang="en-US" sz="2400" b="1" dirty="0" smtClean="0"/>
              <a:t>1: 150</a:t>
            </a:r>
            <a:r>
              <a:rPr lang="en-US" sz="2400" dirty="0" smtClean="0"/>
              <a:t>.</a:t>
            </a:r>
            <a:endParaRPr lang="en-US" sz="2400" dirty="0"/>
          </a:p>
        </p:txBody>
      </p:sp>
      <p:sp>
        <p:nvSpPr>
          <p:cNvPr id="4" name="Rectangle 3"/>
          <p:cNvSpPr/>
          <p:nvPr/>
        </p:nvSpPr>
        <p:spPr>
          <a:xfrm>
            <a:off x="533400" y="1600200"/>
            <a:ext cx="8077200" cy="92333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b="1" dirty="0" smtClean="0">
                <a:solidFill>
                  <a:srgbClr val="204A87"/>
                </a:solidFill>
                <a:latin typeface="Consolas" pitchFamily="49" charset="0"/>
              </a:rPr>
              <a:t>message</a:t>
            </a:r>
            <a:r>
              <a:rPr lang="en-US" dirty="0" smtClean="0">
                <a:latin typeface="Consolas" pitchFamily="49" charset="0"/>
              </a:rPr>
              <a:t> </a:t>
            </a:r>
            <a:r>
              <a:rPr lang="en-US" dirty="0" smtClean="0">
                <a:solidFill>
                  <a:srgbClr val="000000"/>
                </a:solidFill>
                <a:latin typeface="Consolas" pitchFamily="49" charset="0"/>
              </a:rPr>
              <a:t>Test1</a:t>
            </a:r>
            <a:r>
              <a:rPr lang="en-US" dirty="0" smtClean="0">
                <a:latin typeface="Consolas" pitchFamily="49" charset="0"/>
              </a:rPr>
              <a:t> </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A40000"/>
                </a:solidFill>
                <a:latin typeface="Consolas" pitchFamily="49" charset="0"/>
              </a:rPr>
              <a:t>    </a:t>
            </a:r>
            <a:r>
              <a:rPr lang="en-US" b="1" dirty="0" smtClean="0">
                <a:solidFill>
                  <a:srgbClr val="204A87"/>
                </a:solidFill>
                <a:latin typeface="Consolas" pitchFamily="49" charset="0"/>
              </a:rPr>
              <a:t>optional</a:t>
            </a:r>
            <a:r>
              <a:rPr lang="en-US" dirty="0" smtClean="0">
                <a:latin typeface="Consolas" pitchFamily="49" charset="0"/>
              </a:rPr>
              <a:t> </a:t>
            </a:r>
            <a:r>
              <a:rPr lang="en-US" b="1" dirty="0" smtClean="0">
                <a:solidFill>
                  <a:srgbClr val="204A87"/>
                </a:solidFill>
                <a:latin typeface="Consolas" pitchFamily="49" charset="0"/>
              </a:rPr>
              <a:t>int32</a:t>
            </a:r>
            <a:r>
              <a:rPr lang="en-US" dirty="0" smtClean="0">
                <a:latin typeface="Consolas" pitchFamily="49" charset="0"/>
              </a:rPr>
              <a:t> </a:t>
            </a:r>
            <a:r>
              <a:rPr lang="en-US" dirty="0" smtClean="0">
                <a:solidFill>
                  <a:srgbClr val="000000"/>
                </a:solidFill>
                <a:latin typeface="Consolas" pitchFamily="49" charset="0"/>
              </a:rPr>
              <a:t>a</a:t>
            </a:r>
            <a:r>
              <a:rPr lang="en-US" dirty="0" smtClean="0">
                <a:latin typeface="Consolas" pitchFamily="49" charset="0"/>
              </a:rPr>
              <a:t> </a:t>
            </a:r>
            <a:r>
              <a:rPr lang="en-US" b="1" dirty="0" smtClean="0">
                <a:solidFill>
                  <a:srgbClr val="CE5C00"/>
                </a:solidFill>
                <a:latin typeface="Consolas" pitchFamily="49" charset="0"/>
              </a:rPr>
              <a:t>=</a:t>
            </a:r>
            <a:r>
              <a:rPr lang="en-US" dirty="0" smtClean="0">
                <a:latin typeface="Consolas" pitchFamily="49" charset="0"/>
              </a:rPr>
              <a:t> </a:t>
            </a:r>
            <a:r>
              <a:rPr lang="en-US" b="1" dirty="0" smtClean="0">
                <a:solidFill>
                  <a:srgbClr val="0000CF"/>
                </a:solidFill>
                <a:latin typeface="Consolas" pitchFamily="49" charset="0"/>
              </a:rPr>
              <a:t>1</a:t>
            </a:r>
            <a:r>
              <a:rPr lang="en-US" b="1" dirty="0" smtClean="0">
                <a:solidFill>
                  <a:srgbClr val="000000"/>
                </a:solidFill>
                <a:latin typeface="Consolas" pitchFamily="49" charset="0"/>
              </a:rPr>
              <a:t>;</a:t>
            </a:r>
            <a:r>
              <a:rPr lang="en-US" dirty="0" smtClean="0">
                <a:solidFill>
                  <a:srgbClr val="A40000"/>
                </a:solidFill>
                <a:latin typeface="Consolas" pitchFamily="49" charset="0"/>
              </a:rPr>
              <a:t> </a:t>
            </a:r>
          </a:p>
          <a:p>
            <a:r>
              <a:rPr lang="en-US" b="1" dirty="0" smtClean="0">
                <a:solidFill>
                  <a:srgbClr val="000000"/>
                </a:solidFill>
                <a:latin typeface="Consolas" pitchFamily="49" charset="0"/>
              </a:rPr>
              <a:t>}</a:t>
            </a:r>
            <a:endParaRPr lang="en-US" b="0" dirty="0">
              <a:solidFill>
                <a:srgbClr val="D4D4D4"/>
              </a:solidFill>
              <a:latin typeface="Consolas"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000" dirty="0" smtClean="0"/>
              <a:t>1. Download </a:t>
            </a:r>
            <a:r>
              <a:rPr lang="it-IT" sz="4000" dirty="0" smtClean="0"/>
              <a:t>Protocol Buffer Compiler</a:t>
            </a:r>
            <a:endParaRPr lang="en-US" sz="4000" dirty="0"/>
          </a:p>
        </p:txBody>
      </p:sp>
      <p:sp>
        <p:nvSpPr>
          <p:cNvPr id="3" name="Content Placeholder 2"/>
          <p:cNvSpPr>
            <a:spLocks noGrp="1"/>
          </p:cNvSpPr>
          <p:nvPr>
            <p:ph idx="1"/>
          </p:nvPr>
        </p:nvSpPr>
        <p:spPr/>
        <p:txBody>
          <a:bodyPr/>
          <a:lstStyle/>
          <a:p>
            <a:r>
              <a:rPr lang="en-US" sz="2400" dirty="0" smtClean="0">
                <a:latin typeface="+mj-lt"/>
                <a:hlinkClick r:id="rId2"/>
              </a:rPr>
              <a:t>https://github.com/protocolbuffers/protobuf/releases</a:t>
            </a:r>
            <a:endParaRPr lang="en-US" sz="2400" dirty="0" smtClean="0">
              <a:latin typeface="+mj-lt"/>
            </a:endParaRPr>
          </a:p>
          <a:p>
            <a:r>
              <a:rPr lang="en-US" sz="2400" dirty="0" smtClean="0">
                <a:latin typeface="+mj-lt"/>
              </a:rPr>
              <a:t>Scroll down to </a:t>
            </a:r>
            <a:r>
              <a:rPr lang="en-US" sz="2400" b="1" dirty="0" smtClean="0">
                <a:latin typeface="+mj-lt"/>
              </a:rPr>
              <a:t>Assets</a:t>
            </a:r>
            <a:r>
              <a:rPr lang="en-US" sz="2400" dirty="0" smtClean="0">
                <a:latin typeface="+mj-lt"/>
              </a:rPr>
              <a:t>,</a:t>
            </a:r>
          </a:p>
          <a:p>
            <a:r>
              <a:rPr lang="en-US" sz="2400" dirty="0" smtClean="0">
                <a:latin typeface="+mj-lt"/>
              </a:rPr>
              <a:t>Click </a:t>
            </a:r>
            <a:r>
              <a:rPr lang="en-US" sz="2400" b="1" dirty="0" smtClean="0">
                <a:latin typeface="+mj-lt"/>
              </a:rPr>
              <a:t>Show all</a:t>
            </a:r>
            <a:r>
              <a:rPr lang="en-US" sz="2400" dirty="0" smtClean="0">
                <a:latin typeface="+mj-lt"/>
              </a:rPr>
              <a:t> link.</a:t>
            </a:r>
          </a:p>
          <a:p>
            <a:r>
              <a:rPr lang="en-US" sz="2400" dirty="0" smtClean="0">
                <a:latin typeface="+mj-lt"/>
              </a:rPr>
              <a:t>Click </a:t>
            </a:r>
            <a:r>
              <a:rPr lang="en-US" sz="2400" b="1" dirty="0" smtClean="0">
                <a:latin typeface="+mj-lt"/>
              </a:rPr>
              <a:t>protoc-26.1-win64.zip</a:t>
            </a:r>
            <a:r>
              <a:rPr lang="en-US" sz="2400" dirty="0" smtClean="0">
                <a:latin typeface="+mj-lt"/>
              </a:rPr>
              <a:t> link.</a:t>
            </a:r>
          </a:p>
        </p:txBody>
      </p:sp>
      <p:pic>
        <p:nvPicPr>
          <p:cNvPr id="1027" name="Picture 3"/>
          <p:cNvPicPr>
            <a:picLocks noChangeAspect="1" noChangeArrowheads="1"/>
          </p:cNvPicPr>
          <p:nvPr/>
        </p:nvPicPr>
        <p:blipFill>
          <a:blip r:embed="rId3" cstate="print"/>
          <a:srcRect/>
          <a:stretch>
            <a:fillRect/>
          </a:stretch>
        </p:blipFill>
        <p:spPr bwMode="auto">
          <a:xfrm>
            <a:off x="1331913" y="3825875"/>
            <a:ext cx="6480175" cy="16605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400" dirty="0" smtClean="0"/>
              <a:t>2. Verify </a:t>
            </a:r>
            <a:r>
              <a:rPr lang="it-IT" sz="3400" dirty="0" smtClean="0"/>
              <a:t>Protocol Buffer Compiler Installation</a:t>
            </a:r>
            <a:endParaRPr lang="en-US" sz="3400" dirty="0"/>
          </a:p>
        </p:txBody>
      </p:sp>
      <p:sp>
        <p:nvSpPr>
          <p:cNvPr id="3" name="Content Placeholder 2"/>
          <p:cNvSpPr>
            <a:spLocks noGrp="1"/>
          </p:cNvSpPr>
          <p:nvPr>
            <p:ph idx="1"/>
          </p:nvPr>
        </p:nvSpPr>
        <p:spPr/>
        <p:txBody>
          <a:bodyPr/>
          <a:lstStyle/>
          <a:p>
            <a:r>
              <a:rPr lang="en-US" sz="2400" dirty="0" smtClean="0"/>
              <a:t>Unzip </a:t>
            </a:r>
            <a:r>
              <a:rPr lang="en-US" sz="2400" b="1" dirty="0" smtClean="0"/>
              <a:t>protoc-3.20.0-win64.zip</a:t>
            </a:r>
            <a:r>
              <a:rPr lang="en-US" sz="2400" dirty="0" smtClean="0"/>
              <a:t> to </a:t>
            </a:r>
            <a:r>
              <a:rPr lang="it-IT" sz="2400" b="1" dirty="0" smtClean="0"/>
              <a:t>C:\Users\admin\protoc</a:t>
            </a:r>
            <a:r>
              <a:rPr lang="it-IT" sz="2400" dirty="0" smtClean="0"/>
              <a:t>.</a:t>
            </a:r>
            <a:endParaRPr lang="en-US" sz="2400" dirty="0" smtClean="0"/>
          </a:p>
          <a:p>
            <a:r>
              <a:rPr lang="en-US" sz="2400" dirty="0" smtClean="0"/>
              <a:t>Add </a:t>
            </a:r>
            <a:r>
              <a:rPr lang="it-IT" sz="2400" b="1" dirty="0" smtClean="0"/>
              <a:t>C:\Users\admin\protoc\bin</a:t>
            </a:r>
            <a:r>
              <a:rPr lang="it-IT" sz="2400" dirty="0" smtClean="0"/>
              <a:t> to PATH.</a:t>
            </a:r>
          </a:p>
          <a:p>
            <a:r>
              <a:rPr lang="it-IT" sz="2400" dirty="0" smtClean="0">
                <a:latin typeface="Consolas" pitchFamily="49" charset="0"/>
              </a:rPr>
              <a:t>protoc --version</a:t>
            </a:r>
          </a:p>
          <a:p>
            <a:endParaRPr lang="en-US" sz="2400" dirty="0" smtClean="0">
              <a:latin typeface="+mj-lt"/>
            </a:endParaRPr>
          </a:p>
        </p:txBody>
      </p:sp>
      <p:pic>
        <p:nvPicPr>
          <p:cNvPr id="4" name="Picture 2"/>
          <p:cNvPicPr>
            <a:picLocks noChangeAspect="1" noChangeArrowheads="1"/>
          </p:cNvPicPr>
          <p:nvPr/>
        </p:nvPicPr>
        <p:blipFill>
          <a:blip r:embed="rId2" cstate="print"/>
          <a:srcRect/>
          <a:stretch>
            <a:fillRect/>
          </a:stretch>
        </p:blipFill>
        <p:spPr bwMode="auto">
          <a:xfrm>
            <a:off x="1149350" y="3429000"/>
            <a:ext cx="7156450" cy="2286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 Buffer Compiler</a:t>
            </a:r>
            <a:endParaRPr lang="en-US" dirty="0"/>
          </a:p>
        </p:txBody>
      </p:sp>
      <p:sp>
        <p:nvSpPr>
          <p:cNvPr id="3" name="Content Placeholder 2"/>
          <p:cNvSpPr>
            <a:spLocks noGrp="1"/>
          </p:cNvSpPr>
          <p:nvPr>
            <p:ph idx="1"/>
          </p:nvPr>
        </p:nvSpPr>
        <p:spPr/>
        <p:txBody>
          <a:bodyPr/>
          <a:lstStyle/>
          <a:p>
            <a:r>
              <a:rPr lang="en-US" sz="2000" dirty="0" smtClean="0">
                <a:hlinkClick r:id="rId2"/>
              </a:rPr>
              <a:t>https://protobuf.dev/programming-guides/proto3/</a:t>
            </a:r>
            <a:endParaRPr lang="en-US" sz="2000" dirty="0" smtClean="0"/>
          </a:p>
          <a:p>
            <a:r>
              <a:rPr lang="en-US" sz="2000" dirty="0" smtClean="0"/>
              <a:t>When you run the </a:t>
            </a:r>
            <a:r>
              <a:rPr lang="en-US" sz="2000" i="1" dirty="0" smtClean="0">
                <a:solidFill>
                  <a:srgbClr val="C00000"/>
                </a:solidFill>
              </a:rPr>
              <a:t>protocol buffer compiler</a:t>
            </a:r>
            <a:r>
              <a:rPr lang="en-US" sz="2000" dirty="0" smtClean="0"/>
              <a:t> on a </a:t>
            </a:r>
            <a:r>
              <a:rPr lang="en-US" sz="2000" b="1" dirty="0" smtClean="0"/>
              <a:t>.proto</a:t>
            </a:r>
            <a:r>
              <a:rPr lang="en-US" sz="2000" dirty="0" smtClean="0"/>
              <a:t>, the compiler generates the code in your chosen language you’ll need to work with the message types you’ve described in the file, including getting and setting field values, serializing your messages to an output stream, and parsing your messages from an input stream.</a:t>
            </a:r>
          </a:p>
          <a:p>
            <a:r>
              <a:rPr lang="en-US" sz="2000" dirty="0" smtClean="0"/>
              <a:t>For </a:t>
            </a:r>
            <a:r>
              <a:rPr lang="en-US" sz="2000" b="1" dirty="0" smtClean="0"/>
              <a:t>C++</a:t>
            </a:r>
            <a:r>
              <a:rPr lang="en-US" sz="2000" dirty="0" smtClean="0"/>
              <a:t>, the compiler generates a .h and .cc file from each .proto, with a class for each message type described in your file.</a:t>
            </a:r>
          </a:p>
          <a:p>
            <a:r>
              <a:rPr lang="en-US" sz="2000" dirty="0" smtClean="0"/>
              <a:t>For </a:t>
            </a:r>
            <a:r>
              <a:rPr lang="en-US" sz="2000" b="1" dirty="0" smtClean="0"/>
              <a:t>Java</a:t>
            </a:r>
            <a:r>
              <a:rPr lang="en-US" sz="2000" dirty="0" smtClean="0"/>
              <a:t>, the compiler generates a .java file with a class for each message type, as well as a special Builder class for creating message class instances.</a:t>
            </a:r>
          </a:p>
          <a:p>
            <a:r>
              <a:rPr lang="en-US" sz="2000" dirty="0" smtClean="0"/>
              <a:t>For </a:t>
            </a:r>
            <a:r>
              <a:rPr lang="en-US" sz="2000" b="1" dirty="0" smtClean="0"/>
              <a:t>Go</a:t>
            </a:r>
            <a:r>
              <a:rPr lang="en-US" sz="2000" dirty="0" smtClean="0"/>
              <a:t>, the compiler generates a .</a:t>
            </a:r>
            <a:r>
              <a:rPr lang="en-US" sz="2000" dirty="0" err="1" smtClean="0"/>
              <a:t>pb.go</a:t>
            </a:r>
            <a:r>
              <a:rPr lang="en-US" sz="2000" dirty="0" smtClean="0"/>
              <a:t> file with a type for each message type in your file.</a:t>
            </a:r>
          </a:p>
          <a:p>
            <a:r>
              <a:rPr lang="en-US" sz="2000" dirty="0" smtClean="0"/>
              <a:t>For </a:t>
            </a:r>
            <a:r>
              <a:rPr lang="en-US" sz="2000" b="1" dirty="0" smtClean="0"/>
              <a:t>C#</a:t>
            </a:r>
            <a:r>
              <a:rPr lang="en-US" sz="2000" dirty="0" smtClean="0"/>
              <a:t>, the compiler generates a .</a:t>
            </a:r>
            <a:r>
              <a:rPr lang="en-US" sz="2000" dirty="0" err="1" smtClean="0"/>
              <a:t>cs</a:t>
            </a:r>
            <a:r>
              <a:rPr lang="en-US" sz="2000" dirty="0" smtClean="0"/>
              <a:t> file from each .proto, with a class for each message type described in your file.</a:t>
            </a:r>
            <a:endParaRPr lang="en-US" sz="2000" dirty="0" smtClean="0">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Protocol Buffer Compiler for Node.js</a:t>
            </a:r>
            <a:endParaRPr lang="en-US" sz="4200" dirty="0"/>
          </a:p>
        </p:txBody>
      </p:sp>
      <p:sp>
        <p:nvSpPr>
          <p:cNvPr id="3" name="Content Placeholder 2"/>
          <p:cNvSpPr>
            <a:spLocks noGrp="1"/>
          </p:cNvSpPr>
          <p:nvPr>
            <p:ph idx="1"/>
          </p:nvPr>
        </p:nvSpPr>
        <p:spPr/>
        <p:txBody>
          <a:bodyPr/>
          <a:lstStyle/>
          <a:p>
            <a:r>
              <a:rPr lang="en-US" sz="2400" dirty="0" smtClean="0">
                <a:hlinkClick r:id="rId2"/>
              </a:rPr>
              <a:t>https://github.com/grpc/grpc-node/tree/master/examples</a:t>
            </a:r>
            <a:endParaRPr lang="en-US" sz="2400" dirty="0" smtClean="0"/>
          </a:p>
          <a:p>
            <a:endParaRPr lang="en-US" sz="2400" dirty="0" smtClean="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Protocol Buffers?</a:t>
            </a:r>
            <a:endParaRPr lang="en-US" dirty="0"/>
          </a:p>
        </p:txBody>
      </p:sp>
      <p:sp>
        <p:nvSpPr>
          <p:cNvPr id="3" name="Content Placeholder 2"/>
          <p:cNvSpPr>
            <a:spLocks noGrp="1"/>
          </p:cNvSpPr>
          <p:nvPr>
            <p:ph idx="1"/>
          </p:nvPr>
        </p:nvSpPr>
        <p:spPr/>
        <p:txBody>
          <a:bodyPr/>
          <a:lstStyle/>
          <a:p>
            <a:r>
              <a:rPr lang="en-US" sz="2600" dirty="0" smtClean="0"/>
              <a:t>The </a:t>
            </a:r>
            <a:r>
              <a:rPr lang="en-US" sz="2600" i="1" dirty="0" smtClean="0">
                <a:solidFill>
                  <a:srgbClr val="C00000"/>
                </a:solidFill>
              </a:rPr>
              <a:t>advantages</a:t>
            </a:r>
            <a:r>
              <a:rPr lang="en-US" sz="2600" dirty="0" smtClean="0"/>
              <a:t> of using </a:t>
            </a:r>
            <a:r>
              <a:rPr lang="en-US" sz="2600" dirty="0" err="1" smtClean="0"/>
              <a:t>protobuf</a:t>
            </a:r>
            <a:r>
              <a:rPr lang="en-US" sz="2600" dirty="0" smtClean="0"/>
              <a:t> are that it:</a:t>
            </a:r>
          </a:p>
          <a:p>
            <a:pPr lvl="1"/>
            <a:r>
              <a:rPr lang="en-US" sz="2200" dirty="0" smtClean="0"/>
              <a:t>Guarantees type-safety;</a:t>
            </a:r>
          </a:p>
          <a:p>
            <a:pPr lvl="1"/>
            <a:r>
              <a:rPr lang="en-US" sz="2200" dirty="0" smtClean="0"/>
              <a:t>Prevents schema-violations;</a:t>
            </a:r>
          </a:p>
          <a:p>
            <a:pPr lvl="1"/>
            <a:r>
              <a:rPr lang="en-US" sz="2200" dirty="0" smtClean="0"/>
              <a:t>Enables </a:t>
            </a:r>
            <a:r>
              <a:rPr lang="en-US" sz="2200" u="sng" dirty="0" smtClean="0"/>
              <a:t>fast serialization</a:t>
            </a:r>
            <a:r>
              <a:rPr lang="en-US" sz="2200" dirty="0" smtClean="0"/>
              <a:t>; and</a:t>
            </a:r>
          </a:p>
          <a:p>
            <a:pPr lvl="1"/>
            <a:r>
              <a:rPr lang="en-US" sz="2200" dirty="0" smtClean="0"/>
              <a:t>Offers backward compatibility.</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gRPC</a:t>
            </a:r>
            <a:r>
              <a:rPr lang="en-US" dirty="0" smtClean="0"/>
              <a:t>? [2]</a:t>
            </a:r>
            <a:endParaRPr lang="en-US" dirty="0"/>
          </a:p>
        </p:txBody>
      </p:sp>
      <p:sp>
        <p:nvSpPr>
          <p:cNvPr id="3" name="Content Placeholder 2"/>
          <p:cNvSpPr>
            <a:spLocks noGrp="1"/>
          </p:cNvSpPr>
          <p:nvPr>
            <p:ph idx="1"/>
          </p:nvPr>
        </p:nvSpPr>
        <p:spPr/>
        <p:txBody>
          <a:bodyPr/>
          <a:lstStyle/>
          <a:p>
            <a:r>
              <a:rPr lang="en-US" sz="2400" i="1" dirty="0" err="1" smtClean="0">
                <a:solidFill>
                  <a:srgbClr val="C00000"/>
                </a:solidFill>
              </a:rPr>
              <a:t>gRPC</a:t>
            </a:r>
            <a:r>
              <a:rPr lang="en-US" sz="2400" dirty="0" smtClean="0"/>
              <a:t> (the “g” stands for something different in every </a:t>
            </a:r>
            <a:r>
              <a:rPr lang="en-US" sz="2400" dirty="0" err="1" smtClean="0"/>
              <a:t>gRPC</a:t>
            </a:r>
            <a:r>
              <a:rPr lang="en-US" sz="2400" dirty="0" smtClean="0"/>
              <a:t> release) is </a:t>
            </a:r>
            <a:r>
              <a:rPr lang="en-US" sz="2400" u="sng" dirty="0" smtClean="0"/>
              <a:t>an </a:t>
            </a:r>
            <a:r>
              <a:rPr lang="en-US" sz="2400" u="sng" dirty="0" err="1" smtClean="0"/>
              <a:t>interprocess</a:t>
            </a:r>
            <a:r>
              <a:rPr lang="en-US" sz="2400" u="sng" dirty="0" smtClean="0"/>
              <a:t> communication technology</a:t>
            </a:r>
            <a:r>
              <a:rPr lang="en-US" sz="2400" dirty="0" smtClean="0"/>
              <a:t> that allows you to connect, invoke, operate, and debug distributed heterogeneous applications as easily as making a local function call.</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 to Use Conventional RPC?</a:t>
            </a:r>
            <a:endParaRPr lang="en-US" dirty="0"/>
          </a:p>
        </p:txBody>
      </p:sp>
      <p:sp>
        <p:nvSpPr>
          <p:cNvPr id="3" name="Content Placeholder 2"/>
          <p:cNvSpPr>
            <a:spLocks noGrp="1"/>
          </p:cNvSpPr>
          <p:nvPr>
            <p:ph idx="1"/>
          </p:nvPr>
        </p:nvSpPr>
        <p:spPr/>
        <p:txBody>
          <a:bodyPr/>
          <a:lstStyle/>
          <a:p>
            <a:r>
              <a:rPr lang="en-US" sz="2600" dirty="0" smtClean="0"/>
              <a:t>Examples</a:t>
            </a:r>
          </a:p>
          <a:p>
            <a:pPr lvl="1"/>
            <a:r>
              <a:rPr lang="en-US" sz="2200" dirty="0" smtClean="0"/>
              <a:t>Common Object Request Broker Architecture (CORBA)</a:t>
            </a:r>
          </a:p>
          <a:p>
            <a:pPr lvl="1"/>
            <a:r>
              <a:rPr lang="en-US" sz="2200" dirty="0" smtClean="0"/>
              <a:t>Java Remote Method Invocation (RMI)</a:t>
            </a:r>
          </a:p>
          <a:p>
            <a:r>
              <a:rPr lang="en-US" sz="2600" dirty="0" smtClean="0"/>
              <a:t>Most such conventional RPC implementations are overwhelmingly </a:t>
            </a:r>
            <a:r>
              <a:rPr lang="en-US" sz="2600" i="1" dirty="0" smtClean="0">
                <a:solidFill>
                  <a:srgbClr val="C00000"/>
                </a:solidFill>
              </a:rPr>
              <a:t>complex</a:t>
            </a:r>
            <a:r>
              <a:rPr lang="en-US" sz="2600" dirty="0" smtClean="0"/>
              <a:t>, as they are built on top of communication protocols such as TCP, which hinders interoperability, and are based on </a:t>
            </a:r>
            <a:r>
              <a:rPr lang="en-US" sz="2600" u="sng" dirty="0" smtClean="0"/>
              <a:t>bloated specifications</a:t>
            </a:r>
            <a:r>
              <a:rPr lang="en-US" sz="2600" dirty="0" smtClean="0"/>
              <a:t>.</a:t>
            </a:r>
          </a:p>
          <a:p>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 to Use SOAP?</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Simple Object Access Protocol</a:t>
            </a:r>
            <a:r>
              <a:rPr lang="en-US" sz="2400" dirty="0" smtClean="0"/>
              <a:t> is the standard communication technique in a service-oriented architecture (SOA) to exchange </a:t>
            </a:r>
            <a:r>
              <a:rPr lang="en-US" sz="2400" u="sng" dirty="0" smtClean="0"/>
              <a:t>XML-based</a:t>
            </a:r>
            <a:r>
              <a:rPr lang="en-US" sz="2400" dirty="0" smtClean="0"/>
              <a:t> structured data between services.</a:t>
            </a:r>
          </a:p>
          <a:p>
            <a:r>
              <a:rPr lang="en-US" sz="2400" dirty="0" smtClean="0"/>
              <a:t>The </a:t>
            </a:r>
            <a:r>
              <a:rPr lang="en-US" sz="2400" i="1" dirty="0" smtClean="0">
                <a:solidFill>
                  <a:srgbClr val="C00000"/>
                </a:solidFill>
              </a:rPr>
              <a:t>complexity</a:t>
            </a:r>
            <a:r>
              <a:rPr lang="en-US" sz="2400" dirty="0" smtClean="0"/>
              <a:t> of message format, as well as the </a:t>
            </a:r>
            <a:r>
              <a:rPr lang="en-US" sz="2400" u="sng" dirty="0" smtClean="0"/>
              <a:t>complexities of specifications</a:t>
            </a:r>
            <a:r>
              <a:rPr lang="en-US" sz="2400" dirty="0" smtClean="0"/>
              <a:t> built around SOAP, hinders the agility of building distributed applications.</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 to Use REST?</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Inefficient</a:t>
            </a:r>
            <a:r>
              <a:rPr lang="en-US" sz="2400" dirty="0" smtClean="0"/>
              <a:t> text-based message protocols</a:t>
            </a:r>
          </a:p>
          <a:p>
            <a:pPr lvl="1"/>
            <a:r>
              <a:rPr lang="en-US" sz="1800" dirty="0" smtClean="0"/>
              <a:t>The client application (source) produces binary content to be sent to the server, then it converts the binary structure into text (because with HTTP 1.x you have to send textual messages) and sends it over the network in text (over HTTP) to a machine that parses and turns it back into a binary structure on the service (target) side.</a:t>
            </a:r>
          </a:p>
          <a:p>
            <a:r>
              <a:rPr lang="en-US" sz="2400" i="1" dirty="0" smtClean="0">
                <a:solidFill>
                  <a:srgbClr val="C00000"/>
                </a:solidFill>
              </a:rPr>
              <a:t>Lacks strongly typed</a:t>
            </a:r>
            <a:r>
              <a:rPr lang="en-US" sz="2400" dirty="0" smtClean="0"/>
              <a:t> interfaces between apps</a:t>
            </a:r>
          </a:p>
          <a:p>
            <a:pPr lvl="1"/>
            <a:r>
              <a:rPr lang="en-US" sz="1800" dirty="0" smtClean="0"/>
              <a:t>This leads to many incompatibilities, runtime errors, and interoperability issues.</a:t>
            </a:r>
          </a:p>
          <a:p>
            <a:r>
              <a:rPr lang="en-US" sz="2400" dirty="0" smtClean="0"/>
              <a:t>REST architectural style is </a:t>
            </a:r>
            <a:r>
              <a:rPr lang="en-US" sz="2400" i="1" dirty="0" smtClean="0">
                <a:solidFill>
                  <a:srgbClr val="C00000"/>
                </a:solidFill>
              </a:rPr>
              <a:t>hard to enforce</a:t>
            </a:r>
            <a:r>
              <a:rPr lang="en-US" sz="2400" dirty="0" smtClean="0"/>
              <a:t>.</a:t>
            </a:r>
          </a:p>
          <a:p>
            <a:pPr lvl="1"/>
            <a:r>
              <a:rPr lang="en-US" sz="1800" dirty="0" smtClean="0"/>
              <a:t>Most of the services that claim to be </a:t>
            </a:r>
            <a:r>
              <a:rPr lang="en-US" sz="1800" dirty="0" err="1" smtClean="0"/>
              <a:t>RESTful</a:t>
            </a:r>
            <a:r>
              <a:rPr lang="en-US" sz="1800" dirty="0" smtClean="0"/>
              <a:t> are not properly following the foundations of the REST style.</a:t>
            </a:r>
          </a:p>
          <a:p>
            <a:pPr lvl="1"/>
            <a:r>
              <a:rPr lang="en-US" sz="1800" dirty="0" smtClean="0"/>
              <a:t>Development teams have to spend a lot of time maintaining the consistency and purity of a </a:t>
            </a:r>
            <a:r>
              <a:rPr lang="en-US" sz="1800" dirty="0" err="1" smtClean="0"/>
              <a:t>RESTful</a:t>
            </a:r>
            <a:r>
              <a:rPr lang="en-US" sz="1800" dirty="0" smtClean="0"/>
              <a:t> service.</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r>
              <a:rPr lang="en-US" dirty="0" err="1" smtClean="0"/>
              <a:t>gRPC</a:t>
            </a:r>
            <a:r>
              <a:rPr lang="en-US" dirty="0" smtClean="0"/>
              <a:t> API</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err="1" smtClean="0">
                <a:solidFill>
                  <a:srgbClr val="C00000"/>
                </a:solidFill>
              </a:rPr>
              <a:t>microservice</a:t>
            </a:r>
            <a:r>
              <a:rPr lang="en-US" sz="2400" dirty="0" smtClean="0"/>
              <a:t> and a </a:t>
            </a:r>
            <a:r>
              <a:rPr lang="en-US" sz="2400" i="1" dirty="0" smtClean="0">
                <a:solidFill>
                  <a:srgbClr val="C00000"/>
                </a:solidFill>
              </a:rPr>
              <a:t>consumer</a:t>
            </a:r>
            <a:r>
              <a:rPr lang="en-US" sz="2400" dirty="0" smtClean="0"/>
              <a:t> based on </a:t>
            </a:r>
            <a:r>
              <a:rPr lang="en-US" sz="2400" dirty="0" err="1" smtClean="0"/>
              <a:t>gRPC</a:t>
            </a:r>
            <a:r>
              <a:rPr lang="en-US" sz="2400" dirty="0" smtClean="0"/>
              <a:t>:</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447800" y="2514600"/>
            <a:ext cx="6305550" cy="3014663"/>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Interface Definition</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service interface definition</a:t>
            </a:r>
            <a:r>
              <a:rPr lang="en-US" sz="2400" dirty="0" smtClean="0"/>
              <a:t> contains information on how your service can be consumed by consumers, what methods you allow the consumers to call remotely, what method parameters and message formats to use when invoking those methods, and so on.</a:t>
            </a:r>
          </a:p>
          <a:p>
            <a:r>
              <a:rPr lang="en-US" sz="2400" dirty="0" smtClean="0"/>
              <a:t>The language that we specify in the service definition is known as an </a:t>
            </a:r>
            <a:r>
              <a:rPr lang="en-US" sz="2400" i="1" dirty="0" smtClean="0">
                <a:solidFill>
                  <a:srgbClr val="C00000"/>
                </a:solidFill>
              </a:rPr>
              <a:t>interface definition language (IDL)</a:t>
            </a:r>
            <a:r>
              <a:rPr lang="en-US" sz="2400" dirty="0" smtClean="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 Skeleton &amp; Client Stub </a:t>
            </a:r>
            <a:endParaRPr lang="en-US" dirty="0"/>
          </a:p>
        </p:txBody>
      </p:sp>
      <p:sp>
        <p:nvSpPr>
          <p:cNvPr id="3" name="Content Placeholder 2"/>
          <p:cNvSpPr>
            <a:spLocks noGrp="1"/>
          </p:cNvSpPr>
          <p:nvPr>
            <p:ph idx="1"/>
          </p:nvPr>
        </p:nvSpPr>
        <p:spPr/>
        <p:txBody>
          <a:bodyPr/>
          <a:lstStyle/>
          <a:p>
            <a:r>
              <a:rPr lang="en-US" sz="2400" dirty="0" smtClean="0"/>
              <a:t>Using that </a:t>
            </a:r>
            <a:r>
              <a:rPr lang="en-US" sz="2400" u="sng" dirty="0" smtClean="0"/>
              <a:t>service definition</a:t>
            </a:r>
            <a:r>
              <a:rPr lang="en-US" sz="2400" dirty="0" smtClean="0"/>
              <a:t>, you can generate the </a:t>
            </a:r>
            <a:r>
              <a:rPr lang="en-US" sz="2400" u="sng" dirty="0" smtClean="0"/>
              <a:t>server-side code</a:t>
            </a:r>
            <a:r>
              <a:rPr lang="en-US" sz="2400" dirty="0" smtClean="0"/>
              <a:t> (using the protocol buffer compiler </a:t>
            </a:r>
            <a:r>
              <a:rPr lang="en-US" sz="2400" b="1" i="1" dirty="0" err="1" smtClean="0">
                <a:latin typeface="Consolas" pitchFamily="49" charset="0"/>
              </a:rPr>
              <a:t>protoc</a:t>
            </a:r>
            <a:r>
              <a:rPr lang="en-US" sz="2400" dirty="0" smtClean="0"/>
              <a:t>) known as a </a:t>
            </a:r>
            <a:r>
              <a:rPr lang="en-US" sz="2400" i="1" dirty="0" smtClean="0">
                <a:solidFill>
                  <a:srgbClr val="C00000"/>
                </a:solidFill>
              </a:rPr>
              <a:t>server skeleton</a:t>
            </a:r>
            <a:r>
              <a:rPr lang="en-US" sz="2400" dirty="0" smtClean="0"/>
              <a:t>, which simplifies the server-side logic by providing </a:t>
            </a:r>
            <a:r>
              <a:rPr lang="en-US" sz="2400" u="sng" dirty="0" smtClean="0"/>
              <a:t>low-level communication abstractions</a:t>
            </a:r>
            <a:r>
              <a:rPr lang="en-US" sz="2400" dirty="0" smtClean="0"/>
              <a:t>.</a:t>
            </a:r>
          </a:p>
          <a:p>
            <a:r>
              <a:rPr lang="en-US" sz="2400" dirty="0" smtClean="0"/>
              <a:t>Also, you can generate the </a:t>
            </a:r>
            <a:r>
              <a:rPr lang="en-US" sz="2400" u="sng" dirty="0" smtClean="0"/>
              <a:t>client-side code</a:t>
            </a:r>
            <a:r>
              <a:rPr lang="en-US" sz="2400" dirty="0" smtClean="0"/>
              <a:t>, known as a </a:t>
            </a:r>
            <a:r>
              <a:rPr lang="en-US" sz="2400" i="1" dirty="0" smtClean="0">
                <a:solidFill>
                  <a:srgbClr val="C00000"/>
                </a:solidFill>
              </a:rPr>
              <a:t>client stub</a:t>
            </a:r>
            <a:r>
              <a:rPr lang="en-US" sz="2400" dirty="0" smtClean="0"/>
              <a:t>, which simplifies the client-side communication with abstractions to </a:t>
            </a:r>
            <a:r>
              <a:rPr lang="en-US" sz="2400" u="sng" dirty="0" smtClean="0"/>
              <a:t>hide low-level communication</a:t>
            </a:r>
            <a:r>
              <a:rPr lang="en-US" sz="2400" dirty="0" smtClean="0"/>
              <a:t> for different programming languages.</a:t>
            </a:r>
          </a:p>
          <a:p>
            <a:r>
              <a:rPr lang="en-US" sz="2400" dirty="0" smtClean="0"/>
              <a:t>The underlying </a:t>
            </a:r>
            <a:r>
              <a:rPr lang="en-US" sz="2400" i="1" dirty="0" err="1" smtClean="0">
                <a:solidFill>
                  <a:srgbClr val="C00000"/>
                </a:solidFill>
              </a:rPr>
              <a:t>gRPC</a:t>
            </a:r>
            <a:r>
              <a:rPr lang="en-US" sz="2400" i="1" dirty="0" smtClean="0">
                <a:solidFill>
                  <a:srgbClr val="C00000"/>
                </a:solidFill>
              </a:rPr>
              <a:t> framework</a:t>
            </a:r>
            <a:r>
              <a:rPr lang="en-US" sz="2400" dirty="0" smtClean="0"/>
              <a:t> handles all the complexities that are normally associated with enforcing strict service contracts, </a:t>
            </a:r>
            <a:r>
              <a:rPr lang="en-US" sz="2400" u="sng" dirty="0" smtClean="0"/>
              <a:t>data serialization</a:t>
            </a:r>
            <a:r>
              <a:rPr lang="en-US" sz="2400" dirty="0" smtClean="0"/>
              <a:t>, network communication, authentication, access control, and </a:t>
            </a:r>
            <a:r>
              <a:rPr lang="en-US" sz="2400" dirty="0" err="1" smtClean="0"/>
              <a:t>observability</a:t>
            </a:r>
            <a:r>
              <a:rPr lang="en-US" sz="2400" dirty="0" smtClean="0"/>
              <a:t>.</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HTTP/2 Protocol</a:t>
            </a:r>
            <a:endParaRPr lang="en-US" dirty="0"/>
          </a:p>
        </p:txBody>
      </p:sp>
      <p:sp>
        <p:nvSpPr>
          <p:cNvPr id="3" name="Content Placeholder 2"/>
          <p:cNvSpPr>
            <a:spLocks noGrp="1"/>
          </p:cNvSpPr>
          <p:nvPr>
            <p:ph idx="1"/>
          </p:nvPr>
        </p:nvSpPr>
        <p:spPr/>
        <p:txBody>
          <a:bodyPr>
            <a:normAutofit/>
          </a:bodyPr>
          <a:lstStyle/>
          <a:p>
            <a:r>
              <a:rPr lang="en-US" sz="2400" dirty="0" smtClean="0"/>
              <a:t>HTTP/2: </a:t>
            </a:r>
            <a:r>
              <a:rPr lang="en-US" sz="2400" dirty="0" smtClean="0">
                <a:hlinkClick r:id="rId2"/>
              </a:rPr>
              <a:t>https://www.rfc-editor.org/rfc/rfc9113.html</a:t>
            </a:r>
            <a:endParaRPr lang="en-US" sz="2400" dirty="0"/>
          </a:p>
        </p:txBody>
      </p:sp>
      <p:pic>
        <p:nvPicPr>
          <p:cNvPr id="4" name="Picture 2" descr="https://i.stack.imgur.com/ysG0q.jpg"/>
          <p:cNvPicPr>
            <a:picLocks noChangeAspect="1" noChangeArrowheads="1"/>
          </p:cNvPicPr>
          <p:nvPr/>
        </p:nvPicPr>
        <p:blipFill>
          <a:blip r:embed="rId3" cstate="print"/>
          <a:srcRect/>
          <a:stretch>
            <a:fillRect/>
          </a:stretch>
        </p:blipFill>
        <p:spPr bwMode="auto">
          <a:xfrm>
            <a:off x="533400" y="2305050"/>
            <a:ext cx="8096250" cy="386715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HTTP/2 vs. HTTP/1.1 [3]</a:t>
            </a:r>
            <a:endParaRPr lang="en-US" dirty="0"/>
          </a:p>
        </p:txBody>
      </p:sp>
      <p:sp>
        <p:nvSpPr>
          <p:cNvPr id="3" name="Content Placeholder 2"/>
          <p:cNvSpPr>
            <a:spLocks noGrp="1"/>
          </p:cNvSpPr>
          <p:nvPr>
            <p:ph idx="1"/>
          </p:nvPr>
        </p:nvSpPr>
        <p:spPr/>
        <p:txBody>
          <a:bodyPr/>
          <a:lstStyle/>
          <a:p>
            <a:r>
              <a:rPr lang="en-US" sz="2200" dirty="0" smtClean="0"/>
              <a:t>HTTP/2 acts a lot like HTTP/1. It has the same methods (GET, POST, PUT, and so on); it uses the same URLs, the same response status codes (200, 404, 301, 302), and the same HTTP headers (mostly).</a:t>
            </a:r>
          </a:p>
          <a:p>
            <a:r>
              <a:rPr lang="en-US" sz="2200" dirty="0" smtClean="0"/>
              <a:t>HTTP/2 is a more efficient way to make those same HTTP requests.</a:t>
            </a:r>
          </a:p>
          <a:p>
            <a:r>
              <a:rPr lang="en-US" sz="2200" dirty="0" smtClean="0"/>
              <a:t>One of the main differences between HTTP/1 and HTTP/2 is that HTTP/2 is a </a:t>
            </a:r>
            <a:r>
              <a:rPr lang="en-US" sz="2200" i="1" dirty="0" smtClean="0">
                <a:solidFill>
                  <a:srgbClr val="C00000"/>
                </a:solidFill>
              </a:rPr>
              <a:t>binary</a:t>
            </a:r>
            <a:r>
              <a:rPr lang="en-US" sz="2200" dirty="0" smtClean="0"/>
              <a:t>, packet-based protocol, whereas HTTP/1 is entirely </a:t>
            </a:r>
            <a:r>
              <a:rPr lang="en-US" sz="2200" u="sng" dirty="0" smtClean="0"/>
              <a:t>text-based</a:t>
            </a:r>
            <a:r>
              <a:rPr lang="en-US" sz="2200" dirty="0" smtClean="0"/>
              <a:t>.</a:t>
            </a:r>
          </a:p>
          <a:p>
            <a:r>
              <a:rPr lang="en-US" sz="2200" dirty="0" smtClean="0"/>
              <a:t>HTTP/2 moves to a </a:t>
            </a:r>
            <a:r>
              <a:rPr lang="en-US" sz="2200" i="1" dirty="0" smtClean="0">
                <a:solidFill>
                  <a:srgbClr val="C00000"/>
                </a:solidFill>
              </a:rPr>
              <a:t>full binary protocol</a:t>
            </a:r>
            <a:r>
              <a:rPr lang="en-US" sz="2200" dirty="0" smtClean="0"/>
              <a:t>, in which HTTP messages are split and sent in clearly defined frames.</a:t>
            </a:r>
          </a:p>
          <a:p>
            <a:r>
              <a:rPr lang="en-US" sz="2200" dirty="0" smtClean="0"/>
              <a:t>All HTTP/2 messages effectively use chunked encoding as standard, and this doesn’t need to be set explicitly.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HTTP/2 and Developers</a:t>
            </a:r>
            <a:endParaRPr lang="en-US" dirty="0"/>
          </a:p>
        </p:txBody>
      </p:sp>
      <p:sp>
        <p:nvSpPr>
          <p:cNvPr id="3" name="Content Placeholder 2"/>
          <p:cNvSpPr>
            <a:spLocks noGrp="1"/>
          </p:cNvSpPr>
          <p:nvPr>
            <p:ph idx="1"/>
          </p:nvPr>
        </p:nvSpPr>
        <p:spPr/>
        <p:txBody>
          <a:bodyPr/>
          <a:lstStyle/>
          <a:p>
            <a:r>
              <a:rPr lang="en-US" sz="2200" dirty="0" smtClean="0"/>
              <a:t>In many ways, HTTP/2 is like HTTPS in that it effectively wraps standard HTTP messages in a </a:t>
            </a:r>
            <a:r>
              <a:rPr lang="en-US" sz="2200" i="1" dirty="0" smtClean="0">
                <a:solidFill>
                  <a:srgbClr val="C00000"/>
                </a:solidFill>
              </a:rPr>
              <a:t>special format</a:t>
            </a:r>
            <a:r>
              <a:rPr lang="en-US" sz="2200" dirty="0" smtClean="0"/>
              <a:t> before sending and unwraps them after receiving.</a:t>
            </a:r>
          </a:p>
          <a:p>
            <a:r>
              <a:rPr lang="en-US" sz="2200" dirty="0" smtClean="0"/>
              <a:t>Therefore, although the client (</a:t>
            </a:r>
            <a:r>
              <a:rPr lang="en-US" sz="2200" i="1" dirty="0" smtClean="0">
                <a:solidFill>
                  <a:srgbClr val="C00000"/>
                </a:solidFill>
              </a:rPr>
              <a:t>web browser</a:t>
            </a:r>
            <a:r>
              <a:rPr lang="en-US" sz="2200" dirty="0" smtClean="0"/>
              <a:t>) and server (</a:t>
            </a:r>
            <a:r>
              <a:rPr lang="en-US" sz="2200" u="sng" dirty="0" smtClean="0"/>
              <a:t>web server</a:t>
            </a:r>
            <a:r>
              <a:rPr lang="en-US" sz="2200" dirty="0" smtClean="0"/>
              <a:t>) need to know the exact details to send messages back and forth, </a:t>
            </a:r>
            <a:r>
              <a:rPr lang="en-US" sz="2200" u="sng" dirty="0" smtClean="0"/>
              <a:t>higher-level applications</a:t>
            </a:r>
            <a:r>
              <a:rPr lang="en-US" sz="2200" dirty="0" smtClean="0"/>
              <a:t> don’t need to treat these versions too differently, because the underlying concepts of HTTP that they use are similar.</a:t>
            </a:r>
          </a:p>
          <a:p>
            <a:r>
              <a:rPr lang="en-US" sz="2200" dirty="0" smtClean="0"/>
              <a:t>The </a:t>
            </a:r>
            <a:r>
              <a:rPr lang="en-US" sz="2200" i="1" dirty="0" smtClean="0">
                <a:solidFill>
                  <a:srgbClr val="C00000"/>
                </a:solidFill>
              </a:rPr>
              <a:t>binary representation</a:t>
            </a:r>
            <a:r>
              <a:rPr lang="en-US" sz="2200" dirty="0" smtClean="0"/>
              <a:t> of HTTP/2 is for the </a:t>
            </a:r>
            <a:r>
              <a:rPr lang="en-US" sz="2200" u="sng" dirty="0" smtClean="0"/>
              <a:t>sending</a:t>
            </a:r>
            <a:r>
              <a:rPr lang="en-US" sz="2200" dirty="0" smtClean="0"/>
              <a:t> and </a:t>
            </a:r>
            <a:r>
              <a:rPr lang="en-US" sz="2200" u="sng" dirty="0" smtClean="0"/>
              <a:t>receiving</a:t>
            </a:r>
            <a:r>
              <a:rPr lang="en-US" sz="2200" dirty="0" smtClean="0"/>
              <a:t> of messages, but the messages themselves are similar to older HTTP/1 messages. The binary framing usually is handled by the lower-level client or libraries (web browser or web server).</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Implementation Steps</a:t>
            </a:r>
            <a:endParaRPr lang="en-US" dirty="0"/>
          </a:p>
        </p:txBody>
      </p:sp>
      <p:sp>
        <p:nvSpPr>
          <p:cNvPr id="3" name="Content Placeholder 2"/>
          <p:cNvSpPr>
            <a:spLocks noGrp="1"/>
          </p:cNvSpPr>
          <p:nvPr>
            <p:ph idx="1"/>
          </p:nvPr>
        </p:nvSpPr>
        <p:spPr>
          <a:xfrm>
            <a:off x="457200" y="1600200"/>
            <a:ext cx="5638800" cy="4525963"/>
          </a:xfrm>
        </p:spPr>
        <p:txBody>
          <a:bodyPr>
            <a:noAutofit/>
          </a:bodyPr>
          <a:lstStyle/>
          <a:p>
            <a:r>
              <a:rPr lang="en-US" sz="2000" dirty="0" smtClean="0"/>
              <a:t>Select a platform.</a:t>
            </a:r>
          </a:p>
          <a:p>
            <a:r>
              <a:rPr lang="en-US" sz="2000" dirty="0" smtClean="0"/>
              <a:t>Select a framework.</a:t>
            </a:r>
          </a:p>
          <a:p>
            <a:r>
              <a:rPr lang="en-US" sz="2000" dirty="0" smtClean="0"/>
              <a:t>Import </a:t>
            </a:r>
            <a:r>
              <a:rPr lang="en-US" sz="2000" b="1" dirty="0" smtClean="0"/>
              <a:t>HTTP/2 server</a:t>
            </a:r>
            <a:r>
              <a:rPr lang="en-US" sz="2000" dirty="0" smtClean="0"/>
              <a:t> and support libraries.</a:t>
            </a:r>
          </a:p>
          <a:p>
            <a:r>
              <a:rPr lang="en-US" sz="2000" dirty="0" smtClean="0"/>
              <a:t>Create .proto file.</a:t>
            </a:r>
          </a:p>
          <a:p>
            <a:r>
              <a:rPr lang="en-US" sz="2000" dirty="0" smtClean="0"/>
              <a:t>Generate server skeleton and client stub from .proto file using </a:t>
            </a:r>
            <a:r>
              <a:rPr lang="en-US" sz="2000" dirty="0" err="1" smtClean="0"/>
              <a:t>protoc</a:t>
            </a:r>
            <a:r>
              <a:rPr lang="en-US" sz="2000" dirty="0" smtClean="0"/>
              <a:t> compiler.</a:t>
            </a:r>
          </a:p>
          <a:p>
            <a:r>
              <a:rPr lang="en-US" sz="2000" dirty="0" smtClean="0"/>
              <a:t>Implement API functions.</a:t>
            </a:r>
          </a:p>
          <a:p>
            <a:r>
              <a:rPr lang="en-US" sz="2000" dirty="0" smtClean="0"/>
              <a:t>Implement routing for each URL (map URLs to API functions).</a:t>
            </a:r>
          </a:p>
          <a:p>
            <a:r>
              <a:rPr lang="en-US" sz="2000" dirty="0" smtClean="0"/>
              <a:t>Start local API server.</a:t>
            </a:r>
          </a:p>
          <a:p>
            <a:r>
              <a:rPr lang="en-US" sz="2000" dirty="0" smtClean="0"/>
              <a:t>Invoke local APIs.</a:t>
            </a:r>
          </a:p>
          <a:p>
            <a:r>
              <a:rPr lang="en-US" sz="2000" dirty="0" smtClean="0"/>
              <a:t>Deploy APIs to production server.</a:t>
            </a:r>
          </a:p>
          <a:p>
            <a:r>
              <a:rPr lang="en-US" sz="2000" dirty="0" smtClean="0"/>
              <a:t>Invoke production APIs.</a:t>
            </a:r>
          </a:p>
        </p:txBody>
      </p:sp>
      <p:pic>
        <p:nvPicPr>
          <p:cNvPr id="1028" name="Picture 4" descr="https://www.zacitspolu.eu/wp/wp-content/uploads/2022/01/sbs_original.png"/>
          <p:cNvPicPr>
            <a:picLocks noChangeAspect="1" noChangeArrowheads="1"/>
          </p:cNvPicPr>
          <p:nvPr/>
        </p:nvPicPr>
        <p:blipFill>
          <a:blip r:embed="rId2" cstate="print"/>
          <a:srcRect/>
          <a:stretch>
            <a:fillRect/>
          </a:stretch>
        </p:blipFill>
        <p:spPr bwMode="auto">
          <a:xfrm>
            <a:off x="6324600" y="2514600"/>
            <a:ext cx="2299224" cy="2317008"/>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 [4]</a:t>
            </a:r>
            <a:endParaRPr lang="en-US" dirty="0"/>
          </a:p>
        </p:txBody>
      </p:sp>
      <p:sp>
        <p:nvSpPr>
          <p:cNvPr id="3" name="Content Placeholder 2"/>
          <p:cNvSpPr>
            <a:spLocks noGrp="1"/>
          </p:cNvSpPr>
          <p:nvPr>
            <p:ph idx="1"/>
          </p:nvPr>
        </p:nvSpPr>
        <p:spPr/>
        <p:txBody>
          <a:bodyPr/>
          <a:lstStyle/>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r>
              <a:rPr lang="en-US" sz="1600" dirty="0" err="1" smtClean="0">
                <a:latin typeface="Consolas" pitchFamily="49" charset="0"/>
              </a:rPr>
              <a:t>mkdir</a:t>
            </a:r>
            <a:r>
              <a:rPr lang="en-US" sz="1600" dirty="0" smtClean="0">
                <a:latin typeface="Consolas" pitchFamily="49" charset="0"/>
              </a:rPr>
              <a:t> recipe-</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cd</a:t>
            </a:r>
            <a:r>
              <a:rPr lang="en-US" sz="1600" dirty="0" smtClean="0">
                <a:latin typeface="Consolas" pitchFamily="49" charset="0"/>
              </a:rPr>
              <a:t> recipe-</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npm</a:t>
            </a:r>
            <a:r>
              <a:rPr lang="en-US" sz="1600" dirty="0" smtClean="0">
                <a:latin typeface="Consolas" pitchFamily="49" charset="0"/>
              </a:rPr>
              <a:t> init -y</a:t>
            </a:r>
          </a:p>
          <a:p>
            <a:r>
              <a:rPr lang="en-US" sz="1600" dirty="0" err="1" smtClean="0">
                <a:latin typeface="Consolas" pitchFamily="49" charset="0"/>
              </a:rPr>
              <a:t>cd</a:t>
            </a:r>
            <a:r>
              <a:rPr lang="en-US" sz="1600" dirty="0" smtClean="0">
                <a:latin typeface="Consolas" pitchFamily="49" charset="0"/>
              </a:rPr>
              <a:t> ..</a:t>
            </a:r>
          </a:p>
          <a:p>
            <a:r>
              <a:rPr lang="en-US" sz="1600" dirty="0" err="1" smtClean="0">
                <a:latin typeface="Consolas" pitchFamily="49" charset="0"/>
              </a:rPr>
              <a:t>mkdir</a:t>
            </a:r>
            <a:r>
              <a:rPr lang="en-US" sz="1600" dirty="0" smtClean="0">
                <a:latin typeface="Consolas" pitchFamily="49" charset="0"/>
              </a:rPr>
              <a:t> web-</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cd</a:t>
            </a:r>
            <a:r>
              <a:rPr lang="en-US" sz="1600" dirty="0" smtClean="0">
                <a:latin typeface="Consolas" pitchFamily="49" charset="0"/>
              </a:rPr>
              <a:t> web-</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npm</a:t>
            </a:r>
            <a:r>
              <a:rPr lang="en-US" sz="1600" dirty="0" smtClean="0">
                <a:latin typeface="Consolas" pitchFamily="49" charset="0"/>
              </a:rPr>
              <a:t> init -y</a:t>
            </a:r>
          </a:p>
          <a:p>
            <a:r>
              <a:rPr lang="en-US" sz="1600" dirty="0" err="1" smtClean="0">
                <a:latin typeface="Consolas" pitchFamily="49" charset="0"/>
              </a:rPr>
              <a:t>cd</a:t>
            </a:r>
            <a:r>
              <a:rPr lang="en-US" sz="1600" dirty="0" smtClean="0">
                <a:latin typeface="Consolas" pitchFamily="49" charset="0"/>
              </a:rPr>
              <a:t> ..</a:t>
            </a:r>
          </a:p>
          <a:p>
            <a:r>
              <a:rPr lang="en-US" sz="1600" dirty="0" err="1" smtClean="0">
                <a:latin typeface="Consolas" pitchFamily="49" charset="0"/>
              </a:rPr>
              <a:t>mkdir</a:t>
            </a:r>
            <a:r>
              <a:rPr lang="en-US" sz="1600" dirty="0" smtClean="0">
                <a:latin typeface="Consolas" pitchFamily="49" charset="0"/>
              </a:rPr>
              <a:t> shared</a:t>
            </a:r>
          </a:p>
        </p:txBody>
      </p:sp>
      <p:pic>
        <p:nvPicPr>
          <p:cNvPr id="1026" name="Picture 2"/>
          <p:cNvPicPr>
            <a:picLocks noChangeAspect="1" noChangeArrowheads="1"/>
          </p:cNvPicPr>
          <p:nvPr/>
        </p:nvPicPr>
        <p:blipFill>
          <a:blip r:embed="rId2" cstate="print"/>
          <a:srcRect/>
          <a:stretch>
            <a:fillRect/>
          </a:stretch>
        </p:blipFill>
        <p:spPr bwMode="auto">
          <a:xfrm>
            <a:off x="1808163" y="1828800"/>
            <a:ext cx="5527675" cy="1192213"/>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Create </a:t>
            </a:r>
            <a:r>
              <a:rPr lang="en-US" sz="3800" dirty="0" smtClean="0">
                <a:latin typeface="Consolas" pitchFamily="49" charset="0"/>
              </a:rPr>
              <a:t>shared/</a:t>
            </a:r>
            <a:r>
              <a:rPr lang="en-US" sz="3800" dirty="0" err="1" smtClean="0">
                <a:latin typeface="Consolas" pitchFamily="49" charset="0"/>
              </a:rPr>
              <a:t>grpc-recipe.proto</a:t>
            </a:r>
            <a:r>
              <a:rPr lang="en-US" sz="3800" dirty="0" smtClean="0">
                <a:latin typeface="Consolas" pitchFamily="49" charset="0"/>
              </a:rPr>
              <a:t> (I)</a:t>
            </a:r>
            <a:endParaRPr lang="en-US" sz="3800" dirty="0"/>
          </a:p>
        </p:txBody>
      </p:sp>
      <p:sp>
        <p:nvSpPr>
          <p:cNvPr id="4" name="Rectangle 3"/>
          <p:cNvSpPr/>
          <p:nvPr/>
        </p:nvSpPr>
        <p:spPr>
          <a:xfrm>
            <a:off x="533400" y="2157948"/>
            <a:ext cx="8077200" cy="3785652"/>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syntax</a:t>
            </a:r>
            <a:r>
              <a:rPr lang="en-US" sz="1600" dirty="0" smtClean="0">
                <a:solidFill>
                  <a:srgbClr val="D4D4D4"/>
                </a:solidFill>
                <a:latin typeface="Consolas"/>
              </a:rPr>
              <a:t> = </a:t>
            </a:r>
            <a:r>
              <a:rPr lang="en-US" sz="1600" dirty="0" smtClean="0">
                <a:solidFill>
                  <a:srgbClr val="CE9178"/>
                </a:solidFill>
                <a:latin typeface="Consolas"/>
              </a:rPr>
              <a:t>"proto3"</a:t>
            </a:r>
            <a:r>
              <a:rPr lang="en-US" sz="1600" dirty="0" smtClean="0">
                <a:solidFill>
                  <a:srgbClr val="D4D4D4"/>
                </a:solidFill>
                <a:latin typeface="Consolas"/>
              </a:rPr>
              <a:t>;</a:t>
            </a:r>
          </a:p>
          <a:p>
            <a:r>
              <a:rPr lang="en-US" sz="1600" dirty="0" smtClean="0">
                <a:solidFill>
                  <a:srgbClr val="569CD6"/>
                </a:solidFill>
                <a:latin typeface="Consolas"/>
              </a:rPr>
              <a:t>package</a:t>
            </a:r>
            <a:r>
              <a:rPr lang="en-US" sz="1600" dirty="0" smtClean="0">
                <a:solidFill>
                  <a:srgbClr val="D4D4D4"/>
                </a:solidFill>
                <a:latin typeface="Consolas"/>
              </a:rPr>
              <a:t> </a:t>
            </a:r>
            <a:r>
              <a:rPr lang="en-US" sz="1600" dirty="0" smtClean="0">
                <a:solidFill>
                  <a:srgbClr val="CE9178"/>
                </a:solidFill>
                <a:latin typeface="Consolas"/>
              </a:rPr>
              <a:t>recipe</a:t>
            </a:r>
            <a:r>
              <a:rPr lang="en-US" sz="1600" dirty="0" smtClean="0">
                <a:solidFill>
                  <a:srgbClr val="D4D4D4"/>
                </a:solidFill>
                <a:latin typeface="Consolas"/>
              </a:rPr>
              <a:t>;</a:t>
            </a:r>
          </a:p>
          <a:p>
            <a:r>
              <a:rPr lang="en-US" sz="1600" dirty="0" smtClean="0">
                <a:solidFill>
                  <a:srgbClr val="569CD6"/>
                </a:solidFill>
                <a:latin typeface="Consolas"/>
              </a:rPr>
              <a:t>service</a:t>
            </a:r>
            <a:r>
              <a:rPr lang="en-US" sz="1600" dirty="0" smtClean="0">
                <a:solidFill>
                  <a:srgbClr val="D4D4D4"/>
                </a:solidFill>
                <a:latin typeface="Consolas"/>
              </a:rPr>
              <a:t> </a:t>
            </a:r>
            <a:r>
              <a:rPr lang="en-US" sz="1600" dirty="0" err="1" smtClean="0">
                <a:solidFill>
                  <a:srgbClr val="4EC9B0"/>
                </a:solidFill>
                <a:latin typeface="Consolas"/>
              </a:rPr>
              <a:t>RecipeService</a:t>
            </a:r>
            <a:r>
              <a:rPr lang="en-US" sz="1600" dirty="0" smtClean="0">
                <a:solidFill>
                  <a:srgbClr val="D4D4D4"/>
                </a:solidFill>
                <a:latin typeface="Consolas"/>
              </a:rPr>
              <a:t> { </a:t>
            </a:r>
            <a:r>
              <a:rPr lang="en-US" sz="1600" dirty="0" smtClean="0">
                <a:solidFill>
                  <a:srgbClr val="6A9955"/>
                </a:solidFill>
                <a:latin typeface="Consolas"/>
              </a:rPr>
              <a:t>// A definition for a service named </a:t>
            </a:r>
            <a:r>
              <a:rPr lang="en-US" sz="1600" dirty="0" err="1" smtClean="0">
                <a:solidFill>
                  <a:srgbClr val="6A9955"/>
                </a:solidFill>
                <a:latin typeface="Consolas"/>
              </a:rPr>
              <a:t>RecipeService</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569CD6"/>
                </a:solidFill>
                <a:latin typeface="Consolas"/>
              </a:rPr>
              <a:t>rpc</a:t>
            </a:r>
            <a:r>
              <a:rPr lang="en-US" sz="1600" dirty="0" smtClean="0">
                <a:solidFill>
                  <a:srgbClr val="D4D4D4"/>
                </a:solidFill>
                <a:latin typeface="Consolas"/>
              </a:rPr>
              <a:t> </a:t>
            </a:r>
            <a:r>
              <a:rPr lang="en-US" sz="1600" dirty="0" err="1" smtClean="0">
                <a:solidFill>
                  <a:srgbClr val="DCDCAA"/>
                </a:solidFill>
                <a:latin typeface="Consolas"/>
              </a:rPr>
              <a:t>GetRecipe</a:t>
            </a:r>
            <a:r>
              <a:rPr lang="en-US" sz="1600" dirty="0" smtClean="0">
                <a:solidFill>
                  <a:srgbClr val="D4D4D4"/>
                </a:solidFill>
                <a:latin typeface="Consolas"/>
              </a:rPr>
              <a:t>(</a:t>
            </a:r>
            <a:r>
              <a:rPr lang="en-US" sz="1600" dirty="0" err="1" smtClean="0">
                <a:solidFill>
                  <a:srgbClr val="4EC9B0"/>
                </a:solidFill>
                <a:latin typeface="Consolas"/>
              </a:rPr>
              <a:t>RecipeRequest</a:t>
            </a:r>
            <a:r>
              <a:rPr lang="en-US" sz="1600" dirty="0" smtClean="0">
                <a:solidFill>
                  <a:srgbClr val="D4D4D4"/>
                </a:solidFill>
                <a:latin typeface="Consolas"/>
              </a:rPr>
              <a:t>) </a:t>
            </a:r>
            <a:r>
              <a:rPr lang="en-US" sz="1600" dirty="0" smtClean="0">
                <a:solidFill>
                  <a:srgbClr val="569CD6"/>
                </a:solidFill>
                <a:latin typeface="Consolas"/>
              </a:rPr>
              <a:t>returns</a:t>
            </a:r>
            <a:r>
              <a:rPr lang="en-US" sz="1600" dirty="0" smtClean="0">
                <a:solidFill>
                  <a:srgbClr val="D4D4D4"/>
                </a:solidFill>
                <a:latin typeface="Consolas"/>
              </a:rPr>
              <a:t> (</a:t>
            </a:r>
            <a:r>
              <a:rPr lang="en-US" sz="1600" dirty="0" smtClean="0">
                <a:solidFill>
                  <a:srgbClr val="4EC9B0"/>
                </a:solidFill>
                <a:latin typeface="Consolas"/>
              </a:rPr>
              <a:t>Recipe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569CD6"/>
                </a:solidFill>
                <a:latin typeface="Consolas"/>
              </a:rPr>
              <a:t>rpc</a:t>
            </a:r>
            <a:r>
              <a:rPr lang="en-US" sz="1600" dirty="0" smtClean="0">
                <a:solidFill>
                  <a:srgbClr val="D4D4D4"/>
                </a:solidFill>
                <a:latin typeface="Consolas"/>
              </a:rPr>
              <a:t> </a:t>
            </a:r>
            <a:r>
              <a:rPr lang="en-US" sz="1600" dirty="0" err="1" smtClean="0">
                <a:solidFill>
                  <a:srgbClr val="DCDCAA"/>
                </a:solidFill>
                <a:latin typeface="Consolas"/>
              </a:rPr>
              <a:t>GetMetaData</a:t>
            </a:r>
            <a:r>
              <a:rPr lang="en-US" sz="1600" dirty="0" smtClean="0">
                <a:solidFill>
                  <a:srgbClr val="D4D4D4"/>
                </a:solidFill>
                <a:latin typeface="Consolas"/>
              </a:rPr>
              <a:t>(</a:t>
            </a:r>
            <a:r>
              <a:rPr lang="en-US" sz="1600" dirty="0" smtClean="0">
                <a:solidFill>
                  <a:srgbClr val="4EC9B0"/>
                </a:solidFill>
                <a:latin typeface="Consolas"/>
              </a:rPr>
              <a:t>Empty</a:t>
            </a:r>
            <a:r>
              <a:rPr lang="en-US" sz="1600" dirty="0" smtClean="0">
                <a:solidFill>
                  <a:srgbClr val="D4D4D4"/>
                </a:solidFill>
                <a:latin typeface="Consolas"/>
              </a:rPr>
              <a:t>) </a:t>
            </a:r>
            <a:r>
              <a:rPr lang="en-US" sz="1600" dirty="0" smtClean="0">
                <a:solidFill>
                  <a:srgbClr val="569CD6"/>
                </a:solidFill>
                <a:latin typeface="Consolas"/>
              </a:rPr>
              <a:t>returns</a:t>
            </a:r>
            <a:r>
              <a:rPr lang="en-US" sz="1600" dirty="0" smtClean="0">
                <a:solidFill>
                  <a:srgbClr val="D4D4D4"/>
                </a:solidFill>
                <a:latin typeface="Consolas"/>
              </a:rPr>
              <a:t> (</a:t>
            </a:r>
            <a:r>
              <a:rPr lang="en-US" sz="1600" dirty="0" smtClean="0">
                <a:solidFill>
                  <a:srgbClr val="4EC9B0"/>
                </a:solidFill>
                <a:latin typeface="Consolas"/>
              </a:rPr>
              <a:t>Meta</a:t>
            </a:r>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message</a:t>
            </a:r>
            <a:r>
              <a:rPr lang="en-US" sz="1600" dirty="0" smtClean="0">
                <a:solidFill>
                  <a:srgbClr val="D4D4D4"/>
                </a:solidFill>
                <a:latin typeface="Consolas"/>
              </a:rPr>
              <a:t> </a:t>
            </a:r>
            <a:r>
              <a:rPr lang="en-US" sz="1600" dirty="0" smtClean="0">
                <a:solidFill>
                  <a:srgbClr val="4EC9B0"/>
                </a:solidFill>
                <a:latin typeface="Consolas"/>
              </a:rPr>
              <a:t>Recipe</a:t>
            </a:r>
            <a:r>
              <a:rPr lang="en-US" sz="1600" dirty="0" smtClean="0">
                <a:solidFill>
                  <a:srgbClr val="D4D4D4"/>
                </a:solidFill>
                <a:latin typeface="Consolas"/>
              </a:rPr>
              <a:t> { </a:t>
            </a:r>
            <a:r>
              <a:rPr lang="en-US" sz="1600" dirty="0" smtClean="0">
                <a:solidFill>
                  <a:srgbClr val="6A9955"/>
                </a:solidFill>
                <a:latin typeface="Consolas"/>
              </a:rPr>
              <a:t>// A message of type Recipe.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569CD6"/>
                </a:solidFill>
                <a:latin typeface="Consolas"/>
              </a:rPr>
              <a:t>int32</a:t>
            </a:r>
            <a:r>
              <a:rPr lang="en-US" sz="1600" dirty="0" smtClean="0">
                <a:solidFill>
                  <a:srgbClr val="D4D4D4"/>
                </a:solidFill>
                <a:latin typeface="Consolas"/>
              </a:rPr>
              <a:t> </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 </a:t>
            </a:r>
            <a:r>
              <a:rPr lang="en-US" sz="1600" dirty="0" smtClean="0">
                <a:solidFill>
                  <a:srgbClr val="6A9955"/>
                </a:solidFill>
                <a:latin typeface="Consolas"/>
              </a:rPr>
              <a:t>// A field named id that can be a 32-bit integer.</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 </a:t>
            </a:r>
            <a:r>
              <a:rPr lang="en-US" sz="1600" dirty="0" smtClean="0">
                <a:solidFill>
                  <a:srgbClr val="B5CEA8"/>
                </a:solidFill>
                <a:latin typeface="Consolas"/>
              </a:rPr>
              <a:t>2</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steps</a:t>
            </a:r>
            <a:r>
              <a:rPr lang="en-US" sz="1600" dirty="0" smtClean="0">
                <a:solidFill>
                  <a:srgbClr val="D4D4D4"/>
                </a:solidFill>
                <a:latin typeface="Consolas"/>
              </a:rPr>
              <a:t> = </a:t>
            </a:r>
            <a:r>
              <a:rPr lang="en-US" sz="1600" dirty="0" smtClean="0">
                <a:solidFill>
                  <a:srgbClr val="B5CEA8"/>
                </a:solidFill>
                <a:latin typeface="Consolas"/>
              </a:rPr>
              <a:t>3</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repeated</a:t>
            </a:r>
            <a:r>
              <a:rPr lang="en-US" sz="1600" dirty="0" smtClean="0">
                <a:solidFill>
                  <a:srgbClr val="D4D4D4"/>
                </a:solidFill>
                <a:latin typeface="Consolas"/>
              </a:rPr>
              <a:t> </a:t>
            </a:r>
            <a:r>
              <a:rPr lang="en-US" sz="1600" dirty="0" smtClean="0">
                <a:solidFill>
                  <a:srgbClr val="569CD6"/>
                </a:solidFill>
                <a:latin typeface="Consolas"/>
              </a:rPr>
              <a:t>Ingredient</a:t>
            </a:r>
            <a:r>
              <a:rPr lang="en-US" sz="1600" dirty="0" smtClean="0">
                <a:solidFill>
                  <a:srgbClr val="D4D4D4"/>
                </a:solidFill>
                <a:latin typeface="Consolas"/>
              </a:rPr>
              <a:t> </a:t>
            </a:r>
            <a:r>
              <a:rPr lang="en-US" sz="1600" dirty="0" smtClean="0">
                <a:solidFill>
                  <a:srgbClr val="9CDCFE"/>
                </a:solidFill>
                <a:latin typeface="Consolas"/>
              </a:rPr>
              <a:t>ingredients</a:t>
            </a:r>
            <a:r>
              <a:rPr lang="en-US" sz="1600" dirty="0" smtClean="0">
                <a:solidFill>
                  <a:srgbClr val="D4D4D4"/>
                </a:solidFill>
                <a:latin typeface="Consolas"/>
              </a:rPr>
              <a:t> = </a:t>
            </a:r>
            <a:r>
              <a:rPr lang="en-US" sz="1600" dirty="0" smtClean="0">
                <a:solidFill>
                  <a:srgbClr val="B5CEA8"/>
                </a:solidFill>
                <a:latin typeface="Consolas"/>
              </a:rPr>
              <a:t>4</a:t>
            </a:r>
            <a:r>
              <a:rPr lang="en-US" sz="1600" dirty="0" smtClean="0">
                <a:solidFill>
                  <a:srgbClr val="D4D4D4"/>
                </a:solidFill>
                <a:latin typeface="Consolas"/>
              </a:rPr>
              <a:t>; </a:t>
            </a:r>
            <a:r>
              <a:rPr lang="en-US" sz="1600" dirty="0" smtClean="0">
                <a:solidFill>
                  <a:srgbClr val="6A9955"/>
                </a:solidFill>
                <a:latin typeface="Consolas"/>
              </a:rPr>
              <a:t>// An array of Recipe messages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in a field named ingredients, the fourth entry for this message.</a:t>
            </a:r>
            <a:endParaRPr lang="en-US" sz="1600" dirty="0" smtClean="0">
              <a:solidFill>
                <a:srgbClr val="D4D4D4"/>
              </a:solidFill>
              <a:latin typeface="Consolas"/>
            </a:endParaRP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Create </a:t>
            </a:r>
            <a:r>
              <a:rPr lang="en-US" sz="3800" dirty="0" smtClean="0">
                <a:latin typeface="Consolas" pitchFamily="49" charset="0"/>
              </a:rPr>
              <a:t>shared/</a:t>
            </a:r>
            <a:r>
              <a:rPr lang="en-US" sz="3800" dirty="0" err="1" smtClean="0">
                <a:latin typeface="Consolas" pitchFamily="49" charset="0"/>
              </a:rPr>
              <a:t>grpc-recipe.proto</a:t>
            </a:r>
            <a:r>
              <a:rPr lang="en-US" sz="3800" dirty="0" smtClean="0">
                <a:latin typeface="Consolas" pitchFamily="49" charset="0"/>
              </a:rPr>
              <a:t> (II)</a:t>
            </a:r>
            <a:endParaRPr lang="en-US" sz="3800" dirty="0"/>
          </a:p>
        </p:txBody>
      </p:sp>
      <p:sp>
        <p:nvSpPr>
          <p:cNvPr id="4" name="Rectangle 3"/>
          <p:cNvSpPr/>
          <p:nvPr/>
        </p:nvSpPr>
        <p:spPr>
          <a:xfrm>
            <a:off x="533400" y="2133600"/>
            <a:ext cx="8077200" cy="424731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message</a:t>
            </a:r>
            <a:r>
              <a:rPr lang="en-US" dirty="0" smtClean="0">
                <a:solidFill>
                  <a:srgbClr val="D4D4D4"/>
                </a:solidFill>
                <a:latin typeface="Consolas"/>
              </a:rPr>
              <a:t> </a:t>
            </a:r>
            <a:r>
              <a:rPr lang="en-US" dirty="0" smtClean="0">
                <a:solidFill>
                  <a:srgbClr val="4EC9B0"/>
                </a:solidFill>
                <a:latin typeface="Consolas"/>
              </a:rPr>
              <a:t>Ingredient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int32</a:t>
            </a:r>
            <a:r>
              <a:rPr lang="en-US" dirty="0" smtClean="0">
                <a:solidFill>
                  <a:srgbClr val="D4D4D4"/>
                </a:solidFill>
                <a:latin typeface="Consolas"/>
              </a:rPr>
              <a:t> </a:t>
            </a:r>
            <a:r>
              <a:rPr lang="en-US" dirty="0" smtClean="0">
                <a:solidFill>
                  <a:srgbClr val="9CDCFE"/>
                </a:solidFill>
                <a:latin typeface="Consolas"/>
              </a:rPr>
              <a:t>id</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569CD6"/>
                </a:solidFill>
                <a:latin typeface="Consolas"/>
              </a:rPr>
              <a:t>string</a:t>
            </a:r>
            <a:r>
              <a:rPr lang="en-US" dirty="0" smtClean="0">
                <a:solidFill>
                  <a:srgbClr val="D4D4D4"/>
                </a:solidFill>
                <a:latin typeface="Consolas"/>
              </a:rPr>
              <a:t> </a:t>
            </a:r>
            <a:r>
              <a:rPr lang="en-US" dirty="0" smtClean="0">
                <a:solidFill>
                  <a:srgbClr val="9CDCFE"/>
                </a:solidFill>
                <a:latin typeface="Consolas"/>
              </a:rPr>
              <a:t>name</a:t>
            </a:r>
            <a:r>
              <a:rPr lang="en-US" dirty="0" smtClean="0">
                <a:solidFill>
                  <a:srgbClr val="D4D4D4"/>
                </a:solidFill>
                <a:latin typeface="Consolas"/>
              </a:rPr>
              <a:t> = </a:t>
            </a:r>
            <a:r>
              <a:rPr lang="en-US" dirty="0" smtClean="0">
                <a:solidFill>
                  <a:srgbClr val="B5CEA8"/>
                </a:solidFill>
                <a:latin typeface="Consolas"/>
              </a:rPr>
              <a:t>2</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569CD6"/>
                </a:solidFill>
                <a:latin typeface="Consolas"/>
              </a:rPr>
              <a:t>string</a:t>
            </a:r>
            <a:r>
              <a:rPr lang="en-US" dirty="0" smtClean="0">
                <a:solidFill>
                  <a:srgbClr val="D4D4D4"/>
                </a:solidFill>
                <a:latin typeface="Consolas"/>
              </a:rPr>
              <a:t> </a:t>
            </a:r>
            <a:r>
              <a:rPr lang="en-US" dirty="0" smtClean="0">
                <a:solidFill>
                  <a:srgbClr val="9CDCFE"/>
                </a:solidFill>
                <a:latin typeface="Consolas"/>
              </a:rPr>
              <a:t>quantity</a:t>
            </a:r>
            <a:r>
              <a:rPr lang="en-US" dirty="0" smtClean="0">
                <a:solidFill>
                  <a:srgbClr val="D4D4D4"/>
                </a:solidFill>
                <a:latin typeface="Consolas"/>
              </a:rPr>
              <a:t> = </a:t>
            </a:r>
            <a:r>
              <a:rPr lang="en-US" dirty="0" smtClean="0">
                <a:solidFill>
                  <a:srgbClr val="B5CEA8"/>
                </a:solidFill>
                <a:latin typeface="Consolas"/>
              </a:rPr>
              <a:t>3</a:t>
            </a:r>
            <a:r>
              <a:rPr lang="en-US" dirty="0" smtClean="0">
                <a:solidFill>
                  <a:srgbClr val="D4D4D4"/>
                </a:solidFill>
                <a:latin typeface="Consolas"/>
              </a:rPr>
              <a:t>;</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message</a:t>
            </a:r>
            <a:r>
              <a:rPr lang="en-US" dirty="0" smtClean="0">
                <a:solidFill>
                  <a:srgbClr val="D4D4D4"/>
                </a:solidFill>
                <a:latin typeface="Consolas"/>
              </a:rPr>
              <a:t> </a:t>
            </a:r>
            <a:r>
              <a:rPr lang="en-US" dirty="0" err="1" smtClean="0">
                <a:solidFill>
                  <a:srgbClr val="4EC9B0"/>
                </a:solidFill>
                <a:latin typeface="Consolas"/>
              </a:rPr>
              <a:t>RecipeRequest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int32</a:t>
            </a:r>
            <a:r>
              <a:rPr lang="en-US" dirty="0" smtClean="0">
                <a:solidFill>
                  <a:srgbClr val="D4D4D4"/>
                </a:solidFill>
                <a:latin typeface="Consolas"/>
              </a:rPr>
              <a:t> </a:t>
            </a:r>
            <a:r>
              <a:rPr lang="en-US" dirty="0" smtClean="0">
                <a:solidFill>
                  <a:srgbClr val="9CDCFE"/>
                </a:solidFill>
                <a:latin typeface="Consolas"/>
              </a:rPr>
              <a:t>id</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message</a:t>
            </a:r>
            <a:r>
              <a:rPr lang="en-US" dirty="0" smtClean="0">
                <a:solidFill>
                  <a:srgbClr val="D4D4D4"/>
                </a:solidFill>
                <a:latin typeface="Consolas"/>
              </a:rPr>
              <a:t> </a:t>
            </a:r>
            <a:r>
              <a:rPr lang="en-US" dirty="0" smtClean="0">
                <a:solidFill>
                  <a:srgbClr val="4EC9B0"/>
                </a:solidFill>
                <a:latin typeface="Consolas"/>
              </a:rPr>
              <a:t>Meta</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int32</a:t>
            </a:r>
            <a:r>
              <a:rPr lang="en-US" dirty="0" smtClean="0">
                <a:solidFill>
                  <a:srgbClr val="D4D4D4"/>
                </a:solidFill>
                <a:latin typeface="Consolas"/>
              </a:rPr>
              <a:t> </a:t>
            </a:r>
            <a:r>
              <a:rPr lang="en-US" dirty="0" err="1" smtClean="0">
                <a:solidFill>
                  <a:srgbClr val="9CDCFE"/>
                </a:solidFill>
                <a:latin typeface="Consolas"/>
              </a:rPr>
              <a:t>pid</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message</a:t>
            </a:r>
            <a:r>
              <a:rPr lang="en-US" dirty="0" smtClean="0">
                <a:solidFill>
                  <a:srgbClr val="D4D4D4"/>
                </a:solidFill>
                <a:latin typeface="Consolas"/>
              </a:rPr>
              <a:t> </a:t>
            </a:r>
            <a:r>
              <a:rPr lang="en-US" dirty="0" smtClean="0">
                <a:solidFill>
                  <a:srgbClr val="4EC9B0"/>
                </a:solidFill>
                <a:latin typeface="Consolas"/>
              </a:rPr>
              <a:t>Empty</a:t>
            </a:r>
            <a:r>
              <a:rPr lang="en-US" dirty="0" smtClean="0">
                <a:solidFill>
                  <a:srgbClr val="D4D4D4"/>
                </a:solidFill>
                <a:latin typeface="Consolas"/>
              </a:rPr>
              <a:t> {}</a:t>
            </a:r>
            <a:endParaRPr lang="en-US" b="0" dirty="0">
              <a:solidFill>
                <a:srgbClr val="D4D4D4"/>
              </a:solidFill>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3. Create </a:t>
            </a:r>
            <a:r>
              <a:rPr lang="en-US" sz="3800" dirty="0" smtClean="0">
                <a:latin typeface="Consolas" pitchFamily="49" charset="0"/>
              </a:rPr>
              <a:t>recipe-</a:t>
            </a:r>
            <a:r>
              <a:rPr lang="en-US" sz="3800" dirty="0" err="1" smtClean="0">
                <a:latin typeface="Consolas" pitchFamily="49" charset="0"/>
              </a:rPr>
              <a:t>api</a:t>
            </a:r>
            <a:r>
              <a:rPr lang="en-US" sz="3800" dirty="0" smtClean="0">
                <a:latin typeface="Consolas" pitchFamily="49" charset="0"/>
              </a:rPr>
              <a:t>/recipe-api.js (I)</a:t>
            </a:r>
            <a:endParaRPr lang="en-US" sz="3800" dirty="0">
              <a:latin typeface="Consolas" pitchFamily="49" charset="0"/>
            </a:endParaRPr>
          </a:p>
        </p:txBody>
      </p:sp>
      <p:sp>
        <p:nvSpPr>
          <p:cNvPr id="5" name="Rectangle 4"/>
          <p:cNvSpPr/>
          <p:nvPr/>
        </p:nvSpPr>
        <p:spPr>
          <a:xfrm>
            <a:off x="685800" y="2310348"/>
            <a:ext cx="7772400" cy="341632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6A9955"/>
                </a:solidFill>
                <a:latin typeface="Consolas"/>
              </a:rPr>
              <a:t>#!/</a:t>
            </a:r>
            <a:r>
              <a:rPr lang="en-US" dirty="0" err="1" smtClean="0">
                <a:solidFill>
                  <a:srgbClr val="6A9955"/>
                </a:solidFill>
                <a:latin typeface="Consolas"/>
              </a:rPr>
              <a:t>usr</a:t>
            </a:r>
            <a:r>
              <a:rPr lang="en-US" dirty="0" smtClean="0">
                <a:solidFill>
                  <a:srgbClr val="6A9955"/>
                </a:solidFill>
                <a:latin typeface="Consolas"/>
              </a:rPr>
              <a:t>/bin/</a:t>
            </a:r>
            <a:r>
              <a:rPr lang="en-US" dirty="0" err="1" smtClean="0">
                <a:solidFill>
                  <a:srgbClr val="6A9955"/>
                </a:solidFill>
                <a:latin typeface="Consolas"/>
              </a:rPr>
              <a:t>env</a:t>
            </a:r>
            <a:r>
              <a:rPr lang="en-US" dirty="0" smtClean="0">
                <a:solidFill>
                  <a:srgbClr val="6A9955"/>
                </a:solidFill>
                <a:latin typeface="Consolas"/>
              </a:rPr>
              <a:t> node</a:t>
            </a:r>
            <a:endParaRPr lang="en-US" dirty="0" smtClean="0">
              <a:solidFill>
                <a:srgbClr val="D4D4D4"/>
              </a:solidFill>
              <a:latin typeface="Consolas"/>
            </a:endParaRPr>
          </a:p>
          <a:p>
            <a:r>
              <a:rPr lang="en-US" dirty="0" smtClean="0">
                <a:solidFill>
                  <a:srgbClr val="6A9955"/>
                </a:solidFill>
                <a:latin typeface="Consolas"/>
              </a:rPr>
              <a:t>// </a:t>
            </a:r>
            <a:r>
              <a:rPr lang="en-US" dirty="0" err="1" smtClean="0">
                <a:solidFill>
                  <a:srgbClr val="6A9955"/>
                </a:solidFill>
                <a:latin typeface="Consolas"/>
              </a:rPr>
              <a:t>npm</a:t>
            </a:r>
            <a:r>
              <a:rPr lang="en-US" dirty="0" smtClean="0">
                <a:solidFill>
                  <a:srgbClr val="6A9955"/>
                </a:solidFill>
                <a:latin typeface="Consolas"/>
              </a:rPr>
              <a:t> install @</a:t>
            </a:r>
            <a:r>
              <a:rPr lang="en-US" dirty="0" err="1" smtClean="0">
                <a:solidFill>
                  <a:srgbClr val="6A9955"/>
                </a:solidFill>
                <a:latin typeface="Consolas"/>
              </a:rPr>
              <a:t>grpc</a:t>
            </a:r>
            <a:r>
              <a:rPr lang="en-US" dirty="0" smtClean="0">
                <a:solidFill>
                  <a:srgbClr val="6A9955"/>
                </a:solidFill>
                <a:latin typeface="Consolas"/>
              </a:rPr>
              <a:t>/grpc-js@1.1 @</a:t>
            </a:r>
            <a:r>
              <a:rPr lang="en-US" dirty="0" err="1" smtClean="0">
                <a:solidFill>
                  <a:srgbClr val="6A9955"/>
                </a:solidFill>
                <a:latin typeface="Consolas"/>
              </a:rPr>
              <a:t>grpc</a:t>
            </a:r>
            <a:r>
              <a:rPr lang="en-US" dirty="0" smtClean="0">
                <a:solidFill>
                  <a:srgbClr val="6A9955"/>
                </a:solidFill>
                <a:latin typeface="Consolas"/>
              </a:rPr>
              <a:t>/proto-loader@0.5</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grpc</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grpc</a:t>
            </a:r>
            <a:r>
              <a:rPr lang="en-US" dirty="0" smtClean="0">
                <a:solidFill>
                  <a:srgbClr val="CE9178"/>
                </a:solidFill>
                <a:latin typeface="Consolas"/>
              </a:rPr>
              <a:t>/</a:t>
            </a:r>
            <a:r>
              <a:rPr lang="en-US" dirty="0" err="1" smtClean="0">
                <a:solidFill>
                  <a:srgbClr val="CE9178"/>
                </a:solidFill>
                <a:latin typeface="Consolas"/>
              </a:rPr>
              <a:t>grpc-js</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loader</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grpc</a:t>
            </a:r>
            <a:r>
              <a:rPr lang="en-US" dirty="0" smtClean="0">
                <a:solidFill>
                  <a:srgbClr val="CE9178"/>
                </a:solidFill>
                <a:latin typeface="Consolas"/>
              </a:rPr>
              <a:t>/proto-loader'</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path</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'path'</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6A9955"/>
                </a:solidFill>
                <a:latin typeface="Consolas"/>
              </a:rPr>
              <a:t>// The producer needs access to the .proto file. </a:t>
            </a:r>
            <a:endParaRPr lang="en-US" dirty="0" smtClean="0">
              <a:solidFill>
                <a:srgbClr val="D4D4D4"/>
              </a:solidFill>
              <a:latin typeface="Consolas"/>
            </a:endParaRPr>
          </a:p>
          <a:p>
            <a:r>
              <a:rPr lang="en-US" dirty="0" smtClean="0">
                <a:solidFill>
                  <a:srgbClr val="6A9955"/>
                </a:solidFill>
                <a:latin typeface="Consolas"/>
              </a:rPr>
              <a:t>// In this case it's loaded and processed when started, incurring a small startup cost.</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pkg_def</a:t>
            </a:r>
            <a:r>
              <a:rPr lang="en-US" dirty="0" smtClean="0">
                <a:solidFill>
                  <a:srgbClr val="D4D4D4"/>
                </a:solidFill>
                <a:latin typeface="Consolas"/>
              </a:rPr>
              <a:t> = </a:t>
            </a:r>
            <a:r>
              <a:rPr lang="en-US" dirty="0" err="1" smtClean="0">
                <a:solidFill>
                  <a:srgbClr val="9CDCFE"/>
                </a:solidFill>
                <a:latin typeface="Consolas"/>
              </a:rPr>
              <a:t>loader</a:t>
            </a:r>
            <a:r>
              <a:rPr lang="en-US" dirty="0" err="1" smtClean="0">
                <a:solidFill>
                  <a:srgbClr val="D4D4D4"/>
                </a:solidFill>
                <a:latin typeface="Consolas"/>
              </a:rPr>
              <a:t>.</a:t>
            </a:r>
            <a:r>
              <a:rPr lang="en-US" dirty="0" err="1" smtClean="0">
                <a:solidFill>
                  <a:srgbClr val="DCDCAA"/>
                </a:solidFill>
                <a:latin typeface="Consolas"/>
              </a:rPr>
              <a:t>loadSync</a:t>
            </a:r>
            <a:r>
              <a:rPr lang="en-US" dirty="0" smtClean="0">
                <a:solidFill>
                  <a:srgbClr val="D4D4D4"/>
                </a:solidFill>
                <a:latin typeface="Consolas"/>
              </a:rPr>
              <a:t>(</a:t>
            </a:r>
            <a:r>
              <a:rPr lang="en-US" dirty="0" err="1" smtClean="0">
                <a:solidFill>
                  <a:srgbClr val="4FC1FF"/>
                </a:solidFill>
                <a:latin typeface="Consolas"/>
              </a:rPr>
              <a:t>path</a:t>
            </a:r>
            <a:r>
              <a:rPr lang="en-US" dirty="0" err="1" smtClean="0">
                <a:solidFill>
                  <a:srgbClr val="D4D4D4"/>
                </a:solidFill>
                <a:latin typeface="Consolas"/>
              </a:rPr>
              <a:t>.</a:t>
            </a:r>
            <a:r>
              <a:rPr lang="en-US" dirty="0" err="1" smtClean="0">
                <a:solidFill>
                  <a:srgbClr val="DCDCAA"/>
                </a:solidFill>
                <a:latin typeface="Consolas"/>
              </a:rPr>
              <a:t>join</a:t>
            </a:r>
            <a:r>
              <a:rPr lang="en-US" dirty="0" smtClean="0">
                <a:solidFill>
                  <a:srgbClr val="D4D4D4"/>
                </a:solidFill>
                <a:latin typeface="Consolas"/>
              </a:rPr>
              <a:t>(</a:t>
            </a:r>
            <a:r>
              <a:rPr lang="en-US" dirty="0" smtClean="0">
                <a:solidFill>
                  <a:srgbClr val="9CDCFE"/>
                </a:solidFill>
                <a:latin typeface="Consolas"/>
              </a:rPr>
              <a:t>__</a:t>
            </a:r>
            <a:r>
              <a:rPr lang="en-US" dirty="0" err="1" smtClean="0">
                <a:solidFill>
                  <a:srgbClr val="9CDCFE"/>
                </a:solidFill>
                <a:latin typeface="Consolas"/>
              </a:rPr>
              <a:t>dirname</a:t>
            </a:r>
            <a:r>
              <a:rPr lang="en-US" dirty="0" smtClean="0">
                <a:solidFill>
                  <a:srgbClr val="D4D4D4"/>
                </a:solidFill>
                <a:latin typeface="Consolas"/>
              </a:rPr>
              <a:t>, </a:t>
            </a:r>
            <a:r>
              <a:rPr lang="en-US" dirty="0" smtClean="0">
                <a:solidFill>
                  <a:srgbClr val="CE9178"/>
                </a:solidFill>
                <a:latin typeface="Consolas"/>
              </a:rPr>
              <a:t>'..'</a:t>
            </a:r>
            <a:r>
              <a:rPr lang="en-US" dirty="0" smtClean="0">
                <a:solidFill>
                  <a:srgbClr val="D4D4D4"/>
                </a:solidFill>
                <a:latin typeface="Consolas"/>
              </a:rPr>
              <a:t>, </a:t>
            </a:r>
            <a:r>
              <a:rPr lang="en-US" dirty="0" smtClean="0">
                <a:solidFill>
                  <a:srgbClr val="CE9178"/>
                </a:solidFill>
                <a:latin typeface="Consolas"/>
              </a:rPr>
              <a:t>'/shared/</a:t>
            </a:r>
            <a:r>
              <a:rPr lang="en-US" dirty="0" err="1" smtClean="0">
                <a:solidFill>
                  <a:srgbClr val="CE9178"/>
                </a:solidFill>
                <a:latin typeface="Consolas"/>
              </a:rPr>
              <a:t>grpc-recipe.proto</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EC9B0"/>
                </a:solidFill>
                <a:latin typeface="Consolas"/>
              </a:rPr>
              <a:t>recipe</a:t>
            </a:r>
            <a:r>
              <a:rPr lang="en-US" dirty="0" smtClean="0">
                <a:solidFill>
                  <a:srgbClr val="D4D4D4"/>
                </a:solidFill>
                <a:latin typeface="Consolas"/>
              </a:rPr>
              <a:t> = </a:t>
            </a:r>
            <a:r>
              <a:rPr lang="en-US" dirty="0" err="1" smtClean="0">
                <a:solidFill>
                  <a:srgbClr val="9CDCFE"/>
                </a:solidFill>
                <a:latin typeface="Consolas"/>
              </a:rPr>
              <a:t>grpc</a:t>
            </a:r>
            <a:r>
              <a:rPr lang="en-US" dirty="0" err="1" smtClean="0">
                <a:solidFill>
                  <a:srgbClr val="D4D4D4"/>
                </a:solidFill>
                <a:latin typeface="Consolas"/>
              </a:rPr>
              <a:t>.</a:t>
            </a:r>
            <a:r>
              <a:rPr lang="en-US" dirty="0" err="1" smtClean="0">
                <a:solidFill>
                  <a:srgbClr val="DCDCAA"/>
                </a:solidFill>
                <a:latin typeface="Consolas"/>
              </a:rPr>
              <a:t>loadPackageDefinition</a:t>
            </a:r>
            <a:r>
              <a:rPr lang="en-US" dirty="0" smtClean="0">
                <a:solidFill>
                  <a:srgbClr val="D4D4D4"/>
                </a:solidFill>
                <a:latin typeface="Consolas"/>
              </a:rPr>
              <a:t>(</a:t>
            </a:r>
            <a:r>
              <a:rPr lang="en-US" dirty="0" err="1" smtClean="0">
                <a:solidFill>
                  <a:srgbClr val="4FC1FF"/>
                </a:solidFill>
                <a:latin typeface="Consolas"/>
              </a:rPr>
              <a:t>pkg_def</a:t>
            </a:r>
            <a:r>
              <a:rPr lang="en-US" dirty="0" smtClean="0">
                <a:solidFill>
                  <a:srgbClr val="D4D4D4"/>
                </a:solidFill>
                <a:latin typeface="Consolas"/>
              </a:rPr>
              <a:t>).</a:t>
            </a:r>
            <a:r>
              <a:rPr lang="en-US" dirty="0" smtClean="0">
                <a:solidFill>
                  <a:srgbClr val="9CDCFE"/>
                </a:solidFill>
                <a:latin typeface="Consolas"/>
              </a:rPr>
              <a:t>recipe</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/recipe-api.js (II)</a:t>
            </a:r>
            <a:endParaRPr lang="en-US" dirty="0">
              <a:latin typeface="Consolas" pitchFamily="49" charset="0"/>
            </a:endParaRPr>
          </a:p>
        </p:txBody>
      </p:sp>
      <p:sp>
        <p:nvSpPr>
          <p:cNvPr id="5" name="Rectangle 4"/>
          <p:cNvSpPr/>
          <p:nvPr/>
        </p:nvSpPr>
        <p:spPr>
          <a:xfrm>
            <a:off x="685800" y="2310348"/>
            <a:ext cx="7772400" cy="366254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HOST</a:t>
            </a:r>
            <a:r>
              <a:rPr lang="en-US" sz="1600" dirty="0" smtClean="0">
                <a:solidFill>
                  <a:srgbClr val="D4D4D4"/>
                </a:solidFill>
                <a:latin typeface="Consolas"/>
              </a:rPr>
              <a:t> = </a:t>
            </a:r>
            <a:r>
              <a:rPr lang="en-US" sz="1600" dirty="0" err="1" smtClean="0">
                <a:solidFill>
                  <a:srgbClr val="9CDCFE"/>
                </a:solidFill>
                <a:latin typeface="Consolas"/>
              </a:rPr>
              <a:t>process</a:t>
            </a:r>
            <a:r>
              <a:rPr lang="en-US" sz="1600" dirty="0" err="1" smtClean="0">
                <a:solidFill>
                  <a:srgbClr val="D4D4D4"/>
                </a:solidFill>
                <a:latin typeface="Consolas"/>
              </a:rPr>
              <a:t>.</a:t>
            </a:r>
            <a:r>
              <a:rPr lang="en-US" sz="1600" dirty="0" err="1" smtClean="0">
                <a:solidFill>
                  <a:srgbClr val="9CDCFE"/>
                </a:solidFill>
                <a:latin typeface="Consolas"/>
              </a:rPr>
              <a:t>env</a:t>
            </a:r>
            <a:r>
              <a:rPr lang="en-US" sz="1600" dirty="0" err="1" smtClean="0">
                <a:solidFill>
                  <a:srgbClr val="D4D4D4"/>
                </a:solidFill>
                <a:latin typeface="Consolas"/>
              </a:rPr>
              <a:t>.</a:t>
            </a:r>
            <a:r>
              <a:rPr lang="en-US" sz="1600" dirty="0" err="1" smtClean="0">
                <a:solidFill>
                  <a:srgbClr val="4FC1FF"/>
                </a:solidFill>
                <a:latin typeface="Consolas"/>
              </a:rPr>
              <a:t>HOST</a:t>
            </a:r>
            <a:r>
              <a:rPr lang="en-US" sz="1600" dirty="0" smtClean="0">
                <a:solidFill>
                  <a:srgbClr val="D4D4D4"/>
                </a:solidFill>
                <a:latin typeface="Consolas"/>
              </a:rPr>
              <a:t> || </a:t>
            </a:r>
            <a:r>
              <a:rPr lang="en-US" sz="1600" dirty="0" smtClean="0">
                <a:solidFill>
                  <a:srgbClr val="CE9178"/>
                </a:solidFill>
                <a:latin typeface="Consolas"/>
              </a:rPr>
              <a:t>'127.0.0.1'</a:t>
            </a:r>
            <a:r>
              <a:rPr lang="en-US" sz="1600" dirty="0" smtClean="0">
                <a:solidFill>
                  <a:srgbClr val="D4D4D4"/>
                </a:solidFill>
                <a:latin typeface="Consolas"/>
              </a:rPr>
              <a:t>;</a:t>
            </a: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PORT</a:t>
            </a:r>
            <a:r>
              <a:rPr lang="en-US" sz="1600" dirty="0" smtClean="0">
                <a:solidFill>
                  <a:srgbClr val="D4D4D4"/>
                </a:solidFill>
                <a:latin typeface="Consolas"/>
              </a:rPr>
              <a:t> = </a:t>
            </a:r>
            <a:r>
              <a:rPr lang="en-US" sz="1600" dirty="0" err="1" smtClean="0">
                <a:solidFill>
                  <a:srgbClr val="9CDCFE"/>
                </a:solidFill>
                <a:latin typeface="Consolas"/>
              </a:rPr>
              <a:t>process</a:t>
            </a:r>
            <a:r>
              <a:rPr lang="en-US" sz="1600" dirty="0" err="1" smtClean="0">
                <a:solidFill>
                  <a:srgbClr val="D4D4D4"/>
                </a:solidFill>
                <a:latin typeface="Consolas"/>
              </a:rPr>
              <a:t>.</a:t>
            </a:r>
            <a:r>
              <a:rPr lang="en-US" sz="1600" dirty="0" err="1" smtClean="0">
                <a:solidFill>
                  <a:srgbClr val="9CDCFE"/>
                </a:solidFill>
                <a:latin typeface="Consolas"/>
              </a:rPr>
              <a:t>env</a:t>
            </a:r>
            <a:r>
              <a:rPr lang="en-US" sz="1600" dirty="0" err="1" smtClean="0">
                <a:solidFill>
                  <a:srgbClr val="D4D4D4"/>
                </a:solidFill>
                <a:latin typeface="Consolas"/>
              </a:rPr>
              <a:t>.</a:t>
            </a:r>
            <a:r>
              <a:rPr lang="en-US" sz="1600" dirty="0" err="1" smtClean="0">
                <a:solidFill>
                  <a:srgbClr val="4FC1FF"/>
                </a:solidFill>
                <a:latin typeface="Consolas"/>
              </a:rPr>
              <a:t>PORT</a:t>
            </a:r>
            <a:r>
              <a:rPr lang="en-US" sz="1600" dirty="0" smtClean="0">
                <a:solidFill>
                  <a:srgbClr val="D4D4D4"/>
                </a:solidFill>
                <a:latin typeface="Consolas"/>
              </a:rPr>
              <a:t> || </a:t>
            </a:r>
            <a:r>
              <a:rPr lang="en-US" sz="1600" dirty="0" smtClean="0">
                <a:solidFill>
                  <a:srgbClr val="B5CEA8"/>
                </a:solidFill>
                <a:latin typeface="Consolas"/>
              </a:rPr>
              <a:t>4000</a:t>
            </a:r>
            <a:r>
              <a:rPr lang="en-US" sz="1600" dirty="0" smtClean="0">
                <a:solidFill>
                  <a:srgbClr val="D4D4D4"/>
                </a:solidFill>
                <a:latin typeface="Consolas"/>
              </a:rPr>
              <a:t>;</a:t>
            </a: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server</a:t>
            </a:r>
            <a:r>
              <a:rPr lang="en-US" sz="1600" dirty="0" smtClean="0">
                <a:solidFill>
                  <a:srgbClr val="D4D4D4"/>
                </a:solidFill>
                <a:latin typeface="Consolas"/>
              </a:rPr>
              <a:t> = </a:t>
            </a:r>
            <a:r>
              <a:rPr lang="en-US" sz="1600" dirty="0" smtClean="0">
                <a:solidFill>
                  <a:srgbClr val="569CD6"/>
                </a:solidFill>
                <a:latin typeface="Consolas"/>
              </a:rPr>
              <a:t>new</a:t>
            </a:r>
            <a:r>
              <a:rPr lang="en-US" sz="1600" dirty="0" smtClean="0">
                <a:solidFill>
                  <a:srgbClr val="D4D4D4"/>
                </a:solidFill>
                <a:latin typeface="Consolas"/>
              </a:rPr>
              <a:t> </a:t>
            </a:r>
            <a:r>
              <a:rPr lang="en-US" sz="1600" dirty="0" err="1" smtClean="0">
                <a:solidFill>
                  <a:srgbClr val="9CDCFE"/>
                </a:solidFill>
                <a:latin typeface="Consolas"/>
              </a:rPr>
              <a:t>grpc</a:t>
            </a:r>
            <a:r>
              <a:rPr lang="en-US" sz="1600" dirty="0" err="1" smtClean="0">
                <a:solidFill>
                  <a:srgbClr val="D4D4D4"/>
                </a:solidFill>
                <a:latin typeface="Consolas"/>
              </a:rPr>
              <a:t>.</a:t>
            </a:r>
            <a:r>
              <a:rPr lang="en-US" sz="1600" dirty="0" err="1" smtClean="0">
                <a:solidFill>
                  <a:srgbClr val="4EC9B0"/>
                </a:solidFill>
                <a:latin typeface="Consolas"/>
              </a:rPr>
              <a:t>Server</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4FC1FF"/>
                </a:solidFill>
                <a:latin typeface="Consolas"/>
              </a:rPr>
              <a:t>server</a:t>
            </a:r>
            <a:r>
              <a:rPr lang="en-US" sz="1600" dirty="0" err="1" smtClean="0">
                <a:solidFill>
                  <a:srgbClr val="D4D4D4"/>
                </a:solidFill>
                <a:latin typeface="Consolas"/>
              </a:rPr>
              <a:t>.</a:t>
            </a:r>
            <a:r>
              <a:rPr lang="en-US" sz="1600" dirty="0" err="1" smtClean="0">
                <a:solidFill>
                  <a:srgbClr val="DCDCAA"/>
                </a:solidFill>
                <a:latin typeface="Consolas"/>
              </a:rPr>
              <a:t>addService</a:t>
            </a:r>
            <a:r>
              <a:rPr lang="en-US" sz="1600" dirty="0" smtClean="0">
                <a:solidFill>
                  <a:srgbClr val="D4D4D4"/>
                </a:solidFill>
                <a:latin typeface="Consolas"/>
              </a:rPr>
              <a:t>(</a:t>
            </a:r>
            <a:r>
              <a:rPr lang="en-US" sz="1600" dirty="0" err="1" smtClean="0">
                <a:solidFill>
                  <a:srgbClr val="4EC9B0"/>
                </a:solidFill>
                <a:latin typeface="Consolas"/>
              </a:rPr>
              <a:t>recipe</a:t>
            </a:r>
            <a:r>
              <a:rPr lang="en-US" sz="1600" dirty="0" err="1" smtClean="0">
                <a:solidFill>
                  <a:srgbClr val="D4D4D4"/>
                </a:solidFill>
                <a:latin typeface="Consolas"/>
              </a:rPr>
              <a:t>.</a:t>
            </a:r>
            <a:r>
              <a:rPr lang="en-US" sz="1600" dirty="0" err="1" smtClean="0">
                <a:solidFill>
                  <a:srgbClr val="9CDCFE"/>
                </a:solidFill>
                <a:latin typeface="Consolas"/>
              </a:rPr>
              <a:t>RecipeService</a:t>
            </a:r>
            <a:r>
              <a:rPr lang="en-US" sz="1600" dirty="0" err="1" smtClean="0">
                <a:solidFill>
                  <a:srgbClr val="D4D4D4"/>
                </a:solidFill>
                <a:latin typeface="Consolas"/>
              </a:rPr>
              <a:t>.</a:t>
            </a:r>
            <a:r>
              <a:rPr lang="en-US" sz="1600" dirty="0" err="1" smtClean="0">
                <a:solidFill>
                  <a:srgbClr val="9CDCFE"/>
                </a:solidFill>
                <a:latin typeface="Consolas"/>
              </a:rPr>
              <a:t>service</a:t>
            </a:r>
            <a:r>
              <a:rPr lang="en-US" sz="1600" dirty="0" smtClean="0">
                <a:solidFill>
                  <a:srgbClr val="D4D4D4"/>
                </a:solidFill>
                <a:latin typeface="Consolas"/>
              </a:rPr>
              <a:t>, { </a:t>
            </a:r>
            <a:r>
              <a:rPr lang="en-US" sz="1600" dirty="0" smtClean="0">
                <a:solidFill>
                  <a:srgbClr val="6A9955"/>
                </a:solidFill>
                <a:latin typeface="Consolas"/>
              </a:rPr>
              <a:t>// When a service is defined,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an object is provided with properties reflecting the methods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defined in the .proto file.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CDCAA"/>
                </a:solidFill>
                <a:latin typeface="Consolas"/>
              </a:rPr>
              <a:t>getMetaData</a:t>
            </a:r>
            <a:r>
              <a:rPr lang="en-US" sz="1600" dirty="0" smtClean="0">
                <a:solidFill>
                  <a:srgbClr val="9CDCFE"/>
                </a:solidFill>
                <a:latin typeface="Consolas"/>
              </a:rPr>
              <a:t>:</a:t>
            </a:r>
            <a:r>
              <a:rPr lang="en-US" sz="1600" dirty="0" smtClean="0">
                <a:solidFill>
                  <a:srgbClr val="D4D4D4"/>
                </a:solidFill>
                <a:latin typeface="Consolas"/>
              </a:rPr>
              <a:t> (</a:t>
            </a:r>
            <a:r>
              <a:rPr lang="en-US" sz="1600" dirty="0" smtClean="0">
                <a:solidFill>
                  <a:srgbClr val="9CDCFE"/>
                </a:solidFill>
                <a:latin typeface="Consolas"/>
              </a:rPr>
              <a:t>_call</a:t>
            </a:r>
            <a:r>
              <a:rPr lang="en-US" sz="1600" dirty="0" smtClean="0">
                <a:solidFill>
                  <a:srgbClr val="D4D4D4"/>
                </a:solidFill>
                <a:latin typeface="Consolas"/>
              </a:rPr>
              <a:t>, </a:t>
            </a:r>
            <a:r>
              <a:rPr lang="en-US" sz="1600" dirty="0" err="1" smtClean="0">
                <a:solidFill>
                  <a:srgbClr val="9CDCFE"/>
                </a:solidFill>
                <a:latin typeface="Consolas"/>
              </a:rPr>
              <a:t>cb</a:t>
            </a:r>
            <a:r>
              <a:rPr lang="en-US" sz="1600" dirty="0" smtClean="0">
                <a:solidFill>
                  <a:srgbClr val="D4D4D4"/>
                </a:solidFill>
                <a:latin typeface="Consolas"/>
              </a:rPr>
              <a:t>) </a:t>
            </a:r>
            <a:r>
              <a:rPr lang="en-US" sz="1600" dirty="0" smtClean="0">
                <a:solidFill>
                  <a:srgbClr val="569CD6"/>
                </a:solidFill>
                <a:latin typeface="Consolas"/>
              </a:rPr>
              <a:t>=&gt;</a:t>
            </a:r>
            <a:r>
              <a:rPr lang="en-US" sz="1600" dirty="0" smtClean="0">
                <a:solidFill>
                  <a:srgbClr val="D4D4D4"/>
                </a:solidFill>
                <a:latin typeface="Consolas"/>
              </a:rPr>
              <a:t> { </a:t>
            </a:r>
            <a:r>
              <a:rPr lang="en-US" sz="1600" dirty="0" smtClean="0">
                <a:solidFill>
                  <a:srgbClr val="6A9955"/>
                </a:solidFill>
                <a:latin typeface="Consolas"/>
              </a:rPr>
              <a:t>// This method correlates with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the </a:t>
            </a:r>
            <a:r>
              <a:rPr lang="en-US" sz="1600" dirty="0" err="1" smtClean="0">
                <a:solidFill>
                  <a:srgbClr val="6A9955"/>
                </a:solidFill>
                <a:latin typeface="Consolas"/>
              </a:rPr>
              <a:t>GetMetaData</a:t>
            </a:r>
            <a:r>
              <a:rPr lang="en-US" sz="1600" dirty="0" smtClean="0">
                <a:solidFill>
                  <a:srgbClr val="6A9955"/>
                </a:solidFill>
                <a:latin typeface="Consolas"/>
              </a:rPr>
              <a:t>(Empty) method in the .proto definition.</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CDCAA"/>
                </a:solidFill>
                <a:latin typeface="Consolas"/>
              </a:rPr>
              <a:t>cb</a:t>
            </a:r>
            <a:r>
              <a:rPr lang="en-US" sz="1600" dirty="0" smtClean="0">
                <a:solidFill>
                  <a:srgbClr val="D4D4D4"/>
                </a:solidFill>
                <a:latin typeface="Consolas"/>
              </a:rPr>
              <a:t>(</a:t>
            </a:r>
            <a:r>
              <a:rPr lang="en-US" sz="1600" dirty="0" smtClean="0">
                <a:solidFill>
                  <a:srgbClr val="569CD6"/>
                </a:solidFill>
                <a:latin typeface="Consolas"/>
              </a:rPr>
              <a:t>null</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pid</a:t>
            </a:r>
            <a:r>
              <a:rPr lang="en-US" sz="1600" dirty="0" smtClean="0">
                <a:solidFill>
                  <a:srgbClr val="9CDCFE"/>
                </a:solidFill>
                <a:latin typeface="Consolas"/>
              </a:rPr>
              <a:t>:</a:t>
            </a:r>
            <a:r>
              <a:rPr lang="en-US" sz="1600" dirty="0" smtClean="0">
                <a:solidFill>
                  <a:srgbClr val="D4D4D4"/>
                </a:solidFill>
                <a:latin typeface="Consolas"/>
              </a:rPr>
              <a:t> </a:t>
            </a:r>
            <a:r>
              <a:rPr lang="en-US" sz="1600" dirty="0" smtClean="0">
                <a:solidFill>
                  <a:srgbClr val="9CDCFE"/>
                </a:solidFill>
                <a:latin typeface="Consolas"/>
              </a:rPr>
              <a:t>process</a:t>
            </a:r>
            <a:r>
              <a:rPr lang="en-US" sz="1600" dirty="0" smtClean="0">
                <a:solidFill>
                  <a:srgbClr val="D4D4D4"/>
                </a:solidFill>
                <a:latin typeface="Consolas"/>
              </a:rPr>
              <a:t>.</a:t>
            </a:r>
            <a:r>
              <a:rPr lang="en-US" sz="1600" dirty="0" smtClean="0">
                <a:solidFill>
                  <a:srgbClr val="9CDCFE"/>
                </a:solidFill>
                <a:latin typeface="Consolas"/>
              </a:rPr>
              <a:t>pid</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t>
            </a:r>
            <a:endParaRPr lang="en-US" sz="1600" b="0" dirty="0">
              <a:solidFill>
                <a:srgbClr val="D4D4D4"/>
              </a:solidFill>
              <a:latin typeface="Consola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/recipe-api.js (III)</a:t>
            </a:r>
            <a:endParaRPr lang="en-US" dirty="0">
              <a:latin typeface="Consolas" pitchFamily="49" charset="0"/>
            </a:endParaRPr>
          </a:p>
        </p:txBody>
      </p:sp>
      <p:sp>
        <p:nvSpPr>
          <p:cNvPr id="5" name="Rectangle 4"/>
          <p:cNvSpPr/>
          <p:nvPr/>
        </p:nvSpPr>
        <p:spPr>
          <a:xfrm>
            <a:off x="304800" y="1905000"/>
            <a:ext cx="8534400" cy="452431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D4D4D4"/>
                </a:solidFill>
                <a:latin typeface="Consolas"/>
              </a:rPr>
              <a:t>    </a:t>
            </a:r>
            <a:r>
              <a:rPr lang="en-US" sz="1600" dirty="0" err="1" smtClean="0">
                <a:solidFill>
                  <a:srgbClr val="DCDCAA"/>
                </a:solidFill>
                <a:latin typeface="Consolas"/>
              </a:rPr>
              <a:t>getRecipe</a:t>
            </a:r>
            <a:r>
              <a:rPr lang="en-US" sz="1600" dirty="0" smtClean="0">
                <a:solidFill>
                  <a:srgbClr val="9CDCFE"/>
                </a:solidFill>
                <a:latin typeface="Consolas"/>
              </a:rPr>
              <a:t>:</a:t>
            </a:r>
            <a:r>
              <a:rPr lang="en-US" sz="1600" dirty="0" smtClean="0">
                <a:solidFill>
                  <a:srgbClr val="D4D4D4"/>
                </a:solidFill>
                <a:latin typeface="Consolas"/>
              </a:rPr>
              <a:t> (</a:t>
            </a:r>
            <a:r>
              <a:rPr lang="en-US" sz="1600" dirty="0" smtClean="0">
                <a:solidFill>
                  <a:srgbClr val="9CDCFE"/>
                </a:solidFill>
                <a:latin typeface="Consolas"/>
              </a:rPr>
              <a:t>call</a:t>
            </a:r>
            <a:r>
              <a:rPr lang="en-US" sz="1600" dirty="0" smtClean="0">
                <a:solidFill>
                  <a:srgbClr val="D4D4D4"/>
                </a:solidFill>
                <a:latin typeface="Consolas"/>
              </a:rPr>
              <a:t>, </a:t>
            </a:r>
            <a:r>
              <a:rPr lang="en-US" sz="1600" dirty="0" err="1" smtClean="0">
                <a:solidFill>
                  <a:srgbClr val="9CDCFE"/>
                </a:solidFill>
                <a:latin typeface="Consolas"/>
              </a:rPr>
              <a:t>cb</a:t>
            </a:r>
            <a:r>
              <a:rPr lang="en-US" sz="1600" dirty="0" smtClean="0">
                <a:solidFill>
                  <a:srgbClr val="D4D4D4"/>
                </a:solidFill>
                <a:latin typeface="Consolas"/>
              </a:rPr>
              <a:t>) </a:t>
            </a:r>
            <a:r>
              <a:rPr lang="en-US" sz="1600" dirty="0" smtClean="0">
                <a:solidFill>
                  <a:srgbClr val="569CD6"/>
                </a:solidFill>
                <a:latin typeface="Consolas"/>
              </a:rPr>
              <a:t>=&gt;</a:t>
            </a:r>
            <a:r>
              <a:rPr lang="en-US" sz="1600" dirty="0" smtClean="0">
                <a:solidFill>
                  <a:srgbClr val="D4D4D4"/>
                </a:solidFill>
                <a:latin typeface="Consolas"/>
              </a:rPr>
              <a:t> { </a:t>
            </a:r>
            <a:r>
              <a:rPr lang="en-US" sz="1600" dirty="0" smtClean="0">
                <a:solidFill>
                  <a:srgbClr val="6A9955"/>
                </a:solidFill>
                <a:latin typeface="Consolas"/>
              </a:rPr>
              <a:t>// The </a:t>
            </a:r>
            <a:r>
              <a:rPr lang="en-US" sz="1600" dirty="0" err="1" smtClean="0">
                <a:solidFill>
                  <a:srgbClr val="6A9955"/>
                </a:solidFill>
                <a:latin typeface="Consolas"/>
              </a:rPr>
              <a:t>getRecipe</a:t>
            </a:r>
            <a:r>
              <a:rPr lang="en-US" sz="1600" dirty="0" smtClean="0">
                <a:solidFill>
                  <a:srgbClr val="6A9955"/>
                </a:solidFill>
                <a:latin typeface="Consolas"/>
              </a:rPr>
              <a:t>() method makes use of an object </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passed in during the request. This object is provided as </a:t>
            </a:r>
            <a:r>
              <a:rPr lang="en-US" sz="1600" dirty="0" err="1" smtClean="0">
                <a:solidFill>
                  <a:srgbClr val="6A9955"/>
                </a:solidFill>
                <a:latin typeface="Consolas"/>
              </a:rPr>
              <a:t>call.request</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a:t>
            </a:r>
            <a:r>
              <a:rPr lang="en-US" sz="1600" dirty="0" smtClean="0">
                <a:solidFill>
                  <a:srgbClr val="9CDCFE"/>
                </a:solidFill>
                <a:latin typeface="Consolas"/>
              </a:rPr>
              <a:t>call</a:t>
            </a:r>
            <a:r>
              <a:rPr lang="en-US" sz="1600" dirty="0" smtClean="0">
                <a:solidFill>
                  <a:srgbClr val="D4D4D4"/>
                </a:solidFill>
                <a:latin typeface="Consolas"/>
              </a:rPr>
              <a:t>.</a:t>
            </a:r>
            <a:r>
              <a:rPr lang="en-US" sz="1600" dirty="0" smtClean="0">
                <a:solidFill>
                  <a:srgbClr val="9CDCFE"/>
                </a:solidFill>
                <a:latin typeface="Consolas"/>
              </a:rPr>
              <a:t>request</a:t>
            </a:r>
            <a:r>
              <a:rPr lang="en-US" sz="1600" dirty="0" smtClean="0">
                <a:solidFill>
                  <a:srgbClr val="D4D4D4"/>
                </a:solidFill>
                <a:latin typeface="Consolas"/>
              </a:rPr>
              <a:t>.</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B5CEA8"/>
                </a:solidFill>
                <a:latin typeface="Consolas"/>
              </a:rPr>
              <a:t>42</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CDCAA"/>
                </a:solidFill>
                <a:latin typeface="Consolas"/>
              </a:rPr>
              <a:t>cb</a:t>
            </a:r>
            <a:r>
              <a:rPr lang="en-US" sz="1600" dirty="0" smtClean="0">
                <a:solidFill>
                  <a:srgbClr val="D4D4D4"/>
                </a:solidFill>
                <a:latin typeface="Consolas"/>
              </a:rPr>
              <a:t>(</a:t>
            </a:r>
            <a:r>
              <a:rPr lang="en-US" sz="1600" dirty="0" smtClean="0">
                <a:solidFill>
                  <a:srgbClr val="569CD6"/>
                </a:solidFill>
                <a:latin typeface="Consolas"/>
              </a:rPr>
              <a:t>new</a:t>
            </a:r>
            <a:r>
              <a:rPr lang="en-US" sz="1600" dirty="0" smtClean="0">
                <a:solidFill>
                  <a:srgbClr val="D4D4D4"/>
                </a:solidFill>
                <a:latin typeface="Consolas"/>
              </a:rPr>
              <a:t> </a:t>
            </a:r>
            <a:r>
              <a:rPr lang="en-US" sz="1600" dirty="0" smtClean="0">
                <a:solidFill>
                  <a:srgbClr val="4EC9B0"/>
                </a:solidFill>
                <a:latin typeface="Consolas"/>
              </a:rPr>
              <a:t>Error</a:t>
            </a:r>
            <a:r>
              <a:rPr lang="en-US" sz="1600" dirty="0" smtClean="0">
                <a:solidFill>
                  <a:srgbClr val="D4D4D4"/>
                </a:solidFill>
                <a:latin typeface="Consolas"/>
              </a:rPr>
              <a:t>(</a:t>
            </a:r>
            <a:r>
              <a:rPr lang="en-US" sz="1600" dirty="0" smtClean="0">
                <a:solidFill>
                  <a:srgbClr val="CE9178"/>
                </a:solidFill>
                <a:latin typeface="Consolas"/>
              </a:rPr>
              <a:t>`unknown recipe </a:t>
            </a:r>
            <a:r>
              <a:rPr lang="en-US" sz="1600" dirty="0" smtClean="0">
                <a:solidFill>
                  <a:srgbClr val="569CD6"/>
                </a:solidFill>
                <a:latin typeface="Consolas"/>
              </a:rPr>
              <a:t>${</a:t>
            </a:r>
            <a:r>
              <a:rPr lang="en-US" sz="1600" dirty="0" smtClean="0">
                <a:solidFill>
                  <a:srgbClr val="9CDCFE"/>
                </a:solidFill>
                <a:latin typeface="Consolas"/>
              </a:rPr>
              <a:t>call</a:t>
            </a:r>
            <a:r>
              <a:rPr lang="en-US" sz="1600" dirty="0" smtClean="0">
                <a:solidFill>
                  <a:srgbClr val="D4D4D4"/>
                </a:solidFill>
                <a:latin typeface="Consolas"/>
              </a:rPr>
              <a:t>.</a:t>
            </a:r>
            <a:r>
              <a:rPr lang="en-US" sz="1600" dirty="0" smtClean="0">
                <a:solidFill>
                  <a:srgbClr val="9CDCFE"/>
                </a:solidFill>
                <a:latin typeface="Consolas"/>
              </a:rPr>
              <a:t>request</a:t>
            </a:r>
            <a:r>
              <a:rPr lang="en-US" sz="1600" dirty="0" smtClean="0">
                <a:solidFill>
                  <a:srgbClr val="D4D4D4"/>
                </a:solidFill>
                <a:latin typeface="Consolas"/>
              </a:rPr>
              <a:t>.</a:t>
            </a:r>
            <a:r>
              <a:rPr lang="en-US" sz="1600" dirty="0" smtClean="0">
                <a:solidFill>
                  <a:srgbClr val="9CDCFE"/>
                </a:solidFill>
                <a:latin typeface="Consolas"/>
              </a:rPr>
              <a:t>id</a:t>
            </a:r>
            <a:r>
              <a:rPr lang="en-US" sz="1600" dirty="0" smtClean="0">
                <a:solidFill>
                  <a:srgbClr val="569CD6"/>
                </a:solidFill>
                <a:latin typeface="Consolas"/>
              </a:rPr>
              <a:t>}</a:t>
            </a:r>
            <a:r>
              <a:rPr lang="en-US" sz="1600" dirty="0" smtClean="0">
                <a:solidFill>
                  <a:srgbClr val="CE9178"/>
                </a:solidFill>
                <a:latin typeface="Consolas"/>
              </a:rPr>
              <a:t>`</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CDCAA"/>
                </a:solidFill>
                <a:latin typeface="Consolas"/>
              </a:rPr>
              <a:t>cb</a:t>
            </a:r>
            <a:r>
              <a:rPr lang="en-US" sz="1600" dirty="0" smtClean="0">
                <a:solidFill>
                  <a:srgbClr val="D4D4D4"/>
                </a:solidFill>
                <a:latin typeface="Consolas"/>
              </a:rPr>
              <a:t>(</a:t>
            </a:r>
            <a:r>
              <a:rPr lang="en-US" sz="1600" dirty="0" smtClean="0">
                <a:solidFill>
                  <a:srgbClr val="569CD6"/>
                </a:solidFill>
                <a:latin typeface="Consolas"/>
              </a:rPr>
              <a:t>null</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B5CEA8"/>
                </a:solidFill>
                <a:latin typeface="Consolas"/>
              </a:rPr>
              <a:t>42</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"Chicken </a:t>
            </a:r>
            <a:r>
              <a:rPr lang="en-US" sz="1600" dirty="0" err="1" smtClean="0">
                <a:solidFill>
                  <a:srgbClr val="CE9178"/>
                </a:solidFill>
                <a:latin typeface="Consolas"/>
              </a:rPr>
              <a:t>Tikka</a:t>
            </a:r>
            <a:r>
              <a:rPr lang="en-US" sz="1600" dirty="0" smtClean="0">
                <a:solidFill>
                  <a:srgbClr val="CE9178"/>
                </a:solidFill>
                <a:latin typeface="Consolas"/>
              </a:rPr>
              <a:t> </a:t>
            </a:r>
            <a:r>
              <a:rPr lang="en-US" sz="1600" dirty="0" err="1" smtClean="0">
                <a:solidFill>
                  <a:srgbClr val="CE9178"/>
                </a:solidFill>
                <a:latin typeface="Consolas"/>
              </a:rPr>
              <a:t>Masala</a:t>
            </a:r>
            <a:r>
              <a:rPr lang="en-US" sz="1600" dirty="0" smtClean="0">
                <a:solidFill>
                  <a:srgbClr val="CE9178"/>
                </a:solidFill>
                <a:latin typeface="Consolas"/>
              </a:rPr>
              <a:t>"</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steps:</a:t>
            </a:r>
            <a:r>
              <a:rPr lang="en-US" sz="1600" dirty="0" smtClean="0">
                <a:solidFill>
                  <a:srgbClr val="D4D4D4"/>
                </a:solidFill>
                <a:latin typeface="Consolas"/>
              </a:rPr>
              <a:t> </a:t>
            </a:r>
            <a:r>
              <a:rPr lang="en-US" sz="1600" dirty="0" smtClean="0">
                <a:solidFill>
                  <a:srgbClr val="CE9178"/>
                </a:solidFill>
                <a:latin typeface="Consolas"/>
              </a:rPr>
              <a:t>"Throw it in a pot..."</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ingredients:</a:t>
            </a:r>
            <a:r>
              <a:rPr lang="en-US" sz="1600" dirty="0" smtClean="0">
                <a:solidFill>
                  <a:srgbClr val="D4D4D4"/>
                </a:solidFill>
                <a:latin typeface="Consolas"/>
              </a:rPr>
              <a:t> [</a:t>
            </a:r>
          </a:p>
          <a:p>
            <a:r>
              <a:rPr lang="en-US" sz="1600" dirty="0" smtClean="0">
                <a:solidFill>
                  <a:srgbClr val="D4D4D4"/>
                </a:solidFill>
                <a:latin typeface="Consolas"/>
              </a:rPr>
              <a:t>                {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B5CEA8"/>
                </a:solidFill>
                <a:latin typeface="Consolas"/>
              </a:rPr>
              <a:t>1</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"Chicken"</a:t>
            </a:r>
            <a:r>
              <a:rPr lang="en-US" sz="1600" dirty="0" smtClean="0">
                <a:solidFill>
                  <a:srgbClr val="D4D4D4"/>
                </a:solidFill>
                <a:latin typeface="Consolas"/>
              </a:rPr>
              <a:t>, </a:t>
            </a:r>
            <a:r>
              <a:rPr lang="en-US" sz="1600" dirty="0" smtClean="0">
                <a:solidFill>
                  <a:srgbClr val="9CDCFE"/>
                </a:solidFill>
                <a:latin typeface="Consolas"/>
              </a:rPr>
              <a:t>quantity:</a:t>
            </a:r>
            <a:r>
              <a:rPr lang="en-US" sz="1600" dirty="0" smtClean="0">
                <a:solidFill>
                  <a:srgbClr val="D4D4D4"/>
                </a:solidFill>
                <a:latin typeface="Consolas"/>
              </a:rPr>
              <a:t> </a:t>
            </a:r>
            <a:r>
              <a:rPr lang="en-US" sz="1600" dirty="0" smtClean="0">
                <a:solidFill>
                  <a:srgbClr val="CE9178"/>
                </a:solidFill>
                <a:latin typeface="Consolas"/>
              </a:rPr>
              <a:t>"1 lb"</a:t>
            </a:r>
            <a:r>
              <a:rPr lang="en-US" sz="1600" dirty="0" smtClean="0">
                <a:solidFill>
                  <a:srgbClr val="D4D4D4"/>
                </a:solidFill>
                <a:latin typeface="Consolas"/>
              </a:rPr>
              <a:t>, },</a:t>
            </a:r>
          </a:p>
          <a:p>
            <a:r>
              <a:rPr lang="en-US" sz="1600" dirty="0" smtClean="0">
                <a:solidFill>
                  <a:srgbClr val="D4D4D4"/>
                </a:solidFill>
                <a:latin typeface="Consolas"/>
              </a:rPr>
              <a:t>                {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"Sauce"</a:t>
            </a:r>
            <a:r>
              <a:rPr lang="en-US" sz="1600" dirty="0" smtClean="0">
                <a:solidFill>
                  <a:srgbClr val="D4D4D4"/>
                </a:solidFill>
                <a:latin typeface="Consolas"/>
              </a:rPr>
              <a:t>, </a:t>
            </a:r>
            <a:r>
              <a:rPr lang="en-US" sz="1600" dirty="0" smtClean="0">
                <a:solidFill>
                  <a:srgbClr val="9CDCFE"/>
                </a:solidFill>
                <a:latin typeface="Consolas"/>
              </a:rPr>
              <a:t>quantity:</a:t>
            </a:r>
            <a:r>
              <a:rPr lang="en-US" sz="1600" dirty="0" smtClean="0">
                <a:solidFill>
                  <a:srgbClr val="D4D4D4"/>
                </a:solidFill>
                <a:latin typeface="Consolas"/>
              </a:rPr>
              <a:t> </a:t>
            </a:r>
            <a:r>
              <a:rPr lang="en-US" sz="1600" dirty="0" smtClean="0">
                <a:solidFill>
                  <a:srgbClr val="CE9178"/>
                </a:solidFill>
                <a:latin typeface="Consolas"/>
              </a:rPr>
              <a:t>"2 cups"</a:t>
            </a:r>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Run the </a:t>
            </a:r>
            <a:r>
              <a:rPr lang="en-US" dirty="0" smtClean="0">
                <a:latin typeface="Consolas" pitchFamily="49" charset="0"/>
              </a:rPr>
              <a:t>recipe-</a:t>
            </a:r>
            <a:r>
              <a:rPr lang="en-US" dirty="0" err="1" smtClean="0">
                <a:latin typeface="Consolas" pitchFamily="49" charset="0"/>
              </a:rPr>
              <a:t>api</a:t>
            </a:r>
            <a:r>
              <a:rPr lang="en-US" dirty="0" smtClean="0"/>
              <a:t> Service</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recipe-</a:t>
            </a:r>
            <a:r>
              <a:rPr lang="en-US" sz="2400" dirty="0" err="1" smtClean="0">
                <a:latin typeface="Consolas" pitchFamily="49" charset="0"/>
              </a:rPr>
              <a:t>api</a:t>
            </a:r>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install @</a:t>
            </a:r>
            <a:r>
              <a:rPr lang="en-US" sz="2400" dirty="0" err="1" smtClean="0">
                <a:latin typeface="Consolas" pitchFamily="49" charset="0"/>
              </a:rPr>
              <a:t>grpc</a:t>
            </a:r>
            <a:r>
              <a:rPr lang="en-US" sz="2400" dirty="0" smtClean="0">
                <a:latin typeface="Consolas" pitchFamily="49" charset="0"/>
              </a:rPr>
              <a:t>/</a:t>
            </a:r>
            <a:r>
              <a:rPr lang="en-US" sz="2400" dirty="0" err="1" smtClean="0">
                <a:latin typeface="Consolas" pitchFamily="49" charset="0"/>
              </a:rPr>
              <a:t>grpc</a:t>
            </a:r>
            <a:r>
              <a:rPr lang="en-US" sz="2400" dirty="0" smtClean="0">
                <a:latin typeface="Consolas" pitchFamily="49" charset="0"/>
              </a:rPr>
              <a:t>-</a:t>
            </a:r>
            <a:r>
              <a:rPr lang="en-US" sz="2400" dirty="0" err="1" smtClean="0">
                <a:latin typeface="Consolas" pitchFamily="49" charset="0"/>
              </a:rPr>
              <a:t>js</a:t>
            </a:r>
            <a:r>
              <a:rPr lang="en-US" sz="2400" dirty="0" smtClean="0">
                <a:latin typeface="Consolas" pitchFamily="49" charset="0"/>
              </a:rPr>
              <a:t> @</a:t>
            </a:r>
            <a:r>
              <a:rPr lang="en-US" sz="2400" dirty="0" err="1" smtClean="0">
                <a:latin typeface="Consolas" pitchFamily="49" charset="0"/>
              </a:rPr>
              <a:t>grpc</a:t>
            </a:r>
            <a:r>
              <a:rPr lang="en-US" sz="2400" dirty="0" smtClean="0">
                <a:latin typeface="Consolas" pitchFamily="49" charset="0"/>
              </a:rPr>
              <a:t>/proto-loader</a:t>
            </a:r>
          </a:p>
          <a:p>
            <a:r>
              <a:rPr lang="en-US" sz="2400" dirty="0" smtClean="0">
                <a:latin typeface="Consolas" pitchFamily="49" charset="0"/>
              </a:rPr>
              <a:t>node recipe-api.js</a:t>
            </a:r>
          </a:p>
        </p:txBody>
      </p:sp>
      <p:pic>
        <p:nvPicPr>
          <p:cNvPr id="1026" name="Picture 2"/>
          <p:cNvPicPr>
            <a:picLocks noChangeAspect="1" noChangeArrowheads="1"/>
          </p:cNvPicPr>
          <p:nvPr/>
        </p:nvPicPr>
        <p:blipFill>
          <a:blip r:embed="rId2" cstate="print"/>
          <a:srcRect/>
          <a:stretch>
            <a:fillRect/>
          </a:stretch>
        </p:blipFill>
        <p:spPr bwMode="auto">
          <a:xfrm>
            <a:off x="1314450" y="3581400"/>
            <a:ext cx="6534150" cy="107569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s://www.purebookkeeping.com/hubfs/break%20time.jpeg"/>
          <p:cNvPicPr>
            <a:picLocks noChangeAspect="1" noChangeArrowheads="1"/>
          </p:cNvPicPr>
          <p:nvPr/>
        </p:nvPicPr>
        <p:blipFill>
          <a:blip r:embed="rId2" cstate="print"/>
          <a:srcRect/>
          <a:stretch>
            <a:fillRect/>
          </a:stretch>
        </p:blipFill>
        <p:spPr bwMode="auto">
          <a:xfrm>
            <a:off x="1581150" y="1666875"/>
            <a:ext cx="5962650" cy="3971925"/>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1. Create </a:t>
            </a:r>
            <a:r>
              <a:rPr lang="en-US" sz="3800" dirty="0" smtClean="0">
                <a:latin typeface="Consolas" pitchFamily="49" charset="0"/>
              </a:rPr>
              <a:t>web-</a:t>
            </a:r>
            <a:r>
              <a:rPr lang="en-US" sz="3800" dirty="0" err="1" smtClean="0">
                <a:latin typeface="Consolas" pitchFamily="49" charset="0"/>
              </a:rPr>
              <a:t>api</a:t>
            </a:r>
            <a:r>
              <a:rPr lang="en-US" sz="3800" dirty="0" smtClean="0">
                <a:latin typeface="Consolas" pitchFamily="49" charset="0"/>
              </a:rPr>
              <a:t>/web-api.js (I)</a:t>
            </a:r>
            <a:endParaRPr lang="en-US" sz="3800" dirty="0"/>
          </a:p>
        </p:txBody>
      </p:sp>
      <p:sp>
        <p:nvSpPr>
          <p:cNvPr id="4" name="Rectangle 3"/>
          <p:cNvSpPr/>
          <p:nvPr/>
        </p:nvSpPr>
        <p:spPr>
          <a:xfrm>
            <a:off x="685800" y="2057400"/>
            <a:ext cx="7772400" cy="369331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6A9955"/>
                </a:solidFill>
                <a:latin typeface="Consolas"/>
              </a:rPr>
              <a:t>#!/</a:t>
            </a:r>
            <a:r>
              <a:rPr lang="en-US" dirty="0" err="1" smtClean="0">
                <a:solidFill>
                  <a:srgbClr val="6A9955"/>
                </a:solidFill>
                <a:latin typeface="Consolas"/>
              </a:rPr>
              <a:t>usr</a:t>
            </a:r>
            <a:r>
              <a:rPr lang="en-US" dirty="0" smtClean="0">
                <a:solidFill>
                  <a:srgbClr val="6A9955"/>
                </a:solidFill>
                <a:latin typeface="Consolas"/>
              </a:rPr>
              <a:t>/bin/</a:t>
            </a:r>
            <a:r>
              <a:rPr lang="en-US" dirty="0" err="1" smtClean="0">
                <a:solidFill>
                  <a:srgbClr val="6A9955"/>
                </a:solidFill>
                <a:latin typeface="Consolas"/>
              </a:rPr>
              <a:t>env</a:t>
            </a:r>
            <a:r>
              <a:rPr lang="en-US" dirty="0" smtClean="0">
                <a:solidFill>
                  <a:srgbClr val="6A9955"/>
                </a:solidFill>
                <a:latin typeface="Consolas"/>
              </a:rPr>
              <a:t> node</a:t>
            </a:r>
            <a:endParaRPr lang="en-US" dirty="0" smtClean="0">
              <a:solidFill>
                <a:srgbClr val="D4D4D4"/>
              </a:solidFill>
              <a:latin typeface="Consolas"/>
            </a:endParaRPr>
          </a:p>
          <a:p>
            <a:r>
              <a:rPr lang="en-US" dirty="0" smtClean="0">
                <a:solidFill>
                  <a:srgbClr val="6A9955"/>
                </a:solidFill>
                <a:latin typeface="Consolas"/>
              </a:rPr>
              <a:t>// </a:t>
            </a:r>
            <a:r>
              <a:rPr lang="en-US" dirty="0" err="1" smtClean="0">
                <a:solidFill>
                  <a:srgbClr val="6A9955"/>
                </a:solidFill>
                <a:latin typeface="Consolas"/>
              </a:rPr>
              <a:t>npm</a:t>
            </a:r>
            <a:r>
              <a:rPr lang="en-US" dirty="0" smtClean="0">
                <a:solidFill>
                  <a:srgbClr val="6A9955"/>
                </a:solidFill>
                <a:latin typeface="Consolas"/>
              </a:rPr>
              <a:t> install @</a:t>
            </a:r>
            <a:r>
              <a:rPr lang="en-US" dirty="0" err="1" smtClean="0">
                <a:solidFill>
                  <a:srgbClr val="6A9955"/>
                </a:solidFill>
                <a:latin typeface="Consolas"/>
              </a:rPr>
              <a:t>grpc</a:t>
            </a:r>
            <a:r>
              <a:rPr lang="en-US" dirty="0" smtClean="0">
                <a:solidFill>
                  <a:srgbClr val="6A9955"/>
                </a:solidFill>
                <a:latin typeface="Consolas"/>
              </a:rPr>
              <a:t>/grpc-js@1.1 @</a:t>
            </a:r>
            <a:r>
              <a:rPr lang="en-US" dirty="0" err="1" smtClean="0">
                <a:solidFill>
                  <a:srgbClr val="6A9955"/>
                </a:solidFill>
                <a:latin typeface="Consolas"/>
              </a:rPr>
              <a:t>grpc</a:t>
            </a:r>
            <a:r>
              <a:rPr lang="en-US" dirty="0" smtClean="0">
                <a:solidFill>
                  <a:srgbClr val="6A9955"/>
                </a:solidFill>
                <a:latin typeface="Consolas"/>
              </a:rPr>
              <a:t>/proto-loader@0.5 fastify@3.2</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EC9B0"/>
                </a:solidFill>
                <a:latin typeface="Consolas"/>
              </a:rPr>
              <a:t>util</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util</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grpc</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grpc</a:t>
            </a:r>
            <a:r>
              <a:rPr lang="en-US" dirty="0" smtClean="0">
                <a:solidFill>
                  <a:srgbClr val="CE9178"/>
                </a:solidFill>
                <a:latin typeface="Consolas"/>
              </a:rPr>
              <a:t>/</a:t>
            </a:r>
            <a:r>
              <a:rPr lang="en-US" dirty="0" err="1" smtClean="0">
                <a:solidFill>
                  <a:srgbClr val="CE9178"/>
                </a:solidFill>
                <a:latin typeface="Consolas"/>
              </a:rPr>
              <a:t>grpc-js</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server</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fastify</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loader</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grpc</a:t>
            </a:r>
            <a:r>
              <a:rPr lang="en-US" dirty="0" smtClean="0">
                <a:solidFill>
                  <a:srgbClr val="CE9178"/>
                </a:solidFill>
                <a:latin typeface="Consolas"/>
              </a:rPr>
              <a:t>/proto-loader'</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path</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'path'</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6A9955"/>
                </a:solidFill>
                <a:latin typeface="Consolas"/>
              </a:rPr>
              <a:t>// This one loads the .proto definitions at startup.</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pkg_def</a:t>
            </a:r>
            <a:r>
              <a:rPr lang="en-US" dirty="0" smtClean="0">
                <a:solidFill>
                  <a:srgbClr val="D4D4D4"/>
                </a:solidFill>
                <a:latin typeface="Consolas"/>
              </a:rPr>
              <a:t> = </a:t>
            </a:r>
            <a:r>
              <a:rPr lang="en-US" dirty="0" err="1" smtClean="0">
                <a:solidFill>
                  <a:srgbClr val="9CDCFE"/>
                </a:solidFill>
                <a:latin typeface="Consolas"/>
              </a:rPr>
              <a:t>loader</a:t>
            </a:r>
            <a:r>
              <a:rPr lang="en-US" dirty="0" err="1" smtClean="0">
                <a:solidFill>
                  <a:srgbClr val="D4D4D4"/>
                </a:solidFill>
                <a:latin typeface="Consolas"/>
              </a:rPr>
              <a:t>.</a:t>
            </a:r>
            <a:r>
              <a:rPr lang="en-US" dirty="0" err="1" smtClean="0">
                <a:solidFill>
                  <a:srgbClr val="DCDCAA"/>
                </a:solidFill>
                <a:latin typeface="Consolas"/>
              </a:rPr>
              <a:t>loadSync</a:t>
            </a:r>
            <a:r>
              <a:rPr lang="en-US" dirty="0" smtClean="0">
                <a:solidFill>
                  <a:srgbClr val="D4D4D4"/>
                </a:solidFill>
                <a:latin typeface="Consolas"/>
              </a:rPr>
              <a:t>(</a:t>
            </a:r>
            <a:r>
              <a:rPr lang="en-US" dirty="0" err="1" smtClean="0">
                <a:solidFill>
                  <a:srgbClr val="4FC1FF"/>
                </a:solidFill>
                <a:latin typeface="Consolas"/>
              </a:rPr>
              <a:t>path</a:t>
            </a:r>
            <a:r>
              <a:rPr lang="en-US" dirty="0" err="1" smtClean="0">
                <a:solidFill>
                  <a:srgbClr val="D4D4D4"/>
                </a:solidFill>
                <a:latin typeface="Consolas"/>
              </a:rPr>
              <a:t>.</a:t>
            </a:r>
            <a:r>
              <a:rPr lang="en-US" dirty="0" err="1" smtClean="0">
                <a:solidFill>
                  <a:srgbClr val="DCDCAA"/>
                </a:solidFill>
                <a:latin typeface="Consolas"/>
              </a:rPr>
              <a:t>join</a:t>
            </a:r>
            <a:r>
              <a:rPr lang="en-US" dirty="0" smtClean="0">
                <a:solidFill>
                  <a:srgbClr val="D4D4D4"/>
                </a:solidFill>
                <a:latin typeface="Consolas"/>
              </a:rPr>
              <a:t>(</a:t>
            </a:r>
            <a:r>
              <a:rPr lang="en-US" dirty="0" smtClean="0">
                <a:solidFill>
                  <a:srgbClr val="9CDCFE"/>
                </a:solidFill>
                <a:latin typeface="Consolas"/>
              </a:rPr>
              <a:t>__</a:t>
            </a:r>
            <a:r>
              <a:rPr lang="en-US" dirty="0" err="1" smtClean="0">
                <a:solidFill>
                  <a:srgbClr val="9CDCFE"/>
                </a:solidFill>
                <a:latin typeface="Consolas"/>
              </a:rPr>
              <a:t>dirname</a:t>
            </a:r>
            <a:r>
              <a:rPr lang="en-US" dirty="0" smtClean="0">
                <a:solidFill>
                  <a:srgbClr val="D4D4D4"/>
                </a:solidFill>
                <a:latin typeface="Consolas"/>
              </a:rPr>
              <a:t>, </a:t>
            </a:r>
            <a:r>
              <a:rPr lang="en-US" dirty="0" smtClean="0">
                <a:solidFill>
                  <a:srgbClr val="CE9178"/>
                </a:solidFill>
                <a:latin typeface="Consolas"/>
              </a:rPr>
              <a:t>'..'</a:t>
            </a:r>
            <a:r>
              <a:rPr lang="en-US" dirty="0" smtClean="0">
                <a:solidFill>
                  <a:srgbClr val="D4D4D4"/>
                </a:solidFill>
                <a:latin typeface="Consolas"/>
              </a:rPr>
              <a:t>, </a:t>
            </a:r>
            <a:r>
              <a:rPr lang="en-US" dirty="0" smtClean="0">
                <a:solidFill>
                  <a:srgbClr val="CE9178"/>
                </a:solidFill>
                <a:latin typeface="Consolas"/>
              </a:rPr>
              <a:t>'/shared/</a:t>
            </a:r>
            <a:r>
              <a:rPr lang="en-US" dirty="0" err="1" smtClean="0">
                <a:solidFill>
                  <a:srgbClr val="CE9178"/>
                </a:solidFill>
                <a:latin typeface="Consolas"/>
              </a:rPr>
              <a:t>grpc-recipe.proto</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EC9B0"/>
                </a:solidFill>
                <a:latin typeface="Consolas"/>
              </a:rPr>
              <a:t>recipe</a:t>
            </a:r>
            <a:r>
              <a:rPr lang="en-US" dirty="0" smtClean="0">
                <a:solidFill>
                  <a:srgbClr val="D4D4D4"/>
                </a:solidFill>
                <a:latin typeface="Consolas"/>
              </a:rPr>
              <a:t> = </a:t>
            </a:r>
            <a:r>
              <a:rPr lang="en-US" dirty="0" err="1" smtClean="0">
                <a:solidFill>
                  <a:srgbClr val="9CDCFE"/>
                </a:solidFill>
                <a:latin typeface="Consolas"/>
              </a:rPr>
              <a:t>grpc</a:t>
            </a:r>
            <a:r>
              <a:rPr lang="en-US" dirty="0" err="1" smtClean="0">
                <a:solidFill>
                  <a:srgbClr val="D4D4D4"/>
                </a:solidFill>
                <a:latin typeface="Consolas"/>
              </a:rPr>
              <a:t>.</a:t>
            </a:r>
            <a:r>
              <a:rPr lang="en-US" dirty="0" err="1" smtClean="0">
                <a:solidFill>
                  <a:srgbClr val="DCDCAA"/>
                </a:solidFill>
                <a:latin typeface="Consolas"/>
              </a:rPr>
              <a:t>loadPackageDefinition</a:t>
            </a:r>
            <a:r>
              <a:rPr lang="en-US" dirty="0" smtClean="0">
                <a:solidFill>
                  <a:srgbClr val="D4D4D4"/>
                </a:solidFill>
                <a:latin typeface="Consolas"/>
              </a:rPr>
              <a:t>(</a:t>
            </a:r>
            <a:r>
              <a:rPr lang="en-US" dirty="0" err="1" smtClean="0">
                <a:solidFill>
                  <a:srgbClr val="4FC1FF"/>
                </a:solidFill>
                <a:latin typeface="Consolas"/>
              </a:rPr>
              <a:t>pkg_def</a:t>
            </a:r>
            <a:r>
              <a:rPr lang="en-US" dirty="0" smtClean="0">
                <a:solidFill>
                  <a:srgbClr val="D4D4D4"/>
                </a:solidFill>
                <a:latin typeface="Consolas"/>
              </a:rPr>
              <a:t>).</a:t>
            </a:r>
            <a:r>
              <a:rPr lang="en-US" dirty="0" smtClean="0">
                <a:solidFill>
                  <a:srgbClr val="9CDCFE"/>
                </a:solidFill>
                <a:latin typeface="Consolas"/>
              </a:rPr>
              <a:t>recipe</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Create </a:t>
            </a:r>
            <a:r>
              <a:rPr lang="en-US" sz="3800" dirty="0" smtClean="0">
                <a:latin typeface="Consolas" pitchFamily="49" charset="0"/>
              </a:rPr>
              <a:t>web-</a:t>
            </a:r>
            <a:r>
              <a:rPr lang="en-US" sz="3800" dirty="0" err="1" smtClean="0">
                <a:latin typeface="Consolas" pitchFamily="49" charset="0"/>
              </a:rPr>
              <a:t>api</a:t>
            </a:r>
            <a:r>
              <a:rPr lang="en-US" sz="3800" dirty="0" smtClean="0">
                <a:latin typeface="Consolas" pitchFamily="49" charset="0"/>
              </a:rPr>
              <a:t>/web-api.js (II)</a:t>
            </a:r>
            <a:endParaRPr lang="en-US" sz="3800" dirty="0"/>
          </a:p>
        </p:txBody>
      </p:sp>
      <p:sp>
        <p:nvSpPr>
          <p:cNvPr id="4" name="Rectangle 3"/>
          <p:cNvSpPr/>
          <p:nvPr/>
        </p:nvSpPr>
        <p:spPr>
          <a:xfrm>
            <a:off x="457200" y="1828800"/>
            <a:ext cx="8229600" cy="424731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HOST</a:t>
            </a:r>
            <a:r>
              <a:rPr lang="en-US" dirty="0" smtClean="0">
                <a:solidFill>
                  <a:srgbClr val="D4D4D4"/>
                </a:solidFill>
                <a:latin typeface="Consolas"/>
              </a:rPr>
              <a:t> = </a:t>
            </a:r>
            <a:r>
              <a:rPr lang="en-US" dirty="0" smtClean="0">
                <a:solidFill>
                  <a:srgbClr val="CE9178"/>
                </a:solidFill>
                <a:latin typeface="Consolas"/>
              </a:rPr>
              <a:t>'127.0.0.1'</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PORT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PORT</a:t>
            </a:r>
            <a:r>
              <a:rPr lang="en-US" dirty="0" smtClean="0">
                <a:solidFill>
                  <a:srgbClr val="D4D4D4"/>
                </a:solidFill>
                <a:latin typeface="Consolas"/>
              </a:rPr>
              <a:t> || </a:t>
            </a:r>
            <a:r>
              <a:rPr lang="en-US" dirty="0" smtClean="0">
                <a:solidFill>
                  <a:srgbClr val="B5CEA8"/>
                </a:solidFill>
                <a:latin typeface="Consolas"/>
              </a:rPr>
              <a:t>3000</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TARGET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TARGET</a:t>
            </a:r>
            <a:r>
              <a:rPr lang="en-US" dirty="0" smtClean="0">
                <a:solidFill>
                  <a:srgbClr val="D4D4D4"/>
                </a:solidFill>
                <a:latin typeface="Consolas"/>
              </a:rPr>
              <a:t> || </a:t>
            </a:r>
            <a:r>
              <a:rPr lang="en-US" dirty="0" smtClean="0">
                <a:solidFill>
                  <a:srgbClr val="CE9178"/>
                </a:solidFill>
                <a:latin typeface="Consolas"/>
              </a:rPr>
              <a:t>'127.0.0.1:4000'</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client</a:t>
            </a:r>
            <a:r>
              <a:rPr lang="en-US" dirty="0" smtClean="0">
                <a:solidFill>
                  <a:srgbClr val="D4D4D4"/>
                </a:solidFill>
                <a:latin typeface="Consolas"/>
              </a:rPr>
              <a:t> = </a:t>
            </a:r>
            <a:r>
              <a:rPr lang="en-US" dirty="0" smtClean="0">
                <a:solidFill>
                  <a:srgbClr val="569CD6"/>
                </a:solidFill>
                <a:latin typeface="Consolas"/>
              </a:rPr>
              <a:t>new</a:t>
            </a:r>
            <a:r>
              <a:rPr lang="en-US" dirty="0" smtClean="0">
                <a:solidFill>
                  <a:srgbClr val="D4D4D4"/>
                </a:solidFill>
                <a:latin typeface="Consolas"/>
              </a:rPr>
              <a:t> </a:t>
            </a:r>
            <a:r>
              <a:rPr lang="en-US" dirty="0" err="1" smtClean="0">
                <a:solidFill>
                  <a:srgbClr val="4EC9B0"/>
                </a:solidFill>
                <a:latin typeface="Consolas"/>
              </a:rPr>
              <a:t>recipe</a:t>
            </a:r>
            <a:r>
              <a:rPr lang="en-US" dirty="0" err="1" smtClean="0">
                <a:solidFill>
                  <a:srgbClr val="D4D4D4"/>
                </a:solidFill>
                <a:latin typeface="Consolas"/>
              </a:rPr>
              <a:t>.</a:t>
            </a:r>
            <a:r>
              <a:rPr lang="en-US" dirty="0" err="1" smtClean="0">
                <a:solidFill>
                  <a:srgbClr val="DCDCAA"/>
                </a:solidFill>
                <a:latin typeface="Consolas"/>
              </a:rPr>
              <a:t>RecipeService</a:t>
            </a:r>
            <a:r>
              <a:rPr lang="en-US" dirty="0" smtClean="0">
                <a:solidFill>
                  <a:srgbClr val="D4D4D4"/>
                </a:solidFill>
                <a:latin typeface="Consolas"/>
              </a:rPr>
              <a:t>( </a:t>
            </a:r>
            <a:r>
              <a:rPr lang="en-US" dirty="0" smtClean="0">
                <a:solidFill>
                  <a:srgbClr val="6A9955"/>
                </a:solidFill>
                <a:latin typeface="Consolas"/>
              </a:rPr>
              <a:t>// The </a:t>
            </a:r>
            <a:r>
              <a:rPr lang="en-US" dirty="0" err="1" smtClean="0">
                <a:solidFill>
                  <a:srgbClr val="6A9955"/>
                </a:solidFill>
                <a:latin typeface="Consolas"/>
              </a:rPr>
              <a:t>gRPC</a:t>
            </a:r>
            <a:r>
              <a:rPr lang="en-US" dirty="0" smtClean="0">
                <a:solidFill>
                  <a:srgbClr val="6A9955"/>
                </a:solidFill>
                <a:latin typeface="Consolas"/>
              </a:rPr>
              <a:t> client is aware that </a:t>
            </a:r>
            <a:endParaRPr lang="en-US" dirty="0" smtClean="0">
              <a:solidFill>
                <a:srgbClr val="D4D4D4"/>
              </a:solidFill>
              <a:latin typeface="Consolas"/>
            </a:endParaRPr>
          </a:p>
          <a:p>
            <a:r>
              <a:rPr lang="en-US" dirty="0" smtClean="0">
                <a:solidFill>
                  <a:srgbClr val="6A9955"/>
                </a:solidFill>
                <a:latin typeface="Consolas"/>
              </a:rPr>
              <a:t>// it is connecting to a </a:t>
            </a:r>
            <a:r>
              <a:rPr lang="en-US" dirty="0" err="1" smtClean="0">
                <a:solidFill>
                  <a:srgbClr val="6A9955"/>
                </a:solidFill>
                <a:latin typeface="Consolas"/>
              </a:rPr>
              <a:t>recipe.RecipeService</a:t>
            </a:r>
            <a:r>
              <a:rPr lang="en-US" dirty="0" smtClean="0">
                <a:solidFill>
                  <a:srgbClr val="6A9955"/>
                </a:solidFill>
                <a:latin typeface="Consolas"/>
              </a:rPr>
              <a:t> service.</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4FC1FF"/>
                </a:solidFill>
                <a:latin typeface="Consolas"/>
              </a:rPr>
              <a:t>TARGET</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9CDCFE"/>
                </a:solidFill>
                <a:latin typeface="Consolas"/>
              </a:rPr>
              <a:t>grpc</a:t>
            </a:r>
            <a:r>
              <a:rPr lang="en-US" dirty="0" err="1" smtClean="0">
                <a:solidFill>
                  <a:srgbClr val="D4D4D4"/>
                </a:solidFill>
                <a:latin typeface="Consolas"/>
              </a:rPr>
              <a:t>.</a:t>
            </a:r>
            <a:r>
              <a:rPr lang="en-US" dirty="0" err="1" smtClean="0">
                <a:solidFill>
                  <a:srgbClr val="4FC1FF"/>
                </a:solidFill>
                <a:latin typeface="Consolas"/>
              </a:rPr>
              <a:t>credentials</a:t>
            </a:r>
            <a:r>
              <a:rPr lang="en-US" dirty="0" err="1" smtClean="0">
                <a:solidFill>
                  <a:srgbClr val="D4D4D4"/>
                </a:solidFill>
                <a:latin typeface="Consolas"/>
              </a:rPr>
              <a:t>.</a:t>
            </a:r>
            <a:r>
              <a:rPr lang="en-US" dirty="0" err="1" smtClean="0">
                <a:solidFill>
                  <a:srgbClr val="DCDCAA"/>
                </a:solidFill>
                <a:latin typeface="Consolas"/>
              </a:rPr>
              <a:t>createInsecure</a:t>
            </a:r>
            <a:r>
              <a:rPr lang="en-US" dirty="0" smtClean="0">
                <a:solidFill>
                  <a:srgbClr val="D4D4D4"/>
                </a:solidFill>
                <a:latin typeface="Consolas"/>
              </a:rPr>
              <a:t>() </a:t>
            </a:r>
            <a:r>
              <a:rPr lang="en-US" dirty="0" smtClean="0">
                <a:solidFill>
                  <a:srgbClr val="6A9955"/>
                </a:solidFill>
                <a:latin typeface="Consolas"/>
              </a:rPr>
              <a:t>// Security has been disabled.</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getMetaData</a:t>
            </a:r>
            <a:r>
              <a:rPr lang="en-US" dirty="0" smtClean="0">
                <a:solidFill>
                  <a:srgbClr val="D4D4D4"/>
                </a:solidFill>
                <a:latin typeface="Consolas"/>
              </a:rPr>
              <a:t> = </a:t>
            </a:r>
            <a:r>
              <a:rPr lang="en-US" dirty="0" err="1" smtClean="0">
                <a:solidFill>
                  <a:srgbClr val="4EC9B0"/>
                </a:solidFill>
                <a:latin typeface="Consolas"/>
              </a:rPr>
              <a:t>util</a:t>
            </a:r>
            <a:r>
              <a:rPr lang="en-US" dirty="0" err="1" smtClean="0">
                <a:solidFill>
                  <a:srgbClr val="D4D4D4"/>
                </a:solidFill>
                <a:latin typeface="Consolas"/>
              </a:rPr>
              <a:t>.</a:t>
            </a:r>
            <a:r>
              <a:rPr lang="en-US" dirty="0" err="1" smtClean="0">
                <a:solidFill>
                  <a:srgbClr val="DCDCAA"/>
                </a:solidFill>
                <a:latin typeface="Consolas"/>
              </a:rPr>
              <a:t>promisify</a:t>
            </a:r>
            <a:r>
              <a:rPr lang="en-US" dirty="0" smtClean="0">
                <a:solidFill>
                  <a:srgbClr val="D4D4D4"/>
                </a:solidFill>
                <a:latin typeface="Consolas"/>
              </a:rPr>
              <a:t>(</a:t>
            </a:r>
            <a:r>
              <a:rPr lang="en-US" dirty="0" err="1" smtClean="0">
                <a:solidFill>
                  <a:srgbClr val="4FC1FF"/>
                </a:solidFill>
                <a:latin typeface="Consolas"/>
              </a:rPr>
              <a:t>client</a:t>
            </a:r>
            <a:r>
              <a:rPr lang="en-US" dirty="0" err="1" smtClean="0">
                <a:solidFill>
                  <a:srgbClr val="D4D4D4"/>
                </a:solidFill>
                <a:latin typeface="Consolas"/>
              </a:rPr>
              <a:t>.</a:t>
            </a:r>
            <a:r>
              <a:rPr lang="en-US" dirty="0" err="1" smtClean="0">
                <a:solidFill>
                  <a:srgbClr val="9CDCFE"/>
                </a:solidFill>
                <a:latin typeface="Consolas"/>
              </a:rPr>
              <a:t>getMetaData</a:t>
            </a:r>
            <a:r>
              <a:rPr lang="en-US" dirty="0" err="1" smtClean="0">
                <a:solidFill>
                  <a:srgbClr val="D4D4D4"/>
                </a:solidFill>
                <a:latin typeface="Consolas"/>
              </a:rPr>
              <a:t>.</a:t>
            </a:r>
            <a:r>
              <a:rPr lang="en-US" dirty="0" err="1" smtClean="0">
                <a:solidFill>
                  <a:srgbClr val="DCDCAA"/>
                </a:solidFill>
                <a:latin typeface="Consolas"/>
              </a:rPr>
              <a:t>bind</a:t>
            </a:r>
            <a:r>
              <a:rPr lang="en-US" dirty="0" smtClean="0">
                <a:solidFill>
                  <a:srgbClr val="D4D4D4"/>
                </a:solidFill>
                <a:latin typeface="Consolas"/>
              </a:rPr>
              <a:t>(</a:t>
            </a:r>
            <a:r>
              <a:rPr lang="en-US" dirty="0" smtClean="0">
                <a:solidFill>
                  <a:srgbClr val="4FC1FF"/>
                </a:solidFill>
                <a:latin typeface="Consolas"/>
              </a:rPr>
              <a:t>client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getRecipe</a:t>
            </a:r>
            <a:r>
              <a:rPr lang="en-US" dirty="0" smtClean="0">
                <a:solidFill>
                  <a:srgbClr val="D4D4D4"/>
                </a:solidFill>
                <a:latin typeface="Consolas"/>
              </a:rPr>
              <a:t> = </a:t>
            </a:r>
            <a:r>
              <a:rPr lang="en-US" dirty="0" err="1" smtClean="0">
                <a:solidFill>
                  <a:srgbClr val="4EC9B0"/>
                </a:solidFill>
                <a:latin typeface="Consolas"/>
              </a:rPr>
              <a:t>util</a:t>
            </a:r>
            <a:r>
              <a:rPr lang="en-US" dirty="0" err="1" smtClean="0">
                <a:solidFill>
                  <a:srgbClr val="D4D4D4"/>
                </a:solidFill>
                <a:latin typeface="Consolas"/>
              </a:rPr>
              <a:t>.</a:t>
            </a:r>
            <a:r>
              <a:rPr lang="en-US" dirty="0" err="1" smtClean="0">
                <a:solidFill>
                  <a:srgbClr val="DCDCAA"/>
                </a:solidFill>
                <a:latin typeface="Consolas"/>
              </a:rPr>
              <a:t>promisify</a:t>
            </a:r>
            <a:r>
              <a:rPr lang="en-US" dirty="0" smtClean="0">
                <a:solidFill>
                  <a:srgbClr val="D4D4D4"/>
                </a:solidFill>
                <a:latin typeface="Consolas"/>
              </a:rPr>
              <a:t>(</a:t>
            </a:r>
            <a:r>
              <a:rPr lang="en-US" dirty="0" err="1" smtClean="0">
                <a:solidFill>
                  <a:srgbClr val="4FC1FF"/>
                </a:solidFill>
                <a:latin typeface="Consolas"/>
              </a:rPr>
              <a:t>client</a:t>
            </a:r>
            <a:r>
              <a:rPr lang="en-US" dirty="0" err="1" smtClean="0">
                <a:solidFill>
                  <a:srgbClr val="D4D4D4"/>
                </a:solidFill>
                <a:latin typeface="Consolas"/>
              </a:rPr>
              <a:t>.</a:t>
            </a:r>
            <a:r>
              <a:rPr lang="en-US" dirty="0" err="1" smtClean="0">
                <a:solidFill>
                  <a:srgbClr val="9CDCFE"/>
                </a:solidFill>
                <a:latin typeface="Consolas"/>
              </a:rPr>
              <a:t>getRecipe</a:t>
            </a:r>
            <a:r>
              <a:rPr lang="en-US" dirty="0" err="1" smtClean="0">
                <a:solidFill>
                  <a:srgbClr val="D4D4D4"/>
                </a:solidFill>
                <a:latin typeface="Consolas"/>
              </a:rPr>
              <a:t>.</a:t>
            </a:r>
            <a:r>
              <a:rPr lang="en-US" dirty="0" err="1" smtClean="0">
                <a:solidFill>
                  <a:srgbClr val="DCDCAA"/>
                </a:solidFill>
                <a:latin typeface="Consolas"/>
              </a:rPr>
              <a:t>bind</a:t>
            </a:r>
            <a:r>
              <a:rPr lang="en-US" dirty="0" smtClean="0">
                <a:solidFill>
                  <a:srgbClr val="D4D4D4"/>
                </a:solidFill>
                <a:latin typeface="Consolas"/>
              </a:rPr>
              <a:t>(</a:t>
            </a:r>
            <a:r>
              <a:rPr lang="en-US" dirty="0" smtClean="0">
                <a:solidFill>
                  <a:srgbClr val="4FC1FF"/>
                </a:solidFill>
                <a:latin typeface="Consolas"/>
              </a:rPr>
              <a:t>client</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dirty="0" smtClean="0"/>
              <a:t>3. Create </a:t>
            </a:r>
            <a:r>
              <a:rPr lang="en-US" sz="3600" dirty="0" smtClean="0">
                <a:latin typeface="Consolas" pitchFamily="49" charset="0"/>
              </a:rPr>
              <a:t>web-</a:t>
            </a:r>
            <a:r>
              <a:rPr lang="en-US" sz="3600" dirty="0" err="1" smtClean="0">
                <a:latin typeface="Consolas" pitchFamily="49" charset="0"/>
              </a:rPr>
              <a:t>api</a:t>
            </a:r>
            <a:r>
              <a:rPr lang="en-US" sz="3600" dirty="0" smtClean="0">
                <a:latin typeface="Consolas" pitchFamily="49" charset="0"/>
              </a:rPr>
              <a:t>/web-api.js (III)</a:t>
            </a:r>
            <a:endParaRPr lang="en-US" sz="3600" dirty="0"/>
          </a:p>
        </p:txBody>
      </p:sp>
      <p:sp>
        <p:nvSpPr>
          <p:cNvPr id="4" name="Rectangle 3"/>
          <p:cNvSpPr/>
          <p:nvPr/>
        </p:nvSpPr>
        <p:spPr>
          <a:xfrm>
            <a:off x="457200" y="1828800"/>
            <a:ext cx="8229600" cy="480131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err="1" smtClean="0">
                <a:solidFill>
                  <a:srgbClr val="4FC1FF"/>
                </a:solidFill>
                <a:latin typeface="Consolas"/>
              </a:rPr>
              <a:t>server</a:t>
            </a:r>
            <a:r>
              <a:rPr lang="en-US" dirty="0" err="1" smtClean="0">
                <a:solidFill>
                  <a:srgbClr val="D4D4D4"/>
                </a:solidFill>
                <a:latin typeface="Consolas"/>
              </a:rPr>
              <a:t>.</a:t>
            </a:r>
            <a:r>
              <a:rPr lang="en-US" dirty="0" err="1" smtClean="0">
                <a:solidFill>
                  <a:srgbClr val="DCDCAA"/>
                </a:solidFill>
                <a:latin typeface="Consolas"/>
              </a:rPr>
              <a:t>get</a:t>
            </a:r>
            <a:r>
              <a:rPr lang="en-US" dirty="0" smtClean="0">
                <a:solidFill>
                  <a:srgbClr val="D4D4D4"/>
                </a:solidFill>
                <a:latin typeface="Consolas"/>
              </a:rPr>
              <a:t>(</a:t>
            </a:r>
            <a:r>
              <a:rPr lang="en-US" dirty="0" smtClean="0">
                <a:solidFill>
                  <a:srgbClr val="CE9178"/>
                </a:solidFill>
                <a:latin typeface="Consolas"/>
              </a:rPr>
              <a:t>'/'</a:t>
            </a:r>
            <a:r>
              <a:rPr lang="en-US" dirty="0" smtClean="0">
                <a:solidFill>
                  <a:srgbClr val="D4D4D4"/>
                </a:solidFill>
                <a:latin typeface="Consolas"/>
              </a:rPr>
              <a:t>, </a:t>
            </a:r>
            <a:r>
              <a:rPr lang="en-US" dirty="0" err="1" smtClean="0">
                <a:solidFill>
                  <a:srgbClr val="569CD6"/>
                </a:solidFill>
                <a:latin typeface="Consolas"/>
              </a:rPr>
              <a:t>async</a:t>
            </a:r>
            <a:r>
              <a:rPr lang="en-US" dirty="0" smtClean="0">
                <a:solidFill>
                  <a:srgbClr val="D4D4D4"/>
                </a:solidFill>
                <a:latin typeface="Consolas"/>
              </a:rPr>
              <a:t> ()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meta</a:t>
            </a:r>
            <a:r>
              <a:rPr lang="en-US" dirty="0" smtClean="0">
                <a:solidFill>
                  <a:srgbClr val="D4D4D4"/>
                </a:solidFill>
                <a:latin typeface="Consolas"/>
              </a:rPr>
              <a:t>, </a:t>
            </a:r>
            <a:r>
              <a:rPr lang="en-US" dirty="0" smtClean="0">
                <a:solidFill>
                  <a:srgbClr val="4FC1FF"/>
                </a:solidFill>
                <a:latin typeface="Consolas"/>
              </a:rPr>
              <a:t>recipe</a:t>
            </a:r>
            <a:r>
              <a:rPr lang="en-US" dirty="0" smtClean="0">
                <a:solidFill>
                  <a:srgbClr val="D4D4D4"/>
                </a:solidFill>
                <a:latin typeface="Consolas"/>
              </a:rPr>
              <a:t>] = </a:t>
            </a:r>
            <a:r>
              <a:rPr lang="en-US" dirty="0" smtClean="0">
                <a:solidFill>
                  <a:srgbClr val="C586C0"/>
                </a:solidFill>
                <a:latin typeface="Consolas"/>
              </a:rPr>
              <a:t>await</a:t>
            </a:r>
            <a:r>
              <a:rPr lang="en-US" dirty="0" smtClean="0">
                <a:solidFill>
                  <a:srgbClr val="D4D4D4"/>
                </a:solidFill>
                <a:latin typeface="Consolas"/>
              </a:rPr>
              <a:t> </a:t>
            </a:r>
            <a:r>
              <a:rPr lang="en-US" dirty="0" err="1" smtClean="0">
                <a:solidFill>
                  <a:srgbClr val="4EC9B0"/>
                </a:solidFill>
                <a:latin typeface="Consolas"/>
              </a:rPr>
              <a:t>Promise</a:t>
            </a:r>
            <a:r>
              <a:rPr lang="en-US" dirty="0" err="1" smtClean="0">
                <a:solidFill>
                  <a:srgbClr val="D4D4D4"/>
                </a:solidFill>
                <a:latin typeface="Consolas"/>
              </a:rPr>
              <a:t>.</a:t>
            </a:r>
            <a:r>
              <a:rPr lang="en-US" dirty="0" err="1" smtClean="0">
                <a:solidFill>
                  <a:srgbClr val="DCDCAA"/>
                </a:solidFill>
                <a:latin typeface="Consolas"/>
              </a:rPr>
              <a:t>all</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CDCAA"/>
                </a:solidFill>
                <a:latin typeface="Consolas"/>
              </a:rPr>
              <a:t>getMetaData</a:t>
            </a:r>
            <a:r>
              <a:rPr lang="en-US" dirty="0" smtClean="0">
                <a:solidFill>
                  <a:srgbClr val="D4D4D4"/>
                </a:solidFill>
                <a:latin typeface="Consolas"/>
              </a:rPr>
              <a:t>({}), </a:t>
            </a:r>
            <a:r>
              <a:rPr lang="en-US" dirty="0" smtClean="0">
                <a:solidFill>
                  <a:srgbClr val="6A9955"/>
                </a:solidFill>
                <a:latin typeface="Consolas"/>
              </a:rPr>
              <a:t>// The </a:t>
            </a:r>
            <a:r>
              <a:rPr lang="en-US" dirty="0" err="1" smtClean="0">
                <a:solidFill>
                  <a:srgbClr val="6A9955"/>
                </a:solidFill>
                <a:latin typeface="Consolas"/>
              </a:rPr>
              <a:t>GetMetaData</a:t>
            </a:r>
            <a:r>
              <a:rPr lang="en-US" dirty="0" smtClean="0">
                <a:solidFill>
                  <a:srgbClr val="6A9955"/>
                </a:solidFill>
                <a:latin typeface="Consolas"/>
              </a:rPr>
              <a:t>() call makes use of </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6A9955"/>
                </a:solidFill>
                <a:latin typeface="Consolas"/>
              </a:rPr>
              <a:t>// an Empty message, which contains no properties.</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CDCAA"/>
                </a:solidFill>
                <a:latin typeface="Consolas"/>
              </a:rPr>
              <a:t>getRecipe</a:t>
            </a:r>
            <a:r>
              <a:rPr lang="en-US" dirty="0" smtClean="0">
                <a:solidFill>
                  <a:srgbClr val="D4D4D4"/>
                </a:solidFill>
                <a:latin typeface="Consolas"/>
              </a:rPr>
              <a:t>({ </a:t>
            </a:r>
            <a:r>
              <a:rPr lang="en-US" dirty="0" smtClean="0">
                <a:solidFill>
                  <a:srgbClr val="9CDCFE"/>
                </a:solidFill>
                <a:latin typeface="Consolas"/>
              </a:rPr>
              <a:t>id:</a:t>
            </a:r>
            <a:r>
              <a:rPr lang="en-US" dirty="0" smtClean="0">
                <a:solidFill>
                  <a:srgbClr val="D4D4D4"/>
                </a:solidFill>
                <a:latin typeface="Consolas"/>
              </a:rPr>
              <a:t> </a:t>
            </a:r>
            <a:r>
              <a:rPr lang="en-US" dirty="0" smtClean="0">
                <a:solidFill>
                  <a:srgbClr val="B5CEA8"/>
                </a:solidFill>
                <a:latin typeface="Consolas"/>
              </a:rPr>
              <a:t>42</a:t>
            </a:r>
            <a:r>
              <a:rPr lang="en-US" dirty="0" smtClean="0">
                <a:solidFill>
                  <a:srgbClr val="D4D4D4"/>
                </a:solidFill>
                <a:latin typeface="Consolas"/>
              </a:rPr>
              <a:t> }), </a:t>
            </a:r>
            <a:r>
              <a:rPr lang="en-US" dirty="0" smtClean="0">
                <a:solidFill>
                  <a:srgbClr val="6A9955"/>
                </a:solidFill>
                <a:latin typeface="Consolas"/>
              </a:rPr>
              <a:t>// The </a:t>
            </a:r>
            <a:r>
              <a:rPr lang="en-US" dirty="0" err="1" smtClean="0">
                <a:solidFill>
                  <a:srgbClr val="6A9955"/>
                </a:solidFill>
                <a:latin typeface="Consolas"/>
              </a:rPr>
              <a:t>GetRecipe</a:t>
            </a:r>
            <a:r>
              <a:rPr lang="en-US" dirty="0" smtClean="0">
                <a:solidFill>
                  <a:srgbClr val="6A9955"/>
                </a:solidFill>
                <a:latin typeface="Consolas"/>
              </a:rPr>
              <a:t>() call, however, </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6A9955"/>
                </a:solidFill>
                <a:latin typeface="Consolas"/>
              </a:rPr>
              <a:t>// expects a </a:t>
            </a:r>
            <a:r>
              <a:rPr lang="en-US" dirty="0" err="1" smtClean="0">
                <a:solidFill>
                  <a:srgbClr val="6A9955"/>
                </a:solidFill>
                <a:latin typeface="Consolas"/>
              </a:rPr>
              <a:t>RecipeRequest</a:t>
            </a:r>
            <a:r>
              <a:rPr lang="en-US" dirty="0" smtClean="0">
                <a:solidFill>
                  <a:srgbClr val="6A9955"/>
                </a:solidFill>
                <a:latin typeface="Consolas"/>
              </a:rPr>
              <a:t> message.</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6A9955"/>
                </a:solidFill>
                <a:latin typeface="Consolas"/>
              </a:rPr>
              <a:t>// Here, an object adhering to the same shape is passed in.</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9CDCFE"/>
                </a:solidFill>
                <a:latin typeface="Consolas"/>
              </a:rPr>
              <a:t>consumer_pid</a:t>
            </a:r>
            <a:r>
              <a:rPr lang="en-US" dirty="0" smtClean="0">
                <a:solidFill>
                  <a:srgbClr val="9CDCFE"/>
                </a:solidFill>
                <a:latin typeface="Consolas"/>
              </a:rPr>
              <a:t>:</a:t>
            </a:r>
            <a:r>
              <a:rPr lang="en-US" dirty="0" smtClean="0">
                <a:solidFill>
                  <a:srgbClr val="D4D4D4"/>
                </a:solidFill>
                <a:latin typeface="Consolas"/>
              </a:rPr>
              <a:t> </a:t>
            </a:r>
            <a:r>
              <a:rPr lang="en-US" dirty="0" smtClean="0">
                <a:solidFill>
                  <a:srgbClr val="9CDCFE"/>
                </a:solidFill>
                <a:latin typeface="Consolas"/>
              </a:rPr>
              <a:t>process</a:t>
            </a:r>
            <a:r>
              <a:rPr lang="en-US" dirty="0" smtClean="0">
                <a:solidFill>
                  <a:srgbClr val="D4D4D4"/>
                </a:solidFill>
                <a:latin typeface="Consolas"/>
              </a:rPr>
              <a:t>.</a:t>
            </a:r>
            <a:r>
              <a:rPr lang="en-US" dirty="0" smtClean="0">
                <a:solidFill>
                  <a:srgbClr val="9CDCFE"/>
                </a:solidFill>
                <a:latin typeface="Consolas"/>
              </a:rPr>
              <a:t>pid</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9CDCFE"/>
                </a:solidFill>
                <a:latin typeface="Consolas"/>
              </a:rPr>
              <a:t>producer_data</a:t>
            </a:r>
            <a:r>
              <a:rPr lang="en-US" dirty="0" smtClean="0">
                <a:solidFill>
                  <a:srgbClr val="9CDCFE"/>
                </a:solidFill>
                <a:latin typeface="Consolas"/>
              </a:rPr>
              <a:t>:</a:t>
            </a:r>
            <a:r>
              <a:rPr lang="en-US" dirty="0" smtClean="0">
                <a:solidFill>
                  <a:srgbClr val="D4D4D4"/>
                </a:solidFill>
                <a:latin typeface="Consolas"/>
              </a:rPr>
              <a:t> </a:t>
            </a:r>
            <a:r>
              <a:rPr lang="en-US" dirty="0" smtClean="0">
                <a:solidFill>
                  <a:srgbClr val="4FC1FF"/>
                </a:solidFill>
                <a:latin typeface="Consolas"/>
              </a:rPr>
              <a:t>meta</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9CDCFE"/>
                </a:solidFill>
                <a:latin typeface="Consolas"/>
              </a:rPr>
              <a:t>recipe</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dirty="0" smtClean="0"/>
              <a:t>4. Create </a:t>
            </a:r>
            <a:r>
              <a:rPr lang="en-US" sz="3600" dirty="0" smtClean="0">
                <a:latin typeface="Consolas" pitchFamily="49" charset="0"/>
              </a:rPr>
              <a:t>web-</a:t>
            </a:r>
            <a:r>
              <a:rPr lang="en-US" sz="3600" dirty="0" err="1" smtClean="0">
                <a:latin typeface="Consolas" pitchFamily="49" charset="0"/>
              </a:rPr>
              <a:t>api</a:t>
            </a:r>
            <a:r>
              <a:rPr lang="en-US" sz="3600" dirty="0" smtClean="0">
                <a:latin typeface="Consolas" pitchFamily="49" charset="0"/>
              </a:rPr>
              <a:t>/web-api.js (IV)</a:t>
            </a:r>
            <a:endParaRPr lang="en-US" sz="3600" dirty="0"/>
          </a:p>
        </p:txBody>
      </p:sp>
      <p:sp>
        <p:nvSpPr>
          <p:cNvPr id="4" name="Rectangle 3"/>
          <p:cNvSpPr/>
          <p:nvPr/>
        </p:nvSpPr>
        <p:spPr>
          <a:xfrm>
            <a:off x="457200" y="1828800"/>
            <a:ext cx="8229600" cy="92333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err="1" smtClean="0">
                <a:solidFill>
                  <a:srgbClr val="4FC1FF"/>
                </a:solidFill>
                <a:latin typeface="Consolas"/>
              </a:rPr>
              <a:t>server</a:t>
            </a:r>
            <a:r>
              <a:rPr lang="en-US" dirty="0" err="1" smtClean="0">
                <a:solidFill>
                  <a:srgbClr val="D4D4D4"/>
                </a:solidFill>
                <a:latin typeface="Consolas"/>
              </a:rPr>
              <a:t>.</a:t>
            </a:r>
            <a:r>
              <a:rPr lang="en-US" dirty="0" err="1" smtClean="0">
                <a:solidFill>
                  <a:srgbClr val="DCDCAA"/>
                </a:solidFill>
                <a:latin typeface="Consolas"/>
              </a:rPr>
              <a:t>listen</a:t>
            </a:r>
            <a:r>
              <a:rPr lang="en-US" dirty="0" smtClean="0">
                <a:solidFill>
                  <a:srgbClr val="D4D4D4"/>
                </a:solidFill>
                <a:latin typeface="Consolas"/>
              </a:rPr>
              <a:t>(</a:t>
            </a:r>
            <a:r>
              <a:rPr lang="en-US" dirty="0" smtClean="0">
                <a:solidFill>
                  <a:srgbClr val="4FC1FF"/>
                </a:solidFill>
                <a:latin typeface="Consolas"/>
              </a:rPr>
              <a:t>PORT</a:t>
            </a:r>
            <a:r>
              <a:rPr lang="en-US" dirty="0" smtClean="0">
                <a:solidFill>
                  <a:srgbClr val="D4D4D4"/>
                </a:solidFill>
                <a:latin typeface="Consolas"/>
              </a:rPr>
              <a:t>, </a:t>
            </a:r>
            <a:r>
              <a:rPr lang="en-US" dirty="0" smtClean="0">
                <a:solidFill>
                  <a:srgbClr val="4FC1FF"/>
                </a:solidFill>
                <a:latin typeface="Consolas"/>
              </a:rPr>
              <a:t>HOST</a:t>
            </a:r>
            <a:r>
              <a:rPr lang="en-US" dirty="0" smtClean="0">
                <a:solidFill>
                  <a:srgbClr val="D4D4D4"/>
                </a:solidFill>
                <a:latin typeface="Consolas"/>
              </a:rPr>
              <a:t>, ()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CE9178"/>
                </a:solidFill>
                <a:latin typeface="Consolas"/>
              </a:rPr>
              <a:t>`Consumer running at http://</a:t>
            </a:r>
            <a:r>
              <a:rPr lang="en-US" dirty="0" smtClean="0">
                <a:solidFill>
                  <a:srgbClr val="569CD6"/>
                </a:solidFill>
                <a:latin typeface="Consolas"/>
              </a:rPr>
              <a:t>${</a:t>
            </a:r>
            <a:r>
              <a:rPr lang="en-US" dirty="0" smtClean="0">
                <a:solidFill>
                  <a:srgbClr val="4FC1FF"/>
                </a:solidFill>
                <a:latin typeface="Consolas"/>
              </a:rPr>
              <a:t>HOST</a:t>
            </a:r>
            <a:r>
              <a:rPr lang="en-US" dirty="0" smtClean="0">
                <a:solidFill>
                  <a:srgbClr val="569CD6"/>
                </a:solidFill>
                <a:latin typeface="Consolas"/>
              </a:rPr>
              <a:t>}</a:t>
            </a:r>
            <a:r>
              <a:rPr lang="en-US" dirty="0" smtClean="0">
                <a:solidFill>
                  <a:srgbClr val="CE9178"/>
                </a:solidFill>
                <a:latin typeface="Consolas"/>
              </a:rPr>
              <a:t>:</a:t>
            </a:r>
            <a:r>
              <a:rPr lang="en-US" dirty="0" smtClean="0">
                <a:solidFill>
                  <a:srgbClr val="569CD6"/>
                </a:solidFill>
                <a:latin typeface="Consolas"/>
              </a:rPr>
              <a:t>${</a:t>
            </a:r>
            <a:r>
              <a:rPr lang="en-US" dirty="0" smtClean="0">
                <a:solidFill>
                  <a:srgbClr val="4FC1FF"/>
                </a:solidFill>
                <a:latin typeface="Consolas"/>
              </a:rPr>
              <a:t>PORT</a:t>
            </a:r>
            <a:r>
              <a:rPr lang="en-US" dirty="0" smtClean="0">
                <a:solidFill>
                  <a:srgbClr val="569CD6"/>
                </a:solidFill>
                <a:latin typeface="Consolas"/>
              </a:rPr>
              <a:t>}</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Run the </a:t>
            </a:r>
            <a:r>
              <a:rPr lang="en-US" dirty="0" smtClean="0">
                <a:latin typeface="Consolas" pitchFamily="49" charset="0"/>
              </a:rPr>
              <a:t>web-</a:t>
            </a:r>
            <a:r>
              <a:rPr lang="en-US" dirty="0" err="1" smtClean="0">
                <a:latin typeface="Consolas" pitchFamily="49" charset="0"/>
              </a:rPr>
              <a:t>api</a:t>
            </a:r>
            <a:r>
              <a:rPr lang="en-US" dirty="0" smtClean="0"/>
              <a:t> Service</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web-</a:t>
            </a:r>
            <a:r>
              <a:rPr lang="en-US" sz="2400" dirty="0" err="1" smtClean="0">
                <a:latin typeface="Consolas" pitchFamily="49" charset="0"/>
              </a:rPr>
              <a:t>api</a:t>
            </a:r>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install @</a:t>
            </a:r>
            <a:r>
              <a:rPr lang="en-US" sz="2400" dirty="0" err="1" smtClean="0">
                <a:latin typeface="Consolas" pitchFamily="49" charset="0"/>
              </a:rPr>
              <a:t>grpc</a:t>
            </a:r>
            <a:r>
              <a:rPr lang="en-US" sz="2400" dirty="0" smtClean="0">
                <a:latin typeface="Consolas" pitchFamily="49" charset="0"/>
              </a:rPr>
              <a:t>/</a:t>
            </a:r>
            <a:r>
              <a:rPr lang="en-US" sz="2400" dirty="0" err="1" smtClean="0">
                <a:latin typeface="Consolas" pitchFamily="49" charset="0"/>
              </a:rPr>
              <a:t>grpc</a:t>
            </a:r>
            <a:r>
              <a:rPr lang="en-US" sz="2400" dirty="0" smtClean="0">
                <a:latin typeface="Consolas" pitchFamily="49" charset="0"/>
              </a:rPr>
              <a:t>-</a:t>
            </a:r>
            <a:r>
              <a:rPr lang="en-US" sz="2400" dirty="0" err="1" smtClean="0">
                <a:latin typeface="Consolas" pitchFamily="49" charset="0"/>
              </a:rPr>
              <a:t>js</a:t>
            </a:r>
            <a:r>
              <a:rPr lang="en-US" sz="2400" dirty="0" smtClean="0">
                <a:latin typeface="Consolas" pitchFamily="49" charset="0"/>
              </a:rPr>
              <a:t> @</a:t>
            </a:r>
            <a:r>
              <a:rPr lang="en-US" sz="2400" dirty="0" err="1" smtClean="0">
                <a:latin typeface="Consolas" pitchFamily="49" charset="0"/>
              </a:rPr>
              <a:t>grpc</a:t>
            </a:r>
            <a:r>
              <a:rPr lang="en-US" sz="2400" dirty="0" smtClean="0">
                <a:latin typeface="Consolas" pitchFamily="49" charset="0"/>
              </a:rPr>
              <a:t>/proto-loader </a:t>
            </a:r>
            <a:r>
              <a:rPr lang="en-US" sz="2400" dirty="0" err="1" smtClean="0">
                <a:latin typeface="Consolas" pitchFamily="49" charset="0"/>
              </a:rPr>
              <a:t>fastify</a:t>
            </a:r>
            <a:endParaRPr lang="en-US" sz="2400" dirty="0" smtClean="0">
              <a:latin typeface="Consolas" pitchFamily="49" charset="0"/>
            </a:endParaRPr>
          </a:p>
          <a:p>
            <a:r>
              <a:rPr lang="en-US" sz="2400" dirty="0" smtClean="0">
                <a:latin typeface="Consolas" pitchFamily="49" charset="0"/>
              </a:rPr>
              <a:t>node web-api.js</a:t>
            </a:r>
          </a:p>
        </p:txBody>
      </p:sp>
      <p:pic>
        <p:nvPicPr>
          <p:cNvPr id="2050" name="Picture 2"/>
          <p:cNvPicPr>
            <a:picLocks noChangeAspect="1" noChangeArrowheads="1"/>
          </p:cNvPicPr>
          <p:nvPr/>
        </p:nvPicPr>
        <p:blipFill>
          <a:blip r:embed="rId2" cstate="print"/>
          <a:srcRect/>
          <a:stretch>
            <a:fillRect/>
          </a:stretch>
        </p:blipFill>
        <p:spPr bwMode="auto">
          <a:xfrm>
            <a:off x="1600200" y="3657600"/>
            <a:ext cx="6227445" cy="96012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Invoke </a:t>
            </a:r>
            <a:r>
              <a:rPr lang="en-US" dirty="0" smtClean="0">
                <a:latin typeface="Consolas" pitchFamily="49" charset="0"/>
              </a:rPr>
              <a:t>web-</a:t>
            </a:r>
            <a:r>
              <a:rPr lang="en-US" dirty="0" err="1" smtClean="0">
                <a:latin typeface="Consolas" pitchFamily="49" charset="0"/>
              </a:rPr>
              <a:t>api</a:t>
            </a:r>
            <a:r>
              <a:rPr lang="en-US" dirty="0" smtClean="0"/>
              <a:t> Service</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curl http://127.0.0.1:3000/</a:t>
            </a:r>
          </a:p>
        </p:txBody>
      </p:sp>
      <p:pic>
        <p:nvPicPr>
          <p:cNvPr id="2051" name="Picture 3"/>
          <p:cNvPicPr>
            <a:picLocks noChangeAspect="1" noChangeArrowheads="1"/>
          </p:cNvPicPr>
          <p:nvPr/>
        </p:nvPicPr>
        <p:blipFill>
          <a:blip r:embed="rId2" cstate="print"/>
          <a:srcRect/>
          <a:stretch>
            <a:fillRect/>
          </a:stretch>
        </p:blipFill>
        <p:spPr bwMode="auto">
          <a:xfrm>
            <a:off x="1295400" y="2819400"/>
            <a:ext cx="6547485" cy="160909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Hello World</a:t>
            </a:r>
            <a:endParaRPr lang="en-US" dirty="0"/>
          </a:p>
        </p:txBody>
      </p:sp>
      <p:sp>
        <p:nvSpPr>
          <p:cNvPr id="3" name="Content Placeholder 2"/>
          <p:cNvSpPr>
            <a:spLocks noGrp="1"/>
          </p:cNvSpPr>
          <p:nvPr>
            <p:ph idx="1"/>
          </p:nvPr>
        </p:nvSpPr>
        <p:spPr/>
        <p:txBody>
          <a:bodyPr/>
          <a:lstStyle/>
          <a:p>
            <a:r>
              <a:rPr lang="en-US" sz="2000" dirty="0" smtClean="0"/>
              <a:t>We need to build </a:t>
            </a:r>
            <a:r>
              <a:rPr lang="en-US" sz="2000" i="1" dirty="0" smtClean="0">
                <a:solidFill>
                  <a:srgbClr val="C00000"/>
                </a:solidFill>
              </a:rPr>
              <a:t>a service</a:t>
            </a:r>
            <a:r>
              <a:rPr lang="en-US" sz="2000" dirty="0" smtClean="0"/>
              <a:t> that is responsible for managing the products of a retail store.</a:t>
            </a:r>
          </a:p>
          <a:p>
            <a:r>
              <a:rPr lang="en-US" sz="2000" dirty="0" smtClean="0"/>
              <a:t>The service can be </a:t>
            </a:r>
            <a:r>
              <a:rPr lang="en-US" sz="2000" i="1" dirty="0" smtClean="0">
                <a:solidFill>
                  <a:srgbClr val="C00000"/>
                </a:solidFill>
              </a:rPr>
              <a:t>remotely accessed</a:t>
            </a:r>
            <a:r>
              <a:rPr lang="en-US" sz="2000" dirty="0" smtClean="0"/>
              <a:t> and the consumers of that service can </a:t>
            </a:r>
            <a:r>
              <a:rPr lang="en-US" sz="2000" u="sng" dirty="0" smtClean="0"/>
              <a:t>add new products</a:t>
            </a:r>
            <a:r>
              <a:rPr lang="en-US" sz="2000" dirty="0" smtClean="0"/>
              <a:t> to the system and also </a:t>
            </a:r>
            <a:r>
              <a:rPr lang="en-US" sz="2000" u="sng" dirty="0" smtClean="0"/>
              <a:t>retrieve product details</a:t>
            </a:r>
            <a:r>
              <a:rPr lang="en-US" sz="2000" dirty="0" smtClean="0"/>
              <a:t> from the system by providing the product ID.</a:t>
            </a:r>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2514600" y="3530600"/>
            <a:ext cx="4203700" cy="25654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a:t>
            </a:r>
            <a:r>
              <a:rPr lang="en-US" smtClean="0"/>
              <a:t>Tools [1]</a:t>
            </a:r>
            <a:endParaRPr lang="en-US" dirty="0"/>
          </a:p>
        </p:txBody>
      </p:sp>
      <p:sp>
        <p:nvSpPr>
          <p:cNvPr id="3" name="Content Placeholder 2"/>
          <p:cNvSpPr>
            <a:spLocks noGrp="1"/>
          </p:cNvSpPr>
          <p:nvPr>
            <p:ph idx="1"/>
          </p:nvPr>
        </p:nvSpPr>
        <p:spPr/>
        <p:txBody>
          <a:bodyPr/>
          <a:lstStyle/>
          <a:p>
            <a:r>
              <a:rPr lang="en-US" sz="2400" dirty="0" smtClean="0"/>
              <a:t>Install Go</a:t>
            </a:r>
          </a:p>
          <a:p>
            <a:pPr lvl="1"/>
            <a:r>
              <a:rPr lang="en-US" sz="2000" dirty="0" smtClean="0">
                <a:hlinkClick r:id="rId2"/>
              </a:rPr>
              <a:t>https://go.dev/dl/</a:t>
            </a:r>
            <a:endParaRPr lang="en-US" sz="2000" dirty="0" smtClean="0"/>
          </a:p>
          <a:p>
            <a:pPr lvl="1"/>
            <a:r>
              <a:rPr lang="en-US" sz="2000" b="1" dirty="0" smtClean="0">
                <a:latin typeface="Consolas" pitchFamily="49" charset="0"/>
              </a:rPr>
              <a:t>go version</a:t>
            </a:r>
          </a:p>
          <a:p>
            <a:r>
              <a:rPr lang="en-US" sz="2400" dirty="0" smtClean="0"/>
              <a:t>Install Java</a:t>
            </a:r>
          </a:p>
          <a:p>
            <a:pPr lvl="1"/>
            <a:r>
              <a:rPr lang="en-US" sz="2000" dirty="0" smtClean="0">
                <a:hlinkClick r:id="rId3"/>
              </a:rPr>
              <a:t>https://www.java.com/en/download/</a:t>
            </a:r>
            <a:endParaRPr lang="en-US" sz="2000" dirty="0" smtClean="0"/>
          </a:p>
          <a:p>
            <a:pPr lvl="1"/>
            <a:r>
              <a:rPr lang="en-US" sz="2000" b="1" dirty="0" smtClean="0">
                <a:latin typeface="Consolas" pitchFamily="49" charset="0"/>
              </a:rPr>
              <a:t>java --version</a:t>
            </a:r>
          </a:p>
          <a:p>
            <a:r>
              <a:rPr lang="en-US" sz="2400" dirty="0" smtClean="0"/>
              <a:t>Install </a:t>
            </a:r>
            <a:r>
              <a:rPr lang="en-US" sz="2400" dirty="0" err="1" smtClean="0"/>
              <a:t>Gradle</a:t>
            </a:r>
            <a:endParaRPr lang="en-US" sz="2400" dirty="0" smtClean="0"/>
          </a:p>
          <a:p>
            <a:pPr lvl="1"/>
            <a:r>
              <a:rPr lang="en-US" sz="2000" dirty="0" smtClean="0">
                <a:hlinkClick r:id="rId4"/>
              </a:rPr>
              <a:t>https://gradle.org/install/#manually</a:t>
            </a:r>
            <a:endParaRPr lang="en-US" sz="2000" dirty="0" smtClean="0"/>
          </a:p>
          <a:p>
            <a:pPr lvl="1"/>
            <a:r>
              <a:rPr lang="en-US" sz="2000" b="1" dirty="0" err="1" smtClean="0">
                <a:latin typeface="Consolas" pitchFamily="49" charset="0"/>
              </a:rPr>
              <a:t>gradle</a:t>
            </a:r>
            <a:r>
              <a:rPr lang="en-US" sz="2000" b="1" dirty="0" smtClean="0">
                <a:latin typeface="Consolas" pitchFamily="49" charset="0"/>
              </a:rPr>
              <a:t> -v</a:t>
            </a:r>
          </a:p>
          <a:p>
            <a:r>
              <a:rPr lang="en-US" sz="2400" dirty="0" smtClean="0"/>
              <a:t>Install </a:t>
            </a:r>
            <a:r>
              <a:rPr lang="en-US" sz="2400" dirty="0" err="1" smtClean="0"/>
              <a:t>protoc</a:t>
            </a:r>
            <a:endParaRPr lang="en-US" sz="2400" dirty="0" smtClean="0"/>
          </a:p>
          <a:p>
            <a:pPr lvl="1"/>
            <a:r>
              <a:rPr lang="en-US" sz="2000" dirty="0" smtClean="0">
                <a:hlinkClick r:id="rId5"/>
              </a:rPr>
              <a:t>https://github.com/protocolbuffers/protobuf/releases/</a:t>
            </a:r>
            <a:endParaRPr lang="en-US" sz="2000" dirty="0" smtClean="0"/>
          </a:p>
          <a:p>
            <a:pPr lvl="1"/>
            <a:r>
              <a:rPr lang="en-US" sz="2000" b="1" dirty="0" err="1" smtClean="0">
                <a:latin typeface="Consolas" pitchFamily="49" charset="0"/>
              </a:rPr>
              <a:t>protoc</a:t>
            </a:r>
            <a:r>
              <a:rPr lang="en-US" sz="2000" b="1" dirty="0" smtClean="0">
                <a:latin typeface="Consolas" pitchFamily="49" charset="0"/>
              </a:rPr>
              <a:t> --version</a:t>
            </a:r>
            <a:endParaRPr lang="en-US" sz="2000"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Service Definition Folder</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productinfo</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a:t>
            </a:r>
            <a:r>
              <a:rPr lang="en-US" sz="2200" b="1" i="1" dirty="0" smtClean="0">
                <a:solidFill>
                  <a:srgbClr val="C00000"/>
                </a:solidFill>
                <a:latin typeface="Consolas" pitchFamily="49" charset="0"/>
              </a:rPr>
              <a:t>proto</a:t>
            </a:r>
          </a:p>
          <a:p>
            <a:r>
              <a:rPr lang="en-US" sz="2200" dirty="0" err="1" smtClean="0">
                <a:latin typeface="Consolas" pitchFamily="49" charset="0"/>
              </a:rPr>
              <a:t>cd</a:t>
            </a:r>
            <a:r>
              <a:rPr lang="en-US" sz="2200" dirty="0" smtClean="0">
                <a:latin typeface="Consolas" pitchFamily="49" charset="0"/>
              </a:rPr>
              <a:t> proto</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err="1" smtClean="0"/>
              <a:t>product_info.proto</a:t>
            </a:r>
            <a:endParaRPr lang="en-US" dirty="0"/>
          </a:p>
        </p:txBody>
      </p:sp>
      <p:sp>
        <p:nvSpPr>
          <p:cNvPr id="4" name="Rectangle 3"/>
          <p:cNvSpPr/>
          <p:nvPr/>
        </p:nvSpPr>
        <p:spPr>
          <a:xfrm>
            <a:off x="685800" y="1524000"/>
            <a:ext cx="7772400" cy="492442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syntax</a:t>
            </a:r>
            <a:r>
              <a:rPr lang="en-US" sz="1600" dirty="0" smtClean="0">
                <a:solidFill>
                  <a:srgbClr val="D4D4D4"/>
                </a:solidFill>
                <a:latin typeface="Consolas"/>
              </a:rPr>
              <a:t> = </a:t>
            </a:r>
            <a:r>
              <a:rPr lang="en-US" sz="1600" dirty="0" smtClean="0">
                <a:solidFill>
                  <a:srgbClr val="CE9178"/>
                </a:solidFill>
                <a:latin typeface="Consolas"/>
              </a:rPr>
              <a:t>"proto3"</a:t>
            </a:r>
            <a:r>
              <a:rPr lang="en-US" sz="1600" dirty="0" smtClean="0">
                <a:solidFill>
                  <a:srgbClr val="D4D4D4"/>
                </a:solidFill>
                <a:latin typeface="Consolas"/>
              </a:rPr>
              <a:t>;</a:t>
            </a:r>
          </a:p>
          <a:p>
            <a:r>
              <a:rPr lang="en-US" sz="1600" dirty="0" smtClean="0">
                <a:solidFill>
                  <a:srgbClr val="569CD6"/>
                </a:solidFill>
                <a:latin typeface="Consolas"/>
              </a:rPr>
              <a:t>package</a:t>
            </a:r>
            <a:r>
              <a:rPr lang="en-US" sz="1600" dirty="0" smtClean="0">
                <a:solidFill>
                  <a:srgbClr val="D4D4D4"/>
                </a:solidFill>
                <a:latin typeface="Consolas"/>
              </a:rPr>
              <a:t> </a:t>
            </a:r>
            <a:r>
              <a:rPr lang="en-US" sz="1600" dirty="0" smtClean="0">
                <a:solidFill>
                  <a:srgbClr val="CE9178"/>
                </a:solidFill>
                <a:latin typeface="Consolas"/>
              </a:rPr>
              <a:t>ecommerce</a:t>
            </a:r>
            <a:r>
              <a:rPr lang="en-US" sz="1600" dirty="0" smtClean="0">
                <a:solidFill>
                  <a:srgbClr val="D4D4D4"/>
                </a:solidFill>
                <a:latin typeface="Consolas"/>
              </a:rPr>
              <a:t>;</a:t>
            </a:r>
          </a:p>
          <a:p>
            <a:r>
              <a:rPr lang="en-US" sz="1600" dirty="0" smtClean="0">
                <a:solidFill>
                  <a:srgbClr val="569CD6"/>
                </a:solidFill>
                <a:latin typeface="Consolas"/>
              </a:rPr>
              <a:t>option</a:t>
            </a:r>
            <a:r>
              <a:rPr lang="en-US" sz="1600" dirty="0" smtClean="0">
                <a:solidFill>
                  <a:srgbClr val="D4D4D4"/>
                </a:solidFill>
                <a:latin typeface="Consolas"/>
              </a:rPr>
              <a:t> </a:t>
            </a:r>
            <a:r>
              <a:rPr lang="en-US" sz="1600" dirty="0" err="1" smtClean="0">
                <a:solidFill>
                  <a:srgbClr val="D4D4D4"/>
                </a:solidFill>
                <a:latin typeface="Consolas"/>
              </a:rPr>
              <a:t>go_package</a:t>
            </a:r>
            <a:r>
              <a:rPr lang="en-US" sz="1600" dirty="0" smtClean="0">
                <a:solidFill>
                  <a:srgbClr val="D4D4D4"/>
                </a:solidFill>
                <a:latin typeface="Consolas"/>
              </a:rPr>
              <a:t> = </a:t>
            </a:r>
            <a:r>
              <a:rPr lang="en-US" sz="1600" dirty="0" smtClean="0">
                <a:solidFill>
                  <a:srgbClr val="CE9178"/>
                </a:solidFill>
                <a:latin typeface="Consolas"/>
              </a:rPr>
              <a:t>"/ecommerce"</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service</a:t>
            </a:r>
            <a:r>
              <a:rPr lang="en-US" sz="1600" dirty="0" smtClean="0">
                <a:solidFill>
                  <a:srgbClr val="D4D4D4"/>
                </a:solidFill>
                <a:latin typeface="Consolas"/>
              </a:rPr>
              <a:t> </a:t>
            </a:r>
            <a:r>
              <a:rPr lang="en-US" sz="1600" dirty="0" err="1" smtClean="0">
                <a:solidFill>
                  <a:srgbClr val="4EC9B0"/>
                </a:solidFill>
                <a:latin typeface="Consolas"/>
              </a:rPr>
              <a:t>ProductInfo</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569CD6"/>
                </a:solidFill>
                <a:latin typeface="Consolas"/>
              </a:rPr>
              <a:t>rpc</a:t>
            </a:r>
            <a:r>
              <a:rPr lang="en-US" sz="1600" dirty="0" smtClean="0">
                <a:solidFill>
                  <a:srgbClr val="D4D4D4"/>
                </a:solidFill>
                <a:latin typeface="Consolas"/>
              </a:rPr>
              <a:t> </a:t>
            </a:r>
            <a:r>
              <a:rPr lang="en-US" sz="1600" dirty="0" err="1" smtClean="0">
                <a:solidFill>
                  <a:srgbClr val="DCDCAA"/>
                </a:solidFill>
                <a:latin typeface="Consolas"/>
              </a:rPr>
              <a:t>addProduct</a:t>
            </a:r>
            <a:r>
              <a:rPr lang="en-US" sz="1600" dirty="0" smtClean="0">
                <a:solidFill>
                  <a:srgbClr val="D4D4D4"/>
                </a:solidFill>
                <a:latin typeface="Consolas"/>
              </a:rPr>
              <a:t>(</a:t>
            </a:r>
            <a:r>
              <a:rPr lang="en-US" sz="1600" dirty="0" smtClean="0">
                <a:solidFill>
                  <a:srgbClr val="4EC9B0"/>
                </a:solidFill>
                <a:latin typeface="Consolas"/>
              </a:rPr>
              <a:t>Product</a:t>
            </a:r>
            <a:r>
              <a:rPr lang="en-US" sz="1600" dirty="0" smtClean="0">
                <a:solidFill>
                  <a:srgbClr val="D4D4D4"/>
                </a:solidFill>
                <a:latin typeface="Consolas"/>
              </a:rPr>
              <a:t>) </a:t>
            </a:r>
            <a:r>
              <a:rPr lang="en-US" sz="1600" dirty="0" smtClean="0">
                <a:solidFill>
                  <a:srgbClr val="569CD6"/>
                </a:solidFill>
                <a:latin typeface="Consolas"/>
              </a:rPr>
              <a:t>returns</a:t>
            </a:r>
            <a:r>
              <a:rPr lang="en-US" sz="1600" dirty="0" smtClean="0">
                <a:solidFill>
                  <a:srgbClr val="D4D4D4"/>
                </a:solidFill>
                <a:latin typeface="Consolas"/>
              </a:rPr>
              <a:t> (</a:t>
            </a:r>
            <a:r>
              <a:rPr lang="en-US" sz="1600" dirty="0" err="1" smtClean="0">
                <a:solidFill>
                  <a:srgbClr val="4EC9B0"/>
                </a:solidFill>
                <a:latin typeface="Consolas"/>
              </a:rPr>
              <a:t>ProductID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569CD6"/>
                </a:solidFill>
                <a:latin typeface="Consolas"/>
              </a:rPr>
              <a:t>rpc</a:t>
            </a:r>
            <a:r>
              <a:rPr lang="en-US" sz="1600" dirty="0" smtClean="0">
                <a:solidFill>
                  <a:srgbClr val="D4D4D4"/>
                </a:solidFill>
                <a:latin typeface="Consolas"/>
              </a:rPr>
              <a:t> </a:t>
            </a:r>
            <a:r>
              <a:rPr lang="en-US" sz="1600" dirty="0" err="1" smtClean="0">
                <a:solidFill>
                  <a:srgbClr val="DCDCAA"/>
                </a:solidFill>
                <a:latin typeface="Consolas"/>
              </a:rPr>
              <a:t>getProduct</a:t>
            </a:r>
            <a:r>
              <a:rPr lang="en-US" sz="1600" dirty="0" smtClean="0">
                <a:solidFill>
                  <a:srgbClr val="D4D4D4"/>
                </a:solidFill>
                <a:latin typeface="Consolas"/>
              </a:rPr>
              <a:t>(</a:t>
            </a:r>
            <a:r>
              <a:rPr lang="en-US" sz="1600" dirty="0" err="1" smtClean="0">
                <a:solidFill>
                  <a:srgbClr val="4EC9B0"/>
                </a:solidFill>
                <a:latin typeface="Consolas"/>
              </a:rPr>
              <a:t>ProductID</a:t>
            </a:r>
            <a:r>
              <a:rPr lang="en-US" sz="1600" dirty="0" smtClean="0">
                <a:solidFill>
                  <a:srgbClr val="D4D4D4"/>
                </a:solidFill>
                <a:latin typeface="Consolas"/>
              </a:rPr>
              <a:t>) </a:t>
            </a:r>
            <a:r>
              <a:rPr lang="en-US" sz="1600" dirty="0" smtClean="0">
                <a:solidFill>
                  <a:srgbClr val="569CD6"/>
                </a:solidFill>
                <a:latin typeface="Consolas"/>
              </a:rPr>
              <a:t>returns</a:t>
            </a:r>
            <a:r>
              <a:rPr lang="en-US" sz="1600" dirty="0" smtClean="0">
                <a:solidFill>
                  <a:srgbClr val="D4D4D4"/>
                </a:solidFill>
                <a:latin typeface="Consolas"/>
              </a:rPr>
              <a:t> (</a:t>
            </a:r>
            <a:r>
              <a:rPr lang="en-US" sz="1600" dirty="0" smtClean="0">
                <a:solidFill>
                  <a:srgbClr val="4EC9B0"/>
                </a:solidFill>
                <a:latin typeface="Consolas"/>
              </a:rPr>
              <a:t>Product</a:t>
            </a:r>
            <a:r>
              <a:rPr lang="en-US" sz="1600" dirty="0" smtClean="0">
                <a:solidFill>
                  <a:srgbClr val="D4D4D4"/>
                </a:solidFill>
                <a:latin typeface="Consolas"/>
              </a:rPr>
              <a:t>);</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message</a:t>
            </a:r>
            <a:r>
              <a:rPr lang="en-US" sz="1600" dirty="0" smtClean="0">
                <a:solidFill>
                  <a:srgbClr val="D4D4D4"/>
                </a:solidFill>
                <a:latin typeface="Consolas"/>
              </a:rPr>
              <a:t> </a:t>
            </a:r>
            <a:r>
              <a:rPr lang="en-US" sz="1600" dirty="0" smtClean="0">
                <a:solidFill>
                  <a:srgbClr val="4EC9B0"/>
                </a:solidFill>
                <a:latin typeface="Consolas"/>
              </a:rPr>
              <a:t>Product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 </a:t>
            </a:r>
            <a:r>
              <a:rPr lang="en-US" sz="1600" dirty="0" smtClean="0">
                <a:solidFill>
                  <a:srgbClr val="B5CEA8"/>
                </a:solidFill>
                <a:latin typeface="Consolas"/>
              </a:rPr>
              <a:t>2</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description</a:t>
            </a:r>
            <a:r>
              <a:rPr lang="en-US" sz="1600" dirty="0" smtClean="0">
                <a:solidFill>
                  <a:srgbClr val="D4D4D4"/>
                </a:solidFill>
                <a:latin typeface="Consolas"/>
              </a:rPr>
              <a:t> = </a:t>
            </a:r>
            <a:r>
              <a:rPr lang="en-US" sz="1600" dirty="0" smtClean="0">
                <a:solidFill>
                  <a:srgbClr val="B5CEA8"/>
                </a:solidFill>
                <a:latin typeface="Consolas"/>
              </a:rPr>
              <a:t>3</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float</a:t>
            </a:r>
            <a:r>
              <a:rPr lang="en-US" sz="1600" dirty="0" smtClean="0">
                <a:solidFill>
                  <a:srgbClr val="D4D4D4"/>
                </a:solidFill>
                <a:latin typeface="Consolas"/>
              </a:rPr>
              <a:t> </a:t>
            </a:r>
            <a:r>
              <a:rPr lang="en-US" sz="1600" dirty="0" smtClean="0">
                <a:solidFill>
                  <a:srgbClr val="9CDCFE"/>
                </a:solidFill>
                <a:latin typeface="Consolas"/>
              </a:rPr>
              <a:t>price</a:t>
            </a:r>
            <a:r>
              <a:rPr lang="en-US" sz="1600" dirty="0" smtClean="0">
                <a:solidFill>
                  <a:srgbClr val="D4D4D4"/>
                </a:solidFill>
                <a:latin typeface="Consolas"/>
              </a:rPr>
              <a:t> = </a:t>
            </a:r>
            <a:r>
              <a:rPr lang="en-US" sz="1600" dirty="0" smtClean="0">
                <a:solidFill>
                  <a:srgbClr val="B5CEA8"/>
                </a:solidFill>
                <a:latin typeface="Consolas"/>
              </a:rPr>
              <a:t>4</a:t>
            </a:r>
            <a:r>
              <a:rPr lang="en-US" sz="1600" dirty="0" smtClean="0">
                <a:solidFill>
                  <a:srgbClr val="D4D4D4"/>
                </a:solidFill>
                <a:latin typeface="Consolas"/>
              </a:rPr>
              <a:t>;</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message</a:t>
            </a:r>
            <a:r>
              <a:rPr lang="en-US" sz="1600" dirty="0" smtClean="0">
                <a:solidFill>
                  <a:srgbClr val="D4D4D4"/>
                </a:solidFill>
                <a:latin typeface="Consolas"/>
              </a:rPr>
              <a:t> </a:t>
            </a:r>
            <a:r>
              <a:rPr lang="en-US" sz="1600" dirty="0" err="1" smtClean="0">
                <a:solidFill>
                  <a:srgbClr val="4EC9B0"/>
                </a:solidFill>
                <a:latin typeface="Consolas"/>
              </a:rPr>
              <a:t>ProductID</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569CD6"/>
                </a:solidFill>
                <a:latin typeface="Consolas"/>
              </a:rPr>
              <a:t>string</a:t>
            </a:r>
            <a:r>
              <a:rPr lang="en-US" sz="1600" dirty="0" smtClean="0">
                <a:solidFill>
                  <a:srgbClr val="D4D4D4"/>
                </a:solidFill>
                <a:latin typeface="Consolas"/>
              </a:rPr>
              <a:t> </a:t>
            </a:r>
            <a:r>
              <a:rPr lang="en-US" sz="1600" dirty="0" smtClean="0">
                <a:solidFill>
                  <a:srgbClr val="9CDCFE"/>
                </a:solidFill>
                <a:latin typeface="Consolas"/>
              </a:rPr>
              <a:t>value</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
        <p:nvSpPr>
          <p:cNvPr id="5" name="Rectangle 4"/>
          <p:cNvSpPr/>
          <p:nvPr/>
        </p:nvSpPr>
        <p:spPr>
          <a:xfrm>
            <a:off x="3962400" y="3657600"/>
            <a:ext cx="4724400" cy="121920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latin typeface="Consolas" pitchFamily="49" charset="0"/>
              </a:rPr>
              <a:t>Product</a:t>
            </a:r>
            <a:r>
              <a:rPr lang="en-US" dirty="0" smtClean="0"/>
              <a:t> is a custom message type.</a:t>
            </a:r>
          </a:p>
          <a:p>
            <a:r>
              <a:rPr lang="en-US" dirty="0" smtClean="0"/>
              <a:t>Here </a:t>
            </a:r>
            <a:r>
              <a:rPr lang="en-US" u="sng" dirty="0" smtClean="0"/>
              <a:t>the number</a:t>
            </a:r>
            <a:r>
              <a:rPr lang="en-US" dirty="0" smtClean="0"/>
              <a:t> assigned to each message field is used to </a:t>
            </a:r>
            <a:r>
              <a:rPr lang="en-US" u="sng" dirty="0" smtClean="0"/>
              <a:t>uniquely identify</a:t>
            </a:r>
            <a:r>
              <a:rPr lang="en-US" dirty="0" smtClean="0"/>
              <a:t> the field in the message.</a:t>
            </a:r>
            <a:endParaRPr lang="en-US" dirty="0"/>
          </a:p>
        </p:txBody>
      </p:sp>
      <p:sp>
        <p:nvSpPr>
          <p:cNvPr id="7" name="Rectangle 6"/>
          <p:cNvSpPr/>
          <p:nvPr/>
        </p:nvSpPr>
        <p:spPr>
          <a:xfrm>
            <a:off x="3505200" y="5486400"/>
            <a:ext cx="4572000" cy="646331"/>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US" b="1" dirty="0" err="1" smtClean="0">
                <a:latin typeface="Consolas" pitchFamily="49" charset="0"/>
              </a:rPr>
              <a:t>ProductID</a:t>
            </a:r>
            <a:r>
              <a:rPr lang="en-US" dirty="0" smtClean="0"/>
              <a:t> is a unique identifier of the product that can be a string value.</a:t>
            </a:r>
            <a:endParaRPr lang="en-US" dirty="0"/>
          </a:p>
        </p:txBody>
      </p:sp>
      <p:sp>
        <p:nvSpPr>
          <p:cNvPr id="8" name="Rectangle 7"/>
          <p:cNvSpPr/>
          <p:nvPr/>
        </p:nvSpPr>
        <p:spPr>
          <a:xfrm>
            <a:off x="4495800" y="1173540"/>
            <a:ext cx="4419600" cy="156966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600" dirty="0" smtClean="0"/>
              <a:t>The </a:t>
            </a:r>
            <a:r>
              <a:rPr lang="en-US" sz="1600" b="1" dirty="0" err="1" smtClean="0">
                <a:latin typeface="Consolas" pitchFamily="49" charset="0"/>
              </a:rPr>
              <a:t>ProductInfo</a:t>
            </a:r>
            <a:r>
              <a:rPr lang="en-US" sz="1600" dirty="0" smtClean="0"/>
              <a:t> service has two remote methods: </a:t>
            </a:r>
            <a:r>
              <a:rPr lang="en-US" sz="1600" b="1" dirty="0" err="1" smtClean="0">
                <a:latin typeface="Consolas" pitchFamily="49" charset="0"/>
              </a:rPr>
              <a:t>addProduct</a:t>
            </a:r>
            <a:r>
              <a:rPr lang="en-US" sz="1600" b="1" dirty="0" smtClean="0">
                <a:latin typeface="Consolas" pitchFamily="49" charset="0"/>
              </a:rPr>
              <a:t>(product)</a:t>
            </a:r>
            <a:r>
              <a:rPr lang="en-US" sz="1600" dirty="0" smtClean="0"/>
              <a:t> and </a:t>
            </a:r>
            <a:r>
              <a:rPr lang="en-US" sz="1600" b="1" dirty="0" err="1" smtClean="0">
                <a:latin typeface="Consolas" pitchFamily="49" charset="0"/>
              </a:rPr>
              <a:t>getProduct</a:t>
            </a:r>
            <a:r>
              <a:rPr lang="en-US" sz="1600" b="1" dirty="0" smtClean="0">
                <a:latin typeface="Consolas" pitchFamily="49" charset="0"/>
              </a:rPr>
              <a:t>(</a:t>
            </a:r>
            <a:r>
              <a:rPr lang="en-US" sz="1600" b="1" dirty="0" err="1" smtClean="0">
                <a:latin typeface="Consolas" pitchFamily="49" charset="0"/>
              </a:rPr>
              <a:t>productId</a:t>
            </a:r>
            <a:r>
              <a:rPr lang="en-US" sz="1600" b="1" dirty="0" smtClean="0">
                <a:latin typeface="Consolas" pitchFamily="49" charset="0"/>
              </a:rPr>
              <a:t>)</a:t>
            </a:r>
            <a:r>
              <a:rPr lang="en-US" sz="1600" dirty="0" smtClean="0"/>
              <a:t>.</a:t>
            </a:r>
          </a:p>
          <a:p>
            <a:r>
              <a:rPr lang="en-US" sz="1600" dirty="0" smtClean="0"/>
              <a:t>According to the protocol buffer rule, we can only have </a:t>
            </a:r>
            <a:r>
              <a:rPr lang="en-US" sz="1600" u="sng" dirty="0" smtClean="0"/>
              <a:t>one input parameter</a:t>
            </a:r>
            <a:r>
              <a:rPr lang="en-US" sz="1600" dirty="0" smtClean="0"/>
              <a:t> in a remote method and it can return only </a:t>
            </a:r>
            <a:r>
              <a:rPr lang="en-US" sz="1600" u="sng" dirty="0" smtClean="0"/>
              <a:t>one value</a:t>
            </a:r>
            <a:r>
              <a:rPr lang="en-US" sz="1600" dirty="0" smtClean="0"/>
              <a:t>.</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Create a Go Module</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productinfo</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service</a:t>
            </a:r>
          </a:p>
          <a:p>
            <a:r>
              <a:rPr lang="en-US" sz="2200" dirty="0" err="1" smtClean="0">
                <a:latin typeface="Consolas" pitchFamily="49" charset="0"/>
              </a:rPr>
              <a:t>cd</a:t>
            </a:r>
            <a:r>
              <a:rPr lang="en-US" sz="2200" dirty="0" smtClean="0">
                <a:latin typeface="Consolas" pitchFamily="49" charset="0"/>
              </a:rPr>
              <a:t> service</a:t>
            </a:r>
          </a:p>
          <a:p>
            <a:r>
              <a:rPr lang="en-US" sz="2200" dirty="0" smtClean="0">
                <a:latin typeface="Consolas" pitchFamily="49" charset="0"/>
              </a:rPr>
              <a:t>go mod init </a:t>
            </a:r>
            <a:r>
              <a:rPr lang="en-US" sz="2200" b="1" i="1" dirty="0" err="1" smtClean="0">
                <a:solidFill>
                  <a:srgbClr val="C00000"/>
                </a:solidFill>
                <a:latin typeface="Consolas" pitchFamily="49" charset="0"/>
              </a:rPr>
              <a:t>productinfo</a:t>
            </a:r>
            <a:r>
              <a:rPr lang="en-US" sz="2200" b="1" i="1" dirty="0" smtClean="0">
                <a:solidFill>
                  <a:srgbClr val="C00000"/>
                </a:solidFill>
                <a:latin typeface="Consolas" pitchFamily="49" charset="0"/>
              </a:rPr>
              <a:t>/service</a:t>
            </a:r>
          </a:p>
          <a:p>
            <a:r>
              <a:rPr lang="en-US" sz="2200" dirty="0" err="1" smtClean="0">
                <a:latin typeface="Consolas" pitchFamily="49" charset="0"/>
              </a:rPr>
              <a:t>mkdir</a:t>
            </a:r>
            <a:r>
              <a:rPr lang="en-US" sz="2200" dirty="0" smtClean="0">
                <a:latin typeface="Consolas" pitchFamily="49" charset="0"/>
              </a:rPr>
              <a:t> ecommerce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Install the </a:t>
            </a:r>
            <a:r>
              <a:rPr lang="en-US" dirty="0" err="1" smtClean="0"/>
              <a:t>gRPC</a:t>
            </a:r>
            <a:r>
              <a:rPr lang="en-US" dirty="0" smtClean="0"/>
              <a:t> Library</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service</a:t>
            </a:r>
          </a:p>
          <a:p>
            <a:r>
              <a:rPr lang="en-US" sz="2400" dirty="0" smtClean="0">
                <a:latin typeface="Consolas" pitchFamily="49" charset="0"/>
              </a:rPr>
              <a:t>go get -u google.golang.org/</a:t>
            </a:r>
            <a:r>
              <a:rPr lang="en-US" sz="2400" dirty="0" err="1" smtClean="0">
                <a:latin typeface="Consolas" pitchFamily="49" charset="0"/>
              </a:rPr>
              <a:t>grpc</a:t>
            </a:r>
            <a:endParaRPr lang="en-US" sz="2400" dirty="0" smtClean="0">
              <a:latin typeface="Consolas" pitchFamily="49" charset="0"/>
            </a:endParaRPr>
          </a:p>
          <a:p>
            <a:endParaRPr lang="en-US" sz="2400" dirty="0" smtClean="0">
              <a:latin typeface="Consolas" pitchFamily="49" charset="0"/>
            </a:endParaRPr>
          </a:p>
        </p:txBody>
      </p:sp>
      <p:pic>
        <p:nvPicPr>
          <p:cNvPr id="1027" name="Picture 3"/>
          <p:cNvPicPr>
            <a:picLocks noChangeAspect="1" noChangeArrowheads="1"/>
          </p:cNvPicPr>
          <p:nvPr/>
        </p:nvPicPr>
        <p:blipFill>
          <a:blip r:embed="rId2" cstate="print"/>
          <a:srcRect/>
          <a:stretch>
            <a:fillRect/>
          </a:stretch>
        </p:blipFill>
        <p:spPr bwMode="auto">
          <a:xfrm>
            <a:off x="990600" y="3200400"/>
            <a:ext cx="7094220" cy="2305050"/>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Install the </a:t>
            </a:r>
            <a:r>
              <a:rPr lang="en-US" dirty="0" err="1" smtClean="0"/>
              <a:t>protoc</a:t>
            </a:r>
            <a:r>
              <a:rPr lang="en-US" dirty="0" smtClean="0"/>
              <a:t> Plug-in for Go</a:t>
            </a:r>
            <a:endParaRPr lang="en-US" dirty="0"/>
          </a:p>
        </p:txBody>
      </p:sp>
      <p:sp>
        <p:nvSpPr>
          <p:cNvPr id="3" name="Content Placeholder 2"/>
          <p:cNvSpPr>
            <a:spLocks noGrp="1"/>
          </p:cNvSpPr>
          <p:nvPr>
            <p:ph idx="1"/>
          </p:nvPr>
        </p:nvSpPr>
        <p:spPr/>
        <p:txBody>
          <a:bodyPr/>
          <a:lstStyle/>
          <a:p>
            <a:r>
              <a:rPr lang="en-US" sz="2400" dirty="0" smtClean="0">
                <a:latin typeface="+mj-lt"/>
                <a:hlinkClick r:id="rId2"/>
              </a:rPr>
              <a:t>https://grpc.io/docs/languages/go/quickstart/</a:t>
            </a:r>
            <a:endParaRPr lang="en-US" sz="2400" dirty="0" smtClean="0">
              <a:latin typeface="+mj-lt"/>
            </a:endParaRPr>
          </a:p>
          <a:p>
            <a:r>
              <a:rPr lang="en-US" sz="2000" dirty="0" err="1" smtClean="0">
                <a:latin typeface="Consolas" pitchFamily="49" charset="0"/>
              </a:rPr>
              <a:t>cd</a:t>
            </a:r>
            <a:r>
              <a:rPr lang="en-US" sz="2000" dirty="0" smtClean="0">
                <a:latin typeface="Consolas" pitchFamily="49" charset="0"/>
              </a:rPr>
              <a:t> service</a:t>
            </a:r>
          </a:p>
          <a:p>
            <a:r>
              <a:rPr lang="en-US" sz="2000" dirty="0" smtClean="0">
                <a:latin typeface="Consolas" pitchFamily="49" charset="0"/>
              </a:rPr>
              <a:t>go install google.golang.org/</a:t>
            </a:r>
            <a:r>
              <a:rPr lang="en-US" sz="2000" b="1" dirty="0" err="1" smtClean="0">
                <a:latin typeface="Consolas" pitchFamily="49" charset="0"/>
              </a:rPr>
              <a:t>protobuf</a:t>
            </a:r>
            <a:r>
              <a:rPr lang="en-US" sz="2000" dirty="0" smtClean="0">
                <a:latin typeface="Consolas" pitchFamily="49" charset="0"/>
              </a:rPr>
              <a:t>/</a:t>
            </a:r>
            <a:r>
              <a:rPr lang="en-US" sz="2000" dirty="0" err="1" smtClean="0">
                <a:latin typeface="Consolas" pitchFamily="49" charset="0"/>
              </a:rPr>
              <a:t>cmd</a:t>
            </a:r>
            <a:r>
              <a:rPr lang="en-US" sz="2000" dirty="0" smtClean="0">
                <a:latin typeface="Consolas" pitchFamily="49" charset="0"/>
              </a:rPr>
              <a:t>/protoc-gen-go@v1.28</a:t>
            </a:r>
          </a:p>
          <a:p>
            <a:r>
              <a:rPr lang="en-US" sz="2000" dirty="0" smtClean="0">
                <a:latin typeface="Consolas" pitchFamily="49" charset="0"/>
              </a:rPr>
              <a:t>go install google.golang.org/</a:t>
            </a:r>
            <a:r>
              <a:rPr lang="en-US" sz="2000" b="1" dirty="0" err="1" smtClean="0">
                <a:latin typeface="Consolas" pitchFamily="49" charset="0"/>
              </a:rPr>
              <a:t>grpc</a:t>
            </a:r>
            <a:r>
              <a:rPr lang="en-US" sz="2000" dirty="0" smtClean="0">
                <a:latin typeface="Consolas" pitchFamily="49" charset="0"/>
              </a:rPr>
              <a:t>/</a:t>
            </a:r>
            <a:r>
              <a:rPr lang="en-US" sz="2000" dirty="0" err="1" smtClean="0">
                <a:latin typeface="Consolas" pitchFamily="49" charset="0"/>
              </a:rPr>
              <a:t>cmd</a:t>
            </a:r>
            <a:r>
              <a:rPr lang="en-US" sz="2000" dirty="0" smtClean="0">
                <a:latin typeface="Consolas" pitchFamily="49" charset="0"/>
              </a:rPr>
              <a:t>/protoc-gen-go-grpc@v1.2</a:t>
            </a:r>
          </a:p>
          <a:p>
            <a:endParaRPr lang="en-US" sz="2000" dirty="0" smtClean="0">
              <a:latin typeface="Consolas"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Generate Server Skeleton &amp; Client Stub </a:t>
            </a:r>
            <a:endParaRPr lang="en-US" sz="4000" dirty="0"/>
          </a:p>
        </p:txBody>
      </p:sp>
      <p:sp>
        <p:nvSpPr>
          <p:cNvPr id="3" name="Content Placeholder 2"/>
          <p:cNvSpPr>
            <a:spLocks noGrp="1"/>
          </p:cNvSpPr>
          <p:nvPr>
            <p:ph idx="1"/>
          </p:nvPr>
        </p:nvSpPr>
        <p:spPr/>
        <p:txBody>
          <a:bodyPr/>
          <a:lstStyle/>
          <a:p>
            <a:r>
              <a:rPr lang="en-US" sz="2200" dirty="0" smtClean="0"/>
              <a:t>We'll use </a:t>
            </a:r>
            <a:r>
              <a:rPr lang="en-US" sz="2200" dirty="0" err="1" smtClean="0"/>
              <a:t>Gradle</a:t>
            </a:r>
            <a:r>
              <a:rPr lang="en-US" sz="2200" dirty="0" smtClean="0"/>
              <a:t> to build the </a:t>
            </a:r>
            <a:r>
              <a:rPr lang="en-US" sz="2200" i="1" dirty="0" smtClean="0">
                <a:solidFill>
                  <a:srgbClr val="C00000"/>
                </a:solidFill>
              </a:rPr>
              <a:t>Java application</a:t>
            </a:r>
            <a:r>
              <a:rPr lang="en-US" sz="2200" dirty="0" smtClean="0"/>
              <a:t> and use the </a:t>
            </a:r>
            <a:r>
              <a:rPr lang="en-US" sz="2200" u="sng" dirty="0" err="1" smtClean="0"/>
              <a:t>Gradle</a:t>
            </a:r>
            <a:r>
              <a:rPr lang="en-US" sz="2200" u="sng" dirty="0" smtClean="0"/>
              <a:t> protocol buffer plug-in</a:t>
            </a:r>
            <a:r>
              <a:rPr lang="en-US" sz="2200" dirty="0" smtClean="0"/>
              <a:t> to generate the service and client code.</a:t>
            </a:r>
          </a:p>
          <a:p>
            <a:r>
              <a:rPr lang="en-US" sz="2200" dirty="0" smtClean="0"/>
              <a:t>For the </a:t>
            </a:r>
            <a:r>
              <a:rPr lang="en-US" sz="2200" i="1" dirty="0" smtClean="0">
                <a:solidFill>
                  <a:srgbClr val="C00000"/>
                </a:solidFill>
              </a:rPr>
              <a:t>Go application</a:t>
            </a:r>
            <a:r>
              <a:rPr lang="en-US" sz="2200" dirty="0" smtClean="0"/>
              <a:t>, we'll use </a:t>
            </a:r>
            <a:r>
              <a:rPr lang="en-US" sz="2200" u="sng" dirty="0" smtClean="0"/>
              <a:t>the protocol buffer compiler</a:t>
            </a:r>
            <a:r>
              <a:rPr lang="en-US" sz="2200" dirty="0" smtClean="0"/>
              <a:t> and generate the code.</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1981200" y="3428999"/>
            <a:ext cx="5044440" cy="2411730"/>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Generate Server Stub</a:t>
            </a:r>
            <a:endParaRPr lang="en-US" dirty="0"/>
          </a:p>
        </p:txBody>
      </p:sp>
      <p:sp>
        <p:nvSpPr>
          <p:cNvPr id="3" name="Content Placeholder 2"/>
          <p:cNvSpPr>
            <a:spLocks noGrp="1"/>
          </p:cNvSpPr>
          <p:nvPr>
            <p:ph idx="1"/>
          </p:nvPr>
        </p:nvSpPr>
        <p:spPr/>
        <p:txBody>
          <a:bodyPr/>
          <a:lstStyle/>
          <a:p>
            <a:r>
              <a:rPr lang="en-US" sz="2000" dirty="0" smtClean="0">
                <a:latin typeface="+mj-lt"/>
                <a:hlinkClick r:id="rId2"/>
              </a:rPr>
              <a:t>https://grpc.io/docs/languages/go/quickstart/</a:t>
            </a:r>
            <a:endParaRPr lang="en-US" sz="2000" dirty="0" smtClean="0">
              <a:latin typeface="+mj-lt"/>
            </a:endParaRPr>
          </a:p>
          <a:p>
            <a:r>
              <a:rPr lang="en-US" sz="1800" dirty="0" err="1" smtClean="0">
                <a:latin typeface="Consolas" pitchFamily="49" charset="0"/>
              </a:rPr>
              <a:t>cd</a:t>
            </a:r>
            <a:r>
              <a:rPr lang="en-US" sz="1800" dirty="0" smtClean="0">
                <a:latin typeface="Consolas" pitchFamily="49" charset="0"/>
              </a:rPr>
              <a:t> </a:t>
            </a:r>
            <a:r>
              <a:rPr lang="en-US" sz="1800" b="1" i="1" dirty="0" err="1" smtClean="0">
                <a:solidFill>
                  <a:srgbClr val="C00000"/>
                </a:solidFill>
                <a:latin typeface="Consolas" pitchFamily="49" charset="0"/>
              </a:rPr>
              <a:t>productinfo</a:t>
            </a:r>
            <a:endParaRPr lang="en-US" sz="1800" b="1" i="1" dirty="0" smtClean="0">
              <a:solidFill>
                <a:srgbClr val="C00000"/>
              </a:solidFill>
              <a:latin typeface="Consolas" pitchFamily="49" charset="0"/>
            </a:endParaRPr>
          </a:p>
          <a:p>
            <a:r>
              <a:rPr lang="en-US" sz="1800" b="1" dirty="0" err="1" smtClean="0">
                <a:latin typeface="Consolas" pitchFamily="49" charset="0"/>
              </a:rPr>
              <a:t>protoc</a:t>
            </a:r>
            <a:r>
              <a:rPr lang="en-US" sz="1800" b="1" dirty="0" smtClean="0">
                <a:latin typeface="Consolas" pitchFamily="49" charset="0"/>
              </a:rPr>
              <a:t> -I proto/ proto/</a:t>
            </a:r>
            <a:r>
              <a:rPr lang="en-US" sz="1800" b="1" dirty="0" err="1" smtClean="0">
                <a:latin typeface="Consolas" pitchFamily="49" charset="0"/>
              </a:rPr>
              <a:t>product_info.proto</a:t>
            </a:r>
            <a:r>
              <a:rPr lang="en-US" sz="1800" b="1" dirty="0" smtClean="0">
                <a:latin typeface="Consolas" pitchFamily="49" charset="0"/>
              </a:rPr>
              <a:t> --</a:t>
            </a:r>
            <a:r>
              <a:rPr lang="en-US" sz="1800" b="1" dirty="0" err="1" smtClean="0">
                <a:latin typeface="Consolas" pitchFamily="49" charset="0"/>
              </a:rPr>
              <a:t>go_out</a:t>
            </a:r>
            <a:r>
              <a:rPr lang="en-US" sz="1800" b="1" dirty="0" smtClean="0">
                <a:latin typeface="Consolas" pitchFamily="49" charset="0"/>
              </a:rPr>
              <a:t>=service --go-</a:t>
            </a:r>
            <a:r>
              <a:rPr lang="en-US" sz="1800" b="1" dirty="0" err="1" smtClean="0">
                <a:latin typeface="Consolas" pitchFamily="49" charset="0"/>
              </a:rPr>
              <a:t>grpc_out</a:t>
            </a:r>
            <a:r>
              <a:rPr lang="en-US" sz="1800" b="1" dirty="0" smtClean="0">
                <a:latin typeface="Consolas" pitchFamily="49" charset="0"/>
              </a:rPr>
              <a:t>=service</a:t>
            </a:r>
          </a:p>
          <a:p>
            <a:pPr lvl="1"/>
            <a:r>
              <a:rPr lang="en-US" sz="1600" b="1" dirty="0" smtClean="0">
                <a:latin typeface="Consolas" pitchFamily="49" charset="0"/>
              </a:rPr>
              <a:t>proto/</a:t>
            </a:r>
            <a:r>
              <a:rPr lang="en-US" sz="1600" dirty="0" smtClean="0">
                <a:latin typeface="Consolas" pitchFamily="49" charset="0"/>
              </a:rPr>
              <a:t>: The directory path where the source proto file and dependent proto files exist</a:t>
            </a:r>
          </a:p>
          <a:p>
            <a:pPr lvl="1"/>
            <a:r>
              <a:rPr lang="en-US" sz="1600" b="1" dirty="0" smtClean="0">
                <a:latin typeface="Consolas" pitchFamily="49" charset="0"/>
              </a:rPr>
              <a:t>proto/</a:t>
            </a:r>
            <a:r>
              <a:rPr lang="en-US" sz="1600" b="1" dirty="0" err="1" smtClean="0">
                <a:latin typeface="Consolas" pitchFamily="49" charset="0"/>
              </a:rPr>
              <a:t>product_info.proto</a:t>
            </a:r>
            <a:r>
              <a:rPr lang="en-US" sz="1600" dirty="0" smtClean="0">
                <a:latin typeface="Consolas" pitchFamily="49" charset="0"/>
              </a:rPr>
              <a:t>: The proto file path you want to compile.</a:t>
            </a:r>
          </a:p>
          <a:p>
            <a:pPr lvl="1"/>
            <a:r>
              <a:rPr lang="en-US" sz="1600" b="1" dirty="0" smtClean="0">
                <a:latin typeface="Consolas" pitchFamily="49" charset="0"/>
              </a:rPr>
              <a:t>--</a:t>
            </a:r>
            <a:r>
              <a:rPr lang="en-US" sz="1600" b="1" dirty="0" err="1" smtClean="0">
                <a:latin typeface="Consolas" pitchFamily="49" charset="0"/>
              </a:rPr>
              <a:t>go_out</a:t>
            </a:r>
            <a:r>
              <a:rPr lang="en-US" sz="1600" b="1" dirty="0" smtClean="0">
                <a:latin typeface="Consolas" pitchFamily="49" charset="0"/>
              </a:rPr>
              <a:t>=service</a:t>
            </a:r>
            <a:r>
              <a:rPr lang="en-US" sz="1600" dirty="0" smtClean="0">
                <a:latin typeface="Consolas" pitchFamily="49" charset="0"/>
              </a:rPr>
              <a:t> and </a:t>
            </a:r>
            <a:r>
              <a:rPr lang="en-US" sz="1600" b="1" dirty="0" smtClean="0">
                <a:latin typeface="Consolas" pitchFamily="49" charset="0"/>
              </a:rPr>
              <a:t>--go-</a:t>
            </a:r>
            <a:r>
              <a:rPr lang="en-US" sz="1600" b="1" dirty="0" err="1" smtClean="0">
                <a:latin typeface="Consolas" pitchFamily="49" charset="0"/>
              </a:rPr>
              <a:t>grpc_out</a:t>
            </a:r>
            <a:r>
              <a:rPr lang="en-US" sz="1600" b="1" dirty="0" smtClean="0">
                <a:latin typeface="Consolas" pitchFamily="49" charset="0"/>
              </a:rPr>
              <a:t>=service</a:t>
            </a:r>
            <a:r>
              <a:rPr lang="en-US" sz="1600" dirty="0" smtClean="0">
                <a:latin typeface="Consolas" pitchFamily="49" charset="0"/>
              </a:rPr>
              <a:t>: The destination directory where you want the generated code to go.</a:t>
            </a:r>
          </a:p>
          <a:p>
            <a:r>
              <a:rPr lang="en-US" sz="1800" dirty="0" smtClean="0"/>
              <a:t>The </a:t>
            </a:r>
            <a:r>
              <a:rPr lang="en-US" sz="1800" b="1" dirty="0" err="1" smtClean="0"/>
              <a:t>product_info.pb.go</a:t>
            </a:r>
            <a:r>
              <a:rPr lang="en-US" sz="1800" dirty="0" smtClean="0"/>
              <a:t> file and </a:t>
            </a:r>
            <a:r>
              <a:rPr lang="en-US" sz="1800" b="1" dirty="0" err="1" smtClean="0"/>
              <a:t>product_info_grpc.pb.go</a:t>
            </a:r>
            <a:r>
              <a:rPr lang="en-US" sz="1800" dirty="0" smtClean="0"/>
              <a:t> file will be generated inside the given subdirectory (</a:t>
            </a:r>
            <a:r>
              <a:rPr lang="en-US" sz="1800" b="1" dirty="0" smtClean="0"/>
              <a:t>ecommerce</a:t>
            </a:r>
            <a:r>
              <a:rPr lang="en-US" sz="1800" dirty="0" smtClean="0"/>
              <a:t>) in the module due to below content of the </a:t>
            </a:r>
            <a:r>
              <a:rPr lang="en-US" sz="1800" b="1" dirty="0" err="1" smtClean="0"/>
              <a:t>product_info.proto</a:t>
            </a:r>
            <a:r>
              <a:rPr lang="en-US" sz="1800" dirty="0" smtClean="0"/>
              <a:t> file.</a:t>
            </a:r>
            <a:endParaRPr lang="en-US" sz="1800" dirty="0" smtClean="0">
              <a:latin typeface="Consolas" pitchFamily="49" charset="0"/>
            </a:endParaRPr>
          </a:p>
        </p:txBody>
      </p:sp>
      <p:sp>
        <p:nvSpPr>
          <p:cNvPr id="4" name="Rectangle 3"/>
          <p:cNvSpPr/>
          <p:nvPr/>
        </p:nvSpPr>
        <p:spPr>
          <a:xfrm>
            <a:off x="685800" y="5493603"/>
            <a:ext cx="7772400" cy="83099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syntax</a:t>
            </a:r>
            <a:r>
              <a:rPr lang="en-US" sz="1600" dirty="0" smtClean="0">
                <a:solidFill>
                  <a:srgbClr val="D4D4D4"/>
                </a:solidFill>
                <a:latin typeface="Consolas"/>
              </a:rPr>
              <a:t> = </a:t>
            </a:r>
            <a:r>
              <a:rPr lang="en-US" sz="1600" dirty="0" smtClean="0">
                <a:solidFill>
                  <a:srgbClr val="CE9178"/>
                </a:solidFill>
                <a:latin typeface="Consolas"/>
              </a:rPr>
              <a:t>"proto3"</a:t>
            </a:r>
            <a:r>
              <a:rPr lang="en-US" sz="1600" dirty="0" smtClean="0">
                <a:solidFill>
                  <a:srgbClr val="D4D4D4"/>
                </a:solidFill>
                <a:latin typeface="Consolas"/>
              </a:rPr>
              <a:t>;</a:t>
            </a:r>
          </a:p>
          <a:p>
            <a:r>
              <a:rPr lang="en-US" sz="1600" dirty="0" smtClean="0">
                <a:solidFill>
                  <a:srgbClr val="569CD6"/>
                </a:solidFill>
                <a:latin typeface="Consolas"/>
              </a:rPr>
              <a:t>package</a:t>
            </a:r>
            <a:r>
              <a:rPr lang="en-US" sz="1600" dirty="0" smtClean="0">
                <a:solidFill>
                  <a:srgbClr val="D4D4D4"/>
                </a:solidFill>
                <a:latin typeface="Consolas"/>
              </a:rPr>
              <a:t> </a:t>
            </a:r>
            <a:r>
              <a:rPr lang="en-US" sz="1600" dirty="0" smtClean="0">
                <a:solidFill>
                  <a:srgbClr val="CE9178"/>
                </a:solidFill>
                <a:latin typeface="Consolas"/>
              </a:rPr>
              <a:t>ecommerce</a:t>
            </a:r>
            <a:r>
              <a:rPr lang="en-US" sz="1600" dirty="0" smtClean="0">
                <a:solidFill>
                  <a:srgbClr val="D4D4D4"/>
                </a:solidFill>
                <a:latin typeface="Consolas"/>
              </a:rPr>
              <a:t>;</a:t>
            </a:r>
          </a:p>
          <a:p>
            <a:r>
              <a:rPr lang="en-US" sz="1600" dirty="0" smtClean="0">
                <a:solidFill>
                  <a:srgbClr val="569CD6"/>
                </a:solidFill>
                <a:latin typeface="Consolas"/>
              </a:rPr>
              <a:t>option</a:t>
            </a:r>
            <a:r>
              <a:rPr lang="en-US" sz="1600" dirty="0" smtClean="0">
                <a:solidFill>
                  <a:srgbClr val="D4D4D4"/>
                </a:solidFill>
                <a:latin typeface="Consolas"/>
              </a:rPr>
              <a:t> </a:t>
            </a:r>
            <a:r>
              <a:rPr lang="en-US" sz="1600" dirty="0" err="1" smtClean="0">
                <a:solidFill>
                  <a:srgbClr val="D4D4D4"/>
                </a:solidFill>
                <a:latin typeface="Consolas"/>
              </a:rPr>
              <a:t>go_package</a:t>
            </a:r>
            <a:r>
              <a:rPr lang="en-US" sz="1600" dirty="0" smtClean="0">
                <a:solidFill>
                  <a:srgbClr val="D4D4D4"/>
                </a:solidFill>
                <a:latin typeface="Consolas"/>
              </a:rPr>
              <a:t> = </a:t>
            </a:r>
            <a:r>
              <a:rPr lang="en-US" sz="1600" dirty="0" smtClean="0">
                <a:solidFill>
                  <a:srgbClr val="CE9178"/>
                </a:solidFill>
                <a:latin typeface="Consolas"/>
              </a:rPr>
              <a:t>"/ecommerce"</a:t>
            </a:r>
            <a:r>
              <a:rPr lang="en-US" sz="1600" dirty="0" smtClean="0">
                <a:solidFill>
                  <a:srgbClr val="D4D4D4"/>
                </a:solidFill>
                <a:latin typeface="Consolas"/>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Create </a:t>
            </a:r>
            <a:r>
              <a:rPr lang="en-US" dirty="0" err="1" smtClean="0"/>
              <a:t>productinfo_service.go</a:t>
            </a:r>
            <a:endParaRPr lang="en-US" dirty="0"/>
          </a:p>
        </p:txBody>
      </p:sp>
      <p:sp>
        <p:nvSpPr>
          <p:cNvPr id="4" name="Rectangle 3"/>
          <p:cNvSpPr/>
          <p:nvPr/>
        </p:nvSpPr>
        <p:spPr>
          <a:xfrm>
            <a:off x="533400" y="1600200"/>
            <a:ext cx="8077200" cy="480131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package</a:t>
            </a:r>
            <a:r>
              <a:rPr lang="en-US" dirty="0" smtClean="0">
                <a:solidFill>
                  <a:srgbClr val="CCCCCC"/>
                </a:solidFill>
                <a:latin typeface="Consolas"/>
              </a:rPr>
              <a:t> </a:t>
            </a:r>
            <a:r>
              <a:rPr lang="en-US" dirty="0" smtClean="0">
                <a:solidFill>
                  <a:srgbClr val="4EC9B0"/>
                </a:solidFill>
                <a:latin typeface="Consolas"/>
              </a:rPr>
              <a:t>main</a:t>
            </a:r>
            <a:endParaRPr lang="en-US" dirty="0" smtClean="0">
              <a:solidFill>
                <a:srgbClr val="CCCCCC"/>
              </a:solidFill>
              <a:latin typeface="Consolas"/>
            </a:endParaRP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586C0"/>
                </a:solidFill>
                <a:latin typeface="Consolas"/>
              </a:rPr>
              <a:t>import</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CE9178"/>
                </a:solidFill>
                <a:latin typeface="Consolas"/>
              </a:rPr>
              <a:t>"context"</a:t>
            </a:r>
            <a:endParaRPr lang="en-US" dirty="0" smtClean="0">
              <a:solidFill>
                <a:srgbClr val="CCCCCC"/>
              </a:solidFill>
              <a:latin typeface="Consolas"/>
            </a:endParaRPr>
          </a:p>
          <a:p>
            <a:r>
              <a:rPr lang="en-US" dirty="0" smtClean="0">
                <a:solidFill>
                  <a:srgbClr val="CCCCCC"/>
                </a:solidFill>
                <a:latin typeface="Consolas"/>
              </a:rPr>
              <a:t>    </a:t>
            </a:r>
            <a:r>
              <a:rPr lang="en-US" dirty="0" err="1" smtClean="0">
                <a:solidFill>
                  <a:srgbClr val="9CDCFE"/>
                </a:solidFill>
                <a:latin typeface="Consolas"/>
              </a:rPr>
              <a:t>pb</a:t>
            </a:r>
            <a:r>
              <a:rPr lang="en-US" dirty="0" smtClean="0">
                <a:solidFill>
                  <a:srgbClr val="CCCCCC"/>
                </a:solidFill>
                <a:latin typeface="Consolas"/>
              </a:rPr>
              <a:t> </a:t>
            </a:r>
            <a:r>
              <a:rPr lang="en-US" dirty="0" smtClean="0">
                <a:solidFill>
                  <a:srgbClr val="CE9178"/>
                </a:solidFill>
                <a:latin typeface="Consolas"/>
              </a:rPr>
              <a:t>"</a:t>
            </a:r>
            <a:r>
              <a:rPr lang="en-US" dirty="0" err="1" smtClean="0">
                <a:solidFill>
                  <a:srgbClr val="CE9178"/>
                </a:solidFill>
                <a:latin typeface="Consolas"/>
              </a:rPr>
              <a:t>productinfo</a:t>
            </a:r>
            <a:r>
              <a:rPr lang="en-US" dirty="0" smtClean="0">
                <a:solidFill>
                  <a:srgbClr val="CE9178"/>
                </a:solidFill>
                <a:latin typeface="Consolas"/>
              </a:rPr>
              <a:t>/service/ecommerce"</a:t>
            </a:r>
            <a:endParaRPr lang="en-US" dirty="0" smtClean="0">
              <a:solidFill>
                <a:srgbClr val="CCCCCC"/>
              </a:solidFill>
              <a:latin typeface="Consolas"/>
            </a:endParaRP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CCCCC"/>
                </a:solidFill>
                <a:latin typeface="Consolas"/>
              </a:rPr>
              <a:t>    </a:t>
            </a:r>
            <a:r>
              <a:rPr lang="en-US" dirty="0" smtClean="0">
                <a:solidFill>
                  <a:srgbClr val="CE9178"/>
                </a:solidFill>
                <a:latin typeface="Consolas"/>
              </a:rPr>
              <a:t>"github.com/</a:t>
            </a:r>
            <a:r>
              <a:rPr lang="en-US" dirty="0" err="1" smtClean="0">
                <a:solidFill>
                  <a:srgbClr val="CE9178"/>
                </a:solidFill>
                <a:latin typeface="Consolas"/>
              </a:rPr>
              <a:t>gofrs</a:t>
            </a:r>
            <a:r>
              <a:rPr lang="en-US" dirty="0" smtClean="0">
                <a:solidFill>
                  <a:srgbClr val="CE9178"/>
                </a:solidFill>
                <a:latin typeface="Consolas"/>
              </a:rPr>
              <a:t>/</a:t>
            </a:r>
            <a:r>
              <a:rPr lang="en-US" dirty="0" err="1" smtClean="0">
                <a:solidFill>
                  <a:srgbClr val="CE9178"/>
                </a:solidFill>
                <a:latin typeface="Consolas"/>
              </a:rPr>
              <a:t>uuid</a:t>
            </a:r>
            <a:r>
              <a:rPr lang="en-US" dirty="0" smtClean="0">
                <a:solidFill>
                  <a:srgbClr val="CE9178"/>
                </a:solidFill>
                <a:latin typeface="Consolas"/>
              </a:rPr>
              <a:t>"</a:t>
            </a:r>
            <a:endParaRPr lang="en-US" dirty="0" smtClean="0">
              <a:solidFill>
                <a:srgbClr val="CCCCCC"/>
              </a:solidFill>
              <a:latin typeface="Consolas"/>
            </a:endParaRPr>
          </a:p>
          <a:p>
            <a:r>
              <a:rPr lang="en-US" dirty="0" smtClean="0">
                <a:solidFill>
                  <a:srgbClr val="CCCCCC"/>
                </a:solidFill>
                <a:latin typeface="Consolas"/>
              </a:rPr>
              <a:t>    </a:t>
            </a:r>
            <a:r>
              <a:rPr lang="en-US" dirty="0" smtClean="0">
                <a:solidFill>
                  <a:srgbClr val="CE9178"/>
                </a:solidFill>
                <a:latin typeface="Consolas"/>
              </a:rPr>
              <a:t>"google.golang.org/</a:t>
            </a:r>
            <a:r>
              <a:rPr lang="en-US" dirty="0" err="1" smtClean="0">
                <a:solidFill>
                  <a:srgbClr val="CE9178"/>
                </a:solidFill>
                <a:latin typeface="Consolas"/>
              </a:rPr>
              <a:t>grpc</a:t>
            </a:r>
            <a:r>
              <a:rPr lang="en-US" dirty="0" smtClean="0">
                <a:solidFill>
                  <a:srgbClr val="CE9178"/>
                </a:solidFill>
                <a:latin typeface="Consolas"/>
              </a:rPr>
              <a:t>/codes"</a:t>
            </a:r>
            <a:endParaRPr lang="en-US" dirty="0" smtClean="0">
              <a:solidFill>
                <a:srgbClr val="CCCCCC"/>
              </a:solidFill>
              <a:latin typeface="Consolas"/>
            </a:endParaRPr>
          </a:p>
          <a:p>
            <a:r>
              <a:rPr lang="en-US" dirty="0" smtClean="0">
                <a:solidFill>
                  <a:srgbClr val="CCCCCC"/>
                </a:solidFill>
                <a:latin typeface="Consolas"/>
              </a:rPr>
              <a:t>    </a:t>
            </a:r>
            <a:r>
              <a:rPr lang="en-US" dirty="0" smtClean="0">
                <a:solidFill>
                  <a:srgbClr val="CE9178"/>
                </a:solidFill>
                <a:latin typeface="Consolas"/>
              </a:rPr>
              <a:t>"google.golang.org/</a:t>
            </a:r>
            <a:r>
              <a:rPr lang="en-US" dirty="0" err="1" smtClean="0">
                <a:solidFill>
                  <a:srgbClr val="CE9178"/>
                </a:solidFill>
                <a:latin typeface="Consolas"/>
              </a:rPr>
              <a:t>grpc</a:t>
            </a:r>
            <a:r>
              <a:rPr lang="en-US" dirty="0" smtClean="0">
                <a:solidFill>
                  <a:srgbClr val="CE9178"/>
                </a:solidFill>
                <a:latin typeface="Consolas"/>
              </a:rPr>
              <a:t>/status"</a:t>
            </a:r>
            <a:endParaRPr lang="en-US" dirty="0" smtClean="0">
              <a:solidFill>
                <a:srgbClr val="CCCCCC"/>
              </a:solidFill>
              <a:latin typeface="Consolas"/>
            </a:endParaRPr>
          </a:p>
          <a:p>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6A9955"/>
                </a:solidFill>
                <a:latin typeface="Consolas"/>
              </a:rPr>
              <a:t>// server is used to implement ecommerce/</a:t>
            </a:r>
            <a:r>
              <a:rPr lang="en-US" dirty="0" err="1" smtClean="0">
                <a:solidFill>
                  <a:srgbClr val="6A9955"/>
                </a:solidFill>
                <a:latin typeface="Consolas"/>
              </a:rPr>
              <a:t>product_info</a:t>
            </a:r>
            <a:r>
              <a:rPr lang="en-US" dirty="0" smtClean="0">
                <a:solidFill>
                  <a:srgbClr val="6A9955"/>
                </a:solidFill>
                <a:latin typeface="Consolas"/>
              </a:rPr>
              <a:t>.</a:t>
            </a:r>
            <a:endParaRPr lang="en-US" dirty="0" smtClean="0">
              <a:solidFill>
                <a:srgbClr val="CCCCCC"/>
              </a:solidFill>
              <a:latin typeface="Consolas"/>
            </a:endParaRPr>
          </a:p>
          <a:p>
            <a:r>
              <a:rPr lang="en-US" dirty="0" smtClean="0">
                <a:solidFill>
                  <a:srgbClr val="569CD6"/>
                </a:solidFill>
                <a:latin typeface="Consolas"/>
              </a:rPr>
              <a:t>type</a:t>
            </a:r>
            <a:r>
              <a:rPr lang="en-US" dirty="0" smtClean="0">
                <a:solidFill>
                  <a:srgbClr val="CCCCCC"/>
                </a:solidFill>
                <a:latin typeface="Consolas"/>
              </a:rPr>
              <a:t> </a:t>
            </a:r>
            <a:r>
              <a:rPr lang="en-US" dirty="0" smtClean="0">
                <a:solidFill>
                  <a:srgbClr val="4EC9B0"/>
                </a:solidFill>
                <a:latin typeface="Consolas"/>
              </a:rPr>
              <a:t>server</a:t>
            </a:r>
            <a:r>
              <a:rPr lang="en-US" dirty="0" smtClean="0">
                <a:solidFill>
                  <a:srgbClr val="CCCCCC"/>
                </a:solidFill>
                <a:latin typeface="Consolas"/>
              </a:rPr>
              <a:t> </a:t>
            </a:r>
            <a:r>
              <a:rPr lang="en-US" dirty="0" err="1" smtClean="0">
                <a:solidFill>
                  <a:srgbClr val="569CD6"/>
                </a:solidFill>
                <a:latin typeface="Consolas"/>
              </a:rPr>
              <a:t>struct</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6A9955"/>
                </a:solidFill>
                <a:latin typeface="Consolas"/>
              </a:rPr>
              <a:t>// See https://github.com/grpc/grpc-go/issues/3794</a:t>
            </a:r>
            <a:endParaRPr lang="en-US" dirty="0" smtClean="0">
              <a:solidFill>
                <a:srgbClr val="CCCCCC"/>
              </a:solidFill>
              <a:latin typeface="Consolas"/>
            </a:endParaRPr>
          </a:p>
          <a:p>
            <a:r>
              <a:rPr lang="en-US" dirty="0" smtClean="0">
                <a:solidFill>
                  <a:srgbClr val="CCCCCC"/>
                </a:solidFill>
                <a:latin typeface="Consolas"/>
              </a:rPr>
              <a:t>    </a:t>
            </a:r>
            <a:r>
              <a:rPr lang="en-US" dirty="0" err="1" smtClean="0">
                <a:solidFill>
                  <a:srgbClr val="4EC9B0"/>
                </a:solidFill>
                <a:latin typeface="Consolas"/>
              </a:rPr>
              <a:t>pb</a:t>
            </a:r>
            <a:r>
              <a:rPr lang="en-US" dirty="0" err="1" smtClean="0">
                <a:solidFill>
                  <a:srgbClr val="CCCCCC"/>
                </a:solidFill>
                <a:latin typeface="Consolas"/>
              </a:rPr>
              <a:t>.</a:t>
            </a:r>
            <a:r>
              <a:rPr lang="en-US" dirty="0" err="1" smtClean="0">
                <a:solidFill>
                  <a:srgbClr val="4EC9B0"/>
                </a:solidFill>
                <a:latin typeface="Consolas"/>
              </a:rPr>
              <a:t>UnimplementedProductInfoServer</a:t>
            </a:r>
            <a:endParaRPr lang="en-US" dirty="0" smtClean="0">
              <a:solidFill>
                <a:srgbClr val="CCCCCC"/>
              </a:solidFill>
              <a:latin typeface="Consolas"/>
            </a:endParaRPr>
          </a:p>
          <a:p>
            <a:r>
              <a:rPr lang="en-US" dirty="0" smtClean="0">
                <a:solidFill>
                  <a:srgbClr val="CCCCCC"/>
                </a:solidFill>
                <a:latin typeface="Consolas"/>
              </a:rPr>
              <a:t>    </a:t>
            </a:r>
            <a:r>
              <a:rPr lang="en-US" dirty="0" err="1" smtClean="0">
                <a:solidFill>
                  <a:srgbClr val="9CDCFE"/>
                </a:solidFill>
                <a:latin typeface="Consolas"/>
              </a:rPr>
              <a:t>productMap</a:t>
            </a:r>
            <a:r>
              <a:rPr lang="en-US" dirty="0" smtClean="0">
                <a:solidFill>
                  <a:srgbClr val="CCCCCC"/>
                </a:solidFill>
                <a:latin typeface="Consolas"/>
              </a:rPr>
              <a:t> </a:t>
            </a:r>
            <a:r>
              <a:rPr lang="en-US" dirty="0" smtClean="0">
                <a:solidFill>
                  <a:srgbClr val="569CD6"/>
                </a:solidFill>
                <a:latin typeface="Consolas"/>
              </a:rPr>
              <a:t>map</a:t>
            </a:r>
            <a:r>
              <a:rPr lang="en-US" dirty="0" smtClean="0">
                <a:solidFill>
                  <a:srgbClr val="CCCCCC"/>
                </a:solidFill>
                <a:latin typeface="Consolas"/>
              </a:rPr>
              <a:t>[</a:t>
            </a:r>
            <a:r>
              <a:rPr lang="en-US" dirty="0" smtClean="0">
                <a:solidFill>
                  <a:srgbClr val="4EC9B0"/>
                </a:solidFill>
                <a:latin typeface="Consolas"/>
              </a:rPr>
              <a:t>string</a:t>
            </a:r>
            <a:r>
              <a:rPr lang="en-US" dirty="0" smtClean="0">
                <a:solidFill>
                  <a:srgbClr val="CCCCCC"/>
                </a:solidFill>
                <a:latin typeface="Consolas"/>
              </a:rPr>
              <a:t>]</a:t>
            </a:r>
            <a:r>
              <a:rPr lang="en-US" dirty="0" smtClean="0">
                <a:solidFill>
                  <a:srgbClr val="D4D4D4"/>
                </a:solidFill>
                <a:latin typeface="Consolas"/>
              </a:rPr>
              <a:t>*</a:t>
            </a:r>
            <a:r>
              <a:rPr lang="en-US" dirty="0" err="1" smtClean="0">
                <a:solidFill>
                  <a:srgbClr val="4EC9B0"/>
                </a:solidFill>
                <a:latin typeface="Consolas"/>
              </a:rPr>
              <a:t>pb</a:t>
            </a:r>
            <a:r>
              <a:rPr lang="en-US" dirty="0" err="1" smtClean="0">
                <a:solidFill>
                  <a:srgbClr val="CCCCCC"/>
                </a:solidFill>
                <a:latin typeface="Consolas"/>
              </a:rPr>
              <a:t>.</a:t>
            </a:r>
            <a:r>
              <a:rPr lang="en-US" dirty="0" err="1" smtClean="0">
                <a:solidFill>
                  <a:srgbClr val="4EC9B0"/>
                </a:solidFill>
                <a:latin typeface="Consolas"/>
              </a:rPr>
              <a:t>Product</a:t>
            </a:r>
            <a:endParaRPr lang="en-US" dirty="0" smtClean="0">
              <a:solidFill>
                <a:srgbClr val="CCCCCC"/>
              </a:solidFill>
              <a:latin typeface="Consolas"/>
            </a:endParaRPr>
          </a:p>
          <a:p>
            <a:r>
              <a:rPr lang="en-US" dirty="0" smtClean="0">
                <a:solidFill>
                  <a:srgbClr val="CCCCCC"/>
                </a:solidFill>
                <a:latin typeface="Consolas"/>
              </a:rPr>
              <a:t>}</a:t>
            </a:r>
            <a:endParaRPr lang="en-US" b="0" dirty="0">
              <a:solidFill>
                <a:srgbClr val="CCCCCC"/>
              </a:solidFill>
              <a:latin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Install Package</a:t>
            </a:r>
            <a:endParaRPr lang="en-US" dirty="0"/>
          </a:p>
        </p:txBody>
      </p:sp>
      <p:pic>
        <p:nvPicPr>
          <p:cNvPr id="4098" name="Picture 2"/>
          <p:cNvPicPr>
            <a:picLocks noChangeAspect="1" noChangeArrowheads="1"/>
          </p:cNvPicPr>
          <p:nvPr/>
        </p:nvPicPr>
        <p:blipFill>
          <a:blip r:embed="rId3" cstate="print"/>
          <a:srcRect/>
          <a:stretch>
            <a:fillRect/>
          </a:stretch>
        </p:blipFill>
        <p:spPr bwMode="auto">
          <a:xfrm>
            <a:off x="1706563" y="2457450"/>
            <a:ext cx="5730875" cy="2800350"/>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10. Implement </a:t>
            </a:r>
            <a:r>
              <a:rPr lang="en-US" dirty="0" err="1" smtClean="0"/>
              <a:t>AddProduct</a:t>
            </a:r>
            <a:r>
              <a:rPr lang="en-US" dirty="0" smtClean="0"/>
              <a:t> Service</a:t>
            </a:r>
            <a:endParaRPr lang="en-US" dirty="0"/>
          </a:p>
        </p:txBody>
      </p:sp>
      <p:sp>
        <p:nvSpPr>
          <p:cNvPr id="4" name="Rectangle 3"/>
          <p:cNvSpPr/>
          <p:nvPr/>
        </p:nvSpPr>
        <p:spPr>
          <a:xfrm>
            <a:off x="533400" y="2133600"/>
            <a:ext cx="8077200" cy="403187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 </a:t>
            </a:r>
            <a:r>
              <a:rPr lang="en-US" sz="1600" dirty="0" err="1" smtClean="0">
                <a:solidFill>
                  <a:srgbClr val="6A9955"/>
                </a:solidFill>
                <a:latin typeface="Consolas"/>
              </a:rPr>
              <a:t>AddProduct</a:t>
            </a:r>
            <a:r>
              <a:rPr lang="en-US" sz="1600" dirty="0" smtClean="0">
                <a:solidFill>
                  <a:srgbClr val="6A9955"/>
                </a:solidFill>
                <a:latin typeface="Consolas"/>
              </a:rPr>
              <a:t> implements </a:t>
            </a:r>
            <a:r>
              <a:rPr lang="en-US" sz="1600" dirty="0" err="1" smtClean="0">
                <a:solidFill>
                  <a:srgbClr val="6A9955"/>
                </a:solidFill>
                <a:latin typeface="Consolas"/>
              </a:rPr>
              <a:t>ecommerce.AddProduct</a:t>
            </a:r>
            <a:endParaRPr lang="en-US" sz="1600" dirty="0" smtClean="0">
              <a:solidFill>
                <a:srgbClr val="D4D4D4"/>
              </a:solidFill>
              <a:latin typeface="Consolas"/>
            </a:endParaRPr>
          </a:p>
          <a:p>
            <a:r>
              <a:rPr lang="en-US" sz="1600" dirty="0" err="1" smtClean="0">
                <a:solidFill>
                  <a:srgbClr val="569CD6"/>
                </a:solidFill>
                <a:latin typeface="Consolas"/>
              </a:rPr>
              <a:t>func</a:t>
            </a:r>
            <a:r>
              <a:rPr lang="en-US" sz="1600" dirty="0" smtClean="0">
                <a:solidFill>
                  <a:srgbClr val="D4D4D4"/>
                </a:solidFill>
                <a:latin typeface="Consolas"/>
              </a:rPr>
              <a:t> (s *server) </a:t>
            </a:r>
            <a:r>
              <a:rPr lang="en-US" sz="1600" dirty="0" err="1" smtClean="0">
                <a:solidFill>
                  <a:srgbClr val="DCDCAA"/>
                </a:solidFill>
                <a:latin typeface="Consolas"/>
              </a:rPr>
              <a:t>AddProduct</a:t>
            </a:r>
            <a:r>
              <a:rPr lang="en-US" sz="1600" dirty="0" smtClean="0">
                <a:solidFill>
                  <a:srgbClr val="D4D4D4"/>
                </a:solidFill>
                <a:latin typeface="Consolas"/>
              </a:rPr>
              <a:t>(</a:t>
            </a:r>
            <a:r>
              <a:rPr lang="en-US" sz="1600" dirty="0" err="1" smtClean="0">
                <a:solidFill>
                  <a:srgbClr val="D4D4D4"/>
                </a:solidFill>
                <a:latin typeface="Consolas"/>
              </a:rPr>
              <a:t>ctx</a:t>
            </a:r>
            <a:r>
              <a:rPr lang="en-US" sz="1600" dirty="0" smtClean="0">
                <a:solidFill>
                  <a:srgbClr val="D4D4D4"/>
                </a:solidFill>
                <a:latin typeface="Consolas"/>
              </a:rPr>
              <a:t> </a:t>
            </a:r>
            <a:r>
              <a:rPr lang="en-US" sz="1600" dirty="0" err="1" smtClean="0">
                <a:solidFill>
                  <a:srgbClr val="D4D4D4"/>
                </a:solidFill>
                <a:latin typeface="Consolas"/>
              </a:rPr>
              <a:t>context.Context</a:t>
            </a:r>
            <a:r>
              <a:rPr lang="en-US" sz="1600" dirty="0" smtClean="0">
                <a:solidFill>
                  <a:srgbClr val="D4D4D4"/>
                </a:solidFill>
                <a:latin typeface="Consolas"/>
              </a:rPr>
              <a:t>,</a:t>
            </a:r>
          </a:p>
          <a:p>
            <a:r>
              <a:rPr lang="en-US" sz="1600" dirty="0" smtClean="0">
                <a:solidFill>
                  <a:srgbClr val="D4D4D4"/>
                </a:solidFill>
                <a:latin typeface="Consolas"/>
              </a:rPr>
              <a:t>    in *</a:t>
            </a:r>
            <a:r>
              <a:rPr lang="en-US" sz="1600" dirty="0" err="1" smtClean="0">
                <a:solidFill>
                  <a:srgbClr val="D4D4D4"/>
                </a:solidFill>
                <a:latin typeface="Consolas"/>
              </a:rPr>
              <a:t>pb.Product</a:t>
            </a:r>
            <a:r>
              <a:rPr lang="en-US" sz="1600" dirty="0" smtClean="0">
                <a:solidFill>
                  <a:srgbClr val="D4D4D4"/>
                </a:solidFill>
                <a:latin typeface="Consolas"/>
              </a:rPr>
              <a:t>) (*</a:t>
            </a:r>
            <a:r>
              <a:rPr lang="en-US" sz="1600" dirty="0" err="1" smtClean="0">
                <a:solidFill>
                  <a:srgbClr val="D4D4D4"/>
                </a:solidFill>
                <a:latin typeface="Consolas"/>
              </a:rPr>
              <a:t>pb.ProductID</a:t>
            </a:r>
            <a:r>
              <a:rPr lang="en-US" sz="1600" dirty="0" smtClean="0">
                <a:solidFill>
                  <a:srgbClr val="D4D4D4"/>
                </a:solidFill>
                <a:latin typeface="Consolas"/>
              </a:rPr>
              <a:t>, </a:t>
            </a:r>
            <a:r>
              <a:rPr lang="en-US" sz="1600" dirty="0" smtClean="0">
                <a:solidFill>
                  <a:srgbClr val="4EC9B0"/>
                </a:solidFill>
                <a:latin typeface="Consolas"/>
              </a:rPr>
              <a:t>error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out</a:t>
            </a:r>
            <a:r>
              <a:rPr lang="en-US" sz="1600" dirty="0" smtClean="0">
                <a:solidFill>
                  <a:srgbClr val="D4D4D4"/>
                </a:solidFill>
                <a:latin typeface="Consolas"/>
              </a:rPr>
              <a:t>, </a:t>
            </a:r>
            <a:r>
              <a:rPr lang="en-US" sz="1600" dirty="0" smtClean="0">
                <a:solidFill>
                  <a:srgbClr val="9CDCFE"/>
                </a:solidFill>
                <a:latin typeface="Consolas"/>
              </a:rPr>
              <a:t>err</a:t>
            </a:r>
            <a:r>
              <a:rPr lang="en-US" sz="1600" dirty="0" smtClean="0">
                <a:solidFill>
                  <a:srgbClr val="D4D4D4"/>
                </a:solidFill>
                <a:latin typeface="Consolas"/>
              </a:rPr>
              <a:t> := uuid.</a:t>
            </a:r>
            <a:r>
              <a:rPr lang="en-US" sz="1600" dirty="0" smtClean="0">
                <a:solidFill>
                  <a:srgbClr val="DCDCAA"/>
                </a:solidFill>
                <a:latin typeface="Consolas"/>
              </a:rPr>
              <a:t>NewV4</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err != </a:t>
            </a:r>
            <a:r>
              <a:rPr lang="en-US" sz="1600" dirty="0" smtClean="0">
                <a:solidFill>
                  <a:srgbClr val="569CD6"/>
                </a:solidFill>
                <a:latin typeface="Consolas"/>
              </a:rPr>
              <a:t>nil</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smtClean="0">
                <a:solidFill>
                  <a:srgbClr val="569CD6"/>
                </a:solidFill>
                <a:latin typeface="Consolas"/>
              </a:rPr>
              <a:t>nil</a:t>
            </a:r>
            <a:r>
              <a:rPr lang="en-US" sz="1600" dirty="0" smtClean="0">
                <a:solidFill>
                  <a:srgbClr val="D4D4D4"/>
                </a:solidFill>
                <a:latin typeface="Consolas"/>
              </a:rPr>
              <a:t>, </a:t>
            </a:r>
            <a:r>
              <a:rPr lang="en-US" sz="1600" dirty="0" err="1" smtClean="0">
                <a:solidFill>
                  <a:srgbClr val="D4D4D4"/>
                </a:solidFill>
                <a:latin typeface="Consolas"/>
              </a:rPr>
              <a:t>status.</a:t>
            </a:r>
            <a:r>
              <a:rPr lang="en-US" sz="1600" dirty="0" err="1" smtClean="0">
                <a:solidFill>
                  <a:srgbClr val="DCDCAA"/>
                </a:solidFill>
                <a:latin typeface="Consolas"/>
              </a:rPr>
              <a:t>Errorf</a:t>
            </a:r>
            <a:r>
              <a:rPr lang="en-US" sz="1600" dirty="0" smtClean="0">
                <a:solidFill>
                  <a:srgbClr val="D4D4D4"/>
                </a:solidFill>
                <a:latin typeface="Consolas"/>
              </a:rPr>
              <a:t>(</a:t>
            </a:r>
            <a:r>
              <a:rPr lang="en-US" sz="1600" dirty="0" err="1" smtClean="0">
                <a:solidFill>
                  <a:srgbClr val="D4D4D4"/>
                </a:solidFill>
                <a:latin typeface="Consolas"/>
              </a:rPr>
              <a:t>codes.Internal</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E9178"/>
                </a:solidFill>
                <a:latin typeface="Consolas"/>
              </a:rPr>
              <a:t>"Error while generating Product ID"</a:t>
            </a:r>
            <a:r>
              <a:rPr lang="en-US" sz="1600" dirty="0" smtClean="0">
                <a:solidFill>
                  <a:srgbClr val="D4D4D4"/>
                </a:solidFill>
                <a:latin typeface="Consolas"/>
              </a:rPr>
              <a:t>, err)</a:t>
            </a:r>
          </a:p>
          <a:p>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in.Id</a:t>
            </a:r>
            <a:r>
              <a:rPr lang="en-US" sz="1600" dirty="0" smtClean="0">
                <a:solidFill>
                  <a:srgbClr val="D4D4D4"/>
                </a:solidFill>
                <a:latin typeface="Consolas"/>
              </a:rPr>
              <a:t> = </a:t>
            </a:r>
            <a:r>
              <a:rPr lang="en-US" sz="1600" dirty="0" err="1" smtClean="0">
                <a:solidFill>
                  <a:srgbClr val="D4D4D4"/>
                </a:solidFill>
                <a:latin typeface="Consolas"/>
              </a:rPr>
              <a:t>out.</a:t>
            </a:r>
            <a:r>
              <a:rPr lang="en-US" sz="1600" dirty="0" err="1" smtClean="0">
                <a:solidFill>
                  <a:srgbClr val="DCDCAA"/>
                </a:solidFill>
                <a:latin typeface="Consolas"/>
              </a:rPr>
              <a:t>String</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a:t>
            </a:r>
            <a:r>
              <a:rPr lang="en-US" sz="1600" dirty="0" err="1" smtClean="0">
                <a:solidFill>
                  <a:srgbClr val="D4D4D4"/>
                </a:solidFill>
                <a:latin typeface="Consolas"/>
              </a:rPr>
              <a:t>s.productMap</a:t>
            </a:r>
            <a:r>
              <a:rPr lang="en-US" sz="1600" dirty="0" smtClean="0">
                <a:solidFill>
                  <a:srgbClr val="D4D4D4"/>
                </a:solidFill>
                <a:latin typeface="Consolas"/>
              </a:rPr>
              <a:t> == </a:t>
            </a:r>
            <a:r>
              <a:rPr lang="en-US" sz="1600" dirty="0" smtClean="0">
                <a:solidFill>
                  <a:srgbClr val="569CD6"/>
                </a:solidFill>
                <a:latin typeface="Consolas"/>
              </a:rPr>
              <a:t>nil</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s.productMap</a:t>
            </a:r>
            <a:r>
              <a:rPr lang="en-US" sz="1600" dirty="0" smtClean="0">
                <a:solidFill>
                  <a:srgbClr val="D4D4D4"/>
                </a:solidFill>
                <a:latin typeface="Consolas"/>
              </a:rPr>
              <a:t> = </a:t>
            </a:r>
            <a:r>
              <a:rPr lang="en-US" sz="1600" dirty="0" smtClean="0">
                <a:solidFill>
                  <a:srgbClr val="DCDCAA"/>
                </a:solidFill>
                <a:latin typeface="Consolas"/>
              </a:rPr>
              <a:t>make</a:t>
            </a:r>
            <a:r>
              <a:rPr lang="en-US" sz="1600" dirty="0" smtClean="0">
                <a:solidFill>
                  <a:srgbClr val="D4D4D4"/>
                </a:solidFill>
                <a:latin typeface="Consolas"/>
              </a:rPr>
              <a:t>(</a:t>
            </a:r>
            <a:r>
              <a:rPr lang="en-US" sz="1600" dirty="0" smtClean="0">
                <a:solidFill>
                  <a:srgbClr val="569CD6"/>
                </a:solidFill>
                <a:latin typeface="Consolas"/>
              </a:rPr>
              <a:t>map</a:t>
            </a:r>
            <a:r>
              <a:rPr lang="en-US" sz="1600" dirty="0" smtClean="0">
                <a:solidFill>
                  <a:srgbClr val="D4D4D4"/>
                </a:solidFill>
                <a:latin typeface="Consolas"/>
              </a:rPr>
              <a:t>[</a:t>
            </a:r>
            <a:r>
              <a:rPr lang="en-US" sz="1600" dirty="0" smtClean="0">
                <a:solidFill>
                  <a:srgbClr val="4EC9B0"/>
                </a:solidFill>
                <a:latin typeface="Consolas"/>
              </a:rPr>
              <a:t>string</a:t>
            </a:r>
            <a:r>
              <a:rPr lang="en-US" sz="1600" dirty="0" smtClean="0">
                <a:solidFill>
                  <a:srgbClr val="D4D4D4"/>
                </a:solidFill>
                <a:latin typeface="Consolas"/>
              </a:rPr>
              <a:t>]*</a:t>
            </a:r>
            <a:r>
              <a:rPr lang="en-US" sz="1600" dirty="0" err="1" smtClean="0">
                <a:solidFill>
                  <a:srgbClr val="D4D4D4"/>
                </a:solidFill>
                <a:latin typeface="Consolas"/>
              </a:rPr>
              <a:t>pb.Product</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s.productMap</a:t>
            </a:r>
            <a:r>
              <a:rPr lang="en-US" sz="1600" dirty="0" smtClean="0">
                <a:solidFill>
                  <a:srgbClr val="D4D4D4"/>
                </a:solidFill>
                <a:latin typeface="Consolas"/>
              </a:rPr>
              <a:t>[</a:t>
            </a:r>
            <a:r>
              <a:rPr lang="en-US" sz="1600" dirty="0" err="1" smtClean="0">
                <a:solidFill>
                  <a:srgbClr val="D4D4D4"/>
                </a:solidFill>
                <a:latin typeface="Consolas"/>
              </a:rPr>
              <a:t>in.Id</a:t>
            </a:r>
            <a:r>
              <a:rPr lang="en-US" sz="1600" dirty="0" smtClean="0">
                <a:solidFill>
                  <a:srgbClr val="D4D4D4"/>
                </a:solidFill>
                <a:latin typeface="Consolas"/>
              </a:rPr>
              <a:t>] = in</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&amp;</a:t>
            </a:r>
            <a:r>
              <a:rPr lang="en-US" sz="1600" dirty="0" err="1" smtClean="0">
                <a:solidFill>
                  <a:srgbClr val="D4D4D4"/>
                </a:solidFill>
                <a:latin typeface="Consolas"/>
              </a:rPr>
              <a:t>pb.ProductID</a:t>
            </a:r>
            <a:r>
              <a:rPr lang="en-US" sz="1600" dirty="0" smtClean="0">
                <a:solidFill>
                  <a:srgbClr val="D4D4D4"/>
                </a:solidFill>
                <a:latin typeface="Consolas"/>
              </a:rPr>
              <a:t>{Value: </a:t>
            </a:r>
            <a:r>
              <a:rPr lang="en-US" sz="1600" dirty="0" err="1" smtClean="0">
                <a:solidFill>
                  <a:srgbClr val="D4D4D4"/>
                </a:solidFill>
                <a:latin typeface="Consolas"/>
              </a:rPr>
              <a:t>in.Id</a:t>
            </a:r>
            <a:r>
              <a:rPr lang="en-US" sz="1600" dirty="0" smtClean="0">
                <a:solidFill>
                  <a:srgbClr val="D4D4D4"/>
                </a:solidFill>
                <a:latin typeface="Consolas"/>
              </a:rPr>
              <a:t>}, </a:t>
            </a:r>
            <a:r>
              <a:rPr lang="en-US" sz="1600" dirty="0" err="1" smtClean="0">
                <a:solidFill>
                  <a:srgbClr val="D4D4D4"/>
                </a:solidFill>
                <a:latin typeface="Consolas"/>
              </a:rPr>
              <a:t>status.</a:t>
            </a:r>
            <a:r>
              <a:rPr lang="en-US" sz="1600" dirty="0" err="1" smtClean="0">
                <a:solidFill>
                  <a:srgbClr val="DCDCAA"/>
                </a:solidFill>
                <a:latin typeface="Consolas"/>
              </a:rPr>
              <a:t>New</a:t>
            </a:r>
            <a:r>
              <a:rPr lang="en-US" sz="1600" dirty="0" smtClean="0">
                <a:solidFill>
                  <a:srgbClr val="D4D4D4"/>
                </a:solidFill>
                <a:latin typeface="Consolas"/>
              </a:rPr>
              <a:t>(</a:t>
            </a:r>
            <a:r>
              <a:rPr lang="en-US" sz="1600" dirty="0" err="1" smtClean="0">
                <a:solidFill>
                  <a:srgbClr val="D4D4D4"/>
                </a:solidFill>
                <a:latin typeface="Consolas"/>
              </a:rPr>
              <a:t>codes.OK</a:t>
            </a:r>
            <a:r>
              <a:rPr lang="en-US" sz="1600" dirty="0" smtClean="0">
                <a:solidFill>
                  <a:srgbClr val="D4D4D4"/>
                </a:solidFill>
                <a:latin typeface="Consolas"/>
              </a:rPr>
              <a:t>, </a:t>
            </a:r>
            <a:r>
              <a:rPr lang="en-US" sz="1600" dirty="0" smtClean="0">
                <a:solidFill>
                  <a:srgbClr val="CE9178"/>
                </a:solidFill>
                <a:latin typeface="Consolas"/>
              </a:rPr>
              <a:t>""</a:t>
            </a:r>
            <a:r>
              <a:rPr lang="en-US" sz="1600" dirty="0" smtClean="0">
                <a:solidFill>
                  <a:srgbClr val="D4D4D4"/>
                </a:solidFill>
                <a:latin typeface="Consolas"/>
              </a:rPr>
              <a:t>).</a:t>
            </a:r>
            <a:r>
              <a:rPr lang="en-US" sz="1600" dirty="0" smtClean="0">
                <a:solidFill>
                  <a:srgbClr val="DCDCAA"/>
                </a:solidFill>
                <a:latin typeface="Consolas"/>
              </a:rPr>
              <a:t>Err</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11. Implement </a:t>
            </a:r>
            <a:r>
              <a:rPr lang="en-US" dirty="0" err="1" smtClean="0"/>
              <a:t>GetProduct</a:t>
            </a:r>
            <a:r>
              <a:rPr lang="en-US" dirty="0" smtClean="0"/>
              <a:t> Service</a:t>
            </a:r>
            <a:endParaRPr lang="en-US" dirty="0"/>
          </a:p>
        </p:txBody>
      </p:sp>
      <p:sp>
        <p:nvSpPr>
          <p:cNvPr id="4" name="Rectangle 3"/>
          <p:cNvSpPr/>
          <p:nvPr/>
        </p:nvSpPr>
        <p:spPr>
          <a:xfrm>
            <a:off x="533400" y="2133600"/>
            <a:ext cx="8077200" cy="2862322"/>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6A9955"/>
                </a:solidFill>
                <a:latin typeface="Consolas"/>
              </a:rPr>
              <a:t>// </a:t>
            </a:r>
            <a:r>
              <a:rPr lang="en-US" dirty="0" err="1" smtClean="0">
                <a:solidFill>
                  <a:srgbClr val="6A9955"/>
                </a:solidFill>
                <a:latin typeface="Consolas"/>
              </a:rPr>
              <a:t>GetProduct</a:t>
            </a:r>
            <a:r>
              <a:rPr lang="en-US" dirty="0" smtClean="0">
                <a:solidFill>
                  <a:srgbClr val="6A9955"/>
                </a:solidFill>
                <a:latin typeface="Consolas"/>
              </a:rPr>
              <a:t> implements </a:t>
            </a:r>
            <a:r>
              <a:rPr lang="en-US" dirty="0" err="1" smtClean="0">
                <a:solidFill>
                  <a:srgbClr val="6A9955"/>
                </a:solidFill>
                <a:latin typeface="Consolas"/>
              </a:rPr>
              <a:t>ecommerce.GetProduct</a:t>
            </a:r>
            <a:endParaRPr lang="en-US" dirty="0" smtClean="0">
              <a:solidFill>
                <a:srgbClr val="D4D4D4"/>
              </a:solidFill>
              <a:latin typeface="Consolas"/>
            </a:endParaRPr>
          </a:p>
          <a:p>
            <a:r>
              <a:rPr lang="en-US" dirty="0" err="1" smtClean="0">
                <a:solidFill>
                  <a:srgbClr val="569CD6"/>
                </a:solidFill>
                <a:latin typeface="Consolas"/>
              </a:rPr>
              <a:t>func</a:t>
            </a:r>
            <a:r>
              <a:rPr lang="en-US" dirty="0" smtClean="0">
                <a:solidFill>
                  <a:srgbClr val="D4D4D4"/>
                </a:solidFill>
                <a:latin typeface="Consolas"/>
              </a:rPr>
              <a:t> (s *server) </a:t>
            </a:r>
            <a:r>
              <a:rPr lang="en-US" dirty="0" err="1" smtClean="0">
                <a:solidFill>
                  <a:srgbClr val="DCDCAA"/>
                </a:solidFill>
                <a:latin typeface="Consolas"/>
              </a:rPr>
              <a:t>GetProduct</a:t>
            </a:r>
            <a:r>
              <a:rPr lang="en-US" dirty="0" smtClean="0">
                <a:solidFill>
                  <a:srgbClr val="D4D4D4"/>
                </a:solidFill>
                <a:latin typeface="Consolas"/>
              </a:rPr>
              <a:t>(</a:t>
            </a:r>
            <a:r>
              <a:rPr lang="en-US" dirty="0" err="1" smtClean="0">
                <a:solidFill>
                  <a:srgbClr val="D4D4D4"/>
                </a:solidFill>
                <a:latin typeface="Consolas"/>
              </a:rPr>
              <a:t>ctx</a:t>
            </a:r>
            <a:r>
              <a:rPr lang="en-US" dirty="0" smtClean="0">
                <a:solidFill>
                  <a:srgbClr val="D4D4D4"/>
                </a:solidFill>
                <a:latin typeface="Consolas"/>
              </a:rPr>
              <a:t> </a:t>
            </a:r>
            <a:r>
              <a:rPr lang="en-US" dirty="0" err="1" smtClean="0">
                <a:solidFill>
                  <a:srgbClr val="D4D4D4"/>
                </a:solidFill>
                <a:latin typeface="Consolas"/>
              </a:rPr>
              <a:t>context.Context</a:t>
            </a:r>
            <a:r>
              <a:rPr lang="en-US" dirty="0" smtClean="0">
                <a:solidFill>
                  <a:srgbClr val="D4D4D4"/>
                </a:solidFill>
                <a:latin typeface="Consolas"/>
              </a:rPr>
              <a:t>,</a:t>
            </a:r>
          </a:p>
          <a:p>
            <a:r>
              <a:rPr lang="en-US" dirty="0" smtClean="0">
                <a:solidFill>
                  <a:srgbClr val="D4D4D4"/>
                </a:solidFill>
                <a:latin typeface="Consolas"/>
              </a:rPr>
              <a:t>    in *</a:t>
            </a:r>
            <a:r>
              <a:rPr lang="en-US" dirty="0" err="1" smtClean="0">
                <a:solidFill>
                  <a:srgbClr val="D4D4D4"/>
                </a:solidFill>
                <a:latin typeface="Consolas"/>
              </a:rPr>
              <a:t>pb.ProductID</a:t>
            </a:r>
            <a:r>
              <a:rPr lang="en-US" dirty="0" smtClean="0">
                <a:solidFill>
                  <a:srgbClr val="D4D4D4"/>
                </a:solidFill>
                <a:latin typeface="Consolas"/>
              </a:rPr>
              <a:t>) (*</a:t>
            </a:r>
            <a:r>
              <a:rPr lang="en-US" dirty="0" err="1" smtClean="0">
                <a:solidFill>
                  <a:srgbClr val="D4D4D4"/>
                </a:solidFill>
                <a:latin typeface="Consolas"/>
              </a:rPr>
              <a:t>pb.Product</a:t>
            </a:r>
            <a:r>
              <a:rPr lang="en-US" dirty="0" smtClean="0">
                <a:solidFill>
                  <a:srgbClr val="D4D4D4"/>
                </a:solidFill>
                <a:latin typeface="Consolas"/>
              </a:rPr>
              <a:t>, </a:t>
            </a:r>
            <a:r>
              <a:rPr lang="en-US" dirty="0" smtClean="0">
                <a:solidFill>
                  <a:srgbClr val="4EC9B0"/>
                </a:solidFill>
                <a:latin typeface="Consolas"/>
              </a:rPr>
              <a:t>error</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value</a:t>
            </a:r>
            <a:r>
              <a:rPr lang="en-US" dirty="0" smtClean="0">
                <a:solidFill>
                  <a:srgbClr val="D4D4D4"/>
                </a:solidFill>
                <a:latin typeface="Consolas"/>
              </a:rPr>
              <a:t>, </a:t>
            </a:r>
            <a:r>
              <a:rPr lang="en-US" dirty="0" smtClean="0">
                <a:solidFill>
                  <a:srgbClr val="9CDCFE"/>
                </a:solidFill>
                <a:latin typeface="Consolas"/>
              </a:rPr>
              <a:t>exists</a:t>
            </a:r>
            <a:r>
              <a:rPr lang="en-US" dirty="0" smtClean="0">
                <a:solidFill>
                  <a:srgbClr val="D4D4D4"/>
                </a:solidFill>
                <a:latin typeface="Consolas"/>
              </a:rPr>
              <a:t> := </a:t>
            </a:r>
            <a:r>
              <a:rPr lang="en-US" dirty="0" err="1" smtClean="0">
                <a:solidFill>
                  <a:srgbClr val="D4D4D4"/>
                </a:solidFill>
                <a:latin typeface="Consolas"/>
              </a:rPr>
              <a:t>s.productMap</a:t>
            </a:r>
            <a:r>
              <a:rPr lang="en-US" dirty="0" smtClean="0">
                <a:solidFill>
                  <a:srgbClr val="D4D4D4"/>
                </a:solidFill>
                <a:latin typeface="Consolas"/>
              </a:rPr>
              <a:t>[</a:t>
            </a:r>
            <a:r>
              <a:rPr lang="en-US" dirty="0" err="1" smtClean="0">
                <a:solidFill>
                  <a:srgbClr val="D4D4D4"/>
                </a:solidFill>
                <a:latin typeface="Consolas"/>
              </a:rPr>
              <a:t>in.Value</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exists {</a:t>
            </a:r>
          </a:p>
          <a:p>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value, </a:t>
            </a:r>
            <a:r>
              <a:rPr lang="en-US" dirty="0" err="1" smtClean="0">
                <a:solidFill>
                  <a:srgbClr val="D4D4D4"/>
                </a:solidFill>
                <a:latin typeface="Consolas"/>
              </a:rPr>
              <a:t>status.</a:t>
            </a:r>
            <a:r>
              <a:rPr lang="en-US" dirty="0" err="1" smtClean="0">
                <a:solidFill>
                  <a:srgbClr val="DCDCAA"/>
                </a:solidFill>
                <a:latin typeface="Consolas"/>
              </a:rPr>
              <a:t>New</a:t>
            </a:r>
            <a:r>
              <a:rPr lang="en-US" dirty="0" smtClean="0">
                <a:solidFill>
                  <a:srgbClr val="D4D4D4"/>
                </a:solidFill>
                <a:latin typeface="Consolas"/>
              </a:rPr>
              <a:t>(</a:t>
            </a:r>
            <a:r>
              <a:rPr lang="en-US" dirty="0" err="1" smtClean="0">
                <a:solidFill>
                  <a:srgbClr val="D4D4D4"/>
                </a:solidFill>
                <a:latin typeface="Consolas"/>
              </a:rPr>
              <a:t>codes.OK</a:t>
            </a:r>
            <a:r>
              <a:rPr lang="en-US" dirty="0" smtClean="0">
                <a:solidFill>
                  <a:srgbClr val="D4D4D4"/>
                </a:solidFill>
                <a:latin typeface="Consolas"/>
              </a:rPr>
              <a:t>, </a:t>
            </a:r>
            <a:r>
              <a:rPr lang="en-US" dirty="0" smtClean="0">
                <a:solidFill>
                  <a:srgbClr val="CE9178"/>
                </a:solidFill>
                <a:latin typeface="Consolas"/>
              </a:rPr>
              <a:t>""</a:t>
            </a:r>
            <a:r>
              <a:rPr lang="en-US" dirty="0" smtClean="0">
                <a:solidFill>
                  <a:srgbClr val="D4D4D4"/>
                </a:solidFill>
                <a:latin typeface="Consolas"/>
              </a:rPr>
              <a:t>).</a:t>
            </a:r>
            <a:r>
              <a:rPr lang="en-US" dirty="0" smtClean="0">
                <a:solidFill>
                  <a:srgbClr val="DCDCAA"/>
                </a:solidFill>
                <a:latin typeface="Consolas"/>
              </a:rPr>
              <a:t>Err</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a:t>
            </a:r>
            <a:r>
              <a:rPr lang="en-US" dirty="0" smtClean="0">
                <a:solidFill>
                  <a:srgbClr val="569CD6"/>
                </a:solidFill>
                <a:latin typeface="Consolas"/>
              </a:rPr>
              <a:t>nil</a:t>
            </a:r>
            <a:r>
              <a:rPr lang="en-US" dirty="0" smtClean="0">
                <a:solidFill>
                  <a:srgbClr val="D4D4D4"/>
                </a:solidFill>
                <a:latin typeface="Consolas"/>
              </a:rPr>
              <a:t>, </a:t>
            </a:r>
            <a:r>
              <a:rPr lang="en-US" dirty="0" err="1" smtClean="0">
                <a:solidFill>
                  <a:srgbClr val="D4D4D4"/>
                </a:solidFill>
                <a:latin typeface="Consolas"/>
              </a:rPr>
              <a:t>status.</a:t>
            </a:r>
            <a:r>
              <a:rPr lang="en-US" dirty="0" err="1" smtClean="0">
                <a:solidFill>
                  <a:srgbClr val="DCDCAA"/>
                </a:solidFill>
                <a:latin typeface="Consolas"/>
              </a:rPr>
              <a:t>Errorf</a:t>
            </a:r>
            <a:r>
              <a:rPr lang="en-US" dirty="0" smtClean="0">
                <a:solidFill>
                  <a:srgbClr val="D4D4D4"/>
                </a:solidFill>
                <a:latin typeface="Consolas"/>
              </a:rPr>
              <a:t>(</a:t>
            </a:r>
            <a:r>
              <a:rPr lang="en-US" dirty="0" err="1" smtClean="0">
                <a:solidFill>
                  <a:srgbClr val="D4D4D4"/>
                </a:solidFill>
                <a:latin typeface="Consolas"/>
              </a:rPr>
              <a:t>codes.NotFound</a:t>
            </a:r>
            <a:r>
              <a:rPr lang="en-US" dirty="0" smtClean="0">
                <a:solidFill>
                  <a:srgbClr val="D4D4D4"/>
                </a:solidFill>
                <a:latin typeface="Consolas"/>
              </a:rPr>
              <a:t>, </a:t>
            </a:r>
            <a:r>
              <a:rPr lang="en-US" dirty="0" smtClean="0">
                <a:solidFill>
                  <a:srgbClr val="CE9178"/>
                </a:solidFill>
                <a:latin typeface="Consolas"/>
              </a:rPr>
              <a:t>"Product does not exist."</a:t>
            </a:r>
            <a:r>
              <a:rPr lang="en-US" dirty="0" smtClean="0">
                <a:solidFill>
                  <a:srgbClr val="D4D4D4"/>
                </a:solidFill>
                <a:latin typeface="Consolas"/>
              </a:rPr>
              <a:t>, </a:t>
            </a:r>
            <a:r>
              <a:rPr lang="en-US" dirty="0" err="1" smtClean="0">
                <a:solidFill>
                  <a:srgbClr val="D4D4D4"/>
                </a:solidFill>
                <a:latin typeface="Consolas"/>
              </a:rPr>
              <a:t>in.Value</a:t>
            </a:r>
            <a:r>
              <a:rPr lang="en-US" dirty="0" smtClean="0">
                <a:solidFill>
                  <a:srgbClr val="D4D4D4"/>
                </a:solidFill>
                <a:latin typeface="Consolas"/>
              </a:rPr>
              <a:t>)</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12. Create </a:t>
            </a:r>
            <a:r>
              <a:rPr lang="en-US" dirty="0" err="1" smtClean="0"/>
              <a:t>main.go</a:t>
            </a:r>
            <a:endParaRPr lang="en-US" dirty="0"/>
          </a:p>
        </p:txBody>
      </p:sp>
      <p:sp>
        <p:nvSpPr>
          <p:cNvPr id="4" name="Rectangle 3"/>
          <p:cNvSpPr/>
          <p:nvPr/>
        </p:nvSpPr>
        <p:spPr>
          <a:xfrm>
            <a:off x="533400" y="2133600"/>
            <a:ext cx="8077200" cy="369331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err="1" smtClean="0">
                <a:solidFill>
                  <a:srgbClr val="569CD6"/>
                </a:solidFill>
                <a:latin typeface="Consolas"/>
              </a:rPr>
              <a:t>func</a:t>
            </a:r>
            <a:r>
              <a:rPr lang="en-US" dirty="0" smtClean="0">
                <a:solidFill>
                  <a:srgbClr val="CCCCCC"/>
                </a:solidFill>
                <a:latin typeface="Consolas"/>
              </a:rPr>
              <a:t> </a:t>
            </a:r>
            <a:r>
              <a:rPr lang="en-US" dirty="0" smtClean="0">
                <a:solidFill>
                  <a:srgbClr val="DCDCAA"/>
                </a:solidFill>
                <a:latin typeface="Consolas"/>
              </a:rPr>
              <a:t>main</a:t>
            </a:r>
            <a:r>
              <a:rPr lang="en-US" dirty="0" smtClean="0">
                <a:solidFill>
                  <a:srgbClr val="CCCCCC"/>
                </a:solidFill>
                <a:latin typeface="Consolas"/>
              </a:rPr>
              <a:t>() {</a:t>
            </a:r>
          </a:p>
          <a:p>
            <a:r>
              <a:rPr lang="en-US" dirty="0" smtClean="0">
                <a:solidFill>
                  <a:srgbClr val="CCCCCC"/>
                </a:solidFill>
                <a:latin typeface="Consolas"/>
              </a:rPr>
              <a:t>    </a:t>
            </a:r>
            <a:r>
              <a:rPr lang="en-US" dirty="0" err="1" smtClean="0">
                <a:solidFill>
                  <a:srgbClr val="9CDCFE"/>
                </a:solidFill>
                <a:latin typeface="Consolas"/>
              </a:rPr>
              <a:t>lis</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err="1" smtClean="0">
                <a:solidFill>
                  <a:srgbClr val="9CDCFE"/>
                </a:solidFill>
                <a:latin typeface="Consolas"/>
              </a:rPr>
              <a:t>net</a:t>
            </a:r>
            <a:r>
              <a:rPr lang="en-US" dirty="0" err="1" smtClean="0">
                <a:solidFill>
                  <a:srgbClr val="CCCCCC"/>
                </a:solidFill>
                <a:latin typeface="Consolas"/>
              </a:rPr>
              <a:t>.</a:t>
            </a:r>
            <a:r>
              <a:rPr lang="en-US" dirty="0" err="1" smtClean="0">
                <a:solidFill>
                  <a:srgbClr val="DCDCAA"/>
                </a:solidFill>
                <a:latin typeface="Consolas"/>
              </a:rPr>
              <a:t>Listen</a:t>
            </a:r>
            <a:r>
              <a:rPr lang="en-US" dirty="0" smtClean="0">
                <a:solidFill>
                  <a:srgbClr val="CCCCCC"/>
                </a:solidFill>
                <a:latin typeface="Consolas"/>
              </a:rPr>
              <a:t>(</a:t>
            </a:r>
            <a:r>
              <a:rPr lang="en-US" dirty="0" smtClean="0">
                <a:solidFill>
                  <a:srgbClr val="CE9178"/>
                </a:solidFill>
                <a:latin typeface="Consolas"/>
              </a:rPr>
              <a:t>"</a:t>
            </a:r>
            <a:r>
              <a:rPr lang="en-US" dirty="0" err="1" smtClean="0">
                <a:solidFill>
                  <a:srgbClr val="CE9178"/>
                </a:solidFill>
                <a:latin typeface="Consolas"/>
              </a:rPr>
              <a:t>tcp</a:t>
            </a:r>
            <a:r>
              <a:rPr lang="en-US" dirty="0" smtClean="0">
                <a:solidFill>
                  <a:srgbClr val="CE9178"/>
                </a:solidFill>
                <a:latin typeface="Consolas"/>
              </a:rPr>
              <a:t>"</a:t>
            </a:r>
            <a:r>
              <a:rPr lang="en-US" dirty="0" smtClean="0">
                <a:solidFill>
                  <a:srgbClr val="CCCCCC"/>
                </a:solidFill>
                <a:latin typeface="Consolas"/>
              </a:rPr>
              <a:t>, </a:t>
            </a:r>
            <a:r>
              <a:rPr lang="en-US" dirty="0" smtClean="0">
                <a:solidFill>
                  <a:srgbClr val="9CDCFE"/>
                </a:solidFill>
                <a:latin typeface="Consolas"/>
              </a:rPr>
              <a:t>port</a:t>
            </a:r>
            <a:r>
              <a:rPr lang="en-US" dirty="0" smtClean="0">
                <a:solidFill>
                  <a:srgbClr val="CCCCCC"/>
                </a:solidFill>
                <a:latin typeface="Consolas"/>
              </a:rPr>
              <a:t>)</a:t>
            </a:r>
          </a:p>
          <a:p>
            <a:r>
              <a:rPr lang="en-US" dirty="0" smtClean="0">
                <a:solidFill>
                  <a:srgbClr val="CCCCCC"/>
                </a:solidFill>
                <a:latin typeface="Consolas"/>
              </a:rPr>
              <a:t>    </a:t>
            </a:r>
            <a:r>
              <a:rPr lang="en-US" dirty="0" smtClean="0">
                <a:solidFill>
                  <a:srgbClr val="C586C0"/>
                </a:solidFill>
                <a:latin typeface="Consolas"/>
              </a:rPr>
              <a:t>if</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smtClean="0">
                <a:solidFill>
                  <a:srgbClr val="569CD6"/>
                </a:solidFill>
                <a:latin typeface="Consolas"/>
              </a:rPr>
              <a:t>nil</a:t>
            </a:r>
            <a:r>
              <a:rPr lang="en-US" dirty="0" smtClean="0">
                <a:solidFill>
                  <a:srgbClr val="CCCCCC"/>
                </a:solidFill>
                <a:latin typeface="Consolas"/>
              </a:rPr>
              <a:t> {</a:t>
            </a:r>
          </a:p>
          <a:p>
            <a:r>
              <a:rPr lang="en-US" dirty="0" smtClean="0">
                <a:solidFill>
                  <a:srgbClr val="CCCCCC"/>
                </a:solidFill>
                <a:latin typeface="Consolas"/>
              </a:rPr>
              <a:t>        </a:t>
            </a:r>
            <a:r>
              <a:rPr lang="en-US" dirty="0" err="1" smtClean="0">
                <a:solidFill>
                  <a:srgbClr val="9CDCFE"/>
                </a:solidFill>
                <a:latin typeface="Consolas"/>
              </a:rPr>
              <a:t>log</a:t>
            </a:r>
            <a:r>
              <a:rPr lang="en-US" dirty="0" err="1" smtClean="0">
                <a:solidFill>
                  <a:srgbClr val="CCCCCC"/>
                </a:solidFill>
                <a:latin typeface="Consolas"/>
              </a:rPr>
              <a:t>.</a:t>
            </a:r>
            <a:r>
              <a:rPr lang="en-US" dirty="0" err="1" smtClean="0">
                <a:solidFill>
                  <a:srgbClr val="DCDCAA"/>
                </a:solidFill>
                <a:latin typeface="Consolas"/>
              </a:rPr>
              <a:t>Fatalf</a:t>
            </a:r>
            <a:r>
              <a:rPr lang="en-US" dirty="0" smtClean="0">
                <a:solidFill>
                  <a:srgbClr val="CCCCCC"/>
                </a:solidFill>
                <a:latin typeface="Consolas"/>
              </a:rPr>
              <a:t>(</a:t>
            </a:r>
            <a:r>
              <a:rPr lang="en-US" dirty="0" smtClean="0">
                <a:solidFill>
                  <a:srgbClr val="CE9178"/>
                </a:solidFill>
                <a:latin typeface="Consolas"/>
              </a:rPr>
              <a:t>"failed to listen: </a:t>
            </a:r>
            <a:r>
              <a:rPr lang="en-US" dirty="0" smtClean="0">
                <a:solidFill>
                  <a:srgbClr val="9CDCFE"/>
                </a:solidFill>
                <a:latin typeface="Consolas"/>
              </a:rPr>
              <a:t>%v</a:t>
            </a:r>
            <a:r>
              <a:rPr lang="en-US" dirty="0" smtClean="0">
                <a:solidFill>
                  <a:srgbClr val="CE9178"/>
                </a:solidFill>
                <a:latin typeface="Consolas"/>
              </a:rPr>
              <a:t>"</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a:t>
            </a:r>
          </a:p>
          <a:p>
            <a:r>
              <a:rPr lang="en-US" dirty="0" smtClean="0">
                <a:solidFill>
                  <a:srgbClr val="CCCCCC"/>
                </a:solidFill>
                <a:latin typeface="Consolas"/>
              </a:rPr>
              <a:t>    }</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CCCCC"/>
                </a:solidFill>
                <a:latin typeface="Consolas"/>
              </a:rPr>
              <a:t>    </a:t>
            </a:r>
            <a:r>
              <a:rPr lang="en-US" dirty="0" smtClean="0">
                <a:solidFill>
                  <a:srgbClr val="9CDCFE"/>
                </a:solidFill>
                <a:latin typeface="Consolas"/>
              </a:rPr>
              <a:t>s</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err="1" smtClean="0">
                <a:solidFill>
                  <a:srgbClr val="9CDCFE"/>
                </a:solidFill>
                <a:latin typeface="Consolas"/>
              </a:rPr>
              <a:t>grpc</a:t>
            </a:r>
            <a:r>
              <a:rPr lang="en-US" dirty="0" err="1" smtClean="0">
                <a:solidFill>
                  <a:srgbClr val="CCCCCC"/>
                </a:solidFill>
                <a:latin typeface="Consolas"/>
              </a:rPr>
              <a:t>.</a:t>
            </a:r>
            <a:r>
              <a:rPr lang="en-US" dirty="0" err="1" smtClean="0">
                <a:solidFill>
                  <a:srgbClr val="DCDCAA"/>
                </a:solidFill>
                <a:latin typeface="Consolas"/>
              </a:rPr>
              <a:t>NewServer</a:t>
            </a:r>
            <a:r>
              <a:rPr lang="en-US" dirty="0" smtClean="0">
                <a:solidFill>
                  <a:srgbClr val="CCCCCC"/>
                </a:solidFill>
                <a:latin typeface="Consolas"/>
              </a:rPr>
              <a:t>()</a:t>
            </a:r>
          </a:p>
          <a:p>
            <a:r>
              <a:rPr lang="en-US" dirty="0" smtClean="0">
                <a:solidFill>
                  <a:srgbClr val="CCCCCC"/>
                </a:solidFill>
                <a:latin typeface="Consolas"/>
              </a:rPr>
              <a:t>    </a:t>
            </a:r>
            <a:r>
              <a:rPr lang="en-US" dirty="0" err="1" smtClean="0">
                <a:solidFill>
                  <a:srgbClr val="9CDCFE"/>
                </a:solidFill>
                <a:latin typeface="Consolas"/>
              </a:rPr>
              <a:t>pb</a:t>
            </a:r>
            <a:r>
              <a:rPr lang="en-US" dirty="0" err="1" smtClean="0">
                <a:solidFill>
                  <a:srgbClr val="CCCCCC"/>
                </a:solidFill>
                <a:latin typeface="Consolas"/>
              </a:rPr>
              <a:t>.</a:t>
            </a:r>
            <a:r>
              <a:rPr lang="en-US" dirty="0" err="1" smtClean="0">
                <a:solidFill>
                  <a:srgbClr val="DCDCAA"/>
                </a:solidFill>
                <a:latin typeface="Consolas"/>
              </a:rPr>
              <a:t>RegisterProductInfoServer</a:t>
            </a:r>
            <a:r>
              <a:rPr lang="en-US" dirty="0" smtClean="0">
                <a:solidFill>
                  <a:srgbClr val="CCCCCC"/>
                </a:solidFill>
                <a:latin typeface="Consolas"/>
              </a:rPr>
              <a:t>(</a:t>
            </a:r>
            <a:r>
              <a:rPr lang="en-US" dirty="0" smtClean="0">
                <a:solidFill>
                  <a:srgbClr val="9CDCFE"/>
                </a:solidFill>
                <a:latin typeface="Consolas"/>
              </a:rPr>
              <a:t>s</a:t>
            </a:r>
            <a:r>
              <a:rPr lang="en-US" dirty="0" smtClean="0">
                <a:solidFill>
                  <a:srgbClr val="CCCCCC"/>
                </a:solidFill>
                <a:latin typeface="Consolas"/>
              </a:rPr>
              <a:t>, </a:t>
            </a:r>
            <a:r>
              <a:rPr lang="en-US" dirty="0" smtClean="0">
                <a:solidFill>
                  <a:srgbClr val="D4D4D4"/>
                </a:solidFill>
                <a:latin typeface="Consolas"/>
              </a:rPr>
              <a:t>&amp;</a:t>
            </a:r>
            <a:r>
              <a:rPr lang="en-US" dirty="0" smtClean="0">
                <a:solidFill>
                  <a:srgbClr val="4EC9B0"/>
                </a:solidFill>
                <a:latin typeface="Consolas"/>
              </a:rPr>
              <a:t>server</a:t>
            </a:r>
            <a:r>
              <a:rPr lang="en-US" dirty="0" smtClean="0">
                <a:solidFill>
                  <a:srgbClr val="CCCCCC"/>
                </a:solidFill>
                <a:latin typeface="Consolas"/>
              </a:rPr>
              <a:t>{})</a:t>
            </a:r>
          </a:p>
          <a:p>
            <a:r>
              <a:rPr lang="en-US" dirty="0" smtClean="0">
                <a:solidFill>
                  <a:srgbClr val="CCCCCC"/>
                </a:solidFill>
                <a:latin typeface="Consolas"/>
              </a:rPr>
              <a:t>    </a:t>
            </a:r>
            <a:r>
              <a:rPr lang="en-US" dirty="0" err="1" smtClean="0">
                <a:solidFill>
                  <a:srgbClr val="9CDCFE"/>
                </a:solidFill>
                <a:latin typeface="Consolas"/>
              </a:rPr>
              <a:t>log</a:t>
            </a:r>
            <a:r>
              <a:rPr lang="en-US" dirty="0" err="1" smtClean="0">
                <a:solidFill>
                  <a:srgbClr val="CCCCCC"/>
                </a:solidFill>
                <a:latin typeface="Consolas"/>
              </a:rPr>
              <a:t>.</a:t>
            </a:r>
            <a:r>
              <a:rPr lang="en-US" dirty="0" err="1" smtClean="0">
                <a:solidFill>
                  <a:srgbClr val="DCDCAA"/>
                </a:solidFill>
                <a:latin typeface="Consolas"/>
              </a:rPr>
              <a:t>Printf</a:t>
            </a:r>
            <a:r>
              <a:rPr lang="en-US" dirty="0" smtClean="0">
                <a:solidFill>
                  <a:srgbClr val="CCCCCC"/>
                </a:solidFill>
                <a:latin typeface="Consolas"/>
              </a:rPr>
              <a:t>(</a:t>
            </a:r>
            <a:r>
              <a:rPr lang="en-US" dirty="0" smtClean="0">
                <a:solidFill>
                  <a:srgbClr val="CE9178"/>
                </a:solidFill>
                <a:latin typeface="Consolas"/>
              </a:rPr>
              <a:t>"Starting </a:t>
            </a:r>
            <a:r>
              <a:rPr lang="en-US" dirty="0" err="1" smtClean="0">
                <a:solidFill>
                  <a:srgbClr val="CE9178"/>
                </a:solidFill>
                <a:latin typeface="Consolas"/>
              </a:rPr>
              <a:t>gRPC</a:t>
            </a:r>
            <a:r>
              <a:rPr lang="en-US" dirty="0" smtClean="0">
                <a:solidFill>
                  <a:srgbClr val="CE9178"/>
                </a:solidFill>
                <a:latin typeface="Consolas"/>
              </a:rPr>
              <a:t> listener on port "</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smtClean="0">
                <a:solidFill>
                  <a:srgbClr val="9CDCFE"/>
                </a:solidFill>
                <a:latin typeface="Consolas"/>
              </a:rPr>
              <a:t>port</a:t>
            </a:r>
            <a:r>
              <a:rPr lang="en-US" dirty="0" smtClean="0">
                <a:solidFill>
                  <a:srgbClr val="CCCCCC"/>
                </a:solidFill>
                <a:latin typeface="Consolas"/>
              </a:rPr>
              <a:t>)</a:t>
            </a:r>
          </a:p>
          <a:p>
            <a:r>
              <a:rPr lang="en-US" dirty="0" smtClean="0">
                <a:solidFill>
                  <a:srgbClr val="CCCCCC"/>
                </a:solidFill>
                <a:latin typeface="Consolas"/>
              </a:rPr>
              <a:t>    </a:t>
            </a:r>
            <a:r>
              <a:rPr lang="en-US" dirty="0" smtClean="0">
                <a:solidFill>
                  <a:srgbClr val="C586C0"/>
                </a:solidFill>
                <a:latin typeface="Consolas"/>
              </a:rPr>
              <a:t>if</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err="1" smtClean="0">
                <a:solidFill>
                  <a:srgbClr val="9CDCFE"/>
                </a:solidFill>
                <a:latin typeface="Consolas"/>
              </a:rPr>
              <a:t>s</a:t>
            </a:r>
            <a:r>
              <a:rPr lang="en-US" dirty="0" err="1" smtClean="0">
                <a:solidFill>
                  <a:srgbClr val="CCCCCC"/>
                </a:solidFill>
                <a:latin typeface="Consolas"/>
              </a:rPr>
              <a:t>.</a:t>
            </a:r>
            <a:r>
              <a:rPr lang="en-US" dirty="0" err="1" smtClean="0">
                <a:solidFill>
                  <a:srgbClr val="DCDCAA"/>
                </a:solidFill>
                <a:latin typeface="Consolas"/>
              </a:rPr>
              <a:t>Serve</a:t>
            </a:r>
            <a:r>
              <a:rPr lang="en-US" dirty="0" smtClean="0">
                <a:solidFill>
                  <a:srgbClr val="CCCCCC"/>
                </a:solidFill>
                <a:latin typeface="Consolas"/>
              </a:rPr>
              <a:t>(</a:t>
            </a:r>
            <a:r>
              <a:rPr lang="en-US" dirty="0" err="1" smtClean="0">
                <a:solidFill>
                  <a:srgbClr val="9CDCFE"/>
                </a:solidFill>
                <a:latin typeface="Consolas"/>
              </a:rPr>
              <a:t>lis</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smtClean="0">
                <a:solidFill>
                  <a:srgbClr val="569CD6"/>
                </a:solidFill>
                <a:latin typeface="Consolas"/>
              </a:rPr>
              <a:t>nil</a:t>
            </a:r>
            <a:r>
              <a:rPr lang="en-US" dirty="0" smtClean="0">
                <a:solidFill>
                  <a:srgbClr val="CCCCCC"/>
                </a:solidFill>
                <a:latin typeface="Consolas"/>
              </a:rPr>
              <a:t> {</a:t>
            </a:r>
          </a:p>
          <a:p>
            <a:r>
              <a:rPr lang="en-US" dirty="0" smtClean="0">
                <a:solidFill>
                  <a:srgbClr val="CCCCCC"/>
                </a:solidFill>
                <a:latin typeface="Consolas"/>
              </a:rPr>
              <a:t>        </a:t>
            </a:r>
            <a:r>
              <a:rPr lang="en-US" dirty="0" err="1" smtClean="0">
                <a:solidFill>
                  <a:srgbClr val="9CDCFE"/>
                </a:solidFill>
                <a:latin typeface="Consolas"/>
              </a:rPr>
              <a:t>log</a:t>
            </a:r>
            <a:r>
              <a:rPr lang="en-US" dirty="0" err="1" smtClean="0">
                <a:solidFill>
                  <a:srgbClr val="CCCCCC"/>
                </a:solidFill>
                <a:latin typeface="Consolas"/>
              </a:rPr>
              <a:t>.</a:t>
            </a:r>
            <a:r>
              <a:rPr lang="en-US" dirty="0" err="1" smtClean="0">
                <a:solidFill>
                  <a:srgbClr val="DCDCAA"/>
                </a:solidFill>
                <a:latin typeface="Consolas"/>
              </a:rPr>
              <a:t>Fatalf</a:t>
            </a:r>
            <a:r>
              <a:rPr lang="en-US" dirty="0" smtClean="0">
                <a:solidFill>
                  <a:srgbClr val="CCCCCC"/>
                </a:solidFill>
                <a:latin typeface="Consolas"/>
              </a:rPr>
              <a:t>(</a:t>
            </a:r>
            <a:r>
              <a:rPr lang="en-US" dirty="0" smtClean="0">
                <a:solidFill>
                  <a:srgbClr val="CE9178"/>
                </a:solidFill>
                <a:latin typeface="Consolas"/>
              </a:rPr>
              <a:t>"failed to serve: </a:t>
            </a:r>
            <a:r>
              <a:rPr lang="en-US" dirty="0" smtClean="0">
                <a:solidFill>
                  <a:srgbClr val="9CDCFE"/>
                </a:solidFill>
                <a:latin typeface="Consolas"/>
              </a:rPr>
              <a:t>%v</a:t>
            </a:r>
            <a:r>
              <a:rPr lang="en-US" dirty="0" smtClean="0">
                <a:solidFill>
                  <a:srgbClr val="CE9178"/>
                </a:solidFill>
                <a:latin typeface="Consolas"/>
              </a:rPr>
              <a:t>"</a:t>
            </a:r>
            <a:r>
              <a:rPr lang="en-US" dirty="0" smtClean="0">
                <a:solidFill>
                  <a:srgbClr val="CCCCCC"/>
                </a:solidFill>
                <a:latin typeface="Consolas"/>
              </a:rPr>
              <a:t>, </a:t>
            </a:r>
            <a:r>
              <a:rPr lang="en-US" dirty="0" smtClean="0">
                <a:solidFill>
                  <a:srgbClr val="9CDCFE"/>
                </a:solidFill>
                <a:latin typeface="Consolas"/>
              </a:rPr>
              <a:t>err</a:t>
            </a:r>
            <a:r>
              <a:rPr lang="en-US" dirty="0" smtClean="0">
                <a:solidFill>
                  <a:srgbClr val="CCCCCC"/>
                </a:solidFill>
                <a:latin typeface="Consolas"/>
              </a:rPr>
              <a:t>)</a:t>
            </a:r>
          </a:p>
          <a:p>
            <a:r>
              <a:rPr lang="en-US" dirty="0" smtClean="0">
                <a:solidFill>
                  <a:srgbClr val="CCCCCC"/>
                </a:solidFill>
                <a:latin typeface="Consolas"/>
              </a:rPr>
              <a:t>    }</a:t>
            </a:r>
          </a:p>
          <a:p>
            <a:r>
              <a:rPr lang="en-US" dirty="0" smtClean="0">
                <a:solidFill>
                  <a:srgbClr val="CCCCCC"/>
                </a:solidFill>
                <a:latin typeface="Consolas"/>
              </a:rPr>
              <a:t>}</a:t>
            </a:r>
            <a:endParaRPr lang="en-US" b="0" dirty="0">
              <a:solidFill>
                <a:srgbClr val="CCCCCC"/>
              </a:solidFill>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13. Build and Run Service</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service</a:t>
            </a:r>
          </a:p>
          <a:p>
            <a:r>
              <a:rPr lang="en-US" sz="2400" dirty="0" smtClean="0">
                <a:latin typeface="Consolas" pitchFamily="49" charset="0"/>
              </a:rPr>
              <a:t>go build -v -o bin/server.exe</a:t>
            </a:r>
          </a:p>
          <a:p>
            <a:r>
              <a:rPr lang="en-US" sz="2400" dirty="0" err="1" smtClean="0">
                <a:latin typeface="Consolas" pitchFamily="49" charset="0"/>
              </a:rPr>
              <a:t>cd</a:t>
            </a:r>
            <a:r>
              <a:rPr lang="en-US" sz="2400" dirty="0" smtClean="0">
                <a:latin typeface="Consolas" pitchFamily="49" charset="0"/>
              </a:rPr>
              <a:t> bin</a:t>
            </a:r>
          </a:p>
          <a:p>
            <a:r>
              <a:rPr lang="en-US" sz="2400" dirty="0" smtClean="0">
                <a:latin typeface="Consolas" pitchFamily="49" charset="0"/>
              </a:rPr>
              <a:t>server.exe</a:t>
            </a:r>
          </a:p>
        </p:txBody>
      </p:sp>
      <p:pic>
        <p:nvPicPr>
          <p:cNvPr id="4" name="Picture 2"/>
          <p:cNvPicPr>
            <a:picLocks noChangeAspect="1" noChangeArrowheads="1"/>
          </p:cNvPicPr>
          <p:nvPr/>
        </p:nvPicPr>
        <p:blipFill>
          <a:blip r:embed="rId2" cstate="print"/>
          <a:srcRect/>
          <a:stretch>
            <a:fillRect/>
          </a:stretch>
        </p:blipFill>
        <p:spPr bwMode="auto">
          <a:xfrm>
            <a:off x="1905000" y="3886200"/>
            <a:ext cx="5772150" cy="1281113"/>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773363" y="2965450"/>
            <a:ext cx="3597275" cy="1682750"/>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1. Create a Request</a:t>
            </a:r>
            <a:endParaRPr lang="en-US" dirty="0"/>
          </a:p>
        </p:txBody>
      </p:sp>
      <p:sp>
        <p:nvSpPr>
          <p:cNvPr id="3" name="Content Placeholder 2"/>
          <p:cNvSpPr>
            <a:spLocks noGrp="1"/>
          </p:cNvSpPr>
          <p:nvPr>
            <p:ph idx="1"/>
          </p:nvPr>
        </p:nvSpPr>
        <p:spPr/>
        <p:txBody>
          <a:bodyPr>
            <a:normAutofit/>
          </a:bodyPr>
          <a:lstStyle/>
          <a:p>
            <a:r>
              <a:rPr lang="en-US" sz="2400" dirty="0" smtClean="0"/>
              <a:t>Open Postman, click on the </a:t>
            </a:r>
            <a:r>
              <a:rPr lang="en-US" sz="2400" b="1" dirty="0" smtClean="0"/>
              <a:t>New</a:t>
            </a:r>
            <a:r>
              <a:rPr lang="en-US" sz="2400" dirty="0" smtClean="0"/>
              <a:t> button.</a:t>
            </a:r>
          </a:p>
          <a:p>
            <a:endParaRPr lang="en-US" sz="2400" dirty="0" smtClean="0"/>
          </a:p>
        </p:txBody>
      </p:sp>
      <p:sp>
        <p:nvSpPr>
          <p:cNvPr id="7" name="Down Arrow 6"/>
          <p:cNvSpPr/>
          <p:nvPr/>
        </p:nvSpPr>
        <p:spPr>
          <a:xfrm>
            <a:off x="4800600" y="2968625"/>
            <a:ext cx="1524000" cy="914400"/>
          </a:xfrm>
          <a:prstGeom prst="downArrow">
            <a:avLst/>
          </a:prstGeom>
          <a:solidFill>
            <a:schemeClr val="accent2">
              <a:alpha val="7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Select </a:t>
            </a:r>
            <a:r>
              <a:rPr lang="en-US" dirty="0" err="1" smtClean="0"/>
              <a:t>gRPC</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1857375" y="2260600"/>
            <a:ext cx="5429250" cy="307340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Import a .proto File</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727075" y="1835150"/>
            <a:ext cx="7689850" cy="410845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Select and Invoke a Method</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838200" y="2362200"/>
            <a:ext cx="7631452" cy="3168549"/>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RPC (Unary RPC) [2]</a:t>
            </a:r>
            <a:endParaRPr lang="en-US" dirty="0"/>
          </a:p>
        </p:txBody>
      </p:sp>
      <p:sp>
        <p:nvSpPr>
          <p:cNvPr id="3" name="Content Placeholder 2"/>
          <p:cNvSpPr>
            <a:spLocks noGrp="1"/>
          </p:cNvSpPr>
          <p:nvPr>
            <p:ph idx="1"/>
          </p:nvPr>
        </p:nvSpPr>
        <p:spPr/>
        <p:txBody>
          <a:bodyPr/>
          <a:lstStyle/>
          <a:p>
            <a:r>
              <a:rPr lang="en-US" sz="2400" dirty="0" smtClean="0"/>
              <a:t>In simple RPC, when a client invokes a remote function of a server, the client sends a single request to the server and gets a single response that is sent along with status details and trailing metadata.</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524000" y="3590925"/>
            <a:ext cx="6305550" cy="2047875"/>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Server-Streaming RPC</a:t>
            </a:r>
            <a:endParaRPr lang="en-US" dirty="0"/>
          </a:p>
        </p:txBody>
      </p:sp>
      <p:sp>
        <p:nvSpPr>
          <p:cNvPr id="3" name="Content Placeholder 2"/>
          <p:cNvSpPr>
            <a:spLocks noGrp="1"/>
          </p:cNvSpPr>
          <p:nvPr>
            <p:ph idx="1"/>
          </p:nvPr>
        </p:nvSpPr>
        <p:spPr/>
        <p:txBody>
          <a:bodyPr/>
          <a:lstStyle/>
          <a:p>
            <a:r>
              <a:rPr lang="en-US" sz="2200" dirty="0" smtClean="0"/>
              <a:t>In server-side streaming RPC, the server sends back a sequence of responses after getting the client’s request message.</a:t>
            </a:r>
          </a:p>
          <a:p>
            <a:r>
              <a:rPr lang="en-US" sz="2200" dirty="0" smtClean="0"/>
              <a:t>This sequence of multiple responses is known as a “stream.” After sending all the server responses, the server marks the end of the stream by sending the server’s status details as trailing metadata to the client.</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2133600" y="4267200"/>
            <a:ext cx="5048250" cy="1684020"/>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Client-Streaming RPC</a:t>
            </a:r>
            <a:endParaRPr lang="en-US" dirty="0"/>
          </a:p>
        </p:txBody>
      </p:sp>
      <p:sp>
        <p:nvSpPr>
          <p:cNvPr id="3" name="Content Placeholder 2"/>
          <p:cNvSpPr>
            <a:spLocks noGrp="1"/>
          </p:cNvSpPr>
          <p:nvPr>
            <p:ph idx="1"/>
          </p:nvPr>
        </p:nvSpPr>
        <p:spPr/>
        <p:txBody>
          <a:bodyPr/>
          <a:lstStyle/>
          <a:p>
            <a:r>
              <a:rPr lang="en-US" sz="2000" dirty="0" smtClean="0"/>
              <a:t>In client-streaming RPC, the client sends multiple messages to the server instead of a single request. The server sends back a single response to the client.</a:t>
            </a:r>
          </a:p>
          <a:p>
            <a:r>
              <a:rPr lang="en-US" sz="2000" dirty="0" smtClean="0"/>
              <a:t>However, the server does not necessarily have to wait until it receives all the messages from the client side to send a response.</a:t>
            </a:r>
          </a:p>
          <a:p>
            <a:r>
              <a:rPr lang="en-US" sz="2000" dirty="0" smtClean="0"/>
              <a:t>Based on this logic you may send the response after reading one or a few messages from the stream or after reading all the messages.</a:t>
            </a:r>
          </a:p>
          <a:p>
            <a:r>
              <a:rPr lang="en-US" sz="2000" dirty="0" smtClean="0"/>
              <a:t>Suppose you want to include a new method, </a:t>
            </a:r>
            <a:r>
              <a:rPr lang="en-US" sz="2000" dirty="0" err="1" smtClean="0"/>
              <a:t>updateOrders</a:t>
            </a:r>
            <a:r>
              <a:rPr lang="en-US" sz="2000" dirty="0" smtClean="0"/>
              <a:t>, in the </a:t>
            </a:r>
            <a:r>
              <a:rPr lang="en-US" sz="2000" dirty="0" err="1" smtClean="0"/>
              <a:t>OrderManagement</a:t>
            </a:r>
            <a:r>
              <a:rPr lang="en-US" sz="2000" dirty="0" smtClean="0"/>
              <a:t> service to update a set of orders</a:t>
            </a:r>
            <a:endParaRPr lang="en-US" sz="2000" dirty="0"/>
          </a:p>
        </p:txBody>
      </p:sp>
      <p:pic>
        <p:nvPicPr>
          <p:cNvPr id="3074" name="Picture 2"/>
          <p:cNvPicPr>
            <a:picLocks noChangeAspect="1" noChangeArrowheads="1"/>
          </p:cNvPicPr>
          <p:nvPr/>
        </p:nvPicPr>
        <p:blipFill>
          <a:blip r:embed="rId2" cstate="print"/>
          <a:srcRect/>
          <a:stretch>
            <a:fillRect/>
          </a:stretch>
        </p:blipFill>
        <p:spPr bwMode="auto">
          <a:xfrm>
            <a:off x="2468563" y="4845050"/>
            <a:ext cx="4206875" cy="140335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Bidirectional-Streaming RPC</a:t>
            </a:r>
            <a:endParaRPr lang="en-US" dirty="0"/>
          </a:p>
        </p:txBody>
      </p:sp>
      <p:sp>
        <p:nvSpPr>
          <p:cNvPr id="3" name="Content Placeholder 2"/>
          <p:cNvSpPr>
            <a:spLocks noGrp="1"/>
          </p:cNvSpPr>
          <p:nvPr>
            <p:ph idx="1"/>
          </p:nvPr>
        </p:nvSpPr>
        <p:spPr/>
        <p:txBody>
          <a:bodyPr/>
          <a:lstStyle/>
          <a:p>
            <a:r>
              <a:rPr lang="en-US" sz="2000" dirty="0" smtClean="0"/>
              <a:t>In bidirectional-streaming RPC, the client is sending a request to the server as a stream of messages. The server also responds with a stream of messages.</a:t>
            </a:r>
          </a:p>
          <a:p>
            <a:r>
              <a:rPr lang="en-US" sz="2000" dirty="0" smtClean="0"/>
              <a:t>The call has to be initiated from the client side, but after that, the communication is completely based on the application logic of the </a:t>
            </a:r>
            <a:r>
              <a:rPr lang="en-US" sz="2000" dirty="0" err="1" smtClean="0"/>
              <a:t>gRPC</a:t>
            </a:r>
            <a:r>
              <a:rPr lang="en-US" sz="2000" dirty="0" smtClean="0"/>
              <a:t> client and the server.</a:t>
            </a:r>
          </a:p>
          <a:p>
            <a:r>
              <a:rPr lang="en-US" sz="2000" dirty="0" smtClean="0"/>
              <a:t>In our </a:t>
            </a:r>
            <a:r>
              <a:rPr lang="en-US" sz="2000" dirty="0" err="1" smtClean="0"/>
              <a:t>OrderManagement</a:t>
            </a:r>
            <a:r>
              <a:rPr lang="en-US" sz="2000" dirty="0" smtClean="0"/>
              <a:t> service use case, suppose we need order processing functionality where you can send a continuous set of orders (the stream of orders) and process them into combined shipments based on the delivery location.</a:t>
            </a:r>
            <a:endParaRPr lang="en-US" sz="2000" dirty="0"/>
          </a:p>
        </p:txBody>
      </p:sp>
      <p:pic>
        <p:nvPicPr>
          <p:cNvPr id="4098" name="Picture 2"/>
          <p:cNvPicPr>
            <a:picLocks noChangeAspect="1" noChangeArrowheads="1"/>
          </p:cNvPicPr>
          <p:nvPr/>
        </p:nvPicPr>
        <p:blipFill>
          <a:blip r:embed="rId2" cstate="print"/>
          <a:srcRect/>
          <a:stretch>
            <a:fillRect/>
          </a:stretch>
        </p:blipFill>
        <p:spPr bwMode="auto">
          <a:xfrm>
            <a:off x="2468563" y="4975225"/>
            <a:ext cx="4206875" cy="150177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RPC Flow</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487805" y="2133600"/>
            <a:ext cx="6360795" cy="3716020"/>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 [5]</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proglog</a:t>
            </a:r>
            <a:endParaRPr lang="en-US" sz="2200" dirty="0" smtClean="0">
              <a:latin typeface="Consolas" pitchFamily="49" charset="0"/>
            </a:endParaRP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proglog</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api</a:t>
            </a:r>
            <a:endParaRPr lang="en-US" sz="2200" dirty="0" smtClean="0">
              <a:latin typeface="Consolas" pitchFamily="49" charset="0"/>
            </a:endParaRP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api</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v1</a:t>
            </a:r>
          </a:p>
          <a:p>
            <a:r>
              <a:rPr lang="en-US" sz="2200" dirty="0" err="1" smtClean="0">
                <a:latin typeface="Consolas" pitchFamily="49" charset="0"/>
              </a:rPr>
              <a:t>cd</a:t>
            </a:r>
            <a:r>
              <a:rPr lang="en-US" sz="2200" dirty="0" smtClean="0">
                <a:latin typeface="Consolas" pitchFamily="49" charset="0"/>
              </a:rPr>
              <a:t> v1</a:t>
            </a: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proglog</a:t>
            </a:r>
            <a:endParaRPr lang="en-US" sz="2200" dirty="0" smtClean="0">
              <a:latin typeface="Consolas" pitchFamily="49" charset="0"/>
            </a:endParaRPr>
          </a:p>
          <a:p>
            <a:r>
              <a:rPr lang="en-US" sz="2200" dirty="0" smtClean="0">
                <a:latin typeface="Consolas" pitchFamily="49" charset="0"/>
              </a:rPr>
              <a:t>go mod init </a:t>
            </a:r>
            <a:r>
              <a:rPr lang="en-US" sz="2200" b="1" i="1" dirty="0" smtClean="0">
                <a:latin typeface="Consolas" pitchFamily="49" charset="0"/>
              </a:rPr>
              <a:t>github.com/</a:t>
            </a:r>
            <a:r>
              <a:rPr lang="en-US" sz="2200" b="1" i="1" dirty="0" err="1" smtClean="0">
                <a:latin typeface="Consolas" pitchFamily="49" charset="0"/>
              </a:rPr>
              <a:t>nhbien</a:t>
            </a:r>
            <a:r>
              <a:rPr lang="en-US" sz="2200" b="1" i="1" dirty="0" smtClean="0">
                <a:latin typeface="Consolas" pitchFamily="49" charset="0"/>
              </a:rPr>
              <a:t>/</a:t>
            </a:r>
            <a:r>
              <a:rPr lang="en-US" sz="2200" b="1" i="1" dirty="0" err="1" smtClean="0">
                <a:latin typeface="Consolas" pitchFamily="49" charset="0"/>
              </a:rPr>
              <a:t>api</a:t>
            </a:r>
            <a:r>
              <a:rPr lang="en-US" sz="2200" b="1" i="1" dirty="0" smtClean="0">
                <a:latin typeface="Consolas" pitchFamily="49" charset="0"/>
              </a:rPr>
              <a:t>/log_v1</a:t>
            </a:r>
            <a:endParaRPr lang="en-US" sz="2200" dirty="0" smtClean="0">
              <a:latin typeface="Consolas" pitchFamily="49" charset="0"/>
            </a:endParaRPr>
          </a:p>
          <a:p>
            <a:endParaRPr lang="en-US" sz="2200" dirty="0" smtClean="0">
              <a:latin typeface="Consolas"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t>
            </a:r>
            <a:r>
              <a:rPr lang="en-US" dirty="0" smtClean="0">
                <a:latin typeface="Consolas" pitchFamily="49" charset="0"/>
              </a:rPr>
              <a:t>v1/</a:t>
            </a:r>
            <a:r>
              <a:rPr lang="en-US" dirty="0" err="1" smtClean="0">
                <a:latin typeface="Consolas" pitchFamily="49" charset="0"/>
              </a:rPr>
              <a:t>log.proto</a:t>
            </a:r>
            <a:endParaRPr lang="en-US" dirty="0">
              <a:latin typeface="Consolas" pitchFamily="49" charset="0"/>
            </a:endParaRPr>
          </a:p>
        </p:txBody>
      </p:sp>
      <p:sp>
        <p:nvSpPr>
          <p:cNvPr id="4" name="Rectangle 3"/>
          <p:cNvSpPr/>
          <p:nvPr/>
        </p:nvSpPr>
        <p:spPr>
          <a:xfrm>
            <a:off x="533400" y="2157948"/>
            <a:ext cx="8077200" cy="255454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000" dirty="0" smtClean="0">
                <a:solidFill>
                  <a:srgbClr val="569CD6"/>
                </a:solidFill>
                <a:latin typeface="Consolas"/>
              </a:rPr>
              <a:t>syntax</a:t>
            </a:r>
            <a:r>
              <a:rPr lang="en-US" sz="2000" dirty="0" smtClean="0">
                <a:solidFill>
                  <a:srgbClr val="D4D4D4"/>
                </a:solidFill>
                <a:latin typeface="Consolas"/>
              </a:rPr>
              <a:t> = </a:t>
            </a:r>
            <a:r>
              <a:rPr lang="en-US" sz="2000" dirty="0" smtClean="0">
                <a:solidFill>
                  <a:srgbClr val="CE9178"/>
                </a:solidFill>
                <a:latin typeface="Consolas"/>
              </a:rPr>
              <a:t>"proto3"</a:t>
            </a:r>
            <a:r>
              <a:rPr lang="en-US" sz="2000" dirty="0" smtClean="0">
                <a:solidFill>
                  <a:srgbClr val="D4D4D4"/>
                </a:solidFill>
                <a:latin typeface="Consolas"/>
              </a:rPr>
              <a:t>;</a:t>
            </a:r>
          </a:p>
          <a:p>
            <a:r>
              <a:rPr lang="en-US" sz="2000" dirty="0" smtClean="0">
                <a:solidFill>
                  <a:srgbClr val="569CD6"/>
                </a:solidFill>
                <a:latin typeface="Consolas"/>
              </a:rPr>
              <a:t>package</a:t>
            </a:r>
            <a:r>
              <a:rPr lang="en-US" sz="2000" dirty="0" smtClean="0">
                <a:solidFill>
                  <a:srgbClr val="D4D4D4"/>
                </a:solidFill>
                <a:latin typeface="Consolas"/>
              </a:rPr>
              <a:t> </a:t>
            </a:r>
            <a:r>
              <a:rPr lang="en-US" sz="2000" dirty="0" smtClean="0">
                <a:solidFill>
                  <a:srgbClr val="CE9178"/>
                </a:solidFill>
                <a:latin typeface="Consolas"/>
              </a:rPr>
              <a:t>log.v1</a:t>
            </a:r>
            <a:r>
              <a:rPr lang="en-US" sz="2000" dirty="0" smtClean="0">
                <a:solidFill>
                  <a:srgbClr val="D4D4D4"/>
                </a:solidFill>
                <a:latin typeface="Consolas"/>
              </a:rPr>
              <a:t>;</a:t>
            </a:r>
          </a:p>
          <a:p>
            <a:r>
              <a:rPr lang="en-US" sz="2000" dirty="0" smtClean="0">
                <a:solidFill>
                  <a:srgbClr val="569CD6"/>
                </a:solidFill>
                <a:latin typeface="Consolas"/>
              </a:rPr>
              <a:t>option</a:t>
            </a:r>
            <a:r>
              <a:rPr lang="en-US" sz="2000" dirty="0" smtClean="0">
                <a:solidFill>
                  <a:srgbClr val="D4D4D4"/>
                </a:solidFill>
                <a:latin typeface="Consolas"/>
              </a:rPr>
              <a:t> </a:t>
            </a:r>
            <a:r>
              <a:rPr lang="en-US" sz="2000" dirty="0" err="1" smtClean="0">
                <a:solidFill>
                  <a:srgbClr val="D4D4D4"/>
                </a:solidFill>
                <a:latin typeface="Consolas"/>
              </a:rPr>
              <a:t>go_package</a:t>
            </a:r>
            <a:r>
              <a:rPr lang="en-US" sz="2000" dirty="0" smtClean="0">
                <a:solidFill>
                  <a:srgbClr val="D4D4D4"/>
                </a:solidFill>
                <a:latin typeface="Consolas"/>
              </a:rPr>
              <a:t> = </a:t>
            </a:r>
            <a:r>
              <a:rPr lang="en-US" sz="2000" dirty="0" smtClean="0">
                <a:solidFill>
                  <a:srgbClr val="CE9178"/>
                </a:solidFill>
                <a:latin typeface="Consolas"/>
              </a:rPr>
              <a:t>"github.com/</a:t>
            </a:r>
            <a:r>
              <a:rPr lang="en-US" sz="2000" dirty="0" err="1" smtClean="0">
                <a:solidFill>
                  <a:srgbClr val="CE9178"/>
                </a:solidFill>
                <a:latin typeface="Consolas"/>
              </a:rPr>
              <a:t>nhbien</a:t>
            </a:r>
            <a:r>
              <a:rPr lang="en-US" sz="2000" dirty="0" smtClean="0">
                <a:solidFill>
                  <a:srgbClr val="CE9178"/>
                </a:solidFill>
                <a:latin typeface="Consolas"/>
              </a:rPr>
              <a:t>/</a:t>
            </a:r>
            <a:r>
              <a:rPr lang="en-US" sz="2000" dirty="0" err="1" smtClean="0">
                <a:solidFill>
                  <a:srgbClr val="CE9178"/>
                </a:solidFill>
                <a:latin typeface="Consolas"/>
              </a:rPr>
              <a:t>api</a:t>
            </a:r>
            <a:r>
              <a:rPr lang="en-US" sz="2000" dirty="0" smtClean="0">
                <a:solidFill>
                  <a:srgbClr val="CE9178"/>
                </a:solidFill>
                <a:latin typeface="Consolas"/>
              </a:rPr>
              <a:t>/log_v1"</a:t>
            </a:r>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569CD6"/>
                </a:solidFill>
                <a:latin typeface="Consolas"/>
              </a:rPr>
              <a:t>message</a:t>
            </a:r>
            <a:r>
              <a:rPr lang="en-US" sz="2000" dirty="0" smtClean="0">
                <a:solidFill>
                  <a:srgbClr val="D4D4D4"/>
                </a:solidFill>
                <a:latin typeface="Consolas"/>
              </a:rPr>
              <a:t> </a:t>
            </a:r>
            <a:r>
              <a:rPr lang="en-US" sz="2000" dirty="0" smtClean="0">
                <a:solidFill>
                  <a:srgbClr val="4EC9B0"/>
                </a:solidFill>
                <a:latin typeface="Consolas"/>
              </a:rPr>
              <a:t>Record</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569CD6"/>
                </a:solidFill>
                <a:latin typeface="Consolas"/>
              </a:rPr>
              <a:t>bytes</a:t>
            </a:r>
            <a:r>
              <a:rPr lang="en-US" sz="2000" dirty="0" smtClean="0">
                <a:solidFill>
                  <a:srgbClr val="D4D4D4"/>
                </a:solidFill>
                <a:latin typeface="Consolas"/>
              </a:rPr>
              <a:t> </a:t>
            </a:r>
            <a:r>
              <a:rPr lang="en-US" sz="2000" dirty="0" smtClean="0">
                <a:solidFill>
                  <a:srgbClr val="9CDCFE"/>
                </a:solidFill>
                <a:latin typeface="Consolas"/>
              </a:rPr>
              <a:t>value</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569CD6"/>
                </a:solidFill>
                <a:latin typeface="Consolas"/>
              </a:rPr>
              <a:t>uint64</a:t>
            </a:r>
            <a:r>
              <a:rPr lang="en-US" sz="2000" dirty="0" smtClean="0">
                <a:solidFill>
                  <a:srgbClr val="D4D4D4"/>
                </a:solidFill>
                <a:latin typeface="Consolas"/>
              </a:rPr>
              <a:t> </a:t>
            </a:r>
            <a:r>
              <a:rPr lang="en-US" sz="2000" dirty="0" smtClean="0">
                <a:solidFill>
                  <a:srgbClr val="9CDCFE"/>
                </a:solidFill>
                <a:latin typeface="Consolas"/>
              </a:rPr>
              <a:t>offset</a:t>
            </a:r>
            <a:r>
              <a:rPr lang="en-US" sz="2000" dirty="0" smtClean="0">
                <a:solidFill>
                  <a:srgbClr val="D4D4D4"/>
                </a:solidFill>
                <a:latin typeface="Consolas"/>
              </a:rPr>
              <a:t> = </a:t>
            </a:r>
            <a:r>
              <a:rPr lang="en-US" sz="2000" dirty="0" smtClean="0">
                <a:solidFill>
                  <a:srgbClr val="B5CEA8"/>
                </a:solidFill>
                <a:latin typeface="Consolas"/>
              </a:rPr>
              <a:t>2</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Compile .proto File</a:t>
            </a:r>
            <a:endParaRPr lang="en-US" dirty="0"/>
          </a:p>
        </p:txBody>
      </p:sp>
      <p:sp>
        <p:nvSpPr>
          <p:cNvPr id="3" name="Content Placeholder 2"/>
          <p:cNvSpPr>
            <a:spLocks noGrp="1"/>
          </p:cNvSpPr>
          <p:nvPr>
            <p:ph idx="1"/>
          </p:nvPr>
        </p:nvSpPr>
        <p:spPr/>
        <p:txBody>
          <a:bodyPr/>
          <a:lstStyle/>
          <a:p>
            <a:r>
              <a:rPr lang="en-US" sz="2000" dirty="0" smtClean="0">
                <a:latin typeface="+mj-lt"/>
                <a:hlinkClick r:id="rId2"/>
              </a:rPr>
              <a:t>https://grpc.io/docs/languages/go/quickstart/</a:t>
            </a:r>
            <a:endParaRPr lang="en-US" sz="2000" dirty="0" smtClean="0">
              <a:latin typeface="+mj-lt"/>
            </a:endParaRPr>
          </a:p>
          <a:p>
            <a:r>
              <a:rPr lang="en-US" sz="2000" dirty="0" err="1" smtClean="0">
                <a:latin typeface="Consolas" pitchFamily="49" charset="0"/>
              </a:rPr>
              <a:t>cd</a:t>
            </a:r>
            <a:r>
              <a:rPr lang="en-US" sz="2000" dirty="0" smtClean="0">
                <a:latin typeface="Consolas" pitchFamily="49" charset="0"/>
              </a:rPr>
              <a:t> </a:t>
            </a:r>
            <a:r>
              <a:rPr lang="en-US" sz="2000" dirty="0" err="1" smtClean="0">
                <a:latin typeface="Consolas" pitchFamily="49" charset="0"/>
              </a:rPr>
              <a:t>proglog</a:t>
            </a:r>
            <a:endParaRPr lang="en-US" sz="2000" dirty="0" smtClean="0">
              <a:latin typeface="Consolas" pitchFamily="49" charset="0"/>
            </a:endParaRPr>
          </a:p>
          <a:p>
            <a:r>
              <a:rPr lang="en-US" sz="2000" b="1" dirty="0" err="1" smtClean="0">
                <a:latin typeface="Consolas" pitchFamily="49" charset="0"/>
              </a:rPr>
              <a:t>protoc</a:t>
            </a:r>
            <a:r>
              <a:rPr lang="en-US" sz="2000" b="1" dirty="0" smtClean="0">
                <a:latin typeface="Consolas" pitchFamily="49" charset="0"/>
              </a:rPr>
              <a:t> </a:t>
            </a:r>
            <a:r>
              <a:rPr lang="en-US" sz="2000" b="1" dirty="0" err="1" smtClean="0">
                <a:latin typeface="Consolas" pitchFamily="49" charset="0"/>
              </a:rPr>
              <a:t>api</a:t>
            </a:r>
            <a:r>
              <a:rPr lang="en-US" sz="2000" b="1" dirty="0" smtClean="0">
                <a:latin typeface="Consolas" pitchFamily="49" charset="0"/>
              </a:rPr>
              <a:t>/v1/*.proto --</a:t>
            </a:r>
            <a:r>
              <a:rPr lang="en-US" sz="2000" b="1" dirty="0" err="1" smtClean="0">
                <a:latin typeface="Consolas" pitchFamily="49" charset="0"/>
              </a:rPr>
              <a:t>go_out</a:t>
            </a:r>
            <a:r>
              <a:rPr lang="en-US" sz="2000" b="1" dirty="0" smtClean="0">
                <a:latin typeface="Consolas" pitchFamily="49" charset="0"/>
              </a:rPr>
              <a:t>=. --</a:t>
            </a:r>
            <a:r>
              <a:rPr lang="en-US" sz="2000" b="1" dirty="0" err="1" smtClean="0">
                <a:latin typeface="Consolas" pitchFamily="49" charset="0"/>
              </a:rPr>
              <a:t>go_opt</a:t>
            </a:r>
            <a:r>
              <a:rPr lang="en-US" sz="2000" b="1" dirty="0" smtClean="0">
                <a:latin typeface="Consolas" pitchFamily="49" charset="0"/>
              </a:rPr>
              <a:t>=paths=</a:t>
            </a:r>
            <a:r>
              <a:rPr lang="en-US" sz="2000" b="1" dirty="0" err="1" smtClean="0">
                <a:latin typeface="Consolas" pitchFamily="49" charset="0"/>
              </a:rPr>
              <a:t>source_relative</a:t>
            </a:r>
            <a:r>
              <a:rPr lang="en-US" sz="2000" b="1" dirty="0" smtClean="0">
                <a:latin typeface="Consolas" pitchFamily="49" charset="0"/>
              </a:rPr>
              <a:t> --</a:t>
            </a:r>
            <a:r>
              <a:rPr lang="en-US" sz="2000" b="1" dirty="0" err="1" smtClean="0">
                <a:latin typeface="Consolas" pitchFamily="49" charset="0"/>
              </a:rPr>
              <a:t>proto_path</a:t>
            </a:r>
            <a:r>
              <a:rPr lang="en-US" sz="2000" b="1" dirty="0" smtClean="0">
                <a:latin typeface="Consolas" pitchFamily="49" charset="0"/>
              </a:rPr>
              <a:t>=.</a:t>
            </a:r>
          </a:p>
          <a:p>
            <a:r>
              <a:rPr lang="en-US" sz="2000" dirty="0" smtClean="0"/>
              <a:t>Look in the </a:t>
            </a:r>
            <a:r>
              <a:rPr lang="en-US" sz="2000" dirty="0" err="1" smtClean="0"/>
              <a:t>api</a:t>
            </a:r>
            <a:r>
              <a:rPr lang="en-US" sz="2000" dirty="0" smtClean="0"/>
              <a:t>/v1 directory and you'll see a new file called </a:t>
            </a:r>
            <a:r>
              <a:rPr lang="en-US" sz="2000" b="1" dirty="0" err="1" smtClean="0">
                <a:latin typeface="Consolas" pitchFamily="49" charset="0"/>
              </a:rPr>
              <a:t>log.pb.go</a:t>
            </a:r>
            <a:r>
              <a:rPr lang="en-US" sz="2000" dirty="0" smtClean="0"/>
              <a:t>.</a:t>
            </a:r>
            <a:endParaRPr lang="en-US" sz="2000" b="1" dirty="0" smtClean="0">
              <a:latin typeface="Consolas" pitchFamily="49" charset="0"/>
            </a:endParaRPr>
          </a:p>
        </p:txBody>
      </p:sp>
      <p:sp>
        <p:nvSpPr>
          <p:cNvPr id="5" name="Rectangle 4"/>
          <p:cNvSpPr/>
          <p:nvPr/>
        </p:nvSpPr>
        <p:spPr>
          <a:xfrm>
            <a:off x="533400" y="3657600"/>
            <a:ext cx="8077200" cy="280076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 Code generated by </a:t>
            </a:r>
            <a:r>
              <a:rPr lang="en-US" sz="1600" dirty="0" err="1" smtClean="0">
                <a:solidFill>
                  <a:srgbClr val="6A9955"/>
                </a:solidFill>
                <a:latin typeface="Consolas"/>
              </a:rPr>
              <a:t>protoc</a:t>
            </a:r>
            <a:r>
              <a:rPr lang="en-US" sz="1600" dirty="0" smtClean="0">
                <a:solidFill>
                  <a:srgbClr val="6A9955"/>
                </a:solidFill>
                <a:latin typeface="Consolas"/>
              </a:rPr>
              <a:t>-gen-go. DO NOT EDIT.</a:t>
            </a:r>
            <a:endParaRPr lang="en-US" sz="1600" dirty="0" smtClean="0">
              <a:solidFill>
                <a:srgbClr val="D4D4D4"/>
              </a:solidFill>
              <a:latin typeface="Consolas"/>
            </a:endParaRPr>
          </a:p>
          <a:p>
            <a:r>
              <a:rPr lang="en-US" sz="1600" dirty="0" smtClean="0">
                <a:solidFill>
                  <a:srgbClr val="6A9955"/>
                </a:solidFill>
                <a:latin typeface="Consolas"/>
              </a:rPr>
              <a:t>// versions:</a:t>
            </a:r>
            <a:endParaRPr lang="en-US" sz="1600" dirty="0" smtClean="0">
              <a:solidFill>
                <a:srgbClr val="D4D4D4"/>
              </a:solidFill>
              <a:latin typeface="Consolas"/>
            </a:endParaRPr>
          </a:p>
          <a:p>
            <a:r>
              <a:rPr lang="en-US" sz="1600" dirty="0" smtClean="0">
                <a:solidFill>
                  <a:srgbClr val="6A9955"/>
                </a:solidFill>
                <a:latin typeface="Consolas"/>
              </a:rPr>
              <a:t>//  </a:t>
            </a:r>
            <a:r>
              <a:rPr lang="en-US" sz="1600" dirty="0" err="1" smtClean="0">
                <a:solidFill>
                  <a:srgbClr val="6A9955"/>
                </a:solidFill>
                <a:latin typeface="Consolas"/>
              </a:rPr>
              <a:t>protoc</a:t>
            </a:r>
            <a:r>
              <a:rPr lang="en-US" sz="1600" dirty="0" smtClean="0">
                <a:solidFill>
                  <a:srgbClr val="6A9955"/>
                </a:solidFill>
                <a:latin typeface="Consolas"/>
              </a:rPr>
              <a:t>-gen-go v1.26.0</a:t>
            </a:r>
            <a:endParaRPr lang="en-US" sz="1600" dirty="0" smtClean="0">
              <a:solidFill>
                <a:srgbClr val="D4D4D4"/>
              </a:solidFill>
              <a:latin typeface="Consolas"/>
            </a:endParaRPr>
          </a:p>
          <a:p>
            <a:r>
              <a:rPr lang="en-US" sz="1600" dirty="0" smtClean="0">
                <a:solidFill>
                  <a:srgbClr val="6A9955"/>
                </a:solidFill>
                <a:latin typeface="Consolas"/>
              </a:rPr>
              <a:t>//  </a:t>
            </a:r>
            <a:r>
              <a:rPr lang="en-US" sz="1600" dirty="0" err="1" smtClean="0">
                <a:solidFill>
                  <a:srgbClr val="6A9955"/>
                </a:solidFill>
                <a:latin typeface="Consolas"/>
              </a:rPr>
              <a:t>protoc</a:t>
            </a:r>
            <a:r>
              <a:rPr lang="en-US" sz="1600" dirty="0" smtClean="0">
                <a:solidFill>
                  <a:srgbClr val="6A9955"/>
                </a:solidFill>
                <a:latin typeface="Consolas"/>
              </a:rPr>
              <a:t>        v3.20.0</a:t>
            </a:r>
            <a:endParaRPr lang="en-US" sz="1600" dirty="0" smtClean="0">
              <a:solidFill>
                <a:srgbClr val="D4D4D4"/>
              </a:solidFill>
              <a:latin typeface="Consolas"/>
            </a:endParaRPr>
          </a:p>
          <a:p>
            <a:r>
              <a:rPr lang="en-US" sz="1600" dirty="0" smtClean="0">
                <a:solidFill>
                  <a:srgbClr val="6A9955"/>
                </a:solidFill>
                <a:latin typeface="Consolas"/>
              </a:rPr>
              <a:t>// source: </a:t>
            </a:r>
            <a:r>
              <a:rPr lang="en-US" sz="1600" dirty="0" err="1" smtClean="0">
                <a:solidFill>
                  <a:srgbClr val="6A9955"/>
                </a:solidFill>
                <a:latin typeface="Consolas"/>
              </a:rPr>
              <a:t>api</a:t>
            </a:r>
            <a:r>
              <a:rPr lang="en-US" sz="1600" dirty="0" smtClean="0">
                <a:solidFill>
                  <a:srgbClr val="6A9955"/>
                </a:solidFill>
                <a:latin typeface="Consolas"/>
              </a:rPr>
              <a:t>/v1/</a:t>
            </a:r>
            <a:r>
              <a:rPr lang="en-US" sz="1600" dirty="0" err="1" smtClean="0">
                <a:solidFill>
                  <a:srgbClr val="6A9955"/>
                </a:solidFill>
                <a:latin typeface="Consolas"/>
              </a:rPr>
              <a:t>log.proto</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package</a:t>
            </a:r>
            <a:r>
              <a:rPr lang="en-US" sz="1600" dirty="0" smtClean="0">
                <a:solidFill>
                  <a:srgbClr val="D4D4D4"/>
                </a:solidFill>
                <a:latin typeface="Consolas"/>
              </a:rPr>
              <a:t> log_v1</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protoreflect</a:t>
            </a:r>
            <a:r>
              <a:rPr lang="en-US" sz="1600" dirty="0" smtClean="0">
                <a:solidFill>
                  <a:srgbClr val="D4D4D4"/>
                </a:solidFill>
                <a:latin typeface="Consolas"/>
              </a:rPr>
              <a:t> </a:t>
            </a:r>
            <a:r>
              <a:rPr lang="en-US" sz="1600" dirty="0" smtClean="0">
                <a:solidFill>
                  <a:srgbClr val="CE9178"/>
                </a:solidFill>
                <a:latin typeface="Consolas"/>
              </a:rPr>
              <a:t>"google.golang.org/</a:t>
            </a:r>
            <a:r>
              <a:rPr lang="en-US" sz="1600" dirty="0" err="1" smtClean="0">
                <a:solidFill>
                  <a:srgbClr val="CE9178"/>
                </a:solidFill>
                <a:latin typeface="Consolas"/>
              </a:rPr>
              <a:t>protobuf</a:t>
            </a:r>
            <a:r>
              <a:rPr lang="en-US" sz="1600" dirty="0" smtClean="0">
                <a:solidFill>
                  <a:srgbClr val="CE9178"/>
                </a:solidFill>
                <a:latin typeface="Consolas"/>
              </a:rPr>
              <a:t>/reflect/</a:t>
            </a:r>
            <a:r>
              <a:rPr lang="en-US" sz="1600" dirty="0" err="1" smtClean="0">
                <a:solidFill>
                  <a:srgbClr val="CE9178"/>
                </a:solidFill>
                <a:latin typeface="Consolas"/>
              </a:rPr>
              <a:t>protoreflect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Work with the Generated Code</a:t>
            </a:r>
            <a:endParaRPr lang="en-US" dirty="0"/>
          </a:p>
        </p:txBody>
      </p:sp>
      <p:sp>
        <p:nvSpPr>
          <p:cNvPr id="3" name="Content Placeholder 2"/>
          <p:cNvSpPr>
            <a:spLocks noGrp="1"/>
          </p:cNvSpPr>
          <p:nvPr>
            <p:ph idx="1"/>
          </p:nvPr>
        </p:nvSpPr>
        <p:spPr/>
        <p:txBody>
          <a:bodyPr/>
          <a:lstStyle/>
          <a:p>
            <a:r>
              <a:rPr lang="en-US" sz="2400" dirty="0" smtClean="0"/>
              <a:t>Although the generated code in </a:t>
            </a:r>
            <a:r>
              <a:rPr lang="en-US" sz="2400" b="1" dirty="0" err="1" smtClean="0">
                <a:latin typeface="Consolas" pitchFamily="49" charset="0"/>
              </a:rPr>
              <a:t>log.pb.go</a:t>
            </a:r>
            <a:r>
              <a:rPr lang="en-US" sz="2400" dirty="0" smtClean="0"/>
              <a:t> is </a:t>
            </a:r>
            <a:r>
              <a:rPr lang="en-US" sz="2400" i="1" dirty="0" smtClean="0">
                <a:solidFill>
                  <a:srgbClr val="C00000"/>
                </a:solidFill>
              </a:rPr>
              <a:t>a lot longer</a:t>
            </a:r>
            <a:r>
              <a:rPr lang="en-US" sz="2400" dirty="0" smtClean="0"/>
              <a:t> than your handwritten code in </a:t>
            </a:r>
            <a:r>
              <a:rPr lang="en-US" sz="2400" dirty="0" err="1" smtClean="0"/>
              <a:t>log.go</a:t>
            </a:r>
            <a:r>
              <a:rPr lang="en-US" sz="2400" dirty="0" smtClean="0"/>
              <a:t> (because of the extra code needed to marshal to the </a:t>
            </a:r>
            <a:r>
              <a:rPr lang="en-US" sz="2400" dirty="0" err="1" smtClean="0"/>
              <a:t>protobuf</a:t>
            </a:r>
            <a:r>
              <a:rPr lang="en-US" sz="2400" dirty="0" smtClean="0"/>
              <a:t> binary wire format), you'll use the code as if you'd handwritten it.</a:t>
            </a:r>
          </a:p>
          <a:p>
            <a:r>
              <a:rPr lang="en-US" sz="2400" dirty="0" smtClean="0"/>
              <a:t>For example, you'll create instances using the &amp; operator (or new keyword) and access fields using a dot.</a:t>
            </a:r>
          </a:p>
          <a:p>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Logs Work</a:t>
            </a:r>
            <a:endParaRPr lang="en-US" dirty="0"/>
          </a:p>
        </p:txBody>
      </p:sp>
      <p:sp>
        <p:nvSpPr>
          <p:cNvPr id="3" name="Content Placeholder 2"/>
          <p:cNvSpPr>
            <a:spLocks noGrp="1"/>
          </p:cNvSpPr>
          <p:nvPr>
            <p:ph idx="1"/>
          </p:nvPr>
        </p:nvSpPr>
        <p:spPr/>
        <p:txBody>
          <a:bodyPr/>
          <a:lstStyle/>
          <a:p>
            <a:r>
              <a:rPr lang="en-US" sz="2200" dirty="0" smtClean="0"/>
              <a:t>A </a:t>
            </a:r>
            <a:r>
              <a:rPr lang="en-US" sz="2200" i="1" dirty="0" smtClean="0">
                <a:solidFill>
                  <a:srgbClr val="C00000"/>
                </a:solidFill>
              </a:rPr>
              <a:t>log</a:t>
            </a:r>
            <a:r>
              <a:rPr lang="en-US" sz="2200" dirty="0" smtClean="0"/>
              <a:t> is an append-only sequence of records.</a:t>
            </a:r>
          </a:p>
          <a:p>
            <a:r>
              <a:rPr lang="en-US" sz="2200" dirty="0" smtClean="0"/>
              <a:t>You </a:t>
            </a:r>
            <a:r>
              <a:rPr lang="en-US" sz="2200" i="1" dirty="0" smtClean="0">
                <a:solidFill>
                  <a:srgbClr val="C00000"/>
                </a:solidFill>
              </a:rPr>
              <a:t>append</a:t>
            </a:r>
            <a:r>
              <a:rPr lang="en-US" sz="2200" dirty="0" smtClean="0"/>
              <a:t> records to </a:t>
            </a:r>
            <a:r>
              <a:rPr lang="en-US" sz="2200" u="sng" dirty="0" smtClean="0"/>
              <a:t>the end</a:t>
            </a:r>
            <a:r>
              <a:rPr lang="en-US" sz="2200" dirty="0" smtClean="0"/>
              <a:t> of the log, and you typically </a:t>
            </a:r>
            <a:r>
              <a:rPr lang="en-US" sz="2200" i="1" dirty="0" smtClean="0">
                <a:solidFill>
                  <a:srgbClr val="C00000"/>
                </a:solidFill>
              </a:rPr>
              <a:t>read</a:t>
            </a:r>
            <a:r>
              <a:rPr lang="en-US" sz="2200" dirty="0" smtClean="0"/>
              <a:t> </a:t>
            </a:r>
            <a:r>
              <a:rPr lang="en-US" sz="2200" u="sng" dirty="0" smtClean="0"/>
              <a:t>top to bottom</a:t>
            </a:r>
            <a:r>
              <a:rPr lang="en-US" sz="2200" dirty="0" smtClean="0"/>
              <a:t>, oldest to newest.</a:t>
            </a:r>
          </a:p>
          <a:p>
            <a:r>
              <a:rPr lang="en-US" sz="2200" dirty="0" smtClean="0"/>
              <a:t>Concrete implementations of logs have to deal with us not having disks with infinite space, which means we can't append to the same file forever. So we split the log into a list of </a:t>
            </a:r>
            <a:r>
              <a:rPr lang="en-US" sz="2200" i="1" dirty="0" smtClean="0">
                <a:solidFill>
                  <a:srgbClr val="C00000"/>
                </a:solidFill>
              </a:rPr>
              <a:t>segments</a:t>
            </a:r>
            <a:r>
              <a:rPr lang="en-US" sz="2200" dirty="0" smtClean="0"/>
              <a:t>.</a:t>
            </a:r>
          </a:p>
          <a:p>
            <a:r>
              <a:rPr lang="en-US" sz="2200" dirty="0" smtClean="0"/>
              <a:t>When the log grows too big, we free up disk space by </a:t>
            </a:r>
            <a:r>
              <a:rPr lang="en-US" sz="2200" i="1" dirty="0" smtClean="0">
                <a:solidFill>
                  <a:srgbClr val="C00000"/>
                </a:solidFill>
              </a:rPr>
              <a:t>deleting</a:t>
            </a:r>
            <a:r>
              <a:rPr lang="en-US" sz="2200" dirty="0" smtClean="0"/>
              <a:t> old segments whose data we've </a:t>
            </a:r>
            <a:r>
              <a:rPr lang="en-US" sz="2200" u="sng" dirty="0" smtClean="0"/>
              <a:t>already processed</a:t>
            </a:r>
            <a:r>
              <a:rPr lang="en-US" sz="2200" dirty="0" smtClean="0"/>
              <a:t> or archived.</a:t>
            </a:r>
          </a:p>
          <a:p>
            <a:r>
              <a:rPr lang="en-US" sz="2200" dirty="0" smtClean="0"/>
              <a:t>This cleaning up of old segments can run in a </a:t>
            </a:r>
            <a:r>
              <a:rPr lang="en-US" sz="2200" i="1" dirty="0" smtClean="0">
                <a:solidFill>
                  <a:srgbClr val="C00000"/>
                </a:solidFill>
              </a:rPr>
              <a:t>background process</a:t>
            </a:r>
            <a:r>
              <a:rPr lang="en-US" sz="2200" dirty="0" smtClean="0"/>
              <a:t> while our service can still produce to the active (newest) segment and consume from other segments with no, or at least fewer, conflicts where </a:t>
            </a:r>
            <a:r>
              <a:rPr lang="en-US" sz="2200" dirty="0" err="1" smtClean="0"/>
              <a:t>goroutines</a:t>
            </a:r>
            <a:r>
              <a:rPr lang="en-US" sz="2200" dirty="0" smtClean="0"/>
              <a:t> access the same data.</a:t>
            </a:r>
            <a:endParaRPr lang="en-US" sz="2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Terminologies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Record</a:t>
            </a:r>
            <a:r>
              <a:rPr lang="en-US" sz="2400" dirty="0" smtClean="0"/>
              <a:t>—the data stored in our log.</a:t>
            </a:r>
          </a:p>
          <a:p>
            <a:r>
              <a:rPr lang="en-US" sz="2400" i="1" dirty="0" smtClean="0">
                <a:solidFill>
                  <a:srgbClr val="C00000"/>
                </a:solidFill>
              </a:rPr>
              <a:t>Store</a:t>
            </a:r>
            <a:r>
              <a:rPr lang="en-US" sz="2400" dirty="0" smtClean="0"/>
              <a:t>—the file we store records in.</a:t>
            </a:r>
          </a:p>
          <a:p>
            <a:r>
              <a:rPr lang="en-US" sz="2400" i="1" dirty="0" smtClean="0">
                <a:solidFill>
                  <a:srgbClr val="C00000"/>
                </a:solidFill>
              </a:rPr>
              <a:t>Index</a:t>
            </a:r>
            <a:r>
              <a:rPr lang="en-US" sz="2400" dirty="0" smtClean="0"/>
              <a:t>—the file we store index entries in.</a:t>
            </a:r>
          </a:p>
          <a:p>
            <a:r>
              <a:rPr lang="en-US" sz="2400" i="1" dirty="0" smtClean="0">
                <a:solidFill>
                  <a:srgbClr val="C00000"/>
                </a:solidFill>
              </a:rPr>
              <a:t>Segment</a:t>
            </a:r>
            <a:r>
              <a:rPr lang="en-US" sz="2400" dirty="0" smtClean="0"/>
              <a:t>—the abstraction that ties a store and an index together.</a:t>
            </a:r>
          </a:p>
          <a:p>
            <a:r>
              <a:rPr lang="en-US" sz="2400" i="1" dirty="0" smtClean="0">
                <a:solidFill>
                  <a:srgbClr val="C00000"/>
                </a:solidFill>
              </a:rPr>
              <a:t>Log</a:t>
            </a:r>
            <a:r>
              <a:rPr lang="en-US" sz="2400" dirty="0" smtClean="0"/>
              <a:t>—the abstraction that ties all the segments together.</a:t>
            </a:r>
            <a:endParaRPr lang="en-US" sz="2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proglog</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internal</a:t>
            </a:r>
          </a:p>
          <a:p>
            <a:r>
              <a:rPr lang="en-US" sz="2200" dirty="0" err="1" smtClean="0">
                <a:latin typeface="Consolas" pitchFamily="49" charset="0"/>
              </a:rPr>
              <a:t>cd</a:t>
            </a:r>
            <a:r>
              <a:rPr lang="en-US" sz="2200" dirty="0" smtClean="0">
                <a:latin typeface="Consolas" pitchFamily="49" charset="0"/>
              </a:rPr>
              <a:t> internal</a:t>
            </a:r>
          </a:p>
          <a:p>
            <a:r>
              <a:rPr lang="en-US" sz="2200" dirty="0" err="1" smtClean="0">
                <a:latin typeface="Consolas" pitchFamily="49" charset="0"/>
              </a:rPr>
              <a:t>mkdir</a:t>
            </a:r>
            <a:r>
              <a:rPr lang="en-US" sz="2200" dirty="0" smtClean="0">
                <a:latin typeface="Consolas" pitchFamily="49" charset="0"/>
              </a:rPr>
              <a:t> log</a:t>
            </a:r>
          </a:p>
          <a:p>
            <a:r>
              <a:rPr lang="en-US" sz="2200" dirty="0" err="1" smtClean="0">
                <a:latin typeface="Consolas" pitchFamily="49" charset="0"/>
              </a:rPr>
              <a:t>cd</a:t>
            </a:r>
            <a:r>
              <a:rPr lang="en-US" sz="2200" dirty="0" smtClean="0">
                <a:latin typeface="Consolas" pitchFamily="49" charset="0"/>
              </a:rPr>
              <a:t> log</a:t>
            </a:r>
          </a:p>
          <a:p>
            <a:endParaRPr lang="en-US" sz="2200" dirty="0" smtClean="0">
              <a:latin typeface="Consolas" pitchFamily="49"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t>
            </a:r>
            <a:r>
              <a:rPr lang="en-US" dirty="0" smtClean="0">
                <a:latin typeface="Consolas" pitchFamily="49" charset="0"/>
              </a:rPr>
              <a:t>log/</a:t>
            </a:r>
            <a:r>
              <a:rPr lang="en-US" dirty="0" err="1" smtClean="0"/>
              <a:t>config.go</a:t>
            </a:r>
            <a:endParaRPr lang="en-US" dirty="0">
              <a:latin typeface="Consolas" pitchFamily="49" charset="0"/>
            </a:endParaRPr>
          </a:p>
        </p:txBody>
      </p:sp>
      <p:sp>
        <p:nvSpPr>
          <p:cNvPr id="4" name="Rectangle 3"/>
          <p:cNvSpPr/>
          <p:nvPr/>
        </p:nvSpPr>
        <p:spPr>
          <a:xfrm>
            <a:off x="533400" y="1993880"/>
            <a:ext cx="8077200" cy="313932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package</a:t>
            </a:r>
            <a:r>
              <a:rPr lang="en-US" dirty="0" smtClean="0">
                <a:solidFill>
                  <a:srgbClr val="D4D4D4"/>
                </a:solidFill>
                <a:latin typeface="Consolas"/>
              </a:rPr>
              <a:t> log</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6A9955"/>
                </a:solidFill>
                <a:latin typeface="Consolas"/>
              </a:rPr>
              <a:t>// We need to configure the max size</a:t>
            </a:r>
            <a:endParaRPr lang="en-US" dirty="0" smtClean="0">
              <a:solidFill>
                <a:srgbClr val="D4D4D4"/>
              </a:solidFill>
              <a:latin typeface="Consolas"/>
            </a:endParaRPr>
          </a:p>
          <a:p>
            <a:r>
              <a:rPr lang="en-US" dirty="0" smtClean="0">
                <a:solidFill>
                  <a:srgbClr val="6A9955"/>
                </a:solidFill>
                <a:latin typeface="Consolas"/>
              </a:rPr>
              <a:t>// of a segment's store and index.</a:t>
            </a:r>
            <a:endParaRPr lang="en-US" dirty="0" smtClean="0">
              <a:solidFill>
                <a:srgbClr val="D4D4D4"/>
              </a:solidFill>
              <a:latin typeface="Consolas"/>
            </a:endParaRPr>
          </a:p>
          <a:p>
            <a:r>
              <a:rPr lang="en-US" dirty="0" smtClean="0">
                <a:solidFill>
                  <a:srgbClr val="569CD6"/>
                </a:solidFill>
                <a:latin typeface="Consolas"/>
              </a:rPr>
              <a:t>type</a:t>
            </a:r>
            <a:r>
              <a:rPr lang="en-US" dirty="0" smtClean="0">
                <a:solidFill>
                  <a:srgbClr val="D4D4D4"/>
                </a:solidFill>
                <a:latin typeface="Consolas"/>
              </a:rPr>
              <a:t> </a:t>
            </a:r>
            <a:r>
              <a:rPr lang="en-US" dirty="0" err="1" smtClean="0">
                <a:solidFill>
                  <a:srgbClr val="4EC9B0"/>
                </a:solidFill>
                <a:latin typeface="Consolas"/>
              </a:rPr>
              <a:t>Config</a:t>
            </a:r>
            <a:r>
              <a:rPr lang="en-US" dirty="0" smtClean="0">
                <a:solidFill>
                  <a:srgbClr val="D4D4D4"/>
                </a:solidFill>
                <a:latin typeface="Consolas"/>
              </a:rPr>
              <a:t> </a:t>
            </a:r>
            <a:r>
              <a:rPr lang="en-US" dirty="0" err="1" smtClean="0">
                <a:solidFill>
                  <a:srgbClr val="569CD6"/>
                </a:solidFill>
                <a:latin typeface="Consolas"/>
              </a:rPr>
              <a:t>struct</a:t>
            </a:r>
            <a:r>
              <a:rPr lang="en-US" dirty="0" smtClean="0">
                <a:solidFill>
                  <a:srgbClr val="D4D4D4"/>
                </a:solidFill>
                <a:latin typeface="Consolas"/>
              </a:rPr>
              <a:t> {</a:t>
            </a:r>
          </a:p>
          <a:p>
            <a:r>
              <a:rPr lang="en-US" dirty="0" smtClean="0">
                <a:solidFill>
                  <a:srgbClr val="D4D4D4"/>
                </a:solidFill>
                <a:latin typeface="Consolas"/>
              </a:rPr>
              <a:t>    Segment </a:t>
            </a:r>
            <a:r>
              <a:rPr lang="en-US" dirty="0" err="1" smtClean="0">
                <a:solidFill>
                  <a:srgbClr val="569CD6"/>
                </a:solidFill>
                <a:latin typeface="Consolas"/>
              </a:rPr>
              <a:t>struct</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MaxStoreBytes</a:t>
            </a:r>
            <a:r>
              <a:rPr lang="en-US" dirty="0" smtClean="0">
                <a:solidFill>
                  <a:srgbClr val="D4D4D4"/>
                </a:solidFill>
                <a:latin typeface="Consolas"/>
              </a:rPr>
              <a:t> </a:t>
            </a:r>
            <a:r>
              <a:rPr lang="en-US" dirty="0" smtClean="0">
                <a:solidFill>
                  <a:srgbClr val="4EC9B0"/>
                </a:solidFill>
                <a:latin typeface="Consolas"/>
              </a:rPr>
              <a:t>uint64</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4D4D4"/>
                </a:solidFill>
                <a:latin typeface="Consolas"/>
              </a:rPr>
              <a:t>MaxIndexBytes</a:t>
            </a:r>
            <a:r>
              <a:rPr lang="en-US" dirty="0" smtClean="0">
                <a:solidFill>
                  <a:srgbClr val="D4D4D4"/>
                </a:solidFill>
                <a:latin typeface="Consolas"/>
              </a:rPr>
              <a:t> </a:t>
            </a:r>
            <a:r>
              <a:rPr lang="en-US" dirty="0" smtClean="0">
                <a:solidFill>
                  <a:srgbClr val="4EC9B0"/>
                </a:solidFill>
                <a:latin typeface="Consolas"/>
              </a:rPr>
              <a:t>uint64</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4D4D4"/>
                </a:solidFill>
                <a:latin typeface="Consolas"/>
              </a:rPr>
              <a:t>InitialOffset</a:t>
            </a:r>
            <a:r>
              <a:rPr lang="en-US" dirty="0" smtClean="0">
                <a:solidFill>
                  <a:srgbClr val="D4D4D4"/>
                </a:solidFill>
                <a:latin typeface="Consolas"/>
              </a:rPr>
              <a:t> </a:t>
            </a:r>
            <a:r>
              <a:rPr lang="en-US" dirty="0" smtClean="0">
                <a:solidFill>
                  <a:srgbClr val="4EC9B0"/>
                </a:solidFill>
                <a:latin typeface="Consolas"/>
              </a:rPr>
              <a:t>uint64</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log/</a:t>
            </a:r>
            <a:r>
              <a:rPr lang="en-US" dirty="0" err="1" smtClean="0">
                <a:latin typeface="Consolas" pitchFamily="49" charset="0"/>
              </a:rPr>
              <a:t>store.go</a:t>
            </a:r>
            <a:r>
              <a:rPr lang="en-US" dirty="0" smtClean="0">
                <a:latin typeface="Consolas" pitchFamily="49" charset="0"/>
              </a:rPr>
              <a:t> (I)</a:t>
            </a:r>
            <a:endParaRPr lang="en-US" dirty="0">
              <a:latin typeface="Consolas" pitchFamily="49" charset="0"/>
            </a:endParaRPr>
          </a:p>
        </p:txBody>
      </p:sp>
      <p:sp>
        <p:nvSpPr>
          <p:cNvPr id="4" name="Rectangle 3"/>
          <p:cNvSpPr/>
          <p:nvPr/>
        </p:nvSpPr>
        <p:spPr>
          <a:xfrm>
            <a:off x="533400" y="1600200"/>
            <a:ext cx="8077200" cy="452431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package</a:t>
            </a:r>
            <a:r>
              <a:rPr lang="en-US" dirty="0" smtClean="0">
                <a:solidFill>
                  <a:srgbClr val="D4D4D4"/>
                </a:solidFill>
                <a:latin typeface="Consolas"/>
              </a:rPr>
              <a:t> log</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bufio</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"encoding/binary"</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os</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"sync"</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var</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enc</a:t>
            </a:r>
            <a:r>
              <a:rPr lang="en-US" dirty="0" smtClean="0">
                <a:solidFill>
                  <a:srgbClr val="D4D4D4"/>
                </a:solidFill>
                <a:latin typeface="Consolas"/>
              </a:rPr>
              <a:t> = </a:t>
            </a:r>
            <a:r>
              <a:rPr lang="en-US" dirty="0" err="1" smtClean="0">
                <a:solidFill>
                  <a:srgbClr val="D4D4D4"/>
                </a:solidFill>
                <a:latin typeface="Consolas"/>
              </a:rPr>
              <a:t>binary.BigEndian</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const</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9CDCFE"/>
                </a:solidFill>
                <a:latin typeface="Consolas"/>
              </a:rPr>
              <a:t>lenWidth</a:t>
            </a:r>
            <a:r>
              <a:rPr lang="en-US" dirty="0" smtClean="0">
                <a:solidFill>
                  <a:srgbClr val="D4D4D4"/>
                </a:solidFill>
                <a:latin typeface="Consolas"/>
              </a:rPr>
              <a:t> = </a:t>
            </a:r>
            <a:r>
              <a:rPr lang="en-US" dirty="0" smtClean="0">
                <a:solidFill>
                  <a:srgbClr val="B5CEA8"/>
                </a:solidFill>
                <a:latin typeface="Consolas"/>
              </a:rPr>
              <a:t>8</a:t>
            </a:r>
            <a:endParaRPr lang="en-US" dirty="0" smtClean="0">
              <a:solidFill>
                <a:srgbClr val="D4D4D4"/>
              </a:solidFill>
              <a:latin typeface="Consolas"/>
            </a:endParaRP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000" dirty="0" smtClean="0"/>
              <a:t>4. Create </a:t>
            </a:r>
            <a:r>
              <a:rPr lang="en-US" sz="4000" dirty="0" smtClean="0">
                <a:latin typeface="Consolas" pitchFamily="49" charset="0"/>
              </a:rPr>
              <a:t>log/</a:t>
            </a:r>
            <a:r>
              <a:rPr lang="en-US" sz="4000" dirty="0" err="1" smtClean="0">
                <a:latin typeface="Consolas" pitchFamily="49" charset="0"/>
              </a:rPr>
              <a:t>store_test.go</a:t>
            </a:r>
            <a:r>
              <a:rPr lang="en-US" sz="4000" dirty="0" smtClean="0">
                <a:latin typeface="Consolas" pitchFamily="49" charset="0"/>
              </a:rPr>
              <a:t> (I)</a:t>
            </a:r>
            <a:endParaRPr lang="en-US" sz="4000" dirty="0">
              <a:latin typeface="Consolas" pitchFamily="49" charset="0"/>
            </a:endParaRPr>
          </a:p>
        </p:txBody>
      </p:sp>
      <p:sp>
        <p:nvSpPr>
          <p:cNvPr id="4" name="Rectangle 3"/>
          <p:cNvSpPr/>
          <p:nvPr/>
        </p:nvSpPr>
        <p:spPr>
          <a:xfrm>
            <a:off x="533400" y="1993880"/>
            <a:ext cx="8077200" cy="397031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package</a:t>
            </a:r>
            <a:r>
              <a:rPr lang="en-US" dirty="0" smtClean="0">
                <a:solidFill>
                  <a:srgbClr val="D4D4D4"/>
                </a:solidFill>
                <a:latin typeface="Consolas"/>
              </a:rPr>
              <a:t> log</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io</a:t>
            </a:r>
            <a:r>
              <a:rPr lang="en-US" dirty="0" smtClean="0">
                <a:solidFill>
                  <a:srgbClr val="CE9178"/>
                </a:solidFill>
                <a:latin typeface="Consolas"/>
              </a:rPr>
              <a:t>/</a:t>
            </a:r>
            <a:r>
              <a:rPr lang="en-US" dirty="0" err="1" smtClean="0">
                <a:solidFill>
                  <a:srgbClr val="CE9178"/>
                </a:solidFill>
                <a:latin typeface="Consolas"/>
              </a:rPr>
              <a:t>ioutil</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os</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"testing"</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E9178"/>
                </a:solidFill>
                <a:latin typeface="Consolas"/>
              </a:rPr>
              <a:t>"github.com/</a:t>
            </a:r>
            <a:r>
              <a:rPr lang="en-US" dirty="0" err="1" smtClean="0">
                <a:solidFill>
                  <a:srgbClr val="CE9178"/>
                </a:solidFill>
                <a:latin typeface="Consolas"/>
              </a:rPr>
              <a:t>stretchr</a:t>
            </a:r>
            <a:r>
              <a:rPr lang="en-US" dirty="0" smtClean="0">
                <a:solidFill>
                  <a:srgbClr val="CE9178"/>
                </a:solidFill>
                <a:latin typeface="Consolas"/>
              </a:rPr>
              <a:t>/testify/require"</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var</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write</a:t>
            </a:r>
            <a:r>
              <a:rPr lang="en-US" dirty="0" smtClean="0">
                <a:solidFill>
                  <a:srgbClr val="D4D4D4"/>
                </a:solidFill>
                <a:latin typeface="Consolas"/>
              </a:rPr>
              <a:t> = []</a:t>
            </a:r>
            <a:r>
              <a:rPr lang="en-US" dirty="0" smtClean="0">
                <a:solidFill>
                  <a:srgbClr val="DCDCAA"/>
                </a:solidFill>
                <a:latin typeface="Consolas"/>
              </a:rPr>
              <a:t>byte</a:t>
            </a:r>
            <a:r>
              <a:rPr lang="en-US" dirty="0" smtClean="0">
                <a:solidFill>
                  <a:srgbClr val="D4D4D4"/>
                </a:solidFill>
                <a:latin typeface="Consolas"/>
              </a:rPr>
              <a:t>(</a:t>
            </a:r>
            <a:r>
              <a:rPr lang="en-US" dirty="0" smtClean="0">
                <a:solidFill>
                  <a:srgbClr val="CE9178"/>
                </a:solidFill>
                <a:latin typeface="Consolas"/>
              </a:rPr>
              <a:t>"hello world"</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9CDCFE"/>
                </a:solidFill>
                <a:latin typeface="Consolas"/>
              </a:rPr>
              <a:t>width</a:t>
            </a:r>
            <a:r>
              <a:rPr lang="en-US" dirty="0" smtClean="0">
                <a:solidFill>
                  <a:srgbClr val="D4D4D4"/>
                </a:solidFill>
                <a:latin typeface="Consolas"/>
              </a:rPr>
              <a:t> = </a:t>
            </a:r>
            <a:r>
              <a:rPr lang="en-US" dirty="0" smtClean="0">
                <a:solidFill>
                  <a:srgbClr val="DCDCAA"/>
                </a:solidFill>
                <a:latin typeface="Consolas"/>
              </a:rPr>
              <a:t>uint64</a:t>
            </a:r>
            <a:r>
              <a:rPr lang="en-US" dirty="0" smtClean="0">
                <a:solidFill>
                  <a:srgbClr val="D4D4D4"/>
                </a:solidFill>
                <a:latin typeface="Consolas"/>
              </a:rPr>
              <a:t>(</a:t>
            </a:r>
            <a:r>
              <a:rPr lang="en-US" dirty="0" err="1" smtClean="0">
                <a:solidFill>
                  <a:srgbClr val="DCDCAA"/>
                </a:solidFill>
                <a:latin typeface="Consolas"/>
              </a:rPr>
              <a:t>len</a:t>
            </a:r>
            <a:r>
              <a:rPr lang="en-US" dirty="0" smtClean="0">
                <a:solidFill>
                  <a:srgbClr val="D4D4D4"/>
                </a:solidFill>
                <a:latin typeface="Consolas"/>
              </a:rPr>
              <a:t>(write)) + </a:t>
            </a:r>
            <a:r>
              <a:rPr lang="en-US" dirty="0" err="1" smtClean="0">
                <a:solidFill>
                  <a:srgbClr val="D4D4D4"/>
                </a:solidFill>
                <a:latin typeface="Consolas"/>
              </a:rPr>
              <a:t>lenWidth</a:t>
            </a:r>
            <a:endParaRPr lang="en-US" dirty="0" smtClean="0">
              <a:solidFill>
                <a:srgbClr val="D4D4D4"/>
              </a:solidFill>
              <a:latin typeface="Consolas"/>
            </a:endParaRP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Create </a:t>
            </a:r>
            <a:r>
              <a:rPr lang="en-US" dirty="0" smtClean="0">
                <a:latin typeface="Consolas" pitchFamily="49" charset="0"/>
              </a:rPr>
              <a:t>log/</a:t>
            </a:r>
            <a:r>
              <a:rPr lang="en-US" dirty="0" err="1" smtClean="0">
                <a:latin typeface="Consolas" pitchFamily="49" charset="0"/>
              </a:rPr>
              <a:t>index.go</a:t>
            </a:r>
            <a:r>
              <a:rPr lang="en-US" dirty="0" smtClean="0">
                <a:latin typeface="Consolas" pitchFamily="49" charset="0"/>
              </a:rPr>
              <a:t> (I)</a:t>
            </a:r>
            <a:endParaRPr lang="en-US" dirty="0">
              <a:latin typeface="Consolas" pitchFamily="49" charset="0"/>
            </a:endParaRPr>
          </a:p>
        </p:txBody>
      </p:sp>
      <p:sp>
        <p:nvSpPr>
          <p:cNvPr id="4" name="Rectangle 3"/>
          <p:cNvSpPr/>
          <p:nvPr/>
        </p:nvSpPr>
        <p:spPr>
          <a:xfrm>
            <a:off x="533400" y="1630263"/>
            <a:ext cx="8077200" cy="477053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package</a:t>
            </a:r>
            <a:r>
              <a:rPr lang="en-US" sz="1600" dirty="0" smtClean="0">
                <a:solidFill>
                  <a:srgbClr val="D4D4D4"/>
                </a:solidFill>
                <a:latin typeface="Consolas"/>
              </a:rPr>
              <a:t> log</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io</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os</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E9178"/>
                </a:solidFill>
                <a:latin typeface="Consolas"/>
              </a:rPr>
              <a:t>"github.com/</a:t>
            </a:r>
            <a:r>
              <a:rPr lang="en-US" sz="1600" dirty="0" err="1" smtClean="0">
                <a:solidFill>
                  <a:srgbClr val="CE9178"/>
                </a:solidFill>
                <a:latin typeface="Consolas"/>
              </a:rPr>
              <a:t>tysonmote</a:t>
            </a:r>
            <a:r>
              <a:rPr lang="en-US" sz="1600" dirty="0" smtClean="0">
                <a:solidFill>
                  <a:srgbClr val="CE9178"/>
                </a:solidFill>
                <a:latin typeface="Consolas"/>
              </a:rPr>
              <a:t>/</a:t>
            </a:r>
            <a:r>
              <a:rPr lang="en-US" sz="1600" dirty="0" err="1" smtClean="0">
                <a:solidFill>
                  <a:srgbClr val="CE9178"/>
                </a:solidFill>
                <a:latin typeface="Consolas"/>
              </a:rPr>
              <a:t>gommap</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var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6A9955"/>
                </a:solidFill>
                <a:latin typeface="Consolas"/>
              </a:rPr>
              <a:t>// The *Width constants define the number of bytes</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that make up each index entry.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9CDCFE"/>
                </a:solidFill>
                <a:latin typeface="Consolas"/>
              </a:rPr>
              <a:t>offWidth</a:t>
            </a:r>
            <a:r>
              <a:rPr lang="en-US" sz="1600" dirty="0" smtClean="0">
                <a:solidFill>
                  <a:srgbClr val="D4D4D4"/>
                </a:solidFill>
                <a:latin typeface="Consolas"/>
              </a:rPr>
              <a:t> </a:t>
            </a:r>
            <a:r>
              <a:rPr lang="en-US" sz="1600" dirty="0" smtClean="0">
                <a:solidFill>
                  <a:srgbClr val="4EC9B0"/>
                </a:solidFill>
                <a:latin typeface="Consolas"/>
              </a:rPr>
              <a:t>uint64</a:t>
            </a:r>
            <a:r>
              <a:rPr lang="en-US" sz="1600" dirty="0" smtClean="0">
                <a:solidFill>
                  <a:srgbClr val="D4D4D4"/>
                </a:solidFill>
                <a:latin typeface="Consolas"/>
              </a:rPr>
              <a:t> = </a:t>
            </a:r>
            <a:r>
              <a:rPr lang="en-US" sz="1600" dirty="0" smtClean="0">
                <a:solidFill>
                  <a:srgbClr val="B5CEA8"/>
                </a:solidFill>
                <a:latin typeface="Consolas"/>
              </a:rPr>
              <a:t>4</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9CDCFE"/>
                </a:solidFill>
                <a:latin typeface="Consolas"/>
              </a:rPr>
              <a:t>posWidth</a:t>
            </a:r>
            <a:r>
              <a:rPr lang="en-US" sz="1600" dirty="0" smtClean="0">
                <a:solidFill>
                  <a:srgbClr val="D4D4D4"/>
                </a:solidFill>
                <a:latin typeface="Consolas"/>
              </a:rPr>
              <a:t> </a:t>
            </a:r>
            <a:r>
              <a:rPr lang="en-US" sz="1600" dirty="0" smtClean="0">
                <a:solidFill>
                  <a:srgbClr val="4EC9B0"/>
                </a:solidFill>
                <a:latin typeface="Consolas"/>
              </a:rPr>
              <a:t>uint64</a:t>
            </a:r>
            <a:r>
              <a:rPr lang="en-US" sz="1600" dirty="0" smtClean="0">
                <a:solidFill>
                  <a:srgbClr val="D4D4D4"/>
                </a:solidFill>
                <a:latin typeface="Consolas"/>
              </a:rPr>
              <a:t> = </a:t>
            </a:r>
            <a:r>
              <a:rPr lang="en-US" sz="1600" dirty="0" smtClean="0">
                <a:solidFill>
                  <a:srgbClr val="B5CEA8"/>
                </a:solidFill>
                <a:latin typeface="Consolas"/>
              </a:rPr>
              <a:t>8</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We use the </a:t>
            </a:r>
            <a:r>
              <a:rPr lang="en-US" sz="1600" dirty="0" err="1" smtClean="0">
                <a:solidFill>
                  <a:srgbClr val="6A9955"/>
                </a:solidFill>
                <a:latin typeface="Consolas"/>
              </a:rPr>
              <a:t>entWidth</a:t>
            </a:r>
            <a:r>
              <a:rPr lang="en-US" sz="1600" dirty="0" smtClean="0">
                <a:solidFill>
                  <a:srgbClr val="6A9955"/>
                </a:solidFill>
                <a:latin typeface="Consolas"/>
              </a:rPr>
              <a:t> to jump straight to the position</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of an entry given its offset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since the position in the file is offset * </a:t>
            </a:r>
            <a:r>
              <a:rPr lang="en-US" sz="1600" dirty="0" err="1" smtClean="0">
                <a:solidFill>
                  <a:srgbClr val="6A9955"/>
                </a:solidFill>
                <a:latin typeface="Consolas"/>
              </a:rPr>
              <a:t>entWidth</a:t>
            </a:r>
            <a:r>
              <a:rPr lang="en-US" sz="1600" dirty="0" smtClean="0">
                <a:solidFill>
                  <a:srgbClr val="6A9955"/>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9CDCFE"/>
                </a:solidFill>
                <a:latin typeface="Consolas"/>
              </a:rPr>
              <a:t>entWidth</a:t>
            </a:r>
            <a:r>
              <a:rPr lang="en-US" sz="1600" dirty="0" smtClean="0">
                <a:solidFill>
                  <a:srgbClr val="D4D4D4"/>
                </a:solidFill>
                <a:latin typeface="Consolas"/>
              </a:rPr>
              <a:t> = </a:t>
            </a:r>
            <a:r>
              <a:rPr lang="en-US" sz="1600" dirty="0" err="1" smtClean="0">
                <a:solidFill>
                  <a:srgbClr val="D4D4D4"/>
                </a:solidFill>
                <a:latin typeface="Consolas"/>
              </a:rPr>
              <a:t>offWidth</a:t>
            </a:r>
            <a:r>
              <a:rPr lang="en-US" sz="1600" dirty="0" smtClean="0">
                <a:solidFill>
                  <a:srgbClr val="D4D4D4"/>
                </a:solidFill>
                <a:latin typeface="Consolas"/>
              </a:rPr>
              <a:t> + </a:t>
            </a:r>
            <a:r>
              <a:rPr lang="en-US" sz="1600" dirty="0" err="1" smtClean="0">
                <a:solidFill>
                  <a:srgbClr val="D4D4D4"/>
                </a:solidFill>
                <a:latin typeface="Consolas"/>
              </a:rPr>
              <a:t>posWidth</a:t>
            </a:r>
            <a:endParaRPr lang="en-US" sz="1600" dirty="0" smtClean="0">
              <a:solidFill>
                <a:srgbClr val="D4D4D4"/>
              </a:solidFill>
              <a:latin typeface="Consolas"/>
            </a:endParaRP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cd</a:t>
            </a:r>
            <a:r>
              <a:rPr lang="en-US" sz="2000" dirty="0" smtClean="0">
                <a:latin typeface="Consolas" pitchFamily="49" charset="0"/>
              </a:rPr>
              <a:t> </a:t>
            </a:r>
            <a:r>
              <a:rPr lang="en-US" sz="2000" dirty="0" err="1" smtClean="0">
                <a:latin typeface="Consolas" pitchFamily="49" charset="0"/>
              </a:rPr>
              <a:t>proglog</a:t>
            </a:r>
            <a:endParaRPr lang="en-US" sz="2000" dirty="0" smtClean="0">
              <a:latin typeface="Consolas" pitchFamily="49" charset="0"/>
            </a:endParaRPr>
          </a:p>
          <a:p>
            <a:r>
              <a:rPr lang="en-US" sz="2000" dirty="0" err="1" smtClean="0">
                <a:latin typeface="Consolas" pitchFamily="49" charset="0"/>
              </a:rPr>
              <a:t>mkdir</a:t>
            </a:r>
            <a:r>
              <a:rPr lang="en-US" sz="2000" dirty="0" smtClean="0">
                <a:latin typeface="Consolas" pitchFamily="49" charset="0"/>
              </a:rPr>
              <a:t> internal</a:t>
            </a:r>
          </a:p>
          <a:p>
            <a:r>
              <a:rPr lang="en-US" sz="2000" dirty="0" err="1" smtClean="0">
                <a:latin typeface="Consolas" pitchFamily="49" charset="0"/>
              </a:rPr>
              <a:t>cd</a:t>
            </a:r>
            <a:r>
              <a:rPr lang="en-US" sz="2000" dirty="0" smtClean="0">
                <a:latin typeface="Consolas" pitchFamily="49" charset="0"/>
              </a:rPr>
              <a:t> internal</a:t>
            </a:r>
          </a:p>
          <a:p>
            <a:r>
              <a:rPr lang="en-US" sz="2000" dirty="0" err="1" smtClean="0">
                <a:latin typeface="Consolas" pitchFamily="49" charset="0"/>
              </a:rPr>
              <a:t>mkdir</a:t>
            </a:r>
            <a:r>
              <a:rPr lang="en-US" sz="2000" dirty="0" smtClean="0">
                <a:latin typeface="Consolas" pitchFamily="49" charset="0"/>
              </a:rPr>
              <a:t> server</a:t>
            </a:r>
          </a:p>
          <a:p>
            <a:r>
              <a:rPr lang="en-US" sz="2000" dirty="0" err="1" smtClean="0">
                <a:latin typeface="Consolas" pitchFamily="49" charset="0"/>
              </a:rPr>
              <a:t>cd</a:t>
            </a:r>
            <a:r>
              <a:rPr lang="en-US" sz="2000" dirty="0" smtClean="0">
                <a:latin typeface="Consolas" pitchFamily="49" charset="0"/>
              </a:rPr>
              <a:t> server</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2. Create </a:t>
            </a:r>
            <a:r>
              <a:rPr lang="en-US" sz="4200" dirty="0" smtClean="0">
                <a:latin typeface="Consolas" pitchFamily="49" charset="0"/>
              </a:rPr>
              <a:t>server/</a:t>
            </a:r>
            <a:r>
              <a:rPr lang="en-US" sz="4200" dirty="0" err="1" smtClean="0">
                <a:latin typeface="Consolas" pitchFamily="49" charset="0"/>
              </a:rPr>
              <a:t>server.go</a:t>
            </a:r>
            <a:r>
              <a:rPr lang="en-US" sz="4200" dirty="0" smtClean="0">
                <a:latin typeface="Consolas" pitchFamily="49" charset="0"/>
              </a:rPr>
              <a:t> (I)</a:t>
            </a:r>
            <a:endParaRPr lang="en-US" sz="4200" dirty="0">
              <a:latin typeface="Consolas" pitchFamily="49" charset="0"/>
            </a:endParaRPr>
          </a:p>
        </p:txBody>
      </p:sp>
      <p:sp>
        <p:nvSpPr>
          <p:cNvPr id="4" name="Rectangle 3"/>
          <p:cNvSpPr/>
          <p:nvPr/>
        </p:nvSpPr>
        <p:spPr>
          <a:xfrm>
            <a:off x="533400" y="1600200"/>
            <a:ext cx="8077200" cy="480131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syntax</a:t>
            </a:r>
            <a:r>
              <a:rPr lang="en-US" dirty="0" smtClean="0">
                <a:solidFill>
                  <a:srgbClr val="D4D4D4"/>
                </a:solidFill>
                <a:latin typeface="Consolas"/>
              </a:rPr>
              <a:t> = </a:t>
            </a:r>
            <a:r>
              <a:rPr lang="en-US" dirty="0" smtClean="0">
                <a:solidFill>
                  <a:srgbClr val="CE9178"/>
                </a:solidFill>
                <a:latin typeface="Consolas"/>
              </a:rPr>
              <a:t>"proto3"</a:t>
            </a:r>
            <a:r>
              <a:rPr lang="en-US" dirty="0" smtClean="0">
                <a:solidFill>
                  <a:srgbClr val="D4D4D4"/>
                </a:solidFill>
                <a:latin typeface="Consolas"/>
              </a:rPr>
              <a:t>;</a:t>
            </a:r>
          </a:p>
          <a:p>
            <a:r>
              <a:rPr lang="en-US" dirty="0" smtClean="0">
                <a:solidFill>
                  <a:srgbClr val="569CD6"/>
                </a:solidFill>
                <a:latin typeface="Consolas"/>
              </a:rPr>
              <a:t>package</a:t>
            </a:r>
            <a:r>
              <a:rPr lang="en-US" dirty="0" smtClean="0">
                <a:solidFill>
                  <a:srgbClr val="D4D4D4"/>
                </a:solidFill>
                <a:latin typeface="Consolas"/>
              </a:rPr>
              <a:t> </a:t>
            </a:r>
            <a:r>
              <a:rPr lang="en-US" dirty="0" smtClean="0">
                <a:solidFill>
                  <a:srgbClr val="CE9178"/>
                </a:solidFill>
                <a:latin typeface="Consolas"/>
              </a:rPr>
              <a:t>log.v1</a:t>
            </a:r>
            <a:r>
              <a:rPr lang="en-US" dirty="0" smtClean="0">
                <a:solidFill>
                  <a:srgbClr val="D4D4D4"/>
                </a:solidFill>
                <a:latin typeface="Consolas"/>
              </a:rPr>
              <a:t>;</a:t>
            </a:r>
          </a:p>
          <a:p>
            <a:r>
              <a:rPr lang="en-US" dirty="0" smtClean="0">
                <a:solidFill>
                  <a:srgbClr val="569CD6"/>
                </a:solidFill>
                <a:latin typeface="Consolas"/>
              </a:rPr>
              <a:t>option</a:t>
            </a:r>
            <a:r>
              <a:rPr lang="en-US" dirty="0" smtClean="0">
                <a:solidFill>
                  <a:srgbClr val="D4D4D4"/>
                </a:solidFill>
                <a:latin typeface="Consolas"/>
              </a:rPr>
              <a:t> </a:t>
            </a:r>
            <a:r>
              <a:rPr lang="en-US" dirty="0" err="1" smtClean="0">
                <a:solidFill>
                  <a:srgbClr val="D4D4D4"/>
                </a:solidFill>
                <a:latin typeface="Consolas"/>
              </a:rPr>
              <a:t>go_package</a:t>
            </a:r>
            <a:r>
              <a:rPr lang="en-US" dirty="0" smtClean="0">
                <a:solidFill>
                  <a:srgbClr val="D4D4D4"/>
                </a:solidFill>
                <a:latin typeface="Consolas"/>
              </a:rPr>
              <a:t> = </a:t>
            </a:r>
            <a:r>
              <a:rPr lang="en-US" dirty="0" smtClean="0">
                <a:solidFill>
                  <a:srgbClr val="CE9178"/>
                </a:solidFill>
                <a:latin typeface="Consolas"/>
              </a:rPr>
              <a:t>"github.com/</a:t>
            </a:r>
            <a:r>
              <a:rPr lang="en-US" dirty="0" err="1" smtClean="0">
                <a:solidFill>
                  <a:srgbClr val="CE9178"/>
                </a:solidFill>
                <a:latin typeface="Consolas"/>
              </a:rPr>
              <a:t>nhbien</a:t>
            </a:r>
            <a:r>
              <a:rPr lang="en-US" dirty="0" smtClean="0">
                <a:solidFill>
                  <a:srgbClr val="CE9178"/>
                </a:solidFill>
                <a:latin typeface="Consolas"/>
              </a:rPr>
              <a:t>/</a:t>
            </a:r>
            <a:r>
              <a:rPr lang="en-US" dirty="0" err="1" smtClean="0">
                <a:solidFill>
                  <a:srgbClr val="CE9178"/>
                </a:solidFill>
                <a:latin typeface="Consolas"/>
              </a:rPr>
              <a:t>api</a:t>
            </a:r>
            <a:r>
              <a:rPr lang="en-US" dirty="0" smtClean="0">
                <a:solidFill>
                  <a:srgbClr val="CE9178"/>
                </a:solidFill>
                <a:latin typeface="Consolas"/>
              </a:rPr>
              <a:t>/log_v1"</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message</a:t>
            </a:r>
            <a:r>
              <a:rPr lang="en-US" dirty="0" smtClean="0">
                <a:solidFill>
                  <a:srgbClr val="D4D4D4"/>
                </a:solidFill>
                <a:latin typeface="Consolas"/>
              </a:rPr>
              <a:t> </a:t>
            </a:r>
            <a:r>
              <a:rPr lang="en-US" dirty="0" smtClean="0">
                <a:solidFill>
                  <a:srgbClr val="4EC9B0"/>
                </a:solidFill>
                <a:latin typeface="Consolas"/>
              </a:rPr>
              <a:t>Record</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bytes</a:t>
            </a:r>
            <a:r>
              <a:rPr lang="en-US" dirty="0" smtClean="0">
                <a:solidFill>
                  <a:srgbClr val="D4D4D4"/>
                </a:solidFill>
                <a:latin typeface="Consolas"/>
              </a:rPr>
              <a:t> </a:t>
            </a:r>
            <a:r>
              <a:rPr lang="en-US" dirty="0" smtClean="0">
                <a:solidFill>
                  <a:srgbClr val="9CDCFE"/>
                </a:solidFill>
                <a:latin typeface="Consolas"/>
              </a:rPr>
              <a:t>value</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569CD6"/>
                </a:solidFill>
                <a:latin typeface="Consolas"/>
              </a:rPr>
              <a:t>uint64</a:t>
            </a:r>
            <a:r>
              <a:rPr lang="en-US" dirty="0" smtClean="0">
                <a:solidFill>
                  <a:srgbClr val="D4D4D4"/>
                </a:solidFill>
                <a:latin typeface="Consolas"/>
              </a:rPr>
              <a:t> </a:t>
            </a:r>
            <a:r>
              <a:rPr lang="en-US" dirty="0" smtClean="0">
                <a:solidFill>
                  <a:srgbClr val="9CDCFE"/>
                </a:solidFill>
                <a:latin typeface="Consolas"/>
              </a:rPr>
              <a:t>offset</a:t>
            </a:r>
            <a:r>
              <a:rPr lang="en-US" dirty="0" smtClean="0">
                <a:solidFill>
                  <a:srgbClr val="D4D4D4"/>
                </a:solidFill>
                <a:latin typeface="Consolas"/>
              </a:rPr>
              <a:t> = </a:t>
            </a:r>
            <a:r>
              <a:rPr lang="en-US" dirty="0" smtClean="0">
                <a:solidFill>
                  <a:srgbClr val="B5CEA8"/>
                </a:solidFill>
                <a:latin typeface="Consolas"/>
              </a:rPr>
              <a:t>2</a:t>
            </a:r>
            <a:r>
              <a:rPr lang="en-US" dirty="0" smtClean="0">
                <a:solidFill>
                  <a:srgbClr val="D4D4D4"/>
                </a:solidFill>
                <a:latin typeface="Consolas"/>
              </a:rPr>
              <a:t>;</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service</a:t>
            </a:r>
            <a:r>
              <a:rPr lang="en-US" dirty="0" smtClean="0">
                <a:solidFill>
                  <a:srgbClr val="D4D4D4"/>
                </a:solidFill>
                <a:latin typeface="Consolas"/>
              </a:rPr>
              <a:t> </a:t>
            </a:r>
            <a:r>
              <a:rPr lang="en-US" dirty="0" smtClean="0">
                <a:solidFill>
                  <a:srgbClr val="4EC9B0"/>
                </a:solidFill>
                <a:latin typeface="Consolas"/>
              </a:rPr>
              <a:t>Log</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569CD6"/>
                </a:solidFill>
                <a:latin typeface="Consolas"/>
              </a:rPr>
              <a:t>rpc</a:t>
            </a:r>
            <a:r>
              <a:rPr lang="en-US" dirty="0" smtClean="0">
                <a:solidFill>
                  <a:srgbClr val="D4D4D4"/>
                </a:solidFill>
                <a:latin typeface="Consolas"/>
              </a:rPr>
              <a:t> </a:t>
            </a:r>
            <a:r>
              <a:rPr lang="en-US" dirty="0" smtClean="0">
                <a:solidFill>
                  <a:srgbClr val="DCDCAA"/>
                </a:solidFill>
                <a:latin typeface="Consolas"/>
              </a:rPr>
              <a:t>Produce</a:t>
            </a:r>
            <a:r>
              <a:rPr lang="en-US" dirty="0" smtClean="0">
                <a:solidFill>
                  <a:srgbClr val="D4D4D4"/>
                </a:solidFill>
                <a:latin typeface="Consolas"/>
              </a:rPr>
              <a:t>(</a:t>
            </a:r>
            <a:r>
              <a:rPr lang="en-US" dirty="0" err="1" smtClean="0">
                <a:solidFill>
                  <a:srgbClr val="4EC9B0"/>
                </a:solidFill>
                <a:latin typeface="Consolas"/>
              </a:rPr>
              <a:t>ProduceRequest</a:t>
            </a:r>
            <a:r>
              <a:rPr lang="en-US" dirty="0" smtClean="0">
                <a:solidFill>
                  <a:srgbClr val="D4D4D4"/>
                </a:solidFill>
                <a:latin typeface="Consolas"/>
              </a:rPr>
              <a:t>) </a:t>
            </a:r>
            <a:r>
              <a:rPr lang="en-US" dirty="0" smtClean="0">
                <a:solidFill>
                  <a:srgbClr val="569CD6"/>
                </a:solidFill>
                <a:latin typeface="Consolas"/>
              </a:rPr>
              <a:t>returns</a:t>
            </a:r>
            <a:r>
              <a:rPr lang="en-US" dirty="0" smtClean="0">
                <a:solidFill>
                  <a:srgbClr val="D4D4D4"/>
                </a:solidFill>
                <a:latin typeface="Consolas"/>
              </a:rPr>
              <a:t> (</a:t>
            </a:r>
            <a:r>
              <a:rPr lang="en-US" dirty="0" err="1" smtClean="0">
                <a:solidFill>
                  <a:srgbClr val="4EC9B0"/>
                </a:solidFill>
                <a:latin typeface="Consolas"/>
              </a:rPr>
              <a:t>ProduceResponse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569CD6"/>
                </a:solidFill>
                <a:latin typeface="Consolas"/>
              </a:rPr>
              <a:t>rpc</a:t>
            </a:r>
            <a:r>
              <a:rPr lang="en-US" dirty="0" smtClean="0">
                <a:solidFill>
                  <a:srgbClr val="D4D4D4"/>
                </a:solidFill>
                <a:latin typeface="Consolas"/>
              </a:rPr>
              <a:t> </a:t>
            </a:r>
            <a:r>
              <a:rPr lang="en-US" dirty="0" smtClean="0">
                <a:solidFill>
                  <a:srgbClr val="DCDCAA"/>
                </a:solidFill>
                <a:latin typeface="Consolas"/>
              </a:rPr>
              <a:t>Consume</a:t>
            </a:r>
            <a:r>
              <a:rPr lang="en-US" dirty="0" smtClean="0">
                <a:solidFill>
                  <a:srgbClr val="D4D4D4"/>
                </a:solidFill>
                <a:latin typeface="Consolas"/>
              </a:rPr>
              <a:t>(</a:t>
            </a:r>
            <a:r>
              <a:rPr lang="en-US" dirty="0" err="1" smtClean="0">
                <a:solidFill>
                  <a:srgbClr val="4EC9B0"/>
                </a:solidFill>
                <a:latin typeface="Consolas"/>
              </a:rPr>
              <a:t>ConsumeRequest</a:t>
            </a:r>
            <a:r>
              <a:rPr lang="en-US" dirty="0" smtClean="0">
                <a:solidFill>
                  <a:srgbClr val="D4D4D4"/>
                </a:solidFill>
                <a:latin typeface="Consolas"/>
              </a:rPr>
              <a:t>) </a:t>
            </a:r>
            <a:r>
              <a:rPr lang="en-US" dirty="0" smtClean="0">
                <a:solidFill>
                  <a:srgbClr val="569CD6"/>
                </a:solidFill>
                <a:latin typeface="Consolas"/>
              </a:rPr>
              <a:t>returns</a:t>
            </a:r>
            <a:r>
              <a:rPr lang="en-US" dirty="0" smtClean="0">
                <a:solidFill>
                  <a:srgbClr val="D4D4D4"/>
                </a:solidFill>
                <a:latin typeface="Consolas"/>
              </a:rPr>
              <a:t> (</a:t>
            </a:r>
            <a:r>
              <a:rPr lang="en-US" dirty="0" err="1" smtClean="0">
                <a:solidFill>
                  <a:srgbClr val="4EC9B0"/>
                </a:solidFill>
                <a:latin typeface="Consolas"/>
              </a:rPr>
              <a:t>ConsumeResponse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569CD6"/>
                </a:solidFill>
                <a:latin typeface="Consolas"/>
              </a:rPr>
              <a:t>rpc</a:t>
            </a:r>
            <a:r>
              <a:rPr lang="en-US" dirty="0" smtClean="0">
                <a:solidFill>
                  <a:srgbClr val="D4D4D4"/>
                </a:solidFill>
                <a:latin typeface="Consolas"/>
              </a:rPr>
              <a:t> </a:t>
            </a:r>
            <a:r>
              <a:rPr lang="en-US" dirty="0" err="1" smtClean="0">
                <a:solidFill>
                  <a:srgbClr val="DCDCAA"/>
                </a:solidFill>
                <a:latin typeface="Consolas"/>
              </a:rPr>
              <a:t>ConsumeStream</a:t>
            </a:r>
            <a:r>
              <a:rPr lang="en-US" dirty="0" smtClean="0">
                <a:solidFill>
                  <a:srgbClr val="D4D4D4"/>
                </a:solidFill>
                <a:latin typeface="Consolas"/>
              </a:rPr>
              <a:t>(</a:t>
            </a:r>
            <a:r>
              <a:rPr lang="en-US" dirty="0" err="1" smtClean="0">
                <a:solidFill>
                  <a:srgbClr val="4EC9B0"/>
                </a:solidFill>
                <a:latin typeface="Consolas"/>
              </a:rPr>
              <a:t>ConsumeRequest</a:t>
            </a:r>
            <a:r>
              <a:rPr lang="en-US" dirty="0" smtClean="0">
                <a:solidFill>
                  <a:srgbClr val="D4D4D4"/>
                </a:solidFill>
                <a:latin typeface="Consolas"/>
              </a:rPr>
              <a:t>) </a:t>
            </a:r>
            <a:r>
              <a:rPr lang="en-US" dirty="0" smtClean="0">
                <a:solidFill>
                  <a:srgbClr val="569CD6"/>
                </a:solidFill>
                <a:latin typeface="Consolas"/>
              </a:rPr>
              <a:t>returns</a:t>
            </a:r>
            <a:r>
              <a:rPr lang="en-US" dirty="0" smtClean="0">
                <a:solidFill>
                  <a:srgbClr val="D4D4D4"/>
                </a:solidFill>
                <a:latin typeface="Consolas"/>
              </a:rPr>
              <a:t> (</a:t>
            </a:r>
            <a:r>
              <a:rPr lang="en-US" dirty="0" smtClean="0">
                <a:solidFill>
                  <a:srgbClr val="569CD6"/>
                </a:solidFill>
                <a:latin typeface="Consolas"/>
              </a:rPr>
              <a:t>stream</a:t>
            </a:r>
            <a:r>
              <a:rPr lang="en-US" dirty="0" smtClean="0">
                <a:solidFill>
                  <a:srgbClr val="D4D4D4"/>
                </a:solidFill>
                <a:latin typeface="Consolas"/>
              </a:rPr>
              <a:t> </a:t>
            </a:r>
            <a:r>
              <a:rPr lang="en-US" dirty="0" err="1" smtClean="0">
                <a:solidFill>
                  <a:srgbClr val="4EC9B0"/>
                </a:solidFill>
                <a:latin typeface="Consolas"/>
              </a:rPr>
              <a:t>ConsumeResponse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569CD6"/>
                </a:solidFill>
                <a:latin typeface="Consolas"/>
              </a:rPr>
              <a:t>rpc</a:t>
            </a:r>
            <a:r>
              <a:rPr lang="en-US" dirty="0" smtClean="0">
                <a:solidFill>
                  <a:srgbClr val="D4D4D4"/>
                </a:solidFill>
                <a:latin typeface="Consolas"/>
              </a:rPr>
              <a:t> </a:t>
            </a:r>
            <a:r>
              <a:rPr lang="en-US" dirty="0" err="1" smtClean="0">
                <a:solidFill>
                  <a:srgbClr val="DCDCAA"/>
                </a:solidFill>
                <a:latin typeface="Consolas"/>
              </a:rPr>
              <a:t>ProduceStream</a:t>
            </a:r>
            <a:r>
              <a:rPr lang="en-US" dirty="0" smtClean="0">
                <a:solidFill>
                  <a:srgbClr val="D4D4D4"/>
                </a:solidFill>
                <a:latin typeface="Consolas"/>
              </a:rPr>
              <a:t>(</a:t>
            </a:r>
            <a:r>
              <a:rPr lang="en-US" dirty="0" smtClean="0">
                <a:solidFill>
                  <a:srgbClr val="569CD6"/>
                </a:solidFill>
                <a:latin typeface="Consolas"/>
              </a:rPr>
              <a:t>stream</a:t>
            </a:r>
            <a:r>
              <a:rPr lang="en-US" dirty="0" smtClean="0">
                <a:solidFill>
                  <a:srgbClr val="D4D4D4"/>
                </a:solidFill>
                <a:latin typeface="Consolas"/>
              </a:rPr>
              <a:t> </a:t>
            </a:r>
            <a:r>
              <a:rPr lang="en-US" dirty="0" err="1" smtClean="0">
                <a:solidFill>
                  <a:srgbClr val="4EC9B0"/>
                </a:solidFill>
                <a:latin typeface="Consolas"/>
              </a:rPr>
              <a:t>ProduceRequest</a:t>
            </a:r>
            <a:r>
              <a:rPr lang="en-US" dirty="0" smtClean="0">
                <a:solidFill>
                  <a:srgbClr val="D4D4D4"/>
                </a:solidFill>
                <a:latin typeface="Consolas"/>
              </a:rPr>
              <a:t>) </a:t>
            </a:r>
            <a:r>
              <a:rPr lang="en-US" dirty="0" smtClean="0">
                <a:solidFill>
                  <a:srgbClr val="569CD6"/>
                </a:solidFill>
                <a:latin typeface="Consolas"/>
              </a:rPr>
              <a:t>returns</a:t>
            </a:r>
            <a:r>
              <a:rPr lang="en-US" dirty="0" smtClean="0">
                <a:solidFill>
                  <a:srgbClr val="D4D4D4"/>
                </a:solidFill>
                <a:latin typeface="Consolas"/>
              </a:rPr>
              <a:t> (</a:t>
            </a:r>
            <a:r>
              <a:rPr lang="en-US" dirty="0" smtClean="0">
                <a:solidFill>
                  <a:srgbClr val="569CD6"/>
                </a:solidFill>
                <a:latin typeface="Consolas"/>
              </a:rPr>
              <a:t>stream</a:t>
            </a:r>
            <a:r>
              <a:rPr lang="en-US" dirty="0" smtClean="0">
                <a:solidFill>
                  <a:srgbClr val="D4D4D4"/>
                </a:solidFill>
                <a:latin typeface="Consolas"/>
              </a:rPr>
              <a:t> </a:t>
            </a:r>
            <a:r>
              <a:rPr lang="en-US" dirty="0" err="1" smtClean="0">
                <a:solidFill>
                  <a:srgbClr val="4EC9B0"/>
                </a:solidFill>
                <a:latin typeface="Consolas"/>
              </a:rPr>
              <a:t>ProduceResponse</a:t>
            </a:r>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endParaRPr lang="en-US" sz="2400" dirty="0" smtClean="0"/>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3048000" y="3429000"/>
            <a:ext cx="2600221" cy="1732372"/>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31985</TotalTime>
  <Words>3722</Words>
  <Application>Microsoft Office PowerPoint</Application>
  <PresentationFormat>On-screen Show (4:3)</PresentationFormat>
  <Paragraphs>641</Paragraphs>
  <Slides>103</Slides>
  <Notes>14</Notes>
  <HiddenSlides>0</HiddenSlides>
  <MMClips>0</MMClips>
  <ScaleCrop>false</ScaleCrop>
  <HeadingPairs>
    <vt:vector size="4" baseType="variant">
      <vt:variant>
        <vt:lpstr>Theme</vt:lpstr>
      </vt:variant>
      <vt:variant>
        <vt:i4>1</vt:i4>
      </vt:variant>
      <vt:variant>
        <vt:lpstr>Slide Titles</vt:lpstr>
      </vt:variant>
      <vt:variant>
        <vt:i4>103</vt:i4>
      </vt:variant>
    </vt:vector>
  </HeadingPairs>
  <TitlesOfParts>
    <vt:vector size="104" baseType="lpstr">
      <vt:lpstr>Office Theme</vt:lpstr>
      <vt:lpstr>gRPC APIs</vt:lpstr>
      <vt:lpstr>Objectives</vt:lpstr>
      <vt:lpstr>Contents</vt:lpstr>
      <vt:lpstr>References</vt:lpstr>
      <vt:lpstr>Binary Encoding vs. Text Encoding</vt:lpstr>
      <vt:lpstr>Serialization</vt:lpstr>
      <vt:lpstr>Example TEXT File Formats</vt:lpstr>
      <vt:lpstr>JSON Serialization</vt:lpstr>
      <vt:lpstr>XML Serialization</vt:lpstr>
      <vt:lpstr>Saving an Object to Text File</vt:lpstr>
      <vt:lpstr>Binary Serialization</vt:lpstr>
      <vt:lpstr>Example Binary File Formats</vt:lpstr>
      <vt:lpstr>Saving an Object to Binary File</vt:lpstr>
      <vt:lpstr>Slide 14</vt:lpstr>
      <vt:lpstr>Sending Object to Server</vt:lpstr>
      <vt:lpstr>Text Protocol vs. Binary Protocol</vt:lpstr>
      <vt:lpstr>Slide 17</vt:lpstr>
      <vt:lpstr>Serialization and Deserialization [1]</vt:lpstr>
      <vt:lpstr>Formats</vt:lpstr>
      <vt:lpstr>Serialization Helpers</vt:lpstr>
      <vt:lpstr>Slide 21</vt:lpstr>
      <vt:lpstr>Protocol Buffers</vt:lpstr>
      <vt:lpstr>Example Protocol Buffer Message</vt:lpstr>
      <vt:lpstr>Protocol Buffer Wire Format</vt:lpstr>
      <vt:lpstr>1. Download Protocol Buffer Compiler</vt:lpstr>
      <vt:lpstr>2. Verify Protocol Buffer Compiler Installation</vt:lpstr>
      <vt:lpstr>Protocol Buffer Compiler</vt:lpstr>
      <vt:lpstr>Protocol Buffer Compiler for Node.js</vt:lpstr>
      <vt:lpstr>Why Protocol Buffers?</vt:lpstr>
      <vt:lpstr>Slide 30</vt:lpstr>
      <vt:lpstr>What is gRPC? [2]</vt:lpstr>
      <vt:lpstr>Why Not to Use Conventional RPC?</vt:lpstr>
      <vt:lpstr>Why Not to Use SOAP?</vt:lpstr>
      <vt:lpstr>Why Not to Use REST?</vt:lpstr>
      <vt:lpstr>Example gRPC API</vt:lpstr>
      <vt:lpstr>Service Interface Definition</vt:lpstr>
      <vt:lpstr>Server Skeleton &amp; Client Stub </vt:lpstr>
      <vt:lpstr>Slide 38</vt:lpstr>
      <vt:lpstr>HTTP/2 Protocol</vt:lpstr>
      <vt:lpstr>HTTP/2 vs. HTTP/1.1 [3]</vt:lpstr>
      <vt:lpstr>HTTP/2 and Developers</vt:lpstr>
      <vt:lpstr>Implementation Steps</vt:lpstr>
      <vt:lpstr>Slide 43</vt:lpstr>
      <vt:lpstr>1. Create Project Structure [4]</vt:lpstr>
      <vt:lpstr>2. Create shared/grpc-recipe.proto (I)</vt:lpstr>
      <vt:lpstr>2. Create shared/grpc-recipe.proto (II)</vt:lpstr>
      <vt:lpstr>3. Create recipe-api/recipe-api.js (I)</vt:lpstr>
      <vt:lpstr>3. Create recipe-api/recipe-api.js (II)</vt:lpstr>
      <vt:lpstr>3. Create recipe-api/recipe-api.js (III)</vt:lpstr>
      <vt:lpstr>4. Run the recipe-api Service</vt:lpstr>
      <vt:lpstr>Slide 51</vt:lpstr>
      <vt:lpstr>1. Create web-api/web-api.js (I)</vt:lpstr>
      <vt:lpstr>2. Create web-api/web-api.js (II)</vt:lpstr>
      <vt:lpstr>3. Create web-api/web-api.js (III)</vt:lpstr>
      <vt:lpstr>4. Create web-api/web-api.js (IV)</vt:lpstr>
      <vt:lpstr>5. Run the web-api Service</vt:lpstr>
      <vt:lpstr>6. Invoke web-api Service</vt:lpstr>
      <vt:lpstr>Slide 58</vt:lpstr>
      <vt:lpstr>Hello World</vt:lpstr>
      <vt:lpstr>1. Install Tools [1]</vt:lpstr>
      <vt:lpstr>2. Create Service Definition Folder</vt:lpstr>
      <vt:lpstr>3. Create product_info.proto</vt:lpstr>
      <vt:lpstr>4. Create a Go Module</vt:lpstr>
      <vt:lpstr>5. Install the gRPC Library</vt:lpstr>
      <vt:lpstr>6. Install the protoc Plug-in for Go</vt:lpstr>
      <vt:lpstr>Generate Server Skeleton &amp; Client Stub </vt:lpstr>
      <vt:lpstr>7. Generate Server Stub</vt:lpstr>
      <vt:lpstr>8. Create productinfo_service.go</vt:lpstr>
      <vt:lpstr>9. Install Package</vt:lpstr>
      <vt:lpstr>10. Implement AddProduct Service</vt:lpstr>
      <vt:lpstr>11. Implement GetProduct Service</vt:lpstr>
      <vt:lpstr>12. Create main.go</vt:lpstr>
      <vt:lpstr>13. Build and Run Service</vt:lpstr>
      <vt:lpstr>Slide 74</vt:lpstr>
      <vt:lpstr>1. Create a Request</vt:lpstr>
      <vt:lpstr>2. Select gRPC</vt:lpstr>
      <vt:lpstr>3. Import a .proto File</vt:lpstr>
      <vt:lpstr>4. Select and Invoke a Method</vt:lpstr>
      <vt:lpstr>Slide 79</vt:lpstr>
      <vt:lpstr>Simple RPC (Unary RPC) [2]</vt:lpstr>
      <vt:lpstr>Server-Streaming RPC</vt:lpstr>
      <vt:lpstr>Client-Streaming RPC</vt:lpstr>
      <vt:lpstr>Bidirectional-Streaming RPC</vt:lpstr>
      <vt:lpstr>RPC Flow</vt:lpstr>
      <vt:lpstr>Slide 85</vt:lpstr>
      <vt:lpstr>1. Create Project Structure [5]</vt:lpstr>
      <vt:lpstr>2. Create v1/log.proto</vt:lpstr>
      <vt:lpstr>3. Compile .proto File</vt:lpstr>
      <vt:lpstr>4. Work with the Generated Code</vt:lpstr>
      <vt:lpstr>Slide 90</vt:lpstr>
      <vt:lpstr>How Logs Work</vt:lpstr>
      <vt:lpstr>Terminologies</vt:lpstr>
      <vt:lpstr>1. Create Project Structure</vt:lpstr>
      <vt:lpstr>2. Create log/config.go</vt:lpstr>
      <vt:lpstr>3. Create log/store.go (I)</vt:lpstr>
      <vt:lpstr>4. Create log/store_test.go (I)</vt:lpstr>
      <vt:lpstr>5. Create log/index.go (I)</vt:lpstr>
      <vt:lpstr>Slide 98</vt:lpstr>
      <vt:lpstr>1. Create Project Structure</vt:lpstr>
      <vt:lpstr>2. Create server/server.go (I)</vt:lpstr>
      <vt:lpstr>Slide 101</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6326</cp:revision>
  <dcterms:created xsi:type="dcterms:W3CDTF">2007-10-06T08:25:13Z</dcterms:created>
  <dcterms:modified xsi:type="dcterms:W3CDTF">2026-01-08T12:39:38Z</dcterms:modified>
</cp:coreProperties>
</file>