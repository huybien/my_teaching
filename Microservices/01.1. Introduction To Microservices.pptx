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95" r:id="rId22"/>
    <p:sldId id="666" r:id="rId23"/>
    <p:sldId id="669" r:id="rId24"/>
    <p:sldId id="595" r:id="rId25"/>
    <p:sldId id="679" r:id="rId26"/>
    <p:sldId id="602" r:id="rId27"/>
    <p:sldId id="603" r:id="rId28"/>
    <p:sldId id="604" r:id="rId29"/>
    <p:sldId id="670" r:id="rId30"/>
    <p:sldId id="671" r:id="rId31"/>
    <p:sldId id="672" r:id="rId32"/>
    <p:sldId id="673" r:id="rId33"/>
    <p:sldId id="674" r:id="rId34"/>
    <p:sldId id="675" r:id="rId35"/>
    <p:sldId id="676" r:id="rId36"/>
    <p:sldId id="677" r:id="rId37"/>
    <p:sldId id="678" r:id="rId38"/>
    <p:sldId id="684" r:id="rId39"/>
    <p:sldId id="685" r:id="rId40"/>
    <p:sldId id="686" r:id="rId41"/>
    <p:sldId id="688" r:id="rId42"/>
    <p:sldId id="689" r:id="rId43"/>
    <p:sldId id="692" r:id="rId44"/>
    <p:sldId id="694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CloudPlatform/microservices-demo/blob/main/docs/development-guide.md" TargetMode="External"/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kaffold.dev/docs/references/cli/" TargetMode="External"/><Relationship Id="rId4" Type="http://schemas.openxmlformats.org/officeDocument/2006/relationships/hyperlink" Target="https://github.com/GoogleCloudPlatform/microservices-demo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pring-petclinic/spring-petclinic-microservices" TargetMode="External"/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 vs. </a:t>
            </a:r>
            <a:r>
              <a:rPr lang="en-US" dirty="0" err="1" smtClean="0"/>
              <a:t>Microservices</a:t>
            </a:r>
            <a:r>
              <a:rPr lang="en-US" dirty="0" smtClean="0"/>
              <a:t>: Key Architectural Differences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back-end processes.</a:t>
            </a:r>
          </a:p>
          <a:p>
            <a:r>
              <a:rPr lang="en-US" dirty="0" smtClean="0"/>
              <a:t>Multiple separate databases.</a:t>
            </a:r>
          </a:p>
          <a:p>
            <a:r>
              <a:rPr lang="en-US" dirty="0" smtClean="0"/>
              <a:t>Independent deployment of back-ends and databases.</a:t>
            </a:r>
          </a:p>
          <a:p>
            <a:r>
              <a:rPr lang="en-US" dirty="0" smtClean="0"/>
              <a:t>One front-end. (Possible multiple micro-frontends.)</a:t>
            </a:r>
          </a:p>
          <a:p>
            <a:r>
              <a:rPr lang="en-US" dirty="0" smtClean="0"/>
              <a:t>Possible API gateways.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/>
              <a:t>Yu </a:t>
            </a:r>
            <a:r>
              <a:rPr lang="en-US" sz="2200" b="1" dirty="0" err="1" smtClean="0"/>
              <a:t>Gan</a:t>
            </a:r>
            <a:r>
              <a:rPr lang="en-US" sz="2200" b="1" dirty="0" smtClean="0"/>
              <a:t> et al. (2019). An Open-Source Benchmark Suite for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and Their Hardware-Software Implications for Cloud &amp; Edge Systems.</a:t>
            </a:r>
          </a:p>
          <a:p>
            <a:r>
              <a:rPr lang="en-US" sz="2200" dirty="0" smtClean="0">
                <a:hlinkClick r:id="rId2"/>
              </a:rPr>
              <a:t>https://github.com/delimitrou/DeathStarBench</a:t>
            </a:r>
            <a:endParaRPr lang="en-US" sz="2200" dirty="0" smtClean="0"/>
          </a:p>
          <a:p>
            <a:r>
              <a:rPr lang="en-US" sz="2200" b="1" dirty="0" smtClean="0"/>
              <a:t>Social Network</a:t>
            </a:r>
            <a:r>
              <a:rPr lang="en-US" sz="2200" dirty="0" smtClean="0"/>
              <a:t>: C++, Apache Thrift RPC, </a:t>
            </a:r>
            <a:r>
              <a:rPr lang="en-US" sz="2200" dirty="0" err="1" smtClean="0"/>
              <a:t>Lua</a:t>
            </a:r>
            <a:r>
              <a:rPr lang="en-US" sz="2200" dirty="0" smtClean="0"/>
              <a:t>/</a:t>
            </a:r>
            <a:r>
              <a:rPr lang="en-US" sz="2200" dirty="0" err="1" smtClean="0"/>
              <a:t>OpenResty</a:t>
            </a:r>
            <a:r>
              <a:rPr lang="en-US" sz="2200" dirty="0" smtClean="0"/>
              <a:t> frontend,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Redis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RabbitMQ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Compose,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Swarm, Jaeger, Python init scripts.</a:t>
            </a:r>
          </a:p>
          <a:p>
            <a:r>
              <a:rPr lang="en-US" sz="2200" b="1" dirty="0" smtClean="0"/>
              <a:t>Hotel Reservation: </a:t>
            </a:r>
            <a:r>
              <a:rPr lang="en-US" sz="2200" dirty="0" smtClean="0"/>
              <a:t>Go,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OpenShift</a:t>
            </a:r>
            <a:r>
              <a:rPr lang="en-US" sz="2200" dirty="0" smtClean="0"/>
              <a:t>, Helm, Consul, </a:t>
            </a:r>
            <a:r>
              <a:rPr lang="en-US" sz="2200" dirty="0" err="1" smtClean="0"/>
              <a:t>OpenTracing</a:t>
            </a:r>
            <a:r>
              <a:rPr lang="en-US" sz="2200" dirty="0" smtClean="0"/>
              <a:t>, Jaeger.</a:t>
            </a:r>
            <a:endParaRPr lang="en-US" sz="2200" b="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https://github.com/googlecloudplatform/microservices-demo</a:t>
            </a:r>
            <a:endParaRPr lang="en-US" sz="2200" dirty="0" smtClean="0"/>
          </a:p>
          <a:p>
            <a:r>
              <a:rPr lang="en-US" sz="2200" dirty="0" smtClean="0"/>
              <a:t>Go, Python, C#, Node.js,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Skaffold</a:t>
            </a:r>
            <a:r>
              <a:rPr lang="en-US" sz="2200" dirty="0" smtClean="0"/>
              <a:t>, </a:t>
            </a:r>
            <a:r>
              <a:rPr lang="en-US" sz="2200" dirty="0" err="1" smtClean="0"/>
              <a:t>Kustomize</a:t>
            </a:r>
            <a:r>
              <a:rPr lang="en-US" sz="2200" dirty="0" smtClean="0"/>
              <a:t>, Helm, </a:t>
            </a:r>
            <a:r>
              <a:rPr lang="en-US" sz="2200" dirty="0" err="1" smtClean="0"/>
              <a:t>Terraform</a:t>
            </a:r>
            <a:r>
              <a:rPr lang="en-US" sz="2200" dirty="0" smtClean="0"/>
              <a:t>, GKE, </a:t>
            </a:r>
            <a:r>
              <a:rPr lang="en-US" sz="2200" dirty="0" err="1" smtClean="0"/>
              <a:t>Istio</a:t>
            </a:r>
            <a:r>
              <a:rPr lang="en-US" sz="2200" dirty="0" smtClean="0"/>
              <a:t>, and </a:t>
            </a:r>
            <a:r>
              <a:rPr lang="en-US" sz="2200" dirty="0" err="1" smtClean="0"/>
              <a:t>Redis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</a:t>
            </a:r>
            <a:r>
              <a:rPr lang="en-US" sz="2200" dirty="0" smtClean="0">
                <a:hlinkClick r:id="rId3"/>
              </a:rPr>
              <a:t>github.com/GoogleCloudPlatform/microservices-demo/blob/main/docs/development-guide.md</a:t>
            </a:r>
            <a:endParaRPr lang="en-US" sz="2200" dirty="0" smtClean="0"/>
          </a:p>
          <a:p>
            <a:r>
              <a:rPr lang="en-US" sz="2200" dirty="0" err="1" smtClean="0"/>
              <a:t>git</a:t>
            </a:r>
            <a:r>
              <a:rPr lang="en-US" sz="2200" dirty="0" smtClean="0"/>
              <a:t> clone </a:t>
            </a:r>
            <a:r>
              <a:rPr lang="en-US" sz="2200" dirty="0" smtClean="0">
                <a:hlinkClick r:id="rId4"/>
              </a:rPr>
              <a:t>https://</a:t>
            </a:r>
            <a:r>
              <a:rPr lang="en-US" sz="2200" dirty="0" smtClean="0">
                <a:hlinkClick r:id="rId4"/>
              </a:rPr>
              <a:t>github.com/GoogleCloudPlatform/microservices-demo</a:t>
            </a:r>
            <a:endParaRPr lang="en-US" sz="2200" dirty="0" smtClean="0"/>
          </a:p>
          <a:p>
            <a:r>
              <a:rPr lang="en-US" sz="2200" dirty="0" err="1" smtClean="0"/>
              <a:t>cd</a:t>
            </a:r>
            <a:r>
              <a:rPr lang="en-US" sz="2200" dirty="0" smtClean="0"/>
              <a:t>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-demo</a:t>
            </a:r>
            <a:r>
              <a:rPr lang="en-US" sz="2200" dirty="0" smtClean="0"/>
              <a:t>/</a:t>
            </a:r>
          </a:p>
          <a:p>
            <a:r>
              <a:rPr lang="en-US" sz="2200" dirty="0" smtClean="0"/>
              <a:t>Start </a:t>
            </a:r>
            <a:r>
              <a:rPr lang="en-US" sz="2200" dirty="0" err="1" smtClean="0"/>
              <a:t>Docker</a:t>
            </a:r>
            <a:r>
              <a:rPr lang="en-US" sz="2200" dirty="0" smtClean="0"/>
              <a:t>.</a:t>
            </a:r>
          </a:p>
          <a:p>
            <a:r>
              <a:rPr lang="en-US" sz="2200" dirty="0" err="1" smtClean="0"/>
              <a:t>minikube</a:t>
            </a:r>
            <a:r>
              <a:rPr lang="en-US" sz="2200" dirty="0" smtClean="0"/>
              <a:t> start --</a:t>
            </a:r>
            <a:r>
              <a:rPr lang="en-US" sz="2200" dirty="0" err="1" smtClean="0"/>
              <a:t>cpus</a:t>
            </a:r>
            <a:r>
              <a:rPr lang="en-US" sz="2200" dirty="0" smtClean="0"/>
              <a:t>=4 --memory 4096 --disk-size </a:t>
            </a:r>
            <a:r>
              <a:rPr lang="en-US" sz="2200" dirty="0" smtClean="0"/>
              <a:t>32g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get </a:t>
            </a:r>
            <a:r>
              <a:rPr lang="en-US" sz="2200" dirty="0" smtClean="0"/>
              <a:t>nodes</a:t>
            </a:r>
          </a:p>
          <a:p>
            <a:r>
              <a:rPr lang="en-US" sz="2200" dirty="0" err="1" smtClean="0"/>
              <a:t>skaffold</a:t>
            </a:r>
            <a:r>
              <a:rPr lang="en-US" sz="2200" dirty="0" smtClean="0"/>
              <a:t> run # </a:t>
            </a:r>
            <a:r>
              <a:rPr lang="en-US" sz="2200" dirty="0" smtClean="0">
                <a:hlinkClick r:id="rId5"/>
              </a:rPr>
              <a:t>https://</a:t>
            </a:r>
            <a:r>
              <a:rPr lang="en-US" sz="2200" smtClean="0">
                <a:hlinkClick r:id="rId5"/>
              </a:rPr>
              <a:t>skaffold.dev/docs/references/cli</a:t>
            </a:r>
            <a:r>
              <a:rPr lang="en-US" sz="2200" smtClean="0">
                <a:hlinkClick r:id="rId5"/>
              </a:rPr>
              <a:t>/</a:t>
            </a:r>
            <a:endParaRPr lang="en-US" sz="2200" dirty="0" smtClean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r>
              <a:rPr lang="en-US" sz="2400" dirty="0" smtClean="0"/>
              <a:t>Java, Maven, Netflix Ribbon, </a:t>
            </a:r>
            <a:r>
              <a:rPr lang="en-US" sz="2400" dirty="0" err="1" smtClean="0"/>
              <a:t>MariaDB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Kieker</a:t>
            </a:r>
            <a:r>
              <a:rPr lang="en-US" sz="2400" dirty="0" smtClean="0"/>
              <a:t>, </a:t>
            </a:r>
            <a:r>
              <a:rPr lang="en-US" sz="2400" dirty="0" err="1" smtClean="0"/>
              <a:t>OpenTracing</a:t>
            </a:r>
            <a:r>
              <a:rPr lang="en-US" sz="2400" dirty="0" smtClean="0"/>
              <a:t>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, LIMBO.</a:t>
            </a:r>
          </a:p>
          <a:p>
            <a:r>
              <a:rPr lang="en-US" sz="2400" dirty="0" err="1" smtClean="0"/>
              <a:t>JMeter</a:t>
            </a:r>
            <a:r>
              <a:rPr lang="en-US" sz="2400" dirty="0" smtClean="0"/>
              <a:t> and Locust.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https://istio.io/latest/docs/examples/bookinfo/</a:t>
            </a:r>
            <a:endParaRPr lang="en-US" sz="2400" dirty="0" smtClean="0"/>
          </a:p>
          <a:p>
            <a:r>
              <a:rPr lang="en-US" sz="2400" dirty="0" smtClean="0"/>
              <a:t>Python, Ruby, Java.</a:t>
            </a:r>
          </a:p>
          <a:p>
            <a:r>
              <a:rPr lang="en-US" sz="2400" dirty="0" smtClean="0"/>
              <a:t>Node.js.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and </a:t>
            </a:r>
            <a:r>
              <a:rPr lang="en-US" sz="2400" dirty="0" err="1" smtClean="0"/>
              <a:t>Istio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r>
              <a:rPr lang="en-US" dirty="0" smtClean="0"/>
              <a:t> and </a:t>
            </a:r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r>
              <a:rPr lang="en-US" sz="2400" dirty="0" smtClean="0"/>
              <a:t>A Java, Maven, WAR-based </a:t>
            </a:r>
            <a:r>
              <a:rPr lang="en-US" sz="2400" b="1" dirty="0" smtClean="0"/>
              <a:t>monolithic</a:t>
            </a:r>
            <a:r>
              <a:rPr lang="en-US" sz="2400" dirty="0" smtClean="0"/>
              <a:t> web application using </a:t>
            </a:r>
            <a:r>
              <a:rPr lang="en-US" sz="2400" dirty="0" err="1" smtClean="0"/>
              <a:t>MyBatis</a:t>
            </a:r>
            <a:r>
              <a:rPr lang="en-US" sz="2400" dirty="0" smtClean="0"/>
              <a:t> 3, Spring, Stripes, JSP, HSQLDB, SQL, XML configuration,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Actions.</a:t>
            </a:r>
          </a:p>
          <a:p>
            <a:r>
              <a:rPr lang="en-US" sz="2400" dirty="0" smtClean="0">
                <a:hlinkClick r:id="rId3"/>
              </a:rPr>
              <a:t>https://github.com/spring-petclinic/spring-petclinic-microservices</a:t>
            </a:r>
            <a:endParaRPr lang="en-US" sz="2400" dirty="0" smtClean="0"/>
          </a:p>
          <a:p>
            <a:r>
              <a:rPr lang="en-US" sz="2400" dirty="0" smtClean="0"/>
              <a:t>Java Spring Boot, Spring Cloud Gateway, Eureka, Spring Cloud </a:t>
            </a:r>
            <a:r>
              <a:rPr lang="en-US" sz="2400" dirty="0" err="1" smtClean="0"/>
              <a:t>Config</a:t>
            </a:r>
            <a:r>
              <a:rPr lang="en-US" sz="2400" dirty="0" smtClean="0"/>
              <a:t>, Resilience4j, Micrometer, </a:t>
            </a:r>
            <a:r>
              <a:rPr lang="en-US" sz="2400" dirty="0" err="1" smtClean="0"/>
              <a:t>OpenTelemetry</a:t>
            </a:r>
            <a:r>
              <a:rPr lang="en-US" sz="2400" dirty="0" smtClean="0"/>
              <a:t>, </a:t>
            </a:r>
            <a:r>
              <a:rPr lang="en-US" sz="2400" dirty="0" err="1" smtClean="0"/>
              <a:t>Zipkin</a:t>
            </a:r>
            <a:r>
              <a:rPr lang="en-US" sz="2400" dirty="0" smtClean="0"/>
              <a:t>, Prometheus, </a:t>
            </a:r>
            <a:r>
              <a:rPr lang="en-US" sz="2400" dirty="0" err="1" smtClean="0"/>
              <a:t>Grafana</a:t>
            </a:r>
            <a:r>
              <a:rPr lang="en-US" sz="2400" dirty="0" smtClean="0"/>
              <a:t>, </a:t>
            </a:r>
            <a:r>
              <a:rPr lang="en-US" sz="2400" dirty="0" err="1" smtClean="0"/>
              <a:t>AngularJS</a:t>
            </a:r>
            <a:r>
              <a:rPr lang="en-US" sz="2400" dirty="0" smtClean="0"/>
              <a:t>, HSQLDB/</a:t>
            </a:r>
            <a:r>
              <a:rPr lang="en-US" sz="2400" dirty="0" err="1" smtClean="0"/>
              <a:t>MySQL</a:t>
            </a:r>
            <a:r>
              <a:rPr lang="en-US" sz="2400" dirty="0" smtClean="0"/>
              <a:t>, Maven,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/</a:t>
            </a:r>
            <a:r>
              <a:rPr lang="en-US" sz="2400" dirty="0" err="1" smtClean="0"/>
              <a:t>Podman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JMeter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r>
              <a:rPr lang="en-US" sz="2400" dirty="0" smtClean="0"/>
              <a:t>Spring Boot, Go, Node.js,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r>
              <a:rPr lang="en-US" sz="2400" dirty="0" smtClean="0"/>
              <a:t>A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benchmark factory: it generates configurable dummy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applications and deploys them on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24108</TotalTime>
  <Words>2037</Words>
  <Application>Microsoft Office PowerPoint</Application>
  <PresentationFormat>On-screen Show (4:3)</PresentationFormat>
  <Paragraphs>171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Monolith vs. Microservices: Key Architectural Differences</vt:lpstr>
      <vt:lpstr>Slide 22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29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38</vt:lpstr>
      <vt:lpstr>DeathStarBench</vt:lpstr>
      <vt:lpstr>Online Boutique</vt:lpstr>
      <vt:lpstr>TeaStore</vt:lpstr>
      <vt:lpstr>Bookinfo</vt:lpstr>
      <vt:lpstr>JPetStore and PetClinic</vt:lpstr>
      <vt:lpstr>Sock Shop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5613</cp:revision>
  <dcterms:created xsi:type="dcterms:W3CDTF">2007-10-06T08:25:13Z</dcterms:created>
  <dcterms:modified xsi:type="dcterms:W3CDTF">2026-07-07T14:36:31Z</dcterms:modified>
</cp:coreProperties>
</file>