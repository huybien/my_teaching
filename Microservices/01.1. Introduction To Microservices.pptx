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83" r:id="rId15"/>
    <p:sldId id="612" r:id="rId16"/>
    <p:sldId id="665" r:id="rId17"/>
    <p:sldId id="585" r:id="rId18"/>
    <p:sldId id="668" r:id="rId19"/>
    <p:sldId id="681" r:id="rId20"/>
    <p:sldId id="682" r:id="rId21"/>
    <p:sldId id="695" r:id="rId22"/>
    <p:sldId id="666" r:id="rId23"/>
    <p:sldId id="669" r:id="rId24"/>
    <p:sldId id="595" r:id="rId25"/>
    <p:sldId id="679" r:id="rId26"/>
    <p:sldId id="602" r:id="rId27"/>
    <p:sldId id="603" r:id="rId28"/>
    <p:sldId id="604" r:id="rId29"/>
    <p:sldId id="670" r:id="rId30"/>
    <p:sldId id="671" r:id="rId31"/>
    <p:sldId id="672" r:id="rId32"/>
    <p:sldId id="673" r:id="rId33"/>
    <p:sldId id="674" r:id="rId34"/>
    <p:sldId id="675" r:id="rId35"/>
    <p:sldId id="676" r:id="rId36"/>
    <p:sldId id="677" r:id="rId37"/>
    <p:sldId id="678" r:id="rId38"/>
    <p:sldId id="684" r:id="rId39"/>
    <p:sldId id="685" r:id="rId40"/>
    <p:sldId id="686" r:id="rId41"/>
    <p:sldId id="688" r:id="rId42"/>
    <p:sldId id="689" r:id="rId43"/>
    <p:sldId id="692" r:id="rId44"/>
    <p:sldId id="694" r:id="rId45"/>
    <p:sldId id="693" r:id="rId46"/>
    <p:sldId id="516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limitrou/DeathStarBench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ooglecloudplatform/microservices-demo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scartesresearch/teastor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istio.io/latest/docs/examples/bookinfo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pring-petclinic/spring-petclinic-microservices" TargetMode="External"/><Relationship Id="rId2" Type="http://schemas.openxmlformats.org/officeDocument/2006/relationships/hyperlink" Target="https://github.com/mybatis/jpetstore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cp-power-demos/sock-shop-demo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SvcBench/muBench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 vs. </a:t>
            </a:r>
            <a:r>
              <a:rPr lang="en-US" dirty="0" err="1" smtClean="0"/>
              <a:t>Microservices</a:t>
            </a:r>
            <a:r>
              <a:rPr lang="en-US" dirty="0" smtClean="0"/>
              <a:t>: Key Architectural Differences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Multiple back-end processes.</a:t>
            </a:r>
          </a:p>
          <a:p>
            <a:r>
              <a:rPr lang="en-US" dirty="0" smtClean="0"/>
              <a:t>Multiple separate databases.</a:t>
            </a:r>
          </a:p>
          <a:p>
            <a:r>
              <a:rPr lang="en-US" dirty="0" smtClean="0"/>
              <a:t>Independent deployment of back-ends and databases.</a:t>
            </a:r>
          </a:p>
          <a:p>
            <a:r>
              <a:rPr lang="en-US" dirty="0" smtClean="0"/>
              <a:t>One front-end. (Possible multiple micro-frontends</a:t>
            </a:r>
            <a:r>
              <a:rPr lang="en-US" dirty="0" smtClean="0"/>
              <a:t>.)</a:t>
            </a:r>
          </a:p>
          <a:p>
            <a:r>
              <a:rPr lang="en-US" dirty="0" smtClean="0"/>
              <a:t>Possible API gateways.</a:t>
            </a:r>
            <a:endParaRPr lang="en-US" dirty="0" smtClean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(My 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DeathStarBench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smtClean="0"/>
              <a:t>Yu </a:t>
            </a:r>
            <a:r>
              <a:rPr lang="en-US" sz="2200" b="1" dirty="0" err="1" smtClean="0"/>
              <a:t>Gan</a:t>
            </a:r>
            <a:r>
              <a:rPr lang="en-US" sz="2200" b="1" dirty="0" smtClean="0"/>
              <a:t> et al. (2019). An Open-Source Benchmark Suite for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and Their Hardware-Software Implications for Cloud &amp; Edge Systems.</a:t>
            </a:r>
          </a:p>
          <a:p>
            <a:r>
              <a:rPr lang="en-US" sz="2200" dirty="0" smtClean="0">
                <a:hlinkClick r:id="rId2"/>
              </a:rPr>
              <a:t>https://github.com/delimitrou/DeathStarBench</a:t>
            </a:r>
            <a:endParaRPr lang="en-US" sz="2200" dirty="0" smtClean="0"/>
          </a:p>
          <a:p>
            <a:r>
              <a:rPr lang="en-US" sz="2200" b="1" dirty="0" smtClean="0"/>
              <a:t>Social Network</a:t>
            </a:r>
            <a:r>
              <a:rPr lang="en-US" sz="2200" dirty="0" smtClean="0"/>
              <a:t>: C++, Apache Thrift RPC, </a:t>
            </a:r>
            <a:r>
              <a:rPr lang="en-US" sz="2200" dirty="0" err="1" smtClean="0"/>
              <a:t>Lua</a:t>
            </a:r>
            <a:r>
              <a:rPr lang="en-US" sz="2200" dirty="0" smtClean="0"/>
              <a:t>/</a:t>
            </a:r>
            <a:r>
              <a:rPr lang="en-US" sz="2200" dirty="0" err="1" smtClean="0"/>
              <a:t>OpenResty</a:t>
            </a:r>
            <a:r>
              <a:rPr lang="en-US" sz="2200" dirty="0" smtClean="0"/>
              <a:t> frontend,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Redis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RabbitMQ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Compose,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Swarm, Jaeger, Python init scripts.</a:t>
            </a:r>
          </a:p>
          <a:p>
            <a:r>
              <a:rPr lang="en-US" sz="2200" b="1" dirty="0" smtClean="0"/>
              <a:t>Hotel Reservation: </a:t>
            </a:r>
            <a:r>
              <a:rPr lang="en-US" sz="2200" dirty="0" smtClean="0"/>
              <a:t>Go,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OpenShift</a:t>
            </a:r>
            <a:r>
              <a:rPr lang="en-US" sz="2200" dirty="0" smtClean="0"/>
              <a:t>, Helm, Consul, </a:t>
            </a:r>
            <a:r>
              <a:rPr lang="en-US" sz="2200" dirty="0" err="1" smtClean="0"/>
              <a:t>OpenTracing</a:t>
            </a:r>
            <a:r>
              <a:rPr lang="en-US" sz="2200" dirty="0" smtClean="0"/>
              <a:t>, Jaeger.</a:t>
            </a:r>
            <a:endParaRPr lang="en-US" sz="2200" b="1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https://github.com/googlecloudplatform/microservices-demo</a:t>
            </a:r>
            <a:endParaRPr lang="en-US" sz="2400" dirty="0" smtClean="0"/>
          </a:p>
          <a:p>
            <a:r>
              <a:rPr lang="en-US" sz="2400" dirty="0" smtClean="0"/>
              <a:t>Go, Python, C#, Node.js, </a:t>
            </a:r>
            <a:r>
              <a:rPr lang="en-US" sz="2400" dirty="0" err="1" smtClean="0"/>
              <a:t>gRPC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Skaffold</a:t>
            </a:r>
            <a:r>
              <a:rPr lang="en-US" sz="2400" dirty="0" smtClean="0"/>
              <a:t>, </a:t>
            </a:r>
            <a:r>
              <a:rPr lang="en-US" sz="2400" dirty="0" err="1" smtClean="0"/>
              <a:t>Kustomize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Terraform</a:t>
            </a:r>
            <a:r>
              <a:rPr lang="en-US" sz="2400" dirty="0" smtClean="0"/>
              <a:t>, GKE,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and </a:t>
            </a:r>
            <a:r>
              <a:rPr lang="en-US" sz="2400" dirty="0" err="1" smtClean="0"/>
              <a:t>Redis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TeaStore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(2018). </a:t>
            </a:r>
            <a:r>
              <a:rPr lang="en-US" sz="2400" dirty="0" err="1" smtClean="0"/>
              <a:t>TeaStore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https://github.com/descartesresearch/teastore</a:t>
            </a:r>
            <a:endParaRPr lang="en-US" sz="2400" dirty="0" smtClean="0"/>
          </a:p>
          <a:p>
            <a:r>
              <a:rPr lang="en-US" sz="2400" dirty="0" smtClean="0"/>
              <a:t>Java, Maven, Netflix Ribbon, </a:t>
            </a:r>
            <a:r>
              <a:rPr lang="en-US" sz="2400" dirty="0" err="1" smtClean="0"/>
              <a:t>MariaDB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Kieker</a:t>
            </a:r>
            <a:r>
              <a:rPr lang="en-US" sz="2400" dirty="0" smtClean="0"/>
              <a:t>, </a:t>
            </a:r>
            <a:r>
              <a:rPr lang="en-US" sz="2400" dirty="0" err="1" smtClean="0"/>
              <a:t>OpenTracing</a:t>
            </a:r>
            <a:r>
              <a:rPr lang="en-US" sz="2400" dirty="0" smtClean="0"/>
              <a:t>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, LIMBO.</a:t>
            </a:r>
          </a:p>
          <a:p>
            <a:r>
              <a:rPr lang="en-US" sz="2400" dirty="0" err="1" smtClean="0"/>
              <a:t>JMeter</a:t>
            </a:r>
            <a:r>
              <a:rPr lang="en-US" sz="2400" dirty="0" smtClean="0"/>
              <a:t> and Locust.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Bookinfo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https://istio.io/latest/docs/examples/bookinfo/</a:t>
            </a:r>
            <a:endParaRPr lang="en-US" sz="2400" dirty="0" smtClean="0"/>
          </a:p>
          <a:p>
            <a:r>
              <a:rPr lang="en-US" sz="2400" dirty="0" smtClean="0"/>
              <a:t>Python, Ruby, Java.</a:t>
            </a:r>
          </a:p>
          <a:p>
            <a:r>
              <a:rPr lang="en-US" sz="2400" dirty="0" smtClean="0"/>
              <a:t>Node.js.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and </a:t>
            </a:r>
            <a:r>
              <a:rPr lang="en-US" sz="2400" dirty="0" err="1" smtClean="0"/>
              <a:t>Istio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JPetStore</a:t>
            </a:r>
            <a:r>
              <a:rPr lang="en-US" dirty="0" smtClean="0"/>
              <a:t> and </a:t>
            </a:r>
            <a:r>
              <a:rPr lang="en-US" dirty="0" err="1" smtClean="0"/>
              <a:t>PetClinic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https://github.com/mybatis/jpetstore-6</a:t>
            </a:r>
            <a:endParaRPr lang="en-US" sz="2400" dirty="0" smtClean="0"/>
          </a:p>
          <a:p>
            <a:r>
              <a:rPr lang="en-US" sz="2400" dirty="0" smtClean="0"/>
              <a:t>A Java, Maven, WAR-based </a:t>
            </a:r>
            <a:r>
              <a:rPr lang="en-US" sz="2400" b="1" dirty="0" smtClean="0"/>
              <a:t>monolithic</a:t>
            </a:r>
            <a:r>
              <a:rPr lang="en-US" sz="2400" dirty="0" smtClean="0"/>
              <a:t> web application using </a:t>
            </a:r>
            <a:r>
              <a:rPr lang="en-US" sz="2400" dirty="0" err="1" smtClean="0"/>
              <a:t>MyBatis</a:t>
            </a:r>
            <a:r>
              <a:rPr lang="en-US" sz="2400" dirty="0" smtClean="0"/>
              <a:t> 3, Spring, Stripes, JSP, HSQLDB, SQL, XML configuration,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GitHub</a:t>
            </a:r>
            <a:r>
              <a:rPr lang="en-US" sz="2400" dirty="0" smtClean="0"/>
              <a:t> Actions.</a:t>
            </a:r>
          </a:p>
          <a:p>
            <a:r>
              <a:rPr lang="en-US" sz="2400" dirty="0" smtClean="0">
                <a:hlinkClick r:id="rId3"/>
              </a:rPr>
              <a:t>https</a:t>
            </a:r>
            <a:r>
              <a:rPr lang="en-US" sz="2400" dirty="0" smtClean="0">
                <a:hlinkClick r:id="rId3"/>
              </a:rPr>
              <a:t>://github.com/spring-petclinic/spring-petclinic-microservices</a:t>
            </a:r>
            <a:endParaRPr lang="en-US" sz="2400" dirty="0" smtClean="0"/>
          </a:p>
          <a:p>
            <a:r>
              <a:rPr lang="en-US" sz="2400" dirty="0" smtClean="0"/>
              <a:t>Java Spring </a:t>
            </a:r>
            <a:r>
              <a:rPr lang="en-US" sz="2400" dirty="0" smtClean="0"/>
              <a:t>Boot, </a:t>
            </a:r>
            <a:r>
              <a:rPr lang="en-US" sz="2400" dirty="0" smtClean="0"/>
              <a:t>Spring Cloud Gateway, Eureka, Spring Cloud </a:t>
            </a:r>
            <a:r>
              <a:rPr lang="en-US" sz="2400" dirty="0" err="1" smtClean="0"/>
              <a:t>Config</a:t>
            </a:r>
            <a:r>
              <a:rPr lang="en-US" sz="2400" dirty="0" smtClean="0"/>
              <a:t>, Resilience4j, Micrometer, </a:t>
            </a:r>
            <a:r>
              <a:rPr lang="en-US" sz="2400" dirty="0" err="1" smtClean="0"/>
              <a:t>OpenTelemetry</a:t>
            </a:r>
            <a:r>
              <a:rPr lang="en-US" sz="2400" dirty="0" smtClean="0"/>
              <a:t>, </a:t>
            </a:r>
            <a:r>
              <a:rPr lang="en-US" sz="2400" dirty="0" err="1" smtClean="0"/>
              <a:t>Zipkin</a:t>
            </a:r>
            <a:r>
              <a:rPr lang="en-US" sz="2400" dirty="0" smtClean="0"/>
              <a:t>, Prometheus, </a:t>
            </a:r>
            <a:r>
              <a:rPr lang="en-US" sz="2400" dirty="0" err="1" smtClean="0"/>
              <a:t>Grafana</a:t>
            </a:r>
            <a:r>
              <a:rPr lang="en-US" sz="2400" dirty="0" smtClean="0"/>
              <a:t>, </a:t>
            </a:r>
            <a:r>
              <a:rPr lang="en-US" sz="2400" dirty="0" err="1" smtClean="0"/>
              <a:t>AngularJS</a:t>
            </a:r>
            <a:r>
              <a:rPr lang="en-US" sz="2400" dirty="0" smtClean="0"/>
              <a:t>, HSQLDB/</a:t>
            </a:r>
            <a:r>
              <a:rPr lang="en-US" sz="2400" dirty="0" err="1" smtClean="0"/>
              <a:t>MySQL</a:t>
            </a:r>
            <a:r>
              <a:rPr lang="en-US" sz="2400" dirty="0" smtClean="0"/>
              <a:t>, Maven,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/</a:t>
            </a:r>
            <a:r>
              <a:rPr lang="en-US" sz="2400" dirty="0" err="1" smtClean="0"/>
              <a:t>Podman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JMeter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Sock Shop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https://github.com/ocp-power-demos/sock-shop-demo</a:t>
            </a:r>
            <a:endParaRPr lang="en-US" sz="2400" dirty="0" smtClean="0"/>
          </a:p>
          <a:p>
            <a:r>
              <a:rPr lang="en-US" sz="2400" dirty="0" smtClean="0"/>
              <a:t>Spring Boot, Go, Node.js, </a:t>
            </a:r>
            <a:r>
              <a:rPr lang="en-US" sz="2400" dirty="0" err="1" smtClean="0"/>
              <a:t>MongoDB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OpenShift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µBench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https://github.com/mSvcBench/muBench</a:t>
            </a:r>
            <a:endParaRPr lang="en-US" sz="2400" dirty="0" smtClean="0"/>
          </a:p>
          <a:p>
            <a:r>
              <a:rPr lang="en-US" sz="2400" dirty="0" smtClean="0"/>
              <a:t>A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benchmark factory: it generates configurable dummy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applications and deploys them on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24018</TotalTime>
  <Words>2003</Words>
  <Application>Microsoft Office PowerPoint</Application>
  <PresentationFormat>On-screen Show (4:3)</PresentationFormat>
  <Paragraphs>164</Paragraphs>
  <Slides>46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Slide 14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Monolith vs. Microservices: Key Architectural Differences</vt:lpstr>
      <vt:lpstr>Slide 22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29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Slide 38</vt:lpstr>
      <vt:lpstr>DeathStarBench</vt:lpstr>
      <vt:lpstr>Online Boutique</vt:lpstr>
      <vt:lpstr>TeaStore</vt:lpstr>
      <vt:lpstr>Bookinfo</vt:lpstr>
      <vt:lpstr>JPetStore and PetClinic</vt:lpstr>
      <vt:lpstr>Sock Shop</vt:lpstr>
      <vt:lpstr>µBench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5595</cp:revision>
  <dcterms:created xsi:type="dcterms:W3CDTF">2007-10-06T08:25:13Z</dcterms:created>
  <dcterms:modified xsi:type="dcterms:W3CDTF">2026-07-07T12:25:58Z</dcterms:modified>
</cp:coreProperties>
</file>