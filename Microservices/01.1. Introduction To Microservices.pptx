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8"/>
  </p:notesMasterIdLst>
  <p:sldIdLst>
    <p:sldId id="658" r:id="rId2"/>
    <p:sldId id="646" r:id="rId3"/>
    <p:sldId id="647" r:id="rId4"/>
    <p:sldId id="517" r:id="rId5"/>
    <p:sldId id="622" r:id="rId6"/>
    <p:sldId id="623" r:id="rId7"/>
    <p:sldId id="661" r:id="rId8"/>
    <p:sldId id="610" r:id="rId9"/>
    <p:sldId id="611" r:id="rId10"/>
    <p:sldId id="663" r:id="rId11"/>
    <p:sldId id="626" r:id="rId12"/>
    <p:sldId id="662" r:id="rId13"/>
    <p:sldId id="628" r:id="rId14"/>
    <p:sldId id="683" r:id="rId15"/>
    <p:sldId id="612" r:id="rId16"/>
    <p:sldId id="665" r:id="rId17"/>
    <p:sldId id="585" r:id="rId18"/>
    <p:sldId id="668" r:id="rId19"/>
    <p:sldId id="681" r:id="rId20"/>
    <p:sldId id="682" r:id="rId21"/>
    <p:sldId id="666" r:id="rId22"/>
    <p:sldId id="669" r:id="rId23"/>
    <p:sldId id="595" r:id="rId24"/>
    <p:sldId id="679" r:id="rId25"/>
    <p:sldId id="602" r:id="rId26"/>
    <p:sldId id="603" r:id="rId27"/>
    <p:sldId id="604" r:id="rId28"/>
    <p:sldId id="670" r:id="rId29"/>
    <p:sldId id="671" r:id="rId30"/>
    <p:sldId id="672" r:id="rId31"/>
    <p:sldId id="673" r:id="rId32"/>
    <p:sldId id="674" r:id="rId33"/>
    <p:sldId id="675" r:id="rId34"/>
    <p:sldId id="676" r:id="rId35"/>
    <p:sldId id="677" r:id="rId36"/>
    <p:sldId id="678" r:id="rId37"/>
    <p:sldId id="684" r:id="rId38"/>
    <p:sldId id="685" r:id="rId39"/>
    <p:sldId id="686" r:id="rId40"/>
    <p:sldId id="688" r:id="rId41"/>
    <p:sldId id="689" r:id="rId42"/>
    <p:sldId id="690" r:id="rId43"/>
    <p:sldId id="691" r:id="rId44"/>
    <p:sldId id="692" r:id="rId45"/>
    <p:sldId id="693" r:id="rId46"/>
    <p:sldId id="516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34" autoAdjust="0"/>
    <p:restoredTop sz="86318" autoAdjust="0"/>
  </p:normalViewPr>
  <p:slideViewPr>
    <p:cSldViewPr>
      <p:cViewPr>
        <p:scale>
          <a:sx n="50" d="100"/>
          <a:sy n="50" d="100"/>
        </p:scale>
        <p:origin x="-1534" y="-2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articles/microservice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articles/microservice-trade-offs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bliki/MonolithFirst.html" TargetMode="External"/><Relationship Id="rId2" Type="http://schemas.openxmlformats.org/officeDocument/2006/relationships/hyperlink" Target="https://martinfowler.com/bliki/MicroservicePremium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bliki/MonolithFirst.html" TargetMode="External"/><Relationship Id="rId2" Type="http://schemas.openxmlformats.org/officeDocument/2006/relationships/hyperlink" Target="https://martinfowler.com/bliki/MicroservicePremium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philcalcado.com/2015/09/08/how_we_ended_up_with_microservices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limitrou/DeathStarBench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cloudplatform/microservices-demo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scartesresearch/teastore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istio.io/latest/docs/examples/bookinfo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cp-power-demos/sock-shop-demo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ybatis/jpetstore-6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pring-petclinic/spring-petclinic-microservices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SvcBench/muBench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Introduction to </a:t>
            </a:r>
            <a:r>
              <a:rPr lang="en-US" sz="6000" dirty="0" err="1" smtClean="0"/>
              <a:t>Microservices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decide </a:t>
            </a:r>
            <a:r>
              <a:rPr lang="en-US" sz="2400" u="sng" dirty="0" smtClean="0"/>
              <a:t>whether</a:t>
            </a:r>
            <a:r>
              <a:rPr lang="en-US" sz="2400" dirty="0" smtClean="0"/>
              <a:t> to apply </a:t>
            </a:r>
            <a:r>
              <a:rPr lang="en-US" sz="2400" i="1" dirty="0" err="1" smtClean="0">
                <a:solidFill>
                  <a:srgbClr val="C00000"/>
                </a:solidFill>
              </a:rPr>
              <a:t>micorservice</a:t>
            </a:r>
            <a:r>
              <a:rPr lang="en-US" sz="2400" i="1" dirty="0" smtClean="0">
                <a:solidFill>
                  <a:srgbClr val="C00000"/>
                </a:solidFill>
              </a:rPr>
              <a:t> architecture</a:t>
            </a:r>
            <a:r>
              <a:rPr lang="en-US" sz="2400" dirty="0" smtClean="0"/>
              <a:t> to develop a software system.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Terminologies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Monolithic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Service-Oriented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Microservices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hlinkClick r:id="rId3"/>
              </a:rPr>
              <a:t>https://martinfowler.com/articles/microservices.html</a:t>
            </a:r>
            <a:endParaRPr lang="en-US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Cloves </a:t>
            </a:r>
            <a:r>
              <a:rPr lang="en-US" sz="2200" dirty="0" err="1" smtClean="0"/>
              <a:t>Carneiro</a:t>
            </a:r>
            <a:r>
              <a:rPr lang="en-US" sz="2200" dirty="0" smtClean="0"/>
              <a:t> and Tim </a:t>
            </a:r>
            <a:r>
              <a:rPr lang="en-US" sz="2200" dirty="0" err="1" smtClean="0"/>
              <a:t>Schmelmer</a:t>
            </a:r>
            <a:r>
              <a:rPr lang="en-US" sz="2200" dirty="0" smtClean="0"/>
              <a:t> (2016).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From Day One. </a:t>
            </a:r>
            <a:r>
              <a:rPr lang="en-US" sz="2200" dirty="0" err="1" smtClean="0"/>
              <a:t>Apress</a:t>
            </a:r>
            <a:r>
              <a:rPr lang="en-US" sz="22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Sam Newman (2021). Building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- Designing Fine-Grained Systems. O'Reilly.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Terminologies (I) [1, 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define </a:t>
            </a:r>
            <a:r>
              <a:rPr lang="en-US" sz="2400" dirty="0" smtClean="0">
                <a:solidFill>
                  <a:srgbClr val="C00000"/>
                </a:solidFill>
              </a:rPr>
              <a:t>libraries</a:t>
            </a:r>
            <a:r>
              <a:rPr lang="en-US" sz="2400" dirty="0" smtClean="0"/>
              <a:t> as components that are linked into a program and called using </a:t>
            </a:r>
            <a:r>
              <a:rPr lang="en-US" sz="2400" u="sng" dirty="0" smtClean="0"/>
              <a:t>in-memory function calls</a:t>
            </a:r>
            <a:r>
              <a:rPr lang="en-US" sz="2400" dirty="0" smtClean="0"/>
              <a:t>, while </a:t>
            </a:r>
            <a:r>
              <a:rPr lang="en-US" sz="2400" dirty="0" smtClean="0">
                <a:solidFill>
                  <a:srgbClr val="C00000"/>
                </a:solidFill>
              </a:rPr>
              <a:t>services</a:t>
            </a:r>
            <a:r>
              <a:rPr lang="en-US" sz="2400" dirty="0" smtClean="0"/>
              <a:t> are </a:t>
            </a:r>
            <a:r>
              <a:rPr lang="en-US" sz="2400" u="sng" dirty="0" smtClean="0"/>
              <a:t>out-of-process</a:t>
            </a:r>
            <a:r>
              <a:rPr lang="en-US" sz="2400" dirty="0" smtClean="0"/>
              <a:t> components who communicate with a mechanism such as a web service request, or remote procedure call.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component</a:t>
            </a:r>
            <a:r>
              <a:rPr lang="en-US" sz="2400" dirty="0" smtClean="0"/>
              <a:t> (</a:t>
            </a:r>
            <a:r>
              <a:rPr lang="en-US" sz="2400" i="1" dirty="0" smtClean="0">
                <a:solidFill>
                  <a:srgbClr val="C00000"/>
                </a:solidFill>
              </a:rPr>
              <a:t>module</a:t>
            </a:r>
            <a:r>
              <a:rPr lang="en-US" sz="2400" dirty="0" smtClean="0"/>
              <a:t>) is </a:t>
            </a:r>
            <a:r>
              <a:rPr lang="en-US" sz="2400" u="sng" dirty="0" smtClean="0"/>
              <a:t>a unit</a:t>
            </a:r>
            <a:r>
              <a:rPr lang="en-US" sz="2400" dirty="0" smtClean="0"/>
              <a:t> of software that is independently </a:t>
            </a:r>
            <a:r>
              <a:rPr lang="en-US" sz="2400" u="sng" dirty="0" smtClean="0"/>
              <a:t>replaceable</a:t>
            </a:r>
            <a:r>
              <a:rPr lang="en-US" sz="2400" dirty="0" smtClean="0"/>
              <a:t> and </a:t>
            </a:r>
            <a:r>
              <a:rPr lang="en-US" sz="2400" u="sng" dirty="0" smtClean="0"/>
              <a:t>upgradeable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What is a </a:t>
            </a:r>
            <a:r>
              <a:rPr lang="en-US" sz="2400" dirty="0" smtClean="0">
                <a:solidFill>
                  <a:srgbClr val="C00000"/>
                </a:solidFill>
              </a:rPr>
              <a:t>service</a:t>
            </a:r>
            <a:r>
              <a:rPr lang="en-US" sz="2400" dirty="0" smtClean="0"/>
              <a:t>?</a:t>
            </a:r>
          </a:p>
          <a:p>
            <a:pPr lvl="1"/>
            <a:r>
              <a:rPr lang="en-US" sz="2400" dirty="0" smtClean="0"/>
              <a:t>“a system supplying a public need.”</a:t>
            </a:r>
          </a:p>
          <a:p>
            <a:pPr lvl="1"/>
            <a:r>
              <a:rPr lang="en-US" sz="2400" dirty="0" smtClean="0"/>
              <a:t>a service consists of a piece of </a:t>
            </a:r>
            <a:r>
              <a:rPr lang="en-US" sz="2400" dirty="0" smtClean="0">
                <a:solidFill>
                  <a:srgbClr val="C00000"/>
                </a:solidFill>
              </a:rPr>
              <a:t>functionality</a:t>
            </a:r>
            <a:r>
              <a:rPr lang="en-US" sz="2400" dirty="0" smtClean="0"/>
              <a:t> and its </a:t>
            </a:r>
            <a:r>
              <a:rPr lang="en-US" sz="2400" dirty="0" smtClean="0">
                <a:solidFill>
                  <a:srgbClr val="C00000"/>
                </a:solidFill>
              </a:rPr>
              <a:t>associated set of data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Terminologies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Service-oriented architecture</a:t>
            </a:r>
          </a:p>
          <a:p>
            <a:pPr lvl="1"/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principle</a:t>
            </a:r>
            <a:r>
              <a:rPr lang="en-US" sz="2400" dirty="0" smtClean="0"/>
              <a:t> in which there is a bias to build systems through separately implemented, deployed, evolving, and maintained services.</a:t>
            </a:r>
          </a:p>
          <a:p>
            <a:pPr lvl="1"/>
            <a:r>
              <a:rPr lang="en-US" sz="2400" dirty="0" smtClean="0"/>
              <a:t>In a set-up like that, any client-facing “front-end” applications then solely rely on a </a:t>
            </a:r>
            <a:r>
              <a:rPr lang="en-US" sz="2400" i="1" dirty="0" smtClean="0">
                <a:solidFill>
                  <a:srgbClr val="C00000"/>
                </a:solidFill>
              </a:rPr>
              <a:t>set of (back-end) services</a:t>
            </a:r>
            <a:r>
              <a:rPr lang="en-US" sz="2400" dirty="0" smtClean="0"/>
              <a:t> which expose the functionalities that the front-end applications consume in order to do their jobs.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monolith</a:t>
            </a:r>
            <a:r>
              <a:rPr lang="en-US" sz="2000" dirty="0" smtClean="0"/>
              <a:t> – a single logical executable.</a:t>
            </a:r>
          </a:p>
          <a:p>
            <a:r>
              <a:rPr lang="en-US" sz="2000" dirty="0" smtClean="0"/>
              <a:t>At </a:t>
            </a:r>
            <a:r>
              <a:rPr lang="en-US" sz="2000" i="1" dirty="0" smtClean="0">
                <a:solidFill>
                  <a:srgbClr val="C00000"/>
                </a:solidFill>
              </a:rPr>
              <a:t>run time</a:t>
            </a:r>
            <a:r>
              <a:rPr lang="en-US" sz="2000" dirty="0" smtClean="0"/>
              <a:t>, all components will come together and run as one “process”.</a:t>
            </a:r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743200"/>
            <a:ext cx="3279775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33400" y="4800600"/>
            <a:ext cx="7543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Technology dependency.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Deployment dependency.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Features availability dependency.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000" dirty="0" smtClean="0">
                <a:latin typeface="+mn-lt"/>
              </a:rPr>
              <a:t>Large codebase (slow build, large team, complex design).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590800"/>
            <a:ext cx="3514725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181600" y="5105400"/>
            <a:ext cx="335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Difficult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horizontal</a:t>
            </a:r>
            <a:r>
              <a:rPr lang="en-US" sz="2000" dirty="0" smtClean="0">
                <a:latin typeface="+mn-lt"/>
              </a:rPr>
              <a:t> scaling.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Use Shared Libraries?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library typically has to be in </a:t>
            </a:r>
            <a:r>
              <a:rPr lang="en-US" sz="2400" i="1" dirty="0" smtClean="0">
                <a:solidFill>
                  <a:srgbClr val="C00000"/>
                </a:solidFill>
              </a:rPr>
              <a:t>the same language</a:t>
            </a:r>
            <a:r>
              <a:rPr lang="en-US" sz="2400" dirty="0" smtClean="0"/>
              <a:t>, or at the very least run on the same platform.</a:t>
            </a:r>
          </a:p>
          <a:p>
            <a:r>
              <a:rPr lang="en-US" sz="2400" dirty="0" smtClean="0"/>
              <a:t>The ease with which you can </a:t>
            </a:r>
            <a:r>
              <a:rPr lang="en-US" sz="2400" i="1" dirty="0" smtClean="0">
                <a:solidFill>
                  <a:srgbClr val="C00000"/>
                </a:solidFill>
              </a:rPr>
              <a:t>scale parts of your system</a:t>
            </a:r>
            <a:r>
              <a:rPr lang="en-US" sz="2400" dirty="0" smtClean="0"/>
              <a:t> independently from each other is curtailed.</a:t>
            </a:r>
          </a:p>
          <a:p>
            <a:r>
              <a:rPr lang="en-US" sz="2400" dirty="0" smtClean="0"/>
              <a:t>Unless you’re using </a:t>
            </a:r>
            <a:r>
              <a:rPr lang="en-US" sz="2400" i="1" dirty="0" smtClean="0">
                <a:solidFill>
                  <a:srgbClr val="C00000"/>
                </a:solidFill>
              </a:rPr>
              <a:t>dynamically linked libraries</a:t>
            </a:r>
            <a:r>
              <a:rPr lang="en-US" sz="2400" dirty="0" smtClean="0"/>
              <a:t>, you cannot deploy a new library without redeploying the entire process, so your ability to deploy changes in isolation is reduced.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Use Modules?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are strictly </a:t>
            </a:r>
            <a:r>
              <a:rPr lang="en-US" sz="2400" i="1" dirty="0" smtClean="0">
                <a:solidFill>
                  <a:srgbClr val="C00000"/>
                </a:solidFill>
              </a:rPr>
              <a:t>limited in our ability to use new technologies</a:t>
            </a:r>
            <a:r>
              <a:rPr lang="en-US" sz="2400" dirty="0" smtClean="0"/>
              <a:t>, limited in how we can </a:t>
            </a:r>
            <a:r>
              <a:rPr lang="en-US" sz="2400" i="1" dirty="0" smtClean="0">
                <a:solidFill>
                  <a:srgbClr val="C00000"/>
                </a:solidFill>
              </a:rPr>
              <a:t>scale independently</a:t>
            </a:r>
            <a:r>
              <a:rPr lang="en-US" sz="2400" dirty="0" smtClean="0"/>
              <a:t>, can drift toward integration techniques that are overly coupling, and lack seams for architectural safety measures.</a:t>
            </a:r>
          </a:p>
          <a:p>
            <a:r>
              <a:rPr lang="en-US" sz="2400" dirty="0" smtClean="0"/>
              <a:t>Technically, it should be possible to create well-factored, independent modules within a single monolithic process. And yet we rarely see this happen.</a:t>
            </a:r>
          </a:p>
          <a:p>
            <a:r>
              <a:rPr lang="en-US" sz="2400" dirty="0" smtClean="0"/>
              <a:t>The modules themselves </a:t>
            </a:r>
            <a:r>
              <a:rPr lang="en-US" sz="2400" i="1" dirty="0" smtClean="0">
                <a:solidFill>
                  <a:srgbClr val="C00000"/>
                </a:solidFill>
              </a:rPr>
              <a:t>soon become tightly coupled</a:t>
            </a:r>
            <a:r>
              <a:rPr lang="en-US" sz="2400" dirty="0" smtClean="0"/>
              <a:t> with the rest of the code, surrendering one of their key benefits.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Service-Oriented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At run time, each component (“service”) will run as a </a:t>
            </a:r>
            <a:r>
              <a:rPr lang="en-US" sz="2000" i="1" dirty="0" smtClean="0">
                <a:solidFill>
                  <a:srgbClr val="C00000"/>
                </a:solidFill>
              </a:rPr>
              <a:t>separated “process”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Communication between these services occurs via calls </a:t>
            </a:r>
            <a:r>
              <a:rPr lang="en-US" sz="2000" i="1" dirty="0" smtClean="0">
                <a:solidFill>
                  <a:srgbClr val="C00000"/>
                </a:solidFill>
              </a:rPr>
              <a:t>across a network</a:t>
            </a:r>
            <a:r>
              <a:rPr lang="en-US" sz="2000" dirty="0" smtClean="0"/>
              <a:t> rather than method calls within a process boundary.</a:t>
            </a:r>
          </a:p>
          <a:p>
            <a:endParaRPr lang="en-US" sz="2000" dirty="0"/>
          </a:p>
        </p:txBody>
      </p:sp>
      <p:pic>
        <p:nvPicPr>
          <p:cNvPr id="4" name="Picture 2" descr="https://docs.oracle.com/cd/E23943_01/doc.1111/e10223/images/gs_soa_018_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5425" y="2809874"/>
            <a:ext cx="5895975" cy="3590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SOA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set of medium-size to large </a:t>
            </a:r>
            <a:r>
              <a:rPr lang="en-US" sz="2200" i="1" dirty="0" smtClean="0">
                <a:solidFill>
                  <a:srgbClr val="C00000"/>
                </a:solidFill>
              </a:rPr>
              <a:t>monolithic applications</a:t>
            </a:r>
            <a:r>
              <a:rPr lang="en-US" sz="2200" dirty="0" smtClean="0"/>
              <a:t>, </a:t>
            </a:r>
            <a:r>
              <a:rPr lang="en-US" sz="2200" u="sng" dirty="0" smtClean="0"/>
              <a:t>stitched together</a:t>
            </a:r>
            <a:r>
              <a:rPr lang="en-US" sz="2200" dirty="0" smtClean="0"/>
              <a:t> via expensive, and often complex, </a:t>
            </a:r>
            <a:r>
              <a:rPr lang="en-US" sz="2200" u="sng" dirty="0" smtClean="0"/>
              <a:t>enterprise service bus</a:t>
            </a:r>
            <a:r>
              <a:rPr lang="en-US" sz="2200" dirty="0" smtClean="0"/>
              <a:t> (ESB) solutions.</a:t>
            </a:r>
          </a:p>
          <a:p>
            <a:r>
              <a:rPr lang="en-US" sz="2200" dirty="0" smtClean="0"/>
              <a:t>Traditional SOAs advocate </a:t>
            </a:r>
            <a:r>
              <a:rPr lang="en-US" sz="2200" i="1" dirty="0" smtClean="0">
                <a:solidFill>
                  <a:srgbClr val="C00000"/>
                </a:solidFill>
              </a:rPr>
              <a:t>distributed objects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idea of distributed objects, which was very popular during the time when SOAs were first developed, is to try to </a:t>
            </a:r>
            <a:r>
              <a:rPr lang="en-US" sz="2200" u="sng" dirty="0" smtClean="0"/>
              <a:t>hide</a:t>
            </a:r>
            <a:r>
              <a:rPr lang="en-US" sz="2200" dirty="0" smtClean="0"/>
              <a:t> the difference between objects that live in the </a:t>
            </a:r>
            <a:r>
              <a:rPr lang="en-US" sz="2200" i="1" dirty="0" smtClean="0">
                <a:solidFill>
                  <a:srgbClr val="C00000"/>
                </a:solidFill>
              </a:rPr>
              <a:t>same process as the client code</a:t>
            </a:r>
            <a:r>
              <a:rPr lang="en-US" sz="2200" i="1" dirty="0" smtClean="0"/>
              <a:t>, </a:t>
            </a:r>
            <a:r>
              <a:rPr lang="en-US" sz="2200" dirty="0" smtClean="0"/>
              <a:t>or remotely in a </a:t>
            </a:r>
            <a:r>
              <a:rPr lang="en-US" sz="2200" i="1" dirty="0" smtClean="0">
                <a:solidFill>
                  <a:srgbClr val="C00000"/>
                </a:solidFill>
              </a:rPr>
              <a:t>different process</a:t>
            </a:r>
            <a:r>
              <a:rPr lang="en-US" sz="2200" i="1" dirty="0" smtClean="0"/>
              <a:t>— </a:t>
            </a:r>
            <a:r>
              <a:rPr lang="en-US" sz="2200" dirty="0" smtClean="0"/>
              <a:t>whether that is running on the same CPU or on an altogether separate machine.</a:t>
            </a:r>
          </a:p>
          <a:p>
            <a:r>
              <a:rPr lang="en-US" sz="2200" dirty="0" smtClean="0"/>
              <a:t>This often led to much more </a:t>
            </a:r>
            <a:r>
              <a:rPr lang="en-US" sz="2200" i="1" dirty="0" smtClean="0">
                <a:solidFill>
                  <a:srgbClr val="C00000"/>
                </a:solidFill>
              </a:rPr>
              <a:t>tightly coupled systems</a:t>
            </a:r>
            <a:r>
              <a:rPr lang="en-US" sz="2200" dirty="0" smtClean="0"/>
              <a:t>, where many of the inter-application contracts were not explicit, but rather </a:t>
            </a:r>
            <a:r>
              <a:rPr lang="en-US" sz="2200" i="1" dirty="0" smtClean="0">
                <a:solidFill>
                  <a:srgbClr val="C00000"/>
                </a:solidFill>
              </a:rPr>
              <a:t>implicit and hidden inside</a:t>
            </a:r>
            <a:r>
              <a:rPr lang="en-US" sz="2200" dirty="0" smtClean="0"/>
              <a:t> the ESB “glue layer.”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SOA Example [3]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600200"/>
            <a:ext cx="35433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4114800"/>
            <a:ext cx="47815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Fine-Grained Calls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CORBA and similar RMI technologies tried hard to enable client applications to allow for very </a:t>
            </a:r>
            <a:r>
              <a:rPr lang="en-US" sz="2400" i="1" dirty="0" smtClean="0">
                <a:solidFill>
                  <a:srgbClr val="C00000"/>
                </a:solidFill>
              </a:rPr>
              <a:t>fine-grained calls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leads to </a:t>
            </a:r>
            <a:r>
              <a:rPr lang="en-US" sz="2400" i="1" dirty="0" smtClean="0">
                <a:solidFill>
                  <a:srgbClr val="C00000"/>
                </a:solidFill>
              </a:rPr>
              <a:t>performance issue</a:t>
            </a:r>
            <a:r>
              <a:rPr lang="en-US" sz="2400" dirty="0" smtClean="0"/>
              <a:t> due to the impact of the </a:t>
            </a:r>
            <a:r>
              <a:rPr lang="en-US" sz="2400" u="sng" dirty="0" smtClean="0"/>
              <a:t>unavoidable latency</a:t>
            </a:r>
            <a:r>
              <a:rPr lang="en-US" sz="2400" dirty="0" smtClean="0"/>
              <a:t> introduced by out-of-process and HTTP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</a:t>
            </a:r>
            <a:r>
              <a:rPr lang="en-US" dirty="0" err="1" smtClean="0"/>
              <a:t>Microservices</a:t>
            </a:r>
            <a:r>
              <a:rPr lang="en-US" dirty="0" smtClean="0"/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style</a:t>
            </a:r>
            <a:r>
              <a:rPr lang="en-US" sz="2400" dirty="0" smtClean="0"/>
              <a:t> that</a:t>
            </a:r>
          </a:p>
          <a:p>
            <a:r>
              <a:rPr lang="en-US" sz="2400" i="1" dirty="0" smtClean="0"/>
              <a:t>"… is an approach to developing a single application as </a:t>
            </a:r>
            <a:r>
              <a:rPr lang="en-US" sz="2400" i="1" u="sng" dirty="0" smtClean="0"/>
              <a:t>a suite of small services</a:t>
            </a:r>
            <a:r>
              <a:rPr lang="en-US" sz="2400" i="1" dirty="0" smtClean="0"/>
              <a:t>, each running in </a:t>
            </a:r>
            <a:r>
              <a:rPr lang="en-US" sz="2400" i="1" u="sng" dirty="0" smtClean="0"/>
              <a:t>its own process</a:t>
            </a:r>
            <a:r>
              <a:rPr lang="en-US" sz="2400" i="1" dirty="0" smtClean="0"/>
              <a:t> and communicating with </a:t>
            </a:r>
            <a:r>
              <a:rPr lang="en-US" sz="2400" i="1" u="sng" dirty="0" smtClean="0"/>
              <a:t>lightweight mechanisms</a:t>
            </a:r>
            <a:r>
              <a:rPr lang="en-US" sz="2400" i="1" dirty="0" smtClean="0"/>
              <a:t>, often an HTTP resource API.</a:t>
            </a:r>
          </a:p>
          <a:p>
            <a:r>
              <a:rPr lang="en-US" sz="2400" i="1" dirty="0" smtClean="0"/>
              <a:t>These services are built around </a:t>
            </a:r>
            <a:r>
              <a:rPr lang="en-US" sz="2400" i="1" u="sng" dirty="0" smtClean="0"/>
              <a:t>business capabilities</a:t>
            </a:r>
            <a:r>
              <a:rPr lang="en-US" sz="2400" i="1" dirty="0" smtClean="0"/>
              <a:t> and </a:t>
            </a:r>
            <a:r>
              <a:rPr lang="en-US" sz="2400" i="1" u="sng" dirty="0" smtClean="0"/>
              <a:t>independently deployable</a:t>
            </a:r>
            <a:r>
              <a:rPr lang="en-US" sz="2400" i="1" dirty="0" smtClean="0"/>
              <a:t> by fully automated deployment machinery.</a:t>
            </a:r>
          </a:p>
          <a:p>
            <a:r>
              <a:rPr lang="en-US" sz="2400" i="1" dirty="0" smtClean="0"/>
              <a:t>There is a bare minimum of centralized management of these services, which may be written in </a:t>
            </a:r>
            <a:r>
              <a:rPr lang="en-US" sz="2400" i="1" u="sng" dirty="0" smtClean="0"/>
              <a:t>different programming languages</a:t>
            </a:r>
            <a:r>
              <a:rPr lang="en-US" sz="2400" i="1" dirty="0" smtClean="0"/>
              <a:t> and use </a:t>
            </a:r>
            <a:r>
              <a:rPr lang="en-US" sz="2400" i="1" u="sng" dirty="0" smtClean="0"/>
              <a:t>different data storage technologies</a:t>
            </a:r>
            <a:r>
              <a:rPr lang="en-US" sz="2400" i="1" dirty="0" smtClean="0"/>
              <a:t>."</a:t>
            </a:r>
            <a:endParaRPr lang="en-US" sz="240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Services?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Services are small, </a:t>
            </a:r>
            <a:r>
              <a:rPr lang="en-US" sz="2400" u="sng" dirty="0" smtClean="0"/>
              <a:t>independent</a:t>
            </a:r>
            <a:r>
              <a:rPr lang="en-US" sz="2400" dirty="0" smtClean="0"/>
              <a:t> units with </a:t>
            </a:r>
            <a:r>
              <a:rPr lang="en-US" sz="2400" i="1" dirty="0" smtClean="0">
                <a:solidFill>
                  <a:srgbClr val="C00000"/>
                </a:solidFill>
              </a:rPr>
              <a:t>their own persistent stores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2" descr="http://microservices.io/i/Microservice_Architec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724149"/>
            <a:ext cx="5133975" cy="3524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Application: A Suite of Services [3]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57200" y="1447800"/>
            <a:ext cx="8229600" cy="4114800"/>
            <a:chOff x="457200" y="1600200"/>
            <a:chExt cx="8229600" cy="41148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1600200"/>
              <a:ext cx="2781300" cy="411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19500" y="1600200"/>
              <a:ext cx="5067300" cy="411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Rectangle 6"/>
          <p:cNvSpPr/>
          <p:nvPr/>
        </p:nvSpPr>
        <p:spPr>
          <a:xfrm>
            <a:off x="457200" y="5769114"/>
            <a:ext cx="8229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 smtClean="0">
                <a:latin typeface="+mj-lt"/>
              </a:rPr>
              <a:t>The divide-and-conquer technique to </a:t>
            </a:r>
            <a:r>
              <a:rPr lang="en-US" sz="2100" i="1" dirty="0" smtClean="0">
                <a:solidFill>
                  <a:srgbClr val="C00000"/>
                </a:solidFill>
                <a:latin typeface="+mj-lt"/>
              </a:rPr>
              <a:t>functionally partition</a:t>
            </a:r>
            <a:r>
              <a:rPr lang="en-US" sz="2100" dirty="0" smtClean="0">
                <a:latin typeface="+mj-lt"/>
              </a:rPr>
              <a:t> monolithic applications into smaller </a:t>
            </a:r>
            <a:r>
              <a:rPr lang="en-US" sz="2100" u="sng" dirty="0" smtClean="0">
                <a:latin typeface="+mj-lt"/>
              </a:rPr>
              <a:t>atomic units</a:t>
            </a:r>
            <a:r>
              <a:rPr lang="en-US" sz="2100" dirty="0" smtClean="0">
                <a:latin typeface="+mj-lt"/>
              </a:rPr>
              <a:t>, each performing a single function. </a:t>
            </a:r>
            <a:endParaRPr lang="en-US" sz="210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Example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943100"/>
            <a:ext cx="50323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UI with </a:t>
            </a:r>
            <a:r>
              <a:rPr lang="en-US" dirty="0" err="1" smtClean="0"/>
              <a:t>Microservices</a:t>
            </a:r>
            <a:endParaRPr lang="en-US" dirty="0"/>
          </a:p>
        </p:txBody>
      </p:sp>
      <p:pic>
        <p:nvPicPr>
          <p:cNvPr id="1026" name="Picture 2" descr="https://docs.microsoft.com/en-us/dotnet/architecture/microservices/architect-microservice-container-applications/media/microservice-based-composite-ui-shape-layout/monolith-ui-consume-microservic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8657" y="1828800"/>
            <a:ext cx="7427143" cy="39985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Composite UI with </a:t>
            </a:r>
            <a:r>
              <a:rPr lang="en-US" dirty="0" err="1" smtClean="0"/>
              <a:t>Microservices</a:t>
            </a:r>
            <a:endParaRPr lang="en-US" dirty="0"/>
          </a:p>
        </p:txBody>
      </p:sp>
      <p:pic>
        <p:nvPicPr>
          <p:cNvPr id="52226" name="Picture 2" descr="https://docs.microsoft.com/en-us/dotnet/architecture/microservices/architect-microservice-container-applications/media/microservice-based-composite-ui-shape-layout/microservice-generate-composite-ui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828800"/>
            <a:ext cx="8007205" cy="40210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Origin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Domain-driven design. Continuous delivery. On-demand virtualization. Infrastructure automation. Small autonomous teams. Systems at scale.</a:t>
            </a:r>
          </a:p>
          <a:p>
            <a:r>
              <a:rPr lang="en-US" sz="2400" dirty="0" err="1" smtClean="0"/>
              <a:t>Microservices</a:t>
            </a:r>
            <a:r>
              <a:rPr lang="en-US" sz="2400" dirty="0" smtClean="0"/>
              <a:t> have </a:t>
            </a:r>
            <a:r>
              <a:rPr lang="en-US" sz="2400" i="1" dirty="0" smtClean="0">
                <a:solidFill>
                  <a:srgbClr val="C00000"/>
                </a:solidFill>
              </a:rPr>
              <a:t>emerged</a:t>
            </a:r>
            <a:r>
              <a:rPr lang="en-US" sz="2400" dirty="0" smtClean="0"/>
              <a:t> from this world.</a:t>
            </a:r>
          </a:p>
          <a:p>
            <a:r>
              <a:rPr lang="en-US" sz="2400" dirty="0" smtClean="0"/>
              <a:t>They weren’t invented or described before the fact; they emerged as a trend, or a pattern, </a:t>
            </a:r>
            <a:r>
              <a:rPr lang="en-US" sz="2400" i="1" dirty="0" smtClean="0">
                <a:solidFill>
                  <a:srgbClr val="C00000"/>
                </a:solidFill>
              </a:rPr>
              <a:t>from real-world use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Microservices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https://martinfowler.com/articles/microservice-trade-offs.html</a:t>
            </a:r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Strong Module Boundaries</a:t>
            </a:r>
            <a:r>
              <a:rPr lang="en-US" sz="2200" dirty="0" smtClean="0"/>
              <a:t>: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reinforce modular structure, which is particularly important for larger teams.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Independent Deployment</a:t>
            </a:r>
            <a:r>
              <a:rPr lang="en-US" sz="2200" dirty="0" smtClean="0"/>
              <a:t>: Simple services are easier to deploy, and since they are autonomous, are less likely to cause system failures when they go wrong.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Technology Diversity</a:t>
            </a:r>
            <a:r>
              <a:rPr lang="en-US" sz="2200" dirty="0" smtClean="0"/>
              <a:t>: With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you can mix multiple languages, development frameworks and data-storage technologies.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Why </a:t>
            </a:r>
            <a:r>
              <a:rPr lang="en-US" sz="4200" dirty="0" err="1" smtClean="0"/>
              <a:t>Microservices</a:t>
            </a:r>
            <a:r>
              <a:rPr lang="en-US" sz="4200" dirty="0" smtClean="0"/>
              <a:t>? (My Opinion)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/>
              <a:t>Reason 1</a:t>
            </a:r>
            <a:r>
              <a:rPr lang="en-US" sz="1800" dirty="0" smtClean="0"/>
              <a:t>: You want to have several </a:t>
            </a:r>
            <a:r>
              <a:rPr lang="en-US" sz="1800" b="1" dirty="0" smtClean="0"/>
              <a:t>independent development teams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Reason 2</a:t>
            </a:r>
            <a:r>
              <a:rPr lang="en-US" sz="1800" dirty="0" smtClean="0"/>
              <a:t>: You want or your client wants to have </a:t>
            </a:r>
            <a:r>
              <a:rPr lang="en-US" sz="1800" b="1" dirty="0" smtClean="0"/>
              <a:t>a faster and modern UI (i.e. SPA)</a:t>
            </a:r>
            <a:r>
              <a:rPr lang="en-US" sz="1800" dirty="0" smtClean="0"/>
              <a:t> that is </a:t>
            </a:r>
            <a:r>
              <a:rPr lang="en-US" sz="1800" u="sng" dirty="0" smtClean="0"/>
              <a:t>totally decoupled</a:t>
            </a:r>
            <a:r>
              <a:rPr lang="en-US" sz="1800" dirty="0" smtClean="0"/>
              <a:t> from the other parts of the system.</a:t>
            </a:r>
          </a:p>
          <a:p>
            <a:r>
              <a:rPr lang="en-US" sz="1800" b="1" dirty="0" smtClean="0"/>
              <a:t>Reason 3</a:t>
            </a:r>
            <a:r>
              <a:rPr lang="en-US" sz="1800" dirty="0" smtClean="0"/>
              <a:t>: You want or your client wants that a part of your system (e.g. user store and authentication) can be </a:t>
            </a:r>
            <a:r>
              <a:rPr lang="en-US" sz="1800" b="1" dirty="0" smtClean="0"/>
              <a:t>shared among or reused by multiple different systems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Reason 4</a:t>
            </a:r>
            <a:r>
              <a:rPr lang="en-US" sz="1800" dirty="0" smtClean="0"/>
              <a:t>: You want or your client wants your system to be able to </a:t>
            </a:r>
            <a:r>
              <a:rPr lang="en-US" sz="1800" b="1" dirty="0" smtClean="0"/>
              <a:t>scale out easily </a:t>
            </a:r>
            <a:r>
              <a:rPr lang="en-US" sz="1800" b="1" i="1" dirty="0" smtClean="0"/>
              <a:t>later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Reason 5</a:t>
            </a:r>
            <a:r>
              <a:rPr lang="en-US" sz="1800" dirty="0" smtClean="0"/>
              <a:t>: You want or your client wants that some parts of your system can </a:t>
            </a:r>
            <a:r>
              <a:rPr lang="en-US" sz="1800" b="1" dirty="0" smtClean="0"/>
              <a:t>be revised or extended or replaced easily </a:t>
            </a:r>
            <a:r>
              <a:rPr lang="en-US" sz="1800" b="1" i="1" dirty="0" smtClean="0"/>
              <a:t>later</a:t>
            </a:r>
            <a:r>
              <a:rPr lang="en-US" sz="1800" dirty="0" smtClean="0"/>
              <a:t>.</a:t>
            </a:r>
          </a:p>
        </p:txBody>
      </p:sp>
      <p:pic>
        <p:nvPicPr>
          <p:cNvPr id="4" name="Picture 4" descr="https://miro.medium.com/max/4000/0*eO07yV9XbK95zYK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748645"/>
            <a:ext cx="2208276" cy="16521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Microservice</a:t>
            </a:r>
            <a:r>
              <a:rPr lang="en-US" dirty="0" smtClean="0"/>
              <a:t> Costs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Distribution</a:t>
            </a:r>
            <a:r>
              <a:rPr lang="en-US" sz="2600" dirty="0" smtClean="0"/>
              <a:t>: Distributed systems are harder to program, since remote calls are slow and are always at risk of failure.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Eventual Consistency</a:t>
            </a:r>
            <a:r>
              <a:rPr lang="en-US" sz="2600" dirty="0" smtClean="0"/>
              <a:t>: Maintaining </a:t>
            </a:r>
            <a:r>
              <a:rPr lang="en-US" sz="2600" u="sng" dirty="0" smtClean="0"/>
              <a:t>strong consistency is extremely difficult</a:t>
            </a:r>
            <a:r>
              <a:rPr lang="en-US" sz="2600" dirty="0" smtClean="0"/>
              <a:t> for a distributed system, which means everyone has to manage eventual consistency.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Operational Complexity</a:t>
            </a:r>
            <a:r>
              <a:rPr lang="en-US" sz="2600" dirty="0" smtClean="0"/>
              <a:t>: You need a mature operations team to manage lots of services, which are being redeployed regularly.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</a:t>
            </a:r>
            <a:r>
              <a:rPr lang="en-US" dirty="0" err="1" smtClean="0"/>
              <a:t>Microservices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https://martinfowler.com/bliki/MicroservicePremium.html</a:t>
            </a:r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Is a </a:t>
            </a:r>
            <a:r>
              <a:rPr lang="en-US" sz="2200" i="1" dirty="0" err="1" smtClean="0">
                <a:solidFill>
                  <a:srgbClr val="C00000"/>
                </a:solidFill>
              </a:rPr>
              <a:t>microservice</a:t>
            </a:r>
            <a:r>
              <a:rPr lang="en-US" sz="2200" i="1" dirty="0" smtClean="0">
                <a:solidFill>
                  <a:srgbClr val="C00000"/>
                </a:solidFill>
              </a:rPr>
              <a:t> architecture a good choice for the system you're working on?</a:t>
            </a:r>
          </a:p>
          <a:p>
            <a:r>
              <a:rPr lang="en-US" sz="2200" b="1" dirty="0" smtClean="0"/>
              <a:t>don't even consider </a:t>
            </a:r>
            <a:r>
              <a:rPr lang="en-US" sz="2200" b="1" dirty="0" err="1" smtClean="0"/>
              <a:t>microservices</a:t>
            </a:r>
            <a:r>
              <a:rPr lang="en-US" sz="2200" b="1" dirty="0" smtClean="0"/>
              <a:t> unless you have a system that's </a:t>
            </a:r>
            <a:r>
              <a:rPr lang="en-US" sz="2200" b="1" u="sng" dirty="0" smtClean="0"/>
              <a:t>too complex to manage as a monolith</a:t>
            </a:r>
            <a:r>
              <a:rPr lang="en-US" sz="2200" dirty="0" smtClean="0"/>
              <a:t>.</a:t>
            </a:r>
          </a:p>
          <a:p>
            <a:r>
              <a:rPr lang="en-US" sz="2200" dirty="0" smtClean="0">
                <a:hlinkClick r:id="rId3"/>
              </a:rPr>
              <a:t>https://martinfowler.com/bliki/MonolithFirst.html</a:t>
            </a:r>
            <a:endParaRPr lang="en-US" sz="2200" dirty="0" smtClean="0"/>
          </a:p>
          <a:p>
            <a:r>
              <a:rPr lang="en-US" sz="2200" dirty="0" smtClean="0"/>
              <a:t>The complexity that drives us to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can come from many sources including dealing with large teams, multi-tenancy, supporting many user interaction models, allowing different business functions to evolve independently, and scaling.</a:t>
            </a:r>
          </a:p>
          <a:p>
            <a:r>
              <a:rPr lang="en-US" sz="2200" dirty="0" smtClean="0"/>
              <a:t>But the biggest factor is that of sheer size - people finding they have a monolith that's </a:t>
            </a:r>
            <a:r>
              <a:rPr lang="en-US" sz="2200" i="1" dirty="0" smtClean="0">
                <a:solidFill>
                  <a:srgbClr val="C00000"/>
                </a:solidFill>
              </a:rPr>
              <a:t>too big to modify and deploy</a:t>
            </a:r>
            <a:r>
              <a:rPr lang="en-US" sz="2200" dirty="0" smtClean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Not to Use </a:t>
            </a:r>
            <a:r>
              <a:rPr lang="en-US" dirty="0" err="1" smtClean="0"/>
              <a:t>Microservices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https://martinfowler.com/bliki/MicroservicePremium.html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 err="1" smtClean="0"/>
              <a:t>microservices</a:t>
            </a:r>
            <a:r>
              <a:rPr lang="en-US" sz="2000" dirty="0" smtClean="0"/>
              <a:t> approach is all about handling a complex system, but in order to do so the approach introduces </a:t>
            </a:r>
            <a:r>
              <a:rPr lang="en-US" sz="2000" i="1" dirty="0" smtClean="0">
                <a:solidFill>
                  <a:srgbClr val="C00000"/>
                </a:solidFill>
              </a:rPr>
              <a:t>its own set of complexities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When you use </a:t>
            </a:r>
            <a:r>
              <a:rPr lang="en-US" sz="2000" dirty="0" err="1" smtClean="0"/>
              <a:t>microservices</a:t>
            </a:r>
            <a:r>
              <a:rPr lang="en-US" sz="2000" dirty="0" smtClean="0"/>
              <a:t> you have to work on automated deployment, monitoring, dealing with failure, eventual consistency, and other factors that a distributed system introduces. There are well-known ways to cope with all this, but it's </a:t>
            </a:r>
            <a:r>
              <a:rPr lang="en-US" sz="2000" i="1" dirty="0" smtClean="0">
                <a:solidFill>
                  <a:srgbClr val="C00000"/>
                </a:solidFill>
              </a:rPr>
              <a:t>extra effort</a:t>
            </a:r>
            <a:r>
              <a:rPr lang="en-US" sz="2000" dirty="0" smtClean="0"/>
              <a:t>.</a:t>
            </a:r>
          </a:p>
          <a:p>
            <a:r>
              <a:rPr lang="en-US" sz="2000" dirty="0" smtClean="0">
                <a:hlinkClick r:id="rId3"/>
              </a:rPr>
              <a:t>https://martinfowler.com/bliki/MonolithFirst.html</a:t>
            </a:r>
          </a:p>
          <a:p>
            <a:r>
              <a:rPr lang="en-US" sz="2000" dirty="0" smtClean="0"/>
              <a:t>The first reason for this is classic </a:t>
            </a:r>
            <a:r>
              <a:rPr lang="en-US" sz="2000" i="1" dirty="0" err="1" smtClean="0">
                <a:solidFill>
                  <a:srgbClr val="C00000"/>
                </a:solidFill>
              </a:rPr>
              <a:t>Yagni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second issue with starting with </a:t>
            </a:r>
            <a:r>
              <a:rPr lang="en-US" sz="2000" dirty="0" err="1" smtClean="0"/>
              <a:t>microservices</a:t>
            </a:r>
            <a:r>
              <a:rPr lang="en-US" sz="2000" dirty="0" smtClean="0"/>
              <a:t> is that they only work well if you come up with good, </a:t>
            </a:r>
            <a:r>
              <a:rPr lang="en-US" sz="2000" i="1" dirty="0" smtClean="0">
                <a:solidFill>
                  <a:srgbClr val="C00000"/>
                </a:solidFill>
              </a:rPr>
              <a:t>stable boundaries between the services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Any refactoring of functionality between services is much harder than it is in a monolith. But even experienced architects working in familiar domains have great difficulty getting boundaries right at the beginning.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Microservices</a:t>
            </a:r>
            <a:r>
              <a:rPr lang="en-US" smtClean="0"/>
              <a:t>: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u="sng" dirty="0" smtClean="0">
                <a:hlinkClick r:id="rId2"/>
              </a:rPr>
              <a:t>http://philcalcado.com/2015/09/08/how_we_ended_up_with_microservices.html</a:t>
            </a:r>
            <a:endParaRPr lang="en-US" sz="1800" dirty="0" smtClean="0"/>
          </a:p>
          <a:p>
            <a:r>
              <a:rPr lang="en-US" sz="2600" dirty="0" smtClean="0"/>
              <a:t>If you were to ask anybody from any of the teams about how our </a:t>
            </a:r>
            <a:r>
              <a:rPr lang="en-US" sz="2600" i="1" dirty="0" smtClean="0">
                <a:solidFill>
                  <a:srgbClr val="C00000"/>
                </a:solidFill>
              </a:rPr>
              <a:t>development process</a:t>
            </a:r>
            <a:r>
              <a:rPr lang="en-US" sz="2600" dirty="0" smtClean="0"/>
              <a:t> worked, they would describe something like this:</a:t>
            </a:r>
          </a:p>
          <a:p>
            <a:pPr lvl="1"/>
            <a:r>
              <a:rPr lang="en-US" sz="2200" dirty="0" smtClean="0"/>
              <a:t>Somebody has an idea for a feature, they write a couple of paragraphs and draw some mockups. We then discuss it as a team.</a:t>
            </a:r>
          </a:p>
          <a:p>
            <a:pPr lvl="1"/>
            <a:r>
              <a:rPr lang="en-US" sz="2200" dirty="0" smtClean="0"/>
              <a:t>Designers shape up the user experience.</a:t>
            </a:r>
          </a:p>
          <a:p>
            <a:pPr lvl="1"/>
            <a:r>
              <a:rPr lang="en-US" sz="2200" dirty="0" smtClean="0"/>
              <a:t>We write the code.</a:t>
            </a:r>
          </a:p>
          <a:p>
            <a:pPr lvl="1"/>
            <a:r>
              <a:rPr lang="en-US" sz="2200" dirty="0" smtClean="0"/>
              <a:t>After a little testing, we deploy.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Stream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actual flow</a:t>
            </a:r>
            <a:r>
              <a:rPr lang="en-US" sz="2400" dirty="0" smtClean="0"/>
              <a:t> was something like this:</a:t>
            </a:r>
          </a:p>
          <a:p>
            <a:pPr lvl="1"/>
            <a:r>
              <a:rPr lang="en-US" sz="2000" dirty="0" smtClean="0"/>
              <a:t>Somebody comes up with an idea for a feature. They then write a fairly lightweight spec, with some screen mockups, and stores that in a Google Drive document.</a:t>
            </a:r>
          </a:p>
          <a:p>
            <a:pPr lvl="1"/>
            <a:r>
              <a:rPr lang="en-US" sz="2000" dirty="0" smtClean="0"/>
              <a:t>The spec stays in this document until somebody has time to actually work on it.</a:t>
            </a:r>
          </a:p>
          <a:p>
            <a:pPr lvl="1"/>
            <a:r>
              <a:rPr lang="en-US" sz="2000" dirty="0" smtClean="0"/>
              <a:t>...</a:t>
            </a:r>
          </a:p>
          <a:p>
            <a:endParaRPr lang="en-US" sz="2400" dirty="0" smtClean="0"/>
          </a:p>
        </p:txBody>
      </p:sp>
      <p:pic>
        <p:nvPicPr>
          <p:cNvPr id="1026" name="Picture 2" descr="http://philcalcado.com/img/2015-09-7-constraints/vm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114800"/>
            <a:ext cx="7829207" cy="2241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Adopt a Release Train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Adopt a </a:t>
            </a:r>
            <a:r>
              <a:rPr lang="en-US" sz="2400" i="1" dirty="0" smtClean="0">
                <a:solidFill>
                  <a:srgbClr val="C00000"/>
                </a:solidFill>
              </a:rPr>
              <a:t>release train</a:t>
            </a:r>
            <a:r>
              <a:rPr lang="en-US" sz="2400" dirty="0" smtClean="0"/>
              <a:t> for the monolith.</a:t>
            </a:r>
          </a:p>
          <a:p>
            <a:r>
              <a:rPr lang="en-US" sz="2400" dirty="0" smtClean="0"/>
              <a:t>Instead of waiting until we had enough features for a deploy, we would start deploying every day, just after standup, irrespective of how many features had landed into master.</a:t>
            </a:r>
          </a:p>
          <a:p>
            <a:r>
              <a:rPr lang="en-US" sz="2400" dirty="0" smtClean="0"/>
              <a:t>This was still far away from Continuous Deployment, but trimmed our cycle a little bit:</a:t>
            </a:r>
            <a:endParaRPr lang="en-US" sz="2400" dirty="0"/>
          </a:p>
        </p:txBody>
      </p:sp>
      <p:pic>
        <p:nvPicPr>
          <p:cNvPr id="4" name="Picture 4" descr="http://philcalcado.com/img/2015-09-7-constraints/vm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191000"/>
            <a:ext cx="7766350" cy="2241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Pair back-end and front-end developers and make this pair be </a:t>
            </a:r>
            <a:r>
              <a:rPr lang="en-US" sz="2400" i="1" dirty="0" smtClean="0">
                <a:solidFill>
                  <a:srgbClr val="C00000"/>
                </a:solidFill>
              </a:rPr>
              <a:t>fully dedicated to a feature until its completion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2" descr="http://philcalcado.com/img/2015-09-7-constraints/vm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743200"/>
            <a:ext cx="5817778" cy="308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Monolith</a:t>
            </a:r>
            <a:endParaRPr lang="en-US" dirty="0"/>
          </a:p>
        </p:txBody>
      </p:sp>
      <p:pic>
        <p:nvPicPr>
          <p:cNvPr id="95234" name="Picture 2" descr="https://philcalcado.com/img/2015-09-7-constraints/mothership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600200"/>
            <a:ext cx="4257675" cy="2200275"/>
          </a:xfrm>
          <a:prstGeom prst="rect">
            <a:avLst/>
          </a:prstGeom>
          <a:noFill/>
        </p:spPr>
      </p:pic>
      <p:pic>
        <p:nvPicPr>
          <p:cNvPr id="95236" name="Picture 4" descr="https://philcalcado.com/img/2015-09-7-constraints/mothership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3962400"/>
            <a:ext cx="4257675" cy="2200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Break a Monolith into </a:t>
            </a:r>
            <a:r>
              <a:rPr lang="en-US" sz="4000" dirty="0" err="1" smtClean="0"/>
              <a:t>Microservices</a:t>
            </a:r>
            <a:r>
              <a:rPr lang="en-US" sz="4000" dirty="0" smtClean="0"/>
              <a:t> (I)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Breaking a monolith to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(a change made for a single feature could be developed in relative isolation).</a:t>
            </a:r>
          </a:p>
        </p:txBody>
      </p:sp>
      <p:pic>
        <p:nvPicPr>
          <p:cNvPr id="4" name="Picture 6" descr="http://philcalcado.com/img/2015-09-7-constraints/arch-change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124200"/>
            <a:ext cx="6830476" cy="22139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Break a Monolith into </a:t>
            </a:r>
            <a:r>
              <a:rPr lang="en-US" sz="3800" dirty="0" err="1" smtClean="0"/>
              <a:t>Microservices</a:t>
            </a:r>
            <a:r>
              <a:rPr lang="en-US" sz="3800" dirty="0" smtClean="0"/>
              <a:t> (II)</a:t>
            </a:r>
            <a:endParaRPr lang="en-US" sz="3800" dirty="0"/>
          </a:p>
        </p:txBody>
      </p:sp>
      <p:pic>
        <p:nvPicPr>
          <p:cNvPr id="1026" name="Picture 2" descr="https://philcalcado.com/img/2015-09-7-constraints/arch-change2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371600"/>
            <a:ext cx="4190476" cy="5226667"/>
          </a:xfrm>
          <a:prstGeom prst="rect">
            <a:avLst/>
          </a:prstGeom>
          <a:noFill/>
        </p:spPr>
      </p:pic>
      <p:pic>
        <p:nvPicPr>
          <p:cNvPr id="1028" name="Picture 4" descr="https://philcalcado.com/img/2015-09-7-constraints/arch-change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1828800"/>
            <a:ext cx="2095500" cy="434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 Time for New Features</a:t>
            </a:r>
            <a:endParaRPr lang="en-US" dirty="0"/>
          </a:p>
        </p:txBody>
      </p:sp>
      <p:pic>
        <p:nvPicPr>
          <p:cNvPr id="4" name="Picture 2" descr="http://philcalcado.com/img/2015-09-7-constraints/vm5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524000"/>
            <a:ext cx="3928889" cy="52177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DeathStarBench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Yu </a:t>
            </a:r>
            <a:r>
              <a:rPr lang="en-US" sz="2400" b="1" dirty="0" err="1" smtClean="0"/>
              <a:t>Gan</a:t>
            </a:r>
            <a:r>
              <a:rPr lang="en-US" sz="2400" b="1" dirty="0" smtClean="0"/>
              <a:t> et al. (2019). An Open-Source Benchmark Suite for </a:t>
            </a:r>
            <a:r>
              <a:rPr lang="en-US" sz="2400" b="1" dirty="0" err="1" smtClean="0"/>
              <a:t>Microservices</a:t>
            </a:r>
            <a:r>
              <a:rPr lang="en-US" sz="2400" b="1" dirty="0" smtClean="0"/>
              <a:t> and Their Hardware-Software Implications for Cloud &amp; Edge Systems.</a:t>
            </a:r>
          </a:p>
          <a:p>
            <a:r>
              <a:rPr lang="en-US" sz="2400" dirty="0" smtClean="0">
                <a:hlinkClick r:id="rId2"/>
              </a:rPr>
              <a:t>https://github.com/delimitrou/DeathStarBench</a:t>
            </a:r>
            <a:endParaRPr lang="en-US" sz="2400" dirty="0" smtClean="0"/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Boutique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https://github.com/googlecloudplatform/microservices-demo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TeaStore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(</a:t>
            </a:r>
            <a:r>
              <a:rPr lang="en-US" sz="2400" dirty="0" smtClean="0"/>
              <a:t>2018). </a:t>
            </a:r>
            <a:r>
              <a:rPr lang="en-US" sz="2400" dirty="0" err="1" smtClean="0"/>
              <a:t>TeaStore</a:t>
            </a:r>
            <a:r>
              <a:rPr lang="en-US" sz="2400" dirty="0" smtClean="0"/>
              <a:t>.</a:t>
            </a:r>
          </a:p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github.com/descartesresearch/teastore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Bookinfo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https://istio.io/latest/docs/examples/bookinfo/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 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github.com/ocp-power-demos/sock-shop-demo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JPetStore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github.com/mybatis/jpetstore-6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PetClinic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github.com/spring-petclinic/spring-petclinic-microservices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µBench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github.com/mSvcBench/muBench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23962</TotalTime>
  <Words>1730</Words>
  <Application>Microsoft Office PowerPoint</Application>
  <PresentationFormat>On-screen Show (4:3)</PresentationFormat>
  <Paragraphs>146</Paragraphs>
  <Slides>46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Introduction to Microservices</vt:lpstr>
      <vt:lpstr>Objectives</vt:lpstr>
      <vt:lpstr>Contents</vt:lpstr>
      <vt:lpstr>References</vt:lpstr>
      <vt:lpstr>Terminologies (I) [1, 2]</vt:lpstr>
      <vt:lpstr>Terminologies (II)</vt:lpstr>
      <vt:lpstr>Monolithic Architecture</vt:lpstr>
      <vt:lpstr>Why Not Use Shared Libraries? [3]</vt:lpstr>
      <vt:lpstr>Why Not Use Modules?</vt:lpstr>
      <vt:lpstr>Service-Oriented Architecture</vt:lpstr>
      <vt:lpstr>Traditional SOA [2]</vt:lpstr>
      <vt:lpstr>Traditional SOA Example [3]</vt:lpstr>
      <vt:lpstr>Fine-Grained Calls Issue</vt:lpstr>
      <vt:lpstr>Slide 14</vt:lpstr>
      <vt:lpstr>What are Microservices [1]</vt:lpstr>
      <vt:lpstr>What are Services?</vt:lpstr>
      <vt:lpstr>Application: A Suite of Services [3]</vt:lpstr>
      <vt:lpstr>Microservices Example</vt:lpstr>
      <vt:lpstr>Monolithic UI with Microservices</vt:lpstr>
      <vt:lpstr>Composite UI with Microservices</vt:lpstr>
      <vt:lpstr>Slide 21</vt:lpstr>
      <vt:lpstr>Microservices Origin</vt:lpstr>
      <vt:lpstr>Why Microservices?</vt:lpstr>
      <vt:lpstr>Why Microservices? (My Opinion)</vt:lpstr>
      <vt:lpstr>Microservice Costs</vt:lpstr>
      <vt:lpstr>When to Use Microservices</vt:lpstr>
      <vt:lpstr>When Not to Use Microservices</vt:lpstr>
      <vt:lpstr>Slide 28</vt:lpstr>
      <vt:lpstr>Why Microservices: Example</vt:lpstr>
      <vt:lpstr>Value Stream Map</vt:lpstr>
      <vt:lpstr>Adopt a Release Train</vt:lpstr>
      <vt:lpstr>Implementation</vt:lpstr>
      <vt:lpstr>The Monolith</vt:lpstr>
      <vt:lpstr>Break a Monolith into Microservices (I)</vt:lpstr>
      <vt:lpstr>Break a Monolith into Microservices (II)</vt:lpstr>
      <vt:lpstr>Lead Time for New Features</vt:lpstr>
      <vt:lpstr>Slide 37</vt:lpstr>
      <vt:lpstr>DeathStarBench</vt:lpstr>
      <vt:lpstr>Online Boutique</vt:lpstr>
      <vt:lpstr>TeaStore</vt:lpstr>
      <vt:lpstr>Bookinfo</vt:lpstr>
      <vt:lpstr>Sock Shop</vt:lpstr>
      <vt:lpstr>JPetStore</vt:lpstr>
      <vt:lpstr>PetClinic</vt:lpstr>
      <vt:lpstr>µBench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5506</cp:revision>
  <dcterms:created xsi:type="dcterms:W3CDTF">2007-10-06T08:25:13Z</dcterms:created>
  <dcterms:modified xsi:type="dcterms:W3CDTF">2026-06-30T18:40:03Z</dcterms:modified>
</cp:coreProperties>
</file>