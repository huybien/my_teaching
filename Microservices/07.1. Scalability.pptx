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2"/>
  </p:notesMasterIdLst>
  <p:sldIdLst>
    <p:sldId id="670" r:id="rId2"/>
    <p:sldId id="671" r:id="rId3"/>
    <p:sldId id="672" r:id="rId4"/>
    <p:sldId id="673" r:id="rId5"/>
    <p:sldId id="603" r:id="rId6"/>
    <p:sldId id="634" r:id="rId7"/>
    <p:sldId id="604" r:id="rId8"/>
    <p:sldId id="605" r:id="rId9"/>
    <p:sldId id="651" r:id="rId10"/>
    <p:sldId id="655" r:id="rId11"/>
    <p:sldId id="751" r:id="rId12"/>
    <p:sldId id="616" r:id="rId13"/>
    <p:sldId id="753" r:id="rId14"/>
    <p:sldId id="754" r:id="rId15"/>
    <p:sldId id="755" r:id="rId16"/>
    <p:sldId id="756" r:id="rId17"/>
    <p:sldId id="757" r:id="rId18"/>
    <p:sldId id="758" r:id="rId19"/>
    <p:sldId id="759" r:id="rId20"/>
    <p:sldId id="760" r:id="rId21"/>
    <p:sldId id="752" r:id="rId22"/>
    <p:sldId id="717" r:id="rId23"/>
    <p:sldId id="724" r:id="rId24"/>
    <p:sldId id="740" r:id="rId25"/>
    <p:sldId id="741" r:id="rId26"/>
    <p:sldId id="742" r:id="rId27"/>
    <p:sldId id="743" r:id="rId28"/>
    <p:sldId id="744" r:id="rId29"/>
    <p:sldId id="745" r:id="rId30"/>
    <p:sldId id="746" r:id="rId31"/>
    <p:sldId id="747" r:id="rId32"/>
    <p:sldId id="748" r:id="rId33"/>
    <p:sldId id="749" r:id="rId34"/>
    <p:sldId id="736" r:id="rId35"/>
    <p:sldId id="668" r:id="rId36"/>
    <p:sldId id="739" r:id="rId37"/>
    <p:sldId id="669" r:id="rId38"/>
    <p:sldId id="636" r:id="rId39"/>
    <p:sldId id="750" r:id="rId40"/>
    <p:sldId id="730" r:id="rId41"/>
    <p:sldId id="726" r:id="rId42"/>
    <p:sldId id="729" r:id="rId43"/>
    <p:sldId id="731" r:id="rId44"/>
    <p:sldId id="621" r:id="rId45"/>
    <p:sldId id="732" r:id="rId46"/>
    <p:sldId id="734" r:id="rId47"/>
    <p:sldId id="735" r:id="rId48"/>
    <p:sldId id="733" r:id="rId49"/>
    <p:sldId id="624" r:id="rId50"/>
    <p:sldId id="516" r:id="rId5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50" autoAdjust="0"/>
    <p:restoredTop sz="94667" autoAdjust="0"/>
  </p:normalViewPr>
  <p:slideViewPr>
    <p:cSldViewPr>
      <p:cViewPr>
        <p:scale>
          <a:sx n="50" d="100"/>
          <a:sy n="50" d="100"/>
        </p:scale>
        <p:origin x="-1532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6/9/2026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6/9/2026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6/9/2026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6/9/2026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6/9/2026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6/9/2026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rafana.com/" TargetMode="External"/><Relationship Id="rId2" Type="http://schemas.openxmlformats.org/officeDocument/2006/relationships/hyperlink" Target="https://grafana.com/pricing/?src=k6io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valiantgranola1655.grafana.net/a/k6-app/runs/7719358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192.168.1.45:5665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redis.io/docs/getting-started/" TargetMode="External"/><Relationship Id="rId2" Type="http://schemas.openxmlformats.org/officeDocument/2006/relationships/hyperlink" Target="https://github.com/memcached/memcached/wiki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hyperlink" Target="https://codeburst.io/redis-what-and-why-d52b6829813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www.altaro.com/hyper-v/scale-out-file-server-hyper-v/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hyperlink" Target="https://docs.microsoft.com/en-us/sql/relational-databases/replication/transactional/peer-to-peer-transactional-replication?redirectedfrom=MSDN&amp;view=sql-server-ver15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docs.microsoft.com/en-us/azure/architecture/best-practices/data-partitioning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Scalability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571500" indent="-57150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Scalability Concepts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400" dirty="0" smtClean="0"/>
              <a:t>Bill Wilder (2012). Cloud Architecture Patterns: Using Microsoft Azure. O'Reilly Media.</a:t>
            </a:r>
          </a:p>
          <a:p>
            <a:pPr>
              <a:buFont typeface="+mj-lt"/>
              <a:buAutoNum type="arabicPeriod"/>
            </a:pPr>
            <a:r>
              <a:rPr lang="en-US" sz="2400" dirty="0" smtClean="0"/>
              <a:t>Frederick Chong and </a:t>
            </a:r>
            <a:r>
              <a:rPr lang="en-US" sz="2400" dirty="0" err="1" smtClean="0"/>
              <a:t>Gianpaolo</a:t>
            </a:r>
            <a:r>
              <a:rPr lang="en-US" sz="2400" dirty="0" smtClean="0"/>
              <a:t> </a:t>
            </a:r>
            <a:r>
              <a:rPr lang="en-US" sz="2400" dirty="0" err="1" smtClean="0"/>
              <a:t>Carraro</a:t>
            </a:r>
            <a:r>
              <a:rPr lang="en-US" sz="2400" dirty="0" smtClean="0"/>
              <a:t> (2006). Architecture Strategies For Catching The Long Tail.</a:t>
            </a:r>
          </a:p>
          <a:p>
            <a:pPr>
              <a:buFont typeface="+mj-lt"/>
              <a:buAutoNum type="arabicPeriod"/>
            </a:pPr>
            <a:r>
              <a:rPr lang="en-US" sz="2400" dirty="0" smtClean="0"/>
              <a:t>Ahmed </a:t>
            </a:r>
            <a:r>
              <a:rPr lang="en-US" sz="2400" dirty="0" err="1" smtClean="0"/>
              <a:t>Soliman</a:t>
            </a:r>
            <a:r>
              <a:rPr lang="en-US" sz="2400" dirty="0" smtClean="0"/>
              <a:t> (2013). Getting Started with </a:t>
            </a:r>
            <a:r>
              <a:rPr lang="en-US" sz="2400" dirty="0" err="1" smtClean="0"/>
              <a:t>Memcached</a:t>
            </a:r>
            <a:r>
              <a:rPr lang="en-US" sz="2400" dirty="0" smtClean="0"/>
              <a:t>. </a:t>
            </a:r>
            <a:r>
              <a:rPr lang="en-US" sz="2400" dirty="0" err="1" smtClean="0"/>
              <a:t>Packt</a:t>
            </a:r>
            <a:r>
              <a:rPr lang="en-US" sz="2400" dirty="0" smtClean="0"/>
              <a:t> Publishing.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Scalability [1]</a:t>
            </a:r>
            <a:endParaRPr lang="en-US" dirty="0"/>
          </a:p>
        </p:txBody>
      </p:sp>
      <p:pic>
        <p:nvPicPr>
          <p:cNvPr id="98306" name="Picture 2" descr="http://www.the4thmarketeer.com/wp-content/uploads/2011/09/scalabilt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2286000"/>
            <a:ext cx="2488790" cy="20574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4600" y="1600200"/>
            <a:ext cx="6400800" cy="4525963"/>
          </a:xfrm>
        </p:spPr>
        <p:txBody>
          <a:bodyPr>
            <a:noAutofit/>
          </a:bodyPr>
          <a:lstStyle/>
          <a:p>
            <a:r>
              <a:rPr lang="en-US" sz="2800" i="1" dirty="0" smtClean="0">
                <a:solidFill>
                  <a:srgbClr val="C00000"/>
                </a:solidFill>
              </a:rPr>
              <a:t>Scaling</a:t>
            </a:r>
            <a:r>
              <a:rPr lang="en-US" sz="2800" dirty="0" smtClean="0"/>
              <a:t> is about </a:t>
            </a:r>
            <a:r>
              <a:rPr lang="en-US" sz="2800" u="sng" dirty="0" smtClean="0"/>
              <a:t>allocating resources</a:t>
            </a:r>
            <a:r>
              <a:rPr lang="en-US" sz="2800" dirty="0" smtClean="0"/>
              <a:t> for an application and managing those resources efficiently to minimize contention.</a:t>
            </a:r>
          </a:p>
          <a:p>
            <a:r>
              <a:rPr lang="en-US" sz="2800" dirty="0" smtClean="0"/>
              <a:t>The </a:t>
            </a:r>
            <a:r>
              <a:rPr lang="en-US" sz="2800" i="1" dirty="0" smtClean="0">
                <a:solidFill>
                  <a:srgbClr val="C00000"/>
                </a:solidFill>
              </a:rPr>
              <a:t>scalability</a:t>
            </a:r>
            <a:r>
              <a:rPr lang="en-US" sz="2800" dirty="0" smtClean="0"/>
              <a:t> of an application is a measure of </a:t>
            </a:r>
            <a:r>
              <a:rPr lang="en-US" sz="2800" u="sng" dirty="0" smtClean="0"/>
              <a:t>the number of users</a:t>
            </a:r>
            <a:r>
              <a:rPr lang="en-US" sz="2800" dirty="0" smtClean="0"/>
              <a:t> it can effectively support at the same time.</a:t>
            </a:r>
          </a:p>
          <a:p>
            <a:r>
              <a:rPr lang="en-US" sz="2800" dirty="0" smtClean="0"/>
              <a:t>The point at which an application </a:t>
            </a:r>
            <a:r>
              <a:rPr lang="en-US" sz="2800" i="1" dirty="0" smtClean="0">
                <a:solidFill>
                  <a:srgbClr val="C00000"/>
                </a:solidFill>
              </a:rPr>
              <a:t>cannot handle </a:t>
            </a:r>
            <a:r>
              <a:rPr lang="en-US" sz="2800" dirty="0" smtClean="0"/>
              <a:t>additional users effectively is the </a:t>
            </a:r>
            <a:r>
              <a:rPr lang="en-US" sz="2800" u="sng" dirty="0" smtClean="0"/>
              <a:t>limit</a:t>
            </a:r>
            <a:r>
              <a:rPr lang="en-US" sz="2800" dirty="0" smtClean="0"/>
              <a:t> of its scalability.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Scalability and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33600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Performance</a:t>
            </a:r>
            <a:r>
              <a:rPr lang="en-US" sz="2400" dirty="0" smtClean="0"/>
              <a:t> refers to the experience of an individual user.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user experience (UX)</a:t>
            </a:r>
            <a:r>
              <a:rPr lang="en-US" sz="2400" dirty="0" smtClean="0"/>
              <a:t> is negatively impacted when an application requires more resources than are available.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Scalability</a:t>
            </a:r>
            <a:r>
              <a:rPr lang="en-US" sz="2400" dirty="0" smtClean="0"/>
              <a:t> impacts </a:t>
            </a:r>
            <a:r>
              <a:rPr lang="en-US" sz="2400" u="sng" dirty="0" smtClean="0"/>
              <a:t>performance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efficiency</a:t>
            </a:r>
            <a:r>
              <a:rPr lang="en-US" sz="2400" dirty="0" smtClean="0"/>
              <a:t> impacts </a:t>
            </a:r>
            <a:r>
              <a:rPr lang="en-US" sz="2400" u="sng" dirty="0" smtClean="0"/>
              <a:t>scalability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 descr="https://dn-linuxcn.qbox.me/data/attachment/album/201507/05/105324dwfndswdtdf1s1m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3733800"/>
            <a:ext cx="4000500" cy="26574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752600"/>
          </a:xfrm>
        </p:spPr>
        <p:txBody>
          <a:bodyPr>
            <a:noAutofit/>
          </a:bodyPr>
          <a:lstStyle/>
          <a:p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node</a:t>
            </a:r>
            <a:r>
              <a:rPr lang="en-US" sz="2000" dirty="0" smtClean="0"/>
              <a:t> might be part of a physical server (usually a virtual machine), a </a:t>
            </a:r>
            <a:r>
              <a:rPr lang="en-US" sz="2000" u="sng" dirty="0" smtClean="0"/>
              <a:t>physical server</a:t>
            </a:r>
            <a:r>
              <a:rPr lang="en-US" sz="2000" dirty="0" smtClean="0"/>
              <a:t>, or even a cluster of servers, but the generic term node is useful when the underlying resource doesn’t matter.</a:t>
            </a:r>
          </a:p>
          <a:p>
            <a:r>
              <a:rPr lang="en-US" sz="2000" dirty="0" smtClean="0"/>
              <a:t>An application runs on </a:t>
            </a:r>
            <a:r>
              <a:rPr lang="en-US" sz="2000" i="1" dirty="0" smtClean="0">
                <a:solidFill>
                  <a:srgbClr val="C00000"/>
                </a:solidFill>
              </a:rPr>
              <a:t>multiple nodes</a:t>
            </a:r>
            <a:r>
              <a:rPr lang="en-US" sz="2000" dirty="0" smtClean="0"/>
              <a:t>, which have hardware resources.</a:t>
            </a:r>
          </a:p>
          <a:p>
            <a:r>
              <a:rPr lang="en-US" sz="2000" dirty="0" smtClean="0"/>
              <a:t>Application logic runs on </a:t>
            </a:r>
            <a:r>
              <a:rPr lang="en-US" sz="2000" i="1" dirty="0" smtClean="0">
                <a:solidFill>
                  <a:srgbClr val="C00000"/>
                </a:solidFill>
              </a:rPr>
              <a:t>compute nodes</a:t>
            </a:r>
            <a:r>
              <a:rPr lang="en-US" sz="2000" dirty="0" smtClean="0"/>
              <a:t> and data is stored on </a:t>
            </a:r>
            <a:r>
              <a:rPr lang="en-US" sz="2000" i="1" dirty="0" smtClean="0">
                <a:solidFill>
                  <a:srgbClr val="C00000"/>
                </a:solidFill>
              </a:rPr>
              <a:t>data nodes</a:t>
            </a:r>
            <a:r>
              <a:rPr lang="en-US" sz="2000" dirty="0" smtClean="0"/>
              <a:t>.</a:t>
            </a:r>
          </a:p>
        </p:txBody>
      </p:sp>
      <p:pic>
        <p:nvPicPr>
          <p:cNvPr id="9728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85988" y="3733800"/>
            <a:ext cx="4772025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Scaling Up and Scaling 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3047999"/>
          </a:xfrm>
        </p:spPr>
        <p:txBody>
          <a:bodyPr>
            <a:noAutofit/>
          </a:bodyPr>
          <a:lstStyle/>
          <a:p>
            <a:r>
              <a:rPr lang="en-US" sz="2000" dirty="0" smtClean="0"/>
              <a:t>Application scale can be extended by providing </a:t>
            </a:r>
            <a:r>
              <a:rPr lang="en-US" sz="2000" i="1" dirty="0" smtClean="0">
                <a:solidFill>
                  <a:srgbClr val="C00000"/>
                </a:solidFill>
              </a:rPr>
              <a:t>additional hardware resources</a:t>
            </a:r>
            <a:r>
              <a:rPr lang="en-US" sz="2000" dirty="0" smtClean="0"/>
              <a:t>, as long as the application can effectively utilize those resources.</a:t>
            </a:r>
          </a:p>
          <a:p>
            <a:r>
              <a:rPr lang="en-US" sz="2000" dirty="0" smtClean="0"/>
              <a:t>To </a:t>
            </a:r>
            <a:r>
              <a:rPr lang="en-US" sz="2000" i="1" dirty="0" smtClean="0">
                <a:solidFill>
                  <a:srgbClr val="C00000"/>
                </a:solidFill>
              </a:rPr>
              <a:t>vertically scale up</a:t>
            </a:r>
            <a:r>
              <a:rPr lang="en-US" sz="2000" dirty="0" smtClean="0"/>
              <a:t> is to increase overall application capacity by increasing the resources within </a:t>
            </a:r>
            <a:r>
              <a:rPr lang="en-US" sz="2000" i="1" dirty="0" smtClean="0">
                <a:solidFill>
                  <a:srgbClr val="C00000"/>
                </a:solidFill>
              </a:rPr>
              <a:t>existing nodes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To </a:t>
            </a:r>
            <a:r>
              <a:rPr lang="en-US" sz="2000" i="1" dirty="0" smtClean="0">
                <a:solidFill>
                  <a:srgbClr val="C00000"/>
                </a:solidFill>
              </a:rPr>
              <a:t>horizontally scale out</a:t>
            </a:r>
            <a:r>
              <a:rPr lang="en-US" sz="2000" dirty="0" smtClean="0"/>
              <a:t> is to increase overall application capacity by </a:t>
            </a:r>
            <a:r>
              <a:rPr lang="en-US" sz="2000" i="1" dirty="0" smtClean="0">
                <a:solidFill>
                  <a:srgbClr val="C00000"/>
                </a:solidFill>
              </a:rPr>
              <a:t>adding nodes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Vertical scaling is </a:t>
            </a:r>
            <a:r>
              <a:rPr lang="en-US" sz="2000" i="1" dirty="0" smtClean="0">
                <a:solidFill>
                  <a:srgbClr val="C00000"/>
                </a:solidFill>
              </a:rPr>
              <a:t>limited</a:t>
            </a:r>
            <a:r>
              <a:rPr lang="en-US" sz="2000" dirty="0" smtClean="0"/>
              <a:t> by the utilizable capability of available hardware.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Converting</a:t>
            </a:r>
            <a:r>
              <a:rPr lang="en-US" sz="2000" dirty="0" smtClean="0"/>
              <a:t> an application from vertical scaling to horizontal scaling usually requires </a:t>
            </a:r>
            <a:r>
              <a:rPr lang="en-US" sz="2000" u="sng" dirty="0" smtClean="0"/>
              <a:t>significant changes</a:t>
            </a:r>
            <a:r>
              <a:rPr lang="en-US" sz="2000" dirty="0" smtClean="0"/>
              <a:t>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4724400"/>
            <a:ext cx="4200525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Horizontally Scaling Compute Pattern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38400"/>
          </a:xfrm>
        </p:spPr>
        <p:txBody>
          <a:bodyPr/>
          <a:lstStyle/>
          <a:p>
            <a:r>
              <a:rPr lang="en-US" sz="2400" dirty="0" smtClean="0"/>
              <a:t>The Horizontal Scaling Compute Pattern effectively deals with the following </a:t>
            </a:r>
            <a:r>
              <a:rPr lang="en-US" sz="2400" i="1" dirty="0" smtClean="0">
                <a:solidFill>
                  <a:srgbClr val="C00000"/>
                </a:solidFill>
              </a:rPr>
              <a:t>challenges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dirty="0" smtClean="0"/>
              <a:t>Application capacity requirements </a:t>
            </a:r>
            <a:r>
              <a:rPr lang="en-US" sz="2000" i="1" dirty="0" smtClean="0">
                <a:solidFill>
                  <a:srgbClr val="C00000"/>
                </a:solidFill>
              </a:rPr>
              <a:t>exceed</a:t>
            </a:r>
            <a:r>
              <a:rPr lang="en-US" sz="2000" dirty="0" smtClean="0"/>
              <a:t> (or may exceed after growth) the capacity of the largest </a:t>
            </a:r>
            <a:r>
              <a:rPr lang="en-US" sz="2000" u="sng" dirty="0" smtClean="0"/>
              <a:t>available compute node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smtClean="0"/>
              <a:t>Application compute nodes require </a:t>
            </a:r>
            <a:r>
              <a:rPr lang="en-US" sz="2000" i="1" dirty="0" smtClean="0">
                <a:solidFill>
                  <a:srgbClr val="C00000"/>
                </a:solidFill>
              </a:rPr>
              <a:t>minimal downtime</a:t>
            </a:r>
            <a:r>
              <a:rPr lang="en-US" sz="2000" dirty="0" smtClean="0"/>
              <a:t>, including </a:t>
            </a:r>
            <a:r>
              <a:rPr lang="en-US" sz="2000" i="1" dirty="0" smtClean="0">
                <a:solidFill>
                  <a:srgbClr val="C00000"/>
                </a:solidFill>
              </a:rPr>
              <a:t>resilience</a:t>
            </a:r>
            <a:r>
              <a:rPr lang="en-US" sz="2000" dirty="0" smtClean="0"/>
              <a:t> in the event of </a:t>
            </a:r>
            <a:r>
              <a:rPr lang="en-US" sz="2000" u="sng" dirty="0" smtClean="0"/>
              <a:t>hardware failure</a:t>
            </a:r>
            <a:r>
              <a:rPr lang="en-US" sz="2000" dirty="0" smtClean="0"/>
              <a:t>, </a:t>
            </a:r>
            <a:r>
              <a:rPr lang="en-US" sz="2000" u="sng" dirty="0" smtClean="0"/>
              <a:t>system upgrades</a:t>
            </a:r>
            <a:r>
              <a:rPr lang="en-US" sz="2000" dirty="0" smtClean="0"/>
              <a:t>, and </a:t>
            </a:r>
            <a:r>
              <a:rPr lang="en-US" sz="2000" u="sng" dirty="0" smtClean="0"/>
              <a:t>resource changes</a:t>
            </a:r>
            <a:r>
              <a:rPr lang="en-US" sz="2000" dirty="0" smtClean="0"/>
              <a:t> due to scaling.</a:t>
            </a:r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4419600"/>
            <a:ext cx="3857625" cy="1811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4800600" y="4495800"/>
            <a:ext cx="3733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+mj-lt"/>
              </a:rPr>
              <a:t>Cloud scaling is easily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reversed</a:t>
            </a:r>
            <a:r>
              <a:rPr lang="en-US" sz="2400" dirty="0" smtClean="0">
                <a:latin typeface="+mj-lt"/>
              </a:rPr>
              <a:t>. Costs vary in proportion to scale as scale</a:t>
            </a:r>
          </a:p>
          <a:p>
            <a:r>
              <a:rPr lang="en-US" sz="2400" dirty="0" smtClean="0">
                <a:latin typeface="+mj-lt"/>
              </a:rPr>
              <a:t>varies over time.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Auto-Scaling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48200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+mj-lt"/>
              </a:rPr>
              <a:t>Applications designed for horizontal scaling generally have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nodes allocated</a:t>
            </a:r>
            <a:r>
              <a:rPr lang="en-US" sz="2000" dirty="0" smtClean="0">
                <a:latin typeface="+mj-lt"/>
              </a:rPr>
              <a:t> to specific functions.</a:t>
            </a:r>
          </a:p>
          <a:p>
            <a:r>
              <a:rPr lang="en-US" sz="2000" dirty="0" smtClean="0">
                <a:latin typeface="+mj-lt"/>
              </a:rPr>
              <a:t>When all the nodes supporting a specific function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are configured identically</a:t>
            </a:r>
            <a:r>
              <a:rPr lang="en-US" sz="2000" dirty="0" smtClean="0">
                <a:latin typeface="+mj-lt"/>
              </a:rPr>
              <a:t>—same hardware resources, same operating system, same function-specific software—we say these nodes are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homogeneous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smtClean="0">
                <a:latin typeface="+mj-lt"/>
              </a:rPr>
              <a:t>Horizontal scaling is more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efficient</a:t>
            </a:r>
            <a:r>
              <a:rPr lang="en-US" sz="2000" dirty="0" smtClean="0">
                <a:latin typeface="+mj-lt"/>
              </a:rPr>
              <a:t> with homogeneous nodes.</a:t>
            </a:r>
          </a:p>
          <a:p>
            <a:r>
              <a:rPr lang="en-US" sz="2000" dirty="0" smtClean="0">
                <a:latin typeface="+mj-lt"/>
              </a:rPr>
              <a:t>If the nodes are </a:t>
            </a:r>
            <a:r>
              <a:rPr lang="en-US" sz="2000" u="sng" dirty="0" smtClean="0">
                <a:latin typeface="+mj-lt"/>
              </a:rPr>
              <a:t>homogeneous</a:t>
            </a:r>
            <a:r>
              <a:rPr lang="en-US" sz="2000" dirty="0" smtClean="0">
                <a:latin typeface="+mj-lt"/>
              </a:rPr>
              <a:t>, then basic </a:t>
            </a:r>
            <a:r>
              <a:rPr lang="en-US" sz="2000" u="sng" dirty="0" smtClean="0">
                <a:latin typeface="+mj-lt"/>
              </a:rPr>
              <a:t>round-robin load balancing</a:t>
            </a:r>
            <a:r>
              <a:rPr lang="en-US" sz="2000" dirty="0" smtClean="0">
                <a:latin typeface="+mj-lt"/>
              </a:rPr>
              <a:t> works nicely, capacity planning is easier, and it is easier to write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rules for auto-scaling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smtClean="0">
                <a:latin typeface="+mj-lt"/>
              </a:rPr>
              <a:t>A node that does </a:t>
            </a:r>
            <a:r>
              <a:rPr lang="en-US" sz="2000" u="sng" dirty="0" smtClean="0">
                <a:latin typeface="+mj-lt"/>
              </a:rPr>
              <a:t>not</a:t>
            </a:r>
            <a:r>
              <a:rPr lang="en-US" sz="2000" dirty="0" smtClean="0">
                <a:latin typeface="+mj-lt"/>
              </a:rPr>
              <a:t> need to communicate with other nodes of the same type in order to do its job called an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autonomous node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smtClean="0">
                <a:latin typeface="+mj-lt"/>
              </a:rPr>
              <a:t>Autonomy is important so that nodes can maintain their own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efficiency</a:t>
            </a:r>
            <a:r>
              <a:rPr lang="en-US" sz="2000" dirty="0" smtClean="0">
                <a:latin typeface="+mj-lt"/>
              </a:rPr>
              <a:t> regardless of what other nodes are doing.</a:t>
            </a:r>
          </a:p>
        </p:txBody>
      </p:sp>
      <p:pic>
        <p:nvPicPr>
          <p:cNvPr id="91138" name="Picture 2" descr="http://upload.wikimedia.org/wikipedia/commons/thumb/d/dd/AWS_Simple_Icons_Compute_Amazon_Elastic_MapReduce_Auto_Scaling.svg/120px-AWS_Simple_Icons_Compute_Amazon_Elastic_MapReduce_Auto_Scaling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304800"/>
            <a:ext cx="1143000" cy="11430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Scalability vs. High Availability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User (SPA) ---&gt; Web server (API) ---&gt; Database server.</a:t>
            </a:r>
          </a:p>
          <a:p>
            <a:endParaRPr lang="en-US" sz="2200" dirty="0" smtClean="0"/>
          </a:p>
          <a:p>
            <a:r>
              <a:rPr lang="en-US" sz="2200" dirty="0" smtClean="0"/>
              <a:t>User (Brower) ---&gt; Web server (MPA/API) ---&gt; Database server.</a:t>
            </a:r>
          </a:p>
          <a:p>
            <a:endParaRPr lang="en-US" sz="2200" dirty="0" smtClean="0"/>
          </a:p>
          <a:p>
            <a:r>
              <a:rPr lang="en-US" sz="2200" dirty="0" smtClean="0"/>
              <a:t>User (Native mobile app) ---&gt; Web server (API) ---&gt; Database server.</a:t>
            </a:r>
          </a:p>
          <a:p>
            <a:endParaRPr lang="en-US" sz="2200" dirty="0" smtClean="0"/>
          </a:p>
          <a:p>
            <a:r>
              <a:rPr lang="en-US" sz="2200" dirty="0" smtClean="0"/>
              <a:t>User (SPA)     ---&gt; Web server (API) 1 ---&gt; Down.</a:t>
            </a:r>
          </a:p>
          <a:p>
            <a:pPr>
              <a:buNone/>
            </a:pPr>
            <a:r>
              <a:rPr lang="en-US" sz="2200" dirty="0" smtClean="0"/>
              <a:t>	(automated) ---&gt; Web server (API) 2 (Backup) ---&gt; 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k6 on </a:t>
            </a:r>
            <a:r>
              <a:rPr lang="en-US" dirty="0" err="1" smtClean="0"/>
              <a:t>macOS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https://grafana.com/pricing/?src=k6io#k6-performance-testing</a:t>
            </a:r>
            <a:endParaRPr lang="en-US" dirty="0" smtClean="0"/>
          </a:p>
          <a:p>
            <a:r>
              <a:rPr lang="en-US" dirty="0" smtClean="0"/>
              <a:t>brew install k6</a:t>
            </a:r>
          </a:p>
          <a:p>
            <a:r>
              <a:rPr lang="en-US" dirty="0" smtClean="0"/>
              <a:t># Go to </a:t>
            </a:r>
            <a:r>
              <a:rPr lang="en-US" dirty="0" smtClean="0">
                <a:hlinkClick r:id="rId3"/>
              </a:rPr>
              <a:t>https://grafana.com</a:t>
            </a:r>
            <a:r>
              <a:rPr lang="en-US" dirty="0" smtClean="0"/>
              <a:t> &gt; My Account to find a stack.</a:t>
            </a:r>
          </a:p>
          <a:p>
            <a:r>
              <a:rPr lang="en-US" dirty="0" smtClean="0"/>
              <a:t>k6 cloud login --token 7e8f7f6 --stack valiantgranola1655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Script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Ask Claude Code to create one: 100 users, 10 minutes.</a:t>
            </a:r>
          </a:p>
          <a:p>
            <a:r>
              <a:rPr lang="en-US" dirty="0" smtClean="0"/>
              <a:t>Min # of users =?, min duration = ?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Run the Script on Cloud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k6 </a:t>
            </a:r>
            <a:r>
              <a:rPr lang="en-US" b="1" dirty="0" smtClean="0"/>
              <a:t>cloud</a:t>
            </a:r>
            <a:r>
              <a:rPr lang="en-US" dirty="0" smtClean="0"/>
              <a:t> run script.js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Review the Output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https://valiantgranola1655.grafana.net/a/k6-app/runs/7719358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9338" y="3089275"/>
            <a:ext cx="7045325" cy="224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Verify the OOM on the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When a process needs memory and the kernel has none left to give — no free RAM, nothing reclaimable, and no swap to page out to — the kernel can't just </a:t>
            </a:r>
            <a:r>
              <a:rPr lang="en-US" sz="2400" dirty="0" smtClean="0"/>
              <a:t>wait.</a:t>
            </a:r>
          </a:p>
          <a:p>
            <a:r>
              <a:rPr lang="en-US" sz="2400" dirty="0" smtClean="0"/>
              <a:t>To  </a:t>
            </a:r>
            <a:r>
              <a:rPr lang="en-US" sz="2400" dirty="0" smtClean="0"/>
              <a:t>avoid a total system freeze, it invokes the Out Of </a:t>
            </a:r>
            <a:r>
              <a:rPr lang="en-US" sz="2400" dirty="0" smtClean="0"/>
              <a:t>Memory (OOM) </a:t>
            </a:r>
            <a:r>
              <a:rPr lang="en-US" sz="2400" dirty="0" smtClean="0"/>
              <a:t>killer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OOM killer picks a process to terminate to free </a:t>
            </a:r>
            <a:r>
              <a:rPr lang="en-US" sz="2400" dirty="0" smtClean="0"/>
              <a:t>memory.</a:t>
            </a:r>
          </a:p>
          <a:p>
            <a:r>
              <a:rPr lang="en-US" sz="2400" dirty="0" smtClean="0"/>
              <a:t>It </a:t>
            </a:r>
            <a:r>
              <a:rPr lang="en-US" sz="2400" dirty="0" smtClean="0"/>
              <a:t>scores every process (roughly by how much memory it's using, via </a:t>
            </a:r>
            <a:r>
              <a:rPr lang="en-US" sz="2400" dirty="0" err="1" smtClean="0"/>
              <a:t>oom_score</a:t>
            </a:r>
            <a:r>
              <a:rPr lang="en-US" sz="2400" dirty="0" smtClean="0"/>
              <a:t>) and kills the </a:t>
            </a:r>
            <a:r>
              <a:rPr lang="en-US" sz="2400" dirty="0" smtClean="0"/>
              <a:t>one that </a:t>
            </a:r>
            <a:r>
              <a:rPr lang="en-US" sz="2400" dirty="0" smtClean="0"/>
              <a:t>frees the </a:t>
            </a:r>
            <a:r>
              <a:rPr lang="en-US" sz="2400" dirty="0" smtClean="0"/>
              <a:t>most.</a:t>
            </a:r>
          </a:p>
          <a:p>
            <a:r>
              <a:rPr lang="en-US" sz="2400" dirty="0" smtClean="0"/>
              <a:t>The kill is a hard SIGKILL (signal 9) — the process is terminated instantly, no clean shutdown.</a:t>
            </a:r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Run the Script Locally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k6 run script.js</a:t>
            </a:r>
          </a:p>
          <a:p>
            <a:r>
              <a:rPr lang="en-US" dirty="0" smtClean="0"/>
              <a:t>k6 run --out 'web-dashboard=host=0.0.0.0&amp;port=5665&amp;export=</a:t>
            </a:r>
            <a:r>
              <a:rPr lang="en-US" dirty="0" err="1" smtClean="0"/>
              <a:t>report.html&amp;open</a:t>
            </a:r>
            <a:r>
              <a:rPr lang="en-US" dirty="0" smtClean="0"/>
              <a:t>=true' script.js</a:t>
            </a:r>
          </a:p>
          <a:p>
            <a:r>
              <a:rPr lang="en-US" dirty="0" smtClean="0"/>
              <a:t># Open: </a:t>
            </a:r>
            <a:r>
              <a:rPr lang="en-US" dirty="0" smtClean="0">
                <a:hlinkClick r:id="rId2"/>
              </a:rPr>
              <a:t>http://192.168.1.45:5665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</a:t>
            </a:r>
            <a:r>
              <a:rPr lang="en-US" dirty="0" smtClean="0"/>
              <a:t>. Check for Memory Leaks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Investigate the memory usage of each process during the load test</a:t>
            </a:r>
            <a:r>
              <a:rPr lang="en-US" dirty="0" smtClean="0"/>
              <a:t>.</a:t>
            </a:r>
          </a:p>
          <a:p>
            <a:r>
              <a:rPr lang="en-US" dirty="0" smtClean="0"/>
              <a:t>If a memory leak were present, the Resident Set Size (RSS) would continue to increase as a worker processes additional </a:t>
            </a:r>
            <a:r>
              <a:rPr lang="en-US" dirty="0" smtClean="0"/>
              <a:t>requests.</a:t>
            </a:r>
          </a:p>
          <a:p>
            <a:r>
              <a:rPr lang="en-US" dirty="0" smtClean="0"/>
              <a:t>Instead</a:t>
            </a:r>
            <a:r>
              <a:rPr lang="en-US" dirty="0" smtClean="0"/>
              <a:t>, each worker's RSS reaches a peak within the first 30–60 seconds and then remains essentially flat for the remainder of its lifetime.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</a:t>
            </a:r>
            <a:r>
              <a:rPr lang="en-US" dirty="0" smtClean="0"/>
              <a:t>. Understand PHP-FPM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process manager is a feature of PHP-FPM (</a:t>
            </a:r>
            <a:r>
              <a:rPr lang="en-US" sz="2400" dirty="0" err="1" smtClean="0"/>
              <a:t>FastCGI</a:t>
            </a:r>
            <a:r>
              <a:rPr lang="en-US" sz="2400" dirty="0" smtClean="0"/>
              <a:t> Process Manager), which is part of PHP </a:t>
            </a:r>
            <a:r>
              <a:rPr lang="en-US" sz="2400" dirty="0" smtClean="0"/>
              <a:t>itself.</a:t>
            </a:r>
          </a:p>
          <a:p>
            <a:r>
              <a:rPr lang="en-US" sz="2400" dirty="0" smtClean="0"/>
              <a:t>PHP-FPM decides "I want to run 5 </a:t>
            </a:r>
            <a:r>
              <a:rPr lang="en-US" sz="2400" dirty="0" smtClean="0"/>
              <a:t>site </a:t>
            </a:r>
            <a:r>
              <a:rPr lang="en-US" sz="2400" dirty="0" smtClean="0"/>
              <a:t>workers" (pm/</a:t>
            </a:r>
            <a:r>
              <a:rPr lang="en-US" sz="2400" dirty="0" err="1" smtClean="0"/>
              <a:t>max_children</a:t>
            </a:r>
            <a:r>
              <a:rPr lang="en-US" sz="2400" dirty="0" smtClean="0"/>
              <a:t>). It uses ordinary OS calls (fork) to create them — but the policy (how many, when) </a:t>
            </a:r>
            <a:r>
              <a:rPr lang="en-US" sz="2400" dirty="0" smtClean="0"/>
              <a:t>is </a:t>
            </a:r>
            <a:r>
              <a:rPr lang="en-US" sz="2400" dirty="0" smtClean="0"/>
              <a:t>entirely PHP's</a:t>
            </a:r>
            <a:r>
              <a:rPr lang="en-US" sz="2400" dirty="0" smtClean="0"/>
              <a:t>.</a:t>
            </a:r>
          </a:p>
          <a:p>
            <a:r>
              <a:rPr lang="en-US" sz="2400" dirty="0" err="1" smtClean="0"/>
              <a:t>systemd</a:t>
            </a:r>
            <a:r>
              <a:rPr lang="en-US" sz="2400" dirty="0" smtClean="0"/>
              <a:t> launches the FPM master as a service and, with our proposed </a:t>
            </a:r>
            <a:r>
              <a:rPr lang="en-US" sz="2400" dirty="0" err="1" smtClean="0"/>
              <a:t>MemoryMax</a:t>
            </a:r>
            <a:r>
              <a:rPr lang="en-US" sz="2400" dirty="0" smtClean="0"/>
              <a:t>=2000M</a:t>
            </a:r>
            <a:r>
              <a:rPr lang="en-US" sz="2400" dirty="0" smtClean="0"/>
              <a:t>, wraps all its workers in a </a:t>
            </a:r>
            <a:r>
              <a:rPr lang="en-US" sz="2400" dirty="0" err="1" smtClean="0"/>
              <a:t>cgroup</a:t>
            </a:r>
            <a:r>
              <a:rPr lang="en-US" sz="2400" dirty="0" smtClean="0"/>
              <a:t> — a kernel memory </a:t>
            </a:r>
            <a:r>
              <a:rPr lang="en-US" sz="2400" dirty="0" smtClean="0"/>
              <a:t>boundary.</a:t>
            </a:r>
          </a:p>
          <a:p>
            <a:r>
              <a:rPr lang="en-US" sz="2400" dirty="0" smtClean="0"/>
              <a:t>The kernel doesn't </a:t>
            </a:r>
            <a:r>
              <a:rPr lang="en-US" sz="2400" dirty="0" smtClean="0"/>
              <a:t>know or care about "dynamic </a:t>
            </a:r>
            <a:r>
              <a:rPr lang="en-US" sz="2400" dirty="0" err="1" smtClean="0"/>
              <a:t>vs</a:t>
            </a:r>
            <a:r>
              <a:rPr lang="en-US" sz="2400" dirty="0" smtClean="0"/>
              <a:t> </a:t>
            </a:r>
            <a:r>
              <a:rPr lang="en-US" sz="2400" dirty="0" err="1" smtClean="0"/>
              <a:t>ondemand</a:t>
            </a:r>
            <a:r>
              <a:rPr lang="en-US" sz="2400" dirty="0" smtClean="0"/>
              <a:t>"; it just enforces "this group of processes can't exceed </a:t>
            </a:r>
            <a:r>
              <a:rPr lang="en-US" sz="2400" dirty="0" smtClean="0"/>
              <a:t>2.0 </a:t>
            </a:r>
            <a:r>
              <a:rPr lang="en-US" sz="2400" dirty="0" smtClean="0"/>
              <a:t>GB."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Scaling Out Guidelines (I)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i="1" dirty="0" smtClean="0">
                <a:solidFill>
                  <a:srgbClr val="C00000"/>
                </a:solidFill>
              </a:rPr>
              <a:t>Statelessness</a:t>
            </a:r>
            <a:r>
              <a:rPr lang="en-US" sz="2000" dirty="0" smtClean="0"/>
              <a:t> means that each </a:t>
            </a:r>
            <a:r>
              <a:rPr lang="en-US" sz="2000" u="sng" dirty="0" smtClean="0"/>
              <a:t>transaction can be handled by one instance as well as any other</a:t>
            </a:r>
            <a:r>
              <a:rPr lang="en-US" sz="2000" dirty="0" smtClean="0"/>
              <a:t>; a user may transact with dozens of different instances during a single session, without ever knowing it.</a:t>
            </a:r>
          </a:p>
          <a:p>
            <a:r>
              <a:rPr lang="en-US" sz="2000" dirty="0" smtClean="0"/>
              <a:t>Design the application to </a:t>
            </a:r>
            <a:r>
              <a:rPr lang="en-US" sz="2000" i="1" dirty="0" smtClean="0">
                <a:solidFill>
                  <a:srgbClr val="C00000"/>
                </a:solidFill>
              </a:rPr>
              <a:t>run in a stateless fashion</a:t>
            </a:r>
            <a:r>
              <a:rPr lang="en-US" sz="2000" dirty="0" smtClean="0"/>
              <a:t>, with any necessary user and </a:t>
            </a:r>
            <a:r>
              <a:rPr lang="en-US" sz="2000" i="1" dirty="0" smtClean="0">
                <a:solidFill>
                  <a:srgbClr val="C00000"/>
                </a:solidFill>
              </a:rPr>
              <a:t>session data</a:t>
            </a:r>
            <a:r>
              <a:rPr lang="en-US" sz="2000" dirty="0" smtClean="0"/>
              <a:t> stored either </a:t>
            </a:r>
            <a:r>
              <a:rPr lang="en-US" sz="2000" u="sng" dirty="0" smtClean="0"/>
              <a:t>on the client side</a:t>
            </a:r>
            <a:r>
              <a:rPr lang="en-US" sz="2000" dirty="0" smtClean="0"/>
              <a:t>, or in a </a:t>
            </a:r>
            <a:r>
              <a:rPr lang="en-US" sz="2000" u="sng" dirty="0" smtClean="0"/>
              <a:t>distributed store</a:t>
            </a:r>
            <a:r>
              <a:rPr lang="en-US" sz="2000" dirty="0" smtClean="0"/>
              <a:t> that's accessible to any application instance.</a:t>
            </a:r>
          </a:p>
          <a:p>
            <a:endParaRPr lang="en-US" sz="20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4114800"/>
            <a:ext cx="3990975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Scaling Out Guidelines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Design the application to </a:t>
            </a:r>
            <a:r>
              <a:rPr lang="en-US" sz="2000" i="1" dirty="0" smtClean="0">
                <a:solidFill>
                  <a:srgbClr val="C00000"/>
                </a:solidFill>
              </a:rPr>
              <a:t>conduct I/O operations asynchronously</a:t>
            </a:r>
            <a:r>
              <a:rPr lang="en-US" sz="2000" dirty="0" smtClean="0"/>
              <a:t>, so that the application can perform useful work while waiting for input and output to complete.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Pool resources</a:t>
            </a:r>
            <a:r>
              <a:rPr lang="en-US" sz="2000" dirty="0" smtClean="0"/>
              <a:t> such as </a:t>
            </a:r>
            <a:r>
              <a:rPr lang="en-US" sz="2000" u="sng" dirty="0" smtClean="0"/>
              <a:t>threads</a:t>
            </a:r>
            <a:r>
              <a:rPr lang="en-US" sz="2000" dirty="0" smtClean="0"/>
              <a:t>, </a:t>
            </a:r>
            <a:r>
              <a:rPr lang="en-US" sz="2000" u="sng" dirty="0" smtClean="0"/>
              <a:t>network connections</a:t>
            </a:r>
            <a:r>
              <a:rPr lang="en-US" sz="2000" dirty="0" smtClean="0"/>
              <a:t>, and </a:t>
            </a:r>
            <a:r>
              <a:rPr lang="en-US" sz="2000" u="sng" dirty="0" smtClean="0"/>
              <a:t>database connections</a:t>
            </a:r>
            <a:r>
              <a:rPr lang="en-US" sz="2000" dirty="0" smtClean="0"/>
              <a:t>; this helps maximize your computing resources, and it improves your ability to predict resource usage.</a:t>
            </a:r>
          </a:p>
          <a:p>
            <a:r>
              <a:rPr lang="en-US" sz="2000" dirty="0" smtClean="0"/>
              <a:t>Write your database operations in such a way as to </a:t>
            </a:r>
            <a:r>
              <a:rPr lang="en-US" sz="2000" i="1" dirty="0" smtClean="0">
                <a:solidFill>
                  <a:srgbClr val="C00000"/>
                </a:solidFill>
              </a:rPr>
              <a:t>maximize concurrency</a:t>
            </a:r>
            <a:r>
              <a:rPr lang="en-US" sz="2000" dirty="0" smtClean="0"/>
              <a:t> and </a:t>
            </a:r>
            <a:r>
              <a:rPr lang="en-US" sz="2000" i="1" dirty="0" smtClean="0">
                <a:solidFill>
                  <a:srgbClr val="C00000"/>
                </a:solidFill>
              </a:rPr>
              <a:t>minimize exclusive locking</a:t>
            </a:r>
            <a:r>
              <a:rPr lang="en-US" sz="2000" dirty="0" smtClean="0"/>
              <a:t>. For example, don't lock records when performing read-only operations.</a:t>
            </a:r>
          </a:p>
          <a:p>
            <a:endParaRPr lang="en-US" sz="20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4800600"/>
            <a:ext cx="3990975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(ASP.NET) Session Storage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i="1" dirty="0" smtClean="0">
                <a:solidFill>
                  <a:srgbClr val="C00000"/>
                </a:solidFill>
              </a:rPr>
              <a:t>Machine key</a:t>
            </a:r>
            <a:r>
              <a:rPr lang="en-US" sz="2600" dirty="0" smtClean="0"/>
              <a:t> should be same for both servers: </a:t>
            </a:r>
            <a:r>
              <a:rPr lang="en-US" sz="2600" u="sng" dirty="0" smtClean="0"/>
              <a:t>View state</a:t>
            </a:r>
            <a:r>
              <a:rPr lang="en-US" sz="2600" dirty="0" smtClean="0"/>
              <a:t> and </a:t>
            </a:r>
            <a:r>
              <a:rPr lang="en-US" sz="2600" u="sng" dirty="0" smtClean="0"/>
              <a:t>session</a:t>
            </a:r>
            <a:r>
              <a:rPr lang="en-US" sz="2600" dirty="0" smtClean="0"/>
              <a:t> both </a:t>
            </a:r>
            <a:r>
              <a:rPr lang="en-US" sz="2600" u="sng" dirty="0" smtClean="0"/>
              <a:t>depend on</a:t>
            </a:r>
            <a:r>
              <a:rPr lang="en-US" sz="2600" dirty="0" smtClean="0"/>
              <a:t> the machine key.</a:t>
            </a:r>
          </a:p>
          <a:p>
            <a:r>
              <a:rPr lang="en-US" sz="2600" dirty="0" smtClean="0"/>
              <a:t>Session storage options:</a:t>
            </a:r>
          </a:p>
          <a:p>
            <a:pPr lvl="1"/>
            <a:r>
              <a:rPr lang="en-US" sz="2200" dirty="0" err="1" smtClean="0">
                <a:latin typeface="Consolas" pitchFamily="49" charset="0"/>
              </a:rPr>
              <a:t>InProc</a:t>
            </a:r>
            <a:endParaRPr lang="en-US" sz="2200" dirty="0" smtClean="0">
              <a:latin typeface="Consolas" pitchFamily="49" charset="0"/>
            </a:endParaRPr>
          </a:p>
          <a:p>
            <a:pPr lvl="1"/>
            <a:r>
              <a:rPr lang="en-US" sz="2200" dirty="0" err="1" smtClean="0">
                <a:latin typeface="Consolas" pitchFamily="49" charset="0"/>
              </a:rPr>
              <a:t>StateServer</a:t>
            </a:r>
            <a:endParaRPr lang="en-US" sz="2200" dirty="0" smtClean="0">
              <a:latin typeface="Consolas" pitchFamily="49" charset="0"/>
            </a:endParaRPr>
          </a:p>
          <a:p>
            <a:pPr lvl="1"/>
            <a:r>
              <a:rPr lang="en-US" sz="2200" b="1" dirty="0" err="1" smtClean="0">
                <a:latin typeface="Consolas" pitchFamily="49" charset="0"/>
              </a:rPr>
              <a:t>SQLServer</a:t>
            </a:r>
            <a:endParaRPr lang="en-US" sz="2200" b="1" dirty="0" smtClean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400" y="4495800"/>
            <a:ext cx="7924800" cy="175432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dirty="0" smtClean="0">
                <a:latin typeface="Consolas" pitchFamily="49" charset="0"/>
              </a:rPr>
              <a:t>&lt;system.web&gt;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</a:rPr>
              <a:t>    &lt;</a:t>
            </a:r>
            <a:r>
              <a:rPr lang="en-US" dirty="0" err="1" smtClean="0">
                <a:latin typeface="Consolas" pitchFamily="49" charset="0"/>
              </a:rPr>
              <a:t>httpCookies</a:t>
            </a:r>
            <a:r>
              <a:rPr lang="en-US" dirty="0" smtClean="0">
                <a:latin typeface="Consolas" pitchFamily="49" charset="0"/>
              </a:rPr>
              <a:t> </a:t>
            </a:r>
            <a:r>
              <a:rPr lang="en-US" dirty="0" err="1" smtClean="0">
                <a:latin typeface="Consolas" pitchFamily="49" charset="0"/>
              </a:rPr>
              <a:t>requireSSL</a:t>
            </a:r>
            <a:r>
              <a:rPr lang="en-US" dirty="0" smtClean="0">
                <a:latin typeface="Consolas" pitchFamily="49" charset="0"/>
              </a:rPr>
              <a:t>="true" /&gt;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</a:rPr>
              <a:t>    &lt;</a:t>
            </a:r>
            <a:r>
              <a:rPr lang="en-US" dirty="0" err="1" smtClean="0">
                <a:latin typeface="Consolas" pitchFamily="49" charset="0"/>
              </a:rPr>
              <a:t>machineKey</a:t>
            </a:r>
            <a:r>
              <a:rPr lang="en-US" dirty="0" smtClean="0">
                <a:latin typeface="Consolas" pitchFamily="49" charset="0"/>
              </a:rPr>
              <a:t> validation="SHA1" /&gt;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</a:rPr>
              <a:t>    &lt;</a:t>
            </a:r>
            <a:r>
              <a:rPr lang="en-US" dirty="0" err="1" smtClean="0">
                <a:latin typeface="Consolas" pitchFamily="49" charset="0"/>
              </a:rPr>
              <a:t>sessionState</a:t>
            </a:r>
            <a:r>
              <a:rPr lang="en-US" dirty="0" smtClean="0">
                <a:latin typeface="Consolas" pitchFamily="49" charset="0"/>
              </a:rPr>
              <a:t> timeout="25" </a:t>
            </a:r>
            <a:r>
              <a:rPr lang="en-US" dirty="0" err="1" smtClean="0">
                <a:latin typeface="Consolas" pitchFamily="49" charset="0"/>
              </a:rPr>
              <a:t>cookieless</a:t>
            </a:r>
            <a:r>
              <a:rPr lang="en-US" dirty="0" smtClean="0">
                <a:latin typeface="Consolas" pitchFamily="49" charset="0"/>
              </a:rPr>
              <a:t>="false" </a:t>
            </a:r>
            <a:r>
              <a:rPr lang="en-US" dirty="0" err="1" smtClean="0">
                <a:latin typeface="Consolas" pitchFamily="49" charset="0"/>
              </a:rPr>
              <a:t>regenerateExpiredSessionId</a:t>
            </a:r>
            <a:r>
              <a:rPr lang="en-US" dirty="0" smtClean="0">
                <a:latin typeface="Consolas" pitchFamily="49" charset="0"/>
              </a:rPr>
              <a:t>="true" mode="</a:t>
            </a:r>
            <a:r>
              <a:rPr lang="en-US" b="1" i="1" dirty="0" err="1" smtClean="0">
                <a:solidFill>
                  <a:srgbClr val="C00000"/>
                </a:solidFill>
                <a:latin typeface="Consolas" pitchFamily="49" charset="0"/>
              </a:rPr>
              <a:t>InProc</a:t>
            </a:r>
            <a:r>
              <a:rPr lang="en-US" dirty="0" smtClean="0">
                <a:latin typeface="Consolas" pitchFamily="49" charset="0"/>
              </a:rPr>
              <a:t>" /&gt;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</a:rPr>
              <a:t>...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an SQL Server Database for </a:t>
            </a:r>
            <a:r>
              <a:rPr lang="en-US" dirty="0" err="1" smtClean="0"/>
              <a:t>SQLServer</a:t>
            </a:r>
            <a:r>
              <a:rPr lang="en-US" dirty="0" smtClean="0"/>
              <a:t> Session Mode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2" indent="-342900"/>
            <a:r>
              <a:rPr lang="en-US" sz="2200" b="1" dirty="0" smtClean="0"/>
              <a:t>Run cmd.exe as Administrator</a:t>
            </a:r>
          </a:p>
          <a:p>
            <a:pPr marL="342900" lvl="2" indent="-342900"/>
            <a:r>
              <a:rPr lang="en-US" sz="2200" i="1" dirty="0" smtClean="0">
                <a:latin typeface="Consolas" pitchFamily="49" charset="0"/>
              </a:rPr>
              <a:t>C:\Windows\Microsoft.NET\Framework\v4.0.30319\aspnet_regsql.exe -</a:t>
            </a:r>
            <a:r>
              <a:rPr lang="en-US" sz="2200" i="1" dirty="0" err="1" smtClean="0">
                <a:latin typeface="Consolas" pitchFamily="49" charset="0"/>
              </a:rPr>
              <a:t>ssadd</a:t>
            </a:r>
            <a:r>
              <a:rPr lang="en-US" sz="2200" i="1" dirty="0" smtClean="0">
                <a:latin typeface="Consolas" pitchFamily="49" charset="0"/>
              </a:rPr>
              <a:t> -</a:t>
            </a:r>
            <a:r>
              <a:rPr lang="en-US" sz="2200" i="1" dirty="0" err="1" smtClean="0">
                <a:latin typeface="Consolas" pitchFamily="49" charset="0"/>
              </a:rPr>
              <a:t>sstype</a:t>
            </a:r>
            <a:r>
              <a:rPr lang="en-US" sz="2200" i="1" dirty="0" smtClean="0">
                <a:latin typeface="Consolas" pitchFamily="49" charset="0"/>
              </a:rPr>
              <a:t> c -d apistate.example.com -S </a:t>
            </a:r>
            <a:r>
              <a:rPr lang="en-US" sz="2200" i="1" dirty="0" err="1" smtClean="0">
                <a:latin typeface="Consolas" pitchFamily="49" charset="0"/>
              </a:rPr>
              <a:t>localhost</a:t>
            </a:r>
            <a:r>
              <a:rPr lang="en-US" sz="2200" i="1" dirty="0" smtClean="0">
                <a:latin typeface="Consolas" pitchFamily="49" charset="0"/>
              </a:rPr>
              <a:t> –E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a Connection String for </a:t>
            </a:r>
            <a:r>
              <a:rPr lang="en-US" dirty="0" err="1" smtClean="0"/>
              <a:t>SQLServer</a:t>
            </a:r>
            <a:r>
              <a:rPr lang="en-US" dirty="0" smtClean="0"/>
              <a:t> Session Mode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</a:rPr>
              <a:t>Create </a:t>
            </a:r>
            <a:r>
              <a:rPr lang="en-US" sz="2400" dirty="0" err="1" smtClean="0">
                <a:latin typeface="+mj-lt"/>
              </a:rPr>
              <a:t>web.connectionStrings.config</a:t>
            </a:r>
            <a:r>
              <a:rPr lang="en-US" sz="2400" dirty="0" smtClean="0">
                <a:latin typeface="+mj-lt"/>
              </a:rPr>
              <a:t> file.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2438400"/>
            <a:ext cx="7924800" cy="313932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dirty="0" smtClean="0">
                <a:latin typeface="Consolas" pitchFamily="49" charset="0"/>
              </a:rPr>
              <a:t>&lt;?xml version="1.0" ?&gt;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</a:rPr>
              <a:t>  &lt;</a:t>
            </a:r>
            <a:r>
              <a:rPr lang="en-US" dirty="0" err="1" smtClean="0">
                <a:latin typeface="Consolas" pitchFamily="49" charset="0"/>
              </a:rPr>
              <a:t>connectionStrings</a:t>
            </a:r>
            <a:r>
              <a:rPr lang="en-US" dirty="0" smtClean="0">
                <a:latin typeface="Consolas" pitchFamily="49" charset="0"/>
              </a:rPr>
              <a:t>&gt;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</a:rPr>
              <a:t>    &lt;clear /&gt;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</a:rPr>
              <a:t>...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</a:rPr>
              <a:t>    &lt;add name="</a:t>
            </a:r>
            <a:r>
              <a:rPr lang="en-US" b="1" i="1" dirty="0" err="1" smtClean="0">
                <a:solidFill>
                  <a:srgbClr val="C00000"/>
                </a:solidFill>
                <a:latin typeface="Consolas" pitchFamily="49" charset="0"/>
              </a:rPr>
              <a:t>snsState</a:t>
            </a:r>
            <a:r>
              <a:rPr lang="en-US" dirty="0" smtClean="0">
                <a:latin typeface="Consolas" pitchFamily="49" charset="0"/>
              </a:rPr>
              <a:t>" </a:t>
            </a:r>
            <a:r>
              <a:rPr lang="en-US" dirty="0" err="1" smtClean="0">
                <a:latin typeface="Consolas" pitchFamily="49" charset="0"/>
              </a:rPr>
              <a:t>connectionString</a:t>
            </a:r>
            <a:r>
              <a:rPr lang="en-US" dirty="0" smtClean="0">
                <a:latin typeface="Consolas" pitchFamily="49" charset="0"/>
              </a:rPr>
              <a:t>="Data Source=192.168.101.62;Initial Catalog=</a:t>
            </a:r>
            <a:r>
              <a:rPr lang="en-US" dirty="0" err="1" smtClean="0">
                <a:latin typeface="Consolas" pitchFamily="49" charset="0"/>
              </a:rPr>
              <a:t>apistate.example.com;Persist</a:t>
            </a:r>
            <a:r>
              <a:rPr lang="en-US" dirty="0" smtClean="0">
                <a:latin typeface="Consolas" pitchFamily="49" charset="0"/>
              </a:rPr>
              <a:t> Security Info=</a:t>
            </a:r>
            <a:r>
              <a:rPr lang="en-US" dirty="0" err="1" smtClean="0">
                <a:latin typeface="Consolas" pitchFamily="49" charset="0"/>
              </a:rPr>
              <a:t>True;User</a:t>
            </a:r>
            <a:r>
              <a:rPr lang="en-US" dirty="0" smtClean="0">
                <a:latin typeface="Consolas" pitchFamily="49" charset="0"/>
              </a:rPr>
              <a:t> ID=</a:t>
            </a:r>
            <a:r>
              <a:rPr lang="en-US" dirty="0" err="1" smtClean="0">
                <a:latin typeface="Consolas" pitchFamily="49" charset="0"/>
              </a:rPr>
              <a:t>api.example.com;Password</a:t>
            </a:r>
            <a:r>
              <a:rPr lang="en-US" dirty="0" smtClean="0">
                <a:latin typeface="Consolas" pitchFamily="49" charset="0"/>
              </a:rPr>
              <a:t>=$%</a:t>
            </a:r>
            <a:r>
              <a:rPr lang="en-US" dirty="0" err="1" smtClean="0">
                <a:latin typeface="Consolas" pitchFamily="49" charset="0"/>
              </a:rPr>
              <a:t>Ym</a:t>
            </a:r>
            <a:r>
              <a:rPr lang="en-US" dirty="0" smtClean="0">
                <a:latin typeface="Consolas" pitchFamily="49" charset="0"/>
              </a:rPr>
              <a:t>*k3xtt4#bNNu;Connect Timeout=60;Min Pool Size=0;Max Pool Size=100;" </a:t>
            </a:r>
            <a:r>
              <a:rPr lang="en-US" dirty="0" err="1" smtClean="0">
                <a:latin typeface="Consolas" pitchFamily="49" charset="0"/>
              </a:rPr>
              <a:t>providerName</a:t>
            </a:r>
            <a:r>
              <a:rPr lang="en-US" dirty="0" smtClean="0">
                <a:latin typeface="Consolas" pitchFamily="49" charset="0"/>
              </a:rPr>
              <a:t>="</a:t>
            </a:r>
            <a:r>
              <a:rPr lang="en-US" dirty="0" err="1" smtClean="0">
                <a:latin typeface="Consolas" pitchFamily="49" charset="0"/>
              </a:rPr>
              <a:t>System.Data.SqlClient</a:t>
            </a:r>
            <a:r>
              <a:rPr lang="en-US" dirty="0" smtClean="0">
                <a:latin typeface="Consolas" pitchFamily="49" charset="0"/>
              </a:rPr>
              <a:t>" /&gt;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</a:rPr>
              <a:t>  &lt;/</a:t>
            </a:r>
            <a:r>
              <a:rPr lang="en-US" dirty="0" err="1" smtClean="0">
                <a:latin typeface="Consolas" pitchFamily="49" charset="0"/>
              </a:rPr>
              <a:t>connectionStrings</a:t>
            </a:r>
            <a:r>
              <a:rPr lang="en-US" dirty="0" smtClean="0">
                <a:latin typeface="Consolas" pitchFamily="49" charset="0"/>
              </a:rPr>
              <a:t>&gt;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Enable </a:t>
            </a:r>
            <a:r>
              <a:rPr lang="en-US" dirty="0" err="1" smtClean="0"/>
              <a:t>SQLServer</a:t>
            </a:r>
            <a:r>
              <a:rPr lang="en-US" dirty="0" smtClean="0"/>
              <a:t> Session Mode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Consolas" pitchFamily="49" charset="0"/>
              </a:rPr>
              <a:t>&lt;</a:t>
            </a:r>
            <a:r>
              <a:rPr lang="en-US" sz="2200" dirty="0" err="1" smtClean="0">
                <a:latin typeface="Consolas" pitchFamily="49" charset="0"/>
              </a:rPr>
              <a:t>connectionStrings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configSource</a:t>
            </a:r>
            <a:r>
              <a:rPr lang="en-US" sz="2200" dirty="0" smtClean="0">
                <a:latin typeface="Consolas" pitchFamily="49" charset="0"/>
              </a:rPr>
              <a:t>="</a:t>
            </a:r>
            <a:r>
              <a:rPr lang="en-US" sz="2200" i="1" dirty="0" err="1" smtClean="0">
                <a:solidFill>
                  <a:srgbClr val="C00000"/>
                </a:solidFill>
                <a:latin typeface="Consolas" pitchFamily="49" charset="0"/>
              </a:rPr>
              <a:t>web.connectionStrings.config</a:t>
            </a:r>
            <a:r>
              <a:rPr lang="en-US" sz="2200" dirty="0" smtClean="0">
                <a:latin typeface="Consolas" pitchFamily="49" charset="0"/>
              </a:rPr>
              <a:t>" /&gt;</a:t>
            </a:r>
          </a:p>
          <a:p>
            <a:r>
              <a:rPr lang="en-US" sz="2200" dirty="0" smtClean="0">
                <a:latin typeface="Consolas" pitchFamily="49" charset="0"/>
              </a:rPr>
              <a:t>&lt;</a:t>
            </a:r>
            <a:r>
              <a:rPr lang="en-US" sz="2200" dirty="0" err="1" smtClean="0">
                <a:latin typeface="Consolas" pitchFamily="49" charset="0"/>
              </a:rPr>
              <a:t>sessionState</a:t>
            </a:r>
            <a:r>
              <a:rPr lang="en-US" sz="2200" dirty="0" smtClean="0">
                <a:latin typeface="Consolas" pitchFamily="49" charset="0"/>
              </a:rPr>
              <a:t> timeout="25" </a:t>
            </a:r>
            <a:r>
              <a:rPr lang="en-US" sz="2200" dirty="0" err="1" smtClean="0">
                <a:latin typeface="Consolas" pitchFamily="49" charset="0"/>
              </a:rPr>
              <a:t>cookieless</a:t>
            </a:r>
            <a:r>
              <a:rPr lang="en-US" sz="2200" dirty="0" smtClean="0">
                <a:latin typeface="Consolas" pitchFamily="49" charset="0"/>
              </a:rPr>
              <a:t>="false" </a:t>
            </a:r>
            <a:r>
              <a:rPr lang="en-US" sz="2200" dirty="0" err="1" smtClean="0">
                <a:latin typeface="Consolas" pitchFamily="49" charset="0"/>
              </a:rPr>
              <a:t>regenerateExpiredSessionId</a:t>
            </a:r>
            <a:r>
              <a:rPr lang="en-US" sz="2200" dirty="0" smtClean="0">
                <a:latin typeface="Consolas" pitchFamily="49" charset="0"/>
              </a:rPr>
              <a:t>="true" mode="</a:t>
            </a:r>
            <a:r>
              <a:rPr lang="en-US" sz="2200" b="1" i="1" dirty="0" err="1" smtClean="0">
                <a:solidFill>
                  <a:srgbClr val="C00000"/>
                </a:solidFill>
                <a:latin typeface="Consolas" pitchFamily="49" charset="0"/>
              </a:rPr>
              <a:t>SQLServer</a:t>
            </a:r>
            <a:r>
              <a:rPr lang="en-US" sz="2200" dirty="0" smtClean="0">
                <a:latin typeface="Consolas" pitchFamily="49" charset="0"/>
              </a:rPr>
              <a:t>" </a:t>
            </a:r>
            <a:r>
              <a:rPr lang="en-US" sz="2200" dirty="0" err="1" smtClean="0">
                <a:latin typeface="Consolas" pitchFamily="49" charset="0"/>
              </a:rPr>
              <a:t>allowCustomSqlDatabase</a:t>
            </a:r>
            <a:r>
              <a:rPr lang="en-US" sz="2200" dirty="0" smtClean="0">
                <a:latin typeface="Consolas" pitchFamily="49" charset="0"/>
              </a:rPr>
              <a:t>="true" </a:t>
            </a:r>
            <a:r>
              <a:rPr lang="en-US" sz="2200" dirty="0" err="1" smtClean="0">
                <a:latin typeface="Consolas" pitchFamily="49" charset="0"/>
              </a:rPr>
              <a:t>sqlConnectionString</a:t>
            </a:r>
            <a:r>
              <a:rPr lang="en-US" sz="2200" dirty="0" smtClean="0">
                <a:latin typeface="Consolas" pitchFamily="49" charset="0"/>
              </a:rPr>
              <a:t>="</a:t>
            </a:r>
            <a:r>
              <a:rPr lang="en-US" sz="2200" i="1" dirty="0" err="1" smtClean="0">
                <a:solidFill>
                  <a:srgbClr val="C00000"/>
                </a:solidFill>
                <a:latin typeface="Consolas" pitchFamily="49" charset="0"/>
              </a:rPr>
              <a:t>snsState</a:t>
            </a:r>
            <a:r>
              <a:rPr lang="en-US" sz="2200" dirty="0" smtClean="0">
                <a:latin typeface="Consolas" pitchFamily="49" charset="0"/>
              </a:rPr>
              <a:t>" /&gt;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19175" y="4038600"/>
            <a:ext cx="710565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1. Enable State Service Remote Connection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Consolas" pitchFamily="49" charset="0"/>
              </a:rPr>
              <a:t>HKEY_LOCAL_MACHINE\SYSTEM\</a:t>
            </a:r>
            <a:r>
              <a:rPr lang="en-US" sz="2200" dirty="0" err="1" smtClean="0">
                <a:latin typeface="Consolas" pitchFamily="49" charset="0"/>
              </a:rPr>
              <a:t>CurrentControlSet</a:t>
            </a:r>
            <a:r>
              <a:rPr lang="en-US" sz="2200" dirty="0" smtClean="0">
                <a:latin typeface="Consolas" pitchFamily="49" charset="0"/>
              </a:rPr>
              <a:t>\Services\</a:t>
            </a:r>
            <a:r>
              <a:rPr lang="en-US" sz="2200" dirty="0" err="1" smtClean="0">
                <a:latin typeface="Consolas" pitchFamily="49" charset="0"/>
              </a:rPr>
              <a:t>aspnet_state</a:t>
            </a:r>
            <a:r>
              <a:rPr lang="en-US" sz="2200" dirty="0" smtClean="0">
                <a:latin typeface="Consolas" pitchFamily="49" charset="0"/>
              </a:rPr>
              <a:t>\Parameters\</a:t>
            </a:r>
            <a:r>
              <a:rPr lang="en-US" sz="2200" dirty="0" err="1" smtClean="0">
                <a:latin typeface="Consolas" pitchFamily="49" charset="0"/>
              </a:rPr>
              <a:t>AllowRemoteConnection</a:t>
            </a:r>
            <a:endParaRPr lang="en-US" sz="2200" dirty="0">
              <a:latin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2667000"/>
            <a:ext cx="6390640" cy="3220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Open State Service Firewall 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+mj-lt"/>
              </a:rPr>
              <a:t>Port: </a:t>
            </a:r>
            <a:r>
              <a:rPr lang="en-US" sz="2200" b="1" dirty="0" smtClean="0">
                <a:latin typeface="+mj-lt"/>
              </a:rPr>
              <a:t>42424</a:t>
            </a:r>
            <a:endParaRPr lang="en-US" sz="2200" b="1" dirty="0">
              <a:latin typeface="+mj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743200"/>
            <a:ext cx="728726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Start Session State 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net start </a:t>
            </a:r>
            <a:r>
              <a:rPr lang="en-US" sz="2400" dirty="0" err="1" smtClean="0">
                <a:latin typeface="Consolas" pitchFamily="49" charset="0"/>
              </a:rPr>
              <a:t>aspnet_state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9738" y="2593975"/>
            <a:ext cx="8264525" cy="296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4. Enable </a:t>
            </a:r>
            <a:r>
              <a:rPr lang="en-US" sz="4200" dirty="0" err="1" smtClean="0"/>
              <a:t>StateServer</a:t>
            </a:r>
            <a:r>
              <a:rPr lang="en-US" sz="4200" dirty="0" smtClean="0"/>
              <a:t> Session Mode</a:t>
            </a:r>
            <a:endParaRPr lang="en-US" sz="4200" dirty="0"/>
          </a:p>
        </p:txBody>
      </p:sp>
      <p:sp>
        <p:nvSpPr>
          <p:cNvPr id="4" name="Rectangle 3"/>
          <p:cNvSpPr/>
          <p:nvPr/>
        </p:nvSpPr>
        <p:spPr>
          <a:xfrm>
            <a:off x="533400" y="2438400"/>
            <a:ext cx="7924800" cy="255454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 smtClean="0">
                <a:latin typeface="Consolas" pitchFamily="49" charset="0"/>
              </a:rPr>
              <a:t> &lt;system.web&gt;</a:t>
            </a:r>
          </a:p>
          <a:p>
            <a:pPr>
              <a:buNone/>
            </a:pPr>
            <a:r>
              <a:rPr lang="en-US" sz="2000" dirty="0" smtClean="0">
                <a:latin typeface="Consolas" pitchFamily="49" charset="0"/>
              </a:rPr>
              <a:t>    &lt;</a:t>
            </a:r>
            <a:r>
              <a:rPr lang="en-US" sz="2000" dirty="0" err="1" smtClean="0">
                <a:latin typeface="Consolas" pitchFamily="49" charset="0"/>
              </a:rPr>
              <a:t>httpCookies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requireSSL</a:t>
            </a:r>
            <a:r>
              <a:rPr lang="en-US" sz="2000" dirty="0" smtClean="0">
                <a:latin typeface="Consolas" pitchFamily="49" charset="0"/>
              </a:rPr>
              <a:t>="true" /&gt;</a:t>
            </a:r>
          </a:p>
          <a:p>
            <a:pPr>
              <a:buNone/>
            </a:pPr>
            <a:r>
              <a:rPr lang="en-US" sz="2000" dirty="0" smtClean="0">
                <a:latin typeface="Consolas" pitchFamily="49" charset="0"/>
              </a:rPr>
              <a:t>    &lt;</a:t>
            </a:r>
            <a:r>
              <a:rPr lang="en-US" sz="2000" dirty="0" err="1" smtClean="0">
                <a:latin typeface="Consolas" pitchFamily="49" charset="0"/>
              </a:rPr>
              <a:t>machineKey</a:t>
            </a:r>
            <a:r>
              <a:rPr lang="en-US" sz="2000" dirty="0" smtClean="0">
                <a:latin typeface="Consolas" pitchFamily="49" charset="0"/>
              </a:rPr>
              <a:t> validation="SHA1" /&gt;</a:t>
            </a:r>
          </a:p>
          <a:p>
            <a:pPr>
              <a:buNone/>
            </a:pPr>
            <a:r>
              <a:rPr lang="en-US" sz="2000" dirty="0" smtClean="0">
                <a:latin typeface="Consolas" pitchFamily="49" charset="0"/>
              </a:rPr>
              <a:t>    &lt;</a:t>
            </a:r>
            <a:r>
              <a:rPr lang="en-US" sz="2000" dirty="0" err="1" smtClean="0">
                <a:latin typeface="Consolas" pitchFamily="49" charset="0"/>
              </a:rPr>
              <a:t>sessionState</a:t>
            </a:r>
            <a:r>
              <a:rPr lang="en-US" sz="2000" dirty="0" smtClean="0">
                <a:latin typeface="Consolas" pitchFamily="49" charset="0"/>
              </a:rPr>
              <a:t> timeout="25" </a:t>
            </a:r>
            <a:r>
              <a:rPr lang="en-US" sz="2000" dirty="0" err="1" smtClean="0">
                <a:latin typeface="Consolas" pitchFamily="49" charset="0"/>
              </a:rPr>
              <a:t>cookieless</a:t>
            </a:r>
            <a:r>
              <a:rPr lang="en-US" sz="2000" dirty="0" smtClean="0">
                <a:latin typeface="Consolas" pitchFamily="49" charset="0"/>
              </a:rPr>
              <a:t>="false" </a:t>
            </a:r>
            <a:r>
              <a:rPr lang="en-US" sz="2000" dirty="0" err="1" smtClean="0">
                <a:latin typeface="Consolas" pitchFamily="49" charset="0"/>
              </a:rPr>
              <a:t>regenerateExpiredSessionId</a:t>
            </a:r>
            <a:r>
              <a:rPr lang="en-US" sz="2000" dirty="0" smtClean="0">
                <a:latin typeface="Consolas" pitchFamily="49" charset="0"/>
              </a:rPr>
              <a:t>="true" mode="</a:t>
            </a:r>
            <a:r>
              <a:rPr lang="en-US" sz="2000" b="1" dirty="0" err="1" smtClean="0">
                <a:solidFill>
                  <a:srgbClr val="C00000"/>
                </a:solidFill>
                <a:latin typeface="Consolas" pitchFamily="49" charset="0"/>
              </a:rPr>
              <a:t>StateServer</a:t>
            </a:r>
            <a:r>
              <a:rPr lang="en-US" sz="2000" dirty="0" smtClean="0">
                <a:latin typeface="Consolas" pitchFamily="49" charset="0"/>
              </a:rPr>
              <a:t>" </a:t>
            </a:r>
            <a:r>
              <a:rPr lang="en-US" sz="2000" dirty="0" err="1" smtClean="0">
                <a:latin typeface="Consolas" pitchFamily="49" charset="0"/>
              </a:rPr>
              <a:t>stateConnectionString</a:t>
            </a:r>
            <a:r>
              <a:rPr lang="en-US" sz="2000" dirty="0" smtClean="0">
                <a:latin typeface="Consolas" pitchFamily="49" charset="0"/>
              </a:rPr>
              <a:t>="</a:t>
            </a:r>
            <a:r>
              <a:rPr lang="en-US" sz="2000" dirty="0" err="1" smtClean="0">
                <a:latin typeface="Consolas" pitchFamily="49" charset="0"/>
              </a:rPr>
              <a:t>tcpip</a:t>
            </a:r>
            <a:r>
              <a:rPr lang="en-US" sz="2000" dirty="0" smtClean="0">
                <a:latin typeface="Consolas" pitchFamily="49" charset="0"/>
              </a:rPr>
              <a:t>=192.168.101.120:42424" </a:t>
            </a:r>
            <a:r>
              <a:rPr lang="en-US" sz="2000" dirty="0" err="1" smtClean="0">
                <a:latin typeface="Consolas" pitchFamily="49" charset="0"/>
              </a:rPr>
              <a:t>stateNetworkTimeout</a:t>
            </a:r>
            <a:r>
              <a:rPr lang="en-US" sz="2000" dirty="0" smtClean="0">
                <a:latin typeface="Consolas" pitchFamily="49" charset="0"/>
              </a:rPr>
              <a:t>="60" </a:t>
            </a:r>
            <a:r>
              <a:rPr lang="en-US" sz="2000" dirty="0" err="1" smtClean="0">
                <a:latin typeface="Consolas" pitchFamily="49" charset="0"/>
              </a:rPr>
              <a:t>useHostingIdentity</a:t>
            </a:r>
            <a:r>
              <a:rPr lang="en-US" sz="2000" dirty="0" smtClean="0">
                <a:latin typeface="Consolas" pitchFamily="49" charset="0"/>
              </a:rPr>
              <a:t>="false" /&gt;</a:t>
            </a:r>
          </a:p>
          <a:p>
            <a:pPr>
              <a:buNone/>
            </a:pPr>
            <a:r>
              <a:rPr lang="en-US" sz="2000" dirty="0" smtClean="0">
                <a:latin typeface="Consolas" pitchFamily="49" charset="0"/>
              </a:rPr>
              <a:t>...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Distributed Cache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https://github.com/memcached/memcached/wiki</a:t>
            </a:r>
            <a:endParaRPr lang="en-US" sz="2400" dirty="0" smtClean="0"/>
          </a:p>
          <a:p>
            <a:r>
              <a:rPr lang="en-US" sz="2400" dirty="0" smtClean="0">
                <a:hlinkClick r:id="rId3"/>
              </a:rPr>
              <a:t>https://redis.io/docs/getting-started/</a:t>
            </a:r>
            <a:endParaRPr lang="en-US" sz="2400" dirty="0" smtClean="0"/>
          </a:p>
          <a:p>
            <a:r>
              <a:rPr lang="en-US" sz="2400" dirty="0" smtClean="0">
                <a:hlinkClick r:id="rId4"/>
              </a:rPr>
              <a:t>https://codeburst.io/redis-what-and-why-d52b6829813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667000" y="3162300"/>
            <a:ext cx="3954780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Scaling Out File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https://www.altaro.com/hyper-v/scale-out-file-server-hyper-v/</a:t>
            </a:r>
            <a:endParaRPr lang="en-US" sz="2200" dirty="0" smtClean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43200" y="2362200"/>
            <a:ext cx="3825240" cy="3634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img.haikudeck.com/mg/C42A8FE8-C585-4360-984E-C8FC7552298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3810000"/>
            <a:ext cx="3251200" cy="24384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Identify a Concrete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As an architect, I want the data to </a:t>
            </a:r>
            <a:r>
              <a:rPr lang="en-US" sz="2400" i="1" dirty="0" smtClean="0">
                <a:solidFill>
                  <a:srgbClr val="C00000"/>
                </a:solidFill>
              </a:rPr>
              <a:t>scale horizontally</a:t>
            </a:r>
            <a:r>
              <a:rPr lang="en-US" sz="2400" dirty="0" smtClean="0"/>
              <a:t> so it can serve as many clients as needed.</a:t>
            </a:r>
          </a:p>
          <a:p>
            <a:pPr lvl="1"/>
            <a:r>
              <a:rPr lang="en-US" sz="2000" dirty="0" err="1" smtClean="0"/>
              <a:t>MongoDB</a:t>
            </a:r>
            <a:r>
              <a:rPr lang="en-US" sz="2000" dirty="0" smtClean="0"/>
              <a:t> (Cassandra)</a:t>
            </a:r>
          </a:p>
          <a:p>
            <a:pPr lvl="1"/>
            <a:r>
              <a:rPr lang="en-US" sz="2000" dirty="0" err="1" smtClean="0"/>
              <a:t>mySQL</a:t>
            </a:r>
            <a:endParaRPr lang="en-US" sz="2000" dirty="0" smtClean="0"/>
          </a:p>
          <a:p>
            <a:pPr lvl="1"/>
            <a:r>
              <a:rPr lang="en-US" sz="2000" dirty="0" smtClean="0"/>
              <a:t>MS SQL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4572000"/>
            <a:ext cx="2181225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Scaling Out 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267200" cy="4525963"/>
          </a:xfrm>
        </p:spPr>
        <p:txBody>
          <a:bodyPr/>
          <a:lstStyle/>
          <a:p>
            <a:r>
              <a:rPr lang="en-US" sz="2400" dirty="0" smtClean="0"/>
              <a:t>Scaling processing</a:t>
            </a:r>
          </a:p>
          <a:p>
            <a:r>
              <a:rPr lang="en-US" sz="2400" dirty="0" smtClean="0"/>
              <a:t>Scaling storage</a:t>
            </a:r>
            <a:endParaRPr lang="en-US" sz="2400" dirty="0"/>
          </a:p>
        </p:txBody>
      </p:sp>
      <p:pic>
        <p:nvPicPr>
          <p:cNvPr id="4" name="Picture 2" descr="http://www.cestfait.ch/sites/default/files/db_replicatio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1752600"/>
            <a:ext cx="4095750" cy="4286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Scalable Shared Databases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You create </a:t>
            </a:r>
            <a:r>
              <a:rPr lang="en-US" sz="2000" i="1" dirty="0" smtClean="0">
                <a:solidFill>
                  <a:srgbClr val="C00000"/>
                </a:solidFill>
              </a:rPr>
              <a:t>a database</a:t>
            </a:r>
            <a:r>
              <a:rPr lang="en-US" sz="2000" dirty="0" smtClean="0"/>
              <a:t> on a </a:t>
            </a:r>
            <a:r>
              <a:rPr lang="en-US" sz="2000" i="1" dirty="0" smtClean="0">
                <a:solidFill>
                  <a:srgbClr val="C00000"/>
                </a:solidFill>
              </a:rPr>
              <a:t>storage area network (SAN)</a:t>
            </a:r>
            <a:r>
              <a:rPr lang="en-US" sz="2000" dirty="0" smtClean="0"/>
              <a:t>, and up to eight SQL Server instances running on different servers attach to the database, and start handling queries.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Scalable Shared Databases work only if the database is attached as a </a:t>
            </a:r>
            <a:r>
              <a:rPr lang="en-US" sz="2000" i="1" dirty="0" smtClean="0">
                <a:solidFill>
                  <a:srgbClr val="C00000"/>
                </a:solidFill>
              </a:rPr>
              <a:t>Read Only</a:t>
            </a:r>
            <a:r>
              <a:rPr lang="en-US" sz="2000" dirty="0" smtClean="0"/>
              <a:t> database.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Scalable Shared Databases are great for data warehouses or reporting databases, but they are </a:t>
            </a:r>
            <a:r>
              <a:rPr lang="en-US" sz="2000" i="1" dirty="0" smtClean="0">
                <a:solidFill>
                  <a:srgbClr val="C00000"/>
                </a:solidFill>
              </a:rPr>
              <a:t>not suitable</a:t>
            </a:r>
            <a:r>
              <a:rPr lang="en-US" sz="2000" dirty="0" smtClean="0"/>
              <a:t> for applications that </a:t>
            </a:r>
            <a:r>
              <a:rPr lang="en-US" sz="2000" u="sng" dirty="0" smtClean="0"/>
              <a:t>update</a:t>
            </a:r>
            <a:r>
              <a:rPr lang="en-US" sz="2000" dirty="0" smtClean="0"/>
              <a:t> data.</a:t>
            </a:r>
          </a:p>
          <a:p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4114800"/>
            <a:ext cx="5314950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Linked Servers and Distributed Queries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SQL Server has the ability to </a:t>
            </a:r>
            <a:r>
              <a:rPr lang="en-US" sz="2400" i="1" dirty="0" smtClean="0">
                <a:solidFill>
                  <a:srgbClr val="C00000"/>
                </a:solidFill>
              </a:rPr>
              <a:t>query remote database objects</a:t>
            </a:r>
            <a:r>
              <a:rPr lang="en-US" sz="2400" dirty="0" smtClean="0"/>
              <a:t> as if they were local.</a:t>
            </a:r>
          </a:p>
          <a:p>
            <a:r>
              <a:rPr lang="en-US" sz="2400" dirty="0" smtClean="0"/>
              <a:t>This means that a scaled out database can </a:t>
            </a:r>
            <a:r>
              <a:rPr lang="en-US" sz="2400" i="1" dirty="0" smtClean="0">
                <a:solidFill>
                  <a:srgbClr val="C00000"/>
                </a:solidFill>
              </a:rPr>
              <a:t>look like</a:t>
            </a:r>
            <a:r>
              <a:rPr lang="en-US" sz="2400" dirty="0" smtClean="0"/>
              <a:t> a single large database to an application.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major change to the SQL Queries</a:t>
            </a:r>
            <a:r>
              <a:rPr lang="en-US" sz="2400" dirty="0" smtClean="0"/>
              <a:t> is that the table names will now include the name of the </a:t>
            </a:r>
            <a:r>
              <a:rPr lang="en-US" sz="2400" i="1" dirty="0" smtClean="0">
                <a:solidFill>
                  <a:srgbClr val="C00000"/>
                </a:solidFill>
              </a:rPr>
              <a:t>linked server</a:t>
            </a:r>
            <a:r>
              <a:rPr lang="en-US" sz="2400" dirty="0" smtClean="0"/>
              <a:t> where the data is located.</a:t>
            </a:r>
          </a:p>
          <a:p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5172075"/>
            <a:ext cx="3019425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Peer-to-Peer Replication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>
                <a:hlinkClick r:id="rId2"/>
              </a:rPr>
              <a:t>https://docs.microsoft.com/en-us/sql/relational-databases/replication/transactional/peer-to-peer-transactional-replication?redirectedfrom=MSDN&amp;view=sql-server-ver15</a:t>
            </a:r>
            <a:endParaRPr lang="en-US" sz="1600" dirty="0" smtClean="0"/>
          </a:p>
          <a:p>
            <a:r>
              <a:rPr lang="en-US" sz="1600" dirty="0" smtClean="0"/>
              <a:t>Each database engine maintains </a:t>
            </a:r>
            <a:r>
              <a:rPr lang="en-US" sz="1600" i="1" dirty="0" smtClean="0">
                <a:solidFill>
                  <a:srgbClr val="C00000"/>
                </a:solidFill>
              </a:rPr>
              <a:t>its own copy</a:t>
            </a:r>
            <a:r>
              <a:rPr lang="en-US" sz="1600" dirty="0" smtClean="0"/>
              <a:t>.</a:t>
            </a:r>
          </a:p>
          <a:p>
            <a:r>
              <a:rPr lang="en-US" sz="1600" i="1" dirty="0" smtClean="0">
                <a:solidFill>
                  <a:srgbClr val="C00000"/>
                </a:solidFill>
              </a:rPr>
              <a:t>Replication</a:t>
            </a:r>
            <a:r>
              <a:rPr lang="en-US" sz="1600" dirty="0" smtClean="0"/>
              <a:t> is used to propagate changes to all copies of the data.</a:t>
            </a:r>
          </a:p>
          <a:p>
            <a:r>
              <a:rPr lang="en-US" sz="1600" dirty="0" smtClean="0"/>
              <a:t>Peer-to-Peer replication does </a:t>
            </a:r>
            <a:r>
              <a:rPr lang="en-US" sz="1600" u="sng" dirty="0" smtClean="0"/>
              <a:t>not</a:t>
            </a:r>
            <a:r>
              <a:rPr lang="en-US" sz="1600" dirty="0" smtClean="0"/>
              <a:t> provide </a:t>
            </a:r>
            <a:r>
              <a:rPr lang="en-US" sz="1600" i="1" dirty="0" smtClean="0">
                <a:solidFill>
                  <a:srgbClr val="C00000"/>
                </a:solidFill>
              </a:rPr>
              <a:t>conflict resolution</a:t>
            </a:r>
            <a:r>
              <a:rPr lang="en-US" sz="1600" dirty="0" smtClean="0"/>
              <a:t>, and therefore it is recommended only in configurations where only one copy of a given data element is updated.</a:t>
            </a:r>
          </a:p>
          <a:p>
            <a:r>
              <a:rPr lang="en-US" sz="1600" dirty="0" smtClean="0"/>
              <a:t>There is always some </a:t>
            </a:r>
            <a:r>
              <a:rPr lang="en-US" sz="1600" i="1" dirty="0" smtClean="0">
                <a:solidFill>
                  <a:srgbClr val="C00000"/>
                </a:solidFill>
              </a:rPr>
              <a:t>latency</a:t>
            </a:r>
            <a:r>
              <a:rPr lang="en-US" sz="1600" dirty="0" smtClean="0"/>
              <a:t> involved when changes are replicated. For applications that require the latest change to be seen immediately, dynamically load balancing the application across multiple nodes can be problematic.</a:t>
            </a:r>
          </a:p>
        </p:txBody>
      </p:sp>
      <p:pic>
        <p:nvPicPr>
          <p:cNvPr id="1026" name="Picture 2" descr="https://docs.microsoft.com/en-us/sql/relational-databases/replication/transactional/media/repl-multinode-04.gif?view=sql-server-ver1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4449762"/>
            <a:ext cx="2794000" cy="21034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Distributed Partitioned Views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200" dirty="0" smtClean="0"/>
              <a:t>The data in a table is </a:t>
            </a:r>
            <a:r>
              <a:rPr lang="en-US" sz="2200" i="1" dirty="0" smtClean="0">
                <a:solidFill>
                  <a:srgbClr val="C00000"/>
                </a:solidFill>
              </a:rPr>
              <a:t>partitioned among tables</a:t>
            </a:r>
            <a:r>
              <a:rPr lang="en-US" sz="2200" dirty="0" smtClean="0"/>
              <a:t> in </a:t>
            </a:r>
            <a:r>
              <a:rPr lang="en-US" sz="2200" u="sng" dirty="0" smtClean="0"/>
              <a:t>several distributed databases</a:t>
            </a:r>
            <a:r>
              <a:rPr lang="en-US" sz="2200" dirty="0" smtClean="0"/>
              <a:t>, based on </a:t>
            </a:r>
            <a:r>
              <a:rPr lang="en-US" sz="2200" u="sng" dirty="0" smtClean="0"/>
              <a:t>a partitioning key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For example, a customer table might be partitioned on customer number ranges (1–1000 in one database, 10001–20000 in a second database, 20001–30000 in a third, and so on).</a:t>
            </a:r>
          </a:p>
        </p:txBody>
      </p:sp>
      <p:graphicFrame>
        <p:nvGraphicFramePr>
          <p:cNvPr id="4" name="Content Placeholder 4"/>
          <p:cNvGraphicFramePr>
            <a:graphicFrameLocks/>
          </p:cNvGraphicFramePr>
          <p:nvPr/>
        </p:nvGraphicFramePr>
        <p:xfrm>
          <a:off x="1524000" y="3581400"/>
          <a:ext cx="6096000" cy="198120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3048000"/>
                <a:gridCol w="3048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Customer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Database </a:t>
                      </a:r>
                      <a:r>
                        <a:rPr lang="en-US" sz="2000" dirty="0"/>
                        <a:t>ID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115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10016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2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10017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2</a:t>
                      </a:r>
                      <a:endParaRPr lang="en-US" sz="20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20018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590800" y="5791200"/>
            <a:ext cx="42023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+mj-lt"/>
              </a:rPr>
              <a:t>Example Partition Lookup Table</a:t>
            </a:r>
            <a:endParaRPr lang="en-US" sz="2400" b="1" dirty="0">
              <a:latin typeface="+mj-l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Distributed Partitioned Views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application</a:t>
            </a:r>
            <a:r>
              <a:rPr lang="en-US" sz="2000" dirty="0" smtClean="0"/>
              <a:t> is involved in the decision about </a:t>
            </a:r>
            <a:r>
              <a:rPr lang="en-US" sz="2000" u="sng" dirty="0" smtClean="0"/>
              <a:t>where to execute a query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Check the </a:t>
            </a:r>
            <a:r>
              <a:rPr lang="en-US" sz="2000" i="1" dirty="0" smtClean="0">
                <a:solidFill>
                  <a:srgbClr val="C00000"/>
                </a:solidFill>
              </a:rPr>
              <a:t>partition lookup table</a:t>
            </a:r>
            <a:r>
              <a:rPr lang="en-US" sz="2000" dirty="0" smtClean="0"/>
              <a:t> to identify which customers are located in which database.</a:t>
            </a:r>
          </a:p>
          <a:p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query</a:t>
            </a:r>
            <a:r>
              <a:rPr lang="en-US" sz="2000" dirty="0" smtClean="0"/>
              <a:t> that accesses </a:t>
            </a:r>
            <a:r>
              <a:rPr lang="en-US" sz="2000" u="sng" dirty="0" smtClean="0"/>
              <a:t>a particular customer number</a:t>
            </a:r>
            <a:r>
              <a:rPr lang="en-US" sz="2000" dirty="0" smtClean="0"/>
              <a:t> will be executed </a:t>
            </a:r>
            <a:r>
              <a:rPr lang="en-US" sz="2000" u="sng" dirty="0" smtClean="0"/>
              <a:t>only</a:t>
            </a:r>
            <a:r>
              <a:rPr lang="en-US" sz="2000" dirty="0" smtClean="0"/>
              <a:t> on the database that contains the desired customer number.</a:t>
            </a:r>
          </a:p>
          <a:p>
            <a:r>
              <a:rPr lang="en-US" sz="2000" dirty="0" smtClean="0"/>
              <a:t>Queries that </a:t>
            </a:r>
            <a:r>
              <a:rPr lang="en-US" sz="2000" i="1" dirty="0" smtClean="0">
                <a:solidFill>
                  <a:srgbClr val="C00000"/>
                </a:solidFill>
              </a:rPr>
              <a:t>don't reference</a:t>
            </a:r>
            <a:r>
              <a:rPr lang="en-US" sz="2000" dirty="0" smtClean="0"/>
              <a:t> a particular customer number will have to be run on </a:t>
            </a:r>
            <a:r>
              <a:rPr lang="en-US" sz="2000" u="sng" dirty="0" smtClean="0"/>
              <a:t>all</a:t>
            </a:r>
            <a:r>
              <a:rPr lang="en-US" sz="2000" dirty="0" smtClean="0"/>
              <a:t> the partitions.</a:t>
            </a:r>
          </a:p>
          <a:p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1" y="4127500"/>
            <a:ext cx="3222625" cy="234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Horizontal Partitioning (</a:t>
            </a:r>
            <a:r>
              <a:rPr lang="en-US" dirty="0" err="1" smtClean="0"/>
              <a:t>Sharding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https://docs.microsoft.com/en-us/azure/architecture/best-practices/data-partitioning</a:t>
            </a:r>
            <a:endParaRPr lang="en-US" sz="2400" dirty="0" smtClean="0"/>
          </a:p>
          <a:p>
            <a:r>
              <a:rPr lang="en-US" sz="2400" i="1" dirty="0" err="1" smtClean="0">
                <a:solidFill>
                  <a:srgbClr val="C00000"/>
                </a:solidFill>
              </a:rPr>
              <a:t>Sharding</a:t>
            </a:r>
            <a:r>
              <a:rPr lang="en-US" sz="2400" dirty="0" smtClean="0"/>
              <a:t> </a:t>
            </a:r>
            <a:r>
              <a:rPr lang="en-US" sz="2400" u="sng" dirty="0" smtClean="0"/>
              <a:t>spreads the load</a:t>
            </a:r>
            <a:r>
              <a:rPr lang="en-US" sz="2400" dirty="0" smtClean="0"/>
              <a:t> over more computers, which reduces contention and improves performance.</a:t>
            </a:r>
            <a:endParaRPr lang="en-US" sz="2400" dirty="0"/>
          </a:p>
        </p:txBody>
      </p:sp>
      <p:pic>
        <p:nvPicPr>
          <p:cNvPr id="99330" name="Picture 2" descr="Horizontally partitioning (sharding) data based on a partition ke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3495674"/>
            <a:ext cx="6391275" cy="25241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Vertical Partitioning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To </a:t>
            </a:r>
            <a:r>
              <a:rPr lang="en-US" sz="2400" u="sng" dirty="0" smtClean="0"/>
              <a:t>reduce the I/O</a:t>
            </a:r>
            <a:r>
              <a:rPr lang="en-US" sz="2400" dirty="0" smtClean="0"/>
              <a:t> and performance costs associated with fetching items that are </a:t>
            </a:r>
            <a:r>
              <a:rPr lang="en-US" sz="2400" i="1" dirty="0" smtClean="0">
                <a:solidFill>
                  <a:srgbClr val="C00000"/>
                </a:solidFill>
              </a:rPr>
              <a:t>frequently accessed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100354" name="Picture 2" descr="Vertically partitioning data by its pattern of us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2895600"/>
            <a:ext cx="3952875" cy="2838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Repartition Data?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Have </a:t>
            </a:r>
            <a:r>
              <a:rPr lang="en-US" sz="2400" i="1" dirty="0" smtClean="0">
                <a:solidFill>
                  <a:srgbClr val="C00000"/>
                </a:solidFill>
              </a:rPr>
              <a:t>dynamic repartitioning strategies</a:t>
            </a:r>
            <a:r>
              <a:rPr lang="en-US" sz="2400" dirty="0" smtClean="0"/>
              <a:t> in place, to ensure that already-partitioned data can be </a:t>
            </a:r>
            <a:r>
              <a:rPr lang="en-US" sz="2400" u="sng" dirty="0" smtClean="0"/>
              <a:t>repartitioned</a:t>
            </a:r>
            <a:r>
              <a:rPr lang="en-US" sz="2400" dirty="0" smtClean="0"/>
              <a:t> in order to keep up with performance and scale metrics.</a:t>
            </a:r>
          </a:p>
        </p:txBody>
      </p:sp>
      <p:pic>
        <p:nvPicPr>
          <p:cNvPr id="97282" name="Picture 2" descr="https://blog.techcello.com/wp-content/uploads/2012/07/Database-Shardin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3352800"/>
            <a:ext cx="3333750" cy="1905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Service-Oriented Data Architecture [2]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/>
              <a:t>Using the database itself to </a:t>
            </a:r>
            <a:r>
              <a:rPr lang="en-US" sz="2200" u="sng" dirty="0" smtClean="0"/>
              <a:t>implement services</a:t>
            </a:r>
            <a:r>
              <a:rPr lang="en-US" sz="2200" dirty="0" smtClean="0"/>
              <a:t> for an SOA environment is called </a:t>
            </a:r>
            <a:r>
              <a:rPr lang="en-US" sz="2200" i="1" dirty="0" smtClean="0">
                <a:solidFill>
                  <a:srgbClr val="C00000"/>
                </a:solidFill>
              </a:rPr>
              <a:t>Service-Oriented Data Architecture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SODA uses </a:t>
            </a:r>
            <a:r>
              <a:rPr lang="en-US" sz="2200" i="1" dirty="0" smtClean="0">
                <a:solidFill>
                  <a:srgbClr val="C00000"/>
                </a:solidFill>
              </a:rPr>
              <a:t>Service Broker</a:t>
            </a:r>
            <a:r>
              <a:rPr lang="en-US" sz="2200" dirty="0" smtClean="0"/>
              <a:t> to </a:t>
            </a:r>
            <a:r>
              <a:rPr lang="en-US" sz="2200" u="sng" dirty="0" smtClean="0"/>
              <a:t>deliver</a:t>
            </a:r>
            <a:r>
              <a:rPr lang="en-US" sz="2200" dirty="0" smtClean="0"/>
              <a:t> and </a:t>
            </a:r>
            <a:r>
              <a:rPr lang="en-US" sz="2200" u="sng" dirty="0" smtClean="0"/>
              <a:t>queue service messages</a:t>
            </a:r>
            <a:r>
              <a:rPr lang="en-US" sz="2200" dirty="0" smtClean="0"/>
              <a:t>, and to manage the service processes that are implemented as CLR stored procedures.</a:t>
            </a:r>
          </a:p>
          <a:p>
            <a:r>
              <a:rPr lang="en-US" sz="2200" dirty="0" smtClean="0"/>
              <a:t>Services can </a:t>
            </a:r>
            <a:r>
              <a:rPr lang="en-US" sz="2200" i="1" dirty="0" smtClean="0">
                <a:solidFill>
                  <a:srgbClr val="C00000"/>
                </a:solidFill>
              </a:rPr>
              <a:t>be invoked</a:t>
            </a:r>
            <a:r>
              <a:rPr lang="en-US" sz="2200" dirty="0" smtClean="0"/>
              <a:t> by putting a message in a Service Broker queue, either directly through a normal database connection, or through the SQL Server 2005 Web Services interface.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Split the data</a:t>
            </a:r>
            <a:r>
              <a:rPr lang="en-US" sz="2200" dirty="0" smtClean="0"/>
              <a:t> so that each database contains the data for the services it contains.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Multiple copies</a:t>
            </a:r>
            <a:r>
              <a:rPr lang="en-US" sz="2200" dirty="0" smtClean="0"/>
              <a:t> of each service database can be created, with each copy handling a data partition.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21156</TotalTime>
  <Words>2087</Words>
  <Application>Microsoft Office PowerPoint</Application>
  <PresentationFormat>On-screen Show (4:3)</PresentationFormat>
  <Paragraphs>191</Paragraphs>
  <Slides>50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Office Theme</vt:lpstr>
      <vt:lpstr>Scalability</vt:lpstr>
      <vt:lpstr>Objectives</vt:lpstr>
      <vt:lpstr>Contents</vt:lpstr>
      <vt:lpstr>References</vt:lpstr>
      <vt:lpstr>Scalability [1]</vt:lpstr>
      <vt:lpstr>Scalability and Performance</vt:lpstr>
      <vt:lpstr>Nodes</vt:lpstr>
      <vt:lpstr>Scaling Up and Scaling Out</vt:lpstr>
      <vt:lpstr>Horizontally Scaling Compute Pattern</vt:lpstr>
      <vt:lpstr>Auto-Scaling</vt:lpstr>
      <vt:lpstr>Scalability vs. High Availability</vt:lpstr>
      <vt:lpstr>Slide 12</vt:lpstr>
      <vt:lpstr>1. Install k6 on macOS</vt:lpstr>
      <vt:lpstr>2. Create Script</vt:lpstr>
      <vt:lpstr>3. Run the Script on Cloud</vt:lpstr>
      <vt:lpstr>4. Review the Output</vt:lpstr>
      <vt:lpstr>5. Verify the OOM on the Server</vt:lpstr>
      <vt:lpstr>6. Run the Script Locally</vt:lpstr>
      <vt:lpstr>7. Check for Memory Leaks</vt:lpstr>
      <vt:lpstr>8. Understand PHP-FPM</vt:lpstr>
      <vt:lpstr>Slide 21</vt:lpstr>
      <vt:lpstr>Scaling Out Guidelines (I) [2]</vt:lpstr>
      <vt:lpstr>Scaling Out Guidelines (II)</vt:lpstr>
      <vt:lpstr>Slide 24</vt:lpstr>
      <vt:lpstr>(ASP.NET) Session Storage</vt:lpstr>
      <vt:lpstr>1. Create an SQL Server Database for SQLServer Session Mode</vt:lpstr>
      <vt:lpstr>2. Create a Connection String for SQLServer Session Mode</vt:lpstr>
      <vt:lpstr>3. Enable SQLServer Session Mode</vt:lpstr>
      <vt:lpstr>Slide 29</vt:lpstr>
      <vt:lpstr>1. Enable State Service Remote Connection</vt:lpstr>
      <vt:lpstr>2. Open State Service Firewall Port</vt:lpstr>
      <vt:lpstr>3. Start Session State Service</vt:lpstr>
      <vt:lpstr>4. Enable StateServer Session Mode</vt:lpstr>
      <vt:lpstr>Slide 34</vt:lpstr>
      <vt:lpstr>Distributed Cache [3]</vt:lpstr>
      <vt:lpstr>Slide 36</vt:lpstr>
      <vt:lpstr>Scaling Out File Server</vt:lpstr>
      <vt:lpstr>Slide 38</vt:lpstr>
      <vt:lpstr>Identify a Concrete Problem</vt:lpstr>
      <vt:lpstr>Scaling Out Database</vt:lpstr>
      <vt:lpstr>Scalable Shared Databases</vt:lpstr>
      <vt:lpstr>Linked Servers and Distributed Queries</vt:lpstr>
      <vt:lpstr>Peer-to-Peer Replication</vt:lpstr>
      <vt:lpstr>Distributed Partitioned Views (I)</vt:lpstr>
      <vt:lpstr>Distributed Partitioned Views (II)</vt:lpstr>
      <vt:lpstr>Horizontal Partitioning (Sharding)</vt:lpstr>
      <vt:lpstr>Vertical Partitioning</vt:lpstr>
      <vt:lpstr>How to Repartition Data?</vt:lpstr>
      <vt:lpstr>Service-Oriented Data Architecture [2]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5039</cp:revision>
  <dcterms:created xsi:type="dcterms:W3CDTF">2007-10-06T08:25:13Z</dcterms:created>
  <dcterms:modified xsi:type="dcterms:W3CDTF">2026-06-09T14:36:57Z</dcterms:modified>
</cp:coreProperties>
</file>