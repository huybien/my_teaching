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7"/>
  </p:notesMasterIdLst>
  <p:sldIdLst>
    <p:sldId id="502" r:id="rId2"/>
    <p:sldId id="503" r:id="rId3"/>
    <p:sldId id="504" r:id="rId4"/>
    <p:sldId id="505" r:id="rId5"/>
    <p:sldId id="493" r:id="rId6"/>
    <p:sldId id="477" r:id="rId7"/>
    <p:sldId id="480" r:id="rId8"/>
    <p:sldId id="494" r:id="rId9"/>
    <p:sldId id="478" r:id="rId10"/>
    <p:sldId id="479" r:id="rId11"/>
    <p:sldId id="474" r:id="rId12"/>
    <p:sldId id="475" r:id="rId13"/>
    <p:sldId id="476" r:id="rId14"/>
    <p:sldId id="481" r:id="rId15"/>
    <p:sldId id="482" r:id="rId16"/>
    <p:sldId id="483" r:id="rId17"/>
    <p:sldId id="484" r:id="rId18"/>
    <p:sldId id="485" r:id="rId19"/>
    <p:sldId id="486" r:id="rId20"/>
    <p:sldId id="487" r:id="rId21"/>
    <p:sldId id="488" r:id="rId22"/>
    <p:sldId id="489" r:id="rId23"/>
    <p:sldId id="490" r:id="rId24"/>
    <p:sldId id="491" r:id="rId25"/>
    <p:sldId id="497" r:id="rId2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91" autoAdjust="0"/>
    <p:restoredTop sz="94667" autoAdjust="0"/>
  </p:normalViewPr>
  <p:slideViewPr>
    <p:cSldViewPr>
      <p:cViewPr>
        <p:scale>
          <a:sx n="50" d="100"/>
          <a:sy n="50" d="100"/>
        </p:scale>
        <p:origin x="-1722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ED2A44-746E-454C-9213-454A153A13DD}" type="datetimeFigureOut">
              <a:rPr lang="en-US" smtClean="0"/>
              <a:pPr/>
              <a:t>4/4/2024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AE349E-0B05-4403-924A-6C32ED2E45E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70CC96-DB61-4850-AF79-05CA5E4B3D0A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D64A52-40CD-4ED9-9D7B-ED365278E294}" type="datetimeFigureOut">
              <a:rPr lang="en-US"/>
              <a:pPr>
                <a:defRPr/>
              </a:pPr>
              <a:t>4/4/2024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2C3862-098C-4DD0-8C92-05D28EF995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ED663C-AD53-4D44-BFF7-674B601F3099}" type="datetimeFigureOut">
              <a:rPr lang="en-US"/>
              <a:pPr>
                <a:defRPr/>
              </a:pPr>
              <a:t>4/4/2024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85E90F-1236-44E7-ADB3-CB1B6D8A35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B0B5F0-6BDB-45A0-A84B-40205E81C78D}" type="datetimeFigureOut">
              <a:rPr lang="en-US"/>
              <a:pPr>
                <a:defRPr/>
              </a:pPr>
              <a:t>4/4/2024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54643E-A326-4FF3-AF02-8255F03A32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499B18-8A0B-4C19-B126-5B27DA65F60B}" type="datetimeFigureOut">
              <a:rPr lang="en-US"/>
              <a:pPr>
                <a:defRPr/>
              </a:pPr>
              <a:t>4/4/2024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B9832F-F72C-4BB5-9A90-14DAA5811C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ED26F0-FE68-4605-B0AE-EB1D2541C080}" type="datetimeFigureOut">
              <a:rPr lang="en-US"/>
              <a:pPr>
                <a:defRPr/>
              </a:pPr>
              <a:t>4/4/2024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0E5718-EECC-426A-B42A-CAEAD432B6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796226-0783-4FEB-9BF0-C1E9E135D41B}" type="datetimeFigureOut">
              <a:rPr lang="en-US"/>
              <a:pPr>
                <a:defRPr/>
              </a:pPr>
              <a:t>4/4/2024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BD81CC-8AB6-4548-9FC6-71780D82EC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74B819-62A3-4C5A-8803-356BDB5A6571}" type="datetimeFigureOut">
              <a:rPr lang="en-US"/>
              <a:pPr>
                <a:defRPr/>
              </a:pPr>
              <a:t>4/4/2024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15FB4D-7968-4332-B354-67DBF9D29F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2CF6A9-2F55-425F-99F7-6FDA47375243}" type="datetimeFigureOut">
              <a:rPr lang="en-US"/>
              <a:pPr>
                <a:defRPr/>
              </a:pPr>
              <a:t>4/4/2024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581C9E-F22E-4CBC-A576-3D9164542E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9D5F5E-8A63-4DA7-8AFF-FCFF3FC1154D}" type="datetimeFigureOut">
              <a:rPr lang="en-US"/>
              <a:pPr>
                <a:defRPr/>
              </a:pPr>
              <a:t>4/4/2024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FA99F-3ED3-4F52-93C0-F40DE161EE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D25B22-492C-4C82-8BEB-2AD809DE8836}" type="datetimeFigureOut">
              <a:rPr lang="en-US"/>
              <a:pPr>
                <a:defRPr/>
              </a:pPr>
              <a:t>4/4/2024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4867E6-F15F-43DE-9296-41827D10A9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06DA96-16B2-437B-B91A-426962C1B865}" type="datetimeFigureOut">
              <a:rPr lang="en-US"/>
              <a:pPr>
                <a:defRPr/>
              </a:pPr>
              <a:t>4/4/2024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DD6807-204F-4EB0-A723-F4D2E23777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8576B6C-CB89-4E96-9BCF-EDD45FE016EE}" type="datetimeFigureOut">
              <a:rPr lang="en-US"/>
              <a:pPr>
                <a:defRPr/>
              </a:pPr>
              <a:t>4/4/2024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A8B9A55-431B-40AB-95E5-2D5BAABB6A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sourceforge.net/projects/saxon/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6000" dirty="0" smtClean="0"/>
              <a:t>XML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5334000" cy="4419599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562600" cy="4525963"/>
          </a:xfrm>
        </p:spPr>
        <p:txBody>
          <a:bodyPr/>
          <a:lstStyle/>
          <a:p>
            <a:pPr eaLnBrk="1" hangingPunct="1"/>
            <a:r>
              <a:rPr lang="en-US" sz="2400" dirty="0" smtClean="0"/>
              <a:t>XML Fundamentals</a:t>
            </a:r>
          </a:p>
          <a:p>
            <a:pPr eaLnBrk="1" hangingPunct="1"/>
            <a:r>
              <a:rPr lang="en-US" sz="2400" dirty="0" smtClean="0"/>
              <a:t>Document Type Definitions</a:t>
            </a:r>
          </a:p>
          <a:p>
            <a:pPr eaLnBrk="1" hangingPunct="1"/>
            <a:r>
              <a:rPr lang="en-US" sz="2400" dirty="0" smtClean="0"/>
              <a:t>XML Schema</a:t>
            </a:r>
          </a:p>
          <a:p>
            <a:pPr eaLnBrk="1" hangingPunct="1"/>
            <a:r>
              <a:rPr lang="en-US" sz="2400" dirty="0" err="1" smtClean="0"/>
              <a:t>XLink</a:t>
            </a:r>
            <a:r>
              <a:rPr lang="en-US" sz="2400" dirty="0" smtClean="0"/>
              <a:t>, </a:t>
            </a:r>
            <a:r>
              <a:rPr lang="en-US" sz="2400" dirty="0" err="1" smtClean="0"/>
              <a:t>XPath</a:t>
            </a:r>
            <a:r>
              <a:rPr lang="en-US" sz="2400" dirty="0" smtClean="0"/>
              <a:t>, </a:t>
            </a:r>
            <a:r>
              <a:rPr lang="en-US" sz="2400" dirty="0" err="1" smtClean="0"/>
              <a:t>XPointer</a:t>
            </a:r>
            <a:endParaRPr lang="en-US" sz="2400" dirty="0" smtClean="0"/>
          </a:p>
          <a:p>
            <a:pPr eaLnBrk="1" hangingPunct="1"/>
            <a:r>
              <a:rPr lang="en-US" sz="2400" dirty="0" smtClean="0"/>
              <a:t>XSLT</a:t>
            </a:r>
          </a:p>
          <a:p>
            <a:pPr eaLnBrk="1" hangingPunct="1"/>
            <a:r>
              <a:rPr lang="en-US" sz="2400" dirty="0" smtClean="0"/>
              <a:t>XML Parsers and Transformations</a:t>
            </a:r>
          </a:p>
          <a:p>
            <a:pPr eaLnBrk="1" hangingPunct="1"/>
            <a:r>
              <a:rPr lang="en-US" sz="2400" dirty="0" smtClean="0"/>
              <a:t>RSS</a:t>
            </a:r>
          </a:p>
          <a:p>
            <a:pPr eaLnBrk="1" hangingPunct="1"/>
            <a:r>
              <a:rPr lang="en-US" sz="2400" dirty="0" err="1" smtClean="0"/>
              <a:t>XQuery</a:t>
            </a:r>
            <a:endParaRPr lang="en-US" sz="2400" dirty="0" smtClean="0"/>
          </a:p>
          <a:p>
            <a:pPr eaLnBrk="1" hangingPunct="1"/>
            <a:r>
              <a:rPr lang="en-US" sz="2400" dirty="0" smtClean="0"/>
              <a:t>MSXML</a:t>
            </a:r>
          </a:p>
          <a:p>
            <a:pPr eaLnBrk="1" hangingPunct="1"/>
            <a:r>
              <a:rPr lang="en-US" sz="2400" dirty="0" smtClean="0"/>
              <a:t>Tools for XML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5867400" cy="4495800"/>
          </a:xfrm>
        </p:spPr>
        <p:txBody>
          <a:bodyPr/>
          <a:lstStyle/>
          <a:p>
            <a:pPr marL="514350" lvl="0" indent="-514350">
              <a:buFont typeface="+mj-lt"/>
              <a:buAutoNum type="arabicPeriod"/>
            </a:pPr>
            <a:r>
              <a:rPr lang="en-US" sz="2400" dirty="0" smtClean="0"/>
              <a:t>Jim Keogh and Ken Davidson (2005). XML Demystified. </a:t>
            </a:r>
            <a:r>
              <a:rPr lang="en-US" sz="2400" smtClean="0"/>
              <a:t>McGraw-Hill.</a:t>
            </a:r>
            <a:endParaRPr lang="en-US" sz="24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125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What </a:t>
            </a:r>
            <a:r>
              <a:rPr lang="en-US" smtClean="0"/>
              <a:t>is </a:t>
            </a:r>
            <a:r>
              <a:rPr lang="en-US" dirty="0" smtClean="0"/>
              <a:t>XML?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 smtClean="0">
                <a:solidFill>
                  <a:srgbClr val="C00000"/>
                </a:solidFill>
              </a:rPr>
              <a:t>XML</a:t>
            </a:r>
            <a:r>
              <a:rPr lang="en-US" dirty="0" smtClean="0"/>
              <a:t> is a </a:t>
            </a:r>
            <a:r>
              <a:rPr lang="en-US" u="sng" dirty="0" smtClean="0"/>
              <a:t>markup language</a:t>
            </a:r>
            <a:r>
              <a:rPr lang="en-US" dirty="0" smtClean="0"/>
              <a:t> that’s used to </a:t>
            </a:r>
            <a:r>
              <a:rPr lang="en-US" u="sng" dirty="0" smtClean="0"/>
              <a:t>represent data</a:t>
            </a:r>
            <a:r>
              <a:rPr lang="en-US" dirty="0" smtClean="0"/>
              <a:t> so data can be easily shared among different kinds of applications that run on different operating systems.</a:t>
            </a:r>
          </a:p>
          <a:p>
            <a:pPr lvl="1"/>
            <a:r>
              <a:rPr lang="en-US" dirty="0" smtClean="0"/>
              <a:t>Extensible Markup Language</a:t>
            </a:r>
          </a:p>
          <a:p>
            <a:pPr lvl="1"/>
            <a:r>
              <a:rPr lang="en-US" dirty="0" smtClean="0"/>
              <a:t>Describe the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XML Tags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 smtClean="0">
                <a:solidFill>
                  <a:srgbClr val="C00000"/>
                </a:solidFill>
              </a:rPr>
              <a:t>XML tags</a:t>
            </a:r>
            <a:r>
              <a:rPr lang="en-US" dirty="0" smtClean="0"/>
              <a:t> are string that begin with &lt; and end with &gt;  used to describes information.</a:t>
            </a:r>
          </a:p>
          <a:p>
            <a:endParaRPr lang="en-US" dirty="0" smtClean="0"/>
          </a:p>
          <a:p>
            <a:pPr>
              <a:buNone/>
            </a:pPr>
            <a:r>
              <a:rPr lang="en-US" sz="2400" dirty="0" smtClean="0">
                <a:latin typeface="Consolas" pitchFamily="49" charset="0"/>
              </a:rPr>
              <a:t>&lt;Seminar&gt;</a:t>
            </a:r>
          </a:p>
          <a:p>
            <a:pPr>
              <a:buNone/>
            </a:pPr>
            <a:r>
              <a:rPr lang="en-US" sz="2400" dirty="0" smtClean="0">
                <a:latin typeface="Consolas" pitchFamily="49" charset="0"/>
              </a:rPr>
              <a:t>&lt;Subject&gt;XML Introduction&lt;/Subject&gt;</a:t>
            </a:r>
          </a:p>
          <a:p>
            <a:pPr>
              <a:buNone/>
            </a:pPr>
            <a:r>
              <a:rPr lang="en-US" sz="2400" dirty="0" smtClean="0">
                <a:latin typeface="Consolas" pitchFamily="49" charset="0"/>
              </a:rPr>
              <a:t>&lt;Speaker&gt;Ngo Huy Bien&lt;/Speaker&gt;</a:t>
            </a:r>
          </a:p>
          <a:p>
            <a:pPr>
              <a:buNone/>
            </a:pPr>
            <a:r>
              <a:rPr lang="en-US" sz="2400" dirty="0" smtClean="0">
                <a:latin typeface="Consolas" pitchFamily="49" charset="0"/>
              </a:rPr>
              <a:t>&lt;Date&gt;24/05/2008&lt;/Date&gt;</a:t>
            </a:r>
          </a:p>
          <a:p>
            <a:pPr>
              <a:buNone/>
            </a:pPr>
            <a:r>
              <a:rPr lang="en-US" sz="2400" dirty="0" smtClean="0">
                <a:latin typeface="Consolas" pitchFamily="49" charset="0"/>
              </a:rPr>
              <a:t>&lt;/Seminar&gt;</a:t>
            </a:r>
          </a:p>
          <a:p>
            <a:endParaRPr lang="en-US" dirty="0" smtClean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XML Fundamentals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Element, Attribute (name-value pair)</a:t>
            </a:r>
          </a:p>
          <a:p>
            <a:r>
              <a:rPr lang="en-US" dirty="0" smtClean="0"/>
              <a:t>Entity (special characters)</a:t>
            </a:r>
          </a:p>
          <a:p>
            <a:r>
              <a:rPr lang="en-US" dirty="0" smtClean="0"/>
              <a:t>CDATA (Character Data)</a:t>
            </a:r>
          </a:p>
          <a:p>
            <a:r>
              <a:rPr lang="en-US" dirty="0" smtClean="0"/>
              <a:t>Comment</a:t>
            </a:r>
          </a:p>
          <a:p>
            <a:r>
              <a:rPr lang="en-US" dirty="0" smtClean="0"/>
              <a:t>Parsing, Parser</a:t>
            </a:r>
          </a:p>
          <a:p>
            <a:r>
              <a:rPr lang="en-US" dirty="0" smtClean="0"/>
              <a:t>DOM, SAX</a:t>
            </a:r>
          </a:p>
          <a:p>
            <a:endParaRPr lang="en-US" dirty="0" smtClean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XML Document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 </a:t>
            </a:r>
            <a:r>
              <a:rPr lang="en-US" i="1" dirty="0" smtClean="0">
                <a:solidFill>
                  <a:srgbClr val="C00000"/>
                </a:solidFill>
              </a:rPr>
              <a:t>XML document</a:t>
            </a:r>
            <a:r>
              <a:rPr lang="en-US" dirty="0" smtClean="0"/>
              <a:t> is a string or file containing nested elements, which implies the relationship one tag has to other tags in the XML document.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Document Type Definitions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Identify markup tags that can be used in an XML document</a:t>
            </a:r>
          </a:p>
          <a:p>
            <a:r>
              <a:rPr lang="en-US" smtClean="0"/>
              <a:t>Define the structure of those tags in the XML document.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XML Schema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 smtClean="0">
                <a:solidFill>
                  <a:srgbClr val="C00000"/>
                </a:solidFill>
              </a:rPr>
              <a:t>XML Schema</a:t>
            </a:r>
            <a:r>
              <a:rPr lang="en-US" dirty="0" smtClean="0"/>
              <a:t> is document.</a:t>
            </a:r>
          </a:p>
          <a:p>
            <a:r>
              <a:rPr lang="en-US" dirty="0" smtClean="0"/>
              <a:t>XML </a:t>
            </a:r>
            <a:r>
              <a:rPr lang="en-US" dirty="0" err="1" smtClean="0"/>
              <a:t>Sechema</a:t>
            </a:r>
            <a:r>
              <a:rPr lang="en-US" dirty="0" smtClean="0"/>
              <a:t> is built using XML Schema language.</a:t>
            </a:r>
          </a:p>
          <a:p>
            <a:r>
              <a:rPr lang="en-US" dirty="0" smtClean="0"/>
              <a:t>&lt;</a:t>
            </a:r>
            <a:r>
              <a:rPr lang="en-US" dirty="0" err="1" smtClean="0"/>
              <a:t>xs:element</a:t>
            </a:r>
            <a:r>
              <a:rPr lang="en-US" dirty="0" smtClean="0"/>
              <a:t> name=“Speaker" type=“</a:t>
            </a:r>
            <a:r>
              <a:rPr lang="en-US" dirty="0" err="1" smtClean="0"/>
              <a:t>xs:string</a:t>
            </a:r>
            <a:r>
              <a:rPr lang="en-US" dirty="0" smtClean="0"/>
              <a:t>"/&gt;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XLink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XLink</a:t>
            </a:r>
            <a:r>
              <a:rPr lang="en-US" dirty="0" smtClean="0"/>
              <a:t> is a language.</a:t>
            </a:r>
          </a:p>
          <a:p>
            <a:r>
              <a:rPr lang="en-US" dirty="0" smtClean="0"/>
              <a:t>Link a resource to a specific behavior.</a:t>
            </a:r>
          </a:p>
          <a:p>
            <a:endParaRPr lang="en-US" dirty="0" smtClean="0"/>
          </a:p>
          <a:p>
            <a:r>
              <a:rPr lang="en-US" dirty="0" smtClean="0">
                <a:latin typeface="Consolas" pitchFamily="49" charset="0"/>
              </a:rPr>
              <a:t>&lt;</a:t>
            </a:r>
            <a:r>
              <a:rPr lang="en-US" dirty="0" err="1" smtClean="0">
                <a:latin typeface="Consolas" pitchFamily="49" charset="0"/>
              </a:rPr>
              <a:t>SeminarLink</a:t>
            </a:r>
            <a:r>
              <a:rPr lang="en-US" dirty="0" smtClean="0">
                <a:latin typeface="Consolas" pitchFamily="49" charset="0"/>
              </a:rPr>
              <a:t> </a:t>
            </a:r>
            <a:r>
              <a:rPr lang="en-US" dirty="0" err="1" smtClean="0">
                <a:latin typeface="Consolas" pitchFamily="49" charset="0"/>
              </a:rPr>
              <a:t>xlink:type</a:t>
            </a:r>
            <a:r>
              <a:rPr lang="en-US" dirty="0" smtClean="0">
                <a:latin typeface="Consolas" pitchFamily="49" charset="0"/>
              </a:rPr>
              <a:t>="simple" </a:t>
            </a:r>
            <a:r>
              <a:rPr lang="en-US" dirty="0" err="1" smtClean="0">
                <a:latin typeface="Consolas" pitchFamily="49" charset="0"/>
              </a:rPr>
              <a:t>xlink:href</a:t>
            </a:r>
            <a:r>
              <a:rPr lang="en-US" dirty="0" smtClean="0">
                <a:latin typeface="Consolas" pitchFamily="49" charset="0"/>
              </a:rPr>
              <a:t>="http://abc.com/Seminar.ppt" </a:t>
            </a:r>
            <a:r>
              <a:rPr lang="en-US" dirty="0" err="1" smtClean="0">
                <a:latin typeface="Consolas" pitchFamily="49" charset="0"/>
              </a:rPr>
              <a:t>xlink:show</a:t>
            </a:r>
            <a:r>
              <a:rPr lang="en-US" dirty="0" smtClean="0">
                <a:latin typeface="Consolas" pitchFamily="49" charset="0"/>
              </a:rPr>
              <a:t>="embed" /&gt;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XLink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xlink:type</a:t>
            </a:r>
            <a:r>
              <a:rPr lang="en-US" dirty="0" smtClean="0"/>
              <a:t> (simple, extended)</a:t>
            </a:r>
          </a:p>
          <a:p>
            <a:endParaRPr lang="en-US" dirty="0" smtClean="0"/>
          </a:p>
          <a:p>
            <a:r>
              <a:rPr lang="en-US" dirty="0" err="1" smtClean="0"/>
              <a:t>xlink:show</a:t>
            </a:r>
            <a:r>
              <a:rPr lang="en-US" dirty="0" smtClean="0"/>
              <a:t> (new, replace, embed, other, none)</a:t>
            </a:r>
          </a:p>
          <a:p>
            <a:endParaRPr lang="en-US" dirty="0" smtClean="0"/>
          </a:p>
          <a:p>
            <a:r>
              <a:rPr lang="en-US" dirty="0" err="1" smtClean="0"/>
              <a:t>xlink:actuate</a:t>
            </a:r>
            <a:r>
              <a:rPr lang="en-US" dirty="0" smtClean="0"/>
              <a:t> (</a:t>
            </a:r>
            <a:r>
              <a:rPr lang="en-US" dirty="0" err="1" smtClean="0"/>
              <a:t>onload</a:t>
            </a:r>
            <a:r>
              <a:rPr lang="en-US" dirty="0" smtClean="0"/>
              <a:t>, </a:t>
            </a:r>
            <a:r>
              <a:rPr lang="en-US" dirty="0" err="1" smtClean="0"/>
              <a:t>onRequest</a:t>
            </a:r>
            <a:r>
              <a:rPr lang="en-US" dirty="0" smtClean="0"/>
              <a:t>, other, none)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XPath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XPath is a language.</a:t>
            </a:r>
          </a:p>
          <a:p>
            <a:r>
              <a:rPr lang="en-US" smtClean="0"/>
              <a:t>Specify the location of a subtree within an XML document.</a:t>
            </a:r>
          </a:p>
          <a:p>
            <a:endParaRPr lang="en-US" smtClean="0"/>
          </a:p>
          <a:p>
            <a:r>
              <a:rPr lang="en-US" sz="2800" smtClean="0"/>
              <a:t>/child::Seminar/child::Speaker/attribute::Gender</a:t>
            </a:r>
          </a:p>
          <a:p>
            <a:endParaRPr lang="en-US" sz="2800" smtClean="0"/>
          </a:p>
          <a:p>
            <a:endParaRPr lang="en-US" sz="2800" smtClean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Axis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smtClean="0"/>
              <a:t>Specify a tree relationship of nodes in the XML document</a:t>
            </a:r>
          </a:p>
          <a:p>
            <a:r>
              <a:rPr lang="en-US" sz="2800" smtClean="0"/>
              <a:t>/child::Seminar/child::Speaker/attribute::Gender</a:t>
            </a:r>
          </a:p>
          <a:p>
            <a:endParaRPr lang="en-US" smtClean="0"/>
          </a:p>
          <a:p>
            <a:r>
              <a:rPr lang="en-US" sz="2800" smtClean="0"/>
              <a:t>Child</a:t>
            </a:r>
          </a:p>
          <a:p>
            <a:r>
              <a:rPr lang="en-US" sz="2800" smtClean="0"/>
              <a:t>Descendant</a:t>
            </a:r>
          </a:p>
          <a:p>
            <a:r>
              <a:rPr lang="en-US" sz="2800" smtClean="0"/>
              <a:t>Parent</a:t>
            </a:r>
          </a:p>
          <a:p>
            <a:r>
              <a:rPr lang="en-US" sz="2800" smtClean="0"/>
              <a:t>Self</a:t>
            </a:r>
          </a:p>
          <a:p>
            <a:r>
              <a:rPr lang="en-US" sz="2800" smtClean="0"/>
              <a:t>....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Predicate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A filter on a node of an XML document.</a:t>
            </a:r>
          </a:p>
          <a:p>
            <a:endParaRPr lang="en-US" sz="2800" dirty="0" smtClean="0"/>
          </a:p>
          <a:p>
            <a:r>
              <a:rPr lang="en-US" sz="2800" dirty="0" smtClean="0"/>
              <a:t>/child::Seminar[child::Speaker=“</a:t>
            </a:r>
            <a:r>
              <a:rPr lang="en-US" sz="2800" dirty="0" err="1" smtClean="0"/>
              <a:t>Ngô</a:t>
            </a:r>
            <a:r>
              <a:rPr lang="en-US" sz="2800" dirty="0" smtClean="0"/>
              <a:t> Huy </a:t>
            </a:r>
            <a:r>
              <a:rPr lang="en-US" sz="2800" dirty="0" err="1" smtClean="0"/>
              <a:t>Biên</a:t>
            </a:r>
            <a:r>
              <a:rPr lang="en-US" sz="2800" dirty="0" smtClean="0"/>
              <a:t>”]</a:t>
            </a:r>
          </a:p>
          <a:p>
            <a:r>
              <a:rPr lang="en-US" sz="2800" dirty="0" smtClean="0"/>
              <a:t>/child::Seminar[position()&lt;=5]</a:t>
            </a:r>
          </a:p>
          <a:p>
            <a:endParaRPr lang="en-US" sz="2800" dirty="0" smtClean="0"/>
          </a:p>
          <a:p>
            <a:r>
              <a:rPr lang="en-US" sz="2800" dirty="0" smtClean="0"/>
              <a:t>Functions: number position(), number last(), </a:t>
            </a:r>
          </a:p>
          <a:p>
            <a:pPr>
              <a:buFont typeface="Arial" charset="0"/>
              <a:buNone/>
            </a:pPr>
            <a:r>
              <a:rPr lang="en-US" sz="2800" dirty="0" err="1" smtClean="0"/>
              <a:t>boolean</a:t>
            </a:r>
            <a:r>
              <a:rPr lang="en-US" sz="2800" dirty="0" smtClean="0"/>
              <a:t> starts-with(string, string), number sum(node-set)</a:t>
            </a:r>
          </a:p>
          <a:p>
            <a:endParaRPr lang="en-US" dirty="0" smtClean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XPointer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Identify the location of a resource, even if the document doesn’t contain any anchor elements.</a:t>
            </a:r>
          </a:p>
          <a:p>
            <a:endParaRPr lang="en-US" sz="2000" dirty="0" smtClean="0"/>
          </a:p>
          <a:p>
            <a:r>
              <a:rPr lang="en-US" sz="2000" dirty="0" smtClean="0">
                <a:latin typeface="Consolas" pitchFamily="49" charset="0"/>
              </a:rPr>
              <a:t>http://abc.com/Seminar.html#xpointer(Seminar[Speaker="Ngô Huy </a:t>
            </a:r>
            <a:r>
              <a:rPr lang="en-US" sz="2000" dirty="0" err="1" smtClean="0">
                <a:latin typeface="Consolas" pitchFamily="49" charset="0"/>
              </a:rPr>
              <a:t>Biên</a:t>
            </a:r>
            <a:r>
              <a:rPr lang="en-US" sz="2000" dirty="0" smtClean="0">
                <a:latin typeface="Consolas" pitchFamily="49" charset="0"/>
              </a:rPr>
              <a:t>"])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XSLT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Extensible Stylesheet Language (XSL) describes the style that should be applied to an XML document.</a:t>
            </a:r>
          </a:p>
          <a:p>
            <a:r>
              <a:rPr lang="en-US" smtClean="0"/>
              <a:t>Extensible Stylesheet Language Transformation (XSLT) is the process, called </a:t>
            </a:r>
            <a:r>
              <a:rPr lang="en-US" i="1" smtClean="0"/>
              <a:t>transforming, that </a:t>
            </a:r>
            <a:r>
              <a:rPr lang="en-US" smtClean="0"/>
              <a:t>applies the style to the XML document.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Style Instructions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&lt;xsl:template&gt;</a:t>
            </a:r>
          </a:p>
          <a:p>
            <a:r>
              <a:rPr lang="en-US" smtClean="0"/>
              <a:t>&lt;xsl:value-of&gt;</a:t>
            </a:r>
          </a:p>
          <a:p>
            <a:r>
              <a:rPr lang="en-US" smtClean="0"/>
              <a:t>&lt;xsl:for-each&gt;</a:t>
            </a:r>
          </a:p>
          <a:p>
            <a:r>
              <a:rPr lang="en-US" smtClean="0"/>
              <a:t>&lt;xsl:if&gt;</a:t>
            </a:r>
          </a:p>
          <a:p>
            <a:r>
              <a:rPr lang="en-US" smtClean="0"/>
              <a:t>&lt;xsl:choose&gt;</a:t>
            </a:r>
          </a:p>
          <a:p>
            <a:r>
              <a:rPr lang="en-US" smtClean="0"/>
              <a:t>&lt;xsl:sort&gt;</a:t>
            </a:r>
          </a:p>
          <a:p>
            <a:r>
              <a:rPr lang="en-US" smtClean="0"/>
              <a:t>&lt;xsl:apply-templates&gt;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XML Parsers and Transformations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XML document is a text file.</a:t>
            </a:r>
          </a:p>
          <a:p>
            <a:r>
              <a:rPr lang="en-US" smtClean="0"/>
              <a:t>Parser - program that extracts and reformats information (based on business logic).</a:t>
            </a:r>
          </a:p>
          <a:p>
            <a:r>
              <a:rPr lang="en-US" smtClean="0"/>
              <a:t>Simple API for XML (SAX).</a:t>
            </a:r>
          </a:p>
          <a:p>
            <a:r>
              <a:rPr lang="en-US" smtClean="0"/>
              <a:t>Document Object Model (DOM).</a:t>
            </a:r>
          </a:p>
          <a:p>
            <a:r>
              <a:rPr lang="en-US" smtClean="0"/>
              <a:t>SAX and DOM are standards that defines an API used by the developer to create a parser.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RSS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Really Simple Syndication (RSS) is a method that uses XML to distribute a document published on a web site to other web sites.</a:t>
            </a:r>
          </a:p>
          <a:p>
            <a:r>
              <a:rPr lang="en-US" smtClean="0"/>
              <a:t>Content provider creates an RSS document using XML.</a:t>
            </a:r>
          </a:p>
          <a:p>
            <a:r>
              <a:rPr lang="en-US" smtClean="0"/>
              <a:t>The aggregator makes a copy of the RSS document.</a:t>
            </a:r>
          </a:p>
          <a:p>
            <a:r>
              <a:rPr lang="en-US" smtClean="0"/>
              <a:t>RSS contains only references to documents and not the actual document.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XQuery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XQuery is an extension of XPath.</a:t>
            </a:r>
          </a:p>
          <a:p>
            <a:r>
              <a:rPr lang="en-US" smtClean="0"/>
              <a:t>XQuery – a language that is used to find any information in an XML document.</a:t>
            </a:r>
          </a:p>
          <a:p>
            <a:r>
              <a:rPr lang="en-US" smtClean="0"/>
              <a:t>XQuery processor.</a:t>
            </a:r>
          </a:p>
          <a:p>
            <a:endParaRPr lang="en-US" smtClean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MSXML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MSXML consists of preprogrammed classes and functions that contain code to access and manipulate information in an XML document.</a:t>
            </a:r>
          </a:p>
          <a:p>
            <a:r>
              <a:rPr lang="en-US" sz="2400" dirty="0" smtClean="0"/>
              <a:t>MSXML is designed for C, C++, Visual Basic, VBScript, Jscript, and JavaScript.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MSXML Example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sz="2000" dirty="0" smtClean="0">
                <a:latin typeface="Consolas" pitchFamily="49" charset="0"/>
              </a:rPr>
              <a:t>&lt;script type="text/</a:t>
            </a:r>
            <a:r>
              <a:rPr lang="en-US" sz="2000" dirty="0" err="1" smtClean="0">
                <a:latin typeface="Consolas" pitchFamily="49" charset="0"/>
              </a:rPr>
              <a:t>javascript</a:t>
            </a:r>
            <a:r>
              <a:rPr lang="en-US" sz="2000" dirty="0" smtClean="0">
                <a:latin typeface="Consolas" pitchFamily="49" charset="0"/>
              </a:rPr>
              <a:t>"&gt;</a:t>
            </a:r>
          </a:p>
          <a:p>
            <a:pPr>
              <a:buFont typeface="Arial" charset="0"/>
              <a:buNone/>
            </a:pPr>
            <a:r>
              <a:rPr lang="en-US" sz="2000" dirty="0" err="1" smtClean="0">
                <a:latin typeface="Consolas" pitchFamily="49" charset="0"/>
              </a:rPr>
              <a:t>var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</a:rPr>
              <a:t>objXML</a:t>
            </a:r>
            <a:r>
              <a:rPr lang="en-US" sz="2000" dirty="0" smtClean="0">
                <a:latin typeface="Consolas" pitchFamily="49" charset="0"/>
              </a:rPr>
              <a:t>;</a:t>
            </a:r>
          </a:p>
          <a:p>
            <a:pPr>
              <a:buFont typeface="Arial" charset="0"/>
              <a:buNone/>
            </a:pPr>
            <a:r>
              <a:rPr lang="en-US" sz="2000" dirty="0" smtClean="0">
                <a:latin typeface="Consolas" pitchFamily="49" charset="0"/>
              </a:rPr>
              <a:t>function </a:t>
            </a:r>
            <a:r>
              <a:rPr lang="en-US" sz="2000" dirty="0" err="1" smtClean="0">
                <a:latin typeface="Consolas" pitchFamily="49" charset="0"/>
              </a:rPr>
              <a:t>LoadDocument</a:t>
            </a:r>
            <a:r>
              <a:rPr lang="en-US" sz="2000" dirty="0" smtClean="0">
                <a:latin typeface="Consolas" pitchFamily="49" charset="0"/>
              </a:rPr>
              <a:t>()</a:t>
            </a:r>
          </a:p>
          <a:p>
            <a:pPr>
              <a:buFont typeface="Arial" charset="0"/>
              <a:buNone/>
            </a:pPr>
            <a:r>
              <a:rPr lang="en-US" sz="2000" dirty="0" smtClean="0">
                <a:latin typeface="Consolas" pitchFamily="49" charset="0"/>
              </a:rPr>
              <a:t>{</a:t>
            </a:r>
          </a:p>
          <a:p>
            <a:pPr>
              <a:buFont typeface="Arial" charset="0"/>
              <a:buNone/>
            </a:pPr>
            <a:r>
              <a:rPr lang="en-US" sz="2000" dirty="0" smtClean="0">
                <a:latin typeface="Consolas" pitchFamily="49" charset="0"/>
              </a:rPr>
              <a:t>	</a:t>
            </a:r>
            <a:r>
              <a:rPr lang="en-US" sz="2000" dirty="0" err="1" smtClean="0">
                <a:latin typeface="Consolas" pitchFamily="49" charset="0"/>
              </a:rPr>
              <a:t>objXML</a:t>
            </a:r>
            <a:r>
              <a:rPr lang="en-US" sz="2000" dirty="0" smtClean="0">
                <a:latin typeface="Consolas" pitchFamily="49" charset="0"/>
              </a:rPr>
              <a:t> = new </a:t>
            </a:r>
            <a:r>
              <a:rPr lang="en-US" sz="2000" dirty="0" err="1" smtClean="0">
                <a:latin typeface="Consolas" pitchFamily="49" charset="0"/>
              </a:rPr>
              <a:t>ActiveXObject</a:t>
            </a:r>
            <a:r>
              <a:rPr lang="en-US" sz="2000" dirty="0" smtClean="0">
                <a:latin typeface="Consolas" pitchFamily="49" charset="0"/>
              </a:rPr>
              <a:t>("MSXML2.DOMDocument.4.0");</a:t>
            </a:r>
          </a:p>
          <a:p>
            <a:pPr>
              <a:buFont typeface="Arial" charset="0"/>
              <a:buNone/>
            </a:pPr>
            <a:r>
              <a:rPr lang="en-US" sz="2000" dirty="0" smtClean="0">
                <a:latin typeface="Consolas" pitchFamily="49" charset="0"/>
              </a:rPr>
              <a:t>	</a:t>
            </a:r>
            <a:r>
              <a:rPr lang="en-US" sz="2000" dirty="0" err="1" smtClean="0">
                <a:latin typeface="Consolas" pitchFamily="49" charset="0"/>
              </a:rPr>
              <a:t>objXML.async</a:t>
            </a:r>
            <a:r>
              <a:rPr lang="en-US" sz="2000" dirty="0" smtClean="0">
                <a:latin typeface="Consolas" pitchFamily="49" charset="0"/>
              </a:rPr>
              <a:t> = false;</a:t>
            </a:r>
          </a:p>
          <a:p>
            <a:pPr>
              <a:buFont typeface="Arial" charset="0"/>
              <a:buNone/>
            </a:pPr>
            <a:r>
              <a:rPr lang="en-US" sz="2000" dirty="0" smtClean="0">
                <a:latin typeface="Consolas" pitchFamily="49" charset="0"/>
              </a:rPr>
              <a:t>	</a:t>
            </a:r>
            <a:r>
              <a:rPr lang="en-US" sz="2000" dirty="0" err="1" smtClean="0">
                <a:latin typeface="Consolas" pitchFamily="49" charset="0"/>
              </a:rPr>
              <a:t>objXML.load</a:t>
            </a:r>
            <a:r>
              <a:rPr lang="en-US" sz="2000" dirty="0" smtClean="0">
                <a:latin typeface="Consolas" pitchFamily="49" charset="0"/>
              </a:rPr>
              <a:t>("Seminars.xml");</a:t>
            </a:r>
          </a:p>
          <a:p>
            <a:pPr>
              <a:buFont typeface="Arial" charset="0"/>
              <a:buNone/>
            </a:pPr>
            <a:r>
              <a:rPr lang="en-US" sz="2000" dirty="0" smtClean="0">
                <a:latin typeface="Consolas" pitchFamily="49" charset="0"/>
              </a:rPr>
              <a:t>	if (</a:t>
            </a:r>
            <a:r>
              <a:rPr lang="en-US" sz="2000" dirty="0" err="1" smtClean="0">
                <a:latin typeface="Consolas" pitchFamily="49" charset="0"/>
              </a:rPr>
              <a:t>objXML.parseError.errorCode</a:t>
            </a:r>
            <a:r>
              <a:rPr lang="en-US" sz="2000" dirty="0" smtClean="0">
                <a:latin typeface="Consolas" pitchFamily="49" charset="0"/>
              </a:rPr>
              <a:t> == 0)</a:t>
            </a:r>
          </a:p>
          <a:p>
            <a:pPr>
              <a:buFont typeface="Arial" charset="0"/>
              <a:buNone/>
            </a:pPr>
            <a:r>
              <a:rPr lang="en-US" sz="2000" dirty="0" smtClean="0">
                <a:latin typeface="Consolas" pitchFamily="49" charset="0"/>
              </a:rPr>
              <a:t>	{</a:t>
            </a:r>
          </a:p>
          <a:p>
            <a:pPr>
              <a:buFont typeface="Arial" charset="0"/>
              <a:buNone/>
            </a:pPr>
            <a:r>
              <a:rPr lang="en-US" sz="2000" dirty="0" smtClean="0">
                <a:latin typeface="Consolas" pitchFamily="49" charset="0"/>
              </a:rPr>
              <a:t>		</a:t>
            </a:r>
            <a:r>
              <a:rPr lang="en-US" sz="2000" dirty="0" err="1" smtClean="0">
                <a:latin typeface="Consolas" pitchFamily="49" charset="0"/>
              </a:rPr>
              <a:t>document.write</a:t>
            </a:r>
            <a:r>
              <a:rPr lang="en-US" sz="2000" dirty="0" smtClean="0">
                <a:latin typeface="Consolas" pitchFamily="49" charset="0"/>
              </a:rPr>
              <a:t>(objXML.xml);</a:t>
            </a:r>
          </a:p>
          <a:p>
            <a:pPr>
              <a:buFont typeface="Arial" charset="0"/>
              <a:buNone/>
            </a:pPr>
            <a:r>
              <a:rPr lang="en-US" sz="2000" dirty="0" smtClean="0">
                <a:latin typeface="Consolas" pitchFamily="49" charset="0"/>
              </a:rPr>
              <a:t>	}</a:t>
            </a:r>
          </a:p>
          <a:p>
            <a:pPr>
              <a:buFont typeface="Arial" charset="0"/>
              <a:buNone/>
            </a:pPr>
            <a:r>
              <a:rPr lang="en-US" sz="2000" dirty="0" smtClean="0">
                <a:latin typeface="Consolas" pitchFamily="49" charset="0"/>
              </a:rPr>
              <a:t>}</a:t>
            </a:r>
          </a:p>
          <a:p>
            <a:pPr>
              <a:buFont typeface="Arial" charset="0"/>
              <a:buNone/>
            </a:pPr>
            <a:r>
              <a:rPr lang="en-US" sz="2000" dirty="0" smtClean="0">
                <a:latin typeface="Consolas" pitchFamily="49" charset="0"/>
              </a:rPr>
              <a:t>&lt;/script&gt;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Tool for XML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SAXON The XSLT and </a:t>
            </a:r>
            <a:r>
              <a:rPr lang="en-US" dirty="0" err="1" smtClean="0"/>
              <a:t>XQuery</a:t>
            </a:r>
            <a:r>
              <a:rPr lang="en-US" dirty="0" smtClean="0"/>
              <a:t> Processor</a:t>
            </a:r>
          </a:p>
          <a:p>
            <a:pPr lvl="1"/>
            <a:r>
              <a:rPr lang="en-US" dirty="0" smtClean="0">
                <a:hlinkClick r:id="rId2"/>
              </a:rPr>
              <a:t>https://sourceforge.net/projects/saxon/</a:t>
            </a:r>
            <a:endParaRPr lang="en-US" dirty="0" smtClean="0"/>
          </a:p>
          <a:p>
            <a:pPr lvl="1"/>
            <a:endParaRPr lang="en-US" dirty="0" smtClean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3759</TotalTime>
  <Words>715</Words>
  <Application>Microsoft Office PowerPoint</Application>
  <PresentationFormat>On-screen Show (4:3)</PresentationFormat>
  <Paragraphs>134</Paragraphs>
  <Slides>25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XML</vt:lpstr>
      <vt:lpstr>Objectives</vt:lpstr>
      <vt:lpstr>Contents</vt:lpstr>
      <vt:lpstr>References</vt:lpstr>
      <vt:lpstr>What is XML? [1]</vt:lpstr>
      <vt:lpstr>XML Tags</vt:lpstr>
      <vt:lpstr>XML Fundamentals</vt:lpstr>
      <vt:lpstr>XML Document</vt:lpstr>
      <vt:lpstr>Document Type Definitions</vt:lpstr>
      <vt:lpstr>XML Schema</vt:lpstr>
      <vt:lpstr>XLink</vt:lpstr>
      <vt:lpstr>XLink</vt:lpstr>
      <vt:lpstr>XPath</vt:lpstr>
      <vt:lpstr>Axis</vt:lpstr>
      <vt:lpstr>Predicate</vt:lpstr>
      <vt:lpstr>XPointer</vt:lpstr>
      <vt:lpstr>XSLT</vt:lpstr>
      <vt:lpstr>Style Instructions</vt:lpstr>
      <vt:lpstr>XML Parsers and Transformations</vt:lpstr>
      <vt:lpstr>RSS</vt:lpstr>
      <vt:lpstr>XQuery</vt:lpstr>
      <vt:lpstr>MSXML</vt:lpstr>
      <vt:lpstr>MSXML Example</vt:lpstr>
      <vt:lpstr>Tool for XML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1841</cp:revision>
  <dcterms:created xsi:type="dcterms:W3CDTF">2007-10-06T08:25:13Z</dcterms:created>
  <dcterms:modified xsi:type="dcterms:W3CDTF">2024-04-03T17:18:15Z</dcterms:modified>
</cp:coreProperties>
</file>