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4"/>
  </p:notesMasterIdLst>
  <p:sldIdLst>
    <p:sldId id="256" r:id="rId2"/>
    <p:sldId id="349" r:id="rId3"/>
    <p:sldId id="396" r:id="rId4"/>
    <p:sldId id="344" r:id="rId5"/>
    <p:sldId id="397" r:id="rId6"/>
    <p:sldId id="415" r:id="rId7"/>
    <p:sldId id="430" r:id="rId8"/>
    <p:sldId id="475" r:id="rId9"/>
    <p:sldId id="529" r:id="rId10"/>
    <p:sldId id="544" r:id="rId11"/>
    <p:sldId id="543" r:id="rId12"/>
    <p:sldId id="537" r:id="rId13"/>
    <p:sldId id="547" r:id="rId14"/>
    <p:sldId id="538" r:id="rId15"/>
    <p:sldId id="539" r:id="rId16"/>
    <p:sldId id="540" r:id="rId17"/>
    <p:sldId id="545" r:id="rId18"/>
    <p:sldId id="548" r:id="rId19"/>
    <p:sldId id="553" r:id="rId20"/>
    <p:sldId id="554" r:id="rId21"/>
    <p:sldId id="552" r:id="rId22"/>
    <p:sldId id="549" r:id="rId23"/>
    <p:sldId id="550" r:id="rId24"/>
    <p:sldId id="551" r:id="rId25"/>
    <p:sldId id="556" r:id="rId26"/>
    <p:sldId id="555" r:id="rId27"/>
    <p:sldId id="557" r:id="rId28"/>
    <p:sldId id="558" r:id="rId29"/>
    <p:sldId id="559" r:id="rId30"/>
    <p:sldId id="560" r:id="rId31"/>
    <p:sldId id="561" r:id="rId32"/>
    <p:sldId id="343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2" autoAdjust="0"/>
    <p:restoredTop sz="94818" autoAdjust="0"/>
  </p:normalViewPr>
  <p:slideViewPr>
    <p:cSldViewPr>
      <p:cViewPr>
        <p:scale>
          <a:sx n="50" d="100"/>
          <a:sy n="50" d="100"/>
        </p:scale>
        <p:origin x="-1494" y="-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minikube/releases/latest/download/minikube-darwin-arm64" TargetMode="External"/><Relationship Id="rId2" Type="http://schemas.openxmlformats.org/officeDocument/2006/relationships/hyperlink" Target="https://minikube.sigs.k8s.io/docs/star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inikube.sigs.k8s.io/docs/drivers/docker/" TargetMode="External"/><Relationship Id="rId2" Type="http://schemas.openxmlformats.org/officeDocument/2006/relationships/hyperlink" Target="https://minikube.sigs.k8s.io/docs/driver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minikube.sigs.k8s.io/docs/start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mongo/tags" TargetMode="External"/><Relationship Id="rId2" Type="http://schemas.openxmlformats.org/officeDocument/2006/relationships/hyperlink" Target="https://k3d.io/v5.7.4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hub.docker.com/_/mongo/tag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_/mongo/tag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kind.sigs.k8s.io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minikube/releases/latest/download/minikube-linux-amd64" TargetMode="External"/><Relationship Id="rId2" Type="http://schemas.openxmlformats.org/officeDocument/2006/relationships/hyperlink" Target="https://minikube.sigs.k8s.io/docs/start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-linux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Install </a:t>
            </a:r>
            <a:r>
              <a:rPr lang="en-US" sz="6000" dirty="0" err="1" smtClean="0"/>
              <a:t>Kubernetes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1. Enable </a:t>
            </a:r>
            <a:r>
              <a:rPr lang="en-US" sz="4000" dirty="0" err="1" smtClean="0"/>
              <a:t>Docker</a:t>
            </a:r>
            <a:r>
              <a:rPr lang="en-US" sz="4000" dirty="0" smtClean="0"/>
              <a:t> Desktop </a:t>
            </a:r>
            <a:r>
              <a:rPr lang="en-US" sz="4000" dirty="0" err="1" smtClean="0"/>
              <a:t>Kubernetes</a:t>
            </a:r>
            <a:endParaRPr lang="en-US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8260" y="1866900"/>
            <a:ext cx="6454140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version</a:t>
            </a:r>
          </a:p>
          <a:p>
            <a:r>
              <a:rPr lang="en-US" sz="2400" dirty="0" smtClean="0">
                <a:latin typeface="Consolas" pitchFamily="49" charset="0"/>
              </a:rPr>
              <a:t># make sure your </a:t>
            </a:r>
            <a:r>
              <a:rPr lang="en-US" sz="2400" dirty="0" err="1" smtClean="0">
                <a:latin typeface="Consolas" pitchFamily="49" charset="0"/>
              </a:rPr>
              <a:t>kubeconfig</a:t>
            </a:r>
            <a:r>
              <a:rPr lang="en-US" sz="2400" dirty="0" smtClean="0">
                <a:latin typeface="Consolas" pitchFamily="49" charset="0"/>
              </a:rPr>
              <a:t> context is set to </a:t>
            </a:r>
            <a:r>
              <a:rPr lang="en-US" sz="2400" dirty="0" err="1" smtClean="0">
                <a:latin typeface="Consolas" pitchFamily="49" charset="0"/>
              </a:rPr>
              <a:t>docker</a:t>
            </a:r>
            <a:r>
              <a:rPr lang="en-US" sz="2400" dirty="0" smtClean="0">
                <a:latin typeface="Consolas" pitchFamily="49" charset="0"/>
              </a:rPr>
              <a:t>-desktop:</a:t>
            </a:r>
          </a:p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config</a:t>
            </a:r>
            <a:r>
              <a:rPr lang="en-US" sz="2400" dirty="0" smtClean="0">
                <a:latin typeface="Consolas" pitchFamily="49" charset="0"/>
              </a:rPr>
              <a:t> current-context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2" y="3810000"/>
            <a:ext cx="65674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Issue: The connection to the server 127.0.0.1:6443 was refused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i="1" dirty="0" smtClean="0">
                <a:solidFill>
                  <a:srgbClr val="C00000"/>
                </a:solidFill>
              </a:rPr>
              <a:t>The connection to the server 127.0.0.1:6443 was refused - did you specify the right host or port?</a:t>
            </a:r>
          </a:p>
          <a:p>
            <a:r>
              <a:rPr lang="en-US" sz="2400" b="1" dirty="0" smtClean="0"/>
              <a:t>Solution: Start </a:t>
            </a:r>
            <a:r>
              <a:rPr lang="en-US" sz="2400" b="1" dirty="0" err="1" smtClean="0"/>
              <a:t>Docker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Issue: </a:t>
            </a:r>
            <a:r>
              <a:rPr lang="en-US" i="1" dirty="0" smtClean="0">
                <a:solidFill>
                  <a:srgbClr val="C00000"/>
                </a:solidFill>
              </a:rPr>
              <a:t>Unable to connect to the server: </a:t>
            </a:r>
            <a:r>
              <a:rPr lang="en-US" i="1" dirty="0" err="1" smtClean="0">
                <a:solidFill>
                  <a:srgbClr val="C00000"/>
                </a:solidFill>
              </a:rPr>
              <a:t>tls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i="1" dirty="0" smtClean="0">
                <a:solidFill>
                  <a:srgbClr val="C00000"/>
                </a:solidFill>
              </a:rPr>
              <a:t>Unable to connect to the server: </a:t>
            </a:r>
            <a:r>
              <a:rPr lang="en-US" sz="2400" i="1" dirty="0" err="1" smtClean="0">
                <a:solidFill>
                  <a:srgbClr val="C00000"/>
                </a:solidFill>
              </a:rPr>
              <a:t>tls</a:t>
            </a:r>
            <a:r>
              <a:rPr lang="en-US" sz="2400" i="1" dirty="0" smtClean="0">
                <a:solidFill>
                  <a:srgbClr val="C00000"/>
                </a:solidFill>
              </a:rPr>
              <a:t>: failed to verify certificate: x509: certificate signed by unknown authority…</a:t>
            </a:r>
          </a:p>
          <a:p>
            <a:r>
              <a:rPr lang="en-US" sz="2400" b="1" dirty="0" smtClean="0"/>
              <a:t>Solution:</a:t>
            </a:r>
          </a:p>
          <a:p>
            <a:r>
              <a:rPr lang="en-US" sz="2400" b="1" dirty="0" err="1" smtClean="0"/>
              <a:t>sudo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rm</a:t>
            </a:r>
            <a:r>
              <a:rPr lang="en-US" sz="2400" b="1" dirty="0" smtClean="0"/>
              <a:t> -</a:t>
            </a:r>
            <a:r>
              <a:rPr lang="en-US" sz="2400" b="1" dirty="0" err="1" smtClean="0"/>
              <a:t>rf</a:t>
            </a:r>
            <a:r>
              <a:rPr lang="en-US" sz="2400" b="1" dirty="0" smtClean="0"/>
              <a:t> $HOME/.</a:t>
            </a:r>
            <a:r>
              <a:rPr lang="en-US" sz="2400" b="1" dirty="0" err="1" smtClean="0"/>
              <a:t>kube</a:t>
            </a:r>
            <a:r>
              <a:rPr lang="en-US" sz="2400" b="1" dirty="0" smtClean="0"/>
              <a:t>/</a:t>
            </a:r>
          </a:p>
          <a:p>
            <a:r>
              <a:rPr lang="en-US" sz="2400" b="1" dirty="0" smtClean="0"/>
              <a:t># Then click "Reset </a:t>
            </a:r>
            <a:r>
              <a:rPr lang="en-US" sz="2400" b="1" dirty="0" err="1" smtClean="0"/>
              <a:t>Kubernetes</a:t>
            </a:r>
            <a:r>
              <a:rPr lang="en-US" sz="2400" b="1" dirty="0" smtClean="0"/>
              <a:t> Cluster" button.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minikube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err="1" smtClean="0">
                <a:solidFill>
                  <a:srgbClr val="C00000"/>
                </a:solidFill>
              </a:rPr>
              <a:t>minikube</a:t>
            </a:r>
            <a:r>
              <a:rPr lang="en-US" sz="2800" dirty="0" smtClean="0"/>
              <a:t> is </a:t>
            </a:r>
            <a:r>
              <a:rPr lang="en-US" sz="2800" u="sng" dirty="0" smtClean="0"/>
              <a:t>local </a:t>
            </a:r>
            <a:r>
              <a:rPr lang="en-US" sz="2800" u="sng" dirty="0" err="1" smtClean="0"/>
              <a:t>Kubernetes</a:t>
            </a:r>
            <a:r>
              <a:rPr lang="en-US" sz="2800" dirty="0" smtClean="0"/>
              <a:t>, focusing on making it easy to learn and develop for </a:t>
            </a:r>
            <a:r>
              <a:rPr lang="en-US" sz="2800" dirty="0" err="1" smtClean="0"/>
              <a:t>Kubernetes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All you need is </a:t>
            </a:r>
            <a:r>
              <a:rPr lang="en-US" sz="2800" dirty="0" err="1" smtClean="0"/>
              <a:t>Docker</a:t>
            </a:r>
            <a:r>
              <a:rPr lang="en-US" sz="2800" dirty="0" smtClean="0"/>
              <a:t> (or similarly compatible) container.</a:t>
            </a:r>
          </a:p>
          <a:p>
            <a:r>
              <a:rPr lang="en-US" sz="2800" dirty="0" err="1" smtClean="0"/>
              <a:t>minikube</a:t>
            </a:r>
            <a:r>
              <a:rPr lang="en-US" sz="2800" dirty="0" smtClean="0"/>
              <a:t> runs in a VM.</a:t>
            </a:r>
          </a:p>
          <a:p>
            <a:r>
              <a:rPr lang="en-US" sz="2800" dirty="0" err="1" smtClean="0"/>
              <a:t>NodePort</a:t>
            </a:r>
            <a:r>
              <a:rPr lang="en-US" sz="2800" dirty="0" smtClean="0"/>
              <a:t> and </a:t>
            </a:r>
            <a:r>
              <a:rPr lang="en-US" sz="2800" dirty="0" err="1" smtClean="0"/>
              <a:t>ClusterIP</a:t>
            </a:r>
            <a:r>
              <a:rPr lang="en-US" sz="2800" dirty="0" smtClean="0"/>
              <a:t> behave like real clusters.</a:t>
            </a:r>
          </a:p>
          <a:p>
            <a:r>
              <a:rPr lang="en-US" sz="2800" dirty="0" err="1" smtClean="0"/>
              <a:t>NodePort</a:t>
            </a:r>
            <a:r>
              <a:rPr lang="en-US" sz="2800" dirty="0" smtClean="0"/>
              <a:t>: access via VM IP + </a:t>
            </a:r>
            <a:r>
              <a:rPr lang="en-US" sz="2800" dirty="0" err="1" smtClean="0"/>
              <a:t>nodePort</a:t>
            </a:r>
            <a:r>
              <a:rPr lang="en-US" sz="2800" dirty="0" smtClean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Docker</a:t>
            </a:r>
            <a:r>
              <a:rPr lang="en-US" dirty="0" smtClean="0"/>
              <a:t> Desktop </a:t>
            </a:r>
            <a:r>
              <a:rPr lang="en-US" dirty="0" err="1" smtClean="0"/>
              <a:t>Kubernetes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Networking is </a:t>
            </a:r>
            <a:r>
              <a:rPr lang="en-US" sz="2800" i="1" dirty="0" smtClean="0">
                <a:solidFill>
                  <a:srgbClr val="C00000"/>
                </a:solidFill>
              </a:rPr>
              <a:t>less "real-world"</a:t>
            </a:r>
            <a:r>
              <a:rPr lang="en-US" sz="2800" dirty="0" smtClean="0"/>
              <a:t>.</a:t>
            </a:r>
          </a:p>
          <a:p>
            <a:r>
              <a:rPr lang="en-US" sz="2800" dirty="0" err="1" smtClean="0"/>
              <a:t>NodePorts</a:t>
            </a:r>
            <a:r>
              <a:rPr lang="en-US" sz="2800" dirty="0" smtClean="0"/>
              <a:t> </a:t>
            </a:r>
            <a:r>
              <a:rPr lang="en-US" sz="2800" i="1" dirty="0" smtClean="0">
                <a:solidFill>
                  <a:srgbClr val="C00000"/>
                </a:solidFill>
              </a:rPr>
              <a:t>are not reachable on </a:t>
            </a:r>
            <a:r>
              <a:rPr lang="en-US" sz="2800" i="1" dirty="0" err="1" smtClean="0">
                <a:solidFill>
                  <a:srgbClr val="C00000"/>
                </a:solidFill>
              </a:rPr>
              <a:t>localhost</a:t>
            </a:r>
            <a:r>
              <a:rPr lang="en-US" sz="2800" dirty="0" smtClean="0"/>
              <a:t> by default.</a:t>
            </a:r>
          </a:p>
          <a:p>
            <a:r>
              <a:rPr lang="en-US" sz="2800" dirty="0" err="1" smtClean="0"/>
              <a:t>Kubernetes</a:t>
            </a:r>
            <a:r>
              <a:rPr lang="en-US" sz="2800" dirty="0" smtClean="0"/>
              <a:t> traffic often routes via internal </a:t>
            </a:r>
            <a:r>
              <a:rPr lang="en-US" sz="2800" dirty="0" err="1" smtClean="0"/>
              <a:t>Docker</a:t>
            </a:r>
            <a:r>
              <a:rPr lang="en-US" sz="2800" dirty="0" smtClean="0"/>
              <a:t> networks.</a:t>
            </a:r>
          </a:p>
          <a:p>
            <a:r>
              <a:rPr lang="en-US" sz="2800" dirty="0" err="1" smtClean="0"/>
              <a:t>kubectl</a:t>
            </a:r>
            <a:r>
              <a:rPr lang="en-US" sz="2800" dirty="0" smtClean="0"/>
              <a:t> port-forward is the most reliable way to access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minikube</a:t>
            </a:r>
            <a:r>
              <a:rPr lang="en-US" dirty="0" smtClean="0"/>
              <a:t>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https://minikube.sigs.k8s.io/docs/start/</a:t>
            </a:r>
            <a:endParaRPr lang="en-US" sz="2400" dirty="0" smtClean="0"/>
          </a:p>
          <a:p>
            <a:r>
              <a:rPr lang="en-US" sz="2400" dirty="0" smtClean="0">
                <a:latin typeface="Consolas" pitchFamily="49" charset="0"/>
              </a:rPr>
              <a:t>curl -LO </a:t>
            </a:r>
            <a:r>
              <a:rPr lang="en-US" sz="2400" dirty="0" smtClean="0">
                <a:latin typeface="Consolas" pitchFamily="49" charset="0"/>
                <a:hlinkClick r:id="rId3"/>
              </a:rPr>
              <a:t>https://github.com/kubernetes/minikube/releases/latest/download/minikube-darwin-arm64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install minikube-darwin-arm64 /</a:t>
            </a:r>
            <a:r>
              <a:rPr lang="en-US" sz="2400" dirty="0" err="1" smtClean="0">
                <a:latin typeface="Consolas" pitchFamily="49" charset="0"/>
              </a:rPr>
              <a:t>usr</a:t>
            </a:r>
            <a:r>
              <a:rPr lang="en-US" sz="2400" dirty="0" smtClean="0">
                <a:latin typeface="Consolas" pitchFamily="49" charset="0"/>
              </a:rPr>
              <a:t>/local/bin/</a:t>
            </a:r>
            <a:r>
              <a:rPr lang="en-US" sz="2400" dirty="0" err="1" smtClean="0">
                <a:latin typeface="Consolas" pitchFamily="49" charset="0"/>
              </a:rPr>
              <a:t>minikube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Start </a:t>
            </a:r>
            <a:r>
              <a:rPr lang="en-US" dirty="0" err="1" smtClean="0"/>
              <a:t>minikube</a:t>
            </a:r>
            <a:r>
              <a:rPr lang="en-US" dirty="0" smtClean="0"/>
              <a:t>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https://minikube.sigs.k8s.io/docs/drivers/</a:t>
            </a:r>
            <a:endParaRPr lang="en-US" sz="2400" dirty="0" smtClean="0">
              <a:latin typeface="+mj-lt"/>
            </a:endParaRPr>
          </a:p>
          <a:p>
            <a:r>
              <a:rPr lang="en-US" sz="2400" dirty="0" err="1" smtClean="0">
                <a:latin typeface="+mj-lt"/>
              </a:rPr>
              <a:t>minikube</a:t>
            </a:r>
            <a:r>
              <a:rPr lang="en-US" sz="2400" dirty="0" smtClean="0">
                <a:latin typeface="+mj-lt"/>
              </a:rPr>
              <a:t> can be deployed as a VM, a container, or bare-metal.</a:t>
            </a:r>
          </a:p>
          <a:p>
            <a:r>
              <a:rPr lang="en-US" sz="2400" dirty="0" smtClean="0">
                <a:latin typeface="+mj-lt"/>
                <a:hlinkClick r:id="rId3"/>
              </a:rPr>
              <a:t>https://minikube.sigs.k8s.io/docs/drivers/docker/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/>
              <a:t># Open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Desktop on </a:t>
            </a:r>
            <a:r>
              <a:rPr lang="en-US" sz="2400" dirty="0" err="1" smtClean="0"/>
              <a:t>macOS</a:t>
            </a:r>
            <a:r>
              <a:rPr lang="en-US" sz="2400" dirty="0" smtClean="0"/>
              <a:t>:</a:t>
            </a:r>
          </a:p>
          <a:p>
            <a:r>
              <a:rPr lang="en-US" sz="2400" b="1" dirty="0" smtClean="0">
                <a:latin typeface="+mj-lt"/>
              </a:rPr>
              <a:t>open -a </a:t>
            </a:r>
            <a:r>
              <a:rPr lang="en-US" sz="2400" b="1" dirty="0" err="1" smtClean="0">
                <a:latin typeface="+mj-lt"/>
              </a:rPr>
              <a:t>Docker</a:t>
            </a:r>
            <a:endParaRPr lang="en-US" sz="2400" b="1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# Start a cluster using the </a:t>
            </a:r>
            <a:r>
              <a:rPr lang="en-US" sz="2400" dirty="0" err="1" smtClean="0">
                <a:latin typeface="+mj-lt"/>
              </a:rPr>
              <a:t>docker</a:t>
            </a:r>
            <a:r>
              <a:rPr lang="en-US" sz="2400" dirty="0" smtClean="0">
                <a:latin typeface="+mj-lt"/>
              </a:rPr>
              <a:t> driver:</a:t>
            </a:r>
          </a:p>
          <a:p>
            <a:r>
              <a:rPr lang="en-US" sz="2400" b="1" dirty="0" err="1" smtClean="0">
                <a:latin typeface="+mj-lt"/>
              </a:rPr>
              <a:t>minikube</a:t>
            </a:r>
            <a:r>
              <a:rPr lang="en-US" sz="2400" b="1" dirty="0" smtClean="0">
                <a:latin typeface="+mj-lt"/>
              </a:rPr>
              <a:t> start --driver=</a:t>
            </a:r>
            <a:r>
              <a:rPr lang="en-US" sz="2400" b="1" dirty="0" err="1" smtClean="0">
                <a:latin typeface="+mj-lt"/>
              </a:rPr>
              <a:t>docker</a:t>
            </a:r>
            <a:endParaRPr lang="en-US" sz="2400" b="1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# To make </a:t>
            </a:r>
            <a:r>
              <a:rPr lang="en-US" sz="2400" dirty="0" err="1" smtClean="0">
                <a:latin typeface="+mj-lt"/>
              </a:rPr>
              <a:t>docker</a:t>
            </a:r>
            <a:r>
              <a:rPr lang="en-US" sz="2400" dirty="0" smtClean="0">
                <a:latin typeface="+mj-lt"/>
              </a:rPr>
              <a:t> the default driver:</a:t>
            </a:r>
          </a:p>
          <a:p>
            <a:r>
              <a:rPr lang="en-US" sz="2400" b="1" dirty="0" err="1" smtClean="0">
                <a:latin typeface="+mj-lt"/>
              </a:rPr>
              <a:t>minikube</a:t>
            </a:r>
            <a:r>
              <a:rPr lang="en-US" sz="2400" b="1" dirty="0" smtClean="0">
                <a:latin typeface="+mj-lt"/>
              </a:rPr>
              <a:t> </a:t>
            </a:r>
            <a:r>
              <a:rPr lang="en-US" sz="2400" b="1" dirty="0" err="1" smtClean="0">
                <a:latin typeface="+mj-lt"/>
              </a:rPr>
              <a:t>config</a:t>
            </a:r>
            <a:r>
              <a:rPr lang="en-US" sz="2400" b="1" dirty="0" smtClean="0">
                <a:latin typeface="+mj-lt"/>
              </a:rPr>
              <a:t> set driver </a:t>
            </a:r>
            <a:r>
              <a:rPr lang="en-US" sz="2400" b="1" dirty="0" err="1" smtClean="0">
                <a:latin typeface="+mj-lt"/>
              </a:rPr>
              <a:t>docker</a:t>
            </a:r>
            <a:endParaRPr lang="en-US" sz="2400" b="1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Test the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https://minikube.sigs.k8s.io/docs/start/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get </a:t>
            </a:r>
            <a:r>
              <a:rPr lang="en-US" sz="2400" dirty="0" err="1" smtClean="0">
                <a:latin typeface="Consolas" pitchFamily="49" charset="0"/>
              </a:rPr>
              <a:t>po</a:t>
            </a:r>
            <a:r>
              <a:rPr lang="en-US" sz="2400" dirty="0" smtClean="0">
                <a:latin typeface="Consolas" pitchFamily="49" charset="0"/>
              </a:rPr>
              <a:t> -A</a:t>
            </a:r>
          </a:p>
          <a:p>
            <a:r>
              <a:rPr lang="en-US" sz="2400" dirty="0" err="1" smtClean="0">
                <a:latin typeface="Consolas" pitchFamily="49" charset="0"/>
              </a:rPr>
              <a:t>minikube</a:t>
            </a:r>
            <a:r>
              <a:rPr lang="en-US" sz="2400" dirty="0" smtClean="0">
                <a:latin typeface="Consolas" pitchFamily="49" charset="0"/>
              </a:rPr>
              <a:t> dashboard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3352800"/>
            <a:ext cx="62833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Hello </a:t>
            </a:r>
            <a:r>
              <a:rPr lang="en-US" dirty="0" err="1" smtClean="0"/>
              <a:t>minikube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kubectl</a:t>
            </a:r>
            <a:r>
              <a:rPr lang="en-US" sz="2000" dirty="0" smtClean="0">
                <a:latin typeface="Consolas" pitchFamily="49" charset="0"/>
              </a:rPr>
              <a:t> create deployment hello-</a:t>
            </a:r>
            <a:r>
              <a:rPr lang="en-US" sz="2000" dirty="0" err="1" smtClean="0">
                <a:latin typeface="Consolas" pitchFamily="49" charset="0"/>
              </a:rPr>
              <a:t>minikube</a:t>
            </a:r>
            <a:r>
              <a:rPr lang="en-US" sz="2000" dirty="0" smtClean="0">
                <a:latin typeface="Consolas" pitchFamily="49" charset="0"/>
              </a:rPr>
              <a:t> --image=</a:t>
            </a:r>
            <a:r>
              <a:rPr lang="en-US" sz="2000" dirty="0" err="1" smtClean="0">
                <a:latin typeface="Consolas" pitchFamily="49" charset="0"/>
              </a:rPr>
              <a:t>kicbase</a:t>
            </a:r>
            <a:r>
              <a:rPr lang="en-US" sz="2000" dirty="0" smtClean="0">
                <a:latin typeface="Consolas" pitchFamily="49" charset="0"/>
              </a:rPr>
              <a:t>/echo-server:1.0</a:t>
            </a:r>
          </a:p>
          <a:p>
            <a:r>
              <a:rPr lang="en-US" sz="2000" dirty="0" err="1" smtClean="0">
                <a:latin typeface="Consolas" pitchFamily="49" charset="0"/>
              </a:rPr>
              <a:t>kubectl</a:t>
            </a:r>
            <a:r>
              <a:rPr lang="en-US" sz="2000" dirty="0" smtClean="0">
                <a:latin typeface="Consolas" pitchFamily="49" charset="0"/>
              </a:rPr>
              <a:t> expose deployment hello-</a:t>
            </a:r>
            <a:r>
              <a:rPr lang="en-US" sz="2000" dirty="0" err="1" smtClean="0">
                <a:latin typeface="Consolas" pitchFamily="49" charset="0"/>
              </a:rPr>
              <a:t>minikube</a:t>
            </a:r>
            <a:r>
              <a:rPr lang="en-US" sz="2000" dirty="0" smtClean="0">
                <a:latin typeface="Consolas" pitchFamily="49" charset="0"/>
              </a:rPr>
              <a:t> --type=</a:t>
            </a:r>
            <a:r>
              <a:rPr lang="en-US" sz="2000" dirty="0" err="1" smtClean="0">
                <a:latin typeface="Consolas" pitchFamily="49" charset="0"/>
              </a:rPr>
              <a:t>NodePort</a:t>
            </a:r>
            <a:r>
              <a:rPr lang="en-US" sz="2000" dirty="0" smtClean="0">
                <a:latin typeface="Consolas" pitchFamily="49" charset="0"/>
              </a:rPr>
              <a:t> --port=8080</a:t>
            </a:r>
          </a:p>
          <a:p>
            <a:r>
              <a:rPr lang="en-US" sz="2000" dirty="0" err="1" smtClean="0">
                <a:latin typeface="Consolas" pitchFamily="49" charset="0"/>
              </a:rPr>
              <a:t>kubectl</a:t>
            </a:r>
            <a:r>
              <a:rPr lang="en-US" sz="2000" dirty="0" smtClean="0">
                <a:latin typeface="Consolas" pitchFamily="49" charset="0"/>
              </a:rPr>
              <a:t> get </a:t>
            </a:r>
            <a:r>
              <a:rPr lang="en-US" sz="2000" b="1" dirty="0" smtClean="0">
                <a:latin typeface="Consolas" pitchFamily="49" charset="0"/>
              </a:rPr>
              <a:t>services</a:t>
            </a:r>
            <a:r>
              <a:rPr lang="en-US" sz="2000" dirty="0" smtClean="0">
                <a:latin typeface="Consolas" pitchFamily="49" charset="0"/>
              </a:rPr>
              <a:t> hello-</a:t>
            </a:r>
            <a:r>
              <a:rPr lang="en-US" sz="2000" dirty="0" err="1" smtClean="0">
                <a:latin typeface="Consolas" pitchFamily="49" charset="0"/>
              </a:rPr>
              <a:t>minikube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# use </a:t>
            </a:r>
            <a:r>
              <a:rPr lang="en-US" sz="2000" dirty="0" err="1" smtClean="0">
                <a:latin typeface="Consolas" pitchFamily="49" charset="0"/>
              </a:rPr>
              <a:t>kubectl</a:t>
            </a:r>
            <a:r>
              <a:rPr lang="en-US" sz="2000" dirty="0" smtClean="0">
                <a:latin typeface="Consolas" pitchFamily="49" charset="0"/>
              </a:rPr>
              <a:t> to forward the port:</a:t>
            </a:r>
          </a:p>
          <a:p>
            <a:r>
              <a:rPr lang="en-US" sz="2000" dirty="0" err="1" smtClean="0">
                <a:latin typeface="Consolas" pitchFamily="49" charset="0"/>
              </a:rPr>
              <a:t>kubectl</a:t>
            </a:r>
            <a:r>
              <a:rPr lang="en-US" sz="2000" dirty="0" smtClean="0">
                <a:latin typeface="Consolas" pitchFamily="49" charset="0"/>
              </a:rPr>
              <a:t> port-forward </a:t>
            </a:r>
            <a:r>
              <a:rPr lang="en-US" sz="2000" b="1" dirty="0" smtClean="0">
                <a:latin typeface="Consolas" pitchFamily="49" charset="0"/>
              </a:rPr>
              <a:t>service/hello-</a:t>
            </a:r>
            <a:r>
              <a:rPr lang="en-US" sz="2000" b="1" dirty="0" err="1" smtClean="0">
                <a:latin typeface="Consolas" pitchFamily="49" charset="0"/>
              </a:rPr>
              <a:t>minikube</a:t>
            </a:r>
            <a:r>
              <a:rPr lang="en-US" sz="2000" dirty="0" smtClean="0">
                <a:latin typeface="Consolas" pitchFamily="49" charset="0"/>
              </a:rPr>
              <a:t> 7080:8080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2238" y="4419600"/>
            <a:ext cx="63595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Test Your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curl localhost:7080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667000"/>
            <a:ext cx="6110288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Reset Your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minikube</a:t>
            </a:r>
            <a:r>
              <a:rPr lang="en-US" sz="2400" dirty="0" smtClean="0">
                <a:latin typeface="Consolas" pitchFamily="49" charset="0"/>
              </a:rPr>
              <a:t> stop</a:t>
            </a:r>
          </a:p>
          <a:p>
            <a:r>
              <a:rPr lang="en-US" sz="2400" dirty="0" err="1" smtClean="0">
                <a:latin typeface="Consolas" pitchFamily="49" charset="0"/>
              </a:rPr>
              <a:t>minikube</a:t>
            </a:r>
            <a:r>
              <a:rPr lang="en-US" sz="2400" dirty="0" smtClean="0">
                <a:latin typeface="Consolas" pitchFamily="49" charset="0"/>
              </a:rPr>
              <a:t> delete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Start </a:t>
            </a:r>
            <a:r>
              <a:rPr lang="en-US" dirty="0" err="1" smtClean="0"/>
              <a:t>minikube</a:t>
            </a:r>
            <a:r>
              <a:rPr lang="en-US" dirty="0" smtClean="0"/>
              <a:t> with 20GB 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Open </a:t>
            </a:r>
            <a:r>
              <a:rPr lang="en-US" sz="2400" b="1" dirty="0" err="1" smtClean="0"/>
              <a:t>Docker</a:t>
            </a:r>
            <a:r>
              <a:rPr lang="en-US" sz="2400" b="1" dirty="0" smtClean="0"/>
              <a:t> Desktop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Go to </a:t>
            </a:r>
            <a:r>
              <a:rPr lang="en-US" sz="2400" b="1" dirty="0" smtClean="0"/>
              <a:t>Settings</a:t>
            </a:r>
            <a:r>
              <a:rPr lang="en-US" sz="2400" dirty="0" smtClean="0"/>
              <a:t> &gt;&gt; </a:t>
            </a:r>
            <a:r>
              <a:rPr lang="en-US" sz="2400" b="1" dirty="0" smtClean="0"/>
              <a:t>Resources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Increase </a:t>
            </a:r>
            <a:r>
              <a:rPr lang="en-US" sz="2400" b="1" dirty="0" smtClean="0"/>
              <a:t>Memory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Apply and restart </a:t>
            </a:r>
            <a:r>
              <a:rPr lang="en-US" sz="2400" dirty="0" err="1" smtClean="0"/>
              <a:t>Docker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# Tell </a:t>
            </a:r>
            <a:r>
              <a:rPr lang="en-US" sz="2400" dirty="0" err="1" smtClean="0"/>
              <a:t>Minikube</a:t>
            </a:r>
            <a:r>
              <a:rPr lang="en-US" sz="2400" dirty="0" smtClean="0"/>
              <a:t> to use 20 GB of RAM with the default driver</a:t>
            </a:r>
          </a:p>
          <a:p>
            <a:r>
              <a:rPr lang="en-US" sz="2400" b="1" dirty="0" err="1" smtClean="0"/>
              <a:t>minikube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config</a:t>
            </a:r>
            <a:r>
              <a:rPr lang="en-US" sz="2400" b="1" dirty="0" smtClean="0"/>
              <a:t> set memory 20480</a:t>
            </a:r>
          </a:p>
          <a:p>
            <a:r>
              <a:rPr lang="en-US" sz="2400" b="1" dirty="0" err="1" smtClean="0"/>
              <a:t>minikube</a:t>
            </a:r>
            <a:r>
              <a:rPr lang="en-US" sz="2400" b="1" dirty="0" smtClean="0"/>
              <a:t> delete</a:t>
            </a:r>
          </a:p>
          <a:p>
            <a:r>
              <a:rPr lang="en-US" sz="2400" dirty="0" smtClean="0"/>
              <a:t># Tell </a:t>
            </a:r>
            <a:r>
              <a:rPr lang="en-US" sz="2400" dirty="0" err="1" smtClean="0"/>
              <a:t>Minikube</a:t>
            </a:r>
            <a:r>
              <a:rPr lang="en-US" sz="2400" dirty="0" smtClean="0"/>
              <a:t> to use 20 GB of RAM with the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driver</a:t>
            </a:r>
          </a:p>
          <a:p>
            <a:r>
              <a:rPr lang="en-US" sz="2400" b="1" dirty="0" err="1" smtClean="0"/>
              <a:t>minikube</a:t>
            </a:r>
            <a:r>
              <a:rPr lang="en-US" sz="2400" b="1" dirty="0" smtClean="0"/>
              <a:t> start --driver=</a:t>
            </a:r>
            <a:r>
              <a:rPr lang="en-US" sz="2400" b="1" dirty="0" err="1" smtClean="0"/>
              <a:t>docker</a:t>
            </a:r>
            <a:r>
              <a:rPr lang="en-US" sz="2400" b="1" dirty="0" smtClean="0"/>
              <a:t> --memory=20480</a:t>
            </a:r>
          </a:p>
          <a:p>
            <a:r>
              <a:rPr lang="en-US" sz="2400" b="1" dirty="0" err="1" smtClean="0"/>
              <a:t>minikube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config</a:t>
            </a:r>
            <a:r>
              <a:rPr lang="en-US" sz="2400" b="1" dirty="0" smtClean="0"/>
              <a:t> set driver </a:t>
            </a:r>
            <a:r>
              <a:rPr lang="en-US" sz="2400" b="1" dirty="0" err="1" smtClean="0"/>
              <a:t>docker</a:t>
            </a:r>
            <a:endParaRPr lang="en-US" sz="2400" b="1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Test the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kubectl</a:t>
            </a:r>
            <a:r>
              <a:rPr lang="en-US" sz="2400" dirty="0" smtClean="0">
                <a:latin typeface="Consolas" pitchFamily="49" charset="0"/>
              </a:rPr>
              <a:t> get </a:t>
            </a:r>
            <a:r>
              <a:rPr lang="en-US" sz="2400" dirty="0" err="1" smtClean="0">
                <a:latin typeface="Consolas" pitchFamily="49" charset="0"/>
              </a:rPr>
              <a:t>po</a:t>
            </a:r>
            <a:r>
              <a:rPr lang="en-US" sz="2400" dirty="0" smtClean="0">
                <a:latin typeface="Consolas" pitchFamily="49" charset="0"/>
              </a:rPr>
              <a:t> -A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5538" y="2936875"/>
            <a:ext cx="6892925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https://k3d.io/v5.7.4/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k3d is 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lightweight wrapper</a:t>
            </a:r>
            <a:r>
              <a:rPr lang="en-US" sz="2400" dirty="0" smtClean="0">
                <a:latin typeface="+mj-lt"/>
              </a:rPr>
              <a:t> to run k3s (Rancher Lab’s minimal </a:t>
            </a:r>
            <a:r>
              <a:rPr lang="en-US" sz="2400" dirty="0" err="1" smtClean="0">
                <a:latin typeface="+mj-lt"/>
              </a:rPr>
              <a:t>Kubernetes</a:t>
            </a:r>
            <a:r>
              <a:rPr lang="en-US" sz="2400" dirty="0" smtClean="0">
                <a:latin typeface="+mj-lt"/>
              </a:rPr>
              <a:t> distribution) in </a:t>
            </a:r>
            <a:r>
              <a:rPr lang="en-US" sz="2400" dirty="0" err="1" smtClean="0">
                <a:latin typeface="+mj-lt"/>
              </a:rPr>
              <a:t>docker</a:t>
            </a:r>
            <a:r>
              <a:rPr lang="en-US" sz="2400" dirty="0" smtClean="0">
                <a:latin typeface="+mj-lt"/>
              </a:rPr>
              <a:t>.</a:t>
            </a:r>
          </a:p>
          <a:p>
            <a:r>
              <a:rPr lang="en-US" sz="2400" dirty="0" smtClean="0">
                <a:latin typeface="+mj-lt"/>
              </a:rPr>
              <a:t>k3d makes it very easy to create single- and multi-node k3s clusters in </a:t>
            </a:r>
            <a:r>
              <a:rPr lang="en-US" sz="2400" dirty="0" err="1" smtClean="0">
                <a:latin typeface="+mj-lt"/>
              </a:rPr>
              <a:t>docker</a:t>
            </a:r>
            <a:r>
              <a:rPr lang="en-US" sz="2400" dirty="0" smtClean="0">
                <a:latin typeface="+mj-lt"/>
              </a:rPr>
              <a:t>, e.g. for local development on </a:t>
            </a:r>
            <a:r>
              <a:rPr lang="en-US" sz="2400" dirty="0" err="1" smtClean="0">
                <a:latin typeface="+mj-lt"/>
              </a:rPr>
              <a:t>Kubernetes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 smtClean="0">
              <a:latin typeface="+mj-lt"/>
              <a:hlinkClick r:id="rId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k3d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curl -s https://raw.githubusercontent.com/k3d-io/k3d/main/install.sh | bash</a:t>
            </a:r>
          </a:p>
          <a:p>
            <a:r>
              <a:rPr lang="en-US" sz="2200" dirty="0" smtClean="0">
                <a:latin typeface="Consolas" pitchFamily="49" charset="0"/>
              </a:rPr>
              <a:t>k3d --version</a:t>
            </a:r>
            <a:endParaRPr lang="en-US" sz="2200" dirty="0" smtClean="0">
              <a:latin typeface="Consolas" pitchFamily="49" charset="0"/>
              <a:hlinkClick r:id="rId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9838" y="3200400"/>
            <a:ext cx="6664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Uninstall k3d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sudo</a:t>
            </a:r>
            <a:r>
              <a:rPr lang="en-US" sz="2400" dirty="0" smtClean="0"/>
              <a:t> </a:t>
            </a:r>
            <a:r>
              <a:rPr lang="en-US" sz="2400" dirty="0" err="1" smtClean="0"/>
              <a:t>rm</a:t>
            </a:r>
            <a:r>
              <a:rPr lang="en-US" sz="2400" dirty="0" smtClean="0"/>
              <a:t> $(which k3d)</a:t>
            </a:r>
            <a:endParaRPr lang="en-US" sz="2200" dirty="0" smtClean="0">
              <a:latin typeface="Consolas" pitchFamily="49" charset="0"/>
              <a:hlinkClick r:id="rId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https://kind.sigs.k8s.io/</a:t>
            </a:r>
            <a:endParaRPr lang="en-US" dirty="0" smtClean="0"/>
          </a:p>
          <a:p>
            <a:r>
              <a:rPr lang="en-US" dirty="0" smtClean="0"/>
              <a:t>kind is a tool for running local </a:t>
            </a:r>
            <a:r>
              <a:rPr lang="en-US" dirty="0" err="1" smtClean="0"/>
              <a:t>Kubernetes</a:t>
            </a:r>
            <a:r>
              <a:rPr lang="en-US" dirty="0" smtClean="0"/>
              <a:t> clusters using </a:t>
            </a:r>
            <a:r>
              <a:rPr lang="en-US" dirty="0" err="1" smtClean="0"/>
              <a:t>Docker</a:t>
            </a:r>
            <a:r>
              <a:rPr lang="en-US" dirty="0" smtClean="0"/>
              <a:t> container "nodes".</a:t>
            </a:r>
          </a:p>
          <a:p>
            <a:r>
              <a:rPr lang="en-US" dirty="0" smtClean="0"/>
              <a:t>kind was primarily designed for testing </a:t>
            </a:r>
            <a:r>
              <a:rPr lang="en-US" dirty="0" err="1" smtClean="0"/>
              <a:t>Kubernetes</a:t>
            </a:r>
            <a:r>
              <a:rPr lang="en-US" dirty="0" smtClean="0"/>
              <a:t> itself, but may be used for local development or CI.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 and </a:t>
            </a:r>
            <a:r>
              <a:rPr lang="en-US" dirty="0" err="1" smtClean="0"/>
              <a:t>minikube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kind</a:t>
            </a:r>
            <a:r>
              <a:rPr lang="en-US" dirty="0" smtClean="0"/>
              <a:t> prioritizes </a:t>
            </a:r>
            <a:r>
              <a:rPr lang="en-US" u="sng" dirty="0" smtClean="0"/>
              <a:t>orchestration efficiency</a:t>
            </a:r>
            <a:r>
              <a:rPr lang="en-US" dirty="0" smtClean="0"/>
              <a:t> and </a:t>
            </a:r>
            <a:r>
              <a:rPr lang="en-US" u="sng" dirty="0" smtClean="0"/>
              <a:t>test fidelity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Containerized, multi-node possible.</a:t>
            </a:r>
          </a:p>
          <a:p>
            <a:pPr lvl="1"/>
            <a:r>
              <a:rPr lang="en-US" dirty="0" smtClean="0"/>
              <a:t>Use cases: CI, testing, </a:t>
            </a:r>
            <a:r>
              <a:rPr lang="en-US" dirty="0" err="1" smtClean="0"/>
              <a:t>Kubernetes</a:t>
            </a:r>
            <a:r>
              <a:rPr lang="en-US" dirty="0" smtClean="0"/>
              <a:t> internals.</a:t>
            </a:r>
          </a:p>
          <a:p>
            <a:r>
              <a:rPr lang="en-US" i="1" dirty="0" err="1" smtClean="0">
                <a:solidFill>
                  <a:srgbClr val="C00000"/>
                </a:solidFill>
              </a:rPr>
              <a:t>minikube</a:t>
            </a:r>
            <a:r>
              <a:rPr lang="en-US" dirty="0" smtClean="0"/>
              <a:t> prioritizes </a:t>
            </a:r>
            <a:r>
              <a:rPr lang="en-US" u="sng" dirty="0" smtClean="0"/>
              <a:t>environmental realism</a:t>
            </a:r>
            <a:r>
              <a:rPr lang="en-US" dirty="0" smtClean="0"/>
              <a:t> and </a:t>
            </a:r>
            <a:r>
              <a:rPr lang="en-US" u="sng" dirty="0" smtClean="0"/>
              <a:t>usability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Stronger isolation, typically single-node.</a:t>
            </a:r>
          </a:p>
          <a:p>
            <a:pPr lvl="1"/>
            <a:r>
              <a:rPr lang="en-US" dirty="0" smtClean="0"/>
              <a:t>Use cases: Local development, learning.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 and k3d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kind</a:t>
            </a:r>
            <a:r>
              <a:rPr lang="en-US" dirty="0" smtClean="0"/>
              <a:t> keeps the </a:t>
            </a:r>
            <a:r>
              <a:rPr lang="en-US" u="sng" dirty="0" smtClean="0"/>
              <a:t>full </a:t>
            </a:r>
            <a:r>
              <a:rPr lang="en-US" u="sng" dirty="0" err="1" smtClean="0"/>
              <a:t>Kubernetes</a:t>
            </a:r>
            <a:r>
              <a:rPr lang="en-US" u="sng" dirty="0" smtClean="0"/>
              <a:t> behavior</a:t>
            </a:r>
            <a:r>
              <a:rPr lang="en-US" dirty="0" smtClean="0"/>
              <a:t> at the cost of higher resource use.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k3d</a:t>
            </a:r>
            <a:r>
              <a:rPr lang="en-US" dirty="0" smtClean="0"/>
              <a:t> trades some completeness for </a:t>
            </a:r>
            <a:r>
              <a:rPr lang="en-US" u="sng" dirty="0" smtClean="0"/>
              <a:t>efficiency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minikube</a:t>
            </a:r>
            <a:r>
              <a:rPr lang="en-US" dirty="0" smtClean="0"/>
              <a:t> </a:t>
            </a:r>
            <a:r>
              <a:rPr lang="en-US" dirty="0" smtClean="0"/>
              <a:t>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minikube.sigs.k8s.io/docs/start</a:t>
            </a:r>
            <a:endParaRPr lang="en-US" sz="2400" dirty="0" smtClean="0"/>
          </a:p>
          <a:p>
            <a:r>
              <a:rPr lang="en-US" sz="2400" dirty="0" smtClean="0"/>
              <a:t>curl </a:t>
            </a:r>
            <a:r>
              <a:rPr lang="en-US" sz="2400" dirty="0" smtClean="0"/>
              <a:t>-LO </a:t>
            </a:r>
            <a:r>
              <a:rPr lang="en-US" sz="2400" dirty="0" smtClean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github.com/kubernetes/minikube/releases/latest/download/minikube-linux-amd64</a:t>
            </a:r>
            <a:endParaRPr lang="en-US" sz="2400" dirty="0" smtClean="0"/>
          </a:p>
          <a:p>
            <a:r>
              <a:rPr lang="en-US" sz="2400" dirty="0" err="1" smtClean="0"/>
              <a:t>sudo</a:t>
            </a:r>
            <a:r>
              <a:rPr lang="en-US" sz="2400" dirty="0" smtClean="0"/>
              <a:t> </a:t>
            </a:r>
            <a:r>
              <a:rPr lang="en-US" sz="2400" dirty="0" smtClean="0"/>
              <a:t>install minikube-linux-amd64 /</a:t>
            </a:r>
            <a:r>
              <a:rPr lang="en-US" sz="2400" dirty="0" err="1" smtClean="0"/>
              <a:t>usr</a:t>
            </a:r>
            <a:r>
              <a:rPr lang="en-US" sz="2400" dirty="0" smtClean="0"/>
              <a:t>/local/bin/</a:t>
            </a:r>
            <a:r>
              <a:rPr lang="en-US" sz="2400" dirty="0" err="1" smtClean="0"/>
              <a:t>minikube</a:t>
            </a:r>
            <a:r>
              <a:rPr lang="en-US" sz="2400" dirty="0" smtClean="0"/>
              <a:t> &amp;&amp; </a:t>
            </a:r>
            <a:r>
              <a:rPr lang="en-US" sz="2400" dirty="0" err="1" smtClean="0"/>
              <a:t>rm</a:t>
            </a:r>
            <a:r>
              <a:rPr lang="en-US" sz="2400" dirty="0" smtClean="0"/>
              <a:t> </a:t>
            </a:r>
            <a:r>
              <a:rPr lang="en-US" sz="2400" dirty="0" smtClean="0"/>
              <a:t>minikube-linux-amd64</a:t>
            </a:r>
          </a:p>
          <a:p>
            <a:r>
              <a:rPr lang="en-US" sz="2400" dirty="0" err="1" smtClean="0"/>
              <a:t>sudo</a:t>
            </a:r>
            <a:r>
              <a:rPr lang="en-US" sz="2400" dirty="0" smtClean="0"/>
              <a:t> </a:t>
            </a:r>
            <a:r>
              <a:rPr lang="en-US" sz="2400" dirty="0" err="1" smtClean="0"/>
              <a:t>usermod</a:t>
            </a:r>
            <a:r>
              <a:rPr lang="en-US" sz="2400" dirty="0" smtClean="0"/>
              <a:t> -</a:t>
            </a:r>
            <a:r>
              <a:rPr lang="en-US" sz="2400" dirty="0" err="1" smtClean="0"/>
              <a:t>aG</a:t>
            </a:r>
            <a:r>
              <a:rPr lang="en-US" sz="2400" dirty="0" smtClean="0"/>
              <a:t>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$USER &amp;&amp; </a:t>
            </a:r>
            <a:r>
              <a:rPr lang="en-US" sz="2400" dirty="0" err="1" smtClean="0"/>
              <a:t>newgrp</a:t>
            </a:r>
            <a:r>
              <a:rPr lang="en-US" sz="2400" dirty="0" smtClean="0"/>
              <a:t> </a:t>
            </a:r>
            <a:r>
              <a:rPr lang="en-US" sz="2400" dirty="0" err="1" smtClean="0"/>
              <a:t>docker</a:t>
            </a:r>
            <a:endParaRPr lang="en-US" sz="2400" dirty="0" smtClean="0"/>
          </a:p>
          <a:p>
            <a:r>
              <a:rPr lang="en-US" sz="2400" dirty="0" err="1" smtClean="0"/>
              <a:t>minikube</a:t>
            </a:r>
            <a:r>
              <a:rPr lang="en-US" sz="2400" dirty="0" smtClean="0"/>
              <a:t> </a:t>
            </a:r>
            <a:r>
              <a:rPr lang="en-US" sz="2400" dirty="0" smtClean="0"/>
              <a:t>start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Install </a:t>
            </a:r>
            <a:r>
              <a:rPr lang="en-US" dirty="0" err="1" smtClean="0"/>
              <a:t>kubectl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https://kubernetes.io/docs/tasks/tools/install-kubectl-linux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pt-BR" sz="2400" dirty="0" smtClean="0"/>
              <a:t>curl -LO </a:t>
            </a:r>
            <a:r>
              <a:rPr lang="pt-BR" sz="2400" dirty="0" smtClean="0"/>
              <a:t>"https</a:t>
            </a:r>
            <a:r>
              <a:rPr lang="pt-BR" sz="2400" dirty="0" smtClean="0"/>
              <a:t>://dl.k8s.io/release/</a:t>
            </a:r>
            <a:r>
              <a:rPr lang="pt-BR" sz="2400" b="1" dirty="0" smtClean="0"/>
              <a:t>$(</a:t>
            </a:r>
            <a:r>
              <a:rPr lang="pt-BR" sz="2400" dirty="0" smtClean="0"/>
              <a:t>curl -L -s https://dl.k8s.io/release/stable.txt</a:t>
            </a:r>
            <a:r>
              <a:rPr lang="pt-BR" sz="2400" b="1" dirty="0" smtClean="0"/>
              <a:t>)</a:t>
            </a:r>
            <a:r>
              <a:rPr lang="pt-BR" sz="2400" dirty="0" smtClean="0"/>
              <a:t>/</a:t>
            </a:r>
            <a:r>
              <a:rPr lang="pt-BR" sz="2400" dirty="0" smtClean="0"/>
              <a:t>bin/linux/amd64/kubectl"</a:t>
            </a:r>
          </a:p>
          <a:p>
            <a:r>
              <a:rPr lang="en-US" sz="2400" dirty="0" err="1" smtClean="0"/>
              <a:t>sudo</a:t>
            </a:r>
            <a:r>
              <a:rPr lang="en-US" sz="2400" dirty="0" smtClean="0"/>
              <a:t> install -o root -g root -m 0755 </a:t>
            </a:r>
            <a:r>
              <a:rPr lang="en-US" sz="2400" dirty="0" err="1" smtClean="0"/>
              <a:t>kubectl</a:t>
            </a:r>
            <a:r>
              <a:rPr lang="en-US" sz="2400" dirty="0" smtClean="0"/>
              <a:t> /</a:t>
            </a:r>
            <a:r>
              <a:rPr lang="en-US" sz="2400" dirty="0" err="1" smtClean="0"/>
              <a:t>usr</a:t>
            </a:r>
            <a:r>
              <a:rPr lang="en-US" sz="2400" dirty="0" smtClean="0"/>
              <a:t>/local/bin/</a:t>
            </a:r>
            <a:r>
              <a:rPr lang="en-US" sz="2400" dirty="0" err="1" smtClean="0"/>
              <a:t>kubectl</a:t>
            </a:r>
            <a:endParaRPr lang="en-US" sz="2400" dirty="0" smtClean="0"/>
          </a:p>
          <a:p>
            <a:r>
              <a:rPr lang="en-US" sz="2400" dirty="0" err="1" smtClean="0"/>
              <a:t>kubectl</a:t>
            </a:r>
            <a:r>
              <a:rPr lang="en-US" sz="2400" dirty="0" smtClean="0"/>
              <a:t> version --</a:t>
            </a:r>
            <a:r>
              <a:rPr lang="en-US" sz="2400" dirty="0" smtClean="0"/>
              <a:t>client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15598</TotalTime>
  <Words>733</Words>
  <Application>Microsoft Office PowerPoint</Application>
  <PresentationFormat>On-screen Show (4:3)</PresentationFormat>
  <Paragraphs>114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Install Kubernetes</vt:lpstr>
      <vt:lpstr>Objectives</vt:lpstr>
      <vt:lpstr>Contents</vt:lpstr>
      <vt:lpstr>References</vt:lpstr>
      <vt:lpstr>1. Enable Docker Desktop Kubernetes</vt:lpstr>
      <vt:lpstr>2. Verify Version</vt:lpstr>
      <vt:lpstr>Issue: The connection to the server 127.0.0.1:6443 was refused </vt:lpstr>
      <vt:lpstr>Issue: Unable to connect to the server: tls</vt:lpstr>
      <vt:lpstr>Slide 9</vt:lpstr>
      <vt:lpstr>minikube</vt:lpstr>
      <vt:lpstr>Docker Desktop Kubernetes</vt:lpstr>
      <vt:lpstr>1. Install minikube on macOS</vt:lpstr>
      <vt:lpstr>2. Start minikube Cluster</vt:lpstr>
      <vt:lpstr>3. Test the Cluster</vt:lpstr>
      <vt:lpstr>4. Hello minikube</vt:lpstr>
      <vt:lpstr>5. Test Your Cluster</vt:lpstr>
      <vt:lpstr>6. Reset Your Cluster</vt:lpstr>
      <vt:lpstr>Slide 18</vt:lpstr>
      <vt:lpstr>1. Start minikube with 20GB RAM</vt:lpstr>
      <vt:lpstr>2. Test the Cluster</vt:lpstr>
      <vt:lpstr>Slide 21</vt:lpstr>
      <vt:lpstr>k3d</vt:lpstr>
      <vt:lpstr>1. Install k3d on macOS</vt:lpstr>
      <vt:lpstr>2. Uninstall k3d on macOS</vt:lpstr>
      <vt:lpstr>Slide 25</vt:lpstr>
      <vt:lpstr>kind</vt:lpstr>
      <vt:lpstr>kind and minikube</vt:lpstr>
      <vt:lpstr>kind and k3d</vt:lpstr>
      <vt:lpstr>Slide 29</vt:lpstr>
      <vt:lpstr>1. Install minikube on Ubuntu</vt:lpstr>
      <vt:lpstr>2. Install kubectl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5856</cp:revision>
  <dcterms:created xsi:type="dcterms:W3CDTF">2007-10-06T08:25:13Z</dcterms:created>
  <dcterms:modified xsi:type="dcterms:W3CDTF">2025-12-30T21:10:21Z</dcterms:modified>
</cp:coreProperties>
</file>