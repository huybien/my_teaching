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22"/>
  </p:notesMasterIdLst>
  <p:handoutMasterIdLst>
    <p:handoutMasterId r:id="rId23"/>
  </p:handoutMasterIdLst>
  <p:sldIdLst>
    <p:sldId id="658" r:id="rId2"/>
    <p:sldId id="646" r:id="rId3"/>
    <p:sldId id="647" r:id="rId4"/>
    <p:sldId id="517" r:id="rId5"/>
    <p:sldId id="691" r:id="rId6"/>
    <p:sldId id="686" r:id="rId7"/>
    <p:sldId id="687" r:id="rId8"/>
    <p:sldId id="688" r:id="rId9"/>
    <p:sldId id="689" r:id="rId10"/>
    <p:sldId id="690" r:id="rId11"/>
    <p:sldId id="692" r:id="rId12"/>
    <p:sldId id="674" r:id="rId13"/>
    <p:sldId id="672" r:id="rId14"/>
    <p:sldId id="683" r:id="rId15"/>
    <p:sldId id="684" r:id="rId16"/>
    <p:sldId id="685" r:id="rId17"/>
    <p:sldId id="677" r:id="rId18"/>
    <p:sldId id="678" r:id="rId19"/>
    <p:sldId id="679" r:id="rId20"/>
    <p:sldId id="516" r:id="rId21"/>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CCFF"/>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972" autoAdjust="0"/>
    <p:restoredTop sz="86318" autoAdjust="0"/>
  </p:normalViewPr>
  <p:slideViewPr>
    <p:cSldViewPr>
      <p:cViewPr>
        <p:scale>
          <a:sx n="50" d="100"/>
          <a:sy n="50" d="100"/>
        </p:scale>
        <p:origin x="-1536" y="-268"/>
      </p:cViewPr>
      <p:guideLst>
        <p:guide orient="horz" pos="2160"/>
        <p:guide pos="2880"/>
      </p:guideLst>
    </p:cSldViewPr>
  </p:slideViewPr>
  <p:outlineViewPr>
    <p:cViewPr>
      <p:scale>
        <a:sx n="33" d="100"/>
        <a:sy n="33" d="100"/>
      </p:scale>
      <p:origin x="0" y="46014"/>
    </p:cViewPr>
  </p:outlin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69C8916F-68F0-4F1D-B8B7-72CB5201631B}" type="datetimeFigureOut">
              <a:rPr lang="en-US" smtClean="0"/>
              <a:pPr/>
              <a:t>4/2/2025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A2A9A70-1659-4BFF-8884-BBD9E2F373D8}" type="slidenum">
              <a:rPr lang="en-US" smtClean="0"/>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F0940CE-BE1D-4C40-AF8B-3898A4D1F5EC}" type="datetimeFigureOut">
              <a:rPr lang="en-US" smtClean="0"/>
              <a:pPr/>
              <a:t>4/2/2025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570CC96-DB61-4850-AF79-05CA5E4B3D0A}"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570CC96-DB61-4850-AF79-05CA5E4B3D0A}" type="slidenum">
              <a:rPr lang="en-US" smtClean="0"/>
              <a:pPr/>
              <a:t>4</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570CC96-DB61-4850-AF79-05CA5E4B3D0A}" type="slidenum">
              <a:rPr lang="en-US" smtClean="0"/>
              <a:pPr/>
              <a:t>12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BB3B12F3-13D8-4BC6-B271-EF890D2E3EA0}" type="datetimeFigureOut">
              <a:rPr lang="en-US"/>
              <a:pPr>
                <a:defRPr/>
              </a:pPr>
              <a:t>4/2/2025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C4D65A0-8A45-49A8-B2B4-890662407FE0}"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AF2554BB-BED8-407D-871B-BC3BF099B766}" type="datetimeFigureOut">
              <a:rPr lang="en-US"/>
              <a:pPr>
                <a:defRPr/>
              </a:pPr>
              <a:t>4/2/2025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6B6A513C-A265-4672-ADF9-9C420A0C09A7}"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D183AE9F-B8F4-4A27-A258-84000ADADD35}" type="datetimeFigureOut">
              <a:rPr lang="en-US"/>
              <a:pPr>
                <a:defRPr/>
              </a:pPr>
              <a:t>4/2/2025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0C0325C-EBE7-4A11-97E9-DF8C42B04A73}"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8B4F403C-A7D9-4211-8DC1-5865845C9F38}" type="datetimeFigureOut">
              <a:rPr lang="en-US"/>
              <a:pPr>
                <a:defRPr/>
              </a:pPr>
              <a:t>4/2/2025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C091B809-96F5-477B-8E72-8AB6B5E4AEA1}"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8809C128-87F1-4A1D-AC95-1D0A8C2820AC}" type="datetimeFigureOut">
              <a:rPr lang="en-US"/>
              <a:pPr>
                <a:defRPr/>
              </a:pPr>
              <a:t>4/2/2025</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DC251F8E-6BBA-4EBA-BCCA-61145C18CC0B}"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0DD7EAC8-1610-4C8B-8A2E-7959779A26B0}" type="datetimeFigureOut">
              <a:rPr lang="en-US"/>
              <a:pPr>
                <a:defRPr/>
              </a:pPr>
              <a:t>4/2/2025</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88F43CFA-8BED-4A88-AB21-8477601BA319}"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BD13CF8C-ED99-4E62-9F8F-039B47F842EB}" type="datetimeFigureOut">
              <a:rPr lang="en-US"/>
              <a:pPr>
                <a:defRPr/>
              </a:pPr>
              <a:t>4/2/2025</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73FA9176-712D-4387-A1B9-79FDD21B4132}"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6A10295A-2761-40EA-9DA2-E88C0504267F}" type="datetimeFigureOut">
              <a:rPr lang="en-US"/>
              <a:pPr>
                <a:defRPr/>
              </a:pPr>
              <a:t>4/2/2025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A6EFA140-F156-4425-B953-A67D35160EB0}"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B7036556-1340-40FC-A073-D70D8832A760}" type="datetimeFigureOut">
              <a:rPr lang="en-US"/>
              <a:pPr>
                <a:defRPr/>
              </a:pPr>
              <a:t>4/2/2025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AB3919B8-AF1D-4524-AED9-AA87E5FE0640}"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B5375E21-F618-4DDC-86A2-77C690CACCAF}" type="datetimeFigureOut">
              <a:rPr lang="en-US"/>
              <a:pPr>
                <a:defRPr/>
              </a:pPr>
              <a:t>4/2/2025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2EDB1DC0-76E8-4C19-B643-CDC8176FDDA2}"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1B4CE7E0-80C2-49E8-81AC-9B27623F73A4}" type="datetimeFigureOut">
              <a:rPr lang="en-US"/>
              <a:pPr>
                <a:defRPr/>
              </a:pPr>
              <a:t>4/2/2025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129D05C-0F0F-4E8B-B47F-3C2F1A4BC70E}"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218"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9219"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2F5EA699-B790-4630-B1C5-9840307833F6}" type="datetimeFigureOut">
              <a:rPr lang="en-US"/>
              <a:pPr>
                <a:defRPr/>
              </a:pPr>
              <a:t>4/2/2025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409E2BD1-610D-47CE-BC14-E90E7753FA52}"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nhbien@fit.hcmus.edu.v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martinfowler.com/articles/microservices.html"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hyperlink" Target="https://www.fastify.io/" TargetMode="External"/><Relationship Id="rId3" Type="http://schemas.openxmlformats.org/officeDocument/2006/relationships/hyperlink" Target="https://developer.axoniq.io/axon-framework/" TargetMode="External"/><Relationship Id="rId7" Type="http://schemas.openxmlformats.org/officeDocument/2006/relationships/hyperlink" Target="https://moleculer.services/" TargetMode="External"/><Relationship Id="rId2" Type="http://schemas.openxmlformats.org/officeDocument/2006/relationships/hyperlink" Target="https://spring.io/projects/spring-boot" TargetMode="External"/><Relationship Id="rId1" Type="http://schemas.openxmlformats.org/officeDocument/2006/relationships/slideLayout" Target="../slideLayouts/slideLayout2.xml"/><Relationship Id="rId6" Type="http://schemas.openxmlformats.org/officeDocument/2006/relationships/hyperlink" Target="https://nestjs.com/" TargetMode="External"/><Relationship Id="rId11" Type="http://schemas.openxmlformats.org/officeDocument/2006/relationships/hyperlink" Target="https://vertx.io/" TargetMode="External"/><Relationship Id="rId5" Type="http://schemas.openxmlformats.org/officeDocument/2006/relationships/hyperlink" Target="https://docs.microsoft.com/en-us/aspnet/core/" TargetMode="External"/><Relationship Id="rId10" Type="http://schemas.openxmlformats.org/officeDocument/2006/relationships/hyperlink" Target="https://lumen.laravel.com/docs/9.x" TargetMode="External"/><Relationship Id="rId4" Type="http://schemas.openxmlformats.org/officeDocument/2006/relationships/hyperlink" Target="https://micronaut.io/" TargetMode="External"/><Relationship Id="rId9" Type="http://schemas.openxmlformats.org/officeDocument/2006/relationships/hyperlink" Target="https://github.com/asim/go-micro" TargetMode="Externa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martinfowler.com/bliki/MonolithFirst.html" TargetMode="External"/><Relationship Id="rId2" Type="http://schemas.openxmlformats.org/officeDocument/2006/relationships/hyperlink" Target="https://martinfowler.com/bliki/MicroservicePremium.html"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s://martinfowler.com/articles/dont-start-monolith.html"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ctrTitle"/>
          </p:nvPr>
        </p:nvSpPr>
        <p:spPr/>
        <p:txBody>
          <a:bodyPr/>
          <a:lstStyle/>
          <a:p>
            <a:pPr eaLnBrk="1" hangingPunct="1"/>
            <a:r>
              <a:rPr lang="de-DE" sz="6000" dirty="0" smtClean="0"/>
              <a:t>Designing Microservices</a:t>
            </a:r>
            <a:endParaRPr lang="en-US" sz="6000" dirty="0" smtClean="0"/>
          </a:p>
        </p:txBody>
      </p:sp>
      <p:sp>
        <p:nvSpPr>
          <p:cNvPr id="3" name="Subtitle 2"/>
          <p:cNvSpPr>
            <a:spLocks noGrp="1"/>
          </p:cNvSpPr>
          <p:nvPr>
            <p:ph type="subTitle" idx="1"/>
          </p:nvPr>
        </p:nvSpPr>
        <p:spPr/>
        <p:txBody>
          <a:bodyPr rtlCol="0">
            <a:normAutofit fontScale="40000" lnSpcReduction="20000"/>
          </a:bodyPr>
          <a:lstStyle/>
          <a:p>
            <a:pPr eaLnBrk="1" fontAlgn="auto" hangingPunct="1">
              <a:spcAft>
                <a:spcPts val="0"/>
              </a:spcAft>
              <a:defRPr/>
            </a:pPr>
            <a:r>
              <a:rPr lang="en-US" sz="5400" dirty="0" smtClean="0"/>
              <a:t>Lecturer: Ngo Huy Bien</a:t>
            </a:r>
          </a:p>
          <a:p>
            <a:pPr eaLnBrk="1" fontAlgn="auto" hangingPunct="1">
              <a:spcAft>
                <a:spcPts val="0"/>
              </a:spcAft>
              <a:defRPr/>
            </a:pPr>
            <a:r>
              <a:rPr lang="en-US" sz="4400" dirty="0" smtClean="0"/>
              <a:t>Software Engineering Department</a:t>
            </a:r>
          </a:p>
          <a:p>
            <a:pPr eaLnBrk="1" fontAlgn="auto" hangingPunct="1">
              <a:spcAft>
                <a:spcPts val="0"/>
              </a:spcAft>
              <a:defRPr/>
            </a:pPr>
            <a:r>
              <a:rPr lang="en-US" sz="4400" dirty="0" smtClean="0"/>
              <a:t>Faculty of Information Technology</a:t>
            </a:r>
          </a:p>
          <a:p>
            <a:pPr eaLnBrk="1" fontAlgn="auto" hangingPunct="1">
              <a:spcAft>
                <a:spcPts val="0"/>
              </a:spcAft>
              <a:defRPr/>
            </a:pPr>
            <a:r>
              <a:rPr lang="en-US" sz="4400" dirty="0" smtClean="0"/>
              <a:t>VNUHCM - University of Science</a:t>
            </a:r>
          </a:p>
          <a:p>
            <a:pPr eaLnBrk="1" fontAlgn="auto" hangingPunct="1">
              <a:spcAft>
                <a:spcPts val="0"/>
              </a:spcAft>
              <a:defRPr/>
            </a:pPr>
            <a:r>
              <a:rPr lang="en-US" sz="4400" dirty="0" smtClean="0"/>
              <a:t>Ho Chi Minh City, Vietnam</a:t>
            </a:r>
          </a:p>
          <a:p>
            <a:pPr eaLnBrk="1" fontAlgn="auto" hangingPunct="1">
              <a:spcAft>
                <a:spcPts val="0"/>
              </a:spcAft>
              <a:defRPr/>
            </a:pPr>
            <a:r>
              <a:rPr lang="en-US" sz="4400" dirty="0" smtClean="0">
                <a:hlinkClick r:id="rId2"/>
              </a:rPr>
              <a:t>nhbien@fit.hcmus.edu.vn</a:t>
            </a:r>
            <a:endParaRPr lang="en-US" sz="4400"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Objectives</a:t>
            </a:r>
            <a:endParaRPr lang="en-US" dirty="0"/>
          </a:p>
        </p:txBody>
      </p:sp>
      <p:sp>
        <p:nvSpPr>
          <p:cNvPr id="3" name="Content Placeholder 2"/>
          <p:cNvSpPr>
            <a:spLocks noGrp="1"/>
          </p:cNvSpPr>
          <p:nvPr>
            <p:ph idx="1"/>
          </p:nvPr>
        </p:nvSpPr>
        <p:spPr>
          <a:xfrm>
            <a:off x="457200" y="1600201"/>
            <a:ext cx="5334000" cy="4419599"/>
          </a:xfrm>
        </p:spPr>
        <p:txBody>
          <a:bodyPr/>
          <a:lstStyle/>
          <a:p>
            <a:pPr>
              <a:buFont typeface="Wingdings" pitchFamily="2" charset="2"/>
              <a:buChar char="Ø"/>
            </a:pPr>
            <a:r>
              <a:rPr lang="en-US" sz="2400" dirty="0" smtClean="0"/>
              <a:t>To </a:t>
            </a:r>
            <a:r>
              <a:rPr lang="en-US" sz="2400" i="1" dirty="0" smtClean="0">
                <a:solidFill>
                  <a:srgbClr val="C00000"/>
                </a:solidFill>
              </a:rPr>
              <a:t>decompose</a:t>
            </a:r>
            <a:r>
              <a:rPr lang="en-US" sz="2400" dirty="0" smtClean="0"/>
              <a:t> a system into </a:t>
            </a:r>
            <a:r>
              <a:rPr lang="en-US" sz="2400" dirty="0" err="1" smtClean="0"/>
              <a:t>microservices</a:t>
            </a:r>
            <a:r>
              <a:rPr lang="en-US" sz="2400" dirty="0" smtClean="0"/>
              <a:t>.</a:t>
            </a:r>
          </a:p>
          <a:p>
            <a:pPr>
              <a:buFont typeface="Wingdings" pitchFamily="2" charset="2"/>
              <a:buChar char="Ø"/>
            </a:pPr>
            <a:r>
              <a:rPr lang="en-US" sz="2400" dirty="0" smtClean="0"/>
              <a:t>To </a:t>
            </a:r>
            <a:r>
              <a:rPr lang="en-US" sz="2400" i="1" dirty="0" smtClean="0">
                <a:solidFill>
                  <a:srgbClr val="C00000"/>
                </a:solidFill>
              </a:rPr>
              <a:t>implement</a:t>
            </a:r>
            <a:r>
              <a:rPr lang="en-US" sz="2400" dirty="0" smtClean="0"/>
              <a:t> a </a:t>
            </a:r>
            <a:r>
              <a:rPr lang="en-US" sz="2400" dirty="0" err="1" smtClean="0"/>
              <a:t>microservice</a:t>
            </a:r>
            <a:r>
              <a:rPr lang="en-US" sz="2400" dirty="0" smtClean="0"/>
              <a:t>.</a:t>
            </a:r>
          </a:p>
          <a:p>
            <a:pPr>
              <a:buFont typeface="Wingdings" pitchFamily="2" charset="2"/>
              <a:buChar char="Ø"/>
            </a:pPr>
            <a:endParaRPr lang="en-US" sz="2400" dirty="0" smtClean="0"/>
          </a:p>
        </p:txBody>
      </p:sp>
      <p:pic>
        <p:nvPicPr>
          <p:cNvPr id="5" name="Picture 2"/>
          <p:cNvPicPr>
            <a:picLocks noChangeAspect="1" noChangeArrowheads="1"/>
          </p:cNvPicPr>
          <p:nvPr/>
        </p:nvPicPr>
        <p:blipFill>
          <a:blip r:embed="rId2" cstate="print"/>
          <a:srcRect/>
          <a:stretch>
            <a:fillRect/>
          </a:stretch>
        </p:blipFill>
        <p:spPr bwMode="auto">
          <a:xfrm>
            <a:off x="6019800" y="1828800"/>
            <a:ext cx="2762250" cy="21145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2" cstate="print"/>
          <a:srcRect/>
          <a:stretch>
            <a:fillRect/>
          </a:stretch>
        </p:blipFill>
        <p:spPr bwMode="auto">
          <a:xfrm>
            <a:off x="6477000" y="2438400"/>
            <a:ext cx="2390775" cy="2390775"/>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smtClean="0"/>
              <a:t>Contents</a:t>
            </a:r>
            <a:endParaRPr lang="en-US" dirty="0"/>
          </a:p>
        </p:txBody>
      </p:sp>
      <p:sp>
        <p:nvSpPr>
          <p:cNvPr id="3" name="Content Placeholder 2"/>
          <p:cNvSpPr>
            <a:spLocks noGrp="1"/>
          </p:cNvSpPr>
          <p:nvPr>
            <p:ph idx="1"/>
          </p:nvPr>
        </p:nvSpPr>
        <p:spPr>
          <a:xfrm>
            <a:off x="457200" y="1600200"/>
            <a:ext cx="5562600" cy="4525963"/>
          </a:xfrm>
        </p:spPr>
        <p:txBody>
          <a:bodyPr/>
          <a:lstStyle/>
          <a:p>
            <a:pPr marL="571500" indent="-571500">
              <a:buFont typeface="+mj-lt"/>
              <a:buAutoNum type="romanUcPeriod"/>
            </a:pPr>
            <a:r>
              <a:rPr lang="en-US" sz="2400" dirty="0" err="1" smtClean="0"/>
              <a:t>Microservices</a:t>
            </a:r>
            <a:r>
              <a:rPr lang="en-US" sz="2400" dirty="0" smtClean="0"/>
              <a:t> decomposition</a:t>
            </a:r>
          </a:p>
          <a:p>
            <a:pPr marL="571500" indent="-571500">
              <a:buFont typeface="+mj-lt"/>
              <a:buAutoNum type="romanUcPeriod"/>
            </a:pPr>
            <a:r>
              <a:rPr lang="en-US" sz="2400" dirty="0" err="1" smtClean="0"/>
              <a:t>Microservices</a:t>
            </a:r>
            <a:r>
              <a:rPr lang="en-US" sz="2400" dirty="0" smtClean="0"/>
              <a:t> implementation</a:t>
            </a:r>
          </a:p>
          <a:p>
            <a:pPr marL="571500" indent="-571500">
              <a:buFont typeface="+mj-lt"/>
              <a:buAutoNum type="romanUcPeriod"/>
            </a:pPr>
            <a:endParaRPr lang="en-US" sz="2400" dirty="0" smtClean="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a:xfrm>
            <a:off x="457200" y="1752600"/>
            <a:ext cx="5867400" cy="4495800"/>
          </a:xfrm>
        </p:spPr>
        <p:txBody>
          <a:bodyPr/>
          <a:lstStyle/>
          <a:p>
            <a:pPr marL="457200" indent="-457200">
              <a:buFont typeface="+mj-lt"/>
              <a:buAutoNum type="arabicPeriod"/>
            </a:pPr>
            <a:r>
              <a:rPr lang="en-US" sz="1800" dirty="0" smtClean="0">
                <a:hlinkClick r:id="rId3"/>
              </a:rPr>
              <a:t>https://martinfowler.com/articles/microservices.html</a:t>
            </a:r>
            <a:endParaRPr lang="en-US" sz="1800" dirty="0" smtClean="0"/>
          </a:p>
          <a:p>
            <a:pPr marL="457200" indent="-457200">
              <a:buFont typeface="+mj-lt"/>
              <a:buAutoNum type="arabicPeriod"/>
            </a:pPr>
            <a:r>
              <a:rPr lang="en-US" sz="1800" dirty="0" smtClean="0"/>
              <a:t>Sam Newman (2021). Building </a:t>
            </a:r>
            <a:r>
              <a:rPr lang="en-US" sz="1800" dirty="0" err="1" smtClean="0"/>
              <a:t>Microservices</a:t>
            </a:r>
            <a:r>
              <a:rPr lang="en-US" sz="1800" dirty="0" smtClean="0"/>
              <a:t> - Designing Fine-Grained Systems. </a:t>
            </a:r>
            <a:r>
              <a:rPr lang="en-US" sz="1800" dirty="0" smtClean="0"/>
              <a:t>O'Reilly </a:t>
            </a:r>
            <a:r>
              <a:rPr lang="en-US" sz="1800" dirty="0" smtClean="0"/>
              <a:t>Media.</a:t>
            </a:r>
          </a:p>
        </p:txBody>
      </p:sp>
      <p:pic>
        <p:nvPicPr>
          <p:cNvPr id="4" name="Picture 4" descr="http://2.bp.blogspot.com/-FqRM_5NQE6Q/TaSdzyWfvtI/AAAAAAAAAFg/C_2LDJWJOx4/s1600/books-pile.jpg"/>
          <p:cNvPicPr>
            <a:picLocks noChangeAspect="1" noChangeArrowheads="1"/>
          </p:cNvPicPr>
          <p:nvPr/>
        </p:nvPicPr>
        <p:blipFill>
          <a:blip r:embed="rId4" cstate="print"/>
          <a:srcRect/>
          <a:stretch>
            <a:fillRect/>
          </a:stretch>
        </p:blipFill>
        <p:spPr bwMode="auto">
          <a:xfrm>
            <a:off x="6191250" y="1676400"/>
            <a:ext cx="2724150" cy="4133850"/>
          </a:xfrm>
          <a:prstGeom prst="rect">
            <a:avLst/>
          </a:prstGeom>
          <a:noFill/>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Microservice</a:t>
            </a:r>
            <a:r>
              <a:rPr lang="en-US" dirty="0" smtClean="0"/>
              <a:t> </a:t>
            </a:r>
            <a:r>
              <a:rPr lang="en-US" dirty="0" smtClean="0"/>
              <a:t>Boundary [1]</a:t>
            </a:r>
            <a:endParaRPr lang="en-US" dirty="0"/>
          </a:p>
        </p:txBody>
      </p:sp>
      <p:sp>
        <p:nvSpPr>
          <p:cNvPr id="3" name="Content Placeholder 2"/>
          <p:cNvSpPr>
            <a:spLocks noGrp="1"/>
          </p:cNvSpPr>
          <p:nvPr>
            <p:ph idx="1"/>
          </p:nvPr>
        </p:nvSpPr>
        <p:spPr/>
        <p:txBody>
          <a:bodyPr/>
          <a:lstStyle/>
          <a:p>
            <a:r>
              <a:rPr lang="en-US" sz="2200" dirty="0" err="1" smtClean="0"/>
              <a:t>Microservices</a:t>
            </a:r>
            <a:r>
              <a:rPr lang="en-US" sz="2200" dirty="0" smtClean="0"/>
              <a:t> </a:t>
            </a:r>
            <a:r>
              <a:rPr lang="en-US" sz="2200" dirty="0" smtClean="0"/>
              <a:t>are just another form of </a:t>
            </a:r>
            <a:r>
              <a:rPr lang="en-US" sz="2200" dirty="0" smtClean="0"/>
              <a:t>modular decomposition.</a:t>
            </a:r>
          </a:p>
          <a:p>
            <a:r>
              <a:rPr lang="en-US" sz="2200" dirty="0" smtClean="0"/>
              <a:t>What </a:t>
            </a:r>
            <a:r>
              <a:rPr lang="en-US" sz="2200" dirty="0" smtClean="0"/>
              <a:t>makes for a good </a:t>
            </a:r>
            <a:r>
              <a:rPr lang="en-US" sz="2200" dirty="0" err="1" smtClean="0"/>
              <a:t>microservice</a:t>
            </a:r>
            <a:r>
              <a:rPr lang="en-US" sz="2200" dirty="0" smtClean="0"/>
              <a:t> </a:t>
            </a:r>
            <a:r>
              <a:rPr lang="en-US" sz="2200" dirty="0" smtClean="0"/>
              <a:t>boundary—information hiding</a:t>
            </a:r>
            <a:r>
              <a:rPr lang="en-US" sz="2200" dirty="0" smtClean="0"/>
              <a:t>, cohesion, and coupling</a:t>
            </a:r>
            <a:r>
              <a:rPr lang="en-US" sz="2200" dirty="0" smtClean="0"/>
              <a:t>.</a:t>
            </a:r>
          </a:p>
          <a:p>
            <a:r>
              <a:rPr lang="en-US" sz="2200" dirty="0" smtClean="0"/>
              <a:t>Information hiding describes a desire to </a:t>
            </a:r>
            <a:r>
              <a:rPr lang="en-US" sz="2200" dirty="0" smtClean="0"/>
              <a:t>hide as </a:t>
            </a:r>
            <a:r>
              <a:rPr lang="en-US" sz="2200" dirty="0" smtClean="0"/>
              <a:t>many details as possible behind a module (or, in our case, </a:t>
            </a:r>
            <a:r>
              <a:rPr lang="en-US" sz="2200" dirty="0" err="1" smtClean="0"/>
              <a:t>microservice</a:t>
            </a:r>
            <a:r>
              <a:rPr lang="en-US" sz="2200" dirty="0" smtClean="0"/>
              <a:t>) boundary</a:t>
            </a:r>
            <a:r>
              <a:rPr lang="en-US" sz="2200" dirty="0" smtClean="0"/>
              <a:t>.</a:t>
            </a:r>
          </a:p>
          <a:p>
            <a:r>
              <a:rPr lang="en-US" sz="2200" dirty="0" smtClean="0"/>
              <a:t>The </a:t>
            </a:r>
            <a:r>
              <a:rPr lang="en-US" sz="2200" dirty="0" smtClean="0"/>
              <a:t>connections between modules are the assumptions which the modules </a:t>
            </a:r>
            <a:r>
              <a:rPr lang="en-US" sz="2200" dirty="0" smtClean="0"/>
              <a:t>make about </a:t>
            </a:r>
            <a:r>
              <a:rPr lang="en-US" sz="2200" dirty="0" smtClean="0"/>
              <a:t>each </a:t>
            </a:r>
            <a:r>
              <a:rPr lang="en-US" sz="2200" dirty="0" smtClean="0"/>
              <a:t>other.</a:t>
            </a:r>
          </a:p>
          <a:p>
            <a:r>
              <a:rPr lang="en-US" sz="2200" dirty="0" smtClean="0"/>
              <a:t>By </a:t>
            </a:r>
            <a:r>
              <a:rPr lang="en-US" sz="2200" dirty="0" smtClean="0"/>
              <a:t>keeping </a:t>
            </a:r>
            <a:r>
              <a:rPr lang="en-US" sz="2200" dirty="0" smtClean="0"/>
              <a:t>the number </a:t>
            </a:r>
            <a:r>
              <a:rPr lang="en-US" sz="2200" dirty="0" smtClean="0"/>
              <a:t>of assumptions small, it is easier to ensure that we can change one </a:t>
            </a:r>
            <a:r>
              <a:rPr lang="en-US" sz="2200" dirty="0" smtClean="0"/>
              <a:t>module without </a:t>
            </a:r>
            <a:r>
              <a:rPr lang="en-US" sz="2200" dirty="0" smtClean="0"/>
              <a:t>impacting others.</a:t>
            </a:r>
            <a:endParaRPr lang="en-US" sz="2200" dirty="0" smtClean="0"/>
          </a:p>
          <a:p>
            <a:r>
              <a:rPr lang="en-US" sz="2200" dirty="0" smtClean="0"/>
              <a:t>A structure is stable if cohesion is strong and coupling is low.</a:t>
            </a:r>
            <a:endParaRPr lang="en-US"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Domain Coupling</a:t>
            </a:r>
            <a:endParaRPr lang="en-US" dirty="0"/>
          </a:p>
        </p:txBody>
      </p:sp>
      <p:sp>
        <p:nvSpPr>
          <p:cNvPr id="3" name="Content Placeholder 2"/>
          <p:cNvSpPr>
            <a:spLocks noGrp="1"/>
          </p:cNvSpPr>
          <p:nvPr>
            <p:ph idx="1"/>
          </p:nvPr>
        </p:nvSpPr>
        <p:spPr/>
        <p:txBody>
          <a:bodyPr/>
          <a:lstStyle/>
          <a:p>
            <a:r>
              <a:rPr lang="en-US" sz="2200" i="1" dirty="0" smtClean="0">
                <a:solidFill>
                  <a:srgbClr val="C00000"/>
                </a:solidFill>
              </a:rPr>
              <a:t>Domain coupling</a:t>
            </a:r>
            <a:r>
              <a:rPr lang="en-US" sz="2200" dirty="0" smtClean="0"/>
              <a:t> describes a situation in which one </a:t>
            </a:r>
            <a:r>
              <a:rPr lang="en-US" sz="2200" dirty="0" err="1" smtClean="0"/>
              <a:t>microservice</a:t>
            </a:r>
            <a:r>
              <a:rPr lang="en-US" sz="2200" dirty="0" smtClean="0"/>
              <a:t> needs to </a:t>
            </a:r>
            <a:r>
              <a:rPr lang="en-US" sz="2200" dirty="0" smtClean="0"/>
              <a:t>interact with </a:t>
            </a:r>
            <a:r>
              <a:rPr lang="en-US" sz="2200" dirty="0" smtClean="0"/>
              <a:t>another </a:t>
            </a:r>
            <a:r>
              <a:rPr lang="en-US" sz="2200" dirty="0" err="1" smtClean="0"/>
              <a:t>microservice</a:t>
            </a:r>
            <a:r>
              <a:rPr lang="en-US" sz="2200" dirty="0" smtClean="0"/>
              <a:t>, because the first </a:t>
            </a:r>
            <a:r>
              <a:rPr lang="en-US" sz="2200" dirty="0" err="1" smtClean="0"/>
              <a:t>microservice</a:t>
            </a:r>
            <a:r>
              <a:rPr lang="en-US" sz="2200" dirty="0" smtClean="0"/>
              <a:t> needs to make use of </a:t>
            </a:r>
            <a:r>
              <a:rPr lang="en-US" sz="2200" dirty="0" smtClean="0"/>
              <a:t>the </a:t>
            </a:r>
            <a:r>
              <a:rPr lang="en-US" sz="2200" u="sng" dirty="0" smtClean="0"/>
              <a:t>functionality</a:t>
            </a:r>
            <a:r>
              <a:rPr lang="en-US" sz="2200" dirty="0" smtClean="0"/>
              <a:t> </a:t>
            </a:r>
            <a:r>
              <a:rPr lang="en-US" sz="2200" dirty="0" smtClean="0"/>
              <a:t>that the other </a:t>
            </a:r>
            <a:r>
              <a:rPr lang="en-US" sz="2200" dirty="0" err="1" smtClean="0"/>
              <a:t>microservice</a:t>
            </a:r>
            <a:r>
              <a:rPr lang="en-US" sz="2200" dirty="0" smtClean="0"/>
              <a:t> </a:t>
            </a:r>
            <a:r>
              <a:rPr lang="en-US" sz="2200" dirty="0" smtClean="0"/>
              <a:t>provides.</a:t>
            </a:r>
            <a:endParaRPr lang="en-US" sz="2200" dirty="0"/>
          </a:p>
        </p:txBody>
      </p:sp>
      <p:pic>
        <p:nvPicPr>
          <p:cNvPr id="1026" name="Picture 2"/>
          <p:cNvPicPr>
            <a:picLocks noChangeAspect="1" noChangeArrowheads="1"/>
          </p:cNvPicPr>
          <p:nvPr/>
        </p:nvPicPr>
        <p:blipFill>
          <a:blip r:embed="rId2" cstate="print"/>
          <a:srcRect/>
          <a:stretch>
            <a:fillRect/>
          </a:stretch>
        </p:blipFill>
        <p:spPr bwMode="auto">
          <a:xfrm>
            <a:off x="3130550" y="3429000"/>
            <a:ext cx="2882900" cy="2498725"/>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Pass-Through Coupling</a:t>
            </a:r>
            <a:endParaRPr lang="en-US" dirty="0"/>
          </a:p>
        </p:txBody>
      </p:sp>
      <p:sp>
        <p:nvSpPr>
          <p:cNvPr id="3" name="Content Placeholder 2"/>
          <p:cNvSpPr>
            <a:spLocks noGrp="1"/>
          </p:cNvSpPr>
          <p:nvPr>
            <p:ph idx="1"/>
          </p:nvPr>
        </p:nvSpPr>
        <p:spPr/>
        <p:txBody>
          <a:bodyPr/>
          <a:lstStyle/>
          <a:p>
            <a:r>
              <a:rPr lang="en-US" sz="2000" i="1" dirty="0" smtClean="0">
                <a:solidFill>
                  <a:srgbClr val="C00000"/>
                </a:solidFill>
              </a:rPr>
              <a:t>Pass-through coupling</a:t>
            </a:r>
            <a:r>
              <a:rPr lang="en-US" sz="2000" dirty="0" smtClean="0"/>
              <a:t> describes </a:t>
            </a:r>
            <a:r>
              <a:rPr lang="en-US" sz="2000" dirty="0" smtClean="0"/>
              <a:t>a situation in which one </a:t>
            </a:r>
            <a:r>
              <a:rPr lang="en-US" sz="2000" dirty="0" err="1" smtClean="0"/>
              <a:t>microservice</a:t>
            </a:r>
            <a:r>
              <a:rPr lang="en-US" sz="2000" dirty="0" smtClean="0"/>
              <a:t> passes </a:t>
            </a:r>
            <a:r>
              <a:rPr lang="en-US" sz="2000" dirty="0" smtClean="0"/>
              <a:t>data to </a:t>
            </a:r>
            <a:r>
              <a:rPr lang="en-US" sz="2000" dirty="0" smtClean="0"/>
              <a:t>another </a:t>
            </a:r>
            <a:r>
              <a:rPr lang="en-US" sz="2000" dirty="0" err="1" smtClean="0"/>
              <a:t>microservice</a:t>
            </a:r>
            <a:r>
              <a:rPr lang="en-US" sz="2000" dirty="0" smtClean="0"/>
              <a:t> purely because the data is needed by some other </a:t>
            </a:r>
            <a:r>
              <a:rPr lang="en-US" sz="2000" dirty="0" err="1" smtClean="0"/>
              <a:t>microservice</a:t>
            </a:r>
            <a:r>
              <a:rPr lang="en-US" sz="2000" dirty="0" smtClean="0"/>
              <a:t> further </a:t>
            </a:r>
            <a:r>
              <a:rPr lang="en-US" sz="2000" u="sng" dirty="0" smtClean="0"/>
              <a:t>downstream</a:t>
            </a:r>
            <a:r>
              <a:rPr lang="en-US" sz="2000" dirty="0" smtClean="0"/>
              <a:t>.</a:t>
            </a:r>
            <a:endParaRPr lang="en-US" sz="2000" dirty="0"/>
          </a:p>
        </p:txBody>
      </p:sp>
      <p:pic>
        <p:nvPicPr>
          <p:cNvPr id="2050" name="Picture 2"/>
          <p:cNvPicPr>
            <a:picLocks noChangeAspect="1" noChangeArrowheads="1"/>
          </p:cNvPicPr>
          <p:nvPr/>
        </p:nvPicPr>
        <p:blipFill>
          <a:blip r:embed="rId2" cstate="print"/>
          <a:srcRect/>
          <a:stretch>
            <a:fillRect/>
          </a:stretch>
        </p:blipFill>
        <p:spPr bwMode="auto">
          <a:xfrm>
            <a:off x="4076700" y="3581400"/>
            <a:ext cx="4533900" cy="2073275"/>
          </a:xfrm>
          <a:prstGeom prst="rect">
            <a:avLst/>
          </a:prstGeom>
          <a:noFill/>
          <a:ln w="9525">
            <a:noFill/>
            <a:miter lim="800000"/>
            <a:headEnd/>
            <a:tailEnd/>
          </a:ln>
        </p:spPr>
      </p:pic>
      <p:sp>
        <p:nvSpPr>
          <p:cNvPr id="6" name="Rectangle 5"/>
          <p:cNvSpPr/>
          <p:nvPr/>
        </p:nvSpPr>
        <p:spPr>
          <a:xfrm>
            <a:off x="533400" y="2819400"/>
            <a:ext cx="3352800" cy="353943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marL="342900" indent="-342900">
              <a:buFont typeface="+mj-lt"/>
              <a:buAutoNum type="arabicPeriod"/>
            </a:pPr>
            <a:r>
              <a:rPr lang="en-US" sz="1600" dirty="0" smtClean="0">
                <a:latin typeface="+mj-lt"/>
              </a:rPr>
              <a:t>W</a:t>
            </a:r>
            <a:r>
              <a:rPr lang="en-US" sz="1600" dirty="0" smtClean="0">
                <a:latin typeface="+mj-lt"/>
              </a:rPr>
              <a:t>e </a:t>
            </a:r>
            <a:r>
              <a:rPr lang="en-US" sz="1600" dirty="0" smtClean="0">
                <a:latin typeface="+mj-lt"/>
              </a:rPr>
              <a:t>have an Order </a:t>
            </a:r>
            <a:r>
              <a:rPr lang="en-US" sz="1600" dirty="0" smtClean="0">
                <a:latin typeface="+mj-lt"/>
              </a:rPr>
              <a:t>Processor, which </a:t>
            </a:r>
            <a:r>
              <a:rPr lang="en-US" sz="1600" dirty="0" smtClean="0">
                <a:latin typeface="+mj-lt"/>
              </a:rPr>
              <a:t>is sending a request to Warehouse to prepare an order for </a:t>
            </a:r>
            <a:r>
              <a:rPr lang="en-US" sz="1600" dirty="0" smtClean="0">
                <a:latin typeface="+mj-lt"/>
              </a:rPr>
              <a:t>dispatch.</a:t>
            </a:r>
          </a:p>
          <a:p>
            <a:pPr marL="342900" indent="-342900">
              <a:buFont typeface="+mj-lt"/>
              <a:buAutoNum type="arabicPeriod"/>
            </a:pPr>
            <a:r>
              <a:rPr lang="en-US" sz="1600" dirty="0" smtClean="0">
                <a:latin typeface="+mj-lt"/>
              </a:rPr>
              <a:t>As </a:t>
            </a:r>
            <a:r>
              <a:rPr lang="en-US" sz="1600" dirty="0" smtClean="0">
                <a:latin typeface="+mj-lt"/>
              </a:rPr>
              <a:t>part </a:t>
            </a:r>
            <a:r>
              <a:rPr lang="en-US" sz="1600" dirty="0" smtClean="0">
                <a:latin typeface="+mj-lt"/>
              </a:rPr>
              <a:t>of the </a:t>
            </a:r>
            <a:r>
              <a:rPr lang="en-US" sz="1600" dirty="0" smtClean="0">
                <a:latin typeface="+mj-lt"/>
              </a:rPr>
              <a:t>request payload, we send along a Shipping </a:t>
            </a:r>
            <a:r>
              <a:rPr lang="en-US" sz="1600" dirty="0" smtClean="0">
                <a:latin typeface="+mj-lt"/>
              </a:rPr>
              <a:t>Manifest.</a:t>
            </a:r>
          </a:p>
          <a:p>
            <a:pPr marL="342900" indent="-342900">
              <a:buFont typeface="+mj-lt"/>
              <a:buAutoNum type="arabicPeriod"/>
            </a:pPr>
            <a:r>
              <a:rPr lang="en-US" sz="1600" dirty="0" smtClean="0">
                <a:latin typeface="+mj-lt"/>
              </a:rPr>
              <a:t>This </a:t>
            </a:r>
            <a:r>
              <a:rPr lang="en-US" sz="1600" dirty="0" smtClean="0">
                <a:latin typeface="+mj-lt"/>
              </a:rPr>
              <a:t>Shipping </a:t>
            </a:r>
            <a:r>
              <a:rPr lang="en-US" sz="1600" dirty="0" smtClean="0">
                <a:latin typeface="+mj-lt"/>
              </a:rPr>
              <a:t>Manifest contains </a:t>
            </a:r>
            <a:r>
              <a:rPr lang="en-US" sz="1600" dirty="0" smtClean="0">
                <a:latin typeface="+mj-lt"/>
              </a:rPr>
              <a:t>not only the address of the customer but also the shipping </a:t>
            </a:r>
            <a:r>
              <a:rPr lang="en-US" sz="1600" dirty="0" smtClean="0">
                <a:latin typeface="+mj-lt"/>
              </a:rPr>
              <a:t>type.</a:t>
            </a:r>
          </a:p>
          <a:p>
            <a:pPr marL="342900" indent="-342900">
              <a:buFont typeface="+mj-lt"/>
              <a:buAutoNum type="arabicPeriod"/>
            </a:pPr>
            <a:r>
              <a:rPr lang="en-US" sz="1600" dirty="0" smtClean="0">
                <a:latin typeface="+mj-lt"/>
              </a:rPr>
              <a:t>The Ware house </a:t>
            </a:r>
            <a:r>
              <a:rPr lang="en-US" sz="1600" dirty="0" smtClean="0">
                <a:latin typeface="+mj-lt"/>
              </a:rPr>
              <a:t>just passes this manifest on to </a:t>
            </a:r>
            <a:r>
              <a:rPr lang="en-US" sz="1600" dirty="0" smtClean="0">
                <a:latin typeface="+mj-lt"/>
              </a:rPr>
              <a:t>the downstream Shipping </a:t>
            </a:r>
            <a:r>
              <a:rPr lang="en-US" sz="1600" dirty="0" err="1" smtClean="0">
                <a:latin typeface="+mj-lt"/>
              </a:rPr>
              <a:t>microservice</a:t>
            </a:r>
            <a:r>
              <a:rPr lang="en-US" sz="1600" dirty="0" smtClean="0">
                <a:latin typeface="+mj-lt"/>
              </a:rPr>
              <a:t>.</a:t>
            </a:r>
            <a:endParaRPr lang="en-US" sz="1600" dirty="0">
              <a:latin typeface="+mj-l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Common Coupling</a:t>
            </a:r>
            <a:endParaRPr lang="en-US" dirty="0"/>
          </a:p>
        </p:txBody>
      </p:sp>
      <p:sp>
        <p:nvSpPr>
          <p:cNvPr id="3" name="Content Placeholder 2"/>
          <p:cNvSpPr>
            <a:spLocks noGrp="1"/>
          </p:cNvSpPr>
          <p:nvPr>
            <p:ph idx="1"/>
          </p:nvPr>
        </p:nvSpPr>
        <p:spPr/>
        <p:txBody>
          <a:bodyPr/>
          <a:lstStyle/>
          <a:p>
            <a:r>
              <a:rPr lang="en-US" sz="2000" i="1" dirty="0" smtClean="0">
                <a:solidFill>
                  <a:srgbClr val="C00000"/>
                </a:solidFill>
              </a:rPr>
              <a:t>Common coupling</a:t>
            </a:r>
            <a:r>
              <a:rPr lang="en-US" sz="2000" dirty="0" smtClean="0"/>
              <a:t> occurs when two or more </a:t>
            </a:r>
            <a:r>
              <a:rPr lang="en-US" sz="2000" dirty="0" err="1" smtClean="0"/>
              <a:t>microservices</a:t>
            </a:r>
            <a:r>
              <a:rPr lang="en-US" sz="2000" dirty="0" smtClean="0"/>
              <a:t> make use of a </a:t>
            </a:r>
            <a:r>
              <a:rPr lang="en-US" sz="2000" u="sng" dirty="0" smtClean="0"/>
              <a:t>common set </a:t>
            </a:r>
            <a:r>
              <a:rPr lang="en-US" sz="2000" u="sng" dirty="0" smtClean="0"/>
              <a:t>of </a:t>
            </a:r>
            <a:r>
              <a:rPr lang="en-US" sz="2000" u="sng" dirty="0" smtClean="0"/>
              <a:t>data</a:t>
            </a:r>
            <a:r>
              <a:rPr lang="en-US" sz="2000" dirty="0" smtClean="0"/>
              <a:t>.</a:t>
            </a:r>
          </a:p>
          <a:p>
            <a:r>
              <a:rPr lang="en-US" sz="2000" dirty="0" smtClean="0"/>
              <a:t>A </a:t>
            </a:r>
            <a:r>
              <a:rPr lang="en-US" sz="2000" dirty="0" smtClean="0"/>
              <a:t>simple and common example of this form of coupling would be </a:t>
            </a:r>
            <a:r>
              <a:rPr lang="en-US" sz="2000" dirty="0" smtClean="0"/>
              <a:t>multiple </a:t>
            </a:r>
            <a:r>
              <a:rPr lang="en-US" sz="2000" dirty="0" err="1" smtClean="0"/>
              <a:t>microservices</a:t>
            </a:r>
            <a:r>
              <a:rPr lang="en-US" sz="2000" dirty="0" smtClean="0"/>
              <a:t> </a:t>
            </a:r>
            <a:r>
              <a:rPr lang="en-US" sz="2000" dirty="0" smtClean="0"/>
              <a:t>making use of the same shared database, but it could also </a:t>
            </a:r>
            <a:r>
              <a:rPr lang="en-US" sz="2000" dirty="0" smtClean="0"/>
              <a:t>manifest itself </a:t>
            </a:r>
            <a:r>
              <a:rPr lang="en-US" sz="2000" dirty="0" smtClean="0"/>
              <a:t>in the use of shared memory or a shared </a:t>
            </a:r>
            <a:r>
              <a:rPr lang="en-US" sz="2000" dirty="0" err="1" smtClean="0"/>
              <a:t>filesystem</a:t>
            </a:r>
            <a:r>
              <a:rPr lang="en-US" sz="2000" dirty="0" smtClean="0"/>
              <a:t>.</a:t>
            </a:r>
            <a:endParaRPr lang="en-US" sz="2000" dirty="0"/>
          </a:p>
        </p:txBody>
      </p:sp>
      <p:pic>
        <p:nvPicPr>
          <p:cNvPr id="3074" name="Picture 2"/>
          <p:cNvPicPr>
            <a:picLocks noChangeAspect="1" noChangeArrowheads="1"/>
          </p:cNvPicPr>
          <p:nvPr/>
        </p:nvPicPr>
        <p:blipFill>
          <a:blip r:embed="rId2" cstate="print"/>
          <a:srcRect/>
          <a:stretch>
            <a:fillRect/>
          </a:stretch>
        </p:blipFill>
        <p:spPr bwMode="auto">
          <a:xfrm>
            <a:off x="2819400" y="3810000"/>
            <a:ext cx="3060700" cy="2279650"/>
          </a:xfrm>
          <a:prstGeom prst="rect">
            <a:avLst/>
          </a:prstGeom>
          <a:noFill/>
          <a:ln w="9525">
            <a:noFill/>
            <a:miter lim="800000"/>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Content Coupling</a:t>
            </a:r>
            <a:endParaRPr lang="en-US" dirty="0"/>
          </a:p>
        </p:txBody>
      </p:sp>
      <p:sp>
        <p:nvSpPr>
          <p:cNvPr id="3" name="Content Placeholder 2"/>
          <p:cNvSpPr>
            <a:spLocks noGrp="1"/>
          </p:cNvSpPr>
          <p:nvPr>
            <p:ph idx="1"/>
          </p:nvPr>
        </p:nvSpPr>
        <p:spPr/>
        <p:txBody>
          <a:bodyPr/>
          <a:lstStyle/>
          <a:p>
            <a:r>
              <a:rPr lang="en-US" sz="2200" i="1" dirty="0" smtClean="0">
                <a:solidFill>
                  <a:srgbClr val="C00000"/>
                </a:solidFill>
              </a:rPr>
              <a:t>Content coupling</a:t>
            </a:r>
            <a:r>
              <a:rPr lang="en-US" sz="2200" dirty="0" smtClean="0"/>
              <a:t> describes a situation in which an </a:t>
            </a:r>
            <a:r>
              <a:rPr lang="en-US" sz="2200" u="sng" dirty="0" smtClean="0"/>
              <a:t>upstream service</a:t>
            </a:r>
            <a:r>
              <a:rPr lang="en-US" sz="2200" dirty="0" smtClean="0"/>
              <a:t> reaches into </a:t>
            </a:r>
            <a:r>
              <a:rPr lang="en-US" sz="2200" dirty="0" smtClean="0"/>
              <a:t>the internals </a:t>
            </a:r>
            <a:r>
              <a:rPr lang="en-US" sz="2200" dirty="0" smtClean="0"/>
              <a:t>of a </a:t>
            </a:r>
            <a:r>
              <a:rPr lang="en-US" sz="2200" u="sng" dirty="0" smtClean="0"/>
              <a:t>downstream service</a:t>
            </a:r>
            <a:r>
              <a:rPr lang="en-US" sz="2200" dirty="0" smtClean="0"/>
              <a:t> and changes its internal state.</a:t>
            </a:r>
            <a:endParaRPr lang="en-US" sz="2200" dirty="0"/>
          </a:p>
        </p:txBody>
      </p:sp>
      <p:pic>
        <p:nvPicPr>
          <p:cNvPr id="4098" name="Picture 2"/>
          <p:cNvPicPr>
            <a:picLocks noChangeAspect="1" noChangeArrowheads="1"/>
          </p:cNvPicPr>
          <p:nvPr/>
        </p:nvPicPr>
        <p:blipFill>
          <a:blip r:embed="rId2" cstate="print"/>
          <a:srcRect/>
          <a:stretch>
            <a:fillRect/>
          </a:stretch>
        </p:blipFill>
        <p:spPr bwMode="auto">
          <a:xfrm>
            <a:off x="4191000" y="3048000"/>
            <a:ext cx="3673475" cy="3114675"/>
          </a:xfrm>
          <a:prstGeom prst="rect">
            <a:avLst/>
          </a:prstGeom>
          <a:noFill/>
          <a:ln w="9525">
            <a:noFill/>
            <a:miter lim="800000"/>
            <a:headEnd/>
            <a:tailEnd/>
          </a:ln>
        </p:spPr>
      </p:pic>
      <p:sp>
        <p:nvSpPr>
          <p:cNvPr id="6" name="Rectangle 5"/>
          <p:cNvSpPr/>
          <p:nvPr/>
        </p:nvSpPr>
        <p:spPr>
          <a:xfrm>
            <a:off x="685800" y="3733800"/>
            <a:ext cx="3124200" cy="92333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i="1" dirty="0" smtClean="0"/>
              <a:t>The </a:t>
            </a:r>
            <a:r>
              <a:rPr lang="en-US" i="1" dirty="0" smtClean="0"/>
              <a:t>Warehouse is directly </a:t>
            </a:r>
            <a:r>
              <a:rPr lang="en-US" i="1" dirty="0" smtClean="0"/>
              <a:t>accessing the </a:t>
            </a:r>
            <a:r>
              <a:rPr lang="en-US" i="1" dirty="0" smtClean="0"/>
              <a:t>internal data of the Order </a:t>
            </a:r>
            <a:r>
              <a:rPr lang="en-US" i="1" dirty="0" smtClean="0"/>
              <a:t>service.</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200" dirty="0" smtClean="0"/>
              <a:t>Domain-Oriented </a:t>
            </a:r>
            <a:r>
              <a:rPr lang="en-US" sz="4200" dirty="0" smtClean="0"/>
              <a:t>Decomposition</a:t>
            </a:r>
            <a:endParaRPr lang="en-US" sz="4200" dirty="0"/>
          </a:p>
        </p:txBody>
      </p:sp>
      <p:pic>
        <p:nvPicPr>
          <p:cNvPr id="1026" name="Picture 2" descr="https://www.brookvillegrace.org/images/WhyWeExist.jpg"/>
          <p:cNvPicPr>
            <a:picLocks noChangeAspect="1" noChangeArrowheads="1"/>
          </p:cNvPicPr>
          <p:nvPr/>
        </p:nvPicPr>
        <p:blipFill>
          <a:blip r:embed="rId2" cstate="print"/>
          <a:srcRect/>
          <a:stretch>
            <a:fillRect/>
          </a:stretch>
        </p:blipFill>
        <p:spPr bwMode="auto">
          <a:xfrm>
            <a:off x="1905000" y="2590800"/>
            <a:ext cx="4960938" cy="1901825"/>
          </a:xfrm>
          <a:prstGeom prst="rect">
            <a:avLst/>
          </a:prstGeom>
          <a:noFill/>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Organizational Decomposition</a:t>
            </a:r>
            <a:endParaRPr lang="en-US" dirty="0"/>
          </a:p>
        </p:txBody>
      </p:sp>
      <p:sp>
        <p:nvSpPr>
          <p:cNvPr id="3" name="Content Placeholder 2"/>
          <p:cNvSpPr>
            <a:spLocks noGrp="1"/>
          </p:cNvSpPr>
          <p:nvPr>
            <p:ph idx="1"/>
          </p:nvPr>
        </p:nvSpPr>
        <p:spPr/>
        <p:txBody>
          <a:bodyPr/>
          <a:lstStyle/>
          <a:p>
            <a:pPr>
              <a:buNone/>
            </a:pPr>
            <a:r>
              <a:rPr lang="en-US" sz="2400" i="1" dirty="0" smtClean="0"/>
              <a:t>Any organization that designs a system (defined broadly) will produce </a:t>
            </a:r>
            <a:r>
              <a:rPr lang="en-US" sz="2400" i="1" dirty="0" smtClean="0">
                <a:solidFill>
                  <a:srgbClr val="C00000"/>
                </a:solidFill>
              </a:rPr>
              <a:t>a design</a:t>
            </a:r>
            <a:r>
              <a:rPr lang="en-US" sz="2400" i="1" dirty="0" smtClean="0"/>
              <a:t> whose structure is </a:t>
            </a:r>
            <a:r>
              <a:rPr lang="en-US" sz="2400" i="1" u="sng" dirty="0" smtClean="0"/>
              <a:t>a copy of the </a:t>
            </a:r>
            <a:r>
              <a:rPr lang="en-US" sz="2400" i="1" u="sng" dirty="0" smtClean="0"/>
              <a:t>organization's </a:t>
            </a:r>
            <a:r>
              <a:rPr lang="en-US" sz="2400" i="1" u="sng" dirty="0" smtClean="0"/>
              <a:t>communication structure</a:t>
            </a:r>
            <a:r>
              <a:rPr lang="en-US" sz="2400" i="1" dirty="0" smtClean="0"/>
              <a:t>.</a:t>
            </a:r>
          </a:p>
          <a:p>
            <a:pPr algn="r">
              <a:buNone/>
            </a:pPr>
            <a:r>
              <a:rPr lang="en-US" sz="2400" dirty="0" smtClean="0"/>
              <a:t>-- Melvyn Conway, 1967</a:t>
            </a:r>
            <a:endParaRPr lang="en-US" sz="2400" dirty="0"/>
          </a:p>
        </p:txBody>
      </p:sp>
      <p:pic>
        <p:nvPicPr>
          <p:cNvPr id="51202" name="Picture 2" descr="https://ptgmedia.pearsoncmg.com/images/chap3_9780134602417/elementLinks/03fig02.jpg"/>
          <p:cNvPicPr>
            <a:picLocks noChangeAspect="1" noChangeArrowheads="1"/>
          </p:cNvPicPr>
          <p:nvPr/>
        </p:nvPicPr>
        <p:blipFill>
          <a:blip r:embed="rId3" cstate="print"/>
          <a:srcRect/>
          <a:stretch>
            <a:fillRect/>
          </a:stretch>
        </p:blipFill>
        <p:spPr bwMode="auto">
          <a:xfrm>
            <a:off x="1371600" y="3810000"/>
            <a:ext cx="1987296" cy="2139696"/>
          </a:xfrm>
          <a:prstGeom prst="rect">
            <a:avLst/>
          </a:prstGeom>
          <a:noFill/>
        </p:spPr>
      </p:pic>
      <p:pic>
        <p:nvPicPr>
          <p:cNvPr id="51204" name="Picture 4" descr="https://ptgmedia.pearsoncmg.com/images/chap3_9780134602417/elementLinks/03fig03_alt.jpg"/>
          <p:cNvPicPr>
            <a:picLocks noChangeAspect="1" noChangeArrowheads="1"/>
          </p:cNvPicPr>
          <p:nvPr/>
        </p:nvPicPr>
        <p:blipFill>
          <a:blip r:embed="rId4" cstate="print"/>
          <a:srcRect/>
          <a:stretch>
            <a:fillRect/>
          </a:stretch>
        </p:blipFill>
        <p:spPr bwMode="auto">
          <a:xfrm>
            <a:off x="4572000" y="3608832"/>
            <a:ext cx="3352800" cy="2639568"/>
          </a:xfrm>
          <a:prstGeom prst="rect">
            <a:avLst/>
          </a:prstGeom>
          <a:noFill/>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Technology Decomposition [2]</a:t>
            </a:r>
            <a:endParaRPr lang="en-US" dirty="0"/>
          </a:p>
        </p:txBody>
      </p:sp>
      <p:sp>
        <p:nvSpPr>
          <p:cNvPr id="3" name="Content Placeholder 2"/>
          <p:cNvSpPr>
            <a:spLocks noGrp="1"/>
          </p:cNvSpPr>
          <p:nvPr>
            <p:ph idx="1"/>
          </p:nvPr>
        </p:nvSpPr>
        <p:spPr>
          <a:xfrm>
            <a:off x="457200" y="4419600"/>
            <a:ext cx="8229600" cy="1981200"/>
          </a:xfrm>
        </p:spPr>
        <p:txBody>
          <a:bodyPr/>
          <a:lstStyle/>
          <a:p>
            <a:r>
              <a:rPr lang="en-US" sz="2000" i="1" dirty="0" smtClean="0">
                <a:solidFill>
                  <a:srgbClr val="C00000"/>
                </a:solidFill>
              </a:rPr>
              <a:t>Hotel Search</a:t>
            </a:r>
            <a:r>
              <a:rPr lang="en-US" sz="2000" dirty="0" smtClean="0"/>
              <a:t> is expected to have </a:t>
            </a:r>
            <a:r>
              <a:rPr lang="en-US" sz="2000" u="sng" dirty="0" smtClean="0"/>
              <a:t>high transaction volumes</a:t>
            </a:r>
            <a:r>
              <a:rPr lang="en-US" sz="2000" dirty="0" smtClean="0"/>
              <a:t> with stringent performance requirements, it is implemented using </a:t>
            </a:r>
            <a:r>
              <a:rPr lang="en-US" sz="2000" dirty="0" err="1" smtClean="0"/>
              <a:t>Erlang</a:t>
            </a:r>
            <a:r>
              <a:rPr lang="en-US" sz="2000" dirty="0" smtClean="0"/>
              <a:t>. In order to support predictive searching, </a:t>
            </a:r>
            <a:r>
              <a:rPr lang="en-US" sz="2000" u="sng" dirty="0" err="1" smtClean="0"/>
              <a:t>ElasticSearch</a:t>
            </a:r>
            <a:r>
              <a:rPr lang="en-US" sz="2000" dirty="0" smtClean="0"/>
              <a:t> is used as the data store.</a:t>
            </a:r>
          </a:p>
          <a:p>
            <a:r>
              <a:rPr lang="en-US" sz="2000" i="1" dirty="0" smtClean="0">
                <a:solidFill>
                  <a:srgbClr val="C00000"/>
                </a:solidFill>
              </a:rPr>
              <a:t>Hotel Booking</a:t>
            </a:r>
            <a:r>
              <a:rPr lang="en-US" sz="2000" dirty="0" smtClean="0"/>
              <a:t> needs more </a:t>
            </a:r>
            <a:r>
              <a:rPr lang="en-US" sz="2000" u="sng" dirty="0" smtClean="0"/>
              <a:t>ACID</a:t>
            </a:r>
            <a:r>
              <a:rPr lang="en-US" sz="2000" dirty="0" smtClean="0"/>
              <a:t> transactional characteristics. Therefore, it is implemented using </a:t>
            </a:r>
            <a:r>
              <a:rPr lang="en-US" sz="2000" dirty="0" err="1" smtClean="0"/>
              <a:t>MySQL</a:t>
            </a:r>
            <a:r>
              <a:rPr lang="en-US" sz="2000" dirty="0" smtClean="0"/>
              <a:t> and Java. The internal implementations are hidden behind service endpoints defined as REST/JSON over HTTP.</a:t>
            </a:r>
            <a:endParaRPr lang="en-US" sz="2000" dirty="0"/>
          </a:p>
        </p:txBody>
      </p:sp>
      <p:pic>
        <p:nvPicPr>
          <p:cNvPr id="4098" name="Picture 2"/>
          <p:cNvPicPr>
            <a:picLocks noChangeAspect="1" noChangeArrowheads="1"/>
          </p:cNvPicPr>
          <p:nvPr/>
        </p:nvPicPr>
        <p:blipFill>
          <a:blip r:embed="rId2" cstate="print"/>
          <a:srcRect/>
          <a:stretch>
            <a:fillRect/>
          </a:stretch>
        </p:blipFill>
        <p:spPr bwMode="auto">
          <a:xfrm>
            <a:off x="2148840" y="1386840"/>
            <a:ext cx="4709160" cy="2880360"/>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200" dirty="0" smtClean="0"/>
              <a:t>Selecting </a:t>
            </a:r>
            <a:r>
              <a:rPr lang="en-US" sz="4200" dirty="0" smtClean="0"/>
              <a:t>Frameworks</a:t>
            </a:r>
            <a:endParaRPr lang="en-US" sz="4200" dirty="0"/>
          </a:p>
        </p:txBody>
      </p:sp>
      <p:sp>
        <p:nvSpPr>
          <p:cNvPr id="3" name="Content Placeholder 2"/>
          <p:cNvSpPr>
            <a:spLocks noGrp="1"/>
          </p:cNvSpPr>
          <p:nvPr>
            <p:ph idx="1"/>
          </p:nvPr>
        </p:nvSpPr>
        <p:spPr/>
        <p:txBody>
          <a:bodyPr>
            <a:normAutofit/>
          </a:bodyPr>
          <a:lstStyle/>
          <a:p>
            <a:r>
              <a:rPr lang="en-US" sz="2000" dirty="0" smtClean="0"/>
              <a:t>Spring. </a:t>
            </a:r>
            <a:r>
              <a:rPr lang="en-US" sz="2000" dirty="0" smtClean="0">
                <a:hlinkClick r:id="rId2"/>
              </a:rPr>
              <a:t>https://spring.io/projects/spring-boot</a:t>
            </a:r>
            <a:r>
              <a:rPr lang="en-US" sz="2000" dirty="0" smtClean="0"/>
              <a:t> (Java)</a:t>
            </a:r>
          </a:p>
          <a:p>
            <a:r>
              <a:rPr lang="en-US" sz="2000" dirty="0" smtClean="0"/>
              <a:t>Axon Framework. </a:t>
            </a:r>
            <a:r>
              <a:rPr lang="en-US" sz="2000" dirty="0" smtClean="0">
                <a:hlinkClick r:id="rId3"/>
              </a:rPr>
              <a:t>https://developer.axoniq.io/axon-framework/</a:t>
            </a:r>
            <a:r>
              <a:rPr lang="en-US" sz="2000" dirty="0" smtClean="0"/>
              <a:t> (Java)</a:t>
            </a:r>
          </a:p>
          <a:p>
            <a:r>
              <a:rPr lang="en-US" sz="2000" dirty="0" err="1" smtClean="0"/>
              <a:t>Micronaut</a:t>
            </a:r>
            <a:r>
              <a:rPr lang="en-US" sz="2000" dirty="0" smtClean="0"/>
              <a:t>. </a:t>
            </a:r>
            <a:r>
              <a:rPr lang="en-US" sz="2000" dirty="0" smtClean="0">
                <a:hlinkClick r:id="rId4"/>
              </a:rPr>
              <a:t>https://micronaut.io/</a:t>
            </a:r>
            <a:r>
              <a:rPr lang="en-US" sz="2000" dirty="0" smtClean="0"/>
              <a:t> (Java, </a:t>
            </a:r>
            <a:r>
              <a:rPr lang="en-US" sz="2000" dirty="0" err="1" smtClean="0"/>
              <a:t>Kotlin</a:t>
            </a:r>
            <a:r>
              <a:rPr lang="en-US" sz="2000" dirty="0" smtClean="0"/>
              <a:t>, and Groovy)</a:t>
            </a:r>
          </a:p>
          <a:p>
            <a:r>
              <a:rPr lang="en-US" sz="2000" dirty="0" smtClean="0"/>
              <a:t>.NET Core </a:t>
            </a:r>
            <a:r>
              <a:rPr lang="en-US" sz="2000" dirty="0" smtClean="0">
                <a:hlinkClick r:id="rId5"/>
              </a:rPr>
              <a:t>https://docs.microsoft.com/en-us/aspnet/core/</a:t>
            </a:r>
            <a:r>
              <a:rPr lang="en-US" sz="2000" dirty="0" smtClean="0"/>
              <a:t> (C#)</a:t>
            </a:r>
          </a:p>
          <a:p>
            <a:r>
              <a:rPr lang="en-US" sz="2000" dirty="0" smtClean="0"/>
              <a:t>Nest (</a:t>
            </a:r>
            <a:r>
              <a:rPr lang="en-US" sz="2000" dirty="0" err="1" smtClean="0"/>
              <a:t>NestJS</a:t>
            </a:r>
            <a:r>
              <a:rPr lang="en-US" sz="2000" dirty="0" smtClean="0"/>
              <a:t>). </a:t>
            </a:r>
            <a:r>
              <a:rPr lang="en-US" sz="2000" dirty="0" smtClean="0">
                <a:hlinkClick r:id="rId6"/>
              </a:rPr>
              <a:t>https://nestjs.com/</a:t>
            </a:r>
            <a:r>
              <a:rPr lang="en-US" sz="2000" dirty="0" smtClean="0"/>
              <a:t> (JavaScript)</a:t>
            </a:r>
          </a:p>
          <a:p>
            <a:r>
              <a:rPr lang="en-US" sz="2000" dirty="0" err="1" smtClean="0"/>
              <a:t>Moleculer</a:t>
            </a:r>
            <a:r>
              <a:rPr lang="en-US" sz="2000" dirty="0" smtClean="0"/>
              <a:t>. </a:t>
            </a:r>
            <a:r>
              <a:rPr lang="en-US" sz="2000" dirty="0" smtClean="0">
                <a:hlinkClick r:id="rId7"/>
              </a:rPr>
              <a:t>https://moleculer.services/</a:t>
            </a:r>
            <a:r>
              <a:rPr lang="en-US" sz="2000" dirty="0" smtClean="0"/>
              <a:t> (JavaScript)</a:t>
            </a:r>
          </a:p>
          <a:p>
            <a:r>
              <a:rPr lang="en-US" sz="2000" dirty="0" err="1" smtClean="0"/>
              <a:t>Fastify</a:t>
            </a:r>
            <a:r>
              <a:rPr lang="en-US" sz="2000" dirty="0" smtClean="0"/>
              <a:t>. </a:t>
            </a:r>
            <a:r>
              <a:rPr lang="en-US" sz="2000" dirty="0" smtClean="0">
                <a:hlinkClick r:id="rId8"/>
              </a:rPr>
              <a:t>https://www.fastify.io/</a:t>
            </a:r>
            <a:r>
              <a:rPr lang="en-US" sz="2000" dirty="0" smtClean="0"/>
              <a:t> (JavaScript)</a:t>
            </a:r>
          </a:p>
          <a:p>
            <a:r>
              <a:rPr lang="pl-PL" sz="2000" dirty="0" smtClean="0"/>
              <a:t>Go Micro. </a:t>
            </a:r>
            <a:r>
              <a:rPr lang="pl-PL" sz="2000" dirty="0" smtClean="0">
                <a:hlinkClick r:id="rId9"/>
              </a:rPr>
              <a:t>https://github.com/asim/go-micro</a:t>
            </a:r>
            <a:r>
              <a:rPr lang="en-US" sz="2000" dirty="0" smtClean="0"/>
              <a:t> </a:t>
            </a:r>
            <a:r>
              <a:rPr lang="pl-PL" sz="2000" dirty="0" smtClean="0"/>
              <a:t>(Go)</a:t>
            </a:r>
            <a:endParaRPr lang="en-US" sz="2000" dirty="0" smtClean="0"/>
          </a:p>
          <a:p>
            <a:r>
              <a:rPr lang="en-US" sz="2000" dirty="0" smtClean="0"/>
              <a:t>Lumen. </a:t>
            </a:r>
            <a:r>
              <a:rPr lang="en-US" sz="2000" dirty="0" smtClean="0">
                <a:hlinkClick r:id="rId10"/>
              </a:rPr>
              <a:t>https://lumen.laravel.com/</a:t>
            </a:r>
            <a:r>
              <a:rPr lang="en-US" sz="2000" dirty="0" smtClean="0"/>
              <a:t> (PHP)</a:t>
            </a:r>
          </a:p>
          <a:p>
            <a:r>
              <a:rPr lang="en-US" sz="2000" dirty="0" err="1" smtClean="0"/>
              <a:t>Vert.x</a:t>
            </a:r>
            <a:r>
              <a:rPr lang="en-US" sz="2000" dirty="0" smtClean="0"/>
              <a:t>. </a:t>
            </a:r>
            <a:r>
              <a:rPr lang="en-US" sz="2000" dirty="0" smtClean="0">
                <a:hlinkClick r:id="rId11"/>
              </a:rPr>
              <a:t>https://vertx.io/</a:t>
            </a:r>
            <a:r>
              <a:rPr lang="en-US" sz="2000" dirty="0" smtClean="0"/>
              <a:t> (Multiple languages)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Microservice</a:t>
            </a:r>
            <a:r>
              <a:rPr lang="en-US" dirty="0" smtClean="0"/>
              <a:t> Imp</a:t>
            </a:r>
            <a:r>
              <a:rPr lang="en-US" dirty="0" smtClean="0"/>
              <a:t>lementation</a:t>
            </a:r>
            <a:endParaRPr lang="en-US" dirty="0"/>
          </a:p>
        </p:txBody>
      </p:sp>
      <p:sp>
        <p:nvSpPr>
          <p:cNvPr id="3" name="Content Placeholder 2"/>
          <p:cNvSpPr>
            <a:spLocks noGrp="1"/>
          </p:cNvSpPr>
          <p:nvPr>
            <p:ph idx="1"/>
          </p:nvPr>
        </p:nvSpPr>
        <p:spPr/>
        <p:txBody>
          <a:bodyPr/>
          <a:lstStyle/>
          <a:p>
            <a:r>
              <a:rPr lang="en-US" sz="2200" dirty="0" smtClean="0"/>
              <a:t>Service </a:t>
            </a:r>
            <a:r>
              <a:rPr lang="en-US" sz="2200" i="1" dirty="0" smtClean="0">
                <a:solidFill>
                  <a:srgbClr val="C00000"/>
                </a:solidFill>
              </a:rPr>
              <a:t>entry point</a:t>
            </a:r>
            <a:r>
              <a:rPr lang="en-US" sz="2200" dirty="0" smtClean="0"/>
              <a:t> implementation</a:t>
            </a:r>
          </a:p>
          <a:p>
            <a:pPr lvl="1"/>
            <a:r>
              <a:rPr lang="en-US" sz="2000" dirty="0" err="1" smtClean="0"/>
              <a:t>RESTful</a:t>
            </a:r>
            <a:r>
              <a:rPr lang="en-US" sz="2000" dirty="0" smtClean="0"/>
              <a:t> APIs. Why?</a:t>
            </a:r>
          </a:p>
          <a:p>
            <a:pPr lvl="1"/>
            <a:r>
              <a:rPr lang="en-US" sz="2000" dirty="0" err="1" smtClean="0"/>
              <a:t>GraphQL</a:t>
            </a:r>
            <a:r>
              <a:rPr lang="en-US" sz="2000" dirty="0" smtClean="0"/>
              <a:t> APIs. Why?</a:t>
            </a:r>
          </a:p>
          <a:p>
            <a:pPr lvl="1"/>
            <a:r>
              <a:rPr lang="en-US" sz="2000" dirty="0" err="1" smtClean="0"/>
              <a:t>gRPC</a:t>
            </a:r>
            <a:r>
              <a:rPr lang="en-US" sz="2000" dirty="0" smtClean="0"/>
              <a:t> APIs. Why</a:t>
            </a:r>
            <a:r>
              <a:rPr lang="en-US" sz="2000" dirty="0" smtClean="0"/>
              <a:t>?</a:t>
            </a:r>
          </a:p>
          <a:p>
            <a:r>
              <a:rPr lang="en-US" sz="2200" i="1" dirty="0" smtClean="0">
                <a:solidFill>
                  <a:srgbClr val="C00000"/>
                </a:solidFill>
              </a:rPr>
              <a:t>Logic</a:t>
            </a:r>
            <a:r>
              <a:rPr lang="en-US" sz="2200" dirty="0" smtClean="0"/>
              <a:t> and </a:t>
            </a:r>
            <a:r>
              <a:rPr lang="en-US" sz="2200" i="1" dirty="0" smtClean="0">
                <a:solidFill>
                  <a:srgbClr val="C00000"/>
                </a:solidFill>
              </a:rPr>
              <a:t>persistence</a:t>
            </a:r>
            <a:r>
              <a:rPr lang="en-US" sz="2200" dirty="0" smtClean="0"/>
              <a:t> implementation</a:t>
            </a:r>
          </a:p>
          <a:p>
            <a:pPr lvl="1"/>
            <a:r>
              <a:rPr lang="en-US" sz="2000" dirty="0" smtClean="0"/>
              <a:t>Authentication</a:t>
            </a:r>
          </a:p>
          <a:p>
            <a:pPr lvl="1"/>
            <a:r>
              <a:rPr lang="en-US" sz="2000" dirty="0" smtClean="0"/>
              <a:t>Access Control</a:t>
            </a:r>
          </a:p>
          <a:p>
            <a:pPr lvl="1"/>
            <a:r>
              <a:rPr lang="en-US" sz="2000" dirty="0" smtClean="0"/>
              <a:t>Background Services</a:t>
            </a:r>
          </a:p>
          <a:p>
            <a:pPr lvl="1"/>
            <a:r>
              <a:rPr lang="en-US" sz="2000" dirty="0" smtClean="0"/>
              <a:t>Domain-driven design (Service entry point separation, storage selection: Relational databases. Why?, </a:t>
            </a:r>
            <a:r>
              <a:rPr lang="en-US" sz="2000" dirty="0" err="1" smtClean="0"/>
              <a:t>noSQL</a:t>
            </a:r>
            <a:r>
              <a:rPr lang="en-US" sz="2000" dirty="0" smtClean="0"/>
              <a:t> databases. Why?)</a:t>
            </a:r>
          </a:p>
          <a:p>
            <a:pPr lvl="1"/>
            <a:r>
              <a:rPr lang="en-US" sz="2000" dirty="0" smtClean="0"/>
              <a:t>Distributed transaction processing</a:t>
            </a:r>
            <a:endParaRPr lang="en-US" sz="2000" dirty="0" smtClean="0"/>
          </a:p>
        </p:txBody>
      </p:sp>
      <p:pic>
        <p:nvPicPr>
          <p:cNvPr id="4" name="Picture 1"/>
          <p:cNvPicPr>
            <a:picLocks noChangeAspect="1" noChangeArrowheads="1"/>
          </p:cNvPicPr>
          <p:nvPr/>
        </p:nvPicPr>
        <p:blipFill>
          <a:blip r:embed="rId2" cstate="print"/>
          <a:srcRect/>
          <a:stretch>
            <a:fillRect/>
          </a:stretch>
        </p:blipFill>
        <p:spPr bwMode="auto">
          <a:xfrm>
            <a:off x="5867400" y="1981200"/>
            <a:ext cx="2286000" cy="1622425"/>
          </a:xfrm>
          <a:prstGeom prst="rect">
            <a:avLst/>
          </a:prstGeom>
          <a:noFill/>
          <a:ln w="9525">
            <a:no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MonolithFirst</a:t>
            </a:r>
            <a:endParaRPr lang="en-US" dirty="0"/>
          </a:p>
        </p:txBody>
      </p:sp>
      <p:sp>
        <p:nvSpPr>
          <p:cNvPr id="3" name="Content Placeholder 2"/>
          <p:cNvSpPr>
            <a:spLocks noGrp="1"/>
          </p:cNvSpPr>
          <p:nvPr>
            <p:ph idx="1"/>
          </p:nvPr>
        </p:nvSpPr>
        <p:spPr/>
        <p:txBody>
          <a:bodyPr/>
          <a:lstStyle/>
          <a:p>
            <a:r>
              <a:rPr lang="en-US" sz="2400" dirty="0" smtClean="0">
                <a:hlinkClick r:id="rId2"/>
              </a:rPr>
              <a:t>https://martinfowler.com/bliki/MicroservicePremium.html</a:t>
            </a:r>
            <a:endParaRPr lang="en-US" sz="2400" dirty="0" smtClean="0"/>
          </a:p>
          <a:p>
            <a:r>
              <a:rPr lang="en-US" sz="2400" dirty="0" smtClean="0"/>
              <a:t>The majority of software systems should be built as a single monolithic application.</a:t>
            </a:r>
          </a:p>
          <a:p>
            <a:r>
              <a:rPr lang="en-US" sz="2400" dirty="0" smtClean="0"/>
              <a:t>Do pay attention to </a:t>
            </a:r>
            <a:r>
              <a:rPr lang="en-US" sz="2400" i="1" dirty="0" smtClean="0">
                <a:solidFill>
                  <a:srgbClr val="C00000"/>
                </a:solidFill>
              </a:rPr>
              <a:t>good modularity</a:t>
            </a:r>
            <a:r>
              <a:rPr lang="en-US" sz="2400" dirty="0" smtClean="0"/>
              <a:t> within that monolith, but </a:t>
            </a:r>
            <a:r>
              <a:rPr lang="en-US" sz="2400" dirty="0" smtClean="0"/>
              <a:t>don't </a:t>
            </a:r>
            <a:r>
              <a:rPr lang="en-US" sz="2400" dirty="0" smtClean="0"/>
              <a:t>try to separate it into separate services.</a:t>
            </a:r>
          </a:p>
          <a:p>
            <a:r>
              <a:rPr lang="en-US" sz="2400" dirty="0" smtClean="0">
                <a:hlinkClick r:id="rId3"/>
              </a:rPr>
              <a:t>https://martinfowler.com/bliki/MonolithFirst.html</a:t>
            </a:r>
            <a:endParaRPr lang="en-US" sz="2400" dirty="0" smtClean="0"/>
          </a:p>
          <a:p>
            <a:r>
              <a:rPr lang="en-US" sz="2400" dirty="0" smtClean="0"/>
              <a:t>By building a monolith first, you can figure out what </a:t>
            </a:r>
            <a:r>
              <a:rPr lang="en-US" sz="2400" i="1" dirty="0" smtClean="0">
                <a:solidFill>
                  <a:srgbClr val="C00000"/>
                </a:solidFill>
              </a:rPr>
              <a:t>the right boundaries</a:t>
            </a:r>
            <a:r>
              <a:rPr lang="en-US" sz="2400" dirty="0" smtClean="0"/>
              <a:t> are, before a </a:t>
            </a:r>
            <a:r>
              <a:rPr lang="en-US" sz="2400" dirty="0" err="1" smtClean="0"/>
              <a:t>microservices</a:t>
            </a:r>
            <a:r>
              <a:rPr lang="en-US" sz="2400" dirty="0" smtClean="0"/>
              <a:t> design brushes a layer of treacle over them.</a:t>
            </a:r>
          </a:p>
          <a:p>
            <a:endParaRPr lang="en-US" sz="2400" dirty="0" smtClean="0"/>
          </a:p>
          <a:p>
            <a:endParaRPr lang="en-US" sz="2400" dirty="0" smtClean="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Don't </a:t>
            </a:r>
            <a:r>
              <a:rPr lang="en-US" dirty="0" smtClean="0"/>
              <a:t>Start With a Monolith</a:t>
            </a:r>
            <a:endParaRPr lang="en-US" dirty="0"/>
          </a:p>
        </p:txBody>
      </p:sp>
      <p:sp>
        <p:nvSpPr>
          <p:cNvPr id="3" name="Content Placeholder 2"/>
          <p:cNvSpPr>
            <a:spLocks noGrp="1"/>
          </p:cNvSpPr>
          <p:nvPr>
            <p:ph idx="1"/>
          </p:nvPr>
        </p:nvSpPr>
        <p:spPr/>
        <p:txBody>
          <a:bodyPr/>
          <a:lstStyle/>
          <a:p>
            <a:r>
              <a:rPr lang="en-US" sz="2000" b="1" dirty="0" smtClean="0"/>
              <a:t>… when your goal is a </a:t>
            </a:r>
            <a:r>
              <a:rPr lang="en-US" sz="2000" b="1" dirty="0" err="1" smtClean="0"/>
              <a:t>microservices</a:t>
            </a:r>
            <a:r>
              <a:rPr lang="en-US" sz="2000" b="1" dirty="0" smtClean="0"/>
              <a:t> architecture</a:t>
            </a:r>
          </a:p>
          <a:p>
            <a:r>
              <a:rPr lang="en-US" sz="2000" dirty="0" smtClean="0">
                <a:hlinkClick r:id="rId2"/>
              </a:rPr>
              <a:t>https://martinfowler.com/articles/dont-start-monolith.html</a:t>
            </a:r>
            <a:endParaRPr lang="en-US" sz="2000" dirty="0" smtClean="0"/>
          </a:p>
          <a:p>
            <a:r>
              <a:rPr lang="en-US" sz="2000" dirty="0" smtClean="0"/>
              <a:t>But if you start with a monolith, the parts will become </a:t>
            </a:r>
            <a:r>
              <a:rPr lang="en-US" sz="2000" i="1" dirty="0" smtClean="0">
                <a:solidFill>
                  <a:srgbClr val="C00000"/>
                </a:solidFill>
              </a:rPr>
              <a:t>extremely tightly coupled</a:t>
            </a:r>
            <a:r>
              <a:rPr lang="en-US" sz="2000" dirty="0" smtClean="0"/>
              <a:t> to each other. </a:t>
            </a:r>
            <a:r>
              <a:rPr lang="en-US" sz="2000" dirty="0" smtClean="0"/>
              <a:t>That's </a:t>
            </a:r>
            <a:r>
              <a:rPr lang="en-US" sz="2000" dirty="0" smtClean="0"/>
              <a:t>the very definition of a monolith. The parts will rely on features of the platform they all use. </a:t>
            </a:r>
            <a:r>
              <a:rPr lang="en-US" sz="2000" dirty="0" smtClean="0"/>
              <a:t>They'll </a:t>
            </a:r>
            <a:r>
              <a:rPr lang="en-US" sz="2000" dirty="0" smtClean="0"/>
              <a:t>communicate based on abstractions that are shared because they all use the same libraries. </a:t>
            </a:r>
            <a:r>
              <a:rPr lang="en-US" sz="2000" dirty="0" smtClean="0"/>
              <a:t>They'll </a:t>
            </a:r>
            <a:r>
              <a:rPr lang="en-US" sz="2000" dirty="0" smtClean="0"/>
              <a:t>communicate using means that are only available when they are hosted in the same process. And these are only the technical aspects! Far worse than that, the parts will (almost) freely share domain objects, rely on the same, shared persistence model, assume database transactions are readily available so that </a:t>
            </a:r>
            <a:r>
              <a:rPr lang="en-US" sz="2000" dirty="0" smtClean="0"/>
              <a:t>there's </a:t>
            </a:r>
            <a:r>
              <a:rPr lang="en-US" sz="2000" dirty="0" smtClean="0"/>
              <a:t>no need for compensation … Even the very fact that </a:t>
            </a:r>
            <a:r>
              <a:rPr lang="en-US" sz="2000" dirty="0" smtClean="0"/>
              <a:t>it's </a:t>
            </a:r>
            <a:r>
              <a:rPr lang="en-US" sz="2000" dirty="0" smtClean="0"/>
              <a:t>easy to </a:t>
            </a:r>
            <a:r>
              <a:rPr lang="en-US" sz="2000" dirty="0" err="1" smtClean="0"/>
              <a:t>refactor</a:t>
            </a:r>
            <a:r>
              <a:rPr lang="en-US" sz="2000" dirty="0" smtClean="0"/>
              <a:t> things and move them around – all in the convenience of your </a:t>
            </a:r>
            <a:r>
              <a:rPr lang="en-US" sz="2000" dirty="0" smtClean="0"/>
              <a:t>IDE's </a:t>
            </a:r>
            <a:r>
              <a:rPr lang="en-US" sz="2000" dirty="0" smtClean="0"/>
              <a:t>view of a single project – is what makes it extremely hard to cut things apart again. </a:t>
            </a:r>
            <a:r>
              <a:rPr lang="en-US" sz="2000" dirty="0" smtClean="0"/>
              <a:t>It's </a:t>
            </a:r>
            <a:r>
              <a:rPr lang="en-US" sz="2000" dirty="0" smtClean="0"/>
              <a:t>extremely hard to split up an existing monolith into separate pieces.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My Opinion</a:t>
            </a:r>
            <a:endParaRPr lang="en-US" dirty="0"/>
          </a:p>
        </p:txBody>
      </p:sp>
      <p:sp>
        <p:nvSpPr>
          <p:cNvPr id="3" name="Content Placeholder 2"/>
          <p:cNvSpPr>
            <a:spLocks noGrp="1"/>
          </p:cNvSpPr>
          <p:nvPr>
            <p:ph idx="1"/>
          </p:nvPr>
        </p:nvSpPr>
        <p:spPr/>
        <p:txBody>
          <a:bodyPr/>
          <a:lstStyle/>
          <a:p>
            <a:r>
              <a:rPr lang="en-US" sz="2400" dirty="0" smtClean="0"/>
              <a:t>Start with a </a:t>
            </a:r>
            <a:r>
              <a:rPr lang="en-US" sz="2400" i="1" dirty="0" smtClean="0">
                <a:solidFill>
                  <a:srgbClr val="C00000"/>
                </a:solidFill>
              </a:rPr>
              <a:t>monolithic</a:t>
            </a:r>
            <a:r>
              <a:rPr lang="en-US" sz="2400" dirty="0" smtClean="0"/>
              <a:t> application.</a:t>
            </a:r>
          </a:p>
          <a:p>
            <a:r>
              <a:rPr lang="en-US" sz="2400" dirty="0" smtClean="0"/>
              <a:t>Do pay attention to </a:t>
            </a:r>
            <a:r>
              <a:rPr lang="en-US" sz="2400" i="1" dirty="0" smtClean="0">
                <a:solidFill>
                  <a:srgbClr val="C00000"/>
                </a:solidFill>
              </a:rPr>
              <a:t>modularity</a:t>
            </a:r>
            <a:r>
              <a:rPr lang="en-US" sz="2400" dirty="0" smtClean="0"/>
              <a:t> within </a:t>
            </a:r>
            <a:r>
              <a:rPr lang="en-US" sz="2400" dirty="0" smtClean="0"/>
              <a:t>the </a:t>
            </a:r>
            <a:r>
              <a:rPr lang="en-US" sz="2400" dirty="0" smtClean="0"/>
              <a:t>monolith.</a:t>
            </a:r>
          </a:p>
          <a:p>
            <a:r>
              <a:rPr lang="en-US" sz="2400" dirty="0" smtClean="0"/>
              <a:t>Aim </a:t>
            </a:r>
            <a:r>
              <a:rPr lang="en-US" sz="2400" dirty="0" smtClean="0"/>
              <a:t>to </a:t>
            </a:r>
            <a:r>
              <a:rPr lang="en-US" sz="2400" dirty="0" smtClean="0"/>
              <a:t>break </a:t>
            </a:r>
            <a:r>
              <a:rPr lang="en-US" sz="2400" dirty="0" smtClean="0"/>
              <a:t>it into </a:t>
            </a:r>
            <a:r>
              <a:rPr lang="en-US" sz="2400" dirty="0" err="1" smtClean="0"/>
              <a:t>microservices</a:t>
            </a:r>
            <a:r>
              <a:rPr lang="en-US" sz="2400" dirty="0" smtClean="0"/>
              <a:t> </a:t>
            </a:r>
            <a:r>
              <a:rPr lang="en-US" sz="2400" i="1" dirty="0" smtClean="0">
                <a:solidFill>
                  <a:srgbClr val="C00000"/>
                </a:solidFill>
              </a:rPr>
              <a:t>as soon as </a:t>
            </a:r>
            <a:r>
              <a:rPr lang="en-US" sz="2400" i="1" dirty="0" smtClean="0">
                <a:solidFill>
                  <a:srgbClr val="C00000"/>
                </a:solidFill>
              </a:rPr>
              <a:t>possible</a:t>
            </a:r>
            <a:r>
              <a:rPr lang="en-US" sz="2400" dirty="0" smtClean="0"/>
              <a:t>.</a:t>
            </a:r>
            <a:endParaRPr lang="en-US" sz="2400" dirty="0" smtClean="0"/>
          </a:p>
        </p:txBody>
      </p:sp>
      <p:pic>
        <p:nvPicPr>
          <p:cNvPr id="87044" name="Picture 4" descr="https://miro.medium.com/max/4000/0*eO07yV9XbK95zYKj.jpg"/>
          <p:cNvPicPr>
            <a:picLocks noChangeAspect="1" noChangeArrowheads="1"/>
          </p:cNvPicPr>
          <p:nvPr/>
        </p:nvPicPr>
        <p:blipFill>
          <a:blip r:embed="rId2" cstate="print"/>
          <a:srcRect/>
          <a:stretch>
            <a:fillRect/>
          </a:stretch>
        </p:blipFill>
        <p:spPr bwMode="auto">
          <a:xfrm>
            <a:off x="2819400" y="3505200"/>
            <a:ext cx="3680460" cy="2753591"/>
          </a:xfrm>
          <a:prstGeom prst="rect">
            <a:avLst/>
          </a:prstGeom>
          <a:noFill/>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n-US" dirty="0" smtClean="0"/>
              <a:t>Thank You &amp; See You Again</a:t>
            </a:r>
          </a:p>
        </p:txBody>
      </p:sp>
      <p:pic>
        <p:nvPicPr>
          <p:cNvPr id="5" name="Content Placeholder 4"/>
          <p:cNvPicPr>
            <a:picLocks noGrp="1" noChangeAspect="1" noChangeArrowheads="1"/>
          </p:cNvPicPr>
          <p:nvPr>
            <p:ph idx="1"/>
          </p:nvPr>
        </p:nvPicPr>
        <p:blipFill>
          <a:blip r:embed="rId2" cstate="print"/>
          <a:srcRect/>
          <a:stretch>
            <a:fillRect/>
          </a:stretch>
        </p:blipFill>
        <p:spPr>
          <a:xfrm>
            <a:off x="1143000" y="1676400"/>
            <a:ext cx="6810375" cy="4525963"/>
          </a:xfr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25115</TotalTime>
  <Words>949</Words>
  <Application>Microsoft Office PowerPoint</Application>
  <PresentationFormat>On-screen Show (4:3)</PresentationFormat>
  <Paragraphs>83</Paragraphs>
  <Slides>20</Slides>
  <Notes>2</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Designing Microservices</vt:lpstr>
      <vt:lpstr>Objectives</vt:lpstr>
      <vt:lpstr>Contents</vt:lpstr>
      <vt:lpstr>References</vt:lpstr>
      <vt:lpstr>Microservice Boundary [1]</vt:lpstr>
      <vt:lpstr>Domain Coupling</vt:lpstr>
      <vt:lpstr>Pass-Through Coupling</vt:lpstr>
      <vt:lpstr>Common Coupling</vt:lpstr>
      <vt:lpstr>Content Coupling</vt:lpstr>
      <vt:lpstr>Slide 10</vt:lpstr>
      <vt:lpstr>Domain-Oriented Decomposition</vt:lpstr>
      <vt:lpstr>Organizational Decomposition</vt:lpstr>
      <vt:lpstr>Technology Decomposition [2]</vt:lpstr>
      <vt:lpstr>Selecting Frameworks</vt:lpstr>
      <vt:lpstr>Microservice Implementation</vt:lpstr>
      <vt:lpstr>Slide 16</vt:lpstr>
      <vt:lpstr>MonolithFirst</vt:lpstr>
      <vt:lpstr>Don't Start With a Monolith</vt:lpstr>
      <vt:lpstr>My Opinion</vt:lpstr>
      <vt:lpstr>Thank You &amp; See You Again</vt:lpstr>
    </vt:vector>
  </TitlesOfParts>
  <Company>HuyBien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NgoHuyBien</dc:creator>
  <cp:lastModifiedBy>Ngo Huy Bien</cp:lastModifiedBy>
  <cp:revision>5647</cp:revision>
  <dcterms:created xsi:type="dcterms:W3CDTF">2007-10-06T08:25:13Z</dcterms:created>
  <dcterms:modified xsi:type="dcterms:W3CDTF">2025-04-02T13:15:33Z</dcterms:modified>
</cp:coreProperties>
</file>