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9"/>
  </p:notesMasterIdLst>
  <p:sldIdLst>
    <p:sldId id="371" r:id="rId2"/>
    <p:sldId id="562" r:id="rId3"/>
    <p:sldId id="563" r:id="rId4"/>
    <p:sldId id="564" r:id="rId5"/>
    <p:sldId id="695" r:id="rId6"/>
    <p:sldId id="691" r:id="rId7"/>
    <p:sldId id="692" r:id="rId8"/>
    <p:sldId id="693" r:id="rId9"/>
    <p:sldId id="694" r:id="rId10"/>
    <p:sldId id="720" r:id="rId11"/>
    <p:sldId id="667" r:id="rId12"/>
    <p:sldId id="665" r:id="rId13"/>
    <p:sldId id="666" r:id="rId14"/>
    <p:sldId id="673" r:id="rId15"/>
    <p:sldId id="674" r:id="rId16"/>
    <p:sldId id="549" r:id="rId17"/>
    <p:sldId id="708" r:id="rId18"/>
    <p:sldId id="702" r:id="rId19"/>
    <p:sldId id="703" r:id="rId20"/>
    <p:sldId id="704" r:id="rId21"/>
    <p:sldId id="705" r:id="rId22"/>
    <p:sldId id="706" r:id="rId23"/>
    <p:sldId id="709" r:id="rId24"/>
    <p:sldId id="707" r:id="rId25"/>
    <p:sldId id="548" r:id="rId26"/>
    <p:sldId id="497" r:id="rId27"/>
    <p:sldId id="567" r:id="rId28"/>
    <p:sldId id="662" r:id="rId29"/>
    <p:sldId id="498" r:id="rId30"/>
    <p:sldId id="717" r:id="rId31"/>
    <p:sldId id="711" r:id="rId32"/>
    <p:sldId id="712" r:id="rId33"/>
    <p:sldId id="713" r:id="rId34"/>
    <p:sldId id="714" r:id="rId35"/>
    <p:sldId id="715" r:id="rId36"/>
    <p:sldId id="716" r:id="rId37"/>
    <p:sldId id="343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6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docker.com/linux/ubuntu/gpg%20-o%20/etc/apt/keyrings/docker.asc" TargetMode="External"/><Relationship Id="rId2" Type="http://schemas.openxmlformats.org/officeDocument/2006/relationships/hyperlink" Target="https://docs.docker.com/engine/install/ubunt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docker.com/products/docker-desktop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docker.com/desktop/uninstall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45554311/docker-on-windows-in-production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Install </a:t>
            </a:r>
            <a:r>
              <a:rPr lang="en-US" sz="6000" dirty="0" err="1" smtClean="0"/>
              <a:t>Docker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install</a:t>
            </a:r>
            <a:r>
              <a:rPr lang="en-US" sz="2400" dirty="0" smtClean="0"/>
              <a:t> </a:t>
            </a:r>
            <a:r>
              <a:rPr lang="en-US" sz="2400" dirty="0" err="1" smtClean="0"/>
              <a:t>Docker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Elton </a:t>
            </a:r>
            <a:r>
              <a:rPr lang="en-US" sz="2400" dirty="0" err="1" smtClean="0"/>
              <a:t>Stoneman</a:t>
            </a:r>
            <a:r>
              <a:rPr lang="en-US" sz="2400" dirty="0" smtClean="0"/>
              <a:t> (2020). Learn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in a Month of Lunches. Manning Publications.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for Production-grade </a:t>
            </a:r>
            <a:r>
              <a:rPr lang="en-US" dirty="0" err="1" smtClean="0"/>
              <a:t>Docker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For </a:t>
            </a:r>
            <a:r>
              <a:rPr lang="en-US" sz="2600" b="1" dirty="0" smtClean="0"/>
              <a:t>maximum flexibility</a:t>
            </a:r>
            <a:r>
              <a:rPr lang="en-US" sz="2600" dirty="0" smtClean="0"/>
              <a:t> and broad support: go with </a:t>
            </a:r>
            <a:r>
              <a:rPr lang="en-US" sz="2600" b="1" dirty="0" err="1" smtClean="0"/>
              <a:t>Ubuntu</a:t>
            </a:r>
            <a:r>
              <a:rPr lang="en-US" sz="2600" b="1" dirty="0" smtClean="0"/>
              <a:t> Server LTS</a:t>
            </a:r>
            <a:r>
              <a:rPr lang="en-US" sz="2600" dirty="0" smtClean="0"/>
              <a:t> or </a:t>
            </a:r>
            <a:r>
              <a:rPr lang="en-US" sz="2600" b="1" dirty="0" err="1" smtClean="0"/>
              <a:t>Debian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For </a:t>
            </a:r>
            <a:r>
              <a:rPr lang="en-US" sz="2600" b="1" dirty="0" smtClean="0"/>
              <a:t>enterprise-grade security</a:t>
            </a:r>
            <a:r>
              <a:rPr lang="en-US" sz="2600" dirty="0" smtClean="0"/>
              <a:t>: use </a:t>
            </a:r>
            <a:r>
              <a:rPr lang="en-US" sz="2600" b="1" dirty="0" smtClean="0"/>
              <a:t>RHEL</a:t>
            </a:r>
            <a:r>
              <a:rPr lang="en-US" sz="2600" dirty="0" smtClean="0"/>
              <a:t>.</a:t>
            </a:r>
          </a:p>
          <a:p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Docker</a:t>
            </a:r>
            <a:r>
              <a:rPr lang="en-US" dirty="0" smtClean="0"/>
              <a:t> 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https://docs.docker.com/engine/install/ubuntu/#</a:t>
            </a:r>
            <a:r>
              <a:rPr lang="en-US" sz="2000" dirty="0" smtClean="0">
                <a:hlinkClick r:id="rId2"/>
              </a:rPr>
              <a:t>install-using-the-repository</a:t>
            </a:r>
            <a:endParaRPr lang="en-US" sz="2000" dirty="0" smtClean="0"/>
          </a:p>
          <a:p>
            <a:r>
              <a:rPr lang="en-US" sz="2000" dirty="0" err="1" smtClean="0"/>
              <a:t>sudo</a:t>
            </a:r>
            <a:r>
              <a:rPr lang="en-US" sz="2000" dirty="0" smtClean="0"/>
              <a:t> apt </a:t>
            </a:r>
            <a:r>
              <a:rPr lang="en-US" sz="2000" dirty="0" smtClean="0"/>
              <a:t>update</a:t>
            </a:r>
          </a:p>
          <a:p>
            <a:r>
              <a:rPr lang="en-US" sz="2000" dirty="0" err="1" smtClean="0"/>
              <a:t>sudo</a:t>
            </a:r>
            <a:r>
              <a:rPr lang="en-US" sz="2000" dirty="0" smtClean="0"/>
              <a:t> apt install ca-certificates </a:t>
            </a:r>
            <a:r>
              <a:rPr lang="en-US" sz="2000" dirty="0" smtClean="0"/>
              <a:t>curl</a:t>
            </a:r>
          </a:p>
          <a:p>
            <a:r>
              <a:rPr lang="en-US" sz="2000" dirty="0" smtClean="0"/>
              <a:t># </a:t>
            </a:r>
            <a:r>
              <a:rPr lang="en-US" sz="2000" dirty="0" smtClean="0"/>
              <a:t>Creates </a:t>
            </a:r>
            <a:r>
              <a:rPr lang="en-US" sz="2000" dirty="0" smtClean="0"/>
              <a:t>the system directory /etc/apt/</a:t>
            </a:r>
            <a:r>
              <a:rPr lang="en-US" sz="2000" dirty="0" err="1" smtClean="0"/>
              <a:t>keyrings</a:t>
            </a:r>
            <a:r>
              <a:rPr lang="en-US" sz="2000" dirty="0" smtClean="0"/>
              <a:t> as root with secure permissions (0755, owner writable, world-readable) so APT can safely store repository signing keys, using the install utility to set permissions atomically at creation </a:t>
            </a:r>
            <a:r>
              <a:rPr lang="en-US" sz="2000" dirty="0" smtClean="0"/>
              <a:t>time.</a:t>
            </a:r>
          </a:p>
          <a:p>
            <a:r>
              <a:rPr lang="nb-NO" sz="2000" dirty="0" smtClean="0"/>
              <a:t>sudo install -m 0755 -d /etc/apt/keyrings</a:t>
            </a:r>
            <a:endParaRPr lang="en-US" sz="2000" dirty="0" smtClean="0"/>
          </a:p>
          <a:p>
            <a:r>
              <a:rPr lang="en-US" sz="2000" dirty="0" err="1" smtClean="0"/>
              <a:t>sudo</a:t>
            </a:r>
            <a:r>
              <a:rPr lang="en-US" sz="2000" dirty="0" smtClean="0"/>
              <a:t> curl -</a:t>
            </a:r>
            <a:r>
              <a:rPr lang="en-US" sz="2000" dirty="0" err="1" smtClean="0"/>
              <a:t>fsSL</a:t>
            </a:r>
            <a:r>
              <a:rPr lang="en-US" sz="2000" dirty="0" smtClean="0"/>
              <a:t> </a:t>
            </a:r>
            <a:r>
              <a:rPr lang="en-US" sz="2000" dirty="0" smtClean="0">
                <a:hlinkClick r:id="rId3"/>
              </a:rPr>
              <a:t>https://download.docker.com/linux/ubuntu/gpg -o /</a:t>
            </a:r>
            <a:r>
              <a:rPr lang="en-US" sz="2000" dirty="0" smtClean="0">
                <a:hlinkClick r:id="rId3"/>
              </a:rPr>
              <a:t>etc/apt/</a:t>
            </a:r>
            <a:r>
              <a:rPr lang="en-US" sz="2000" dirty="0" err="1" smtClean="0">
                <a:hlinkClick r:id="rId3"/>
              </a:rPr>
              <a:t>keyrings</a:t>
            </a:r>
            <a:r>
              <a:rPr lang="en-US" sz="2000" dirty="0" smtClean="0">
                <a:hlinkClick r:id="rId3"/>
              </a:rPr>
              <a:t>/docker.asc</a:t>
            </a:r>
            <a:endParaRPr lang="en-US" sz="2000" dirty="0" smtClean="0"/>
          </a:p>
          <a:p>
            <a:r>
              <a:rPr lang="en-US" sz="2000" dirty="0" err="1" smtClean="0"/>
              <a:t>sudo</a:t>
            </a:r>
            <a:r>
              <a:rPr lang="en-US" sz="2000" dirty="0" smtClean="0"/>
              <a:t> </a:t>
            </a:r>
            <a:r>
              <a:rPr lang="en-US" sz="2000" dirty="0" err="1" smtClean="0"/>
              <a:t>chmod</a:t>
            </a:r>
            <a:r>
              <a:rPr lang="en-US" sz="2000" dirty="0" smtClean="0"/>
              <a:t> </a:t>
            </a:r>
            <a:r>
              <a:rPr lang="en-US" sz="2000" dirty="0" err="1" smtClean="0"/>
              <a:t>a+r</a:t>
            </a:r>
            <a:r>
              <a:rPr lang="en-US" sz="2000" dirty="0" smtClean="0"/>
              <a:t> /</a:t>
            </a:r>
            <a:r>
              <a:rPr lang="en-US" sz="2000" dirty="0" smtClean="0"/>
              <a:t>etc/apt/</a:t>
            </a:r>
            <a:r>
              <a:rPr lang="en-US" sz="2000" dirty="0" err="1" smtClean="0"/>
              <a:t>keyrings</a:t>
            </a:r>
            <a:r>
              <a:rPr lang="en-US" sz="2000" dirty="0" smtClean="0"/>
              <a:t>/docker.asc</a:t>
            </a:r>
          </a:p>
          <a:p>
            <a:r>
              <a:rPr lang="en-US" sz="2000" dirty="0" smtClean="0"/>
              <a:t>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</a:t>
            </a:r>
            <a:r>
              <a:rPr lang="en-US" dirty="0" err="1" smtClean="0"/>
              <a:t>Docker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version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514600"/>
            <a:ext cx="5900738" cy="349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Run Hello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run hello-world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476500"/>
            <a:ext cx="628332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Avoid Using </a:t>
            </a:r>
            <a:r>
              <a:rPr lang="en-US" dirty="0" err="1" smtClean="0"/>
              <a:t>sudo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 smtClean="0">
                <a:latin typeface="Consolas" pitchFamily="49" charset="0"/>
              </a:rPr>
              <a:t>sudo usermod -aG docker $USER</a:t>
            </a:r>
          </a:p>
          <a:p>
            <a:r>
              <a:rPr lang="en-US" sz="2400" dirty="0" err="1" smtClean="0">
                <a:latin typeface="Consolas" pitchFamily="49" charset="0"/>
              </a:rPr>
              <a:t>newgrp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docker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run hello-world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5. </a:t>
            </a:r>
            <a:r>
              <a:rPr lang="en-US" dirty="0" smtClean="0"/>
              <a:t>Install </a:t>
            </a:r>
            <a:r>
              <a:rPr lang="en-US" dirty="0" err="1" smtClean="0">
                <a:latin typeface="Consolas" pitchFamily="49" charset="0"/>
              </a:rPr>
              <a:t>docker</a:t>
            </a:r>
            <a:r>
              <a:rPr lang="en-US" dirty="0" smtClean="0">
                <a:latin typeface="Consolas" pitchFamily="49" charset="0"/>
              </a:rPr>
              <a:t>-compose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curl -L "https://github.com/docker/compose/releases/download/</a:t>
            </a:r>
            <a:r>
              <a:rPr lang="en-US" sz="2200" b="1" dirty="0" smtClean="0">
                <a:latin typeface="Consolas" pitchFamily="49" charset="0"/>
              </a:rPr>
              <a:t>1.29.2</a:t>
            </a:r>
            <a:r>
              <a:rPr lang="en-US" sz="2200" dirty="0" smtClean="0">
                <a:latin typeface="Consolas" pitchFamily="49" charset="0"/>
              </a:rPr>
              <a:t>/docker-compose-$(uname -s)-$(</a:t>
            </a:r>
            <a:r>
              <a:rPr lang="en-US" sz="2200" dirty="0" err="1" smtClean="0">
                <a:latin typeface="Consolas" pitchFamily="49" charset="0"/>
              </a:rPr>
              <a:t>uname</a:t>
            </a:r>
            <a:r>
              <a:rPr lang="en-US" sz="2200" dirty="0" smtClean="0">
                <a:latin typeface="Consolas" pitchFamily="49" charset="0"/>
              </a:rPr>
              <a:t> -m)" -o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/local/bin/</a:t>
            </a:r>
            <a:r>
              <a:rPr lang="en-US" sz="2200" dirty="0" err="1" smtClean="0">
                <a:latin typeface="Consolas" pitchFamily="49" charset="0"/>
              </a:rPr>
              <a:t>docker</a:t>
            </a:r>
            <a:r>
              <a:rPr lang="en-US" sz="2200" dirty="0" smtClean="0">
                <a:latin typeface="Consolas" pitchFamily="49" charset="0"/>
              </a:rPr>
              <a:t>-compose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chmod</a:t>
            </a:r>
            <a:r>
              <a:rPr lang="en-US" sz="2200" dirty="0" smtClean="0">
                <a:latin typeface="Consolas" pitchFamily="49" charset="0"/>
              </a:rPr>
              <a:t> +x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/local/bin/</a:t>
            </a:r>
            <a:r>
              <a:rPr lang="en-US" sz="2200" dirty="0" err="1" smtClean="0">
                <a:latin typeface="Consolas" pitchFamily="49" charset="0"/>
              </a:rPr>
              <a:t>docker</a:t>
            </a:r>
            <a:r>
              <a:rPr lang="en-US" sz="2200" dirty="0" smtClean="0">
                <a:latin typeface="Consolas" pitchFamily="49" charset="0"/>
              </a:rPr>
              <a:t>-compose</a:t>
            </a:r>
          </a:p>
          <a:p>
            <a:r>
              <a:rPr lang="en-US" sz="2200" b="1" dirty="0" err="1" smtClean="0">
                <a:latin typeface="Consolas" pitchFamily="49" charset="0"/>
              </a:rPr>
              <a:t>docker</a:t>
            </a:r>
            <a:r>
              <a:rPr lang="en-US" sz="2200" b="1" dirty="0" smtClean="0">
                <a:latin typeface="Consolas" pitchFamily="49" charset="0"/>
              </a:rPr>
              <a:t>-compose -v</a:t>
            </a:r>
            <a:endParaRPr lang="en-US" sz="2200" b="1" dirty="0">
              <a:latin typeface="Consolas" pitchFamily="49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286250"/>
            <a:ext cx="6283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Docker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https://www.docker.com/products/docker-desktop/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Select </a:t>
            </a:r>
            <a:r>
              <a:rPr lang="en-US" sz="2400" b="1" dirty="0" smtClean="0">
                <a:latin typeface="+mj-lt"/>
              </a:rPr>
              <a:t>Apple Silicon</a:t>
            </a:r>
            <a:r>
              <a:rPr lang="en-US" sz="2400" dirty="0" smtClean="0">
                <a:latin typeface="+mj-lt"/>
              </a:rPr>
              <a:t> or </a:t>
            </a:r>
            <a:r>
              <a:rPr lang="en-US" sz="2400" b="1" dirty="0" smtClean="0">
                <a:latin typeface="+mj-lt"/>
              </a:rPr>
              <a:t>Intel Chip</a:t>
            </a:r>
            <a:r>
              <a:rPr lang="en-US" sz="2400" dirty="0" smtClean="0">
                <a:latin typeface="+mj-lt"/>
              </a:rPr>
              <a:t>, depending on your </a:t>
            </a:r>
            <a:r>
              <a:rPr lang="en-US" sz="2400" dirty="0" err="1" smtClean="0">
                <a:latin typeface="+mj-lt"/>
              </a:rPr>
              <a:t>MacBook’s</a:t>
            </a:r>
            <a:r>
              <a:rPr lang="en-US" sz="2400" dirty="0" smtClean="0">
                <a:latin typeface="+mj-lt"/>
              </a:rPr>
              <a:t> processor.</a:t>
            </a:r>
            <a:endParaRPr lang="en-US" sz="2400" dirty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0100" y="2971800"/>
            <a:ext cx="5003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</a:t>
            </a:r>
            <a:r>
              <a:rPr lang="en-US" dirty="0" err="1" smtClean="0"/>
              <a:t>Docker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--version</a:t>
            </a:r>
          </a:p>
          <a:p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-compose --version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8537" y="3200400"/>
            <a:ext cx="7078663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Uninstall </a:t>
            </a:r>
            <a:r>
              <a:rPr lang="en-US" dirty="0" err="1" smtClean="0"/>
              <a:t>Docker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https://docs.docker.com/desktop/uninstall/</a:t>
            </a:r>
            <a:endParaRPr lang="en-US" sz="2400" dirty="0" smtClean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590800"/>
            <a:ext cx="5691167" cy="355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Remove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~/Library/Group\ Containers/</a:t>
            </a:r>
            <a:r>
              <a:rPr lang="en-US" sz="1800" dirty="0" err="1" smtClean="0">
                <a:latin typeface="Consolas" pitchFamily="49" charset="0"/>
              </a:rPr>
              <a:t>group.com.docker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~/Library/Containers/</a:t>
            </a:r>
            <a:r>
              <a:rPr lang="en-US" sz="1800" dirty="0" err="1" smtClean="0">
                <a:latin typeface="Consolas" pitchFamily="49" charset="0"/>
              </a:rPr>
              <a:t>com.docker.docker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rm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rf</a:t>
            </a:r>
            <a:r>
              <a:rPr lang="en-US" sz="1800" dirty="0" smtClean="0">
                <a:latin typeface="Consolas" pitchFamily="49" charset="0"/>
              </a:rPr>
              <a:t> ~/.</a:t>
            </a:r>
            <a:r>
              <a:rPr lang="en-US" sz="1800" dirty="0" err="1" smtClean="0">
                <a:latin typeface="Consolas" pitchFamily="49" charset="0"/>
              </a:rPr>
              <a:t>docker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 --version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0838" y="3771900"/>
            <a:ext cx="59023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can you skip WSL?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only run </a:t>
            </a:r>
            <a:r>
              <a:rPr lang="en-US" sz="2400" b="1" dirty="0" smtClean="0"/>
              <a:t>FROM mcr.microsoft.com/windows/</a:t>
            </a:r>
            <a:r>
              <a:rPr lang="en-US" sz="2400" b="1" dirty="0" err="1" smtClean="0"/>
              <a:t>servercore</a:t>
            </a:r>
            <a:r>
              <a:rPr lang="en-US" sz="2400" dirty="0" smtClean="0"/>
              <a:t> or similar in </a:t>
            </a:r>
            <a:r>
              <a:rPr lang="en-US" sz="2400" dirty="0" err="1" smtClean="0"/>
              <a:t>Dockerfiles</a:t>
            </a:r>
            <a:endParaRPr lang="en-US" sz="2400" dirty="0" smtClean="0"/>
          </a:p>
          <a:p>
            <a:r>
              <a:rPr lang="en-US" sz="2400" dirty="0" smtClean="0"/>
              <a:t>You're </a:t>
            </a:r>
            <a:r>
              <a:rPr lang="en-US" sz="2400" b="1" dirty="0" smtClean="0"/>
              <a:t>not</a:t>
            </a:r>
            <a:r>
              <a:rPr lang="en-US" sz="2400" dirty="0" smtClean="0"/>
              <a:t> planning to run anything based on </a:t>
            </a:r>
            <a:r>
              <a:rPr lang="en-US" sz="2400" dirty="0" err="1" smtClean="0"/>
              <a:t>Debian</a:t>
            </a:r>
            <a:r>
              <a:rPr lang="en-US" sz="2400" dirty="0" smtClean="0"/>
              <a:t>, Alpine, </a:t>
            </a:r>
            <a:r>
              <a:rPr lang="en-US" sz="2400" dirty="0" err="1" smtClean="0"/>
              <a:t>Ubuntu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Enable Windows Subsystem for Linux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Search for "</a:t>
            </a:r>
            <a:r>
              <a:rPr lang="en-US" sz="2400" b="1" dirty="0" smtClean="0"/>
              <a:t>Turn Windows features on or off</a:t>
            </a:r>
            <a:r>
              <a:rPr lang="en-US" sz="2400" dirty="0" smtClean="0"/>
              <a:t>".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2438400"/>
            <a:ext cx="4213225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2000" y="2895600"/>
            <a:ext cx="312420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/>
              <a:t>Use </a:t>
            </a:r>
            <a:r>
              <a:rPr lang="en-US" sz="2400" b="1" dirty="0" smtClean="0"/>
              <a:t>WSL 2</a:t>
            </a:r>
            <a:r>
              <a:rPr lang="en-US" sz="2400" dirty="0" smtClean="0"/>
              <a:t> for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on Windows unless you have a very specific reason to prefer </a:t>
            </a:r>
            <a:r>
              <a:rPr lang="en-US" sz="2400" b="1" dirty="0" smtClean="0"/>
              <a:t>Hyper-V</a:t>
            </a:r>
            <a:r>
              <a:rPr lang="en-US" sz="2400" dirty="0" smtClean="0"/>
              <a:t> (e.g. more isolated VM environment).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WSL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wsl</a:t>
            </a:r>
            <a:r>
              <a:rPr lang="en-US" sz="2400" dirty="0" smtClean="0">
                <a:latin typeface="Consolas" pitchFamily="49" charset="0"/>
              </a:rPr>
              <a:t> --status</a:t>
            </a:r>
          </a:p>
          <a:p>
            <a:r>
              <a:rPr lang="en-US" sz="2400" dirty="0" err="1" smtClean="0">
                <a:latin typeface="Consolas" pitchFamily="49" charset="0"/>
              </a:rPr>
              <a:t>wsl</a:t>
            </a:r>
            <a:r>
              <a:rPr lang="en-US" sz="2400" dirty="0" smtClean="0">
                <a:latin typeface="Consolas" pitchFamily="49" charset="0"/>
              </a:rPr>
              <a:t> --update</a:t>
            </a:r>
          </a:p>
          <a:p>
            <a:r>
              <a:rPr lang="en-US" sz="2400" dirty="0" err="1" smtClean="0">
                <a:latin typeface="Consolas" pitchFamily="49" charset="0"/>
              </a:rPr>
              <a:t>wsl</a:t>
            </a:r>
            <a:r>
              <a:rPr lang="en-US" sz="2400" dirty="0" smtClean="0">
                <a:latin typeface="Consolas" pitchFamily="49" charset="0"/>
              </a:rPr>
              <a:t> --set-default-version 2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3938" y="3514725"/>
            <a:ext cx="455612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</a:t>
            </a:r>
            <a:r>
              <a:rPr lang="en-US" dirty="0" err="1" smtClean="0"/>
              <a:t>Docker</a:t>
            </a:r>
            <a:r>
              <a:rPr lang="en-US" dirty="0" smtClean="0"/>
              <a:t> Desktop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625" y="1800225"/>
            <a:ext cx="676275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Confirm WSL </a:t>
            </a:r>
            <a:r>
              <a:rPr lang="en-US" dirty="0" err="1" smtClean="0"/>
              <a:t>Intergation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981200"/>
            <a:ext cx="6129020" cy="382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List all WSL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wsl.exe -l -v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819400"/>
            <a:ext cx="5429250" cy="167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Verify OS Type and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Purpose</a:t>
            </a:r>
            <a:r>
              <a:rPr lang="en-US" sz="2400" dirty="0" smtClean="0"/>
              <a:t>: For building images later.</a:t>
            </a:r>
            <a:endParaRPr 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6388" y="2873375"/>
            <a:ext cx="599122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Verify Hardware Compatibility on Windows 10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systeminfo</a:t>
            </a:r>
            <a:endParaRPr lang="en-US" sz="2400" b="1" dirty="0">
              <a:latin typeface="Consolas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922270"/>
            <a:ext cx="6473190" cy="241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Enable Hyper-V Features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8425" y="1803400"/>
            <a:ext cx="6407150" cy="42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</a:t>
            </a:r>
            <a:r>
              <a:rPr lang="en-US" dirty="0" err="1" smtClean="0"/>
              <a:t>Docker</a:t>
            </a:r>
            <a:r>
              <a:rPr lang="en-US" dirty="0" smtClean="0"/>
              <a:t> 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https://docs.docker.com/desktop/install/windows-install/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895600"/>
            <a:ext cx="7706360" cy="2766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Options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050293"/>
            <a:ext cx="5410184" cy="3740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Verify </a:t>
            </a:r>
            <a:r>
              <a:rPr lang="en-US" dirty="0" err="1" smtClean="0"/>
              <a:t>Docker</a:t>
            </a:r>
            <a:r>
              <a:rPr lang="en-US" dirty="0" smtClean="0"/>
              <a:t>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run --</a:t>
            </a:r>
            <a:r>
              <a:rPr lang="en-US" sz="2400" dirty="0" err="1" smtClean="0">
                <a:latin typeface="Consolas" pitchFamily="49" charset="0"/>
              </a:rPr>
              <a:t>rm</a:t>
            </a:r>
            <a:r>
              <a:rPr lang="en-US" sz="2400" dirty="0" smtClean="0">
                <a:latin typeface="Consolas" pitchFamily="49" charset="0"/>
              </a:rPr>
              <a:t> hello-world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1113" y="2476500"/>
            <a:ext cx="6581775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Install Server 2022 Containers Feature</a:t>
            </a:r>
            <a:endParaRPr lang="en-US" sz="3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6325" y="1857375"/>
            <a:ext cx="6991350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Install the </a:t>
            </a:r>
            <a:r>
              <a:rPr lang="en-US" sz="3800" dirty="0" err="1" smtClean="0"/>
              <a:t>Docker</a:t>
            </a:r>
            <a:r>
              <a:rPr lang="en-US" sz="3800" dirty="0" smtClean="0"/>
              <a:t> Microsoft Package Provider Module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Open </a:t>
            </a:r>
            <a:r>
              <a:rPr lang="en-US" sz="2400" dirty="0" err="1" smtClean="0"/>
              <a:t>PowerShell</a:t>
            </a:r>
            <a:r>
              <a:rPr lang="en-US" sz="2400" dirty="0" smtClean="0"/>
              <a:t> as Administrator.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Install-Module -Name </a:t>
            </a:r>
            <a:r>
              <a:rPr lang="en-US" sz="2000" b="1" dirty="0" err="1" smtClean="0">
                <a:latin typeface="Consolas" pitchFamily="49" charset="0"/>
              </a:rPr>
              <a:t>DockerMsftProvider</a:t>
            </a:r>
            <a:r>
              <a:rPr lang="en-US" sz="2000" b="1" dirty="0" smtClean="0">
                <a:latin typeface="Consolas" pitchFamily="49" charset="0"/>
              </a:rPr>
              <a:t> -Repository </a:t>
            </a:r>
            <a:r>
              <a:rPr lang="en-US" sz="2000" b="1" dirty="0" err="1" smtClean="0">
                <a:latin typeface="Consolas" pitchFamily="49" charset="0"/>
              </a:rPr>
              <a:t>PSGallery</a:t>
            </a:r>
            <a:r>
              <a:rPr lang="en-US" sz="2000" b="1" dirty="0" smtClean="0">
                <a:latin typeface="Consolas" pitchFamily="49" charset="0"/>
              </a:rPr>
              <a:t> -Force</a:t>
            </a:r>
          </a:p>
          <a:p>
            <a:r>
              <a:rPr lang="en-US" sz="2400" dirty="0" smtClean="0">
                <a:latin typeface="+mj-lt"/>
              </a:rPr>
              <a:t>Type </a:t>
            </a:r>
            <a:r>
              <a:rPr lang="en-US" sz="2400" b="1" dirty="0" smtClean="0">
                <a:latin typeface="+mj-lt"/>
              </a:rPr>
              <a:t>Y</a:t>
            </a:r>
            <a:r>
              <a:rPr lang="en-US" sz="2400" dirty="0" smtClean="0">
                <a:latin typeface="+mj-lt"/>
              </a:rPr>
              <a:t>, press Enter.</a:t>
            </a:r>
          </a:p>
          <a:p>
            <a:endParaRPr lang="en-US" sz="2400" b="1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338" y="3486150"/>
            <a:ext cx="729932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Install the latest </a:t>
            </a:r>
            <a:r>
              <a:rPr lang="en-US" sz="3800" dirty="0" err="1" smtClean="0"/>
              <a:t>Docker</a:t>
            </a:r>
            <a:r>
              <a:rPr lang="en-US" sz="3800" dirty="0" smtClean="0"/>
              <a:t> Version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Open </a:t>
            </a:r>
            <a:r>
              <a:rPr lang="en-US" sz="2400" dirty="0" err="1" smtClean="0"/>
              <a:t>PowerShell</a:t>
            </a:r>
            <a:r>
              <a:rPr lang="en-US" sz="2400" dirty="0" smtClean="0"/>
              <a:t> as Administrator.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Install-Package -Name </a:t>
            </a:r>
            <a:r>
              <a:rPr lang="en-US" sz="2000" b="1" dirty="0" err="1" smtClean="0">
                <a:latin typeface="Consolas" pitchFamily="49" charset="0"/>
              </a:rPr>
              <a:t>docker</a:t>
            </a:r>
            <a:r>
              <a:rPr lang="en-US" sz="2000" b="1" dirty="0" smtClean="0">
                <a:latin typeface="Consolas" pitchFamily="49" charset="0"/>
              </a:rPr>
              <a:t> -</a:t>
            </a:r>
            <a:r>
              <a:rPr lang="en-US" sz="2000" b="1" dirty="0" err="1" smtClean="0">
                <a:latin typeface="Consolas" pitchFamily="49" charset="0"/>
              </a:rPr>
              <a:t>ProviderName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err="1" smtClean="0">
                <a:latin typeface="Consolas" pitchFamily="49" charset="0"/>
              </a:rPr>
              <a:t>DockerMsftProvider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400" dirty="0" smtClean="0"/>
              <a:t>Type </a:t>
            </a:r>
            <a:r>
              <a:rPr lang="en-US" sz="2400" b="1" dirty="0" smtClean="0"/>
              <a:t>A</a:t>
            </a:r>
            <a:r>
              <a:rPr lang="en-US" sz="2400" dirty="0" smtClean="0"/>
              <a:t>, press Enter.</a:t>
            </a:r>
          </a:p>
          <a:p>
            <a:r>
              <a:rPr lang="en-US" sz="2400" dirty="0" smtClean="0"/>
              <a:t>Restart the Computer: </a:t>
            </a:r>
            <a:r>
              <a:rPr lang="en-US" sz="2400" b="1" i="1" dirty="0" smtClean="0">
                <a:latin typeface="Consolas" pitchFamily="49" charset="0"/>
              </a:rPr>
              <a:t>Restart-Computer -Force</a:t>
            </a:r>
            <a:endParaRPr lang="en-US" sz="2400" b="1" dirty="0" smtClean="0">
              <a:latin typeface="Consolas" pitchFamily="49" charset="0"/>
            </a:endParaRPr>
          </a:p>
          <a:p>
            <a:endParaRPr lang="en-US" sz="2400" b="1" dirty="0">
              <a:latin typeface="Consolas" pitchFamily="49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925" y="3781425"/>
            <a:ext cx="72961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Verify </a:t>
            </a:r>
            <a:r>
              <a:rPr lang="en-US" sz="3800" dirty="0" err="1" smtClean="0"/>
              <a:t>Docker</a:t>
            </a:r>
            <a:r>
              <a:rPr lang="en-US" sz="3800" dirty="0" smtClean="0"/>
              <a:t> Installation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 --version</a:t>
            </a:r>
          </a:p>
          <a:p>
            <a:r>
              <a:rPr lang="en-US" sz="2400" dirty="0" smtClean="0">
                <a:latin typeface="Consolas" pitchFamily="49" charset="0"/>
              </a:rPr>
              <a:t>Get-</a:t>
            </a:r>
            <a:r>
              <a:rPr lang="en-US" sz="2400" dirty="0" err="1" smtClean="0">
                <a:latin typeface="Consolas" pitchFamily="49" charset="0"/>
              </a:rPr>
              <a:t>WindowsFeature</a:t>
            </a:r>
            <a:r>
              <a:rPr lang="en-US" sz="2400" dirty="0" smtClean="0">
                <a:latin typeface="Consolas" pitchFamily="49" charset="0"/>
              </a:rPr>
              <a:t> -Name Containers</a:t>
            </a:r>
          </a:p>
          <a:p>
            <a:r>
              <a:rPr lang="en-US" sz="2400" dirty="0" smtClean="0">
                <a:latin typeface="Consolas" pitchFamily="49" charset="0"/>
              </a:rPr>
              <a:t>Get-Service </a:t>
            </a:r>
            <a:r>
              <a:rPr lang="en-US" sz="2400" dirty="0" err="1" smtClean="0">
                <a:latin typeface="Consolas" pitchFamily="49" charset="0"/>
              </a:rPr>
              <a:t>Docker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888" y="3222625"/>
            <a:ext cx="7642225" cy="279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Install </a:t>
            </a:r>
            <a:r>
              <a:rPr lang="en-US" dirty="0" err="1" smtClean="0"/>
              <a:t>Docker</a:t>
            </a:r>
            <a:r>
              <a:rPr lang="en-US" dirty="0" smtClean="0"/>
              <a:t> Compose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Invoke-</a:t>
            </a:r>
            <a:r>
              <a:rPr lang="en-US" sz="1800" dirty="0" err="1" smtClean="0">
                <a:latin typeface="Consolas" pitchFamily="49" charset="0"/>
              </a:rPr>
              <a:t>WebRequest</a:t>
            </a:r>
            <a:r>
              <a:rPr lang="en-US" sz="1800" dirty="0" smtClean="0">
                <a:latin typeface="Consolas" pitchFamily="49" charset="0"/>
              </a:rPr>
              <a:t> "https://github.com/docker/compose/releases/download/v2.5.0/docker-compose-Windows-x86_64.exe" -</a:t>
            </a:r>
            <a:r>
              <a:rPr lang="en-US" sz="1800" dirty="0" err="1" smtClean="0">
                <a:latin typeface="Consolas" pitchFamily="49" charset="0"/>
              </a:rPr>
              <a:t>UseBasicParsing</a:t>
            </a:r>
            <a:r>
              <a:rPr lang="en-US" sz="1800" dirty="0" smtClean="0">
                <a:latin typeface="Consolas" pitchFamily="49" charset="0"/>
              </a:rPr>
              <a:t> -</a:t>
            </a:r>
            <a:r>
              <a:rPr lang="en-US" sz="1800" dirty="0" err="1" smtClean="0">
                <a:latin typeface="Consolas" pitchFamily="49" charset="0"/>
              </a:rPr>
              <a:t>OutFile</a:t>
            </a:r>
            <a:r>
              <a:rPr lang="en-US" sz="1800" dirty="0" smtClean="0">
                <a:latin typeface="Consolas" pitchFamily="49" charset="0"/>
              </a:rPr>
              <a:t> $</a:t>
            </a:r>
            <a:r>
              <a:rPr lang="en-US" sz="1800" dirty="0" err="1" smtClean="0">
                <a:latin typeface="Consolas" pitchFamily="49" charset="0"/>
              </a:rPr>
              <a:t>Env:ProgramFiles</a:t>
            </a:r>
            <a:r>
              <a:rPr lang="en-US" sz="1800" dirty="0" smtClean="0">
                <a:latin typeface="Consolas" pitchFamily="49" charset="0"/>
              </a:rPr>
              <a:t>\</a:t>
            </a:r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\docker-compose.exe</a:t>
            </a:r>
          </a:p>
          <a:p>
            <a:r>
              <a:rPr lang="en-US" sz="1800" dirty="0" err="1" smtClean="0">
                <a:latin typeface="Consolas" pitchFamily="49" charset="0"/>
              </a:rPr>
              <a:t>docker</a:t>
            </a:r>
            <a:r>
              <a:rPr lang="en-US" sz="1800" dirty="0" smtClean="0">
                <a:latin typeface="Consolas" pitchFamily="49" charset="0"/>
              </a:rPr>
              <a:t>-compose --version</a:t>
            </a:r>
            <a:endParaRPr lang="en-US" sz="18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4813" y="3676650"/>
            <a:ext cx="579437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Uninstall </a:t>
            </a:r>
            <a:r>
              <a:rPr lang="en-US" dirty="0" err="1" smtClean="0"/>
              <a:t>Docker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dirty="0" smtClean="0">
                <a:latin typeface="Consolas" pitchFamily="49" charset="0"/>
              </a:rPr>
              <a:t>Uninstall-Package -Name docker -ProviderName DockerProvider</a:t>
            </a:r>
          </a:p>
          <a:p>
            <a:r>
              <a:rPr lang="en-US" sz="1800" dirty="0" smtClean="0">
                <a:latin typeface="Consolas" pitchFamily="49" charset="0"/>
              </a:rPr>
              <a:t>Uninstall-Module -Name </a:t>
            </a:r>
            <a:r>
              <a:rPr lang="en-US" sz="1800" dirty="0" err="1" smtClean="0">
                <a:latin typeface="Consolas" pitchFamily="49" charset="0"/>
              </a:rPr>
              <a:t>DockerProvider</a:t>
            </a:r>
            <a:endParaRPr lang="en-US" sz="1800" dirty="0" smtClean="0">
              <a:latin typeface="Consolas" pitchFamily="49" charset="0"/>
            </a:endParaRPr>
          </a:p>
          <a:p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+mj-lt"/>
                <a:hlinkClick r:id="rId2"/>
              </a:rPr>
              <a:t>https://stackoverflow.com/questions/45554311/docker-on-windows-in-production</a:t>
            </a:r>
            <a:endParaRPr lang="en-US" sz="1800" dirty="0" smtClean="0">
              <a:latin typeface="+mj-lt"/>
            </a:endParaRPr>
          </a:p>
          <a:p>
            <a:r>
              <a:rPr lang="en-US" sz="1800" dirty="0" smtClean="0">
                <a:latin typeface="+mj-lt"/>
              </a:rPr>
              <a:t>The major problem was with the </a:t>
            </a:r>
            <a:r>
              <a:rPr lang="en-US" sz="1800" dirty="0" err="1" smtClean="0">
                <a:latin typeface="+mj-lt"/>
              </a:rPr>
              <a:t>docker</a:t>
            </a:r>
            <a:r>
              <a:rPr lang="en-US" sz="1800" dirty="0" smtClean="0">
                <a:latin typeface="+mj-lt"/>
              </a:rPr>
              <a:t> swarm. The overlay networking with routing mesh was not working properly. So we had to fall back to containers with </a:t>
            </a:r>
            <a:r>
              <a:rPr lang="en-US" sz="1800" dirty="0" err="1" smtClean="0">
                <a:latin typeface="+mj-lt"/>
              </a:rPr>
              <a:t>docker</a:t>
            </a:r>
            <a:r>
              <a:rPr lang="en-US" sz="1800" dirty="0" smtClean="0">
                <a:latin typeface="+mj-lt"/>
              </a:rPr>
              <a:t>-compose and manual service discovery, which </a:t>
            </a:r>
            <a:r>
              <a:rPr lang="en-US" sz="1800" dirty="0" err="1" smtClean="0">
                <a:latin typeface="+mj-lt"/>
              </a:rPr>
              <a:t>kinda</a:t>
            </a:r>
            <a:r>
              <a:rPr lang="en-US" sz="1800" dirty="0" smtClean="0">
                <a:latin typeface="+mj-lt"/>
              </a:rPr>
              <a:t> beats the purpose of </a:t>
            </a:r>
            <a:r>
              <a:rPr lang="en-US" sz="1800" dirty="0" err="1" smtClean="0">
                <a:latin typeface="+mj-lt"/>
              </a:rPr>
              <a:t>docker</a:t>
            </a:r>
            <a:r>
              <a:rPr lang="en-US" sz="1800" dirty="0" smtClean="0">
                <a:latin typeface="+mj-lt"/>
              </a:rPr>
              <a:t>.</a:t>
            </a:r>
          </a:p>
          <a:p>
            <a:r>
              <a:rPr lang="en-US" sz="1800" dirty="0" smtClean="0">
                <a:latin typeface="+mj-lt"/>
              </a:rPr>
              <a:t>Another problem was that we did not have nested virtualization (i.e. cannot run </a:t>
            </a:r>
            <a:r>
              <a:rPr lang="en-US" sz="1800" dirty="0" err="1" smtClean="0">
                <a:latin typeface="+mj-lt"/>
              </a:rPr>
              <a:t>moby</a:t>
            </a:r>
            <a:r>
              <a:rPr lang="en-US" sz="1800" dirty="0" smtClean="0">
                <a:latin typeface="+mj-lt"/>
              </a:rPr>
              <a:t>) due to CPU issues, and WSL2 with support for </a:t>
            </a:r>
            <a:r>
              <a:rPr lang="en-US" sz="1800" dirty="0" err="1" smtClean="0">
                <a:latin typeface="+mj-lt"/>
              </a:rPr>
              <a:t>Docker</a:t>
            </a:r>
            <a:r>
              <a:rPr lang="en-US" sz="1800" dirty="0" smtClean="0">
                <a:latin typeface="+mj-lt"/>
              </a:rPr>
              <a:t> is not available on WS19 LTSC editions. So I had to write our own images for many stuff that we use. Like Jenkins, </a:t>
            </a:r>
            <a:r>
              <a:rPr lang="en-US" sz="1800" dirty="0" err="1" smtClean="0">
                <a:latin typeface="+mj-lt"/>
              </a:rPr>
              <a:t>Redis</a:t>
            </a:r>
            <a:r>
              <a:rPr lang="en-US" sz="1800" dirty="0" smtClean="0">
                <a:latin typeface="+mj-lt"/>
              </a:rPr>
              <a:t>, etc. But obviously keeping them up to date and tidy was a huge work and I did not have much time to invest.</a:t>
            </a:r>
            <a:endParaRPr lang="en-US" sz="1800" dirty="0">
              <a:latin typeface="+mj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</a:t>
            </a:r>
            <a:r>
              <a:rPr lang="en-US" smtClean="0"/>
              <a:t>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26218</TotalTime>
  <Words>710</Words>
  <Application>Microsoft Office PowerPoint</Application>
  <PresentationFormat>On-screen Show (4:3)</PresentationFormat>
  <Paragraphs>99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Install Docker</vt:lpstr>
      <vt:lpstr>Objectives</vt:lpstr>
      <vt:lpstr>Contents</vt:lpstr>
      <vt:lpstr>References</vt:lpstr>
      <vt:lpstr>OS for Production-grade Docker </vt:lpstr>
      <vt:lpstr>1. Install Docker on Ubuntu</vt:lpstr>
      <vt:lpstr>2. Verify Docker Installation</vt:lpstr>
      <vt:lpstr>3. Run Hello World</vt:lpstr>
      <vt:lpstr>4. Avoid Using sudo</vt:lpstr>
      <vt:lpstr>5. Install docker-compose</vt:lpstr>
      <vt:lpstr>Slide 11</vt:lpstr>
      <vt:lpstr>1. Install Docker on macOS</vt:lpstr>
      <vt:lpstr>2. Verify Docker Installation</vt:lpstr>
      <vt:lpstr>3. Uninstall Docker on macOS</vt:lpstr>
      <vt:lpstr>4. Remove Files</vt:lpstr>
      <vt:lpstr>Slide 16</vt:lpstr>
      <vt:lpstr>When can you skip WSL?</vt:lpstr>
      <vt:lpstr>1. Enable Windows Subsystem for Linux</vt:lpstr>
      <vt:lpstr>2. Verify WSL Version</vt:lpstr>
      <vt:lpstr>3. Install Docker Desktop</vt:lpstr>
      <vt:lpstr>4. Confirm WSL Intergation</vt:lpstr>
      <vt:lpstr>5. List all WSL Distributions</vt:lpstr>
      <vt:lpstr>6. Verify OS Type and Architecture</vt:lpstr>
      <vt:lpstr>Slide 24</vt:lpstr>
      <vt:lpstr>1. Verify Hardware Compatibility on Windows 10</vt:lpstr>
      <vt:lpstr>2. Enable Hyper-V Features</vt:lpstr>
      <vt:lpstr>3. Install Docker Desktop</vt:lpstr>
      <vt:lpstr>4. Select Options</vt:lpstr>
      <vt:lpstr>5. Verify Docker Installation</vt:lpstr>
      <vt:lpstr>Slide 30</vt:lpstr>
      <vt:lpstr>1. Install Server 2022 Containers Feature</vt:lpstr>
      <vt:lpstr>2. Install the Docker Microsoft Package Provider Module</vt:lpstr>
      <vt:lpstr>3. Install the latest Docker Version</vt:lpstr>
      <vt:lpstr>4. Verify Docker Installation</vt:lpstr>
      <vt:lpstr>5. Install Docker Compose</vt:lpstr>
      <vt:lpstr>6. Uninstall Docker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7850</cp:revision>
  <dcterms:created xsi:type="dcterms:W3CDTF">2007-10-06T08:25:13Z</dcterms:created>
  <dcterms:modified xsi:type="dcterms:W3CDTF">2025-12-30T20:15:47Z</dcterms:modified>
</cp:coreProperties>
</file>