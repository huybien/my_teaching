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4"/>
  </p:notesMasterIdLst>
  <p:sldIdLst>
    <p:sldId id="670" r:id="rId2"/>
    <p:sldId id="671" r:id="rId3"/>
    <p:sldId id="672" r:id="rId4"/>
    <p:sldId id="673" r:id="rId5"/>
    <p:sldId id="674" r:id="rId6"/>
    <p:sldId id="675" r:id="rId7"/>
    <p:sldId id="676" r:id="rId8"/>
    <p:sldId id="677" r:id="rId9"/>
    <p:sldId id="678" r:id="rId10"/>
    <p:sldId id="679" r:id="rId11"/>
    <p:sldId id="680" r:id="rId12"/>
    <p:sldId id="516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29" autoAdjust="0"/>
    <p:restoredTop sz="94667" autoAdjust="0"/>
  </p:normalViewPr>
  <p:slideViewPr>
    <p:cSldViewPr>
      <p:cViewPr>
        <p:scale>
          <a:sx n="50" d="100"/>
          <a:sy n="50" d="100"/>
        </p:scale>
        <p:origin x="-1530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40CE-BE1D-4C40-AF8B-3898A4D1F5EC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CC96-DB61-4850-AF79-05CA5E4B3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4/18/2025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4/18/2025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4/18/2025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4/18/2025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4/18/2025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4/18/2025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backstage.io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Backstage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Backstage?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https://backstage.io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r>
              <a:rPr lang="en-US" dirty="0" smtClean="0"/>
              <a:t>Backstage </a:t>
            </a:r>
            <a:r>
              <a:rPr lang="en-US" dirty="0" smtClean="0"/>
              <a:t>is an open platform for building developer </a:t>
            </a:r>
            <a:r>
              <a:rPr lang="en-US" dirty="0" smtClean="0"/>
              <a:t>portals.</a:t>
            </a:r>
          </a:p>
          <a:p>
            <a:r>
              <a:rPr lang="en-US" dirty="0" smtClean="0"/>
              <a:t>It’s </a:t>
            </a:r>
            <a:r>
              <a:rPr lang="en-US" dirty="0" smtClean="0"/>
              <a:t>made by </a:t>
            </a:r>
            <a:r>
              <a:rPr lang="en-US" dirty="0" err="1" smtClean="0"/>
              <a:t>Spotify</a:t>
            </a:r>
            <a:r>
              <a:rPr lang="en-US" dirty="0" smtClean="0"/>
              <a:t> and is used to centralize infrastructure, documentation, tools, and services in one UI for </a:t>
            </a:r>
            <a:r>
              <a:rPr lang="en-US" dirty="0" smtClean="0"/>
              <a:t>developers.</a:t>
            </a:r>
          </a:p>
          <a:p>
            <a:r>
              <a:rPr lang="en-US" dirty="0" smtClean="0"/>
              <a:t>Think </a:t>
            </a:r>
            <a:r>
              <a:rPr lang="en-US" dirty="0" smtClean="0"/>
              <a:t>of it like a "home base" for all things </a:t>
            </a:r>
            <a:r>
              <a:rPr lang="en-US" dirty="0" err="1" smtClean="0"/>
              <a:t>DevOps</a:t>
            </a:r>
            <a:r>
              <a:rPr lang="en-US" dirty="0" smtClean="0"/>
              <a:t> and internal tooling.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Systems You Can Build with Backstage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85799" y="1600200"/>
          <a:ext cx="7772400" cy="4866258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3886200"/>
                <a:gridCol w="3886200"/>
              </a:tblGrid>
              <a:tr h="298884">
                <a:tc>
                  <a:txBody>
                    <a:bodyPr/>
                    <a:lstStyle/>
                    <a:p>
                      <a:r>
                        <a:rPr lang="en-US" sz="1400" dirty="0"/>
                        <a:t>System Type</a:t>
                      </a:r>
                    </a:p>
                  </a:txBody>
                  <a:tcPr marL="42698" marR="42698" marT="21349" marB="2134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What It Looks Like in Backstage</a:t>
                      </a:r>
                    </a:p>
                  </a:txBody>
                  <a:tcPr marL="42698" marR="42698" marT="21349" marB="21349" anchor="ctr"/>
                </a:tc>
              </a:tr>
              <a:tr h="555071">
                <a:tc>
                  <a:txBody>
                    <a:bodyPr/>
                    <a:lstStyle/>
                    <a:p>
                      <a:r>
                        <a:rPr lang="en-US" sz="1400"/>
                        <a:t>Internal Developer Portal</a:t>
                      </a:r>
                    </a:p>
                  </a:txBody>
                  <a:tcPr marL="42698" marR="42698" marT="21349" marB="2134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Central hub for all services, documentation, CI/CD pipelines, ownership, and metadata</a:t>
                      </a:r>
                    </a:p>
                  </a:txBody>
                  <a:tcPr marL="42698" marR="42698" marT="21349" marB="21349" anchor="ctr"/>
                </a:tc>
              </a:tr>
              <a:tr h="555071">
                <a:tc>
                  <a:txBody>
                    <a:bodyPr/>
                    <a:lstStyle/>
                    <a:p>
                      <a:r>
                        <a:rPr lang="en-US" sz="1400"/>
                        <a:t>Software Catalog System</a:t>
                      </a:r>
                    </a:p>
                  </a:txBody>
                  <a:tcPr marL="42698" marR="42698" marT="21349" marB="2134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Registry of all internal microservices, APIs, libraries, components, and their metadata</a:t>
                      </a:r>
                    </a:p>
                  </a:txBody>
                  <a:tcPr marL="42698" marR="42698" marT="21349" marB="21349" anchor="ctr"/>
                </a:tc>
              </a:tr>
              <a:tr h="426978">
                <a:tc>
                  <a:txBody>
                    <a:bodyPr/>
                    <a:lstStyle/>
                    <a:p>
                      <a:r>
                        <a:rPr lang="en-US" sz="1400" dirty="0"/>
                        <a:t>Documentation Hub (Docs-as-Code)</a:t>
                      </a:r>
                    </a:p>
                  </a:txBody>
                  <a:tcPr marL="42698" marR="42698" marT="21349" marB="2134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Live markdown docs pulled from your repos (powered by TechDocs)</a:t>
                      </a:r>
                    </a:p>
                  </a:txBody>
                  <a:tcPr marL="42698" marR="42698" marT="21349" marB="21349" anchor="ctr"/>
                </a:tc>
              </a:tr>
              <a:tr h="555071">
                <a:tc>
                  <a:txBody>
                    <a:bodyPr/>
                    <a:lstStyle/>
                    <a:p>
                      <a:r>
                        <a:rPr lang="en-US" sz="1400"/>
                        <a:t>CI/CD &amp; Deployment Dashboards</a:t>
                      </a:r>
                    </a:p>
                  </a:txBody>
                  <a:tcPr marL="42698" marR="42698" marT="21349" marB="21349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Integration with </a:t>
                      </a:r>
                      <a:r>
                        <a:rPr lang="en-US" sz="1400" dirty="0" err="1"/>
                        <a:t>GitHub</a:t>
                      </a:r>
                      <a:r>
                        <a:rPr lang="en-US" sz="1400" dirty="0"/>
                        <a:t> Actions, Jenkins, </a:t>
                      </a:r>
                      <a:r>
                        <a:rPr lang="en-US" sz="1400" dirty="0" err="1"/>
                        <a:t>ArgoCD</a:t>
                      </a:r>
                      <a:r>
                        <a:rPr lang="en-US" sz="1400" dirty="0"/>
                        <a:t>, etc. — see build/deploy status at a glance</a:t>
                      </a:r>
                    </a:p>
                  </a:txBody>
                  <a:tcPr marL="42698" marR="42698" marT="21349" marB="21349" anchor="ctr"/>
                </a:tc>
              </a:tr>
              <a:tr h="298884">
                <a:tc>
                  <a:txBody>
                    <a:bodyPr/>
                    <a:lstStyle/>
                    <a:p>
                      <a:r>
                        <a:rPr lang="en-US" sz="1400"/>
                        <a:t>Infrastructure &amp; Cloud Resource Viewer</a:t>
                      </a:r>
                    </a:p>
                  </a:txBody>
                  <a:tcPr marL="42698" marR="42698" marT="21349" marB="2134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Track resources across AWS, GCP, Azure, etc., using plugins</a:t>
                      </a:r>
                    </a:p>
                  </a:txBody>
                  <a:tcPr marL="42698" marR="42698" marT="21349" marB="21349" anchor="ctr"/>
                </a:tc>
              </a:tr>
              <a:tr h="426978">
                <a:tc>
                  <a:txBody>
                    <a:bodyPr/>
                    <a:lstStyle/>
                    <a:p>
                      <a:r>
                        <a:rPr lang="en-US" sz="1400"/>
                        <a:t>Monitoring &amp; Observability Portal</a:t>
                      </a:r>
                    </a:p>
                  </a:txBody>
                  <a:tcPr marL="42698" marR="42698" marT="21349" marB="21349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Integrate with Prometheus, </a:t>
                      </a:r>
                      <a:r>
                        <a:rPr lang="en-US" sz="1400" dirty="0" err="1"/>
                        <a:t>Grafana</a:t>
                      </a:r>
                      <a:r>
                        <a:rPr lang="en-US" sz="1400" dirty="0"/>
                        <a:t>, Sentry, </a:t>
                      </a:r>
                      <a:r>
                        <a:rPr lang="en-US" sz="1400" dirty="0" err="1"/>
                        <a:t>Datadog</a:t>
                      </a:r>
                      <a:r>
                        <a:rPr lang="en-US" sz="1400" dirty="0"/>
                        <a:t>, etc. to visualize service health</a:t>
                      </a:r>
                    </a:p>
                  </a:txBody>
                  <a:tcPr marL="42698" marR="42698" marT="21349" marB="21349" anchor="ctr"/>
                </a:tc>
              </a:tr>
              <a:tr h="426978">
                <a:tc>
                  <a:txBody>
                    <a:bodyPr/>
                    <a:lstStyle/>
                    <a:p>
                      <a:r>
                        <a:rPr lang="en-US" sz="1400"/>
                        <a:t>Event/Log Viewer</a:t>
                      </a:r>
                    </a:p>
                  </a:txBody>
                  <a:tcPr marL="42698" marR="42698" marT="21349" marB="2134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View logs or event streams related to services (e.g., using Kafka or EventStore plugins)</a:t>
                      </a:r>
                    </a:p>
                  </a:txBody>
                  <a:tcPr marL="42698" marR="42698" marT="21349" marB="21349" anchor="ctr"/>
                </a:tc>
              </a:tr>
              <a:tr h="426978">
                <a:tc>
                  <a:txBody>
                    <a:bodyPr/>
                    <a:lstStyle/>
                    <a:p>
                      <a:r>
                        <a:rPr lang="en-US" sz="1400"/>
                        <a:t>Developer Tools Launcher</a:t>
                      </a:r>
                    </a:p>
                  </a:txBody>
                  <a:tcPr marL="42698" marR="42698" marT="21349" marB="2134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Links to relevant tools like Swagger, Postman, Helm charts, Kibana, etc.</a:t>
                      </a:r>
                    </a:p>
                  </a:txBody>
                  <a:tcPr marL="42698" marR="42698" marT="21349" marB="21349" anchor="ctr"/>
                </a:tc>
              </a:tr>
              <a:tr h="555071">
                <a:tc>
                  <a:txBody>
                    <a:bodyPr/>
                    <a:lstStyle/>
                    <a:p>
                      <a:r>
                        <a:rPr lang="en-US" sz="1400"/>
                        <a:t>Self-Service Actions</a:t>
                      </a:r>
                    </a:p>
                  </a:txBody>
                  <a:tcPr marL="42698" marR="42698" marT="21349" marB="21349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 “</a:t>
                      </a:r>
                      <a:r>
                        <a:rPr lang="en-US" sz="1400" dirty="0" err="1"/>
                        <a:t>Scaffolder</a:t>
                      </a:r>
                      <a:r>
                        <a:rPr lang="en-US" sz="1400" dirty="0"/>
                        <a:t>” to let </a:t>
                      </a:r>
                      <a:r>
                        <a:rPr lang="en-US" sz="1400" dirty="0" err="1"/>
                        <a:t>devs</a:t>
                      </a:r>
                      <a:r>
                        <a:rPr lang="en-US" sz="1400" dirty="0"/>
                        <a:t> spin up new services, run scripts, provision infra via templates</a:t>
                      </a:r>
                    </a:p>
                  </a:txBody>
                  <a:tcPr marL="42698" marR="42698" marT="21349" marB="21349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r>
              <a:rPr lang="en-US" dirty="0" err="1" smtClean="0"/>
              <a:t>Plugins</a:t>
            </a:r>
            <a:r>
              <a:rPr lang="en-US" dirty="0" smtClean="0"/>
              <a:t> You Can Use in Backstage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1950720"/>
          <a:ext cx="7543800" cy="399288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3771900"/>
                <a:gridCol w="37719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dirty="0" err="1"/>
                        <a:t>Plugin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Purpose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TechDocs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Render Markdown documentation inside Backstage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 err="1"/>
                        <a:t>GitHub</a:t>
                      </a:r>
                      <a:r>
                        <a:rPr lang="en-US" sz="2000" dirty="0"/>
                        <a:t>/</a:t>
                      </a:r>
                      <a:r>
                        <a:rPr lang="en-US" sz="2000" dirty="0" err="1"/>
                        <a:t>GitLab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Sync source control metadata and pull requests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 err="1"/>
                        <a:t>ArgoCD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Plugin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See deployment status from ArgoCD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Kubernetes Plugin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Visualize pod and cluster status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Jenkins Plugin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Track CI builds and job status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Entity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Let </a:t>
                      </a:r>
                      <a:r>
                        <a:rPr lang="en-US" sz="2000" dirty="0" err="1"/>
                        <a:t>devs</a:t>
                      </a:r>
                      <a:r>
                        <a:rPr lang="en-US" sz="2000" dirty="0"/>
                        <a:t> rate or give feedback on services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Who Uses Backstage (and How)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914400" y="1905000"/>
          <a:ext cx="7391400" cy="414528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3695700"/>
                <a:gridCol w="36957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2200" dirty="0"/>
                        <a:t>Company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Use Case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200"/>
                        <a:t>Spotify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Internal service catalog, documentation, and templates for engineers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200" dirty="0"/>
                        <a:t>Netflix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Internal tooling visibility and standardization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200"/>
                        <a:t>American Airlines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Scaffolding apps, cataloging microservices, and improving onboarding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200"/>
                        <a:t>Rivian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Dev productivity portal across teams and infra layers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It’s </a:t>
            </a:r>
            <a:r>
              <a:rPr lang="en-US" i="1" dirty="0" smtClean="0"/>
              <a:t>Not</a:t>
            </a:r>
            <a:r>
              <a:rPr lang="en-US" dirty="0" smtClean="0"/>
              <a:t> Meant For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2133600"/>
          <a:ext cx="7620000" cy="3383280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2200"/>
                        <a:t>Not Meant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Why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200"/>
                        <a:t>Frontend or mobile apps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It's not a UI framework like React Native or Flutter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200"/>
                        <a:t>Core business applications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Not meant to build CRMs, ERPs, or user-facing web apps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200"/>
                        <a:t>Event-driven microservices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It doesn't replace Kafka/</a:t>
                      </a:r>
                      <a:r>
                        <a:rPr lang="en-US" sz="2200" dirty="0" err="1"/>
                        <a:t>EventStore</a:t>
                      </a:r>
                      <a:r>
                        <a:rPr lang="en-US" sz="2200" dirty="0"/>
                        <a:t> — but it can observe or configure those systems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Backstage vs. </a:t>
            </a:r>
            <a:r>
              <a:rPr lang="en-US" dirty="0" err="1" smtClean="0"/>
              <a:t>Salesforce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You </a:t>
            </a:r>
            <a:r>
              <a:rPr lang="en-US" sz="2400" b="1" dirty="0" smtClean="0"/>
              <a:t>cannot</a:t>
            </a:r>
            <a:r>
              <a:rPr lang="en-US" sz="2400" dirty="0" smtClean="0"/>
              <a:t> build business applications (like e-commerce or payroll systems) with it directly.</a:t>
            </a:r>
          </a:p>
          <a:p>
            <a:r>
              <a:rPr lang="en-US" sz="2400" dirty="0" smtClean="0"/>
              <a:t>Instead, use Backstage as the </a:t>
            </a:r>
            <a:r>
              <a:rPr lang="en-US" sz="2400" b="1" dirty="0" smtClean="0"/>
              <a:t>foundation for your </a:t>
            </a:r>
            <a:r>
              <a:rPr lang="en-US" sz="2400" b="1" dirty="0" err="1" smtClean="0"/>
              <a:t>DevOps</a:t>
            </a:r>
            <a:r>
              <a:rPr lang="en-US" sz="2400" b="1" dirty="0" smtClean="0"/>
              <a:t> experience layer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Backstage is not for building CRMs — it’s for helping your engineers build and operate CRMs (and every other service you run) </a:t>
            </a:r>
            <a:r>
              <a:rPr lang="en-US" sz="2400" i="1" dirty="0" smtClean="0"/>
              <a:t>faster, better, and more consistently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Backstage vs. Configuration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Backstage focuses on </a:t>
            </a:r>
            <a:r>
              <a:rPr lang="en-US" sz="2600" b="1" dirty="0" smtClean="0"/>
              <a:t>developer workflows</a:t>
            </a:r>
            <a:r>
              <a:rPr lang="en-US" sz="2600" dirty="0" smtClean="0"/>
              <a:t>, not low-level configuration. It helps you:</a:t>
            </a:r>
          </a:p>
          <a:p>
            <a:pPr lvl="1"/>
            <a:r>
              <a:rPr lang="en-US" sz="2200" dirty="0" smtClean="0"/>
              <a:t>Catalog and document </a:t>
            </a:r>
            <a:r>
              <a:rPr lang="en-US" sz="2200" b="1" dirty="0" smtClean="0"/>
              <a:t>what exists</a:t>
            </a:r>
            <a:r>
              <a:rPr lang="en-US" sz="2200" dirty="0" smtClean="0"/>
              <a:t> (services, APIs, systems)</a:t>
            </a:r>
          </a:p>
          <a:p>
            <a:pPr lvl="1"/>
            <a:r>
              <a:rPr lang="en-US" sz="2200" dirty="0" smtClean="0"/>
              <a:t>Provide </a:t>
            </a:r>
            <a:r>
              <a:rPr lang="en-US" sz="2200" b="1" dirty="0" smtClean="0"/>
              <a:t>self-service tooling</a:t>
            </a:r>
            <a:r>
              <a:rPr lang="en-US" sz="2200" dirty="0" smtClean="0"/>
              <a:t> for </a:t>
            </a:r>
            <a:r>
              <a:rPr lang="en-US" sz="2200" dirty="0" err="1" smtClean="0"/>
              <a:t>devs</a:t>
            </a:r>
            <a:r>
              <a:rPr lang="en-US" sz="2200" dirty="0" smtClean="0"/>
              <a:t> (e.g., spin up a new service)</a:t>
            </a:r>
          </a:p>
          <a:p>
            <a:pPr lvl="1"/>
            <a:r>
              <a:rPr lang="en-US" sz="2200" b="1" dirty="0" smtClean="0"/>
              <a:t>Visualize</a:t>
            </a:r>
            <a:r>
              <a:rPr lang="en-US" sz="2200" dirty="0" smtClean="0"/>
              <a:t> infrastructure, deployments, pipelines, ownership</a:t>
            </a:r>
          </a:p>
          <a:p>
            <a:pPr lvl="1"/>
            <a:r>
              <a:rPr lang="en-US" sz="2200" dirty="0" smtClean="0"/>
              <a:t>Integrate </a:t>
            </a:r>
            <a:r>
              <a:rPr lang="en-US" sz="2200" dirty="0" err="1" smtClean="0"/>
              <a:t>config</a:t>
            </a:r>
            <a:r>
              <a:rPr lang="en-US" sz="2200" dirty="0" smtClean="0"/>
              <a:t> management tools behind the scenes via </a:t>
            </a:r>
            <a:r>
              <a:rPr lang="en-US" sz="2200" dirty="0" err="1" smtClean="0"/>
              <a:t>plugins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20397</TotalTime>
  <Words>563</Words>
  <Application>Microsoft Office PowerPoint</Application>
  <PresentationFormat>On-screen Show (4:3)</PresentationFormat>
  <Paragraphs>83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Backstage</vt:lpstr>
      <vt:lpstr>Objectives</vt:lpstr>
      <vt:lpstr>Contents</vt:lpstr>
      <vt:lpstr>References</vt:lpstr>
      <vt:lpstr>What is Backstage?</vt:lpstr>
      <vt:lpstr>Types of Systems You Can Build with Backstage</vt:lpstr>
      <vt:lpstr>Example Plugins You Can Use in Backstage</vt:lpstr>
      <vt:lpstr>Who Uses Backstage (and How)</vt:lpstr>
      <vt:lpstr>What It’s Not Meant For</vt:lpstr>
      <vt:lpstr>Backstage vs. Salesforce</vt:lpstr>
      <vt:lpstr>Backstage vs. Configuration Tools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4707</cp:revision>
  <dcterms:created xsi:type="dcterms:W3CDTF">2007-10-06T08:25:13Z</dcterms:created>
  <dcterms:modified xsi:type="dcterms:W3CDTF">2025-04-17T20:37:24Z</dcterms:modified>
</cp:coreProperties>
</file>