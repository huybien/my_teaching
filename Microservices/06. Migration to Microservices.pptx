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8"/>
  </p:notesMasterIdLst>
  <p:sldIdLst>
    <p:sldId id="658" r:id="rId2"/>
    <p:sldId id="646" r:id="rId3"/>
    <p:sldId id="647" r:id="rId4"/>
    <p:sldId id="517" r:id="rId5"/>
    <p:sldId id="668" r:id="rId6"/>
    <p:sldId id="677" r:id="rId7"/>
    <p:sldId id="678" r:id="rId8"/>
    <p:sldId id="670" r:id="rId9"/>
    <p:sldId id="673" r:id="rId10"/>
    <p:sldId id="674" r:id="rId11"/>
    <p:sldId id="671" r:id="rId12"/>
    <p:sldId id="672" r:id="rId13"/>
    <p:sldId id="676" r:id="rId14"/>
    <p:sldId id="675" r:id="rId15"/>
    <p:sldId id="679" r:id="rId16"/>
    <p:sldId id="680" r:id="rId17"/>
    <p:sldId id="681" r:id="rId18"/>
    <p:sldId id="682" r:id="rId19"/>
    <p:sldId id="683" r:id="rId20"/>
    <p:sldId id="669" r:id="rId21"/>
    <p:sldId id="661" r:id="rId22"/>
    <p:sldId id="662" r:id="rId23"/>
    <p:sldId id="663" r:id="rId24"/>
    <p:sldId id="664" r:id="rId25"/>
    <p:sldId id="567" r:id="rId26"/>
    <p:sldId id="666" r:id="rId27"/>
    <p:sldId id="665" r:id="rId28"/>
    <p:sldId id="578" r:id="rId29"/>
    <p:sldId id="568" r:id="rId30"/>
    <p:sldId id="571" r:id="rId31"/>
    <p:sldId id="572" r:id="rId32"/>
    <p:sldId id="573" r:id="rId33"/>
    <p:sldId id="574" r:id="rId34"/>
    <p:sldId id="575" r:id="rId35"/>
    <p:sldId id="684" r:id="rId36"/>
    <p:sldId id="516" r:id="rId3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34" autoAdjust="0"/>
    <p:restoredTop sz="86318" autoAdjust="0"/>
  </p:normalViewPr>
  <p:slideViewPr>
    <p:cSldViewPr>
      <p:cViewPr>
        <p:scale>
          <a:sx n="50" d="100"/>
          <a:sy n="50" d="100"/>
        </p:scale>
        <p:origin x="-1534" y="-26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7/22/2022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70CC96-DB61-4850-AF79-05CA5E4B3D0A}"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7/22/2022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7/22/2022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7/22/2022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7/22/2022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7/22/2022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7/22/2022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7/22/2022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7/22/2022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7/22/2022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7/22/2022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7/22/2022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7/22/2022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tomasherceg.com/blog/post/modernizing-asp-net-web-forms-applications-part-2" TargetMode="External"/><Relationship Id="rId2" Type="http://schemas.openxmlformats.org/officeDocument/2006/relationships/hyperlink" Target="https://aws.amazon.com/porting-assistant-dotnet/" TargetMode="External"/><Relationship Id="rId1" Type="http://schemas.openxmlformats.org/officeDocument/2006/relationships/slideLayout" Target="../slideLayouts/slideLayout2.xml"/><Relationship Id="rId4" Type="http://schemas.openxmlformats.org/officeDocument/2006/relationships/hyperlink" Target="https://www.dotvvm.com/modernize"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5400" dirty="0" smtClean="0"/>
              <a:t>Migration to </a:t>
            </a:r>
            <a:r>
              <a:rPr lang="en-US" sz="5400" dirty="0" err="1" smtClean="0"/>
              <a:t>Microservices</a:t>
            </a:r>
            <a:endParaRPr lang="en-US" sz="54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19599"/>
          </a:xfrm>
        </p:spPr>
        <p:txBody>
          <a:bodyPr/>
          <a:lstStyle/>
          <a:p>
            <a:pPr>
              <a:buFont typeface="Wingdings" pitchFamily="2" charset="2"/>
              <a:buChar char="Ø"/>
            </a:pPr>
            <a:r>
              <a:rPr lang="en-US" sz="2400" dirty="0" smtClean="0"/>
              <a:t>To </a:t>
            </a:r>
            <a:r>
              <a:rPr lang="en-US" sz="2400" i="1" dirty="0" smtClean="0">
                <a:solidFill>
                  <a:srgbClr val="C00000"/>
                </a:solidFill>
              </a:rPr>
              <a:t>migrate</a:t>
            </a:r>
            <a:r>
              <a:rPr lang="en-US" sz="2400" dirty="0" smtClean="0"/>
              <a:t> a monolith to </a:t>
            </a:r>
            <a:r>
              <a:rPr lang="en-US" sz="2400" dirty="0" err="1" smtClean="0"/>
              <a:t>microservices</a:t>
            </a:r>
            <a:r>
              <a:rPr lang="en-US" sz="2400" dirty="0" smtClean="0"/>
              <a:t>.</a:t>
            </a:r>
          </a:p>
        </p:txBody>
      </p:sp>
      <p:pic>
        <p:nvPicPr>
          <p:cNvPr id="5"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5626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752600"/>
            <a:ext cx="5867400" cy="4495800"/>
          </a:xfrm>
        </p:spPr>
        <p:txBody>
          <a:bodyPr/>
          <a:lstStyle/>
          <a:p>
            <a:pPr marL="457200" indent="-457200">
              <a:buFont typeface="+mj-lt"/>
              <a:buAutoNum type="arabicPeriod"/>
            </a:pPr>
            <a:r>
              <a:rPr lang="en-US" sz="2200" dirty="0" err="1" smtClean="0"/>
              <a:t>Miika</a:t>
            </a:r>
            <a:r>
              <a:rPr lang="en-US" sz="2200" dirty="0" smtClean="0"/>
              <a:t> </a:t>
            </a:r>
            <a:r>
              <a:rPr lang="en-US" sz="2200" dirty="0" err="1" smtClean="0"/>
              <a:t>Kalske</a:t>
            </a:r>
            <a:r>
              <a:rPr lang="en-US" sz="2200" dirty="0" smtClean="0"/>
              <a:t> et al. (2018). Challenges When Moving from Monolith to </a:t>
            </a:r>
            <a:r>
              <a:rPr lang="en-US" sz="2200" dirty="0" err="1" smtClean="0"/>
              <a:t>Microservice</a:t>
            </a:r>
            <a:r>
              <a:rPr lang="en-US" sz="2200" dirty="0" smtClean="0"/>
              <a:t> Architecture.</a:t>
            </a:r>
          </a:p>
          <a:p>
            <a:pPr marL="457200" indent="-457200">
              <a:buFont typeface="+mj-lt"/>
              <a:buAutoNum type="arabicPeriod"/>
            </a:pPr>
            <a:r>
              <a:rPr lang="en-US" sz="2200" dirty="0" smtClean="0"/>
              <a:t>Sam Newman (2019). Monolith to </a:t>
            </a:r>
            <a:r>
              <a:rPr lang="en-US" sz="2200" dirty="0" err="1" smtClean="0"/>
              <a:t>Microservices</a:t>
            </a:r>
            <a:r>
              <a:rPr lang="en-US" sz="2200" dirty="0" smtClean="0"/>
              <a:t> - Evolutionary Patterns to Transform Your Monolith. O'Reilly Media.</a:t>
            </a:r>
          </a:p>
        </p:txBody>
      </p:sp>
      <p:pic>
        <p:nvPicPr>
          <p:cNvPr id="4" name="Picture 4" descr="http://2.bp.blogspot.com/-FqRM_5NQE6Q/TaSdzyWfvtI/AAAAAAAAAFg/C_2LDJWJOx4/s1600/books-pile.jpg"/>
          <p:cNvPicPr>
            <a:picLocks noChangeAspect="1" noChangeArrowheads="1"/>
          </p:cNvPicPr>
          <p:nvPr/>
        </p:nvPicPr>
        <p:blipFill>
          <a:blip r:embed="rId3" cstate="print"/>
          <a:srcRect/>
          <a:stretch>
            <a:fillRect/>
          </a:stretch>
        </p:blipFill>
        <p:spPr bwMode="auto">
          <a:xfrm>
            <a:off x="61912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(Ngo's Opinion) (I)</a:t>
            </a:r>
            <a:endParaRPr lang="en-US" dirty="0"/>
          </a:p>
        </p:txBody>
      </p:sp>
      <p:sp>
        <p:nvSpPr>
          <p:cNvPr id="3" name="Content Placeholder 2"/>
          <p:cNvSpPr>
            <a:spLocks noGrp="1"/>
          </p:cNvSpPr>
          <p:nvPr>
            <p:ph idx="1"/>
          </p:nvPr>
        </p:nvSpPr>
        <p:spPr/>
        <p:txBody>
          <a:bodyPr/>
          <a:lstStyle/>
          <a:p>
            <a:r>
              <a:rPr lang="en-US" sz="2200" b="1" dirty="0" smtClean="0"/>
              <a:t>Reason 1</a:t>
            </a:r>
            <a:r>
              <a:rPr lang="en-US" sz="2200" dirty="0" smtClean="0"/>
              <a:t>: You want to have several </a:t>
            </a:r>
            <a:r>
              <a:rPr lang="en-US" sz="2200" b="1" dirty="0" smtClean="0"/>
              <a:t>independent development teams</a:t>
            </a:r>
            <a:r>
              <a:rPr lang="en-US" sz="2200" dirty="0" smtClean="0"/>
              <a:t>.</a:t>
            </a:r>
          </a:p>
          <a:p>
            <a:r>
              <a:rPr lang="en-US" sz="2200" b="1" dirty="0" smtClean="0"/>
              <a:t>Reason 2</a:t>
            </a:r>
            <a:r>
              <a:rPr lang="en-US" sz="2200" dirty="0" smtClean="0"/>
              <a:t>: You want or your client wants to have </a:t>
            </a:r>
            <a:r>
              <a:rPr lang="en-US" sz="2200" b="1" dirty="0" smtClean="0"/>
              <a:t>a faster and modern UI (i.e. SPA)</a:t>
            </a:r>
            <a:r>
              <a:rPr lang="en-US" sz="2200" dirty="0" smtClean="0"/>
              <a:t> that is totally decoupled from the other parts of the system while the </a:t>
            </a:r>
            <a:r>
              <a:rPr lang="en-US" sz="2200" b="1" dirty="0" smtClean="0"/>
              <a:t>old technologies</a:t>
            </a:r>
            <a:r>
              <a:rPr lang="en-US" sz="2200" dirty="0" smtClean="0"/>
              <a:t> (like ASP.NET Web Forms or </a:t>
            </a:r>
            <a:r>
              <a:rPr lang="en-US" sz="2200" dirty="0" err="1" smtClean="0"/>
              <a:t>WordPress</a:t>
            </a:r>
            <a:r>
              <a:rPr lang="en-US" sz="2200" dirty="0" smtClean="0"/>
              <a:t>) cannot provide it</a:t>
            </a:r>
            <a:r>
              <a:rPr lang="en-US" sz="2200" dirty="0" smtClean="0"/>
              <a:t>.</a:t>
            </a:r>
          </a:p>
          <a:p>
            <a:r>
              <a:rPr lang="en-US" sz="2200" b="1" dirty="0" smtClean="0"/>
              <a:t>Reason 3</a:t>
            </a:r>
            <a:r>
              <a:rPr lang="en-US" sz="2200" dirty="0" smtClean="0"/>
              <a:t>: You do or your client does have </a:t>
            </a:r>
            <a:r>
              <a:rPr lang="en-US" sz="2200" b="1" dirty="0" smtClean="0"/>
              <a:t>performance or scalability issue</a:t>
            </a:r>
            <a:r>
              <a:rPr lang="en-US" sz="2200" dirty="0" smtClean="0"/>
              <a:t> with the legacy system.</a:t>
            </a:r>
            <a:endParaRPr lang="en-US" sz="2200" dirty="0" smtClean="0"/>
          </a:p>
        </p:txBody>
      </p:sp>
      <p:pic>
        <p:nvPicPr>
          <p:cNvPr id="4" name="Picture 4" descr="https://miro.medium.com/max/4000/0*eO07yV9XbK95zYKj.jpg"/>
          <p:cNvPicPr>
            <a:picLocks noChangeAspect="1" noChangeArrowheads="1"/>
          </p:cNvPicPr>
          <p:nvPr/>
        </p:nvPicPr>
        <p:blipFill>
          <a:blip r:embed="rId2" cstate="print"/>
          <a:srcRect/>
          <a:stretch>
            <a:fillRect/>
          </a:stretch>
        </p:blipFill>
        <p:spPr bwMode="auto">
          <a:xfrm>
            <a:off x="3581400" y="4800600"/>
            <a:ext cx="1840230" cy="1376796"/>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(Ngo's Opinion) (II)</a:t>
            </a:r>
            <a:endParaRPr lang="en-US" dirty="0"/>
          </a:p>
        </p:txBody>
      </p:sp>
      <p:sp>
        <p:nvSpPr>
          <p:cNvPr id="3" name="Content Placeholder 2"/>
          <p:cNvSpPr>
            <a:spLocks noGrp="1"/>
          </p:cNvSpPr>
          <p:nvPr>
            <p:ph idx="1"/>
          </p:nvPr>
        </p:nvSpPr>
        <p:spPr/>
        <p:txBody>
          <a:bodyPr/>
          <a:lstStyle/>
          <a:p>
            <a:r>
              <a:rPr lang="en-US" sz="2200" b="1" dirty="0" smtClean="0"/>
              <a:t>Reason 4</a:t>
            </a:r>
            <a:r>
              <a:rPr lang="en-US" sz="2200" dirty="0" smtClean="0"/>
              <a:t>: You find that is too difficult to add a new feature to the legacy system because it is </a:t>
            </a:r>
            <a:r>
              <a:rPr lang="en-US" sz="2200" b="1" dirty="0" smtClean="0"/>
              <a:t>too complicated</a:t>
            </a:r>
            <a:r>
              <a:rPr lang="en-US" sz="2200" dirty="0" smtClean="0"/>
              <a:t>.</a:t>
            </a:r>
          </a:p>
          <a:p>
            <a:r>
              <a:rPr lang="en-US" sz="2200" b="1" dirty="0" smtClean="0"/>
              <a:t>Reason 5</a:t>
            </a:r>
            <a:r>
              <a:rPr lang="en-US" sz="2200" dirty="0" smtClean="0"/>
              <a:t>: You want or your client wants that some parts of your system (e.g. user store and authentication) can be </a:t>
            </a:r>
            <a:r>
              <a:rPr lang="en-US" sz="2200" b="1" dirty="0" smtClean="0"/>
              <a:t>shared among or reused by multiple different systems</a:t>
            </a:r>
            <a:r>
              <a:rPr lang="en-US" sz="2200" dirty="0" smtClean="0"/>
              <a:t>.</a:t>
            </a:r>
          </a:p>
          <a:p>
            <a:r>
              <a:rPr lang="en-US" sz="2200" b="1" dirty="0" smtClean="0"/>
              <a:t>Reason 6</a:t>
            </a:r>
            <a:r>
              <a:rPr lang="en-US" sz="2200" dirty="0" smtClean="0"/>
              <a:t>: You want or your client wants your system to be able to </a:t>
            </a:r>
            <a:r>
              <a:rPr lang="en-US" sz="2200" b="1" dirty="0" smtClean="0"/>
              <a:t>scale out easily </a:t>
            </a:r>
            <a:r>
              <a:rPr lang="en-US" sz="2200" b="1" i="1" dirty="0" smtClean="0"/>
              <a:t>later</a:t>
            </a:r>
            <a:r>
              <a:rPr lang="en-US" sz="2200" dirty="0" smtClean="0"/>
              <a:t>.</a:t>
            </a:r>
          </a:p>
          <a:p>
            <a:r>
              <a:rPr lang="en-US" sz="2200" b="1" dirty="0" smtClean="0"/>
              <a:t>Reason 7</a:t>
            </a:r>
            <a:r>
              <a:rPr lang="en-US" sz="2200" dirty="0" smtClean="0"/>
              <a:t>: You want or your client wants that a part of your system can </a:t>
            </a:r>
            <a:r>
              <a:rPr lang="en-US" sz="2200" b="1" dirty="0" smtClean="0"/>
              <a:t>be revised or extended or replaced easily </a:t>
            </a:r>
            <a:r>
              <a:rPr lang="en-US" sz="2200" b="1" i="1" dirty="0" smtClean="0"/>
              <a:t>later</a:t>
            </a:r>
            <a:r>
              <a:rPr lang="en-US" sz="2200" dirty="0" smtClean="0"/>
              <a:t>.</a:t>
            </a:r>
            <a:endParaRPr lang="en-US" sz="2200" dirty="0"/>
          </a:p>
        </p:txBody>
      </p:sp>
      <p:pic>
        <p:nvPicPr>
          <p:cNvPr id="4" name="Picture 4" descr="https://miro.medium.com/max/4000/0*eO07yV9XbK95zYKj.jpg"/>
          <p:cNvPicPr>
            <a:picLocks noChangeAspect="1" noChangeArrowheads="1"/>
          </p:cNvPicPr>
          <p:nvPr/>
        </p:nvPicPr>
        <p:blipFill>
          <a:blip r:embed="rId2" cstate="print"/>
          <a:srcRect/>
          <a:stretch>
            <a:fillRect/>
          </a:stretch>
        </p:blipFill>
        <p:spPr bwMode="auto">
          <a:xfrm>
            <a:off x="3581400" y="5105400"/>
            <a:ext cx="1840230" cy="1376796"/>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lstStyle/>
          <a:p>
            <a:r>
              <a:rPr lang="en-US" sz="2400" dirty="0" smtClean="0"/>
              <a:t>Armin </a:t>
            </a:r>
            <a:r>
              <a:rPr lang="en-US" sz="2400" dirty="0" err="1" smtClean="0"/>
              <a:t>Balalaie</a:t>
            </a:r>
            <a:r>
              <a:rPr lang="en-US" sz="2400" dirty="0" smtClean="0"/>
              <a:t> et al. (2015). Migrating to Cloud-Native Architectures Using </a:t>
            </a:r>
            <a:r>
              <a:rPr lang="en-US" sz="2400" dirty="0" err="1" smtClean="0"/>
              <a:t>Microservices</a:t>
            </a:r>
            <a:r>
              <a:rPr lang="en-US" sz="2400" dirty="0" smtClean="0"/>
              <a:t>: An Experience Report.</a:t>
            </a:r>
          </a:p>
          <a:p>
            <a:r>
              <a:rPr lang="en-US" sz="2400" dirty="0" smtClean="0"/>
              <a:t>Jean-Philippe </a:t>
            </a:r>
            <a:r>
              <a:rPr lang="en-US" sz="2400" dirty="0" err="1" smtClean="0"/>
              <a:t>Gouigoux</a:t>
            </a:r>
            <a:r>
              <a:rPr lang="en-US" sz="2400" dirty="0" smtClean="0"/>
              <a:t> and </a:t>
            </a:r>
            <a:r>
              <a:rPr lang="en-US" sz="2400" dirty="0" err="1" smtClean="0"/>
              <a:t>Dalila</a:t>
            </a:r>
            <a:r>
              <a:rPr lang="en-US" sz="2400" dirty="0" smtClean="0"/>
              <a:t> </a:t>
            </a:r>
            <a:r>
              <a:rPr lang="en-US" sz="2400" dirty="0" err="1" smtClean="0"/>
              <a:t>Tamzalit</a:t>
            </a:r>
            <a:r>
              <a:rPr lang="en-US" sz="2400" dirty="0" smtClean="0"/>
              <a:t> (2017). From Monolith to </a:t>
            </a:r>
            <a:r>
              <a:rPr lang="en-US" sz="2400" dirty="0" err="1" smtClean="0"/>
              <a:t>Microservices</a:t>
            </a:r>
            <a:r>
              <a:rPr lang="en-US" sz="2400" dirty="0" smtClean="0"/>
              <a:t> - Lessons Learned on an Industrial Migration to a Web Oriented Architecture.</a:t>
            </a:r>
          </a:p>
          <a:p>
            <a:r>
              <a:rPr lang="en-US" sz="2400" dirty="0" smtClean="0"/>
              <a:t>Antonio </a:t>
            </a:r>
            <a:r>
              <a:rPr lang="en-US" sz="2400" dirty="0" err="1" smtClean="0"/>
              <a:t>Bucchiarone</a:t>
            </a:r>
            <a:r>
              <a:rPr lang="en-US" sz="2400" dirty="0" smtClean="0"/>
              <a:t> et al. (2018). From Monolithic to </a:t>
            </a:r>
            <a:r>
              <a:rPr lang="en-US" sz="2400" dirty="0" err="1" smtClean="0"/>
              <a:t>Microservices</a:t>
            </a:r>
            <a:r>
              <a:rPr lang="en-US" sz="2400" dirty="0" smtClean="0"/>
              <a:t>: An Experience Report from the Banking Domain. IEEE Software.</a:t>
            </a:r>
          </a:p>
          <a:p>
            <a:r>
              <a:rPr lang="en-US" sz="2400" dirty="0" err="1" smtClean="0"/>
              <a:t>Nabor</a:t>
            </a:r>
            <a:r>
              <a:rPr lang="en-US" sz="2400" dirty="0" smtClean="0"/>
              <a:t> C. </a:t>
            </a:r>
            <a:r>
              <a:rPr lang="en-US" sz="2400" dirty="0" err="1" smtClean="0"/>
              <a:t>Mendonca</a:t>
            </a:r>
            <a:r>
              <a:rPr lang="en-US" sz="2400" dirty="0" smtClean="0"/>
              <a:t> et al. (2021). The Monolith Strikes Back: Why </a:t>
            </a:r>
            <a:r>
              <a:rPr lang="en-US" sz="2400" dirty="0" err="1" smtClean="0"/>
              <a:t>Istio</a:t>
            </a:r>
            <a:r>
              <a:rPr lang="en-US" sz="2400" dirty="0" smtClean="0"/>
              <a:t> Migrated From </a:t>
            </a:r>
            <a:r>
              <a:rPr lang="en-US" sz="2400" dirty="0" err="1" smtClean="0"/>
              <a:t>Microservices</a:t>
            </a:r>
            <a:r>
              <a:rPr lang="en-US" sz="2400" dirty="0" smtClean="0"/>
              <a:t> to a Monolithic Architecture. IEEE Software.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smtClean="0">
                <a:hlinkClick r:id="rId2"/>
              </a:rPr>
              <a:t>https://aws.amazon.com/porting-assistant-dotnet/</a:t>
            </a:r>
            <a:endParaRPr lang="en-US" sz="2400" dirty="0" smtClean="0"/>
          </a:p>
          <a:p>
            <a:r>
              <a:rPr lang="en-US" sz="2400" dirty="0" smtClean="0">
                <a:hlinkClick r:id="rId3"/>
              </a:rPr>
              <a:t>https://tomasherceg.com/blog/post/modernizing-asp-net-web-forms-applications-part-2</a:t>
            </a:r>
            <a:endParaRPr lang="en-US" sz="2400" dirty="0" smtClean="0"/>
          </a:p>
          <a:p>
            <a:r>
              <a:rPr lang="en-US" sz="2400" dirty="0" smtClean="0">
                <a:hlinkClick r:id="rId4"/>
              </a:rPr>
              <a:t>https://www.dotvvm.com/modernize</a:t>
            </a:r>
            <a:endParaRPr lang="en-US" sz="2400" dirty="0" smtClean="0"/>
          </a:p>
          <a:p>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 a New Feature (I)</a:t>
            </a:r>
            <a:endParaRPr lang="en-US" dirty="0"/>
          </a:p>
        </p:txBody>
      </p:sp>
      <p:sp>
        <p:nvSpPr>
          <p:cNvPr id="3" name="Content Placeholder 2"/>
          <p:cNvSpPr>
            <a:spLocks noGrp="1"/>
          </p:cNvSpPr>
          <p:nvPr>
            <p:ph idx="1"/>
          </p:nvPr>
        </p:nvSpPr>
        <p:spPr/>
        <p:txBody>
          <a:bodyPr/>
          <a:lstStyle/>
          <a:p>
            <a:r>
              <a:rPr lang="en-US" sz="2400" dirty="0" smtClean="0"/>
              <a:t>When implementing new functionalities, they should not be appended to monolith even though it might be faster.</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 a New Feature (II)</a:t>
            </a:r>
            <a:endParaRPr lang="en-US" dirty="0"/>
          </a:p>
        </p:txBody>
      </p:sp>
      <p:sp>
        <p:nvSpPr>
          <p:cNvPr id="3" name="Content Placeholder 2"/>
          <p:cNvSpPr>
            <a:spLocks noGrp="1"/>
          </p:cNvSpPr>
          <p:nvPr>
            <p:ph idx="1"/>
          </p:nvPr>
        </p:nvSpPr>
        <p:spPr/>
        <p:txBody>
          <a:bodyPr/>
          <a:lstStyle/>
          <a:p>
            <a:r>
              <a:rPr lang="en-US" sz="2400" dirty="0" smtClean="0"/>
              <a:t>Implement a </a:t>
            </a:r>
            <a:r>
              <a:rPr lang="en-US" sz="2400" i="1" dirty="0" smtClean="0">
                <a:solidFill>
                  <a:srgbClr val="C00000"/>
                </a:solidFill>
              </a:rPr>
              <a:t>new feature</a:t>
            </a:r>
            <a:r>
              <a:rPr lang="en-US" sz="2400" dirty="0" smtClean="0"/>
              <a:t> as an </a:t>
            </a:r>
            <a:r>
              <a:rPr lang="en-US" sz="2400" u="sng" dirty="0" smtClean="0"/>
              <a:t>independent module</a:t>
            </a:r>
            <a:r>
              <a:rPr lang="en-US" sz="2400" dirty="0" smtClean="0"/>
              <a:t>.</a:t>
            </a:r>
          </a:p>
          <a:p>
            <a:pPr>
              <a:buNone/>
            </a:pPr>
            <a:r>
              <a:rPr lang="en-US" sz="2400" dirty="0" smtClean="0"/>
              <a:t>	.NET example:</a:t>
            </a:r>
          </a:p>
          <a:p>
            <a:pPr lvl="1"/>
            <a:r>
              <a:rPr lang="en-US" sz="1800" dirty="0" smtClean="0"/>
              <a:t>Create a new </a:t>
            </a:r>
            <a:r>
              <a:rPr lang="en-US" sz="1800" i="1" dirty="0" smtClean="0">
                <a:solidFill>
                  <a:srgbClr val="C00000"/>
                </a:solidFill>
              </a:rPr>
              <a:t>folder</a:t>
            </a:r>
            <a:r>
              <a:rPr lang="en-US" sz="1800" dirty="0" smtClean="0"/>
              <a:t> in framework codebase for the feature.</a:t>
            </a:r>
          </a:p>
          <a:p>
            <a:pPr lvl="1"/>
            <a:r>
              <a:rPr lang="en-US" sz="1800" dirty="0" smtClean="0"/>
              <a:t>Create a new folder in module codebase for the feature.</a:t>
            </a:r>
          </a:p>
          <a:p>
            <a:pPr lvl="1"/>
            <a:r>
              <a:rPr lang="en-US" sz="1800" dirty="0" smtClean="0"/>
              <a:t>Create new </a:t>
            </a:r>
            <a:r>
              <a:rPr lang="en-US" sz="1800" i="1" dirty="0" smtClean="0">
                <a:solidFill>
                  <a:srgbClr val="C00000"/>
                </a:solidFill>
              </a:rPr>
              <a:t>namespaces</a:t>
            </a:r>
            <a:r>
              <a:rPr lang="en-US" sz="1800" dirty="0" smtClean="0"/>
              <a:t> for the feature.</a:t>
            </a:r>
          </a:p>
          <a:p>
            <a:r>
              <a:rPr lang="en-US" sz="2400" dirty="0" smtClean="0"/>
              <a:t>Create </a:t>
            </a:r>
            <a:r>
              <a:rPr lang="en-US" sz="2400" i="1" dirty="0" smtClean="0">
                <a:solidFill>
                  <a:srgbClr val="C00000"/>
                </a:solidFill>
              </a:rPr>
              <a:t>new database schema</a:t>
            </a:r>
            <a:r>
              <a:rPr lang="en-US" sz="2400" dirty="0" smtClean="0"/>
              <a:t> for the new feature.</a:t>
            </a:r>
          </a:p>
          <a:p>
            <a:pPr>
              <a:buNone/>
            </a:pPr>
            <a:r>
              <a:rPr lang="en-US" sz="2400" dirty="0" smtClean="0"/>
              <a:t>	SQL server example:</a:t>
            </a:r>
          </a:p>
          <a:p>
            <a:pPr lvl="1"/>
            <a:r>
              <a:rPr lang="en-US" sz="1800" dirty="0" smtClean="0"/>
              <a:t>New fields and stored procedures may be created in the </a:t>
            </a:r>
            <a:r>
              <a:rPr lang="en-US" sz="1800" i="1" dirty="0" smtClean="0">
                <a:solidFill>
                  <a:srgbClr val="C00000"/>
                </a:solidFill>
              </a:rPr>
              <a:t>existing</a:t>
            </a:r>
            <a:r>
              <a:rPr lang="en-US" sz="1800" dirty="0" smtClean="0"/>
              <a:t> database schema first.</a:t>
            </a:r>
          </a:p>
          <a:p>
            <a:pPr lvl="1"/>
            <a:r>
              <a:rPr lang="en-US" sz="1800" dirty="0" smtClean="0"/>
              <a:t>Move the new fields and stored procedures to </a:t>
            </a:r>
            <a:r>
              <a:rPr lang="en-US" sz="1800" i="1" dirty="0" smtClean="0">
                <a:solidFill>
                  <a:srgbClr val="C00000"/>
                </a:solidFill>
              </a:rPr>
              <a:t>separate</a:t>
            </a:r>
            <a:r>
              <a:rPr lang="en-US" sz="1800" dirty="0" smtClean="0"/>
              <a:t> tables/objects, then to a separate database.</a:t>
            </a:r>
          </a:p>
          <a:p>
            <a:pPr lvl="1"/>
            <a:r>
              <a:rPr lang="en-US" sz="1800" dirty="0" smtClean="0"/>
              <a:t>Some fields may be </a:t>
            </a:r>
            <a:r>
              <a:rPr lang="en-US" sz="1800" i="1" dirty="0" err="1" smtClean="0">
                <a:solidFill>
                  <a:srgbClr val="C00000"/>
                </a:solidFill>
              </a:rPr>
              <a:t>denormalized</a:t>
            </a:r>
            <a:r>
              <a:rPr lang="en-US" sz="1800" i="1" dirty="0" smtClean="0">
                <a:solidFill>
                  <a:srgbClr val="C00000"/>
                </a:solidFill>
              </a:rPr>
              <a:t> </a:t>
            </a:r>
            <a:r>
              <a:rPr lang="en-US" sz="1800" dirty="0" smtClean="0"/>
              <a:t>(i.e. be duplicated in several databases)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 a New Feature (III)</a:t>
            </a:r>
            <a:endParaRPr lang="en-US" dirty="0"/>
          </a:p>
        </p:txBody>
      </p:sp>
      <p:sp>
        <p:nvSpPr>
          <p:cNvPr id="3" name="Content Placeholder 2"/>
          <p:cNvSpPr>
            <a:spLocks noGrp="1"/>
          </p:cNvSpPr>
          <p:nvPr>
            <p:ph idx="1"/>
          </p:nvPr>
        </p:nvSpPr>
        <p:spPr/>
        <p:txBody>
          <a:bodyPr/>
          <a:lstStyle/>
          <a:p>
            <a:r>
              <a:rPr lang="en-US" sz="2400" dirty="0" smtClean="0"/>
              <a:t>Modify </a:t>
            </a:r>
            <a:r>
              <a:rPr lang="en-US" sz="2400" i="1" dirty="0" smtClean="0">
                <a:solidFill>
                  <a:srgbClr val="C00000"/>
                </a:solidFill>
              </a:rPr>
              <a:t>data access (persistence) code</a:t>
            </a:r>
            <a:r>
              <a:rPr lang="en-US" sz="2400" dirty="0" smtClean="0"/>
              <a:t> to access the new tables or data objects or database.</a:t>
            </a:r>
          </a:p>
          <a:p>
            <a:pPr lvl="1"/>
            <a:r>
              <a:rPr lang="en-US" sz="2000" dirty="0" smtClean="0"/>
              <a:t>Fields properties may be changed.</a:t>
            </a:r>
          </a:p>
          <a:p>
            <a:pPr lvl="1"/>
            <a:r>
              <a:rPr lang="en-US" sz="2000" dirty="0" smtClean="0"/>
              <a:t>Unit tests passing</a:t>
            </a:r>
          </a:p>
          <a:p>
            <a:pPr lvl="1"/>
            <a:r>
              <a:rPr lang="en-US" sz="2000" dirty="0" smtClean="0"/>
              <a:t>Modify stored procedures of the existing features.</a:t>
            </a:r>
          </a:p>
          <a:p>
            <a:pPr lvl="1"/>
            <a:r>
              <a:rPr lang="en-US" sz="2000" dirty="0" smtClean="0"/>
              <a:t>Modify related CRUD </a:t>
            </a:r>
            <a:r>
              <a:rPr lang="en-US" sz="2000" smtClean="0"/>
              <a:t>code of the existing features.</a:t>
            </a:r>
            <a:endParaRPr lang="en-US" sz="2000" dirty="0" smtClean="0"/>
          </a:p>
          <a:p>
            <a:endParaRPr lang="en-US" sz="24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Achieve Good Test Coverage [1]</a:t>
            </a:r>
            <a:endParaRPr lang="en-US" dirty="0"/>
          </a:p>
        </p:txBody>
      </p:sp>
      <p:sp>
        <p:nvSpPr>
          <p:cNvPr id="3" name="Content Placeholder 2"/>
          <p:cNvSpPr>
            <a:spLocks noGrp="1"/>
          </p:cNvSpPr>
          <p:nvPr>
            <p:ph idx="1"/>
          </p:nvPr>
        </p:nvSpPr>
        <p:spPr/>
        <p:txBody>
          <a:bodyPr/>
          <a:lstStyle/>
          <a:p>
            <a:r>
              <a:rPr lang="en-US" sz="2400" dirty="0" smtClean="0"/>
              <a:t>It can take a lot of time and effort to </a:t>
            </a:r>
            <a:r>
              <a:rPr lang="en-US" sz="2400" dirty="0" err="1" smtClean="0"/>
              <a:t>refactor</a:t>
            </a:r>
            <a:r>
              <a:rPr lang="en-US" sz="2400" dirty="0" smtClean="0"/>
              <a:t> the services out from the monolithic architecture.</a:t>
            </a:r>
          </a:p>
          <a:p>
            <a:r>
              <a:rPr lang="en-US" sz="2400" dirty="0" smtClean="0"/>
              <a:t>This is why the refactoring towards </a:t>
            </a:r>
            <a:r>
              <a:rPr lang="en-US" sz="2400" dirty="0" err="1" smtClean="0"/>
              <a:t>microservices</a:t>
            </a:r>
            <a:r>
              <a:rPr lang="en-US" sz="2400" dirty="0" smtClean="0"/>
              <a:t> should be done in small parts.</a:t>
            </a:r>
          </a:p>
          <a:p>
            <a:r>
              <a:rPr lang="en-US" sz="2400" dirty="0" smtClean="0"/>
              <a:t>It is extremely important to be careful when doing this refactoring, because there is the possibility of introducing new bugs in existing features. This is why good test coverage is needed before starting this process.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Identify </a:t>
            </a:r>
            <a:r>
              <a:rPr lang="en-US" dirty="0" err="1" smtClean="0"/>
              <a:t>Microservices</a:t>
            </a:r>
            <a:endParaRPr lang="en-US" dirty="0"/>
          </a:p>
        </p:txBody>
      </p:sp>
      <p:sp>
        <p:nvSpPr>
          <p:cNvPr id="3" name="Content Placeholder 2"/>
          <p:cNvSpPr>
            <a:spLocks noGrp="1"/>
          </p:cNvSpPr>
          <p:nvPr>
            <p:ph idx="1"/>
          </p:nvPr>
        </p:nvSpPr>
        <p:spPr/>
        <p:txBody>
          <a:bodyPr/>
          <a:lstStyle/>
          <a:p>
            <a:r>
              <a:rPr lang="en-US" sz="2400" dirty="0" smtClean="0"/>
              <a:t>The first thing to do is to define the </a:t>
            </a:r>
            <a:r>
              <a:rPr lang="en-US" sz="2400" dirty="0" err="1" smtClean="0"/>
              <a:t>microservices</a:t>
            </a:r>
            <a:r>
              <a:rPr lang="en-US" sz="2400" dirty="0" smtClean="0"/>
              <a:t> and their responsibility areas.</a:t>
            </a:r>
          </a:p>
          <a:p>
            <a:r>
              <a:rPr lang="en-US" sz="2400" dirty="0" smtClean="0"/>
              <a:t>This is important, because it is expensive to make a lot of changes across the services.</a:t>
            </a:r>
          </a:p>
          <a:p>
            <a:r>
              <a:rPr lang="en-US" sz="2400" dirty="0" smtClean="0"/>
              <a:t>This is where the earlier experience working with monolith and designing its components is helpful as developers should already have a good understanding about the business concepts of the application.</a:t>
            </a:r>
          </a:p>
          <a:p>
            <a:r>
              <a:rPr lang="en-US" sz="2400" dirty="0" smtClean="0"/>
              <a:t>It is probably best to start from the easiest and most obvious services and when the organization has more knowledge about </a:t>
            </a:r>
            <a:r>
              <a:rPr lang="en-US" sz="2400" dirty="0" err="1" smtClean="0"/>
              <a:t>microservice</a:t>
            </a:r>
            <a:r>
              <a:rPr lang="en-US" sz="2400" dirty="0" smtClean="0"/>
              <a:t> architecture then the services can become more fine-grained.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Automate Deployment Process</a:t>
            </a:r>
            <a:endParaRPr lang="en-US" dirty="0"/>
          </a:p>
        </p:txBody>
      </p:sp>
      <p:sp>
        <p:nvSpPr>
          <p:cNvPr id="3" name="Content Placeholder 2"/>
          <p:cNvSpPr>
            <a:spLocks noGrp="1"/>
          </p:cNvSpPr>
          <p:nvPr>
            <p:ph idx="1"/>
          </p:nvPr>
        </p:nvSpPr>
        <p:spPr/>
        <p:txBody>
          <a:bodyPr/>
          <a:lstStyle/>
          <a:p>
            <a:r>
              <a:rPr lang="en-US" sz="2400" dirty="0" smtClean="0"/>
              <a:t>There can be hundreds of different services running in production and many services can have multiple instances running to comply with the scale that is needed from the application.</a:t>
            </a:r>
          </a:p>
          <a:p>
            <a:r>
              <a:rPr lang="en-US" sz="2400" dirty="0" smtClean="0"/>
              <a:t>This big amount of </a:t>
            </a:r>
            <a:r>
              <a:rPr lang="en-US" sz="2400" dirty="0" err="1" smtClean="0"/>
              <a:t>microservices</a:t>
            </a:r>
            <a:r>
              <a:rPr lang="en-US" sz="2400" dirty="0" smtClean="0"/>
              <a:t> organizations run in production means that there has to be tools to automatically to deploy, scale and manage these services.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Set Up Logging and Monitoring</a:t>
            </a:r>
            <a:endParaRPr lang="en-US" dirty="0"/>
          </a:p>
        </p:txBody>
      </p:sp>
      <p:sp>
        <p:nvSpPr>
          <p:cNvPr id="3" name="Content Placeholder 2"/>
          <p:cNvSpPr>
            <a:spLocks noGrp="1"/>
          </p:cNvSpPr>
          <p:nvPr>
            <p:ph idx="1"/>
          </p:nvPr>
        </p:nvSpPr>
        <p:spPr/>
        <p:txBody>
          <a:bodyPr/>
          <a:lstStyle/>
          <a:p>
            <a:r>
              <a:rPr lang="en-US" sz="2400" dirty="0" smtClean="0"/>
              <a:t>In case of failures, there needs to be good logging in </a:t>
            </a:r>
            <a:r>
              <a:rPr lang="en-US" sz="2400" dirty="0" err="1" smtClean="0"/>
              <a:t>microservices</a:t>
            </a:r>
            <a:r>
              <a:rPr lang="en-US" sz="2400" dirty="0" smtClean="0"/>
              <a:t>.</a:t>
            </a:r>
          </a:p>
          <a:p>
            <a:r>
              <a:rPr lang="en-US" sz="2400" dirty="0" smtClean="0"/>
              <a:t>This logging has to be easily searchable and all services should aggregate logs to one place so problem finding becomes easier.</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Build Fault-Tolerant Services</a:t>
            </a:r>
            <a:endParaRPr lang="en-US" dirty="0"/>
          </a:p>
        </p:txBody>
      </p:sp>
      <p:sp>
        <p:nvSpPr>
          <p:cNvPr id="3" name="Content Placeholder 2"/>
          <p:cNvSpPr>
            <a:spLocks noGrp="1"/>
          </p:cNvSpPr>
          <p:nvPr>
            <p:ph idx="1"/>
          </p:nvPr>
        </p:nvSpPr>
        <p:spPr/>
        <p:txBody>
          <a:bodyPr/>
          <a:lstStyle/>
          <a:p>
            <a:r>
              <a:rPr lang="en-US" sz="2200" dirty="0" smtClean="0"/>
              <a:t>With distributed system that has a lot of services it is inevitable that at some point a service might be under heavy load and cannot respond in timely manner or the service might down.</a:t>
            </a:r>
          </a:p>
          <a:p>
            <a:r>
              <a:rPr lang="en-US" sz="2200" dirty="0" smtClean="0"/>
              <a:t>Circuit breaker pattern handles failures fast and can provide fallback which returns default data instead of waiting for the response from a dependency.</a:t>
            </a:r>
          </a:p>
          <a:p>
            <a:r>
              <a:rPr lang="en-US" sz="2200" dirty="0" smtClean="0"/>
              <a:t>Circuit breaker monitors for failures and when there are enough failures the subsequent calls to the dependency won’t be made and instead an error is returned.</a:t>
            </a:r>
          </a:p>
          <a:p>
            <a:r>
              <a:rPr lang="en-US" sz="2200" dirty="0" smtClean="0"/>
              <a:t>This means that instead of adding more load to the dependency by making new calls to it, an error is returned immediately to the user which gives the dependency time to recover from the load.</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Accept Eventual Consistency</a:t>
            </a:r>
            <a:endParaRPr lang="en-US" dirty="0"/>
          </a:p>
        </p:txBody>
      </p:sp>
      <p:sp>
        <p:nvSpPr>
          <p:cNvPr id="3" name="Content Placeholder 2"/>
          <p:cNvSpPr>
            <a:spLocks noGrp="1"/>
          </p:cNvSpPr>
          <p:nvPr>
            <p:ph idx="1"/>
          </p:nvPr>
        </p:nvSpPr>
        <p:spPr/>
        <p:txBody>
          <a:bodyPr/>
          <a:lstStyle/>
          <a:p>
            <a:r>
              <a:rPr lang="en-US" sz="2400" dirty="0" smtClean="0"/>
              <a:t>When there are multiple services which each have their own database the transactions are harder to handle and more time needs to be spent dealing with the transactions.</a:t>
            </a:r>
          </a:p>
          <a:p>
            <a:r>
              <a:rPr lang="en-US" sz="2400" dirty="0" smtClean="0"/>
              <a:t>Instead of transactions </a:t>
            </a:r>
            <a:r>
              <a:rPr lang="en-US" sz="2400" dirty="0" err="1" smtClean="0"/>
              <a:t>microservices</a:t>
            </a:r>
            <a:r>
              <a:rPr lang="en-US" sz="2400" dirty="0" smtClean="0"/>
              <a:t> can agree on eventual consistency of data.</a:t>
            </a:r>
          </a:p>
          <a:p>
            <a:r>
              <a:rPr lang="en-US" sz="2400" dirty="0" smtClean="0"/>
              <a:t>This means that the changes done by other services might not be persisted immediately, but they will be eventually persisted, when the service has processed the message.</a:t>
            </a:r>
          </a:p>
          <a:p>
            <a:r>
              <a:rPr lang="en-US" sz="2400" dirty="0" smtClean="0"/>
              <a:t>If previously the user had to wait for the whole transaction to complete now the user might not be able to immediately explore the data that the dependency service will create.</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Strangler Pattern [2]</a:t>
            </a:r>
            <a:endParaRPr lang="en-US" dirty="0"/>
          </a:p>
        </p:txBody>
      </p:sp>
      <p:sp>
        <p:nvSpPr>
          <p:cNvPr id="3" name="Content Placeholder 2"/>
          <p:cNvSpPr>
            <a:spLocks noGrp="1"/>
          </p:cNvSpPr>
          <p:nvPr>
            <p:ph idx="1"/>
          </p:nvPr>
        </p:nvSpPr>
        <p:spPr/>
        <p:txBody>
          <a:bodyPr/>
          <a:lstStyle/>
          <a:p>
            <a:r>
              <a:rPr lang="en-US" sz="2000" dirty="0" smtClean="0"/>
              <a:t>To move functionality over to your new services architecture </a:t>
            </a:r>
            <a:r>
              <a:rPr lang="en-US" sz="2000" i="1" dirty="0" smtClean="0">
                <a:solidFill>
                  <a:srgbClr val="C00000"/>
                </a:solidFill>
              </a:rPr>
              <a:t>without</a:t>
            </a:r>
            <a:r>
              <a:rPr lang="en-US" sz="2000" dirty="0" smtClean="0"/>
              <a:t> having to touch or </a:t>
            </a:r>
            <a:r>
              <a:rPr lang="en-US" sz="2000" u="sng" dirty="0" smtClean="0"/>
              <a:t>make any changes</a:t>
            </a:r>
            <a:r>
              <a:rPr lang="en-US" sz="2000" dirty="0" smtClean="0"/>
              <a:t> to your </a:t>
            </a:r>
            <a:r>
              <a:rPr lang="en-US" sz="2000" u="sng" dirty="0" smtClean="0"/>
              <a:t>existing system</a:t>
            </a:r>
            <a:r>
              <a:rPr lang="en-US" sz="2000" dirty="0" smtClean="0"/>
              <a:t>.</a:t>
            </a:r>
            <a:endParaRPr lang="en-US" sz="2000" dirty="0"/>
          </a:p>
        </p:txBody>
      </p:sp>
      <p:pic>
        <p:nvPicPr>
          <p:cNvPr id="1027" name="Picture 3"/>
          <p:cNvPicPr>
            <a:picLocks noChangeAspect="1" noChangeArrowheads="1"/>
          </p:cNvPicPr>
          <p:nvPr/>
        </p:nvPicPr>
        <p:blipFill>
          <a:blip r:embed="rId2" cstate="print"/>
          <a:srcRect/>
          <a:stretch>
            <a:fillRect/>
          </a:stretch>
        </p:blipFill>
        <p:spPr bwMode="auto">
          <a:xfrm>
            <a:off x="1371600" y="3505200"/>
            <a:ext cx="6565293" cy="2238309"/>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End-to-End Extraction</a:t>
            </a:r>
            <a:endParaRPr lang="en-US" dirty="0"/>
          </a:p>
        </p:txBody>
      </p:sp>
      <p:sp>
        <p:nvSpPr>
          <p:cNvPr id="3" name="Content Placeholder 2"/>
          <p:cNvSpPr>
            <a:spLocks noGrp="1"/>
          </p:cNvSpPr>
          <p:nvPr>
            <p:ph idx="1"/>
          </p:nvPr>
        </p:nvSpPr>
        <p:spPr/>
        <p:txBody>
          <a:bodyPr/>
          <a:lstStyle/>
          <a:p>
            <a:r>
              <a:rPr lang="en-US" sz="2000" dirty="0" smtClean="0"/>
              <a:t>Occasionally, you can extract an entire </a:t>
            </a:r>
            <a:r>
              <a:rPr lang="en-US" sz="2000" i="1" dirty="0" smtClean="0">
                <a:solidFill>
                  <a:srgbClr val="C00000"/>
                </a:solidFill>
              </a:rPr>
              <a:t>end-to-end slice of functionality</a:t>
            </a:r>
            <a:r>
              <a:rPr lang="en-US" sz="2000" dirty="0" smtClean="0"/>
              <a:t> in </a:t>
            </a:r>
            <a:r>
              <a:rPr lang="en-US" sz="2000" u="sng" dirty="0" smtClean="0"/>
              <a:t>one piece</a:t>
            </a:r>
            <a:r>
              <a:rPr lang="en-US" sz="2000" dirty="0" smtClean="0"/>
              <a:t>.</a:t>
            </a:r>
          </a:p>
          <a:p>
            <a:r>
              <a:rPr lang="en-US" sz="2000" dirty="0" smtClean="0"/>
              <a:t>In order to perform a clean end-to-end extraction like this, you might be inclined to extract </a:t>
            </a:r>
            <a:r>
              <a:rPr lang="en-US" sz="2000" i="1" dirty="0" smtClean="0">
                <a:solidFill>
                  <a:srgbClr val="C00000"/>
                </a:solidFill>
              </a:rPr>
              <a:t>larger groups of functionality</a:t>
            </a:r>
            <a:r>
              <a:rPr lang="en-US" sz="2000" dirty="0" smtClean="0"/>
              <a:t> to simplify this process.</a:t>
            </a:r>
          </a:p>
          <a:p>
            <a:r>
              <a:rPr lang="en-US" sz="2000" dirty="0" smtClean="0"/>
              <a:t>By extracting larger slices of functionality, you are taking on </a:t>
            </a:r>
            <a:r>
              <a:rPr lang="en-US" sz="2000" i="1" dirty="0" smtClean="0">
                <a:solidFill>
                  <a:srgbClr val="C00000"/>
                </a:solidFill>
              </a:rPr>
              <a:t>more work</a:t>
            </a:r>
            <a:r>
              <a:rPr lang="en-US" sz="2000" dirty="0" smtClean="0"/>
              <a:t>, but may simplify some of your integration challenges.</a:t>
            </a:r>
            <a:endParaRPr lang="en-US" sz="2000" dirty="0"/>
          </a:p>
        </p:txBody>
      </p:sp>
      <p:pic>
        <p:nvPicPr>
          <p:cNvPr id="2050" name="Picture 2"/>
          <p:cNvPicPr>
            <a:picLocks noChangeAspect="1" noChangeArrowheads="1"/>
          </p:cNvPicPr>
          <p:nvPr/>
        </p:nvPicPr>
        <p:blipFill>
          <a:blip r:embed="rId2" cstate="print"/>
          <a:srcRect/>
          <a:stretch>
            <a:fillRect/>
          </a:stretch>
        </p:blipFill>
        <p:spPr bwMode="auto">
          <a:xfrm>
            <a:off x="1417407" y="3810000"/>
            <a:ext cx="6431193" cy="2683487"/>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“Shallow” Extraction</a:t>
            </a:r>
            <a:endParaRPr lang="en-US" dirty="0"/>
          </a:p>
        </p:txBody>
      </p:sp>
      <p:sp>
        <p:nvSpPr>
          <p:cNvPr id="3" name="Content Placeholder 2"/>
          <p:cNvSpPr>
            <a:spLocks noGrp="1"/>
          </p:cNvSpPr>
          <p:nvPr>
            <p:ph idx="1"/>
          </p:nvPr>
        </p:nvSpPr>
        <p:spPr/>
        <p:txBody>
          <a:bodyPr/>
          <a:lstStyle/>
          <a:p>
            <a:r>
              <a:rPr lang="en-US" sz="2000" dirty="0" smtClean="0"/>
              <a:t>Rather than also </a:t>
            </a:r>
            <a:r>
              <a:rPr lang="en-US" sz="2000" dirty="0" err="1" smtClean="0"/>
              <a:t>reimplementing</a:t>
            </a:r>
            <a:r>
              <a:rPr lang="en-US" sz="2000" dirty="0" smtClean="0"/>
              <a:t> the User Notifications functionality, we expose this functionality to our new </a:t>
            </a:r>
            <a:r>
              <a:rPr lang="en-US" sz="2000" dirty="0" err="1" smtClean="0"/>
              <a:t>microservice</a:t>
            </a:r>
            <a:r>
              <a:rPr lang="en-US" sz="2000" dirty="0" smtClean="0"/>
              <a:t> by exposing it from the monolith—something that obviously would require </a:t>
            </a:r>
            <a:r>
              <a:rPr lang="en-US" sz="2000" i="1" dirty="0" smtClean="0">
                <a:solidFill>
                  <a:srgbClr val="C00000"/>
                </a:solidFill>
              </a:rPr>
              <a:t>changes to the monolith</a:t>
            </a:r>
            <a:r>
              <a:rPr lang="en-US" sz="2000" dirty="0" smtClean="0"/>
              <a:t> itself.</a:t>
            </a:r>
            <a:endParaRPr lang="en-US" sz="2000" dirty="0"/>
          </a:p>
        </p:txBody>
      </p:sp>
      <p:pic>
        <p:nvPicPr>
          <p:cNvPr id="3074" name="Picture 2"/>
          <p:cNvPicPr>
            <a:picLocks noChangeAspect="1" noChangeArrowheads="1"/>
          </p:cNvPicPr>
          <p:nvPr/>
        </p:nvPicPr>
        <p:blipFill>
          <a:blip r:embed="rId2" cstate="print"/>
          <a:srcRect/>
          <a:stretch>
            <a:fillRect/>
          </a:stretch>
        </p:blipFill>
        <p:spPr bwMode="auto">
          <a:xfrm>
            <a:off x="1524000" y="3124200"/>
            <a:ext cx="6222377" cy="3217181"/>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Strangler Fig Pattern Drawback</a:t>
            </a:r>
            <a:endParaRPr lang="en-US" dirty="0"/>
          </a:p>
        </p:txBody>
      </p:sp>
      <p:sp>
        <p:nvSpPr>
          <p:cNvPr id="3" name="Content Placeholder 2"/>
          <p:cNvSpPr>
            <a:spLocks noGrp="1"/>
          </p:cNvSpPr>
          <p:nvPr>
            <p:ph idx="1"/>
          </p:nvPr>
        </p:nvSpPr>
        <p:spPr/>
        <p:txBody>
          <a:bodyPr/>
          <a:lstStyle/>
          <a:p>
            <a:r>
              <a:rPr lang="en-US" sz="2400" dirty="0" smtClean="0"/>
              <a:t>The strangler fig pattern </a:t>
            </a:r>
            <a:r>
              <a:rPr lang="en-US" sz="2400" i="1" dirty="0" smtClean="0">
                <a:solidFill>
                  <a:srgbClr val="C00000"/>
                </a:solidFill>
              </a:rPr>
              <a:t>doesn’t work too well</a:t>
            </a:r>
            <a:r>
              <a:rPr lang="en-US" sz="2400" dirty="0" smtClean="0"/>
              <a:t> when the functionality to be moved is </a:t>
            </a:r>
            <a:r>
              <a:rPr lang="en-US" sz="2400" u="sng" dirty="0" smtClean="0"/>
              <a:t>deeper</a:t>
            </a:r>
            <a:r>
              <a:rPr lang="en-US" sz="2400" dirty="0" smtClean="0"/>
              <a:t> inside the existing system.</a:t>
            </a:r>
            <a:endParaRPr lang="en-US" sz="2400" dirty="0"/>
          </a:p>
        </p:txBody>
      </p:sp>
      <p:pic>
        <p:nvPicPr>
          <p:cNvPr id="4098" name="Picture 2"/>
          <p:cNvPicPr>
            <a:picLocks noChangeAspect="1" noChangeArrowheads="1"/>
          </p:cNvPicPr>
          <p:nvPr/>
        </p:nvPicPr>
        <p:blipFill>
          <a:blip r:embed="rId2" cstate="print"/>
          <a:srcRect/>
          <a:stretch>
            <a:fillRect/>
          </a:stretch>
        </p:blipFill>
        <p:spPr bwMode="auto">
          <a:xfrm>
            <a:off x="2286000" y="2895600"/>
            <a:ext cx="4886850" cy="2746178"/>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1025" name="AutoShape 1" descr="ms-local-stream://EpubReader_47792F56C7354492B5B446518B42ADF2/Content/assets/B05017_01_09.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1295400" y="1524000"/>
            <a:ext cx="6409944" cy="38862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990600" y="5586984"/>
            <a:ext cx="7150608" cy="813816"/>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Segregate Modules</a:t>
            </a:r>
            <a:endParaRPr lang="en-US" dirty="0"/>
          </a:p>
        </p:txBody>
      </p:sp>
      <p:sp>
        <p:nvSpPr>
          <p:cNvPr id="3" name="Content Placeholder 2"/>
          <p:cNvSpPr>
            <a:spLocks noGrp="1"/>
          </p:cNvSpPr>
          <p:nvPr>
            <p:ph idx="1"/>
          </p:nvPr>
        </p:nvSpPr>
        <p:spPr/>
        <p:txBody>
          <a:bodyPr/>
          <a:lstStyle/>
          <a:p>
            <a:r>
              <a:rPr lang="en-US" sz="2400" dirty="0" smtClean="0"/>
              <a:t>Move an </a:t>
            </a:r>
            <a:r>
              <a:rPr lang="en-US" sz="2400" i="1" dirty="0" smtClean="0">
                <a:solidFill>
                  <a:srgbClr val="C00000"/>
                </a:solidFill>
              </a:rPr>
              <a:t>existing</a:t>
            </a:r>
            <a:r>
              <a:rPr lang="en-US" sz="2400" dirty="0" smtClean="0"/>
              <a:t> feature to a separate module.</a:t>
            </a:r>
          </a:p>
          <a:p>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Module Interdependency</a:t>
            </a:r>
            <a:endParaRPr lang="en-US" dirty="0"/>
          </a:p>
        </p:txBody>
      </p:sp>
      <p:sp>
        <p:nvSpPr>
          <p:cNvPr id="3" name="Content Placeholder 2"/>
          <p:cNvSpPr>
            <a:spLocks noGrp="1"/>
          </p:cNvSpPr>
          <p:nvPr>
            <p:ph idx="1"/>
          </p:nvPr>
        </p:nvSpPr>
        <p:spPr/>
        <p:txBody>
          <a:bodyPr/>
          <a:lstStyle/>
          <a:p>
            <a:r>
              <a:rPr lang="en-US" sz="2400" dirty="0" smtClean="0"/>
              <a:t>Load libraries dynamically.</a:t>
            </a:r>
          </a:p>
          <a:p>
            <a:r>
              <a:rPr lang="en-US" sz="2400" dirty="0" smtClean="0"/>
              <a:t>Divide UIs into separate pages and modules.</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Migration Example</a:t>
            </a:r>
            <a:endParaRPr lang="en-US" dirty="0"/>
          </a:p>
        </p:txBody>
      </p:sp>
      <p:sp>
        <p:nvSpPr>
          <p:cNvPr id="3" name="Content Placeholder 2"/>
          <p:cNvSpPr>
            <a:spLocks noGrp="1"/>
          </p:cNvSpPr>
          <p:nvPr>
            <p:ph idx="1"/>
          </p:nvPr>
        </p:nvSpPr>
        <p:spPr/>
        <p:txBody>
          <a:bodyPr/>
          <a:lstStyle/>
          <a:p>
            <a:r>
              <a:rPr lang="en-US" sz="2400" dirty="0" smtClean="0"/>
              <a:t>Tools: ASP.NET Core, C#, Entity framework (EF)</a:t>
            </a:r>
          </a:p>
          <a:p>
            <a:r>
              <a:rPr lang="en-US" sz="2400" dirty="0" smtClean="0"/>
              <a:t>Basic steps</a:t>
            </a:r>
          </a:p>
          <a:p>
            <a:pPr lvl="1"/>
            <a:r>
              <a:rPr lang="en-US" sz="2000" dirty="0" smtClean="0"/>
              <a:t>Creating our project</a:t>
            </a:r>
          </a:p>
          <a:p>
            <a:pPr lvl="1"/>
            <a:r>
              <a:rPr lang="en-US" sz="2000" dirty="0" smtClean="0"/>
              <a:t>Adding a model (POCOs)</a:t>
            </a:r>
          </a:p>
          <a:p>
            <a:pPr lvl="1"/>
            <a:r>
              <a:rPr lang="en-US" sz="2000" dirty="0" smtClean="0"/>
              <a:t>Adding repositories</a:t>
            </a:r>
          </a:p>
          <a:p>
            <a:pPr lvl="1"/>
            <a:r>
              <a:rPr lang="en-US" sz="2000" dirty="0" smtClean="0"/>
              <a:t>Registering the repositories</a:t>
            </a:r>
          </a:p>
          <a:p>
            <a:pPr lvl="1"/>
            <a:r>
              <a:rPr lang="en-US" sz="2000" dirty="0" smtClean="0"/>
              <a:t>Adding controllers</a:t>
            </a:r>
          </a:p>
          <a:p>
            <a:pPr lvl="1"/>
            <a:r>
              <a:rPr lang="en-US" sz="2000" dirty="0" smtClean="0"/>
              <a:t>Adding EF core support</a:t>
            </a:r>
          </a:p>
          <a:p>
            <a:pPr lvl="1"/>
            <a:r>
              <a:rPr lang="en-US" sz="2000" dirty="0" smtClean="0"/>
              <a:t>Adding EF contexts </a:t>
            </a:r>
          </a:p>
          <a:p>
            <a:pPr lvl="1"/>
            <a:r>
              <a:rPr lang="en-US" sz="2000" dirty="0" smtClean="0"/>
              <a:t>Registering the contexts</a:t>
            </a:r>
          </a:p>
          <a:p>
            <a:pPr lvl="1"/>
            <a:r>
              <a:rPr lang="en-US" sz="2000" dirty="0" smtClean="0"/>
              <a:t>Migrating database</a:t>
            </a:r>
          </a:p>
          <a:p>
            <a:pPr lvl="1"/>
            <a:r>
              <a:rPr lang="en-US" sz="2000" dirty="0" smtClean="0"/>
              <a:t>Adding a view model</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a:t>
            </a:r>
            <a:r>
              <a:rPr lang="en-US" dirty="0" err="1" smtClean="0"/>
              <a:t>Sharding</a:t>
            </a:r>
            <a:endParaRPr lang="en-US" dirty="0"/>
          </a:p>
        </p:txBody>
      </p:sp>
      <p:sp>
        <p:nvSpPr>
          <p:cNvPr id="4" name="Content Placeholder 3"/>
          <p:cNvSpPr>
            <a:spLocks noGrp="1"/>
          </p:cNvSpPr>
          <p:nvPr>
            <p:ph idx="1"/>
          </p:nvPr>
        </p:nvSpPr>
        <p:spPr/>
        <p:txBody>
          <a:bodyPr/>
          <a:lstStyle/>
          <a:p>
            <a:r>
              <a:rPr lang="en-US" sz="2400" dirty="0" err="1" smtClean="0"/>
              <a:t>Sharding</a:t>
            </a:r>
            <a:r>
              <a:rPr lang="en-US" sz="2400" dirty="0" smtClean="0"/>
              <a:t> comes from </a:t>
            </a:r>
            <a:r>
              <a:rPr lang="en-US" sz="2400" i="1" dirty="0" smtClean="0">
                <a:solidFill>
                  <a:srgbClr val="C00000"/>
                </a:solidFill>
              </a:rPr>
              <a:t>shard</a:t>
            </a:r>
            <a:r>
              <a:rPr lang="en-US" sz="2400" dirty="0" smtClean="0"/>
              <a:t> and </a:t>
            </a:r>
            <a:r>
              <a:rPr lang="en-US" sz="2400" i="1" dirty="0" smtClean="0">
                <a:solidFill>
                  <a:srgbClr val="C00000"/>
                </a:solidFill>
              </a:rPr>
              <a:t>spreading</a:t>
            </a:r>
            <a:r>
              <a:rPr lang="en-US" sz="2400" dirty="0" smtClean="0"/>
              <a:t>, which means dividing a database into chunks (shards) and spreading to </a:t>
            </a:r>
            <a:r>
              <a:rPr lang="en-US" sz="2400" u="sng" dirty="0" smtClean="0"/>
              <a:t>different servers</a:t>
            </a:r>
            <a:r>
              <a:rPr lang="en-US" sz="2400" dirty="0" smtClean="0"/>
              <a:t>.</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914400" y="3048000"/>
            <a:ext cx="2397125" cy="3241675"/>
          </a:xfrm>
          <a:prstGeom prst="rect">
            <a:avLst/>
          </a:prstGeom>
          <a:noFill/>
          <a:ln w="9525">
            <a:noFill/>
            <a:miter lim="800000"/>
            <a:headEnd/>
            <a:tailEnd/>
          </a:ln>
        </p:spPr>
      </p:pic>
      <p:sp>
        <p:nvSpPr>
          <p:cNvPr id="1027" name="AutoShape 3" descr="ms-local-stream://EpubReader_D2937D4316D84879BBD9DCBF667FC23A/Content/assets/B05017_01_15.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8" name="Picture 4"/>
          <p:cNvPicPr>
            <a:picLocks noChangeAspect="1" noChangeArrowheads="1"/>
          </p:cNvPicPr>
          <p:nvPr/>
        </p:nvPicPr>
        <p:blipFill>
          <a:blip r:embed="rId3" cstate="print"/>
          <a:srcRect/>
          <a:stretch>
            <a:fillRect/>
          </a:stretch>
        </p:blipFill>
        <p:spPr bwMode="auto">
          <a:xfrm>
            <a:off x="3962400" y="2520950"/>
            <a:ext cx="4533900" cy="410845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Partitioning</a:t>
            </a:r>
            <a:endParaRPr lang="en-US" dirty="0"/>
          </a:p>
        </p:txBody>
      </p:sp>
      <p:pic>
        <p:nvPicPr>
          <p:cNvPr id="13314" name="Picture 2" descr="https://www.sqlindia.com/wp-content/uploads/2014/09/PARTITIONED_TABLE_01.png"/>
          <p:cNvPicPr>
            <a:picLocks noChangeAspect="1" noChangeArrowheads="1"/>
          </p:cNvPicPr>
          <p:nvPr/>
        </p:nvPicPr>
        <p:blipFill>
          <a:blip r:embed="rId2" cstate="print"/>
          <a:srcRect/>
          <a:stretch>
            <a:fillRect/>
          </a:stretch>
        </p:blipFill>
        <p:spPr bwMode="auto">
          <a:xfrm>
            <a:off x="1162942" y="2119857"/>
            <a:ext cx="7142858" cy="4357143"/>
          </a:xfrm>
          <a:prstGeom prst="rect">
            <a:avLst/>
          </a:prstGeom>
          <a:noFill/>
        </p:spPr>
      </p:pic>
      <p:pic>
        <p:nvPicPr>
          <p:cNvPr id="13316" name="Picture 4" descr="https://www.guidanceshare.com/images/f/fd/NonDistributed.PNG"/>
          <p:cNvPicPr>
            <a:picLocks noChangeAspect="1" noChangeArrowheads="1"/>
          </p:cNvPicPr>
          <p:nvPr/>
        </p:nvPicPr>
        <p:blipFill>
          <a:blip r:embed="rId3" cstate="print"/>
          <a:srcRect/>
          <a:stretch>
            <a:fillRect/>
          </a:stretch>
        </p:blipFill>
        <p:spPr bwMode="auto">
          <a:xfrm>
            <a:off x="647700" y="1447800"/>
            <a:ext cx="3390900" cy="112395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Decomposition Candidates</a:t>
            </a:r>
            <a:endParaRPr lang="en-US" dirty="0"/>
          </a:p>
        </p:txBody>
      </p:sp>
      <p:sp>
        <p:nvSpPr>
          <p:cNvPr id="3" name="Content Placeholder 2"/>
          <p:cNvSpPr>
            <a:spLocks noGrp="1"/>
          </p:cNvSpPr>
          <p:nvPr>
            <p:ph idx="1"/>
          </p:nvPr>
        </p:nvSpPr>
        <p:spPr/>
        <p:txBody>
          <a:bodyPr/>
          <a:lstStyle/>
          <a:p>
            <a:r>
              <a:rPr lang="en-US" dirty="0" smtClean="0"/>
              <a:t>Deployment</a:t>
            </a:r>
          </a:p>
          <a:p>
            <a:r>
              <a:rPr lang="en-US" dirty="0" smtClean="0"/>
              <a:t>Modifiability</a:t>
            </a:r>
          </a:p>
          <a:p>
            <a:r>
              <a:rPr lang="en-US" dirty="0" smtClean="0"/>
              <a:t>Scalability</a:t>
            </a:r>
          </a:p>
        </p:txBody>
      </p:sp>
      <p:pic>
        <p:nvPicPr>
          <p:cNvPr id="1026" name="Picture 2"/>
          <p:cNvPicPr>
            <a:picLocks noChangeAspect="1" noChangeArrowheads="1"/>
          </p:cNvPicPr>
          <p:nvPr/>
        </p:nvPicPr>
        <p:blipFill>
          <a:blip r:embed="rId2" cstate="print"/>
          <a:srcRect/>
          <a:stretch>
            <a:fillRect/>
          </a:stretch>
        </p:blipFill>
        <p:spPr bwMode="auto">
          <a:xfrm>
            <a:off x="3733800" y="1676400"/>
            <a:ext cx="4533900" cy="41084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Splitting Database Access Layer</a:t>
            </a:r>
            <a:endParaRPr lang="en-US" dirty="0"/>
          </a:p>
        </p:txBody>
      </p:sp>
      <p:sp>
        <p:nvSpPr>
          <p:cNvPr id="1025" name="AutoShape 1" descr="ms-local-stream://EpubReader_5ECF3BA59F624CF0AEB497399B0C14FF/Content/assets/B05017_02_1.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1524000" y="1828800"/>
            <a:ext cx="6284726" cy="442674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Removing Foreign Keys</a:t>
            </a:r>
            <a:endParaRPr lang="en-US" dirty="0"/>
          </a:p>
        </p:txBody>
      </p:sp>
      <p:sp>
        <p:nvSpPr>
          <p:cNvPr id="1025" name="AutoShape 1" descr="ms-local-stream://EpubReader_5ECF3BA59F624CF0AEB497399B0C14FF/Content/assets/B05017_02_1.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cstate="print"/>
          <a:srcRect/>
          <a:stretch>
            <a:fillRect/>
          </a:stretch>
        </p:blipFill>
        <p:spPr bwMode="auto">
          <a:xfrm>
            <a:off x="1676400" y="1524000"/>
            <a:ext cx="6145064" cy="1705854"/>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2057400" y="3505200"/>
            <a:ext cx="5027780" cy="2843089"/>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Configuration Data</a:t>
            </a:r>
            <a:endParaRPr lang="en-US" dirty="0"/>
          </a:p>
        </p:txBody>
      </p:sp>
      <p:sp>
        <p:nvSpPr>
          <p:cNvPr id="3" name="Content Placeholder 2"/>
          <p:cNvSpPr>
            <a:spLocks noGrp="1"/>
          </p:cNvSpPr>
          <p:nvPr>
            <p:ph idx="1"/>
          </p:nvPr>
        </p:nvSpPr>
        <p:spPr/>
        <p:txBody>
          <a:bodyPr/>
          <a:lstStyle/>
          <a:p>
            <a:r>
              <a:rPr lang="en-US" dirty="0" smtClean="0"/>
              <a:t>Configuration files</a:t>
            </a:r>
          </a:p>
          <a:p>
            <a:r>
              <a:rPr lang="en-US" dirty="0" smtClean="0"/>
              <a:t>Hard-coded values</a:t>
            </a:r>
          </a:p>
          <a:p>
            <a:r>
              <a:rPr lang="en-US" dirty="0" smtClean="0"/>
              <a:t>Separate services</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normAutofit/>
          </a:bodyPr>
          <a:lstStyle/>
          <a:p>
            <a:r>
              <a:rPr lang="en-US" sz="1800" dirty="0" smtClean="0"/>
              <a:t>Armin </a:t>
            </a:r>
            <a:r>
              <a:rPr lang="en-US" sz="1800" dirty="0" err="1" smtClean="0"/>
              <a:t>Balalaie</a:t>
            </a:r>
            <a:r>
              <a:rPr lang="en-US" sz="1800" dirty="0" smtClean="0"/>
              <a:t> et al. (2015). Migrating to Cloud-Native Architectures Using </a:t>
            </a:r>
            <a:r>
              <a:rPr lang="en-US" sz="1800" dirty="0" err="1" smtClean="0"/>
              <a:t>Microservices</a:t>
            </a:r>
            <a:r>
              <a:rPr lang="en-US" sz="1800" dirty="0" smtClean="0"/>
              <a:t>: An Experience Report.</a:t>
            </a:r>
          </a:p>
          <a:p>
            <a:r>
              <a:rPr lang="en-US" sz="1800" dirty="0" smtClean="0"/>
              <a:t>Antonio </a:t>
            </a:r>
            <a:r>
              <a:rPr lang="en-US" sz="1800" dirty="0" err="1" smtClean="0"/>
              <a:t>Bucchiarone</a:t>
            </a:r>
            <a:r>
              <a:rPr lang="en-US" sz="1800" dirty="0" smtClean="0"/>
              <a:t> et al. (2018). From Monolithic to </a:t>
            </a:r>
            <a:r>
              <a:rPr lang="en-US" sz="1800" dirty="0" err="1" smtClean="0"/>
              <a:t>Microservices</a:t>
            </a:r>
            <a:r>
              <a:rPr lang="en-US" sz="1800" dirty="0" smtClean="0"/>
              <a:t> - An Experience Report from the Banking Domain. IEEE Software.</a:t>
            </a:r>
          </a:p>
          <a:p>
            <a:r>
              <a:rPr lang="en-US" sz="1800" dirty="0" err="1" smtClean="0"/>
              <a:t>Anup</a:t>
            </a:r>
            <a:r>
              <a:rPr lang="en-US" sz="1800" dirty="0" smtClean="0"/>
              <a:t> K. </a:t>
            </a:r>
            <a:r>
              <a:rPr lang="en-US" sz="1800" dirty="0" err="1" smtClean="0"/>
              <a:t>Kalia</a:t>
            </a:r>
            <a:r>
              <a:rPr lang="en-US" sz="1800" dirty="0" smtClean="0"/>
              <a:t> et al. (2021). Mono2Micro - A Practical and Effective Tool for Decomposing Monolithic Java Applications to Microservices.pdf</a:t>
            </a:r>
          </a:p>
        </p:txBody>
      </p:sp>
      <p:pic>
        <p:nvPicPr>
          <p:cNvPr id="4" name="Picture 2" descr="http://www.4aplus.com/wp-content/uploads/2014/02/shutterstock_74085415-1024x682.jpg"/>
          <p:cNvPicPr>
            <a:picLocks noChangeAspect="1" noChangeArrowheads="1"/>
          </p:cNvPicPr>
          <p:nvPr/>
        </p:nvPicPr>
        <p:blipFill>
          <a:blip r:embed="rId2" cstate="print"/>
          <a:srcRect/>
          <a:stretch>
            <a:fillRect/>
          </a:stretch>
        </p:blipFill>
        <p:spPr bwMode="auto">
          <a:xfrm>
            <a:off x="2971800" y="3810000"/>
            <a:ext cx="3251200" cy="216535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24810</TotalTime>
  <Words>1329</Words>
  <Application>Microsoft Office PowerPoint</Application>
  <PresentationFormat>On-screen Show (4:3)</PresentationFormat>
  <Paragraphs>122</Paragraphs>
  <Slides>36</Slides>
  <Notes>1</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Migration to Microservices</vt:lpstr>
      <vt:lpstr>Objectives</vt:lpstr>
      <vt:lpstr>Contents</vt:lpstr>
      <vt:lpstr>References</vt:lpstr>
      <vt:lpstr>Why? (Ngo's Opinion) (I)</vt:lpstr>
      <vt:lpstr>Why? (Ngo's Opinion) (II)</vt:lpstr>
      <vt:lpstr>Further Reading</vt:lpstr>
      <vt:lpstr>Slide 8</vt:lpstr>
      <vt:lpstr>Slide 9</vt:lpstr>
      <vt:lpstr>Implement a New Feature (I)</vt:lpstr>
      <vt:lpstr>Implement a New Feature (II)</vt:lpstr>
      <vt:lpstr>Implement a New Feature (III)</vt:lpstr>
      <vt:lpstr>Slide 13</vt:lpstr>
      <vt:lpstr>1. Achieve Good Test Coverage [1]</vt:lpstr>
      <vt:lpstr>2. Identify Microservices</vt:lpstr>
      <vt:lpstr>3. Automate Deployment Process</vt:lpstr>
      <vt:lpstr>4. Set Up Logging and Monitoring</vt:lpstr>
      <vt:lpstr>5. Build Fault-Tolerant Services</vt:lpstr>
      <vt:lpstr>6. Accept Eventual Consistency</vt:lpstr>
      <vt:lpstr>Slide 20</vt:lpstr>
      <vt:lpstr>The Strangler Pattern [2]</vt:lpstr>
      <vt:lpstr>End-to-End Extraction</vt:lpstr>
      <vt:lpstr>“Shallow” Extraction</vt:lpstr>
      <vt:lpstr>Strangler Fig Pattern Drawback</vt:lpstr>
      <vt:lpstr>Example</vt:lpstr>
      <vt:lpstr>Segregate Modules</vt:lpstr>
      <vt:lpstr>Reduce Module Interdependency</vt:lpstr>
      <vt:lpstr>Migration Example</vt:lpstr>
      <vt:lpstr>Database Sharding</vt:lpstr>
      <vt:lpstr>Database Partitioning</vt:lpstr>
      <vt:lpstr>Decomposition Candidates</vt:lpstr>
      <vt:lpstr>Splitting Database Access Layer</vt:lpstr>
      <vt:lpstr>Removing Foreign Keys</vt:lpstr>
      <vt:lpstr>Configuration Data</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5716</cp:revision>
  <dcterms:created xsi:type="dcterms:W3CDTF">2007-10-06T08:25:13Z</dcterms:created>
  <dcterms:modified xsi:type="dcterms:W3CDTF">2022-07-22T11:53:32Z</dcterms:modified>
</cp:coreProperties>
</file>