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8"/>
  </p:notesMasterIdLst>
  <p:handoutMasterIdLst>
    <p:handoutMasterId r:id="rId49"/>
  </p:handoutMasterIdLst>
  <p:sldIdLst>
    <p:sldId id="256" r:id="rId2"/>
    <p:sldId id="431" r:id="rId3"/>
    <p:sldId id="603" r:id="rId4"/>
    <p:sldId id="423" r:id="rId5"/>
    <p:sldId id="701" r:id="rId6"/>
    <p:sldId id="702" r:id="rId7"/>
    <p:sldId id="703" r:id="rId8"/>
    <p:sldId id="704" r:id="rId9"/>
    <p:sldId id="705" r:id="rId10"/>
    <p:sldId id="715" r:id="rId11"/>
    <p:sldId id="693" r:id="rId12"/>
    <p:sldId id="695" r:id="rId13"/>
    <p:sldId id="708" r:id="rId14"/>
    <p:sldId id="709" r:id="rId15"/>
    <p:sldId id="710" r:id="rId16"/>
    <p:sldId id="707" r:id="rId17"/>
    <p:sldId id="726" r:id="rId18"/>
    <p:sldId id="727" r:id="rId19"/>
    <p:sldId id="712" r:id="rId20"/>
    <p:sldId id="714" r:id="rId21"/>
    <p:sldId id="724" r:id="rId22"/>
    <p:sldId id="716" r:id="rId23"/>
    <p:sldId id="717" r:id="rId24"/>
    <p:sldId id="718" r:id="rId25"/>
    <p:sldId id="719" r:id="rId26"/>
    <p:sldId id="720" r:id="rId27"/>
    <p:sldId id="721" r:id="rId28"/>
    <p:sldId id="722" r:id="rId29"/>
    <p:sldId id="723" r:id="rId30"/>
    <p:sldId id="728" r:id="rId31"/>
    <p:sldId id="706" r:id="rId32"/>
    <p:sldId id="696" r:id="rId33"/>
    <p:sldId id="697" r:id="rId34"/>
    <p:sldId id="698" r:id="rId35"/>
    <p:sldId id="699" r:id="rId36"/>
    <p:sldId id="730" r:id="rId37"/>
    <p:sldId id="700" r:id="rId38"/>
    <p:sldId id="661" r:id="rId39"/>
    <p:sldId id="731" r:id="rId40"/>
    <p:sldId id="732" r:id="rId41"/>
    <p:sldId id="733" r:id="rId42"/>
    <p:sldId id="664" r:id="rId43"/>
    <p:sldId id="734" r:id="rId44"/>
    <p:sldId id="735" r:id="rId45"/>
    <p:sldId id="736" r:id="rId46"/>
    <p:sldId id="343" r:id="rId4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2486" autoAdjust="0"/>
    <p:restoredTop sz="94667" autoAdjust="0"/>
  </p:normalViewPr>
  <p:slideViewPr>
    <p:cSldViewPr>
      <p:cViewPr>
        <p:scale>
          <a:sx n="50" d="100"/>
          <a:sy n="50" d="100"/>
        </p:scale>
        <p:origin x="-147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0D0DBAB-D1C9-4D1B-A41F-EB0AC0278643}" type="datetimeFigureOut">
              <a:rPr lang="en-US" smtClean="0"/>
              <a:pPr/>
              <a:t>4/1/2023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6056FB-ACC3-4B45-A768-F167A538151B}"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5C7060-FA44-42F0-8808-1D08F5DA2F41}" type="datetimeFigureOut">
              <a:rPr lang="en-US" smtClean="0"/>
              <a:pPr/>
              <a:t>4/1/2023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E0EE6-BA34-4C45-82C4-9F1F3A459FA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4/1/2023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4/1/2023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4/1/2023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4/1/2023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4/1/2023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4/1/2023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4/1/2023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4/1/2023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4/1/2023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4/1/2023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4/1/2023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4/1/2023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apollographql/apollo-server"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localhost:4000/api"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graphql.org/learn/best-practices/"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err="1" smtClean="0"/>
              <a:t>GraphQL</a:t>
            </a:r>
            <a:r>
              <a:rPr lang="en-US" sz="6000" smtClean="0"/>
              <a:t> APIs</a:t>
            </a:r>
            <a:endParaRPr lang="en-US" sz="6000" dirty="0" smtClean="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r>
              <a:rPr lang="en-US" sz="2400" dirty="0" smtClean="0"/>
              <a:t>To </a:t>
            </a:r>
            <a:r>
              <a:rPr lang="en-US" sz="2400" i="1" dirty="0" smtClean="0">
                <a:solidFill>
                  <a:srgbClr val="C00000"/>
                </a:solidFill>
              </a:rPr>
              <a:t>create</a:t>
            </a:r>
            <a:r>
              <a:rPr lang="en-US" sz="2400" dirty="0" smtClean="0"/>
              <a:t> a </a:t>
            </a:r>
            <a:r>
              <a:rPr lang="en-US" sz="2400" dirty="0" err="1" smtClean="0"/>
              <a:t>GraphQL</a:t>
            </a:r>
            <a:r>
              <a:rPr lang="en-US" sz="2400" dirty="0" smtClean="0"/>
              <a:t> API.</a:t>
            </a:r>
          </a:p>
          <a:p>
            <a:r>
              <a:rPr lang="en-US" sz="2400" dirty="0" smtClean="0"/>
              <a:t>To </a:t>
            </a:r>
            <a:r>
              <a:rPr lang="en-US" sz="2400" i="1" dirty="0" smtClean="0">
                <a:solidFill>
                  <a:srgbClr val="C00000"/>
                </a:solidFill>
              </a:rPr>
              <a:t>consume</a:t>
            </a:r>
            <a:r>
              <a:rPr lang="en-US" sz="2400" dirty="0" smtClean="0"/>
              <a:t> a </a:t>
            </a:r>
            <a:r>
              <a:rPr lang="en-US" sz="2400" dirty="0" err="1" smtClean="0"/>
              <a:t>GraphQL</a:t>
            </a:r>
            <a:r>
              <a:rPr lang="en-US" sz="2400" dirty="0" smtClean="0"/>
              <a:t> API.</a:t>
            </a:r>
          </a:p>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2484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5715000" cy="4525963"/>
          </a:xfrm>
        </p:spPr>
        <p:txBody>
          <a:bodyPr/>
          <a:lstStyle/>
          <a:p>
            <a:pPr marL="571500" indent="-571500">
              <a:buFont typeface="+mj-lt"/>
              <a:buAutoNum type="romanUcPeriod"/>
            </a:pPr>
            <a:r>
              <a:rPr lang="en-US" sz="2400" dirty="0" smtClean="0"/>
              <a:t>REST APIs vs. </a:t>
            </a:r>
            <a:r>
              <a:rPr lang="en-US" sz="2400" dirty="0" err="1" smtClean="0"/>
              <a:t>GraphQL</a:t>
            </a:r>
            <a:r>
              <a:rPr lang="en-US" sz="2400" dirty="0" smtClean="0"/>
              <a:t> APIs</a:t>
            </a:r>
          </a:p>
          <a:p>
            <a:pPr marL="571500" indent="-571500">
              <a:buFont typeface="+mj-lt"/>
              <a:buAutoNum type="romanUcPeriod"/>
            </a:pPr>
            <a:r>
              <a:rPr lang="en-US" sz="2400" dirty="0" smtClean="0"/>
              <a:t>Node.js Demo (Apollo Server)</a:t>
            </a:r>
          </a:p>
          <a:p>
            <a:pPr marL="571500" indent="-571500">
              <a:buFont typeface="+mj-lt"/>
              <a:buAutoNum type="romanUcPeriod"/>
            </a:pPr>
            <a:r>
              <a:rPr lang="en-US" sz="2400" dirty="0" err="1" smtClean="0"/>
              <a:t>GraphQL</a:t>
            </a:r>
            <a:endParaRPr lang="en-US" sz="2400" dirty="0" smtClean="0"/>
          </a:p>
          <a:p>
            <a:pPr marL="571500" indent="-571500">
              <a:buFont typeface="+mj-lt"/>
              <a:buAutoNum type="romanUcPeriod"/>
            </a:pPr>
            <a:r>
              <a:rPr lang="en-US" sz="2400" dirty="0" smtClean="0"/>
              <a:t>Node.js Demo (</a:t>
            </a:r>
            <a:r>
              <a:rPr lang="en-US" sz="2400" dirty="0" err="1" smtClean="0"/>
              <a:t>Mercurius</a:t>
            </a:r>
            <a:r>
              <a:rPr lang="en-US" sz="2400" dirty="0" smtClean="0"/>
              <a:t>)</a:t>
            </a:r>
          </a:p>
          <a:p>
            <a:pPr marL="571500" indent="-571500">
              <a:buFont typeface="+mj-lt"/>
              <a:buAutoNum type="romanUcPeriod"/>
            </a:pPr>
            <a:endParaRPr lang="en-US" sz="2400" dirty="0" smtClean="0"/>
          </a:p>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marL="457200" indent="-457200">
              <a:buFont typeface="+mj-lt"/>
              <a:buAutoNum type="arabicPeriod"/>
            </a:pPr>
            <a:r>
              <a:rPr lang="en-US" sz="2400" dirty="0" smtClean="0">
                <a:cs typeface="Calibri" pitchFamily="34" charset="0"/>
              </a:rPr>
              <a:t>Marc-Andre Giroux (2020). Production Ready </a:t>
            </a:r>
            <a:r>
              <a:rPr lang="en-US" sz="2400" dirty="0" err="1" smtClean="0">
                <a:cs typeface="Calibri" pitchFamily="34" charset="0"/>
              </a:rPr>
              <a:t>GraphQL</a:t>
            </a:r>
            <a:r>
              <a:rPr lang="en-US" sz="2400" dirty="0" smtClean="0">
                <a:cs typeface="Calibri" pitchFamily="34" charset="0"/>
              </a:rPr>
              <a:t>.</a:t>
            </a:r>
          </a:p>
          <a:p>
            <a:pPr marL="457200" indent="-457200">
              <a:buFont typeface="+mj-lt"/>
              <a:buAutoNum type="arabicPeriod"/>
            </a:pPr>
            <a:r>
              <a:rPr lang="en-US" sz="2400" dirty="0" smtClean="0">
                <a:cs typeface="Calibri" pitchFamily="34" charset="0"/>
              </a:rPr>
              <a:t>Adam D. Scott (2020). JavaScript Everywhere - Building Cross-Platform Applications with </a:t>
            </a:r>
            <a:r>
              <a:rPr lang="en-US" sz="2400" dirty="0" err="1" smtClean="0">
                <a:cs typeface="Calibri" pitchFamily="34" charset="0"/>
              </a:rPr>
              <a:t>GraphQL</a:t>
            </a:r>
            <a:r>
              <a:rPr lang="en-US" sz="2400" dirty="0" smtClean="0">
                <a:cs typeface="Calibri" pitchFamily="34" charset="0"/>
              </a:rPr>
              <a:t>, React, React Native, and Electron. O'Reilly Media.</a:t>
            </a:r>
          </a:p>
          <a:p>
            <a:pPr marL="457200" indent="-457200">
              <a:buFont typeface="+mj-lt"/>
              <a:buAutoNum type="arabicPeriod"/>
            </a:pPr>
            <a:r>
              <a:rPr lang="en-US" sz="2400" dirty="0" err="1" smtClean="0">
                <a:cs typeface="Calibri" pitchFamily="34" charset="0"/>
              </a:rPr>
              <a:t>Samer</a:t>
            </a:r>
            <a:r>
              <a:rPr lang="en-US" sz="2400" dirty="0" smtClean="0">
                <a:cs typeface="Calibri" pitchFamily="34" charset="0"/>
              </a:rPr>
              <a:t> Buna (2021). </a:t>
            </a:r>
            <a:r>
              <a:rPr lang="en-US" sz="2400" dirty="0" err="1" smtClean="0">
                <a:cs typeface="Calibri" pitchFamily="34" charset="0"/>
              </a:rPr>
              <a:t>GraphQL</a:t>
            </a:r>
            <a:r>
              <a:rPr lang="en-US" sz="2400" dirty="0" smtClean="0">
                <a:cs typeface="Calibri" pitchFamily="34" charset="0"/>
              </a:rPr>
              <a:t> in Action. Manning Publications.</a:t>
            </a:r>
          </a:p>
          <a:p>
            <a:pPr marL="457200" indent="-457200">
              <a:buFont typeface="+mj-lt"/>
              <a:buAutoNum type="arabicPeriod"/>
            </a:pPr>
            <a:r>
              <a:rPr lang="en-US" sz="2400" dirty="0" smtClean="0">
                <a:cs typeface="Calibri" pitchFamily="34" charset="0"/>
              </a:rPr>
              <a:t>Thomas Hunter II (2021). Distributed Systems with Node.js. O'Reilly Media.</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Endpoint Based APIs Clients [1]</a:t>
            </a:r>
            <a:endParaRPr lang="en-US" dirty="0"/>
          </a:p>
        </p:txBody>
      </p:sp>
      <p:sp>
        <p:nvSpPr>
          <p:cNvPr id="3" name="Content Placeholder 2"/>
          <p:cNvSpPr>
            <a:spLocks noGrp="1"/>
          </p:cNvSpPr>
          <p:nvPr>
            <p:ph idx="1"/>
          </p:nvPr>
        </p:nvSpPr>
        <p:spPr/>
        <p:txBody>
          <a:bodyPr/>
          <a:lstStyle/>
          <a:p>
            <a:r>
              <a:rPr lang="en-US" sz="2400" dirty="0" smtClean="0"/>
              <a:t>Endpoint based APIs are great when it comes to optimizing an exchange between a client and a server for one functionality or use case.</a:t>
            </a:r>
          </a:p>
          <a:p>
            <a:r>
              <a:rPr lang="en-US" sz="2400" dirty="0" smtClean="0"/>
              <a:t>While web browsers used to be the main clients for Web APIs, we now have to make our APIs to respond to mobile apps, other servers that are part of our distributed architectures, gaming consoles, etc.</a:t>
            </a:r>
          </a:p>
          <a:p>
            <a:r>
              <a:rPr lang="en-US" sz="2400" dirty="0" smtClean="0"/>
              <a:t>The tricky thing is that because of that </a:t>
            </a:r>
            <a:r>
              <a:rPr lang="en-US" sz="2400" i="1" dirty="0" smtClean="0">
                <a:solidFill>
                  <a:srgbClr val="C00000"/>
                </a:solidFill>
              </a:rPr>
              <a:t>explosion in client types</a:t>
            </a:r>
            <a:r>
              <a:rPr lang="en-US" sz="2400" dirty="0" smtClean="0"/>
              <a:t>, for certain APIs that need to serve that many use cases, building a good endpoint to serve these scenarios became more complex.</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Adding More Endpoints</a:t>
            </a:r>
            <a:endParaRPr lang="en-US" dirty="0"/>
          </a:p>
        </p:txBody>
      </p:sp>
      <p:sp>
        <p:nvSpPr>
          <p:cNvPr id="3" name="Content Placeholder 2"/>
          <p:cNvSpPr>
            <a:spLocks noGrp="1"/>
          </p:cNvSpPr>
          <p:nvPr>
            <p:ph idx="1"/>
          </p:nvPr>
        </p:nvSpPr>
        <p:spPr/>
        <p:txBody>
          <a:bodyPr/>
          <a:lstStyle/>
          <a:p>
            <a:r>
              <a:rPr lang="en-US" sz="2200" dirty="0" smtClean="0"/>
              <a:t>Take an endpoint-based API that provides a way to fetch products, through a </a:t>
            </a:r>
            <a:r>
              <a:rPr lang="en-US" sz="2200" b="1" dirty="0" smtClean="0">
                <a:latin typeface="Consolas" pitchFamily="49" charset="0"/>
              </a:rPr>
              <a:t>products</a:t>
            </a:r>
            <a:r>
              <a:rPr lang="en-US" sz="2200" dirty="0" smtClean="0"/>
              <a:t> resource.</a:t>
            </a:r>
          </a:p>
          <a:p>
            <a:pPr lvl="1"/>
            <a:r>
              <a:rPr lang="en-US" sz="1800" b="1" dirty="0" smtClean="0">
                <a:latin typeface="Consolas" pitchFamily="49" charset="0"/>
              </a:rPr>
              <a:t>GET /products</a:t>
            </a:r>
          </a:p>
          <a:p>
            <a:r>
              <a:rPr lang="en-US" sz="2200" dirty="0" smtClean="0"/>
              <a:t>To provide the gaming console version of this use case, certain APIs solved the problem in the following way:</a:t>
            </a:r>
          </a:p>
          <a:p>
            <a:pPr lvl="1"/>
            <a:r>
              <a:rPr lang="en-US" sz="1800" b="1" dirty="0" smtClean="0">
                <a:latin typeface="Consolas" pitchFamily="49" charset="0"/>
              </a:rPr>
              <a:t>GET </a:t>
            </a:r>
            <a:r>
              <a:rPr lang="en-US" sz="1800" b="1" dirty="0" err="1" smtClean="0">
                <a:latin typeface="Consolas" pitchFamily="49" charset="0"/>
              </a:rPr>
              <a:t>api</a:t>
            </a:r>
            <a:r>
              <a:rPr lang="en-US" sz="1800" b="1" dirty="0" smtClean="0">
                <a:latin typeface="Consolas" pitchFamily="49" charset="0"/>
              </a:rPr>
              <a:t>/</a:t>
            </a:r>
            <a:r>
              <a:rPr lang="en-US" sz="1800" b="1" dirty="0" err="1" smtClean="0">
                <a:latin typeface="Consolas" pitchFamily="49" charset="0"/>
              </a:rPr>
              <a:t>playstation</a:t>
            </a:r>
            <a:r>
              <a:rPr lang="en-US" sz="1800" b="1" dirty="0" smtClean="0">
                <a:latin typeface="Consolas" pitchFamily="49" charset="0"/>
              </a:rPr>
              <a:t>/products</a:t>
            </a:r>
          </a:p>
          <a:p>
            <a:pPr lvl="1"/>
            <a:r>
              <a:rPr lang="en-US" sz="1800" b="1" dirty="0" smtClean="0">
                <a:latin typeface="Consolas" pitchFamily="49" charset="0"/>
              </a:rPr>
              <a:t>GET </a:t>
            </a:r>
            <a:r>
              <a:rPr lang="en-US" sz="1800" b="1" dirty="0" err="1" smtClean="0">
                <a:latin typeface="Consolas" pitchFamily="49" charset="0"/>
              </a:rPr>
              <a:t>api</a:t>
            </a:r>
            <a:r>
              <a:rPr lang="en-US" sz="1800" b="1" dirty="0" smtClean="0">
                <a:latin typeface="Consolas" pitchFamily="49" charset="0"/>
              </a:rPr>
              <a:t>/mobile/products</a:t>
            </a:r>
          </a:p>
          <a:p>
            <a:r>
              <a:rPr lang="en-US" sz="2200" dirty="0" smtClean="0"/>
              <a:t>With a sufficiently large web API, you might guess what happened with this approach.</a:t>
            </a:r>
          </a:p>
          <a:p>
            <a:r>
              <a:rPr lang="en-US" sz="2200" dirty="0" smtClean="0"/>
              <a:t>The number of endpoints used to answer variations on the same use cases exploded, which made the API extremely hard to reason about for developers, very </a:t>
            </a:r>
            <a:r>
              <a:rPr lang="en-US" sz="2200" i="1" dirty="0" smtClean="0">
                <a:solidFill>
                  <a:srgbClr val="C00000"/>
                </a:solidFill>
              </a:rPr>
              <a:t>brittle to changes</a:t>
            </a:r>
            <a:r>
              <a:rPr lang="en-US" sz="2200" dirty="0" smtClean="0"/>
              <a:t>, and generally </a:t>
            </a:r>
            <a:r>
              <a:rPr lang="en-US" sz="2200" i="1" dirty="0" smtClean="0">
                <a:solidFill>
                  <a:srgbClr val="C00000"/>
                </a:solidFill>
              </a:rPr>
              <a:t>a pain to maintain and evolve</a:t>
            </a:r>
            <a:r>
              <a:rPr lang="en-US" sz="2200" dirty="0" smtClean="0"/>
              <a:t>.</a:t>
            </a:r>
            <a:endParaRPr lang="en-US" sz="2200" b="1" dirty="0">
              <a:latin typeface="Consolas" pitchFamily="49"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Adding Query Parameters</a:t>
            </a:r>
            <a:endParaRPr lang="en-US" dirty="0"/>
          </a:p>
        </p:txBody>
      </p:sp>
      <p:sp>
        <p:nvSpPr>
          <p:cNvPr id="3" name="Content Placeholder 2"/>
          <p:cNvSpPr>
            <a:spLocks noGrp="1"/>
          </p:cNvSpPr>
          <p:nvPr>
            <p:ph idx="1"/>
          </p:nvPr>
        </p:nvSpPr>
        <p:spPr/>
        <p:txBody>
          <a:bodyPr/>
          <a:lstStyle/>
          <a:p>
            <a:r>
              <a:rPr lang="en-US" sz="2000" dirty="0" smtClean="0"/>
              <a:t>At the simplest level, this could be a very specific query parameter to select the client version we require:</a:t>
            </a:r>
          </a:p>
          <a:p>
            <a:pPr lvl="1"/>
            <a:r>
              <a:rPr lang="en-US" sz="1600" b="1" dirty="0" smtClean="0">
                <a:latin typeface="Consolas" pitchFamily="49" charset="0"/>
              </a:rPr>
              <a:t>GET </a:t>
            </a:r>
            <a:r>
              <a:rPr lang="en-US" sz="1600" b="1" dirty="0" err="1" smtClean="0">
                <a:latin typeface="Consolas" pitchFamily="49" charset="0"/>
              </a:rPr>
              <a:t>api</a:t>
            </a:r>
            <a:r>
              <a:rPr lang="en-US" sz="1600" b="1" dirty="0" smtClean="0">
                <a:latin typeface="Consolas" pitchFamily="49" charset="0"/>
              </a:rPr>
              <a:t>/</a:t>
            </a:r>
            <a:r>
              <a:rPr lang="en-US" sz="1600" b="1" dirty="0" err="1" smtClean="0">
                <a:latin typeface="Consolas" pitchFamily="49" charset="0"/>
              </a:rPr>
              <a:t>products?version</a:t>
            </a:r>
            <a:r>
              <a:rPr lang="en-US" sz="1600" b="1" dirty="0" smtClean="0">
                <a:latin typeface="Consolas" pitchFamily="49" charset="0"/>
              </a:rPr>
              <a:t>=gaming</a:t>
            </a:r>
          </a:p>
          <a:p>
            <a:pPr lvl="1"/>
            <a:r>
              <a:rPr lang="en-US" sz="1600" b="1" dirty="0" smtClean="0">
                <a:latin typeface="Consolas" pitchFamily="49" charset="0"/>
              </a:rPr>
              <a:t>GET </a:t>
            </a:r>
            <a:r>
              <a:rPr lang="en-US" sz="1600" b="1" dirty="0" err="1" smtClean="0">
                <a:latin typeface="Consolas" pitchFamily="49" charset="0"/>
              </a:rPr>
              <a:t>api</a:t>
            </a:r>
            <a:r>
              <a:rPr lang="en-US" sz="1600" b="1" dirty="0" smtClean="0">
                <a:latin typeface="Consolas" pitchFamily="49" charset="0"/>
              </a:rPr>
              <a:t>/</a:t>
            </a:r>
            <a:r>
              <a:rPr lang="en-US" sz="1600" b="1" dirty="0" err="1" smtClean="0">
                <a:latin typeface="Consolas" pitchFamily="49" charset="0"/>
              </a:rPr>
              <a:t>products?version</a:t>
            </a:r>
            <a:r>
              <a:rPr lang="en-US" sz="1600" b="1" dirty="0" smtClean="0">
                <a:latin typeface="Consolas" pitchFamily="49" charset="0"/>
              </a:rPr>
              <a:t>=mobile</a:t>
            </a:r>
          </a:p>
          <a:p>
            <a:r>
              <a:rPr lang="en-US" sz="2000" dirty="0" smtClean="0"/>
              <a:t>Some other approaches were more generic, for example partials:</a:t>
            </a:r>
          </a:p>
          <a:p>
            <a:pPr lvl="1"/>
            <a:r>
              <a:rPr lang="en-US" sz="1600" b="1" dirty="0" smtClean="0">
                <a:latin typeface="Consolas" pitchFamily="49" charset="0"/>
              </a:rPr>
              <a:t>GET </a:t>
            </a:r>
            <a:r>
              <a:rPr lang="en-US" sz="1600" b="1" dirty="0" err="1" smtClean="0">
                <a:latin typeface="Consolas" pitchFamily="49" charset="0"/>
              </a:rPr>
              <a:t>api</a:t>
            </a:r>
            <a:r>
              <a:rPr lang="en-US" sz="1600" b="1" dirty="0" smtClean="0">
                <a:latin typeface="Consolas" pitchFamily="49" charset="0"/>
              </a:rPr>
              <a:t>/</a:t>
            </a:r>
            <a:r>
              <a:rPr lang="en-US" sz="1600" b="1" dirty="0" err="1" smtClean="0">
                <a:latin typeface="Consolas" pitchFamily="49" charset="0"/>
              </a:rPr>
              <a:t>products?partial</a:t>
            </a:r>
            <a:r>
              <a:rPr lang="en-US" sz="1600" b="1" dirty="0" smtClean="0">
                <a:latin typeface="Consolas" pitchFamily="49" charset="0"/>
              </a:rPr>
              <a:t>=full</a:t>
            </a:r>
          </a:p>
          <a:p>
            <a:pPr lvl="1"/>
            <a:r>
              <a:rPr lang="en-US" sz="1600" b="1" dirty="0" smtClean="0">
                <a:latin typeface="Consolas" pitchFamily="49" charset="0"/>
              </a:rPr>
              <a:t>GET </a:t>
            </a:r>
            <a:r>
              <a:rPr lang="en-US" sz="1600" b="1" dirty="0" err="1" smtClean="0">
                <a:latin typeface="Consolas" pitchFamily="49" charset="0"/>
              </a:rPr>
              <a:t>api</a:t>
            </a:r>
            <a:r>
              <a:rPr lang="en-US" sz="1600" b="1" dirty="0" smtClean="0">
                <a:latin typeface="Consolas" pitchFamily="49" charset="0"/>
              </a:rPr>
              <a:t>/</a:t>
            </a:r>
            <a:r>
              <a:rPr lang="en-US" sz="1600" b="1" dirty="0" err="1" smtClean="0">
                <a:latin typeface="Consolas" pitchFamily="49" charset="0"/>
              </a:rPr>
              <a:t>products?partial</a:t>
            </a:r>
            <a:r>
              <a:rPr lang="en-US" sz="1600" b="1" dirty="0" smtClean="0">
                <a:latin typeface="Consolas" pitchFamily="49" charset="0"/>
              </a:rPr>
              <a:t>=minimal</a:t>
            </a:r>
          </a:p>
          <a:p>
            <a:r>
              <a:rPr lang="en-US" sz="2000" dirty="0" smtClean="0"/>
              <a:t>And then some others chose a more generic approach, by letting clients select what they wanted back from the server.</a:t>
            </a:r>
          </a:p>
          <a:p>
            <a:pPr lvl="1"/>
            <a:r>
              <a:rPr lang="en-US" sz="1600" b="1" dirty="0" smtClean="0">
                <a:latin typeface="Consolas" pitchFamily="49" charset="0"/>
              </a:rPr>
              <a:t>GET </a:t>
            </a:r>
            <a:r>
              <a:rPr lang="en-US" sz="1600" b="1" dirty="0" err="1" smtClean="0">
                <a:latin typeface="Consolas" pitchFamily="49" charset="0"/>
              </a:rPr>
              <a:t>api</a:t>
            </a:r>
            <a:r>
              <a:rPr lang="en-US" sz="1600" b="1" dirty="0" smtClean="0">
                <a:latin typeface="Consolas" pitchFamily="49" charset="0"/>
              </a:rPr>
              <a:t>/</a:t>
            </a:r>
            <a:r>
              <a:rPr lang="en-US" sz="1600" b="1" dirty="0" err="1" smtClean="0">
                <a:latin typeface="Consolas" pitchFamily="49" charset="0"/>
              </a:rPr>
              <a:t>products?include</a:t>
            </a:r>
            <a:r>
              <a:rPr lang="en-US" sz="1600" b="1" dirty="0" smtClean="0">
                <a:latin typeface="Consolas" pitchFamily="49" charset="0"/>
              </a:rPr>
              <a:t>=</a:t>
            </a:r>
            <a:r>
              <a:rPr lang="en-US" sz="1600" b="1" dirty="0" err="1" smtClean="0">
                <a:latin typeface="Consolas" pitchFamily="49" charset="0"/>
              </a:rPr>
              <a:t>author&amp;fields</a:t>
            </a:r>
            <a:r>
              <a:rPr lang="en-US" sz="1600" b="1" dirty="0" smtClean="0">
                <a:latin typeface="Consolas" pitchFamily="49" charset="0"/>
              </a:rPr>
              <a:t>[products]=</a:t>
            </a:r>
            <a:r>
              <a:rPr lang="en-US" sz="1600" b="1" dirty="0" err="1" smtClean="0">
                <a:latin typeface="Consolas" pitchFamily="49" charset="0"/>
              </a:rPr>
              <a:t>name,price</a:t>
            </a:r>
            <a:endParaRPr lang="en-US" sz="1600" b="1" dirty="0" smtClean="0">
              <a:latin typeface="Consolas" pitchFamily="49" charset="0"/>
            </a:endParaRPr>
          </a:p>
          <a:p>
            <a:r>
              <a:rPr lang="en-US" sz="2000" dirty="0" smtClean="0"/>
              <a:t>Some even went as far as creating a query language in a query parameter. Take a look at this example inspired by Google’s Drive API:</a:t>
            </a:r>
          </a:p>
          <a:p>
            <a:pPr lvl="1"/>
            <a:r>
              <a:rPr lang="en-US" sz="1600" b="1" dirty="0" smtClean="0">
                <a:latin typeface="Consolas" pitchFamily="49" charset="0"/>
              </a:rPr>
              <a:t>GET </a:t>
            </a:r>
            <a:r>
              <a:rPr lang="en-US" sz="1600" b="1" dirty="0" err="1" smtClean="0">
                <a:latin typeface="Consolas" pitchFamily="49" charset="0"/>
              </a:rPr>
              <a:t>api</a:t>
            </a:r>
            <a:r>
              <a:rPr lang="en-US" sz="1600" b="1" dirty="0" smtClean="0">
                <a:latin typeface="Consolas" pitchFamily="49" charset="0"/>
              </a:rPr>
              <a:t>/</a:t>
            </a:r>
            <a:r>
              <a:rPr lang="en-US" sz="1600" b="1" dirty="0" err="1" smtClean="0">
                <a:latin typeface="Consolas" pitchFamily="49" charset="0"/>
              </a:rPr>
              <a:t>products?fields</a:t>
            </a:r>
            <a:r>
              <a:rPr lang="en-US" sz="1600" b="1" dirty="0" smtClean="0">
                <a:latin typeface="Consolas" pitchFamily="49" charset="0"/>
              </a:rPr>
              <a:t>=</a:t>
            </a:r>
            <a:r>
              <a:rPr lang="en-US" sz="1600" b="1" dirty="0" err="1" smtClean="0">
                <a:latin typeface="Consolas" pitchFamily="49" charset="0"/>
              </a:rPr>
              <a:t>name,photos</a:t>
            </a:r>
            <a:r>
              <a:rPr lang="en-US" sz="1600" b="1" dirty="0" smtClean="0">
                <a:latin typeface="Consolas" pitchFamily="49" charset="0"/>
              </a:rPr>
              <a:t>(</a:t>
            </a:r>
            <a:r>
              <a:rPr lang="en-US" sz="1600" b="1" dirty="0" err="1" smtClean="0">
                <a:latin typeface="Consolas" pitchFamily="49" charset="0"/>
              </a:rPr>
              <a:t>title,metadata</a:t>
            </a:r>
            <a:r>
              <a:rPr lang="en-US" sz="1600" b="1" dirty="0" smtClean="0">
                <a:latin typeface="Consolas" pitchFamily="49" charset="0"/>
              </a:rPr>
              <a:t>/height)</a:t>
            </a:r>
            <a:endParaRPr lang="en-US" sz="1600" b="1" dirty="0">
              <a:latin typeface="Consolas"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Netflix's Solution</a:t>
            </a:r>
            <a:endParaRPr lang="en-US" dirty="0"/>
          </a:p>
        </p:txBody>
      </p:sp>
      <p:sp>
        <p:nvSpPr>
          <p:cNvPr id="3" name="Content Placeholder 2"/>
          <p:cNvSpPr>
            <a:spLocks noGrp="1"/>
          </p:cNvSpPr>
          <p:nvPr>
            <p:ph idx="1"/>
          </p:nvPr>
        </p:nvSpPr>
        <p:spPr/>
        <p:txBody>
          <a:bodyPr/>
          <a:lstStyle/>
          <a:p>
            <a:r>
              <a:rPr lang="en-US" sz="2200" dirty="0" smtClean="0"/>
              <a:t>Netflix’s solution involved a new </a:t>
            </a:r>
            <a:r>
              <a:rPr lang="en-US" sz="2200" i="1" dirty="0" smtClean="0">
                <a:solidFill>
                  <a:srgbClr val="C00000"/>
                </a:solidFill>
              </a:rPr>
              <a:t>conceptual layer</a:t>
            </a:r>
            <a:r>
              <a:rPr lang="en-US" sz="2200" dirty="0" smtClean="0"/>
              <a:t> between </a:t>
            </a:r>
            <a:r>
              <a:rPr lang="en-US" sz="2200" u="sng" dirty="0" smtClean="0"/>
              <a:t>the typical client</a:t>
            </a:r>
            <a:r>
              <a:rPr lang="en-US" sz="2200" dirty="0" smtClean="0"/>
              <a:t> and </a:t>
            </a:r>
            <a:r>
              <a:rPr lang="en-US" sz="2200" u="sng" dirty="0" smtClean="0"/>
              <a:t>server layers</a:t>
            </a:r>
            <a:r>
              <a:rPr lang="en-US" sz="2200" dirty="0" smtClean="0"/>
              <a:t>, where client-specific code is hosted on the server.</a:t>
            </a:r>
          </a:p>
          <a:p>
            <a:r>
              <a:rPr lang="en-US" sz="2200" dirty="0" smtClean="0"/>
              <a:t>In their approach, </a:t>
            </a:r>
            <a:r>
              <a:rPr lang="en-US" sz="2200" i="1" dirty="0" smtClean="0">
                <a:solidFill>
                  <a:srgbClr val="C00000"/>
                </a:solidFill>
              </a:rPr>
              <a:t>the server code</a:t>
            </a:r>
            <a:r>
              <a:rPr lang="en-US" sz="2200" dirty="0" smtClean="0"/>
              <a:t> takes care of “</a:t>
            </a:r>
            <a:r>
              <a:rPr lang="en-US" sz="2200" u="sng" dirty="0" smtClean="0"/>
              <a:t>gathering content</a:t>
            </a:r>
            <a:r>
              <a:rPr lang="en-US" sz="2200" dirty="0" smtClean="0"/>
              <a:t>” (fetching data, calling the necessary services) while </a:t>
            </a:r>
            <a:r>
              <a:rPr lang="en-US" sz="2200" i="1" dirty="0" smtClean="0">
                <a:solidFill>
                  <a:srgbClr val="C00000"/>
                </a:solidFill>
              </a:rPr>
              <a:t>the adapter layer</a:t>
            </a:r>
            <a:r>
              <a:rPr lang="en-US" sz="2200" dirty="0" smtClean="0"/>
              <a:t> takes care of </a:t>
            </a:r>
            <a:r>
              <a:rPr lang="en-US" sz="2200" u="sng" dirty="0" smtClean="0"/>
              <a:t>formatting this data</a:t>
            </a:r>
            <a:r>
              <a:rPr lang="en-US" sz="2200" dirty="0" smtClean="0"/>
              <a:t> in the client specific way.</a:t>
            </a:r>
          </a:p>
          <a:p>
            <a:r>
              <a:rPr lang="en-US" sz="2200" dirty="0" smtClean="0"/>
              <a:t>In terms of developer experience, this lets the API team give back some control to client developers, letting them build their client adapters on the server.</a:t>
            </a:r>
          </a:p>
          <a:p>
            <a:r>
              <a:rPr lang="en-US" sz="2200" dirty="0" smtClean="0"/>
              <a:t>While this might sound like just writing many custom endpoints, this architecture makes doing so much more manageable on the server.</a:t>
            </a:r>
            <a:endParaRPr lang="en-US" sz="2200" b="1" dirty="0">
              <a:latin typeface="Consolas" pitchFamily="49"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SoundCloud's</a:t>
            </a:r>
            <a:r>
              <a:rPr lang="en-US" dirty="0" smtClean="0"/>
              <a:t> Solution</a:t>
            </a:r>
            <a:endParaRPr lang="en-US" dirty="0"/>
          </a:p>
        </p:txBody>
      </p:sp>
      <p:sp>
        <p:nvSpPr>
          <p:cNvPr id="3" name="Content Placeholder 2"/>
          <p:cNvSpPr>
            <a:spLocks noGrp="1"/>
          </p:cNvSpPr>
          <p:nvPr>
            <p:ph idx="1"/>
          </p:nvPr>
        </p:nvSpPr>
        <p:spPr/>
        <p:txBody>
          <a:bodyPr/>
          <a:lstStyle/>
          <a:p>
            <a:r>
              <a:rPr lang="en-US" sz="2400" i="1" dirty="0" smtClean="0"/>
              <a:t>"So every time the apps needed a new endpoint, first the frontend team needed to convince the backend team that this was truly the case, then a story needed to be written, prioritized, picked, developed and communicated to the frontend team."</a:t>
            </a:r>
          </a:p>
          <a:p>
            <a:r>
              <a:rPr lang="en-US" sz="2400" dirty="0" smtClean="0"/>
              <a:t>Instead of including advanced customization options to their main API, they decided that </a:t>
            </a:r>
            <a:r>
              <a:rPr lang="en-US" sz="2400" i="1" dirty="0" smtClean="0">
                <a:solidFill>
                  <a:srgbClr val="C00000"/>
                </a:solidFill>
              </a:rPr>
              <a:t>each use case</a:t>
            </a:r>
            <a:r>
              <a:rPr lang="en-US" sz="2400" dirty="0" smtClean="0"/>
              <a:t> would </a:t>
            </a:r>
            <a:r>
              <a:rPr lang="en-US" sz="2400" u="sng" dirty="0" smtClean="0"/>
              <a:t>get its own API server</a:t>
            </a:r>
            <a:r>
              <a:rPr lang="en-US" sz="2400" dirty="0" smtClean="0"/>
              <a:t>.</a:t>
            </a:r>
          </a:p>
          <a:p>
            <a:r>
              <a:rPr lang="en-US" sz="2400" dirty="0" smtClean="0"/>
              <a:t>This would allow developers to optimize each use case effectively without needing to worry about other use cases, which an endpoint-based API performs really well at.</a:t>
            </a:r>
            <a:endParaRPr lang="en-US" sz="2200" b="1" i="1" dirty="0">
              <a:latin typeface="Consolas"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t>
            </a:r>
            <a:r>
              <a:rPr lang="en-US" dirty="0" err="1" smtClean="0"/>
              <a:t>GraphQL</a:t>
            </a:r>
            <a:r>
              <a:rPr lang="en-US" dirty="0" smtClean="0"/>
              <a:t>]</a:t>
            </a:r>
            <a:endParaRPr lang="en-US" dirty="0"/>
          </a:p>
        </p:txBody>
      </p:sp>
      <p:sp>
        <p:nvSpPr>
          <p:cNvPr id="3" name="Content Placeholder 2"/>
          <p:cNvSpPr>
            <a:spLocks noGrp="1"/>
          </p:cNvSpPr>
          <p:nvPr>
            <p:ph idx="1"/>
          </p:nvPr>
        </p:nvSpPr>
        <p:spPr/>
        <p:txBody>
          <a:bodyPr/>
          <a:lstStyle/>
          <a:p>
            <a:r>
              <a:rPr lang="en-US" sz="2400" dirty="0" err="1" smtClean="0"/>
              <a:t>GraphQL</a:t>
            </a:r>
            <a:r>
              <a:rPr lang="en-US" sz="2400" dirty="0" smtClean="0"/>
              <a:t> is not some sort of graph database.</a:t>
            </a:r>
          </a:p>
          <a:p>
            <a:r>
              <a:rPr lang="en-US" sz="2400" dirty="0" err="1" smtClean="0"/>
              <a:t>GraphQL</a:t>
            </a:r>
            <a:r>
              <a:rPr lang="en-US" sz="2400" dirty="0" smtClean="0"/>
              <a:t> is not a library.</a:t>
            </a:r>
          </a:p>
          <a:p>
            <a:r>
              <a:rPr lang="en-US" sz="2400" dirty="0" err="1" smtClean="0"/>
              <a:t>GraphQL</a:t>
            </a:r>
            <a:r>
              <a:rPr lang="en-US" sz="2400" dirty="0" smtClean="0"/>
              <a:t> is not about graph theory.</a:t>
            </a:r>
          </a:p>
          <a:p>
            <a:r>
              <a:rPr lang="en-US" sz="2400" dirty="0" err="1" smtClean="0"/>
              <a:t>GraphQL</a:t>
            </a:r>
            <a:r>
              <a:rPr lang="en-US" sz="2400" dirty="0" smtClean="0"/>
              <a:t> is a </a:t>
            </a:r>
            <a:r>
              <a:rPr lang="en-US" sz="2400" i="1" dirty="0" smtClean="0">
                <a:solidFill>
                  <a:srgbClr val="C00000"/>
                </a:solidFill>
              </a:rPr>
              <a:t>specification</a:t>
            </a:r>
            <a:r>
              <a:rPr lang="en-US" sz="2400" dirty="0" smtClean="0"/>
              <a:t> for an </a:t>
            </a:r>
            <a:r>
              <a:rPr lang="en-US" sz="2400" u="sng" dirty="0" smtClean="0"/>
              <a:t>API query language</a:t>
            </a:r>
            <a:r>
              <a:rPr lang="en-US" sz="2400" dirty="0" smtClean="0"/>
              <a:t> and a </a:t>
            </a:r>
            <a:r>
              <a:rPr lang="en-US" sz="2400" u="sng" dirty="0" smtClean="0"/>
              <a:t>server engine</a:t>
            </a:r>
            <a:r>
              <a:rPr lang="en-US" sz="2400" dirty="0" smtClean="0"/>
              <a:t> capable of </a:t>
            </a:r>
            <a:r>
              <a:rPr lang="en-US" sz="2400" u="sng" dirty="0" smtClean="0"/>
              <a:t>executing such queries</a:t>
            </a:r>
            <a:r>
              <a:rPr lang="en-US" sz="2400" dirty="0" smtClean="0"/>
              <a:t>.</a:t>
            </a:r>
          </a:p>
          <a:p>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Project Structure [2]</a:t>
            </a:r>
            <a:endParaRPr lang="en-US" dirty="0"/>
          </a:p>
        </p:txBody>
      </p:sp>
      <p:sp>
        <p:nvSpPr>
          <p:cNvPr id="3" name="Content Placeholder 2"/>
          <p:cNvSpPr>
            <a:spLocks noGrp="1"/>
          </p:cNvSpPr>
          <p:nvPr>
            <p:ph idx="1"/>
          </p:nvPr>
        </p:nvSpPr>
        <p:spPr/>
        <p:txBody>
          <a:bodyPr/>
          <a:lstStyle/>
          <a:p>
            <a:r>
              <a:rPr lang="en-US" sz="2200" dirty="0" err="1" smtClean="0">
                <a:latin typeface="Consolas" pitchFamily="49" charset="0"/>
              </a:rPr>
              <a:t>mkdir</a:t>
            </a:r>
            <a:r>
              <a:rPr lang="en-US" sz="2200" dirty="0" smtClean="0">
                <a:latin typeface="Consolas" pitchFamily="49" charset="0"/>
              </a:rPr>
              <a:t> </a:t>
            </a:r>
            <a:r>
              <a:rPr lang="en-US" sz="2200" dirty="0" err="1" smtClean="0">
                <a:latin typeface="Consolas" pitchFamily="49" charset="0"/>
              </a:rPr>
              <a:t>notedly</a:t>
            </a:r>
            <a:endParaRPr lang="en-US" sz="2200" dirty="0" smtClean="0">
              <a:latin typeface="Consolas" pitchFamily="49" charset="0"/>
            </a:endParaRPr>
          </a:p>
          <a:p>
            <a:r>
              <a:rPr lang="en-US" sz="2200" dirty="0" err="1" smtClean="0">
                <a:latin typeface="Consolas" pitchFamily="49" charset="0"/>
              </a:rPr>
              <a:t>cd</a:t>
            </a:r>
            <a:r>
              <a:rPr lang="en-US" sz="2200" dirty="0" smtClean="0">
                <a:latin typeface="Consolas" pitchFamily="49" charset="0"/>
              </a:rPr>
              <a:t> </a:t>
            </a:r>
            <a:r>
              <a:rPr lang="en-US" sz="2200" dirty="0" err="1" smtClean="0">
                <a:latin typeface="Consolas" pitchFamily="49" charset="0"/>
              </a:rPr>
              <a:t>notedly</a:t>
            </a:r>
            <a:endParaRPr lang="en-US" sz="2200" dirty="0" smtClean="0">
              <a:latin typeface="Consolas" pitchFamily="49" charset="0"/>
            </a:endParaRPr>
          </a:p>
          <a:p>
            <a:r>
              <a:rPr lang="en-US" sz="2200" dirty="0" err="1" smtClean="0">
                <a:latin typeface="Consolas" pitchFamily="49" charset="0"/>
              </a:rPr>
              <a:t>mkdir</a:t>
            </a:r>
            <a:r>
              <a:rPr lang="en-US" sz="2200" dirty="0" smtClean="0">
                <a:latin typeface="Consolas" pitchFamily="49" charset="0"/>
              </a:rPr>
              <a:t> </a:t>
            </a:r>
            <a:r>
              <a:rPr lang="en-US" sz="2200" dirty="0" err="1" smtClean="0">
                <a:latin typeface="Consolas" pitchFamily="49" charset="0"/>
              </a:rPr>
              <a:t>api</a:t>
            </a:r>
            <a:endParaRPr lang="en-US" sz="2200" dirty="0" smtClean="0">
              <a:latin typeface="Consolas" pitchFamily="49" charset="0"/>
            </a:endParaRPr>
          </a:p>
          <a:p>
            <a:r>
              <a:rPr lang="en-US" sz="2200" dirty="0" err="1" smtClean="0">
                <a:latin typeface="Consolas" pitchFamily="49" charset="0"/>
              </a:rPr>
              <a:t>cd</a:t>
            </a:r>
            <a:r>
              <a:rPr lang="en-US" sz="2200" dirty="0" smtClean="0">
                <a:latin typeface="Consolas" pitchFamily="49" charset="0"/>
              </a:rPr>
              <a:t> </a:t>
            </a:r>
            <a:r>
              <a:rPr lang="en-US" sz="2200" dirty="0" err="1" smtClean="0">
                <a:latin typeface="Consolas" pitchFamily="49" charset="0"/>
              </a:rPr>
              <a:t>api</a:t>
            </a:r>
            <a:endParaRPr lang="en-US" sz="2200" dirty="0" smtClean="0">
              <a:latin typeface="Consolas" pitchFamily="49" charset="0"/>
            </a:endParaRPr>
          </a:p>
          <a:p>
            <a:r>
              <a:rPr lang="en-US" sz="2200" dirty="0" err="1" smtClean="0">
                <a:latin typeface="Consolas" pitchFamily="49" charset="0"/>
              </a:rPr>
              <a:t>npm</a:t>
            </a:r>
            <a:r>
              <a:rPr lang="en-US" sz="2200" dirty="0" smtClean="0">
                <a:latin typeface="Consolas" pitchFamily="49" charset="0"/>
              </a:rPr>
              <a:t> init -y</a:t>
            </a:r>
          </a:p>
          <a:p>
            <a:r>
              <a:rPr lang="en-US" sz="2200" dirty="0" err="1" smtClean="0">
                <a:latin typeface="Consolas" pitchFamily="49" charset="0"/>
              </a:rPr>
              <a:t>mkdir</a:t>
            </a:r>
            <a:r>
              <a:rPr lang="en-US" sz="2200" dirty="0" smtClean="0">
                <a:latin typeface="Consolas" pitchFamily="49" charset="0"/>
              </a:rPr>
              <a:t> </a:t>
            </a:r>
            <a:r>
              <a:rPr lang="en-US" sz="2200" dirty="0" err="1" smtClean="0">
                <a:latin typeface="Consolas" pitchFamily="49" charset="0"/>
              </a:rPr>
              <a:t>src</a:t>
            </a:r>
            <a:endParaRPr lang="en-US" sz="2200" dirty="0" smtClean="0">
              <a:latin typeface="Consolas" pitchFamily="49" charset="0"/>
            </a:endParaRPr>
          </a:p>
          <a:p>
            <a:endParaRPr lang="en-US" sz="2200" dirty="0" smtClean="0">
              <a:latin typeface="Consolas"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Create </a:t>
            </a:r>
            <a:r>
              <a:rPr lang="en-US" dirty="0" err="1" smtClean="0">
                <a:latin typeface="Consolas" pitchFamily="49" charset="0"/>
              </a:rPr>
              <a:t>src</a:t>
            </a:r>
            <a:r>
              <a:rPr lang="en-US" dirty="0" smtClean="0">
                <a:latin typeface="Consolas" pitchFamily="49" charset="0"/>
              </a:rPr>
              <a:t>/index.js</a:t>
            </a:r>
            <a:endParaRPr lang="en-US" dirty="0">
              <a:latin typeface="Consolas" pitchFamily="49" charset="0"/>
            </a:endParaRPr>
          </a:p>
        </p:txBody>
      </p:sp>
      <p:sp>
        <p:nvSpPr>
          <p:cNvPr id="3" name="Content Placeholder 2"/>
          <p:cNvSpPr>
            <a:spLocks noGrp="1"/>
          </p:cNvSpPr>
          <p:nvPr>
            <p:ph idx="1"/>
          </p:nvPr>
        </p:nvSpPr>
        <p:spPr/>
        <p:txBody>
          <a:bodyPr/>
          <a:lstStyle/>
          <a:p>
            <a:endParaRPr lang="en-US" sz="2400" dirty="0" smtClean="0">
              <a:latin typeface="Consolas" pitchFamily="49" charset="0"/>
            </a:endParaRPr>
          </a:p>
          <a:p>
            <a:endParaRPr lang="en-US" sz="2400" dirty="0" smtClean="0">
              <a:latin typeface="Consolas" pitchFamily="49" charset="0"/>
            </a:endParaRPr>
          </a:p>
          <a:p>
            <a:endParaRPr lang="en-US" sz="2400" dirty="0" smtClean="0">
              <a:latin typeface="Consolas" pitchFamily="49" charset="0"/>
            </a:endParaRPr>
          </a:p>
          <a:p>
            <a:endParaRPr lang="en-US" sz="2400" dirty="0" smtClean="0">
              <a:latin typeface="Consolas" pitchFamily="49" charset="0"/>
            </a:endParaRPr>
          </a:p>
          <a:p>
            <a:endParaRPr lang="en-US" sz="2400" dirty="0" smtClean="0">
              <a:latin typeface="Consolas" pitchFamily="49" charset="0"/>
            </a:endParaRPr>
          </a:p>
          <a:p>
            <a:endParaRPr lang="en-US" sz="2400" dirty="0" smtClean="0">
              <a:latin typeface="Consolas" pitchFamily="49" charset="0"/>
            </a:endParaRPr>
          </a:p>
          <a:p>
            <a:endParaRPr lang="en-US" sz="2400" dirty="0" smtClean="0">
              <a:latin typeface="Consolas" pitchFamily="49" charset="0"/>
            </a:endParaRPr>
          </a:p>
          <a:p>
            <a:r>
              <a:rPr lang="en-US" sz="2400" dirty="0" err="1" smtClean="0">
                <a:latin typeface="Consolas" pitchFamily="49" charset="0"/>
              </a:rPr>
              <a:t>npm</a:t>
            </a:r>
            <a:r>
              <a:rPr lang="en-US" sz="2400" dirty="0" smtClean="0">
                <a:latin typeface="Consolas" pitchFamily="49" charset="0"/>
              </a:rPr>
              <a:t> install express</a:t>
            </a:r>
          </a:p>
          <a:p>
            <a:r>
              <a:rPr lang="en-US" sz="2400" dirty="0" smtClean="0">
                <a:latin typeface="Consolas" pitchFamily="49" charset="0"/>
              </a:rPr>
              <a:t>node </a:t>
            </a:r>
            <a:r>
              <a:rPr lang="en-US" sz="2400" dirty="0" err="1" smtClean="0">
                <a:latin typeface="Consolas" pitchFamily="49" charset="0"/>
              </a:rPr>
              <a:t>src</a:t>
            </a:r>
            <a:r>
              <a:rPr lang="en-US" sz="2400" dirty="0" smtClean="0">
                <a:latin typeface="Consolas" pitchFamily="49" charset="0"/>
              </a:rPr>
              <a:t>/index.js</a:t>
            </a:r>
          </a:p>
          <a:p>
            <a:r>
              <a:rPr lang="en-US" sz="2400" dirty="0" smtClean="0">
                <a:latin typeface="Consolas" pitchFamily="49" charset="0"/>
              </a:rPr>
              <a:t>curl http://localhost:4000</a:t>
            </a:r>
          </a:p>
        </p:txBody>
      </p:sp>
      <p:sp>
        <p:nvSpPr>
          <p:cNvPr id="4" name="Rectangle 3"/>
          <p:cNvSpPr/>
          <p:nvPr/>
        </p:nvSpPr>
        <p:spPr>
          <a:xfrm>
            <a:off x="685800" y="1991142"/>
            <a:ext cx="7772400" cy="2123658"/>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2200" dirty="0" smtClean="0">
                <a:solidFill>
                  <a:srgbClr val="569CD6"/>
                </a:solidFill>
                <a:latin typeface="Consolas"/>
              </a:rPr>
              <a:t>const</a:t>
            </a:r>
            <a:r>
              <a:rPr lang="en-US" sz="2200" dirty="0" smtClean="0">
                <a:solidFill>
                  <a:srgbClr val="D4D4D4"/>
                </a:solidFill>
                <a:latin typeface="Consolas"/>
              </a:rPr>
              <a:t> </a:t>
            </a:r>
            <a:r>
              <a:rPr lang="en-US" sz="2200" dirty="0" smtClean="0">
                <a:solidFill>
                  <a:srgbClr val="DCDCAA"/>
                </a:solidFill>
                <a:latin typeface="Consolas"/>
              </a:rPr>
              <a:t>express</a:t>
            </a:r>
            <a:r>
              <a:rPr lang="en-US" sz="2200" dirty="0" smtClean="0">
                <a:solidFill>
                  <a:srgbClr val="D4D4D4"/>
                </a:solidFill>
                <a:latin typeface="Consolas"/>
              </a:rPr>
              <a:t> = </a:t>
            </a:r>
            <a:r>
              <a:rPr lang="en-US" sz="2200" dirty="0" smtClean="0">
                <a:solidFill>
                  <a:srgbClr val="DCDCAA"/>
                </a:solidFill>
                <a:latin typeface="Consolas"/>
              </a:rPr>
              <a:t>require</a:t>
            </a:r>
            <a:r>
              <a:rPr lang="en-US" sz="2200" dirty="0" smtClean="0">
                <a:solidFill>
                  <a:srgbClr val="D4D4D4"/>
                </a:solidFill>
                <a:latin typeface="Consolas"/>
              </a:rPr>
              <a:t>(</a:t>
            </a:r>
            <a:r>
              <a:rPr lang="en-US" sz="2200" dirty="0" smtClean="0">
                <a:solidFill>
                  <a:srgbClr val="CE9178"/>
                </a:solidFill>
                <a:latin typeface="Consolas"/>
              </a:rPr>
              <a:t>'express'</a:t>
            </a:r>
            <a:r>
              <a:rPr lang="en-US" sz="2200" dirty="0" smtClean="0">
                <a:solidFill>
                  <a:srgbClr val="D4D4D4"/>
                </a:solidFill>
                <a:latin typeface="Consolas"/>
              </a:rPr>
              <a:t>);</a:t>
            </a:r>
          </a:p>
          <a:p>
            <a:r>
              <a:rPr lang="en-US" sz="2200" dirty="0" smtClean="0">
                <a:solidFill>
                  <a:srgbClr val="569CD6"/>
                </a:solidFill>
                <a:latin typeface="Consolas"/>
              </a:rPr>
              <a:t>const</a:t>
            </a:r>
            <a:r>
              <a:rPr lang="en-US" sz="2200" dirty="0" smtClean="0">
                <a:solidFill>
                  <a:srgbClr val="D4D4D4"/>
                </a:solidFill>
                <a:latin typeface="Consolas"/>
              </a:rPr>
              <a:t> </a:t>
            </a:r>
            <a:r>
              <a:rPr lang="en-US" sz="2200" dirty="0" smtClean="0">
                <a:solidFill>
                  <a:srgbClr val="4FC1FF"/>
                </a:solidFill>
                <a:latin typeface="Consolas"/>
              </a:rPr>
              <a:t>app</a:t>
            </a:r>
            <a:r>
              <a:rPr lang="en-US" sz="2200" dirty="0" smtClean="0">
                <a:solidFill>
                  <a:srgbClr val="D4D4D4"/>
                </a:solidFill>
                <a:latin typeface="Consolas"/>
              </a:rPr>
              <a:t> = </a:t>
            </a:r>
            <a:r>
              <a:rPr lang="en-US" sz="2200" dirty="0" smtClean="0">
                <a:solidFill>
                  <a:srgbClr val="DCDCAA"/>
                </a:solidFill>
                <a:latin typeface="Consolas"/>
              </a:rPr>
              <a:t>express</a:t>
            </a:r>
            <a:r>
              <a:rPr lang="en-US" sz="2200" dirty="0" smtClean="0">
                <a:solidFill>
                  <a:srgbClr val="D4D4D4"/>
                </a:solidFill>
                <a:latin typeface="Consolas"/>
              </a:rPr>
              <a:t>();</a:t>
            </a:r>
          </a:p>
          <a:p>
            <a:r>
              <a:rPr lang="en-US" sz="2200" dirty="0" err="1" smtClean="0">
                <a:solidFill>
                  <a:srgbClr val="4FC1FF"/>
                </a:solidFill>
                <a:latin typeface="Consolas"/>
              </a:rPr>
              <a:t>app</a:t>
            </a:r>
            <a:r>
              <a:rPr lang="en-US" sz="2200" dirty="0" err="1" smtClean="0">
                <a:solidFill>
                  <a:srgbClr val="D4D4D4"/>
                </a:solidFill>
                <a:latin typeface="Consolas"/>
              </a:rPr>
              <a:t>.</a:t>
            </a:r>
            <a:r>
              <a:rPr lang="en-US" sz="2200" dirty="0" err="1" smtClean="0">
                <a:solidFill>
                  <a:srgbClr val="DCDCAA"/>
                </a:solidFill>
                <a:latin typeface="Consolas"/>
              </a:rPr>
              <a:t>get</a:t>
            </a:r>
            <a:r>
              <a:rPr lang="en-US" sz="2200" dirty="0" smtClean="0">
                <a:solidFill>
                  <a:srgbClr val="D4D4D4"/>
                </a:solidFill>
                <a:latin typeface="Consolas"/>
              </a:rPr>
              <a:t>(</a:t>
            </a:r>
            <a:r>
              <a:rPr lang="en-US" sz="2200" dirty="0" smtClean="0">
                <a:solidFill>
                  <a:srgbClr val="CE9178"/>
                </a:solidFill>
                <a:latin typeface="Consolas"/>
              </a:rPr>
              <a:t>'/'</a:t>
            </a:r>
            <a:r>
              <a:rPr lang="en-US" sz="2200" dirty="0" smtClean="0">
                <a:solidFill>
                  <a:srgbClr val="D4D4D4"/>
                </a:solidFill>
                <a:latin typeface="Consolas"/>
              </a:rPr>
              <a:t>, (</a:t>
            </a:r>
            <a:r>
              <a:rPr lang="en-US" sz="2200" dirty="0" err="1" smtClean="0">
                <a:solidFill>
                  <a:srgbClr val="9CDCFE"/>
                </a:solidFill>
                <a:latin typeface="Consolas"/>
              </a:rPr>
              <a:t>req</a:t>
            </a:r>
            <a:r>
              <a:rPr lang="en-US" sz="2200" dirty="0" smtClean="0">
                <a:solidFill>
                  <a:srgbClr val="D4D4D4"/>
                </a:solidFill>
                <a:latin typeface="Consolas"/>
              </a:rPr>
              <a:t>, </a:t>
            </a:r>
            <a:r>
              <a:rPr lang="en-US" sz="2200" dirty="0" smtClean="0">
                <a:solidFill>
                  <a:srgbClr val="9CDCFE"/>
                </a:solidFill>
                <a:latin typeface="Consolas"/>
              </a:rPr>
              <a:t>res</a:t>
            </a:r>
            <a:r>
              <a:rPr lang="en-US" sz="2200" dirty="0" smtClean="0">
                <a:solidFill>
                  <a:srgbClr val="D4D4D4"/>
                </a:solidFill>
                <a:latin typeface="Consolas"/>
              </a:rPr>
              <a:t>) </a:t>
            </a:r>
            <a:r>
              <a:rPr lang="en-US" sz="2200" dirty="0" smtClean="0">
                <a:solidFill>
                  <a:srgbClr val="569CD6"/>
                </a:solidFill>
                <a:latin typeface="Consolas"/>
              </a:rPr>
              <a:t>=&gt;</a:t>
            </a:r>
            <a:r>
              <a:rPr lang="en-US" sz="2200" dirty="0" smtClean="0">
                <a:solidFill>
                  <a:srgbClr val="D4D4D4"/>
                </a:solidFill>
                <a:latin typeface="Consolas"/>
              </a:rPr>
              <a:t> </a:t>
            </a:r>
            <a:r>
              <a:rPr lang="en-US" sz="2200" dirty="0" err="1" smtClean="0">
                <a:solidFill>
                  <a:srgbClr val="9CDCFE"/>
                </a:solidFill>
                <a:latin typeface="Consolas"/>
              </a:rPr>
              <a:t>res</a:t>
            </a:r>
            <a:r>
              <a:rPr lang="en-US" sz="2200" dirty="0" err="1" smtClean="0">
                <a:solidFill>
                  <a:srgbClr val="D4D4D4"/>
                </a:solidFill>
                <a:latin typeface="Consolas"/>
              </a:rPr>
              <a:t>.</a:t>
            </a:r>
            <a:r>
              <a:rPr lang="en-US" sz="2200" dirty="0" err="1" smtClean="0">
                <a:solidFill>
                  <a:srgbClr val="DCDCAA"/>
                </a:solidFill>
                <a:latin typeface="Consolas"/>
              </a:rPr>
              <a:t>send</a:t>
            </a:r>
            <a:r>
              <a:rPr lang="en-US" sz="2200" dirty="0" smtClean="0">
                <a:solidFill>
                  <a:srgbClr val="D4D4D4"/>
                </a:solidFill>
                <a:latin typeface="Consolas"/>
              </a:rPr>
              <a:t>(</a:t>
            </a:r>
            <a:r>
              <a:rPr lang="en-US" sz="2200" dirty="0" smtClean="0">
                <a:solidFill>
                  <a:srgbClr val="CE9178"/>
                </a:solidFill>
                <a:latin typeface="Consolas"/>
              </a:rPr>
              <a:t>'Hello World'</a:t>
            </a:r>
            <a:r>
              <a:rPr lang="en-US" sz="2200" dirty="0" smtClean="0">
                <a:solidFill>
                  <a:srgbClr val="D4D4D4"/>
                </a:solidFill>
                <a:latin typeface="Consolas"/>
              </a:rPr>
              <a:t>));</a:t>
            </a:r>
          </a:p>
          <a:p>
            <a:r>
              <a:rPr lang="en-US" sz="2200" dirty="0" err="1" smtClean="0">
                <a:solidFill>
                  <a:srgbClr val="4FC1FF"/>
                </a:solidFill>
                <a:latin typeface="Consolas"/>
              </a:rPr>
              <a:t>app</a:t>
            </a:r>
            <a:r>
              <a:rPr lang="en-US" sz="2200" dirty="0" err="1" smtClean="0">
                <a:solidFill>
                  <a:srgbClr val="D4D4D4"/>
                </a:solidFill>
                <a:latin typeface="Consolas"/>
              </a:rPr>
              <a:t>.</a:t>
            </a:r>
            <a:r>
              <a:rPr lang="en-US" sz="2200" dirty="0" err="1" smtClean="0">
                <a:solidFill>
                  <a:srgbClr val="DCDCAA"/>
                </a:solidFill>
                <a:latin typeface="Consolas"/>
              </a:rPr>
              <a:t>listen</a:t>
            </a:r>
            <a:r>
              <a:rPr lang="en-US" sz="2200" dirty="0" smtClean="0">
                <a:solidFill>
                  <a:srgbClr val="D4D4D4"/>
                </a:solidFill>
                <a:latin typeface="Consolas"/>
              </a:rPr>
              <a:t>(</a:t>
            </a:r>
            <a:r>
              <a:rPr lang="en-US" sz="2200" dirty="0" smtClean="0">
                <a:solidFill>
                  <a:srgbClr val="B5CEA8"/>
                </a:solidFill>
                <a:latin typeface="Consolas"/>
              </a:rPr>
              <a:t>4000</a:t>
            </a:r>
            <a:r>
              <a:rPr lang="en-US" sz="2200" dirty="0" smtClean="0">
                <a:solidFill>
                  <a:srgbClr val="D4D4D4"/>
                </a:solidFill>
                <a:latin typeface="Consolas"/>
              </a:rPr>
              <a:t>, () </a:t>
            </a:r>
            <a:r>
              <a:rPr lang="en-US" sz="2200" dirty="0" smtClean="0">
                <a:solidFill>
                  <a:srgbClr val="569CD6"/>
                </a:solidFill>
                <a:latin typeface="Consolas"/>
              </a:rPr>
              <a:t>=&gt;</a:t>
            </a:r>
            <a:r>
              <a:rPr lang="en-US" sz="2200" dirty="0" smtClean="0">
                <a:solidFill>
                  <a:srgbClr val="D4D4D4"/>
                </a:solidFill>
                <a:latin typeface="Consolas"/>
              </a:rPr>
              <a:t> </a:t>
            </a:r>
            <a:r>
              <a:rPr lang="en-US" sz="2200" dirty="0" smtClean="0">
                <a:solidFill>
                  <a:srgbClr val="9CDCFE"/>
                </a:solidFill>
                <a:latin typeface="Consolas"/>
              </a:rPr>
              <a:t>console</a:t>
            </a:r>
            <a:r>
              <a:rPr lang="en-US" sz="2200" dirty="0" smtClean="0">
                <a:solidFill>
                  <a:srgbClr val="D4D4D4"/>
                </a:solidFill>
                <a:latin typeface="Consolas"/>
              </a:rPr>
              <a:t>.</a:t>
            </a:r>
            <a:r>
              <a:rPr lang="en-US" sz="2200" dirty="0" smtClean="0">
                <a:solidFill>
                  <a:srgbClr val="DCDCAA"/>
                </a:solidFill>
                <a:latin typeface="Consolas"/>
              </a:rPr>
              <a:t>log</a:t>
            </a:r>
            <a:r>
              <a:rPr lang="en-US" sz="2200" dirty="0" smtClean="0">
                <a:solidFill>
                  <a:srgbClr val="D4D4D4"/>
                </a:solidFill>
                <a:latin typeface="Consolas"/>
              </a:rPr>
              <a:t>(</a:t>
            </a:r>
            <a:r>
              <a:rPr lang="en-US" sz="2200" dirty="0" smtClean="0">
                <a:solidFill>
                  <a:srgbClr val="CE9178"/>
                </a:solidFill>
                <a:latin typeface="Consolas"/>
              </a:rPr>
              <a:t>'Listening on port 4000!'</a:t>
            </a:r>
            <a:r>
              <a:rPr lang="en-US" sz="2200" dirty="0" smtClean="0">
                <a:solidFill>
                  <a:srgbClr val="D4D4D4"/>
                </a:solidFill>
                <a:latin typeface="Consolas"/>
              </a:rPr>
              <a:t>));</a:t>
            </a:r>
            <a:endParaRPr lang="en-US" sz="2200" b="0" dirty="0">
              <a:solidFill>
                <a:srgbClr val="D4D4D4"/>
              </a:solidFill>
              <a:latin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Add </a:t>
            </a:r>
            <a:r>
              <a:rPr lang="en-US" dirty="0" smtClean="0">
                <a:latin typeface="Consolas" pitchFamily="49" charset="0"/>
              </a:rPr>
              <a:t>"dev"</a:t>
            </a:r>
            <a:r>
              <a:rPr lang="en-US" dirty="0" smtClean="0"/>
              <a:t> to </a:t>
            </a:r>
            <a:r>
              <a:rPr lang="en-US" dirty="0" err="1" smtClean="0">
                <a:latin typeface="Consolas" pitchFamily="49" charset="0"/>
              </a:rPr>
              <a:t>package.json</a:t>
            </a:r>
            <a:endParaRPr lang="en-US" dirty="0">
              <a:latin typeface="Consolas" pitchFamily="49" charset="0"/>
            </a:endParaRPr>
          </a:p>
        </p:txBody>
      </p:sp>
      <p:sp>
        <p:nvSpPr>
          <p:cNvPr id="3" name="Content Placeholder 2"/>
          <p:cNvSpPr>
            <a:spLocks noGrp="1"/>
          </p:cNvSpPr>
          <p:nvPr>
            <p:ph idx="1"/>
          </p:nvPr>
        </p:nvSpPr>
        <p:spPr/>
        <p:txBody>
          <a:bodyPr/>
          <a:lstStyle/>
          <a:p>
            <a:endParaRPr lang="en-US" sz="2400" dirty="0" smtClean="0">
              <a:latin typeface="Consolas" pitchFamily="49" charset="0"/>
            </a:endParaRPr>
          </a:p>
          <a:p>
            <a:endParaRPr lang="en-US" sz="2400" dirty="0" smtClean="0">
              <a:latin typeface="Consolas" pitchFamily="49" charset="0"/>
            </a:endParaRPr>
          </a:p>
          <a:p>
            <a:endParaRPr lang="en-US" sz="2400" dirty="0" smtClean="0">
              <a:latin typeface="Consolas" pitchFamily="49" charset="0"/>
            </a:endParaRPr>
          </a:p>
          <a:p>
            <a:endParaRPr lang="en-US" sz="2400" dirty="0" smtClean="0">
              <a:latin typeface="Consolas" pitchFamily="49" charset="0"/>
            </a:endParaRPr>
          </a:p>
          <a:p>
            <a:endParaRPr lang="en-US" sz="2400" dirty="0" smtClean="0">
              <a:latin typeface="Consolas" pitchFamily="49" charset="0"/>
            </a:endParaRPr>
          </a:p>
          <a:p>
            <a:endParaRPr lang="en-US" sz="2400" dirty="0" smtClean="0">
              <a:latin typeface="Consolas" pitchFamily="49" charset="0"/>
            </a:endParaRPr>
          </a:p>
          <a:p>
            <a:r>
              <a:rPr lang="en-US" sz="2400" dirty="0" err="1" smtClean="0">
                <a:latin typeface="Consolas" pitchFamily="49" charset="0"/>
              </a:rPr>
              <a:t>npm</a:t>
            </a:r>
            <a:r>
              <a:rPr lang="en-US" sz="2400" dirty="0" smtClean="0">
                <a:latin typeface="Consolas" pitchFamily="49" charset="0"/>
              </a:rPr>
              <a:t> install express</a:t>
            </a:r>
          </a:p>
          <a:p>
            <a:r>
              <a:rPr lang="en-US" sz="2400" dirty="0" err="1" smtClean="0">
                <a:latin typeface="Consolas" pitchFamily="49" charset="0"/>
              </a:rPr>
              <a:t>npm</a:t>
            </a:r>
            <a:r>
              <a:rPr lang="en-US" sz="2400" dirty="0" smtClean="0">
                <a:latin typeface="Consolas" pitchFamily="49" charset="0"/>
              </a:rPr>
              <a:t> install </a:t>
            </a:r>
            <a:r>
              <a:rPr lang="en-US" sz="2400" dirty="0" err="1" smtClean="0">
                <a:latin typeface="Consolas" pitchFamily="49" charset="0"/>
              </a:rPr>
              <a:t>nodemon</a:t>
            </a:r>
            <a:endParaRPr lang="en-US" sz="2400" dirty="0" smtClean="0">
              <a:latin typeface="Consolas" pitchFamily="49" charset="0"/>
            </a:endParaRPr>
          </a:p>
          <a:p>
            <a:r>
              <a:rPr lang="en-US" sz="2400" dirty="0" err="1" smtClean="0">
                <a:latin typeface="Consolas" pitchFamily="49" charset="0"/>
              </a:rPr>
              <a:t>npm</a:t>
            </a:r>
            <a:r>
              <a:rPr lang="en-US" sz="2400" dirty="0" smtClean="0">
                <a:latin typeface="Consolas" pitchFamily="49" charset="0"/>
              </a:rPr>
              <a:t> run dev</a:t>
            </a:r>
          </a:p>
          <a:p>
            <a:r>
              <a:rPr lang="en-US" sz="2400" dirty="0" smtClean="0">
                <a:latin typeface="Consolas" pitchFamily="49" charset="0"/>
              </a:rPr>
              <a:t>curl http://localhost:4000</a:t>
            </a:r>
          </a:p>
        </p:txBody>
      </p:sp>
      <p:sp>
        <p:nvSpPr>
          <p:cNvPr id="4" name="Rectangle 3"/>
          <p:cNvSpPr/>
          <p:nvPr/>
        </p:nvSpPr>
        <p:spPr>
          <a:xfrm>
            <a:off x="685800" y="1991142"/>
            <a:ext cx="7772400" cy="1938992"/>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2400" dirty="0" smtClean="0">
                <a:solidFill>
                  <a:srgbClr val="D4D4D4"/>
                </a:solidFill>
                <a:latin typeface="Consolas"/>
              </a:rPr>
              <a:t>  </a:t>
            </a:r>
            <a:r>
              <a:rPr lang="en-US" sz="2400" dirty="0" smtClean="0">
                <a:solidFill>
                  <a:srgbClr val="9CDCFE"/>
                </a:solidFill>
                <a:latin typeface="Consolas"/>
              </a:rPr>
              <a:t>"scripts"</a:t>
            </a:r>
            <a:r>
              <a:rPr lang="en-US" sz="2400" dirty="0" smtClean="0">
                <a:solidFill>
                  <a:srgbClr val="D4D4D4"/>
                </a:solidFill>
                <a:latin typeface="Consolas"/>
              </a:rPr>
              <a:t>: {</a:t>
            </a:r>
          </a:p>
          <a:p>
            <a:r>
              <a:rPr lang="en-US" sz="2400" dirty="0" smtClean="0">
                <a:solidFill>
                  <a:srgbClr val="D4D4D4"/>
                </a:solidFill>
                <a:latin typeface="Consolas"/>
              </a:rPr>
              <a:t>    </a:t>
            </a:r>
            <a:r>
              <a:rPr lang="en-US" sz="2400" dirty="0" smtClean="0">
                <a:solidFill>
                  <a:srgbClr val="9CDCFE"/>
                </a:solidFill>
                <a:latin typeface="Consolas"/>
              </a:rPr>
              <a:t>"dev"</a:t>
            </a:r>
            <a:r>
              <a:rPr lang="en-US" sz="2400" dirty="0" smtClean="0">
                <a:solidFill>
                  <a:srgbClr val="D4D4D4"/>
                </a:solidFill>
                <a:latin typeface="Consolas"/>
              </a:rPr>
              <a:t>: </a:t>
            </a:r>
            <a:r>
              <a:rPr lang="en-US" sz="2400" dirty="0" smtClean="0">
                <a:solidFill>
                  <a:srgbClr val="CE9178"/>
                </a:solidFill>
                <a:latin typeface="Consolas"/>
              </a:rPr>
              <a:t>"</a:t>
            </a:r>
            <a:r>
              <a:rPr lang="en-US" sz="2400" dirty="0" err="1" smtClean="0">
                <a:solidFill>
                  <a:srgbClr val="CE9178"/>
                </a:solidFill>
                <a:latin typeface="Consolas"/>
              </a:rPr>
              <a:t>nodemon</a:t>
            </a:r>
            <a:r>
              <a:rPr lang="en-US" sz="2400" dirty="0" smtClean="0">
                <a:solidFill>
                  <a:srgbClr val="CE9178"/>
                </a:solidFill>
                <a:latin typeface="Consolas"/>
              </a:rPr>
              <a:t> </a:t>
            </a:r>
            <a:r>
              <a:rPr lang="en-US" sz="2400" dirty="0" err="1" smtClean="0">
                <a:solidFill>
                  <a:srgbClr val="CE9178"/>
                </a:solidFill>
                <a:latin typeface="Consolas"/>
              </a:rPr>
              <a:t>src</a:t>
            </a:r>
            <a:r>
              <a:rPr lang="en-US" sz="2400" dirty="0" smtClean="0">
                <a:solidFill>
                  <a:srgbClr val="CE9178"/>
                </a:solidFill>
                <a:latin typeface="Consolas"/>
              </a:rPr>
              <a:t>/index.js"</a:t>
            </a:r>
            <a:r>
              <a:rPr lang="en-US" sz="2400" dirty="0" smtClean="0">
                <a:solidFill>
                  <a:srgbClr val="D4D4D4"/>
                </a:solidFill>
                <a:latin typeface="Consolas"/>
              </a:rPr>
              <a:t>,</a:t>
            </a:r>
          </a:p>
          <a:p>
            <a:r>
              <a:rPr lang="en-US" sz="2400" dirty="0" smtClean="0">
                <a:solidFill>
                  <a:srgbClr val="D4D4D4"/>
                </a:solidFill>
                <a:latin typeface="Consolas"/>
              </a:rPr>
              <a:t>    </a:t>
            </a:r>
            <a:r>
              <a:rPr lang="en-US" sz="2400" dirty="0" smtClean="0">
                <a:solidFill>
                  <a:srgbClr val="9CDCFE"/>
                </a:solidFill>
                <a:latin typeface="Consolas"/>
              </a:rPr>
              <a:t>"test"</a:t>
            </a:r>
            <a:r>
              <a:rPr lang="en-US" sz="2400" dirty="0" smtClean="0">
                <a:solidFill>
                  <a:srgbClr val="D4D4D4"/>
                </a:solidFill>
                <a:latin typeface="Consolas"/>
              </a:rPr>
              <a:t>: </a:t>
            </a:r>
            <a:r>
              <a:rPr lang="en-US" sz="2400" dirty="0" smtClean="0">
                <a:solidFill>
                  <a:srgbClr val="CE9178"/>
                </a:solidFill>
                <a:latin typeface="Consolas"/>
              </a:rPr>
              <a:t>"echo </a:t>
            </a:r>
            <a:r>
              <a:rPr lang="en-US" sz="2400" dirty="0" smtClean="0">
                <a:solidFill>
                  <a:srgbClr val="D7BA7D"/>
                </a:solidFill>
                <a:latin typeface="Consolas"/>
              </a:rPr>
              <a:t>\"</a:t>
            </a:r>
            <a:r>
              <a:rPr lang="en-US" sz="2400" dirty="0" smtClean="0">
                <a:solidFill>
                  <a:srgbClr val="CE9178"/>
                </a:solidFill>
                <a:latin typeface="Consolas"/>
              </a:rPr>
              <a:t>Error: no test specified</a:t>
            </a:r>
            <a:r>
              <a:rPr lang="en-US" sz="2400" dirty="0" smtClean="0">
                <a:solidFill>
                  <a:srgbClr val="D7BA7D"/>
                </a:solidFill>
                <a:latin typeface="Consolas"/>
              </a:rPr>
              <a:t>\"</a:t>
            </a:r>
            <a:r>
              <a:rPr lang="en-US" sz="2400" dirty="0" smtClean="0">
                <a:solidFill>
                  <a:srgbClr val="CE9178"/>
                </a:solidFill>
                <a:latin typeface="Consolas"/>
              </a:rPr>
              <a:t> &amp;&amp; exit 1"</a:t>
            </a:r>
            <a:endParaRPr lang="en-US" sz="2400" dirty="0" smtClean="0">
              <a:solidFill>
                <a:srgbClr val="D4D4D4"/>
              </a:solidFill>
              <a:latin typeface="Consolas"/>
            </a:endParaRPr>
          </a:p>
          <a:p>
            <a:r>
              <a:rPr lang="en-US" sz="2400" dirty="0" smtClean="0">
                <a:solidFill>
                  <a:srgbClr val="D4D4D4"/>
                </a:solidFill>
                <a:latin typeface="Consolas"/>
              </a:rPr>
              <a:t>  },</a:t>
            </a:r>
            <a:endParaRPr lang="en-US" sz="2400" b="0" dirty="0">
              <a:solidFill>
                <a:srgbClr val="D4D4D4"/>
              </a:solidFill>
              <a:latin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Extend Port Options</a:t>
            </a:r>
            <a:endParaRPr lang="en-US" dirty="0">
              <a:latin typeface="Consolas" pitchFamily="49" charset="0"/>
            </a:endParaRPr>
          </a:p>
        </p:txBody>
      </p:sp>
      <p:sp>
        <p:nvSpPr>
          <p:cNvPr id="4" name="Rectangle 3"/>
          <p:cNvSpPr/>
          <p:nvPr/>
        </p:nvSpPr>
        <p:spPr>
          <a:xfrm>
            <a:off x="685800" y="1991142"/>
            <a:ext cx="7772400" cy="3416320"/>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2400" dirty="0" smtClean="0">
                <a:solidFill>
                  <a:srgbClr val="569CD6"/>
                </a:solidFill>
                <a:latin typeface="Consolas"/>
              </a:rPr>
              <a:t>const</a:t>
            </a:r>
            <a:r>
              <a:rPr lang="en-US" sz="2400" dirty="0" smtClean="0">
                <a:solidFill>
                  <a:srgbClr val="D4D4D4"/>
                </a:solidFill>
                <a:latin typeface="Consolas"/>
              </a:rPr>
              <a:t> </a:t>
            </a:r>
            <a:r>
              <a:rPr lang="en-US" sz="2400" dirty="0" smtClean="0">
                <a:solidFill>
                  <a:srgbClr val="DCDCAA"/>
                </a:solidFill>
                <a:latin typeface="Consolas"/>
              </a:rPr>
              <a:t>express</a:t>
            </a:r>
            <a:r>
              <a:rPr lang="en-US" sz="2400" dirty="0" smtClean="0">
                <a:solidFill>
                  <a:srgbClr val="D4D4D4"/>
                </a:solidFill>
                <a:latin typeface="Consolas"/>
              </a:rPr>
              <a:t> = </a:t>
            </a:r>
            <a:r>
              <a:rPr lang="en-US" sz="2400" dirty="0" smtClean="0">
                <a:solidFill>
                  <a:srgbClr val="DCDCAA"/>
                </a:solidFill>
                <a:latin typeface="Consolas"/>
              </a:rPr>
              <a:t>require</a:t>
            </a:r>
            <a:r>
              <a:rPr lang="en-US" sz="2400" dirty="0" smtClean="0">
                <a:solidFill>
                  <a:srgbClr val="D4D4D4"/>
                </a:solidFill>
                <a:latin typeface="Consolas"/>
              </a:rPr>
              <a:t>(</a:t>
            </a:r>
            <a:r>
              <a:rPr lang="en-US" sz="2400" dirty="0" smtClean="0">
                <a:solidFill>
                  <a:srgbClr val="CE9178"/>
                </a:solidFill>
                <a:latin typeface="Consolas"/>
              </a:rPr>
              <a:t>'express'</a:t>
            </a:r>
            <a:r>
              <a:rPr lang="en-US" sz="2400" dirty="0" smtClean="0">
                <a:solidFill>
                  <a:srgbClr val="D4D4D4"/>
                </a:solidFill>
                <a:latin typeface="Consolas"/>
              </a:rPr>
              <a:t>);</a:t>
            </a:r>
          </a:p>
          <a:p>
            <a:r>
              <a:rPr lang="en-US" sz="2400" dirty="0" smtClean="0">
                <a:solidFill>
                  <a:srgbClr val="569CD6"/>
                </a:solidFill>
                <a:latin typeface="Consolas"/>
              </a:rPr>
              <a:t>const</a:t>
            </a:r>
            <a:r>
              <a:rPr lang="en-US" sz="2400" dirty="0" smtClean="0">
                <a:solidFill>
                  <a:srgbClr val="D4D4D4"/>
                </a:solidFill>
                <a:latin typeface="Consolas"/>
              </a:rPr>
              <a:t> </a:t>
            </a:r>
            <a:r>
              <a:rPr lang="en-US" sz="2400" dirty="0" smtClean="0">
                <a:solidFill>
                  <a:srgbClr val="4FC1FF"/>
                </a:solidFill>
                <a:latin typeface="Consolas"/>
              </a:rPr>
              <a:t>app</a:t>
            </a:r>
            <a:r>
              <a:rPr lang="en-US" sz="2400" dirty="0" smtClean="0">
                <a:solidFill>
                  <a:srgbClr val="D4D4D4"/>
                </a:solidFill>
                <a:latin typeface="Consolas"/>
              </a:rPr>
              <a:t> = </a:t>
            </a:r>
            <a:r>
              <a:rPr lang="en-US" sz="2400" dirty="0" smtClean="0">
                <a:solidFill>
                  <a:srgbClr val="DCDCAA"/>
                </a:solidFill>
                <a:latin typeface="Consolas"/>
              </a:rPr>
              <a:t>express</a:t>
            </a:r>
            <a:r>
              <a:rPr lang="en-US" sz="2400" dirty="0" smtClean="0">
                <a:solidFill>
                  <a:srgbClr val="D4D4D4"/>
                </a:solidFill>
                <a:latin typeface="Consolas"/>
              </a:rPr>
              <a:t>();</a:t>
            </a:r>
          </a:p>
          <a:p>
            <a:r>
              <a:rPr lang="en-US" sz="2400" dirty="0" smtClean="0">
                <a:solidFill>
                  <a:srgbClr val="569CD6"/>
                </a:solidFill>
                <a:latin typeface="Consolas"/>
              </a:rPr>
              <a:t>const</a:t>
            </a:r>
            <a:r>
              <a:rPr lang="en-US" sz="2400" dirty="0" smtClean="0">
                <a:solidFill>
                  <a:srgbClr val="D4D4D4"/>
                </a:solidFill>
                <a:latin typeface="Consolas"/>
              </a:rPr>
              <a:t> </a:t>
            </a:r>
            <a:r>
              <a:rPr lang="en-US" sz="2400" dirty="0" smtClean="0">
                <a:solidFill>
                  <a:srgbClr val="4FC1FF"/>
                </a:solidFill>
                <a:latin typeface="Consolas"/>
              </a:rPr>
              <a:t>port</a:t>
            </a:r>
            <a:r>
              <a:rPr lang="en-US" sz="2400" dirty="0" smtClean="0">
                <a:solidFill>
                  <a:srgbClr val="D4D4D4"/>
                </a:solidFill>
                <a:latin typeface="Consolas"/>
              </a:rPr>
              <a:t> = </a:t>
            </a:r>
            <a:r>
              <a:rPr lang="en-US" sz="2400" dirty="0" err="1" smtClean="0">
                <a:solidFill>
                  <a:srgbClr val="9CDCFE"/>
                </a:solidFill>
                <a:latin typeface="Consolas"/>
              </a:rPr>
              <a:t>process</a:t>
            </a:r>
            <a:r>
              <a:rPr lang="en-US" sz="2400" dirty="0" err="1" smtClean="0">
                <a:solidFill>
                  <a:srgbClr val="D4D4D4"/>
                </a:solidFill>
                <a:latin typeface="Consolas"/>
              </a:rPr>
              <a:t>.</a:t>
            </a:r>
            <a:r>
              <a:rPr lang="en-US" sz="2400" dirty="0" err="1" smtClean="0">
                <a:solidFill>
                  <a:srgbClr val="9CDCFE"/>
                </a:solidFill>
                <a:latin typeface="Consolas"/>
              </a:rPr>
              <a:t>env</a:t>
            </a:r>
            <a:r>
              <a:rPr lang="en-US" sz="2400" dirty="0" err="1" smtClean="0">
                <a:solidFill>
                  <a:srgbClr val="D4D4D4"/>
                </a:solidFill>
                <a:latin typeface="Consolas"/>
              </a:rPr>
              <a:t>.</a:t>
            </a:r>
            <a:r>
              <a:rPr lang="en-US" sz="2400" dirty="0" err="1" smtClean="0">
                <a:solidFill>
                  <a:srgbClr val="4FC1FF"/>
                </a:solidFill>
                <a:latin typeface="Consolas"/>
              </a:rPr>
              <a:t>PORT</a:t>
            </a:r>
            <a:r>
              <a:rPr lang="en-US" sz="2400" dirty="0" smtClean="0">
                <a:solidFill>
                  <a:srgbClr val="D4D4D4"/>
                </a:solidFill>
                <a:latin typeface="Consolas"/>
              </a:rPr>
              <a:t> || </a:t>
            </a:r>
            <a:r>
              <a:rPr lang="en-US" sz="2400" dirty="0" smtClean="0">
                <a:solidFill>
                  <a:srgbClr val="B5CEA8"/>
                </a:solidFill>
                <a:latin typeface="Consolas"/>
              </a:rPr>
              <a:t>4000</a:t>
            </a:r>
            <a:r>
              <a:rPr lang="en-US" sz="2400" dirty="0" smtClean="0">
                <a:solidFill>
                  <a:srgbClr val="D4D4D4"/>
                </a:solidFill>
                <a:latin typeface="Consolas"/>
              </a:rPr>
              <a:t>;</a:t>
            </a:r>
          </a:p>
          <a:p>
            <a:r>
              <a:rPr lang="en-US" sz="2400" dirty="0" err="1" smtClean="0">
                <a:solidFill>
                  <a:srgbClr val="4FC1FF"/>
                </a:solidFill>
                <a:latin typeface="Consolas"/>
              </a:rPr>
              <a:t>app</a:t>
            </a:r>
            <a:r>
              <a:rPr lang="en-US" sz="2400" dirty="0" err="1" smtClean="0">
                <a:solidFill>
                  <a:srgbClr val="D4D4D4"/>
                </a:solidFill>
                <a:latin typeface="Consolas"/>
              </a:rPr>
              <a:t>.</a:t>
            </a:r>
            <a:r>
              <a:rPr lang="en-US" sz="2400" dirty="0" err="1" smtClean="0">
                <a:solidFill>
                  <a:srgbClr val="DCDCAA"/>
                </a:solidFill>
                <a:latin typeface="Consolas"/>
              </a:rPr>
              <a:t>get</a:t>
            </a:r>
            <a:r>
              <a:rPr lang="en-US" sz="2400" dirty="0" smtClean="0">
                <a:solidFill>
                  <a:srgbClr val="D4D4D4"/>
                </a:solidFill>
                <a:latin typeface="Consolas"/>
              </a:rPr>
              <a:t>(</a:t>
            </a:r>
            <a:r>
              <a:rPr lang="en-US" sz="2400" dirty="0" smtClean="0">
                <a:solidFill>
                  <a:srgbClr val="CE9178"/>
                </a:solidFill>
                <a:latin typeface="Consolas"/>
              </a:rPr>
              <a:t>'/'</a:t>
            </a:r>
            <a:r>
              <a:rPr lang="en-US" sz="2400" dirty="0" smtClean="0">
                <a:solidFill>
                  <a:srgbClr val="D4D4D4"/>
                </a:solidFill>
                <a:latin typeface="Consolas"/>
              </a:rPr>
              <a:t>, (</a:t>
            </a:r>
            <a:r>
              <a:rPr lang="en-US" sz="2400" dirty="0" err="1" smtClean="0">
                <a:solidFill>
                  <a:srgbClr val="9CDCFE"/>
                </a:solidFill>
                <a:latin typeface="Consolas"/>
              </a:rPr>
              <a:t>req</a:t>
            </a:r>
            <a:r>
              <a:rPr lang="en-US" sz="2400" dirty="0" smtClean="0">
                <a:solidFill>
                  <a:srgbClr val="D4D4D4"/>
                </a:solidFill>
                <a:latin typeface="Consolas"/>
              </a:rPr>
              <a:t>, </a:t>
            </a:r>
            <a:r>
              <a:rPr lang="en-US" sz="2400" dirty="0" smtClean="0">
                <a:solidFill>
                  <a:srgbClr val="9CDCFE"/>
                </a:solidFill>
                <a:latin typeface="Consolas"/>
              </a:rPr>
              <a:t>res</a:t>
            </a:r>
            <a:r>
              <a:rPr lang="en-US" sz="2400" dirty="0" smtClean="0">
                <a:solidFill>
                  <a:srgbClr val="D4D4D4"/>
                </a:solidFill>
                <a:latin typeface="Consolas"/>
              </a:rPr>
              <a:t>) </a:t>
            </a:r>
            <a:r>
              <a:rPr lang="en-US" sz="2400" dirty="0" smtClean="0">
                <a:solidFill>
                  <a:srgbClr val="569CD6"/>
                </a:solidFill>
                <a:latin typeface="Consolas"/>
              </a:rPr>
              <a:t>=&gt;</a:t>
            </a:r>
            <a:r>
              <a:rPr lang="en-US" sz="2400" dirty="0" smtClean="0">
                <a:solidFill>
                  <a:srgbClr val="D4D4D4"/>
                </a:solidFill>
                <a:latin typeface="Consolas"/>
              </a:rPr>
              <a:t> </a:t>
            </a:r>
            <a:r>
              <a:rPr lang="en-US" sz="2400" dirty="0" err="1" smtClean="0">
                <a:solidFill>
                  <a:srgbClr val="9CDCFE"/>
                </a:solidFill>
                <a:latin typeface="Consolas"/>
              </a:rPr>
              <a:t>res</a:t>
            </a:r>
            <a:r>
              <a:rPr lang="en-US" sz="2400" dirty="0" err="1" smtClean="0">
                <a:solidFill>
                  <a:srgbClr val="D4D4D4"/>
                </a:solidFill>
                <a:latin typeface="Consolas"/>
              </a:rPr>
              <a:t>.</a:t>
            </a:r>
            <a:r>
              <a:rPr lang="en-US" sz="2400" dirty="0" err="1" smtClean="0">
                <a:solidFill>
                  <a:srgbClr val="DCDCAA"/>
                </a:solidFill>
                <a:latin typeface="Consolas"/>
              </a:rPr>
              <a:t>send</a:t>
            </a:r>
            <a:r>
              <a:rPr lang="en-US" sz="2400" dirty="0" smtClean="0">
                <a:solidFill>
                  <a:srgbClr val="D4D4D4"/>
                </a:solidFill>
                <a:latin typeface="Consolas"/>
              </a:rPr>
              <a:t>(</a:t>
            </a:r>
            <a:r>
              <a:rPr lang="en-US" sz="2400" dirty="0" smtClean="0">
                <a:solidFill>
                  <a:srgbClr val="CE9178"/>
                </a:solidFill>
                <a:latin typeface="Consolas"/>
              </a:rPr>
              <a:t>'Hello World!!'</a:t>
            </a:r>
            <a:r>
              <a:rPr lang="en-US" sz="2400" dirty="0" smtClean="0">
                <a:solidFill>
                  <a:srgbClr val="D4D4D4"/>
                </a:solidFill>
                <a:latin typeface="Consolas"/>
              </a:rPr>
              <a:t>));</a:t>
            </a:r>
          </a:p>
          <a:p>
            <a:r>
              <a:rPr lang="en-US" sz="2400" dirty="0" err="1" smtClean="0">
                <a:solidFill>
                  <a:srgbClr val="4FC1FF"/>
                </a:solidFill>
                <a:latin typeface="Consolas"/>
              </a:rPr>
              <a:t>app</a:t>
            </a:r>
            <a:r>
              <a:rPr lang="en-US" sz="2400" dirty="0" err="1" smtClean="0">
                <a:solidFill>
                  <a:srgbClr val="D4D4D4"/>
                </a:solidFill>
                <a:latin typeface="Consolas"/>
              </a:rPr>
              <a:t>.</a:t>
            </a:r>
            <a:r>
              <a:rPr lang="en-US" sz="2400" dirty="0" err="1" smtClean="0">
                <a:solidFill>
                  <a:srgbClr val="DCDCAA"/>
                </a:solidFill>
                <a:latin typeface="Consolas"/>
              </a:rPr>
              <a:t>listen</a:t>
            </a:r>
            <a:r>
              <a:rPr lang="en-US" sz="2400" dirty="0" smtClean="0">
                <a:solidFill>
                  <a:srgbClr val="D4D4D4"/>
                </a:solidFill>
                <a:latin typeface="Consolas"/>
              </a:rPr>
              <a:t>(</a:t>
            </a:r>
            <a:r>
              <a:rPr lang="en-US" sz="2400" dirty="0" smtClean="0">
                <a:solidFill>
                  <a:srgbClr val="4FC1FF"/>
                </a:solidFill>
                <a:latin typeface="Consolas"/>
              </a:rPr>
              <a:t>port</a:t>
            </a:r>
            <a:r>
              <a:rPr lang="en-US" sz="2400" dirty="0" smtClean="0">
                <a:solidFill>
                  <a:srgbClr val="D4D4D4"/>
                </a:solidFill>
                <a:latin typeface="Consolas"/>
              </a:rPr>
              <a:t>, () </a:t>
            </a:r>
            <a:r>
              <a:rPr lang="en-US" sz="2400" dirty="0" smtClean="0">
                <a:solidFill>
                  <a:srgbClr val="569CD6"/>
                </a:solidFill>
                <a:latin typeface="Consolas"/>
              </a:rPr>
              <a:t>=&gt;</a:t>
            </a:r>
            <a:endParaRPr lang="en-US" sz="2400" dirty="0" smtClean="0">
              <a:solidFill>
                <a:srgbClr val="D4D4D4"/>
              </a:solidFill>
              <a:latin typeface="Consolas"/>
            </a:endParaRPr>
          </a:p>
          <a:p>
            <a:r>
              <a:rPr lang="en-US" sz="2400" dirty="0" smtClean="0">
                <a:solidFill>
                  <a:srgbClr val="D4D4D4"/>
                </a:solidFill>
                <a:latin typeface="Consolas"/>
              </a:rPr>
              <a:t>    </a:t>
            </a:r>
            <a:r>
              <a:rPr lang="en-US" sz="2400" dirty="0" smtClean="0">
                <a:solidFill>
                  <a:srgbClr val="9CDCFE"/>
                </a:solidFill>
                <a:latin typeface="Consolas"/>
              </a:rPr>
              <a:t>console</a:t>
            </a:r>
            <a:r>
              <a:rPr lang="en-US" sz="2400" dirty="0" smtClean="0">
                <a:solidFill>
                  <a:srgbClr val="D4D4D4"/>
                </a:solidFill>
                <a:latin typeface="Consolas"/>
              </a:rPr>
              <a:t>.</a:t>
            </a:r>
            <a:r>
              <a:rPr lang="en-US" sz="2400" dirty="0" smtClean="0">
                <a:solidFill>
                  <a:srgbClr val="DCDCAA"/>
                </a:solidFill>
                <a:latin typeface="Consolas"/>
              </a:rPr>
              <a:t>log</a:t>
            </a:r>
            <a:r>
              <a:rPr lang="en-US" sz="2400" dirty="0" smtClean="0">
                <a:solidFill>
                  <a:srgbClr val="D4D4D4"/>
                </a:solidFill>
                <a:latin typeface="Consolas"/>
              </a:rPr>
              <a:t>(</a:t>
            </a:r>
            <a:r>
              <a:rPr lang="en-US" sz="2400" dirty="0" smtClean="0">
                <a:solidFill>
                  <a:srgbClr val="CE9178"/>
                </a:solidFill>
                <a:latin typeface="Consolas"/>
              </a:rPr>
              <a:t>`Server running at http://localhost:</a:t>
            </a:r>
            <a:r>
              <a:rPr lang="en-US" sz="2400" dirty="0" smtClean="0">
                <a:solidFill>
                  <a:srgbClr val="569CD6"/>
                </a:solidFill>
                <a:latin typeface="Consolas"/>
              </a:rPr>
              <a:t>${</a:t>
            </a:r>
            <a:r>
              <a:rPr lang="en-US" sz="2400" dirty="0" smtClean="0">
                <a:solidFill>
                  <a:srgbClr val="4FC1FF"/>
                </a:solidFill>
                <a:latin typeface="Consolas"/>
              </a:rPr>
              <a:t>port</a:t>
            </a:r>
            <a:r>
              <a:rPr lang="en-US" sz="2400" dirty="0" smtClean="0">
                <a:solidFill>
                  <a:srgbClr val="569CD6"/>
                </a:solidFill>
                <a:latin typeface="Consolas"/>
              </a:rPr>
              <a:t>}</a:t>
            </a:r>
            <a:r>
              <a:rPr lang="en-US" sz="2400" dirty="0" smtClean="0">
                <a:solidFill>
                  <a:srgbClr val="CE9178"/>
                </a:solidFill>
                <a:latin typeface="Consolas"/>
              </a:rPr>
              <a:t>`</a:t>
            </a:r>
            <a:r>
              <a:rPr lang="en-US" sz="2400" dirty="0" smtClean="0">
                <a:solidFill>
                  <a:srgbClr val="D4D4D4"/>
                </a:solidFill>
                <a:latin typeface="Consolas"/>
              </a:rPr>
              <a:t>)</a:t>
            </a:r>
          </a:p>
          <a:p>
            <a:r>
              <a:rPr lang="en-US" sz="2400" dirty="0" smtClean="0">
                <a:solidFill>
                  <a:srgbClr val="D4D4D4"/>
                </a:solidFill>
                <a:latin typeface="Consolas"/>
              </a:rPr>
              <a:t>);</a:t>
            </a:r>
            <a:endParaRPr lang="en-US" sz="2400" b="0" dirty="0">
              <a:solidFill>
                <a:srgbClr val="D4D4D4"/>
              </a:solidFill>
              <a:latin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Apollo Server</a:t>
            </a:r>
            <a:endParaRPr lang="en-US" dirty="0"/>
          </a:p>
        </p:txBody>
      </p:sp>
      <p:sp>
        <p:nvSpPr>
          <p:cNvPr id="3" name="Content Placeholder 2"/>
          <p:cNvSpPr>
            <a:spLocks noGrp="1"/>
          </p:cNvSpPr>
          <p:nvPr>
            <p:ph idx="1"/>
          </p:nvPr>
        </p:nvSpPr>
        <p:spPr/>
        <p:txBody>
          <a:bodyPr/>
          <a:lstStyle/>
          <a:p>
            <a:r>
              <a:rPr lang="en-US" sz="2400" dirty="0" smtClean="0">
                <a:latin typeface="+mj-lt"/>
              </a:rPr>
              <a:t>Apollo Server is an open source </a:t>
            </a:r>
            <a:r>
              <a:rPr lang="en-US" sz="2400" dirty="0" err="1" smtClean="0">
                <a:latin typeface="+mj-lt"/>
              </a:rPr>
              <a:t>GraphQL</a:t>
            </a:r>
            <a:r>
              <a:rPr lang="en-US" sz="2400" dirty="0" smtClean="0">
                <a:latin typeface="+mj-lt"/>
              </a:rPr>
              <a:t> server library that works with a large number of Node.js server frameworks, including Express, Connect, </a:t>
            </a:r>
            <a:r>
              <a:rPr lang="en-US" sz="2400" dirty="0" err="1" smtClean="0">
                <a:latin typeface="+mj-lt"/>
              </a:rPr>
              <a:t>Hapi</a:t>
            </a:r>
            <a:r>
              <a:rPr lang="en-US" sz="2400" dirty="0" smtClean="0">
                <a:latin typeface="+mj-lt"/>
              </a:rPr>
              <a:t>, and Koa.</a:t>
            </a:r>
          </a:p>
          <a:p>
            <a:r>
              <a:rPr lang="en-US" sz="2400" dirty="0" smtClean="0">
                <a:latin typeface="+mj-lt"/>
              </a:rPr>
              <a:t>It enables us to serve data as a </a:t>
            </a:r>
            <a:r>
              <a:rPr lang="en-US" sz="2400" dirty="0" err="1" smtClean="0">
                <a:latin typeface="+mj-lt"/>
              </a:rPr>
              <a:t>GraphQL</a:t>
            </a:r>
            <a:r>
              <a:rPr lang="en-US" sz="2400" dirty="0" smtClean="0">
                <a:latin typeface="+mj-lt"/>
              </a:rPr>
              <a:t> API from a Node.js application and also provides helpful tooling such as the </a:t>
            </a:r>
            <a:r>
              <a:rPr lang="en-US" sz="2400" dirty="0" err="1" smtClean="0">
                <a:latin typeface="+mj-lt"/>
              </a:rPr>
              <a:t>GraphQL</a:t>
            </a:r>
            <a:r>
              <a:rPr lang="en-US" sz="2400" dirty="0" smtClean="0">
                <a:latin typeface="+mj-lt"/>
              </a:rPr>
              <a:t> Playground, a visual helper for working with our API in development.</a:t>
            </a:r>
          </a:p>
          <a:p>
            <a:r>
              <a:rPr lang="en-US" sz="2400" dirty="0" smtClean="0">
                <a:latin typeface="+mj-lt"/>
                <a:hlinkClick r:id="rId2"/>
              </a:rPr>
              <a:t>https://github.com/apollographql/apollo-server</a:t>
            </a:r>
            <a:endParaRPr lang="en-US" sz="2400" dirty="0" smtClean="0">
              <a:latin typeface="+mj-lt"/>
            </a:endParaRPr>
          </a:p>
          <a:p>
            <a:endParaRPr lang="en-US" sz="2400" dirty="0" smtClean="0">
              <a:latin typeface="+mj-lt"/>
            </a:endParaRPr>
          </a:p>
          <a:p>
            <a:endParaRPr lang="en-US" sz="2400" dirty="0" smtClean="0">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Construct a Schema</a:t>
            </a:r>
            <a:endParaRPr lang="en-US" dirty="0"/>
          </a:p>
        </p:txBody>
      </p:sp>
      <p:sp>
        <p:nvSpPr>
          <p:cNvPr id="3" name="Content Placeholder 2"/>
          <p:cNvSpPr>
            <a:spLocks noGrp="1"/>
          </p:cNvSpPr>
          <p:nvPr>
            <p:ph idx="1"/>
          </p:nvPr>
        </p:nvSpPr>
        <p:spPr/>
        <p:txBody>
          <a:bodyPr/>
          <a:lstStyle/>
          <a:p>
            <a:r>
              <a:rPr lang="en-US" sz="2400" dirty="0" smtClean="0"/>
              <a:t>This schema will describe a single Query named hello that will return a string.</a:t>
            </a:r>
          </a:p>
          <a:p>
            <a:r>
              <a:rPr lang="en-US" sz="2400" dirty="0" smtClean="0"/>
              <a:t>The schema is store in a variable called </a:t>
            </a:r>
            <a:r>
              <a:rPr lang="en-US" sz="2400" dirty="0" err="1" smtClean="0"/>
              <a:t>typeDefs</a:t>
            </a:r>
            <a:r>
              <a:rPr lang="en-US" sz="2400" dirty="0" smtClean="0"/>
              <a:t>.</a:t>
            </a:r>
            <a:endParaRPr lang="en-US" sz="2400" dirty="0"/>
          </a:p>
        </p:txBody>
      </p:sp>
      <p:sp>
        <p:nvSpPr>
          <p:cNvPr id="4" name="Rectangle 3"/>
          <p:cNvSpPr/>
          <p:nvPr/>
        </p:nvSpPr>
        <p:spPr>
          <a:xfrm>
            <a:off x="685800" y="3312855"/>
            <a:ext cx="7772400" cy="2554545"/>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569CD6"/>
                </a:solidFill>
                <a:latin typeface="Consolas"/>
              </a:rPr>
              <a:t>const</a:t>
            </a:r>
            <a:r>
              <a:rPr lang="en-US" sz="1600" dirty="0" smtClean="0">
                <a:solidFill>
                  <a:srgbClr val="D4D4D4"/>
                </a:solidFill>
                <a:latin typeface="Consolas"/>
              </a:rPr>
              <a:t> </a:t>
            </a:r>
            <a:r>
              <a:rPr lang="en-US" sz="1600" dirty="0" smtClean="0">
                <a:solidFill>
                  <a:srgbClr val="DCDCAA"/>
                </a:solidFill>
                <a:latin typeface="Consolas"/>
              </a:rPr>
              <a:t>express</a:t>
            </a:r>
            <a:r>
              <a:rPr lang="en-US" sz="1600" dirty="0" smtClean="0">
                <a:solidFill>
                  <a:srgbClr val="D4D4D4"/>
                </a:solidFill>
                <a:latin typeface="Consolas"/>
              </a:rPr>
              <a:t> = </a:t>
            </a:r>
            <a:r>
              <a:rPr lang="en-US" sz="1600" dirty="0" smtClean="0">
                <a:solidFill>
                  <a:srgbClr val="DCDCAA"/>
                </a:solidFill>
                <a:latin typeface="Consolas"/>
              </a:rPr>
              <a:t>require</a:t>
            </a:r>
            <a:r>
              <a:rPr lang="en-US" sz="1600" dirty="0" smtClean="0">
                <a:solidFill>
                  <a:srgbClr val="D4D4D4"/>
                </a:solidFill>
                <a:latin typeface="Consolas"/>
              </a:rPr>
              <a:t>(</a:t>
            </a:r>
            <a:r>
              <a:rPr lang="en-US" sz="1600" dirty="0" smtClean="0">
                <a:solidFill>
                  <a:srgbClr val="CE9178"/>
                </a:solidFill>
                <a:latin typeface="Consolas"/>
              </a:rPr>
              <a:t>'express'</a:t>
            </a:r>
            <a:r>
              <a:rPr lang="en-US" sz="1600" dirty="0" smtClean="0">
                <a:solidFill>
                  <a:srgbClr val="D4D4D4"/>
                </a:solidFill>
                <a:latin typeface="Consolas"/>
              </a:rPr>
              <a:t>);</a:t>
            </a:r>
          </a:p>
          <a:p>
            <a:r>
              <a:rPr lang="en-US" sz="1600" dirty="0" smtClean="0">
                <a:solidFill>
                  <a:srgbClr val="569CD6"/>
                </a:solidFill>
                <a:latin typeface="Consolas"/>
              </a:rPr>
              <a:t>const</a:t>
            </a:r>
            <a:r>
              <a:rPr lang="en-US" sz="1600" dirty="0" smtClean="0">
                <a:solidFill>
                  <a:srgbClr val="D4D4D4"/>
                </a:solidFill>
                <a:latin typeface="Consolas"/>
              </a:rPr>
              <a:t> { </a:t>
            </a:r>
            <a:r>
              <a:rPr lang="en-US" sz="1600" dirty="0" err="1" smtClean="0">
                <a:solidFill>
                  <a:srgbClr val="4EC9B0"/>
                </a:solidFill>
                <a:latin typeface="Consolas"/>
              </a:rPr>
              <a:t>ApolloServer</a:t>
            </a:r>
            <a:r>
              <a:rPr lang="en-US" sz="1600" dirty="0" smtClean="0">
                <a:solidFill>
                  <a:srgbClr val="D4D4D4"/>
                </a:solidFill>
                <a:latin typeface="Consolas"/>
              </a:rPr>
              <a:t>, </a:t>
            </a:r>
            <a:r>
              <a:rPr lang="en-US" sz="1600" dirty="0" err="1" smtClean="0">
                <a:solidFill>
                  <a:srgbClr val="DCDCAA"/>
                </a:solidFill>
                <a:latin typeface="Consolas"/>
              </a:rPr>
              <a:t>gql</a:t>
            </a:r>
            <a:r>
              <a:rPr lang="en-US" sz="1600" dirty="0" smtClean="0">
                <a:solidFill>
                  <a:srgbClr val="D4D4D4"/>
                </a:solidFill>
                <a:latin typeface="Consolas"/>
              </a:rPr>
              <a:t> } = </a:t>
            </a:r>
            <a:r>
              <a:rPr lang="en-US" sz="1600" dirty="0" smtClean="0">
                <a:solidFill>
                  <a:srgbClr val="DCDCAA"/>
                </a:solidFill>
                <a:latin typeface="Consolas"/>
              </a:rPr>
              <a:t>require</a:t>
            </a:r>
            <a:r>
              <a:rPr lang="en-US" sz="1600" dirty="0" smtClean="0">
                <a:solidFill>
                  <a:srgbClr val="D4D4D4"/>
                </a:solidFill>
                <a:latin typeface="Consolas"/>
              </a:rPr>
              <a:t>(</a:t>
            </a:r>
            <a:r>
              <a:rPr lang="en-US" sz="1600" dirty="0" smtClean="0">
                <a:solidFill>
                  <a:srgbClr val="CE9178"/>
                </a:solidFill>
                <a:latin typeface="Consolas"/>
              </a:rPr>
              <a:t>'</a:t>
            </a:r>
            <a:r>
              <a:rPr lang="en-US" sz="1600" dirty="0" err="1" smtClean="0">
                <a:solidFill>
                  <a:srgbClr val="CE9178"/>
                </a:solidFill>
                <a:latin typeface="Consolas"/>
              </a:rPr>
              <a:t>apollo</a:t>
            </a:r>
            <a:r>
              <a:rPr lang="en-US" sz="1600" dirty="0" smtClean="0">
                <a:solidFill>
                  <a:srgbClr val="CE9178"/>
                </a:solidFill>
                <a:latin typeface="Consolas"/>
              </a:rPr>
              <a:t>-server-express'</a:t>
            </a:r>
            <a:r>
              <a:rPr lang="en-US" sz="1600" dirty="0" smtClean="0">
                <a:solidFill>
                  <a:srgbClr val="D4D4D4"/>
                </a:solidFill>
                <a:latin typeface="Consolas"/>
              </a:rPr>
              <a:t>);</a:t>
            </a:r>
          </a:p>
          <a:p>
            <a:r>
              <a:rPr lang="en-US" sz="1600" dirty="0" smtClean="0">
                <a:solidFill>
                  <a:srgbClr val="569CD6"/>
                </a:solidFill>
                <a:latin typeface="Consolas"/>
              </a:rPr>
              <a:t>const</a:t>
            </a:r>
            <a:r>
              <a:rPr lang="en-US" sz="1600" dirty="0" smtClean="0">
                <a:solidFill>
                  <a:srgbClr val="D4D4D4"/>
                </a:solidFill>
                <a:latin typeface="Consolas"/>
              </a:rPr>
              <a:t> </a:t>
            </a:r>
            <a:r>
              <a:rPr lang="en-US" sz="1600" dirty="0" smtClean="0">
                <a:solidFill>
                  <a:srgbClr val="4FC1FF"/>
                </a:solidFill>
                <a:latin typeface="Consolas"/>
              </a:rPr>
              <a:t>port</a:t>
            </a:r>
            <a:r>
              <a:rPr lang="en-US" sz="1600" dirty="0" smtClean="0">
                <a:solidFill>
                  <a:srgbClr val="D4D4D4"/>
                </a:solidFill>
                <a:latin typeface="Consolas"/>
              </a:rPr>
              <a:t> = </a:t>
            </a:r>
            <a:r>
              <a:rPr lang="en-US" sz="1600" dirty="0" err="1" smtClean="0">
                <a:solidFill>
                  <a:srgbClr val="9CDCFE"/>
                </a:solidFill>
                <a:latin typeface="Consolas"/>
              </a:rPr>
              <a:t>process</a:t>
            </a:r>
            <a:r>
              <a:rPr lang="en-US" sz="1600" dirty="0" err="1" smtClean="0">
                <a:solidFill>
                  <a:srgbClr val="D4D4D4"/>
                </a:solidFill>
                <a:latin typeface="Consolas"/>
              </a:rPr>
              <a:t>.</a:t>
            </a:r>
            <a:r>
              <a:rPr lang="en-US" sz="1600" dirty="0" err="1" smtClean="0">
                <a:solidFill>
                  <a:srgbClr val="9CDCFE"/>
                </a:solidFill>
                <a:latin typeface="Consolas"/>
              </a:rPr>
              <a:t>env</a:t>
            </a:r>
            <a:r>
              <a:rPr lang="en-US" sz="1600" dirty="0" err="1" smtClean="0">
                <a:solidFill>
                  <a:srgbClr val="D4D4D4"/>
                </a:solidFill>
                <a:latin typeface="Consolas"/>
              </a:rPr>
              <a:t>.</a:t>
            </a:r>
            <a:r>
              <a:rPr lang="en-US" sz="1600" dirty="0" err="1" smtClean="0">
                <a:solidFill>
                  <a:srgbClr val="4FC1FF"/>
                </a:solidFill>
                <a:latin typeface="Consolas"/>
              </a:rPr>
              <a:t>PORT</a:t>
            </a:r>
            <a:r>
              <a:rPr lang="en-US" sz="1600" dirty="0" smtClean="0">
                <a:solidFill>
                  <a:srgbClr val="D4D4D4"/>
                </a:solidFill>
                <a:latin typeface="Consolas"/>
              </a:rPr>
              <a:t> || </a:t>
            </a:r>
            <a:r>
              <a:rPr lang="en-US" sz="1600" dirty="0" smtClean="0">
                <a:solidFill>
                  <a:srgbClr val="B5CEA8"/>
                </a:solidFill>
                <a:latin typeface="Consolas"/>
              </a:rPr>
              <a:t>4000</a:t>
            </a:r>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6A9955"/>
                </a:solidFill>
                <a:latin typeface="Consolas"/>
              </a:rPr>
              <a:t>// Construct a schema, using </a:t>
            </a:r>
            <a:r>
              <a:rPr lang="en-US" sz="1600" dirty="0" err="1" smtClean="0">
                <a:solidFill>
                  <a:srgbClr val="6A9955"/>
                </a:solidFill>
                <a:latin typeface="Consolas"/>
              </a:rPr>
              <a:t>GraphQL</a:t>
            </a:r>
            <a:r>
              <a:rPr lang="en-US" sz="1600" dirty="0" smtClean="0">
                <a:solidFill>
                  <a:srgbClr val="6A9955"/>
                </a:solidFill>
                <a:latin typeface="Consolas"/>
              </a:rPr>
              <a:t> schema language</a:t>
            </a:r>
            <a:endParaRPr lang="en-US" sz="1600" dirty="0" smtClean="0">
              <a:solidFill>
                <a:srgbClr val="D4D4D4"/>
              </a:solidFill>
              <a:latin typeface="Consolas"/>
            </a:endParaRPr>
          </a:p>
          <a:p>
            <a:r>
              <a:rPr lang="en-US" sz="1600" dirty="0" smtClean="0">
                <a:solidFill>
                  <a:srgbClr val="569CD6"/>
                </a:solidFill>
                <a:latin typeface="Consolas"/>
              </a:rPr>
              <a:t>const</a:t>
            </a:r>
            <a:r>
              <a:rPr lang="en-US" sz="1600" dirty="0" smtClean="0">
                <a:solidFill>
                  <a:srgbClr val="D4D4D4"/>
                </a:solidFill>
                <a:latin typeface="Consolas"/>
              </a:rPr>
              <a:t> </a:t>
            </a:r>
            <a:r>
              <a:rPr lang="en-US" sz="1600" dirty="0" err="1" smtClean="0">
                <a:solidFill>
                  <a:srgbClr val="4FC1FF"/>
                </a:solidFill>
                <a:latin typeface="Consolas"/>
              </a:rPr>
              <a:t>typeDefs</a:t>
            </a:r>
            <a:r>
              <a:rPr lang="en-US" sz="1600" dirty="0" smtClean="0">
                <a:solidFill>
                  <a:srgbClr val="D4D4D4"/>
                </a:solidFill>
                <a:latin typeface="Consolas"/>
              </a:rPr>
              <a:t> = </a:t>
            </a:r>
            <a:r>
              <a:rPr lang="en-US" sz="1600" dirty="0" err="1" smtClean="0">
                <a:solidFill>
                  <a:srgbClr val="DCDCAA"/>
                </a:solidFill>
                <a:latin typeface="Consolas"/>
              </a:rPr>
              <a:t>gql</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569CD6"/>
                </a:solidFill>
                <a:latin typeface="Consolas"/>
              </a:rPr>
              <a:t>type</a:t>
            </a:r>
            <a:r>
              <a:rPr lang="en-US" sz="1600" dirty="0" smtClean="0">
                <a:solidFill>
                  <a:srgbClr val="D4D4D4"/>
                </a:solidFill>
                <a:latin typeface="Consolas"/>
              </a:rPr>
              <a:t> </a:t>
            </a:r>
            <a:r>
              <a:rPr lang="en-US" sz="1600" dirty="0" smtClean="0">
                <a:solidFill>
                  <a:srgbClr val="4EC9B0"/>
                </a:solidFill>
                <a:latin typeface="Consolas"/>
              </a:rPr>
              <a:t>Query</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hello</a:t>
            </a:r>
            <a:r>
              <a:rPr lang="en-US" sz="1600" dirty="0" smtClean="0">
                <a:solidFill>
                  <a:srgbClr val="D4D4D4"/>
                </a:solidFill>
                <a:latin typeface="Consolas"/>
              </a:rPr>
              <a:t>: </a:t>
            </a:r>
            <a:r>
              <a:rPr lang="en-US" sz="1600" dirty="0" smtClean="0">
                <a:solidFill>
                  <a:srgbClr val="4EC9B0"/>
                </a:solidFill>
                <a:latin typeface="Consolas"/>
              </a:rPr>
              <a:t>String</a:t>
            </a:r>
            <a:endParaRPr lang="en-US" sz="1600" dirty="0" smtClean="0">
              <a:solidFill>
                <a:srgbClr val="D4D4D4"/>
              </a:solidFill>
              <a:latin typeface="Consolas"/>
            </a:endParaRPr>
          </a:p>
          <a:p>
            <a:r>
              <a:rPr lang="en-US" sz="1600" dirty="0" smtClean="0">
                <a:solidFill>
                  <a:srgbClr val="D4D4D4"/>
                </a:solidFill>
                <a:latin typeface="Consolas"/>
              </a:rPr>
              <a:t>    }</a:t>
            </a:r>
          </a:p>
          <a:p>
            <a:r>
              <a:rPr lang="en-US" sz="1600" dirty="0" smtClean="0">
                <a:solidFill>
                  <a:srgbClr val="D4D4D4"/>
                </a:solidFill>
                <a:latin typeface="Consolas"/>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Add a Resolver</a:t>
            </a:r>
            <a:endParaRPr lang="en-US" dirty="0"/>
          </a:p>
        </p:txBody>
      </p:sp>
      <p:sp>
        <p:nvSpPr>
          <p:cNvPr id="3" name="Content Placeholder 2"/>
          <p:cNvSpPr>
            <a:spLocks noGrp="1"/>
          </p:cNvSpPr>
          <p:nvPr>
            <p:ph idx="1"/>
          </p:nvPr>
        </p:nvSpPr>
        <p:spPr/>
        <p:txBody>
          <a:bodyPr/>
          <a:lstStyle/>
          <a:p>
            <a:r>
              <a:rPr lang="en-US" sz="2400" dirty="0" smtClean="0"/>
              <a:t>This will be a simple function that returns the string “Hello world!”</a:t>
            </a:r>
            <a:endParaRPr lang="en-US" sz="2400" dirty="0"/>
          </a:p>
        </p:txBody>
      </p:sp>
      <p:sp>
        <p:nvSpPr>
          <p:cNvPr id="5" name="Rectangle 4"/>
          <p:cNvSpPr/>
          <p:nvPr/>
        </p:nvSpPr>
        <p:spPr>
          <a:xfrm>
            <a:off x="685800" y="2849940"/>
            <a:ext cx="7772400" cy="1569660"/>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6A9955"/>
                </a:solidFill>
                <a:latin typeface="Consolas"/>
              </a:rPr>
              <a:t>// Provide resolver functions for our schema fields</a:t>
            </a:r>
            <a:endParaRPr lang="en-US" sz="1600" dirty="0" smtClean="0">
              <a:solidFill>
                <a:srgbClr val="D4D4D4"/>
              </a:solidFill>
              <a:latin typeface="Consolas"/>
            </a:endParaRPr>
          </a:p>
          <a:p>
            <a:r>
              <a:rPr lang="en-US" sz="1600" dirty="0" smtClean="0">
                <a:solidFill>
                  <a:srgbClr val="569CD6"/>
                </a:solidFill>
                <a:latin typeface="Consolas"/>
              </a:rPr>
              <a:t>const</a:t>
            </a:r>
            <a:r>
              <a:rPr lang="en-US" sz="1600" dirty="0" smtClean="0">
                <a:solidFill>
                  <a:srgbClr val="D4D4D4"/>
                </a:solidFill>
                <a:latin typeface="Consolas"/>
              </a:rPr>
              <a:t> </a:t>
            </a:r>
            <a:r>
              <a:rPr lang="en-US" sz="1600" dirty="0" smtClean="0">
                <a:solidFill>
                  <a:srgbClr val="4FC1FF"/>
                </a:solidFill>
                <a:latin typeface="Consolas"/>
              </a:rPr>
              <a:t>resolvers</a:t>
            </a:r>
            <a:r>
              <a:rPr lang="en-US" sz="1600" dirty="0" smtClean="0">
                <a:solidFill>
                  <a:srgbClr val="D4D4D4"/>
                </a:solidFill>
                <a:latin typeface="Consolas"/>
              </a:rPr>
              <a:t> = {</a:t>
            </a:r>
          </a:p>
          <a:p>
            <a:r>
              <a:rPr lang="en-US" sz="1600" dirty="0" smtClean="0">
                <a:solidFill>
                  <a:srgbClr val="D4D4D4"/>
                </a:solidFill>
                <a:latin typeface="Consolas"/>
              </a:rPr>
              <a:t>    </a:t>
            </a:r>
            <a:r>
              <a:rPr lang="en-US" sz="1600" dirty="0" smtClean="0">
                <a:solidFill>
                  <a:srgbClr val="9CDCFE"/>
                </a:solidFill>
                <a:latin typeface="Consolas"/>
              </a:rPr>
              <a:t>Query:</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DCDCAA"/>
                </a:solidFill>
                <a:latin typeface="Consolas"/>
              </a:rPr>
              <a:t>hello</a:t>
            </a:r>
            <a:r>
              <a:rPr lang="en-US" sz="1600" dirty="0" smtClean="0">
                <a:solidFill>
                  <a:srgbClr val="9CDCFE"/>
                </a:solidFill>
                <a:latin typeface="Consolas"/>
              </a:rPr>
              <a:t>:</a:t>
            </a:r>
            <a:r>
              <a:rPr lang="en-US" sz="1600" dirty="0" smtClean="0">
                <a:solidFill>
                  <a:srgbClr val="D4D4D4"/>
                </a:solidFill>
                <a:latin typeface="Consolas"/>
              </a:rPr>
              <a:t> () </a:t>
            </a:r>
            <a:r>
              <a:rPr lang="en-US" sz="1600" dirty="0" smtClean="0">
                <a:solidFill>
                  <a:srgbClr val="569CD6"/>
                </a:solidFill>
                <a:latin typeface="Consolas"/>
              </a:rPr>
              <a:t>=&gt;</a:t>
            </a:r>
            <a:r>
              <a:rPr lang="en-US" sz="1600" dirty="0" smtClean="0">
                <a:solidFill>
                  <a:srgbClr val="D4D4D4"/>
                </a:solidFill>
                <a:latin typeface="Consolas"/>
              </a:rPr>
              <a:t> </a:t>
            </a:r>
            <a:r>
              <a:rPr lang="en-US" sz="1600" dirty="0" smtClean="0">
                <a:solidFill>
                  <a:srgbClr val="CE9178"/>
                </a:solidFill>
                <a:latin typeface="Consolas"/>
              </a:rPr>
              <a:t>'Hello World!'</a:t>
            </a:r>
            <a:endParaRPr lang="en-US" sz="1600" dirty="0" smtClean="0">
              <a:solidFill>
                <a:srgbClr val="D4D4D4"/>
              </a:solidFill>
              <a:latin typeface="Consolas"/>
            </a:endParaRPr>
          </a:p>
          <a:p>
            <a:r>
              <a:rPr lang="en-US" sz="1600" dirty="0" smtClean="0">
                <a:solidFill>
                  <a:srgbClr val="D4D4D4"/>
                </a:solidFill>
                <a:latin typeface="Consolas"/>
              </a:rPr>
              <a:t>    }</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7. Integrate Apollo Server</a:t>
            </a:r>
            <a:endParaRPr lang="en-US" dirty="0">
              <a:latin typeface="Consolas" pitchFamily="49" charset="0"/>
            </a:endParaRPr>
          </a:p>
        </p:txBody>
      </p:sp>
      <p:sp>
        <p:nvSpPr>
          <p:cNvPr id="5" name="Rectangle 4"/>
          <p:cNvSpPr/>
          <p:nvPr/>
        </p:nvSpPr>
        <p:spPr>
          <a:xfrm>
            <a:off x="685800" y="1991142"/>
            <a:ext cx="7772400" cy="3877985"/>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569CD6"/>
                </a:solidFill>
                <a:latin typeface="Consolas"/>
              </a:rPr>
              <a:t>const</a:t>
            </a:r>
            <a:r>
              <a:rPr lang="en-US" sz="1600" dirty="0" smtClean="0">
                <a:solidFill>
                  <a:srgbClr val="D4D4D4"/>
                </a:solidFill>
                <a:latin typeface="Consolas"/>
              </a:rPr>
              <a:t> </a:t>
            </a:r>
            <a:r>
              <a:rPr lang="en-US" sz="1600" dirty="0" smtClean="0">
                <a:solidFill>
                  <a:srgbClr val="4FC1FF"/>
                </a:solidFill>
                <a:latin typeface="Consolas"/>
              </a:rPr>
              <a:t>app</a:t>
            </a:r>
            <a:r>
              <a:rPr lang="en-US" sz="1600" dirty="0" smtClean="0">
                <a:solidFill>
                  <a:srgbClr val="D4D4D4"/>
                </a:solidFill>
                <a:latin typeface="Consolas"/>
              </a:rPr>
              <a:t> = </a:t>
            </a:r>
            <a:r>
              <a:rPr lang="en-US" sz="1600" dirty="0" smtClean="0">
                <a:solidFill>
                  <a:srgbClr val="DCDCAA"/>
                </a:solidFill>
                <a:latin typeface="Consolas"/>
              </a:rPr>
              <a:t>express</a:t>
            </a:r>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6A9955"/>
                </a:solidFill>
                <a:latin typeface="Consolas"/>
              </a:rPr>
              <a:t>// Apollo Server setup</a:t>
            </a:r>
            <a:endParaRPr lang="en-US" sz="1600" dirty="0" smtClean="0">
              <a:solidFill>
                <a:srgbClr val="D4D4D4"/>
              </a:solidFill>
              <a:latin typeface="Consolas"/>
            </a:endParaRPr>
          </a:p>
          <a:p>
            <a:r>
              <a:rPr lang="en-US" sz="1600" dirty="0" smtClean="0">
                <a:solidFill>
                  <a:srgbClr val="569CD6"/>
                </a:solidFill>
                <a:latin typeface="Consolas"/>
              </a:rPr>
              <a:t>const</a:t>
            </a:r>
            <a:r>
              <a:rPr lang="en-US" sz="1600" dirty="0" smtClean="0">
                <a:solidFill>
                  <a:srgbClr val="D4D4D4"/>
                </a:solidFill>
                <a:latin typeface="Consolas"/>
              </a:rPr>
              <a:t> </a:t>
            </a:r>
            <a:r>
              <a:rPr lang="en-US" sz="1600" dirty="0" smtClean="0">
                <a:solidFill>
                  <a:srgbClr val="4FC1FF"/>
                </a:solidFill>
                <a:latin typeface="Consolas"/>
              </a:rPr>
              <a:t>server</a:t>
            </a:r>
            <a:r>
              <a:rPr lang="en-US" sz="1600" dirty="0" smtClean="0">
                <a:solidFill>
                  <a:srgbClr val="D4D4D4"/>
                </a:solidFill>
                <a:latin typeface="Consolas"/>
              </a:rPr>
              <a:t> = </a:t>
            </a:r>
            <a:r>
              <a:rPr lang="en-US" sz="1600" dirty="0" smtClean="0">
                <a:solidFill>
                  <a:srgbClr val="569CD6"/>
                </a:solidFill>
                <a:latin typeface="Consolas"/>
              </a:rPr>
              <a:t>new</a:t>
            </a:r>
            <a:r>
              <a:rPr lang="en-US" sz="1600" dirty="0" smtClean="0">
                <a:solidFill>
                  <a:srgbClr val="D4D4D4"/>
                </a:solidFill>
                <a:latin typeface="Consolas"/>
              </a:rPr>
              <a:t> </a:t>
            </a:r>
            <a:r>
              <a:rPr lang="en-US" sz="1600" dirty="0" err="1" smtClean="0">
                <a:solidFill>
                  <a:srgbClr val="4EC9B0"/>
                </a:solidFill>
                <a:latin typeface="Consolas"/>
              </a:rPr>
              <a:t>ApolloServer</a:t>
            </a:r>
            <a:r>
              <a:rPr lang="en-US" sz="1600" dirty="0" smtClean="0">
                <a:solidFill>
                  <a:srgbClr val="D4D4D4"/>
                </a:solidFill>
                <a:latin typeface="Consolas"/>
              </a:rPr>
              <a:t>({ </a:t>
            </a:r>
            <a:r>
              <a:rPr lang="en-US" sz="1600" dirty="0" err="1" smtClean="0">
                <a:solidFill>
                  <a:srgbClr val="9CDCFE"/>
                </a:solidFill>
                <a:latin typeface="Consolas"/>
              </a:rPr>
              <a:t>typeDefs</a:t>
            </a:r>
            <a:r>
              <a:rPr lang="en-US" sz="1600" dirty="0" smtClean="0">
                <a:solidFill>
                  <a:srgbClr val="D4D4D4"/>
                </a:solidFill>
                <a:latin typeface="Consolas"/>
              </a:rPr>
              <a:t>, </a:t>
            </a:r>
            <a:r>
              <a:rPr lang="en-US" sz="1600" dirty="0" smtClean="0">
                <a:solidFill>
                  <a:srgbClr val="9CDCFE"/>
                </a:solidFill>
                <a:latin typeface="Consolas"/>
              </a:rPr>
              <a:t>resolvers</a:t>
            </a:r>
            <a:r>
              <a:rPr lang="en-US" sz="1600" dirty="0" smtClean="0">
                <a:solidFill>
                  <a:srgbClr val="D4D4D4"/>
                </a:solidFill>
                <a:latin typeface="Consolas"/>
              </a:rPr>
              <a:t> });</a:t>
            </a:r>
          </a:p>
          <a:p>
            <a:r>
              <a:rPr lang="en-US" sz="1600" dirty="0" err="1" smtClean="0">
                <a:solidFill>
                  <a:srgbClr val="4FC1FF"/>
                </a:solidFill>
                <a:latin typeface="Consolas"/>
              </a:rPr>
              <a:t>server</a:t>
            </a:r>
            <a:r>
              <a:rPr lang="en-US" sz="1600" dirty="0" err="1" smtClean="0">
                <a:solidFill>
                  <a:srgbClr val="D4D4D4"/>
                </a:solidFill>
                <a:latin typeface="Consolas"/>
              </a:rPr>
              <a:t>.</a:t>
            </a:r>
            <a:r>
              <a:rPr lang="en-US" sz="1600" dirty="0" err="1" smtClean="0">
                <a:solidFill>
                  <a:srgbClr val="DCDCAA"/>
                </a:solidFill>
                <a:latin typeface="Consolas"/>
              </a:rPr>
              <a:t>start</a:t>
            </a:r>
            <a:r>
              <a:rPr lang="en-US" sz="1600" dirty="0" smtClean="0">
                <a:solidFill>
                  <a:srgbClr val="D4D4D4"/>
                </a:solidFill>
                <a:latin typeface="Consolas"/>
              </a:rPr>
              <a:t>().</a:t>
            </a:r>
            <a:r>
              <a:rPr lang="en-US" sz="1600" dirty="0" smtClean="0">
                <a:solidFill>
                  <a:srgbClr val="DCDCAA"/>
                </a:solidFill>
                <a:latin typeface="Consolas"/>
              </a:rPr>
              <a:t>then</a:t>
            </a:r>
            <a:r>
              <a:rPr lang="en-US" sz="1600" dirty="0" smtClean="0">
                <a:solidFill>
                  <a:srgbClr val="D4D4D4"/>
                </a:solidFill>
                <a:latin typeface="Consolas"/>
              </a:rPr>
              <a:t>(() </a:t>
            </a:r>
            <a:r>
              <a:rPr lang="en-US" sz="1600" dirty="0" smtClean="0">
                <a:solidFill>
                  <a:srgbClr val="569CD6"/>
                </a:solidFill>
                <a:latin typeface="Consolas"/>
              </a:rPr>
              <a:t>=&gt;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6A9955"/>
                </a:solidFill>
                <a:latin typeface="Consolas"/>
              </a:rPr>
              <a:t>// Apply the Apollo </a:t>
            </a:r>
            <a:r>
              <a:rPr lang="en-US" sz="1600" dirty="0" err="1" smtClean="0">
                <a:solidFill>
                  <a:srgbClr val="6A9955"/>
                </a:solidFill>
                <a:latin typeface="Consolas"/>
              </a:rPr>
              <a:t>GraphQL</a:t>
            </a:r>
            <a:r>
              <a:rPr lang="en-US" sz="1600" dirty="0" smtClean="0">
                <a:solidFill>
                  <a:srgbClr val="6A9955"/>
                </a:solidFill>
                <a:latin typeface="Consolas"/>
              </a:rPr>
              <a:t> middleware and set the path to /</a:t>
            </a:r>
            <a:r>
              <a:rPr lang="en-US" sz="1600" dirty="0" err="1" smtClean="0">
                <a:solidFill>
                  <a:srgbClr val="6A9955"/>
                </a:solidFill>
                <a:latin typeface="Consolas"/>
              </a:rPr>
              <a:t>api</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4FC1FF"/>
                </a:solidFill>
                <a:latin typeface="Consolas"/>
              </a:rPr>
              <a:t>server</a:t>
            </a:r>
            <a:r>
              <a:rPr lang="en-US" sz="1600" dirty="0" err="1" smtClean="0">
                <a:solidFill>
                  <a:srgbClr val="D4D4D4"/>
                </a:solidFill>
                <a:latin typeface="Consolas"/>
              </a:rPr>
              <a:t>.</a:t>
            </a:r>
            <a:r>
              <a:rPr lang="en-US" sz="1600" dirty="0" err="1" smtClean="0">
                <a:solidFill>
                  <a:srgbClr val="DCDCAA"/>
                </a:solidFill>
                <a:latin typeface="Consolas"/>
              </a:rPr>
              <a:t>applyMiddleware</a:t>
            </a:r>
            <a:r>
              <a:rPr lang="en-US" sz="1600" dirty="0" smtClean="0">
                <a:solidFill>
                  <a:srgbClr val="D4D4D4"/>
                </a:solidFill>
                <a:latin typeface="Consolas"/>
              </a:rPr>
              <a:t>({ </a:t>
            </a:r>
            <a:r>
              <a:rPr lang="en-US" sz="1600" dirty="0" smtClean="0">
                <a:solidFill>
                  <a:srgbClr val="9CDCFE"/>
                </a:solidFill>
                <a:latin typeface="Consolas"/>
              </a:rPr>
              <a:t>app</a:t>
            </a:r>
            <a:r>
              <a:rPr lang="en-US" sz="1600" dirty="0" smtClean="0">
                <a:solidFill>
                  <a:srgbClr val="D4D4D4"/>
                </a:solidFill>
                <a:latin typeface="Consolas"/>
              </a:rPr>
              <a:t>, </a:t>
            </a:r>
            <a:r>
              <a:rPr lang="en-US" sz="1600" dirty="0" smtClean="0">
                <a:solidFill>
                  <a:srgbClr val="9CDCFE"/>
                </a:solidFill>
                <a:latin typeface="Consolas"/>
              </a:rPr>
              <a:t>path:</a:t>
            </a:r>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api</a:t>
            </a:r>
            <a:r>
              <a:rPr lang="en-US" sz="1600" dirty="0" smtClean="0">
                <a:solidFill>
                  <a:srgbClr val="CE9178"/>
                </a:solidFill>
                <a:latin typeface="Consolas"/>
              </a:rPr>
              <a:t>'</a:t>
            </a:r>
            <a:r>
              <a:rPr lang="en-US" sz="1600" dirty="0" smtClean="0">
                <a:solidFill>
                  <a:srgbClr val="D4D4D4"/>
                </a:solidFill>
                <a:latin typeface="Consolas"/>
              </a:rPr>
              <a:t> });</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err="1" smtClean="0">
                <a:solidFill>
                  <a:srgbClr val="4FC1FF"/>
                </a:solidFill>
                <a:latin typeface="Consolas"/>
              </a:rPr>
              <a:t>app</a:t>
            </a:r>
            <a:r>
              <a:rPr lang="en-US" sz="1600" dirty="0" err="1" smtClean="0">
                <a:solidFill>
                  <a:srgbClr val="D4D4D4"/>
                </a:solidFill>
                <a:latin typeface="Consolas"/>
              </a:rPr>
              <a:t>.</a:t>
            </a:r>
            <a:r>
              <a:rPr lang="en-US" sz="1600" dirty="0" err="1" smtClean="0">
                <a:solidFill>
                  <a:srgbClr val="DCDCAA"/>
                </a:solidFill>
                <a:latin typeface="Consolas"/>
              </a:rPr>
              <a:t>listen</a:t>
            </a:r>
            <a:r>
              <a:rPr lang="en-US" sz="1600" dirty="0" smtClean="0">
                <a:solidFill>
                  <a:srgbClr val="D4D4D4"/>
                </a:solidFill>
                <a:latin typeface="Consolas"/>
              </a:rPr>
              <a:t>({ </a:t>
            </a:r>
            <a:r>
              <a:rPr lang="en-US" sz="1600" dirty="0" smtClean="0">
                <a:solidFill>
                  <a:srgbClr val="9CDCFE"/>
                </a:solidFill>
                <a:latin typeface="Consolas"/>
              </a:rPr>
              <a:t>port</a:t>
            </a:r>
            <a:r>
              <a:rPr lang="en-US" sz="1600" dirty="0" smtClean="0">
                <a:solidFill>
                  <a:srgbClr val="D4D4D4"/>
                </a:solidFill>
                <a:latin typeface="Consolas"/>
              </a:rPr>
              <a:t> }, () </a:t>
            </a:r>
            <a:r>
              <a:rPr lang="en-US" sz="1600" dirty="0" smtClean="0">
                <a:solidFill>
                  <a:srgbClr val="569CD6"/>
                </a:solidFill>
                <a:latin typeface="Consolas"/>
              </a:rPr>
              <a:t>=&gt;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9CDCFE"/>
                </a:solidFill>
                <a:latin typeface="Consolas"/>
              </a:rPr>
              <a:t>console</a:t>
            </a:r>
            <a:r>
              <a:rPr lang="en-US" sz="1600" dirty="0" smtClean="0">
                <a:solidFill>
                  <a:srgbClr val="D4D4D4"/>
                </a:solidFill>
                <a:latin typeface="Consolas"/>
              </a:rPr>
              <a:t>.</a:t>
            </a:r>
            <a:r>
              <a:rPr lang="en-US" sz="1600" dirty="0" smtClean="0">
                <a:solidFill>
                  <a:srgbClr val="DCDCAA"/>
                </a:solidFill>
                <a:latin typeface="Consolas"/>
              </a:rPr>
              <a:t>log</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GraphQL</a:t>
            </a:r>
            <a:r>
              <a:rPr lang="en-US" sz="1600" dirty="0" smtClean="0">
                <a:solidFill>
                  <a:srgbClr val="CE9178"/>
                </a:solidFill>
                <a:latin typeface="Consolas"/>
              </a:rPr>
              <a:t> Server running at http://localhost:</a:t>
            </a:r>
            <a:r>
              <a:rPr lang="en-US" sz="1600" dirty="0" smtClean="0">
                <a:solidFill>
                  <a:srgbClr val="569CD6"/>
                </a:solidFill>
                <a:latin typeface="Consolas"/>
              </a:rPr>
              <a:t>${</a:t>
            </a:r>
            <a:r>
              <a:rPr lang="en-US" sz="1600" dirty="0" smtClean="0">
                <a:solidFill>
                  <a:srgbClr val="4FC1FF"/>
                </a:solidFill>
                <a:latin typeface="Consolas"/>
              </a:rPr>
              <a:t>port</a:t>
            </a:r>
            <a:r>
              <a:rPr lang="en-US" sz="1600" dirty="0" smtClean="0">
                <a:solidFill>
                  <a:srgbClr val="569CD6"/>
                </a:solidFill>
                <a:latin typeface="Consolas"/>
              </a:rPr>
              <a:t>}${</a:t>
            </a:r>
            <a:r>
              <a:rPr lang="en-US" sz="1600" dirty="0" smtClean="0">
                <a:solidFill>
                  <a:srgbClr val="4FC1FF"/>
                </a:solidFill>
                <a:latin typeface="Consolas"/>
              </a:rPr>
              <a:t>server</a:t>
            </a:r>
            <a:r>
              <a:rPr lang="en-US" sz="1600" dirty="0" smtClean="0">
                <a:solidFill>
                  <a:srgbClr val="D4D4D4"/>
                </a:solidFill>
                <a:latin typeface="Consolas"/>
              </a:rPr>
              <a:t>.</a:t>
            </a:r>
            <a:r>
              <a:rPr lang="en-US" sz="1600" dirty="0" smtClean="0">
                <a:solidFill>
                  <a:srgbClr val="9CDCFE"/>
                </a:solidFill>
                <a:latin typeface="Consolas"/>
              </a:rPr>
              <a:t>graphqlPath</a:t>
            </a:r>
            <a:r>
              <a:rPr lang="en-US" sz="1600" dirty="0" smtClean="0">
                <a:solidFill>
                  <a:srgbClr val="569CD6"/>
                </a:solidFill>
                <a:latin typeface="Consolas"/>
              </a:rPr>
              <a:t>}</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p>
          <a:p>
            <a:r>
              <a:rPr lang="en-US" sz="1600" dirty="0" smtClean="0">
                <a:solidFill>
                  <a:srgbClr val="D4D4D4"/>
                </a:solidFill>
                <a:latin typeface="Consolas"/>
              </a:rPr>
              <a:t>    );</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8. Hello </a:t>
            </a:r>
            <a:r>
              <a:rPr lang="en-US" dirty="0" err="1" smtClean="0"/>
              <a:t>GraphQL</a:t>
            </a:r>
            <a:endParaRPr lang="en-US" dirty="0">
              <a:latin typeface="Consolas" pitchFamily="49" charset="0"/>
            </a:endParaRPr>
          </a:p>
        </p:txBody>
      </p:sp>
      <p:sp>
        <p:nvSpPr>
          <p:cNvPr id="3" name="Content Placeholder 2"/>
          <p:cNvSpPr>
            <a:spLocks noGrp="1"/>
          </p:cNvSpPr>
          <p:nvPr>
            <p:ph idx="1"/>
          </p:nvPr>
        </p:nvSpPr>
        <p:spPr/>
        <p:txBody>
          <a:bodyPr/>
          <a:lstStyle/>
          <a:p>
            <a:r>
              <a:rPr lang="en-US" sz="2000" dirty="0" err="1" smtClean="0">
                <a:latin typeface="Consolas" pitchFamily="49" charset="0"/>
              </a:rPr>
              <a:t>npm</a:t>
            </a:r>
            <a:r>
              <a:rPr lang="en-US" sz="2000" dirty="0" smtClean="0">
                <a:latin typeface="Consolas" pitchFamily="49" charset="0"/>
              </a:rPr>
              <a:t> install </a:t>
            </a:r>
            <a:r>
              <a:rPr lang="en-US" sz="2000" dirty="0" err="1" smtClean="0">
                <a:latin typeface="Consolas" pitchFamily="49" charset="0"/>
              </a:rPr>
              <a:t>apollo</a:t>
            </a:r>
            <a:r>
              <a:rPr lang="en-US" sz="2000" dirty="0" smtClean="0">
                <a:latin typeface="Consolas" pitchFamily="49" charset="0"/>
              </a:rPr>
              <a:t>-server-express </a:t>
            </a:r>
            <a:r>
              <a:rPr lang="en-US" sz="2000" dirty="0" err="1" smtClean="0">
                <a:latin typeface="Consolas" pitchFamily="49" charset="0"/>
              </a:rPr>
              <a:t>graphql</a:t>
            </a:r>
            <a:endParaRPr lang="en-US" sz="2000" dirty="0" smtClean="0">
              <a:latin typeface="Consolas" pitchFamily="49" charset="0"/>
            </a:endParaRPr>
          </a:p>
          <a:p>
            <a:r>
              <a:rPr lang="en-US" sz="2000" dirty="0" err="1" smtClean="0">
                <a:latin typeface="Consolas" pitchFamily="49" charset="0"/>
              </a:rPr>
              <a:t>npm</a:t>
            </a:r>
            <a:r>
              <a:rPr lang="en-US" sz="2000" dirty="0" smtClean="0">
                <a:latin typeface="Consolas" pitchFamily="49" charset="0"/>
              </a:rPr>
              <a:t> run dev</a:t>
            </a:r>
          </a:p>
          <a:p>
            <a:r>
              <a:rPr lang="en-US" sz="2000" dirty="0" smtClean="0">
                <a:latin typeface="Consolas" pitchFamily="49" charset="0"/>
              </a:rPr>
              <a:t>Open </a:t>
            </a:r>
            <a:r>
              <a:rPr lang="en-US" sz="2000" dirty="0" smtClean="0">
                <a:latin typeface="Consolas" pitchFamily="49" charset="0"/>
                <a:hlinkClick r:id="rId2"/>
              </a:rPr>
              <a:t>http://localhost:4000/api</a:t>
            </a:r>
            <a:r>
              <a:rPr lang="en-US" sz="2000" dirty="0" smtClean="0">
                <a:latin typeface="Consolas" pitchFamily="49" charset="0"/>
              </a:rPr>
              <a:t> using a browser.</a:t>
            </a:r>
          </a:p>
        </p:txBody>
      </p:sp>
      <p:pic>
        <p:nvPicPr>
          <p:cNvPr id="1027" name="Picture 3"/>
          <p:cNvPicPr>
            <a:picLocks noChangeAspect="1" noChangeArrowheads="1"/>
          </p:cNvPicPr>
          <p:nvPr/>
        </p:nvPicPr>
        <p:blipFill>
          <a:blip r:embed="rId3" cstate="print"/>
          <a:srcRect/>
          <a:stretch>
            <a:fillRect/>
          </a:stretch>
        </p:blipFill>
        <p:spPr bwMode="auto">
          <a:xfrm>
            <a:off x="361950" y="3200400"/>
            <a:ext cx="8420100" cy="30099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t>
            </a:r>
            <a:r>
              <a:rPr lang="en-US" dirty="0" err="1" smtClean="0"/>
              <a:t>GraphQL</a:t>
            </a:r>
            <a:r>
              <a:rPr lang="en-US" dirty="0" smtClean="0"/>
              <a:t>? [3]</a:t>
            </a:r>
            <a:endParaRPr lang="en-US" dirty="0"/>
          </a:p>
        </p:txBody>
      </p:sp>
      <p:sp>
        <p:nvSpPr>
          <p:cNvPr id="3" name="Content Placeholder 2"/>
          <p:cNvSpPr>
            <a:spLocks noGrp="1"/>
          </p:cNvSpPr>
          <p:nvPr>
            <p:ph idx="1"/>
          </p:nvPr>
        </p:nvSpPr>
        <p:spPr/>
        <p:txBody>
          <a:bodyPr/>
          <a:lstStyle/>
          <a:p>
            <a:r>
              <a:rPr lang="en-US" sz="2400" dirty="0" smtClean="0"/>
              <a:t>The word graph in </a:t>
            </a:r>
            <a:r>
              <a:rPr lang="en-US" sz="2400" dirty="0" err="1" smtClean="0"/>
              <a:t>GraphQL</a:t>
            </a:r>
            <a:r>
              <a:rPr lang="en-US" sz="2400" dirty="0" smtClean="0"/>
              <a:t> comes from the fact that the best way to </a:t>
            </a:r>
            <a:r>
              <a:rPr lang="en-US" sz="2400" i="1" dirty="0" smtClean="0">
                <a:solidFill>
                  <a:srgbClr val="C00000"/>
                </a:solidFill>
              </a:rPr>
              <a:t>represent data</a:t>
            </a:r>
            <a:r>
              <a:rPr lang="en-US" sz="2400" dirty="0" smtClean="0"/>
              <a:t> in the real world is </a:t>
            </a:r>
            <a:r>
              <a:rPr lang="en-US" sz="2400" u="sng" dirty="0" smtClean="0"/>
              <a:t>with a graph-like data structure</a:t>
            </a:r>
            <a:r>
              <a:rPr lang="en-US" sz="2400" dirty="0" smtClean="0"/>
              <a:t>.</a:t>
            </a:r>
          </a:p>
          <a:p>
            <a:r>
              <a:rPr lang="en-US" sz="2400" dirty="0" smtClean="0"/>
              <a:t>If you analyze any data model, big or small, you’ll always find it to be </a:t>
            </a:r>
            <a:r>
              <a:rPr lang="en-US" sz="2400" i="1" dirty="0" smtClean="0">
                <a:solidFill>
                  <a:srgbClr val="C00000"/>
                </a:solidFill>
              </a:rPr>
              <a:t>a graph of objects</a:t>
            </a:r>
            <a:r>
              <a:rPr lang="en-US" sz="2400" dirty="0" smtClean="0"/>
              <a:t> with many relations between them.</a:t>
            </a:r>
          </a:p>
          <a:p>
            <a:r>
              <a:rPr lang="en-US" sz="2400" i="1" dirty="0" err="1" smtClean="0">
                <a:solidFill>
                  <a:srgbClr val="C00000"/>
                </a:solidFill>
              </a:rPr>
              <a:t>GraphQL</a:t>
            </a:r>
            <a:r>
              <a:rPr lang="en-US" sz="2400" dirty="0" smtClean="0"/>
              <a:t> is </a:t>
            </a:r>
            <a:r>
              <a:rPr lang="en-US" sz="2400" u="sng" dirty="0" smtClean="0"/>
              <a:t>a query language</a:t>
            </a:r>
            <a:r>
              <a:rPr lang="en-US" sz="2400" dirty="0" smtClean="0"/>
              <a:t> for data APIs, but that’s only from the perspective of the frontend consumer of those data APIs.</a:t>
            </a:r>
          </a:p>
          <a:p>
            <a:r>
              <a:rPr lang="en-US" sz="2400" dirty="0" err="1" smtClean="0"/>
              <a:t>GraphQL</a:t>
            </a:r>
            <a:r>
              <a:rPr lang="en-US" sz="2400" dirty="0" smtClean="0"/>
              <a:t> is also </a:t>
            </a:r>
            <a:r>
              <a:rPr lang="en-US" sz="2400" u="sng" dirty="0" smtClean="0"/>
              <a:t>a runtime layer</a:t>
            </a:r>
            <a:r>
              <a:rPr lang="en-US" sz="2400" dirty="0" smtClean="0"/>
              <a:t> that needs to be implemented on the backend, and that layer is what makes the frontend consumer able to use the new language.</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err="1" smtClean="0"/>
              <a:t>GraphQL</a:t>
            </a:r>
            <a:r>
              <a:rPr lang="en-US" sz="4000" dirty="0" smtClean="0"/>
              <a:t> is a Language and a Runtime</a:t>
            </a:r>
            <a:endParaRPr lang="en-US" sz="4000" dirty="0"/>
          </a:p>
        </p:txBody>
      </p:sp>
      <p:pic>
        <p:nvPicPr>
          <p:cNvPr id="1027" name="Picture 3"/>
          <p:cNvPicPr>
            <a:picLocks noChangeAspect="1" noChangeArrowheads="1"/>
          </p:cNvPicPr>
          <p:nvPr/>
        </p:nvPicPr>
        <p:blipFill>
          <a:blip r:embed="rId2" cstate="print"/>
          <a:srcRect/>
          <a:stretch>
            <a:fillRect/>
          </a:stretch>
        </p:blipFill>
        <p:spPr bwMode="auto">
          <a:xfrm>
            <a:off x="1633538" y="1971675"/>
            <a:ext cx="5876925" cy="359092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GraphQL</a:t>
            </a:r>
            <a:r>
              <a:rPr lang="en-US" dirty="0" smtClean="0"/>
              <a:t> APIs vs. REST APIs</a:t>
            </a:r>
            <a:endParaRPr lang="en-US" dirty="0"/>
          </a:p>
        </p:txBody>
      </p:sp>
      <p:sp>
        <p:nvSpPr>
          <p:cNvPr id="3" name="Content Placeholder 2"/>
          <p:cNvSpPr>
            <a:spLocks noGrp="1"/>
          </p:cNvSpPr>
          <p:nvPr>
            <p:ph idx="1"/>
          </p:nvPr>
        </p:nvSpPr>
        <p:spPr/>
        <p:txBody>
          <a:bodyPr/>
          <a:lstStyle/>
          <a:p>
            <a:r>
              <a:rPr lang="en-US" sz="2200" dirty="0" smtClean="0"/>
              <a:t>Unlike REST where you might need to have </a:t>
            </a:r>
            <a:r>
              <a:rPr lang="en-US" sz="2200" i="1" dirty="0" smtClean="0">
                <a:solidFill>
                  <a:srgbClr val="C00000"/>
                </a:solidFill>
              </a:rPr>
              <a:t>several endpoints</a:t>
            </a:r>
            <a:r>
              <a:rPr lang="en-US" sz="2200" dirty="0" smtClean="0"/>
              <a:t> to get you the data you need, </a:t>
            </a:r>
            <a:r>
              <a:rPr lang="en-US" sz="2200" dirty="0" err="1" smtClean="0"/>
              <a:t>GraphQL</a:t>
            </a:r>
            <a:r>
              <a:rPr lang="en-US" sz="2200" dirty="0" smtClean="0"/>
              <a:t> exposes only </a:t>
            </a:r>
            <a:r>
              <a:rPr lang="en-US" sz="2200" i="1" dirty="0" smtClean="0">
                <a:solidFill>
                  <a:srgbClr val="C00000"/>
                </a:solidFill>
              </a:rPr>
              <a:t>a single endpoint</a:t>
            </a:r>
            <a:r>
              <a:rPr lang="en-US" sz="2200" dirty="0" smtClean="0"/>
              <a:t>.</a:t>
            </a:r>
          </a:p>
          <a:p>
            <a:r>
              <a:rPr lang="en-US" sz="2200" dirty="0" smtClean="0"/>
              <a:t>REST works on </a:t>
            </a:r>
            <a:r>
              <a:rPr lang="en-US" sz="2200" i="1" dirty="0" smtClean="0">
                <a:solidFill>
                  <a:srgbClr val="C00000"/>
                </a:solidFill>
              </a:rPr>
              <a:t>Http only</a:t>
            </a:r>
            <a:r>
              <a:rPr lang="en-US" sz="2200" dirty="0" smtClean="0"/>
              <a:t> while </a:t>
            </a:r>
            <a:r>
              <a:rPr lang="en-US" sz="2200" dirty="0" err="1" smtClean="0"/>
              <a:t>GraphQL</a:t>
            </a:r>
            <a:r>
              <a:rPr lang="en-US" sz="2200" dirty="0" smtClean="0"/>
              <a:t> </a:t>
            </a:r>
            <a:r>
              <a:rPr lang="en-US" sz="2200" i="1" dirty="0" smtClean="0">
                <a:solidFill>
                  <a:srgbClr val="C00000"/>
                </a:solidFill>
              </a:rPr>
              <a:t>doesn’t need Http</a:t>
            </a:r>
            <a:r>
              <a:rPr lang="en-US" sz="2200" dirty="0" smtClean="0"/>
              <a:t> to work.</a:t>
            </a:r>
          </a:p>
          <a:p>
            <a:r>
              <a:rPr lang="en-US" sz="2200" dirty="0" smtClean="0"/>
              <a:t>Unlike REST where you can use </a:t>
            </a:r>
            <a:r>
              <a:rPr lang="en-US" sz="2200" i="1" dirty="0" smtClean="0">
                <a:solidFill>
                  <a:srgbClr val="C00000"/>
                </a:solidFill>
              </a:rPr>
              <a:t>any Http verb</a:t>
            </a:r>
            <a:r>
              <a:rPr lang="en-US" sz="2200" dirty="0" smtClean="0"/>
              <a:t>, </a:t>
            </a:r>
            <a:r>
              <a:rPr lang="en-US" sz="2200" dirty="0" err="1" smtClean="0"/>
              <a:t>GraphQL</a:t>
            </a:r>
            <a:r>
              <a:rPr lang="en-US" sz="2200" dirty="0" smtClean="0"/>
              <a:t> recommends using </a:t>
            </a:r>
            <a:r>
              <a:rPr lang="en-US" sz="2200" i="1" dirty="0" smtClean="0">
                <a:solidFill>
                  <a:srgbClr val="C00000"/>
                </a:solidFill>
              </a:rPr>
              <a:t>only the Http POST verb</a:t>
            </a:r>
            <a:r>
              <a:rPr lang="en-US" sz="2200" dirty="0" smtClean="0"/>
              <a:t>.</a:t>
            </a:r>
          </a:p>
          <a:p>
            <a:r>
              <a:rPr lang="en-US" sz="2200" dirty="0" smtClean="0"/>
              <a:t>Unlike REST where the </a:t>
            </a:r>
            <a:r>
              <a:rPr lang="en-US" sz="2200" u="sng" dirty="0" smtClean="0"/>
              <a:t>request</a:t>
            </a:r>
            <a:r>
              <a:rPr lang="en-US" sz="2200" dirty="0" smtClean="0"/>
              <a:t> and </a:t>
            </a:r>
            <a:r>
              <a:rPr lang="en-US" sz="2200" u="sng" dirty="0" smtClean="0"/>
              <a:t>response</a:t>
            </a:r>
            <a:r>
              <a:rPr lang="en-US" sz="2200" dirty="0" smtClean="0"/>
              <a:t> are </a:t>
            </a:r>
            <a:r>
              <a:rPr lang="en-US" sz="2200" i="1" dirty="0" smtClean="0">
                <a:solidFill>
                  <a:srgbClr val="C00000"/>
                </a:solidFill>
              </a:rPr>
              <a:t>defined by the API</a:t>
            </a:r>
            <a:r>
              <a:rPr lang="en-US" sz="2200" dirty="0" smtClean="0"/>
              <a:t>, the clients or the </a:t>
            </a:r>
            <a:r>
              <a:rPr lang="en-US" sz="2200" i="1" dirty="0" smtClean="0">
                <a:solidFill>
                  <a:srgbClr val="C00000"/>
                </a:solidFill>
              </a:rPr>
              <a:t>consumers of </a:t>
            </a:r>
            <a:r>
              <a:rPr lang="en-US" sz="2200" i="1" dirty="0" err="1" smtClean="0">
                <a:solidFill>
                  <a:srgbClr val="C00000"/>
                </a:solidFill>
              </a:rPr>
              <a:t>GraphQL</a:t>
            </a:r>
            <a:r>
              <a:rPr lang="en-US" sz="2200" dirty="0" smtClean="0"/>
              <a:t> can define </a:t>
            </a:r>
            <a:r>
              <a:rPr lang="en-US" sz="2200" u="sng" dirty="0" smtClean="0"/>
              <a:t>what data</a:t>
            </a:r>
            <a:r>
              <a:rPr lang="en-US" sz="2200" dirty="0" smtClean="0"/>
              <a:t> they need. While the size of the resource is determined by the server when working with REST, in </a:t>
            </a:r>
            <a:r>
              <a:rPr lang="en-US" sz="2200" dirty="0" err="1" smtClean="0"/>
              <a:t>GraphQL</a:t>
            </a:r>
            <a:r>
              <a:rPr lang="en-US" sz="2200" dirty="0" smtClean="0"/>
              <a:t>, the API defines the </a:t>
            </a:r>
            <a:r>
              <a:rPr lang="en-US" sz="2200" u="sng" dirty="0" smtClean="0"/>
              <a:t>available resources</a:t>
            </a:r>
            <a:r>
              <a:rPr lang="en-US" sz="2200" dirty="0" smtClean="0"/>
              <a:t>, and the client requests </a:t>
            </a:r>
            <a:r>
              <a:rPr lang="en-US" sz="2200" u="sng" dirty="0" smtClean="0"/>
              <a:t>only what it needs</a:t>
            </a:r>
            <a:r>
              <a:rPr lang="en-US" sz="2200" dirty="0" smtClean="0"/>
              <a:t>.</a:t>
            </a:r>
          </a:p>
          <a:p>
            <a:r>
              <a:rPr lang="en-US" sz="2200" dirty="0" smtClean="0"/>
              <a:t>Both REST and </a:t>
            </a:r>
            <a:r>
              <a:rPr lang="en-US" sz="2200" dirty="0" err="1" smtClean="0"/>
              <a:t>GraphQL</a:t>
            </a:r>
            <a:r>
              <a:rPr lang="en-US" sz="2200" dirty="0" smtClean="0"/>
              <a:t> are </a:t>
            </a:r>
            <a:r>
              <a:rPr lang="en-US" sz="2200" u="sng" dirty="0" smtClean="0"/>
              <a:t>platform and language agnostic</a:t>
            </a:r>
            <a:r>
              <a:rPr lang="en-US" sz="2200" dirty="0" smtClean="0"/>
              <a:t>, and both are adept at returning </a:t>
            </a:r>
            <a:r>
              <a:rPr lang="en-US" sz="2200" u="sng" dirty="0" smtClean="0"/>
              <a:t>JSON</a:t>
            </a:r>
            <a:r>
              <a:rPr lang="en-US" sz="2200" dirty="0" smtClean="0"/>
              <a:t>.</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onsolas" pitchFamily="49" charset="0"/>
              </a:rPr>
              <a:t>REST vs. </a:t>
            </a:r>
            <a:r>
              <a:rPr lang="en-US" dirty="0" err="1" smtClean="0">
                <a:latin typeface="Consolas" pitchFamily="49" charset="0"/>
              </a:rPr>
              <a:t>GraphQL</a:t>
            </a:r>
            <a:r>
              <a:rPr lang="en-US" dirty="0" smtClean="0">
                <a:latin typeface="Consolas" pitchFamily="49" charset="0"/>
              </a:rPr>
              <a:t>: </a:t>
            </a:r>
            <a:r>
              <a:rPr lang="en-US" dirty="0" err="1" smtClean="0">
                <a:latin typeface="Consolas" pitchFamily="49" charset="0"/>
              </a:rPr>
              <a:t>starwars-data.json</a:t>
            </a:r>
            <a:endParaRPr lang="en-US" dirty="0">
              <a:latin typeface="Consolas" pitchFamily="49" charset="0"/>
            </a:endParaRPr>
          </a:p>
        </p:txBody>
      </p:sp>
      <p:sp>
        <p:nvSpPr>
          <p:cNvPr id="5" name="Rectangle 4"/>
          <p:cNvSpPr/>
          <p:nvPr/>
        </p:nvSpPr>
        <p:spPr>
          <a:xfrm>
            <a:off x="685800" y="1693307"/>
            <a:ext cx="7772400" cy="4708981"/>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200" dirty="0" smtClean="0">
                <a:solidFill>
                  <a:srgbClr val="D4D4D4"/>
                </a:solidFill>
                <a:latin typeface="Consolas"/>
              </a:rPr>
              <a:t>{</a:t>
            </a:r>
          </a:p>
          <a:p>
            <a:r>
              <a:rPr lang="en-US" sz="1200" dirty="0" smtClean="0">
                <a:solidFill>
                  <a:srgbClr val="D4D4D4"/>
                </a:solidFill>
                <a:latin typeface="Consolas"/>
              </a:rPr>
              <a:t>    </a:t>
            </a:r>
            <a:r>
              <a:rPr lang="en-US" sz="1200" dirty="0" smtClean="0">
                <a:solidFill>
                  <a:srgbClr val="9CDCFE"/>
                </a:solidFill>
                <a:latin typeface="Consolas"/>
              </a:rPr>
              <a:t>"data"</a:t>
            </a:r>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9CDCFE"/>
                </a:solidFill>
                <a:latin typeface="Consolas"/>
              </a:rPr>
              <a:t>"person"</a:t>
            </a:r>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9CDCFE"/>
                </a:solidFill>
                <a:latin typeface="Consolas"/>
              </a:rPr>
              <a:t>"name"</a:t>
            </a:r>
            <a:r>
              <a:rPr lang="en-US" sz="1200" dirty="0" smtClean="0">
                <a:solidFill>
                  <a:srgbClr val="D4D4D4"/>
                </a:solidFill>
                <a:latin typeface="Consolas"/>
              </a:rPr>
              <a:t>: </a:t>
            </a:r>
            <a:r>
              <a:rPr lang="en-US" sz="1200" dirty="0" smtClean="0">
                <a:solidFill>
                  <a:srgbClr val="CE9178"/>
                </a:solidFill>
                <a:latin typeface="Consolas"/>
              </a:rPr>
              <a:t>"Darth Vader"</a:t>
            </a:r>
            <a:r>
              <a:rPr lang="en-US" sz="1200" dirty="0" smtClean="0">
                <a:solidFill>
                  <a:srgbClr val="D4D4D4"/>
                </a:solidFill>
                <a:latin typeface="Consolas"/>
              </a:rPr>
              <a:t>,</a:t>
            </a:r>
          </a:p>
          <a:p>
            <a:r>
              <a:rPr lang="en-US" sz="1200" dirty="0" smtClean="0">
                <a:solidFill>
                  <a:srgbClr val="D4D4D4"/>
                </a:solidFill>
                <a:latin typeface="Consolas"/>
              </a:rPr>
              <a:t>            </a:t>
            </a:r>
            <a:r>
              <a:rPr lang="en-US" sz="1200" dirty="0" smtClean="0">
                <a:solidFill>
                  <a:srgbClr val="9CDCFE"/>
                </a:solidFill>
                <a:latin typeface="Consolas"/>
              </a:rPr>
              <a:t>"</a:t>
            </a:r>
            <a:r>
              <a:rPr lang="en-US" sz="1200" dirty="0" err="1" smtClean="0">
                <a:solidFill>
                  <a:srgbClr val="9CDCFE"/>
                </a:solidFill>
                <a:latin typeface="Consolas"/>
              </a:rPr>
              <a:t>birthYear</a:t>
            </a:r>
            <a:r>
              <a:rPr lang="en-US" sz="1200" dirty="0" smtClean="0">
                <a:solidFill>
                  <a:srgbClr val="9CDCFE"/>
                </a:solidFill>
                <a:latin typeface="Consolas"/>
              </a:rPr>
              <a:t>"</a:t>
            </a:r>
            <a:r>
              <a:rPr lang="en-US" sz="1200" dirty="0" smtClean="0">
                <a:solidFill>
                  <a:srgbClr val="D4D4D4"/>
                </a:solidFill>
                <a:latin typeface="Consolas"/>
              </a:rPr>
              <a:t>: </a:t>
            </a:r>
            <a:r>
              <a:rPr lang="en-US" sz="1200" dirty="0" smtClean="0">
                <a:solidFill>
                  <a:srgbClr val="CE9178"/>
                </a:solidFill>
                <a:latin typeface="Consolas"/>
              </a:rPr>
              <a:t>"41.9BBY"</a:t>
            </a:r>
            <a:r>
              <a:rPr lang="en-US" sz="1200" dirty="0" smtClean="0">
                <a:solidFill>
                  <a:srgbClr val="D4D4D4"/>
                </a:solidFill>
                <a:latin typeface="Consolas"/>
              </a:rPr>
              <a:t>,</a:t>
            </a:r>
          </a:p>
          <a:p>
            <a:r>
              <a:rPr lang="en-US" sz="1200" dirty="0" smtClean="0">
                <a:solidFill>
                  <a:srgbClr val="D4D4D4"/>
                </a:solidFill>
                <a:latin typeface="Consolas"/>
              </a:rPr>
              <a:t>            </a:t>
            </a:r>
            <a:r>
              <a:rPr lang="en-US" sz="1200" dirty="0" smtClean="0">
                <a:solidFill>
                  <a:srgbClr val="9CDCFE"/>
                </a:solidFill>
                <a:latin typeface="Consolas"/>
              </a:rPr>
              <a:t>"planet"</a:t>
            </a:r>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9CDCFE"/>
                </a:solidFill>
                <a:latin typeface="Consolas"/>
              </a:rPr>
              <a:t>"name"</a:t>
            </a:r>
            <a:r>
              <a:rPr lang="en-US" sz="1200" dirty="0" smtClean="0">
                <a:solidFill>
                  <a:srgbClr val="D4D4D4"/>
                </a:solidFill>
                <a:latin typeface="Consolas"/>
              </a:rPr>
              <a:t>: </a:t>
            </a:r>
            <a:r>
              <a:rPr lang="en-US" sz="1200" dirty="0" smtClean="0">
                <a:solidFill>
                  <a:srgbClr val="CE9178"/>
                </a:solidFill>
                <a:latin typeface="Consolas"/>
              </a:rPr>
              <a:t>"</a:t>
            </a:r>
            <a:r>
              <a:rPr lang="en-US" sz="1200" dirty="0" err="1" smtClean="0">
                <a:solidFill>
                  <a:srgbClr val="CE9178"/>
                </a:solidFill>
                <a:latin typeface="Consolas"/>
              </a:rPr>
              <a:t>Tatooine</a:t>
            </a:r>
            <a:r>
              <a:rPr lang="en-US" sz="1200" dirty="0" smtClean="0">
                <a:solidFill>
                  <a:srgbClr val="CE9178"/>
                </a:solidFill>
                <a:latin typeface="Consolas"/>
              </a:rPr>
              <a:t>"</a:t>
            </a:r>
            <a:endParaRPr lang="en-US" sz="1200" dirty="0" smtClean="0">
              <a:solidFill>
                <a:srgbClr val="D4D4D4"/>
              </a:solidFill>
              <a:latin typeface="Consolas"/>
            </a:endParaRPr>
          </a:p>
          <a:p>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9CDCFE"/>
                </a:solidFill>
                <a:latin typeface="Consolas"/>
              </a:rPr>
              <a:t>"films"</a:t>
            </a:r>
            <a:r>
              <a:rPr lang="en-US" sz="1200" dirty="0" smtClean="0">
                <a:solidFill>
                  <a:srgbClr val="D4D4D4"/>
                </a:solidFill>
                <a:latin typeface="Consolas"/>
              </a:rPr>
              <a:t>: [</a:t>
            </a:r>
          </a:p>
          <a:p>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9CDCFE"/>
                </a:solidFill>
                <a:latin typeface="Consolas"/>
              </a:rPr>
              <a:t>"title"</a:t>
            </a:r>
            <a:r>
              <a:rPr lang="en-US" sz="1200" dirty="0" smtClean="0">
                <a:solidFill>
                  <a:srgbClr val="D4D4D4"/>
                </a:solidFill>
                <a:latin typeface="Consolas"/>
              </a:rPr>
              <a:t>: </a:t>
            </a:r>
            <a:r>
              <a:rPr lang="en-US" sz="1200" dirty="0" smtClean="0">
                <a:solidFill>
                  <a:srgbClr val="CE9178"/>
                </a:solidFill>
                <a:latin typeface="Consolas"/>
              </a:rPr>
              <a:t>"A New Hope"</a:t>
            </a:r>
            <a:endParaRPr lang="en-US" sz="1200" dirty="0" smtClean="0">
              <a:solidFill>
                <a:srgbClr val="D4D4D4"/>
              </a:solidFill>
              <a:latin typeface="Consolas"/>
            </a:endParaRPr>
          </a:p>
          <a:p>
            <a:r>
              <a:rPr lang="en-US" sz="1200" dirty="0" smtClean="0">
                <a:solidFill>
                  <a:srgbClr val="D4D4D4"/>
                </a:solidFill>
                <a:latin typeface="Consolas"/>
              </a:rPr>
              <a:t>                },</a:t>
            </a:r>
          </a:p>
          <a:p>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9CDCFE"/>
                </a:solidFill>
                <a:latin typeface="Consolas"/>
              </a:rPr>
              <a:t>"title"</a:t>
            </a:r>
            <a:r>
              <a:rPr lang="en-US" sz="1200" dirty="0" smtClean="0">
                <a:solidFill>
                  <a:srgbClr val="D4D4D4"/>
                </a:solidFill>
                <a:latin typeface="Consolas"/>
              </a:rPr>
              <a:t>: </a:t>
            </a:r>
            <a:r>
              <a:rPr lang="en-US" sz="1200" dirty="0" smtClean="0">
                <a:solidFill>
                  <a:srgbClr val="CE9178"/>
                </a:solidFill>
                <a:latin typeface="Consolas"/>
              </a:rPr>
              <a:t>"The Empire Strikes Back"</a:t>
            </a:r>
            <a:endParaRPr lang="en-US" sz="1200" dirty="0" smtClean="0">
              <a:solidFill>
                <a:srgbClr val="D4D4D4"/>
              </a:solidFill>
              <a:latin typeface="Consolas"/>
            </a:endParaRPr>
          </a:p>
          <a:p>
            <a:r>
              <a:rPr lang="en-US" sz="1200" dirty="0" smtClean="0">
                <a:solidFill>
                  <a:srgbClr val="D4D4D4"/>
                </a:solidFill>
                <a:latin typeface="Consolas"/>
              </a:rPr>
              <a:t>                },</a:t>
            </a:r>
          </a:p>
          <a:p>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9CDCFE"/>
                </a:solidFill>
                <a:latin typeface="Consolas"/>
              </a:rPr>
              <a:t>"title"</a:t>
            </a:r>
            <a:r>
              <a:rPr lang="en-US" sz="1200" dirty="0" smtClean="0">
                <a:solidFill>
                  <a:srgbClr val="D4D4D4"/>
                </a:solidFill>
                <a:latin typeface="Consolas"/>
              </a:rPr>
              <a:t>: </a:t>
            </a:r>
            <a:r>
              <a:rPr lang="en-US" sz="1200" dirty="0" smtClean="0">
                <a:solidFill>
                  <a:srgbClr val="CE9178"/>
                </a:solidFill>
                <a:latin typeface="Consolas"/>
              </a:rPr>
              <a:t>"Return of the Jedi"</a:t>
            </a:r>
            <a:endParaRPr lang="en-US" sz="1200" dirty="0" smtClean="0">
              <a:solidFill>
                <a:srgbClr val="D4D4D4"/>
              </a:solidFill>
              <a:latin typeface="Consolas"/>
            </a:endParaRPr>
          </a:p>
          <a:p>
            <a:r>
              <a:rPr lang="en-US" sz="1200" dirty="0" smtClean="0">
                <a:solidFill>
                  <a:srgbClr val="D4D4D4"/>
                </a:solidFill>
                <a:latin typeface="Consolas"/>
              </a:rPr>
              <a:t>                },</a:t>
            </a:r>
          </a:p>
          <a:p>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9CDCFE"/>
                </a:solidFill>
                <a:latin typeface="Consolas"/>
              </a:rPr>
              <a:t>"title"</a:t>
            </a:r>
            <a:r>
              <a:rPr lang="en-US" sz="1200" dirty="0" smtClean="0">
                <a:solidFill>
                  <a:srgbClr val="D4D4D4"/>
                </a:solidFill>
                <a:latin typeface="Consolas"/>
              </a:rPr>
              <a:t>: </a:t>
            </a:r>
            <a:r>
              <a:rPr lang="en-US" sz="1200" dirty="0" smtClean="0">
                <a:solidFill>
                  <a:srgbClr val="CE9178"/>
                </a:solidFill>
                <a:latin typeface="Consolas"/>
              </a:rPr>
              <a:t>"Revenge of the </a:t>
            </a:r>
            <a:r>
              <a:rPr lang="en-US" sz="1200" dirty="0" err="1" smtClean="0">
                <a:solidFill>
                  <a:srgbClr val="CE9178"/>
                </a:solidFill>
                <a:latin typeface="Consolas"/>
              </a:rPr>
              <a:t>Sith</a:t>
            </a:r>
            <a:r>
              <a:rPr lang="en-US" sz="1200" dirty="0" smtClean="0">
                <a:solidFill>
                  <a:srgbClr val="CE9178"/>
                </a:solidFill>
                <a:latin typeface="Consolas"/>
              </a:rPr>
              <a:t>"</a:t>
            </a:r>
            <a:endParaRPr lang="en-US" sz="1200" dirty="0" smtClean="0">
              <a:solidFill>
                <a:srgbClr val="D4D4D4"/>
              </a:solidFill>
              <a:latin typeface="Consolas"/>
            </a:endParaRPr>
          </a:p>
          <a:p>
            <a:r>
              <a:rPr lang="en-US" sz="1200" dirty="0" smtClean="0">
                <a:solidFill>
                  <a:srgbClr val="D4D4D4"/>
                </a:solidFill>
                <a:latin typeface="Consolas"/>
              </a:rPr>
              <a:t>                }</a:t>
            </a:r>
          </a:p>
          <a:p>
            <a:r>
              <a:rPr lang="en-US" sz="1200" dirty="0" smtClean="0">
                <a:solidFill>
                  <a:srgbClr val="D4D4D4"/>
                </a:solidFill>
                <a:latin typeface="Consolas"/>
              </a:rPr>
              <a:t>            ]</a:t>
            </a:r>
          </a:p>
          <a:p>
            <a:r>
              <a:rPr lang="en-US" sz="1200" dirty="0" smtClean="0">
                <a:solidFill>
                  <a:srgbClr val="D4D4D4"/>
                </a:solidFill>
                <a:latin typeface="Consolas"/>
              </a:rPr>
              <a:t>        }</a:t>
            </a:r>
          </a:p>
          <a:p>
            <a:r>
              <a:rPr lang="en-US" sz="1200" dirty="0" smtClean="0">
                <a:solidFill>
                  <a:srgbClr val="D4D4D4"/>
                </a:solidFill>
                <a:latin typeface="Consolas"/>
              </a:rPr>
              <a:t>    }</a:t>
            </a:r>
          </a:p>
          <a:p>
            <a:r>
              <a:rPr lang="en-US" sz="1200" dirty="0" smtClean="0">
                <a:solidFill>
                  <a:srgbClr val="D4D4D4"/>
                </a:solidFill>
                <a:latin typeface="Consolas"/>
              </a:rPr>
              <a:t>}</a:t>
            </a:r>
            <a:endParaRPr lang="en-US" sz="1200" b="0" dirty="0">
              <a:solidFill>
                <a:srgbClr val="D4D4D4"/>
              </a:solidFill>
              <a:latin typeface="Consolas"/>
            </a:endParaRPr>
          </a:p>
        </p:txBody>
      </p:sp>
      <p:sp>
        <p:nvSpPr>
          <p:cNvPr id="4" name="Rectangle 3"/>
          <p:cNvSpPr/>
          <p:nvPr/>
        </p:nvSpPr>
        <p:spPr>
          <a:xfrm>
            <a:off x="5410200" y="1981200"/>
            <a:ext cx="3200400" cy="92333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smtClean="0"/>
              <a:t>REST:</a:t>
            </a:r>
          </a:p>
          <a:p>
            <a:r>
              <a:rPr lang="en-US" dirty="0" smtClean="0">
                <a:latin typeface="Consolas" pitchFamily="49" charset="0"/>
              </a:rPr>
              <a:t>GET - /people/{id}</a:t>
            </a:r>
          </a:p>
          <a:p>
            <a:r>
              <a:rPr lang="en-US" dirty="0" smtClean="0">
                <a:latin typeface="Consolas" pitchFamily="49" charset="0"/>
              </a:rPr>
              <a:t>GET - /people/{id}/films</a:t>
            </a:r>
            <a:endParaRPr lang="en-US" dirty="0">
              <a:latin typeface="Consolas" pitchFamily="49" charset="0"/>
            </a:endParaRPr>
          </a:p>
        </p:txBody>
      </p:sp>
      <p:sp>
        <p:nvSpPr>
          <p:cNvPr id="6" name="Rectangle 5"/>
          <p:cNvSpPr/>
          <p:nvPr/>
        </p:nvSpPr>
        <p:spPr>
          <a:xfrm>
            <a:off x="2743200" y="5638800"/>
            <a:ext cx="5562600"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1" dirty="0" err="1" smtClean="0"/>
              <a:t>GraphQL</a:t>
            </a:r>
            <a:r>
              <a:rPr lang="en-US" b="1" dirty="0" smtClean="0"/>
              <a:t>:</a:t>
            </a:r>
          </a:p>
          <a:p>
            <a:r>
              <a:rPr lang="en-US" dirty="0" smtClean="0">
                <a:latin typeface="Consolas" pitchFamily="49" charset="0"/>
              </a:rPr>
              <a:t>GET or POST - /</a:t>
            </a:r>
            <a:r>
              <a:rPr lang="en-US" dirty="0" err="1" smtClean="0">
                <a:latin typeface="Consolas" pitchFamily="49" charset="0"/>
              </a:rPr>
              <a:t>graphql?query</a:t>
            </a:r>
            <a:r>
              <a:rPr lang="en-US" dirty="0" smtClean="0">
                <a:latin typeface="Consolas" pitchFamily="49" charset="0"/>
              </a:rPr>
              <a:t>={·-·-·}</a:t>
            </a:r>
            <a:endParaRPr lang="en-US" dirty="0">
              <a:latin typeface="Consolas"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GraphQL</a:t>
            </a:r>
            <a:r>
              <a:rPr lang="en-US" dirty="0" smtClean="0"/>
              <a:t> Problems</a:t>
            </a:r>
            <a:endParaRPr lang="en-US" dirty="0"/>
          </a:p>
        </p:txBody>
      </p:sp>
      <p:sp>
        <p:nvSpPr>
          <p:cNvPr id="3" name="Content Placeholder 2"/>
          <p:cNvSpPr>
            <a:spLocks noGrp="1"/>
          </p:cNvSpPr>
          <p:nvPr>
            <p:ph idx="1"/>
          </p:nvPr>
        </p:nvSpPr>
        <p:spPr/>
        <p:txBody>
          <a:bodyPr/>
          <a:lstStyle/>
          <a:p>
            <a:r>
              <a:rPr lang="en-US" sz="2000" dirty="0" smtClean="0"/>
              <a:t>A critical threat for </a:t>
            </a:r>
            <a:r>
              <a:rPr lang="en-US" sz="2000" dirty="0" err="1" smtClean="0"/>
              <a:t>GraphQL</a:t>
            </a:r>
            <a:r>
              <a:rPr lang="en-US" sz="2000" dirty="0" smtClean="0"/>
              <a:t> APIs is </a:t>
            </a:r>
            <a:r>
              <a:rPr lang="en-US" sz="2000" i="1" dirty="0" smtClean="0">
                <a:solidFill>
                  <a:srgbClr val="C00000"/>
                </a:solidFill>
              </a:rPr>
              <a:t>resource-exhaustion attacks</a:t>
            </a:r>
            <a:r>
              <a:rPr lang="en-US" sz="2000" dirty="0" smtClean="0"/>
              <a:t> (aka denial-of-service attacks). A </a:t>
            </a:r>
            <a:r>
              <a:rPr lang="en-US" sz="2000" dirty="0" err="1" smtClean="0"/>
              <a:t>GraphQL</a:t>
            </a:r>
            <a:r>
              <a:rPr lang="en-US" sz="2000" dirty="0" smtClean="0"/>
              <a:t> server can be attacked with overly complex queries that consume all the server resources.</a:t>
            </a:r>
          </a:p>
          <a:p>
            <a:r>
              <a:rPr lang="en-US" sz="2000" dirty="0" smtClean="0"/>
              <a:t>One task that </a:t>
            </a:r>
            <a:r>
              <a:rPr lang="en-US" sz="2000" dirty="0" err="1" smtClean="0"/>
              <a:t>GraphQL</a:t>
            </a:r>
            <a:r>
              <a:rPr lang="en-US" sz="2000" dirty="0" smtClean="0"/>
              <a:t> makes a bit more challenging is </a:t>
            </a:r>
            <a:r>
              <a:rPr lang="en-US" sz="2000" i="1" dirty="0" smtClean="0">
                <a:solidFill>
                  <a:srgbClr val="C00000"/>
                </a:solidFill>
              </a:rPr>
              <a:t>clients’ caching of data</a:t>
            </a:r>
            <a:r>
              <a:rPr lang="en-US" sz="2000" dirty="0" smtClean="0"/>
              <a:t>. Responses from REST APIs are a lot easier to cache because of their dictionary nature. A specific URL gives certain data, so you can use the URL itself as the cache key.</a:t>
            </a:r>
          </a:p>
          <a:p>
            <a:r>
              <a:rPr lang="en-US" sz="2000" dirty="0" smtClean="0"/>
              <a:t>A developer writing a </a:t>
            </a:r>
            <a:r>
              <a:rPr lang="en-US" sz="2000" dirty="0" err="1" smtClean="0"/>
              <a:t>GraphQL</a:t>
            </a:r>
            <a:r>
              <a:rPr lang="en-US" sz="2000" dirty="0" smtClean="0"/>
              <a:t>-based frontend application has to learn </a:t>
            </a:r>
            <a:r>
              <a:rPr lang="en-US" sz="2000" i="1" dirty="0" smtClean="0">
                <a:solidFill>
                  <a:srgbClr val="C00000"/>
                </a:solidFill>
              </a:rPr>
              <a:t>the syntax of the </a:t>
            </a:r>
            <a:r>
              <a:rPr lang="en-US" sz="2000" i="1" dirty="0" err="1" smtClean="0">
                <a:solidFill>
                  <a:srgbClr val="C00000"/>
                </a:solidFill>
              </a:rPr>
              <a:t>GraphQL</a:t>
            </a:r>
            <a:r>
              <a:rPr lang="en-US" sz="2000" i="1" dirty="0" smtClean="0">
                <a:solidFill>
                  <a:srgbClr val="C00000"/>
                </a:solidFill>
              </a:rPr>
              <a:t> language</a:t>
            </a:r>
            <a:r>
              <a:rPr lang="en-US" sz="2000" dirty="0" smtClean="0"/>
              <a:t>. A developer implementing a </a:t>
            </a:r>
            <a:r>
              <a:rPr lang="en-US" sz="2000" dirty="0" err="1" smtClean="0"/>
              <a:t>GraphQL</a:t>
            </a:r>
            <a:r>
              <a:rPr lang="en-US" sz="2000" dirty="0" smtClean="0"/>
              <a:t> backend service has to learn a lot more than just the language: they have to learn </a:t>
            </a:r>
            <a:r>
              <a:rPr lang="en-US" sz="2000" i="1" dirty="0" smtClean="0">
                <a:solidFill>
                  <a:srgbClr val="C00000"/>
                </a:solidFill>
              </a:rPr>
              <a:t>the API syntax of a </a:t>
            </a:r>
            <a:r>
              <a:rPr lang="en-US" sz="2000" i="1" dirty="0" err="1" smtClean="0">
                <a:solidFill>
                  <a:srgbClr val="C00000"/>
                </a:solidFill>
              </a:rPr>
              <a:t>GraphQL</a:t>
            </a:r>
            <a:r>
              <a:rPr lang="en-US" sz="2000" i="1" dirty="0" smtClean="0">
                <a:solidFill>
                  <a:srgbClr val="C00000"/>
                </a:solidFill>
              </a:rPr>
              <a:t> implementation</a:t>
            </a:r>
            <a:r>
              <a:rPr lang="en-US" sz="2000" dirty="0" smtClean="0"/>
              <a:t>. They must also understand </a:t>
            </a:r>
            <a:r>
              <a:rPr lang="en-US" sz="2000" i="1" dirty="0" smtClean="0">
                <a:solidFill>
                  <a:srgbClr val="C00000"/>
                </a:solidFill>
              </a:rPr>
              <a:t>schemas</a:t>
            </a:r>
            <a:r>
              <a:rPr lang="en-US" sz="2000" dirty="0" smtClean="0"/>
              <a:t> and </a:t>
            </a:r>
            <a:r>
              <a:rPr lang="en-US" sz="2000" i="1" dirty="0" smtClean="0">
                <a:solidFill>
                  <a:srgbClr val="C00000"/>
                </a:solidFill>
              </a:rPr>
              <a:t>resolvers</a:t>
            </a:r>
            <a:r>
              <a:rPr lang="en-US" sz="2000" dirty="0" smtClean="0"/>
              <a:t>, among many other concepts specific to a </a:t>
            </a:r>
            <a:r>
              <a:rPr lang="en-US" sz="2000" dirty="0" err="1" smtClean="0"/>
              <a:t>GraphQL</a:t>
            </a:r>
            <a:r>
              <a:rPr lang="en-US" sz="2000" dirty="0" smtClean="0"/>
              <a:t> runtime.</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GraphQL</a:t>
            </a:r>
            <a:r>
              <a:rPr lang="en-US" dirty="0" smtClean="0"/>
              <a:t> is a Language</a:t>
            </a:r>
            <a:endParaRPr lang="en-US" dirty="0"/>
          </a:p>
        </p:txBody>
      </p:sp>
      <p:sp>
        <p:nvSpPr>
          <p:cNvPr id="3" name="Content Placeholder 2"/>
          <p:cNvSpPr>
            <a:spLocks noGrp="1"/>
          </p:cNvSpPr>
          <p:nvPr>
            <p:ph idx="1"/>
          </p:nvPr>
        </p:nvSpPr>
        <p:spPr/>
        <p:txBody>
          <a:bodyPr/>
          <a:lstStyle/>
          <a:p>
            <a:r>
              <a:rPr lang="en-US" sz="2400" dirty="0" err="1" smtClean="0"/>
              <a:t>GraphQL</a:t>
            </a:r>
            <a:r>
              <a:rPr lang="en-US" sz="2400" dirty="0" smtClean="0"/>
              <a:t> can be used for both </a:t>
            </a:r>
            <a:r>
              <a:rPr lang="en-US" sz="2400" i="1" dirty="0" smtClean="0">
                <a:solidFill>
                  <a:srgbClr val="C00000"/>
                </a:solidFill>
              </a:rPr>
              <a:t>reading</a:t>
            </a:r>
            <a:r>
              <a:rPr lang="en-US" sz="2400" dirty="0" smtClean="0"/>
              <a:t> and </a:t>
            </a:r>
            <a:r>
              <a:rPr lang="en-US" sz="2400" i="1" dirty="0" smtClean="0">
                <a:solidFill>
                  <a:srgbClr val="C00000"/>
                </a:solidFill>
              </a:rPr>
              <a:t>modifying</a:t>
            </a:r>
            <a:r>
              <a:rPr lang="en-US" sz="2400" dirty="0" smtClean="0"/>
              <a:t> data.</a:t>
            </a:r>
          </a:p>
          <a:p>
            <a:r>
              <a:rPr lang="en-US" sz="2400" dirty="0" smtClean="0"/>
              <a:t>When you need to read data with </a:t>
            </a:r>
            <a:r>
              <a:rPr lang="en-US" sz="2400" dirty="0" err="1" smtClean="0"/>
              <a:t>GraphQL</a:t>
            </a:r>
            <a:r>
              <a:rPr lang="en-US" sz="2400" dirty="0" smtClean="0"/>
              <a:t>, you use </a:t>
            </a:r>
            <a:r>
              <a:rPr lang="en-US" sz="2400" i="1" dirty="0" smtClean="0">
                <a:solidFill>
                  <a:srgbClr val="C00000"/>
                </a:solidFill>
              </a:rPr>
              <a:t>queries</a:t>
            </a:r>
            <a:r>
              <a:rPr lang="en-US" sz="2400" dirty="0" smtClean="0"/>
              <a:t>; and when you need to modify data, you use </a:t>
            </a:r>
            <a:r>
              <a:rPr lang="en-US" sz="2400" i="1" dirty="0" smtClean="0">
                <a:solidFill>
                  <a:srgbClr val="C00000"/>
                </a:solidFill>
              </a:rPr>
              <a:t>mutations</a:t>
            </a:r>
            <a:r>
              <a:rPr lang="en-US" sz="2400" dirty="0" smtClean="0"/>
              <a:t>.</a:t>
            </a:r>
            <a:endParaRPr lang="en-US" sz="2400" dirty="0" smtClean="0">
              <a:solidFill>
                <a:srgbClr val="C00000"/>
              </a:solidFill>
            </a:endParaRPr>
          </a:p>
          <a:p>
            <a:r>
              <a:rPr lang="en-US" sz="2400" dirty="0" err="1" smtClean="0"/>
              <a:t>GraphQL</a:t>
            </a:r>
            <a:r>
              <a:rPr lang="en-US" sz="2400" dirty="0" smtClean="0"/>
              <a:t> operations:</a:t>
            </a:r>
            <a:endParaRPr lang="en-US" sz="2400" i="1" dirty="0" smtClean="0">
              <a:solidFill>
                <a:srgbClr val="C00000"/>
              </a:solidFill>
            </a:endParaRPr>
          </a:p>
          <a:p>
            <a:pPr lvl="1"/>
            <a:r>
              <a:rPr lang="en-US" sz="2000" i="1" dirty="0" smtClean="0">
                <a:solidFill>
                  <a:srgbClr val="C00000"/>
                </a:solidFill>
              </a:rPr>
              <a:t>Queries</a:t>
            </a:r>
            <a:r>
              <a:rPr lang="en-US" sz="2000" dirty="0" smtClean="0"/>
              <a:t> represent READ operations.</a:t>
            </a:r>
          </a:p>
          <a:p>
            <a:pPr lvl="1"/>
            <a:r>
              <a:rPr lang="en-US" sz="2000" i="1" dirty="0" smtClean="0">
                <a:solidFill>
                  <a:srgbClr val="C00000"/>
                </a:solidFill>
              </a:rPr>
              <a:t>Mutations</a:t>
            </a:r>
            <a:r>
              <a:rPr lang="en-US" sz="2000" dirty="0" smtClean="0"/>
              <a:t> represent WRITE-then-READ operations. You can think of mutations as queries that have side effects.</a:t>
            </a:r>
          </a:p>
          <a:p>
            <a:pPr lvl="1"/>
            <a:r>
              <a:rPr lang="en-US" sz="2000" dirty="0" err="1" smtClean="0"/>
              <a:t>GraphQL</a:t>
            </a:r>
            <a:r>
              <a:rPr lang="en-US" sz="2000" dirty="0" smtClean="0"/>
              <a:t> also supports a third request type called a </a:t>
            </a:r>
            <a:r>
              <a:rPr lang="en-US" sz="2000" i="1" dirty="0" smtClean="0">
                <a:solidFill>
                  <a:srgbClr val="C00000"/>
                </a:solidFill>
              </a:rPr>
              <a:t>subscription</a:t>
            </a:r>
            <a:r>
              <a:rPr lang="en-US" sz="2000" dirty="0" smtClean="0"/>
              <a:t>, used for </a:t>
            </a:r>
            <a:r>
              <a:rPr lang="en-US" sz="2000" u="sng" dirty="0" smtClean="0"/>
              <a:t>real-time</a:t>
            </a:r>
            <a:r>
              <a:rPr lang="en-US" sz="2000" dirty="0" smtClean="0"/>
              <a:t> data monitoring requests. Subscriptions represent continuous READ operations.</a:t>
            </a:r>
          </a:p>
          <a:p>
            <a:pPr lvl="1"/>
            <a:r>
              <a:rPr lang="en-US" sz="2000" dirty="0" err="1" smtClean="0"/>
              <a:t>GraphQL</a:t>
            </a:r>
            <a:r>
              <a:rPr lang="en-US" sz="2000" dirty="0" smtClean="0"/>
              <a:t> subscriptions require the use of a data-transport channel that supports </a:t>
            </a:r>
            <a:r>
              <a:rPr lang="en-US" sz="2000" u="sng" dirty="0" smtClean="0"/>
              <a:t>continuous pushing of data</a:t>
            </a:r>
            <a:r>
              <a:rPr lang="en-US" sz="2000" dirty="0" smtClean="0"/>
              <a:t>. That’s usually done with </a:t>
            </a:r>
            <a:r>
              <a:rPr lang="en-US" sz="2000" dirty="0" err="1" smtClean="0"/>
              <a:t>WebSockets</a:t>
            </a:r>
            <a:r>
              <a:rPr lang="en-US" sz="2000" dirty="0" smtClean="0"/>
              <a:t> for web applications.</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err="1" smtClean="0"/>
              <a:t>GraphQL</a:t>
            </a:r>
            <a:r>
              <a:rPr lang="en-US" dirty="0" smtClean="0"/>
              <a:t> Language</a:t>
            </a:r>
            <a:endParaRPr lang="en-US" dirty="0"/>
          </a:p>
        </p:txBody>
      </p:sp>
      <p:sp>
        <p:nvSpPr>
          <p:cNvPr id="3" name="Content Placeholder 2"/>
          <p:cNvSpPr>
            <a:spLocks noGrp="1"/>
          </p:cNvSpPr>
          <p:nvPr>
            <p:ph idx="1"/>
          </p:nvPr>
        </p:nvSpPr>
        <p:spPr/>
        <p:txBody>
          <a:bodyPr/>
          <a:lstStyle/>
          <a:p>
            <a:r>
              <a:rPr lang="en-US" sz="2000" dirty="0" smtClean="0"/>
              <a:t>To ask any </a:t>
            </a:r>
            <a:r>
              <a:rPr lang="en-US" sz="2000" dirty="0" err="1" smtClean="0"/>
              <a:t>GraphQL</a:t>
            </a:r>
            <a:r>
              <a:rPr lang="en-US" sz="2000" dirty="0" smtClean="0"/>
              <a:t> server for data, we send it a </a:t>
            </a:r>
            <a:r>
              <a:rPr lang="en-US" sz="2000" i="1" dirty="0" smtClean="0">
                <a:solidFill>
                  <a:srgbClr val="C00000"/>
                </a:solidFill>
              </a:rPr>
              <a:t>request</a:t>
            </a:r>
            <a:r>
              <a:rPr lang="en-US" sz="2000" dirty="0" smtClean="0"/>
              <a:t> written in the </a:t>
            </a:r>
            <a:r>
              <a:rPr lang="en-US" sz="2000" dirty="0" err="1" smtClean="0"/>
              <a:t>GraphQL</a:t>
            </a:r>
            <a:r>
              <a:rPr lang="en-US" sz="2000" dirty="0" smtClean="0"/>
              <a:t> query language.</a:t>
            </a:r>
          </a:p>
          <a:p>
            <a:r>
              <a:rPr lang="en-US" sz="2000" dirty="0" smtClean="0"/>
              <a:t>The source text of a </a:t>
            </a:r>
            <a:r>
              <a:rPr lang="en-US" sz="2000" dirty="0" err="1" smtClean="0"/>
              <a:t>GraphQL</a:t>
            </a:r>
            <a:r>
              <a:rPr lang="en-US" sz="2000" dirty="0" smtClean="0"/>
              <a:t> request is often referred to as a </a:t>
            </a:r>
            <a:r>
              <a:rPr lang="en-US" sz="2000" i="1" dirty="0" smtClean="0">
                <a:solidFill>
                  <a:srgbClr val="C00000"/>
                </a:solidFill>
              </a:rPr>
              <a:t>document</a:t>
            </a:r>
            <a:r>
              <a:rPr lang="en-US" sz="2000" i="1" dirty="0" smtClean="0"/>
              <a:t>.</a:t>
            </a:r>
          </a:p>
          <a:p>
            <a:r>
              <a:rPr lang="en-US" sz="2000" dirty="0" smtClean="0"/>
              <a:t>A document contains text that represents a request through operations like </a:t>
            </a:r>
            <a:r>
              <a:rPr lang="en-US" sz="2000" i="1" dirty="0" smtClean="0">
                <a:solidFill>
                  <a:srgbClr val="C00000"/>
                </a:solidFill>
              </a:rPr>
              <a:t>queries</a:t>
            </a:r>
            <a:r>
              <a:rPr lang="en-US" sz="2000" dirty="0" smtClean="0"/>
              <a:t>, </a:t>
            </a:r>
            <a:r>
              <a:rPr lang="en-US" sz="2000" i="1" dirty="0" smtClean="0">
                <a:solidFill>
                  <a:srgbClr val="C00000"/>
                </a:solidFill>
              </a:rPr>
              <a:t>mutations</a:t>
            </a:r>
            <a:r>
              <a:rPr lang="en-US" sz="2000" dirty="0" smtClean="0"/>
              <a:t>, and </a:t>
            </a:r>
            <a:r>
              <a:rPr lang="en-US" sz="2000" i="1" dirty="0" smtClean="0">
                <a:solidFill>
                  <a:srgbClr val="C00000"/>
                </a:solidFill>
              </a:rPr>
              <a:t>subscriptions</a:t>
            </a:r>
            <a:r>
              <a:rPr lang="en-US" sz="2000" dirty="0" smtClean="0"/>
              <a:t>.</a:t>
            </a:r>
          </a:p>
          <a:p>
            <a:r>
              <a:rPr lang="en-US" sz="2000" dirty="0" smtClean="0"/>
              <a:t>In addition to the main operations, a </a:t>
            </a:r>
            <a:r>
              <a:rPr lang="en-US" sz="2000" dirty="0" err="1" smtClean="0"/>
              <a:t>GraphQL</a:t>
            </a:r>
            <a:r>
              <a:rPr lang="en-US" sz="2000" dirty="0" smtClean="0"/>
              <a:t> document text can contain </a:t>
            </a:r>
            <a:r>
              <a:rPr lang="en-US" sz="2000" i="1" dirty="0" smtClean="0">
                <a:solidFill>
                  <a:srgbClr val="C00000"/>
                </a:solidFill>
              </a:rPr>
              <a:t>fragments</a:t>
            </a:r>
            <a:r>
              <a:rPr lang="en-US" sz="2000" dirty="0" smtClean="0"/>
              <a:t> that can be used to compose other operations.</a:t>
            </a:r>
          </a:p>
          <a:p>
            <a:r>
              <a:rPr lang="en-US" sz="2000" dirty="0" smtClean="0"/>
              <a:t>A </a:t>
            </a:r>
            <a:r>
              <a:rPr lang="en-US" sz="2000" dirty="0" err="1" smtClean="0"/>
              <a:t>GraphQL</a:t>
            </a:r>
            <a:r>
              <a:rPr lang="en-US" sz="2000" dirty="0" smtClean="0"/>
              <a:t> request can also contain an object representing </a:t>
            </a:r>
            <a:r>
              <a:rPr lang="en-US" sz="2000" i="1" dirty="0" smtClean="0">
                <a:solidFill>
                  <a:srgbClr val="C00000"/>
                </a:solidFill>
              </a:rPr>
              <a:t>values of variables</a:t>
            </a:r>
            <a:r>
              <a:rPr lang="en-US" sz="2000" dirty="0" smtClean="0"/>
              <a:t> that may be used in the request document text.</a:t>
            </a:r>
          </a:p>
          <a:p>
            <a:r>
              <a:rPr lang="en-US" sz="2000" dirty="0" smtClean="0"/>
              <a:t>The request may also include </a:t>
            </a:r>
            <a:r>
              <a:rPr lang="en-US" sz="2000" i="1" dirty="0" smtClean="0">
                <a:solidFill>
                  <a:srgbClr val="C00000"/>
                </a:solidFill>
              </a:rPr>
              <a:t>meta-information</a:t>
            </a:r>
            <a:r>
              <a:rPr lang="en-US" sz="2000" dirty="0" smtClean="0"/>
              <a:t> about operations. For example, if the request document contains more than one operation, a </a:t>
            </a:r>
            <a:r>
              <a:rPr lang="en-US" sz="2000" dirty="0" err="1" smtClean="0"/>
              <a:t>GraphQL</a:t>
            </a:r>
            <a:r>
              <a:rPr lang="en-US" sz="2000" dirty="0" smtClean="0"/>
              <a:t> request must include information about which operation to execute.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Request Document</a:t>
            </a:r>
            <a:endParaRPr lang="en-US" dirty="0"/>
          </a:p>
        </p:txBody>
      </p:sp>
      <p:sp>
        <p:nvSpPr>
          <p:cNvPr id="5" name="Rectangle 4"/>
          <p:cNvSpPr/>
          <p:nvPr/>
        </p:nvSpPr>
        <p:spPr>
          <a:xfrm>
            <a:off x="685800" y="1817906"/>
            <a:ext cx="4800600" cy="4278094"/>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569CD6"/>
                </a:solidFill>
                <a:latin typeface="Consolas"/>
              </a:rPr>
              <a:t>query</a:t>
            </a:r>
            <a:r>
              <a:rPr lang="en-US" sz="1600" dirty="0" smtClean="0">
                <a:solidFill>
                  <a:srgbClr val="D4D4D4"/>
                </a:solidFill>
                <a:latin typeface="Consolas"/>
              </a:rPr>
              <a:t> </a:t>
            </a:r>
            <a:r>
              <a:rPr lang="en-US" sz="1600" dirty="0" err="1" smtClean="0">
                <a:solidFill>
                  <a:srgbClr val="DCDCAA"/>
                </a:solidFill>
                <a:latin typeface="Consolas"/>
              </a:rPr>
              <a:t>GetEmployees</a:t>
            </a:r>
            <a:r>
              <a:rPr lang="en-US" sz="1600" dirty="0" smtClean="0">
                <a:solidFill>
                  <a:srgbClr val="D4D4D4"/>
                </a:solidFill>
                <a:latin typeface="Consolas"/>
              </a:rPr>
              <a:t>(</a:t>
            </a:r>
            <a:r>
              <a:rPr lang="en-US" sz="1600" dirty="0" smtClean="0">
                <a:solidFill>
                  <a:srgbClr val="9CDCFE"/>
                </a:solidFill>
                <a:latin typeface="Consolas"/>
              </a:rPr>
              <a:t>$active</a:t>
            </a:r>
            <a:r>
              <a:rPr lang="en-US" sz="1600" dirty="0" smtClean="0">
                <a:solidFill>
                  <a:srgbClr val="D4D4D4"/>
                </a:solidFill>
                <a:latin typeface="Consolas"/>
              </a:rPr>
              <a:t>: </a:t>
            </a:r>
            <a:r>
              <a:rPr lang="en-US" sz="1600" dirty="0" smtClean="0">
                <a:solidFill>
                  <a:srgbClr val="4EC9B0"/>
                </a:solidFill>
                <a:latin typeface="Consolas"/>
              </a:rPr>
              <a:t>Boolean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9CDCFE"/>
                </a:solidFill>
                <a:latin typeface="Consolas"/>
              </a:rPr>
              <a:t>allEmployees</a:t>
            </a:r>
            <a:r>
              <a:rPr lang="en-US" sz="1600" dirty="0" smtClean="0">
                <a:solidFill>
                  <a:srgbClr val="D4D4D4"/>
                </a:solidFill>
                <a:latin typeface="Consolas"/>
              </a:rPr>
              <a:t>(</a:t>
            </a:r>
            <a:r>
              <a:rPr lang="en-US" sz="1600" dirty="0" smtClean="0">
                <a:solidFill>
                  <a:srgbClr val="9CDCFE"/>
                </a:solidFill>
                <a:latin typeface="Consolas"/>
              </a:rPr>
              <a:t>active</a:t>
            </a:r>
            <a:r>
              <a:rPr lang="en-US" sz="1600" dirty="0" smtClean="0">
                <a:solidFill>
                  <a:srgbClr val="D4D4D4"/>
                </a:solidFill>
                <a:latin typeface="Consolas"/>
              </a:rPr>
              <a:t>: </a:t>
            </a:r>
            <a:r>
              <a:rPr lang="en-US" sz="1600" dirty="0" smtClean="0">
                <a:solidFill>
                  <a:srgbClr val="9CDCFE"/>
                </a:solidFill>
                <a:latin typeface="Consolas"/>
              </a:rPr>
              <a:t>$active</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9CDCFE"/>
                </a:solidFill>
                <a:latin typeface="Consolas"/>
              </a:rPr>
              <a:t>employeeInfo</a:t>
            </a:r>
            <a:endParaRPr lang="en-US" sz="1600" dirty="0" smtClean="0">
              <a:solidFill>
                <a:srgbClr val="D4D4D4"/>
              </a:solidFill>
              <a:latin typeface="Consolas"/>
            </a:endParaRPr>
          </a:p>
          <a:p>
            <a:r>
              <a:rPr lang="en-US" sz="1600" dirty="0" smtClean="0">
                <a:solidFill>
                  <a:srgbClr val="D4D4D4"/>
                </a:solidFill>
                <a:latin typeface="Consolas"/>
              </a:rPr>
              <a:t>    }</a:t>
            </a: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query</a:t>
            </a:r>
            <a:r>
              <a:rPr lang="en-US" sz="1600" dirty="0" smtClean="0">
                <a:solidFill>
                  <a:srgbClr val="D4D4D4"/>
                </a:solidFill>
                <a:latin typeface="Consolas"/>
              </a:rPr>
              <a:t> </a:t>
            </a:r>
            <a:r>
              <a:rPr lang="en-US" sz="1600" dirty="0" err="1" smtClean="0">
                <a:solidFill>
                  <a:srgbClr val="DCDCAA"/>
                </a:solidFill>
                <a:latin typeface="Consolas"/>
              </a:rPr>
              <a:t>FindEmployee</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employee</a:t>
            </a:r>
            <a:r>
              <a:rPr lang="en-US" sz="1600" dirty="0" smtClean="0">
                <a:solidFill>
                  <a:srgbClr val="D4D4D4"/>
                </a:solidFill>
                <a:latin typeface="Consolas"/>
              </a:rPr>
              <a:t>(</a:t>
            </a:r>
            <a:r>
              <a:rPr lang="en-US" sz="1600" dirty="0" smtClean="0">
                <a:solidFill>
                  <a:srgbClr val="9CDCFE"/>
                </a:solidFill>
                <a:latin typeface="Consolas"/>
              </a:rPr>
              <a:t>id</a:t>
            </a:r>
            <a:r>
              <a:rPr lang="en-US" sz="1600" dirty="0" smtClean="0">
                <a:solidFill>
                  <a:srgbClr val="D4D4D4"/>
                </a:solidFill>
                <a:latin typeface="Consolas"/>
              </a:rPr>
              <a:t>: </a:t>
            </a:r>
            <a:r>
              <a:rPr lang="en-US" sz="1600" dirty="0" smtClean="0">
                <a:solidFill>
                  <a:srgbClr val="9CDCFE"/>
                </a:solidFill>
                <a:latin typeface="Consolas"/>
              </a:rPr>
              <a:t>$</a:t>
            </a:r>
            <a:r>
              <a:rPr lang="en-US" sz="1600" dirty="0" err="1" smtClean="0">
                <a:solidFill>
                  <a:srgbClr val="9CDCFE"/>
                </a:solidFill>
                <a:latin typeface="Consolas"/>
              </a:rPr>
              <a:t>employeeId</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9CDCFE"/>
                </a:solidFill>
                <a:latin typeface="Consolas"/>
              </a:rPr>
              <a:t>employeeInfo</a:t>
            </a:r>
            <a:endParaRPr lang="en-US" sz="1600" dirty="0" smtClean="0">
              <a:solidFill>
                <a:srgbClr val="D4D4D4"/>
              </a:solidFill>
              <a:latin typeface="Consolas"/>
            </a:endParaRPr>
          </a:p>
          <a:p>
            <a:r>
              <a:rPr lang="en-US" sz="1600" dirty="0" smtClean="0">
                <a:solidFill>
                  <a:srgbClr val="D4D4D4"/>
                </a:solidFill>
                <a:latin typeface="Consolas"/>
              </a:rPr>
              <a:t>    }</a:t>
            </a: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fragment</a:t>
            </a:r>
            <a:r>
              <a:rPr lang="en-US" sz="1600" dirty="0" smtClean="0">
                <a:solidFill>
                  <a:srgbClr val="D4D4D4"/>
                </a:solidFill>
                <a:latin typeface="Consolas"/>
              </a:rPr>
              <a:t> </a:t>
            </a:r>
            <a:r>
              <a:rPr lang="en-US" sz="1600" dirty="0" err="1" smtClean="0">
                <a:solidFill>
                  <a:srgbClr val="D4D4D4"/>
                </a:solidFill>
                <a:latin typeface="Consolas"/>
              </a:rPr>
              <a:t>employeeInfo</a:t>
            </a:r>
            <a:r>
              <a:rPr lang="en-US" sz="1600" dirty="0" smtClean="0">
                <a:solidFill>
                  <a:srgbClr val="D4D4D4"/>
                </a:solidFill>
                <a:latin typeface="Consolas"/>
              </a:rPr>
              <a:t> </a:t>
            </a:r>
            <a:r>
              <a:rPr lang="en-US" sz="1600" dirty="0" smtClean="0">
                <a:solidFill>
                  <a:srgbClr val="569CD6"/>
                </a:solidFill>
                <a:latin typeface="Consolas"/>
              </a:rPr>
              <a:t>on</a:t>
            </a:r>
            <a:r>
              <a:rPr lang="en-US" sz="1600" dirty="0" smtClean="0">
                <a:solidFill>
                  <a:srgbClr val="D4D4D4"/>
                </a:solidFill>
                <a:latin typeface="Consolas"/>
              </a:rPr>
              <a:t> </a:t>
            </a:r>
            <a:r>
              <a:rPr lang="en-US" sz="1600" dirty="0" smtClean="0">
                <a:solidFill>
                  <a:srgbClr val="4EC9B0"/>
                </a:solidFill>
                <a:latin typeface="Consolas"/>
              </a:rPr>
              <a:t>Employee</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name</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9CDCFE"/>
                </a:solidFill>
                <a:latin typeface="Consolas"/>
              </a:rPr>
              <a:t>email</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9CDCFE"/>
                </a:solidFill>
                <a:latin typeface="Consolas"/>
              </a:rPr>
              <a:t>startDate</a:t>
            </a:r>
            <a:endParaRPr lang="en-US" sz="1600" dirty="0" smtClean="0">
              <a:solidFill>
                <a:srgbClr val="D4D4D4"/>
              </a:solidFill>
              <a:latin typeface="Consolas"/>
            </a:endParaRPr>
          </a:p>
          <a:p>
            <a:r>
              <a:rPr lang="en-US" sz="1600" dirty="0" smtClean="0">
                <a:solidFill>
                  <a:srgbClr val="D4D4D4"/>
                </a:solidFill>
                <a:latin typeface="Consolas"/>
              </a:rPr>
              <a:t>}</a:t>
            </a:r>
            <a:endParaRPr lang="en-US" sz="1600" b="0" dirty="0">
              <a:solidFill>
                <a:srgbClr val="D4D4D4"/>
              </a:solidFill>
              <a:latin typeface="Consolas"/>
            </a:endParaRPr>
          </a:p>
        </p:txBody>
      </p:sp>
      <p:pic>
        <p:nvPicPr>
          <p:cNvPr id="2051" name="Picture 3"/>
          <p:cNvPicPr>
            <a:picLocks noChangeAspect="1" noChangeArrowheads="1"/>
          </p:cNvPicPr>
          <p:nvPr/>
        </p:nvPicPr>
        <p:blipFill>
          <a:blip r:embed="rId2" cstate="print"/>
          <a:srcRect/>
          <a:stretch>
            <a:fillRect/>
          </a:stretch>
        </p:blipFill>
        <p:spPr bwMode="auto">
          <a:xfrm>
            <a:off x="5715000" y="2057400"/>
            <a:ext cx="3006725" cy="36195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Project Structure [4]</a:t>
            </a:r>
            <a:endParaRPr lang="en-US" dirty="0"/>
          </a:p>
        </p:txBody>
      </p:sp>
      <p:sp>
        <p:nvSpPr>
          <p:cNvPr id="3" name="Content Placeholder 2"/>
          <p:cNvSpPr>
            <a:spLocks noGrp="1"/>
          </p:cNvSpPr>
          <p:nvPr>
            <p:ph idx="1"/>
          </p:nvPr>
        </p:nvSpPr>
        <p:spPr/>
        <p:txBody>
          <a:bodyPr/>
          <a:lstStyle/>
          <a:p>
            <a:endParaRPr lang="en-US" sz="2400" dirty="0" smtClean="0">
              <a:latin typeface="Consolas" pitchFamily="49" charset="0"/>
            </a:endParaRPr>
          </a:p>
          <a:p>
            <a:endParaRPr lang="en-US" sz="2400" dirty="0" smtClean="0">
              <a:latin typeface="Consolas" pitchFamily="49" charset="0"/>
            </a:endParaRPr>
          </a:p>
          <a:p>
            <a:endParaRPr lang="en-US" sz="2400" dirty="0" smtClean="0">
              <a:latin typeface="Consolas" pitchFamily="49" charset="0"/>
            </a:endParaRPr>
          </a:p>
          <a:p>
            <a:endParaRPr lang="en-US" sz="2400" dirty="0" smtClean="0">
              <a:latin typeface="Consolas" pitchFamily="49" charset="0"/>
            </a:endParaRPr>
          </a:p>
          <a:p>
            <a:r>
              <a:rPr lang="en-US" sz="1600" dirty="0" err="1" smtClean="0">
                <a:latin typeface="Consolas" pitchFamily="49" charset="0"/>
              </a:rPr>
              <a:t>mkdir</a:t>
            </a:r>
            <a:r>
              <a:rPr lang="en-US" sz="1600" dirty="0" smtClean="0">
                <a:latin typeface="Consolas" pitchFamily="49" charset="0"/>
              </a:rPr>
              <a:t> recipe-</a:t>
            </a:r>
            <a:r>
              <a:rPr lang="en-US" sz="1600" dirty="0" err="1" smtClean="0">
                <a:latin typeface="Consolas" pitchFamily="49" charset="0"/>
              </a:rPr>
              <a:t>api</a:t>
            </a:r>
            <a:endParaRPr lang="en-US" sz="1600" dirty="0" smtClean="0">
              <a:latin typeface="Consolas" pitchFamily="49" charset="0"/>
            </a:endParaRPr>
          </a:p>
          <a:p>
            <a:r>
              <a:rPr lang="en-US" sz="1600" dirty="0" err="1" smtClean="0">
                <a:latin typeface="Consolas" pitchFamily="49" charset="0"/>
              </a:rPr>
              <a:t>cd</a:t>
            </a:r>
            <a:r>
              <a:rPr lang="en-US" sz="1600" dirty="0" smtClean="0">
                <a:latin typeface="Consolas" pitchFamily="49" charset="0"/>
              </a:rPr>
              <a:t> recipe-</a:t>
            </a:r>
            <a:r>
              <a:rPr lang="en-US" sz="1600" dirty="0" err="1" smtClean="0">
                <a:latin typeface="Consolas" pitchFamily="49" charset="0"/>
              </a:rPr>
              <a:t>api</a:t>
            </a:r>
            <a:endParaRPr lang="en-US" sz="1600" dirty="0" smtClean="0">
              <a:latin typeface="Consolas" pitchFamily="49" charset="0"/>
            </a:endParaRPr>
          </a:p>
          <a:p>
            <a:r>
              <a:rPr lang="en-US" sz="1600" dirty="0" err="1" smtClean="0">
                <a:latin typeface="Consolas" pitchFamily="49" charset="0"/>
              </a:rPr>
              <a:t>npm</a:t>
            </a:r>
            <a:r>
              <a:rPr lang="en-US" sz="1600" dirty="0" smtClean="0">
                <a:latin typeface="Consolas" pitchFamily="49" charset="0"/>
              </a:rPr>
              <a:t> init -y</a:t>
            </a:r>
          </a:p>
          <a:p>
            <a:r>
              <a:rPr lang="en-US" sz="1600" dirty="0" err="1" smtClean="0">
                <a:latin typeface="Consolas" pitchFamily="49" charset="0"/>
              </a:rPr>
              <a:t>cd</a:t>
            </a:r>
            <a:r>
              <a:rPr lang="en-US" sz="1600" dirty="0" smtClean="0">
                <a:latin typeface="Consolas" pitchFamily="49" charset="0"/>
              </a:rPr>
              <a:t> ..</a:t>
            </a:r>
          </a:p>
          <a:p>
            <a:r>
              <a:rPr lang="en-US" sz="1600" dirty="0" err="1" smtClean="0">
                <a:latin typeface="Consolas" pitchFamily="49" charset="0"/>
              </a:rPr>
              <a:t>mkdir</a:t>
            </a:r>
            <a:r>
              <a:rPr lang="en-US" sz="1600" dirty="0" smtClean="0">
                <a:latin typeface="Consolas" pitchFamily="49" charset="0"/>
              </a:rPr>
              <a:t> web-</a:t>
            </a:r>
            <a:r>
              <a:rPr lang="en-US" sz="1600" dirty="0" err="1" smtClean="0">
                <a:latin typeface="Consolas" pitchFamily="49" charset="0"/>
              </a:rPr>
              <a:t>api</a:t>
            </a:r>
            <a:endParaRPr lang="en-US" sz="1600" dirty="0" smtClean="0">
              <a:latin typeface="Consolas" pitchFamily="49" charset="0"/>
            </a:endParaRPr>
          </a:p>
          <a:p>
            <a:r>
              <a:rPr lang="en-US" sz="1600" dirty="0" err="1" smtClean="0">
                <a:latin typeface="Consolas" pitchFamily="49" charset="0"/>
              </a:rPr>
              <a:t>cd</a:t>
            </a:r>
            <a:r>
              <a:rPr lang="en-US" sz="1600" dirty="0" smtClean="0">
                <a:latin typeface="Consolas" pitchFamily="49" charset="0"/>
              </a:rPr>
              <a:t> web-</a:t>
            </a:r>
            <a:r>
              <a:rPr lang="en-US" sz="1600" dirty="0" err="1" smtClean="0">
                <a:latin typeface="Consolas" pitchFamily="49" charset="0"/>
              </a:rPr>
              <a:t>api</a:t>
            </a:r>
            <a:endParaRPr lang="en-US" sz="1600" dirty="0" smtClean="0">
              <a:latin typeface="Consolas" pitchFamily="49" charset="0"/>
            </a:endParaRPr>
          </a:p>
          <a:p>
            <a:r>
              <a:rPr lang="en-US" sz="1600" dirty="0" err="1" smtClean="0">
                <a:latin typeface="Consolas" pitchFamily="49" charset="0"/>
              </a:rPr>
              <a:t>npm</a:t>
            </a:r>
            <a:r>
              <a:rPr lang="en-US" sz="1600" dirty="0" smtClean="0">
                <a:latin typeface="Consolas" pitchFamily="49" charset="0"/>
              </a:rPr>
              <a:t> init -y</a:t>
            </a:r>
          </a:p>
          <a:p>
            <a:r>
              <a:rPr lang="en-US" sz="1600" dirty="0" err="1" smtClean="0">
                <a:latin typeface="Consolas" pitchFamily="49" charset="0"/>
              </a:rPr>
              <a:t>cd</a:t>
            </a:r>
            <a:r>
              <a:rPr lang="en-US" sz="1600" dirty="0" smtClean="0">
                <a:latin typeface="Consolas" pitchFamily="49" charset="0"/>
              </a:rPr>
              <a:t> ..</a:t>
            </a:r>
          </a:p>
          <a:p>
            <a:r>
              <a:rPr lang="en-US" sz="1600" dirty="0" err="1" smtClean="0">
                <a:latin typeface="Consolas" pitchFamily="49" charset="0"/>
              </a:rPr>
              <a:t>mkdir</a:t>
            </a:r>
            <a:r>
              <a:rPr lang="en-US" sz="1600" dirty="0" smtClean="0">
                <a:latin typeface="Consolas" pitchFamily="49" charset="0"/>
              </a:rPr>
              <a:t> shared</a:t>
            </a:r>
          </a:p>
        </p:txBody>
      </p:sp>
      <p:pic>
        <p:nvPicPr>
          <p:cNvPr id="1026" name="Picture 2"/>
          <p:cNvPicPr>
            <a:picLocks noChangeAspect="1" noChangeArrowheads="1"/>
          </p:cNvPicPr>
          <p:nvPr/>
        </p:nvPicPr>
        <p:blipFill>
          <a:blip r:embed="rId2" cstate="print"/>
          <a:srcRect/>
          <a:stretch>
            <a:fillRect/>
          </a:stretch>
        </p:blipFill>
        <p:spPr bwMode="auto">
          <a:xfrm>
            <a:off x="1808163" y="1828800"/>
            <a:ext cx="5527675" cy="1192213"/>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GraphQL</a:t>
            </a:r>
            <a:r>
              <a:rPr lang="en-US" dirty="0" smtClean="0"/>
              <a:t> Schema</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err="1" smtClean="0">
                <a:solidFill>
                  <a:srgbClr val="C00000"/>
                </a:solidFill>
              </a:rPr>
              <a:t>GraphQL</a:t>
            </a:r>
            <a:r>
              <a:rPr lang="en-US" sz="2400" i="1" dirty="0" smtClean="0">
                <a:solidFill>
                  <a:srgbClr val="C00000"/>
                </a:solidFill>
              </a:rPr>
              <a:t> schema</a:t>
            </a:r>
            <a:r>
              <a:rPr lang="en-US" sz="2400" dirty="0" smtClean="0"/>
              <a:t> is a </a:t>
            </a:r>
            <a:r>
              <a:rPr lang="en-US" sz="2400" u="sng" dirty="0" smtClean="0"/>
              <a:t>string</a:t>
            </a:r>
            <a:r>
              <a:rPr lang="en-US" sz="2400" dirty="0" smtClean="0"/>
              <a:t> that describes </a:t>
            </a:r>
            <a:r>
              <a:rPr lang="en-US" sz="2400" u="sng" dirty="0" smtClean="0"/>
              <a:t>all the interactions</a:t>
            </a:r>
            <a:r>
              <a:rPr lang="en-US" sz="2400" dirty="0" smtClean="0"/>
              <a:t> a particular </a:t>
            </a:r>
            <a:r>
              <a:rPr lang="en-US" sz="2400" dirty="0" err="1" smtClean="0"/>
              <a:t>GraphQL</a:t>
            </a:r>
            <a:r>
              <a:rPr lang="en-US" sz="2400" dirty="0" smtClean="0"/>
              <a:t> server is able to make.</a:t>
            </a:r>
          </a:p>
          <a:p>
            <a:r>
              <a:rPr lang="en-US" sz="2400" dirty="0" smtClean="0"/>
              <a:t>It also describes </a:t>
            </a:r>
            <a:r>
              <a:rPr lang="en-US" sz="2400" u="sng" dirty="0" smtClean="0"/>
              <a:t>all the objects</a:t>
            </a:r>
            <a:r>
              <a:rPr lang="en-US" sz="2400" dirty="0" smtClean="0"/>
              <a:t> a server can represent, as well as </a:t>
            </a:r>
            <a:r>
              <a:rPr lang="en-US" sz="2400" u="sng" dirty="0" smtClean="0"/>
              <a:t>the types</a:t>
            </a:r>
            <a:r>
              <a:rPr lang="en-US" sz="2400" dirty="0" smtClean="0"/>
              <a:t> of those objects (such as String and </a:t>
            </a:r>
            <a:r>
              <a:rPr lang="en-US" sz="2400" dirty="0" err="1" smtClean="0"/>
              <a:t>Int</a:t>
            </a:r>
            <a:r>
              <a:rPr lang="en-US" sz="2400" dirty="0" smtClean="0"/>
              <a:t>).</a:t>
            </a:r>
          </a:p>
          <a:p>
            <a:r>
              <a:rPr lang="en-US" sz="2400" dirty="0" smtClean="0"/>
              <a:t>There are essentially two classifications of these types; a type is either </a:t>
            </a:r>
            <a:r>
              <a:rPr lang="en-US" sz="2400" u="sng" dirty="0" smtClean="0"/>
              <a:t>a primitive</a:t>
            </a:r>
            <a:r>
              <a:rPr lang="en-US" sz="2400" dirty="0" smtClean="0"/>
              <a:t> or it is </a:t>
            </a:r>
            <a:r>
              <a:rPr lang="en-US" sz="2400" u="sng" dirty="0" smtClean="0"/>
              <a:t>a named object</a:t>
            </a:r>
            <a:r>
              <a:rPr lang="en-US" sz="2400" dirty="0" smtClean="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Create </a:t>
            </a:r>
            <a:r>
              <a:rPr lang="en-US" dirty="0" smtClean="0">
                <a:latin typeface="Consolas" pitchFamily="49" charset="0"/>
              </a:rPr>
              <a:t>shared/graphql-schema.gql</a:t>
            </a:r>
            <a:endParaRPr lang="en-US" dirty="0"/>
          </a:p>
        </p:txBody>
      </p:sp>
      <p:sp>
        <p:nvSpPr>
          <p:cNvPr id="4" name="Rectangle 3"/>
          <p:cNvSpPr/>
          <p:nvPr/>
        </p:nvSpPr>
        <p:spPr>
          <a:xfrm>
            <a:off x="685800" y="2402681"/>
            <a:ext cx="7772400" cy="3754874"/>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400" dirty="0" smtClean="0">
                <a:solidFill>
                  <a:srgbClr val="569CD6"/>
                </a:solidFill>
                <a:latin typeface="Consolas"/>
              </a:rPr>
              <a:t>type</a:t>
            </a:r>
            <a:r>
              <a:rPr lang="en-US" sz="1400" dirty="0" smtClean="0">
                <a:solidFill>
                  <a:srgbClr val="D4D4D4"/>
                </a:solidFill>
                <a:latin typeface="Consolas"/>
              </a:rPr>
              <a:t> </a:t>
            </a:r>
            <a:r>
              <a:rPr lang="en-US" sz="1400" dirty="0" smtClean="0">
                <a:solidFill>
                  <a:srgbClr val="4EC9B0"/>
                </a:solidFill>
                <a:latin typeface="Consolas"/>
              </a:rPr>
              <a:t>Query</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9CDCFE"/>
                </a:solidFill>
                <a:latin typeface="Consolas"/>
              </a:rPr>
              <a:t>recipe</a:t>
            </a:r>
            <a:r>
              <a:rPr lang="en-US" sz="1400" dirty="0" smtClean="0">
                <a:solidFill>
                  <a:srgbClr val="D4D4D4"/>
                </a:solidFill>
                <a:latin typeface="Consolas"/>
              </a:rPr>
              <a:t>(</a:t>
            </a:r>
            <a:r>
              <a:rPr lang="en-US" sz="1400" dirty="0" smtClean="0">
                <a:solidFill>
                  <a:srgbClr val="9CDCFE"/>
                </a:solidFill>
                <a:latin typeface="Consolas"/>
              </a:rPr>
              <a:t>id</a:t>
            </a:r>
            <a:r>
              <a:rPr lang="en-US" sz="1400" dirty="0" smtClean="0">
                <a:solidFill>
                  <a:srgbClr val="D4D4D4"/>
                </a:solidFill>
                <a:latin typeface="Consolas"/>
              </a:rPr>
              <a:t>: </a:t>
            </a:r>
            <a:r>
              <a:rPr lang="en-US" sz="1400" dirty="0" smtClean="0">
                <a:solidFill>
                  <a:srgbClr val="4EC9B0"/>
                </a:solidFill>
                <a:latin typeface="Consolas"/>
              </a:rPr>
              <a:t>ID</a:t>
            </a:r>
            <a:r>
              <a:rPr lang="en-US" sz="1400" dirty="0" smtClean="0">
                <a:solidFill>
                  <a:srgbClr val="D4D4D4"/>
                </a:solidFill>
                <a:latin typeface="Consolas"/>
              </a:rPr>
              <a:t>): </a:t>
            </a:r>
            <a:r>
              <a:rPr lang="en-US" sz="1400" dirty="0" smtClean="0">
                <a:solidFill>
                  <a:srgbClr val="4EC9B0"/>
                </a:solidFill>
                <a:latin typeface="Consolas"/>
              </a:rPr>
              <a:t>Recipe</a:t>
            </a:r>
            <a:endParaRPr lang="en-US" sz="1400" dirty="0" smtClean="0">
              <a:solidFill>
                <a:srgbClr val="D4D4D4"/>
              </a:solidFill>
              <a:latin typeface="Consolas"/>
            </a:endParaRPr>
          </a:p>
          <a:p>
            <a:r>
              <a:rPr lang="en-US" sz="1400" dirty="0" smtClean="0">
                <a:solidFill>
                  <a:srgbClr val="D4D4D4"/>
                </a:solidFill>
                <a:latin typeface="Consolas"/>
              </a:rPr>
              <a:t>    </a:t>
            </a:r>
            <a:r>
              <a:rPr lang="en-US" sz="1400" dirty="0" err="1" smtClean="0">
                <a:solidFill>
                  <a:srgbClr val="9CDCFE"/>
                </a:solidFill>
                <a:latin typeface="Consolas"/>
              </a:rPr>
              <a:t>pid</a:t>
            </a:r>
            <a:r>
              <a:rPr lang="en-US" sz="1400" dirty="0" smtClean="0">
                <a:solidFill>
                  <a:srgbClr val="D4D4D4"/>
                </a:solidFill>
                <a:latin typeface="Consolas"/>
              </a:rPr>
              <a:t>: </a:t>
            </a:r>
            <a:r>
              <a:rPr lang="en-US" sz="1400" dirty="0" err="1" smtClean="0">
                <a:solidFill>
                  <a:srgbClr val="4EC9B0"/>
                </a:solidFill>
                <a:latin typeface="Consolas"/>
              </a:rPr>
              <a:t>Int</a:t>
            </a:r>
            <a:endParaRPr lang="en-US" sz="1400" dirty="0" smtClean="0">
              <a:solidFill>
                <a:srgbClr val="D4D4D4"/>
              </a:solidFill>
              <a:latin typeface="Consolas"/>
            </a:endParaRPr>
          </a:p>
          <a:p>
            <a:r>
              <a:rPr lang="en-US" sz="1400" dirty="0" smtClean="0">
                <a:solidFill>
                  <a:srgbClr val="D4D4D4"/>
                </a:solidFill>
                <a:latin typeface="Consolas"/>
              </a:rPr>
              <a:t>}</a:t>
            </a:r>
          </a:p>
          <a:p>
            <a:r>
              <a:rPr lang="en-US" sz="1400" dirty="0" smtClean="0">
                <a:solidFill>
                  <a:srgbClr val="D4D4D4"/>
                </a:solidFill>
                <a:latin typeface="Consolas"/>
              </a:rPr>
              <a:t/>
            </a:r>
            <a:br>
              <a:rPr lang="en-US" sz="1400" dirty="0" smtClean="0">
                <a:solidFill>
                  <a:srgbClr val="D4D4D4"/>
                </a:solidFill>
                <a:latin typeface="Consolas"/>
              </a:rPr>
            </a:br>
            <a:r>
              <a:rPr lang="en-US" sz="1400" dirty="0" smtClean="0">
                <a:solidFill>
                  <a:srgbClr val="569CD6"/>
                </a:solidFill>
                <a:latin typeface="Consolas"/>
              </a:rPr>
              <a:t>type</a:t>
            </a:r>
            <a:r>
              <a:rPr lang="en-US" sz="1400" dirty="0" smtClean="0">
                <a:solidFill>
                  <a:srgbClr val="D4D4D4"/>
                </a:solidFill>
                <a:latin typeface="Consolas"/>
              </a:rPr>
              <a:t> </a:t>
            </a:r>
            <a:r>
              <a:rPr lang="en-US" sz="1400" dirty="0" smtClean="0">
                <a:solidFill>
                  <a:srgbClr val="4EC9B0"/>
                </a:solidFill>
                <a:latin typeface="Consolas"/>
              </a:rPr>
              <a:t>Recipe</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9CDCFE"/>
                </a:solidFill>
                <a:latin typeface="Consolas"/>
              </a:rPr>
              <a:t>id</a:t>
            </a:r>
            <a:r>
              <a:rPr lang="en-US" sz="1400" dirty="0" smtClean="0">
                <a:solidFill>
                  <a:srgbClr val="D4D4D4"/>
                </a:solidFill>
                <a:latin typeface="Consolas"/>
              </a:rPr>
              <a:t>: </a:t>
            </a:r>
            <a:r>
              <a:rPr lang="en-US" sz="1400" dirty="0" smtClean="0">
                <a:solidFill>
                  <a:srgbClr val="4EC9B0"/>
                </a:solidFill>
                <a:latin typeface="Consolas"/>
              </a:rPr>
              <a:t>ID</a:t>
            </a:r>
            <a:r>
              <a:rPr lang="en-US" sz="1400" dirty="0" smtClean="0">
                <a:solidFill>
                  <a:srgbClr val="D4D4D4"/>
                </a:solidFill>
                <a:latin typeface="Consolas"/>
              </a:rPr>
              <a:t>!</a:t>
            </a:r>
          </a:p>
          <a:p>
            <a:r>
              <a:rPr lang="en-US" sz="1400" dirty="0" smtClean="0">
                <a:solidFill>
                  <a:srgbClr val="D4D4D4"/>
                </a:solidFill>
                <a:latin typeface="Consolas"/>
              </a:rPr>
              <a:t>    </a:t>
            </a:r>
            <a:r>
              <a:rPr lang="en-US" sz="1400" dirty="0" smtClean="0">
                <a:solidFill>
                  <a:srgbClr val="9CDCFE"/>
                </a:solidFill>
                <a:latin typeface="Consolas"/>
              </a:rPr>
              <a:t>name</a:t>
            </a:r>
            <a:r>
              <a:rPr lang="en-US" sz="1400" dirty="0" smtClean="0">
                <a:solidFill>
                  <a:srgbClr val="D4D4D4"/>
                </a:solidFill>
                <a:latin typeface="Consolas"/>
              </a:rPr>
              <a:t>: </a:t>
            </a:r>
            <a:r>
              <a:rPr lang="en-US" sz="1400" dirty="0" smtClean="0">
                <a:solidFill>
                  <a:srgbClr val="4EC9B0"/>
                </a:solidFill>
                <a:latin typeface="Consolas"/>
              </a:rPr>
              <a:t>String</a:t>
            </a:r>
            <a:r>
              <a:rPr lang="en-US" sz="1400" dirty="0" smtClean="0">
                <a:solidFill>
                  <a:srgbClr val="D4D4D4"/>
                </a:solidFill>
                <a:latin typeface="Consolas"/>
              </a:rPr>
              <a:t>!</a:t>
            </a:r>
          </a:p>
          <a:p>
            <a:r>
              <a:rPr lang="en-US" sz="1400" dirty="0" smtClean="0">
                <a:solidFill>
                  <a:srgbClr val="D4D4D4"/>
                </a:solidFill>
                <a:latin typeface="Consolas"/>
              </a:rPr>
              <a:t>    </a:t>
            </a:r>
            <a:r>
              <a:rPr lang="en-US" sz="1400" dirty="0" smtClean="0">
                <a:solidFill>
                  <a:srgbClr val="9CDCFE"/>
                </a:solidFill>
                <a:latin typeface="Consolas"/>
              </a:rPr>
              <a:t>steps</a:t>
            </a:r>
            <a:r>
              <a:rPr lang="en-US" sz="1400" dirty="0" smtClean="0">
                <a:solidFill>
                  <a:srgbClr val="D4D4D4"/>
                </a:solidFill>
                <a:latin typeface="Consolas"/>
              </a:rPr>
              <a:t>: </a:t>
            </a:r>
            <a:r>
              <a:rPr lang="en-US" sz="1400" dirty="0" smtClean="0">
                <a:solidFill>
                  <a:srgbClr val="4EC9B0"/>
                </a:solidFill>
                <a:latin typeface="Consolas"/>
              </a:rPr>
              <a:t>String</a:t>
            </a:r>
            <a:endParaRPr lang="en-US" sz="1400" dirty="0" smtClean="0">
              <a:solidFill>
                <a:srgbClr val="D4D4D4"/>
              </a:solidFill>
              <a:latin typeface="Consolas"/>
            </a:endParaRPr>
          </a:p>
          <a:p>
            <a:r>
              <a:rPr lang="en-US" sz="1400" dirty="0" smtClean="0">
                <a:solidFill>
                  <a:srgbClr val="D4D4D4"/>
                </a:solidFill>
                <a:latin typeface="Consolas"/>
              </a:rPr>
              <a:t>    </a:t>
            </a:r>
            <a:r>
              <a:rPr lang="en-US" sz="1400" dirty="0" smtClean="0">
                <a:solidFill>
                  <a:srgbClr val="9CDCFE"/>
                </a:solidFill>
                <a:latin typeface="Consolas"/>
              </a:rPr>
              <a:t>ingredients</a:t>
            </a:r>
            <a:r>
              <a:rPr lang="en-US" sz="1400" dirty="0" smtClean="0">
                <a:solidFill>
                  <a:srgbClr val="D4D4D4"/>
                </a:solidFill>
                <a:latin typeface="Consolas"/>
              </a:rPr>
              <a:t>: [</a:t>
            </a:r>
            <a:r>
              <a:rPr lang="en-US" sz="1400" dirty="0" smtClean="0">
                <a:solidFill>
                  <a:srgbClr val="4EC9B0"/>
                </a:solidFill>
                <a:latin typeface="Consolas"/>
              </a:rPr>
              <a:t>Ingredient</a:t>
            </a:r>
            <a:r>
              <a:rPr lang="en-US" sz="1400" dirty="0" smtClean="0">
                <a:solidFill>
                  <a:srgbClr val="D4D4D4"/>
                </a:solidFill>
                <a:latin typeface="Consolas"/>
              </a:rPr>
              <a:t>]!</a:t>
            </a:r>
          </a:p>
          <a:p>
            <a:r>
              <a:rPr lang="en-US" sz="1400" dirty="0" smtClean="0">
                <a:solidFill>
                  <a:srgbClr val="D4D4D4"/>
                </a:solidFill>
                <a:latin typeface="Consolas"/>
              </a:rPr>
              <a:t>}</a:t>
            </a:r>
          </a:p>
          <a:p>
            <a:r>
              <a:rPr lang="en-US" sz="1400" dirty="0" smtClean="0">
                <a:solidFill>
                  <a:srgbClr val="D4D4D4"/>
                </a:solidFill>
                <a:latin typeface="Consolas"/>
              </a:rPr>
              <a:t/>
            </a:r>
            <a:br>
              <a:rPr lang="en-US" sz="1400" dirty="0" smtClean="0">
                <a:solidFill>
                  <a:srgbClr val="D4D4D4"/>
                </a:solidFill>
                <a:latin typeface="Consolas"/>
              </a:rPr>
            </a:br>
            <a:r>
              <a:rPr lang="en-US" sz="1400" dirty="0" smtClean="0">
                <a:solidFill>
                  <a:srgbClr val="569CD6"/>
                </a:solidFill>
                <a:latin typeface="Consolas"/>
              </a:rPr>
              <a:t>type</a:t>
            </a:r>
            <a:r>
              <a:rPr lang="en-US" sz="1400" dirty="0" smtClean="0">
                <a:solidFill>
                  <a:srgbClr val="D4D4D4"/>
                </a:solidFill>
                <a:latin typeface="Consolas"/>
              </a:rPr>
              <a:t> </a:t>
            </a:r>
            <a:r>
              <a:rPr lang="en-US" sz="1400" dirty="0" smtClean="0">
                <a:solidFill>
                  <a:srgbClr val="4EC9B0"/>
                </a:solidFill>
                <a:latin typeface="Consolas"/>
              </a:rPr>
              <a:t>Ingredient</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9CDCFE"/>
                </a:solidFill>
                <a:latin typeface="Consolas"/>
              </a:rPr>
              <a:t>id</a:t>
            </a:r>
            <a:r>
              <a:rPr lang="en-US" sz="1400" dirty="0" smtClean="0">
                <a:solidFill>
                  <a:srgbClr val="D4D4D4"/>
                </a:solidFill>
                <a:latin typeface="Consolas"/>
              </a:rPr>
              <a:t>: </a:t>
            </a:r>
            <a:r>
              <a:rPr lang="en-US" sz="1400" dirty="0" smtClean="0">
                <a:solidFill>
                  <a:srgbClr val="4EC9B0"/>
                </a:solidFill>
                <a:latin typeface="Consolas"/>
              </a:rPr>
              <a:t>ID</a:t>
            </a:r>
            <a:r>
              <a:rPr lang="en-US" sz="1400" dirty="0" smtClean="0">
                <a:solidFill>
                  <a:srgbClr val="D4D4D4"/>
                </a:solidFill>
                <a:latin typeface="Consolas"/>
              </a:rPr>
              <a:t>!</a:t>
            </a:r>
          </a:p>
          <a:p>
            <a:r>
              <a:rPr lang="en-US" sz="1400" dirty="0" smtClean="0">
                <a:solidFill>
                  <a:srgbClr val="D4D4D4"/>
                </a:solidFill>
                <a:latin typeface="Consolas"/>
              </a:rPr>
              <a:t>    </a:t>
            </a:r>
            <a:r>
              <a:rPr lang="en-US" sz="1400" dirty="0" smtClean="0">
                <a:solidFill>
                  <a:srgbClr val="9CDCFE"/>
                </a:solidFill>
                <a:latin typeface="Consolas"/>
              </a:rPr>
              <a:t>name</a:t>
            </a:r>
            <a:r>
              <a:rPr lang="en-US" sz="1400" dirty="0" smtClean="0">
                <a:solidFill>
                  <a:srgbClr val="D4D4D4"/>
                </a:solidFill>
                <a:latin typeface="Consolas"/>
              </a:rPr>
              <a:t>: </a:t>
            </a:r>
            <a:r>
              <a:rPr lang="en-US" sz="1400" dirty="0" smtClean="0">
                <a:solidFill>
                  <a:srgbClr val="4EC9B0"/>
                </a:solidFill>
                <a:latin typeface="Consolas"/>
              </a:rPr>
              <a:t>String</a:t>
            </a:r>
            <a:r>
              <a:rPr lang="en-US" sz="1400" dirty="0" smtClean="0">
                <a:solidFill>
                  <a:srgbClr val="D4D4D4"/>
                </a:solidFill>
                <a:latin typeface="Consolas"/>
              </a:rPr>
              <a:t>!</a:t>
            </a:r>
          </a:p>
          <a:p>
            <a:r>
              <a:rPr lang="en-US" sz="1400" dirty="0" smtClean="0">
                <a:solidFill>
                  <a:srgbClr val="D4D4D4"/>
                </a:solidFill>
                <a:latin typeface="Consolas"/>
              </a:rPr>
              <a:t>    </a:t>
            </a:r>
            <a:r>
              <a:rPr lang="en-US" sz="1400" dirty="0" smtClean="0">
                <a:solidFill>
                  <a:srgbClr val="9CDCFE"/>
                </a:solidFill>
                <a:latin typeface="Consolas"/>
              </a:rPr>
              <a:t>quantity</a:t>
            </a:r>
            <a:r>
              <a:rPr lang="en-US" sz="1400" dirty="0" smtClean="0">
                <a:solidFill>
                  <a:srgbClr val="D4D4D4"/>
                </a:solidFill>
                <a:latin typeface="Consolas"/>
              </a:rPr>
              <a:t>: </a:t>
            </a:r>
            <a:r>
              <a:rPr lang="en-US" sz="1400" dirty="0" smtClean="0">
                <a:solidFill>
                  <a:srgbClr val="4EC9B0"/>
                </a:solidFill>
                <a:latin typeface="Consolas"/>
              </a:rPr>
              <a:t>String</a:t>
            </a:r>
            <a:endParaRPr lang="en-US" sz="1400" dirty="0" smtClean="0">
              <a:solidFill>
                <a:srgbClr val="D4D4D4"/>
              </a:solidFill>
              <a:latin typeface="Consolas"/>
            </a:endParaRPr>
          </a:p>
          <a:p>
            <a:r>
              <a:rPr lang="en-US" sz="1400" dirty="0" smtClean="0">
                <a:solidFill>
                  <a:srgbClr val="D4D4D4"/>
                </a:solidFill>
                <a:latin typeface="Consolas"/>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Create </a:t>
            </a:r>
            <a:r>
              <a:rPr lang="en-US" dirty="0" smtClean="0">
                <a:latin typeface="Consolas" pitchFamily="49" charset="0"/>
              </a:rPr>
              <a:t>recipe-</a:t>
            </a:r>
            <a:r>
              <a:rPr lang="en-US" dirty="0" err="1" smtClean="0">
                <a:latin typeface="Consolas" pitchFamily="49" charset="0"/>
              </a:rPr>
              <a:t>api</a:t>
            </a:r>
            <a:r>
              <a:rPr lang="en-US" dirty="0" smtClean="0">
                <a:latin typeface="Consolas" pitchFamily="49" charset="0"/>
              </a:rPr>
              <a:t>/recipe-api</a:t>
            </a:r>
            <a:r>
              <a:rPr lang="en-US" sz="4800" dirty="0" smtClean="0">
                <a:latin typeface="Consolas" pitchFamily="49" charset="0"/>
              </a:rPr>
              <a:t>.js (I)</a:t>
            </a:r>
            <a:endParaRPr lang="en-US" dirty="0"/>
          </a:p>
        </p:txBody>
      </p:sp>
      <p:sp>
        <p:nvSpPr>
          <p:cNvPr id="4" name="Rectangle 3"/>
          <p:cNvSpPr/>
          <p:nvPr/>
        </p:nvSpPr>
        <p:spPr>
          <a:xfrm>
            <a:off x="685800" y="2402681"/>
            <a:ext cx="7772400" cy="3139321"/>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6A9955"/>
                </a:solidFill>
                <a:latin typeface="Consolas"/>
              </a:rPr>
              <a:t>#!/</a:t>
            </a:r>
            <a:r>
              <a:rPr lang="en-US" dirty="0" err="1" smtClean="0">
                <a:solidFill>
                  <a:srgbClr val="6A9955"/>
                </a:solidFill>
                <a:latin typeface="Consolas"/>
              </a:rPr>
              <a:t>usr</a:t>
            </a:r>
            <a:r>
              <a:rPr lang="en-US" dirty="0" smtClean="0">
                <a:solidFill>
                  <a:srgbClr val="6A9955"/>
                </a:solidFill>
                <a:latin typeface="Consolas"/>
              </a:rPr>
              <a:t>/bin/</a:t>
            </a:r>
            <a:r>
              <a:rPr lang="en-US" dirty="0" err="1" smtClean="0">
                <a:solidFill>
                  <a:srgbClr val="6A9955"/>
                </a:solidFill>
                <a:latin typeface="Consolas"/>
              </a:rPr>
              <a:t>env</a:t>
            </a:r>
            <a:r>
              <a:rPr lang="en-US" dirty="0" smtClean="0">
                <a:solidFill>
                  <a:srgbClr val="6A9955"/>
                </a:solidFill>
                <a:latin typeface="Consolas"/>
              </a:rPr>
              <a:t> node</a:t>
            </a:r>
            <a:endParaRPr lang="en-US" dirty="0" smtClean="0">
              <a:solidFill>
                <a:srgbClr val="D4D4D4"/>
              </a:solidFill>
              <a:latin typeface="Consolas"/>
            </a:endParaRPr>
          </a:p>
          <a:p>
            <a:r>
              <a:rPr lang="en-US" dirty="0" smtClean="0">
                <a:solidFill>
                  <a:srgbClr val="6A9955"/>
                </a:solidFill>
                <a:latin typeface="Consolas"/>
              </a:rPr>
              <a:t>// </a:t>
            </a:r>
            <a:r>
              <a:rPr lang="en-US" dirty="0" err="1" smtClean="0">
                <a:solidFill>
                  <a:srgbClr val="6A9955"/>
                </a:solidFill>
                <a:latin typeface="Consolas"/>
              </a:rPr>
              <a:t>npm</a:t>
            </a:r>
            <a:r>
              <a:rPr lang="en-US" dirty="0" smtClean="0">
                <a:solidFill>
                  <a:srgbClr val="6A9955"/>
                </a:solidFill>
                <a:latin typeface="Consolas"/>
              </a:rPr>
              <a:t> install </a:t>
            </a:r>
            <a:r>
              <a:rPr lang="en-US" dirty="0" err="1" smtClean="0">
                <a:solidFill>
                  <a:srgbClr val="6A9955"/>
                </a:solidFill>
                <a:latin typeface="Consolas"/>
              </a:rPr>
              <a:t>fastify</a:t>
            </a:r>
            <a:r>
              <a:rPr lang="en-US" dirty="0" smtClean="0">
                <a:solidFill>
                  <a:srgbClr val="6A9955"/>
                </a:solidFill>
                <a:latin typeface="Consolas"/>
              </a:rPr>
              <a:t> </a:t>
            </a:r>
            <a:r>
              <a:rPr lang="en-US" dirty="0" err="1" smtClean="0">
                <a:solidFill>
                  <a:srgbClr val="6A9955"/>
                </a:solidFill>
                <a:latin typeface="Consolas"/>
              </a:rPr>
              <a:t>mercurius</a:t>
            </a:r>
            <a:endParaRPr lang="en-US" dirty="0" smtClean="0">
              <a:solidFill>
                <a:srgbClr val="D4D4D4"/>
              </a:solidFill>
              <a:latin typeface="Consolas"/>
            </a:endParaRP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server</a:t>
            </a:r>
            <a:r>
              <a:rPr lang="en-US" dirty="0" smtClean="0">
                <a:solidFill>
                  <a:srgbClr val="D4D4D4"/>
                </a:solidFill>
                <a:latin typeface="Consolas"/>
              </a:rPr>
              <a:t> = </a:t>
            </a:r>
            <a:r>
              <a:rPr lang="en-US" dirty="0" smtClean="0">
                <a:solidFill>
                  <a:srgbClr val="DCDCAA"/>
                </a:solidFill>
                <a:latin typeface="Consolas"/>
              </a:rPr>
              <a:t>require</a:t>
            </a:r>
            <a:r>
              <a:rPr lang="en-US" dirty="0" smtClean="0">
                <a:solidFill>
                  <a:srgbClr val="D4D4D4"/>
                </a:solidFill>
                <a:latin typeface="Consolas"/>
              </a:rPr>
              <a:t>(</a:t>
            </a:r>
            <a:r>
              <a:rPr lang="en-US" dirty="0" smtClean="0">
                <a:solidFill>
                  <a:srgbClr val="CE9178"/>
                </a:solidFill>
                <a:latin typeface="Consolas"/>
              </a:rPr>
              <a:t>'</a:t>
            </a:r>
            <a:r>
              <a:rPr lang="en-US" dirty="0" err="1" smtClean="0">
                <a:solidFill>
                  <a:srgbClr val="CE9178"/>
                </a:solidFill>
                <a:latin typeface="Consolas"/>
              </a:rPr>
              <a:t>fastify</a:t>
            </a:r>
            <a:r>
              <a:rPr lang="en-US" dirty="0" smtClean="0">
                <a:solidFill>
                  <a:srgbClr val="CE9178"/>
                </a:solidFill>
                <a:latin typeface="Consolas"/>
              </a:rPr>
              <a:t>'</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err="1" smtClean="0">
                <a:solidFill>
                  <a:srgbClr val="4FC1FF"/>
                </a:solidFill>
                <a:latin typeface="Consolas"/>
              </a:rPr>
              <a:t>mercurius</a:t>
            </a:r>
            <a:r>
              <a:rPr lang="en-US" dirty="0" smtClean="0">
                <a:solidFill>
                  <a:srgbClr val="D4D4D4"/>
                </a:solidFill>
                <a:latin typeface="Consolas"/>
              </a:rPr>
              <a:t> = </a:t>
            </a:r>
            <a:r>
              <a:rPr lang="en-US" dirty="0" smtClean="0">
                <a:solidFill>
                  <a:srgbClr val="DCDCAA"/>
                </a:solidFill>
                <a:latin typeface="Consolas"/>
              </a:rPr>
              <a:t>require</a:t>
            </a:r>
            <a:r>
              <a:rPr lang="en-US" dirty="0" smtClean="0">
                <a:solidFill>
                  <a:srgbClr val="D4D4D4"/>
                </a:solidFill>
                <a:latin typeface="Consolas"/>
              </a:rPr>
              <a:t>(</a:t>
            </a:r>
            <a:r>
              <a:rPr lang="en-US" dirty="0" smtClean="0">
                <a:solidFill>
                  <a:srgbClr val="CE9178"/>
                </a:solidFill>
                <a:latin typeface="Consolas"/>
              </a:rPr>
              <a:t>'</a:t>
            </a:r>
            <a:r>
              <a:rPr lang="en-US" dirty="0" err="1" smtClean="0">
                <a:solidFill>
                  <a:srgbClr val="CE9178"/>
                </a:solidFill>
                <a:latin typeface="Consolas"/>
              </a:rPr>
              <a:t>mercurius</a:t>
            </a:r>
            <a:r>
              <a:rPr lang="en-US" dirty="0" smtClean="0">
                <a:solidFill>
                  <a:srgbClr val="CE9178"/>
                </a:solidFill>
                <a:latin typeface="Consolas"/>
              </a:rPr>
              <a:t>'</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path</a:t>
            </a:r>
            <a:r>
              <a:rPr lang="en-US" dirty="0" smtClean="0">
                <a:solidFill>
                  <a:srgbClr val="D4D4D4"/>
                </a:solidFill>
                <a:latin typeface="Consolas"/>
              </a:rPr>
              <a:t> = </a:t>
            </a:r>
            <a:r>
              <a:rPr lang="en-US" dirty="0" smtClean="0">
                <a:solidFill>
                  <a:srgbClr val="DCDCAA"/>
                </a:solidFill>
                <a:latin typeface="Consolas"/>
              </a:rPr>
              <a:t>require</a:t>
            </a:r>
            <a:r>
              <a:rPr lang="en-US" dirty="0" smtClean="0">
                <a:solidFill>
                  <a:srgbClr val="D4D4D4"/>
                </a:solidFill>
                <a:latin typeface="Consolas"/>
              </a:rPr>
              <a:t>(</a:t>
            </a:r>
            <a:r>
              <a:rPr lang="en-US" dirty="0" smtClean="0">
                <a:solidFill>
                  <a:srgbClr val="CE9178"/>
                </a:solidFill>
                <a:latin typeface="Consolas"/>
              </a:rPr>
              <a:t>'path'</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err="1" smtClean="0">
                <a:solidFill>
                  <a:srgbClr val="4EC9B0"/>
                </a:solidFill>
                <a:latin typeface="Consolas"/>
              </a:rPr>
              <a:t>fs</a:t>
            </a:r>
            <a:r>
              <a:rPr lang="en-US" dirty="0" smtClean="0">
                <a:solidFill>
                  <a:srgbClr val="D4D4D4"/>
                </a:solidFill>
                <a:latin typeface="Consolas"/>
              </a:rPr>
              <a:t> = </a:t>
            </a:r>
            <a:r>
              <a:rPr lang="en-US" dirty="0" smtClean="0">
                <a:solidFill>
                  <a:srgbClr val="DCDCAA"/>
                </a:solidFill>
                <a:latin typeface="Consolas"/>
              </a:rPr>
              <a:t>require</a:t>
            </a:r>
            <a:r>
              <a:rPr lang="en-US" dirty="0" smtClean="0">
                <a:solidFill>
                  <a:srgbClr val="D4D4D4"/>
                </a:solidFill>
                <a:latin typeface="Consolas"/>
              </a:rPr>
              <a:t>(</a:t>
            </a:r>
            <a:r>
              <a:rPr lang="en-US" dirty="0" smtClean="0">
                <a:solidFill>
                  <a:srgbClr val="CE9178"/>
                </a:solidFill>
                <a:latin typeface="Consolas"/>
              </a:rPr>
              <a:t>'</a:t>
            </a:r>
            <a:r>
              <a:rPr lang="en-US" dirty="0" err="1" smtClean="0">
                <a:solidFill>
                  <a:srgbClr val="CE9178"/>
                </a:solidFill>
                <a:latin typeface="Consolas"/>
              </a:rPr>
              <a:t>fs'</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schema</a:t>
            </a:r>
            <a:r>
              <a:rPr lang="en-US" dirty="0" smtClean="0">
                <a:solidFill>
                  <a:srgbClr val="D4D4D4"/>
                </a:solidFill>
                <a:latin typeface="Consolas"/>
              </a:rPr>
              <a:t> = </a:t>
            </a:r>
            <a:r>
              <a:rPr lang="en-US" dirty="0" err="1" smtClean="0">
                <a:solidFill>
                  <a:srgbClr val="4EC9B0"/>
                </a:solidFill>
                <a:latin typeface="Consolas"/>
              </a:rPr>
              <a:t>fs</a:t>
            </a:r>
            <a:r>
              <a:rPr lang="en-US" dirty="0" err="1" smtClean="0">
                <a:solidFill>
                  <a:srgbClr val="D4D4D4"/>
                </a:solidFill>
                <a:latin typeface="Consolas"/>
              </a:rPr>
              <a:t>.</a:t>
            </a:r>
            <a:r>
              <a:rPr lang="en-US" dirty="0" err="1" smtClean="0">
                <a:solidFill>
                  <a:srgbClr val="DCDCAA"/>
                </a:solidFill>
                <a:latin typeface="Consolas"/>
              </a:rPr>
              <a:t>readFileSync</a:t>
            </a:r>
            <a:r>
              <a:rPr lang="en-US" dirty="0" smtClean="0">
                <a:solidFill>
                  <a:srgbClr val="D4D4D4"/>
                </a:solidFill>
                <a:latin typeface="Consolas"/>
              </a:rPr>
              <a:t>(</a:t>
            </a:r>
            <a:r>
              <a:rPr lang="en-US" dirty="0" err="1" smtClean="0">
                <a:solidFill>
                  <a:srgbClr val="4FC1FF"/>
                </a:solidFill>
                <a:latin typeface="Consolas"/>
              </a:rPr>
              <a:t>path</a:t>
            </a:r>
            <a:r>
              <a:rPr lang="en-US" dirty="0" err="1" smtClean="0">
                <a:solidFill>
                  <a:srgbClr val="D4D4D4"/>
                </a:solidFill>
                <a:latin typeface="Consolas"/>
              </a:rPr>
              <a:t>.</a:t>
            </a:r>
            <a:r>
              <a:rPr lang="en-US" dirty="0" err="1" smtClean="0">
                <a:solidFill>
                  <a:srgbClr val="DCDCAA"/>
                </a:solidFill>
                <a:latin typeface="Consolas"/>
              </a:rPr>
              <a:t>join</a:t>
            </a:r>
            <a:r>
              <a:rPr lang="en-US" dirty="0" smtClean="0">
                <a:solidFill>
                  <a:srgbClr val="D4D4D4"/>
                </a:solidFill>
                <a:latin typeface="Consolas"/>
              </a:rPr>
              <a:t>(</a:t>
            </a:r>
            <a:r>
              <a:rPr lang="en-US" dirty="0" smtClean="0">
                <a:solidFill>
                  <a:srgbClr val="9CDCFE"/>
                </a:solidFill>
                <a:latin typeface="Consolas"/>
              </a:rPr>
              <a:t>__</a:t>
            </a:r>
            <a:r>
              <a:rPr lang="en-US" dirty="0" err="1" smtClean="0">
                <a:solidFill>
                  <a:srgbClr val="9CDCFE"/>
                </a:solidFill>
                <a:latin typeface="Consolas"/>
              </a:rPr>
              <a:t>dirname</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CE9178"/>
                </a:solidFill>
                <a:latin typeface="Consolas"/>
              </a:rPr>
              <a:t>'..'</a:t>
            </a:r>
            <a:r>
              <a:rPr lang="en-US" dirty="0" smtClean="0">
                <a:solidFill>
                  <a:srgbClr val="D4D4D4"/>
                </a:solidFill>
                <a:latin typeface="Consolas"/>
              </a:rPr>
              <a:t>, </a:t>
            </a:r>
            <a:r>
              <a:rPr lang="en-US" dirty="0" smtClean="0">
                <a:solidFill>
                  <a:srgbClr val="CE9178"/>
                </a:solidFill>
                <a:latin typeface="Consolas"/>
              </a:rPr>
              <a:t>'shared'</a:t>
            </a:r>
            <a:r>
              <a:rPr lang="en-US" dirty="0" smtClean="0">
                <a:solidFill>
                  <a:srgbClr val="D4D4D4"/>
                </a:solidFill>
                <a:latin typeface="Consolas"/>
              </a:rPr>
              <a:t>, </a:t>
            </a:r>
            <a:r>
              <a:rPr lang="en-US" dirty="0" smtClean="0">
                <a:solidFill>
                  <a:srgbClr val="CE9178"/>
                </a:solidFill>
                <a:latin typeface="Consolas"/>
              </a:rPr>
              <a:t>'graphql-schema.gql'</a:t>
            </a:r>
            <a:r>
              <a:rPr lang="en-US" dirty="0" smtClean="0">
                <a:solidFill>
                  <a:srgbClr val="D4D4D4"/>
                </a:solidFill>
                <a:latin typeface="Consolas"/>
              </a:rPr>
              <a:t>)).</a:t>
            </a:r>
            <a:r>
              <a:rPr lang="en-US" dirty="0" err="1" smtClean="0">
                <a:solidFill>
                  <a:srgbClr val="DCDCAA"/>
                </a:solidFill>
                <a:latin typeface="Consolas"/>
              </a:rPr>
              <a:t>toString</a:t>
            </a:r>
            <a:r>
              <a:rPr lang="en-US" dirty="0" smtClean="0">
                <a:solidFill>
                  <a:srgbClr val="D4D4D4"/>
                </a:solidFill>
                <a:latin typeface="Consolas"/>
              </a:rPr>
              <a:t>();</a:t>
            </a:r>
          </a:p>
          <a:p>
            <a:r>
              <a:rPr lang="en-US" dirty="0" smtClean="0">
                <a:solidFill>
                  <a:srgbClr val="6A9955"/>
                </a:solidFill>
                <a:latin typeface="Consolas"/>
              </a:rPr>
              <a:t>//console.log(schema);</a:t>
            </a:r>
            <a:endParaRPr lang="en-US" dirty="0" smtClean="0">
              <a:solidFill>
                <a:srgbClr val="D4D4D4"/>
              </a:solidFill>
              <a:latin typeface="Consolas"/>
            </a:endParaRP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HOST</a:t>
            </a:r>
            <a:r>
              <a:rPr lang="en-US" dirty="0" smtClean="0">
                <a:solidFill>
                  <a:srgbClr val="D4D4D4"/>
                </a:solidFill>
                <a:latin typeface="Consolas"/>
              </a:rPr>
              <a:t> = </a:t>
            </a:r>
            <a:r>
              <a:rPr lang="en-US" dirty="0" err="1" smtClean="0">
                <a:solidFill>
                  <a:srgbClr val="9CDCFE"/>
                </a:solidFill>
                <a:latin typeface="Consolas"/>
              </a:rPr>
              <a:t>process</a:t>
            </a:r>
            <a:r>
              <a:rPr lang="en-US" dirty="0" err="1" smtClean="0">
                <a:solidFill>
                  <a:srgbClr val="D4D4D4"/>
                </a:solidFill>
                <a:latin typeface="Consolas"/>
              </a:rPr>
              <a:t>.</a:t>
            </a:r>
            <a:r>
              <a:rPr lang="en-US" dirty="0" err="1" smtClean="0">
                <a:solidFill>
                  <a:srgbClr val="9CDCFE"/>
                </a:solidFill>
                <a:latin typeface="Consolas"/>
              </a:rPr>
              <a:t>env</a:t>
            </a:r>
            <a:r>
              <a:rPr lang="en-US" dirty="0" err="1" smtClean="0">
                <a:solidFill>
                  <a:srgbClr val="D4D4D4"/>
                </a:solidFill>
                <a:latin typeface="Consolas"/>
              </a:rPr>
              <a:t>.</a:t>
            </a:r>
            <a:r>
              <a:rPr lang="en-US" dirty="0" err="1" smtClean="0">
                <a:solidFill>
                  <a:srgbClr val="4FC1FF"/>
                </a:solidFill>
                <a:latin typeface="Consolas"/>
              </a:rPr>
              <a:t>HOST</a:t>
            </a:r>
            <a:r>
              <a:rPr lang="en-US" dirty="0" smtClean="0">
                <a:solidFill>
                  <a:srgbClr val="D4D4D4"/>
                </a:solidFill>
                <a:latin typeface="Consolas"/>
              </a:rPr>
              <a:t> || </a:t>
            </a:r>
            <a:r>
              <a:rPr lang="en-US" dirty="0" smtClean="0">
                <a:solidFill>
                  <a:srgbClr val="CE9178"/>
                </a:solidFill>
                <a:latin typeface="Consolas"/>
              </a:rPr>
              <a:t>'127.0.0.1'</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PORT</a:t>
            </a:r>
            <a:r>
              <a:rPr lang="en-US" dirty="0" smtClean="0">
                <a:solidFill>
                  <a:srgbClr val="D4D4D4"/>
                </a:solidFill>
                <a:latin typeface="Consolas"/>
              </a:rPr>
              <a:t> = </a:t>
            </a:r>
            <a:r>
              <a:rPr lang="en-US" dirty="0" err="1" smtClean="0">
                <a:solidFill>
                  <a:srgbClr val="9CDCFE"/>
                </a:solidFill>
                <a:latin typeface="Consolas"/>
              </a:rPr>
              <a:t>process</a:t>
            </a:r>
            <a:r>
              <a:rPr lang="en-US" dirty="0" err="1" smtClean="0">
                <a:solidFill>
                  <a:srgbClr val="D4D4D4"/>
                </a:solidFill>
                <a:latin typeface="Consolas"/>
              </a:rPr>
              <a:t>.</a:t>
            </a:r>
            <a:r>
              <a:rPr lang="en-US" dirty="0" err="1" smtClean="0">
                <a:solidFill>
                  <a:srgbClr val="9CDCFE"/>
                </a:solidFill>
                <a:latin typeface="Consolas"/>
              </a:rPr>
              <a:t>env</a:t>
            </a:r>
            <a:r>
              <a:rPr lang="en-US" dirty="0" err="1" smtClean="0">
                <a:solidFill>
                  <a:srgbClr val="D4D4D4"/>
                </a:solidFill>
                <a:latin typeface="Consolas"/>
              </a:rPr>
              <a:t>.</a:t>
            </a:r>
            <a:r>
              <a:rPr lang="en-US" dirty="0" err="1" smtClean="0">
                <a:solidFill>
                  <a:srgbClr val="4FC1FF"/>
                </a:solidFill>
                <a:latin typeface="Consolas"/>
              </a:rPr>
              <a:t>PORT</a:t>
            </a:r>
            <a:r>
              <a:rPr lang="en-US" dirty="0" smtClean="0">
                <a:solidFill>
                  <a:srgbClr val="D4D4D4"/>
                </a:solidFill>
                <a:latin typeface="Consolas"/>
              </a:rPr>
              <a:t> || </a:t>
            </a:r>
            <a:r>
              <a:rPr lang="en-US" dirty="0" smtClean="0">
                <a:solidFill>
                  <a:srgbClr val="B5CEA8"/>
                </a:solidFill>
                <a:latin typeface="Consolas"/>
              </a:rPr>
              <a:t>4000</a:t>
            </a:r>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0" y="1600200"/>
            <a:ext cx="8229600" cy="4525963"/>
          </a:xfrm>
        </p:spPr>
        <p:txBody>
          <a:bodyPr/>
          <a:lstStyle/>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1800" dirty="0" smtClean="0"/>
              <a:t>The </a:t>
            </a:r>
            <a:r>
              <a:rPr lang="en-US" sz="1800" b="1" dirty="0" smtClean="0">
                <a:latin typeface="Consolas" pitchFamily="49" charset="0"/>
              </a:rPr>
              <a:t>Query</a:t>
            </a:r>
            <a:r>
              <a:rPr lang="en-US" sz="1800" dirty="0" smtClean="0"/>
              <a:t> property describes the top-level queries.</a:t>
            </a:r>
          </a:p>
          <a:p>
            <a:r>
              <a:rPr lang="en-US" sz="1800" i="1" dirty="0" smtClean="0">
                <a:solidFill>
                  <a:srgbClr val="C00000"/>
                </a:solidFill>
              </a:rPr>
              <a:t>Each property</a:t>
            </a:r>
            <a:r>
              <a:rPr lang="en-US" sz="1800" dirty="0" smtClean="0"/>
              <a:t> is </a:t>
            </a:r>
            <a:r>
              <a:rPr lang="en-US" sz="1800" u="sng" dirty="0" smtClean="0"/>
              <a:t>an asynchronous method</a:t>
            </a:r>
            <a:r>
              <a:rPr lang="en-US" sz="1800" dirty="0" smtClean="0"/>
              <a:t> (methods that are awaited somewhere else in the code).</a:t>
            </a:r>
          </a:p>
          <a:p>
            <a:r>
              <a:rPr lang="en-US" sz="1800" dirty="0" smtClean="0"/>
              <a:t>That means these methods can return a promise, they can be an </a:t>
            </a:r>
            <a:r>
              <a:rPr lang="en-US" sz="1800" b="1" dirty="0" err="1" smtClean="0">
                <a:latin typeface="Consolas" pitchFamily="49" charset="0"/>
              </a:rPr>
              <a:t>async</a:t>
            </a:r>
            <a:r>
              <a:rPr lang="en-US" sz="1800" dirty="0" smtClean="0"/>
              <a:t> function, or they can just return a simple value.</a:t>
            </a:r>
            <a:endParaRPr lang="en-US" sz="1800" dirty="0"/>
          </a:p>
        </p:txBody>
      </p:sp>
      <p:sp>
        <p:nvSpPr>
          <p:cNvPr id="2" name="Title 1"/>
          <p:cNvSpPr>
            <a:spLocks noGrp="1"/>
          </p:cNvSpPr>
          <p:nvPr>
            <p:ph type="title"/>
          </p:nvPr>
        </p:nvSpPr>
        <p:spPr/>
        <p:txBody>
          <a:bodyPr/>
          <a:lstStyle/>
          <a:p>
            <a:pPr algn="l"/>
            <a:r>
              <a:rPr lang="en-US" dirty="0" smtClean="0"/>
              <a:t>3. Create </a:t>
            </a:r>
            <a:r>
              <a:rPr lang="en-US" dirty="0" smtClean="0">
                <a:latin typeface="Consolas" pitchFamily="49" charset="0"/>
              </a:rPr>
              <a:t>recipe-</a:t>
            </a:r>
            <a:r>
              <a:rPr lang="en-US" dirty="0" err="1" smtClean="0">
                <a:latin typeface="Consolas" pitchFamily="49" charset="0"/>
              </a:rPr>
              <a:t>api</a:t>
            </a:r>
            <a:r>
              <a:rPr lang="en-US" dirty="0" smtClean="0">
                <a:latin typeface="Consolas" pitchFamily="49" charset="0"/>
              </a:rPr>
              <a:t>/recipe-api.js (II)</a:t>
            </a:r>
            <a:endParaRPr lang="en-US" dirty="0"/>
          </a:p>
        </p:txBody>
      </p:sp>
      <p:sp>
        <p:nvSpPr>
          <p:cNvPr id="4" name="Rectangle 3"/>
          <p:cNvSpPr/>
          <p:nvPr/>
        </p:nvSpPr>
        <p:spPr>
          <a:xfrm>
            <a:off x="685800" y="1771233"/>
            <a:ext cx="7772400" cy="2800767"/>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569CD6"/>
                </a:solidFill>
                <a:latin typeface="Consolas"/>
              </a:rPr>
              <a:t>const</a:t>
            </a:r>
            <a:r>
              <a:rPr lang="en-US" sz="1600" dirty="0" smtClean="0">
                <a:solidFill>
                  <a:srgbClr val="D4D4D4"/>
                </a:solidFill>
                <a:latin typeface="Consolas"/>
              </a:rPr>
              <a:t> </a:t>
            </a:r>
            <a:r>
              <a:rPr lang="en-US" sz="1600" dirty="0" smtClean="0">
                <a:solidFill>
                  <a:srgbClr val="4FC1FF"/>
                </a:solidFill>
                <a:latin typeface="Consolas"/>
              </a:rPr>
              <a:t>resolvers</a:t>
            </a:r>
            <a:r>
              <a:rPr lang="en-US" sz="1600" dirty="0" smtClean="0">
                <a:solidFill>
                  <a:srgbClr val="D4D4D4"/>
                </a:solidFill>
                <a:latin typeface="Consolas"/>
              </a:rPr>
              <a:t> = {</a:t>
            </a:r>
          </a:p>
          <a:p>
            <a:r>
              <a:rPr lang="en-US" sz="1600" dirty="0" smtClean="0">
                <a:solidFill>
                  <a:srgbClr val="D4D4D4"/>
                </a:solidFill>
                <a:latin typeface="Consolas"/>
              </a:rPr>
              <a:t>    </a:t>
            </a:r>
            <a:r>
              <a:rPr lang="en-US" sz="1600" dirty="0" smtClean="0">
                <a:solidFill>
                  <a:srgbClr val="9CDCFE"/>
                </a:solidFill>
                <a:latin typeface="Consolas"/>
              </a:rPr>
              <a:t>Query:</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DCDCAA"/>
                </a:solidFill>
                <a:latin typeface="Consolas"/>
              </a:rPr>
              <a:t>pid</a:t>
            </a:r>
            <a:r>
              <a:rPr lang="en-US" sz="1600" dirty="0" smtClean="0">
                <a:solidFill>
                  <a:srgbClr val="9CDCFE"/>
                </a:solidFill>
                <a:latin typeface="Consolas"/>
              </a:rPr>
              <a:t>:</a:t>
            </a:r>
            <a:r>
              <a:rPr lang="en-US" sz="1600" dirty="0" smtClean="0">
                <a:solidFill>
                  <a:srgbClr val="D4D4D4"/>
                </a:solidFill>
                <a:latin typeface="Consolas"/>
              </a:rPr>
              <a:t> () </a:t>
            </a:r>
            <a:r>
              <a:rPr lang="en-US" sz="1600" dirty="0" smtClean="0">
                <a:solidFill>
                  <a:srgbClr val="569CD6"/>
                </a:solidFill>
                <a:latin typeface="Consolas"/>
              </a:rPr>
              <a:t>=&gt;</a:t>
            </a:r>
            <a:r>
              <a:rPr lang="en-US" sz="1600" dirty="0" smtClean="0">
                <a:solidFill>
                  <a:srgbClr val="D4D4D4"/>
                </a:solidFill>
                <a:latin typeface="Consolas"/>
              </a:rPr>
              <a:t> </a:t>
            </a:r>
            <a:r>
              <a:rPr lang="en-US" sz="1600" dirty="0" smtClean="0">
                <a:solidFill>
                  <a:srgbClr val="9CDCFE"/>
                </a:solidFill>
                <a:latin typeface="Consolas"/>
              </a:rPr>
              <a:t>process</a:t>
            </a:r>
            <a:r>
              <a:rPr lang="en-US" sz="1600" dirty="0" smtClean="0">
                <a:solidFill>
                  <a:srgbClr val="D4D4D4"/>
                </a:solidFill>
                <a:latin typeface="Consolas"/>
              </a:rPr>
              <a:t>.</a:t>
            </a:r>
            <a:r>
              <a:rPr lang="en-US" sz="1600" dirty="0" smtClean="0">
                <a:solidFill>
                  <a:srgbClr val="9CDCFE"/>
                </a:solidFill>
                <a:latin typeface="Consolas"/>
              </a:rPr>
              <a:t>pid</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DCDCAA"/>
                </a:solidFill>
                <a:latin typeface="Consolas"/>
              </a:rPr>
              <a:t>recipe</a:t>
            </a:r>
            <a:r>
              <a:rPr lang="en-US" sz="1600" dirty="0" smtClean="0">
                <a:solidFill>
                  <a:srgbClr val="9CDCFE"/>
                </a:solidFill>
                <a:latin typeface="Consolas"/>
              </a:rPr>
              <a:t>:</a:t>
            </a:r>
            <a:r>
              <a:rPr lang="en-US" sz="1600" dirty="0" smtClean="0">
                <a:solidFill>
                  <a:srgbClr val="D4D4D4"/>
                </a:solidFill>
                <a:latin typeface="Consolas"/>
              </a:rPr>
              <a:t> </a:t>
            </a:r>
            <a:r>
              <a:rPr lang="en-US" sz="1600" dirty="0" err="1" smtClean="0">
                <a:solidFill>
                  <a:srgbClr val="569CD6"/>
                </a:solidFill>
                <a:latin typeface="Consolas"/>
              </a:rPr>
              <a:t>async</a:t>
            </a:r>
            <a:r>
              <a:rPr lang="en-US" sz="1600" dirty="0" smtClean="0">
                <a:solidFill>
                  <a:srgbClr val="D4D4D4"/>
                </a:solidFill>
                <a:latin typeface="Consolas"/>
              </a:rPr>
              <a:t> (</a:t>
            </a:r>
            <a:r>
              <a:rPr lang="en-US" sz="1600" dirty="0" smtClean="0">
                <a:solidFill>
                  <a:srgbClr val="9CDCFE"/>
                </a:solidFill>
                <a:latin typeface="Consolas"/>
              </a:rPr>
              <a:t>_</a:t>
            </a:r>
            <a:r>
              <a:rPr lang="en-US" sz="1600" dirty="0" err="1" smtClean="0">
                <a:solidFill>
                  <a:srgbClr val="9CDCFE"/>
                </a:solidFill>
                <a:latin typeface="Consolas"/>
              </a:rPr>
              <a:t>obj</a:t>
            </a:r>
            <a:r>
              <a:rPr lang="en-US" sz="1600" dirty="0" smtClean="0">
                <a:solidFill>
                  <a:srgbClr val="D4D4D4"/>
                </a:solidFill>
                <a:latin typeface="Consolas"/>
              </a:rPr>
              <a:t>, { </a:t>
            </a:r>
            <a:r>
              <a:rPr lang="en-US" sz="1600" dirty="0" smtClean="0">
                <a:solidFill>
                  <a:srgbClr val="9CDCFE"/>
                </a:solidFill>
                <a:latin typeface="Consolas"/>
              </a:rPr>
              <a:t>id</a:t>
            </a:r>
            <a:r>
              <a:rPr lang="en-US" sz="1600" dirty="0" smtClean="0">
                <a:solidFill>
                  <a:srgbClr val="D4D4D4"/>
                </a:solidFill>
                <a:latin typeface="Consolas"/>
              </a:rPr>
              <a:t> }) </a:t>
            </a:r>
            <a:r>
              <a:rPr lang="en-US" sz="1600" dirty="0" smtClean="0">
                <a:solidFill>
                  <a:srgbClr val="569CD6"/>
                </a:solidFill>
                <a:latin typeface="Consolas"/>
              </a:rPr>
              <a:t>=&gt;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if</a:t>
            </a:r>
            <a:r>
              <a:rPr lang="en-US" sz="1600" dirty="0" smtClean="0">
                <a:solidFill>
                  <a:srgbClr val="D4D4D4"/>
                </a:solidFill>
                <a:latin typeface="Consolas"/>
              </a:rPr>
              <a:t> (</a:t>
            </a:r>
            <a:r>
              <a:rPr lang="en-US" sz="1600" dirty="0" smtClean="0">
                <a:solidFill>
                  <a:srgbClr val="9CDCFE"/>
                </a:solidFill>
                <a:latin typeface="Consolas"/>
              </a:rPr>
              <a:t>id</a:t>
            </a:r>
            <a:r>
              <a:rPr lang="en-US" sz="1600" dirty="0" smtClean="0">
                <a:solidFill>
                  <a:srgbClr val="D4D4D4"/>
                </a:solidFill>
                <a:latin typeface="Consolas"/>
              </a:rPr>
              <a:t> != </a:t>
            </a:r>
            <a:r>
              <a:rPr lang="en-US" sz="1600" dirty="0" smtClean="0">
                <a:solidFill>
                  <a:srgbClr val="B5CEA8"/>
                </a:solidFill>
                <a:latin typeface="Consolas"/>
              </a:rPr>
              <a:t>42</a:t>
            </a:r>
            <a:r>
              <a:rPr lang="en-US" sz="1600" dirty="0" smtClean="0">
                <a:solidFill>
                  <a:srgbClr val="D4D4D4"/>
                </a:solidFill>
                <a:latin typeface="Consolas"/>
              </a:rPr>
              <a:t>) </a:t>
            </a:r>
            <a:r>
              <a:rPr lang="en-US" sz="1600" dirty="0" smtClean="0">
                <a:solidFill>
                  <a:srgbClr val="C586C0"/>
                </a:solidFill>
                <a:latin typeface="Consolas"/>
              </a:rPr>
              <a:t>throw</a:t>
            </a:r>
            <a:r>
              <a:rPr lang="en-US" sz="1600" dirty="0" smtClean="0">
                <a:solidFill>
                  <a:srgbClr val="D4D4D4"/>
                </a:solidFill>
                <a:latin typeface="Consolas"/>
              </a:rPr>
              <a:t> </a:t>
            </a:r>
            <a:r>
              <a:rPr lang="en-US" sz="1600" dirty="0" smtClean="0">
                <a:solidFill>
                  <a:srgbClr val="569CD6"/>
                </a:solidFill>
                <a:latin typeface="Consolas"/>
              </a:rPr>
              <a:t>new</a:t>
            </a:r>
            <a:r>
              <a:rPr lang="en-US" sz="1600" dirty="0" smtClean="0">
                <a:solidFill>
                  <a:srgbClr val="D4D4D4"/>
                </a:solidFill>
                <a:latin typeface="Consolas"/>
              </a:rPr>
              <a:t> </a:t>
            </a:r>
            <a:r>
              <a:rPr lang="en-US" sz="1600" dirty="0" smtClean="0">
                <a:solidFill>
                  <a:srgbClr val="4EC9B0"/>
                </a:solidFill>
                <a:latin typeface="Consolas"/>
              </a:rPr>
              <a:t>Error</a:t>
            </a:r>
            <a:r>
              <a:rPr lang="en-US" sz="1600" dirty="0" smtClean="0">
                <a:solidFill>
                  <a:srgbClr val="D4D4D4"/>
                </a:solidFill>
                <a:latin typeface="Consolas"/>
              </a:rPr>
              <a:t>(</a:t>
            </a:r>
            <a:r>
              <a:rPr lang="en-US" sz="1600" dirty="0" smtClean="0">
                <a:solidFill>
                  <a:srgbClr val="CE9178"/>
                </a:solidFill>
                <a:latin typeface="Consolas"/>
              </a:rPr>
              <a:t>`recipe </a:t>
            </a:r>
            <a:r>
              <a:rPr lang="en-US" sz="1600" dirty="0" smtClean="0">
                <a:solidFill>
                  <a:srgbClr val="569CD6"/>
                </a:solidFill>
                <a:latin typeface="Consolas"/>
              </a:rPr>
              <a:t>${</a:t>
            </a:r>
            <a:r>
              <a:rPr lang="en-US" sz="1600" dirty="0" smtClean="0">
                <a:solidFill>
                  <a:srgbClr val="9CDCFE"/>
                </a:solidFill>
                <a:latin typeface="Consolas"/>
              </a:rPr>
              <a:t>id</a:t>
            </a:r>
            <a:r>
              <a:rPr lang="en-US" sz="1600" dirty="0" smtClean="0">
                <a:solidFill>
                  <a:srgbClr val="569CD6"/>
                </a:solidFill>
                <a:latin typeface="Consolas"/>
              </a:rPr>
              <a:t>}</a:t>
            </a:r>
            <a:r>
              <a:rPr lang="en-US" sz="1600" dirty="0" smtClean="0">
                <a:solidFill>
                  <a:srgbClr val="CE9178"/>
                </a:solidFill>
                <a:latin typeface="Consolas"/>
              </a:rPr>
              <a:t> not found`</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C586C0"/>
                </a:solidFill>
                <a:latin typeface="Consolas"/>
              </a:rPr>
              <a:t>return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id</a:t>
            </a:r>
            <a:r>
              <a:rPr lang="en-US" sz="1600" dirty="0" smtClean="0">
                <a:solidFill>
                  <a:srgbClr val="D4D4D4"/>
                </a:solidFill>
                <a:latin typeface="Consolas"/>
              </a:rPr>
              <a:t>, </a:t>
            </a:r>
            <a:r>
              <a:rPr lang="en-US" sz="1600" dirty="0" smtClean="0">
                <a:solidFill>
                  <a:srgbClr val="9CDCFE"/>
                </a:solidFill>
                <a:latin typeface="Consolas"/>
              </a:rPr>
              <a:t>name:</a:t>
            </a:r>
            <a:r>
              <a:rPr lang="en-US" sz="1600" dirty="0" smtClean="0">
                <a:solidFill>
                  <a:srgbClr val="D4D4D4"/>
                </a:solidFill>
                <a:latin typeface="Consolas"/>
              </a:rPr>
              <a:t> </a:t>
            </a:r>
            <a:r>
              <a:rPr lang="en-US" sz="1600" dirty="0" smtClean="0">
                <a:solidFill>
                  <a:srgbClr val="CE9178"/>
                </a:solidFill>
                <a:latin typeface="Consolas"/>
              </a:rPr>
              <a:t>"Chicken </a:t>
            </a:r>
            <a:r>
              <a:rPr lang="en-US" sz="1600" dirty="0" err="1" smtClean="0">
                <a:solidFill>
                  <a:srgbClr val="CE9178"/>
                </a:solidFill>
                <a:latin typeface="Consolas"/>
              </a:rPr>
              <a:t>Tikka</a:t>
            </a:r>
            <a:r>
              <a:rPr lang="en-US" sz="1600" dirty="0" smtClean="0">
                <a:solidFill>
                  <a:srgbClr val="CE9178"/>
                </a:solidFill>
                <a:latin typeface="Consolas"/>
              </a:rPr>
              <a:t> </a:t>
            </a:r>
            <a:r>
              <a:rPr lang="en-US" sz="1600" dirty="0" err="1" smtClean="0">
                <a:solidFill>
                  <a:srgbClr val="CE9178"/>
                </a:solidFill>
                <a:latin typeface="Consolas"/>
              </a:rPr>
              <a:t>Masala</a:t>
            </a:r>
            <a:r>
              <a:rPr lang="en-US" sz="1600" dirty="0" smtClean="0">
                <a:solidFill>
                  <a:srgbClr val="CE9178"/>
                </a:solidFill>
                <a:latin typeface="Consolas"/>
              </a:rPr>
              <a:t>"</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9CDCFE"/>
                </a:solidFill>
                <a:latin typeface="Consolas"/>
              </a:rPr>
              <a:t>steps:</a:t>
            </a:r>
            <a:r>
              <a:rPr lang="en-US" sz="1600" dirty="0" smtClean="0">
                <a:solidFill>
                  <a:srgbClr val="D4D4D4"/>
                </a:solidFill>
                <a:latin typeface="Consolas"/>
              </a:rPr>
              <a:t> </a:t>
            </a:r>
            <a:r>
              <a:rPr lang="en-US" sz="1600" dirty="0" smtClean="0">
                <a:solidFill>
                  <a:srgbClr val="CE9178"/>
                </a:solidFill>
                <a:latin typeface="Consolas"/>
              </a:rPr>
              <a:t>"Throw it in a pot..."</a:t>
            </a:r>
            <a:r>
              <a:rPr lang="en-US" sz="1600" dirty="0" smtClean="0">
                <a:solidFill>
                  <a:srgbClr val="D4D4D4"/>
                </a:solidFill>
                <a:latin typeface="Consolas"/>
              </a:rPr>
              <a:t>,</a:t>
            </a:r>
          </a:p>
          <a:p>
            <a:r>
              <a:rPr lang="en-US" sz="1600" dirty="0" smtClean="0">
                <a:solidFill>
                  <a:srgbClr val="D4D4D4"/>
                </a:solidFill>
                <a:latin typeface="Consolas"/>
              </a:rPr>
              <a:t>            }</a:t>
            </a:r>
          </a:p>
          <a:p>
            <a:r>
              <a:rPr lang="en-US" sz="1600" dirty="0" smtClean="0">
                <a:solidFill>
                  <a:srgbClr val="D4D4D4"/>
                </a:solidFill>
                <a:latin typeface="Consolas"/>
              </a:rPr>
              <a:t>        }</a:t>
            </a:r>
          </a:p>
          <a:p>
            <a:r>
              <a:rPr lang="en-US" sz="1600" dirty="0" smtClean="0">
                <a:solidFill>
                  <a:srgbClr val="D4D4D4"/>
                </a:solidFill>
                <a:latin typeface="Consolas"/>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0" y="1600200"/>
            <a:ext cx="8229600" cy="4525963"/>
          </a:xfrm>
        </p:spPr>
        <p:txBody>
          <a:bodyPr/>
          <a:lstStyle/>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1800" dirty="0" smtClean="0"/>
              <a:t>The </a:t>
            </a:r>
            <a:r>
              <a:rPr lang="en-US" sz="1800" b="1" dirty="0" smtClean="0">
                <a:latin typeface="Consolas" pitchFamily="49" charset="0"/>
              </a:rPr>
              <a:t>Recipe</a:t>
            </a:r>
            <a:r>
              <a:rPr lang="en-US" sz="1800" dirty="0" smtClean="0"/>
              <a:t> describes the Recipe objects.</a:t>
            </a:r>
          </a:p>
          <a:p>
            <a:r>
              <a:rPr lang="en-US" sz="1800" i="1" dirty="0" smtClean="0">
                <a:solidFill>
                  <a:srgbClr val="C00000"/>
                </a:solidFill>
              </a:rPr>
              <a:t>Each property</a:t>
            </a:r>
            <a:r>
              <a:rPr lang="en-US" sz="1800" dirty="0" smtClean="0"/>
              <a:t> is </a:t>
            </a:r>
            <a:r>
              <a:rPr lang="en-US" sz="1800" u="sng" dirty="0" smtClean="0"/>
              <a:t>an asynchronous method</a:t>
            </a:r>
            <a:r>
              <a:rPr lang="en-US" sz="1800" dirty="0" smtClean="0"/>
              <a:t> (methods that are awaited somewhere else in the code).</a:t>
            </a:r>
          </a:p>
          <a:p>
            <a:r>
              <a:rPr lang="en-US" sz="1800" dirty="0" smtClean="0"/>
              <a:t>That means these methods can return a promise, they can be an </a:t>
            </a:r>
            <a:r>
              <a:rPr lang="en-US" sz="1800" b="1" dirty="0" err="1" smtClean="0">
                <a:latin typeface="Consolas" pitchFamily="49" charset="0"/>
              </a:rPr>
              <a:t>async</a:t>
            </a:r>
            <a:r>
              <a:rPr lang="en-US" sz="1800" dirty="0" smtClean="0"/>
              <a:t> function, or they can just return a simple value.</a:t>
            </a:r>
            <a:endParaRPr lang="en-US" sz="1800" dirty="0"/>
          </a:p>
        </p:txBody>
      </p:sp>
      <p:sp>
        <p:nvSpPr>
          <p:cNvPr id="2" name="Title 1"/>
          <p:cNvSpPr>
            <a:spLocks noGrp="1"/>
          </p:cNvSpPr>
          <p:nvPr>
            <p:ph type="title"/>
          </p:nvPr>
        </p:nvSpPr>
        <p:spPr/>
        <p:txBody>
          <a:bodyPr/>
          <a:lstStyle/>
          <a:p>
            <a:pPr algn="l"/>
            <a:r>
              <a:rPr lang="en-US" dirty="0" smtClean="0"/>
              <a:t>3. Create </a:t>
            </a:r>
            <a:r>
              <a:rPr lang="en-US" dirty="0" smtClean="0">
                <a:latin typeface="Consolas" pitchFamily="49" charset="0"/>
              </a:rPr>
              <a:t>recipe-</a:t>
            </a:r>
            <a:r>
              <a:rPr lang="en-US" dirty="0" err="1" smtClean="0">
                <a:latin typeface="Consolas" pitchFamily="49" charset="0"/>
              </a:rPr>
              <a:t>api</a:t>
            </a:r>
            <a:r>
              <a:rPr lang="en-US" dirty="0" smtClean="0">
                <a:latin typeface="Consolas" pitchFamily="49" charset="0"/>
              </a:rPr>
              <a:t>/recipe-api.js (III)</a:t>
            </a:r>
            <a:endParaRPr lang="en-US" dirty="0"/>
          </a:p>
        </p:txBody>
      </p:sp>
      <p:sp>
        <p:nvSpPr>
          <p:cNvPr id="4" name="Rectangle 3"/>
          <p:cNvSpPr/>
          <p:nvPr/>
        </p:nvSpPr>
        <p:spPr>
          <a:xfrm>
            <a:off x="685800" y="1771233"/>
            <a:ext cx="7772400" cy="2308324"/>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pPr>
              <a:spcBef>
                <a:spcPts val="0"/>
              </a:spcBef>
              <a:spcAft>
                <a:spcPts val="0"/>
              </a:spcAft>
            </a:pPr>
            <a:r>
              <a:rPr lang="en-US" sz="1600" dirty="0" smtClean="0">
                <a:solidFill>
                  <a:srgbClr val="D4D4D4"/>
                </a:solidFill>
                <a:latin typeface="Consolas"/>
              </a:rPr>
              <a:t>    </a:t>
            </a:r>
            <a:r>
              <a:rPr lang="en-US" sz="1600" dirty="0" smtClean="0">
                <a:solidFill>
                  <a:srgbClr val="9CDCFE"/>
                </a:solidFill>
                <a:latin typeface="Consolas"/>
              </a:rPr>
              <a:t>Recipe:</a:t>
            </a:r>
            <a:r>
              <a:rPr lang="en-US" sz="1600" dirty="0" smtClean="0">
                <a:solidFill>
                  <a:srgbClr val="D4D4D4"/>
                </a:solidFill>
                <a:latin typeface="Consolas"/>
              </a:rPr>
              <a:t> {</a:t>
            </a:r>
            <a:endParaRPr lang="en-US" sz="1600" dirty="0" smtClean="0"/>
          </a:p>
          <a:p>
            <a:pPr>
              <a:spcBef>
                <a:spcPts val="0"/>
              </a:spcBef>
              <a:spcAft>
                <a:spcPts val="0"/>
              </a:spcAft>
            </a:pPr>
            <a:r>
              <a:rPr lang="en-US" sz="1600" dirty="0" smtClean="0">
                <a:solidFill>
                  <a:srgbClr val="D4D4D4"/>
                </a:solidFill>
                <a:latin typeface="Consolas"/>
              </a:rPr>
              <a:t>        </a:t>
            </a:r>
            <a:r>
              <a:rPr lang="en-US" sz="1600" dirty="0" smtClean="0">
                <a:solidFill>
                  <a:srgbClr val="DCDCAA"/>
                </a:solidFill>
                <a:latin typeface="Consolas"/>
              </a:rPr>
              <a:t>ingredients</a:t>
            </a:r>
            <a:r>
              <a:rPr lang="en-US" sz="1600" dirty="0" smtClean="0">
                <a:solidFill>
                  <a:srgbClr val="9CDCFE"/>
                </a:solidFill>
                <a:latin typeface="Consolas"/>
              </a:rPr>
              <a:t>:</a:t>
            </a:r>
            <a:r>
              <a:rPr lang="en-US" sz="1600" dirty="0" smtClean="0">
                <a:solidFill>
                  <a:srgbClr val="D4D4D4"/>
                </a:solidFill>
                <a:latin typeface="Consolas"/>
              </a:rPr>
              <a:t> </a:t>
            </a:r>
            <a:r>
              <a:rPr lang="en-US" sz="1600" dirty="0" err="1" smtClean="0">
                <a:solidFill>
                  <a:srgbClr val="569CD6"/>
                </a:solidFill>
                <a:latin typeface="Consolas"/>
              </a:rPr>
              <a:t>async</a:t>
            </a:r>
            <a:r>
              <a:rPr lang="en-US" sz="1600" dirty="0" smtClean="0">
                <a:solidFill>
                  <a:srgbClr val="D4D4D4"/>
                </a:solidFill>
                <a:latin typeface="Consolas"/>
              </a:rPr>
              <a:t> (</a:t>
            </a:r>
            <a:r>
              <a:rPr lang="en-US" sz="1600" dirty="0" err="1" smtClean="0">
                <a:solidFill>
                  <a:srgbClr val="9CDCFE"/>
                </a:solidFill>
                <a:latin typeface="Consolas"/>
              </a:rPr>
              <a:t>obj</a:t>
            </a:r>
            <a:r>
              <a:rPr lang="en-US" sz="1600" dirty="0" smtClean="0">
                <a:solidFill>
                  <a:srgbClr val="D4D4D4"/>
                </a:solidFill>
                <a:latin typeface="Consolas"/>
              </a:rPr>
              <a:t>) </a:t>
            </a:r>
            <a:r>
              <a:rPr lang="en-US" sz="1600" dirty="0" smtClean="0">
                <a:solidFill>
                  <a:srgbClr val="569CD6"/>
                </a:solidFill>
                <a:latin typeface="Consolas"/>
              </a:rPr>
              <a:t>=&gt;</a:t>
            </a:r>
            <a:r>
              <a:rPr lang="en-US" sz="1600" dirty="0" smtClean="0">
                <a:solidFill>
                  <a:srgbClr val="D4D4D4"/>
                </a:solidFill>
                <a:latin typeface="Consolas"/>
              </a:rPr>
              <a:t> {</a:t>
            </a:r>
            <a:endParaRPr lang="en-US" sz="1600" dirty="0" smtClean="0"/>
          </a:p>
          <a:p>
            <a:pPr>
              <a:spcBef>
                <a:spcPts val="0"/>
              </a:spcBef>
              <a:spcAft>
                <a:spcPts val="0"/>
              </a:spcAft>
            </a:pPr>
            <a:r>
              <a:rPr lang="en-US" sz="1600" dirty="0" smtClean="0">
                <a:solidFill>
                  <a:srgbClr val="D4D4D4"/>
                </a:solidFill>
                <a:latin typeface="Consolas"/>
              </a:rPr>
              <a:t>            </a:t>
            </a:r>
            <a:r>
              <a:rPr lang="en-US" sz="1600" dirty="0" smtClean="0">
                <a:solidFill>
                  <a:srgbClr val="C586C0"/>
                </a:solidFill>
                <a:latin typeface="Consolas"/>
              </a:rPr>
              <a:t>return</a:t>
            </a:r>
            <a:r>
              <a:rPr lang="en-US" sz="1600" dirty="0" smtClean="0">
                <a:solidFill>
                  <a:srgbClr val="D4D4D4"/>
                </a:solidFill>
                <a:latin typeface="Consolas"/>
              </a:rPr>
              <a:t> (</a:t>
            </a:r>
            <a:r>
              <a:rPr lang="en-US" sz="1600" dirty="0" smtClean="0">
                <a:solidFill>
                  <a:srgbClr val="9CDCFE"/>
                </a:solidFill>
                <a:latin typeface="Consolas"/>
              </a:rPr>
              <a:t>obj</a:t>
            </a:r>
            <a:r>
              <a:rPr lang="en-US" sz="1600" dirty="0" smtClean="0">
                <a:solidFill>
                  <a:srgbClr val="D4D4D4"/>
                </a:solidFill>
                <a:latin typeface="Consolas"/>
              </a:rPr>
              <a:t>.</a:t>
            </a:r>
            <a:r>
              <a:rPr lang="en-US" sz="1600" dirty="0" smtClean="0">
                <a:solidFill>
                  <a:srgbClr val="9CDCFE"/>
                </a:solidFill>
                <a:latin typeface="Consolas"/>
              </a:rPr>
              <a:t>id</a:t>
            </a:r>
            <a:r>
              <a:rPr lang="en-US" sz="1600" dirty="0" smtClean="0">
                <a:solidFill>
                  <a:srgbClr val="D4D4D4"/>
                </a:solidFill>
                <a:latin typeface="Consolas"/>
              </a:rPr>
              <a:t> != </a:t>
            </a:r>
            <a:r>
              <a:rPr lang="en-US" sz="1600" dirty="0" smtClean="0">
                <a:solidFill>
                  <a:srgbClr val="B5CEA8"/>
                </a:solidFill>
                <a:latin typeface="Consolas"/>
              </a:rPr>
              <a:t>42</a:t>
            </a:r>
            <a:r>
              <a:rPr lang="en-US" sz="1600" dirty="0" smtClean="0">
                <a:solidFill>
                  <a:srgbClr val="D4D4D4"/>
                </a:solidFill>
                <a:latin typeface="Consolas"/>
              </a:rPr>
              <a:t>) ? [] : [</a:t>
            </a:r>
            <a:endParaRPr lang="en-US" sz="1600" dirty="0" smtClean="0"/>
          </a:p>
          <a:p>
            <a:pPr>
              <a:spcBef>
                <a:spcPts val="0"/>
              </a:spcBef>
              <a:spcAft>
                <a:spcPts val="0"/>
              </a:spcAft>
            </a:pPr>
            <a:r>
              <a:rPr lang="en-US" sz="1600" dirty="0" smtClean="0">
                <a:solidFill>
                  <a:srgbClr val="D4D4D4"/>
                </a:solidFill>
                <a:latin typeface="Consolas"/>
              </a:rPr>
              <a:t>                { </a:t>
            </a:r>
            <a:r>
              <a:rPr lang="en-US" sz="1600" dirty="0" smtClean="0">
                <a:solidFill>
                  <a:srgbClr val="9CDCFE"/>
                </a:solidFill>
                <a:latin typeface="Consolas"/>
              </a:rPr>
              <a:t>id:</a:t>
            </a:r>
            <a:r>
              <a:rPr lang="en-US" sz="1600" dirty="0" smtClean="0">
                <a:solidFill>
                  <a:srgbClr val="D4D4D4"/>
                </a:solidFill>
                <a:latin typeface="Consolas"/>
              </a:rPr>
              <a:t> </a:t>
            </a:r>
            <a:r>
              <a:rPr lang="en-US" sz="1600" dirty="0" smtClean="0">
                <a:solidFill>
                  <a:srgbClr val="B5CEA8"/>
                </a:solidFill>
                <a:latin typeface="Consolas"/>
              </a:rPr>
              <a:t>1</a:t>
            </a:r>
            <a:r>
              <a:rPr lang="en-US" sz="1600" dirty="0" smtClean="0">
                <a:solidFill>
                  <a:srgbClr val="D4D4D4"/>
                </a:solidFill>
                <a:latin typeface="Consolas"/>
              </a:rPr>
              <a:t>, </a:t>
            </a:r>
            <a:r>
              <a:rPr lang="en-US" sz="1600" dirty="0" smtClean="0">
                <a:solidFill>
                  <a:srgbClr val="9CDCFE"/>
                </a:solidFill>
                <a:latin typeface="Consolas"/>
              </a:rPr>
              <a:t>name:</a:t>
            </a:r>
            <a:r>
              <a:rPr lang="en-US" sz="1600" dirty="0" smtClean="0">
                <a:solidFill>
                  <a:srgbClr val="D4D4D4"/>
                </a:solidFill>
                <a:latin typeface="Consolas"/>
              </a:rPr>
              <a:t> </a:t>
            </a:r>
            <a:r>
              <a:rPr lang="en-US" sz="1600" dirty="0" smtClean="0">
                <a:solidFill>
                  <a:srgbClr val="CE9178"/>
                </a:solidFill>
                <a:latin typeface="Consolas"/>
              </a:rPr>
              <a:t>"Chicken"</a:t>
            </a:r>
            <a:r>
              <a:rPr lang="en-US" sz="1600" dirty="0" smtClean="0">
                <a:solidFill>
                  <a:srgbClr val="D4D4D4"/>
                </a:solidFill>
                <a:latin typeface="Consolas"/>
              </a:rPr>
              <a:t>, </a:t>
            </a:r>
            <a:r>
              <a:rPr lang="en-US" sz="1600" dirty="0" smtClean="0">
                <a:solidFill>
                  <a:srgbClr val="9CDCFE"/>
                </a:solidFill>
                <a:latin typeface="Consolas"/>
              </a:rPr>
              <a:t>quantity:</a:t>
            </a:r>
            <a:r>
              <a:rPr lang="en-US" sz="1600" dirty="0" smtClean="0">
                <a:solidFill>
                  <a:srgbClr val="D4D4D4"/>
                </a:solidFill>
                <a:latin typeface="Consolas"/>
              </a:rPr>
              <a:t> </a:t>
            </a:r>
            <a:r>
              <a:rPr lang="en-US" sz="1600" dirty="0" smtClean="0">
                <a:solidFill>
                  <a:srgbClr val="CE9178"/>
                </a:solidFill>
                <a:latin typeface="Consolas"/>
              </a:rPr>
              <a:t>"1 lb"</a:t>
            </a:r>
            <a:r>
              <a:rPr lang="en-US" sz="1600" dirty="0" smtClean="0">
                <a:solidFill>
                  <a:srgbClr val="D4D4D4"/>
                </a:solidFill>
                <a:latin typeface="Consolas"/>
              </a:rPr>
              <a:t>, },</a:t>
            </a:r>
            <a:endParaRPr lang="en-US" sz="1600" dirty="0" smtClean="0"/>
          </a:p>
          <a:p>
            <a:pPr>
              <a:spcBef>
                <a:spcPts val="0"/>
              </a:spcBef>
              <a:spcAft>
                <a:spcPts val="0"/>
              </a:spcAft>
            </a:pPr>
            <a:r>
              <a:rPr lang="en-US" sz="1600" dirty="0" smtClean="0">
                <a:solidFill>
                  <a:srgbClr val="D4D4D4"/>
                </a:solidFill>
                <a:latin typeface="Consolas"/>
              </a:rPr>
              <a:t>                { </a:t>
            </a:r>
            <a:r>
              <a:rPr lang="en-US" sz="1600" dirty="0" smtClean="0">
                <a:solidFill>
                  <a:srgbClr val="9CDCFE"/>
                </a:solidFill>
                <a:latin typeface="Consolas"/>
              </a:rPr>
              <a:t>id:</a:t>
            </a:r>
            <a:r>
              <a:rPr lang="en-US" sz="1600" dirty="0" smtClean="0">
                <a:solidFill>
                  <a:srgbClr val="D4D4D4"/>
                </a:solidFill>
                <a:latin typeface="Consolas"/>
              </a:rPr>
              <a:t> </a:t>
            </a:r>
            <a:r>
              <a:rPr lang="en-US" sz="1600" dirty="0" smtClean="0">
                <a:solidFill>
                  <a:srgbClr val="B5CEA8"/>
                </a:solidFill>
                <a:latin typeface="Consolas"/>
              </a:rPr>
              <a:t>2</a:t>
            </a:r>
            <a:r>
              <a:rPr lang="en-US" sz="1600" dirty="0" smtClean="0">
                <a:solidFill>
                  <a:srgbClr val="D4D4D4"/>
                </a:solidFill>
                <a:latin typeface="Consolas"/>
              </a:rPr>
              <a:t>, </a:t>
            </a:r>
            <a:r>
              <a:rPr lang="en-US" sz="1600" dirty="0" smtClean="0">
                <a:solidFill>
                  <a:srgbClr val="9CDCFE"/>
                </a:solidFill>
                <a:latin typeface="Consolas"/>
              </a:rPr>
              <a:t>name:</a:t>
            </a:r>
            <a:r>
              <a:rPr lang="en-US" sz="1600" dirty="0" smtClean="0">
                <a:solidFill>
                  <a:srgbClr val="D4D4D4"/>
                </a:solidFill>
                <a:latin typeface="Consolas"/>
              </a:rPr>
              <a:t> </a:t>
            </a:r>
            <a:r>
              <a:rPr lang="en-US" sz="1600" dirty="0" smtClean="0">
                <a:solidFill>
                  <a:srgbClr val="CE9178"/>
                </a:solidFill>
                <a:latin typeface="Consolas"/>
              </a:rPr>
              <a:t>"Sauce"</a:t>
            </a:r>
            <a:r>
              <a:rPr lang="en-US" sz="1600" dirty="0" smtClean="0">
                <a:solidFill>
                  <a:srgbClr val="D4D4D4"/>
                </a:solidFill>
                <a:latin typeface="Consolas"/>
              </a:rPr>
              <a:t>, </a:t>
            </a:r>
            <a:r>
              <a:rPr lang="en-US" sz="1600" dirty="0" smtClean="0">
                <a:solidFill>
                  <a:srgbClr val="9CDCFE"/>
                </a:solidFill>
                <a:latin typeface="Consolas"/>
              </a:rPr>
              <a:t>quantity:</a:t>
            </a:r>
            <a:r>
              <a:rPr lang="en-US" sz="1600" dirty="0" smtClean="0">
                <a:solidFill>
                  <a:srgbClr val="D4D4D4"/>
                </a:solidFill>
                <a:latin typeface="Consolas"/>
              </a:rPr>
              <a:t> </a:t>
            </a:r>
            <a:r>
              <a:rPr lang="en-US" sz="1600" dirty="0" smtClean="0">
                <a:solidFill>
                  <a:srgbClr val="CE9178"/>
                </a:solidFill>
                <a:latin typeface="Consolas"/>
              </a:rPr>
              <a:t>"2 cups"</a:t>
            </a:r>
            <a:r>
              <a:rPr lang="en-US" sz="1600" dirty="0" smtClean="0">
                <a:solidFill>
                  <a:srgbClr val="D4D4D4"/>
                </a:solidFill>
                <a:latin typeface="Consolas"/>
              </a:rPr>
              <a:t>, }</a:t>
            </a:r>
            <a:endParaRPr lang="en-US" sz="1600" dirty="0" smtClean="0"/>
          </a:p>
          <a:p>
            <a:pPr>
              <a:spcBef>
                <a:spcPts val="0"/>
              </a:spcBef>
              <a:spcAft>
                <a:spcPts val="0"/>
              </a:spcAft>
            </a:pPr>
            <a:r>
              <a:rPr lang="en-US" sz="1600" dirty="0" smtClean="0">
                <a:solidFill>
                  <a:srgbClr val="D4D4D4"/>
                </a:solidFill>
                <a:latin typeface="Consolas"/>
              </a:rPr>
              <a:t>            ]</a:t>
            </a:r>
            <a:endParaRPr lang="en-US" sz="1600" dirty="0" smtClean="0"/>
          </a:p>
          <a:p>
            <a:pPr>
              <a:spcBef>
                <a:spcPts val="0"/>
              </a:spcBef>
              <a:spcAft>
                <a:spcPts val="0"/>
              </a:spcAft>
            </a:pPr>
            <a:r>
              <a:rPr lang="en-US" sz="1600" dirty="0" smtClean="0">
                <a:solidFill>
                  <a:srgbClr val="D4D4D4"/>
                </a:solidFill>
                <a:latin typeface="Consolas"/>
              </a:rPr>
              <a:t>        }</a:t>
            </a:r>
            <a:endParaRPr lang="en-US" sz="1600" dirty="0" smtClean="0"/>
          </a:p>
          <a:p>
            <a:pPr>
              <a:spcBef>
                <a:spcPts val="0"/>
              </a:spcBef>
              <a:spcAft>
                <a:spcPts val="0"/>
              </a:spcAft>
            </a:pPr>
            <a:r>
              <a:rPr lang="en-US" sz="1600" dirty="0" smtClean="0">
                <a:solidFill>
                  <a:srgbClr val="D4D4D4"/>
                </a:solidFill>
                <a:latin typeface="Consolas"/>
              </a:rPr>
              <a:t>    }</a:t>
            </a:r>
            <a:endParaRPr lang="en-US" sz="1600" dirty="0" smtClean="0"/>
          </a:p>
          <a:p>
            <a:pPr>
              <a:spcBef>
                <a:spcPts val="0"/>
              </a:spcBef>
              <a:spcAft>
                <a:spcPts val="0"/>
              </a:spcAft>
            </a:pPr>
            <a:r>
              <a:rPr lang="en-US" sz="1600" dirty="0" smtClean="0">
                <a:solidFill>
                  <a:srgbClr val="D4D4D4"/>
                </a:solidFill>
                <a:latin typeface="Consolas"/>
              </a:rPr>
              <a:t>};</a:t>
            </a:r>
            <a:endParaRPr lang="en-US" sz="1600" dirty="0">
              <a:solidFill>
                <a:srgbClr val="D4D4D4"/>
              </a:solidFill>
              <a:latin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Create </a:t>
            </a:r>
            <a:r>
              <a:rPr lang="en-US" dirty="0" smtClean="0">
                <a:latin typeface="Consolas" pitchFamily="49" charset="0"/>
              </a:rPr>
              <a:t>recipe-</a:t>
            </a:r>
            <a:r>
              <a:rPr lang="en-US" dirty="0" err="1" smtClean="0">
                <a:latin typeface="Consolas" pitchFamily="49" charset="0"/>
              </a:rPr>
              <a:t>api</a:t>
            </a:r>
            <a:r>
              <a:rPr lang="en-US" dirty="0" smtClean="0">
                <a:latin typeface="Consolas" pitchFamily="49" charset="0"/>
              </a:rPr>
              <a:t>/recipe-api.js (IV)</a:t>
            </a:r>
            <a:endParaRPr lang="en-US" dirty="0"/>
          </a:p>
        </p:txBody>
      </p:sp>
      <p:sp>
        <p:nvSpPr>
          <p:cNvPr id="4" name="Rectangle 3"/>
          <p:cNvSpPr/>
          <p:nvPr/>
        </p:nvSpPr>
        <p:spPr>
          <a:xfrm>
            <a:off x="685800" y="2545140"/>
            <a:ext cx="7772400" cy="1569660"/>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4FC1FF"/>
                </a:solidFill>
                <a:latin typeface="Consolas"/>
              </a:rPr>
              <a:t>server</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DCDCAA"/>
                </a:solidFill>
                <a:latin typeface="Consolas"/>
              </a:rPr>
              <a:t>register</a:t>
            </a:r>
            <a:r>
              <a:rPr lang="en-US" sz="1600" dirty="0" smtClean="0">
                <a:solidFill>
                  <a:srgbClr val="D4D4D4"/>
                </a:solidFill>
                <a:latin typeface="Consolas"/>
              </a:rPr>
              <a:t>(</a:t>
            </a:r>
            <a:r>
              <a:rPr lang="en-US" sz="1600" dirty="0" err="1" smtClean="0">
                <a:solidFill>
                  <a:srgbClr val="9CDCFE"/>
                </a:solidFill>
                <a:latin typeface="Consolas"/>
              </a:rPr>
              <a:t>graphql</a:t>
            </a:r>
            <a:r>
              <a:rPr lang="en-US" sz="1600" dirty="0" smtClean="0">
                <a:solidFill>
                  <a:srgbClr val="D4D4D4"/>
                </a:solidFill>
                <a:latin typeface="Consolas"/>
              </a:rPr>
              <a:t>, { </a:t>
            </a:r>
            <a:r>
              <a:rPr lang="en-US" sz="1600" dirty="0" smtClean="0">
                <a:solidFill>
                  <a:srgbClr val="9CDCFE"/>
                </a:solidFill>
                <a:latin typeface="Consolas"/>
              </a:rPr>
              <a:t>schema</a:t>
            </a:r>
            <a:r>
              <a:rPr lang="en-US" sz="1600" dirty="0" smtClean="0">
                <a:solidFill>
                  <a:srgbClr val="D4D4D4"/>
                </a:solidFill>
                <a:latin typeface="Consolas"/>
              </a:rPr>
              <a:t>, </a:t>
            </a:r>
            <a:r>
              <a:rPr lang="en-US" sz="1600" dirty="0" smtClean="0">
                <a:solidFill>
                  <a:srgbClr val="9CDCFE"/>
                </a:solidFill>
                <a:latin typeface="Consolas"/>
              </a:rPr>
              <a:t>resolvers</a:t>
            </a:r>
            <a:r>
              <a:rPr lang="en-US" sz="1600" dirty="0" smtClean="0">
                <a:solidFill>
                  <a:srgbClr val="D4D4D4"/>
                </a:solidFill>
                <a:latin typeface="Consolas"/>
              </a:rPr>
              <a:t>, </a:t>
            </a:r>
            <a:r>
              <a:rPr lang="en-US" sz="1600" dirty="0" err="1" smtClean="0">
                <a:solidFill>
                  <a:srgbClr val="9CDCFE"/>
                </a:solidFill>
                <a:latin typeface="Consolas"/>
              </a:rPr>
              <a:t>graphiql</a:t>
            </a:r>
            <a:r>
              <a:rPr lang="en-US" sz="1600" dirty="0" smtClean="0">
                <a:solidFill>
                  <a:srgbClr val="9CDCFE"/>
                </a:solidFill>
                <a:latin typeface="Consolas"/>
              </a:rPr>
              <a:t>:</a:t>
            </a:r>
            <a:r>
              <a:rPr lang="en-US" sz="1600" dirty="0" smtClean="0">
                <a:solidFill>
                  <a:srgbClr val="D4D4D4"/>
                </a:solidFill>
                <a:latin typeface="Consolas"/>
              </a:rPr>
              <a:t> </a:t>
            </a:r>
            <a:r>
              <a:rPr lang="en-US" sz="1600" dirty="0" smtClean="0">
                <a:solidFill>
                  <a:srgbClr val="569CD6"/>
                </a:solidFill>
                <a:latin typeface="Consolas"/>
              </a:rPr>
              <a:t>true</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DCDCAA"/>
                </a:solidFill>
                <a:latin typeface="Consolas"/>
              </a:rPr>
              <a:t>listen</a:t>
            </a:r>
            <a:r>
              <a:rPr lang="en-US" sz="1600" dirty="0" smtClean="0">
                <a:solidFill>
                  <a:srgbClr val="D4D4D4"/>
                </a:solidFill>
                <a:latin typeface="Consolas"/>
              </a:rPr>
              <a:t>(</a:t>
            </a:r>
            <a:r>
              <a:rPr lang="en-US" sz="1600" dirty="0" smtClean="0">
                <a:solidFill>
                  <a:srgbClr val="4FC1FF"/>
                </a:solidFill>
                <a:latin typeface="Consolas"/>
              </a:rPr>
              <a:t>PORT</a:t>
            </a:r>
            <a:r>
              <a:rPr lang="en-US" sz="1600" dirty="0" smtClean="0">
                <a:solidFill>
                  <a:srgbClr val="D4D4D4"/>
                </a:solidFill>
                <a:latin typeface="Consolas"/>
              </a:rPr>
              <a:t>, </a:t>
            </a:r>
            <a:r>
              <a:rPr lang="en-US" sz="1600" dirty="0" smtClean="0">
                <a:solidFill>
                  <a:srgbClr val="4FC1FF"/>
                </a:solidFill>
                <a:latin typeface="Consolas"/>
              </a:rPr>
              <a:t>HOST</a:t>
            </a:r>
            <a:r>
              <a:rPr lang="en-US" sz="1600" dirty="0" smtClean="0">
                <a:solidFill>
                  <a:srgbClr val="D4D4D4"/>
                </a:solidFill>
                <a:latin typeface="Consolas"/>
              </a:rPr>
              <a:t>, () </a:t>
            </a:r>
            <a:r>
              <a:rPr lang="en-US" sz="1600" dirty="0" smtClean="0">
                <a:solidFill>
                  <a:srgbClr val="569CD6"/>
                </a:solidFill>
                <a:latin typeface="Consolas"/>
              </a:rPr>
              <a:t>=&gt;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console</a:t>
            </a:r>
            <a:r>
              <a:rPr lang="en-US" sz="1600" dirty="0" smtClean="0">
                <a:solidFill>
                  <a:srgbClr val="D4D4D4"/>
                </a:solidFill>
                <a:latin typeface="Consolas"/>
              </a:rPr>
              <a:t>.</a:t>
            </a:r>
            <a:r>
              <a:rPr lang="en-US" sz="1600" dirty="0" smtClean="0">
                <a:solidFill>
                  <a:srgbClr val="DCDCAA"/>
                </a:solidFill>
                <a:latin typeface="Consolas"/>
              </a:rPr>
              <a:t>log</a:t>
            </a:r>
            <a:r>
              <a:rPr lang="en-US" sz="1600" dirty="0" smtClean="0">
                <a:solidFill>
                  <a:srgbClr val="D4D4D4"/>
                </a:solidFill>
                <a:latin typeface="Consolas"/>
              </a:rPr>
              <a:t>(</a:t>
            </a:r>
            <a:r>
              <a:rPr lang="en-US" sz="1600" dirty="0" smtClean="0">
                <a:solidFill>
                  <a:srgbClr val="CE9178"/>
                </a:solidFill>
                <a:latin typeface="Consolas"/>
              </a:rPr>
              <a:t>`recipe-</a:t>
            </a:r>
            <a:r>
              <a:rPr lang="en-US" sz="1600" dirty="0" err="1" smtClean="0">
                <a:solidFill>
                  <a:srgbClr val="CE9178"/>
                </a:solidFill>
                <a:latin typeface="Consolas"/>
              </a:rPr>
              <a:t>api</a:t>
            </a:r>
            <a:r>
              <a:rPr lang="en-US" sz="1600" dirty="0" smtClean="0">
                <a:solidFill>
                  <a:srgbClr val="CE9178"/>
                </a:solidFill>
                <a:latin typeface="Consolas"/>
              </a:rPr>
              <a:t> running at http://</a:t>
            </a:r>
            <a:r>
              <a:rPr lang="en-US" sz="1600" dirty="0" smtClean="0">
                <a:solidFill>
                  <a:srgbClr val="569CD6"/>
                </a:solidFill>
                <a:latin typeface="Consolas"/>
              </a:rPr>
              <a:t>${</a:t>
            </a:r>
            <a:r>
              <a:rPr lang="en-US" sz="1600" dirty="0" smtClean="0">
                <a:solidFill>
                  <a:srgbClr val="4FC1FF"/>
                </a:solidFill>
                <a:latin typeface="Consolas"/>
              </a:rPr>
              <a:t>HOST</a:t>
            </a:r>
            <a:r>
              <a:rPr lang="en-US" sz="1600" dirty="0" smtClean="0">
                <a:solidFill>
                  <a:srgbClr val="569CD6"/>
                </a:solidFill>
                <a:latin typeface="Consolas"/>
              </a:rPr>
              <a:t>}</a:t>
            </a:r>
            <a:r>
              <a:rPr lang="en-US" sz="1600" dirty="0" smtClean="0">
                <a:solidFill>
                  <a:srgbClr val="CE9178"/>
                </a:solidFill>
                <a:latin typeface="Consolas"/>
              </a:rPr>
              <a:t>:</a:t>
            </a:r>
            <a:r>
              <a:rPr lang="en-US" sz="1600" dirty="0" smtClean="0">
                <a:solidFill>
                  <a:srgbClr val="569CD6"/>
                </a:solidFill>
                <a:latin typeface="Consolas"/>
              </a:rPr>
              <a:t>${</a:t>
            </a:r>
            <a:r>
              <a:rPr lang="en-US" sz="1600" dirty="0" smtClean="0">
                <a:solidFill>
                  <a:srgbClr val="4FC1FF"/>
                </a:solidFill>
                <a:latin typeface="Consolas"/>
              </a:rPr>
              <a:t>PORT</a:t>
            </a:r>
            <a:r>
              <a:rPr lang="en-US" sz="1600" dirty="0" smtClean="0">
                <a:solidFill>
                  <a:srgbClr val="569CD6"/>
                </a:solidFill>
                <a:latin typeface="Consolas"/>
              </a:rPr>
              <a:t>}</a:t>
            </a:r>
            <a:r>
              <a:rPr lang="en-US" sz="1600" dirty="0" smtClean="0">
                <a:solidFill>
                  <a:srgbClr val="CE9178"/>
                </a:solidFill>
                <a:latin typeface="Consolas"/>
              </a:rPr>
              <a:t>/graphql`</a:t>
            </a:r>
            <a:r>
              <a:rPr lang="en-US" sz="1600" dirty="0" smtClean="0">
                <a:solidFill>
                  <a:srgbClr val="D4D4D4"/>
                </a:solidFill>
                <a:latin typeface="Consolas"/>
              </a:rPr>
              <a:t>);</a:t>
            </a:r>
          </a:p>
          <a:p>
            <a:r>
              <a:rPr lang="en-US" sz="1600" dirty="0" smtClean="0">
                <a:solidFill>
                  <a:srgbClr val="D4D4D4"/>
                </a:solidFill>
                <a:latin typeface="Consolas"/>
              </a:rPr>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Run the </a:t>
            </a:r>
            <a:r>
              <a:rPr lang="en-US" dirty="0" smtClean="0">
                <a:latin typeface="Consolas" pitchFamily="49" charset="0"/>
              </a:rPr>
              <a:t>recipe-</a:t>
            </a:r>
            <a:r>
              <a:rPr lang="en-US" dirty="0" err="1" smtClean="0">
                <a:latin typeface="Consolas" pitchFamily="49" charset="0"/>
              </a:rPr>
              <a:t>api</a:t>
            </a:r>
            <a:r>
              <a:rPr lang="en-US" dirty="0" smtClean="0"/>
              <a:t> Service</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cd</a:t>
            </a:r>
            <a:r>
              <a:rPr lang="en-US" sz="2400" dirty="0" smtClean="0">
                <a:latin typeface="Consolas" pitchFamily="49" charset="0"/>
              </a:rPr>
              <a:t> recipe-</a:t>
            </a:r>
            <a:r>
              <a:rPr lang="en-US" sz="2400" dirty="0" err="1" smtClean="0">
                <a:latin typeface="Consolas" pitchFamily="49" charset="0"/>
              </a:rPr>
              <a:t>api</a:t>
            </a:r>
            <a:endParaRPr lang="en-US" sz="2400" dirty="0" smtClean="0">
              <a:latin typeface="Consolas" pitchFamily="49" charset="0"/>
            </a:endParaRPr>
          </a:p>
          <a:p>
            <a:r>
              <a:rPr lang="en-US" sz="2400" dirty="0" err="1" smtClean="0">
                <a:latin typeface="Consolas" pitchFamily="49" charset="0"/>
              </a:rPr>
              <a:t>npm</a:t>
            </a:r>
            <a:r>
              <a:rPr lang="en-US" sz="2400" dirty="0" smtClean="0">
                <a:latin typeface="Consolas" pitchFamily="49" charset="0"/>
              </a:rPr>
              <a:t> install </a:t>
            </a:r>
            <a:r>
              <a:rPr lang="en-US" sz="2400" dirty="0" err="1" smtClean="0">
                <a:latin typeface="Consolas" pitchFamily="49" charset="0"/>
              </a:rPr>
              <a:t>fastify</a:t>
            </a:r>
            <a:r>
              <a:rPr lang="en-US" sz="2400" dirty="0" smtClean="0">
                <a:latin typeface="Consolas" pitchFamily="49" charset="0"/>
              </a:rPr>
              <a:t> </a:t>
            </a:r>
            <a:r>
              <a:rPr lang="en-US" sz="2400" dirty="0" err="1" smtClean="0">
                <a:latin typeface="Consolas" pitchFamily="49" charset="0"/>
              </a:rPr>
              <a:t>mercurius</a:t>
            </a:r>
            <a:endParaRPr lang="en-US" sz="2400" dirty="0" smtClean="0">
              <a:latin typeface="Consolas" pitchFamily="49" charset="0"/>
            </a:endParaRPr>
          </a:p>
          <a:p>
            <a:r>
              <a:rPr lang="en-US" sz="2400" dirty="0" smtClean="0">
                <a:latin typeface="Consolas" pitchFamily="49" charset="0"/>
              </a:rPr>
              <a:t>node recipe-api.js</a:t>
            </a:r>
          </a:p>
        </p:txBody>
      </p:sp>
      <p:pic>
        <p:nvPicPr>
          <p:cNvPr id="1026" name="Picture 2"/>
          <p:cNvPicPr>
            <a:picLocks noChangeAspect="1" noChangeArrowheads="1"/>
          </p:cNvPicPr>
          <p:nvPr/>
        </p:nvPicPr>
        <p:blipFill>
          <a:blip r:embed="rId2" cstate="print"/>
          <a:srcRect/>
          <a:stretch>
            <a:fillRect/>
          </a:stretch>
        </p:blipFill>
        <p:spPr bwMode="auto">
          <a:xfrm>
            <a:off x="1676400" y="3733800"/>
            <a:ext cx="5995988" cy="1138238"/>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5. Create </a:t>
            </a:r>
            <a:r>
              <a:rPr lang="en-US" sz="3800" dirty="0" smtClean="0">
                <a:latin typeface="Consolas" pitchFamily="49" charset="0"/>
              </a:rPr>
              <a:t>web-</a:t>
            </a:r>
            <a:r>
              <a:rPr lang="en-US" sz="3800" dirty="0" err="1" smtClean="0">
                <a:latin typeface="Consolas" pitchFamily="49" charset="0"/>
              </a:rPr>
              <a:t>api</a:t>
            </a:r>
            <a:r>
              <a:rPr lang="en-US" sz="3800" dirty="0" smtClean="0">
                <a:latin typeface="Consolas" pitchFamily="49" charset="0"/>
              </a:rPr>
              <a:t>/web-api.js (I)</a:t>
            </a:r>
            <a:endParaRPr lang="en-US" sz="3800" dirty="0"/>
          </a:p>
        </p:txBody>
      </p:sp>
      <p:sp>
        <p:nvSpPr>
          <p:cNvPr id="4" name="Rectangle 3"/>
          <p:cNvSpPr/>
          <p:nvPr/>
        </p:nvSpPr>
        <p:spPr>
          <a:xfrm>
            <a:off x="685800" y="2402681"/>
            <a:ext cx="7772400" cy="2031325"/>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6A9955"/>
                </a:solidFill>
                <a:latin typeface="Consolas"/>
              </a:rPr>
              <a:t>#!/</a:t>
            </a:r>
            <a:r>
              <a:rPr lang="en-US" dirty="0" err="1" smtClean="0">
                <a:solidFill>
                  <a:srgbClr val="6A9955"/>
                </a:solidFill>
                <a:latin typeface="Consolas"/>
              </a:rPr>
              <a:t>usr</a:t>
            </a:r>
            <a:r>
              <a:rPr lang="en-US" dirty="0" smtClean="0">
                <a:solidFill>
                  <a:srgbClr val="6A9955"/>
                </a:solidFill>
                <a:latin typeface="Consolas"/>
              </a:rPr>
              <a:t>/bin/</a:t>
            </a:r>
            <a:r>
              <a:rPr lang="en-US" dirty="0" err="1" smtClean="0">
                <a:solidFill>
                  <a:srgbClr val="6A9955"/>
                </a:solidFill>
                <a:latin typeface="Consolas"/>
              </a:rPr>
              <a:t>env</a:t>
            </a:r>
            <a:r>
              <a:rPr lang="en-US" dirty="0" smtClean="0">
                <a:solidFill>
                  <a:srgbClr val="6A9955"/>
                </a:solidFill>
                <a:latin typeface="Consolas"/>
              </a:rPr>
              <a:t> node</a:t>
            </a:r>
            <a:endParaRPr lang="en-US" dirty="0" smtClean="0">
              <a:solidFill>
                <a:srgbClr val="D4D4D4"/>
              </a:solidFill>
              <a:latin typeface="Consolas"/>
            </a:endParaRPr>
          </a:p>
          <a:p>
            <a:r>
              <a:rPr lang="en-US" dirty="0" smtClean="0">
                <a:solidFill>
                  <a:srgbClr val="6A9955"/>
                </a:solidFill>
                <a:latin typeface="Consolas"/>
              </a:rPr>
              <a:t>// </a:t>
            </a:r>
            <a:r>
              <a:rPr lang="en-US" dirty="0" err="1" smtClean="0">
                <a:solidFill>
                  <a:srgbClr val="6A9955"/>
                </a:solidFill>
                <a:latin typeface="Consolas"/>
              </a:rPr>
              <a:t>npm</a:t>
            </a:r>
            <a:r>
              <a:rPr lang="en-US" dirty="0" smtClean="0">
                <a:solidFill>
                  <a:srgbClr val="6A9955"/>
                </a:solidFill>
                <a:latin typeface="Consolas"/>
              </a:rPr>
              <a:t> install </a:t>
            </a:r>
            <a:r>
              <a:rPr lang="en-US" dirty="0" err="1" smtClean="0">
                <a:solidFill>
                  <a:srgbClr val="6A9955"/>
                </a:solidFill>
                <a:latin typeface="Consolas"/>
              </a:rPr>
              <a:t>fastify</a:t>
            </a:r>
            <a:r>
              <a:rPr lang="en-US" dirty="0" smtClean="0">
                <a:solidFill>
                  <a:srgbClr val="6A9955"/>
                </a:solidFill>
                <a:latin typeface="Consolas"/>
              </a:rPr>
              <a:t> node-fetch</a:t>
            </a:r>
            <a:endParaRPr lang="en-US" dirty="0" smtClean="0">
              <a:solidFill>
                <a:srgbClr val="D4D4D4"/>
              </a:solidFill>
              <a:latin typeface="Consolas"/>
            </a:endParaRP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server</a:t>
            </a:r>
            <a:r>
              <a:rPr lang="en-US" dirty="0" smtClean="0">
                <a:solidFill>
                  <a:srgbClr val="D4D4D4"/>
                </a:solidFill>
                <a:latin typeface="Consolas"/>
              </a:rPr>
              <a:t> = </a:t>
            </a:r>
            <a:r>
              <a:rPr lang="en-US" dirty="0" smtClean="0">
                <a:solidFill>
                  <a:srgbClr val="DCDCAA"/>
                </a:solidFill>
                <a:latin typeface="Consolas"/>
              </a:rPr>
              <a:t>require</a:t>
            </a:r>
            <a:r>
              <a:rPr lang="en-US" dirty="0" smtClean="0">
                <a:solidFill>
                  <a:srgbClr val="D4D4D4"/>
                </a:solidFill>
                <a:latin typeface="Consolas"/>
              </a:rPr>
              <a:t>(</a:t>
            </a:r>
            <a:r>
              <a:rPr lang="en-US" dirty="0" smtClean="0">
                <a:solidFill>
                  <a:srgbClr val="CE9178"/>
                </a:solidFill>
                <a:latin typeface="Consolas"/>
              </a:rPr>
              <a:t>'</a:t>
            </a:r>
            <a:r>
              <a:rPr lang="en-US" dirty="0" err="1" smtClean="0">
                <a:solidFill>
                  <a:srgbClr val="CE9178"/>
                </a:solidFill>
                <a:latin typeface="Consolas"/>
              </a:rPr>
              <a:t>fastify</a:t>
            </a:r>
            <a:r>
              <a:rPr lang="en-US" dirty="0" smtClean="0">
                <a:solidFill>
                  <a:srgbClr val="CE9178"/>
                </a:solidFill>
                <a:latin typeface="Consolas"/>
              </a:rPr>
              <a:t>'</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fetch</a:t>
            </a:r>
            <a:r>
              <a:rPr lang="en-US" dirty="0" smtClean="0">
                <a:solidFill>
                  <a:srgbClr val="D4D4D4"/>
                </a:solidFill>
                <a:latin typeface="Consolas"/>
              </a:rPr>
              <a:t> = </a:t>
            </a:r>
            <a:r>
              <a:rPr lang="en-US" dirty="0" smtClean="0">
                <a:solidFill>
                  <a:srgbClr val="DCDCAA"/>
                </a:solidFill>
                <a:latin typeface="Consolas"/>
              </a:rPr>
              <a:t>require</a:t>
            </a:r>
            <a:r>
              <a:rPr lang="en-US" dirty="0" smtClean="0">
                <a:solidFill>
                  <a:srgbClr val="D4D4D4"/>
                </a:solidFill>
                <a:latin typeface="Consolas"/>
              </a:rPr>
              <a:t>(</a:t>
            </a:r>
            <a:r>
              <a:rPr lang="en-US" dirty="0" smtClean="0">
                <a:solidFill>
                  <a:srgbClr val="CE9178"/>
                </a:solidFill>
                <a:latin typeface="Consolas"/>
              </a:rPr>
              <a:t>'node-fetch'</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HOST</a:t>
            </a:r>
            <a:r>
              <a:rPr lang="en-US" dirty="0" smtClean="0">
                <a:solidFill>
                  <a:srgbClr val="D4D4D4"/>
                </a:solidFill>
                <a:latin typeface="Consolas"/>
              </a:rPr>
              <a:t> = </a:t>
            </a:r>
            <a:r>
              <a:rPr lang="en-US" dirty="0" smtClean="0">
                <a:solidFill>
                  <a:srgbClr val="CE9178"/>
                </a:solidFill>
                <a:latin typeface="Consolas"/>
              </a:rPr>
              <a:t>'127.0.0.1'</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PORT</a:t>
            </a:r>
            <a:r>
              <a:rPr lang="en-US" dirty="0" smtClean="0">
                <a:solidFill>
                  <a:srgbClr val="D4D4D4"/>
                </a:solidFill>
                <a:latin typeface="Consolas"/>
              </a:rPr>
              <a:t> = </a:t>
            </a:r>
            <a:r>
              <a:rPr lang="en-US" dirty="0" err="1" smtClean="0">
                <a:solidFill>
                  <a:srgbClr val="9CDCFE"/>
                </a:solidFill>
                <a:latin typeface="Consolas"/>
              </a:rPr>
              <a:t>process</a:t>
            </a:r>
            <a:r>
              <a:rPr lang="en-US" dirty="0" err="1" smtClean="0">
                <a:solidFill>
                  <a:srgbClr val="D4D4D4"/>
                </a:solidFill>
                <a:latin typeface="Consolas"/>
              </a:rPr>
              <a:t>.</a:t>
            </a:r>
            <a:r>
              <a:rPr lang="en-US" dirty="0" err="1" smtClean="0">
                <a:solidFill>
                  <a:srgbClr val="9CDCFE"/>
                </a:solidFill>
                <a:latin typeface="Consolas"/>
              </a:rPr>
              <a:t>env</a:t>
            </a:r>
            <a:r>
              <a:rPr lang="en-US" dirty="0" err="1" smtClean="0">
                <a:solidFill>
                  <a:srgbClr val="D4D4D4"/>
                </a:solidFill>
                <a:latin typeface="Consolas"/>
              </a:rPr>
              <a:t>.</a:t>
            </a:r>
            <a:r>
              <a:rPr lang="en-US" dirty="0" err="1" smtClean="0">
                <a:solidFill>
                  <a:srgbClr val="4FC1FF"/>
                </a:solidFill>
                <a:latin typeface="Consolas"/>
              </a:rPr>
              <a:t>PORT</a:t>
            </a:r>
            <a:r>
              <a:rPr lang="en-US" dirty="0" smtClean="0">
                <a:solidFill>
                  <a:srgbClr val="D4D4D4"/>
                </a:solidFill>
                <a:latin typeface="Consolas"/>
              </a:rPr>
              <a:t> || </a:t>
            </a:r>
            <a:r>
              <a:rPr lang="en-US" dirty="0" smtClean="0">
                <a:solidFill>
                  <a:srgbClr val="B5CEA8"/>
                </a:solidFill>
                <a:latin typeface="Consolas"/>
              </a:rPr>
              <a:t>3000</a:t>
            </a:r>
            <a:r>
              <a:rPr lang="en-US" dirty="0" smtClean="0">
                <a:solidFill>
                  <a:srgbClr val="D4D4D4"/>
                </a:solidFill>
                <a:latin typeface="Consolas"/>
              </a:rPr>
              <a:t>;</a:t>
            </a:r>
          </a:p>
          <a:p>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TARGET</a:t>
            </a:r>
            <a:r>
              <a:rPr lang="en-US" dirty="0" smtClean="0">
                <a:solidFill>
                  <a:srgbClr val="D4D4D4"/>
                </a:solidFill>
                <a:latin typeface="Consolas"/>
              </a:rPr>
              <a:t> = </a:t>
            </a:r>
            <a:r>
              <a:rPr lang="en-US" dirty="0" err="1" smtClean="0">
                <a:solidFill>
                  <a:srgbClr val="9CDCFE"/>
                </a:solidFill>
                <a:latin typeface="Consolas"/>
              </a:rPr>
              <a:t>process</a:t>
            </a:r>
            <a:r>
              <a:rPr lang="en-US" dirty="0" err="1" smtClean="0">
                <a:solidFill>
                  <a:srgbClr val="D4D4D4"/>
                </a:solidFill>
                <a:latin typeface="Consolas"/>
              </a:rPr>
              <a:t>.</a:t>
            </a:r>
            <a:r>
              <a:rPr lang="en-US" dirty="0" err="1" smtClean="0">
                <a:solidFill>
                  <a:srgbClr val="9CDCFE"/>
                </a:solidFill>
                <a:latin typeface="Consolas"/>
              </a:rPr>
              <a:t>env</a:t>
            </a:r>
            <a:r>
              <a:rPr lang="en-US" dirty="0" err="1" smtClean="0">
                <a:solidFill>
                  <a:srgbClr val="D4D4D4"/>
                </a:solidFill>
                <a:latin typeface="Consolas"/>
              </a:rPr>
              <a:t>.</a:t>
            </a:r>
            <a:r>
              <a:rPr lang="en-US" dirty="0" err="1" smtClean="0">
                <a:solidFill>
                  <a:srgbClr val="4FC1FF"/>
                </a:solidFill>
                <a:latin typeface="Consolas"/>
              </a:rPr>
              <a:t>TARGET</a:t>
            </a:r>
            <a:r>
              <a:rPr lang="en-US" dirty="0" smtClean="0">
                <a:solidFill>
                  <a:srgbClr val="D4D4D4"/>
                </a:solidFill>
                <a:latin typeface="Consolas"/>
              </a:rPr>
              <a:t> || </a:t>
            </a:r>
            <a:r>
              <a:rPr lang="en-US" dirty="0" smtClean="0">
                <a:solidFill>
                  <a:srgbClr val="CE9178"/>
                </a:solidFill>
                <a:latin typeface="Consolas"/>
              </a:rPr>
              <a:t>'127.0.0.1:4000'</a:t>
            </a:r>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0" y="1600200"/>
            <a:ext cx="8229600" cy="4525963"/>
          </a:xfrm>
        </p:spPr>
        <p:txBody>
          <a:bodyPr/>
          <a:lstStyle/>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1800" dirty="0" smtClean="0"/>
              <a:t>The </a:t>
            </a:r>
            <a:r>
              <a:rPr lang="en-US" sz="1800" b="1" dirty="0" err="1" smtClean="0">
                <a:latin typeface="Consolas" pitchFamily="49" charset="0"/>
              </a:rPr>
              <a:t>complex_query</a:t>
            </a:r>
            <a:r>
              <a:rPr lang="en-US" sz="1800" dirty="0" smtClean="0"/>
              <a:t> being sent is asking for almost every piece of data the server supports.</a:t>
            </a:r>
          </a:p>
          <a:p>
            <a:r>
              <a:rPr lang="en-US" sz="1800" dirty="0" smtClean="0"/>
              <a:t>It names the query </a:t>
            </a:r>
            <a:r>
              <a:rPr lang="en-US" sz="1800" b="1" dirty="0" err="1" smtClean="0">
                <a:latin typeface="Consolas" pitchFamily="49" charset="0"/>
              </a:rPr>
              <a:t>kitchenSink</a:t>
            </a:r>
            <a:r>
              <a:rPr lang="en-US" sz="1800" dirty="0" smtClean="0"/>
              <a:t>, which can be useful for debugging.</a:t>
            </a:r>
          </a:p>
          <a:p>
            <a:r>
              <a:rPr lang="en-US" sz="1800" dirty="0" smtClean="0"/>
              <a:t>The arguments for the query are defined after the name, in this case it’s declared that there’s a variable named </a:t>
            </a:r>
            <a:r>
              <a:rPr lang="en-US" sz="1800" b="1" dirty="0" smtClean="0">
                <a:latin typeface="Consolas" pitchFamily="49" charset="0"/>
              </a:rPr>
              <a:t>$id</a:t>
            </a:r>
            <a:r>
              <a:rPr lang="en-US" sz="1800" dirty="0" smtClean="0"/>
              <a:t> that is of type ID. That variable is then passed into the </a:t>
            </a:r>
            <a:r>
              <a:rPr lang="en-US" sz="1800" b="1" dirty="0" smtClean="0">
                <a:latin typeface="Consolas" pitchFamily="49" charset="0"/>
              </a:rPr>
              <a:t>recipe()</a:t>
            </a:r>
            <a:r>
              <a:rPr lang="en-US" sz="1800" dirty="0" smtClean="0"/>
              <a:t> method.</a:t>
            </a:r>
            <a:endParaRPr lang="en-US" sz="1800" dirty="0"/>
          </a:p>
        </p:txBody>
      </p:sp>
      <p:sp>
        <p:nvSpPr>
          <p:cNvPr id="2" name="Title 1"/>
          <p:cNvSpPr>
            <a:spLocks noGrp="1"/>
          </p:cNvSpPr>
          <p:nvPr>
            <p:ph type="title"/>
          </p:nvPr>
        </p:nvSpPr>
        <p:spPr/>
        <p:txBody>
          <a:bodyPr/>
          <a:lstStyle/>
          <a:p>
            <a:pPr algn="l"/>
            <a:r>
              <a:rPr lang="en-US" sz="3800" dirty="0" smtClean="0"/>
              <a:t>5. Create </a:t>
            </a:r>
            <a:r>
              <a:rPr lang="en-US" sz="3800" dirty="0" smtClean="0">
                <a:latin typeface="Consolas" pitchFamily="49" charset="0"/>
              </a:rPr>
              <a:t>web-</a:t>
            </a:r>
            <a:r>
              <a:rPr lang="en-US" sz="3800" dirty="0" err="1" smtClean="0">
                <a:latin typeface="Consolas" pitchFamily="49" charset="0"/>
              </a:rPr>
              <a:t>api</a:t>
            </a:r>
            <a:r>
              <a:rPr lang="en-US" sz="3800" dirty="0" smtClean="0">
                <a:latin typeface="Consolas" pitchFamily="49" charset="0"/>
              </a:rPr>
              <a:t>/web-api.js (II)</a:t>
            </a:r>
            <a:endParaRPr lang="en-US" sz="3800" dirty="0"/>
          </a:p>
        </p:txBody>
      </p:sp>
      <p:sp>
        <p:nvSpPr>
          <p:cNvPr id="4" name="Rectangle 3"/>
          <p:cNvSpPr/>
          <p:nvPr/>
        </p:nvSpPr>
        <p:spPr>
          <a:xfrm>
            <a:off x="685800" y="1447800"/>
            <a:ext cx="7772400" cy="2585323"/>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569CD6"/>
                </a:solidFill>
                <a:latin typeface="Consolas"/>
              </a:rPr>
              <a:t>const</a:t>
            </a:r>
            <a:r>
              <a:rPr lang="en-US" dirty="0" smtClean="0">
                <a:solidFill>
                  <a:srgbClr val="D4D4D4"/>
                </a:solidFill>
                <a:latin typeface="Consolas"/>
              </a:rPr>
              <a:t> </a:t>
            </a:r>
            <a:r>
              <a:rPr lang="en-US" dirty="0" err="1" smtClean="0">
                <a:solidFill>
                  <a:srgbClr val="4FC1FF"/>
                </a:solidFill>
                <a:latin typeface="Consolas"/>
              </a:rPr>
              <a:t>complex_query</a:t>
            </a:r>
            <a:r>
              <a:rPr lang="en-US" dirty="0" smtClean="0">
                <a:solidFill>
                  <a:srgbClr val="D4D4D4"/>
                </a:solidFill>
                <a:latin typeface="Consolas"/>
              </a:rPr>
              <a:t> = </a:t>
            </a:r>
            <a:r>
              <a:rPr lang="en-US" dirty="0" smtClean="0">
                <a:solidFill>
                  <a:srgbClr val="CE9178"/>
                </a:solidFill>
                <a:latin typeface="Consolas"/>
              </a:rPr>
              <a:t>`query </a:t>
            </a:r>
            <a:r>
              <a:rPr lang="en-US" dirty="0" err="1" smtClean="0">
                <a:solidFill>
                  <a:srgbClr val="CE9178"/>
                </a:solidFill>
                <a:latin typeface="Consolas"/>
              </a:rPr>
              <a:t>kitchenSink</a:t>
            </a:r>
            <a:r>
              <a:rPr lang="en-US" dirty="0" smtClean="0">
                <a:solidFill>
                  <a:srgbClr val="CE9178"/>
                </a:solidFill>
                <a:latin typeface="Consolas"/>
              </a:rPr>
              <a:t> ($</a:t>
            </a:r>
            <a:r>
              <a:rPr lang="en-US" dirty="0" err="1" smtClean="0">
                <a:solidFill>
                  <a:srgbClr val="CE9178"/>
                </a:solidFill>
                <a:latin typeface="Consolas"/>
              </a:rPr>
              <a:t>id:ID</a:t>
            </a:r>
            <a:r>
              <a:rPr lang="en-US" dirty="0" smtClean="0">
                <a:solidFill>
                  <a:srgbClr val="CE9178"/>
                </a:solidFill>
                <a:latin typeface="Consolas"/>
              </a:rPr>
              <a:t>) {</a:t>
            </a:r>
            <a:endParaRPr lang="en-US" dirty="0" smtClean="0">
              <a:solidFill>
                <a:srgbClr val="D4D4D4"/>
              </a:solidFill>
              <a:latin typeface="Consolas"/>
            </a:endParaRPr>
          </a:p>
          <a:p>
            <a:r>
              <a:rPr lang="en-US" dirty="0" smtClean="0">
                <a:solidFill>
                  <a:srgbClr val="CE9178"/>
                </a:solidFill>
                <a:latin typeface="Consolas"/>
              </a:rPr>
              <a:t>                            recipe(id: $id) {</a:t>
            </a:r>
            <a:endParaRPr lang="en-US" dirty="0" smtClean="0">
              <a:solidFill>
                <a:srgbClr val="D4D4D4"/>
              </a:solidFill>
              <a:latin typeface="Consolas"/>
            </a:endParaRPr>
          </a:p>
          <a:p>
            <a:r>
              <a:rPr lang="en-US" dirty="0" smtClean="0">
                <a:solidFill>
                  <a:srgbClr val="CE9178"/>
                </a:solidFill>
                <a:latin typeface="Consolas"/>
              </a:rPr>
              <a:t>                                id name</a:t>
            </a:r>
            <a:endParaRPr lang="en-US" dirty="0" smtClean="0">
              <a:solidFill>
                <a:srgbClr val="D4D4D4"/>
              </a:solidFill>
              <a:latin typeface="Consolas"/>
            </a:endParaRPr>
          </a:p>
          <a:p>
            <a:r>
              <a:rPr lang="en-US" dirty="0" smtClean="0">
                <a:solidFill>
                  <a:srgbClr val="CE9178"/>
                </a:solidFill>
                <a:latin typeface="Consolas"/>
              </a:rPr>
              <a:t>                                ingredients {</a:t>
            </a:r>
            <a:endParaRPr lang="en-US" dirty="0" smtClean="0">
              <a:solidFill>
                <a:srgbClr val="D4D4D4"/>
              </a:solidFill>
              <a:latin typeface="Consolas"/>
            </a:endParaRPr>
          </a:p>
          <a:p>
            <a:r>
              <a:rPr lang="en-US" dirty="0" smtClean="0">
                <a:solidFill>
                  <a:srgbClr val="CE9178"/>
                </a:solidFill>
                <a:latin typeface="Consolas"/>
              </a:rPr>
              <a:t>                                    name quantity</a:t>
            </a:r>
            <a:endParaRPr lang="en-US" dirty="0" smtClean="0">
              <a:solidFill>
                <a:srgbClr val="D4D4D4"/>
              </a:solidFill>
              <a:latin typeface="Consolas"/>
            </a:endParaRPr>
          </a:p>
          <a:p>
            <a:r>
              <a:rPr lang="en-US" dirty="0" smtClean="0">
                <a:solidFill>
                  <a:srgbClr val="CE9178"/>
                </a:solidFill>
                <a:latin typeface="Consolas"/>
              </a:rPr>
              <a:t>                                }</a:t>
            </a:r>
            <a:endParaRPr lang="en-US" dirty="0" smtClean="0">
              <a:solidFill>
                <a:srgbClr val="D4D4D4"/>
              </a:solidFill>
              <a:latin typeface="Consolas"/>
            </a:endParaRPr>
          </a:p>
          <a:p>
            <a:r>
              <a:rPr lang="en-US" dirty="0" smtClean="0">
                <a:solidFill>
                  <a:srgbClr val="CE9178"/>
                </a:solidFill>
                <a:latin typeface="Consolas"/>
              </a:rPr>
              <a:t>                            }</a:t>
            </a:r>
            <a:endParaRPr lang="en-US" dirty="0" smtClean="0">
              <a:solidFill>
                <a:srgbClr val="D4D4D4"/>
              </a:solidFill>
              <a:latin typeface="Consolas"/>
            </a:endParaRPr>
          </a:p>
          <a:p>
            <a:r>
              <a:rPr lang="en-US" dirty="0" smtClean="0">
                <a:solidFill>
                  <a:srgbClr val="CE9178"/>
                </a:solidFill>
                <a:latin typeface="Consolas"/>
              </a:rPr>
              <a:t>                            </a:t>
            </a:r>
            <a:r>
              <a:rPr lang="en-US" dirty="0" err="1" smtClean="0">
                <a:solidFill>
                  <a:srgbClr val="CE9178"/>
                </a:solidFill>
                <a:latin typeface="Consolas"/>
              </a:rPr>
              <a:t>pid</a:t>
            </a:r>
            <a:endParaRPr lang="en-US" dirty="0" smtClean="0">
              <a:solidFill>
                <a:srgbClr val="D4D4D4"/>
              </a:solidFill>
              <a:latin typeface="Consolas"/>
            </a:endParaRPr>
          </a:p>
          <a:p>
            <a:r>
              <a:rPr lang="en-US" dirty="0" smtClean="0">
                <a:solidFill>
                  <a:srgbClr val="CE9178"/>
                </a:solidFill>
                <a:latin typeface="Consolas"/>
              </a:rPr>
              <a:t>                        }`</a:t>
            </a:r>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600" dirty="0" smtClean="0"/>
              <a:t>5. Create </a:t>
            </a:r>
            <a:r>
              <a:rPr lang="en-US" sz="3600" dirty="0" smtClean="0">
                <a:latin typeface="Consolas" pitchFamily="49" charset="0"/>
              </a:rPr>
              <a:t>web-</a:t>
            </a:r>
            <a:r>
              <a:rPr lang="en-US" sz="3600" dirty="0" err="1" smtClean="0">
                <a:latin typeface="Consolas" pitchFamily="49" charset="0"/>
              </a:rPr>
              <a:t>api</a:t>
            </a:r>
            <a:r>
              <a:rPr lang="en-US" sz="3600" dirty="0" smtClean="0">
                <a:latin typeface="Consolas" pitchFamily="49" charset="0"/>
              </a:rPr>
              <a:t>/web-api.js (III)</a:t>
            </a:r>
            <a:endParaRPr lang="en-US" sz="3600" dirty="0"/>
          </a:p>
        </p:txBody>
      </p:sp>
      <p:sp>
        <p:nvSpPr>
          <p:cNvPr id="4" name="Rectangle 3"/>
          <p:cNvSpPr/>
          <p:nvPr/>
        </p:nvSpPr>
        <p:spPr>
          <a:xfrm>
            <a:off x="685800" y="1398687"/>
            <a:ext cx="7772400" cy="5078313"/>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err="1" smtClean="0">
                <a:solidFill>
                  <a:srgbClr val="4FC1FF"/>
                </a:solidFill>
                <a:latin typeface="Consolas"/>
              </a:rPr>
              <a:t>server</a:t>
            </a:r>
            <a:r>
              <a:rPr lang="en-US" dirty="0" err="1" smtClean="0">
                <a:solidFill>
                  <a:srgbClr val="D4D4D4"/>
                </a:solidFill>
                <a:latin typeface="Consolas"/>
              </a:rPr>
              <a:t>.</a:t>
            </a:r>
            <a:r>
              <a:rPr lang="en-US" dirty="0" err="1" smtClean="0">
                <a:solidFill>
                  <a:srgbClr val="DCDCAA"/>
                </a:solidFill>
                <a:latin typeface="Consolas"/>
              </a:rPr>
              <a:t>get</a:t>
            </a:r>
            <a:r>
              <a:rPr lang="en-US" dirty="0" smtClean="0">
                <a:solidFill>
                  <a:srgbClr val="D4D4D4"/>
                </a:solidFill>
                <a:latin typeface="Consolas"/>
              </a:rPr>
              <a:t>(</a:t>
            </a:r>
            <a:r>
              <a:rPr lang="en-US" dirty="0" smtClean="0">
                <a:solidFill>
                  <a:srgbClr val="CE9178"/>
                </a:solidFill>
                <a:latin typeface="Consolas"/>
              </a:rPr>
              <a:t>'/'</a:t>
            </a:r>
            <a:r>
              <a:rPr lang="en-US" dirty="0" smtClean="0">
                <a:solidFill>
                  <a:srgbClr val="D4D4D4"/>
                </a:solidFill>
                <a:latin typeface="Consolas"/>
              </a:rPr>
              <a:t>, </a:t>
            </a:r>
            <a:r>
              <a:rPr lang="en-US" dirty="0" err="1" smtClean="0">
                <a:solidFill>
                  <a:srgbClr val="569CD6"/>
                </a:solidFill>
                <a:latin typeface="Consolas"/>
              </a:rPr>
              <a:t>async</a:t>
            </a:r>
            <a:r>
              <a:rPr lang="en-US" dirty="0" smtClean="0">
                <a:solidFill>
                  <a:srgbClr val="D4D4D4"/>
                </a:solidFill>
                <a:latin typeface="Consolas"/>
              </a:rPr>
              <a:t> () </a:t>
            </a:r>
            <a:r>
              <a:rPr lang="en-US" dirty="0" smtClean="0">
                <a:solidFill>
                  <a:srgbClr val="569CD6"/>
                </a:solidFill>
                <a:latin typeface="Consolas"/>
              </a:rPr>
              <a:t>=&gt;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569CD6"/>
                </a:solidFill>
                <a:latin typeface="Consolas"/>
              </a:rPr>
              <a:t>const</a:t>
            </a:r>
            <a:r>
              <a:rPr lang="en-US" dirty="0" smtClean="0">
                <a:solidFill>
                  <a:srgbClr val="D4D4D4"/>
                </a:solidFill>
                <a:latin typeface="Consolas"/>
              </a:rPr>
              <a:t> </a:t>
            </a:r>
            <a:r>
              <a:rPr lang="en-US" dirty="0" err="1" smtClean="0">
                <a:solidFill>
                  <a:srgbClr val="4FC1FF"/>
                </a:solidFill>
                <a:latin typeface="Consolas"/>
              </a:rPr>
              <a:t>req</a:t>
            </a:r>
            <a:r>
              <a:rPr lang="en-US" dirty="0" smtClean="0">
                <a:solidFill>
                  <a:srgbClr val="D4D4D4"/>
                </a:solidFill>
                <a:latin typeface="Consolas"/>
              </a:rPr>
              <a:t> = </a:t>
            </a:r>
            <a:r>
              <a:rPr lang="en-US" dirty="0" smtClean="0">
                <a:solidFill>
                  <a:srgbClr val="C586C0"/>
                </a:solidFill>
                <a:latin typeface="Consolas"/>
              </a:rPr>
              <a:t>await</a:t>
            </a:r>
            <a:r>
              <a:rPr lang="en-US" dirty="0" smtClean="0">
                <a:solidFill>
                  <a:srgbClr val="D4D4D4"/>
                </a:solidFill>
                <a:latin typeface="Consolas"/>
              </a:rPr>
              <a:t> </a:t>
            </a:r>
            <a:r>
              <a:rPr lang="en-US" dirty="0" smtClean="0">
                <a:solidFill>
                  <a:srgbClr val="DCDCAA"/>
                </a:solidFill>
                <a:latin typeface="Consolas"/>
              </a:rPr>
              <a:t>fetch</a:t>
            </a:r>
            <a:r>
              <a:rPr lang="en-US" dirty="0" smtClean="0">
                <a:solidFill>
                  <a:srgbClr val="D4D4D4"/>
                </a:solidFill>
                <a:latin typeface="Consolas"/>
              </a:rPr>
              <a:t>(</a:t>
            </a:r>
            <a:r>
              <a:rPr lang="en-US" dirty="0" smtClean="0">
                <a:solidFill>
                  <a:srgbClr val="CE9178"/>
                </a:solidFill>
                <a:latin typeface="Consolas"/>
              </a:rPr>
              <a:t>`http://</a:t>
            </a:r>
            <a:r>
              <a:rPr lang="en-US" dirty="0" smtClean="0">
                <a:solidFill>
                  <a:srgbClr val="569CD6"/>
                </a:solidFill>
                <a:latin typeface="Consolas"/>
              </a:rPr>
              <a:t>${</a:t>
            </a:r>
            <a:r>
              <a:rPr lang="en-US" dirty="0" smtClean="0">
                <a:solidFill>
                  <a:srgbClr val="4FC1FF"/>
                </a:solidFill>
                <a:latin typeface="Consolas"/>
              </a:rPr>
              <a:t>TARGET</a:t>
            </a:r>
            <a:r>
              <a:rPr lang="en-US" dirty="0" smtClean="0">
                <a:solidFill>
                  <a:srgbClr val="569CD6"/>
                </a:solidFill>
                <a:latin typeface="Consolas"/>
              </a:rPr>
              <a:t>}</a:t>
            </a:r>
            <a:r>
              <a:rPr lang="en-US" dirty="0" smtClean="0">
                <a:solidFill>
                  <a:srgbClr val="CE9178"/>
                </a:solidFill>
                <a:latin typeface="Consolas"/>
              </a:rPr>
              <a:t>/graphql`</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9CDCFE"/>
                </a:solidFill>
                <a:latin typeface="Consolas"/>
              </a:rPr>
              <a:t>method:</a:t>
            </a:r>
            <a:r>
              <a:rPr lang="en-US" dirty="0" smtClean="0">
                <a:solidFill>
                  <a:srgbClr val="D4D4D4"/>
                </a:solidFill>
                <a:latin typeface="Consolas"/>
              </a:rPr>
              <a:t> </a:t>
            </a:r>
            <a:r>
              <a:rPr lang="en-US" dirty="0" smtClean="0">
                <a:solidFill>
                  <a:srgbClr val="CE9178"/>
                </a:solidFill>
                <a:latin typeface="Consolas"/>
              </a:rPr>
              <a:t>'POST'</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9CDCFE"/>
                </a:solidFill>
                <a:latin typeface="Consolas"/>
              </a:rPr>
              <a:t>headers:</a:t>
            </a:r>
            <a:r>
              <a:rPr lang="en-US" dirty="0" smtClean="0">
                <a:solidFill>
                  <a:srgbClr val="D4D4D4"/>
                </a:solidFill>
                <a:latin typeface="Consolas"/>
              </a:rPr>
              <a:t> { </a:t>
            </a:r>
            <a:r>
              <a:rPr lang="en-US" dirty="0" smtClean="0">
                <a:solidFill>
                  <a:srgbClr val="CE9178"/>
                </a:solidFill>
                <a:latin typeface="Consolas"/>
              </a:rPr>
              <a:t>'Content-Type'</a:t>
            </a:r>
            <a:r>
              <a:rPr lang="en-US" dirty="0" smtClean="0">
                <a:solidFill>
                  <a:srgbClr val="9CDCFE"/>
                </a:solidFill>
                <a:latin typeface="Consolas"/>
              </a:rPr>
              <a:t>:</a:t>
            </a:r>
            <a:r>
              <a:rPr lang="en-US" dirty="0" smtClean="0">
                <a:solidFill>
                  <a:srgbClr val="D4D4D4"/>
                </a:solidFill>
                <a:latin typeface="Consolas"/>
              </a:rPr>
              <a:t> </a:t>
            </a:r>
            <a:r>
              <a:rPr lang="en-US" dirty="0" smtClean="0">
                <a:solidFill>
                  <a:srgbClr val="CE9178"/>
                </a:solidFill>
                <a:latin typeface="Consolas"/>
              </a:rPr>
              <a:t>'application/</a:t>
            </a:r>
            <a:r>
              <a:rPr lang="en-US" dirty="0" err="1" smtClean="0">
                <a:solidFill>
                  <a:srgbClr val="CE9178"/>
                </a:solidFill>
                <a:latin typeface="Consolas"/>
              </a:rPr>
              <a:t>json</a:t>
            </a:r>
            <a:r>
              <a:rPr lang="en-US" dirty="0" smtClean="0">
                <a:solidFill>
                  <a:srgbClr val="CE9178"/>
                </a:solidFill>
                <a:latin typeface="Consolas"/>
              </a:rPr>
              <a: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9CDCFE"/>
                </a:solidFill>
                <a:latin typeface="Consolas"/>
              </a:rPr>
              <a:t>body:</a:t>
            </a:r>
            <a:r>
              <a:rPr lang="en-US" dirty="0" smtClean="0">
                <a:solidFill>
                  <a:srgbClr val="D4D4D4"/>
                </a:solidFill>
                <a:latin typeface="Consolas"/>
              </a:rPr>
              <a:t> </a:t>
            </a:r>
            <a:r>
              <a:rPr lang="en-US" dirty="0" err="1" smtClean="0">
                <a:solidFill>
                  <a:srgbClr val="9CDCFE"/>
                </a:solidFill>
                <a:latin typeface="Consolas"/>
              </a:rPr>
              <a:t>JSON</a:t>
            </a:r>
            <a:r>
              <a:rPr lang="en-US" dirty="0" err="1" smtClean="0">
                <a:solidFill>
                  <a:srgbClr val="D4D4D4"/>
                </a:solidFill>
                <a:latin typeface="Consolas"/>
              </a:rPr>
              <a:t>.</a:t>
            </a:r>
            <a:r>
              <a:rPr lang="en-US" dirty="0" err="1" smtClean="0">
                <a:solidFill>
                  <a:srgbClr val="DCDCAA"/>
                </a:solidFill>
                <a:latin typeface="Consolas"/>
              </a:rPr>
              <a:t>stringify</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9CDCFE"/>
                </a:solidFill>
                <a:latin typeface="Consolas"/>
              </a:rPr>
              <a:t>query:</a:t>
            </a:r>
            <a:r>
              <a:rPr lang="en-US" dirty="0" smtClean="0">
                <a:solidFill>
                  <a:srgbClr val="D4D4D4"/>
                </a:solidFill>
                <a:latin typeface="Consolas"/>
              </a:rPr>
              <a:t> </a:t>
            </a:r>
            <a:r>
              <a:rPr lang="en-US" dirty="0" err="1" smtClean="0">
                <a:solidFill>
                  <a:srgbClr val="4FC1FF"/>
                </a:solidFill>
                <a:latin typeface="Consolas"/>
              </a:rPr>
              <a:t>complex_query</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9CDCFE"/>
                </a:solidFill>
                <a:latin typeface="Consolas"/>
              </a:rPr>
              <a:t>variables:</a:t>
            </a:r>
            <a:r>
              <a:rPr lang="en-US" dirty="0" smtClean="0">
                <a:solidFill>
                  <a:srgbClr val="D4D4D4"/>
                </a:solidFill>
                <a:latin typeface="Consolas"/>
              </a:rPr>
              <a:t> { </a:t>
            </a:r>
            <a:r>
              <a:rPr lang="en-US" dirty="0" smtClean="0">
                <a:solidFill>
                  <a:srgbClr val="9CDCFE"/>
                </a:solidFill>
                <a:latin typeface="Consolas"/>
              </a:rPr>
              <a:t>id:</a:t>
            </a:r>
            <a:r>
              <a:rPr lang="en-US" dirty="0" smtClean="0">
                <a:solidFill>
                  <a:srgbClr val="D4D4D4"/>
                </a:solidFill>
                <a:latin typeface="Consolas"/>
              </a:rPr>
              <a:t> </a:t>
            </a:r>
            <a:r>
              <a:rPr lang="en-US" dirty="0" smtClean="0">
                <a:solidFill>
                  <a:srgbClr val="CE9178"/>
                </a:solidFill>
                <a:latin typeface="Consolas"/>
              </a:rPr>
              <a:t>"42"</a:t>
            </a:r>
            <a:r>
              <a:rPr lang="en-US" dirty="0" smtClean="0">
                <a:solidFill>
                  <a:srgbClr val="D4D4D4"/>
                </a:solidFill>
                <a:latin typeface="Consolas"/>
              </a:rPr>
              <a:t> }</a:t>
            </a:r>
          </a:p>
          <a:p>
            <a:r>
              <a:rPr lang="en-US" dirty="0" smtClean="0">
                <a:solidFill>
                  <a:srgbClr val="D4D4D4"/>
                </a:solidFill>
                <a:latin typeface="Consolas"/>
              </a:rPr>
              <a:t>        }),</a:t>
            </a:r>
          </a:p>
          <a:p>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return</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9CDCFE"/>
                </a:solidFill>
                <a:latin typeface="Consolas"/>
              </a:rPr>
              <a:t>consumer_pid</a:t>
            </a:r>
            <a:r>
              <a:rPr lang="en-US" dirty="0" smtClean="0">
                <a:solidFill>
                  <a:srgbClr val="9CDCFE"/>
                </a:solidFill>
                <a:latin typeface="Consolas"/>
              </a:rPr>
              <a:t>:</a:t>
            </a:r>
            <a:r>
              <a:rPr lang="en-US" dirty="0" smtClean="0">
                <a:solidFill>
                  <a:srgbClr val="D4D4D4"/>
                </a:solidFill>
                <a:latin typeface="Consolas"/>
              </a:rPr>
              <a:t> </a:t>
            </a:r>
            <a:r>
              <a:rPr lang="en-US" dirty="0" smtClean="0">
                <a:solidFill>
                  <a:srgbClr val="9CDCFE"/>
                </a:solidFill>
                <a:latin typeface="Consolas"/>
              </a:rPr>
              <a:t>process</a:t>
            </a:r>
            <a:r>
              <a:rPr lang="en-US" dirty="0" smtClean="0">
                <a:solidFill>
                  <a:srgbClr val="D4D4D4"/>
                </a:solidFill>
                <a:latin typeface="Consolas"/>
              </a:rPr>
              <a:t>.</a:t>
            </a:r>
            <a:r>
              <a:rPr lang="en-US" dirty="0" smtClean="0">
                <a:solidFill>
                  <a:srgbClr val="4FC1FF"/>
                </a:solidFill>
                <a:latin typeface="Consolas"/>
              </a:rPr>
              <a:t>pid</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9CDCFE"/>
                </a:solidFill>
                <a:latin typeface="Consolas"/>
              </a:rPr>
              <a:t>producer_data</a:t>
            </a:r>
            <a:r>
              <a:rPr lang="en-US" dirty="0" smtClean="0">
                <a:solidFill>
                  <a:srgbClr val="9CDCFE"/>
                </a:solidFill>
                <a:latin typeface="Consolas"/>
              </a:rPr>
              <a:t>:</a:t>
            </a:r>
            <a:r>
              <a:rPr lang="en-US" dirty="0" smtClean="0">
                <a:solidFill>
                  <a:srgbClr val="D4D4D4"/>
                </a:solidFill>
                <a:latin typeface="Consolas"/>
              </a:rPr>
              <a:t> </a:t>
            </a:r>
            <a:r>
              <a:rPr lang="en-US" dirty="0" smtClean="0">
                <a:solidFill>
                  <a:srgbClr val="C586C0"/>
                </a:solidFill>
                <a:latin typeface="Consolas"/>
              </a:rPr>
              <a:t>await</a:t>
            </a:r>
            <a:r>
              <a:rPr lang="en-US" dirty="0" smtClean="0">
                <a:solidFill>
                  <a:srgbClr val="D4D4D4"/>
                </a:solidFill>
                <a:latin typeface="Consolas"/>
              </a:rPr>
              <a:t> </a:t>
            </a:r>
            <a:r>
              <a:rPr lang="en-US" dirty="0" err="1" smtClean="0">
                <a:solidFill>
                  <a:srgbClr val="4FC1FF"/>
                </a:solidFill>
                <a:latin typeface="Consolas"/>
              </a:rPr>
              <a:t>req</a:t>
            </a:r>
            <a:r>
              <a:rPr lang="en-US" dirty="0" err="1" smtClean="0">
                <a:solidFill>
                  <a:srgbClr val="D4D4D4"/>
                </a:solidFill>
                <a:latin typeface="Consolas"/>
              </a:rPr>
              <a:t>.</a:t>
            </a:r>
            <a:r>
              <a:rPr lang="en-US" dirty="0" err="1" smtClean="0">
                <a:solidFill>
                  <a:srgbClr val="DCDCAA"/>
                </a:solidFill>
                <a:latin typeface="Consolas"/>
              </a:rPr>
              <a:t>json</a:t>
            </a:r>
            <a:r>
              <a:rPr lang="en-US" dirty="0" smtClean="0">
                <a:solidFill>
                  <a:srgbClr val="D4D4D4"/>
                </a:solidFill>
                <a:latin typeface="Consolas"/>
              </a:rPr>
              <a:t>()</a:t>
            </a:r>
          </a:p>
          <a:p>
            <a:r>
              <a:rPr lang="en-US" dirty="0" smtClean="0">
                <a:solidFill>
                  <a:srgbClr val="D4D4D4"/>
                </a:solidFill>
                <a:latin typeface="Consolas"/>
              </a:rPr>
              <a:t>    };</a:t>
            </a:r>
          </a:p>
          <a:p>
            <a:r>
              <a:rPr lang="en-US" dirty="0" smtClean="0">
                <a:solidFill>
                  <a:srgbClr val="D4D4D4"/>
                </a:solidFill>
                <a:latin typeface="Consolas"/>
              </a:rPr>
              <a:t>});</a:t>
            </a:r>
          </a:p>
          <a:p>
            <a:r>
              <a:rPr lang="en-US" dirty="0" err="1" smtClean="0">
                <a:solidFill>
                  <a:srgbClr val="4FC1FF"/>
                </a:solidFill>
                <a:latin typeface="Consolas"/>
              </a:rPr>
              <a:t>server</a:t>
            </a:r>
            <a:r>
              <a:rPr lang="en-US" dirty="0" err="1" smtClean="0">
                <a:solidFill>
                  <a:srgbClr val="D4D4D4"/>
                </a:solidFill>
                <a:latin typeface="Consolas"/>
              </a:rPr>
              <a:t>.</a:t>
            </a:r>
            <a:r>
              <a:rPr lang="en-US" dirty="0" err="1" smtClean="0">
                <a:solidFill>
                  <a:srgbClr val="DCDCAA"/>
                </a:solidFill>
                <a:latin typeface="Consolas"/>
              </a:rPr>
              <a:t>listen</a:t>
            </a:r>
            <a:r>
              <a:rPr lang="en-US" dirty="0" smtClean="0">
                <a:solidFill>
                  <a:srgbClr val="D4D4D4"/>
                </a:solidFill>
                <a:latin typeface="Consolas"/>
              </a:rPr>
              <a:t>(</a:t>
            </a:r>
            <a:r>
              <a:rPr lang="en-US" dirty="0" smtClean="0">
                <a:solidFill>
                  <a:srgbClr val="4FC1FF"/>
                </a:solidFill>
                <a:latin typeface="Consolas"/>
              </a:rPr>
              <a:t>PORT</a:t>
            </a:r>
            <a:r>
              <a:rPr lang="en-US" dirty="0" smtClean="0">
                <a:solidFill>
                  <a:srgbClr val="D4D4D4"/>
                </a:solidFill>
                <a:latin typeface="Consolas"/>
              </a:rPr>
              <a:t>, </a:t>
            </a:r>
            <a:r>
              <a:rPr lang="en-US" dirty="0" smtClean="0">
                <a:solidFill>
                  <a:srgbClr val="4FC1FF"/>
                </a:solidFill>
                <a:latin typeface="Consolas"/>
              </a:rPr>
              <a:t>HOST</a:t>
            </a:r>
            <a:r>
              <a:rPr lang="en-US" dirty="0" smtClean="0">
                <a:solidFill>
                  <a:srgbClr val="D4D4D4"/>
                </a:solidFill>
                <a:latin typeface="Consolas"/>
              </a:rPr>
              <a:t>, () </a:t>
            </a:r>
            <a:r>
              <a:rPr lang="en-US" dirty="0" smtClean="0">
                <a:solidFill>
                  <a:srgbClr val="569CD6"/>
                </a:solidFill>
                <a:latin typeface="Consolas"/>
              </a:rPr>
              <a:t>=&gt;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9CDCFE"/>
                </a:solidFill>
                <a:latin typeface="Consolas"/>
              </a:rPr>
              <a:t>console</a:t>
            </a:r>
            <a:r>
              <a:rPr lang="en-US" dirty="0" smtClean="0">
                <a:solidFill>
                  <a:srgbClr val="D4D4D4"/>
                </a:solidFill>
                <a:latin typeface="Consolas"/>
              </a:rPr>
              <a:t>.</a:t>
            </a:r>
            <a:r>
              <a:rPr lang="en-US" dirty="0" smtClean="0">
                <a:solidFill>
                  <a:srgbClr val="DCDCAA"/>
                </a:solidFill>
                <a:latin typeface="Consolas"/>
              </a:rPr>
              <a:t>log</a:t>
            </a:r>
            <a:r>
              <a:rPr lang="en-US" dirty="0" smtClean="0">
                <a:solidFill>
                  <a:srgbClr val="D4D4D4"/>
                </a:solidFill>
                <a:latin typeface="Consolas"/>
              </a:rPr>
              <a:t>(</a:t>
            </a:r>
            <a:r>
              <a:rPr lang="en-US" dirty="0" smtClean="0">
                <a:solidFill>
                  <a:srgbClr val="CE9178"/>
                </a:solidFill>
                <a:latin typeface="Consolas"/>
              </a:rPr>
              <a:t>`Consumer running at http://</a:t>
            </a:r>
            <a:r>
              <a:rPr lang="en-US" dirty="0" smtClean="0">
                <a:solidFill>
                  <a:srgbClr val="569CD6"/>
                </a:solidFill>
                <a:latin typeface="Consolas"/>
              </a:rPr>
              <a:t>${</a:t>
            </a:r>
            <a:r>
              <a:rPr lang="en-US" dirty="0" smtClean="0">
                <a:solidFill>
                  <a:srgbClr val="4FC1FF"/>
                </a:solidFill>
                <a:latin typeface="Consolas"/>
              </a:rPr>
              <a:t>HOST</a:t>
            </a:r>
            <a:r>
              <a:rPr lang="en-US" dirty="0" smtClean="0">
                <a:solidFill>
                  <a:srgbClr val="569CD6"/>
                </a:solidFill>
                <a:latin typeface="Consolas"/>
              </a:rPr>
              <a:t>}</a:t>
            </a:r>
            <a:r>
              <a:rPr lang="en-US" dirty="0" smtClean="0">
                <a:solidFill>
                  <a:srgbClr val="CE9178"/>
                </a:solidFill>
                <a:latin typeface="Consolas"/>
              </a:rPr>
              <a:t>:</a:t>
            </a:r>
            <a:r>
              <a:rPr lang="en-US" dirty="0" smtClean="0">
                <a:solidFill>
                  <a:srgbClr val="569CD6"/>
                </a:solidFill>
                <a:latin typeface="Consolas"/>
              </a:rPr>
              <a:t>${</a:t>
            </a:r>
            <a:r>
              <a:rPr lang="en-US" dirty="0" smtClean="0">
                <a:solidFill>
                  <a:srgbClr val="4FC1FF"/>
                </a:solidFill>
                <a:latin typeface="Consolas"/>
              </a:rPr>
              <a:t>PORT</a:t>
            </a:r>
            <a:r>
              <a:rPr lang="en-US" dirty="0" smtClean="0">
                <a:solidFill>
                  <a:srgbClr val="569CD6"/>
                </a:solidFill>
                <a:latin typeface="Consolas"/>
              </a:rPr>
              <a:t>}</a:t>
            </a:r>
            <a:r>
              <a:rPr lang="en-US" dirty="0" smtClean="0">
                <a:solidFill>
                  <a:srgbClr val="CE9178"/>
                </a:solidFill>
                <a:latin typeface="Consolas"/>
              </a:rPr>
              <a:t>/`</a:t>
            </a:r>
            <a:r>
              <a:rPr lang="en-US" dirty="0" smtClean="0">
                <a:solidFill>
                  <a:srgbClr val="D4D4D4"/>
                </a:solidFill>
                <a:latin typeface="Consolas"/>
              </a:rPr>
              <a:t>);</a:t>
            </a:r>
          </a:p>
          <a:p>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Run the </a:t>
            </a:r>
            <a:r>
              <a:rPr lang="en-US" dirty="0" smtClean="0">
                <a:latin typeface="Consolas" pitchFamily="49" charset="0"/>
              </a:rPr>
              <a:t>web-</a:t>
            </a:r>
            <a:r>
              <a:rPr lang="en-US" dirty="0" err="1" smtClean="0">
                <a:latin typeface="Consolas" pitchFamily="49" charset="0"/>
              </a:rPr>
              <a:t>api</a:t>
            </a:r>
            <a:r>
              <a:rPr lang="en-US" dirty="0" smtClean="0"/>
              <a:t> Service</a:t>
            </a:r>
            <a:endParaRPr lang="en-US" dirty="0"/>
          </a:p>
        </p:txBody>
      </p:sp>
      <p:sp>
        <p:nvSpPr>
          <p:cNvPr id="3" name="Content Placeholder 2"/>
          <p:cNvSpPr>
            <a:spLocks noGrp="1"/>
          </p:cNvSpPr>
          <p:nvPr>
            <p:ph idx="1"/>
          </p:nvPr>
        </p:nvSpPr>
        <p:spPr/>
        <p:txBody>
          <a:bodyPr/>
          <a:lstStyle/>
          <a:p>
            <a:r>
              <a:rPr lang="en-US" sz="2200" dirty="0" err="1" smtClean="0">
                <a:latin typeface="Consolas" pitchFamily="49" charset="0"/>
              </a:rPr>
              <a:t>cd</a:t>
            </a:r>
            <a:r>
              <a:rPr lang="en-US" sz="2200" dirty="0" smtClean="0">
                <a:latin typeface="Consolas" pitchFamily="49" charset="0"/>
              </a:rPr>
              <a:t> web-</a:t>
            </a:r>
            <a:r>
              <a:rPr lang="en-US" sz="2200" dirty="0" err="1" smtClean="0">
                <a:latin typeface="Consolas" pitchFamily="49" charset="0"/>
              </a:rPr>
              <a:t>api</a:t>
            </a:r>
            <a:endParaRPr lang="en-US" sz="2200" dirty="0" smtClean="0">
              <a:latin typeface="Consolas" pitchFamily="49" charset="0"/>
            </a:endParaRPr>
          </a:p>
          <a:p>
            <a:r>
              <a:rPr lang="en-US" sz="2200" dirty="0" err="1" smtClean="0">
                <a:latin typeface="Consolas" pitchFamily="49" charset="0"/>
              </a:rPr>
              <a:t>npm</a:t>
            </a:r>
            <a:r>
              <a:rPr lang="en-US" sz="2200" dirty="0" smtClean="0">
                <a:latin typeface="Consolas" pitchFamily="49" charset="0"/>
              </a:rPr>
              <a:t> install </a:t>
            </a:r>
            <a:r>
              <a:rPr lang="en-US" sz="2200" dirty="0" err="1" smtClean="0">
                <a:latin typeface="Consolas" pitchFamily="49" charset="0"/>
              </a:rPr>
              <a:t>fastify</a:t>
            </a:r>
            <a:r>
              <a:rPr lang="en-US" sz="2200" dirty="0" smtClean="0">
                <a:latin typeface="Consolas" pitchFamily="49" charset="0"/>
              </a:rPr>
              <a:t> node-fetch</a:t>
            </a:r>
          </a:p>
          <a:p>
            <a:r>
              <a:rPr lang="en-US" sz="2200" dirty="0" smtClean="0">
                <a:latin typeface="Consolas" pitchFamily="49" charset="0"/>
              </a:rPr>
              <a:t>node web-api.js </a:t>
            </a:r>
          </a:p>
          <a:p>
            <a:r>
              <a:rPr lang="en-US" sz="2200" dirty="0" smtClean="0">
                <a:latin typeface="Consolas" pitchFamily="49" charset="0"/>
              </a:rPr>
              <a:t>curl http://127.0.0.1:3000/</a:t>
            </a:r>
          </a:p>
        </p:txBody>
      </p:sp>
      <p:pic>
        <p:nvPicPr>
          <p:cNvPr id="2050" name="Picture 2"/>
          <p:cNvPicPr>
            <a:picLocks noChangeAspect="1" noChangeArrowheads="1"/>
          </p:cNvPicPr>
          <p:nvPr/>
        </p:nvPicPr>
        <p:blipFill>
          <a:blip r:embed="rId2" cstate="print"/>
          <a:srcRect/>
          <a:stretch>
            <a:fillRect/>
          </a:stretch>
        </p:blipFill>
        <p:spPr bwMode="auto">
          <a:xfrm>
            <a:off x="1676400" y="4842510"/>
            <a:ext cx="5619750" cy="1253490"/>
          </a:xfrm>
          <a:prstGeom prst="rect">
            <a:avLst/>
          </a:prstGeom>
          <a:noFill/>
          <a:ln w="9525">
            <a:noFill/>
            <a:miter lim="800000"/>
            <a:headEnd/>
            <a:tailEnd/>
          </a:ln>
        </p:spPr>
      </p:pic>
      <p:pic>
        <p:nvPicPr>
          <p:cNvPr id="4" name="Picture 2"/>
          <p:cNvPicPr>
            <a:picLocks noChangeAspect="1" noChangeArrowheads="1"/>
          </p:cNvPicPr>
          <p:nvPr/>
        </p:nvPicPr>
        <p:blipFill>
          <a:blip r:embed="rId3" cstate="print"/>
          <a:srcRect/>
          <a:stretch>
            <a:fillRect/>
          </a:stretch>
        </p:blipFill>
        <p:spPr bwMode="auto">
          <a:xfrm>
            <a:off x="2030730" y="3505200"/>
            <a:ext cx="4903470" cy="1040130"/>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HTTP</a:t>
            </a:r>
            <a:endParaRPr lang="en-US" dirty="0"/>
          </a:p>
        </p:txBody>
      </p:sp>
      <p:sp>
        <p:nvSpPr>
          <p:cNvPr id="3" name="Content Placeholder 2"/>
          <p:cNvSpPr>
            <a:spLocks noGrp="1"/>
          </p:cNvSpPr>
          <p:nvPr>
            <p:ph idx="1"/>
          </p:nvPr>
        </p:nvSpPr>
        <p:spPr/>
        <p:txBody>
          <a:bodyPr/>
          <a:lstStyle/>
          <a:p>
            <a:r>
              <a:rPr lang="en-US" sz="2400" dirty="0" smtClean="0">
                <a:hlinkClick r:id="rId2"/>
              </a:rPr>
              <a:t>https://graphql.org/learn/best-practices</a:t>
            </a:r>
            <a:r>
              <a:rPr lang="en-US" sz="2400" dirty="0" smtClean="0">
                <a:hlinkClick r:id="rId2"/>
              </a:rPr>
              <a:t>/</a:t>
            </a:r>
            <a:endParaRPr lang="en-US" sz="2400" dirty="0" smtClean="0"/>
          </a:p>
          <a:p>
            <a:r>
              <a:rPr lang="en-US" sz="2400" dirty="0" err="1" smtClean="0"/>
              <a:t>GraphQL</a:t>
            </a:r>
            <a:r>
              <a:rPr lang="en-US" sz="2400" dirty="0" smtClean="0"/>
              <a:t> </a:t>
            </a:r>
            <a:r>
              <a:rPr lang="en-US" sz="2400" dirty="0" smtClean="0"/>
              <a:t>is typically served over HTTP via a single endpoint which expresses the full set of capabilities of the service.</a:t>
            </a:r>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JSON (with GZIP)</a:t>
            </a:r>
            <a:endParaRPr lang="en-US" dirty="0"/>
          </a:p>
        </p:txBody>
      </p:sp>
      <p:sp>
        <p:nvSpPr>
          <p:cNvPr id="3" name="Content Placeholder 2"/>
          <p:cNvSpPr>
            <a:spLocks noGrp="1"/>
          </p:cNvSpPr>
          <p:nvPr>
            <p:ph idx="1"/>
          </p:nvPr>
        </p:nvSpPr>
        <p:spPr/>
        <p:txBody>
          <a:bodyPr/>
          <a:lstStyle/>
          <a:p>
            <a:r>
              <a:rPr lang="en-US" sz="2400" dirty="0" err="1" smtClean="0"/>
              <a:t>GraphQL</a:t>
            </a:r>
            <a:r>
              <a:rPr lang="en-US" sz="2400" dirty="0" smtClean="0"/>
              <a:t> services typically respond using JSON, however the </a:t>
            </a:r>
            <a:r>
              <a:rPr lang="en-US" sz="2400" dirty="0" err="1" smtClean="0"/>
              <a:t>GraphQL</a:t>
            </a:r>
            <a:r>
              <a:rPr lang="en-US" sz="2400" dirty="0" smtClean="0"/>
              <a:t> spec does not require </a:t>
            </a:r>
            <a:r>
              <a:rPr lang="en-US" sz="2400" dirty="0" smtClean="0"/>
              <a:t>it.</a:t>
            </a:r>
            <a:endParaRPr 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12270</TotalTime>
  <Words>2220</Words>
  <Application>Microsoft Office PowerPoint</Application>
  <PresentationFormat>On-screen Show (4:3)</PresentationFormat>
  <Paragraphs>376</Paragraphs>
  <Slides>46</Slides>
  <Notes>1</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GraphQL APIs</vt:lpstr>
      <vt:lpstr>Objectives</vt:lpstr>
      <vt:lpstr>Contents</vt:lpstr>
      <vt:lpstr>References</vt:lpstr>
      <vt:lpstr>Endpoint Based APIs Clients [1]</vt:lpstr>
      <vt:lpstr>Adding More Endpoints</vt:lpstr>
      <vt:lpstr>Adding Query Parameters</vt:lpstr>
      <vt:lpstr>Netflix's Solution</vt:lpstr>
      <vt:lpstr>SoundCloud's Solution</vt:lpstr>
      <vt:lpstr>What is GraphQL]</vt:lpstr>
      <vt:lpstr>Slide 11</vt:lpstr>
      <vt:lpstr>1. Create Project Structure [2]</vt:lpstr>
      <vt:lpstr>2. Create src/index.js</vt:lpstr>
      <vt:lpstr>3. Add "dev" to package.json</vt:lpstr>
      <vt:lpstr>4. Extend Port Options</vt:lpstr>
      <vt:lpstr>Apollo Server</vt:lpstr>
      <vt:lpstr>5. Construct a Schema</vt:lpstr>
      <vt:lpstr>6. Add a Resolver</vt:lpstr>
      <vt:lpstr>7. Integrate Apollo Server</vt:lpstr>
      <vt:lpstr>8. Hello GraphQL</vt:lpstr>
      <vt:lpstr>Slide 21</vt:lpstr>
      <vt:lpstr>What is GraphQL? [3]</vt:lpstr>
      <vt:lpstr>GraphQL is a Language and a Runtime</vt:lpstr>
      <vt:lpstr>GraphQL APIs vs. REST APIs</vt:lpstr>
      <vt:lpstr>REST vs. GraphQL: starwars-data.json</vt:lpstr>
      <vt:lpstr>GraphQL Problems</vt:lpstr>
      <vt:lpstr>GraphQL is a Language</vt:lpstr>
      <vt:lpstr>The GraphQL Language</vt:lpstr>
      <vt:lpstr>Example Request Document</vt:lpstr>
      <vt:lpstr>Slide 30</vt:lpstr>
      <vt:lpstr>1. Create Project Structure [4]</vt:lpstr>
      <vt:lpstr>GraphQL Schema</vt:lpstr>
      <vt:lpstr>2. Create shared/graphql-schema.gql</vt:lpstr>
      <vt:lpstr>3. Create recipe-api/recipe-api.js (I)</vt:lpstr>
      <vt:lpstr>3. Create recipe-api/recipe-api.js (II)</vt:lpstr>
      <vt:lpstr>3. Create recipe-api/recipe-api.js (III)</vt:lpstr>
      <vt:lpstr>3. Create recipe-api/recipe-api.js (IV)</vt:lpstr>
      <vt:lpstr>4. Run the recipe-api Service</vt:lpstr>
      <vt:lpstr>5. Create web-api/web-api.js (I)</vt:lpstr>
      <vt:lpstr>5. Create web-api/web-api.js (II)</vt:lpstr>
      <vt:lpstr>5. Create web-api/web-api.js (III)</vt:lpstr>
      <vt:lpstr>6. Run the web-api Service</vt:lpstr>
      <vt:lpstr>Slide 43</vt:lpstr>
      <vt:lpstr>HTTP</vt:lpstr>
      <vt:lpstr>JSON (with GZIP)</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5394</cp:revision>
  <dcterms:created xsi:type="dcterms:W3CDTF">2007-10-06T08:25:13Z</dcterms:created>
  <dcterms:modified xsi:type="dcterms:W3CDTF">2023-03-31T21:48:59Z</dcterms:modified>
</cp:coreProperties>
</file>