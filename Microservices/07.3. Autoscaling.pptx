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0"/>
  </p:notesMasterIdLst>
  <p:sldIdLst>
    <p:sldId id="671" r:id="rId2"/>
    <p:sldId id="672" r:id="rId3"/>
    <p:sldId id="673" r:id="rId4"/>
    <p:sldId id="674" r:id="rId5"/>
    <p:sldId id="654" r:id="rId6"/>
    <p:sldId id="655" r:id="rId7"/>
    <p:sldId id="599" r:id="rId8"/>
    <p:sldId id="600" r:id="rId9"/>
    <p:sldId id="652" r:id="rId10"/>
    <p:sldId id="653" r:id="rId11"/>
    <p:sldId id="629" r:id="rId12"/>
    <p:sldId id="582" r:id="rId13"/>
    <p:sldId id="583" r:id="rId14"/>
    <p:sldId id="584" r:id="rId15"/>
    <p:sldId id="585" r:id="rId16"/>
    <p:sldId id="586" r:id="rId17"/>
    <p:sldId id="587" r:id="rId18"/>
    <p:sldId id="588" r:id="rId19"/>
    <p:sldId id="638" r:id="rId20"/>
    <p:sldId id="631" r:id="rId21"/>
    <p:sldId id="597" r:id="rId22"/>
    <p:sldId id="637" r:id="rId23"/>
    <p:sldId id="640" r:id="rId24"/>
    <p:sldId id="641" r:id="rId25"/>
    <p:sldId id="642" r:id="rId26"/>
    <p:sldId id="643" r:id="rId27"/>
    <p:sldId id="644" r:id="rId28"/>
    <p:sldId id="647" r:id="rId29"/>
    <p:sldId id="645" r:id="rId30"/>
    <p:sldId id="646" r:id="rId31"/>
    <p:sldId id="656" r:id="rId32"/>
    <p:sldId id="657" r:id="rId33"/>
    <p:sldId id="658" r:id="rId34"/>
    <p:sldId id="666" r:id="rId35"/>
    <p:sldId id="659" r:id="rId36"/>
    <p:sldId id="667" r:id="rId37"/>
    <p:sldId id="668" r:id="rId38"/>
    <p:sldId id="669" r:id="rId39"/>
    <p:sldId id="670" r:id="rId40"/>
    <p:sldId id="660" r:id="rId41"/>
    <p:sldId id="661" r:id="rId42"/>
    <p:sldId id="662" r:id="rId43"/>
    <p:sldId id="664" r:id="rId44"/>
    <p:sldId id="665" r:id="rId45"/>
    <p:sldId id="675" r:id="rId46"/>
    <p:sldId id="676" r:id="rId47"/>
    <p:sldId id="677" r:id="rId48"/>
    <p:sldId id="516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94667" autoAdjust="0"/>
  </p:normalViewPr>
  <p:slideViewPr>
    <p:cSldViewPr>
      <p:cViewPr>
        <p:scale>
          <a:sx n="50" d="100"/>
          <a:sy n="50" d="100"/>
        </p:scale>
        <p:origin x="-1530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0940CE-BE1D-4C40-AF8B-3898A4D1F5EC}" type="datetimeFigureOut">
              <a:rPr lang="en-US" smtClean="0"/>
              <a:pPr/>
              <a:t>8/9/2026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70CC96-DB61-4850-AF79-05CA5E4B3D0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8/9/2026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://aws.amazon.com/elasticache/" TargetMode="External"/><Relationship Id="rId2" Type="http://schemas.openxmlformats.org/officeDocument/2006/relationships/hyperlink" Target="http://terracotta.org/products/web-sessions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ouchbase.com/" TargetMode="External"/><Relationship Id="rId4" Type="http://schemas.openxmlformats.org/officeDocument/2006/relationships/hyperlink" Target="http://aws.amazon.com/dynamodb/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://mesos.apache.org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concepts/workloads/autoscaling/horizontal-pod-autoscale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err="1" smtClean="0"/>
              <a:t>Autoscaling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 marL="571500" indent="-571500">
              <a:buFont typeface="Wingdings" pitchFamily="2" charset="2"/>
              <a:buChar char="Ø"/>
            </a:pPr>
            <a:endParaRPr lang="en-US" sz="2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err="1" smtClean="0"/>
              <a:t>Trieu</a:t>
            </a:r>
            <a:r>
              <a:rPr lang="en-US" sz="2400" dirty="0" smtClean="0"/>
              <a:t> C. </a:t>
            </a:r>
            <a:r>
              <a:rPr lang="en-US" sz="2400" dirty="0" err="1" smtClean="0"/>
              <a:t>Chieu</a:t>
            </a:r>
            <a:r>
              <a:rPr lang="en-US" sz="2400" dirty="0" smtClean="0"/>
              <a:t> et al. (2009). Dynamic Scaling of Web Applications in a Virtualized Cloud Computing Environment.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Claudio A. </a:t>
            </a:r>
            <a:r>
              <a:rPr lang="en-US" sz="2400" dirty="0" err="1" smtClean="0"/>
              <a:t>Ardagna</a:t>
            </a:r>
            <a:r>
              <a:rPr lang="en-US" sz="2400" dirty="0" smtClean="0"/>
              <a:t> et al. (2012). Scalability Patterns for Platform-as-a-Service.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K. R. </a:t>
            </a:r>
            <a:r>
              <a:rPr lang="en-US" sz="2400" dirty="0" err="1" smtClean="0"/>
              <a:t>Jayaram</a:t>
            </a:r>
            <a:r>
              <a:rPr lang="en-US" sz="2400" dirty="0" smtClean="0"/>
              <a:t> (2014). Elastic Remote Methods.</a:t>
            </a: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Indicators [1]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 order to scale the application in </a:t>
            </a:r>
            <a:r>
              <a:rPr lang="en-US" sz="2800" u="sng" dirty="0" smtClean="0"/>
              <a:t>dynamic manner</a:t>
            </a:r>
            <a:r>
              <a:rPr lang="en-US" sz="2800" dirty="0" smtClean="0"/>
              <a:t>, it is common to use </a:t>
            </a:r>
            <a:r>
              <a:rPr lang="en-US" sz="2800" i="1" dirty="0" smtClean="0">
                <a:solidFill>
                  <a:srgbClr val="C00000"/>
                </a:solidFill>
              </a:rPr>
              <a:t>scaling indicators</a:t>
            </a:r>
            <a:r>
              <a:rPr lang="en-US" sz="2800" dirty="0" smtClean="0"/>
              <a:t> at the </a:t>
            </a:r>
            <a:r>
              <a:rPr lang="en-US" sz="2800" u="sng" dirty="0" smtClean="0"/>
              <a:t>scaling point</a:t>
            </a:r>
            <a:r>
              <a:rPr lang="en-US" sz="2800" dirty="0" smtClean="0"/>
              <a:t> to monitor and track the performance.</a:t>
            </a:r>
          </a:p>
          <a:p>
            <a:r>
              <a:rPr lang="en-US" sz="2800" dirty="0" smtClean="0"/>
              <a:t>For </a:t>
            </a:r>
            <a:r>
              <a:rPr lang="en-US" sz="2800" i="1" dirty="0" smtClean="0">
                <a:solidFill>
                  <a:srgbClr val="C00000"/>
                </a:solidFill>
              </a:rPr>
              <a:t>web applications</a:t>
            </a:r>
            <a:r>
              <a:rPr lang="en-US" sz="2800" dirty="0" smtClean="0"/>
              <a:t>, typical scaling indicators at the web server may include:</a:t>
            </a:r>
          </a:p>
          <a:p>
            <a:pPr lvl="1"/>
            <a:r>
              <a:rPr lang="en-US" sz="2400" dirty="0" smtClean="0"/>
              <a:t>Number of concurrent users.</a:t>
            </a:r>
          </a:p>
          <a:p>
            <a:pPr lvl="1"/>
            <a:r>
              <a:rPr lang="en-US" sz="2400" dirty="0" smtClean="0"/>
              <a:t>Number of active connections.</a:t>
            </a:r>
          </a:p>
          <a:p>
            <a:pPr lvl="1"/>
            <a:r>
              <a:rPr lang="en-US" sz="2400" dirty="0" smtClean="0"/>
              <a:t>Number of requests per second.</a:t>
            </a:r>
          </a:p>
          <a:p>
            <a:pPr lvl="1"/>
            <a:r>
              <a:rPr lang="en-US" sz="2400" dirty="0" smtClean="0"/>
              <a:t>Average response times per request.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Rules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Once </a:t>
            </a:r>
            <a:r>
              <a:rPr lang="en-US" sz="2800" i="1" dirty="0" smtClean="0">
                <a:solidFill>
                  <a:srgbClr val="C00000"/>
                </a:solidFill>
              </a:rPr>
              <a:t>a scaling indicator is selected</a:t>
            </a:r>
            <a:r>
              <a:rPr lang="en-US" sz="2800" dirty="0" smtClean="0"/>
              <a:t> for use to scale the application, </a:t>
            </a:r>
            <a:r>
              <a:rPr lang="en-US" sz="2800" u="sng" dirty="0" smtClean="0"/>
              <a:t>samplings</a:t>
            </a:r>
            <a:r>
              <a:rPr lang="en-US" sz="2800" dirty="0" smtClean="0"/>
              <a:t> of the scaling indicator are </a:t>
            </a:r>
            <a:r>
              <a:rPr lang="en-US" sz="2800" u="sng" dirty="0" smtClean="0"/>
              <a:t>collected</a:t>
            </a:r>
            <a:r>
              <a:rPr lang="en-US" sz="2800" dirty="0" smtClean="0"/>
              <a:t> in real-time, and statistics is </a:t>
            </a:r>
            <a:r>
              <a:rPr lang="en-US" sz="2800" u="sng" dirty="0" smtClean="0"/>
              <a:t>calculated</a:t>
            </a:r>
            <a:r>
              <a:rPr lang="en-US" sz="2800" dirty="0" smtClean="0"/>
              <a:t> periodically.</a:t>
            </a:r>
          </a:p>
          <a:p>
            <a:r>
              <a:rPr lang="en-US" sz="2800" dirty="0" smtClean="0"/>
              <a:t>Based on the historical trends and predictions derived from the statistics of the scaling indicator, </a:t>
            </a:r>
            <a:r>
              <a:rPr lang="en-US" sz="2800" i="1" dirty="0" smtClean="0">
                <a:solidFill>
                  <a:srgbClr val="C00000"/>
                </a:solidFill>
              </a:rPr>
              <a:t>scaling rules</a:t>
            </a:r>
            <a:r>
              <a:rPr lang="en-US" sz="2800" dirty="0" smtClean="0"/>
              <a:t> can </a:t>
            </a:r>
            <a:r>
              <a:rPr lang="en-US" sz="2800" u="sng" dirty="0" smtClean="0"/>
              <a:t>be defined to scale up or down</a:t>
            </a:r>
            <a:r>
              <a:rPr lang="en-US" sz="2800" dirty="0" smtClean="0"/>
              <a:t> the amount of web application instances.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to Scale Web Applications in a Cloud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1847" y="1979474"/>
            <a:ext cx="5669553" cy="4192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Architecture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100" i="1" dirty="0" smtClean="0">
                <a:solidFill>
                  <a:srgbClr val="C00000"/>
                </a:solidFill>
              </a:rPr>
              <a:t>Load-Balancer</a:t>
            </a:r>
            <a:r>
              <a:rPr lang="en-US" sz="2100" dirty="0" smtClean="0"/>
              <a:t>: Apache HTTP Load-Balancer</a:t>
            </a:r>
          </a:p>
          <a:p>
            <a:r>
              <a:rPr lang="en-US" sz="2100" dirty="0" smtClean="0"/>
              <a:t>The </a:t>
            </a:r>
            <a:r>
              <a:rPr lang="en-US" sz="2100" i="1" dirty="0" smtClean="0">
                <a:solidFill>
                  <a:srgbClr val="C00000"/>
                </a:solidFill>
              </a:rPr>
              <a:t>web application</a:t>
            </a:r>
            <a:r>
              <a:rPr lang="en-US" sz="2100" dirty="0" smtClean="0"/>
              <a:t> and its corresponding web server (Apache HTTP server) is pre-installed in a virtual machine appliance image template.</a:t>
            </a:r>
          </a:p>
          <a:p>
            <a:r>
              <a:rPr lang="en-US" sz="2100" i="1" dirty="0" smtClean="0">
                <a:solidFill>
                  <a:srgbClr val="C00000"/>
                </a:solidFill>
              </a:rPr>
              <a:t>Service Monitor</a:t>
            </a:r>
            <a:r>
              <a:rPr lang="en-US" sz="2100" dirty="0" smtClean="0"/>
              <a:t>: A monitoring agent is installed in each web application to track the number of active sessions and to forward the number periodically to the Service Monitor subsystem.</a:t>
            </a:r>
          </a:p>
          <a:p>
            <a:r>
              <a:rPr lang="en-US" sz="2100" i="1" dirty="0" smtClean="0">
                <a:solidFill>
                  <a:srgbClr val="C00000"/>
                </a:solidFill>
              </a:rPr>
              <a:t>Provisioning sub-system</a:t>
            </a:r>
            <a:r>
              <a:rPr lang="en-US" sz="2100" dirty="0" smtClean="0"/>
              <a:t>: IBM Tivoli Provisioning Manager (TPM) software product. A number of TPM automation workflows have been developed for different operating systems and virtualization technologies</a:t>
            </a:r>
          </a:p>
          <a:p>
            <a:r>
              <a:rPr lang="en-US" sz="2100" i="1" dirty="0" smtClean="0">
                <a:solidFill>
                  <a:srgbClr val="C00000"/>
                </a:solidFill>
              </a:rPr>
              <a:t>Scaling Algorithm</a:t>
            </a:r>
            <a:r>
              <a:rPr lang="en-US" sz="2100" dirty="0" smtClean="0"/>
              <a:t>: If all instances have active sessions above the given upper threshold, a new web application instance will be provisioned, started, and then added to the front-end load-balancer.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Scaling Algorithm (I)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The </a:t>
            </a:r>
            <a:r>
              <a:rPr lang="en-US" sz="2800" i="1" dirty="0" smtClean="0">
                <a:solidFill>
                  <a:srgbClr val="C00000"/>
                </a:solidFill>
              </a:rPr>
              <a:t>scaling algorithm</a:t>
            </a:r>
            <a:r>
              <a:rPr lang="en-US" sz="2800" dirty="0" smtClean="0"/>
              <a:t> is implemented in the Service Monitor sub-system, and is used to control and trigger the scale-up or down in the Provisioning sub-system on </a:t>
            </a:r>
            <a:r>
              <a:rPr lang="en-US" sz="2800" u="sng" dirty="0" smtClean="0"/>
              <a:t>the number of virtual machine instances</a:t>
            </a:r>
            <a:r>
              <a:rPr lang="en-US" sz="2800" dirty="0" smtClean="0"/>
              <a:t> based on the statistics of the scaling indicator.</a:t>
            </a:r>
          </a:p>
          <a:p>
            <a:r>
              <a:rPr lang="en-US" sz="2800" dirty="0" smtClean="0"/>
              <a:t>For the sake of illustration, we choose a </a:t>
            </a:r>
            <a:r>
              <a:rPr lang="en-US" sz="2800" i="1" dirty="0" smtClean="0">
                <a:solidFill>
                  <a:srgbClr val="C00000"/>
                </a:solidFill>
              </a:rPr>
              <a:t>scaling indicator</a:t>
            </a:r>
            <a:r>
              <a:rPr lang="en-US" sz="2800" dirty="0" smtClean="0"/>
              <a:t> in our implementation that corresponds to </a:t>
            </a:r>
            <a:r>
              <a:rPr lang="en-US" sz="2800" u="sng" dirty="0" smtClean="0"/>
              <a:t>the number of active sessions</a:t>
            </a:r>
            <a:r>
              <a:rPr lang="en-US" sz="2800" dirty="0" smtClean="0"/>
              <a:t> in the web application of each instance.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Dynamic Scaling Algorithm (II)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algorithm first determines the current web application instances with active sessions above or below </a:t>
            </a:r>
            <a:r>
              <a:rPr lang="en-US" sz="2400" i="1" dirty="0" smtClean="0">
                <a:solidFill>
                  <a:srgbClr val="C00000"/>
                </a:solidFill>
              </a:rPr>
              <a:t>given threshold</a:t>
            </a:r>
            <a:r>
              <a:rPr lang="en-US" sz="2400" dirty="0" smtClean="0"/>
              <a:t> numbers.</a:t>
            </a:r>
          </a:p>
          <a:p>
            <a:r>
              <a:rPr lang="en-US" sz="2400" dirty="0" smtClean="0"/>
              <a:t>If all instances have active sessions above the given upper threshold, a </a:t>
            </a:r>
            <a:r>
              <a:rPr lang="en-US" sz="2400" i="1" dirty="0" smtClean="0">
                <a:solidFill>
                  <a:srgbClr val="C00000"/>
                </a:solidFill>
              </a:rPr>
              <a:t>new web application instance</a:t>
            </a:r>
            <a:r>
              <a:rPr lang="en-US" sz="2400" dirty="0" smtClean="0"/>
              <a:t> will be provisioned, started, and then added to the </a:t>
            </a:r>
            <a:r>
              <a:rPr lang="en-US" sz="2400" u="sng" dirty="0" smtClean="0"/>
              <a:t>front-end load-balancer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If there are instances with active sessions below a given lower threshold and with at least one instance that has </a:t>
            </a:r>
            <a:r>
              <a:rPr lang="en-US" sz="2400" i="1" dirty="0" smtClean="0">
                <a:solidFill>
                  <a:srgbClr val="C00000"/>
                </a:solidFill>
              </a:rPr>
              <a:t>no active session</a:t>
            </a:r>
            <a:r>
              <a:rPr lang="en-US" sz="2400" dirty="0" smtClean="0"/>
              <a:t>, the idle instance will be </a:t>
            </a:r>
            <a:r>
              <a:rPr lang="en-US" sz="2400" u="sng" dirty="0" smtClean="0"/>
              <a:t>removed</a:t>
            </a:r>
            <a:r>
              <a:rPr lang="en-US" sz="2400" dirty="0" smtClean="0"/>
              <a:t> from the load-balancer and be shutdown from the system.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PaaS</a:t>
            </a:r>
            <a:r>
              <a:rPr lang="en-US" dirty="0" smtClean="0"/>
              <a:t> Scalability Requirements [2]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 err="1" smtClean="0"/>
              <a:t>PaaS</a:t>
            </a:r>
            <a:r>
              <a:rPr lang="en-US" sz="2800" dirty="0" smtClean="0"/>
              <a:t>, where operating systems and middleware are virtualized and provided as a service to customers, promises an unprecedented ability of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increasing</a:t>
            </a:r>
            <a:r>
              <a:rPr lang="en-US" sz="2400" dirty="0" smtClean="0"/>
              <a:t> the capabilities  of allocated virtual resources, e.g. CPU, RAM, bandwidth… (scale up – vertical scaling)</a:t>
            </a:r>
          </a:p>
          <a:p>
            <a:pPr lvl="1"/>
            <a:r>
              <a:rPr lang="en-US" sz="2400" dirty="0" smtClean="0"/>
              <a:t>seamlessly adding </a:t>
            </a:r>
            <a:r>
              <a:rPr lang="en-US" sz="2400" i="1" dirty="0" smtClean="0">
                <a:solidFill>
                  <a:srgbClr val="C00000"/>
                </a:solidFill>
              </a:rPr>
              <a:t>new resources</a:t>
            </a:r>
            <a:r>
              <a:rPr lang="en-US" sz="2400" dirty="0" smtClean="0"/>
              <a:t>, e.g. new machines (scale out – horizontal scaling), and </a:t>
            </a:r>
          </a:p>
          <a:p>
            <a:pPr lvl="1"/>
            <a:r>
              <a:rPr lang="en-US" sz="2400" i="1" dirty="0" smtClean="0">
                <a:solidFill>
                  <a:srgbClr val="C00000"/>
                </a:solidFill>
              </a:rPr>
              <a:t>releasing </a:t>
            </a:r>
            <a:r>
              <a:rPr lang="en-US" sz="2400" dirty="0" smtClean="0"/>
              <a:t>them when they are no longer needed (scale down).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Single Platform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considers a </a:t>
            </a:r>
            <a:r>
              <a:rPr lang="en-US" sz="2400" i="1" dirty="0" smtClean="0">
                <a:solidFill>
                  <a:srgbClr val="C00000"/>
                </a:solidFill>
              </a:rPr>
              <a:t>single-tenant</a:t>
            </a:r>
            <a:r>
              <a:rPr lang="en-US" sz="2400" dirty="0" smtClean="0"/>
              <a:t> scenario.</a:t>
            </a:r>
          </a:p>
          <a:p>
            <a:r>
              <a:rPr lang="en-US" sz="2400" dirty="0" smtClean="0"/>
              <a:t>A </a:t>
            </a:r>
            <a:r>
              <a:rPr lang="en-US" sz="2400" u="sng" dirty="0" smtClean="0"/>
              <a:t>single, isolated, and complete virtual machine</a:t>
            </a:r>
            <a:r>
              <a:rPr lang="en-US" sz="2400" dirty="0" smtClean="0"/>
              <a:t> with a platform installed on it is released to </a:t>
            </a:r>
            <a:r>
              <a:rPr lang="en-US" sz="2400" i="1" dirty="0" smtClean="0">
                <a:solidFill>
                  <a:srgbClr val="C00000"/>
                </a:solidFill>
              </a:rPr>
              <a:t>each customer</a:t>
            </a:r>
            <a:r>
              <a:rPr lang="en-US" sz="2400" dirty="0" smtClean="0"/>
              <a:t> in the cloud.</a:t>
            </a:r>
          </a:p>
          <a:p>
            <a:r>
              <a:rPr lang="en-US" sz="2400" dirty="0" smtClean="0"/>
              <a:t>This pattern is characterized by </a:t>
            </a:r>
            <a:r>
              <a:rPr lang="en-US" sz="2400" i="1" dirty="0" smtClean="0">
                <a:solidFill>
                  <a:srgbClr val="C00000"/>
                </a:solidFill>
              </a:rPr>
              <a:t>scarce resource utilization</a:t>
            </a:r>
            <a:r>
              <a:rPr lang="en-US" sz="2400" dirty="0" smtClean="0"/>
              <a:t>, since the resource distribution is done in advance independently by the real load, and </a:t>
            </a:r>
            <a:r>
              <a:rPr lang="en-US" sz="2400" i="1" dirty="0" smtClean="0">
                <a:solidFill>
                  <a:srgbClr val="C00000"/>
                </a:solidFill>
              </a:rPr>
              <a:t>low scalability</a:t>
            </a:r>
            <a:r>
              <a:rPr lang="en-US" sz="2400" dirty="0" smtClean="0"/>
              <a:t>, because the number of virtual machines and platforms is linear in the number of customers.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Shared Platform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300" dirty="0" smtClean="0"/>
              <a:t>It considers a </a:t>
            </a:r>
            <a:r>
              <a:rPr lang="en-US" sz="2300" i="1" dirty="0" smtClean="0">
                <a:solidFill>
                  <a:srgbClr val="C00000"/>
                </a:solidFill>
              </a:rPr>
              <a:t>multitenant</a:t>
            </a:r>
            <a:r>
              <a:rPr lang="en-US" sz="2300" dirty="0" smtClean="0"/>
              <a:t> scenario where a </a:t>
            </a:r>
            <a:r>
              <a:rPr lang="en-US" sz="2300" u="sng" dirty="0" smtClean="0"/>
              <a:t>single platform is installed on a (set of) virtual machine</a:t>
            </a:r>
            <a:r>
              <a:rPr lang="en-US" sz="2300" dirty="0" smtClean="0"/>
              <a:t>.</a:t>
            </a:r>
          </a:p>
          <a:p>
            <a:r>
              <a:rPr lang="en-US" sz="2300" dirty="0" smtClean="0"/>
              <a:t>The platform is shared by multiple tenants, all having the right to manage a </a:t>
            </a:r>
            <a:r>
              <a:rPr lang="en-US" sz="2300" i="1" dirty="0" smtClean="0">
                <a:solidFill>
                  <a:srgbClr val="C00000"/>
                </a:solidFill>
              </a:rPr>
              <a:t>portion</a:t>
            </a:r>
            <a:r>
              <a:rPr lang="en-US" sz="2300" dirty="0" smtClean="0"/>
              <a:t> of it and deploy their services independently.</a:t>
            </a:r>
          </a:p>
          <a:p>
            <a:r>
              <a:rPr lang="en-US" sz="2300" dirty="0" smtClean="0"/>
              <a:t>Whenever the load increases degrading the performance metrics of the platform, </a:t>
            </a:r>
            <a:r>
              <a:rPr lang="en-US" sz="2300" i="1" dirty="0" smtClean="0">
                <a:solidFill>
                  <a:srgbClr val="C00000"/>
                </a:solidFill>
              </a:rPr>
              <a:t>RAM, CPU, and/or bandwidth</a:t>
            </a:r>
            <a:r>
              <a:rPr lang="en-US" sz="2300" dirty="0" smtClean="0"/>
              <a:t> can be increased.</a:t>
            </a:r>
          </a:p>
          <a:p>
            <a:r>
              <a:rPr lang="en-US" sz="2300" dirty="0" smtClean="0"/>
              <a:t>Resources are shared and need to be managed in a way that preserves security and </a:t>
            </a:r>
            <a:r>
              <a:rPr lang="en-US" sz="2300" i="1" dirty="0" smtClean="0">
                <a:solidFill>
                  <a:srgbClr val="C00000"/>
                </a:solidFill>
              </a:rPr>
              <a:t>isolation</a:t>
            </a:r>
            <a:r>
              <a:rPr lang="en-US" sz="2300" dirty="0" smtClean="0"/>
              <a:t> among tenants.</a:t>
            </a:r>
          </a:p>
          <a:p>
            <a:r>
              <a:rPr lang="en-US" sz="2300" dirty="0" err="1" smtClean="0"/>
              <a:t>ShPP</a:t>
            </a:r>
            <a:r>
              <a:rPr lang="en-US" sz="2300" dirty="0" smtClean="0"/>
              <a:t> provides </a:t>
            </a:r>
            <a:r>
              <a:rPr lang="en-US" sz="2300" i="1" dirty="0" smtClean="0">
                <a:solidFill>
                  <a:srgbClr val="C00000"/>
                </a:solidFill>
              </a:rPr>
              <a:t>high utilization</a:t>
            </a:r>
            <a:r>
              <a:rPr lang="en-US" sz="2300" dirty="0" smtClean="0"/>
              <a:t>, while it does not provide linear scalability increase due to the additional overhead for </a:t>
            </a:r>
            <a:r>
              <a:rPr lang="en-US" sz="2300" i="1" dirty="0" smtClean="0">
                <a:solidFill>
                  <a:srgbClr val="C00000"/>
                </a:solidFill>
              </a:rPr>
              <a:t>resource management</a:t>
            </a:r>
            <a:r>
              <a:rPr lang="en-US" sz="2300" dirty="0" smtClean="0"/>
              <a:t>.</a:t>
            </a:r>
            <a:endParaRPr lang="en-US" sz="2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Clustered Platform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</a:t>
            </a:r>
            <a:r>
              <a:rPr lang="en-US" sz="2400" i="1" dirty="0" smtClean="0">
                <a:solidFill>
                  <a:srgbClr val="C00000"/>
                </a:solidFill>
              </a:rPr>
              <a:t>single platform</a:t>
            </a:r>
            <a:r>
              <a:rPr lang="en-US" sz="2400" dirty="0" smtClean="0"/>
              <a:t> is deployed supporting clustering and is shared by all tenants.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Multiple instances</a:t>
            </a:r>
            <a:r>
              <a:rPr lang="en-US" sz="2400" dirty="0" smtClean="0"/>
              <a:t> of the platform components (e.g., AS, ESB) can be deployed in different machines of the cluster.</a:t>
            </a:r>
          </a:p>
          <a:p>
            <a:r>
              <a:rPr lang="en-US" sz="2400" dirty="0" smtClean="0"/>
              <a:t>This pattern manages shared resources preserving security and isolation among tenants. In addition, it implements a set of functionalities including </a:t>
            </a:r>
            <a:r>
              <a:rPr lang="en-US" sz="2400" i="1" dirty="0" smtClean="0">
                <a:solidFill>
                  <a:srgbClr val="C00000"/>
                </a:solidFill>
              </a:rPr>
              <a:t>load balancing</a:t>
            </a:r>
            <a:r>
              <a:rPr lang="en-US" sz="2400" dirty="0" smtClean="0"/>
              <a:t>, </a:t>
            </a:r>
            <a:r>
              <a:rPr lang="en-US" sz="2400" i="1" dirty="0" err="1" smtClean="0">
                <a:solidFill>
                  <a:srgbClr val="C00000"/>
                </a:solidFill>
              </a:rPr>
              <a:t>PaaS</a:t>
            </a:r>
            <a:r>
              <a:rPr lang="en-US" sz="2400" i="1" dirty="0" smtClean="0">
                <a:solidFill>
                  <a:srgbClr val="C00000"/>
                </a:solidFill>
              </a:rPr>
              <a:t> monitoring</a:t>
            </a:r>
            <a:r>
              <a:rPr lang="en-US" sz="2400" dirty="0" smtClean="0"/>
              <a:t>, and </a:t>
            </a:r>
            <a:r>
              <a:rPr lang="en-US" sz="2400" i="1" dirty="0" smtClean="0">
                <a:solidFill>
                  <a:srgbClr val="C00000"/>
                </a:solidFill>
              </a:rPr>
              <a:t>elastic auto-scaling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CPP provides high resource </a:t>
            </a:r>
            <a:r>
              <a:rPr lang="en-US" sz="2400" i="1" dirty="0" smtClean="0">
                <a:solidFill>
                  <a:srgbClr val="C00000"/>
                </a:solidFill>
              </a:rPr>
              <a:t>utilization</a:t>
            </a:r>
            <a:r>
              <a:rPr lang="en-US" sz="2400" dirty="0" smtClean="0"/>
              <a:t>, since the machines in the cluster are shared among different tenants, system resources can be incrementally extended. CPP promises high availability and reliability due to the introduced </a:t>
            </a:r>
            <a:r>
              <a:rPr lang="en-US" sz="2400" i="1" dirty="0" smtClean="0">
                <a:solidFill>
                  <a:srgbClr val="C00000"/>
                </a:solidFill>
              </a:rPr>
              <a:t>redundancy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Multiple Shared Platforms 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 smtClean="0"/>
              <a:t>It is an extension of </a:t>
            </a:r>
            <a:r>
              <a:rPr lang="en-US" sz="2600" dirty="0" err="1" smtClean="0"/>
              <a:t>ShPP</a:t>
            </a:r>
            <a:r>
              <a:rPr lang="en-US" sz="2600" dirty="0" smtClean="0"/>
              <a:t> and </a:t>
            </a:r>
            <a:r>
              <a:rPr lang="en-US" sz="2600" i="1" dirty="0" smtClean="0">
                <a:solidFill>
                  <a:srgbClr val="C00000"/>
                </a:solidFill>
              </a:rPr>
              <a:t>mix</a:t>
            </a:r>
            <a:r>
              <a:rPr lang="en-US" sz="2600" dirty="0" smtClean="0"/>
              <a:t> both vertical and horizontal scaling.</a:t>
            </a:r>
          </a:p>
          <a:p>
            <a:r>
              <a:rPr lang="en-US" sz="2600" dirty="0" smtClean="0"/>
              <a:t>At initialization time, a </a:t>
            </a:r>
            <a:r>
              <a:rPr lang="en-US" sz="2600" i="1" dirty="0" smtClean="0">
                <a:solidFill>
                  <a:srgbClr val="C00000"/>
                </a:solidFill>
              </a:rPr>
              <a:t>single</a:t>
            </a:r>
            <a:r>
              <a:rPr lang="en-US" sz="2600" dirty="0" smtClean="0"/>
              <a:t>, shared, multi-tenant platform is deployed.</a:t>
            </a:r>
          </a:p>
          <a:p>
            <a:r>
              <a:rPr lang="en-US" sz="2600" dirty="0" smtClean="0"/>
              <a:t>Upon an increase in the load, additional resources (</a:t>
            </a:r>
            <a:r>
              <a:rPr lang="en-US" sz="2600" i="1" dirty="0" smtClean="0">
                <a:solidFill>
                  <a:srgbClr val="C00000"/>
                </a:solidFill>
              </a:rPr>
              <a:t>CPU, RAM, bandwidth</a:t>
            </a:r>
            <a:r>
              <a:rPr lang="en-US" sz="2600" dirty="0" smtClean="0"/>
              <a:t>) are assigned to maintain the performance metrics.</a:t>
            </a:r>
          </a:p>
          <a:p>
            <a:r>
              <a:rPr lang="en-US" sz="2600" dirty="0" smtClean="0"/>
              <a:t>In case additional resources are not sufficient, a new platform is deployed and a part of the existing tenants are </a:t>
            </a:r>
            <a:r>
              <a:rPr lang="en-US" sz="2600" i="1" dirty="0" smtClean="0">
                <a:solidFill>
                  <a:srgbClr val="C00000"/>
                </a:solidFill>
              </a:rPr>
              <a:t>migrated</a:t>
            </a:r>
            <a:r>
              <a:rPr lang="en-US" sz="2600" dirty="0" smtClean="0"/>
              <a:t> to the new platform together with the services they own.</a:t>
            </a:r>
            <a:endParaRPr lang="en-US" sz="2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Multiple Clustered Platforms Pattern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is an extension of CPP and provides horizontal scaling at two levels of abstraction.</a:t>
            </a:r>
          </a:p>
          <a:p>
            <a:r>
              <a:rPr lang="en-US" sz="2400" dirty="0" smtClean="0"/>
              <a:t>At initialization time, a </a:t>
            </a:r>
            <a:r>
              <a:rPr lang="en-US" sz="2400" i="1" dirty="0" smtClean="0">
                <a:solidFill>
                  <a:srgbClr val="C00000"/>
                </a:solidFill>
              </a:rPr>
              <a:t>single</a:t>
            </a:r>
            <a:r>
              <a:rPr lang="en-US" sz="2400" dirty="0" smtClean="0"/>
              <a:t>, shared, multi-tenant platform supporting clustering is deployed.</a:t>
            </a:r>
          </a:p>
          <a:p>
            <a:r>
              <a:rPr lang="en-US" sz="2400" dirty="0" smtClean="0"/>
              <a:t>Upon an increase in the load, additional resources (i.e., </a:t>
            </a:r>
            <a:r>
              <a:rPr lang="en-US" sz="2400" i="1" dirty="0" smtClean="0">
                <a:solidFill>
                  <a:srgbClr val="C00000"/>
                </a:solidFill>
              </a:rPr>
              <a:t>machines</a:t>
            </a:r>
            <a:r>
              <a:rPr lang="en-US" sz="2400" dirty="0" smtClean="0"/>
              <a:t> in the cluster) are added to maintain the performance level.</a:t>
            </a:r>
          </a:p>
          <a:p>
            <a:r>
              <a:rPr lang="en-US" sz="2400" dirty="0" smtClean="0"/>
              <a:t>In case the extended cluster is not sufficient to manage the new load, a new platform supporting clustering is deployed, and a part of the existing tenants are </a:t>
            </a:r>
            <a:r>
              <a:rPr lang="en-US" sz="2400" i="1" dirty="0" smtClean="0">
                <a:solidFill>
                  <a:srgbClr val="C00000"/>
                </a:solidFill>
              </a:rPr>
              <a:t>migrated</a:t>
            </a:r>
            <a:r>
              <a:rPr lang="en-US" sz="2400" dirty="0" smtClean="0"/>
              <a:t> to the new clustered platform together with the services they own.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PaaS</a:t>
            </a:r>
            <a:r>
              <a:rPr lang="en-US" dirty="0" smtClean="0"/>
              <a:t> Scalability Pattern Evaluation</a:t>
            </a: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4800" y="1752598"/>
          <a:ext cx="8458200" cy="4572001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1691640"/>
                <a:gridCol w="1691640"/>
                <a:gridCol w="1691640"/>
                <a:gridCol w="1691640"/>
                <a:gridCol w="1691640"/>
              </a:tblGrid>
              <a:tr h="849791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Pattern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Manageability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Resource </a:t>
                      </a:r>
                      <a:endParaRPr lang="en-US" sz="2200" u="none" strike="noStrike" dirty="0" smtClean="0"/>
                    </a:p>
                    <a:p>
                      <a:pPr algn="ctr" fontAlgn="b"/>
                      <a:r>
                        <a:rPr lang="en-US" sz="2200" u="none" strike="noStrike" kern="1200" dirty="0" smtClean="0"/>
                        <a:t>Utilization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Scalability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Availability </a:t>
                      </a:r>
                      <a:endParaRPr lang="en-US" sz="2200" u="none" strike="noStrike" dirty="0" smtClean="0"/>
                    </a:p>
                    <a:p>
                      <a:pPr algn="ctr" fontAlgn="b"/>
                      <a:r>
                        <a:rPr lang="en-US" sz="2200" u="none" strike="noStrike" kern="1200" dirty="0" smtClean="0"/>
                        <a:t>Reliability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6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SPP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High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Low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Low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Medium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958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ShPP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Medium/High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High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Medium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Low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6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CPP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Medium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High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Medium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High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6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MShPP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Low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High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High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Medium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656"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MCPP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Low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/>
                        <a:t>High </a:t>
                      </a:r>
                      <a:endParaRPr lang="en-US" sz="2200" b="0" i="0" u="none" strike="noStrike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High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200" u="none" strike="noStrike" dirty="0"/>
                        <a:t>High </a:t>
                      </a:r>
                      <a:endParaRPr lang="en-US" sz="2200" b="0" i="0" u="none" strike="noStrike" dirty="0">
                        <a:solidFill>
                          <a:srgbClr val="000000"/>
                        </a:solidFill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State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Usually a cloud-based application </a:t>
            </a:r>
            <a:r>
              <a:rPr lang="en-US" sz="2400" i="1" dirty="0" smtClean="0">
                <a:solidFill>
                  <a:srgbClr val="C00000"/>
                </a:solidFill>
              </a:rPr>
              <a:t>maintain user session</a:t>
            </a:r>
            <a:r>
              <a:rPr lang="en-US" sz="2400" dirty="0" smtClean="0"/>
              <a:t> on its server side to authorize her at every request.</a:t>
            </a:r>
          </a:p>
          <a:p>
            <a:r>
              <a:rPr lang="en-US" sz="2400" dirty="0" smtClean="0"/>
              <a:t>Session is also used </a:t>
            </a:r>
            <a:r>
              <a:rPr lang="en-US" sz="2400" i="1" dirty="0" smtClean="0">
                <a:solidFill>
                  <a:srgbClr val="C00000"/>
                </a:solidFill>
              </a:rPr>
              <a:t>map the user requests to user data</a:t>
            </a:r>
            <a:r>
              <a:rPr lang="en-US" sz="2400" dirty="0" smtClean="0"/>
              <a:t> in some designs.</a:t>
            </a:r>
          </a:p>
          <a:p>
            <a:r>
              <a:rPr lang="en-US" sz="2400" dirty="0" smtClean="0"/>
              <a:t>A </a:t>
            </a:r>
            <a:r>
              <a:rPr lang="en-US" sz="2400" u="sng" dirty="0" smtClean="0"/>
              <a:t>common approach</a:t>
            </a:r>
            <a:r>
              <a:rPr lang="en-US" sz="2400" dirty="0" smtClean="0"/>
              <a:t> is to </a:t>
            </a:r>
            <a:r>
              <a:rPr lang="en-US" sz="2400" i="1" dirty="0" smtClean="0">
                <a:solidFill>
                  <a:srgbClr val="C00000"/>
                </a:solidFill>
              </a:rPr>
              <a:t>store session data in memory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Unfortunately, this approach </a:t>
            </a:r>
            <a:r>
              <a:rPr lang="en-US" sz="2400" i="1" dirty="0" smtClean="0">
                <a:solidFill>
                  <a:srgbClr val="C00000"/>
                </a:solidFill>
              </a:rPr>
              <a:t>doesn't scale very well</a:t>
            </a:r>
            <a:r>
              <a:rPr lang="en-US" sz="2400" dirty="0" smtClean="0"/>
              <a:t> because the moment the application scales out beyond a single server, it becomes a necessity that the session state must </a:t>
            </a:r>
            <a:r>
              <a:rPr lang="en-US" sz="2400" i="1" dirty="0" smtClean="0">
                <a:solidFill>
                  <a:srgbClr val="C00000"/>
                </a:solidFill>
              </a:rPr>
              <a:t>be shared</a:t>
            </a:r>
            <a:r>
              <a:rPr lang="en-US" sz="2400" dirty="0" smtClean="0"/>
              <a:t> between multiple servers.</a:t>
            </a:r>
          </a:p>
          <a:p>
            <a:r>
              <a:rPr lang="en-US" sz="2400" dirty="0" smtClean="0"/>
              <a:t>The common solution is to </a:t>
            </a:r>
            <a:r>
              <a:rPr lang="en-US" sz="2400" i="1" dirty="0" smtClean="0">
                <a:solidFill>
                  <a:srgbClr val="C00000"/>
                </a:solidFill>
              </a:rPr>
              <a:t>store session state</a:t>
            </a:r>
            <a:r>
              <a:rPr lang="en-US" sz="2400" dirty="0" smtClean="0"/>
              <a:t> on altogether </a:t>
            </a:r>
            <a:r>
              <a:rPr lang="en-US" sz="2400" u="sng" dirty="0" smtClean="0"/>
              <a:t>different data store</a:t>
            </a:r>
            <a:r>
              <a:rPr lang="en-US" sz="2400" dirty="0" smtClean="0"/>
              <a:t> and share it with all the servers.</a:t>
            </a:r>
          </a:p>
          <a:p>
            <a:endParaRPr lang="en-US" sz="2400" dirty="0" smtClean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Statelessness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Statelessness</a:t>
            </a:r>
            <a:r>
              <a:rPr lang="en-US" sz="2800" dirty="0" smtClean="0"/>
              <a:t> is an important property that every cloud-based application needs to posses in order to achieve scalability and availability.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http://terracotta.org/products/web-sessions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http://aws.amazon.com/elasticache/</a:t>
            </a:r>
            <a:endParaRPr lang="en-US" sz="2400" dirty="0" smtClean="0"/>
          </a:p>
          <a:p>
            <a:r>
              <a:rPr lang="en-US" sz="2400" dirty="0" smtClean="0"/>
              <a:t>Synchronization with RDS (</a:t>
            </a:r>
            <a:r>
              <a:rPr lang="en-US" sz="2400" dirty="0" err="1" smtClean="0"/>
              <a:t>MySQL</a:t>
            </a:r>
            <a:r>
              <a:rPr lang="en-US" sz="2400" dirty="0" smtClean="0"/>
              <a:t>, Oracle, MS SQL)</a:t>
            </a:r>
          </a:p>
          <a:p>
            <a:r>
              <a:rPr lang="en-US" sz="2400" dirty="0" smtClean="0">
                <a:hlinkClick r:id="rId4"/>
              </a:rPr>
              <a:t>http://aws.amazon.com/dynamodb/</a:t>
            </a:r>
            <a:endParaRPr lang="en-US" sz="2400" dirty="0" smtClean="0"/>
          </a:p>
          <a:p>
            <a:r>
              <a:rPr lang="en-US" sz="2400" dirty="0" smtClean="0">
                <a:hlinkClick r:id="rId5"/>
              </a:rPr>
              <a:t>http://www.couchbase.com</a:t>
            </a:r>
            <a:endParaRPr lang="en-US" sz="2400" dirty="0" smtClean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Elasticity [3]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Elasticity</a:t>
            </a:r>
            <a:r>
              <a:rPr lang="en-US" sz="2400" dirty="0" smtClean="0"/>
              <a:t>, the key driver of cloud computing, is the ability of a distributed application to dynamically </a:t>
            </a:r>
            <a:r>
              <a:rPr lang="en-US" sz="2400" u="sng" dirty="0" smtClean="0"/>
              <a:t>increase or decrease</a:t>
            </a:r>
            <a:r>
              <a:rPr lang="en-US" sz="2400" dirty="0" smtClean="0"/>
              <a:t> its use of </a:t>
            </a:r>
            <a:r>
              <a:rPr lang="en-US" sz="2400" u="sng" dirty="0" smtClean="0"/>
              <a:t>computing resources</a:t>
            </a:r>
            <a:r>
              <a:rPr lang="en-US" sz="2400" dirty="0" smtClean="0"/>
              <a:t>, to preserve its performance in response to varying workloads.</a:t>
            </a:r>
          </a:p>
          <a:p>
            <a:r>
              <a:rPr lang="en-US" sz="2400" i="1" dirty="0" smtClean="0">
                <a:solidFill>
                  <a:srgbClr val="C00000"/>
                </a:solidFill>
              </a:rPr>
              <a:t>Implicit elasticity</a:t>
            </a:r>
            <a:r>
              <a:rPr lang="en-US" sz="2400" dirty="0" smtClean="0"/>
              <a:t> is typically associated with a specific programming </a:t>
            </a:r>
            <a:r>
              <a:rPr lang="en-US" sz="2400" u="sng" dirty="0" smtClean="0"/>
              <a:t>framework</a:t>
            </a:r>
            <a:r>
              <a:rPr lang="en-US" sz="2400" dirty="0" smtClean="0"/>
              <a:t> or a </a:t>
            </a:r>
            <a:r>
              <a:rPr lang="en-US" sz="2400" u="sng" dirty="0" smtClean="0"/>
              <a:t>Platform-as-a-Service</a:t>
            </a:r>
            <a:r>
              <a:rPr lang="en-US" sz="2400" dirty="0" smtClean="0"/>
              <a:t> (</a:t>
            </a:r>
            <a:r>
              <a:rPr lang="en-US" sz="2400" dirty="0" err="1" smtClean="0"/>
              <a:t>PaaS</a:t>
            </a:r>
            <a:r>
              <a:rPr lang="en-US" sz="2400" dirty="0" smtClean="0"/>
              <a:t>) cloud.</a:t>
            </a:r>
          </a:p>
          <a:p>
            <a:r>
              <a:rPr lang="en-US" sz="2400" dirty="0" smtClean="0"/>
              <a:t>Implicit elasticity is </a:t>
            </a:r>
            <a:r>
              <a:rPr lang="en-US" sz="2400" u="sng" dirty="0" smtClean="0"/>
              <a:t>handled by the </a:t>
            </a:r>
            <a:r>
              <a:rPr lang="en-US" sz="2400" u="sng" dirty="0" err="1" smtClean="0"/>
              <a:t>PaaS</a:t>
            </a:r>
            <a:r>
              <a:rPr lang="en-US" sz="2400" u="sng" dirty="0" smtClean="0"/>
              <a:t> implementation</a:t>
            </a:r>
            <a:r>
              <a:rPr lang="en-US" sz="2400" dirty="0" smtClean="0"/>
              <a:t> and is </a:t>
            </a:r>
            <a:r>
              <a:rPr lang="en-US" sz="2400" i="1" dirty="0" smtClean="0">
                <a:solidFill>
                  <a:srgbClr val="C00000"/>
                </a:solidFill>
              </a:rPr>
              <a:t>not</a:t>
            </a:r>
            <a:r>
              <a:rPr lang="en-US" sz="2400" dirty="0" smtClean="0"/>
              <a:t> the </a:t>
            </a:r>
            <a:r>
              <a:rPr lang="en-US" sz="2400" u="sng" dirty="0" smtClean="0"/>
              <a:t>responsibility</a:t>
            </a:r>
            <a:r>
              <a:rPr lang="en-US" sz="2400" dirty="0" smtClean="0"/>
              <a:t> of the </a:t>
            </a:r>
            <a:r>
              <a:rPr lang="en-US" sz="2400" u="sng" dirty="0" smtClean="0"/>
              <a:t>programmer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Explicit Elasticity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i="1" dirty="0" smtClean="0">
                <a:solidFill>
                  <a:srgbClr val="C00000"/>
                </a:solidFill>
              </a:rPr>
              <a:t>Explicit Elasticity</a:t>
            </a:r>
            <a:r>
              <a:rPr lang="en-US" sz="2400" dirty="0" smtClean="0"/>
              <a:t> is typically associated with </a:t>
            </a:r>
            <a:r>
              <a:rPr lang="en-US" sz="2400" u="sng" dirty="0" smtClean="0"/>
              <a:t>Infrastructure as-a-Service</a:t>
            </a:r>
            <a:r>
              <a:rPr lang="en-US" sz="2400" dirty="0" smtClean="0"/>
              <a:t> (</a:t>
            </a:r>
            <a:r>
              <a:rPr lang="en-US" sz="2400" dirty="0" err="1" smtClean="0"/>
              <a:t>IaaS</a:t>
            </a:r>
            <a:r>
              <a:rPr lang="en-US" sz="2400" dirty="0" smtClean="0"/>
              <a:t>) clouds and/or </a:t>
            </a:r>
            <a:r>
              <a:rPr lang="en-US" sz="2400" u="sng" dirty="0" smtClean="0"/>
              <a:t>private data centers</a:t>
            </a:r>
            <a:r>
              <a:rPr lang="en-US" sz="2400" dirty="0" smtClean="0"/>
              <a:t>, which typically provide elasticity at the granularity of virtualized compute nodes (e.g., Amazon EC2) or virtualized storage (e.g., Amazon Elastic Block Store (EBS)) in a way that is </a:t>
            </a:r>
            <a:r>
              <a:rPr lang="en-US" sz="2400" u="sng" dirty="0" smtClean="0"/>
              <a:t>agnostic of the application</a:t>
            </a:r>
            <a:r>
              <a:rPr lang="en-US" sz="2400" dirty="0" smtClean="0"/>
              <a:t> using these resources.</a:t>
            </a:r>
          </a:p>
          <a:p>
            <a:r>
              <a:rPr lang="en-US" sz="2400" dirty="0" smtClean="0"/>
              <a:t>It is the application </a:t>
            </a:r>
            <a:r>
              <a:rPr lang="en-US" sz="2400" i="1" dirty="0" smtClean="0">
                <a:solidFill>
                  <a:srgbClr val="C00000"/>
                </a:solidFill>
              </a:rPr>
              <a:t>developer‘s</a:t>
            </a:r>
            <a:r>
              <a:rPr lang="en-US" sz="2400" dirty="0" smtClean="0"/>
              <a:t> or the </a:t>
            </a:r>
            <a:r>
              <a:rPr lang="en-US" sz="2400" i="1" dirty="0" smtClean="0">
                <a:solidFill>
                  <a:srgbClr val="C00000"/>
                </a:solidFill>
              </a:rPr>
              <a:t>system administrator's</a:t>
            </a:r>
            <a:r>
              <a:rPr lang="en-US" sz="2400" dirty="0" smtClean="0"/>
              <a:t> </a:t>
            </a:r>
            <a:r>
              <a:rPr lang="en-US" sz="2400" u="sng" dirty="0" smtClean="0"/>
              <a:t>responsibility</a:t>
            </a:r>
            <a:r>
              <a:rPr lang="en-US" sz="2400" dirty="0" smtClean="0"/>
              <a:t> to implement robust mechanisms to monitor the application's performance at runtime, request the addition or removal of resources, and perform </a:t>
            </a:r>
            <a:r>
              <a:rPr lang="en-US" sz="2400" u="sng" dirty="0" smtClean="0"/>
              <a:t>load-balancing</a:t>
            </a:r>
            <a:r>
              <a:rPr lang="en-US" sz="2400" dirty="0" smtClean="0"/>
              <a:t>, i.e., redistribute the application‘s workload among the new set of resources.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Programmable Elasticity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optimize the performance of new or existing distributed applications while deploying or moving them to the cloud, engineering robust </a:t>
            </a:r>
            <a:r>
              <a:rPr lang="en-US" sz="2400" i="1" dirty="0" smtClean="0">
                <a:solidFill>
                  <a:srgbClr val="C00000"/>
                </a:solidFill>
              </a:rPr>
              <a:t>elasticity management components</a:t>
            </a:r>
            <a:r>
              <a:rPr lang="en-US" sz="2400" dirty="0" smtClean="0"/>
              <a:t> is essential.</a:t>
            </a:r>
          </a:p>
          <a:p>
            <a:r>
              <a:rPr lang="en-US" sz="2400" dirty="0" smtClean="0"/>
              <a:t>This is especially vital for applications that do </a:t>
            </a:r>
            <a:r>
              <a:rPr lang="en-US" sz="2400" i="1" dirty="0" smtClean="0">
                <a:solidFill>
                  <a:srgbClr val="C00000"/>
                </a:solidFill>
              </a:rPr>
              <a:t>not</a:t>
            </a:r>
            <a:r>
              <a:rPr lang="en-US" sz="2400" dirty="0" smtClean="0"/>
              <a:t> fit the programming model of (implicit) elastic frameworks like </a:t>
            </a:r>
            <a:r>
              <a:rPr lang="en-US" sz="2400" dirty="0" err="1" smtClean="0"/>
              <a:t>Hadoop</a:t>
            </a:r>
            <a:r>
              <a:rPr lang="en-US" sz="2400" dirty="0" smtClean="0"/>
              <a:t>, Pig, etc., but require high performance (high throughput and low latency), scalability and elasticity.</a:t>
            </a:r>
          </a:p>
          <a:p>
            <a:r>
              <a:rPr lang="en-US" sz="2400" dirty="0" smtClean="0"/>
              <a:t>Elasticity frameworks which rely on externally observable resource utilization metrics (CPU, RAM, etc.) are </a:t>
            </a:r>
            <a:r>
              <a:rPr lang="en-US" sz="2400" i="1" dirty="0" smtClean="0">
                <a:solidFill>
                  <a:srgbClr val="C00000"/>
                </a:solidFill>
              </a:rPr>
              <a:t>insufficient</a:t>
            </a:r>
            <a:r>
              <a:rPr lang="en-US" sz="2400" b="1" i="1" dirty="0" smtClean="0"/>
              <a:t> </a:t>
            </a:r>
            <a:r>
              <a:rPr lang="en-US" sz="2400" dirty="0" smtClean="0"/>
              <a:t>for such applications.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Elasticity Management Component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Hence, there is an emerging need for a elasticity framework that bridges the gap between implicit and explicit elasticity, allowing the use fine grained </a:t>
            </a:r>
            <a:r>
              <a:rPr lang="en-US" sz="2400" i="1" dirty="0" smtClean="0">
                <a:solidFill>
                  <a:srgbClr val="C00000"/>
                </a:solidFill>
              </a:rPr>
              <a:t>application specific metrics</a:t>
            </a:r>
            <a:r>
              <a:rPr lang="en-US" sz="2400" dirty="0" smtClean="0"/>
              <a:t> (e.g., size of a queue/heap, number of aborted transactions or average number of attempts to acquire certain locks) to build an elasticity management component right into the application.</a:t>
            </a:r>
            <a:endParaRPr lang="en-US" sz="2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ElasticRMI</a:t>
            </a:r>
            <a:r>
              <a:rPr lang="en-US" dirty="0" smtClean="0"/>
              <a:t>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505200"/>
            <a:ext cx="8229600" cy="2620963"/>
          </a:xfrm>
        </p:spPr>
        <p:txBody>
          <a:bodyPr/>
          <a:lstStyle/>
          <a:p>
            <a:r>
              <a:rPr lang="en-US" sz="2000" dirty="0" smtClean="0"/>
              <a:t>Like any Java application, an </a:t>
            </a:r>
            <a:r>
              <a:rPr lang="en-US" sz="2000" dirty="0" err="1" smtClean="0"/>
              <a:t>ElasticRMI</a:t>
            </a:r>
            <a:r>
              <a:rPr lang="en-US" sz="2000" dirty="0" smtClean="0"/>
              <a:t> application consists of multiple components (implemented as classes) interacting with each other.</a:t>
            </a:r>
          </a:p>
          <a:p>
            <a:r>
              <a:rPr lang="en-US" sz="2000" dirty="0" smtClean="0"/>
              <a:t>The basic elasticity abstraction in </a:t>
            </a:r>
            <a:r>
              <a:rPr lang="en-US" sz="2000" dirty="0" err="1" smtClean="0"/>
              <a:t>ElasticRMI</a:t>
            </a:r>
            <a:r>
              <a:rPr lang="en-US" sz="2000" dirty="0" smtClean="0"/>
              <a:t> is an elastic class.</a:t>
            </a:r>
          </a:p>
          <a:p>
            <a:r>
              <a:rPr lang="en-US" sz="2000" dirty="0" smtClean="0"/>
              <a:t>An elastic class is also a remote class, and (some) of its methods may be invoked remotely from another JVM.</a:t>
            </a:r>
          </a:p>
          <a:p>
            <a:r>
              <a:rPr lang="en-US" sz="2000" dirty="0" smtClean="0"/>
              <a:t>The key </a:t>
            </a:r>
            <a:r>
              <a:rPr lang="en-US" sz="2000" dirty="0" err="1" smtClean="0"/>
              <a:t>dierence</a:t>
            </a:r>
            <a:r>
              <a:rPr lang="en-US" sz="2000" dirty="0" smtClean="0"/>
              <a:t> between an elastic and a regular remote class is that an elastic class is instantiated into a pool of objects (referred to as elastic object pool), with each object executing on a separate JVM.</a:t>
            </a:r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1524000"/>
            <a:ext cx="6595110" cy="1642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 Pools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2316163"/>
          </a:xfrm>
        </p:spPr>
        <p:txBody>
          <a:bodyPr/>
          <a:lstStyle/>
          <a:p>
            <a:r>
              <a:rPr lang="en-US" sz="2000" dirty="0" smtClean="0"/>
              <a:t>An elastic class can only be </a:t>
            </a:r>
            <a:r>
              <a:rPr lang="en-US" sz="2000" i="1" dirty="0" smtClean="0">
                <a:solidFill>
                  <a:srgbClr val="C00000"/>
                </a:solidFill>
              </a:rPr>
              <a:t>instantiated</a:t>
            </a:r>
            <a:r>
              <a:rPr lang="en-US" sz="2000" dirty="0" smtClean="0"/>
              <a:t> by providing a minimum and maximum number of objects that constitute its </a:t>
            </a:r>
            <a:r>
              <a:rPr lang="en-US" sz="2000" i="1" dirty="0" smtClean="0">
                <a:solidFill>
                  <a:srgbClr val="C00000"/>
                </a:solidFill>
              </a:rPr>
              <a:t>elastic object pool</a:t>
            </a:r>
            <a:r>
              <a:rPr lang="en-US" sz="2000" dirty="0" smtClean="0"/>
              <a:t>. </a:t>
            </a:r>
          </a:p>
          <a:p>
            <a:r>
              <a:rPr lang="en-US" sz="2000" dirty="0" smtClean="0"/>
              <a:t>Obviously, instantiating all objects in the pool on separate JVMs on the </a:t>
            </a:r>
            <a:r>
              <a:rPr lang="en-US" sz="2000" i="1" dirty="0" smtClean="0">
                <a:solidFill>
                  <a:srgbClr val="C00000"/>
                </a:solidFill>
              </a:rPr>
              <a:t>same</a:t>
            </a:r>
            <a:r>
              <a:rPr lang="en-US" sz="2000" dirty="0" smtClean="0"/>
              <a:t> physical machine may degrade performance.</a:t>
            </a:r>
          </a:p>
          <a:p>
            <a:r>
              <a:rPr lang="en-US" sz="2000" dirty="0" smtClean="0"/>
              <a:t>Hence, </a:t>
            </a:r>
            <a:r>
              <a:rPr lang="en-US" sz="2000" dirty="0" err="1" smtClean="0"/>
              <a:t>ElasticRMI</a:t>
            </a:r>
            <a:r>
              <a:rPr lang="en-US" sz="2000" dirty="0" smtClean="0"/>
              <a:t> attempts to instantiate each object in a virtual node in a </a:t>
            </a:r>
            <a:r>
              <a:rPr lang="en-US" sz="2000" i="1" dirty="0" smtClean="0">
                <a:solidFill>
                  <a:srgbClr val="C00000"/>
                </a:solidFill>
              </a:rPr>
              <a:t>compute cluster</a:t>
            </a:r>
            <a:r>
              <a:rPr lang="en-US" sz="2000" dirty="0" smtClean="0"/>
              <a:t>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752600"/>
            <a:ext cx="421005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 Nodes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2316163"/>
          </a:xfrm>
        </p:spPr>
        <p:txBody>
          <a:bodyPr/>
          <a:lstStyle/>
          <a:p>
            <a:r>
              <a:rPr lang="en-US" sz="2000" dirty="0" smtClean="0"/>
              <a:t>Virtual nodes can be obtained either (1) from </a:t>
            </a:r>
            <a:r>
              <a:rPr lang="en-US" sz="2000" dirty="0" err="1" smtClean="0"/>
              <a:t>IaaS</a:t>
            </a:r>
            <a:r>
              <a:rPr lang="en-US" sz="2000" dirty="0" smtClean="0"/>
              <a:t> clouds by provisioning and instantiating virtual machines, or (2) from a cluster management/resource sharing system like Apache </a:t>
            </a:r>
            <a:r>
              <a:rPr lang="en-US" sz="2000" dirty="0" err="1" smtClean="0"/>
              <a:t>Mesos</a:t>
            </a:r>
            <a:r>
              <a:rPr lang="en-US" sz="2000" dirty="0" smtClean="0"/>
              <a:t>.</a:t>
            </a:r>
          </a:p>
          <a:p>
            <a:r>
              <a:rPr lang="en-US" sz="2000" dirty="0" smtClean="0">
                <a:hlinkClick r:id="rId2"/>
              </a:rPr>
              <a:t>http://mesos.apache.org/</a:t>
            </a:r>
            <a:endParaRPr lang="en-US" sz="2000" dirty="0" smtClean="0"/>
          </a:p>
          <a:p>
            <a:r>
              <a:rPr lang="en-US" sz="2000" dirty="0" smtClean="0"/>
              <a:t>Apache </a:t>
            </a:r>
            <a:r>
              <a:rPr lang="en-US" sz="2000" dirty="0" err="1" smtClean="0"/>
              <a:t>Mesos</a:t>
            </a:r>
            <a:r>
              <a:rPr lang="en-US" sz="2000" dirty="0" smtClean="0"/>
              <a:t> abstracts CPU, memory, storage, and other compute resources away from machines (physical or virtual), enabling fault-tolerant and elastic distributed systems to easily be built and run effectively.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4600" y="1524000"/>
            <a:ext cx="421005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810000"/>
            <a:ext cx="8229600" cy="2316163"/>
          </a:xfrm>
        </p:spPr>
        <p:txBody>
          <a:bodyPr/>
          <a:lstStyle/>
          <a:p>
            <a:r>
              <a:rPr lang="en-US" sz="2400" dirty="0" err="1" smtClean="0"/>
              <a:t>Mesos</a:t>
            </a:r>
            <a:r>
              <a:rPr lang="en-US" sz="2400" dirty="0" smtClean="0"/>
              <a:t> can also be viewed as a thin </a:t>
            </a:r>
            <a:r>
              <a:rPr lang="en-US" sz="2400" i="1" dirty="0" smtClean="0">
                <a:solidFill>
                  <a:srgbClr val="C00000"/>
                </a:solidFill>
              </a:rPr>
              <a:t>resource-sharing layer</a:t>
            </a:r>
            <a:r>
              <a:rPr lang="en-US" sz="2400" dirty="0" smtClean="0"/>
              <a:t> that manages a cluster of physical nodes/virtual machines.</a:t>
            </a:r>
          </a:p>
          <a:p>
            <a:r>
              <a:rPr lang="en-US" sz="2400" dirty="0" smtClean="0"/>
              <a:t>As long as </a:t>
            </a:r>
            <a:r>
              <a:rPr lang="en-US" sz="2400" dirty="0" err="1" smtClean="0"/>
              <a:t>Mesos</a:t>
            </a:r>
            <a:r>
              <a:rPr lang="en-US" sz="2400" dirty="0" smtClean="0"/>
              <a:t> is available, </a:t>
            </a:r>
            <a:r>
              <a:rPr lang="en-US" sz="2400" dirty="0" err="1" smtClean="0"/>
              <a:t>ElasticRMI</a:t>
            </a:r>
            <a:r>
              <a:rPr lang="en-US" sz="2400" dirty="0" smtClean="0"/>
              <a:t> applications can be executed, making them </a:t>
            </a:r>
            <a:r>
              <a:rPr lang="en-US" sz="2400" i="1" dirty="0" smtClean="0">
                <a:solidFill>
                  <a:srgbClr val="C00000"/>
                </a:solidFill>
              </a:rPr>
              <a:t>portable</a:t>
            </a:r>
            <a:r>
              <a:rPr lang="en-US" sz="2400" dirty="0" smtClean="0"/>
              <a:t> across different cloud vendors.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1752600"/>
            <a:ext cx="421005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Horizontal Pod </a:t>
            </a:r>
            <a:r>
              <a:rPr lang="en-US" dirty="0" err="1" smtClean="0"/>
              <a:t>Autoscaling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https://kubernetes.io/docs/concepts/workloads/autoscaling/horizontal-pod-autoscale/</a:t>
            </a:r>
            <a:endParaRPr lang="en-US" sz="2400" dirty="0" smtClean="0"/>
          </a:p>
          <a:p>
            <a:r>
              <a:rPr lang="en-US" sz="2400" dirty="0" smtClean="0"/>
              <a:t>Horizontal scaling means that the response to increased load is to deploy more Pods.</a:t>
            </a:r>
          </a:p>
          <a:p>
            <a:r>
              <a:rPr lang="en-US" sz="2400" dirty="0" smtClean="0"/>
              <a:t>If the load decreases, and the number of Pods is above the configured minimum, the </a:t>
            </a:r>
            <a:r>
              <a:rPr lang="en-US" sz="2400" dirty="0" err="1" smtClean="0"/>
              <a:t>HorizontalPodAutoscaler</a:t>
            </a:r>
            <a:r>
              <a:rPr lang="en-US" sz="2400" dirty="0" smtClean="0"/>
              <a:t> instructs the workload resource (the Deployment, </a:t>
            </a:r>
            <a:r>
              <a:rPr lang="en-US" sz="2400" dirty="0" err="1" smtClean="0"/>
              <a:t>StatefulSet</a:t>
            </a:r>
            <a:r>
              <a:rPr lang="en-US" sz="2400" dirty="0" smtClean="0"/>
              <a:t>, or other similar resource) to scale back down.</a:t>
            </a:r>
          </a:p>
          <a:p>
            <a:r>
              <a:rPr lang="en-US" sz="2400" dirty="0" err="1" smtClean="0"/>
              <a:t>Kubernetes</a:t>
            </a:r>
            <a:r>
              <a:rPr lang="en-US" sz="2400" dirty="0" smtClean="0"/>
              <a:t> implements horizontal pod </a:t>
            </a:r>
            <a:r>
              <a:rPr lang="en-US" sz="2400" dirty="0" err="1" smtClean="0"/>
              <a:t>autoscaling</a:t>
            </a:r>
            <a:r>
              <a:rPr lang="en-US" sz="2400" dirty="0" smtClean="0"/>
              <a:t> as a control loop that runs intermittently (it is not a continuous process).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Kubernetes</a:t>
            </a:r>
            <a:r>
              <a:rPr lang="en-US" dirty="0" smtClean="0"/>
              <a:t> HPA (KHPA) Algorithm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The </a:t>
            </a:r>
            <a:r>
              <a:rPr lang="en-US" sz="2400" dirty="0" err="1" smtClean="0"/>
              <a:t>HorizontalPodAutoscaler</a:t>
            </a:r>
            <a:r>
              <a:rPr lang="en-US" sz="2400" dirty="0" smtClean="0"/>
              <a:t> controller operates on the ratio between desired metric value and current metric value:</a:t>
            </a:r>
          </a:p>
          <a:p>
            <a:r>
              <a:rPr lang="en-US" sz="2400" dirty="0" err="1" smtClean="0"/>
              <a:t>desiredReplicas</a:t>
            </a:r>
            <a:r>
              <a:rPr lang="en-US" sz="2400" dirty="0" smtClean="0"/>
              <a:t> = ceil [ </a:t>
            </a:r>
            <a:r>
              <a:rPr lang="en-US" sz="2400" dirty="0" err="1" smtClean="0"/>
              <a:t>currentReplicas</a:t>
            </a:r>
            <a:r>
              <a:rPr lang="en-US" sz="2400" dirty="0" smtClean="0"/>
              <a:t> × (</a:t>
            </a:r>
            <a:r>
              <a:rPr lang="en-US" sz="2400" dirty="0" err="1" smtClean="0"/>
              <a:t>desiredMetricValue</a:t>
            </a:r>
            <a:r>
              <a:rPr lang="en-US" sz="2400" dirty="0" smtClean="0"/>
              <a:t>/</a:t>
            </a:r>
            <a:r>
              <a:rPr lang="en-US" sz="2400" dirty="0" err="1" smtClean="0"/>
              <a:t>currentMetricValue</a:t>
            </a:r>
            <a:r>
              <a:rPr lang="en-US" sz="2400" dirty="0" smtClean="0"/>
              <a:t>​) ]</a:t>
            </a:r>
          </a:p>
          <a:p>
            <a:r>
              <a:rPr lang="en-US" sz="2400" dirty="0" smtClean="0"/>
              <a:t>For example, if the current metric value is 200m, and the desired value is 100m, the number of replicas will be doubled, since 200.0 ÷ 100.0 = 2.0.</a:t>
            </a:r>
          </a:p>
          <a:p>
            <a:r>
              <a:rPr lang="en-US" sz="2400" dirty="0" smtClean="0"/>
              <a:t>If the current value is instead 50m, you'll halve the number of replicas, since 50.0 ÷ 100.0 = 0.5.</a:t>
            </a:r>
          </a:p>
          <a:p>
            <a:r>
              <a:rPr lang="en-US" sz="2400" dirty="0" smtClean="0"/>
              <a:t>The control plane skips any scaling action if the ratio is sufficiently close to 1.0.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Smart HPA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err="1" smtClean="0"/>
              <a:t>Hussain</a:t>
            </a:r>
            <a:r>
              <a:rPr lang="en-US" sz="2000" b="1" dirty="0" smtClean="0"/>
              <a:t> Ahmad et al. (2025). Towards resource-efficient reactive and proactive auto-scaling for </a:t>
            </a:r>
            <a:r>
              <a:rPr lang="en-US" sz="2000" b="1" dirty="0" err="1" smtClean="0"/>
              <a:t>microservice</a:t>
            </a:r>
            <a:r>
              <a:rPr lang="en-US" sz="2000" b="1" dirty="0" smtClean="0"/>
              <a:t> architectures.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2514600"/>
            <a:ext cx="6235700" cy="344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609600" y="2590800"/>
            <a:ext cx="182880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 smtClean="0"/>
              <a:t>Smart HPA employs a reactive scaling policy that facilitates </a:t>
            </a:r>
            <a:r>
              <a:rPr lang="en-US" i="1" dirty="0" smtClean="0">
                <a:solidFill>
                  <a:srgbClr val="C00000"/>
                </a:solidFill>
              </a:rPr>
              <a:t>resource exchange among </a:t>
            </a:r>
            <a:r>
              <a:rPr lang="en-US" i="1" dirty="0" err="1" smtClean="0">
                <a:solidFill>
                  <a:srgbClr val="C00000"/>
                </a:solidFill>
              </a:rPr>
              <a:t>microservices</a:t>
            </a:r>
            <a:r>
              <a:rPr lang="en-US" dirty="0" smtClean="0"/>
              <a:t>, optimizing auto-scaling in resource-constrained environments.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Sparse Causal Graphs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(1990). An Algorithm for Fast Recovery of Sparse Causal Graphs.</a:t>
            </a:r>
            <a:endParaRPr lang="en-US" sz="2400" b="1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Topological Potential Theory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(1990). An Algorithm for Fast Recovery of Sparse Causal Graphs.</a:t>
            </a:r>
            <a:endParaRPr lang="en-US" sz="2400" b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Personalized Web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 smtClean="0"/>
              <a:t>(2003). Scaling Personalized Web </a:t>
            </a:r>
            <a:r>
              <a:rPr lang="en-US" sz="2400" b="1" smtClean="0"/>
              <a:t>Search.</a:t>
            </a:r>
            <a:endParaRPr lang="en-US" sz="2400" b="1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PBScaler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err="1" smtClean="0"/>
              <a:t>Shuaiyu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Xie</a:t>
            </a:r>
            <a:r>
              <a:rPr lang="en-US" sz="2000" b="1" dirty="0" smtClean="0"/>
              <a:t> et al. (2023). </a:t>
            </a:r>
            <a:r>
              <a:rPr lang="en-US" sz="2000" b="1" dirty="0" err="1" smtClean="0"/>
              <a:t>PBScaler</a:t>
            </a:r>
            <a:r>
              <a:rPr lang="en-US" sz="2000" b="1" dirty="0" smtClean="0"/>
              <a:t>: A Bottleneck-aware </a:t>
            </a:r>
            <a:r>
              <a:rPr lang="en-US" sz="2000" b="1" dirty="0" err="1" smtClean="0"/>
              <a:t>Autoscaling</a:t>
            </a:r>
            <a:r>
              <a:rPr lang="en-US" sz="2000" b="1" dirty="0" smtClean="0"/>
              <a:t> Framework for </a:t>
            </a:r>
            <a:r>
              <a:rPr lang="en-US" sz="2000" b="1" dirty="0" err="1" smtClean="0"/>
              <a:t>Microservice</a:t>
            </a:r>
            <a:r>
              <a:rPr lang="en-US" sz="2000" b="1" dirty="0" smtClean="0"/>
              <a:t>-based Applications.</a:t>
            </a:r>
          </a:p>
          <a:p>
            <a:r>
              <a:rPr lang="en-US" sz="2000" dirty="0" smtClean="0"/>
              <a:t>We propose </a:t>
            </a:r>
            <a:r>
              <a:rPr lang="en-US" sz="2000" dirty="0" err="1" smtClean="0"/>
              <a:t>TopoRank</a:t>
            </a:r>
            <a:r>
              <a:rPr lang="en-US" sz="2000" dirty="0" smtClean="0"/>
              <a:t>, a </a:t>
            </a:r>
            <a:r>
              <a:rPr lang="en-US" sz="2000" u="sng" dirty="0" smtClean="0"/>
              <a:t>random walk algorithm</a:t>
            </a:r>
            <a:r>
              <a:rPr lang="en-US" sz="2000" dirty="0" smtClean="0"/>
              <a:t> based on topological potential theory (TPT) to </a:t>
            </a:r>
            <a:r>
              <a:rPr lang="en-US" sz="2000" i="1" dirty="0" smtClean="0">
                <a:solidFill>
                  <a:srgbClr val="C00000"/>
                </a:solidFill>
              </a:rPr>
              <a:t>identify performance bottlenecks</a:t>
            </a:r>
            <a:r>
              <a:rPr lang="en-US" sz="2000" dirty="0" smtClean="0"/>
              <a:t> (PBs).</a:t>
            </a:r>
          </a:p>
          <a:p>
            <a:r>
              <a:rPr lang="en-US" sz="2000" dirty="0" smtClean="0"/>
              <a:t>By taking into account </a:t>
            </a:r>
            <a:r>
              <a:rPr lang="en-US" sz="2000" dirty="0" err="1" smtClean="0"/>
              <a:t>microservice</a:t>
            </a:r>
            <a:r>
              <a:rPr lang="en-US" sz="2000" dirty="0" smtClean="0"/>
              <a:t> dependencies and anomaly potential, </a:t>
            </a:r>
            <a:r>
              <a:rPr lang="en-US" sz="2000" dirty="0" err="1" smtClean="0"/>
              <a:t>TopoRank</a:t>
            </a:r>
            <a:r>
              <a:rPr lang="en-US" sz="2000" dirty="0" smtClean="0"/>
              <a:t> improves the accuracy and </a:t>
            </a:r>
            <a:r>
              <a:rPr lang="en-US" sz="2000" dirty="0" err="1" smtClean="0"/>
              <a:t>explainability</a:t>
            </a:r>
            <a:r>
              <a:rPr lang="en-US" sz="2000" dirty="0" smtClean="0"/>
              <a:t> of bottleneck localization.</a:t>
            </a:r>
          </a:p>
          <a:p>
            <a:r>
              <a:rPr lang="en-US" sz="2000" dirty="0" smtClean="0"/>
              <a:t>After identifying the PBs by </a:t>
            </a:r>
            <a:r>
              <a:rPr lang="en-US" sz="2000" dirty="0" err="1" smtClean="0"/>
              <a:t>TopoRank</a:t>
            </a:r>
            <a:r>
              <a:rPr lang="en-US" sz="2000" dirty="0" smtClean="0"/>
              <a:t>, </a:t>
            </a:r>
            <a:r>
              <a:rPr lang="en-US" sz="2000" dirty="0" err="1" smtClean="0"/>
              <a:t>PBScaler</a:t>
            </a:r>
            <a:r>
              <a:rPr lang="en-US" sz="2000" dirty="0" smtClean="0"/>
              <a:t> further employs a </a:t>
            </a:r>
            <a:r>
              <a:rPr lang="en-US" sz="2000" i="1" dirty="0" smtClean="0">
                <a:solidFill>
                  <a:srgbClr val="C00000"/>
                </a:solidFill>
              </a:rPr>
              <a:t>genetic algorithm</a:t>
            </a:r>
            <a:r>
              <a:rPr lang="en-US" sz="2000" dirty="0" smtClean="0"/>
              <a:t> to find nearly optimal strategies.</a:t>
            </a:r>
          </a:p>
          <a:p>
            <a:r>
              <a:rPr lang="en-US" sz="2000" dirty="0" smtClean="0"/>
              <a:t>To avoid application oscillation caused by excessive optimization, the process is </a:t>
            </a:r>
            <a:r>
              <a:rPr lang="en-US" sz="2000" i="1" dirty="0" smtClean="0">
                <a:solidFill>
                  <a:srgbClr val="C00000"/>
                </a:solidFill>
              </a:rPr>
              <a:t>conducted offline</a:t>
            </a:r>
            <a:r>
              <a:rPr lang="en-US" sz="2000" dirty="0" smtClean="0"/>
              <a:t> and is guided by an SLO violation predictor, which simulates the online application and provides feedback to the scaling strategies.</a:t>
            </a:r>
            <a:endParaRPr lang="en-US" sz="2000" b="1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Framework of </a:t>
            </a:r>
            <a:r>
              <a:rPr lang="en-US" dirty="0" err="1" smtClean="0"/>
              <a:t>PBScaler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6900" y="2419350"/>
            <a:ext cx="79502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 Violation Detection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PBScaler</a:t>
            </a:r>
            <a:r>
              <a:rPr lang="en-US" sz="2400" dirty="0" smtClean="0"/>
              <a:t> inspects the P90 tail latency of all invocation edges every 15 seconds to timely detect performance degradation.</a:t>
            </a:r>
          </a:p>
          <a:p>
            <a:r>
              <a:rPr lang="en-US" sz="2400" dirty="0" smtClean="0"/>
              <a:t>If the tail latency of an invocation exceeds a predetermined threshold (such as the SLO), the invoked </a:t>
            </a:r>
            <a:r>
              <a:rPr lang="en-US" sz="2400" dirty="0" err="1" smtClean="0"/>
              <a:t>microservice</a:t>
            </a:r>
            <a:r>
              <a:rPr lang="en-US" sz="2400" dirty="0" smtClean="0"/>
              <a:t> of the invocation will be added to the set of abnormal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, and the bottleneck localization process will be activated.</a:t>
            </a:r>
          </a:p>
          <a:p>
            <a:r>
              <a:rPr lang="en-US" sz="2400" dirty="0" smtClean="0"/>
              <a:t>To account for occasional noise in the </a:t>
            </a:r>
            <a:r>
              <a:rPr lang="en-US" sz="2400" dirty="0" err="1" smtClean="0"/>
              <a:t>microservice</a:t>
            </a:r>
            <a:r>
              <a:rPr lang="en-US" sz="2400" dirty="0" smtClean="0"/>
              <a:t> latency, the threshold is set to SLO × (1 + α/2), where α is used to adjust the tolerance to noise.</a:t>
            </a:r>
            <a:endParaRPr lang="en-US" sz="2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Redundancy Checking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PBScaler</a:t>
            </a:r>
            <a:r>
              <a:rPr lang="en-US" sz="2400" dirty="0" smtClean="0"/>
              <a:t> uses the rate of workload change per second of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to determine whether resources are redundant.</a:t>
            </a:r>
          </a:p>
          <a:p>
            <a:r>
              <a:rPr lang="en-US" sz="2400" dirty="0" smtClean="0"/>
              <a:t>This strategy is more effective than relying only on resource consumption because different </a:t>
            </a:r>
            <a:r>
              <a:rPr lang="en-US" sz="2400" dirty="0" err="1" smtClean="0"/>
              <a:t>microservices</a:t>
            </a:r>
            <a:r>
              <a:rPr lang="en-US" sz="2400" dirty="0" smtClean="0"/>
              <a:t> may have varying sensitivity to heterogeneous resources.</a:t>
            </a:r>
          </a:p>
          <a:p>
            <a:r>
              <a:rPr lang="en-US" sz="2400" dirty="0" smtClean="0"/>
              <a:t>The main idea behind redundancy checking is to employ hypothesis testing to detect whether a </a:t>
            </a:r>
            <a:r>
              <a:rPr lang="en-US" sz="2400" dirty="0" err="1" smtClean="0"/>
              <a:t>microservice’s</a:t>
            </a:r>
            <a:r>
              <a:rPr lang="en-US" sz="2400" dirty="0" smtClean="0"/>
              <a:t> current workload is significantly lower than its past workload.</a:t>
            </a:r>
          </a:p>
          <a:p>
            <a:r>
              <a:rPr lang="en-US" sz="2400" dirty="0" smtClean="0"/>
              <a:t>The degree of significance is adjusted by the parameter β.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Bottleneck Localization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Only the bottleneck </a:t>
            </a:r>
            <a:r>
              <a:rPr lang="en-US" sz="2200" dirty="0" err="1" smtClean="0"/>
              <a:t>microservice</a:t>
            </a:r>
            <a:r>
              <a:rPr lang="en-US" sz="2200" dirty="0" smtClean="0"/>
              <a:t> must be scaled up while the other abnormal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are merely implicated.</a:t>
            </a:r>
          </a:p>
          <a:p>
            <a:r>
              <a:rPr lang="en-US" sz="2200" dirty="0" smtClean="0"/>
              <a:t>To pinpoint the bottleneck </a:t>
            </a:r>
            <a:r>
              <a:rPr lang="en-US" sz="2200" dirty="0" err="1" smtClean="0"/>
              <a:t>microservice</a:t>
            </a:r>
            <a:r>
              <a:rPr lang="en-US" sz="2200" dirty="0" smtClean="0"/>
              <a:t>, we introduce the concept of anomaly potential, which aggregates the anomaly impact of all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in a given position.</a:t>
            </a:r>
          </a:p>
          <a:p>
            <a:r>
              <a:rPr lang="en-US" sz="2200" dirty="0" smtClean="0"/>
              <a:t>Based on the anomaly potential, we model the backtracking of anomalies in </a:t>
            </a:r>
            <a:r>
              <a:rPr lang="en-US" sz="2200" dirty="0" err="1" smtClean="0"/>
              <a:t>microservice</a:t>
            </a:r>
            <a:r>
              <a:rPr lang="en-US" sz="2200" dirty="0" smtClean="0"/>
              <a:t> applications as a random walk on a directed graph.</a:t>
            </a:r>
          </a:p>
          <a:p>
            <a:r>
              <a:rPr lang="en-US" sz="2200" dirty="0" smtClean="0"/>
              <a:t>Therefore, we design a novel bottleneck localization algorithm, </a:t>
            </a:r>
            <a:r>
              <a:rPr lang="en-US" sz="2200" dirty="0" err="1" smtClean="0"/>
              <a:t>TopoRank</a:t>
            </a:r>
            <a:r>
              <a:rPr lang="en-US" sz="2200" dirty="0" smtClean="0"/>
              <a:t>, which introduces the topological potential theory (TPT) in random walks to calculate the scores for all abnormal </a:t>
            </a:r>
            <a:r>
              <a:rPr lang="en-US" sz="2200" dirty="0" err="1" smtClean="0"/>
              <a:t>microservices</a:t>
            </a:r>
            <a:r>
              <a:rPr lang="en-US" sz="2200" dirty="0" smtClean="0"/>
              <a:t> and finally outputs a ranking list.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Scaling Decision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Although abundant replicas can alleviate the performance degradation problem, they also consume a significant amount of resources.</a:t>
            </a:r>
          </a:p>
          <a:p>
            <a:r>
              <a:rPr lang="en-US" sz="2400" dirty="0" smtClean="0"/>
              <a:t>It is essential to maintain a balance between performance guarantees and resource consumption.</a:t>
            </a:r>
          </a:p>
          <a:p>
            <a:r>
              <a:rPr lang="en-US" sz="2400" dirty="0" smtClean="0"/>
              <a:t>The process of </a:t>
            </a:r>
            <a:r>
              <a:rPr lang="en-US" sz="2400" i="1" dirty="0" smtClean="0">
                <a:solidFill>
                  <a:srgbClr val="C00000"/>
                </a:solidFill>
              </a:rPr>
              <a:t>scaling decision</a:t>
            </a:r>
            <a:r>
              <a:rPr lang="en-US" sz="2400" dirty="0" smtClean="0"/>
              <a:t> will be modeled as a </a:t>
            </a:r>
            <a:r>
              <a:rPr lang="en-US" sz="2400" u="sng" dirty="0" smtClean="0"/>
              <a:t>constrained optimization problem</a:t>
            </a:r>
            <a:r>
              <a:rPr lang="en-US" sz="2400" dirty="0" smtClean="0"/>
              <a:t> to achieve this balance.</a:t>
            </a:r>
          </a:p>
          <a:p>
            <a:r>
              <a:rPr lang="en-US" sz="2400" dirty="0" smtClean="0"/>
              <a:t>The goal of the scaling decision is to </a:t>
            </a:r>
            <a:r>
              <a:rPr lang="en-US" sz="2400" i="1" dirty="0" smtClean="0">
                <a:solidFill>
                  <a:srgbClr val="C00000"/>
                </a:solidFill>
              </a:rPr>
              <a:t>minimize the application’s resource consumption</a:t>
            </a:r>
            <a:r>
              <a:rPr lang="en-US" sz="2400" dirty="0" smtClean="0"/>
              <a:t> while </a:t>
            </a:r>
            <a:r>
              <a:rPr lang="en-US" sz="2400" u="sng" dirty="0" smtClean="0"/>
              <a:t>maintaining its performance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Application performance is usually expressed by SLO violations that users are more concerned about.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SLO Violation Predictor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Evaluating whether a strategy will cause the SLO violation in online applications is necessary.</a:t>
            </a:r>
          </a:p>
          <a:p>
            <a:r>
              <a:rPr lang="en-US" sz="2400" dirty="0" smtClean="0"/>
              <a:t>A simple way is to </a:t>
            </a:r>
            <a:r>
              <a:rPr lang="en-US" sz="2400" i="1" dirty="0" smtClean="0">
                <a:solidFill>
                  <a:srgbClr val="C00000"/>
                </a:solidFill>
              </a:rPr>
              <a:t>execute candidate strategies</a:t>
            </a:r>
            <a:r>
              <a:rPr lang="en-US" sz="2400" dirty="0" smtClean="0"/>
              <a:t> directly in online applications and wait for feedback from the monitoring system. However, </a:t>
            </a:r>
            <a:r>
              <a:rPr lang="en-US" sz="2400" u="sng" dirty="0" smtClean="0"/>
              <a:t>oscillations</a:t>
            </a:r>
            <a:r>
              <a:rPr lang="en-US" sz="2400" dirty="0" smtClean="0"/>
              <a:t> caused by frequent scaling in online applications will be inevitable.</a:t>
            </a:r>
          </a:p>
          <a:p>
            <a:r>
              <a:rPr lang="en-US" sz="2400" dirty="0" smtClean="0"/>
              <a:t>An alternative method is to </a:t>
            </a:r>
            <a:r>
              <a:rPr lang="en-US" sz="2400" i="1" dirty="0" smtClean="0">
                <a:solidFill>
                  <a:srgbClr val="C00000"/>
                </a:solidFill>
              </a:rPr>
              <a:t>train an evaluation model</a:t>
            </a:r>
            <a:r>
              <a:rPr lang="en-US" sz="2400" dirty="0" smtClean="0"/>
              <a:t> with </a:t>
            </a:r>
            <a:r>
              <a:rPr lang="en-US" sz="2400" u="sng" dirty="0" smtClean="0"/>
              <a:t>historical metric data</a:t>
            </a:r>
            <a:r>
              <a:rPr lang="en-US" sz="2400" dirty="0" smtClean="0"/>
              <a:t>, which can simulate the feedback from online applications. Without interacting with online applications, this model </a:t>
            </a:r>
            <a:r>
              <a:rPr lang="en-US" sz="2400" i="1" dirty="0" smtClean="0">
                <a:solidFill>
                  <a:srgbClr val="C00000"/>
                </a:solidFill>
              </a:rPr>
              <a:t>predicts</a:t>
            </a:r>
            <a:r>
              <a:rPr lang="en-US" sz="2400" dirty="0" smtClean="0"/>
              <a:t> application performance based on </a:t>
            </a:r>
            <a:r>
              <a:rPr lang="en-US" sz="2400" u="sng" dirty="0" smtClean="0"/>
              <a:t>the current application state</a:t>
            </a:r>
            <a:r>
              <a:rPr lang="en-US" sz="2400" dirty="0" smtClean="0"/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Autoscaling</a:t>
            </a:r>
            <a:r>
              <a:rPr lang="en-US" dirty="0" smtClean="0"/>
              <a:t> Optimization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19658</TotalTime>
  <Words>2750</Words>
  <Application>Microsoft Office PowerPoint</Application>
  <PresentationFormat>On-screen Show (4:3)</PresentationFormat>
  <Paragraphs>197</Paragraphs>
  <Slides>48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Office Theme</vt:lpstr>
      <vt:lpstr>Autoscaling</vt:lpstr>
      <vt:lpstr>Objectives</vt:lpstr>
      <vt:lpstr>Contents</vt:lpstr>
      <vt:lpstr>References</vt:lpstr>
      <vt:lpstr>Scaling Indicators [1]</vt:lpstr>
      <vt:lpstr>Scaling Rules</vt:lpstr>
      <vt:lpstr>Architecture to Scale Web Applications in a Cloud</vt:lpstr>
      <vt:lpstr>Architecture Components</vt:lpstr>
      <vt:lpstr>Dynamic Scaling Algorithm (I)</vt:lpstr>
      <vt:lpstr>Dynamic Scaling Algorithm (II)</vt:lpstr>
      <vt:lpstr>Slide 11</vt:lpstr>
      <vt:lpstr>PaaS Scalability Requirements [2]</vt:lpstr>
      <vt:lpstr>Single Platform Pattern</vt:lpstr>
      <vt:lpstr>Shared Platform Pattern</vt:lpstr>
      <vt:lpstr>Clustered Platform Pattern</vt:lpstr>
      <vt:lpstr>Multiple Shared Platforms Pattern</vt:lpstr>
      <vt:lpstr>Multiple Clustered Platforms Pattern</vt:lpstr>
      <vt:lpstr>PaaS Scalability Pattern Evaluation</vt:lpstr>
      <vt:lpstr>Session State</vt:lpstr>
      <vt:lpstr>Statelessness</vt:lpstr>
      <vt:lpstr>Tools</vt:lpstr>
      <vt:lpstr>Slide 22</vt:lpstr>
      <vt:lpstr>Elasticity [3]</vt:lpstr>
      <vt:lpstr>Explicit Elasticity</vt:lpstr>
      <vt:lpstr>Programmable Elasticity</vt:lpstr>
      <vt:lpstr>Elasticity Management Component</vt:lpstr>
      <vt:lpstr>ElasticRMI Application</vt:lpstr>
      <vt:lpstr>Object Pools</vt:lpstr>
      <vt:lpstr>Virtual Nodes</vt:lpstr>
      <vt:lpstr>Portability</vt:lpstr>
      <vt:lpstr>Slide 31</vt:lpstr>
      <vt:lpstr>Horizontal Pod Autoscaling</vt:lpstr>
      <vt:lpstr>Kubernetes HPA (KHPA) Algorithm</vt:lpstr>
      <vt:lpstr>Slide 34</vt:lpstr>
      <vt:lpstr>Smart HPA</vt:lpstr>
      <vt:lpstr>Slide 36</vt:lpstr>
      <vt:lpstr>Sparse Causal Graphs</vt:lpstr>
      <vt:lpstr>Topological Potential Theory</vt:lpstr>
      <vt:lpstr>Scaling Personalized Web Search</vt:lpstr>
      <vt:lpstr>PBScaler</vt:lpstr>
      <vt:lpstr>Framework of PBScaler</vt:lpstr>
      <vt:lpstr>SLO Violation Detection</vt:lpstr>
      <vt:lpstr>Redundancy Checking</vt:lpstr>
      <vt:lpstr>Bottleneck Localization</vt:lpstr>
      <vt:lpstr>Scaling Decision</vt:lpstr>
      <vt:lpstr>SLO Violation Predictor</vt:lpstr>
      <vt:lpstr>Autoscaling Optimization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4352</cp:revision>
  <dcterms:created xsi:type="dcterms:W3CDTF">2007-10-06T08:25:13Z</dcterms:created>
  <dcterms:modified xsi:type="dcterms:W3CDTF">2026-08-09T12:33:37Z</dcterms:modified>
</cp:coreProperties>
</file>