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9"/>
  </p:notesMasterIdLst>
  <p:sldIdLst>
    <p:sldId id="670" r:id="rId2"/>
    <p:sldId id="671" r:id="rId3"/>
    <p:sldId id="672" r:id="rId4"/>
    <p:sldId id="673" r:id="rId5"/>
    <p:sldId id="693" r:id="rId6"/>
    <p:sldId id="694" r:id="rId7"/>
    <p:sldId id="681" r:id="rId8"/>
    <p:sldId id="682" r:id="rId9"/>
    <p:sldId id="683" r:id="rId10"/>
    <p:sldId id="684" r:id="rId11"/>
    <p:sldId id="685" r:id="rId12"/>
    <p:sldId id="687" r:id="rId13"/>
    <p:sldId id="686" r:id="rId14"/>
    <p:sldId id="734" r:id="rId15"/>
    <p:sldId id="688" r:id="rId16"/>
    <p:sldId id="696" r:id="rId17"/>
    <p:sldId id="689" r:id="rId18"/>
    <p:sldId id="674" r:id="rId19"/>
    <p:sldId id="697" r:id="rId20"/>
    <p:sldId id="698" r:id="rId21"/>
    <p:sldId id="699" r:id="rId22"/>
    <p:sldId id="710" r:id="rId23"/>
    <p:sldId id="712" r:id="rId24"/>
    <p:sldId id="700" r:id="rId25"/>
    <p:sldId id="713" r:id="rId26"/>
    <p:sldId id="715" r:id="rId27"/>
    <p:sldId id="716" r:id="rId28"/>
    <p:sldId id="717" r:id="rId29"/>
    <p:sldId id="718" r:id="rId30"/>
    <p:sldId id="714" r:id="rId31"/>
    <p:sldId id="744" r:id="rId32"/>
    <p:sldId id="720" r:id="rId33"/>
    <p:sldId id="721" r:id="rId34"/>
    <p:sldId id="722" r:id="rId35"/>
    <p:sldId id="724" r:id="rId36"/>
    <p:sldId id="723" r:id="rId37"/>
    <p:sldId id="725" r:id="rId38"/>
    <p:sldId id="726" r:id="rId39"/>
    <p:sldId id="719" r:id="rId40"/>
    <p:sldId id="728" r:id="rId41"/>
    <p:sldId id="729" r:id="rId42"/>
    <p:sldId id="730" r:id="rId43"/>
    <p:sldId id="727" r:id="rId44"/>
    <p:sldId id="731" r:id="rId45"/>
    <p:sldId id="732" r:id="rId46"/>
    <p:sldId id="733" r:id="rId47"/>
    <p:sldId id="736" r:id="rId48"/>
    <p:sldId id="737" r:id="rId49"/>
    <p:sldId id="738" r:id="rId50"/>
    <p:sldId id="739" r:id="rId51"/>
    <p:sldId id="740" r:id="rId52"/>
    <p:sldId id="741" r:id="rId53"/>
    <p:sldId id="742" r:id="rId54"/>
    <p:sldId id="743" r:id="rId55"/>
    <p:sldId id="735" r:id="rId56"/>
    <p:sldId id="701" r:id="rId57"/>
    <p:sldId id="702" r:id="rId58"/>
    <p:sldId id="705" r:id="rId59"/>
    <p:sldId id="706" r:id="rId60"/>
    <p:sldId id="709" r:id="rId61"/>
    <p:sldId id="757" r:id="rId62"/>
    <p:sldId id="753" r:id="rId63"/>
    <p:sldId id="755" r:id="rId64"/>
    <p:sldId id="756" r:id="rId65"/>
    <p:sldId id="747" r:id="rId66"/>
    <p:sldId id="749" r:id="rId67"/>
    <p:sldId id="750" r:id="rId68"/>
    <p:sldId id="748" r:id="rId69"/>
    <p:sldId id="751" r:id="rId70"/>
    <p:sldId id="752" r:id="rId71"/>
    <p:sldId id="754" r:id="rId72"/>
    <p:sldId id="758" r:id="rId73"/>
    <p:sldId id="691" r:id="rId74"/>
    <p:sldId id="690" r:id="rId75"/>
    <p:sldId id="745" r:id="rId76"/>
    <p:sldId id="746" r:id="rId77"/>
    <p:sldId id="516" r:id="rId7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54" autoAdjust="0"/>
    <p:restoredTop sz="94667" autoAdjust="0"/>
  </p:normalViewPr>
  <p:slideViewPr>
    <p:cSldViewPr>
      <p:cViewPr>
        <p:scale>
          <a:sx n="50" d="100"/>
          <a:sy n="50" d="100"/>
        </p:scale>
        <p:origin x="-1528"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8/11/2026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8/11/2026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8/11/2026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8/11/2026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8/11/2026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8/11/2026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8/11/2026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8/11/2026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8/11/2026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8/11/2026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8/11/2026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8/11/2026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8/11/2026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prometheus.io/docs/introduction/overview/"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prometheus.io/docs/introduction/overview/"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prometheus/prometheus/releases/download/v3.5.0/prometheus-3.5.0.linux-amd64.tar.gz" TargetMode="External"/><Relationship Id="rId2" Type="http://schemas.openxmlformats.org/officeDocument/2006/relationships/hyperlink" Target="https://prometheus.io/downloa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20.253.214.16:9090/quer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20.253.214.16:9090/query" TargetMode="External"/><Relationship Id="rId2" Type="http://schemas.openxmlformats.org/officeDocument/2006/relationships/hyperlink" Target="http://104.40.53.92:9090/targets"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hyperlink" Target="http://20.253.214.16:9090/query" TargetMode="External"/><Relationship Id="rId2" Type="http://schemas.openxmlformats.org/officeDocument/2006/relationships/hyperlink" Target="http://104.40.53.92:9090/metrics"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prometheus/node_exporter/releases/download/v1.10.2/node_exporter-1.10.2.linux-amd64.tar.gz" TargetMode="External"/><Relationship Id="rId2" Type="http://schemas.openxmlformats.org/officeDocument/2006/relationships/hyperlink" Target="https://prometheus.io/download/"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20.253.214.16:9100/"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grafana.com/doc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grafana.com/docs/grafana/latest/setup-grafana/installation/debia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grafana.com/docs/grafana/latest/setup-grafana/start-restart-grafana/"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20.253.214.16:9091/login" TargetMode="External"/><Relationship Id="rId2" Type="http://schemas.openxmlformats.org/officeDocument/2006/relationships/hyperlink" Target="https://grafana.com/docs/grafana/latest/setup-grafana/start-restart-grafana/" TargetMode="Externa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20.253.214.16:9091/public-dashboards/0a62bde470c7430ebba5da096fd697f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github.com/google/cadvisor"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20.253.214.16:9090/target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github.com/kubernetes/kube-state-metrics"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20.253.214.16:9090/targets"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prometheus-community.github.io/helm-charts" TargetMode="External"/><Relationship Id="rId2" Type="http://schemas.openxmlformats.org/officeDocument/2006/relationships/hyperlink" Target="https://devopscube.com/setup-prometheus-helm-chart/" TargetMode="Externa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192.168.1.45:9090/"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opentelemetry.io/docs/what-is-opentelemetry/"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elastic.co/docs/solutions/observability"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elastic.co/docs/get-started/the-stack"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elastic.co/docs/deploy-manage/deploy/self-managed/tutorial-self-managed-install"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www.elastic.co/docs/solutions/observability/apm/get-started"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s://www.elastic.co/docs/reference/apm/agents/dotnet/setup-asp-dot-net"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s://www.elastic.co/docs/reference/apm/agents/dotnet/configuration-on-asp-net"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elastic.co/docs/solutions/observability/get-started/quickstart-monitor-hosts-with-elastic-agent"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www.elastic.co/docs/solutions/observability/get-started/quickstart-unified-kubernetes-observability-with-elastic-distributions-of-opentelemetry-edot"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elastic.co/docs/deploy-manage/deploy/self-managed"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chronosphere.io/"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grafana.com/docs/loki/latest/get-started/overview/"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www.influxdata.com/products/influxdb/"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err="1" smtClean="0"/>
              <a:t>Observability</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Prometheus</a:t>
            </a:r>
          </a:p>
          <a:p>
            <a:pPr marL="571500" indent="-571500">
              <a:buFont typeface="+mj-lt"/>
              <a:buAutoNum type="romanUcPeriod"/>
            </a:pPr>
            <a:r>
              <a:rPr lang="en-US" sz="2400" dirty="0" err="1" smtClean="0"/>
              <a:t>Grafana</a:t>
            </a:r>
            <a:endParaRPr lang="en-US" sz="2400" dirty="0" smtClean="0"/>
          </a:p>
          <a:p>
            <a:pPr marL="571500" indent="-571500">
              <a:buFont typeface="+mj-lt"/>
              <a:buAutoNum type="romanUcPeriod"/>
            </a:pPr>
            <a:r>
              <a:rPr lang="en-US" sz="2400" dirty="0" smtClean="0"/>
              <a:t>Elastic </a:t>
            </a:r>
            <a:r>
              <a:rPr lang="en-US" sz="2400" dirty="0" err="1" smtClean="0"/>
              <a:t>Observability</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a:buFont typeface="+mj-lt"/>
              <a:buAutoNum type="arabicPeriod"/>
            </a:pPr>
            <a:r>
              <a:rPr lang="en-US" sz="2400" dirty="0" err="1" smtClean="0"/>
              <a:t>Julien</a:t>
            </a:r>
            <a:r>
              <a:rPr lang="en-US" sz="2400" dirty="0" smtClean="0"/>
              <a:t> </a:t>
            </a:r>
            <a:r>
              <a:rPr lang="en-US" sz="2400" dirty="0" err="1" smtClean="0"/>
              <a:t>Pivotto</a:t>
            </a:r>
            <a:r>
              <a:rPr lang="en-US" sz="2400" dirty="0" smtClean="0"/>
              <a:t> and Brian Brazil (2023). Prometheus - Up &amp; Running. O'Reilly.</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a:t>
            </a:r>
            <a:endParaRPr lang="en-US" dirty="0"/>
          </a:p>
        </p:txBody>
      </p:sp>
      <p:sp>
        <p:nvSpPr>
          <p:cNvPr id="3" name="Content Placeholder 2"/>
          <p:cNvSpPr>
            <a:spLocks noGrp="1"/>
          </p:cNvSpPr>
          <p:nvPr>
            <p:ph idx="1"/>
          </p:nvPr>
        </p:nvSpPr>
        <p:spPr/>
        <p:txBody>
          <a:bodyPr/>
          <a:lstStyle/>
          <a:p>
            <a:r>
              <a:rPr lang="en-US" sz="2800" dirty="0" smtClean="0">
                <a:hlinkClick r:id="rId2"/>
              </a:rPr>
              <a:t>https://prometheus.io/docs/introduction/overview/</a:t>
            </a:r>
            <a:endParaRPr lang="en-US" sz="2800" dirty="0" smtClean="0"/>
          </a:p>
          <a:p>
            <a:r>
              <a:rPr lang="en-US" sz="2800" dirty="0" smtClean="0"/>
              <a:t>Prometheus  is an open-source systems monitoring and alerting toolkit.</a:t>
            </a:r>
          </a:p>
          <a:p>
            <a:r>
              <a:rPr lang="en-US" sz="2800" dirty="0" smtClean="0"/>
              <a:t>Prometheus collects and stores its metrics as time series data, i.e. metrics information is stored with the timestamp at which it was recorded, alongside optional key-value pairs called labels.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Prometheus's Features</a:t>
            </a:r>
            <a:endParaRPr lang="en-US" dirty="0"/>
          </a:p>
        </p:txBody>
      </p:sp>
      <p:sp>
        <p:nvSpPr>
          <p:cNvPr id="3" name="Content Placeholder 2"/>
          <p:cNvSpPr>
            <a:spLocks noGrp="1"/>
          </p:cNvSpPr>
          <p:nvPr>
            <p:ph idx="1"/>
          </p:nvPr>
        </p:nvSpPr>
        <p:spPr/>
        <p:txBody>
          <a:bodyPr/>
          <a:lstStyle/>
          <a:p>
            <a:r>
              <a:rPr lang="en-US" sz="2400" dirty="0" smtClean="0"/>
              <a:t>A multi-dimensional data model with time series data identified by metric name and key/value pairs.</a:t>
            </a:r>
          </a:p>
          <a:p>
            <a:r>
              <a:rPr lang="en-US" sz="2400" dirty="0" err="1" smtClean="0"/>
              <a:t>PromQL</a:t>
            </a:r>
            <a:r>
              <a:rPr lang="en-US" sz="2400" dirty="0" smtClean="0"/>
              <a:t>, a flexible query language to leverage this dimensionality.</a:t>
            </a:r>
          </a:p>
          <a:p>
            <a:r>
              <a:rPr lang="en-US" sz="2400" dirty="0" smtClean="0"/>
              <a:t>No reliance on distributed storage; single server nodes are autonomous.</a:t>
            </a:r>
          </a:p>
          <a:p>
            <a:r>
              <a:rPr lang="en-US" sz="2400" dirty="0" smtClean="0"/>
              <a:t>Time series collection happens via a pull model over HTTP.</a:t>
            </a:r>
          </a:p>
          <a:p>
            <a:r>
              <a:rPr lang="en-US" sz="2400" dirty="0" smtClean="0"/>
              <a:t>Pushing time series is supported via an intermediary gateway.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[1]</a:t>
            </a:r>
            <a:endParaRPr lang="en-US" dirty="0"/>
          </a:p>
        </p:txBody>
      </p:sp>
      <p:sp>
        <p:nvSpPr>
          <p:cNvPr id="3" name="Content Placeholder 2"/>
          <p:cNvSpPr>
            <a:spLocks noGrp="1"/>
          </p:cNvSpPr>
          <p:nvPr>
            <p:ph idx="1"/>
          </p:nvPr>
        </p:nvSpPr>
        <p:spPr/>
        <p:txBody>
          <a:bodyPr/>
          <a:lstStyle/>
          <a:p>
            <a:r>
              <a:rPr lang="en-US" i="1" dirty="0" smtClean="0">
                <a:solidFill>
                  <a:srgbClr val="C00000"/>
                </a:solidFill>
              </a:rPr>
              <a:t>Prometheus</a:t>
            </a:r>
            <a:r>
              <a:rPr lang="en-US" dirty="0" smtClean="0"/>
              <a:t> is an open source, metrics-based monitoring system.</a:t>
            </a:r>
          </a:p>
          <a:p>
            <a:r>
              <a:rPr lang="en-US" dirty="0" smtClean="0"/>
              <a:t>At the end of the day, most monitoring is about the same thing: </a:t>
            </a:r>
            <a:r>
              <a:rPr lang="en-US" i="1" dirty="0" smtClean="0">
                <a:solidFill>
                  <a:srgbClr val="C00000"/>
                </a:solidFill>
              </a:rPr>
              <a:t>events</a:t>
            </a:r>
            <a:r>
              <a:rPr lang="en-US" dirty="0" smtClean="0"/>
              <a:t>.</a:t>
            </a:r>
          </a:p>
          <a:p>
            <a:r>
              <a:rPr lang="en-US" dirty="0" smtClean="0"/>
              <a:t>As a </a:t>
            </a:r>
            <a:r>
              <a:rPr lang="en-US" i="1" dirty="0" smtClean="0">
                <a:solidFill>
                  <a:srgbClr val="C00000"/>
                </a:solidFill>
              </a:rPr>
              <a:t>metrics-based</a:t>
            </a:r>
            <a:r>
              <a:rPr lang="en-US" dirty="0" smtClean="0"/>
              <a:t> monitoring system, Prometheus is designed to track overall system health, behavior, and performance rather than individual events.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Architecture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914400" y="2057400"/>
            <a:ext cx="7299960" cy="37338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(I)</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Client Libraries</a:t>
            </a:r>
            <a:r>
              <a:rPr lang="en-US" sz="2200" dirty="0" smtClean="0"/>
              <a:t>. Metrics do not typically magically spring forth from applications; someone has to add the instrumentation that produces them.</a:t>
            </a:r>
          </a:p>
          <a:p>
            <a:r>
              <a:rPr lang="en-US" sz="2200" i="1" dirty="0" smtClean="0">
                <a:solidFill>
                  <a:srgbClr val="C00000"/>
                </a:solidFill>
              </a:rPr>
              <a:t>Exporters</a:t>
            </a:r>
            <a:r>
              <a:rPr lang="en-US" sz="2200" dirty="0" smtClean="0"/>
              <a:t>. Not all code you run is code that you can control or even have access to, and thus adding direct instrumentation isn’t really an option. For example, it is unlikely that operating system kernels will start outputting Prometheus-formatted metrics over HTTP anytime soon.</a:t>
            </a:r>
          </a:p>
          <a:p>
            <a:r>
              <a:rPr lang="en-US" sz="2200" dirty="0" smtClean="0"/>
              <a:t>An exporter is a piece of software that you deploy right beside the application you want to obtain metrics from. It takes in requests from Prometheus, gathers the required data from the application, transforms it into the correct format, and finally returns it in a response to Prometheus.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(II)</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Service Discovery</a:t>
            </a:r>
            <a:r>
              <a:rPr lang="en-US" sz="2200" dirty="0" smtClean="0"/>
              <a:t>. Once you have all your applications instrumented and your exporters running, Prometheus needs to know where they are. This is so Prometheus will know what to monitor, and be able to notice if something it is meant to be monitoring is not responding.</a:t>
            </a:r>
          </a:p>
          <a:p>
            <a:r>
              <a:rPr lang="en-US" sz="2200" dirty="0" smtClean="0"/>
              <a:t>With </a:t>
            </a:r>
            <a:r>
              <a:rPr lang="en-US" sz="2200" i="1" dirty="0" smtClean="0">
                <a:solidFill>
                  <a:srgbClr val="C00000"/>
                </a:solidFill>
              </a:rPr>
              <a:t>dynamic environments</a:t>
            </a:r>
            <a:r>
              <a:rPr lang="en-US" sz="2200" dirty="0" smtClean="0"/>
              <a:t> you cannot simply provide a list of applications and exporters once, as it will get </a:t>
            </a:r>
            <a:r>
              <a:rPr lang="en-US" sz="2200" u="sng" dirty="0" smtClean="0"/>
              <a:t>out of date</a:t>
            </a:r>
            <a:r>
              <a:rPr lang="en-US" sz="2200" dirty="0" smtClean="0"/>
              <a:t>.</a:t>
            </a:r>
          </a:p>
          <a:p>
            <a:r>
              <a:rPr lang="en-US" sz="2200" dirty="0" smtClean="0"/>
              <a:t>Prometheus has </a:t>
            </a:r>
            <a:r>
              <a:rPr lang="en-US" sz="2200" i="1" dirty="0" smtClean="0">
                <a:solidFill>
                  <a:srgbClr val="C00000"/>
                </a:solidFill>
              </a:rPr>
              <a:t>integrations</a:t>
            </a:r>
            <a:r>
              <a:rPr lang="en-US" sz="2200" dirty="0" smtClean="0"/>
              <a:t> with many common service discovery mechanisms, such as </a:t>
            </a:r>
            <a:r>
              <a:rPr lang="en-US" sz="2200" dirty="0" err="1" smtClean="0"/>
              <a:t>Kubernetes</a:t>
            </a:r>
            <a:r>
              <a:rPr lang="en-US" sz="2200" dirty="0" smtClean="0"/>
              <a:t>, EC2, and Consul.</a:t>
            </a:r>
          </a:p>
          <a:p>
            <a:r>
              <a:rPr lang="en-US" sz="2200" dirty="0" smtClean="0"/>
              <a:t>As every organization does it slightly differently, Prometheus allows you to configure how metadata from service discovery is mapped to monitoring targets and their labels using </a:t>
            </a:r>
            <a:r>
              <a:rPr lang="en-US" sz="2200" i="1" dirty="0" smtClean="0">
                <a:solidFill>
                  <a:srgbClr val="C00000"/>
                </a:solidFill>
              </a:rPr>
              <a:t>relabeling</a:t>
            </a:r>
            <a:r>
              <a:rPr lang="en-US" sz="2200" i="1" dirty="0" smtClean="0"/>
              <a:t>.</a:t>
            </a:r>
            <a:endParaRPr lang="en-US" sz="2200"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(III)</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Scraping</a:t>
            </a:r>
            <a:r>
              <a:rPr lang="en-US" sz="2400" dirty="0" smtClean="0"/>
              <a:t>. Service discovery and relabeling give us a list of targets to be monitored. </a:t>
            </a:r>
          </a:p>
          <a:p>
            <a:r>
              <a:rPr lang="en-US" sz="2400" dirty="0" smtClean="0"/>
              <a:t>Now Prometheus needs to fetch the metrics. Prometheus does this by sending an HTTP request called a </a:t>
            </a:r>
            <a:r>
              <a:rPr lang="en-US" sz="2400" i="1" dirty="0" smtClean="0">
                <a:solidFill>
                  <a:srgbClr val="C00000"/>
                </a:solidFill>
              </a:rPr>
              <a:t>scrape</a:t>
            </a:r>
            <a:r>
              <a:rPr lang="en-US" sz="2400" dirty="0" smtClean="0"/>
              <a:t>.</a:t>
            </a:r>
          </a:p>
          <a:p>
            <a:r>
              <a:rPr lang="en-US" sz="2400" dirty="0" smtClean="0"/>
              <a:t>The </a:t>
            </a:r>
            <a:r>
              <a:rPr lang="en-US" sz="2400" i="1" dirty="0" smtClean="0">
                <a:solidFill>
                  <a:srgbClr val="C00000"/>
                </a:solidFill>
              </a:rPr>
              <a:t>response</a:t>
            </a:r>
            <a:r>
              <a:rPr lang="en-US" sz="2400" dirty="0" smtClean="0"/>
              <a:t> to the scrape is parsed and ingested into storage.</a:t>
            </a:r>
          </a:p>
          <a:p>
            <a:r>
              <a:rPr lang="en-US" sz="2400" dirty="0" smtClean="0"/>
              <a:t>Several useful metrics are also added in, such as if the scrape succeeded and how long it took.</a:t>
            </a:r>
          </a:p>
          <a:p>
            <a:r>
              <a:rPr lang="en-US" sz="2400" dirty="0" smtClean="0"/>
              <a:t>Scrapes happen </a:t>
            </a:r>
            <a:r>
              <a:rPr lang="en-US" sz="2400" i="1" dirty="0" smtClean="0">
                <a:solidFill>
                  <a:srgbClr val="C00000"/>
                </a:solidFill>
              </a:rPr>
              <a:t>regularly</a:t>
            </a:r>
            <a:r>
              <a:rPr lang="en-US" sz="2400" dirty="0" smtClean="0"/>
              <a:t>; usually you would configure it to happen every 10 to 60 seconds for each target.</a:t>
            </a:r>
            <a:endParaRPr lang="en-US" sz="22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(IV)</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Storage</a:t>
            </a:r>
            <a:r>
              <a:rPr lang="en-US" sz="2400" dirty="0" smtClean="0"/>
              <a:t>. Prometheus stores data </a:t>
            </a:r>
            <a:r>
              <a:rPr lang="en-US" sz="2400" u="sng" dirty="0" smtClean="0"/>
              <a:t>locally</a:t>
            </a:r>
            <a:r>
              <a:rPr lang="en-US" sz="2400" dirty="0" smtClean="0"/>
              <a:t> in a custom database. </a:t>
            </a:r>
          </a:p>
          <a:p>
            <a:r>
              <a:rPr lang="en-US" sz="2400" dirty="0" smtClean="0"/>
              <a:t>Distributed systems are challenging to make reliable, so Prometheus does </a:t>
            </a:r>
            <a:r>
              <a:rPr lang="en-US" sz="2400" i="1" dirty="0" smtClean="0">
                <a:solidFill>
                  <a:srgbClr val="C00000"/>
                </a:solidFill>
              </a:rPr>
              <a:t>not</a:t>
            </a:r>
            <a:r>
              <a:rPr lang="en-US" sz="2400" dirty="0" smtClean="0"/>
              <a:t> attempt to do any form of clustering.</a:t>
            </a:r>
          </a:p>
          <a:p>
            <a:r>
              <a:rPr lang="en-US" sz="2400" dirty="0" smtClean="0"/>
              <a:t>The storage system can handle ingesting millions of samples per second, making it possible to monitor thousands of machines with a single Prometheus server.</a:t>
            </a:r>
          </a:p>
          <a:p>
            <a:r>
              <a:rPr lang="en-US" sz="2400" dirty="0" smtClean="0"/>
              <a:t>The compression algorithm used can achieve 1.3 bytes per sample on real-world data.</a:t>
            </a:r>
          </a:p>
          <a:p>
            <a:r>
              <a:rPr lang="en-US" sz="2400" dirty="0" smtClean="0"/>
              <a:t>Prometheus does not offer a clustered storage solution to store data across multiple machines, but there are remote read and write APIs that allow other systems to hook in and take on this role.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Components (V)</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Dashboards</a:t>
            </a:r>
            <a:r>
              <a:rPr lang="en-US" sz="2400" dirty="0" smtClean="0"/>
              <a:t>. It is recommended that you use </a:t>
            </a:r>
            <a:r>
              <a:rPr lang="en-US" sz="2400" i="1" dirty="0" err="1" smtClean="0">
                <a:solidFill>
                  <a:srgbClr val="C00000"/>
                </a:solidFill>
              </a:rPr>
              <a:t>Grafana</a:t>
            </a:r>
            <a:r>
              <a:rPr lang="en-US" sz="2400" dirty="0" smtClean="0"/>
              <a:t> for dashboards. It has a wide variety of features, including official support for Prometheus as a data source.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Prometheus's Architecture</a:t>
            </a:r>
            <a:endParaRPr lang="en-US" dirty="0"/>
          </a:p>
        </p:txBody>
      </p:sp>
      <p:sp>
        <p:nvSpPr>
          <p:cNvPr id="3" name="Content Placeholder 2"/>
          <p:cNvSpPr>
            <a:spLocks noGrp="1"/>
          </p:cNvSpPr>
          <p:nvPr>
            <p:ph idx="1"/>
          </p:nvPr>
        </p:nvSpPr>
        <p:spPr/>
        <p:txBody>
          <a:bodyPr/>
          <a:lstStyle/>
          <a:p>
            <a:r>
              <a:rPr lang="en-US" sz="2400" dirty="0" smtClean="0">
                <a:hlinkClick r:id="rId2"/>
              </a:rPr>
              <a:t>https://prometheus.io/docs/introduction/overview/</a:t>
            </a:r>
            <a:endParaRPr lang="en-US" sz="2400" dirty="0" smtClean="0"/>
          </a:p>
          <a:p>
            <a:endParaRPr lang="en-US" sz="2400" dirty="0"/>
          </a:p>
        </p:txBody>
      </p:sp>
      <p:pic>
        <p:nvPicPr>
          <p:cNvPr id="4" name="Picture 3"/>
          <p:cNvPicPr>
            <a:picLocks noChangeAspect="1" noChangeArrowheads="1"/>
          </p:cNvPicPr>
          <p:nvPr/>
        </p:nvPicPr>
        <p:blipFill>
          <a:blip r:embed="rId3" cstate="print"/>
          <a:srcRect/>
          <a:stretch>
            <a:fillRect/>
          </a:stretch>
        </p:blipFill>
        <p:spPr bwMode="auto">
          <a:xfrm>
            <a:off x="1589088" y="2441575"/>
            <a:ext cx="5965825" cy="36544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sz="2400" dirty="0" smtClean="0"/>
              <a:t>As a metrics-based system, Prometheus is </a:t>
            </a:r>
            <a:r>
              <a:rPr lang="en-US" sz="2400" i="1" dirty="0" smtClean="0">
                <a:solidFill>
                  <a:srgbClr val="C00000"/>
                </a:solidFill>
              </a:rPr>
              <a:t>not</a:t>
            </a:r>
            <a:r>
              <a:rPr lang="en-US" sz="2400" dirty="0" smtClean="0"/>
              <a:t> suitable for </a:t>
            </a:r>
            <a:r>
              <a:rPr lang="en-US" sz="2400" u="sng" dirty="0" smtClean="0"/>
              <a:t>storing event logs</a:t>
            </a:r>
            <a:r>
              <a:rPr lang="en-US" sz="2400" dirty="0" smtClean="0"/>
              <a:t> or individual events.</a:t>
            </a:r>
          </a:p>
          <a:p>
            <a:r>
              <a:rPr lang="en-US" sz="2400" dirty="0" smtClean="0"/>
              <a:t>Nor is it the best choice for high-cardinality data, such as email addresses or usernames.</a:t>
            </a:r>
          </a:p>
          <a:p>
            <a:r>
              <a:rPr lang="en-US" sz="2400" dirty="0" smtClean="0"/>
              <a:t>Prometheus is designed for operational monitoring, where </a:t>
            </a:r>
            <a:r>
              <a:rPr lang="en-US" sz="2400" i="1" dirty="0" smtClean="0">
                <a:solidFill>
                  <a:srgbClr val="C00000"/>
                </a:solidFill>
              </a:rPr>
              <a:t>small inaccuracies</a:t>
            </a:r>
            <a:r>
              <a:rPr lang="en-US" sz="2400" dirty="0" smtClean="0"/>
              <a:t> and </a:t>
            </a:r>
            <a:r>
              <a:rPr lang="en-US" sz="2400" i="1" dirty="0" smtClean="0">
                <a:solidFill>
                  <a:srgbClr val="C00000"/>
                </a:solidFill>
              </a:rPr>
              <a:t>race conditions</a:t>
            </a:r>
            <a:r>
              <a:rPr lang="en-US" sz="2400" dirty="0" smtClean="0"/>
              <a:t> due to factors like kernel scheduling and failed scrapes are a fact of life.</a:t>
            </a:r>
          </a:p>
          <a:p>
            <a:r>
              <a:rPr lang="en-US" sz="2400" dirty="0" smtClean="0"/>
              <a:t>Prometheus makes trade-offs and prefers giving you data that is 99.9% correct over your monitoring breaking while waiting for perfect data.</a:t>
            </a:r>
          </a:p>
          <a:p>
            <a:r>
              <a:rPr lang="en-US" sz="2400" dirty="0" smtClean="0"/>
              <a:t>Thus in applications involving money or billing, Prometheus should be used with caution.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lstStyle/>
          <a:p>
            <a:r>
              <a:rPr lang="en-US" sz="2800" dirty="0" smtClean="0"/>
              <a:t>Basic deployment Prometheus is </a:t>
            </a:r>
            <a:r>
              <a:rPr lang="en-US" sz="2800" i="1" dirty="0" smtClean="0">
                <a:solidFill>
                  <a:srgbClr val="C00000"/>
                </a:solidFill>
              </a:rPr>
              <a:t>a single point of failure</a:t>
            </a:r>
            <a:r>
              <a:rPr lang="en-US" sz="2800" i="1" dirty="0" smtClean="0"/>
              <a:t>.</a:t>
            </a:r>
          </a:p>
          <a:p>
            <a:r>
              <a:rPr lang="en-US" sz="2800" dirty="0" smtClean="0"/>
              <a:t>Common mitigation strategies</a:t>
            </a:r>
          </a:p>
          <a:p>
            <a:pPr lvl="1"/>
            <a:r>
              <a:rPr lang="en-US" sz="2400" dirty="0" smtClean="0"/>
              <a:t>Two independent servers scrape the same targets.</a:t>
            </a:r>
          </a:p>
          <a:p>
            <a:pPr lvl="1"/>
            <a:r>
              <a:rPr lang="en-US" sz="2400" dirty="0" smtClean="0"/>
              <a:t>One server scrapes other Prometheus instances to provide aggregated or global views.</a:t>
            </a:r>
          </a:p>
          <a:p>
            <a:pPr lvl="1"/>
            <a:r>
              <a:rPr lang="en-US" sz="2400" dirty="0" smtClean="0"/>
              <a:t>Tools like Cortex, </a:t>
            </a:r>
            <a:r>
              <a:rPr lang="en-US" sz="2400" dirty="0" err="1" smtClean="0"/>
              <a:t>Thanos</a:t>
            </a:r>
            <a:r>
              <a:rPr lang="en-US" sz="2400" dirty="0" smtClean="0"/>
              <a:t>, or </a:t>
            </a:r>
            <a:r>
              <a:rPr lang="en-US" sz="2400" dirty="0" err="1" smtClean="0"/>
              <a:t>Mimir</a:t>
            </a:r>
            <a:r>
              <a:rPr lang="en-US" sz="2400" dirty="0" smtClean="0"/>
              <a:t> add replication, long-term storage, and HA for metrics by pushing data into object stores or clusters, removing reliance on one node's disk.</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Run Prometheus on </a:t>
            </a:r>
            <a:r>
              <a:rPr lang="en-US" dirty="0" err="1" smtClean="0"/>
              <a:t>Ubuntu</a:t>
            </a:r>
            <a:endParaRPr lang="en-US" dirty="0"/>
          </a:p>
        </p:txBody>
      </p:sp>
      <p:sp>
        <p:nvSpPr>
          <p:cNvPr id="3" name="Content Placeholder 2"/>
          <p:cNvSpPr>
            <a:spLocks noGrp="1"/>
          </p:cNvSpPr>
          <p:nvPr>
            <p:ph idx="1"/>
          </p:nvPr>
        </p:nvSpPr>
        <p:spPr/>
        <p:txBody>
          <a:bodyPr/>
          <a:lstStyle/>
          <a:p>
            <a:r>
              <a:rPr lang="en-US" sz="2400" dirty="0" smtClean="0">
                <a:hlinkClick r:id="rId2"/>
              </a:rPr>
              <a:t>https://prometheus.io/download/</a:t>
            </a:r>
            <a:endParaRPr lang="en-US" sz="2400" dirty="0" smtClean="0"/>
          </a:p>
          <a:p>
            <a:r>
              <a:rPr lang="en-US" sz="2400" dirty="0" err="1" smtClean="0"/>
              <a:t>wget</a:t>
            </a:r>
            <a:r>
              <a:rPr lang="en-US" sz="2400" dirty="0" smtClean="0"/>
              <a:t> </a:t>
            </a:r>
            <a:r>
              <a:rPr lang="en-US" sz="2400" dirty="0" smtClean="0">
                <a:hlinkClick r:id="rId3"/>
              </a:rPr>
              <a:t>https://github.com/prometheus/prometheus/releases/download/v3.5.0/prometheus-3.5.0.linux-amd64.tar.gz</a:t>
            </a:r>
            <a:endParaRPr lang="en-US" sz="2400" dirty="0" smtClean="0"/>
          </a:p>
          <a:p>
            <a:r>
              <a:rPr lang="en-US" sz="2400" dirty="0" smtClean="0"/>
              <a:t>tar -</a:t>
            </a:r>
            <a:r>
              <a:rPr lang="en-US" sz="2400" dirty="0" err="1" smtClean="0"/>
              <a:t>xzf</a:t>
            </a:r>
            <a:r>
              <a:rPr lang="en-US" sz="2400" dirty="0" smtClean="0"/>
              <a:t> </a:t>
            </a:r>
            <a:r>
              <a:rPr lang="en-US" sz="2400" dirty="0" err="1" smtClean="0"/>
              <a:t>prometheus</a:t>
            </a:r>
            <a:r>
              <a:rPr lang="en-US" sz="2400" dirty="0" smtClean="0"/>
              <a:t>-*.linux-amd64.tar.gz</a:t>
            </a:r>
          </a:p>
          <a:p>
            <a:r>
              <a:rPr lang="en-US" sz="2400" dirty="0" err="1" smtClean="0"/>
              <a:t>cd</a:t>
            </a:r>
            <a:r>
              <a:rPr lang="en-US" sz="2400" dirty="0" smtClean="0"/>
              <a:t> </a:t>
            </a:r>
            <a:r>
              <a:rPr lang="en-US" sz="2400" dirty="0" err="1" smtClean="0"/>
              <a:t>prometheus</a:t>
            </a:r>
            <a:r>
              <a:rPr lang="en-US" sz="2400" dirty="0" smtClean="0"/>
              <a:t>-*.linux-amd64/</a:t>
            </a:r>
          </a:p>
          <a:p>
            <a:r>
              <a:rPr lang="en-US" sz="2400" dirty="0" err="1" smtClean="0"/>
              <a:t>nano</a:t>
            </a:r>
            <a:r>
              <a:rPr lang="en-US" sz="2400" dirty="0" smtClean="0"/>
              <a:t> </a:t>
            </a:r>
            <a:r>
              <a:rPr lang="en-US" sz="2400" i="1" dirty="0" smtClean="0"/>
              <a:t>prometheus.yml</a:t>
            </a:r>
          </a:p>
          <a:p>
            <a:r>
              <a:rPr lang="en-US" sz="2400" i="1" dirty="0" smtClean="0"/>
              <a:t># </a:t>
            </a:r>
            <a:r>
              <a:rPr lang="en-US" sz="2400" dirty="0" smtClean="0"/>
              <a:t>The Prometheus ecosystem uses YAML (YAML </a:t>
            </a:r>
            <a:r>
              <a:rPr lang="en-US" sz="2400" dirty="0" err="1" smtClean="0"/>
              <a:t>Ain’t</a:t>
            </a:r>
            <a:r>
              <a:rPr lang="en-US" sz="2400" dirty="0" smtClean="0"/>
              <a:t> Markup Language) for its configuration files.</a:t>
            </a:r>
          </a:p>
          <a:p>
            <a:r>
              <a:rPr lang="en-US" sz="2400" b="1" dirty="0" smtClean="0"/>
              <a:t>./</a:t>
            </a:r>
            <a:r>
              <a:rPr lang="en-US" sz="2400" b="1" dirty="0" err="1" smtClean="0"/>
              <a:t>prometheus</a:t>
            </a:r>
            <a:r>
              <a:rPr lang="en-US" sz="2400" b="1" dirty="0" smtClean="0"/>
              <a:t> --</a:t>
            </a:r>
            <a:r>
              <a:rPr lang="en-US" sz="2400" b="1" dirty="0" err="1" smtClean="0"/>
              <a:t>web.listen</a:t>
            </a:r>
            <a:r>
              <a:rPr lang="en-US" sz="2400" b="1" dirty="0" smtClean="0"/>
              <a:t>-address="0.0.0.0:9090"</a:t>
            </a:r>
            <a:endParaRPr lang="en-US" sz="24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Open the Expression Browser</a:t>
            </a:r>
            <a:endParaRPr lang="en-US" dirty="0"/>
          </a:p>
        </p:txBody>
      </p:sp>
      <p:sp>
        <p:nvSpPr>
          <p:cNvPr id="3" name="Content Placeholder 2"/>
          <p:cNvSpPr>
            <a:spLocks noGrp="1"/>
          </p:cNvSpPr>
          <p:nvPr>
            <p:ph idx="1"/>
          </p:nvPr>
        </p:nvSpPr>
        <p:spPr/>
        <p:txBody>
          <a:bodyPr/>
          <a:lstStyle/>
          <a:p>
            <a:r>
              <a:rPr lang="en-US" sz="2400" dirty="0" smtClean="0">
                <a:hlinkClick r:id="rId2"/>
              </a:rPr>
              <a:t>http://20.253.214.16:9090/query</a:t>
            </a:r>
            <a:endParaRPr lang="en-US" sz="2400" dirty="0" smtClean="0"/>
          </a:p>
          <a:p>
            <a:r>
              <a:rPr lang="en-US" sz="2400" dirty="0" smtClean="0"/>
              <a:t>This is the expression browser from which you can run </a:t>
            </a:r>
            <a:r>
              <a:rPr lang="en-US" sz="2400" dirty="0" err="1" smtClean="0"/>
              <a:t>PromQL</a:t>
            </a:r>
            <a:r>
              <a:rPr lang="en-US" sz="2400" dirty="0" smtClean="0"/>
              <a:t> queries.</a:t>
            </a:r>
          </a:p>
        </p:txBody>
      </p:sp>
      <p:pic>
        <p:nvPicPr>
          <p:cNvPr id="1027" name="Picture 3"/>
          <p:cNvPicPr>
            <a:picLocks noChangeAspect="1" noChangeArrowheads="1"/>
          </p:cNvPicPr>
          <p:nvPr/>
        </p:nvPicPr>
        <p:blipFill>
          <a:blip r:embed="rId3" cstate="print"/>
          <a:srcRect/>
          <a:stretch>
            <a:fillRect/>
          </a:stretch>
        </p:blipFill>
        <p:spPr bwMode="auto">
          <a:xfrm>
            <a:off x="1912938" y="3184525"/>
            <a:ext cx="5318125" cy="28352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Open the Targets Page</a:t>
            </a:r>
            <a:endParaRPr lang="en-US" dirty="0"/>
          </a:p>
        </p:txBody>
      </p:sp>
      <p:sp>
        <p:nvSpPr>
          <p:cNvPr id="3" name="Content Placeholder 2"/>
          <p:cNvSpPr>
            <a:spLocks noGrp="1"/>
          </p:cNvSpPr>
          <p:nvPr>
            <p:ph idx="1"/>
          </p:nvPr>
        </p:nvSpPr>
        <p:spPr/>
        <p:txBody>
          <a:bodyPr/>
          <a:lstStyle/>
          <a:p>
            <a:r>
              <a:rPr lang="en-US" sz="2400" dirty="0" smtClean="0">
                <a:hlinkClick r:id="rId2"/>
              </a:rPr>
              <a:t>http://</a:t>
            </a:r>
            <a:r>
              <a:rPr lang="en-US" sz="2400" dirty="0" smtClean="0">
                <a:hlinkClick r:id="rId3"/>
              </a:rPr>
              <a:t>20.253.214.16</a:t>
            </a:r>
            <a:r>
              <a:rPr lang="en-US" sz="2400" dirty="0" smtClean="0">
                <a:hlinkClick r:id="rId2"/>
              </a:rPr>
              <a:t>:9090/targets</a:t>
            </a:r>
            <a:endParaRPr lang="en-US" sz="2400" dirty="0" smtClean="0"/>
          </a:p>
          <a:p>
            <a:r>
              <a:rPr lang="en-US" sz="2400" dirty="0" smtClean="0"/>
              <a:t>On this page there is only a single Prometheus server in the UP state, meaning that the last scrape was successful.</a:t>
            </a:r>
          </a:p>
          <a:p>
            <a:endParaRPr lang="en-US" sz="2400" dirty="0" smtClean="0"/>
          </a:p>
        </p:txBody>
      </p:sp>
      <p:pic>
        <p:nvPicPr>
          <p:cNvPr id="2050" name="Picture 2"/>
          <p:cNvPicPr>
            <a:picLocks noChangeAspect="1" noChangeArrowheads="1"/>
          </p:cNvPicPr>
          <p:nvPr/>
        </p:nvPicPr>
        <p:blipFill>
          <a:blip r:embed="rId4" cstate="print"/>
          <a:srcRect/>
          <a:stretch>
            <a:fillRect/>
          </a:stretch>
        </p:blipFill>
        <p:spPr bwMode="auto">
          <a:xfrm>
            <a:off x="1066800" y="3200400"/>
            <a:ext cx="6907171" cy="275933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Open the Metrics Page</a:t>
            </a:r>
            <a:endParaRPr lang="en-US" dirty="0"/>
          </a:p>
        </p:txBody>
      </p:sp>
      <p:sp>
        <p:nvSpPr>
          <p:cNvPr id="3" name="Content Placeholder 2"/>
          <p:cNvSpPr>
            <a:spLocks noGrp="1"/>
          </p:cNvSpPr>
          <p:nvPr>
            <p:ph idx="1"/>
          </p:nvPr>
        </p:nvSpPr>
        <p:spPr/>
        <p:txBody>
          <a:bodyPr/>
          <a:lstStyle/>
          <a:p>
            <a:r>
              <a:rPr lang="en-US" sz="2400" dirty="0" smtClean="0">
                <a:hlinkClick r:id="rId2"/>
              </a:rPr>
              <a:t>http://</a:t>
            </a:r>
            <a:r>
              <a:rPr lang="en-US" sz="2400" dirty="0" smtClean="0">
                <a:hlinkClick r:id="rId3"/>
              </a:rPr>
              <a:t>20.253.214.16</a:t>
            </a:r>
            <a:r>
              <a:rPr lang="en-US" sz="2400" dirty="0" smtClean="0">
                <a:hlinkClick r:id="rId2"/>
              </a:rPr>
              <a:t>:9090/metrics</a:t>
            </a:r>
            <a:endParaRPr lang="en-US" sz="2400" dirty="0" smtClean="0"/>
          </a:p>
          <a:p>
            <a:r>
              <a:rPr lang="en-US" sz="2400" dirty="0" smtClean="0"/>
              <a:t>Prometheus is itself instrumented with Prometheus metrics.</a:t>
            </a:r>
          </a:p>
          <a:p>
            <a:endParaRPr lang="en-US" sz="2400" dirty="0" smtClean="0"/>
          </a:p>
        </p:txBody>
      </p:sp>
      <p:pic>
        <p:nvPicPr>
          <p:cNvPr id="3074" name="Picture 2"/>
          <p:cNvPicPr>
            <a:picLocks noChangeAspect="1" noChangeArrowheads="1"/>
          </p:cNvPicPr>
          <p:nvPr/>
        </p:nvPicPr>
        <p:blipFill>
          <a:blip r:embed="rId4" cstate="print"/>
          <a:srcRect/>
          <a:stretch>
            <a:fillRect/>
          </a:stretch>
        </p:blipFill>
        <p:spPr bwMode="auto">
          <a:xfrm>
            <a:off x="1973263" y="2901950"/>
            <a:ext cx="5197475" cy="212725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Test </a:t>
            </a:r>
            <a:r>
              <a:rPr lang="en-US" dirty="0" err="1" smtClean="0"/>
              <a:t>PromQL</a:t>
            </a:r>
            <a:r>
              <a:rPr lang="en-US" dirty="0" smtClean="0"/>
              <a:t> Queries</a:t>
            </a:r>
            <a:endParaRPr lang="en-US" dirty="0"/>
          </a:p>
        </p:txBody>
      </p:sp>
      <p:sp>
        <p:nvSpPr>
          <p:cNvPr id="3" name="Content Placeholder 2"/>
          <p:cNvSpPr>
            <a:spLocks noGrp="1"/>
          </p:cNvSpPr>
          <p:nvPr>
            <p:ph idx="1"/>
          </p:nvPr>
        </p:nvSpPr>
        <p:spPr/>
        <p:txBody>
          <a:bodyPr/>
          <a:lstStyle/>
          <a:p>
            <a:r>
              <a:rPr lang="en-US" sz="2400" b="1" dirty="0" smtClean="0"/>
              <a:t>up</a:t>
            </a:r>
          </a:p>
          <a:p>
            <a:r>
              <a:rPr lang="en-US" sz="2400" b="1" dirty="0" smtClean="0"/>
              <a:t>( </a:t>
            </a:r>
            <a:r>
              <a:rPr lang="en-US" sz="2400" b="1" dirty="0" err="1" smtClean="0"/>
              <a:t>process_resident_memory_bytes</a:t>
            </a:r>
            <a:r>
              <a:rPr lang="en-US" sz="2400" b="1" dirty="0" smtClean="0"/>
              <a:t> / 1024 ) / 1024</a:t>
            </a:r>
            <a:endParaRPr lang="en-US" sz="2400" dirty="0" smtClean="0"/>
          </a:p>
        </p:txBody>
      </p:sp>
      <p:pic>
        <p:nvPicPr>
          <p:cNvPr id="4100" name="Picture 4"/>
          <p:cNvPicPr>
            <a:picLocks noChangeAspect="1" noChangeArrowheads="1"/>
          </p:cNvPicPr>
          <p:nvPr/>
        </p:nvPicPr>
        <p:blipFill>
          <a:blip r:embed="rId2" cstate="print"/>
          <a:srcRect/>
          <a:stretch>
            <a:fillRect/>
          </a:stretch>
        </p:blipFill>
        <p:spPr bwMode="auto">
          <a:xfrm>
            <a:off x="558800" y="3025775"/>
            <a:ext cx="8026400" cy="284162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View Graph</a:t>
            </a:r>
            <a:endParaRPr lang="en-US" dirty="0"/>
          </a:p>
        </p:txBody>
      </p:sp>
      <p:sp>
        <p:nvSpPr>
          <p:cNvPr id="3" name="Content Placeholder 2"/>
          <p:cNvSpPr>
            <a:spLocks noGrp="1"/>
          </p:cNvSpPr>
          <p:nvPr>
            <p:ph idx="1"/>
          </p:nvPr>
        </p:nvSpPr>
        <p:spPr/>
        <p:txBody>
          <a:bodyPr/>
          <a:lstStyle/>
          <a:p>
            <a:r>
              <a:rPr lang="en-US" sz="2200" dirty="0" smtClean="0"/>
              <a:t>Metrics like </a:t>
            </a:r>
            <a:r>
              <a:rPr lang="en-US" sz="2200" dirty="0" err="1" smtClean="0"/>
              <a:t>process_resident_memory_bytes</a:t>
            </a:r>
            <a:r>
              <a:rPr lang="en-US" sz="2200" dirty="0" smtClean="0"/>
              <a:t> are called </a:t>
            </a:r>
            <a:r>
              <a:rPr lang="en-US" sz="2200" i="1" dirty="0" smtClean="0">
                <a:solidFill>
                  <a:srgbClr val="C00000"/>
                </a:solidFill>
              </a:rPr>
              <a:t>gauges</a:t>
            </a:r>
            <a:r>
              <a:rPr lang="en-US" sz="2200" i="1" dirty="0" smtClean="0"/>
              <a:t>. A </a:t>
            </a:r>
            <a:r>
              <a:rPr lang="en-US" sz="2200" dirty="0" smtClean="0"/>
              <a:t>gauge’s current</a:t>
            </a:r>
            <a:r>
              <a:rPr lang="en-US" sz="2200" i="1" dirty="0" smtClean="0"/>
              <a:t> </a:t>
            </a:r>
            <a:r>
              <a:rPr lang="en-US" sz="2200" dirty="0" smtClean="0"/>
              <a:t>absolute value is what is important to you.</a:t>
            </a:r>
            <a:endParaRPr lang="en-US" sz="2200" dirty="0"/>
          </a:p>
        </p:txBody>
      </p:sp>
      <p:pic>
        <p:nvPicPr>
          <p:cNvPr id="4" name="Picture 2"/>
          <p:cNvPicPr>
            <a:picLocks noChangeAspect="1" noChangeArrowheads="1"/>
          </p:cNvPicPr>
          <p:nvPr/>
        </p:nvPicPr>
        <p:blipFill>
          <a:blip r:embed="rId2" cstate="print"/>
          <a:srcRect/>
          <a:stretch>
            <a:fillRect/>
          </a:stretch>
        </p:blipFill>
        <p:spPr bwMode="auto">
          <a:xfrm>
            <a:off x="963613" y="2546350"/>
            <a:ext cx="7216775" cy="362585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Run the Node Exporter</a:t>
            </a:r>
            <a:endParaRPr lang="en-US" dirty="0"/>
          </a:p>
        </p:txBody>
      </p:sp>
      <p:sp>
        <p:nvSpPr>
          <p:cNvPr id="3" name="Content Placeholder 2"/>
          <p:cNvSpPr>
            <a:spLocks noGrp="1"/>
          </p:cNvSpPr>
          <p:nvPr>
            <p:ph idx="1"/>
          </p:nvPr>
        </p:nvSpPr>
        <p:spPr/>
        <p:txBody>
          <a:bodyPr/>
          <a:lstStyle/>
          <a:p>
            <a:r>
              <a:rPr lang="en-US" sz="2400" dirty="0" smtClean="0"/>
              <a:t>The Node Exporter exposes kernel- and machine-level metrics on Unix systems.</a:t>
            </a:r>
          </a:p>
          <a:p>
            <a:r>
              <a:rPr lang="en-US" sz="2400" dirty="0" smtClean="0">
                <a:hlinkClick r:id="rId2"/>
              </a:rPr>
              <a:t>https://prometheus.io/download/</a:t>
            </a:r>
            <a:endParaRPr lang="en-US" sz="2400" dirty="0" smtClean="0"/>
          </a:p>
          <a:p>
            <a:r>
              <a:rPr lang="en-US" sz="2400" dirty="0" err="1" smtClean="0"/>
              <a:t>wget</a:t>
            </a:r>
            <a:r>
              <a:rPr lang="en-US" sz="2400" dirty="0" smtClean="0"/>
              <a:t> </a:t>
            </a:r>
            <a:r>
              <a:rPr lang="en-US" sz="2400" dirty="0" smtClean="0">
                <a:hlinkClick r:id="rId3"/>
              </a:rPr>
              <a:t>https://github.com/prometheus/node_exporter/releases/download/v1.10.2/node_exporter-1.10.2.linux-amd64.tar.gz</a:t>
            </a:r>
            <a:endParaRPr lang="en-US" sz="2400" dirty="0" smtClean="0"/>
          </a:p>
          <a:p>
            <a:r>
              <a:rPr lang="en-US" sz="2400" b="1" dirty="0" smtClean="0"/>
              <a:t>tar -</a:t>
            </a:r>
            <a:r>
              <a:rPr lang="en-US" sz="2400" b="1" dirty="0" err="1" smtClean="0"/>
              <a:t>xzf</a:t>
            </a:r>
            <a:r>
              <a:rPr lang="en-US" sz="2400" b="1" dirty="0" smtClean="0"/>
              <a:t> </a:t>
            </a:r>
            <a:r>
              <a:rPr lang="en-US" sz="2400" b="1" dirty="0" err="1" smtClean="0"/>
              <a:t>node_exporter</a:t>
            </a:r>
            <a:r>
              <a:rPr lang="en-US" sz="2400" b="1" dirty="0" smtClean="0"/>
              <a:t>-*.linux-amd64.tar.gz</a:t>
            </a:r>
            <a:endParaRPr lang="en-US" sz="2400" dirty="0" smtClean="0"/>
          </a:p>
          <a:p>
            <a:r>
              <a:rPr lang="en-US" sz="2400" b="1" dirty="0" err="1" smtClean="0"/>
              <a:t>cd</a:t>
            </a:r>
            <a:r>
              <a:rPr lang="en-US" sz="2400" b="1" dirty="0" smtClean="0"/>
              <a:t> </a:t>
            </a:r>
            <a:r>
              <a:rPr lang="en-US" sz="2400" b="1" dirty="0" err="1" smtClean="0"/>
              <a:t>node_exporter</a:t>
            </a:r>
            <a:r>
              <a:rPr lang="en-US" sz="2400" b="1" dirty="0" smtClean="0"/>
              <a:t>-*.linux-amd64</a:t>
            </a:r>
          </a:p>
          <a:p>
            <a:r>
              <a:rPr lang="en-US" sz="2400" b="1" dirty="0" smtClean="0"/>
              <a:t>./</a:t>
            </a:r>
            <a:r>
              <a:rPr lang="en-US" sz="2400" b="1" dirty="0" err="1" smtClean="0"/>
              <a:t>node_exporter</a:t>
            </a:r>
            <a:endParaRPr lang="en-US" sz="2400" b="1" dirty="0" smtClean="0"/>
          </a:p>
          <a:p>
            <a:endParaRPr lang="en-US" sz="24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Open the Node Exporter</a:t>
            </a:r>
            <a:endParaRPr lang="en-US" dirty="0"/>
          </a:p>
        </p:txBody>
      </p:sp>
      <p:sp>
        <p:nvSpPr>
          <p:cNvPr id="3" name="Content Placeholder 2"/>
          <p:cNvSpPr>
            <a:spLocks noGrp="1"/>
          </p:cNvSpPr>
          <p:nvPr>
            <p:ph idx="1"/>
          </p:nvPr>
        </p:nvSpPr>
        <p:spPr/>
        <p:txBody>
          <a:bodyPr/>
          <a:lstStyle/>
          <a:p>
            <a:r>
              <a:rPr lang="en-US" sz="2400" dirty="0" smtClean="0">
                <a:hlinkClick r:id="rId2"/>
              </a:rPr>
              <a:t>http://20.253.214.16:9100/</a:t>
            </a:r>
            <a:endParaRPr lang="en-US" sz="2400" dirty="0" smtClean="0"/>
          </a:p>
          <a:p>
            <a:endParaRPr lang="en-US" sz="2400" dirty="0" smtClean="0"/>
          </a:p>
        </p:txBody>
      </p:sp>
      <p:pic>
        <p:nvPicPr>
          <p:cNvPr id="6147" name="Picture 3"/>
          <p:cNvPicPr>
            <a:picLocks noChangeAspect="1" noChangeArrowheads="1"/>
          </p:cNvPicPr>
          <p:nvPr/>
        </p:nvPicPr>
        <p:blipFill>
          <a:blip r:embed="rId3" cstate="print"/>
          <a:srcRect/>
          <a:stretch>
            <a:fillRect/>
          </a:stretch>
        </p:blipFill>
        <p:spPr bwMode="auto">
          <a:xfrm>
            <a:off x="1062038" y="2428875"/>
            <a:ext cx="7019925" cy="381952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Update the prometheus.yml File</a:t>
            </a:r>
            <a:endParaRPr lang="en-US" dirty="0"/>
          </a:p>
        </p:txBody>
      </p:sp>
      <p:sp>
        <p:nvSpPr>
          <p:cNvPr id="3" name="Content Placeholder 2"/>
          <p:cNvSpPr>
            <a:spLocks noGrp="1"/>
          </p:cNvSpPr>
          <p:nvPr>
            <p:ph idx="1"/>
          </p:nvPr>
        </p:nvSpPr>
        <p:spPr/>
        <p:txBody>
          <a:bodyPr/>
          <a:lstStyle/>
          <a:p>
            <a:r>
              <a:rPr lang="en-US" sz="2400" dirty="0" err="1" smtClean="0"/>
              <a:t>nano</a:t>
            </a:r>
            <a:r>
              <a:rPr lang="en-US" sz="2400" dirty="0" smtClean="0"/>
              <a:t> </a:t>
            </a:r>
            <a:r>
              <a:rPr lang="en-US" sz="2400" i="1" dirty="0" smtClean="0"/>
              <a:t>prometheus.yml</a:t>
            </a:r>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endParaRPr lang="en-US" sz="2400" b="1" dirty="0" smtClean="0"/>
          </a:p>
          <a:p>
            <a:r>
              <a:rPr lang="en-US" sz="2400" b="1" dirty="0" smtClean="0"/>
              <a:t>./</a:t>
            </a:r>
            <a:r>
              <a:rPr lang="en-US" sz="2400" b="1" dirty="0" err="1" smtClean="0"/>
              <a:t>prometheus</a:t>
            </a:r>
            <a:r>
              <a:rPr lang="en-US" sz="2400" b="1" dirty="0" smtClean="0"/>
              <a:t> --</a:t>
            </a:r>
            <a:r>
              <a:rPr lang="en-US" sz="2400" b="1" dirty="0" err="1" smtClean="0"/>
              <a:t>web.listen</a:t>
            </a:r>
            <a:r>
              <a:rPr lang="en-US" sz="2400" b="1" dirty="0" smtClean="0"/>
              <a:t>-address="0.0.0.0:9090"</a:t>
            </a:r>
            <a:endParaRPr lang="en-US" sz="2400" dirty="0" smtClean="0"/>
          </a:p>
        </p:txBody>
      </p:sp>
      <p:pic>
        <p:nvPicPr>
          <p:cNvPr id="7170" name="Picture 2"/>
          <p:cNvPicPr>
            <a:picLocks noChangeAspect="1" noChangeArrowheads="1"/>
          </p:cNvPicPr>
          <p:nvPr/>
        </p:nvPicPr>
        <p:blipFill>
          <a:blip r:embed="rId2" cstate="print"/>
          <a:srcRect/>
          <a:stretch>
            <a:fillRect/>
          </a:stretch>
        </p:blipFill>
        <p:spPr bwMode="auto">
          <a:xfrm>
            <a:off x="990600" y="2152650"/>
            <a:ext cx="7162800" cy="325755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View the Targets</a:t>
            </a:r>
            <a:endParaRPr lang="en-US" dirty="0"/>
          </a:p>
        </p:txBody>
      </p:sp>
      <p:pic>
        <p:nvPicPr>
          <p:cNvPr id="8194" name="Picture 2"/>
          <p:cNvPicPr>
            <a:picLocks noChangeAspect="1" noChangeArrowheads="1"/>
          </p:cNvPicPr>
          <p:nvPr/>
        </p:nvPicPr>
        <p:blipFill>
          <a:blip r:embed="rId2" cstate="print"/>
          <a:srcRect/>
          <a:stretch>
            <a:fillRect/>
          </a:stretch>
        </p:blipFill>
        <p:spPr bwMode="auto">
          <a:xfrm>
            <a:off x="649288" y="1816100"/>
            <a:ext cx="7845425" cy="427990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Run a Query</a:t>
            </a:r>
            <a:endParaRPr lang="en-US" dirty="0"/>
          </a:p>
        </p:txBody>
      </p:sp>
      <p:sp>
        <p:nvSpPr>
          <p:cNvPr id="3" name="Content Placeholder 2"/>
          <p:cNvSpPr>
            <a:spLocks noGrp="1"/>
          </p:cNvSpPr>
          <p:nvPr>
            <p:ph idx="1"/>
          </p:nvPr>
        </p:nvSpPr>
        <p:spPr/>
        <p:txBody>
          <a:bodyPr/>
          <a:lstStyle/>
          <a:p>
            <a:r>
              <a:rPr lang="en-US" sz="2400" b="1" dirty="0" err="1" smtClean="0"/>
              <a:t>process_resident_memory_bytes</a:t>
            </a:r>
            <a:r>
              <a:rPr lang="en-US" sz="2400" b="1" dirty="0" smtClean="0"/>
              <a:t>{job="node"} / 1024 / 1024</a:t>
            </a:r>
            <a:endParaRPr lang="en-US" sz="2400" b="1" dirty="0"/>
          </a:p>
        </p:txBody>
      </p:sp>
      <p:pic>
        <p:nvPicPr>
          <p:cNvPr id="9219" name="Picture 3"/>
          <p:cNvPicPr>
            <a:picLocks noChangeAspect="1" noChangeArrowheads="1"/>
          </p:cNvPicPr>
          <p:nvPr/>
        </p:nvPicPr>
        <p:blipFill>
          <a:blip r:embed="rId2" cstate="print"/>
          <a:srcRect/>
          <a:stretch>
            <a:fillRect/>
          </a:stretch>
        </p:blipFill>
        <p:spPr bwMode="auto">
          <a:xfrm>
            <a:off x="568325" y="3108325"/>
            <a:ext cx="8007350" cy="275907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Grafana</a:t>
            </a:r>
            <a:endParaRPr lang="en-US" dirty="0"/>
          </a:p>
        </p:txBody>
      </p:sp>
      <p:sp>
        <p:nvSpPr>
          <p:cNvPr id="3" name="Content Placeholder 2"/>
          <p:cNvSpPr>
            <a:spLocks noGrp="1"/>
          </p:cNvSpPr>
          <p:nvPr>
            <p:ph idx="1"/>
          </p:nvPr>
        </p:nvSpPr>
        <p:spPr/>
        <p:txBody>
          <a:bodyPr/>
          <a:lstStyle/>
          <a:p>
            <a:r>
              <a:rPr lang="en-US" dirty="0" smtClean="0">
                <a:hlinkClick r:id="rId2"/>
              </a:rPr>
              <a:t>https://grafana.com/docs/</a:t>
            </a:r>
            <a:endParaRPr lang="en-US" dirty="0" smtClean="0"/>
          </a:p>
          <a:p>
            <a:r>
              <a:rPr lang="en-US" dirty="0" smtClean="0"/>
              <a:t>Query, visualize, and understand your data.</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a:t>
            </a:r>
            <a:r>
              <a:rPr lang="en-US" dirty="0" err="1" smtClean="0"/>
              <a:t>Grafana</a:t>
            </a:r>
            <a:r>
              <a:rPr lang="en-US" dirty="0" smtClean="0"/>
              <a:t> on </a:t>
            </a:r>
            <a:r>
              <a:rPr lang="en-US" dirty="0" err="1" smtClean="0"/>
              <a:t>Ubuntu</a:t>
            </a:r>
            <a:r>
              <a:rPr lang="en-US" dirty="0" smtClean="0">
                <a:hlinkClick r:id="rId2"/>
              </a:rPr>
              <a:t> </a:t>
            </a:r>
            <a:endParaRPr lang="en-US" dirty="0"/>
          </a:p>
        </p:txBody>
      </p:sp>
      <p:sp>
        <p:nvSpPr>
          <p:cNvPr id="3" name="Content Placeholder 2"/>
          <p:cNvSpPr>
            <a:spLocks noGrp="1"/>
          </p:cNvSpPr>
          <p:nvPr>
            <p:ph idx="1"/>
          </p:nvPr>
        </p:nvSpPr>
        <p:spPr/>
        <p:txBody>
          <a:bodyPr/>
          <a:lstStyle/>
          <a:p>
            <a:r>
              <a:rPr lang="en-US" sz="2400" dirty="0" smtClean="0">
                <a:hlinkClick r:id="rId2"/>
              </a:rPr>
              <a:t>https://grafana.com/docs/grafana/latest/setup-grafana/installation/debian/</a:t>
            </a:r>
            <a:endParaRPr lang="en-US" sz="2400" dirty="0" smtClean="0"/>
          </a:p>
          <a:p>
            <a:r>
              <a:rPr lang="en-US" sz="2400" dirty="0" err="1" smtClean="0"/>
              <a:t>sudo</a:t>
            </a:r>
            <a:r>
              <a:rPr lang="en-US" sz="2400" dirty="0" smtClean="0"/>
              <a:t> apt-get install -y apt-transport-https </a:t>
            </a:r>
            <a:r>
              <a:rPr lang="en-US" sz="2400" dirty="0" err="1" smtClean="0"/>
              <a:t>wget</a:t>
            </a:r>
            <a:endParaRPr lang="en-US" sz="2400" dirty="0" smtClean="0"/>
          </a:p>
          <a:p>
            <a:r>
              <a:rPr lang="en-US" sz="2400" dirty="0" err="1" smtClean="0"/>
              <a:t>sudo</a:t>
            </a:r>
            <a:r>
              <a:rPr lang="en-US" sz="2400" dirty="0" smtClean="0"/>
              <a:t> </a:t>
            </a:r>
            <a:r>
              <a:rPr lang="en-US" sz="2400" dirty="0" err="1" smtClean="0"/>
              <a:t>mkdir</a:t>
            </a:r>
            <a:r>
              <a:rPr lang="en-US" sz="2400" dirty="0" smtClean="0"/>
              <a:t> -p /etc/apt/</a:t>
            </a:r>
            <a:r>
              <a:rPr lang="en-US" sz="2400" dirty="0" err="1" smtClean="0"/>
              <a:t>keyrings</a:t>
            </a:r>
            <a:r>
              <a:rPr lang="en-US" sz="2400" dirty="0" smtClean="0"/>
              <a:t>/</a:t>
            </a:r>
          </a:p>
          <a:p>
            <a:r>
              <a:rPr lang="en-US" sz="2400" dirty="0" err="1" smtClean="0"/>
              <a:t>wget</a:t>
            </a:r>
            <a:r>
              <a:rPr lang="en-US" sz="2400" dirty="0" smtClean="0"/>
              <a:t> -q -O - https://apt.grafana.com/gpg.key | </a:t>
            </a:r>
            <a:r>
              <a:rPr lang="en-US" sz="2400" dirty="0" err="1" smtClean="0"/>
              <a:t>gpg</a:t>
            </a:r>
            <a:r>
              <a:rPr lang="en-US" sz="2400" dirty="0" smtClean="0"/>
              <a:t> --</a:t>
            </a:r>
            <a:r>
              <a:rPr lang="en-US" sz="2400" dirty="0" err="1" smtClean="0"/>
              <a:t>dearmor</a:t>
            </a:r>
            <a:r>
              <a:rPr lang="en-US" sz="2400" dirty="0" smtClean="0"/>
              <a:t> | </a:t>
            </a:r>
            <a:r>
              <a:rPr lang="en-US" sz="2400" dirty="0" err="1" smtClean="0"/>
              <a:t>sudo</a:t>
            </a:r>
            <a:r>
              <a:rPr lang="en-US" sz="2400" dirty="0" smtClean="0"/>
              <a:t> tee /etc/apt/</a:t>
            </a:r>
            <a:r>
              <a:rPr lang="en-US" sz="2400" dirty="0" err="1" smtClean="0"/>
              <a:t>keyrings</a:t>
            </a:r>
            <a:r>
              <a:rPr lang="en-US" sz="2400" dirty="0" smtClean="0"/>
              <a:t>/grafana.gpg &gt; /dev/null</a:t>
            </a:r>
          </a:p>
          <a:p>
            <a:r>
              <a:rPr lang="en-US" sz="2400" dirty="0" smtClean="0"/>
              <a:t>echo "</a:t>
            </a:r>
            <a:r>
              <a:rPr lang="en-US" sz="2400" dirty="0" err="1" smtClean="0"/>
              <a:t>deb</a:t>
            </a:r>
            <a:r>
              <a:rPr lang="en-US" sz="2400" dirty="0" smtClean="0"/>
              <a:t> [signed-by=/etc/apt/</a:t>
            </a:r>
            <a:r>
              <a:rPr lang="en-US" sz="2400" dirty="0" err="1" smtClean="0"/>
              <a:t>keyrings</a:t>
            </a:r>
            <a:r>
              <a:rPr lang="en-US" sz="2400" dirty="0" smtClean="0"/>
              <a:t>/grafana.gpg] https://apt.grafana.com stable main" | </a:t>
            </a:r>
            <a:r>
              <a:rPr lang="en-US" sz="2400" dirty="0" err="1" smtClean="0"/>
              <a:t>sudo</a:t>
            </a:r>
            <a:r>
              <a:rPr lang="en-US" sz="2400" dirty="0" smtClean="0"/>
              <a:t> tee -a /etc/apt/</a:t>
            </a:r>
            <a:r>
              <a:rPr lang="en-US" sz="2400" dirty="0" err="1" smtClean="0"/>
              <a:t>sources.list.d</a:t>
            </a:r>
            <a:r>
              <a:rPr lang="en-US" sz="2400" dirty="0" smtClean="0"/>
              <a:t>/</a:t>
            </a:r>
            <a:r>
              <a:rPr lang="en-US" sz="2400" dirty="0" err="1" smtClean="0"/>
              <a:t>grafana.list</a:t>
            </a:r>
            <a:endParaRPr lang="en-US" sz="2400" dirty="0" smtClean="0"/>
          </a:p>
          <a:p>
            <a:r>
              <a:rPr lang="en-US" sz="2400" dirty="0" err="1" smtClean="0"/>
              <a:t>sudo</a:t>
            </a:r>
            <a:r>
              <a:rPr lang="en-US" sz="2400" dirty="0" smtClean="0"/>
              <a:t> apt-get update</a:t>
            </a:r>
          </a:p>
          <a:p>
            <a:r>
              <a:rPr lang="en-US" sz="2400" dirty="0" err="1" smtClean="0"/>
              <a:t>sudo</a:t>
            </a:r>
            <a:r>
              <a:rPr lang="en-US" sz="2400" dirty="0" smtClean="0"/>
              <a:t> apt-get install </a:t>
            </a:r>
            <a:r>
              <a:rPr lang="en-US" sz="2400" dirty="0" err="1" smtClean="0"/>
              <a:t>grafana</a:t>
            </a:r>
            <a:r>
              <a:rPr lang="en-US" sz="2400" dirty="0" smtClean="0"/>
              <a:t>-enterprise</a:t>
            </a:r>
          </a:p>
          <a:p>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Modify the </a:t>
            </a:r>
            <a:r>
              <a:rPr lang="en-US" dirty="0" err="1" smtClean="0"/>
              <a:t>Grafana</a:t>
            </a:r>
            <a:r>
              <a:rPr lang="en-US" dirty="0" smtClean="0"/>
              <a:t> Settings</a:t>
            </a:r>
            <a:endParaRPr lang="en-US" dirty="0"/>
          </a:p>
        </p:txBody>
      </p:sp>
      <p:sp>
        <p:nvSpPr>
          <p:cNvPr id="3" name="Content Placeholder 2"/>
          <p:cNvSpPr>
            <a:spLocks noGrp="1"/>
          </p:cNvSpPr>
          <p:nvPr>
            <p:ph idx="1"/>
          </p:nvPr>
        </p:nvSpPr>
        <p:spPr/>
        <p:txBody>
          <a:bodyPr/>
          <a:lstStyle/>
          <a:p>
            <a:r>
              <a:rPr lang="en-US" sz="2400" dirty="0" err="1" smtClean="0"/>
              <a:t>sudo</a:t>
            </a:r>
            <a:r>
              <a:rPr lang="en-US" sz="2400" dirty="0" smtClean="0"/>
              <a:t> </a:t>
            </a:r>
            <a:r>
              <a:rPr lang="en-US" sz="2400" dirty="0" err="1" smtClean="0"/>
              <a:t>nano</a:t>
            </a:r>
            <a:r>
              <a:rPr lang="en-US" sz="2400" dirty="0" smtClean="0"/>
              <a:t> /etc/</a:t>
            </a:r>
            <a:r>
              <a:rPr lang="en-US" sz="2400" dirty="0" err="1" smtClean="0"/>
              <a:t>grafana</a:t>
            </a:r>
            <a:r>
              <a:rPr lang="en-US" sz="2400" dirty="0" smtClean="0"/>
              <a:t>/grafana.ini</a:t>
            </a:r>
          </a:p>
          <a:p>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1382713" y="2841625"/>
            <a:ext cx="6378575" cy="21875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Start the </a:t>
            </a:r>
            <a:r>
              <a:rPr lang="en-US" dirty="0" err="1" smtClean="0"/>
              <a:t>Grafana</a:t>
            </a:r>
            <a:r>
              <a:rPr lang="en-US" dirty="0" smtClean="0"/>
              <a:t> Server</a:t>
            </a:r>
            <a:r>
              <a:rPr lang="en-US" dirty="0" smtClean="0">
                <a:hlinkClick r:id="rId2"/>
              </a:rPr>
              <a:t> </a:t>
            </a:r>
            <a:endParaRPr lang="en-US" dirty="0"/>
          </a:p>
        </p:txBody>
      </p:sp>
      <p:sp>
        <p:nvSpPr>
          <p:cNvPr id="3" name="Content Placeholder 2"/>
          <p:cNvSpPr>
            <a:spLocks noGrp="1"/>
          </p:cNvSpPr>
          <p:nvPr>
            <p:ph idx="1"/>
          </p:nvPr>
        </p:nvSpPr>
        <p:spPr/>
        <p:txBody>
          <a:bodyPr/>
          <a:lstStyle/>
          <a:p>
            <a:r>
              <a:rPr lang="en-US" sz="2400" dirty="0" smtClean="0">
                <a:hlinkClick r:id="rId2"/>
              </a:rPr>
              <a:t>https://grafana.com/docs/grafana/latest/setup-grafana/start-restart-grafana/</a:t>
            </a:r>
            <a:endParaRPr lang="en-US" sz="2400" dirty="0" smtClean="0"/>
          </a:p>
          <a:p>
            <a:r>
              <a:rPr lang="en-US" sz="2400" dirty="0" err="1" smtClean="0"/>
              <a:t>sudo</a:t>
            </a:r>
            <a:r>
              <a:rPr lang="en-US" sz="2400" dirty="0" smtClean="0"/>
              <a:t> </a:t>
            </a:r>
            <a:r>
              <a:rPr lang="en-US" sz="2400" dirty="0" err="1" smtClean="0"/>
              <a:t>systemctl</a:t>
            </a:r>
            <a:r>
              <a:rPr lang="en-US" sz="2400" dirty="0" smtClean="0"/>
              <a:t> daemon-reload</a:t>
            </a:r>
          </a:p>
          <a:p>
            <a:r>
              <a:rPr lang="en-US" sz="2400" dirty="0" err="1" smtClean="0"/>
              <a:t>sudo</a:t>
            </a:r>
            <a:r>
              <a:rPr lang="en-US" sz="2400" dirty="0" smtClean="0"/>
              <a:t> </a:t>
            </a:r>
            <a:r>
              <a:rPr lang="en-US" sz="2400" dirty="0" err="1" smtClean="0"/>
              <a:t>systemctl</a:t>
            </a:r>
            <a:r>
              <a:rPr lang="en-US" sz="2400" dirty="0" smtClean="0"/>
              <a:t> start </a:t>
            </a:r>
            <a:r>
              <a:rPr lang="en-US" sz="2400" dirty="0" err="1" smtClean="0"/>
              <a:t>grafana</a:t>
            </a:r>
            <a:r>
              <a:rPr lang="en-US" sz="2400" dirty="0" smtClean="0"/>
              <a:t>-server</a:t>
            </a:r>
          </a:p>
          <a:p>
            <a:r>
              <a:rPr lang="en-US" sz="2400" dirty="0" err="1" smtClean="0"/>
              <a:t>sudo</a:t>
            </a:r>
            <a:r>
              <a:rPr lang="en-US" sz="2400" dirty="0" smtClean="0"/>
              <a:t> </a:t>
            </a:r>
            <a:r>
              <a:rPr lang="en-US" sz="2400" dirty="0" err="1" smtClean="0"/>
              <a:t>systemctl</a:t>
            </a:r>
            <a:r>
              <a:rPr lang="en-US" sz="2400" dirty="0" smtClean="0"/>
              <a:t> status </a:t>
            </a:r>
            <a:r>
              <a:rPr lang="en-US" sz="2400" dirty="0" err="1" smtClean="0"/>
              <a:t>grafana</a:t>
            </a:r>
            <a:r>
              <a:rPr lang="en-US" sz="2400" dirty="0" smtClean="0"/>
              <a:t>-server</a:t>
            </a:r>
          </a:p>
          <a:p>
            <a:r>
              <a:rPr lang="en-US" sz="2400" dirty="0" err="1" smtClean="0"/>
              <a:t>sudo</a:t>
            </a:r>
            <a:r>
              <a:rPr lang="en-US" sz="2400" dirty="0" smtClean="0"/>
              <a:t> </a:t>
            </a:r>
            <a:r>
              <a:rPr lang="en-US" sz="2400" dirty="0" err="1" smtClean="0"/>
              <a:t>systemctl</a:t>
            </a:r>
            <a:r>
              <a:rPr lang="en-US" sz="2400" dirty="0" smtClean="0"/>
              <a:t> enable </a:t>
            </a:r>
            <a:r>
              <a:rPr lang="en-US" sz="2400" dirty="0" err="1" smtClean="0"/>
              <a:t>grafana-server.service</a:t>
            </a:r>
            <a:endParaRPr lang="en-US" sz="2400" dirty="0" smtClean="0"/>
          </a:p>
          <a:p>
            <a:r>
              <a:rPr lang="en-US" sz="2400" dirty="0" err="1" smtClean="0"/>
              <a:t>sudo</a:t>
            </a:r>
            <a:r>
              <a:rPr lang="en-US" sz="2400" dirty="0" smtClean="0"/>
              <a:t> </a:t>
            </a:r>
            <a:r>
              <a:rPr lang="en-US" sz="2400" dirty="0" err="1" smtClean="0"/>
              <a:t>systemctl</a:t>
            </a:r>
            <a:r>
              <a:rPr lang="en-US" sz="2400" dirty="0" smtClean="0"/>
              <a:t> restart </a:t>
            </a:r>
            <a:r>
              <a:rPr lang="en-US" sz="2400" dirty="0" err="1" smtClean="0"/>
              <a:t>grafana</a:t>
            </a:r>
            <a:r>
              <a:rPr lang="en-US" sz="2400" dirty="0" smtClean="0"/>
              <a:t>-server</a:t>
            </a:r>
          </a:p>
          <a:p>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Log in the </a:t>
            </a:r>
            <a:r>
              <a:rPr lang="en-US" dirty="0" err="1" smtClean="0"/>
              <a:t>Grafana</a:t>
            </a:r>
            <a:r>
              <a:rPr lang="en-US" dirty="0" smtClean="0"/>
              <a:t> Server</a:t>
            </a:r>
            <a:r>
              <a:rPr lang="en-US" dirty="0" smtClean="0">
                <a:hlinkClick r:id="rId2"/>
              </a:rPr>
              <a:t> </a:t>
            </a:r>
            <a:endParaRPr lang="en-US" dirty="0"/>
          </a:p>
        </p:txBody>
      </p:sp>
      <p:sp>
        <p:nvSpPr>
          <p:cNvPr id="3" name="Content Placeholder 2"/>
          <p:cNvSpPr>
            <a:spLocks noGrp="1"/>
          </p:cNvSpPr>
          <p:nvPr>
            <p:ph idx="1"/>
          </p:nvPr>
        </p:nvSpPr>
        <p:spPr/>
        <p:txBody>
          <a:bodyPr/>
          <a:lstStyle/>
          <a:p>
            <a:r>
              <a:rPr lang="en-US" sz="2400" dirty="0" smtClean="0">
                <a:hlinkClick r:id="rId3"/>
              </a:rPr>
              <a:t>http://20.253.214.16:9091/login</a:t>
            </a:r>
            <a:endParaRPr lang="en-US" sz="2400" dirty="0" smtClean="0"/>
          </a:p>
          <a:p>
            <a:r>
              <a:rPr lang="en-US" sz="2400" dirty="0" smtClean="0"/>
              <a:t>admin / admin</a:t>
            </a:r>
            <a:endParaRPr lang="en-US" sz="2400" dirty="0"/>
          </a:p>
        </p:txBody>
      </p:sp>
      <p:pic>
        <p:nvPicPr>
          <p:cNvPr id="2051" name="Picture 3"/>
          <p:cNvPicPr>
            <a:picLocks noChangeAspect="1" noChangeArrowheads="1"/>
          </p:cNvPicPr>
          <p:nvPr/>
        </p:nvPicPr>
        <p:blipFill>
          <a:blip r:embed="rId4" cstate="print"/>
          <a:srcRect/>
          <a:stretch>
            <a:fillRect/>
          </a:stretch>
        </p:blipFill>
        <p:spPr bwMode="auto">
          <a:xfrm>
            <a:off x="2438400" y="2971800"/>
            <a:ext cx="3910495" cy="2896294"/>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Add a Data Source</a:t>
            </a:r>
            <a:endParaRPr lang="en-US" dirty="0"/>
          </a:p>
        </p:txBody>
      </p:sp>
      <p:pic>
        <p:nvPicPr>
          <p:cNvPr id="2053" name="Picture 5"/>
          <p:cNvPicPr>
            <a:picLocks noChangeAspect="1" noChangeArrowheads="1"/>
          </p:cNvPicPr>
          <p:nvPr/>
        </p:nvPicPr>
        <p:blipFill>
          <a:blip r:embed="rId2" cstate="print"/>
          <a:srcRect/>
          <a:stretch>
            <a:fillRect/>
          </a:stretch>
        </p:blipFill>
        <p:spPr bwMode="auto">
          <a:xfrm>
            <a:off x="1066800" y="1905000"/>
            <a:ext cx="6924835" cy="3849394"/>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Build a Dashboard</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066800" y="2090352"/>
            <a:ext cx="6881192" cy="3319848"/>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Share a Dashboard</a:t>
            </a:r>
            <a:endParaRPr lang="en-US" dirty="0"/>
          </a:p>
        </p:txBody>
      </p:sp>
      <p:sp>
        <p:nvSpPr>
          <p:cNvPr id="3" name="Content Placeholder 2"/>
          <p:cNvSpPr>
            <a:spLocks noGrp="1"/>
          </p:cNvSpPr>
          <p:nvPr>
            <p:ph idx="1"/>
          </p:nvPr>
        </p:nvSpPr>
        <p:spPr/>
        <p:txBody>
          <a:bodyPr/>
          <a:lstStyle/>
          <a:p>
            <a:r>
              <a:rPr lang="en-US" sz="2400" dirty="0" smtClean="0">
                <a:hlinkClick r:id="rId2"/>
              </a:rPr>
              <a:t>http://20.253.214.16:9091/public-dashboards/0a62bde470c7430ebba5da096fd697fd</a:t>
            </a:r>
            <a:endParaRPr lang="en-US" sz="2400" dirty="0" smtClean="0"/>
          </a:p>
          <a:p>
            <a:endParaRPr lang="en-US" sz="2400" dirty="0"/>
          </a:p>
        </p:txBody>
      </p:sp>
      <p:pic>
        <p:nvPicPr>
          <p:cNvPr id="4098" name="Picture 2"/>
          <p:cNvPicPr>
            <a:picLocks noChangeAspect="1" noChangeArrowheads="1"/>
          </p:cNvPicPr>
          <p:nvPr/>
        </p:nvPicPr>
        <p:blipFill>
          <a:blip r:embed="rId3" cstate="print"/>
          <a:srcRect/>
          <a:stretch>
            <a:fillRect/>
          </a:stretch>
        </p:blipFill>
        <p:spPr bwMode="auto">
          <a:xfrm>
            <a:off x="1536700" y="2740025"/>
            <a:ext cx="6070600" cy="33559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Run </a:t>
            </a:r>
            <a:r>
              <a:rPr lang="en-US" dirty="0" err="1" smtClean="0"/>
              <a:t>cAdvisor</a:t>
            </a:r>
            <a:r>
              <a:rPr lang="en-US" dirty="0" smtClean="0"/>
              <a:t> with </a:t>
            </a:r>
            <a:r>
              <a:rPr lang="en-US" dirty="0" err="1" smtClean="0"/>
              <a:t>Docker</a:t>
            </a:r>
            <a:endParaRPr lang="en-US" dirty="0"/>
          </a:p>
        </p:txBody>
      </p:sp>
      <p:sp>
        <p:nvSpPr>
          <p:cNvPr id="3" name="Content Placeholder 2"/>
          <p:cNvSpPr>
            <a:spLocks noGrp="1"/>
          </p:cNvSpPr>
          <p:nvPr>
            <p:ph idx="1"/>
          </p:nvPr>
        </p:nvSpPr>
        <p:spPr/>
        <p:txBody>
          <a:bodyPr/>
          <a:lstStyle/>
          <a:p>
            <a:r>
              <a:rPr lang="en-US" sz="2400" dirty="0" smtClean="0">
                <a:hlinkClick r:id="rId2"/>
              </a:rPr>
              <a:t>https://github.com/google/cadvisor</a:t>
            </a:r>
            <a:endParaRPr lang="en-US" sz="2400" dirty="0" smtClean="0"/>
          </a:p>
        </p:txBody>
      </p:sp>
      <p:pic>
        <p:nvPicPr>
          <p:cNvPr id="5122" name="Picture 2"/>
          <p:cNvPicPr>
            <a:picLocks noChangeAspect="1" noChangeArrowheads="1"/>
          </p:cNvPicPr>
          <p:nvPr/>
        </p:nvPicPr>
        <p:blipFill>
          <a:blip r:embed="rId3" cstate="print"/>
          <a:srcRect/>
          <a:stretch>
            <a:fillRect/>
          </a:stretch>
        </p:blipFill>
        <p:spPr bwMode="auto">
          <a:xfrm>
            <a:off x="1430338" y="2381250"/>
            <a:ext cx="6283325" cy="348615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Add </a:t>
            </a:r>
            <a:r>
              <a:rPr lang="en-US" dirty="0" err="1" smtClean="0"/>
              <a:t>cAdvisor</a:t>
            </a:r>
            <a:r>
              <a:rPr lang="en-US" dirty="0" smtClean="0"/>
              <a:t> to Prometheus</a:t>
            </a:r>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1447800" y="2514600"/>
            <a:ext cx="6153150" cy="2500313"/>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Review the Memory Dashboard</a:t>
            </a:r>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1535113" y="2225675"/>
            <a:ext cx="6073775" cy="333692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1. Prepare k8s Prometheus Deployment</a:t>
            </a:r>
            <a:endParaRPr lang="en-US" sz="3800" dirty="0"/>
          </a:p>
        </p:txBody>
      </p:sp>
      <p:sp>
        <p:nvSpPr>
          <p:cNvPr id="3" name="Content Placeholder 2"/>
          <p:cNvSpPr>
            <a:spLocks noGrp="1"/>
          </p:cNvSpPr>
          <p:nvPr>
            <p:ph idx="1"/>
          </p:nvPr>
        </p:nvSpPr>
        <p:spPr/>
        <p:txBody>
          <a:bodyPr/>
          <a:lstStyle/>
          <a:p>
            <a:r>
              <a:rPr lang="en-US" sz="2400" b="1" dirty="0" err="1" smtClean="0"/>
              <a:t>nano</a:t>
            </a:r>
            <a:r>
              <a:rPr lang="en-US" sz="2400" b="1" dirty="0" smtClean="0"/>
              <a:t> prometheus-deployment.yml</a:t>
            </a:r>
          </a:p>
        </p:txBody>
      </p:sp>
      <p:pic>
        <p:nvPicPr>
          <p:cNvPr id="1027" name="Picture 3"/>
          <p:cNvPicPr>
            <a:picLocks noChangeAspect="1" noChangeArrowheads="1"/>
          </p:cNvPicPr>
          <p:nvPr/>
        </p:nvPicPr>
        <p:blipFill>
          <a:blip r:embed="rId2" cstate="print"/>
          <a:srcRect/>
          <a:stretch>
            <a:fillRect/>
          </a:stretch>
        </p:blipFill>
        <p:spPr bwMode="auto">
          <a:xfrm>
            <a:off x="2444750" y="2578100"/>
            <a:ext cx="4254500" cy="313690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Deploy Prometheus</a:t>
            </a:r>
            <a:endParaRPr lang="en-US" dirty="0"/>
          </a:p>
        </p:txBody>
      </p:sp>
      <p:sp>
        <p:nvSpPr>
          <p:cNvPr id="3" name="Content Placeholder 2"/>
          <p:cNvSpPr>
            <a:spLocks noGrp="1"/>
          </p:cNvSpPr>
          <p:nvPr>
            <p:ph idx="1"/>
          </p:nvPr>
        </p:nvSpPr>
        <p:spPr/>
        <p:txBody>
          <a:bodyPr/>
          <a:lstStyle/>
          <a:p>
            <a:r>
              <a:rPr lang="en-US" sz="2400" b="1" dirty="0" err="1" smtClean="0"/>
              <a:t>kubectl</a:t>
            </a:r>
            <a:r>
              <a:rPr lang="en-US" sz="2400" b="1" dirty="0" smtClean="0"/>
              <a:t> apply -f prometheus-deployment.yml</a:t>
            </a:r>
          </a:p>
          <a:p>
            <a:r>
              <a:rPr lang="en-US" sz="2400" dirty="0" err="1" smtClean="0"/>
              <a:t>kubectl</a:t>
            </a:r>
            <a:r>
              <a:rPr lang="en-US" sz="2400" dirty="0" smtClean="0"/>
              <a:t> port-forward svc/</a:t>
            </a:r>
            <a:r>
              <a:rPr lang="en-US" sz="2400" dirty="0" err="1" smtClean="0"/>
              <a:t>prometheus</a:t>
            </a:r>
            <a:r>
              <a:rPr lang="en-US" sz="2400" dirty="0" smtClean="0"/>
              <a:t> 9090:9090 --address=0.0.0.0</a:t>
            </a:r>
          </a:p>
          <a:p>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Open Prometheus</a:t>
            </a:r>
            <a:endParaRPr lang="en-US" dirty="0"/>
          </a:p>
        </p:txBody>
      </p:sp>
      <p:sp>
        <p:nvSpPr>
          <p:cNvPr id="3" name="Content Placeholder 2"/>
          <p:cNvSpPr>
            <a:spLocks noGrp="1"/>
          </p:cNvSpPr>
          <p:nvPr>
            <p:ph idx="1"/>
          </p:nvPr>
        </p:nvSpPr>
        <p:spPr/>
        <p:txBody>
          <a:bodyPr/>
          <a:lstStyle/>
          <a:p>
            <a:r>
              <a:rPr lang="en-US" sz="2400" dirty="0" smtClean="0">
                <a:hlinkClick r:id="rId2"/>
              </a:rPr>
              <a:t>http://20.253.214.16:9090/targets</a:t>
            </a:r>
            <a:endParaRPr lang="en-US" sz="2400" dirty="0" smtClean="0"/>
          </a:p>
          <a:p>
            <a:endParaRPr lang="en-US" sz="2400" dirty="0" smtClean="0"/>
          </a:p>
        </p:txBody>
      </p:sp>
      <p:pic>
        <p:nvPicPr>
          <p:cNvPr id="2050" name="Picture 2"/>
          <p:cNvPicPr>
            <a:picLocks noChangeAspect="1" noChangeArrowheads="1"/>
          </p:cNvPicPr>
          <p:nvPr/>
        </p:nvPicPr>
        <p:blipFill>
          <a:blip r:embed="rId3" cstate="print"/>
          <a:srcRect/>
          <a:stretch>
            <a:fillRect/>
          </a:stretch>
        </p:blipFill>
        <p:spPr bwMode="auto">
          <a:xfrm>
            <a:off x="1143000" y="2414812"/>
            <a:ext cx="6555317" cy="3604988"/>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Discovery</a:t>
            </a:r>
            <a:endParaRPr lang="en-US" dirty="0"/>
          </a:p>
        </p:txBody>
      </p:sp>
      <p:sp>
        <p:nvSpPr>
          <p:cNvPr id="3" name="Content Placeholder 2"/>
          <p:cNvSpPr>
            <a:spLocks noGrp="1"/>
          </p:cNvSpPr>
          <p:nvPr>
            <p:ph idx="1"/>
          </p:nvPr>
        </p:nvSpPr>
        <p:spPr/>
        <p:txBody>
          <a:bodyPr/>
          <a:lstStyle/>
          <a:p>
            <a:r>
              <a:rPr lang="en-US" dirty="0" smtClean="0"/>
              <a:t>There are currently six different types of </a:t>
            </a:r>
            <a:r>
              <a:rPr lang="en-US" dirty="0" err="1" smtClean="0"/>
              <a:t>Kubernetes</a:t>
            </a:r>
            <a:r>
              <a:rPr lang="en-US" dirty="0" smtClean="0"/>
              <a:t> service discoveries you can use with Prometheus, namely </a:t>
            </a:r>
            <a:r>
              <a:rPr lang="en-US" i="1" dirty="0" smtClean="0"/>
              <a:t>node, endpoints, </a:t>
            </a:r>
            <a:r>
              <a:rPr lang="en-US" i="1" dirty="0" err="1" smtClean="0"/>
              <a:t>endpointslice</a:t>
            </a:r>
            <a:r>
              <a:rPr lang="en-US" i="1" dirty="0" smtClean="0"/>
              <a:t>, service, pod, and ingress.</a:t>
            </a:r>
          </a:p>
          <a:p>
            <a:r>
              <a:rPr lang="en-US" dirty="0" smtClean="0"/>
              <a:t>Prometheus uses the </a:t>
            </a:r>
            <a:r>
              <a:rPr lang="en-US" dirty="0" err="1" smtClean="0"/>
              <a:t>Kubernetes</a:t>
            </a:r>
            <a:r>
              <a:rPr lang="en-US" dirty="0" smtClean="0"/>
              <a:t> API to discover targets.</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 Service Discovery</a:t>
            </a:r>
            <a:endParaRPr lang="en-US" dirty="0"/>
          </a:p>
        </p:txBody>
      </p:sp>
      <p:sp>
        <p:nvSpPr>
          <p:cNvPr id="3" name="Content Placeholder 2"/>
          <p:cNvSpPr>
            <a:spLocks noGrp="1"/>
          </p:cNvSpPr>
          <p:nvPr>
            <p:ph idx="1"/>
          </p:nvPr>
        </p:nvSpPr>
        <p:spPr/>
        <p:txBody>
          <a:bodyPr/>
          <a:lstStyle/>
          <a:p>
            <a:r>
              <a:rPr lang="en-US" sz="2000" i="1" dirty="0" smtClean="0">
                <a:solidFill>
                  <a:srgbClr val="C00000"/>
                </a:solidFill>
              </a:rPr>
              <a:t>Node service discovery</a:t>
            </a:r>
            <a:r>
              <a:rPr lang="en-US" sz="2000" dirty="0" smtClean="0"/>
              <a:t> is used to discover the nodes comprising the </a:t>
            </a:r>
            <a:r>
              <a:rPr lang="en-US" sz="2000" dirty="0" err="1" smtClean="0"/>
              <a:t>Kubernetes</a:t>
            </a:r>
            <a:r>
              <a:rPr lang="en-US" sz="2000" dirty="0" smtClean="0"/>
              <a:t> cluster, and you will use it to monitor the infrastructure around </a:t>
            </a:r>
            <a:r>
              <a:rPr lang="en-US" sz="2000" dirty="0" err="1" smtClean="0"/>
              <a:t>Kubernetes</a:t>
            </a:r>
            <a:r>
              <a:rPr lang="en-US" sz="2000" dirty="0" smtClean="0"/>
              <a:t>.</a:t>
            </a:r>
          </a:p>
          <a:p>
            <a:r>
              <a:rPr lang="en-US" sz="2000" dirty="0" smtClean="0"/>
              <a:t>The </a:t>
            </a:r>
            <a:r>
              <a:rPr lang="en-US" sz="2000" i="1" dirty="0" err="1" smtClean="0">
                <a:solidFill>
                  <a:srgbClr val="C00000"/>
                </a:solidFill>
              </a:rPr>
              <a:t>kubelet</a:t>
            </a:r>
            <a:r>
              <a:rPr lang="en-US" sz="2000" dirty="0" smtClean="0"/>
              <a:t> is the name of the agent that runs on each node, and you should scrape it as part of monitoring the health of the </a:t>
            </a:r>
            <a:r>
              <a:rPr lang="en-US" sz="2000" dirty="0" err="1" smtClean="0"/>
              <a:t>Kubernetes</a:t>
            </a:r>
            <a:r>
              <a:rPr lang="en-US" sz="2000" dirty="0" smtClean="0"/>
              <a:t> cluster</a:t>
            </a:r>
            <a:endParaRPr lang="en-US" sz="2000" dirty="0"/>
          </a:p>
        </p:txBody>
      </p:sp>
      <p:pic>
        <p:nvPicPr>
          <p:cNvPr id="1028" name="Picture 4"/>
          <p:cNvPicPr>
            <a:picLocks noChangeAspect="1" noChangeArrowheads="1"/>
          </p:cNvPicPr>
          <p:nvPr/>
        </p:nvPicPr>
        <p:blipFill>
          <a:blip r:embed="rId2" cstate="print"/>
          <a:srcRect/>
          <a:stretch>
            <a:fillRect/>
          </a:stretch>
        </p:blipFill>
        <p:spPr bwMode="auto">
          <a:xfrm>
            <a:off x="981075" y="3429000"/>
            <a:ext cx="7181850" cy="299720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Pod Discovery</a:t>
            </a:r>
            <a:endParaRPr lang="en-US" dirty="0"/>
          </a:p>
        </p:txBody>
      </p:sp>
      <p:sp>
        <p:nvSpPr>
          <p:cNvPr id="3" name="Content Placeholder 2"/>
          <p:cNvSpPr>
            <a:spLocks noGrp="1"/>
          </p:cNvSpPr>
          <p:nvPr>
            <p:ph idx="1"/>
          </p:nvPr>
        </p:nvSpPr>
        <p:spPr/>
        <p:txBody>
          <a:bodyPr/>
          <a:lstStyle/>
          <a:p>
            <a:r>
              <a:rPr lang="en-US" sz="2200" dirty="0" smtClean="0"/>
              <a:t>One of the components that comes with </a:t>
            </a:r>
            <a:r>
              <a:rPr lang="en-US" sz="2200" dirty="0" err="1" smtClean="0"/>
              <a:t>Minikube</a:t>
            </a:r>
            <a:r>
              <a:rPr lang="en-US" sz="2200" dirty="0" smtClean="0"/>
              <a:t> is </a:t>
            </a:r>
            <a:r>
              <a:rPr lang="en-US" sz="2200" dirty="0" err="1" smtClean="0"/>
              <a:t>kube-dns</a:t>
            </a:r>
            <a:r>
              <a:rPr lang="en-US" sz="2200" dirty="0" smtClean="0"/>
              <a:t>, which provides DNS services. Its pod has multiple ports, including a port named metrics that serves Prometheus metrics.</a:t>
            </a:r>
          </a:p>
          <a:p>
            <a:r>
              <a:rPr lang="en-US" sz="2200" dirty="0" smtClean="0"/>
              <a:t>Discover all pod ports with the name metrics and to use the container name as the job label:</a:t>
            </a:r>
            <a:endParaRPr lang="en-US" sz="2200" dirty="0"/>
          </a:p>
        </p:txBody>
      </p:sp>
      <p:pic>
        <p:nvPicPr>
          <p:cNvPr id="2050" name="Picture 2"/>
          <p:cNvPicPr>
            <a:picLocks noChangeAspect="1" noChangeArrowheads="1"/>
          </p:cNvPicPr>
          <p:nvPr/>
        </p:nvPicPr>
        <p:blipFill>
          <a:blip r:embed="rId2" cstate="print"/>
          <a:srcRect/>
          <a:stretch>
            <a:fillRect/>
          </a:stretch>
        </p:blipFill>
        <p:spPr bwMode="auto">
          <a:xfrm>
            <a:off x="771525" y="3660775"/>
            <a:ext cx="7600950" cy="2587625"/>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kube</a:t>
            </a:r>
            <a:r>
              <a:rPr lang="en-US" dirty="0" smtClean="0"/>
              <a:t>-state-metrics</a:t>
            </a:r>
            <a:endParaRPr lang="en-US" dirty="0"/>
          </a:p>
        </p:txBody>
      </p:sp>
      <p:sp>
        <p:nvSpPr>
          <p:cNvPr id="3" name="Content Placeholder 2"/>
          <p:cNvSpPr>
            <a:spLocks noGrp="1"/>
          </p:cNvSpPr>
          <p:nvPr>
            <p:ph idx="1"/>
          </p:nvPr>
        </p:nvSpPr>
        <p:spPr/>
        <p:txBody>
          <a:bodyPr/>
          <a:lstStyle/>
          <a:p>
            <a:r>
              <a:rPr lang="en-US" sz="2400" dirty="0" smtClean="0"/>
              <a:t>Using </a:t>
            </a:r>
            <a:r>
              <a:rPr lang="en-US" sz="2400" dirty="0" err="1" smtClean="0"/>
              <a:t>Kubernetes</a:t>
            </a:r>
            <a:r>
              <a:rPr lang="en-US" sz="2400" dirty="0" smtClean="0"/>
              <a:t> service discovery you can have Prometheus scrape your applications and </a:t>
            </a:r>
            <a:r>
              <a:rPr lang="en-US" sz="2400" dirty="0" err="1" smtClean="0"/>
              <a:t>Kubernetes</a:t>
            </a:r>
            <a:r>
              <a:rPr lang="en-US" sz="2400" dirty="0" smtClean="0"/>
              <a:t> infrastructure, but this will </a:t>
            </a:r>
            <a:r>
              <a:rPr lang="en-US" sz="2400" i="1" dirty="0" smtClean="0">
                <a:solidFill>
                  <a:srgbClr val="C00000"/>
                </a:solidFill>
              </a:rPr>
              <a:t>not</a:t>
            </a:r>
            <a:r>
              <a:rPr lang="en-US" sz="2400" dirty="0" smtClean="0"/>
              <a:t> include metrics about what </a:t>
            </a:r>
            <a:r>
              <a:rPr lang="en-US" sz="2400" dirty="0" err="1" smtClean="0"/>
              <a:t>Kubernetes</a:t>
            </a:r>
            <a:r>
              <a:rPr lang="en-US" sz="2400" dirty="0" smtClean="0"/>
              <a:t> knows about your </a:t>
            </a:r>
            <a:r>
              <a:rPr lang="en-US" sz="2400" u="sng" dirty="0" smtClean="0"/>
              <a:t>services</a:t>
            </a:r>
            <a:r>
              <a:rPr lang="en-US" sz="2400" dirty="0" smtClean="0"/>
              <a:t>, </a:t>
            </a:r>
            <a:r>
              <a:rPr lang="en-US" sz="2400" u="sng" dirty="0" smtClean="0"/>
              <a:t>pods</a:t>
            </a:r>
            <a:r>
              <a:rPr lang="en-US" sz="2400" dirty="0" smtClean="0"/>
              <a:t>, </a:t>
            </a:r>
            <a:r>
              <a:rPr lang="en-US" sz="2400" u="sng" dirty="0" smtClean="0"/>
              <a:t>deployments</a:t>
            </a:r>
            <a:r>
              <a:rPr lang="en-US" sz="2400" dirty="0" smtClean="0"/>
              <a:t>, and other resources.</a:t>
            </a:r>
          </a:p>
          <a:p>
            <a:r>
              <a:rPr lang="en-US" sz="2400" dirty="0" smtClean="0"/>
              <a:t>This is because applications such as the </a:t>
            </a:r>
            <a:r>
              <a:rPr lang="en-US" sz="2400" dirty="0" err="1" smtClean="0"/>
              <a:t>Kubelet</a:t>
            </a:r>
            <a:r>
              <a:rPr lang="en-US" sz="2400" dirty="0" smtClean="0"/>
              <a:t> and </a:t>
            </a:r>
            <a:r>
              <a:rPr lang="en-US" sz="2400" dirty="0" err="1" smtClean="0"/>
              <a:t>Kubernetes</a:t>
            </a:r>
            <a:r>
              <a:rPr lang="en-US" sz="2400" dirty="0" smtClean="0"/>
              <a:t> API servers should expose </a:t>
            </a:r>
            <a:r>
              <a:rPr lang="en-US" sz="2400" i="1" dirty="0" smtClean="0">
                <a:solidFill>
                  <a:srgbClr val="C00000"/>
                </a:solidFill>
              </a:rPr>
              <a:t>information about their own performance</a:t>
            </a:r>
            <a:r>
              <a:rPr lang="en-US" sz="2400" dirty="0" smtClean="0"/>
              <a:t>, </a:t>
            </a:r>
            <a:r>
              <a:rPr lang="en-US" sz="2400" u="sng" dirty="0" smtClean="0"/>
              <a:t>not dump their internal data structures</a:t>
            </a:r>
            <a:r>
              <a:rPr lang="en-US" sz="2400" dirty="0" smtClean="0"/>
              <a:t>.</a:t>
            </a:r>
          </a:p>
          <a:p>
            <a:r>
              <a:rPr lang="en-US" sz="2400" dirty="0" smtClean="0"/>
              <a:t>Instead, you would obtain such metrics from another endpoint, or if that doesn’t exist, have an exporter that extracts the relevant information.</a:t>
            </a:r>
          </a:p>
          <a:p>
            <a:r>
              <a:rPr lang="en-US" sz="2400" dirty="0" smtClean="0"/>
              <a:t>For </a:t>
            </a:r>
            <a:r>
              <a:rPr lang="en-US" sz="2400" dirty="0" err="1" smtClean="0"/>
              <a:t>Kubernetes</a:t>
            </a:r>
            <a:r>
              <a:rPr lang="en-US" sz="2400" dirty="0" smtClean="0"/>
              <a:t>, </a:t>
            </a:r>
            <a:r>
              <a:rPr lang="en-US" sz="2400" i="1" dirty="0" err="1" smtClean="0">
                <a:solidFill>
                  <a:srgbClr val="C00000"/>
                </a:solidFill>
              </a:rPr>
              <a:t>kube</a:t>
            </a:r>
            <a:r>
              <a:rPr lang="en-US" sz="2400" i="1" dirty="0" smtClean="0">
                <a:solidFill>
                  <a:srgbClr val="C00000"/>
                </a:solidFill>
              </a:rPr>
              <a:t>-state-metrics</a:t>
            </a:r>
            <a:r>
              <a:rPr lang="en-US" sz="2400" dirty="0" smtClean="0"/>
              <a:t> is that </a:t>
            </a:r>
            <a:r>
              <a:rPr lang="en-US" sz="2400" u="sng" dirty="0" smtClean="0"/>
              <a:t>exporter</a:t>
            </a:r>
            <a:r>
              <a:rPr lang="en-US" sz="2400" dirty="0" smtClean="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t>
            </a:r>
            <a:r>
              <a:rPr lang="en-US" dirty="0" err="1" smtClean="0"/>
              <a:t>kube</a:t>
            </a:r>
            <a:r>
              <a:rPr lang="en-US" dirty="0" smtClean="0"/>
              <a:t>-state-metrics works</a:t>
            </a:r>
            <a:endParaRPr lang="en-US" dirty="0"/>
          </a:p>
        </p:txBody>
      </p:sp>
      <p:sp>
        <p:nvSpPr>
          <p:cNvPr id="3" name="Content Placeholder 2"/>
          <p:cNvSpPr>
            <a:spLocks noGrp="1"/>
          </p:cNvSpPr>
          <p:nvPr>
            <p:ph idx="1"/>
          </p:nvPr>
        </p:nvSpPr>
        <p:spPr/>
        <p:txBody>
          <a:bodyPr/>
          <a:lstStyle/>
          <a:p>
            <a:r>
              <a:rPr lang="en-US" sz="2400" dirty="0" smtClean="0">
                <a:hlinkClick r:id="rId2"/>
              </a:rPr>
              <a:t>https://github.com/kubernetes/kube-state-metrics</a:t>
            </a:r>
            <a:endParaRPr lang="en-US" sz="2400" dirty="0" smtClean="0"/>
          </a:p>
          <a:p>
            <a:r>
              <a:rPr lang="en-US" sz="2400" dirty="0" err="1" smtClean="0"/>
              <a:t>kube</a:t>
            </a:r>
            <a:r>
              <a:rPr lang="en-US" sz="2400" dirty="0" smtClean="0"/>
              <a:t>-state-metrics (KSM) is a simple service that listens to the </a:t>
            </a:r>
            <a:r>
              <a:rPr lang="en-US" sz="2400" dirty="0" err="1" smtClean="0"/>
              <a:t>Kubernetes</a:t>
            </a:r>
            <a:r>
              <a:rPr lang="en-US" sz="2400" dirty="0" smtClean="0"/>
              <a:t> API server and generates metrics about the state of the objects.</a:t>
            </a:r>
          </a:p>
          <a:p>
            <a:r>
              <a:rPr lang="en-US" sz="2400" dirty="0" err="1" smtClean="0"/>
              <a:t>kube</a:t>
            </a:r>
            <a:r>
              <a:rPr lang="en-US" sz="2400" dirty="0" smtClean="0"/>
              <a:t>-state-metrics is about generating metrics from </a:t>
            </a:r>
            <a:r>
              <a:rPr lang="en-US" sz="2400" dirty="0" err="1" smtClean="0"/>
              <a:t>Kubernetes</a:t>
            </a:r>
            <a:r>
              <a:rPr lang="en-US" sz="2400" dirty="0" smtClean="0"/>
              <a:t> API objects without modification.</a:t>
            </a:r>
          </a:p>
          <a:p>
            <a:r>
              <a:rPr lang="en-US" sz="2400" i="1" dirty="0" smtClean="0"/>
              <a:t>Components like </a:t>
            </a:r>
            <a:r>
              <a:rPr lang="en-US" sz="2400" i="1" dirty="0" err="1" smtClean="0"/>
              <a:t>kubelets</a:t>
            </a:r>
            <a:r>
              <a:rPr lang="en-US" sz="2400" i="1" dirty="0" smtClean="0"/>
              <a:t> and control-plane services expose system performance metrics, but they </a:t>
            </a:r>
            <a:r>
              <a:rPr lang="en-US" sz="2400" i="1" dirty="0" smtClean="0">
                <a:solidFill>
                  <a:srgbClr val="C00000"/>
                </a:solidFill>
              </a:rPr>
              <a:t>don't translate</a:t>
            </a:r>
            <a:r>
              <a:rPr lang="en-US" sz="2400" i="1" dirty="0" smtClean="0"/>
              <a:t> </a:t>
            </a:r>
            <a:r>
              <a:rPr lang="en-US" sz="2400" i="1" dirty="0" err="1" smtClean="0"/>
              <a:t>Kubernetes</a:t>
            </a:r>
            <a:r>
              <a:rPr lang="en-US" sz="2400" i="1" dirty="0" smtClean="0"/>
              <a:t> API state into flat metrics Prometheus can scrape.</a:t>
            </a:r>
          </a:p>
          <a:p>
            <a:r>
              <a:rPr lang="en-US" sz="2400" b="1" i="1" dirty="0" err="1" smtClean="0"/>
              <a:t>kube</a:t>
            </a:r>
            <a:r>
              <a:rPr lang="en-US" sz="2400" b="1" i="1" dirty="0" smtClean="0"/>
              <a:t>-state-metrics bridges that gap by watching the API and exporting states in Prometheus format.</a:t>
            </a:r>
            <a:endParaRPr lang="en-US" sz="2400" b="1" i="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Prepare KSM Deployment</a:t>
            </a:r>
            <a:endParaRPr lang="en-US" dirty="0"/>
          </a:p>
        </p:txBody>
      </p:sp>
      <p:sp>
        <p:nvSpPr>
          <p:cNvPr id="3" name="Content Placeholder 2"/>
          <p:cNvSpPr>
            <a:spLocks noGrp="1"/>
          </p:cNvSpPr>
          <p:nvPr>
            <p:ph idx="1"/>
          </p:nvPr>
        </p:nvSpPr>
        <p:spPr/>
        <p:txBody>
          <a:bodyPr/>
          <a:lstStyle/>
          <a:p>
            <a:r>
              <a:rPr lang="en-US" sz="2400" b="1" dirty="0" err="1" smtClean="0"/>
              <a:t>nano</a:t>
            </a:r>
            <a:r>
              <a:rPr lang="en-US" sz="2400" b="1" dirty="0" smtClean="0"/>
              <a:t> kube-state-metrics.yml</a:t>
            </a:r>
          </a:p>
          <a:p>
            <a:endParaRPr lang="en-US" sz="2400" b="1" dirty="0" smtClean="0"/>
          </a:p>
        </p:txBody>
      </p:sp>
      <p:pic>
        <p:nvPicPr>
          <p:cNvPr id="3076" name="Picture 4"/>
          <p:cNvPicPr>
            <a:picLocks noChangeAspect="1" noChangeArrowheads="1"/>
          </p:cNvPicPr>
          <p:nvPr/>
        </p:nvPicPr>
        <p:blipFill>
          <a:blip r:embed="rId2" cstate="print"/>
          <a:srcRect/>
          <a:stretch>
            <a:fillRect/>
          </a:stretch>
        </p:blipFill>
        <p:spPr bwMode="auto">
          <a:xfrm>
            <a:off x="1620838" y="2403475"/>
            <a:ext cx="5902325" cy="338772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Deploy KSM</a:t>
            </a:r>
            <a:endParaRPr lang="en-US" dirty="0"/>
          </a:p>
        </p:txBody>
      </p:sp>
      <p:sp>
        <p:nvSpPr>
          <p:cNvPr id="3" name="Content Placeholder 2"/>
          <p:cNvSpPr>
            <a:spLocks noGrp="1"/>
          </p:cNvSpPr>
          <p:nvPr>
            <p:ph idx="1"/>
          </p:nvPr>
        </p:nvSpPr>
        <p:spPr/>
        <p:txBody>
          <a:bodyPr/>
          <a:lstStyle/>
          <a:p>
            <a:r>
              <a:rPr lang="en-US" sz="2400" b="1" dirty="0" err="1" smtClean="0"/>
              <a:t>kubectl</a:t>
            </a:r>
            <a:r>
              <a:rPr lang="en-US" sz="2400" b="1" dirty="0" smtClean="0"/>
              <a:t> apply -f kube-state-metrics.yml</a:t>
            </a:r>
          </a:p>
          <a:p>
            <a:r>
              <a:rPr lang="en-US" sz="2400" dirty="0" err="1" smtClean="0"/>
              <a:t>kubectl</a:t>
            </a:r>
            <a:r>
              <a:rPr lang="en-US" sz="2400" dirty="0" smtClean="0"/>
              <a:t> port-forward svc/</a:t>
            </a:r>
            <a:r>
              <a:rPr lang="en-US" sz="2400" b="1" dirty="0" err="1" smtClean="0"/>
              <a:t>kube</a:t>
            </a:r>
            <a:r>
              <a:rPr lang="en-US" sz="2400" b="1" dirty="0" smtClean="0"/>
              <a:t>-state-metrics</a:t>
            </a:r>
            <a:r>
              <a:rPr lang="en-US" sz="2400" dirty="0" smtClean="0"/>
              <a:t> 9090:9090 --address=0.0.0.0</a:t>
            </a:r>
          </a:p>
          <a:p>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Open Prometheus</a:t>
            </a:r>
            <a:endParaRPr lang="en-US" dirty="0"/>
          </a:p>
        </p:txBody>
      </p:sp>
      <p:sp>
        <p:nvSpPr>
          <p:cNvPr id="3" name="Content Placeholder 2"/>
          <p:cNvSpPr>
            <a:spLocks noGrp="1"/>
          </p:cNvSpPr>
          <p:nvPr>
            <p:ph idx="1"/>
          </p:nvPr>
        </p:nvSpPr>
        <p:spPr/>
        <p:txBody>
          <a:bodyPr/>
          <a:lstStyle/>
          <a:p>
            <a:r>
              <a:rPr lang="en-US" sz="2400" dirty="0" smtClean="0">
                <a:hlinkClick r:id="rId2"/>
              </a:rPr>
              <a:t>http://20.253.214.16:9090/targets</a:t>
            </a:r>
            <a:endParaRPr lang="en-US" sz="2400" dirty="0" smtClean="0"/>
          </a:p>
          <a:p>
            <a:endParaRPr lang="en-US" sz="2400" dirty="0" smtClean="0"/>
          </a:p>
        </p:txBody>
      </p:sp>
      <p:pic>
        <p:nvPicPr>
          <p:cNvPr id="4098" name="Picture 2"/>
          <p:cNvPicPr>
            <a:picLocks noChangeAspect="1" noChangeArrowheads="1"/>
          </p:cNvPicPr>
          <p:nvPr/>
        </p:nvPicPr>
        <p:blipFill>
          <a:blip r:embed="rId3" cstate="print"/>
          <a:srcRect/>
          <a:stretch>
            <a:fillRect/>
          </a:stretch>
        </p:blipFill>
        <p:spPr bwMode="auto">
          <a:xfrm>
            <a:off x="1295400" y="2354261"/>
            <a:ext cx="6575685" cy="3741739"/>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Deploy Prometheus using Helm</a:t>
            </a:r>
            <a:endParaRPr lang="en-US" dirty="0"/>
          </a:p>
        </p:txBody>
      </p:sp>
      <p:sp>
        <p:nvSpPr>
          <p:cNvPr id="3" name="Content Placeholder 2"/>
          <p:cNvSpPr>
            <a:spLocks noGrp="1"/>
          </p:cNvSpPr>
          <p:nvPr>
            <p:ph idx="1"/>
          </p:nvPr>
        </p:nvSpPr>
        <p:spPr/>
        <p:txBody>
          <a:bodyPr/>
          <a:lstStyle/>
          <a:p>
            <a:r>
              <a:rPr lang="en-US" sz="1800" dirty="0" smtClean="0">
                <a:hlinkClick r:id="rId2"/>
              </a:rPr>
              <a:t>https://devopscube.com/setup-prometheus-helm-chart/</a:t>
            </a:r>
            <a:endParaRPr lang="en-US" sz="1800" dirty="0" smtClean="0"/>
          </a:p>
          <a:p>
            <a:r>
              <a:rPr lang="en-US" sz="1800" dirty="0" smtClean="0"/>
              <a:t>helm repo add </a:t>
            </a:r>
            <a:r>
              <a:rPr lang="en-US" sz="1800" dirty="0" err="1" smtClean="0"/>
              <a:t>prometheus</a:t>
            </a:r>
            <a:r>
              <a:rPr lang="en-US" sz="1800" dirty="0" smtClean="0"/>
              <a:t>-community </a:t>
            </a:r>
            <a:r>
              <a:rPr lang="en-US" sz="1800" dirty="0" smtClean="0">
                <a:hlinkClick r:id="rId3"/>
              </a:rPr>
              <a:t>https://prometheus-community.github.io/helm-charts</a:t>
            </a:r>
            <a:endParaRPr lang="en-US" sz="1800" dirty="0" smtClean="0"/>
          </a:p>
          <a:p>
            <a:r>
              <a:rPr lang="en-US" sz="1800" dirty="0" smtClean="0"/>
              <a:t>helm search repo </a:t>
            </a:r>
            <a:r>
              <a:rPr lang="en-US" sz="1800" dirty="0" err="1" smtClean="0"/>
              <a:t>prometheus</a:t>
            </a:r>
            <a:r>
              <a:rPr lang="en-US" sz="1800" dirty="0" smtClean="0"/>
              <a:t>-community</a:t>
            </a:r>
          </a:p>
          <a:p>
            <a:r>
              <a:rPr lang="en-US" sz="1800" dirty="0" err="1" smtClean="0"/>
              <a:t>kubectl</a:t>
            </a:r>
            <a:r>
              <a:rPr lang="en-US" sz="1800" dirty="0" smtClean="0"/>
              <a:t> create namespace monitoring</a:t>
            </a:r>
          </a:p>
          <a:p>
            <a:r>
              <a:rPr lang="en-US" sz="1800" dirty="0" smtClean="0"/>
              <a:t>helm upgrade -</a:t>
            </a:r>
            <a:r>
              <a:rPr lang="en-US" sz="1800" dirty="0" err="1" smtClean="0"/>
              <a:t>i</a:t>
            </a:r>
            <a:r>
              <a:rPr lang="en-US" sz="1800" dirty="0" smtClean="0"/>
              <a:t> </a:t>
            </a:r>
            <a:r>
              <a:rPr lang="en-US" sz="1800" dirty="0" err="1" smtClean="0"/>
              <a:t>prometheus</a:t>
            </a:r>
            <a:r>
              <a:rPr lang="en-US" sz="1800" dirty="0" smtClean="0"/>
              <a:t> </a:t>
            </a:r>
            <a:r>
              <a:rPr lang="en-US" sz="1800" dirty="0" err="1" smtClean="0"/>
              <a:t>prometheus</a:t>
            </a:r>
            <a:r>
              <a:rPr lang="en-US" sz="1800" dirty="0" smtClean="0"/>
              <a:t>-community/</a:t>
            </a:r>
            <a:r>
              <a:rPr lang="en-US" sz="1800" dirty="0" err="1" smtClean="0"/>
              <a:t>prometheus</a:t>
            </a:r>
            <a:r>
              <a:rPr lang="en-US" sz="1800" dirty="0" smtClean="0"/>
              <a:t> --namespace monitoring --create-namespace --set </a:t>
            </a:r>
            <a:r>
              <a:rPr lang="en-US" sz="1800" dirty="0" err="1" smtClean="0"/>
              <a:t>alertmanager.persistence.storageClass</a:t>
            </a:r>
            <a:r>
              <a:rPr lang="en-US" sz="1800" dirty="0" smtClean="0"/>
              <a:t>=</a:t>
            </a:r>
            <a:r>
              <a:rPr lang="en-US" sz="1800" b="1" dirty="0" smtClean="0"/>
              <a:t>standard</a:t>
            </a:r>
            <a:r>
              <a:rPr lang="en-US" sz="1800" dirty="0" smtClean="0"/>
              <a:t> --set </a:t>
            </a:r>
            <a:r>
              <a:rPr lang="en-US" sz="1800" dirty="0" err="1" smtClean="0"/>
              <a:t>server.persistentVolume.storageClass</a:t>
            </a:r>
            <a:r>
              <a:rPr lang="en-US" sz="1800" dirty="0" smtClean="0"/>
              <a:t>=</a:t>
            </a:r>
            <a:r>
              <a:rPr lang="en-US" sz="1800" b="1" dirty="0" smtClean="0"/>
              <a:t>standard</a:t>
            </a:r>
            <a:endParaRPr lang="en-US" sz="1800" b="1" dirty="0"/>
          </a:p>
        </p:txBody>
      </p:sp>
      <p:pic>
        <p:nvPicPr>
          <p:cNvPr id="70658" name="Picture 2"/>
          <p:cNvPicPr>
            <a:picLocks noChangeAspect="1" noChangeArrowheads="1"/>
          </p:cNvPicPr>
          <p:nvPr/>
        </p:nvPicPr>
        <p:blipFill>
          <a:blip r:embed="rId4" cstate="print"/>
          <a:srcRect/>
          <a:stretch>
            <a:fillRect/>
          </a:stretch>
        </p:blipFill>
        <p:spPr bwMode="auto">
          <a:xfrm>
            <a:off x="2667000" y="4530725"/>
            <a:ext cx="3854450" cy="1489075"/>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Test the Deployment</a:t>
            </a:r>
            <a:endParaRPr lang="en-US" dirty="0"/>
          </a:p>
        </p:txBody>
      </p:sp>
      <p:sp>
        <p:nvSpPr>
          <p:cNvPr id="3" name="Content Placeholder 2"/>
          <p:cNvSpPr>
            <a:spLocks noGrp="1"/>
          </p:cNvSpPr>
          <p:nvPr>
            <p:ph idx="1"/>
          </p:nvPr>
        </p:nvSpPr>
        <p:spPr/>
        <p:txBody>
          <a:bodyPr/>
          <a:lstStyle/>
          <a:p>
            <a:r>
              <a:rPr lang="en-US" sz="2000" dirty="0" err="1" smtClean="0"/>
              <a:t>kubectl</a:t>
            </a:r>
            <a:r>
              <a:rPr lang="en-US" sz="2000" dirty="0" smtClean="0"/>
              <a:t> -n monitoring get all</a:t>
            </a:r>
          </a:p>
          <a:p>
            <a:r>
              <a:rPr lang="en-US" sz="2000" dirty="0" smtClean="0"/>
              <a:t>export POD_NAME=$(</a:t>
            </a:r>
            <a:r>
              <a:rPr lang="en-US" sz="2000" dirty="0" err="1" smtClean="0"/>
              <a:t>kubectl</a:t>
            </a:r>
            <a:r>
              <a:rPr lang="en-US" sz="2000" dirty="0" smtClean="0"/>
              <a:t> get pods --namespace monitoring -l "app.kubernetes.io/name=</a:t>
            </a:r>
            <a:r>
              <a:rPr lang="en-US" sz="2000" dirty="0" err="1" smtClean="0"/>
              <a:t>prometheus,app.kubernetes.io</a:t>
            </a:r>
            <a:r>
              <a:rPr lang="en-US" sz="2000" dirty="0" smtClean="0"/>
              <a:t>/instance=</a:t>
            </a:r>
            <a:r>
              <a:rPr lang="en-US" sz="2000" dirty="0" err="1" smtClean="0"/>
              <a:t>prometheus</a:t>
            </a:r>
            <a:r>
              <a:rPr lang="en-US" sz="2000" dirty="0" smtClean="0"/>
              <a:t>" -o </a:t>
            </a:r>
            <a:r>
              <a:rPr lang="en-US" sz="2000" dirty="0" err="1" smtClean="0"/>
              <a:t>jsonpath</a:t>
            </a:r>
            <a:r>
              <a:rPr lang="en-US" sz="2000" dirty="0" smtClean="0"/>
              <a:t>="{.items[0].</a:t>
            </a:r>
            <a:r>
              <a:rPr lang="en-US" sz="2000" dirty="0" err="1" smtClean="0"/>
              <a:t>metadata.name</a:t>
            </a:r>
            <a:r>
              <a:rPr lang="en-US" sz="2000" dirty="0" smtClean="0"/>
              <a:t>}")</a:t>
            </a:r>
          </a:p>
          <a:p>
            <a:r>
              <a:rPr lang="en-US" sz="2000" dirty="0" err="1" smtClean="0"/>
              <a:t>kubectl</a:t>
            </a:r>
            <a:r>
              <a:rPr lang="en-US" sz="2000" dirty="0" smtClean="0"/>
              <a:t> --namespace monitoring port-forward --address 0.0.0.0 $POD_NAME 9090</a:t>
            </a:r>
          </a:p>
          <a:p>
            <a:r>
              <a:rPr lang="en-US" sz="2000" dirty="0" smtClean="0"/>
              <a:t># Open: </a:t>
            </a:r>
            <a:r>
              <a:rPr lang="en-US" sz="2000" dirty="0" smtClean="0">
                <a:hlinkClick r:id="rId2"/>
              </a:rPr>
              <a:t>http://192.168.1.45:9090</a:t>
            </a:r>
            <a:endParaRPr lang="en-US" sz="2000" dirty="0" smtClean="0"/>
          </a:p>
        </p:txBody>
      </p:sp>
      <p:pic>
        <p:nvPicPr>
          <p:cNvPr id="71682" name="Picture 2"/>
          <p:cNvPicPr>
            <a:picLocks noChangeAspect="1" noChangeArrowheads="1"/>
          </p:cNvPicPr>
          <p:nvPr/>
        </p:nvPicPr>
        <p:blipFill>
          <a:blip r:embed="rId3" cstate="print"/>
          <a:srcRect/>
          <a:stretch>
            <a:fillRect/>
          </a:stretch>
        </p:blipFill>
        <p:spPr bwMode="auto">
          <a:xfrm>
            <a:off x="1758950" y="4400550"/>
            <a:ext cx="5626100" cy="139065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a:t>
            </a:r>
            <a:r>
              <a:rPr lang="en-US" smtClean="0"/>
              <a:t>. </a:t>
            </a:r>
            <a:r>
              <a:rPr lang="en-US" dirty="0" smtClean="0"/>
              <a:t>Deploy </a:t>
            </a:r>
            <a:r>
              <a:rPr lang="en-US" dirty="0" err="1" smtClean="0"/>
              <a:t>kube</a:t>
            </a:r>
            <a:r>
              <a:rPr lang="en-US" dirty="0" smtClean="0"/>
              <a:t>-state-metrics</a:t>
            </a:r>
            <a:endParaRPr lang="en-US" dirty="0"/>
          </a:p>
        </p:txBody>
      </p:sp>
      <p:sp>
        <p:nvSpPr>
          <p:cNvPr id="3" name="Content Placeholder 2"/>
          <p:cNvSpPr>
            <a:spLocks noGrp="1"/>
          </p:cNvSpPr>
          <p:nvPr>
            <p:ph idx="1"/>
          </p:nvPr>
        </p:nvSpPr>
        <p:spPr/>
        <p:txBody>
          <a:bodyPr/>
          <a:lstStyle/>
          <a:p>
            <a:r>
              <a:rPr lang="en-US" sz="2400" dirty="0" err="1" smtClean="0"/>
              <a:t>git</a:t>
            </a:r>
            <a:r>
              <a:rPr lang="en-US" sz="2400" dirty="0" smtClean="0"/>
              <a:t> clone https://github.com/kubernetes/kube-state-metrics.git</a:t>
            </a:r>
          </a:p>
          <a:p>
            <a:r>
              <a:rPr lang="en-US" sz="2400" dirty="0" err="1" smtClean="0"/>
              <a:t>kubectl</a:t>
            </a:r>
            <a:r>
              <a:rPr lang="en-US" sz="2400" dirty="0" smtClean="0"/>
              <a:t> apply -f </a:t>
            </a:r>
            <a:r>
              <a:rPr lang="en-US" sz="2400" dirty="0" err="1" smtClean="0"/>
              <a:t>kube</a:t>
            </a:r>
            <a:r>
              <a:rPr lang="en-US" sz="2400" dirty="0" smtClean="0"/>
              <a:t>-state-metrics/examples/standard</a:t>
            </a:r>
          </a:p>
          <a:p>
            <a:r>
              <a:rPr lang="en-US" sz="2400" dirty="0" err="1" smtClean="0"/>
              <a:t>kubectl</a:t>
            </a:r>
            <a:r>
              <a:rPr lang="en-US" sz="2400" dirty="0" smtClean="0"/>
              <a:t> get deployments </a:t>
            </a:r>
            <a:r>
              <a:rPr lang="en-US" sz="2400" dirty="0" err="1" smtClean="0"/>
              <a:t>kube</a:t>
            </a:r>
            <a:r>
              <a:rPr lang="en-US" sz="2400" dirty="0" smtClean="0"/>
              <a:t>-state-metrics -n </a:t>
            </a:r>
            <a:r>
              <a:rPr lang="en-US" sz="2400" dirty="0" err="1" smtClean="0"/>
              <a:t>kube</a:t>
            </a:r>
            <a:r>
              <a:rPr lang="en-US" sz="2400" dirty="0" smtClean="0"/>
              <a:t>-system</a:t>
            </a:r>
          </a:p>
          <a:p>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OpenTelemetry</a:t>
            </a:r>
            <a:endParaRPr lang="en-US" dirty="0"/>
          </a:p>
        </p:txBody>
      </p:sp>
      <p:sp>
        <p:nvSpPr>
          <p:cNvPr id="3" name="Content Placeholder 2"/>
          <p:cNvSpPr>
            <a:spLocks noGrp="1"/>
          </p:cNvSpPr>
          <p:nvPr>
            <p:ph idx="1"/>
          </p:nvPr>
        </p:nvSpPr>
        <p:spPr/>
        <p:txBody>
          <a:bodyPr/>
          <a:lstStyle/>
          <a:p>
            <a:r>
              <a:rPr lang="en-US" dirty="0" smtClean="0">
                <a:hlinkClick r:id="rId2"/>
              </a:rPr>
              <a:t>https://opentelemetry.io/docs/what-is-opentelemetry/</a:t>
            </a:r>
            <a:endParaRPr lang="en-US" dirty="0" smtClean="0"/>
          </a:p>
          <a:p>
            <a:r>
              <a:rPr lang="en-US" dirty="0" err="1" smtClean="0"/>
              <a:t>OpenTelemetry</a:t>
            </a:r>
            <a:r>
              <a:rPr lang="en-US" dirty="0" smtClean="0"/>
              <a:t> consists of the following major components:</a:t>
            </a:r>
          </a:p>
          <a:p>
            <a:pPr lvl="1"/>
            <a:r>
              <a:rPr lang="en-US" dirty="0" smtClean="0"/>
              <a:t>A specification for all components</a:t>
            </a:r>
          </a:p>
          <a:p>
            <a:pPr lvl="1"/>
            <a:r>
              <a:rPr lang="en-US" dirty="0" smtClean="0"/>
              <a:t>A standard protocol that defines the shape of telemetry data</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Elastic </a:t>
            </a:r>
            <a:r>
              <a:rPr lang="en-US" dirty="0" err="1" smtClean="0"/>
              <a:t>Observability</a:t>
            </a:r>
            <a:endParaRPr lang="en-US" dirty="0"/>
          </a:p>
        </p:txBody>
      </p:sp>
      <p:sp>
        <p:nvSpPr>
          <p:cNvPr id="3" name="Content Placeholder 2"/>
          <p:cNvSpPr>
            <a:spLocks noGrp="1"/>
          </p:cNvSpPr>
          <p:nvPr>
            <p:ph idx="1"/>
          </p:nvPr>
        </p:nvSpPr>
        <p:spPr/>
        <p:txBody>
          <a:bodyPr/>
          <a:lstStyle/>
          <a:p>
            <a:r>
              <a:rPr lang="en-US" sz="2200" dirty="0" smtClean="0">
                <a:hlinkClick r:id="rId2"/>
              </a:rPr>
              <a:t>https://www.elastic.co/docs/solutions/observability</a:t>
            </a:r>
            <a:endParaRPr lang="en-US" sz="2200" dirty="0" smtClean="0"/>
          </a:p>
          <a:p>
            <a:r>
              <a:rPr lang="en-US" sz="2200" dirty="0" smtClean="0"/>
              <a:t>Elastic </a:t>
            </a:r>
            <a:r>
              <a:rPr lang="en-US" sz="2200" dirty="0" err="1" smtClean="0"/>
              <a:t>Observability</a:t>
            </a:r>
            <a:r>
              <a:rPr lang="en-US" sz="2200" dirty="0" smtClean="0"/>
              <a:t> provides unified </a:t>
            </a:r>
            <a:r>
              <a:rPr lang="en-US" sz="2200" dirty="0" err="1" smtClean="0"/>
              <a:t>observability</a:t>
            </a:r>
            <a:r>
              <a:rPr lang="en-US" sz="2200" dirty="0" smtClean="0"/>
              <a:t> across applications and infrastructure.</a:t>
            </a:r>
          </a:p>
          <a:p>
            <a:r>
              <a:rPr lang="en-US" sz="2200" dirty="0" smtClean="0"/>
              <a:t>It combines logs, metrics, application traces, user experience data, and more into a single, integrated platform.</a:t>
            </a:r>
          </a:p>
          <a:p>
            <a:r>
              <a:rPr lang="en-US" sz="2200" dirty="0" smtClean="0"/>
              <a:t>This consolidation allows for powerful, cross-referenced analysis, enabling teams to move from detecting issues to understanding their root causes quickly and efficiently.</a:t>
            </a:r>
          </a:p>
          <a:p>
            <a:r>
              <a:rPr lang="en-US" sz="2200" dirty="0" smtClean="0"/>
              <a:t>By leveraging the search and analytics capabilities of </a:t>
            </a:r>
            <a:r>
              <a:rPr lang="en-US" sz="2200" dirty="0" err="1" smtClean="0"/>
              <a:t>Elasticsearch</a:t>
            </a:r>
            <a:r>
              <a:rPr lang="en-US" sz="2200" dirty="0" smtClean="0"/>
              <a:t>, it offers a holistic view of system behavior.</a:t>
            </a:r>
          </a:p>
          <a:p>
            <a:r>
              <a:rPr lang="en-US" sz="2200" dirty="0" smtClean="0"/>
              <a:t>Elastic </a:t>
            </a:r>
            <a:r>
              <a:rPr lang="en-US" sz="2200" dirty="0" err="1" smtClean="0"/>
              <a:t>Observability</a:t>
            </a:r>
            <a:r>
              <a:rPr lang="en-US" sz="2200" dirty="0" smtClean="0"/>
              <a:t> embraces open standards like </a:t>
            </a:r>
            <a:r>
              <a:rPr lang="en-US" sz="2200" dirty="0" err="1" smtClean="0"/>
              <a:t>OpenTelemetry</a:t>
            </a:r>
            <a:r>
              <a:rPr lang="en-US" sz="2200" dirty="0" smtClean="0"/>
              <a:t> for flexible data collection, and offers scalable, cost-efficient data retention with tiered storage.</a:t>
            </a:r>
            <a:endParaRPr lang="en-US" sz="2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Elastic Stack</a:t>
            </a:r>
            <a:endParaRPr lang="en-US" dirty="0"/>
          </a:p>
        </p:txBody>
      </p:sp>
      <p:sp>
        <p:nvSpPr>
          <p:cNvPr id="3" name="Content Placeholder 2"/>
          <p:cNvSpPr>
            <a:spLocks noGrp="1"/>
          </p:cNvSpPr>
          <p:nvPr>
            <p:ph idx="1"/>
          </p:nvPr>
        </p:nvSpPr>
        <p:spPr/>
        <p:txBody>
          <a:bodyPr/>
          <a:lstStyle/>
          <a:p>
            <a:r>
              <a:rPr lang="en-US" sz="2400" dirty="0" smtClean="0">
                <a:hlinkClick r:id="rId2"/>
              </a:rPr>
              <a:t>https://www.elastic.co/docs/get-started/the-stack</a:t>
            </a:r>
            <a:endParaRPr lang="en-US" sz="2400" dirty="0" smtClean="0"/>
          </a:p>
          <a:p>
            <a:endParaRPr lang="en-US" sz="2400" dirty="0"/>
          </a:p>
        </p:txBody>
      </p:sp>
      <p:pic>
        <p:nvPicPr>
          <p:cNvPr id="1026" name="Picture 2"/>
          <p:cNvPicPr>
            <a:picLocks noChangeAspect="1" noChangeArrowheads="1"/>
          </p:cNvPicPr>
          <p:nvPr/>
        </p:nvPicPr>
        <p:blipFill>
          <a:blip r:embed="rId3" cstate="print"/>
          <a:srcRect/>
          <a:stretch>
            <a:fillRect/>
          </a:stretch>
        </p:blipFill>
        <p:spPr bwMode="auto">
          <a:xfrm>
            <a:off x="762000" y="2362200"/>
            <a:ext cx="7575338" cy="3486526"/>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 Architecture</a:t>
            </a:r>
            <a:endParaRPr lang="en-US" dirty="0"/>
          </a:p>
        </p:txBody>
      </p:sp>
      <p:sp>
        <p:nvSpPr>
          <p:cNvPr id="3" name="Content Placeholder 2"/>
          <p:cNvSpPr>
            <a:spLocks noGrp="1"/>
          </p:cNvSpPr>
          <p:nvPr>
            <p:ph idx="1"/>
          </p:nvPr>
        </p:nvSpPr>
        <p:spPr/>
        <p:txBody>
          <a:bodyPr/>
          <a:lstStyle/>
          <a:p>
            <a:r>
              <a:rPr lang="en-US" sz="2200" dirty="0" smtClean="0">
                <a:hlinkClick r:id="rId2"/>
              </a:rPr>
              <a:t>https://www.elastic.co/docs/deploy-manage/deploy/self-managed/tutorial-self-managed-install</a:t>
            </a:r>
            <a:endParaRPr lang="en-US" sz="2200" dirty="0" smtClean="0"/>
          </a:p>
          <a:p>
            <a:endParaRPr lang="en-US" sz="2200" dirty="0"/>
          </a:p>
        </p:txBody>
      </p:sp>
      <p:pic>
        <p:nvPicPr>
          <p:cNvPr id="2050" name="Picture 2" descr="https://www.elastic.co/docs/deploy-manage/images/stack-install-final-state.png"/>
          <p:cNvPicPr>
            <a:picLocks noChangeAspect="1" noChangeArrowheads="1"/>
          </p:cNvPicPr>
          <p:nvPr/>
        </p:nvPicPr>
        <p:blipFill>
          <a:blip r:embed="rId3" cstate="print"/>
          <a:srcRect/>
          <a:stretch>
            <a:fillRect/>
          </a:stretch>
        </p:blipFill>
        <p:spPr bwMode="auto">
          <a:xfrm>
            <a:off x="1676400" y="2667000"/>
            <a:ext cx="5970270" cy="3728085"/>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an </a:t>
            </a:r>
            <a:r>
              <a:rPr lang="en-US" dirty="0" err="1" smtClean="0"/>
              <a:t>Observability</a:t>
            </a:r>
            <a:r>
              <a:rPr lang="en-US" dirty="0" smtClean="0"/>
              <a:t> Project</a:t>
            </a:r>
            <a:endParaRPr lang="en-US" dirty="0"/>
          </a:p>
        </p:txBody>
      </p:sp>
      <p:sp>
        <p:nvSpPr>
          <p:cNvPr id="3" name="Content Placeholder 2"/>
          <p:cNvSpPr>
            <a:spLocks noGrp="1"/>
          </p:cNvSpPr>
          <p:nvPr>
            <p:ph idx="1"/>
          </p:nvPr>
        </p:nvSpPr>
        <p:spPr/>
        <p:txBody>
          <a:bodyPr/>
          <a:lstStyle/>
          <a:p>
            <a:r>
              <a:rPr lang="en-US" sz="2400" dirty="0" smtClean="0">
                <a:hlinkClick r:id="rId2"/>
              </a:rPr>
              <a:t>https://www.elastic.co/docs/solutions/observability/apm/get-started</a:t>
            </a:r>
            <a:endParaRPr lang="en-US" sz="2400" dirty="0" smtClean="0"/>
          </a:p>
          <a:p>
            <a:r>
              <a:rPr lang="en-US" sz="2400" dirty="0" smtClean="0"/>
              <a:t>An Elastic </a:t>
            </a:r>
            <a:r>
              <a:rPr lang="en-US" sz="2400" dirty="0" err="1" smtClean="0"/>
              <a:t>Observability</a:t>
            </a:r>
            <a:r>
              <a:rPr lang="en-US" sz="2400" dirty="0" smtClean="0"/>
              <a:t> </a:t>
            </a:r>
            <a:r>
              <a:rPr lang="en-US" sz="2400" b="1" dirty="0" smtClean="0"/>
              <a:t>Serverless</a:t>
            </a:r>
            <a:r>
              <a:rPr lang="en-US" sz="2400" dirty="0" smtClean="0"/>
              <a:t> project allows you to run Elastic </a:t>
            </a:r>
            <a:r>
              <a:rPr lang="en-US" sz="2400" dirty="0" err="1" smtClean="0"/>
              <a:t>Observability</a:t>
            </a:r>
            <a:r>
              <a:rPr lang="en-US" sz="2400" dirty="0" smtClean="0"/>
              <a:t> Serverless in an </a:t>
            </a:r>
            <a:r>
              <a:rPr lang="en-US" sz="2400" dirty="0" err="1" smtClean="0"/>
              <a:t>autoscaled</a:t>
            </a:r>
            <a:r>
              <a:rPr lang="en-US" sz="2400" dirty="0" smtClean="0"/>
              <a:t> and fully-managed environment, where you don't have to manage the underlying </a:t>
            </a:r>
            <a:r>
              <a:rPr lang="en-US" sz="2400" dirty="0" err="1" smtClean="0"/>
              <a:t>Elasticsearch</a:t>
            </a:r>
            <a:r>
              <a:rPr lang="en-US" sz="2400" dirty="0" smtClean="0"/>
              <a:t> cluster or </a:t>
            </a:r>
            <a:r>
              <a:rPr lang="en-US" sz="2400" dirty="0" err="1" smtClean="0"/>
              <a:t>Kibana</a:t>
            </a:r>
            <a:r>
              <a:rPr lang="en-US" sz="2400" dirty="0" smtClean="0"/>
              <a:t> instances.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Register Application Performance Monitoring (APM)</a:t>
            </a:r>
            <a:endParaRPr lang="en-US" dirty="0"/>
          </a:p>
        </p:txBody>
      </p:sp>
      <p:sp>
        <p:nvSpPr>
          <p:cNvPr id="3" name="Content Placeholder 2"/>
          <p:cNvSpPr>
            <a:spLocks noGrp="1"/>
          </p:cNvSpPr>
          <p:nvPr>
            <p:ph idx="1"/>
          </p:nvPr>
        </p:nvSpPr>
        <p:spPr/>
        <p:txBody>
          <a:bodyPr/>
          <a:lstStyle/>
          <a:p>
            <a:r>
              <a:rPr lang="en-US" sz="2000" dirty="0" smtClean="0">
                <a:hlinkClick r:id="rId2"/>
              </a:rPr>
              <a:t>https://www.elastic.co/docs/reference/apm/agents/dotnet/setup-asp-dot-net</a:t>
            </a:r>
            <a:endParaRPr lang="en-US" sz="2000" dirty="0" smtClean="0"/>
          </a:p>
          <a:p>
            <a:r>
              <a:rPr lang="en-US" sz="2000" dirty="0" smtClean="0"/>
              <a:t>Application Performance Monitoring (APM) collects in-depth performance metrics and errors from inside your application.</a:t>
            </a:r>
          </a:p>
        </p:txBody>
      </p:sp>
      <p:sp>
        <p:nvSpPr>
          <p:cNvPr id="5" name="Rectangle 4"/>
          <p:cNvSpPr/>
          <p:nvPr/>
        </p:nvSpPr>
        <p:spPr>
          <a:xfrm>
            <a:off x="5562600" y="3200400"/>
            <a:ext cx="3124200" cy="304698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600" dirty="0" err="1" smtClean="0"/>
              <a:t>IHttpModule.Init</a:t>
            </a:r>
            <a:r>
              <a:rPr lang="en-US" sz="1600" dirty="0" smtClean="0"/>
              <a:t>()</a:t>
            </a:r>
          </a:p>
          <a:p>
            <a:r>
              <a:rPr lang="en-US" sz="1600" dirty="0" smtClean="0"/>
              <a:t>        |</a:t>
            </a:r>
          </a:p>
          <a:p>
            <a:r>
              <a:rPr lang="en-US" sz="1600" dirty="0" smtClean="0"/>
              <a:t>        | subscribe</a:t>
            </a:r>
          </a:p>
          <a:p>
            <a:r>
              <a:rPr lang="en-US" sz="1600" dirty="0" smtClean="0"/>
              <a:t>        |</a:t>
            </a:r>
          </a:p>
          <a:p>
            <a:r>
              <a:rPr lang="en-US" sz="1600" dirty="0" err="1" smtClean="0"/>
              <a:t>HttpApplication.BeginRequest</a:t>
            </a:r>
            <a:endParaRPr lang="en-US" sz="1600" dirty="0" smtClean="0"/>
          </a:p>
          <a:p>
            <a:r>
              <a:rPr lang="en-US" sz="1600" dirty="0" smtClean="0"/>
              <a:t>        |</a:t>
            </a:r>
          </a:p>
          <a:p>
            <a:r>
              <a:rPr lang="en-US" sz="1600" dirty="0" smtClean="0"/>
              <a:t>        | authentication</a:t>
            </a:r>
          </a:p>
          <a:p>
            <a:r>
              <a:rPr lang="en-US" sz="1600" dirty="0" smtClean="0"/>
              <a:t>        | authorization</a:t>
            </a:r>
          </a:p>
          <a:p>
            <a:r>
              <a:rPr lang="en-US" sz="1600" dirty="0" smtClean="0"/>
              <a:t>        | handler execution</a:t>
            </a:r>
          </a:p>
          <a:p>
            <a:r>
              <a:rPr lang="en-US" sz="1600" dirty="0" smtClean="0"/>
              <a:t>        | ...</a:t>
            </a:r>
          </a:p>
          <a:p>
            <a:r>
              <a:rPr lang="en-US" sz="1600" dirty="0" smtClean="0"/>
              <a:t>        |</a:t>
            </a:r>
          </a:p>
          <a:p>
            <a:r>
              <a:rPr lang="en-US" sz="1600" dirty="0" err="1" smtClean="0"/>
              <a:t>HttpApplication.EndRequest</a:t>
            </a:r>
            <a:endParaRPr lang="en-US" sz="1600" dirty="0"/>
          </a:p>
        </p:txBody>
      </p:sp>
      <p:sp>
        <p:nvSpPr>
          <p:cNvPr id="6" name="Rectangle 5"/>
          <p:cNvSpPr/>
          <p:nvPr/>
        </p:nvSpPr>
        <p:spPr>
          <a:xfrm>
            <a:off x="609600" y="3200400"/>
            <a:ext cx="4572000" cy="332398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sz="1400" dirty="0" smtClean="0"/>
              <a:t>public class </a:t>
            </a:r>
            <a:r>
              <a:rPr lang="en-US" sz="1400" dirty="0" err="1" smtClean="0"/>
              <a:t>MyModule</a:t>
            </a:r>
            <a:r>
              <a:rPr lang="en-US" sz="1400" dirty="0" smtClean="0"/>
              <a:t> : </a:t>
            </a:r>
            <a:r>
              <a:rPr lang="en-US" sz="1400" dirty="0" err="1" smtClean="0"/>
              <a:t>IHttpModule</a:t>
            </a:r>
            <a:endParaRPr lang="en-US" sz="1400" dirty="0" smtClean="0"/>
          </a:p>
          <a:p>
            <a:r>
              <a:rPr lang="en-US" sz="1400" dirty="0" smtClean="0"/>
              <a:t>{</a:t>
            </a:r>
          </a:p>
          <a:p>
            <a:r>
              <a:rPr lang="en-US" sz="1400" dirty="0" smtClean="0"/>
              <a:t>    public void Init(</a:t>
            </a:r>
            <a:r>
              <a:rPr lang="en-US" sz="1400" dirty="0" err="1" smtClean="0"/>
              <a:t>HttpApplication</a:t>
            </a:r>
            <a:r>
              <a:rPr lang="en-US" sz="1400" dirty="0" smtClean="0"/>
              <a:t> app)</a:t>
            </a:r>
          </a:p>
          <a:p>
            <a:r>
              <a:rPr lang="en-US" sz="1400" dirty="0" smtClean="0"/>
              <a:t>    {</a:t>
            </a:r>
          </a:p>
          <a:p>
            <a:r>
              <a:rPr lang="en-US" sz="1400" dirty="0" smtClean="0"/>
              <a:t>        </a:t>
            </a:r>
            <a:r>
              <a:rPr lang="en-US" sz="1400" dirty="0" err="1" smtClean="0"/>
              <a:t>app.BeginRequest</a:t>
            </a:r>
            <a:r>
              <a:rPr lang="en-US" sz="1400" dirty="0" smtClean="0"/>
              <a:t> += </a:t>
            </a:r>
            <a:r>
              <a:rPr lang="en-US" sz="1400" dirty="0" err="1" smtClean="0"/>
              <a:t>OnBeginRequest</a:t>
            </a:r>
            <a:r>
              <a:rPr lang="en-US" sz="1400" dirty="0" smtClean="0"/>
              <a:t>;</a:t>
            </a:r>
          </a:p>
          <a:p>
            <a:r>
              <a:rPr lang="en-US" sz="1400" dirty="0" smtClean="0"/>
              <a:t>        </a:t>
            </a:r>
            <a:r>
              <a:rPr lang="en-US" sz="1400" dirty="0" err="1" smtClean="0"/>
              <a:t>app.EndRequest</a:t>
            </a:r>
            <a:r>
              <a:rPr lang="en-US" sz="1400" dirty="0" smtClean="0"/>
              <a:t> += </a:t>
            </a:r>
            <a:r>
              <a:rPr lang="en-US" sz="1400" dirty="0" err="1" smtClean="0"/>
              <a:t>OnEndRequest</a:t>
            </a:r>
            <a:r>
              <a:rPr lang="en-US" sz="1400" dirty="0" smtClean="0"/>
              <a:t>;</a:t>
            </a:r>
          </a:p>
          <a:p>
            <a:r>
              <a:rPr lang="en-US" sz="1400" dirty="0" smtClean="0"/>
              <a:t>    }</a:t>
            </a:r>
          </a:p>
          <a:p>
            <a:endParaRPr lang="en-US" sz="1400" dirty="0" smtClean="0"/>
          </a:p>
          <a:p>
            <a:r>
              <a:rPr lang="en-US" sz="1400" dirty="0" smtClean="0"/>
              <a:t>    private void </a:t>
            </a:r>
            <a:r>
              <a:rPr lang="en-US" sz="1400" dirty="0" err="1" smtClean="0"/>
              <a:t>OnBeginRequest</a:t>
            </a:r>
            <a:r>
              <a:rPr lang="en-US" sz="1400" dirty="0" smtClean="0"/>
              <a:t>(object sender, </a:t>
            </a:r>
            <a:r>
              <a:rPr lang="en-US" sz="1400" dirty="0" err="1" smtClean="0"/>
              <a:t>EventArgs</a:t>
            </a:r>
            <a:r>
              <a:rPr lang="en-US" sz="1400" dirty="0" smtClean="0"/>
              <a:t> e)</a:t>
            </a:r>
          </a:p>
          <a:p>
            <a:r>
              <a:rPr lang="en-US" sz="1400" dirty="0" smtClean="0"/>
              <a:t>    {</a:t>
            </a:r>
          </a:p>
          <a:p>
            <a:r>
              <a:rPr lang="en-US" sz="1400" dirty="0" smtClean="0"/>
              <a:t>        </a:t>
            </a:r>
            <a:r>
              <a:rPr lang="en-US" sz="1400" dirty="0" err="1" smtClean="0"/>
              <a:t>var</a:t>
            </a:r>
            <a:r>
              <a:rPr lang="en-US" sz="1400" dirty="0" smtClean="0"/>
              <a:t> app = (</a:t>
            </a:r>
            <a:r>
              <a:rPr lang="en-US" sz="1400" dirty="0" err="1" smtClean="0"/>
              <a:t>HttpApplication</a:t>
            </a:r>
            <a:r>
              <a:rPr lang="en-US" sz="1400" dirty="0" smtClean="0"/>
              <a:t>)sender;</a:t>
            </a:r>
          </a:p>
          <a:p>
            <a:endParaRPr lang="en-US" sz="1400" dirty="0" smtClean="0"/>
          </a:p>
          <a:p>
            <a:r>
              <a:rPr lang="en-US" sz="1400" dirty="0" smtClean="0"/>
              <a:t>        // Request has entered the ASP.NET pipeline.</a:t>
            </a:r>
          </a:p>
          <a:p>
            <a:r>
              <a:rPr lang="en-US" sz="1400" dirty="0" smtClean="0"/>
              <a:t>    }</a:t>
            </a:r>
          </a:p>
          <a:p>
            <a:r>
              <a:rPr lang="en-US" sz="1400" dirty="0" smtClean="0"/>
              <a:t>...</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Configure and Test APM</a:t>
            </a:r>
            <a:endParaRPr lang="en-US" dirty="0"/>
          </a:p>
        </p:txBody>
      </p:sp>
      <p:sp>
        <p:nvSpPr>
          <p:cNvPr id="3" name="Content Placeholder 2"/>
          <p:cNvSpPr>
            <a:spLocks noGrp="1"/>
          </p:cNvSpPr>
          <p:nvPr>
            <p:ph idx="1"/>
          </p:nvPr>
        </p:nvSpPr>
        <p:spPr/>
        <p:txBody>
          <a:bodyPr/>
          <a:lstStyle/>
          <a:p>
            <a:r>
              <a:rPr lang="en-US" dirty="0" smtClean="0">
                <a:hlinkClick r:id="rId2"/>
              </a:rPr>
              <a:t>https://www.elastic.co/docs/reference/apm/agents/dotnet/configuration-on-asp-net</a:t>
            </a:r>
            <a:endParaRPr lang="en-US" dirty="0" smtClean="0"/>
          </a:p>
          <a:p>
            <a:r>
              <a:rPr lang="en-US" dirty="0" smtClean="0"/>
              <a:t>curl.exe -</a:t>
            </a:r>
            <a:r>
              <a:rPr lang="en-US" dirty="0" err="1" smtClean="0"/>
              <a:t>i</a:t>
            </a:r>
            <a:r>
              <a:rPr lang="en-US" dirty="0" smtClean="0"/>
              <a:t> -H "Authorization: </a:t>
            </a:r>
            <a:r>
              <a:rPr lang="en-US" dirty="0" err="1" smtClean="0"/>
              <a:t>ApiKey</a:t>
            </a:r>
            <a:r>
              <a:rPr lang="en-US" dirty="0" smtClean="0"/>
              <a:t> RW…w" "https://my-observability-project-cfb03b.apm.us-west1.gcp.elastic.cloud/"</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View Telemetry on Elastic Cloud</a:t>
            </a:r>
            <a:endParaRPr lang="en-US" dirty="0"/>
          </a:p>
        </p:txBody>
      </p:sp>
      <p:pic>
        <p:nvPicPr>
          <p:cNvPr id="80898" name="Picture 2"/>
          <p:cNvPicPr>
            <a:picLocks noChangeAspect="1" noChangeArrowheads="1"/>
          </p:cNvPicPr>
          <p:nvPr/>
        </p:nvPicPr>
        <p:blipFill>
          <a:blip r:embed="rId2" cstate="print"/>
          <a:srcRect/>
          <a:stretch>
            <a:fillRect/>
          </a:stretch>
        </p:blipFill>
        <p:spPr bwMode="auto">
          <a:xfrm>
            <a:off x="765175" y="2073275"/>
            <a:ext cx="7613650" cy="3870325"/>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Register Host Monitoring</a:t>
            </a:r>
            <a:endParaRPr lang="en-US" dirty="0"/>
          </a:p>
        </p:txBody>
      </p:sp>
      <p:sp>
        <p:nvSpPr>
          <p:cNvPr id="3" name="Content Placeholder 2"/>
          <p:cNvSpPr>
            <a:spLocks noGrp="1"/>
          </p:cNvSpPr>
          <p:nvPr>
            <p:ph idx="1"/>
          </p:nvPr>
        </p:nvSpPr>
        <p:spPr/>
        <p:txBody>
          <a:bodyPr/>
          <a:lstStyle/>
          <a:p>
            <a:r>
              <a:rPr lang="en-US" sz="2400" dirty="0" smtClean="0">
                <a:hlinkClick r:id="rId2"/>
              </a:rPr>
              <a:t>https://www.elastic.co/docs/solutions/observability/get-started/quickstart-monitor-hosts-with-elastic-agent</a:t>
            </a:r>
            <a:endParaRPr lang="en-US" sz="2400" dirty="0" smtClean="0"/>
          </a:p>
          <a:p>
            <a:r>
              <a:rPr lang="en-US" sz="2400" dirty="0" smtClean="0"/>
              <a:t>To scan your host, you'll run an auto-detection script that downloads and installs </a:t>
            </a:r>
            <a:r>
              <a:rPr lang="en-US" sz="2400" b="1" dirty="0" smtClean="0"/>
              <a:t>Elastic Agent</a:t>
            </a:r>
            <a:r>
              <a:rPr lang="en-US" sz="2400" dirty="0" smtClean="0"/>
              <a:t>, which is used to collect </a:t>
            </a:r>
            <a:r>
              <a:rPr lang="en-US" sz="2400" dirty="0" err="1" smtClean="0"/>
              <a:t>observability</a:t>
            </a:r>
            <a:r>
              <a:rPr lang="en-US" sz="2400" dirty="0" smtClean="0"/>
              <a:t> data from the host and send it to Elastic.</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Register </a:t>
            </a:r>
            <a:r>
              <a:rPr lang="en-US" dirty="0" err="1" smtClean="0"/>
              <a:t>Kubernetes</a:t>
            </a:r>
            <a:r>
              <a:rPr lang="en-US" dirty="0" smtClean="0"/>
              <a:t> Monitoring</a:t>
            </a:r>
            <a:endParaRPr lang="en-US" dirty="0"/>
          </a:p>
        </p:txBody>
      </p:sp>
      <p:sp>
        <p:nvSpPr>
          <p:cNvPr id="3" name="Content Placeholder 2"/>
          <p:cNvSpPr>
            <a:spLocks noGrp="1"/>
          </p:cNvSpPr>
          <p:nvPr>
            <p:ph idx="1"/>
          </p:nvPr>
        </p:nvSpPr>
        <p:spPr/>
        <p:txBody>
          <a:bodyPr/>
          <a:lstStyle/>
          <a:p>
            <a:r>
              <a:rPr lang="en-US" sz="2400" dirty="0" smtClean="0">
                <a:hlinkClick r:id="rId2"/>
              </a:rPr>
              <a:t>https://www.elastic.co/docs/solutions/observability/get-started/quickstart-unified-kubernetes-observability-with-elastic-distributions-of-opentelemetry-edot</a:t>
            </a:r>
            <a:endParaRPr lang="en-US" sz="2400" dirty="0" smtClean="0"/>
          </a:p>
          <a:p>
            <a:r>
              <a:rPr lang="en-US" sz="2400" dirty="0" smtClean="0"/>
              <a:t>Deploy the </a:t>
            </a:r>
            <a:r>
              <a:rPr lang="en-US" sz="2400" dirty="0" err="1" smtClean="0"/>
              <a:t>OpenTelemetry</a:t>
            </a:r>
            <a:r>
              <a:rPr lang="en-US" sz="2400" dirty="0" smtClean="0"/>
              <a:t> Operator and Elastic Agents using the </a:t>
            </a:r>
            <a:r>
              <a:rPr lang="en-US" sz="2400" dirty="0" err="1" smtClean="0"/>
              <a:t>kube</a:t>
            </a:r>
            <a:r>
              <a:rPr lang="en-US" sz="2400" dirty="0" smtClean="0"/>
              <a:t>-stack Helm chart with the provided </a:t>
            </a:r>
            <a:r>
              <a:rPr lang="en-US" sz="2400" dirty="0" err="1" smtClean="0"/>
              <a:t>values.yaml</a:t>
            </a:r>
            <a:r>
              <a:rPr lang="en-US" sz="2400" dirty="0" smtClean="0"/>
              <a:t> file.</a:t>
            </a:r>
            <a:endParaRPr 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Deploy Self-managed Cluster</a:t>
            </a:r>
            <a:endParaRPr lang="en-US" dirty="0"/>
          </a:p>
        </p:txBody>
      </p:sp>
      <p:sp>
        <p:nvSpPr>
          <p:cNvPr id="3" name="Content Placeholder 2"/>
          <p:cNvSpPr>
            <a:spLocks noGrp="1"/>
          </p:cNvSpPr>
          <p:nvPr>
            <p:ph idx="1"/>
          </p:nvPr>
        </p:nvSpPr>
        <p:spPr/>
        <p:txBody>
          <a:bodyPr/>
          <a:lstStyle/>
          <a:p>
            <a:r>
              <a:rPr lang="en-US" sz="2400" dirty="0" smtClean="0">
                <a:hlinkClick r:id="rId2"/>
              </a:rPr>
              <a:t>https://www.elastic.co/docs/deploy-manage/deploy/self-managed</a:t>
            </a:r>
            <a:endParaRPr lang="en-US" sz="2400" dirty="0" smtClean="0"/>
          </a:p>
          <a:p>
            <a:r>
              <a:rPr lang="en-US" sz="2400" dirty="0" smtClean="0"/>
              <a:t>If you deploy a self-managed cluster, then you have complete control and responsibility over every aspect of your Elastic deployment.</a:t>
            </a:r>
          </a:p>
          <a:p>
            <a:r>
              <a:rPr lang="en-US" sz="2400" dirty="0" err="1" smtClean="0"/>
              <a:t>Elasticsearch</a:t>
            </a:r>
            <a:r>
              <a:rPr lang="en-US" sz="2400" dirty="0" smtClean="0"/>
              <a:t> is the distributed search and analytics engine, scalable data store, and vector database at the heart of all Elastic solutions.</a:t>
            </a:r>
          </a:p>
          <a:p>
            <a:r>
              <a:rPr lang="en-US" sz="2400" dirty="0" smtClean="0"/>
              <a:t>After you deploy </a:t>
            </a:r>
            <a:r>
              <a:rPr lang="en-US" sz="2400" dirty="0" err="1" smtClean="0"/>
              <a:t>Elasticsearch</a:t>
            </a:r>
            <a:r>
              <a:rPr lang="en-US" sz="2400" dirty="0" smtClean="0"/>
              <a:t>, you can install </a:t>
            </a:r>
            <a:r>
              <a:rPr lang="en-US" sz="2400" dirty="0" err="1" smtClean="0"/>
              <a:t>Kibana</a:t>
            </a:r>
            <a:r>
              <a:rPr lang="en-US" sz="2400" dirty="0" smtClean="0"/>
              <a:t>. </a:t>
            </a:r>
            <a:r>
              <a:rPr lang="en-US" sz="2400" dirty="0" err="1" smtClean="0"/>
              <a:t>Kibana</a:t>
            </a:r>
            <a:r>
              <a:rPr lang="en-US" sz="2400" dirty="0" smtClean="0"/>
              <a:t> provides the user interface for all Elastic solutions.</a:t>
            </a: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Prometheus vs. Elastic </a:t>
            </a:r>
            <a:r>
              <a:rPr lang="en-US" dirty="0" err="1" smtClean="0"/>
              <a:t>Observability</a:t>
            </a:r>
            <a:endParaRPr lang="en-US" dirty="0"/>
          </a:p>
        </p:txBody>
      </p:sp>
      <p:sp>
        <p:nvSpPr>
          <p:cNvPr id="3" name="Content Placeholder 2"/>
          <p:cNvSpPr>
            <a:spLocks noGrp="1"/>
          </p:cNvSpPr>
          <p:nvPr>
            <p:ph idx="1"/>
          </p:nvPr>
        </p:nvSpPr>
        <p:spPr/>
        <p:txBody>
          <a:bodyPr/>
          <a:lstStyle/>
          <a:p>
            <a:r>
              <a:rPr lang="en-US" sz="2400" dirty="0" smtClean="0"/>
              <a:t>Prometheus tells you that your application is slow. Elastic APM is designed to tell you </a:t>
            </a:r>
            <a:r>
              <a:rPr lang="en-US" sz="2400" b="1" dirty="0" smtClean="0"/>
              <a:t>why</a:t>
            </a:r>
            <a:r>
              <a:rPr lang="en-US" sz="2400" dirty="0" smtClean="0"/>
              <a:t> it is slow.</a:t>
            </a:r>
          </a:p>
          <a:p>
            <a:r>
              <a:rPr lang="en-US" sz="2400" dirty="0" smtClean="0"/>
              <a:t>Prometheus is used for operational metrics, while Elastic is used when request-level diagnostics, traces, exceptions, and log correlation are needed.</a:t>
            </a:r>
          </a:p>
          <a:p>
            <a:r>
              <a:rPr lang="en-US" sz="2400" dirty="0" smtClean="0"/>
              <a:t>They are not mutually exclusive.</a:t>
            </a:r>
          </a:p>
          <a:p>
            <a:r>
              <a:rPr lang="en-US" sz="2400" dirty="0" smtClean="0"/>
              <a:t>Elastic now also supports native Prometheus ingestion and </a:t>
            </a:r>
            <a:r>
              <a:rPr lang="en-US" sz="2400" dirty="0" err="1" smtClean="0"/>
              <a:t>PromQL</a:t>
            </a:r>
            <a:r>
              <a:rPr lang="en-US" sz="2400" dirty="0" smtClean="0"/>
              <a:t>, so a Prometheus-based metrics architecture can coexist with Elastic </a:t>
            </a:r>
            <a:r>
              <a:rPr lang="en-US" sz="2400" dirty="0" err="1" smtClean="0"/>
              <a:t>Observability</a:t>
            </a:r>
            <a:r>
              <a:rPr lang="en-US" sz="2400" dirty="0" smtClean="0"/>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Chronosphere</a:t>
            </a:r>
            <a:endParaRPr lang="en-US" dirty="0"/>
          </a:p>
        </p:txBody>
      </p:sp>
      <p:sp>
        <p:nvSpPr>
          <p:cNvPr id="3" name="Content Placeholder 2"/>
          <p:cNvSpPr>
            <a:spLocks noGrp="1"/>
          </p:cNvSpPr>
          <p:nvPr>
            <p:ph idx="1"/>
          </p:nvPr>
        </p:nvSpPr>
        <p:spPr/>
        <p:txBody>
          <a:bodyPr/>
          <a:lstStyle/>
          <a:p>
            <a:r>
              <a:rPr lang="en-US" sz="2400" dirty="0" smtClean="0">
                <a:hlinkClick r:id="rId2"/>
              </a:rPr>
              <a:t>https://chronosphere.io/</a:t>
            </a:r>
            <a:endParaRPr lang="en-US" sz="2400" dirty="0" smtClean="0"/>
          </a:p>
          <a:p>
            <a:r>
              <a:rPr lang="en-US" sz="2400" dirty="0" err="1" smtClean="0"/>
              <a:t>Chronosphere</a:t>
            </a:r>
            <a:r>
              <a:rPr lang="en-US" sz="2400" dirty="0" smtClean="0"/>
              <a:t> is the world’s most reliable </a:t>
            </a:r>
            <a:r>
              <a:rPr lang="en-US" sz="2400" dirty="0" err="1" smtClean="0"/>
              <a:t>observability</a:t>
            </a:r>
            <a:r>
              <a:rPr lang="en-US" sz="2400" dirty="0" smtClean="0"/>
              <a:t> platform for </a:t>
            </a:r>
            <a:r>
              <a:rPr lang="en-US" sz="2400" dirty="0" err="1" smtClean="0"/>
              <a:t>microservices</a:t>
            </a:r>
            <a:r>
              <a:rPr lang="en-US" sz="2400" dirty="0" smtClean="0"/>
              <a:t> and containers.</a:t>
            </a:r>
            <a:endParaRPr 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Loki</a:t>
            </a:r>
            <a:endParaRPr lang="en-US" dirty="0"/>
          </a:p>
        </p:txBody>
      </p:sp>
      <p:sp>
        <p:nvSpPr>
          <p:cNvPr id="3" name="Content Placeholder 2"/>
          <p:cNvSpPr>
            <a:spLocks noGrp="1"/>
          </p:cNvSpPr>
          <p:nvPr>
            <p:ph idx="1"/>
          </p:nvPr>
        </p:nvSpPr>
        <p:spPr/>
        <p:txBody>
          <a:bodyPr/>
          <a:lstStyle/>
          <a:p>
            <a:r>
              <a:rPr lang="en-US" sz="2400" dirty="0" smtClean="0">
                <a:hlinkClick r:id="rId2"/>
              </a:rPr>
              <a:t>https://grafana.com/docs/loki/latest/get-started/overview/</a:t>
            </a:r>
            <a:endParaRPr lang="en-US" sz="2400" dirty="0" smtClean="0"/>
          </a:p>
          <a:p>
            <a:r>
              <a:rPr lang="en-US" sz="2400" dirty="0" smtClean="0"/>
              <a:t>Loki is a horizontally-scalable, highly-available, multi-tenant log aggregation system inspired by Prometheus.</a:t>
            </a:r>
          </a:p>
          <a:p>
            <a:r>
              <a:rPr lang="en-US" sz="2400" dirty="0" smtClean="0"/>
              <a:t>Loki differs from Prometheus by focusing on logs instead of metrics, and collecting logs via push, instead of pull.</a:t>
            </a:r>
            <a:endParaRPr lang="en-US" sz="2400" dirty="0"/>
          </a:p>
        </p:txBody>
      </p:sp>
      <p:pic>
        <p:nvPicPr>
          <p:cNvPr id="1026" name="Picture 2" descr="https://grafana.com/docs/loki/latest/get-started/loki-overview-2.png"/>
          <p:cNvPicPr>
            <a:picLocks noChangeAspect="1" noChangeArrowheads="1"/>
          </p:cNvPicPr>
          <p:nvPr/>
        </p:nvPicPr>
        <p:blipFill>
          <a:blip r:embed="rId3" cstate="print"/>
          <a:srcRect/>
          <a:stretch>
            <a:fillRect/>
          </a:stretch>
        </p:blipFill>
        <p:spPr bwMode="auto">
          <a:xfrm>
            <a:off x="1905000" y="4267200"/>
            <a:ext cx="5334000" cy="1653540"/>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InfluxDB</a:t>
            </a:r>
            <a:endParaRPr lang="en-US" dirty="0"/>
          </a:p>
        </p:txBody>
      </p:sp>
      <p:sp>
        <p:nvSpPr>
          <p:cNvPr id="3" name="Content Placeholder 2"/>
          <p:cNvSpPr>
            <a:spLocks noGrp="1"/>
          </p:cNvSpPr>
          <p:nvPr>
            <p:ph idx="1"/>
          </p:nvPr>
        </p:nvSpPr>
        <p:spPr/>
        <p:txBody>
          <a:bodyPr/>
          <a:lstStyle/>
          <a:p>
            <a:r>
              <a:rPr lang="en-US" sz="2400" dirty="0" smtClean="0">
                <a:hlinkClick r:id="rId2"/>
              </a:rPr>
              <a:t>https://www.influxdata.com/products/influxdb/</a:t>
            </a:r>
            <a:endParaRPr lang="en-US" sz="2400" dirty="0" smtClean="0"/>
          </a:p>
          <a:p>
            <a:r>
              <a:rPr lang="en-US" sz="2400" dirty="0" smtClean="0"/>
              <a:t>Most databases weren't built for time series.</a:t>
            </a:r>
          </a:p>
          <a:p>
            <a:r>
              <a:rPr lang="en-US" sz="2400" dirty="0" err="1" smtClean="0"/>
              <a:t>InfluxDB</a:t>
            </a:r>
            <a:r>
              <a:rPr lang="en-US" sz="2400" dirty="0" smtClean="0"/>
              <a:t> 3 Core is built to handle continuous, high-resolution data with precision and speed.</a:t>
            </a:r>
            <a:endParaRPr 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21329</TotalTime>
  <Words>2456</Words>
  <Application>Microsoft Office PowerPoint</Application>
  <PresentationFormat>On-screen Show (4:3)</PresentationFormat>
  <Paragraphs>273</Paragraphs>
  <Slides>77</Slides>
  <Notes>1</Notes>
  <HiddenSlides>0</HiddenSlides>
  <MMClips>0</MMClips>
  <ScaleCrop>false</ScaleCrop>
  <HeadingPairs>
    <vt:vector size="4" baseType="variant">
      <vt:variant>
        <vt:lpstr>Theme</vt:lpstr>
      </vt:variant>
      <vt:variant>
        <vt:i4>1</vt:i4>
      </vt:variant>
      <vt:variant>
        <vt:lpstr>Slide Titles</vt:lpstr>
      </vt:variant>
      <vt:variant>
        <vt:i4>77</vt:i4>
      </vt:variant>
    </vt:vector>
  </HeadingPairs>
  <TitlesOfParts>
    <vt:vector size="78" baseType="lpstr">
      <vt:lpstr>Office Theme</vt:lpstr>
      <vt:lpstr>Observability</vt:lpstr>
      <vt:lpstr>Objectives</vt:lpstr>
      <vt:lpstr>Contents</vt:lpstr>
      <vt:lpstr>References</vt:lpstr>
      <vt:lpstr>Prometheus</vt:lpstr>
      <vt:lpstr>Prometheus's Features</vt:lpstr>
      <vt:lpstr>Prometheus [1]</vt:lpstr>
      <vt:lpstr>Prometheus Architecture</vt:lpstr>
      <vt:lpstr>Prometheus Components (I)</vt:lpstr>
      <vt:lpstr>Prometheus Components (II)</vt:lpstr>
      <vt:lpstr>Prometheus Components (III)</vt:lpstr>
      <vt:lpstr>Prometheus Components (IV)</vt:lpstr>
      <vt:lpstr>Prometheus Components (V)</vt:lpstr>
      <vt:lpstr>Prometheus's Architecture</vt:lpstr>
      <vt:lpstr>Notes</vt:lpstr>
      <vt:lpstr>Disadvantages</vt:lpstr>
      <vt:lpstr>Slide 17</vt:lpstr>
      <vt:lpstr>1. Run Prometheus on Ubuntu</vt:lpstr>
      <vt:lpstr>2. Open the Expression Browser</vt:lpstr>
      <vt:lpstr>3. Open the Targets Page</vt:lpstr>
      <vt:lpstr>4. Open the Metrics Page</vt:lpstr>
      <vt:lpstr>5. Test PromQL Queries</vt:lpstr>
      <vt:lpstr>6. View Graph</vt:lpstr>
      <vt:lpstr>Slide 24</vt:lpstr>
      <vt:lpstr>1. Run the Node Exporter</vt:lpstr>
      <vt:lpstr>2. Open the Node Exporter</vt:lpstr>
      <vt:lpstr>3. Update the prometheus.yml File</vt:lpstr>
      <vt:lpstr>4. View the Targets</vt:lpstr>
      <vt:lpstr>5. Run a Query</vt:lpstr>
      <vt:lpstr>Slide 30</vt:lpstr>
      <vt:lpstr>Grafana</vt:lpstr>
      <vt:lpstr>1. Install Grafana on Ubuntu </vt:lpstr>
      <vt:lpstr>2. Modify the Grafana Settings</vt:lpstr>
      <vt:lpstr>3. Start the Grafana Server </vt:lpstr>
      <vt:lpstr>4. Log in the Grafana Server </vt:lpstr>
      <vt:lpstr>5. Add a Data Source</vt:lpstr>
      <vt:lpstr>6. Build a Dashboard</vt:lpstr>
      <vt:lpstr>7. Share a Dashboard</vt:lpstr>
      <vt:lpstr>Slide 39</vt:lpstr>
      <vt:lpstr>1. Run cAdvisor with Docker</vt:lpstr>
      <vt:lpstr>2. Add cAdvisor to Prometheus</vt:lpstr>
      <vt:lpstr>3. Review the Memory Dashboard</vt:lpstr>
      <vt:lpstr>Slide 43</vt:lpstr>
      <vt:lpstr>1. Prepare k8s Prometheus Deployment</vt:lpstr>
      <vt:lpstr>2. Deploy Prometheus</vt:lpstr>
      <vt:lpstr>3. Open Prometheus</vt:lpstr>
      <vt:lpstr>Service Discovery</vt:lpstr>
      <vt:lpstr>Node Service Discovery</vt:lpstr>
      <vt:lpstr>Pod Discovery</vt:lpstr>
      <vt:lpstr>kube-state-metrics</vt:lpstr>
      <vt:lpstr>How kube-state-metrics works</vt:lpstr>
      <vt:lpstr>4. Prepare KSM Deployment</vt:lpstr>
      <vt:lpstr>5. Deploy KSM</vt:lpstr>
      <vt:lpstr>6. Open Prometheus</vt:lpstr>
      <vt:lpstr>Slide 55</vt:lpstr>
      <vt:lpstr>1. Deploy Prometheus using Helm</vt:lpstr>
      <vt:lpstr>2. Test the Deployment</vt:lpstr>
      <vt:lpstr>3. Deploy kube-state-metrics</vt:lpstr>
      <vt:lpstr>Slide 59</vt:lpstr>
      <vt:lpstr>OpenTelemetry</vt:lpstr>
      <vt:lpstr>Slide 61</vt:lpstr>
      <vt:lpstr>Elastic Observability</vt:lpstr>
      <vt:lpstr>The Elastic Stack</vt:lpstr>
      <vt:lpstr>Deployment Architecture</vt:lpstr>
      <vt:lpstr>1. Create an Observability Project</vt:lpstr>
      <vt:lpstr>2. Register Application Performance Monitoring (APM)</vt:lpstr>
      <vt:lpstr>3. Configure and Test APM</vt:lpstr>
      <vt:lpstr>4. View Telemetry on Elastic Cloud</vt:lpstr>
      <vt:lpstr>5. Register Host Monitoring</vt:lpstr>
      <vt:lpstr>6. Register Kubernetes Monitoring</vt:lpstr>
      <vt:lpstr>7. Deploy Self-managed Cluster</vt:lpstr>
      <vt:lpstr>Prometheus vs. Elastic Observability</vt:lpstr>
      <vt:lpstr>Slide 73</vt:lpstr>
      <vt:lpstr>Chronosphere</vt:lpstr>
      <vt:lpstr>Loki</vt:lpstr>
      <vt:lpstr>InfluxDB</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5204</cp:revision>
  <dcterms:created xsi:type="dcterms:W3CDTF">2007-10-06T08:25:13Z</dcterms:created>
  <dcterms:modified xsi:type="dcterms:W3CDTF">2026-08-10T18:41:21Z</dcterms:modified>
</cp:coreProperties>
</file>