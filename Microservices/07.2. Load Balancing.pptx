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2"/>
  </p:notesMasterIdLst>
  <p:sldIdLst>
    <p:sldId id="670" r:id="rId2"/>
    <p:sldId id="671" r:id="rId3"/>
    <p:sldId id="672" r:id="rId4"/>
    <p:sldId id="673" r:id="rId5"/>
    <p:sldId id="708" r:id="rId6"/>
    <p:sldId id="709" r:id="rId7"/>
    <p:sldId id="710" r:id="rId8"/>
    <p:sldId id="711" r:id="rId9"/>
    <p:sldId id="713" r:id="rId10"/>
    <p:sldId id="716" r:id="rId11"/>
    <p:sldId id="625" r:id="rId12"/>
    <p:sldId id="715" r:id="rId13"/>
    <p:sldId id="607" r:id="rId14"/>
    <p:sldId id="667" r:id="rId15"/>
    <p:sldId id="608" r:id="rId16"/>
    <p:sldId id="609" r:id="rId17"/>
    <p:sldId id="610" r:id="rId18"/>
    <p:sldId id="689" r:id="rId19"/>
    <p:sldId id="675" r:id="rId20"/>
    <p:sldId id="676" r:id="rId21"/>
    <p:sldId id="679" r:id="rId22"/>
    <p:sldId id="680" r:id="rId23"/>
    <p:sldId id="677" r:id="rId24"/>
    <p:sldId id="682" r:id="rId25"/>
    <p:sldId id="683" r:id="rId26"/>
    <p:sldId id="684" r:id="rId27"/>
    <p:sldId id="685" r:id="rId28"/>
    <p:sldId id="687" r:id="rId29"/>
    <p:sldId id="686" r:id="rId30"/>
    <p:sldId id="688" r:id="rId31"/>
    <p:sldId id="690" r:id="rId32"/>
    <p:sldId id="681" r:id="rId33"/>
    <p:sldId id="691" r:id="rId34"/>
    <p:sldId id="678" r:id="rId35"/>
    <p:sldId id="692" r:id="rId36"/>
    <p:sldId id="693" r:id="rId37"/>
    <p:sldId id="694" r:id="rId38"/>
    <p:sldId id="695" r:id="rId39"/>
    <p:sldId id="696" r:id="rId40"/>
    <p:sldId id="662" r:id="rId41"/>
    <p:sldId id="717" r:id="rId42"/>
    <p:sldId id="721" r:id="rId43"/>
    <p:sldId id="722" r:id="rId44"/>
    <p:sldId id="718" r:id="rId45"/>
    <p:sldId id="723" r:id="rId46"/>
    <p:sldId id="724" r:id="rId47"/>
    <p:sldId id="725" r:id="rId48"/>
    <p:sldId id="726" r:id="rId49"/>
    <p:sldId id="727" r:id="rId50"/>
    <p:sldId id="516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50" autoAdjust="0"/>
    <p:restoredTop sz="94667" autoAdjust="0"/>
  </p:normalViewPr>
  <p:slideViewPr>
    <p:cSldViewPr>
      <p:cViewPr>
        <p:scale>
          <a:sx n="50" d="100"/>
          <a:sy n="50" d="100"/>
        </p:scale>
        <p:origin x="-153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rracuda.com/products/loadbalancer" TargetMode="External"/><Relationship Id="rId2" Type="http://schemas.openxmlformats.org/officeDocument/2006/relationships/hyperlink" Target="https://www.cisco.com/c/en/us/products/switches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proxy.org/" TargetMode="External"/><Relationship Id="rId2" Type="http://schemas.openxmlformats.org/officeDocument/2006/relationships/hyperlink" Target="https://docs.nginx.com/nginx/admin-guide/load-balancer/http-load-balanc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192.168.1.18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192.168.1.18:3001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192.168.1.18:3002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://192.168.1.18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://192.168.1.18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://192.168.1.18:8000/admin?stats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1.18/" TargetMode="External"/><Relationship Id="rId2" Type="http://schemas.openxmlformats.org/officeDocument/2006/relationships/hyperlink" Target="http://192.168.1.18:8000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://192.168.1.18:8000/admin?stats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://www.serverlab.ca/tutorials/windows/web-servers/load-balancing-web-servers-with-windows-server-2012-r2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pvbOzHUakA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6NdxUY1La2I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traefik.io/traefik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Load Balancing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571500" indent="-571500">
              <a:buFont typeface="Wingdings" pitchFamily="2" charset="2"/>
              <a:buChar char="Ø"/>
            </a:pPr>
            <a:r>
              <a:rPr lang="en-US" sz="2400" dirty="0" smtClean="0"/>
              <a:t>To implement </a:t>
            </a:r>
            <a:r>
              <a:rPr lang="en-US" sz="2400" i="1" dirty="0" smtClean="0">
                <a:solidFill>
                  <a:srgbClr val="C00000"/>
                </a:solidFill>
              </a:rPr>
              <a:t>load balancing</a:t>
            </a:r>
            <a:r>
              <a:rPr lang="en-US" sz="2400" dirty="0" smtClean="0"/>
              <a:t> for a distributed system.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Solving a Problem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Task: Load Balancing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Scalability Concepts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Routing Requests Methods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Routing Requests using </a:t>
            </a:r>
            <a:r>
              <a:rPr lang="en-US" sz="2400" dirty="0" err="1" smtClean="0"/>
              <a:t>Nginx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Routing Requests using </a:t>
            </a:r>
            <a:r>
              <a:rPr lang="en-US" sz="2400" dirty="0" err="1" smtClean="0"/>
              <a:t>haproxy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Application State Management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Application Data Files Management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Application Databases Management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Valeria </a:t>
            </a:r>
            <a:r>
              <a:rPr lang="en-US" sz="2400" dirty="0" err="1" smtClean="0"/>
              <a:t>Cardellini</a:t>
            </a:r>
            <a:r>
              <a:rPr lang="en-US" sz="2400" dirty="0" smtClean="0"/>
              <a:t> et al. (1999). Dynamic Load Balancing on Web-Server Systems.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Jeffrey Dean and </a:t>
            </a:r>
            <a:r>
              <a:rPr lang="en-US" sz="2400" dirty="0" err="1" smtClean="0"/>
              <a:t>Luiz</a:t>
            </a:r>
            <a:r>
              <a:rPr lang="en-US" sz="2400" dirty="0" smtClean="0"/>
              <a:t> Andre </a:t>
            </a:r>
            <a:r>
              <a:rPr lang="en-US" sz="2400" dirty="0" err="1" smtClean="0"/>
              <a:t>Barroso</a:t>
            </a:r>
            <a:r>
              <a:rPr lang="en-US" sz="2400" dirty="0" smtClean="0"/>
              <a:t> (2013). The Tail at Scale.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Solving a Problem: The </a:t>
            </a:r>
            <a:r>
              <a:rPr lang="en-US" i="1" dirty="0" smtClean="0">
                <a:solidFill>
                  <a:srgbClr val="C00000"/>
                </a:solidFill>
              </a:rPr>
              <a:t>Hard</a:t>
            </a:r>
            <a:r>
              <a:rPr lang="en-US" dirty="0" smtClean="0"/>
              <a:t> Part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Input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Story: As sponsors, we want the system to be able to run on 2 web servers so that we can serve as many customers as we want.</a:t>
            </a:r>
          </a:p>
          <a:p>
            <a:pPr lvl="1"/>
            <a:r>
              <a:rPr lang="en-US" sz="2000" dirty="0" smtClean="0"/>
              <a:t>Developer: Ngo Huy Bien.</a:t>
            </a:r>
          </a:p>
          <a:p>
            <a:r>
              <a:rPr lang="en-US" sz="2400" dirty="0" smtClean="0"/>
              <a:t>Bonus: </a:t>
            </a:r>
          </a:p>
          <a:p>
            <a:pPr lvl="1"/>
            <a:r>
              <a:rPr lang="en-US" sz="2000" dirty="0" smtClean="0"/>
              <a:t>UI + Architecture.</a:t>
            </a:r>
          </a:p>
          <a:p>
            <a:pPr lvl="1"/>
            <a:r>
              <a:rPr lang="en-US" sz="2000" dirty="0" smtClean="0"/>
              <a:t>Scenarios, Domain Models + ERD.</a:t>
            </a:r>
          </a:p>
          <a:p>
            <a:pPr lvl="1"/>
            <a:r>
              <a:rPr lang="en-US" sz="2000" dirty="0" smtClean="0"/>
              <a:t>Prototype + Proof of Concept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Output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Source code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Problem solved.</a:t>
            </a:r>
          </a:p>
          <a:p>
            <a:r>
              <a:rPr lang="en-US" sz="2400" b="1" i="1" dirty="0" smtClean="0">
                <a:solidFill>
                  <a:srgbClr val="C00000"/>
                </a:solidFill>
              </a:rPr>
              <a:t>Issue: Which tools? I haven't used these tools.</a:t>
            </a:r>
          </a:p>
        </p:txBody>
      </p:sp>
      <p:pic>
        <p:nvPicPr>
          <p:cNvPr id="3074" name="Picture 2" descr="https://images.squarespace-cdn.com/content/v1/583ed05c59cc68a8c3e45c0f/1574085452103-JAY3739FDGTE0ZR90QPX/ke17ZwdGBToddI8pDm48kOggE0Ch6pMGalwtLMqzsSB7gQa3H78H3Y0txjaiv_0fDoOvxcdMmMKkDsyUqMSsMWxHk725yiiHCCLfrh8O1z5QPOohDIaIeljMHgDF5CVlOqpeNLcJ80NK65_fV7S1Ufo5RWkg_J4of0jUNHaDHx6pZKBvpVYzidBWCapg0tuoMuEaB2HPGSYDV-11UTcW2g/question-mark-2405197_1920.jpg?format=1000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3200400"/>
            <a:ext cx="3048000" cy="20330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money</a:t>
            </a:r>
          </a:p>
          <a:p>
            <a:pPr lvl="1"/>
            <a:r>
              <a:rPr lang="en-US" dirty="0" smtClean="0"/>
              <a:t>Get a job (job requirement)</a:t>
            </a:r>
          </a:p>
          <a:p>
            <a:pPr lvl="1"/>
            <a:r>
              <a:rPr lang="en-US" dirty="0" smtClean="0"/>
              <a:t>Startup (solving a problem)</a:t>
            </a:r>
          </a:p>
          <a:p>
            <a:pPr lvl="2"/>
            <a:r>
              <a:rPr lang="en-US" dirty="0" smtClean="0"/>
              <a:t>Tool selection</a:t>
            </a:r>
          </a:p>
          <a:p>
            <a:pPr lvl="3"/>
            <a:r>
              <a:rPr lang="en-US" i="1" dirty="0" smtClean="0">
                <a:solidFill>
                  <a:srgbClr val="C00000"/>
                </a:solidFill>
              </a:rPr>
              <a:t>Faster</a:t>
            </a:r>
            <a:r>
              <a:rPr lang="en-US" dirty="0" smtClean="0"/>
              <a:t> development (Get a task done).</a:t>
            </a:r>
          </a:p>
          <a:p>
            <a:pPr lvl="3"/>
            <a:r>
              <a:rPr lang="en-US" dirty="0" smtClean="0"/>
              <a:t>Easier </a:t>
            </a:r>
            <a:r>
              <a:rPr lang="en-US" i="1" dirty="0" smtClean="0">
                <a:solidFill>
                  <a:srgbClr val="C00000"/>
                </a:solidFill>
              </a:rPr>
              <a:t>modifiability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C00000"/>
                </a:solidFill>
              </a:rPr>
              <a:t>extensibility.</a:t>
            </a:r>
          </a:p>
          <a:p>
            <a:pPr lvl="3"/>
            <a:r>
              <a:rPr lang="en-US" dirty="0" smtClean="0"/>
              <a:t>Better security and </a:t>
            </a:r>
            <a:r>
              <a:rPr lang="en-US" i="1" dirty="0" smtClean="0">
                <a:solidFill>
                  <a:srgbClr val="C00000"/>
                </a:solidFill>
              </a:rPr>
              <a:t>scalability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Hobby</a:t>
            </a:r>
          </a:p>
          <a:p>
            <a:pPr lvl="1"/>
            <a:r>
              <a:rPr lang="en-US" i="1" dirty="0" smtClean="0">
                <a:solidFill>
                  <a:srgbClr val="C00000"/>
                </a:solidFill>
              </a:rPr>
              <a:t>Problem</a:t>
            </a:r>
            <a:r>
              <a:rPr lang="en-US" dirty="0" smtClean="0"/>
              <a:t>/need.</a:t>
            </a:r>
          </a:p>
          <a:p>
            <a:pPr lvl="1"/>
            <a:r>
              <a:rPr lang="en-US" dirty="0" smtClean="0"/>
              <a:t>Open yourself up to </a:t>
            </a:r>
            <a:r>
              <a:rPr lang="en-US" i="1" dirty="0" smtClean="0">
                <a:solidFill>
                  <a:srgbClr val="C00000"/>
                </a:solidFill>
              </a:rPr>
              <a:t>new ideas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C00000"/>
                </a:solidFill>
              </a:rPr>
              <a:t>approaches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Learn a New Tool?</a:t>
            </a:r>
            <a:endParaRPr lang="en-US" dirty="0"/>
          </a:p>
        </p:txBody>
      </p:sp>
      <p:cxnSp>
        <p:nvCxnSpPr>
          <p:cNvPr id="7" name="Curved Connector 6"/>
          <p:cNvCxnSpPr/>
          <p:nvPr/>
        </p:nvCxnSpPr>
        <p:spPr>
          <a:xfrm rot="16200000" flipV="1">
            <a:off x="990600" y="4267200"/>
            <a:ext cx="1752600" cy="3810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Curved Connector 5"/>
          <p:cNvCxnSpPr/>
          <p:nvPr/>
        </p:nvCxnSpPr>
        <p:spPr>
          <a:xfrm rot="10800000">
            <a:off x="3581400" y="5638800"/>
            <a:ext cx="1447800" cy="2286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ight Arrow 7"/>
          <p:cNvSpPr/>
          <p:nvPr/>
        </p:nvSpPr>
        <p:spPr>
          <a:xfrm>
            <a:off x="228600" y="1524000"/>
            <a:ext cx="609600" cy="838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228600" y="4648200"/>
            <a:ext cx="609600" cy="838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057400"/>
            <a:ext cx="1209675" cy="124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 descr="https://symbols.getvecta.com/stencil_83/11_haproxy-icon.4cfc81197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2209800"/>
            <a:ext cx="952500" cy="952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 a Concrete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Configure </a:t>
            </a:r>
            <a:r>
              <a:rPr lang="en-US" sz="2600" u="sng" dirty="0" smtClean="0"/>
              <a:t>load balancing</a:t>
            </a:r>
            <a:r>
              <a:rPr lang="en-US" sz="2600" dirty="0" smtClean="0"/>
              <a:t> for </a:t>
            </a:r>
            <a:r>
              <a:rPr lang="en-US" sz="2600" dirty="0" err="1" smtClean="0"/>
              <a:t>api</a:t>
            </a:r>
            <a:r>
              <a:rPr lang="en-US" sz="2600" dirty="0" smtClean="0"/>
              <a:t> using </a:t>
            </a:r>
            <a:r>
              <a:rPr lang="en-US" sz="2600" i="1" dirty="0" err="1" smtClean="0">
                <a:solidFill>
                  <a:srgbClr val="C00000"/>
                </a:solidFill>
              </a:rPr>
              <a:t>nginx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Configure </a:t>
            </a:r>
            <a:r>
              <a:rPr lang="en-US" sz="2600" u="sng" dirty="0" smtClean="0"/>
              <a:t>load balancing</a:t>
            </a:r>
            <a:r>
              <a:rPr lang="en-US" sz="2600" dirty="0" smtClean="0"/>
              <a:t> for </a:t>
            </a:r>
            <a:r>
              <a:rPr lang="en-US" sz="2600" dirty="0" err="1" smtClean="0"/>
              <a:t>api</a:t>
            </a:r>
            <a:r>
              <a:rPr lang="en-US" sz="2600" dirty="0" smtClean="0"/>
              <a:t> using </a:t>
            </a:r>
            <a:r>
              <a:rPr lang="en-US" sz="2600" i="1" dirty="0" err="1" smtClean="0">
                <a:solidFill>
                  <a:srgbClr val="C00000"/>
                </a:solidFill>
              </a:rPr>
              <a:t>haproxy</a:t>
            </a:r>
            <a:r>
              <a:rPr lang="en-US" sz="2600" dirty="0" smtClean="0"/>
              <a:t>.</a:t>
            </a:r>
          </a:p>
        </p:txBody>
      </p:sp>
      <p:pic>
        <p:nvPicPr>
          <p:cNvPr id="4" name="Picture 2" descr="https://img.haikudeck.com/mg/C42A8FE8-C585-4360-984E-C8FC7552298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200400"/>
            <a:ext cx="3251200" cy="2438400"/>
          </a:xfrm>
          <a:prstGeom prst="rect">
            <a:avLst/>
          </a:prstGeom>
          <a:noFill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35052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Procedure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Clarify domain-specific terminologies (Load balancing? </a:t>
            </a:r>
            <a:r>
              <a:rPr lang="en-US" sz="2600" dirty="0" err="1" smtClean="0"/>
              <a:t>nginx</a:t>
            </a:r>
            <a:r>
              <a:rPr lang="en-US" sz="2600" dirty="0" smtClean="0"/>
              <a:t>?, </a:t>
            </a:r>
            <a:r>
              <a:rPr lang="en-US" sz="2600" dirty="0" err="1" smtClean="0"/>
              <a:t>haproxy</a:t>
            </a:r>
            <a:r>
              <a:rPr lang="en-US" sz="2600" dirty="0" smtClean="0"/>
              <a:t>)</a:t>
            </a:r>
          </a:p>
          <a:p>
            <a:r>
              <a:rPr lang="en-US" sz="2600" dirty="0" smtClean="0"/>
              <a:t>Find a tutorial (or a mentor).</a:t>
            </a:r>
          </a:p>
          <a:p>
            <a:r>
              <a:rPr lang="en-US" sz="2600" dirty="0" smtClean="0"/>
              <a:t>Install, configure and use the tool.</a:t>
            </a:r>
          </a:p>
          <a:p>
            <a:r>
              <a:rPr lang="en-US" sz="2600" dirty="0" smtClean="0"/>
              <a:t>Test results.</a:t>
            </a:r>
            <a:endParaRPr lang="en-US" sz="2600" dirty="0"/>
          </a:p>
        </p:txBody>
      </p:sp>
      <p:pic>
        <p:nvPicPr>
          <p:cNvPr id="1026" name="Picture 2" descr="https://static.thenounproject.com/png/204132-2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3962400"/>
            <a:ext cx="19050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Load Balancing?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Abstraction (Simplicity for clients)</a:t>
            </a:r>
          </a:p>
          <a:p>
            <a:r>
              <a:rPr lang="en-US" dirty="0" smtClean="0"/>
              <a:t>Performance</a:t>
            </a:r>
          </a:p>
          <a:p>
            <a:r>
              <a:rPr lang="en-US" dirty="0" smtClean="0"/>
              <a:t>Fault tolerance (Single point of failure)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Web-Server System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distributed Web-server system</a:t>
            </a:r>
            <a:r>
              <a:rPr lang="en-US" sz="2400" dirty="0" smtClean="0"/>
              <a:t> is any architecture consisting of </a:t>
            </a:r>
            <a:r>
              <a:rPr lang="en-US" sz="2400" u="sng" dirty="0" smtClean="0"/>
              <a:t>multiple Web-server hosts</a:t>
            </a:r>
            <a:r>
              <a:rPr lang="en-US" sz="2400" dirty="0" smtClean="0"/>
              <a:t>, distributed on LANs and WANs, with a mechanism to </a:t>
            </a:r>
            <a:r>
              <a:rPr lang="en-US" sz="2400" u="sng" dirty="0" smtClean="0"/>
              <a:t>spread incoming client requests</a:t>
            </a:r>
            <a:r>
              <a:rPr lang="en-US" sz="2400" dirty="0" smtClean="0"/>
              <a:t> among the servers.</a:t>
            </a:r>
          </a:p>
          <a:p>
            <a:r>
              <a:rPr lang="en-US" sz="2400" dirty="0" smtClean="0"/>
              <a:t>Each </a:t>
            </a:r>
            <a:r>
              <a:rPr lang="en-US" sz="2400" i="1" dirty="0" smtClean="0">
                <a:solidFill>
                  <a:srgbClr val="C00000"/>
                </a:solidFill>
              </a:rPr>
              <a:t>server</a:t>
            </a:r>
            <a:r>
              <a:rPr lang="en-US" sz="2400" dirty="0" smtClean="0"/>
              <a:t> in the system can respond to </a:t>
            </a:r>
            <a:r>
              <a:rPr lang="en-US" sz="2400" u="sng" dirty="0" smtClean="0"/>
              <a:t>any</a:t>
            </a:r>
            <a:r>
              <a:rPr lang="en-US" sz="2400" dirty="0" smtClean="0"/>
              <a:t> client request.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Information</a:t>
            </a:r>
            <a:r>
              <a:rPr lang="en-US" sz="2400" dirty="0" smtClean="0"/>
              <a:t> can be distributed among server nodes in two ways:</a:t>
            </a:r>
          </a:p>
          <a:p>
            <a:pPr lvl="1"/>
            <a:r>
              <a:rPr lang="en-US" sz="2000" u="sng" dirty="0" smtClean="0"/>
              <a:t>content tree replication</a:t>
            </a:r>
            <a:r>
              <a:rPr lang="en-US" sz="2000" dirty="0" smtClean="0"/>
              <a:t> on a server’s local disk, or </a:t>
            </a:r>
          </a:p>
          <a:p>
            <a:pPr lvl="1"/>
            <a:r>
              <a:rPr lang="en-US" sz="2000" dirty="0" smtClean="0"/>
              <a:t>information sharing by means of a </a:t>
            </a:r>
            <a:r>
              <a:rPr lang="en-US" sz="2000" u="sng" dirty="0" smtClean="0"/>
              <a:t>distributed file system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Route Requests?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/>
              <a:t>Method 1</a:t>
            </a:r>
            <a:r>
              <a:rPr lang="en-US" sz="2400" dirty="0" smtClean="0"/>
              <a:t>: Let users </a:t>
            </a:r>
            <a:r>
              <a:rPr lang="en-US" sz="2400" i="1" dirty="0" smtClean="0">
                <a:solidFill>
                  <a:srgbClr val="C00000"/>
                </a:solidFill>
              </a:rPr>
              <a:t>manually</a:t>
            </a:r>
            <a:r>
              <a:rPr lang="en-US" sz="2400" dirty="0" smtClean="0"/>
              <a:t> select alternative URLs for a Web site.</a:t>
            </a:r>
          </a:p>
          <a:p>
            <a:r>
              <a:rPr lang="en-US" sz="2400" b="1" dirty="0" smtClean="0"/>
              <a:t>Method 2</a:t>
            </a:r>
            <a:r>
              <a:rPr lang="en-US" sz="2400" dirty="0" smtClean="0"/>
              <a:t>: Use </a:t>
            </a:r>
            <a:r>
              <a:rPr lang="en-US" sz="2400" i="1" dirty="0" smtClean="0">
                <a:solidFill>
                  <a:srgbClr val="C00000"/>
                </a:solidFill>
              </a:rPr>
              <a:t>web clients</a:t>
            </a:r>
            <a:r>
              <a:rPr lang="en-US" sz="2400" dirty="0" smtClean="0"/>
              <a:t>. Web clients, if they are aware of the Web-server system’s replicated servers, </a:t>
            </a:r>
            <a:r>
              <a:rPr lang="en-US" sz="2400" u="sng" dirty="0" smtClean="0"/>
              <a:t>can actively route requests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Method 3</a:t>
            </a:r>
            <a:r>
              <a:rPr lang="en-US" sz="2400" dirty="0" smtClean="0"/>
              <a:t>: Use smart clients. Smart client is downloaded from a Web server and can </a:t>
            </a:r>
            <a:r>
              <a:rPr lang="en-US" sz="2400" u="sng" dirty="0" smtClean="0"/>
              <a:t>automatically update itself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Method 4</a:t>
            </a:r>
            <a:r>
              <a:rPr lang="en-US" sz="2400" dirty="0" smtClean="0"/>
              <a:t>: Use DNS name servers.</a:t>
            </a:r>
          </a:p>
          <a:p>
            <a:r>
              <a:rPr lang="en-US" sz="2400" b="1" dirty="0" smtClean="0"/>
              <a:t>Method 5</a:t>
            </a:r>
            <a:r>
              <a:rPr lang="en-US" sz="2400" dirty="0" smtClean="0"/>
              <a:t>: Use a dispatcher (load balancer).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DNS-Based Approach</a:t>
            </a:r>
            <a:endParaRPr lang="en-US" dirty="0"/>
          </a:p>
        </p:txBody>
      </p:sp>
      <p:pic>
        <p:nvPicPr>
          <p:cNvPr id="809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0275" y="1606550"/>
            <a:ext cx="7283450" cy="479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Dispatcher-Based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To centralize request scheduling and completely control client-request routing, a network </a:t>
            </a:r>
            <a:r>
              <a:rPr lang="en-US" sz="2200" i="1" dirty="0" smtClean="0">
                <a:solidFill>
                  <a:srgbClr val="C00000"/>
                </a:solidFill>
              </a:rPr>
              <a:t>component of the Web-server system</a:t>
            </a:r>
            <a:r>
              <a:rPr lang="en-US" sz="2200" dirty="0" smtClean="0"/>
              <a:t> acts as a </a:t>
            </a:r>
            <a:r>
              <a:rPr lang="en-US" sz="2200" u="sng" dirty="0" smtClean="0"/>
              <a:t>dispatcher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Request routing among servers is transparent— unlike DNS-based architectures, which deal with addresses at the URL level, </a:t>
            </a:r>
            <a:r>
              <a:rPr lang="en-US" sz="2200" i="1" dirty="0" smtClean="0">
                <a:solidFill>
                  <a:srgbClr val="C00000"/>
                </a:solidFill>
              </a:rPr>
              <a:t>the dispatcher has a single, virtual IP address</a:t>
            </a:r>
            <a:r>
              <a:rPr lang="en-US" sz="2200" dirty="0" smtClean="0"/>
              <a:t> (IP-SVA).</a:t>
            </a:r>
          </a:p>
          <a:p>
            <a:r>
              <a:rPr lang="en-US" sz="2200" dirty="0" smtClean="0"/>
              <a:t>The dispatcher uniquely identifies each server in the system through a private address that can be at different protocol levels, depending on the architecture.</a:t>
            </a:r>
          </a:p>
          <a:p>
            <a:r>
              <a:rPr lang="en-US" sz="2200" dirty="0" smtClean="0"/>
              <a:t>We differentiate dispatcher-based architectures by </a:t>
            </a:r>
            <a:r>
              <a:rPr lang="en-US" sz="2200" i="1" dirty="0" smtClean="0">
                <a:solidFill>
                  <a:srgbClr val="C00000"/>
                </a:solidFill>
              </a:rPr>
              <a:t>routing mechanism</a:t>
            </a:r>
            <a:r>
              <a:rPr lang="en-US" sz="2200" dirty="0" smtClean="0"/>
              <a:t>—packet rewriting (single-rewriting or double-rewriting), packet forwarding, or HTTP redirection.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Packet Single-Rewriting</a:t>
            </a:r>
            <a:endParaRPr lang="en-US" dirty="0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7325" y="1447800"/>
            <a:ext cx="622935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Packet Double-Rewriting</a:t>
            </a:r>
            <a:endParaRPr lang="en-US" dirty="0"/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7025" y="1527175"/>
            <a:ext cx="5949950" cy="494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WAN Network Dispatcher Architecture</a:t>
            </a:r>
            <a:endParaRPr lang="en-US" dirty="0"/>
          </a:p>
        </p:txBody>
      </p:sp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713" y="1584325"/>
            <a:ext cx="6886575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 Load Balancers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Specialized routers or switches.</a:t>
            </a:r>
          </a:p>
          <a:p>
            <a:r>
              <a:rPr lang="en-US" sz="2200" dirty="0" smtClean="0">
                <a:hlinkClick r:id="rId2"/>
              </a:rPr>
              <a:t>https://www.cisco.com/c/en/us/products/switches/index.html</a:t>
            </a:r>
            <a:endParaRPr lang="en-US" sz="2200" dirty="0" smtClean="0"/>
          </a:p>
          <a:p>
            <a:r>
              <a:rPr lang="en-US" sz="2200" dirty="0" smtClean="0">
                <a:hlinkClick r:id="rId3"/>
              </a:rPr>
              <a:t>https://www.barracuda.com/products/loadbalancer</a:t>
            </a:r>
            <a:endParaRPr lang="en-US" sz="2200" dirty="0" smtClean="0"/>
          </a:p>
          <a:p>
            <a:endParaRPr lang="en-US" sz="2200" dirty="0" smtClean="0"/>
          </a:p>
          <a:p>
            <a:endParaRPr lang="en-US" sz="2200" dirty="0"/>
          </a:p>
        </p:txBody>
      </p:sp>
      <p:pic>
        <p:nvPicPr>
          <p:cNvPr id="4" name="Picture 2" descr="http://www.serverlab.ca/wp-content/uploads/2014/04/51-figure-02c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3371849"/>
            <a:ext cx="6000750" cy="2419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Load Balancers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https://docs.nginx.com/nginx/admin-guide/load-balancer/http-load-balancer/</a:t>
            </a:r>
            <a:r>
              <a:rPr lang="en-US" sz="2200" dirty="0" smtClean="0"/>
              <a:t> (HTTP load balancer with SSL termination support)</a:t>
            </a:r>
          </a:p>
          <a:p>
            <a:r>
              <a:rPr lang="en-US" sz="2200" dirty="0" smtClean="0">
                <a:hlinkClick r:id="rId3"/>
              </a:rPr>
              <a:t>https://www.haproxy.org/</a:t>
            </a:r>
            <a:r>
              <a:rPr lang="en-US" sz="2200" dirty="0" smtClean="0"/>
              <a:t> (TCP load balancer)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0" y="3200400"/>
            <a:ext cx="3316731" cy="2920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Nginx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Refer to </a:t>
            </a:r>
            <a:r>
              <a:rPr lang="en-US" sz="2600" b="1" dirty="0" smtClean="0"/>
              <a:t>Computer Networks</a:t>
            </a:r>
            <a:r>
              <a:rPr lang="en-US" sz="2600" dirty="0" smtClean="0"/>
              <a:t> </a:t>
            </a:r>
            <a:r>
              <a:rPr lang="en-US" sz="2600" dirty="0" smtClean="0">
                <a:sym typeface="Wingdings" pitchFamily="2" charset="2"/>
              </a:rPr>
              <a:t> </a:t>
            </a:r>
            <a:r>
              <a:rPr lang="en-US" sz="2600" b="1" dirty="0" smtClean="0"/>
              <a:t>04.6. HTTP Services.pptx</a:t>
            </a:r>
            <a:r>
              <a:rPr lang="en-US" sz="2600" dirty="0" smtClean="0"/>
              <a:t> for detail.</a:t>
            </a:r>
          </a:p>
          <a:p>
            <a:r>
              <a:rPr lang="en-US" sz="2600" dirty="0" smtClean="0"/>
              <a:t>Test </a:t>
            </a:r>
            <a:r>
              <a:rPr lang="en-US" sz="2600" dirty="0" err="1" smtClean="0"/>
              <a:t>Nginx</a:t>
            </a:r>
            <a:r>
              <a:rPr lang="en-US" sz="2600" dirty="0" smtClean="0"/>
              <a:t> default website</a:t>
            </a:r>
          </a:p>
          <a:p>
            <a:pPr lvl="1"/>
            <a:r>
              <a:rPr lang="en-US" sz="2400" dirty="0" smtClean="0">
                <a:hlinkClick r:id="rId2"/>
              </a:rPr>
              <a:t>http://192.168.1.18</a:t>
            </a:r>
            <a:endParaRPr lang="en-US" sz="2400" dirty="0" smtClean="0"/>
          </a:p>
          <a:p>
            <a:pPr lvl="1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81225" y="3962400"/>
            <a:ext cx="4781550" cy="138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Node.js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</a:rPr>
              <a:t>Refer to </a:t>
            </a:r>
            <a:r>
              <a:rPr lang="en-US" sz="2400" b="1" dirty="0" smtClean="0">
                <a:latin typeface="+mj-lt"/>
              </a:rPr>
              <a:t>Web Application Development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  <a:sym typeface="Wingdings" pitchFamily="2" charset="2"/>
              </a:rPr>
              <a:t> </a:t>
            </a:r>
            <a:r>
              <a:rPr lang="en-US" sz="2400" b="1" dirty="0" smtClean="0">
                <a:latin typeface="+mj-lt"/>
                <a:sym typeface="Wingdings" pitchFamily="2" charset="2"/>
              </a:rPr>
              <a:t>10</a:t>
            </a:r>
            <a:r>
              <a:rPr lang="en-US" sz="2400" b="1" dirty="0" smtClean="0">
                <a:latin typeface="+mj-lt"/>
              </a:rPr>
              <a:t>. </a:t>
            </a:r>
            <a:r>
              <a:rPr lang="en-US" sz="2400" b="1" dirty="0" err="1" smtClean="0">
                <a:latin typeface="+mj-lt"/>
              </a:rPr>
              <a:t>Node.js.pptx</a:t>
            </a:r>
            <a:r>
              <a:rPr lang="en-US" sz="2400" dirty="0" smtClean="0">
                <a:latin typeface="+mj-lt"/>
              </a:rPr>
              <a:t> for detail.</a:t>
            </a:r>
            <a:endParaRPr lang="en-US" sz="2400" dirty="0"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200400"/>
            <a:ext cx="692785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Create 1</a:t>
            </a:r>
            <a:r>
              <a:rPr lang="en-US" sz="4200" baseline="30000" dirty="0" smtClean="0"/>
              <a:t>st</a:t>
            </a:r>
            <a:r>
              <a:rPr lang="en-US" sz="4200" dirty="0" smtClean="0"/>
              <a:t> Node.js Web Application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lbweb1</a:t>
            </a:r>
          </a:p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lbweb1</a:t>
            </a:r>
          </a:p>
          <a:p>
            <a:r>
              <a:rPr lang="en-US" sz="2000" dirty="0" err="1" smtClean="0">
                <a:latin typeface="Consolas" pitchFamily="49" charset="0"/>
              </a:rPr>
              <a:t>npm</a:t>
            </a:r>
            <a:r>
              <a:rPr lang="en-US" sz="2000" dirty="0" smtClean="0">
                <a:latin typeface="Consolas" pitchFamily="49" charset="0"/>
              </a:rPr>
              <a:t> init -y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nano</a:t>
            </a:r>
            <a:r>
              <a:rPr lang="en-US" sz="2000" dirty="0" smtClean="0">
                <a:latin typeface="Consolas" pitchFamily="49" charset="0"/>
              </a:rPr>
              <a:t> index.js</a:t>
            </a:r>
          </a:p>
          <a:p>
            <a:endParaRPr lang="en-US" sz="2000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3309878"/>
            <a:ext cx="77724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port = 3001,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http = require(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"http"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),</a:t>
            </a:r>
          </a:p>
          <a:p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httpStatus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= require(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"http-status-codes"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),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app =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http.createServer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((request, response) =&gt; 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console.log(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"Received an incoming request!"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response.writeHead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httpStatus.OK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, 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"Content-Type"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"text/html"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});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let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responseMessage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`&lt;h1&gt;Hello World from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${port}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!&lt;/h1&gt;`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response.write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responseMessage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response.end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console.log(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`Sent a response :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${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responseMessage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`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});</a:t>
            </a:r>
          </a:p>
          <a:p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app.listen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(port);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console.log(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`The server has started and is listening on port number: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${port}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`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Run 1</a:t>
            </a:r>
            <a:r>
              <a:rPr lang="en-US" baseline="30000" dirty="0" smtClean="0"/>
              <a:t>st</a:t>
            </a:r>
            <a:r>
              <a:rPr lang="en-US" dirty="0" smtClean="0"/>
              <a:t> Node.js Web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npm</a:t>
            </a:r>
            <a:r>
              <a:rPr lang="en-US" sz="2000" dirty="0" smtClean="0">
                <a:latin typeface="Consolas" pitchFamily="49" charset="0"/>
              </a:rPr>
              <a:t> install </a:t>
            </a:r>
            <a:r>
              <a:rPr lang="en-US" sz="2000" dirty="0" smtClean="0">
                <a:solidFill>
                  <a:srgbClr val="A31515"/>
                </a:solidFill>
                <a:latin typeface="Consolas"/>
              </a:rPr>
              <a:t>http-status-codes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node 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</a:rPr>
              <a:t>index.js</a:t>
            </a:r>
          </a:p>
          <a:p>
            <a:r>
              <a:rPr lang="en-US" sz="2000" dirty="0" smtClean="0">
                <a:hlinkClick r:id="rId2"/>
              </a:rPr>
              <a:t>http://192.168.1.18:3001</a:t>
            </a:r>
            <a:endParaRPr lang="en-US" sz="2000" dirty="0" smtClean="0">
              <a:solidFill>
                <a:srgbClr val="C00000"/>
              </a:solidFill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81225" y="3184525"/>
            <a:ext cx="4781550" cy="138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5. Create 2</a:t>
            </a:r>
            <a:r>
              <a:rPr lang="en-US" sz="4000" baseline="30000" dirty="0" smtClean="0"/>
              <a:t>nd</a:t>
            </a:r>
            <a:r>
              <a:rPr lang="en-US" sz="4000" dirty="0" smtClean="0"/>
              <a:t> Node.js Web Application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lbweb2</a:t>
            </a:r>
          </a:p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lbweb2</a:t>
            </a:r>
          </a:p>
          <a:p>
            <a:r>
              <a:rPr lang="en-US" sz="2000" dirty="0" err="1" smtClean="0">
                <a:latin typeface="Consolas" pitchFamily="49" charset="0"/>
              </a:rPr>
              <a:t>npm</a:t>
            </a:r>
            <a:r>
              <a:rPr lang="en-US" sz="2000" dirty="0" smtClean="0">
                <a:latin typeface="Consolas" pitchFamily="49" charset="0"/>
              </a:rPr>
              <a:t> init -y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nano</a:t>
            </a:r>
            <a:r>
              <a:rPr lang="en-US" sz="2000" dirty="0" smtClean="0">
                <a:latin typeface="Consolas" pitchFamily="49" charset="0"/>
              </a:rPr>
              <a:t> index.js</a:t>
            </a:r>
          </a:p>
          <a:p>
            <a:endParaRPr lang="en-US" sz="2000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3309878"/>
            <a:ext cx="77724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port = 3002,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http = require(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"http"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),</a:t>
            </a:r>
          </a:p>
          <a:p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httpStatus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= require(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"http-status-codes"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),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app =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http.createServer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((request, response) =&gt; 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console.log(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"Received an incoming request!"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response.writeHead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httpStatus.OK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, 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"Content-Type"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"text/html"</a:t>
            </a: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});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let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responseMessage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`&lt;h1&gt;Hello World from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${port}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!&lt;/h1&gt;`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response.write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responseMessage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response.end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 console.log(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`Sent a response :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${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responseMessage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`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});</a:t>
            </a:r>
          </a:p>
          <a:p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app.listen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(port);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console.log(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`The server has started and is listening on port number: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${port}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`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Run 2</a:t>
            </a:r>
            <a:r>
              <a:rPr lang="en-US" baseline="30000" dirty="0" smtClean="0"/>
              <a:t>nd</a:t>
            </a:r>
            <a:r>
              <a:rPr lang="en-US" dirty="0" smtClean="0"/>
              <a:t> Node.js Web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npm</a:t>
            </a:r>
            <a:r>
              <a:rPr lang="en-US" sz="2000" dirty="0" smtClean="0">
                <a:latin typeface="Consolas" pitchFamily="49" charset="0"/>
              </a:rPr>
              <a:t> install </a:t>
            </a:r>
            <a:r>
              <a:rPr lang="en-US" sz="2000" dirty="0" smtClean="0">
                <a:solidFill>
                  <a:srgbClr val="A31515"/>
                </a:solidFill>
                <a:latin typeface="Consolas"/>
              </a:rPr>
              <a:t>http-status-codes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node </a:t>
            </a:r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</a:rPr>
              <a:t>index.js</a:t>
            </a:r>
          </a:p>
          <a:p>
            <a:r>
              <a:rPr lang="en-US" sz="2000" dirty="0" smtClean="0">
                <a:hlinkClick r:id="rId2"/>
              </a:rPr>
              <a:t>http://192.168.1.18:3002</a:t>
            </a:r>
            <a:endParaRPr lang="en-US" sz="2000" dirty="0" smtClean="0"/>
          </a:p>
          <a:p>
            <a:endParaRPr lang="en-US" sz="2000" dirty="0" smtClean="0">
              <a:solidFill>
                <a:srgbClr val="C00000"/>
              </a:solidFill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81225" y="3489325"/>
            <a:ext cx="4781550" cy="138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7. Pass Requests to a </a:t>
            </a:r>
            <a:r>
              <a:rPr lang="en-US" sz="4200" dirty="0" err="1" smtClean="0"/>
              <a:t>Proxied</a:t>
            </a:r>
            <a:r>
              <a:rPr lang="en-US" sz="4200" dirty="0" smtClean="0"/>
              <a:t> Server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nano</a:t>
            </a:r>
            <a:r>
              <a:rPr lang="en-US" sz="2000" dirty="0" smtClean="0">
                <a:latin typeface="Consolas" pitchFamily="49" charset="0"/>
              </a:rPr>
              <a:t> /etc/</a:t>
            </a:r>
            <a:r>
              <a:rPr lang="en-US" sz="2000" dirty="0" err="1" smtClean="0">
                <a:latin typeface="Consolas" pitchFamily="49" charset="0"/>
              </a:rPr>
              <a:t>nginx</a:t>
            </a:r>
            <a:r>
              <a:rPr lang="en-US" sz="2000" dirty="0" smtClean="0">
                <a:latin typeface="Consolas" pitchFamily="49" charset="0"/>
              </a:rPr>
              <a:t>/sites-available/default</a:t>
            </a:r>
          </a:p>
          <a:p>
            <a:endParaRPr lang="en-US" sz="2000" dirty="0" smtClean="0">
              <a:latin typeface="Consolas" pitchFamily="49" charset="0"/>
            </a:endParaRPr>
          </a:p>
          <a:p>
            <a:pPr lvl="1">
              <a:buNone/>
            </a:pPr>
            <a:r>
              <a:rPr lang="en-US" sz="2000" b="1" i="1" dirty="0" smtClean="0">
                <a:latin typeface="Consolas" pitchFamily="49" charset="0"/>
              </a:rPr>
              <a:t>server {</a:t>
            </a:r>
          </a:p>
          <a:p>
            <a:pPr lvl="1">
              <a:buNone/>
            </a:pPr>
            <a:r>
              <a:rPr lang="en-US" sz="2000" b="1" i="1" dirty="0" smtClean="0">
                <a:latin typeface="Consolas" pitchFamily="49" charset="0"/>
              </a:rPr>
              <a:t>	...</a:t>
            </a:r>
          </a:p>
          <a:p>
            <a:pPr lvl="1">
              <a:buNone/>
            </a:pPr>
            <a:r>
              <a:rPr lang="en-US" sz="2000" b="1" i="1" dirty="0" smtClean="0">
                <a:latin typeface="Consolas" pitchFamily="49" charset="0"/>
              </a:rPr>
              <a:t> 	location / {</a:t>
            </a:r>
          </a:p>
          <a:p>
            <a:pPr lvl="1">
              <a:buNone/>
            </a:pPr>
            <a:r>
              <a:rPr lang="en-US" sz="2000" b="1" i="1" dirty="0" smtClean="0">
                <a:latin typeface="Consolas" pitchFamily="49" charset="0"/>
              </a:rPr>
              <a:t>            </a:t>
            </a:r>
            <a:r>
              <a:rPr lang="en-US" sz="2000" b="1" i="1" dirty="0" err="1" smtClean="0">
                <a:latin typeface="Consolas" pitchFamily="49" charset="0"/>
              </a:rPr>
              <a:t>proxy_pass</a:t>
            </a:r>
            <a:r>
              <a:rPr lang="en-US" sz="2000" b="1" i="1" dirty="0" smtClean="0">
                <a:latin typeface="Consolas" pitchFamily="49" charset="0"/>
              </a:rPr>
              <a:t> http://192.168.1.18:3001/;</a:t>
            </a:r>
          </a:p>
          <a:p>
            <a:pPr lvl="1">
              <a:buNone/>
            </a:pPr>
            <a:r>
              <a:rPr lang="en-US" sz="2000" b="1" i="1" dirty="0" smtClean="0">
                <a:latin typeface="Consolas" pitchFamily="49" charset="0"/>
              </a:rPr>
              <a:t>        }</a:t>
            </a:r>
          </a:p>
          <a:p>
            <a:pPr lvl="1">
              <a:buNone/>
            </a:pPr>
            <a:r>
              <a:rPr lang="en-US" sz="2000" b="1" i="1" dirty="0" smtClean="0">
                <a:latin typeface="Consolas" pitchFamily="49" charset="0"/>
              </a:rPr>
              <a:t>}</a:t>
            </a:r>
          </a:p>
          <a:p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nginx</a:t>
            </a:r>
            <a:r>
              <a:rPr lang="en-US" sz="2000" dirty="0" smtClean="0">
                <a:latin typeface="Consolas" pitchFamily="49" charset="0"/>
              </a:rPr>
              <a:t> -t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service </a:t>
            </a:r>
            <a:r>
              <a:rPr lang="en-US" sz="2000" dirty="0" err="1" smtClean="0">
                <a:latin typeface="Consolas" pitchFamily="49" charset="0"/>
              </a:rPr>
              <a:t>nginx</a:t>
            </a:r>
            <a:r>
              <a:rPr lang="en-US" sz="2000" dirty="0" smtClean="0">
                <a:latin typeface="Consolas" pitchFamily="49" charset="0"/>
              </a:rPr>
              <a:t> reload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Test Passing Requests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http://192.168.1.18</a:t>
            </a:r>
            <a:endParaRPr lang="en-US" sz="2400" dirty="0" smtClean="0">
              <a:latin typeface="+mj-lt"/>
            </a:endParaRPr>
          </a:p>
          <a:p>
            <a:endParaRPr lang="en-US" sz="2400" dirty="0" smtClean="0">
              <a:latin typeface="+mj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352800"/>
            <a:ext cx="5102225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Implement Load Balancing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nano</a:t>
            </a:r>
            <a:r>
              <a:rPr lang="en-US" sz="2000" dirty="0" smtClean="0">
                <a:latin typeface="Consolas" pitchFamily="49" charset="0"/>
              </a:rPr>
              <a:t> /etc/</a:t>
            </a:r>
            <a:r>
              <a:rPr lang="en-US" sz="2000" dirty="0" err="1" smtClean="0">
                <a:latin typeface="Consolas" pitchFamily="49" charset="0"/>
              </a:rPr>
              <a:t>nginx</a:t>
            </a:r>
            <a:r>
              <a:rPr lang="en-US" sz="2000" dirty="0" smtClean="0">
                <a:latin typeface="Consolas" pitchFamily="49" charset="0"/>
              </a:rPr>
              <a:t>/sites-available/default</a:t>
            </a:r>
          </a:p>
          <a:p>
            <a:pPr lvl="1">
              <a:buNone/>
            </a:pPr>
            <a:r>
              <a:rPr lang="en-US" sz="1600" b="1" i="1" dirty="0" smtClean="0">
                <a:latin typeface="Consolas" pitchFamily="49" charset="0"/>
              </a:rPr>
              <a:t>upstream </a:t>
            </a:r>
            <a:r>
              <a:rPr lang="en-US" sz="1600" b="1" i="1" dirty="0" err="1" smtClean="0">
                <a:latin typeface="Consolas" pitchFamily="49" charset="0"/>
              </a:rPr>
              <a:t>lbweb</a:t>
            </a:r>
            <a:r>
              <a:rPr lang="en-US" sz="1600" b="1" i="1" dirty="0" smtClean="0">
                <a:latin typeface="Consolas" pitchFamily="49" charset="0"/>
              </a:rPr>
              <a:t> {</a:t>
            </a:r>
          </a:p>
          <a:p>
            <a:pPr lvl="1">
              <a:buNone/>
            </a:pPr>
            <a:r>
              <a:rPr lang="en-US" sz="1600" b="1" i="1" dirty="0" smtClean="0">
                <a:latin typeface="Consolas" pitchFamily="49" charset="0"/>
              </a:rPr>
              <a:t>        server 192.168.1.19:3000 weight=1;</a:t>
            </a:r>
          </a:p>
          <a:p>
            <a:pPr lvl="1">
              <a:buNone/>
            </a:pPr>
            <a:r>
              <a:rPr lang="en-US" sz="1600" b="1" i="1" dirty="0" smtClean="0">
                <a:latin typeface="Consolas" pitchFamily="49" charset="0"/>
              </a:rPr>
              <a:t>        server 192.168.1.19:3001 weight=2;</a:t>
            </a:r>
          </a:p>
          <a:p>
            <a:pPr lvl="1">
              <a:buNone/>
            </a:pPr>
            <a:r>
              <a:rPr lang="en-US" sz="1600" b="1" i="1" dirty="0" smtClean="0">
                <a:latin typeface="Consolas" pitchFamily="49" charset="0"/>
              </a:rPr>
              <a:t>}</a:t>
            </a:r>
          </a:p>
          <a:p>
            <a:pPr lvl="1">
              <a:buNone/>
            </a:pPr>
            <a:endParaRPr lang="en-US" sz="1600" i="1" dirty="0" smtClean="0">
              <a:latin typeface="Consolas" pitchFamily="49" charset="0"/>
            </a:endParaRPr>
          </a:p>
          <a:p>
            <a:pPr lvl="1">
              <a:buNone/>
            </a:pPr>
            <a:r>
              <a:rPr lang="en-US" sz="1600" b="1" i="1" dirty="0" smtClean="0">
                <a:latin typeface="Consolas" pitchFamily="49" charset="0"/>
              </a:rPr>
              <a:t>server {</a:t>
            </a:r>
          </a:p>
          <a:p>
            <a:pPr lvl="1">
              <a:buNone/>
            </a:pPr>
            <a:r>
              <a:rPr lang="en-US" sz="1600" i="1" dirty="0" smtClean="0">
                <a:latin typeface="Consolas" pitchFamily="49" charset="0"/>
              </a:rPr>
              <a:t>	 ...</a:t>
            </a:r>
          </a:p>
          <a:p>
            <a:pPr lvl="1">
              <a:buNone/>
            </a:pPr>
            <a:r>
              <a:rPr lang="en-US" sz="1600" b="1" i="1" dirty="0" smtClean="0">
                <a:latin typeface="Consolas" pitchFamily="49" charset="0"/>
              </a:rPr>
              <a:t>        location / {</a:t>
            </a:r>
          </a:p>
          <a:p>
            <a:pPr lvl="1">
              <a:buNone/>
            </a:pPr>
            <a:r>
              <a:rPr lang="en-US" sz="1600" b="1" i="1" dirty="0" smtClean="0">
                <a:latin typeface="Consolas" pitchFamily="49" charset="0"/>
              </a:rPr>
              <a:t>            </a:t>
            </a:r>
            <a:r>
              <a:rPr lang="en-US" sz="1600" b="1" i="1" dirty="0" err="1" smtClean="0">
                <a:latin typeface="Consolas" pitchFamily="49" charset="0"/>
              </a:rPr>
              <a:t>proxy_pass</a:t>
            </a:r>
            <a:r>
              <a:rPr lang="en-US" sz="1600" b="1" i="1" dirty="0" smtClean="0">
                <a:latin typeface="Consolas" pitchFamily="49" charset="0"/>
              </a:rPr>
              <a:t> http://lbweb/;</a:t>
            </a:r>
          </a:p>
          <a:p>
            <a:pPr lvl="1">
              <a:buNone/>
            </a:pPr>
            <a:r>
              <a:rPr lang="en-US" sz="1600" b="1" i="1" dirty="0" smtClean="0">
                <a:latin typeface="Consolas" pitchFamily="49" charset="0"/>
              </a:rPr>
              <a:t>        }</a:t>
            </a:r>
          </a:p>
          <a:p>
            <a:pPr lvl="1">
              <a:buNone/>
            </a:pPr>
            <a:r>
              <a:rPr lang="en-US" sz="1600" i="1" dirty="0" smtClean="0">
                <a:latin typeface="Consolas" pitchFamily="49" charset="0"/>
              </a:rPr>
              <a:t>}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nginx</a:t>
            </a:r>
            <a:r>
              <a:rPr lang="en-US" sz="2000" dirty="0" smtClean="0">
                <a:latin typeface="Consolas" pitchFamily="49" charset="0"/>
              </a:rPr>
              <a:t> -t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service </a:t>
            </a:r>
            <a:r>
              <a:rPr lang="en-US" sz="2000" dirty="0" err="1" smtClean="0">
                <a:latin typeface="Consolas" pitchFamily="49" charset="0"/>
              </a:rPr>
              <a:t>nginx</a:t>
            </a:r>
            <a:r>
              <a:rPr lang="en-US" sz="2000" dirty="0" smtClean="0">
                <a:latin typeface="Consolas" pitchFamily="49" charset="0"/>
              </a:rPr>
              <a:t> reload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Test Load Balancing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+mj-lt"/>
                <a:hlinkClick r:id="rId2"/>
              </a:rPr>
              <a:t>http://192.168.1.18</a:t>
            </a:r>
            <a:r>
              <a:rPr lang="en-US" sz="2200" dirty="0" smtClean="0">
                <a:latin typeface="+mj-lt"/>
              </a:rPr>
              <a:t> (Use private browsing to prevent potential cache).</a:t>
            </a:r>
          </a:p>
          <a:p>
            <a:endParaRPr lang="en-US" sz="2200" dirty="0" smtClean="0">
              <a:latin typeface="+mj-lt"/>
            </a:endParaRPr>
          </a:p>
          <a:p>
            <a:endParaRPr lang="en-US" sz="2200" dirty="0" smtClean="0">
              <a:latin typeface="+mj-lt"/>
            </a:endParaRPr>
          </a:p>
          <a:p>
            <a:endParaRPr lang="en-US" sz="2200" dirty="0" smtClean="0">
              <a:latin typeface="+mj-lt"/>
            </a:endParaRPr>
          </a:p>
          <a:p>
            <a:endParaRPr lang="en-US" sz="2200" dirty="0" smtClean="0">
              <a:latin typeface="+mj-lt"/>
            </a:endParaRPr>
          </a:p>
          <a:p>
            <a:r>
              <a:rPr lang="en-US" sz="2200" dirty="0" smtClean="0">
                <a:hlinkClick r:id="rId2"/>
              </a:rPr>
              <a:t>http://192.168.1.18</a:t>
            </a:r>
            <a:endParaRPr lang="en-US" sz="2200" dirty="0" smtClean="0"/>
          </a:p>
          <a:p>
            <a:endParaRPr lang="en-US" sz="2200" dirty="0" smtClean="0">
              <a:latin typeface="+mj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2419350"/>
            <a:ext cx="5102225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3600" y="4495800"/>
            <a:ext cx="5102225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haproxy</a:t>
            </a:r>
            <a:r>
              <a:rPr lang="en-US" dirty="0" smtClean="0"/>
              <a:t> 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apt install </a:t>
            </a:r>
            <a:r>
              <a:rPr lang="en-US" sz="2000" dirty="0" err="1" smtClean="0">
                <a:latin typeface="Consolas" pitchFamily="49" charset="0"/>
              </a:rPr>
              <a:t>haproxy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haproxy</a:t>
            </a:r>
            <a:r>
              <a:rPr lang="en-US" sz="2000" dirty="0" smtClean="0">
                <a:latin typeface="Consolas" pitchFamily="49" charset="0"/>
              </a:rPr>
              <a:t> -v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667000"/>
            <a:ext cx="6717030" cy="777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from Source in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apt install </a:t>
            </a:r>
            <a:r>
              <a:rPr lang="en-US" sz="2000" dirty="0" err="1" smtClean="0">
                <a:latin typeface="Consolas" pitchFamily="49" charset="0"/>
              </a:rPr>
              <a:t>libssl</a:t>
            </a:r>
            <a:r>
              <a:rPr lang="en-US" sz="2000" dirty="0" smtClean="0">
                <a:latin typeface="Consolas" pitchFamily="49" charset="0"/>
              </a:rPr>
              <a:t>-dev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apt-get install zlib1g-dev</a:t>
            </a:r>
          </a:p>
          <a:p>
            <a:r>
              <a:rPr lang="en-US" sz="2000" dirty="0" smtClean="0">
                <a:latin typeface="Consolas" pitchFamily="49" charset="0"/>
              </a:rPr>
              <a:t>curl -O https://www.haproxy.org/download/2.4/src/haproxy-2.4.0.tar.gz</a:t>
            </a:r>
          </a:p>
          <a:p>
            <a:r>
              <a:rPr lang="en-US" sz="2000" dirty="0" smtClean="0">
                <a:latin typeface="Consolas" pitchFamily="49" charset="0"/>
              </a:rPr>
              <a:t>tar -</a:t>
            </a:r>
            <a:r>
              <a:rPr lang="en-US" sz="2000" dirty="0" err="1" smtClean="0">
                <a:latin typeface="Consolas" pitchFamily="49" charset="0"/>
              </a:rPr>
              <a:t>xf</a:t>
            </a:r>
            <a:r>
              <a:rPr lang="en-US" sz="2000" dirty="0" smtClean="0">
                <a:latin typeface="Consolas" pitchFamily="49" charset="0"/>
              </a:rPr>
              <a:t> haproxy-2.4.0.tar.gz</a:t>
            </a:r>
          </a:p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haproxy-2.4.0</a:t>
            </a:r>
          </a:p>
          <a:p>
            <a:r>
              <a:rPr lang="en-US" sz="2000" dirty="0" smtClean="0">
                <a:latin typeface="Consolas" pitchFamily="49" charset="0"/>
              </a:rPr>
              <a:t>make -j4 TARGET=</a:t>
            </a:r>
            <a:r>
              <a:rPr lang="en-US" sz="2000" dirty="0" err="1" smtClean="0">
                <a:latin typeface="Consolas" pitchFamily="49" charset="0"/>
              </a:rPr>
              <a:t>linux-glibc</a:t>
            </a:r>
            <a:r>
              <a:rPr lang="en-US" sz="2000" dirty="0" smtClean="0">
                <a:latin typeface="Consolas" pitchFamily="49" charset="0"/>
              </a:rPr>
              <a:t> USE_ZLIB=yes USE_OPENSSL=yes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make install</a:t>
            </a:r>
          </a:p>
          <a:p>
            <a:r>
              <a:rPr lang="en-US" sz="2000" dirty="0" err="1" smtClean="0">
                <a:latin typeface="Consolas" pitchFamily="49" charset="0"/>
              </a:rPr>
              <a:t>haproxy</a:t>
            </a:r>
            <a:r>
              <a:rPr lang="en-US" sz="2000" dirty="0" smtClean="0">
                <a:latin typeface="Consolas" pitchFamily="49" charset="0"/>
              </a:rPr>
              <a:t> -v</a:t>
            </a:r>
            <a:endParaRPr lang="en-US" sz="2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Start </a:t>
            </a:r>
            <a:r>
              <a:rPr lang="en-US" dirty="0" err="1" smtClean="0"/>
              <a:t>haproxy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haproxy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haproxy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nano</a:t>
            </a:r>
            <a:r>
              <a:rPr lang="en-US" sz="2000" dirty="0" smtClean="0">
                <a:latin typeface="Consolas" pitchFamily="49" charset="0"/>
              </a:rPr>
              <a:t> stats.cfg</a:t>
            </a: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haproxy</a:t>
            </a:r>
            <a:r>
              <a:rPr lang="en-US" sz="2000" dirty="0" smtClean="0">
                <a:latin typeface="Consolas" pitchFamily="49" charset="0"/>
              </a:rPr>
              <a:t> -f stats.cfg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170872"/>
            <a:ext cx="4572000" cy="1477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frontend inbound</a:t>
            </a:r>
          </a:p>
          <a:p>
            <a:r>
              <a:rPr lang="en-US" dirty="0" smtClean="0">
                <a:latin typeface="Consolas" pitchFamily="49" charset="0"/>
              </a:rPr>
              <a:t>        mode http</a:t>
            </a:r>
          </a:p>
          <a:p>
            <a:r>
              <a:rPr lang="en-US" dirty="0" smtClean="0">
                <a:latin typeface="Consolas" pitchFamily="49" charset="0"/>
              </a:rPr>
              <a:t>        bind localhost:8000</a:t>
            </a:r>
          </a:p>
          <a:p>
            <a:r>
              <a:rPr lang="en-US" dirty="0" smtClean="0">
                <a:latin typeface="Consolas" pitchFamily="49" charset="0"/>
              </a:rPr>
              <a:t>        stats enable</a:t>
            </a:r>
          </a:p>
          <a:p>
            <a:r>
              <a:rPr lang="en-US" dirty="0" smtClean="0">
                <a:latin typeface="Consolas" pitchFamily="49" charset="0"/>
              </a:rPr>
              <a:t>        stats </a:t>
            </a:r>
            <a:r>
              <a:rPr lang="en-US" dirty="0" err="1" smtClean="0">
                <a:latin typeface="Consolas" pitchFamily="49" charset="0"/>
              </a:rPr>
              <a:t>uri</a:t>
            </a:r>
            <a:r>
              <a:rPr lang="en-US" dirty="0" smtClean="0">
                <a:latin typeface="Consolas" pitchFamily="49" charset="0"/>
              </a:rPr>
              <a:t> /</a:t>
            </a:r>
            <a:r>
              <a:rPr lang="en-US" dirty="0" err="1" smtClean="0">
                <a:latin typeface="Consolas" pitchFamily="49" charset="0"/>
              </a:rPr>
              <a:t>admin?stats</a:t>
            </a:r>
            <a:endParaRPr 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Test </a:t>
            </a:r>
            <a:r>
              <a:rPr lang="en-US" dirty="0" err="1" smtClean="0"/>
              <a:t>haproxy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http://192.168.1.18:8000/admin?stats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1725" y="2390775"/>
            <a:ext cx="69405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Implement Load Balancing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haproxy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haproxy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nano</a:t>
            </a:r>
            <a:r>
              <a:rPr lang="en-US" sz="2000" dirty="0" smtClean="0">
                <a:latin typeface="Consolas" pitchFamily="49" charset="0"/>
              </a:rPr>
              <a:t> load-balance.cfg</a:t>
            </a: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haproxy</a:t>
            </a:r>
            <a:r>
              <a:rPr lang="en-US" sz="2000" dirty="0" smtClean="0">
                <a:latin typeface="Consolas" pitchFamily="49" charset="0"/>
              </a:rPr>
              <a:t> -f load-balance.cfg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800" y="1828800"/>
            <a:ext cx="4038600" cy="35394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Consolas" pitchFamily="49" charset="0"/>
              </a:rPr>
              <a:t>defaults</a:t>
            </a:r>
          </a:p>
          <a:p>
            <a:r>
              <a:rPr lang="en-US" sz="1400" dirty="0" smtClean="0">
                <a:latin typeface="Consolas" pitchFamily="49" charset="0"/>
              </a:rPr>
              <a:t>  mode http</a:t>
            </a:r>
          </a:p>
          <a:p>
            <a:r>
              <a:rPr lang="en-US" sz="1400" dirty="0" smtClean="0">
                <a:latin typeface="Consolas" pitchFamily="49" charset="0"/>
              </a:rPr>
              <a:t>  timeout connect 5000ms</a:t>
            </a:r>
          </a:p>
          <a:p>
            <a:r>
              <a:rPr lang="en-US" sz="1400" dirty="0" smtClean="0">
                <a:latin typeface="Consolas" pitchFamily="49" charset="0"/>
              </a:rPr>
              <a:t>  timeout client 50000ms</a:t>
            </a:r>
          </a:p>
          <a:p>
            <a:r>
              <a:rPr lang="en-US" sz="1400" dirty="0" smtClean="0">
                <a:latin typeface="Consolas" pitchFamily="49" charset="0"/>
              </a:rPr>
              <a:t>  timeout server 50000ms</a:t>
            </a:r>
          </a:p>
          <a:p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frontend inbound</a:t>
            </a:r>
          </a:p>
          <a:p>
            <a:r>
              <a:rPr lang="en-US" sz="1400" dirty="0" smtClean="0">
                <a:latin typeface="Consolas" pitchFamily="49" charset="0"/>
              </a:rPr>
              <a:t>  bind 192.168.1.18:8000</a:t>
            </a:r>
          </a:p>
          <a:p>
            <a:r>
              <a:rPr lang="en-US" sz="1400" dirty="0" smtClean="0">
                <a:latin typeface="Consolas" pitchFamily="49" charset="0"/>
              </a:rPr>
              <a:t>  </a:t>
            </a:r>
            <a:r>
              <a:rPr lang="en-US" sz="1400" dirty="0" err="1" smtClean="0">
                <a:latin typeface="Consolas" pitchFamily="49" charset="0"/>
              </a:rPr>
              <a:t>default_backend</a:t>
            </a:r>
            <a:r>
              <a:rPr lang="en-US" sz="1400" dirty="0" smtClean="0">
                <a:latin typeface="Consolas" pitchFamily="49" charset="0"/>
              </a:rPr>
              <a:t> </a:t>
            </a:r>
            <a:r>
              <a:rPr lang="en-US" sz="1400" dirty="0" err="1" smtClean="0">
                <a:latin typeface="Consolas" pitchFamily="49" charset="0"/>
              </a:rPr>
              <a:t>lbweb</a:t>
            </a:r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  stats enable</a:t>
            </a:r>
          </a:p>
          <a:p>
            <a:r>
              <a:rPr lang="en-US" sz="1400" dirty="0" smtClean="0">
                <a:latin typeface="Consolas" pitchFamily="49" charset="0"/>
              </a:rPr>
              <a:t>  stats </a:t>
            </a:r>
            <a:r>
              <a:rPr lang="en-US" sz="1400" dirty="0" err="1" smtClean="0">
                <a:latin typeface="Consolas" pitchFamily="49" charset="0"/>
              </a:rPr>
              <a:t>uri</a:t>
            </a:r>
            <a:r>
              <a:rPr lang="en-US" sz="1400" dirty="0" smtClean="0">
                <a:latin typeface="Consolas" pitchFamily="49" charset="0"/>
              </a:rPr>
              <a:t> /</a:t>
            </a:r>
            <a:r>
              <a:rPr lang="en-US" sz="1400" dirty="0" err="1" smtClean="0">
                <a:latin typeface="Consolas" pitchFamily="49" charset="0"/>
              </a:rPr>
              <a:t>admin?stats</a:t>
            </a:r>
            <a:endParaRPr lang="en-US" sz="1400" dirty="0" smtClean="0">
              <a:latin typeface="Consolas" pitchFamily="49" charset="0"/>
            </a:endParaRPr>
          </a:p>
          <a:p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backend </a:t>
            </a:r>
            <a:r>
              <a:rPr lang="en-US" sz="1400" dirty="0" err="1" smtClean="0">
                <a:latin typeface="Consolas" pitchFamily="49" charset="0"/>
              </a:rPr>
              <a:t>lbweb</a:t>
            </a:r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  option </a:t>
            </a:r>
            <a:r>
              <a:rPr lang="en-US" sz="1400" dirty="0" err="1" smtClean="0">
                <a:latin typeface="Consolas" pitchFamily="49" charset="0"/>
              </a:rPr>
              <a:t>httpchk</a:t>
            </a:r>
            <a:r>
              <a:rPr lang="en-US" sz="1400" dirty="0" smtClean="0">
                <a:latin typeface="Consolas" pitchFamily="49" charset="0"/>
              </a:rPr>
              <a:t> GET /health</a:t>
            </a:r>
          </a:p>
          <a:p>
            <a:r>
              <a:rPr lang="en-US" sz="1400" dirty="0" smtClean="0">
                <a:latin typeface="Consolas" pitchFamily="49" charset="0"/>
              </a:rPr>
              <a:t>  server lbweb1 192.168.1.18:3001 check</a:t>
            </a:r>
          </a:p>
          <a:p>
            <a:r>
              <a:rPr lang="en-US" sz="1400" dirty="0" smtClean="0">
                <a:latin typeface="Consolas" pitchFamily="49" charset="0"/>
              </a:rPr>
              <a:t>  server lbweb2 192.168.1.18:3002 check</a:t>
            </a:r>
            <a:endParaRPr lang="en-US" sz="1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Test Load Balancing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+mj-lt"/>
                <a:hlinkClick r:id="rId2"/>
              </a:rPr>
              <a:t>http://192.168.1.18:8000</a:t>
            </a:r>
            <a:r>
              <a:rPr lang="en-US" sz="2200" dirty="0" smtClean="0">
                <a:latin typeface="+mj-lt"/>
              </a:rPr>
              <a:t> (Use private browsing of different browsers to prevent potential cache).</a:t>
            </a:r>
          </a:p>
          <a:p>
            <a:endParaRPr lang="en-US" sz="2200" dirty="0" smtClean="0">
              <a:latin typeface="+mj-lt"/>
            </a:endParaRPr>
          </a:p>
          <a:p>
            <a:endParaRPr lang="en-US" sz="2200" dirty="0" smtClean="0">
              <a:latin typeface="+mj-lt"/>
            </a:endParaRPr>
          </a:p>
          <a:p>
            <a:endParaRPr lang="en-US" sz="2200" dirty="0" smtClean="0">
              <a:latin typeface="+mj-lt"/>
            </a:endParaRPr>
          </a:p>
          <a:p>
            <a:endParaRPr lang="en-US" sz="2200" dirty="0" smtClean="0">
              <a:latin typeface="+mj-lt"/>
            </a:endParaRPr>
          </a:p>
          <a:p>
            <a:r>
              <a:rPr lang="en-US" sz="2200" dirty="0" smtClean="0">
                <a:hlinkClick r:id="rId3"/>
              </a:rPr>
              <a:t>http://192.168.1.18</a:t>
            </a:r>
            <a:endParaRPr lang="en-US" sz="2200" dirty="0" smtClean="0"/>
          </a:p>
          <a:p>
            <a:endParaRPr lang="en-US" sz="2200" dirty="0" smtClean="0">
              <a:latin typeface="+mj-lt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13000" y="2514600"/>
            <a:ext cx="43180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05000" y="4597400"/>
            <a:ext cx="5324475" cy="127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Review </a:t>
            </a:r>
            <a:r>
              <a:rPr lang="en-US" dirty="0" err="1" smtClean="0"/>
              <a:t>haproxy</a:t>
            </a:r>
            <a:r>
              <a:rPr lang="en-US" dirty="0" smtClean="0"/>
              <a:t> Reports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http://192.168.1.18:8000/admin?stats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5820" y="2362200"/>
            <a:ext cx="7612380" cy="3710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Windows Network Load Balancing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hlinkClick r:id="rId2"/>
              </a:rPr>
              <a:t>http://www.serverlab.ca/tutorials/windows/web-servers/load-balancing-web-servers-with-windows-server-2012-r2/</a:t>
            </a:r>
            <a:endParaRPr lang="en-US" sz="2200" dirty="0" smtClean="0"/>
          </a:p>
          <a:p>
            <a:r>
              <a:rPr lang="en-US" sz="2200" dirty="0" smtClean="0"/>
              <a:t>Launch the </a:t>
            </a:r>
            <a:r>
              <a:rPr lang="en-US" sz="2200" b="1" dirty="0" smtClean="0"/>
              <a:t>Network Load Balancing Manager</a:t>
            </a:r>
            <a:r>
              <a:rPr lang="en-US" sz="2200" dirty="0" smtClean="0"/>
              <a:t>. This can be done by clicking the </a:t>
            </a:r>
            <a:r>
              <a:rPr lang="en-US" sz="2200" b="1" dirty="0" smtClean="0"/>
              <a:t>Tools</a:t>
            </a:r>
            <a:r>
              <a:rPr lang="en-US" sz="2200" dirty="0" smtClean="0"/>
              <a:t> menu in the </a:t>
            </a:r>
            <a:r>
              <a:rPr lang="en-US" sz="2200" b="1" dirty="0" smtClean="0"/>
              <a:t>Server Manager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From the top menu of the Network Load Balancing Manager, click </a:t>
            </a:r>
            <a:r>
              <a:rPr lang="en-US" sz="2200" b="1" dirty="0" smtClean="0"/>
              <a:t>Cluster</a:t>
            </a:r>
            <a:r>
              <a:rPr lang="en-US" sz="2200" dirty="0" smtClean="0"/>
              <a:t>, and then click </a:t>
            </a:r>
            <a:r>
              <a:rPr lang="en-US" sz="2200" b="1" dirty="0" smtClean="0"/>
              <a:t>New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Sticky sessions.</a:t>
            </a:r>
          </a:p>
        </p:txBody>
      </p:sp>
      <p:pic>
        <p:nvPicPr>
          <p:cNvPr id="80898" name="Picture 2" descr="http://www.serverlab.ca/wp-content/uploads/2014/04/64-figure-0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4572000"/>
            <a:ext cx="6000750" cy="167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Balancing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https://www.youtube.com/watch?v=kpvbOzHUakA</a:t>
            </a:r>
            <a:endParaRPr lang="en-US" sz="2400" dirty="0" smtClean="0"/>
          </a:p>
          <a:p>
            <a:r>
              <a:rPr lang="en-US" sz="2400" dirty="0" smtClean="0"/>
              <a:t>Round Robin</a:t>
            </a:r>
          </a:p>
          <a:p>
            <a:r>
              <a:rPr lang="en-US" sz="2400" dirty="0" smtClean="0"/>
              <a:t>Weighted Round Robin</a:t>
            </a:r>
          </a:p>
          <a:p>
            <a:r>
              <a:rPr lang="en-US" sz="2400" dirty="0" smtClean="0"/>
              <a:t>Random</a:t>
            </a:r>
          </a:p>
          <a:p>
            <a:r>
              <a:rPr lang="en-US" sz="2400" dirty="0" smtClean="0"/>
              <a:t>Consistent Hashing</a:t>
            </a:r>
          </a:p>
          <a:p>
            <a:r>
              <a:rPr lang="en-US" sz="2400" dirty="0" smtClean="0"/>
              <a:t>Least Connections / Least Requests</a:t>
            </a:r>
          </a:p>
          <a:p>
            <a:r>
              <a:rPr lang="en-US" sz="2400" dirty="0" smtClean="0"/>
              <a:t>Power-of-Two Choices (common in large-scale RPC systems)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Sticky Routing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Select backend via </a:t>
            </a:r>
            <a:r>
              <a:rPr lang="en-US" sz="2800" i="1" dirty="0" smtClean="0">
                <a:solidFill>
                  <a:srgbClr val="C00000"/>
                </a:solidFill>
              </a:rPr>
              <a:t>hash of request attributes</a:t>
            </a:r>
            <a:r>
              <a:rPr lang="en-US" sz="2800" dirty="0" smtClean="0"/>
              <a:t>.</a:t>
            </a:r>
          </a:p>
          <a:p>
            <a:pPr lvl="1"/>
            <a:r>
              <a:rPr lang="en-US" sz="2400" dirty="0" smtClean="0"/>
              <a:t>Source IP hash</a:t>
            </a:r>
          </a:p>
          <a:p>
            <a:pPr lvl="1"/>
            <a:r>
              <a:rPr lang="en-US" sz="2400" dirty="0" smtClean="0"/>
              <a:t>5-tuple hash (</a:t>
            </a:r>
            <a:r>
              <a:rPr lang="fr-FR" sz="2400" dirty="0" smtClean="0"/>
              <a:t>source IP </a:t>
            </a:r>
            <a:r>
              <a:rPr lang="fr-FR" sz="2400" dirty="0" err="1" smtClean="0"/>
              <a:t>address</a:t>
            </a:r>
            <a:r>
              <a:rPr lang="fr-FR" sz="2400" dirty="0" smtClean="0"/>
              <a:t>, destination IP </a:t>
            </a:r>
            <a:r>
              <a:rPr lang="fr-FR" sz="2400" dirty="0" err="1" smtClean="0"/>
              <a:t>address</a:t>
            </a:r>
            <a:r>
              <a:rPr lang="fr-FR" sz="2400" dirty="0" smtClean="0"/>
              <a:t>, source port, destination port, </a:t>
            </a:r>
            <a:r>
              <a:rPr lang="fr-FR" sz="2400" dirty="0" err="1" smtClean="0"/>
              <a:t>protocol</a:t>
            </a:r>
            <a:r>
              <a:rPr lang="fr-FR" sz="2400" dirty="0" smtClean="0"/>
              <a:t> (e.g., TCP, UDP)</a:t>
            </a:r>
            <a:r>
              <a:rPr lang="en-US" sz="2400" dirty="0" smtClean="0"/>
              <a:t>)</a:t>
            </a:r>
          </a:p>
          <a:p>
            <a:pPr lvl="1"/>
            <a:r>
              <a:rPr lang="en-US" sz="2400" dirty="0" smtClean="0"/>
              <a:t>URL hash</a:t>
            </a:r>
          </a:p>
          <a:p>
            <a:pPr lvl="1"/>
            <a:r>
              <a:rPr lang="en-US" sz="2400" dirty="0" smtClean="0"/>
              <a:t>Header/cookie hash</a:t>
            </a:r>
          </a:p>
          <a:p>
            <a:pPr lvl="1"/>
            <a:r>
              <a:rPr lang="en-US" sz="2400" dirty="0" smtClean="0"/>
              <a:t>Consistent hashing</a:t>
            </a:r>
          </a:p>
          <a:p>
            <a:pPr lvl="1"/>
            <a:r>
              <a:rPr lang="en-US" sz="2400" dirty="0" smtClean="0"/>
              <a:t>Rendezvous (Highest Random Weight) hashing</a:t>
            </a:r>
          </a:p>
          <a:p>
            <a:pPr lvl="1"/>
            <a:r>
              <a:rPr lang="en-US" sz="2400" dirty="0" smtClean="0"/>
              <a:t>Maglev hashing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about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https://www.youtube.com/watch?v=6NdxUY1La2I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Tail at Scale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If:</a:t>
            </a:r>
          </a:p>
          <a:p>
            <a:pPr>
              <a:buNone/>
            </a:pPr>
            <a:r>
              <a:rPr lang="en-US" sz="2400" dirty="0" smtClean="0"/>
              <a:t>	Each </a:t>
            </a:r>
            <a:r>
              <a:rPr lang="en-US" sz="2400" dirty="0" err="1" smtClean="0"/>
              <a:t>subrequest</a:t>
            </a:r>
            <a:r>
              <a:rPr lang="en-US" sz="2400" dirty="0" smtClean="0"/>
              <a:t> has 1% probability of being slow (p99 event)</a:t>
            </a:r>
          </a:p>
          <a:p>
            <a:pPr>
              <a:buNone/>
            </a:pPr>
            <a:r>
              <a:rPr lang="en-US" sz="2400" dirty="0" smtClean="0"/>
              <a:t>	A page requires 100 parallel </a:t>
            </a:r>
            <a:r>
              <a:rPr lang="en-US" sz="2400" dirty="0" err="1" smtClean="0"/>
              <a:t>subrequests</a:t>
            </a:r>
            <a:endParaRPr lang="en-US" sz="2400" dirty="0" smtClean="0"/>
          </a:p>
          <a:p>
            <a:r>
              <a:rPr lang="en-US" sz="2400" dirty="0" smtClean="0"/>
              <a:t>Then:</a:t>
            </a:r>
          </a:p>
          <a:p>
            <a:pPr>
              <a:buNone/>
            </a:pPr>
            <a:r>
              <a:rPr lang="en-US" sz="2400" dirty="0" smtClean="0"/>
              <a:t>	P(at least one slow)≈1−(0.99)</a:t>
            </a:r>
            <a:r>
              <a:rPr lang="en-US" sz="2400" baseline="30000" dirty="0" smtClean="0"/>
              <a:t>100</a:t>
            </a:r>
            <a:r>
              <a:rPr lang="en-US" sz="2400" dirty="0" smtClean="0"/>
              <a:t>≈63% </a:t>
            </a:r>
          </a:p>
          <a:p>
            <a:r>
              <a:rPr lang="en-US" sz="2400" dirty="0" smtClean="0"/>
              <a:t>So even if each component is “99% fast,” the overall request is slow most of the time.</a:t>
            </a:r>
          </a:p>
          <a:p>
            <a:r>
              <a:rPr lang="en-US" sz="2400" dirty="0" smtClean="0"/>
              <a:t>This is why tail latency dominates user experience at scale.</a:t>
            </a:r>
            <a:endParaRPr lang="en-US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Tail Latency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Instead of asking:</a:t>
            </a:r>
          </a:p>
          <a:p>
            <a:pPr>
              <a:buNone/>
            </a:pPr>
            <a:r>
              <a:rPr lang="en-US" sz="2400" dirty="0" smtClean="0"/>
              <a:t>	"What is the average latency?"</a:t>
            </a:r>
          </a:p>
          <a:p>
            <a:r>
              <a:rPr lang="en-US" sz="2400" dirty="0" smtClean="0"/>
              <a:t>tail latency asks:</a:t>
            </a:r>
          </a:p>
          <a:p>
            <a:pPr>
              <a:buNone/>
            </a:pPr>
            <a:r>
              <a:rPr lang="en-US" sz="2400" dirty="0" smtClean="0"/>
              <a:t>	"How slow are the slowest 1% (or 0.1%) of requests?"</a:t>
            </a:r>
          </a:p>
          <a:p>
            <a:r>
              <a:rPr lang="en-US" sz="2400" dirty="0" smtClean="0"/>
              <a:t>The </a:t>
            </a:r>
            <a:r>
              <a:rPr lang="en-US" sz="2400" b="1" dirty="0" smtClean="0"/>
              <a:t>p-</a:t>
            </a:r>
            <a:r>
              <a:rPr lang="en-US" sz="2400" b="1" dirty="0" err="1" smtClean="0"/>
              <a:t>th</a:t>
            </a:r>
            <a:r>
              <a:rPr lang="en-US" sz="2400" b="1" dirty="0" smtClean="0"/>
              <a:t> percentile latency</a:t>
            </a:r>
            <a:r>
              <a:rPr lang="en-US" sz="2400" dirty="0" smtClean="0"/>
              <a:t> is the value </a:t>
            </a:r>
            <a:r>
              <a:rPr lang="en-US" sz="2400" dirty="0" err="1" smtClean="0"/>
              <a:t>t</a:t>
            </a:r>
            <a:r>
              <a:rPr lang="en-US" sz="2400" baseline="-25000" dirty="0" err="1" smtClean="0"/>
              <a:t>p</a:t>
            </a:r>
            <a:r>
              <a:rPr lang="en-US" sz="2400" dirty="0" smtClean="0"/>
              <a:t>​ such that:</a:t>
            </a:r>
          </a:p>
          <a:p>
            <a:pPr>
              <a:buNone/>
            </a:pPr>
            <a:r>
              <a:rPr lang="en-US" sz="2400" dirty="0" smtClean="0"/>
              <a:t>	P(</a:t>
            </a:r>
            <a:r>
              <a:rPr lang="en-US" sz="2400" dirty="0" err="1" smtClean="0"/>
              <a:t>T≤t</a:t>
            </a:r>
            <a:r>
              <a:rPr lang="en-US" sz="2400" baseline="-25000" dirty="0" err="1" smtClean="0"/>
              <a:t>p</a:t>
            </a:r>
            <a:r>
              <a:rPr lang="en-US" sz="2400" dirty="0" smtClean="0"/>
              <a:t>)=p</a:t>
            </a:r>
          </a:p>
          <a:p>
            <a:pPr>
              <a:buNone/>
            </a:pPr>
            <a:r>
              <a:rPr lang="en-US" sz="2400" b="1" dirty="0" smtClean="0"/>
              <a:t>	p99 latency</a:t>
            </a:r>
            <a:r>
              <a:rPr lang="en-US" sz="2400" dirty="0" smtClean="0"/>
              <a:t>: 99% of requests complete faster than this value.</a:t>
            </a:r>
          </a:p>
          <a:p>
            <a:pPr>
              <a:buNone/>
            </a:pPr>
            <a:r>
              <a:rPr lang="en-US" sz="2400" b="1" dirty="0" smtClean="0"/>
              <a:t>	p99.9 latency</a:t>
            </a:r>
            <a:r>
              <a:rPr lang="en-US" sz="2400" dirty="0" smtClean="0"/>
              <a:t>: 99.9% complete faster.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Tail latency</a:t>
            </a:r>
            <a:r>
              <a:rPr lang="en-US" sz="2400" dirty="0" smtClean="0"/>
              <a:t> is the latency experienced by </a:t>
            </a:r>
            <a:r>
              <a:rPr lang="en-US" sz="2400" u="sng" dirty="0" smtClean="0"/>
              <a:t>the slowest fraction</a:t>
            </a:r>
            <a:r>
              <a:rPr lang="en-US" sz="2400" dirty="0" smtClean="0"/>
              <a:t> of requests in a system, typically measured at high percentiles (p95, p99, p99.9). Mathematically precise: </a:t>
            </a:r>
            <a:r>
              <a:rPr lang="en-US" sz="2400" b="1" dirty="0" smtClean="0"/>
              <a:t>right-tail latency.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Tail-tolerant </a:t>
            </a:r>
            <a:r>
              <a:rPr lang="en-US" smtClean="0"/>
              <a:t>Techniques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Hedged requests</a:t>
            </a:r>
            <a:r>
              <a:rPr lang="en-US" sz="2400" dirty="0" smtClean="0"/>
              <a:t>. A simple way to curb latency variability is to issue the same request to </a:t>
            </a:r>
            <a:r>
              <a:rPr lang="en-US" sz="2400" u="sng" dirty="0" smtClean="0"/>
              <a:t>multiple replicas</a:t>
            </a:r>
            <a:r>
              <a:rPr lang="en-US" sz="2400" dirty="0" smtClean="0"/>
              <a:t> and use the results from whichever replica responds </a:t>
            </a:r>
            <a:r>
              <a:rPr lang="en-US" sz="2400" u="sng" dirty="0" smtClean="0"/>
              <a:t>first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Micro-partitions</a:t>
            </a:r>
            <a:r>
              <a:rPr lang="en-US" sz="2400" dirty="0" smtClean="0"/>
              <a:t>. To combat </a:t>
            </a:r>
            <a:r>
              <a:rPr lang="en-US" sz="2400" u="sng" dirty="0" smtClean="0"/>
              <a:t>imbalance</a:t>
            </a:r>
            <a:r>
              <a:rPr lang="en-US" sz="2400" dirty="0" smtClean="0"/>
              <a:t>, many of Google’s systems generate many </a:t>
            </a:r>
            <a:r>
              <a:rPr lang="en-US" sz="2400" u="sng" dirty="0" smtClean="0"/>
              <a:t>more partitions</a:t>
            </a:r>
            <a:r>
              <a:rPr lang="en-US" sz="2400" dirty="0" smtClean="0"/>
              <a:t> than there are machines in the service, then do dynamic assignment and </a:t>
            </a:r>
            <a:r>
              <a:rPr lang="en-US" sz="2400" u="sng" dirty="0" smtClean="0"/>
              <a:t>load balancing of these partitions</a:t>
            </a:r>
            <a:r>
              <a:rPr lang="en-US" sz="2400" dirty="0" smtClean="0"/>
              <a:t> to particular machines.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Selective replication</a:t>
            </a:r>
            <a:r>
              <a:rPr lang="en-US" sz="2400" dirty="0" smtClean="0"/>
              <a:t>. An enhancement of the micro-partitioning scheme is to detect or even predict certain items that are likely to cause load imbalance and create additional replicas of these items.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Traefik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</a:t>
            </a:r>
            <a:r>
              <a:rPr lang="en-US" sz="2200" dirty="0" smtClean="0">
                <a:hlinkClick r:id="rId2"/>
              </a:rPr>
              <a:t>traefik.io/traefik</a:t>
            </a:r>
            <a:endParaRPr lang="en-US" sz="2200" dirty="0" smtClean="0"/>
          </a:p>
          <a:p>
            <a:r>
              <a:rPr lang="en-US" sz="2200" dirty="0" smtClean="0"/>
              <a:t>Unlike a traditional reverse proxy, which requires manual configuration, </a:t>
            </a:r>
            <a:r>
              <a:rPr lang="en-US" sz="2200" dirty="0" err="1" smtClean="0"/>
              <a:t>Traefik</a:t>
            </a:r>
            <a:r>
              <a:rPr lang="en-US" sz="2200" dirty="0" smtClean="0"/>
              <a:t> uses service discovery to dynamically configure routing.</a:t>
            </a:r>
            <a:endParaRPr lang="en-US" sz="2200" dirty="0"/>
          </a:p>
        </p:txBody>
      </p:sp>
      <p:pic>
        <p:nvPicPr>
          <p:cNvPr id="1026" name="Picture 2" descr="https://traefik.io/_next/image?url=%2Fimages%2Ftraefik%2Fintro%2Fdiagram%403x.png&amp;w=2048&amp;q=7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505200"/>
            <a:ext cx="5203105" cy="29216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20755</TotalTime>
  <Words>1413</Words>
  <Application>Microsoft Office PowerPoint</Application>
  <PresentationFormat>On-screen Show (4:3)</PresentationFormat>
  <Paragraphs>297</Paragraphs>
  <Slides>50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Load Balancing</vt:lpstr>
      <vt:lpstr>Objectives</vt:lpstr>
      <vt:lpstr>Contents</vt:lpstr>
      <vt:lpstr>References</vt:lpstr>
      <vt:lpstr>Solving a Problem: The Hard Part</vt:lpstr>
      <vt:lpstr>Why Learn a New Tool?</vt:lpstr>
      <vt:lpstr>Identify a Concrete Problem</vt:lpstr>
      <vt:lpstr>Typical Procedure</vt:lpstr>
      <vt:lpstr>Slide 9</vt:lpstr>
      <vt:lpstr>Why Load Balancing?</vt:lpstr>
      <vt:lpstr>Distributed Web-Server System [1]</vt:lpstr>
      <vt:lpstr>How to Route Requests?</vt:lpstr>
      <vt:lpstr>DNS-Based Approach</vt:lpstr>
      <vt:lpstr>Dispatcher-Based Approach</vt:lpstr>
      <vt:lpstr>Packet Single-Rewriting</vt:lpstr>
      <vt:lpstr>Packet Double-Rewriting</vt:lpstr>
      <vt:lpstr>WAN Network Dispatcher Architecture</vt:lpstr>
      <vt:lpstr>Slide 18</vt:lpstr>
      <vt:lpstr>Hardware Load Balancers</vt:lpstr>
      <vt:lpstr>Software Load Balancers</vt:lpstr>
      <vt:lpstr>1. Install Nginx</vt:lpstr>
      <vt:lpstr>2. Install Node.js</vt:lpstr>
      <vt:lpstr>3. Create 1st Node.js Web Application</vt:lpstr>
      <vt:lpstr>4. Run 1st Node.js Web Application</vt:lpstr>
      <vt:lpstr>5. Create 2nd Node.js Web Application</vt:lpstr>
      <vt:lpstr>6. Run 2nd Node.js Web Application</vt:lpstr>
      <vt:lpstr>7. Pass Requests to a Proxied Server</vt:lpstr>
      <vt:lpstr>8. Test Passing Requests</vt:lpstr>
      <vt:lpstr>9. Implement Load Balancing</vt:lpstr>
      <vt:lpstr>10. Test Load Balancing</vt:lpstr>
      <vt:lpstr>Slide 31</vt:lpstr>
      <vt:lpstr>1. Install haproxy on Ubuntu</vt:lpstr>
      <vt:lpstr>Build from Source in Ubuntu</vt:lpstr>
      <vt:lpstr>2. Start haproxy</vt:lpstr>
      <vt:lpstr>3. Test haproxy</vt:lpstr>
      <vt:lpstr>4. Implement Load Balancing</vt:lpstr>
      <vt:lpstr>5. Test Load Balancing</vt:lpstr>
      <vt:lpstr>6. Review haproxy Reports</vt:lpstr>
      <vt:lpstr>Slide 39</vt:lpstr>
      <vt:lpstr>Windows Network Load Balancing</vt:lpstr>
      <vt:lpstr>Slide 41</vt:lpstr>
      <vt:lpstr>Load Balancing Algorithms</vt:lpstr>
      <vt:lpstr>Sticky Routing Algorithms</vt:lpstr>
      <vt:lpstr>More about Algorithms</vt:lpstr>
      <vt:lpstr>The Tail at Scale</vt:lpstr>
      <vt:lpstr>Tail Latency</vt:lpstr>
      <vt:lpstr>Tail-tolerant Techniques [2]</vt:lpstr>
      <vt:lpstr>Slide 48</vt:lpstr>
      <vt:lpstr>Traefik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5047</cp:revision>
  <dcterms:created xsi:type="dcterms:W3CDTF">2007-10-06T08:25:13Z</dcterms:created>
  <dcterms:modified xsi:type="dcterms:W3CDTF">2026-08-06T11:55:24Z</dcterms:modified>
</cp:coreProperties>
</file>