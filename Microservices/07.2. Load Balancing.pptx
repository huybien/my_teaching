
<file path=[Content_Types].xml><?xml version="1.0" encoding="utf-8"?>
<Types xmlns="http://schemas.openxmlformats.org/package/2006/content-types">
  <Override PartName="/ppt/slides/slide6.xml" ContentType="application/vnd.openxmlformats-officedocument.presentationml.slide+xml"/>
  <Override PartName="/ppt/slides/slide29.xml" ContentType="application/vnd.openxmlformats-officedocument.presentationml.slide+xml"/>
  <Override PartName="/ppt/slides/slide38.xml" ContentType="application/vnd.openxmlformats-officedocument.presentationml.slide+xml"/>
  <Override PartName="/ppt/slides/slide47.xml" ContentType="application/vnd.openxmlformats-officedocument.presentationml.slide+xml"/>
  <Override PartName="/ppt/slideLayouts/slideLayout8.xml" ContentType="application/vnd.openxmlformats-officedocument.presentationml.slideLayout+xml"/>
  <Override PartName="/ppt/notesSlides/notesSlide2.xml" ContentType="application/vnd.openxmlformats-officedocument.presentationml.notesSlide+xml"/>
  <Override PartName="/ppt/slideMasters/slideMaster1.xml" ContentType="application/vnd.openxmlformats-officedocument.presentationml.slideMaster+xml"/>
  <Override PartName="/ppt/slides/slide4.xml" ContentType="application/vnd.openxmlformats-officedocument.presentationml.slide+xml"/>
  <Override PartName="/ppt/slides/slide18.xml" ContentType="application/vnd.openxmlformats-officedocument.presentationml.slide+xml"/>
  <Override PartName="/ppt/slides/slide27.xml" ContentType="application/vnd.openxmlformats-officedocument.presentationml.slide+xml"/>
  <Override PartName="/ppt/slides/slide36.xml" ContentType="application/vnd.openxmlformats-officedocument.presentationml.slide+xml"/>
  <Override PartName="/ppt/slides/slide45.xml" ContentType="application/vnd.openxmlformats-officedocument.presentationml.slide+xml"/>
  <Override PartName="/ppt/slides/slide54.xml" ContentType="application/vnd.openxmlformats-officedocument.presentationml.slide+xml"/>
  <Override PartName="/ppt/slideLayouts/slideLayout4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s/slide2.xml" ContentType="application/vnd.openxmlformats-officedocument.presentationml.slide+xml"/>
  <Override PartName="/ppt/slides/slide16.xml" ContentType="application/vnd.openxmlformats-officedocument.presentationml.slide+xml"/>
  <Override PartName="/ppt/slides/slide25.xml" ContentType="application/vnd.openxmlformats-officedocument.presentationml.slide+xml"/>
  <Override PartName="/ppt/slides/slide34.xml" ContentType="application/vnd.openxmlformats-officedocument.presentationml.slide+xml"/>
  <Override PartName="/ppt/slides/slide43.xml" ContentType="application/vnd.openxmlformats-officedocument.presentationml.slide+xml"/>
  <Override PartName="/ppt/slides/slide52.xml" ContentType="application/vnd.openxmlformats-officedocument.presentationml.slide+xml"/>
  <Override PartName="/ppt/theme/theme1.xml" ContentType="application/vnd.openxmlformats-officedocument.theme+xml"/>
  <Override PartName="/ppt/slideLayouts/slideLayout2.xml" ContentType="application/vnd.openxmlformats-officedocument.presentationml.slideLayout+xml"/>
  <Default Extension="rels" ContentType="application/vnd.openxmlformats-package.relationships+xml"/>
  <Default Extension="xml" ContentType="application/xml"/>
  <Override PartName="/ppt/slides/slide14.xml" ContentType="application/vnd.openxmlformats-officedocument.presentationml.slide+xml"/>
  <Override PartName="/ppt/slides/slide23.xml" ContentType="application/vnd.openxmlformats-officedocument.presentationml.slide+xml"/>
  <Override PartName="/ppt/slides/slide32.xml" ContentType="application/vnd.openxmlformats-officedocument.presentationml.slide+xml"/>
  <Override PartName="/ppt/slides/slide41.xml" ContentType="application/vnd.openxmlformats-officedocument.presentationml.slide+xml"/>
  <Override PartName="/ppt/slides/slide50.xml" ContentType="application/vnd.openxmlformats-officedocument.presentationml.slide+xml"/>
  <Override PartName="/ppt/notesMasters/notesMaster1.xml" ContentType="application/vnd.openxmlformats-officedocument.presentationml.notesMaster+xml"/>
  <Override PartName="/ppt/slides/slide10.xml" ContentType="application/vnd.openxmlformats-officedocument.presentationml.slide+xml"/>
  <Override PartName="/ppt/slides/slide12.xml" ContentType="application/vnd.openxmlformats-officedocument.presentationml.slide+xml"/>
  <Override PartName="/ppt/slides/slide21.xml" ContentType="application/vnd.openxmlformats-officedocument.presentationml.slide+xml"/>
  <Override PartName="/ppt/slides/slide30.xml" ContentType="application/vnd.openxmlformats-officedocument.presentationml.slide+xml"/>
  <Override PartName="/ppt/tableStyles.xml" ContentType="application/vnd.openxmlformats-officedocument.presentationml.tableStyles+xml"/>
  <Override PartName="/ppt/slideLayouts/slideLayout11.xml" ContentType="application/vnd.openxmlformats-officedocument.presentationml.slideLayout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49.xml" ContentType="application/vnd.openxmlformats-officedocument.presentationml.slide+xml"/>
  <Override PartName="/ppt/viewProps.xml" ContentType="application/vnd.openxmlformats-officedocument.presentationml.viewProps+xml"/>
  <Override PartName="/ppt/slideLayouts/slideLayout9.xml" ContentType="application/vnd.openxmlformats-officedocument.presentationml.slideLayout+xml"/>
  <Override PartName="/docProps/core.xml" ContentType="application/vnd.openxmlformats-package.core-properties+xml"/>
  <Override PartName="/ppt/slides/slide5.xml" ContentType="application/vnd.openxmlformats-officedocument.presentationml.slide+xml"/>
  <Override PartName="/ppt/slides/slide19.xml" ContentType="application/vnd.openxmlformats-officedocument.presentationml.slide+xml"/>
  <Override PartName="/ppt/slides/slide28.xml" ContentType="application/vnd.openxmlformats-officedocument.presentationml.slide+xml"/>
  <Override PartName="/ppt/slides/slide39.xml" ContentType="application/vnd.openxmlformats-officedocument.presentationml.slide+xml"/>
  <Override PartName="/ppt/slides/slide48.xml" ContentType="application/vnd.openxmlformats-officedocument.presentationml.slide+xml"/>
  <Override PartName="/ppt/slideLayouts/slideLayout7.xml" ContentType="application/vnd.openxmlformats-officedocument.presentationml.slideLayout+xml"/>
  <Default Extension="png" ContentType="image/png"/>
  <Override PartName="/ppt/notesSlides/notesSlide1.xml" ContentType="application/vnd.openxmlformats-officedocument.presentationml.notesSlide+xml"/>
  <Override PartName="/ppt/slides/slide3.xml" ContentType="application/vnd.openxmlformats-officedocument.presentationml.slide+xml"/>
  <Override PartName="/ppt/slides/slide17.xml" ContentType="application/vnd.openxmlformats-officedocument.presentationml.slide+xml"/>
  <Override PartName="/ppt/slides/slide26.xml" ContentType="application/vnd.openxmlformats-officedocument.presentationml.slide+xml"/>
  <Override PartName="/ppt/slides/slide37.xml" ContentType="application/vnd.openxmlformats-officedocument.presentationml.slide+xml"/>
  <Override PartName="/ppt/slides/slide46.xml" ContentType="application/vnd.openxmlformats-officedocument.presentationml.slide+xml"/>
  <Override PartName="/ppt/presProps.xml" ContentType="application/vnd.openxmlformats-officedocument.presentationml.presProps+xml"/>
  <Override PartName="/ppt/slideLayouts/slideLayout5.xml" ContentType="application/vnd.openxmlformats-officedocument.presentationml.slideLayout+xml"/>
  <Override PartName="/ppt/theme/theme2.xml" ContentType="application/vnd.openxmlformats-officedocument.theme+xml"/>
  <Override PartName="/ppt/slides/slide1.xml" ContentType="application/vnd.openxmlformats-officedocument.presentationml.slide+xml"/>
  <Override PartName="/ppt/slides/slide15.xml" ContentType="application/vnd.openxmlformats-officedocument.presentationml.slide+xml"/>
  <Override PartName="/ppt/slides/slide24.xml" ContentType="application/vnd.openxmlformats-officedocument.presentationml.slide+xml"/>
  <Override PartName="/ppt/slides/slide33.xml" ContentType="application/vnd.openxmlformats-officedocument.presentationml.slide+xml"/>
  <Override PartName="/ppt/slides/slide35.xml" ContentType="application/vnd.openxmlformats-officedocument.presentationml.slide+xml"/>
  <Override PartName="/ppt/slides/slide44.xml" ContentType="application/vnd.openxmlformats-officedocument.presentationml.slide+xml"/>
  <Override PartName="/ppt/slides/slide53.xml" ContentType="application/vnd.openxmlformats-officedocument.presentationml.slide+xml"/>
  <Override PartName="/ppt/slideLayouts/slideLayout3.xml" ContentType="application/vnd.openxmlformats-officedocument.presentationml.slideLayout+xml"/>
  <Default Extension="jpeg" ContentType="image/jpeg"/>
  <Override PartName="/ppt/presentation.xml" ContentType="application/vnd.openxmlformats-officedocument.presentationml.presentation.main+xml"/>
  <Override PartName="/ppt/slides/slide13.xml" ContentType="application/vnd.openxmlformats-officedocument.presentationml.slide+xml"/>
  <Override PartName="/ppt/slides/slide22.xml" ContentType="application/vnd.openxmlformats-officedocument.presentationml.slide+xml"/>
  <Override PartName="/ppt/slides/slide31.xml" ContentType="application/vnd.openxmlformats-officedocument.presentationml.slide+xml"/>
  <Override PartName="/ppt/slides/slide42.xml" ContentType="application/vnd.openxmlformats-officedocument.presentationml.slide+xml"/>
  <Override PartName="/ppt/slides/slide51.xml" ContentType="application/vnd.openxmlformats-officedocument.presentationml.slide+xml"/>
  <Override PartName="/ppt/slideLayouts/slideLayout1.xml" ContentType="application/vnd.openxmlformats-officedocument.presentationml.slideLayout+xml"/>
  <Override PartName="/docProps/app.xml" ContentType="application/vnd.openxmlformats-officedocument.extended-properties+xml"/>
  <Override PartName="/ppt/slides/slide11.xml" ContentType="application/vnd.openxmlformats-officedocument.presentationml.slide+xml"/>
  <Override PartName="/ppt/slides/slide20.xml" ContentType="application/vnd.openxmlformats-officedocument.presentationml.slide+xml"/>
  <Override PartName="/ppt/slides/slide40.xml" ContentType="application/vnd.openxmlformats-officedocument.presentationml.slide+xml"/>
  <Override PartName="/ppt/slideLayouts/slideLayout10.xml" ContentType="application/vnd.openxmlformats-officedocument.presentationml.slideLayout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08" r:id="rId1"/>
  </p:sldMasterIdLst>
  <p:notesMasterIdLst>
    <p:notesMasterId r:id="rId56"/>
  </p:notesMasterIdLst>
  <p:sldIdLst>
    <p:sldId id="670" r:id="rId2"/>
    <p:sldId id="671" r:id="rId3"/>
    <p:sldId id="672" r:id="rId4"/>
    <p:sldId id="673" r:id="rId5"/>
    <p:sldId id="708" r:id="rId6"/>
    <p:sldId id="709" r:id="rId7"/>
    <p:sldId id="710" r:id="rId8"/>
    <p:sldId id="711" r:id="rId9"/>
    <p:sldId id="713" r:id="rId10"/>
    <p:sldId id="716" r:id="rId11"/>
    <p:sldId id="625" r:id="rId12"/>
    <p:sldId id="715" r:id="rId13"/>
    <p:sldId id="607" r:id="rId14"/>
    <p:sldId id="667" r:id="rId15"/>
    <p:sldId id="608" r:id="rId16"/>
    <p:sldId id="609" r:id="rId17"/>
    <p:sldId id="610" r:id="rId18"/>
    <p:sldId id="689" r:id="rId19"/>
    <p:sldId id="675" r:id="rId20"/>
    <p:sldId id="676" r:id="rId21"/>
    <p:sldId id="679" r:id="rId22"/>
    <p:sldId id="680" r:id="rId23"/>
    <p:sldId id="677" r:id="rId24"/>
    <p:sldId id="682" r:id="rId25"/>
    <p:sldId id="683" r:id="rId26"/>
    <p:sldId id="684" r:id="rId27"/>
    <p:sldId id="685" r:id="rId28"/>
    <p:sldId id="687" r:id="rId29"/>
    <p:sldId id="686" r:id="rId30"/>
    <p:sldId id="688" r:id="rId31"/>
    <p:sldId id="690" r:id="rId32"/>
    <p:sldId id="681" r:id="rId33"/>
    <p:sldId id="691" r:id="rId34"/>
    <p:sldId id="678" r:id="rId35"/>
    <p:sldId id="692" r:id="rId36"/>
    <p:sldId id="693" r:id="rId37"/>
    <p:sldId id="694" r:id="rId38"/>
    <p:sldId id="695" r:id="rId39"/>
    <p:sldId id="696" r:id="rId40"/>
    <p:sldId id="662" r:id="rId41"/>
    <p:sldId id="717" r:id="rId42"/>
    <p:sldId id="721" r:id="rId43"/>
    <p:sldId id="722" r:id="rId44"/>
    <p:sldId id="718" r:id="rId45"/>
    <p:sldId id="723" r:id="rId46"/>
    <p:sldId id="724" r:id="rId47"/>
    <p:sldId id="728" r:id="rId48"/>
    <p:sldId id="729" r:id="rId49"/>
    <p:sldId id="725" r:id="rId50"/>
    <p:sldId id="726" r:id="rId51"/>
    <p:sldId id="727" r:id="rId52"/>
    <p:sldId id="731" r:id="rId53"/>
    <p:sldId id="730" r:id="rId54"/>
    <p:sldId id="516" r:id="rId55"/>
  </p:sldIdLst>
  <p:sldSz cx="9144000" cy="6858000" type="screen4x3"/>
  <p:notesSz cx="6858000" cy="9144000"/>
  <p:defaultTextStyle>
    <a:defPPr>
      <a:defRPr lang="en-US"/>
    </a:defPPr>
    <a:lvl1pPr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+mn-cs"/>
      </a:defRPr>
    </a:lvl1pPr>
    <a:lvl2pPr marL="4572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+mn-cs"/>
      </a:defRPr>
    </a:lvl2pPr>
    <a:lvl3pPr marL="9144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+mn-cs"/>
      </a:defRPr>
    </a:lvl3pPr>
    <a:lvl4pPr marL="13716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+mn-cs"/>
      </a:defRPr>
    </a:lvl4pPr>
    <a:lvl5pPr marL="18288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+mn-cs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Arial" charset="0"/>
        <a:ea typeface="+mn-ea"/>
        <a:cs typeface="+mn-cs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Arial" charset="0"/>
        <a:ea typeface="+mn-ea"/>
        <a:cs typeface="+mn-cs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Arial" charset="0"/>
        <a:ea typeface="+mn-ea"/>
        <a:cs typeface="+mn-cs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Arial" charset="0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33CCFF"/>
  </p:clrMru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3C2FFA5D-87B4-456A-9821-1D502468CF0F}" styleName="Themed Style 1 - Accent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21050" autoAdjust="0"/>
    <p:restoredTop sz="94667" autoAdjust="0"/>
  </p:normalViewPr>
  <p:slideViewPr>
    <p:cSldViewPr>
      <p:cViewPr>
        <p:scale>
          <a:sx n="50" d="100"/>
          <a:sy n="50" d="100"/>
        </p:scale>
        <p:origin x="-1532" y="-40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46014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66" d="100"/>
        <a:sy n="66" d="100"/>
      </p:scale>
      <p:origin x="0" y="0"/>
    </p:cViewPr>
  </p:sorterViewPr>
  <p:gridSpacing cx="78028800" cy="780288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notesMaster" Target="notesMasters/notesMaster1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F0940CE-BE1D-4C40-AF8B-3898A4D1F5EC}" type="datetimeFigureOut">
              <a:rPr lang="en-US" smtClean="0"/>
              <a:pPr/>
              <a:t>8/8/2026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570CC96-DB61-4850-AF79-05CA5E4B3D0A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4E670EC-EF90-4A84-9798-83F1F2DBB460}" type="slidenum">
              <a:rPr lang="en-US" smtClean="0"/>
              <a:pPr/>
              <a:t>3</a:t>
            </a:fld>
            <a:endParaRPr 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570CC96-DB61-4850-AF79-05CA5E4B3D0A}" type="slidenum">
              <a:rPr lang="en-US" smtClean="0"/>
              <a:pPr/>
              <a:t>46</a:t>
            </a:fld>
            <a:endParaRPr 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BB3B12F3-13D8-4BC6-B271-EF890D2E3EA0}" type="datetimeFigureOut">
              <a:rPr lang="en-US"/>
              <a:pPr>
                <a:defRPr/>
              </a:pPr>
              <a:t>8/8/2026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0C4D65A0-8A45-49A8-B2B4-890662407FE0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AF2554BB-BED8-407D-871B-BC3BF099B766}" type="datetimeFigureOut">
              <a:rPr lang="en-US"/>
              <a:pPr>
                <a:defRPr/>
              </a:pPr>
              <a:t>8/8/2026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6B6A513C-A265-4672-ADF9-9C420A0C09A7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D183AE9F-B8F4-4A27-A258-84000ADADD35}" type="datetimeFigureOut">
              <a:rPr lang="en-US"/>
              <a:pPr>
                <a:defRPr/>
              </a:pPr>
              <a:t>8/8/2026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D0C0325C-EBE7-4A11-97E9-DF8C42B04A73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8B4F403C-A7D9-4211-8DC1-5865845C9F38}" type="datetimeFigureOut">
              <a:rPr lang="en-US"/>
              <a:pPr>
                <a:defRPr/>
              </a:pPr>
              <a:t>8/8/2026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C091B809-96F5-477B-8E72-8AB6B5E4AEA1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8809C128-87F1-4A1D-AC95-1D0A8C2820AC}" type="datetimeFigureOut">
              <a:rPr lang="en-US"/>
              <a:pPr>
                <a:defRPr/>
              </a:pPr>
              <a:t>8/8/2026</a:t>
            </a:fld>
            <a:endParaRPr lang="en-US"/>
          </a:p>
        </p:txBody>
      </p:sp>
      <p:sp>
        <p:nvSpPr>
          <p:cNvPr id="8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9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DC251F8E-6BBA-4EBA-BCCA-61145C18CC0B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0DD7EAC8-1610-4C8B-8A2E-7959779A26B0}" type="datetimeFigureOut">
              <a:rPr lang="en-US"/>
              <a:pPr>
                <a:defRPr/>
              </a:pPr>
              <a:t>8/8/2026</a:t>
            </a:fld>
            <a:endParaRPr lang="en-US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5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88F43CFA-8BED-4A88-AB21-8477601BA319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BD13CF8C-ED99-4E62-9F8F-039B47F842EB}" type="datetimeFigureOut">
              <a:rPr lang="en-US"/>
              <a:pPr>
                <a:defRPr/>
              </a:pPr>
              <a:t>8/8/2026</a:t>
            </a:fld>
            <a:endParaRPr lang="en-US"/>
          </a:p>
        </p:txBody>
      </p:sp>
      <p:sp>
        <p:nvSpPr>
          <p:cNvPr id="3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4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73FA9176-712D-4387-A1B9-79FDD21B4132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6A10295A-2761-40EA-9DA2-E88C0504267F}" type="datetimeFigureOut">
              <a:rPr lang="en-US"/>
              <a:pPr>
                <a:defRPr/>
              </a:pPr>
              <a:t>8/8/2026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A6EFA140-F156-4425-B953-A67D35160EB0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 rtlCol="0">
            <a:normAutofit/>
          </a:bodyPr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en-US" noProof="0" smtClean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B7036556-1340-40FC-A073-D70D8832A760}" type="datetimeFigureOut">
              <a:rPr lang="en-US"/>
              <a:pPr>
                <a:defRPr/>
              </a:pPr>
              <a:t>8/8/2026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AB3919B8-AF1D-4524-AED9-AA87E5FE0640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B5375E21-F618-4DDC-86A2-77C690CACCAF}" type="datetimeFigureOut">
              <a:rPr lang="en-US"/>
              <a:pPr>
                <a:defRPr/>
              </a:pPr>
              <a:t>8/8/2026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2EDB1DC0-76E8-4C19-B643-CDC8176FDDA2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1B4CE7E0-80C2-49E8-81AC-9B27623F73A4}" type="datetimeFigureOut">
              <a:rPr lang="en-US"/>
              <a:pPr>
                <a:defRPr/>
              </a:pPr>
              <a:t>8/8/2026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D129D05C-0F0F-4E8B-B47F-3C2F1A4BC70E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18" name="Title Placeholder 1"/>
          <p:cNvSpPr>
            <a:spLocks noGrp="1"/>
          </p:cNvSpPr>
          <p:nvPr>
            <p:ph type="title"/>
          </p:nvPr>
        </p:nvSpPr>
        <p:spPr bwMode="auto">
          <a:xfrm>
            <a:off x="457200" y="274638"/>
            <a:ext cx="8229600" cy="1143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n-US" smtClean="0"/>
              <a:t>Click to edit Master title style</a:t>
            </a:r>
          </a:p>
        </p:txBody>
      </p:sp>
      <p:sp>
        <p:nvSpPr>
          <p:cNvPr id="9219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457200" y="1600200"/>
            <a:ext cx="8229600" cy="452596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2F5EA699-B790-4630-B1C5-9840307833F6}" type="datetimeFigureOut">
              <a:rPr lang="en-US"/>
              <a:pPr>
                <a:defRPr/>
              </a:pPr>
              <a:t>8/8/2026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409E2BD1-610D-47CE-BC14-E90E7753FA52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709" r:id="rId1"/>
    <p:sldLayoutId id="2147483710" r:id="rId2"/>
    <p:sldLayoutId id="2147483711" r:id="rId3"/>
    <p:sldLayoutId id="2147483712" r:id="rId4"/>
    <p:sldLayoutId id="2147483713" r:id="rId5"/>
    <p:sldLayoutId id="2147483714" r:id="rId6"/>
    <p:sldLayoutId id="2147483715" r:id="rId7"/>
    <p:sldLayoutId id="2147483716" r:id="rId8"/>
    <p:sldLayoutId id="2147483717" r:id="rId9"/>
    <p:sldLayoutId id="2147483718" r:id="rId10"/>
    <p:sldLayoutId id="2147483719" r:id="rId11"/>
  </p:sldLayoutIdLst>
  <p:txStyles>
    <p:titleStyle>
      <a:lvl1pPr algn="ctr" rtl="0" eaLnBrk="0" fontAlgn="base" hangingPunct="0">
        <a:spcBef>
          <a:spcPct val="0"/>
        </a:spcBef>
        <a:spcAft>
          <a:spcPct val="0"/>
        </a:spcAft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  <a:lvl2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2pPr>
      <a:lvl3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3pPr>
      <a:lvl4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4pPr>
      <a:lvl5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5pPr>
      <a:lvl6pPr marL="457200" algn="ctr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6pPr>
      <a:lvl7pPr marL="914400" algn="ctr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7pPr>
      <a:lvl8pPr marL="1371600" algn="ctr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8pPr>
      <a:lvl9pPr marL="1828800" algn="ctr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9pPr>
    </p:titleStyle>
    <p:bodyStyle>
      <a:lvl1pPr marL="342900" indent="-342900" algn="l" rtl="0" eaLnBrk="0" fontAlgn="base" hangingPunct="0">
        <a:spcBef>
          <a:spcPct val="20000"/>
        </a:spcBef>
        <a:spcAft>
          <a:spcPct val="0"/>
        </a:spcAft>
        <a:buFont typeface="Arial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rtl="0" eaLnBrk="0" fontAlgn="base" hangingPunct="0">
        <a:spcBef>
          <a:spcPct val="20000"/>
        </a:spcBef>
        <a:spcAft>
          <a:spcPct val="0"/>
        </a:spcAft>
        <a:buFont typeface="Arial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rtl="0" eaLnBrk="0" fontAlgn="base" hangingPunct="0">
        <a:spcBef>
          <a:spcPct val="20000"/>
        </a:spcBef>
        <a:spcAft>
          <a:spcPct val="0"/>
        </a:spcAft>
        <a:buFont typeface="Arial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rtl="0" eaLnBrk="0" fontAlgn="base" hangingPunct="0">
        <a:spcBef>
          <a:spcPct val="20000"/>
        </a:spcBef>
        <a:spcAft>
          <a:spcPct val="0"/>
        </a:spcAft>
        <a:buFont typeface="Arial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Font typeface="Arial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hyperlink" Target="mailto:nhbien@fit.hcmus.edu.vn" TargetMode="Externa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e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jpe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barracuda.com/products/loadbalancer" TargetMode="External"/><Relationship Id="rId2" Type="http://schemas.openxmlformats.org/officeDocument/2006/relationships/hyperlink" Target="https://www.cisco.com/c/en/us/products/switches/index.html" TargetMode="Externa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5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haproxy.org/" TargetMode="External"/><Relationship Id="rId2" Type="http://schemas.openxmlformats.org/officeDocument/2006/relationships/hyperlink" Target="https://docs.nginx.com/nginx/admin-guide/load-balancer/http-load-balancer/" TargetMode="Externa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6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hyperlink" Target="http://192.168.1.18/" TargetMode="Externa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hyperlink" Target="http://192.168.1.18:3001/" TargetMode="External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hyperlink" Target="http://192.168.1.18:3002/" TargetMode="External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hyperlink" Target="http://192.168.1.18/" TargetMode="External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hyperlink" Target="http://192.168.1.18/" TargetMode="Externa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2.png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hyperlink" Target="http://192.168.1.18:8000/admin?stats" TargetMode="External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hyperlink" Target="http://192.168.1.18/" TargetMode="External"/><Relationship Id="rId2" Type="http://schemas.openxmlformats.org/officeDocument/2006/relationships/hyperlink" Target="http://192.168.1.18:8000/" TargetMode="Externa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6.png"/><Relationship Id="rId4" Type="http://schemas.openxmlformats.org/officeDocument/2006/relationships/image" Target="../media/image25.png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hyperlink" Target="http://192.168.1.18:8000/admin?stats" TargetMode="External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hyperlink" Target="http://www.serverlab.ca/tutorials/windows/web-servers/load-balancing-web-servers-with-windows-server-2012-r2/" TargetMode="External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hyperlink" Target="https://www.youtube.com/watch?v=kpvbOzHUakA" TargetMode="External"/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hyperlink" Target="https://www.youtube.com/watch?v=6NdxUY1La2I" TargetMode="External"/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hyperlink" Target="https://traefik.io/traefik" TargetMode="External"/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0" name="Title 1"/>
          <p:cNvSpPr>
            <a:spLocks noGrp="1"/>
          </p:cNvSpPr>
          <p:nvPr>
            <p:ph type="ctrTitle"/>
          </p:nvPr>
        </p:nvSpPr>
        <p:spPr>
          <a:xfrm>
            <a:off x="304800" y="2130425"/>
            <a:ext cx="8534400" cy="1470025"/>
          </a:xfrm>
        </p:spPr>
        <p:txBody>
          <a:bodyPr/>
          <a:lstStyle/>
          <a:p>
            <a:pPr eaLnBrk="1" hangingPunct="1"/>
            <a:r>
              <a:rPr lang="en-US" sz="6000" dirty="0" smtClean="0"/>
              <a:t>Load Balancing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 rtlCol="0">
            <a:normAutofit fontScale="40000" lnSpcReduction="20000"/>
          </a:bodyPr>
          <a:lstStyle/>
          <a:p>
            <a:pPr eaLnBrk="1" fontAlgn="auto" hangingPunct="1">
              <a:spcAft>
                <a:spcPts val="0"/>
              </a:spcAft>
              <a:defRPr/>
            </a:pPr>
            <a:r>
              <a:rPr lang="en-US" sz="5400" dirty="0" smtClean="0"/>
              <a:t>Lecturer: Ngo Huy Bien</a:t>
            </a:r>
          </a:p>
          <a:p>
            <a:pPr eaLnBrk="1" fontAlgn="auto" hangingPunct="1">
              <a:spcAft>
                <a:spcPts val="0"/>
              </a:spcAft>
              <a:defRPr/>
            </a:pPr>
            <a:r>
              <a:rPr lang="en-US" sz="4400" dirty="0" smtClean="0"/>
              <a:t>Software Engineering Department</a:t>
            </a:r>
          </a:p>
          <a:p>
            <a:pPr eaLnBrk="1" fontAlgn="auto" hangingPunct="1">
              <a:spcAft>
                <a:spcPts val="0"/>
              </a:spcAft>
              <a:defRPr/>
            </a:pPr>
            <a:r>
              <a:rPr lang="en-US" sz="4400" dirty="0" smtClean="0"/>
              <a:t>Faculty of Information Technology</a:t>
            </a:r>
          </a:p>
          <a:p>
            <a:pPr eaLnBrk="1" fontAlgn="auto" hangingPunct="1">
              <a:spcAft>
                <a:spcPts val="0"/>
              </a:spcAft>
              <a:defRPr/>
            </a:pPr>
            <a:r>
              <a:rPr lang="en-US" sz="4400" dirty="0" smtClean="0"/>
              <a:t>VNUHCM - University of Science</a:t>
            </a:r>
          </a:p>
          <a:p>
            <a:pPr eaLnBrk="1" fontAlgn="auto" hangingPunct="1">
              <a:spcAft>
                <a:spcPts val="0"/>
              </a:spcAft>
              <a:defRPr/>
            </a:pPr>
            <a:r>
              <a:rPr lang="en-US" sz="4400" dirty="0" smtClean="0"/>
              <a:t>Ho Chi Minh City, Vietnam</a:t>
            </a:r>
          </a:p>
          <a:p>
            <a:pPr eaLnBrk="1" fontAlgn="auto" hangingPunct="1">
              <a:spcAft>
                <a:spcPts val="0"/>
              </a:spcAft>
              <a:defRPr/>
            </a:pPr>
            <a:r>
              <a:rPr lang="en-US" sz="4400" dirty="0" smtClean="0">
                <a:hlinkClick r:id="rId2"/>
              </a:rPr>
              <a:t>nhbien@fit.hcmus.edu.vn</a:t>
            </a:r>
            <a:endParaRPr lang="en-US" sz="4400" dirty="0" smtClean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Objectives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828800"/>
            <a:ext cx="5334000" cy="3886200"/>
          </a:xfrm>
        </p:spPr>
        <p:txBody>
          <a:bodyPr/>
          <a:lstStyle/>
          <a:p>
            <a:pPr marL="571500" indent="-571500">
              <a:buFont typeface="Wingdings" pitchFamily="2" charset="2"/>
              <a:buChar char="Ø"/>
            </a:pPr>
            <a:r>
              <a:rPr lang="en-US" sz="2400" dirty="0" smtClean="0"/>
              <a:t>To implement </a:t>
            </a:r>
            <a:r>
              <a:rPr lang="en-US" sz="2400" i="1" dirty="0" smtClean="0">
                <a:solidFill>
                  <a:srgbClr val="C00000"/>
                </a:solidFill>
              </a:rPr>
              <a:t>load balancing</a:t>
            </a:r>
            <a:r>
              <a:rPr lang="en-US" sz="2400" dirty="0" smtClean="0"/>
              <a:t> for a distributed system.</a:t>
            </a:r>
          </a:p>
        </p:txBody>
      </p:sp>
      <p:pic>
        <p:nvPicPr>
          <p:cNvPr id="4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6019800" y="1828800"/>
            <a:ext cx="2762250" cy="21145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8" name="Picture 4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6477000" y="2438400"/>
            <a:ext cx="2390775" cy="23907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Contents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600200"/>
            <a:ext cx="6096000" cy="4525963"/>
          </a:xfrm>
        </p:spPr>
        <p:txBody>
          <a:bodyPr/>
          <a:lstStyle/>
          <a:p>
            <a:pPr marL="571500" indent="-571500">
              <a:buFont typeface="+mj-lt"/>
              <a:buAutoNum type="romanUcPeriod"/>
            </a:pPr>
            <a:r>
              <a:rPr lang="en-US" sz="2400" dirty="0" smtClean="0"/>
              <a:t>Solving a Problem</a:t>
            </a:r>
          </a:p>
          <a:p>
            <a:pPr marL="571500" indent="-571500">
              <a:buFont typeface="+mj-lt"/>
              <a:buAutoNum type="romanUcPeriod"/>
            </a:pPr>
            <a:r>
              <a:rPr lang="en-US" sz="2400" dirty="0" smtClean="0"/>
              <a:t>Task: Load Balancing</a:t>
            </a:r>
          </a:p>
          <a:p>
            <a:pPr marL="571500" indent="-571500">
              <a:buFont typeface="+mj-lt"/>
              <a:buAutoNum type="romanUcPeriod"/>
            </a:pPr>
            <a:r>
              <a:rPr lang="en-US" sz="2400" dirty="0" smtClean="0"/>
              <a:t>Scalability Concepts</a:t>
            </a:r>
          </a:p>
          <a:p>
            <a:pPr marL="571500" indent="-571500">
              <a:buFont typeface="+mj-lt"/>
              <a:buAutoNum type="romanUcPeriod"/>
            </a:pPr>
            <a:r>
              <a:rPr lang="en-US" sz="2400" dirty="0" smtClean="0"/>
              <a:t>Routing Requests Methods</a:t>
            </a:r>
          </a:p>
          <a:p>
            <a:pPr marL="571500" indent="-571500">
              <a:buFont typeface="+mj-lt"/>
              <a:buAutoNum type="romanUcPeriod"/>
            </a:pPr>
            <a:r>
              <a:rPr lang="en-US" sz="2400" dirty="0" smtClean="0"/>
              <a:t>Routing Requests using </a:t>
            </a:r>
            <a:r>
              <a:rPr lang="en-US" sz="2400" dirty="0" err="1" smtClean="0"/>
              <a:t>Nginx</a:t>
            </a:r>
            <a:endParaRPr lang="en-US" sz="2400" dirty="0" smtClean="0"/>
          </a:p>
          <a:p>
            <a:pPr marL="571500" indent="-571500">
              <a:buFont typeface="+mj-lt"/>
              <a:buAutoNum type="romanUcPeriod"/>
            </a:pPr>
            <a:r>
              <a:rPr lang="en-US" sz="2400" dirty="0" smtClean="0"/>
              <a:t>Routing Requests using </a:t>
            </a:r>
            <a:r>
              <a:rPr lang="en-US" sz="2400" dirty="0" err="1" smtClean="0"/>
              <a:t>haproxy</a:t>
            </a:r>
            <a:endParaRPr lang="en-US" sz="2400" dirty="0" smtClean="0"/>
          </a:p>
          <a:p>
            <a:pPr marL="571500" indent="-571500">
              <a:buFont typeface="+mj-lt"/>
              <a:buAutoNum type="romanUcPeriod"/>
            </a:pPr>
            <a:r>
              <a:rPr lang="en-US" sz="2400" dirty="0" smtClean="0"/>
              <a:t>Application State Management</a:t>
            </a:r>
          </a:p>
          <a:p>
            <a:pPr marL="571500" indent="-571500">
              <a:buFont typeface="+mj-lt"/>
              <a:buAutoNum type="romanUcPeriod"/>
            </a:pPr>
            <a:r>
              <a:rPr lang="en-US" sz="2400" dirty="0" smtClean="0"/>
              <a:t>Application Data Files Management</a:t>
            </a:r>
          </a:p>
          <a:p>
            <a:pPr marL="571500" indent="-571500">
              <a:buFont typeface="+mj-lt"/>
              <a:buAutoNum type="romanUcPeriod"/>
            </a:pPr>
            <a:r>
              <a:rPr lang="en-US" sz="2400" dirty="0" smtClean="0"/>
              <a:t>Application Databases Management</a:t>
            </a:r>
          </a:p>
          <a:p>
            <a:pPr marL="571500" indent="-571500">
              <a:buFont typeface="+mj-lt"/>
              <a:buAutoNum type="romanUcPeriod"/>
            </a:pPr>
            <a:endParaRPr lang="en-US" sz="2400" dirty="0" smtClean="0"/>
          </a:p>
          <a:p>
            <a:pPr marL="571500" indent="-571500">
              <a:buFont typeface="+mj-lt"/>
              <a:buAutoNum type="romanUcPeriod"/>
            </a:pPr>
            <a:endParaRPr lang="en-US" sz="2400" dirty="0" smtClean="0"/>
          </a:p>
          <a:p>
            <a:pPr marL="571500" indent="-571500">
              <a:buFont typeface="+mj-lt"/>
              <a:buAutoNum type="romanUcPeriod"/>
            </a:pPr>
            <a:endParaRPr lang="en-US" sz="2400" dirty="0" smtClean="0"/>
          </a:p>
          <a:p>
            <a:pPr marL="571500" indent="-571500">
              <a:buFont typeface="+mj-lt"/>
              <a:buAutoNum type="romanUcPeriod"/>
            </a:pPr>
            <a:endParaRPr lang="en-US" sz="2400" dirty="0" smtClean="0"/>
          </a:p>
          <a:p>
            <a:pPr marL="571500" indent="-571500">
              <a:buFont typeface="+mj-lt"/>
              <a:buAutoNum type="romanUcPeriod"/>
            </a:pPr>
            <a:endParaRPr lang="en-US" sz="2400" dirty="0" smtClean="0"/>
          </a:p>
          <a:p>
            <a:pPr marL="571500" indent="-571500">
              <a:buFont typeface="+mj-lt"/>
              <a:buAutoNum type="romanUcPeriod"/>
            </a:pPr>
            <a:endParaRPr lang="en-US" sz="2400" dirty="0" smtClean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References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600200"/>
            <a:ext cx="5867400" cy="4724400"/>
          </a:xfrm>
        </p:spPr>
        <p:txBody>
          <a:bodyPr/>
          <a:lstStyle/>
          <a:p>
            <a:pPr>
              <a:buFont typeface="+mj-lt"/>
              <a:buAutoNum type="arabicPeriod"/>
            </a:pPr>
            <a:r>
              <a:rPr lang="en-US" sz="2400" dirty="0" smtClean="0"/>
              <a:t>Valeria </a:t>
            </a:r>
            <a:r>
              <a:rPr lang="en-US" sz="2400" dirty="0" err="1" smtClean="0"/>
              <a:t>Cardellini</a:t>
            </a:r>
            <a:r>
              <a:rPr lang="en-US" sz="2400" dirty="0" smtClean="0"/>
              <a:t> et al. (1999). Dynamic Load Balancing on Web-Server Systems.</a:t>
            </a:r>
          </a:p>
          <a:p>
            <a:pPr>
              <a:buFont typeface="+mj-lt"/>
              <a:buAutoNum type="arabicPeriod"/>
            </a:pPr>
            <a:r>
              <a:rPr lang="en-US" sz="2400" dirty="0" smtClean="0"/>
              <a:t>Jeffrey Dean and </a:t>
            </a:r>
            <a:r>
              <a:rPr lang="en-US" sz="2400" dirty="0" err="1" smtClean="0"/>
              <a:t>Luiz</a:t>
            </a:r>
            <a:r>
              <a:rPr lang="en-US" sz="2400" dirty="0" smtClean="0"/>
              <a:t> Andre </a:t>
            </a:r>
            <a:r>
              <a:rPr lang="en-US" sz="2400" dirty="0" err="1" smtClean="0"/>
              <a:t>Barroso</a:t>
            </a:r>
            <a:r>
              <a:rPr lang="en-US" sz="2400" dirty="0" smtClean="0"/>
              <a:t> (2013). The Tail at Scale.</a:t>
            </a:r>
          </a:p>
        </p:txBody>
      </p:sp>
      <p:pic>
        <p:nvPicPr>
          <p:cNvPr id="4" name="Picture 4" descr="http://2.bp.blogspot.com/-FqRM_5NQE6Q/TaSdzyWfvtI/AAAAAAAAAFg/C_2LDJWJOx4/s1600/books-pile.jpg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6248400" y="1676400"/>
            <a:ext cx="2724150" cy="4133850"/>
          </a:xfrm>
          <a:prstGeom prst="rect">
            <a:avLst/>
          </a:prstGeom>
          <a:noFill/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Solving a Problem: The </a:t>
            </a:r>
            <a:r>
              <a:rPr lang="en-US" i="1" dirty="0" smtClean="0">
                <a:solidFill>
                  <a:srgbClr val="C00000"/>
                </a:solidFill>
              </a:rPr>
              <a:t>Hard</a:t>
            </a:r>
            <a:r>
              <a:rPr lang="en-US" dirty="0" smtClean="0"/>
              <a:t> Part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i="1" dirty="0" smtClean="0">
                <a:solidFill>
                  <a:srgbClr val="C00000"/>
                </a:solidFill>
              </a:rPr>
              <a:t>Input</a:t>
            </a:r>
            <a:r>
              <a:rPr lang="en-US" sz="2400" dirty="0" smtClean="0"/>
              <a:t>:</a:t>
            </a:r>
          </a:p>
          <a:p>
            <a:pPr lvl="1"/>
            <a:r>
              <a:rPr lang="en-US" sz="2000" dirty="0" smtClean="0"/>
              <a:t>Story: As sponsors, we want the system to be able to run on 2 web servers so that we can serve as many customers as we want.</a:t>
            </a:r>
          </a:p>
          <a:p>
            <a:pPr lvl="1"/>
            <a:r>
              <a:rPr lang="en-US" sz="2000" dirty="0" smtClean="0"/>
              <a:t>Developer: Ngo Huy Bien.</a:t>
            </a:r>
          </a:p>
          <a:p>
            <a:r>
              <a:rPr lang="en-US" sz="2400" dirty="0" smtClean="0"/>
              <a:t>Bonus: </a:t>
            </a:r>
          </a:p>
          <a:p>
            <a:pPr lvl="1"/>
            <a:r>
              <a:rPr lang="en-US" sz="2000" dirty="0" smtClean="0"/>
              <a:t>UI + Architecture.</a:t>
            </a:r>
          </a:p>
          <a:p>
            <a:pPr lvl="1"/>
            <a:r>
              <a:rPr lang="en-US" sz="2000" dirty="0" smtClean="0"/>
              <a:t>Scenarios, Domain Models + ERD.</a:t>
            </a:r>
          </a:p>
          <a:p>
            <a:pPr lvl="1"/>
            <a:r>
              <a:rPr lang="en-US" sz="2000" dirty="0" smtClean="0"/>
              <a:t>Prototype + Proof of Concept</a:t>
            </a:r>
          </a:p>
          <a:p>
            <a:r>
              <a:rPr lang="en-US" sz="2400" i="1" dirty="0" smtClean="0">
                <a:solidFill>
                  <a:srgbClr val="C00000"/>
                </a:solidFill>
              </a:rPr>
              <a:t>Output</a:t>
            </a:r>
            <a:r>
              <a:rPr lang="en-US" sz="2400" dirty="0" smtClean="0"/>
              <a:t>:</a:t>
            </a:r>
          </a:p>
          <a:p>
            <a:pPr lvl="1"/>
            <a:r>
              <a:rPr lang="en-US" sz="2000" dirty="0" smtClean="0"/>
              <a:t>Source code </a:t>
            </a:r>
            <a:r>
              <a:rPr lang="en-US" sz="2000" dirty="0" smtClean="0">
                <a:sym typeface="Wingdings" pitchFamily="2" charset="2"/>
              </a:rPr>
              <a:t></a:t>
            </a:r>
            <a:r>
              <a:rPr lang="en-US" sz="2000" dirty="0" smtClean="0"/>
              <a:t> Problem solved.</a:t>
            </a:r>
          </a:p>
          <a:p>
            <a:r>
              <a:rPr lang="en-US" sz="2400" b="1" i="1" dirty="0" smtClean="0">
                <a:solidFill>
                  <a:srgbClr val="C00000"/>
                </a:solidFill>
              </a:rPr>
              <a:t>Issue: Which tools? I haven't used these tools.</a:t>
            </a:r>
          </a:p>
        </p:txBody>
      </p:sp>
      <p:pic>
        <p:nvPicPr>
          <p:cNvPr id="3074" name="Picture 2" descr="https://images.squarespace-cdn.com/content/v1/583ed05c59cc68a8c3e45c0f/1574085452103-JAY3739FDGTE0ZR90QPX/ke17ZwdGBToddI8pDm48kOggE0Ch6pMGalwtLMqzsSB7gQa3H78H3Y0txjaiv_0fDoOvxcdMmMKkDsyUqMSsMWxHk725yiiHCCLfrh8O1z5QPOohDIaIeljMHgDF5CVlOqpeNLcJ80NK65_fV7S1Ufo5RWkg_J4of0jUNHaDHx6pZKBvpVYzidBWCapg0tuoMuEaB2HPGSYDV-11UTcW2g/question-mark-2405197_1920.jpg?format=1000w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5334000" y="3200400"/>
            <a:ext cx="3048000" cy="2033016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smtClean="0"/>
              <a:t>Make money</a:t>
            </a:r>
          </a:p>
          <a:p>
            <a:pPr lvl="1"/>
            <a:r>
              <a:rPr lang="en-US" dirty="0" smtClean="0"/>
              <a:t>Get a job (job requirement)</a:t>
            </a:r>
          </a:p>
          <a:p>
            <a:pPr lvl="1"/>
            <a:r>
              <a:rPr lang="en-US" dirty="0" smtClean="0"/>
              <a:t>Startup (solving a problem)</a:t>
            </a:r>
          </a:p>
          <a:p>
            <a:pPr lvl="2"/>
            <a:r>
              <a:rPr lang="en-US" dirty="0" smtClean="0"/>
              <a:t>Tool selection</a:t>
            </a:r>
          </a:p>
          <a:p>
            <a:pPr lvl="3"/>
            <a:r>
              <a:rPr lang="en-US" i="1" dirty="0" smtClean="0">
                <a:solidFill>
                  <a:srgbClr val="C00000"/>
                </a:solidFill>
              </a:rPr>
              <a:t>Faster</a:t>
            </a:r>
            <a:r>
              <a:rPr lang="en-US" dirty="0" smtClean="0"/>
              <a:t> development (Get a task done).</a:t>
            </a:r>
          </a:p>
          <a:p>
            <a:pPr lvl="3"/>
            <a:r>
              <a:rPr lang="en-US" dirty="0" smtClean="0"/>
              <a:t>Easier </a:t>
            </a:r>
            <a:r>
              <a:rPr lang="en-US" i="1" dirty="0" smtClean="0">
                <a:solidFill>
                  <a:srgbClr val="C00000"/>
                </a:solidFill>
              </a:rPr>
              <a:t>modifiability</a:t>
            </a:r>
            <a:r>
              <a:rPr lang="en-US" dirty="0" smtClean="0"/>
              <a:t> and </a:t>
            </a:r>
            <a:r>
              <a:rPr lang="en-US" i="1" dirty="0" smtClean="0">
                <a:solidFill>
                  <a:srgbClr val="C00000"/>
                </a:solidFill>
              </a:rPr>
              <a:t>extensibility.</a:t>
            </a:r>
          </a:p>
          <a:p>
            <a:pPr lvl="3"/>
            <a:r>
              <a:rPr lang="en-US" dirty="0" smtClean="0"/>
              <a:t>Better security and </a:t>
            </a:r>
            <a:r>
              <a:rPr lang="en-US" i="1" dirty="0" smtClean="0">
                <a:solidFill>
                  <a:srgbClr val="C00000"/>
                </a:solidFill>
              </a:rPr>
              <a:t>scalability</a:t>
            </a:r>
            <a:r>
              <a:rPr lang="en-US" dirty="0" smtClean="0"/>
              <a:t>.</a:t>
            </a:r>
          </a:p>
          <a:p>
            <a:r>
              <a:rPr lang="en-US" dirty="0" smtClean="0"/>
              <a:t>Hobby</a:t>
            </a:r>
          </a:p>
          <a:p>
            <a:pPr lvl="1"/>
            <a:r>
              <a:rPr lang="en-US" i="1" dirty="0" smtClean="0">
                <a:solidFill>
                  <a:srgbClr val="C00000"/>
                </a:solidFill>
              </a:rPr>
              <a:t>Problem</a:t>
            </a:r>
            <a:r>
              <a:rPr lang="en-US" dirty="0" smtClean="0"/>
              <a:t>/need.</a:t>
            </a:r>
          </a:p>
          <a:p>
            <a:pPr lvl="1"/>
            <a:r>
              <a:rPr lang="en-US" dirty="0" smtClean="0"/>
              <a:t>Open yourself up to </a:t>
            </a:r>
            <a:r>
              <a:rPr lang="en-US" i="1" dirty="0" smtClean="0">
                <a:solidFill>
                  <a:srgbClr val="C00000"/>
                </a:solidFill>
              </a:rPr>
              <a:t>new ideas</a:t>
            </a:r>
            <a:r>
              <a:rPr lang="en-US" dirty="0" smtClean="0"/>
              <a:t> and </a:t>
            </a:r>
            <a:r>
              <a:rPr lang="en-US" i="1" dirty="0" smtClean="0">
                <a:solidFill>
                  <a:srgbClr val="C00000"/>
                </a:solidFill>
              </a:rPr>
              <a:t>approaches</a:t>
            </a:r>
            <a:r>
              <a:rPr lang="en-US" dirty="0" smtClean="0"/>
              <a:t>.</a:t>
            </a:r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Why Learn a New Tool?</a:t>
            </a:r>
            <a:endParaRPr lang="en-US" dirty="0"/>
          </a:p>
        </p:txBody>
      </p:sp>
      <p:cxnSp>
        <p:nvCxnSpPr>
          <p:cNvPr id="7" name="Curved Connector 6"/>
          <p:cNvCxnSpPr/>
          <p:nvPr/>
        </p:nvCxnSpPr>
        <p:spPr>
          <a:xfrm rot="16200000" flipV="1">
            <a:off x="990600" y="4267200"/>
            <a:ext cx="1752600" cy="381000"/>
          </a:xfrm>
          <a:prstGeom prst="curvedConnector3">
            <a:avLst>
              <a:gd name="adj1" fmla="val 50000"/>
            </a:avLst>
          </a:prstGeom>
          <a:ln>
            <a:tailEnd type="arrow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6" name="Curved Connector 5"/>
          <p:cNvCxnSpPr/>
          <p:nvPr/>
        </p:nvCxnSpPr>
        <p:spPr>
          <a:xfrm rot="10800000">
            <a:off x="3581400" y="5638800"/>
            <a:ext cx="1447800" cy="228600"/>
          </a:xfrm>
          <a:prstGeom prst="curvedConnector3">
            <a:avLst>
              <a:gd name="adj1" fmla="val 50000"/>
            </a:avLst>
          </a:prstGeom>
          <a:ln>
            <a:tailEnd type="arrow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8" name="Right Arrow 7"/>
          <p:cNvSpPr/>
          <p:nvPr/>
        </p:nvSpPr>
        <p:spPr>
          <a:xfrm>
            <a:off x="228600" y="1524000"/>
            <a:ext cx="609600" cy="838200"/>
          </a:xfrm>
          <a:prstGeom prst="rightArrow">
            <a:avLst/>
          </a:prstGeom>
        </p:spPr>
        <p:style>
          <a:lnRef idx="3">
            <a:schemeClr val="lt1"/>
          </a:lnRef>
          <a:fillRef idx="1">
            <a:schemeClr val="accent2"/>
          </a:fillRef>
          <a:effectRef idx="1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smtClean="0"/>
              <a:t>1</a:t>
            </a:r>
            <a:endParaRPr lang="en-US" dirty="0"/>
          </a:p>
        </p:txBody>
      </p:sp>
      <p:sp>
        <p:nvSpPr>
          <p:cNvPr id="9" name="Right Arrow 8"/>
          <p:cNvSpPr/>
          <p:nvPr/>
        </p:nvSpPr>
        <p:spPr>
          <a:xfrm>
            <a:off x="228600" y="4648200"/>
            <a:ext cx="609600" cy="838200"/>
          </a:xfrm>
          <a:prstGeom prst="rightArrow">
            <a:avLst/>
          </a:prstGeom>
        </p:spPr>
        <p:style>
          <a:lnRef idx="3">
            <a:schemeClr val="lt1"/>
          </a:lnRef>
          <a:fillRef idx="1">
            <a:schemeClr val="accent2"/>
          </a:fillRef>
          <a:effectRef idx="1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smtClean="0"/>
              <a:t>2</a:t>
            </a:r>
            <a:endParaRPr lang="en-US" dirty="0"/>
          </a:p>
        </p:txBody>
      </p:sp>
      <p:pic>
        <p:nvPicPr>
          <p:cNvPr id="4097" name="Picture 1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5943600" y="2057400"/>
            <a:ext cx="1209675" cy="12446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4099" name="Picture 3" descr="https://symbols.getvecta.com/stencil_83/11_haproxy-icon.4cfc81197b.png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7391400" y="2209800"/>
            <a:ext cx="952500" cy="9525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Identify a Concrete Problem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600" dirty="0" smtClean="0"/>
              <a:t>Configure </a:t>
            </a:r>
            <a:r>
              <a:rPr lang="en-US" sz="2600" u="sng" dirty="0" smtClean="0"/>
              <a:t>load balancing</a:t>
            </a:r>
            <a:r>
              <a:rPr lang="en-US" sz="2600" dirty="0" smtClean="0"/>
              <a:t> for </a:t>
            </a:r>
            <a:r>
              <a:rPr lang="en-US" sz="2600" dirty="0" err="1" smtClean="0"/>
              <a:t>api</a:t>
            </a:r>
            <a:r>
              <a:rPr lang="en-US" sz="2600" dirty="0" smtClean="0"/>
              <a:t> using </a:t>
            </a:r>
            <a:r>
              <a:rPr lang="en-US" sz="2600" i="1" dirty="0" err="1" smtClean="0">
                <a:solidFill>
                  <a:srgbClr val="C00000"/>
                </a:solidFill>
              </a:rPr>
              <a:t>nginx</a:t>
            </a:r>
            <a:r>
              <a:rPr lang="en-US" sz="2600" dirty="0" smtClean="0"/>
              <a:t>.</a:t>
            </a:r>
          </a:p>
          <a:p>
            <a:r>
              <a:rPr lang="en-US" sz="2600" dirty="0" smtClean="0"/>
              <a:t>Configure </a:t>
            </a:r>
            <a:r>
              <a:rPr lang="en-US" sz="2600" u="sng" dirty="0" smtClean="0"/>
              <a:t>load balancing</a:t>
            </a:r>
            <a:r>
              <a:rPr lang="en-US" sz="2600" dirty="0" smtClean="0"/>
              <a:t> for </a:t>
            </a:r>
            <a:r>
              <a:rPr lang="en-US" sz="2600" dirty="0" err="1" smtClean="0"/>
              <a:t>api</a:t>
            </a:r>
            <a:r>
              <a:rPr lang="en-US" sz="2600" dirty="0" smtClean="0"/>
              <a:t> using </a:t>
            </a:r>
            <a:r>
              <a:rPr lang="en-US" sz="2600" i="1" dirty="0" err="1" smtClean="0">
                <a:solidFill>
                  <a:srgbClr val="C00000"/>
                </a:solidFill>
              </a:rPr>
              <a:t>haproxy</a:t>
            </a:r>
            <a:r>
              <a:rPr lang="en-US" sz="2600" dirty="0" smtClean="0"/>
              <a:t>.</a:t>
            </a:r>
          </a:p>
        </p:txBody>
      </p:sp>
      <p:pic>
        <p:nvPicPr>
          <p:cNvPr id="4" name="Picture 2" descr="https://img.haikudeck.com/mg/C42A8FE8-C585-4360-984E-C8FC75522987.jpg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1905000" y="3200400"/>
            <a:ext cx="3251200" cy="2438400"/>
          </a:xfrm>
          <a:prstGeom prst="rect">
            <a:avLst/>
          </a:prstGeom>
          <a:noFill/>
        </p:spPr>
      </p:pic>
      <p:pic>
        <p:nvPicPr>
          <p:cNvPr id="5" name="Picture 3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5486400" y="3505200"/>
            <a:ext cx="2181225" cy="12573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Typical Procedure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600" dirty="0" smtClean="0"/>
              <a:t>Clarify domain-specific terminologies (Load balancing? </a:t>
            </a:r>
            <a:r>
              <a:rPr lang="en-US" sz="2600" dirty="0" err="1" smtClean="0"/>
              <a:t>nginx</a:t>
            </a:r>
            <a:r>
              <a:rPr lang="en-US" sz="2600" dirty="0" smtClean="0"/>
              <a:t>?, </a:t>
            </a:r>
            <a:r>
              <a:rPr lang="en-US" sz="2600" dirty="0" err="1" smtClean="0"/>
              <a:t>haproxy</a:t>
            </a:r>
            <a:r>
              <a:rPr lang="en-US" sz="2600" dirty="0" smtClean="0"/>
              <a:t>)</a:t>
            </a:r>
          </a:p>
          <a:p>
            <a:r>
              <a:rPr lang="en-US" sz="2600" dirty="0" smtClean="0"/>
              <a:t>Find a tutorial (or a mentor).</a:t>
            </a:r>
          </a:p>
          <a:p>
            <a:r>
              <a:rPr lang="en-US" sz="2600" dirty="0" smtClean="0"/>
              <a:t>Install, configure and use the tool.</a:t>
            </a:r>
          </a:p>
          <a:p>
            <a:r>
              <a:rPr lang="en-US" sz="2600" dirty="0" smtClean="0"/>
              <a:t>Test results.</a:t>
            </a:r>
            <a:endParaRPr lang="en-US" sz="2600" dirty="0"/>
          </a:p>
        </p:txBody>
      </p:sp>
      <p:pic>
        <p:nvPicPr>
          <p:cNvPr id="1026" name="Picture 2" descr="https://static.thenounproject.com/png/204132-200.png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3429000" y="3962400"/>
            <a:ext cx="1905000" cy="19050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2" descr="https://lh3.ggpht.com/1IfZLL2QDSjZ0wS7sUhaMlsAOS8BBzdR3wZ1WawgRn7KZAM8nEVZYMOUM-lqQb0ikIzp=w300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3276600" y="1905000"/>
            <a:ext cx="2857500" cy="28575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Why Load Balancing?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smtClean="0"/>
              <a:t>Abstraction (Simplicity for clients)</a:t>
            </a:r>
          </a:p>
          <a:p>
            <a:r>
              <a:rPr lang="en-US" dirty="0" smtClean="0"/>
              <a:t>Performance</a:t>
            </a:r>
          </a:p>
          <a:p>
            <a:r>
              <a:rPr lang="en-US" dirty="0" smtClean="0"/>
              <a:t>Fault tolerance (Single point of failure)</a:t>
            </a:r>
          </a:p>
          <a:p>
            <a:endParaRPr lang="en-US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Distributed Web-Server System [1]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dirty="0" smtClean="0"/>
              <a:t>A </a:t>
            </a:r>
            <a:r>
              <a:rPr lang="en-US" sz="2400" i="1" dirty="0" smtClean="0">
                <a:solidFill>
                  <a:srgbClr val="C00000"/>
                </a:solidFill>
              </a:rPr>
              <a:t>distributed Web-server system</a:t>
            </a:r>
            <a:r>
              <a:rPr lang="en-US" sz="2400" dirty="0" smtClean="0"/>
              <a:t> is any architecture consisting of </a:t>
            </a:r>
            <a:r>
              <a:rPr lang="en-US" sz="2400" u="sng" dirty="0" smtClean="0"/>
              <a:t>multiple Web-server hosts</a:t>
            </a:r>
            <a:r>
              <a:rPr lang="en-US" sz="2400" dirty="0" smtClean="0"/>
              <a:t>, distributed on LANs and WANs, with a mechanism to </a:t>
            </a:r>
            <a:r>
              <a:rPr lang="en-US" sz="2400" u="sng" dirty="0" smtClean="0"/>
              <a:t>spread incoming client requests</a:t>
            </a:r>
            <a:r>
              <a:rPr lang="en-US" sz="2400" dirty="0" smtClean="0"/>
              <a:t> among the servers.</a:t>
            </a:r>
          </a:p>
          <a:p>
            <a:r>
              <a:rPr lang="en-US" sz="2400" dirty="0" smtClean="0"/>
              <a:t>Each </a:t>
            </a:r>
            <a:r>
              <a:rPr lang="en-US" sz="2400" i="1" dirty="0" smtClean="0">
                <a:solidFill>
                  <a:srgbClr val="C00000"/>
                </a:solidFill>
              </a:rPr>
              <a:t>server</a:t>
            </a:r>
            <a:r>
              <a:rPr lang="en-US" sz="2400" dirty="0" smtClean="0"/>
              <a:t> in the system can respond to </a:t>
            </a:r>
            <a:r>
              <a:rPr lang="en-US" sz="2400" u="sng" dirty="0" smtClean="0"/>
              <a:t>any</a:t>
            </a:r>
            <a:r>
              <a:rPr lang="en-US" sz="2400" dirty="0" smtClean="0"/>
              <a:t> client request.</a:t>
            </a:r>
          </a:p>
          <a:p>
            <a:r>
              <a:rPr lang="en-US" sz="2400" dirty="0" smtClean="0">
                <a:solidFill>
                  <a:srgbClr val="C00000"/>
                </a:solidFill>
              </a:rPr>
              <a:t>Information</a:t>
            </a:r>
            <a:r>
              <a:rPr lang="en-US" sz="2400" dirty="0" smtClean="0"/>
              <a:t> can be distributed among server nodes in two ways:</a:t>
            </a:r>
          </a:p>
          <a:p>
            <a:pPr lvl="1"/>
            <a:r>
              <a:rPr lang="en-US" sz="2000" u="sng" dirty="0" smtClean="0"/>
              <a:t>content tree replication</a:t>
            </a:r>
            <a:r>
              <a:rPr lang="en-US" sz="2000" dirty="0" smtClean="0"/>
              <a:t> on a server’s local disk, or </a:t>
            </a:r>
          </a:p>
          <a:p>
            <a:pPr lvl="1"/>
            <a:r>
              <a:rPr lang="en-US" sz="2000" dirty="0" smtClean="0"/>
              <a:t>information sharing by means of a </a:t>
            </a:r>
            <a:r>
              <a:rPr lang="en-US" sz="2000" u="sng" dirty="0" smtClean="0"/>
              <a:t>distributed file system</a:t>
            </a:r>
            <a:r>
              <a:rPr lang="en-US" sz="2000" dirty="0" smtClean="0"/>
              <a:t>.</a:t>
            </a:r>
            <a:endParaRPr lang="en-US" sz="2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How to Route Requests?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r>
              <a:rPr lang="en-US" sz="2400" b="1" dirty="0" smtClean="0"/>
              <a:t>Method 1</a:t>
            </a:r>
            <a:r>
              <a:rPr lang="en-US" sz="2400" dirty="0" smtClean="0"/>
              <a:t>: Let users </a:t>
            </a:r>
            <a:r>
              <a:rPr lang="en-US" sz="2400" i="1" dirty="0" smtClean="0">
                <a:solidFill>
                  <a:srgbClr val="C00000"/>
                </a:solidFill>
              </a:rPr>
              <a:t>manually</a:t>
            </a:r>
            <a:r>
              <a:rPr lang="en-US" sz="2400" dirty="0" smtClean="0"/>
              <a:t> select alternative URLs for a Web site.</a:t>
            </a:r>
          </a:p>
          <a:p>
            <a:r>
              <a:rPr lang="en-US" sz="2400" b="1" dirty="0" smtClean="0"/>
              <a:t>Method 2</a:t>
            </a:r>
            <a:r>
              <a:rPr lang="en-US" sz="2400" dirty="0" smtClean="0"/>
              <a:t>: Use </a:t>
            </a:r>
            <a:r>
              <a:rPr lang="en-US" sz="2400" i="1" dirty="0" smtClean="0">
                <a:solidFill>
                  <a:srgbClr val="C00000"/>
                </a:solidFill>
              </a:rPr>
              <a:t>web clients</a:t>
            </a:r>
            <a:r>
              <a:rPr lang="en-US" sz="2400" dirty="0" smtClean="0"/>
              <a:t>. Web clients, if they are aware of the Web-server system’s replicated servers, </a:t>
            </a:r>
            <a:r>
              <a:rPr lang="en-US" sz="2400" u="sng" dirty="0" smtClean="0"/>
              <a:t>can actively route requests</a:t>
            </a:r>
            <a:r>
              <a:rPr lang="en-US" sz="2400" dirty="0" smtClean="0"/>
              <a:t>.</a:t>
            </a:r>
          </a:p>
          <a:p>
            <a:r>
              <a:rPr lang="en-US" sz="2400" b="1" dirty="0" smtClean="0"/>
              <a:t>Method 3</a:t>
            </a:r>
            <a:r>
              <a:rPr lang="en-US" sz="2400" dirty="0" smtClean="0"/>
              <a:t>: Use smart clients. Smart client is downloaded from a Web server and can </a:t>
            </a:r>
            <a:r>
              <a:rPr lang="en-US" sz="2400" u="sng" dirty="0" smtClean="0"/>
              <a:t>automatically update itself</a:t>
            </a:r>
            <a:r>
              <a:rPr lang="en-US" sz="2400" dirty="0" smtClean="0"/>
              <a:t>.</a:t>
            </a:r>
          </a:p>
          <a:p>
            <a:r>
              <a:rPr lang="en-US" sz="2400" b="1" dirty="0" smtClean="0"/>
              <a:t>Method 4</a:t>
            </a:r>
            <a:r>
              <a:rPr lang="en-US" sz="2400" dirty="0" smtClean="0"/>
              <a:t>: Use DNS name servers.</a:t>
            </a:r>
          </a:p>
          <a:p>
            <a:r>
              <a:rPr lang="en-US" sz="2400" b="1" dirty="0" smtClean="0"/>
              <a:t>Method 5</a:t>
            </a:r>
            <a:r>
              <a:rPr lang="en-US" sz="2400" dirty="0" smtClean="0"/>
              <a:t>: Use a dispatcher (load balancer).</a:t>
            </a:r>
          </a:p>
          <a:p>
            <a:endParaRPr lang="en-US" sz="2400" dirty="0" smtClean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DNS-Based Approach</a:t>
            </a:r>
            <a:endParaRPr lang="en-US" dirty="0"/>
          </a:p>
        </p:txBody>
      </p:sp>
      <p:pic>
        <p:nvPicPr>
          <p:cNvPr id="80900" name="Picture 4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930275" y="1606550"/>
            <a:ext cx="7283450" cy="47942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Dispatcher-Based Approach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200" dirty="0" smtClean="0"/>
              <a:t>To centralize request scheduling and completely control client-request routing, a network </a:t>
            </a:r>
            <a:r>
              <a:rPr lang="en-US" sz="2200" i="1" dirty="0" smtClean="0">
                <a:solidFill>
                  <a:srgbClr val="C00000"/>
                </a:solidFill>
              </a:rPr>
              <a:t>component of the Web-server system</a:t>
            </a:r>
            <a:r>
              <a:rPr lang="en-US" sz="2200" dirty="0" smtClean="0"/>
              <a:t> acts as a </a:t>
            </a:r>
            <a:r>
              <a:rPr lang="en-US" sz="2200" u="sng" dirty="0" smtClean="0"/>
              <a:t>dispatcher</a:t>
            </a:r>
            <a:r>
              <a:rPr lang="en-US" sz="2200" dirty="0" smtClean="0"/>
              <a:t>.</a:t>
            </a:r>
          </a:p>
          <a:p>
            <a:r>
              <a:rPr lang="en-US" sz="2200" dirty="0" smtClean="0"/>
              <a:t>Request routing among servers is transparent— unlike DNS-based architectures, which deal with addresses at the URL level, </a:t>
            </a:r>
            <a:r>
              <a:rPr lang="en-US" sz="2200" i="1" dirty="0" smtClean="0">
                <a:solidFill>
                  <a:srgbClr val="C00000"/>
                </a:solidFill>
              </a:rPr>
              <a:t>the dispatcher has a single, virtual IP address</a:t>
            </a:r>
            <a:r>
              <a:rPr lang="en-US" sz="2200" dirty="0" smtClean="0"/>
              <a:t> (IP-SVA).</a:t>
            </a:r>
          </a:p>
          <a:p>
            <a:r>
              <a:rPr lang="en-US" sz="2200" dirty="0" smtClean="0"/>
              <a:t>The dispatcher uniquely identifies each server in the system through a private address that can be at different protocol levels, depending on the architecture.</a:t>
            </a:r>
          </a:p>
          <a:p>
            <a:r>
              <a:rPr lang="en-US" sz="2200" dirty="0" smtClean="0"/>
              <a:t>We differentiate dispatcher-based architectures by </a:t>
            </a:r>
            <a:r>
              <a:rPr lang="en-US" sz="2200" i="1" dirty="0" smtClean="0">
                <a:solidFill>
                  <a:srgbClr val="C00000"/>
                </a:solidFill>
              </a:rPr>
              <a:t>routing mechanism</a:t>
            </a:r>
            <a:r>
              <a:rPr lang="en-US" sz="2200" dirty="0" smtClean="0"/>
              <a:t>—packet rewriting (single-rewriting or double-rewriting), packet forwarding, or HTTP redirection.</a:t>
            </a:r>
            <a:endParaRPr lang="en-US" sz="22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Packet Single-Rewriting</a:t>
            </a:r>
            <a:endParaRPr lang="en-US" dirty="0"/>
          </a:p>
        </p:txBody>
      </p:sp>
      <p:pic>
        <p:nvPicPr>
          <p:cNvPr id="80898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1457325" y="1447800"/>
            <a:ext cx="6229350" cy="4953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Packet Double-Rewriting</a:t>
            </a:r>
            <a:endParaRPr lang="en-US" dirty="0"/>
          </a:p>
        </p:txBody>
      </p:sp>
      <p:pic>
        <p:nvPicPr>
          <p:cNvPr id="81922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1597025" y="1527175"/>
            <a:ext cx="5949950" cy="49498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 smtClean="0"/>
              <a:t>WAN Network Dispatcher Architecture</a:t>
            </a:r>
            <a:endParaRPr lang="en-US" dirty="0"/>
          </a:p>
        </p:txBody>
      </p:sp>
      <p:pic>
        <p:nvPicPr>
          <p:cNvPr id="82948" name="Picture 4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1128713" y="1584325"/>
            <a:ext cx="6886575" cy="46640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2" descr="https://lh3.ggpht.com/1IfZLL2QDSjZ0wS7sUhaMlsAOS8BBzdR3wZ1WawgRn7KZAM8nEVZYMOUM-lqQb0ikIzp=w300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3276600" y="1905000"/>
            <a:ext cx="2857500" cy="28575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Hardware Load Balancers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200" dirty="0" smtClean="0"/>
              <a:t>Specialized routers or switches.</a:t>
            </a:r>
          </a:p>
          <a:p>
            <a:r>
              <a:rPr lang="en-US" sz="2200" dirty="0" smtClean="0">
                <a:hlinkClick r:id="rId2"/>
              </a:rPr>
              <a:t>https://www.cisco.com/c/en/us/products/switches/index.html</a:t>
            </a:r>
            <a:endParaRPr lang="en-US" sz="2200" dirty="0" smtClean="0"/>
          </a:p>
          <a:p>
            <a:r>
              <a:rPr lang="en-US" sz="2200" dirty="0" smtClean="0">
                <a:hlinkClick r:id="rId3"/>
              </a:rPr>
              <a:t>https://www.barracuda.com/products/loadbalancer</a:t>
            </a:r>
            <a:endParaRPr lang="en-US" sz="2200" dirty="0" smtClean="0"/>
          </a:p>
          <a:p>
            <a:endParaRPr lang="en-US" sz="2200" dirty="0" smtClean="0"/>
          </a:p>
          <a:p>
            <a:endParaRPr lang="en-US" sz="2200" dirty="0"/>
          </a:p>
        </p:txBody>
      </p:sp>
      <p:pic>
        <p:nvPicPr>
          <p:cNvPr id="4" name="Picture 2" descr="http://www.serverlab.ca/wp-content/uploads/2014/04/51-figure-02c.png"/>
          <p:cNvPicPr>
            <a:picLocks noChangeAspect="1" noChangeArrowheads="1"/>
          </p:cNvPicPr>
          <p:nvPr/>
        </p:nvPicPr>
        <p:blipFill>
          <a:blip r:embed="rId4" cstate="print"/>
          <a:srcRect/>
          <a:stretch>
            <a:fillRect/>
          </a:stretch>
        </p:blipFill>
        <p:spPr bwMode="auto">
          <a:xfrm>
            <a:off x="1219200" y="3371849"/>
            <a:ext cx="6000750" cy="2419351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Software Load Balancers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200" dirty="0" smtClean="0">
                <a:hlinkClick r:id="rId2"/>
              </a:rPr>
              <a:t>https://docs.nginx.com/nginx/admin-guide/load-balancer/http-load-balancer/</a:t>
            </a:r>
            <a:r>
              <a:rPr lang="en-US" sz="2200" dirty="0" smtClean="0"/>
              <a:t> (HTTP load balancer with SSL termination support)</a:t>
            </a:r>
          </a:p>
          <a:p>
            <a:r>
              <a:rPr lang="en-US" sz="2200" dirty="0" smtClean="0">
                <a:hlinkClick r:id="rId3"/>
              </a:rPr>
              <a:t>https://www.haproxy.org/</a:t>
            </a:r>
            <a:r>
              <a:rPr lang="en-US" sz="2200" dirty="0" smtClean="0"/>
              <a:t> (TCP load balancer)</a:t>
            </a:r>
          </a:p>
        </p:txBody>
      </p:sp>
      <p:pic>
        <p:nvPicPr>
          <p:cNvPr id="1027" name="Picture 3"/>
          <p:cNvPicPr>
            <a:picLocks noChangeAspect="1" noChangeArrowheads="1"/>
          </p:cNvPicPr>
          <p:nvPr/>
        </p:nvPicPr>
        <p:blipFill>
          <a:blip r:embed="rId4" cstate="print"/>
          <a:srcRect/>
          <a:stretch>
            <a:fillRect/>
          </a:stretch>
        </p:blipFill>
        <p:spPr bwMode="auto">
          <a:xfrm>
            <a:off x="2895600" y="3200400"/>
            <a:ext cx="3316731" cy="292070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 smtClean="0"/>
              <a:t>1. Install </a:t>
            </a:r>
            <a:r>
              <a:rPr lang="en-US" dirty="0" err="1" smtClean="0"/>
              <a:t>Nginx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600" dirty="0" smtClean="0"/>
              <a:t>Refer to </a:t>
            </a:r>
            <a:r>
              <a:rPr lang="en-US" sz="2600" b="1" dirty="0" smtClean="0"/>
              <a:t>Computer Networks</a:t>
            </a:r>
            <a:r>
              <a:rPr lang="en-US" sz="2600" dirty="0" smtClean="0"/>
              <a:t> </a:t>
            </a:r>
            <a:r>
              <a:rPr lang="en-US" sz="2600" dirty="0" smtClean="0">
                <a:sym typeface="Wingdings" pitchFamily="2" charset="2"/>
              </a:rPr>
              <a:t> </a:t>
            </a:r>
            <a:r>
              <a:rPr lang="en-US" sz="2600" b="1" dirty="0" smtClean="0"/>
              <a:t>04.6. HTTP Services.pptx</a:t>
            </a:r>
            <a:r>
              <a:rPr lang="en-US" sz="2600" dirty="0" smtClean="0"/>
              <a:t> for detail.</a:t>
            </a:r>
          </a:p>
          <a:p>
            <a:r>
              <a:rPr lang="en-US" sz="2600" dirty="0" smtClean="0"/>
              <a:t>Test </a:t>
            </a:r>
            <a:r>
              <a:rPr lang="en-US" sz="2600" dirty="0" err="1" smtClean="0"/>
              <a:t>Nginx</a:t>
            </a:r>
            <a:r>
              <a:rPr lang="en-US" sz="2600" dirty="0" smtClean="0"/>
              <a:t> default website</a:t>
            </a:r>
          </a:p>
          <a:p>
            <a:pPr lvl="1"/>
            <a:r>
              <a:rPr lang="en-US" sz="2400" dirty="0" smtClean="0">
                <a:hlinkClick r:id="rId2"/>
              </a:rPr>
              <a:t>http://192.168.1.18</a:t>
            </a:r>
            <a:endParaRPr lang="en-US" sz="2400" dirty="0" smtClean="0"/>
          </a:p>
          <a:p>
            <a:pPr lvl="1"/>
            <a:endParaRPr lang="en-US" dirty="0"/>
          </a:p>
        </p:txBody>
      </p:sp>
      <p:pic>
        <p:nvPicPr>
          <p:cNvPr id="1026" name="Picture 2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2181225" y="3962400"/>
            <a:ext cx="4781550" cy="13874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 smtClean="0"/>
              <a:t>2. Install Node.js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dirty="0" smtClean="0">
                <a:latin typeface="+mj-lt"/>
              </a:rPr>
              <a:t>Refer to </a:t>
            </a:r>
            <a:r>
              <a:rPr lang="en-US" sz="2400" b="1" dirty="0" smtClean="0">
                <a:latin typeface="+mj-lt"/>
              </a:rPr>
              <a:t>Web Application Development</a:t>
            </a:r>
            <a:r>
              <a:rPr lang="en-US" sz="2400" dirty="0" smtClean="0">
                <a:latin typeface="+mj-lt"/>
              </a:rPr>
              <a:t> </a:t>
            </a:r>
            <a:r>
              <a:rPr lang="en-US" sz="2400" dirty="0" smtClean="0">
                <a:latin typeface="+mj-lt"/>
                <a:sym typeface="Wingdings" pitchFamily="2" charset="2"/>
              </a:rPr>
              <a:t> </a:t>
            </a:r>
            <a:r>
              <a:rPr lang="en-US" sz="2400" b="1" dirty="0" smtClean="0">
                <a:latin typeface="+mj-lt"/>
                <a:sym typeface="Wingdings" pitchFamily="2" charset="2"/>
              </a:rPr>
              <a:t>10</a:t>
            </a:r>
            <a:r>
              <a:rPr lang="en-US" sz="2400" b="1" dirty="0" smtClean="0">
                <a:latin typeface="+mj-lt"/>
              </a:rPr>
              <a:t>. </a:t>
            </a:r>
            <a:r>
              <a:rPr lang="en-US" sz="2400" b="1" dirty="0" err="1" smtClean="0">
                <a:latin typeface="+mj-lt"/>
              </a:rPr>
              <a:t>Node.js.pptx</a:t>
            </a:r>
            <a:r>
              <a:rPr lang="en-US" sz="2400" dirty="0" smtClean="0">
                <a:latin typeface="+mj-lt"/>
              </a:rPr>
              <a:t> for detail.</a:t>
            </a:r>
            <a:endParaRPr lang="en-US" sz="2400" dirty="0">
              <a:latin typeface="+mj-lt"/>
            </a:endParaRPr>
          </a:p>
        </p:txBody>
      </p:sp>
      <p:pic>
        <p:nvPicPr>
          <p:cNvPr id="2050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1219200" y="3200400"/>
            <a:ext cx="6927850" cy="1905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sz="4200" dirty="0" smtClean="0"/>
              <a:t>3. Create 1</a:t>
            </a:r>
            <a:r>
              <a:rPr lang="en-US" sz="4200" baseline="30000" dirty="0" smtClean="0"/>
              <a:t>st</a:t>
            </a:r>
            <a:r>
              <a:rPr lang="en-US" sz="4200" dirty="0" smtClean="0"/>
              <a:t> Node.js Web Application</a:t>
            </a:r>
            <a:endParaRPr lang="en-US" sz="4200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000" dirty="0" err="1" smtClean="0">
                <a:latin typeface="Consolas" pitchFamily="49" charset="0"/>
              </a:rPr>
              <a:t>mkdir</a:t>
            </a:r>
            <a:r>
              <a:rPr lang="en-US" sz="2000" dirty="0" smtClean="0">
                <a:latin typeface="Consolas" pitchFamily="49" charset="0"/>
              </a:rPr>
              <a:t> lbweb1</a:t>
            </a:r>
          </a:p>
          <a:p>
            <a:r>
              <a:rPr lang="en-US" sz="2000" dirty="0" err="1" smtClean="0">
                <a:latin typeface="Consolas" pitchFamily="49" charset="0"/>
              </a:rPr>
              <a:t>cd</a:t>
            </a:r>
            <a:r>
              <a:rPr lang="en-US" sz="2000" dirty="0" smtClean="0">
                <a:latin typeface="Consolas" pitchFamily="49" charset="0"/>
              </a:rPr>
              <a:t> lbweb1</a:t>
            </a:r>
          </a:p>
          <a:p>
            <a:r>
              <a:rPr lang="en-US" sz="2000" dirty="0" err="1" smtClean="0">
                <a:latin typeface="Consolas" pitchFamily="49" charset="0"/>
              </a:rPr>
              <a:t>npm</a:t>
            </a:r>
            <a:r>
              <a:rPr lang="en-US" sz="2000" dirty="0" smtClean="0">
                <a:latin typeface="Consolas" pitchFamily="49" charset="0"/>
              </a:rPr>
              <a:t> init -y</a:t>
            </a:r>
          </a:p>
          <a:p>
            <a:r>
              <a:rPr lang="en-US" sz="2000" dirty="0" err="1" smtClean="0">
                <a:latin typeface="Consolas" pitchFamily="49" charset="0"/>
              </a:rPr>
              <a:t>sudo</a:t>
            </a:r>
            <a:r>
              <a:rPr lang="en-US" sz="2000" dirty="0" smtClean="0">
                <a:latin typeface="Consolas" pitchFamily="49" charset="0"/>
              </a:rPr>
              <a:t> </a:t>
            </a:r>
            <a:r>
              <a:rPr lang="en-US" sz="2000" dirty="0" err="1" smtClean="0">
                <a:latin typeface="Consolas" pitchFamily="49" charset="0"/>
              </a:rPr>
              <a:t>nano</a:t>
            </a:r>
            <a:r>
              <a:rPr lang="en-US" sz="2000" dirty="0" smtClean="0">
                <a:latin typeface="Consolas" pitchFamily="49" charset="0"/>
              </a:rPr>
              <a:t> index.js</a:t>
            </a:r>
          </a:p>
          <a:p>
            <a:endParaRPr lang="en-US" sz="2000" dirty="0">
              <a:latin typeface="Consolas" pitchFamily="49" charset="0"/>
            </a:endParaRPr>
          </a:p>
        </p:txBody>
      </p:sp>
      <p:sp>
        <p:nvSpPr>
          <p:cNvPr id="4" name="Rectangle 3"/>
          <p:cNvSpPr/>
          <p:nvPr/>
        </p:nvSpPr>
        <p:spPr>
          <a:xfrm>
            <a:off x="685800" y="3309878"/>
            <a:ext cx="7772400" cy="2862322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bg2">
                <a:lumMod val="10000"/>
              </a:schemeClr>
            </a:solidFill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r>
              <a:rPr lang="en-US" sz="1200" dirty="0" smtClean="0">
                <a:solidFill>
                  <a:srgbClr val="0000FF"/>
                </a:solidFill>
                <a:latin typeface="Consolas"/>
              </a:rPr>
              <a:t>const</a:t>
            </a:r>
            <a:r>
              <a:rPr lang="en-US" sz="1200" dirty="0" smtClean="0">
                <a:solidFill>
                  <a:srgbClr val="000000"/>
                </a:solidFill>
                <a:latin typeface="Consolas"/>
              </a:rPr>
              <a:t> port = 3001,</a:t>
            </a:r>
          </a:p>
          <a:p>
            <a:r>
              <a:rPr lang="en-US" sz="1200" dirty="0" smtClean="0">
                <a:solidFill>
                  <a:srgbClr val="000000"/>
                </a:solidFill>
                <a:latin typeface="Consolas"/>
              </a:rPr>
              <a:t>http = require(</a:t>
            </a:r>
            <a:r>
              <a:rPr lang="en-US" sz="1200" dirty="0" smtClean="0">
                <a:solidFill>
                  <a:srgbClr val="A31515"/>
                </a:solidFill>
                <a:latin typeface="Consolas"/>
              </a:rPr>
              <a:t>"http"</a:t>
            </a:r>
            <a:r>
              <a:rPr lang="en-US" sz="1200" dirty="0" smtClean="0">
                <a:solidFill>
                  <a:srgbClr val="000000"/>
                </a:solidFill>
                <a:latin typeface="Consolas"/>
              </a:rPr>
              <a:t>),</a:t>
            </a:r>
          </a:p>
          <a:p>
            <a:r>
              <a:rPr lang="en-US" sz="1200" dirty="0" err="1" smtClean="0">
                <a:solidFill>
                  <a:srgbClr val="000000"/>
                </a:solidFill>
                <a:latin typeface="Consolas"/>
              </a:rPr>
              <a:t>httpStatus</a:t>
            </a:r>
            <a:r>
              <a:rPr lang="en-US" sz="1200" dirty="0" smtClean="0">
                <a:solidFill>
                  <a:srgbClr val="000000"/>
                </a:solidFill>
                <a:latin typeface="Consolas"/>
              </a:rPr>
              <a:t> = require(</a:t>
            </a:r>
            <a:r>
              <a:rPr lang="en-US" sz="1200" dirty="0" smtClean="0">
                <a:solidFill>
                  <a:srgbClr val="A31515"/>
                </a:solidFill>
                <a:latin typeface="Consolas"/>
              </a:rPr>
              <a:t>"http-status-codes"</a:t>
            </a:r>
            <a:r>
              <a:rPr lang="en-US" sz="1200" dirty="0" smtClean="0">
                <a:solidFill>
                  <a:srgbClr val="000000"/>
                </a:solidFill>
                <a:latin typeface="Consolas"/>
              </a:rPr>
              <a:t>),</a:t>
            </a:r>
          </a:p>
          <a:p>
            <a:r>
              <a:rPr lang="en-US" sz="1200" dirty="0" smtClean="0">
                <a:solidFill>
                  <a:srgbClr val="000000"/>
                </a:solidFill>
                <a:latin typeface="Consolas"/>
              </a:rPr>
              <a:t>app = </a:t>
            </a:r>
            <a:r>
              <a:rPr lang="en-US" sz="1200" dirty="0" err="1" smtClean="0">
                <a:solidFill>
                  <a:srgbClr val="000000"/>
                </a:solidFill>
                <a:latin typeface="Consolas"/>
              </a:rPr>
              <a:t>http.createServer</a:t>
            </a:r>
            <a:r>
              <a:rPr lang="en-US" sz="1200" dirty="0" smtClean="0">
                <a:solidFill>
                  <a:srgbClr val="000000"/>
                </a:solidFill>
                <a:latin typeface="Consolas"/>
              </a:rPr>
              <a:t>((request, response) =&gt; {</a:t>
            </a:r>
          </a:p>
          <a:p>
            <a:r>
              <a:rPr lang="en-US" sz="1200" dirty="0" smtClean="0">
                <a:solidFill>
                  <a:srgbClr val="000000"/>
                </a:solidFill>
                <a:latin typeface="Consolas"/>
              </a:rPr>
              <a:t>    console.log(</a:t>
            </a:r>
            <a:r>
              <a:rPr lang="en-US" sz="1200" dirty="0" smtClean="0">
                <a:solidFill>
                  <a:srgbClr val="A31515"/>
                </a:solidFill>
                <a:latin typeface="Consolas"/>
              </a:rPr>
              <a:t>"Received an incoming request!"</a:t>
            </a:r>
            <a:r>
              <a:rPr lang="en-US" sz="1200" dirty="0" smtClean="0">
                <a:solidFill>
                  <a:srgbClr val="000000"/>
                </a:solidFill>
                <a:latin typeface="Consolas"/>
              </a:rPr>
              <a:t>);</a:t>
            </a:r>
          </a:p>
          <a:p>
            <a:r>
              <a:rPr lang="en-US" sz="1200" dirty="0" smtClean="0">
                <a:solidFill>
                  <a:srgbClr val="000000"/>
                </a:solidFill>
                <a:latin typeface="Consolas"/>
              </a:rPr>
              <a:t>    </a:t>
            </a:r>
            <a:r>
              <a:rPr lang="en-US" sz="1200" dirty="0" err="1" smtClean="0">
                <a:solidFill>
                  <a:srgbClr val="000000"/>
                </a:solidFill>
                <a:latin typeface="Consolas"/>
              </a:rPr>
              <a:t>response.writeHead</a:t>
            </a:r>
            <a:r>
              <a:rPr lang="en-US" sz="1200" dirty="0" smtClean="0">
                <a:solidFill>
                  <a:srgbClr val="000000"/>
                </a:solidFill>
                <a:latin typeface="Consolas"/>
              </a:rPr>
              <a:t>(</a:t>
            </a:r>
            <a:r>
              <a:rPr lang="en-US" sz="1200" dirty="0" err="1" smtClean="0">
                <a:solidFill>
                  <a:srgbClr val="000000"/>
                </a:solidFill>
                <a:latin typeface="Consolas"/>
              </a:rPr>
              <a:t>httpStatus.OK</a:t>
            </a:r>
            <a:r>
              <a:rPr lang="en-US" sz="1200" dirty="0" smtClean="0">
                <a:solidFill>
                  <a:srgbClr val="000000"/>
                </a:solidFill>
                <a:latin typeface="Consolas"/>
              </a:rPr>
              <a:t>, {</a:t>
            </a:r>
          </a:p>
          <a:p>
            <a:r>
              <a:rPr lang="en-US" sz="1200" dirty="0" smtClean="0">
                <a:solidFill>
                  <a:srgbClr val="000000"/>
                </a:solidFill>
                <a:latin typeface="Consolas"/>
              </a:rPr>
              <a:t>        </a:t>
            </a:r>
            <a:r>
              <a:rPr lang="en-US" sz="1200" dirty="0" smtClean="0">
                <a:solidFill>
                  <a:srgbClr val="A31515"/>
                </a:solidFill>
                <a:latin typeface="Consolas"/>
              </a:rPr>
              <a:t>"Content-Type"</a:t>
            </a:r>
            <a:r>
              <a:rPr lang="en-US" sz="1200" dirty="0" smtClean="0">
                <a:solidFill>
                  <a:srgbClr val="000000"/>
                </a:solidFill>
                <a:latin typeface="Consolas"/>
              </a:rPr>
              <a:t>: </a:t>
            </a:r>
            <a:r>
              <a:rPr lang="en-US" sz="1200" dirty="0" smtClean="0">
                <a:solidFill>
                  <a:srgbClr val="A31515"/>
                </a:solidFill>
                <a:latin typeface="Consolas"/>
              </a:rPr>
              <a:t>"text/html"</a:t>
            </a:r>
            <a:endParaRPr lang="en-US" sz="1200" dirty="0" smtClean="0">
              <a:solidFill>
                <a:srgbClr val="000000"/>
              </a:solidFill>
              <a:latin typeface="Consolas"/>
            </a:endParaRPr>
          </a:p>
          <a:p>
            <a:r>
              <a:rPr lang="en-US" sz="1200" dirty="0" smtClean="0">
                <a:solidFill>
                  <a:srgbClr val="000000"/>
                </a:solidFill>
                <a:latin typeface="Consolas"/>
              </a:rPr>
              <a:t>    });</a:t>
            </a:r>
          </a:p>
          <a:p>
            <a:r>
              <a:rPr lang="en-US" sz="1200" dirty="0" smtClean="0">
                <a:solidFill>
                  <a:srgbClr val="000000"/>
                </a:solidFill>
                <a:latin typeface="Consolas"/>
              </a:rPr>
              <a:t>    </a:t>
            </a:r>
            <a:r>
              <a:rPr lang="en-US" sz="1200" dirty="0" smtClean="0">
                <a:solidFill>
                  <a:srgbClr val="0000FF"/>
                </a:solidFill>
                <a:latin typeface="Consolas"/>
              </a:rPr>
              <a:t>let</a:t>
            </a:r>
            <a:r>
              <a:rPr lang="en-US" sz="1200" dirty="0" smtClean="0">
                <a:solidFill>
                  <a:srgbClr val="000000"/>
                </a:solidFill>
                <a:latin typeface="Consolas"/>
              </a:rPr>
              <a:t> </a:t>
            </a:r>
            <a:r>
              <a:rPr lang="en-US" sz="1200" dirty="0" err="1" smtClean="0">
                <a:solidFill>
                  <a:srgbClr val="000000"/>
                </a:solidFill>
                <a:latin typeface="Consolas"/>
              </a:rPr>
              <a:t>responseMessage</a:t>
            </a:r>
            <a:r>
              <a:rPr lang="en-US" sz="1200" dirty="0" smtClean="0">
                <a:solidFill>
                  <a:srgbClr val="000000"/>
                </a:solidFill>
                <a:latin typeface="Consolas"/>
              </a:rPr>
              <a:t> = </a:t>
            </a:r>
            <a:r>
              <a:rPr lang="en-US" sz="1200" dirty="0" smtClean="0">
                <a:solidFill>
                  <a:srgbClr val="A31515"/>
                </a:solidFill>
                <a:latin typeface="Consolas"/>
              </a:rPr>
              <a:t>`&lt;h1&gt;Hello World from </a:t>
            </a:r>
            <a:r>
              <a:rPr lang="en-US" sz="1200" dirty="0" smtClean="0">
                <a:solidFill>
                  <a:srgbClr val="000000"/>
                </a:solidFill>
                <a:latin typeface="Consolas"/>
              </a:rPr>
              <a:t>${port}</a:t>
            </a:r>
            <a:r>
              <a:rPr lang="en-US" sz="1200" dirty="0" smtClean="0">
                <a:solidFill>
                  <a:srgbClr val="A31515"/>
                </a:solidFill>
                <a:latin typeface="Consolas"/>
              </a:rPr>
              <a:t>!&lt;/h1&gt;`</a:t>
            </a:r>
            <a:r>
              <a:rPr lang="en-US" sz="1200" dirty="0" smtClean="0">
                <a:solidFill>
                  <a:srgbClr val="000000"/>
                </a:solidFill>
                <a:latin typeface="Consolas"/>
              </a:rPr>
              <a:t>;</a:t>
            </a:r>
          </a:p>
          <a:p>
            <a:r>
              <a:rPr lang="en-US" sz="1200" dirty="0" smtClean="0">
                <a:solidFill>
                  <a:srgbClr val="000000"/>
                </a:solidFill>
                <a:latin typeface="Consolas"/>
              </a:rPr>
              <a:t>    </a:t>
            </a:r>
            <a:r>
              <a:rPr lang="en-US" sz="1200" dirty="0" err="1" smtClean="0">
                <a:solidFill>
                  <a:srgbClr val="000000"/>
                </a:solidFill>
                <a:latin typeface="Consolas"/>
              </a:rPr>
              <a:t>response.write</a:t>
            </a:r>
            <a:r>
              <a:rPr lang="en-US" sz="1200" dirty="0" smtClean="0">
                <a:solidFill>
                  <a:srgbClr val="000000"/>
                </a:solidFill>
                <a:latin typeface="Consolas"/>
              </a:rPr>
              <a:t>(</a:t>
            </a:r>
            <a:r>
              <a:rPr lang="en-US" sz="1200" dirty="0" err="1" smtClean="0">
                <a:solidFill>
                  <a:srgbClr val="000000"/>
                </a:solidFill>
                <a:latin typeface="Consolas"/>
              </a:rPr>
              <a:t>responseMessage</a:t>
            </a:r>
            <a:r>
              <a:rPr lang="en-US" sz="1200" dirty="0" smtClean="0">
                <a:solidFill>
                  <a:srgbClr val="000000"/>
                </a:solidFill>
                <a:latin typeface="Consolas"/>
              </a:rPr>
              <a:t>);</a:t>
            </a:r>
          </a:p>
          <a:p>
            <a:r>
              <a:rPr lang="en-US" sz="1200" dirty="0" smtClean="0">
                <a:solidFill>
                  <a:srgbClr val="000000"/>
                </a:solidFill>
                <a:latin typeface="Consolas"/>
              </a:rPr>
              <a:t>    </a:t>
            </a:r>
            <a:r>
              <a:rPr lang="en-US" sz="1200" dirty="0" err="1" smtClean="0">
                <a:solidFill>
                  <a:srgbClr val="000000"/>
                </a:solidFill>
                <a:latin typeface="Consolas"/>
              </a:rPr>
              <a:t>response.end</a:t>
            </a:r>
            <a:r>
              <a:rPr lang="en-US" sz="1200" dirty="0" smtClean="0">
                <a:solidFill>
                  <a:srgbClr val="000000"/>
                </a:solidFill>
                <a:latin typeface="Consolas"/>
              </a:rPr>
              <a:t>();</a:t>
            </a:r>
          </a:p>
          <a:p>
            <a:r>
              <a:rPr lang="en-US" sz="1200" dirty="0" smtClean="0">
                <a:solidFill>
                  <a:srgbClr val="000000"/>
                </a:solidFill>
                <a:latin typeface="Consolas"/>
              </a:rPr>
              <a:t>    console.log(</a:t>
            </a:r>
            <a:r>
              <a:rPr lang="en-US" sz="1200" dirty="0" smtClean="0">
                <a:solidFill>
                  <a:srgbClr val="A31515"/>
                </a:solidFill>
                <a:latin typeface="Consolas"/>
              </a:rPr>
              <a:t>`Sent a response : </a:t>
            </a:r>
            <a:r>
              <a:rPr lang="en-US" sz="1200" dirty="0" smtClean="0">
                <a:solidFill>
                  <a:srgbClr val="000000"/>
                </a:solidFill>
                <a:latin typeface="Consolas"/>
              </a:rPr>
              <a:t>${</a:t>
            </a:r>
            <a:r>
              <a:rPr lang="en-US" sz="1200" dirty="0" err="1" smtClean="0">
                <a:solidFill>
                  <a:srgbClr val="000000"/>
                </a:solidFill>
                <a:latin typeface="Consolas"/>
              </a:rPr>
              <a:t>responseMessage</a:t>
            </a:r>
            <a:r>
              <a:rPr lang="en-US" sz="1200" dirty="0" smtClean="0">
                <a:solidFill>
                  <a:srgbClr val="000000"/>
                </a:solidFill>
                <a:latin typeface="Consolas"/>
              </a:rPr>
              <a:t>}</a:t>
            </a:r>
            <a:r>
              <a:rPr lang="en-US" sz="1200" dirty="0" smtClean="0">
                <a:solidFill>
                  <a:srgbClr val="A31515"/>
                </a:solidFill>
                <a:latin typeface="Consolas"/>
              </a:rPr>
              <a:t>`</a:t>
            </a:r>
            <a:r>
              <a:rPr lang="en-US" sz="1200" dirty="0" smtClean="0">
                <a:solidFill>
                  <a:srgbClr val="000000"/>
                </a:solidFill>
                <a:latin typeface="Consolas"/>
              </a:rPr>
              <a:t>);</a:t>
            </a:r>
          </a:p>
          <a:p>
            <a:r>
              <a:rPr lang="en-US" sz="1200" dirty="0" smtClean="0">
                <a:solidFill>
                  <a:srgbClr val="000000"/>
                </a:solidFill>
                <a:latin typeface="Consolas"/>
              </a:rPr>
              <a:t>});</a:t>
            </a:r>
          </a:p>
          <a:p>
            <a:r>
              <a:rPr lang="en-US" sz="1200" dirty="0" err="1" smtClean="0">
                <a:solidFill>
                  <a:srgbClr val="000000"/>
                </a:solidFill>
                <a:latin typeface="Consolas"/>
              </a:rPr>
              <a:t>app.listen</a:t>
            </a:r>
            <a:r>
              <a:rPr lang="en-US" sz="1200" dirty="0" smtClean="0">
                <a:solidFill>
                  <a:srgbClr val="000000"/>
                </a:solidFill>
                <a:latin typeface="Consolas"/>
              </a:rPr>
              <a:t>(port);</a:t>
            </a:r>
          </a:p>
          <a:p>
            <a:r>
              <a:rPr lang="en-US" sz="1200" dirty="0" smtClean="0">
                <a:solidFill>
                  <a:srgbClr val="000000"/>
                </a:solidFill>
                <a:latin typeface="Consolas"/>
              </a:rPr>
              <a:t>console.log(</a:t>
            </a:r>
            <a:r>
              <a:rPr lang="en-US" sz="1200" dirty="0" smtClean="0">
                <a:solidFill>
                  <a:srgbClr val="A31515"/>
                </a:solidFill>
                <a:latin typeface="Consolas"/>
              </a:rPr>
              <a:t>`The server has started and is listening on port number: </a:t>
            </a:r>
            <a:r>
              <a:rPr lang="en-US" sz="1200" dirty="0" smtClean="0">
                <a:solidFill>
                  <a:srgbClr val="000000"/>
                </a:solidFill>
                <a:latin typeface="Consolas"/>
              </a:rPr>
              <a:t>${port}</a:t>
            </a:r>
            <a:r>
              <a:rPr lang="en-US" sz="1200" dirty="0" smtClean="0">
                <a:solidFill>
                  <a:srgbClr val="A31515"/>
                </a:solidFill>
                <a:latin typeface="Consolas"/>
              </a:rPr>
              <a:t>`</a:t>
            </a:r>
            <a:r>
              <a:rPr lang="en-US" sz="1200" dirty="0" smtClean="0">
                <a:solidFill>
                  <a:srgbClr val="000000"/>
                </a:solidFill>
                <a:latin typeface="Consolas"/>
              </a:rPr>
              <a:t>);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 smtClean="0"/>
              <a:t>4. Run 1</a:t>
            </a:r>
            <a:r>
              <a:rPr lang="en-US" baseline="30000" dirty="0" smtClean="0"/>
              <a:t>st</a:t>
            </a:r>
            <a:r>
              <a:rPr lang="en-US" dirty="0" smtClean="0"/>
              <a:t> Node.js Web Application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000" dirty="0" err="1" smtClean="0">
                <a:latin typeface="Consolas" pitchFamily="49" charset="0"/>
              </a:rPr>
              <a:t>npm</a:t>
            </a:r>
            <a:r>
              <a:rPr lang="en-US" sz="2000" dirty="0" smtClean="0">
                <a:latin typeface="Consolas" pitchFamily="49" charset="0"/>
              </a:rPr>
              <a:t> install </a:t>
            </a:r>
            <a:r>
              <a:rPr lang="en-US" sz="2000" dirty="0" smtClean="0">
                <a:solidFill>
                  <a:srgbClr val="A31515"/>
                </a:solidFill>
                <a:latin typeface="Consolas"/>
              </a:rPr>
              <a:t>http-status-codes</a:t>
            </a:r>
            <a:endParaRPr lang="en-US" sz="2000" dirty="0" smtClean="0">
              <a:latin typeface="Consolas" pitchFamily="49" charset="0"/>
            </a:endParaRPr>
          </a:p>
          <a:p>
            <a:r>
              <a:rPr lang="en-US" sz="2000" dirty="0" smtClean="0">
                <a:latin typeface="Consolas" pitchFamily="49" charset="0"/>
              </a:rPr>
              <a:t>node </a:t>
            </a:r>
            <a:r>
              <a:rPr lang="en-US" sz="2000" dirty="0" smtClean="0">
                <a:solidFill>
                  <a:srgbClr val="C00000"/>
                </a:solidFill>
                <a:latin typeface="Consolas" pitchFamily="49" charset="0"/>
              </a:rPr>
              <a:t>index.js</a:t>
            </a:r>
          </a:p>
          <a:p>
            <a:r>
              <a:rPr lang="en-US" sz="2000" dirty="0" smtClean="0">
                <a:hlinkClick r:id="rId2"/>
              </a:rPr>
              <a:t>http://192.168.1.18:3001</a:t>
            </a:r>
            <a:endParaRPr lang="en-US" sz="2000" dirty="0" smtClean="0">
              <a:solidFill>
                <a:srgbClr val="C00000"/>
              </a:solidFill>
              <a:latin typeface="Consolas" pitchFamily="49" charset="0"/>
            </a:endParaRPr>
          </a:p>
          <a:p>
            <a:endParaRPr lang="en-US" sz="2000" dirty="0">
              <a:latin typeface="Consolas" pitchFamily="49" charset="0"/>
            </a:endParaRPr>
          </a:p>
        </p:txBody>
      </p:sp>
      <p:pic>
        <p:nvPicPr>
          <p:cNvPr id="3075" name="Picture 3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2181225" y="3184525"/>
            <a:ext cx="4781550" cy="13874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sz="4000" dirty="0" smtClean="0"/>
              <a:t>5. Create 2</a:t>
            </a:r>
            <a:r>
              <a:rPr lang="en-US" sz="4000" baseline="30000" dirty="0" smtClean="0"/>
              <a:t>nd</a:t>
            </a:r>
            <a:r>
              <a:rPr lang="en-US" sz="4000" dirty="0" smtClean="0"/>
              <a:t> Node.js Web Application</a:t>
            </a:r>
            <a:endParaRPr lang="en-US" sz="4000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000" dirty="0" err="1" smtClean="0">
                <a:latin typeface="Consolas" pitchFamily="49" charset="0"/>
              </a:rPr>
              <a:t>mkdir</a:t>
            </a:r>
            <a:r>
              <a:rPr lang="en-US" sz="2000" dirty="0" smtClean="0">
                <a:latin typeface="Consolas" pitchFamily="49" charset="0"/>
              </a:rPr>
              <a:t> lbweb2</a:t>
            </a:r>
          </a:p>
          <a:p>
            <a:r>
              <a:rPr lang="en-US" sz="2000" dirty="0" err="1" smtClean="0">
                <a:latin typeface="Consolas" pitchFamily="49" charset="0"/>
              </a:rPr>
              <a:t>cd</a:t>
            </a:r>
            <a:r>
              <a:rPr lang="en-US" sz="2000" dirty="0" smtClean="0">
                <a:latin typeface="Consolas" pitchFamily="49" charset="0"/>
              </a:rPr>
              <a:t> lbweb2</a:t>
            </a:r>
          </a:p>
          <a:p>
            <a:r>
              <a:rPr lang="en-US" sz="2000" dirty="0" err="1" smtClean="0">
                <a:latin typeface="Consolas" pitchFamily="49" charset="0"/>
              </a:rPr>
              <a:t>npm</a:t>
            </a:r>
            <a:r>
              <a:rPr lang="en-US" sz="2000" dirty="0" smtClean="0">
                <a:latin typeface="Consolas" pitchFamily="49" charset="0"/>
              </a:rPr>
              <a:t> init -y</a:t>
            </a:r>
          </a:p>
          <a:p>
            <a:r>
              <a:rPr lang="en-US" sz="2000" dirty="0" err="1" smtClean="0">
                <a:latin typeface="Consolas" pitchFamily="49" charset="0"/>
              </a:rPr>
              <a:t>sudo</a:t>
            </a:r>
            <a:r>
              <a:rPr lang="en-US" sz="2000" dirty="0" smtClean="0">
                <a:latin typeface="Consolas" pitchFamily="49" charset="0"/>
              </a:rPr>
              <a:t> </a:t>
            </a:r>
            <a:r>
              <a:rPr lang="en-US" sz="2000" dirty="0" err="1" smtClean="0">
                <a:latin typeface="Consolas" pitchFamily="49" charset="0"/>
              </a:rPr>
              <a:t>nano</a:t>
            </a:r>
            <a:r>
              <a:rPr lang="en-US" sz="2000" dirty="0" smtClean="0">
                <a:latin typeface="Consolas" pitchFamily="49" charset="0"/>
              </a:rPr>
              <a:t> index.js</a:t>
            </a:r>
          </a:p>
          <a:p>
            <a:endParaRPr lang="en-US" sz="2000" dirty="0">
              <a:latin typeface="Consolas" pitchFamily="49" charset="0"/>
            </a:endParaRPr>
          </a:p>
        </p:txBody>
      </p:sp>
      <p:sp>
        <p:nvSpPr>
          <p:cNvPr id="4" name="Rectangle 3"/>
          <p:cNvSpPr/>
          <p:nvPr/>
        </p:nvSpPr>
        <p:spPr>
          <a:xfrm>
            <a:off x="685800" y="3309878"/>
            <a:ext cx="7772400" cy="2862322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bg2">
                <a:lumMod val="10000"/>
              </a:schemeClr>
            </a:solidFill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r>
              <a:rPr lang="en-US" sz="1200" dirty="0" smtClean="0">
                <a:solidFill>
                  <a:srgbClr val="0000FF"/>
                </a:solidFill>
                <a:latin typeface="Consolas"/>
              </a:rPr>
              <a:t>const</a:t>
            </a:r>
            <a:r>
              <a:rPr lang="en-US" sz="1200" dirty="0" smtClean="0">
                <a:solidFill>
                  <a:srgbClr val="000000"/>
                </a:solidFill>
                <a:latin typeface="Consolas"/>
              </a:rPr>
              <a:t> port = 3002,</a:t>
            </a:r>
          </a:p>
          <a:p>
            <a:r>
              <a:rPr lang="en-US" sz="1200" dirty="0" smtClean="0">
                <a:solidFill>
                  <a:srgbClr val="000000"/>
                </a:solidFill>
                <a:latin typeface="Consolas"/>
              </a:rPr>
              <a:t>http = require(</a:t>
            </a:r>
            <a:r>
              <a:rPr lang="en-US" sz="1200" dirty="0" smtClean="0">
                <a:solidFill>
                  <a:srgbClr val="A31515"/>
                </a:solidFill>
                <a:latin typeface="Consolas"/>
              </a:rPr>
              <a:t>"http"</a:t>
            </a:r>
            <a:r>
              <a:rPr lang="en-US" sz="1200" dirty="0" smtClean="0">
                <a:solidFill>
                  <a:srgbClr val="000000"/>
                </a:solidFill>
                <a:latin typeface="Consolas"/>
              </a:rPr>
              <a:t>),</a:t>
            </a:r>
          </a:p>
          <a:p>
            <a:r>
              <a:rPr lang="en-US" sz="1200" dirty="0" err="1" smtClean="0">
                <a:solidFill>
                  <a:srgbClr val="000000"/>
                </a:solidFill>
                <a:latin typeface="Consolas"/>
              </a:rPr>
              <a:t>httpStatus</a:t>
            </a:r>
            <a:r>
              <a:rPr lang="en-US" sz="1200" dirty="0" smtClean="0">
                <a:solidFill>
                  <a:srgbClr val="000000"/>
                </a:solidFill>
                <a:latin typeface="Consolas"/>
              </a:rPr>
              <a:t> = require(</a:t>
            </a:r>
            <a:r>
              <a:rPr lang="en-US" sz="1200" dirty="0" smtClean="0">
                <a:solidFill>
                  <a:srgbClr val="A31515"/>
                </a:solidFill>
                <a:latin typeface="Consolas"/>
              </a:rPr>
              <a:t>"http-status-codes"</a:t>
            </a:r>
            <a:r>
              <a:rPr lang="en-US" sz="1200" dirty="0" smtClean="0">
                <a:solidFill>
                  <a:srgbClr val="000000"/>
                </a:solidFill>
                <a:latin typeface="Consolas"/>
              </a:rPr>
              <a:t>),</a:t>
            </a:r>
          </a:p>
          <a:p>
            <a:r>
              <a:rPr lang="en-US" sz="1200" dirty="0" smtClean="0">
                <a:solidFill>
                  <a:srgbClr val="000000"/>
                </a:solidFill>
                <a:latin typeface="Consolas"/>
              </a:rPr>
              <a:t>app = </a:t>
            </a:r>
            <a:r>
              <a:rPr lang="en-US" sz="1200" dirty="0" err="1" smtClean="0">
                <a:solidFill>
                  <a:srgbClr val="000000"/>
                </a:solidFill>
                <a:latin typeface="Consolas"/>
              </a:rPr>
              <a:t>http.createServer</a:t>
            </a:r>
            <a:r>
              <a:rPr lang="en-US" sz="1200" dirty="0" smtClean="0">
                <a:solidFill>
                  <a:srgbClr val="000000"/>
                </a:solidFill>
                <a:latin typeface="Consolas"/>
              </a:rPr>
              <a:t>((request, response) =&gt; {</a:t>
            </a:r>
          </a:p>
          <a:p>
            <a:r>
              <a:rPr lang="en-US" sz="1200" dirty="0" smtClean="0">
                <a:solidFill>
                  <a:srgbClr val="000000"/>
                </a:solidFill>
                <a:latin typeface="Consolas"/>
              </a:rPr>
              <a:t>    console.log(</a:t>
            </a:r>
            <a:r>
              <a:rPr lang="en-US" sz="1200" dirty="0" smtClean="0">
                <a:solidFill>
                  <a:srgbClr val="A31515"/>
                </a:solidFill>
                <a:latin typeface="Consolas"/>
              </a:rPr>
              <a:t>"Received an incoming request!"</a:t>
            </a:r>
            <a:r>
              <a:rPr lang="en-US" sz="1200" dirty="0" smtClean="0">
                <a:solidFill>
                  <a:srgbClr val="000000"/>
                </a:solidFill>
                <a:latin typeface="Consolas"/>
              </a:rPr>
              <a:t>);</a:t>
            </a:r>
          </a:p>
          <a:p>
            <a:r>
              <a:rPr lang="en-US" sz="1200" dirty="0" smtClean="0">
                <a:solidFill>
                  <a:srgbClr val="000000"/>
                </a:solidFill>
                <a:latin typeface="Consolas"/>
              </a:rPr>
              <a:t>    </a:t>
            </a:r>
            <a:r>
              <a:rPr lang="en-US" sz="1200" dirty="0" err="1" smtClean="0">
                <a:solidFill>
                  <a:srgbClr val="000000"/>
                </a:solidFill>
                <a:latin typeface="Consolas"/>
              </a:rPr>
              <a:t>response.writeHead</a:t>
            </a:r>
            <a:r>
              <a:rPr lang="en-US" sz="1200" dirty="0" smtClean="0">
                <a:solidFill>
                  <a:srgbClr val="000000"/>
                </a:solidFill>
                <a:latin typeface="Consolas"/>
              </a:rPr>
              <a:t>(</a:t>
            </a:r>
            <a:r>
              <a:rPr lang="en-US" sz="1200" dirty="0" err="1" smtClean="0">
                <a:solidFill>
                  <a:srgbClr val="000000"/>
                </a:solidFill>
                <a:latin typeface="Consolas"/>
              </a:rPr>
              <a:t>httpStatus.OK</a:t>
            </a:r>
            <a:r>
              <a:rPr lang="en-US" sz="1200" dirty="0" smtClean="0">
                <a:solidFill>
                  <a:srgbClr val="000000"/>
                </a:solidFill>
                <a:latin typeface="Consolas"/>
              </a:rPr>
              <a:t>, {</a:t>
            </a:r>
          </a:p>
          <a:p>
            <a:r>
              <a:rPr lang="en-US" sz="1200" dirty="0" smtClean="0">
                <a:solidFill>
                  <a:srgbClr val="000000"/>
                </a:solidFill>
                <a:latin typeface="Consolas"/>
              </a:rPr>
              <a:t>        </a:t>
            </a:r>
            <a:r>
              <a:rPr lang="en-US" sz="1200" dirty="0" smtClean="0">
                <a:solidFill>
                  <a:srgbClr val="A31515"/>
                </a:solidFill>
                <a:latin typeface="Consolas"/>
              </a:rPr>
              <a:t>"Content-Type"</a:t>
            </a:r>
            <a:r>
              <a:rPr lang="en-US" sz="1200" dirty="0" smtClean="0">
                <a:solidFill>
                  <a:srgbClr val="000000"/>
                </a:solidFill>
                <a:latin typeface="Consolas"/>
              </a:rPr>
              <a:t>: </a:t>
            </a:r>
            <a:r>
              <a:rPr lang="en-US" sz="1200" dirty="0" smtClean="0">
                <a:solidFill>
                  <a:srgbClr val="A31515"/>
                </a:solidFill>
                <a:latin typeface="Consolas"/>
              </a:rPr>
              <a:t>"text/html"</a:t>
            </a:r>
            <a:endParaRPr lang="en-US" sz="1200" dirty="0" smtClean="0">
              <a:solidFill>
                <a:srgbClr val="000000"/>
              </a:solidFill>
              <a:latin typeface="Consolas"/>
            </a:endParaRPr>
          </a:p>
          <a:p>
            <a:r>
              <a:rPr lang="en-US" sz="1200" dirty="0" smtClean="0">
                <a:solidFill>
                  <a:srgbClr val="000000"/>
                </a:solidFill>
                <a:latin typeface="Consolas"/>
              </a:rPr>
              <a:t>    });</a:t>
            </a:r>
          </a:p>
          <a:p>
            <a:r>
              <a:rPr lang="en-US" sz="1200" dirty="0" smtClean="0">
                <a:solidFill>
                  <a:srgbClr val="000000"/>
                </a:solidFill>
                <a:latin typeface="Consolas"/>
              </a:rPr>
              <a:t>    </a:t>
            </a:r>
            <a:r>
              <a:rPr lang="en-US" sz="1200" dirty="0" smtClean="0">
                <a:solidFill>
                  <a:srgbClr val="0000FF"/>
                </a:solidFill>
                <a:latin typeface="Consolas"/>
              </a:rPr>
              <a:t>let</a:t>
            </a:r>
            <a:r>
              <a:rPr lang="en-US" sz="1200" dirty="0" smtClean="0">
                <a:solidFill>
                  <a:srgbClr val="000000"/>
                </a:solidFill>
                <a:latin typeface="Consolas"/>
              </a:rPr>
              <a:t> </a:t>
            </a:r>
            <a:r>
              <a:rPr lang="en-US" sz="1200" dirty="0" err="1" smtClean="0">
                <a:solidFill>
                  <a:srgbClr val="000000"/>
                </a:solidFill>
                <a:latin typeface="Consolas"/>
              </a:rPr>
              <a:t>responseMessage</a:t>
            </a:r>
            <a:r>
              <a:rPr lang="en-US" sz="1200" dirty="0" smtClean="0">
                <a:solidFill>
                  <a:srgbClr val="000000"/>
                </a:solidFill>
                <a:latin typeface="Consolas"/>
              </a:rPr>
              <a:t> = </a:t>
            </a:r>
            <a:r>
              <a:rPr lang="en-US" sz="1200" dirty="0" smtClean="0">
                <a:solidFill>
                  <a:srgbClr val="A31515"/>
                </a:solidFill>
                <a:latin typeface="Consolas"/>
              </a:rPr>
              <a:t>`&lt;h1&gt;Hello World from </a:t>
            </a:r>
            <a:r>
              <a:rPr lang="en-US" sz="1200" dirty="0" smtClean="0">
                <a:solidFill>
                  <a:srgbClr val="000000"/>
                </a:solidFill>
                <a:latin typeface="Consolas"/>
              </a:rPr>
              <a:t>${port}</a:t>
            </a:r>
            <a:r>
              <a:rPr lang="en-US" sz="1200" dirty="0" smtClean="0">
                <a:solidFill>
                  <a:srgbClr val="A31515"/>
                </a:solidFill>
                <a:latin typeface="Consolas"/>
              </a:rPr>
              <a:t>!&lt;/h1&gt;`</a:t>
            </a:r>
            <a:r>
              <a:rPr lang="en-US" sz="1200" dirty="0" smtClean="0">
                <a:solidFill>
                  <a:srgbClr val="000000"/>
                </a:solidFill>
                <a:latin typeface="Consolas"/>
              </a:rPr>
              <a:t>;</a:t>
            </a:r>
          </a:p>
          <a:p>
            <a:r>
              <a:rPr lang="en-US" sz="1200" dirty="0" smtClean="0">
                <a:solidFill>
                  <a:srgbClr val="000000"/>
                </a:solidFill>
                <a:latin typeface="Consolas"/>
              </a:rPr>
              <a:t>    </a:t>
            </a:r>
            <a:r>
              <a:rPr lang="en-US" sz="1200" dirty="0" err="1" smtClean="0">
                <a:solidFill>
                  <a:srgbClr val="000000"/>
                </a:solidFill>
                <a:latin typeface="Consolas"/>
              </a:rPr>
              <a:t>response.write</a:t>
            </a:r>
            <a:r>
              <a:rPr lang="en-US" sz="1200" dirty="0" smtClean="0">
                <a:solidFill>
                  <a:srgbClr val="000000"/>
                </a:solidFill>
                <a:latin typeface="Consolas"/>
              </a:rPr>
              <a:t>(</a:t>
            </a:r>
            <a:r>
              <a:rPr lang="en-US" sz="1200" dirty="0" err="1" smtClean="0">
                <a:solidFill>
                  <a:srgbClr val="000000"/>
                </a:solidFill>
                <a:latin typeface="Consolas"/>
              </a:rPr>
              <a:t>responseMessage</a:t>
            </a:r>
            <a:r>
              <a:rPr lang="en-US" sz="1200" dirty="0" smtClean="0">
                <a:solidFill>
                  <a:srgbClr val="000000"/>
                </a:solidFill>
                <a:latin typeface="Consolas"/>
              </a:rPr>
              <a:t>);</a:t>
            </a:r>
          </a:p>
          <a:p>
            <a:r>
              <a:rPr lang="en-US" sz="1200" dirty="0" smtClean="0">
                <a:solidFill>
                  <a:srgbClr val="000000"/>
                </a:solidFill>
                <a:latin typeface="Consolas"/>
              </a:rPr>
              <a:t>    </a:t>
            </a:r>
            <a:r>
              <a:rPr lang="en-US" sz="1200" dirty="0" err="1" smtClean="0">
                <a:solidFill>
                  <a:srgbClr val="000000"/>
                </a:solidFill>
                <a:latin typeface="Consolas"/>
              </a:rPr>
              <a:t>response.end</a:t>
            </a:r>
            <a:r>
              <a:rPr lang="en-US" sz="1200" dirty="0" smtClean="0">
                <a:solidFill>
                  <a:srgbClr val="000000"/>
                </a:solidFill>
                <a:latin typeface="Consolas"/>
              </a:rPr>
              <a:t>();</a:t>
            </a:r>
          </a:p>
          <a:p>
            <a:r>
              <a:rPr lang="en-US" sz="1200" dirty="0" smtClean="0">
                <a:solidFill>
                  <a:srgbClr val="000000"/>
                </a:solidFill>
                <a:latin typeface="Consolas"/>
              </a:rPr>
              <a:t>    console.log(</a:t>
            </a:r>
            <a:r>
              <a:rPr lang="en-US" sz="1200" dirty="0" smtClean="0">
                <a:solidFill>
                  <a:srgbClr val="A31515"/>
                </a:solidFill>
                <a:latin typeface="Consolas"/>
              </a:rPr>
              <a:t>`Sent a response : </a:t>
            </a:r>
            <a:r>
              <a:rPr lang="en-US" sz="1200" dirty="0" smtClean="0">
                <a:solidFill>
                  <a:srgbClr val="000000"/>
                </a:solidFill>
                <a:latin typeface="Consolas"/>
              </a:rPr>
              <a:t>${</a:t>
            </a:r>
            <a:r>
              <a:rPr lang="en-US" sz="1200" dirty="0" err="1" smtClean="0">
                <a:solidFill>
                  <a:srgbClr val="000000"/>
                </a:solidFill>
                <a:latin typeface="Consolas"/>
              </a:rPr>
              <a:t>responseMessage</a:t>
            </a:r>
            <a:r>
              <a:rPr lang="en-US" sz="1200" dirty="0" smtClean="0">
                <a:solidFill>
                  <a:srgbClr val="000000"/>
                </a:solidFill>
                <a:latin typeface="Consolas"/>
              </a:rPr>
              <a:t>}</a:t>
            </a:r>
            <a:r>
              <a:rPr lang="en-US" sz="1200" dirty="0" smtClean="0">
                <a:solidFill>
                  <a:srgbClr val="A31515"/>
                </a:solidFill>
                <a:latin typeface="Consolas"/>
              </a:rPr>
              <a:t>`</a:t>
            </a:r>
            <a:r>
              <a:rPr lang="en-US" sz="1200" dirty="0" smtClean="0">
                <a:solidFill>
                  <a:srgbClr val="000000"/>
                </a:solidFill>
                <a:latin typeface="Consolas"/>
              </a:rPr>
              <a:t>);</a:t>
            </a:r>
          </a:p>
          <a:p>
            <a:r>
              <a:rPr lang="en-US" sz="1200" dirty="0" smtClean="0">
                <a:solidFill>
                  <a:srgbClr val="000000"/>
                </a:solidFill>
                <a:latin typeface="Consolas"/>
              </a:rPr>
              <a:t>});</a:t>
            </a:r>
          </a:p>
          <a:p>
            <a:r>
              <a:rPr lang="en-US" sz="1200" dirty="0" err="1" smtClean="0">
                <a:solidFill>
                  <a:srgbClr val="000000"/>
                </a:solidFill>
                <a:latin typeface="Consolas"/>
              </a:rPr>
              <a:t>app.listen</a:t>
            </a:r>
            <a:r>
              <a:rPr lang="en-US" sz="1200" dirty="0" smtClean="0">
                <a:solidFill>
                  <a:srgbClr val="000000"/>
                </a:solidFill>
                <a:latin typeface="Consolas"/>
              </a:rPr>
              <a:t>(port);</a:t>
            </a:r>
          </a:p>
          <a:p>
            <a:r>
              <a:rPr lang="en-US" sz="1200" dirty="0" smtClean="0">
                <a:solidFill>
                  <a:srgbClr val="000000"/>
                </a:solidFill>
                <a:latin typeface="Consolas"/>
              </a:rPr>
              <a:t>console.log(</a:t>
            </a:r>
            <a:r>
              <a:rPr lang="en-US" sz="1200" dirty="0" smtClean="0">
                <a:solidFill>
                  <a:srgbClr val="A31515"/>
                </a:solidFill>
                <a:latin typeface="Consolas"/>
              </a:rPr>
              <a:t>`The server has started and is listening on port number: </a:t>
            </a:r>
            <a:r>
              <a:rPr lang="en-US" sz="1200" dirty="0" smtClean="0">
                <a:solidFill>
                  <a:srgbClr val="000000"/>
                </a:solidFill>
                <a:latin typeface="Consolas"/>
              </a:rPr>
              <a:t>${port}</a:t>
            </a:r>
            <a:r>
              <a:rPr lang="en-US" sz="1200" dirty="0" smtClean="0">
                <a:solidFill>
                  <a:srgbClr val="A31515"/>
                </a:solidFill>
                <a:latin typeface="Consolas"/>
              </a:rPr>
              <a:t>`</a:t>
            </a:r>
            <a:r>
              <a:rPr lang="en-US" sz="1200" dirty="0" smtClean="0">
                <a:solidFill>
                  <a:srgbClr val="000000"/>
                </a:solidFill>
                <a:latin typeface="Consolas"/>
              </a:rPr>
              <a:t>);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 smtClean="0"/>
              <a:t>6. Run 2</a:t>
            </a:r>
            <a:r>
              <a:rPr lang="en-US" baseline="30000" dirty="0" smtClean="0"/>
              <a:t>nd</a:t>
            </a:r>
            <a:r>
              <a:rPr lang="en-US" dirty="0" smtClean="0"/>
              <a:t> Node.js Web Application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000" dirty="0" err="1" smtClean="0">
                <a:latin typeface="Consolas" pitchFamily="49" charset="0"/>
              </a:rPr>
              <a:t>npm</a:t>
            </a:r>
            <a:r>
              <a:rPr lang="en-US" sz="2000" dirty="0" smtClean="0">
                <a:latin typeface="Consolas" pitchFamily="49" charset="0"/>
              </a:rPr>
              <a:t> install </a:t>
            </a:r>
            <a:r>
              <a:rPr lang="en-US" sz="2000" dirty="0" smtClean="0">
                <a:solidFill>
                  <a:srgbClr val="A31515"/>
                </a:solidFill>
                <a:latin typeface="Consolas"/>
              </a:rPr>
              <a:t>http-status-codes</a:t>
            </a:r>
            <a:endParaRPr lang="en-US" sz="2000" dirty="0" smtClean="0">
              <a:latin typeface="Consolas" pitchFamily="49" charset="0"/>
            </a:endParaRPr>
          </a:p>
          <a:p>
            <a:r>
              <a:rPr lang="en-US" sz="2000" dirty="0" smtClean="0">
                <a:latin typeface="Consolas" pitchFamily="49" charset="0"/>
              </a:rPr>
              <a:t>node </a:t>
            </a:r>
            <a:r>
              <a:rPr lang="en-US" sz="2000" dirty="0" smtClean="0">
                <a:solidFill>
                  <a:srgbClr val="C00000"/>
                </a:solidFill>
                <a:latin typeface="Consolas" pitchFamily="49" charset="0"/>
              </a:rPr>
              <a:t>index.js</a:t>
            </a:r>
          </a:p>
          <a:p>
            <a:r>
              <a:rPr lang="en-US" sz="2000" dirty="0" smtClean="0">
                <a:hlinkClick r:id="rId2"/>
              </a:rPr>
              <a:t>http://192.168.1.18:3002</a:t>
            </a:r>
            <a:endParaRPr lang="en-US" sz="2000" dirty="0" smtClean="0"/>
          </a:p>
          <a:p>
            <a:endParaRPr lang="en-US" sz="2000" dirty="0" smtClean="0">
              <a:solidFill>
                <a:srgbClr val="C00000"/>
              </a:solidFill>
              <a:latin typeface="Consolas" pitchFamily="49" charset="0"/>
            </a:endParaRPr>
          </a:p>
          <a:p>
            <a:endParaRPr lang="en-US" sz="2000" dirty="0">
              <a:latin typeface="Consolas" pitchFamily="49" charset="0"/>
            </a:endParaRPr>
          </a:p>
        </p:txBody>
      </p:sp>
      <p:pic>
        <p:nvPicPr>
          <p:cNvPr id="4098" name="Picture 2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2181225" y="3489325"/>
            <a:ext cx="4781550" cy="13874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sz="4200" dirty="0" smtClean="0"/>
              <a:t>7. Pass Requests to a </a:t>
            </a:r>
            <a:r>
              <a:rPr lang="en-US" sz="4200" dirty="0" err="1" smtClean="0"/>
              <a:t>Proxied</a:t>
            </a:r>
            <a:r>
              <a:rPr lang="en-US" sz="4200" dirty="0" smtClean="0"/>
              <a:t> Server</a:t>
            </a:r>
            <a:endParaRPr lang="en-US" sz="4200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000" dirty="0" err="1" smtClean="0">
                <a:latin typeface="Consolas" pitchFamily="49" charset="0"/>
              </a:rPr>
              <a:t>sudo</a:t>
            </a:r>
            <a:r>
              <a:rPr lang="en-US" sz="2000" dirty="0" smtClean="0">
                <a:latin typeface="Consolas" pitchFamily="49" charset="0"/>
              </a:rPr>
              <a:t> </a:t>
            </a:r>
            <a:r>
              <a:rPr lang="en-US" sz="2000" dirty="0" err="1" smtClean="0">
                <a:latin typeface="Consolas" pitchFamily="49" charset="0"/>
              </a:rPr>
              <a:t>nano</a:t>
            </a:r>
            <a:r>
              <a:rPr lang="en-US" sz="2000" dirty="0" smtClean="0">
                <a:latin typeface="Consolas" pitchFamily="49" charset="0"/>
              </a:rPr>
              <a:t> /etc/</a:t>
            </a:r>
            <a:r>
              <a:rPr lang="en-US" sz="2000" dirty="0" err="1" smtClean="0">
                <a:latin typeface="Consolas" pitchFamily="49" charset="0"/>
              </a:rPr>
              <a:t>nginx</a:t>
            </a:r>
            <a:r>
              <a:rPr lang="en-US" sz="2000" dirty="0" smtClean="0">
                <a:latin typeface="Consolas" pitchFamily="49" charset="0"/>
              </a:rPr>
              <a:t>/sites-available/default</a:t>
            </a:r>
          </a:p>
          <a:p>
            <a:endParaRPr lang="en-US" sz="2000" dirty="0" smtClean="0">
              <a:latin typeface="Consolas" pitchFamily="49" charset="0"/>
            </a:endParaRPr>
          </a:p>
          <a:p>
            <a:pPr lvl="1">
              <a:buNone/>
            </a:pPr>
            <a:r>
              <a:rPr lang="en-US" sz="2000" b="1" i="1" dirty="0" smtClean="0">
                <a:latin typeface="Consolas" pitchFamily="49" charset="0"/>
              </a:rPr>
              <a:t>server {</a:t>
            </a:r>
          </a:p>
          <a:p>
            <a:pPr lvl="1">
              <a:buNone/>
            </a:pPr>
            <a:r>
              <a:rPr lang="en-US" sz="2000" b="1" i="1" dirty="0" smtClean="0">
                <a:latin typeface="Consolas" pitchFamily="49" charset="0"/>
              </a:rPr>
              <a:t>	...</a:t>
            </a:r>
          </a:p>
          <a:p>
            <a:pPr lvl="1">
              <a:buNone/>
            </a:pPr>
            <a:r>
              <a:rPr lang="en-US" sz="2000" b="1" i="1" dirty="0" smtClean="0">
                <a:latin typeface="Consolas" pitchFamily="49" charset="0"/>
              </a:rPr>
              <a:t> 	location / {</a:t>
            </a:r>
          </a:p>
          <a:p>
            <a:pPr lvl="1">
              <a:buNone/>
            </a:pPr>
            <a:r>
              <a:rPr lang="en-US" sz="2000" b="1" i="1" dirty="0" smtClean="0">
                <a:latin typeface="Consolas" pitchFamily="49" charset="0"/>
              </a:rPr>
              <a:t>            </a:t>
            </a:r>
            <a:r>
              <a:rPr lang="en-US" sz="2000" b="1" i="1" dirty="0" err="1" smtClean="0">
                <a:latin typeface="Consolas" pitchFamily="49" charset="0"/>
              </a:rPr>
              <a:t>proxy_pass</a:t>
            </a:r>
            <a:r>
              <a:rPr lang="en-US" sz="2000" b="1" i="1" dirty="0" smtClean="0">
                <a:latin typeface="Consolas" pitchFamily="49" charset="0"/>
              </a:rPr>
              <a:t> http://192.168.1.18:3001/;</a:t>
            </a:r>
          </a:p>
          <a:p>
            <a:pPr lvl="1">
              <a:buNone/>
            </a:pPr>
            <a:r>
              <a:rPr lang="en-US" sz="2000" b="1" i="1" dirty="0" smtClean="0">
                <a:latin typeface="Consolas" pitchFamily="49" charset="0"/>
              </a:rPr>
              <a:t>        }</a:t>
            </a:r>
          </a:p>
          <a:p>
            <a:pPr lvl="1">
              <a:buNone/>
            </a:pPr>
            <a:r>
              <a:rPr lang="en-US" sz="2000" b="1" i="1" dirty="0" smtClean="0">
                <a:latin typeface="Consolas" pitchFamily="49" charset="0"/>
              </a:rPr>
              <a:t>}</a:t>
            </a:r>
          </a:p>
          <a:p>
            <a:endParaRPr lang="en-US" sz="2000" dirty="0" smtClean="0">
              <a:latin typeface="Consolas" pitchFamily="49" charset="0"/>
            </a:endParaRPr>
          </a:p>
          <a:p>
            <a:r>
              <a:rPr lang="en-US" sz="2000" dirty="0" err="1" smtClean="0">
                <a:latin typeface="Consolas" pitchFamily="49" charset="0"/>
              </a:rPr>
              <a:t>sudo</a:t>
            </a:r>
            <a:r>
              <a:rPr lang="en-US" sz="2000" dirty="0" smtClean="0">
                <a:latin typeface="Consolas" pitchFamily="49" charset="0"/>
              </a:rPr>
              <a:t> </a:t>
            </a:r>
            <a:r>
              <a:rPr lang="en-US" sz="2000" dirty="0" err="1" smtClean="0">
                <a:latin typeface="Consolas" pitchFamily="49" charset="0"/>
              </a:rPr>
              <a:t>nginx</a:t>
            </a:r>
            <a:r>
              <a:rPr lang="en-US" sz="2000" dirty="0" smtClean="0">
                <a:latin typeface="Consolas" pitchFamily="49" charset="0"/>
              </a:rPr>
              <a:t> -t</a:t>
            </a:r>
          </a:p>
          <a:p>
            <a:r>
              <a:rPr lang="en-US" sz="2000" dirty="0" err="1" smtClean="0">
                <a:latin typeface="Consolas" pitchFamily="49" charset="0"/>
              </a:rPr>
              <a:t>sudo</a:t>
            </a:r>
            <a:r>
              <a:rPr lang="en-US" sz="2000" dirty="0" smtClean="0">
                <a:latin typeface="Consolas" pitchFamily="49" charset="0"/>
              </a:rPr>
              <a:t> service </a:t>
            </a:r>
            <a:r>
              <a:rPr lang="en-US" sz="2000" dirty="0" err="1" smtClean="0">
                <a:latin typeface="Consolas" pitchFamily="49" charset="0"/>
              </a:rPr>
              <a:t>nginx</a:t>
            </a:r>
            <a:r>
              <a:rPr lang="en-US" sz="2000" dirty="0" smtClean="0">
                <a:latin typeface="Consolas" pitchFamily="49" charset="0"/>
              </a:rPr>
              <a:t> reload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 smtClean="0"/>
              <a:t>8. Test Passing Requests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dirty="0" smtClean="0">
                <a:latin typeface="+mj-lt"/>
                <a:hlinkClick r:id="rId2"/>
              </a:rPr>
              <a:t>http://192.168.1.18</a:t>
            </a:r>
            <a:endParaRPr lang="en-US" sz="2400" dirty="0" smtClean="0">
              <a:latin typeface="+mj-lt"/>
            </a:endParaRPr>
          </a:p>
          <a:p>
            <a:endParaRPr lang="en-US" sz="2400" dirty="0" smtClean="0">
              <a:latin typeface="+mj-lt"/>
            </a:endParaRPr>
          </a:p>
        </p:txBody>
      </p:sp>
      <p:pic>
        <p:nvPicPr>
          <p:cNvPr id="4" name="Picture 2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1981200" y="3352800"/>
            <a:ext cx="5102225" cy="13906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 smtClean="0"/>
              <a:t>9. Implement Load Balancing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000" dirty="0" err="1" smtClean="0">
                <a:latin typeface="Consolas" pitchFamily="49" charset="0"/>
              </a:rPr>
              <a:t>sudo</a:t>
            </a:r>
            <a:r>
              <a:rPr lang="en-US" sz="2000" dirty="0" smtClean="0">
                <a:latin typeface="Consolas" pitchFamily="49" charset="0"/>
              </a:rPr>
              <a:t> </a:t>
            </a:r>
            <a:r>
              <a:rPr lang="en-US" sz="2000" dirty="0" err="1" smtClean="0">
                <a:latin typeface="Consolas" pitchFamily="49" charset="0"/>
              </a:rPr>
              <a:t>nano</a:t>
            </a:r>
            <a:r>
              <a:rPr lang="en-US" sz="2000" dirty="0" smtClean="0">
                <a:latin typeface="Consolas" pitchFamily="49" charset="0"/>
              </a:rPr>
              <a:t> /etc/</a:t>
            </a:r>
            <a:r>
              <a:rPr lang="en-US" sz="2000" dirty="0" err="1" smtClean="0">
                <a:latin typeface="Consolas" pitchFamily="49" charset="0"/>
              </a:rPr>
              <a:t>nginx</a:t>
            </a:r>
            <a:r>
              <a:rPr lang="en-US" sz="2000" dirty="0" smtClean="0">
                <a:latin typeface="Consolas" pitchFamily="49" charset="0"/>
              </a:rPr>
              <a:t>/sites-available/default</a:t>
            </a:r>
          </a:p>
          <a:p>
            <a:pPr lvl="1">
              <a:buNone/>
            </a:pPr>
            <a:r>
              <a:rPr lang="en-US" sz="1600" b="1" i="1" dirty="0" smtClean="0">
                <a:latin typeface="Consolas" pitchFamily="49" charset="0"/>
              </a:rPr>
              <a:t>upstream </a:t>
            </a:r>
            <a:r>
              <a:rPr lang="en-US" sz="1600" b="1" i="1" dirty="0" err="1" smtClean="0">
                <a:latin typeface="Consolas" pitchFamily="49" charset="0"/>
              </a:rPr>
              <a:t>lbweb</a:t>
            </a:r>
            <a:r>
              <a:rPr lang="en-US" sz="1600" b="1" i="1" dirty="0" smtClean="0">
                <a:latin typeface="Consolas" pitchFamily="49" charset="0"/>
              </a:rPr>
              <a:t> {</a:t>
            </a:r>
          </a:p>
          <a:p>
            <a:pPr lvl="1">
              <a:buNone/>
            </a:pPr>
            <a:r>
              <a:rPr lang="en-US" sz="1600" b="1" i="1" dirty="0" smtClean="0">
                <a:latin typeface="Consolas" pitchFamily="49" charset="0"/>
              </a:rPr>
              <a:t>        server 192.168.1.19:3000 weight=1;</a:t>
            </a:r>
          </a:p>
          <a:p>
            <a:pPr lvl="1">
              <a:buNone/>
            </a:pPr>
            <a:r>
              <a:rPr lang="en-US" sz="1600" b="1" i="1" dirty="0" smtClean="0">
                <a:latin typeface="Consolas" pitchFamily="49" charset="0"/>
              </a:rPr>
              <a:t>        server 192.168.1.19:3001 weight=2;</a:t>
            </a:r>
          </a:p>
          <a:p>
            <a:pPr lvl="1">
              <a:buNone/>
            </a:pPr>
            <a:r>
              <a:rPr lang="en-US" sz="1600" b="1" i="1" dirty="0" smtClean="0">
                <a:latin typeface="Consolas" pitchFamily="49" charset="0"/>
              </a:rPr>
              <a:t>}</a:t>
            </a:r>
          </a:p>
          <a:p>
            <a:pPr lvl="1">
              <a:buNone/>
            </a:pPr>
            <a:endParaRPr lang="en-US" sz="1600" i="1" dirty="0" smtClean="0">
              <a:latin typeface="Consolas" pitchFamily="49" charset="0"/>
            </a:endParaRPr>
          </a:p>
          <a:p>
            <a:pPr lvl="1">
              <a:buNone/>
            </a:pPr>
            <a:r>
              <a:rPr lang="en-US" sz="1600" b="1" i="1" dirty="0" smtClean="0">
                <a:latin typeface="Consolas" pitchFamily="49" charset="0"/>
              </a:rPr>
              <a:t>server {</a:t>
            </a:r>
          </a:p>
          <a:p>
            <a:pPr lvl="1">
              <a:buNone/>
            </a:pPr>
            <a:r>
              <a:rPr lang="en-US" sz="1600" i="1" dirty="0" smtClean="0">
                <a:latin typeface="Consolas" pitchFamily="49" charset="0"/>
              </a:rPr>
              <a:t>	 ...</a:t>
            </a:r>
          </a:p>
          <a:p>
            <a:pPr lvl="1">
              <a:buNone/>
            </a:pPr>
            <a:r>
              <a:rPr lang="en-US" sz="1600" b="1" i="1" dirty="0" smtClean="0">
                <a:latin typeface="Consolas" pitchFamily="49" charset="0"/>
              </a:rPr>
              <a:t>        location / {</a:t>
            </a:r>
          </a:p>
          <a:p>
            <a:pPr lvl="1">
              <a:buNone/>
            </a:pPr>
            <a:r>
              <a:rPr lang="en-US" sz="1600" b="1" i="1" dirty="0" smtClean="0">
                <a:latin typeface="Consolas" pitchFamily="49" charset="0"/>
              </a:rPr>
              <a:t>            </a:t>
            </a:r>
            <a:r>
              <a:rPr lang="en-US" sz="1600" b="1" i="1" dirty="0" err="1" smtClean="0">
                <a:latin typeface="Consolas" pitchFamily="49" charset="0"/>
              </a:rPr>
              <a:t>proxy_pass</a:t>
            </a:r>
            <a:r>
              <a:rPr lang="en-US" sz="1600" b="1" i="1" dirty="0" smtClean="0">
                <a:latin typeface="Consolas" pitchFamily="49" charset="0"/>
              </a:rPr>
              <a:t> http://lbweb/;</a:t>
            </a:r>
          </a:p>
          <a:p>
            <a:pPr lvl="1">
              <a:buNone/>
            </a:pPr>
            <a:r>
              <a:rPr lang="en-US" sz="1600" b="1" i="1" dirty="0" smtClean="0">
                <a:latin typeface="Consolas" pitchFamily="49" charset="0"/>
              </a:rPr>
              <a:t>        }</a:t>
            </a:r>
          </a:p>
          <a:p>
            <a:pPr lvl="1">
              <a:buNone/>
            </a:pPr>
            <a:r>
              <a:rPr lang="en-US" sz="1600" i="1" dirty="0" smtClean="0">
                <a:latin typeface="Consolas" pitchFamily="49" charset="0"/>
              </a:rPr>
              <a:t>}</a:t>
            </a:r>
          </a:p>
          <a:p>
            <a:r>
              <a:rPr lang="en-US" sz="2000" dirty="0" err="1" smtClean="0">
                <a:latin typeface="Consolas" pitchFamily="49" charset="0"/>
              </a:rPr>
              <a:t>sudo</a:t>
            </a:r>
            <a:r>
              <a:rPr lang="en-US" sz="2000" dirty="0" smtClean="0">
                <a:latin typeface="Consolas" pitchFamily="49" charset="0"/>
              </a:rPr>
              <a:t> </a:t>
            </a:r>
            <a:r>
              <a:rPr lang="en-US" sz="2000" dirty="0" err="1" smtClean="0">
                <a:latin typeface="Consolas" pitchFamily="49" charset="0"/>
              </a:rPr>
              <a:t>nginx</a:t>
            </a:r>
            <a:r>
              <a:rPr lang="en-US" sz="2000" dirty="0" smtClean="0">
                <a:latin typeface="Consolas" pitchFamily="49" charset="0"/>
              </a:rPr>
              <a:t> -t</a:t>
            </a:r>
          </a:p>
          <a:p>
            <a:r>
              <a:rPr lang="en-US" sz="2000" dirty="0" err="1" smtClean="0">
                <a:latin typeface="Consolas" pitchFamily="49" charset="0"/>
              </a:rPr>
              <a:t>sudo</a:t>
            </a:r>
            <a:r>
              <a:rPr lang="en-US" sz="2000" dirty="0" smtClean="0">
                <a:latin typeface="Consolas" pitchFamily="49" charset="0"/>
              </a:rPr>
              <a:t> service </a:t>
            </a:r>
            <a:r>
              <a:rPr lang="en-US" sz="2000" dirty="0" err="1" smtClean="0">
                <a:latin typeface="Consolas" pitchFamily="49" charset="0"/>
              </a:rPr>
              <a:t>nginx</a:t>
            </a:r>
            <a:r>
              <a:rPr lang="en-US" sz="2000" dirty="0" smtClean="0">
                <a:latin typeface="Consolas" pitchFamily="49" charset="0"/>
              </a:rPr>
              <a:t> reload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 smtClean="0"/>
              <a:t>10. Test Load Balancing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200" dirty="0" smtClean="0">
                <a:latin typeface="+mj-lt"/>
                <a:hlinkClick r:id="rId2"/>
              </a:rPr>
              <a:t>http://192.168.1.18</a:t>
            </a:r>
            <a:r>
              <a:rPr lang="en-US" sz="2200" dirty="0" smtClean="0">
                <a:latin typeface="+mj-lt"/>
              </a:rPr>
              <a:t> (Use private browsing to prevent potential cache).</a:t>
            </a:r>
          </a:p>
          <a:p>
            <a:endParaRPr lang="en-US" sz="2200" dirty="0" smtClean="0">
              <a:latin typeface="+mj-lt"/>
            </a:endParaRPr>
          </a:p>
          <a:p>
            <a:endParaRPr lang="en-US" sz="2200" dirty="0" smtClean="0">
              <a:latin typeface="+mj-lt"/>
            </a:endParaRPr>
          </a:p>
          <a:p>
            <a:endParaRPr lang="en-US" sz="2200" dirty="0" smtClean="0">
              <a:latin typeface="+mj-lt"/>
            </a:endParaRPr>
          </a:p>
          <a:p>
            <a:endParaRPr lang="en-US" sz="2200" dirty="0" smtClean="0">
              <a:latin typeface="+mj-lt"/>
            </a:endParaRPr>
          </a:p>
          <a:p>
            <a:r>
              <a:rPr lang="en-US" sz="2200" dirty="0" smtClean="0">
                <a:hlinkClick r:id="rId2"/>
              </a:rPr>
              <a:t>http://192.168.1.18</a:t>
            </a:r>
            <a:endParaRPr lang="en-US" sz="2200" dirty="0" smtClean="0"/>
          </a:p>
          <a:p>
            <a:endParaRPr lang="en-US" sz="2200" dirty="0" smtClean="0">
              <a:latin typeface="+mj-lt"/>
            </a:endParaRPr>
          </a:p>
        </p:txBody>
      </p:sp>
      <p:pic>
        <p:nvPicPr>
          <p:cNvPr id="4" name="Picture 2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2057400" y="2419350"/>
            <a:ext cx="5102225" cy="13906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6147" name="Picture 3"/>
          <p:cNvPicPr>
            <a:picLocks noChangeAspect="1" noChangeArrowheads="1"/>
          </p:cNvPicPr>
          <p:nvPr/>
        </p:nvPicPr>
        <p:blipFill>
          <a:blip r:embed="rId4" cstate="print"/>
          <a:srcRect/>
          <a:stretch>
            <a:fillRect/>
          </a:stretch>
        </p:blipFill>
        <p:spPr bwMode="auto">
          <a:xfrm>
            <a:off x="2133600" y="4495800"/>
            <a:ext cx="5102225" cy="13906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2" descr="https://lh3.ggpht.com/1IfZLL2QDSjZ0wS7sUhaMlsAOS8BBzdR3wZ1WawgRn7KZAM8nEVZYMOUM-lqQb0ikIzp=w300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3276600" y="1905000"/>
            <a:ext cx="2857500" cy="28575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 smtClean="0"/>
              <a:t>1. Install </a:t>
            </a:r>
            <a:r>
              <a:rPr lang="en-US" dirty="0" err="1" smtClean="0"/>
              <a:t>haproxy</a:t>
            </a:r>
            <a:r>
              <a:rPr lang="en-US" dirty="0" smtClean="0"/>
              <a:t> on </a:t>
            </a:r>
            <a:r>
              <a:rPr lang="en-US" dirty="0" err="1" smtClean="0"/>
              <a:t>Ubuntu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000" dirty="0" err="1" smtClean="0">
                <a:latin typeface="Consolas" pitchFamily="49" charset="0"/>
              </a:rPr>
              <a:t>sudo</a:t>
            </a:r>
            <a:r>
              <a:rPr lang="en-US" sz="2000" dirty="0" smtClean="0">
                <a:latin typeface="Consolas" pitchFamily="49" charset="0"/>
              </a:rPr>
              <a:t> apt install </a:t>
            </a:r>
            <a:r>
              <a:rPr lang="en-US" sz="2000" dirty="0" err="1" smtClean="0">
                <a:latin typeface="Consolas" pitchFamily="49" charset="0"/>
              </a:rPr>
              <a:t>haproxy</a:t>
            </a:r>
            <a:endParaRPr lang="en-US" sz="2000" dirty="0" smtClean="0">
              <a:latin typeface="Consolas" pitchFamily="49" charset="0"/>
            </a:endParaRPr>
          </a:p>
          <a:p>
            <a:r>
              <a:rPr lang="en-US" sz="2000" dirty="0" err="1" smtClean="0">
                <a:latin typeface="Consolas" pitchFamily="49" charset="0"/>
              </a:rPr>
              <a:t>haproxy</a:t>
            </a:r>
            <a:r>
              <a:rPr lang="en-US" sz="2000" dirty="0" smtClean="0">
                <a:latin typeface="Consolas" pitchFamily="49" charset="0"/>
              </a:rPr>
              <a:t> -v</a:t>
            </a:r>
            <a:endParaRPr lang="en-US" sz="2000" dirty="0">
              <a:latin typeface="Consolas" pitchFamily="49" charset="0"/>
            </a:endParaRPr>
          </a:p>
        </p:txBody>
      </p:sp>
      <p:pic>
        <p:nvPicPr>
          <p:cNvPr id="7170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1143000" y="2667000"/>
            <a:ext cx="6717030" cy="77724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Build from Source in </a:t>
            </a:r>
            <a:r>
              <a:rPr lang="en-US" dirty="0" err="1" smtClean="0"/>
              <a:t>Ubuntu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000" dirty="0" err="1" smtClean="0">
                <a:latin typeface="Consolas" pitchFamily="49" charset="0"/>
              </a:rPr>
              <a:t>sudo</a:t>
            </a:r>
            <a:r>
              <a:rPr lang="en-US" sz="2000" dirty="0" smtClean="0">
                <a:latin typeface="Consolas" pitchFamily="49" charset="0"/>
              </a:rPr>
              <a:t> apt install </a:t>
            </a:r>
            <a:r>
              <a:rPr lang="en-US" sz="2000" dirty="0" err="1" smtClean="0">
                <a:latin typeface="Consolas" pitchFamily="49" charset="0"/>
              </a:rPr>
              <a:t>libssl</a:t>
            </a:r>
            <a:r>
              <a:rPr lang="en-US" sz="2000" dirty="0" smtClean="0">
                <a:latin typeface="Consolas" pitchFamily="49" charset="0"/>
              </a:rPr>
              <a:t>-dev</a:t>
            </a:r>
          </a:p>
          <a:p>
            <a:r>
              <a:rPr lang="en-US" sz="2000" dirty="0" err="1" smtClean="0">
                <a:latin typeface="Consolas" pitchFamily="49" charset="0"/>
              </a:rPr>
              <a:t>sudo</a:t>
            </a:r>
            <a:r>
              <a:rPr lang="en-US" sz="2000" dirty="0" smtClean="0">
                <a:latin typeface="Consolas" pitchFamily="49" charset="0"/>
              </a:rPr>
              <a:t> apt-get install zlib1g-dev</a:t>
            </a:r>
          </a:p>
          <a:p>
            <a:r>
              <a:rPr lang="en-US" sz="2000" dirty="0" smtClean="0">
                <a:latin typeface="Consolas" pitchFamily="49" charset="0"/>
              </a:rPr>
              <a:t>curl -O https://www.haproxy.org/download/2.4/src/haproxy-2.4.0.tar.gz</a:t>
            </a:r>
          </a:p>
          <a:p>
            <a:r>
              <a:rPr lang="en-US" sz="2000" dirty="0" smtClean="0">
                <a:latin typeface="Consolas" pitchFamily="49" charset="0"/>
              </a:rPr>
              <a:t>tar -</a:t>
            </a:r>
            <a:r>
              <a:rPr lang="en-US" sz="2000" dirty="0" err="1" smtClean="0">
                <a:latin typeface="Consolas" pitchFamily="49" charset="0"/>
              </a:rPr>
              <a:t>xf</a:t>
            </a:r>
            <a:r>
              <a:rPr lang="en-US" sz="2000" dirty="0" smtClean="0">
                <a:latin typeface="Consolas" pitchFamily="49" charset="0"/>
              </a:rPr>
              <a:t> haproxy-2.4.0.tar.gz</a:t>
            </a:r>
          </a:p>
          <a:p>
            <a:r>
              <a:rPr lang="en-US" sz="2000" dirty="0" err="1" smtClean="0">
                <a:latin typeface="Consolas" pitchFamily="49" charset="0"/>
              </a:rPr>
              <a:t>cd</a:t>
            </a:r>
            <a:r>
              <a:rPr lang="en-US" sz="2000" dirty="0" smtClean="0">
                <a:latin typeface="Consolas" pitchFamily="49" charset="0"/>
              </a:rPr>
              <a:t> haproxy-2.4.0</a:t>
            </a:r>
          </a:p>
          <a:p>
            <a:r>
              <a:rPr lang="en-US" sz="2000" dirty="0" smtClean="0">
                <a:latin typeface="Consolas" pitchFamily="49" charset="0"/>
              </a:rPr>
              <a:t>make -j4 TARGET=</a:t>
            </a:r>
            <a:r>
              <a:rPr lang="en-US" sz="2000" dirty="0" err="1" smtClean="0">
                <a:latin typeface="Consolas" pitchFamily="49" charset="0"/>
              </a:rPr>
              <a:t>linux-glibc</a:t>
            </a:r>
            <a:r>
              <a:rPr lang="en-US" sz="2000" dirty="0" smtClean="0">
                <a:latin typeface="Consolas" pitchFamily="49" charset="0"/>
              </a:rPr>
              <a:t> USE_ZLIB=yes USE_OPENSSL=yes</a:t>
            </a:r>
          </a:p>
          <a:p>
            <a:r>
              <a:rPr lang="en-US" sz="2000" dirty="0" err="1" smtClean="0">
                <a:latin typeface="Consolas" pitchFamily="49" charset="0"/>
              </a:rPr>
              <a:t>sudo</a:t>
            </a:r>
            <a:r>
              <a:rPr lang="en-US" sz="2000" dirty="0" smtClean="0">
                <a:latin typeface="Consolas" pitchFamily="49" charset="0"/>
              </a:rPr>
              <a:t> make install</a:t>
            </a:r>
          </a:p>
          <a:p>
            <a:r>
              <a:rPr lang="en-US" sz="2000" dirty="0" err="1" smtClean="0">
                <a:latin typeface="Consolas" pitchFamily="49" charset="0"/>
              </a:rPr>
              <a:t>haproxy</a:t>
            </a:r>
            <a:r>
              <a:rPr lang="en-US" sz="2000" dirty="0" smtClean="0">
                <a:latin typeface="Consolas" pitchFamily="49" charset="0"/>
              </a:rPr>
              <a:t> -v</a:t>
            </a:r>
            <a:endParaRPr lang="en-US" sz="2000" dirty="0">
              <a:latin typeface="Consolas" pitchFamily="49" charset="0"/>
            </a:endParaRP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 smtClean="0"/>
              <a:t>2. Start </a:t>
            </a:r>
            <a:r>
              <a:rPr lang="en-US" dirty="0" err="1" smtClean="0"/>
              <a:t>haproxy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000" dirty="0" err="1" smtClean="0">
                <a:latin typeface="Consolas" pitchFamily="49" charset="0"/>
              </a:rPr>
              <a:t>mkdir</a:t>
            </a:r>
            <a:r>
              <a:rPr lang="en-US" sz="2000" dirty="0" smtClean="0">
                <a:latin typeface="Consolas" pitchFamily="49" charset="0"/>
              </a:rPr>
              <a:t> </a:t>
            </a:r>
            <a:r>
              <a:rPr lang="en-US" sz="2000" dirty="0" err="1" smtClean="0">
                <a:latin typeface="Consolas" pitchFamily="49" charset="0"/>
              </a:rPr>
              <a:t>haproxy</a:t>
            </a:r>
            <a:endParaRPr lang="en-US" sz="2000" dirty="0" smtClean="0">
              <a:latin typeface="Consolas" pitchFamily="49" charset="0"/>
            </a:endParaRPr>
          </a:p>
          <a:p>
            <a:r>
              <a:rPr lang="en-US" sz="2000" dirty="0" err="1" smtClean="0">
                <a:latin typeface="Consolas" pitchFamily="49" charset="0"/>
              </a:rPr>
              <a:t>cd</a:t>
            </a:r>
            <a:r>
              <a:rPr lang="en-US" sz="2000" dirty="0" smtClean="0">
                <a:latin typeface="Consolas" pitchFamily="49" charset="0"/>
              </a:rPr>
              <a:t> </a:t>
            </a:r>
            <a:r>
              <a:rPr lang="en-US" sz="2000" dirty="0" err="1" smtClean="0">
                <a:latin typeface="Consolas" pitchFamily="49" charset="0"/>
              </a:rPr>
              <a:t>haproxy</a:t>
            </a:r>
            <a:endParaRPr lang="en-US" sz="2000" dirty="0" smtClean="0">
              <a:latin typeface="Consolas" pitchFamily="49" charset="0"/>
            </a:endParaRPr>
          </a:p>
          <a:p>
            <a:r>
              <a:rPr lang="en-US" sz="2000" dirty="0" err="1" smtClean="0">
                <a:latin typeface="Consolas" pitchFamily="49" charset="0"/>
              </a:rPr>
              <a:t>sudo</a:t>
            </a:r>
            <a:r>
              <a:rPr lang="en-US" sz="2000" dirty="0" smtClean="0">
                <a:latin typeface="Consolas" pitchFamily="49" charset="0"/>
              </a:rPr>
              <a:t> </a:t>
            </a:r>
            <a:r>
              <a:rPr lang="en-US" sz="2000" dirty="0" err="1" smtClean="0">
                <a:latin typeface="Consolas" pitchFamily="49" charset="0"/>
              </a:rPr>
              <a:t>nano</a:t>
            </a:r>
            <a:r>
              <a:rPr lang="en-US" sz="2000" dirty="0" smtClean="0">
                <a:latin typeface="Consolas" pitchFamily="49" charset="0"/>
              </a:rPr>
              <a:t> stats.cfg</a:t>
            </a:r>
          </a:p>
          <a:p>
            <a:endParaRPr lang="en-US" sz="2000" dirty="0" smtClean="0">
              <a:latin typeface="Consolas" pitchFamily="49" charset="0"/>
            </a:endParaRPr>
          </a:p>
          <a:p>
            <a:endParaRPr lang="en-US" sz="2000" dirty="0" smtClean="0">
              <a:latin typeface="Consolas" pitchFamily="49" charset="0"/>
            </a:endParaRPr>
          </a:p>
          <a:p>
            <a:endParaRPr lang="en-US" sz="2000" dirty="0" smtClean="0">
              <a:latin typeface="Consolas" pitchFamily="49" charset="0"/>
            </a:endParaRPr>
          </a:p>
          <a:p>
            <a:endParaRPr lang="en-US" sz="2000" dirty="0" smtClean="0">
              <a:latin typeface="Consolas" pitchFamily="49" charset="0"/>
            </a:endParaRPr>
          </a:p>
          <a:p>
            <a:endParaRPr lang="en-US" sz="2000" dirty="0" smtClean="0">
              <a:latin typeface="Consolas" pitchFamily="49" charset="0"/>
            </a:endParaRPr>
          </a:p>
          <a:p>
            <a:endParaRPr lang="en-US" sz="2000" dirty="0" smtClean="0">
              <a:latin typeface="Consolas" pitchFamily="49" charset="0"/>
            </a:endParaRPr>
          </a:p>
          <a:p>
            <a:r>
              <a:rPr lang="en-US" sz="2000" dirty="0" err="1" smtClean="0">
                <a:latin typeface="Consolas" pitchFamily="49" charset="0"/>
              </a:rPr>
              <a:t>haproxy</a:t>
            </a:r>
            <a:r>
              <a:rPr lang="en-US" sz="2000" dirty="0" smtClean="0">
                <a:latin typeface="Consolas" pitchFamily="49" charset="0"/>
              </a:rPr>
              <a:t> -f stats.cfg</a:t>
            </a:r>
          </a:p>
        </p:txBody>
      </p:sp>
      <p:sp>
        <p:nvSpPr>
          <p:cNvPr id="5" name="Rectangle 4"/>
          <p:cNvSpPr/>
          <p:nvPr/>
        </p:nvSpPr>
        <p:spPr>
          <a:xfrm>
            <a:off x="2286000" y="3170872"/>
            <a:ext cx="4572000" cy="1477328"/>
          </a:xfrm>
          <a:prstGeom prst="rect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r>
              <a:rPr lang="en-US" dirty="0" smtClean="0">
                <a:latin typeface="Consolas" pitchFamily="49" charset="0"/>
              </a:rPr>
              <a:t>frontend inbound</a:t>
            </a:r>
          </a:p>
          <a:p>
            <a:r>
              <a:rPr lang="en-US" dirty="0" smtClean="0">
                <a:latin typeface="Consolas" pitchFamily="49" charset="0"/>
              </a:rPr>
              <a:t>        mode http</a:t>
            </a:r>
          </a:p>
          <a:p>
            <a:r>
              <a:rPr lang="en-US" dirty="0" smtClean="0">
                <a:latin typeface="Consolas" pitchFamily="49" charset="0"/>
              </a:rPr>
              <a:t>        bind localhost:8000</a:t>
            </a:r>
          </a:p>
          <a:p>
            <a:r>
              <a:rPr lang="en-US" dirty="0" smtClean="0">
                <a:latin typeface="Consolas" pitchFamily="49" charset="0"/>
              </a:rPr>
              <a:t>        stats enable</a:t>
            </a:r>
          </a:p>
          <a:p>
            <a:r>
              <a:rPr lang="en-US" dirty="0" smtClean="0">
                <a:latin typeface="Consolas" pitchFamily="49" charset="0"/>
              </a:rPr>
              <a:t>        stats </a:t>
            </a:r>
            <a:r>
              <a:rPr lang="en-US" dirty="0" err="1" smtClean="0">
                <a:latin typeface="Consolas" pitchFamily="49" charset="0"/>
              </a:rPr>
              <a:t>uri</a:t>
            </a:r>
            <a:r>
              <a:rPr lang="en-US" dirty="0" smtClean="0">
                <a:latin typeface="Consolas" pitchFamily="49" charset="0"/>
              </a:rPr>
              <a:t> /</a:t>
            </a:r>
            <a:r>
              <a:rPr lang="en-US" dirty="0" err="1" smtClean="0">
                <a:latin typeface="Consolas" pitchFamily="49" charset="0"/>
              </a:rPr>
              <a:t>admin?stats</a:t>
            </a:r>
            <a:endParaRPr lang="en-US" dirty="0">
              <a:latin typeface="Consolas" pitchFamily="49" charset="0"/>
            </a:endParaRP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 smtClean="0"/>
              <a:t>3. Test </a:t>
            </a:r>
            <a:r>
              <a:rPr lang="en-US" dirty="0" err="1" smtClean="0"/>
              <a:t>haproxy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dirty="0" smtClean="0">
                <a:hlinkClick r:id="rId2"/>
              </a:rPr>
              <a:t>http://192.168.1.18:8000/admin?stats</a:t>
            </a:r>
            <a:endParaRPr lang="en-US" sz="2400" dirty="0" smtClean="0"/>
          </a:p>
          <a:p>
            <a:endParaRPr lang="en-US" sz="2400" dirty="0"/>
          </a:p>
        </p:txBody>
      </p:sp>
      <p:pic>
        <p:nvPicPr>
          <p:cNvPr id="8194" name="Picture 2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1101725" y="2390775"/>
            <a:ext cx="6940550" cy="37814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 smtClean="0"/>
              <a:t>4. Implement Load Balancing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000" dirty="0" err="1" smtClean="0">
                <a:latin typeface="Consolas" pitchFamily="49" charset="0"/>
              </a:rPr>
              <a:t>mkdir</a:t>
            </a:r>
            <a:r>
              <a:rPr lang="en-US" sz="2000" dirty="0" smtClean="0">
                <a:latin typeface="Consolas" pitchFamily="49" charset="0"/>
              </a:rPr>
              <a:t> </a:t>
            </a:r>
            <a:r>
              <a:rPr lang="en-US" sz="2000" dirty="0" err="1" smtClean="0">
                <a:latin typeface="Consolas" pitchFamily="49" charset="0"/>
              </a:rPr>
              <a:t>haproxy</a:t>
            </a:r>
            <a:endParaRPr lang="en-US" sz="2000" dirty="0" smtClean="0">
              <a:latin typeface="Consolas" pitchFamily="49" charset="0"/>
            </a:endParaRPr>
          </a:p>
          <a:p>
            <a:r>
              <a:rPr lang="en-US" sz="2000" dirty="0" err="1" smtClean="0">
                <a:latin typeface="Consolas" pitchFamily="49" charset="0"/>
              </a:rPr>
              <a:t>cd</a:t>
            </a:r>
            <a:r>
              <a:rPr lang="en-US" sz="2000" dirty="0" smtClean="0">
                <a:latin typeface="Consolas" pitchFamily="49" charset="0"/>
              </a:rPr>
              <a:t> </a:t>
            </a:r>
            <a:r>
              <a:rPr lang="en-US" sz="2000" dirty="0" err="1" smtClean="0">
                <a:latin typeface="Consolas" pitchFamily="49" charset="0"/>
              </a:rPr>
              <a:t>haproxy</a:t>
            </a:r>
            <a:endParaRPr lang="en-US" sz="2000" dirty="0" smtClean="0">
              <a:latin typeface="Consolas" pitchFamily="49" charset="0"/>
            </a:endParaRPr>
          </a:p>
          <a:p>
            <a:r>
              <a:rPr lang="en-US" sz="2000" dirty="0" err="1" smtClean="0">
                <a:latin typeface="Consolas" pitchFamily="49" charset="0"/>
              </a:rPr>
              <a:t>sudo</a:t>
            </a:r>
            <a:r>
              <a:rPr lang="en-US" sz="2000" dirty="0" smtClean="0">
                <a:latin typeface="Consolas" pitchFamily="49" charset="0"/>
              </a:rPr>
              <a:t> </a:t>
            </a:r>
            <a:r>
              <a:rPr lang="en-US" sz="2000" dirty="0" err="1" smtClean="0">
                <a:latin typeface="Consolas" pitchFamily="49" charset="0"/>
              </a:rPr>
              <a:t>nano</a:t>
            </a:r>
            <a:r>
              <a:rPr lang="en-US" sz="2000" dirty="0" smtClean="0">
                <a:latin typeface="Consolas" pitchFamily="49" charset="0"/>
              </a:rPr>
              <a:t> load-balance.cfg</a:t>
            </a:r>
          </a:p>
          <a:p>
            <a:endParaRPr lang="en-US" sz="2000" dirty="0" smtClean="0">
              <a:latin typeface="Consolas" pitchFamily="49" charset="0"/>
            </a:endParaRPr>
          </a:p>
          <a:p>
            <a:endParaRPr lang="en-US" sz="2000" dirty="0" smtClean="0">
              <a:latin typeface="Consolas" pitchFamily="49" charset="0"/>
            </a:endParaRPr>
          </a:p>
          <a:p>
            <a:endParaRPr lang="en-US" sz="2000" dirty="0" smtClean="0">
              <a:latin typeface="Consolas" pitchFamily="49" charset="0"/>
            </a:endParaRPr>
          </a:p>
          <a:p>
            <a:endParaRPr lang="en-US" sz="2000" dirty="0" smtClean="0">
              <a:latin typeface="Consolas" pitchFamily="49" charset="0"/>
            </a:endParaRPr>
          </a:p>
          <a:p>
            <a:endParaRPr lang="en-US" sz="2000" dirty="0" smtClean="0">
              <a:latin typeface="Consolas" pitchFamily="49" charset="0"/>
            </a:endParaRPr>
          </a:p>
          <a:p>
            <a:endParaRPr lang="en-US" sz="2000" dirty="0" smtClean="0">
              <a:latin typeface="Consolas" pitchFamily="49" charset="0"/>
            </a:endParaRPr>
          </a:p>
          <a:p>
            <a:r>
              <a:rPr lang="en-US" sz="2000" dirty="0" err="1" smtClean="0">
                <a:latin typeface="Consolas" pitchFamily="49" charset="0"/>
              </a:rPr>
              <a:t>haproxy</a:t>
            </a:r>
            <a:r>
              <a:rPr lang="en-US" sz="2000" dirty="0" smtClean="0">
                <a:latin typeface="Consolas" pitchFamily="49" charset="0"/>
              </a:rPr>
              <a:t> -f load-balance.cfg</a:t>
            </a:r>
          </a:p>
        </p:txBody>
      </p:sp>
      <p:sp>
        <p:nvSpPr>
          <p:cNvPr id="5" name="Rectangle 4"/>
          <p:cNvSpPr/>
          <p:nvPr/>
        </p:nvSpPr>
        <p:spPr>
          <a:xfrm>
            <a:off x="4876800" y="1828800"/>
            <a:ext cx="4038600" cy="3539430"/>
          </a:xfrm>
          <a:prstGeom prst="rect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r>
              <a:rPr lang="en-US" sz="1400" dirty="0" smtClean="0">
                <a:latin typeface="Consolas" pitchFamily="49" charset="0"/>
              </a:rPr>
              <a:t>defaults</a:t>
            </a:r>
          </a:p>
          <a:p>
            <a:r>
              <a:rPr lang="en-US" sz="1400" dirty="0" smtClean="0">
                <a:latin typeface="Consolas" pitchFamily="49" charset="0"/>
              </a:rPr>
              <a:t>  mode http</a:t>
            </a:r>
          </a:p>
          <a:p>
            <a:r>
              <a:rPr lang="en-US" sz="1400" dirty="0" smtClean="0">
                <a:latin typeface="Consolas" pitchFamily="49" charset="0"/>
              </a:rPr>
              <a:t>  timeout connect 5000ms</a:t>
            </a:r>
          </a:p>
          <a:p>
            <a:r>
              <a:rPr lang="en-US" sz="1400" dirty="0" smtClean="0">
                <a:latin typeface="Consolas" pitchFamily="49" charset="0"/>
              </a:rPr>
              <a:t>  timeout client 50000ms</a:t>
            </a:r>
          </a:p>
          <a:p>
            <a:r>
              <a:rPr lang="en-US" sz="1400" dirty="0" smtClean="0">
                <a:latin typeface="Consolas" pitchFamily="49" charset="0"/>
              </a:rPr>
              <a:t>  timeout server 50000ms</a:t>
            </a:r>
          </a:p>
          <a:p>
            <a:endParaRPr lang="en-US" sz="1400" dirty="0" smtClean="0">
              <a:latin typeface="Consolas" pitchFamily="49" charset="0"/>
            </a:endParaRPr>
          </a:p>
          <a:p>
            <a:r>
              <a:rPr lang="en-US" sz="1400" dirty="0" smtClean="0">
                <a:latin typeface="Consolas" pitchFamily="49" charset="0"/>
              </a:rPr>
              <a:t>frontend inbound</a:t>
            </a:r>
          </a:p>
          <a:p>
            <a:r>
              <a:rPr lang="en-US" sz="1400" dirty="0" smtClean="0">
                <a:latin typeface="Consolas" pitchFamily="49" charset="0"/>
              </a:rPr>
              <a:t>  bind 192.168.1.18:8000</a:t>
            </a:r>
          </a:p>
          <a:p>
            <a:r>
              <a:rPr lang="en-US" sz="1400" dirty="0" smtClean="0">
                <a:latin typeface="Consolas" pitchFamily="49" charset="0"/>
              </a:rPr>
              <a:t>  </a:t>
            </a:r>
            <a:r>
              <a:rPr lang="en-US" sz="1400" dirty="0" err="1" smtClean="0">
                <a:latin typeface="Consolas" pitchFamily="49" charset="0"/>
              </a:rPr>
              <a:t>default_backend</a:t>
            </a:r>
            <a:r>
              <a:rPr lang="en-US" sz="1400" dirty="0" smtClean="0">
                <a:latin typeface="Consolas" pitchFamily="49" charset="0"/>
              </a:rPr>
              <a:t> </a:t>
            </a:r>
            <a:r>
              <a:rPr lang="en-US" sz="1400" dirty="0" err="1" smtClean="0">
                <a:latin typeface="Consolas" pitchFamily="49" charset="0"/>
              </a:rPr>
              <a:t>lbweb</a:t>
            </a:r>
            <a:endParaRPr lang="en-US" sz="1400" dirty="0" smtClean="0">
              <a:latin typeface="Consolas" pitchFamily="49" charset="0"/>
            </a:endParaRPr>
          </a:p>
          <a:p>
            <a:r>
              <a:rPr lang="en-US" sz="1400" dirty="0" smtClean="0">
                <a:latin typeface="Consolas" pitchFamily="49" charset="0"/>
              </a:rPr>
              <a:t>  stats enable</a:t>
            </a:r>
          </a:p>
          <a:p>
            <a:r>
              <a:rPr lang="en-US" sz="1400" dirty="0" smtClean="0">
                <a:latin typeface="Consolas" pitchFamily="49" charset="0"/>
              </a:rPr>
              <a:t>  stats </a:t>
            </a:r>
            <a:r>
              <a:rPr lang="en-US" sz="1400" dirty="0" err="1" smtClean="0">
                <a:latin typeface="Consolas" pitchFamily="49" charset="0"/>
              </a:rPr>
              <a:t>uri</a:t>
            </a:r>
            <a:r>
              <a:rPr lang="en-US" sz="1400" dirty="0" smtClean="0">
                <a:latin typeface="Consolas" pitchFamily="49" charset="0"/>
              </a:rPr>
              <a:t> /</a:t>
            </a:r>
            <a:r>
              <a:rPr lang="en-US" sz="1400" dirty="0" err="1" smtClean="0">
                <a:latin typeface="Consolas" pitchFamily="49" charset="0"/>
              </a:rPr>
              <a:t>admin?stats</a:t>
            </a:r>
            <a:endParaRPr lang="en-US" sz="1400" dirty="0" smtClean="0">
              <a:latin typeface="Consolas" pitchFamily="49" charset="0"/>
            </a:endParaRPr>
          </a:p>
          <a:p>
            <a:endParaRPr lang="en-US" sz="1400" dirty="0" smtClean="0">
              <a:latin typeface="Consolas" pitchFamily="49" charset="0"/>
            </a:endParaRPr>
          </a:p>
          <a:p>
            <a:r>
              <a:rPr lang="en-US" sz="1400" dirty="0" smtClean="0">
                <a:latin typeface="Consolas" pitchFamily="49" charset="0"/>
              </a:rPr>
              <a:t>backend </a:t>
            </a:r>
            <a:r>
              <a:rPr lang="en-US" sz="1400" dirty="0" err="1" smtClean="0">
                <a:latin typeface="Consolas" pitchFamily="49" charset="0"/>
              </a:rPr>
              <a:t>lbweb</a:t>
            </a:r>
            <a:endParaRPr lang="en-US" sz="1400" dirty="0" smtClean="0">
              <a:latin typeface="Consolas" pitchFamily="49" charset="0"/>
            </a:endParaRPr>
          </a:p>
          <a:p>
            <a:r>
              <a:rPr lang="en-US" sz="1400" dirty="0" smtClean="0">
                <a:latin typeface="Consolas" pitchFamily="49" charset="0"/>
              </a:rPr>
              <a:t>  option </a:t>
            </a:r>
            <a:r>
              <a:rPr lang="en-US" sz="1400" dirty="0" err="1" smtClean="0">
                <a:latin typeface="Consolas" pitchFamily="49" charset="0"/>
              </a:rPr>
              <a:t>httpchk</a:t>
            </a:r>
            <a:r>
              <a:rPr lang="en-US" sz="1400" dirty="0" smtClean="0">
                <a:latin typeface="Consolas" pitchFamily="49" charset="0"/>
              </a:rPr>
              <a:t> GET /health</a:t>
            </a:r>
          </a:p>
          <a:p>
            <a:r>
              <a:rPr lang="en-US" sz="1400" dirty="0" smtClean="0">
                <a:latin typeface="Consolas" pitchFamily="49" charset="0"/>
              </a:rPr>
              <a:t>  server lbweb1 192.168.1.18:3001 check</a:t>
            </a:r>
          </a:p>
          <a:p>
            <a:r>
              <a:rPr lang="en-US" sz="1400" dirty="0" smtClean="0">
                <a:latin typeface="Consolas" pitchFamily="49" charset="0"/>
              </a:rPr>
              <a:t>  server lbweb2 192.168.1.18:3002 check</a:t>
            </a:r>
            <a:endParaRPr lang="en-US" sz="1400" dirty="0">
              <a:latin typeface="Consolas" pitchFamily="49" charset="0"/>
            </a:endParaRP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 smtClean="0"/>
              <a:t>5. Test Load Balancing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200" dirty="0" smtClean="0">
                <a:latin typeface="+mj-lt"/>
                <a:hlinkClick r:id="rId2"/>
              </a:rPr>
              <a:t>http://192.168.1.18:8000</a:t>
            </a:r>
            <a:r>
              <a:rPr lang="en-US" sz="2200" dirty="0" smtClean="0">
                <a:latin typeface="+mj-lt"/>
              </a:rPr>
              <a:t> (Use private browsing of different browsers to prevent potential cache).</a:t>
            </a:r>
          </a:p>
          <a:p>
            <a:endParaRPr lang="en-US" sz="2200" dirty="0" smtClean="0">
              <a:latin typeface="+mj-lt"/>
            </a:endParaRPr>
          </a:p>
          <a:p>
            <a:endParaRPr lang="en-US" sz="2200" dirty="0" smtClean="0">
              <a:latin typeface="+mj-lt"/>
            </a:endParaRPr>
          </a:p>
          <a:p>
            <a:endParaRPr lang="en-US" sz="2200" dirty="0" smtClean="0">
              <a:latin typeface="+mj-lt"/>
            </a:endParaRPr>
          </a:p>
          <a:p>
            <a:endParaRPr lang="en-US" sz="2200" dirty="0" smtClean="0">
              <a:latin typeface="+mj-lt"/>
            </a:endParaRPr>
          </a:p>
          <a:p>
            <a:r>
              <a:rPr lang="en-US" sz="2200" dirty="0" smtClean="0">
                <a:hlinkClick r:id="rId3"/>
              </a:rPr>
              <a:t>http://192.168.1.18</a:t>
            </a:r>
            <a:endParaRPr lang="en-US" sz="2200" dirty="0" smtClean="0"/>
          </a:p>
          <a:p>
            <a:endParaRPr lang="en-US" sz="2200" dirty="0" smtClean="0">
              <a:latin typeface="+mj-lt"/>
            </a:endParaRPr>
          </a:p>
        </p:txBody>
      </p:sp>
      <p:pic>
        <p:nvPicPr>
          <p:cNvPr id="9218" name="Picture 2"/>
          <p:cNvPicPr>
            <a:picLocks noChangeAspect="1" noChangeArrowheads="1"/>
          </p:cNvPicPr>
          <p:nvPr/>
        </p:nvPicPr>
        <p:blipFill>
          <a:blip r:embed="rId4" cstate="print"/>
          <a:srcRect/>
          <a:stretch>
            <a:fillRect/>
          </a:stretch>
        </p:blipFill>
        <p:spPr bwMode="auto">
          <a:xfrm>
            <a:off x="2413000" y="2514600"/>
            <a:ext cx="4318000" cy="11906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9219" name="Picture 3"/>
          <p:cNvPicPr>
            <a:picLocks noChangeAspect="1" noChangeArrowheads="1"/>
          </p:cNvPicPr>
          <p:nvPr/>
        </p:nvPicPr>
        <p:blipFill>
          <a:blip r:embed="rId5" cstate="print"/>
          <a:srcRect/>
          <a:stretch>
            <a:fillRect/>
          </a:stretch>
        </p:blipFill>
        <p:spPr bwMode="auto">
          <a:xfrm>
            <a:off x="1905000" y="4597400"/>
            <a:ext cx="5324475" cy="1270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 smtClean="0"/>
              <a:t>6. Review </a:t>
            </a:r>
            <a:r>
              <a:rPr lang="en-US" dirty="0" err="1" smtClean="0"/>
              <a:t>haproxy</a:t>
            </a:r>
            <a:r>
              <a:rPr lang="en-US" dirty="0" smtClean="0"/>
              <a:t> Reports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dirty="0" smtClean="0">
                <a:hlinkClick r:id="rId2"/>
              </a:rPr>
              <a:t>http://192.168.1.18:8000/admin?stats</a:t>
            </a:r>
            <a:endParaRPr lang="en-US" sz="2400" dirty="0" smtClean="0"/>
          </a:p>
          <a:p>
            <a:endParaRPr lang="en-US" sz="2400" dirty="0"/>
          </a:p>
        </p:txBody>
      </p:sp>
      <p:pic>
        <p:nvPicPr>
          <p:cNvPr id="10242" name="Picture 2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845820" y="2362200"/>
            <a:ext cx="7612380" cy="371094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2" descr="https://lh3.ggpht.com/1IfZLL2QDSjZ0wS7sUhaMlsAOS8BBzdR3wZ1WawgRn7KZAM8nEVZYMOUM-lqQb0ikIzp=w300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3276600" y="1905000"/>
            <a:ext cx="2857500" cy="28575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Windows Network Load Balancing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sz="2200" dirty="0" smtClean="0">
                <a:hlinkClick r:id="rId2"/>
              </a:rPr>
              <a:t>http://www.serverlab.ca/tutorials/windows/web-servers/load-balancing-web-servers-with-windows-server-2012-r2/</a:t>
            </a:r>
            <a:endParaRPr lang="en-US" sz="2200" dirty="0" smtClean="0"/>
          </a:p>
          <a:p>
            <a:r>
              <a:rPr lang="en-US" sz="2200" dirty="0" smtClean="0"/>
              <a:t>Launch the </a:t>
            </a:r>
            <a:r>
              <a:rPr lang="en-US" sz="2200" b="1" dirty="0" smtClean="0"/>
              <a:t>Network Load Balancing Manager</a:t>
            </a:r>
            <a:r>
              <a:rPr lang="en-US" sz="2200" dirty="0" smtClean="0"/>
              <a:t>. This can be done by clicking the </a:t>
            </a:r>
            <a:r>
              <a:rPr lang="en-US" sz="2200" b="1" dirty="0" smtClean="0"/>
              <a:t>Tools</a:t>
            </a:r>
            <a:r>
              <a:rPr lang="en-US" sz="2200" dirty="0" smtClean="0"/>
              <a:t> menu in the </a:t>
            </a:r>
            <a:r>
              <a:rPr lang="en-US" sz="2200" b="1" dirty="0" smtClean="0"/>
              <a:t>Server Manager</a:t>
            </a:r>
            <a:r>
              <a:rPr lang="en-US" sz="2200" dirty="0" smtClean="0"/>
              <a:t>.</a:t>
            </a:r>
          </a:p>
          <a:p>
            <a:r>
              <a:rPr lang="en-US" sz="2200" dirty="0" smtClean="0"/>
              <a:t>From the top menu of the Network Load Balancing Manager, click </a:t>
            </a:r>
            <a:r>
              <a:rPr lang="en-US" sz="2200" b="1" dirty="0" smtClean="0"/>
              <a:t>Cluster</a:t>
            </a:r>
            <a:r>
              <a:rPr lang="en-US" sz="2200" dirty="0" smtClean="0"/>
              <a:t>, and then click </a:t>
            </a:r>
            <a:r>
              <a:rPr lang="en-US" sz="2200" b="1" dirty="0" smtClean="0"/>
              <a:t>New</a:t>
            </a:r>
            <a:r>
              <a:rPr lang="en-US" sz="2200" dirty="0" smtClean="0"/>
              <a:t>.</a:t>
            </a:r>
          </a:p>
          <a:p>
            <a:r>
              <a:rPr lang="en-US" sz="2200" dirty="0" smtClean="0"/>
              <a:t>Sticky sessions.</a:t>
            </a:r>
          </a:p>
        </p:txBody>
      </p:sp>
      <p:pic>
        <p:nvPicPr>
          <p:cNvPr id="80898" name="Picture 2" descr="http://www.serverlab.ca/wp-content/uploads/2014/04/64-figure-03.png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1524000" y="4572000"/>
            <a:ext cx="6000750" cy="16764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2" descr="https://lh3.ggpht.com/1IfZLL2QDSjZ0wS7sUhaMlsAOS8BBzdR3wZ1WawgRn7KZAM8nEVZYMOUM-lqQb0ikIzp=w300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3276600" y="1905000"/>
            <a:ext cx="2857500" cy="28575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Load Balancing Algorithms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dirty="0" smtClean="0">
                <a:hlinkClick r:id="rId2"/>
              </a:rPr>
              <a:t>https://www.youtube.com/watch?v=kpvbOzHUakA</a:t>
            </a:r>
            <a:endParaRPr lang="en-US" sz="2400" dirty="0" smtClean="0"/>
          </a:p>
          <a:p>
            <a:r>
              <a:rPr lang="en-US" sz="2400" dirty="0" smtClean="0"/>
              <a:t>Round Robin</a:t>
            </a:r>
          </a:p>
          <a:p>
            <a:r>
              <a:rPr lang="en-US" sz="2400" dirty="0" smtClean="0"/>
              <a:t>Weighted Round Robin</a:t>
            </a:r>
          </a:p>
          <a:p>
            <a:r>
              <a:rPr lang="en-US" sz="2400" dirty="0" smtClean="0"/>
              <a:t>Random</a:t>
            </a:r>
          </a:p>
          <a:p>
            <a:r>
              <a:rPr lang="en-US" sz="2400" dirty="0" smtClean="0"/>
              <a:t>Consistent Hashing</a:t>
            </a:r>
          </a:p>
          <a:p>
            <a:r>
              <a:rPr lang="en-US" sz="2400" dirty="0" smtClean="0"/>
              <a:t>Least Connections / Least Requests</a:t>
            </a:r>
          </a:p>
          <a:p>
            <a:r>
              <a:rPr lang="en-US" sz="2400" dirty="0" smtClean="0"/>
              <a:t>Power-of-Two Choices (common in large-scale RPC systems)</a:t>
            </a:r>
            <a:endParaRPr lang="en-US" sz="2400" dirty="0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Sticky Routing Algorithms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800" dirty="0" smtClean="0"/>
              <a:t>Select backend via </a:t>
            </a:r>
            <a:r>
              <a:rPr lang="en-US" sz="2800" i="1" dirty="0" smtClean="0">
                <a:solidFill>
                  <a:srgbClr val="C00000"/>
                </a:solidFill>
              </a:rPr>
              <a:t>hash of request attributes</a:t>
            </a:r>
            <a:r>
              <a:rPr lang="en-US" sz="2800" dirty="0" smtClean="0"/>
              <a:t>.</a:t>
            </a:r>
          </a:p>
          <a:p>
            <a:pPr lvl="1"/>
            <a:r>
              <a:rPr lang="en-US" sz="2400" dirty="0" smtClean="0"/>
              <a:t>Source IP hash</a:t>
            </a:r>
          </a:p>
          <a:p>
            <a:pPr lvl="1"/>
            <a:r>
              <a:rPr lang="en-US" sz="2400" dirty="0" smtClean="0"/>
              <a:t>5-tuple hash (</a:t>
            </a:r>
            <a:r>
              <a:rPr lang="fr-FR" sz="2400" dirty="0" smtClean="0"/>
              <a:t>source IP </a:t>
            </a:r>
            <a:r>
              <a:rPr lang="fr-FR" sz="2400" dirty="0" err="1" smtClean="0"/>
              <a:t>address</a:t>
            </a:r>
            <a:r>
              <a:rPr lang="fr-FR" sz="2400" dirty="0" smtClean="0"/>
              <a:t>, destination IP </a:t>
            </a:r>
            <a:r>
              <a:rPr lang="fr-FR" sz="2400" dirty="0" err="1" smtClean="0"/>
              <a:t>address</a:t>
            </a:r>
            <a:r>
              <a:rPr lang="fr-FR" sz="2400" dirty="0" smtClean="0"/>
              <a:t>, source port, destination port, </a:t>
            </a:r>
            <a:r>
              <a:rPr lang="fr-FR" sz="2400" dirty="0" err="1" smtClean="0"/>
              <a:t>protocol</a:t>
            </a:r>
            <a:r>
              <a:rPr lang="fr-FR" sz="2400" dirty="0" smtClean="0"/>
              <a:t> (e.g., TCP, UDP)</a:t>
            </a:r>
            <a:r>
              <a:rPr lang="en-US" sz="2400" dirty="0" smtClean="0"/>
              <a:t>)</a:t>
            </a:r>
          </a:p>
          <a:p>
            <a:pPr lvl="1"/>
            <a:r>
              <a:rPr lang="en-US" sz="2400" dirty="0" smtClean="0"/>
              <a:t>URL hash</a:t>
            </a:r>
          </a:p>
          <a:p>
            <a:pPr lvl="1"/>
            <a:r>
              <a:rPr lang="en-US" sz="2400" dirty="0" smtClean="0"/>
              <a:t>Header/cookie hash</a:t>
            </a:r>
          </a:p>
          <a:p>
            <a:pPr lvl="1"/>
            <a:r>
              <a:rPr lang="en-US" sz="2400" dirty="0" smtClean="0"/>
              <a:t>Consistent hashing</a:t>
            </a:r>
          </a:p>
          <a:p>
            <a:pPr lvl="1"/>
            <a:r>
              <a:rPr lang="en-US" sz="2400" dirty="0" smtClean="0"/>
              <a:t>Rendezvous (Highest Random Weight) hashing</a:t>
            </a:r>
          </a:p>
          <a:p>
            <a:pPr lvl="1"/>
            <a:r>
              <a:rPr lang="en-US" sz="2400" dirty="0" smtClean="0"/>
              <a:t>Maglev hashing</a:t>
            </a:r>
            <a:endParaRPr lang="en-US" sz="2400" dirty="0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More about Algorithms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dirty="0" smtClean="0">
                <a:hlinkClick r:id="rId2"/>
              </a:rPr>
              <a:t>https://www.youtube.com/watch?v=6NdxUY1La2I</a:t>
            </a:r>
            <a:endParaRPr lang="en-US" sz="2400" dirty="0" smtClean="0"/>
          </a:p>
          <a:p>
            <a:endParaRPr lang="en-US" sz="2400" dirty="0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The Tail at Scale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dirty="0" smtClean="0"/>
              <a:t>If:</a:t>
            </a:r>
          </a:p>
          <a:p>
            <a:pPr>
              <a:buNone/>
            </a:pPr>
            <a:r>
              <a:rPr lang="en-US" sz="2400" dirty="0" smtClean="0"/>
              <a:t>	Each </a:t>
            </a:r>
            <a:r>
              <a:rPr lang="en-US" sz="2400" dirty="0" err="1" smtClean="0"/>
              <a:t>subrequest</a:t>
            </a:r>
            <a:r>
              <a:rPr lang="en-US" sz="2400" dirty="0" smtClean="0"/>
              <a:t> has </a:t>
            </a:r>
            <a:r>
              <a:rPr lang="en-US" sz="2400" b="1" dirty="0" smtClean="0"/>
              <a:t>1% probability</a:t>
            </a:r>
            <a:r>
              <a:rPr lang="en-US" sz="2400" dirty="0" smtClean="0"/>
              <a:t> of being slow (p99 event),</a:t>
            </a:r>
          </a:p>
          <a:p>
            <a:pPr>
              <a:buNone/>
            </a:pPr>
            <a:r>
              <a:rPr lang="en-US" sz="2400" dirty="0" smtClean="0"/>
              <a:t>	A page requires </a:t>
            </a:r>
            <a:r>
              <a:rPr lang="en-US" sz="2400" b="1" dirty="0" smtClean="0"/>
              <a:t>100 parallel </a:t>
            </a:r>
            <a:r>
              <a:rPr lang="en-US" sz="2400" b="1" dirty="0" err="1" smtClean="0"/>
              <a:t>subrequests</a:t>
            </a:r>
            <a:r>
              <a:rPr lang="en-US" sz="2400" dirty="0" smtClean="0"/>
              <a:t>,</a:t>
            </a:r>
          </a:p>
          <a:p>
            <a:r>
              <a:rPr lang="en-US" sz="2400" dirty="0" smtClean="0"/>
              <a:t>Then:</a:t>
            </a:r>
          </a:p>
          <a:p>
            <a:pPr>
              <a:buNone/>
            </a:pPr>
            <a:r>
              <a:rPr lang="en-US" sz="2400" dirty="0" smtClean="0"/>
              <a:t>	</a:t>
            </a:r>
            <a:r>
              <a:rPr lang="en-US" sz="2400" b="1" dirty="0" smtClean="0"/>
              <a:t>P(at least one slow) </a:t>
            </a:r>
            <a:r>
              <a:rPr lang="en-US" sz="2400" dirty="0" smtClean="0"/>
              <a:t>≈ 1 − (0.99)</a:t>
            </a:r>
            <a:r>
              <a:rPr lang="en-US" sz="2400" baseline="30000" dirty="0" smtClean="0"/>
              <a:t>100 </a:t>
            </a:r>
            <a:r>
              <a:rPr lang="en-US" sz="2400" dirty="0" smtClean="0"/>
              <a:t>≈ </a:t>
            </a:r>
            <a:r>
              <a:rPr lang="en-US" sz="2400" b="1" dirty="0" smtClean="0"/>
              <a:t>63%</a:t>
            </a:r>
            <a:r>
              <a:rPr lang="en-US" sz="2400" dirty="0" smtClean="0"/>
              <a:t> </a:t>
            </a:r>
          </a:p>
          <a:p>
            <a:r>
              <a:rPr lang="en-US" sz="2400" dirty="0" smtClean="0"/>
              <a:t>So even if each component is “</a:t>
            </a:r>
            <a:r>
              <a:rPr lang="en-US" sz="2400" i="1" dirty="0" smtClean="0"/>
              <a:t>99% fast</a:t>
            </a:r>
            <a:r>
              <a:rPr lang="en-US" sz="2400" dirty="0" smtClean="0"/>
              <a:t>,” the overall request is </a:t>
            </a:r>
            <a:r>
              <a:rPr lang="en-US" sz="2400" i="1" dirty="0" smtClean="0">
                <a:solidFill>
                  <a:srgbClr val="C00000"/>
                </a:solidFill>
              </a:rPr>
              <a:t>slow most of the time</a:t>
            </a:r>
            <a:r>
              <a:rPr lang="en-US" sz="2400" dirty="0" smtClean="0"/>
              <a:t>.</a:t>
            </a:r>
          </a:p>
          <a:p>
            <a:r>
              <a:rPr lang="en-US" sz="2400" dirty="0" smtClean="0"/>
              <a:t>This is why tail latency dominates user experience at scale.</a:t>
            </a:r>
            <a:endParaRPr lang="en-US" sz="2400" dirty="0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Tail Latency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dirty="0" smtClean="0"/>
              <a:t>Instead of asking:</a:t>
            </a:r>
          </a:p>
          <a:p>
            <a:pPr>
              <a:buNone/>
            </a:pPr>
            <a:r>
              <a:rPr lang="en-US" sz="2400" dirty="0" smtClean="0"/>
              <a:t>	"What is the </a:t>
            </a:r>
            <a:r>
              <a:rPr lang="en-US" sz="2400" i="1" dirty="0" smtClean="0">
                <a:solidFill>
                  <a:srgbClr val="C00000"/>
                </a:solidFill>
              </a:rPr>
              <a:t>average</a:t>
            </a:r>
            <a:r>
              <a:rPr lang="en-US" sz="2400" dirty="0" smtClean="0"/>
              <a:t> latency?"</a:t>
            </a:r>
          </a:p>
          <a:p>
            <a:r>
              <a:rPr lang="en-US" sz="2400" dirty="0" smtClean="0"/>
              <a:t>tail latency asks:</a:t>
            </a:r>
          </a:p>
          <a:p>
            <a:pPr>
              <a:buNone/>
            </a:pPr>
            <a:r>
              <a:rPr lang="en-US" sz="2400" dirty="0" smtClean="0"/>
              <a:t>	"How slow are the slowest 1% (or 0.1%) of requests?"</a:t>
            </a:r>
          </a:p>
          <a:p>
            <a:r>
              <a:rPr lang="en-US" sz="2400" dirty="0" smtClean="0"/>
              <a:t>The </a:t>
            </a:r>
            <a:r>
              <a:rPr lang="en-US" sz="2400" b="1" dirty="0" smtClean="0"/>
              <a:t>p-</a:t>
            </a:r>
            <a:r>
              <a:rPr lang="en-US" sz="2400" b="1" dirty="0" err="1" smtClean="0"/>
              <a:t>th</a:t>
            </a:r>
            <a:r>
              <a:rPr lang="en-US" sz="2400" b="1" dirty="0" smtClean="0"/>
              <a:t> percentile latency</a:t>
            </a:r>
            <a:r>
              <a:rPr lang="en-US" sz="2400" dirty="0" smtClean="0"/>
              <a:t> is the value </a:t>
            </a:r>
            <a:r>
              <a:rPr lang="en-US" sz="2400" dirty="0" err="1" smtClean="0"/>
              <a:t>t</a:t>
            </a:r>
            <a:r>
              <a:rPr lang="en-US" sz="2400" baseline="-25000" dirty="0" err="1" smtClean="0"/>
              <a:t>p</a:t>
            </a:r>
            <a:r>
              <a:rPr lang="en-US" sz="2400" dirty="0" smtClean="0"/>
              <a:t>​ such that:</a:t>
            </a:r>
          </a:p>
          <a:p>
            <a:pPr>
              <a:buNone/>
            </a:pPr>
            <a:r>
              <a:rPr lang="en-US" sz="2400" dirty="0" smtClean="0"/>
              <a:t>	P( T ≤ </a:t>
            </a:r>
            <a:r>
              <a:rPr lang="en-US" sz="2400" dirty="0" err="1" smtClean="0"/>
              <a:t>t</a:t>
            </a:r>
            <a:r>
              <a:rPr lang="en-US" sz="2400" baseline="-25000" dirty="0" err="1" smtClean="0"/>
              <a:t>p</a:t>
            </a:r>
            <a:r>
              <a:rPr lang="en-US" sz="2400" dirty="0" smtClean="0"/>
              <a:t> ) = p</a:t>
            </a:r>
          </a:p>
          <a:p>
            <a:pPr>
              <a:buNone/>
            </a:pPr>
            <a:r>
              <a:rPr lang="en-US" sz="2400" b="1" dirty="0" smtClean="0"/>
              <a:t>	p99 latency</a:t>
            </a:r>
            <a:r>
              <a:rPr lang="en-US" sz="2400" dirty="0" smtClean="0"/>
              <a:t>: 99% of requests complete </a:t>
            </a:r>
            <a:r>
              <a:rPr lang="en-US" sz="2400" b="1" dirty="0" smtClean="0"/>
              <a:t>faster</a:t>
            </a:r>
            <a:r>
              <a:rPr lang="en-US" sz="2400" dirty="0" smtClean="0"/>
              <a:t> than this value.</a:t>
            </a:r>
          </a:p>
          <a:p>
            <a:pPr>
              <a:buNone/>
            </a:pPr>
            <a:r>
              <a:rPr lang="en-US" sz="2400" b="1" dirty="0" smtClean="0"/>
              <a:t>	p99.9 latency</a:t>
            </a:r>
            <a:r>
              <a:rPr lang="en-US" sz="2400" dirty="0" smtClean="0"/>
              <a:t>: 99.9% complete </a:t>
            </a:r>
            <a:r>
              <a:rPr lang="en-US" sz="2400" b="1" dirty="0" smtClean="0"/>
              <a:t>faster</a:t>
            </a:r>
            <a:r>
              <a:rPr lang="en-US" sz="2400" dirty="0" smtClean="0"/>
              <a:t>.</a:t>
            </a:r>
          </a:p>
          <a:p>
            <a:r>
              <a:rPr lang="en-US" sz="2400" i="1" dirty="0" smtClean="0">
                <a:solidFill>
                  <a:srgbClr val="C00000"/>
                </a:solidFill>
              </a:rPr>
              <a:t>Tail latency</a:t>
            </a:r>
            <a:r>
              <a:rPr lang="en-US" sz="2400" dirty="0" smtClean="0"/>
              <a:t> is the latency experienced by </a:t>
            </a:r>
            <a:r>
              <a:rPr lang="en-US" sz="2400" u="sng" dirty="0" smtClean="0"/>
              <a:t>the slowest fraction</a:t>
            </a:r>
            <a:r>
              <a:rPr lang="en-US" sz="2400" dirty="0" smtClean="0"/>
              <a:t> of requests in a system, typically measured at high percentiles (p95, p99, p99.9). Mathematically precise: </a:t>
            </a:r>
            <a:r>
              <a:rPr lang="en-US" sz="2400" b="1" dirty="0" smtClean="0"/>
              <a:t>right-tail latency.</a:t>
            </a:r>
            <a:endParaRPr lang="en-US" sz="2400" dirty="0" smtClean="0"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p99 = 10 ms Meaning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800" b="1" dirty="0" smtClean="0"/>
              <a:t>p99 = 10 ms</a:t>
            </a:r>
            <a:r>
              <a:rPr lang="en-US" sz="2800" dirty="0" smtClean="0"/>
              <a:t> means the </a:t>
            </a:r>
            <a:r>
              <a:rPr lang="en-US" sz="2800" b="1" dirty="0" smtClean="0"/>
              <a:t>99th percentile latency is 10 milliseconds</a:t>
            </a:r>
            <a:r>
              <a:rPr lang="en-US" sz="2800" dirty="0" smtClean="0"/>
              <a:t>.</a:t>
            </a:r>
          </a:p>
          <a:p>
            <a:r>
              <a:rPr lang="en-US" sz="2800" dirty="0" smtClean="0"/>
              <a:t>In practical terms, if you measure 10,000 requests and sort them from fastest to slowest:</a:t>
            </a:r>
          </a:p>
          <a:p>
            <a:pPr lvl="1"/>
            <a:r>
              <a:rPr lang="en-US" sz="2400" dirty="0" smtClean="0"/>
              <a:t>About </a:t>
            </a:r>
            <a:r>
              <a:rPr lang="en-US" sz="2400" b="1" dirty="0" smtClean="0"/>
              <a:t>9,900 requests finish in 10 ms or less</a:t>
            </a:r>
            <a:r>
              <a:rPr lang="en-US" sz="2400" dirty="0" smtClean="0"/>
              <a:t>. </a:t>
            </a:r>
          </a:p>
          <a:p>
            <a:pPr lvl="1"/>
            <a:r>
              <a:rPr lang="en-US" sz="2400" dirty="0" smtClean="0"/>
              <a:t>About </a:t>
            </a:r>
            <a:r>
              <a:rPr lang="en-US" sz="2400" b="1" dirty="0" smtClean="0"/>
              <a:t>100 requests take longer than 10 </a:t>
            </a:r>
            <a:r>
              <a:rPr lang="en-US" sz="2400" b="1" dirty="0" err="1" smtClean="0"/>
              <a:t>ms</a:t>
            </a:r>
            <a:r>
              <a:rPr lang="en-US" sz="2400" dirty="0" err="1" smtClean="0"/>
              <a:t>.</a:t>
            </a:r>
            <a:endParaRPr lang="en-US" sz="2400" dirty="0" smtClean="0"/>
          </a:p>
          <a:p>
            <a:r>
              <a:rPr lang="en-US" sz="2800" dirty="0" smtClean="0"/>
              <a:t>One important nuance is that </a:t>
            </a:r>
            <a:r>
              <a:rPr lang="en-US" sz="2800" b="1" dirty="0" smtClean="0"/>
              <a:t>p99 = 10 ms does not mean the slowest request takes 10 </a:t>
            </a:r>
            <a:r>
              <a:rPr lang="en-US" sz="2800" b="1" dirty="0" err="1" smtClean="0"/>
              <a:t>ms</a:t>
            </a:r>
            <a:r>
              <a:rPr lang="en-US" sz="2800" dirty="0" err="1" smtClean="0"/>
              <a:t>.</a:t>
            </a:r>
            <a:r>
              <a:rPr lang="en-US" sz="2800" dirty="0" smtClean="0"/>
              <a:t> The maximum could be 20 ms, 500 ms, or several seconds.</a:t>
            </a:r>
            <a:endParaRPr lang="en-US" sz="2800" dirty="0"/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Practical Implication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b="1" dirty="0" smtClean="0"/>
              <a:t>Set an SLO (Service Level Objective):</a:t>
            </a:r>
            <a:r>
              <a:rPr lang="en-US" sz="2400" dirty="0" smtClean="0"/>
              <a:t> "99% of requests must complete within 10 </a:t>
            </a:r>
            <a:r>
              <a:rPr lang="en-US" sz="2400" dirty="0" err="1" smtClean="0"/>
              <a:t>ms.</a:t>
            </a:r>
            <a:r>
              <a:rPr lang="en-US" sz="2400" dirty="0" smtClean="0"/>
              <a:t>"</a:t>
            </a:r>
          </a:p>
          <a:p>
            <a:r>
              <a:rPr lang="en-US" sz="2400" b="1" dirty="0" smtClean="0"/>
              <a:t>Detect regressions:</a:t>
            </a:r>
            <a:r>
              <a:rPr lang="en-US" sz="2400" dirty="0" smtClean="0"/>
              <a:t> If a new release changes p99 from 10 ms to 25 ms while p50 stays at 3 ms, the release probably introduced a tail-latency problem.</a:t>
            </a:r>
          </a:p>
          <a:p>
            <a:r>
              <a:rPr lang="en-US" sz="2400" b="1" dirty="0" smtClean="0"/>
              <a:t>Create alerts:</a:t>
            </a:r>
            <a:r>
              <a:rPr lang="en-US" sz="2400" dirty="0" smtClean="0"/>
              <a:t> Alert when p99 exceeds, say, 15 ms for a sustained period.</a:t>
            </a:r>
          </a:p>
          <a:p>
            <a:r>
              <a:rPr lang="en-US" sz="2400" b="1" dirty="0" smtClean="0"/>
              <a:t>Compare implementations:</a:t>
            </a:r>
            <a:r>
              <a:rPr lang="en-US" sz="2400" dirty="0" smtClean="0"/>
              <a:t> Version A has p99 = 10 ms and Version B has p99 = 18 ms, so A gives more predictable latency.</a:t>
            </a:r>
          </a:p>
          <a:p>
            <a:r>
              <a:rPr lang="en-US" sz="2400" b="1" dirty="0" smtClean="0"/>
              <a:t>Test capacity:</a:t>
            </a:r>
            <a:r>
              <a:rPr lang="en-US" sz="2400" dirty="0" smtClean="0"/>
              <a:t> Run load tests at 1,000, 5,000, and 10,000 requests/sec and observe when p99 begins increasing sharply.</a:t>
            </a:r>
            <a:endParaRPr lang="en-US" sz="2400" dirty="0"/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Tail-tolerant </a:t>
            </a:r>
            <a:r>
              <a:rPr lang="en-US" smtClean="0"/>
              <a:t>Techniques [2]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i="1" dirty="0" smtClean="0">
                <a:solidFill>
                  <a:srgbClr val="C00000"/>
                </a:solidFill>
              </a:rPr>
              <a:t>Hedged requests</a:t>
            </a:r>
            <a:r>
              <a:rPr lang="en-US" sz="2400" dirty="0" smtClean="0"/>
              <a:t>. A simple way to curb latency variability is to issue the same request to </a:t>
            </a:r>
            <a:r>
              <a:rPr lang="en-US" sz="2400" u="sng" dirty="0" smtClean="0"/>
              <a:t>multiple replicas</a:t>
            </a:r>
            <a:r>
              <a:rPr lang="en-US" sz="2400" dirty="0" smtClean="0"/>
              <a:t> and use the results from whichever replica responds </a:t>
            </a:r>
            <a:r>
              <a:rPr lang="en-US" sz="2400" u="sng" dirty="0" smtClean="0"/>
              <a:t>first</a:t>
            </a:r>
            <a:r>
              <a:rPr lang="en-US" sz="2400" dirty="0" smtClean="0"/>
              <a:t>.</a:t>
            </a:r>
          </a:p>
          <a:p>
            <a:r>
              <a:rPr lang="en-US" sz="2400" i="1" dirty="0" smtClean="0">
                <a:solidFill>
                  <a:srgbClr val="C00000"/>
                </a:solidFill>
              </a:rPr>
              <a:t>Micro-partitions</a:t>
            </a:r>
            <a:r>
              <a:rPr lang="en-US" sz="2400" dirty="0" smtClean="0"/>
              <a:t>. To combat </a:t>
            </a:r>
            <a:r>
              <a:rPr lang="en-US" sz="2400" u="sng" dirty="0" smtClean="0"/>
              <a:t>imbalance</a:t>
            </a:r>
            <a:r>
              <a:rPr lang="en-US" sz="2400" dirty="0" smtClean="0"/>
              <a:t>, many of Google’s systems generate many </a:t>
            </a:r>
            <a:r>
              <a:rPr lang="en-US" sz="2400" u="sng" dirty="0" smtClean="0"/>
              <a:t>more partitions</a:t>
            </a:r>
            <a:r>
              <a:rPr lang="en-US" sz="2400" dirty="0" smtClean="0"/>
              <a:t> than there are machines in the service, then do dynamic assignment and </a:t>
            </a:r>
            <a:r>
              <a:rPr lang="en-US" sz="2400" u="sng" dirty="0" smtClean="0"/>
              <a:t>load balancing of these partitions</a:t>
            </a:r>
            <a:r>
              <a:rPr lang="en-US" sz="2400" dirty="0" smtClean="0"/>
              <a:t> to particular machines.</a:t>
            </a:r>
          </a:p>
          <a:p>
            <a:r>
              <a:rPr lang="en-US" sz="2400" i="1" dirty="0" smtClean="0">
                <a:solidFill>
                  <a:srgbClr val="C00000"/>
                </a:solidFill>
              </a:rPr>
              <a:t>Selective replication</a:t>
            </a:r>
            <a:r>
              <a:rPr lang="en-US" sz="2400" dirty="0" smtClean="0"/>
              <a:t>. An enhancement of the micro-partitioning scheme is to detect or even predict certain items that are likely to cause load imbalance and create additional replicas of these items.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2" descr="https://lh3.ggpht.com/1IfZLL2QDSjZ0wS7sUhaMlsAOS8BBzdR3wZ1WawgRn7KZAM8nEVZYMOUM-lqQb0ikIzp=w300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3276600" y="1905000"/>
            <a:ext cx="2857500" cy="28575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 smtClean="0"/>
              <a:t>Traefik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200" dirty="0" smtClean="0">
                <a:hlinkClick r:id="rId2"/>
              </a:rPr>
              <a:t>https://traefik.io/traefik</a:t>
            </a:r>
            <a:endParaRPr lang="en-US" sz="2200" dirty="0" smtClean="0"/>
          </a:p>
          <a:p>
            <a:r>
              <a:rPr lang="en-US" sz="2200" dirty="0" smtClean="0"/>
              <a:t>Unlike a traditional reverse proxy, which requires manual configuration, </a:t>
            </a:r>
            <a:r>
              <a:rPr lang="en-US" sz="2200" dirty="0" err="1" smtClean="0"/>
              <a:t>Traefik</a:t>
            </a:r>
            <a:r>
              <a:rPr lang="en-US" sz="2200" dirty="0" smtClean="0"/>
              <a:t> uses service discovery to dynamically configure routing.</a:t>
            </a:r>
            <a:endParaRPr lang="en-US" sz="2200" dirty="0"/>
          </a:p>
        </p:txBody>
      </p:sp>
      <p:pic>
        <p:nvPicPr>
          <p:cNvPr id="1026" name="Picture 2" descr="https://traefik.io/_next/image?url=%2Fimages%2Ftraefik%2Fintro%2Fdiagram%403x.png&amp;w=2048&amp;q=75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1981200" y="3505200"/>
            <a:ext cx="5203105" cy="2921666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2" descr="https://lh3.ggpht.com/1IfZLL2QDSjZ0wS7sUhaMlsAOS8BBzdR3wZ1WawgRn7KZAM8nEVZYMOUM-lqQb0ikIzp=w300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3276600" y="1905000"/>
            <a:ext cx="2857500" cy="28575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Further Reading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dirty="0" smtClean="0"/>
              <a:t>David G. </a:t>
            </a:r>
            <a:r>
              <a:rPr lang="en-US" sz="2400" dirty="0" err="1" smtClean="0"/>
              <a:t>Thaler</a:t>
            </a:r>
            <a:r>
              <a:rPr lang="en-US" sz="2400" dirty="0" smtClean="0"/>
              <a:t> and </a:t>
            </a:r>
            <a:r>
              <a:rPr lang="en-US" sz="2400" dirty="0" err="1" smtClean="0"/>
              <a:t>Chinya</a:t>
            </a:r>
            <a:r>
              <a:rPr lang="en-US" sz="2400" dirty="0" smtClean="0"/>
              <a:t> V. </a:t>
            </a:r>
            <a:r>
              <a:rPr lang="en-US" sz="2400" dirty="0" err="1" smtClean="0"/>
              <a:t>Ravishankar</a:t>
            </a:r>
            <a:r>
              <a:rPr lang="en-US" sz="2400" dirty="0" smtClean="0"/>
              <a:t> (1998). Using Name-Based Mappings to Increase Hit Rates.</a:t>
            </a:r>
          </a:p>
          <a:p>
            <a:pPr lvl="1"/>
            <a:r>
              <a:rPr lang="en-US" sz="2000" dirty="0" smtClean="0"/>
              <a:t>Load Balancing Algorithms</a:t>
            </a:r>
            <a:endParaRPr lang="en-US" sz="2000" dirty="0"/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4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dirty="0" smtClean="0"/>
              <a:t>Thank You &amp; See You Again</a:t>
            </a:r>
          </a:p>
        </p:txBody>
      </p:sp>
      <p:pic>
        <p:nvPicPr>
          <p:cNvPr id="5" name="Content Placeholder 4"/>
          <p:cNvPicPr>
            <a:picLocks noGrp="1" noChangeAspect="1" noChangeArrowheads="1"/>
          </p:cNvPicPr>
          <p:nvPr>
            <p:ph idx="1"/>
          </p:nvPr>
        </p:nvPicPr>
        <p:blipFill>
          <a:blip r:embed="rId2" cstate="print"/>
          <a:srcRect/>
          <a:stretch>
            <a:fillRect/>
          </a:stretch>
        </p:blipFill>
        <p:spPr>
          <a:xfrm>
            <a:off x="1143000" y="1676400"/>
            <a:ext cx="6810375" cy="4525963"/>
          </a:xfrm>
          <a:noFill/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20918</TotalTime>
  <Words>1642</Words>
  <Application>Microsoft Office PowerPoint</Application>
  <PresentationFormat>On-screen Show (4:3)</PresentationFormat>
  <Paragraphs>313</Paragraphs>
  <Slides>54</Slides>
  <Notes>2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54</vt:i4>
      </vt:variant>
    </vt:vector>
  </HeadingPairs>
  <TitlesOfParts>
    <vt:vector size="55" baseType="lpstr">
      <vt:lpstr>Office Theme</vt:lpstr>
      <vt:lpstr>Load Balancing</vt:lpstr>
      <vt:lpstr>Objectives</vt:lpstr>
      <vt:lpstr>Contents</vt:lpstr>
      <vt:lpstr>References</vt:lpstr>
      <vt:lpstr>Solving a Problem: The Hard Part</vt:lpstr>
      <vt:lpstr>Why Learn a New Tool?</vt:lpstr>
      <vt:lpstr>Identify a Concrete Problem</vt:lpstr>
      <vt:lpstr>Typical Procedure</vt:lpstr>
      <vt:lpstr>Slide 9</vt:lpstr>
      <vt:lpstr>Why Load Balancing?</vt:lpstr>
      <vt:lpstr>Distributed Web-Server System [1]</vt:lpstr>
      <vt:lpstr>How to Route Requests?</vt:lpstr>
      <vt:lpstr>DNS-Based Approach</vt:lpstr>
      <vt:lpstr>Dispatcher-Based Approach</vt:lpstr>
      <vt:lpstr>Packet Single-Rewriting</vt:lpstr>
      <vt:lpstr>Packet Double-Rewriting</vt:lpstr>
      <vt:lpstr>WAN Network Dispatcher Architecture</vt:lpstr>
      <vt:lpstr>Slide 18</vt:lpstr>
      <vt:lpstr>Hardware Load Balancers</vt:lpstr>
      <vt:lpstr>Software Load Balancers</vt:lpstr>
      <vt:lpstr>1. Install Nginx</vt:lpstr>
      <vt:lpstr>2. Install Node.js</vt:lpstr>
      <vt:lpstr>3. Create 1st Node.js Web Application</vt:lpstr>
      <vt:lpstr>4. Run 1st Node.js Web Application</vt:lpstr>
      <vt:lpstr>5. Create 2nd Node.js Web Application</vt:lpstr>
      <vt:lpstr>6. Run 2nd Node.js Web Application</vt:lpstr>
      <vt:lpstr>7. Pass Requests to a Proxied Server</vt:lpstr>
      <vt:lpstr>8. Test Passing Requests</vt:lpstr>
      <vt:lpstr>9. Implement Load Balancing</vt:lpstr>
      <vt:lpstr>10. Test Load Balancing</vt:lpstr>
      <vt:lpstr>Slide 31</vt:lpstr>
      <vt:lpstr>1. Install haproxy on Ubuntu</vt:lpstr>
      <vt:lpstr>Build from Source in Ubuntu</vt:lpstr>
      <vt:lpstr>2. Start haproxy</vt:lpstr>
      <vt:lpstr>3. Test haproxy</vt:lpstr>
      <vt:lpstr>4. Implement Load Balancing</vt:lpstr>
      <vt:lpstr>5. Test Load Balancing</vt:lpstr>
      <vt:lpstr>6. Review haproxy Reports</vt:lpstr>
      <vt:lpstr>Slide 39</vt:lpstr>
      <vt:lpstr>Windows Network Load Balancing</vt:lpstr>
      <vt:lpstr>Slide 41</vt:lpstr>
      <vt:lpstr>Load Balancing Algorithms</vt:lpstr>
      <vt:lpstr>Sticky Routing Algorithms</vt:lpstr>
      <vt:lpstr>More about Algorithms</vt:lpstr>
      <vt:lpstr>The Tail at Scale</vt:lpstr>
      <vt:lpstr>Tail Latency</vt:lpstr>
      <vt:lpstr>p99 = 10 ms Meaning</vt:lpstr>
      <vt:lpstr>Practical Implication</vt:lpstr>
      <vt:lpstr>Tail-tolerant Techniques [2]</vt:lpstr>
      <vt:lpstr>Slide 50</vt:lpstr>
      <vt:lpstr>Traefik</vt:lpstr>
      <vt:lpstr>Slide 52</vt:lpstr>
      <vt:lpstr>Further Reading</vt:lpstr>
      <vt:lpstr>Thank You &amp; See You Again</vt:lpstr>
    </vt:vector>
  </TitlesOfParts>
  <Company>HuyBien</Company>
  <LinksUpToDate>false</LinksUpToDate>
  <SharedDoc>false</SharedDoc>
  <HyperlinksChanged>false</HyperlinksChanged>
  <AppVersion>12.0000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Slide 1</dc:title>
  <dc:creator>NgoHuyBien</dc:creator>
  <cp:lastModifiedBy>Ngo Huy Bien</cp:lastModifiedBy>
  <cp:revision>5098</cp:revision>
  <dcterms:created xsi:type="dcterms:W3CDTF">2007-10-06T08:25:13Z</dcterms:created>
  <dcterms:modified xsi:type="dcterms:W3CDTF">2026-08-08T11:15:33Z</dcterms:modified>
</cp:coreProperties>
</file>