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4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8" r:id="rId48"/>
    <p:sldId id="729" r:id="rId49"/>
    <p:sldId id="725" r:id="rId50"/>
    <p:sldId id="726" r:id="rId51"/>
    <p:sldId id="727" r:id="rId52"/>
    <p:sldId id="516" r:id="rId5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traefik.io/traefi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Databases Management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Scale.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</a:t>
            </a:r>
            <a:r>
              <a:rPr lang="en-US" sz="2400" b="1" dirty="0" smtClean="0"/>
              <a:t>1% probability</a:t>
            </a:r>
            <a:r>
              <a:rPr lang="en-US" sz="2400" dirty="0" smtClean="0"/>
              <a:t> of being slow (p99 event</a:t>
            </a:r>
            <a:r>
              <a:rPr lang="en-US" sz="2400" dirty="0" smtClean="0"/>
              <a:t>),</a:t>
            </a:r>
            <a:endParaRPr lang="en-US" sz="2400" dirty="0" smtClean="0"/>
          </a:p>
          <a:p>
            <a:pPr>
              <a:buNone/>
            </a:pPr>
            <a:r>
              <a:rPr lang="en-US" sz="2400" dirty="0" smtClean="0"/>
              <a:t>	A page requires </a:t>
            </a:r>
            <a:r>
              <a:rPr lang="en-US" sz="2400" b="1" dirty="0" smtClean="0"/>
              <a:t>100 parallel </a:t>
            </a:r>
            <a:r>
              <a:rPr lang="en-US" sz="2400" b="1" dirty="0" err="1" smtClean="0"/>
              <a:t>subrequests</a:t>
            </a:r>
            <a:r>
              <a:rPr lang="en-US" sz="2400" dirty="0" smtClean="0"/>
              <a:t>,</a:t>
            </a:r>
            <a:endParaRPr lang="en-US" sz="2400" dirty="0" smtClean="0"/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smtClean="0"/>
              <a:t>P(at least one slow</a:t>
            </a:r>
            <a:r>
              <a:rPr lang="en-US" sz="2400" b="1" dirty="0" smtClean="0"/>
              <a:t>) </a:t>
            </a:r>
            <a:r>
              <a:rPr lang="en-US" sz="2400" dirty="0" smtClean="0"/>
              <a:t>≈ 1 − (0.99)</a:t>
            </a:r>
            <a:r>
              <a:rPr lang="en-US" sz="2400" baseline="30000" dirty="0" smtClean="0"/>
              <a:t>100 </a:t>
            </a:r>
            <a:r>
              <a:rPr lang="en-US" sz="2400" dirty="0" smtClean="0"/>
              <a:t>≈ </a:t>
            </a:r>
            <a:r>
              <a:rPr lang="en-US" sz="2400" b="1" dirty="0" smtClean="0"/>
              <a:t>63</a:t>
            </a:r>
            <a:r>
              <a:rPr lang="en-US" sz="2400" b="1" dirty="0" smtClean="0"/>
              <a:t>%</a:t>
            </a:r>
            <a:r>
              <a:rPr lang="en-US" sz="2400" dirty="0" smtClean="0"/>
              <a:t> </a:t>
            </a:r>
          </a:p>
          <a:p>
            <a:r>
              <a:rPr lang="en-US" sz="2400" dirty="0" smtClean="0"/>
              <a:t>So even if each component is “</a:t>
            </a:r>
            <a:r>
              <a:rPr lang="en-US" sz="2400" i="1" dirty="0" smtClean="0"/>
              <a:t>99% fast</a:t>
            </a:r>
            <a:r>
              <a:rPr lang="en-US" sz="2400" dirty="0" smtClean="0"/>
              <a:t>,” the overall request is </a:t>
            </a:r>
            <a:r>
              <a:rPr lang="en-US" sz="2400" i="1" dirty="0" smtClean="0">
                <a:solidFill>
                  <a:srgbClr val="C00000"/>
                </a:solidFill>
              </a:rPr>
              <a:t>slow most of the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"What is the </a:t>
            </a:r>
            <a:r>
              <a:rPr lang="en-US" sz="2400" i="1" dirty="0" smtClean="0">
                <a:solidFill>
                  <a:srgbClr val="C00000"/>
                </a:solidFill>
              </a:rPr>
              <a:t>average</a:t>
            </a:r>
            <a:r>
              <a:rPr lang="en-US" sz="2400" dirty="0" smtClean="0"/>
              <a:t>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</a:t>
            </a:r>
            <a:r>
              <a:rPr lang="en-US" sz="2400" dirty="0" smtClean="0"/>
              <a:t>( T ≤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 ) = p</a:t>
            </a:r>
          </a:p>
          <a:p>
            <a:pPr>
              <a:buNone/>
            </a:pPr>
            <a:r>
              <a:rPr lang="en-US" sz="2400" b="1" dirty="0" smtClean="0"/>
              <a:t>	p99 latency</a:t>
            </a:r>
            <a:r>
              <a:rPr lang="en-US" sz="2400" dirty="0" smtClean="0"/>
              <a:t>: 99% of requests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 than this value.</a:t>
            </a:r>
          </a:p>
          <a:p>
            <a:pPr>
              <a:buNone/>
            </a:pPr>
            <a:r>
              <a:rPr lang="en-US" sz="2400" b="1" dirty="0" smtClean="0"/>
              <a:t>	p99.9 latency</a:t>
            </a:r>
            <a:r>
              <a:rPr lang="en-US" sz="2400" dirty="0" smtClean="0"/>
              <a:t>: 99.9%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p99 = 10 </a:t>
            </a:r>
            <a:r>
              <a:rPr lang="en-US" dirty="0" smtClean="0"/>
              <a:t>ms Meaning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p99 = 10 ms</a:t>
            </a:r>
            <a:r>
              <a:rPr lang="en-US" sz="2800" dirty="0" smtClean="0"/>
              <a:t> means the </a:t>
            </a:r>
            <a:r>
              <a:rPr lang="en-US" sz="2800" b="1" dirty="0" smtClean="0"/>
              <a:t>99th percentile latency is 10 milliseconds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In practical terms, if you measure 10,000 requests and sort them from fastest to slowest: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9,900 requests finish in 10 ms or less</a:t>
            </a:r>
            <a:r>
              <a:rPr lang="en-US" sz="2400" dirty="0" smtClean="0"/>
              <a:t>. 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100 requests take longer than 10 </a:t>
            </a:r>
            <a:r>
              <a:rPr lang="en-US" sz="2400" b="1" dirty="0" err="1" smtClean="0"/>
              <a:t>ms</a:t>
            </a:r>
            <a:r>
              <a:rPr lang="en-US" sz="2400" dirty="0" err="1" smtClean="0"/>
              <a:t>.</a:t>
            </a:r>
            <a:endParaRPr lang="en-US" sz="2400" dirty="0" smtClean="0"/>
          </a:p>
          <a:p>
            <a:r>
              <a:rPr lang="en-US" sz="2800" dirty="0" smtClean="0"/>
              <a:t>One important nuance is that </a:t>
            </a:r>
            <a:r>
              <a:rPr lang="en-US" sz="2800" b="1" dirty="0" smtClean="0"/>
              <a:t>p99 = 10 ms does not mean the slowest request takes 10 </a:t>
            </a:r>
            <a:r>
              <a:rPr lang="en-US" sz="2800" b="1" dirty="0" err="1" smtClean="0"/>
              <a:t>ms</a:t>
            </a:r>
            <a:r>
              <a:rPr lang="en-US" sz="2800" dirty="0" err="1" smtClean="0"/>
              <a:t>.</a:t>
            </a:r>
            <a:r>
              <a:rPr lang="en-US" sz="2800" dirty="0" smtClean="0"/>
              <a:t> The maximum could be 20 ms, 500 ms, or several seconds.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Practical Implication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Set </a:t>
            </a:r>
            <a:r>
              <a:rPr lang="en-US" sz="2400" b="1" smtClean="0"/>
              <a:t>an </a:t>
            </a:r>
            <a:r>
              <a:rPr lang="en-US" sz="2400" b="1" smtClean="0"/>
              <a:t>SLO (Service Level Objective):</a:t>
            </a:r>
            <a:r>
              <a:rPr lang="en-US" sz="2400" smtClean="0"/>
              <a:t> </a:t>
            </a:r>
            <a:r>
              <a:rPr lang="en-US" sz="2400" dirty="0" smtClean="0"/>
              <a:t>"99</a:t>
            </a:r>
            <a:r>
              <a:rPr lang="en-US" sz="2400" dirty="0" smtClean="0"/>
              <a:t>% of requests must complete within 10 </a:t>
            </a:r>
            <a:r>
              <a:rPr lang="en-US" sz="2400" dirty="0" err="1" smtClean="0"/>
              <a:t>ms</a:t>
            </a:r>
            <a:r>
              <a:rPr lang="en-US" sz="2400" dirty="0" err="1" smtClean="0"/>
              <a:t>.</a:t>
            </a:r>
            <a:r>
              <a:rPr lang="en-US" sz="2400" dirty="0" smtClean="0"/>
              <a:t>"</a:t>
            </a:r>
            <a:endParaRPr lang="en-US" sz="2400" dirty="0" smtClean="0"/>
          </a:p>
          <a:p>
            <a:r>
              <a:rPr lang="en-US" sz="2400" b="1" dirty="0" smtClean="0"/>
              <a:t>Detect </a:t>
            </a:r>
            <a:r>
              <a:rPr lang="en-US" sz="2400" b="1" dirty="0" smtClean="0"/>
              <a:t>regressions:</a:t>
            </a:r>
            <a:r>
              <a:rPr lang="en-US" sz="2400" dirty="0" smtClean="0"/>
              <a:t> If a new release changes p99 from 10 ms to 25 ms while p50 stays at 3 ms, the release probably introduced a tail-latency problem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Create </a:t>
            </a:r>
            <a:r>
              <a:rPr lang="en-US" sz="2400" b="1" dirty="0" smtClean="0"/>
              <a:t>alerts:</a:t>
            </a:r>
            <a:r>
              <a:rPr lang="en-US" sz="2400" dirty="0" smtClean="0"/>
              <a:t> Alert when p99 exceeds, say, 15 ms for a sustained </a:t>
            </a:r>
            <a:r>
              <a:rPr lang="en-US" sz="2400" dirty="0" smtClean="0"/>
              <a:t>period.</a:t>
            </a:r>
          </a:p>
          <a:p>
            <a:r>
              <a:rPr lang="en-US" sz="2400" b="1" dirty="0" smtClean="0"/>
              <a:t>Compare </a:t>
            </a:r>
            <a:r>
              <a:rPr lang="en-US" sz="2400" b="1" dirty="0" smtClean="0"/>
              <a:t>implementations:</a:t>
            </a:r>
            <a:r>
              <a:rPr lang="en-US" sz="2400" dirty="0" smtClean="0"/>
              <a:t> Version A has p99 = 10 ms and Version B has p99 = 18 ms, so A gives more predictable </a:t>
            </a:r>
            <a:r>
              <a:rPr lang="en-US" sz="2400" dirty="0" smtClean="0"/>
              <a:t>latency.</a:t>
            </a:r>
          </a:p>
          <a:p>
            <a:r>
              <a:rPr lang="en-US" sz="2400" b="1" dirty="0" smtClean="0"/>
              <a:t>Test </a:t>
            </a:r>
            <a:r>
              <a:rPr lang="en-US" sz="2400" b="1" dirty="0" smtClean="0"/>
              <a:t>capacity:</a:t>
            </a:r>
            <a:r>
              <a:rPr lang="en-US" sz="2400" dirty="0" smtClean="0"/>
              <a:t> Run load tests at 1,000, 5,000, and 10,000 requests/sec and observe when p99 begins increasing sharply.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to curb latency variability is to issue the same 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and use the results from whichever 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Traefik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https://traefik.io/traefik</a:t>
            </a:r>
            <a:endParaRPr lang="en-US" sz="2200" dirty="0" smtClean="0"/>
          </a:p>
          <a:p>
            <a:r>
              <a:rPr lang="en-US" sz="2200" dirty="0" smtClean="0"/>
              <a:t>Unlike a traditional reverse proxy, which requires manual configuration, </a:t>
            </a:r>
            <a:r>
              <a:rPr lang="en-US" sz="2200" dirty="0" err="1" smtClean="0"/>
              <a:t>Traefik</a:t>
            </a:r>
            <a:r>
              <a:rPr lang="en-US" sz="2200" dirty="0" smtClean="0"/>
              <a:t> uses service discovery to dynamically configure routing.</a:t>
            </a:r>
            <a:endParaRPr lang="en-US" sz="2200" dirty="0"/>
          </a:p>
        </p:txBody>
      </p:sp>
      <p:pic>
        <p:nvPicPr>
          <p:cNvPr id="1026" name="Picture 2" descr="https://traefik.io/_next/image?url=%2Fimages%2Ftraefik%2Fintro%2Fdiagram%403x.png&amp;w=2048&amp;q=7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05200"/>
            <a:ext cx="5203105" cy="292166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20768</TotalTime>
  <Words>1617</Words>
  <Application>Microsoft Office PowerPoint</Application>
  <PresentationFormat>On-screen Show (4:3)</PresentationFormat>
  <Paragraphs>310</Paragraphs>
  <Slides>52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3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p99 = 10 ms Meaning</vt:lpstr>
      <vt:lpstr>Practical Implication</vt:lpstr>
      <vt:lpstr>Tail-tolerant Techniques [2]</vt:lpstr>
      <vt:lpstr>Slide 50</vt:lpstr>
      <vt:lpstr>Traefik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5079</cp:revision>
  <dcterms:created xsi:type="dcterms:W3CDTF">2007-10-06T08:25:13Z</dcterms:created>
  <dcterms:modified xsi:type="dcterms:W3CDTF">2026-08-07T18:57:30Z</dcterms:modified>
</cp:coreProperties>
</file>