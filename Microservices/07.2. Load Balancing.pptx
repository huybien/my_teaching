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s/slide38.xml" ContentType="application/vnd.openxmlformats-officedocument.presentationml.slide+xml"/>
  <Override PartName="/ppt/slides/slide47.xml" ContentType="application/vnd.openxmlformats-officedocument.presentationml.slide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s/slide36.xml" ContentType="application/vnd.openxmlformats-officedocument.presentationml.slide+xml"/>
  <Override PartName="/ppt/slides/slide45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25.xml" ContentType="application/vnd.openxmlformats-officedocument.presentationml.slide+xml"/>
  <Override PartName="/ppt/slides/slide34.xml" ContentType="application/vnd.openxmlformats-officedocument.presentationml.slide+xml"/>
  <Override PartName="/ppt/slides/slide43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slides/slide14.xml" ContentType="application/vnd.openxmlformats-officedocument.presentationml.slide+xml"/>
  <Override PartName="/ppt/slides/slide23.xml" ContentType="application/vnd.openxmlformats-officedocument.presentationml.slide+xml"/>
  <Override PartName="/ppt/slides/slide32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s/slide39.xml" ContentType="application/vnd.openxmlformats-officedocument.presentationml.slide+xml"/>
  <Override PartName="/ppt/slides/slide48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notesSlides/notesSlide1.xml" ContentType="application/vnd.openxmlformats-officedocument.presentationml.notes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slides/slide37.xml" ContentType="application/vnd.openxmlformats-officedocument.presentationml.slide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s/slide44.xml" ContentType="application/vnd.openxmlformats-officedocument.presentationml.slide+xml"/>
  <Override PartName="/ppt/slideLayouts/slideLayout3.xml" ContentType="application/vnd.openxmlformats-officedocument.presentationml.slideLayout+xml"/>
  <Default Extension="jpeg" ContentType="image/jpeg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22.xml" ContentType="application/vnd.openxmlformats-officedocument.presentationml.slide+xml"/>
  <Override PartName="/ppt/slides/slide31.xml" ContentType="application/vnd.openxmlformats-officedocument.presentationml.slide+xml"/>
  <Override PartName="/ppt/slides/slide42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1.xml" ContentType="application/vnd.openxmlformats-officedocument.presentationml.slide+xml"/>
  <Override PartName="/ppt/slides/slide20.xml" ContentType="application/vnd.openxmlformats-officedocument.presentationml.slide+xml"/>
  <Override PartName="/ppt/slides/slide40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50"/>
  </p:notesMasterIdLst>
  <p:sldIdLst>
    <p:sldId id="670" r:id="rId2"/>
    <p:sldId id="671" r:id="rId3"/>
    <p:sldId id="672" r:id="rId4"/>
    <p:sldId id="673" r:id="rId5"/>
    <p:sldId id="708" r:id="rId6"/>
    <p:sldId id="709" r:id="rId7"/>
    <p:sldId id="710" r:id="rId8"/>
    <p:sldId id="711" r:id="rId9"/>
    <p:sldId id="713" r:id="rId10"/>
    <p:sldId id="716" r:id="rId11"/>
    <p:sldId id="625" r:id="rId12"/>
    <p:sldId id="715" r:id="rId13"/>
    <p:sldId id="607" r:id="rId14"/>
    <p:sldId id="667" r:id="rId15"/>
    <p:sldId id="608" r:id="rId16"/>
    <p:sldId id="609" r:id="rId17"/>
    <p:sldId id="610" r:id="rId18"/>
    <p:sldId id="689" r:id="rId19"/>
    <p:sldId id="675" r:id="rId20"/>
    <p:sldId id="676" r:id="rId21"/>
    <p:sldId id="679" r:id="rId22"/>
    <p:sldId id="680" r:id="rId23"/>
    <p:sldId id="677" r:id="rId24"/>
    <p:sldId id="682" r:id="rId25"/>
    <p:sldId id="683" r:id="rId26"/>
    <p:sldId id="684" r:id="rId27"/>
    <p:sldId id="685" r:id="rId28"/>
    <p:sldId id="687" r:id="rId29"/>
    <p:sldId id="686" r:id="rId30"/>
    <p:sldId id="688" r:id="rId31"/>
    <p:sldId id="690" r:id="rId32"/>
    <p:sldId id="681" r:id="rId33"/>
    <p:sldId id="691" r:id="rId34"/>
    <p:sldId id="678" r:id="rId35"/>
    <p:sldId id="692" r:id="rId36"/>
    <p:sldId id="693" r:id="rId37"/>
    <p:sldId id="694" r:id="rId38"/>
    <p:sldId id="695" r:id="rId39"/>
    <p:sldId id="696" r:id="rId40"/>
    <p:sldId id="662" r:id="rId41"/>
    <p:sldId id="717" r:id="rId42"/>
    <p:sldId id="721" r:id="rId43"/>
    <p:sldId id="722" r:id="rId44"/>
    <p:sldId id="718" r:id="rId45"/>
    <p:sldId id="723" r:id="rId46"/>
    <p:sldId id="724" r:id="rId47"/>
    <p:sldId id="725" r:id="rId48"/>
    <p:sldId id="516" r:id="rId49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050" autoAdjust="0"/>
    <p:restoredTop sz="94667" autoAdjust="0"/>
  </p:normalViewPr>
  <p:slideViewPr>
    <p:cSldViewPr>
      <p:cViewPr>
        <p:scale>
          <a:sx n="50" d="100"/>
          <a:sy n="50" d="100"/>
        </p:scale>
        <p:origin x="-1532" y="-40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601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0940CE-BE1D-4C40-AF8B-3898A4D1F5EC}" type="datetimeFigureOut">
              <a:rPr lang="en-US" smtClean="0"/>
              <a:pPr/>
              <a:t>3/1/2026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70CC96-DB61-4850-AF79-05CA5E4B3D0A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4E670EC-EF90-4A84-9798-83F1F2DBB460}" type="slidenum">
              <a:rPr lang="en-US" smtClean="0"/>
              <a:pPr/>
              <a:t>3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3B12F3-13D8-4BC6-B271-EF890D2E3EA0}" type="datetimeFigureOut">
              <a:rPr lang="en-US"/>
              <a:pPr>
                <a:defRPr/>
              </a:pPr>
              <a:t>3/1/2026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C4D65A0-8A45-49A8-B2B4-890662407FE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F2554BB-BED8-407D-871B-BC3BF099B766}" type="datetimeFigureOut">
              <a:rPr lang="en-US"/>
              <a:pPr>
                <a:defRPr/>
              </a:pPr>
              <a:t>3/1/2026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B6A513C-A265-4672-ADF9-9C420A0C09A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83AE9F-B8F4-4A27-A258-84000ADADD35}" type="datetimeFigureOut">
              <a:rPr lang="en-US"/>
              <a:pPr>
                <a:defRPr/>
              </a:pPr>
              <a:t>3/1/2026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0C0325C-EBE7-4A11-97E9-DF8C42B04A7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B4F403C-A7D9-4211-8DC1-5865845C9F38}" type="datetimeFigureOut">
              <a:rPr lang="en-US"/>
              <a:pPr>
                <a:defRPr/>
              </a:pPr>
              <a:t>3/1/2026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091B809-96F5-477B-8E72-8AB6B5E4AEA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09C128-87F1-4A1D-AC95-1D0A8C2820AC}" type="datetimeFigureOut">
              <a:rPr lang="en-US"/>
              <a:pPr>
                <a:defRPr/>
              </a:pPr>
              <a:t>3/1/2026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C251F8E-6BBA-4EBA-BCCA-61145C18CC0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DD7EAC8-1610-4C8B-8A2E-7959779A26B0}" type="datetimeFigureOut">
              <a:rPr lang="en-US"/>
              <a:pPr>
                <a:defRPr/>
              </a:pPr>
              <a:t>3/1/2026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F43CFA-8BED-4A88-AB21-8477601BA31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D13CF8C-ED99-4E62-9F8F-039B47F842EB}" type="datetimeFigureOut">
              <a:rPr lang="en-US"/>
              <a:pPr>
                <a:defRPr/>
              </a:pPr>
              <a:t>3/1/2026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3FA9176-712D-4387-A1B9-79FDD21B413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A10295A-2761-40EA-9DA2-E88C0504267F}" type="datetimeFigureOut">
              <a:rPr lang="en-US"/>
              <a:pPr>
                <a:defRPr/>
              </a:pPr>
              <a:t>3/1/2026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6EFA140-F156-4425-B953-A67D35160EB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7036556-1340-40FC-A073-D70D8832A760}" type="datetimeFigureOut">
              <a:rPr lang="en-US"/>
              <a:pPr>
                <a:defRPr/>
              </a:pPr>
              <a:t>3/1/2026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B3919B8-AF1D-4524-AED9-AA87E5FE064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5375E21-F618-4DDC-86A2-77C690CACCAF}" type="datetimeFigureOut">
              <a:rPr lang="en-US"/>
              <a:pPr>
                <a:defRPr/>
              </a:pPr>
              <a:t>3/1/2026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EDB1DC0-76E8-4C19-B643-CDC8176FDDA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B4CE7E0-80C2-49E8-81AC-9B27623F73A4}" type="datetimeFigureOut">
              <a:rPr lang="en-US"/>
              <a:pPr>
                <a:defRPr/>
              </a:pPr>
              <a:t>3/1/2026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29D05C-0F0F-4E8B-B47F-3C2F1A4BC70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title style</a:t>
            </a:r>
          </a:p>
        </p:txBody>
      </p:sp>
      <p:sp>
        <p:nvSpPr>
          <p:cNvPr id="9219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2F5EA699-B790-4630-B1C5-9840307833F6}" type="datetimeFigureOut">
              <a:rPr lang="en-US"/>
              <a:pPr>
                <a:defRPr/>
              </a:pPr>
              <a:t>3/1/2026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09E2BD1-610D-47CE-BC14-E90E7753FA5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nhbien@fit.hcmus.edu.vn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barracuda.com/products/loadbalancer" TargetMode="External"/><Relationship Id="rId2" Type="http://schemas.openxmlformats.org/officeDocument/2006/relationships/hyperlink" Target="https://www.cisco.com/c/en/us/products/switches/index.html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haproxy.org/" TargetMode="External"/><Relationship Id="rId2" Type="http://schemas.openxmlformats.org/officeDocument/2006/relationships/hyperlink" Target="https://docs.nginx.com/nginx/admin-guide/load-balancer/http-load-balancer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hyperlink" Target="http://192.168.1.18/" TargetMode="Externa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hyperlink" Target="http://192.168.1.18:3001/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hyperlink" Target="http://192.168.1.18:3002/" TargetMode="Externa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http://192.168.1.18/" TargetMode="Externa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http://192.168.1.18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hyperlink" Target="http://192.168.1.18:8000/admin?stats" TargetMode="Externa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://192.168.1.18/" TargetMode="External"/><Relationship Id="rId2" Type="http://schemas.openxmlformats.org/officeDocument/2006/relationships/hyperlink" Target="http://192.168.1.18:8000/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hyperlink" Target="http://192.168.1.18:8000/admin?stats" TargetMode="Externa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hyperlink" Target="http://www.serverlab.ca/tutorials/windows/web-servers/load-balancing-web-servers-with-windows-server-2012-r2/" TargetMode="Externa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kpvbOzHUakA" TargetMode="Externa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6NdxUY1La2I" TargetMode="Externa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1"/>
          <p:cNvSpPr>
            <a:spLocks noGrp="1"/>
          </p:cNvSpPr>
          <p:nvPr>
            <p:ph type="ctrTitle"/>
          </p:nvPr>
        </p:nvSpPr>
        <p:spPr>
          <a:xfrm>
            <a:off x="304800" y="2130425"/>
            <a:ext cx="8534400" cy="1470025"/>
          </a:xfrm>
        </p:spPr>
        <p:txBody>
          <a:bodyPr/>
          <a:lstStyle/>
          <a:p>
            <a:pPr eaLnBrk="1" hangingPunct="1"/>
            <a:r>
              <a:rPr lang="en-US" sz="6000" dirty="0" smtClean="0"/>
              <a:t>Load Balancing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rtlCol="0">
            <a:normAutofit fontScale="40000" lnSpcReduction="2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Lecturer: Ngo Huy Bien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Software Engineering Department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Faculty of Information Technology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VNUHCM - University of Science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Ho Chi Minh City, Vietnam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>
                <a:hlinkClick r:id="rId2"/>
              </a:rPr>
              <a:t>nhbien@fit.hcmus.edu.vn</a:t>
            </a:r>
            <a:endParaRPr lang="en-US" sz="4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Objectives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828800"/>
            <a:ext cx="5334000" cy="3886200"/>
          </a:xfrm>
        </p:spPr>
        <p:txBody>
          <a:bodyPr/>
          <a:lstStyle/>
          <a:p>
            <a:pPr marL="571500" indent="-571500">
              <a:buFont typeface="Wingdings" pitchFamily="2" charset="2"/>
              <a:buChar char="Ø"/>
            </a:pPr>
            <a:r>
              <a:rPr lang="en-US" sz="2400" dirty="0" smtClean="0"/>
              <a:t>To implement </a:t>
            </a:r>
            <a:r>
              <a:rPr lang="en-US" sz="2400" i="1" dirty="0" smtClean="0">
                <a:solidFill>
                  <a:srgbClr val="C00000"/>
                </a:solidFill>
              </a:rPr>
              <a:t>load balancing</a:t>
            </a:r>
            <a:r>
              <a:rPr lang="en-US" sz="2400" dirty="0" smtClean="0"/>
              <a:t> for a distributed system.</a:t>
            </a:r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19800" y="1828800"/>
            <a:ext cx="2762250" cy="2114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477000" y="2438400"/>
            <a:ext cx="2390775" cy="2390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6096000" cy="4525963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Solving a Problem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Task: Load Balancing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Scalability Concepts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Routing Requests Methods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Routing Requests using </a:t>
            </a:r>
            <a:r>
              <a:rPr lang="en-US" sz="2400" dirty="0" err="1" smtClean="0"/>
              <a:t>Nginx</a:t>
            </a:r>
            <a:endParaRPr lang="en-US" sz="2400" dirty="0" smtClean="0"/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Routing Requests using </a:t>
            </a:r>
            <a:r>
              <a:rPr lang="en-US" sz="2400" dirty="0" err="1" smtClean="0"/>
              <a:t>haproxy</a:t>
            </a:r>
            <a:endParaRPr lang="en-US" sz="2400" dirty="0" smtClean="0"/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Application State Management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Application Data Files Management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Application Databases Management</a:t>
            </a:r>
          </a:p>
          <a:p>
            <a:pPr marL="571500" indent="-571500">
              <a:buFont typeface="+mj-lt"/>
              <a:buAutoNum type="romanUcPeriod"/>
            </a:pPr>
            <a:endParaRPr lang="en-US" sz="2400" dirty="0" smtClean="0"/>
          </a:p>
          <a:p>
            <a:pPr marL="571500" indent="-571500">
              <a:buFont typeface="+mj-lt"/>
              <a:buAutoNum type="romanUcPeriod"/>
            </a:pPr>
            <a:endParaRPr lang="en-US" sz="2400" dirty="0" smtClean="0"/>
          </a:p>
          <a:p>
            <a:pPr marL="571500" indent="-571500">
              <a:buFont typeface="+mj-lt"/>
              <a:buAutoNum type="romanUcPeriod"/>
            </a:pPr>
            <a:endParaRPr lang="en-US" sz="2400" dirty="0" smtClean="0"/>
          </a:p>
          <a:p>
            <a:pPr marL="571500" indent="-571500">
              <a:buFont typeface="+mj-lt"/>
              <a:buAutoNum type="romanUcPeriod"/>
            </a:pPr>
            <a:endParaRPr lang="en-US" sz="2400" dirty="0" smtClean="0"/>
          </a:p>
          <a:p>
            <a:pPr marL="571500" indent="-571500">
              <a:buFont typeface="+mj-lt"/>
              <a:buAutoNum type="romanUcPeriod"/>
            </a:pPr>
            <a:endParaRPr lang="en-US" sz="2400" dirty="0" smtClean="0"/>
          </a:p>
          <a:p>
            <a:pPr marL="571500" indent="-571500">
              <a:buFont typeface="+mj-lt"/>
              <a:buAutoNum type="romanUcPeriod"/>
            </a:pPr>
            <a:endParaRPr lang="en-US" sz="2400" dirty="0" smtClean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867400" cy="4724400"/>
          </a:xfrm>
        </p:spPr>
        <p:txBody>
          <a:bodyPr/>
          <a:lstStyle/>
          <a:p>
            <a:pPr>
              <a:buFont typeface="+mj-lt"/>
              <a:buAutoNum type="arabicPeriod"/>
            </a:pPr>
            <a:r>
              <a:rPr lang="en-US" sz="2400" dirty="0" smtClean="0"/>
              <a:t>Valeria </a:t>
            </a:r>
            <a:r>
              <a:rPr lang="en-US" sz="2400" dirty="0" err="1" smtClean="0"/>
              <a:t>Cardellini</a:t>
            </a:r>
            <a:r>
              <a:rPr lang="en-US" sz="2400" dirty="0" smtClean="0"/>
              <a:t> et al. (1999). Dynamic Load Balancing on Web-Server Systems</a:t>
            </a:r>
            <a:r>
              <a:rPr lang="en-US" sz="2400" dirty="0" smtClean="0"/>
              <a:t>.</a:t>
            </a:r>
          </a:p>
          <a:p>
            <a:pPr>
              <a:buFont typeface="+mj-lt"/>
              <a:buAutoNum type="arabicPeriod"/>
            </a:pPr>
            <a:r>
              <a:rPr lang="en-US" sz="2400" dirty="0" smtClean="0"/>
              <a:t>Jeffrey Dean and </a:t>
            </a:r>
            <a:r>
              <a:rPr lang="en-US" sz="2400" dirty="0" err="1" smtClean="0"/>
              <a:t>Luiz</a:t>
            </a:r>
            <a:r>
              <a:rPr lang="en-US" sz="2400" dirty="0" smtClean="0"/>
              <a:t> Andre </a:t>
            </a:r>
            <a:r>
              <a:rPr lang="en-US" sz="2400" dirty="0" err="1" smtClean="0"/>
              <a:t>Barroso</a:t>
            </a:r>
            <a:r>
              <a:rPr lang="en-US" sz="2400" dirty="0" smtClean="0"/>
              <a:t> (2013). The Tail at </a:t>
            </a:r>
            <a:r>
              <a:rPr lang="en-US" sz="2400" dirty="0" smtClean="0"/>
              <a:t>Scale.</a:t>
            </a:r>
            <a:endParaRPr lang="en-US" sz="2400" dirty="0" smtClean="0"/>
          </a:p>
        </p:txBody>
      </p:sp>
      <p:pic>
        <p:nvPicPr>
          <p:cNvPr id="4" name="Picture 4" descr="http://2.bp.blogspot.com/-FqRM_5NQE6Q/TaSdzyWfvtI/AAAAAAAAAFg/C_2LDJWJOx4/s1600/books-pil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248400" y="1676400"/>
            <a:ext cx="2724150" cy="4133850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Solving a Problem: The </a:t>
            </a:r>
            <a:r>
              <a:rPr lang="en-US" i="1" dirty="0" smtClean="0">
                <a:solidFill>
                  <a:srgbClr val="C00000"/>
                </a:solidFill>
              </a:rPr>
              <a:t>Hard</a:t>
            </a:r>
            <a:r>
              <a:rPr lang="en-US" dirty="0" smtClean="0"/>
              <a:t> Part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Input</a:t>
            </a:r>
            <a:r>
              <a:rPr lang="en-US" sz="2400" dirty="0" smtClean="0"/>
              <a:t>:</a:t>
            </a:r>
          </a:p>
          <a:p>
            <a:pPr lvl="1"/>
            <a:r>
              <a:rPr lang="en-US" sz="2000" dirty="0" smtClean="0"/>
              <a:t>Story: As sponsors, we want the system to be able to run on 2 web servers so that we can serve as many customers as we want.</a:t>
            </a:r>
          </a:p>
          <a:p>
            <a:pPr lvl="1"/>
            <a:r>
              <a:rPr lang="en-US" sz="2000" dirty="0" smtClean="0"/>
              <a:t>Developer: Ngo Huy Bien.</a:t>
            </a:r>
          </a:p>
          <a:p>
            <a:r>
              <a:rPr lang="en-US" sz="2400" dirty="0" smtClean="0"/>
              <a:t>Bonus: </a:t>
            </a:r>
          </a:p>
          <a:p>
            <a:pPr lvl="1"/>
            <a:r>
              <a:rPr lang="en-US" sz="2000" dirty="0" smtClean="0"/>
              <a:t>UI + Architecture.</a:t>
            </a:r>
          </a:p>
          <a:p>
            <a:pPr lvl="1"/>
            <a:r>
              <a:rPr lang="en-US" sz="2000" dirty="0" smtClean="0"/>
              <a:t>Scenarios, Domain Models + ERD.</a:t>
            </a:r>
          </a:p>
          <a:p>
            <a:pPr lvl="1"/>
            <a:r>
              <a:rPr lang="en-US" sz="2000" dirty="0" smtClean="0"/>
              <a:t>Prototype + Proof of Concept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Output</a:t>
            </a:r>
            <a:r>
              <a:rPr lang="en-US" sz="2400" dirty="0" smtClean="0"/>
              <a:t>:</a:t>
            </a:r>
          </a:p>
          <a:p>
            <a:pPr lvl="1"/>
            <a:r>
              <a:rPr lang="en-US" sz="2000" dirty="0" smtClean="0"/>
              <a:t>Source code </a:t>
            </a:r>
            <a:r>
              <a:rPr lang="en-US" sz="2000" dirty="0" smtClean="0">
                <a:sym typeface="Wingdings" pitchFamily="2" charset="2"/>
              </a:rPr>
              <a:t></a:t>
            </a:r>
            <a:r>
              <a:rPr lang="en-US" sz="2000" dirty="0" smtClean="0"/>
              <a:t> Problem solved.</a:t>
            </a:r>
          </a:p>
          <a:p>
            <a:r>
              <a:rPr lang="en-US" sz="2400" b="1" i="1" dirty="0" smtClean="0">
                <a:solidFill>
                  <a:srgbClr val="C00000"/>
                </a:solidFill>
              </a:rPr>
              <a:t>Issue: Which tools? I haven't used these tools.</a:t>
            </a:r>
          </a:p>
        </p:txBody>
      </p:sp>
      <p:pic>
        <p:nvPicPr>
          <p:cNvPr id="3074" name="Picture 2" descr="https://images.squarespace-cdn.com/content/v1/583ed05c59cc68a8c3e45c0f/1574085452103-JAY3739FDGTE0ZR90QPX/ke17ZwdGBToddI8pDm48kOggE0Ch6pMGalwtLMqzsSB7gQa3H78H3Y0txjaiv_0fDoOvxcdMmMKkDsyUqMSsMWxHk725yiiHCCLfrh8O1z5QPOohDIaIeljMHgDF5CVlOqpeNLcJ80NK65_fV7S1Ufo5RWkg_J4of0jUNHaDHx6pZKBvpVYzidBWCapg0tuoMuEaB2HPGSYDV-11UTcW2g/question-mark-2405197_1920.jpg?format=1000w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334000" y="3200400"/>
            <a:ext cx="3048000" cy="203301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Make money</a:t>
            </a:r>
          </a:p>
          <a:p>
            <a:pPr lvl="1"/>
            <a:r>
              <a:rPr lang="en-US" dirty="0" smtClean="0"/>
              <a:t>Get a job (job requirement)</a:t>
            </a:r>
          </a:p>
          <a:p>
            <a:pPr lvl="1"/>
            <a:r>
              <a:rPr lang="en-US" dirty="0" smtClean="0"/>
              <a:t>Startup (solving a problem)</a:t>
            </a:r>
          </a:p>
          <a:p>
            <a:pPr lvl="2"/>
            <a:r>
              <a:rPr lang="en-US" dirty="0" smtClean="0"/>
              <a:t>Tool selection</a:t>
            </a:r>
          </a:p>
          <a:p>
            <a:pPr lvl="3"/>
            <a:r>
              <a:rPr lang="en-US" i="1" dirty="0" smtClean="0">
                <a:solidFill>
                  <a:srgbClr val="C00000"/>
                </a:solidFill>
              </a:rPr>
              <a:t>Faster</a:t>
            </a:r>
            <a:r>
              <a:rPr lang="en-US" dirty="0" smtClean="0"/>
              <a:t> development (Get a task done).</a:t>
            </a:r>
          </a:p>
          <a:p>
            <a:pPr lvl="3"/>
            <a:r>
              <a:rPr lang="en-US" dirty="0" smtClean="0"/>
              <a:t>Easier </a:t>
            </a:r>
            <a:r>
              <a:rPr lang="en-US" i="1" dirty="0" smtClean="0">
                <a:solidFill>
                  <a:srgbClr val="C00000"/>
                </a:solidFill>
              </a:rPr>
              <a:t>modifiability</a:t>
            </a:r>
            <a:r>
              <a:rPr lang="en-US" dirty="0" smtClean="0"/>
              <a:t> and </a:t>
            </a:r>
            <a:r>
              <a:rPr lang="en-US" i="1" dirty="0" smtClean="0">
                <a:solidFill>
                  <a:srgbClr val="C00000"/>
                </a:solidFill>
              </a:rPr>
              <a:t>extensibility.</a:t>
            </a:r>
          </a:p>
          <a:p>
            <a:pPr lvl="3"/>
            <a:r>
              <a:rPr lang="en-US" dirty="0" smtClean="0"/>
              <a:t>Better security and </a:t>
            </a:r>
            <a:r>
              <a:rPr lang="en-US" i="1" dirty="0" smtClean="0">
                <a:solidFill>
                  <a:srgbClr val="C00000"/>
                </a:solidFill>
              </a:rPr>
              <a:t>scalability</a:t>
            </a:r>
            <a:r>
              <a:rPr lang="en-US" dirty="0" smtClean="0"/>
              <a:t>.</a:t>
            </a:r>
          </a:p>
          <a:p>
            <a:r>
              <a:rPr lang="en-US" dirty="0" smtClean="0"/>
              <a:t>Hobby</a:t>
            </a:r>
          </a:p>
          <a:p>
            <a:pPr lvl="1"/>
            <a:r>
              <a:rPr lang="en-US" i="1" dirty="0" smtClean="0">
                <a:solidFill>
                  <a:srgbClr val="C00000"/>
                </a:solidFill>
              </a:rPr>
              <a:t>Problem</a:t>
            </a:r>
            <a:r>
              <a:rPr lang="en-US" dirty="0" smtClean="0"/>
              <a:t>/need.</a:t>
            </a:r>
          </a:p>
          <a:p>
            <a:pPr lvl="1"/>
            <a:r>
              <a:rPr lang="en-US" dirty="0" smtClean="0"/>
              <a:t>Open yourself up to </a:t>
            </a:r>
            <a:r>
              <a:rPr lang="en-US" i="1" dirty="0" smtClean="0">
                <a:solidFill>
                  <a:srgbClr val="C00000"/>
                </a:solidFill>
              </a:rPr>
              <a:t>new ideas</a:t>
            </a:r>
            <a:r>
              <a:rPr lang="en-US" dirty="0" smtClean="0"/>
              <a:t> and </a:t>
            </a:r>
            <a:r>
              <a:rPr lang="en-US" i="1" dirty="0" smtClean="0">
                <a:solidFill>
                  <a:srgbClr val="C00000"/>
                </a:solidFill>
              </a:rPr>
              <a:t>approaches</a:t>
            </a:r>
            <a:r>
              <a:rPr lang="en-US" dirty="0" smtClean="0"/>
              <a:t>.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Why Learn a New Tool?</a:t>
            </a:r>
            <a:endParaRPr lang="en-US" dirty="0"/>
          </a:p>
        </p:txBody>
      </p:sp>
      <p:cxnSp>
        <p:nvCxnSpPr>
          <p:cNvPr id="7" name="Curved Connector 6"/>
          <p:cNvCxnSpPr/>
          <p:nvPr/>
        </p:nvCxnSpPr>
        <p:spPr>
          <a:xfrm rot="16200000" flipV="1">
            <a:off x="990600" y="4267200"/>
            <a:ext cx="1752600" cy="381000"/>
          </a:xfrm>
          <a:prstGeom prst="curvedConnector3">
            <a:avLst>
              <a:gd name="adj1" fmla="val 50000"/>
            </a:avLst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" name="Curved Connector 5"/>
          <p:cNvCxnSpPr/>
          <p:nvPr/>
        </p:nvCxnSpPr>
        <p:spPr>
          <a:xfrm rot="10800000">
            <a:off x="3581400" y="5638800"/>
            <a:ext cx="1447800" cy="228600"/>
          </a:xfrm>
          <a:prstGeom prst="curvedConnector3">
            <a:avLst>
              <a:gd name="adj1" fmla="val 50000"/>
            </a:avLst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8" name="Right Arrow 7"/>
          <p:cNvSpPr/>
          <p:nvPr/>
        </p:nvSpPr>
        <p:spPr>
          <a:xfrm>
            <a:off x="228600" y="1524000"/>
            <a:ext cx="609600" cy="838200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1</a:t>
            </a:r>
            <a:endParaRPr lang="en-US" dirty="0"/>
          </a:p>
        </p:txBody>
      </p:sp>
      <p:sp>
        <p:nvSpPr>
          <p:cNvPr id="9" name="Right Arrow 8"/>
          <p:cNvSpPr/>
          <p:nvPr/>
        </p:nvSpPr>
        <p:spPr>
          <a:xfrm>
            <a:off x="228600" y="4648200"/>
            <a:ext cx="609600" cy="838200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2</a:t>
            </a:r>
            <a:endParaRPr lang="en-US" dirty="0"/>
          </a:p>
        </p:txBody>
      </p:sp>
      <p:pic>
        <p:nvPicPr>
          <p:cNvPr id="4097" name="Picture 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943600" y="2057400"/>
            <a:ext cx="1209675" cy="1244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099" name="Picture 3" descr="https://symbols.getvecta.com/stencil_83/11_haproxy-icon.4cfc81197b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391400" y="2209800"/>
            <a:ext cx="952500" cy="952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Identify a Concrete Problem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Configure </a:t>
            </a:r>
            <a:r>
              <a:rPr lang="en-US" sz="2600" u="sng" dirty="0" smtClean="0"/>
              <a:t>load balancing</a:t>
            </a:r>
            <a:r>
              <a:rPr lang="en-US" sz="2600" dirty="0" smtClean="0"/>
              <a:t> for </a:t>
            </a:r>
            <a:r>
              <a:rPr lang="en-US" sz="2600" dirty="0" err="1" smtClean="0"/>
              <a:t>api</a:t>
            </a:r>
            <a:r>
              <a:rPr lang="en-US" sz="2600" dirty="0" smtClean="0"/>
              <a:t> using </a:t>
            </a:r>
            <a:r>
              <a:rPr lang="en-US" sz="2600" i="1" dirty="0" err="1" smtClean="0">
                <a:solidFill>
                  <a:srgbClr val="C00000"/>
                </a:solidFill>
              </a:rPr>
              <a:t>nginx</a:t>
            </a:r>
            <a:r>
              <a:rPr lang="en-US" sz="2600" dirty="0" smtClean="0"/>
              <a:t>.</a:t>
            </a:r>
          </a:p>
          <a:p>
            <a:r>
              <a:rPr lang="en-US" sz="2600" dirty="0" smtClean="0"/>
              <a:t>Configure </a:t>
            </a:r>
            <a:r>
              <a:rPr lang="en-US" sz="2600" u="sng" dirty="0" smtClean="0"/>
              <a:t>load balancing</a:t>
            </a:r>
            <a:r>
              <a:rPr lang="en-US" sz="2600" dirty="0" smtClean="0"/>
              <a:t> for </a:t>
            </a:r>
            <a:r>
              <a:rPr lang="en-US" sz="2600" dirty="0" err="1" smtClean="0"/>
              <a:t>api</a:t>
            </a:r>
            <a:r>
              <a:rPr lang="en-US" sz="2600" dirty="0" smtClean="0"/>
              <a:t> using </a:t>
            </a:r>
            <a:r>
              <a:rPr lang="en-US" sz="2600" i="1" dirty="0" err="1" smtClean="0">
                <a:solidFill>
                  <a:srgbClr val="C00000"/>
                </a:solidFill>
              </a:rPr>
              <a:t>haproxy</a:t>
            </a:r>
            <a:r>
              <a:rPr lang="en-US" sz="2600" dirty="0" smtClean="0"/>
              <a:t>.</a:t>
            </a:r>
          </a:p>
        </p:txBody>
      </p:sp>
      <p:pic>
        <p:nvPicPr>
          <p:cNvPr id="4" name="Picture 2" descr="https://img.haikudeck.com/mg/C42A8FE8-C585-4360-984E-C8FC75522987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905000" y="3200400"/>
            <a:ext cx="3251200" cy="2438400"/>
          </a:xfrm>
          <a:prstGeom prst="rect">
            <a:avLst/>
          </a:prstGeom>
          <a:noFill/>
        </p:spPr>
      </p:pic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486400" y="3505200"/>
            <a:ext cx="2181225" cy="1257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Typical Procedure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Clarify domain-specific terminologies (Load balancing? </a:t>
            </a:r>
            <a:r>
              <a:rPr lang="en-US" sz="2600" dirty="0" err="1" smtClean="0"/>
              <a:t>nginx</a:t>
            </a:r>
            <a:r>
              <a:rPr lang="en-US" sz="2600" dirty="0" smtClean="0"/>
              <a:t>?, </a:t>
            </a:r>
            <a:r>
              <a:rPr lang="en-US" sz="2600" dirty="0" err="1" smtClean="0"/>
              <a:t>haproxy</a:t>
            </a:r>
            <a:r>
              <a:rPr lang="en-US" sz="2600" dirty="0" smtClean="0"/>
              <a:t>)</a:t>
            </a:r>
          </a:p>
          <a:p>
            <a:r>
              <a:rPr lang="en-US" sz="2600" dirty="0" smtClean="0"/>
              <a:t>Find a tutorial (or a mentor).</a:t>
            </a:r>
          </a:p>
          <a:p>
            <a:r>
              <a:rPr lang="en-US" sz="2600" dirty="0" smtClean="0"/>
              <a:t>Install, configure and use the tool.</a:t>
            </a:r>
          </a:p>
          <a:p>
            <a:r>
              <a:rPr lang="en-US" sz="2600" dirty="0" smtClean="0"/>
              <a:t>Test results.</a:t>
            </a:r>
            <a:endParaRPr lang="en-US" sz="2600" dirty="0"/>
          </a:p>
        </p:txBody>
      </p:sp>
      <p:pic>
        <p:nvPicPr>
          <p:cNvPr id="1026" name="Picture 2" descr="https://static.thenounproject.com/png/204132-200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429000" y="3962400"/>
            <a:ext cx="1905000" cy="19050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Why Load Balancing?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Abstraction (Simplicity for clients)</a:t>
            </a:r>
          </a:p>
          <a:p>
            <a:r>
              <a:rPr lang="en-US" dirty="0" smtClean="0"/>
              <a:t>Performance</a:t>
            </a:r>
          </a:p>
          <a:p>
            <a:r>
              <a:rPr lang="en-US" dirty="0" smtClean="0"/>
              <a:t>Fault tolerance (Single point of failure)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Distributed Web-Server System [1]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A </a:t>
            </a:r>
            <a:r>
              <a:rPr lang="en-US" sz="2400" i="1" dirty="0" smtClean="0">
                <a:solidFill>
                  <a:srgbClr val="C00000"/>
                </a:solidFill>
              </a:rPr>
              <a:t>distributed Web-server system</a:t>
            </a:r>
            <a:r>
              <a:rPr lang="en-US" sz="2400" dirty="0" smtClean="0"/>
              <a:t> is any architecture consisting of </a:t>
            </a:r>
            <a:r>
              <a:rPr lang="en-US" sz="2400" u="sng" dirty="0" smtClean="0"/>
              <a:t>multiple Web-server hosts</a:t>
            </a:r>
            <a:r>
              <a:rPr lang="en-US" sz="2400" dirty="0" smtClean="0"/>
              <a:t>, distributed on LANs and WANs, with a mechanism to </a:t>
            </a:r>
            <a:r>
              <a:rPr lang="en-US" sz="2400" u="sng" dirty="0" smtClean="0"/>
              <a:t>spread incoming client requests</a:t>
            </a:r>
            <a:r>
              <a:rPr lang="en-US" sz="2400" dirty="0" smtClean="0"/>
              <a:t> among the servers.</a:t>
            </a:r>
          </a:p>
          <a:p>
            <a:r>
              <a:rPr lang="en-US" sz="2400" dirty="0" smtClean="0"/>
              <a:t>Each </a:t>
            </a:r>
            <a:r>
              <a:rPr lang="en-US" sz="2400" i="1" dirty="0" smtClean="0">
                <a:solidFill>
                  <a:srgbClr val="C00000"/>
                </a:solidFill>
              </a:rPr>
              <a:t>server</a:t>
            </a:r>
            <a:r>
              <a:rPr lang="en-US" sz="2400" dirty="0" smtClean="0"/>
              <a:t> in the system can respond to </a:t>
            </a:r>
            <a:r>
              <a:rPr lang="en-US" sz="2400" u="sng" dirty="0" smtClean="0"/>
              <a:t>any</a:t>
            </a:r>
            <a:r>
              <a:rPr lang="en-US" sz="2400" dirty="0" smtClean="0"/>
              <a:t> client request.</a:t>
            </a:r>
          </a:p>
          <a:p>
            <a:r>
              <a:rPr lang="en-US" sz="2400" dirty="0" smtClean="0">
                <a:solidFill>
                  <a:srgbClr val="C00000"/>
                </a:solidFill>
              </a:rPr>
              <a:t>Information</a:t>
            </a:r>
            <a:r>
              <a:rPr lang="en-US" sz="2400" dirty="0" smtClean="0"/>
              <a:t> can be distributed among server nodes in two ways:</a:t>
            </a:r>
          </a:p>
          <a:p>
            <a:pPr lvl="1"/>
            <a:r>
              <a:rPr lang="en-US" sz="2000" u="sng" dirty="0" smtClean="0"/>
              <a:t>content tree replication</a:t>
            </a:r>
            <a:r>
              <a:rPr lang="en-US" sz="2000" dirty="0" smtClean="0"/>
              <a:t> on a server’s local disk, or </a:t>
            </a:r>
          </a:p>
          <a:p>
            <a:pPr lvl="1"/>
            <a:r>
              <a:rPr lang="en-US" sz="2000" dirty="0" smtClean="0"/>
              <a:t>information sharing by means of a </a:t>
            </a:r>
            <a:r>
              <a:rPr lang="en-US" sz="2000" u="sng" dirty="0" smtClean="0"/>
              <a:t>distributed file system</a:t>
            </a:r>
            <a:r>
              <a:rPr lang="en-US" sz="2000" dirty="0" smtClean="0"/>
              <a:t>.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How to Route Requests?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sz="2400" b="1" dirty="0" smtClean="0"/>
              <a:t>Method 1</a:t>
            </a:r>
            <a:r>
              <a:rPr lang="en-US" sz="2400" dirty="0" smtClean="0"/>
              <a:t>: Let users </a:t>
            </a:r>
            <a:r>
              <a:rPr lang="en-US" sz="2400" i="1" dirty="0" smtClean="0">
                <a:solidFill>
                  <a:srgbClr val="C00000"/>
                </a:solidFill>
              </a:rPr>
              <a:t>manually</a:t>
            </a:r>
            <a:r>
              <a:rPr lang="en-US" sz="2400" dirty="0" smtClean="0"/>
              <a:t> select alternative URLs for a Web site.</a:t>
            </a:r>
          </a:p>
          <a:p>
            <a:r>
              <a:rPr lang="en-US" sz="2400" b="1" dirty="0" smtClean="0"/>
              <a:t>Method 2</a:t>
            </a:r>
            <a:r>
              <a:rPr lang="en-US" sz="2400" dirty="0" smtClean="0"/>
              <a:t>: Use </a:t>
            </a:r>
            <a:r>
              <a:rPr lang="en-US" sz="2400" i="1" dirty="0" smtClean="0">
                <a:solidFill>
                  <a:srgbClr val="C00000"/>
                </a:solidFill>
              </a:rPr>
              <a:t>web clients</a:t>
            </a:r>
            <a:r>
              <a:rPr lang="en-US" sz="2400" dirty="0" smtClean="0"/>
              <a:t>. Web clients, if they are aware of the Web-server system’s replicated servers, </a:t>
            </a:r>
            <a:r>
              <a:rPr lang="en-US" sz="2400" u="sng" dirty="0" smtClean="0"/>
              <a:t>can actively route requests</a:t>
            </a:r>
            <a:r>
              <a:rPr lang="en-US" sz="2400" dirty="0" smtClean="0"/>
              <a:t>.</a:t>
            </a:r>
          </a:p>
          <a:p>
            <a:r>
              <a:rPr lang="en-US" sz="2400" b="1" dirty="0" smtClean="0"/>
              <a:t>Method 3</a:t>
            </a:r>
            <a:r>
              <a:rPr lang="en-US" sz="2400" dirty="0" smtClean="0"/>
              <a:t>: Use smart clients. Smart client is downloaded from a Web server and can </a:t>
            </a:r>
            <a:r>
              <a:rPr lang="en-US" sz="2400" u="sng" dirty="0" smtClean="0"/>
              <a:t>automatically update itself</a:t>
            </a:r>
            <a:r>
              <a:rPr lang="en-US" sz="2400" dirty="0" smtClean="0"/>
              <a:t>.</a:t>
            </a:r>
          </a:p>
          <a:p>
            <a:r>
              <a:rPr lang="en-US" sz="2400" b="1" dirty="0" smtClean="0"/>
              <a:t>Method 4</a:t>
            </a:r>
            <a:r>
              <a:rPr lang="en-US" sz="2400" dirty="0" smtClean="0"/>
              <a:t>: Use DNS name servers.</a:t>
            </a:r>
          </a:p>
          <a:p>
            <a:r>
              <a:rPr lang="en-US" sz="2400" b="1" dirty="0" smtClean="0"/>
              <a:t>Method 5</a:t>
            </a:r>
            <a:r>
              <a:rPr lang="en-US" sz="2400" dirty="0" smtClean="0"/>
              <a:t>: Use a dispatcher (load balancer).</a:t>
            </a:r>
          </a:p>
          <a:p>
            <a:endParaRPr lang="en-US" sz="2400" dirty="0" smtClean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DNS-Based Approach</a:t>
            </a:r>
            <a:endParaRPr lang="en-US" dirty="0"/>
          </a:p>
        </p:txBody>
      </p:sp>
      <p:pic>
        <p:nvPicPr>
          <p:cNvPr id="80900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30275" y="1606550"/>
            <a:ext cx="7283450" cy="4794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Dispatcher-Based Approach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To centralize request scheduling and completely control client-request routing, a network </a:t>
            </a:r>
            <a:r>
              <a:rPr lang="en-US" sz="2200" i="1" dirty="0" smtClean="0">
                <a:solidFill>
                  <a:srgbClr val="C00000"/>
                </a:solidFill>
              </a:rPr>
              <a:t>component of the Web-server system</a:t>
            </a:r>
            <a:r>
              <a:rPr lang="en-US" sz="2200" dirty="0" smtClean="0"/>
              <a:t> acts as a </a:t>
            </a:r>
            <a:r>
              <a:rPr lang="en-US" sz="2200" u="sng" dirty="0" smtClean="0"/>
              <a:t>dispatcher</a:t>
            </a:r>
            <a:r>
              <a:rPr lang="en-US" sz="2200" dirty="0" smtClean="0"/>
              <a:t>.</a:t>
            </a:r>
          </a:p>
          <a:p>
            <a:r>
              <a:rPr lang="en-US" sz="2200" dirty="0" smtClean="0"/>
              <a:t>Request routing among servers is transparent— unlike DNS-based architectures, which deal with addresses at the URL level, </a:t>
            </a:r>
            <a:r>
              <a:rPr lang="en-US" sz="2200" i="1" dirty="0" smtClean="0">
                <a:solidFill>
                  <a:srgbClr val="C00000"/>
                </a:solidFill>
              </a:rPr>
              <a:t>the dispatcher has a single, virtual IP address</a:t>
            </a:r>
            <a:r>
              <a:rPr lang="en-US" sz="2200" dirty="0" smtClean="0"/>
              <a:t> (IP-SVA).</a:t>
            </a:r>
          </a:p>
          <a:p>
            <a:r>
              <a:rPr lang="en-US" sz="2200" dirty="0" smtClean="0"/>
              <a:t>The dispatcher uniquely identifies each server in the system through a private address that can be at different protocol levels, depending on the architecture.</a:t>
            </a:r>
          </a:p>
          <a:p>
            <a:r>
              <a:rPr lang="en-US" sz="2200" dirty="0" smtClean="0"/>
              <a:t>We differentiate dispatcher-based architectures by </a:t>
            </a:r>
            <a:r>
              <a:rPr lang="en-US" sz="2200" i="1" dirty="0" smtClean="0">
                <a:solidFill>
                  <a:srgbClr val="C00000"/>
                </a:solidFill>
              </a:rPr>
              <a:t>routing mechanism</a:t>
            </a:r>
            <a:r>
              <a:rPr lang="en-US" sz="2200" dirty="0" smtClean="0"/>
              <a:t>—packet rewriting (single-rewriting or double-rewriting), packet forwarding, or HTTP redirection.</a:t>
            </a:r>
            <a:endParaRPr lang="en-US" sz="2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Packet Single-Rewriting</a:t>
            </a:r>
            <a:endParaRPr lang="en-US" dirty="0"/>
          </a:p>
        </p:txBody>
      </p:sp>
      <p:pic>
        <p:nvPicPr>
          <p:cNvPr id="808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57325" y="1447800"/>
            <a:ext cx="6229350" cy="495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Packet Double-Rewriting</a:t>
            </a:r>
            <a:endParaRPr lang="en-US" dirty="0"/>
          </a:p>
        </p:txBody>
      </p:sp>
      <p:pic>
        <p:nvPicPr>
          <p:cNvPr id="8192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597025" y="1527175"/>
            <a:ext cx="5949950" cy="4949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smtClean="0"/>
              <a:t>WAN Network Dispatcher Architecture</a:t>
            </a:r>
            <a:endParaRPr lang="en-US" dirty="0"/>
          </a:p>
        </p:txBody>
      </p:sp>
      <p:pic>
        <p:nvPicPr>
          <p:cNvPr id="8294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28713" y="1584325"/>
            <a:ext cx="6886575" cy="466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Hardware Load Balancers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Specialized routers or switches.</a:t>
            </a:r>
          </a:p>
          <a:p>
            <a:r>
              <a:rPr lang="en-US" sz="2200" dirty="0" smtClean="0">
                <a:hlinkClick r:id="rId2"/>
              </a:rPr>
              <a:t>https://www.cisco.com/c/en/us/products/switches/index.html</a:t>
            </a:r>
            <a:endParaRPr lang="en-US" sz="2200" dirty="0" smtClean="0"/>
          </a:p>
          <a:p>
            <a:r>
              <a:rPr lang="en-US" sz="2200" dirty="0" smtClean="0">
                <a:hlinkClick r:id="rId3"/>
              </a:rPr>
              <a:t>https://www.barracuda.com/products/loadbalancer</a:t>
            </a:r>
            <a:endParaRPr lang="en-US" sz="2200" dirty="0" smtClean="0"/>
          </a:p>
          <a:p>
            <a:endParaRPr lang="en-US" sz="2200" dirty="0" smtClean="0"/>
          </a:p>
          <a:p>
            <a:endParaRPr lang="en-US" sz="2200" dirty="0"/>
          </a:p>
        </p:txBody>
      </p:sp>
      <p:pic>
        <p:nvPicPr>
          <p:cNvPr id="4" name="Picture 2" descr="http://www.serverlab.ca/wp-content/uploads/2014/04/51-figure-02c.pn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219200" y="3371849"/>
            <a:ext cx="6000750" cy="2419351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Software Load Balancers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hlinkClick r:id="rId2"/>
              </a:rPr>
              <a:t>https://docs.nginx.com/nginx/admin-guide/load-balancer/http-load-balancer/</a:t>
            </a:r>
            <a:r>
              <a:rPr lang="en-US" sz="2200" dirty="0" smtClean="0"/>
              <a:t> (HTTP load balancer with SSL termination support)</a:t>
            </a:r>
          </a:p>
          <a:p>
            <a:r>
              <a:rPr lang="en-US" sz="2200" dirty="0" smtClean="0">
                <a:hlinkClick r:id="rId3"/>
              </a:rPr>
              <a:t>https://www.haproxy.org/</a:t>
            </a:r>
            <a:r>
              <a:rPr lang="en-US" sz="2200" dirty="0" smtClean="0"/>
              <a:t> (TCP load balancer)</a:t>
            </a: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2895600" y="3200400"/>
            <a:ext cx="3316731" cy="29207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Install </a:t>
            </a:r>
            <a:r>
              <a:rPr lang="en-US" dirty="0" err="1" smtClean="0"/>
              <a:t>Nginx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Refer to </a:t>
            </a:r>
            <a:r>
              <a:rPr lang="en-US" sz="2600" b="1" dirty="0" smtClean="0"/>
              <a:t>Computer Networks</a:t>
            </a:r>
            <a:r>
              <a:rPr lang="en-US" sz="2600" dirty="0" smtClean="0"/>
              <a:t> </a:t>
            </a:r>
            <a:r>
              <a:rPr lang="en-US" sz="2600" dirty="0" smtClean="0">
                <a:sym typeface="Wingdings" pitchFamily="2" charset="2"/>
              </a:rPr>
              <a:t> </a:t>
            </a:r>
            <a:r>
              <a:rPr lang="en-US" sz="2600" b="1" dirty="0" smtClean="0"/>
              <a:t>04.6. HTTP Services.pptx</a:t>
            </a:r>
            <a:r>
              <a:rPr lang="en-US" sz="2600" dirty="0" smtClean="0"/>
              <a:t> for detail.</a:t>
            </a:r>
          </a:p>
          <a:p>
            <a:r>
              <a:rPr lang="en-US" sz="2600" dirty="0" smtClean="0"/>
              <a:t>Test </a:t>
            </a:r>
            <a:r>
              <a:rPr lang="en-US" sz="2600" dirty="0" err="1" smtClean="0"/>
              <a:t>Nginx</a:t>
            </a:r>
            <a:r>
              <a:rPr lang="en-US" sz="2600" dirty="0" smtClean="0"/>
              <a:t> default website</a:t>
            </a:r>
          </a:p>
          <a:p>
            <a:pPr lvl="1"/>
            <a:r>
              <a:rPr lang="en-US" sz="2400" dirty="0" smtClean="0">
                <a:hlinkClick r:id="rId2"/>
              </a:rPr>
              <a:t>http://192.168.1.18</a:t>
            </a:r>
            <a:endParaRPr lang="en-US" sz="2400" dirty="0" smtClean="0"/>
          </a:p>
          <a:p>
            <a:pPr lvl="1"/>
            <a:endParaRPr 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181225" y="3962400"/>
            <a:ext cx="4781550" cy="1387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Install Node.js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latin typeface="+mj-lt"/>
              </a:rPr>
              <a:t>Refer to </a:t>
            </a:r>
            <a:r>
              <a:rPr lang="en-US" sz="2400" b="1" dirty="0" smtClean="0">
                <a:latin typeface="+mj-lt"/>
              </a:rPr>
              <a:t>Web Application Development</a:t>
            </a:r>
            <a:r>
              <a:rPr lang="en-US" sz="2400" dirty="0" smtClean="0">
                <a:latin typeface="+mj-lt"/>
              </a:rPr>
              <a:t> </a:t>
            </a:r>
            <a:r>
              <a:rPr lang="en-US" sz="2400" dirty="0" smtClean="0">
                <a:latin typeface="+mj-lt"/>
                <a:sym typeface="Wingdings" pitchFamily="2" charset="2"/>
              </a:rPr>
              <a:t> </a:t>
            </a:r>
            <a:r>
              <a:rPr lang="en-US" sz="2400" b="1" dirty="0" smtClean="0">
                <a:latin typeface="+mj-lt"/>
                <a:sym typeface="Wingdings" pitchFamily="2" charset="2"/>
              </a:rPr>
              <a:t>10</a:t>
            </a:r>
            <a:r>
              <a:rPr lang="en-US" sz="2400" b="1" dirty="0" smtClean="0">
                <a:latin typeface="+mj-lt"/>
              </a:rPr>
              <a:t>. </a:t>
            </a:r>
            <a:r>
              <a:rPr lang="en-US" sz="2400" b="1" dirty="0" err="1" smtClean="0">
                <a:latin typeface="+mj-lt"/>
              </a:rPr>
              <a:t>Node.js.pptx</a:t>
            </a:r>
            <a:r>
              <a:rPr lang="en-US" sz="2400" dirty="0" smtClean="0">
                <a:latin typeface="+mj-lt"/>
              </a:rPr>
              <a:t> for detail.</a:t>
            </a:r>
            <a:endParaRPr lang="en-US" sz="2400" dirty="0">
              <a:latin typeface="+mj-lt"/>
            </a:endParaRP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219200" y="3200400"/>
            <a:ext cx="6927850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200" dirty="0" smtClean="0"/>
              <a:t>3. Create 1</a:t>
            </a:r>
            <a:r>
              <a:rPr lang="en-US" sz="4200" baseline="30000" dirty="0" smtClean="0"/>
              <a:t>st</a:t>
            </a:r>
            <a:r>
              <a:rPr lang="en-US" sz="4200" dirty="0" smtClean="0"/>
              <a:t> Node.js Web Application</a:t>
            </a:r>
            <a:endParaRPr lang="en-US" sz="4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err="1" smtClean="0">
                <a:latin typeface="Consolas" pitchFamily="49" charset="0"/>
              </a:rPr>
              <a:t>mkdir</a:t>
            </a:r>
            <a:r>
              <a:rPr lang="en-US" sz="2000" dirty="0" smtClean="0">
                <a:latin typeface="Consolas" pitchFamily="49" charset="0"/>
              </a:rPr>
              <a:t> lbweb1</a:t>
            </a:r>
          </a:p>
          <a:p>
            <a:r>
              <a:rPr lang="en-US" sz="2000" dirty="0" err="1" smtClean="0">
                <a:latin typeface="Consolas" pitchFamily="49" charset="0"/>
              </a:rPr>
              <a:t>cd</a:t>
            </a:r>
            <a:r>
              <a:rPr lang="en-US" sz="2000" dirty="0" smtClean="0">
                <a:latin typeface="Consolas" pitchFamily="49" charset="0"/>
              </a:rPr>
              <a:t> lbweb1</a:t>
            </a:r>
          </a:p>
          <a:p>
            <a:r>
              <a:rPr lang="en-US" sz="2000" dirty="0" err="1" smtClean="0">
                <a:latin typeface="Consolas" pitchFamily="49" charset="0"/>
              </a:rPr>
              <a:t>npm</a:t>
            </a:r>
            <a:r>
              <a:rPr lang="en-US" sz="2000" dirty="0" smtClean="0">
                <a:latin typeface="Consolas" pitchFamily="49" charset="0"/>
              </a:rPr>
              <a:t> init -y</a:t>
            </a:r>
          </a:p>
          <a:p>
            <a:r>
              <a:rPr lang="en-US" sz="2000" dirty="0" err="1" smtClean="0">
                <a:latin typeface="Consolas" pitchFamily="49" charset="0"/>
              </a:rPr>
              <a:t>sudo</a:t>
            </a:r>
            <a:r>
              <a:rPr lang="en-US" sz="2000" dirty="0" smtClean="0">
                <a:latin typeface="Consolas" pitchFamily="49" charset="0"/>
              </a:rPr>
              <a:t> </a:t>
            </a:r>
            <a:r>
              <a:rPr lang="en-US" sz="2000" dirty="0" err="1" smtClean="0">
                <a:latin typeface="Consolas" pitchFamily="49" charset="0"/>
              </a:rPr>
              <a:t>nano</a:t>
            </a:r>
            <a:r>
              <a:rPr lang="en-US" sz="2000" dirty="0" smtClean="0">
                <a:latin typeface="Consolas" pitchFamily="49" charset="0"/>
              </a:rPr>
              <a:t> index.js</a:t>
            </a:r>
          </a:p>
          <a:p>
            <a:endParaRPr lang="en-US" sz="2000" dirty="0">
              <a:latin typeface="Consolas" pitchFamily="49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685800" y="3309878"/>
            <a:ext cx="7772400" cy="286232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2">
                <a:lumMod val="10000"/>
              </a:schemeClr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1200" dirty="0" smtClean="0">
                <a:solidFill>
                  <a:srgbClr val="0000FF"/>
                </a:solidFill>
                <a:latin typeface="Consolas"/>
              </a:rPr>
              <a:t>const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port = 3001,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http = require(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"http"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),</a:t>
            </a:r>
          </a:p>
          <a:p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httpStatus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= require(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"http-status-codes"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),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app = </a:t>
            </a:r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http.createServer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((request, response) =&gt; {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   console.log(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"Received an incoming request!"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);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   </a:t>
            </a:r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response.writeHead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(</a:t>
            </a:r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httpStatus.OK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, {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       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"Content-Type"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: 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"text/html"</a:t>
            </a:r>
            <a:endParaRPr lang="en-US" sz="1200" dirty="0" smtClean="0">
              <a:solidFill>
                <a:srgbClr val="000000"/>
              </a:solidFill>
              <a:latin typeface="Consolas"/>
            </a:endParaRP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   });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   </a:t>
            </a:r>
            <a:r>
              <a:rPr lang="en-US" sz="1200" dirty="0" smtClean="0">
                <a:solidFill>
                  <a:srgbClr val="0000FF"/>
                </a:solidFill>
                <a:latin typeface="Consolas"/>
              </a:rPr>
              <a:t>let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</a:t>
            </a:r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responseMessage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= 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`&lt;h1&gt;Hello World from 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${port}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!&lt;/h1&gt;`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;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   </a:t>
            </a:r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response.write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(</a:t>
            </a:r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responseMessage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);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   </a:t>
            </a:r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response.end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();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   console.log(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`Sent a response : 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${</a:t>
            </a:r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responseMessage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}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`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);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});</a:t>
            </a:r>
          </a:p>
          <a:p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app.listen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(port);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console.log(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`The server has started and is listening on port number: 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${port}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`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);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Run 1</a:t>
            </a:r>
            <a:r>
              <a:rPr lang="en-US" baseline="30000" dirty="0" smtClean="0"/>
              <a:t>st</a:t>
            </a:r>
            <a:r>
              <a:rPr lang="en-US" dirty="0" smtClean="0"/>
              <a:t> Node.js Web Application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err="1" smtClean="0">
                <a:latin typeface="Consolas" pitchFamily="49" charset="0"/>
              </a:rPr>
              <a:t>npm</a:t>
            </a:r>
            <a:r>
              <a:rPr lang="en-US" sz="2000" dirty="0" smtClean="0">
                <a:latin typeface="Consolas" pitchFamily="49" charset="0"/>
              </a:rPr>
              <a:t> install </a:t>
            </a:r>
            <a:r>
              <a:rPr lang="en-US" sz="2000" dirty="0" smtClean="0">
                <a:solidFill>
                  <a:srgbClr val="A31515"/>
                </a:solidFill>
                <a:latin typeface="Consolas"/>
              </a:rPr>
              <a:t>http-status-codes</a:t>
            </a:r>
            <a:endParaRPr lang="en-US" sz="2000" dirty="0" smtClean="0">
              <a:latin typeface="Consolas" pitchFamily="49" charset="0"/>
            </a:endParaRPr>
          </a:p>
          <a:p>
            <a:r>
              <a:rPr lang="en-US" sz="2000" dirty="0" smtClean="0">
                <a:latin typeface="Consolas" pitchFamily="49" charset="0"/>
              </a:rPr>
              <a:t>node </a:t>
            </a:r>
            <a:r>
              <a:rPr lang="en-US" sz="2000" dirty="0" smtClean="0">
                <a:solidFill>
                  <a:srgbClr val="C00000"/>
                </a:solidFill>
                <a:latin typeface="Consolas" pitchFamily="49" charset="0"/>
              </a:rPr>
              <a:t>index.js</a:t>
            </a:r>
          </a:p>
          <a:p>
            <a:r>
              <a:rPr lang="en-US" sz="2000" dirty="0" smtClean="0">
                <a:hlinkClick r:id="rId2"/>
              </a:rPr>
              <a:t>http://192.168.1.18:3001</a:t>
            </a:r>
            <a:endParaRPr lang="en-US" sz="2000" dirty="0" smtClean="0">
              <a:solidFill>
                <a:srgbClr val="C00000"/>
              </a:solidFill>
              <a:latin typeface="Consolas" pitchFamily="49" charset="0"/>
            </a:endParaRPr>
          </a:p>
          <a:p>
            <a:endParaRPr lang="en-US" sz="2000" dirty="0">
              <a:latin typeface="Consolas" pitchFamily="49" charset="0"/>
            </a:endParaRPr>
          </a:p>
        </p:txBody>
      </p:sp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181225" y="3184525"/>
            <a:ext cx="4781550" cy="1387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000" dirty="0" smtClean="0"/>
              <a:t>5. Create 2</a:t>
            </a:r>
            <a:r>
              <a:rPr lang="en-US" sz="4000" baseline="30000" dirty="0" smtClean="0"/>
              <a:t>nd</a:t>
            </a:r>
            <a:r>
              <a:rPr lang="en-US" sz="4000" dirty="0" smtClean="0"/>
              <a:t> Node.js Web Application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err="1" smtClean="0">
                <a:latin typeface="Consolas" pitchFamily="49" charset="0"/>
              </a:rPr>
              <a:t>mkdir</a:t>
            </a:r>
            <a:r>
              <a:rPr lang="en-US" sz="2000" dirty="0" smtClean="0">
                <a:latin typeface="Consolas" pitchFamily="49" charset="0"/>
              </a:rPr>
              <a:t> lbweb2</a:t>
            </a:r>
          </a:p>
          <a:p>
            <a:r>
              <a:rPr lang="en-US" sz="2000" dirty="0" err="1" smtClean="0">
                <a:latin typeface="Consolas" pitchFamily="49" charset="0"/>
              </a:rPr>
              <a:t>cd</a:t>
            </a:r>
            <a:r>
              <a:rPr lang="en-US" sz="2000" dirty="0" smtClean="0">
                <a:latin typeface="Consolas" pitchFamily="49" charset="0"/>
              </a:rPr>
              <a:t> lbweb2</a:t>
            </a:r>
          </a:p>
          <a:p>
            <a:r>
              <a:rPr lang="en-US" sz="2000" dirty="0" err="1" smtClean="0">
                <a:latin typeface="Consolas" pitchFamily="49" charset="0"/>
              </a:rPr>
              <a:t>npm</a:t>
            </a:r>
            <a:r>
              <a:rPr lang="en-US" sz="2000" dirty="0" smtClean="0">
                <a:latin typeface="Consolas" pitchFamily="49" charset="0"/>
              </a:rPr>
              <a:t> init -y</a:t>
            </a:r>
          </a:p>
          <a:p>
            <a:r>
              <a:rPr lang="en-US" sz="2000" dirty="0" err="1" smtClean="0">
                <a:latin typeface="Consolas" pitchFamily="49" charset="0"/>
              </a:rPr>
              <a:t>sudo</a:t>
            </a:r>
            <a:r>
              <a:rPr lang="en-US" sz="2000" dirty="0" smtClean="0">
                <a:latin typeface="Consolas" pitchFamily="49" charset="0"/>
              </a:rPr>
              <a:t> </a:t>
            </a:r>
            <a:r>
              <a:rPr lang="en-US" sz="2000" dirty="0" err="1" smtClean="0">
                <a:latin typeface="Consolas" pitchFamily="49" charset="0"/>
              </a:rPr>
              <a:t>nano</a:t>
            </a:r>
            <a:r>
              <a:rPr lang="en-US" sz="2000" dirty="0" smtClean="0">
                <a:latin typeface="Consolas" pitchFamily="49" charset="0"/>
              </a:rPr>
              <a:t> index.js</a:t>
            </a:r>
          </a:p>
          <a:p>
            <a:endParaRPr lang="en-US" sz="2000" dirty="0">
              <a:latin typeface="Consolas" pitchFamily="49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685800" y="3309878"/>
            <a:ext cx="7772400" cy="286232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2">
                <a:lumMod val="10000"/>
              </a:schemeClr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1200" dirty="0" smtClean="0">
                <a:solidFill>
                  <a:srgbClr val="0000FF"/>
                </a:solidFill>
                <a:latin typeface="Consolas"/>
              </a:rPr>
              <a:t>const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port = 3002,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http = require(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"http"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),</a:t>
            </a:r>
          </a:p>
          <a:p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httpStatus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= require(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"http-status-codes"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),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app = </a:t>
            </a:r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http.createServer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((request, response) =&gt; {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   console.log(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"Received an incoming request!"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);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   </a:t>
            </a:r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response.writeHead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(</a:t>
            </a:r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httpStatus.OK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, {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       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"Content-Type"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: 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"text/html"</a:t>
            </a:r>
            <a:endParaRPr lang="en-US" sz="1200" dirty="0" smtClean="0">
              <a:solidFill>
                <a:srgbClr val="000000"/>
              </a:solidFill>
              <a:latin typeface="Consolas"/>
            </a:endParaRP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   });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   </a:t>
            </a:r>
            <a:r>
              <a:rPr lang="en-US" sz="1200" dirty="0" smtClean="0">
                <a:solidFill>
                  <a:srgbClr val="0000FF"/>
                </a:solidFill>
                <a:latin typeface="Consolas"/>
              </a:rPr>
              <a:t>let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</a:t>
            </a:r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responseMessage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= 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`&lt;h1&gt;Hello World from 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${port}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!&lt;/h1&gt;`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;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   </a:t>
            </a:r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response.write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(</a:t>
            </a:r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responseMessage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);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   </a:t>
            </a:r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response.end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();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   console.log(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`Sent a response : 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${</a:t>
            </a:r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responseMessage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}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`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);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});</a:t>
            </a:r>
          </a:p>
          <a:p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app.listen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(port);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console.log(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`The server has started and is listening on port number: 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${port}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`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);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6. Run 2</a:t>
            </a:r>
            <a:r>
              <a:rPr lang="en-US" baseline="30000" dirty="0" smtClean="0"/>
              <a:t>nd</a:t>
            </a:r>
            <a:r>
              <a:rPr lang="en-US" dirty="0" smtClean="0"/>
              <a:t> Node.js Web Application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err="1" smtClean="0">
                <a:latin typeface="Consolas" pitchFamily="49" charset="0"/>
              </a:rPr>
              <a:t>npm</a:t>
            </a:r>
            <a:r>
              <a:rPr lang="en-US" sz="2000" dirty="0" smtClean="0">
                <a:latin typeface="Consolas" pitchFamily="49" charset="0"/>
              </a:rPr>
              <a:t> install </a:t>
            </a:r>
            <a:r>
              <a:rPr lang="en-US" sz="2000" dirty="0" smtClean="0">
                <a:solidFill>
                  <a:srgbClr val="A31515"/>
                </a:solidFill>
                <a:latin typeface="Consolas"/>
              </a:rPr>
              <a:t>http-status-codes</a:t>
            </a:r>
            <a:endParaRPr lang="en-US" sz="2000" dirty="0" smtClean="0">
              <a:latin typeface="Consolas" pitchFamily="49" charset="0"/>
            </a:endParaRPr>
          </a:p>
          <a:p>
            <a:r>
              <a:rPr lang="en-US" sz="2000" dirty="0" smtClean="0">
                <a:latin typeface="Consolas" pitchFamily="49" charset="0"/>
              </a:rPr>
              <a:t>node </a:t>
            </a:r>
            <a:r>
              <a:rPr lang="en-US" sz="2000" dirty="0" smtClean="0">
                <a:solidFill>
                  <a:srgbClr val="C00000"/>
                </a:solidFill>
                <a:latin typeface="Consolas" pitchFamily="49" charset="0"/>
              </a:rPr>
              <a:t>index.js</a:t>
            </a:r>
          </a:p>
          <a:p>
            <a:r>
              <a:rPr lang="en-US" sz="2000" dirty="0" smtClean="0">
                <a:hlinkClick r:id="rId2"/>
              </a:rPr>
              <a:t>http://192.168.1.18:3002</a:t>
            </a:r>
            <a:endParaRPr lang="en-US" sz="2000" dirty="0" smtClean="0"/>
          </a:p>
          <a:p>
            <a:endParaRPr lang="en-US" sz="2000" dirty="0" smtClean="0">
              <a:solidFill>
                <a:srgbClr val="C00000"/>
              </a:solidFill>
              <a:latin typeface="Consolas" pitchFamily="49" charset="0"/>
            </a:endParaRPr>
          </a:p>
          <a:p>
            <a:endParaRPr lang="en-US" sz="2000" dirty="0">
              <a:latin typeface="Consolas" pitchFamily="49" charset="0"/>
            </a:endParaRPr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181225" y="3489325"/>
            <a:ext cx="4781550" cy="1387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200" dirty="0" smtClean="0"/>
              <a:t>7. Pass Requests to a </a:t>
            </a:r>
            <a:r>
              <a:rPr lang="en-US" sz="4200" dirty="0" err="1" smtClean="0"/>
              <a:t>Proxied</a:t>
            </a:r>
            <a:r>
              <a:rPr lang="en-US" sz="4200" dirty="0" smtClean="0"/>
              <a:t> Server</a:t>
            </a:r>
            <a:endParaRPr lang="en-US" sz="4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err="1" smtClean="0">
                <a:latin typeface="Consolas" pitchFamily="49" charset="0"/>
              </a:rPr>
              <a:t>sudo</a:t>
            </a:r>
            <a:r>
              <a:rPr lang="en-US" sz="2000" dirty="0" smtClean="0">
                <a:latin typeface="Consolas" pitchFamily="49" charset="0"/>
              </a:rPr>
              <a:t> </a:t>
            </a:r>
            <a:r>
              <a:rPr lang="en-US" sz="2000" dirty="0" err="1" smtClean="0">
                <a:latin typeface="Consolas" pitchFamily="49" charset="0"/>
              </a:rPr>
              <a:t>nano</a:t>
            </a:r>
            <a:r>
              <a:rPr lang="en-US" sz="2000" dirty="0" smtClean="0">
                <a:latin typeface="Consolas" pitchFamily="49" charset="0"/>
              </a:rPr>
              <a:t> /etc/</a:t>
            </a:r>
            <a:r>
              <a:rPr lang="en-US" sz="2000" dirty="0" err="1" smtClean="0">
                <a:latin typeface="Consolas" pitchFamily="49" charset="0"/>
              </a:rPr>
              <a:t>nginx</a:t>
            </a:r>
            <a:r>
              <a:rPr lang="en-US" sz="2000" dirty="0" smtClean="0">
                <a:latin typeface="Consolas" pitchFamily="49" charset="0"/>
              </a:rPr>
              <a:t>/sites-available/default</a:t>
            </a:r>
          </a:p>
          <a:p>
            <a:endParaRPr lang="en-US" sz="2000" dirty="0" smtClean="0">
              <a:latin typeface="Consolas" pitchFamily="49" charset="0"/>
            </a:endParaRPr>
          </a:p>
          <a:p>
            <a:pPr lvl="1">
              <a:buNone/>
            </a:pPr>
            <a:r>
              <a:rPr lang="en-US" sz="2000" b="1" i="1" dirty="0" smtClean="0">
                <a:latin typeface="Consolas" pitchFamily="49" charset="0"/>
              </a:rPr>
              <a:t>server {</a:t>
            </a:r>
          </a:p>
          <a:p>
            <a:pPr lvl="1">
              <a:buNone/>
            </a:pPr>
            <a:r>
              <a:rPr lang="en-US" sz="2000" b="1" i="1" dirty="0" smtClean="0">
                <a:latin typeface="Consolas" pitchFamily="49" charset="0"/>
              </a:rPr>
              <a:t>	...</a:t>
            </a:r>
          </a:p>
          <a:p>
            <a:pPr lvl="1">
              <a:buNone/>
            </a:pPr>
            <a:r>
              <a:rPr lang="en-US" sz="2000" b="1" i="1" dirty="0" smtClean="0">
                <a:latin typeface="Consolas" pitchFamily="49" charset="0"/>
              </a:rPr>
              <a:t> 	location / {</a:t>
            </a:r>
          </a:p>
          <a:p>
            <a:pPr lvl="1">
              <a:buNone/>
            </a:pPr>
            <a:r>
              <a:rPr lang="en-US" sz="2000" b="1" i="1" dirty="0" smtClean="0">
                <a:latin typeface="Consolas" pitchFamily="49" charset="0"/>
              </a:rPr>
              <a:t>            </a:t>
            </a:r>
            <a:r>
              <a:rPr lang="en-US" sz="2000" b="1" i="1" dirty="0" err="1" smtClean="0">
                <a:latin typeface="Consolas" pitchFamily="49" charset="0"/>
              </a:rPr>
              <a:t>proxy_pass</a:t>
            </a:r>
            <a:r>
              <a:rPr lang="en-US" sz="2000" b="1" i="1" dirty="0" smtClean="0">
                <a:latin typeface="Consolas" pitchFamily="49" charset="0"/>
              </a:rPr>
              <a:t> http://192.168.1.18:3001/;</a:t>
            </a:r>
          </a:p>
          <a:p>
            <a:pPr lvl="1">
              <a:buNone/>
            </a:pPr>
            <a:r>
              <a:rPr lang="en-US" sz="2000" b="1" i="1" dirty="0" smtClean="0">
                <a:latin typeface="Consolas" pitchFamily="49" charset="0"/>
              </a:rPr>
              <a:t>        }</a:t>
            </a:r>
          </a:p>
          <a:p>
            <a:pPr lvl="1">
              <a:buNone/>
            </a:pPr>
            <a:r>
              <a:rPr lang="en-US" sz="2000" b="1" i="1" dirty="0" smtClean="0">
                <a:latin typeface="Consolas" pitchFamily="49" charset="0"/>
              </a:rPr>
              <a:t>}</a:t>
            </a:r>
          </a:p>
          <a:p>
            <a:endParaRPr lang="en-US" sz="2000" dirty="0" smtClean="0">
              <a:latin typeface="Consolas" pitchFamily="49" charset="0"/>
            </a:endParaRPr>
          </a:p>
          <a:p>
            <a:r>
              <a:rPr lang="en-US" sz="2000" dirty="0" err="1" smtClean="0">
                <a:latin typeface="Consolas" pitchFamily="49" charset="0"/>
              </a:rPr>
              <a:t>sudo</a:t>
            </a:r>
            <a:r>
              <a:rPr lang="en-US" sz="2000" dirty="0" smtClean="0">
                <a:latin typeface="Consolas" pitchFamily="49" charset="0"/>
              </a:rPr>
              <a:t> </a:t>
            </a:r>
            <a:r>
              <a:rPr lang="en-US" sz="2000" dirty="0" err="1" smtClean="0">
                <a:latin typeface="Consolas" pitchFamily="49" charset="0"/>
              </a:rPr>
              <a:t>nginx</a:t>
            </a:r>
            <a:r>
              <a:rPr lang="en-US" sz="2000" dirty="0" smtClean="0">
                <a:latin typeface="Consolas" pitchFamily="49" charset="0"/>
              </a:rPr>
              <a:t> -t</a:t>
            </a:r>
          </a:p>
          <a:p>
            <a:r>
              <a:rPr lang="en-US" sz="2000" dirty="0" err="1" smtClean="0">
                <a:latin typeface="Consolas" pitchFamily="49" charset="0"/>
              </a:rPr>
              <a:t>sudo</a:t>
            </a:r>
            <a:r>
              <a:rPr lang="en-US" sz="2000" dirty="0" smtClean="0">
                <a:latin typeface="Consolas" pitchFamily="49" charset="0"/>
              </a:rPr>
              <a:t> service </a:t>
            </a:r>
            <a:r>
              <a:rPr lang="en-US" sz="2000" dirty="0" err="1" smtClean="0">
                <a:latin typeface="Consolas" pitchFamily="49" charset="0"/>
              </a:rPr>
              <a:t>nginx</a:t>
            </a:r>
            <a:r>
              <a:rPr lang="en-US" sz="2000" dirty="0" smtClean="0">
                <a:latin typeface="Consolas" pitchFamily="49" charset="0"/>
              </a:rPr>
              <a:t> reload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8. Test Passing Requests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latin typeface="+mj-lt"/>
                <a:hlinkClick r:id="rId2"/>
              </a:rPr>
              <a:t>http://192.168.1.18</a:t>
            </a:r>
            <a:endParaRPr lang="en-US" sz="2400" dirty="0" smtClean="0">
              <a:latin typeface="+mj-lt"/>
            </a:endParaRPr>
          </a:p>
          <a:p>
            <a:endParaRPr lang="en-US" sz="2400" dirty="0" smtClean="0">
              <a:latin typeface="+mj-lt"/>
            </a:endParaRPr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981200" y="3352800"/>
            <a:ext cx="5102225" cy="1390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9. Implement Load Balancing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err="1" smtClean="0">
                <a:latin typeface="Consolas" pitchFamily="49" charset="0"/>
              </a:rPr>
              <a:t>sudo</a:t>
            </a:r>
            <a:r>
              <a:rPr lang="en-US" sz="2000" dirty="0" smtClean="0">
                <a:latin typeface="Consolas" pitchFamily="49" charset="0"/>
              </a:rPr>
              <a:t> </a:t>
            </a:r>
            <a:r>
              <a:rPr lang="en-US" sz="2000" dirty="0" err="1" smtClean="0">
                <a:latin typeface="Consolas" pitchFamily="49" charset="0"/>
              </a:rPr>
              <a:t>nano</a:t>
            </a:r>
            <a:r>
              <a:rPr lang="en-US" sz="2000" dirty="0" smtClean="0">
                <a:latin typeface="Consolas" pitchFamily="49" charset="0"/>
              </a:rPr>
              <a:t> /etc/</a:t>
            </a:r>
            <a:r>
              <a:rPr lang="en-US" sz="2000" dirty="0" err="1" smtClean="0">
                <a:latin typeface="Consolas" pitchFamily="49" charset="0"/>
              </a:rPr>
              <a:t>nginx</a:t>
            </a:r>
            <a:r>
              <a:rPr lang="en-US" sz="2000" dirty="0" smtClean="0">
                <a:latin typeface="Consolas" pitchFamily="49" charset="0"/>
              </a:rPr>
              <a:t>/sites-available/default</a:t>
            </a:r>
          </a:p>
          <a:p>
            <a:pPr lvl="1">
              <a:buNone/>
            </a:pPr>
            <a:r>
              <a:rPr lang="en-US" sz="1600" b="1" i="1" dirty="0" smtClean="0">
                <a:latin typeface="Consolas" pitchFamily="49" charset="0"/>
              </a:rPr>
              <a:t>upstream </a:t>
            </a:r>
            <a:r>
              <a:rPr lang="en-US" sz="1600" b="1" i="1" dirty="0" err="1" smtClean="0">
                <a:latin typeface="Consolas" pitchFamily="49" charset="0"/>
              </a:rPr>
              <a:t>lbweb</a:t>
            </a:r>
            <a:r>
              <a:rPr lang="en-US" sz="1600" b="1" i="1" dirty="0" smtClean="0">
                <a:latin typeface="Consolas" pitchFamily="49" charset="0"/>
              </a:rPr>
              <a:t> {</a:t>
            </a:r>
          </a:p>
          <a:p>
            <a:pPr lvl="1">
              <a:buNone/>
            </a:pPr>
            <a:r>
              <a:rPr lang="en-US" sz="1600" b="1" i="1" dirty="0" smtClean="0">
                <a:latin typeface="Consolas" pitchFamily="49" charset="0"/>
              </a:rPr>
              <a:t>        server 192.168.1.19:3000 weight=1;</a:t>
            </a:r>
          </a:p>
          <a:p>
            <a:pPr lvl="1">
              <a:buNone/>
            </a:pPr>
            <a:r>
              <a:rPr lang="en-US" sz="1600" b="1" i="1" dirty="0" smtClean="0">
                <a:latin typeface="Consolas" pitchFamily="49" charset="0"/>
              </a:rPr>
              <a:t>        server 192.168.1.19:3001 weight=2;</a:t>
            </a:r>
          </a:p>
          <a:p>
            <a:pPr lvl="1">
              <a:buNone/>
            </a:pPr>
            <a:r>
              <a:rPr lang="en-US" sz="1600" b="1" i="1" dirty="0" smtClean="0">
                <a:latin typeface="Consolas" pitchFamily="49" charset="0"/>
              </a:rPr>
              <a:t>}</a:t>
            </a:r>
          </a:p>
          <a:p>
            <a:pPr lvl="1">
              <a:buNone/>
            </a:pPr>
            <a:endParaRPr lang="en-US" sz="1600" i="1" dirty="0" smtClean="0">
              <a:latin typeface="Consolas" pitchFamily="49" charset="0"/>
            </a:endParaRPr>
          </a:p>
          <a:p>
            <a:pPr lvl="1">
              <a:buNone/>
            </a:pPr>
            <a:r>
              <a:rPr lang="en-US" sz="1600" b="1" i="1" dirty="0" smtClean="0">
                <a:latin typeface="Consolas" pitchFamily="49" charset="0"/>
              </a:rPr>
              <a:t>server {</a:t>
            </a:r>
          </a:p>
          <a:p>
            <a:pPr lvl="1">
              <a:buNone/>
            </a:pPr>
            <a:r>
              <a:rPr lang="en-US" sz="1600" i="1" dirty="0" smtClean="0">
                <a:latin typeface="Consolas" pitchFamily="49" charset="0"/>
              </a:rPr>
              <a:t>	 ...</a:t>
            </a:r>
          </a:p>
          <a:p>
            <a:pPr lvl="1">
              <a:buNone/>
            </a:pPr>
            <a:r>
              <a:rPr lang="en-US" sz="1600" b="1" i="1" dirty="0" smtClean="0">
                <a:latin typeface="Consolas" pitchFamily="49" charset="0"/>
              </a:rPr>
              <a:t>        location / {</a:t>
            </a:r>
          </a:p>
          <a:p>
            <a:pPr lvl="1">
              <a:buNone/>
            </a:pPr>
            <a:r>
              <a:rPr lang="en-US" sz="1600" b="1" i="1" dirty="0" smtClean="0">
                <a:latin typeface="Consolas" pitchFamily="49" charset="0"/>
              </a:rPr>
              <a:t>            </a:t>
            </a:r>
            <a:r>
              <a:rPr lang="en-US" sz="1600" b="1" i="1" dirty="0" err="1" smtClean="0">
                <a:latin typeface="Consolas" pitchFamily="49" charset="0"/>
              </a:rPr>
              <a:t>proxy_pass</a:t>
            </a:r>
            <a:r>
              <a:rPr lang="en-US" sz="1600" b="1" i="1" dirty="0" smtClean="0">
                <a:latin typeface="Consolas" pitchFamily="49" charset="0"/>
              </a:rPr>
              <a:t> http://lbweb/;</a:t>
            </a:r>
          </a:p>
          <a:p>
            <a:pPr lvl="1">
              <a:buNone/>
            </a:pPr>
            <a:r>
              <a:rPr lang="en-US" sz="1600" b="1" i="1" dirty="0" smtClean="0">
                <a:latin typeface="Consolas" pitchFamily="49" charset="0"/>
              </a:rPr>
              <a:t>        }</a:t>
            </a:r>
          </a:p>
          <a:p>
            <a:pPr lvl="1">
              <a:buNone/>
            </a:pPr>
            <a:r>
              <a:rPr lang="en-US" sz="1600" i="1" dirty="0" smtClean="0">
                <a:latin typeface="Consolas" pitchFamily="49" charset="0"/>
              </a:rPr>
              <a:t>}</a:t>
            </a:r>
          </a:p>
          <a:p>
            <a:r>
              <a:rPr lang="en-US" sz="2000" dirty="0" err="1" smtClean="0">
                <a:latin typeface="Consolas" pitchFamily="49" charset="0"/>
              </a:rPr>
              <a:t>sudo</a:t>
            </a:r>
            <a:r>
              <a:rPr lang="en-US" sz="2000" dirty="0" smtClean="0">
                <a:latin typeface="Consolas" pitchFamily="49" charset="0"/>
              </a:rPr>
              <a:t> </a:t>
            </a:r>
            <a:r>
              <a:rPr lang="en-US" sz="2000" dirty="0" err="1" smtClean="0">
                <a:latin typeface="Consolas" pitchFamily="49" charset="0"/>
              </a:rPr>
              <a:t>nginx</a:t>
            </a:r>
            <a:r>
              <a:rPr lang="en-US" sz="2000" dirty="0" smtClean="0">
                <a:latin typeface="Consolas" pitchFamily="49" charset="0"/>
              </a:rPr>
              <a:t> -t</a:t>
            </a:r>
          </a:p>
          <a:p>
            <a:r>
              <a:rPr lang="en-US" sz="2000" dirty="0" err="1" smtClean="0">
                <a:latin typeface="Consolas" pitchFamily="49" charset="0"/>
              </a:rPr>
              <a:t>sudo</a:t>
            </a:r>
            <a:r>
              <a:rPr lang="en-US" sz="2000" dirty="0" smtClean="0">
                <a:latin typeface="Consolas" pitchFamily="49" charset="0"/>
              </a:rPr>
              <a:t> service </a:t>
            </a:r>
            <a:r>
              <a:rPr lang="en-US" sz="2000" dirty="0" err="1" smtClean="0">
                <a:latin typeface="Consolas" pitchFamily="49" charset="0"/>
              </a:rPr>
              <a:t>nginx</a:t>
            </a:r>
            <a:r>
              <a:rPr lang="en-US" sz="2000" dirty="0" smtClean="0">
                <a:latin typeface="Consolas" pitchFamily="49" charset="0"/>
              </a:rPr>
              <a:t> reload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10. Test Load Balancing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latin typeface="+mj-lt"/>
                <a:hlinkClick r:id="rId2"/>
              </a:rPr>
              <a:t>http://192.168.1.18</a:t>
            </a:r>
            <a:r>
              <a:rPr lang="en-US" sz="2200" dirty="0" smtClean="0">
                <a:latin typeface="+mj-lt"/>
              </a:rPr>
              <a:t> (Use private browsing to prevent potential cache).</a:t>
            </a:r>
          </a:p>
          <a:p>
            <a:endParaRPr lang="en-US" sz="2200" dirty="0" smtClean="0">
              <a:latin typeface="+mj-lt"/>
            </a:endParaRPr>
          </a:p>
          <a:p>
            <a:endParaRPr lang="en-US" sz="2200" dirty="0" smtClean="0">
              <a:latin typeface="+mj-lt"/>
            </a:endParaRPr>
          </a:p>
          <a:p>
            <a:endParaRPr lang="en-US" sz="2200" dirty="0" smtClean="0">
              <a:latin typeface="+mj-lt"/>
            </a:endParaRPr>
          </a:p>
          <a:p>
            <a:endParaRPr lang="en-US" sz="2200" dirty="0" smtClean="0">
              <a:latin typeface="+mj-lt"/>
            </a:endParaRPr>
          </a:p>
          <a:p>
            <a:r>
              <a:rPr lang="en-US" sz="2200" dirty="0" smtClean="0">
                <a:hlinkClick r:id="rId2"/>
              </a:rPr>
              <a:t>http://192.168.1.18</a:t>
            </a:r>
            <a:endParaRPr lang="en-US" sz="2200" dirty="0" smtClean="0"/>
          </a:p>
          <a:p>
            <a:endParaRPr lang="en-US" sz="2200" dirty="0" smtClean="0">
              <a:latin typeface="+mj-lt"/>
            </a:endParaRPr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057400" y="2419350"/>
            <a:ext cx="5102225" cy="1390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147" name="Picture 3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2133600" y="4495800"/>
            <a:ext cx="5102225" cy="1390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Install </a:t>
            </a:r>
            <a:r>
              <a:rPr lang="en-US" dirty="0" err="1" smtClean="0"/>
              <a:t>haproxy</a:t>
            </a:r>
            <a:r>
              <a:rPr lang="en-US" dirty="0" smtClean="0"/>
              <a:t> on </a:t>
            </a:r>
            <a:r>
              <a:rPr lang="en-US" dirty="0" err="1" smtClean="0"/>
              <a:t>Ubuntu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err="1" smtClean="0">
                <a:latin typeface="Consolas" pitchFamily="49" charset="0"/>
              </a:rPr>
              <a:t>sudo</a:t>
            </a:r>
            <a:r>
              <a:rPr lang="en-US" sz="2000" dirty="0" smtClean="0">
                <a:latin typeface="Consolas" pitchFamily="49" charset="0"/>
              </a:rPr>
              <a:t> apt install </a:t>
            </a:r>
            <a:r>
              <a:rPr lang="en-US" sz="2000" dirty="0" err="1" smtClean="0">
                <a:latin typeface="Consolas" pitchFamily="49" charset="0"/>
              </a:rPr>
              <a:t>haproxy</a:t>
            </a:r>
            <a:endParaRPr lang="en-US" sz="2000" dirty="0" smtClean="0">
              <a:latin typeface="Consolas" pitchFamily="49" charset="0"/>
            </a:endParaRPr>
          </a:p>
          <a:p>
            <a:r>
              <a:rPr lang="en-US" sz="2000" dirty="0" err="1" smtClean="0">
                <a:latin typeface="Consolas" pitchFamily="49" charset="0"/>
              </a:rPr>
              <a:t>haproxy</a:t>
            </a:r>
            <a:r>
              <a:rPr lang="en-US" sz="2000" dirty="0" smtClean="0">
                <a:latin typeface="Consolas" pitchFamily="49" charset="0"/>
              </a:rPr>
              <a:t> -v</a:t>
            </a:r>
            <a:endParaRPr lang="en-US" sz="2000" dirty="0">
              <a:latin typeface="Consolas" pitchFamily="49" charset="0"/>
            </a:endParaRPr>
          </a:p>
        </p:txBody>
      </p:sp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43000" y="2667000"/>
            <a:ext cx="6717030" cy="7772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Build from Source in </a:t>
            </a:r>
            <a:r>
              <a:rPr lang="en-US" dirty="0" err="1" smtClean="0"/>
              <a:t>Ubuntu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err="1" smtClean="0">
                <a:latin typeface="Consolas" pitchFamily="49" charset="0"/>
              </a:rPr>
              <a:t>sudo</a:t>
            </a:r>
            <a:r>
              <a:rPr lang="en-US" sz="2000" dirty="0" smtClean="0">
                <a:latin typeface="Consolas" pitchFamily="49" charset="0"/>
              </a:rPr>
              <a:t> apt install </a:t>
            </a:r>
            <a:r>
              <a:rPr lang="en-US" sz="2000" dirty="0" err="1" smtClean="0">
                <a:latin typeface="Consolas" pitchFamily="49" charset="0"/>
              </a:rPr>
              <a:t>libssl</a:t>
            </a:r>
            <a:r>
              <a:rPr lang="en-US" sz="2000" dirty="0" smtClean="0">
                <a:latin typeface="Consolas" pitchFamily="49" charset="0"/>
              </a:rPr>
              <a:t>-dev</a:t>
            </a:r>
          </a:p>
          <a:p>
            <a:r>
              <a:rPr lang="en-US" sz="2000" dirty="0" err="1" smtClean="0">
                <a:latin typeface="Consolas" pitchFamily="49" charset="0"/>
              </a:rPr>
              <a:t>sudo</a:t>
            </a:r>
            <a:r>
              <a:rPr lang="en-US" sz="2000" dirty="0" smtClean="0">
                <a:latin typeface="Consolas" pitchFamily="49" charset="0"/>
              </a:rPr>
              <a:t> apt-get install zlib1g-dev</a:t>
            </a:r>
          </a:p>
          <a:p>
            <a:r>
              <a:rPr lang="en-US" sz="2000" dirty="0" smtClean="0">
                <a:latin typeface="Consolas" pitchFamily="49" charset="0"/>
              </a:rPr>
              <a:t>curl -O https://www.haproxy.org/download/2.4/src/haproxy-2.4.0.tar.gz</a:t>
            </a:r>
          </a:p>
          <a:p>
            <a:r>
              <a:rPr lang="en-US" sz="2000" dirty="0" smtClean="0">
                <a:latin typeface="Consolas" pitchFamily="49" charset="0"/>
              </a:rPr>
              <a:t>tar -</a:t>
            </a:r>
            <a:r>
              <a:rPr lang="en-US" sz="2000" dirty="0" err="1" smtClean="0">
                <a:latin typeface="Consolas" pitchFamily="49" charset="0"/>
              </a:rPr>
              <a:t>xf</a:t>
            </a:r>
            <a:r>
              <a:rPr lang="en-US" sz="2000" dirty="0" smtClean="0">
                <a:latin typeface="Consolas" pitchFamily="49" charset="0"/>
              </a:rPr>
              <a:t> haproxy-2.4.0.tar.gz</a:t>
            </a:r>
          </a:p>
          <a:p>
            <a:r>
              <a:rPr lang="en-US" sz="2000" dirty="0" err="1" smtClean="0">
                <a:latin typeface="Consolas" pitchFamily="49" charset="0"/>
              </a:rPr>
              <a:t>cd</a:t>
            </a:r>
            <a:r>
              <a:rPr lang="en-US" sz="2000" dirty="0" smtClean="0">
                <a:latin typeface="Consolas" pitchFamily="49" charset="0"/>
              </a:rPr>
              <a:t> haproxy-2.4.0</a:t>
            </a:r>
          </a:p>
          <a:p>
            <a:r>
              <a:rPr lang="en-US" sz="2000" dirty="0" smtClean="0">
                <a:latin typeface="Consolas" pitchFamily="49" charset="0"/>
              </a:rPr>
              <a:t>make -j4 TARGET=</a:t>
            </a:r>
            <a:r>
              <a:rPr lang="en-US" sz="2000" dirty="0" err="1" smtClean="0">
                <a:latin typeface="Consolas" pitchFamily="49" charset="0"/>
              </a:rPr>
              <a:t>linux-glibc</a:t>
            </a:r>
            <a:r>
              <a:rPr lang="en-US" sz="2000" dirty="0" smtClean="0">
                <a:latin typeface="Consolas" pitchFamily="49" charset="0"/>
              </a:rPr>
              <a:t> USE_ZLIB=yes USE_OPENSSL=yes</a:t>
            </a:r>
          </a:p>
          <a:p>
            <a:r>
              <a:rPr lang="en-US" sz="2000" dirty="0" err="1" smtClean="0">
                <a:latin typeface="Consolas" pitchFamily="49" charset="0"/>
              </a:rPr>
              <a:t>sudo</a:t>
            </a:r>
            <a:r>
              <a:rPr lang="en-US" sz="2000" dirty="0" smtClean="0">
                <a:latin typeface="Consolas" pitchFamily="49" charset="0"/>
              </a:rPr>
              <a:t> make install</a:t>
            </a:r>
          </a:p>
          <a:p>
            <a:r>
              <a:rPr lang="en-US" sz="2000" dirty="0" err="1" smtClean="0">
                <a:latin typeface="Consolas" pitchFamily="49" charset="0"/>
              </a:rPr>
              <a:t>haproxy</a:t>
            </a:r>
            <a:r>
              <a:rPr lang="en-US" sz="2000" dirty="0" smtClean="0">
                <a:latin typeface="Consolas" pitchFamily="49" charset="0"/>
              </a:rPr>
              <a:t> -v</a:t>
            </a:r>
            <a:endParaRPr lang="en-US" sz="2000" dirty="0">
              <a:latin typeface="Consolas" pitchFamily="49" charset="0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Start </a:t>
            </a:r>
            <a:r>
              <a:rPr lang="en-US" dirty="0" err="1" smtClean="0"/>
              <a:t>haproxy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err="1" smtClean="0">
                <a:latin typeface="Consolas" pitchFamily="49" charset="0"/>
              </a:rPr>
              <a:t>mkdir</a:t>
            </a:r>
            <a:r>
              <a:rPr lang="en-US" sz="2000" dirty="0" smtClean="0">
                <a:latin typeface="Consolas" pitchFamily="49" charset="0"/>
              </a:rPr>
              <a:t> </a:t>
            </a:r>
            <a:r>
              <a:rPr lang="en-US" sz="2000" dirty="0" err="1" smtClean="0">
                <a:latin typeface="Consolas" pitchFamily="49" charset="0"/>
              </a:rPr>
              <a:t>haproxy</a:t>
            </a:r>
            <a:endParaRPr lang="en-US" sz="2000" dirty="0" smtClean="0">
              <a:latin typeface="Consolas" pitchFamily="49" charset="0"/>
            </a:endParaRPr>
          </a:p>
          <a:p>
            <a:r>
              <a:rPr lang="en-US" sz="2000" dirty="0" err="1" smtClean="0">
                <a:latin typeface="Consolas" pitchFamily="49" charset="0"/>
              </a:rPr>
              <a:t>cd</a:t>
            </a:r>
            <a:r>
              <a:rPr lang="en-US" sz="2000" dirty="0" smtClean="0">
                <a:latin typeface="Consolas" pitchFamily="49" charset="0"/>
              </a:rPr>
              <a:t> </a:t>
            </a:r>
            <a:r>
              <a:rPr lang="en-US" sz="2000" dirty="0" err="1" smtClean="0">
                <a:latin typeface="Consolas" pitchFamily="49" charset="0"/>
              </a:rPr>
              <a:t>haproxy</a:t>
            </a:r>
            <a:endParaRPr lang="en-US" sz="2000" dirty="0" smtClean="0">
              <a:latin typeface="Consolas" pitchFamily="49" charset="0"/>
            </a:endParaRPr>
          </a:p>
          <a:p>
            <a:r>
              <a:rPr lang="en-US" sz="2000" dirty="0" err="1" smtClean="0">
                <a:latin typeface="Consolas" pitchFamily="49" charset="0"/>
              </a:rPr>
              <a:t>sudo</a:t>
            </a:r>
            <a:r>
              <a:rPr lang="en-US" sz="2000" dirty="0" smtClean="0">
                <a:latin typeface="Consolas" pitchFamily="49" charset="0"/>
              </a:rPr>
              <a:t> </a:t>
            </a:r>
            <a:r>
              <a:rPr lang="en-US" sz="2000" dirty="0" err="1" smtClean="0">
                <a:latin typeface="Consolas" pitchFamily="49" charset="0"/>
              </a:rPr>
              <a:t>nano</a:t>
            </a:r>
            <a:r>
              <a:rPr lang="en-US" sz="2000" dirty="0" smtClean="0">
                <a:latin typeface="Consolas" pitchFamily="49" charset="0"/>
              </a:rPr>
              <a:t> stats.cfg</a:t>
            </a:r>
          </a:p>
          <a:p>
            <a:endParaRPr lang="en-US" sz="2000" dirty="0" smtClean="0">
              <a:latin typeface="Consolas" pitchFamily="49" charset="0"/>
            </a:endParaRPr>
          </a:p>
          <a:p>
            <a:endParaRPr lang="en-US" sz="2000" dirty="0" smtClean="0">
              <a:latin typeface="Consolas" pitchFamily="49" charset="0"/>
            </a:endParaRPr>
          </a:p>
          <a:p>
            <a:endParaRPr lang="en-US" sz="2000" dirty="0" smtClean="0">
              <a:latin typeface="Consolas" pitchFamily="49" charset="0"/>
            </a:endParaRPr>
          </a:p>
          <a:p>
            <a:endParaRPr lang="en-US" sz="2000" dirty="0" smtClean="0">
              <a:latin typeface="Consolas" pitchFamily="49" charset="0"/>
            </a:endParaRPr>
          </a:p>
          <a:p>
            <a:endParaRPr lang="en-US" sz="2000" dirty="0" smtClean="0">
              <a:latin typeface="Consolas" pitchFamily="49" charset="0"/>
            </a:endParaRPr>
          </a:p>
          <a:p>
            <a:endParaRPr lang="en-US" sz="2000" dirty="0" smtClean="0">
              <a:latin typeface="Consolas" pitchFamily="49" charset="0"/>
            </a:endParaRPr>
          </a:p>
          <a:p>
            <a:r>
              <a:rPr lang="en-US" sz="2000" dirty="0" err="1" smtClean="0">
                <a:latin typeface="Consolas" pitchFamily="49" charset="0"/>
              </a:rPr>
              <a:t>haproxy</a:t>
            </a:r>
            <a:r>
              <a:rPr lang="en-US" sz="2000" dirty="0" smtClean="0">
                <a:latin typeface="Consolas" pitchFamily="49" charset="0"/>
              </a:rPr>
              <a:t> -f stats.cfg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0" y="3170872"/>
            <a:ext cx="4572000" cy="1477328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dirty="0" smtClean="0">
                <a:latin typeface="Consolas" pitchFamily="49" charset="0"/>
              </a:rPr>
              <a:t>frontend inbound</a:t>
            </a:r>
          </a:p>
          <a:p>
            <a:r>
              <a:rPr lang="en-US" dirty="0" smtClean="0">
                <a:latin typeface="Consolas" pitchFamily="49" charset="0"/>
              </a:rPr>
              <a:t>        mode http</a:t>
            </a:r>
          </a:p>
          <a:p>
            <a:r>
              <a:rPr lang="en-US" dirty="0" smtClean="0">
                <a:latin typeface="Consolas" pitchFamily="49" charset="0"/>
              </a:rPr>
              <a:t>        bind localhost:8000</a:t>
            </a:r>
          </a:p>
          <a:p>
            <a:r>
              <a:rPr lang="en-US" dirty="0" smtClean="0">
                <a:latin typeface="Consolas" pitchFamily="49" charset="0"/>
              </a:rPr>
              <a:t>        stats enable</a:t>
            </a:r>
          </a:p>
          <a:p>
            <a:r>
              <a:rPr lang="en-US" dirty="0" smtClean="0">
                <a:latin typeface="Consolas" pitchFamily="49" charset="0"/>
              </a:rPr>
              <a:t>        stats </a:t>
            </a:r>
            <a:r>
              <a:rPr lang="en-US" dirty="0" err="1" smtClean="0">
                <a:latin typeface="Consolas" pitchFamily="49" charset="0"/>
              </a:rPr>
              <a:t>uri</a:t>
            </a:r>
            <a:r>
              <a:rPr lang="en-US" dirty="0" smtClean="0">
                <a:latin typeface="Consolas" pitchFamily="49" charset="0"/>
              </a:rPr>
              <a:t> /</a:t>
            </a:r>
            <a:r>
              <a:rPr lang="en-US" dirty="0" err="1" smtClean="0">
                <a:latin typeface="Consolas" pitchFamily="49" charset="0"/>
              </a:rPr>
              <a:t>admin?stats</a:t>
            </a:r>
            <a:endParaRPr lang="en-US" dirty="0">
              <a:latin typeface="Consolas" pitchFamily="49" charset="0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Test </a:t>
            </a:r>
            <a:r>
              <a:rPr lang="en-US" dirty="0" err="1" smtClean="0"/>
              <a:t>haproxy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http://192.168.1.18:8000/admin?stats</a:t>
            </a:r>
            <a:endParaRPr lang="en-US" sz="2400" dirty="0" smtClean="0"/>
          </a:p>
          <a:p>
            <a:endParaRPr lang="en-US" sz="2400" dirty="0"/>
          </a:p>
        </p:txBody>
      </p:sp>
      <p:pic>
        <p:nvPicPr>
          <p:cNvPr id="8194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01725" y="2390775"/>
            <a:ext cx="6940550" cy="3781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Implement Load Balancing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err="1" smtClean="0">
                <a:latin typeface="Consolas" pitchFamily="49" charset="0"/>
              </a:rPr>
              <a:t>mkdir</a:t>
            </a:r>
            <a:r>
              <a:rPr lang="en-US" sz="2000" dirty="0" smtClean="0">
                <a:latin typeface="Consolas" pitchFamily="49" charset="0"/>
              </a:rPr>
              <a:t> </a:t>
            </a:r>
            <a:r>
              <a:rPr lang="en-US" sz="2000" dirty="0" err="1" smtClean="0">
                <a:latin typeface="Consolas" pitchFamily="49" charset="0"/>
              </a:rPr>
              <a:t>haproxy</a:t>
            </a:r>
            <a:endParaRPr lang="en-US" sz="2000" dirty="0" smtClean="0">
              <a:latin typeface="Consolas" pitchFamily="49" charset="0"/>
            </a:endParaRPr>
          </a:p>
          <a:p>
            <a:r>
              <a:rPr lang="en-US" sz="2000" dirty="0" err="1" smtClean="0">
                <a:latin typeface="Consolas" pitchFamily="49" charset="0"/>
              </a:rPr>
              <a:t>cd</a:t>
            </a:r>
            <a:r>
              <a:rPr lang="en-US" sz="2000" dirty="0" smtClean="0">
                <a:latin typeface="Consolas" pitchFamily="49" charset="0"/>
              </a:rPr>
              <a:t> </a:t>
            </a:r>
            <a:r>
              <a:rPr lang="en-US" sz="2000" dirty="0" err="1" smtClean="0">
                <a:latin typeface="Consolas" pitchFamily="49" charset="0"/>
              </a:rPr>
              <a:t>haproxy</a:t>
            </a:r>
            <a:endParaRPr lang="en-US" sz="2000" dirty="0" smtClean="0">
              <a:latin typeface="Consolas" pitchFamily="49" charset="0"/>
            </a:endParaRPr>
          </a:p>
          <a:p>
            <a:r>
              <a:rPr lang="en-US" sz="2000" dirty="0" err="1" smtClean="0">
                <a:latin typeface="Consolas" pitchFamily="49" charset="0"/>
              </a:rPr>
              <a:t>sudo</a:t>
            </a:r>
            <a:r>
              <a:rPr lang="en-US" sz="2000" dirty="0" smtClean="0">
                <a:latin typeface="Consolas" pitchFamily="49" charset="0"/>
              </a:rPr>
              <a:t> </a:t>
            </a:r>
            <a:r>
              <a:rPr lang="en-US" sz="2000" dirty="0" err="1" smtClean="0">
                <a:latin typeface="Consolas" pitchFamily="49" charset="0"/>
              </a:rPr>
              <a:t>nano</a:t>
            </a:r>
            <a:r>
              <a:rPr lang="en-US" sz="2000" dirty="0" smtClean="0">
                <a:latin typeface="Consolas" pitchFamily="49" charset="0"/>
              </a:rPr>
              <a:t> load-balance.cfg</a:t>
            </a:r>
          </a:p>
          <a:p>
            <a:endParaRPr lang="en-US" sz="2000" dirty="0" smtClean="0">
              <a:latin typeface="Consolas" pitchFamily="49" charset="0"/>
            </a:endParaRPr>
          </a:p>
          <a:p>
            <a:endParaRPr lang="en-US" sz="2000" dirty="0" smtClean="0">
              <a:latin typeface="Consolas" pitchFamily="49" charset="0"/>
            </a:endParaRPr>
          </a:p>
          <a:p>
            <a:endParaRPr lang="en-US" sz="2000" dirty="0" smtClean="0">
              <a:latin typeface="Consolas" pitchFamily="49" charset="0"/>
            </a:endParaRPr>
          </a:p>
          <a:p>
            <a:endParaRPr lang="en-US" sz="2000" dirty="0" smtClean="0">
              <a:latin typeface="Consolas" pitchFamily="49" charset="0"/>
            </a:endParaRPr>
          </a:p>
          <a:p>
            <a:endParaRPr lang="en-US" sz="2000" dirty="0" smtClean="0">
              <a:latin typeface="Consolas" pitchFamily="49" charset="0"/>
            </a:endParaRPr>
          </a:p>
          <a:p>
            <a:endParaRPr lang="en-US" sz="2000" dirty="0" smtClean="0">
              <a:latin typeface="Consolas" pitchFamily="49" charset="0"/>
            </a:endParaRPr>
          </a:p>
          <a:p>
            <a:r>
              <a:rPr lang="en-US" sz="2000" dirty="0" err="1" smtClean="0">
                <a:latin typeface="Consolas" pitchFamily="49" charset="0"/>
              </a:rPr>
              <a:t>haproxy</a:t>
            </a:r>
            <a:r>
              <a:rPr lang="en-US" sz="2000" dirty="0" smtClean="0">
                <a:latin typeface="Consolas" pitchFamily="49" charset="0"/>
              </a:rPr>
              <a:t> -f load-balance.cfg</a:t>
            </a:r>
          </a:p>
        </p:txBody>
      </p:sp>
      <p:sp>
        <p:nvSpPr>
          <p:cNvPr id="5" name="Rectangle 4"/>
          <p:cNvSpPr/>
          <p:nvPr/>
        </p:nvSpPr>
        <p:spPr>
          <a:xfrm>
            <a:off x="4876800" y="1828800"/>
            <a:ext cx="4038600" cy="3539430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1400" dirty="0" smtClean="0">
                <a:latin typeface="Consolas" pitchFamily="49" charset="0"/>
              </a:rPr>
              <a:t>defaults</a:t>
            </a:r>
          </a:p>
          <a:p>
            <a:r>
              <a:rPr lang="en-US" sz="1400" dirty="0" smtClean="0">
                <a:latin typeface="Consolas" pitchFamily="49" charset="0"/>
              </a:rPr>
              <a:t>  mode http</a:t>
            </a:r>
          </a:p>
          <a:p>
            <a:r>
              <a:rPr lang="en-US" sz="1400" dirty="0" smtClean="0">
                <a:latin typeface="Consolas" pitchFamily="49" charset="0"/>
              </a:rPr>
              <a:t>  timeout connect 5000ms</a:t>
            </a:r>
          </a:p>
          <a:p>
            <a:r>
              <a:rPr lang="en-US" sz="1400" dirty="0" smtClean="0">
                <a:latin typeface="Consolas" pitchFamily="49" charset="0"/>
              </a:rPr>
              <a:t>  timeout client 50000ms</a:t>
            </a:r>
          </a:p>
          <a:p>
            <a:r>
              <a:rPr lang="en-US" sz="1400" dirty="0" smtClean="0">
                <a:latin typeface="Consolas" pitchFamily="49" charset="0"/>
              </a:rPr>
              <a:t>  timeout server 50000ms</a:t>
            </a:r>
          </a:p>
          <a:p>
            <a:endParaRPr lang="en-US" sz="1400" dirty="0" smtClean="0">
              <a:latin typeface="Consolas" pitchFamily="49" charset="0"/>
            </a:endParaRPr>
          </a:p>
          <a:p>
            <a:r>
              <a:rPr lang="en-US" sz="1400" dirty="0" smtClean="0">
                <a:latin typeface="Consolas" pitchFamily="49" charset="0"/>
              </a:rPr>
              <a:t>frontend inbound</a:t>
            </a:r>
          </a:p>
          <a:p>
            <a:r>
              <a:rPr lang="en-US" sz="1400" dirty="0" smtClean="0">
                <a:latin typeface="Consolas" pitchFamily="49" charset="0"/>
              </a:rPr>
              <a:t>  bind 192.168.1.18:8000</a:t>
            </a:r>
          </a:p>
          <a:p>
            <a:r>
              <a:rPr lang="en-US" sz="1400" dirty="0" smtClean="0">
                <a:latin typeface="Consolas" pitchFamily="49" charset="0"/>
              </a:rPr>
              <a:t>  </a:t>
            </a:r>
            <a:r>
              <a:rPr lang="en-US" sz="1400" dirty="0" err="1" smtClean="0">
                <a:latin typeface="Consolas" pitchFamily="49" charset="0"/>
              </a:rPr>
              <a:t>default_backend</a:t>
            </a:r>
            <a:r>
              <a:rPr lang="en-US" sz="1400" dirty="0" smtClean="0">
                <a:latin typeface="Consolas" pitchFamily="49" charset="0"/>
              </a:rPr>
              <a:t> </a:t>
            </a:r>
            <a:r>
              <a:rPr lang="en-US" sz="1400" dirty="0" err="1" smtClean="0">
                <a:latin typeface="Consolas" pitchFamily="49" charset="0"/>
              </a:rPr>
              <a:t>lbweb</a:t>
            </a:r>
            <a:endParaRPr lang="en-US" sz="1400" dirty="0" smtClean="0">
              <a:latin typeface="Consolas" pitchFamily="49" charset="0"/>
            </a:endParaRPr>
          </a:p>
          <a:p>
            <a:r>
              <a:rPr lang="en-US" sz="1400" dirty="0" smtClean="0">
                <a:latin typeface="Consolas" pitchFamily="49" charset="0"/>
              </a:rPr>
              <a:t>  stats enable</a:t>
            </a:r>
          </a:p>
          <a:p>
            <a:r>
              <a:rPr lang="en-US" sz="1400" dirty="0" smtClean="0">
                <a:latin typeface="Consolas" pitchFamily="49" charset="0"/>
              </a:rPr>
              <a:t>  stats </a:t>
            </a:r>
            <a:r>
              <a:rPr lang="en-US" sz="1400" dirty="0" err="1" smtClean="0">
                <a:latin typeface="Consolas" pitchFamily="49" charset="0"/>
              </a:rPr>
              <a:t>uri</a:t>
            </a:r>
            <a:r>
              <a:rPr lang="en-US" sz="1400" dirty="0" smtClean="0">
                <a:latin typeface="Consolas" pitchFamily="49" charset="0"/>
              </a:rPr>
              <a:t> /</a:t>
            </a:r>
            <a:r>
              <a:rPr lang="en-US" sz="1400" dirty="0" err="1" smtClean="0">
                <a:latin typeface="Consolas" pitchFamily="49" charset="0"/>
              </a:rPr>
              <a:t>admin?stats</a:t>
            </a:r>
            <a:endParaRPr lang="en-US" sz="1400" dirty="0" smtClean="0">
              <a:latin typeface="Consolas" pitchFamily="49" charset="0"/>
            </a:endParaRPr>
          </a:p>
          <a:p>
            <a:endParaRPr lang="en-US" sz="1400" dirty="0" smtClean="0">
              <a:latin typeface="Consolas" pitchFamily="49" charset="0"/>
            </a:endParaRPr>
          </a:p>
          <a:p>
            <a:r>
              <a:rPr lang="en-US" sz="1400" dirty="0" smtClean="0">
                <a:latin typeface="Consolas" pitchFamily="49" charset="0"/>
              </a:rPr>
              <a:t>backend </a:t>
            </a:r>
            <a:r>
              <a:rPr lang="en-US" sz="1400" dirty="0" err="1" smtClean="0">
                <a:latin typeface="Consolas" pitchFamily="49" charset="0"/>
              </a:rPr>
              <a:t>lbweb</a:t>
            </a:r>
            <a:endParaRPr lang="en-US" sz="1400" dirty="0" smtClean="0">
              <a:latin typeface="Consolas" pitchFamily="49" charset="0"/>
            </a:endParaRPr>
          </a:p>
          <a:p>
            <a:r>
              <a:rPr lang="en-US" sz="1400" dirty="0" smtClean="0">
                <a:latin typeface="Consolas" pitchFamily="49" charset="0"/>
              </a:rPr>
              <a:t>  option </a:t>
            </a:r>
            <a:r>
              <a:rPr lang="en-US" sz="1400" dirty="0" err="1" smtClean="0">
                <a:latin typeface="Consolas" pitchFamily="49" charset="0"/>
              </a:rPr>
              <a:t>httpchk</a:t>
            </a:r>
            <a:r>
              <a:rPr lang="en-US" sz="1400" dirty="0" smtClean="0">
                <a:latin typeface="Consolas" pitchFamily="49" charset="0"/>
              </a:rPr>
              <a:t> GET /health</a:t>
            </a:r>
          </a:p>
          <a:p>
            <a:r>
              <a:rPr lang="en-US" sz="1400" dirty="0" smtClean="0">
                <a:latin typeface="Consolas" pitchFamily="49" charset="0"/>
              </a:rPr>
              <a:t>  server lbweb1 192.168.1.18:3001 check</a:t>
            </a:r>
          </a:p>
          <a:p>
            <a:r>
              <a:rPr lang="en-US" sz="1400" dirty="0" smtClean="0">
                <a:latin typeface="Consolas" pitchFamily="49" charset="0"/>
              </a:rPr>
              <a:t>  server lbweb2 192.168.1.18:3002 check</a:t>
            </a:r>
            <a:endParaRPr lang="en-US" sz="1400" dirty="0">
              <a:latin typeface="Consolas" pitchFamily="49" charset="0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5. Test Load Balancing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latin typeface="+mj-lt"/>
                <a:hlinkClick r:id="rId2"/>
              </a:rPr>
              <a:t>http://192.168.1.18:8000</a:t>
            </a:r>
            <a:r>
              <a:rPr lang="en-US" sz="2200" dirty="0" smtClean="0">
                <a:latin typeface="+mj-lt"/>
              </a:rPr>
              <a:t> (Use private browsing of different browsers to prevent potential cache).</a:t>
            </a:r>
          </a:p>
          <a:p>
            <a:endParaRPr lang="en-US" sz="2200" dirty="0" smtClean="0">
              <a:latin typeface="+mj-lt"/>
            </a:endParaRPr>
          </a:p>
          <a:p>
            <a:endParaRPr lang="en-US" sz="2200" dirty="0" smtClean="0">
              <a:latin typeface="+mj-lt"/>
            </a:endParaRPr>
          </a:p>
          <a:p>
            <a:endParaRPr lang="en-US" sz="2200" dirty="0" smtClean="0">
              <a:latin typeface="+mj-lt"/>
            </a:endParaRPr>
          </a:p>
          <a:p>
            <a:endParaRPr lang="en-US" sz="2200" dirty="0" smtClean="0">
              <a:latin typeface="+mj-lt"/>
            </a:endParaRPr>
          </a:p>
          <a:p>
            <a:r>
              <a:rPr lang="en-US" sz="2200" dirty="0" smtClean="0">
                <a:hlinkClick r:id="rId3"/>
              </a:rPr>
              <a:t>http://192.168.1.18</a:t>
            </a:r>
            <a:endParaRPr lang="en-US" sz="2200" dirty="0" smtClean="0"/>
          </a:p>
          <a:p>
            <a:endParaRPr lang="en-US" sz="2200" dirty="0" smtClean="0">
              <a:latin typeface="+mj-lt"/>
            </a:endParaRPr>
          </a:p>
        </p:txBody>
      </p:sp>
      <p:pic>
        <p:nvPicPr>
          <p:cNvPr id="9218" name="Picture 2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2413000" y="2514600"/>
            <a:ext cx="4318000" cy="1190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9219" name="Picture 3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1905000" y="4597400"/>
            <a:ext cx="5324475" cy="127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6. Review </a:t>
            </a:r>
            <a:r>
              <a:rPr lang="en-US" dirty="0" err="1" smtClean="0"/>
              <a:t>haproxy</a:t>
            </a:r>
            <a:r>
              <a:rPr lang="en-US" dirty="0" smtClean="0"/>
              <a:t> Reports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http://192.168.1.18:8000/admin?stats</a:t>
            </a:r>
            <a:endParaRPr lang="en-US" sz="2400" dirty="0" smtClean="0"/>
          </a:p>
          <a:p>
            <a:endParaRPr lang="en-US" sz="2400" dirty="0"/>
          </a:p>
        </p:txBody>
      </p:sp>
      <p:pic>
        <p:nvPicPr>
          <p:cNvPr id="10242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45820" y="2362200"/>
            <a:ext cx="7612380" cy="37109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Windows Network Load Balancing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200" dirty="0" smtClean="0">
                <a:hlinkClick r:id="rId2"/>
              </a:rPr>
              <a:t>http://www.serverlab.ca/tutorials/windows/web-servers/load-balancing-web-servers-with-windows-server-2012-r2/</a:t>
            </a:r>
            <a:endParaRPr lang="en-US" sz="2200" dirty="0" smtClean="0"/>
          </a:p>
          <a:p>
            <a:r>
              <a:rPr lang="en-US" sz="2200" dirty="0" smtClean="0"/>
              <a:t>Launch the </a:t>
            </a:r>
            <a:r>
              <a:rPr lang="en-US" sz="2200" b="1" dirty="0" smtClean="0"/>
              <a:t>Network Load Balancing Manager</a:t>
            </a:r>
            <a:r>
              <a:rPr lang="en-US" sz="2200" dirty="0" smtClean="0"/>
              <a:t>. This can be done by clicking the </a:t>
            </a:r>
            <a:r>
              <a:rPr lang="en-US" sz="2200" b="1" dirty="0" smtClean="0"/>
              <a:t>Tools</a:t>
            </a:r>
            <a:r>
              <a:rPr lang="en-US" sz="2200" dirty="0" smtClean="0"/>
              <a:t> menu in the </a:t>
            </a:r>
            <a:r>
              <a:rPr lang="en-US" sz="2200" b="1" dirty="0" smtClean="0"/>
              <a:t>Server Manager</a:t>
            </a:r>
            <a:r>
              <a:rPr lang="en-US" sz="2200" dirty="0" smtClean="0"/>
              <a:t>.</a:t>
            </a:r>
          </a:p>
          <a:p>
            <a:r>
              <a:rPr lang="en-US" sz="2200" dirty="0" smtClean="0"/>
              <a:t>From the top menu of the Network Load Balancing Manager, click </a:t>
            </a:r>
            <a:r>
              <a:rPr lang="en-US" sz="2200" b="1" dirty="0" smtClean="0"/>
              <a:t>Cluster</a:t>
            </a:r>
            <a:r>
              <a:rPr lang="en-US" sz="2200" dirty="0" smtClean="0"/>
              <a:t>, and then click </a:t>
            </a:r>
            <a:r>
              <a:rPr lang="en-US" sz="2200" b="1" dirty="0" smtClean="0"/>
              <a:t>New</a:t>
            </a:r>
            <a:r>
              <a:rPr lang="en-US" sz="2200" dirty="0" smtClean="0"/>
              <a:t>.</a:t>
            </a:r>
          </a:p>
          <a:p>
            <a:r>
              <a:rPr lang="en-US" sz="2200" dirty="0" smtClean="0"/>
              <a:t>Sticky sessions.</a:t>
            </a:r>
          </a:p>
        </p:txBody>
      </p:sp>
      <p:pic>
        <p:nvPicPr>
          <p:cNvPr id="80898" name="Picture 2" descr="http://www.serverlab.ca/wp-content/uploads/2014/04/64-figure-03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524000" y="4572000"/>
            <a:ext cx="6000750" cy="16764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Load Balancing Algorithms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https://www.youtube.com/watch?v=kpvbOzHUakA</a:t>
            </a:r>
            <a:endParaRPr lang="en-US" sz="2400" dirty="0" smtClean="0"/>
          </a:p>
          <a:p>
            <a:r>
              <a:rPr lang="en-US" sz="2400" dirty="0" smtClean="0"/>
              <a:t>Round Robin</a:t>
            </a:r>
          </a:p>
          <a:p>
            <a:r>
              <a:rPr lang="en-US" sz="2400" dirty="0" smtClean="0"/>
              <a:t>Weighted Round Robin</a:t>
            </a:r>
          </a:p>
          <a:p>
            <a:r>
              <a:rPr lang="en-US" sz="2400" dirty="0" smtClean="0"/>
              <a:t>Random</a:t>
            </a:r>
          </a:p>
          <a:p>
            <a:r>
              <a:rPr lang="en-US" sz="2400" dirty="0" smtClean="0"/>
              <a:t>Consistent Hashing</a:t>
            </a:r>
          </a:p>
          <a:p>
            <a:r>
              <a:rPr lang="en-US" sz="2400" dirty="0" smtClean="0"/>
              <a:t>Least Connections / Least Requests</a:t>
            </a:r>
          </a:p>
          <a:p>
            <a:r>
              <a:rPr lang="en-US" sz="2400" dirty="0" smtClean="0"/>
              <a:t>Power-of-Two Choices (common in large-scale RPC systems)</a:t>
            </a:r>
            <a:endParaRPr lang="en-US" sz="24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Sticky Routing Algorithms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 smtClean="0"/>
              <a:t>Select backend via </a:t>
            </a:r>
            <a:r>
              <a:rPr lang="en-US" sz="2800" i="1" dirty="0" smtClean="0">
                <a:solidFill>
                  <a:srgbClr val="C00000"/>
                </a:solidFill>
              </a:rPr>
              <a:t>hash of request attributes</a:t>
            </a:r>
            <a:r>
              <a:rPr lang="en-US" sz="2800" dirty="0" smtClean="0"/>
              <a:t>.</a:t>
            </a:r>
          </a:p>
          <a:p>
            <a:pPr lvl="1"/>
            <a:r>
              <a:rPr lang="en-US" sz="2400" dirty="0" smtClean="0"/>
              <a:t>Source IP hash</a:t>
            </a:r>
          </a:p>
          <a:p>
            <a:pPr lvl="1"/>
            <a:r>
              <a:rPr lang="en-US" sz="2400" dirty="0" smtClean="0"/>
              <a:t>5-tuple hash (</a:t>
            </a:r>
            <a:r>
              <a:rPr lang="fr-FR" sz="2400" dirty="0" smtClean="0"/>
              <a:t>source IP </a:t>
            </a:r>
            <a:r>
              <a:rPr lang="fr-FR" sz="2400" dirty="0" err="1" smtClean="0"/>
              <a:t>address</a:t>
            </a:r>
            <a:r>
              <a:rPr lang="fr-FR" sz="2400" dirty="0" smtClean="0"/>
              <a:t>, destination IP </a:t>
            </a:r>
            <a:r>
              <a:rPr lang="fr-FR" sz="2400" dirty="0" err="1" smtClean="0"/>
              <a:t>address</a:t>
            </a:r>
            <a:r>
              <a:rPr lang="fr-FR" sz="2400" dirty="0" smtClean="0"/>
              <a:t>, source port, destination port, </a:t>
            </a:r>
            <a:r>
              <a:rPr lang="fr-FR" sz="2400" dirty="0" err="1" smtClean="0"/>
              <a:t>protocol</a:t>
            </a:r>
            <a:r>
              <a:rPr lang="fr-FR" sz="2400" dirty="0" smtClean="0"/>
              <a:t> (e.g., TCP, UDP)</a:t>
            </a:r>
            <a:r>
              <a:rPr lang="en-US" sz="2400" dirty="0" smtClean="0"/>
              <a:t>)</a:t>
            </a:r>
          </a:p>
          <a:p>
            <a:pPr lvl="1"/>
            <a:r>
              <a:rPr lang="en-US" sz="2400" dirty="0" smtClean="0"/>
              <a:t>URL hash</a:t>
            </a:r>
          </a:p>
          <a:p>
            <a:pPr lvl="1"/>
            <a:r>
              <a:rPr lang="en-US" sz="2400" dirty="0" smtClean="0"/>
              <a:t>Header/cookie hash</a:t>
            </a:r>
          </a:p>
          <a:p>
            <a:pPr lvl="1"/>
            <a:r>
              <a:rPr lang="en-US" sz="2400" dirty="0" smtClean="0"/>
              <a:t>Consistent hashing</a:t>
            </a:r>
          </a:p>
          <a:p>
            <a:pPr lvl="1"/>
            <a:r>
              <a:rPr lang="en-US" sz="2400" dirty="0" smtClean="0"/>
              <a:t>Rendezvous (Highest Random Weight) hashing</a:t>
            </a:r>
          </a:p>
          <a:p>
            <a:pPr lvl="1"/>
            <a:r>
              <a:rPr lang="en-US" sz="2400" dirty="0" smtClean="0"/>
              <a:t>Maglev hashing</a:t>
            </a:r>
            <a:endParaRPr lang="en-US" sz="24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More about Algorithms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https://www.youtube.com/watch?v=6NdxUY1La2I</a:t>
            </a:r>
            <a:endParaRPr lang="en-US" sz="2400" dirty="0" smtClean="0"/>
          </a:p>
          <a:p>
            <a:endParaRPr lang="en-US" sz="24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The Tail at Scale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If:</a:t>
            </a:r>
          </a:p>
          <a:p>
            <a:pPr>
              <a:buNone/>
            </a:pPr>
            <a:r>
              <a:rPr lang="en-US" sz="2400" dirty="0" smtClean="0"/>
              <a:t>	</a:t>
            </a:r>
            <a:r>
              <a:rPr lang="en-US" sz="2400" dirty="0" smtClean="0"/>
              <a:t>Each </a:t>
            </a:r>
            <a:r>
              <a:rPr lang="en-US" sz="2400" dirty="0" err="1" smtClean="0"/>
              <a:t>subrequest</a:t>
            </a:r>
            <a:r>
              <a:rPr lang="en-US" sz="2400" dirty="0" smtClean="0"/>
              <a:t> has 1% probability of being slow (p99 event)</a:t>
            </a:r>
          </a:p>
          <a:p>
            <a:pPr>
              <a:buNone/>
            </a:pPr>
            <a:r>
              <a:rPr lang="en-US" sz="2400" dirty="0" smtClean="0"/>
              <a:t>	A </a:t>
            </a:r>
            <a:r>
              <a:rPr lang="en-US" sz="2400" dirty="0" smtClean="0"/>
              <a:t>page requires 100 parallel </a:t>
            </a:r>
            <a:r>
              <a:rPr lang="en-US" sz="2400" dirty="0" err="1" smtClean="0"/>
              <a:t>subrequests</a:t>
            </a:r>
            <a:endParaRPr lang="en-US" sz="2400" dirty="0" smtClean="0"/>
          </a:p>
          <a:p>
            <a:r>
              <a:rPr lang="en-US" sz="2400" dirty="0" smtClean="0"/>
              <a:t>Then:</a:t>
            </a:r>
          </a:p>
          <a:p>
            <a:pPr>
              <a:buNone/>
            </a:pPr>
            <a:r>
              <a:rPr lang="en-US" sz="2400" dirty="0" smtClean="0"/>
              <a:t>	P(at</a:t>
            </a:r>
            <a:r>
              <a:rPr lang="en-US" sz="2400" dirty="0" smtClean="0"/>
              <a:t> least one slow)≈1−(0.99)</a:t>
            </a:r>
            <a:r>
              <a:rPr lang="en-US" sz="2400" baseline="30000" dirty="0" smtClean="0"/>
              <a:t>100</a:t>
            </a:r>
            <a:r>
              <a:rPr lang="en-US" sz="2400" dirty="0" smtClean="0"/>
              <a:t>≈63% </a:t>
            </a:r>
          </a:p>
          <a:p>
            <a:r>
              <a:rPr lang="en-US" sz="2400" dirty="0" smtClean="0"/>
              <a:t>So even if each component is “99% fast,” the overall request is slow most of the time.</a:t>
            </a:r>
          </a:p>
          <a:p>
            <a:r>
              <a:rPr lang="en-US" sz="2400" dirty="0" smtClean="0"/>
              <a:t>This is why tail latency dominates user experience at scale.</a:t>
            </a:r>
            <a:endParaRPr lang="en-US" sz="24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Tail Latency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Instead of asking:</a:t>
            </a:r>
          </a:p>
          <a:p>
            <a:pPr>
              <a:buNone/>
            </a:pPr>
            <a:r>
              <a:rPr lang="en-US" sz="2400" dirty="0" smtClean="0"/>
              <a:t>	"</a:t>
            </a:r>
            <a:r>
              <a:rPr lang="en-US" sz="2400" dirty="0" smtClean="0"/>
              <a:t>What is the average latency?"</a:t>
            </a:r>
          </a:p>
          <a:p>
            <a:r>
              <a:rPr lang="en-US" sz="2400" dirty="0" smtClean="0"/>
              <a:t>tail latency asks:</a:t>
            </a:r>
          </a:p>
          <a:p>
            <a:pPr>
              <a:buNone/>
            </a:pPr>
            <a:r>
              <a:rPr lang="en-US" sz="2400" dirty="0" smtClean="0"/>
              <a:t>	"</a:t>
            </a:r>
            <a:r>
              <a:rPr lang="en-US" sz="2400" dirty="0" smtClean="0"/>
              <a:t>How slow are the slowest 1% (or 0.1%) of requests?"</a:t>
            </a:r>
          </a:p>
          <a:p>
            <a:r>
              <a:rPr lang="en-US" sz="2400" dirty="0" smtClean="0"/>
              <a:t>The </a:t>
            </a:r>
            <a:r>
              <a:rPr lang="en-US" sz="2400" b="1" dirty="0" smtClean="0"/>
              <a:t>p-</a:t>
            </a:r>
            <a:r>
              <a:rPr lang="en-US" sz="2400" b="1" dirty="0" err="1" smtClean="0"/>
              <a:t>th</a:t>
            </a:r>
            <a:r>
              <a:rPr lang="en-US" sz="2400" b="1" dirty="0" smtClean="0"/>
              <a:t> percentile latency</a:t>
            </a:r>
            <a:r>
              <a:rPr lang="en-US" sz="2400" dirty="0" smtClean="0"/>
              <a:t> is the value </a:t>
            </a:r>
            <a:r>
              <a:rPr lang="en-US" sz="2400" dirty="0" err="1" smtClean="0"/>
              <a:t>t</a:t>
            </a:r>
            <a:r>
              <a:rPr lang="en-US" sz="2400" baseline="-25000" dirty="0" err="1" smtClean="0"/>
              <a:t>p</a:t>
            </a:r>
            <a:r>
              <a:rPr lang="en-US" sz="2400" dirty="0" smtClean="0"/>
              <a:t>​ such that:</a:t>
            </a:r>
          </a:p>
          <a:p>
            <a:pPr>
              <a:buNone/>
            </a:pPr>
            <a:r>
              <a:rPr lang="en-US" sz="2400" dirty="0" smtClean="0"/>
              <a:t>	P(</a:t>
            </a:r>
            <a:r>
              <a:rPr lang="en-US" sz="2400" dirty="0" err="1" smtClean="0"/>
              <a:t>T</a:t>
            </a:r>
            <a:r>
              <a:rPr lang="en-US" sz="2400" dirty="0" err="1" smtClean="0"/>
              <a:t>≤t</a:t>
            </a:r>
            <a:r>
              <a:rPr lang="en-US" sz="2400" baseline="-25000" dirty="0" err="1" smtClean="0"/>
              <a:t>p</a:t>
            </a:r>
            <a:r>
              <a:rPr lang="en-US" sz="2400" dirty="0" smtClean="0"/>
              <a:t>)=p</a:t>
            </a:r>
          </a:p>
          <a:p>
            <a:pPr>
              <a:buNone/>
            </a:pPr>
            <a:r>
              <a:rPr lang="en-US" sz="2400" b="1" dirty="0" smtClean="0"/>
              <a:t>	p99 </a:t>
            </a:r>
            <a:r>
              <a:rPr lang="en-US" sz="2400" b="1" dirty="0" smtClean="0"/>
              <a:t>latency</a:t>
            </a:r>
            <a:r>
              <a:rPr lang="en-US" sz="2400" dirty="0" smtClean="0"/>
              <a:t>: 99% of requests complete faster than this value.</a:t>
            </a:r>
          </a:p>
          <a:p>
            <a:pPr>
              <a:buNone/>
            </a:pPr>
            <a:r>
              <a:rPr lang="en-US" sz="2400" b="1" dirty="0" smtClean="0"/>
              <a:t>	p99.9 </a:t>
            </a:r>
            <a:r>
              <a:rPr lang="en-US" sz="2400" b="1" dirty="0" smtClean="0"/>
              <a:t>latency</a:t>
            </a:r>
            <a:r>
              <a:rPr lang="en-US" sz="2400" dirty="0" smtClean="0"/>
              <a:t>: 99.9% complete faster.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Tail latency</a:t>
            </a:r>
            <a:r>
              <a:rPr lang="en-US" sz="2400" dirty="0" smtClean="0"/>
              <a:t> is the latency experienced by </a:t>
            </a:r>
            <a:r>
              <a:rPr lang="en-US" sz="2400" u="sng" dirty="0" smtClean="0"/>
              <a:t>the slowest fraction</a:t>
            </a:r>
            <a:r>
              <a:rPr lang="en-US" sz="2400" dirty="0" smtClean="0"/>
              <a:t> of requests in a system, typically measured at high percentiles (p95, p99, p99.9). Mathematically precise: </a:t>
            </a:r>
            <a:r>
              <a:rPr lang="en-US" sz="2400" b="1" dirty="0" smtClean="0"/>
              <a:t>right-tail latency</a:t>
            </a:r>
            <a:r>
              <a:rPr lang="en-US" sz="2400" b="1" dirty="0" smtClean="0"/>
              <a:t>.</a:t>
            </a:r>
            <a:endParaRPr lang="en-US" sz="2400" dirty="0" smtClean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Tail-tolerant </a:t>
            </a:r>
            <a:r>
              <a:rPr lang="en-US" smtClean="0"/>
              <a:t>Techniques [2]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Hedged requests</a:t>
            </a:r>
            <a:r>
              <a:rPr lang="en-US" sz="2400" dirty="0" smtClean="0"/>
              <a:t>. A simple way </a:t>
            </a:r>
            <a:r>
              <a:rPr lang="en-US" sz="2400" dirty="0" smtClean="0"/>
              <a:t>to curb </a:t>
            </a:r>
            <a:r>
              <a:rPr lang="en-US" sz="2400" dirty="0" smtClean="0"/>
              <a:t>latency variability is to issue </a:t>
            </a:r>
            <a:r>
              <a:rPr lang="en-US" sz="2400" dirty="0" smtClean="0"/>
              <a:t>the same </a:t>
            </a:r>
            <a:r>
              <a:rPr lang="en-US" sz="2400" dirty="0" smtClean="0"/>
              <a:t>request to </a:t>
            </a:r>
            <a:r>
              <a:rPr lang="en-US" sz="2400" u="sng" dirty="0" smtClean="0"/>
              <a:t>multiple replicas</a:t>
            </a:r>
            <a:r>
              <a:rPr lang="en-US" sz="2400" dirty="0" smtClean="0"/>
              <a:t> </a:t>
            </a:r>
            <a:r>
              <a:rPr lang="en-US" sz="2400" dirty="0" smtClean="0"/>
              <a:t>and use </a:t>
            </a:r>
            <a:r>
              <a:rPr lang="en-US" sz="2400" dirty="0" smtClean="0"/>
              <a:t>the results from whichever </a:t>
            </a:r>
            <a:r>
              <a:rPr lang="en-US" sz="2400" dirty="0" smtClean="0"/>
              <a:t>replica responds </a:t>
            </a:r>
            <a:r>
              <a:rPr lang="en-US" sz="2400" u="sng" dirty="0" smtClean="0"/>
              <a:t>first</a:t>
            </a:r>
            <a:r>
              <a:rPr lang="en-US" sz="2400" dirty="0" smtClean="0"/>
              <a:t>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Micro-partitions</a:t>
            </a:r>
            <a:r>
              <a:rPr lang="en-US" sz="2400" dirty="0" smtClean="0"/>
              <a:t>. To combat </a:t>
            </a:r>
            <a:r>
              <a:rPr lang="en-US" sz="2400" u="sng" dirty="0" smtClean="0"/>
              <a:t>imbalance</a:t>
            </a:r>
            <a:r>
              <a:rPr lang="en-US" sz="2400" dirty="0" smtClean="0"/>
              <a:t>, many of Google’s systems generate many </a:t>
            </a:r>
            <a:r>
              <a:rPr lang="en-US" sz="2400" u="sng" dirty="0" smtClean="0"/>
              <a:t>more partitions</a:t>
            </a:r>
            <a:r>
              <a:rPr lang="en-US" sz="2400" dirty="0" smtClean="0"/>
              <a:t> than there are machines in the service, then do dynamic assignment and </a:t>
            </a:r>
            <a:r>
              <a:rPr lang="en-US" sz="2400" u="sng" dirty="0" smtClean="0"/>
              <a:t>load balancing of these partitions</a:t>
            </a:r>
            <a:r>
              <a:rPr lang="en-US" sz="2400" dirty="0" smtClean="0"/>
              <a:t> to particular machines</a:t>
            </a:r>
            <a:r>
              <a:rPr lang="en-US" sz="2400" dirty="0" smtClean="0"/>
              <a:t>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Selective replication</a:t>
            </a:r>
            <a:r>
              <a:rPr lang="en-US" sz="2400" dirty="0" smtClean="0"/>
              <a:t>. An enhancement of the micro-partitioning scheme is to detect or even predict certain items that are likely to cause load imbalance and create additional replicas of these items</a:t>
            </a:r>
            <a:r>
              <a:rPr lang="en-US" sz="2400" dirty="0" smtClean="0"/>
              <a:t>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Thank You &amp; See You Again</a:t>
            </a:r>
          </a:p>
        </p:txBody>
      </p:sp>
      <p:pic>
        <p:nvPicPr>
          <p:cNvPr id="5" name="Content Placeholder 4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1143000" y="1676400"/>
            <a:ext cx="6810375" cy="4525963"/>
          </a:xfr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20751</TotalTime>
  <Words>1389</Words>
  <Application>Microsoft Office PowerPoint</Application>
  <PresentationFormat>On-screen Show (4:3)</PresentationFormat>
  <Paragraphs>294</Paragraphs>
  <Slides>48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49" baseType="lpstr">
      <vt:lpstr>Office Theme</vt:lpstr>
      <vt:lpstr>Load Balancing</vt:lpstr>
      <vt:lpstr>Objectives</vt:lpstr>
      <vt:lpstr>Contents</vt:lpstr>
      <vt:lpstr>References</vt:lpstr>
      <vt:lpstr>Solving a Problem: The Hard Part</vt:lpstr>
      <vt:lpstr>Why Learn a New Tool?</vt:lpstr>
      <vt:lpstr>Identify a Concrete Problem</vt:lpstr>
      <vt:lpstr>Typical Procedure</vt:lpstr>
      <vt:lpstr>Slide 9</vt:lpstr>
      <vt:lpstr>Why Load Balancing?</vt:lpstr>
      <vt:lpstr>Distributed Web-Server System [1]</vt:lpstr>
      <vt:lpstr>How to Route Requests?</vt:lpstr>
      <vt:lpstr>DNS-Based Approach</vt:lpstr>
      <vt:lpstr>Dispatcher-Based Approach</vt:lpstr>
      <vt:lpstr>Packet Single-Rewriting</vt:lpstr>
      <vt:lpstr>Packet Double-Rewriting</vt:lpstr>
      <vt:lpstr>WAN Network Dispatcher Architecture</vt:lpstr>
      <vt:lpstr>Slide 18</vt:lpstr>
      <vt:lpstr>Hardware Load Balancers</vt:lpstr>
      <vt:lpstr>Software Load Balancers</vt:lpstr>
      <vt:lpstr>1. Install Nginx</vt:lpstr>
      <vt:lpstr>2. Install Node.js</vt:lpstr>
      <vt:lpstr>3. Create 1st Node.js Web Application</vt:lpstr>
      <vt:lpstr>4. Run 1st Node.js Web Application</vt:lpstr>
      <vt:lpstr>5. Create 2nd Node.js Web Application</vt:lpstr>
      <vt:lpstr>6. Run 2nd Node.js Web Application</vt:lpstr>
      <vt:lpstr>7. Pass Requests to a Proxied Server</vt:lpstr>
      <vt:lpstr>8. Test Passing Requests</vt:lpstr>
      <vt:lpstr>9. Implement Load Balancing</vt:lpstr>
      <vt:lpstr>10. Test Load Balancing</vt:lpstr>
      <vt:lpstr>Slide 31</vt:lpstr>
      <vt:lpstr>1. Install haproxy on Ubuntu</vt:lpstr>
      <vt:lpstr>Build from Source in Ubuntu</vt:lpstr>
      <vt:lpstr>2. Start haproxy</vt:lpstr>
      <vt:lpstr>3. Test haproxy</vt:lpstr>
      <vt:lpstr>4. Implement Load Balancing</vt:lpstr>
      <vt:lpstr>5. Test Load Balancing</vt:lpstr>
      <vt:lpstr>6. Review haproxy Reports</vt:lpstr>
      <vt:lpstr>Slide 39</vt:lpstr>
      <vt:lpstr>Windows Network Load Balancing</vt:lpstr>
      <vt:lpstr>Slide 41</vt:lpstr>
      <vt:lpstr>Load Balancing Algorithms</vt:lpstr>
      <vt:lpstr>Sticky Routing Algorithms</vt:lpstr>
      <vt:lpstr>More about Algorithms</vt:lpstr>
      <vt:lpstr>The Tail at Scale</vt:lpstr>
      <vt:lpstr>Tail Latency</vt:lpstr>
      <vt:lpstr>Tail-tolerant Techniques [2]</vt:lpstr>
      <vt:lpstr>Thank You &amp; See You Again</vt:lpstr>
    </vt:vector>
  </TitlesOfParts>
  <Company>HuyBien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NgoHuyBien</dc:creator>
  <cp:lastModifiedBy>Ngo Huy Bien</cp:lastModifiedBy>
  <cp:revision>5038</cp:revision>
  <dcterms:created xsi:type="dcterms:W3CDTF">2007-10-06T08:25:13Z</dcterms:created>
  <dcterms:modified xsi:type="dcterms:W3CDTF">2026-02-28T17:47:19Z</dcterms:modified>
</cp:coreProperties>
</file>