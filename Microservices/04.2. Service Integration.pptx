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4"/>
  </p:notesMasterIdLst>
  <p:sldIdLst>
    <p:sldId id="558" r:id="rId2"/>
    <p:sldId id="517" r:id="rId3"/>
    <p:sldId id="529" r:id="rId4"/>
    <p:sldId id="530" r:id="rId5"/>
    <p:sldId id="531" r:id="rId6"/>
    <p:sldId id="532" r:id="rId7"/>
    <p:sldId id="534" r:id="rId8"/>
    <p:sldId id="559" r:id="rId9"/>
    <p:sldId id="541" r:id="rId10"/>
    <p:sldId id="549" r:id="rId11"/>
    <p:sldId id="550" r:id="rId12"/>
    <p:sldId id="542" r:id="rId13"/>
    <p:sldId id="543" r:id="rId14"/>
    <p:sldId id="544" r:id="rId15"/>
    <p:sldId id="545" r:id="rId16"/>
    <p:sldId id="546" r:id="rId17"/>
    <p:sldId id="547" r:id="rId18"/>
    <p:sldId id="548" r:id="rId19"/>
    <p:sldId id="552" r:id="rId20"/>
    <p:sldId id="536" r:id="rId21"/>
    <p:sldId id="557" r:id="rId22"/>
    <p:sldId id="538" r:id="rId23"/>
    <p:sldId id="539" r:id="rId24"/>
    <p:sldId id="560" r:id="rId25"/>
    <p:sldId id="551" r:id="rId26"/>
    <p:sldId id="553" r:id="rId27"/>
    <p:sldId id="554" r:id="rId28"/>
    <p:sldId id="556" r:id="rId29"/>
    <p:sldId id="561" r:id="rId30"/>
    <p:sldId id="562" r:id="rId31"/>
    <p:sldId id="563" r:id="rId32"/>
    <p:sldId id="516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8" autoAdjust="0"/>
    <p:restoredTop sz="94667" autoAdjust="0"/>
  </p:normalViewPr>
  <p:slideViewPr>
    <p:cSldViewPr>
      <p:cViewPr>
        <p:scale>
          <a:sx n="50" d="100"/>
          <a:sy n="50" d="100"/>
        </p:scale>
        <p:origin x="-155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6/3/2021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so2.com/products/business-process-server/" TargetMode="External"/><Relationship Id="rId2" Type="http://schemas.openxmlformats.org/officeDocument/2006/relationships/hyperlink" Target="http://www.microsoft.com/en-us/biztalk/default.asp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ode.apache.org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smtClean="0"/>
              <a:t>Service </a:t>
            </a:r>
            <a:r>
              <a:rPr lang="en-US" sz="6000" dirty="0" smtClean="0"/>
              <a:t>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3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600" dirty="0" smtClean="0"/>
              <a:t>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hlinkClick r:id="rId2"/>
              </a:rPr>
              <a:t>nhbien@fit.hcmus.edu.vn</a:t>
            </a:r>
            <a:endParaRPr lang="en-US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638800" cy="42672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Uwe</a:t>
            </a:r>
            <a:r>
              <a:rPr lang="en-US" sz="2400" dirty="0" smtClean="0"/>
              <a:t> </a:t>
            </a:r>
            <a:r>
              <a:rPr lang="en-US" sz="2400" dirty="0" err="1" smtClean="0"/>
              <a:t>Zdun</a:t>
            </a:r>
            <a:r>
              <a:rPr lang="en-US" sz="2400" dirty="0" smtClean="0"/>
              <a:t> et al. (2005). A Survey of Patterns for Service-Oriented </a:t>
            </a:r>
            <a:r>
              <a:rPr lang="en-US" sz="2400" dirty="0" smtClean="0"/>
              <a:t>Architectures.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Sanjiva</a:t>
            </a:r>
            <a:r>
              <a:rPr lang="en-US" sz="2400" dirty="0" smtClean="0"/>
              <a:t> </a:t>
            </a:r>
            <a:r>
              <a:rPr lang="en-US" sz="2400" dirty="0" err="1" smtClean="0"/>
              <a:t>Weerawarana</a:t>
            </a:r>
            <a:r>
              <a:rPr lang="en-US" sz="2400" dirty="0" smtClean="0"/>
              <a:t> et al. (2005). Web Services Platform Architecture. Prentice Hall PTR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Matjaz</a:t>
            </a:r>
            <a:r>
              <a:rPr lang="en-US" sz="2400" dirty="0" smtClean="0"/>
              <a:t> B. </a:t>
            </a:r>
            <a:r>
              <a:rPr lang="en-US" sz="2400" dirty="0" err="1" smtClean="0"/>
              <a:t>Juric</a:t>
            </a:r>
            <a:r>
              <a:rPr lang="en-US" sz="2400" dirty="0" smtClean="0"/>
              <a:t> (2006). Business Process Execution Language for Web Services. </a:t>
            </a:r>
            <a:r>
              <a:rPr lang="en-US" sz="2400" dirty="0" err="1" smtClean="0"/>
              <a:t>Packt</a:t>
            </a:r>
            <a:r>
              <a:rPr lang="en-US" sz="2400" dirty="0" smtClean="0"/>
              <a:t> </a:t>
            </a:r>
            <a:r>
              <a:rPr lang="en-US" sz="2400" dirty="0" smtClean="0"/>
              <a:t>Publishing.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Gautam</a:t>
            </a:r>
            <a:r>
              <a:rPr lang="en-US" sz="2400" dirty="0" smtClean="0"/>
              <a:t> </a:t>
            </a:r>
            <a:r>
              <a:rPr lang="en-US" sz="2400" dirty="0" err="1" smtClean="0"/>
              <a:t>Shroff</a:t>
            </a:r>
            <a:r>
              <a:rPr lang="en-US" sz="2400" dirty="0" smtClean="0"/>
              <a:t> (2010). Enterprise Cloud Computing. Cambridge University </a:t>
            </a:r>
            <a:r>
              <a:rPr lang="en-US" sz="2400" dirty="0" smtClean="0"/>
              <a:t>Press.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Process-Aware Information System [1]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3962400" cy="4953000"/>
          </a:xfrm>
        </p:spPr>
        <p:txBody>
          <a:bodyPr/>
          <a:lstStyle/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process-aware information system</a:t>
            </a:r>
            <a:r>
              <a:rPr lang="en-US" sz="2200" dirty="0" smtClean="0"/>
              <a:t> can be shaped by five perspectives:</a:t>
            </a:r>
          </a:p>
          <a:p>
            <a:pPr lvl="1"/>
            <a:r>
              <a:rPr lang="en-US" sz="1800" dirty="0" smtClean="0"/>
              <a:t>data (or information)</a:t>
            </a:r>
          </a:p>
          <a:p>
            <a:pPr lvl="1"/>
            <a:r>
              <a:rPr lang="en-US" sz="1800" dirty="0" smtClean="0"/>
              <a:t>resource (or organization)</a:t>
            </a:r>
          </a:p>
          <a:p>
            <a:pPr lvl="1"/>
            <a:r>
              <a:rPr lang="en-US" sz="1800" dirty="0" smtClean="0"/>
              <a:t>control flow (or process)</a:t>
            </a:r>
          </a:p>
          <a:p>
            <a:pPr lvl="1"/>
            <a:r>
              <a:rPr lang="en-US" sz="1800" dirty="0" smtClean="0"/>
              <a:t>task (or function)</a:t>
            </a:r>
          </a:p>
          <a:p>
            <a:pPr lvl="1"/>
            <a:r>
              <a:rPr lang="en-US" sz="1800" dirty="0" smtClean="0"/>
              <a:t>and operation (or application).</a:t>
            </a:r>
          </a:p>
          <a:p>
            <a:endParaRPr lang="en-US" sz="2200" dirty="0" smtClean="0"/>
          </a:p>
          <a:p>
            <a:r>
              <a:rPr lang="en-US" sz="2200" dirty="0" smtClean="0"/>
              <a:t>This view can be mapped to the </a:t>
            </a:r>
            <a:r>
              <a:rPr lang="en-US" sz="2200" i="1" dirty="0" smtClean="0">
                <a:solidFill>
                  <a:srgbClr val="C00000"/>
                </a:solidFill>
              </a:rPr>
              <a:t>SOA approach</a:t>
            </a:r>
            <a:r>
              <a:rPr lang="en-US" sz="2200" dirty="0" smtClean="0"/>
              <a:t>: services are a specialization of the general operation perspective.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752600"/>
            <a:ext cx="48768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control flow perspective is captured by a </a:t>
            </a:r>
            <a:r>
              <a:rPr lang="en-US" sz="2200" i="1" dirty="0" smtClean="0">
                <a:solidFill>
                  <a:srgbClr val="C00000"/>
                </a:solidFill>
              </a:rPr>
              <a:t>process engine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In order to create the link between an activity of a process and a service, </a:t>
            </a:r>
            <a:r>
              <a:rPr lang="en-US" sz="2200" i="1" dirty="0" smtClean="0">
                <a:solidFill>
                  <a:srgbClr val="C00000"/>
                </a:solidFill>
              </a:rPr>
              <a:t>integration logic (process flow)</a:t>
            </a:r>
            <a:r>
              <a:rPr lang="en-US" sz="2200" dirty="0" smtClean="0"/>
              <a:t> is required.</a:t>
            </a:r>
          </a:p>
          <a:p>
            <a:endParaRPr lang="en-US" sz="2200" dirty="0" smtClean="0"/>
          </a:p>
          <a:p>
            <a:r>
              <a:rPr lang="en-US" sz="2200" dirty="0" smtClean="0"/>
              <a:t>We distinguish between two general types of process flow: </a:t>
            </a:r>
            <a:r>
              <a:rPr lang="en-US" sz="2200" i="1" dirty="0" smtClean="0">
                <a:solidFill>
                  <a:srgbClr val="C00000"/>
                </a:solidFill>
              </a:rPr>
              <a:t>macro-flow</a:t>
            </a:r>
            <a:r>
              <a:rPr lang="en-US" sz="2200" dirty="0" smtClean="0"/>
              <a:t> representing the higher-level business process, and </a:t>
            </a:r>
            <a:r>
              <a:rPr lang="en-US" sz="2200" i="1" dirty="0" smtClean="0">
                <a:solidFill>
                  <a:srgbClr val="C00000"/>
                </a:solidFill>
              </a:rPr>
              <a:t>micro-flow</a:t>
            </a:r>
            <a:r>
              <a:rPr lang="en-US" sz="2200" dirty="0" smtClean="0"/>
              <a:t> addressing the process flow within a macro-flow activity.</a:t>
            </a:r>
          </a:p>
          <a:p>
            <a:r>
              <a:rPr lang="en-US" sz="2200" dirty="0" smtClean="0"/>
              <a:t>The distinction between micro- and macro-flow is a </a:t>
            </a:r>
            <a:r>
              <a:rPr lang="en-US" sz="2200" i="1" dirty="0" smtClean="0">
                <a:solidFill>
                  <a:srgbClr val="C00000"/>
                </a:solidFill>
              </a:rPr>
              <a:t>conceptual decision</a:t>
            </a:r>
            <a:r>
              <a:rPr lang="en-US" sz="2200" dirty="0" smtClean="0"/>
              <a:t> in order to be able to design process steps at the right level of granularity when designing at the long running business process level (macro-flow) or the short running, more technical level (micro-flow).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752600"/>
            <a:ext cx="43053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Service Levels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5105400" cy="5181600"/>
          </a:xfrm>
        </p:spPr>
        <p:txBody>
          <a:bodyPr/>
          <a:lstStyle/>
          <a:p>
            <a:r>
              <a:rPr lang="en-US" sz="2200" dirty="0" smtClean="0"/>
              <a:t>On the one hand a process flow </a:t>
            </a:r>
            <a:r>
              <a:rPr lang="en-US" sz="2200" i="1" dirty="0" smtClean="0">
                <a:solidFill>
                  <a:srgbClr val="C00000"/>
                </a:solidFill>
              </a:rPr>
              <a:t>orchestrates</a:t>
            </a:r>
            <a:r>
              <a:rPr lang="en-US" sz="2200" dirty="0" smtClean="0"/>
              <a:t> the service invocations, but on the other hand a business process may be exposed itself as a service.</a:t>
            </a:r>
          </a:p>
          <a:p>
            <a:r>
              <a:rPr lang="en-US" sz="2200" dirty="0" smtClean="0"/>
              <a:t>Several </a:t>
            </a:r>
            <a:r>
              <a:rPr lang="en-US" sz="2200" i="1" dirty="0" smtClean="0">
                <a:solidFill>
                  <a:srgbClr val="C00000"/>
                </a:solidFill>
              </a:rPr>
              <a:t>levels of service invocation</a:t>
            </a:r>
            <a:r>
              <a:rPr lang="en-US" sz="2200" dirty="0" smtClean="0"/>
              <a:t> can be classified as follows:</a:t>
            </a:r>
          </a:p>
          <a:p>
            <a:pPr lvl="1"/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business process service</a:t>
            </a:r>
            <a:r>
              <a:rPr lang="en-US" sz="2000" dirty="0" smtClean="0"/>
              <a:t> represents a business process being exposed as a service</a:t>
            </a:r>
          </a:p>
          <a:p>
            <a:pPr lvl="1"/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process integration service</a:t>
            </a:r>
            <a:r>
              <a:rPr lang="en-US" sz="2000" dirty="0" smtClean="0"/>
              <a:t> depicts process integration logic at the micro-flow level</a:t>
            </a:r>
          </a:p>
          <a:p>
            <a:pPr lvl="1"/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business application service</a:t>
            </a:r>
            <a:r>
              <a:rPr lang="en-US" sz="2000" dirty="0" smtClean="0"/>
              <a:t> is a service that is offering functionality of a business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Enterprise Service Bus (ESB)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229600" cy="1554163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Enterprise Service Bus (ESB)</a:t>
            </a:r>
            <a:r>
              <a:rPr lang="en-US" sz="2200" dirty="0" smtClean="0"/>
              <a:t> is an architectural pattern in which various components connect to a service bus via their service interfaces.</a:t>
            </a:r>
          </a:p>
          <a:p>
            <a:r>
              <a:rPr lang="en-US" sz="2200" dirty="0" smtClean="0"/>
              <a:t>ESB integrates concepts of SOA, EAI, and workflow management.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8725" y="3028950"/>
            <a:ext cx="6686550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Integration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Process integration services</a:t>
            </a:r>
            <a:r>
              <a:rPr lang="en-US" sz="2400" dirty="0" smtClean="0"/>
              <a:t> are the connection between a macro-flow activity of a business process and a service interface in the backend.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6288" y="3286125"/>
            <a:ext cx="759142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Services Business Process Execution Language (BPEL)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r>
              <a:rPr lang="en-US" sz="2400" dirty="0" smtClean="0"/>
              <a:t>Composition of services into business processes requires the </a:t>
            </a:r>
            <a:r>
              <a:rPr lang="en-US" sz="2400" i="1" dirty="0" smtClean="0">
                <a:solidFill>
                  <a:srgbClr val="C00000"/>
                </a:solidFill>
              </a:rPr>
              <a:t>definition</a:t>
            </a:r>
            <a:r>
              <a:rPr lang="en-US" sz="2400" dirty="0" smtClean="0"/>
              <a:t> of collaboration activities and data-exchange messages between involved web services [3].</a:t>
            </a:r>
          </a:p>
          <a:p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BPEL</a:t>
            </a:r>
            <a:r>
              <a:rPr lang="en-US" sz="2400" dirty="0" smtClean="0"/>
              <a:t> which is being standardized at OASIS is an extensible workflow-based language that aggregates services by choreographing service interactions.</a:t>
            </a:r>
          </a:p>
          <a:p>
            <a:endParaRPr lang="en-US" sz="2400" dirty="0" smtClean="0"/>
          </a:p>
          <a:p>
            <a:r>
              <a:rPr lang="en-US" sz="2400" dirty="0" smtClean="0"/>
              <a:t>It specifies an </a:t>
            </a:r>
            <a:r>
              <a:rPr lang="en-US" sz="2400" i="1" dirty="0" smtClean="0">
                <a:solidFill>
                  <a:srgbClr val="C00000"/>
                </a:solidFill>
              </a:rPr>
              <a:t>XML syntax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execution semantics</a:t>
            </a:r>
            <a:r>
              <a:rPr lang="en-US" sz="2400" dirty="0" smtClean="0"/>
              <a:t> for business processes.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BPEL Goal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1"/>
            <a:ext cx="8229600" cy="1981199"/>
          </a:xfrm>
        </p:spPr>
        <p:txBody>
          <a:bodyPr/>
          <a:lstStyle/>
          <a:p>
            <a:r>
              <a:rPr lang="en-US" sz="2400" dirty="0" smtClean="0"/>
              <a:t>BPEL promises to achieve the holy grail of enterprise information systems—to provide an environment where business processes can </a:t>
            </a:r>
            <a:r>
              <a:rPr lang="en-US" sz="2400" i="1" dirty="0" smtClean="0">
                <a:solidFill>
                  <a:srgbClr val="C00000"/>
                </a:solidFill>
              </a:rPr>
              <a:t>be developed</a:t>
            </a:r>
            <a:r>
              <a:rPr lang="en-US" sz="2400" dirty="0" smtClean="0"/>
              <a:t> in an easy and efficient manner and quickly adapted to the changing needs of enterprises without too much effort.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88" y="3886200"/>
            <a:ext cx="3857625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BPEL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BPEL represents a </a:t>
            </a:r>
            <a:r>
              <a:rPr lang="en-US" sz="2000" i="1" dirty="0" smtClean="0">
                <a:solidFill>
                  <a:srgbClr val="C00000"/>
                </a:solidFill>
              </a:rPr>
              <a:t>convergence</a:t>
            </a:r>
            <a:r>
              <a:rPr lang="en-US" sz="2000" dirty="0" smtClean="0"/>
              <a:t> of two early workflow languages, WSFL (Web Services Flow Language) and XLANG.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WSFL</a:t>
            </a:r>
            <a:r>
              <a:rPr lang="en-US" sz="2000" dirty="0" smtClean="0"/>
              <a:t> was designed by IBM and is based on the concept of directed graphs.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XLANG</a:t>
            </a:r>
            <a:r>
              <a:rPr lang="en-US" sz="2000" dirty="0" smtClean="0"/>
              <a:t> was designed by Microsoft and is a block-structured language.</a:t>
            </a:r>
          </a:p>
          <a:p>
            <a:r>
              <a:rPr lang="en-US" sz="2000" dirty="0" smtClean="0"/>
              <a:t>BPEL </a:t>
            </a:r>
            <a:r>
              <a:rPr lang="en-US" sz="2000" i="1" dirty="0" smtClean="0">
                <a:solidFill>
                  <a:srgbClr val="C00000"/>
                </a:solidFill>
              </a:rPr>
              <a:t>combines</a:t>
            </a:r>
            <a:r>
              <a:rPr lang="en-US" sz="2000" dirty="0" smtClean="0"/>
              <a:t> both approaches and provides a rich vocabulary for the description of business processes.</a:t>
            </a:r>
          </a:p>
          <a:p>
            <a:r>
              <a:rPr lang="en-US" sz="2000" dirty="0" smtClean="0"/>
              <a:t>BPEL uses an </a:t>
            </a:r>
            <a:r>
              <a:rPr lang="en-US" sz="2000" i="1" dirty="0" smtClean="0">
                <a:solidFill>
                  <a:srgbClr val="C00000"/>
                </a:solidFill>
              </a:rPr>
              <a:t>XML-based vocabulary</a:t>
            </a:r>
            <a:r>
              <a:rPr lang="en-US" sz="2000" dirty="0" smtClean="0"/>
              <a:t> to specify and describe business processes.</a:t>
            </a:r>
          </a:p>
          <a:p>
            <a:r>
              <a:rPr lang="en-US" sz="2000" dirty="0" smtClean="0"/>
              <a:t>To a certain extent, BPEL is similar to traditional programming languages. It offers </a:t>
            </a:r>
            <a:r>
              <a:rPr lang="en-US" sz="2000" i="1" dirty="0" smtClean="0">
                <a:solidFill>
                  <a:srgbClr val="C00000"/>
                </a:solidFill>
              </a:rPr>
              <a:t>constructs</a:t>
            </a:r>
            <a:r>
              <a:rPr lang="en-US" sz="2000" dirty="0" smtClean="0"/>
              <a:t>, such as loops, branches, variables, assignments, etc. that allow us to define business processes in an algorithmic way. BPEL is a specialized language focused on the definition of business processes.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BPEL Data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major building blocks of BPEL business processes are nested </a:t>
            </a:r>
            <a:r>
              <a:rPr lang="en-US" sz="2000" i="1" dirty="0" smtClean="0">
                <a:solidFill>
                  <a:srgbClr val="C00000"/>
                </a:solidFill>
              </a:rPr>
              <a:t>scopes</a:t>
            </a:r>
            <a:r>
              <a:rPr lang="en-US" sz="2000" dirty="0" smtClean="0"/>
              <a:t> that contain relationships to external partners, declarations for process data, handlers for various purposes and, most importantly, the activities to be executed. </a:t>
            </a:r>
          </a:p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outermost scope</a:t>
            </a:r>
            <a:r>
              <a:rPr lang="en-US" sz="2000" dirty="0" smtClean="0"/>
              <a:t> is the process definition.</a:t>
            </a:r>
          </a:p>
          <a:p>
            <a:endParaRPr lang="en-US" sz="2000" dirty="0" smtClean="0"/>
          </a:p>
          <a:p>
            <a:r>
              <a:rPr lang="en-US" sz="2000" i="1" dirty="0" smtClean="0">
                <a:solidFill>
                  <a:srgbClr val="C00000"/>
                </a:solidFill>
              </a:rPr>
              <a:t>Data in BPEL</a:t>
            </a:r>
            <a:r>
              <a:rPr lang="en-US" sz="2000" dirty="0" smtClean="0"/>
              <a:t> is written to and read from lexically scoped, typed variables.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The values</a:t>
            </a:r>
            <a:r>
              <a:rPr lang="en-US" sz="2000" dirty="0" smtClean="0"/>
              <a:t> of these variables are either messages exchanged between the process and its partners, or intermediate data that is private to the process.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BPEL variables</a:t>
            </a:r>
            <a:r>
              <a:rPr lang="en-US" sz="2000" dirty="0" smtClean="0"/>
              <a:t> are typed using WSDL message types, XML Schema simple types, or XML schema elements.</a:t>
            </a:r>
          </a:p>
          <a:p>
            <a:r>
              <a:rPr lang="en-US" sz="2000" dirty="0" err="1" smtClean="0"/>
              <a:t>XPath</a:t>
            </a:r>
            <a:r>
              <a:rPr lang="en-US" sz="2000" dirty="0" smtClean="0"/>
              <a:t> is the default language for </a:t>
            </a:r>
            <a:r>
              <a:rPr lang="en-US" sz="2000" i="1" dirty="0" smtClean="0">
                <a:solidFill>
                  <a:srgbClr val="C00000"/>
                </a:solidFill>
              </a:rPr>
              <a:t>manipulating and querying</a:t>
            </a:r>
            <a:r>
              <a:rPr lang="en-US" sz="2000" dirty="0" smtClean="0"/>
              <a:t> variables.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BPEL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In WS-BPEL, the steps of a business process are called </a:t>
            </a:r>
            <a:r>
              <a:rPr lang="en-US" sz="2200" i="1" dirty="0" smtClean="0">
                <a:solidFill>
                  <a:srgbClr val="C00000"/>
                </a:solidFill>
              </a:rPr>
              <a:t>activities</a:t>
            </a:r>
            <a:r>
              <a:rPr lang="en-US" sz="2200" dirty="0" smtClean="0"/>
              <a:t> [3].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The activities</a:t>
            </a:r>
            <a:r>
              <a:rPr lang="en-US" sz="2200" dirty="0" smtClean="0"/>
              <a:t> in a BPEL process are either structured or basic.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Structured activities</a:t>
            </a:r>
            <a:r>
              <a:rPr lang="en-US" sz="2200" dirty="0" smtClean="0"/>
              <a:t> contain other activities and define the business logic between them.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Basic activities</a:t>
            </a:r>
            <a:r>
              <a:rPr lang="en-US" sz="2200" dirty="0" smtClean="0"/>
              <a:t> are, for example, the inbound or outbound Web service interactions or the specific activities for data manipulation.</a:t>
            </a:r>
          </a:p>
          <a:p>
            <a:endParaRPr lang="en-US" sz="2200" dirty="0" smtClean="0"/>
          </a:p>
          <a:p>
            <a:r>
              <a:rPr lang="en-US" sz="2200" dirty="0" smtClean="0"/>
              <a:t>Activities that deal with Web services are </a:t>
            </a:r>
            <a:r>
              <a:rPr lang="en-US" sz="2200" i="1" dirty="0" smtClean="0">
                <a:solidFill>
                  <a:srgbClr val="C00000"/>
                </a:solidFill>
              </a:rPr>
              <a:t>receive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reply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pick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invoke</a:t>
            </a:r>
            <a:r>
              <a:rPr lang="en-US" sz="2200" dirty="0" smtClean="0"/>
              <a:t>, and </a:t>
            </a:r>
            <a:r>
              <a:rPr lang="en-US" sz="2200" i="1" dirty="0" smtClean="0">
                <a:solidFill>
                  <a:srgbClr val="C00000"/>
                </a:solidFill>
              </a:rPr>
              <a:t>event handlers</a:t>
            </a:r>
            <a:r>
              <a:rPr lang="en-US" sz="2200" dirty="0" smtClean="0"/>
              <a:t>. These activities allow a process to exchange messages with the services that it composes.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assign</a:t>
            </a:r>
            <a:r>
              <a:rPr lang="en-US" sz="2200" dirty="0" smtClean="0"/>
              <a:t> activity atomically copies data from one location to another, using a list of copy statements that copy one value each.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Structured activities</a:t>
            </a:r>
            <a:r>
              <a:rPr lang="en-US" sz="2200" dirty="0" smtClean="0"/>
              <a:t> combine multiple activities to provide higher-level business logic.</a:t>
            </a:r>
          </a:p>
          <a:p>
            <a:r>
              <a:rPr lang="en-US" sz="2200" dirty="0" smtClean="0"/>
              <a:t>These include </a:t>
            </a:r>
            <a:r>
              <a:rPr lang="en-US" sz="2200" i="1" dirty="0" smtClean="0">
                <a:solidFill>
                  <a:srgbClr val="C00000"/>
                </a:solidFill>
              </a:rPr>
              <a:t>sequence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switch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while</a:t>
            </a:r>
            <a:r>
              <a:rPr lang="en-US" sz="2200" dirty="0" smtClean="0"/>
              <a:t>, and </a:t>
            </a:r>
            <a:r>
              <a:rPr lang="en-US" sz="2200" i="1" dirty="0" smtClean="0">
                <a:solidFill>
                  <a:srgbClr val="C00000"/>
                </a:solidFill>
              </a:rPr>
              <a:t>flow</a:t>
            </a:r>
            <a:r>
              <a:rPr lang="en-US" sz="2200" dirty="0" smtClean="0"/>
              <a:t> activities.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The sequence activity</a:t>
            </a:r>
            <a:r>
              <a:rPr lang="en-US" sz="2200" dirty="0" smtClean="0"/>
              <a:t> is a simple aggregation of activities executed in the order in which they are specified.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The switch activity</a:t>
            </a:r>
            <a:r>
              <a:rPr lang="en-US" sz="2200" dirty="0" smtClean="0"/>
              <a:t> provides a multi-branch decision construct, and </a:t>
            </a:r>
            <a:r>
              <a:rPr lang="en-US" sz="2200" i="1" dirty="0" smtClean="0">
                <a:solidFill>
                  <a:srgbClr val="C00000"/>
                </a:solidFill>
              </a:rPr>
              <a:t>the while activity</a:t>
            </a:r>
            <a:r>
              <a:rPr lang="en-US" sz="2200" dirty="0" smtClean="0"/>
              <a:t> provides a loop construct.</a:t>
            </a:r>
          </a:p>
          <a:p>
            <a:r>
              <a:rPr lang="en-US" sz="2200" dirty="0" smtClean="0"/>
              <a:t>You can execute activities in parallel by nesting them in a </a:t>
            </a:r>
            <a:r>
              <a:rPr lang="en-US" sz="2200" i="1" dirty="0" smtClean="0">
                <a:solidFill>
                  <a:srgbClr val="C00000"/>
                </a:solidFill>
              </a:rPr>
              <a:t>flow activity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If you have to constrain the degree of parallelism, you can use </a:t>
            </a:r>
            <a:r>
              <a:rPr lang="en-US" sz="2200" i="1" dirty="0" smtClean="0">
                <a:solidFill>
                  <a:srgbClr val="C00000"/>
                </a:solidFill>
              </a:rPr>
              <a:t>conditional control links</a:t>
            </a:r>
            <a:r>
              <a:rPr lang="en-US" sz="2200" dirty="0" smtClean="0"/>
              <a:t> to specify a partial (acyclic) order on the set of activities nested in a 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Pack Validation (SPK) Example</a:t>
            </a:r>
            <a:endParaRPr lang="en-US" dirty="0"/>
          </a:p>
        </p:txBody>
      </p:sp>
      <p:sp>
        <p:nvSpPr>
          <p:cNvPr id="1026" name="AutoShape 2" descr="mk:@MSITStore:D:\My%20Study\PhD\Seminar%201\05.%20Web%20Service%20Architecture\Sanjiva%20Weerawarana%20et%20al..%20Web%20Services%20Platform%20Architecture%20--%20SOAP,%20WSDL,%20WS-Policy,%20WS-Addressing,%20WS-BPEL,%20WS-Reliable%20Messaging,%20and%20More.%20Prentice%20Hall%20PTR.%202005.chm::/0131488740/images/0131488740/graphics/14fig01_alt.jpg;400479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1075" y="1581150"/>
            <a:ext cx="7181850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and 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199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A transition condition</a:t>
            </a:r>
            <a:r>
              <a:rPr lang="en-US" sz="2200" dirty="0" smtClean="0"/>
              <a:t> is associated with each control link and evaluated at completion of the link's source activity.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A join condition</a:t>
            </a:r>
            <a:r>
              <a:rPr lang="en-US" sz="2200" dirty="0" smtClean="0"/>
              <a:t> is associated with an activity that is a target of links.</a:t>
            </a:r>
            <a:endParaRPr lang="en-US" sz="2200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6388" y="3048000"/>
            <a:ext cx="5991225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Basic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More basic activities are called </a:t>
            </a:r>
            <a:r>
              <a:rPr lang="en-US" sz="2200" i="1" dirty="0" smtClean="0">
                <a:solidFill>
                  <a:srgbClr val="C00000"/>
                </a:solidFill>
              </a:rPr>
              <a:t>empty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wait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terminate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throw</a:t>
            </a:r>
            <a:r>
              <a:rPr lang="en-US" sz="2200" dirty="0" smtClean="0"/>
              <a:t>, and </a:t>
            </a:r>
            <a:r>
              <a:rPr lang="en-US" sz="2200" i="1" dirty="0" smtClean="0">
                <a:solidFill>
                  <a:srgbClr val="C00000"/>
                </a:solidFill>
              </a:rPr>
              <a:t>compensate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The empty activity</a:t>
            </a:r>
            <a:r>
              <a:rPr lang="en-US" sz="2200" dirty="0" smtClean="0"/>
              <a:t> is BPEL's rendering of a no-op. You can use it as a placeholder for other activities that you add later.</a:t>
            </a:r>
          </a:p>
          <a:p>
            <a:endParaRPr lang="en-US" sz="2200" dirty="0" smtClean="0"/>
          </a:p>
          <a:p>
            <a:r>
              <a:rPr lang="en-US" sz="2200" i="1" dirty="0" smtClean="0">
                <a:solidFill>
                  <a:srgbClr val="C00000"/>
                </a:solidFill>
              </a:rPr>
              <a:t>The wait activity</a:t>
            </a:r>
            <a:r>
              <a:rPr lang="en-US" sz="2200" dirty="0" smtClean="0"/>
              <a:t> provides a means to interrupt the execution for a specified time interval or until a specified time has been reached, and </a:t>
            </a:r>
            <a:r>
              <a:rPr lang="en-US" sz="2200" i="1" dirty="0" smtClean="0">
                <a:solidFill>
                  <a:srgbClr val="C00000"/>
                </a:solidFill>
              </a:rPr>
              <a:t>the terminate activity</a:t>
            </a:r>
            <a:r>
              <a:rPr lang="en-US" sz="2200" dirty="0" smtClean="0"/>
              <a:t> stops the execution of the process immediately.</a:t>
            </a:r>
          </a:p>
          <a:p>
            <a:endParaRPr lang="en-US" sz="2200" dirty="0" smtClean="0"/>
          </a:p>
          <a:p>
            <a:r>
              <a:rPr lang="en-US" sz="2200" i="1" dirty="0" smtClean="0">
                <a:solidFill>
                  <a:srgbClr val="C00000"/>
                </a:solidFill>
              </a:rPr>
              <a:t>The throw and compensate activities</a:t>
            </a:r>
            <a:r>
              <a:rPr lang="en-US" sz="2200" dirty="0" smtClean="0"/>
              <a:t> are used in conjunction with handlers for error detection and recovery.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BPEL Engines [2, 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A business process runtime system</a:t>
            </a:r>
            <a:r>
              <a:rPr lang="en-US" sz="2200" dirty="0" smtClean="0"/>
              <a:t> is WS-BPEL compliant if it can execute business processes that are expressed in WS-BPEL.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BPEL servers</a:t>
            </a:r>
            <a:r>
              <a:rPr lang="en-US" sz="2200" dirty="0" smtClean="0"/>
              <a:t> provide a run-time environment for executing BPEL business processes.</a:t>
            </a:r>
          </a:p>
          <a:p>
            <a:endParaRPr lang="en-US" sz="2200" dirty="0" smtClean="0"/>
          </a:p>
          <a:p>
            <a:r>
              <a:rPr lang="en-US" sz="2200" dirty="0" smtClean="0"/>
              <a:t>Oracle BPEL Process Manager, IBM </a:t>
            </a:r>
            <a:r>
              <a:rPr lang="en-US" sz="2200" dirty="0" err="1" smtClean="0"/>
              <a:t>WebSphere</a:t>
            </a:r>
            <a:r>
              <a:rPr lang="en-US" sz="2200" dirty="0" smtClean="0"/>
              <a:t> Business Integration Server Foundation, IBM BPWS4J, </a:t>
            </a:r>
            <a:r>
              <a:rPr lang="en-US" sz="2200" dirty="0" err="1" smtClean="0"/>
              <a:t>ActiveBPEL</a:t>
            </a:r>
            <a:r>
              <a:rPr lang="en-US" sz="2200" dirty="0" smtClean="0"/>
              <a:t> Engine and </a:t>
            </a:r>
            <a:r>
              <a:rPr lang="en-US" sz="2200" dirty="0" err="1" smtClean="0"/>
              <a:t>ActiveWebflow</a:t>
            </a:r>
            <a:endParaRPr lang="en-US" sz="2200" dirty="0" smtClean="0"/>
          </a:p>
          <a:p>
            <a:r>
              <a:rPr lang="en-US" sz="2200" dirty="0" smtClean="0"/>
              <a:t>Microsoft BizTalk </a:t>
            </a:r>
            <a:r>
              <a:rPr lang="en-US" sz="2200" dirty="0" smtClean="0">
                <a:hlinkClick r:id="rId2"/>
              </a:rPr>
              <a:t>http://www.microsoft.com/en-us/biztalk/default.aspx</a:t>
            </a:r>
            <a:endParaRPr lang="en-US" sz="2200" dirty="0" smtClean="0"/>
          </a:p>
          <a:p>
            <a:r>
              <a:rPr lang="en-US" sz="2200" dirty="0" smtClean="0">
                <a:hlinkClick r:id="rId3"/>
              </a:rPr>
              <a:t>http://wso2.com/products/business-process-server/</a:t>
            </a:r>
            <a:endParaRPr lang="en-US" sz="2200" dirty="0" smtClean="0"/>
          </a:p>
          <a:p>
            <a:r>
              <a:rPr lang="en-US" sz="2200" dirty="0" smtClean="0">
                <a:hlinkClick r:id="rId4"/>
              </a:rPr>
              <a:t>http://ode.apache.org/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BPEL Features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aggregation is </a:t>
            </a:r>
            <a:r>
              <a:rPr lang="en-US" sz="2400" i="1" dirty="0" smtClean="0">
                <a:solidFill>
                  <a:srgbClr val="C00000"/>
                </a:solidFill>
              </a:rPr>
              <a:t>recursive</a:t>
            </a:r>
            <a:r>
              <a:rPr lang="en-US" sz="2400" dirty="0" smtClean="0"/>
              <a:t>, such that the process exposes WSDL interfaces to those that interact with it, and the corresponding services may be used in other choreographies.</a:t>
            </a:r>
          </a:p>
          <a:p>
            <a:endParaRPr lang="en-US" sz="2400" dirty="0" smtClean="0"/>
          </a:p>
          <a:p>
            <a:r>
              <a:rPr lang="en-US" sz="2400" dirty="0" smtClean="0"/>
              <a:t>Designed to work in a highly dynamic environment in which services might change frequently, a BPEL process is intentionally </a:t>
            </a:r>
            <a:r>
              <a:rPr lang="en-US" sz="2400" i="1" dirty="0" smtClean="0">
                <a:solidFill>
                  <a:srgbClr val="C00000"/>
                </a:solidFill>
              </a:rPr>
              <a:t>decoupled</a:t>
            </a:r>
            <a:r>
              <a:rPr lang="en-US" sz="2400" dirty="0" smtClean="0"/>
              <a:t> from particular instances of the services it choreographs.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BPEL vs. WSDL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WSDL</a:t>
            </a:r>
            <a:r>
              <a:rPr lang="en-US" sz="2000" dirty="0" smtClean="0"/>
              <a:t> provides the basic technical description and specifications for messages that are exchanged.</a:t>
            </a:r>
          </a:p>
          <a:p>
            <a:r>
              <a:rPr lang="en-US" sz="2000" dirty="0" smtClean="0"/>
              <a:t>However, the description provided by WSDL does not go beyond </a:t>
            </a:r>
            <a:r>
              <a:rPr lang="en-US" sz="2000" i="1" dirty="0" smtClean="0">
                <a:solidFill>
                  <a:srgbClr val="C00000"/>
                </a:solidFill>
              </a:rPr>
              <a:t>simple interactions</a:t>
            </a:r>
            <a:r>
              <a:rPr lang="en-US" sz="2000" dirty="0" smtClean="0"/>
              <a:t> between the client (sender) and the web service (receiver).</a:t>
            </a:r>
          </a:p>
          <a:p>
            <a:r>
              <a:rPr lang="en-US" sz="2000" dirty="0" smtClean="0"/>
              <a:t>These interactions may be stateless, synchronous, or asynchronous. These relations are inadequate to express, model, and describe </a:t>
            </a:r>
            <a:r>
              <a:rPr lang="en-US" sz="2000" i="1" dirty="0" smtClean="0">
                <a:solidFill>
                  <a:srgbClr val="C00000"/>
                </a:solidFill>
              </a:rPr>
              <a:t>complex compositions</a:t>
            </a:r>
            <a:r>
              <a:rPr lang="en-US" sz="2000" dirty="0" smtClean="0"/>
              <a:t> of multiple web services in business activities, which usually consist of several messages exchanged in a well-defined order.</a:t>
            </a:r>
          </a:p>
          <a:p>
            <a:r>
              <a:rPr lang="en-US" sz="2000" dirty="0" smtClean="0"/>
              <a:t>In such complex compositions, synchronous and asynchronous messages can be combined, and interactions are usually </a:t>
            </a:r>
            <a:r>
              <a:rPr lang="en-US" sz="2000" i="1" dirty="0" smtClean="0">
                <a:solidFill>
                  <a:srgbClr val="C00000"/>
                </a:solidFill>
              </a:rPr>
              <a:t>long running</a:t>
            </a:r>
            <a:r>
              <a:rPr lang="en-US" sz="2000" dirty="0" smtClean="0"/>
              <a:t>, often involving state information that has to be preserved.</a:t>
            </a:r>
          </a:p>
          <a:p>
            <a:r>
              <a:rPr lang="en-US" sz="2000" dirty="0" smtClean="0"/>
              <a:t>An important aspect is also the ability to describe how to </a:t>
            </a:r>
            <a:r>
              <a:rPr lang="en-US" sz="2000" i="1" dirty="0" smtClean="0">
                <a:solidFill>
                  <a:srgbClr val="C00000"/>
                </a:solidFill>
              </a:rPr>
              <a:t>handle faults</a:t>
            </a:r>
            <a:r>
              <a:rPr lang="en-US" sz="2000" dirty="0" smtClean="0"/>
              <a:t> and other exceptional situations.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BPEL vs. Programming Languages [3]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composition of services into business processes could be realized using one of the well-known </a:t>
            </a:r>
            <a:r>
              <a:rPr lang="en-US" sz="2000" i="1" dirty="0" smtClean="0">
                <a:solidFill>
                  <a:srgbClr val="C00000"/>
                </a:solidFill>
              </a:rPr>
              <a:t>programming languages</a:t>
            </a:r>
            <a:r>
              <a:rPr lang="en-US" sz="2000" dirty="0" smtClean="0"/>
              <a:t> (Java, C#, …).</a:t>
            </a:r>
          </a:p>
          <a:p>
            <a:endParaRPr lang="en-US" sz="2000" dirty="0" smtClean="0"/>
          </a:p>
          <a:p>
            <a:r>
              <a:rPr lang="en-US" sz="2000" dirty="0" smtClean="0"/>
              <a:t>With composition, we merge functionalities (services) into larger services and processes. In other words, we do programming </a:t>
            </a:r>
            <a:r>
              <a:rPr lang="en-US" sz="2000" i="1" dirty="0" smtClean="0">
                <a:solidFill>
                  <a:srgbClr val="C00000"/>
                </a:solidFill>
              </a:rPr>
              <a:t>in the large</a:t>
            </a:r>
            <a:r>
              <a:rPr lang="en-US" sz="2000" dirty="0" smtClean="0"/>
              <a:t>, which differs from traditional programming in the small.</a:t>
            </a:r>
          </a:p>
          <a:p>
            <a:r>
              <a:rPr lang="en-US" sz="2000" dirty="0" smtClean="0"/>
              <a:t>Programming in the large refers to </a:t>
            </a:r>
            <a:r>
              <a:rPr lang="en-US" sz="2000" i="1" dirty="0" smtClean="0">
                <a:solidFill>
                  <a:srgbClr val="C00000"/>
                </a:solidFill>
              </a:rPr>
              <a:t>representation</a:t>
            </a:r>
            <a:r>
              <a:rPr lang="en-US" sz="2000" dirty="0" smtClean="0"/>
              <a:t> of the high-level state transition logic of a system.</a:t>
            </a:r>
          </a:p>
          <a:p>
            <a:endParaRPr lang="en-US" sz="2000" dirty="0" smtClean="0"/>
          </a:p>
          <a:p>
            <a:r>
              <a:rPr lang="en-US" sz="2000" dirty="0" smtClean="0"/>
              <a:t>Using programming languages, such as Java, C#, etc., for composition often results in inflexible solutions, particularly because there is </a:t>
            </a:r>
            <a:r>
              <a:rPr lang="en-US" sz="2000" i="1" dirty="0" smtClean="0">
                <a:solidFill>
                  <a:srgbClr val="C00000"/>
                </a:solidFill>
              </a:rPr>
              <a:t>no clear separation</a:t>
            </a:r>
            <a:r>
              <a:rPr lang="en-US" sz="2000" dirty="0" smtClean="0"/>
              <a:t> between the process flow and the business logic, which should not be tightly coupled.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Orchestration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71800"/>
          </a:xfrm>
        </p:spPr>
        <p:txBody>
          <a:bodyPr/>
          <a:lstStyle/>
          <a:p>
            <a:r>
              <a:rPr lang="en-US" sz="2000" dirty="0" smtClean="0"/>
              <a:t>In </a:t>
            </a:r>
            <a:r>
              <a:rPr lang="en-US" sz="2000" i="1" dirty="0" smtClean="0">
                <a:solidFill>
                  <a:srgbClr val="C00000"/>
                </a:solidFill>
              </a:rPr>
              <a:t>orchestration</a:t>
            </a:r>
            <a:r>
              <a:rPr lang="en-US" sz="2000" dirty="0" smtClean="0"/>
              <a:t>, a central process (which can be another web service) takes control over the involved web services and coordinates the execution of different operations on the web services involved in the operation.</a:t>
            </a:r>
          </a:p>
          <a:p>
            <a:r>
              <a:rPr lang="en-US" sz="2000" dirty="0" smtClean="0"/>
              <a:t>The involved web services do not know (and do not need to know) that they are involved into a composition and that they are a part of a higher business process. Only the central coordinator of the orchestration knows this, so the orchestration is centralized with explicit definitions of operations and the </a:t>
            </a:r>
            <a:r>
              <a:rPr lang="en-US" sz="2000" i="1" dirty="0" smtClean="0">
                <a:solidFill>
                  <a:srgbClr val="C00000"/>
                </a:solidFill>
              </a:rPr>
              <a:t>order of invocation</a:t>
            </a:r>
            <a:r>
              <a:rPr lang="en-US" sz="2000" dirty="0" smtClean="0"/>
              <a:t> of web services.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9325" y="4676775"/>
            <a:ext cx="470535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Choreography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199"/>
          </a:xfrm>
        </p:spPr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Choreography</a:t>
            </a:r>
            <a:r>
              <a:rPr lang="en-US" sz="2000" dirty="0" smtClean="0"/>
              <a:t> does not rely on a central coordinator. Rather, each web service involved in the choreography knows exactly when to execute its operations and whom to interact with.</a:t>
            </a:r>
          </a:p>
          <a:p>
            <a:r>
              <a:rPr lang="en-US" sz="2000" dirty="0" smtClean="0"/>
              <a:t>Choreography is a collaborative effort focused on </a:t>
            </a:r>
            <a:r>
              <a:rPr lang="en-US" sz="2000" i="1" dirty="0" smtClean="0">
                <a:solidFill>
                  <a:srgbClr val="C00000"/>
                </a:solidFill>
              </a:rPr>
              <a:t>exchange of messages</a:t>
            </a:r>
            <a:r>
              <a:rPr lang="en-US" sz="2000" dirty="0" smtClean="0"/>
              <a:t> in public business processes. All participants of the choreography need to be aware of the business process, operations to execute, messages to exchange, and the timing of message exchanges.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4575" y="4191000"/>
            <a:ext cx="451485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Four-layered SOA Architecture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Business Process Layer</a:t>
            </a:r>
            <a:r>
              <a:rPr lang="en-US" sz="2400" dirty="0" smtClean="0"/>
              <a:t> is to define business processes expected by service clients.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Unit Service Layer</a:t>
            </a:r>
            <a:r>
              <a:rPr lang="en-US" sz="2400" dirty="0" smtClean="0"/>
              <a:t>: Activities of a business process are conceptual units of works, perceived by clients. It will eventually be performed by a software element, which we call a </a:t>
            </a:r>
            <a:r>
              <a:rPr lang="en-US" sz="2400" i="1" dirty="0" smtClean="0">
                <a:solidFill>
                  <a:srgbClr val="C00000"/>
                </a:solidFill>
              </a:rPr>
              <a:t>unit service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Service Interface Layer</a:t>
            </a:r>
            <a:r>
              <a:rPr lang="en-US" sz="2400" dirty="0" smtClean="0"/>
              <a:t> contains the interfaces of services published by service provides, and it separates the unit services from the </a:t>
            </a:r>
            <a:r>
              <a:rPr lang="en-US" sz="2400" i="1" dirty="0" smtClean="0">
                <a:solidFill>
                  <a:srgbClr val="C00000"/>
                </a:solidFill>
              </a:rPr>
              <a:t>service components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Service Component Layer</a:t>
            </a:r>
            <a:r>
              <a:rPr lang="en-US" sz="2400" dirty="0" smtClean="0"/>
              <a:t> is to specify service components which implement the service interfaces.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 Type of Variability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925" y="1409700"/>
            <a:ext cx="4714875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3790950"/>
            <a:ext cx="464820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Workflow And Composition Variability</a:t>
            </a:r>
            <a:endParaRPr lang="en-US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0" y="2057400"/>
            <a:ext cx="628650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Usages of the Variability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2438400"/>
          </a:xfrm>
        </p:spPr>
        <p:txBody>
          <a:bodyPr/>
          <a:lstStyle/>
          <a:p>
            <a:r>
              <a:rPr lang="en-US" sz="2400" dirty="0" smtClean="0"/>
              <a:t>With the models, variability of services can be easily recognized in </a:t>
            </a:r>
            <a:r>
              <a:rPr lang="en-US" sz="2400" i="1" dirty="0" smtClean="0">
                <a:solidFill>
                  <a:srgbClr val="C00000"/>
                </a:solidFill>
              </a:rPr>
              <a:t>business process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interface models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decision model</a:t>
            </a:r>
            <a:r>
              <a:rPr lang="en-US" sz="2400" dirty="0" smtClean="0"/>
              <a:t> is initiated in analysis and filled with attached tasks in design time.</a:t>
            </a:r>
          </a:p>
          <a:p>
            <a:r>
              <a:rPr lang="en-US" sz="2400" dirty="0" smtClean="0"/>
              <a:t>Then, the rules, activities, and other constraints are referred in service adaptation when the services are called at </a:t>
            </a:r>
            <a:r>
              <a:rPr lang="en-US" sz="2400" i="1" dirty="0" smtClean="0">
                <a:solidFill>
                  <a:srgbClr val="C00000"/>
                </a:solidFill>
              </a:rPr>
              <a:t>run time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7350" y="4038600"/>
            <a:ext cx="5829300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 Applications [4]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25" y="1495425"/>
            <a:ext cx="600075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Mashups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1676400"/>
          </a:xfrm>
        </p:spPr>
        <p:txBody>
          <a:bodyPr/>
          <a:lstStyle/>
          <a:p>
            <a:r>
              <a:rPr lang="en-US" sz="2000" i="1" dirty="0" err="1" smtClean="0">
                <a:solidFill>
                  <a:srgbClr val="C00000"/>
                </a:solidFill>
              </a:rPr>
              <a:t>Mashups</a:t>
            </a:r>
            <a:r>
              <a:rPr lang="en-US" sz="2000" dirty="0" smtClean="0"/>
              <a:t> take the level of integration one step further, by including the presentation layer for the remote service along with the service itself.</a:t>
            </a:r>
          </a:p>
          <a:p>
            <a:r>
              <a:rPr lang="en-US" sz="2000" dirty="0" smtClean="0"/>
              <a:t>From a user perspective, </a:t>
            </a:r>
            <a:r>
              <a:rPr lang="en-US" sz="2000" dirty="0" err="1" smtClean="0"/>
              <a:t>mashups</a:t>
            </a:r>
            <a:r>
              <a:rPr lang="en-US" sz="2000" dirty="0" smtClean="0"/>
              <a:t> make it easy to </a:t>
            </a:r>
            <a:r>
              <a:rPr lang="en-US" sz="2000" i="1" dirty="0" smtClean="0">
                <a:solidFill>
                  <a:srgbClr val="C00000"/>
                </a:solidFill>
              </a:rPr>
              <a:t>consume</a:t>
            </a:r>
            <a:r>
              <a:rPr lang="en-US" sz="2000" dirty="0" smtClean="0"/>
              <a:t> web services. The only thing that is published is a JavaScript library which can be downloaded at runtime and executed by a client application.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0088" y="3276600"/>
            <a:ext cx="774382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13391</TotalTime>
  <Words>1971</Words>
  <Application>Microsoft Office PowerPoint</Application>
  <PresentationFormat>On-screen Show (4:3)</PresentationFormat>
  <Paragraphs>134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Service Integration</vt:lpstr>
      <vt:lpstr>References</vt:lpstr>
      <vt:lpstr>Process-Aware Information System [1]</vt:lpstr>
      <vt:lpstr>Process Flow</vt:lpstr>
      <vt:lpstr>Process Service Levels</vt:lpstr>
      <vt:lpstr>Enterprise Service Bus (ESB)</vt:lpstr>
      <vt:lpstr>Process Integration Architecture</vt:lpstr>
      <vt:lpstr>Slide 8</vt:lpstr>
      <vt:lpstr>Web Services Business Process Execution Language (BPEL) [2]</vt:lpstr>
      <vt:lpstr>BPEL Goal [3]</vt:lpstr>
      <vt:lpstr>BPEL History</vt:lpstr>
      <vt:lpstr>BPEL Data [2]</vt:lpstr>
      <vt:lpstr>BPEL Activities</vt:lpstr>
      <vt:lpstr>Structured Activities</vt:lpstr>
      <vt:lpstr>Service Pack Validation (SPK) Example</vt:lpstr>
      <vt:lpstr>Links and Conditions</vt:lpstr>
      <vt:lpstr>More Basic Activities</vt:lpstr>
      <vt:lpstr>BPEL Engines [2, 3]</vt:lpstr>
      <vt:lpstr>BPEL Features [2]</vt:lpstr>
      <vt:lpstr>BPEL vs. WSDL [3]</vt:lpstr>
      <vt:lpstr>BPEL vs. Programming Languages [3]</vt:lpstr>
      <vt:lpstr>Orchestration [2]</vt:lpstr>
      <vt:lpstr>Choreography</vt:lpstr>
      <vt:lpstr>Slide 24</vt:lpstr>
      <vt:lpstr>Four-layered SOA Architecture [3]</vt:lpstr>
      <vt:lpstr>Four Type of Variability</vt:lpstr>
      <vt:lpstr>Workflow And Composition Variability</vt:lpstr>
      <vt:lpstr>Usages of the Variability Models</vt:lpstr>
      <vt:lpstr>Slide 29</vt:lpstr>
      <vt:lpstr>AJAX Applications [4]</vt:lpstr>
      <vt:lpstr>Mashups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3542</cp:revision>
  <dcterms:created xsi:type="dcterms:W3CDTF">2007-10-06T08:25:13Z</dcterms:created>
  <dcterms:modified xsi:type="dcterms:W3CDTF">2021-06-02T19:08:46Z</dcterms:modified>
</cp:coreProperties>
</file>