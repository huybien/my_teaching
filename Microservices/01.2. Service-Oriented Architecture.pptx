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08" r:id="rId1"/>
  </p:sldMasterIdLst>
  <p:notesMasterIdLst>
    <p:notesMasterId r:id="rId24"/>
  </p:notesMasterIdLst>
  <p:sldIdLst>
    <p:sldId id="509" r:id="rId2"/>
    <p:sldId id="510" r:id="rId3"/>
    <p:sldId id="511" r:id="rId4"/>
    <p:sldId id="512" r:id="rId5"/>
    <p:sldId id="474" r:id="rId6"/>
    <p:sldId id="475" r:id="rId7"/>
    <p:sldId id="476" r:id="rId8"/>
    <p:sldId id="480" r:id="rId9"/>
    <p:sldId id="513" r:id="rId10"/>
    <p:sldId id="514" r:id="rId11"/>
    <p:sldId id="516" r:id="rId12"/>
    <p:sldId id="517" r:id="rId13"/>
    <p:sldId id="518" r:id="rId14"/>
    <p:sldId id="484" r:id="rId15"/>
    <p:sldId id="520" r:id="rId16"/>
    <p:sldId id="521" r:id="rId17"/>
    <p:sldId id="519" r:id="rId18"/>
    <p:sldId id="522" r:id="rId19"/>
    <p:sldId id="506" r:id="rId20"/>
    <p:sldId id="507" r:id="rId21"/>
    <p:sldId id="481" r:id="rId22"/>
    <p:sldId id="495"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9" autoAdjust="0"/>
    <p:restoredTop sz="94667" autoAdjust="0"/>
  </p:normalViewPr>
  <p:slideViewPr>
    <p:cSldViewPr>
      <p:cViewPr>
        <p:scale>
          <a:sx n="50" d="100"/>
          <a:sy n="50" d="100"/>
        </p:scale>
        <p:origin x="-154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4BED54-F3FA-491E-8D24-8F3B2A8CC81D}" type="datetimeFigureOut">
              <a:rPr lang="en-US" smtClean="0"/>
              <a:pPr/>
              <a:t>6/2/2021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E85B71-BC48-4C0C-8DC5-76E5A18C37E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70CC96-DB61-4850-AF79-05CA5E4B3D0A}"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6/2/2021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6/2/2021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6/2/2021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6/2/2021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6/2/2021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6/2/2021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6/2/2021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6/2/2021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6/2/2021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6/2/2021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6/2/2021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Service-Oriented Architecture</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19599"/>
          </a:xfrm>
        </p:spPr>
        <p:txBody>
          <a:bodyPr/>
          <a:lstStyle/>
          <a:p>
            <a:pPr>
              <a:buFont typeface="Wingdings" pitchFamily="2" charset="2"/>
              <a:buChar char="Ø"/>
            </a:pPr>
            <a:endParaRPr lang="en-US" sz="2400" dirty="0" smtClean="0"/>
          </a:p>
        </p:txBody>
      </p:sp>
      <p:pic>
        <p:nvPicPr>
          <p:cNvPr id="5"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r>
              <a:rPr lang="en-US" sz="2400" dirty="0" smtClean="0"/>
              <a:t>Service-Oriented Computing</a:t>
            </a:r>
          </a:p>
          <a:p>
            <a:pPr marL="571500" indent="-571500">
              <a:buFont typeface="+mj-lt"/>
              <a:buAutoNum type="romanUcPeriod"/>
            </a:pPr>
            <a:r>
              <a:rPr lang="en-US" sz="2400" dirty="0" smtClean="0"/>
              <a:t>Service-Oriented Architecture</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752600"/>
            <a:ext cx="5867400" cy="4495800"/>
          </a:xfrm>
        </p:spPr>
        <p:txBody>
          <a:bodyPr/>
          <a:lstStyle/>
          <a:p>
            <a:pPr marL="514350" lvl="0" indent="-514350">
              <a:buFont typeface="+mj-lt"/>
              <a:buAutoNum type="arabicPeriod"/>
            </a:pPr>
            <a:r>
              <a:rPr lang="en-US" sz="2400" dirty="0" smtClean="0"/>
              <a:t>M.P. </a:t>
            </a:r>
            <a:r>
              <a:rPr lang="en-US" sz="2400" dirty="0" err="1" smtClean="0"/>
              <a:t>Papazoglou</a:t>
            </a:r>
            <a:r>
              <a:rPr lang="en-US" sz="2400" dirty="0" smtClean="0"/>
              <a:t> and D. </a:t>
            </a:r>
            <a:r>
              <a:rPr lang="en-US" sz="2400" dirty="0" err="1" smtClean="0"/>
              <a:t>Georgakopoulos</a:t>
            </a:r>
            <a:r>
              <a:rPr lang="en-US" sz="2400" dirty="0" smtClean="0"/>
              <a:t> (2003). Service-Oriented Computing.</a:t>
            </a:r>
          </a:p>
          <a:p>
            <a:pPr marL="514350" indent="-514350">
              <a:buFont typeface="+mj-lt"/>
              <a:buAutoNum type="arabicPeriod"/>
            </a:pPr>
            <a:r>
              <a:rPr lang="en-US" sz="2400" dirty="0" smtClean="0"/>
              <a:t>Mark </a:t>
            </a:r>
            <a:r>
              <a:rPr lang="en-US" sz="2400" dirty="0" err="1" smtClean="0"/>
              <a:t>Endrei</a:t>
            </a:r>
            <a:r>
              <a:rPr lang="en-US" sz="2400" dirty="0" smtClean="0"/>
              <a:t> et al. (2004). Patterns - Service-Oriented Architecture and Web Services. IBM Corp</a:t>
            </a:r>
            <a:r>
              <a:rPr lang="en-US" sz="2400" dirty="0" smtClean="0"/>
              <a:t>.</a:t>
            </a:r>
          </a:p>
          <a:p>
            <a:pPr marL="514350" indent="-514350">
              <a:buFont typeface="+mj-lt"/>
              <a:buAutoNum type="arabicPeriod"/>
            </a:pPr>
            <a:r>
              <a:rPr lang="en-US" sz="2400" dirty="0" err="1" smtClean="0"/>
              <a:t>Hye</a:t>
            </a:r>
            <a:r>
              <a:rPr lang="en-US" sz="2400" dirty="0" smtClean="0"/>
              <a:t>-young Paik et al. (2017). Web Service Implementation and Composition Techniques. </a:t>
            </a:r>
            <a:r>
              <a:rPr lang="en-US" sz="2400" dirty="0" smtClean="0"/>
              <a:t>Springer.</a:t>
            </a:r>
            <a:endParaRPr lang="en-US" sz="2400" dirty="0" smtClean="0"/>
          </a:p>
          <a:p>
            <a:pPr marL="514350" indent="-514350">
              <a:buFont typeface="+mj-lt"/>
              <a:buAutoNum type="arabicPeriod"/>
            </a:pPr>
            <a:r>
              <a:rPr lang="en-US" sz="2400" dirty="0" smtClean="0"/>
              <a:t>Thomas </a:t>
            </a:r>
            <a:r>
              <a:rPr lang="en-US" sz="2400" dirty="0" err="1" smtClean="0"/>
              <a:t>Erl</a:t>
            </a:r>
            <a:r>
              <a:rPr lang="en-US" sz="2400" dirty="0" smtClean="0"/>
              <a:t> (2005). Service-Oriented Architecture - Concepts Technology and Design. Prentice Hall PTR.</a:t>
            </a:r>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1912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Service-Oriented Computing [1]</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Services</a:t>
            </a:r>
            <a:r>
              <a:rPr lang="en-US" sz="2400" dirty="0" smtClean="0"/>
              <a:t> are self-describing, open components that support rapid, low-cost composition of distributed applications.</a:t>
            </a:r>
          </a:p>
          <a:p>
            <a:r>
              <a:rPr lang="en-US" sz="2400" dirty="0" smtClean="0"/>
              <a:t>Services are offered by </a:t>
            </a:r>
            <a:r>
              <a:rPr lang="en-US" sz="2400" i="1" dirty="0" smtClean="0">
                <a:solidFill>
                  <a:srgbClr val="C00000"/>
                </a:solidFill>
              </a:rPr>
              <a:t>service providers</a:t>
            </a:r>
            <a:r>
              <a:rPr lang="en-US" sz="2400" dirty="0" smtClean="0"/>
              <a:t>—organizations that procure the service </a:t>
            </a:r>
            <a:r>
              <a:rPr lang="en-US" sz="2400" u="sng" dirty="0" smtClean="0"/>
              <a:t>implementations</a:t>
            </a:r>
            <a:r>
              <a:rPr lang="en-US" sz="2400" dirty="0" smtClean="0"/>
              <a:t>, supply their service descriptions, and provide related technical and business support.</a:t>
            </a:r>
          </a:p>
          <a:p>
            <a:r>
              <a:rPr lang="en-US" sz="2400" i="1" dirty="0" smtClean="0">
                <a:solidFill>
                  <a:srgbClr val="C00000"/>
                </a:solidFill>
              </a:rPr>
              <a:t>Service-oriented computing</a:t>
            </a:r>
            <a:r>
              <a:rPr lang="en-US" sz="2400" dirty="0" smtClean="0"/>
              <a:t> (SOC) is the computing paradigm that utilizes </a:t>
            </a:r>
            <a:r>
              <a:rPr lang="en-US" sz="2400" u="sng" dirty="0" smtClean="0"/>
              <a:t>services as fundamental elements</a:t>
            </a:r>
            <a:r>
              <a:rPr lang="en-US" sz="2400" dirty="0" smtClean="0"/>
              <a:t> for developing applications.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Descriptions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 descriptions</a:t>
            </a:r>
            <a:r>
              <a:rPr lang="en-US" sz="2200" dirty="0" smtClean="0"/>
              <a:t> are used to advertise the service capabilities, interface, behavior, and quality.</a:t>
            </a:r>
          </a:p>
          <a:p>
            <a:pPr lvl="1"/>
            <a:r>
              <a:rPr lang="en-US" sz="1800" dirty="0" smtClean="0"/>
              <a:t>The </a:t>
            </a:r>
            <a:r>
              <a:rPr lang="en-US" sz="1800" i="1" dirty="0" smtClean="0">
                <a:solidFill>
                  <a:srgbClr val="C00000"/>
                </a:solidFill>
              </a:rPr>
              <a:t>service capability</a:t>
            </a:r>
            <a:r>
              <a:rPr lang="en-US" sz="1800" dirty="0" smtClean="0"/>
              <a:t> description states the conceptual purpose and expected results of the service (by using terms or concepts defined in an application-specific taxonomy).</a:t>
            </a:r>
          </a:p>
          <a:p>
            <a:pPr lvl="1"/>
            <a:r>
              <a:rPr lang="en-US" sz="1800" dirty="0" smtClean="0"/>
              <a:t>The </a:t>
            </a:r>
            <a:r>
              <a:rPr lang="en-US" sz="1800" i="1" dirty="0" smtClean="0">
                <a:solidFill>
                  <a:srgbClr val="C00000"/>
                </a:solidFill>
              </a:rPr>
              <a:t>service interface</a:t>
            </a:r>
            <a:r>
              <a:rPr lang="en-US" sz="1800" dirty="0" smtClean="0"/>
              <a:t> description publishes the service signature (its input/output/error parameters and message types).</a:t>
            </a:r>
          </a:p>
          <a:p>
            <a:pPr lvl="1"/>
            <a:r>
              <a:rPr lang="en-US" sz="1800" dirty="0" smtClean="0"/>
              <a:t>The (expected) </a:t>
            </a:r>
            <a:r>
              <a:rPr lang="en-US" sz="1800" i="1" dirty="0" smtClean="0">
                <a:solidFill>
                  <a:srgbClr val="C00000"/>
                </a:solidFill>
              </a:rPr>
              <a:t>behavior</a:t>
            </a:r>
            <a:r>
              <a:rPr lang="en-US" sz="1800" dirty="0" smtClean="0"/>
              <a:t> of a service during its execution is described by its service behavior description (for example, as a workflow process).</a:t>
            </a:r>
          </a:p>
          <a:p>
            <a:pPr lvl="1"/>
            <a:r>
              <a:rPr lang="en-US" sz="1800" dirty="0" smtClean="0"/>
              <a:t>The </a:t>
            </a:r>
            <a:r>
              <a:rPr lang="en-US" sz="1800" i="1" dirty="0" smtClean="0">
                <a:solidFill>
                  <a:srgbClr val="C00000"/>
                </a:solidFill>
              </a:rPr>
              <a:t>Quality of Service</a:t>
            </a:r>
            <a:r>
              <a:rPr lang="en-US" sz="1800" dirty="0" smtClean="0"/>
              <a:t> (</a:t>
            </a:r>
            <a:r>
              <a:rPr lang="en-US" sz="1800" dirty="0" err="1" smtClean="0"/>
              <a:t>QoS</a:t>
            </a:r>
            <a:r>
              <a:rPr lang="en-US" sz="1800" dirty="0" smtClean="0"/>
              <a:t>) description publishes important functional and nonfunctional service quality attributes, such as service metering and cost, performance metrics(response time, for instance), security attributes,(transactional) integrity, reliability, scalability, and availability.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Clients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 clients</a:t>
            </a:r>
            <a:r>
              <a:rPr lang="en-US" sz="2200" dirty="0" smtClean="0"/>
              <a:t> are end-user organizations that use some service.</a:t>
            </a:r>
          </a:p>
          <a:p>
            <a:r>
              <a:rPr lang="en-US" sz="2200" i="1" dirty="0" smtClean="0">
                <a:solidFill>
                  <a:srgbClr val="C00000"/>
                </a:solidFill>
              </a:rPr>
              <a:t>Service aggregators</a:t>
            </a:r>
            <a:r>
              <a:rPr lang="en-US" sz="2200" dirty="0" smtClean="0"/>
              <a:t> are organizations that consolidate multiple services into a new, single service offering.</a:t>
            </a:r>
          </a:p>
          <a:p>
            <a:r>
              <a:rPr lang="en-US" sz="2200" dirty="0" smtClean="0"/>
              <a:t>Service aggregators develop specifications and/or code that permit the </a:t>
            </a:r>
            <a:r>
              <a:rPr lang="en-US" sz="2200" i="1" dirty="0" smtClean="0">
                <a:solidFill>
                  <a:srgbClr val="C00000"/>
                </a:solidFill>
              </a:rPr>
              <a:t>composite service</a:t>
            </a:r>
            <a:r>
              <a:rPr lang="en-US" sz="2200" dirty="0" smtClean="0"/>
              <a:t> to perform functions that include:</a:t>
            </a:r>
          </a:p>
          <a:p>
            <a:pPr lvl="1"/>
            <a:r>
              <a:rPr lang="en-US" sz="1800" i="1" dirty="0" smtClean="0">
                <a:solidFill>
                  <a:srgbClr val="C00000"/>
                </a:solidFill>
              </a:rPr>
              <a:t>Coordination</a:t>
            </a:r>
            <a:r>
              <a:rPr lang="en-US" sz="1800" dirty="0" smtClean="0"/>
              <a:t>: The execution of the component services, Dataflow.</a:t>
            </a:r>
          </a:p>
          <a:p>
            <a:pPr lvl="1"/>
            <a:r>
              <a:rPr lang="en-US" sz="1800" i="1" dirty="0" smtClean="0">
                <a:solidFill>
                  <a:srgbClr val="C00000"/>
                </a:solidFill>
              </a:rPr>
              <a:t>Monitoring</a:t>
            </a:r>
            <a:r>
              <a:rPr lang="en-US" sz="1800" dirty="0" smtClean="0"/>
              <a:t>: Events or Information produced by the component services.</a:t>
            </a:r>
          </a:p>
          <a:p>
            <a:pPr lvl="1"/>
            <a:r>
              <a:rPr lang="en-US" sz="1800" i="1" dirty="0" smtClean="0">
                <a:solidFill>
                  <a:srgbClr val="C00000"/>
                </a:solidFill>
              </a:rPr>
              <a:t>Conformance</a:t>
            </a:r>
            <a:r>
              <a:rPr lang="en-US" sz="1800" dirty="0" smtClean="0"/>
              <a:t>: Matching its parameter types with those of its components, constraints on the component services.</a:t>
            </a:r>
          </a:p>
          <a:p>
            <a:pPr lvl="1"/>
            <a:r>
              <a:rPr lang="en-US" sz="1800" i="1" dirty="0" smtClean="0">
                <a:solidFill>
                  <a:srgbClr val="C00000"/>
                </a:solidFill>
              </a:rPr>
              <a:t>Quality of Service (</a:t>
            </a:r>
            <a:r>
              <a:rPr lang="en-US" sz="1800" i="1" dirty="0" err="1" smtClean="0">
                <a:solidFill>
                  <a:srgbClr val="C00000"/>
                </a:solidFill>
              </a:rPr>
              <a:t>QoS</a:t>
            </a:r>
            <a:r>
              <a:rPr lang="en-US" sz="1800" i="1" dirty="0" smtClean="0">
                <a:solidFill>
                  <a:srgbClr val="C00000"/>
                </a:solidFill>
              </a:rPr>
              <a:t>) composition</a:t>
            </a:r>
            <a:r>
              <a:rPr lang="en-US" sz="1800" dirty="0" smtClean="0"/>
              <a:t>: The composite service’s overall cost, performance, security, authentication, privacy, (transactional) integrity, reliability, scalability, and availability.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Service-Oriented Architecture [2]</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Service-oriented architecture</a:t>
            </a:r>
            <a:r>
              <a:rPr lang="en-US" sz="2400" dirty="0" smtClean="0"/>
              <a:t> presents an </a:t>
            </a:r>
            <a:r>
              <a:rPr lang="en-US" sz="2400" u="sng" dirty="0" smtClean="0"/>
              <a:t>approach</a:t>
            </a:r>
            <a:r>
              <a:rPr lang="en-US" sz="2400" dirty="0" smtClean="0"/>
              <a:t> for building distributed systems that deliver application functionality as services to either end-user applications or other services.</a:t>
            </a:r>
          </a:p>
          <a:p>
            <a:r>
              <a:rPr lang="en-US" sz="2400" i="1" dirty="0" smtClean="0">
                <a:solidFill>
                  <a:srgbClr val="C00000"/>
                </a:solidFill>
              </a:rPr>
              <a:t>SOA represents</a:t>
            </a:r>
            <a:r>
              <a:rPr lang="en-US" sz="2400" dirty="0" smtClean="0"/>
              <a:t> an open, agile, extensible, federated, </a:t>
            </a:r>
            <a:r>
              <a:rPr lang="en-US" sz="2400" u="sng" dirty="0" smtClean="0"/>
              <a:t>compostable architecture</a:t>
            </a:r>
            <a:r>
              <a:rPr lang="en-US" sz="2400" dirty="0" smtClean="0"/>
              <a:t> comprised of </a:t>
            </a:r>
            <a:r>
              <a:rPr lang="en-US" sz="2400" u="sng" dirty="0" smtClean="0"/>
              <a:t>autonomous</a:t>
            </a:r>
            <a:r>
              <a:rPr lang="en-US" sz="2400" dirty="0" smtClean="0"/>
              <a:t>, </a:t>
            </a:r>
            <a:r>
              <a:rPr lang="en-US" sz="2400" dirty="0" err="1" smtClean="0"/>
              <a:t>QoS</a:t>
            </a:r>
            <a:r>
              <a:rPr lang="en-US" sz="2400" dirty="0" smtClean="0"/>
              <a:t>-capable, vendor diverse, </a:t>
            </a:r>
            <a:r>
              <a:rPr lang="en-US" sz="2400" u="sng" dirty="0" smtClean="0"/>
              <a:t>interoperable</a:t>
            </a:r>
            <a:r>
              <a:rPr lang="en-US" sz="2400" dirty="0" smtClean="0"/>
              <a:t>, </a:t>
            </a:r>
            <a:r>
              <a:rPr lang="en-US" sz="2400" u="sng" dirty="0" smtClean="0"/>
              <a:t>discoverable</a:t>
            </a:r>
            <a:r>
              <a:rPr lang="en-US" sz="2400" dirty="0" smtClean="0"/>
              <a:t>, and potentially reusable </a:t>
            </a:r>
            <a:r>
              <a:rPr lang="en-US" sz="2400" u="sng" dirty="0" smtClean="0"/>
              <a:t>services</a:t>
            </a:r>
            <a:r>
              <a:rPr lang="en-US" sz="2400" dirty="0" smtClean="0"/>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Service-Oriented Terminology (I)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Services</a:t>
            </a:r>
            <a:r>
              <a:rPr lang="en-US" sz="2200" dirty="0" smtClean="0"/>
              <a:t>: Logical entities, the contracts defined by one or more published interfaces.</a:t>
            </a:r>
          </a:p>
          <a:p>
            <a:r>
              <a:rPr lang="en-US" sz="2200" i="1" dirty="0" smtClean="0">
                <a:solidFill>
                  <a:srgbClr val="C00000"/>
                </a:solidFill>
              </a:rPr>
              <a:t>Service provider</a:t>
            </a:r>
            <a:r>
              <a:rPr lang="en-US" sz="2200" dirty="0" smtClean="0"/>
              <a:t>: The software entity that implements a service specification.</a:t>
            </a:r>
          </a:p>
          <a:p>
            <a:r>
              <a:rPr lang="en-US" sz="2200" i="1" dirty="0" smtClean="0">
                <a:solidFill>
                  <a:srgbClr val="C00000"/>
                </a:solidFill>
              </a:rPr>
              <a:t>Service consumer (or requestor)</a:t>
            </a:r>
            <a:r>
              <a:rPr lang="en-US" sz="2200" dirty="0" smtClean="0"/>
              <a:t>: The software entity that calls a service provider. Traditionally, this is termed a “client”. A service consumer can be an end-user application or another service.</a:t>
            </a:r>
          </a:p>
          <a:p>
            <a:r>
              <a:rPr lang="en-US" sz="2200" i="1" dirty="0" smtClean="0">
                <a:solidFill>
                  <a:srgbClr val="C00000"/>
                </a:solidFill>
              </a:rPr>
              <a:t>Service locator</a:t>
            </a:r>
            <a:r>
              <a:rPr lang="en-US" sz="2200" dirty="0" smtClean="0"/>
              <a:t>: A specific kind of service provider that acts as a registry and allows for the lookup of service provider interfaces and service locations.</a:t>
            </a:r>
          </a:p>
          <a:p>
            <a:r>
              <a:rPr lang="en-US" sz="2200" i="1" dirty="0" smtClean="0">
                <a:solidFill>
                  <a:srgbClr val="C00000"/>
                </a:solidFill>
              </a:rPr>
              <a:t>Service broker</a:t>
            </a:r>
            <a:r>
              <a:rPr lang="en-US" sz="2200" dirty="0" smtClean="0"/>
              <a:t>: A specific kind of service provider that can pass on service requests to one or more additional service providers.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Service-Oriented Terminology (II)</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5513" y="2276475"/>
            <a:ext cx="4752975" cy="33623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in SOA</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Service consumer</a:t>
            </a:r>
            <a:r>
              <a:rPr lang="en-US" sz="2000" dirty="0" smtClean="0"/>
              <a:t>: The service consumer is an application, a software module or another service that requires a service. It initiates the enquiry of the service in the registry, binds to the service over a transport, and executes the service function. The service consumer executes the service according to the interface contract.</a:t>
            </a:r>
          </a:p>
          <a:p>
            <a:r>
              <a:rPr lang="en-US" sz="2000" i="1" dirty="0" smtClean="0">
                <a:solidFill>
                  <a:srgbClr val="C00000"/>
                </a:solidFill>
              </a:rPr>
              <a:t>Service provider</a:t>
            </a:r>
            <a:r>
              <a:rPr lang="en-US" sz="2000" dirty="0" smtClean="0"/>
              <a:t>: The service provider is a network-addressable entity that accepts and executes requests from consumers. It publishes its services and interface contract to the service registry so that the service consumer can discover and access the service.</a:t>
            </a:r>
          </a:p>
          <a:p>
            <a:r>
              <a:rPr lang="en-US" sz="2000" i="1" dirty="0" smtClean="0">
                <a:solidFill>
                  <a:srgbClr val="C00000"/>
                </a:solidFill>
              </a:rPr>
              <a:t>Service registry</a:t>
            </a:r>
            <a:r>
              <a:rPr lang="en-US" sz="2000" dirty="0" smtClean="0"/>
              <a:t>: A service registry is the enabler for service discovery. It contains a repository of available services and allows for the lookup of service provider interfaces to interested service consumers.</a:t>
            </a:r>
          </a:p>
          <a:p>
            <a:r>
              <a:rPr lang="en-US" sz="2000" dirty="0" smtClean="0"/>
              <a:t>Each entity in the service-oriented architecture can play one (or more) of the three roles of service provider, consumer and registry.</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 in SOA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Publish</a:t>
            </a:r>
            <a:r>
              <a:rPr lang="en-US" sz="2400" dirty="0" smtClean="0"/>
              <a:t>: To be accessible, a service description must be published so that it can be discovered and invoked by a service consumer.</a:t>
            </a:r>
          </a:p>
          <a:p>
            <a:r>
              <a:rPr lang="en-US" sz="2400" i="1" dirty="0" smtClean="0">
                <a:solidFill>
                  <a:srgbClr val="C00000"/>
                </a:solidFill>
              </a:rPr>
              <a:t>Find</a:t>
            </a:r>
            <a:r>
              <a:rPr lang="en-US" sz="2400" dirty="0" smtClean="0"/>
              <a:t>: A service requestor locates a service by querying the service registry for a service that meets its criteria.</a:t>
            </a:r>
          </a:p>
          <a:p>
            <a:r>
              <a:rPr lang="en-US" sz="2400" i="1" dirty="0" smtClean="0">
                <a:solidFill>
                  <a:srgbClr val="C00000"/>
                </a:solidFill>
              </a:rPr>
              <a:t>Bind and invoke</a:t>
            </a:r>
            <a:r>
              <a:rPr lang="en-US" sz="2400" dirty="0" smtClean="0"/>
              <a:t>: After retrieving the service description, the service consumer proceeds to invoke the service according to the information in the service description.</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Artifacts in SOA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Service</a:t>
            </a:r>
            <a:r>
              <a:rPr lang="en-US" sz="2400" dirty="0" smtClean="0"/>
              <a:t>: A service that is made available for use through a published interface that allows it to be invoked by the service consumer.</a:t>
            </a:r>
          </a:p>
          <a:p>
            <a:r>
              <a:rPr lang="en-US" sz="2400" i="1" dirty="0" smtClean="0">
                <a:solidFill>
                  <a:srgbClr val="C00000"/>
                </a:solidFill>
              </a:rPr>
              <a:t>Service description</a:t>
            </a:r>
            <a:r>
              <a:rPr lang="en-US" sz="2400" dirty="0" smtClean="0"/>
              <a:t>: A service description specifies the way a service consumer will interact with the service provider. It specifies the format of the request and response from the service. This description may specify a set of preconditions, post conditions and/or quality of service (</a:t>
            </a:r>
            <a:r>
              <a:rPr lang="en-US" sz="2400" dirty="0" err="1" smtClean="0"/>
              <a:t>QoS</a:t>
            </a:r>
            <a:r>
              <a:rPr lang="en-US" sz="2400" dirty="0" smtClean="0"/>
              <a:t>) levels.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Collaborations in SOA</a:t>
            </a:r>
            <a:endParaRPr lang="en-US" dirty="0"/>
          </a:p>
        </p:txBody>
      </p:sp>
      <p:pic>
        <p:nvPicPr>
          <p:cNvPr id="24578" name="Picture 2"/>
          <p:cNvPicPr>
            <a:picLocks noChangeAspect="1" noChangeArrowheads="1"/>
          </p:cNvPicPr>
          <p:nvPr/>
        </p:nvPicPr>
        <p:blipFill>
          <a:blip r:embed="rId2" cstate="print"/>
          <a:srcRect/>
          <a:stretch>
            <a:fillRect/>
          </a:stretch>
        </p:blipFill>
        <p:spPr bwMode="auto">
          <a:xfrm>
            <a:off x="1643063" y="1933575"/>
            <a:ext cx="5857875" cy="38576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a SOA</a:t>
            </a:r>
            <a:endParaRPr lang="en-US" dirty="0"/>
          </a:p>
        </p:txBody>
      </p:sp>
      <p:pic>
        <p:nvPicPr>
          <p:cNvPr id="23554" name="Picture 2"/>
          <p:cNvPicPr>
            <a:picLocks noChangeAspect="1" noChangeArrowheads="1"/>
          </p:cNvPicPr>
          <p:nvPr/>
        </p:nvPicPr>
        <p:blipFill>
          <a:blip r:embed="rId2" cstate="print"/>
          <a:srcRect/>
          <a:stretch>
            <a:fillRect/>
          </a:stretch>
        </p:blipFill>
        <p:spPr bwMode="auto">
          <a:xfrm>
            <a:off x="1004888" y="1752600"/>
            <a:ext cx="7134225" cy="4495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a:t>
            </a:r>
            <a:r>
              <a:rPr lang="en-US" dirty="0" smtClean="0"/>
              <a:t>Options</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255713" y="1517650"/>
            <a:ext cx="6632575" cy="48069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Implementations of SOA</a:t>
            </a:r>
            <a:endParaRPr lang="en-US" dirty="0"/>
          </a:p>
        </p:txBody>
      </p:sp>
      <p:sp>
        <p:nvSpPr>
          <p:cNvPr id="3" name="Content Placeholder 2"/>
          <p:cNvSpPr>
            <a:spLocks noGrp="1"/>
          </p:cNvSpPr>
          <p:nvPr>
            <p:ph idx="1"/>
          </p:nvPr>
        </p:nvSpPr>
        <p:spPr/>
        <p:txBody>
          <a:bodyPr/>
          <a:lstStyle/>
          <a:p>
            <a:r>
              <a:rPr lang="en-US" sz="2000" dirty="0" smtClean="0"/>
              <a:t>Examples of technologies that are at least </a:t>
            </a:r>
            <a:r>
              <a:rPr lang="en-US" sz="2000" i="1" dirty="0" smtClean="0">
                <a:solidFill>
                  <a:srgbClr val="C00000"/>
                </a:solidFill>
              </a:rPr>
              <a:t>partly service-oriented</a:t>
            </a:r>
            <a:r>
              <a:rPr lang="en-US" sz="2000" dirty="0" smtClean="0"/>
              <a:t> include CORBA, DCOM and J2EE.</a:t>
            </a:r>
          </a:p>
          <a:p>
            <a:r>
              <a:rPr lang="en-US" sz="2000" dirty="0" smtClean="0"/>
              <a:t>Early adopters of the service-oriented architecture approach have also successfully created their own service-oriented enterprise architectures based on </a:t>
            </a:r>
            <a:r>
              <a:rPr lang="en-US" sz="2000" i="1" dirty="0" smtClean="0">
                <a:solidFill>
                  <a:srgbClr val="C00000"/>
                </a:solidFill>
              </a:rPr>
              <a:t>messaging systems</a:t>
            </a:r>
            <a:r>
              <a:rPr lang="en-US" sz="2000" dirty="0" smtClean="0"/>
              <a:t> such as IBM </a:t>
            </a:r>
            <a:r>
              <a:rPr lang="en-US" sz="2000" dirty="0" err="1" smtClean="0"/>
              <a:t>WebSphere</a:t>
            </a:r>
            <a:r>
              <a:rPr lang="en-US" sz="2000" dirty="0" smtClean="0"/>
              <a:t> MQ.</a:t>
            </a:r>
          </a:p>
          <a:p>
            <a:r>
              <a:rPr lang="en-US" sz="2000" dirty="0" smtClean="0"/>
              <a:t>Most recently, the SOA arena has expanded to include the </a:t>
            </a:r>
            <a:r>
              <a:rPr lang="en-US" sz="2000" i="1" dirty="0" smtClean="0">
                <a:solidFill>
                  <a:srgbClr val="C00000"/>
                </a:solidFill>
              </a:rPr>
              <a:t>World Wide Web (WWW)</a:t>
            </a:r>
            <a:r>
              <a:rPr lang="en-US" sz="2000" dirty="0" smtClean="0"/>
              <a:t> and </a:t>
            </a:r>
            <a:r>
              <a:rPr lang="en-US" sz="2000" i="1" dirty="0" smtClean="0">
                <a:solidFill>
                  <a:srgbClr val="C00000"/>
                </a:solidFill>
              </a:rPr>
              <a:t>Web Services</a:t>
            </a:r>
            <a:r>
              <a:rPr lang="en-US" sz="2000" dirty="0" smtClean="0"/>
              <a:t>.</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2906713" y="4114800"/>
            <a:ext cx="3330575" cy="23050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a:t>
            </a:r>
            <a:r>
              <a:rPr lang="en-US" dirty="0" smtClean="0"/>
              <a:t>Realization Technologies [3]</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2517775" y="1758950"/>
            <a:ext cx="4108450" cy="41084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SOA vs. Distributed Architectures </a:t>
            </a:r>
            <a:r>
              <a:rPr lang="en-US" sz="4000" dirty="0" smtClean="0"/>
              <a:t>[4]</a:t>
            </a:r>
            <a:endParaRPr lang="en-US" sz="4000" dirty="0"/>
          </a:p>
        </p:txBody>
      </p:sp>
      <p:sp>
        <p:nvSpPr>
          <p:cNvPr id="3" name="Content Placeholder 2"/>
          <p:cNvSpPr>
            <a:spLocks noGrp="1"/>
          </p:cNvSpPr>
          <p:nvPr>
            <p:ph idx="1"/>
          </p:nvPr>
        </p:nvSpPr>
        <p:spPr/>
        <p:txBody>
          <a:bodyPr/>
          <a:lstStyle/>
          <a:p>
            <a:r>
              <a:rPr lang="en-US" sz="2400" dirty="0" smtClean="0"/>
              <a:t>Services that provide </a:t>
            </a:r>
            <a:r>
              <a:rPr lang="en-US" sz="2400" i="1" dirty="0" smtClean="0">
                <a:solidFill>
                  <a:srgbClr val="C00000"/>
                </a:solidFill>
              </a:rPr>
              <a:t>service descriptions</a:t>
            </a:r>
            <a:r>
              <a:rPr lang="en-US" sz="2400" dirty="0" smtClean="0"/>
              <a:t> and communicate via </a:t>
            </a:r>
            <a:r>
              <a:rPr lang="en-US" sz="2400" i="1" dirty="0" smtClean="0">
                <a:solidFill>
                  <a:srgbClr val="C00000"/>
                </a:solidFill>
              </a:rPr>
              <a:t>messages</a:t>
            </a:r>
            <a:r>
              <a:rPr lang="en-US" sz="2400" dirty="0" smtClean="0"/>
              <a:t> form a basic architecture.</a:t>
            </a:r>
          </a:p>
          <a:p>
            <a:r>
              <a:rPr lang="en-US" sz="2400" dirty="0" smtClean="0"/>
              <a:t>So far, this architecture appears similar to </a:t>
            </a:r>
            <a:r>
              <a:rPr lang="en-US" sz="2400" i="1" dirty="0" smtClean="0">
                <a:solidFill>
                  <a:srgbClr val="C00000"/>
                </a:solidFill>
              </a:rPr>
              <a:t>past distributed architectures</a:t>
            </a:r>
            <a:r>
              <a:rPr lang="en-US" sz="2400" dirty="0" smtClean="0"/>
              <a:t> that support messaging and a separation of interface from processing logic.</a:t>
            </a:r>
          </a:p>
          <a:p>
            <a:r>
              <a:rPr lang="en-US" sz="2400" dirty="0" smtClean="0"/>
              <a:t>What distinguishes ours is how its three core components (services, descriptions, and messages) are </a:t>
            </a:r>
            <a:r>
              <a:rPr lang="en-US" sz="2400" i="1" dirty="0" smtClean="0">
                <a:solidFill>
                  <a:srgbClr val="C00000"/>
                </a:solidFill>
              </a:rPr>
              <a:t>designed</a:t>
            </a:r>
            <a:r>
              <a:rPr lang="en-US" sz="2400" dirty="0" smtClean="0"/>
              <a:t>.</a:t>
            </a:r>
            <a:endParaRPr lang="en-US" sz="2400" dirty="0"/>
          </a:p>
        </p:txBody>
      </p:sp>
      <p:pic>
        <p:nvPicPr>
          <p:cNvPr id="22531" name="Picture 3"/>
          <p:cNvPicPr>
            <a:picLocks noChangeAspect="1" noChangeArrowheads="1"/>
          </p:cNvPicPr>
          <p:nvPr/>
        </p:nvPicPr>
        <p:blipFill>
          <a:blip r:embed="rId2" cstate="print"/>
          <a:srcRect/>
          <a:stretch>
            <a:fillRect/>
          </a:stretch>
        </p:blipFill>
        <p:spPr bwMode="auto">
          <a:xfrm>
            <a:off x="2133600" y="4495800"/>
            <a:ext cx="5419725" cy="21431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Services are Designed</a:t>
            </a:r>
            <a:endParaRPr lang="en-US" dirty="0"/>
          </a:p>
        </p:txBody>
      </p:sp>
      <p:sp>
        <p:nvSpPr>
          <p:cNvPr id="3" name="Content Placeholder 2"/>
          <p:cNvSpPr>
            <a:spLocks noGrp="1"/>
          </p:cNvSpPr>
          <p:nvPr>
            <p:ph idx="1"/>
          </p:nvPr>
        </p:nvSpPr>
        <p:spPr>
          <a:xfrm>
            <a:off x="304800" y="1600200"/>
            <a:ext cx="8534400" cy="4876800"/>
          </a:xfrm>
        </p:spPr>
        <p:txBody>
          <a:bodyPr/>
          <a:lstStyle/>
          <a:p>
            <a:r>
              <a:rPr lang="en-US" sz="2000" i="1" dirty="0" smtClean="0">
                <a:solidFill>
                  <a:srgbClr val="C00000"/>
                </a:solidFill>
              </a:rPr>
              <a:t>Loose coupling</a:t>
            </a:r>
            <a:r>
              <a:rPr lang="en-US" sz="2000" dirty="0" smtClean="0"/>
              <a:t> Services maintain a relationship that minimizes dependencies and only requires that they retain an awareness of each other.</a:t>
            </a:r>
          </a:p>
          <a:p>
            <a:r>
              <a:rPr lang="en-US" sz="2000" i="1" dirty="0" smtClean="0">
                <a:solidFill>
                  <a:srgbClr val="C00000"/>
                </a:solidFill>
              </a:rPr>
              <a:t>Service contract</a:t>
            </a:r>
            <a:r>
              <a:rPr lang="en-US" sz="2000" dirty="0" smtClean="0"/>
              <a:t> Services adhere to a communications agreement, as defined collectively by one or more service descriptions and related documents.</a:t>
            </a:r>
          </a:p>
          <a:p>
            <a:r>
              <a:rPr lang="en-US" sz="2000" i="1" dirty="0" smtClean="0">
                <a:solidFill>
                  <a:srgbClr val="C00000"/>
                </a:solidFill>
              </a:rPr>
              <a:t>Autonomy</a:t>
            </a:r>
            <a:r>
              <a:rPr lang="en-US" sz="2000" dirty="0" smtClean="0"/>
              <a:t> Services have control over the logic they encapsulate.</a:t>
            </a:r>
          </a:p>
          <a:p>
            <a:r>
              <a:rPr lang="en-US" sz="2000" i="1" dirty="0" smtClean="0">
                <a:solidFill>
                  <a:srgbClr val="C00000"/>
                </a:solidFill>
              </a:rPr>
              <a:t>Abstraction</a:t>
            </a:r>
            <a:r>
              <a:rPr lang="en-US" sz="2000" dirty="0" smtClean="0"/>
              <a:t> Beyond what is described in the service contract, services hide logic from the outside world.</a:t>
            </a:r>
          </a:p>
          <a:p>
            <a:r>
              <a:rPr lang="en-US" sz="2000" i="1" dirty="0" smtClean="0">
                <a:solidFill>
                  <a:srgbClr val="C00000"/>
                </a:solidFill>
              </a:rPr>
              <a:t>Reusability</a:t>
            </a:r>
            <a:r>
              <a:rPr lang="en-US" sz="2000" dirty="0" smtClean="0"/>
              <a:t> Logic is divided into services with the intention of promoting reuse.</a:t>
            </a:r>
          </a:p>
          <a:p>
            <a:r>
              <a:rPr lang="en-US" sz="2000" i="1" dirty="0" err="1" smtClean="0">
                <a:solidFill>
                  <a:srgbClr val="C00000"/>
                </a:solidFill>
              </a:rPr>
              <a:t>Composability</a:t>
            </a:r>
            <a:r>
              <a:rPr lang="en-US" sz="2000" dirty="0" smtClean="0"/>
              <a:t> Collections of services can be coordinated and assembled to form composite services.</a:t>
            </a:r>
          </a:p>
          <a:p>
            <a:r>
              <a:rPr lang="en-US" sz="2000" i="1" dirty="0" smtClean="0">
                <a:solidFill>
                  <a:srgbClr val="C00000"/>
                </a:solidFill>
              </a:rPr>
              <a:t>Statelessness</a:t>
            </a:r>
            <a:r>
              <a:rPr lang="en-US" sz="2000" dirty="0" smtClean="0"/>
              <a:t> Services minimize retaining information specific to an activity.</a:t>
            </a:r>
          </a:p>
          <a:p>
            <a:r>
              <a:rPr lang="en-US" sz="2000" i="1" dirty="0" smtClean="0">
                <a:solidFill>
                  <a:srgbClr val="C00000"/>
                </a:solidFill>
              </a:rPr>
              <a:t>Discoverability</a:t>
            </a:r>
            <a:r>
              <a:rPr lang="en-US" sz="2000" dirty="0" smtClean="0"/>
              <a:t> Services are designed to be outwardly descriptive so that they can be found and assessed via available discovery mechanisms.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SOA?</a:t>
            </a:r>
            <a:endParaRPr lang="en-US" dirty="0"/>
          </a:p>
        </p:txBody>
      </p:sp>
      <p:sp>
        <p:nvSpPr>
          <p:cNvPr id="3" name="Content Placeholder 2"/>
          <p:cNvSpPr>
            <a:spLocks noGrp="1"/>
          </p:cNvSpPr>
          <p:nvPr>
            <p:ph idx="1"/>
          </p:nvPr>
        </p:nvSpPr>
        <p:spPr/>
        <p:txBody>
          <a:bodyPr/>
          <a:lstStyle/>
          <a:p>
            <a:r>
              <a:rPr lang="en-US" sz="2400" dirty="0" smtClean="0"/>
              <a:t>Improved </a:t>
            </a:r>
            <a:r>
              <a:rPr lang="en-US" sz="2400" i="1" dirty="0" smtClean="0">
                <a:solidFill>
                  <a:srgbClr val="C00000"/>
                </a:solidFill>
              </a:rPr>
              <a:t>integration</a:t>
            </a:r>
            <a:r>
              <a:rPr lang="en-US" sz="2400" dirty="0" smtClean="0"/>
              <a:t> (and intrinsic interoperability)</a:t>
            </a:r>
          </a:p>
          <a:p>
            <a:pPr lvl="1"/>
            <a:r>
              <a:rPr lang="en-US" sz="2000" dirty="0" smtClean="0"/>
              <a:t>The cost and effort of cross-application integration is significantly lowered when applications being integrated are SOA-compliant.</a:t>
            </a:r>
          </a:p>
          <a:p>
            <a:r>
              <a:rPr lang="en-US" sz="2400" dirty="0" smtClean="0"/>
              <a:t>Inherent </a:t>
            </a:r>
            <a:r>
              <a:rPr lang="en-US" sz="2400" i="1" dirty="0" smtClean="0">
                <a:solidFill>
                  <a:srgbClr val="C00000"/>
                </a:solidFill>
              </a:rPr>
              <a:t>reuse</a:t>
            </a:r>
          </a:p>
          <a:p>
            <a:r>
              <a:rPr lang="en-US" sz="2400" dirty="0" smtClean="0"/>
              <a:t>Leveraging the </a:t>
            </a:r>
            <a:r>
              <a:rPr lang="en-US" sz="2400" i="1" dirty="0" smtClean="0">
                <a:solidFill>
                  <a:srgbClr val="C00000"/>
                </a:solidFill>
              </a:rPr>
              <a:t>legacy investment</a:t>
            </a:r>
          </a:p>
          <a:p>
            <a:pPr lvl="1"/>
            <a:r>
              <a:rPr lang="en-US" sz="2000" dirty="0" smtClean="0"/>
              <a:t>The cost and effort of integrating legacy and contemporary solutions is lowered. The need for legacy systems to be replaced is potentially lessened.</a:t>
            </a:r>
          </a:p>
          <a:p>
            <a:r>
              <a:rPr lang="en-US" sz="2400" dirty="0" smtClean="0"/>
              <a:t>More responsive and faster </a:t>
            </a:r>
            <a:r>
              <a:rPr lang="en-US" sz="2400" i="1" dirty="0" smtClean="0">
                <a:solidFill>
                  <a:srgbClr val="C00000"/>
                </a:solidFill>
              </a:rPr>
              <a:t>time-to-market</a:t>
            </a:r>
          </a:p>
          <a:p>
            <a:r>
              <a:rPr lang="en-US" sz="2400" dirty="0" smtClean="0"/>
              <a:t>Organizational agility</a:t>
            </a:r>
            <a:r>
              <a:rPr lang="en-US" sz="2000" dirty="0" smtClean="0"/>
              <a:t>.</a:t>
            </a:r>
          </a:p>
          <a:p>
            <a:pPr lvl="1"/>
            <a:r>
              <a:rPr lang="en-US" sz="2000" dirty="0" smtClean="0"/>
              <a:t>The cost and effort to respond and adapt to business or technology-related change is reduced.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15616</TotalTime>
  <Words>1284</Words>
  <Application>Microsoft Office PowerPoint</Application>
  <PresentationFormat>On-screen Show (4:3)</PresentationFormat>
  <Paragraphs>88</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Service-Oriented Architecture</vt:lpstr>
      <vt:lpstr>Objectives</vt:lpstr>
      <vt:lpstr>Contents</vt:lpstr>
      <vt:lpstr>References</vt:lpstr>
      <vt:lpstr>Service-Oriented Computing [1]</vt:lpstr>
      <vt:lpstr>Service Descriptions</vt:lpstr>
      <vt:lpstr>Service Clients</vt:lpstr>
      <vt:lpstr>Service-Oriented Architecture [2]</vt:lpstr>
      <vt:lpstr>Service-Oriented Terminology (I)</vt:lpstr>
      <vt:lpstr>Service-Oriented Terminology (II)</vt:lpstr>
      <vt:lpstr>Roles in SOA</vt:lpstr>
      <vt:lpstr>Operations in SOA</vt:lpstr>
      <vt:lpstr>Artifacts in SOA</vt:lpstr>
      <vt:lpstr>Collaborations in SOA</vt:lpstr>
      <vt:lpstr>Elements of a SOA</vt:lpstr>
      <vt:lpstr>Technology Options</vt:lpstr>
      <vt:lpstr>Different Implementations of SOA</vt:lpstr>
      <vt:lpstr>SOA Realization Technologies [3]</vt:lpstr>
      <vt:lpstr>SOA vs. Distributed Architectures [4]</vt:lpstr>
      <vt:lpstr>How Services are Designed</vt:lpstr>
      <vt:lpstr>Why SOA?</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4411</cp:revision>
  <dcterms:created xsi:type="dcterms:W3CDTF">2007-10-06T08:25:13Z</dcterms:created>
  <dcterms:modified xsi:type="dcterms:W3CDTF">2021-06-01T18:41:42Z</dcterms:modified>
</cp:coreProperties>
</file>