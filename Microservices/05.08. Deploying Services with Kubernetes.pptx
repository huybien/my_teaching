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sldIdLst>
    <p:sldId id="256" r:id="rId2"/>
    <p:sldId id="349" r:id="rId3"/>
    <p:sldId id="396" r:id="rId4"/>
    <p:sldId id="344" r:id="rId5"/>
    <p:sldId id="469" r:id="rId6"/>
    <p:sldId id="471" r:id="rId7"/>
    <p:sldId id="473" r:id="rId8"/>
    <p:sldId id="472" r:id="rId9"/>
    <p:sldId id="474" r:id="rId10"/>
    <p:sldId id="470" r:id="rId11"/>
    <p:sldId id="478" r:id="rId12"/>
    <p:sldId id="475" r:id="rId13"/>
    <p:sldId id="433" r:id="rId14"/>
    <p:sldId id="434" r:id="rId15"/>
    <p:sldId id="435" r:id="rId16"/>
    <p:sldId id="436" r:id="rId17"/>
    <p:sldId id="437" r:id="rId18"/>
    <p:sldId id="439" r:id="rId19"/>
    <p:sldId id="440" r:id="rId20"/>
    <p:sldId id="441" r:id="rId21"/>
    <p:sldId id="442" r:id="rId22"/>
    <p:sldId id="443" r:id="rId23"/>
    <p:sldId id="509" r:id="rId24"/>
    <p:sldId id="462" r:id="rId25"/>
    <p:sldId id="463" r:id="rId26"/>
    <p:sldId id="464" r:id="rId27"/>
    <p:sldId id="465" r:id="rId28"/>
    <p:sldId id="466" r:id="rId29"/>
    <p:sldId id="467" r:id="rId30"/>
    <p:sldId id="468" r:id="rId31"/>
    <p:sldId id="34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2" autoAdjust="0"/>
    <p:restoredTop sz="94818" autoAdjust="0"/>
  </p:normalViewPr>
  <p:slideViewPr>
    <p:cSldViewPr>
      <p:cViewPr>
        <p:scale>
          <a:sx n="50" d="100"/>
          <a:sy n="50" d="100"/>
        </p:scale>
        <p:origin x="-1494" y="-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helm.sh/docs/intro/instal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et.helm.sh/helm-v4.0.4-windows-amd64.zip" TargetMode="External"/><Relationship Id="rId2" Type="http://schemas.openxmlformats.org/officeDocument/2006/relationships/hyperlink" Target="https://github.com/helm/helm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utorials/stateless-application/guestbook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k8s.io/examples/application/guestbook/redis-leader-deployment.ya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k8s.io/examples/application/guestbook/redis-follower-service.ya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k8s.io/examples/application/guestbook/frontend-deployment.ya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k8s.io/examples/application/guestbook/frontend-service.ya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orgs/microservices-demo/repositories?type=al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microservices-demo/microservices-demo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CloudTopG/unleash-the-power-of-kubernetes-with-terraform-deploy-sock-shop-microservice-like-a-pro-572670a0d28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Deploying Services with </a:t>
            </a:r>
            <a:r>
              <a:rPr lang="en-US" sz="6000" dirty="0" err="1" smtClean="0"/>
              <a:t>Kubernetes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smtClean="0"/>
              <a:t>Helm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err="1" smtClean="0">
                <a:solidFill>
                  <a:srgbClr val="C00000"/>
                </a:solidFill>
              </a:rPr>
              <a:t>Kubernetes</a:t>
            </a:r>
            <a:r>
              <a:rPr lang="en-US" sz="2600" i="1" dirty="0" smtClean="0">
                <a:solidFill>
                  <a:srgbClr val="C00000"/>
                </a:solidFill>
              </a:rPr>
              <a:t> apps</a:t>
            </a:r>
            <a:r>
              <a:rPr lang="en-US" sz="2600" dirty="0" smtClean="0"/>
              <a:t> are modeled in a sprawl of </a:t>
            </a:r>
            <a:r>
              <a:rPr lang="en-US" sz="2600" u="sng" dirty="0" smtClean="0"/>
              <a:t>YAML files</a:t>
            </a:r>
            <a:r>
              <a:rPr lang="en-US" sz="2600" dirty="0" smtClean="0"/>
              <a:t> at design time and managed using </a:t>
            </a:r>
            <a:r>
              <a:rPr lang="en-US" sz="2600" u="sng" dirty="0" smtClean="0"/>
              <a:t>sets of labels</a:t>
            </a:r>
            <a:r>
              <a:rPr lang="en-US" sz="2600" dirty="0" smtClean="0"/>
              <a:t> at run time.</a:t>
            </a:r>
          </a:p>
          <a:p>
            <a:r>
              <a:rPr lang="en-US" sz="2600" dirty="0" smtClean="0"/>
              <a:t>There’s no native concept of an “application” in </a:t>
            </a:r>
            <a:r>
              <a:rPr lang="en-US" sz="2600" dirty="0" err="1" smtClean="0"/>
              <a:t>Kubernetes</a:t>
            </a:r>
            <a:r>
              <a:rPr lang="en-US" sz="2600" dirty="0" smtClean="0"/>
              <a:t>, which clearly </a:t>
            </a:r>
            <a:r>
              <a:rPr lang="en-US" sz="2600" i="1" dirty="0" smtClean="0">
                <a:solidFill>
                  <a:srgbClr val="C00000"/>
                </a:solidFill>
              </a:rPr>
              <a:t>groups together a set of related resources</a:t>
            </a:r>
            <a:r>
              <a:rPr lang="en-US" sz="2600" dirty="0" smtClean="0"/>
              <a:t>, and that’s one of the problems Helm solves.</a:t>
            </a:r>
          </a:p>
          <a:p>
            <a:r>
              <a:rPr lang="en-US" sz="2600" dirty="0" smtClean="0"/>
              <a:t>It’s a command-line tool that interacts with repository servers to </a:t>
            </a:r>
            <a:r>
              <a:rPr lang="en-US" sz="2600" i="1" dirty="0" smtClean="0">
                <a:solidFill>
                  <a:srgbClr val="C00000"/>
                </a:solidFill>
              </a:rPr>
              <a:t>find and download application packages</a:t>
            </a:r>
            <a:r>
              <a:rPr lang="en-US" sz="2600" dirty="0" smtClean="0"/>
              <a:t> and, with your </a:t>
            </a:r>
            <a:r>
              <a:rPr lang="en-US" sz="2600" dirty="0" err="1" smtClean="0"/>
              <a:t>Kubernetes</a:t>
            </a:r>
            <a:r>
              <a:rPr lang="en-US" sz="2600" dirty="0" smtClean="0"/>
              <a:t> cluster, to </a:t>
            </a:r>
            <a:r>
              <a:rPr lang="en-US" sz="2600" u="sng" dirty="0" smtClean="0"/>
              <a:t>install and manage applications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Repositories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Helm repositories are similar to container image registries like </a:t>
            </a:r>
            <a:r>
              <a:rPr lang="en-US" dirty="0" err="1" smtClean="0"/>
              <a:t>Docker</a:t>
            </a:r>
            <a:r>
              <a:rPr lang="en-US" dirty="0" smtClean="0"/>
              <a:t> Hub, but the server publishes an index of all available packages.</a:t>
            </a:r>
          </a:p>
          <a:p>
            <a:r>
              <a:rPr lang="en-US" dirty="0" smtClean="0"/>
              <a:t>Helm caches a local copy of your repository indexes, which you can use to search packages.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An </a:t>
            </a:r>
            <a:r>
              <a:rPr lang="en-US" sz="2800" u="sng" dirty="0" smtClean="0"/>
              <a:t>application package</a:t>
            </a:r>
            <a:r>
              <a:rPr lang="en-US" sz="2800" dirty="0" smtClean="0"/>
              <a:t> in Helm is called a </a:t>
            </a:r>
            <a:r>
              <a:rPr lang="en-US" sz="2800" i="1" dirty="0" smtClean="0">
                <a:solidFill>
                  <a:srgbClr val="C00000"/>
                </a:solidFill>
              </a:rPr>
              <a:t>chart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Charts can be developed and deployed locally or published to a repository.</a:t>
            </a:r>
          </a:p>
          <a:p>
            <a:r>
              <a:rPr lang="en-US" sz="2800" dirty="0" smtClean="0"/>
              <a:t>When you install a chart, that’s called a </a:t>
            </a:r>
            <a:r>
              <a:rPr lang="en-US" sz="2800" i="1" dirty="0" smtClean="0">
                <a:solidFill>
                  <a:srgbClr val="C00000"/>
                </a:solidFill>
              </a:rPr>
              <a:t>release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Every release has a name, and you can install multiple instances of the same chart in your cluster as separate, named releases.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Charts and Manifests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Charts contain </a:t>
            </a:r>
            <a:r>
              <a:rPr lang="en-US" sz="2800" i="1" dirty="0" err="1" smtClean="0">
                <a:solidFill>
                  <a:srgbClr val="C00000"/>
                </a:solidFill>
              </a:rPr>
              <a:t>Kubernetes</a:t>
            </a:r>
            <a:r>
              <a:rPr lang="en-US" sz="2800" i="1" dirty="0" smtClean="0">
                <a:solidFill>
                  <a:srgbClr val="C00000"/>
                </a:solidFill>
              </a:rPr>
              <a:t> YAML manifests</a:t>
            </a:r>
            <a:r>
              <a:rPr lang="en-US" sz="2800" dirty="0" smtClean="0"/>
              <a:t>, and the manifests typically contain </a:t>
            </a:r>
            <a:r>
              <a:rPr lang="en-US" sz="2800" u="sng" dirty="0" smtClean="0"/>
              <a:t>parameterized values</a:t>
            </a:r>
            <a:r>
              <a:rPr lang="en-US" sz="2800" dirty="0" smtClean="0"/>
              <a:t> so users can install the same chart with different configuration settings—the number of replicas to run or the application logging level could be parameter values.</a:t>
            </a:r>
          </a:p>
          <a:p>
            <a:r>
              <a:rPr lang="en-US" sz="2800" dirty="0" smtClean="0"/>
              <a:t>Each chart also contains a </a:t>
            </a:r>
            <a:r>
              <a:rPr lang="en-US" sz="2800" i="1" dirty="0" smtClean="0">
                <a:solidFill>
                  <a:srgbClr val="C00000"/>
                </a:solidFill>
              </a:rPr>
              <a:t>default set of values</a:t>
            </a:r>
            <a:r>
              <a:rPr lang="en-US" sz="2800" dirty="0" smtClean="0"/>
              <a:t>, and they can be inspected using the command line.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 Components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1905000"/>
            <a:ext cx="601980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Helm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https://helm.sh/docs/intro/install/</a:t>
            </a:r>
            <a:endParaRPr lang="en-US" dirty="0" smtClean="0"/>
          </a:p>
          <a:p>
            <a:r>
              <a:rPr lang="en-US" dirty="0" smtClean="0"/>
              <a:t>brew install helm</a:t>
            </a:r>
          </a:p>
          <a:p>
            <a:r>
              <a:rPr lang="en-US" dirty="0" smtClean="0"/>
              <a:t>helm version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6163" y="3851275"/>
            <a:ext cx="7051675" cy="87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Helm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https://github.com/helm/helm/releases</a:t>
            </a:r>
            <a:endParaRPr lang="en-US" sz="2400" dirty="0" smtClean="0"/>
          </a:p>
          <a:p>
            <a:r>
              <a:rPr lang="en-US" sz="2400" dirty="0" smtClean="0"/>
              <a:t>Download </a:t>
            </a:r>
            <a:r>
              <a:rPr lang="en-US" sz="2400" dirty="0" smtClean="0">
                <a:hlinkClick r:id="rId3"/>
              </a:rPr>
              <a:t>https://get.helm.sh/helm-v4.0.4-windows-amd64.zip</a:t>
            </a:r>
            <a:endParaRPr lang="en-US" sz="2400" dirty="0" smtClean="0"/>
          </a:p>
          <a:p>
            <a:r>
              <a:rPr lang="en-US" sz="2400" dirty="0" smtClean="0"/>
              <a:t>Extract the zip file.</a:t>
            </a:r>
          </a:p>
          <a:p>
            <a:r>
              <a:rPr lang="en-US" sz="2400" b="1" dirty="0" smtClean="0"/>
              <a:t>helm version</a:t>
            </a:r>
            <a:endParaRPr lang="en-U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24063" y="4048125"/>
            <a:ext cx="50958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Deploying PHP Guestbook application with </a:t>
            </a:r>
            <a:r>
              <a:rPr lang="en-US" dirty="0" err="1" smtClean="0"/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https://kubernetes.io/docs/tutorials/stateless-application/guestbook/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/>
              <a:t>The web application must communicate with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followers to read data. To make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followers discoverable, you must set up a Service.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Redis</a:t>
            </a:r>
            <a:r>
              <a:rPr lang="en-US" dirty="0" smtClean="0"/>
              <a:t> leader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See </a:t>
            </a:r>
            <a:r>
              <a:rPr lang="en-US" sz="2400" b="1" dirty="0" err="1" smtClean="0">
                <a:latin typeface="+mj-lt"/>
              </a:rPr>
              <a:t>redis</a:t>
            </a:r>
            <a:r>
              <a:rPr lang="en-US" sz="2400" b="1" dirty="0" smtClean="0">
                <a:latin typeface="+mj-lt"/>
              </a:rPr>
              <a:t>-leader-</a:t>
            </a:r>
            <a:r>
              <a:rPr lang="en-US" sz="2400" b="1" dirty="0" err="1" smtClean="0">
                <a:latin typeface="+mj-lt"/>
              </a:rPr>
              <a:t>deployment.yaml</a:t>
            </a:r>
            <a:endParaRPr lang="en-US" sz="2400" b="1" dirty="0" smtClean="0">
              <a:latin typeface="+mj-lt"/>
            </a:endParaRP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apply -f </a:t>
            </a:r>
            <a:r>
              <a:rPr lang="en-US" sz="2400" dirty="0" smtClean="0">
                <a:hlinkClick r:id="rId2"/>
              </a:rPr>
              <a:t>https://k8s.io/examples/application/guestbook/redis-leader-deployment.yaml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service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logs -f deployment/</a:t>
            </a:r>
            <a:r>
              <a:rPr lang="en-US" sz="2400" dirty="0" err="1" smtClean="0"/>
              <a:t>redis</a:t>
            </a:r>
            <a:r>
              <a:rPr lang="en-US" sz="2400" dirty="0" smtClean="0"/>
              <a:t>-leader</a:t>
            </a:r>
          </a:p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</a:t>
            </a:r>
            <a:r>
              <a:rPr lang="en-US" dirty="0" err="1" smtClean="0"/>
              <a:t>Redis</a:t>
            </a:r>
            <a:r>
              <a:rPr lang="en-US" dirty="0" smtClean="0"/>
              <a:t> leader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</a:rPr>
              <a:t>The web application needs to communicate with the </a:t>
            </a:r>
            <a:r>
              <a:rPr lang="en-US" sz="2000" dirty="0" err="1" smtClean="0">
                <a:latin typeface="+mj-lt"/>
              </a:rPr>
              <a:t>Redis</a:t>
            </a:r>
            <a:r>
              <a:rPr lang="en-US" sz="2000" dirty="0" smtClean="0">
                <a:latin typeface="+mj-lt"/>
              </a:rPr>
              <a:t> leader to write its data. You can create a Service to proxy the traffic to the </a:t>
            </a:r>
            <a:r>
              <a:rPr lang="en-US" sz="2000" dirty="0" err="1" smtClean="0">
                <a:latin typeface="+mj-lt"/>
              </a:rPr>
              <a:t>Redis</a:t>
            </a:r>
            <a:r>
              <a:rPr lang="en-US" sz="2000" dirty="0" smtClean="0">
                <a:latin typeface="+mj-lt"/>
              </a:rPr>
              <a:t> leader Pod.</a:t>
            </a:r>
          </a:p>
          <a:p>
            <a:r>
              <a:rPr lang="en-US" sz="2000" dirty="0" smtClean="0">
                <a:latin typeface="+mj-lt"/>
              </a:rPr>
              <a:t>See </a:t>
            </a:r>
            <a:r>
              <a:rPr lang="en-US" sz="2000" b="1" dirty="0" err="1" smtClean="0">
                <a:latin typeface="+mj-lt"/>
              </a:rPr>
              <a:t>redis</a:t>
            </a:r>
            <a:r>
              <a:rPr lang="en-US" sz="2000" b="1" dirty="0" smtClean="0">
                <a:latin typeface="+mj-lt"/>
              </a:rPr>
              <a:t>-leader-</a:t>
            </a:r>
            <a:r>
              <a:rPr lang="en-US" sz="2000" b="1" dirty="0" err="1" smtClean="0">
                <a:latin typeface="+mj-lt"/>
              </a:rPr>
              <a:t>service.yaml</a:t>
            </a:r>
            <a:endParaRPr lang="en-US" sz="2000" b="1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This manifest includes a set of label selectors. These labels </a:t>
            </a:r>
            <a:r>
              <a:rPr lang="en-US" sz="2000" b="1" dirty="0" smtClean="0">
                <a:latin typeface="+mj-lt"/>
              </a:rPr>
              <a:t>match</a:t>
            </a:r>
            <a:r>
              <a:rPr lang="en-US" sz="2000" dirty="0" smtClean="0">
                <a:latin typeface="+mj-lt"/>
              </a:rPr>
              <a:t> the set of labels that are deployed in the previous step. Therefore, this Service routes the network traffic to the </a:t>
            </a:r>
            <a:r>
              <a:rPr lang="en-US" sz="2000" dirty="0" err="1" smtClean="0">
                <a:latin typeface="+mj-lt"/>
              </a:rPr>
              <a:t>Redis</a:t>
            </a:r>
            <a:r>
              <a:rPr lang="en-US" sz="2000" dirty="0" smtClean="0">
                <a:latin typeface="+mj-lt"/>
              </a:rPr>
              <a:t> leader Pod created in a previous step.</a:t>
            </a:r>
          </a:p>
          <a:p>
            <a:r>
              <a:rPr lang="en-US" sz="2000" dirty="0" err="1" smtClean="0">
                <a:latin typeface="+mj-lt"/>
              </a:rPr>
              <a:t>kubectl</a:t>
            </a:r>
            <a:r>
              <a:rPr lang="en-US" sz="2000" dirty="0" smtClean="0">
                <a:latin typeface="+mj-lt"/>
              </a:rPr>
              <a:t> apply -f https://k8s.io/examples/application/guestbook/redis-leader-service.yaml </a:t>
            </a:r>
          </a:p>
          <a:p>
            <a:r>
              <a:rPr lang="en-US" sz="2000" dirty="0" err="1" smtClean="0">
                <a:latin typeface="+mj-lt"/>
              </a:rPr>
              <a:t>kubectl</a:t>
            </a:r>
            <a:r>
              <a:rPr lang="en-US" sz="2000" dirty="0" smtClean="0">
                <a:latin typeface="+mj-lt"/>
              </a:rPr>
              <a:t> get pods</a:t>
            </a:r>
          </a:p>
          <a:p>
            <a:r>
              <a:rPr lang="en-US" sz="2000" dirty="0" err="1" smtClean="0">
                <a:latin typeface="+mj-lt"/>
              </a:rPr>
              <a:t>kubectl</a:t>
            </a:r>
            <a:r>
              <a:rPr lang="en-US" sz="2000" dirty="0" smtClean="0">
                <a:latin typeface="+mj-lt"/>
              </a:rPr>
              <a:t> logs -f deployment/</a:t>
            </a:r>
            <a:r>
              <a:rPr lang="en-US" sz="2000" dirty="0" err="1" smtClean="0">
                <a:latin typeface="+mj-lt"/>
              </a:rPr>
              <a:t>redis</a:t>
            </a:r>
            <a:r>
              <a:rPr lang="en-US" sz="2000" dirty="0" smtClean="0">
                <a:latin typeface="+mj-lt"/>
              </a:rPr>
              <a:t>-leader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Create </a:t>
            </a:r>
            <a:r>
              <a:rPr lang="en-US" sz="4000" dirty="0" err="1" smtClean="0"/>
              <a:t>Redis</a:t>
            </a:r>
            <a:r>
              <a:rPr lang="en-US" sz="4000" dirty="0" smtClean="0"/>
              <a:t> followers Deployment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Although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leader is a single Pod, you can make it highly available and meet traffic demands by adding a few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followers, or replicas.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See </a:t>
            </a:r>
            <a:r>
              <a:rPr lang="en-US" sz="2400" b="1" dirty="0" err="1" smtClean="0">
                <a:latin typeface="+mj-lt"/>
              </a:rPr>
              <a:t>redis</a:t>
            </a:r>
            <a:r>
              <a:rPr lang="en-US" sz="2400" b="1" dirty="0" smtClean="0">
                <a:latin typeface="+mj-lt"/>
              </a:rPr>
              <a:t>-follower-</a:t>
            </a:r>
            <a:r>
              <a:rPr lang="en-US" sz="2400" b="1" dirty="0" err="1" smtClean="0">
                <a:latin typeface="+mj-lt"/>
              </a:rPr>
              <a:t>deployment.yaml</a:t>
            </a:r>
            <a:endParaRPr lang="en-US" sz="2400" b="1" dirty="0" smtClean="0">
              <a:latin typeface="+mj-lt"/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Followers will find leader by name (i.e. "</a:t>
            </a:r>
            <a:r>
              <a:rPr lang="en-US" sz="2400" b="1" dirty="0" err="1" smtClean="0">
                <a:solidFill>
                  <a:srgbClr val="C00000"/>
                </a:solidFill>
              </a:rPr>
              <a:t>redis</a:t>
            </a:r>
            <a:r>
              <a:rPr lang="en-US" sz="2400" b="1" dirty="0" smtClean="0">
                <a:solidFill>
                  <a:srgbClr val="C00000"/>
                </a:solidFill>
              </a:rPr>
              <a:t>-leader")?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apply -f https://k8s.io/examples/application/guestbook/redis-follower-deployment.yaml 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pods</a:t>
            </a:r>
          </a:p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</a:t>
            </a:r>
            <a:r>
              <a:rPr lang="en-US" dirty="0" err="1" smtClean="0"/>
              <a:t>Redis</a:t>
            </a:r>
            <a:r>
              <a:rPr lang="en-US" dirty="0" smtClean="0"/>
              <a:t> followers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web application must communicate with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followers to read data. To make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followers discoverable, you must set up a Service.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See </a:t>
            </a:r>
            <a:r>
              <a:rPr lang="en-US" sz="2400" b="1" dirty="0" err="1" smtClean="0">
                <a:latin typeface="+mj-lt"/>
              </a:rPr>
              <a:t>redis</a:t>
            </a:r>
            <a:r>
              <a:rPr lang="en-US" sz="2400" b="1" dirty="0" smtClean="0">
                <a:latin typeface="+mj-lt"/>
              </a:rPr>
              <a:t>-follower-</a:t>
            </a:r>
            <a:r>
              <a:rPr lang="en-US" sz="2400" b="1" dirty="0" err="1" smtClean="0">
                <a:latin typeface="+mj-lt"/>
              </a:rPr>
              <a:t>service.yaml</a:t>
            </a:r>
            <a:endParaRPr lang="en-US" sz="2400" b="1" dirty="0" smtClean="0">
              <a:latin typeface="+mj-lt"/>
            </a:endParaRPr>
          </a:p>
          <a:p>
            <a:r>
              <a:rPr lang="en-US" sz="2400" dirty="0" smtClean="0"/>
              <a:t>The selector field of the Service matches the </a:t>
            </a:r>
            <a:r>
              <a:rPr lang="en-US" sz="2400" dirty="0" err="1" smtClean="0"/>
              <a:t>Redis</a:t>
            </a:r>
            <a:r>
              <a:rPr lang="en-US" sz="2400" dirty="0" smtClean="0"/>
              <a:t> follower Pods created in the previous step.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apply -f </a:t>
            </a:r>
            <a:r>
              <a:rPr lang="en-US" sz="2400" dirty="0" smtClean="0">
                <a:hlinkClick r:id="rId2"/>
              </a:rPr>
              <a:t>https://k8s.io/examples/application/guestbook/redis-follower-service.yaml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service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Frontend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</a:rPr>
              <a:t>The web application uses a PHP frontend, which is configured to communicate with either the </a:t>
            </a:r>
            <a:r>
              <a:rPr lang="en-US" sz="2000" dirty="0" err="1" smtClean="0">
                <a:latin typeface="+mj-lt"/>
              </a:rPr>
              <a:t>Redis</a:t>
            </a:r>
            <a:r>
              <a:rPr lang="en-US" sz="2000" dirty="0" smtClean="0">
                <a:latin typeface="+mj-lt"/>
              </a:rPr>
              <a:t> follower or leader Services, depending on whether the request is a read or a write.</a:t>
            </a:r>
          </a:p>
          <a:p>
            <a:r>
              <a:rPr lang="en-US" sz="2000" dirty="0" smtClean="0">
                <a:latin typeface="+mj-lt"/>
              </a:rPr>
              <a:t>See </a:t>
            </a:r>
            <a:r>
              <a:rPr lang="en-US" sz="2000" b="1" dirty="0" smtClean="0">
                <a:latin typeface="+mj-lt"/>
              </a:rPr>
              <a:t>frontend-</a:t>
            </a:r>
            <a:r>
              <a:rPr lang="en-US" sz="2000" b="1" dirty="0" err="1" smtClean="0">
                <a:latin typeface="+mj-lt"/>
              </a:rPr>
              <a:t>deployment.yaml</a:t>
            </a:r>
            <a:endParaRPr lang="en-US" sz="2000" b="1" dirty="0" smtClean="0">
              <a:latin typeface="+mj-lt"/>
            </a:endParaRPr>
          </a:p>
          <a:p>
            <a:r>
              <a:rPr lang="en-US" sz="2000" dirty="0" smtClean="0"/>
              <a:t>The manifest file specifies the environment variable GET_HOSTS_FROM=</a:t>
            </a:r>
            <a:r>
              <a:rPr lang="en-US" sz="2000" dirty="0" err="1" smtClean="0"/>
              <a:t>dns</a:t>
            </a:r>
            <a:r>
              <a:rPr lang="en-US" sz="2000" dirty="0" smtClean="0"/>
              <a:t>. When you provide the configuration to the web frontend application, the frontend application uses the hostnames </a:t>
            </a:r>
            <a:r>
              <a:rPr lang="en-US" sz="2000" dirty="0" err="1" smtClean="0"/>
              <a:t>redis</a:t>
            </a:r>
            <a:r>
              <a:rPr lang="en-US" sz="2000" dirty="0" smtClean="0"/>
              <a:t>-follower and </a:t>
            </a:r>
            <a:r>
              <a:rPr lang="en-US" sz="2000" dirty="0" err="1" smtClean="0"/>
              <a:t>redis</a:t>
            </a:r>
            <a:r>
              <a:rPr lang="en-US" sz="2000" dirty="0" smtClean="0"/>
              <a:t>-leader to performs a DNS lookup.</a:t>
            </a:r>
            <a:endParaRPr lang="en-US" sz="2000" b="1" dirty="0" smtClean="0">
              <a:latin typeface="+mj-lt"/>
            </a:endParaRPr>
          </a:p>
          <a:p>
            <a:r>
              <a:rPr lang="en-US" sz="2000" dirty="0" err="1" smtClean="0"/>
              <a:t>kubectl</a:t>
            </a:r>
            <a:r>
              <a:rPr lang="en-US" sz="2000" dirty="0" smtClean="0"/>
              <a:t> apply -f </a:t>
            </a:r>
            <a:r>
              <a:rPr lang="en-US" sz="2000" dirty="0" smtClean="0">
                <a:hlinkClick r:id="rId2"/>
              </a:rPr>
              <a:t>https://k8s.io/examples/application/guestbook/frontend-deployment.yaml</a:t>
            </a:r>
            <a:endParaRPr lang="en-US" sz="2000" dirty="0" smtClean="0"/>
          </a:p>
          <a:p>
            <a:r>
              <a:rPr lang="en-US" sz="2000" dirty="0" err="1" smtClean="0"/>
              <a:t>kubectl</a:t>
            </a:r>
            <a:r>
              <a:rPr lang="en-US" sz="2000" dirty="0" smtClean="0"/>
              <a:t> get pods -l app=guestbook -l tier=frontend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Frontend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See </a:t>
            </a:r>
            <a:r>
              <a:rPr lang="en-US" sz="2400" b="1" dirty="0" smtClean="0">
                <a:latin typeface="+mj-lt"/>
              </a:rPr>
              <a:t>frontend-</a:t>
            </a:r>
            <a:r>
              <a:rPr lang="en-US" sz="2400" b="1" dirty="0" err="1" smtClean="0">
                <a:latin typeface="+mj-lt"/>
              </a:rPr>
              <a:t>service.yaml</a:t>
            </a:r>
            <a:endParaRPr lang="en-US" sz="2400" b="1" dirty="0" smtClean="0">
              <a:latin typeface="+mj-lt"/>
            </a:endParaRP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apply -f </a:t>
            </a:r>
            <a:r>
              <a:rPr lang="en-US" sz="2400" dirty="0" smtClean="0">
                <a:hlinkClick r:id="rId2"/>
              </a:rPr>
              <a:t>https://k8s.io/examples/application/guestbook/frontend-service.yaml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services</a:t>
            </a:r>
          </a:p>
          <a:p>
            <a:endParaRPr lang="en-US" sz="2400" dirty="0" smtClean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2738" y="4133850"/>
            <a:ext cx="59785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Open Frontend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kubectl</a:t>
            </a:r>
            <a:r>
              <a:rPr lang="en-US" sz="2400" dirty="0" smtClean="0"/>
              <a:t> port-forward svc/frontend 8080:80</a:t>
            </a:r>
          </a:p>
          <a:p>
            <a:r>
              <a:rPr lang="en-US" sz="2400" dirty="0" smtClean="0"/>
              <a:t>load the page </a:t>
            </a:r>
            <a:r>
              <a:rPr lang="en-US" sz="2400" dirty="0" smtClean="0">
                <a:hlinkClick r:id="rId2"/>
              </a:rPr>
              <a:t>http://localhost:8080</a:t>
            </a:r>
            <a:r>
              <a:rPr lang="en-US" sz="2400" dirty="0" smtClean="0"/>
              <a:t> in your browser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service frontend</a:t>
            </a:r>
          </a:p>
          <a:p>
            <a:endParaRPr lang="en-US" sz="2400" dirty="0" smtClean="0"/>
          </a:p>
          <a:p>
            <a:r>
              <a:rPr lang="en-US" sz="2400" dirty="0" smtClean="0"/>
              <a:t># </a:t>
            </a:r>
            <a:r>
              <a:rPr lang="en-US" sz="2400" dirty="0" err="1" smtClean="0"/>
              <a:t>kubectl</a:t>
            </a:r>
            <a:r>
              <a:rPr lang="en-US" sz="2400" dirty="0" smtClean="0"/>
              <a:t> delete service frontend</a:t>
            </a:r>
          </a:p>
          <a:p>
            <a:r>
              <a:rPr lang="en-US" sz="2400" dirty="0" smtClean="0"/>
              <a:t># </a:t>
            </a:r>
            <a:r>
              <a:rPr lang="en-US" sz="2400" dirty="0" err="1" smtClean="0"/>
              <a:t>kubectl</a:t>
            </a:r>
            <a:r>
              <a:rPr lang="en-US" sz="2400" dirty="0" smtClean="0"/>
              <a:t> apply -f frontend-service-</a:t>
            </a:r>
            <a:r>
              <a:rPr lang="en-US" sz="2400" dirty="0" err="1" smtClean="0"/>
              <a:t>lb.yaml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# EXTERNAL-IP = &lt;none&gt;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Scale Frontend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kubectl</a:t>
            </a:r>
            <a:r>
              <a:rPr lang="en-US" sz="2400" dirty="0" smtClean="0"/>
              <a:t> scale deployment frontend --replicas=5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pods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scale deployment frontend --replicas=2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pods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9. </a:t>
            </a:r>
            <a:r>
              <a:rPr lang="en-US" dirty="0" smtClean="0"/>
              <a:t>Clean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kubectl</a:t>
            </a:r>
            <a:r>
              <a:rPr lang="en-US" sz="2400" dirty="0" smtClean="0"/>
              <a:t> delete deployment -l app=</a:t>
            </a:r>
            <a:r>
              <a:rPr lang="en-US" sz="2400" dirty="0" err="1" smtClean="0"/>
              <a:t>redis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delete service -l app=</a:t>
            </a:r>
            <a:r>
              <a:rPr lang="en-US" sz="2400" dirty="0" err="1" smtClean="0"/>
              <a:t>redis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delete deployment frontend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delete service frontend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 Shop: A </a:t>
            </a:r>
            <a:r>
              <a:rPr lang="en-US" dirty="0" err="1" smtClean="0"/>
              <a:t>Microservices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https://github.com/orgs/microservices-demo/repositories?type=all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3074" name="Picture 2" descr="https://raw.githubusercontent.com/microservices-demo/microservices-demo.github.io/1ae9f90384364b961fe6bfb6c796ddba328c6ad8/assets/Architectur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613485"/>
            <a:ext cx="4766555" cy="3406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Deploy Sock 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kubectl</a:t>
            </a:r>
            <a:r>
              <a:rPr lang="en-US" sz="1800" dirty="0" smtClean="0">
                <a:latin typeface="Consolas" pitchFamily="49" charset="0"/>
              </a:rPr>
              <a:t> get nodes</a:t>
            </a:r>
          </a:p>
          <a:p>
            <a:r>
              <a:rPr lang="en-US" sz="1800" dirty="0" err="1" smtClean="0">
                <a:latin typeface="Consolas" pitchFamily="49" charset="0"/>
              </a:rPr>
              <a:t>mimikube</a:t>
            </a:r>
            <a:r>
              <a:rPr lang="en-US" sz="1800" dirty="0" smtClean="0">
                <a:latin typeface="Consolas" pitchFamily="49" charset="0"/>
              </a:rPr>
              <a:t> start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clone </a:t>
            </a:r>
            <a:r>
              <a:rPr lang="en-US" sz="1800" dirty="0" smtClean="0">
                <a:latin typeface="Consolas" pitchFamily="49" charset="0"/>
                <a:hlinkClick r:id="rId2"/>
              </a:rPr>
              <a:t>https://github.com/microservices-demo/microservices-demo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ls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cd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microservices</a:t>
            </a:r>
            <a:r>
              <a:rPr lang="en-US" sz="1800" dirty="0" smtClean="0">
                <a:latin typeface="Consolas" pitchFamily="49" charset="0"/>
              </a:rPr>
              <a:t>-demo/deploy/</a:t>
            </a:r>
            <a:r>
              <a:rPr lang="en-US" sz="1800" dirty="0" err="1" smtClean="0">
                <a:latin typeface="Consolas" pitchFamily="49" charset="0"/>
              </a:rPr>
              <a:t>kubernetes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kubectl</a:t>
            </a:r>
            <a:r>
              <a:rPr lang="en-US" sz="1800" dirty="0" smtClean="0">
                <a:latin typeface="Consolas" pitchFamily="49" charset="0"/>
              </a:rPr>
              <a:t> create namespace sock-shop</a:t>
            </a:r>
          </a:p>
          <a:p>
            <a:r>
              <a:rPr lang="en-US" sz="1800" dirty="0" err="1" smtClean="0">
                <a:latin typeface="Consolas" pitchFamily="49" charset="0"/>
              </a:rPr>
              <a:t>kubectl</a:t>
            </a:r>
            <a:r>
              <a:rPr lang="en-US" sz="1800" dirty="0" smtClean="0">
                <a:latin typeface="Consolas" pitchFamily="49" charset="0"/>
              </a:rPr>
              <a:t> apply -f complete-</a:t>
            </a:r>
            <a:r>
              <a:rPr lang="en-US" sz="1800" dirty="0" err="1" smtClean="0">
                <a:latin typeface="Consolas" pitchFamily="49" charset="0"/>
              </a:rPr>
              <a:t>demo.yaml</a:t>
            </a:r>
            <a:endParaRPr lang="en-US" sz="1800" dirty="0" smtClean="0">
              <a:latin typeface="Consolas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9438" y="4591050"/>
            <a:ext cx="54451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View Namespace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get svc --namespace sock-shop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7438" y="2933700"/>
            <a:ext cx="69691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View the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minikube</a:t>
            </a:r>
            <a:r>
              <a:rPr lang="en-US" sz="2400" dirty="0" smtClean="0"/>
              <a:t> service front-end -n sock-shop</a:t>
            </a:r>
            <a:endParaRPr lang="en-US" sz="2400" dirty="0"/>
          </a:p>
        </p:txBody>
      </p:sp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2200"/>
            <a:ext cx="7707145" cy="3514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Modify the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edit svc front-end -n sock-shop</a:t>
            </a:r>
          </a:p>
          <a:p>
            <a:r>
              <a:rPr lang="en-US" sz="2200" dirty="0" smtClean="0">
                <a:latin typeface="Consolas" pitchFamily="49" charset="0"/>
              </a:rPr>
              <a:t>// Press </a:t>
            </a:r>
            <a:r>
              <a:rPr lang="en-US" sz="2200" dirty="0" err="1" smtClean="0">
                <a:latin typeface="Consolas" pitchFamily="49" charset="0"/>
              </a:rPr>
              <a:t>i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// Change something</a:t>
            </a:r>
          </a:p>
          <a:p>
            <a:r>
              <a:rPr lang="en-US" sz="2200" dirty="0" smtClean="0">
                <a:latin typeface="Consolas" pitchFamily="49" charset="0"/>
              </a:rPr>
              <a:t>// Press ESC</a:t>
            </a:r>
          </a:p>
          <a:p>
            <a:r>
              <a:rPr lang="en-US" sz="2200" dirty="0" smtClean="0">
                <a:latin typeface="Consolas" pitchFamily="49" charset="0"/>
              </a:rPr>
              <a:t>// Type :</a:t>
            </a:r>
            <a:r>
              <a:rPr lang="en-US" sz="2200" dirty="0" err="1" smtClean="0">
                <a:latin typeface="Consolas" pitchFamily="49" charset="0"/>
              </a:rPr>
              <a:t>wq</a:t>
            </a:r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Clean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delete namespace sock-shop</a:t>
            </a:r>
          </a:p>
          <a:p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get svc --namespace sock-shop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6465" y="3200400"/>
            <a:ext cx="730313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https://medium.com/@CloudTopG/unleash-the-power-of-kubernetes-with-terraform-deploy-sock-shop-microservice-like-a-pro-572670a0d28f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15424</TotalTime>
  <Words>898</Words>
  <Application>Microsoft Office PowerPoint</Application>
  <PresentationFormat>On-screen Show (4:3)</PresentationFormat>
  <Paragraphs>117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Deploying Services with Kubernetes</vt:lpstr>
      <vt:lpstr>Objectives</vt:lpstr>
      <vt:lpstr>Contents</vt:lpstr>
      <vt:lpstr>References</vt:lpstr>
      <vt:lpstr>Helm</vt:lpstr>
      <vt:lpstr>Helm Repositories</vt:lpstr>
      <vt:lpstr>Charts</vt:lpstr>
      <vt:lpstr>Charts and Manifests</vt:lpstr>
      <vt:lpstr>Chart Components</vt:lpstr>
      <vt:lpstr>1. Install Helm on macOS</vt:lpstr>
      <vt:lpstr>2. Install Helm on Windows</vt:lpstr>
      <vt:lpstr>Slide 12</vt:lpstr>
      <vt:lpstr>Deploying PHP Guestbook application with Redis</vt:lpstr>
      <vt:lpstr>1. Create Redis leader Deployment</vt:lpstr>
      <vt:lpstr>2. Create Redis leader Service</vt:lpstr>
      <vt:lpstr>3. Create Redis followers Deployment</vt:lpstr>
      <vt:lpstr>4. Create Redis followers Service</vt:lpstr>
      <vt:lpstr>5. Create Frontend Deployment</vt:lpstr>
      <vt:lpstr>6. Create Frontend Service</vt:lpstr>
      <vt:lpstr>7. Open Frontend Service</vt:lpstr>
      <vt:lpstr>8. Scale Frontend</vt:lpstr>
      <vt:lpstr>9. Clean up</vt:lpstr>
      <vt:lpstr>Slide 23</vt:lpstr>
      <vt:lpstr>Sock Shop: A Microservices Demo</vt:lpstr>
      <vt:lpstr>1. Deploy Sock Shop</vt:lpstr>
      <vt:lpstr>2. View Namespace Services</vt:lpstr>
      <vt:lpstr>3. View the Website</vt:lpstr>
      <vt:lpstr>4. Modify the Service</vt:lpstr>
      <vt:lpstr>5. Clean Up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5751</cp:revision>
  <dcterms:created xsi:type="dcterms:W3CDTF">2007-10-06T08:25:13Z</dcterms:created>
  <dcterms:modified xsi:type="dcterms:W3CDTF">2025-12-31T17:02:48Z</dcterms:modified>
</cp:coreProperties>
</file>