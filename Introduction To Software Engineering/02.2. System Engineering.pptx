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31" r:id="rId3"/>
    <p:sldId id="616" r:id="rId4"/>
    <p:sldId id="423" r:id="rId5"/>
    <p:sldId id="610" r:id="rId6"/>
    <p:sldId id="655" r:id="rId7"/>
    <p:sldId id="656" r:id="rId8"/>
    <p:sldId id="583" r:id="rId9"/>
    <p:sldId id="584" r:id="rId10"/>
    <p:sldId id="585" r:id="rId11"/>
    <p:sldId id="586" r:id="rId12"/>
    <p:sldId id="587" r:id="rId13"/>
    <p:sldId id="588" r:id="rId14"/>
    <p:sldId id="589" r:id="rId15"/>
    <p:sldId id="343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3" autoAdjust="0"/>
    <p:restoredTop sz="85780" autoAdjust="0"/>
  </p:normalViewPr>
  <p:slideViewPr>
    <p:cSldViewPr>
      <p:cViewPr>
        <p:scale>
          <a:sx n="50" d="100"/>
          <a:sy n="50" d="100"/>
        </p:scale>
        <p:origin x="-1534" y="-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96204-6EBE-4E3A-8F90-C96A927FEE3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3/11/2020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3/11/2020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3/11/2020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3/11/2020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3/11/2020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3/11/2020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System Engineering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smtClean="0">
                <a:hlinkClick r:id="rId3"/>
              </a:rPr>
              <a:t>nhbien@fit.hcmus.edu.vn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715000" cy="4495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Information </a:t>
            </a:r>
            <a:r>
              <a:rPr lang="en-US" sz="2400" dirty="0" smtClean="0"/>
              <a:t>system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System engineering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Antoni</a:t>
            </a:r>
            <a:r>
              <a:rPr lang="en-US" sz="2400" dirty="0" smtClean="0"/>
              <a:t> </a:t>
            </a:r>
            <a:r>
              <a:rPr lang="en-US" sz="2400" dirty="0" smtClean="0"/>
              <a:t>Olive (2007). Conceptual Modeling of Information Systems</a:t>
            </a:r>
            <a:r>
              <a:rPr lang="en-US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Roger S. Pressman and Bruce R. Maxim (2015). Software Engineering - A Practitioner’s Approach. 8th Edition. McGraw-Hill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 </a:t>
            </a:r>
            <a:r>
              <a:rPr lang="en-US" dirty="0" smtClean="0"/>
              <a:t>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/>
          <a:lstStyle/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information system</a:t>
            </a:r>
            <a:r>
              <a:rPr lang="en-US" sz="2400" dirty="0" smtClean="0"/>
              <a:t> is a designed system that </a:t>
            </a:r>
            <a:r>
              <a:rPr lang="en-US" sz="2400" u="sng" dirty="0" smtClean="0"/>
              <a:t>collects</a:t>
            </a:r>
            <a:r>
              <a:rPr lang="en-US" sz="2400" dirty="0" smtClean="0"/>
              <a:t>, </a:t>
            </a:r>
            <a:r>
              <a:rPr lang="en-US" sz="2400" u="sng" dirty="0" smtClean="0"/>
              <a:t>stores</a:t>
            </a:r>
            <a:r>
              <a:rPr lang="en-US" sz="2400" dirty="0" smtClean="0"/>
              <a:t>, </a:t>
            </a:r>
            <a:r>
              <a:rPr lang="en-US" sz="2400" u="sng" dirty="0" smtClean="0"/>
              <a:t>processes</a:t>
            </a:r>
            <a:r>
              <a:rPr lang="en-US" sz="2400" dirty="0" smtClean="0"/>
              <a:t>, and </a:t>
            </a:r>
            <a:r>
              <a:rPr lang="en-US" sz="2400" u="sng" dirty="0" smtClean="0"/>
              <a:t>distributes information</a:t>
            </a:r>
            <a:r>
              <a:rPr lang="en-US" sz="2400" dirty="0" smtClean="0"/>
              <a:t> about </a:t>
            </a:r>
            <a:r>
              <a:rPr lang="en-US" sz="2400" u="sng" dirty="0" smtClean="0"/>
              <a:t>the state of a domain</a:t>
            </a:r>
            <a:r>
              <a:rPr lang="en-US" sz="2400" dirty="0" smtClean="0"/>
              <a:t>.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3276600"/>
            <a:ext cx="37338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7200" y="2895600"/>
            <a:ext cx="48006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 system is therefore considered to have three main functions: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i="1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Memory</a:t>
            </a:r>
            <a:r>
              <a:rPr kumimoji="0" lang="en-US" sz="2000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 to maintain a representation of the state of a domain.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i="1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Informative</a:t>
            </a:r>
            <a:r>
              <a:rPr kumimoji="0" lang="en-US" sz="2000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 to provide information about the state of a domain.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i="1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Active</a:t>
            </a:r>
            <a:r>
              <a:rPr kumimoji="0" lang="en-US" sz="2000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 to perform actions that change the state of a domain.</a:t>
            </a:r>
          </a:p>
        </p:txBody>
      </p:sp>
      <p:pic>
        <p:nvPicPr>
          <p:cNvPr id="6" name="Picture 2" descr="https://media.sandiegolawlibrary.org/wp-content/uploads/2016/12/07024203/bigstock-d-laptop-magnifying-glass-an-7799977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2514600"/>
            <a:ext cx="1714500" cy="1285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Geographic Information System</a:t>
            </a:r>
            <a:endParaRPr lang="en-US" dirty="0"/>
          </a:p>
        </p:txBody>
      </p:sp>
      <p:pic>
        <p:nvPicPr>
          <p:cNvPr id="1028" name="Picture 4" descr="https://www.schneider-electric.com/ww/en/Images/DVP0738030-1440x58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3048000"/>
            <a:ext cx="3840480" cy="1568196"/>
          </a:xfrm>
          <a:prstGeom prst="rect">
            <a:avLst/>
          </a:prstGeom>
          <a:noFill/>
        </p:spPr>
      </p:pic>
      <p:pic>
        <p:nvPicPr>
          <p:cNvPr id="1031" name="Picture 7" descr="C:\Users\admin\Downloads\3228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057400"/>
            <a:ext cx="3768725" cy="3216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Hospital Information System</a:t>
            </a:r>
            <a:endParaRPr lang="en-US" dirty="0"/>
          </a:p>
        </p:txBody>
      </p:sp>
      <p:pic>
        <p:nvPicPr>
          <p:cNvPr id="1026" name="Picture 2" descr="https://drdollah.files.wordpress.com/2014/07/pci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1558" y="2330733"/>
            <a:ext cx="5475842" cy="3308067"/>
          </a:xfrm>
          <a:prstGeom prst="rect">
            <a:avLst/>
          </a:prstGeom>
          <a:noFill/>
        </p:spPr>
      </p:pic>
      <p:pic>
        <p:nvPicPr>
          <p:cNvPr id="1028" name="Picture 4" descr="https://aismartco.files.wordpress.com/2016/05/dreamstime_xl_3480356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3121152"/>
            <a:ext cx="2644140" cy="17556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Engineering </a:t>
            </a:r>
            <a:r>
              <a:rPr lang="en-US" smtClean="0"/>
              <a:t>Hierarchy </a:t>
            </a:r>
            <a:r>
              <a:rPr lang="en-US" smtClean="0"/>
              <a:t>[2]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6450" y="1295400"/>
            <a:ext cx="4991100" cy="538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Hierarchy 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world view (WV)</a:t>
            </a:r>
            <a:r>
              <a:rPr lang="en-US" sz="2200" dirty="0" smtClean="0"/>
              <a:t> is composed of a set of </a:t>
            </a:r>
            <a:r>
              <a:rPr lang="en-US" sz="2200" u="sng" dirty="0" smtClean="0"/>
              <a:t>domains (Di)</a:t>
            </a:r>
            <a:r>
              <a:rPr lang="en-US" sz="2200" dirty="0" smtClean="0"/>
              <a:t>, which can each be a system or system of systems in its own right:</a:t>
            </a:r>
          </a:p>
          <a:p>
            <a:pPr lvl="1"/>
            <a:r>
              <a:rPr lang="en-US" sz="2200" dirty="0" smtClean="0"/>
              <a:t>WV = {D1, D2, D3, . . . , </a:t>
            </a:r>
            <a:r>
              <a:rPr lang="en-US" sz="2200" dirty="0" err="1" smtClean="0"/>
              <a:t>Dn</a:t>
            </a:r>
            <a:r>
              <a:rPr lang="en-US" sz="2200" dirty="0" smtClean="0"/>
              <a:t>}</a:t>
            </a:r>
          </a:p>
          <a:p>
            <a:r>
              <a:rPr lang="en-US" sz="2200" dirty="0" smtClean="0"/>
              <a:t>Each </a:t>
            </a:r>
            <a:r>
              <a:rPr lang="en-US" sz="2200" i="1" dirty="0" smtClean="0">
                <a:solidFill>
                  <a:srgbClr val="C00000"/>
                </a:solidFill>
              </a:rPr>
              <a:t>domain</a:t>
            </a:r>
            <a:r>
              <a:rPr lang="en-US" sz="2200" dirty="0" smtClean="0"/>
              <a:t> is composed of specific </a:t>
            </a:r>
            <a:r>
              <a:rPr lang="en-US" sz="2200" u="sng" dirty="0" smtClean="0"/>
              <a:t>elements (</a:t>
            </a:r>
            <a:r>
              <a:rPr lang="en-US" sz="2200" u="sng" dirty="0" err="1" smtClean="0"/>
              <a:t>Ej</a:t>
            </a:r>
            <a:r>
              <a:rPr lang="en-US" sz="2200" u="sng" dirty="0" smtClean="0"/>
              <a:t>)</a:t>
            </a:r>
            <a:r>
              <a:rPr lang="en-US" sz="2200" dirty="0" smtClean="0"/>
              <a:t> each of which serves some role in accomplishing the objective and goals of the domain or component: Di = {E1, E2, E3, . . . , </a:t>
            </a:r>
            <a:r>
              <a:rPr lang="en-US" sz="2200" dirty="0" err="1" smtClean="0"/>
              <a:t>Em</a:t>
            </a:r>
            <a:r>
              <a:rPr lang="en-US" sz="2200" dirty="0" smtClean="0"/>
              <a:t>}</a:t>
            </a:r>
          </a:p>
          <a:p>
            <a:r>
              <a:rPr lang="en-US" sz="2200" dirty="0" smtClean="0"/>
              <a:t>Finally, each </a:t>
            </a:r>
            <a:r>
              <a:rPr lang="en-US" sz="2200" i="1" dirty="0" smtClean="0">
                <a:solidFill>
                  <a:srgbClr val="C00000"/>
                </a:solidFill>
              </a:rPr>
              <a:t>element</a:t>
            </a:r>
            <a:r>
              <a:rPr lang="en-US" sz="2200" dirty="0" smtClean="0"/>
              <a:t> is implemented by specifying the </a:t>
            </a:r>
            <a:r>
              <a:rPr lang="en-US" sz="2200" u="sng" dirty="0" smtClean="0"/>
              <a:t>technical components (Ck)</a:t>
            </a:r>
            <a:r>
              <a:rPr lang="en-US" sz="2200" dirty="0" smtClean="0"/>
              <a:t> that achieve the necessary function for an element: </a:t>
            </a:r>
            <a:r>
              <a:rPr lang="en-US" sz="2200" dirty="0" err="1" smtClean="0"/>
              <a:t>Ej</a:t>
            </a:r>
            <a:r>
              <a:rPr lang="en-US" sz="2200" dirty="0" smtClean="0"/>
              <a:t> = {C1, C2, C3, . . . , Ck}</a:t>
            </a:r>
          </a:p>
          <a:p>
            <a:r>
              <a:rPr lang="en-US" sz="2200" dirty="0" smtClean="0"/>
              <a:t>In the software context, a </a:t>
            </a:r>
            <a:r>
              <a:rPr lang="en-US" sz="2200" i="1" dirty="0" smtClean="0">
                <a:solidFill>
                  <a:srgbClr val="C00000"/>
                </a:solidFill>
              </a:rPr>
              <a:t>component</a:t>
            </a:r>
            <a:r>
              <a:rPr lang="en-US" sz="2200" dirty="0" smtClean="0"/>
              <a:t> could be a computer </a:t>
            </a:r>
            <a:r>
              <a:rPr lang="en-US" sz="2200" u="sng" dirty="0" smtClean="0"/>
              <a:t>program</a:t>
            </a:r>
            <a:r>
              <a:rPr lang="en-US" sz="2200" dirty="0" smtClean="0"/>
              <a:t>, a reusable program component, a </a:t>
            </a:r>
            <a:r>
              <a:rPr lang="en-US" sz="2200" u="sng" dirty="0" smtClean="0"/>
              <a:t>module</a:t>
            </a:r>
            <a:r>
              <a:rPr lang="en-US" sz="2200" dirty="0" smtClean="0"/>
              <a:t>, a </a:t>
            </a:r>
            <a:r>
              <a:rPr lang="en-US" sz="2200" u="sng" dirty="0" smtClean="0"/>
              <a:t>class</a:t>
            </a:r>
            <a:r>
              <a:rPr lang="en-US" sz="2200" dirty="0" smtClean="0"/>
              <a:t> or object, or even a </a:t>
            </a:r>
            <a:r>
              <a:rPr lang="en-US" sz="2200" u="sng" dirty="0" smtClean="0"/>
              <a:t>programming language statement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Process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goal of </a:t>
            </a:r>
            <a:r>
              <a:rPr lang="en-US" sz="2400" i="1" dirty="0" smtClean="0">
                <a:solidFill>
                  <a:srgbClr val="C00000"/>
                </a:solidFill>
              </a:rPr>
              <a:t>business process engineering (BPE)</a:t>
            </a:r>
            <a:r>
              <a:rPr lang="en-US" sz="2400" dirty="0" smtClean="0"/>
              <a:t> is to define architectures that will enable a </a:t>
            </a:r>
            <a:r>
              <a:rPr lang="en-US" sz="2400" u="sng" dirty="0" smtClean="0"/>
              <a:t>business</a:t>
            </a:r>
            <a:r>
              <a:rPr lang="en-US" sz="2400" dirty="0" smtClean="0"/>
              <a:t> to </a:t>
            </a:r>
            <a:r>
              <a:rPr lang="en-US" sz="2400" u="sng" dirty="0" smtClean="0"/>
              <a:t>use</a:t>
            </a:r>
            <a:r>
              <a:rPr lang="en-US" sz="2400" dirty="0" smtClean="0"/>
              <a:t> information effectively.</a:t>
            </a:r>
          </a:p>
          <a:p>
            <a:r>
              <a:rPr lang="en-US" sz="2400" dirty="0" smtClean="0"/>
              <a:t>Three different </a:t>
            </a:r>
            <a:r>
              <a:rPr lang="en-US" sz="2400" i="1" dirty="0" smtClean="0">
                <a:solidFill>
                  <a:srgbClr val="C00000"/>
                </a:solidFill>
              </a:rPr>
              <a:t>architectures</a:t>
            </a:r>
            <a:r>
              <a:rPr lang="en-US" sz="2400" dirty="0" smtClean="0"/>
              <a:t> must be analyzed and designed within the context of business objectives and goals: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data architecture</a:t>
            </a:r>
            <a:r>
              <a:rPr lang="en-US" sz="2000" dirty="0" smtClean="0"/>
              <a:t> provides a framework for the information needs of a business or business function.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application architecture</a:t>
            </a:r>
            <a:r>
              <a:rPr lang="en-US" sz="2000" dirty="0" smtClean="0"/>
              <a:t> encompasses those elements of a system that transform objects within the data architecture for some business purpose.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technology infrastructure</a:t>
            </a:r>
            <a:r>
              <a:rPr lang="en-US" sz="2000" dirty="0" smtClean="0"/>
              <a:t> provides the foundation for the data and application architectures.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Strategy Planning (ISP)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543050"/>
            <a:ext cx="6096000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Area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912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BAA</a:t>
            </a:r>
            <a:r>
              <a:rPr lang="en-US" sz="2400" dirty="0" smtClean="0"/>
              <a:t> is concerned with identifying in detail </a:t>
            </a:r>
            <a:r>
              <a:rPr lang="en-US" sz="2400" u="sng" dirty="0" smtClean="0"/>
              <a:t>data</a:t>
            </a:r>
            <a:r>
              <a:rPr lang="en-US" sz="2400" dirty="0" smtClean="0"/>
              <a:t> (in the form of entity [data object] types) and </a:t>
            </a:r>
            <a:r>
              <a:rPr lang="en-US" sz="2400" u="sng" dirty="0" smtClean="0"/>
              <a:t>function</a:t>
            </a:r>
            <a:r>
              <a:rPr lang="en-US" sz="2400" dirty="0" smtClean="0"/>
              <a:t> requirements (in the form of processes) of selected business areas [domains] identified during ISP and ascertaining their interactions (in the form of matrices).</a:t>
            </a:r>
          </a:p>
          <a:p>
            <a:r>
              <a:rPr lang="en-US" sz="2400" dirty="0" smtClean="0"/>
              <a:t>It is only concerned with specifying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is required in a business area.</a:t>
            </a:r>
          </a:p>
          <a:p>
            <a:r>
              <a:rPr lang="en-US" sz="2400" dirty="0" smtClean="0"/>
              <a:t>BAA </a:t>
            </a:r>
            <a:r>
              <a:rPr lang="en-US" sz="2400" i="1" dirty="0" smtClean="0">
                <a:solidFill>
                  <a:srgbClr val="C00000"/>
                </a:solidFill>
              </a:rPr>
              <a:t>defines</a:t>
            </a:r>
            <a:r>
              <a:rPr lang="en-US" sz="2400" dirty="0" smtClean="0"/>
              <a:t> data objects, their relationships, and how data flow.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6324600" y="1724085"/>
            <a:ext cx="2514600" cy="452431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Object: Customer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Attributes: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name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company name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job classification and purchase authority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business address and contact information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product interest(s)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past purchase(s)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date of last contact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status of contact</a:t>
            </a:r>
            <a:endParaRPr lang="en-US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goal of </a:t>
            </a:r>
            <a:r>
              <a:rPr lang="en-US" sz="2400" i="1" dirty="0" smtClean="0">
                <a:solidFill>
                  <a:srgbClr val="C00000"/>
                </a:solidFill>
              </a:rPr>
              <a:t>product engineering</a:t>
            </a:r>
            <a:r>
              <a:rPr lang="en-US" sz="2400" dirty="0" smtClean="0"/>
              <a:t> is to translate the customer’s desire for a set of defined capabilities into a working product.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architecture</a:t>
            </a:r>
            <a:r>
              <a:rPr lang="en-US" sz="2400" dirty="0" smtClean="0"/>
              <a:t> encompasses four distinct system components: software, hardware, data (and databases), and people.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support infrastructure</a:t>
            </a:r>
            <a:r>
              <a:rPr lang="en-US" sz="2400" dirty="0" smtClean="0"/>
              <a:t> is established and includes the technology required to tie the components together and the information (e.g., documents, CD-ROM, video) that is used to support the components.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world view</a:t>
            </a:r>
            <a:r>
              <a:rPr lang="en-US" sz="2400" dirty="0" smtClean="0"/>
              <a:t> is achieved through </a:t>
            </a:r>
            <a:r>
              <a:rPr lang="en-US" sz="2400" u="sng" dirty="0" smtClean="0"/>
              <a:t>requirements engineering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Engineering Hierarchy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3538" y="1219200"/>
            <a:ext cx="5876925" cy="552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13253</TotalTime>
  <Words>630</Words>
  <Application>Microsoft Office PowerPoint</Application>
  <PresentationFormat>On-screen Show (4:3)</PresentationFormat>
  <Paragraphs>58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System Engineering</vt:lpstr>
      <vt:lpstr>Objectives</vt:lpstr>
      <vt:lpstr>Contents</vt:lpstr>
      <vt:lpstr>References</vt:lpstr>
      <vt:lpstr>Information System [1]</vt:lpstr>
      <vt:lpstr>Geographic Information System</vt:lpstr>
      <vt:lpstr>Hospital Information System</vt:lpstr>
      <vt:lpstr>System Engineering Hierarchy [2]</vt:lpstr>
      <vt:lpstr>Hierarchy Explanation</vt:lpstr>
      <vt:lpstr>Business Process Engineering</vt:lpstr>
      <vt:lpstr>Information Strategy Planning (ISP)</vt:lpstr>
      <vt:lpstr>Business Area Analysis</vt:lpstr>
      <vt:lpstr>Product Engineering</vt:lpstr>
      <vt:lpstr>Product Engineering Hierarchy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4724</cp:revision>
  <dcterms:created xsi:type="dcterms:W3CDTF">2007-10-06T08:25:13Z</dcterms:created>
  <dcterms:modified xsi:type="dcterms:W3CDTF">2020-03-11T12:04:17Z</dcterms:modified>
</cp:coreProperties>
</file>