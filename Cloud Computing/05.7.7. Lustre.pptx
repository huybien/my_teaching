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4"/>
  </p:notesMasterIdLst>
  <p:sldIdLst>
    <p:sldId id="696" r:id="rId2"/>
    <p:sldId id="697" r:id="rId3"/>
    <p:sldId id="698" r:id="rId4"/>
    <p:sldId id="700" r:id="rId5"/>
    <p:sldId id="748" r:id="rId6"/>
    <p:sldId id="753" r:id="rId7"/>
    <p:sldId id="681" r:id="rId8"/>
    <p:sldId id="680" r:id="rId9"/>
    <p:sldId id="752" r:id="rId10"/>
    <p:sldId id="750" r:id="rId11"/>
    <p:sldId id="751" r:id="rId12"/>
    <p:sldId id="516" r:id="rId1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945" autoAdjust="0"/>
    <p:restoredTop sz="94667" autoAdjust="0"/>
  </p:normalViewPr>
  <p:slideViewPr>
    <p:cSldViewPr>
      <p:cViewPr>
        <p:scale>
          <a:sx n="50" d="100"/>
          <a:sy n="50" d="100"/>
        </p:scale>
        <p:origin x="-1536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0940CE-BE1D-4C40-AF8B-3898A4D1F5EC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70CC96-DB61-4850-AF79-05CA5E4B3D0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3B12F3-13D8-4BC6-B271-EF890D2E3EA0}" type="datetimeFigureOut">
              <a:rPr lang="en-US"/>
              <a:pPr>
                <a:defRPr/>
              </a:pPr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D65A0-8A45-49A8-B2B4-890662407F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554BB-BED8-407D-871B-BC3BF099B766}" type="datetimeFigureOut">
              <a:rPr lang="en-US"/>
              <a:pPr>
                <a:defRPr/>
              </a:pPr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6A513C-A265-4672-ADF9-9C420A0C09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83AE9F-B8F4-4A27-A258-84000ADADD35}" type="datetimeFigureOut">
              <a:rPr lang="en-US"/>
              <a:pPr>
                <a:defRPr/>
              </a:pPr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C0325C-EBE7-4A11-97E9-DF8C42B04A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F403C-A7D9-4211-8DC1-5865845C9F38}" type="datetimeFigureOut">
              <a:rPr lang="en-US"/>
              <a:pPr>
                <a:defRPr/>
              </a:pPr>
              <a:t>3/18/2026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91B809-96F5-477B-8E72-8AB6B5E4AE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09C128-87F1-4A1D-AC95-1D0A8C2820AC}" type="datetimeFigureOut">
              <a:rPr lang="en-US"/>
              <a:pPr>
                <a:defRPr/>
              </a:pPr>
              <a:t>3/18/2026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251F8E-6BBA-4EBA-BCCA-61145C18CC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D7EAC8-1610-4C8B-8A2E-7959779A26B0}" type="datetimeFigureOut">
              <a:rPr lang="en-US"/>
              <a:pPr>
                <a:defRPr/>
              </a:pPr>
              <a:t>3/18/2026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F43CFA-8BED-4A88-AB21-8477601BA3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13CF8C-ED99-4E62-9F8F-039B47F842EB}" type="datetimeFigureOut">
              <a:rPr lang="en-US"/>
              <a:pPr>
                <a:defRPr/>
              </a:pPr>
              <a:t>3/18/2026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FA9176-712D-4387-A1B9-79FDD21B41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10295A-2761-40EA-9DA2-E88C0504267F}" type="datetimeFigureOut">
              <a:rPr lang="en-US"/>
              <a:pPr>
                <a:defRPr/>
              </a:pPr>
              <a:t>3/18/2026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EFA140-F156-4425-B953-A67D35160E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036556-1340-40FC-A073-D70D8832A760}" type="datetimeFigureOut">
              <a:rPr lang="en-US"/>
              <a:pPr>
                <a:defRPr/>
              </a:pPr>
              <a:t>3/18/2026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3919B8-AF1D-4524-AED9-AA87E5FE06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75E21-F618-4DDC-86A2-77C690CACCAF}" type="datetimeFigureOut">
              <a:rPr lang="en-US"/>
              <a:pPr>
                <a:defRPr/>
              </a:pPr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DB1DC0-76E8-4C19-B643-CDC8176FDD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4CE7E0-80C2-49E8-81AC-9B27623F73A4}" type="datetimeFigureOut">
              <a:rPr lang="en-US"/>
              <a:pPr>
                <a:defRPr/>
              </a:pPr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9D05C-0F0F-4E8B-B47F-3C2F1A4BC7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92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F5EA699-B790-4630-B1C5-9840307833F6}" type="datetimeFigureOut">
              <a:rPr lang="en-US"/>
              <a:pPr>
                <a:defRPr/>
              </a:pPr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09E2BD1-610D-47CE-BC14-E90E7753FA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iki.lustre.org/Lustre_101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aws.amazon.com/fsx/lustre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2602.22409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2602.22409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dirty="0" err="1" smtClean="0"/>
              <a:t>Lustre</a:t>
            </a:r>
            <a:endParaRPr lang="en-US"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5562600" cy="4114799"/>
          </a:xfrm>
        </p:spPr>
        <p:txBody>
          <a:bodyPr/>
          <a:lstStyle/>
          <a:p>
            <a:pPr marL="571500" indent="-514350"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00750" y="2438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5638800" cy="4800600"/>
          </a:xfrm>
        </p:spPr>
        <p:txBody>
          <a:bodyPr/>
          <a:lstStyle/>
          <a:p>
            <a:pPr>
              <a:buFont typeface="+mj-lt"/>
              <a:buAutoNum type="arabicPeriod"/>
            </a:pPr>
            <a:endParaRPr lang="en-US" sz="24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Parallel File 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b="1" dirty="0" smtClean="0"/>
              <a:t>Parallel File System (PFS)</a:t>
            </a:r>
            <a:r>
              <a:rPr lang="en-US" dirty="0" smtClean="0"/>
              <a:t> is a storage system designed so that </a:t>
            </a:r>
            <a:r>
              <a:rPr lang="en-US" b="1" dirty="0" smtClean="0"/>
              <a:t>many computers can read and write data at the same time in parallel</a:t>
            </a:r>
            <a:r>
              <a:rPr lang="en-US" dirty="0" smtClean="0"/>
              <a:t>.</a:t>
            </a:r>
          </a:p>
          <a:p>
            <a:r>
              <a:rPr lang="en-US" dirty="0" smtClean="0"/>
              <a:t>Instead </a:t>
            </a:r>
            <a:r>
              <a:rPr lang="en-US" dirty="0" smtClean="0"/>
              <a:t>of storing a file on a single server, the file is </a:t>
            </a:r>
            <a:r>
              <a:rPr lang="en-US" b="1" dirty="0" smtClean="0"/>
              <a:t>split into pieces and distributed across multiple storage nodes</a:t>
            </a:r>
            <a:r>
              <a:rPr lang="en-US" dirty="0" smtClean="0"/>
              <a:t>, allowing many clients to access it simultaneously.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Parallel </a:t>
            </a:r>
            <a:r>
              <a:rPr lang="en-US" dirty="0" smtClean="0"/>
              <a:t>File </a:t>
            </a:r>
            <a:r>
              <a:rPr lang="en-US" dirty="0" smtClean="0"/>
              <a:t>Systems?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You typically use a PFS when:</a:t>
            </a:r>
          </a:p>
          <a:p>
            <a:pPr lvl="1"/>
            <a:r>
              <a:rPr lang="en-US" sz="2400" dirty="0" smtClean="0"/>
              <a:t>thousands of machines must read/write the same dataset</a:t>
            </a:r>
          </a:p>
          <a:p>
            <a:pPr lvl="1"/>
            <a:r>
              <a:rPr lang="en-US" sz="2400" dirty="0" smtClean="0"/>
              <a:t>simulations produce massive output</a:t>
            </a:r>
          </a:p>
          <a:p>
            <a:pPr lvl="1"/>
            <a:r>
              <a:rPr lang="en-US" sz="2400" dirty="0" smtClean="0"/>
              <a:t>HPC jobs require very high throughput.</a:t>
            </a:r>
          </a:p>
          <a:p>
            <a:r>
              <a:rPr lang="en-US" sz="2800" dirty="0" smtClean="0"/>
              <a:t>Typical users:</a:t>
            </a:r>
          </a:p>
          <a:p>
            <a:pPr lvl="1"/>
            <a:r>
              <a:rPr lang="en-US" sz="2400" dirty="0" smtClean="0"/>
              <a:t>national labs</a:t>
            </a:r>
          </a:p>
          <a:p>
            <a:pPr lvl="1"/>
            <a:r>
              <a:rPr lang="en-US" sz="2400" dirty="0" smtClean="0"/>
              <a:t>supercomputing centers</a:t>
            </a:r>
          </a:p>
          <a:p>
            <a:pPr lvl="1"/>
            <a:r>
              <a:rPr lang="en-US" sz="2400" dirty="0" smtClean="0"/>
              <a:t>AI training clusters</a:t>
            </a:r>
          </a:p>
          <a:p>
            <a:pPr lvl="1"/>
            <a:r>
              <a:rPr lang="en-US" sz="2400" dirty="0" smtClean="0"/>
              <a:t>large-scale scientific computing.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Lustre</a:t>
            </a:r>
            <a:endParaRPr 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wiki.lustre.org/Lustre_101</a:t>
            </a:r>
            <a:endParaRPr lang="en-US" dirty="0" smtClean="0"/>
          </a:p>
          <a:p>
            <a:r>
              <a:rPr lang="en-US" dirty="0" err="1" smtClean="0"/>
              <a:t>Lustre</a:t>
            </a:r>
            <a:r>
              <a:rPr lang="en-US" dirty="0" smtClean="0"/>
              <a:t> is a massively parallel distributed file system </a:t>
            </a:r>
            <a:r>
              <a:rPr lang="en-US" dirty="0" smtClean="0"/>
              <a:t> that supports:</a:t>
            </a:r>
          </a:p>
          <a:p>
            <a:r>
              <a:rPr lang="en-US" dirty="0" smtClean="0"/>
              <a:t>Thousands </a:t>
            </a:r>
            <a:r>
              <a:rPr lang="en-US" dirty="0" smtClean="0"/>
              <a:t>of </a:t>
            </a:r>
            <a:r>
              <a:rPr lang="en-US" dirty="0" smtClean="0"/>
              <a:t>clients</a:t>
            </a:r>
          </a:p>
          <a:p>
            <a:r>
              <a:rPr lang="en-US" dirty="0" smtClean="0"/>
              <a:t>Large </a:t>
            </a:r>
            <a:r>
              <a:rPr lang="en-US" dirty="0" smtClean="0"/>
              <a:t>capacities (55 PB at LLNL</a:t>
            </a:r>
            <a:r>
              <a:rPr lang="en-US" dirty="0" smtClean="0"/>
              <a:t>)</a:t>
            </a:r>
          </a:p>
          <a:p>
            <a:r>
              <a:rPr lang="en-US" dirty="0" smtClean="0"/>
              <a:t>High </a:t>
            </a:r>
            <a:r>
              <a:rPr lang="en-US" dirty="0" smtClean="0"/>
              <a:t>bandwidths (1.4 TB/s at </a:t>
            </a:r>
            <a:r>
              <a:rPr lang="en-US" dirty="0" smtClean="0"/>
              <a:t>ORNL)</a:t>
            </a:r>
          </a:p>
          <a:p>
            <a:r>
              <a:rPr lang="en-US" dirty="0" smtClean="0"/>
              <a:t>POSIX </a:t>
            </a:r>
            <a:r>
              <a:rPr lang="en-US" dirty="0" smtClean="0"/>
              <a:t>semantics for I/O access</a:t>
            </a:r>
            <a:endParaRPr lang="en-US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Amazon </a:t>
            </a:r>
            <a:r>
              <a:rPr lang="en-US" dirty="0" err="1" smtClean="0"/>
              <a:t>FSx</a:t>
            </a:r>
            <a:r>
              <a:rPr lang="en-US" dirty="0" smtClean="0"/>
              <a:t> for </a:t>
            </a:r>
            <a:r>
              <a:rPr lang="en-US" dirty="0" err="1" smtClean="0"/>
              <a:t>Lustre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hlinkClick r:id="rId2"/>
              </a:rPr>
              <a:t>https://aws.amazon.com/fsx/lustre</a:t>
            </a:r>
            <a:r>
              <a:rPr lang="en-US" sz="2200" dirty="0" smtClean="0">
                <a:hlinkClick r:id="rId2"/>
              </a:rPr>
              <a:t>/</a:t>
            </a:r>
            <a:endParaRPr lang="en-US" sz="2200" dirty="0" smtClean="0"/>
          </a:p>
          <a:p>
            <a:r>
              <a:rPr lang="en-US" sz="2200" dirty="0" smtClean="0"/>
              <a:t>Amazon </a:t>
            </a:r>
            <a:r>
              <a:rPr lang="en-US" sz="2200" dirty="0" err="1" smtClean="0"/>
              <a:t>FSx</a:t>
            </a:r>
            <a:r>
              <a:rPr lang="en-US" sz="2200" dirty="0" smtClean="0"/>
              <a:t> for </a:t>
            </a:r>
            <a:r>
              <a:rPr lang="en-US" sz="2200" dirty="0" err="1" smtClean="0"/>
              <a:t>Lustre</a:t>
            </a:r>
            <a:r>
              <a:rPr lang="en-US" sz="2200" dirty="0" smtClean="0"/>
              <a:t> is a fully managed service that provides high-performance, cost-effective, and scalable storage powered by </a:t>
            </a:r>
            <a:r>
              <a:rPr lang="en-US" sz="2200" dirty="0" err="1" smtClean="0"/>
              <a:t>Lustre</a:t>
            </a:r>
            <a:r>
              <a:rPr lang="en-US" sz="2200" dirty="0" smtClean="0"/>
              <a:t>, the world’s most popular high-performance file </a:t>
            </a:r>
            <a:r>
              <a:rPr lang="en-US" sz="2200" dirty="0" smtClean="0"/>
              <a:t>system.</a:t>
            </a:r>
          </a:p>
          <a:p>
            <a:r>
              <a:rPr lang="en-US" sz="2200" dirty="0" err="1" smtClean="0"/>
              <a:t>FSx</a:t>
            </a:r>
            <a:r>
              <a:rPr lang="en-US" sz="2200" dirty="0" smtClean="0"/>
              <a:t> </a:t>
            </a:r>
            <a:r>
              <a:rPr lang="en-US" sz="2200" dirty="0" smtClean="0"/>
              <a:t>for </a:t>
            </a:r>
            <a:r>
              <a:rPr lang="en-US" sz="2200" dirty="0" err="1" smtClean="0"/>
              <a:t>Lustre</a:t>
            </a:r>
            <a:r>
              <a:rPr lang="en-US" sz="2200" dirty="0" smtClean="0"/>
              <a:t> provides the fastest storage performance for GPU instances in the cloud with up to terabytes per second of throughput, millions of IOPS, sub-millisecond latencies, and virtually unlimited storage </a:t>
            </a:r>
            <a:r>
              <a:rPr lang="en-US" sz="2200" dirty="0" smtClean="0"/>
              <a:t>capacity.</a:t>
            </a:r>
          </a:p>
          <a:p>
            <a:r>
              <a:rPr lang="en-US" sz="2200" dirty="0" smtClean="0"/>
              <a:t>It </a:t>
            </a:r>
            <a:r>
              <a:rPr lang="en-US" sz="2200" dirty="0" smtClean="0"/>
              <a:t>delivers up to 34% better price performance compared to on-premises HDD file storage and up to 70% better price performance compared to other high-performance file systems in the cloud.</a:t>
            </a:r>
            <a:endParaRPr lang="en-US" sz="2200" dirty="0" smtClean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CARAT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</a:t>
            </a:r>
            <a:r>
              <a:rPr lang="en-US" sz="2400" dirty="0" smtClean="0">
                <a:hlinkClick r:id="rId2"/>
              </a:rPr>
              <a:t>arxiv.org/pdf/2602.22409</a:t>
            </a:r>
            <a:endParaRPr lang="en-US" sz="2400" dirty="0" smtClean="0"/>
          </a:p>
          <a:p>
            <a:r>
              <a:rPr lang="en-US" sz="2400" b="1" dirty="0" smtClean="0"/>
              <a:t>Main idea</a:t>
            </a:r>
            <a:endParaRPr lang="en-US" sz="2400" dirty="0" smtClean="0"/>
          </a:p>
          <a:p>
            <a:pPr lvl="1"/>
            <a:r>
              <a:rPr lang="en-US" sz="2000" dirty="0" smtClean="0"/>
              <a:t>Uses </a:t>
            </a:r>
            <a:r>
              <a:rPr lang="en-US" sz="2000" b="1" dirty="0" smtClean="0"/>
              <a:t>machine learning to tune </a:t>
            </a:r>
            <a:r>
              <a:rPr lang="en-US" sz="2000" b="1" dirty="0" err="1" smtClean="0"/>
              <a:t>Lustre</a:t>
            </a:r>
            <a:r>
              <a:rPr lang="en-US" sz="2000" b="1" dirty="0" smtClean="0"/>
              <a:t> parameters automatically</a:t>
            </a:r>
            <a:endParaRPr lang="en-US" sz="2000" dirty="0" smtClean="0"/>
          </a:p>
          <a:p>
            <a:pPr lvl="1"/>
            <a:r>
              <a:rPr lang="en-US" sz="2000" dirty="0" smtClean="0"/>
              <a:t>Adjusts:</a:t>
            </a:r>
          </a:p>
          <a:p>
            <a:pPr lvl="2"/>
            <a:r>
              <a:rPr lang="en-US" sz="1600" dirty="0" smtClean="0"/>
              <a:t>RPC parameters</a:t>
            </a:r>
          </a:p>
          <a:p>
            <a:pPr lvl="2"/>
            <a:r>
              <a:rPr lang="en-US" sz="1600" dirty="0" smtClean="0"/>
              <a:t>client cache behavior</a:t>
            </a:r>
          </a:p>
          <a:p>
            <a:pPr lvl="1"/>
            <a:r>
              <a:rPr lang="en-US" sz="2000" dirty="0" smtClean="0"/>
              <a:t>Clients independently adapt to workload changes.</a:t>
            </a:r>
          </a:p>
          <a:p>
            <a:r>
              <a:rPr lang="en-US" sz="2400" b="1" dirty="0" smtClean="0"/>
              <a:t>Key result</a:t>
            </a:r>
            <a:endParaRPr lang="en-US" sz="2400" dirty="0" smtClean="0"/>
          </a:p>
          <a:p>
            <a:pPr lvl="1"/>
            <a:r>
              <a:rPr lang="en-US" sz="2000" dirty="0" smtClean="0"/>
              <a:t>Up to </a:t>
            </a:r>
            <a:r>
              <a:rPr lang="en-US" sz="2000" b="1" dirty="0" smtClean="0"/>
              <a:t>3× performance improvement</a:t>
            </a:r>
            <a:r>
              <a:rPr lang="en-US" sz="2000" dirty="0" smtClean="0"/>
              <a:t> compared to static configurations. </a:t>
            </a:r>
          </a:p>
          <a:p>
            <a:r>
              <a:rPr lang="en-US" sz="2400" dirty="0" smtClean="0"/>
              <a:t>Why it </a:t>
            </a:r>
            <a:r>
              <a:rPr lang="en-US" sz="2400" dirty="0" smtClean="0"/>
              <a:t>matters</a:t>
            </a:r>
          </a:p>
          <a:p>
            <a:pPr lvl="1"/>
            <a:r>
              <a:rPr lang="en-US" sz="2000" dirty="0" smtClean="0"/>
              <a:t>Modern </a:t>
            </a:r>
            <a:r>
              <a:rPr lang="en-US" sz="2000" dirty="0" smtClean="0"/>
              <a:t>HPC systems have extremely complex I/O paths, so </a:t>
            </a:r>
            <a:r>
              <a:rPr lang="en-US" sz="2000" b="1" dirty="0" smtClean="0"/>
              <a:t>manual tuning is difficult</a:t>
            </a:r>
            <a:r>
              <a:rPr lang="en-US" sz="2000" dirty="0" smtClean="0"/>
              <a:t>.</a:t>
            </a:r>
            <a:endParaRPr lang="en-US" sz="2000" dirty="0" smtClean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AdapTBF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>
                <a:hlinkClick r:id="rId2"/>
              </a:rPr>
              <a:t>https://</a:t>
            </a:r>
            <a:r>
              <a:rPr lang="en-US" sz="2800" dirty="0" smtClean="0">
                <a:hlinkClick r:id="rId2"/>
              </a:rPr>
              <a:t>arxiv.org/pdf/2602.22409</a:t>
            </a:r>
            <a:endParaRPr lang="en-US" sz="2800" dirty="0" smtClean="0"/>
          </a:p>
          <a:p>
            <a:r>
              <a:rPr lang="en-US" sz="2800" b="1" dirty="0" smtClean="0"/>
              <a:t>Focus</a:t>
            </a:r>
            <a:endParaRPr lang="en-US" sz="2800" dirty="0" smtClean="0"/>
          </a:p>
          <a:p>
            <a:pPr lvl="1"/>
            <a:r>
              <a:rPr lang="en-US" sz="2400" dirty="0" smtClean="0"/>
              <a:t>Fair bandwidth allocation in shared </a:t>
            </a:r>
            <a:r>
              <a:rPr lang="en-US" sz="2400" dirty="0" err="1" smtClean="0"/>
              <a:t>Lustre</a:t>
            </a:r>
            <a:r>
              <a:rPr lang="en-US" sz="2400" dirty="0" smtClean="0"/>
              <a:t> systems.</a:t>
            </a:r>
          </a:p>
          <a:p>
            <a:pPr lvl="1"/>
            <a:r>
              <a:rPr lang="en-US" sz="2400" dirty="0" smtClean="0"/>
              <a:t>Prevents small jobs from consuming disproportionate I/O bandwidth.</a:t>
            </a:r>
          </a:p>
          <a:p>
            <a:r>
              <a:rPr lang="en-US" sz="2800" b="1" dirty="0" smtClean="0"/>
              <a:t>Idea</a:t>
            </a:r>
            <a:endParaRPr lang="en-US" sz="2800" dirty="0" smtClean="0"/>
          </a:p>
          <a:p>
            <a:pPr lvl="1"/>
            <a:r>
              <a:rPr lang="en-US" sz="2400" dirty="0" smtClean="0"/>
              <a:t>Adaptive token-borrowing mechanism for bandwidth scheduling.</a:t>
            </a:r>
          </a:p>
          <a:p>
            <a:r>
              <a:rPr lang="en-US" sz="2800" b="1" dirty="0" smtClean="0"/>
              <a:t>Contribution</a:t>
            </a:r>
            <a:endParaRPr lang="en-US" sz="2800" dirty="0" smtClean="0"/>
          </a:p>
          <a:p>
            <a:pPr lvl="1"/>
            <a:r>
              <a:rPr lang="en-US" sz="2400" dirty="0" smtClean="0"/>
              <a:t>Maintains fairness </a:t>
            </a:r>
            <a:r>
              <a:rPr lang="en-US" sz="2400" b="1" dirty="0" smtClean="0"/>
              <a:t>without wasting unused bandwidth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20956</TotalTime>
  <Words>383</Words>
  <Application>Microsoft Office PowerPoint</Application>
  <PresentationFormat>On-screen Show (4:3)</PresentationFormat>
  <Paragraphs>58</Paragraphs>
  <Slides>12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Lustre</vt:lpstr>
      <vt:lpstr>Objectives</vt:lpstr>
      <vt:lpstr>Contents</vt:lpstr>
      <vt:lpstr>References</vt:lpstr>
      <vt:lpstr>Parallel File Systems</vt:lpstr>
      <vt:lpstr>Why Parallel File Systems?</vt:lpstr>
      <vt:lpstr>Lustre</vt:lpstr>
      <vt:lpstr>Amazon FSx for Lustre</vt:lpstr>
      <vt:lpstr>Slide 9</vt:lpstr>
      <vt:lpstr>CARAT</vt:lpstr>
      <vt:lpstr>AdapTBF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5277</cp:revision>
  <dcterms:created xsi:type="dcterms:W3CDTF">2007-10-06T08:25:13Z</dcterms:created>
  <dcterms:modified xsi:type="dcterms:W3CDTF">2026-03-18T12:19:21Z</dcterms:modified>
</cp:coreProperties>
</file>