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22"/>
  </p:notesMasterIdLst>
  <p:sldIdLst>
    <p:sldId id="441" r:id="rId2"/>
    <p:sldId id="442" r:id="rId3"/>
    <p:sldId id="443" r:id="rId4"/>
    <p:sldId id="444" r:id="rId5"/>
    <p:sldId id="473" r:id="rId6"/>
    <p:sldId id="471" r:id="rId7"/>
    <p:sldId id="474" r:id="rId8"/>
    <p:sldId id="475" r:id="rId9"/>
    <p:sldId id="476" r:id="rId10"/>
    <p:sldId id="477" r:id="rId11"/>
    <p:sldId id="483" r:id="rId12"/>
    <p:sldId id="478" r:id="rId13"/>
    <p:sldId id="479" r:id="rId14"/>
    <p:sldId id="480" r:id="rId15"/>
    <p:sldId id="481" r:id="rId16"/>
    <p:sldId id="482" r:id="rId17"/>
    <p:sldId id="484" r:id="rId18"/>
    <p:sldId id="486" r:id="rId19"/>
    <p:sldId id="485" r:id="rId20"/>
    <p:sldId id="440" r:id="rId21"/>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CCFF"/>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207" autoAdjust="0"/>
    <p:restoredTop sz="94765" autoAdjust="0"/>
  </p:normalViewPr>
  <p:slideViewPr>
    <p:cSldViewPr>
      <p:cViewPr>
        <p:scale>
          <a:sx n="50" d="100"/>
          <a:sy n="50" d="100"/>
        </p:scale>
        <p:origin x="-1526" y="-400"/>
      </p:cViewPr>
      <p:guideLst>
        <p:guide orient="horz" pos="2160"/>
        <p:guide pos="2880"/>
      </p:guideLst>
    </p:cSldViewPr>
  </p:slideViewPr>
  <p:outlineViewPr>
    <p:cViewPr>
      <p:scale>
        <a:sx n="33" d="100"/>
        <a:sy n="33" d="100"/>
      </p:scale>
      <p:origin x="0" y="46014"/>
    </p:cViewPr>
  </p:outlineViewPr>
  <p:notesTextViewPr>
    <p:cViewPr>
      <p:scale>
        <a:sx n="100" d="100"/>
        <a:sy n="100" d="100"/>
      </p:scale>
      <p:origin x="0" y="0"/>
    </p:cViewPr>
  </p:notesTextViewPr>
  <p:sorterViewPr>
    <p:cViewPr>
      <p:scale>
        <a:sx n="66" d="100"/>
        <a:sy n="66"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062591D-F63A-4C87-988A-2A4399BE3C42}" type="datetimeFigureOut">
              <a:rPr lang="en-US" smtClean="0"/>
              <a:pPr/>
              <a:t>11/10/2025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DB2649A-D532-4C46-8375-2DC4F09C0D42}"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4E670EC-EF90-4A84-9798-83F1F2DBB460}" type="slidenum">
              <a:rPr lang="en-US" smtClean="0"/>
              <a:pPr/>
              <a:t>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BB3B12F3-13D8-4BC6-B271-EF890D2E3EA0}" type="datetimeFigureOut">
              <a:rPr lang="en-US"/>
              <a:pPr>
                <a:defRPr/>
              </a:pPr>
              <a:t>11/10/2025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C4D65A0-8A45-49A8-B2B4-890662407FE0}"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AF2554BB-BED8-407D-871B-BC3BF099B766}" type="datetimeFigureOut">
              <a:rPr lang="en-US"/>
              <a:pPr>
                <a:defRPr/>
              </a:pPr>
              <a:t>11/10/2025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B6A513C-A265-4672-ADF9-9C420A0C09A7}"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D183AE9F-B8F4-4A27-A258-84000ADADD35}" type="datetimeFigureOut">
              <a:rPr lang="en-US"/>
              <a:pPr>
                <a:defRPr/>
              </a:pPr>
              <a:t>11/10/2025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0C0325C-EBE7-4A11-97E9-DF8C42B04A7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8B4F403C-A7D9-4211-8DC1-5865845C9F38}" type="datetimeFigureOut">
              <a:rPr lang="en-US"/>
              <a:pPr>
                <a:defRPr/>
              </a:pPr>
              <a:t>11/10/2025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C091B809-96F5-477B-8E72-8AB6B5E4AEA1}"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8809C128-87F1-4A1D-AC95-1D0A8C2820AC}" type="datetimeFigureOut">
              <a:rPr lang="en-US"/>
              <a:pPr>
                <a:defRPr/>
              </a:pPr>
              <a:t>11/10/2025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DC251F8E-6BBA-4EBA-BCCA-61145C18CC0B}"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0DD7EAC8-1610-4C8B-8A2E-7959779A26B0}" type="datetimeFigureOut">
              <a:rPr lang="en-US"/>
              <a:pPr>
                <a:defRPr/>
              </a:pPr>
              <a:t>11/10/2025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88F43CFA-8BED-4A88-AB21-8477601BA31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D13CF8C-ED99-4E62-9F8F-039B47F842EB}" type="datetimeFigureOut">
              <a:rPr lang="en-US"/>
              <a:pPr>
                <a:defRPr/>
              </a:pPr>
              <a:t>11/10/2025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73FA9176-712D-4387-A1B9-79FDD21B413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A10295A-2761-40EA-9DA2-E88C0504267F}" type="datetimeFigureOut">
              <a:rPr lang="en-US"/>
              <a:pPr>
                <a:defRPr/>
              </a:pPr>
              <a:t>11/10/2025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6EFA140-F156-4425-B953-A67D35160EB0}"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B7036556-1340-40FC-A073-D70D8832A760}" type="datetimeFigureOut">
              <a:rPr lang="en-US"/>
              <a:pPr>
                <a:defRPr/>
              </a:pPr>
              <a:t>11/10/2025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AB3919B8-AF1D-4524-AED9-AA87E5FE0640}"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5375E21-F618-4DDC-86A2-77C690CACCAF}" type="datetimeFigureOut">
              <a:rPr lang="en-US"/>
              <a:pPr>
                <a:defRPr/>
              </a:pPr>
              <a:t>11/10/2025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2EDB1DC0-76E8-4C19-B643-CDC8176FDDA2}"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1B4CE7E0-80C2-49E8-81AC-9B27623F73A4}" type="datetimeFigureOut">
              <a:rPr lang="en-US"/>
              <a:pPr>
                <a:defRPr/>
              </a:pPr>
              <a:t>11/10/2025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129D05C-0F0F-4E8B-B47F-3C2F1A4BC70E}"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218"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9219"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2F5EA699-B790-4630-B1C5-9840307833F6}" type="datetimeFigureOut">
              <a:rPr lang="en-US"/>
              <a:pPr>
                <a:defRPr/>
              </a:pPr>
              <a:t>11/10/2025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409E2BD1-610D-47CE-BC14-E90E7753FA52}"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nhbien@fit.hcmus.edu.v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mininet.org/"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hyperlink" Target="https://mininet.org/download/"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mininet.org/walkthrough/"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304800" y="2130425"/>
            <a:ext cx="8534400" cy="1470025"/>
          </a:xfrm>
        </p:spPr>
        <p:txBody>
          <a:bodyPr/>
          <a:lstStyle/>
          <a:p>
            <a:pPr eaLnBrk="1" hangingPunct="1"/>
            <a:r>
              <a:rPr lang="en-US" sz="6000" dirty="0" smtClean="0"/>
              <a:t>Software-Defined Networking</a:t>
            </a:r>
          </a:p>
        </p:txBody>
      </p:sp>
      <p:sp>
        <p:nvSpPr>
          <p:cNvPr id="3" name="Subtitle 2"/>
          <p:cNvSpPr>
            <a:spLocks noGrp="1"/>
          </p:cNvSpPr>
          <p:nvPr>
            <p:ph type="subTitle" idx="1"/>
          </p:nvPr>
        </p:nvSpPr>
        <p:spPr/>
        <p:txBody>
          <a:bodyPr rtlCol="0">
            <a:normAutofit fontScale="40000" lnSpcReduction="20000"/>
          </a:bodyPr>
          <a:lstStyle/>
          <a:p>
            <a:pPr eaLnBrk="1" fontAlgn="auto" hangingPunct="1">
              <a:spcAft>
                <a:spcPts val="0"/>
              </a:spcAft>
              <a:defRPr/>
            </a:pPr>
            <a:r>
              <a:rPr lang="en-US" sz="5400" dirty="0" smtClean="0"/>
              <a:t>Lecturer: Ngo Huy Bien</a:t>
            </a:r>
          </a:p>
          <a:p>
            <a:pPr eaLnBrk="1" fontAlgn="auto" hangingPunct="1">
              <a:spcAft>
                <a:spcPts val="0"/>
              </a:spcAft>
              <a:defRPr/>
            </a:pPr>
            <a:r>
              <a:rPr lang="en-US" sz="4400" dirty="0" smtClean="0"/>
              <a:t>Software Engineering Department</a:t>
            </a:r>
          </a:p>
          <a:p>
            <a:pPr eaLnBrk="1" fontAlgn="auto" hangingPunct="1">
              <a:spcAft>
                <a:spcPts val="0"/>
              </a:spcAft>
              <a:defRPr/>
            </a:pPr>
            <a:r>
              <a:rPr lang="en-US" sz="4400" dirty="0" smtClean="0"/>
              <a:t>Faculty of Information Technology</a:t>
            </a:r>
          </a:p>
          <a:p>
            <a:pPr eaLnBrk="1" fontAlgn="auto" hangingPunct="1">
              <a:spcAft>
                <a:spcPts val="0"/>
              </a:spcAft>
              <a:defRPr/>
            </a:pPr>
            <a:r>
              <a:rPr lang="en-US" sz="4400" dirty="0" smtClean="0"/>
              <a:t>VNUHCM - University of Science</a:t>
            </a:r>
          </a:p>
          <a:p>
            <a:pPr eaLnBrk="1" fontAlgn="auto" hangingPunct="1">
              <a:spcAft>
                <a:spcPts val="0"/>
              </a:spcAft>
              <a:defRPr/>
            </a:pPr>
            <a:r>
              <a:rPr lang="en-US" sz="4400" dirty="0" smtClean="0"/>
              <a:t>Ho Chi Minh City, Vietnam</a:t>
            </a:r>
          </a:p>
          <a:p>
            <a:pPr eaLnBrk="1" fontAlgn="auto" hangingPunct="1">
              <a:spcAft>
                <a:spcPts val="0"/>
              </a:spcAft>
              <a:defRPr/>
            </a:pPr>
            <a:r>
              <a:rPr lang="en-US" sz="4400" dirty="0" smtClean="0">
                <a:hlinkClick r:id="rId2"/>
              </a:rPr>
              <a:t>nhbien@fit.hcmus.edu.vn</a:t>
            </a:r>
            <a:endParaRPr lang="en-US" sz="4400"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Objectives</a:t>
            </a:r>
            <a:endParaRPr lang="en-US" dirty="0"/>
          </a:p>
        </p:txBody>
      </p:sp>
      <p:sp>
        <p:nvSpPr>
          <p:cNvPr id="3" name="Content Placeholder 2"/>
          <p:cNvSpPr>
            <a:spLocks noGrp="1"/>
          </p:cNvSpPr>
          <p:nvPr>
            <p:ph idx="1"/>
          </p:nvPr>
        </p:nvSpPr>
        <p:spPr>
          <a:xfrm>
            <a:off x="457200" y="1828800"/>
            <a:ext cx="5334000" cy="3886200"/>
          </a:xfrm>
        </p:spPr>
        <p:txBody>
          <a:bodyPr/>
          <a:lstStyle/>
          <a:p>
            <a:pPr>
              <a:buFont typeface="Wingdings" pitchFamily="2" charset="2"/>
              <a:buChar char="Ø"/>
            </a:pPr>
            <a:endParaRPr lang="en-US" sz="2400" dirty="0" smtClean="0"/>
          </a:p>
        </p:txBody>
      </p:sp>
      <p:pic>
        <p:nvPicPr>
          <p:cNvPr id="4" name="Picture 2"/>
          <p:cNvPicPr>
            <a:picLocks noChangeAspect="1" noChangeArrowheads="1"/>
          </p:cNvPicPr>
          <p:nvPr/>
        </p:nvPicPr>
        <p:blipFill>
          <a:blip r:embed="rId2" cstate="print"/>
          <a:srcRect/>
          <a:stretch>
            <a:fillRect/>
          </a:stretch>
        </p:blipFill>
        <p:spPr bwMode="auto">
          <a:xfrm>
            <a:off x="6019800" y="1828800"/>
            <a:ext cx="2762250" cy="2114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3" cstate="print"/>
          <a:srcRect/>
          <a:stretch>
            <a:fillRect/>
          </a:stretch>
        </p:blipFill>
        <p:spPr bwMode="auto">
          <a:xfrm>
            <a:off x="6477000" y="2438400"/>
            <a:ext cx="2390775" cy="2390775"/>
          </a:xfrm>
          <a:prstGeom prst="rect">
            <a:avLst/>
          </a:prstGeom>
          <a:noFill/>
          <a:ln w="9525">
            <a:noFill/>
            <a:miter lim="800000"/>
            <a:headEnd/>
            <a:tailEnd/>
          </a:ln>
        </p:spPr>
      </p:pic>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a:xfrm>
            <a:off x="457200" y="1600200"/>
            <a:ext cx="6096000" cy="4525963"/>
          </a:xfrm>
        </p:spPr>
        <p:txBody>
          <a:bodyPr/>
          <a:lstStyle/>
          <a:p>
            <a:pPr marL="571500" indent="-571500">
              <a:buFont typeface="+mj-lt"/>
              <a:buAutoNum type="romanUcPeriod"/>
            </a:pPr>
            <a:r>
              <a:rPr lang="en-US" sz="2400" dirty="0" err="1" smtClean="0"/>
              <a:t>OpenFlow</a:t>
            </a:r>
            <a:r>
              <a:rPr lang="en-US" sz="2400" dirty="0" smtClean="0"/>
              <a:t>-enabled </a:t>
            </a:r>
            <a:r>
              <a:rPr lang="en-US" sz="2400" dirty="0" smtClean="0"/>
              <a:t>Switches </a:t>
            </a:r>
            <a:r>
              <a:rPr lang="en-US" sz="2400" dirty="0" smtClean="0"/>
              <a:t>and </a:t>
            </a:r>
            <a:r>
              <a:rPr lang="en-US" sz="2400" dirty="0" smtClean="0"/>
              <a:t>Routers.</a:t>
            </a:r>
          </a:p>
          <a:p>
            <a:pPr marL="571500" indent="-571500">
              <a:buFont typeface="+mj-lt"/>
              <a:buAutoNum type="romanUcPeriod"/>
            </a:pPr>
            <a:endParaRPr lang="en-US" sz="2400" dirty="0" smtClean="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a:xfrm>
            <a:off x="457200" y="1600200"/>
            <a:ext cx="5867400" cy="4724400"/>
          </a:xfrm>
        </p:spPr>
        <p:txBody>
          <a:bodyPr/>
          <a:lstStyle/>
          <a:p>
            <a:pPr marL="457200" indent="-457200">
              <a:buFont typeface="+mj-lt"/>
              <a:buAutoNum type="arabicPeriod"/>
            </a:pPr>
            <a:r>
              <a:rPr lang="en-US" sz="2400" dirty="0" smtClean="0">
                <a:cs typeface="Calibri" pitchFamily="34" charset="0"/>
              </a:rPr>
              <a:t>Nick </a:t>
            </a:r>
            <a:r>
              <a:rPr lang="en-US" sz="2400" dirty="0" err="1" smtClean="0">
                <a:cs typeface="Calibri" pitchFamily="34" charset="0"/>
              </a:rPr>
              <a:t>McKeown</a:t>
            </a:r>
            <a:r>
              <a:rPr lang="en-US" sz="2400" dirty="0" smtClean="0">
                <a:cs typeface="Calibri" pitchFamily="34" charset="0"/>
              </a:rPr>
              <a:t> et al. (2008). </a:t>
            </a:r>
            <a:r>
              <a:rPr lang="en-US" sz="2400" dirty="0" err="1" smtClean="0">
                <a:cs typeface="Calibri" pitchFamily="34" charset="0"/>
              </a:rPr>
              <a:t>OpenFlow</a:t>
            </a:r>
            <a:r>
              <a:rPr lang="en-US" sz="2400" dirty="0" smtClean="0">
                <a:cs typeface="Calibri" pitchFamily="34" charset="0"/>
              </a:rPr>
              <a:t> - Enabling Innovation in Campus Networks.</a:t>
            </a:r>
          </a:p>
          <a:p>
            <a:pPr marL="457200" indent="-457200">
              <a:buFont typeface="+mj-lt"/>
              <a:buAutoNum type="arabicPeriod"/>
            </a:pPr>
            <a:r>
              <a:rPr lang="en-US" sz="2400" dirty="0" smtClean="0">
                <a:cs typeface="Calibri" pitchFamily="34" charset="0"/>
              </a:rPr>
              <a:t>Martin </a:t>
            </a:r>
            <a:r>
              <a:rPr lang="en-US" sz="2400" dirty="0" err="1" smtClean="0">
                <a:cs typeface="Calibri" pitchFamily="34" charset="0"/>
              </a:rPr>
              <a:t>Casado</a:t>
            </a:r>
            <a:r>
              <a:rPr lang="en-US" sz="2400" dirty="0" smtClean="0">
                <a:cs typeface="Calibri" pitchFamily="34" charset="0"/>
              </a:rPr>
              <a:t> et al. (2007). Ethane - Taking Control of the Enterprise.</a:t>
            </a:r>
          </a:p>
          <a:p>
            <a:pPr marL="457200" indent="-457200">
              <a:buFont typeface="+mj-lt"/>
              <a:buAutoNum type="arabicPeriod"/>
            </a:pPr>
            <a:r>
              <a:rPr lang="en-US" sz="2400" dirty="0" smtClean="0">
                <a:cs typeface="Calibri" pitchFamily="34" charset="0"/>
              </a:rPr>
              <a:t>Diego </a:t>
            </a:r>
            <a:r>
              <a:rPr lang="en-US" sz="2400" dirty="0" err="1" smtClean="0">
                <a:cs typeface="Calibri" pitchFamily="34" charset="0"/>
              </a:rPr>
              <a:t>Kreutz</a:t>
            </a:r>
            <a:r>
              <a:rPr lang="en-US" sz="2400" dirty="0" smtClean="0">
                <a:cs typeface="Calibri" pitchFamily="34" charset="0"/>
              </a:rPr>
              <a:t> et al. (2014). Software-Defined Networking - A Comprehensive Survey.</a:t>
            </a:r>
          </a:p>
          <a:p>
            <a:pPr marL="457200" indent="-457200">
              <a:buFont typeface="+mj-lt"/>
              <a:buAutoNum type="arabicPeriod"/>
            </a:pPr>
            <a:endParaRPr lang="en-US" sz="2400" dirty="0" smtClean="0">
              <a:cs typeface="Calibri" pitchFamily="34" charset="0"/>
            </a:endParaRPr>
          </a:p>
        </p:txBody>
      </p:sp>
      <p:pic>
        <p:nvPicPr>
          <p:cNvPr id="4" name="Picture 4" descr="http://2.bp.blogspot.com/-FqRM_5NQE6Q/TaSdzyWfvtI/AAAAAAAAAFg/C_2LDJWJOx4/s1600/books-pile.jpg"/>
          <p:cNvPicPr>
            <a:picLocks noChangeAspect="1" noChangeArrowheads="1"/>
          </p:cNvPicPr>
          <p:nvPr/>
        </p:nvPicPr>
        <p:blipFill>
          <a:blip r:embed="rId2" cstate="print"/>
          <a:srcRect/>
          <a:stretch>
            <a:fillRect/>
          </a:stretch>
        </p:blipFill>
        <p:spPr bwMode="auto">
          <a:xfrm>
            <a:off x="6248400" y="1676400"/>
            <a:ext cx="2724150" cy="4133850"/>
          </a:xfrm>
          <a:prstGeom prst="rect">
            <a:avLst/>
          </a:prstGeom>
          <a:noFill/>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Need for Programmable</a:t>
            </a:r>
            <a:br>
              <a:rPr lang="en-US" dirty="0" smtClean="0"/>
            </a:br>
            <a:r>
              <a:rPr lang="en-US" dirty="0" smtClean="0"/>
              <a:t>Networks [1]</a:t>
            </a:r>
            <a:endParaRPr lang="en-US" dirty="0"/>
          </a:p>
        </p:txBody>
      </p:sp>
      <p:sp>
        <p:nvSpPr>
          <p:cNvPr id="3" name="Content Placeholder 2"/>
          <p:cNvSpPr>
            <a:spLocks noGrp="1"/>
          </p:cNvSpPr>
          <p:nvPr>
            <p:ph idx="1"/>
          </p:nvPr>
        </p:nvSpPr>
        <p:spPr/>
        <p:txBody>
          <a:bodyPr/>
          <a:lstStyle/>
          <a:p>
            <a:r>
              <a:rPr lang="en-US" sz="2400" dirty="0" smtClean="0"/>
              <a:t>As researchers, how can we run experiments in our campus networks?</a:t>
            </a:r>
          </a:p>
          <a:p>
            <a:r>
              <a:rPr lang="en-US" sz="2400" dirty="0" smtClean="0"/>
              <a:t>One approach - that we do not take - is to persuade commercial “name-brand” equipment vendors to provide an open, programmable, virtualized platform on their switches and routers so that researchers can deploy new protocols, while network administrators can take comfort that the equipment is well supported.</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Ethane Network [2]</a:t>
            </a:r>
            <a:endParaRPr lang="en-US" dirty="0"/>
          </a:p>
        </p:txBody>
      </p:sp>
      <p:sp>
        <p:nvSpPr>
          <p:cNvPr id="3" name="Content Placeholder 2"/>
          <p:cNvSpPr>
            <a:spLocks noGrp="1"/>
          </p:cNvSpPr>
          <p:nvPr>
            <p:ph idx="1"/>
          </p:nvPr>
        </p:nvSpPr>
        <p:spPr/>
        <p:txBody>
          <a:bodyPr/>
          <a:lstStyle/>
          <a:p>
            <a:r>
              <a:rPr lang="en-US" sz="2400" dirty="0" smtClean="0"/>
              <a:t>Example of communication on an Ethane network.</a:t>
            </a:r>
          </a:p>
          <a:p>
            <a:r>
              <a:rPr lang="en-US" sz="2400" dirty="0" smtClean="0"/>
              <a:t>Route setup shown by dotted lines; the path taken by the first packet of a flow shown by dashed lines.</a:t>
            </a:r>
            <a:endParaRPr lang="en-US" sz="2200" dirty="0">
              <a:latin typeface="Consolas" pitchFamily="49" charset="0"/>
            </a:endParaRPr>
          </a:p>
        </p:txBody>
      </p:sp>
      <p:pic>
        <p:nvPicPr>
          <p:cNvPr id="1026" name="Picture 2"/>
          <p:cNvPicPr>
            <a:picLocks noChangeAspect="1" noChangeArrowheads="1"/>
          </p:cNvPicPr>
          <p:nvPr/>
        </p:nvPicPr>
        <p:blipFill>
          <a:blip r:embed="rId2" cstate="print"/>
          <a:srcRect/>
          <a:stretch>
            <a:fillRect/>
          </a:stretch>
        </p:blipFill>
        <p:spPr bwMode="auto">
          <a:xfrm>
            <a:off x="1262063" y="3086100"/>
            <a:ext cx="6619875" cy="3238500"/>
          </a:xfrm>
          <a:prstGeom prst="rect">
            <a:avLst/>
          </a:prstGeom>
          <a:noFill/>
          <a:ln w="9525">
            <a:noFill/>
            <a:miter lim="800000"/>
            <a:headEnd/>
            <a:tailEnd/>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Idealized </a:t>
            </a:r>
            <a:r>
              <a:rPr lang="en-US" dirty="0" err="1" smtClean="0"/>
              <a:t>OpenFlow</a:t>
            </a:r>
            <a:r>
              <a:rPr lang="en-US" dirty="0" smtClean="0"/>
              <a:t> </a:t>
            </a:r>
            <a:r>
              <a:rPr lang="en-US" dirty="0" smtClean="0"/>
              <a:t>Switch </a:t>
            </a:r>
            <a:r>
              <a:rPr lang="en-US" dirty="0" smtClean="0"/>
              <a:t>[1]</a:t>
            </a:r>
            <a:endParaRPr lang="en-US" dirty="0"/>
          </a:p>
        </p:txBody>
      </p:sp>
      <p:sp>
        <p:nvSpPr>
          <p:cNvPr id="3" name="Content Placeholder 2"/>
          <p:cNvSpPr>
            <a:spLocks noGrp="1"/>
          </p:cNvSpPr>
          <p:nvPr>
            <p:ph idx="1"/>
          </p:nvPr>
        </p:nvSpPr>
        <p:spPr>
          <a:xfrm>
            <a:off x="457200" y="1600200"/>
            <a:ext cx="2819400" cy="4525963"/>
          </a:xfrm>
        </p:spPr>
        <p:txBody>
          <a:bodyPr/>
          <a:lstStyle/>
          <a:p>
            <a:r>
              <a:rPr lang="en-US" sz="2400" dirty="0" smtClean="0"/>
              <a:t>Table is controlled by a remote controller via the Secure Channel.</a:t>
            </a:r>
            <a:endParaRPr lang="en-US" sz="2200" dirty="0">
              <a:latin typeface="Consolas" pitchFamily="49" charset="0"/>
            </a:endParaRPr>
          </a:p>
        </p:txBody>
      </p:sp>
      <p:pic>
        <p:nvPicPr>
          <p:cNvPr id="2050" name="Picture 2"/>
          <p:cNvPicPr>
            <a:picLocks noChangeAspect="1" noChangeArrowheads="1"/>
          </p:cNvPicPr>
          <p:nvPr/>
        </p:nvPicPr>
        <p:blipFill>
          <a:blip r:embed="rId2" cstate="print"/>
          <a:srcRect/>
          <a:stretch>
            <a:fillRect/>
          </a:stretch>
        </p:blipFill>
        <p:spPr bwMode="auto">
          <a:xfrm>
            <a:off x="3352800" y="1676400"/>
            <a:ext cx="5038725" cy="43815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OpenFlow</a:t>
            </a:r>
            <a:r>
              <a:rPr lang="en-US" dirty="0" smtClean="0"/>
              <a:t>-enabled Commercial Switches and Routers</a:t>
            </a:r>
            <a:endParaRPr lang="en-US" dirty="0"/>
          </a:p>
        </p:txBody>
      </p:sp>
      <p:sp>
        <p:nvSpPr>
          <p:cNvPr id="3" name="Content Placeholder 2"/>
          <p:cNvSpPr>
            <a:spLocks noGrp="1"/>
          </p:cNvSpPr>
          <p:nvPr>
            <p:ph idx="1"/>
          </p:nvPr>
        </p:nvSpPr>
        <p:spPr>
          <a:xfrm>
            <a:off x="457200" y="1600200"/>
            <a:ext cx="2819400" cy="4525963"/>
          </a:xfrm>
        </p:spPr>
        <p:txBody>
          <a:bodyPr/>
          <a:lstStyle/>
          <a:p>
            <a:r>
              <a:rPr lang="en-US" sz="2400" dirty="0" smtClean="0"/>
              <a:t>Example of a </a:t>
            </a:r>
            <a:r>
              <a:rPr lang="en-US" sz="2400" b="1" dirty="0" smtClean="0"/>
              <a:t>network</a:t>
            </a:r>
            <a:r>
              <a:rPr lang="en-US" sz="2400" dirty="0" smtClean="0"/>
              <a:t> of </a:t>
            </a:r>
            <a:r>
              <a:rPr lang="en-US" sz="2400" dirty="0" err="1" smtClean="0"/>
              <a:t>OpenFlow</a:t>
            </a:r>
            <a:r>
              <a:rPr lang="en-US" sz="2400" dirty="0" smtClean="0"/>
              <a:t>- enabled commercial switches and routers.</a:t>
            </a:r>
            <a:endParaRPr lang="en-US" sz="2200" dirty="0">
              <a:latin typeface="Consolas" pitchFamily="49" charset="0"/>
            </a:endParaRPr>
          </a:p>
        </p:txBody>
      </p:sp>
      <p:pic>
        <p:nvPicPr>
          <p:cNvPr id="3076" name="Picture 4"/>
          <p:cNvPicPr>
            <a:picLocks noChangeAspect="1" noChangeArrowheads="1"/>
          </p:cNvPicPr>
          <p:nvPr/>
        </p:nvPicPr>
        <p:blipFill>
          <a:blip r:embed="rId2" cstate="print"/>
          <a:srcRect/>
          <a:stretch>
            <a:fillRect/>
          </a:stretch>
        </p:blipFill>
        <p:spPr bwMode="auto">
          <a:xfrm>
            <a:off x="3657600" y="1524000"/>
            <a:ext cx="4279900" cy="4864100"/>
          </a:xfrm>
          <a:prstGeom prst="rect">
            <a:avLst/>
          </a:prstGeom>
          <a:noFill/>
          <a:ln w="9525">
            <a:noFill/>
            <a:miter lim="800000"/>
            <a:headEnd/>
            <a:tailEnd/>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Flow Table</a:t>
            </a:r>
            <a:endParaRPr lang="en-US" dirty="0"/>
          </a:p>
        </p:txBody>
      </p:sp>
      <p:pic>
        <p:nvPicPr>
          <p:cNvPr id="4098" name="Picture 2"/>
          <p:cNvPicPr>
            <a:picLocks noChangeAspect="1" noChangeArrowheads="1"/>
          </p:cNvPicPr>
          <p:nvPr/>
        </p:nvPicPr>
        <p:blipFill>
          <a:blip r:embed="rId2" cstate="print"/>
          <a:srcRect/>
          <a:stretch>
            <a:fillRect/>
          </a:stretch>
        </p:blipFill>
        <p:spPr bwMode="auto">
          <a:xfrm>
            <a:off x="776288" y="2001838"/>
            <a:ext cx="7591425" cy="2854325"/>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OpenFlow</a:t>
            </a:r>
            <a:r>
              <a:rPr lang="en-US" dirty="0" smtClean="0"/>
              <a:t> API</a:t>
            </a:r>
            <a:endParaRPr lang="en-US" dirty="0"/>
          </a:p>
        </p:txBody>
      </p:sp>
      <p:pic>
        <p:nvPicPr>
          <p:cNvPr id="5122" name="Picture 2"/>
          <p:cNvPicPr>
            <a:picLocks noChangeAspect="1" noChangeArrowheads="1"/>
          </p:cNvPicPr>
          <p:nvPr/>
        </p:nvPicPr>
        <p:blipFill>
          <a:blip r:embed="rId2" cstate="print"/>
          <a:srcRect/>
          <a:stretch>
            <a:fillRect/>
          </a:stretch>
        </p:blipFill>
        <p:spPr bwMode="auto">
          <a:xfrm>
            <a:off x="1419225" y="1727200"/>
            <a:ext cx="6305550" cy="4368800"/>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Software-Defined Networking [3]</a:t>
            </a:r>
            <a:endParaRPr lang="en-US" dirty="0"/>
          </a:p>
        </p:txBody>
      </p:sp>
      <p:sp>
        <p:nvSpPr>
          <p:cNvPr id="3" name="Content Placeholder 2"/>
          <p:cNvSpPr>
            <a:spLocks noGrp="1"/>
          </p:cNvSpPr>
          <p:nvPr>
            <p:ph idx="1"/>
          </p:nvPr>
        </p:nvSpPr>
        <p:spPr>
          <a:xfrm>
            <a:off x="457200" y="1600200"/>
            <a:ext cx="3581400" cy="4525963"/>
          </a:xfrm>
        </p:spPr>
        <p:txBody>
          <a:bodyPr/>
          <a:lstStyle/>
          <a:p>
            <a:r>
              <a:rPr lang="en-US" sz="2400" b="1" dirty="0" smtClean="0"/>
              <a:t>SDN</a:t>
            </a:r>
            <a:r>
              <a:rPr lang="en-US" sz="2400" dirty="0" smtClean="0"/>
              <a:t> refers to a </a:t>
            </a:r>
            <a:r>
              <a:rPr lang="en-US" sz="2400" i="1" dirty="0" smtClean="0">
                <a:solidFill>
                  <a:srgbClr val="C00000"/>
                </a:solidFill>
              </a:rPr>
              <a:t>network architecture</a:t>
            </a:r>
            <a:r>
              <a:rPr lang="en-US" sz="2400" dirty="0" smtClean="0"/>
              <a:t> where the forwarding state in the data plane is managed by a </a:t>
            </a:r>
            <a:r>
              <a:rPr lang="en-US" sz="2400" i="1" dirty="0" smtClean="0">
                <a:solidFill>
                  <a:srgbClr val="C00000"/>
                </a:solidFill>
              </a:rPr>
              <a:t>remote control plane</a:t>
            </a:r>
            <a:r>
              <a:rPr lang="en-US" sz="2400" dirty="0" smtClean="0"/>
              <a:t> decoupled from the former.</a:t>
            </a:r>
            <a:endParaRPr lang="en-US" sz="2400" dirty="0"/>
          </a:p>
        </p:txBody>
      </p:sp>
      <p:pic>
        <p:nvPicPr>
          <p:cNvPr id="6147" name="Picture 3"/>
          <p:cNvPicPr>
            <a:picLocks noChangeAspect="1" noChangeArrowheads="1"/>
          </p:cNvPicPr>
          <p:nvPr/>
        </p:nvPicPr>
        <p:blipFill>
          <a:blip r:embed="rId2" cstate="print"/>
          <a:srcRect/>
          <a:stretch>
            <a:fillRect/>
          </a:stretch>
        </p:blipFill>
        <p:spPr bwMode="auto">
          <a:xfrm>
            <a:off x="4267200" y="1905000"/>
            <a:ext cx="4289425" cy="3819525"/>
          </a:xfrm>
          <a:prstGeom prst="rect">
            <a:avLst/>
          </a:prstGeom>
          <a:noFill/>
          <a:ln w="9525">
            <a:noFill/>
            <a:miter lim="800000"/>
            <a:headEnd/>
            <a:tailEnd/>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Traditional Networking vs. SDN</a:t>
            </a:r>
            <a:endParaRPr lang="en-US" dirty="0"/>
          </a:p>
        </p:txBody>
      </p:sp>
      <p:sp>
        <p:nvSpPr>
          <p:cNvPr id="3" name="Content Placeholder 2"/>
          <p:cNvSpPr>
            <a:spLocks noGrp="1"/>
          </p:cNvSpPr>
          <p:nvPr>
            <p:ph idx="1"/>
          </p:nvPr>
        </p:nvSpPr>
        <p:spPr>
          <a:xfrm>
            <a:off x="457200" y="1600200"/>
            <a:ext cx="3581400" cy="4525963"/>
          </a:xfrm>
        </p:spPr>
        <p:txBody>
          <a:bodyPr/>
          <a:lstStyle/>
          <a:p>
            <a:r>
              <a:rPr lang="en-US" sz="2400" dirty="0" smtClean="0"/>
              <a:t>Traditional networking versus Software-Defined Networking (SDN).</a:t>
            </a:r>
          </a:p>
          <a:p>
            <a:r>
              <a:rPr lang="en-US" sz="2400" dirty="0" smtClean="0"/>
              <a:t>With SDN, management becomes simpler and </a:t>
            </a:r>
            <a:r>
              <a:rPr lang="en-US" sz="2400" dirty="0" err="1" smtClean="0"/>
              <a:t>middleboxes</a:t>
            </a:r>
            <a:r>
              <a:rPr lang="en-US" sz="2400" dirty="0" smtClean="0"/>
              <a:t> services can be delivered as SDN controller applications.</a:t>
            </a:r>
            <a:endParaRPr lang="en-US" sz="2400" dirty="0"/>
          </a:p>
        </p:txBody>
      </p:sp>
      <p:pic>
        <p:nvPicPr>
          <p:cNvPr id="7170" name="Picture 2"/>
          <p:cNvPicPr>
            <a:picLocks noChangeAspect="1" noChangeArrowheads="1"/>
          </p:cNvPicPr>
          <p:nvPr/>
        </p:nvPicPr>
        <p:blipFill>
          <a:blip r:embed="rId2" cstate="print"/>
          <a:srcRect/>
          <a:stretch>
            <a:fillRect/>
          </a:stretch>
        </p:blipFill>
        <p:spPr bwMode="auto">
          <a:xfrm>
            <a:off x="4038600" y="1676400"/>
            <a:ext cx="4524375" cy="4625975"/>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sz="2400" dirty="0" smtClean="0"/>
              <a:t>Software-Defined Networks in (a) planes, (b) layers, and (c) system design architecture</a:t>
            </a:r>
            <a:endParaRPr lang="en-US" sz="2400" dirty="0"/>
          </a:p>
        </p:txBody>
      </p:sp>
      <p:sp>
        <p:nvSpPr>
          <p:cNvPr id="2" name="Title 1"/>
          <p:cNvSpPr>
            <a:spLocks noGrp="1"/>
          </p:cNvSpPr>
          <p:nvPr>
            <p:ph type="title"/>
          </p:nvPr>
        </p:nvSpPr>
        <p:spPr/>
        <p:txBody>
          <a:bodyPr/>
          <a:lstStyle/>
          <a:p>
            <a:r>
              <a:rPr lang="en-US" dirty="0" smtClean="0"/>
              <a:t>Planes, Layers and Architecture</a:t>
            </a:r>
            <a:endParaRPr lang="en-US" dirty="0"/>
          </a:p>
        </p:txBody>
      </p:sp>
      <p:pic>
        <p:nvPicPr>
          <p:cNvPr id="8195" name="Picture 3"/>
          <p:cNvPicPr>
            <a:picLocks noChangeAspect="1" noChangeArrowheads="1"/>
          </p:cNvPicPr>
          <p:nvPr/>
        </p:nvPicPr>
        <p:blipFill>
          <a:blip r:embed="rId2" cstate="print"/>
          <a:srcRect/>
          <a:stretch>
            <a:fillRect/>
          </a:stretch>
        </p:blipFill>
        <p:spPr bwMode="auto">
          <a:xfrm>
            <a:off x="969963" y="2828925"/>
            <a:ext cx="7204075" cy="3190875"/>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OpenFlow</a:t>
            </a:r>
            <a:r>
              <a:rPr lang="en-US" dirty="0" smtClean="0"/>
              <a:t>-enabled SDN </a:t>
            </a:r>
            <a:r>
              <a:rPr lang="en-US" dirty="0" smtClean="0"/>
              <a:t>Devices</a:t>
            </a:r>
            <a:endParaRPr lang="en-US" dirty="0"/>
          </a:p>
        </p:txBody>
      </p:sp>
      <p:pic>
        <p:nvPicPr>
          <p:cNvPr id="9218" name="Picture 2"/>
          <p:cNvPicPr>
            <a:picLocks noChangeAspect="1" noChangeArrowheads="1"/>
          </p:cNvPicPr>
          <p:nvPr/>
        </p:nvPicPr>
        <p:blipFill>
          <a:blip r:embed="rId2" cstate="print"/>
          <a:srcRect/>
          <a:stretch>
            <a:fillRect/>
          </a:stretch>
        </p:blipFill>
        <p:spPr bwMode="auto">
          <a:xfrm>
            <a:off x="1001713" y="2794000"/>
            <a:ext cx="7140575" cy="2387600"/>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https://lh3.ggpht.com/1IfZLL2QDSjZ0wS7sUhaMlsAOS8BBzdR3wZ1WawgRn7KZAM8nEVZYMOUM-lqQb0ikIzp=w300"/>
          <p:cNvPicPr>
            <a:picLocks noChangeAspect="1" noChangeArrowheads="1"/>
          </p:cNvPicPr>
          <p:nvPr/>
        </p:nvPicPr>
        <p:blipFill>
          <a:blip r:embed="rId2" cstate="print"/>
          <a:srcRect/>
          <a:stretch>
            <a:fillRect/>
          </a:stretch>
        </p:blipFill>
        <p:spPr bwMode="auto">
          <a:xfrm>
            <a:off x="3276600" y="1905000"/>
            <a:ext cx="2857500" cy="28575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sz="2400" dirty="0" smtClean="0">
                <a:hlinkClick r:id="rId2"/>
              </a:rPr>
              <a:t>https://mininet.org/</a:t>
            </a:r>
            <a:endParaRPr lang="en-US" sz="2400" dirty="0" smtClean="0"/>
          </a:p>
          <a:p>
            <a:r>
              <a:rPr lang="en-US" sz="2400" dirty="0" err="1" smtClean="0"/>
              <a:t>Mininet</a:t>
            </a:r>
            <a:r>
              <a:rPr lang="en-US" sz="2400" dirty="0" smtClean="0"/>
              <a:t> creates a </a:t>
            </a:r>
            <a:r>
              <a:rPr lang="en-US" sz="2400" b="1" dirty="0" smtClean="0"/>
              <a:t>realistic virtual network</a:t>
            </a:r>
            <a:r>
              <a:rPr lang="en-US" sz="2400" dirty="0" smtClean="0"/>
              <a:t>, running </a:t>
            </a:r>
            <a:r>
              <a:rPr lang="en-US" sz="2400" b="1" dirty="0" smtClean="0"/>
              <a:t>real kernel, switch and application code</a:t>
            </a:r>
            <a:r>
              <a:rPr lang="en-US" sz="2400" dirty="0" smtClean="0"/>
              <a:t>, on a single machine (VM, cloud or native), in seconds, with a single command: </a:t>
            </a:r>
          </a:p>
          <a:p>
            <a:endParaRPr lang="en-US" sz="2400" dirty="0" smtClean="0"/>
          </a:p>
          <a:p>
            <a:endParaRPr lang="en-US" sz="2400" dirty="0" smtClean="0"/>
          </a:p>
          <a:p>
            <a:endParaRPr lang="en-US" sz="2400" dirty="0" smtClean="0"/>
          </a:p>
          <a:p>
            <a:endParaRPr lang="en-US" sz="2400" dirty="0" smtClean="0"/>
          </a:p>
          <a:p>
            <a:r>
              <a:rPr lang="en-US" sz="2400" dirty="0" err="1" smtClean="0"/>
              <a:t>Mininet</a:t>
            </a:r>
            <a:r>
              <a:rPr lang="en-US" sz="2400" dirty="0" smtClean="0"/>
              <a:t> is also a great way to develop, share, and experiment with Software-Defined Networking (SDN) systems using </a:t>
            </a:r>
            <a:r>
              <a:rPr lang="en-US" sz="2400" dirty="0" err="1" smtClean="0"/>
              <a:t>OpenFlow</a:t>
            </a:r>
            <a:r>
              <a:rPr lang="en-US" sz="2400" dirty="0" smtClean="0"/>
              <a:t> and P4.</a:t>
            </a:r>
            <a:endParaRPr lang="en-US" sz="2400" dirty="0"/>
          </a:p>
        </p:txBody>
      </p:sp>
      <p:sp>
        <p:nvSpPr>
          <p:cNvPr id="2" name="Title 1"/>
          <p:cNvSpPr>
            <a:spLocks noGrp="1"/>
          </p:cNvSpPr>
          <p:nvPr>
            <p:ph type="title"/>
          </p:nvPr>
        </p:nvSpPr>
        <p:spPr/>
        <p:txBody>
          <a:bodyPr/>
          <a:lstStyle/>
          <a:p>
            <a:r>
              <a:rPr lang="en-US" dirty="0" err="1" smtClean="0"/>
              <a:t>Mininet</a:t>
            </a:r>
            <a:endParaRPr lang="en-US" dirty="0"/>
          </a:p>
        </p:txBody>
      </p:sp>
      <p:pic>
        <p:nvPicPr>
          <p:cNvPr id="1026" name="Picture 2" descr="https://mininet.org/images/frontpage_diagram.png"/>
          <p:cNvPicPr>
            <a:picLocks noChangeAspect="1" noChangeArrowheads="1"/>
          </p:cNvPicPr>
          <p:nvPr/>
        </p:nvPicPr>
        <p:blipFill>
          <a:blip r:embed="rId3" cstate="print"/>
          <a:srcRect/>
          <a:stretch>
            <a:fillRect/>
          </a:stretch>
        </p:blipFill>
        <p:spPr bwMode="auto">
          <a:xfrm>
            <a:off x="1676400" y="3505200"/>
            <a:ext cx="5495925" cy="1181101"/>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sz="2400" dirty="0" smtClean="0">
                <a:hlinkClick r:id="rId2"/>
              </a:rPr>
              <a:t>https://mininet.org/download/</a:t>
            </a:r>
            <a:endParaRPr lang="en-US" sz="2400" dirty="0" smtClean="0"/>
          </a:p>
          <a:p>
            <a:r>
              <a:rPr lang="en-US" sz="2400" dirty="0" smtClean="0"/>
              <a:t>Use VM.</a:t>
            </a:r>
          </a:p>
        </p:txBody>
      </p:sp>
      <p:sp>
        <p:nvSpPr>
          <p:cNvPr id="2" name="Title 1"/>
          <p:cNvSpPr>
            <a:spLocks noGrp="1"/>
          </p:cNvSpPr>
          <p:nvPr>
            <p:ph type="title"/>
          </p:nvPr>
        </p:nvSpPr>
        <p:spPr/>
        <p:txBody>
          <a:bodyPr/>
          <a:lstStyle/>
          <a:p>
            <a:pPr algn="l"/>
            <a:r>
              <a:rPr lang="en-US" dirty="0" smtClean="0"/>
              <a:t>1. Install </a:t>
            </a:r>
            <a:r>
              <a:rPr lang="en-US" dirty="0" err="1" smtClean="0"/>
              <a:t>mininet</a:t>
            </a:r>
            <a:r>
              <a:rPr lang="en-US" dirty="0" smtClean="0"/>
              <a:t> on </a:t>
            </a:r>
            <a:r>
              <a:rPr lang="en-US" dirty="0" err="1" smtClean="0"/>
              <a:t>Ubuntu</a:t>
            </a:r>
            <a:r>
              <a:rPr lang="en-US" dirty="0" smtClean="0"/>
              <a:t> 20.04</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idx="1"/>
          </p:nvPr>
        </p:nvSpPr>
        <p:spPr/>
        <p:txBody>
          <a:bodyPr/>
          <a:lstStyle/>
          <a:p>
            <a:r>
              <a:rPr lang="en-US" sz="2200" dirty="0" smtClean="0">
                <a:latin typeface="+mj-lt"/>
                <a:hlinkClick r:id="rId2"/>
              </a:rPr>
              <a:t>https://mininet.org/walkthrough/#interact-with-hosts-and-switches</a:t>
            </a:r>
            <a:endParaRPr lang="en-US" sz="2200" dirty="0" smtClean="0">
              <a:latin typeface="+mj-lt"/>
            </a:endParaRPr>
          </a:p>
          <a:p>
            <a:r>
              <a:rPr lang="en-US" sz="2600" dirty="0" err="1" smtClean="0">
                <a:latin typeface="Consolas" pitchFamily="49" charset="0"/>
              </a:rPr>
              <a:t>sudo</a:t>
            </a:r>
            <a:r>
              <a:rPr lang="en-US" sz="2600" dirty="0" smtClean="0">
                <a:latin typeface="Consolas" pitchFamily="49" charset="0"/>
              </a:rPr>
              <a:t> </a:t>
            </a:r>
            <a:r>
              <a:rPr lang="en-US" sz="2600" dirty="0" err="1" smtClean="0">
                <a:latin typeface="Consolas" pitchFamily="49" charset="0"/>
              </a:rPr>
              <a:t>mn</a:t>
            </a:r>
            <a:endParaRPr lang="en-US" sz="2600" dirty="0" smtClean="0">
              <a:latin typeface="Consolas" pitchFamily="49" charset="0"/>
            </a:endParaRPr>
          </a:p>
          <a:p>
            <a:pPr lvl="1"/>
            <a:r>
              <a:rPr lang="en-US" sz="2200" dirty="0" smtClean="0">
                <a:latin typeface="Consolas" pitchFamily="49" charset="0"/>
              </a:rPr>
              <a:t>nodes</a:t>
            </a:r>
          </a:p>
          <a:p>
            <a:pPr lvl="1"/>
            <a:r>
              <a:rPr lang="en-US" sz="2200" dirty="0" smtClean="0">
                <a:latin typeface="Consolas" pitchFamily="49" charset="0"/>
              </a:rPr>
              <a:t>net</a:t>
            </a:r>
          </a:p>
          <a:p>
            <a:pPr lvl="1"/>
            <a:r>
              <a:rPr lang="en-US" sz="2200" dirty="0" smtClean="0">
                <a:latin typeface="Consolas" pitchFamily="49" charset="0"/>
              </a:rPr>
              <a:t>dump</a:t>
            </a:r>
          </a:p>
          <a:p>
            <a:pPr lvl="1"/>
            <a:r>
              <a:rPr lang="en-US" sz="2200" dirty="0" smtClean="0">
                <a:latin typeface="Consolas" pitchFamily="49" charset="0"/>
              </a:rPr>
              <a:t>h1 </a:t>
            </a:r>
            <a:r>
              <a:rPr lang="en-US" sz="2200" dirty="0" err="1" smtClean="0">
                <a:latin typeface="Consolas" pitchFamily="49" charset="0"/>
              </a:rPr>
              <a:t>ifconfig</a:t>
            </a:r>
            <a:r>
              <a:rPr lang="en-US" sz="2200" dirty="0" smtClean="0">
                <a:latin typeface="Consolas" pitchFamily="49" charset="0"/>
              </a:rPr>
              <a:t> -a</a:t>
            </a:r>
          </a:p>
          <a:p>
            <a:pPr lvl="1"/>
            <a:r>
              <a:rPr lang="en-US" sz="2200" dirty="0" smtClean="0">
                <a:latin typeface="Consolas" pitchFamily="49" charset="0"/>
              </a:rPr>
              <a:t>s1 </a:t>
            </a:r>
            <a:r>
              <a:rPr lang="en-US" sz="2200" dirty="0" err="1" smtClean="0">
                <a:latin typeface="Consolas" pitchFamily="49" charset="0"/>
              </a:rPr>
              <a:t>ifconfig</a:t>
            </a:r>
            <a:r>
              <a:rPr lang="en-US" sz="2200" dirty="0" smtClean="0">
                <a:latin typeface="Consolas" pitchFamily="49" charset="0"/>
              </a:rPr>
              <a:t> -a</a:t>
            </a:r>
          </a:p>
          <a:p>
            <a:pPr lvl="1"/>
            <a:r>
              <a:rPr lang="pt-BR" sz="2200" dirty="0" smtClean="0">
                <a:latin typeface="Consolas" pitchFamily="49" charset="0"/>
              </a:rPr>
              <a:t>h1 ping -c 1 h2</a:t>
            </a:r>
            <a:endParaRPr lang="en-US" sz="2200" dirty="0">
              <a:latin typeface="Consolas" pitchFamily="49" charset="0"/>
            </a:endParaRPr>
          </a:p>
        </p:txBody>
      </p:sp>
      <p:sp>
        <p:nvSpPr>
          <p:cNvPr id="2" name="Title 1"/>
          <p:cNvSpPr>
            <a:spLocks noGrp="1"/>
          </p:cNvSpPr>
          <p:nvPr>
            <p:ph type="title"/>
          </p:nvPr>
        </p:nvSpPr>
        <p:spPr/>
        <p:txBody>
          <a:bodyPr/>
          <a:lstStyle/>
          <a:p>
            <a:pPr algn="l"/>
            <a:r>
              <a:rPr lang="en-US" dirty="0" smtClean="0"/>
              <a:t>2. Hello </a:t>
            </a:r>
            <a:r>
              <a:rPr lang="en-US" dirty="0" err="1" smtClean="0"/>
              <a:t>mininet</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US" dirty="0" smtClean="0"/>
              <a:t>Thank You &amp; See You Again</a:t>
            </a:r>
          </a:p>
        </p:txBody>
      </p:sp>
      <p:pic>
        <p:nvPicPr>
          <p:cNvPr id="5" name="Content Placeholder 4"/>
          <p:cNvPicPr>
            <a:picLocks noGrp="1" noChangeAspect="1" noChangeArrowheads="1"/>
          </p:cNvPicPr>
          <p:nvPr>
            <p:ph idx="1"/>
          </p:nvPr>
        </p:nvPicPr>
        <p:blipFill>
          <a:blip r:embed="rId2" cstate="print"/>
          <a:srcRect/>
          <a:stretch>
            <a:fillRect/>
          </a:stretch>
        </p:blipFill>
        <p:spPr>
          <a:xfrm>
            <a:off x="1143000" y="1676400"/>
            <a:ext cx="6810375" cy="4525963"/>
          </a:xfrm>
          <a:noFill/>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17770</TotalTime>
  <Words>428</Words>
  <Application>Microsoft Office PowerPoint</Application>
  <PresentationFormat>On-screen Show (4:3)</PresentationFormat>
  <Paragraphs>56</Paragraphs>
  <Slides>20</Slides>
  <Notes>1</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Software-Defined Networking</vt:lpstr>
      <vt:lpstr>Objectives</vt:lpstr>
      <vt:lpstr>Contents</vt:lpstr>
      <vt:lpstr>References</vt:lpstr>
      <vt:lpstr>The Need for Programmable Networks [1]</vt:lpstr>
      <vt:lpstr>Ethane Network [2]</vt:lpstr>
      <vt:lpstr>Idealized OpenFlow Switch [1]</vt:lpstr>
      <vt:lpstr>OpenFlow-enabled Commercial Switches and Routers</vt:lpstr>
      <vt:lpstr>Flow Table</vt:lpstr>
      <vt:lpstr>OpenFlow API</vt:lpstr>
      <vt:lpstr>Slide 11</vt:lpstr>
      <vt:lpstr>Software-Defined Networking [3]</vt:lpstr>
      <vt:lpstr>Traditional Networking vs. SDN</vt:lpstr>
      <vt:lpstr>Planes, Layers and Architecture</vt:lpstr>
      <vt:lpstr>OpenFlow-enabled SDN Devices</vt:lpstr>
      <vt:lpstr>Slide 16</vt:lpstr>
      <vt:lpstr>Mininet</vt:lpstr>
      <vt:lpstr>1. Install mininet on Ubuntu 20.04</vt:lpstr>
      <vt:lpstr>2. Hello mininet</vt:lpstr>
      <vt:lpstr>Thank You &amp; See You Again</vt:lpstr>
    </vt:vector>
  </TitlesOfParts>
  <Company>HuyBien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NgoHuyBien</dc:creator>
  <cp:lastModifiedBy>Ngo Huy Bien</cp:lastModifiedBy>
  <cp:revision>5039</cp:revision>
  <dcterms:created xsi:type="dcterms:W3CDTF">2007-10-06T08:25:13Z</dcterms:created>
  <dcterms:modified xsi:type="dcterms:W3CDTF">2025-11-09T20:40:00Z</dcterms:modified>
</cp:coreProperties>
</file>