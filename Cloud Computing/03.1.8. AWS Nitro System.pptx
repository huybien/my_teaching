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1"/>
  </p:notesMasterIdLst>
  <p:sldIdLst>
    <p:sldId id="584" r:id="rId2"/>
    <p:sldId id="585" r:id="rId3"/>
    <p:sldId id="586" r:id="rId4"/>
    <p:sldId id="587" r:id="rId5"/>
    <p:sldId id="716" r:id="rId6"/>
    <p:sldId id="717" r:id="rId7"/>
    <p:sldId id="718" r:id="rId8"/>
    <p:sldId id="719" r:id="rId9"/>
    <p:sldId id="720" r:id="rId10"/>
    <p:sldId id="721" r:id="rId11"/>
    <p:sldId id="766" r:id="rId12"/>
    <p:sldId id="722" r:id="rId13"/>
    <p:sldId id="723" r:id="rId14"/>
    <p:sldId id="725" r:id="rId15"/>
    <p:sldId id="726" r:id="rId16"/>
    <p:sldId id="724" r:id="rId17"/>
    <p:sldId id="558" r:id="rId18"/>
    <p:sldId id="560" r:id="rId19"/>
    <p:sldId id="561" r:id="rId20"/>
    <p:sldId id="762" r:id="rId21"/>
    <p:sldId id="761" r:id="rId22"/>
    <p:sldId id="763" r:id="rId23"/>
    <p:sldId id="571" r:id="rId24"/>
    <p:sldId id="707" r:id="rId25"/>
    <p:sldId id="562" r:id="rId26"/>
    <p:sldId id="568" r:id="rId27"/>
    <p:sldId id="567" r:id="rId28"/>
    <p:sldId id="572" r:id="rId29"/>
    <p:sldId id="440" r:id="rId3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58" autoAdjust="0"/>
    <p:restoredTop sz="94765" autoAdjust="0"/>
  </p:normalViewPr>
  <p:slideViewPr>
    <p:cSldViewPr>
      <p:cViewPr>
        <p:scale>
          <a:sx n="50" d="100"/>
          <a:sy n="50" d="100"/>
        </p:scale>
        <p:origin x="-164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62591D-F63A-4C87-988A-2A4399BE3C42}" type="datetimeFigureOut">
              <a:rPr lang="en-US" smtClean="0"/>
              <a:pPr/>
              <a:t>11/6/2025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B2649A-D532-4C46-8375-2DC4F09C0D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11/6/2025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11/6/2025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11/6/2025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11/6/2025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11/6/2025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11/6/2025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hbien@fit.hcmus.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aws.amazon.com/ec2/nitro/"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docs.aws.amazon.com/AWSEC2/latest/UserGuide/instance-types.html?icmpid=docs_ec2_consol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aws.amazon.com/ec2/pricing/on-demand/"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ws.amazon.com/ebs/pricing/" TargetMode="External"/><Relationship Id="rId2" Type="http://schemas.openxmlformats.org/officeDocument/2006/relationships/hyperlink" Target="https://aws.amazon.com/ec2/pricing/on-demand/"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docs.aws.amazon.com/AWSEC2/latest/UserGuide/ec2-instance-resize.html?icmpid=docs_ec2_console"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aws.amazon.com/about-aws/whats-new/2016/06/introducing-elastic-network-adapter-ena-the-next-generation-network-interface-for-ec2-instance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s3.amazonaws.com/ec2-windows-drivers-downloads/ENA/x64/2.2.3/AwsEnaNetworkDriver.zip" TargetMode="External"/><Relationship Id="rId2" Type="http://schemas.openxmlformats.org/officeDocument/2006/relationships/hyperlink" Target="https://docs.aws.amazon.com/AWSEC2/latest/WindowsGuide/enhanced-networking-ena.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AWS Nitro System</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3"/>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828800"/>
            <a:ext cx="5867400" cy="4191000"/>
          </a:xfrm>
        </p:spPr>
        <p:txBody>
          <a:bodyPr/>
          <a:lstStyle/>
          <a:p>
            <a:pPr marL="457200" indent="-457200">
              <a:buFont typeface="+mj-lt"/>
              <a:buAutoNum type="arabicPeriod"/>
            </a:pPr>
            <a:r>
              <a:rPr lang="en-US" sz="2200" dirty="0" smtClean="0"/>
              <a:t>Mark Wilkins (2019). Learning Amazon Web Services (AWS). Addison-Wesley Professional</a:t>
            </a:r>
            <a:r>
              <a:rPr lang="en-US" sz="2200" dirty="0" smtClean="0"/>
              <a:t>.</a:t>
            </a:r>
            <a:endParaRPr lang="en-US" sz="2200" dirty="0" smtClean="0"/>
          </a:p>
        </p:txBody>
      </p:sp>
      <p:pic>
        <p:nvPicPr>
          <p:cNvPr id="4" name="Picture 4" descr="http://2.bp.blogspot.com/-FqRM_5NQE6Q/TaSdzyWfvtI/AAAAAAAAAFg/C_2LDJWJOx4/s1600/books-pile.jpg"/>
          <p:cNvPicPr>
            <a:picLocks noChangeAspect="1" noChangeArrowheads="1"/>
          </p:cNvPicPr>
          <p:nvPr/>
        </p:nvPicPr>
        <p:blipFill>
          <a:blip r:embed="rId3" cstate="print"/>
          <a:srcRect/>
          <a:stretch>
            <a:fillRect/>
          </a:stretch>
        </p:blipFill>
        <p:spPr bwMode="auto">
          <a:xfrm>
            <a:off x="62674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AWS Initial Hypervisors </a:t>
            </a:r>
            <a:r>
              <a:rPr lang="en-US" dirty="0" smtClean="0"/>
              <a:t>[1]</a:t>
            </a:r>
            <a:endParaRPr lang="en-US" dirty="0"/>
          </a:p>
        </p:txBody>
      </p:sp>
      <p:sp>
        <p:nvSpPr>
          <p:cNvPr id="3" name="Content Placeholder 2"/>
          <p:cNvSpPr>
            <a:spLocks noGrp="1"/>
          </p:cNvSpPr>
          <p:nvPr>
            <p:ph idx="1"/>
          </p:nvPr>
        </p:nvSpPr>
        <p:spPr/>
        <p:txBody>
          <a:bodyPr/>
          <a:lstStyle/>
          <a:p>
            <a:r>
              <a:rPr lang="en-US" sz="2200" dirty="0" smtClean="0"/>
              <a:t>For many years, the standard answer for “what hypervisor does AWS deploy?” was a customized version of the </a:t>
            </a:r>
            <a:r>
              <a:rPr lang="en-US" sz="2200" dirty="0" err="1" smtClean="0"/>
              <a:t>Xen</a:t>
            </a:r>
            <a:r>
              <a:rPr lang="en-US" sz="2200" dirty="0" smtClean="0"/>
              <a:t> hypervisor.</a:t>
            </a:r>
          </a:p>
          <a:p>
            <a:r>
              <a:rPr lang="en-US" sz="2200" dirty="0" smtClean="0"/>
              <a:t>Initial versions offered </a:t>
            </a:r>
            <a:r>
              <a:rPr lang="en-US" sz="2200" dirty="0" err="1" smtClean="0"/>
              <a:t>Xen</a:t>
            </a:r>
            <a:r>
              <a:rPr lang="en-US" sz="2200" dirty="0" smtClean="0"/>
              <a:t> </a:t>
            </a:r>
            <a:r>
              <a:rPr lang="en-US" sz="2200" dirty="0" err="1" smtClean="0"/>
              <a:t>paravirtualization</a:t>
            </a:r>
            <a:r>
              <a:rPr lang="en-US" sz="2200" dirty="0" smtClean="0"/>
              <a:t> for the Linux operating system and, over time, the hardware virtual machine (HVM) for support of the Windows operating system.</a:t>
            </a:r>
          </a:p>
          <a:p>
            <a:r>
              <a:rPr lang="en-US" sz="2200" dirty="0" smtClean="0"/>
              <a:t>EC2 instances running Windows were initially hosted differently from Linux using the previously mentioned HVM.</a:t>
            </a:r>
          </a:p>
          <a:p>
            <a:r>
              <a:rPr lang="en-US" sz="2200" dirty="0" err="1" smtClean="0"/>
              <a:t>Paravirtualization</a:t>
            </a:r>
            <a:r>
              <a:rPr lang="en-US" sz="2200" dirty="0" smtClean="0"/>
              <a:t> was possible with Linux because it was an open source operating system.</a:t>
            </a:r>
          </a:p>
          <a:p>
            <a:r>
              <a:rPr lang="en-US" sz="2200" dirty="0" smtClean="0"/>
              <a:t>On the other hand, Windows remains a closed operating system; therefore, </a:t>
            </a:r>
            <a:r>
              <a:rPr lang="en-US" sz="2200" dirty="0" err="1" smtClean="0"/>
              <a:t>paravirtualization</a:t>
            </a:r>
            <a:r>
              <a:rPr lang="en-US" sz="2200" dirty="0" smtClean="0"/>
              <a:t> is not possible with Windows EC2 instances.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PVHVM</a:t>
            </a:r>
            <a:endParaRPr lang="en-US" dirty="0"/>
          </a:p>
        </p:txBody>
      </p:sp>
      <p:sp>
        <p:nvSpPr>
          <p:cNvPr id="3" name="Content Placeholder 2"/>
          <p:cNvSpPr>
            <a:spLocks noGrp="1"/>
          </p:cNvSpPr>
          <p:nvPr>
            <p:ph idx="1"/>
          </p:nvPr>
        </p:nvSpPr>
        <p:spPr/>
        <p:txBody>
          <a:bodyPr/>
          <a:lstStyle/>
          <a:p>
            <a:r>
              <a:rPr lang="en-US" sz="2400" dirty="0" smtClean="0"/>
              <a:t>In 2012, the customized version of </a:t>
            </a:r>
            <a:r>
              <a:rPr lang="en-US" sz="2400" dirty="0" err="1" smtClean="0"/>
              <a:t>Xen</a:t>
            </a:r>
            <a:r>
              <a:rPr lang="en-US" sz="2400" dirty="0" smtClean="0"/>
              <a:t> used by AWS ran in a hybrid model that installed on Intel processors equipped with hardware virtualization (VT-x).</a:t>
            </a:r>
          </a:p>
          <a:p>
            <a:r>
              <a:rPr lang="en-US" sz="2400" dirty="0" smtClean="0"/>
              <a:t>These processors offered faster CPU and memory access.</a:t>
            </a:r>
          </a:p>
          <a:p>
            <a:r>
              <a:rPr lang="en-US" sz="2400" dirty="0" smtClean="0"/>
              <a:t>They also used </a:t>
            </a:r>
            <a:r>
              <a:rPr lang="en-US" sz="2400" dirty="0" err="1" smtClean="0"/>
              <a:t>paravirtualized</a:t>
            </a:r>
            <a:r>
              <a:rPr lang="en-US" sz="2400" dirty="0" smtClean="0"/>
              <a:t> drivers to access the network and storage devices as quickly as possible.</a:t>
            </a:r>
          </a:p>
          <a:p>
            <a:r>
              <a:rPr lang="en-US" sz="2400" dirty="0" smtClean="0"/>
              <a:t>These two separate virtualization features were beginning to be combined in a hybrid model called PVHVM (</a:t>
            </a:r>
            <a:r>
              <a:rPr lang="en-US" sz="2400" dirty="0" err="1" smtClean="0"/>
              <a:t>paravirtualization</a:t>
            </a:r>
            <a:r>
              <a:rPr lang="en-US" sz="2400" dirty="0" smtClean="0"/>
              <a:t> and hardware-assisted virtualization technology combined).</a:t>
            </a:r>
          </a:p>
          <a:p>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2013 </a:t>
            </a:r>
            <a:r>
              <a:rPr lang="en-US" dirty="0" err="1" smtClean="0"/>
              <a:t>Xen</a:t>
            </a:r>
            <a:r>
              <a:rPr lang="en-US" dirty="0" smtClean="0"/>
              <a:t> Hypervisor</a:t>
            </a:r>
            <a:endParaRPr lang="en-US" dirty="0"/>
          </a:p>
        </p:txBody>
      </p:sp>
      <p:sp>
        <p:nvSpPr>
          <p:cNvPr id="3" name="Content Placeholder 2"/>
          <p:cNvSpPr>
            <a:spLocks noGrp="1"/>
          </p:cNvSpPr>
          <p:nvPr>
            <p:ph idx="1"/>
          </p:nvPr>
        </p:nvSpPr>
        <p:spPr/>
        <p:txBody>
          <a:bodyPr/>
          <a:lstStyle/>
          <a:p>
            <a:r>
              <a:rPr lang="en-US" sz="2400" dirty="0" smtClean="0"/>
              <a:t>At the start of 2013, the </a:t>
            </a:r>
            <a:r>
              <a:rPr lang="en-US" sz="2400" dirty="0" err="1" smtClean="0"/>
              <a:t>Xen</a:t>
            </a:r>
            <a:r>
              <a:rPr lang="en-US" sz="2400" dirty="0" smtClean="0"/>
              <a:t> hypervisor supported a combination of PVHVM drivers and hardware virtualization for the network interfaces called single-route I/O virtualization (SR-IOV).</a:t>
            </a:r>
          </a:p>
          <a:p>
            <a:r>
              <a:rPr lang="en-US" sz="2400" dirty="0" smtClean="0"/>
              <a:t>Several EC2 instances also began to offer support for enhanced networking, using SR-IOV, which offered initial speeds of 10 </a:t>
            </a:r>
            <a:r>
              <a:rPr lang="en-US" sz="2400" dirty="0" err="1" smtClean="0"/>
              <a:t>Gbps</a:t>
            </a:r>
            <a:r>
              <a:rPr lang="en-US" sz="2400" dirty="0" smtClean="0"/>
              <a:t>.</a:t>
            </a:r>
          </a:p>
          <a:p>
            <a:r>
              <a:rPr lang="en-US" sz="2400" dirty="0" smtClean="0"/>
              <a:t>Today speeds can reach 25 </a:t>
            </a:r>
            <a:r>
              <a:rPr lang="en-US" sz="2400" dirty="0" err="1" smtClean="0"/>
              <a:t>Gbps</a:t>
            </a:r>
            <a:r>
              <a:rPr lang="en-US" sz="2400" dirty="0" smtClean="0"/>
              <a:t>, or 100 </a:t>
            </a:r>
            <a:r>
              <a:rPr lang="en-US" sz="2400" dirty="0" err="1" smtClean="0"/>
              <a:t>Gbps</a:t>
            </a:r>
            <a:r>
              <a:rPr lang="en-US" sz="2400" dirty="0" smtClean="0"/>
              <a:t> with GPU instances.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C4 Instance</a:t>
            </a:r>
            <a:endParaRPr lang="en-US" dirty="0"/>
          </a:p>
        </p:txBody>
      </p:sp>
      <p:sp>
        <p:nvSpPr>
          <p:cNvPr id="3" name="Content Placeholder 2"/>
          <p:cNvSpPr>
            <a:spLocks noGrp="1"/>
          </p:cNvSpPr>
          <p:nvPr>
            <p:ph idx="1"/>
          </p:nvPr>
        </p:nvSpPr>
        <p:spPr/>
        <p:txBody>
          <a:bodyPr/>
          <a:lstStyle/>
          <a:p>
            <a:r>
              <a:rPr lang="en-US" sz="2000" dirty="0" smtClean="0"/>
              <a:t>AWS introduced the C4 instance in 2015. Amazon had been working with a startup company called Annapurna Labs, which created custom semiconductor circuits; it is now an AWS company.</a:t>
            </a:r>
          </a:p>
          <a:p>
            <a:r>
              <a:rPr lang="en-US" sz="2000" dirty="0" smtClean="0"/>
              <a:t>The C4 instance that used the custom chipsets designed with Annapurna offered such a high level of storage and network performance that EBS-optimized volumes were offered by default at no additional charge.</a:t>
            </a:r>
            <a:endParaRPr lang="en-US" sz="2000" dirty="0"/>
          </a:p>
        </p:txBody>
      </p:sp>
      <p:pic>
        <p:nvPicPr>
          <p:cNvPr id="2050" name="Picture 2"/>
          <p:cNvPicPr>
            <a:picLocks noChangeAspect="1" noChangeArrowheads="1"/>
          </p:cNvPicPr>
          <p:nvPr/>
        </p:nvPicPr>
        <p:blipFill>
          <a:blip r:embed="rId2" cstate="print"/>
          <a:srcRect/>
          <a:stretch>
            <a:fillRect/>
          </a:stretch>
        </p:blipFill>
        <p:spPr bwMode="auto">
          <a:xfrm>
            <a:off x="1800225" y="3740150"/>
            <a:ext cx="5543550" cy="266065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X1 Instance</a:t>
            </a:r>
            <a:endParaRPr lang="en-US" dirty="0"/>
          </a:p>
        </p:txBody>
      </p:sp>
      <p:sp>
        <p:nvSpPr>
          <p:cNvPr id="3" name="Content Placeholder 2"/>
          <p:cNvSpPr>
            <a:spLocks noGrp="1"/>
          </p:cNvSpPr>
          <p:nvPr>
            <p:ph idx="1"/>
          </p:nvPr>
        </p:nvSpPr>
        <p:spPr/>
        <p:txBody>
          <a:bodyPr/>
          <a:lstStyle/>
          <a:p>
            <a:r>
              <a:rPr lang="en-US" sz="2400" dirty="0" smtClean="0"/>
              <a:t>The X1 instance was released with 128 virtual CPUs (</a:t>
            </a:r>
            <a:r>
              <a:rPr lang="en-US" sz="2400" dirty="0" err="1" smtClean="0"/>
              <a:t>vCPUs</a:t>
            </a:r>
            <a:r>
              <a:rPr lang="en-US" sz="2400" dirty="0" smtClean="0"/>
              <a:t>) and 2 TB of memory in 2016.</a:t>
            </a:r>
          </a:p>
          <a:p>
            <a:r>
              <a:rPr lang="en-US" sz="2400" dirty="0" smtClean="0"/>
              <a:t>Custom chipsets allowed access to the high-speed instance storage.</a:t>
            </a:r>
          </a:p>
          <a:p>
            <a:r>
              <a:rPr lang="en-US" sz="2400" dirty="0" smtClean="0"/>
              <a:t>An enhanced networking interface that had been specifically designed for EC2 instances was also introduced.</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C5 Instance</a:t>
            </a:r>
            <a:endParaRPr lang="en-US" dirty="0"/>
          </a:p>
        </p:txBody>
      </p:sp>
      <p:sp>
        <p:nvSpPr>
          <p:cNvPr id="3" name="Content Placeholder 2"/>
          <p:cNvSpPr>
            <a:spLocks noGrp="1"/>
          </p:cNvSpPr>
          <p:nvPr>
            <p:ph idx="1"/>
          </p:nvPr>
        </p:nvSpPr>
        <p:spPr/>
        <p:txBody>
          <a:bodyPr/>
          <a:lstStyle/>
          <a:p>
            <a:r>
              <a:rPr lang="en-US" sz="2000" dirty="0" smtClean="0"/>
              <a:t>The next task AWS carried out was replacing the </a:t>
            </a:r>
            <a:r>
              <a:rPr lang="en-US" sz="2000" dirty="0" err="1" smtClean="0"/>
              <a:t>Xen</a:t>
            </a:r>
            <a:r>
              <a:rPr lang="en-US" sz="2000" dirty="0" smtClean="0"/>
              <a:t> hypervisor with a new lightweight hypervisor called Nitro.</a:t>
            </a:r>
          </a:p>
          <a:p>
            <a:r>
              <a:rPr lang="en-US" sz="2000" dirty="0" smtClean="0"/>
              <a:t>The C5 instance launched in 2017. It was deployed using the Nitro hypervisor and offloaded the networking, storage, and management tasks such as encryption duties to hardware, greatly reducing the duties of the hypervisor and increasing the speed at which operations were carried out.</a:t>
            </a:r>
            <a:endParaRPr lang="en-US" sz="2000" dirty="0"/>
          </a:p>
        </p:txBody>
      </p:sp>
      <p:pic>
        <p:nvPicPr>
          <p:cNvPr id="1026" name="Picture 2"/>
          <p:cNvPicPr>
            <a:picLocks noChangeAspect="1" noChangeArrowheads="1"/>
          </p:cNvPicPr>
          <p:nvPr/>
        </p:nvPicPr>
        <p:blipFill>
          <a:blip r:embed="rId2" cstate="print"/>
          <a:srcRect/>
          <a:stretch>
            <a:fillRect/>
          </a:stretch>
        </p:blipFill>
        <p:spPr bwMode="auto">
          <a:xfrm>
            <a:off x="1779588" y="3778250"/>
            <a:ext cx="5584825" cy="26987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Nitro System</a:t>
            </a:r>
            <a:endParaRPr lang="en-US" dirty="0"/>
          </a:p>
        </p:txBody>
      </p:sp>
      <p:sp>
        <p:nvSpPr>
          <p:cNvPr id="3" name="Content Placeholder 2"/>
          <p:cNvSpPr>
            <a:spLocks noGrp="1"/>
          </p:cNvSpPr>
          <p:nvPr>
            <p:ph idx="1"/>
          </p:nvPr>
        </p:nvSpPr>
        <p:spPr/>
        <p:txBody>
          <a:bodyPr/>
          <a:lstStyle/>
          <a:p>
            <a:r>
              <a:rPr lang="en-US" sz="2200" dirty="0" smtClean="0"/>
              <a:t>In 2017, the new Nitro hypervisor was launched.</a:t>
            </a:r>
          </a:p>
          <a:p>
            <a:r>
              <a:rPr lang="en-US" sz="2200" dirty="0" smtClean="0"/>
              <a:t>As mentioned, the heart of the Nitro hypervisor uses just the </a:t>
            </a:r>
            <a:r>
              <a:rPr lang="en-US" sz="2200" i="1" dirty="0" smtClean="0">
                <a:solidFill>
                  <a:srgbClr val="C00000"/>
                </a:solidFill>
              </a:rPr>
              <a:t>KVM core kernel</a:t>
            </a:r>
            <a:r>
              <a:rPr lang="en-US" sz="2200" dirty="0" smtClean="0"/>
              <a:t> and a streamlined virtual machine manager (VMM).</a:t>
            </a:r>
          </a:p>
          <a:p>
            <a:r>
              <a:rPr lang="en-US" sz="2200" dirty="0" smtClean="0"/>
              <a:t>Older KVM emulation components such as QEMU are </a:t>
            </a:r>
            <a:r>
              <a:rPr lang="en-US" sz="2200" i="1" dirty="0" smtClean="0">
                <a:solidFill>
                  <a:srgbClr val="C00000"/>
                </a:solidFill>
              </a:rPr>
              <a:t>not used</a:t>
            </a:r>
            <a:r>
              <a:rPr lang="en-US" sz="2200" dirty="0" smtClean="0"/>
              <a:t>.</a:t>
            </a:r>
          </a:p>
          <a:p>
            <a:r>
              <a:rPr lang="en-US" sz="2200" dirty="0" smtClean="0"/>
              <a:t>The term direct metal access has been coined by AWS providing the performance equivalent of a </a:t>
            </a:r>
            <a:r>
              <a:rPr lang="en-US" sz="2200" i="1" dirty="0" smtClean="0">
                <a:solidFill>
                  <a:srgbClr val="C00000"/>
                </a:solidFill>
              </a:rPr>
              <a:t>bare-metal server</a:t>
            </a:r>
            <a:r>
              <a:rPr lang="en-US" sz="2200" dirty="0" smtClean="0"/>
              <a:t>.</a:t>
            </a:r>
          </a:p>
          <a:p>
            <a:r>
              <a:rPr lang="en-US" sz="2200" dirty="0" smtClean="0"/>
              <a:t>To achieve this goal, </a:t>
            </a:r>
            <a:r>
              <a:rPr lang="en-US" sz="2200" b="1" dirty="0" smtClean="0"/>
              <a:t>AWS designed custom silicon chipsets</a:t>
            </a:r>
            <a:r>
              <a:rPr lang="en-US" sz="2200" dirty="0" smtClean="0"/>
              <a:t> that use hardware processes for faster access to storage, networking, interrupts, and carrying out security processes such as encryption.</a:t>
            </a:r>
          </a:p>
          <a:p>
            <a:r>
              <a:rPr lang="en-US" sz="2200" dirty="0" smtClean="0"/>
              <a:t>Over time, Nitro will be the only hypervisor used at AWS, except for the AWS i3.metal instances, which don’t use a hypervisor but are still called instances.</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Nitro System Components</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Local </a:t>
            </a:r>
            <a:r>
              <a:rPr lang="en-US" sz="2200" i="1" dirty="0" err="1" smtClean="0">
                <a:solidFill>
                  <a:srgbClr val="C00000"/>
                </a:solidFill>
              </a:rPr>
              <a:t>NVMe</a:t>
            </a:r>
            <a:r>
              <a:rPr lang="en-US" sz="2200" i="1" dirty="0" smtClean="0">
                <a:solidFill>
                  <a:srgbClr val="C00000"/>
                </a:solidFill>
              </a:rPr>
              <a:t> Storage</a:t>
            </a:r>
            <a:r>
              <a:rPr lang="en-US" sz="2200" dirty="0" smtClean="0"/>
              <a:t>—Custom chipsets provide direct access to high-speed local storage over a Peripheral Component Interconnect (PCI) interface connection, a standard used to connect EC2 instances to the local block storage.</a:t>
            </a:r>
          </a:p>
          <a:p>
            <a:r>
              <a:rPr lang="en-US" sz="2200" i="1" dirty="0" smtClean="0">
                <a:solidFill>
                  <a:srgbClr val="C00000"/>
                </a:solidFill>
              </a:rPr>
              <a:t>Nitro Security Chip</a:t>
            </a:r>
            <a:r>
              <a:rPr lang="en-US" sz="2200" dirty="0" smtClean="0"/>
              <a:t>—The main component handling security in this design is the Nitro security chip, which, if you’re familiar with Intel TXT, is carrying out many of the same security functions: protecting the system’s boot process, and monitoring and approving or denying instance request calls for access to the storage resources.</a:t>
            </a:r>
          </a:p>
          <a:p>
            <a:r>
              <a:rPr lang="en-US" sz="2200" i="1" dirty="0" smtClean="0">
                <a:solidFill>
                  <a:srgbClr val="C00000"/>
                </a:solidFill>
              </a:rPr>
              <a:t>Nitro Networking</a:t>
            </a:r>
            <a:r>
              <a:rPr lang="en-US" sz="2200" dirty="0" smtClean="0"/>
              <a:t>—Hardware-level networking supports the mapping service for the virtual private cloud (VPC), enhanced networking, and the elastic networking adapter (ENA).</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EC2 Instances (I)</a:t>
            </a:r>
            <a:endParaRPr lang="en-US" dirty="0"/>
          </a:p>
        </p:txBody>
      </p:sp>
      <p:sp>
        <p:nvSpPr>
          <p:cNvPr id="3" name="Content Placeholder 2"/>
          <p:cNvSpPr>
            <a:spLocks noGrp="1"/>
          </p:cNvSpPr>
          <p:nvPr>
            <p:ph idx="1"/>
          </p:nvPr>
        </p:nvSpPr>
        <p:spPr/>
        <p:txBody>
          <a:bodyPr/>
          <a:lstStyle/>
          <a:p>
            <a:r>
              <a:rPr lang="en-US" sz="2200" dirty="0" smtClean="0"/>
              <a:t>At AWS, virtual servers are called Elastic Compute Cloud (EC2) instances.</a:t>
            </a:r>
          </a:p>
          <a:p>
            <a:r>
              <a:rPr lang="en-US" sz="2200" dirty="0" smtClean="0"/>
              <a:t>At the most basic level, each instance is a virtual server running a version of Windows or Linux.</a:t>
            </a:r>
          </a:p>
          <a:p>
            <a:r>
              <a:rPr lang="en-US" sz="2200" dirty="0" smtClean="0"/>
              <a:t>Instances run as a guest operating system hosted by the hypervisor, which in turn is directly installed on a bare-metal server.</a:t>
            </a:r>
          </a:p>
          <a:p>
            <a:r>
              <a:rPr lang="en-US" sz="2200" i="1" dirty="0" smtClean="0">
                <a:solidFill>
                  <a:srgbClr val="C00000"/>
                </a:solidFill>
              </a:rPr>
              <a:t>General-Purpose Instances</a:t>
            </a:r>
            <a:r>
              <a:rPr lang="en-US" sz="2200" dirty="0" smtClean="0"/>
              <a:t> (m4, m5): the underlying concept for a general-purpose instance is to provide </a:t>
            </a:r>
            <a:r>
              <a:rPr lang="en-US" sz="2200" u="sng" dirty="0" smtClean="0"/>
              <a:t>a baseline</a:t>
            </a:r>
            <a:r>
              <a:rPr lang="en-US" sz="2200" dirty="0" smtClean="0"/>
              <a:t> of CPU processing, network, and storage.</a:t>
            </a:r>
          </a:p>
          <a:p>
            <a:r>
              <a:rPr lang="en-US" sz="2200" dirty="0" smtClean="0"/>
              <a:t>Some general-purpose models, such as T2 and T3 instances, are designed with the ability to burst above an initial assigned CPU baseline of performance.</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EC2 Instances (II)</a:t>
            </a:r>
            <a:endParaRPr lang="en-US" dirty="0"/>
          </a:p>
        </p:txBody>
      </p:sp>
      <p:sp>
        <p:nvSpPr>
          <p:cNvPr id="3" name="Content Placeholder 2"/>
          <p:cNvSpPr>
            <a:spLocks noGrp="1"/>
          </p:cNvSpPr>
          <p:nvPr>
            <p:ph idx="1"/>
          </p:nvPr>
        </p:nvSpPr>
        <p:spPr/>
        <p:txBody>
          <a:bodyPr/>
          <a:lstStyle/>
          <a:p>
            <a:r>
              <a:rPr lang="en-US" sz="2400" dirty="0" smtClean="0"/>
              <a:t>Compute-optimized instances (C4, C5) are designed for batch processing workloads, media </a:t>
            </a:r>
            <a:r>
              <a:rPr lang="en-US" sz="2400" dirty="0" err="1" smtClean="0"/>
              <a:t>transcoding</a:t>
            </a:r>
            <a:r>
              <a:rPr lang="en-US" sz="2400" dirty="0" smtClean="0"/>
              <a:t>, and high-performance applications or Web servers.</a:t>
            </a:r>
          </a:p>
          <a:p>
            <a:r>
              <a:rPr lang="en-US" sz="2400" dirty="0" smtClean="0"/>
              <a:t>Workloads that need to process vast data sets hosted in memory, such as </a:t>
            </a:r>
            <a:r>
              <a:rPr lang="en-US" sz="2400" dirty="0" err="1" smtClean="0"/>
              <a:t>MySQL</a:t>
            </a:r>
            <a:r>
              <a:rPr lang="en-US" sz="2400" dirty="0" smtClean="0"/>
              <a:t> and </a:t>
            </a:r>
            <a:r>
              <a:rPr lang="en-US" sz="2400" dirty="0" err="1" smtClean="0"/>
              <a:t>NoSQL</a:t>
            </a:r>
            <a:r>
              <a:rPr lang="en-US" sz="2400" dirty="0" smtClean="0"/>
              <a:t> databases, or </a:t>
            </a:r>
            <a:r>
              <a:rPr lang="en-US" sz="2400" dirty="0" err="1" smtClean="0"/>
              <a:t>Memcached</a:t>
            </a:r>
            <a:r>
              <a:rPr lang="en-US" sz="2400" dirty="0" smtClean="0"/>
              <a:t> and </a:t>
            </a:r>
            <a:r>
              <a:rPr lang="en-US" sz="2400" dirty="0" err="1" smtClean="0"/>
              <a:t>Redis</a:t>
            </a:r>
            <a:r>
              <a:rPr lang="en-US" sz="2400" dirty="0" smtClean="0"/>
              <a:t> in-memory cache stores, should use a memory-optimized instance (r4, r5, x1).</a:t>
            </a:r>
          </a:p>
          <a:p>
            <a:r>
              <a:rPr lang="en-US" sz="2400" dirty="0" smtClean="0"/>
              <a:t>Storage-optimized instances (h1, d2, i3) are designed for workloads that require local SSD storage for large data sets.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AWS Nitro System</a:t>
            </a:r>
            <a:endParaRPr lang="en-US" dirty="0"/>
          </a:p>
        </p:txBody>
      </p:sp>
      <p:sp>
        <p:nvSpPr>
          <p:cNvPr id="3" name="Content Placeholder 2"/>
          <p:cNvSpPr>
            <a:spLocks noGrp="1"/>
          </p:cNvSpPr>
          <p:nvPr>
            <p:ph idx="1"/>
          </p:nvPr>
        </p:nvSpPr>
        <p:spPr/>
        <p:txBody>
          <a:bodyPr/>
          <a:lstStyle/>
          <a:p>
            <a:r>
              <a:rPr lang="en-US" sz="2400" dirty="0" smtClean="0">
                <a:hlinkClick r:id="rId2"/>
              </a:rPr>
              <a:t>https://aws.amazon.com/ec2/nitro/</a:t>
            </a:r>
            <a:endParaRPr lang="en-US" sz="2400" dirty="0" smtClean="0"/>
          </a:p>
          <a:p>
            <a:r>
              <a:rPr lang="en-US" sz="2400" dirty="0" smtClean="0"/>
              <a:t>Traditionally, </a:t>
            </a:r>
            <a:r>
              <a:rPr lang="en-US" sz="2400" i="1" dirty="0" smtClean="0">
                <a:solidFill>
                  <a:srgbClr val="C00000"/>
                </a:solidFill>
              </a:rPr>
              <a:t>hypervisors</a:t>
            </a:r>
            <a:r>
              <a:rPr lang="en-US" sz="2400" dirty="0" smtClean="0"/>
              <a:t> protect the physical hardware and bios, </a:t>
            </a:r>
            <a:r>
              <a:rPr lang="en-US" sz="2400" dirty="0" err="1" smtClean="0"/>
              <a:t>virtualize</a:t>
            </a:r>
            <a:r>
              <a:rPr lang="en-US" sz="2400" dirty="0" smtClean="0"/>
              <a:t> the CPU, storage, networking, and provide a rich set of management capabilities.</a:t>
            </a:r>
          </a:p>
          <a:p>
            <a:r>
              <a:rPr lang="en-US" sz="2400" dirty="0" smtClean="0"/>
              <a:t>With the </a:t>
            </a:r>
            <a:r>
              <a:rPr lang="en-US" sz="2400" i="1" dirty="0" smtClean="0">
                <a:solidFill>
                  <a:srgbClr val="C00000"/>
                </a:solidFill>
              </a:rPr>
              <a:t>Nitro System</a:t>
            </a:r>
            <a:r>
              <a:rPr lang="en-US" sz="2400" dirty="0" smtClean="0"/>
              <a:t>, we are able to </a:t>
            </a:r>
            <a:r>
              <a:rPr lang="en-US" sz="2400" u="sng" dirty="0" smtClean="0"/>
              <a:t>break apart those functions</a:t>
            </a:r>
            <a:r>
              <a:rPr lang="en-US" sz="2400" dirty="0" smtClean="0"/>
              <a:t>, </a:t>
            </a:r>
            <a:r>
              <a:rPr lang="en-US" sz="2400" u="sng" dirty="0" smtClean="0"/>
              <a:t>offload them</a:t>
            </a:r>
            <a:r>
              <a:rPr lang="en-US" sz="2400" dirty="0" smtClean="0"/>
              <a:t> to </a:t>
            </a:r>
            <a:r>
              <a:rPr lang="en-US" sz="2400" u="sng" dirty="0" smtClean="0"/>
              <a:t>dedicated hardware and software</a:t>
            </a:r>
            <a:r>
              <a:rPr lang="en-US" sz="2400" dirty="0" smtClean="0"/>
              <a:t>, and </a:t>
            </a:r>
            <a:r>
              <a:rPr lang="en-US" sz="2400" u="sng" dirty="0" smtClean="0"/>
              <a:t>reduce costs</a:t>
            </a:r>
            <a:r>
              <a:rPr lang="en-US" sz="2400" dirty="0" smtClean="0"/>
              <a:t> by delivering practically all of the resources of a server to your instances.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Nitro System Instance Types</a:t>
            </a:r>
            <a:endParaRPr lang="en-US" dirty="0"/>
          </a:p>
        </p:txBody>
      </p:sp>
      <p:sp>
        <p:nvSpPr>
          <p:cNvPr id="3" name="Content Placeholder 2"/>
          <p:cNvSpPr>
            <a:spLocks noGrp="1"/>
          </p:cNvSpPr>
          <p:nvPr>
            <p:ph idx="1"/>
          </p:nvPr>
        </p:nvSpPr>
        <p:spPr/>
        <p:txBody>
          <a:bodyPr/>
          <a:lstStyle/>
          <a:p>
            <a:r>
              <a:rPr lang="en-US" sz="2200" dirty="0" smtClean="0">
                <a:hlinkClick r:id="rId2"/>
              </a:rPr>
              <a:t>https://docs.aws.amazon.com/AWSEC2/latest/UserGuide/instance-types.html?icmpid=docs_ec2_console#ec2-nitro-instances</a:t>
            </a:r>
            <a:endParaRPr lang="en-US" sz="2200" dirty="0" smtClean="0"/>
          </a:p>
          <a:p>
            <a:r>
              <a:rPr lang="en-US" sz="2400" dirty="0" smtClean="0"/>
              <a:t>The following instances are built on the Nitro System:</a:t>
            </a:r>
          </a:p>
          <a:p>
            <a:r>
              <a:rPr lang="en-US" sz="2400" b="1" dirty="0" smtClean="0"/>
              <a:t>Virtualized</a:t>
            </a:r>
            <a:r>
              <a:rPr lang="en-US" sz="2400" dirty="0" smtClean="0"/>
              <a:t>: A1, C5, C5a, …, </a:t>
            </a:r>
            <a:r>
              <a:rPr lang="en-US" sz="2400" b="1" dirty="0" smtClean="0"/>
              <a:t>T3, T3a</a:t>
            </a:r>
            <a:r>
              <a:rPr lang="en-US" sz="2400" dirty="0" smtClean="0"/>
              <a:t>, T4g, high memory (u-*), VT1, X2gd, and z1d</a:t>
            </a:r>
          </a:p>
          <a:p>
            <a:r>
              <a:rPr lang="en-US" sz="2400" b="1" dirty="0" smtClean="0"/>
              <a:t>Bare metal</a:t>
            </a:r>
            <a:r>
              <a:rPr lang="en-US" sz="2400" dirty="0" smtClean="0"/>
              <a:t>: a1.metal, c5.metal, c5d.metal, …, x2gd.metal, and z1d.metal</a:t>
            </a:r>
          </a:p>
          <a:p>
            <a:endParaRPr lang="en-US" sz="2400" dirty="0" smtClean="0"/>
          </a:p>
          <a:p>
            <a:r>
              <a:rPr lang="en-US" sz="2400" i="1" dirty="0" smtClean="0"/>
              <a:t>Both T3 and T3a instances offer the same configuration, CPU credits and network performance. The only difference is that T3 uses Intel processor while T3a uses AMD processor.</a:t>
            </a:r>
          </a:p>
          <a:p>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Instance Types Pricing</a:t>
            </a:r>
            <a:endParaRPr lang="en-US" dirty="0"/>
          </a:p>
        </p:txBody>
      </p:sp>
      <p:sp>
        <p:nvSpPr>
          <p:cNvPr id="3" name="Content Placeholder 2"/>
          <p:cNvSpPr>
            <a:spLocks noGrp="1"/>
          </p:cNvSpPr>
          <p:nvPr>
            <p:ph idx="1"/>
          </p:nvPr>
        </p:nvSpPr>
        <p:spPr/>
        <p:txBody>
          <a:bodyPr/>
          <a:lstStyle/>
          <a:p>
            <a:r>
              <a:rPr lang="en-US" sz="2200" dirty="0" smtClean="0">
                <a:hlinkClick r:id="rId2"/>
              </a:rPr>
              <a:t>https://aws.amazon.com/ec2/pricing/on-demand/</a:t>
            </a:r>
            <a:endParaRPr lang="en-US" sz="2200" dirty="0" smtClean="0"/>
          </a:p>
          <a:p>
            <a:endParaRPr lang="en-US" sz="2200" dirty="0"/>
          </a:p>
        </p:txBody>
      </p:sp>
      <p:pic>
        <p:nvPicPr>
          <p:cNvPr id="1028" name="Picture 4"/>
          <p:cNvPicPr>
            <a:picLocks noChangeAspect="1" noChangeArrowheads="1"/>
          </p:cNvPicPr>
          <p:nvPr/>
        </p:nvPicPr>
        <p:blipFill>
          <a:blip r:embed="rId3" cstate="print"/>
          <a:srcRect/>
          <a:stretch>
            <a:fillRect/>
          </a:stretch>
        </p:blipFill>
        <p:spPr bwMode="auto">
          <a:xfrm>
            <a:off x="914744" y="2422429"/>
            <a:ext cx="7238656" cy="3673571"/>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Estimate Migration Cost</a:t>
            </a:r>
            <a:endParaRPr lang="en-US" dirty="0"/>
          </a:p>
        </p:txBody>
      </p:sp>
      <p:sp>
        <p:nvSpPr>
          <p:cNvPr id="3" name="Content Placeholder 2"/>
          <p:cNvSpPr>
            <a:spLocks noGrp="1"/>
          </p:cNvSpPr>
          <p:nvPr>
            <p:ph idx="1"/>
          </p:nvPr>
        </p:nvSpPr>
        <p:spPr/>
        <p:txBody>
          <a:bodyPr/>
          <a:lstStyle/>
          <a:p>
            <a:r>
              <a:rPr lang="en-US" sz="1800" dirty="0" smtClean="0"/>
              <a:t>Identify necessary OS, CPU and RAM, e.g. Linux, 4CPU, 63Gb RAM.</a:t>
            </a:r>
          </a:p>
          <a:p>
            <a:r>
              <a:rPr lang="en-US" sz="1800" dirty="0" smtClean="0"/>
              <a:t>Select appropriate COMPUTE (Instance name) for the need using </a:t>
            </a:r>
            <a:r>
              <a:rPr lang="en-US" sz="1800" dirty="0" smtClean="0">
                <a:hlinkClick r:id="rId2"/>
              </a:rPr>
              <a:t>https://aws.amazon.com/ec2/pricing/on-demand/</a:t>
            </a:r>
            <a:r>
              <a:rPr lang="en-US" sz="1800" dirty="0" smtClean="0"/>
              <a:t>, e.g. x2gd.large. We can filter by </a:t>
            </a:r>
            <a:r>
              <a:rPr lang="en-US" sz="1800" dirty="0" err="1" smtClean="0"/>
              <a:t>vCPU</a:t>
            </a:r>
            <a:r>
              <a:rPr lang="en-US" sz="1800" dirty="0" smtClean="0"/>
              <a:t> (e.g. 4), search for a number, e.g. 64, then sort by </a:t>
            </a:r>
            <a:r>
              <a:rPr lang="en-US" sz="1800" dirty="0" err="1" smtClean="0"/>
              <a:t>vCPU</a:t>
            </a:r>
            <a:r>
              <a:rPr lang="en-US" sz="1800" dirty="0" smtClean="0"/>
              <a:t> or RAM to locate appropriate instance name.</a:t>
            </a:r>
          </a:p>
          <a:p>
            <a:r>
              <a:rPr lang="en-US" sz="1800" dirty="0" smtClean="0"/>
              <a:t>Extract price from the list, e.g. $0.334.</a:t>
            </a:r>
          </a:p>
          <a:p>
            <a:r>
              <a:rPr lang="en-US" sz="1800" dirty="0" smtClean="0"/>
              <a:t>Calculate COMPUTE price for a year per instance. E.g. $0.334 x 24 x 365 = $2,925.84</a:t>
            </a:r>
          </a:p>
          <a:p>
            <a:r>
              <a:rPr lang="en-US" sz="1800" dirty="0" smtClean="0"/>
              <a:t>Identify required disk space, e.g. 524Gb.</a:t>
            </a:r>
          </a:p>
          <a:p>
            <a:r>
              <a:rPr lang="en-US" sz="1800" dirty="0" smtClean="0"/>
              <a:t>Select appropriate STORAGE for 524Gb using </a:t>
            </a:r>
            <a:r>
              <a:rPr lang="en-US" sz="1800" dirty="0" smtClean="0">
                <a:hlinkClick r:id="rId3"/>
              </a:rPr>
              <a:t>https://aws.amazon.com/ebs/pricing/</a:t>
            </a:r>
            <a:r>
              <a:rPr lang="en-US" sz="1800" dirty="0" smtClean="0"/>
              <a:t>, e.g. gp2, $0.1/</a:t>
            </a:r>
            <a:r>
              <a:rPr lang="en-US" sz="1800" dirty="0" err="1" smtClean="0"/>
              <a:t>Gb</a:t>
            </a:r>
            <a:r>
              <a:rPr lang="en-US" sz="1800" dirty="0" smtClean="0"/>
              <a:t>/month.</a:t>
            </a:r>
          </a:p>
          <a:p>
            <a:r>
              <a:rPr lang="en-US" sz="1800" dirty="0" smtClean="0"/>
              <a:t>Calculate STORAGE price for a year per instance, e.g. $0.1 x 524 x 12 = $628,8.</a:t>
            </a:r>
          </a:p>
          <a:p>
            <a:r>
              <a:rPr lang="en-US" sz="1800" dirty="0" smtClean="0"/>
              <a:t>Calculate COMPUTE and STORAGE price for a year per instance, e.g. $2,925.84 + $628,8 = $3535,8</a:t>
            </a:r>
          </a:p>
          <a:p>
            <a:r>
              <a:rPr lang="en-US" sz="1800" dirty="0" smtClean="0"/>
              <a:t>Review the next 2 Slides for screenshots.</a:t>
            </a:r>
          </a:p>
          <a:p>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appropriate COMPUTE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844217" y="2057400"/>
            <a:ext cx="7385383" cy="3661102"/>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appropriate STORAGE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838200" y="2182177"/>
            <a:ext cx="7566660" cy="3151823"/>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Instance Type</a:t>
            </a:r>
            <a:endParaRPr lang="en-US" dirty="0"/>
          </a:p>
        </p:txBody>
      </p:sp>
      <p:sp>
        <p:nvSpPr>
          <p:cNvPr id="3" name="Content Placeholder 2"/>
          <p:cNvSpPr>
            <a:spLocks noGrp="1"/>
          </p:cNvSpPr>
          <p:nvPr>
            <p:ph idx="1"/>
          </p:nvPr>
        </p:nvSpPr>
        <p:spPr/>
        <p:txBody>
          <a:bodyPr/>
          <a:lstStyle/>
          <a:p>
            <a:r>
              <a:rPr lang="en-US" sz="2200" dirty="0" smtClean="0">
                <a:hlinkClick r:id="rId2"/>
              </a:rPr>
              <a:t>https://docs.aws.amazon.com/AWSEC2/latest/UserGuide/ec2-instance-resize.html?icmpid=docs_ec2_console</a:t>
            </a:r>
            <a:endParaRPr lang="en-US" sz="2200" dirty="0" smtClean="0"/>
          </a:p>
          <a:p>
            <a:endParaRPr lang="en-US" sz="2200" dirty="0"/>
          </a:p>
        </p:txBody>
      </p:sp>
      <p:pic>
        <p:nvPicPr>
          <p:cNvPr id="8194" name="Picture 2"/>
          <p:cNvPicPr>
            <a:picLocks noChangeAspect="1" noChangeArrowheads="1"/>
          </p:cNvPicPr>
          <p:nvPr/>
        </p:nvPicPr>
        <p:blipFill>
          <a:blip r:embed="rId3" cstate="print"/>
          <a:srcRect/>
          <a:stretch>
            <a:fillRect/>
          </a:stretch>
        </p:blipFill>
        <p:spPr bwMode="auto">
          <a:xfrm>
            <a:off x="1067570" y="2730846"/>
            <a:ext cx="7009630" cy="3365154"/>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Elastic Network Adapter (ENA)</a:t>
            </a:r>
            <a:endParaRPr lang="en-US" dirty="0"/>
          </a:p>
        </p:txBody>
      </p:sp>
      <p:sp>
        <p:nvSpPr>
          <p:cNvPr id="3" name="Content Placeholder 2"/>
          <p:cNvSpPr>
            <a:spLocks noGrp="1"/>
          </p:cNvSpPr>
          <p:nvPr>
            <p:ph idx="1"/>
          </p:nvPr>
        </p:nvSpPr>
        <p:spPr/>
        <p:txBody>
          <a:bodyPr/>
          <a:lstStyle/>
          <a:p>
            <a:r>
              <a:rPr lang="en-US" sz="2400" dirty="0" smtClean="0">
                <a:hlinkClick r:id="rId2"/>
              </a:rPr>
              <a:t>https://aws.amazon.com/about-aws/whats-new/2016/06/introducing-elastic-network-adapter-ena-the-next-generation-network-interface-for-ec2-instances/</a:t>
            </a:r>
            <a:endParaRPr lang="en-US" sz="2400" dirty="0" smtClean="0"/>
          </a:p>
          <a:p>
            <a:r>
              <a:rPr lang="en-US" sz="2400" i="1" dirty="0" smtClean="0">
                <a:solidFill>
                  <a:srgbClr val="C00000"/>
                </a:solidFill>
              </a:rPr>
              <a:t>ENA</a:t>
            </a:r>
            <a:r>
              <a:rPr lang="en-US" sz="2400" dirty="0" smtClean="0"/>
              <a:t> is a </a:t>
            </a:r>
            <a:r>
              <a:rPr lang="en-US" sz="2400" u="sng" dirty="0" smtClean="0"/>
              <a:t>custom</a:t>
            </a:r>
            <a:r>
              <a:rPr lang="en-US" sz="2400" dirty="0" smtClean="0"/>
              <a:t> network interface </a:t>
            </a:r>
            <a:r>
              <a:rPr lang="en-US" sz="2400" u="sng" dirty="0" smtClean="0"/>
              <a:t>optimized</a:t>
            </a:r>
            <a:r>
              <a:rPr lang="en-US" sz="2400" dirty="0" smtClean="0"/>
              <a:t> to deliver high throughput and packet per second (PPS) performance, and consistently low latencies on EC2 instances.</a:t>
            </a:r>
          </a:p>
          <a:p>
            <a:r>
              <a:rPr lang="en-US" sz="2400" dirty="0" smtClean="0"/>
              <a:t>Using ENA, customers can utilize up to 20 </a:t>
            </a:r>
            <a:r>
              <a:rPr lang="en-US" sz="2400" dirty="0" err="1" smtClean="0"/>
              <a:t>Gbps</a:t>
            </a:r>
            <a:r>
              <a:rPr lang="en-US" sz="2400" dirty="0" smtClean="0"/>
              <a:t> of network bandwidth on certain EC2 instance types.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Retrieve Instance ID</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1027113" y="2501900"/>
            <a:ext cx="7089775" cy="23749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Enable ENA</a:t>
            </a:r>
            <a:endParaRPr lang="en-US" dirty="0"/>
          </a:p>
        </p:txBody>
      </p:sp>
      <p:sp>
        <p:nvSpPr>
          <p:cNvPr id="3" name="Content Placeholder 2"/>
          <p:cNvSpPr>
            <a:spLocks noGrp="1"/>
          </p:cNvSpPr>
          <p:nvPr>
            <p:ph idx="1"/>
          </p:nvPr>
        </p:nvSpPr>
        <p:spPr/>
        <p:txBody>
          <a:bodyPr/>
          <a:lstStyle/>
          <a:p>
            <a:r>
              <a:rPr lang="en-US" sz="2200" dirty="0" err="1" smtClean="0"/>
              <a:t>aws</a:t>
            </a:r>
            <a:r>
              <a:rPr lang="en-US" sz="2200" dirty="0" smtClean="0"/>
              <a:t> ec2 describe-instances --instance-ids i-0e**************e --query "Reservations[].Instances[].</a:t>
            </a:r>
            <a:r>
              <a:rPr lang="en-US" sz="2200" dirty="0" err="1" smtClean="0"/>
              <a:t>EnaSupport</a:t>
            </a:r>
            <a:r>
              <a:rPr lang="en-US" sz="2200" dirty="0" smtClean="0"/>
              <a:t>"</a:t>
            </a:r>
          </a:p>
          <a:p>
            <a:r>
              <a:rPr lang="en-US" sz="2200" dirty="0" err="1" smtClean="0"/>
              <a:t>aws</a:t>
            </a:r>
            <a:r>
              <a:rPr lang="en-US" sz="2200" dirty="0" smtClean="0"/>
              <a:t> ec2 modify-instance-attribute --instance-id i-0e**************e --</a:t>
            </a:r>
            <a:r>
              <a:rPr lang="en-US" sz="2200" dirty="0" err="1" smtClean="0"/>
              <a:t>ena</a:t>
            </a:r>
            <a:r>
              <a:rPr lang="en-US" sz="2200" dirty="0" smtClean="0"/>
              <a:t>-support</a:t>
            </a:r>
          </a:p>
          <a:p>
            <a:r>
              <a:rPr lang="en-US" sz="2200" dirty="0" err="1" smtClean="0"/>
              <a:t>aws</a:t>
            </a:r>
            <a:r>
              <a:rPr lang="en-US" sz="2200" dirty="0" smtClean="0"/>
              <a:t> ec2 describe-instances --instance-ids i-0e**************e --query "Reservations[].Instances[].</a:t>
            </a:r>
            <a:r>
              <a:rPr lang="en-US" sz="2200" dirty="0" err="1" smtClean="0"/>
              <a:t>EnaSupport</a:t>
            </a:r>
            <a:r>
              <a:rPr lang="en-US" sz="2200" dirty="0" smtClean="0"/>
              <a:t>"</a:t>
            </a:r>
          </a:p>
          <a:p>
            <a:endParaRPr lang="en-US" sz="2200" dirty="0" smtClean="0"/>
          </a:p>
        </p:txBody>
      </p:sp>
      <p:pic>
        <p:nvPicPr>
          <p:cNvPr id="7170" name="Picture 2"/>
          <p:cNvPicPr>
            <a:picLocks noChangeAspect="1" noChangeArrowheads="1"/>
          </p:cNvPicPr>
          <p:nvPr/>
        </p:nvPicPr>
        <p:blipFill>
          <a:blip r:embed="rId2" cstate="print"/>
          <a:srcRect/>
          <a:stretch>
            <a:fillRect/>
          </a:stretch>
        </p:blipFill>
        <p:spPr bwMode="auto">
          <a:xfrm>
            <a:off x="457200" y="4191000"/>
            <a:ext cx="8237220" cy="115062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Install ENA Driver</a:t>
            </a:r>
            <a:endParaRPr lang="en-US" dirty="0"/>
          </a:p>
        </p:txBody>
      </p:sp>
      <p:sp>
        <p:nvSpPr>
          <p:cNvPr id="3" name="Content Placeholder 2"/>
          <p:cNvSpPr>
            <a:spLocks noGrp="1"/>
          </p:cNvSpPr>
          <p:nvPr>
            <p:ph idx="1"/>
          </p:nvPr>
        </p:nvSpPr>
        <p:spPr/>
        <p:txBody>
          <a:bodyPr/>
          <a:lstStyle/>
          <a:p>
            <a:r>
              <a:rPr lang="en-US" sz="2200" dirty="0" smtClean="0">
                <a:hlinkClick r:id="rId2"/>
              </a:rPr>
              <a:t>https://docs.aws.amazon.com/AWSEC2/latest/WindowsGuide/enhanced-networking-ena.html</a:t>
            </a:r>
            <a:endParaRPr lang="en-US" sz="2200" dirty="0" smtClean="0"/>
          </a:p>
          <a:p>
            <a:r>
              <a:rPr lang="en-US" sz="2200" dirty="0" smtClean="0"/>
              <a:t>For Server 2008 R2: </a:t>
            </a:r>
            <a:r>
              <a:rPr lang="en-US" sz="2200" dirty="0" smtClean="0">
                <a:hlinkClick r:id="rId3"/>
              </a:rPr>
              <a:t>https://s3.amazonaws.com/ec2-windows-drivers-downloads/ENA/x64/2.2.3/AwsEnaNetworkDriver.zip</a:t>
            </a:r>
            <a:endParaRPr lang="en-US" sz="2200" dirty="0" smtClean="0"/>
          </a:p>
          <a:p>
            <a:endParaRPr lang="en-US" sz="2200"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20774</TotalTime>
  <Words>1362</Words>
  <Application>Microsoft Office PowerPoint</Application>
  <PresentationFormat>On-screen Show (4:3)</PresentationFormat>
  <Paragraphs>100</Paragraphs>
  <Slides>29</Slides>
  <Notes>3</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AWS Nitro System</vt:lpstr>
      <vt:lpstr>Objectives</vt:lpstr>
      <vt:lpstr>Contents</vt:lpstr>
      <vt:lpstr>References</vt:lpstr>
      <vt:lpstr>AWS Initial Hypervisors [1]</vt:lpstr>
      <vt:lpstr>PVHVM</vt:lpstr>
      <vt:lpstr>2013 Xen Hypervisor</vt:lpstr>
      <vt:lpstr>C4 Instance</vt:lpstr>
      <vt:lpstr>X1 Instance</vt:lpstr>
      <vt:lpstr>C5 Instance</vt:lpstr>
      <vt:lpstr>Slide 11</vt:lpstr>
      <vt:lpstr>The Nitro System</vt:lpstr>
      <vt:lpstr>Nitro System Components</vt:lpstr>
      <vt:lpstr>EC2 Instances (I)</vt:lpstr>
      <vt:lpstr>EC2 Instances (II)</vt:lpstr>
      <vt:lpstr>Slide 16</vt:lpstr>
      <vt:lpstr>AWS Nitro System</vt:lpstr>
      <vt:lpstr>Nitro System Instance Types</vt:lpstr>
      <vt:lpstr>Instance Types Pricing</vt:lpstr>
      <vt:lpstr>Estimate Migration Cost</vt:lpstr>
      <vt:lpstr>Select appropriate COMPUTE</vt:lpstr>
      <vt:lpstr>Select appropriate STORAGE</vt:lpstr>
      <vt:lpstr>Change Instance Type</vt:lpstr>
      <vt:lpstr>Slide 24</vt:lpstr>
      <vt:lpstr>Elastic Network Adapter (ENA)</vt:lpstr>
      <vt:lpstr>1. Retrieve Instance ID</vt:lpstr>
      <vt:lpstr>2. Enable ENA</vt:lpstr>
      <vt:lpstr>3. Install ENA Driver</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5488</cp:revision>
  <dcterms:created xsi:type="dcterms:W3CDTF">2007-10-06T08:25:13Z</dcterms:created>
  <dcterms:modified xsi:type="dcterms:W3CDTF">2025-11-05T17:49:44Z</dcterms:modified>
</cp:coreProperties>
</file>