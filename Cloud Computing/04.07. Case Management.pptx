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rels" ContentType="application/vnd.openxmlformats-package.relationship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88"/>
  </p:notesMasterIdLst>
  <p:sldIdLst>
    <p:sldId id="701" r:id="rId2"/>
    <p:sldId id="702" r:id="rId3"/>
    <p:sldId id="703" r:id="rId4"/>
    <p:sldId id="704" r:id="rId5"/>
    <p:sldId id="663" r:id="rId6"/>
    <p:sldId id="664" r:id="rId7"/>
    <p:sldId id="665" r:id="rId8"/>
    <p:sldId id="667" r:id="rId9"/>
    <p:sldId id="668" r:id="rId10"/>
    <p:sldId id="669" r:id="rId11"/>
    <p:sldId id="670" r:id="rId12"/>
    <p:sldId id="671" r:id="rId13"/>
    <p:sldId id="672" r:id="rId14"/>
    <p:sldId id="673" r:id="rId15"/>
    <p:sldId id="674" r:id="rId16"/>
    <p:sldId id="675" r:id="rId17"/>
    <p:sldId id="677" r:id="rId18"/>
    <p:sldId id="699" r:id="rId19"/>
    <p:sldId id="691" r:id="rId20"/>
    <p:sldId id="692" r:id="rId21"/>
    <p:sldId id="693" r:id="rId22"/>
    <p:sldId id="694" r:id="rId23"/>
    <p:sldId id="695" r:id="rId24"/>
    <p:sldId id="696" r:id="rId25"/>
    <p:sldId id="697" r:id="rId26"/>
    <p:sldId id="700" r:id="rId27"/>
    <p:sldId id="676" r:id="rId28"/>
    <p:sldId id="686" r:id="rId29"/>
    <p:sldId id="685" r:id="rId30"/>
    <p:sldId id="688" r:id="rId31"/>
    <p:sldId id="689" r:id="rId32"/>
    <p:sldId id="705" r:id="rId33"/>
    <p:sldId id="753" r:id="rId34"/>
    <p:sldId id="754" r:id="rId35"/>
    <p:sldId id="755" r:id="rId36"/>
    <p:sldId id="706" r:id="rId37"/>
    <p:sldId id="743" r:id="rId38"/>
    <p:sldId id="745" r:id="rId39"/>
    <p:sldId id="748" r:id="rId40"/>
    <p:sldId id="749" r:id="rId41"/>
    <p:sldId id="750" r:id="rId42"/>
    <p:sldId id="751" r:id="rId43"/>
    <p:sldId id="752" r:id="rId44"/>
    <p:sldId id="757" r:id="rId45"/>
    <p:sldId id="758" r:id="rId46"/>
    <p:sldId id="759" r:id="rId47"/>
    <p:sldId id="756" r:id="rId48"/>
    <p:sldId id="707" r:id="rId49"/>
    <p:sldId id="715" r:id="rId50"/>
    <p:sldId id="716" r:id="rId51"/>
    <p:sldId id="720" r:id="rId52"/>
    <p:sldId id="719" r:id="rId53"/>
    <p:sldId id="721" r:id="rId54"/>
    <p:sldId id="708" r:id="rId55"/>
    <p:sldId id="723" r:id="rId56"/>
    <p:sldId id="724" r:id="rId57"/>
    <p:sldId id="722" r:id="rId58"/>
    <p:sldId id="727" r:id="rId59"/>
    <p:sldId id="728" r:id="rId60"/>
    <p:sldId id="734" r:id="rId61"/>
    <p:sldId id="726" r:id="rId62"/>
    <p:sldId id="725" r:id="rId63"/>
    <p:sldId id="740" r:id="rId64"/>
    <p:sldId id="709" r:id="rId65"/>
    <p:sldId id="710" r:id="rId66"/>
    <p:sldId id="711" r:id="rId67"/>
    <p:sldId id="712" r:id="rId68"/>
    <p:sldId id="739" r:id="rId69"/>
    <p:sldId id="742" r:id="rId70"/>
    <p:sldId id="761" r:id="rId71"/>
    <p:sldId id="741" r:id="rId72"/>
    <p:sldId id="730" r:id="rId73"/>
    <p:sldId id="733" r:id="rId74"/>
    <p:sldId id="731" r:id="rId75"/>
    <p:sldId id="732" r:id="rId76"/>
    <p:sldId id="735" r:id="rId77"/>
    <p:sldId id="760" r:id="rId78"/>
    <p:sldId id="736" r:id="rId79"/>
    <p:sldId id="762" r:id="rId80"/>
    <p:sldId id="769" r:id="rId81"/>
    <p:sldId id="768" r:id="rId82"/>
    <p:sldId id="763" r:id="rId83"/>
    <p:sldId id="764" r:id="rId84"/>
    <p:sldId id="767" r:id="rId85"/>
    <p:sldId id="766" r:id="rId86"/>
    <p:sldId id="343" r:id="rId8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02" autoAdjust="0"/>
    <p:restoredTop sz="94667" autoAdjust="0"/>
  </p:normalViewPr>
  <p:slideViewPr>
    <p:cSldViewPr>
      <p:cViewPr>
        <p:scale>
          <a:sx n="50" d="100"/>
          <a:sy n="50" d="100"/>
        </p:scale>
        <p:origin x="-1554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slide" Target="slides/slide83.xml"/><Relationship Id="rId89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notesMaster" Target="notesMasters/notesMaster1.xml"/><Relationship Id="rId9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7/17/2026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7/17/2026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7/17/2026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7/17/2026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7/17/2026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7/17/2026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trailhead.salesforce.com/en/content/learn/projects/set-up-case-escalation-entitlements/create-support-processes-case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hyperlink" Target="https://trailhead.salesforce.com/content/learn/projects/set-up-case-escalation-entitlements/create-case-queues-assignment-rule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trailhead.salesforce.com/en/content/learn/projects/set-up-case-escalation-entitlements/create-case-escalation-rule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trailhead.salesforce.com/en/content/learn/projects/set-up-case-escalation-entitlements/create-flow-with-process-builder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help.salesforce.com/articleView?id=cases_fields.htm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hyperlink" Target="https://help.salesforce.com/articleView?id=000333678&amp;type=1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hyperlink" Target="https://trailhead.salesforce.com/en/content/learn/modules/service_basics/service_basics_create_customer_channels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hyperlink" Target="https://trailhead.salesforce.com/en/content/learn/projects/set-up-case-escalation-entitlements/create-flow-with-process-builder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trailhead.salesforce.com/en/content/learn/modules/service_basics/service_basics_create_customer_channels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help.salesforce.com/articleView?id=emailadmin_create_secure_dkim.htm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help.salesforce.com/articleView?id=emailadmin_spf_include_salesforce.htm" TargetMode="Externa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appexchange.salesforce.com/appxListingDetail?listingId=a0N300000016b7FEAQ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zyFsooKBqdg" TargetMode="External"/><Relationship Id="rId2" Type="http://schemas.openxmlformats.org/officeDocument/2006/relationships/hyperlink" Target="https://www.youtube.com/watch?v=f4126pcslz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ehf2VNj9O9k" TargetMode="Externa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hyperlink" Target="https://documentation.conga.com/composer/latest/salesforce/ac0-143198803.html" TargetMode="Externa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umentation.conga.com/composer/latest/salesforce/dynamically-filter-reports-and-queries-with-pv-values-143198617.html" TargetMode="Externa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umentation.conga.com/composer/latest/salesforce/queryid-195697210.html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hyperlink" Target="https://documentation.conga.com/composer/latest/salesforce/queries-to-parse-data-in-a-conga-batch-or-workflow-formula-143199138.html" TargetMode="Externa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umentation.conga.com/composer/latest/salesforce/format-date-values-in-word-143198654.html" TargetMode="Externa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umentation.conga.com/composer/latest/salesforce/format-number-values-in-word-203496158.html" TargetMode="Externa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hyperlink" Target="https://documentation.conga.com/composer/latest/salesforce/nested-soql-queries-143901344.html" TargetMode="Externa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hyperlink" Target="https://documentation.conga.com/composer/latest/salesforce/reportid-195697234.html" TargetMode="Externa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hyperlink" Target="https://conga.com/resources/build-composer-solution-using-solution-manager-video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hyperlink" Target="https://help.salesforce.com/s/articleView?id=ind.sf_docgen_what_can_you_do_three.htm&amp;type=5" TargetMode="Externa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>
            <a:noAutofit/>
          </a:bodyPr>
          <a:lstStyle/>
          <a:p>
            <a:r>
              <a:rPr lang="en-US" sz="6000" dirty="0" smtClean="0"/>
              <a:t>Case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>
              <a:defRPr/>
            </a:pPr>
            <a:r>
              <a:rPr lang="en-US" sz="5400" dirty="0" smtClean="0"/>
              <a:t>Lecturer: Ngo Huy Bien</a:t>
            </a:r>
          </a:p>
          <a:p>
            <a:pPr>
              <a:defRPr/>
            </a:pPr>
            <a:r>
              <a:rPr lang="en-US" sz="4400" dirty="0" smtClean="0"/>
              <a:t>Software Engineering Department</a:t>
            </a:r>
          </a:p>
          <a:p>
            <a:pPr>
              <a:defRPr/>
            </a:pPr>
            <a:r>
              <a:rPr lang="en-US" sz="4400" dirty="0" smtClean="0"/>
              <a:t>Faculty of Information Technology</a:t>
            </a:r>
          </a:p>
          <a:p>
            <a:pPr>
              <a:defRPr/>
            </a:pPr>
            <a:r>
              <a:rPr lang="en-US" sz="4400" dirty="0" smtClean="0"/>
              <a:t>VNUHCM - University of Science</a:t>
            </a:r>
          </a:p>
          <a:p>
            <a:pPr>
              <a:defRPr/>
            </a:pPr>
            <a:r>
              <a:rPr lang="en-US" sz="4400" dirty="0" smtClean="0"/>
              <a:t>Ho Chi Minh City, Vietnam</a:t>
            </a:r>
          </a:p>
          <a:p>
            <a:pPr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562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</a:t>
            </a:r>
            <a:r>
              <a:rPr lang="en-US" sz="2400" i="1" dirty="0" smtClean="0">
                <a:solidFill>
                  <a:srgbClr val="C00000"/>
                </a:solidFill>
              </a:rPr>
              <a:t>customize</a:t>
            </a:r>
            <a:r>
              <a:rPr lang="en-US" sz="2400" dirty="0" smtClean="0"/>
              <a:t> Cases settings.</a:t>
            </a:r>
          </a:p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create </a:t>
            </a:r>
            <a:r>
              <a:rPr lang="en-US" sz="2400" i="1" dirty="0" smtClean="0">
                <a:solidFill>
                  <a:srgbClr val="C00000"/>
                </a:solidFill>
              </a:rPr>
              <a:t>Record Types</a:t>
            </a:r>
            <a:r>
              <a:rPr lang="en-US" sz="2400" dirty="0" smtClean="0"/>
              <a:t> for Cases.</a:t>
            </a:r>
          </a:p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use </a:t>
            </a:r>
            <a:r>
              <a:rPr lang="en-US" sz="2400" i="1" dirty="0" smtClean="0">
                <a:solidFill>
                  <a:srgbClr val="C00000"/>
                </a:solidFill>
              </a:rPr>
              <a:t>Conga</a:t>
            </a:r>
            <a:r>
              <a:rPr lang="en-US" sz="2400" dirty="0" smtClean="0"/>
              <a:t> for generating documents from records.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007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Cases Settings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Report Types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Conga Composer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334000" cy="4525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endParaRPr lang="en-US" sz="2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1. Add a Customer Support Specialist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>
                <a:hlinkClick r:id="rId2"/>
              </a:rPr>
              <a:t>https://trailhead.salesforce.com/en/content/learn/projects/set-up-case-escalation-entitlements/create-support-processes-cases</a:t>
            </a:r>
            <a:endParaRPr lang="en-US" sz="1800" dirty="0" smtClean="0"/>
          </a:p>
          <a:p>
            <a:r>
              <a:rPr lang="en-US" sz="1800" dirty="0" smtClean="0"/>
              <a:t>Service Setup </a:t>
            </a:r>
            <a:r>
              <a:rPr lang="en-US" sz="1800" dirty="0" smtClean="0">
                <a:sym typeface="Wingdings" pitchFamily="2" charset="2"/>
              </a:rPr>
              <a:t> </a:t>
            </a:r>
            <a:r>
              <a:rPr lang="en-US" sz="1800" dirty="0" smtClean="0"/>
              <a:t>Add Your Users</a:t>
            </a:r>
            <a:endParaRPr lang="en-US" sz="18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971800"/>
            <a:ext cx="7263596" cy="3235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2. Enable Lightning Experience User Admin Access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Service Setup </a:t>
            </a:r>
            <a:r>
              <a:rPr lang="en-US" sz="1800" dirty="0" smtClean="0">
                <a:sym typeface="Wingdings" pitchFamily="2" charset="2"/>
              </a:rPr>
              <a:t> </a:t>
            </a:r>
            <a:r>
              <a:rPr lang="en-US" sz="1800" dirty="0" smtClean="0"/>
              <a:t>Profiles </a:t>
            </a:r>
            <a:r>
              <a:rPr lang="en-US" sz="1800" dirty="0" smtClean="0">
                <a:sym typeface="Wingdings" pitchFamily="2" charset="2"/>
              </a:rPr>
              <a:t> Edit (</a:t>
            </a:r>
            <a:r>
              <a:rPr lang="en-US" sz="1800" dirty="0" smtClean="0"/>
              <a:t>Custom: Support Profile)</a:t>
            </a:r>
            <a:endParaRPr lang="en-US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2150" y="2514600"/>
            <a:ext cx="7759700" cy="3067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Add a New Case Status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Service Setup </a:t>
            </a:r>
            <a:r>
              <a:rPr lang="en-US" sz="1800" dirty="0" smtClean="0">
                <a:sym typeface="Wingdings" pitchFamily="2" charset="2"/>
              </a:rPr>
              <a:t> </a:t>
            </a:r>
            <a:r>
              <a:rPr lang="en-US" sz="1800" dirty="0" smtClean="0"/>
              <a:t>Home </a:t>
            </a:r>
            <a:r>
              <a:rPr lang="en-US" sz="1800" dirty="0" smtClean="0">
                <a:sym typeface="Wingdings" pitchFamily="2" charset="2"/>
              </a:rPr>
              <a:t> </a:t>
            </a:r>
            <a:r>
              <a:rPr lang="en-US" sz="1800" dirty="0" smtClean="0"/>
              <a:t>Customize Case Status</a:t>
            </a:r>
            <a:endParaRPr lang="en-US" sz="1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7725" y="2339975"/>
            <a:ext cx="7448550" cy="3832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Create a Queue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https://trailhead.salesforce.com/content/learn/projects/set-up-case-escalation-entitlements/create-case-queues-assignment-rule</a:t>
            </a:r>
            <a:endParaRPr lang="en-US" sz="2200" dirty="0" smtClean="0"/>
          </a:p>
          <a:p>
            <a:r>
              <a:rPr lang="en-US" sz="2200" dirty="0" smtClean="0"/>
              <a:t>Service Setup </a:t>
            </a:r>
            <a:r>
              <a:rPr lang="en-US" sz="2200" dirty="0" smtClean="0">
                <a:sym typeface="Wingdings" pitchFamily="2" charset="2"/>
              </a:rPr>
              <a:t> </a:t>
            </a:r>
            <a:r>
              <a:rPr lang="en-US" sz="2200" dirty="0" smtClean="0"/>
              <a:t>Queues</a:t>
            </a:r>
            <a:endParaRPr lang="en-US" sz="2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2138" y="3086100"/>
            <a:ext cx="7959725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Create a Case Assignment Rule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Service Setup </a:t>
            </a:r>
            <a:r>
              <a:rPr lang="en-US" sz="2400" dirty="0" smtClean="0">
                <a:sym typeface="Wingdings" pitchFamily="2" charset="2"/>
              </a:rPr>
              <a:t> </a:t>
            </a:r>
            <a:r>
              <a:rPr lang="en-US" sz="2400" dirty="0" smtClean="0"/>
              <a:t>Case Assignment Rules</a:t>
            </a:r>
            <a:endParaRPr 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50950" y="2600325"/>
            <a:ext cx="6642100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Create a Rule Entry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Click on a Case Assignment Rule.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8988" y="2311400"/>
            <a:ext cx="7566025" cy="3784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Enter Rule Entry Information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863" y="1943100"/>
            <a:ext cx="8804275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Modify Automated Case User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Service Setup </a:t>
            </a:r>
            <a:r>
              <a:rPr lang="en-US" sz="2400" dirty="0" smtClean="0">
                <a:sym typeface="Wingdings" pitchFamily="2" charset="2"/>
              </a:rPr>
              <a:t> Support Settings</a:t>
            </a:r>
            <a:endParaRPr lang="en-US" sz="24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5338" y="2308225"/>
            <a:ext cx="7553325" cy="386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Create a Case Escalation Rule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https://trailhead.salesforce.com/en/content/learn/projects/set-up-case-escalation-entitlements/create-case-escalation-rule</a:t>
            </a:r>
            <a:endParaRPr lang="en-US" sz="2200" dirty="0" smtClean="0"/>
          </a:p>
          <a:p>
            <a:r>
              <a:rPr lang="en-US" sz="2200" dirty="0" smtClean="0"/>
              <a:t>Service Setup </a:t>
            </a:r>
            <a:r>
              <a:rPr lang="en-US" sz="2200" dirty="0" smtClean="0">
                <a:sym typeface="Wingdings" pitchFamily="2" charset="2"/>
              </a:rPr>
              <a:t> </a:t>
            </a:r>
            <a:r>
              <a:rPr lang="en-US" sz="2200" dirty="0" smtClean="0"/>
              <a:t>Escalation Rules</a:t>
            </a:r>
            <a:endParaRPr lang="en-US" sz="22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12863" y="2987675"/>
            <a:ext cx="6518275" cy="265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10. Create an Escalation Rule Action</a:t>
            </a:r>
            <a:endParaRPr lang="en-US" sz="42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7800" y="2466975"/>
            <a:ext cx="8788400" cy="301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11. Create an Email Template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https://trailhead.salesforce.com/en/content/learn/projects/set-up-case-escalation-entitlements/create-flow-with-process-builder</a:t>
            </a:r>
            <a:endParaRPr lang="en-US" sz="2200" dirty="0" smtClean="0"/>
          </a:p>
          <a:p>
            <a:r>
              <a:rPr lang="en-US" sz="2200" dirty="0" smtClean="0"/>
              <a:t>Service Setup </a:t>
            </a:r>
            <a:r>
              <a:rPr lang="en-US" sz="2200" dirty="0" smtClean="0">
                <a:sym typeface="Wingdings" pitchFamily="2" charset="2"/>
              </a:rPr>
              <a:t> </a:t>
            </a:r>
            <a:r>
              <a:rPr lang="en-US" sz="2200" dirty="0" smtClean="0"/>
              <a:t>Classic Email Templates</a:t>
            </a:r>
            <a:endParaRPr lang="en-US" sz="2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31925" y="2927350"/>
            <a:ext cx="6280150" cy="309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12. Enter Email Template Information</a:t>
            </a:r>
            <a:endParaRPr lang="en-US" sz="40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7275" y="1898650"/>
            <a:ext cx="7029450" cy="381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Case Fields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https://help.salesforce.com/articleView?id=cases_fields.htm</a:t>
            </a:r>
            <a:endParaRPr lang="en-US" sz="2400" dirty="0" smtClean="0"/>
          </a:p>
          <a:p>
            <a:endParaRPr lang="en-US" sz="2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33400" y="2514600"/>
          <a:ext cx="8077200" cy="3481761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1787486"/>
                <a:gridCol w="6289714"/>
              </a:tblGrid>
              <a:tr h="583692">
                <a:tc>
                  <a:txBody>
                    <a:bodyPr/>
                    <a:lstStyle/>
                    <a:p>
                      <a:r>
                        <a:rPr lang="en-US" sz="1800" dirty="0"/>
                        <a:t>Contact Email </a:t>
                      </a:r>
                    </a:p>
                  </a:txBody>
                  <a:tcPr marL="58899" marR="58899" marT="29449" marB="2944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Email address of a case’s contact. The address is added when you add a contact to a case. This field is read only.</a:t>
                      </a:r>
                    </a:p>
                  </a:txBody>
                  <a:tcPr marL="58899" marR="58899" marT="29449" marB="29449" anchor="ctr"/>
                </a:tc>
              </a:tr>
              <a:tr h="583692">
                <a:tc>
                  <a:txBody>
                    <a:bodyPr/>
                    <a:lstStyle/>
                    <a:p>
                      <a:r>
                        <a:rPr lang="en-US" sz="1800"/>
                        <a:t>Contact Fax</a:t>
                      </a:r>
                    </a:p>
                  </a:txBody>
                  <a:tcPr marL="58899" marR="58899" marT="29449" marB="29449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Fax number of a case’s contact. This number is added when you add a contact to a case. This field is read only.</a:t>
                      </a:r>
                    </a:p>
                  </a:txBody>
                  <a:tcPr marL="58899" marR="58899" marT="29449" marB="29449" anchor="ctr"/>
                </a:tc>
              </a:tr>
              <a:tr h="718391">
                <a:tc>
                  <a:txBody>
                    <a:bodyPr/>
                    <a:lstStyle/>
                    <a:p>
                      <a:r>
                        <a:rPr lang="en-US" sz="1800"/>
                        <a:t>Contact Mobile </a:t>
                      </a:r>
                    </a:p>
                  </a:txBody>
                  <a:tcPr marL="58899" marR="58899" marT="29449" marB="29449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Mobile phone number of a case’s contact. The number is added when you add a contact to a case. This field is read only.</a:t>
                      </a:r>
                    </a:p>
                  </a:txBody>
                  <a:tcPr marL="58899" marR="58899" marT="29449" marB="29449" anchor="ctr"/>
                </a:tc>
              </a:tr>
              <a:tr h="184312">
                <a:tc>
                  <a:txBody>
                    <a:bodyPr/>
                    <a:lstStyle/>
                    <a:p>
                      <a:r>
                        <a:rPr lang="en-US" sz="1800"/>
                        <a:t>Contact Name </a:t>
                      </a:r>
                    </a:p>
                  </a:txBody>
                  <a:tcPr marL="58899" marR="58899" marT="29449" marB="2944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Name of a case’s contact.</a:t>
                      </a:r>
                    </a:p>
                  </a:txBody>
                  <a:tcPr marL="58899" marR="58899" marT="29449" marB="29449" anchor="ctr"/>
                </a:tc>
              </a:tr>
              <a:tr h="583692">
                <a:tc>
                  <a:txBody>
                    <a:bodyPr/>
                    <a:lstStyle/>
                    <a:p>
                      <a:r>
                        <a:rPr lang="en-US" sz="1800"/>
                        <a:t>Contact Phone </a:t>
                      </a:r>
                    </a:p>
                  </a:txBody>
                  <a:tcPr marL="58899" marR="58899" marT="29449" marB="2944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Phone number of a case’s contact. The number is added when you add a contact to a case. This field is read only.</a:t>
                      </a:r>
                    </a:p>
                  </a:txBody>
                  <a:tcPr marL="58899" marR="58899" marT="29449" marB="29449" anchor="ctr"/>
                </a:tc>
              </a:tr>
              <a:tr h="448995">
                <a:tc>
                  <a:txBody>
                    <a:bodyPr/>
                    <a:lstStyle/>
                    <a:p>
                      <a:r>
                        <a:rPr lang="en-US" sz="1800" dirty="0"/>
                        <a:t>Created By </a:t>
                      </a:r>
                    </a:p>
                  </a:txBody>
                  <a:tcPr marL="58899" marR="58899" marT="29449" marB="29449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User who created a case, including creation date and time. This field is read only.</a:t>
                      </a:r>
                    </a:p>
                  </a:txBody>
                  <a:tcPr marL="58899" marR="58899" marT="29449" marB="29449" anchor="ctr"/>
                </a:tc>
              </a:tr>
            </a:tbl>
          </a:graphicData>
        </a:graphic>
      </p:graphicFrame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1. Add a Path for a Case Record Type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Setup </a:t>
            </a:r>
            <a:r>
              <a:rPr lang="en-US" sz="2200" dirty="0" smtClean="0">
                <a:sym typeface="Wingdings" pitchFamily="2" charset="2"/>
              </a:rPr>
              <a:t> Path Settings</a:t>
            </a:r>
            <a:endParaRPr lang="en-US" sz="22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42963" y="2365375"/>
            <a:ext cx="7458075" cy="3425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2. Configure Case Record Type Access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Setup </a:t>
            </a:r>
            <a:r>
              <a:rPr lang="en-US" sz="2200" dirty="0" smtClean="0">
                <a:sym typeface="Wingdings" pitchFamily="2" charset="2"/>
              </a:rPr>
              <a:t> Sharing Settings  Case</a:t>
            </a:r>
            <a:endParaRPr lang="en-US" sz="2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1875" y="2393950"/>
            <a:ext cx="7080250" cy="347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3. Limit Pick List Values for a Record Type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Setup </a:t>
            </a:r>
            <a:r>
              <a:rPr lang="en-US" sz="2200" dirty="0" smtClean="0">
                <a:sym typeface="Wingdings" pitchFamily="2" charset="2"/>
              </a:rPr>
              <a:t> Object Manager  Case  Record Types</a:t>
            </a:r>
          </a:p>
          <a:p>
            <a:r>
              <a:rPr lang="en-US" sz="2200" dirty="0" smtClean="0">
                <a:sym typeface="Wingdings" pitchFamily="2" charset="2"/>
              </a:rPr>
              <a:t>Click a Record Type.</a:t>
            </a:r>
          </a:p>
          <a:p>
            <a:pPr fontAlgn="ctr"/>
            <a:r>
              <a:rPr lang="en-US" sz="2200" dirty="0" smtClean="0">
                <a:sym typeface="Wingdings" pitchFamily="2" charset="2"/>
              </a:rPr>
              <a:t>Scroll down to </a:t>
            </a:r>
            <a:r>
              <a:rPr lang="en-US" sz="2400" b="1" dirty="0" err="1" smtClean="0"/>
              <a:t>Picklists</a:t>
            </a:r>
            <a:r>
              <a:rPr lang="en-US" sz="2400" b="1" dirty="0" smtClean="0"/>
              <a:t> Available for Editing</a:t>
            </a:r>
            <a:r>
              <a:rPr lang="en-US" sz="2200" dirty="0" smtClean="0"/>
              <a:t>.</a:t>
            </a:r>
          </a:p>
          <a:p>
            <a:pPr fontAlgn="ctr"/>
            <a:r>
              <a:rPr lang="en-US" sz="2200" dirty="0" smtClean="0"/>
              <a:t>Click a Pick List.</a:t>
            </a:r>
            <a:endParaRPr lang="en-US" sz="2400" dirty="0" smtClean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1825" y="3346450"/>
            <a:ext cx="5340350" cy="297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4. Filter Lookup Field By Record Type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Go to Account Lookup field that you have created.</a:t>
            </a:r>
          </a:p>
          <a:p>
            <a:r>
              <a:rPr lang="en-US" sz="2000" dirty="0" smtClean="0"/>
              <a:t>Under Lookup Filter Section, click Show Filter Section.</a:t>
            </a:r>
          </a:p>
          <a:p>
            <a:r>
              <a:rPr lang="en-US" sz="2000" dirty="0" smtClean="0"/>
              <a:t>Add </a:t>
            </a:r>
            <a:r>
              <a:rPr lang="en-US" sz="2000" b="1" dirty="0" smtClean="0"/>
              <a:t>Account Record Type</a:t>
            </a:r>
            <a:r>
              <a:rPr lang="en-US" sz="2000" dirty="0" smtClean="0"/>
              <a:t> </a:t>
            </a:r>
            <a:r>
              <a:rPr lang="en-US" sz="2000" dirty="0" smtClean="0">
                <a:sym typeface="Wingdings" pitchFamily="2" charset="2"/>
              </a:rPr>
              <a:t></a:t>
            </a:r>
            <a:r>
              <a:rPr lang="en-US" sz="2000" dirty="0" smtClean="0"/>
              <a:t> </a:t>
            </a:r>
            <a:r>
              <a:rPr lang="en-US" sz="2000" b="1" dirty="0" smtClean="0"/>
              <a:t>Record Type Name</a:t>
            </a:r>
            <a:r>
              <a:rPr lang="en-US" sz="2000" dirty="0" smtClean="0"/>
              <a:t>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1875" y="2838450"/>
            <a:ext cx="7080250" cy="3409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5. Set the Option 'Assign using active assignment rules' to True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https://help.salesforce.com/articleView?id=000333678&amp;type=1</a:t>
            </a:r>
            <a:endParaRPr lang="en-US" sz="2000" dirty="0" smtClean="0"/>
          </a:p>
          <a:p>
            <a:r>
              <a:rPr lang="en-US" sz="2000" dirty="0" smtClean="0"/>
              <a:t>Click the 'Layout Properties' button on the palette.</a:t>
            </a:r>
          </a:p>
          <a:p>
            <a:r>
              <a:rPr lang="en-US" sz="2000" dirty="0" smtClean="0"/>
              <a:t>Disable the 'Show on edit page' and ‘Default' Case Assignment Check-box.</a:t>
            </a:r>
          </a:p>
          <a:p>
            <a:r>
              <a:rPr lang="en-US" sz="2000" dirty="0" smtClean="0"/>
              <a:t>Click OK, then click Save.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8338" y="3276600"/>
            <a:ext cx="7807325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6. Set Contact Field As Required</a:t>
            </a:r>
            <a:endParaRPr lang="en-US" sz="40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3538" y="1809750"/>
            <a:ext cx="8416925" cy="3238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Choose a Default Case Owner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https://trailhead.salesforce.com/en/content/learn/modules/service_basics/service_basics_create_customer_channels</a:t>
            </a:r>
            <a:endParaRPr lang="en-US" sz="2000" dirty="0" smtClean="0"/>
          </a:p>
          <a:p>
            <a:r>
              <a:rPr lang="en-US" sz="2000" dirty="0" smtClean="0"/>
              <a:t>Setup </a:t>
            </a:r>
            <a:r>
              <a:rPr lang="en-US" sz="2000" dirty="0" smtClean="0">
                <a:sym typeface="Wingdings" pitchFamily="2" charset="2"/>
              </a:rPr>
              <a:t> </a:t>
            </a:r>
            <a:r>
              <a:rPr lang="en-US" sz="2000" dirty="0" smtClean="0"/>
              <a:t>Support Settings.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 Process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b="1" dirty="0" smtClean="0">
                <a:solidFill>
                  <a:srgbClr val="C00000"/>
                </a:solidFill>
              </a:rPr>
              <a:t>Use case: Send email about important Case.</a:t>
            </a:r>
          </a:p>
          <a:p>
            <a:r>
              <a:rPr lang="en-US" sz="2000" dirty="0" smtClean="0">
                <a:hlinkClick r:id="rId2"/>
              </a:rPr>
              <a:t>https://trailhead.salesforce.com/en/content/learn/projects/set-up-case-escalation-entitlements/create-flow-with-process-builder</a:t>
            </a:r>
            <a:endParaRPr lang="en-US" sz="2000" dirty="0" smtClean="0"/>
          </a:p>
          <a:p>
            <a:r>
              <a:rPr lang="en-US" sz="2000" dirty="0" smtClean="0"/>
              <a:t>Service Setup </a:t>
            </a:r>
            <a:r>
              <a:rPr lang="en-US" sz="2000" dirty="0" smtClean="0">
                <a:sym typeface="Wingdings" pitchFamily="2" charset="2"/>
              </a:rPr>
              <a:t> </a:t>
            </a:r>
            <a:r>
              <a:rPr lang="en-US" sz="2000" dirty="0" smtClean="0"/>
              <a:t>Process Builder</a:t>
            </a:r>
            <a:endParaRPr lang="en-US" sz="2000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3282618"/>
            <a:ext cx="8542986" cy="3041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2. Create Organization-Wide Email Address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solidFill>
                  <a:srgbClr val="C00000"/>
                </a:solidFill>
              </a:rPr>
              <a:t>Use case: Setup FROM EMAIL for Email Alerts.</a:t>
            </a:r>
            <a:endParaRPr lang="en-US" sz="2400" dirty="0" smtClean="0"/>
          </a:p>
          <a:p>
            <a:r>
              <a:rPr lang="en-US" sz="2400" dirty="0" smtClean="0"/>
              <a:t>Setup </a:t>
            </a:r>
            <a:r>
              <a:rPr lang="en-US" sz="2400" dirty="0" smtClean="0">
                <a:sym typeface="Wingdings" pitchFamily="2" charset="2"/>
              </a:rPr>
              <a:t> </a:t>
            </a:r>
            <a:r>
              <a:rPr lang="en-US" sz="2400" dirty="0" smtClean="0"/>
              <a:t>Organization-Wide Addresses.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9575" y="3073400"/>
            <a:ext cx="5784850" cy="248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Setup Email-to-Case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https://trailhead.salesforce.com/en/content/learn/modules/service_basics/service_basics_create_customer_channels</a:t>
            </a:r>
            <a:endParaRPr lang="en-US" sz="2000" dirty="0" smtClean="0"/>
          </a:p>
          <a:p>
            <a:r>
              <a:rPr lang="en-US" sz="2000" dirty="0" smtClean="0"/>
              <a:t>Setup </a:t>
            </a:r>
            <a:r>
              <a:rPr lang="en-US" sz="2000" smtClean="0">
                <a:sym typeface="Wingdings" pitchFamily="2" charset="2"/>
              </a:rPr>
              <a:t> </a:t>
            </a:r>
            <a:r>
              <a:rPr lang="en-US" sz="2000" smtClean="0"/>
              <a:t>Email-to-Case.</a:t>
            </a:r>
            <a:endParaRPr lang="en-US" sz="2000" dirty="0" smtClean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Create a DKIM 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https://help.salesforce.com/articleView?id=emailadmin_create_secure_dkim.htm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Add </a:t>
            </a:r>
            <a:r>
              <a:rPr lang="en-US" dirty="0" err="1" smtClean="0"/>
              <a:t>Salesforce</a:t>
            </a:r>
            <a:r>
              <a:rPr lang="en-US" dirty="0" smtClean="0"/>
              <a:t> to SPF Record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https://help.salesforce.com/articleView?id=emailadmin_spf_include_salesforce.htm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Conga Composer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https://appexchange.salesforce.com/appxListingDetail?listingId=a0N300000016b7FEAQ</a:t>
            </a:r>
            <a:endParaRPr lang="en-US" sz="2000" dirty="0" smtClean="0"/>
          </a:p>
          <a:p>
            <a:endParaRPr lang="en-US" sz="20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05000" y="2710180"/>
            <a:ext cx="5511800" cy="3462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Select Account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6175" y="2066925"/>
            <a:ext cx="6851650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Grant Access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905000"/>
            <a:ext cx="7006720" cy="4077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Manage Conga Licenses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8525" y="2057400"/>
            <a:ext cx="734695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4114800" y="3886200"/>
            <a:ext cx="990600" cy="685800"/>
          </a:xfrm>
          <a:prstGeom prst="down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Open a Profile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12863" y="2187575"/>
            <a:ext cx="6518275" cy="2841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Go to </a:t>
            </a:r>
            <a:r>
              <a:rPr lang="en-US" i="1" dirty="0" smtClean="0"/>
              <a:t>Custom Metadata Types</a:t>
            </a:r>
            <a:endParaRPr lang="en-US" i="1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8613" y="2197100"/>
            <a:ext cx="5946775" cy="3365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Edit Custom Metadata Types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82875" y="2355850"/>
            <a:ext cx="3778250" cy="214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7. Enable Conga Custom Metadata Types</a:t>
            </a:r>
            <a:endParaRPr lang="en-US" sz="38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62175" y="2286000"/>
            <a:ext cx="4819650" cy="288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8. Open Conga Composer App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8525" y="2270125"/>
            <a:ext cx="7346950" cy="298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9. Grant Conga Access for Profiles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04900" y="2162175"/>
            <a:ext cx="6934200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Open Quick Start</a:t>
            </a:r>
            <a:endParaRPr lang="en-US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8235" y="2118876"/>
            <a:ext cx="7687565" cy="3672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Examples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828800"/>
            <a:ext cx="7543800" cy="3909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Add Remote Sites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2290127"/>
            <a:ext cx="7405370" cy="3424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200" dirty="0" smtClean="0"/>
              <a:t>1. Get Started with Conga Composer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https://www.youtube.com/watch?v=f4126pcslzE</a:t>
            </a:r>
            <a:endParaRPr lang="en-US" sz="2400" dirty="0" smtClean="0"/>
          </a:p>
          <a:p>
            <a:r>
              <a:rPr lang="en-US" sz="2400" dirty="0" smtClean="0">
                <a:hlinkClick r:id="rId3"/>
              </a:rPr>
              <a:t>https://www.youtube.com/watch?v=rn5_94w8vT4</a:t>
            </a:r>
          </a:p>
          <a:p>
            <a:r>
              <a:rPr lang="en-US" sz="2400" dirty="0" smtClean="0">
                <a:hlinkClick r:id="rId3"/>
              </a:rPr>
              <a:t>https://www.youtube.com/watch?v=zyFsooKBqdg</a:t>
            </a:r>
            <a:endParaRPr lang="en-US" sz="2400" dirty="0" smtClean="0"/>
          </a:p>
          <a:p>
            <a:r>
              <a:rPr lang="en-US" sz="2400" dirty="0" smtClean="0">
                <a:hlinkClick r:id="rId4"/>
              </a:rPr>
              <a:t>https://www.youtube.com/watch?v=ehf2VNj9O9k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Edit a Button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2345" y="2209800"/>
            <a:ext cx="7918255" cy="33605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Customize a Button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057400"/>
            <a:ext cx="7811015" cy="3609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Review Built-in Parameters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https://documentation.conga.com/composer/latest/salesforce/ac0-143198803.html</a:t>
            </a:r>
            <a:endParaRPr lang="en-US" sz="2000" dirty="0" smtClean="0"/>
          </a:p>
          <a:p>
            <a:r>
              <a:rPr lang="en-US" sz="2000" b="1" dirty="0" smtClean="0"/>
              <a:t>AC0: </a:t>
            </a:r>
            <a:r>
              <a:rPr lang="en-US" sz="2000" dirty="0" smtClean="0"/>
              <a:t>Specifies whether to automatically log an activity after merging.</a:t>
            </a:r>
          </a:p>
          <a:p>
            <a:r>
              <a:rPr lang="en-US" sz="2000" b="1" dirty="0" smtClean="0"/>
              <a:t>AC1: </a:t>
            </a:r>
            <a:r>
              <a:rPr lang="en-US" sz="2000" dirty="0" smtClean="0"/>
              <a:t>Sets the Subject to the text specified. Also used as the subject of a Follow-Up Task, if one is created.</a:t>
            </a:r>
          </a:p>
          <a:p>
            <a:endParaRPr lang="en-US" sz="2000" dirty="0" smtClean="0"/>
          </a:p>
          <a:p>
            <a:endParaRPr lang="en-US" sz="20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71600" y="3429000"/>
            <a:ext cx="6387807" cy="29195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mtClean="0"/>
              <a:t>5. </a:t>
            </a:r>
            <a:r>
              <a:rPr lang="en-US" dirty="0" smtClean="0"/>
              <a:t>Review Id &amp; Query Parameter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438" y="2139950"/>
            <a:ext cx="7985125" cy="365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a Conga Query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272556"/>
            <a:ext cx="8143956" cy="29852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Enter SOQL Select Statement</a:t>
            </a:r>
            <a:endParaRPr lang="en-US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2093262"/>
            <a:ext cx="7671978" cy="3316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pv</a:t>
            </a:r>
            <a:r>
              <a:rPr lang="en-US" dirty="0" smtClean="0"/>
              <a:t> Value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hlinkClick r:id="rId2"/>
              </a:rPr>
              <a:t>https://documentation.conga.com/composer/latest/salesforce/dynamically-filter-reports-and-queries-with-pv-values-143198617.html</a:t>
            </a:r>
            <a:endParaRPr lang="en-US" sz="2200" dirty="0" smtClean="0"/>
          </a:p>
          <a:p>
            <a:r>
              <a:rPr lang="en-US" sz="2400" dirty="0" smtClean="0"/>
              <a:t>PV (or </a:t>
            </a:r>
            <a:r>
              <a:rPr lang="en-US" sz="2400" dirty="0" err="1" smtClean="0"/>
              <a:t>pv</a:t>
            </a:r>
            <a:r>
              <a:rPr lang="en-US" sz="2400" dirty="0" smtClean="0"/>
              <a:t>) stands for </a:t>
            </a:r>
            <a:r>
              <a:rPr lang="en-US" sz="2400" i="1" dirty="0" smtClean="0">
                <a:solidFill>
                  <a:srgbClr val="C00000"/>
                </a:solidFill>
              </a:rPr>
              <a:t>parameter value</a:t>
            </a:r>
            <a:r>
              <a:rPr lang="en-US" sz="2400" dirty="0" smtClean="0"/>
              <a:t>, which is a </a:t>
            </a:r>
            <a:r>
              <a:rPr lang="en-US" sz="2400" u="sng" dirty="0" smtClean="0"/>
              <a:t>value</a:t>
            </a:r>
            <a:r>
              <a:rPr lang="en-US" sz="2400" dirty="0" smtClean="0"/>
              <a:t> that can be </a:t>
            </a:r>
            <a:r>
              <a:rPr lang="en-US" sz="2400" u="sng" dirty="0" smtClean="0"/>
              <a:t>passed into a filter</a:t>
            </a:r>
            <a:r>
              <a:rPr lang="en-US" sz="2400" dirty="0" smtClean="0"/>
              <a:t> on a </a:t>
            </a:r>
            <a:r>
              <a:rPr lang="en-US" sz="2400" u="sng" dirty="0" err="1" smtClean="0"/>
              <a:t>Salesforce</a:t>
            </a:r>
            <a:r>
              <a:rPr lang="en-US" sz="2400" u="sng" dirty="0" smtClean="0"/>
              <a:t> report</a:t>
            </a:r>
            <a:r>
              <a:rPr lang="en-US" sz="2400" dirty="0" smtClean="0"/>
              <a:t> or </a:t>
            </a:r>
            <a:r>
              <a:rPr lang="en-US" sz="2400" u="sng" dirty="0" smtClean="0"/>
              <a:t>Conga query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The first filter on a report or query is called pv0, the second pv1, the third pv2, and so on.</a:t>
            </a:r>
          </a:p>
          <a:p>
            <a:r>
              <a:rPr lang="en-US" sz="2400" dirty="0" smtClean="0"/>
              <a:t>Composer's </a:t>
            </a:r>
            <a:r>
              <a:rPr lang="en-US" sz="2400" u="sng" dirty="0" smtClean="0"/>
              <a:t>default behavior</a:t>
            </a:r>
            <a:r>
              <a:rPr lang="en-US" sz="2400" dirty="0" smtClean="0"/>
              <a:t> is to pass the </a:t>
            </a:r>
            <a:r>
              <a:rPr lang="en-US" sz="2400" i="1" dirty="0" smtClean="0">
                <a:solidFill>
                  <a:srgbClr val="C00000"/>
                </a:solidFill>
              </a:rPr>
              <a:t>master object record Id</a:t>
            </a:r>
            <a:r>
              <a:rPr lang="en-US" sz="2400" dirty="0" smtClean="0"/>
              <a:t> into the pv0 filter.</a:t>
            </a:r>
            <a:endParaRPr lang="en-US" sz="2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Copy Object Id Value</a:t>
            </a:r>
            <a:endParaRPr lang="en-US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4200" y="1816100"/>
            <a:ext cx="7975600" cy="4203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Test Query using Object Id Value</a:t>
            </a:r>
            <a:endParaRPr lang="en-US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1752600"/>
            <a:ext cx="7500938" cy="435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err="1" smtClean="0"/>
              <a:t>QueryId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>
                <a:latin typeface="+mj-lt"/>
                <a:hlinkClick r:id="rId2"/>
              </a:rPr>
              <a:t>https://documentation.conga.com/composer/latest/salesforce/queryid-195697210.html</a:t>
            </a:r>
            <a:endParaRPr lang="en-US" sz="2200" dirty="0" smtClean="0">
              <a:latin typeface="+mj-lt"/>
            </a:endParaRPr>
          </a:p>
          <a:p>
            <a:r>
              <a:rPr lang="en-US" sz="2200" dirty="0" err="1" smtClean="0">
                <a:latin typeface="+mj-lt"/>
              </a:rPr>
              <a:t>QueryID</a:t>
            </a:r>
            <a:r>
              <a:rPr lang="en-US" sz="2200" dirty="0" smtClean="0">
                <a:latin typeface="+mj-lt"/>
              </a:rPr>
              <a:t> retrieves the SOQL query stored in the specified </a:t>
            </a:r>
            <a:r>
              <a:rPr lang="en-US" sz="2200" dirty="0" err="1" smtClean="0">
                <a:latin typeface="+mj-lt"/>
              </a:rPr>
              <a:t>Salesforce</a:t>
            </a:r>
            <a:r>
              <a:rPr lang="en-US" sz="2200" dirty="0" smtClean="0">
                <a:latin typeface="+mj-lt"/>
              </a:rPr>
              <a:t> record, executes the SOQL query and makes the SOQL query results available through a dataset as seen on the Template Builder window.</a:t>
            </a:r>
          </a:p>
          <a:p>
            <a:r>
              <a:rPr lang="en-US" sz="2200" dirty="0" smtClean="0">
                <a:latin typeface="+mj-lt"/>
              </a:rPr>
              <a:t>You may include up to 50 </a:t>
            </a:r>
            <a:r>
              <a:rPr lang="en-US" sz="2200" dirty="0" err="1" smtClean="0">
                <a:latin typeface="+mj-lt"/>
              </a:rPr>
              <a:t>QueryID</a:t>
            </a:r>
            <a:r>
              <a:rPr lang="en-US" sz="2200" dirty="0" smtClean="0">
                <a:latin typeface="+mj-lt"/>
              </a:rPr>
              <a:t> values in a Conga Composer URL, thus making 50 queries accessible in a single merge operation.</a:t>
            </a:r>
          </a:p>
          <a:p>
            <a:r>
              <a:rPr lang="en-US" sz="2200" dirty="0" smtClean="0">
                <a:latin typeface="+mj-lt"/>
              </a:rPr>
              <a:t>Example of two Queries: </a:t>
            </a:r>
            <a:r>
              <a:rPr lang="en-US" sz="2000" dirty="0" smtClean="0">
                <a:latin typeface="+mj-lt"/>
              </a:rPr>
              <a:t>&amp;</a:t>
            </a:r>
            <a:r>
              <a:rPr lang="en-US" sz="2000" dirty="0" err="1" smtClean="0">
                <a:latin typeface="+mj-lt"/>
              </a:rPr>
              <a:t>QueryId</a:t>
            </a:r>
            <a:r>
              <a:rPr lang="en-US" sz="2000" dirty="0" smtClean="0">
                <a:latin typeface="+mj-lt"/>
              </a:rPr>
              <a:t>=[</a:t>
            </a:r>
            <a:r>
              <a:rPr lang="en-US" sz="2000" b="1" dirty="0" smtClean="0">
                <a:solidFill>
                  <a:srgbClr val="C00000"/>
                </a:solidFill>
                <a:latin typeface="+mj-lt"/>
              </a:rPr>
              <a:t>Contacts</a:t>
            </a:r>
            <a:r>
              <a:rPr lang="en-US" sz="2000" dirty="0" smtClean="0">
                <a:latin typeface="+mj-lt"/>
              </a:rPr>
              <a:t>]</a:t>
            </a:r>
            <a:r>
              <a:rPr lang="en-US" sz="2000" b="1" i="1" dirty="0" smtClean="0">
                <a:latin typeface="+mj-lt"/>
              </a:rPr>
              <a:t>a00143532453dg32</a:t>
            </a:r>
            <a:r>
              <a:rPr lang="en-US" sz="2000" dirty="0" smtClean="0">
                <a:latin typeface="+mj-lt"/>
              </a:rPr>
              <a:t>,[</a:t>
            </a:r>
            <a:r>
              <a:rPr lang="en-US" sz="2000" b="1" dirty="0" smtClean="0">
                <a:solidFill>
                  <a:srgbClr val="C00000"/>
                </a:solidFill>
                <a:latin typeface="+mj-lt"/>
              </a:rPr>
              <a:t>Cases</a:t>
            </a:r>
            <a:r>
              <a:rPr lang="en-US" sz="2000" dirty="0" smtClean="0">
                <a:latin typeface="+mj-lt"/>
              </a:rPr>
              <a:t>]</a:t>
            </a:r>
            <a:r>
              <a:rPr lang="en-US" sz="2000" b="1" i="1" dirty="0" smtClean="0">
                <a:latin typeface="+mj-lt"/>
              </a:rPr>
              <a:t>a00143532453dg32</a:t>
            </a:r>
            <a:endParaRPr lang="en-US" sz="2000" b="1" i="1" dirty="0">
              <a:latin typeface="+mj-l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Copy Query </a:t>
            </a:r>
            <a:r>
              <a:rPr lang="en-US" smtClean="0"/>
              <a:t>Id Value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218801"/>
            <a:ext cx="7945688" cy="2962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Modify Query Parameter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438" y="2139950"/>
            <a:ext cx="7985125" cy="365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Pass Date Range Parameter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https://documentation.conga.com/composer/latest/salesforce/queries-to-parse-data-in-a-conga-batch-or-workflow-formula-143199138.html</a:t>
            </a:r>
            <a:endParaRPr lang="en-US" sz="2400" dirty="0" smtClean="0"/>
          </a:p>
          <a:p>
            <a:endParaRPr lang="en-US" sz="2400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32906" y="3200400"/>
            <a:ext cx="7977694" cy="29536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Open Template Builder</a:t>
            </a:r>
            <a:endParaRPr lang="en-US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043642"/>
            <a:ext cx="7900797" cy="3747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Down Arrow 6"/>
          <p:cNvSpPr/>
          <p:nvPr/>
        </p:nvSpPr>
        <p:spPr>
          <a:xfrm>
            <a:off x="7315200" y="1752600"/>
            <a:ext cx="990600" cy="6858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905000"/>
            <a:ext cx="7887496" cy="4136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Copy Template Regions</a:t>
            </a:r>
            <a:endParaRPr lang="en-US" dirty="0"/>
          </a:p>
        </p:txBody>
      </p:sp>
      <p:sp>
        <p:nvSpPr>
          <p:cNvPr id="7" name="Down Arrow 6"/>
          <p:cNvSpPr/>
          <p:nvPr/>
        </p:nvSpPr>
        <p:spPr>
          <a:xfrm>
            <a:off x="4114800" y="2819400"/>
            <a:ext cx="990600" cy="6858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u="sng" dirty="0" smtClean="0"/>
              <a:t>1</a:t>
            </a:r>
            <a:endParaRPr lang="en-US" sz="2400" u="sng" dirty="0"/>
          </a:p>
        </p:txBody>
      </p:sp>
      <p:sp>
        <p:nvSpPr>
          <p:cNvPr id="8" name="Down Arrow 7"/>
          <p:cNvSpPr/>
          <p:nvPr/>
        </p:nvSpPr>
        <p:spPr>
          <a:xfrm>
            <a:off x="4343400" y="4876800"/>
            <a:ext cx="990600" cy="6858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u="sng" dirty="0" smtClean="0"/>
              <a:t>2</a:t>
            </a:r>
            <a:endParaRPr lang="en-US" sz="2400" u="sng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Create a Template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8450" y="2603500"/>
            <a:ext cx="8547100" cy="242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Upload a Template File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905000"/>
            <a:ext cx="7887496" cy="39337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Down Arrow 4"/>
          <p:cNvSpPr/>
          <p:nvPr/>
        </p:nvSpPr>
        <p:spPr>
          <a:xfrm>
            <a:off x="7543800" y="3657600"/>
            <a:ext cx="990600" cy="685800"/>
          </a:xfrm>
          <a:prstGeom prst="downArrow">
            <a:avLst/>
          </a:prstGeom>
          <a:solidFill>
            <a:schemeClr val="accent2">
              <a:alpha val="70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u="sng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Include Error in Template for Debugging</a:t>
            </a:r>
            <a:endParaRPr lang="en-US" sz="38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609600" y="2743200"/>
          <a:ext cx="7924800" cy="721360"/>
        </p:xfrm>
        <a:graphic>
          <a:graphicData uri="http://schemas.openxmlformats.org/drawingml/2006/table">
            <a:tbl>
              <a:tblPr/>
              <a:tblGrid>
                <a:gridCol w="7924800"/>
              </a:tblGrid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Error</a:t>
                      </a:r>
                      <a:endParaRPr lang="en-US" sz="2200" dirty="0">
                        <a:latin typeface="+mj-lt"/>
                        <a:ea typeface="Times New Roman"/>
                        <a:cs typeface="Times New Roman"/>
                      </a:endParaRPr>
                    </a:p>
                  </a:txBody>
                  <a:tcPr marL="12700" marR="12700"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0E0E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FF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{{</a:t>
                      </a:r>
                      <a:r>
                        <a:rPr lang="en-US" sz="2200" dirty="0" err="1">
                          <a:solidFill>
                            <a:srgbClr val="FF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TableStart:CriticalIncidents</a:t>
                      </a:r>
                      <a:r>
                        <a:rPr lang="en-US" sz="2200" dirty="0">
                          <a:solidFill>
                            <a:srgbClr val="FF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}}</a:t>
                      </a:r>
                      <a:r>
                        <a:rPr lang="en-US" sz="2200" dirty="0">
                          <a:solidFill>
                            <a:srgbClr val="00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{{Error}}</a:t>
                      </a:r>
                      <a:r>
                        <a:rPr lang="en-US" sz="2200" dirty="0">
                          <a:solidFill>
                            <a:srgbClr val="FF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{{</a:t>
                      </a:r>
                      <a:r>
                        <a:rPr lang="en-US" sz="2200" dirty="0" err="1">
                          <a:solidFill>
                            <a:srgbClr val="FF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TableEnd:CriticalIncidents</a:t>
                      </a:r>
                      <a:r>
                        <a:rPr lang="en-US" sz="2200" dirty="0">
                          <a:solidFill>
                            <a:srgbClr val="FF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}}</a:t>
                      </a:r>
                      <a:endParaRPr lang="en-US" sz="2200" dirty="0">
                        <a:latin typeface="+mj-lt"/>
                        <a:ea typeface="Times New Roman"/>
                        <a:cs typeface="Times New Roman"/>
                      </a:endParaRPr>
                    </a:p>
                  </a:txBody>
                  <a:tcPr marL="12700" marR="12700" marT="12700" marB="127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Format Date Values in Word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https://documentation.conga.com/composer/latest/salesforce/format-date-values-in-word-143198654.html</a:t>
            </a:r>
            <a:endParaRPr lang="en-US" sz="2400" dirty="0" smtClean="0"/>
          </a:p>
          <a:p>
            <a:endParaRPr lang="en-US" sz="24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950408"/>
          <a:ext cx="7772400" cy="1341120"/>
        </p:xfrm>
        <a:graphic>
          <a:graphicData uri="http://schemas.openxmlformats.org/drawingml/2006/table">
            <a:tbl>
              <a:tblPr/>
              <a:tblGrid>
                <a:gridCol w="2842998"/>
                <a:gridCol w="4929402"/>
              </a:tblGrid>
              <a:tr h="31906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Reporting Period Start</a:t>
                      </a:r>
                      <a:endParaRPr lang="en-US" sz="2200" dirty="0">
                        <a:latin typeface="+mj-lt"/>
                        <a:ea typeface="Times New Roman"/>
                        <a:cs typeface="Times New Roman"/>
                      </a:endParaRPr>
                    </a:p>
                  </a:txBody>
                  <a:tcPr marL="43508" marR="43508" marT="43508" marB="43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{{OPG_CRITICAL_INCIDENT_REPORT_REPORTING_PERIOD_START </a:t>
                      </a:r>
                      <a:r>
                        <a:rPr lang="en-US" sz="2200" dirty="0">
                          <a:solidFill>
                            <a:srgbClr val="C0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\@ MM/</a:t>
                      </a:r>
                      <a:r>
                        <a:rPr lang="en-US" sz="2200" dirty="0" err="1">
                          <a:solidFill>
                            <a:srgbClr val="C0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dd</a:t>
                      </a:r>
                      <a:r>
                        <a:rPr lang="en-US" sz="2200" dirty="0">
                          <a:solidFill>
                            <a:srgbClr val="C0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2200" dirty="0" err="1">
                          <a:solidFill>
                            <a:srgbClr val="C0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yyyy</a:t>
                      </a:r>
                      <a:r>
                        <a:rPr lang="en-US" sz="2200" dirty="0">
                          <a:solidFill>
                            <a:srgbClr val="00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}}</a:t>
                      </a:r>
                      <a:endParaRPr lang="en-US" sz="2200" dirty="0">
                        <a:latin typeface="+mj-lt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19061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b="1">
                          <a:solidFill>
                            <a:srgbClr val="00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Reporting Period End</a:t>
                      </a:r>
                      <a:endParaRPr lang="en-US" sz="2200">
                        <a:latin typeface="+mj-lt"/>
                        <a:ea typeface="Times New Roman"/>
                        <a:cs typeface="Times New Roman"/>
                      </a:endParaRPr>
                    </a:p>
                  </a:txBody>
                  <a:tcPr marL="43508" marR="43508" marT="43508" marB="4350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{{OPG_CRITICAL_INCIDENT_REPORT_REPORTING_PERIOD_END </a:t>
                      </a:r>
                      <a:r>
                        <a:rPr lang="en-US" sz="2200" dirty="0">
                          <a:solidFill>
                            <a:srgbClr val="C0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\@ MM/</a:t>
                      </a:r>
                      <a:r>
                        <a:rPr lang="en-US" sz="2200" dirty="0" err="1">
                          <a:solidFill>
                            <a:srgbClr val="C0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dd</a:t>
                      </a:r>
                      <a:r>
                        <a:rPr lang="en-US" sz="2200" dirty="0">
                          <a:solidFill>
                            <a:srgbClr val="C0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/</a:t>
                      </a:r>
                      <a:r>
                        <a:rPr lang="en-US" sz="2200" dirty="0" err="1">
                          <a:solidFill>
                            <a:srgbClr val="C0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yyyy</a:t>
                      </a:r>
                      <a:r>
                        <a:rPr lang="en-US" sz="2200" dirty="0">
                          <a:solidFill>
                            <a:srgbClr val="000000"/>
                          </a:solidFill>
                          <a:latin typeface="+mj-lt"/>
                          <a:ea typeface="Times New Roman"/>
                          <a:cs typeface="Times New Roman"/>
                        </a:rPr>
                        <a:t>}}</a:t>
                      </a:r>
                      <a:endParaRPr lang="en-US" sz="2200" dirty="0">
                        <a:latin typeface="+mj-lt"/>
                        <a:ea typeface="Times New Roman"/>
                        <a:cs typeface="Times New Roman"/>
                      </a:endParaRPr>
                    </a:p>
                  </a:txBody>
                  <a:tcPr marL="0" marR="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Format Currency Values in Word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https://documentation.conga.com/composer/latest/salesforce/format-number-values-in-word-203496158.html</a:t>
            </a:r>
            <a:endParaRPr lang="en-US" sz="2400" dirty="0" smtClean="0"/>
          </a:p>
          <a:p>
            <a:endParaRPr lang="en-US" sz="24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38200" y="3124200"/>
          <a:ext cx="7620000" cy="18288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5943600"/>
                <a:gridCol w="16764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{{OPPORTUNITY_AMOUNT \# #,##0}}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5,280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{{OPPORTUNITY_AMOUNT \# $#,##0}}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$5,280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{{OPPORTUNITY_AMOUNT \# $#,##0.00}}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$5,280.25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{{OPPORTUNITY_AMOUNT \# Currency}}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$5,280.25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Nested SOQL Queries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https://documentation.conga.com/composer/latest/salesforce/nested-soql-queries-143901344.html</a:t>
            </a:r>
            <a:endParaRPr lang="en-US" sz="2400" dirty="0" smtClean="0"/>
          </a:p>
          <a:p>
            <a:r>
              <a:rPr lang="en-US" sz="2400" dirty="0" smtClean="0"/>
              <a:t>Purpose: </a:t>
            </a:r>
            <a:r>
              <a:rPr lang="en-US" sz="2400" smtClean="0"/>
              <a:t>To create child reports.</a:t>
            </a:r>
            <a:endParaRPr lang="en-US" sz="24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ReportId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https://documentation.conga.com/composer/latest/salesforce/reportid-195697234.html</a:t>
            </a:r>
            <a:endParaRPr lang="en-US" sz="2000" dirty="0" smtClean="0"/>
          </a:p>
          <a:p>
            <a:r>
              <a:rPr lang="en-US" sz="2000" dirty="0" smtClean="0"/>
              <a:t>The 15-character </a:t>
            </a:r>
            <a:r>
              <a:rPr lang="en-US" sz="2000" dirty="0" err="1" smtClean="0"/>
              <a:t>Salesforce</a:t>
            </a:r>
            <a:r>
              <a:rPr lang="en-US" sz="2000" dirty="0" smtClean="0"/>
              <a:t> ID of a Report.</a:t>
            </a:r>
          </a:p>
          <a:p>
            <a:r>
              <a:rPr lang="en-US" sz="2000" dirty="0" smtClean="0"/>
              <a:t>Retrieves the contents of the specified report (identified by its 15-character </a:t>
            </a:r>
            <a:r>
              <a:rPr lang="en-US" sz="2000" dirty="0" err="1" smtClean="0"/>
              <a:t>Salesforce</a:t>
            </a:r>
            <a:r>
              <a:rPr lang="en-US" sz="2000" dirty="0" smtClean="0"/>
              <a:t> Id) and makes the report contents available through a dataset as seen on the Template Builder window.</a:t>
            </a:r>
          </a:p>
          <a:p>
            <a:r>
              <a:rPr lang="en-US" sz="2000" dirty="0" smtClean="0"/>
              <a:t>Example</a:t>
            </a:r>
            <a:r>
              <a:rPr lang="en-US" sz="2000" b="1" dirty="0" smtClean="0"/>
              <a:t>: &amp;</a:t>
            </a:r>
            <a:r>
              <a:rPr lang="en-US" sz="2000" b="1" dirty="0" err="1" smtClean="0"/>
              <a:t>ReportId</a:t>
            </a:r>
            <a:r>
              <a:rPr lang="en-US" sz="2000" b="1" dirty="0" smtClean="0"/>
              <a:t>=00143532453dg3A</a:t>
            </a:r>
          </a:p>
          <a:p>
            <a:r>
              <a:rPr lang="en-US" sz="2000" dirty="0" smtClean="0"/>
              <a:t>Two Reports: </a:t>
            </a:r>
            <a:r>
              <a:rPr lang="en-US" sz="2000" b="1" dirty="0" smtClean="0"/>
              <a:t>&amp;</a:t>
            </a:r>
            <a:r>
              <a:rPr lang="en-US" sz="2000" b="1" dirty="0" err="1" smtClean="0"/>
              <a:t>ReportId</a:t>
            </a:r>
            <a:r>
              <a:rPr lang="en-US" sz="2000" b="1" dirty="0" smtClean="0"/>
              <a:t>=00O43532453dg3A,00O43532453dgF2</a:t>
            </a:r>
          </a:p>
          <a:p>
            <a:r>
              <a:rPr lang="en-US" sz="2000" dirty="0" smtClean="0"/>
              <a:t>Report with Alias: </a:t>
            </a:r>
            <a:r>
              <a:rPr lang="en-US" sz="2000" b="1" dirty="0" smtClean="0"/>
              <a:t>&amp;</a:t>
            </a:r>
            <a:r>
              <a:rPr lang="en-US" sz="2000" b="1" dirty="0" err="1" smtClean="0"/>
              <a:t>ReportId</a:t>
            </a:r>
            <a:r>
              <a:rPr lang="en-US" sz="2000" b="1" dirty="0" smtClean="0"/>
              <a:t>=[</a:t>
            </a:r>
            <a:r>
              <a:rPr lang="en-US" sz="2000" b="1" dirty="0" err="1" smtClean="0"/>
              <a:t>MyContacts</a:t>
            </a:r>
            <a:r>
              <a:rPr lang="en-US" sz="2000" b="1" dirty="0" smtClean="0"/>
              <a:t>]00143532453dg3A</a:t>
            </a:r>
          </a:p>
          <a:p>
            <a:r>
              <a:rPr lang="en-US" sz="2000" dirty="0" smtClean="0"/>
              <a:t>Report with Two Aliases: </a:t>
            </a:r>
            <a:r>
              <a:rPr lang="en-US" sz="1800" b="1" dirty="0" smtClean="0"/>
              <a:t>&amp;</a:t>
            </a:r>
            <a:r>
              <a:rPr lang="en-US" sz="1800" b="1" dirty="0" err="1" smtClean="0"/>
              <a:t>ReportId</a:t>
            </a:r>
            <a:r>
              <a:rPr lang="en-US" sz="1800" b="1" dirty="0" smtClean="0"/>
              <a:t>=[</a:t>
            </a:r>
            <a:r>
              <a:rPr lang="en-US" sz="1800" b="1" dirty="0" err="1" smtClean="0"/>
              <a:t>MyAccounts</a:t>
            </a:r>
            <a:r>
              <a:rPr lang="en-US" sz="1800" b="1" dirty="0" smtClean="0"/>
              <a:t>]00O43532453dg3A,[</a:t>
            </a:r>
            <a:r>
              <a:rPr lang="en-US" sz="1800" b="1" dirty="0" err="1" smtClean="0"/>
              <a:t>MyCases</a:t>
            </a:r>
            <a:r>
              <a:rPr lang="en-US" sz="1800" b="1" dirty="0" smtClean="0"/>
              <a:t>]00O43532453dgF2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Copy Report Id Value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9959" y="1974374"/>
            <a:ext cx="7838241" cy="3664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Modify Query Parameter</a:t>
            </a:r>
            <a:endParaRPr lang="en-US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3800" dirty="0" smtClean="0"/>
              <a:t>1. Add Custom Button to Lightning Record Pages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In </a:t>
            </a:r>
            <a:r>
              <a:rPr lang="en-US" sz="1800" dirty="0" err="1" smtClean="0"/>
              <a:t>Salesforce</a:t>
            </a:r>
            <a:r>
              <a:rPr lang="en-US" sz="1800" dirty="0" smtClean="0"/>
              <a:t> Setup, open </a:t>
            </a:r>
            <a:r>
              <a:rPr lang="en-US" sz="1800" b="1" dirty="0" smtClean="0"/>
              <a:t>Object Manager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Search for the object in the quick find on the right and choose the object on the left.</a:t>
            </a:r>
          </a:p>
          <a:p>
            <a:r>
              <a:rPr lang="en-US" sz="1800" dirty="0" smtClean="0"/>
              <a:t>Verify the button exists on the object in "</a:t>
            </a:r>
            <a:r>
              <a:rPr lang="en-US" sz="1800" b="1" dirty="0" smtClean="0"/>
              <a:t>Buttons, Links, and Actions</a:t>
            </a:r>
            <a:r>
              <a:rPr lang="en-US" sz="1800" dirty="0" smtClean="0"/>
              <a:t>".</a:t>
            </a:r>
          </a:p>
          <a:p>
            <a:r>
              <a:rPr lang="en-US" sz="1800" dirty="0" smtClean="0"/>
              <a:t>Select</a:t>
            </a:r>
            <a:r>
              <a:rPr lang="en-US" sz="1800" b="1" dirty="0" smtClean="0"/>
              <a:t> Lightning Record Pages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Choose the correct page by </a:t>
            </a:r>
            <a:r>
              <a:rPr lang="en-US" sz="1800" b="1" dirty="0" smtClean="0"/>
              <a:t>Label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On the Lightning page, choose </a:t>
            </a:r>
            <a:r>
              <a:rPr lang="en-US" sz="1800" b="1" dirty="0" smtClean="0"/>
              <a:t>Edit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Choose the </a:t>
            </a:r>
            <a:r>
              <a:rPr lang="en-US" sz="1800" b="1" dirty="0" smtClean="0"/>
              <a:t>Highlights Panel </a:t>
            </a:r>
            <a:r>
              <a:rPr lang="en-US" sz="1800" dirty="0" smtClean="0"/>
              <a:t>(the section at the top of the page with the key). </a:t>
            </a:r>
          </a:p>
          <a:p>
            <a:r>
              <a:rPr lang="en-US" sz="1800" dirty="0" smtClean="0"/>
              <a:t>On the right pane, verify that </a:t>
            </a:r>
            <a:r>
              <a:rPr lang="en-US" sz="1800" b="1" dirty="0" smtClean="0"/>
              <a:t>Dynamic Actions</a:t>
            </a:r>
            <a:r>
              <a:rPr lang="en-US" sz="1800" dirty="0" smtClean="0"/>
              <a:t> has been enabled. If </a:t>
            </a:r>
            <a:r>
              <a:rPr lang="en-US" sz="1800" b="1" dirty="0" smtClean="0"/>
              <a:t>Dynamic Actions</a:t>
            </a:r>
            <a:r>
              <a:rPr lang="en-US" sz="1800" dirty="0" smtClean="0"/>
              <a:t> is not enabled, you'll be prompted to enable it in order to proceed.</a:t>
            </a:r>
          </a:p>
          <a:p>
            <a:r>
              <a:rPr lang="en-US" sz="1800" dirty="0" smtClean="0"/>
              <a:t>Scroll down and choose </a:t>
            </a:r>
            <a:r>
              <a:rPr lang="en-US" sz="1800" b="1" dirty="0" smtClean="0"/>
              <a:t>Add Action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Find and add the desired button to the </a:t>
            </a:r>
            <a:r>
              <a:rPr lang="en-US" sz="1800" b="1" dirty="0" smtClean="0"/>
              <a:t>Lightning Record Page</a:t>
            </a:r>
            <a:r>
              <a:rPr lang="en-US" sz="1800" dirty="0" smtClean="0"/>
              <a:t>.</a:t>
            </a:r>
          </a:p>
          <a:p>
            <a:r>
              <a:rPr lang="en-US" sz="1800" dirty="0" smtClean="0"/>
              <a:t>Open a record using this Lightning record page and confirm the presence of the button. </a:t>
            </a:r>
            <a:endParaRPr lang="en-US" sz="18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Build a Composer solution using Solution Manager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https://conga.com/resources/build-composer-solution-using-solution-manager-video</a:t>
            </a:r>
            <a:endParaRPr lang="en-US" sz="2400" dirty="0" smtClean="0"/>
          </a:p>
          <a:p>
            <a:r>
              <a:rPr lang="en-US" sz="2400" dirty="0" smtClean="0"/>
              <a:t>Purpose: To create a button with parameters using UI.</a:t>
            </a:r>
            <a:endParaRPr lang="en-US" sz="24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Salesforce</a:t>
            </a:r>
            <a:r>
              <a:rPr lang="en-US" dirty="0" smtClean="0"/>
              <a:t> Document Generation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help.salesforce.com/s/articleView?id=ind.sf_docgen_what_can_you_do_three.htm&amp;type=5</a:t>
            </a:r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Custom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Select </a:t>
            </a:r>
            <a:r>
              <a:rPr lang="en-US" sz="1800" b="1" dirty="0" smtClean="0"/>
              <a:t>Launch New Custom Tab Wizard after saving this custom object</a:t>
            </a:r>
            <a:r>
              <a:rPr lang="en-US" sz="1800" dirty="0" smtClean="0"/>
              <a:t> option.</a:t>
            </a:r>
            <a:endParaRPr lang="en-US" sz="18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30400" y="2451100"/>
            <a:ext cx="5283200" cy="3568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Record Page for Object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Select </a:t>
            </a:r>
            <a:r>
              <a:rPr lang="en-US" sz="2000" b="1" dirty="0" smtClean="0"/>
              <a:t>Header and Right Sidebar</a:t>
            </a:r>
            <a:r>
              <a:rPr lang="en-US" sz="2000" dirty="0" smtClean="0"/>
              <a:t> template.</a:t>
            </a:r>
          </a:p>
          <a:p>
            <a:r>
              <a:rPr lang="en-US" sz="2000" dirty="0" smtClean="0"/>
              <a:t>Add </a:t>
            </a:r>
            <a:r>
              <a:rPr lang="en-US" sz="2000" b="1" dirty="0" smtClean="0"/>
              <a:t>Record detail</a:t>
            </a:r>
            <a:r>
              <a:rPr lang="en-US" sz="2000" dirty="0" smtClean="0"/>
              <a:t> component, </a:t>
            </a:r>
            <a:r>
              <a:rPr lang="en-US" sz="2000" b="1" dirty="0" smtClean="0"/>
              <a:t>Highlights panel</a:t>
            </a:r>
            <a:r>
              <a:rPr lang="en-US" sz="2000" dirty="0" smtClean="0"/>
              <a:t> component, </a:t>
            </a:r>
            <a:r>
              <a:rPr lang="en-US" sz="2000" b="1" dirty="0" smtClean="0"/>
              <a:t>Related List - Single</a:t>
            </a:r>
            <a:r>
              <a:rPr lang="en-US" sz="2000" dirty="0" smtClean="0"/>
              <a:t> component for Notes &amp; Attachments.</a:t>
            </a:r>
            <a:endParaRPr lang="en-US" sz="20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25525" y="2962275"/>
            <a:ext cx="7092950" cy="343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sz="4000" dirty="0" smtClean="0"/>
              <a:t>3. Create Lightning App for Object</a:t>
            </a:r>
            <a:endParaRPr lang="en-US" sz="42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1828800"/>
            <a:ext cx="6695440" cy="41427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</a:t>
            </a:r>
            <a:r>
              <a:rPr lang="en-US" smtClean="0"/>
              <a:t>Create Object Fields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0738" y="1749425"/>
            <a:ext cx="7502525" cy="442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26605</TotalTime>
  <Words>1291</Words>
  <Application>Microsoft Office PowerPoint</Application>
  <PresentationFormat>On-screen Show (4:3)</PresentationFormat>
  <Paragraphs>199</Paragraphs>
  <Slides>86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86</vt:i4>
      </vt:variant>
    </vt:vector>
  </HeadingPairs>
  <TitlesOfParts>
    <vt:vector size="87" baseType="lpstr">
      <vt:lpstr>Office Theme</vt:lpstr>
      <vt:lpstr>Case Management</vt:lpstr>
      <vt:lpstr>Objectives</vt:lpstr>
      <vt:lpstr>Contents</vt:lpstr>
      <vt:lpstr>References</vt:lpstr>
      <vt:lpstr>1. Add a Customer Support Specialist</vt:lpstr>
      <vt:lpstr>2. Enable Lightning Experience User Admin Access</vt:lpstr>
      <vt:lpstr>3. Add a New Case Status</vt:lpstr>
      <vt:lpstr>4. Create a Queue</vt:lpstr>
      <vt:lpstr>5. Create a Case Assignment Rule</vt:lpstr>
      <vt:lpstr>6. Create a Rule Entry</vt:lpstr>
      <vt:lpstr>7. Enter Rule Entry Information</vt:lpstr>
      <vt:lpstr>8. Modify Automated Case User</vt:lpstr>
      <vt:lpstr>9. Create a Case Escalation Rule</vt:lpstr>
      <vt:lpstr>10. Create an Escalation Rule Action</vt:lpstr>
      <vt:lpstr>11. Create an Email Template</vt:lpstr>
      <vt:lpstr>12. Enter Email Template Information</vt:lpstr>
      <vt:lpstr>Case Fields</vt:lpstr>
      <vt:lpstr>Slide 18</vt:lpstr>
      <vt:lpstr>1. Add a Path for a Case Record Type</vt:lpstr>
      <vt:lpstr>2. Configure Case Record Type Access</vt:lpstr>
      <vt:lpstr>3. Limit Pick List Values for a Record Type</vt:lpstr>
      <vt:lpstr>4. Filter Lookup Field By Record Type</vt:lpstr>
      <vt:lpstr>5. Set the Option 'Assign using active assignment rules' to True</vt:lpstr>
      <vt:lpstr>6. Set Contact Field As Required</vt:lpstr>
      <vt:lpstr>7. Choose a Default Case Owner</vt:lpstr>
      <vt:lpstr>Slide 26</vt:lpstr>
      <vt:lpstr>1. Create a Process</vt:lpstr>
      <vt:lpstr>2. Create Organization-Wide Email Address</vt:lpstr>
      <vt:lpstr>Setup Email-to-Case</vt:lpstr>
      <vt:lpstr>Create a DKIM Key</vt:lpstr>
      <vt:lpstr>Add Salesforce to SPF Record</vt:lpstr>
      <vt:lpstr>Slide 32</vt:lpstr>
      <vt:lpstr>1. Install Conga Composer</vt:lpstr>
      <vt:lpstr>2. Select Account</vt:lpstr>
      <vt:lpstr>3. Grant Access</vt:lpstr>
      <vt:lpstr>3. Manage Conga Licenses</vt:lpstr>
      <vt:lpstr>4. Open a Profile</vt:lpstr>
      <vt:lpstr>5. Go to Custom Metadata Types</vt:lpstr>
      <vt:lpstr>6. Edit Custom Metadata Types</vt:lpstr>
      <vt:lpstr>7. Enable Conga Custom Metadata Types</vt:lpstr>
      <vt:lpstr>8. Open Conga Composer App</vt:lpstr>
      <vt:lpstr>9. Grant Conga Access for Profiles</vt:lpstr>
      <vt:lpstr>Slide 43</vt:lpstr>
      <vt:lpstr>1. Open Quick Start</vt:lpstr>
      <vt:lpstr>2. Create Examples</vt:lpstr>
      <vt:lpstr>3. Add Remote Sites</vt:lpstr>
      <vt:lpstr>Slide 47</vt:lpstr>
      <vt:lpstr>1. Get Started with Conga Composer</vt:lpstr>
      <vt:lpstr>2. Edit a Button</vt:lpstr>
      <vt:lpstr>3. Customize a Button</vt:lpstr>
      <vt:lpstr>4. Review Built-in Parameters</vt:lpstr>
      <vt:lpstr>5. Review Id &amp; Query Parameter</vt:lpstr>
      <vt:lpstr>Slide 53</vt:lpstr>
      <vt:lpstr>1. Create a Conga Query</vt:lpstr>
      <vt:lpstr>2. Enter SOQL Select Statement</vt:lpstr>
      <vt:lpstr>pv Value</vt:lpstr>
      <vt:lpstr>3. Copy Object Id Value</vt:lpstr>
      <vt:lpstr>4. Test Query using Object Id Value</vt:lpstr>
      <vt:lpstr>Slide 59</vt:lpstr>
      <vt:lpstr>QueryId</vt:lpstr>
      <vt:lpstr>1. Copy Query Id Value</vt:lpstr>
      <vt:lpstr>2. Modify Query Parameter</vt:lpstr>
      <vt:lpstr>3. Pass Date Range Parameter</vt:lpstr>
      <vt:lpstr>4. Open Template Builder</vt:lpstr>
      <vt:lpstr>5. Copy Template Regions</vt:lpstr>
      <vt:lpstr>6. Create a Template</vt:lpstr>
      <vt:lpstr>7. Upload a Template File</vt:lpstr>
      <vt:lpstr>Include Error in Template for Debugging</vt:lpstr>
      <vt:lpstr>Format Date Values in Word</vt:lpstr>
      <vt:lpstr>Format Currency Values in Word</vt:lpstr>
      <vt:lpstr>Nested SOQL Queries</vt:lpstr>
      <vt:lpstr>Slide 72</vt:lpstr>
      <vt:lpstr>ReportId</vt:lpstr>
      <vt:lpstr>1. Copy Report Id Value</vt:lpstr>
      <vt:lpstr>2. Modify Query Parameter</vt:lpstr>
      <vt:lpstr>Slide 76</vt:lpstr>
      <vt:lpstr>1. Add Custom Button to Lightning Record Pages</vt:lpstr>
      <vt:lpstr>Build a Composer solution using Solution Manager</vt:lpstr>
      <vt:lpstr>Slide 79</vt:lpstr>
      <vt:lpstr>Salesforce Document Generation</vt:lpstr>
      <vt:lpstr>Slide 81</vt:lpstr>
      <vt:lpstr>1. Create Custom Object</vt:lpstr>
      <vt:lpstr>2. Create Record Page for Object</vt:lpstr>
      <vt:lpstr>3. Create Lightning App for Object</vt:lpstr>
      <vt:lpstr>4. Create Object Fields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7207</cp:revision>
  <dcterms:created xsi:type="dcterms:W3CDTF">2007-10-06T08:25:13Z</dcterms:created>
  <dcterms:modified xsi:type="dcterms:W3CDTF">2026-07-16T17:16:09Z</dcterms:modified>
</cp:coreProperties>
</file>