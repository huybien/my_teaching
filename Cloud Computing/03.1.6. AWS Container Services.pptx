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584" r:id="rId2"/>
    <p:sldId id="585" r:id="rId3"/>
    <p:sldId id="586" r:id="rId4"/>
    <p:sldId id="587" r:id="rId5"/>
    <p:sldId id="751" r:id="rId6"/>
    <p:sldId id="752" r:id="rId7"/>
    <p:sldId id="753" r:id="rId8"/>
    <p:sldId id="754" r:id="rId9"/>
    <p:sldId id="755" r:id="rId10"/>
    <p:sldId id="756" r:id="rId11"/>
    <p:sldId id="757" r:id="rId12"/>
    <p:sldId id="758" r:id="rId13"/>
    <p:sldId id="759" r:id="rId14"/>
    <p:sldId id="440"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58" autoAdjust="0"/>
    <p:restoredTop sz="83941" autoAdjust="0"/>
  </p:normalViewPr>
  <p:slideViewPr>
    <p:cSldViewPr>
      <p:cViewPr>
        <p:scale>
          <a:sx n="50" d="100"/>
          <a:sy n="50" d="100"/>
        </p:scale>
        <p:origin x="-1648" y="-23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3"/>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3"/>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5"/>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5"/>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11/6/2025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11/6/2025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11/6/2025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1"/>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3"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2"/>
            <a:ext cx="54864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40"/>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9"/>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3"/>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3"/>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11/6/2025</a:t>
            </a:fld>
            <a:endParaRPr lang="en-US"/>
          </a:p>
        </p:txBody>
      </p:sp>
      <p:sp>
        <p:nvSpPr>
          <p:cNvPr id="5" name="Footer Placeholder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3"/>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ws.amazon.com/ec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ws.amazon.com/ek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ws.amazon.com/fargat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r>
              <a:rPr lang="en-US" sz="6000" dirty="0" smtClean="0"/>
              <a:t>AWS Container </a:t>
            </a:r>
            <a:r>
              <a:rPr lang="en-US" sz="6000" dirty="0" smtClean="0"/>
              <a:t>Services</a:t>
            </a:r>
            <a:endParaRPr lang="en-US" sz="6000" dirty="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a:t>
            </a:r>
            <a:r>
              <a:rPr lang="en-US" sz="5400" dirty="0" smtClean="0"/>
              <a:t>Bien</a:t>
            </a:r>
            <a:endParaRPr lang="en-US" sz="5400" dirty="0" smtClean="0"/>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4"/>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2" y="2438403"/>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3"/>
            <a:ext cx="6096000" cy="4525963"/>
          </a:xfrm>
        </p:spPr>
        <p:txBody>
          <a:bodyPr/>
          <a:lstStyle/>
          <a:p>
            <a:pPr marL="571500" indent="-571500">
              <a:buFont typeface="+mj-lt"/>
              <a:buAutoNum type="romanUcPeriod"/>
            </a:pPr>
            <a:r>
              <a:rPr lang="en-US" sz="2400" dirty="0" smtClean="0"/>
              <a:t>Amazon Elastic Container </a:t>
            </a:r>
            <a:r>
              <a:rPr lang="en-US" sz="2400" dirty="0" smtClean="0"/>
              <a:t>Service</a:t>
            </a:r>
          </a:p>
          <a:p>
            <a:pPr marL="571500" indent="-571500">
              <a:buFont typeface="+mj-lt"/>
              <a:buAutoNum type="romanUcPeriod"/>
            </a:pPr>
            <a:r>
              <a:rPr lang="en-US" sz="2400" dirty="0" smtClean="0"/>
              <a:t>Amazon Elastic </a:t>
            </a:r>
            <a:r>
              <a:rPr lang="en-US" sz="2400" dirty="0" err="1" smtClean="0"/>
              <a:t>Kubernetes</a:t>
            </a:r>
            <a:r>
              <a:rPr lang="en-US" sz="2400" dirty="0" smtClean="0"/>
              <a:t> </a:t>
            </a:r>
            <a:r>
              <a:rPr lang="en-US" sz="2400" dirty="0" smtClean="0"/>
              <a:t>Service</a:t>
            </a:r>
          </a:p>
          <a:p>
            <a:pPr marL="571500" indent="-571500">
              <a:buFont typeface="+mj-lt"/>
              <a:buAutoNum type="romanUcPeriod"/>
            </a:pPr>
            <a:r>
              <a:rPr lang="en-US" sz="2400" dirty="0" smtClean="0"/>
              <a:t>AWS </a:t>
            </a:r>
            <a:r>
              <a:rPr lang="en-US" sz="2400" dirty="0" err="1" smtClean="0"/>
              <a:t>Fargate</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indent="-457200">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2"/>
            <a:ext cx="2724150" cy="4133851"/>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Elastic Container Service</a:t>
            </a:r>
            <a:endParaRPr lang="en-US" dirty="0"/>
          </a:p>
        </p:txBody>
      </p:sp>
      <p:sp>
        <p:nvSpPr>
          <p:cNvPr id="3" name="Content Placeholder 2"/>
          <p:cNvSpPr>
            <a:spLocks noGrp="1"/>
          </p:cNvSpPr>
          <p:nvPr>
            <p:ph idx="1"/>
          </p:nvPr>
        </p:nvSpPr>
        <p:spPr/>
        <p:txBody>
          <a:bodyPr/>
          <a:lstStyle/>
          <a:p>
            <a:r>
              <a:rPr lang="en-US" sz="2000" dirty="0" smtClean="0">
                <a:hlinkClick r:id="rId2"/>
              </a:rPr>
              <a:t>https://aws.amazon.com/ecs/</a:t>
            </a:r>
            <a:endParaRPr lang="en-US" sz="2000" dirty="0" smtClean="0"/>
          </a:p>
          <a:p>
            <a:r>
              <a:rPr lang="en-US" sz="2000" dirty="0" smtClean="0"/>
              <a:t>Amazon Elastic Container Service (ECS) is a fully managed </a:t>
            </a:r>
            <a:r>
              <a:rPr lang="en-US" sz="2000" i="1" dirty="0" smtClean="0">
                <a:solidFill>
                  <a:srgbClr val="C00000"/>
                </a:solidFill>
              </a:rPr>
              <a:t>container orchestration service</a:t>
            </a:r>
            <a:r>
              <a:rPr lang="en-US" sz="2000" dirty="0" smtClean="0"/>
              <a:t> that helps you to more efficiently deploy, manage, and scale containerized applications.</a:t>
            </a:r>
          </a:p>
          <a:p>
            <a:r>
              <a:rPr lang="en-US" sz="2000" dirty="0" smtClean="0"/>
              <a:t>Launch containers on AWS at scale without worrying about the underlying infrastructure.</a:t>
            </a:r>
          </a:p>
          <a:p>
            <a:r>
              <a:rPr lang="en-US" sz="2000" dirty="0" smtClean="0"/>
              <a:t>Simply describe your application and the resources required, and Amazon ECS will launch, monitor, and scale your application across flexible compute options with automatic integrations to other supporting AWS services that your application needs.</a:t>
            </a:r>
          </a:p>
          <a:p>
            <a:r>
              <a:rPr lang="en-US" sz="2000" dirty="0" smtClean="0"/>
              <a:t>Perform system operations such as creating custom scaling and capacity rules, and observe and query data from application logs and telemetry.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Amazon ECS?</a:t>
            </a:r>
            <a:endParaRPr lang="en-US" dirty="0"/>
          </a:p>
        </p:txBody>
      </p:sp>
      <p:sp>
        <p:nvSpPr>
          <p:cNvPr id="3" name="Content Placeholder 2"/>
          <p:cNvSpPr>
            <a:spLocks noGrp="1"/>
          </p:cNvSpPr>
          <p:nvPr>
            <p:ph idx="1"/>
          </p:nvPr>
        </p:nvSpPr>
        <p:spPr/>
        <p:txBody>
          <a:bodyPr/>
          <a:lstStyle/>
          <a:p>
            <a:r>
              <a:rPr lang="en-US" sz="2400" dirty="0" smtClean="0"/>
              <a:t>It deeply integrates with the AWS environment to provide an </a:t>
            </a:r>
            <a:r>
              <a:rPr lang="en-US" sz="2400" i="1" dirty="0" smtClean="0">
                <a:solidFill>
                  <a:srgbClr val="C00000"/>
                </a:solidFill>
              </a:rPr>
              <a:t>easy-to-use solution</a:t>
            </a:r>
            <a:r>
              <a:rPr lang="en-US" sz="2400" dirty="0" smtClean="0"/>
              <a:t> for running container workloads in the cloud and on premises with advanced security features using Amazon ECS Anywhere.</a:t>
            </a:r>
            <a:endParaRPr lang="en-US" sz="22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Elastic </a:t>
            </a:r>
            <a:r>
              <a:rPr lang="en-US" dirty="0" err="1" smtClean="0"/>
              <a:t>Kubernetes</a:t>
            </a:r>
            <a:r>
              <a:rPr lang="en-US" dirty="0" smtClean="0"/>
              <a:t> Service</a:t>
            </a:r>
            <a:endParaRPr lang="en-US" dirty="0"/>
          </a:p>
        </p:txBody>
      </p:sp>
      <p:sp>
        <p:nvSpPr>
          <p:cNvPr id="3" name="Content Placeholder 2"/>
          <p:cNvSpPr>
            <a:spLocks noGrp="1"/>
          </p:cNvSpPr>
          <p:nvPr>
            <p:ph idx="1"/>
          </p:nvPr>
        </p:nvSpPr>
        <p:spPr/>
        <p:txBody>
          <a:bodyPr/>
          <a:lstStyle/>
          <a:p>
            <a:r>
              <a:rPr lang="en-US" sz="2000" dirty="0" smtClean="0">
                <a:hlinkClick r:id="rId2"/>
              </a:rPr>
              <a:t>https://aws.amazon.com/eks/</a:t>
            </a:r>
            <a:endParaRPr lang="en-US" sz="2000" dirty="0" smtClean="0"/>
          </a:p>
          <a:p>
            <a:r>
              <a:rPr lang="en-US" sz="2000" dirty="0" smtClean="0"/>
              <a:t>Amazon Elastic </a:t>
            </a:r>
            <a:r>
              <a:rPr lang="en-US" sz="2000" dirty="0" err="1" smtClean="0"/>
              <a:t>Kubernetes</a:t>
            </a:r>
            <a:r>
              <a:rPr lang="en-US" sz="2000" dirty="0" smtClean="0"/>
              <a:t> Service (Amazon EKS) is a managed </a:t>
            </a:r>
            <a:r>
              <a:rPr lang="en-US" sz="2000" dirty="0" err="1" smtClean="0"/>
              <a:t>Kubernetes</a:t>
            </a:r>
            <a:r>
              <a:rPr lang="en-US" sz="2000" dirty="0" smtClean="0"/>
              <a:t> service </a:t>
            </a:r>
            <a:r>
              <a:rPr lang="en-US" sz="2000" i="1" dirty="0" smtClean="0">
                <a:solidFill>
                  <a:srgbClr val="C00000"/>
                </a:solidFill>
              </a:rPr>
              <a:t>to run </a:t>
            </a:r>
            <a:r>
              <a:rPr lang="en-US" sz="2000" i="1" dirty="0" err="1" smtClean="0">
                <a:solidFill>
                  <a:srgbClr val="C00000"/>
                </a:solidFill>
              </a:rPr>
              <a:t>Kubernetes</a:t>
            </a:r>
            <a:r>
              <a:rPr lang="en-US" sz="2000" dirty="0" smtClean="0"/>
              <a:t> </a:t>
            </a:r>
            <a:r>
              <a:rPr lang="en-US" sz="2000" u="sng" dirty="0" smtClean="0"/>
              <a:t>in the AWS cloud</a:t>
            </a:r>
            <a:r>
              <a:rPr lang="en-US" sz="2000" dirty="0" smtClean="0"/>
              <a:t> and </a:t>
            </a:r>
            <a:r>
              <a:rPr lang="en-US" sz="2000" u="sng" dirty="0" smtClean="0"/>
              <a:t>on-premises data centers</a:t>
            </a:r>
            <a:r>
              <a:rPr lang="en-US" sz="2000" dirty="0" smtClean="0"/>
              <a:t>.</a:t>
            </a:r>
          </a:p>
          <a:p>
            <a:r>
              <a:rPr lang="en-US" sz="2000" dirty="0" smtClean="0"/>
              <a:t>In the cloud, Amazon EKS automatically manages the availability and scalability of the </a:t>
            </a:r>
            <a:r>
              <a:rPr lang="en-US" sz="2000" dirty="0" err="1" smtClean="0"/>
              <a:t>Kubernetes</a:t>
            </a:r>
            <a:r>
              <a:rPr lang="en-US" sz="2000" dirty="0" smtClean="0"/>
              <a:t> control plane nodes responsible for scheduling containers, managing application availability, storing cluster data, and other key tasks. With Amazon EKS, you can take advantage of all the performance, scale, reliability, and availability of AWS infrastructure, as well as integrations with AWS networking and security services.</a:t>
            </a:r>
          </a:p>
          <a:p>
            <a:r>
              <a:rPr lang="en-US" sz="2000" dirty="0" smtClean="0"/>
              <a:t>On-premises, EKS provides a consistent, fully-supported </a:t>
            </a:r>
            <a:r>
              <a:rPr lang="en-US" sz="2000" dirty="0" err="1" smtClean="0"/>
              <a:t>Kubernetes</a:t>
            </a:r>
            <a:r>
              <a:rPr lang="en-US" sz="2000" dirty="0" smtClean="0"/>
              <a:t> solution with integrated tooling and simple deployment to AWS Outposts, virtual machines, or bare metal servers.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Amazon EKS?</a:t>
            </a:r>
            <a:endParaRPr lang="en-US" dirty="0"/>
          </a:p>
        </p:txBody>
      </p:sp>
      <p:sp>
        <p:nvSpPr>
          <p:cNvPr id="3" name="Content Placeholder 2"/>
          <p:cNvSpPr>
            <a:spLocks noGrp="1"/>
          </p:cNvSpPr>
          <p:nvPr>
            <p:ph idx="1"/>
          </p:nvPr>
        </p:nvSpPr>
        <p:spPr/>
        <p:txBody>
          <a:bodyPr/>
          <a:lstStyle/>
          <a:p>
            <a:r>
              <a:rPr lang="en-US" sz="2400" dirty="0" smtClean="0"/>
              <a:t>Applications that run on Amazon EKS are fully compatible with applications that run on any standard </a:t>
            </a:r>
            <a:r>
              <a:rPr lang="en-US" sz="2400" dirty="0" err="1" smtClean="0"/>
              <a:t>Kubernetes</a:t>
            </a:r>
            <a:r>
              <a:rPr lang="en-US" sz="2400" dirty="0" smtClean="0"/>
              <a:t> environment—it doesn’t matter whether they run in on-premises data centers or public clouds.</a:t>
            </a:r>
          </a:p>
          <a:p>
            <a:r>
              <a:rPr lang="en-US" sz="2400" dirty="0" smtClean="0"/>
              <a:t>This means that you can migrate any standard </a:t>
            </a:r>
            <a:r>
              <a:rPr lang="en-US" sz="2400" dirty="0" err="1" smtClean="0"/>
              <a:t>Kubernetes</a:t>
            </a:r>
            <a:r>
              <a:rPr lang="en-US" sz="2400" dirty="0" smtClean="0"/>
              <a:t> application to Amazon EKS with virtually no code modification.</a:t>
            </a:r>
            <a:endParaRPr lang="en-US" sz="22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 </a:t>
            </a:r>
            <a:r>
              <a:rPr lang="en-US" dirty="0" err="1" smtClean="0"/>
              <a:t>Fargate</a:t>
            </a:r>
            <a:endParaRPr lang="en-US" dirty="0"/>
          </a:p>
        </p:txBody>
      </p:sp>
      <p:sp>
        <p:nvSpPr>
          <p:cNvPr id="3" name="Content Placeholder 2"/>
          <p:cNvSpPr>
            <a:spLocks noGrp="1"/>
          </p:cNvSpPr>
          <p:nvPr>
            <p:ph idx="1"/>
          </p:nvPr>
        </p:nvSpPr>
        <p:spPr/>
        <p:txBody>
          <a:bodyPr/>
          <a:lstStyle/>
          <a:p>
            <a:r>
              <a:rPr lang="en-US" sz="2400" dirty="0" smtClean="0">
                <a:hlinkClick r:id="rId2"/>
              </a:rPr>
              <a:t>https://aws.amazon.com/fargate/</a:t>
            </a:r>
            <a:endParaRPr lang="en-US" sz="2400" dirty="0" smtClean="0"/>
          </a:p>
          <a:p>
            <a:r>
              <a:rPr lang="en-US" sz="2400" dirty="0" smtClean="0"/>
              <a:t>AWS </a:t>
            </a:r>
            <a:r>
              <a:rPr lang="en-US" sz="2400" dirty="0" err="1" smtClean="0"/>
              <a:t>Fargate</a:t>
            </a:r>
            <a:r>
              <a:rPr lang="en-US" sz="2400" dirty="0" smtClean="0"/>
              <a:t> is a </a:t>
            </a:r>
            <a:r>
              <a:rPr lang="en-US" sz="2400" dirty="0" err="1" smtClean="0"/>
              <a:t>serverless</a:t>
            </a:r>
            <a:r>
              <a:rPr lang="en-US" sz="2400" dirty="0" smtClean="0"/>
              <a:t>, pay-as-you-go compute engine that lets you focus on building applications without managing servers.</a:t>
            </a:r>
          </a:p>
          <a:p>
            <a:r>
              <a:rPr lang="en-US" sz="2400" dirty="0" smtClean="0"/>
              <a:t>Moving tasks such as server management, resource allocation, and scaling to AWS does not only improve your operational posture, but also accelerates the process of going from idea to production on the cloud, and lowers the total cost of ownership.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AWS </a:t>
            </a:r>
            <a:r>
              <a:rPr lang="en-US" dirty="0" err="1" smtClean="0"/>
              <a:t>Fargate</a:t>
            </a:r>
            <a:r>
              <a:rPr lang="en-US" dirty="0" smtClean="0"/>
              <a:t>?</a:t>
            </a:r>
            <a:endParaRPr lang="en-US" dirty="0"/>
          </a:p>
        </p:txBody>
      </p:sp>
      <p:sp>
        <p:nvSpPr>
          <p:cNvPr id="3" name="Content Placeholder 2"/>
          <p:cNvSpPr>
            <a:spLocks noGrp="1"/>
          </p:cNvSpPr>
          <p:nvPr>
            <p:ph idx="1"/>
          </p:nvPr>
        </p:nvSpPr>
        <p:spPr/>
        <p:txBody>
          <a:bodyPr/>
          <a:lstStyle/>
          <a:p>
            <a:r>
              <a:rPr lang="en-US" sz="2400" smtClean="0"/>
              <a:t>Automatic </a:t>
            </a:r>
            <a:r>
              <a:rPr lang="en-US" sz="2400" dirty="0" smtClean="0"/>
              <a:t>scaling without provisioning nodes.</a:t>
            </a:r>
          </a:p>
          <a:p>
            <a:r>
              <a:rPr lang="en-US" sz="2400" dirty="0" smtClean="0"/>
              <a:t>Limited instance customization.</a:t>
            </a:r>
          </a:p>
          <a:p>
            <a:r>
              <a:rPr lang="en-US" sz="2400" dirty="0" smtClean="0"/>
              <a:t>Abstracted away from the underlying cluster.</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Fargate</a:t>
            </a:r>
            <a:r>
              <a:rPr lang="en-US" dirty="0" smtClean="0"/>
              <a:t> vs. ECS</a:t>
            </a:r>
            <a:endParaRPr lang="en-US" dirty="0"/>
          </a:p>
        </p:txBody>
      </p:sp>
      <p:sp>
        <p:nvSpPr>
          <p:cNvPr id="3" name="Content Placeholder 2"/>
          <p:cNvSpPr>
            <a:spLocks noGrp="1"/>
          </p:cNvSpPr>
          <p:nvPr>
            <p:ph idx="1"/>
          </p:nvPr>
        </p:nvSpPr>
        <p:spPr/>
        <p:txBody>
          <a:bodyPr/>
          <a:lstStyle/>
          <a:p>
            <a:r>
              <a:rPr lang="en-US" dirty="0" smtClean="0"/>
              <a:t>When you </a:t>
            </a:r>
            <a:r>
              <a:rPr lang="en-US" b="1" dirty="0" smtClean="0"/>
              <a:t>run ECS on EC2</a:t>
            </a:r>
            <a:r>
              <a:rPr lang="en-US" dirty="0" smtClean="0"/>
              <a:t>, you manage the instances, scaling groups, and patching.</a:t>
            </a:r>
          </a:p>
          <a:p>
            <a:r>
              <a:rPr lang="en-US" dirty="0" smtClean="0"/>
              <a:t>When you </a:t>
            </a:r>
            <a:r>
              <a:rPr lang="en-US" b="1" dirty="0" smtClean="0"/>
              <a:t>run ECS on </a:t>
            </a:r>
            <a:r>
              <a:rPr lang="en-US" b="1" dirty="0" err="1" smtClean="0"/>
              <a:t>Fargate</a:t>
            </a:r>
            <a:r>
              <a:rPr lang="en-US" dirty="0" smtClean="0"/>
              <a:t>, AWS handles servers, scaling, networking, and isolation</a:t>
            </a:r>
            <a:r>
              <a:rPr lang="en-US" dirty="0" smtClean="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3" y="1676402"/>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18820</TotalTime>
  <Words>508</Words>
  <Application>Microsoft Office PowerPoint</Application>
  <PresentationFormat>On-screen Show (4:3)</PresentationFormat>
  <Paragraphs>42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AWS Container Services</vt:lpstr>
      <vt:lpstr>Objectives</vt:lpstr>
      <vt:lpstr>Contents</vt:lpstr>
      <vt:lpstr>References</vt:lpstr>
      <vt:lpstr>Amazon Elastic Container Service</vt:lpstr>
      <vt:lpstr>Why Amazon ECS?</vt:lpstr>
      <vt:lpstr>Slide 7</vt:lpstr>
      <vt:lpstr>Amazon Elastic Kubernetes Service</vt:lpstr>
      <vt:lpstr>Why Amazon EKS?</vt:lpstr>
      <vt:lpstr>Slide 10</vt:lpstr>
      <vt:lpstr>AWS Fargate</vt:lpstr>
      <vt:lpstr>Why AWS Fargate?</vt:lpstr>
      <vt:lpstr>Fargate vs. ECS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5350</cp:revision>
  <dcterms:created xsi:type="dcterms:W3CDTF">2007-10-06T08:25:13Z</dcterms:created>
  <dcterms:modified xsi:type="dcterms:W3CDTF">2025-11-05T17:36:19Z</dcterms:modified>
</cp:coreProperties>
</file>