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8"/>
  </p:notesMasterIdLst>
  <p:sldIdLst>
    <p:sldId id="570" r:id="rId2"/>
    <p:sldId id="571" r:id="rId3"/>
    <p:sldId id="572" r:id="rId4"/>
    <p:sldId id="573" r:id="rId5"/>
    <p:sldId id="574" r:id="rId6"/>
    <p:sldId id="596" r:id="rId7"/>
    <p:sldId id="601" r:id="rId8"/>
    <p:sldId id="603" r:id="rId9"/>
    <p:sldId id="575" r:id="rId10"/>
    <p:sldId id="609" r:id="rId11"/>
    <p:sldId id="610" r:id="rId12"/>
    <p:sldId id="608" r:id="rId13"/>
    <p:sldId id="607" r:id="rId14"/>
    <p:sldId id="578" r:id="rId15"/>
    <p:sldId id="577" r:id="rId16"/>
    <p:sldId id="440" r:id="rId1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0" autoAdjust="0"/>
    <p:restoredTop sz="94765" autoAdjust="0"/>
  </p:normalViewPr>
  <p:slideViewPr>
    <p:cSldViewPr>
      <p:cViewPr>
        <p:scale>
          <a:sx n="50" d="100"/>
          <a:sy n="50" d="100"/>
        </p:scale>
        <p:origin x="-1648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62591D-F63A-4C87-988A-2A4399BE3C42}" type="datetimeFigureOut">
              <a:rPr lang="en-US" smtClean="0"/>
              <a:pPr/>
              <a:t>5/8/2024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2649A-D532-4C46-8375-2DC4F09C0D4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5/8/2024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5/8/2024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5/8/2024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5/8/2024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5/8/2024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5/8/2024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5/8/2024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5/8/2024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5/8/2024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5/8/2024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5/8/2024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5/8/2024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aws.amazon.com/athena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 smtClean="0"/>
              <a:t>Amazon Athena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867400" cy="4191000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Amazon Athena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https://aws.amazon.com/athena/</a:t>
            </a:r>
            <a:endParaRPr lang="en-US" sz="2200" dirty="0" smtClean="0"/>
          </a:p>
          <a:p>
            <a:r>
              <a:rPr lang="en-US" sz="2200" i="1" dirty="0" smtClean="0">
                <a:solidFill>
                  <a:srgbClr val="C00000"/>
                </a:solidFill>
              </a:rPr>
              <a:t>Amazon Athena</a:t>
            </a:r>
            <a:r>
              <a:rPr lang="en-US" sz="2200" dirty="0" smtClean="0"/>
              <a:t> is a </a:t>
            </a:r>
            <a:r>
              <a:rPr lang="en-US" sz="2200" u="sng" dirty="0" err="1" smtClean="0"/>
              <a:t>serverless</a:t>
            </a:r>
            <a:r>
              <a:rPr lang="en-US" sz="2200" dirty="0" smtClean="0"/>
              <a:t>, interactive </a:t>
            </a:r>
            <a:r>
              <a:rPr lang="en-US" sz="2200" u="sng" dirty="0" smtClean="0"/>
              <a:t>analytics service</a:t>
            </a:r>
            <a:r>
              <a:rPr lang="en-US" sz="2200" dirty="0" smtClean="0"/>
              <a:t> built on open-source frameworks, supporting open-table and file formats.</a:t>
            </a:r>
          </a:p>
          <a:p>
            <a:r>
              <a:rPr lang="en-US" sz="2200" dirty="0" smtClean="0"/>
              <a:t>Athena provides a simplified, flexible way to analyze </a:t>
            </a:r>
            <a:r>
              <a:rPr lang="en-US" sz="2200" i="1" dirty="0" err="1" smtClean="0">
                <a:solidFill>
                  <a:srgbClr val="C00000"/>
                </a:solidFill>
              </a:rPr>
              <a:t>petabytes</a:t>
            </a:r>
            <a:r>
              <a:rPr lang="en-US" sz="2200" dirty="0" smtClean="0"/>
              <a:t> of data where it lives.</a:t>
            </a:r>
          </a:p>
          <a:p>
            <a:r>
              <a:rPr lang="en-US" sz="2200" dirty="0" smtClean="0"/>
              <a:t>Analyze data or build applications from an </a:t>
            </a:r>
            <a:r>
              <a:rPr lang="en-US" sz="2200" i="1" dirty="0" smtClean="0">
                <a:solidFill>
                  <a:srgbClr val="C00000"/>
                </a:solidFill>
              </a:rPr>
              <a:t>Amazon Simple Storage Service (S3)</a:t>
            </a:r>
            <a:r>
              <a:rPr lang="en-US" sz="2200" dirty="0" smtClean="0"/>
              <a:t> data lake and 30 data sources, including on-premises data sources or other cloud systems using SQL or Python.</a:t>
            </a:r>
          </a:p>
          <a:p>
            <a:r>
              <a:rPr lang="en-US" sz="2200" dirty="0" smtClean="0"/>
              <a:t>Athena is built on </a:t>
            </a:r>
            <a:r>
              <a:rPr lang="en-US" sz="2200" i="1" dirty="0" smtClean="0">
                <a:solidFill>
                  <a:srgbClr val="C00000"/>
                </a:solidFill>
              </a:rPr>
              <a:t>open-source </a:t>
            </a:r>
            <a:r>
              <a:rPr lang="en-US" sz="2200" i="1" dirty="0" err="1" smtClean="0">
                <a:solidFill>
                  <a:srgbClr val="C00000"/>
                </a:solidFill>
              </a:rPr>
              <a:t>Trino</a:t>
            </a:r>
            <a:r>
              <a:rPr lang="en-US" sz="2200" dirty="0" smtClean="0"/>
              <a:t> and </a:t>
            </a:r>
            <a:r>
              <a:rPr lang="en-US" sz="2200" i="1" dirty="0" smtClean="0">
                <a:solidFill>
                  <a:srgbClr val="C00000"/>
                </a:solidFill>
              </a:rPr>
              <a:t>Presto engines</a:t>
            </a:r>
            <a:r>
              <a:rPr lang="en-US" sz="2200" dirty="0" smtClean="0"/>
              <a:t> and </a:t>
            </a:r>
            <a:r>
              <a:rPr lang="en-US" sz="2200" i="1" dirty="0" smtClean="0">
                <a:solidFill>
                  <a:srgbClr val="C00000"/>
                </a:solidFill>
              </a:rPr>
              <a:t>Apache Spark frameworks</a:t>
            </a:r>
            <a:r>
              <a:rPr lang="en-US" sz="2200" dirty="0" smtClean="0"/>
              <a:t>, with no provisioning or configuration effort required.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Amazon Athena Works</a:t>
            </a:r>
            <a:endParaRPr lang="en-US" dirty="0"/>
          </a:p>
        </p:txBody>
      </p:sp>
      <p:pic>
        <p:nvPicPr>
          <p:cNvPr id="21506" name="Picture 2" descr="Diagram showing how Amazon Athena queries data from data lakes, warehouses, and other sources, running on premises or in the cloud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752600"/>
            <a:ext cx="7264773" cy="455699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Cases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Run queries on S3, on premises, or on other clouds.</a:t>
            </a:r>
          </a:p>
          <a:p>
            <a:r>
              <a:rPr lang="en-US" sz="2400" dirty="0" smtClean="0"/>
              <a:t>Prepare data for ML models.</a:t>
            </a:r>
          </a:p>
          <a:p>
            <a:r>
              <a:rPr lang="en-US" sz="2400" dirty="0" smtClean="0"/>
              <a:t>Build distributed big data reconciliation engines.</a:t>
            </a:r>
          </a:p>
          <a:p>
            <a:r>
              <a:rPr lang="en-US" sz="2400" dirty="0" smtClean="0"/>
              <a:t>Perform </a:t>
            </a:r>
            <a:r>
              <a:rPr lang="en-US" sz="2400" dirty="0" err="1" smtClean="0"/>
              <a:t>multicloud</a:t>
            </a:r>
            <a:r>
              <a:rPr lang="en-US" sz="2400" dirty="0" smtClean="0"/>
              <a:t> analytics.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1. Create S3 Folder for Query Output</a:t>
            </a:r>
            <a:endParaRPr lang="en-US" sz="4200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057400"/>
            <a:ext cx="7745412" cy="3491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2. Configure Query Output Location</a:t>
            </a:r>
            <a:endParaRPr lang="en-US" sz="4200" dirty="0"/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3408" y="2590800"/>
            <a:ext cx="7940992" cy="27647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3. Select S3 Folder</a:t>
            </a:r>
            <a:endParaRPr lang="en-US" sz="4200" dirty="0"/>
          </a:p>
        </p:txBody>
      </p:sp>
      <p:pic>
        <p:nvPicPr>
          <p:cNvPr id="4301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981200"/>
            <a:ext cx="7710488" cy="355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Create Query</a:t>
            </a:r>
            <a:endParaRPr lang="en-US" dirty="0"/>
          </a:p>
        </p:txBody>
      </p:sp>
      <p:pic>
        <p:nvPicPr>
          <p:cNvPr id="1433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590800"/>
            <a:ext cx="7856537" cy="2727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Query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752600"/>
            <a:ext cx="8229600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 smtClean="0">
                <a:latin typeface="Consolas" pitchFamily="49" charset="0"/>
              </a:rPr>
              <a:t>select "</a:t>
            </a:r>
            <a:r>
              <a:rPr lang="en-US" sz="2400" dirty="0" err="1" smtClean="0">
                <a:latin typeface="Consolas" pitchFamily="49" charset="0"/>
              </a:rPr>
              <a:t>fh_fs_element_type</a:t>
            </a:r>
            <a:r>
              <a:rPr lang="en-US" sz="2400" dirty="0" smtClean="0">
                <a:latin typeface="Consolas" pitchFamily="49" charset="0"/>
              </a:rPr>
              <a:t>", "</a:t>
            </a:r>
            <a:r>
              <a:rPr lang="en-US" sz="2400" dirty="0" err="1" smtClean="0">
                <a:latin typeface="Consolas" pitchFamily="49" charset="0"/>
              </a:rPr>
              <a:t>md_mi_meas_name</a:t>
            </a:r>
            <a:r>
              <a:rPr lang="en-US" sz="2400" dirty="0" smtClean="0">
                <a:latin typeface="Consolas" pitchFamily="49" charset="0"/>
              </a:rPr>
              <a:t>", "</a:t>
            </a:r>
            <a:r>
              <a:rPr lang="en-US" sz="2400" dirty="0" err="1" smtClean="0">
                <a:latin typeface="Consolas" pitchFamily="49" charset="0"/>
              </a:rPr>
              <a:t>md_mi_meas_value</a:t>
            </a:r>
            <a:r>
              <a:rPr lang="en-US" sz="2400" dirty="0" smtClean="0">
                <a:latin typeface="Consolas" pitchFamily="49" charset="0"/>
              </a:rPr>
              <a:t>" from </a:t>
            </a:r>
            <a:r>
              <a:rPr lang="en-US" sz="2400" dirty="0" smtClean="0">
                <a:latin typeface="Consolas" pitchFamily="49" charset="0"/>
              </a:rPr>
              <a:t>"</a:t>
            </a:r>
            <a:r>
              <a:rPr lang="en-US" sz="2400" dirty="0" err="1" smtClean="0">
                <a:latin typeface="Consolas" pitchFamily="49" charset="0"/>
              </a:rPr>
              <a:t>raw_transfrom_csv</a:t>
            </a:r>
            <a:r>
              <a:rPr lang="en-US" sz="2400" smtClean="0">
                <a:latin typeface="Consolas" pitchFamily="49" charset="0"/>
              </a:rPr>
              <a:t>"</a:t>
            </a:r>
            <a:endParaRPr lang="en-US" sz="24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Run a Query</a:t>
            </a:r>
            <a:endParaRPr lang="en-US" dirty="0"/>
          </a:p>
        </p:txBody>
      </p:sp>
      <p:pic>
        <p:nvPicPr>
          <p:cNvPr id="1331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2102645"/>
            <a:ext cx="7631950" cy="35361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Save Query</a:t>
            </a:r>
            <a:endParaRPr lang="en-US" dirty="0"/>
          </a:p>
        </p:txBody>
      </p:sp>
      <p:pic>
        <p:nvPicPr>
          <p:cNvPr id="1228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" y="2181225"/>
            <a:ext cx="7943850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17458</TotalTime>
  <Words>216</Words>
  <Application>Microsoft Office PowerPoint</Application>
  <PresentationFormat>On-screen Show (4:3)</PresentationFormat>
  <Paragraphs>32</Paragraphs>
  <Slides>16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Amazon Athena</vt:lpstr>
      <vt:lpstr>Objectives</vt:lpstr>
      <vt:lpstr>Contents</vt:lpstr>
      <vt:lpstr>References</vt:lpstr>
      <vt:lpstr>Amazon Athena</vt:lpstr>
      <vt:lpstr>How Amazon Athena Works</vt:lpstr>
      <vt:lpstr>Use Cases</vt:lpstr>
      <vt:lpstr>Slide 8</vt:lpstr>
      <vt:lpstr>1. Create S3 Folder for Query Output</vt:lpstr>
      <vt:lpstr>2. Configure Query Output Location</vt:lpstr>
      <vt:lpstr>3. Select S3 Folder</vt:lpstr>
      <vt:lpstr>4. Create Query</vt:lpstr>
      <vt:lpstr>Example Query</vt:lpstr>
      <vt:lpstr>5. Run a Query</vt:lpstr>
      <vt:lpstr>6. Save Query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5129</cp:revision>
  <dcterms:created xsi:type="dcterms:W3CDTF">2007-10-06T08:25:13Z</dcterms:created>
  <dcterms:modified xsi:type="dcterms:W3CDTF">2024-05-08T12:15:36Z</dcterms:modified>
</cp:coreProperties>
</file>