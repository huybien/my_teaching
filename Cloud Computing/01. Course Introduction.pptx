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26"/>
  </p:notesMasterIdLst>
  <p:sldIdLst>
    <p:sldId id="256" r:id="rId2"/>
    <p:sldId id="394" r:id="rId3"/>
    <p:sldId id="431" r:id="rId4"/>
    <p:sldId id="385" r:id="rId5"/>
    <p:sldId id="432" r:id="rId6"/>
    <p:sldId id="454" r:id="rId7"/>
    <p:sldId id="455" r:id="rId8"/>
    <p:sldId id="435" r:id="rId9"/>
    <p:sldId id="446" r:id="rId10"/>
    <p:sldId id="473" r:id="rId11"/>
    <p:sldId id="448" r:id="rId12"/>
    <p:sldId id="416" r:id="rId13"/>
    <p:sldId id="474" r:id="rId14"/>
    <p:sldId id="426" r:id="rId15"/>
    <p:sldId id="460" r:id="rId16"/>
    <p:sldId id="480" r:id="rId17"/>
    <p:sldId id="481" r:id="rId18"/>
    <p:sldId id="486" r:id="rId19"/>
    <p:sldId id="485" r:id="rId20"/>
    <p:sldId id="482" r:id="rId21"/>
    <p:sldId id="483" r:id="rId22"/>
    <p:sldId id="453" r:id="rId23"/>
    <p:sldId id="355" r:id="rId24"/>
    <p:sldId id="444" r:id="rId2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606" autoAdjust="0"/>
    <p:restoredTop sz="94667" autoAdjust="0"/>
  </p:normalViewPr>
  <p:slideViewPr>
    <p:cSldViewPr>
      <p:cViewPr>
        <p:scale>
          <a:sx n="50" d="100"/>
          <a:sy n="50" d="100"/>
        </p:scale>
        <p:origin x="-1550" y="-4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36EAF5-5497-4E36-9AC6-23E218E1C14C}" type="datetimeFigureOut">
              <a:rPr lang="en-US" smtClean="0"/>
              <a:pPr/>
              <a:t>10/25/2025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CE2665-103D-49A0-B6D4-B2E4A076884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4CE2665-103D-49A0-B6D4-B2E4A0768843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nhbien@fit.hcmus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nhbien@fit.hcmus.edu.v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jpe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5400" dirty="0" smtClean="0"/>
              <a:t>Course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Department of Software Engineering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University of Natural Sciences,  VNU HCMC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3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Lecturer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67450" y="2667000"/>
            <a:ext cx="2571750" cy="2143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477000" cy="4191000"/>
          </a:xfrm>
        </p:spPr>
        <p:txBody>
          <a:bodyPr/>
          <a:lstStyle/>
          <a:p>
            <a:r>
              <a:rPr lang="vi-VN" sz="2400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Ngô Huy Biên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PhD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Department of Software Engineering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Faculty of Information Technology</a:t>
            </a:r>
          </a:p>
          <a:p>
            <a:pPr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	University of Natural Sciences,  VNU HCMC</a:t>
            </a:r>
          </a:p>
          <a:p>
            <a:r>
              <a:rPr lang="vi-VN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Email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vi-VN" sz="2400" dirty="0" smtClean="0">
                <a:latin typeface="Calibri" pitchFamily="34" charset="0"/>
                <a:cs typeface="Calibri" pitchFamily="34" charset="0"/>
                <a:hlinkClick r:id="rId4"/>
              </a:rPr>
              <a:t>nhbien@fit.hcmus.edu.vn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</a:t>
            </a:r>
          </a:p>
          <a:p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Office location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I82</a:t>
            </a:r>
            <a:r>
              <a:rPr lang="vi-VN" sz="2400" dirty="0" smtClean="0">
                <a:latin typeface="Calibri" pitchFamily="34" charset="0"/>
                <a:cs typeface="Calibri" pitchFamily="34" charset="0"/>
              </a:rPr>
              <a:t>.</a:t>
            </a:r>
            <a:endParaRPr lang="en-US" sz="2400" dirty="0" smtClean="0">
              <a:latin typeface="Calibri" pitchFamily="34" charset="0"/>
              <a:cs typeface="Calibri" pitchFamily="34" charset="0"/>
            </a:endParaRPr>
          </a:p>
          <a:p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Office hours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2400" dirty="0" smtClean="0"/>
              <a:t>Wednesday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&amp; Friday: 13:30 p.m. – 17:10 p.m.</a:t>
            </a:r>
          </a:p>
          <a:p>
            <a:endParaRPr lang="en-US" sz="2400" dirty="0">
              <a:latin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5181600" cy="4114799"/>
          </a:xfrm>
        </p:spPr>
        <p:txBody>
          <a:bodyPr/>
          <a:lstStyle/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decide whether to </a:t>
            </a:r>
            <a:r>
              <a:rPr lang="en-US" sz="2400" i="1" dirty="0" smtClean="0">
                <a:solidFill>
                  <a:srgbClr val="C00000"/>
                </a:solidFill>
              </a:rPr>
              <a:t>register</a:t>
            </a:r>
            <a:r>
              <a:rPr lang="en-US" sz="2400" dirty="0" smtClean="0"/>
              <a:t> for the course.</a:t>
            </a:r>
          </a:p>
          <a:p>
            <a:pPr marL="571500" indent="-514350">
              <a:buFont typeface="Wingdings" pitchFamily="2" charset="2"/>
              <a:buChar char="Ø"/>
            </a:pPr>
            <a:r>
              <a:rPr lang="en-US" sz="2400" dirty="0" smtClean="0"/>
              <a:t>To estimate an </a:t>
            </a:r>
            <a:r>
              <a:rPr lang="en-US" sz="2400" i="1" dirty="0" smtClean="0">
                <a:solidFill>
                  <a:srgbClr val="C00000"/>
                </a:solidFill>
              </a:rPr>
              <a:t>expected grade</a:t>
            </a:r>
            <a:r>
              <a:rPr lang="en-US" sz="2400" dirty="0" smtClean="0"/>
              <a:t> for yourself.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24550" y="24384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target learners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learning outcomes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contents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schedule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assessment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Teaching and learning </a:t>
            </a:r>
            <a:r>
              <a:rPr lang="en-US" sz="2400" i="1" dirty="0" smtClean="0">
                <a:solidFill>
                  <a:srgbClr val="C00000"/>
                </a:solidFill>
              </a:rPr>
              <a:t>methods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i="1" dirty="0" smtClean="0">
                <a:solidFill>
                  <a:srgbClr val="C00000"/>
                </a:solidFill>
              </a:rPr>
              <a:t>References</a:t>
            </a:r>
            <a:r>
              <a:rPr lang="en-US" sz="2400" dirty="0" smtClean="0"/>
              <a:t>.</a:t>
            </a:r>
          </a:p>
          <a:p>
            <a:pPr lvl="0"/>
            <a:r>
              <a:rPr lang="en-US" sz="2400" dirty="0" smtClean="0"/>
              <a:t>Course </a:t>
            </a:r>
            <a:r>
              <a:rPr lang="en-US" sz="2400" i="1" dirty="0" smtClean="0">
                <a:solidFill>
                  <a:srgbClr val="C00000"/>
                </a:solidFill>
              </a:rPr>
              <a:t>policies</a:t>
            </a:r>
            <a:r>
              <a:rPr lang="en-US" sz="2400" dirty="0" smtClean="0"/>
              <a:t>.</a:t>
            </a:r>
          </a:p>
        </p:txBody>
      </p:sp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626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Student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Should I attend this course?</a:t>
            </a:r>
            <a:endParaRPr lang="en-US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2971800"/>
            <a:ext cx="2434590" cy="21088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00" y="3276600"/>
            <a:ext cx="1828800" cy="1508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2" descr="https://encrypted-tbn3.gstatic.com/images?q=tbn:ANd9GcSHOzR7xsyO7vabfChNygfp53IhkVE6TqMQlVxCmE01VmAvSQGb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096000" y="2971800"/>
            <a:ext cx="2047875" cy="2228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Student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33400" y="5481935"/>
            <a:ext cx="7924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How to 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build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a cloud system to solve a </a:t>
            </a:r>
            <a:r>
              <a:rPr lang="en-US" sz="2400" u="sng" dirty="0" smtClean="0">
                <a:latin typeface="Calibri" pitchFamily="34" charset="0"/>
                <a:cs typeface="Calibri" pitchFamily="34" charset="0"/>
              </a:rPr>
              <a:t>real world problem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?</a:t>
            </a:r>
          </a:p>
        </p:txBody>
      </p:sp>
      <p:pic>
        <p:nvPicPr>
          <p:cNvPr id="21508" name="Picture 4" descr="https://rossum.ai/blog/wp-content/uploads/2020/03/featured-image-e1585296773287-1000x628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0" y="2038350"/>
            <a:ext cx="4762500" cy="29908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Student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457200" y="1524001"/>
            <a:ext cx="81534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endParaRPr lang="en-US" sz="3200" dirty="0" smtClean="0">
              <a:latin typeface="Calibri" pitchFamily="34" charset="0"/>
              <a:cs typeface="Calibri" pitchFamily="34" charset="0"/>
            </a:endParaRPr>
          </a:p>
          <a:p>
            <a:pPr>
              <a:buNone/>
            </a:pPr>
            <a:endParaRPr lang="en-US" sz="3200" dirty="0" smtClean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38200" y="4953000"/>
            <a:ext cx="73914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sz="2400" dirty="0" smtClean="0">
                <a:latin typeface="Calibri" pitchFamily="34" charset="0"/>
                <a:cs typeface="Calibri" pitchFamily="34" charset="0"/>
              </a:rPr>
              <a:t>What are the foundations of </a:t>
            </a:r>
            <a:r>
              <a:rPr lang="en-US" sz="24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research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 in cloud computing?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276600" y="1981200"/>
            <a:ext cx="2533650" cy="263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 am a Developer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Should I learn this course?</a:t>
            </a:r>
          </a:p>
          <a:p>
            <a:r>
              <a:rPr lang="en-US" sz="2200" dirty="0" smtClean="0"/>
              <a:t>Data engineer: Designing, building, and deploying systems for collecting, storing, and analyzing data </a:t>
            </a:r>
            <a:r>
              <a:rPr lang="en-US" sz="2200" i="1" dirty="0" smtClean="0">
                <a:solidFill>
                  <a:srgbClr val="C00000"/>
                </a:solidFill>
              </a:rPr>
              <a:t>at scale</a:t>
            </a:r>
            <a:r>
              <a:rPr lang="en-US" sz="2200" dirty="0" smtClean="0"/>
              <a:t>.</a:t>
            </a:r>
          </a:p>
          <a:p>
            <a:r>
              <a:rPr lang="en-US" sz="2200" dirty="0" smtClean="0"/>
              <a:t>Solution architect:  Distributed systems and cloud computing.</a:t>
            </a:r>
          </a:p>
        </p:txBody>
      </p:sp>
      <p:pic>
        <p:nvPicPr>
          <p:cNvPr id="3074" name="Picture 2" descr="https://www.greenbiz.com/sites/default/files/styles/gbz_article_primary_breakpoints_kalapicture_screen-md_1x/public/images/articles/featured/salary-tharakorn_arunothai-stock.jpg?itok=rlRQhXey&amp;timestamp=143923673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3610610"/>
            <a:ext cx="3841750" cy="2332990"/>
          </a:xfrm>
          <a:prstGeom prst="rect">
            <a:avLst/>
          </a:prstGeom>
          <a:noFill/>
        </p:spPr>
      </p:pic>
      <p:sp>
        <p:nvSpPr>
          <p:cNvPr id="11" name="Cloud 10"/>
          <p:cNvSpPr/>
          <p:nvPr/>
        </p:nvSpPr>
        <p:spPr>
          <a:xfrm>
            <a:off x="4648200" y="3276600"/>
            <a:ext cx="3733800" cy="3276600"/>
          </a:xfrm>
          <a:prstGeom prst="cloud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200" dirty="0" smtClean="0"/>
              <a:t>Solution architect salaries can range from $3000 to $5000 USD per month.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This Course is Not for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people who </a:t>
            </a:r>
            <a:r>
              <a:rPr lang="en-US" sz="2400" i="1" dirty="0" smtClean="0">
                <a:solidFill>
                  <a:srgbClr val="C00000"/>
                </a:solidFill>
              </a:rPr>
              <a:t>do not like</a:t>
            </a:r>
            <a:r>
              <a:rPr lang="en-US" sz="2400" dirty="0" smtClean="0"/>
              <a:t> programming.</a:t>
            </a:r>
          </a:p>
        </p:txBody>
      </p:sp>
      <p:pic>
        <p:nvPicPr>
          <p:cNvPr id="17410" name="Picture 2" descr="https://digitalready.co/sites/default/files/styles/1000x427/public/hate-coding-try-digital-marketing.png?itok=w3CiLpM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4000" y="2667000"/>
            <a:ext cx="6350000" cy="2711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It does not matter whether you want to know about cloud computing, as long as you still </a:t>
            </a:r>
            <a:r>
              <a:rPr lang="en-US" sz="2400" u="sng" dirty="0" smtClean="0"/>
              <a:t>involve in software development</a:t>
            </a:r>
            <a:r>
              <a:rPr lang="en-US" sz="2400" dirty="0" smtClean="0"/>
              <a:t> it still </a:t>
            </a:r>
            <a:r>
              <a:rPr lang="en-US" sz="2400" u="sng" dirty="0" smtClean="0"/>
              <a:t>seriously</a:t>
            </a:r>
            <a:r>
              <a:rPr lang="en-US" sz="2400" dirty="0" smtClean="0"/>
              <a:t> </a:t>
            </a:r>
            <a:r>
              <a:rPr lang="en-US" sz="2400" i="1" dirty="0" smtClean="0">
                <a:solidFill>
                  <a:srgbClr val="C00000"/>
                </a:solidFill>
              </a:rPr>
              <a:t>affects your career</a:t>
            </a:r>
            <a:r>
              <a:rPr lang="en-US" sz="2400" dirty="0" smtClean="0"/>
              <a:t>.</a:t>
            </a:r>
            <a:endParaRPr lang="en-US" sz="2400" dirty="0"/>
          </a:p>
        </p:txBody>
      </p:sp>
      <p:pic>
        <p:nvPicPr>
          <p:cNvPr id="4" name="Picture 2" descr="cloud computing la gi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3657600"/>
            <a:ext cx="2857500" cy="21304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Prerequisites</a:t>
            </a:r>
            <a:endParaRPr lang="en-US" dirty="0"/>
          </a:p>
        </p:txBody>
      </p:sp>
      <p:sp>
        <p:nvSpPr>
          <p:cNvPr id="2050" name="Rectangle 2"/>
          <p:cNvSpPr>
            <a:spLocks noChangeArrowheads="1"/>
          </p:cNvSpPr>
          <p:nvPr/>
        </p:nvSpPr>
        <p:spPr bwMode="auto">
          <a:xfrm>
            <a:off x="1524000" y="1601689"/>
            <a:ext cx="7391400" cy="4708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Prerequisites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: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Operating Systems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Computer Networks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Database Management Systems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Machine Learning</a:t>
            </a:r>
          </a:p>
          <a:p>
            <a:pPr marL="457200" lvl="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Prior-courses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Distributed Systems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Software Architecture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Web Application Development</a:t>
            </a:r>
          </a:p>
          <a:p>
            <a:pPr marL="457200" lvl="0" indent="-457200" algn="just" eaLnBrk="0" hangingPunct="0">
              <a:buFont typeface="Courier New" pitchFamily="49" charset="0"/>
              <a:buChar char="o"/>
              <a:tabLst>
                <a:tab pos="1371600" algn="l"/>
              </a:tabLst>
            </a:pPr>
            <a:r>
              <a:rPr lang="en-US" sz="2000" b="1" dirty="0" smtClean="0">
                <a:latin typeface="+mj-lt"/>
                <a:ea typeface="Times New Roman" pitchFamily="18" charset="0"/>
                <a:cs typeface="Arial" pitchFamily="34" charset="0"/>
              </a:rPr>
              <a:t>Parallel courses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</a:t>
            </a: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lang="en-US" sz="2000" dirty="0" err="1" smtClean="0">
                <a:latin typeface="+mj-lt"/>
                <a:ea typeface="Times New Roman" pitchFamily="18" charset="0"/>
                <a:cs typeface="Arial" pitchFamily="34" charset="0"/>
              </a:rPr>
              <a:t>Blockchain</a:t>
            </a:r>
            <a:r>
              <a:rPr lang="en-US" sz="2000" dirty="0" smtClean="0">
                <a:latin typeface="+mj-lt"/>
                <a:ea typeface="Times New Roman" pitchFamily="18" charset="0"/>
                <a:cs typeface="Arial" pitchFamily="34" charset="0"/>
              </a:rPr>
              <a:t> Technology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Courier New" pitchFamily="49" charset="0"/>
              <a:buChar char="o"/>
              <a:tabLst>
                <a:tab pos="1371600" algn="l"/>
              </a:tabLst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Required</a:t>
            </a:r>
            <a:r>
              <a:rPr kumimoji="0" lang="en-US" sz="2000" b="1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knowledge and skills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: 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The ability to read English</a:t>
            </a:r>
            <a:r>
              <a:rPr kumimoji="0" lang="en-US" sz="20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 books and research papers</a:t>
            </a:r>
            <a:endParaRPr lang="en-US" sz="2000" dirty="0" smtClean="0">
              <a:latin typeface="+mj-lt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ea typeface="Times New Roman" pitchFamily="18" charset="0"/>
                <a:cs typeface="Arial" pitchFamily="34" charset="0"/>
              </a:rPr>
              <a:t>The ability to write reports</a:t>
            </a:r>
            <a:endParaRPr lang="en-US" sz="2000" dirty="0" smtClean="0">
              <a:latin typeface="+mj-lt"/>
              <a:ea typeface="Times New Roman" pitchFamily="18" charset="0"/>
              <a:cs typeface="Arial" pitchFamily="34" charset="0"/>
            </a:endParaRPr>
          </a:p>
          <a:p>
            <a:pPr marL="914400" lvl="1" indent="-457200" algn="just" eaLnBrk="0" hangingPunct="0">
              <a:buFont typeface="Wingdings" pitchFamily="2" charset="2"/>
              <a:buChar char="§"/>
              <a:tabLst>
                <a:tab pos="1371600" algn="l"/>
              </a:tabLst>
            </a:pP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itchFamily="34" charset="0"/>
              </a:rPr>
              <a:t>The presentation skill</a:t>
            </a: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1475" y="16002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" y="2819400"/>
            <a:ext cx="685800" cy="89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81000" y="3962400"/>
            <a:ext cx="98107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7675" y="5181600"/>
            <a:ext cx="1000125" cy="981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2" name="Picture 4" descr="http://www.velaction.com/lean-information/wp-content/uploads/2009/06/improvement-objectives-300x299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324600" y="1600200"/>
            <a:ext cx="2446554" cy="2438400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Learning Outcomes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76400"/>
            <a:ext cx="5486400" cy="4495800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US" sz="2400" dirty="0" smtClean="0"/>
              <a:t>Deploy software to cloud.</a:t>
            </a:r>
          </a:p>
          <a:p>
            <a:pPr>
              <a:buFont typeface="+mj-lt"/>
              <a:buAutoNum type="arabicPeriod"/>
            </a:pPr>
            <a:r>
              <a:rPr lang="en-US" sz="2400" dirty="0" smtClean="0"/>
              <a:t>Develop software using cloud services.</a:t>
            </a:r>
          </a:p>
          <a:p>
            <a:pPr>
              <a:buFont typeface="+mj-lt"/>
              <a:buAutoNum type="arabicPeriod"/>
            </a:pPr>
            <a:r>
              <a:rPr lang="en-US" sz="2400" dirty="0" smtClean="0"/>
              <a:t>Develop data intensive software in the cloud.</a:t>
            </a:r>
          </a:p>
          <a:p>
            <a:pPr>
              <a:buFont typeface="+mj-lt"/>
              <a:buAutoNum type="arabicPeriod"/>
            </a:pPr>
            <a:r>
              <a:rPr lang="en-US" sz="2400" dirty="0" smtClean="0"/>
              <a:t>Identify a potential cloud research topic.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Contents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381000" y="5562600"/>
            <a:ext cx="8458200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kumimoji="0" lang="en-US" sz="32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itchFamily="34" charset="0"/>
                <a:ea typeface="+mn-ea"/>
                <a:cs typeface="Calibri" pitchFamily="34" charset="0"/>
              </a:rPr>
              <a:t>Details</a:t>
            </a:r>
            <a:r>
              <a:rPr lang="en-US" sz="3200" i="1" noProof="0" dirty="0" smtClean="0">
                <a:latin typeface="Calibri" pitchFamily="34" charset="0"/>
                <a:cs typeface="Calibri" pitchFamily="34" charset="0"/>
              </a:rPr>
              <a:t>: </a:t>
            </a:r>
            <a:r>
              <a:rPr lang="en-US" sz="3200" i="1" baseline="0" dirty="0" smtClean="0">
                <a:latin typeface="Calibri" pitchFamily="34" charset="0"/>
                <a:cs typeface="Calibri" pitchFamily="34" charset="0"/>
              </a:rPr>
              <a:t>Refer to the course</a:t>
            </a: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 syllabus.</a:t>
            </a:r>
          </a:p>
        </p:txBody>
      </p:sp>
      <p:pic>
        <p:nvPicPr>
          <p:cNvPr id="1028" name="Picture 4" descr="http://infopros.com/wp-content/uploads/project-managem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29400" y="1600200"/>
            <a:ext cx="2011680" cy="1712976"/>
          </a:xfrm>
          <a:prstGeom prst="rect">
            <a:avLst/>
          </a:prstGeom>
          <a:noFill/>
        </p:spPr>
      </p:pic>
      <p:pic>
        <p:nvPicPr>
          <p:cNvPr id="1030" name="Picture 6" descr="http://mgt.sjp.ac.lk/acc/wp-content/uploads/2016/01/Book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705600" y="3581400"/>
            <a:ext cx="2321357" cy="155448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324600" cy="3810000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Cloud Computing Concepts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Infrastructure as a Service: Amazon Web Services.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Platform as a Service: </a:t>
            </a:r>
            <a:r>
              <a:rPr lang="en-US" sz="2200" dirty="0" err="1" smtClean="0"/>
              <a:t>Salesforce</a:t>
            </a:r>
            <a:r>
              <a:rPr lang="en-US" sz="2200" dirty="0" smtClean="0"/>
              <a:t> Platform.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smtClean="0"/>
              <a:t>Private </a:t>
            </a:r>
            <a:r>
              <a:rPr lang="en-US" sz="2200" smtClean="0"/>
              <a:t>Cloud</a:t>
            </a:r>
            <a:r>
              <a:rPr lang="en-US" sz="2200" dirty="0" smtClean="0"/>
              <a:t>: </a:t>
            </a:r>
            <a:r>
              <a:rPr lang="en-US" sz="2200" dirty="0" err="1" smtClean="0"/>
              <a:t>VMWare</a:t>
            </a:r>
            <a:r>
              <a:rPr lang="en-US" sz="2200" dirty="0" smtClean="0"/>
              <a:t>, </a:t>
            </a:r>
            <a:r>
              <a:rPr lang="en-US" sz="2200" dirty="0" err="1" smtClean="0"/>
              <a:t>TrueNAS</a:t>
            </a:r>
            <a:r>
              <a:rPr lang="en-US" sz="2200" dirty="0" smtClean="0"/>
              <a:t>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Cloud-Native Architecture: </a:t>
            </a:r>
            <a:r>
              <a:rPr lang="en-US" sz="2200" dirty="0" err="1" smtClean="0"/>
              <a:t>Terraform</a:t>
            </a:r>
            <a:r>
              <a:rPr lang="en-US" sz="2200" dirty="0" smtClean="0"/>
              <a:t>, AWS </a:t>
            </a:r>
            <a:r>
              <a:rPr lang="en-US" sz="2200" dirty="0" err="1" smtClean="0"/>
              <a:t>CloudFormation</a:t>
            </a:r>
            <a:r>
              <a:rPr lang="en-US" sz="2200" dirty="0" smtClean="0"/>
              <a:t>, AWS Serverless Computing.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Storage in the Cloud: GFS, </a:t>
            </a:r>
            <a:r>
              <a:rPr lang="en-US" sz="2200" dirty="0" err="1" smtClean="0"/>
              <a:t>Bigtable</a:t>
            </a:r>
            <a:r>
              <a:rPr lang="en-US" sz="2200" dirty="0" smtClean="0"/>
              <a:t>.</a:t>
            </a:r>
          </a:p>
          <a:p>
            <a:pPr marL="571500" indent="-571500">
              <a:buFont typeface="+mj-lt"/>
              <a:buAutoNum type="romanUcPeriod"/>
            </a:pPr>
            <a:r>
              <a:rPr lang="en-US" sz="2200" dirty="0" smtClean="0"/>
              <a:t>Programming in the Cloud: </a:t>
            </a:r>
            <a:r>
              <a:rPr lang="en-US" sz="2200" dirty="0" err="1" smtClean="0"/>
              <a:t>Hadoop</a:t>
            </a:r>
            <a:r>
              <a:rPr lang="en-US" sz="2200" dirty="0" smtClean="0"/>
              <a:t>, Spark.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Schedule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514600"/>
          </a:xfrm>
        </p:spPr>
        <p:txBody>
          <a:bodyPr/>
          <a:lstStyle/>
          <a:p>
            <a:r>
              <a:rPr lang="en-US" sz="2600" dirty="0" smtClean="0"/>
              <a:t>The number of credits:	4</a:t>
            </a:r>
          </a:p>
          <a:p>
            <a:r>
              <a:rPr lang="en-US" sz="2600" dirty="0" smtClean="0"/>
              <a:t>Theoretical lessons: 	45</a:t>
            </a:r>
          </a:p>
          <a:p>
            <a:r>
              <a:rPr lang="en-US" sz="2600" dirty="0" smtClean="0"/>
              <a:t>Practical lessons:		30</a:t>
            </a:r>
          </a:p>
          <a:p>
            <a:r>
              <a:rPr lang="vi-VN" sz="26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Self- learning lessons:</a:t>
            </a:r>
            <a:r>
              <a:rPr lang="en-US" sz="26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	9</a:t>
            </a:r>
            <a:r>
              <a:rPr lang="vi-VN" sz="2600" i="1" dirty="0" smtClean="0">
                <a:solidFill>
                  <a:srgbClr val="C00000"/>
                </a:solidFill>
                <a:latin typeface="Calibri" pitchFamily="34" charset="0"/>
                <a:cs typeface="Calibri" pitchFamily="34" charset="0"/>
              </a:rPr>
              <a:t>0</a:t>
            </a:r>
            <a:endParaRPr lang="en-US" sz="2600" i="1" dirty="0">
              <a:solidFill>
                <a:srgbClr val="C0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38800" y="1447800"/>
            <a:ext cx="2962275" cy="300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 txBox="1">
            <a:spLocks/>
          </p:cNvSpPr>
          <p:nvPr/>
        </p:nvSpPr>
        <p:spPr bwMode="auto">
          <a:xfrm>
            <a:off x="762000" y="4800600"/>
            <a:ext cx="7620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Detailed schedule: Refer to the course syllabus.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 Monitors</a:t>
            </a:r>
            <a:endParaRPr lang="en-US" dirty="0"/>
          </a:p>
        </p:txBody>
      </p:sp>
      <p:pic>
        <p:nvPicPr>
          <p:cNvPr id="1028" name="Picture 4" descr="https://pbs.twimg.com/media/Ca6IvlnUYAATojU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52600" y="1619249"/>
            <a:ext cx="5715000" cy="47053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Assessment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3600" y="1524000"/>
            <a:ext cx="6705600" cy="3505200"/>
          </a:xfrm>
        </p:spPr>
        <p:txBody>
          <a:bodyPr/>
          <a:lstStyle/>
          <a:p>
            <a:pPr marL="514350" indent="-514350">
              <a:buFont typeface="Courier New" pitchFamily="49" charset="0"/>
              <a:buChar char="o"/>
            </a:pP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The final grade is combined of: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6 individual labs (60%)</a:t>
            </a:r>
          </a:p>
          <a:p>
            <a:pPr marL="914400" lvl="1" indent="-457200">
              <a:buFont typeface="Wingdings" pitchFamily="2" charset="2"/>
              <a:buChar char="§"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Final oral exam (40%)</a:t>
            </a:r>
          </a:p>
          <a:p>
            <a:pPr marL="514350" indent="-514350">
              <a:buFont typeface="Courier New" pitchFamily="49" charset="0"/>
              <a:buChar char="o"/>
            </a:pPr>
            <a:r>
              <a:rPr lang="en-US" sz="2400" b="1" dirty="0" smtClean="0">
                <a:latin typeface="Calibri" pitchFamily="34" charset="0"/>
                <a:cs typeface="Calibri" pitchFamily="34" charset="0"/>
              </a:rPr>
              <a:t>Bonus points (up to 20%) for:</a:t>
            </a:r>
          </a:p>
          <a:p>
            <a:pPr marL="914400" lvl="1" indent="-514350">
              <a:buFont typeface="Wingdings" pitchFamily="2" charset="2"/>
              <a:buChar char="§"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Students who actively answer questions in classroom correctly</a:t>
            </a:r>
          </a:p>
          <a:p>
            <a:pPr marL="914400" lvl="1" indent="-514350">
              <a:buFont typeface="Wingdings" pitchFamily="2" charset="2"/>
              <a:buChar char="§"/>
            </a:pPr>
            <a:r>
              <a:rPr lang="en-US" sz="2200" dirty="0" smtClean="0">
                <a:latin typeface="Calibri" pitchFamily="34" charset="0"/>
                <a:cs typeface="Calibri" pitchFamily="34" charset="0"/>
              </a:rPr>
              <a:t>Personnel board (1 class leader and 1 deputy class leader)</a:t>
            </a:r>
            <a:endParaRPr lang="en-US" sz="2200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1143000" y="5334000"/>
            <a:ext cx="655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3200" i="1" dirty="0" smtClean="0">
                <a:latin typeface="Calibri" pitchFamily="34" charset="0"/>
                <a:cs typeface="Calibri" pitchFamily="34" charset="0"/>
              </a:rPr>
              <a:t>Detailed assessment: Refer to the course syllabus.</a:t>
            </a: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752600"/>
            <a:ext cx="1190625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0" y="3886200"/>
            <a:ext cx="1323975" cy="109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Individual Labs (60%)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smtClean="0"/>
              <a:t>Amazon Web Services: 10%</a:t>
            </a:r>
          </a:p>
          <a:p>
            <a:r>
              <a:rPr lang="en-US" sz="2200" dirty="0" smtClean="0"/>
              <a:t>VMware: 10%</a:t>
            </a:r>
          </a:p>
          <a:p>
            <a:r>
              <a:rPr lang="en-US" sz="2200" dirty="0" err="1" smtClean="0"/>
              <a:t>Salesforce</a:t>
            </a:r>
            <a:r>
              <a:rPr lang="en-US" sz="2200" dirty="0" smtClean="0"/>
              <a:t> Platform: 10%</a:t>
            </a:r>
          </a:p>
          <a:p>
            <a:r>
              <a:rPr lang="en-US" sz="2200" dirty="0" err="1" smtClean="0"/>
              <a:t>TrueNAS</a:t>
            </a:r>
            <a:r>
              <a:rPr lang="en-US" sz="2200" dirty="0" smtClean="0"/>
              <a:t>: 10%</a:t>
            </a:r>
          </a:p>
          <a:p>
            <a:pPr lvl="0"/>
            <a:r>
              <a:rPr lang="en-US" sz="2200" dirty="0" err="1" smtClean="0"/>
              <a:t>Terraform</a:t>
            </a:r>
            <a:r>
              <a:rPr lang="en-US" sz="2200" dirty="0" smtClean="0"/>
              <a:t>, AWS </a:t>
            </a:r>
            <a:r>
              <a:rPr lang="en-US" sz="2200" dirty="0" err="1" smtClean="0"/>
              <a:t>CloudFormation</a:t>
            </a:r>
            <a:r>
              <a:rPr lang="en-US" sz="2200" dirty="0" smtClean="0"/>
              <a:t>, AWS Serverless Computing: 10%</a:t>
            </a:r>
          </a:p>
          <a:p>
            <a:r>
              <a:rPr lang="en-US" sz="2200" dirty="0" err="1" smtClean="0"/>
              <a:t>Hadoop</a:t>
            </a:r>
            <a:r>
              <a:rPr lang="en-US" sz="2200" dirty="0" smtClean="0"/>
              <a:t>, Spark, Amazon EMR: 10%</a:t>
            </a:r>
          </a:p>
        </p:txBody>
      </p:sp>
      <p:pic>
        <p:nvPicPr>
          <p:cNvPr id="8194" name="Picture 2" descr="https://programminglabs.com/imgs/computer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33800" y="4343400"/>
            <a:ext cx="2567635" cy="181782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800" dirty="0" smtClean="0"/>
              <a:t>Programming Demonstration (10% each)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400" dirty="0" smtClean="0"/>
              <a:t>Programming in the Cloud: </a:t>
            </a:r>
            <a:r>
              <a:rPr lang="en-US" sz="2400" dirty="0" err="1" smtClean="0"/>
              <a:t>Hadoop</a:t>
            </a:r>
            <a:r>
              <a:rPr lang="en-US" sz="2400" dirty="0" smtClean="0"/>
              <a:t>, Spark.</a:t>
            </a:r>
            <a:endParaRPr lang="en-US" sz="2400" dirty="0"/>
          </a:p>
        </p:txBody>
      </p:sp>
      <p:pic>
        <p:nvPicPr>
          <p:cNvPr id="4" name="Picture 2" descr="https://im.ezgif.com/tmp/ezgif-1-8eada3a728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2438400"/>
            <a:ext cx="4733925" cy="38862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Paper Presentation (10% each)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sz="2400" dirty="0" smtClean="0"/>
              <a:t>Research papers.</a:t>
            </a:r>
          </a:p>
        </p:txBody>
      </p:sp>
      <p:pic>
        <p:nvPicPr>
          <p:cNvPr id="5" name="Picture 2" descr="https://www.steconf.org/wp-content/uploads/2022/07/STECONF-Blog-Powerpoint-presenting-3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3124200"/>
            <a:ext cx="3810000" cy="254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Individual Oral Exam (40%)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6629400" cy="990599"/>
          </a:xfrm>
        </p:spPr>
        <p:txBody>
          <a:bodyPr/>
          <a:lstStyle/>
          <a:p>
            <a:r>
              <a:rPr lang="en-US" sz="2800" i="1" dirty="0" smtClean="0">
                <a:solidFill>
                  <a:srgbClr val="C00000"/>
                </a:solidFill>
              </a:rPr>
              <a:t>Papers, programs</a:t>
            </a:r>
            <a:r>
              <a:rPr lang="en-US" sz="2800" dirty="0" smtClean="0"/>
              <a:t>, </a:t>
            </a:r>
            <a:r>
              <a:rPr lang="en-US" sz="2800" i="1" dirty="0" smtClean="0">
                <a:solidFill>
                  <a:srgbClr val="C00000"/>
                </a:solidFill>
              </a:rPr>
              <a:t>source code</a:t>
            </a:r>
            <a:r>
              <a:rPr lang="en-US" sz="2800" dirty="0" smtClean="0"/>
              <a:t>, </a:t>
            </a:r>
            <a:r>
              <a:rPr lang="en-US" sz="2800" i="1" dirty="0" smtClean="0">
                <a:solidFill>
                  <a:srgbClr val="C00000"/>
                </a:solidFill>
              </a:rPr>
              <a:t>documents</a:t>
            </a:r>
            <a:r>
              <a:rPr lang="en-US" sz="2800" dirty="0" smtClean="0"/>
              <a:t>, videos and related resources. </a:t>
            </a:r>
            <a:endParaRPr lang="en-US" sz="2600" dirty="0" smtClean="0"/>
          </a:p>
        </p:txBody>
      </p:sp>
      <p:pic>
        <p:nvPicPr>
          <p:cNvPr id="5122" name="Picture 2" descr="https://2e8ram2s1li74atce18qz5y1-wpengine.netdna-ssl.com/wp-content/uploads/2018/09/Tech-Interviews-Tech-Pros-Dice-1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38600" y="3276600"/>
            <a:ext cx="4572000" cy="2857500"/>
          </a:xfrm>
          <a:prstGeom prst="rect">
            <a:avLst/>
          </a:prstGeom>
          <a:noFill/>
        </p:spPr>
      </p:pic>
      <p:pic>
        <p:nvPicPr>
          <p:cNvPr id="5" name="Picture 2" descr="http://4.bp.blogspot.com/_5xHBZqys6o8/TEB1A8EcgNI/AAAAAAAABO8/Uy0B8-abN2I/s1600/NoTextbook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3581400"/>
            <a:ext cx="2410464" cy="2366882"/>
          </a:xfrm>
          <a:prstGeom prst="rect">
            <a:avLst/>
          </a:prstGeom>
          <a:noFill/>
        </p:spPr>
      </p:pic>
      <p:pic>
        <p:nvPicPr>
          <p:cNvPr id="6" name="Picture 2" descr="http://www.18thtechnology.com/images/software_development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934200" y="1295400"/>
            <a:ext cx="876300" cy="880110"/>
          </a:xfrm>
          <a:prstGeom prst="rect">
            <a:avLst/>
          </a:prstGeom>
          <a:noFill/>
        </p:spPr>
      </p:pic>
      <p:pic>
        <p:nvPicPr>
          <p:cNvPr id="7" name="Picture 3" descr="http://www.prm.nau.edu/PRM346/images/paper%20icon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086600" y="2286000"/>
            <a:ext cx="609600" cy="609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Policies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905000"/>
            <a:ext cx="8763000" cy="4572000"/>
          </a:xfrm>
        </p:spPr>
        <p:txBody>
          <a:bodyPr/>
          <a:lstStyle/>
          <a:p>
            <a:r>
              <a:rPr lang="en-US" sz="1900" dirty="0" smtClean="0">
                <a:latin typeface="+mj-lt"/>
              </a:rPr>
              <a:t>Students who are </a:t>
            </a:r>
            <a:r>
              <a:rPr lang="en-US" sz="1900" u="sng" dirty="0" smtClean="0">
                <a:latin typeface="+mj-lt"/>
              </a:rPr>
              <a:t>absent</a:t>
            </a:r>
            <a:r>
              <a:rPr lang="en-US" sz="1900" dirty="0" smtClean="0">
                <a:latin typeface="+mj-lt"/>
              </a:rPr>
              <a:t> for more than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30% of the course time</a:t>
            </a:r>
            <a:r>
              <a:rPr lang="en-US" sz="1900" dirty="0" smtClean="0">
                <a:latin typeface="+mj-lt"/>
              </a:rPr>
              <a:t> shall not be allowed to take the exams and be </a:t>
            </a:r>
            <a:r>
              <a:rPr lang="en-US" sz="1900" dirty="0" smtClean="0"/>
              <a:t>graded </a:t>
            </a:r>
            <a:r>
              <a:rPr lang="en-US" sz="1900" i="1" dirty="0" smtClean="0">
                <a:solidFill>
                  <a:srgbClr val="C00000"/>
                </a:solidFill>
              </a:rPr>
              <a:t>0 </a:t>
            </a:r>
            <a:r>
              <a:rPr lang="en-US" sz="1900" dirty="0" smtClean="0"/>
              <a:t>for the whole course</a:t>
            </a:r>
            <a:r>
              <a:rPr lang="en-US" sz="1900" dirty="0" smtClean="0">
                <a:latin typeface="+mj-lt"/>
              </a:rPr>
              <a:t>.</a:t>
            </a:r>
          </a:p>
          <a:p>
            <a:r>
              <a:rPr lang="en-US" sz="1900" dirty="0" smtClean="0">
                <a:latin typeface="+mj-lt"/>
              </a:rPr>
              <a:t>Students who are graded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0 </a:t>
            </a:r>
            <a:r>
              <a:rPr lang="en-US" sz="1900" dirty="0" smtClean="0">
                <a:latin typeface="+mj-lt"/>
              </a:rPr>
              <a:t>for the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course project</a:t>
            </a:r>
            <a:r>
              <a:rPr lang="en-US" sz="1900" dirty="0" smtClean="0">
                <a:latin typeface="+mj-lt"/>
              </a:rPr>
              <a:t> or for the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total score of the individual tests </a:t>
            </a:r>
            <a:r>
              <a:rPr lang="en-US" sz="1900" dirty="0" smtClean="0">
                <a:latin typeface="+mj-lt"/>
              </a:rPr>
              <a:t>shall not be allowed to take the exams.</a:t>
            </a:r>
          </a:p>
          <a:p>
            <a:r>
              <a:rPr lang="en-US" sz="1900" dirty="0" smtClean="0">
                <a:latin typeface="+mj-lt"/>
              </a:rPr>
              <a:t>Students who are </a:t>
            </a:r>
            <a:r>
              <a:rPr lang="en-US" sz="1900" u="sng" dirty="0" smtClean="0">
                <a:latin typeface="+mj-lt"/>
              </a:rPr>
              <a:t>absent</a:t>
            </a:r>
            <a:r>
              <a:rPr lang="en-US" sz="1900" dirty="0" smtClean="0">
                <a:latin typeface="+mj-lt"/>
              </a:rPr>
              <a:t> during a test session will be graded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0</a:t>
            </a:r>
            <a:r>
              <a:rPr lang="en-US" sz="1900" dirty="0" smtClean="0">
                <a:latin typeface="+mj-lt"/>
              </a:rPr>
              <a:t> for the test. The exception can only be applied to students who have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a hospital certificate of medical status</a:t>
            </a:r>
            <a:r>
              <a:rPr lang="en-US" sz="1900" dirty="0" smtClean="0">
                <a:latin typeface="+mj-lt"/>
              </a:rPr>
              <a:t>.</a:t>
            </a:r>
          </a:p>
          <a:p>
            <a:r>
              <a:rPr lang="en-US" sz="1900" dirty="0" smtClean="0">
                <a:latin typeface="+mj-lt"/>
              </a:rPr>
              <a:t>Students who does a classroom test or homework or project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for their friends</a:t>
            </a:r>
            <a:r>
              <a:rPr lang="en-US" sz="1900" dirty="0" smtClean="0">
                <a:latin typeface="+mj-lt"/>
              </a:rPr>
              <a:t> will be graded 0 for the course.</a:t>
            </a:r>
          </a:p>
          <a:p>
            <a:r>
              <a:rPr lang="en-US" sz="1900" dirty="0" smtClean="0">
                <a:latin typeface="+mj-lt"/>
              </a:rPr>
              <a:t>Students who do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plagiarism</a:t>
            </a:r>
            <a:r>
              <a:rPr lang="en-US" sz="1900" dirty="0" smtClean="0">
                <a:latin typeface="+mj-lt"/>
              </a:rPr>
              <a:t> for their exercises or projects will be graded 0 for the course. This also applies to cases in which the lecturers find out later when students will have already completed the course.</a:t>
            </a:r>
          </a:p>
          <a:p>
            <a:r>
              <a:rPr lang="en-US" sz="1900" dirty="0" smtClean="0">
                <a:latin typeface="+mj-lt"/>
              </a:rPr>
              <a:t>Students who have proof of their friends’ cheating or plagiarism but do not notify the lecturers will be </a:t>
            </a:r>
            <a:r>
              <a:rPr lang="en-US" sz="1900" i="1" dirty="0" smtClean="0">
                <a:solidFill>
                  <a:srgbClr val="C00000"/>
                </a:solidFill>
                <a:latin typeface="+mj-lt"/>
              </a:rPr>
              <a:t>deducted 50%</a:t>
            </a:r>
            <a:r>
              <a:rPr lang="en-US" sz="1900" dirty="0" smtClean="0">
                <a:latin typeface="+mj-lt"/>
              </a:rPr>
              <a:t> of the total grade that they will have achieved.</a:t>
            </a: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28600"/>
            <a:ext cx="2152650" cy="1428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324600" cy="4525963"/>
          </a:xfrm>
        </p:spPr>
        <p:txBody>
          <a:bodyPr/>
          <a:lstStyle/>
          <a:p>
            <a:r>
              <a:rPr lang="en-US" sz="1800" dirty="0" smtClean="0"/>
              <a:t>Dan C. </a:t>
            </a:r>
            <a:r>
              <a:rPr lang="en-US" sz="1800" dirty="0" err="1" smtClean="0"/>
              <a:t>Marinescu</a:t>
            </a:r>
            <a:r>
              <a:rPr lang="en-US" sz="1800" dirty="0" smtClean="0"/>
              <a:t> (2022). Cloud Computing - Theory and Practice. Morgan Kaufmann.</a:t>
            </a:r>
          </a:p>
          <a:p>
            <a:r>
              <a:rPr lang="en-US" sz="1800" dirty="0" smtClean="0"/>
              <a:t>Andreas Wittig and Michael Wittig (2022). Amazon Web Services in Action. Manning Publications.</a:t>
            </a:r>
          </a:p>
          <a:p>
            <a:r>
              <a:rPr lang="en-US" sz="1800" dirty="0" smtClean="0"/>
              <a:t>Nick Marshall et al. (2018). Mastering VMware </a:t>
            </a:r>
            <a:r>
              <a:rPr lang="en-US" sz="1800" dirty="0" err="1" smtClean="0"/>
              <a:t>vSphere</a:t>
            </a:r>
            <a:r>
              <a:rPr lang="en-US" sz="1800" dirty="0" smtClean="0"/>
              <a:t> 6.7. </a:t>
            </a:r>
            <a:r>
              <a:rPr lang="en-US" sz="1800" smtClean="0"/>
              <a:t>John Wiley &amp; Sons.</a:t>
            </a:r>
            <a:endParaRPr lang="en-US" sz="1800" dirty="0" smtClean="0"/>
          </a:p>
          <a:p>
            <a:r>
              <a:rPr lang="en-US" sz="1800" dirty="0" smtClean="0"/>
              <a:t>Philip </a:t>
            </a:r>
            <a:r>
              <a:rPr lang="en-US" sz="1800" dirty="0" err="1" smtClean="0"/>
              <a:t>Weinmeister</a:t>
            </a:r>
            <a:r>
              <a:rPr lang="en-US" sz="1800" dirty="0" smtClean="0"/>
              <a:t> (2019). Practical </a:t>
            </a:r>
            <a:r>
              <a:rPr lang="en-US" sz="1800" dirty="0" err="1" smtClean="0"/>
              <a:t>Salesforce</a:t>
            </a:r>
            <a:r>
              <a:rPr lang="en-US" sz="1800" dirty="0" smtClean="0"/>
              <a:t> Development Without Code. </a:t>
            </a:r>
            <a:r>
              <a:rPr lang="en-US" sz="1800" dirty="0" err="1" smtClean="0"/>
              <a:t>Apress</a:t>
            </a:r>
            <a:r>
              <a:rPr lang="en-US" sz="1800" dirty="0" smtClean="0"/>
              <a:t>.</a:t>
            </a:r>
          </a:p>
          <a:p>
            <a:r>
              <a:rPr lang="en-US" sz="1800" dirty="0" err="1" smtClean="0"/>
              <a:t>Rathinaraja</a:t>
            </a:r>
            <a:r>
              <a:rPr lang="en-US" sz="1800" dirty="0" smtClean="0"/>
              <a:t> </a:t>
            </a:r>
            <a:r>
              <a:rPr lang="en-US" sz="1800" dirty="0" err="1" smtClean="0"/>
              <a:t>Jeyaraj</a:t>
            </a:r>
            <a:r>
              <a:rPr lang="en-US" sz="1800" dirty="0" smtClean="0"/>
              <a:t> et al. (2021). Big Data with </a:t>
            </a:r>
            <a:r>
              <a:rPr lang="en-US" sz="1800" dirty="0" err="1" smtClean="0"/>
              <a:t>Hadoop</a:t>
            </a:r>
            <a:r>
              <a:rPr lang="en-US" sz="1800" dirty="0" smtClean="0"/>
              <a:t> </a:t>
            </a:r>
            <a:r>
              <a:rPr lang="en-US" sz="1800" dirty="0" err="1" smtClean="0"/>
              <a:t>MapReduce</a:t>
            </a:r>
            <a:r>
              <a:rPr lang="en-US" sz="1800" dirty="0" smtClean="0"/>
              <a:t> - A Classroom Approach. Apple Academic Press.</a:t>
            </a:r>
          </a:p>
          <a:p>
            <a:r>
              <a:rPr lang="en-US" sz="1800" dirty="0" smtClean="0"/>
              <a:t>Tomasz </a:t>
            </a:r>
            <a:r>
              <a:rPr lang="en-US" sz="1800" dirty="0" err="1" smtClean="0"/>
              <a:t>Wiktorski</a:t>
            </a:r>
            <a:r>
              <a:rPr lang="en-US" sz="1800" dirty="0" smtClean="0"/>
              <a:t> (2019). Data-intensive Systems - Principles and Fundamentals using </a:t>
            </a:r>
            <a:r>
              <a:rPr lang="en-US" sz="1800" dirty="0" err="1" smtClean="0"/>
              <a:t>Hadoop</a:t>
            </a:r>
            <a:r>
              <a:rPr lang="en-US" sz="1800" dirty="0" smtClean="0"/>
              <a:t> and Spark. Springer.</a:t>
            </a:r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1800" y="1600200"/>
            <a:ext cx="1809750" cy="180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Content Placeholder 2"/>
          <p:cNvSpPr txBox="1">
            <a:spLocks/>
          </p:cNvSpPr>
          <p:nvPr/>
        </p:nvSpPr>
        <p:spPr bwMode="auto">
          <a:xfrm>
            <a:off x="1219200" y="5410200"/>
            <a:ext cx="6705600" cy="8382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lvl="0" indent="-342900" algn="ctr" eaLnBrk="0" hangingPunct="0">
              <a:spcBef>
                <a:spcPct val="20000"/>
              </a:spcBef>
              <a:defRPr/>
            </a:pPr>
            <a:r>
              <a:rPr lang="en-US" sz="2400" i="1" dirty="0" smtClean="0">
                <a:latin typeface="Calibri" pitchFamily="34" charset="0"/>
                <a:cs typeface="Calibri" pitchFamily="34" charset="0"/>
              </a:rPr>
              <a:t>Specific materials for each course topic: Refer to the course slides.</a:t>
            </a:r>
            <a:endParaRPr kumimoji="0" lang="en-US" sz="2400" b="0" i="1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itchFamily="34" charset="0"/>
              <a:ea typeface="+mn-ea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 and Answers</a:t>
            </a:r>
            <a:endParaRPr 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19488" y="2233613"/>
            <a:ext cx="210502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13446</TotalTime>
  <Words>837</Words>
  <Application>Microsoft Office PowerPoint</Application>
  <PresentationFormat>On-screen Show (4:3)</PresentationFormat>
  <Paragraphs>119</Paragraphs>
  <Slides>24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Course Introduction</vt:lpstr>
      <vt:lpstr>Lecturer</vt:lpstr>
      <vt:lpstr>Objectives</vt:lpstr>
      <vt:lpstr>Contents</vt:lpstr>
      <vt:lpstr>I am a Student</vt:lpstr>
      <vt:lpstr>I am a Student</vt:lpstr>
      <vt:lpstr>I am a Student</vt:lpstr>
      <vt:lpstr>I am a Developer</vt:lpstr>
      <vt:lpstr>This Course is Not for</vt:lpstr>
      <vt:lpstr>But</vt:lpstr>
      <vt:lpstr>Course Prerequisites</vt:lpstr>
      <vt:lpstr>Course Learning Outcomes</vt:lpstr>
      <vt:lpstr>Course Contents</vt:lpstr>
      <vt:lpstr>Course Schedule</vt:lpstr>
      <vt:lpstr>Class Monitors</vt:lpstr>
      <vt:lpstr>Course Assessment</vt:lpstr>
      <vt:lpstr>Individual Labs (60%)</vt:lpstr>
      <vt:lpstr>Programming Demonstration (10% each)</vt:lpstr>
      <vt:lpstr>Paper Presentation (10% each)</vt:lpstr>
      <vt:lpstr>Final Individual Oral Exam (40%)</vt:lpstr>
      <vt:lpstr>Course Policies</vt:lpstr>
      <vt:lpstr>References</vt:lpstr>
      <vt:lpstr>Questions and Answers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6139</cp:revision>
  <dcterms:created xsi:type="dcterms:W3CDTF">2007-10-06T08:25:13Z</dcterms:created>
  <dcterms:modified xsi:type="dcterms:W3CDTF">2025-10-25T16:53:11Z</dcterms:modified>
</cp:coreProperties>
</file>