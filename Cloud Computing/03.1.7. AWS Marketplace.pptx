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113.xml" ContentType="application/vnd.openxmlformats-officedocument.presentationml.slide+xml"/>
  <Override PartName="/ppt/slides/slide14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s/slide120.xml" ContentType="application/vnd.openxmlformats-officedocument.presentationml.slide+xml"/>
  <Override PartName="/ppt/slides/slide13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12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99.xml" ContentType="application/vnd.openxmlformats-officedocument.presentationml.slide+xml"/>
  <Override PartName="/ppt/slides/slide118.xml" ContentType="application/vnd.openxmlformats-officedocument.presentationml.slide+xml"/>
  <Override PartName="/ppt/slides/slide13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07.xml" ContentType="application/vnd.openxmlformats-officedocument.presentationml.slide+xml"/>
  <Override PartName="/ppt/slides/slide125.xml" ContentType="application/vnd.openxmlformats-officedocument.presentationml.slide+xml"/>
  <Override PartName="/ppt/slides/slide143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Override PartName="/ppt/slides/slide132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19.xml" ContentType="application/vnd.openxmlformats-officedocument.presentationml.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9.xml" ContentType="application/vnd.openxmlformats-officedocument.presentationml.slide+xml"/>
  <Override PartName="/ppt/slides/slide108.xml" ContentType="application/vnd.openxmlformats-officedocument.presentationml.slide+xml"/>
  <Override PartName="/ppt/slides/slide126.xml" ContentType="application/vnd.openxmlformats-officedocument.presentationml.slide+xml"/>
  <Override PartName="/ppt/slides/slide137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slides/slide106.xml" ContentType="application/vnd.openxmlformats-officedocument.presentationml.slide+xml"/>
  <Override PartName="/ppt/slides/slide115.xml" ContentType="application/vnd.openxmlformats-officedocument.presentationml.slide+xml"/>
  <Override PartName="/ppt/slides/slide124.xml" ContentType="application/vnd.openxmlformats-officedocument.presentationml.slide+xml"/>
  <Override PartName="/ppt/slides/slide135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s/slide122.xml" ContentType="application/vnd.openxmlformats-officedocument.presentationml.slide+xml"/>
  <Override PartName="/ppt/slides/slide133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s/slide140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3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127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slides/slide134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slides/slide123.xml" ContentType="application/vnd.openxmlformats-officedocument.presentationml.slide+xml"/>
  <Override PartName="/ppt/slides/slide14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s/slide130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Default Extension="jpeg" ContentType="image/jpeg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0.xml" ContentType="application/vnd.openxmlformats-officedocument.presentationml.slide+xml"/>
  <Override PartName="/ppt/slides/slide139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98.xml" ContentType="application/vnd.openxmlformats-officedocument.presentationml.slide+xml"/>
  <Override PartName="/ppt/slides/slide117.xml" ContentType="application/vnd.openxmlformats-officedocument.presentationml.slide+xml"/>
  <Override PartName="/ppt/slides/slide128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45"/>
  </p:notesMasterIdLst>
  <p:sldIdLst>
    <p:sldId id="584" r:id="rId2"/>
    <p:sldId id="585" r:id="rId3"/>
    <p:sldId id="586" r:id="rId4"/>
    <p:sldId id="587" r:id="rId5"/>
    <p:sldId id="747" r:id="rId6"/>
    <p:sldId id="748" r:id="rId7"/>
    <p:sldId id="749" r:id="rId8"/>
    <p:sldId id="750" r:id="rId9"/>
    <p:sldId id="751" r:id="rId10"/>
    <p:sldId id="752" r:id="rId11"/>
    <p:sldId id="753" r:id="rId12"/>
    <p:sldId id="754" r:id="rId13"/>
    <p:sldId id="755" r:id="rId14"/>
    <p:sldId id="756" r:id="rId15"/>
    <p:sldId id="757" r:id="rId16"/>
    <p:sldId id="758" r:id="rId17"/>
    <p:sldId id="759" r:id="rId18"/>
    <p:sldId id="771" r:id="rId19"/>
    <p:sldId id="760" r:id="rId20"/>
    <p:sldId id="761" r:id="rId21"/>
    <p:sldId id="762" r:id="rId22"/>
    <p:sldId id="763" r:id="rId23"/>
    <p:sldId id="764" r:id="rId24"/>
    <p:sldId id="765" r:id="rId25"/>
    <p:sldId id="766" r:id="rId26"/>
    <p:sldId id="767" r:id="rId27"/>
    <p:sldId id="768" r:id="rId28"/>
    <p:sldId id="770" r:id="rId29"/>
    <p:sldId id="769" r:id="rId30"/>
    <p:sldId id="588" r:id="rId31"/>
    <p:sldId id="589" r:id="rId32"/>
    <p:sldId id="590" r:id="rId33"/>
    <p:sldId id="592" r:id="rId34"/>
    <p:sldId id="593" r:id="rId35"/>
    <p:sldId id="594" r:id="rId36"/>
    <p:sldId id="591" r:id="rId37"/>
    <p:sldId id="631" r:id="rId38"/>
    <p:sldId id="633" r:id="rId39"/>
    <p:sldId id="651" r:id="rId40"/>
    <p:sldId id="652" r:id="rId41"/>
    <p:sldId id="595" r:id="rId42"/>
    <p:sldId id="645" r:id="rId43"/>
    <p:sldId id="664" r:id="rId44"/>
    <p:sldId id="684" r:id="rId45"/>
    <p:sldId id="665" r:id="rId46"/>
    <p:sldId id="634" r:id="rId47"/>
    <p:sldId id="666" r:id="rId48"/>
    <p:sldId id="667" r:id="rId49"/>
    <p:sldId id="596" r:id="rId50"/>
    <p:sldId id="597" r:id="rId51"/>
    <p:sldId id="668" r:id="rId52"/>
    <p:sldId id="598" r:id="rId53"/>
    <p:sldId id="599" r:id="rId54"/>
    <p:sldId id="602" r:id="rId55"/>
    <p:sldId id="601" r:id="rId56"/>
    <p:sldId id="603" r:id="rId57"/>
    <p:sldId id="604" r:id="rId58"/>
    <p:sldId id="610" r:id="rId59"/>
    <p:sldId id="644" r:id="rId60"/>
    <p:sldId id="607" r:id="rId61"/>
    <p:sldId id="608" r:id="rId62"/>
    <p:sldId id="609" r:id="rId63"/>
    <p:sldId id="646" r:id="rId64"/>
    <p:sldId id="669" r:id="rId65"/>
    <p:sldId id="678" r:id="rId66"/>
    <p:sldId id="671" r:id="rId67"/>
    <p:sldId id="746" r:id="rId68"/>
    <p:sldId id="674" r:id="rId69"/>
    <p:sldId id="675" r:id="rId70"/>
    <p:sldId id="676" r:id="rId71"/>
    <p:sldId id="677" r:id="rId72"/>
    <p:sldId id="718" r:id="rId73"/>
    <p:sldId id="745" r:id="rId74"/>
    <p:sldId id="650" r:id="rId75"/>
    <p:sldId id="672" r:id="rId76"/>
    <p:sldId id="653" r:id="rId77"/>
    <p:sldId id="654" r:id="rId78"/>
    <p:sldId id="658" r:id="rId79"/>
    <p:sldId id="656" r:id="rId80"/>
    <p:sldId id="655" r:id="rId81"/>
    <p:sldId id="659" r:id="rId82"/>
    <p:sldId id="660" r:id="rId83"/>
    <p:sldId id="661" r:id="rId84"/>
    <p:sldId id="663" r:id="rId85"/>
    <p:sldId id="625" r:id="rId86"/>
    <p:sldId id="626" r:id="rId87"/>
    <p:sldId id="627" r:id="rId88"/>
    <p:sldId id="628" r:id="rId89"/>
    <p:sldId id="600" r:id="rId90"/>
    <p:sldId id="612" r:id="rId91"/>
    <p:sldId id="613" r:id="rId92"/>
    <p:sldId id="614" r:id="rId93"/>
    <p:sldId id="611" r:id="rId94"/>
    <p:sldId id="615" r:id="rId95"/>
    <p:sldId id="616" r:id="rId96"/>
    <p:sldId id="629" r:id="rId97"/>
    <p:sldId id="621" r:id="rId98"/>
    <p:sldId id="636" r:id="rId99"/>
    <p:sldId id="637" r:id="rId100"/>
    <p:sldId id="638" r:id="rId101"/>
    <p:sldId id="639" r:id="rId102"/>
    <p:sldId id="640" r:id="rId103"/>
    <p:sldId id="635" r:id="rId104"/>
    <p:sldId id="641" r:id="rId105"/>
    <p:sldId id="642" r:id="rId106"/>
    <p:sldId id="643" r:id="rId107"/>
    <p:sldId id="630" r:id="rId108"/>
    <p:sldId id="680" r:id="rId109"/>
    <p:sldId id="679" r:id="rId110"/>
    <p:sldId id="711" r:id="rId111"/>
    <p:sldId id="707" r:id="rId112"/>
    <p:sldId id="681" r:id="rId113"/>
    <p:sldId id="713" r:id="rId114"/>
    <p:sldId id="683" r:id="rId115"/>
    <p:sldId id="712" r:id="rId116"/>
    <p:sldId id="682" r:id="rId117"/>
    <p:sldId id="694" r:id="rId118"/>
    <p:sldId id="704" r:id="rId119"/>
    <p:sldId id="705" r:id="rId120"/>
    <p:sldId id="714" r:id="rId121"/>
    <p:sldId id="699" r:id="rId122"/>
    <p:sldId id="700" r:id="rId123"/>
    <p:sldId id="701" r:id="rId124"/>
    <p:sldId id="715" r:id="rId125"/>
    <p:sldId id="709" r:id="rId126"/>
    <p:sldId id="716" r:id="rId127"/>
    <p:sldId id="703" r:id="rId128"/>
    <p:sldId id="710" r:id="rId129"/>
    <p:sldId id="717" r:id="rId130"/>
    <p:sldId id="725" r:id="rId131"/>
    <p:sldId id="686" r:id="rId132"/>
    <p:sldId id="687" r:id="rId133"/>
    <p:sldId id="688" r:id="rId134"/>
    <p:sldId id="720" r:id="rId135"/>
    <p:sldId id="690" r:id="rId136"/>
    <p:sldId id="691" r:id="rId137"/>
    <p:sldId id="721" r:id="rId138"/>
    <p:sldId id="692" r:id="rId139"/>
    <p:sldId id="719" r:id="rId140"/>
    <p:sldId id="723" r:id="rId141"/>
    <p:sldId id="722" r:id="rId142"/>
    <p:sldId id="724" r:id="rId143"/>
    <p:sldId id="440" r:id="rId14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03" autoAdjust="0"/>
    <p:restoredTop sz="94765" autoAdjust="0"/>
  </p:normalViewPr>
  <p:slideViewPr>
    <p:cSldViewPr>
      <p:cViewPr>
        <p:scale>
          <a:sx n="50" d="100"/>
          <a:sy n="50" d="100"/>
        </p:scale>
        <p:origin x="-166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slide" Target="slides/slide139.xml"/><Relationship Id="rId14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2591D-F63A-4C87-988A-2A4399BE3C42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2649A-D532-4C46-8375-2DC4F09C0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B2649A-D532-4C46-8375-2DC4F09C0D42}" type="slidenum">
              <a:rPr lang="en-US" smtClean="0"/>
              <a:pPr/>
              <a:t>110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B2649A-D532-4C46-8375-2DC4F09C0D42}" type="slidenum">
              <a:rPr lang="en-US" smtClean="0"/>
              <a:pPr/>
              <a:t>111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B2649A-D532-4C46-8375-2DC4F09C0D42}" type="slidenum">
              <a:rPr lang="en-US" smtClean="0"/>
              <a:pPr/>
              <a:t>112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B2649A-D532-4C46-8375-2DC4F09C0D42}" type="slidenum">
              <a:rPr lang="en-US" smtClean="0"/>
              <a:pPr/>
              <a:t>113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B2649A-D532-4C46-8375-2DC4F09C0D42}" type="slidenum">
              <a:rPr lang="en-US" smtClean="0"/>
              <a:pPr/>
              <a:t>115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B2649A-D532-4C46-8375-2DC4F09C0D42}" type="slidenum">
              <a:rPr lang="en-US" smtClean="0"/>
              <a:pPr/>
              <a:t>116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B2649A-D532-4C46-8375-2DC4F09C0D42}" type="slidenum">
              <a:rPr lang="en-US" smtClean="0"/>
              <a:pPr/>
              <a:t>121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B2649A-D532-4C46-8375-2DC4F09C0D42}" type="slidenum">
              <a:rPr lang="en-US" smtClean="0"/>
              <a:pPr/>
              <a:t>122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B2649A-D532-4C46-8375-2DC4F09C0D42}" type="slidenum">
              <a:rPr lang="en-US" smtClean="0"/>
              <a:pPr/>
              <a:t>123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B2649A-D532-4C46-8375-2DC4F09C0D42}" type="slidenum">
              <a:rPr lang="en-US" smtClean="0"/>
              <a:pPr/>
              <a:t>125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B2649A-D532-4C46-8375-2DC4F09C0D42}" type="slidenum">
              <a:rPr lang="en-US" smtClean="0"/>
              <a:pPr/>
              <a:t>127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B2649A-D532-4C46-8375-2DC4F09C0D42}" type="slidenum">
              <a:rPr lang="en-US" smtClean="0"/>
              <a:pPr/>
              <a:t>128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uardian.ops4sight.com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aws.amazon.com/marketplace/management/manage-products/?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aws.amazon.com/marketplace/management/products/server?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aws.amazon.com/marketplace/management/requests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aws.amazon.com/marketplace/management/products/server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ws.amazon.com/marketplace/latest/userguide/what-is-marketplace.html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ws.amazon.com/marketplace/latest/userguide/seller-registration-process.html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aws.amazon.com/marketplace/management/seller-settings/register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aws.amazon.com/marketplace/management/seller-settings/account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aws.amazon.com/marketplace/management/products/server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ws.amazon.com/marketplace/latest/userguide/product-preparation.html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AWSEC2/latest/WindowsGuide/ec2launch-v2-install.html" TargetMode="External"/><Relationship Id="rId2" Type="http://schemas.openxmlformats.org/officeDocument/2006/relationships/hyperlink" Target="https://docs.aws.amazon.com/AWSEC2/latest/WindowsGuide/ec2launch-v2-overview.html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-hardware/customize/desktop/unattend/microsoft-windows-shell-setup-useraccounts-administratorpassword" TargetMode="External"/><Relationship Id="rId2" Type="http://schemas.openxmlformats.org/officeDocument/2006/relationships/hyperlink" Target="https://learn.microsoft.com/en-us/windows-hardware/manufacture/desktop/sysprep--system-preparation--overview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uardian.ops4sight.com/" TargetMode="Externa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hyperlink" Target="https://us-east-1.console.aws.amazon.com/iamv2/home" TargetMode="Externa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aws.amazon.com/marketplace/management/manage-products/?" TargetMode="Externa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hyperlink" Target="https://aws.amazon.com/marketplace/management/products/server" TargetMode="Externa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hyperlink" Target="https://certifient.com/technical-specifications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hyperlink" Target="https://certifient.com/contact/" TargetMode="Externa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hyperlink" Target="https://certifient.com/wp-content/uploads/2023/04/Guardian-Usage-Instructions-PAYG.pdf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marketplace/pp/prodview-yege7ckunv7yk?sr=0-1&amp;ref_=beagle&amp;applicationId=AWSMPContessa" TargetMode="External"/><Relationship Id="rId2" Type="http://schemas.openxmlformats.org/officeDocument/2006/relationships/hyperlink" Target="https://instances.vantage.sh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certifient.co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msully@certifient.com" TargetMode="Externa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marketplace/management/request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hyperlink" Target="https://certifient.com/technical-specifications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hyperlink" Target="https://certifient.com/contact/" TargetMode="Externa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marketplace/pp/prodview-yege7ckunv7yk?sr=0-1&amp;ref_=beagle&amp;applicationId=AWSMPContessa" TargetMode="External"/><Relationship Id="rId2" Type="http://schemas.openxmlformats.org/officeDocument/2006/relationships/hyperlink" Target="https://instances.vantage.sh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certifient.com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msully@certifient.com" TargetMode="Externa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marketplace/management/request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hyperlink" Target="https://tinyurl.com/42pztdj3" TargetMode="Externa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ws.amazon.com/marketplace/latest/userguide/saas-products.html" TargetMode="Externa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ws.amazon.com/marketplace/latest/userguide/saas-pricing-models.html" TargetMode="Externa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ws.amazon.com/marketplace/latest/userguide/saas-subscriptions.html" TargetMode="Externa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ws.amazon.com/marketplace/latest/userguide/saas-contracts.html" TargetMode="Externa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ws.amazon.com/marketplace/latest/userguide/saas-free-trials.html" TargetMode="Externa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 smtClean="0"/>
              <a:t>AWS Marketplace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create</a:t>
            </a:r>
            <a:r>
              <a:rPr lang="en-US" sz="2400" dirty="0" smtClean="0"/>
              <a:t> an AMI.</a:t>
            </a:r>
          </a:p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publish</a:t>
            </a:r>
            <a:r>
              <a:rPr lang="en-US" sz="2400" dirty="0" smtClean="0"/>
              <a:t> an AMI to AWS Marketplace.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AWS Marketplace.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AMI Creation.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PAYG Server Product.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BYOL Server Product.</a:t>
            </a:r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867400" cy="41910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for Updating Product</a:t>
            </a:r>
            <a:endParaRPr lang="en-US" dirty="0"/>
          </a:p>
        </p:txBody>
      </p:sp>
      <p:pic>
        <p:nvPicPr>
          <p:cNvPr id="1026" name="Picture 2" descr="https://cdn-icons-png.freepik.com/256/3316/331668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2514600"/>
            <a:ext cx="2438400" cy="2438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Start Original Instance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743200"/>
            <a:ext cx="7638934" cy="2207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6248400" y="27432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Apply Windows Updates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1080" y="1828800"/>
            <a:ext cx="7056120" cy="4163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5850" y="2289175"/>
            <a:ext cx="4432300" cy="327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Open DigiCert Utility</a:t>
            </a:r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>
            <a:off x="2667000" y="32766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Test the Existing Certificate</a:t>
            </a:r>
            <a:endParaRPr 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905000"/>
            <a:ext cx="6426200" cy="4137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752600"/>
            <a:ext cx="6418580" cy="413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Generate a CSR if Necessary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Upgrade Web Code if Necessary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Go to </a:t>
            </a:r>
            <a:r>
              <a:rPr lang="fr-FR" sz="2400" b="1" dirty="0" smtClean="0"/>
              <a:t>D:\deSABRAN\NCM5\Certifient\AWS </a:t>
            </a:r>
            <a:r>
              <a:rPr lang="fr-FR" sz="2400" b="1" dirty="0" err="1" smtClean="0"/>
              <a:t>Marketplace</a:t>
            </a:r>
            <a:r>
              <a:rPr lang="fr-FR" sz="2400" b="1" dirty="0" smtClean="0"/>
              <a:t> </a:t>
            </a:r>
            <a:r>
              <a:rPr lang="fr-FR" sz="2400" b="1" dirty="0" err="1" smtClean="0"/>
              <a:t>AMIs</a:t>
            </a:r>
            <a:r>
              <a:rPr lang="fr-FR" sz="2400" b="1" dirty="0" smtClean="0"/>
              <a:t>\PAYG </a:t>
            </a:r>
            <a:r>
              <a:rPr lang="fr-FR" sz="2400" b="1" dirty="0" err="1" smtClean="0"/>
              <a:t>Codebase</a:t>
            </a:r>
            <a:endParaRPr lang="fr-FR" sz="2400" b="1" dirty="0" smtClean="0"/>
          </a:p>
          <a:p>
            <a:r>
              <a:rPr lang="en-US" sz="2400" dirty="0" smtClean="0"/>
              <a:t>Go to </a:t>
            </a:r>
            <a:r>
              <a:rPr lang="fr-FR" sz="2400" b="1" dirty="0" smtClean="0"/>
              <a:t>D:\deSABRAN\NCM5\Certifient\AWS </a:t>
            </a:r>
            <a:r>
              <a:rPr lang="fr-FR" sz="2400" b="1" dirty="0" err="1" smtClean="0"/>
              <a:t>Marketplace</a:t>
            </a:r>
            <a:r>
              <a:rPr lang="fr-FR" sz="2400" b="1" dirty="0" smtClean="0"/>
              <a:t> </a:t>
            </a:r>
            <a:r>
              <a:rPr lang="fr-FR" sz="2400" b="1" dirty="0" err="1" smtClean="0"/>
              <a:t>AMIs</a:t>
            </a:r>
            <a:r>
              <a:rPr lang="fr-FR" sz="2400" b="1" dirty="0" smtClean="0"/>
              <a:t>\BYOL </a:t>
            </a:r>
            <a:r>
              <a:rPr lang="fr-FR" sz="2400" b="1" dirty="0" err="1" smtClean="0"/>
              <a:t>Codebase</a:t>
            </a:r>
            <a:endParaRPr lang="fr-FR" sz="2400" b="1" dirty="0" smtClean="0"/>
          </a:p>
          <a:p>
            <a:endParaRPr lang="en-US" sz="24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Open the Portal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https://guardian.ops4sight.com/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43384" y="2618068"/>
            <a:ext cx="6000416" cy="3401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Delete Log Files if Necessary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1225" y="1984375"/>
            <a:ext cx="7321550" cy="357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9. Prepare VM for Creating AMI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495800" cy="4525963"/>
          </a:xfrm>
        </p:spPr>
        <p:txBody>
          <a:bodyPr/>
          <a:lstStyle/>
          <a:p>
            <a:r>
              <a:rPr lang="en-US" sz="2000" dirty="0" smtClean="0"/>
              <a:t>Go to </a:t>
            </a:r>
            <a:r>
              <a:rPr lang="en-US" sz="2000" b="1" dirty="0" smtClean="0"/>
              <a:t>C:\Program Files\Amazon\EC2Launch\settings</a:t>
            </a:r>
          </a:p>
          <a:p>
            <a:r>
              <a:rPr lang="en-US" sz="2000" dirty="0" smtClean="0"/>
              <a:t>Open </a:t>
            </a:r>
            <a:r>
              <a:rPr lang="en-US" sz="2000" b="1" dirty="0" smtClean="0"/>
              <a:t>EC2LaunchSettings.exe</a:t>
            </a:r>
          </a:p>
          <a:p>
            <a:r>
              <a:rPr lang="en-US" sz="2000" dirty="0" smtClean="0"/>
              <a:t>Enter custom name.</a:t>
            </a:r>
          </a:p>
          <a:p>
            <a:r>
              <a:rPr lang="en-US" sz="2000" dirty="0" smtClean="0"/>
              <a:t>Select </a:t>
            </a:r>
            <a:r>
              <a:rPr lang="en-US" sz="2000" b="1" dirty="0" smtClean="0"/>
              <a:t>Random (retrieve from console)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Click </a:t>
            </a:r>
            <a:r>
              <a:rPr lang="en-US" sz="2000" b="1" dirty="0" smtClean="0"/>
              <a:t>Save</a:t>
            </a:r>
            <a:r>
              <a:rPr lang="en-US" sz="2000" dirty="0" smtClean="0"/>
              <a:t> button.</a:t>
            </a:r>
          </a:p>
          <a:p>
            <a:r>
              <a:rPr lang="en-US" sz="2000" dirty="0" smtClean="0"/>
              <a:t>Click </a:t>
            </a:r>
            <a:r>
              <a:rPr lang="en-US" sz="2000" b="1" dirty="0" smtClean="0"/>
              <a:t>Shutdown with </a:t>
            </a:r>
            <a:r>
              <a:rPr lang="en-US" sz="2000" b="1" dirty="0" err="1" smtClean="0"/>
              <a:t>Sysprep</a:t>
            </a:r>
            <a:r>
              <a:rPr lang="en-US" sz="2000" dirty="0" smtClean="0"/>
              <a:t> </a:t>
            </a:r>
            <a:r>
              <a:rPr lang="en-US" sz="2000" dirty="0" err="1" smtClean="0"/>
              <a:t>buton</a:t>
            </a:r>
            <a:r>
              <a:rPr lang="en-US" sz="2000" dirty="0" smtClean="0"/>
              <a:t>.</a:t>
            </a:r>
          </a:p>
          <a:p>
            <a:r>
              <a:rPr lang="en-US" sz="2000" dirty="0" err="1" smtClean="0"/>
              <a:t>Sysprep</a:t>
            </a:r>
            <a:r>
              <a:rPr lang="en-US" sz="2000" dirty="0" smtClean="0"/>
              <a:t> </a:t>
            </a:r>
            <a:r>
              <a:rPr lang="en-US" sz="2000" i="1" dirty="0" smtClean="0">
                <a:solidFill>
                  <a:srgbClr val="C00000"/>
                </a:solidFill>
              </a:rPr>
              <a:t>sets a blank password for the built-in administrator account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Use the </a:t>
            </a:r>
            <a:r>
              <a:rPr lang="en-US" sz="2000" b="1" dirty="0" smtClean="0"/>
              <a:t>admin</a:t>
            </a:r>
            <a:r>
              <a:rPr lang="en-US" sz="2000" dirty="0" smtClean="0"/>
              <a:t> account or </a:t>
            </a:r>
            <a:r>
              <a:rPr lang="en-US" sz="2000" b="1" dirty="0" smtClean="0"/>
              <a:t>AWS Get Windows password</a:t>
            </a:r>
            <a:r>
              <a:rPr lang="en-US" sz="2000" dirty="0" smtClean="0"/>
              <a:t> to access the VM </a:t>
            </a:r>
            <a:r>
              <a:rPr lang="en-US" sz="2000" u="sng" dirty="0" smtClean="0"/>
              <a:t>after</a:t>
            </a:r>
            <a:r>
              <a:rPr lang="en-US" sz="2000" dirty="0" smtClean="0"/>
              <a:t> </a:t>
            </a:r>
            <a:r>
              <a:rPr lang="en-US" sz="2000" dirty="0" err="1" smtClean="0"/>
              <a:t>Sysprep</a:t>
            </a:r>
            <a:r>
              <a:rPr lang="en-US" sz="2000" dirty="0" smtClean="0"/>
              <a:t> is run.</a:t>
            </a:r>
            <a:endParaRPr lang="en-US" sz="2000" dirty="0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1295400"/>
            <a:ext cx="3434080" cy="5153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6858000" y="48006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10. Wait until the VM is Shut Down</a:t>
            </a:r>
            <a:endParaRPr 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1732280"/>
            <a:ext cx="2991485" cy="4516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11. Deregister the Existing AMI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741584"/>
            <a:ext cx="7365848" cy="4354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12. Create an AMI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752600"/>
            <a:ext cx="6580672" cy="4259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own Arrow 3"/>
          <p:cNvSpPr/>
          <p:nvPr/>
        </p:nvSpPr>
        <p:spPr>
          <a:xfrm>
            <a:off x="4800600" y="43434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13. </a:t>
            </a:r>
            <a:r>
              <a:rPr lang="en-US" dirty="0" smtClean="0"/>
              <a:t>Enter a Name</a:t>
            </a:r>
            <a:endParaRPr 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1828800"/>
            <a:ext cx="7155180" cy="3990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14. </a:t>
            </a:r>
            <a:r>
              <a:rPr lang="en-US" dirty="0" smtClean="0"/>
              <a:t>Add the AMI to Marketplace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https://aws.amazon.com/marketplace/management/manage-products/?#/share</a:t>
            </a:r>
            <a:endParaRPr lang="en-US" sz="2200" dirty="0" smtClean="0"/>
          </a:p>
          <a:p>
            <a:r>
              <a:rPr lang="en-US" sz="2200" dirty="0" err="1" smtClean="0">
                <a:latin typeface="Consolas" pitchFamily="49" charset="0"/>
              </a:rPr>
              <a:t>arn:aws:iam</a:t>
            </a:r>
            <a:r>
              <a:rPr lang="en-US" sz="2200" dirty="0" smtClean="0">
                <a:latin typeface="Consolas" pitchFamily="49" charset="0"/>
              </a:rPr>
              <a:t>::135319629286:role/AWS-Marketplace</a:t>
            </a:r>
            <a:endParaRPr lang="en-US" sz="2200" dirty="0">
              <a:latin typeface="Consolas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3230060"/>
            <a:ext cx="7790440" cy="2637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15. </a:t>
            </a:r>
            <a:r>
              <a:rPr lang="en-US" dirty="0" smtClean="0"/>
              <a:t>Open the Server Product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https://aws.amazon.com/marketplace/management/products/server?#</a:t>
            </a:r>
            <a:endParaRPr lang="en-US" sz="2000" dirty="0" smtClean="0"/>
          </a:p>
          <a:p>
            <a:endParaRPr lang="en-US" sz="2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2517140"/>
            <a:ext cx="6746240" cy="3502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16. </a:t>
            </a:r>
            <a:r>
              <a:rPr lang="en-US" dirty="0" smtClean="0"/>
              <a:t>Add Version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0287" y="1981200"/>
            <a:ext cx="7123113" cy="370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17. </a:t>
            </a:r>
            <a:r>
              <a:rPr lang="en-US" dirty="0" smtClean="0"/>
              <a:t>Enter Title and Notes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714500"/>
            <a:ext cx="6548120" cy="422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18. </a:t>
            </a:r>
            <a:r>
              <a:rPr lang="en-US" dirty="0" smtClean="0"/>
              <a:t>Enter AMI ID and ARN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arn:aws:iam</a:t>
            </a:r>
            <a:r>
              <a:rPr lang="en-US" sz="2200" dirty="0" smtClean="0">
                <a:latin typeface="Consolas" pitchFamily="49" charset="0"/>
              </a:rPr>
              <a:t>::135319629286:role/AWS-Marketplace</a:t>
            </a:r>
          </a:p>
          <a:p>
            <a:endParaRPr lang="en-US" sz="22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6775" y="2450782"/>
            <a:ext cx="7286625" cy="3569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19. </a:t>
            </a:r>
            <a:r>
              <a:rPr lang="en-US" dirty="0" smtClean="0"/>
              <a:t>Review Update Status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https://aws.amazon.com/marketplace/management/requests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1678" y="2743200"/>
            <a:ext cx="7736522" cy="2975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20. </a:t>
            </a:r>
            <a:r>
              <a:rPr lang="en-US" dirty="0" smtClean="0"/>
              <a:t>Open Exiting Product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https://aws.amazon.com/marketplace/management/products/server</a:t>
            </a:r>
            <a:endParaRPr lang="en-US" sz="2000" dirty="0" smtClean="0"/>
          </a:p>
        </p:txBody>
      </p:sp>
      <p:pic>
        <p:nvPicPr>
          <p:cNvPr id="1617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2514600"/>
            <a:ext cx="7266940" cy="3322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21. </a:t>
            </a:r>
            <a:r>
              <a:rPr lang="en-US" dirty="0" smtClean="0"/>
              <a:t>Select the Version with an Issue</a:t>
            </a:r>
            <a:endParaRPr lang="en-US" dirty="0"/>
          </a:p>
        </p:txBody>
      </p:sp>
      <p:pic>
        <p:nvPicPr>
          <p:cNvPr id="1628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981200"/>
            <a:ext cx="7162800" cy="318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22. </a:t>
            </a:r>
            <a:r>
              <a:rPr lang="en-US" dirty="0" smtClean="0"/>
              <a:t>Restrict the Version</a:t>
            </a:r>
            <a:endParaRPr lang="en-US" dirty="0"/>
          </a:p>
        </p:txBody>
      </p:sp>
      <p:pic>
        <p:nvPicPr>
          <p:cNvPr id="1638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2590800"/>
            <a:ext cx="6987540" cy="255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mtClean="0"/>
              <a:t>23. </a:t>
            </a:r>
            <a:r>
              <a:rPr lang="en-US" dirty="0" smtClean="0"/>
              <a:t>Select the Version to Restrict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1905000"/>
            <a:ext cx="6756910" cy="39969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AWS Marketplace?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https://docs.aws.amazon.com/marketplace/latest/userguide/what-is-marketplace.html</a:t>
            </a:r>
            <a:endParaRPr lang="en-US" sz="2200" dirty="0" smtClean="0"/>
          </a:p>
          <a:p>
            <a:r>
              <a:rPr lang="en-US" sz="2200" dirty="0" smtClean="0"/>
              <a:t>AWS Marketplace is a </a:t>
            </a:r>
            <a:r>
              <a:rPr lang="en-US" sz="2200" dirty="0" err="1" smtClean="0"/>
              <a:t>curated</a:t>
            </a:r>
            <a:r>
              <a:rPr lang="en-US" sz="2200" dirty="0" smtClean="0"/>
              <a:t> digital catalog that customers can use to find, buy, deploy, and manage third-party software, data, and services to build solutions and run their businesses.</a:t>
            </a:r>
          </a:p>
          <a:p>
            <a:r>
              <a:rPr lang="en-US" sz="2200" dirty="0" smtClean="0"/>
              <a:t>AWS Marketplace includes thousands of software listings from popular categories such as security, business applications, machine learning, and data products across specific industries, such as healthcare, financial services, and telecommunications.</a:t>
            </a:r>
          </a:p>
          <a:p>
            <a:r>
              <a:rPr lang="en-US" sz="2200" dirty="0" smtClean="0"/>
              <a:t>Customers can quickly launch preconfigured software, and choose software solutions in Amazon Machine Images (AMIs), software as a service (</a:t>
            </a:r>
            <a:r>
              <a:rPr lang="en-US" sz="2200" dirty="0" err="1" smtClean="0"/>
              <a:t>SaaS</a:t>
            </a:r>
            <a:r>
              <a:rPr lang="en-US" sz="2200" dirty="0" smtClean="0"/>
              <a:t>), and other formats.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Buyers, Sellers and Partners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You can use AWS Marketplace as a buyer (subscriber), seller (provider), or both.</a:t>
            </a:r>
          </a:p>
          <a:p>
            <a:r>
              <a:rPr lang="en-US" sz="2400" dirty="0" smtClean="0"/>
              <a:t>Anyone with an AWS account can use AWS Marketplace as a buyer, and can register to become a seller.</a:t>
            </a:r>
          </a:p>
          <a:p>
            <a:r>
              <a:rPr lang="en-US" sz="2400" dirty="0" smtClean="0"/>
              <a:t>A seller can be an independent software vendor (ISV), channel partner, managed services provider (MSP), or individual who has something to offer that works with AWS products and services.</a:t>
            </a:r>
          </a:p>
          <a:p>
            <a:r>
              <a:rPr lang="en-US" sz="2400" dirty="0" smtClean="0"/>
              <a:t>Eligible partners can programmatically list AWS Marketplace products outside of AWS Marketplace. For more information about becoming an eligible partner, contact your AWS Marketplace business development partner.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Review Seller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https://docs.aws.amazon.com/marketplace/latest/userguide/seller-registration-process.html</a:t>
            </a:r>
            <a:endParaRPr lang="en-US" sz="2400" dirty="0" smtClean="0"/>
          </a:p>
          <a:p>
            <a:r>
              <a:rPr lang="en-US" sz="2400" dirty="0" smtClean="0"/>
              <a:t>By registering as a seller for AWS Marketplace, you can sell your products and services to other AWS Marketplace customers.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Register Seller Account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https://aws.amazon.com/marketplace/management/seller-settings/register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2150" y="2771775"/>
            <a:ext cx="7759700" cy="324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Provide Tax information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>
                <a:hlinkClick r:id="rId2"/>
              </a:rPr>
              <a:t>https://aws.amazon.com/marketplace/management/seller-settings/account</a:t>
            </a:r>
            <a:endParaRPr lang="en-US" sz="1800" dirty="0" smtClean="0"/>
          </a:p>
          <a:p>
            <a:endParaRPr lang="en-US" sz="18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2362200"/>
            <a:ext cx="8054975" cy="383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Go to Server Products (AMIs)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https://aws.amazon.com/marketplace/management/products/server</a:t>
            </a:r>
            <a:endParaRPr lang="en-US" sz="2000" dirty="0" smtClean="0"/>
          </a:p>
          <a:p>
            <a:endParaRPr lang="en-US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4540" y="2438400"/>
            <a:ext cx="7541260" cy="3726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Prepare Your Product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https://docs.aws.amazon.com/marketplace/latest/userguide/product-preparation.html</a:t>
            </a:r>
            <a:endParaRPr lang="en-US" sz="2200" dirty="0" smtClean="0"/>
          </a:p>
          <a:p>
            <a:r>
              <a:rPr lang="en-US" sz="2200" dirty="0" smtClean="0"/>
              <a:t>Preparing to publish a product on AWS Marketplace includes configuring your package, setting a pricing scheme, determining the relevant categories in which to list your product, and adding keywords so your product appears in relevant searches.</a:t>
            </a:r>
          </a:p>
          <a:p>
            <a:r>
              <a:rPr lang="en-US" sz="2200" dirty="0" smtClean="0"/>
              <a:t>You deliver a single custom Amazon Machine Image (AMI) for your product. The AMI provides the information required to launch an Amazon Elastic Compute Cloud (Amazon EC2) instance.</a:t>
            </a:r>
          </a:p>
          <a:p>
            <a:r>
              <a:rPr lang="en-US" sz="2200" dirty="0" smtClean="0"/>
              <a:t>Buyers can use the single AMI to create Amazon EC2 instances with your product already installed and ready to use.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Terminology: EC2Launch v2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https://docs.aws.amazon.com/AWSEC2/latest/WindowsGuide/ec2launch-v2-overview.html</a:t>
            </a:r>
            <a:endParaRPr lang="en-US" sz="2400" dirty="0" smtClean="0"/>
          </a:p>
          <a:p>
            <a:r>
              <a:rPr lang="en-US" sz="2400" dirty="0" smtClean="0"/>
              <a:t>EC2Launch v2 is a service that performs tasks during instance startup and runs if an instance is stopped and later started, or restarted.</a:t>
            </a:r>
          </a:p>
          <a:p>
            <a:r>
              <a:rPr lang="en-US" sz="2400" dirty="0" smtClean="0">
                <a:hlinkClick r:id="rId3"/>
              </a:rPr>
              <a:t>https://docs.aws.amazon.com/AWSEC2/latest/WindowsGuide/ec2launch-v2-install.html</a:t>
            </a:r>
            <a:endParaRPr lang="en-US" sz="2400" dirty="0" smtClean="0"/>
          </a:p>
          <a:p>
            <a:r>
              <a:rPr lang="en-US" sz="2400" dirty="0" smtClean="0"/>
              <a:t>EC2Launch v2 is preinstalled by default on Windows Server 2022 AMIs and UEFI AMIs.</a:t>
            </a:r>
            <a:endParaRPr lang="en-US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Sysprep</a:t>
            </a:r>
            <a:r>
              <a:rPr lang="en-US" dirty="0" smtClean="0"/>
              <a:t> (System Preparation)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https://learn.microsoft.com/en-us/windows-hardware/manufacture/desktop/sysprep--system-preparation--overview</a:t>
            </a:r>
            <a:endParaRPr lang="en-US" sz="2200" dirty="0" smtClean="0"/>
          </a:p>
          <a:p>
            <a:r>
              <a:rPr lang="en-US" sz="2200" dirty="0" err="1" smtClean="0"/>
              <a:t>Sysprep</a:t>
            </a:r>
            <a:r>
              <a:rPr lang="en-US" sz="2200" dirty="0" smtClean="0"/>
              <a:t> (System Preparation) prepares a Windows client or Windows Server installation for imaging.</a:t>
            </a:r>
          </a:p>
          <a:p>
            <a:r>
              <a:rPr lang="en-US" sz="2200" dirty="0" err="1" smtClean="0"/>
              <a:t>Sysprep</a:t>
            </a:r>
            <a:r>
              <a:rPr lang="en-US" sz="2200" dirty="0" smtClean="0"/>
              <a:t> can remove PC-specific information from a Windows installation (generalizing) so it can be installed on different PCs.</a:t>
            </a:r>
          </a:p>
          <a:p>
            <a:r>
              <a:rPr lang="en-US" sz="2200" dirty="0" smtClean="0">
                <a:hlinkClick r:id="rId3"/>
              </a:rPr>
              <a:t>https://learn.microsoft.com/en-us/windows-hardware/customize/desktop/unattend/microsoft-windows-shell-setup-useraccounts-administratorpassword</a:t>
            </a:r>
            <a:endParaRPr lang="en-US" sz="2200" dirty="0" smtClean="0"/>
          </a:p>
          <a:p>
            <a:r>
              <a:rPr lang="en-US" sz="2200" dirty="0" err="1" smtClean="0"/>
              <a:t>Sysprep</a:t>
            </a:r>
            <a:r>
              <a:rPr lang="en-US" sz="2200" dirty="0" smtClean="0"/>
              <a:t> </a:t>
            </a:r>
            <a:r>
              <a:rPr lang="en-US" sz="2200" i="1" dirty="0" smtClean="0">
                <a:solidFill>
                  <a:srgbClr val="C00000"/>
                </a:solidFill>
              </a:rPr>
              <a:t>sets a blank password</a:t>
            </a:r>
            <a:r>
              <a:rPr lang="en-US" sz="2200" dirty="0" smtClean="0"/>
              <a:t> for </a:t>
            </a:r>
            <a:r>
              <a:rPr lang="en-US" sz="2200" u="sng" dirty="0" smtClean="0"/>
              <a:t>the built-in administrator account</a:t>
            </a:r>
            <a:r>
              <a:rPr lang="en-US" sz="2200" dirty="0" smtClean="0"/>
              <a:t> during the </a:t>
            </a:r>
            <a:r>
              <a:rPr lang="en-US" sz="2200" dirty="0" err="1" smtClean="0"/>
              <a:t>sysprep</a:t>
            </a:r>
            <a:r>
              <a:rPr lang="en-US" sz="2200" dirty="0" smtClean="0"/>
              <a:t> /generalize process. The next time the computer starts, you, or the end user, are prompted for a password.</a:t>
            </a:r>
            <a:endParaRPr lang="en-US" sz="2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Important Notes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Do NOT use </a:t>
            </a:r>
            <a:r>
              <a:rPr lang="en-US" sz="2400" dirty="0" err="1" smtClean="0"/>
              <a:t>Sysprep</a:t>
            </a:r>
            <a:r>
              <a:rPr lang="en-US" sz="2400" dirty="0" smtClean="0"/>
              <a:t> to create a </a:t>
            </a:r>
            <a:r>
              <a:rPr lang="en-US" sz="2400" i="1" dirty="0" smtClean="0">
                <a:solidFill>
                  <a:srgbClr val="C00000"/>
                </a:solidFill>
              </a:rPr>
              <a:t>backup</a:t>
            </a:r>
            <a:r>
              <a:rPr lang="en-US" sz="2400" dirty="0" smtClean="0"/>
              <a:t> for your instance.</a:t>
            </a:r>
          </a:p>
          <a:p>
            <a:r>
              <a:rPr lang="en-US" sz="2400" dirty="0" smtClean="0"/>
              <a:t>Do NOT run </a:t>
            </a:r>
            <a:r>
              <a:rPr lang="en-US" sz="2400" dirty="0" err="1" smtClean="0"/>
              <a:t>Sysprep</a:t>
            </a:r>
            <a:r>
              <a:rPr lang="en-US" sz="2400" dirty="0" smtClean="0"/>
              <a:t> on a </a:t>
            </a:r>
            <a:r>
              <a:rPr lang="en-US" sz="2400" i="1" dirty="0" smtClean="0">
                <a:solidFill>
                  <a:srgbClr val="C00000"/>
                </a:solidFill>
              </a:rPr>
              <a:t>production</a:t>
            </a:r>
            <a:r>
              <a:rPr lang="en-US" sz="2400" dirty="0" smtClean="0"/>
              <a:t> system.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an Account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048000" cy="4525963"/>
          </a:xfrm>
        </p:spPr>
        <p:txBody>
          <a:bodyPr/>
          <a:lstStyle/>
          <a:p>
            <a:r>
              <a:rPr lang="en-US" sz="2400" dirty="0" smtClean="0"/>
              <a:t>admin/ Gateway@2023</a:t>
            </a:r>
            <a:endParaRPr lang="en-US" sz="24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3800" y="1752600"/>
            <a:ext cx="495808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2. Add the Account to Administrators Group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048000" cy="4525963"/>
          </a:xfrm>
        </p:spPr>
        <p:txBody>
          <a:bodyPr/>
          <a:lstStyle/>
          <a:p>
            <a:r>
              <a:rPr lang="en-US" sz="2400" dirty="0" smtClean="0"/>
              <a:t>Use this account for login troubleshooting if necessary.</a:t>
            </a:r>
            <a:endParaRPr lang="en-US" sz="24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81400" y="1600200"/>
            <a:ext cx="4815840" cy="4541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Add the Account to SQL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048000" cy="4525963"/>
          </a:xfrm>
        </p:spPr>
        <p:txBody>
          <a:bodyPr/>
          <a:lstStyle/>
          <a:p>
            <a:r>
              <a:rPr lang="en-US" sz="2400" dirty="0" smtClean="0"/>
              <a:t>Select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b="1" dirty="0" err="1" smtClean="0">
                <a:latin typeface="Consolas" pitchFamily="49" charset="0"/>
              </a:rPr>
              <a:t>sysadmin</a:t>
            </a:r>
            <a:r>
              <a:rPr lang="en-US" sz="2400" dirty="0" smtClean="0"/>
              <a:t> role</a:t>
            </a:r>
          </a:p>
          <a:p>
            <a:pPr>
              <a:buNone/>
            </a:pPr>
            <a:r>
              <a:rPr lang="en-US" sz="2400" dirty="0" smtClean="0"/>
              <a:t>	for the account.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66135" y="1752600"/>
            <a:ext cx="5320665" cy="3960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Install Windows Updates</a:t>
            </a:r>
            <a:endParaRPr 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209800"/>
            <a:ext cx="7986713" cy="3026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Prepare VM for Creating AMI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495800" cy="4525963"/>
          </a:xfrm>
        </p:spPr>
        <p:txBody>
          <a:bodyPr/>
          <a:lstStyle/>
          <a:p>
            <a:r>
              <a:rPr lang="en-US" sz="2000" dirty="0" smtClean="0"/>
              <a:t>Go to </a:t>
            </a:r>
            <a:r>
              <a:rPr lang="en-US" sz="2000" b="1" dirty="0" smtClean="0"/>
              <a:t>C:\Program Files\Amazon\EC2Launch\settings</a:t>
            </a:r>
          </a:p>
          <a:p>
            <a:r>
              <a:rPr lang="en-US" sz="2000" dirty="0" smtClean="0"/>
              <a:t>Open </a:t>
            </a:r>
            <a:r>
              <a:rPr lang="en-US" sz="2000" b="1" dirty="0" smtClean="0"/>
              <a:t>EC2LaunchSettings.exe</a:t>
            </a:r>
          </a:p>
          <a:p>
            <a:r>
              <a:rPr lang="en-US" sz="2000" dirty="0" smtClean="0"/>
              <a:t>Enter custom name.</a:t>
            </a:r>
          </a:p>
          <a:p>
            <a:r>
              <a:rPr lang="en-US" sz="2000" dirty="0" smtClean="0"/>
              <a:t>Select </a:t>
            </a:r>
            <a:r>
              <a:rPr lang="en-US" sz="2000" b="1" dirty="0" smtClean="0"/>
              <a:t>Random (retrieve from console)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Click </a:t>
            </a:r>
            <a:r>
              <a:rPr lang="en-US" sz="2000" b="1" dirty="0" smtClean="0"/>
              <a:t>Save</a:t>
            </a:r>
            <a:r>
              <a:rPr lang="en-US" sz="2000" dirty="0" smtClean="0"/>
              <a:t> button.</a:t>
            </a:r>
          </a:p>
          <a:p>
            <a:r>
              <a:rPr lang="en-US" sz="2000" dirty="0" smtClean="0"/>
              <a:t>Click </a:t>
            </a:r>
            <a:r>
              <a:rPr lang="en-US" sz="2000" b="1" dirty="0" smtClean="0"/>
              <a:t>Shutdown with </a:t>
            </a:r>
            <a:r>
              <a:rPr lang="en-US" sz="2000" b="1" dirty="0" err="1" smtClean="0"/>
              <a:t>Sysprep</a:t>
            </a:r>
            <a:r>
              <a:rPr lang="en-US" sz="2000" dirty="0" smtClean="0"/>
              <a:t> </a:t>
            </a:r>
            <a:r>
              <a:rPr lang="en-US" sz="2000" dirty="0" err="1" smtClean="0"/>
              <a:t>buton</a:t>
            </a:r>
            <a:r>
              <a:rPr lang="en-US" sz="2000" dirty="0" smtClean="0"/>
              <a:t>.</a:t>
            </a:r>
          </a:p>
          <a:p>
            <a:r>
              <a:rPr lang="en-US" sz="2000" dirty="0" err="1" smtClean="0"/>
              <a:t>Sysprep</a:t>
            </a:r>
            <a:r>
              <a:rPr lang="en-US" sz="2000" dirty="0" smtClean="0"/>
              <a:t> </a:t>
            </a:r>
            <a:r>
              <a:rPr lang="en-US" sz="2000" i="1" dirty="0" smtClean="0">
                <a:solidFill>
                  <a:srgbClr val="C00000"/>
                </a:solidFill>
              </a:rPr>
              <a:t>sets a blank password for the built-in administrator account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Use the </a:t>
            </a:r>
            <a:r>
              <a:rPr lang="en-US" sz="2000" b="1" dirty="0" smtClean="0"/>
              <a:t>admin</a:t>
            </a:r>
            <a:r>
              <a:rPr lang="en-US" sz="2000" dirty="0" smtClean="0"/>
              <a:t> account or </a:t>
            </a:r>
            <a:r>
              <a:rPr lang="en-US" sz="2000" b="1" dirty="0" smtClean="0"/>
              <a:t>AWS Get Windows password</a:t>
            </a:r>
            <a:r>
              <a:rPr lang="en-US" sz="2000" dirty="0" smtClean="0"/>
              <a:t> to access the VM </a:t>
            </a:r>
            <a:r>
              <a:rPr lang="en-US" sz="2000" u="sng" dirty="0" smtClean="0"/>
              <a:t>after</a:t>
            </a:r>
            <a:r>
              <a:rPr lang="en-US" sz="2000" dirty="0" smtClean="0"/>
              <a:t> </a:t>
            </a:r>
            <a:r>
              <a:rPr lang="en-US" sz="2000" dirty="0" err="1" smtClean="0"/>
              <a:t>Sysprep</a:t>
            </a:r>
            <a:r>
              <a:rPr lang="en-US" sz="2000" dirty="0" smtClean="0"/>
              <a:t> is run.</a:t>
            </a:r>
            <a:endParaRPr lang="en-US" sz="2000" dirty="0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1295400"/>
            <a:ext cx="3434080" cy="5153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6858000" y="48006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Wait until the VM is Shut Down</a:t>
            </a:r>
            <a:endParaRPr 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1732280"/>
            <a:ext cx="2991485" cy="4516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an AMI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752600"/>
            <a:ext cx="6580672" cy="4259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own Arrow 3"/>
          <p:cNvSpPr/>
          <p:nvPr/>
        </p:nvSpPr>
        <p:spPr>
          <a:xfrm>
            <a:off x="4800600" y="43434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Enter a Name</a:t>
            </a:r>
            <a:endParaRPr 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1828800"/>
            <a:ext cx="7155180" cy="3990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Go to the AMI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5790" y="2890837"/>
            <a:ext cx="7852410" cy="175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2057400" y="19812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Review Status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4520" y="2438400"/>
            <a:ext cx="7929880" cy="2339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own Arrow 5"/>
          <p:cNvSpPr/>
          <p:nvPr/>
        </p:nvSpPr>
        <p:spPr>
          <a:xfrm>
            <a:off x="7010400" y="27432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9000" y="2517775"/>
            <a:ext cx="7366000" cy="235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Retrieve AMI ID</a:t>
            </a:r>
            <a:endParaRPr lang="en-US" dirty="0"/>
          </a:p>
        </p:txBody>
      </p:sp>
      <p:sp>
        <p:nvSpPr>
          <p:cNvPr id="6" name="Down Arrow 5"/>
          <p:cNvSpPr/>
          <p:nvPr/>
        </p:nvSpPr>
        <p:spPr>
          <a:xfrm>
            <a:off x="5181600" y="3316287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4043" y="2745594"/>
            <a:ext cx="7697957" cy="20550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Launch Instance from AMI</a:t>
            </a:r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>
            <a:off x="304800" y="24384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r>
              <a:rPr lang="en-US" sz="2400" dirty="0" smtClean="0">
                <a:latin typeface="+mj-lt"/>
              </a:rPr>
              <a:t>1</a:t>
            </a:r>
            <a:endParaRPr lang="en-US" sz="2400" dirty="0">
              <a:latin typeface="+mj-lt"/>
            </a:endParaRPr>
          </a:p>
        </p:txBody>
      </p:sp>
      <p:sp>
        <p:nvSpPr>
          <p:cNvPr id="6" name="Down Arrow 5"/>
          <p:cNvSpPr/>
          <p:nvPr/>
        </p:nvSpPr>
        <p:spPr>
          <a:xfrm>
            <a:off x="6553200" y="24384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r>
              <a:rPr lang="en-US" sz="2400" dirty="0" smtClean="0">
                <a:latin typeface="+mj-lt"/>
              </a:rPr>
              <a:t>2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2477" y="2590800"/>
            <a:ext cx="7609523" cy="287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Enter a Name</a:t>
            </a:r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>
            <a:off x="3200400" y="39624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4213" y="2014538"/>
            <a:ext cx="7775575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Select Instance Type</a:t>
            </a:r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>
            <a:off x="2971800" y="2764974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3263" y="3248025"/>
            <a:ext cx="7737475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Create a Key Pair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Without a key pair you will not be able to </a:t>
            </a:r>
            <a:r>
              <a:rPr lang="en-US" sz="2400" i="1" dirty="0" smtClean="0">
                <a:solidFill>
                  <a:srgbClr val="C00000"/>
                </a:solidFill>
              </a:rPr>
              <a:t>decrypt Administrator's password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5" name="Down Arrow 4"/>
          <p:cNvSpPr/>
          <p:nvPr/>
        </p:nvSpPr>
        <p:spPr>
          <a:xfrm>
            <a:off x="6781800" y="41910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51000" y="1768475"/>
            <a:ext cx="5842000" cy="455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Enter a Name</a:t>
            </a:r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>
            <a:off x="3352800" y="32004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3738" y="2038350"/>
            <a:ext cx="7756525" cy="337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Create a Security Group</a:t>
            </a:r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>
            <a:off x="2895600" y="22860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133600"/>
            <a:ext cx="7922827" cy="3698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Confirm Instance Launch</a:t>
            </a:r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>
            <a:off x="6858000" y="43434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5700" y="2284413"/>
            <a:ext cx="6832600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Go to the Instance</a:t>
            </a:r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>
            <a:off x="4876800" y="27432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Start the Original Instance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7861" y="2363253"/>
            <a:ext cx="7341739" cy="2589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Go to </a:t>
            </a:r>
            <a:r>
              <a:rPr lang="en-US" i="1" dirty="0" smtClean="0"/>
              <a:t>Get Windows password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The </a:t>
            </a:r>
            <a:r>
              <a:rPr lang="en-US" sz="2000" i="1" dirty="0" smtClean="0">
                <a:solidFill>
                  <a:srgbClr val="C00000"/>
                </a:solidFill>
              </a:rPr>
              <a:t>Administrator</a:t>
            </a:r>
            <a:r>
              <a:rPr lang="en-US" sz="2000" dirty="0" smtClean="0"/>
              <a:t>'s password was set to blank after running </a:t>
            </a:r>
            <a:r>
              <a:rPr lang="en-US" sz="2000" dirty="0" err="1" smtClean="0"/>
              <a:t>Sysprep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Alternatively use the backup </a:t>
            </a:r>
            <a:r>
              <a:rPr lang="en-US" sz="2000" i="1" dirty="0" smtClean="0">
                <a:solidFill>
                  <a:srgbClr val="C00000"/>
                </a:solidFill>
              </a:rPr>
              <a:t>admin</a:t>
            </a:r>
            <a:r>
              <a:rPr lang="en-US" sz="2000" dirty="0" smtClean="0"/>
              <a:t> account (Password: Gateway@2023) to reset the Administrator's password.</a:t>
            </a:r>
            <a:endParaRPr lang="en-US" sz="2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2808147"/>
            <a:ext cx="6752338" cy="35164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2133600" y="5094147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Get a New Password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905000"/>
            <a:ext cx="7545411" cy="4388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6705600" y="50292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Install Windows Updates</a:t>
            </a:r>
            <a:endParaRPr 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209800"/>
            <a:ext cx="7986713" cy="3026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5850" y="2289175"/>
            <a:ext cx="4432300" cy="327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mtClean="0"/>
              <a:t>5. </a:t>
            </a:r>
            <a:r>
              <a:rPr lang="en-US" dirty="0" smtClean="0"/>
              <a:t>Open DigiCert Utility</a:t>
            </a:r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>
            <a:off x="2667000" y="32766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6438" y="1958975"/>
            <a:ext cx="5191125" cy="352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Delete the Existing Certificate</a:t>
            </a:r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>
            <a:off x="3733800" y="31242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7213" y="1600200"/>
            <a:ext cx="80295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Import a New Certificate (PFX)</a:t>
            </a:r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>
            <a:off x="6705600" y="19050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7. Rebind the SSL Certificate to the IIS Website</a:t>
            </a:r>
            <a:endParaRPr lang="en-US" sz="3800" dirty="0"/>
          </a:p>
        </p:txBody>
      </p:sp>
      <p:sp>
        <p:nvSpPr>
          <p:cNvPr id="5" name="Down Arrow 4"/>
          <p:cNvSpPr/>
          <p:nvPr/>
        </p:nvSpPr>
        <p:spPr>
          <a:xfrm>
            <a:off x="6705600" y="19050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752600"/>
            <a:ext cx="7272020" cy="4361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own Arrow 5"/>
          <p:cNvSpPr/>
          <p:nvPr/>
        </p:nvSpPr>
        <p:spPr>
          <a:xfrm>
            <a:off x="6400800" y="21336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Open the Portal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https://guardian.ops4sight.com/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43384" y="2618068"/>
            <a:ext cx="6000416" cy="3401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mtClean="0"/>
              <a:t>9. </a:t>
            </a:r>
            <a:r>
              <a:rPr lang="en-US" dirty="0" smtClean="0"/>
              <a:t>Prepare VM for Creating AMI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495800" cy="4525963"/>
          </a:xfrm>
        </p:spPr>
        <p:txBody>
          <a:bodyPr/>
          <a:lstStyle/>
          <a:p>
            <a:r>
              <a:rPr lang="en-US" sz="2000" dirty="0" smtClean="0"/>
              <a:t>Go to </a:t>
            </a:r>
            <a:r>
              <a:rPr lang="en-US" sz="2000" b="1" dirty="0" smtClean="0"/>
              <a:t>C:\Program Files\Amazon\EC2Launch\settings</a:t>
            </a:r>
          </a:p>
          <a:p>
            <a:r>
              <a:rPr lang="en-US" sz="2000" dirty="0" smtClean="0"/>
              <a:t>Open </a:t>
            </a:r>
            <a:r>
              <a:rPr lang="en-US" sz="2000" b="1" dirty="0" smtClean="0"/>
              <a:t>EC2LaunchSettings.exe</a:t>
            </a:r>
          </a:p>
          <a:p>
            <a:r>
              <a:rPr lang="en-US" sz="2000" dirty="0" smtClean="0"/>
              <a:t>Enter custom name.</a:t>
            </a:r>
          </a:p>
          <a:p>
            <a:r>
              <a:rPr lang="en-US" sz="2000" dirty="0" smtClean="0"/>
              <a:t>Select </a:t>
            </a:r>
            <a:r>
              <a:rPr lang="en-US" sz="2000" b="1" dirty="0" smtClean="0"/>
              <a:t>Random (retrieve from console)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Click </a:t>
            </a:r>
            <a:r>
              <a:rPr lang="en-US" sz="2000" b="1" dirty="0" smtClean="0"/>
              <a:t>Save</a:t>
            </a:r>
            <a:r>
              <a:rPr lang="en-US" sz="2000" dirty="0" smtClean="0"/>
              <a:t> button.</a:t>
            </a:r>
          </a:p>
          <a:p>
            <a:r>
              <a:rPr lang="en-US" sz="2000" dirty="0" smtClean="0"/>
              <a:t>Click </a:t>
            </a:r>
            <a:r>
              <a:rPr lang="en-US" sz="2000" b="1" dirty="0" smtClean="0"/>
              <a:t>Shutdown with </a:t>
            </a:r>
            <a:r>
              <a:rPr lang="en-US" sz="2000" b="1" dirty="0" err="1" smtClean="0"/>
              <a:t>Sysprep</a:t>
            </a:r>
            <a:r>
              <a:rPr lang="en-US" sz="2000" dirty="0" smtClean="0"/>
              <a:t> </a:t>
            </a:r>
            <a:r>
              <a:rPr lang="en-US" sz="2000" dirty="0" err="1" smtClean="0"/>
              <a:t>buton</a:t>
            </a:r>
            <a:r>
              <a:rPr lang="en-US" sz="2000" dirty="0" smtClean="0"/>
              <a:t>.</a:t>
            </a:r>
          </a:p>
          <a:p>
            <a:r>
              <a:rPr lang="en-US" sz="2000" dirty="0" err="1" smtClean="0"/>
              <a:t>Sysprep</a:t>
            </a:r>
            <a:r>
              <a:rPr lang="en-US" sz="2000" dirty="0" smtClean="0"/>
              <a:t> </a:t>
            </a:r>
            <a:r>
              <a:rPr lang="en-US" sz="2000" i="1" dirty="0" smtClean="0">
                <a:solidFill>
                  <a:srgbClr val="C00000"/>
                </a:solidFill>
              </a:rPr>
              <a:t>sets a blank password for the built-in administrator account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Use the </a:t>
            </a:r>
            <a:r>
              <a:rPr lang="en-US" sz="2000" b="1" dirty="0" smtClean="0"/>
              <a:t>admin</a:t>
            </a:r>
            <a:r>
              <a:rPr lang="en-US" sz="2000" dirty="0" smtClean="0"/>
              <a:t> account or </a:t>
            </a:r>
            <a:r>
              <a:rPr lang="en-US" sz="2000" b="1" dirty="0" smtClean="0"/>
              <a:t>AWS Get Windows password</a:t>
            </a:r>
            <a:r>
              <a:rPr lang="en-US" sz="2000" dirty="0" smtClean="0"/>
              <a:t> to access the VM </a:t>
            </a:r>
            <a:r>
              <a:rPr lang="en-US" sz="2000" u="sng" dirty="0" smtClean="0"/>
              <a:t>after</a:t>
            </a:r>
            <a:r>
              <a:rPr lang="en-US" sz="2000" dirty="0" smtClean="0"/>
              <a:t> </a:t>
            </a:r>
            <a:r>
              <a:rPr lang="en-US" sz="2000" dirty="0" err="1" smtClean="0"/>
              <a:t>Sysprep</a:t>
            </a:r>
            <a:r>
              <a:rPr lang="en-US" sz="2000" dirty="0" smtClean="0"/>
              <a:t> is run.</a:t>
            </a:r>
            <a:endParaRPr lang="en-US" sz="2000" dirty="0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1295400"/>
            <a:ext cx="3434080" cy="5153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6858000" y="48006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>
                <a:solidFill>
                  <a:srgbClr val="C00000"/>
                </a:solidFill>
              </a:rPr>
              <a:t>Get Windows password: No Key Pair</a:t>
            </a:r>
            <a:endParaRPr lang="en-US" sz="42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The Windows Password cannot be retrieved because this instance is not associated with a key pair. The administrator password may only be retrieved for instances that were associated with a key pair when launched.</a:t>
            </a:r>
          </a:p>
          <a:p>
            <a:r>
              <a:rPr lang="en-US" sz="2200" b="1" dirty="0" smtClean="0">
                <a:solidFill>
                  <a:schemeClr val="tx2"/>
                </a:solidFill>
              </a:rPr>
              <a:t>Solution: Create an AMI from the instance. Launch an instance from the AMI with a new key pair.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4067035"/>
            <a:ext cx="6224870" cy="2181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Get Windows password: Password is not available.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The instance was launched from a custom AMI, or the default password has changed. A password cannot be retrieved for this instance. If you have forgotten your password, you can reset it using the Amazon EC2 configuration service.</a:t>
            </a:r>
          </a:p>
          <a:p>
            <a:r>
              <a:rPr lang="en-US" sz="2200" b="1" dirty="0" smtClean="0">
                <a:solidFill>
                  <a:schemeClr val="tx2"/>
                </a:solidFill>
              </a:rPr>
              <a:t>Solution: Attach the root volume to temporal instance. Delete the .run-once file.</a:t>
            </a:r>
            <a:endParaRPr lang="en-US" sz="2200" b="1" dirty="0">
              <a:solidFill>
                <a:schemeClr val="tx2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07907" y="4038600"/>
            <a:ext cx="6188293" cy="2181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Open Volume</a:t>
            </a:r>
            <a:endParaRPr 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8875" y="2571750"/>
            <a:ext cx="6826250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own Arrow 5"/>
          <p:cNvSpPr/>
          <p:nvPr/>
        </p:nvSpPr>
        <p:spPr>
          <a:xfrm>
            <a:off x="3886200" y="18288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r>
              <a:rPr lang="en-US" sz="2400" dirty="0" smtClean="0">
                <a:latin typeface="+mj-lt"/>
              </a:rPr>
              <a:t>1</a:t>
            </a:r>
            <a:endParaRPr lang="en-US" sz="2400" dirty="0">
              <a:latin typeface="+mj-lt"/>
            </a:endParaRPr>
          </a:p>
        </p:txBody>
      </p:sp>
      <p:sp>
        <p:nvSpPr>
          <p:cNvPr id="7" name="Down Arrow 6"/>
          <p:cNvSpPr/>
          <p:nvPr/>
        </p:nvSpPr>
        <p:spPr>
          <a:xfrm>
            <a:off x="1752600" y="41910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r>
              <a:rPr lang="en-US" sz="2400" dirty="0" smtClean="0">
                <a:latin typeface="+mj-lt"/>
              </a:rPr>
              <a:t>2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2. Detach the root volume from the instance</a:t>
            </a:r>
            <a:endParaRPr lang="en-US" sz="38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438400"/>
            <a:ext cx="7998892" cy="3193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Launch a temporary instance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60463" y="2863850"/>
            <a:ext cx="6823075" cy="239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4953000" y="33528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Attach the detached volume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379296"/>
            <a:ext cx="7970627" cy="3183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Select the temporary instance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828800"/>
            <a:ext cx="7567856" cy="4444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2209800" y="42672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Delete the .run-once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D:\ProgramData\Amazon\EC2Launch\state</a:t>
            </a:r>
            <a:endParaRPr lang="en-US" sz="2400" dirty="0"/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52613" y="2508250"/>
            <a:ext cx="5438775" cy="366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Attach the Volume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488" y="1981200"/>
            <a:ext cx="8201025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Enter /dev/sda1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Select an instance that is associated with a key pair.</a:t>
            </a:r>
            <a:endParaRPr lang="en-US" sz="24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2514600"/>
            <a:ext cx="6231521" cy="3624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Copy AMI to US East (N. Virginia)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Purpose</a:t>
            </a:r>
            <a:r>
              <a:rPr lang="en-US" sz="2200" dirty="0" smtClean="0"/>
              <a:t>: For the AMI to be able to be found by Marketplace.</a:t>
            </a:r>
            <a:endParaRPr lang="en-US" sz="2200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667000"/>
            <a:ext cx="7378733" cy="297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Select Destination Region</a:t>
            </a:r>
            <a:endParaRPr lang="en-US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948" y="1839252"/>
            <a:ext cx="7466852" cy="4485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Go to the Copied AMI</a:t>
            </a:r>
            <a:endParaRPr lang="en-US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0080" y="2572702"/>
            <a:ext cx="7818120" cy="1923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a Role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https://us-east-1.console.aws.amazon.com/iamv2/home#/roles</a:t>
            </a:r>
            <a:endParaRPr lang="en-US" sz="2200" dirty="0" smtClean="0"/>
          </a:p>
          <a:p>
            <a:endParaRPr lang="en-US" sz="22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2895600"/>
            <a:ext cx="7860894" cy="2101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Select Type of Trusted Entity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Choose </a:t>
            </a:r>
            <a:r>
              <a:rPr lang="en-US" sz="2400" b="1" dirty="0" smtClean="0"/>
              <a:t>AWS service</a:t>
            </a:r>
            <a:r>
              <a:rPr lang="en-US" sz="2400" dirty="0" smtClean="0"/>
              <a:t>.</a:t>
            </a:r>
            <a:endParaRPr lang="en-US" sz="2200" dirty="0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5300" y="2378075"/>
            <a:ext cx="8153400" cy="371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Choose a Use Case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Choose </a:t>
            </a:r>
            <a:r>
              <a:rPr lang="en-US" sz="2400" b="1" dirty="0" smtClean="0"/>
              <a:t>AWS Marketplace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Choose </a:t>
            </a:r>
            <a:r>
              <a:rPr lang="en-US" sz="2400" b="1" dirty="0" smtClean="0"/>
              <a:t>Marketplace – AMI Assets Ingestion</a:t>
            </a:r>
            <a:r>
              <a:rPr lang="en-US" sz="2400" dirty="0" smtClean="0"/>
              <a:t>. </a:t>
            </a:r>
            <a:endParaRPr lang="en-US" sz="2200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81163" y="2895600"/>
            <a:ext cx="5781675" cy="340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76350" y="1727200"/>
            <a:ext cx="6591300" cy="340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Select Policy</a:t>
            </a:r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>
            <a:off x="2362200" y="29718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1363" y="2057400"/>
            <a:ext cx="7661275" cy="371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Enter a Name</a:t>
            </a:r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>
            <a:off x="4800600" y="24384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79525" y="1860550"/>
            <a:ext cx="6584950" cy="423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Confirm Role Creation</a:t>
            </a:r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>
            <a:off x="6400800" y="48006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Copy the ARN</a:t>
            </a:r>
            <a:endParaRPr lang="en-US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286000"/>
            <a:ext cx="7769865" cy="2846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5791200" y="32004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Add AMI to Marketplace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>
                <a:hlinkClick r:id="rId2"/>
              </a:rPr>
              <a:t>https://aws.amazon.com/marketplace/management/manage-products/?#/share</a:t>
            </a:r>
            <a:endParaRPr lang="en-US" sz="1800" dirty="0" smtClean="0"/>
          </a:p>
          <a:p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2667000"/>
            <a:ext cx="7790440" cy="2637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Enter IAM Access Role ARN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arn:aws:iam</a:t>
            </a:r>
            <a:r>
              <a:rPr lang="en-US" sz="2200" dirty="0" smtClean="0">
                <a:latin typeface="Consolas" pitchFamily="49" charset="0"/>
              </a:rPr>
              <a:t>::135319629286:role/AWS-Marketplace</a:t>
            </a:r>
            <a:endParaRPr lang="en-US" sz="2200" dirty="0">
              <a:latin typeface="Consolas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667000"/>
            <a:ext cx="7830967" cy="2836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5791200" y="35052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Leave Product ID Empty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895600"/>
            <a:ext cx="7802910" cy="245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own Arrow 3"/>
          <p:cNvSpPr/>
          <p:nvPr/>
        </p:nvSpPr>
        <p:spPr>
          <a:xfrm>
            <a:off x="5943600" y="36576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Confirm Submission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2463" y="2146300"/>
            <a:ext cx="7839075" cy="303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7086600" y="38862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Review Message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04975" y="2617788"/>
            <a:ext cx="5734050" cy="162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2844" y="2044765"/>
            <a:ext cx="8143956" cy="3441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Remove AMI</a:t>
            </a:r>
            <a:endParaRPr lang="en-US" dirty="0"/>
          </a:p>
        </p:txBody>
      </p:sp>
      <p:sp>
        <p:nvSpPr>
          <p:cNvPr id="6" name="Down Arrow 5"/>
          <p:cNvSpPr/>
          <p:nvPr/>
        </p:nvSpPr>
        <p:spPr>
          <a:xfrm>
            <a:off x="6705600" y="32004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286000"/>
            <a:ext cx="7965016" cy="2839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Delete Unused Snapshot</a:t>
            </a:r>
            <a:endParaRPr lang="en-US" dirty="0"/>
          </a:p>
        </p:txBody>
      </p:sp>
      <p:sp>
        <p:nvSpPr>
          <p:cNvPr id="6" name="Down Arrow 5"/>
          <p:cNvSpPr/>
          <p:nvPr/>
        </p:nvSpPr>
        <p:spPr>
          <a:xfrm>
            <a:off x="6629400" y="37338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r>
              <a:rPr lang="en-US" sz="2400" dirty="0" smtClean="0">
                <a:latin typeface="+mj-lt"/>
              </a:rPr>
              <a:t>2</a:t>
            </a:r>
            <a:endParaRPr lang="en-US" sz="2400" dirty="0">
              <a:latin typeface="+mj-lt"/>
            </a:endParaRPr>
          </a:p>
        </p:txBody>
      </p:sp>
      <p:sp>
        <p:nvSpPr>
          <p:cNvPr id="7" name="Down Arrow 6"/>
          <p:cNvSpPr/>
          <p:nvPr/>
        </p:nvSpPr>
        <p:spPr>
          <a:xfrm>
            <a:off x="381000" y="28956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r>
              <a:rPr lang="en-US" sz="2400" dirty="0" smtClean="0">
                <a:latin typeface="+mj-lt"/>
              </a:rPr>
              <a:t>1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PAYG Server Product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https://www.youtube.com/watch?v=xvYUN6HB8aQ</a:t>
            </a:r>
          </a:p>
          <a:p>
            <a:r>
              <a:rPr lang="en-US" sz="2000" dirty="0" smtClean="0">
                <a:hlinkClick r:id="rId2"/>
              </a:rPr>
              <a:t>https://aws.amazon.com/marketplace/management/products/server</a:t>
            </a:r>
            <a:endParaRPr lang="en-US" sz="2000" dirty="0" smtClean="0"/>
          </a:p>
          <a:p>
            <a:endParaRPr lang="en-US" sz="2000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2667000"/>
            <a:ext cx="6816765" cy="35879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Down Arrow 8"/>
          <p:cNvSpPr/>
          <p:nvPr/>
        </p:nvSpPr>
        <p:spPr>
          <a:xfrm>
            <a:off x="5562600" y="31242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Enter General Information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SKU: Guardian - PAYG</a:t>
            </a:r>
          </a:p>
          <a:p>
            <a:r>
              <a:rPr lang="en-US" sz="2400" dirty="0" smtClean="0"/>
              <a:t>Software by: Certifient</a:t>
            </a:r>
          </a:p>
          <a:p>
            <a:r>
              <a:rPr lang="en-US" sz="2400" dirty="0" smtClean="0"/>
              <a:t>Title: Guardian - PAYG</a:t>
            </a:r>
          </a:p>
          <a:p>
            <a:r>
              <a:rPr lang="en-US" sz="2400" dirty="0" smtClean="0"/>
              <a:t>Product Description: Secure Email Gateway safeguards sensitive email messages by scanning your email for compliance, and performing policy-based actions.</a:t>
            </a:r>
          </a:p>
          <a:p>
            <a:r>
              <a:rPr lang="en-US" sz="2400" dirty="0" smtClean="0"/>
              <a:t>Short Product Description: Secure Email Gateway</a:t>
            </a:r>
          </a:p>
          <a:p>
            <a:r>
              <a:rPr lang="en-US" sz="2400" dirty="0" smtClean="0"/>
              <a:t>Product Logo URL: https://certifient.com/wp-content/uploads/2017/04/Logo.png</a:t>
            </a:r>
          </a:p>
          <a:p>
            <a:r>
              <a:rPr lang="en-US" sz="2400" dirty="0" smtClean="0"/>
              <a:t>Highlight 1: Rules management, messages reporting, message audit, secure email delivery.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Select Product Categories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7825" y="2155825"/>
            <a:ext cx="8388350" cy="325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Enter Resource URL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sz="2200" dirty="0" smtClean="0"/>
              <a:t>Search Keywords: Rules management, messages reporting, message audit, secure email delivery, secure email gateway.</a:t>
            </a:r>
          </a:p>
          <a:p>
            <a:r>
              <a:rPr lang="en-US" sz="2200" dirty="0" smtClean="0"/>
              <a:t>Resource Name 1: Technical Specifications</a:t>
            </a:r>
          </a:p>
          <a:p>
            <a:r>
              <a:rPr lang="en-US" sz="2200" dirty="0" smtClean="0"/>
              <a:t>Resource URL 1: </a:t>
            </a:r>
            <a:r>
              <a:rPr lang="en-US" sz="2200" dirty="0" smtClean="0">
                <a:hlinkClick r:id="rId3"/>
              </a:rPr>
              <a:t>https://certifient.com/technical-specifications/</a:t>
            </a:r>
            <a:endParaRPr lang="en-US" sz="2200" dirty="0" smtClean="0"/>
          </a:p>
          <a:p>
            <a:r>
              <a:rPr lang="en-US" sz="2200" dirty="0" smtClean="0"/>
              <a:t>Refund Policy: </a:t>
            </a:r>
            <a:r>
              <a:rPr lang="en-US" sz="2200" dirty="0" smtClean="0">
                <a:hlinkClick r:id="rId4"/>
              </a:rPr>
              <a:t>https://certifient.com/contact/</a:t>
            </a:r>
            <a:endParaRPr lang="en-US" sz="2200" dirty="0" smtClean="0"/>
          </a:p>
          <a:p>
            <a:endParaRPr lang="en-US" sz="2200" dirty="0" smtClean="0"/>
          </a:p>
          <a:p>
            <a:endParaRPr lang="en-US" sz="2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81213" y="4086225"/>
            <a:ext cx="4981575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sz="2000" dirty="0" smtClean="0"/>
              <a:t>Version Title: Guardian - PAYG v1.0.0</a:t>
            </a:r>
          </a:p>
          <a:p>
            <a:r>
              <a:rPr lang="en-US" sz="2000" dirty="0" smtClean="0"/>
              <a:t>Release Notes: Initial version</a:t>
            </a:r>
          </a:p>
          <a:p>
            <a:r>
              <a:rPr lang="en-US" sz="2000" dirty="0" smtClean="0"/>
              <a:t>Usage Instructions: Please refer to </a:t>
            </a:r>
            <a:r>
              <a:rPr lang="en-US" sz="2000" dirty="0" smtClean="0">
                <a:hlinkClick r:id="rId3"/>
              </a:rPr>
              <a:t>https://certifient.com/wp-content/uploads/2023/04/Guardian-Usage-Instructions-PAYG.pdf</a:t>
            </a:r>
            <a:r>
              <a:rPr lang="en-US" sz="2000" dirty="0" smtClean="0"/>
              <a:t> </a:t>
            </a:r>
          </a:p>
          <a:p>
            <a:endParaRPr lang="en-US" sz="2000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Enter Version Information</a:t>
            </a:r>
            <a:endParaRPr lang="en-US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Enter AMI Information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sz="1800" dirty="0" smtClean="0"/>
              <a:t>OS Version: Windows Server 2022</a:t>
            </a:r>
          </a:p>
          <a:p>
            <a:r>
              <a:rPr lang="en-US" sz="1800" dirty="0" smtClean="0"/>
              <a:t>OS </a:t>
            </a:r>
            <a:r>
              <a:rPr lang="en-US" sz="1800" dirty="0" err="1" smtClean="0"/>
              <a:t>UserName</a:t>
            </a:r>
            <a:r>
              <a:rPr lang="en-US" sz="1800" dirty="0" smtClean="0"/>
              <a:t>: Administrator</a:t>
            </a:r>
          </a:p>
          <a:p>
            <a:r>
              <a:rPr lang="en-US" sz="1800" dirty="0" smtClean="0"/>
              <a:t>3rd Party Software: Certifient Guardian, E-</a:t>
            </a:r>
            <a:r>
              <a:rPr lang="en-US" sz="1800" dirty="0" err="1" smtClean="0"/>
              <a:t>MailRelay</a:t>
            </a:r>
            <a:r>
              <a:rPr lang="en-US" sz="1800" dirty="0" smtClean="0"/>
              <a:t>, SQL Server 2022 Express.</a:t>
            </a:r>
          </a:p>
          <a:p>
            <a:r>
              <a:rPr lang="en-US" sz="1800" dirty="0" smtClean="0"/>
              <a:t>Security Group 1: tcp,3389,3389,0.0.0.0/0</a:t>
            </a:r>
          </a:p>
          <a:p>
            <a:r>
              <a:rPr lang="en-US" sz="1800" dirty="0" smtClean="0"/>
              <a:t>Security Group 2: tcp,587,587,0.0.0.0/0</a:t>
            </a:r>
          </a:p>
          <a:p>
            <a:r>
              <a:rPr lang="en-US" sz="1800" dirty="0" smtClean="0"/>
              <a:t>Security Group 3: tcp,80,80,0.0.0.0/0</a:t>
            </a:r>
          </a:p>
          <a:p>
            <a:r>
              <a:rPr lang="en-US" sz="1800" dirty="0" smtClean="0"/>
              <a:t>Security Group 4: tcp,443,443,0.0.0.0/0</a:t>
            </a:r>
            <a:endParaRPr lang="en-US" sz="18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9000" y="4187825"/>
            <a:ext cx="7366000" cy="198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Select Regions</a:t>
            </a:r>
            <a:endParaRPr lang="en-US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6775" y="1666875"/>
            <a:ext cx="7410450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Enter Pricing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u="sng" dirty="0" smtClean="0">
                <a:hlinkClick r:id="rId2"/>
              </a:rPr>
              <a:t>https://instances.vantage.sh/</a:t>
            </a:r>
            <a:endParaRPr lang="en-US" sz="2200" u="sng" dirty="0" smtClean="0"/>
          </a:p>
          <a:p>
            <a:pPr lvl="0"/>
            <a:r>
              <a:rPr lang="en-US" sz="2200" dirty="0" smtClean="0"/>
              <a:t>Enter “t3.me” to the “Filter” text box below the “Name” column and scroll to the right to check the default price per hour of a Windows instance.</a:t>
            </a:r>
          </a:p>
          <a:p>
            <a:pPr lvl="0"/>
            <a:r>
              <a:rPr lang="en-US" sz="2200" dirty="0" smtClean="0"/>
              <a:t>Barracuda Email Security Gateway – BYOL pricing model ( </a:t>
            </a:r>
            <a:r>
              <a:rPr lang="en-US" sz="2200" u="sng" dirty="0" smtClean="0">
                <a:hlinkClick r:id="rId3"/>
              </a:rPr>
              <a:t>https://aws.amazon.com/marketplace/pp/prodview-yege7ckunv7yk?sr=0-1&amp;ref_=beagle&amp;applicationId=AWSMPContessa#pdp-usage</a:t>
            </a:r>
            <a:r>
              <a:rPr lang="en-US" sz="2200" dirty="0" smtClean="0"/>
              <a:t> )</a:t>
            </a:r>
          </a:p>
          <a:p>
            <a:endParaRPr lang="en-US" sz="2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4800600"/>
            <a:ext cx="8156575" cy="147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9. Enter Notes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sz="2400" dirty="0" smtClean="0"/>
              <a:t>Please contact us at:</a:t>
            </a:r>
          </a:p>
          <a:p>
            <a:endParaRPr lang="en-US" sz="2400" dirty="0" smtClean="0"/>
          </a:p>
          <a:p>
            <a:r>
              <a:rPr lang="en-US" sz="2400" dirty="0" smtClean="0"/>
              <a:t>Address: 1155 F St, NW Suite 1050 Washington DC 20004</a:t>
            </a:r>
          </a:p>
          <a:p>
            <a:r>
              <a:rPr lang="en-US" sz="2400" dirty="0" smtClean="0"/>
              <a:t>Phone: 1(202) 656 3740</a:t>
            </a:r>
          </a:p>
          <a:p>
            <a:r>
              <a:rPr lang="en-US" sz="2400" dirty="0" smtClean="0"/>
              <a:t>Email: </a:t>
            </a:r>
            <a:r>
              <a:rPr lang="en-US" sz="2400" dirty="0" smtClean="0">
                <a:hlinkClick r:id="rId3"/>
              </a:rPr>
              <a:t>info@certifient.com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Contact Information for this request: </a:t>
            </a:r>
            <a:r>
              <a:rPr lang="en-US" sz="2400" dirty="0" smtClean="0">
                <a:hlinkClick r:id="rId4"/>
              </a:rPr>
              <a:t>msully@certifient.com</a:t>
            </a:r>
            <a:endParaRPr lang="en-US" sz="2400" dirty="0" smtClean="0"/>
          </a:p>
          <a:p>
            <a:endParaRPr lang="en-US" sz="22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mtClean="0"/>
              <a:t>10. </a:t>
            </a:r>
            <a:r>
              <a:rPr lang="en-US" dirty="0" smtClean="0"/>
              <a:t>Review Submitted Request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sz="2200" dirty="0" smtClean="0">
                <a:hlinkClick r:id="rId3"/>
              </a:rPr>
              <a:t>https://aws.amazon.com/marketplace/management/requests</a:t>
            </a:r>
            <a:endParaRPr lang="en-US" sz="2200" dirty="0" smtClean="0"/>
          </a:p>
          <a:p>
            <a:endParaRPr lang="en-US" sz="22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71220" y="2590800"/>
            <a:ext cx="7358380" cy="3177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981200"/>
            <a:ext cx="7520940" cy="3990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BYOL Server Product</a:t>
            </a:r>
            <a:endParaRPr lang="en-US" dirty="0"/>
          </a:p>
        </p:txBody>
      </p:sp>
      <p:sp>
        <p:nvSpPr>
          <p:cNvPr id="9" name="Down Arrow 8"/>
          <p:cNvSpPr/>
          <p:nvPr/>
        </p:nvSpPr>
        <p:spPr>
          <a:xfrm>
            <a:off x="5638800" y="3733800"/>
            <a:ext cx="1524000" cy="838200"/>
          </a:xfrm>
          <a:prstGeom prst="downArrow">
            <a:avLst/>
          </a:prstGeom>
          <a:solidFill>
            <a:schemeClr val="accent2">
              <a:alpha val="70000"/>
            </a:schemeClr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64008" tIns="32004" rIns="64008" bIns="32004" rtlCol="0" anchor="ctr"/>
          <a:lstStyle/>
          <a:p>
            <a:pPr algn="ctr"/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Enter General Information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BYOL URL: https://certifient.com/contact/</a:t>
            </a:r>
          </a:p>
          <a:p>
            <a:r>
              <a:rPr lang="en-US" sz="2200" dirty="0" smtClean="0"/>
              <a:t>SKU: Guardian - BYOL</a:t>
            </a:r>
          </a:p>
          <a:p>
            <a:r>
              <a:rPr lang="en-US" sz="2200" dirty="0" smtClean="0"/>
              <a:t>Software by: Certifient</a:t>
            </a:r>
          </a:p>
          <a:p>
            <a:r>
              <a:rPr lang="en-US" sz="2200" dirty="0" smtClean="0"/>
              <a:t>Title: Guardian</a:t>
            </a:r>
          </a:p>
          <a:p>
            <a:r>
              <a:rPr lang="en-US" sz="2200" dirty="0" smtClean="0"/>
              <a:t>Product Description: Certifient Guardian is a secure gateway that safeguards sensitive email messages by scanning your email for compliance, and performing policy-based actions.</a:t>
            </a:r>
          </a:p>
          <a:p>
            <a:r>
              <a:rPr lang="en-US" sz="2200" dirty="0" smtClean="0"/>
              <a:t>Short Product Description: Certifient Guardian is a secure gateway that safeguards sensitive email messages by scanning your email for compliance, and performing policy-based actions.</a:t>
            </a:r>
          </a:p>
          <a:p>
            <a:r>
              <a:rPr lang="en-US" sz="2200" dirty="0" smtClean="0"/>
              <a:t>Product Logo URL: https://certifient.com/wp-content/uploads/2017/04/Logo.png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Select Product Categories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Highlight 1: Rules management, messages reporting, message audit, secure email delivery.</a:t>
            </a:r>
          </a:p>
          <a:p>
            <a:endParaRPr lang="en-US" sz="22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7825" y="2917825"/>
            <a:ext cx="8388350" cy="325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Enter Resource URL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sz="2200" dirty="0" smtClean="0"/>
              <a:t>Search Keywords: Rules management, messages reporting, message audit, secure email delivery, secure email gateway.</a:t>
            </a:r>
          </a:p>
          <a:p>
            <a:r>
              <a:rPr lang="en-US" sz="2200" dirty="0" smtClean="0"/>
              <a:t>Resource Name 1: Technical Specifications</a:t>
            </a:r>
          </a:p>
          <a:p>
            <a:r>
              <a:rPr lang="en-US" sz="2200" dirty="0" smtClean="0"/>
              <a:t>Resource URL 1: </a:t>
            </a:r>
            <a:r>
              <a:rPr lang="en-US" sz="2200" dirty="0" smtClean="0">
                <a:hlinkClick r:id="rId3"/>
              </a:rPr>
              <a:t>https://certifient.com/technical-specifications/</a:t>
            </a:r>
            <a:endParaRPr lang="en-US" sz="2200" dirty="0" smtClean="0"/>
          </a:p>
          <a:p>
            <a:r>
              <a:rPr lang="en-US" sz="2200" dirty="0" smtClean="0"/>
              <a:t>Refund Policy: </a:t>
            </a:r>
            <a:r>
              <a:rPr lang="en-US" sz="2200" dirty="0" smtClean="0">
                <a:hlinkClick r:id="rId4"/>
              </a:rPr>
              <a:t>https://certifient.com/contact/</a:t>
            </a:r>
            <a:endParaRPr lang="en-US" sz="2200" dirty="0" smtClean="0"/>
          </a:p>
          <a:p>
            <a:endParaRPr lang="en-US" sz="2200" dirty="0" smtClean="0"/>
          </a:p>
          <a:p>
            <a:endParaRPr lang="en-US" sz="2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81213" y="4086225"/>
            <a:ext cx="4981575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sz="2400" dirty="0" smtClean="0"/>
              <a:t>Version Title: Guardian - BYOL v1.0.0</a:t>
            </a:r>
          </a:p>
          <a:p>
            <a:r>
              <a:rPr lang="en-US" sz="2400" dirty="0" smtClean="0"/>
              <a:t>Release Notes: Initial version</a:t>
            </a:r>
          </a:p>
          <a:p>
            <a:r>
              <a:rPr lang="en-US" sz="2400" dirty="0" smtClean="0"/>
              <a:t>Usage Instructions: </a:t>
            </a:r>
          </a:p>
          <a:p>
            <a:pPr>
              <a:buNone/>
            </a:pPr>
            <a:r>
              <a:rPr lang="en-US" sz="2400" i="1" dirty="0" smtClean="0"/>
              <a:t>	Please prepare a domain, an SSL certificate for your domain, a PEM file for your domain, and a Certifient Guardian license file for your domain. Sensitive information will be saved in the following locations:</a:t>
            </a:r>
          </a:p>
          <a:p>
            <a:pPr>
              <a:buNone/>
            </a:pPr>
            <a:r>
              <a:rPr lang="en-US" sz="2400" i="1" dirty="0" smtClean="0"/>
              <a:t>	...</a:t>
            </a:r>
          </a:p>
          <a:p>
            <a:pPr>
              <a:buNone/>
            </a:pPr>
            <a:r>
              <a:rPr lang="en-US" sz="2400" i="1" dirty="0" smtClean="0"/>
              <a:t>	Please refer to https://certifient.com/wp-content/uploads/2023/05/Guardian-Usage-Instructions-BYOL.pdf for details.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Enter Version Information</a:t>
            </a:r>
            <a:endParaRPr lang="en-US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Enter AMI Information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sz="1800" dirty="0" smtClean="0"/>
              <a:t>OS Version: Windows Server 2022</a:t>
            </a:r>
          </a:p>
          <a:p>
            <a:r>
              <a:rPr lang="en-US" sz="1800" dirty="0" smtClean="0"/>
              <a:t>OS </a:t>
            </a:r>
            <a:r>
              <a:rPr lang="en-US" sz="1800" dirty="0" err="1" smtClean="0"/>
              <a:t>UserName</a:t>
            </a:r>
            <a:r>
              <a:rPr lang="en-US" sz="1800" dirty="0" smtClean="0"/>
              <a:t>: Administrator</a:t>
            </a:r>
          </a:p>
          <a:p>
            <a:r>
              <a:rPr lang="en-US" sz="1800" dirty="0" smtClean="0"/>
              <a:t>AWS Services Required: Amazon EC2, SES.</a:t>
            </a:r>
          </a:p>
          <a:p>
            <a:r>
              <a:rPr lang="en-US" sz="1800" dirty="0" smtClean="0"/>
              <a:t>3rd Party Software: Certifient Guardian, E-</a:t>
            </a:r>
            <a:r>
              <a:rPr lang="en-US" sz="1800" dirty="0" err="1" smtClean="0"/>
              <a:t>MailRelay</a:t>
            </a:r>
            <a:r>
              <a:rPr lang="en-US" sz="1800" dirty="0" smtClean="0"/>
              <a:t>, SQL Server 2022 Express.</a:t>
            </a:r>
          </a:p>
          <a:p>
            <a:r>
              <a:rPr lang="en-US" sz="1800" dirty="0" smtClean="0"/>
              <a:t>Security Group 1: tcp,3389,3389,0.0.0.0/0</a:t>
            </a:r>
          </a:p>
          <a:p>
            <a:r>
              <a:rPr lang="en-US" sz="1800" dirty="0" smtClean="0"/>
              <a:t>Security Group 2: tcp,587,587,0.0.0.0/0</a:t>
            </a:r>
          </a:p>
          <a:p>
            <a:r>
              <a:rPr lang="en-US" sz="1800" dirty="0" smtClean="0"/>
              <a:t>Security Group 3: tcp,80,80,0.0.0.0/0</a:t>
            </a:r>
          </a:p>
          <a:p>
            <a:r>
              <a:rPr lang="en-US" sz="1800" dirty="0" smtClean="0"/>
              <a:t>Security Group 4: tcp,443,443,0.0.0.0/0</a:t>
            </a:r>
            <a:endParaRPr lang="en-US" sz="18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9000" y="4416425"/>
            <a:ext cx="7366000" cy="198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Select Regions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should select all of them.</a:t>
            </a:r>
            <a:endParaRPr lang="en-US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Select Instance Types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1619250"/>
            <a:ext cx="7924800" cy="493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9. Enter Pricing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u="sng" dirty="0" smtClean="0">
                <a:hlinkClick r:id="rId2"/>
              </a:rPr>
              <a:t>https://instances.vantage.sh/</a:t>
            </a:r>
            <a:endParaRPr lang="en-US" sz="2200" u="sng" dirty="0" smtClean="0"/>
          </a:p>
          <a:p>
            <a:pPr lvl="0"/>
            <a:r>
              <a:rPr lang="en-US" sz="2200" dirty="0" smtClean="0"/>
              <a:t>Enter “t3.me” to the “Filter” text box below the “Name” column and scroll to the right to check the default price per hour of a Windows instance.</a:t>
            </a:r>
          </a:p>
          <a:p>
            <a:pPr lvl="0"/>
            <a:r>
              <a:rPr lang="en-US" sz="2200" dirty="0" smtClean="0"/>
              <a:t>Barracuda Email Security Gateway – BYOL pricing model ( </a:t>
            </a:r>
            <a:r>
              <a:rPr lang="en-US" sz="2200" u="sng" dirty="0" smtClean="0">
                <a:hlinkClick r:id="rId3"/>
              </a:rPr>
              <a:t>https://aws.amazon.com/marketplace/pp/prodview-yege7ckunv7yk?sr=0-1&amp;ref_=beagle&amp;applicationId=AWSMPContessa#pdp-usage</a:t>
            </a:r>
            <a:r>
              <a:rPr lang="en-US" sz="2200" dirty="0" smtClean="0"/>
              <a:t> )</a:t>
            </a:r>
          </a:p>
          <a:p>
            <a:endParaRPr lang="en-US" sz="2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4800600"/>
            <a:ext cx="8156575" cy="147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10. Enter Notes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sz="2400" dirty="0" smtClean="0"/>
              <a:t>Please contact us at:</a:t>
            </a:r>
          </a:p>
          <a:p>
            <a:endParaRPr lang="en-US" sz="2400" dirty="0" smtClean="0"/>
          </a:p>
          <a:p>
            <a:r>
              <a:rPr lang="en-US" sz="2400" dirty="0" smtClean="0"/>
              <a:t>Address: 1155 F St, NW Suite 1050 Washington DC 20004</a:t>
            </a:r>
          </a:p>
          <a:p>
            <a:r>
              <a:rPr lang="en-US" sz="2400" dirty="0" smtClean="0"/>
              <a:t>Phone: 1(202) 656 3740</a:t>
            </a:r>
          </a:p>
          <a:p>
            <a:r>
              <a:rPr lang="en-US" sz="2400" dirty="0" smtClean="0"/>
              <a:t>Email: </a:t>
            </a:r>
            <a:r>
              <a:rPr lang="en-US" sz="2400" dirty="0" smtClean="0">
                <a:hlinkClick r:id="rId3"/>
              </a:rPr>
              <a:t>info@certifient.com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Contact Information for this request: </a:t>
            </a:r>
            <a:r>
              <a:rPr lang="en-US" sz="2400" dirty="0" smtClean="0">
                <a:hlinkClick r:id="rId4"/>
              </a:rPr>
              <a:t>msully@certifient.com</a:t>
            </a:r>
            <a:endParaRPr lang="en-US" sz="2400" dirty="0" smtClean="0"/>
          </a:p>
          <a:p>
            <a:endParaRPr lang="en-US" sz="22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11. Review Submitted Request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sz="2200" dirty="0" smtClean="0">
                <a:hlinkClick r:id="rId3"/>
              </a:rPr>
              <a:t>https://aws.amazon.com/marketplace/management/requests</a:t>
            </a:r>
            <a:endParaRPr lang="en-US" sz="2200" dirty="0" smtClean="0"/>
          </a:p>
          <a:p>
            <a:endParaRPr lang="en-US" sz="22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71220" y="2590800"/>
            <a:ext cx="7358380" cy="3177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12. Send EULA to Reviewer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End User License Agreement (EULA).txt</a:t>
            </a:r>
          </a:p>
          <a:p>
            <a:r>
              <a:rPr lang="en-US" sz="2400" u="sng" dirty="0" smtClean="0">
                <a:hlinkClick r:id="rId2"/>
              </a:rPr>
              <a:t>https://tinyurl.com/42pztdj3</a:t>
            </a:r>
            <a:endParaRPr lang="en-US" sz="24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SaaS</a:t>
            </a:r>
            <a:r>
              <a:rPr lang="en-US" dirty="0" smtClean="0"/>
              <a:t>–based products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https://docs.aws.amazon.com/marketplace/latest/userguide/saas-products.html</a:t>
            </a:r>
            <a:endParaRPr lang="en-US" sz="2400" dirty="0" smtClean="0"/>
          </a:p>
          <a:p>
            <a:r>
              <a:rPr lang="en-US" sz="2400" dirty="0" smtClean="0"/>
              <a:t>With software as a service (</a:t>
            </a:r>
            <a:r>
              <a:rPr lang="en-US" sz="2400" dirty="0" err="1" smtClean="0"/>
              <a:t>SaaS</a:t>
            </a:r>
            <a:r>
              <a:rPr lang="en-US" sz="2400" dirty="0" smtClean="0"/>
              <a:t>) products, you deploy software hosted on AWS infrastructure and grant buyers access to the software in your AWS environment.</a:t>
            </a:r>
          </a:p>
          <a:p>
            <a:r>
              <a:rPr lang="en-US" sz="2400" dirty="0" smtClean="0"/>
              <a:t>You are responsible for managing customer access, account creation, resource provisioning, and account management within your software.</a:t>
            </a:r>
            <a:endParaRPr lang="en-US" sz="24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SaaS</a:t>
            </a:r>
            <a:r>
              <a:rPr lang="en-US" dirty="0" smtClean="0"/>
              <a:t> product pricing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https://docs.aws.amazon.com/marketplace/latest/userguide/saas-pricing-models.html</a:t>
            </a:r>
            <a:endParaRPr lang="en-US" sz="2200" dirty="0" smtClean="0"/>
          </a:p>
          <a:p>
            <a:r>
              <a:rPr lang="en-US" sz="2200" dirty="0" smtClean="0"/>
              <a:t>All </a:t>
            </a:r>
            <a:r>
              <a:rPr lang="en-US" sz="2200" dirty="0" err="1" smtClean="0"/>
              <a:t>SaaS</a:t>
            </a:r>
            <a:r>
              <a:rPr lang="en-US" sz="2200" dirty="0" smtClean="0"/>
              <a:t> pricing models support free trials</a:t>
            </a:r>
            <a:endParaRPr lang="en-US" sz="2200" i="1" dirty="0" smtClean="0">
              <a:solidFill>
                <a:srgbClr val="C00000"/>
              </a:solidFill>
            </a:endParaRPr>
          </a:p>
          <a:p>
            <a:r>
              <a:rPr lang="en-US" sz="2200" i="1" dirty="0" err="1" smtClean="0">
                <a:solidFill>
                  <a:srgbClr val="C00000"/>
                </a:solidFill>
              </a:rPr>
              <a:t>SaaS</a:t>
            </a:r>
            <a:r>
              <a:rPr lang="en-US" sz="2200" i="1" dirty="0" smtClean="0">
                <a:solidFill>
                  <a:srgbClr val="C00000"/>
                </a:solidFill>
              </a:rPr>
              <a:t> subscriptions</a:t>
            </a:r>
            <a:r>
              <a:rPr lang="en-US" sz="2200" dirty="0" smtClean="0"/>
              <a:t>: A pay-as-you-go model where we bill buyers for their hourly usage of your </a:t>
            </a:r>
            <a:r>
              <a:rPr lang="en-US" sz="2200" dirty="0" err="1" smtClean="0"/>
              <a:t>SaaS</a:t>
            </a:r>
            <a:r>
              <a:rPr lang="en-US" sz="2200" dirty="0" smtClean="0"/>
              <a:t> product.</a:t>
            </a:r>
          </a:p>
          <a:p>
            <a:r>
              <a:rPr lang="en-US" sz="2200" i="1" dirty="0" err="1" smtClean="0">
                <a:solidFill>
                  <a:srgbClr val="C00000"/>
                </a:solidFill>
              </a:rPr>
              <a:t>SaaS</a:t>
            </a:r>
            <a:r>
              <a:rPr lang="en-US" sz="2200" i="1" dirty="0" smtClean="0">
                <a:solidFill>
                  <a:srgbClr val="C00000"/>
                </a:solidFill>
              </a:rPr>
              <a:t> contracts</a:t>
            </a:r>
            <a:r>
              <a:rPr lang="en-US" sz="2200" dirty="0" smtClean="0"/>
              <a:t>: Buyers are either billed in advance for the use of your software, or you can offer them a flexible payment schedule. Customers can also pay for additional usage above their contract.</a:t>
            </a:r>
          </a:p>
          <a:p>
            <a:r>
              <a:rPr lang="en-US" sz="2200" i="1" dirty="0" err="1" smtClean="0">
                <a:solidFill>
                  <a:srgbClr val="C00000"/>
                </a:solidFill>
              </a:rPr>
              <a:t>SaaS</a:t>
            </a:r>
            <a:r>
              <a:rPr lang="en-US" sz="2200" i="1" dirty="0" smtClean="0">
                <a:solidFill>
                  <a:srgbClr val="C00000"/>
                </a:solidFill>
              </a:rPr>
              <a:t> contracts with pay-as-you-go</a:t>
            </a:r>
            <a:r>
              <a:rPr lang="en-US" sz="2200" dirty="0" smtClean="0"/>
              <a:t>: Buyers are either billed in advance for the use of your software, or you can offer them a flexible payment schedule. Buyers are also billed an additional metered rate for usage on top of the contract price.</a:t>
            </a:r>
            <a:endParaRPr lang="en-US" sz="22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SaaS</a:t>
            </a:r>
            <a:r>
              <a:rPr lang="en-US" dirty="0" smtClean="0"/>
              <a:t> subscriptions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https://docs.aws.amazon.com/marketplace/latest/userguide/saas-subscriptions.html</a:t>
            </a:r>
            <a:endParaRPr lang="en-US" sz="2000" dirty="0" smtClean="0"/>
          </a:p>
          <a:p>
            <a:r>
              <a:rPr lang="en-US" sz="2000" dirty="0" smtClean="0"/>
              <a:t>For software as a service (</a:t>
            </a:r>
            <a:r>
              <a:rPr lang="en-US" sz="2000" dirty="0" err="1" smtClean="0"/>
              <a:t>SaaS</a:t>
            </a:r>
            <a:r>
              <a:rPr lang="en-US" sz="2000" dirty="0" smtClean="0"/>
              <a:t>) subscriptions, </a:t>
            </a:r>
            <a:r>
              <a:rPr lang="en-US" sz="2000" i="1" dirty="0" smtClean="0">
                <a:solidFill>
                  <a:srgbClr val="C00000"/>
                </a:solidFill>
              </a:rPr>
              <a:t>AWS Marketplace bills your customers based on the metering records that you send to us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All charges must be measured and reported every hour from the software deployed in the customer's account.</a:t>
            </a:r>
          </a:p>
          <a:p>
            <a:r>
              <a:rPr lang="en-US" sz="2000" dirty="0" smtClean="0"/>
              <a:t>All usage is then calculated monthly and billed monthly using the same mechanism as AMI based AWS Marketplace offerings.</a:t>
            </a:r>
          </a:p>
          <a:p>
            <a:r>
              <a:rPr lang="en-US" sz="2000" dirty="0" smtClean="0"/>
              <a:t>Our ability to bill customers for usage of your product is dependent upon receiving metering records from you.</a:t>
            </a:r>
          </a:p>
          <a:p>
            <a:r>
              <a:rPr lang="en-US" sz="2000" dirty="0" smtClean="0"/>
              <a:t>You are responsible for ensuring that your product’s metering records are successfully transmitted and received.</a:t>
            </a:r>
            <a:endParaRPr lang="en-US" sz="20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Billing </a:t>
            </a:r>
            <a:r>
              <a:rPr lang="en-US" dirty="0" err="1" smtClean="0"/>
              <a:t>identiﬁer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After a buyer purchases your software as a service (</a:t>
            </a:r>
            <a:r>
              <a:rPr lang="en-US" sz="2400" dirty="0" err="1" smtClean="0"/>
              <a:t>SaaS</a:t>
            </a:r>
            <a:r>
              <a:rPr lang="en-US" sz="2400" dirty="0" smtClean="0"/>
              <a:t>) product on AWS Marketplace, AWS Marketplace provides you with their billing </a:t>
            </a:r>
            <a:r>
              <a:rPr lang="en-US" sz="2400" dirty="0" err="1" smtClean="0"/>
              <a:t>identiﬁer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You use the billing identifier to call the AWS Marketplace Entitlement Service and the AWS Marketplace Metering Service.</a:t>
            </a:r>
          </a:p>
          <a:p>
            <a:r>
              <a:rPr lang="en-US" sz="2400" dirty="0" smtClean="0"/>
              <a:t>Then, customers access the product in your AWS environment or through a virtual private cloud (VPC) endpoint connection that you create.</a:t>
            </a:r>
            <a:endParaRPr lang="en-US" sz="24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SaaS</a:t>
            </a:r>
            <a:r>
              <a:rPr lang="en-US" dirty="0" smtClean="0"/>
              <a:t> contracts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https://docs.aws.amazon.com/marketplace/latest/userguide/saas-contracts.html</a:t>
            </a:r>
            <a:endParaRPr lang="en-US" sz="2000" dirty="0" smtClean="0"/>
          </a:p>
          <a:p>
            <a:r>
              <a:rPr lang="en-US" sz="2000" dirty="0" smtClean="0"/>
              <a:t>For software as a service (</a:t>
            </a:r>
            <a:r>
              <a:rPr lang="en-US" sz="2000" dirty="0" err="1" smtClean="0"/>
              <a:t>SaaS</a:t>
            </a:r>
            <a:r>
              <a:rPr lang="en-US" sz="2000" dirty="0" smtClean="0"/>
              <a:t>) contracts, the customer initiates a purchase of your software and enters into an agreement with you.</a:t>
            </a:r>
          </a:p>
          <a:p>
            <a:r>
              <a:rPr lang="en-US" sz="2000" dirty="0" smtClean="0"/>
              <a:t>Under the agreement, the customer is entitled to a specified quantity of use of your </a:t>
            </a:r>
            <a:r>
              <a:rPr lang="en-US" sz="2000" dirty="0" err="1" smtClean="0"/>
              <a:t>SaaS</a:t>
            </a:r>
            <a:r>
              <a:rPr lang="en-US" sz="2000" dirty="0" smtClean="0"/>
              <a:t> product.</a:t>
            </a:r>
          </a:p>
          <a:p>
            <a:r>
              <a:rPr lang="en-US" sz="2000" dirty="0" smtClean="0"/>
              <a:t>AWS Marketplace communicates these entitlements to your </a:t>
            </a:r>
            <a:r>
              <a:rPr lang="en-US" sz="2000" dirty="0" err="1" smtClean="0"/>
              <a:t>SaaS</a:t>
            </a:r>
            <a:r>
              <a:rPr lang="en-US" sz="2000" dirty="0" smtClean="0"/>
              <a:t> application.</a:t>
            </a:r>
          </a:p>
          <a:p>
            <a:r>
              <a:rPr lang="en-US" sz="2000" dirty="0" smtClean="0"/>
              <a:t>This is done through the AWS Marketplace Entitlement Service.</a:t>
            </a:r>
          </a:p>
          <a:p>
            <a:r>
              <a:rPr lang="en-US" sz="2000" dirty="0" smtClean="0"/>
              <a:t>When using the </a:t>
            </a:r>
            <a:r>
              <a:rPr lang="en-US" sz="2000" dirty="0" err="1" smtClean="0"/>
              <a:t>SaaS</a:t>
            </a:r>
            <a:r>
              <a:rPr lang="en-US" sz="2000" dirty="0" smtClean="0"/>
              <a:t> Contract pricing model, </a:t>
            </a:r>
            <a:r>
              <a:rPr lang="en-US" sz="2000" i="1" dirty="0" smtClean="0">
                <a:solidFill>
                  <a:srgbClr val="C00000"/>
                </a:solidFill>
              </a:rPr>
              <a:t>your application never sends metering records</a:t>
            </a:r>
            <a:r>
              <a:rPr lang="en-US" sz="2000" dirty="0" smtClean="0"/>
              <a:t>. Instead, it verifies entitlement by calling the AWS Marketplace Entitlement Service. You define the usage categories, dimensions, and the length of the contract.</a:t>
            </a:r>
            <a:endParaRPr lang="en-US" sz="20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SaaS</a:t>
            </a:r>
            <a:r>
              <a:rPr lang="en-US" dirty="0" smtClean="0"/>
              <a:t> contracts billing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AWS Marketplace bills your customers upfront or by the payment schedule that you define, based on the contract between you and your customer.</a:t>
            </a:r>
          </a:p>
          <a:p>
            <a:r>
              <a:rPr lang="en-US" sz="2400" dirty="0" smtClean="0"/>
              <a:t>After that point, they're entitled to use those resources.</a:t>
            </a:r>
          </a:p>
          <a:p>
            <a:r>
              <a:rPr lang="en-US" sz="2400" dirty="0" smtClean="0"/>
              <a:t>For additional usage above their contract, AWS Marketplace bills your customers based on the metering records received by us through the AWS Marketplace Entitlement Service.</a:t>
            </a:r>
            <a:endParaRPr lang="en-US" sz="24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Pricing Dimensions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Each Pricing Dimension represents a feature or service that you can set a per unit price for.</a:t>
            </a:r>
            <a:endParaRPr lang="en-US" sz="24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SaaS</a:t>
            </a:r>
            <a:r>
              <a:rPr lang="en-US" dirty="0" smtClean="0"/>
              <a:t> free trials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https://docs.aws.amazon.com/marketplace/latest/userguide/saas-free-trials.html</a:t>
            </a:r>
            <a:endParaRPr lang="en-US" sz="2400" dirty="0" smtClean="0"/>
          </a:p>
          <a:p>
            <a:r>
              <a:rPr lang="en-US" sz="2400" dirty="0" smtClean="0"/>
              <a:t>Sellers can create software as a service (</a:t>
            </a:r>
            <a:r>
              <a:rPr lang="en-US" sz="2400" dirty="0" err="1" smtClean="0"/>
              <a:t>SaaS</a:t>
            </a:r>
            <a:r>
              <a:rPr lang="en-US" sz="2400" dirty="0" smtClean="0"/>
              <a:t>) free trial offers in the AWS Marketplace Management Portal (AMMP). Customers can evaluate software products before making large purchase decisions by using the </a:t>
            </a:r>
            <a:r>
              <a:rPr lang="en-US" sz="2400" dirty="0" err="1" smtClean="0"/>
              <a:t>SaaS</a:t>
            </a:r>
            <a:r>
              <a:rPr lang="en-US" sz="2400" dirty="0" smtClean="0"/>
              <a:t> free trial option. After a customer subscribes to your product, your product performs entitlement checks the same way it does for paid customers.</a:t>
            </a:r>
          </a:p>
          <a:p>
            <a:r>
              <a:rPr lang="en-US" sz="2400" dirty="0" smtClean="0"/>
              <a:t>Each AWS account can only use a free trial for a </a:t>
            </a:r>
            <a:r>
              <a:rPr lang="en-US" sz="2400" dirty="0" err="1" smtClean="0"/>
              <a:t>SaaS</a:t>
            </a:r>
            <a:r>
              <a:rPr lang="en-US" sz="2400" dirty="0" smtClean="0"/>
              <a:t> product once. </a:t>
            </a:r>
            <a:r>
              <a:rPr lang="en-US" sz="2400" smtClean="0"/>
              <a:t>The free usage amount granted during a free trial is not shared across linked accounts in an AWS organization.</a:t>
            </a:r>
            <a:endParaRPr lang="en-US" sz="24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</a:t>
            </a:r>
            <a:r>
              <a:rPr lang="en-US" dirty="0" err="1" smtClean="0"/>
              <a:t>SaaS</a:t>
            </a:r>
            <a:r>
              <a:rPr lang="en-US" dirty="0" smtClean="0"/>
              <a:t> Product</a:t>
            </a:r>
            <a:endParaRPr 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" y="2148840"/>
            <a:ext cx="7810500" cy="3108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Select Pricing Option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" y="1914525"/>
            <a:ext cx="7848600" cy="38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Fill Contract Dimension 1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5950" y="1736725"/>
            <a:ext cx="7912100" cy="435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Select </a:t>
            </a:r>
            <a:r>
              <a:rPr lang="en-US" smtClean="0"/>
              <a:t>Purchasing Option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9925" y="1692275"/>
            <a:ext cx="7804150" cy="455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23165</TotalTime>
  <Words>2900</Words>
  <Application>Microsoft Office PowerPoint</Application>
  <PresentationFormat>On-screen Show (4:3)</PresentationFormat>
  <Paragraphs>347</Paragraphs>
  <Slides>143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143</vt:i4>
      </vt:variant>
    </vt:vector>
  </HeadingPairs>
  <TitlesOfParts>
    <vt:vector size="144" baseType="lpstr">
      <vt:lpstr>Office Theme</vt:lpstr>
      <vt:lpstr>AWS Marketplace</vt:lpstr>
      <vt:lpstr>Objectives</vt:lpstr>
      <vt:lpstr>Contents</vt:lpstr>
      <vt:lpstr>References</vt:lpstr>
      <vt:lpstr>Process for Updating Product</vt:lpstr>
      <vt:lpstr>1. Start Original Instance</vt:lpstr>
      <vt:lpstr>2. Apply Windows Updates</vt:lpstr>
      <vt:lpstr>3. Open DigiCert Utility</vt:lpstr>
      <vt:lpstr>4. Test the Existing Certificate</vt:lpstr>
      <vt:lpstr>5. Generate a CSR if Necessary</vt:lpstr>
      <vt:lpstr>6. Upgrade Web Code if Necessary</vt:lpstr>
      <vt:lpstr>7. Open the Portal</vt:lpstr>
      <vt:lpstr>8. Delete Log Files if Necessary</vt:lpstr>
      <vt:lpstr>9. Prepare VM for Creating AMI </vt:lpstr>
      <vt:lpstr>10. Wait until the VM is Shut Down</vt:lpstr>
      <vt:lpstr>11. Deregister the Existing AMI</vt:lpstr>
      <vt:lpstr>12. Create an AMI</vt:lpstr>
      <vt:lpstr>13. Enter a Name</vt:lpstr>
      <vt:lpstr>14. Add the AMI to Marketplace</vt:lpstr>
      <vt:lpstr>15. Open the Server Product</vt:lpstr>
      <vt:lpstr>16. Add Version</vt:lpstr>
      <vt:lpstr>17. Enter Title and Notes</vt:lpstr>
      <vt:lpstr>18. Enter AMI ID and ARN</vt:lpstr>
      <vt:lpstr>19. Review Update Status</vt:lpstr>
      <vt:lpstr>20. Open Exiting Product</vt:lpstr>
      <vt:lpstr>21. Select the Version with an Issue</vt:lpstr>
      <vt:lpstr>22. Restrict the Version</vt:lpstr>
      <vt:lpstr>23. Select the Version to Restrict</vt:lpstr>
      <vt:lpstr>Slide 29</vt:lpstr>
      <vt:lpstr>What is AWS Marketplace?</vt:lpstr>
      <vt:lpstr>Buyers, Sellers and Partners</vt:lpstr>
      <vt:lpstr>1. Review Seller Process</vt:lpstr>
      <vt:lpstr>2. Register Seller Account</vt:lpstr>
      <vt:lpstr>3. Provide Tax information</vt:lpstr>
      <vt:lpstr>4. Go to Server Products (AMIs)</vt:lpstr>
      <vt:lpstr>5. Prepare Your Product</vt:lpstr>
      <vt:lpstr>Slide 37</vt:lpstr>
      <vt:lpstr>Terminology: EC2Launch v2</vt:lpstr>
      <vt:lpstr>Sysprep (System Preparation)</vt:lpstr>
      <vt:lpstr>Important Notes</vt:lpstr>
      <vt:lpstr>Slide 41</vt:lpstr>
      <vt:lpstr>1. Create an Account</vt:lpstr>
      <vt:lpstr>2. Add the Account to Administrators Group</vt:lpstr>
      <vt:lpstr>3. Add the Account to SQL Server</vt:lpstr>
      <vt:lpstr>4. Install Windows Updates</vt:lpstr>
      <vt:lpstr>5. Prepare VM for Creating AMI </vt:lpstr>
      <vt:lpstr>6. Wait until the VM is Shut Down</vt:lpstr>
      <vt:lpstr>Slide 48</vt:lpstr>
      <vt:lpstr>1. Create an AMI</vt:lpstr>
      <vt:lpstr>2. Enter a Name</vt:lpstr>
      <vt:lpstr>3. Go to the AMI</vt:lpstr>
      <vt:lpstr>4. Review Status</vt:lpstr>
      <vt:lpstr>5. Retrieve AMI ID</vt:lpstr>
      <vt:lpstr>Slide 54</vt:lpstr>
      <vt:lpstr>1. Launch Instance from AMI</vt:lpstr>
      <vt:lpstr>2. Enter a Name</vt:lpstr>
      <vt:lpstr>3. Select Instance Type</vt:lpstr>
      <vt:lpstr>4. Create a Key Pair</vt:lpstr>
      <vt:lpstr>5. Enter a Name</vt:lpstr>
      <vt:lpstr>6. Create a Security Group</vt:lpstr>
      <vt:lpstr>7. Confirm Instance Launch</vt:lpstr>
      <vt:lpstr>8. Go to the Instance</vt:lpstr>
      <vt:lpstr>Slide 63</vt:lpstr>
      <vt:lpstr>1. Start the Original Instance</vt:lpstr>
      <vt:lpstr>2. Go to Get Windows password</vt:lpstr>
      <vt:lpstr>3. Get a New Password</vt:lpstr>
      <vt:lpstr>4. Install Windows Updates</vt:lpstr>
      <vt:lpstr>5. Open DigiCert Utility</vt:lpstr>
      <vt:lpstr>5. Delete the Existing Certificate</vt:lpstr>
      <vt:lpstr>6. Import a New Certificate (PFX)</vt:lpstr>
      <vt:lpstr>7. Rebind the SSL Certificate to the IIS Website</vt:lpstr>
      <vt:lpstr>8. Open the Portal</vt:lpstr>
      <vt:lpstr>9. Prepare VM for Creating AMI </vt:lpstr>
      <vt:lpstr>Slide 74</vt:lpstr>
      <vt:lpstr>Get Windows password: No Key Pair</vt:lpstr>
      <vt:lpstr>Get Windows password: Password is not available.</vt:lpstr>
      <vt:lpstr>1. Open Volume</vt:lpstr>
      <vt:lpstr>2. Detach the root volume from the instance</vt:lpstr>
      <vt:lpstr>3. Launch a temporary instance</vt:lpstr>
      <vt:lpstr>4. Attach the detached volume</vt:lpstr>
      <vt:lpstr>5. Select the temporary instance</vt:lpstr>
      <vt:lpstr>6. Delete the .run-once file</vt:lpstr>
      <vt:lpstr>7. Attach the Volume</vt:lpstr>
      <vt:lpstr>8. Enter /dev/sda1</vt:lpstr>
      <vt:lpstr>Slide 85</vt:lpstr>
      <vt:lpstr>1. Copy AMI to US East (N. Virginia)</vt:lpstr>
      <vt:lpstr>2. Select Destination Region</vt:lpstr>
      <vt:lpstr>3. Go to the Copied AMI</vt:lpstr>
      <vt:lpstr>Slide 89</vt:lpstr>
      <vt:lpstr>1. Create a Role</vt:lpstr>
      <vt:lpstr>2. Select Type of Trusted Entity</vt:lpstr>
      <vt:lpstr>3. Choose a Use Case</vt:lpstr>
      <vt:lpstr>4. Select Policy</vt:lpstr>
      <vt:lpstr>5. Enter a Name</vt:lpstr>
      <vt:lpstr>6. Confirm Role Creation</vt:lpstr>
      <vt:lpstr>7. Copy the ARN</vt:lpstr>
      <vt:lpstr>Slide 97</vt:lpstr>
      <vt:lpstr>1. Add AMI to Marketplace</vt:lpstr>
      <vt:lpstr>2. Enter IAM Access Role ARN</vt:lpstr>
      <vt:lpstr>3. Leave Product ID Empty</vt:lpstr>
      <vt:lpstr>4. Confirm Submission</vt:lpstr>
      <vt:lpstr>5. Review Message</vt:lpstr>
      <vt:lpstr>Slide 103</vt:lpstr>
      <vt:lpstr>1. Remove AMI</vt:lpstr>
      <vt:lpstr>2. Delete Unused Snapshot</vt:lpstr>
      <vt:lpstr>Slide 106</vt:lpstr>
      <vt:lpstr>1. Create PAYG Server Product</vt:lpstr>
      <vt:lpstr>2. Enter General Information</vt:lpstr>
      <vt:lpstr>3. Select Product Categories</vt:lpstr>
      <vt:lpstr>4. Enter Resource URL</vt:lpstr>
      <vt:lpstr>5. Enter Version Information</vt:lpstr>
      <vt:lpstr>6. Enter AMI Information</vt:lpstr>
      <vt:lpstr>7. Select Regions</vt:lpstr>
      <vt:lpstr>8. Enter Pricing</vt:lpstr>
      <vt:lpstr>9. Enter Notes</vt:lpstr>
      <vt:lpstr>10. Review Submitted Request</vt:lpstr>
      <vt:lpstr>Slide 117</vt:lpstr>
      <vt:lpstr>1. Create BYOL Server Product</vt:lpstr>
      <vt:lpstr>2. Enter General Information</vt:lpstr>
      <vt:lpstr>3. Select Product Categories</vt:lpstr>
      <vt:lpstr>4. Enter Resource URL</vt:lpstr>
      <vt:lpstr>5. Enter Version Information</vt:lpstr>
      <vt:lpstr>6. Enter AMI Information</vt:lpstr>
      <vt:lpstr>7. Select Regions</vt:lpstr>
      <vt:lpstr>8. Select Instance Types</vt:lpstr>
      <vt:lpstr>9. Enter Pricing</vt:lpstr>
      <vt:lpstr>10. Enter Notes</vt:lpstr>
      <vt:lpstr>11. Review Submitted Request</vt:lpstr>
      <vt:lpstr>12. Send EULA to Reviewer</vt:lpstr>
      <vt:lpstr>Slide 130</vt:lpstr>
      <vt:lpstr>SaaS–based products</vt:lpstr>
      <vt:lpstr>SaaS product pricing</vt:lpstr>
      <vt:lpstr>SaaS subscriptions</vt:lpstr>
      <vt:lpstr>Billing identiﬁer</vt:lpstr>
      <vt:lpstr>SaaS contracts</vt:lpstr>
      <vt:lpstr>SaaS contracts billing</vt:lpstr>
      <vt:lpstr>Pricing Dimensions</vt:lpstr>
      <vt:lpstr>SaaS free trials</vt:lpstr>
      <vt:lpstr>1. Create SaaS Product</vt:lpstr>
      <vt:lpstr>2. Select Pricing Option</vt:lpstr>
      <vt:lpstr>3. Fill Contract Dimension 1</vt:lpstr>
      <vt:lpstr>4. Select Purchasing Option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6023</cp:revision>
  <dcterms:created xsi:type="dcterms:W3CDTF">2007-10-06T08:25:13Z</dcterms:created>
  <dcterms:modified xsi:type="dcterms:W3CDTF">2026-07-18T18:01:04Z</dcterms:modified>
</cp:coreProperties>
</file>