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sldIdLst>
    <p:sldId id="379" r:id="rId2"/>
    <p:sldId id="380" r:id="rId3"/>
    <p:sldId id="381" r:id="rId4"/>
    <p:sldId id="382" r:id="rId5"/>
    <p:sldId id="353" r:id="rId6"/>
    <p:sldId id="354" r:id="rId7"/>
    <p:sldId id="355" r:id="rId8"/>
    <p:sldId id="356" r:id="rId9"/>
    <p:sldId id="368" r:id="rId10"/>
    <p:sldId id="417" r:id="rId11"/>
    <p:sldId id="414" r:id="rId12"/>
    <p:sldId id="415" r:id="rId13"/>
    <p:sldId id="416" r:id="rId14"/>
    <p:sldId id="419" r:id="rId15"/>
    <p:sldId id="418" r:id="rId16"/>
    <p:sldId id="421" r:id="rId17"/>
    <p:sldId id="420" r:id="rId18"/>
    <p:sldId id="422" r:id="rId19"/>
    <p:sldId id="423" r:id="rId20"/>
    <p:sldId id="384" r:id="rId21"/>
    <p:sldId id="357" r:id="rId22"/>
    <p:sldId id="358" r:id="rId23"/>
    <p:sldId id="359" r:id="rId24"/>
    <p:sldId id="386" r:id="rId25"/>
    <p:sldId id="365" r:id="rId26"/>
    <p:sldId id="366" r:id="rId27"/>
    <p:sldId id="372" r:id="rId28"/>
    <p:sldId id="373" r:id="rId29"/>
    <p:sldId id="377" r:id="rId30"/>
    <p:sldId id="428" r:id="rId31"/>
    <p:sldId id="424" r:id="rId32"/>
    <p:sldId id="425" r:id="rId33"/>
    <p:sldId id="426" r:id="rId34"/>
    <p:sldId id="427" r:id="rId35"/>
    <p:sldId id="388" r:id="rId36"/>
    <p:sldId id="397" r:id="rId37"/>
    <p:sldId id="410" r:id="rId38"/>
    <p:sldId id="392" r:id="rId39"/>
    <p:sldId id="393" r:id="rId40"/>
    <p:sldId id="442" r:id="rId41"/>
    <p:sldId id="443" r:id="rId42"/>
    <p:sldId id="444" r:id="rId43"/>
    <p:sldId id="445" r:id="rId44"/>
    <p:sldId id="404" r:id="rId45"/>
    <p:sldId id="412" r:id="rId46"/>
    <p:sldId id="413" r:id="rId47"/>
    <p:sldId id="396" r:id="rId48"/>
    <p:sldId id="408" r:id="rId49"/>
    <p:sldId id="446" r:id="rId50"/>
    <p:sldId id="409" r:id="rId51"/>
    <p:sldId id="429" r:id="rId52"/>
    <p:sldId id="430" r:id="rId53"/>
    <p:sldId id="431" r:id="rId54"/>
    <p:sldId id="432" r:id="rId55"/>
    <p:sldId id="433" r:id="rId56"/>
    <p:sldId id="434" r:id="rId57"/>
    <p:sldId id="447" r:id="rId58"/>
    <p:sldId id="435" r:id="rId59"/>
    <p:sldId id="448" r:id="rId60"/>
    <p:sldId id="449" r:id="rId61"/>
    <p:sldId id="437" r:id="rId62"/>
    <p:sldId id="436" r:id="rId63"/>
    <p:sldId id="438" r:id="rId64"/>
    <p:sldId id="439" r:id="rId65"/>
    <p:sldId id="440" r:id="rId66"/>
    <p:sldId id="378" r:id="rId6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3" autoAdjust="0"/>
    <p:restoredTop sz="94660"/>
  </p:normalViewPr>
  <p:slideViewPr>
    <p:cSldViewPr>
      <p:cViewPr>
        <p:scale>
          <a:sx n="50" d="100"/>
          <a:sy n="50" d="100"/>
        </p:scale>
        <p:origin x="-1740" y="-40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CF222A-0E95-4FE4-B555-F56FB54F3F2D}" type="datetimeFigureOut">
              <a:rPr lang="en-US" smtClean="0"/>
              <a:pPr/>
              <a:t>8/22/2026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A8C59CC-B259-4528-B8EC-B9D41C3014A1}"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8E137E5-94E3-4C5C-9DBC-4277E139588E}" type="datetimeFigureOut">
              <a:rPr lang="en-US" smtClean="0"/>
              <a:pPr/>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6745-46FD-4125-8BDD-5F7FFC53AB5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8E137E5-94E3-4C5C-9DBC-4277E139588E}" type="datetimeFigureOut">
              <a:rPr lang="en-US" smtClean="0"/>
              <a:pPr/>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6745-46FD-4125-8BDD-5F7FFC53AB5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8E137E5-94E3-4C5C-9DBC-4277E139588E}" type="datetimeFigureOut">
              <a:rPr lang="en-US" smtClean="0"/>
              <a:pPr/>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6745-46FD-4125-8BDD-5F7FFC53AB5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8E137E5-94E3-4C5C-9DBC-4277E139588E}" type="datetimeFigureOut">
              <a:rPr lang="en-US" smtClean="0"/>
              <a:pPr/>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6745-46FD-4125-8BDD-5F7FFC53AB5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8E137E5-94E3-4C5C-9DBC-4277E139588E}" type="datetimeFigureOut">
              <a:rPr lang="en-US" smtClean="0"/>
              <a:pPr/>
              <a:t>8/22/2026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BBA6745-46FD-4125-8BDD-5F7FFC53AB5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8E137E5-94E3-4C5C-9DBC-4277E139588E}" type="datetimeFigureOut">
              <a:rPr lang="en-US" smtClean="0"/>
              <a:pPr/>
              <a:t>8/22/2026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BBA6745-46FD-4125-8BDD-5F7FFC53AB5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E137E5-94E3-4C5C-9DBC-4277E139588E}" type="datetimeFigureOut">
              <a:rPr lang="en-US" smtClean="0"/>
              <a:pPr/>
              <a:t>8/22/2026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BBA6745-46FD-4125-8BDD-5F7FFC53AB5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8E137E5-94E3-4C5C-9DBC-4277E139588E}" type="datetimeFigureOut">
              <a:rPr lang="en-US" smtClean="0"/>
              <a:pPr/>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6745-46FD-4125-8BDD-5F7FFC53AB5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8E137E5-94E3-4C5C-9DBC-4277E139588E}" type="datetimeFigureOut">
              <a:rPr lang="en-US" smtClean="0"/>
              <a:pPr/>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6745-46FD-4125-8BDD-5F7FFC53AB5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8E137E5-94E3-4C5C-9DBC-4277E139588E}" type="datetimeFigureOut">
              <a:rPr lang="en-US" smtClean="0"/>
              <a:pPr/>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6745-46FD-4125-8BDD-5F7FFC53AB5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8E137E5-94E3-4C5C-9DBC-4277E139588E}" type="datetimeFigureOut">
              <a:rPr lang="en-US" smtClean="0"/>
              <a:pPr/>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6745-46FD-4125-8BDD-5F7FFC53AB5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E137E5-94E3-4C5C-9DBC-4277E139588E}" type="datetimeFigureOut">
              <a:rPr lang="en-US" smtClean="0"/>
              <a:pPr/>
              <a:t>8/22/2026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BA6745-46FD-4125-8BDD-5F7FFC53AB5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youtube.com/watch?v=PC1FffI5Pa0"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developer.salesforce.com/blogs/engineering/2013/10/behind-the-scenes-of-record-ownership-in-salesforce"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https://help.salesforce.com/articleView?id=000339699&amp;type=1&amp;mode=1"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help.salesforce.com/articleView?id=users_profiles_epui_login_ip_ranges_edit.htm&amp;type=5"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hyperlink" Target="https://help.salesforce.com/articleView?id=000339118&amp;type=1&amp;mode=1"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noAutofit/>
          </a:bodyPr>
          <a:lstStyle/>
          <a:p>
            <a:r>
              <a:rPr lang="en-US" sz="6000" dirty="0" smtClean="0"/>
              <a:t>Security </a:t>
            </a:r>
            <a:r>
              <a:rPr lang="en-US" sz="6000" dirty="0" smtClean="0"/>
              <a:t>Model</a:t>
            </a:r>
            <a:endParaRPr lang="en-US" sz="6000" dirty="0" smtClean="0"/>
          </a:p>
        </p:txBody>
      </p:sp>
      <p:sp>
        <p:nvSpPr>
          <p:cNvPr id="3" name="Subtitle 2"/>
          <p:cNvSpPr>
            <a:spLocks noGrp="1"/>
          </p:cNvSpPr>
          <p:nvPr>
            <p:ph type="subTitle" idx="1"/>
          </p:nvPr>
        </p:nvSpPr>
        <p:spPr/>
        <p:txBody>
          <a:bodyPr rtlCol="0">
            <a:normAutofit fontScale="40000" lnSpcReduction="20000"/>
          </a:bodyPr>
          <a:lstStyle/>
          <a:p>
            <a:pPr>
              <a:defRPr/>
            </a:pPr>
            <a:r>
              <a:rPr lang="en-US" sz="5400" dirty="0" smtClean="0"/>
              <a:t>Lecturer: Ngo Huy Bien</a:t>
            </a:r>
          </a:p>
          <a:p>
            <a:pPr>
              <a:defRPr/>
            </a:pPr>
            <a:r>
              <a:rPr lang="en-US" sz="4400" dirty="0" smtClean="0"/>
              <a:t>Software Engineering Department</a:t>
            </a:r>
          </a:p>
          <a:p>
            <a:pPr>
              <a:defRPr/>
            </a:pPr>
            <a:r>
              <a:rPr lang="en-US" sz="4400" dirty="0" smtClean="0"/>
              <a:t>Faculty of Information Technology</a:t>
            </a:r>
          </a:p>
          <a:p>
            <a:pPr>
              <a:defRPr/>
            </a:pPr>
            <a:r>
              <a:rPr lang="en-US" sz="4400" dirty="0" smtClean="0"/>
              <a:t>VNUHCM - University of Science</a:t>
            </a:r>
          </a:p>
          <a:p>
            <a:pPr>
              <a:defRPr/>
            </a:pPr>
            <a:r>
              <a:rPr lang="en-US" sz="4400" dirty="0" smtClean="0"/>
              <a:t>Ho Chi Minh City, Vietnam</a:t>
            </a:r>
          </a:p>
          <a:p>
            <a:pPr>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905001"/>
            <a:ext cx="5562600" cy="4114799"/>
          </a:xfrm>
        </p:spPr>
        <p:txBody>
          <a:bodyPr/>
          <a:lstStyle/>
          <a:p>
            <a:pPr marL="571500" indent="-514350">
              <a:buFont typeface="Wingdings" pitchFamily="2" charset="2"/>
              <a:buChar char="Ø"/>
            </a:pPr>
            <a:r>
              <a:rPr lang="en-US" sz="2400" dirty="0" smtClean="0"/>
              <a:t>To configure </a:t>
            </a:r>
            <a:r>
              <a:rPr lang="en-US" sz="2400" dirty="0" err="1" smtClean="0"/>
              <a:t>Salesforce</a:t>
            </a:r>
            <a:r>
              <a:rPr lang="en-US" sz="2400" dirty="0" smtClean="0"/>
              <a:t> security settings.</a:t>
            </a:r>
          </a:p>
        </p:txBody>
      </p:sp>
      <p:pic>
        <p:nvPicPr>
          <p:cNvPr id="4" name="Picture 2"/>
          <p:cNvPicPr>
            <a:picLocks noChangeAspect="1" noChangeArrowheads="1"/>
          </p:cNvPicPr>
          <p:nvPr/>
        </p:nvPicPr>
        <p:blipFill>
          <a:blip r:embed="rId2" cstate="print"/>
          <a:srcRect/>
          <a:stretch>
            <a:fillRect/>
          </a:stretch>
        </p:blipFill>
        <p:spPr bwMode="auto">
          <a:xfrm>
            <a:off x="6000750" y="24384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normAutofit/>
          </a:bodyPr>
          <a:lstStyle/>
          <a:p>
            <a:r>
              <a:rPr lang="en-US" sz="2200" dirty="0" err="1" smtClean="0"/>
              <a:t>Salesforce</a:t>
            </a:r>
            <a:r>
              <a:rPr lang="en-US" sz="2200" dirty="0" smtClean="0"/>
              <a:t> Security Concepts.</a:t>
            </a:r>
          </a:p>
          <a:p>
            <a:r>
              <a:rPr lang="en-US" sz="2200" dirty="0" smtClean="0"/>
              <a:t>Profiles.</a:t>
            </a:r>
          </a:p>
          <a:p>
            <a:r>
              <a:rPr lang="en-US" sz="2200" dirty="0" smtClean="0"/>
              <a:t>Permission Sets.</a:t>
            </a:r>
          </a:p>
          <a:p>
            <a:r>
              <a:rPr lang="en-US" sz="2200" dirty="0" smtClean="0"/>
              <a:t>Roles.</a:t>
            </a:r>
          </a:p>
          <a:p>
            <a:r>
              <a:rPr lang="en-US" sz="2200" dirty="0" smtClean="0"/>
              <a:t>Public Groups.</a:t>
            </a:r>
          </a:p>
          <a:p>
            <a:r>
              <a:rPr lang="en-US" sz="2200" dirty="0" smtClean="0"/>
              <a:t>Org Sharing Rules.</a:t>
            </a:r>
          </a:p>
          <a:p>
            <a:r>
              <a:rPr lang="en-US" sz="2200" dirty="0" smtClean="0"/>
              <a:t>Custom Sharing Rules.</a:t>
            </a:r>
          </a:p>
          <a:p>
            <a:r>
              <a:rPr lang="en-US" sz="2200" dirty="0" smtClean="0"/>
              <a:t>Object Permissions.</a:t>
            </a:r>
          </a:p>
          <a:p>
            <a:r>
              <a:rPr lang="en-US" sz="2200" dirty="0" smtClean="0"/>
              <a:t>Field Permissions.</a:t>
            </a:r>
          </a:p>
          <a:p>
            <a:r>
              <a:rPr lang="en-US" sz="2200" dirty="0" smtClean="0"/>
              <a:t>MFA and Authenticators.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
        <p:nvSpPr>
          <p:cNvPr id="3" name="Content Placeholder 2"/>
          <p:cNvSpPr>
            <a:spLocks noGrp="1"/>
          </p:cNvSpPr>
          <p:nvPr>
            <p:ph idx="1"/>
          </p:nvPr>
        </p:nvSpPr>
        <p:spPr>
          <a:xfrm>
            <a:off x="457200" y="1600200"/>
            <a:ext cx="5334000" cy="4525963"/>
          </a:xfrm>
        </p:spPr>
        <p:txBody>
          <a:bodyPr>
            <a:normAutofit/>
          </a:bodyPr>
          <a:lstStyle/>
          <a:p>
            <a:endParaRPr lang="en-US" sz="2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Salesforce</a:t>
            </a:r>
            <a:r>
              <a:rPr lang="en-US" dirty="0" smtClean="0"/>
              <a:t> Security Concepts (I)</a:t>
            </a:r>
            <a:endParaRPr lang="en-US" dirty="0"/>
          </a:p>
        </p:txBody>
      </p:sp>
      <p:sp>
        <p:nvSpPr>
          <p:cNvPr id="3" name="Content Placeholder 2"/>
          <p:cNvSpPr>
            <a:spLocks noGrp="1"/>
          </p:cNvSpPr>
          <p:nvPr>
            <p:ph idx="1"/>
          </p:nvPr>
        </p:nvSpPr>
        <p:spPr/>
        <p:txBody>
          <a:bodyPr/>
          <a:lstStyle/>
          <a:p>
            <a:r>
              <a:rPr lang="en-US" sz="2400" dirty="0" smtClean="0"/>
              <a:t>An </a:t>
            </a:r>
            <a:r>
              <a:rPr lang="en-US" sz="2400" i="1" dirty="0" smtClean="0">
                <a:solidFill>
                  <a:srgbClr val="C00000"/>
                </a:solidFill>
              </a:rPr>
              <a:t>authorization rule</a:t>
            </a:r>
            <a:r>
              <a:rPr lang="en-US" sz="2400" dirty="0" smtClean="0"/>
              <a:t> contains 3 basic elements:</a:t>
            </a:r>
          </a:p>
          <a:p>
            <a:pPr lvl="1"/>
            <a:r>
              <a:rPr lang="en-US" sz="1800" dirty="0" smtClean="0"/>
              <a:t>a resource, </a:t>
            </a:r>
          </a:p>
          <a:p>
            <a:pPr lvl="1"/>
            <a:r>
              <a:rPr lang="en-US" sz="1800" dirty="0" smtClean="0"/>
              <a:t>a principle and </a:t>
            </a:r>
          </a:p>
          <a:p>
            <a:pPr lvl="1"/>
            <a:r>
              <a:rPr lang="en-US" sz="1800" dirty="0" smtClean="0"/>
              <a:t>an operation (or action).</a:t>
            </a:r>
          </a:p>
          <a:p>
            <a:r>
              <a:rPr lang="en-US" sz="2400" dirty="0" smtClean="0"/>
              <a:t>A </a:t>
            </a:r>
            <a:r>
              <a:rPr lang="en-US" sz="2400" dirty="0" err="1" smtClean="0"/>
              <a:t>Salesforce</a:t>
            </a:r>
            <a:r>
              <a:rPr lang="en-US" sz="2400" dirty="0" smtClean="0"/>
              <a:t> </a:t>
            </a:r>
            <a:r>
              <a:rPr lang="en-US" sz="2400" i="1" dirty="0" smtClean="0">
                <a:solidFill>
                  <a:srgbClr val="C00000"/>
                </a:solidFill>
              </a:rPr>
              <a:t>resource</a:t>
            </a:r>
            <a:r>
              <a:rPr lang="en-US" sz="2400" dirty="0" smtClean="0"/>
              <a:t> can be</a:t>
            </a:r>
          </a:p>
          <a:p>
            <a:pPr lvl="1"/>
            <a:r>
              <a:rPr lang="en-US" sz="1800" dirty="0" smtClean="0"/>
              <a:t>an Object, or</a:t>
            </a:r>
          </a:p>
          <a:p>
            <a:pPr lvl="1"/>
            <a:r>
              <a:rPr lang="en-US" sz="1800" dirty="0" smtClean="0"/>
              <a:t>a Record, or </a:t>
            </a:r>
          </a:p>
          <a:p>
            <a:pPr lvl="1"/>
            <a:r>
              <a:rPr lang="en-US" sz="1800" dirty="0" smtClean="0"/>
              <a:t>a Field.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Salesforce</a:t>
            </a:r>
            <a:r>
              <a:rPr lang="en-US" dirty="0" smtClean="0"/>
              <a:t> Security Concepts (II)</a:t>
            </a:r>
            <a:endParaRPr lang="en-US" dirty="0"/>
          </a:p>
        </p:txBody>
      </p:sp>
      <p:sp>
        <p:nvSpPr>
          <p:cNvPr id="3" name="Content Placeholder 2"/>
          <p:cNvSpPr>
            <a:spLocks noGrp="1"/>
          </p:cNvSpPr>
          <p:nvPr>
            <p:ph idx="1"/>
          </p:nvPr>
        </p:nvSpPr>
        <p:spPr/>
        <p:txBody>
          <a:bodyPr/>
          <a:lstStyle/>
          <a:p>
            <a:r>
              <a:rPr lang="en-US" sz="2400" dirty="0" smtClean="0"/>
              <a:t>A </a:t>
            </a:r>
            <a:r>
              <a:rPr lang="en-US" sz="2400" dirty="0" err="1" smtClean="0"/>
              <a:t>Salesforce</a:t>
            </a:r>
            <a:r>
              <a:rPr lang="en-US" sz="2400" dirty="0" smtClean="0"/>
              <a:t> </a:t>
            </a:r>
            <a:r>
              <a:rPr lang="en-US" sz="2400" i="1" dirty="0" smtClean="0">
                <a:solidFill>
                  <a:srgbClr val="C00000"/>
                </a:solidFill>
              </a:rPr>
              <a:t>principle</a:t>
            </a:r>
            <a:r>
              <a:rPr lang="en-US" sz="2400" dirty="0" smtClean="0"/>
              <a:t> can be </a:t>
            </a:r>
          </a:p>
          <a:p>
            <a:pPr lvl="1"/>
            <a:r>
              <a:rPr lang="en-US" sz="1800" dirty="0" smtClean="0"/>
              <a:t>an ORG, or</a:t>
            </a:r>
          </a:p>
          <a:p>
            <a:pPr lvl="1"/>
            <a:r>
              <a:rPr lang="en-US" sz="1800" dirty="0" smtClean="0"/>
              <a:t>a Role, or</a:t>
            </a:r>
          </a:p>
          <a:p>
            <a:pPr lvl="1"/>
            <a:r>
              <a:rPr lang="en-US" sz="1800" dirty="0" smtClean="0"/>
              <a:t>a Group, or</a:t>
            </a:r>
          </a:p>
          <a:p>
            <a:pPr lvl="1"/>
            <a:r>
              <a:rPr lang="en-US" sz="1800" dirty="0" smtClean="0"/>
              <a:t>a User.</a:t>
            </a:r>
          </a:p>
          <a:p>
            <a:r>
              <a:rPr lang="en-US" sz="2400" dirty="0" smtClean="0"/>
              <a:t>A </a:t>
            </a:r>
            <a:r>
              <a:rPr lang="en-US" sz="2400" dirty="0" err="1" smtClean="0"/>
              <a:t>Salesforce</a:t>
            </a:r>
            <a:r>
              <a:rPr lang="en-US" sz="2400" dirty="0" smtClean="0"/>
              <a:t> User can be an Internal User or an External User.</a:t>
            </a:r>
          </a:p>
          <a:p>
            <a:pPr lvl="1"/>
            <a:r>
              <a:rPr lang="en-US" sz="1800" dirty="0" smtClean="0"/>
              <a:t>An internal user logs in to </a:t>
            </a:r>
            <a:r>
              <a:rPr lang="en-US" sz="1800" dirty="0" err="1" smtClean="0"/>
              <a:t>Salesforce</a:t>
            </a:r>
            <a:r>
              <a:rPr lang="en-US" sz="1800" dirty="0" smtClean="0"/>
              <a:t> via login.salesforce.com or a company </a:t>
            </a:r>
            <a:r>
              <a:rPr lang="en-US" sz="1800" dirty="0" err="1" smtClean="0"/>
              <a:t>myDomain</a:t>
            </a:r>
            <a:r>
              <a:rPr lang="en-US" sz="1800" dirty="0" smtClean="0"/>
              <a:t>, like salesforce.acme.com, using an internal license. Internal users primarily access the </a:t>
            </a:r>
            <a:r>
              <a:rPr lang="en-US" sz="1800" dirty="0" err="1" smtClean="0"/>
              <a:t>Salesforce</a:t>
            </a:r>
            <a:r>
              <a:rPr lang="en-US" sz="1800" dirty="0" smtClean="0"/>
              <a:t> platform using Lightning Experience or </a:t>
            </a:r>
            <a:r>
              <a:rPr lang="en-US" sz="1800" dirty="0" err="1" smtClean="0"/>
              <a:t>Salesforce</a:t>
            </a:r>
            <a:r>
              <a:rPr lang="en-US" sz="1800" dirty="0" smtClean="0"/>
              <a:t> Classic.</a:t>
            </a:r>
          </a:p>
          <a:p>
            <a:pPr lvl="1"/>
            <a:r>
              <a:rPr lang="en-US" sz="1800" dirty="0" smtClean="0"/>
              <a:t>A user with an external license can access only the Experience Cloud sites that the user is a member of. An external user can’t access the internal Lightning Experience or </a:t>
            </a:r>
            <a:r>
              <a:rPr lang="en-US" sz="1800" dirty="0" err="1" smtClean="0"/>
              <a:t>Salesforce</a:t>
            </a:r>
            <a:r>
              <a:rPr lang="en-US" sz="1800" dirty="0" smtClean="0"/>
              <a:t> Classic.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Salesforce</a:t>
            </a:r>
            <a:r>
              <a:rPr lang="en-US" dirty="0" smtClean="0"/>
              <a:t> Security Concepts (III)</a:t>
            </a:r>
            <a:endParaRPr lang="en-US" dirty="0"/>
          </a:p>
        </p:txBody>
      </p:sp>
      <p:sp>
        <p:nvSpPr>
          <p:cNvPr id="3" name="Content Placeholder 2"/>
          <p:cNvSpPr>
            <a:spLocks noGrp="1"/>
          </p:cNvSpPr>
          <p:nvPr>
            <p:ph idx="1"/>
          </p:nvPr>
        </p:nvSpPr>
        <p:spPr/>
        <p:txBody>
          <a:bodyPr/>
          <a:lstStyle/>
          <a:p>
            <a:r>
              <a:rPr lang="en-US" sz="2400" dirty="0" smtClean="0"/>
              <a:t>A </a:t>
            </a:r>
            <a:r>
              <a:rPr lang="en-US" sz="2400" dirty="0" err="1" smtClean="0"/>
              <a:t>Salesforce</a:t>
            </a:r>
            <a:r>
              <a:rPr lang="en-US" sz="2400" dirty="0" smtClean="0"/>
              <a:t> </a:t>
            </a:r>
            <a:r>
              <a:rPr lang="en-US" sz="2400" i="1" dirty="0" smtClean="0">
                <a:solidFill>
                  <a:srgbClr val="C00000"/>
                </a:solidFill>
              </a:rPr>
              <a:t>operation</a:t>
            </a:r>
            <a:r>
              <a:rPr lang="en-US" sz="2400" dirty="0" smtClean="0"/>
              <a:t> (or action) can be</a:t>
            </a:r>
          </a:p>
          <a:p>
            <a:pPr lvl="1"/>
            <a:r>
              <a:rPr lang="en-US" sz="1800" dirty="0" smtClean="0"/>
              <a:t>View, and/or</a:t>
            </a:r>
          </a:p>
          <a:p>
            <a:pPr lvl="1"/>
            <a:r>
              <a:rPr lang="en-US" sz="1800" dirty="0" smtClean="0"/>
              <a:t>Edit, and/or </a:t>
            </a:r>
          </a:p>
          <a:p>
            <a:pPr lvl="1"/>
            <a:r>
              <a:rPr lang="en-US" sz="1800" dirty="0" smtClean="0"/>
              <a:t>Delete, and/or</a:t>
            </a:r>
          </a:p>
          <a:p>
            <a:pPr lvl="1"/>
            <a:endParaRPr lang="en-US" sz="1800" dirty="0" smtClean="0"/>
          </a:p>
          <a:p>
            <a:pPr lvl="1"/>
            <a:r>
              <a:rPr lang="en-US" sz="1800" dirty="0" smtClean="0"/>
              <a:t>Private: Only users who are granted access by ownership, permissions, role hierarchy, manual sharing, or sharing rules can access the records.</a:t>
            </a:r>
          </a:p>
          <a:p>
            <a:pPr lvl="1"/>
            <a:r>
              <a:rPr lang="en-US" sz="1800" dirty="0" smtClean="0"/>
              <a:t>Public Read Only: All users can view all records for the object.</a:t>
            </a:r>
          </a:p>
          <a:p>
            <a:pPr lvl="1"/>
            <a:r>
              <a:rPr lang="en-US" sz="1800" dirty="0" smtClean="0"/>
              <a:t>Public Read/Write: All users can view and edit all records for the object.</a:t>
            </a:r>
          </a:p>
          <a:p>
            <a:pPr lvl="1"/>
            <a:r>
              <a:rPr lang="en-US" sz="1800" dirty="0" smtClean="0"/>
              <a:t>Controlled by Parent: Users can perform actions (such as view, edit, delete) on a record on the detail side of a master-detail relationship if they can perform the same action on all associated master records.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Salesforce</a:t>
            </a:r>
            <a:r>
              <a:rPr lang="en-US" dirty="0" smtClean="0"/>
              <a:t> Security Concepts (IV)</a:t>
            </a:r>
            <a:endParaRPr lang="en-US" dirty="0"/>
          </a:p>
        </p:txBody>
      </p:sp>
      <p:sp>
        <p:nvSpPr>
          <p:cNvPr id="3" name="Content Placeholder 2"/>
          <p:cNvSpPr>
            <a:spLocks noGrp="1"/>
          </p:cNvSpPr>
          <p:nvPr>
            <p:ph idx="1"/>
          </p:nvPr>
        </p:nvSpPr>
        <p:spPr/>
        <p:txBody>
          <a:bodyPr/>
          <a:lstStyle/>
          <a:p>
            <a:r>
              <a:rPr lang="en-US" sz="2400" dirty="0" smtClean="0"/>
              <a:t>An </a:t>
            </a:r>
            <a:r>
              <a:rPr lang="en-US" sz="2400" i="1" dirty="0" smtClean="0">
                <a:solidFill>
                  <a:srgbClr val="C00000"/>
                </a:solidFill>
              </a:rPr>
              <a:t>authorization rule</a:t>
            </a:r>
            <a:r>
              <a:rPr lang="en-US" sz="2400" dirty="0" smtClean="0"/>
              <a:t> is a combination of a resource, a principle and an operation that is used to determine whether </a:t>
            </a:r>
            <a:r>
              <a:rPr lang="en-US" sz="2400" u="sng" dirty="0" smtClean="0"/>
              <a:t>a principal</a:t>
            </a:r>
            <a:r>
              <a:rPr lang="en-US" sz="2400" dirty="0" smtClean="0"/>
              <a:t> is allowed to perform an </a:t>
            </a:r>
            <a:r>
              <a:rPr lang="en-US" sz="2400" u="sng" dirty="0" smtClean="0"/>
              <a:t>operation</a:t>
            </a:r>
            <a:r>
              <a:rPr lang="en-US" sz="2400" dirty="0" smtClean="0"/>
              <a:t> against a </a:t>
            </a:r>
            <a:r>
              <a:rPr lang="en-US" sz="2400" u="sng" dirty="0" smtClean="0"/>
              <a:t>resource</a:t>
            </a:r>
            <a:r>
              <a:rPr lang="en-US" sz="2400" dirty="0" smtClean="0"/>
              <a:t>.</a:t>
            </a:r>
          </a:p>
          <a:p>
            <a:r>
              <a:rPr lang="en-US" sz="2400" dirty="0" err="1" smtClean="0"/>
              <a:t>Salesforce</a:t>
            </a:r>
            <a:r>
              <a:rPr lang="en-US" sz="2400" dirty="0" smtClean="0"/>
              <a:t> </a:t>
            </a:r>
            <a:r>
              <a:rPr lang="en-US" sz="2400" i="1" dirty="0" smtClean="0">
                <a:solidFill>
                  <a:srgbClr val="C00000"/>
                </a:solidFill>
              </a:rPr>
              <a:t>Sharing Defaults</a:t>
            </a:r>
            <a:r>
              <a:rPr lang="en-US" sz="2400" dirty="0" smtClean="0"/>
              <a:t>,  or </a:t>
            </a:r>
            <a:r>
              <a:rPr lang="en-US" sz="2400" i="1" dirty="0" smtClean="0">
                <a:solidFill>
                  <a:srgbClr val="C00000"/>
                </a:solidFill>
              </a:rPr>
              <a:t>Sharing Rule</a:t>
            </a:r>
            <a:r>
              <a:rPr lang="en-US" sz="2400" dirty="0" smtClean="0"/>
              <a:t>, or </a:t>
            </a:r>
            <a:r>
              <a:rPr lang="en-US" sz="2400" i="1" dirty="0" smtClean="0">
                <a:solidFill>
                  <a:srgbClr val="C00000"/>
                </a:solidFill>
              </a:rPr>
              <a:t>Profile</a:t>
            </a:r>
            <a:r>
              <a:rPr lang="en-US" sz="2400" dirty="0" smtClean="0"/>
              <a:t> or </a:t>
            </a:r>
            <a:r>
              <a:rPr lang="en-US" sz="2400" i="1" dirty="0" smtClean="0">
                <a:solidFill>
                  <a:srgbClr val="C00000"/>
                </a:solidFill>
              </a:rPr>
              <a:t>Permission Set</a:t>
            </a:r>
            <a:r>
              <a:rPr lang="en-US" sz="2400" dirty="0" smtClean="0"/>
              <a:t> is a collection of authorization rules.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Access Control</a:t>
            </a:r>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1484313" y="1600200"/>
            <a:ext cx="6175375" cy="4841875"/>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Manage Profiles</a:t>
            </a:r>
            <a:endParaRPr lang="en-US" dirty="0"/>
          </a:p>
        </p:txBody>
      </p:sp>
      <p:sp>
        <p:nvSpPr>
          <p:cNvPr id="3" name="Content Placeholder 2"/>
          <p:cNvSpPr>
            <a:spLocks noGrp="1"/>
          </p:cNvSpPr>
          <p:nvPr>
            <p:ph idx="1"/>
          </p:nvPr>
        </p:nvSpPr>
        <p:spPr/>
        <p:txBody>
          <a:bodyPr/>
          <a:lstStyle/>
          <a:p>
            <a:r>
              <a:rPr lang="en-US" sz="1800" dirty="0" smtClean="0"/>
              <a:t>Profiles are used to specify what users assigned to that Profile can do within the instance.</a:t>
            </a:r>
          </a:p>
          <a:p>
            <a:r>
              <a:rPr lang="en-US" sz="1800" dirty="0" smtClean="0"/>
              <a:t>This includes password policies, hours during which users can log in, locations from which they can log in, which objects and fields they can access.</a:t>
            </a:r>
          </a:p>
          <a:p>
            <a:r>
              <a:rPr lang="en-US" sz="1800" dirty="0" smtClean="0"/>
              <a:t>Go to </a:t>
            </a:r>
            <a:r>
              <a:rPr lang="en-US" sz="1800" b="1" dirty="0" smtClean="0"/>
              <a:t>Setup</a:t>
            </a:r>
            <a:r>
              <a:rPr lang="en-US" sz="1800" dirty="0" smtClean="0"/>
              <a:t> </a:t>
            </a:r>
            <a:r>
              <a:rPr lang="en-US" sz="1800" dirty="0" smtClean="0">
                <a:sym typeface="Wingdings" pitchFamily="2" charset="2"/>
              </a:rPr>
              <a:t> </a:t>
            </a:r>
            <a:r>
              <a:rPr lang="en-US" sz="1800" b="1" dirty="0" smtClean="0"/>
              <a:t>Profiles</a:t>
            </a:r>
            <a:r>
              <a:rPr lang="en-US" sz="1800" dirty="0" smtClean="0"/>
              <a:t> to create, edit or delete a Profile.</a:t>
            </a:r>
          </a:p>
          <a:p>
            <a:endParaRPr lang="en-US" sz="1800" dirty="0" smtClean="0"/>
          </a:p>
        </p:txBody>
      </p:sp>
      <p:pic>
        <p:nvPicPr>
          <p:cNvPr id="37889" name="Picture 1"/>
          <p:cNvPicPr>
            <a:picLocks noChangeAspect="1" noChangeArrowheads="1"/>
          </p:cNvPicPr>
          <p:nvPr/>
        </p:nvPicPr>
        <p:blipFill>
          <a:blip r:embed="rId2" cstate="print"/>
          <a:srcRect/>
          <a:stretch>
            <a:fillRect/>
          </a:stretch>
        </p:blipFill>
        <p:spPr bwMode="auto">
          <a:xfrm>
            <a:off x="1516063" y="3429000"/>
            <a:ext cx="6111875" cy="260985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Clone a Profile</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1223963" y="1866900"/>
            <a:ext cx="6696075" cy="392430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Configure Profile Assigned Apps</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762000" y="2057400"/>
            <a:ext cx="7681330" cy="3727606"/>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Manage Permission Sets</a:t>
            </a:r>
            <a:endParaRPr lang="en-US" dirty="0"/>
          </a:p>
        </p:txBody>
      </p:sp>
      <p:sp>
        <p:nvSpPr>
          <p:cNvPr id="3" name="Content Placeholder 2"/>
          <p:cNvSpPr>
            <a:spLocks noGrp="1"/>
          </p:cNvSpPr>
          <p:nvPr>
            <p:ph idx="1"/>
          </p:nvPr>
        </p:nvSpPr>
        <p:spPr/>
        <p:txBody>
          <a:bodyPr/>
          <a:lstStyle/>
          <a:p>
            <a:r>
              <a:rPr lang="en-US" sz="2000" dirty="0" smtClean="0"/>
              <a:t>The difference between a </a:t>
            </a:r>
            <a:r>
              <a:rPr lang="en-US" sz="2000" b="1" dirty="0" smtClean="0"/>
              <a:t>Permission Set</a:t>
            </a:r>
            <a:r>
              <a:rPr lang="en-US" sz="2000" dirty="0" smtClean="0"/>
              <a:t> and a </a:t>
            </a:r>
            <a:r>
              <a:rPr lang="en-US" sz="2000" b="1" dirty="0" smtClean="0"/>
              <a:t>Profile</a:t>
            </a:r>
            <a:r>
              <a:rPr lang="en-US" sz="2000" dirty="0" smtClean="0"/>
              <a:t> is that  many Permission Sets can be assigned to specific user while only one Profile can be assigned to the user.</a:t>
            </a:r>
          </a:p>
          <a:p>
            <a:r>
              <a:rPr lang="en-US" sz="2000" dirty="0" smtClean="0"/>
              <a:t>Go to </a:t>
            </a:r>
            <a:r>
              <a:rPr lang="en-US" sz="2000" b="1" dirty="0" smtClean="0"/>
              <a:t>Setup</a:t>
            </a:r>
            <a:r>
              <a:rPr lang="en-US" sz="2000" dirty="0" smtClean="0"/>
              <a:t> </a:t>
            </a:r>
            <a:r>
              <a:rPr lang="en-US" sz="2000" dirty="0" smtClean="0">
                <a:sym typeface="Wingdings" pitchFamily="2" charset="2"/>
              </a:rPr>
              <a:t> </a:t>
            </a:r>
            <a:r>
              <a:rPr lang="en-US" sz="2000" b="1" dirty="0" smtClean="0">
                <a:sym typeface="Wingdings" pitchFamily="2" charset="2"/>
              </a:rPr>
              <a:t>Permission Sets</a:t>
            </a:r>
            <a:r>
              <a:rPr lang="en-US" sz="2000" dirty="0" smtClean="0">
                <a:sym typeface="Wingdings" pitchFamily="2" charset="2"/>
              </a:rPr>
              <a:t> </a:t>
            </a:r>
            <a:r>
              <a:rPr lang="en-US" sz="2000" dirty="0" smtClean="0"/>
              <a:t>to create, edit or delete a Permission Set.</a:t>
            </a:r>
          </a:p>
          <a:p>
            <a:endParaRPr lang="en-US" sz="2000" dirty="0" smtClean="0"/>
          </a:p>
        </p:txBody>
      </p:sp>
      <p:pic>
        <p:nvPicPr>
          <p:cNvPr id="4" name="Picture 2"/>
          <p:cNvPicPr>
            <a:picLocks noChangeAspect="1" noChangeArrowheads="1"/>
          </p:cNvPicPr>
          <p:nvPr/>
        </p:nvPicPr>
        <p:blipFill>
          <a:blip r:embed="rId2" cstate="print"/>
          <a:srcRect/>
          <a:stretch>
            <a:fillRect/>
          </a:stretch>
        </p:blipFill>
        <p:spPr bwMode="auto">
          <a:xfrm>
            <a:off x="762000" y="3048000"/>
            <a:ext cx="7590301" cy="3456599"/>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Manage Roles</a:t>
            </a:r>
            <a:endParaRPr lang="en-US" dirty="0"/>
          </a:p>
        </p:txBody>
      </p:sp>
      <p:sp>
        <p:nvSpPr>
          <p:cNvPr id="3" name="Content Placeholder 2"/>
          <p:cNvSpPr>
            <a:spLocks noGrp="1"/>
          </p:cNvSpPr>
          <p:nvPr>
            <p:ph idx="1"/>
          </p:nvPr>
        </p:nvSpPr>
        <p:spPr/>
        <p:txBody>
          <a:bodyPr/>
          <a:lstStyle/>
          <a:p>
            <a:r>
              <a:rPr lang="en-US" sz="2000" dirty="0" smtClean="0"/>
              <a:t>Roles in the role hierarchy should be created as “functional” rather than “real,” meaning that administrative assistants should be placed above their bosses in the hierarchy.</a:t>
            </a:r>
          </a:p>
          <a:p>
            <a:r>
              <a:rPr lang="en-US" sz="2000" dirty="0" smtClean="0"/>
              <a:t>Go to </a:t>
            </a:r>
            <a:r>
              <a:rPr lang="en-US" sz="2000" b="1" dirty="0" smtClean="0"/>
              <a:t>Setup</a:t>
            </a:r>
            <a:r>
              <a:rPr lang="en-US" sz="2000" dirty="0" smtClean="0"/>
              <a:t> </a:t>
            </a:r>
            <a:r>
              <a:rPr lang="en-US" sz="2000" dirty="0" smtClean="0">
                <a:sym typeface="Wingdings" pitchFamily="2" charset="2"/>
              </a:rPr>
              <a:t> </a:t>
            </a:r>
            <a:r>
              <a:rPr lang="en-US" sz="2000" b="1" dirty="0" smtClean="0"/>
              <a:t>Roles </a:t>
            </a:r>
            <a:r>
              <a:rPr lang="en-US" sz="2000" dirty="0" smtClean="0"/>
              <a:t>to create, edit or delete a Role.</a:t>
            </a:r>
          </a:p>
        </p:txBody>
      </p:sp>
      <p:pic>
        <p:nvPicPr>
          <p:cNvPr id="4099" name="Picture 3"/>
          <p:cNvPicPr>
            <a:picLocks noChangeAspect="1" noChangeArrowheads="1"/>
          </p:cNvPicPr>
          <p:nvPr/>
        </p:nvPicPr>
        <p:blipFill>
          <a:blip r:embed="rId2" cstate="print"/>
          <a:srcRect/>
          <a:stretch>
            <a:fillRect/>
          </a:stretch>
        </p:blipFill>
        <p:spPr bwMode="auto">
          <a:xfrm>
            <a:off x="1828800" y="3200400"/>
            <a:ext cx="5593080" cy="311658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Roles vs. Profiles</a:t>
            </a:r>
            <a:endParaRPr lang="en-US" dirty="0"/>
          </a:p>
        </p:txBody>
      </p:sp>
      <p:sp>
        <p:nvSpPr>
          <p:cNvPr id="3" name="Content Placeholder 2"/>
          <p:cNvSpPr>
            <a:spLocks noGrp="1"/>
          </p:cNvSpPr>
          <p:nvPr>
            <p:ph idx="1"/>
          </p:nvPr>
        </p:nvSpPr>
        <p:spPr/>
        <p:txBody>
          <a:bodyPr/>
          <a:lstStyle/>
          <a:p>
            <a:r>
              <a:rPr lang="en-US" sz="2000" i="1" dirty="0" smtClean="0">
                <a:solidFill>
                  <a:srgbClr val="C00000"/>
                </a:solidFill>
              </a:rPr>
              <a:t>Role</a:t>
            </a:r>
            <a:r>
              <a:rPr lang="en-US" sz="2000" dirty="0" smtClean="0"/>
              <a:t> defines what user is permitted to see depending on the </a:t>
            </a:r>
            <a:r>
              <a:rPr lang="en-US" sz="2000" u="sng" dirty="0" smtClean="0"/>
              <a:t>hierarchy</a:t>
            </a:r>
            <a:r>
              <a:rPr lang="en-US" sz="2000" dirty="0" smtClean="0"/>
              <a:t>. (Role helps in defining </a:t>
            </a:r>
            <a:r>
              <a:rPr lang="en-US" sz="2000" u="sng" dirty="0" smtClean="0"/>
              <a:t>data visibility</a:t>
            </a:r>
            <a:r>
              <a:rPr lang="en-US" sz="2000" dirty="0" smtClean="0"/>
              <a:t>.)</a:t>
            </a:r>
          </a:p>
          <a:p>
            <a:r>
              <a:rPr lang="en-US" sz="2000" dirty="0" smtClean="0"/>
              <a:t>Profile defines what a user is permitted to do within an ORG. (Profile defines various permissions.) These permissions include</a:t>
            </a:r>
          </a:p>
          <a:p>
            <a:pPr lvl="1"/>
            <a:r>
              <a:rPr lang="en-US" sz="1600" dirty="0" smtClean="0"/>
              <a:t>Object permissions [create, delete, read, edit permissions] </a:t>
            </a:r>
          </a:p>
          <a:p>
            <a:pPr lvl="1"/>
            <a:r>
              <a:rPr lang="en-US" sz="1600" dirty="0" smtClean="0"/>
              <a:t>Field permissions [view, edit]</a:t>
            </a:r>
          </a:p>
          <a:p>
            <a:pPr lvl="1"/>
            <a:r>
              <a:rPr lang="en-US" sz="1600" dirty="0" smtClean="0"/>
              <a:t>Record type permission</a:t>
            </a:r>
          </a:p>
          <a:p>
            <a:pPr lvl="1"/>
            <a:r>
              <a:rPr lang="en-US" sz="1600" dirty="0" smtClean="0"/>
              <a:t>Which Apps can be viewed</a:t>
            </a:r>
          </a:p>
          <a:p>
            <a:pPr lvl="1"/>
            <a:r>
              <a:rPr lang="en-US" sz="1600" dirty="0" smtClean="0"/>
              <a:t>Login hours can be defined </a:t>
            </a:r>
          </a:p>
          <a:p>
            <a:pPr lvl="1"/>
            <a:r>
              <a:rPr lang="en-US" sz="1600" dirty="0" smtClean="0"/>
              <a:t>IP address permissions </a:t>
            </a:r>
          </a:p>
          <a:p>
            <a:pPr lvl="1"/>
            <a:r>
              <a:rPr lang="en-US" sz="1600" dirty="0" smtClean="0"/>
              <a:t>Which tabs are visible</a:t>
            </a:r>
          </a:p>
          <a:p>
            <a:pPr lvl="1"/>
            <a:r>
              <a:rPr lang="en-US" sz="1600" dirty="0" smtClean="0"/>
              <a:t>Which page layouts can be viewed</a:t>
            </a:r>
          </a:p>
          <a:p>
            <a:pPr lvl="1"/>
            <a:r>
              <a:rPr lang="en-US" sz="1600" dirty="0" smtClean="0"/>
              <a:t>Apex classes, VF pages permissions.</a:t>
            </a:r>
          </a:p>
          <a:p>
            <a:r>
              <a:rPr lang="en-US" sz="2000" dirty="0" smtClean="0"/>
              <a:t>Defining profile for a user is mandatory, defining role is not.</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Manage Public Groups</a:t>
            </a:r>
            <a:endParaRPr lang="en-US" dirty="0"/>
          </a:p>
        </p:txBody>
      </p:sp>
      <p:sp>
        <p:nvSpPr>
          <p:cNvPr id="3" name="Content Placeholder 2"/>
          <p:cNvSpPr>
            <a:spLocks noGrp="1"/>
          </p:cNvSpPr>
          <p:nvPr>
            <p:ph idx="1"/>
          </p:nvPr>
        </p:nvSpPr>
        <p:spPr/>
        <p:txBody>
          <a:bodyPr/>
          <a:lstStyle/>
          <a:p>
            <a:r>
              <a:rPr lang="en-US" sz="2000" dirty="0" smtClean="0"/>
              <a:t>The difference between a </a:t>
            </a:r>
            <a:r>
              <a:rPr lang="en-US" sz="2000" b="1" dirty="0" smtClean="0"/>
              <a:t>Public Group</a:t>
            </a:r>
            <a:r>
              <a:rPr lang="en-US" sz="2000" dirty="0" smtClean="0"/>
              <a:t> and a </a:t>
            </a:r>
            <a:r>
              <a:rPr lang="en-US" sz="2000" b="1" dirty="0" smtClean="0"/>
              <a:t>Role</a:t>
            </a:r>
            <a:r>
              <a:rPr lang="en-US" sz="2000" dirty="0" smtClean="0"/>
              <a:t> is that a User can have only a Role but can belong to multiple Groups.</a:t>
            </a:r>
          </a:p>
          <a:p>
            <a:r>
              <a:rPr lang="en-US" sz="2000" dirty="0" smtClean="0"/>
              <a:t>Go to </a:t>
            </a:r>
            <a:r>
              <a:rPr lang="en-US" sz="2000" b="1" dirty="0" smtClean="0"/>
              <a:t>Setup</a:t>
            </a:r>
            <a:r>
              <a:rPr lang="en-US" sz="2000" dirty="0" smtClean="0"/>
              <a:t> </a:t>
            </a:r>
            <a:r>
              <a:rPr lang="en-US" sz="2000" dirty="0" smtClean="0">
                <a:sym typeface="Wingdings" pitchFamily="2" charset="2"/>
              </a:rPr>
              <a:t> </a:t>
            </a:r>
            <a:r>
              <a:rPr lang="en-US" sz="2000" b="1" dirty="0" smtClean="0"/>
              <a:t>Public Groups </a:t>
            </a:r>
            <a:r>
              <a:rPr lang="en-US" sz="2000" dirty="0" smtClean="0"/>
              <a:t>to create, edit or delete a Public Group.</a:t>
            </a:r>
          </a:p>
          <a:p>
            <a:endParaRPr lang="en-US" sz="2000" dirty="0" smtClean="0"/>
          </a:p>
        </p:txBody>
      </p:sp>
      <p:pic>
        <p:nvPicPr>
          <p:cNvPr id="3074" name="Picture 2"/>
          <p:cNvPicPr>
            <a:picLocks noChangeAspect="1" noChangeArrowheads="1"/>
          </p:cNvPicPr>
          <p:nvPr/>
        </p:nvPicPr>
        <p:blipFill>
          <a:blip r:embed="rId2" cstate="print"/>
          <a:srcRect/>
          <a:stretch>
            <a:fillRect/>
          </a:stretch>
        </p:blipFill>
        <p:spPr bwMode="auto">
          <a:xfrm>
            <a:off x="1441450" y="2914650"/>
            <a:ext cx="6261100" cy="340995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Manage Org Sharing Rules</a:t>
            </a:r>
            <a:endParaRPr lang="en-US" dirty="0"/>
          </a:p>
        </p:txBody>
      </p:sp>
      <p:sp>
        <p:nvSpPr>
          <p:cNvPr id="3" name="Content Placeholder 2"/>
          <p:cNvSpPr>
            <a:spLocks noGrp="1"/>
          </p:cNvSpPr>
          <p:nvPr>
            <p:ph idx="1"/>
          </p:nvPr>
        </p:nvSpPr>
        <p:spPr>
          <a:xfrm>
            <a:off x="457200" y="1600201"/>
            <a:ext cx="8229600" cy="1981200"/>
          </a:xfrm>
        </p:spPr>
        <p:txBody>
          <a:bodyPr/>
          <a:lstStyle/>
          <a:p>
            <a:r>
              <a:rPr lang="en-US" sz="2000" dirty="0" smtClean="0"/>
              <a:t>Go to </a:t>
            </a:r>
            <a:r>
              <a:rPr lang="en-US" sz="2000" b="1" dirty="0" smtClean="0"/>
              <a:t>Setup</a:t>
            </a:r>
            <a:r>
              <a:rPr lang="en-US" sz="2000" dirty="0" smtClean="0"/>
              <a:t> </a:t>
            </a:r>
            <a:r>
              <a:rPr lang="en-US" sz="2000" dirty="0" smtClean="0">
                <a:sym typeface="Wingdings" pitchFamily="2" charset="2"/>
              </a:rPr>
              <a:t> </a:t>
            </a:r>
            <a:r>
              <a:rPr lang="en-US" sz="2000" b="1" dirty="0" smtClean="0">
                <a:sym typeface="Wingdings" pitchFamily="2" charset="2"/>
              </a:rPr>
              <a:t>Sharing Settings</a:t>
            </a:r>
            <a:r>
              <a:rPr lang="en-US" sz="2000" dirty="0" smtClean="0">
                <a:sym typeface="Wingdings" pitchFamily="2" charset="2"/>
              </a:rPr>
              <a:t>.</a:t>
            </a:r>
          </a:p>
          <a:p>
            <a:r>
              <a:rPr lang="en-US" sz="2000" dirty="0" smtClean="0">
                <a:sym typeface="Wingdings" pitchFamily="2" charset="2"/>
              </a:rPr>
              <a:t>Click the </a:t>
            </a:r>
            <a:r>
              <a:rPr lang="en-US" sz="2000" b="1" dirty="0" smtClean="0">
                <a:sym typeface="Wingdings" pitchFamily="2" charset="2"/>
              </a:rPr>
              <a:t>Edit</a:t>
            </a:r>
            <a:r>
              <a:rPr lang="en-US" sz="2000" dirty="0" smtClean="0">
                <a:sym typeface="Wingdings" pitchFamily="2" charset="2"/>
              </a:rPr>
              <a:t> button beside the </a:t>
            </a:r>
            <a:r>
              <a:rPr lang="en-US" sz="2000" i="1" dirty="0" smtClean="0">
                <a:sym typeface="Wingdings" pitchFamily="2" charset="2"/>
              </a:rPr>
              <a:t>Organization-Wide Defaults</a:t>
            </a:r>
            <a:r>
              <a:rPr lang="en-US" sz="2000" dirty="0" smtClean="0">
                <a:sym typeface="Wingdings" pitchFamily="2" charset="2"/>
              </a:rPr>
              <a:t> label.</a:t>
            </a:r>
          </a:p>
          <a:p>
            <a:r>
              <a:rPr lang="en-US" sz="2000" dirty="0" smtClean="0"/>
              <a:t>Then we can make all Accounts </a:t>
            </a:r>
            <a:r>
              <a:rPr lang="en-US" sz="2000" i="1" dirty="0" smtClean="0">
                <a:solidFill>
                  <a:srgbClr val="C00000"/>
                </a:solidFill>
              </a:rPr>
              <a:t>Private</a:t>
            </a:r>
            <a:r>
              <a:rPr lang="en-US" sz="2000" dirty="0" smtClean="0"/>
              <a:t> for example, meaning that only the person who “owns” that record can see it.</a:t>
            </a:r>
          </a:p>
        </p:txBody>
      </p:sp>
      <p:pic>
        <p:nvPicPr>
          <p:cNvPr id="1026" name="Picture 2"/>
          <p:cNvPicPr>
            <a:picLocks noChangeAspect="1" noChangeArrowheads="1"/>
          </p:cNvPicPr>
          <p:nvPr/>
        </p:nvPicPr>
        <p:blipFill>
          <a:blip r:embed="rId2" cstate="print"/>
          <a:srcRect/>
          <a:stretch>
            <a:fillRect/>
          </a:stretch>
        </p:blipFill>
        <p:spPr bwMode="auto">
          <a:xfrm>
            <a:off x="762000" y="3171419"/>
            <a:ext cx="7674680" cy="3381781"/>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Create a Custom Sharing Rule</a:t>
            </a:r>
            <a:endParaRPr lang="en-US" dirty="0"/>
          </a:p>
        </p:txBody>
      </p:sp>
      <p:sp>
        <p:nvSpPr>
          <p:cNvPr id="3" name="Content Placeholder 2"/>
          <p:cNvSpPr>
            <a:spLocks noGrp="1"/>
          </p:cNvSpPr>
          <p:nvPr>
            <p:ph idx="1"/>
          </p:nvPr>
        </p:nvSpPr>
        <p:spPr/>
        <p:txBody>
          <a:bodyPr/>
          <a:lstStyle/>
          <a:p>
            <a:r>
              <a:rPr lang="en-US" sz="1800" dirty="0" smtClean="0"/>
              <a:t>Go to </a:t>
            </a:r>
            <a:r>
              <a:rPr lang="en-US" sz="1800" b="1" dirty="0" smtClean="0"/>
              <a:t>Setup</a:t>
            </a:r>
            <a:r>
              <a:rPr lang="en-US" sz="1800" dirty="0" smtClean="0"/>
              <a:t> </a:t>
            </a:r>
            <a:r>
              <a:rPr lang="en-US" sz="1800" dirty="0" smtClean="0">
                <a:sym typeface="Wingdings" pitchFamily="2" charset="2"/>
              </a:rPr>
              <a:t> </a:t>
            </a:r>
            <a:r>
              <a:rPr lang="en-US" sz="1800" b="1" dirty="0" smtClean="0">
                <a:sym typeface="Wingdings" pitchFamily="2" charset="2"/>
              </a:rPr>
              <a:t>Sharing Settings</a:t>
            </a:r>
            <a:r>
              <a:rPr lang="en-US" sz="1800" dirty="0" smtClean="0">
                <a:sym typeface="Wingdings" pitchFamily="2" charset="2"/>
              </a:rPr>
              <a:t>.</a:t>
            </a:r>
          </a:p>
          <a:p>
            <a:r>
              <a:rPr lang="en-US" sz="1800" dirty="0" smtClean="0">
                <a:sym typeface="Wingdings" pitchFamily="2" charset="2"/>
              </a:rPr>
              <a:t>Click the </a:t>
            </a:r>
            <a:r>
              <a:rPr lang="en-US" sz="1800" b="1" dirty="0" smtClean="0">
                <a:sym typeface="Wingdings" pitchFamily="2" charset="2"/>
              </a:rPr>
              <a:t>New</a:t>
            </a:r>
            <a:r>
              <a:rPr lang="en-US" sz="1800" dirty="0" smtClean="0">
                <a:sym typeface="Wingdings" pitchFamily="2" charset="2"/>
              </a:rPr>
              <a:t> button beside the </a:t>
            </a:r>
            <a:r>
              <a:rPr lang="en-US" sz="1800" b="1" dirty="0" smtClean="0">
                <a:sym typeface="Wingdings" pitchFamily="2" charset="2"/>
              </a:rPr>
              <a:t>Case Sharing Rules</a:t>
            </a:r>
            <a:r>
              <a:rPr lang="en-US" sz="1800" dirty="0" smtClean="0">
                <a:sym typeface="Wingdings" pitchFamily="2" charset="2"/>
              </a:rPr>
              <a:t> label. </a:t>
            </a:r>
            <a:r>
              <a:rPr lang="en-US" sz="1800" dirty="0" smtClean="0"/>
              <a:t>Then we can customize Case permissions for Groups or Roles. (Please replace the Case object by any other object.)</a:t>
            </a:r>
          </a:p>
        </p:txBody>
      </p:sp>
      <p:pic>
        <p:nvPicPr>
          <p:cNvPr id="2050" name="Picture 2"/>
          <p:cNvPicPr>
            <a:picLocks noChangeAspect="1" noChangeArrowheads="1"/>
          </p:cNvPicPr>
          <p:nvPr/>
        </p:nvPicPr>
        <p:blipFill>
          <a:blip r:embed="rId2" cstate="print"/>
          <a:srcRect/>
          <a:stretch>
            <a:fillRect/>
          </a:stretch>
        </p:blipFill>
        <p:spPr bwMode="auto">
          <a:xfrm>
            <a:off x="1341438" y="2971800"/>
            <a:ext cx="6461125" cy="3365500"/>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Configure Custom Sharing Rule</a:t>
            </a:r>
            <a:endParaRPr lang="en-US" dirty="0"/>
          </a:p>
        </p:txBody>
      </p:sp>
      <p:sp>
        <p:nvSpPr>
          <p:cNvPr id="3" name="Content Placeholder 2"/>
          <p:cNvSpPr>
            <a:spLocks noGrp="1"/>
          </p:cNvSpPr>
          <p:nvPr>
            <p:ph idx="1"/>
          </p:nvPr>
        </p:nvSpPr>
        <p:spPr/>
        <p:txBody>
          <a:bodyPr/>
          <a:lstStyle/>
          <a:p>
            <a:r>
              <a:rPr lang="en-US" sz="2000" dirty="0" smtClean="0"/>
              <a:t>Select a Role or Group for configuring permissions.</a:t>
            </a:r>
            <a:endParaRPr lang="en-US" sz="2000" dirty="0" smtClean="0">
              <a:sym typeface="Wingdings" pitchFamily="2" charset="2"/>
            </a:endParaRPr>
          </a:p>
        </p:txBody>
      </p:sp>
      <p:pic>
        <p:nvPicPr>
          <p:cNvPr id="1027" name="Picture 3"/>
          <p:cNvPicPr>
            <a:picLocks noChangeAspect="1" noChangeArrowheads="1"/>
          </p:cNvPicPr>
          <p:nvPr/>
        </p:nvPicPr>
        <p:blipFill>
          <a:blip r:embed="rId2" cstate="print"/>
          <a:srcRect/>
          <a:stretch>
            <a:fillRect/>
          </a:stretch>
        </p:blipFill>
        <p:spPr bwMode="auto">
          <a:xfrm>
            <a:off x="606425" y="2320925"/>
            <a:ext cx="7931150" cy="3927475"/>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User's Permissions</a:t>
            </a:r>
            <a:endParaRPr lang="en-US" dirty="0"/>
          </a:p>
        </p:txBody>
      </p:sp>
      <p:sp>
        <p:nvSpPr>
          <p:cNvPr id="3" name="Content Placeholder 2"/>
          <p:cNvSpPr>
            <a:spLocks noGrp="1"/>
          </p:cNvSpPr>
          <p:nvPr>
            <p:ph idx="1"/>
          </p:nvPr>
        </p:nvSpPr>
        <p:spPr/>
        <p:txBody>
          <a:bodyPr/>
          <a:lstStyle/>
          <a:p>
            <a:r>
              <a:rPr lang="en-US" sz="2000" dirty="0" smtClean="0"/>
              <a:t>A user</a:t>
            </a:r>
          </a:p>
          <a:p>
            <a:pPr lvl="1"/>
            <a:r>
              <a:rPr lang="en-US" sz="1800" dirty="0" smtClean="0"/>
              <a:t>must belong to an ORG (with Sharing Rules)</a:t>
            </a:r>
          </a:p>
          <a:p>
            <a:pPr lvl="1"/>
            <a:r>
              <a:rPr lang="en-US" sz="1800" dirty="0" smtClean="0"/>
              <a:t>can have a Role, </a:t>
            </a:r>
          </a:p>
          <a:p>
            <a:pPr lvl="1"/>
            <a:r>
              <a:rPr lang="en-US" sz="1800" dirty="0" smtClean="0"/>
              <a:t>must have a Profile, </a:t>
            </a:r>
          </a:p>
          <a:p>
            <a:pPr lvl="1"/>
            <a:r>
              <a:rPr lang="en-US" sz="1800" dirty="0" smtClean="0"/>
              <a:t>can belong to multiple Public Groups and </a:t>
            </a:r>
          </a:p>
          <a:p>
            <a:pPr lvl="1"/>
            <a:r>
              <a:rPr lang="en-US" sz="1800" dirty="0" smtClean="0"/>
              <a:t>can be assigned multiple Permission Sets.</a:t>
            </a:r>
          </a:p>
          <a:p>
            <a:r>
              <a:rPr lang="en-US" sz="2000" dirty="0" smtClean="0"/>
              <a:t>Therefore </a:t>
            </a:r>
            <a:r>
              <a:rPr lang="en-US" sz="2000" i="1" dirty="0" smtClean="0">
                <a:solidFill>
                  <a:srgbClr val="C00000"/>
                </a:solidFill>
              </a:rPr>
              <a:t>to review all user’s permissions</a:t>
            </a:r>
            <a:r>
              <a:rPr lang="en-US" sz="2000" dirty="0" smtClean="0"/>
              <a:t> we need to review all the permissions that a defined in </a:t>
            </a:r>
          </a:p>
          <a:p>
            <a:pPr lvl="1"/>
            <a:r>
              <a:rPr lang="en-US" sz="1800" dirty="0" smtClean="0"/>
              <a:t>the Sharing Rules, </a:t>
            </a:r>
          </a:p>
          <a:p>
            <a:pPr lvl="1"/>
            <a:r>
              <a:rPr lang="en-US" sz="1800" dirty="0" smtClean="0"/>
              <a:t>the Role, </a:t>
            </a:r>
          </a:p>
          <a:p>
            <a:pPr lvl="1"/>
            <a:r>
              <a:rPr lang="en-US" sz="1800" dirty="0" smtClean="0"/>
              <a:t>the Profiles, </a:t>
            </a:r>
          </a:p>
          <a:p>
            <a:pPr lvl="1"/>
            <a:r>
              <a:rPr lang="en-US" sz="1800" dirty="0" smtClean="0"/>
              <a:t>the Public Groups, and </a:t>
            </a:r>
          </a:p>
          <a:p>
            <a:pPr lvl="1"/>
            <a:r>
              <a:rPr lang="en-US" sz="1800" dirty="0" smtClean="0"/>
              <a:t>the Permission Sets </a:t>
            </a:r>
          </a:p>
          <a:p>
            <a:pPr lvl="1">
              <a:buNone/>
            </a:pPr>
            <a:r>
              <a:rPr lang="en-US" sz="2000" i="1" dirty="0" smtClean="0">
                <a:solidFill>
                  <a:srgbClr val="C00000"/>
                </a:solidFill>
              </a:rPr>
              <a:t>assigned to the User</a:t>
            </a:r>
            <a:r>
              <a:rPr lang="en-US" sz="2000" dirty="0" smtClean="0"/>
              <a:t>, including hierarchy of these permissions.</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dirty="0" smtClean="0"/>
              <a:t>Company (ORG) Security Model</a:t>
            </a:r>
            <a:endParaRPr lang="en-US" sz="4200" dirty="0"/>
          </a:p>
        </p:txBody>
      </p:sp>
      <p:sp>
        <p:nvSpPr>
          <p:cNvPr id="3" name="Content Placeholder 2"/>
          <p:cNvSpPr>
            <a:spLocks noGrp="1"/>
          </p:cNvSpPr>
          <p:nvPr>
            <p:ph idx="1"/>
          </p:nvPr>
        </p:nvSpPr>
        <p:spPr/>
        <p:txBody>
          <a:bodyPr>
            <a:normAutofit/>
          </a:bodyPr>
          <a:lstStyle/>
          <a:p>
            <a:r>
              <a:rPr lang="en-US" sz="2400" dirty="0" smtClean="0"/>
              <a:t>Log in </a:t>
            </a:r>
            <a:r>
              <a:rPr lang="en-US" sz="2400" dirty="0" err="1" smtClean="0"/>
              <a:t>Salesforce</a:t>
            </a:r>
            <a:r>
              <a:rPr lang="en-US" sz="2400" dirty="0" smtClean="0"/>
              <a:t> company (ORG) as administrator to review or document the company security model.</a:t>
            </a:r>
          </a:p>
          <a:p>
            <a:r>
              <a:rPr lang="en-US" sz="2400" dirty="0" smtClean="0"/>
              <a:t>Basically we need to review or document</a:t>
            </a:r>
          </a:p>
          <a:p>
            <a:pPr lvl="1"/>
            <a:r>
              <a:rPr lang="en-US" sz="2000" dirty="0" smtClean="0"/>
              <a:t>ORG Sharing Rules,</a:t>
            </a:r>
          </a:p>
          <a:p>
            <a:pPr lvl="1"/>
            <a:r>
              <a:rPr lang="en-US" sz="2000" dirty="0" smtClean="0"/>
              <a:t>Roles,</a:t>
            </a:r>
          </a:p>
          <a:p>
            <a:pPr lvl="1"/>
            <a:r>
              <a:rPr lang="en-US" sz="2000" dirty="0" smtClean="0"/>
              <a:t>Profiles,</a:t>
            </a:r>
          </a:p>
          <a:p>
            <a:pPr lvl="1"/>
            <a:r>
              <a:rPr lang="en-US" sz="2000" dirty="0" smtClean="0"/>
              <a:t>Public Groups, and</a:t>
            </a:r>
          </a:p>
          <a:p>
            <a:pPr lvl="1"/>
            <a:r>
              <a:rPr lang="en-US" sz="2000" dirty="0" smtClean="0"/>
              <a:t>Permission Sets.</a:t>
            </a:r>
          </a:p>
          <a:p>
            <a:pPr lvl="1"/>
            <a:r>
              <a:rPr lang="en-US" sz="2000" dirty="0" smtClean="0"/>
              <a:t>users and their corresponding role, profile, groups and permission sets.</a:t>
            </a:r>
          </a:p>
          <a:p>
            <a:pPr lvl="1"/>
            <a:r>
              <a:rPr lang="en-US" sz="2000" dirty="0" smtClean="0"/>
              <a:t>objects/fields and the corresponding role, profile, groups and permission sets related to them.</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dirty="0" smtClean="0"/>
              <a:t>1. Review Object Permissions</a:t>
            </a:r>
            <a:endParaRPr lang="en-US" dirty="0"/>
          </a:p>
        </p:txBody>
      </p:sp>
      <p:sp>
        <p:nvSpPr>
          <p:cNvPr id="3" name="Content Placeholder 2"/>
          <p:cNvSpPr>
            <a:spLocks noGrp="1"/>
          </p:cNvSpPr>
          <p:nvPr>
            <p:ph idx="1"/>
          </p:nvPr>
        </p:nvSpPr>
        <p:spPr/>
        <p:txBody>
          <a:bodyPr>
            <a:normAutofit/>
          </a:bodyPr>
          <a:lstStyle/>
          <a:p>
            <a:r>
              <a:rPr lang="en-US" sz="2200" dirty="0" smtClean="0"/>
              <a:t>Authorization rules: from a principle to objects.</a:t>
            </a:r>
          </a:p>
          <a:p>
            <a:r>
              <a:rPr lang="en-US" sz="2200" dirty="0" smtClean="0"/>
              <a:t>Go to </a:t>
            </a:r>
            <a:r>
              <a:rPr lang="en-US" sz="2200" b="1" dirty="0" smtClean="0"/>
              <a:t>Setup</a:t>
            </a:r>
            <a:r>
              <a:rPr lang="en-US" sz="2200" dirty="0" smtClean="0"/>
              <a:t> </a:t>
            </a:r>
            <a:r>
              <a:rPr lang="en-US" sz="2200" dirty="0" smtClean="0">
                <a:sym typeface="Wingdings" pitchFamily="2" charset="2"/>
              </a:rPr>
              <a:t> </a:t>
            </a:r>
            <a:r>
              <a:rPr lang="en-US" sz="2200" b="1" dirty="0" smtClean="0"/>
              <a:t>Profiles</a:t>
            </a:r>
            <a:r>
              <a:rPr lang="en-US" sz="2200" dirty="0" smtClean="0"/>
              <a:t> , click on a profile name.</a:t>
            </a:r>
          </a:p>
          <a:p>
            <a:r>
              <a:rPr lang="en-US" sz="2200" dirty="0" smtClean="0"/>
              <a:t>Scroll down to the </a:t>
            </a:r>
            <a:r>
              <a:rPr lang="en-US" sz="2200" b="1" dirty="0" smtClean="0"/>
              <a:t>Custom Object Permissions</a:t>
            </a:r>
            <a:r>
              <a:rPr lang="en-US" sz="2200" dirty="0" smtClean="0"/>
              <a:t> section.</a:t>
            </a:r>
          </a:p>
          <a:p>
            <a:endParaRPr lang="en-US" sz="2200" dirty="0"/>
          </a:p>
        </p:txBody>
      </p:sp>
      <p:pic>
        <p:nvPicPr>
          <p:cNvPr id="4" name="Picture 2"/>
          <p:cNvPicPr>
            <a:picLocks noChangeAspect="1" noChangeArrowheads="1"/>
          </p:cNvPicPr>
          <p:nvPr/>
        </p:nvPicPr>
        <p:blipFill>
          <a:blip r:embed="rId2" cstate="print"/>
          <a:srcRect/>
          <a:stretch>
            <a:fillRect/>
          </a:stretch>
        </p:blipFill>
        <p:spPr bwMode="auto">
          <a:xfrm>
            <a:off x="457200" y="3043047"/>
            <a:ext cx="8270367" cy="3357753"/>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dirty="0" smtClean="0"/>
              <a:t>2. Review Field Permissions</a:t>
            </a:r>
            <a:endParaRPr lang="en-US" dirty="0"/>
          </a:p>
        </p:txBody>
      </p:sp>
      <p:sp>
        <p:nvSpPr>
          <p:cNvPr id="3" name="Content Placeholder 2"/>
          <p:cNvSpPr>
            <a:spLocks noGrp="1"/>
          </p:cNvSpPr>
          <p:nvPr>
            <p:ph idx="1"/>
          </p:nvPr>
        </p:nvSpPr>
        <p:spPr/>
        <p:txBody>
          <a:bodyPr>
            <a:normAutofit/>
          </a:bodyPr>
          <a:lstStyle/>
          <a:p>
            <a:r>
              <a:rPr lang="en-US" sz="2000" dirty="0" smtClean="0"/>
              <a:t>Authorization rule: from object to principles.</a:t>
            </a:r>
          </a:p>
          <a:p>
            <a:r>
              <a:rPr lang="en-US" sz="2000" dirty="0" smtClean="0"/>
              <a:t>Go to </a:t>
            </a:r>
            <a:r>
              <a:rPr lang="en-US" sz="2000" b="1" dirty="0" smtClean="0"/>
              <a:t>Setup</a:t>
            </a:r>
            <a:r>
              <a:rPr lang="en-US" sz="2000" dirty="0" smtClean="0"/>
              <a:t> </a:t>
            </a:r>
            <a:r>
              <a:rPr lang="en-US" sz="2000" dirty="0" smtClean="0">
                <a:sym typeface="Wingdings" pitchFamily="2" charset="2"/>
              </a:rPr>
              <a:t> </a:t>
            </a:r>
            <a:r>
              <a:rPr lang="en-US" sz="2000" b="1" dirty="0" smtClean="0"/>
              <a:t>Object Manager</a:t>
            </a:r>
            <a:r>
              <a:rPr lang="en-US" sz="2000" dirty="0" smtClean="0"/>
              <a:t> , click on an object name.</a:t>
            </a:r>
          </a:p>
          <a:p>
            <a:r>
              <a:rPr lang="en-US" sz="2000" dirty="0" smtClean="0"/>
              <a:t>Click </a:t>
            </a:r>
            <a:r>
              <a:rPr lang="en-US" sz="2000" b="1" dirty="0" smtClean="0"/>
              <a:t>Fields &amp; Relationships</a:t>
            </a:r>
            <a:r>
              <a:rPr lang="en-US" sz="2000" dirty="0" smtClean="0"/>
              <a:t>, click a </a:t>
            </a:r>
            <a:r>
              <a:rPr lang="en-US" sz="2000" b="1" dirty="0" smtClean="0">
                <a:solidFill>
                  <a:srgbClr val="C00000"/>
                </a:solidFill>
              </a:rPr>
              <a:t>custom</a:t>
            </a:r>
            <a:r>
              <a:rPr lang="en-US" sz="2000" dirty="0" smtClean="0"/>
              <a:t> field label (not a built-in field label), click</a:t>
            </a:r>
            <a:r>
              <a:rPr lang="en-US" sz="2000" b="1" dirty="0" smtClean="0"/>
              <a:t> Set Field-Level Security</a:t>
            </a:r>
            <a:r>
              <a:rPr lang="en-US" sz="2000" dirty="0" smtClean="0"/>
              <a:t> button.</a:t>
            </a:r>
          </a:p>
        </p:txBody>
      </p:sp>
      <p:pic>
        <p:nvPicPr>
          <p:cNvPr id="5" name="Picture 2"/>
          <p:cNvPicPr>
            <a:picLocks noChangeAspect="1" noChangeArrowheads="1"/>
          </p:cNvPicPr>
          <p:nvPr/>
        </p:nvPicPr>
        <p:blipFill>
          <a:blip r:embed="rId2" cstate="print"/>
          <a:srcRect/>
          <a:stretch>
            <a:fillRect/>
          </a:stretch>
        </p:blipFill>
        <p:spPr bwMode="auto">
          <a:xfrm>
            <a:off x="679450" y="3263900"/>
            <a:ext cx="7785100" cy="2908300"/>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3800" dirty="0" smtClean="0"/>
              <a:t>3. Review Field Permissions using the </a:t>
            </a:r>
            <a:r>
              <a:rPr lang="en-US" sz="3800" dirty="0" err="1" smtClean="0"/>
              <a:t>Welkinsuite</a:t>
            </a:r>
            <a:endParaRPr lang="en-US" sz="3800" dirty="0"/>
          </a:p>
        </p:txBody>
      </p:sp>
      <p:sp>
        <p:nvSpPr>
          <p:cNvPr id="3" name="Content Placeholder 2"/>
          <p:cNvSpPr>
            <a:spLocks noGrp="1"/>
          </p:cNvSpPr>
          <p:nvPr>
            <p:ph idx="1"/>
          </p:nvPr>
        </p:nvSpPr>
        <p:spPr/>
        <p:txBody>
          <a:bodyPr>
            <a:normAutofit/>
          </a:bodyPr>
          <a:lstStyle/>
          <a:p>
            <a:r>
              <a:rPr lang="en-US" sz="2000" dirty="0" smtClean="0"/>
              <a:t>This IDE allows editing field-level security for multiple profiles in one window.</a:t>
            </a:r>
          </a:p>
          <a:p>
            <a:r>
              <a:rPr lang="en-US" sz="2000" dirty="0" smtClean="0">
                <a:hlinkClick r:id="rId2"/>
              </a:rPr>
              <a:t>https://www.youtube.com/watch?v=PC1FffI5Pa0</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Open Profile Object Settings</a:t>
            </a:r>
            <a:endParaRPr lang="en-US" dirty="0"/>
          </a:p>
        </p:txBody>
      </p:sp>
      <p:sp>
        <p:nvSpPr>
          <p:cNvPr id="3" name="Content Placeholder 2"/>
          <p:cNvSpPr>
            <a:spLocks noGrp="1"/>
          </p:cNvSpPr>
          <p:nvPr>
            <p:ph idx="1"/>
          </p:nvPr>
        </p:nvSpPr>
        <p:spPr/>
        <p:txBody>
          <a:bodyPr>
            <a:normAutofit/>
          </a:bodyPr>
          <a:lstStyle/>
          <a:p>
            <a:r>
              <a:rPr lang="en-US" sz="2400" i="1" dirty="0" smtClean="0">
                <a:solidFill>
                  <a:srgbClr val="C00000"/>
                </a:solidFill>
              </a:rPr>
              <a:t>Purpose</a:t>
            </a:r>
            <a:r>
              <a:rPr lang="en-US" sz="2400" dirty="0" smtClean="0"/>
              <a:t>: To enable/disable access to an object for a profile.</a:t>
            </a:r>
          </a:p>
          <a:p>
            <a:endParaRPr lang="en-US" sz="2400" dirty="0"/>
          </a:p>
        </p:txBody>
      </p:sp>
      <p:pic>
        <p:nvPicPr>
          <p:cNvPr id="1026" name="Picture 2"/>
          <p:cNvPicPr>
            <a:picLocks noChangeAspect="1" noChangeArrowheads="1"/>
          </p:cNvPicPr>
          <p:nvPr/>
        </p:nvPicPr>
        <p:blipFill>
          <a:blip r:embed="rId2" cstate="print"/>
          <a:srcRect/>
          <a:stretch>
            <a:fillRect/>
          </a:stretch>
        </p:blipFill>
        <p:spPr bwMode="auto">
          <a:xfrm>
            <a:off x="827088" y="2854325"/>
            <a:ext cx="7489825" cy="3317875"/>
          </a:xfrm>
          <a:prstGeom prst="rect">
            <a:avLst/>
          </a:prstGeom>
          <a:noFill/>
          <a:ln w="9525">
            <a:noFill/>
            <a:miter lim="800000"/>
            <a:headEnd/>
            <a:tailEnd/>
          </a:ln>
        </p:spPr>
      </p:pic>
      <p:sp>
        <p:nvSpPr>
          <p:cNvPr id="6" name="Down Arrow 5"/>
          <p:cNvSpPr/>
          <p:nvPr/>
        </p:nvSpPr>
        <p:spPr>
          <a:xfrm>
            <a:off x="6400800" y="4648200"/>
            <a:ext cx="1219200" cy="685800"/>
          </a:xfrm>
          <a:prstGeom prst="downArrow">
            <a:avLst/>
          </a:prstGeom>
          <a:solidFill>
            <a:schemeClr val="accent2">
              <a:alpha val="70000"/>
            </a:schemeClr>
          </a:solidFill>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cstate="print"/>
          <a:srcRect/>
          <a:stretch>
            <a:fillRect/>
          </a:stretch>
        </p:blipFill>
        <p:spPr bwMode="auto">
          <a:xfrm>
            <a:off x="744538" y="2362200"/>
            <a:ext cx="7654925" cy="2676525"/>
          </a:xfrm>
          <a:prstGeom prst="rect">
            <a:avLst/>
          </a:prstGeom>
          <a:noFill/>
          <a:ln w="9525">
            <a:noFill/>
            <a:miter lim="800000"/>
            <a:headEnd/>
            <a:tailEnd/>
          </a:ln>
        </p:spPr>
      </p:pic>
      <p:sp>
        <p:nvSpPr>
          <p:cNvPr id="2" name="Title 1"/>
          <p:cNvSpPr>
            <a:spLocks noGrp="1"/>
          </p:cNvSpPr>
          <p:nvPr>
            <p:ph type="title"/>
          </p:nvPr>
        </p:nvSpPr>
        <p:spPr/>
        <p:txBody>
          <a:bodyPr/>
          <a:lstStyle/>
          <a:p>
            <a:pPr algn="l"/>
            <a:r>
              <a:rPr lang="en-US" dirty="0" smtClean="0"/>
              <a:t>2. Open an Object</a:t>
            </a:r>
            <a:endParaRPr lang="en-US" dirty="0"/>
          </a:p>
        </p:txBody>
      </p:sp>
      <p:sp>
        <p:nvSpPr>
          <p:cNvPr id="6" name="Down Arrow 5"/>
          <p:cNvSpPr/>
          <p:nvPr/>
        </p:nvSpPr>
        <p:spPr>
          <a:xfrm>
            <a:off x="3124200" y="3514725"/>
            <a:ext cx="1219200" cy="685800"/>
          </a:xfrm>
          <a:prstGeom prst="downArrow">
            <a:avLst/>
          </a:prstGeom>
          <a:solidFill>
            <a:schemeClr val="accent2">
              <a:alpha val="70000"/>
            </a:schemeClr>
          </a:solidFill>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1258888" y="1828800"/>
            <a:ext cx="6626225" cy="4572000"/>
          </a:xfrm>
          <a:prstGeom prst="rect">
            <a:avLst/>
          </a:prstGeom>
          <a:noFill/>
          <a:ln w="9525">
            <a:noFill/>
            <a:miter lim="800000"/>
            <a:headEnd/>
            <a:tailEnd/>
          </a:ln>
        </p:spPr>
      </p:pic>
      <p:sp>
        <p:nvSpPr>
          <p:cNvPr id="2" name="Title 1"/>
          <p:cNvSpPr>
            <a:spLocks noGrp="1"/>
          </p:cNvSpPr>
          <p:nvPr>
            <p:ph type="title"/>
          </p:nvPr>
        </p:nvSpPr>
        <p:spPr/>
        <p:txBody>
          <a:bodyPr/>
          <a:lstStyle/>
          <a:p>
            <a:pPr algn="l"/>
            <a:r>
              <a:rPr lang="en-US" dirty="0" smtClean="0"/>
              <a:t>3. Edit Object Permissions</a:t>
            </a:r>
            <a:endParaRPr lang="en-US" dirty="0"/>
          </a:p>
        </p:txBody>
      </p:sp>
      <p:sp>
        <p:nvSpPr>
          <p:cNvPr id="6" name="Down Arrow 5"/>
          <p:cNvSpPr/>
          <p:nvPr/>
        </p:nvSpPr>
        <p:spPr>
          <a:xfrm>
            <a:off x="6248400" y="3581400"/>
            <a:ext cx="1219200" cy="685800"/>
          </a:xfrm>
          <a:prstGeom prst="downArrow">
            <a:avLst/>
          </a:prstGeom>
          <a:solidFill>
            <a:schemeClr val="accent2">
              <a:alpha val="70000"/>
            </a:schemeClr>
          </a:solidFill>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a:t>
            </a:r>
            <a:r>
              <a:rPr lang="en-US" smtClean="0"/>
              <a:t>Modify </a:t>
            </a:r>
            <a:r>
              <a:rPr lang="en-US" dirty="0" smtClean="0"/>
              <a:t>Permissions</a:t>
            </a:r>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1195388" y="1628775"/>
            <a:ext cx="6753225" cy="4619625"/>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Create a Permission Set</a:t>
            </a:r>
            <a:endParaRPr lang="en-US" dirty="0"/>
          </a:p>
        </p:txBody>
      </p:sp>
      <p:sp>
        <p:nvSpPr>
          <p:cNvPr id="3" name="Content Placeholder 2"/>
          <p:cNvSpPr>
            <a:spLocks noGrp="1"/>
          </p:cNvSpPr>
          <p:nvPr>
            <p:ph idx="1"/>
          </p:nvPr>
        </p:nvSpPr>
        <p:spPr/>
        <p:txBody>
          <a:bodyPr>
            <a:normAutofit/>
          </a:bodyPr>
          <a:lstStyle/>
          <a:p>
            <a:r>
              <a:rPr lang="en-US" sz="2400" i="1" dirty="0" smtClean="0">
                <a:solidFill>
                  <a:srgbClr val="C00000"/>
                </a:solidFill>
              </a:rPr>
              <a:t>Purpose</a:t>
            </a:r>
            <a:r>
              <a:rPr lang="en-US" sz="2400" dirty="0" smtClean="0"/>
              <a:t>: To Enable/Disable MFA for a User.</a:t>
            </a:r>
          </a:p>
          <a:p>
            <a:endParaRPr lang="en-US" sz="2400" dirty="0"/>
          </a:p>
        </p:txBody>
      </p:sp>
      <p:pic>
        <p:nvPicPr>
          <p:cNvPr id="4" name="Picture 2"/>
          <p:cNvPicPr>
            <a:picLocks noChangeAspect="1" noChangeArrowheads="1"/>
          </p:cNvPicPr>
          <p:nvPr/>
        </p:nvPicPr>
        <p:blipFill>
          <a:blip r:embed="rId2" cstate="print"/>
          <a:srcRect/>
          <a:stretch>
            <a:fillRect/>
          </a:stretch>
        </p:blipFill>
        <p:spPr bwMode="auto">
          <a:xfrm>
            <a:off x="1676400" y="2438400"/>
            <a:ext cx="5573952" cy="3740908"/>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Edit System Permissions</a:t>
            </a:r>
            <a:endParaRPr lang="en-US" dirty="0"/>
          </a:p>
        </p:txBody>
      </p:sp>
      <p:sp>
        <p:nvSpPr>
          <p:cNvPr id="3" name="Content Placeholder 2"/>
          <p:cNvSpPr>
            <a:spLocks noGrp="1"/>
          </p:cNvSpPr>
          <p:nvPr>
            <p:ph idx="1"/>
          </p:nvPr>
        </p:nvSpPr>
        <p:spPr/>
        <p:txBody>
          <a:bodyPr>
            <a:normAutofit/>
          </a:bodyPr>
          <a:lstStyle/>
          <a:p>
            <a:r>
              <a:rPr lang="en-US" sz="2400" dirty="0" smtClean="0"/>
              <a:t>Open Permission Set.</a:t>
            </a:r>
          </a:p>
          <a:p>
            <a:r>
              <a:rPr lang="en-US" sz="2400" dirty="0" smtClean="0"/>
              <a:t>Scroll down to </a:t>
            </a:r>
            <a:r>
              <a:rPr lang="en-US" sz="2400" b="1" dirty="0" smtClean="0"/>
              <a:t>System Permissions</a:t>
            </a:r>
            <a:r>
              <a:rPr lang="en-US" sz="2400" dirty="0" smtClean="0"/>
              <a:t>. Click </a:t>
            </a:r>
            <a:r>
              <a:rPr lang="en-US" sz="2400" b="1" dirty="0" smtClean="0"/>
              <a:t>Edit</a:t>
            </a:r>
            <a:r>
              <a:rPr lang="en-US" sz="2400" dirty="0" smtClean="0"/>
              <a:t>.</a:t>
            </a:r>
            <a:endParaRPr lang="en-US" sz="2400" dirty="0"/>
          </a:p>
        </p:txBody>
      </p:sp>
      <p:pic>
        <p:nvPicPr>
          <p:cNvPr id="4" name="Picture 2"/>
          <p:cNvPicPr>
            <a:picLocks noChangeAspect="1" noChangeArrowheads="1"/>
          </p:cNvPicPr>
          <p:nvPr/>
        </p:nvPicPr>
        <p:blipFill>
          <a:blip r:embed="rId2" cstate="print"/>
          <a:srcRect/>
          <a:stretch>
            <a:fillRect/>
          </a:stretch>
        </p:blipFill>
        <p:spPr bwMode="auto">
          <a:xfrm>
            <a:off x="1447800" y="2743200"/>
            <a:ext cx="5877381" cy="3299481"/>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3800" dirty="0" smtClean="0"/>
              <a:t>3. Select Multi-Factor Authentication for User Interface Logins</a:t>
            </a:r>
            <a:endParaRPr lang="en-US" sz="3800" dirty="0"/>
          </a:p>
        </p:txBody>
      </p:sp>
      <p:pic>
        <p:nvPicPr>
          <p:cNvPr id="3074" name="Picture 2"/>
          <p:cNvPicPr>
            <a:picLocks noChangeAspect="1" noChangeArrowheads="1"/>
          </p:cNvPicPr>
          <p:nvPr/>
        </p:nvPicPr>
        <p:blipFill>
          <a:blip r:embed="rId2" cstate="print"/>
          <a:srcRect/>
          <a:stretch>
            <a:fillRect/>
          </a:stretch>
        </p:blipFill>
        <p:spPr bwMode="auto">
          <a:xfrm>
            <a:off x="1187450" y="2613025"/>
            <a:ext cx="6769100" cy="2797175"/>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dirty="0" smtClean="0"/>
              <a:t>4. Go to Manage Assignments</a:t>
            </a:r>
            <a:endParaRPr lang="en-US" dirty="0"/>
          </a:p>
        </p:txBody>
      </p:sp>
      <p:pic>
        <p:nvPicPr>
          <p:cNvPr id="4098" name="Picture 2"/>
          <p:cNvPicPr>
            <a:picLocks noChangeAspect="1" noChangeArrowheads="1"/>
          </p:cNvPicPr>
          <p:nvPr/>
        </p:nvPicPr>
        <p:blipFill>
          <a:blip r:embed="rId2" cstate="print"/>
          <a:srcRect/>
          <a:stretch>
            <a:fillRect/>
          </a:stretch>
        </p:blipFill>
        <p:spPr bwMode="auto">
          <a:xfrm>
            <a:off x="696913" y="2247900"/>
            <a:ext cx="7750175" cy="3467100"/>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dirty="0" smtClean="0"/>
              <a:t>5. Review Identity Verification</a:t>
            </a:r>
            <a:endParaRPr lang="en-US" dirty="0"/>
          </a:p>
        </p:txBody>
      </p:sp>
      <p:sp>
        <p:nvSpPr>
          <p:cNvPr id="3" name="Content Placeholder 2"/>
          <p:cNvSpPr>
            <a:spLocks noGrp="1"/>
          </p:cNvSpPr>
          <p:nvPr>
            <p:ph idx="1"/>
          </p:nvPr>
        </p:nvSpPr>
        <p:spPr/>
        <p:txBody>
          <a:bodyPr>
            <a:normAutofit/>
          </a:bodyPr>
          <a:lstStyle/>
          <a:p>
            <a:r>
              <a:rPr lang="en-US" sz="2400" dirty="0" smtClean="0"/>
              <a:t>Setup &gt; Identity Verification</a:t>
            </a:r>
            <a:endParaRPr lang="en-US" sz="2400" dirty="0"/>
          </a:p>
        </p:txBody>
      </p:sp>
      <p:pic>
        <p:nvPicPr>
          <p:cNvPr id="1026" name="Picture 2"/>
          <p:cNvPicPr>
            <a:picLocks noChangeAspect="1" noChangeArrowheads="1"/>
          </p:cNvPicPr>
          <p:nvPr/>
        </p:nvPicPr>
        <p:blipFill>
          <a:blip r:embed="rId2" cstate="print"/>
          <a:srcRect/>
          <a:stretch>
            <a:fillRect/>
          </a:stretch>
        </p:blipFill>
        <p:spPr bwMode="auto">
          <a:xfrm>
            <a:off x="762000" y="2383149"/>
            <a:ext cx="7572221" cy="3712851"/>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3800" dirty="0" smtClean="0"/>
              <a:t>6. Review Waive Multi-Factor Authentication for Exempt Users</a:t>
            </a:r>
            <a:endParaRPr lang="en-US" sz="3800" dirty="0"/>
          </a:p>
        </p:txBody>
      </p:sp>
      <p:sp>
        <p:nvSpPr>
          <p:cNvPr id="3" name="Content Placeholder 2"/>
          <p:cNvSpPr>
            <a:spLocks noGrp="1"/>
          </p:cNvSpPr>
          <p:nvPr>
            <p:ph idx="1"/>
          </p:nvPr>
        </p:nvSpPr>
        <p:spPr/>
        <p:txBody>
          <a:bodyPr>
            <a:normAutofit/>
          </a:bodyPr>
          <a:lstStyle/>
          <a:p>
            <a:r>
              <a:rPr lang="en-US" sz="2400" dirty="0" smtClean="0"/>
              <a:t>Setup &gt; Profiles &gt; [A profile] &gt; System Permissions</a:t>
            </a:r>
            <a:endParaRPr lang="en-US" sz="2400" dirty="0"/>
          </a:p>
        </p:txBody>
      </p:sp>
      <p:pic>
        <p:nvPicPr>
          <p:cNvPr id="2050" name="Picture 2"/>
          <p:cNvPicPr>
            <a:picLocks noChangeAspect="1" noChangeArrowheads="1"/>
          </p:cNvPicPr>
          <p:nvPr/>
        </p:nvPicPr>
        <p:blipFill>
          <a:blip r:embed="rId2" cstate="print"/>
          <a:srcRect/>
          <a:stretch>
            <a:fillRect/>
          </a:stretch>
        </p:blipFill>
        <p:spPr bwMode="auto">
          <a:xfrm>
            <a:off x="571500" y="2378075"/>
            <a:ext cx="8001000" cy="3794125"/>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dirty="0" smtClean="0"/>
              <a:t>7. Disconnect Authenticator</a:t>
            </a:r>
            <a:endParaRPr lang="en-US" dirty="0"/>
          </a:p>
        </p:txBody>
      </p:sp>
      <p:sp>
        <p:nvSpPr>
          <p:cNvPr id="3" name="Content Placeholder 2"/>
          <p:cNvSpPr>
            <a:spLocks noGrp="1"/>
          </p:cNvSpPr>
          <p:nvPr>
            <p:ph idx="1"/>
          </p:nvPr>
        </p:nvSpPr>
        <p:spPr/>
        <p:txBody>
          <a:bodyPr>
            <a:normAutofit/>
          </a:bodyPr>
          <a:lstStyle/>
          <a:p>
            <a:r>
              <a:rPr lang="en-US" sz="2400" dirty="0" smtClean="0"/>
              <a:t>Setup &gt; Users &gt; [A user]</a:t>
            </a:r>
            <a:endParaRPr lang="en-US" sz="2400" dirty="0"/>
          </a:p>
        </p:txBody>
      </p:sp>
      <p:pic>
        <p:nvPicPr>
          <p:cNvPr id="3075" name="Picture 3"/>
          <p:cNvPicPr>
            <a:picLocks noChangeAspect="1" noChangeArrowheads="1"/>
          </p:cNvPicPr>
          <p:nvPr/>
        </p:nvPicPr>
        <p:blipFill>
          <a:blip r:embed="rId2" cstate="print"/>
          <a:srcRect/>
          <a:stretch>
            <a:fillRect/>
          </a:stretch>
        </p:blipFill>
        <p:spPr bwMode="auto">
          <a:xfrm>
            <a:off x="1430338" y="2524125"/>
            <a:ext cx="6283325" cy="3343275"/>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dirty="0" smtClean="0"/>
              <a:t>8. Allow Users to Bypass MFA</a:t>
            </a:r>
            <a:endParaRPr lang="en-US" dirty="0"/>
          </a:p>
        </p:txBody>
      </p:sp>
      <p:sp>
        <p:nvSpPr>
          <p:cNvPr id="3" name="Content Placeholder 2"/>
          <p:cNvSpPr>
            <a:spLocks noGrp="1"/>
          </p:cNvSpPr>
          <p:nvPr>
            <p:ph idx="1"/>
          </p:nvPr>
        </p:nvSpPr>
        <p:spPr/>
        <p:txBody>
          <a:bodyPr>
            <a:normAutofit/>
          </a:bodyPr>
          <a:lstStyle/>
          <a:p>
            <a:r>
              <a:rPr lang="en-US" sz="2400" dirty="0" smtClean="0"/>
              <a:t>Setup &gt; Permission Sets &gt; New.</a:t>
            </a:r>
            <a:endParaRPr lang="en-US" sz="2400" dirty="0"/>
          </a:p>
        </p:txBody>
      </p:sp>
      <p:pic>
        <p:nvPicPr>
          <p:cNvPr id="1027" name="Picture 3"/>
          <p:cNvPicPr>
            <a:picLocks noChangeAspect="1" noChangeArrowheads="1"/>
          </p:cNvPicPr>
          <p:nvPr/>
        </p:nvPicPr>
        <p:blipFill>
          <a:blip r:embed="rId2" cstate="print"/>
          <a:srcRect/>
          <a:stretch>
            <a:fillRect/>
          </a:stretch>
        </p:blipFill>
        <p:spPr bwMode="auto">
          <a:xfrm>
            <a:off x="739775" y="2536825"/>
            <a:ext cx="7664450" cy="2720975"/>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Log in as a User</a:t>
            </a:r>
            <a:endParaRPr lang="en-US" dirty="0"/>
          </a:p>
        </p:txBody>
      </p:sp>
      <p:sp>
        <p:nvSpPr>
          <p:cNvPr id="3" name="Content Placeholder 2"/>
          <p:cNvSpPr>
            <a:spLocks noGrp="1"/>
          </p:cNvSpPr>
          <p:nvPr>
            <p:ph idx="1"/>
          </p:nvPr>
        </p:nvSpPr>
        <p:spPr/>
        <p:txBody>
          <a:bodyPr>
            <a:normAutofit/>
          </a:bodyPr>
          <a:lstStyle/>
          <a:p>
            <a:r>
              <a:rPr lang="en-US" sz="2200" dirty="0" smtClean="0"/>
              <a:t>From </a:t>
            </a:r>
            <a:r>
              <a:rPr lang="en-US" sz="2200" b="1" dirty="0" smtClean="0"/>
              <a:t>Setup</a:t>
            </a:r>
            <a:r>
              <a:rPr lang="en-US" sz="2200" dirty="0" smtClean="0"/>
              <a:t> enter </a:t>
            </a:r>
            <a:r>
              <a:rPr lang="en-US" sz="2200" b="1" dirty="0" smtClean="0"/>
              <a:t>Users</a:t>
            </a:r>
            <a:r>
              <a:rPr lang="en-US" sz="2200" dirty="0" smtClean="0"/>
              <a:t>.</a:t>
            </a:r>
          </a:p>
          <a:p>
            <a:r>
              <a:rPr lang="en-US" sz="2200" dirty="0" smtClean="0"/>
              <a:t>Log in as a selected user.</a:t>
            </a:r>
          </a:p>
          <a:p>
            <a:endParaRPr lang="en-US" sz="2200" dirty="0"/>
          </a:p>
        </p:txBody>
      </p:sp>
      <p:pic>
        <p:nvPicPr>
          <p:cNvPr id="5" name="Picture 2"/>
          <p:cNvPicPr>
            <a:picLocks noChangeAspect="1" noChangeArrowheads="1"/>
          </p:cNvPicPr>
          <p:nvPr/>
        </p:nvPicPr>
        <p:blipFill>
          <a:blip r:embed="rId2" cstate="print"/>
          <a:srcRect/>
          <a:stretch>
            <a:fillRect/>
          </a:stretch>
        </p:blipFill>
        <p:spPr bwMode="auto">
          <a:xfrm>
            <a:off x="1050925" y="2689225"/>
            <a:ext cx="7042150" cy="3559175"/>
          </a:xfrm>
          <a:prstGeom prst="rect">
            <a:avLst/>
          </a:prstGeom>
          <a:noFill/>
          <a:ln w="9525">
            <a:noFill/>
            <a:miter lim="800000"/>
            <a:headEnd/>
            <a:tailEnd/>
          </a:ln>
        </p:spPr>
      </p:pic>
      <p:sp>
        <p:nvSpPr>
          <p:cNvPr id="6" name="Down Arrow 5"/>
          <p:cNvSpPr/>
          <p:nvPr/>
        </p:nvSpPr>
        <p:spPr>
          <a:xfrm>
            <a:off x="3810000" y="5334000"/>
            <a:ext cx="1219200" cy="685800"/>
          </a:xfrm>
          <a:prstGeom prst="downArrow">
            <a:avLst/>
          </a:prstGeom>
          <a:solidFill>
            <a:schemeClr val="accent2">
              <a:alpha val="70000"/>
            </a:schemeClr>
          </a:solidFill>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smtClean="0"/>
              <a:t>2. Self-Disconnect Authenticator</a:t>
            </a:r>
            <a:endParaRPr lang="en-US" dirty="0"/>
          </a:p>
        </p:txBody>
      </p:sp>
      <p:sp>
        <p:nvSpPr>
          <p:cNvPr id="3" name="Content Placeholder 2"/>
          <p:cNvSpPr>
            <a:spLocks noGrp="1"/>
          </p:cNvSpPr>
          <p:nvPr>
            <p:ph idx="1"/>
          </p:nvPr>
        </p:nvSpPr>
        <p:spPr/>
        <p:txBody>
          <a:bodyPr>
            <a:normAutofit/>
          </a:bodyPr>
          <a:lstStyle/>
          <a:p>
            <a:r>
              <a:rPr lang="en-US" sz="2400" dirty="0" smtClean="0"/>
              <a:t>Click user's avatar &gt; </a:t>
            </a:r>
            <a:r>
              <a:rPr lang="en-US" sz="2400" b="1" dirty="0" smtClean="0"/>
              <a:t>Settings</a:t>
            </a:r>
            <a:r>
              <a:rPr lang="en-US" sz="2400" dirty="0" smtClean="0"/>
              <a:t> &gt; </a:t>
            </a:r>
            <a:r>
              <a:rPr lang="en-US" sz="2400" b="1" dirty="0" smtClean="0"/>
              <a:t>Advanced User Details</a:t>
            </a:r>
            <a:r>
              <a:rPr lang="en-US" sz="2400" dirty="0" smtClean="0"/>
              <a:t>.</a:t>
            </a:r>
          </a:p>
          <a:p>
            <a:endParaRPr lang="en-US" sz="2400" dirty="0" smtClean="0"/>
          </a:p>
        </p:txBody>
      </p:sp>
      <p:pic>
        <p:nvPicPr>
          <p:cNvPr id="1027" name="Picture 3"/>
          <p:cNvPicPr>
            <a:picLocks noChangeAspect="1" noChangeArrowheads="1"/>
          </p:cNvPicPr>
          <p:nvPr/>
        </p:nvPicPr>
        <p:blipFill>
          <a:blip r:embed="rId2" cstate="print"/>
          <a:srcRect/>
          <a:stretch>
            <a:fillRect/>
          </a:stretch>
        </p:blipFill>
        <p:spPr bwMode="auto">
          <a:xfrm>
            <a:off x="1201738" y="2590800"/>
            <a:ext cx="6740525" cy="3098800"/>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Record Ownership</a:t>
            </a:r>
            <a:endParaRPr lang="en-US" dirty="0"/>
          </a:p>
        </p:txBody>
      </p:sp>
      <p:sp>
        <p:nvSpPr>
          <p:cNvPr id="3" name="Content Placeholder 2"/>
          <p:cNvSpPr>
            <a:spLocks noGrp="1"/>
          </p:cNvSpPr>
          <p:nvPr>
            <p:ph idx="1"/>
          </p:nvPr>
        </p:nvSpPr>
        <p:spPr/>
        <p:txBody>
          <a:bodyPr>
            <a:noAutofit/>
          </a:bodyPr>
          <a:lstStyle/>
          <a:p>
            <a:r>
              <a:rPr lang="en-US" sz="1800" dirty="0" smtClean="0">
                <a:hlinkClick r:id="rId2"/>
              </a:rPr>
              <a:t>https://developer.salesforce.com/blogs/engineering/2013/10/behind-the-scenes-of-record-ownership-in-salesforce</a:t>
            </a:r>
            <a:endParaRPr lang="en-US" sz="1800" dirty="0" smtClean="0"/>
          </a:p>
          <a:p>
            <a:r>
              <a:rPr lang="en-US" sz="1800" dirty="0" smtClean="0"/>
              <a:t>Record ownership is at the core of </a:t>
            </a:r>
            <a:r>
              <a:rPr lang="en-US" sz="1800" dirty="0" err="1" smtClean="0"/>
              <a:t>Salesforce’s</a:t>
            </a:r>
            <a:r>
              <a:rPr lang="en-US" sz="1800" dirty="0" smtClean="0"/>
              <a:t> record access capabilities, which allow you to specify which users or types of users should be able to access specific records or types of records.</a:t>
            </a:r>
          </a:p>
          <a:p>
            <a:r>
              <a:rPr lang="en-US" sz="1800" dirty="0" err="1" smtClean="0"/>
              <a:t>Salesforce.com’s</a:t>
            </a:r>
            <a:r>
              <a:rPr lang="en-US" sz="1800" dirty="0" smtClean="0"/>
              <a:t> architects and developers have spent years creating a highly functional and massively scalable record access infrastructure around record ownership, saving you the monumental effort of building that infrastructure yourself.</a:t>
            </a:r>
          </a:p>
          <a:p>
            <a:r>
              <a:rPr lang="en-US" sz="1800" dirty="0" smtClean="0"/>
              <a:t> When a user creates a record, that user is identified in the record’s Owner field in the appropriate object record table. (The account object has an Account table, the opportunity object has an Opportunity table, and so on.)</a:t>
            </a:r>
          </a:p>
          <a:p>
            <a:r>
              <a:rPr lang="en-US" sz="1800" dirty="0" smtClean="0"/>
              <a:t>At the same time, </a:t>
            </a:r>
            <a:r>
              <a:rPr lang="en-US" sz="1800" dirty="0" err="1" smtClean="0"/>
              <a:t>Salesforce</a:t>
            </a:r>
            <a:r>
              <a:rPr lang="en-US" sz="1800" dirty="0" smtClean="0"/>
              <a:t> adds a sharing record to the object’s share table, which gives record owners access to the records that they own.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ORG Owner</a:t>
            </a:r>
            <a:endParaRPr lang="en-US" dirty="0"/>
          </a:p>
        </p:txBody>
      </p:sp>
      <p:sp>
        <p:nvSpPr>
          <p:cNvPr id="3" name="Content Placeholder 2"/>
          <p:cNvSpPr>
            <a:spLocks noGrp="1"/>
          </p:cNvSpPr>
          <p:nvPr>
            <p:ph idx="1"/>
          </p:nvPr>
        </p:nvSpPr>
        <p:spPr/>
        <p:txBody>
          <a:bodyPr/>
          <a:lstStyle/>
          <a:p>
            <a:r>
              <a:rPr lang="en-US" dirty="0" smtClean="0"/>
              <a:t>In </a:t>
            </a:r>
            <a:r>
              <a:rPr lang="en-US" dirty="0" err="1" smtClean="0"/>
              <a:t>Salesforce</a:t>
            </a:r>
            <a:r>
              <a:rPr lang="en-US" dirty="0" smtClean="0"/>
              <a:t>, all System Administrators (including the Owner, who is the first System Administrator) have equal privileges.</a:t>
            </a:r>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Create a User Login Report</a:t>
            </a:r>
            <a:endParaRPr lang="en-US" dirty="0"/>
          </a:p>
        </p:txBody>
      </p:sp>
      <p:sp>
        <p:nvSpPr>
          <p:cNvPr id="3" name="Content Placeholder 2"/>
          <p:cNvSpPr>
            <a:spLocks noGrp="1"/>
          </p:cNvSpPr>
          <p:nvPr>
            <p:ph idx="1"/>
          </p:nvPr>
        </p:nvSpPr>
        <p:spPr/>
        <p:txBody>
          <a:bodyPr>
            <a:normAutofit/>
          </a:bodyPr>
          <a:lstStyle/>
          <a:p>
            <a:r>
              <a:rPr lang="en-US" sz="2200" dirty="0" smtClean="0"/>
              <a:t>From the </a:t>
            </a:r>
            <a:r>
              <a:rPr lang="en-US" sz="2200" b="1" dirty="0" smtClean="0"/>
              <a:t>Reports</a:t>
            </a:r>
            <a:r>
              <a:rPr lang="en-US" sz="2200" dirty="0" smtClean="0"/>
              <a:t> tab, click </a:t>
            </a:r>
            <a:r>
              <a:rPr lang="en-US" sz="2200" b="1" dirty="0" smtClean="0"/>
              <a:t>New Report</a:t>
            </a:r>
            <a:r>
              <a:rPr lang="en-US" sz="2200" dirty="0" smtClean="0"/>
              <a:t>.</a:t>
            </a:r>
          </a:p>
          <a:p>
            <a:r>
              <a:rPr lang="en-US" sz="2200" dirty="0" smtClean="0"/>
              <a:t>In the </a:t>
            </a:r>
            <a:r>
              <a:rPr lang="en-US" sz="2200" b="1" dirty="0" smtClean="0"/>
              <a:t>Choose Report Type</a:t>
            </a:r>
            <a:r>
              <a:rPr lang="en-US" sz="2200" dirty="0" smtClean="0"/>
              <a:t> box, select the </a:t>
            </a:r>
            <a:r>
              <a:rPr lang="en-US" sz="2200" b="1" dirty="0" smtClean="0"/>
              <a:t>Users </a:t>
            </a:r>
            <a:r>
              <a:rPr lang="en-US" sz="2200" dirty="0" smtClean="0"/>
              <a:t>report type, then click </a:t>
            </a:r>
            <a:r>
              <a:rPr lang="en-US" sz="2200" b="1" dirty="0" smtClean="0"/>
              <a:t>Start Report</a:t>
            </a:r>
            <a:r>
              <a:rPr lang="en-US" sz="2200" dirty="0" smtClean="0"/>
              <a:t>.</a:t>
            </a:r>
          </a:p>
          <a:p>
            <a:r>
              <a:rPr lang="en-US" sz="2200" dirty="0" smtClean="0"/>
              <a:t>Drag the desired fields into your report. Include the </a:t>
            </a:r>
            <a:r>
              <a:rPr lang="en-US" sz="2200" b="1" dirty="0" smtClean="0"/>
              <a:t>Login Date</a:t>
            </a:r>
            <a:r>
              <a:rPr lang="en-US" sz="2200" dirty="0" smtClean="0"/>
              <a:t> field.</a:t>
            </a:r>
          </a:p>
          <a:p>
            <a:endParaRPr lang="en-US" sz="2200" dirty="0"/>
          </a:p>
        </p:txBody>
      </p:sp>
      <p:pic>
        <p:nvPicPr>
          <p:cNvPr id="1026" name="Picture 2"/>
          <p:cNvPicPr>
            <a:picLocks noChangeAspect="1" noChangeArrowheads="1"/>
          </p:cNvPicPr>
          <p:nvPr/>
        </p:nvPicPr>
        <p:blipFill>
          <a:blip r:embed="rId2" cstate="print"/>
          <a:srcRect/>
          <a:stretch>
            <a:fillRect/>
          </a:stretch>
        </p:blipFill>
        <p:spPr bwMode="auto">
          <a:xfrm>
            <a:off x="994820" y="3842727"/>
            <a:ext cx="7310980" cy="2253273"/>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Configure Trusted IP Ranges</a:t>
            </a:r>
            <a:endParaRPr lang="en-US" dirty="0"/>
          </a:p>
        </p:txBody>
      </p:sp>
      <p:sp>
        <p:nvSpPr>
          <p:cNvPr id="3" name="Content Placeholder 2"/>
          <p:cNvSpPr>
            <a:spLocks noGrp="1"/>
          </p:cNvSpPr>
          <p:nvPr>
            <p:ph idx="1"/>
          </p:nvPr>
        </p:nvSpPr>
        <p:spPr>
          <a:xfrm>
            <a:off x="457200" y="1600201"/>
            <a:ext cx="8229600" cy="762000"/>
          </a:xfrm>
        </p:spPr>
        <p:txBody>
          <a:bodyPr/>
          <a:lstStyle/>
          <a:p>
            <a:r>
              <a:rPr lang="en-US" sz="2000" dirty="0" smtClean="0">
                <a:hlinkClick r:id="rId2"/>
              </a:rPr>
              <a:t>https://help.salesforce.com/articleView?id=000339699&amp;type=1&amp;mode=1</a:t>
            </a:r>
            <a:endParaRPr lang="en-US" sz="2000" dirty="0" smtClean="0"/>
          </a:p>
          <a:p>
            <a:r>
              <a:rPr lang="en-US" sz="2000" dirty="0" smtClean="0"/>
              <a:t>From </a:t>
            </a:r>
            <a:r>
              <a:rPr lang="en-US" sz="2000" b="1" dirty="0" smtClean="0"/>
              <a:t>Setup</a:t>
            </a:r>
            <a:r>
              <a:rPr lang="en-US" sz="2000" dirty="0" smtClean="0"/>
              <a:t>, enter </a:t>
            </a:r>
            <a:r>
              <a:rPr lang="en-US" sz="2000" b="1" dirty="0" smtClean="0"/>
              <a:t>Network Access</a:t>
            </a:r>
            <a:r>
              <a:rPr lang="en-US" sz="2000" dirty="0" smtClean="0"/>
              <a:t>.</a:t>
            </a:r>
          </a:p>
          <a:p>
            <a:endParaRPr lang="en-US" sz="2000" dirty="0"/>
          </a:p>
        </p:txBody>
      </p:sp>
      <p:pic>
        <p:nvPicPr>
          <p:cNvPr id="1026" name="Picture 2"/>
          <p:cNvPicPr>
            <a:picLocks noChangeAspect="1" noChangeArrowheads="1"/>
          </p:cNvPicPr>
          <p:nvPr/>
        </p:nvPicPr>
        <p:blipFill>
          <a:blip r:embed="rId3" cstate="print"/>
          <a:srcRect/>
          <a:stretch>
            <a:fillRect/>
          </a:stretch>
        </p:blipFill>
        <p:spPr bwMode="auto">
          <a:xfrm>
            <a:off x="893763" y="2854325"/>
            <a:ext cx="7356475" cy="3165475"/>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Restrict Login IP Ranges</a:t>
            </a:r>
            <a:endParaRPr lang="en-US" dirty="0"/>
          </a:p>
        </p:txBody>
      </p:sp>
      <p:sp>
        <p:nvSpPr>
          <p:cNvPr id="3" name="Content Placeholder 2"/>
          <p:cNvSpPr>
            <a:spLocks noGrp="1"/>
          </p:cNvSpPr>
          <p:nvPr>
            <p:ph idx="1"/>
          </p:nvPr>
        </p:nvSpPr>
        <p:spPr>
          <a:xfrm>
            <a:off x="457200" y="1600201"/>
            <a:ext cx="8229600" cy="1143000"/>
          </a:xfrm>
        </p:spPr>
        <p:txBody>
          <a:bodyPr/>
          <a:lstStyle/>
          <a:p>
            <a:r>
              <a:rPr lang="en-US" sz="1400" dirty="0" smtClean="0">
                <a:hlinkClick r:id="rId2"/>
              </a:rPr>
              <a:t>https://help.salesforce.com/articleView?id=users_profiles_epui_login_ip_ranges_edit.htm&amp;type=5</a:t>
            </a:r>
            <a:endParaRPr lang="en-US" sz="1400" dirty="0" smtClean="0"/>
          </a:p>
          <a:p>
            <a:r>
              <a:rPr lang="en-US" sz="2200" dirty="0" smtClean="0"/>
              <a:t>From </a:t>
            </a:r>
            <a:r>
              <a:rPr lang="en-US" sz="2200" b="1" dirty="0" smtClean="0"/>
              <a:t>Setup</a:t>
            </a:r>
            <a:r>
              <a:rPr lang="en-US" sz="2200" dirty="0" smtClean="0"/>
              <a:t>, enter </a:t>
            </a:r>
            <a:r>
              <a:rPr lang="en-US" sz="2200" b="1" dirty="0" smtClean="0"/>
              <a:t>Profile</a:t>
            </a:r>
            <a:r>
              <a:rPr lang="en-US" sz="2200" dirty="0" smtClean="0"/>
              <a:t>.</a:t>
            </a:r>
          </a:p>
          <a:p>
            <a:r>
              <a:rPr lang="en-US" sz="2200" dirty="0" smtClean="0"/>
              <a:t>Click </a:t>
            </a:r>
            <a:r>
              <a:rPr lang="en-US" sz="2200" b="1" dirty="0" smtClean="0"/>
              <a:t>New</a:t>
            </a:r>
            <a:r>
              <a:rPr lang="en-US" sz="2200" dirty="0" smtClean="0"/>
              <a:t> button in the </a:t>
            </a:r>
            <a:r>
              <a:rPr lang="en-US" sz="2200" b="1" dirty="0" smtClean="0"/>
              <a:t>Login IP Ranges</a:t>
            </a:r>
            <a:r>
              <a:rPr lang="en-US" sz="2200" dirty="0" smtClean="0"/>
              <a:t> section.</a:t>
            </a:r>
          </a:p>
          <a:p>
            <a:endParaRPr lang="en-US" sz="2200" dirty="0"/>
          </a:p>
        </p:txBody>
      </p:sp>
      <p:pic>
        <p:nvPicPr>
          <p:cNvPr id="2050" name="Picture 2"/>
          <p:cNvPicPr>
            <a:picLocks noChangeAspect="1" noChangeArrowheads="1"/>
          </p:cNvPicPr>
          <p:nvPr/>
        </p:nvPicPr>
        <p:blipFill>
          <a:blip r:embed="rId3" cstate="print"/>
          <a:srcRect/>
          <a:stretch>
            <a:fillRect/>
          </a:stretch>
        </p:blipFill>
        <p:spPr bwMode="auto">
          <a:xfrm>
            <a:off x="1600200" y="2825750"/>
            <a:ext cx="5943600" cy="2736850"/>
          </a:xfrm>
          <a:prstGeom prst="rect">
            <a:avLst/>
          </a:prstGeom>
          <a:noFill/>
          <a:ln w="9525">
            <a:noFill/>
            <a:miter lim="800000"/>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Review Login History</a:t>
            </a:r>
            <a:endParaRPr lang="en-US" dirty="0"/>
          </a:p>
        </p:txBody>
      </p:sp>
      <p:sp>
        <p:nvSpPr>
          <p:cNvPr id="3" name="Content Placeholder 2"/>
          <p:cNvSpPr>
            <a:spLocks noGrp="1"/>
          </p:cNvSpPr>
          <p:nvPr>
            <p:ph idx="1"/>
          </p:nvPr>
        </p:nvSpPr>
        <p:spPr>
          <a:xfrm>
            <a:off x="457200" y="1600201"/>
            <a:ext cx="8229600" cy="1143000"/>
          </a:xfrm>
        </p:spPr>
        <p:txBody>
          <a:bodyPr/>
          <a:lstStyle/>
          <a:p>
            <a:r>
              <a:rPr lang="en-US" sz="2000" dirty="0" smtClean="0">
                <a:hlinkClick r:id="rId2"/>
              </a:rPr>
              <a:t>https://help.salesforce.com/articleView?id=000339118&amp;type=1&amp;mode=1</a:t>
            </a:r>
            <a:endParaRPr lang="en-US" sz="2000" dirty="0" smtClean="0"/>
          </a:p>
          <a:p>
            <a:r>
              <a:rPr lang="en-US" sz="2000" dirty="0" smtClean="0"/>
              <a:t>From </a:t>
            </a:r>
            <a:r>
              <a:rPr lang="en-US" sz="2000" b="1" dirty="0" smtClean="0"/>
              <a:t>Setup</a:t>
            </a:r>
            <a:r>
              <a:rPr lang="en-US" sz="2000" dirty="0" smtClean="0"/>
              <a:t>, enter </a:t>
            </a:r>
            <a:r>
              <a:rPr lang="en-US" sz="2000" b="1" dirty="0" smtClean="0"/>
              <a:t>Login History</a:t>
            </a:r>
            <a:r>
              <a:rPr lang="en-US" sz="2000" dirty="0" smtClean="0"/>
              <a:t>.</a:t>
            </a:r>
          </a:p>
        </p:txBody>
      </p:sp>
      <p:pic>
        <p:nvPicPr>
          <p:cNvPr id="1027" name="Picture 3"/>
          <p:cNvPicPr>
            <a:picLocks noChangeAspect="1" noChangeArrowheads="1"/>
          </p:cNvPicPr>
          <p:nvPr/>
        </p:nvPicPr>
        <p:blipFill>
          <a:blip r:embed="rId3" cstate="print"/>
          <a:srcRect/>
          <a:stretch>
            <a:fillRect/>
          </a:stretch>
        </p:blipFill>
        <p:spPr bwMode="auto">
          <a:xfrm>
            <a:off x="574675" y="2438400"/>
            <a:ext cx="7994650" cy="4019550"/>
          </a:xfrm>
          <a:prstGeom prst="rect">
            <a:avLst/>
          </a:prstGeom>
          <a:noFill/>
          <a:ln w="9525">
            <a:noFill/>
            <a:miter lim="800000"/>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Generate a Certificate</a:t>
            </a:r>
            <a:endParaRPr lang="en-US" dirty="0"/>
          </a:p>
        </p:txBody>
      </p:sp>
      <p:sp>
        <p:nvSpPr>
          <p:cNvPr id="3" name="Content Placeholder 2"/>
          <p:cNvSpPr>
            <a:spLocks noGrp="1"/>
          </p:cNvSpPr>
          <p:nvPr>
            <p:ph idx="1"/>
          </p:nvPr>
        </p:nvSpPr>
        <p:spPr/>
        <p:txBody>
          <a:bodyPr/>
          <a:lstStyle/>
          <a:p>
            <a:r>
              <a:rPr lang="en-US" sz="2400" dirty="0" smtClean="0"/>
              <a:t>From </a:t>
            </a:r>
            <a:r>
              <a:rPr lang="en-US" sz="2400" b="1" dirty="0" smtClean="0"/>
              <a:t>Setup</a:t>
            </a:r>
            <a:r>
              <a:rPr lang="en-US" sz="2400" dirty="0" smtClean="0"/>
              <a:t> enter </a:t>
            </a:r>
            <a:r>
              <a:rPr lang="en-US" sz="2400" b="1" dirty="0" smtClean="0"/>
              <a:t>Certificate and Key Management</a:t>
            </a:r>
            <a:r>
              <a:rPr lang="en-US" sz="2400" dirty="0" smtClean="0"/>
              <a:t>.</a:t>
            </a:r>
          </a:p>
        </p:txBody>
      </p:sp>
      <p:pic>
        <p:nvPicPr>
          <p:cNvPr id="1027" name="Picture 3"/>
          <p:cNvPicPr>
            <a:picLocks noChangeAspect="1" noChangeArrowheads="1"/>
          </p:cNvPicPr>
          <p:nvPr/>
        </p:nvPicPr>
        <p:blipFill>
          <a:blip r:embed="rId2" cstate="print"/>
          <a:srcRect/>
          <a:stretch>
            <a:fillRect/>
          </a:stretch>
        </p:blipFill>
        <p:spPr bwMode="auto">
          <a:xfrm>
            <a:off x="638175" y="2286000"/>
            <a:ext cx="7867650" cy="3997325"/>
          </a:xfrm>
          <a:prstGeom prst="rect">
            <a:avLst/>
          </a:prstGeom>
          <a:noFill/>
          <a:ln w="9525">
            <a:noFill/>
            <a:miter lim="800000"/>
            <a:headEnd/>
            <a:tailEnd/>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Enter a Label</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871538" y="1955800"/>
            <a:ext cx="7400925" cy="3759200"/>
          </a:xfrm>
          <a:prstGeom prst="rect">
            <a:avLst/>
          </a:prstGeom>
          <a:noFill/>
          <a:ln w="9525">
            <a:noFill/>
            <a:miter lim="800000"/>
            <a:headEnd/>
            <a:tailEnd/>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762000" y="2438400"/>
            <a:ext cx="7372350" cy="3359150"/>
          </a:xfrm>
          <a:prstGeom prst="rect">
            <a:avLst/>
          </a:prstGeom>
          <a:noFill/>
          <a:ln w="9525">
            <a:noFill/>
            <a:miter lim="800000"/>
            <a:headEnd/>
            <a:tailEnd/>
          </a:ln>
        </p:spPr>
      </p:pic>
      <p:sp>
        <p:nvSpPr>
          <p:cNvPr id="2" name="Title 1"/>
          <p:cNvSpPr>
            <a:spLocks noGrp="1"/>
          </p:cNvSpPr>
          <p:nvPr>
            <p:ph type="title"/>
          </p:nvPr>
        </p:nvSpPr>
        <p:spPr/>
        <p:txBody>
          <a:bodyPr/>
          <a:lstStyle/>
          <a:p>
            <a:pPr algn="l"/>
            <a:r>
              <a:rPr lang="en-US" dirty="0" smtClean="0"/>
              <a:t>3. </a:t>
            </a:r>
            <a:r>
              <a:rPr lang="en-US" dirty="0" smtClean="0"/>
              <a:t>Use the Certificate </a:t>
            </a:r>
            <a:r>
              <a:rPr lang="en-US" dirty="0" smtClean="0"/>
              <a:t>for an </a:t>
            </a:r>
            <a:r>
              <a:rPr lang="en-US" dirty="0" err="1" smtClean="0"/>
              <a:t>IdP</a:t>
            </a:r>
            <a:endParaRPr lang="en-US" dirty="0"/>
          </a:p>
        </p:txBody>
      </p:sp>
      <p:sp>
        <p:nvSpPr>
          <p:cNvPr id="3" name="Content Placeholder 2"/>
          <p:cNvSpPr>
            <a:spLocks noGrp="1"/>
          </p:cNvSpPr>
          <p:nvPr>
            <p:ph idx="1"/>
          </p:nvPr>
        </p:nvSpPr>
        <p:spPr/>
        <p:txBody>
          <a:bodyPr/>
          <a:lstStyle/>
          <a:p>
            <a:r>
              <a:rPr lang="en-US" sz="2400" dirty="0" smtClean="0"/>
              <a:t>From </a:t>
            </a:r>
            <a:r>
              <a:rPr lang="en-US" sz="2400" b="1" dirty="0" smtClean="0"/>
              <a:t>Setup</a:t>
            </a:r>
            <a:r>
              <a:rPr lang="en-US" sz="2400" dirty="0" smtClean="0"/>
              <a:t> enter </a:t>
            </a:r>
            <a:r>
              <a:rPr lang="en-US" sz="2400" b="1" dirty="0" smtClean="0"/>
              <a:t>Identity Provider</a:t>
            </a:r>
            <a:r>
              <a:rPr lang="en-US" sz="2400" dirty="0" smtClean="0"/>
              <a:t>.</a:t>
            </a:r>
          </a:p>
        </p:txBody>
      </p:sp>
      <p:sp>
        <p:nvSpPr>
          <p:cNvPr id="6" name="Down Arrow 5"/>
          <p:cNvSpPr/>
          <p:nvPr/>
        </p:nvSpPr>
        <p:spPr>
          <a:xfrm>
            <a:off x="5715000" y="3352800"/>
            <a:ext cx="1371600" cy="762000"/>
          </a:xfrm>
          <a:prstGeom prst="down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Select the New Certificate</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1631950" y="2308225"/>
            <a:ext cx="5880100" cy="2416175"/>
          </a:xfrm>
          <a:prstGeom prst="rect">
            <a:avLst/>
          </a:prstGeom>
          <a:noFill/>
          <a:ln w="9525">
            <a:noFill/>
            <a:miter lim="800000"/>
            <a:headEnd/>
            <a:tailEnd/>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5. Remove a </a:t>
            </a:r>
            <a:r>
              <a:rPr lang="en-US" dirty="0" smtClean="0"/>
              <a:t>Certificate</a:t>
            </a:r>
            <a:endParaRPr lang="en-US" dirty="0"/>
          </a:p>
        </p:txBody>
      </p:sp>
      <p:sp>
        <p:nvSpPr>
          <p:cNvPr id="3" name="Content Placeholder 2"/>
          <p:cNvSpPr>
            <a:spLocks noGrp="1"/>
          </p:cNvSpPr>
          <p:nvPr>
            <p:ph idx="1"/>
          </p:nvPr>
        </p:nvSpPr>
        <p:spPr/>
        <p:txBody>
          <a:bodyPr/>
          <a:lstStyle/>
          <a:p>
            <a:r>
              <a:rPr lang="en-US" sz="2400" dirty="0" smtClean="0"/>
              <a:t>From </a:t>
            </a:r>
            <a:r>
              <a:rPr lang="en-US" sz="2400" b="1" dirty="0" smtClean="0"/>
              <a:t>Setup</a:t>
            </a:r>
            <a:r>
              <a:rPr lang="en-US" sz="2400" dirty="0" smtClean="0"/>
              <a:t> enter </a:t>
            </a:r>
            <a:r>
              <a:rPr lang="en-US" sz="2400" b="1" dirty="0" smtClean="0"/>
              <a:t>Certificate and Key Management</a:t>
            </a:r>
            <a:r>
              <a:rPr lang="en-US" sz="2400" dirty="0" smtClean="0"/>
              <a: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4200" dirty="0" smtClean="0"/>
              <a:t>1. Change the Default Workflow User</a:t>
            </a:r>
            <a:endParaRPr lang="en-US" sz="4200" dirty="0"/>
          </a:p>
        </p:txBody>
      </p:sp>
      <p:sp>
        <p:nvSpPr>
          <p:cNvPr id="3" name="Content Placeholder 2"/>
          <p:cNvSpPr>
            <a:spLocks noGrp="1"/>
          </p:cNvSpPr>
          <p:nvPr>
            <p:ph idx="1"/>
          </p:nvPr>
        </p:nvSpPr>
        <p:spPr/>
        <p:txBody>
          <a:bodyPr>
            <a:normAutofit/>
          </a:bodyPr>
          <a:lstStyle/>
          <a:p>
            <a:r>
              <a:rPr lang="en-US" sz="2200" dirty="0" smtClean="0"/>
              <a:t>Setup &gt; Process Automation Settings. </a:t>
            </a:r>
            <a:r>
              <a:rPr lang="en-US" sz="2200" i="1" dirty="0" smtClean="0">
                <a:solidFill>
                  <a:srgbClr val="C00000"/>
                </a:solidFill>
              </a:rPr>
              <a:t>Purpose: To deactivate a user.</a:t>
            </a:r>
            <a:endParaRPr lang="en-US" sz="2200" i="1" dirty="0">
              <a:solidFill>
                <a:srgbClr val="C00000"/>
              </a:solidFill>
            </a:endParaRPr>
          </a:p>
        </p:txBody>
      </p:sp>
      <p:pic>
        <p:nvPicPr>
          <p:cNvPr id="1026" name="Picture 2"/>
          <p:cNvPicPr>
            <a:picLocks noChangeAspect="1" noChangeArrowheads="1"/>
          </p:cNvPicPr>
          <p:nvPr/>
        </p:nvPicPr>
        <p:blipFill>
          <a:blip r:embed="rId2" cstate="print"/>
          <a:srcRect/>
          <a:stretch>
            <a:fillRect/>
          </a:stretch>
        </p:blipFill>
        <p:spPr bwMode="auto">
          <a:xfrm>
            <a:off x="1371600" y="2400300"/>
            <a:ext cx="6400800" cy="3695700"/>
          </a:xfrm>
          <a:prstGeom prst="rect">
            <a:avLst/>
          </a:prstGeom>
          <a:noFill/>
          <a:ln w="9525">
            <a:noFill/>
            <a:miter lim="800000"/>
            <a:headEnd/>
            <a:tailEnd/>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 Change the Default Lead Creator</a:t>
            </a:r>
            <a:endParaRPr lang="en-US" dirty="0"/>
          </a:p>
        </p:txBody>
      </p:sp>
      <p:sp>
        <p:nvSpPr>
          <p:cNvPr id="3" name="Content Placeholder 2"/>
          <p:cNvSpPr>
            <a:spLocks noGrp="1"/>
          </p:cNvSpPr>
          <p:nvPr>
            <p:ph idx="1"/>
          </p:nvPr>
        </p:nvSpPr>
        <p:spPr/>
        <p:txBody>
          <a:bodyPr/>
          <a:lstStyle/>
          <a:p>
            <a:r>
              <a:rPr lang="en-US" sz="2400" dirty="0" smtClean="0"/>
              <a:t>Setup &gt; Web-to-Lead. </a:t>
            </a:r>
            <a:r>
              <a:rPr lang="en-US" sz="2400" i="1" dirty="0" smtClean="0">
                <a:solidFill>
                  <a:srgbClr val="C00000"/>
                </a:solidFill>
              </a:rPr>
              <a:t>Purpose: To deactivate a user.</a:t>
            </a:r>
            <a:endParaRPr lang="en-US" sz="2400" i="1" dirty="0">
              <a:solidFill>
                <a:srgbClr val="C00000"/>
              </a:solidFill>
            </a:endParaRPr>
          </a:p>
        </p:txBody>
      </p:sp>
      <p:pic>
        <p:nvPicPr>
          <p:cNvPr id="4" name="Picture 2"/>
          <p:cNvPicPr>
            <a:picLocks noChangeAspect="1" noChangeArrowheads="1"/>
          </p:cNvPicPr>
          <p:nvPr/>
        </p:nvPicPr>
        <p:blipFill>
          <a:blip r:embed="rId2" cstate="print"/>
          <a:srcRect/>
          <a:stretch>
            <a:fillRect/>
          </a:stretch>
        </p:blipFill>
        <p:spPr bwMode="auto">
          <a:xfrm>
            <a:off x="1905000" y="2667000"/>
            <a:ext cx="5233946" cy="3185590"/>
          </a:xfrm>
          <a:prstGeom prst="rect">
            <a:avLst/>
          </a:prstGeom>
          <a:noFill/>
          <a:ln w="9525">
            <a:noFill/>
            <a:miter lim="800000"/>
            <a:headEnd/>
            <a:tailEnd/>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Change the Default Lead Creator</a:t>
            </a:r>
            <a:endParaRPr lang="en-US" dirty="0"/>
          </a:p>
        </p:txBody>
      </p:sp>
      <p:sp>
        <p:nvSpPr>
          <p:cNvPr id="3" name="Content Placeholder 2"/>
          <p:cNvSpPr>
            <a:spLocks noGrp="1"/>
          </p:cNvSpPr>
          <p:nvPr>
            <p:ph idx="1"/>
          </p:nvPr>
        </p:nvSpPr>
        <p:spPr/>
        <p:txBody>
          <a:bodyPr/>
          <a:lstStyle/>
          <a:p>
            <a:r>
              <a:rPr lang="en-US" sz="2400" dirty="0" smtClean="0"/>
              <a:t>Setup &gt; Lead Settings. </a:t>
            </a:r>
            <a:r>
              <a:rPr lang="en-US" sz="2400" i="1" dirty="0" smtClean="0">
                <a:solidFill>
                  <a:srgbClr val="C00000"/>
                </a:solidFill>
              </a:rPr>
              <a:t>Purpose: To deactivate a user.</a:t>
            </a:r>
            <a:endParaRPr lang="en-US" sz="2400" i="1" dirty="0">
              <a:solidFill>
                <a:srgbClr val="C00000"/>
              </a:solidFill>
            </a:endParaRPr>
          </a:p>
        </p:txBody>
      </p:sp>
      <p:pic>
        <p:nvPicPr>
          <p:cNvPr id="2050" name="Picture 2"/>
          <p:cNvPicPr>
            <a:picLocks noChangeAspect="1" noChangeArrowheads="1"/>
          </p:cNvPicPr>
          <p:nvPr/>
        </p:nvPicPr>
        <p:blipFill>
          <a:blip r:embed="rId2" cstate="print"/>
          <a:srcRect/>
          <a:stretch>
            <a:fillRect/>
          </a:stretch>
        </p:blipFill>
        <p:spPr bwMode="auto">
          <a:xfrm>
            <a:off x="1401763" y="2581275"/>
            <a:ext cx="6340475" cy="3362325"/>
          </a:xfrm>
          <a:prstGeom prst="rect">
            <a:avLst/>
          </a:prstGeom>
          <a:noFill/>
          <a:ln w="9525">
            <a:noFill/>
            <a:miter lim="800000"/>
            <a:headEnd/>
            <a:tailEnd/>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Change the Default Case Owner</a:t>
            </a:r>
            <a:endParaRPr lang="en-US" dirty="0"/>
          </a:p>
        </p:txBody>
      </p:sp>
      <p:sp>
        <p:nvSpPr>
          <p:cNvPr id="3" name="Content Placeholder 2"/>
          <p:cNvSpPr>
            <a:spLocks noGrp="1"/>
          </p:cNvSpPr>
          <p:nvPr>
            <p:ph idx="1"/>
          </p:nvPr>
        </p:nvSpPr>
        <p:spPr/>
        <p:txBody>
          <a:bodyPr/>
          <a:lstStyle/>
          <a:p>
            <a:r>
              <a:rPr lang="en-US" sz="2400" dirty="0" smtClean="0"/>
              <a:t>Setup &gt; Support Settings. </a:t>
            </a:r>
            <a:r>
              <a:rPr lang="en-US" sz="2400" i="1" dirty="0" smtClean="0">
                <a:solidFill>
                  <a:srgbClr val="C00000"/>
                </a:solidFill>
              </a:rPr>
              <a:t>Purpose: To deactivate a user.</a:t>
            </a:r>
            <a:endParaRPr lang="en-US" sz="2400" i="1" dirty="0">
              <a:solidFill>
                <a:srgbClr val="C00000"/>
              </a:solidFill>
            </a:endParaRPr>
          </a:p>
        </p:txBody>
      </p:sp>
      <p:pic>
        <p:nvPicPr>
          <p:cNvPr id="3074" name="Picture 2"/>
          <p:cNvPicPr>
            <a:picLocks noChangeAspect="1" noChangeArrowheads="1"/>
          </p:cNvPicPr>
          <p:nvPr/>
        </p:nvPicPr>
        <p:blipFill>
          <a:blip r:embed="rId2" cstate="print"/>
          <a:srcRect/>
          <a:stretch>
            <a:fillRect/>
          </a:stretch>
        </p:blipFill>
        <p:spPr bwMode="auto">
          <a:xfrm>
            <a:off x="501650" y="2565400"/>
            <a:ext cx="8140700" cy="3073400"/>
          </a:xfrm>
          <a:prstGeom prst="rect">
            <a:avLst/>
          </a:prstGeom>
          <a:noFill/>
          <a:ln w="9525">
            <a:noFill/>
            <a:miter lim="800000"/>
            <a:headEnd/>
            <a:tailEnd/>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a:t>
            </a:r>
            <a:r>
              <a:rPr lang="en-US" smtClean="0"/>
              <a:t>You Again</a:t>
            </a:r>
            <a:endParaRPr lang="en-US" dirty="0" smtClean="0"/>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2200</TotalTime>
  <Words>1575</Words>
  <Application>Microsoft Office PowerPoint</Application>
  <PresentationFormat>On-screen Show (4:3)</PresentationFormat>
  <Paragraphs>190</Paragraphs>
  <Slides>66</Slides>
  <Notes>1</Notes>
  <HiddenSlides>0</HiddenSlides>
  <MMClips>0</MMClips>
  <ScaleCrop>false</ScaleCrop>
  <HeadingPairs>
    <vt:vector size="4" baseType="variant">
      <vt:variant>
        <vt:lpstr>Theme</vt:lpstr>
      </vt:variant>
      <vt:variant>
        <vt:i4>1</vt:i4>
      </vt:variant>
      <vt:variant>
        <vt:lpstr>Slide Titles</vt:lpstr>
      </vt:variant>
      <vt:variant>
        <vt:i4>66</vt:i4>
      </vt:variant>
    </vt:vector>
  </HeadingPairs>
  <TitlesOfParts>
    <vt:vector size="67" baseType="lpstr">
      <vt:lpstr>Office Theme</vt:lpstr>
      <vt:lpstr>Security Model</vt:lpstr>
      <vt:lpstr>Objectives</vt:lpstr>
      <vt:lpstr>Contents</vt:lpstr>
      <vt:lpstr>References</vt:lpstr>
      <vt:lpstr>Salesforce Security Concepts (I)</vt:lpstr>
      <vt:lpstr>Salesforce Security Concepts (II)</vt:lpstr>
      <vt:lpstr>Salesforce Security Concepts (III)</vt:lpstr>
      <vt:lpstr>Salesforce Security Concepts (IV)</vt:lpstr>
      <vt:lpstr>Access Control</vt:lpstr>
      <vt:lpstr>Slide 10</vt:lpstr>
      <vt:lpstr>1. Manage Profiles</vt:lpstr>
      <vt:lpstr>2. Clone a Profile</vt:lpstr>
      <vt:lpstr>3. Configure Profile Assigned Apps</vt:lpstr>
      <vt:lpstr>Slide 14</vt:lpstr>
      <vt:lpstr>1. Manage Permission Sets</vt:lpstr>
      <vt:lpstr>Slide 16</vt:lpstr>
      <vt:lpstr>1. Manage Roles</vt:lpstr>
      <vt:lpstr>Roles vs. Profiles</vt:lpstr>
      <vt:lpstr>2. Manage Public Groups</vt:lpstr>
      <vt:lpstr>Slide 20</vt:lpstr>
      <vt:lpstr>1. Manage Org Sharing Rules</vt:lpstr>
      <vt:lpstr>2. Create a Custom Sharing Rule</vt:lpstr>
      <vt:lpstr>3. Configure Custom Sharing Rule</vt:lpstr>
      <vt:lpstr>Slide 24</vt:lpstr>
      <vt:lpstr>User's Permissions</vt:lpstr>
      <vt:lpstr>Company (ORG) Security Model</vt:lpstr>
      <vt:lpstr>1. Review Object Permissions</vt:lpstr>
      <vt:lpstr>2. Review Field Permissions</vt:lpstr>
      <vt:lpstr>3. Review Field Permissions using the Welkinsuite</vt:lpstr>
      <vt:lpstr>Slide 30</vt:lpstr>
      <vt:lpstr>1. Open Profile Object Settings</vt:lpstr>
      <vt:lpstr>2. Open an Object</vt:lpstr>
      <vt:lpstr>3. Edit Object Permissions</vt:lpstr>
      <vt:lpstr>4. Modify Permissions</vt:lpstr>
      <vt:lpstr>Slide 35</vt:lpstr>
      <vt:lpstr>1. Create a Permission Set</vt:lpstr>
      <vt:lpstr>2. Edit System Permissions</vt:lpstr>
      <vt:lpstr>3. Select Multi-Factor Authentication for User Interface Logins</vt:lpstr>
      <vt:lpstr>4. Go to Manage Assignments</vt:lpstr>
      <vt:lpstr>5. Review Identity Verification</vt:lpstr>
      <vt:lpstr>6. Review Waive Multi-Factor Authentication for Exempt Users</vt:lpstr>
      <vt:lpstr>7. Disconnect Authenticator</vt:lpstr>
      <vt:lpstr>8. Allow Users to Bypass MFA</vt:lpstr>
      <vt:lpstr>Slide 44</vt:lpstr>
      <vt:lpstr>1. Log in as a User</vt:lpstr>
      <vt:lpstr>2. Self-Disconnect Authenticator</vt:lpstr>
      <vt:lpstr>Slide 47</vt:lpstr>
      <vt:lpstr>Record Ownership</vt:lpstr>
      <vt:lpstr>ORG Owner</vt:lpstr>
      <vt:lpstr>1. Create a User Login Report</vt:lpstr>
      <vt:lpstr>Slide 51</vt:lpstr>
      <vt:lpstr>1. Configure Trusted IP Ranges</vt:lpstr>
      <vt:lpstr>2. Restrict Login IP Ranges</vt:lpstr>
      <vt:lpstr>3. Review Login History</vt:lpstr>
      <vt:lpstr>Slide 55</vt:lpstr>
      <vt:lpstr>1. Generate a Certificate</vt:lpstr>
      <vt:lpstr>2. Enter a Label</vt:lpstr>
      <vt:lpstr>3. Use the Certificate for an IdP</vt:lpstr>
      <vt:lpstr>4. Select the New Certificate</vt:lpstr>
      <vt:lpstr>5. Remove a Certificate</vt:lpstr>
      <vt:lpstr>Slide 61</vt:lpstr>
      <vt:lpstr>1. Change the Default Workflow User</vt:lpstr>
      <vt:lpstr>2. Change the Default Lead Creator</vt:lpstr>
      <vt:lpstr>3. Change the Default Lead Creator</vt:lpstr>
      <vt:lpstr>4. Change the Default Case Owner</vt:lpstr>
      <vt:lpstr>Thank You &amp; See You Again</vt:lpstr>
    </vt:vector>
  </TitlesOfParts>
  <Company>Huy 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RJ demo workflows</dc:title>
  <dc:creator>Ngo Huy Bien</dc:creator>
  <cp:lastModifiedBy>Ngo Huy Bien</cp:lastModifiedBy>
  <cp:revision>1295</cp:revision>
  <dcterms:created xsi:type="dcterms:W3CDTF">2019-08-28T10:00:40Z</dcterms:created>
  <dcterms:modified xsi:type="dcterms:W3CDTF">2026-08-21T17:23:55Z</dcterms:modified>
</cp:coreProperties>
</file>