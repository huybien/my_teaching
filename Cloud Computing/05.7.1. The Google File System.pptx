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s/slide56.xml" ContentType="application/vnd.openxmlformats-officedocument.presentationml.slide+xml"/>
  <Override PartName="/ppt/slides/slide5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slides/slide5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62"/>
  </p:notesMasterIdLst>
  <p:sldIdLst>
    <p:sldId id="570" r:id="rId2"/>
    <p:sldId id="571" r:id="rId3"/>
    <p:sldId id="572" r:id="rId4"/>
    <p:sldId id="573" r:id="rId5"/>
    <p:sldId id="634" r:id="rId6"/>
    <p:sldId id="638" r:id="rId7"/>
    <p:sldId id="574" r:id="rId8"/>
    <p:sldId id="588" r:id="rId9"/>
    <p:sldId id="589" r:id="rId10"/>
    <p:sldId id="590" r:id="rId11"/>
    <p:sldId id="583" r:id="rId12"/>
    <p:sldId id="577" r:id="rId13"/>
    <p:sldId id="635" r:id="rId14"/>
    <p:sldId id="584" r:id="rId15"/>
    <p:sldId id="639" r:id="rId16"/>
    <p:sldId id="640" r:id="rId17"/>
    <p:sldId id="641" r:id="rId18"/>
    <p:sldId id="585" r:id="rId19"/>
    <p:sldId id="587" r:id="rId20"/>
    <p:sldId id="637" r:id="rId21"/>
    <p:sldId id="592" r:id="rId22"/>
    <p:sldId id="586" r:id="rId23"/>
    <p:sldId id="597" r:id="rId24"/>
    <p:sldId id="598" r:id="rId25"/>
    <p:sldId id="646" r:id="rId26"/>
    <p:sldId id="648" r:id="rId27"/>
    <p:sldId id="650" r:id="rId28"/>
    <p:sldId id="649" r:id="rId29"/>
    <p:sldId id="603" r:id="rId30"/>
    <p:sldId id="605" r:id="rId31"/>
    <p:sldId id="613" r:id="rId32"/>
    <p:sldId id="644" r:id="rId33"/>
    <p:sldId id="645" r:id="rId34"/>
    <p:sldId id="614" r:id="rId35"/>
    <p:sldId id="616" r:id="rId36"/>
    <p:sldId id="618" r:id="rId37"/>
    <p:sldId id="621" r:id="rId38"/>
    <p:sldId id="620" r:id="rId39"/>
    <p:sldId id="622" r:id="rId40"/>
    <p:sldId id="623" r:id="rId41"/>
    <p:sldId id="624" r:id="rId42"/>
    <p:sldId id="626" r:id="rId43"/>
    <p:sldId id="628" r:id="rId44"/>
    <p:sldId id="625" r:id="rId45"/>
    <p:sldId id="627" r:id="rId46"/>
    <p:sldId id="629" r:id="rId47"/>
    <p:sldId id="643" r:id="rId48"/>
    <p:sldId id="642" r:id="rId49"/>
    <p:sldId id="630" r:id="rId50"/>
    <p:sldId id="631" r:id="rId51"/>
    <p:sldId id="632" r:id="rId52"/>
    <p:sldId id="633" r:id="rId53"/>
    <p:sldId id="612" r:id="rId54"/>
    <p:sldId id="604" r:id="rId55"/>
    <p:sldId id="606" r:id="rId56"/>
    <p:sldId id="608" r:id="rId57"/>
    <p:sldId id="609" r:id="rId58"/>
    <p:sldId id="610" r:id="rId59"/>
    <p:sldId id="615" r:id="rId60"/>
    <p:sldId id="440" r:id="rId6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0" autoAdjust="0"/>
    <p:restoredTop sz="94765" autoAdjust="0"/>
  </p:normalViewPr>
  <p:slideViewPr>
    <p:cSldViewPr>
      <p:cViewPr>
        <p:scale>
          <a:sx n="50" d="100"/>
          <a:sy n="50" d="100"/>
        </p:scale>
        <p:origin x="-1648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62591D-F63A-4C87-988A-2A4399BE3C42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B2649A-D532-4C46-8375-2DC4F09C0D4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3B12F3-13D8-4BC6-B271-EF890D2E3EA0}" type="datetimeFigureOut">
              <a:rPr lang="en-US"/>
              <a:pPr>
                <a:defRPr/>
              </a:pPr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4D65A0-8A45-49A8-B2B4-890662407F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2554BB-BED8-407D-871B-BC3BF099B766}" type="datetimeFigureOut">
              <a:rPr lang="en-US"/>
              <a:pPr>
                <a:defRPr/>
              </a:pPr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6A513C-A265-4672-ADF9-9C420A0C09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83AE9F-B8F4-4A27-A258-84000ADADD35}" type="datetimeFigureOut">
              <a:rPr lang="en-US"/>
              <a:pPr>
                <a:defRPr/>
              </a:pPr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C0325C-EBE7-4A11-97E9-DF8C42B04A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F403C-A7D9-4211-8DC1-5865845C9F38}" type="datetimeFigureOut">
              <a:rPr lang="en-US"/>
              <a:pPr>
                <a:defRPr/>
              </a:pPr>
              <a:t>11/26/2025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91B809-96F5-477B-8E72-8AB6B5E4AE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09C128-87F1-4A1D-AC95-1D0A8C2820AC}" type="datetimeFigureOut">
              <a:rPr lang="en-US"/>
              <a:pPr>
                <a:defRPr/>
              </a:pPr>
              <a:t>11/26/2025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251F8E-6BBA-4EBA-BCCA-61145C18CC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D7EAC8-1610-4C8B-8A2E-7959779A26B0}" type="datetimeFigureOut">
              <a:rPr lang="en-US"/>
              <a:pPr>
                <a:defRPr/>
              </a:pPr>
              <a:t>11/26/2025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F43CFA-8BED-4A88-AB21-8477601BA3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13CF8C-ED99-4E62-9F8F-039B47F842EB}" type="datetimeFigureOut">
              <a:rPr lang="en-US"/>
              <a:pPr>
                <a:defRPr/>
              </a:pPr>
              <a:t>11/26/2025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FA9176-712D-4387-A1B9-79FDD21B41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10295A-2761-40EA-9DA2-E88C0504267F}" type="datetimeFigureOut">
              <a:rPr lang="en-US"/>
              <a:pPr>
                <a:defRPr/>
              </a:pPr>
              <a:t>11/26/2025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EFA140-F156-4425-B953-A67D35160E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036556-1340-40FC-A073-D70D8832A760}" type="datetimeFigureOut">
              <a:rPr lang="en-US"/>
              <a:pPr>
                <a:defRPr/>
              </a:pPr>
              <a:t>11/26/2025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3919B8-AF1D-4524-AED9-AA87E5FE06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375E21-F618-4DDC-86A2-77C690CACCAF}" type="datetimeFigureOut">
              <a:rPr lang="en-US"/>
              <a:pPr>
                <a:defRPr/>
              </a:pPr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DB1DC0-76E8-4C19-B643-CDC8176FDD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4CE7E0-80C2-49E8-81AC-9B27623F73A4}" type="datetimeFigureOut">
              <a:rPr lang="en-US"/>
              <a:pPr>
                <a:defRPr/>
              </a:pPr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9D05C-0F0F-4E8B-B47F-3C2F1A4BC7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921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F5EA699-B790-4630-B1C5-9840307833F6}" type="datetimeFigureOut">
              <a:rPr lang="en-US"/>
              <a:pPr>
                <a:defRPr/>
              </a:pPr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09E2BD1-610D-47CE-BC14-E90E7753FA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z="6000" smtClean="0"/>
              <a:t>The Google File System</a:t>
            </a:r>
            <a:endParaRPr lang="en-US" sz="6000" dirty="0" smtClean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1"/>
            <a:ext cx="5562600" cy="4114799"/>
          </a:xfrm>
        </p:spPr>
        <p:txBody>
          <a:bodyPr/>
          <a:lstStyle/>
          <a:p>
            <a:pPr marL="571500" indent="-514350">
              <a:buFont typeface="Wingdings" pitchFamily="2" charset="2"/>
              <a:buChar char="Ø"/>
            </a:pPr>
            <a:r>
              <a:rPr lang="en-US" sz="2400" dirty="0" smtClean="0"/>
              <a:t>To explain how the Google file system works.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00750" y="24384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Google Needs.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Architecture.</a:t>
            </a:r>
          </a:p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5867400" cy="4191000"/>
          </a:xfrm>
        </p:spPr>
        <p:txBody>
          <a:bodyPr/>
          <a:lstStyle/>
          <a:p>
            <a:pPr marL="457200" lvl="0" indent="-457200">
              <a:buFont typeface="+mj-lt"/>
              <a:buAutoNum type="arabicPeriod"/>
            </a:pPr>
            <a:r>
              <a:rPr lang="en-US" sz="2400" dirty="0" smtClean="0"/>
              <a:t>Sanjay </a:t>
            </a:r>
            <a:r>
              <a:rPr lang="en-US" sz="2400" dirty="0" err="1" smtClean="0"/>
              <a:t>Ghemawat</a:t>
            </a:r>
            <a:r>
              <a:rPr lang="en-US" sz="2400" dirty="0" smtClean="0"/>
              <a:t> et al. (2003). The Google File System.</a:t>
            </a:r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6745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Paper Reading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Problems</a:t>
            </a:r>
          </a:p>
          <a:p>
            <a:r>
              <a:rPr lang="en-US" sz="2800" dirty="0" smtClean="0"/>
              <a:t>Solution</a:t>
            </a:r>
          </a:p>
          <a:p>
            <a:r>
              <a:rPr lang="en-US" sz="2800" dirty="0" smtClean="0"/>
              <a:t>Evaluation/Validation</a:t>
            </a:r>
          </a:p>
          <a:p>
            <a:pPr lvl="1"/>
            <a:r>
              <a:rPr lang="en-US" sz="2400" dirty="0" smtClean="0"/>
              <a:t>Comparisons with prior work</a:t>
            </a:r>
            <a:endParaRPr lang="en-US" sz="2400" dirty="0" smtClean="0"/>
          </a:p>
          <a:p>
            <a:pPr lvl="1"/>
            <a:r>
              <a:rPr lang="en-US" sz="2400" dirty="0" smtClean="0"/>
              <a:t>Real world applications</a:t>
            </a:r>
          </a:p>
          <a:p>
            <a:r>
              <a:rPr lang="en-US" sz="2800" dirty="0" smtClean="0"/>
              <a:t>Print the paper and prepare a highlighter</a:t>
            </a:r>
            <a:r>
              <a:rPr lang="en-US" sz="2800" dirty="0" smtClean="0"/>
              <a:t>.</a:t>
            </a:r>
          </a:p>
          <a:p>
            <a:r>
              <a:rPr lang="en-US" sz="2800" dirty="0" smtClean="0"/>
              <a:t>Abstract</a:t>
            </a:r>
            <a:r>
              <a:rPr lang="en-US" sz="2800" dirty="0" smtClean="0"/>
              <a:t>: </a:t>
            </a:r>
            <a:r>
              <a:rPr lang="en-US" sz="2800" dirty="0" smtClean="0"/>
              <a:t>Terminology </a:t>
            </a:r>
            <a:r>
              <a:rPr lang="en-US" sz="2800" dirty="0" smtClean="0"/>
              <a:t>and background required.</a:t>
            </a:r>
            <a:endParaRPr lang="en-US" sz="2800" dirty="0" smtClean="0"/>
          </a:p>
          <a:p>
            <a:r>
              <a:rPr lang="en-US" sz="2800" dirty="0" smtClean="0"/>
              <a:t>Introduction: context, history and detailed requirements.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Terminology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File system</a:t>
            </a:r>
          </a:p>
          <a:p>
            <a:r>
              <a:rPr lang="en-US" dirty="0" smtClean="0"/>
              <a:t>Scalable</a:t>
            </a:r>
          </a:p>
          <a:p>
            <a:r>
              <a:rPr lang="en-US" dirty="0" smtClean="0"/>
              <a:t>Distributed</a:t>
            </a:r>
          </a:p>
          <a:p>
            <a:r>
              <a:rPr lang="en-US" dirty="0" smtClean="0"/>
              <a:t>Draw a single-disk layout</a:t>
            </a:r>
          </a:p>
          <a:p>
            <a:r>
              <a:rPr lang="en-US" dirty="0" smtClean="0"/>
              <a:t>Draw distributed disks.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Google Needs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Component failures are the norm. The file system consists of hundreds or even </a:t>
            </a:r>
            <a:r>
              <a:rPr lang="en-US" sz="2400" i="1" dirty="0" smtClean="0">
                <a:solidFill>
                  <a:srgbClr val="C00000"/>
                </a:solidFill>
              </a:rPr>
              <a:t>thousands of storage machines</a:t>
            </a:r>
            <a:r>
              <a:rPr lang="en-US" sz="2400" dirty="0" smtClean="0"/>
              <a:t> built from inexpensive commodity parts and is accessed by a comparable number of client machines.</a:t>
            </a:r>
          </a:p>
          <a:p>
            <a:r>
              <a:rPr lang="en-US" sz="2400" dirty="0" smtClean="0"/>
              <a:t>Files are </a:t>
            </a:r>
            <a:r>
              <a:rPr lang="en-US" sz="2400" i="1" dirty="0" smtClean="0">
                <a:solidFill>
                  <a:srgbClr val="C00000"/>
                </a:solidFill>
              </a:rPr>
              <a:t>huge</a:t>
            </a:r>
            <a:r>
              <a:rPr lang="en-US" sz="2400" dirty="0" smtClean="0"/>
              <a:t> by traditional standards. Multi-GB files are common. Each file typically contains many application objects such as web documents.</a:t>
            </a:r>
          </a:p>
          <a:p>
            <a:r>
              <a:rPr lang="en-US" sz="2400" dirty="0" smtClean="0"/>
              <a:t>Most files are mutated by </a:t>
            </a:r>
            <a:r>
              <a:rPr lang="en-US" sz="2400" i="1" dirty="0" smtClean="0">
                <a:solidFill>
                  <a:srgbClr val="C00000"/>
                </a:solidFill>
              </a:rPr>
              <a:t>appending</a:t>
            </a:r>
            <a:r>
              <a:rPr lang="en-US" sz="2400" dirty="0" smtClean="0"/>
              <a:t> new data rather than overwriting existing data. Random writes within a file are practically non-existent. Once written, the files are only read, and often only sequentially.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Google Specific Context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Co-designing the </a:t>
            </a:r>
            <a:r>
              <a:rPr lang="en-US" sz="2400" i="1" dirty="0" smtClean="0">
                <a:solidFill>
                  <a:srgbClr val="C00000"/>
                </a:solidFill>
              </a:rPr>
              <a:t>applications</a:t>
            </a:r>
            <a:r>
              <a:rPr lang="en-US" sz="2400" dirty="0" smtClean="0"/>
              <a:t> and </a:t>
            </a:r>
            <a:r>
              <a:rPr lang="en-US" sz="2400" i="1" dirty="0" smtClean="0">
                <a:solidFill>
                  <a:srgbClr val="C00000"/>
                </a:solidFill>
              </a:rPr>
              <a:t>the file system API</a:t>
            </a:r>
            <a:r>
              <a:rPr lang="en-US" sz="2400" dirty="0" smtClean="0"/>
              <a:t> benefits the overall system by increasing our flexibility.</a:t>
            </a:r>
          </a:p>
          <a:p>
            <a:r>
              <a:rPr lang="en-US" sz="2400" dirty="0" smtClean="0"/>
              <a:t>We have relaxed GFS’s </a:t>
            </a:r>
            <a:r>
              <a:rPr lang="en-US" sz="2400" i="1" dirty="0" smtClean="0">
                <a:solidFill>
                  <a:srgbClr val="C00000"/>
                </a:solidFill>
              </a:rPr>
              <a:t>consistency model</a:t>
            </a:r>
            <a:r>
              <a:rPr lang="en-US" sz="2400" dirty="0" smtClean="0"/>
              <a:t> to vastly simplify the file system without imposing an onerous burden on the applications.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 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Multiple GFS clusters are currently deployed for different purposes.</a:t>
            </a:r>
          </a:p>
          <a:p>
            <a:r>
              <a:rPr lang="en-US" sz="2400" dirty="0" smtClean="0"/>
              <a:t>The largest ones have over </a:t>
            </a:r>
            <a:r>
              <a:rPr lang="en-US" sz="2400" i="1" dirty="0" smtClean="0">
                <a:solidFill>
                  <a:srgbClr val="C00000"/>
                </a:solidFill>
              </a:rPr>
              <a:t>1000 storage nodes</a:t>
            </a:r>
            <a:r>
              <a:rPr lang="en-US" sz="2400" dirty="0" smtClean="0"/>
              <a:t>, over </a:t>
            </a:r>
            <a:r>
              <a:rPr lang="en-US" sz="2400" i="1" dirty="0" smtClean="0">
                <a:solidFill>
                  <a:srgbClr val="C00000"/>
                </a:solidFill>
              </a:rPr>
              <a:t>300 TB of disk storage</a:t>
            </a:r>
            <a:r>
              <a:rPr lang="en-US" sz="2400" dirty="0" smtClean="0"/>
              <a:t>, and are heavily accessed by </a:t>
            </a:r>
            <a:r>
              <a:rPr lang="en-US" sz="2400" i="1" dirty="0" smtClean="0">
                <a:solidFill>
                  <a:srgbClr val="C00000"/>
                </a:solidFill>
              </a:rPr>
              <a:t>hundreds of clients</a:t>
            </a:r>
            <a:r>
              <a:rPr lang="en-US" sz="2400" dirty="0" smtClean="0"/>
              <a:t> on distinct machines on a continuous basis.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Solution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Software </a:t>
            </a:r>
            <a:r>
              <a:rPr lang="en-US" dirty="0" smtClean="0"/>
              <a:t>Solution = </a:t>
            </a:r>
            <a:r>
              <a:rPr lang="en-US" dirty="0" smtClean="0"/>
              <a:t>Architecture + Data structures + </a:t>
            </a:r>
            <a:r>
              <a:rPr lang="en-US" dirty="0" smtClean="0"/>
              <a:t>Algorithms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Architecture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A GFS cluster consists of a </a:t>
            </a:r>
            <a:r>
              <a:rPr lang="en-US" sz="2200" i="1" dirty="0" smtClean="0">
                <a:solidFill>
                  <a:srgbClr val="C00000"/>
                </a:solidFill>
              </a:rPr>
              <a:t>single master</a:t>
            </a:r>
            <a:r>
              <a:rPr lang="en-US" sz="2200" dirty="0" smtClean="0"/>
              <a:t> and </a:t>
            </a:r>
            <a:r>
              <a:rPr lang="en-US" sz="2200" i="1" dirty="0" smtClean="0">
                <a:solidFill>
                  <a:srgbClr val="C00000"/>
                </a:solidFill>
              </a:rPr>
              <a:t>multiple </a:t>
            </a:r>
            <a:r>
              <a:rPr lang="en-US" sz="2200" i="1" dirty="0" err="1" smtClean="0">
                <a:solidFill>
                  <a:srgbClr val="C00000"/>
                </a:solidFill>
              </a:rPr>
              <a:t>chunkservers</a:t>
            </a:r>
            <a:r>
              <a:rPr lang="en-US" sz="2200" dirty="0" smtClean="0"/>
              <a:t> and is accessed by </a:t>
            </a:r>
            <a:r>
              <a:rPr lang="en-US" sz="2200" i="1" dirty="0" smtClean="0">
                <a:solidFill>
                  <a:srgbClr val="C00000"/>
                </a:solidFill>
              </a:rPr>
              <a:t>multiple clients</a:t>
            </a:r>
            <a:r>
              <a:rPr lang="en-US" sz="2200" dirty="0" smtClean="0"/>
              <a:t>.</a:t>
            </a:r>
          </a:p>
          <a:p>
            <a:r>
              <a:rPr lang="en-US" sz="2200" i="1" dirty="0" smtClean="0">
                <a:solidFill>
                  <a:srgbClr val="C00000"/>
                </a:solidFill>
              </a:rPr>
              <a:t>Files</a:t>
            </a:r>
            <a:r>
              <a:rPr lang="en-US" sz="2200" dirty="0" smtClean="0"/>
              <a:t> are organized hierarchically in </a:t>
            </a:r>
            <a:r>
              <a:rPr lang="en-US" sz="2200" i="1" dirty="0" smtClean="0">
                <a:solidFill>
                  <a:srgbClr val="C00000"/>
                </a:solidFill>
              </a:rPr>
              <a:t>directories</a:t>
            </a:r>
            <a:r>
              <a:rPr lang="en-US" sz="2200" dirty="0" smtClean="0"/>
              <a:t> and identified by </a:t>
            </a:r>
            <a:r>
              <a:rPr lang="en-US" sz="2200" i="1" dirty="0" smtClean="0">
                <a:solidFill>
                  <a:srgbClr val="C00000"/>
                </a:solidFill>
              </a:rPr>
              <a:t>pathnames</a:t>
            </a:r>
            <a:r>
              <a:rPr lang="en-US" sz="2200" dirty="0" smtClean="0"/>
              <a:t>.</a:t>
            </a:r>
            <a:endParaRPr lang="en-US" sz="22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8650" y="3200400"/>
            <a:ext cx="7886700" cy="302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Terms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File names.</a:t>
            </a:r>
          </a:p>
          <a:p>
            <a:r>
              <a:rPr lang="en-US" dirty="0" smtClean="0"/>
              <a:t>Chunks.</a:t>
            </a:r>
          </a:p>
          <a:p>
            <a:r>
              <a:rPr lang="en-US" dirty="0" smtClean="0"/>
              <a:t>Chunk handles.</a:t>
            </a:r>
          </a:p>
          <a:p>
            <a:r>
              <a:rPr lang="en-US" dirty="0" smtClean="0"/>
              <a:t>Chunk servers.</a:t>
            </a:r>
          </a:p>
          <a:p>
            <a:r>
              <a:rPr lang="en-US" dirty="0" smtClean="0"/>
              <a:t>Chunk data.</a:t>
            </a:r>
          </a:p>
          <a:p>
            <a:r>
              <a:rPr lang="en-US" dirty="0" smtClean="0"/>
              <a:t>Draw a diagram showing the relationship among a file, its chunks, and the chunk servers.</a:t>
            </a:r>
            <a:endParaRPr lang="en-US" dirty="0" smtClean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Chunks and </a:t>
            </a:r>
            <a:r>
              <a:rPr lang="en-US" dirty="0" err="1" smtClean="0"/>
              <a:t>Chunkservers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Files</a:t>
            </a:r>
            <a:r>
              <a:rPr lang="en-US" sz="2400" dirty="0" smtClean="0"/>
              <a:t> are divided into </a:t>
            </a:r>
            <a:r>
              <a:rPr lang="en-US" sz="2400" u="sng" dirty="0" smtClean="0"/>
              <a:t>fixed-size</a:t>
            </a:r>
            <a:r>
              <a:rPr lang="en-US" sz="2400" dirty="0" smtClean="0"/>
              <a:t> </a:t>
            </a:r>
            <a:r>
              <a:rPr lang="en-US" sz="2400" i="1" dirty="0" smtClean="0">
                <a:solidFill>
                  <a:srgbClr val="C00000"/>
                </a:solidFill>
              </a:rPr>
              <a:t>chunks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Each chunk is identified by an </a:t>
            </a:r>
            <a:r>
              <a:rPr lang="en-US" sz="2400" u="sng" dirty="0" smtClean="0"/>
              <a:t>immutable</a:t>
            </a:r>
            <a:r>
              <a:rPr lang="en-US" sz="2400" dirty="0" smtClean="0"/>
              <a:t> and </a:t>
            </a:r>
            <a:r>
              <a:rPr lang="en-US" sz="2400" u="sng" dirty="0" smtClean="0"/>
              <a:t>globally unique</a:t>
            </a:r>
            <a:r>
              <a:rPr lang="en-US" sz="2400" dirty="0" smtClean="0"/>
              <a:t> 64 bit </a:t>
            </a:r>
            <a:r>
              <a:rPr lang="en-US" sz="2400" i="1" dirty="0" smtClean="0">
                <a:solidFill>
                  <a:srgbClr val="C00000"/>
                </a:solidFill>
              </a:rPr>
              <a:t>chunk handle</a:t>
            </a:r>
            <a:r>
              <a:rPr lang="en-US" sz="2400" dirty="0" smtClean="0"/>
              <a:t> assigned by the master at the time of chunk creation.</a:t>
            </a:r>
          </a:p>
          <a:p>
            <a:r>
              <a:rPr lang="en-US" sz="2400" i="1" dirty="0" err="1" smtClean="0">
                <a:solidFill>
                  <a:srgbClr val="C00000"/>
                </a:solidFill>
              </a:rPr>
              <a:t>Chunkservers</a:t>
            </a:r>
            <a:r>
              <a:rPr lang="en-US" sz="2400" dirty="0" smtClean="0"/>
              <a:t> store chunks on local disks as Linux files and read or write chunk data specified by a chunk handle and byte range.</a:t>
            </a:r>
          </a:p>
          <a:p>
            <a:r>
              <a:rPr lang="en-US" sz="2400" dirty="0" smtClean="0"/>
              <a:t>For reliability, each chunk is </a:t>
            </a:r>
            <a:r>
              <a:rPr lang="en-US" sz="2400" i="1" dirty="0" smtClean="0">
                <a:solidFill>
                  <a:srgbClr val="C00000"/>
                </a:solidFill>
              </a:rPr>
              <a:t>replicated</a:t>
            </a:r>
            <a:r>
              <a:rPr lang="en-US" sz="2400" dirty="0" smtClean="0"/>
              <a:t> on multiple </a:t>
            </a:r>
            <a:r>
              <a:rPr lang="en-US" sz="2400" dirty="0" err="1" smtClean="0"/>
              <a:t>chunkservers</a:t>
            </a:r>
            <a:r>
              <a:rPr lang="en-US" sz="2400" dirty="0" smtClean="0"/>
              <a:t>. By default, we store </a:t>
            </a:r>
            <a:r>
              <a:rPr lang="en-US" sz="2400" u="sng" dirty="0" smtClean="0"/>
              <a:t>three</a:t>
            </a:r>
            <a:r>
              <a:rPr lang="en-US" sz="2400" dirty="0" smtClean="0"/>
              <a:t> replicas.</a:t>
            </a:r>
            <a:endParaRPr lang="en-US" sz="2400" dirty="0" smtClean="0">
              <a:sym typeface="Wingdings" pitchFamily="2" charset="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Chunk Size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We have chosen 64 MB, which is much larger than typical file system block sizes.</a:t>
            </a:r>
          </a:p>
          <a:p>
            <a:r>
              <a:rPr lang="en-US" sz="2400" dirty="0" smtClean="0"/>
              <a:t>Each </a:t>
            </a:r>
            <a:r>
              <a:rPr lang="en-US" sz="2400" i="1" dirty="0" smtClean="0">
                <a:solidFill>
                  <a:srgbClr val="C00000"/>
                </a:solidFill>
              </a:rPr>
              <a:t>chunk replica</a:t>
            </a:r>
            <a:r>
              <a:rPr lang="en-US" sz="2400" dirty="0" smtClean="0"/>
              <a:t> is stored as a plain Linux file on a </a:t>
            </a:r>
            <a:r>
              <a:rPr lang="en-US" sz="2400" dirty="0" err="1" smtClean="0"/>
              <a:t>chunkserver</a:t>
            </a:r>
            <a:r>
              <a:rPr lang="en-US" sz="2400" dirty="0" smtClean="0"/>
              <a:t> and is extended only as needed.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Large Chunk Size Advantages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First, it reduces clients’ need to interact with the master because reads and writes on the same chunk require only one initial request to the master for chunk location information.</a:t>
            </a:r>
          </a:p>
          <a:p>
            <a:r>
              <a:rPr lang="en-US" sz="2400" dirty="0" smtClean="0"/>
              <a:t>Second, since on a large chunk, a client is more likely to perform many operations on a given chunk, it can reduce network overhead by keeping a persistent TCP connection to the </a:t>
            </a:r>
            <a:r>
              <a:rPr lang="en-US" sz="2400" dirty="0" err="1" smtClean="0"/>
              <a:t>chunkserver</a:t>
            </a:r>
            <a:r>
              <a:rPr lang="en-US" sz="2400" dirty="0" smtClean="0"/>
              <a:t> over an extended period of time.</a:t>
            </a:r>
          </a:p>
          <a:p>
            <a:r>
              <a:rPr lang="en-US" sz="2400" dirty="0" smtClean="0"/>
              <a:t>Third, it reduces the size of the metadata stored on the master. This allows us to keep the metadata in memory</a:t>
            </a:r>
          </a:p>
          <a:p>
            <a:endParaRPr lang="en-US" sz="2400" dirty="0" smtClean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Large Chunk Size Disadvantages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 small file consists of a small number of chunks, perhaps just one.</a:t>
            </a:r>
          </a:p>
          <a:p>
            <a:r>
              <a:rPr lang="en-US" sz="2400" dirty="0" smtClean="0"/>
              <a:t>The </a:t>
            </a:r>
            <a:r>
              <a:rPr lang="en-US" sz="2400" dirty="0" err="1" smtClean="0"/>
              <a:t>chunkservers</a:t>
            </a:r>
            <a:r>
              <a:rPr lang="en-US" sz="2400" dirty="0" smtClean="0"/>
              <a:t> storing those chunks may become </a:t>
            </a:r>
            <a:r>
              <a:rPr lang="en-US" sz="2400" i="1" dirty="0" smtClean="0">
                <a:solidFill>
                  <a:srgbClr val="C00000"/>
                </a:solidFill>
              </a:rPr>
              <a:t>hot spots</a:t>
            </a:r>
            <a:r>
              <a:rPr lang="en-US" sz="2400" dirty="0" smtClean="0"/>
              <a:t> if many clients are accessing </a:t>
            </a:r>
            <a:r>
              <a:rPr lang="en-US" sz="2400" u="sng" dirty="0" smtClean="0"/>
              <a:t>the same file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Hot spots did develop when GFS was first used by a batch-queue system: an executable was written to GFS as a single-chunk file and then started on hundreds of machines at the same time.</a:t>
            </a:r>
          </a:p>
          <a:p>
            <a:r>
              <a:rPr lang="en-US" sz="2400" dirty="0" smtClean="0"/>
              <a:t>We fixed this problem by storing such executables with a higher replication factor and by making the batch queue system stagger application start times.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Master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The master maintains all </a:t>
            </a:r>
            <a:r>
              <a:rPr lang="en-US" sz="2400" i="1" dirty="0" smtClean="0">
                <a:solidFill>
                  <a:srgbClr val="C00000"/>
                </a:solidFill>
              </a:rPr>
              <a:t>file system metadata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This includes the namespace, access control information, the mapping from files to chunks, and the current locations of chunks.</a:t>
            </a:r>
          </a:p>
          <a:p>
            <a:r>
              <a:rPr lang="en-US" sz="2400" dirty="0" smtClean="0"/>
              <a:t>It also controls system-wide activities such as </a:t>
            </a:r>
            <a:r>
              <a:rPr lang="en-US" sz="2400" i="1" dirty="0" smtClean="0">
                <a:solidFill>
                  <a:srgbClr val="C00000"/>
                </a:solidFill>
              </a:rPr>
              <a:t>chunk lease</a:t>
            </a:r>
            <a:r>
              <a:rPr lang="en-US" sz="2400" dirty="0" smtClean="0"/>
              <a:t> management, garbage collection of </a:t>
            </a:r>
            <a:r>
              <a:rPr lang="en-US" sz="2400" i="1" dirty="0" smtClean="0">
                <a:solidFill>
                  <a:srgbClr val="C00000"/>
                </a:solidFill>
              </a:rPr>
              <a:t>orphaned chunks</a:t>
            </a:r>
            <a:r>
              <a:rPr lang="en-US" sz="2400" dirty="0" smtClean="0"/>
              <a:t>, and </a:t>
            </a:r>
            <a:r>
              <a:rPr lang="en-US" sz="2400" i="1" dirty="0" smtClean="0">
                <a:solidFill>
                  <a:srgbClr val="C00000"/>
                </a:solidFill>
              </a:rPr>
              <a:t>chunk migration</a:t>
            </a:r>
            <a:r>
              <a:rPr lang="en-US" sz="2400" dirty="0" smtClean="0"/>
              <a:t> between </a:t>
            </a:r>
            <a:r>
              <a:rPr lang="en-US" sz="2400" dirty="0" err="1" smtClean="0"/>
              <a:t>chunkservers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The master periodically communicates with each </a:t>
            </a:r>
            <a:r>
              <a:rPr lang="en-US" sz="2400" dirty="0" err="1" smtClean="0"/>
              <a:t>chunkserver</a:t>
            </a:r>
            <a:r>
              <a:rPr lang="en-US" sz="2400" dirty="0" smtClean="0"/>
              <a:t> in </a:t>
            </a:r>
            <a:r>
              <a:rPr lang="en-US" sz="2400" i="1" dirty="0" err="1" smtClean="0">
                <a:solidFill>
                  <a:srgbClr val="C00000"/>
                </a:solidFill>
              </a:rPr>
              <a:t>HeartBeat</a:t>
            </a:r>
            <a:r>
              <a:rPr lang="en-US" sz="2400" i="1" dirty="0" smtClean="0">
                <a:solidFill>
                  <a:srgbClr val="C00000"/>
                </a:solidFill>
              </a:rPr>
              <a:t> messages</a:t>
            </a:r>
            <a:r>
              <a:rPr lang="en-US" sz="2400" dirty="0" smtClean="0"/>
              <a:t> to give it </a:t>
            </a:r>
            <a:r>
              <a:rPr lang="en-US" sz="2400" u="sng" dirty="0" smtClean="0"/>
              <a:t>instructions</a:t>
            </a:r>
            <a:r>
              <a:rPr lang="en-US" sz="2400" dirty="0" smtClean="0"/>
              <a:t> and collect its </a:t>
            </a:r>
            <a:r>
              <a:rPr lang="en-US" sz="2400" u="sng" dirty="0" smtClean="0"/>
              <a:t>state</a:t>
            </a:r>
            <a:r>
              <a:rPr lang="en-US" sz="2400" dirty="0" smtClean="0"/>
              <a:t>.</a:t>
            </a:r>
            <a:endParaRPr lang="en-US" sz="2400" dirty="0" smtClean="0">
              <a:sym typeface="Wingdings" pitchFamily="2" charset="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GFS Clients and Applications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GFS client code</a:t>
            </a:r>
            <a:r>
              <a:rPr lang="en-US" sz="2400" dirty="0" smtClean="0"/>
              <a:t> </a:t>
            </a:r>
            <a:r>
              <a:rPr lang="en-US" sz="2400" u="sng" dirty="0" smtClean="0"/>
              <a:t>linked into each application</a:t>
            </a:r>
            <a:r>
              <a:rPr lang="en-US" sz="2400" dirty="0" smtClean="0"/>
              <a:t> implements the file system API and communicates with the master and </a:t>
            </a:r>
            <a:r>
              <a:rPr lang="en-US" sz="2400" dirty="0" err="1" smtClean="0"/>
              <a:t>chunkservers</a:t>
            </a:r>
            <a:r>
              <a:rPr lang="en-US" sz="2400" dirty="0" smtClean="0"/>
              <a:t> to read or write data </a:t>
            </a:r>
            <a:r>
              <a:rPr lang="en-US" sz="2400" i="1" dirty="0" smtClean="0">
                <a:solidFill>
                  <a:srgbClr val="C00000"/>
                </a:solidFill>
              </a:rPr>
              <a:t>on behalf of</a:t>
            </a:r>
            <a:r>
              <a:rPr lang="en-US" sz="2400" dirty="0" smtClean="0"/>
              <a:t> the application.</a:t>
            </a:r>
          </a:p>
          <a:p>
            <a:r>
              <a:rPr lang="en-US" sz="2400" dirty="0" smtClean="0"/>
              <a:t>Clients interact with the master for </a:t>
            </a:r>
            <a:r>
              <a:rPr lang="en-US" sz="2400" i="1" dirty="0" smtClean="0">
                <a:solidFill>
                  <a:srgbClr val="C00000"/>
                </a:solidFill>
              </a:rPr>
              <a:t>metadata</a:t>
            </a:r>
            <a:r>
              <a:rPr lang="en-US" sz="2400" dirty="0" smtClean="0"/>
              <a:t> operations, but all </a:t>
            </a:r>
            <a:r>
              <a:rPr lang="en-US" sz="2400" i="1" dirty="0" smtClean="0">
                <a:solidFill>
                  <a:srgbClr val="C00000"/>
                </a:solidFill>
              </a:rPr>
              <a:t>data-bearing communication</a:t>
            </a:r>
            <a:r>
              <a:rPr lang="en-US" sz="2400" dirty="0" smtClean="0"/>
              <a:t> goes directly to the </a:t>
            </a:r>
            <a:r>
              <a:rPr lang="en-US" sz="2400" dirty="0" err="1" smtClean="0"/>
              <a:t>chunkservers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Clients never read and write file data through the </a:t>
            </a:r>
            <a:r>
              <a:rPr lang="en-US" sz="2400" dirty="0" smtClean="0"/>
              <a:t>master. Instead</a:t>
            </a:r>
            <a:r>
              <a:rPr lang="en-US" sz="2400" dirty="0" smtClean="0"/>
              <a:t>, a client asks the master which </a:t>
            </a:r>
            <a:r>
              <a:rPr lang="en-US" sz="2400" dirty="0" err="1" smtClean="0"/>
              <a:t>chunkservers</a:t>
            </a:r>
            <a:r>
              <a:rPr lang="en-US" sz="2400" dirty="0" smtClean="0"/>
              <a:t> it should contact.</a:t>
            </a:r>
          </a:p>
          <a:p>
            <a:r>
              <a:rPr lang="en-US" sz="2400" dirty="0" smtClean="0"/>
              <a:t>It </a:t>
            </a:r>
            <a:r>
              <a:rPr lang="en-US" sz="2400" i="1" dirty="0" smtClean="0">
                <a:solidFill>
                  <a:srgbClr val="C00000"/>
                </a:solidFill>
              </a:rPr>
              <a:t>caches</a:t>
            </a:r>
            <a:r>
              <a:rPr lang="en-US" sz="2400" dirty="0" smtClean="0"/>
              <a:t> this information for a limited time and interacts with the </a:t>
            </a:r>
            <a:r>
              <a:rPr lang="en-US" sz="2400" dirty="0" err="1" smtClean="0"/>
              <a:t>chunkservers</a:t>
            </a:r>
            <a:r>
              <a:rPr lang="en-US" sz="2400" dirty="0" smtClean="0"/>
              <a:t> directly for many subsequent operations.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API for Clients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We </a:t>
            </a:r>
            <a:r>
              <a:rPr lang="en-US" sz="2800" dirty="0" smtClean="0"/>
              <a:t>support the usual operations to </a:t>
            </a:r>
            <a:r>
              <a:rPr lang="en-US" sz="2800" i="1" dirty="0" smtClean="0">
                <a:solidFill>
                  <a:srgbClr val="C00000"/>
                </a:solidFill>
              </a:rPr>
              <a:t>create</a:t>
            </a:r>
            <a:r>
              <a:rPr lang="en-US" sz="2800" dirty="0" smtClean="0"/>
              <a:t>, </a:t>
            </a:r>
            <a:r>
              <a:rPr lang="en-US" sz="2800" i="1" dirty="0" smtClean="0">
                <a:solidFill>
                  <a:srgbClr val="C00000"/>
                </a:solidFill>
              </a:rPr>
              <a:t>delete</a:t>
            </a:r>
            <a:r>
              <a:rPr lang="en-US" sz="2800" dirty="0" smtClean="0"/>
              <a:t>, </a:t>
            </a:r>
            <a:r>
              <a:rPr lang="en-US" sz="2800" i="1" dirty="0" smtClean="0">
                <a:solidFill>
                  <a:srgbClr val="C00000"/>
                </a:solidFill>
              </a:rPr>
              <a:t>open</a:t>
            </a:r>
            <a:r>
              <a:rPr lang="en-US" sz="2800" dirty="0" smtClean="0"/>
              <a:t>, </a:t>
            </a:r>
            <a:r>
              <a:rPr lang="en-US" sz="2800" dirty="0" smtClean="0">
                <a:solidFill>
                  <a:srgbClr val="C00000"/>
                </a:solidFill>
              </a:rPr>
              <a:t>close</a:t>
            </a:r>
            <a:r>
              <a:rPr lang="en-US" sz="2800" dirty="0" smtClean="0"/>
              <a:t>, </a:t>
            </a:r>
            <a:r>
              <a:rPr lang="en-US" sz="2800" i="1" dirty="0" smtClean="0">
                <a:solidFill>
                  <a:srgbClr val="C00000"/>
                </a:solidFill>
              </a:rPr>
              <a:t>read</a:t>
            </a:r>
            <a:r>
              <a:rPr lang="en-US" sz="2800" dirty="0" smtClean="0"/>
              <a:t>, and </a:t>
            </a:r>
            <a:r>
              <a:rPr lang="en-US" sz="2800" i="1" dirty="0" smtClean="0">
                <a:solidFill>
                  <a:srgbClr val="C00000"/>
                </a:solidFill>
              </a:rPr>
              <a:t>write</a:t>
            </a:r>
            <a:r>
              <a:rPr lang="en-US" sz="2800" dirty="0" smtClean="0"/>
              <a:t> files.</a:t>
            </a:r>
          </a:p>
          <a:p>
            <a:r>
              <a:rPr lang="en-US" sz="2800" dirty="0" smtClean="0"/>
              <a:t>GFS has </a:t>
            </a:r>
            <a:r>
              <a:rPr lang="en-US" sz="2800" i="1" dirty="0" smtClean="0">
                <a:solidFill>
                  <a:srgbClr val="C00000"/>
                </a:solidFill>
              </a:rPr>
              <a:t>snapshot</a:t>
            </a:r>
            <a:r>
              <a:rPr lang="en-US" sz="2800" dirty="0" smtClean="0"/>
              <a:t> and </a:t>
            </a:r>
            <a:r>
              <a:rPr lang="en-US" sz="2800" i="1" dirty="0" smtClean="0">
                <a:solidFill>
                  <a:srgbClr val="C00000"/>
                </a:solidFill>
              </a:rPr>
              <a:t>record append</a:t>
            </a:r>
            <a:r>
              <a:rPr lang="en-US" sz="2800" dirty="0" smtClean="0"/>
              <a:t> operations.</a:t>
            </a:r>
          </a:p>
          <a:p>
            <a:pPr lvl="1"/>
            <a:r>
              <a:rPr lang="en-US" sz="2400" i="1" dirty="0" smtClean="0">
                <a:solidFill>
                  <a:srgbClr val="C00000"/>
                </a:solidFill>
              </a:rPr>
              <a:t>Snapshot</a:t>
            </a:r>
            <a:r>
              <a:rPr lang="en-US" sz="2400" dirty="0" smtClean="0"/>
              <a:t> creates a copy of a file or a directory tree at low cost.</a:t>
            </a:r>
          </a:p>
          <a:p>
            <a:pPr lvl="1"/>
            <a:r>
              <a:rPr lang="en-US" sz="2400" i="1" dirty="0" smtClean="0">
                <a:solidFill>
                  <a:srgbClr val="C00000"/>
                </a:solidFill>
              </a:rPr>
              <a:t>Record append</a:t>
            </a:r>
            <a:r>
              <a:rPr lang="en-US" sz="2400" dirty="0" smtClean="0"/>
              <a:t> allows multiple clients to append data to the same file concurrently while guaranteeing the atomicity of each individual client’s append. It is useful for implementing multi-way merge results and producer-consumer queues that many clients can simultaneously append to </a:t>
            </a:r>
            <a:r>
              <a:rPr lang="en-US" sz="2400" i="1" dirty="0" smtClean="0">
                <a:solidFill>
                  <a:srgbClr val="C00000"/>
                </a:solidFill>
              </a:rPr>
              <a:t>without additional locking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Metadata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The master stores three major types of metadata: the file and chunk namespaces, the mapping from files to chunks, and the locations of each chunk’s replicas.</a:t>
            </a:r>
          </a:p>
          <a:p>
            <a:r>
              <a:rPr lang="en-US" sz="2400" dirty="0" smtClean="0"/>
              <a:t>All metadata is kept in </a:t>
            </a:r>
            <a:r>
              <a:rPr lang="en-US" sz="2400" i="1" dirty="0" smtClean="0">
                <a:solidFill>
                  <a:srgbClr val="C00000"/>
                </a:solidFill>
              </a:rPr>
              <a:t>the master’s memory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The first two types (namespaces and file-to-chunk mapping) are also kept persistent by logging mutations to an </a:t>
            </a:r>
            <a:r>
              <a:rPr lang="en-US" sz="2400" i="1" dirty="0" smtClean="0">
                <a:solidFill>
                  <a:srgbClr val="C00000"/>
                </a:solidFill>
              </a:rPr>
              <a:t>operation log</a:t>
            </a:r>
            <a:r>
              <a:rPr lang="en-US" sz="2400" dirty="0" smtClean="0"/>
              <a:t> stored on the master’s local disk and replicated on remote machines.</a:t>
            </a:r>
          </a:p>
          <a:p>
            <a:r>
              <a:rPr lang="en-US" sz="2400" dirty="0" smtClean="0"/>
              <a:t>Using a log allows us to update the master state simply, reliably, and without risking inconsistencies in the event of a </a:t>
            </a:r>
            <a:r>
              <a:rPr lang="en-US" sz="2400" i="1" dirty="0" smtClean="0">
                <a:solidFill>
                  <a:srgbClr val="C00000"/>
                </a:solidFill>
              </a:rPr>
              <a:t>master crash</a:t>
            </a:r>
            <a:r>
              <a:rPr lang="en-US" sz="2400" dirty="0" smtClean="0"/>
              <a:t>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Memory-Only Approach Concern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One potential concern for this memory-only approach is that </a:t>
            </a:r>
            <a:r>
              <a:rPr lang="en-US" sz="2400" i="1" dirty="0" smtClean="0">
                <a:solidFill>
                  <a:srgbClr val="C00000"/>
                </a:solidFill>
              </a:rPr>
              <a:t>the number of chunks</a:t>
            </a:r>
            <a:r>
              <a:rPr lang="en-US" sz="2400" dirty="0" smtClean="0"/>
              <a:t> and hence the capacity of the whole system is </a:t>
            </a:r>
            <a:r>
              <a:rPr lang="en-US" sz="2400" u="sng" dirty="0" smtClean="0"/>
              <a:t>limited</a:t>
            </a:r>
            <a:r>
              <a:rPr lang="en-US" sz="2400" dirty="0" smtClean="0"/>
              <a:t> by how much memory the master has.</a:t>
            </a:r>
          </a:p>
          <a:p>
            <a:r>
              <a:rPr lang="en-US" sz="2400" dirty="0" smtClean="0"/>
              <a:t>If necessary to support even larger file systems, the cost of adding extra memory to the master is a small price to pay for the simplicity, reliability, performance, and flexibility we gain by storing the metadata in memory.</a:t>
            </a:r>
            <a:endParaRPr lang="en-US" sz="2200" dirty="0" smtClean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Chunk </a:t>
            </a:r>
            <a:r>
              <a:rPr lang="en-US" dirty="0" smtClean="0"/>
              <a:t>Location Information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The master does </a:t>
            </a:r>
            <a:r>
              <a:rPr lang="en-US" sz="2400" u="sng" dirty="0" smtClean="0"/>
              <a:t>not</a:t>
            </a:r>
            <a:r>
              <a:rPr lang="en-US" sz="2400" dirty="0" smtClean="0"/>
              <a:t> store </a:t>
            </a:r>
            <a:r>
              <a:rPr lang="en-US" sz="2400" i="1" dirty="0" smtClean="0">
                <a:solidFill>
                  <a:srgbClr val="C00000"/>
                </a:solidFill>
              </a:rPr>
              <a:t>chunk location</a:t>
            </a:r>
            <a:r>
              <a:rPr lang="en-US" sz="2400" dirty="0" smtClean="0"/>
              <a:t> information persistently. Instead, it asks each </a:t>
            </a:r>
            <a:r>
              <a:rPr lang="en-US" sz="2400" dirty="0" err="1" smtClean="0"/>
              <a:t>chunkserver</a:t>
            </a:r>
            <a:r>
              <a:rPr lang="en-US" sz="2400" dirty="0" smtClean="0"/>
              <a:t> about its chunks at master startup and whenever a </a:t>
            </a:r>
            <a:r>
              <a:rPr lang="en-US" sz="2400" dirty="0" err="1" smtClean="0"/>
              <a:t>chunkserver</a:t>
            </a:r>
            <a:r>
              <a:rPr lang="en-US" sz="2400" dirty="0" smtClean="0"/>
              <a:t> joins the cluster.</a:t>
            </a:r>
          </a:p>
          <a:p>
            <a:r>
              <a:rPr lang="en-US" sz="2400" dirty="0" smtClean="0"/>
              <a:t>A </a:t>
            </a:r>
            <a:r>
              <a:rPr lang="en-US" sz="2400" dirty="0" err="1" smtClean="0"/>
              <a:t>chunkserver</a:t>
            </a:r>
            <a:r>
              <a:rPr lang="en-US" sz="2400" dirty="0" smtClean="0"/>
              <a:t> has the final word over what chunks it does or does not have on its own disks.</a:t>
            </a:r>
          </a:p>
          <a:p>
            <a:r>
              <a:rPr lang="en-US" sz="2400" dirty="0" smtClean="0"/>
              <a:t>There is no point in trying to maintain a consistent view of this information on the master because errors on a </a:t>
            </a:r>
            <a:r>
              <a:rPr lang="en-US" sz="2400" dirty="0" err="1" smtClean="0"/>
              <a:t>chunkserver</a:t>
            </a:r>
            <a:r>
              <a:rPr lang="en-US" sz="2400" dirty="0" smtClean="0"/>
              <a:t> may cause chunks to vanish spontaneously (e.g., a disk may go bad and be disabled) or an operator may rename a </a:t>
            </a:r>
            <a:r>
              <a:rPr lang="en-US" sz="2400" dirty="0" err="1" smtClean="0"/>
              <a:t>chunkserver</a:t>
            </a:r>
            <a:r>
              <a:rPr lang="en-US" sz="2400" dirty="0" smtClean="0"/>
              <a:t>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Chunkserver</a:t>
            </a:r>
            <a:r>
              <a:rPr lang="en-US" dirty="0" smtClean="0"/>
              <a:t> Failures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Since </a:t>
            </a:r>
            <a:r>
              <a:rPr lang="en-US" dirty="0" smtClean="0"/>
              <a:t>a chunk can have </a:t>
            </a:r>
            <a:r>
              <a:rPr lang="en-US" i="1" dirty="0" smtClean="0">
                <a:solidFill>
                  <a:srgbClr val="C00000"/>
                </a:solidFill>
              </a:rPr>
              <a:t>multiple replicas</a:t>
            </a:r>
            <a:r>
              <a:rPr lang="en-US" dirty="0" smtClean="0"/>
              <a:t>, and updates are </a:t>
            </a:r>
            <a:r>
              <a:rPr lang="en-US" dirty="0" smtClean="0"/>
              <a:t>allowed, </a:t>
            </a:r>
            <a:r>
              <a:rPr lang="en-US" dirty="0" smtClean="0"/>
              <a:t>it is possible for some replicas to fall behind if a </a:t>
            </a:r>
            <a:r>
              <a:rPr lang="en-US" dirty="0" err="1" smtClean="0"/>
              <a:t>chunkserver</a:t>
            </a:r>
            <a:r>
              <a:rPr lang="en-US" dirty="0" smtClean="0"/>
              <a:t> fails or temporarily disconnects.</a:t>
            </a:r>
          </a:p>
          <a:p>
            <a:r>
              <a:rPr lang="en-US" dirty="0" smtClean="0"/>
              <a:t>Without </a:t>
            </a:r>
            <a:r>
              <a:rPr lang="en-US" dirty="0" smtClean="0"/>
              <a:t>a mechanism to track which replica is the most recent, clients could read stale or inconsistent data</a:t>
            </a:r>
            <a:r>
              <a:rPr lang="en-US" dirty="0" smtClean="0"/>
              <a:t>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Chunk Versions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Each chunk has a </a:t>
            </a:r>
            <a:r>
              <a:rPr lang="en-US" i="1" dirty="0" smtClean="0">
                <a:solidFill>
                  <a:srgbClr val="C00000"/>
                </a:solidFill>
              </a:rPr>
              <a:t>version number</a:t>
            </a:r>
            <a:r>
              <a:rPr lang="en-US" dirty="0" smtClean="0"/>
              <a:t>, assigned and incremented by the master when a new mutation (write/append) is committed.</a:t>
            </a:r>
          </a:p>
          <a:p>
            <a:r>
              <a:rPr lang="en-US" dirty="0" smtClean="0"/>
              <a:t>This </a:t>
            </a:r>
            <a:r>
              <a:rPr lang="en-US" dirty="0" smtClean="0"/>
              <a:t>version is stored on the </a:t>
            </a:r>
            <a:r>
              <a:rPr lang="en-US" dirty="0" err="1" smtClean="0"/>
              <a:t>chunkserver</a:t>
            </a:r>
            <a:r>
              <a:rPr lang="en-US" dirty="0" smtClean="0"/>
              <a:t> along with the chunk data</a:t>
            </a:r>
            <a:r>
              <a:rPr lang="en-US" dirty="0" smtClean="0"/>
              <a:t>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Roles of Chunk Versions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i="1" dirty="0" smtClean="0">
                <a:solidFill>
                  <a:srgbClr val="C00000"/>
                </a:solidFill>
              </a:rPr>
              <a:t>Consistency </a:t>
            </a:r>
            <a:r>
              <a:rPr lang="en-US" sz="2800" i="1" dirty="0" smtClean="0">
                <a:solidFill>
                  <a:srgbClr val="C00000"/>
                </a:solidFill>
              </a:rPr>
              <a:t>checks</a:t>
            </a:r>
            <a:r>
              <a:rPr lang="en-US" sz="2800" dirty="0" smtClean="0"/>
              <a:t>: Before applying a write, the master checks that all replicas are at the correct version. Any replica with an outdated version is considered </a:t>
            </a:r>
            <a:r>
              <a:rPr lang="en-US" sz="2800" i="1" dirty="0" smtClean="0">
                <a:solidFill>
                  <a:srgbClr val="C00000"/>
                </a:solidFill>
              </a:rPr>
              <a:t>stale</a:t>
            </a:r>
            <a:r>
              <a:rPr lang="en-US" sz="2800" dirty="0" smtClean="0"/>
              <a:t>.</a:t>
            </a:r>
          </a:p>
          <a:p>
            <a:r>
              <a:rPr lang="en-US" sz="2800" i="1" dirty="0" smtClean="0">
                <a:solidFill>
                  <a:srgbClr val="C00000"/>
                </a:solidFill>
              </a:rPr>
              <a:t>Stale </a:t>
            </a:r>
            <a:r>
              <a:rPr lang="en-US" sz="2800" i="1" dirty="0" smtClean="0">
                <a:solidFill>
                  <a:srgbClr val="C00000"/>
                </a:solidFill>
              </a:rPr>
              <a:t>replica detection</a:t>
            </a:r>
            <a:r>
              <a:rPr lang="en-US" sz="2800" dirty="0" smtClean="0"/>
              <a:t>: If a replica has an old version, the master will either </a:t>
            </a:r>
            <a:r>
              <a:rPr lang="en-US" sz="2800" i="1" dirty="0" smtClean="0">
                <a:solidFill>
                  <a:srgbClr val="C00000"/>
                </a:solidFill>
              </a:rPr>
              <a:t>discard it</a:t>
            </a:r>
            <a:r>
              <a:rPr lang="en-US" sz="2800" dirty="0" smtClean="0"/>
              <a:t> or </a:t>
            </a:r>
            <a:r>
              <a:rPr lang="en-US" sz="2800" i="1" dirty="0" smtClean="0">
                <a:solidFill>
                  <a:srgbClr val="C00000"/>
                </a:solidFill>
              </a:rPr>
              <a:t>update it</a:t>
            </a:r>
            <a:r>
              <a:rPr lang="en-US" sz="2800" dirty="0" smtClean="0"/>
              <a:t> from a fresh replica to maintain uniformity.</a:t>
            </a:r>
          </a:p>
          <a:p>
            <a:r>
              <a:rPr lang="en-US" sz="2800" i="1" dirty="0" smtClean="0">
                <a:solidFill>
                  <a:srgbClr val="C00000"/>
                </a:solidFill>
              </a:rPr>
              <a:t>Efficient </a:t>
            </a:r>
            <a:r>
              <a:rPr lang="en-US" sz="2800" i="1" dirty="0" smtClean="0">
                <a:solidFill>
                  <a:srgbClr val="C00000"/>
                </a:solidFill>
              </a:rPr>
              <a:t>replication</a:t>
            </a:r>
            <a:r>
              <a:rPr lang="en-US" sz="2800" dirty="0" smtClean="0"/>
              <a:t>: Only up-to-date replicas are used for serving reads and replicating data. This avoids propagating outdated data.</a:t>
            </a:r>
            <a:endParaRPr lang="en-US" sz="2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Operation Log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The operation log contains a historical record of critical metadata changes.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Files</a:t>
            </a:r>
            <a:r>
              <a:rPr lang="en-US" sz="2400" dirty="0" smtClean="0"/>
              <a:t> and </a:t>
            </a:r>
            <a:r>
              <a:rPr lang="en-US" sz="2400" i="1" dirty="0" smtClean="0">
                <a:solidFill>
                  <a:srgbClr val="C00000"/>
                </a:solidFill>
              </a:rPr>
              <a:t>chunks</a:t>
            </a:r>
            <a:r>
              <a:rPr lang="en-US" sz="2400" dirty="0" smtClean="0"/>
              <a:t>, as well as </a:t>
            </a:r>
            <a:r>
              <a:rPr lang="en-US" sz="2400" i="1" dirty="0" smtClean="0">
                <a:solidFill>
                  <a:srgbClr val="C00000"/>
                </a:solidFill>
              </a:rPr>
              <a:t>their versions</a:t>
            </a:r>
            <a:r>
              <a:rPr lang="en-US" sz="2400" dirty="0" smtClean="0"/>
              <a:t> are all </a:t>
            </a:r>
            <a:r>
              <a:rPr lang="en-US" sz="2400" u="sng" dirty="0" smtClean="0"/>
              <a:t>uniquely</a:t>
            </a:r>
            <a:r>
              <a:rPr lang="en-US" sz="2400" dirty="0" smtClean="0"/>
              <a:t> </a:t>
            </a:r>
            <a:r>
              <a:rPr lang="en-US" sz="2400" dirty="0" smtClean="0"/>
              <a:t>and </a:t>
            </a:r>
            <a:r>
              <a:rPr lang="en-US" sz="2400" u="sng" dirty="0" smtClean="0"/>
              <a:t>eternally identified</a:t>
            </a:r>
            <a:r>
              <a:rPr lang="en-US" sz="2400" dirty="0" smtClean="0"/>
              <a:t> by the logical times at which they were created.</a:t>
            </a:r>
          </a:p>
          <a:p>
            <a:r>
              <a:rPr lang="en-US" sz="2400" dirty="0" smtClean="0"/>
              <a:t>We replicate it on multiple remote machines and respond to a client operation only after flushing the corresponding log record to disk both locally and remotely.</a:t>
            </a:r>
          </a:p>
          <a:p>
            <a:r>
              <a:rPr lang="en-US" sz="2400" dirty="0" smtClean="0"/>
              <a:t>The master recovers its file system state by replaying the operation log.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Operation Log Checkpoint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To minimize startup time, we must keep the log small.</a:t>
            </a:r>
          </a:p>
          <a:p>
            <a:r>
              <a:rPr lang="en-US" sz="2400" dirty="0" smtClean="0"/>
              <a:t>The master checkpoints its state whenever the log grows beyond a certain size so that it can recover by loading the latest checkpoint from local disk and replaying only the limited number of log records after that.</a:t>
            </a:r>
          </a:p>
          <a:p>
            <a:r>
              <a:rPr lang="en-US" sz="2400" dirty="0" smtClean="0"/>
              <a:t>The </a:t>
            </a:r>
            <a:r>
              <a:rPr lang="en-US" sz="2400" i="1" dirty="0" smtClean="0">
                <a:solidFill>
                  <a:srgbClr val="C00000"/>
                </a:solidFill>
              </a:rPr>
              <a:t>checkpoint</a:t>
            </a:r>
            <a:r>
              <a:rPr lang="en-US" sz="2400" dirty="0" smtClean="0"/>
              <a:t> is in a compact B-tree like form that can be directly mapped into memory and used for namespace lookup without extra parsing.</a:t>
            </a:r>
          </a:p>
          <a:p>
            <a:r>
              <a:rPr lang="en-US" sz="2400" dirty="0" smtClean="0"/>
              <a:t>It can be created in a minute or so for a cluster with a few million files. When completed, it is written to disk both locally and remotely.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Master Data Consistency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File namespace mutations (e.g., file creation) are atomic.</a:t>
            </a:r>
          </a:p>
          <a:p>
            <a:r>
              <a:rPr lang="en-US" dirty="0" smtClean="0"/>
              <a:t>They are handled exclusively by the master: </a:t>
            </a:r>
            <a:r>
              <a:rPr lang="en-US" i="1" dirty="0" smtClean="0">
                <a:solidFill>
                  <a:srgbClr val="C00000"/>
                </a:solidFill>
              </a:rPr>
              <a:t>namespace locking</a:t>
            </a:r>
            <a:r>
              <a:rPr lang="en-US" dirty="0" smtClean="0"/>
              <a:t> guarantees atomicity and correctness.</a:t>
            </a:r>
          </a:p>
          <a:p>
            <a:r>
              <a:rPr lang="en-US" dirty="0" smtClean="0"/>
              <a:t>The master’s operation log defines a global total order of these operations.</a:t>
            </a:r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i="1" dirty="0" smtClean="0">
                <a:solidFill>
                  <a:srgbClr val="C00000"/>
                </a:solidFill>
              </a:rPr>
              <a:t>mutation</a:t>
            </a:r>
            <a:r>
              <a:rPr lang="en-US" dirty="0" smtClean="0"/>
              <a:t> is an operation that changes the contents or metadata of a chunk such as a </a:t>
            </a:r>
            <a:r>
              <a:rPr lang="en-US" u="sng" dirty="0" smtClean="0"/>
              <a:t>write</a:t>
            </a:r>
            <a:r>
              <a:rPr lang="en-US" dirty="0" smtClean="0"/>
              <a:t> or an </a:t>
            </a:r>
            <a:r>
              <a:rPr lang="en-US" u="sng" dirty="0" smtClean="0"/>
              <a:t>append</a:t>
            </a:r>
            <a:r>
              <a:rPr lang="en-US" dirty="0" smtClean="0"/>
              <a:t> operation.</a:t>
            </a:r>
          </a:p>
          <a:p>
            <a:r>
              <a:rPr lang="en-US" dirty="0" smtClean="0"/>
              <a:t>Each mutation is performed at all the chunk’s replicas</a:t>
            </a:r>
            <a:r>
              <a:rPr lang="en-US" dirty="0" smtClean="0"/>
              <a:t>.</a:t>
            </a:r>
            <a:endParaRPr lang="en-US" dirty="0" smtClean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Leases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A lease has an initial </a:t>
            </a:r>
            <a:r>
              <a:rPr lang="en-US" sz="2200" i="1" dirty="0" smtClean="0">
                <a:solidFill>
                  <a:srgbClr val="C00000"/>
                </a:solidFill>
              </a:rPr>
              <a:t>timeout</a:t>
            </a:r>
            <a:r>
              <a:rPr lang="en-US" sz="2200" dirty="0" smtClean="0"/>
              <a:t> of 60 seconds.</a:t>
            </a:r>
          </a:p>
          <a:p>
            <a:r>
              <a:rPr lang="en-US" sz="2200" dirty="0" smtClean="0"/>
              <a:t>However, as long as the chunk is being mutated, the primary can request and typically receive </a:t>
            </a:r>
            <a:r>
              <a:rPr lang="en-US" sz="2200" i="1" dirty="0" smtClean="0">
                <a:solidFill>
                  <a:srgbClr val="C00000"/>
                </a:solidFill>
              </a:rPr>
              <a:t>extensions</a:t>
            </a:r>
            <a:r>
              <a:rPr lang="en-US" sz="2200" dirty="0" smtClean="0"/>
              <a:t> from the master indefinitely.</a:t>
            </a:r>
          </a:p>
          <a:p>
            <a:r>
              <a:rPr lang="en-US" sz="2200" dirty="0" smtClean="0"/>
              <a:t>These extension requests and grants are piggybacked on the </a:t>
            </a:r>
            <a:r>
              <a:rPr lang="en-US" sz="2200" dirty="0" err="1" smtClean="0"/>
              <a:t>HeartBeat</a:t>
            </a:r>
            <a:r>
              <a:rPr lang="en-US" sz="2200" dirty="0" smtClean="0"/>
              <a:t> messages regularly exchanged between the master and all </a:t>
            </a:r>
            <a:r>
              <a:rPr lang="en-US" sz="2200" dirty="0" err="1" smtClean="0"/>
              <a:t>chunkservers</a:t>
            </a:r>
            <a:r>
              <a:rPr lang="en-US" sz="2200" dirty="0" smtClean="0"/>
              <a:t>.</a:t>
            </a:r>
          </a:p>
          <a:p>
            <a:r>
              <a:rPr lang="en-US" sz="2200" dirty="0" smtClean="0"/>
              <a:t>The master may sometimes try to revoke a lease before it expires (e.g., when the master wants to disable mutations on a file that is being renamed).</a:t>
            </a:r>
          </a:p>
          <a:p>
            <a:r>
              <a:rPr lang="en-US" sz="2200" dirty="0" smtClean="0"/>
              <a:t>Even if the master loses communication with a primary, it can safely grant a new lease to another replica after the old lease expires.</a:t>
            </a:r>
            <a:endParaRPr lang="en-US" sz="2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Leases and Mutation Order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dirty="0" smtClean="0"/>
              <a:t>We </a:t>
            </a:r>
            <a:r>
              <a:rPr lang="en-US" sz="2600" dirty="0" smtClean="0"/>
              <a:t>use </a:t>
            </a:r>
            <a:r>
              <a:rPr lang="en-US" sz="2600" i="1" dirty="0" smtClean="0">
                <a:solidFill>
                  <a:srgbClr val="C00000"/>
                </a:solidFill>
              </a:rPr>
              <a:t>leases</a:t>
            </a:r>
            <a:r>
              <a:rPr lang="en-US" sz="2600" dirty="0" smtClean="0"/>
              <a:t> to maintain a </a:t>
            </a:r>
            <a:r>
              <a:rPr lang="en-US" sz="2600" u="sng" dirty="0" smtClean="0"/>
              <a:t>consistent mutation order across replicas</a:t>
            </a:r>
            <a:r>
              <a:rPr lang="en-US" sz="2600" dirty="0" smtClean="0"/>
              <a:t>.</a:t>
            </a:r>
          </a:p>
          <a:p>
            <a:r>
              <a:rPr lang="en-US" sz="2600" dirty="0" smtClean="0"/>
              <a:t>The master grants a chunk lease to one of the replicas, which we call the </a:t>
            </a:r>
            <a:r>
              <a:rPr lang="en-US" sz="2600" i="1" dirty="0" smtClean="0">
                <a:solidFill>
                  <a:srgbClr val="C00000"/>
                </a:solidFill>
              </a:rPr>
              <a:t>primary</a:t>
            </a:r>
            <a:r>
              <a:rPr lang="en-US" sz="2600" dirty="0" smtClean="0"/>
              <a:t>.</a:t>
            </a:r>
          </a:p>
          <a:p>
            <a:r>
              <a:rPr lang="en-US" sz="2600" dirty="0" smtClean="0"/>
              <a:t>The primary picks a </a:t>
            </a:r>
            <a:r>
              <a:rPr lang="en-US" sz="2600" i="1" dirty="0" smtClean="0">
                <a:solidFill>
                  <a:srgbClr val="C00000"/>
                </a:solidFill>
              </a:rPr>
              <a:t>serial order</a:t>
            </a:r>
            <a:r>
              <a:rPr lang="en-US" sz="2600" dirty="0" smtClean="0"/>
              <a:t> for all mutations to the chunk.</a:t>
            </a:r>
          </a:p>
          <a:p>
            <a:r>
              <a:rPr lang="en-US" sz="2600" dirty="0" smtClean="0"/>
              <a:t>All replicas </a:t>
            </a:r>
            <a:r>
              <a:rPr lang="en-US" sz="2600" i="1" dirty="0" smtClean="0">
                <a:solidFill>
                  <a:srgbClr val="C00000"/>
                </a:solidFill>
              </a:rPr>
              <a:t>follow this order</a:t>
            </a:r>
            <a:r>
              <a:rPr lang="en-US" sz="2600" dirty="0" smtClean="0"/>
              <a:t> when applying mutations.</a:t>
            </a:r>
          </a:p>
          <a:p>
            <a:r>
              <a:rPr lang="en-US" sz="2600" dirty="0" smtClean="0"/>
              <a:t>Thus, the </a:t>
            </a:r>
            <a:r>
              <a:rPr lang="en-US" sz="2600" i="1" dirty="0" smtClean="0">
                <a:solidFill>
                  <a:srgbClr val="C00000"/>
                </a:solidFill>
              </a:rPr>
              <a:t>global mutation order</a:t>
            </a:r>
            <a:r>
              <a:rPr lang="en-US" sz="2600" dirty="0" smtClean="0"/>
              <a:t> is defined first </a:t>
            </a:r>
            <a:r>
              <a:rPr lang="en-US" sz="2600" u="sng" dirty="0" smtClean="0"/>
              <a:t>by the lease</a:t>
            </a:r>
            <a:r>
              <a:rPr lang="en-US" sz="2600" dirty="0" smtClean="0"/>
              <a:t> grant order chosen by the master, and within a lease </a:t>
            </a:r>
            <a:r>
              <a:rPr lang="en-US" sz="2600" u="sng" dirty="0" smtClean="0"/>
              <a:t>by the serial numbers</a:t>
            </a:r>
            <a:r>
              <a:rPr lang="en-US" sz="2600" dirty="0" smtClean="0"/>
              <a:t> assigned by the primary.</a:t>
            </a:r>
            <a:endParaRPr lang="en-US" sz="2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Mutation </a:t>
            </a:r>
            <a:r>
              <a:rPr lang="en-US" dirty="0" smtClean="0"/>
              <a:t>Order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Data preparation: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Write or append: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402840"/>
          <a:ext cx="8382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000"/>
                <a:gridCol w="2794000"/>
                <a:gridCol w="2794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Replica</a:t>
                      </a:r>
                      <a:r>
                        <a:rPr lang="en-US" baseline="0" dirty="0" smtClean="0"/>
                        <a:t> 1 (Primary)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Replica 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Replica 3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Temporal data block #1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Temporal data block #2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Temporal data block #3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Temporal data block #2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Temporal data block #1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Temporal data block #1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Temporal data block #3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Temporal data block #3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Temporal data block #2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4648200"/>
          <a:ext cx="8464677" cy="147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1559"/>
                <a:gridCol w="2821559"/>
                <a:gridCol w="2821559"/>
              </a:tblGrid>
              <a:tr h="142240">
                <a:tc>
                  <a:txBody>
                    <a:bodyPr/>
                    <a:lstStyle/>
                    <a:p>
                      <a:r>
                        <a:rPr lang="en-US" dirty="0" smtClean="0"/>
                        <a:t>Replica</a:t>
                      </a:r>
                      <a:r>
                        <a:rPr lang="en-US" baseline="0" dirty="0" smtClean="0"/>
                        <a:t> 1 (Primary)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Replica 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Replica 3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W1. Temporal data block #1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W1. Temporal data block #1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W1. Temporal data block #1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W2. Temporal data block #2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W2. Temporal data block #2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W2.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Temporal data block #2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W3. Temporal data block #3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W3. Temporal data block #3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W3.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Temporal data block #3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Write Control and Data Flow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27275" y="1965325"/>
            <a:ext cx="4489450" cy="3825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Write Process: Step 1, 2 and 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The client asks the master which </a:t>
            </a:r>
            <a:r>
              <a:rPr lang="en-US" sz="2400" dirty="0" err="1" smtClean="0"/>
              <a:t>chunkserver</a:t>
            </a:r>
            <a:r>
              <a:rPr lang="en-US" sz="2400" dirty="0" smtClean="0"/>
              <a:t> holds the </a:t>
            </a:r>
            <a:r>
              <a:rPr lang="en-US" sz="2400" i="1" dirty="0" smtClean="0">
                <a:solidFill>
                  <a:srgbClr val="C00000"/>
                </a:solidFill>
              </a:rPr>
              <a:t>current lease</a:t>
            </a:r>
            <a:r>
              <a:rPr lang="en-US" sz="2400" dirty="0" smtClean="0"/>
              <a:t> for the chunk and the locations of the</a:t>
            </a:r>
            <a:r>
              <a:rPr lang="en-US" sz="2400" i="1" dirty="0" smtClean="0">
                <a:solidFill>
                  <a:srgbClr val="C00000"/>
                </a:solidFill>
              </a:rPr>
              <a:t> other replicas</a:t>
            </a:r>
            <a:r>
              <a:rPr lang="en-US" sz="2400" dirty="0" smtClean="0"/>
              <a:t>. If no one has a lease, the master grants one to a replica it chooses.</a:t>
            </a:r>
          </a:p>
          <a:p>
            <a:r>
              <a:rPr lang="en-US" sz="2400" dirty="0" smtClean="0"/>
              <a:t>The master replies with the identity of the primary and the locations of the other (secondary) replicas.</a:t>
            </a:r>
          </a:p>
          <a:p>
            <a:r>
              <a:rPr lang="en-US" sz="2400" dirty="0" smtClean="0"/>
              <a:t>The client pushes the data to all the replicas. A client can do so in any order. Each </a:t>
            </a:r>
            <a:r>
              <a:rPr lang="en-US" sz="2400" dirty="0" err="1" smtClean="0"/>
              <a:t>chunkserver</a:t>
            </a:r>
            <a:r>
              <a:rPr lang="en-US" sz="2400" dirty="0" smtClean="0"/>
              <a:t> will store the data in an internal LRU buffer cache until the data is used or aged out.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Write Process: Step 4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Once all the replicas have acknowledged receiving the data, the </a:t>
            </a:r>
            <a:r>
              <a:rPr lang="en-US" sz="2400" i="1" dirty="0" smtClean="0">
                <a:solidFill>
                  <a:srgbClr val="C00000"/>
                </a:solidFill>
              </a:rPr>
              <a:t>client</a:t>
            </a:r>
            <a:r>
              <a:rPr lang="en-US" sz="2400" dirty="0" smtClean="0"/>
              <a:t> sends a write request to the </a:t>
            </a:r>
            <a:r>
              <a:rPr lang="en-US" sz="2400" u="sng" dirty="0" smtClean="0"/>
              <a:t>primary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The request identifies the data pushed earlier to all of the replicas.</a:t>
            </a:r>
          </a:p>
          <a:p>
            <a:r>
              <a:rPr lang="en-US" sz="2400" dirty="0" smtClean="0"/>
              <a:t>The primary assigns </a:t>
            </a:r>
            <a:r>
              <a:rPr lang="en-US" sz="2400" i="1" dirty="0" smtClean="0">
                <a:solidFill>
                  <a:srgbClr val="C00000"/>
                </a:solidFill>
              </a:rPr>
              <a:t>consecutive serial numbers</a:t>
            </a:r>
            <a:r>
              <a:rPr lang="en-US" sz="2400" dirty="0" smtClean="0"/>
              <a:t> to all the mutations it receives, possibly from multiple clients, which provides the necessary serialization.</a:t>
            </a:r>
          </a:p>
          <a:p>
            <a:r>
              <a:rPr lang="en-US" sz="2400" dirty="0" smtClean="0"/>
              <a:t>It applies the mutation to its own local state in serial number order.</a:t>
            </a:r>
            <a:endParaRPr lang="en-US" sz="2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Write Process: Step 5, 6 and 7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The </a:t>
            </a:r>
            <a:r>
              <a:rPr lang="en-US" sz="2400" i="1" dirty="0" smtClean="0">
                <a:solidFill>
                  <a:srgbClr val="C00000"/>
                </a:solidFill>
              </a:rPr>
              <a:t>primary</a:t>
            </a:r>
            <a:r>
              <a:rPr lang="en-US" sz="2400" dirty="0" smtClean="0"/>
              <a:t> forwards the write request to all </a:t>
            </a:r>
            <a:r>
              <a:rPr lang="en-US" sz="2400" u="sng" dirty="0" smtClean="0"/>
              <a:t>secondary replicas</a:t>
            </a:r>
            <a:r>
              <a:rPr lang="en-US" sz="2400" dirty="0" smtClean="0"/>
              <a:t>. Each secondary replica applies mutations in the same serial number order assigned by the primary.</a:t>
            </a:r>
          </a:p>
          <a:p>
            <a:r>
              <a:rPr lang="en-US" sz="2400" dirty="0" smtClean="0"/>
              <a:t>The </a:t>
            </a:r>
            <a:r>
              <a:rPr lang="en-US" sz="2400" dirty="0" err="1" smtClean="0"/>
              <a:t>secondaries</a:t>
            </a:r>
            <a:r>
              <a:rPr lang="en-US" sz="2400" dirty="0" smtClean="0"/>
              <a:t> all reply to the primary indicating that they have completed the operation.</a:t>
            </a:r>
          </a:p>
          <a:p>
            <a:r>
              <a:rPr lang="en-US" sz="2400" dirty="0" smtClean="0"/>
              <a:t>The </a:t>
            </a:r>
            <a:r>
              <a:rPr lang="en-US" sz="2400" i="1" dirty="0" smtClean="0">
                <a:solidFill>
                  <a:srgbClr val="C00000"/>
                </a:solidFill>
              </a:rPr>
              <a:t>primary</a:t>
            </a:r>
            <a:r>
              <a:rPr lang="en-US" sz="2400" dirty="0" smtClean="0"/>
              <a:t> replies to the </a:t>
            </a:r>
            <a:r>
              <a:rPr lang="en-US" sz="2400" u="sng" dirty="0" smtClean="0"/>
              <a:t>client</a:t>
            </a:r>
            <a:r>
              <a:rPr lang="en-US" sz="2400" dirty="0" smtClean="0"/>
              <a:t>. Any errors encountered at any of the replicas are reported to the client.</a:t>
            </a:r>
            <a:endParaRPr lang="en-US" sz="2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Errors Handling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In case of </a:t>
            </a:r>
            <a:r>
              <a:rPr lang="en-US" sz="2400" i="1" dirty="0" smtClean="0">
                <a:solidFill>
                  <a:srgbClr val="C00000"/>
                </a:solidFill>
              </a:rPr>
              <a:t>errors</a:t>
            </a:r>
            <a:r>
              <a:rPr lang="en-US" sz="2400" dirty="0" smtClean="0"/>
              <a:t>, the write may have </a:t>
            </a:r>
            <a:r>
              <a:rPr lang="en-US" sz="2400" i="1" dirty="0" smtClean="0">
                <a:solidFill>
                  <a:srgbClr val="C00000"/>
                </a:solidFill>
              </a:rPr>
              <a:t>succeeded</a:t>
            </a:r>
            <a:r>
              <a:rPr lang="en-US" sz="2400" dirty="0" smtClean="0"/>
              <a:t> at the </a:t>
            </a:r>
            <a:r>
              <a:rPr lang="en-US" sz="2400" u="sng" dirty="0" smtClean="0"/>
              <a:t>primary</a:t>
            </a:r>
            <a:r>
              <a:rPr lang="en-US" sz="2400" dirty="0" smtClean="0"/>
              <a:t> and an arbitrary </a:t>
            </a:r>
            <a:r>
              <a:rPr lang="en-US" sz="2400" u="sng" dirty="0" smtClean="0"/>
              <a:t>subset of the secondary replicas</a:t>
            </a:r>
            <a:r>
              <a:rPr lang="en-US" sz="2400" dirty="0" smtClean="0"/>
              <a:t>. (If it had failed at the primary, it would not have been assigned a serial number and forwarded.)</a:t>
            </a:r>
          </a:p>
          <a:p>
            <a:r>
              <a:rPr lang="en-US" sz="2400" dirty="0" smtClean="0"/>
              <a:t>Our client code handles such errors by </a:t>
            </a:r>
            <a:r>
              <a:rPr lang="en-US" sz="2400" i="1" dirty="0" smtClean="0">
                <a:solidFill>
                  <a:srgbClr val="C00000"/>
                </a:solidFill>
              </a:rPr>
              <a:t>retrying</a:t>
            </a:r>
            <a:r>
              <a:rPr lang="en-US" sz="2400" dirty="0" smtClean="0"/>
              <a:t> the failed mutation.</a:t>
            </a:r>
          </a:p>
          <a:p>
            <a:r>
              <a:rPr lang="en-US" sz="2400" dirty="0" smtClean="0"/>
              <a:t>It will make a few attempts at steps (3) through (7) before falling back to a retry from the beginning of the write.</a:t>
            </a:r>
            <a:endParaRPr lang="en-US" sz="24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Concurrent Writes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If a write by the application is large or straddles a </a:t>
            </a:r>
            <a:r>
              <a:rPr lang="en-US" sz="2400" u="sng" dirty="0" smtClean="0"/>
              <a:t>chunk boundary</a:t>
            </a:r>
            <a:r>
              <a:rPr lang="en-US" sz="2400" dirty="0" smtClean="0"/>
              <a:t>, </a:t>
            </a:r>
            <a:r>
              <a:rPr lang="en-US" sz="2400" i="1" dirty="0" smtClean="0">
                <a:solidFill>
                  <a:srgbClr val="C00000"/>
                </a:solidFill>
              </a:rPr>
              <a:t>GFS client</a:t>
            </a:r>
            <a:r>
              <a:rPr lang="en-US" sz="2400" dirty="0" smtClean="0"/>
              <a:t> code breaks it down into </a:t>
            </a:r>
            <a:r>
              <a:rPr lang="en-US" sz="2400" u="sng" dirty="0" smtClean="0"/>
              <a:t>multiple write operations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They all follow the control flow described above but may be </a:t>
            </a:r>
            <a:r>
              <a:rPr lang="en-US" sz="2400" i="1" dirty="0" smtClean="0">
                <a:solidFill>
                  <a:srgbClr val="C00000"/>
                </a:solidFill>
              </a:rPr>
              <a:t>interleaved with</a:t>
            </a:r>
            <a:r>
              <a:rPr lang="en-US" sz="2400" dirty="0" smtClean="0"/>
              <a:t> and </a:t>
            </a:r>
            <a:r>
              <a:rPr lang="en-US" sz="2400" i="1" dirty="0" smtClean="0">
                <a:solidFill>
                  <a:srgbClr val="C00000"/>
                </a:solidFill>
              </a:rPr>
              <a:t>overwritten</a:t>
            </a:r>
            <a:r>
              <a:rPr lang="en-US" sz="2400" dirty="0" smtClean="0"/>
              <a:t> by concurrent operations from other clients.</a:t>
            </a:r>
          </a:p>
          <a:p>
            <a:r>
              <a:rPr lang="en-US" sz="2400" dirty="0" smtClean="0"/>
              <a:t>Therefore, the shared file region may end up containing </a:t>
            </a:r>
            <a:r>
              <a:rPr lang="en-US" sz="2400" i="1" dirty="0" smtClean="0">
                <a:solidFill>
                  <a:srgbClr val="C00000"/>
                </a:solidFill>
              </a:rPr>
              <a:t>fragments</a:t>
            </a:r>
            <a:r>
              <a:rPr lang="en-US" sz="2400" dirty="0" smtClean="0"/>
              <a:t> from </a:t>
            </a:r>
            <a:r>
              <a:rPr lang="en-US" sz="2400" u="sng" dirty="0" smtClean="0"/>
              <a:t>different clients</a:t>
            </a:r>
            <a:r>
              <a:rPr lang="en-US" sz="2400" dirty="0" smtClean="0"/>
              <a:t>, although the replicas will be identical because the individual operations are completed successfully in the same order on all replicas.</a:t>
            </a:r>
            <a:endParaRPr lang="en-US" sz="2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Interleaved </a:t>
            </a:r>
            <a:r>
              <a:rPr lang="en-US" dirty="0" smtClean="0"/>
              <a:t>Writes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Data preparation: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Write: C1 </a:t>
            </a:r>
            <a:r>
              <a:rPr lang="en-US" dirty="0" smtClean="0">
                <a:sym typeface="Wingdings" pitchFamily="2" charset="2"/>
              </a:rPr>
              <a:t></a:t>
            </a:r>
            <a:r>
              <a:rPr lang="en-US" dirty="0" smtClean="0"/>
              <a:t> W1a, W1b. C2 </a:t>
            </a:r>
            <a:r>
              <a:rPr lang="en-US" dirty="0" smtClean="0">
                <a:sym typeface="Wingdings" pitchFamily="2" charset="2"/>
              </a:rPr>
              <a:t></a:t>
            </a:r>
            <a:r>
              <a:rPr lang="en-US" dirty="0" smtClean="0"/>
              <a:t> W2.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402840"/>
          <a:ext cx="8382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000"/>
                <a:gridCol w="2794000"/>
                <a:gridCol w="2794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Replica</a:t>
                      </a:r>
                      <a:r>
                        <a:rPr lang="en-US" baseline="0" dirty="0" smtClean="0"/>
                        <a:t> 1 (Primary)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Replica 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Replica 3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C1. Data block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#1a</a:t>
                      </a:r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C2. Data block #2</a:t>
                      </a:r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C1. Data block #1a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C2. Data block #2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C1. Data block #1b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C1. Data block #1b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C1. Data block #1b</a:t>
                      </a:r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C1. Data block #1a</a:t>
                      </a:r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C2. Data block #2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4648200"/>
          <a:ext cx="8464677" cy="147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1559"/>
                <a:gridCol w="2821559"/>
                <a:gridCol w="2821559"/>
              </a:tblGrid>
              <a:tr h="142240">
                <a:tc>
                  <a:txBody>
                    <a:bodyPr/>
                    <a:lstStyle/>
                    <a:p>
                      <a:r>
                        <a:rPr lang="en-US" dirty="0" smtClean="0"/>
                        <a:t>Replica</a:t>
                      </a:r>
                      <a:r>
                        <a:rPr lang="en-US" baseline="0" dirty="0" smtClean="0"/>
                        <a:t> 1 (Primary)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Replica 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Replica 3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W1. Data block #1a</a:t>
                      </a:r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W1. Data block #1a</a:t>
                      </a:r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W1. Data block #1a</a:t>
                      </a:r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W2. Data block #2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W2. Data block #2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W2. Data block #2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W3. Data block #1b</a:t>
                      </a:r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W3. Data block #1b</a:t>
                      </a:r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W3. Data block #1b</a:t>
                      </a:r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Overwritten Writes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Data preparation: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Write: C1 </a:t>
            </a:r>
            <a:r>
              <a:rPr lang="en-US" dirty="0" smtClean="0">
                <a:sym typeface="Wingdings" pitchFamily="2" charset="2"/>
              </a:rPr>
              <a:t></a:t>
            </a:r>
            <a:r>
              <a:rPr lang="en-US" dirty="0" smtClean="0"/>
              <a:t> W1a, W1b. C2 </a:t>
            </a:r>
            <a:r>
              <a:rPr lang="en-US" dirty="0" smtClean="0">
                <a:sym typeface="Wingdings" pitchFamily="2" charset="2"/>
              </a:rPr>
              <a:t></a:t>
            </a:r>
            <a:r>
              <a:rPr lang="en-US" dirty="0" smtClean="0"/>
              <a:t> W2.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402840"/>
          <a:ext cx="8382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000"/>
                <a:gridCol w="2794000"/>
                <a:gridCol w="2794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Replica</a:t>
                      </a:r>
                      <a:r>
                        <a:rPr lang="en-US" baseline="0" dirty="0" smtClean="0"/>
                        <a:t> 1 (Primary)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Replica 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Replica 3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C1. Data block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#1a</a:t>
                      </a:r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C2. Data block #2</a:t>
                      </a:r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C1. Data block #1a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C2. Data block #2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C1. Data block #1b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C1. Data block #1b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C1. Data block #1b</a:t>
                      </a:r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C1. Data block #1a</a:t>
                      </a:r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C2. Data block #2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4648200"/>
          <a:ext cx="8464677" cy="1579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1559"/>
                <a:gridCol w="2821559"/>
                <a:gridCol w="2821559"/>
              </a:tblGrid>
              <a:tr h="142240">
                <a:tc>
                  <a:txBody>
                    <a:bodyPr/>
                    <a:lstStyle/>
                    <a:p>
                      <a:r>
                        <a:rPr lang="en-US" dirty="0" smtClean="0"/>
                        <a:t>Replica</a:t>
                      </a:r>
                      <a:r>
                        <a:rPr lang="en-US" baseline="0" dirty="0" smtClean="0"/>
                        <a:t> 1 (Primary)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Replica 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Replica 3</a:t>
                      </a:r>
                      <a:endParaRPr lang="en-US" dirty="0"/>
                    </a:p>
                  </a:txBody>
                  <a:tcPr/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lang="en-US" dirty="0" smtClean="0"/>
                        <a:t>W1. Data block #1a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W1. Data block #1a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W1. Data block #1a</a:t>
                      </a:r>
                      <a:endParaRPr lang="en-US" dirty="0"/>
                    </a:p>
                  </a:txBody>
                  <a:tcPr/>
                </a:tc>
              </a:tr>
              <a:tr h="741680">
                <a:tc>
                  <a:txBody>
                    <a:bodyPr/>
                    <a:lstStyle/>
                    <a:p>
                      <a:r>
                        <a:rPr lang="en-US" strike="sngStrike" dirty="0" smtClean="0"/>
                        <a:t>W2. Data block #2</a:t>
                      </a:r>
                      <a:endParaRPr lang="en-US" strike="sngStrike" dirty="0"/>
                    </a:p>
                    <a:p>
                      <a:r>
                        <a:rPr lang="en-US" dirty="0" smtClean="0"/>
                        <a:t>W3. Data block #1b</a:t>
                      </a:r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trike="sngStrike" dirty="0" smtClean="0"/>
                        <a:t>W2. Data block #2</a:t>
                      </a:r>
                      <a:endParaRPr lang="en-US" strike="sngStrike" dirty="0"/>
                    </a:p>
                    <a:p>
                      <a:r>
                        <a:rPr lang="en-US" dirty="0" smtClean="0"/>
                        <a:t>W3. Data block #1b</a:t>
                      </a:r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trike="sngStrike" dirty="0" smtClean="0"/>
                        <a:t>W2. Data block #2</a:t>
                      </a:r>
                      <a:endParaRPr lang="en-US" strike="sngStrike" dirty="0"/>
                    </a:p>
                    <a:p>
                      <a:r>
                        <a:rPr lang="en-US" dirty="0" smtClean="0"/>
                        <a:t>W3. Data block #1b</a:t>
                      </a:r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Atomic Record Appends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Concurrent writes to the same region are not </a:t>
            </a:r>
            <a:r>
              <a:rPr lang="en-US" sz="2200" dirty="0" err="1" smtClean="0"/>
              <a:t>serializable</a:t>
            </a:r>
            <a:r>
              <a:rPr lang="en-US" sz="2200" dirty="0" smtClean="0"/>
              <a:t>: the region may end up containing </a:t>
            </a:r>
            <a:r>
              <a:rPr lang="en-US" sz="2200" i="1" dirty="0" smtClean="0">
                <a:solidFill>
                  <a:srgbClr val="C00000"/>
                </a:solidFill>
              </a:rPr>
              <a:t>data fragments</a:t>
            </a:r>
            <a:r>
              <a:rPr lang="en-US" sz="2200" dirty="0" smtClean="0"/>
              <a:t> from </a:t>
            </a:r>
            <a:r>
              <a:rPr lang="en-US" sz="2200" u="sng" dirty="0" smtClean="0"/>
              <a:t>multiple clients</a:t>
            </a:r>
            <a:r>
              <a:rPr lang="en-US" sz="2200" dirty="0" smtClean="0"/>
              <a:t>.</a:t>
            </a:r>
          </a:p>
          <a:p>
            <a:r>
              <a:rPr lang="en-US" sz="2200" dirty="0" smtClean="0"/>
              <a:t>In a record append, however, the client specifies only the data.</a:t>
            </a:r>
          </a:p>
          <a:p>
            <a:r>
              <a:rPr lang="en-US" sz="2200" dirty="0" smtClean="0"/>
              <a:t>GFS appends it to the file </a:t>
            </a:r>
            <a:r>
              <a:rPr lang="en-US" sz="2200" i="1" dirty="0" smtClean="0">
                <a:solidFill>
                  <a:srgbClr val="C00000"/>
                </a:solidFill>
              </a:rPr>
              <a:t>at least once atomically</a:t>
            </a:r>
            <a:r>
              <a:rPr lang="en-US" sz="2200" dirty="0" smtClean="0"/>
              <a:t> (i.e., as one </a:t>
            </a:r>
            <a:r>
              <a:rPr lang="en-US" sz="2200" u="sng" dirty="0" smtClean="0"/>
              <a:t>continuous sequence of bytes</a:t>
            </a:r>
            <a:r>
              <a:rPr lang="en-US" sz="2200" dirty="0" smtClean="0"/>
              <a:t>) at an offset of GFS’s choosing and returns that offset to the client.</a:t>
            </a:r>
            <a:endParaRPr lang="en-US" sz="2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Atomic Record Appends Steps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The </a:t>
            </a:r>
            <a:r>
              <a:rPr lang="en-US" sz="2000" i="1" dirty="0" smtClean="0">
                <a:solidFill>
                  <a:srgbClr val="C00000"/>
                </a:solidFill>
              </a:rPr>
              <a:t>client</a:t>
            </a:r>
            <a:r>
              <a:rPr lang="en-US" sz="2000" dirty="0" smtClean="0"/>
              <a:t> pushes the data to all replicas of </a:t>
            </a:r>
            <a:r>
              <a:rPr lang="en-US" sz="2000" u="sng" dirty="0" smtClean="0"/>
              <a:t>the last chunk</a:t>
            </a:r>
            <a:r>
              <a:rPr lang="en-US" sz="2000" dirty="0" smtClean="0"/>
              <a:t> of the file.</a:t>
            </a:r>
          </a:p>
          <a:p>
            <a:r>
              <a:rPr lang="en-US" sz="2000" dirty="0" smtClean="0"/>
              <a:t>Then, it sends its request to the </a:t>
            </a:r>
            <a:r>
              <a:rPr lang="en-US" sz="2000" i="1" dirty="0" smtClean="0">
                <a:solidFill>
                  <a:srgbClr val="C00000"/>
                </a:solidFill>
              </a:rPr>
              <a:t>primary</a:t>
            </a:r>
            <a:r>
              <a:rPr lang="en-US" sz="2000" dirty="0" smtClean="0"/>
              <a:t>.</a:t>
            </a:r>
          </a:p>
          <a:p>
            <a:r>
              <a:rPr lang="en-US" sz="2000" dirty="0" smtClean="0"/>
              <a:t>The primary checks to see if appending the record to the current chunk would cause the chunk to </a:t>
            </a:r>
            <a:r>
              <a:rPr lang="en-US" sz="2000" i="1" dirty="0" smtClean="0">
                <a:solidFill>
                  <a:srgbClr val="C00000"/>
                </a:solidFill>
              </a:rPr>
              <a:t>exceed the maximum size</a:t>
            </a:r>
            <a:r>
              <a:rPr lang="en-US" sz="2000" dirty="0" smtClean="0"/>
              <a:t> (64 MB).</a:t>
            </a:r>
          </a:p>
          <a:p>
            <a:r>
              <a:rPr lang="en-US" sz="2000" dirty="0" smtClean="0"/>
              <a:t>If so, it </a:t>
            </a:r>
            <a:r>
              <a:rPr lang="en-US" sz="2000" i="1" dirty="0" smtClean="0">
                <a:solidFill>
                  <a:srgbClr val="C00000"/>
                </a:solidFill>
              </a:rPr>
              <a:t>pads the chunk</a:t>
            </a:r>
            <a:r>
              <a:rPr lang="en-US" sz="2000" dirty="0" smtClean="0"/>
              <a:t> to the maximum size, tells </a:t>
            </a:r>
            <a:r>
              <a:rPr lang="en-US" sz="2000" dirty="0" err="1" smtClean="0"/>
              <a:t>secondaries</a:t>
            </a:r>
            <a:r>
              <a:rPr lang="en-US" sz="2000" dirty="0" smtClean="0"/>
              <a:t> to do the same, and replies to the client indicating that the operation should be </a:t>
            </a:r>
            <a:r>
              <a:rPr lang="en-US" sz="2000" u="sng" dirty="0" smtClean="0"/>
              <a:t>retried on the next chunk</a:t>
            </a:r>
            <a:r>
              <a:rPr lang="en-US" sz="2000" dirty="0" smtClean="0"/>
              <a:t>.</a:t>
            </a:r>
          </a:p>
          <a:p>
            <a:r>
              <a:rPr lang="en-US" sz="2000" dirty="0" smtClean="0"/>
              <a:t>Record append is restricted to be </a:t>
            </a:r>
            <a:r>
              <a:rPr lang="en-US" sz="2000" i="1" dirty="0" smtClean="0">
                <a:solidFill>
                  <a:srgbClr val="C00000"/>
                </a:solidFill>
              </a:rPr>
              <a:t>at most one-fourth of the maximum chunk size</a:t>
            </a:r>
            <a:r>
              <a:rPr lang="en-US" sz="2000" dirty="0" smtClean="0"/>
              <a:t> to keep </a:t>
            </a:r>
            <a:r>
              <a:rPr lang="en-US" sz="2000" dirty="0" err="1" smtClean="0"/>
              <a:t>worstcase</a:t>
            </a:r>
            <a:r>
              <a:rPr lang="en-US" sz="2000" dirty="0" smtClean="0"/>
              <a:t> fragmentation at an acceptable level.</a:t>
            </a:r>
          </a:p>
          <a:p>
            <a:r>
              <a:rPr lang="en-US" sz="2000" dirty="0" smtClean="0"/>
              <a:t>If the record </a:t>
            </a:r>
            <a:r>
              <a:rPr lang="en-US" sz="2000" i="1" dirty="0" smtClean="0">
                <a:solidFill>
                  <a:srgbClr val="C00000"/>
                </a:solidFill>
              </a:rPr>
              <a:t>fits within</a:t>
            </a:r>
            <a:r>
              <a:rPr lang="en-US" sz="2000" dirty="0" smtClean="0"/>
              <a:t> the maximum size, the primary appends the data to its replica, tells the </a:t>
            </a:r>
            <a:r>
              <a:rPr lang="en-US" sz="2000" dirty="0" err="1" smtClean="0"/>
              <a:t>secondaries</a:t>
            </a:r>
            <a:r>
              <a:rPr lang="en-US" sz="2000" dirty="0" smtClean="0"/>
              <a:t> to write the data at the exact offset where it has, and finally replies success to the client.</a:t>
            </a:r>
            <a:endParaRPr lang="en-US" sz="2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Copy vs. Snapshot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 snapshot only copies the settings and metadata.</a:t>
            </a:r>
          </a:p>
          <a:p>
            <a:r>
              <a:rPr lang="en-US" sz="2400" dirty="0" smtClean="0"/>
              <a:t>Copy-on-write technique: </a:t>
            </a:r>
          </a:p>
        </p:txBody>
      </p:sp>
      <p:pic>
        <p:nvPicPr>
          <p:cNvPr id="27650" name="Picture 2" descr="Fig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33600" y="2895600"/>
            <a:ext cx="4276725" cy="29622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Simple Read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First, using the </a:t>
            </a:r>
            <a:r>
              <a:rPr lang="en-US" sz="2400" i="1" dirty="0" smtClean="0">
                <a:solidFill>
                  <a:srgbClr val="C00000"/>
                </a:solidFill>
              </a:rPr>
              <a:t>fixed chunk size</a:t>
            </a:r>
            <a:r>
              <a:rPr lang="en-US" sz="2400" dirty="0" smtClean="0"/>
              <a:t>, the </a:t>
            </a:r>
            <a:r>
              <a:rPr lang="en-US" sz="2400" u="sng" dirty="0" smtClean="0"/>
              <a:t>client</a:t>
            </a:r>
            <a:r>
              <a:rPr lang="en-US" sz="2400" dirty="0" smtClean="0"/>
              <a:t> translates the </a:t>
            </a:r>
            <a:r>
              <a:rPr lang="en-US" sz="2400" i="1" dirty="0" smtClean="0">
                <a:solidFill>
                  <a:srgbClr val="C00000"/>
                </a:solidFill>
              </a:rPr>
              <a:t>file name</a:t>
            </a:r>
            <a:r>
              <a:rPr lang="en-US" sz="2400" dirty="0" smtClean="0"/>
              <a:t> and </a:t>
            </a:r>
            <a:r>
              <a:rPr lang="en-US" sz="2400" i="1" dirty="0" smtClean="0">
                <a:solidFill>
                  <a:srgbClr val="C00000"/>
                </a:solidFill>
              </a:rPr>
              <a:t>byte offset</a:t>
            </a:r>
            <a:r>
              <a:rPr lang="en-US" sz="2400" dirty="0" smtClean="0"/>
              <a:t> specified by the </a:t>
            </a:r>
            <a:r>
              <a:rPr lang="en-US" sz="2400" u="sng" dirty="0" smtClean="0"/>
              <a:t>application</a:t>
            </a:r>
            <a:r>
              <a:rPr lang="en-US" sz="2400" dirty="0" smtClean="0"/>
              <a:t> into a </a:t>
            </a:r>
            <a:r>
              <a:rPr lang="en-US" sz="2400" i="1" dirty="0" smtClean="0">
                <a:solidFill>
                  <a:srgbClr val="C00000"/>
                </a:solidFill>
              </a:rPr>
              <a:t>chunk index</a:t>
            </a:r>
            <a:r>
              <a:rPr lang="en-US" sz="2400" dirty="0" smtClean="0"/>
              <a:t> within the file.</a:t>
            </a:r>
          </a:p>
          <a:p>
            <a:r>
              <a:rPr lang="en-US" sz="2400" dirty="0" smtClean="0"/>
              <a:t>Then, it sends the </a:t>
            </a:r>
            <a:r>
              <a:rPr lang="en-US" sz="2400" u="sng" dirty="0" smtClean="0"/>
              <a:t>master</a:t>
            </a:r>
            <a:r>
              <a:rPr lang="en-US" sz="2400" dirty="0" smtClean="0"/>
              <a:t> a request containing the file name and chunk index.</a:t>
            </a:r>
          </a:p>
          <a:p>
            <a:r>
              <a:rPr lang="en-US" sz="2400" dirty="0" smtClean="0"/>
              <a:t>The master replies with the corresponding </a:t>
            </a:r>
            <a:r>
              <a:rPr lang="en-US" sz="2400" i="1" dirty="0" smtClean="0">
                <a:solidFill>
                  <a:srgbClr val="C00000"/>
                </a:solidFill>
              </a:rPr>
              <a:t>chunk handle</a:t>
            </a:r>
            <a:r>
              <a:rPr lang="en-US" sz="2400" dirty="0" smtClean="0"/>
              <a:t> and </a:t>
            </a:r>
            <a:r>
              <a:rPr lang="en-US" sz="2400" i="1" dirty="0" smtClean="0">
                <a:solidFill>
                  <a:srgbClr val="C00000"/>
                </a:solidFill>
              </a:rPr>
              <a:t>locations of the replicas</a:t>
            </a:r>
            <a:r>
              <a:rPr lang="en-US" sz="2400" dirty="0" smtClean="0"/>
              <a:t>. The client caches this information using the file name and chunk index as the key.</a:t>
            </a:r>
          </a:p>
          <a:p>
            <a:r>
              <a:rPr lang="en-US" sz="2400" dirty="0" smtClean="0"/>
              <a:t>The client then sends a request to </a:t>
            </a:r>
            <a:r>
              <a:rPr lang="en-US" sz="2400" u="sng" dirty="0" smtClean="0"/>
              <a:t>one of the replicas</a:t>
            </a:r>
            <a:r>
              <a:rPr lang="en-US" sz="2400" dirty="0" smtClean="0"/>
              <a:t>, most likely </a:t>
            </a:r>
            <a:r>
              <a:rPr lang="en-US" sz="2400" u="sng" dirty="0" smtClean="0"/>
              <a:t>the closest one</a:t>
            </a:r>
            <a:r>
              <a:rPr lang="en-US" sz="2400" dirty="0" smtClean="0"/>
              <a:t>. The request specifies the chunk handle and </a:t>
            </a:r>
            <a:r>
              <a:rPr lang="en-US" sz="2400" i="1" dirty="0" smtClean="0">
                <a:solidFill>
                  <a:srgbClr val="C00000"/>
                </a:solidFill>
              </a:rPr>
              <a:t>a byte range</a:t>
            </a:r>
            <a:r>
              <a:rPr lang="en-US" sz="2400" dirty="0" smtClean="0"/>
              <a:t> within that chunk.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Read Lock vs. Write Lock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Read lock</a:t>
            </a:r>
            <a:r>
              <a:rPr lang="en-US" sz="2400" dirty="0" smtClean="0"/>
              <a:t>: Any other transaction (or multiple transactions) can read but not write. Lock shares with multiple transactions, i.e. shared lock.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Write lock</a:t>
            </a:r>
            <a:r>
              <a:rPr lang="en-US" sz="2400" dirty="0" smtClean="0"/>
              <a:t>: No other transaction can read or write. Lock does not share with any other transactions, i.e. exclusive lock.</a:t>
            </a:r>
            <a:endParaRPr lang="en-US" sz="24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Namespace Management and Locking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Unlike many traditional file systems, GFS does not have a per-directory data structure that lists all the files in that directory.</a:t>
            </a:r>
          </a:p>
          <a:p>
            <a:r>
              <a:rPr lang="en-US" sz="2200" dirty="0" smtClean="0"/>
              <a:t>GFS logically represents its namespace as a lookup table mapping full pathnames to metadata.</a:t>
            </a:r>
          </a:p>
          <a:p>
            <a:r>
              <a:rPr lang="en-US" sz="2200" dirty="0" smtClean="0"/>
              <a:t>Each node in the namespace tree (either an absolute file name or an absolute directory name) has an associated read-write lock.</a:t>
            </a:r>
          </a:p>
          <a:p>
            <a:r>
              <a:rPr lang="en-US" sz="2200" dirty="0" smtClean="0"/>
              <a:t>Each master operation acquires a set of locks before it runs.</a:t>
            </a:r>
          </a:p>
          <a:p>
            <a:r>
              <a:rPr lang="en-US" sz="2200" dirty="0" smtClean="0"/>
              <a:t>Typically, if it involves </a:t>
            </a:r>
            <a:r>
              <a:rPr lang="en-US" sz="2000" b="1" dirty="0" smtClean="0">
                <a:latin typeface="Consolas" pitchFamily="49" charset="0"/>
              </a:rPr>
              <a:t>/d1/d2/.../</a:t>
            </a:r>
            <a:r>
              <a:rPr lang="en-US" sz="2000" b="1" dirty="0" err="1" smtClean="0">
                <a:latin typeface="Consolas" pitchFamily="49" charset="0"/>
              </a:rPr>
              <a:t>dn</a:t>
            </a:r>
            <a:r>
              <a:rPr lang="en-US" sz="2000" b="1" dirty="0" smtClean="0">
                <a:latin typeface="Consolas" pitchFamily="49" charset="0"/>
              </a:rPr>
              <a:t>/leaf</a:t>
            </a:r>
            <a:r>
              <a:rPr lang="en-US" sz="2200" dirty="0" smtClean="0"/>
              <a:t>, it will acquire read-locks on the directory names </a:t>
            </a:r>
            <a:r>
              <a:rPr lang="en-US" sz="2000" b="1" dirty="0" smtClean="0">
                <a:latin typeface="Consolas" pitchFamily="49" charset="0"/>
              </a:rPr>
              <a:t>/d1, /d1/d2, ..., /d1/d2/.../</a:t>
            </a:r>
            <a:r>
              <a:rPr lang="en-US" sz="2000" b="1" dirty="0" err="1" smtClean="0">
                <a:latin typeface="Consolas" pitchFamily="49" charset="0"/>
              </a:rPr>
              <a:t>dn</a:t>
            </a:r>
            <a:r>
              <a:rPr lang="en-US" sz="2200" dirty="0" smtClean="0"/>
              <a:t>, and either a read lock or a write lock on the full pathname </a:t>
            </a:r>
            <a:r>
              <a:rPr lang="en-US" sz="2000" b="1" dirty="0" smtClean="0">
                <a:latin typeface="Consolas" pitchFamily="49" charset="0"/>
              </a:rPr>
              <a:t>/d1/d2/.../</a:t>
            </a:r>
            <a:r>
              <a:rPr lang="en-US" sz="2000" b="1" dirty="0" err="1" smtClean="0">
                <a:latin typeface="Consolas" pitchFamily="49" charset="0"/>
              </a:rPr>
              <a:t>dn</a:t>
            </a:r>
            <a:r>
              <a:rPr lang="en-US" sz="2000" b="1" dirty="0" smtClean="0">
                <a:latin typeface="Consolas" pitchFamily="49" charset="0"/>
              </a:rPr>
              <a:t>/leaf</a:t>
            </a:r>
            <a:r>
              <a:rPr lang="en-US" sz="2200" dirty="0" smtClean="0"/>
              <a:t>. Note that </a:t>
            </a:r>
            <a:r>
              <a:rPr lang="en-US" sz="2200" b="1" dirty="0" smtClean="0">
                <a:latin typeface="Consolas" pitchFamily="49" charset="0"/>
              </a:rPr>
              <a:t>leaf</a:t>
            </a:r>
            <a:r>
              <a:rPr lang="en-US" sz="2200" dirty="0" smtClean="0"/>
              <a:t> may be a file or directory depending on the operation.</a:t>
            </a:r>
            <a:endParaRPr lang="en-US" sz="2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Chunk Replication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The master </a:t>
            </a:r>
            <a:r>
              <a:rPr lang="en-US" sz="2400" i="1" dirty="0" smtClean="0">
                <a:solidFill>
                  <a:srgbClr val="C00000"/>
                </a:solidFill>
              </a:rPr>
              <a:t>re-replicates</a:t>
            </a:r>
            <a:r>
              <a:rPr lang="en-US" sz="2400" dirty="0" smtClean="0"/>
              <a:t> a chunk as soon as the number of available replicas falls below a user-specified goal.</a:t>
            </a:r>
          </a:p>
          <a:p>
            <a:r>
              <a:rPr lang="en-US" sz="2400" dirty="0" smtClean="0"/>
              <a:t>This could happen for various reasons: a </a:t>
            </a:r>
            <a:r>
              <a:rPr lang="en-US" sz="2400" dirty="0" err="1" smtClean="0"/>
              <a:t>chunkserver</a:t>
            </a:r>
            <a:r>
              <a:rPr lang="en-US" sz="2400" dirty="0" smtClean="0"/>
              <a:t> becomes unavailable, it reports that its replica may be corrupted, one of its disks is disabled because of errors, or the replication goal is increased.</a:t>
            </a:r>
          </a:p>
          <a:p>
            <a:r>
              <a:rPr lang="en-US" sz="2400" dirty="0" smtClean="0"/>
              <a:t>The master picks the highest priority chunk and “clones” it by </a:t>
            </a:r>
            <a:r>
              <a:rPr lang="en-US" sz="2400" i="1" dirty="0" smtClean="0">
                <a:solidFill>
                  <a:srgbClr val="C00000"/>
                </a:solidFill>
              </a:rPr>
              <a:t>instructing</a:t>
            </a:r>
            <a:r>
              <a:rPr lang="en-US" sz="2400" dirty="0" smtClean="0"/>
              <a:t> some </a:t>
            </a:r>
            <a:r>
              <a:rPr lang="en-US" sz="2400" dirty="0" err="1" smtClean="0"/>
              <a:t>chunkserver</a:t>
            </a:r>
            <a:r>
              <a:rPr lang="en-US" sz="2400" dirty="0" smtClean="0"/>
              <a:t> to copy the chunk data directly from an existing valid replica.</a:t>
            </a:r>
            <a:endParaRPr lang="en-US" sz="22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 smtClean="0">
                <a:solidFill>
                  <a:srgbClr val="C00000"/>
                </a:solidFill>
              </a:rPr>
              <a:t>File Region </a:t>
            </a:r>
            <a:r>
              <a:rPr lang="en-US" dirty="0" smtClean="0"/>
              <a:t>Consistency: Consistent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 file region is </a:t>
            </a:r>
            <a:r>
              <a:rPr lang="en-US" sz="2400" i="1" dirty="0" smtClean="0">
                <a:solidFill>
                  <a:srgbClr val="C00000"/>
                </a:solidFill>
              </a:rPr>
              <a:t>consistent</a:t>
            </a:r>
            <a:r>
              <a:rPr lang="en-US" sz="2400" dirty="0" smtClean="0"/>
              <a:t> if all </a:t>
            </a:r>
            <a:r>
              <a:rPr lang="en-US" sz="2400" u="sng" dirty="0" smtClean="0"/>
              <a:t>clients</a:t>
            </a:r>
            <a:r>
              <a:rPr lang="en-US" sz="2400" dirty="0" smtClean="0"/>
              <a:t> will always see </a:t>
            </a:r>
            <a:r>
              <a:rPr lang="en-US" sz="2400" u="sng" dirty="0" smtClean="0"/>
              <a:t>the same data</a:t>
            </a:r>
            <a:r>
              <a:rPr lang="en-US" sz="2400" dirty="0" smtClean="0"/>
              <a:t>, regardless of which </a:t>
            </a:r>
            <a:r>
              <a:rPr lang="en-US" sz="2400" u="sng" dirty="0" smtClean="0"/>
              <a:t>replicas</a:t>
            </a:r>
            <a:r>
              <a:rPr lang="en-US" sz="2400" dirty="0" smtClean="0"/>
              <a:t> they read from.</a:t>
            </a:r>
          </a:p>
          <a:p>
            <a:r>
              <a:rPr lang="en-US" sz="2400" dirty="0" smtClean="0"/>
              <a:t>Client 1 reads replica 1 and 2.</a:t>
            </a:r>
          </a:p>
          <a:p>
            <a:r>
              <a:rPr lang="en-US" sz="2400" dirty="0" smtClean="0"/>
              <a:t>Client 2 reads replica 1 and 2.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752600" y="3774440"/>
          <a:ext cx="6096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Replica 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Replica 2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Data block 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Data block 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Data block</a:t>
                      </a:r>
                      <a:r>
                        <a:rPr lang="en-US" baseline="0" dirty="0" smtClean="0"/>
                        <a:t> 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Data block 2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Data block</a:t>
                      </a:r>
                      <a:r>
                        <a:rPr lang="en-US" baseline="0" dirty="0" smtClean="0"/>
                        <a:t> 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Data block 3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 smtClean="0">
                <a:solidFill>
                  <a:srgbClr val="C00000"/>
                </a:solidFill>
              </a:rPr>
              <a:t>File Region </a:t>
            </a:r>
            <a:r>
              <a:rPr lang="en-US" dirty="0" smtClean="0"/>
              <a:t>Consistency: Defined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A region is </a:t>
            </a:r>
            <a:r>
              <a:rPr lang="en-US" sz="2200" i="1" dirty="0" smtClean="0">
                <a:solidFill>
                  <a:srgbClr val="C00000"/>
                </a:solidFill>
              </a:rPr>
              <a:t>defined</a:t>
            </a:r>
            <a:r>
              <a:rPr lang="en-US" sz="2200" dirty="0" smtClean="0"/>
              <a:t> after a file data mutation if it is consistent and </a:t>
            </a:r>
            <a:r>
              <a:rPr lang="en-US" sz="2200" u="sng" dirty="0" smtClean="0"/>
              <a:t>clients</a:t>
            </a:r>
            <a:r>
              <a:rPr lang="en-US" sz="2200" dirty="0" smtClean="0"/>
              <a:t> will see what the </a:t>
            </a:r>
            <a:r>
              <a:rPr lang="en-US" sz="2200" u="sng" dirty="0" smtClean="0"/>
              <a:t>mutation</a:t>
            </a:r>
            <a:r>
              <a:rPr lang="en-US" sz="2200" dirty="0" smtClean="0"/>
              <a:t> writes in its entirety.</a:t>
            </a:r>
          </a:p>
          <a:p>
            <a:r>
              <a:rPr lang="en-US" sz="2200" dirty="0" smtClean="0"/>
              <a:t>Client 1, 2 read replica 1 and 2.</a:t>
            </a:r>
          </a:p>
          <a:p>
            <a:r>
              <a:rPr lang="en-US" sz="2200" dirty="0" smtClean="0"/>
              <a:t>Client 1 appends data block 4. Client 2 appends data block 5.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752600" y="3657600"/>
          <a:ext cx="6096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Replica 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Replica 2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Data block 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Data block 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Data block</a:t>
                      </a:r>
                      <a:r>
                        <a:rPr lang="en-US" baseline="0" dirty="0" smtClean="0"/>
                        <a:t> 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Data block 2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Data block</a:t>
                      </a:r>
                      <a:r>
                        <a:rPr lang="en-US" baseline="0" dirty="0" smtClean="0"/>
                        <a:t> 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Data block 3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Data block</a:t>
                      </a:r>
                      <a:r>
                        <a:rPr lang="en-US" baseline="0" dirty="0" smtClean="0"/>
                        <a:t> 4</a:t>
                      </a:r>
                      <a:endParaRPr lang="en-US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Data block 4</a:t>
                      </a:r>
                      <a:endParaRPr lang="en-US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Data block</a:t>
                      </a:r>
                      <a:r>
                        <a:rPr lang="en-US" baseline="0" dirty="0" smtClean="0"/>
                        <a:t> 5</a:t>
                      </a:r>
                      <a:endParaRPr lang="en-US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Data block 5</a:t>
                      </a:r>
                      <a:endParaRPr lang="en-US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Consistent but Undefined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Concurrent successes: Client 1 writes data block 4. Client 2 overwrites data block 4 with data block 5. (Maybe Client 1 overwrites data block 5 with data block 4.)</a:t>
            </a:r>
          </a:p>
          <a:p>
            <a:r>
              <a:rPr lang="en-US" sz="2400" dirty="0" smtClean="0"/>
              <a:t>Client 1, 2 read replica 1 and 2.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752600" y="3657600"/>
          <a:ext cx="6096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Replica 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Replica 2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Data block 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Data block 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Data block</a:t>
                      </a:r>
                      <a:r>
                        <a:rPr lang="en-US" baseline="0" dirty="0" smtClean="0"/>
                        <a:t> 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Data block 2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Data block</a:t>
                      </a:r>
                      <a:r>
                        <a:rPr lang="en-US" baseline="0" dirty="0" smtClean="0"/>
                        <a:t> 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Data block 3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Data block</a:t>
                      </a:r>
                      <a:r>
                        <a:rPr lang="en-US" baseline="0" dirty="0" smtClean="0"/>
                        <a:t> 4 </a:t>
                      </a:r>
                      <a:r>
                        <a:rPr lang="en-US" baseline="0" dirty="0" smtClean="0">
                          <a:sym typeface="Wingdings" pitchFamily="2" charset="2"/>
                        </a:rPr>
                        <a:t> 5</a:t>
                      </a:r>
                      <a:endParaRPr lang="en-US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Data block</a:t>
                      </a:r>
                      <a:r>
                        <a:rPr lang="en-US" baseline="0" dirty="0" smtClean="0"/>
                        <a:t> 4 </a:t>
                      </a:r>
                      <a:r>
                        <a:rPr lang="en-US" baseline="0" dirty="0" smtClean="0">
                          <a:sym typeface="Wingdings" pitchFamily="2" charset="2"/>
                        </a:rPr>
                        <a:t> 5</a:t>
                      </a:r>
                      <a:endParaRPr lang="en-US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Defined Interspersed with Inconsistent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Concurrent successes: Client 1 appends data block 4 = ¾ chunk size from the beginning of the chunk. Client 2 appends data block 5 = ½ chunk size.</a:t>
            </a:r>
          </a:p>
          <a:p>
            <a:r>
              <a:rPr lang="en-US" sz="2200" dirty="0" smtClean="0"/>
              <a:t>Client 1, 2 read replica 1 and 2.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752600" y="3271520"/>
          <a:ext cx="60960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Replica 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Replica 2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Data block 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Data block 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Data block</a:t>
                      </a:r>
                      <a:r>
                        <a:rPr lang="en-US" baseline="0" dirty="0" smtClean="0"/>
                        <a:t> 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Data block 2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Data block</a:t>
                      </a:r>
                      <a:r>
                        <a:rPr lang="en-US" baseline="0" dirty="0" smtClean="0"/>
                        <a:t> 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Data block 3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Data block</a:t>
                      </a:r>
                      <a:r>
                        <a:rPr lang="en-US" baseline="0" dirty="0" smtClean="0"/>
                        <a:t> 4</a:t>
                      </a:r>
                      <a:endParaRPr lang="en-US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Data block</a:t>
                      </a:r>
                      <a:r>
                        <a:rPr lang="en-US" baseline="0" dirty="0" smtClean="0"/>
                        <a:t> 4</a:t>
                      </a:r>
                      <a:endParaRPr lang="en-US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Data block</a:t>
                      </a:r>
                      <a:r>
                        <a:rPr lang="en-US" baseline="0" dirty="0" smtClean="0"/>
                        <a:t> 5</a:t>
                      </a:r>
                      <a:endParaRPr lang="en-US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Data block</a:t>
                      </a:r>
                      <a:r>
                        <a:rPr lang="en-US" baseline="0" dirty="0" smtClean="0"/>
                        <a:t> 5</a:t>
                      </a:r>
                      <a:endParaRPr lang="en-US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Inconsistent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Client 1 writes data block 4 successfully.</a:t>
            </a:r>
          </a:p>
          <a:p>
            <a:r>
              <a:rPr lang="en-US" sz="2200" dirty="0" smtClean="0"/>
              <a:t>Client 2 writes data block 5 to replica 1 successfully, but the data block 5 could not written to replica 2 (server crash for example).</a:t>
            </a:r>
          </a:p>
          <a:p>
            <a:r>
              <a:rPr lang="en-US" sz="2200" dirty="0" smtClean="0"/>
              <a:t>Client 1, 2 read replica 1 and 2.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752600" y="3489960"/>
          <a:ext cx="6096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Replica 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Replica 2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Data block 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Data block 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Data block</a:t>
                      </a:r>
                      <a:r>
                        <a:rPr lang="en-US" baseline="0" dirty="0" smtClean="0"/>
                        <a:t> 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Data block 2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Data block</a:t>
                      </a:r>
                      <a:r>
                        <a:rPr lang="en-US" baseline="0" dirty="0" smtClean="0"/>
                        <a:t> 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Data block 3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Data block</a:t>
                      </a:r>
                      <a:r>
                        <a:rPr lang="en-US" baseline="0" dirty="0" smtClean="0"/>
                        <a:t> 4</a:t>
                      </a:r>
                      <a:endParaRPr lang="en-US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Data block</a:t>
                      </a:r>
                      <a:r>
                        <a:rPr lang="en-US" baseline="0" dirty="0" smtClean="0"/>
                        <a:t> 4</a:t>
                      </a:r>
                      <a:endParaRPr lang="en-US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Data block</a:t>
                      </a:r>
                      <a:r>
                        <a:rPr lang="en-US" baseline="0" dirty="0" smtClean="0"/>
                        <a:t> 5</a:t>
                      </a:r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Writes or Record Appends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 </a:t>
            </a:r>
            <a:r>
              <a:rPr lang="en-US" sz="2400" i="1" dirty="0" smtClean="0">
                <a:solidFill>
                  <a:srgbClr val="C00000"/>
                </a:solidFill>
              </a:rPr>
              <a:t>write</a:t>
            </a:r>
            <a:r>
              <a:rPr lang="en-US" sz="2400" dirty="0" smtClean="0"/>
              <a:t> causes data to be written at an </a:t>
            </a:r>
            <a:r>
              <a:rPr lang="en-US" sz="2400" u="sng" dirty="0" smtClean="0"/>
              <a:t>application-specified file offset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A </a:t>
            </a:r>
            <a:r>
              <a:rPr lang="en-US" sz="2400" i="1" dirty="0" smtClean="0">
                <a:solidFill>
                  <a:srgbClr val="C00000"/>
                </a:solidFill>
              </a:rPr>
              <a:t>record append</a:t>
            </a:r>
            <a:r>
              <a:rPr lang="en-US" sz="2400" dirty="0" smtClean="0"/>
              <a:t> causes data (the “record”) to be appended atomically </a:t>
            </a:r>
            <a:r>
              <a:rPr lang="en-US" sz="2400" i="1" dirty="0" smtClean="0">
                <a:solidFill>
                  <a:srgbClr val="C00000"/>
                </a:solidFill>
              </a:rPr>
              <a:t>at least once</a:t>
            </a:r>
            <a:r>
              <a:rPr lang="en-US" sz="2400" dirty="0" smtClean="0"/>
              <a:t> even in the presence of concurrent mutations, but at </a:t>
            </a:r>
            <a:r>
              <a:rPr lang="en-US" sz="2400" u="sng" dirty="0" smtClean="0"/>
              <a:t>an offset of GFS’s choosing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In contrast, a </a:t>
            </a:r>
            <a:r>
              <a:rPr lang="en-US" sz="2400" i="1" dirty="0" smtClean="0">
                <a:solidFill>
                  <a:srgbClr val="C00000"/>
                </a:solidFill>
              </a:rPr>
              <a:t>“regular” append</a:t>
            </a:r>
            <a:r>
              <a:rPr lang="en-US" sz="2400" dirty="0" smtClean="0"/>
              <a:t> is merely a write at an offset that the client believes to be the current end of file.</a:t>
            </a:r>
          </a:p>
          <a:p>
            <a:r>
              <a:rPr lang="en-US" sz="2400" dirty="0" smtClean="0"/>
              <a:t>The offset is returned to the client and marks the beginning of a defined region that contains the record.</a:t>
            </a:r>
          </a:p>
          <a:p>
            <a:r>
              <a:rPr lang="en-US" sz="2400" dirty="0" smtClean="0"/>
              <a:t>GFS may insert </a:t>
            </a:r>
            <a:r>
              <a:rPr lang="en-US" sz="2400" i="1" dirty="0" smtClean="0">
                <a:solidFill>
                  <a:srgbClr val="C00000"/>
                </a:solidFill>
              </a:rPr>
              <a:t>padding</a:t>
            </a:r>
            <a:r>
              <a:rPr lang="en-US" sz="2400" dirty="0" smtClean="0"/>
              <a:t> or </a:t>
            </a:r>
            <a:r>
              <a:rPr lang="en-US" sz="2400" i="1" dirty="0" smtClean="0">
                <a:solidFill>
                  <a:srgbClr val="C00000"/>
                </a:solidFill>
              </a:rPr>
              <a:t>record duplicates</a:t>
            </a:r>
            <a:r>
              <a:rPr lang="en-US" sz="2400" dirty="0" smtClean="0"/>
              <a:t> in between. They occupy regions considered to be inconsistent.</a:t>
            </a:r>
            <a:endParaRPr lang="en-US" sz="24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</a:t>
            </a:r>
            <a:r>
              <a:rPr lang="en-US" smtClean="0"/>
              <a:t>You Again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16864</TotalTime>
  <Words>3863</Words>
  <Application>Microsoft Office PowerPoint</Application>
  <PresentationFormat>On-screen Show (4:3)</PresentationFormat>
  <Paragraphs>357</Paragraphs>
  <Slides>60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1" baseType="lpstr">
      <vt:lpstr>Office Theme</vt:lpstr>
      <vt:lpstr>The Google File System</vt:lpstr>
      <vt:lpstr>Objectives</vt:lpstr>
      <vt:lpstr>Contents</vt:lpstr>
      <vt:lpstr>References</vt:lpstr>
      <vt:lpstr>Paper Reading</vt:lpstr>
      <vt:lpstr>Terminology</vt:lpstr>
      <vt:lpstr>Google Needs</vt:lpstr>
      <vt:lpstr>Google Specific Context </vt:lpstr>
      <vt:lpstr>Result Overview</vt:lpstr>
      <vt:lpstr>Slide 10</vt:lpstr>
      <vt:lpstr>Software Solution</vt:lpstr>
      <vt:lpstr>Architecture</vt:lpstr>
      <vt:lpstr>Terms</vt:lpstr>
      <vt:lpstr>Chunks and Chunkservers</vt:lpstr>
      <vt:lpstr>Chunk Size</vt:lpstr>
      <vt:lpstr>Large Chunk Size Advantages</vt:lpstr>
      <vt:lpstr>Large Chunk Size Disadvantages</vt:lpstr>
      <vt:lpstr>The Master</vt:lpstr>
      <vt:lpstr>GFS Clients and Applications</vt:lpstr>
      <vt:lpstr>API for Clients</vt:lpstr>
      <vt:lpstr>Slide 21</vt:lpstr>
      <vt:lpstr>Metadata</vt:lpstr>
      <vt:lpstr>Memory-Only Approach Concern</vt:lpstr>
      <vt:lpstr>Chunk Location Information</vt:lpstr>
      <vt:lpstr>Chunkserver Failures</vt:lpstr>
      <vt:lpstr>Chunk Versions</vt:lpstr>
      <vt:lpstr>Roles of Chunk Versions</vt:lpstr>
      <vt:lpstr>Operation Log</vt:lpstr>
      <vt:lpstr>Operation Log Checkpoint</vt:lpstr>
      <vt:lpstr>Master Data Consistency</vt:lpstr>
      <vt:lpstr>Slide 31</vt:lpstr>
      <vt:lpstr>Mutation</vt:lpstr>
      <vt:lpstr>Leases</vt:lpstr>
      <vt:lpstr>Leases and Mutation Order</vt:lpstr>
      <vt:lpstr>Mutation Order Example</vt:lpstr>
      <vt:lpstr>Write Control and Data Flow</vt:lpstr>
      <vt:lpstr>Write Process: Step 1, 2 and 3</vt:lpstr>
      <vt:lpstr>Write Process: Step 4</vt:lpstr>
      <vt:lpstr>Write Process: Step 5, 6 and 7</vt:lpstr>
      <vt:lpstr>Errors Handling</vt:lpstr>
      <vt:lpstr>Concurrent Writes</vt:lpstr>
      <vt:lpstr>Interleaved Writes Example</vt:lpstr>
      <vt:lpstr>Overwritten Writes</vt:lpstr>
      <vt:lpstr>Atomic Record Appends</vt:lpstr>
      <vt:lpstr>Atomic Record Appends Steps</vt:lpstr>
      <vt:lpstr>Copy vs. Snapshot</vt:lpstr>
      <vt:lpstr>Slide 47</vt:lpstr>
      <vt:lpstr>Simple Read</vt:lpstr>
      <vt:lpstr>Slide 49</vt:lpstr>
      <vt:lpstr>Read Lock vs. Write Lock</vt:lpstr>
      <vt:lpstr>Namespace Management and Locking</vt:lpstr>
      <vt:lpstr>Chunk Replication</vt:lpstr>
      <vt:lpstr>Slide 53</vt:lpstr>
      <vt:lpstr>File Region Consistency: Consistent</vt:lpstr>
      <vt:lpstr>File Region Consistency: Defined</vt:lpstr>
      <vt:lpstr>Consistent but Undefined</vt:lpstr>
      <vt:lpstr>Defined Interspersed with Inconsistent</vt:lpstr>
      <vt:lpstr>Inconsistent</vt:lpstr>
      <vt:lpstr>Writes or Record Appends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4964</cp:revision>
  <dcterms:created xsi:type="dcterms:W3CDTF">2007-10-06T08:25:13Z</dcterms:created>
  <dcterms:modified xsi:type="dcterms:W3CDTF">2025-11-26T17:43:34Z</dcterms:modified>
</cp:coreProperties>
</file>