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4"/>
  </p:notesMasterIdLst>
  <p:sldIdLst>
    <p:sldId id="570" r:id="rId2"/>
    <p:sldId id="571" r:id="rId3"/>
    <p:sldId id="572" r:id="rId4"/>
    <p:sldId id="573" r:id="rId5"/>
    <p:sldId id="576" r:id="rId6"/>
    <p:sldId id="567" r:id="rId7"/>
    <p:sldId id="574" r:id="rId8"/>
    <p:sldId id="447" r:id="rId9"/>
    <p:sldId id="484" r:id="rId10"/>
    <p:sldId id="488" r:id="rId11"/>
    <p:sldId id="489" r:id="rId12"/>
    <p:sldId id="440"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0" autoAdjust="0"/>
    <p:restoredTop sz="94765" autoAdjust="0"/>
  </p:normalViewPr>
  <p:slideViewPr>
    <p:cSldViewPr>
      <p:cViewPr>
        <p:scale>
          <a:sx n="50" d="100"/>
          <a:sy n="50" d="100"/>
        </p:scale>
        <p:origin x="-164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62591D-F63A-4C87-988A-2A4399BE3C42}" type="datetimeFigureOut">
              <a:rPr lang="en-US" smtClean="0"/>
              <a:pPr/>
              <a:t>1/3/2023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B2649A-D532-4C46-8375-2DC4F09C0D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1/3/2023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1/3/2023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1/3/2023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1/3/2023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1/3/2023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1/3/2023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1/3/2023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1/3/2023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1/3/2023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1/3/2023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1/3/2023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trailhead.salesforce.com/content/learn/projects/build-a-data-model-for-a-travel-approval-app"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6000" dirty="0" smtClean="0"/>
              <a:t>Platform as a Service</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r>
              <a:rPr lang="en-US" sz="2400" dirty="0" smtClean="0"/>
              <a:t>To create a </a:t>
            </a:r>
            <a:r>
              <a:rPr lang="en-US" sz="2400" dirty="0" err="1" smtClean="0"/>
              <a:t>PaaS</a:t>
            </a:r>
            <a:r>
              <a:rPr lang="en-US" sz="2400" smtClean="0"/>
              <a:t> </a:t>
            </a:r>
            <a:r>
              <a:rPr lang="en-US" sz="2400" smtClean="0"/>
              <a:t>application.</a:t>
            </a: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err="1" smtClean="0"/>
              <a:t>Salesforce</a:t>
            </a:r>
            <a:r>
              <a:rPr lang="en-US" sz="2400" dirty="0" smtClean="0"/>
              <a:t> Platform Case Study</a:t>
            </a:r>
          </a:p>
          <a:p>
            <a:pPr marL="571500" indent="-571500">
              <a:buFont typeface="+mj-lt"/>
              <a:buAutoNum type="romanUcPeriod"/>
            </a:pPr>
            <a:r>
              <a:rPr lang="en-US" sz="2400" dirty="0" smtClean="0"/>
              <a:t>Google App Engine</a:t>
            </a:r>
          </a:p>
          <a:p>
            <a:pPr marL="571500" indent="-571500">
              <a:buFont typeface="+mj-lt"/>
              <a:buAutoNum type="romanUcPeriod"/>
            </a:pPr>
            <a:r>
              <a:rPr lang="en-US" sz="2400" dirty="0" err="1" smtClean="0"/>
              <a:t>PaaS</a:t>
            </a:r>
            <a:r>
              <a:rPr lang="en-US" sz="2400" smtClean="0"/>
              <a:t> Pattern</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828800"/>
            <a:ext cx="5867400" cy="4191000"/>
          </a:xfrm>
        </p:spPr>
        <p:txBody>
          <a:bodyPr/>
          <a:lstStyle/>
          <a:p>
            <a:pPr marL="457200" indent="-457200">
              <a:buFont typeface="+mj-lt"/>
              <a:buAutoNum type="arabicPeriod"/>
            </a:pPr>
            <a:r>
              <a:rPr lang="en-US" sz="2200" dirty="0" err="1" smtClean="0"/>
              <a:t>Gautam</a:t>
            </a:r>
            <a:r>
              <a:rPr lang="en-US" sz="2200" dirty="0" smtClean="0"/>
              <a:t> </a:t>
            </a:r>
            <a:r>
              <a:rPr lang="en-US" sz="2200" dirty="0" err="1" smtClean="0"/>
              <a:t>Shroff</a:t>
            </a:r>
            <a:r>
              <a:rPr lang="en-US" sz="2200" dirty="0" smtClean="0"/>
              <a:t> (2010). Enterprise Cloud Computing. Cambridge University Press.</a:t>
            </a:r>
          </a:p>
          <a:p>
            <a:pPr marL="457200" indent="-457200">
              <a:buFont typeface="+mj-lt"/>
              <a:buAutoNum type="arabicPeriod"/>
            </a:pPr>
            <a:r>
              <a:rPr lang="en-US" sz="2200" dirty="0" smtClean="0"/>
              <a:t>Keiko </a:t>
            </a:r>
            <a:r>
              <a:rPr lang="en-US" sz="2200" dirty="0" err="1" smtClean="0"/>
              <a:t>Hashizume</a:t>
            </a:r>
            <a:r>
              <a:rPr lang="en-US" sz="2200" dirty="0" smtClean="0"/>
              <a:t> et al. (2012). Cloud Service Model Patterns.</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Platform as a Service</a:t>
            </a:r>
            <a:endParaRPr lang="en-US" dirty="0"/>
          </a:p>
        </p:txBody>
      </p:sp>
      <p:sp>
        <p:nvSpPr>
          <p:cNvPr id="3" name="Content Placeholder 2"/>
          <p:cNvSpPr>
            <a:spLocks noGrp="1"/>
          </p:cNvSpPr>
          <p:nvPr>
            <p:ph idx="1"/>
          </p:nvPr>
        </p:nvSpPr>
        <p:spPr/>
        <p:txBody>
          <a:bodyPr/>
          <a:lstStyle/>
          <a:p>
            <a:r>
              <a:rPr lang="en-US" sz="2000" dirty="0" smtClean="0"/>
              <a:t>The capability provided to the consumer is to deploy onto the cloud infrastructure consumer-created or acquired applications created using programming languages, libraries, services, and tools supported by the provider</a:t>
            </a:r>
            <a:r>
              <a:rPr lang="en-US" sz="2000" dirty="0" smtClean="0"/>
              <a:t>.</a:t>
            </a:r>
          </a:p>
          <a:p>
            <a:r>
              <a:rPr lang="en-US" sz="2000" dirty="0" smtClean="0"/>
              <a:t>The consumer does not manage or control the underlying cloud infrastructure including network, servers, operating systems, or storage, but has control over the deployed applications and possibly configuration settings for the application-hosting environment.</a:t>
            </a:r>
            <a:endParaRPr lang="en-US" sz="2000" dirty="0"/>
          </a:p>
        </p:txBody>
      </p:sp>
      <p:pic>
        <p:nvPicPr>
          <p:cNvPr id="4" name="Picture 2" descr="https://static.javatpoint.com/cloudpages/images/paas.png"/>
          <p:cNvPicPr>
            <a:picLocks noChangeAspect="1" noChangeArrowheads="1"/>
          </p:cNvPicPr>
          <p:nvPr/>
        </p:nvPicPr>
        <p:blipFill>
          <a:blip r:embed="rId2" cstate="print"/>
          <a:srcRect/>
          <a:stretch>
            <a:fillRect/>
          </a:stretch>
        </p:blipFill>
        <p:spPr bwMode="auto">
          <a:xfrm>
            <a:off x="1066800" y="4394200"/>
            <a:ext cx="3175000" cy="2006600"/>
          </a:xfrm>
          <a:prstGeom prst="rect">
            <a:avLst/>
          </a:prstGeom>
          <a:noFill/>
        </p:spPr>
      </p:pic>
      <p:pic>
        <p:nvPicPr>
          <p:cNvPr id="5" name="Picture 4"/>
          <p:cNvPicPr>
            <a:picLocks noChangeAspect="1" noChangeArrowheads="1"/>
          </p:cNvPicPr>
          <p:nvPr/>
        </p:nvPicPr>
        <p:blipFill>
          <a:blip r:embed="rId3" cstate="print"/>
          <a:srcRect/>
          <a:stretch>
            <a:fillRect/>
          </a:stretch>
        </p:blipFill>
        <p:spPr bwMode="auto">
          <a:xfrm>
            <a:off x="4648200" y="4419600"/>
            <a:ext cx="3208867" cy="1853828"/>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r>
              <a:rPr lang="en-US" dirty="0" err="1" smtClean="0"/>
              <a:t>Salesforce</a:t>
            </a:r>
            <a:r>
              <a:rPr lang="en-US" dirty="0" smtClean="0"/>
              <a:t> Platform Case Study</a:t>
            </a:r>
          </a:p>
        </p:txBody>
      </p:sp>
      <p:sp>
        <p:nvSpPr>
          <p:cNvPr id="3" name="Content Placeholder 2"/>
          <p:cNvSpPr>
            <a:spLocks noGrp="1"/>
          </p:cNvSpPr>
          <p:nvPr>
            <p:ph idx="1"/>
          </p:nvPr>
        </p:nvSpPr>
        <p:spPr/>
        <p:txBody>
          <a:bodyPr/>
          <a:lstStyle/>
          <a:p>
            <a:r>
              <a:rPr lang="en-US" sz="2400" dirty="0" smtClean="0">
                <a:hlinkClick r:id="rId2"/>
              </a:rPr>
              <a:t>https://trailhead.salesforce.com/content/learn/projects/build-a-data-model-for-a-travel-approval-app</a:t>
            </a:r>
            <a:endParaRPr lang="en-US" sz="2400" dirty="0" smtClean="0"/>
          </a:p>
          <a:p>
            <a:endParaRPr lang="en-US" sz="2400" dirty="0"/>
          </a:p>
        </p:txBody>
      </p:sp>
      <p:pic>
        <p:nvPicPr>
          <p:cNvPr id="7170" name="Picture 2" descr="https://www.monash.edu/__data/assets/image/0004/2839261/casestudy.jpg"/>
          <p:cNvPicPr>
            <a:picLocks noChangeAspect="1" noChangeArrowheads="1"/>
          </p:cNvPicPr>
          <p:nvPr/>
        </p:nvPicPr>
        <p:blipFill>
          <a:blip r:embed="rId3" cstate="print"/>
          <a:srcRect/>
          <a:stretch>
            <a:fillRect/>
          </a:stretch>
        </p:blipFill>
        <p:spPr bwMode="auto">
          <a:xfrm>
            <a:off x="1371600" y="3352800"/>
            <a:ext cx="6339840" cy="19812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Google App Engine</a:t>
            </a:r>
            <a:r>
              <a:rPr lang="fr-FR" sz="4000" dirty="0" smtClean="0"/>
              <a:t> [1]</a:t>
            </a:r>
            <a:endParaRPr lang="en-US" sz="4000" dirty="0"/>
          </a:p>
        </p:txBody>
      </p:sp>
      <p:pic>
        <p:nvPicPr>
          <p:cNvPr id="3075" name="Picture 3"/>
          <p:cNvPicPr>
            <a:picLocks noChangeAspect="1" noChangeArrowheads="1"/>
          </p:cNvPicPr>
          <p:nvPr/>
        </p:nvPicPr>
        <p:blipFill>
          <a:blip r:embed="rId2" cstate="print"/>
          <a:srcRect/>
          <a:stretch>
            <a:fillRect/>
          </a:stretch>
        </p:blipFill>
        <p:spPr bwMode="auto">
          <a:xfrm>
            <a:off x="2190750" y="1752600"/>
            <a:ext cx="4762500" cy="462915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Cloud Platform </a:t>
            </a:r>
            <a:r>
              <a:rPr lang="en-US" dirty="0" smtClean="0"/>
              <a:t>Pattern [2]</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862013" y="1733550"/>
            <a:ext cx="7419975" cy="42100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PaaS</a:t>
            </a:r>
            <a:r>
              <a:rPr lang="en-US" dirty="0" smtClean="0"/>
              <a:t> – Structure</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A Party</a:t>
            </a:r>
            <a:r>
              <a:rPr lang="en-US" sz="2200" dirty="0" smtClean="0"/>
              <a:t> can be an institution or a user (developers, administrators).</a:t>
            </a:r>
          </a:p>
          <a:p>
            <a:r>
              <a:rPr lang="en-US" sz="2200" dirty="0" smtClean="0"/>
              <a:t>The </a:t>
            </a:r>
            <a:r>
              <a:rPr lang="en-US" sz="2200" i="1" dirty="0" err="1" smtClean="0">
                <a:solidFill>
                  <a:srgbClr val="C00000"/>
                </a:solidFill>
              </a:rPr>
              <a:t>PaaS</a:t>
            </a:r>
            <a:r>
              <a:rPr lang="en-US" sz="2200" i="1" dirty="0" smtClean="0">
                <a:solidFill>
                  <a:srgbClr val="C00000"/>
                </a:solidFill>
              </a:rPr>
              <a:t> Provider</a:t>
            </a:r>
            <a:r>
              <a:rPr lang="en-US" sz="2200" dirty="0" smtClean="0"/>
              <a:t> processes requests from Parties.</a:t>
            </a:r>
          </a:p>
          <a:p>
            <a:r>
              <a:rPr lang="en-US" sz="2200" dirty="0" smtClean="0"/>
              <a:t>The Party will choose the developing tools from the </a:t>
            </a:r>
            <a:r>
              <a:rPr lang="en-US" sz="2200" i="1" dirty="0" smtClean="0">
                <a:solidFill>
                  <a:srgbClr val="C00000"/>
                </a:solidFill>
              </a:rPr>
              <a:t>Software Repository</a:t>
            </a:r>
            <a:r>
              <a:rPr lang="en-US" sz="2200" dirty="0" smtClean="0"/>
              <a:t> which contains a list of developing tools available for the users.</a:t>
            </a:r>
          </a:p>
          <a:p>
            <a:r>
              <a:rPr lang="en-US" sz="2200" dirty="0" smtClean="0"/>
              <a:t>The </a:t>
            </a:r>
            <a:r>
              <a:rPr lang="en-US" sz="2200" dirty="0" err="1" smtClean="0"/>
              <a:t>PaaS</a:t>
            </a:r>
            <a:r>
              <a:rPr lang="en-US" sz="2200" dirty="0" smtClean="0"/>
              <a:t> provider offers </a:t>
            </a:r>
            <a:r>
              <a:rPr lang="en-US" sz="2200" i="1" dirty="0" smtClean="0">
                <a:solidFill>
                  <a:srgbClr val="C00000"/>
                </a:solidFill>
              </a:rPr>
              <a:t>Virtual Environments</a:t>
            </a:r>
            <a:r>
              <a:rPr lang="en-US" sz="2200" dirty="0" smtClean="0"/>
              <a:t> such as </a:t>
            </a:r>
            <a:r>
              <a:rPr lang="en-US" sz="2200" i="1" dirty="0" smtClean="0">
                <a:solidFill>
                  <a:srgbClr val="C00000"/>
                </a:solidFill>
              </a:rPr>
              <a:t>Development Environment</a:t>
            </a:r>
            <a:r>
              <a:rPr lang="en-US" sz="2200" dirty="0" smtClean="0"/>
              <a:t> and </a:t>
            </a:r>
            <a:r>
              <a:rPr lang="en-US" sz="2200" i="1" dirty="0" smtClean="0">
                <a:solidFill>
                  <a:srgbClr val="C00000"/>
                </a:solidFill>
              </a:rPr>
              <a:t>Deployment Environment</a:t>
            </a:r>
            <a:r>
              <a:rPr lang="en-US" sz="2200" dirty="0" smtClean="0"/>
              <a:t>.</a:t>
            </a:r>
          </a:p>
          <a:p>
            <a:r>
              <a:rPr lang="en-US" sz="2200" dirty="0" smtClean="0"/>
              <a:t>The Virtual Environments are built upon the </a:t>
            </a:r>
            <a:r>
              <a:rPr lang="en-US" sz="2200" dirty="0" err="1" smtClean="0"/>
              <a:t>IaaS</a:t>
            </a:r>
            <a:r>
              <a:rPr lang="en-US" sz="2200" dirty="0" smtClean="0"/>
              <a:t> (Infrastructure-as-a-Service) which provides the underlying hardware.</a:t>
            </a:r>
          </a:p>
          <a:p>
            <a:r>
              <a:rPr lang="en-US" sz="2200" dirty="0" smtClean="0"/>
              <a:t>The Development Environment is composed of </a:t>
            </a:r>
            <a:r>
              <a:rPr lang="en-US" sz="2200" i="1" dirty="0" smtClean="0">
                <a:solidFill>
                  <a:srgbClr val="C00000"/>
                </a:solidFill>
              </a:rPr>
              <a:t>Development Tools</a:t>
            </a:r>
            <a:r>
              <a:rPr lang="en-US" sz="2200" dirty="0" smtClean="0"/>
              <a:t>, </a:t>
            </a:r>
            <a:r>
              <a:rPr lang="en-US" sz="2200" i="1" dirty="0" smtClean="0">
                <a:solidFill>
                  <a:srgbClr val="C00000"/>
                </a:solidFill>
              </a:rPr>
              <a:t>Libraries</a:t>
            </a:r>
            <a:r>
              <a:rPr lang="en-US" sz="2200" dirty="0" smtClean="0"/>
              <a:t>, </a:t>
            </a:r>
            <a:r>
              <a:rPr lang="en-US" sz="2200" i="1" dirty="0" smtClean="0">
                <a:solidFill>
                  <a:srgbClr val="C00000"/>
                </a:solidFill>
              </a:rPr>
              <a:t>Databases</a:t>
            </a:r>
            <a:r>
              <a:rPr lang="en-US" sz="2200" dirty="0" smtClean="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15927</TotalTime>
  <Words>263</Words>
  <Application>Microsoft Office PowerPoint</Application>
  <PresentationFormat>On-screen Show (4:3)</PresentationFormat>
  <Paragraphs>32</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Platform as a Service</vt:lpstr>
      <vt:lpstr>Objectives</vt:lpstr>
      <vt:lpstr>Contents</vt:lpstr>
      <vt:lpstr>References</vt:lpstr>
      <vt:lpstr>Platform as a Service</vt:lpstr>
      <vt:lpstr>Salesforce Platform Case Study</vt:lpstr>
      <vt:lpstr>Slide 7</vt:lpstr>
      <vt:lpstr>Google App Engine [1]</vt:lpstr>
      <vt:lpstr>Slide 9</vt:lpstr>
      <vt:lpstr>Cloud Platform Pattern [2]</vt:lpstr>
      <vt:lpstr>PaaS – Structure</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3995</cp:revision>
  <dcterms:created xsi:type="dcterms:W3CDTF">2007-10-06T08:25:13Z</dcterms:created>
  <dcterms:modified xsi:type="dcterms:W3CDTF">2023-01-03T10:12:58Z</dcterms:modified>
</cp:coreProperties>
</file>