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
  </p:notesMasterIdLst>
  <p:sldIdLst>
    <p:sldId id="696" r:id="rId2"/>
    <p:sldId id="697" r:id="rId3"/>
    <p:sldId id="698" r:id="rId4"/>
    <p:sldId id="700" r:id="rId5"/>
    <p:sldId id="680" r:id="rId6"/>
    <p:sldId id="756" r:id="rId7"/>
    <p:sldId id="686" r:id="rId8"/>
    <p:sldId id="687" r:id="rId9"/>
    <p:sldId id="681" r:id="rId10"/>
    <p:sldId id="688" r:id="rId11"/>
    <p:sldId id="685" r:id="rId12"/>
    <p:sldId id="689" r:id="rId13"/>
    <p:sldId id="691" r:id="rId14"/>
    <p:sldId id="692" r:id="rId15"/>
    <p:sldId id="694" r:id="rId16"/>
    <p:sldId id="695" r:id="rId17"/>
    <p:sldId id="676" r:id="rId18"/>
    <p:sldId id="747" r:id="rId19"/>
    <p:sldId id="516" r:id="rId2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45" autoAdjust="0"/>
    <p:restoredTop sz="94667" autoAdjust="0"/>
  </p:normalViewPr>
  <p:slideViewPr>
    <p:cSldViewPr>
      <p:cViewPr>
        <p:scale>
          <a:sx n="50" d="100"/>
          <a:sy n="50" d="100"/>
        </p:scale>
        <p:origin x="-153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940CE-BE1D-4C40-AF8B-3898A4D1F5EC}" type="datetimeFigureOut">
              <a:rPr lang="en-US" smtClean="0"/>
              <a:pPr/>
              <a:t>7/15/2026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570CC96-DB61-4850-AF79-05CA5E4B3D0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7/15/2026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7/15/2026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7/15/2026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7/15/2026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7/15/2026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7/15/2026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7/15/2026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7/15/2026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seaweedfs/seaweedf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192.168.1.19:9333/"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192.168.1.19:8888/"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nats.io/jetstream/jetstream" TargetMode="External"/><Relationship Id="rId2" Type="http://schemas.openxmlformats.org/officeDocument/2006/relationships/hyperlink" Target="https://github.com/nats-io/nats-streaming-server"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192.168.1.19:422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identity.getpostman.com/signu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eb.postman.co/"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jmeter.apache.org/download_jmeter.cgi"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oosefs.com/downloa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6000" dirty="0" smtClean="0"/>
              <a:t>Distributed File Systems</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1"/>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524000"/>
            <a:ext cx="5638800" cy="4800600"/>
          </a:xfrm>
        </p:spPr>
        <p:txBody>
          <a:bodyPr/>
          <a:lstStyle/>
          <a:p>
            <a:pPr>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SeaweedFS</a:t>
            </a:r>
            <a:endParaRPr lang="en-US" dirty="0"/>
          </a:p>
        </p:txBody>
      </p:sp>
      <p:sp>
        <p:nvSpPr>
          <p:cNvPr id="3" name="Content Placeholder 2"/>
          <p:cNvSpPr>
            <a:spLocks noGrp="1"/>
          </p:cNvSpPr>
          <p:nvPr>
            <p:ph idx="1"/>
          </p:nvPr>
        </p:nvSpPr>
        <p:spPr/>
        <p:txBody>
          <a:bodyPr/>
          <a:lstStyle/>
          <a:p>
            <a:r>
              <a:rPr lang="en-US" sz="2400" dirty="0" smtClean="0">
                <a:hlinkClick r:id="rId2"/>
              </a:rPr>
              <a:t>https://github.com/seaweedfs/seaweedfs</a:t>
            </a:r>
            <a:endParaRPr lang="en-US" sz="2400" dirty="0" smtClean="0"/>
          </a:p>
          <a:p>
            <a:r>
              <a:rPr lang="en-US" sz="2400" dirty="0" err="1" smtClean="0"/>
              <a:t>SeaweedFS</a:t>
            </a:r>
            <a:r>
              <a:rPr lang="en-US" sz="2400" dirty="0" smtClean="0"/>
              <a:t> is a simple and highly scalable distributed file system.</a:t>
            </a:r>
          </a:p>
          <a:p>
            <a:r>
              <a:rPr lang="en-US" sz="2400" dirty="0" smtClean="0"/>
              <a:t>There are two objectives:</a:t>
            </a:r>
          </a:p>
          <a:p>
            <a:pPr lvl="1"/>
            <a:r>
              <a:rPr lang="en-US" sz="2400" dirty="0" smtClean="0"/>
              <a:t>to store billions of files!</a:t>
            </a:r>
          </a:p>
          <a:p>
            <a:pPr lvl="1"/>
            <a:r>
              <a:rPr lang="en-US" sz="2400" dirty="0" smtClean="0"/>
              <a:t>to serve the files fast!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Download </a:t>
            </a:r>
            <a:r>
              <a:rPr lang="en-US" dirty="0" err="1" smtClean="0"/>
              <a:t>SeaweedFS</a:t>
            </a:r>
            <a:endParaRPr lang="en-US" dirty="0"/>
          </a:p>
        </p:txBody>
      </p:sp>
      <p:sp>
        <p:nvSpPr>
          <p:cNvPr id="3" name="Content Placeholder 2"/>
          <p:cNvSpPr>
            <a:spLocks noGrp="1"/>
          </p:cNvSpPr>
          <p:nvPr>
            <p:ph idx="1"/>
          </p:nvPr>
        </p:nvSpPr>
        <p:spPr/>
        <p:txBody>
          <a:bodyPr/>
          <a:lstStyle/>
          <a:p>
            <a:r>
              <a:rPr lang="en-US" sz="2200" dirty="0" smtClean="0">
                <a:latin typeface="Consolas" pitchFamily="49" charset="0"/>
              </a:rPr>
              <a:t>curl -L https://github.com/chrislusf/seaweedfs/releases/download/2.57/linux_amd64_large_disk.tar.gz -o </a:t>
            </a:r>
            <a:r>
              <a:rPr lang="en-US" sz="2200" dirty="0" err="1" smtClean="0">
                <a:latin typeface="Consolas" pitchFamily="49" charset="0"/>
              </a:rPr>
              <a:t>sw.tar.gz</a:t>
            </a:r>
            <a:r>
              <a:rPr lang="en-US" sz="2200" dirty="0" smtClean="0">
                <a:latin typeface="Consolas" pitchFamily="49" charset="0"/>
              </a:rPr>
              <a:t> </a:t>
            </a:r>
          </a:p>
          <a:p>
            <a:r>
              <a:rPr lang="en-US" sz="2200" dirty="0" err="1" smtClean="0">
                <a:latin typeface="Consolas" pitchFamily="49" charset="0"/>
              </a:rPr>
              <a:t>mkdir</a:t>
            </a:r>
            <a:r>
              <a:rPr lang="en-US" sz="2200" dirty="0" smtClean="0">
                <a:latin typeface="Consolas" pitchFamily="49" charset="0"/>
              </a:rPr>
              <a:t> </a:t>
            </a:r>
            <a:r>
              <a:rPr lang="en-US" sz="2200" dirty="0" err="1" smtClean="0">
                <a:latin typeface="Consolas" pitchFamily="49" charset="0"/>
              </a:rPr>
              <a:t>seaweedfs</a:t>
            </a:r>
            <a:endParaRPr lang="en-US" sz="2200" dirty="0" smtClean="0">
              <a:latin typeface="Consolas" pitchFamily="49" charset="0"/>
            </a:endParaRPr>
          </a:p>
          <a:p>
            <a:r>
              <a:rPr lang="en-US" sz="2200" dirty="0" err="1" smtClean="0">
                <a:latin typeface="Consolas" pitchFamily="49" charset="0"/>
              </a:rPr>
              <a:t>sudo</a:t>
            </a:r>
            <a:r>
              <a:rPr lang="en-US" sz="2200" dirty="0" smtClean="0">
                <a:latin typeface="Consolas" pitchFamily="49" charset="0"/>
              </a:rPr>
              <a:t> </a:t>
            </a:r>
            <a:r>
              <a:rPr lang="en-US" sz="2200" dirty="0" err="1" smtClean="0">
                <a:latin typeface="Consolas" pitchFamily="49" charset="0"/>
              </a:rPr>
              <a:t>mv</a:t>
            </a:r>
            <a:r>
              <a:rPr lang="en-US" sz="2200" dirty="0" smtClean="0">
                <a:latin typeface="Consolas" pitchFamily="49" charset="0"/>
              </a:rPr>
              <a:t> </a:t>
            </a:r>
            <a:r>
              <a:rPr lang="en-US" sz="2200" dirty="0" err="1" smtClean="0">
                <a:latin typeface="Consolas" pitchFamily="49" charset="0"/>
              </a:rPr>
              <a:t>sw.tar.gz</a:t>
            </a:r>
            <a:r>
              <a:rPr lang="en-US" sz="2200" dirty="0" smtClean="0">
                <a:latin typeface="Consolas" pitchFamily="49" charset="0"/>
              </a:rPr>
              <a:t> </a:t>
            </a:r>
            <a:r>
              <a:rPr lang="en-US" sz="2200" dirty="0" err="1" smtClean="0">
                <a:latin typeface="Consolas" pitchFamily="49" charset="0"/>
              </a:rPr>
              <a:t>seaweedfs</a:t>
            </a:r>
            <a:endParaRPr lang="en-US" sz="2200" dirty="0" smtClean="0">
              <a:latin typeface="Consolas" pitchFamily="49" charset="0"/>
            </a:endParaRPr>
          </a:p>
          <a:p>
            <a:r>
              <a:rPr lang="en-US" sz="2200" dirty="0" err="1" smtClean="0">
                <a:latin typeface="Consolas" pitchFamily="49" charset="0"/>
              </a:rPr>
              <a:t>cd</a:t>
            </a:r>
            <a:r>
              <a:rPr lang="en-US" sz="2200" dirty="0" smtClean="0">
                <a:latin typeface="Consolas" pitchFamily="49" charset="0"/>
              </a:rPr>
              <a:t> </a:t>
            </a:r>
            <a:r>
              <a:rPr lang="en-US" sz="2200" dirty="0" err="1" smtClean="0">
                <a:latin typeface="Consolas" pitchFamily="49" charset="0"/>
              </a:rPr>
              <a:t>seaweedfs</a:t>
            </a:r>
            <a:endParaRPr lang="en-US" sz="2200" dirty="0" smtClean="0">
              <a:latin typeface="Consolas" pitchFamily="49" charset="0"/>
            </a:endParaRPr>
          </a:p>
          <a:p>
            <a:r>
              <a:rPr lang="en-US" sz="2200" dirty="0" smtClean="0">
                <a:latin typeface="Consolas" pitchFamily="49" charset="0"/>
              </a:rPr>
              <a:t>tar -</a:t>
            </a:r>
            <a:r>
              <a:rPr lang="en-US" sz="2200" dirty="0" err="1" smtClean="0">
                <a:latin typeface="Consolas" pitchFamily="49" charset="0"/>
              </a:rPr>
              <a:t>xf</a:t>
            </a:r>
            <a:r>
              <a:rPr lang="en-US" sz="2200" dirty="0" smtClean="0">
                <a:latin typeface="Consolas" pitchFamily="49" charset="0"/>
              </a:rPr>
              <a:t> </a:t>
            </a:r>
            <a:r>
              <a:rPr lang="en-US" sz="2200" dirty="0" err="1" smtClean="0">
                <a:latin typeface="Consolas" pitchFamily="49" charset="0"/>
              </a:rPr>
              <a:t>sw.tar.gz</a:t>
            </a:r>
            <a:r>
              <a:rPr lang="en-US" sz="2200" dirty="0" smtClean="0">
                <a:latin typeface="Consolas" pitchFamily="49" charset="0"/>
              </a:rPr>
              <a:t> </a:t>
            </a:r>
            <a:endParaRPr lang="en-US" sz="22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1354138" y="5105400"/>
            <a:ext cx="6435725" cy="6858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2. Start Seaweed Master</a:t>
            </a:r>
            <a:endParaRPr lang="en-US" dirty="0"/>
          </a:p>
        </p:txBody>
      </p:sp>
      <p:sp>
        <p:nvSpPr>
          <p:cNvPr id="3" name="Content Placeholder 2"/>
          <p:cNvSpPr>
            <a:spLocks noGrp="1"/>
          </p:cNvSpPr>
          <p:nvPr>
            <p:ph idx="1"/>
          </p:nvPr>
        </p:nvSpPr>
        <p:spPr/>
        <p:txBody>
          <a:bodyPr/>
          <a:lstStyle/>
          <a:p>
            <a:r>
              <a:rPr lang="en-US" sz="1800" dirty="0" err="1" smtClean="0">
                <a:latin typeface="Consolas" pitchFamily="49" charset="0"/>
              </a:rPr>
              <a:t>mkdir</a:t>
            </a:r>
            <a:r>
              <a:rPr lang="en-US" sz="1800" dirty="0" smtClean="0">
                <a:latin typeface="Consolas" pitchFamily="49" charset="0"/>
              </a:rPr>
              <a:t> /data/</a:t>
            </a:r>
            <a:r>
              <a:rPr lang="en-US" sz="1800" dirty="0" err="1" smtClean="0">
                <a:latin typeface="Consolas" pitchFamily="49" charset="0"/>
              </a:rPr>
              <a:t>sw</a:t>
            </a:r>
            <a:endParaRPr lang="en-US" sz="1800" dirty="0" smtClean="0">
              <a:latin typeface="Consolas" pitchFamily="49" charset="0"/>
            </a:endParaRPr>
          </a:p>
          <a:p>
            <a:r>
              <a:rPr lang="en-US" sz="1800" dirty="0" err="1" smtClean="0">
                <a:latin typeface="Consolas" pitchFamily="49" charset="0"/>
              </a:rPr>
              <a:t>mkdir</a:t>
            </a:r>
            <a:r>
              <a:rPr lang="en-US" sz="1800" dirty="0" smtClean="0">
                <a:latin typeface="Consolas" pitchFamily="49" charset="0"/>
              </a:rPr>
              <a:t> /data/</a:t>
            </a:r>
            <a:r>
              <a:rPr lang="en-US" sz="1800" dirty="0" err="1" smtClean="0">
                <a:latin typeface="Consolas" pitchFamily="49" charset="0"/>
              </a:rPr>
              <a:t>sw</a:t>
            </a:r>
            <a:r>
              <a:rPr lang="en-US" sz="1800" dirty="0" smtClean="0">
                <a:latin typeface="Consolas" pitchFamily="49" charset="0"/>
              </a:rPr>
              <a:t>/meta</a:t>
            </a:r>
          </a:p>
          <a:p>
            <a:r>
              <a:rPr lang="en-US" sz="1800" dirty="0" err="1" smtClean="0">
                <a:latin typeface="Consolas" pitchFamily="49" charset="0"/>
              </a:rPr>
              <a:t>cd</a:t>
            </a:r>
            <a:r>
              <a:rPr lang="en-US" sz="1800" dirty="0" smtClean="0">
                <a:latin typeface="Consolas" pitchFamily="49" charset="0"/>
              </a:rPr>
              <a:t> </a:t>
            </a:r>
            <a:r>
              <a:rPr lang="en-US" sz="1800" dirty="0" err="1" smtClean="0">
                <a:latin typeface="Consolas" pitchFamily="49" charset="0"/>
              </a:rPr>
              <a:t>seaweedfs</a:t>
            </a:r>
            <a:endParaRPr lang="en-US" sz="1800" dirty="0" smtClean="0">
              <a:latin typeface="Consolas" pitchFamily="49" charset="0"/>
            </a:endParaRPr>
          </a:p>
          <a:p>
            <a:r>
              <a:rPr lang="en-US" sz="1800" dirty="0" smtClean="0">
                <a:latin typeface="Consolas" pitchFamily="49" charset="0"/>
              </a:rPr>
              <a:t>./weed master -</a:t>
            </a:r>
            <a:r>
              <a:rPr lang="en-US" sz="1800" dirty="0" err="1" smtClean="0">
                <a:latin typeface="Consolas" pitchFamily="49" charset="0"/>
              </a:rPr>
              <a:t>defaultReplication</a:t>
            </a:r>
            <a:r>
              <a:rPr lang="en-US" sz="1800" dirty="0" smtClean="0">
                <a:latin typeface="Consolas" pitchFamily="49" charset="0"/>
              </a:rPr>
              <a:t>=001 -</a:t>
            </a:r>
            <a:r>
              <a:rPr lang="en-US" sz="1800" dirty="0" err="1" smtClean="0">
                <a:latin typeface="Consolas" pitchFamily="49" charset="0"/>
              </a:rPr>
              <a:t>mdir</a:t>
            </a:r>
            <a:r>
              <a:rPr lang="en-US" sz="1800" dirty="0" smtClean="0">
                <a:latin typeface="Consolas" pitchFamily="49" charset="0"/>
              </a:rPr>
              <a:t>=/data/</a:t>
            </a:r>
            <a:r>
              <a:rPr lang="en-US" sz="1800" dirty="0" err="1" smtClean="0">
                <a:latin typeface="Consolas" pitchFamily="49" charset="0"/>
              </a:rPr>
              <a:t>sw</a:t>
            </a:r>
            <a:r>
              <a:rPr lang="en-US" sz="1800" dirty="0" smtClean="0">
                <a:latin typeface="Consolas" pitchFamily="49" charset="0"/>
              </a:rPr>
              <a:t>/meta</a:t>
            </a:r>
          </a:p>
          <a:p>
            <a:endParaRPr lang="en-US" sz="1800" dirty="0" smtClean="0">
              <a:latin typeface="Consolas" pitchFamily="49" charset="0"/>
            </a:endParaRPr>
          </a:p>
          <a:p>
            <a:r>
              <a:rPr lang="en-US" sz="1800" dirty="0" smtClean="0">
                <a:latin typeface="Consolas" pitchFamily="49" charset="0"/>
                <a:hlinkClick r:id="rId2"/>
              </a:rPr>
              <a:t>http://192.168.1.19:9333/</a:t>
            </a:r>
            <a:endParaRPr lang="en-US" sz="1800" dirty="0" smtClean="0">
              <a:latin typeface="Consolas" pitchFamily="49" charset="0"/>
            </a:endParaRPr>
          </a:p>
          <a:p>
            <a:endParaRPr lang="en-US" sz="1800" dirty="0" smtClean="0">
              <a:latin typeface="Consolas" pitchFamily="49" charset="0"/>
            </a:endParaRPr>
          </a:p>
          <a:p>
            <a:r>
              <a:rPr lang="en-US" sz="1800" b="1" dirty="0" smtClean="0">
                <a:latin typeface="Consolas" pitchFamily="49" charset="0"/>
              </a:rPr>
              <a:t>./weed master -</a:t>
            </a:r>
            <a:r>
              <a:rPr lang="en-US" sz="1800" b="1" dirty="0" err="1" smtClean="0">
                <a:latin typeface="Consolas" pitchFamily="49" charset="0"/>
              </a:rPr>
              <a:t>defaultReplication</a:t>
            </a:r>
            <a:r>
              <a:rPr lang="en-US" sz="1800" b="1" dirty="0" smtClean="0">
                <a:latin typeface="Consolas" pitchFamily="49" charset="0"/>
              </a:rPr>
              <a:t>=001 -</a:t>
            </a:r>
            <a:r>
              <a:rPr lang="en-US" sz="1800" b="1" dirty="0" err="1" smtClean="0">
                <a:latin typeface="Consolas" pitchFamily="49" charset="0"/>
              </a:rPr>
              <a:t>mdir</a:t>
            </a:r>
            <a:r>
              <a:rPr lang="en-US" sz="1800" b="1" dirty="0" smtClean="0">
                <a:latin typeface="Consolas" pitchFamily="49" charset="0"/>
              </a:rPr>
              <a:t>=/data/</a:t>
            </a:r>
            <a:r>
              <a:rPr lang="en-US" sz="1800" b="1" dirty="0" err="1" smtClean="0">
                <a:latin typeface="Consolas" pitchFamily="49" charset="0"/>
              </a:rPr>
              <a:t>sw</a:t>
            </a:r>
            <a:r>
              <a:rPr lang="en-US" sz="1800" b="1" dirty="0" smtClean="0">
                <a:latin typeface="Consolas" pitchFamily="49" charset="0"/>
              </a:rPr>
              <a:t>/meta &amp;</a:t>
            </a:r>
          </a:p>
          <a:p>
            <a:endParaRPr lang="en-US" sz="1800" dirty="0">
              <a:latin typeface="Consolas" pitchFamily="49"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Start Seaweed Volume</a:t>
            </a:r>
            <a:endParaRPr lang="en-US" dirty="0"/>
          </a:p>
        </p:txBody>
      </p:sp>
      <p:sp>
        <p:nvSpPr>
          <p:cNvPr id="3" name="Content Placeholder 2"/>
          <p:cNvSpPr>
            <a:spLocks noGrp="1"/>
          </p:cNvSpPr>
          <p:nvPr>
            <p:ph idx="1"/>
          </p:nvPr>
        </p:nvSpPr>
        <p:spPr/>
        <p:txBody>
          <a:bodyPr/>
          <a:lstStyle/>
          <a:p>
            <a:r>
              <a:rPr lang="en-US" sz="1800" dirty="0" err="1" smtClean="0">
                <a:latin typeface="Consolas" pitchFamily="49" charset="0"/>
              </a:rPr>
              <a:t>mkdir</a:t>
            </a:r>
            <a:r>
              <a:rPr lang="en-US" sz="1800" dirty="0" smtClean="0">
                <a:latin typeface="Consolas" pitchFamily="49" charset="0"/>
              </a:rPr>
              <a:t> /data/</a:t>
            </a:r>
            <a:r>
              <a:rPr lang="en-US" sz="1800" dirty="0" err="1" smtClean="0">
                <a:latin typeface="Consolas" pitchFamily="49" charset="0"/>
              </a:rPr>
              <a:t>sw</a:t>
            </a:r>
            <a:r>
              <a:rPr lang="en-US" sz="1800" dirty="0" smtClean="0">
                <a:latin typeface="Consolas" pitchFamily="49" charset="0"/>
              </a:rPr>
              <a:t>/volume</a:t>
            </a:r>
          </a:p>
          <a:p>
            <a:r>
              <a:rPr lang="en-US" sz="1800" dirty="0" err="1" smtClean="0">
                <a:latin typeface="Consolas" pitchFamily="49" charset="0"/>
              </a:rPr>
              <a:t>cd</a:t>
            </a:r>
            <a:r>
              <a:rPr lang="en-US" sz="1800" dirty="0" smtClean="0">
                <a:latin typeface="Consolas" pitchFamily="49" charset="0"/>
              </a:rPr>
              <a:t> </a:t>
            </a:r>
            <a:r>
              <a:rPr lang="en-US" sz="1800" dirty="0" err="1" smtClean="0">
                <a:latin typeface="Consolas" pitchFamily="49" charset="0"/>
              </a:rPr>
              <a:t>seaweedfs</a:t>
            </a:r>
            <a:endParaRPr lang="en-US" sz="1800" dirty="0" smtClean="0">
              <a:latin typeface="Consolas" pitchFamily="49" charset="0"/>
            </a:endParaRPr>
          </a:p>
          <a:p>
            <a:r>
              <a:rPr lang="en-US" sz="1800" dirty="0" smtClean="0">
                <a:latin typeface="Consolas" pitchFamily="49" charset="0"/>
              </a:rPr>
              <a:t>./weed volume -dir=/data/</a:t>
            </a:r>
            <a:r>
              <a:rPr lang="en-US" sz="1800" dirty="0" err="1" smtClean="0">
                <a:latin typeface="Consolas" pitchFamily="49" charset="0"/>
              </a:rPr>
              <a:t>sw</a:t>
            </a:r>
            <a:r>
              <a:rPr lang="en-US" sz="1800" dirty="0" smtClean="0">
                <a:latin typeface="Consolas" pitchFamily="49" charset="0"/>
              </a:rPr>
              <a:t>/volume -</a:t>
            </a:r>
            <a:r>
              <a:rPr lang="en-US" sz="1800" dirty="0" err="1" smtClean="0">
                <a:latin typeface="Consolas" pitchFamily="49" charset="0"/>
              </a:rPr>
              <a:t>mserver</a:t>
            </a:r>
            <a:r>
              <a:rPr lang="en-US" sz="1800" dirty="0" smtClean="0">
                <a:latin typeface="Consolas" pitchFamily="49" charset="0"/>
              </a:rPr>
              <a:t>=192.168.1.19:9333 -port=8888</a:t>
            </a:r>
          </a:p>
          <a:p>
            <a:endParaRPr lang="en-US" sz="1800" dirty="0" smtClean="0">
              <a:latin typeface="Consolas" pitchFamily="49" charset="0"/>
            </a:endParaRPr>
          </a:p>
          <a:p>
            <a:r>
              <a:rPr lang="en-US" sz="1800" dirty="0" smtClean="0">
                <a:latin typeface="Consolas" pitchFamily="49" charset="0"/>
                <a:hlinkClick r:id="rId2"/>
              </a:rPr>
              <a:t>http://192.168.1.19:8888</a:t>
            </a:r>
            <a:endParaRPr lang="en-US" sz="1800" dirty="0" smtClean="0">
              <a:latin typeface="Consolas" pitchFamily="49" charset="0"/>
            </a:endParaRPr>
          </a:p>
          <a:p>
            <a:endParaRPr lang="en-US" sz="1800" dirty="0" smtClean="0">
              <a:latin typeface="Consolas" pitchFamily="49" charset="0"/>
            </a:endParaRPr>
          </a:p>
          <a:p>
            <a:r>
              <a:rPr lang="en-US" sz="1800" b="1" dirty="0" smtClean="0">
                <a:latin typeface="Consolas" pitchFamily="49" charset="0"/>
              </a:rPr>
              <a:t>./weed volume -dir=/data/</a:t>
            </a:r>
            <a:r>
              <a:rPr lang="en-US" sz="1800" b="1" dirty="0" err="1" smtClean="0">
                <a:latin typeface="Consolas" pitchFamily="49" charset="0"/>
              </a:rPr>
              <a:t>sw</a:t>
            </a:r>
            <a:r>
              <a:rPr lang="en-US" sz="1800" b="1" dirty="0" smtClean="0">
                <a:latin typeface="Consolas" pitchFamily="49" charset="0"/>
              </a:rPr>
              <a:t>/volume -</a:t>
            </a:r>
            <a:r>
              <a:rPr lang="en-US" sz="1800" b="1" dirty="0" err="1" smtClean="0">
                <a:latin typeface="Consolas" pitchFamily="49" charset="0"/>
              </a:rPr>
              <a:t>mserver</a:t>
            </a:r>
            <a:r>
              <a:rPr lang="en-US" sz="1800" b="1" dirty="0" smtClean="0">
                <a:latin typeface="Consolas" pitchFamily="49" charset="0"/>
              </a:rPr>
              <a:t>=192.168.1.19:9333 -port=8888 &amp;</a:t>
            </a:r>
          </a:p>
          <a:p>
            <a:endParaRPr lang="en-US" sz="1800" dirty="0">
              <a:latin typeface="Consolas"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NATS Streaming Server</a:t>
            </a:r>
          </a:p>
        </p:txBody>
      </p:sp>
      <p:sp>
        <p:nvSpPr>
          <p:cNvPr id="3" name="Content Placeholder 2"/>
          <p:cNvSpPr>
            <a:spLocks noGrp="1"/>
          </p:cNvSpPr>
          <p:nvPr>
            <p:ph idx="1"/>
          </p:nvPr>
        </p:nvSpPr>
        <p:spPr/>
        <p:txBody>
          <a:bodyPr/>
          <a:lstStyle/>
          <a:p>
            <a:r>
              <a:rPr lang="en-US" sz="2000" dirty="0" smtClean="0">
                <a:hlinkClick r:id="rId2"/>
              </a:rPr>
              <a:t>https://github.com/nats-io/nats-streaming-server</a:t>
            </a:r>
            <a:r>
              <a:rPr lang="en-US" sz="2000" dirty="0" smtClean="0"/>
              <a:t/>
            </a:r>
            <a:br>
              <a:rPr lang="en-US" sz="2000" dirty="0" smtClean="0"/>
            </a:br>
            <a:r>
              <a:rPr lang="en-US" sz="2000" dirty="0" smtClean="0"/>
              <a:t>The NATS Streaming Server </a:t>
            </a:r>
            <a:r>
              <a:rPr lang="en-US" sz="2000" b="1" dirty="0" smtClean="0"/>
              <a:t>is being deprecated</a:t>
            </a:r>
            <a:r>
              <a:rPr lang="en-US" sz="2000" dirty="0" smtClean="0"/>
              <a:t>. Critical bug fixes and security fixes will be applied until June of 2023. NATS enabled applications requiring persistence should use </a:t>
            </a:r>
            <a:r>
              <a:rPr lang="en-US" sz="2000" dirty="0" err="1" smtClean="0">
                <a:hlinkClick r:id="rId3"/>
              </a:rPr>
              <a:t>JetStream</a:t>
            </a:r>
            <a:r>
              <a:rPr lang="en-US" sz="2000" dirty="0" smtClean="0"/>
              <a:t>.</a:t>
            </a:r>
          </a:p>
          <a:p>
            <a:r>
              <a:rPr lang="en-US" sz="2000" dirty="0" smtClean="0">
                <a:latin typeface="Consolas" pitchFamily="49" charset="0"/>
              </a:rPr>
              <a:t>curl -L https://github.com/nats-io/nats-streaming-server/releases/download/v0.14.2/nats-streaming-server-v0.14.2-linux-amd64.zip -o nats-streaming-server.zip</a:t>
            </a:r>
          </a:p>
          <a:p>
            <a:r>
              <a:rPr lang="en-US" sz="2000" dirty="0" smtClean="0">
                <a:latin typeface="Consolas" pitchFamily="49" charset="0"/>
              </a:rPr>
              <a:t>unzip nats-streaming-server.zip</a:t>
            </a:r>
          </a:p>
          <a:p>
            <a:r>
              <a:rPr lang="en-US" sz="2000" dirty="0" err="1" smtClean="0">
                <a:latin typeface="Consolas" pitchFamily="49" charset="0"/>
              </a:rPr>
              <a:t>cd</a:t>
            </a:r>
            <a:r>
              <a:rPr lang="en-US" sz="2000" dirty="0" smtClean="0">
                <a:latin typeface="Consolas" pitchFamily="49" charset="0"/>
              </a:rPr>
              <a:t> nats-streaming-server-v0.14.2-linux-amd64</a:t>
            </a:r>
          </a:p>
          <a:p>
            <a:r>
              <a:rPr lang="en-US" sz="2000" dirty="0" err="1" smtClean="0">
                <a:latin typeface="Consolas" pitchFamily="49" charset="0"/>
              </a:rPr>
              <a:t>mv</a:t>
            </a:r>
            <a:r>
              <a:rPr lang="en-US" sz="2000" dirty="0" smtClean="0">
                <a:latin typeface="Consolas" pitchFamily="49" charset="0"/>
              </a:rPr>
              <a:t>  </a:t>
            </a:r>
            <a:r>
              <a:rPr lang="en-US" sz="2000" dirty="0" err="1" smtClean="0">
                <a:latin typeface="Consolas" pitchFamily="49" charset="0"/>
              </a:rPr>
              <a:t>nats</a:t>
            </a:r>
            <a:r>
              <a:rPr lang="en-US" sz="2000" dirty="0" smtClean="0">
                <a:latin typeface="Consolas" pitchFamily="49" charset="0"/>
              </a:rPr>
              <a:t>-streaming-server ..</a:t>
            </a:r>
          </a:p>
          <a:p>
            <a:r>
              <a:rPr lang="en-US" sz="2000" dirty="0" err="1" smtClean="0">
                <a:latin typeface="Consolas" pitchFamily="49" charset="0"/>
              </a:rPr>
              <a:t>mkdir</a:t>
            </a:r>
            <a:r>
              <a:rPr lang="en-US" sz="2000" dirty="0" smtClean="0">
                <a:latin typeface="Consolas" pitchFamily="49" charset="0"/>
              </a:rPr>
              <a:t> </a:t>
            </a:r>
            <a:r>
              <a:rPr lang="en-US" sz="2000" dirty="0" err="1" smtClean="0">
                <a:latin typeface="Consolas" pitchFamily="49" charset="0"/>
              </a:rPr>
              <a:t>nats</a:t>
            </a:r>
            <a:endParaRPr lang="en-US" sz="2000" dirty="0" smtClean="0">
              <a:latin typeface="Consolas" pitchFamily="49" charset="0"/>
            </a:endParaRPr>
          </a:p>
          <a:p>
            <a:r>
              <a:rPr lang="en-US" sz="2000" dirty="0" err="1" smtClean="0">
                <a:latin typeface="Consolas" pitchFamily="49" charset="0"/>
              </a:rPr>
              <a:t>mv</a:t>
            </a:r>
            <a:r>
              <a:rPr lang="en-US" sz="2000" dirty="0" smtClean="0">
                <a:latin typeface="Consolas" pitchFamily="49" charset="0"/>
              </a:rPr>
              <a:t> </a:t>
            </a:r>
            <a:r>
              <a:rPr lang="en-US" sz="2000" dirty="0" err="1" smtClean="0">
                <a:latin typeface="Consolas" pitchFamily="49" charset="0"/>
              </a:rPr>
              <a:t>nats</a:t>
            </a:r>
            <a:r>
              <a:rPr lang="en-US" sz="2000" dirty="0" smtClean="0">
                <a:latin typeface="Consolas" pitchFamily="49" charset="0"/>
              </a:rPr>
              <a:t>-streaming-server ./</a:t>
            </a:r>
            <a:r>
              <a:rPr lang="en-US" sz="2000" dirty="0" err="1" smtClean="0">
                <a:latin typeface="Consolas" pitchFamily="49" charset="0"/>
              </a:rPr>
              <a:t>nats</a:t>
            </a:r>
            <a:endParaRPr lang="en-US" sz="2000" dirty="0" smtClean="0">
              <a:latin typeface="Consolas" pitchFamily="49" charset="0"/>
            </a:endParaRPr>
          </a:p>
          <a:p>
            <a:endParaRPr lang="en-US" sz="2000" dirty="0" smtClean="0">
              <a:latin typeface="Consolas" pitchFamily="49" charset="0"/>
            </a:endParaRPr>
          </a:p>
          <a:p>
            <a:endParaRPr lang="en-US" sz="2000" dirty="0">
              <a:latin typeface="Consolas" pitchFamily="49"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Start NATS Streaming Server</a:t>
            </a:r>
          </a:p>
        </p:txBody>
      </p:sp>
      <p:sp>
        <p:nvSpPr>
          <p:cNvPr id="3" name="Content Placeholder 2"/>
          <p:cNvSpPr>
            <a:spLocks noGrp="1"/>
          </p:cNvSpPr>
          <p:nvPr>
            <p:ph idx="1"/>
          </p:nvPr>
        </p:nvSpPr>
        <p:spPr/>
        <p:txBody>
          <a:bodyPr/>
          <a:lstStyle/>
          <a:p>
            <a:r>
              <a:rPr lang="en-US" sz="2000" dirty="0" err="1" smtClean="0">
                <a:latin typeface="Consolas" pitchFamily="49" charset="0"/>
              </a:rPr>
              <a:t>mkdir</a:t>
            </a:r>
            <a:r>
              <a:rPr lang="en-US" sz="2000" dirty="0" smtClean="0">
                <a:latin typeface="Consolas" pitchFamily="49" charset="0"/>
              </a:rPr>
              <a:t> /data/</a:t>
            </a:r>
            <a:r>
              <a:rPr lang="en-US" sz="2000" dirty="0" err="1" smtClean="0">
                <a:latin typeface="Consolas" pitchFamily="49" charset="0"/>
              </a:rPr>
              <a:t>nats</a:t>
            </a:r>
            <a:endParaRPr lang="en-US" sz="2000" dirty="0" smtClean="0">
              <a:latin typeface="Consolas" pitchFamily="49" charset="0"/>
            </a:endParaRPr>
          </a:p>
          <a:p>
            <a:r>
              <a:rPr lang="en-US" sz="2000" dirty="0" err="1" smtClean="0">
                <a:latin typeface="Consolas" pitchFamily="49" charset="0"/>
              </a:rPr>
              <a:t>cd</a:t>
            </a:r>
            <a:r>
              <a:rPr lang="en-US" sz="2000" dirty="0" smtClean="0">
                <a:latin typeface="Consolas" pitchFamily="49" charset="0"/>
              </a:rPr>
              <a:t> </a:t>
            </a:r>
            <a:r>
              <a:rPr lang="en-US" sz="2000" dirty="0" err="1" smtClean="0">
                <a:latin typeface="Consolas" pitchFamily="49" charset="0"/>
              </a:rPr>
              <a:t>nats</a:t>
            </a:r>
            <a:endParaRPr lang="en-US" sz="2000" dirty="0" smtClean="0">
              <a:latin typeface="Consolas" pitchFamily="49" charset="0"/>
            </a:endParaRPr>
          </a:p>
          <a:p>
            <a:r>
              <a:rPr lang="en-US" sz="2000" dirty="0" err="1" smtClean="0">
                <a:latin typeface="Consolas" pitchFamily="49" charset="0"/>
              </a:rPr>
              <a:t>sudo</a:t>
            </a:r>
            <a:r>
              <a:rPr lang="en-US" sz="2000" dirty="0" smtClean="0">
                <a:latin typeface="Consolas" pitchFamily="49" charset="0"/>
              </a:rPr>
              <a:t> </a:t>
            </a:r>
            <a:r>
              <a:rPr lang="en-US" sz="2000" dirty="0" err="1" smtClean="0">
                <a:latin typeface="Consolas" pitchFamily="49" charset="0"/>
              </a:rPr>
              <a:t>nano</a:t>
            </a:r>
            <a:r>
              <a:rPr lang="en-US" sz="2000" dirty="0" smtClean="0">
                <a:latin typeface="Consolas" pitchFamily="49" charset="0"/>
              </a:rPr>
              <a:t> </a:t>
            </a:r>
            <a:r>
              <a:rPr lang="en-US" sz="2000" dirty="0" err="1" smtClean="0">
                <a:latin typeface="Consolas" pitchFamily="49" charset="0"/>
              </a:rPr>
              <a:t>nats.conf</a:t>
            </a:r>
            <a:r>
              <a:rPr lang="en-US" sz="2000" dirty="0" smtClean="0">
                <a:latin typeface="Consolas" pitchFamily="49" charset="0"/>
              </a:rPr>
              <a:t/>
            </a:r>
            <a:br>
              <a:rPr lang="en-US" sz="2000" dirty="0" smtClean="0">
                <a:latin typeface="Consolas" pitchFamily="49" charset="0"/>
              </a:rPr>
            </a:br>
            <a:endParaRPr lang="en-US" sz="2000" dirty="0" smtClean="0">
              <a:latin typeface="Consolas" pitchFamily="49" charset="0"/>
            </a:endParaRPr>
          </a:p>
          <a:p>
            <a:pPr lvl="1">
              <a:buNone/>
            </a:pPr>
            <a:r>
              <a:rPr lang="en-US" sz="1600" i="1" dirty="0" smtClean="0">
                <a:solidFill>
                  <a:srgbClr val="C00000"/>
                </a:solidFill>
                <a:latin typeface="Consolas" pitchFamily="49" charset="0"/>
              </a:rPr>
              <a:t>streaming: {</a:t>
            </a:r>
          </a:p>
          <a:p>
            <a:pPr lvl="1">
              <a:buNone/>
            </a:pPr>
            <a:r>
              <a:rPr lang="en-US" sz="1600" i="1" dirty="0" smtClean="0">
                <a:solidFill>
                  <a:srgbClr val="C00000"/>
                </a:solidFill>
                <a:latin typeface="Consolas" pitchFamily="49" charset="0"/>
              </a:rPr>
              <a:t>        </a:t>
            </a:r>
            <a:r>
              <a:rPr lang="en-US" sz="1600" i="1" dirty="0" err="1" smtClean="0">
                <a:solidFill>
                  <a:srgbClr val="C00000"/>
                </a:solidFill>
                <a:latin typeface="Consolas" pitchFamily="49" charset="0"/>
              </a:rPr>
              <a:t>cluster_id</a:t>
            </a:r>
            <a:r>
              <a:rPr lang="en-US" sz="1600" i="1" dirty="0" smtClean="0">
                <a:solidFill>
                  <a:srgbClr val="C00000"/>
                </a:solidFill>
                <a:latin typeface="Consolas" pitchFamily="49" charset="0"/>
              </a:rPr>
              <a:t>: </a:t>
            </a:r>
            <a:r>
              <a:rPr lang="en-US" sz="1600" i="1" dirty="0" err="1" smtClean="0">
                <a:solidFill>
                  <a:srgbClr val="C00000"/>
                </a:solidFill>
                <a:latin typeface="Consolas" pitchFamily="49" charset="0"/>
              </a:rPr>
              <a:t>nats</a:t>
            </a:r>
            <a:endParaRPr lang="en-US" sz="1600" i="1" dirty="0" smtClean="0">
              <a:solidFill>
                <a:srgbClr val="C00000"/>
              </a:solidFill>
              <a:latin typeface="Consolas" pitchFamily="49" charset="0"/>
            </a:endParaRPr>
          </a:p>
          <a:p>
            <a:pPr lvl="1">
              <a:buNone/>
            </a:pPr>
            <a:r>
              <a:rPr lang="en-US" sz="1600" i="1" dirty="0" smtClean="0">
                <a:solidFill>
                  <a:srgbClr val="C00000"/>
                </a:solidFill>
                <a:latin typeface="Consolas" pitchFamily="49" charset="0"/>
              </a:rPr>
              <a:t>        store: "file"</a:t>
            </a:r>
          </a:p>
          <a:p>
            <a:pPr lvl="1">
              <a:buNone/>
            </a:pPr>
            <a:r>
              <a:rPr lang="en-US" sz="1600" i="1" dirty="0" smtClean="0">
                <a:solidFill>
                  <a:srgbClr val="C00000"/>
                </a:solidFill>
                <a:latin typeface="Consolas" pitchFamily="49" charset="0"/>
              </a:rPr>
              <a:t>        dir: "/data/</a:t>
            </a:r>
            <a:r>
              <a:rPr lang="en-US" sz="1600" i="1" dirty="0" err="1" smtClean="0">
                <a:solidFill>
                  <a:srgbClr val="C00000"/>
                </a:solidFill>
                <a:latin typeface="Consolas" pitchFamily="49" charset="0"/>
              </a:rPr>
              <a:t>nats</a:t>
            </a:r>
            <a:r>
              <a:rPr lang="en-US" sz="1600" i="1" dirty="0" smtClean="0">
                <a:solidFill>
                  <a:srgbClr val="C00000"/>
                </a:solidFill>
                <a:latin typeface="Consolas" pitchFamily="49" charset="0"/>
              </a:rPr>
              <a:t>"</a:t>
            </a:r>
          </a:p>
          <a:p>
            <a:pPr lvl="1">
              <a:buNone/>
            </a:pPr>
            <a:r>
              <a:rPr lang="en-US" sz="1600" i="1" dirty="0" smtClean="0">
                <a:solidFill>
                  <a:srgbClr val="C00000"/>
                </a:solidFill>
                <a:latin typeface="Consolas" pitchFamily="49" charset="0"/>
              </a:rPr>
              <a:t>}</a:t>
            </a:r>
          </a:p>
          <a:p>
            <a:pPr>
              <a:buNone/>
            </a:pPr>
            <a:endParaRPr lang="en-US" sz="2000" dirty="0" smtClean="0">
              <a:latin typeface="Consolas" pitchFamily="49" charset="0"/>
            </a:endParaRPr>
          </a:p>
          <a:p>
            <a:r>
              <a:rPr lang="en-US" sz="2000" dirty="0" smtClean="0">
                <a:latin typeface="Consolas" pitchFamily="49" charset="0"/>
              </a:rPr>
              <a:t>./</a:t>
            </a:r>
            <a:r>
              <a:rPr lang="en-US" sz="2000" dirty="0" err="1" smtClean="0">
                <a:latin typeface="Consolas" pitchFamily="49" charset="0"/>
              </a:rPr>
              <a:t>nats</a:t>
            </a:r>
            <a:r>
              <a:rPr lang="en-US" sz="2000" dirty="0" smtClean="0">
                <a:latin typeface="Consolas" pitchFamily="49" charset="0"/>
              </a:rPr>
              <a:t>-streaming-server --sc ./</a:t>
            </a:r>
            <a:r>
              <a:rPr lang="en-US" sz="2000" dirty="0" err="1" smtClean="0">
                <a:latin typeface="Consolas" pitchFamily="49" charset="0"/>
              </a:rPr>
              <a:t>nats.conf</a:t>
            </a:r>
            <a:endParaRPr lang="en-US" sz="2000" dirty="0" smtClean="0">
              <a:latin typeface="Consolas" pitchFamily="49" charset="0"/>
            </a:endParaRPr>
          </a:p>
          <a:p>
            <a:r>
              <a:rPr lang="en-US" sz="2000" b="1" dirty="0" smtClean="0">
                <a:latin typeface="Consolas" pitchFamily="49" charset="0"/>
              </a:rPr>
              <a:t>./</a:t>
            </a:r>
            <a:r>
              <a:rPr lang="en-US" sz="2000" b="1" dirty="0" err="1" smtClean="0">
                <a:latin typeface="Consolas" pitchFamily="49" charset="0"/>
              </a:rPr>
              <a:t>nats</a:t>
            </a:r>
            <a:r>
              <a:rPr lang="en-US" sz="2000" b="1" dirty="0" smtClean="0">
                <a:latin typeface="Consolas" pitchFamily="49" charset="0"/>
              </a:rPr>
              <a:t>-streaming-server --sc ./</a:t>
            </a:r>
            <a:r>
              <a:rPr lang="en-US" sz="2000" b="1" dirty="0" err="1" smtClean="0">
                <a:latin typeface="Consolas" pitchFamily="49" charset="0"/>
              </a:rPr>
              <a:t>nats.conf</a:t>
            </a:r>
            <a:r>
              <a:rPr lang="en-US" sz="2000" b="1" dirty="0" smtClean="0">
                <a:latin typeface="Consolas" pitchFamily="49" charset="0"/>
              </a:rPr>
              <a:t> &amp;</a:t>
            </a:r>
          </a:p>
          <a:p>
            <a:r>
              <a:rPr lang="en-US" sz="2000" dirty="0" smtClean="0">
                <a:latin typeface="+mj-lt"/>
                <a:hlinkClick r:id="rId2"/>
              </a:rPr>
              <a:t>http://192.168.1.19:4222/</a:t>
            </a:r>
            <a:endParaRPr lang="en-US" sz="2000" dirty="0" smtClean="0">
              <a:latin typeface="+mj-lt"/>
            </a:endParaRPr>
          </a:p>
          <a:p>
            <a:endParaRPr lang="en-US" sz="2000" b="1" dirty="0">
              <a:latin typeface="Consolas"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Install </a:t>
            </a:r>
            <a:r>
              <a:rPr lang="en-US" dirty="0" err="1" smtClean="0"/>
              <a:t>Golang</a:t>
            </a:r>
            <a:endParaRPr lang="en-US" dirty="0" smtClean="0"/>
          </a:p>
        </p:txBody>
      </p:sp>
      <p:sp>
        <p:nvSpPr>
          <p:cNvPr id="3" name="Content Placeholder 2"/>
          <p:cNvSpPr>
            <a:spLocks noGrp="1"/>
          </p:cNvSpPr>
          <p:nvPr>
            <p:ph idx="1"/>
          </p:nvPr>
        </p:nvSpPr>
        <p:spPr/>
        <p:txBody>
          <a:bodyPr/>
          <a:lstStyle/>
          <a:p>
            <a:r>
              <a:rPr lang="en-US" sz="2400" dirty="0" smtClean="0"/>
              <a:t>Identify the latest version</a:t>
            </a:r>
          </a:p>
          <a:p>
            <a:pPr lvl="1"/>
            <a:r>
              <a:rPr lang="en-US" sz="2000" dirty="0" smtClean="0"/>
              <a:t>https://golang.org/doc/install</a:t>
            </a:r>
          </a:p>
          <a:p>
            <a:r>
              <a:rPr lang="en-US" sz="1800" dirty="0" smtClean="0">
                <a:latin typeface="Consolas" pitchFamily="49" charset="0"/>
              </a:rPr>
              <a:t>curl -O https://dl.google.com/go/go</a:t>
            </a:r>
            <a:r>
              <a:rPr lang="en-US" sz="1800" b="1" dirty="0" smtClean="0">
                <a:latin typeface="Consolas" pitchFamily="49" charset="0"/>
              </a:rPr>
              <a:t>1.16.6</a:t>
            </a:r>
            <a:r>
              <a:rPr lang="en-US" sz="1800" dirty="0" smtClean="0">
                <a:latin typeface="Consolas" pitchFamily="49" charset="0"/>
              </a:rPr>
              <a:t>.linux-amd64.tar.gz</a:t>
            </a:r>
          </a:p>
          <a:p>
            <a:r>
              <a:rPr lang="en-US" sz="1800" dirty="0" err="1" smtClean="0">
                <a:latin typeface="Consolas" pitchFamily="49" charset="0"/>
              </a:rPr>
              <a:t>sudo</a:t>
            </a:r>
            <a:r>
              <a:rPr lang="en-US" sz="1800" dirty="0" smtClean="0">
                <a:latin typeface="Consolas" pitchFamily="49" charset="0"/>
              </a:rPr>
              <a:t> </a:t>
            </a:r>
            <a:r>
              <a:rPr lang="en-US" sz="1800" dirty="0" err="1" smtClean="0">
                <a:latin typeface="Consolas" pitchFamily="49" charset="0"/>
              </a:rPr>
              <a:t>rm</a:t>
            </a:r>
            <a:r>
              <a:rPr lang="en-US" sz="1800" dirty="0" smtClean="0">
                <a:latin typeface="Consolas" pitchFamily="49" charset="0"/>
              </a:rPr>
              <a:t> -</a:t>
            </a:r>
            <a:r>
              <a:rPr lang="en-US" sz="1800" dirty="0" err="1" smtClean="0">
                <a:latin typeface="Consolas" pitchFamily="49" charset="0"/>
              </a:rPr>
              <a:t>rf</a:t>
            </a:r>
            <a:r>
              <a:rPr lang="en-US" sz="1800" dirty="0" smtClean="0">
                <a:latin typeface="Consolas" pitchFamily="49" charset="0"/>
              </a:rPr>
              <a:t> /</a:t>
            </a:r>
            <a:r>
              <a:rPr lang="en-US" sz="1800" dirty="0" err="1" smtClean="0">
                <a:latin typeface="Consolas" pitchFamily="49" charset="0"/>
              </a:rPr>
              <a:t>usr</a:t>
            </a:r>
            <a:r>
              <a:rPr lang="en-US" sz="1800" dirty="0" smtClean="0">
                <a:latin typeface="Consolas" pitchFamily="49" charset="0"/>
              </a:rPr>
              <a:t>/local/go</a:t>
            </a:r>
          </a:p>
          <a:p>
            <a:r>
              <a:rPr lang="en-US" sz="1800" dirty="0" err="1" smtClean="0">
                <a:latin typeface="Consolas" pitchFamily="49" charset="0"/>
              </a:rPr>
              <a:t>sudo</a:t>
            </a:r>
            <a:r>
              <a:rPr lang="en-US" sz="1800" dirty="0" smtClean="0">
                <a:latin typeface="Consolas" pitchFamily="49" charset="0"/>
              </a:rPr>
              <a:t> tar -C /</a:t>
            </a:r>
            <a:r>
              <a:rPr lang="en-US" sz="1800" dirty="0" err="1" smtClean="0">
                <a:latin typeface="Consolas" pitchFamily="49" charset="0"/>
              </a:rPr>
              <a:t>usr</a:t>
            </a:r>
            <a:r>
              <a:rPr lang="en-US" sz="1800" dirty="0" smtClean="0">
                <a:latin typeface="Consolas" pitchFamily="49" charset="0"/>
              </a:rPr>
              <a:t>/local -</a:t>
            </a:r>
            <a:r>
              <a:rPr lang="en-US" sz="1800" dirty="0" err="1" smtClean="0">
                <a:latin typeface="Consolas" pitchFamily="49" charset="0"/>
              </a:rPr>
              <a:t>xzf</a:t>
            </a:r>
            <a:r>
              <a:rPr lang="en-US" sz="1800" dirty="0" smtClean="0">
                <a:latin typeface="Consolas" pitchFamily="49" charset="0"/>
              </a:rPr>
              <a:t> go1.16.6.linux-amd64.tar.gz</a:t>
            </a:r>
          </a:p>
          <a:p>
            <a:r>
              <a:rPr lang="en-US" sz="2400" dirty="0" smtClean="0"/>
              <a:t>Add /</a:t>
            </a:r>
            <a:r>
              <a:rPr lang="en-US" sz="2400" dirty="0" err="1" smtClean="0"/>
              <a:t>usr</a:t>
            </a:r>
            <a:r>
              <a:rPr lang="en-US" sz="2400" dirty="0" smtClean="0"/>
              <a:t>/local/go/bin to the PATH environment variable</a:t>
            </a:r>
          </a:p>
          <a:p>
            <a:pPr lvl="1"/>
            <a:r>
              <a:rPr lang="en-US" sz="2000" dirty="0" smtClean="0">
                <a:latin typeface="Consolas" pitchFamily="49" charset="0"/>
              </a:rPr>
              <a:t>echo "export PATH=$PATH:/</a:t>
            </a:r>
            <a:r>
              <a:rPr lang="en-US" sz="2000" dirty="0" err="1" smtClean="0">
                <a:latin typeface="Consolas" pitchFamily="49" charset="0"/>
              </a:rPr>
              <a:t>usr</a:t>
            </a:r>
            <a:r>
              <a:rPr lang="en-US" sz="2000" dirty="0" smtClean="0">
                <a:latin typeface="Consolas" pitchFamily="49" charset="0"/>
              </a:rPr>
              <a:t>/local/go/bin" &gt;&gt; ~/.profile </a:t>
            </a:r>
          </a:p>
          <a:p>
            <a:pPr lvl="1"/>
            <a:r>
              <a:rPr lang="en-US" sz="2000" dirty="0" smtClean="0">
                <a:latin typeface="Consolas" pitchFamily="49" charset="0"/>
              </a:rPr>
              <a:t>echo "export GOPATH=~/.go" &gt;&gt; ~/.profile</a:t>
            </a:r>
          </a:p>
          <a:p>
            <a:pPr lvl="1"/>
            <a:r>
              <a:rPr lang="en-US" sz="2000" dirty="0" smtClean="0">
                <a:latin typeface="Consolas" pitchFamily="49" charset="0"/>
              </a:rPr>
              <a:t>source ~/.profile </a:t>
            </a:r>
          </a:p>
          <a:p>
            <a:r>
              <a:rPr lang="en-US" sz="2400" b="1" dirty="0" smtClean="0">
                <a:latin typeface="Consolas" pitchFamily="49" charset="0"/>
              </a:rPr>
              <a:t>go version</a:t>
            </a:r>
            <a:endParaRPr lang="en-US" sz="2400" b="1" dirty="0">
              <a:latin typeface="Consolas"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Compile Source Code</a:t>
            </a:r>
            <a:endParaRPr lang="en-US" dirty="0"/>
          </a:p>
        </p:txBody>
      </p:sp>
      <p:sp>
        <p:nvSpPr>
          <p:cNvPr id="3" name="Content Placeholder 2"/>
          <p:cNvSpPr>
            <a:spLocks noGrp="1"/>
          </p:cNvSpPr>
          <p:nvPr>
            <p:ph idx="1"/>
          </p:nvPr>
        </p:nvSpPr>
        <p:spPr/>
        <p:txBody>
          <a:bodyPr/>
          <a:lstStyle/>
          <a:p>
            <a:r>
              <a:rPr lang="en-US" sz="2400" dirty="0" smtClean="0">
                <a:latin typeface="Consolas" pitchFamily="49" charset="0"/>
              </a:rPr>
              <a:t>go build -</a:t>
            </a:r>
            <a:r>
              <a:rPr lang="en-US" sz="2400" dirty="0" err="1" smtClean="0">
                <a:latin typeface="Consolas" pitchFamily="49" charset="0"/>
              </a:rPr>
              <a:t>ldflags</a:t>
            </a:r>
            <a:r>
              <a:rPr lang="en-US" sz="2400" dirty="0" smtClean="0">
                <a:latin typeface="Consolas" pitchFamily="49" charset="0"/>
              </a:rPr>
              <a:t> -w -o ./bin/cloud github.com/NubeS3/cloud/</a:t>
            </a:r>
            <a:r>
              <a:rPr lang="en-US" sz="2400" dirty="0" err="1" smtClean="0">
                <a:latin typeface="Consolas" pitchFamily="49" charset="0"/>
              </a:rPr>
              <a:t>cmd</a:t>
            </a:r>
            <a:endParaRPr lang="en-US" sz="2400" dirty="0" smtClean="0">
              <a:latin typeface="Consolas" pitchFamily="49" charset="0"/>
            </a:endParaRPr>
          </a:p>
          <a:p>
            <a:r>
              <a:rPr lang="en-US" sz="2400" dirty="0" smtClean="0">
                <a:latin typeface="Consolas" pitchFamily="49" charset="0"/>
              </a:rPr>
              <a:t>go help build</a:t>
            </a:r>
          </a:p>
          <a:p>
            <a:pPr lvl="1">
              <a:buNone/>
            </a:pPr>
            <a:r>
              <a:rPr lang="en-US" sz="2000" i="1" dirty="0" smtClean="0">
                <a:latin typeface="Consolas" pitchFamily="49" charset="0"/>
              </a:rPr>
              <a:t>-</a:t>
            </a:r>
            <a:r>
              <a:rPr lang="en-US" sz="2000" i="1" dirty="0" err="1" smtClean="0">
                <a:latin typeface="Consolas" pitchFamily="49" charset="0"/>
              </a:rPr>
              <a:t>ldflags</a:t>
            </a:r>
            <a:r>
              <a:rPr lang="en-US" sz="2000" i="1" dirty="0" smtClean="0">
                <a:latin typeface="Consolas" pitchFamily="49" charset="0"/>
              </a:rPr>
              <a:t> '[pattern=]</a:t>
            </a:r>
            <a:r>
              <a:rPr lang="en-US" sz="2000" i="1" dirty="0" err="1" smtClean="0">
                <a:latin typeface="Consolas" pitchFamily="49" charset="0"/>
              </a:rPr>
              <a:t>arg</a:t>
            </a:r>
            <a:r>
              <a:rPr lang="en-US" sz="2000" i="1" dirty="0" smtClean="0">
                <a:latin typeface="Consolas" pitchFamily="49" charset="0"/>
              </a:rPr>
              <a:t> list'</a:t>
            </a:r>
          </a:p>
          <a:p>
            <a:pPr lvl="1">
              <a:buNone/>
            </a:pPr>
            <a:r>
              <a:rPr lang="en-US" sz="2000" i="1" dirty="0" smtClean="0">
                <a:latin typeface="Consolas" pitchFamily="49" charset="0"/>
              </a:rPr>
              <a:t>   arguments to pass on each go tool link invocation.</a:t>
            </a:r>
          </a:p>
          <a:p>
            <a:r>
              <a:rPr lang="en-US" sz="2400" dirty="0" smtClean="0">
                <a:latin typeface="Consolas" pitchFamily="49" charset="0"/>
              </a:rPr>
              <a:t>go build -</a:t>
            </a:r>
            <a:r>
              <a:rPr lang="en-US" sz="2400" dirty="0" err="1" smtClean="0">
                <a:latin typeface="Consolas" pitchFamily="49" charset="0"/>
              </a:rPr>
              <a:t>ldflags</a:t>
            </a:r>
            <a:r>
              <a:rPr lang="en-US" sz="2400" dirty="0" smtClean="0">
                <a:latin typeface="Consolas" pitchFamily="49" charset="0"/>
              </a:rPr>
              <a:t> -w -o ./bin/logger github.com/NubeS3/logging-service-</a:t>
            </a:r>
            <a:r>
              <a:rPr lang="en-US" sz="2400" dirty="0" err="1" smtClean="0">
                <a:latin typeface="Consolas" pitchFamily="49" charset="0"/>
              </a:rPr>
              <a:t>wgo</a:t>
            </a:r>
            <a:r>
              <a:rPr lang="en-US" sz="2400" dirty="0" smtClean="0">
                <a:latin typeface="Consolas" pitchFamily="49" charset="0"/>
              </a:rPr>
              <a:t>/</a:t>
            </a:r>
            <a:r>
              <a:rPr lang="en-US" sz="2400" dirty="0" err="1" smtClean="0">
                <a:latin typeface="Consolas" pitchFamily="49" charset="0"/>
              </a:rPr>
              <a:t>cmd</a:t>
            </a:r>
            <a:endParaRPr lang="en-US" sz="2400" dirty="0" smtClean="0">
              <a:latin typeface="Consolas" pitchFamily="49" charset="0"/>
            </a:endParaRPr>
          </a:p>
          <a:p>
            <a:r>
              <a:rPr lang="en-US" sz="2400" dirty="0" smtClean="0">
                <a:latin typeface="Consolas" pitchFamily="49" charset="0"/>
              </a:rPr>
              <a:t>go build -o ./bin/main ./</a:t>
            </a:r>
            <a:r>
              <a:rPr lang="en-US" sz="2400" dirty="0" err="1" smtClean="0">
                <a:latin typeface="Consolas" pitchFamily="49" charset="0"/>
              </a:rPr>
              <a:t>cmd</a:t>
            </a:r>
            <a:r>
              <a:rPr lang="en-US" sz="2400" dirty="0" smtClean="0">
                <a:latin typeface="Consolas" pitchFamily="49" charset="0"/>
              </a:rPr>
              <a:t>/</a:t>
            </a:r>
            <a:r>
              <a:rPr lang="en-US" sz="2400" dirty="0" err="1" smtClean="0">
                <a:latin typeface="Consolas" pitchFamily="49" charset="0"/>
              </a:rPr>
              <a:t>main.go</a:t>
            </a:r>
            <a:endParaRPr lang="en-US" sz="2400" dirty="0" smtClean="0">
              <a:latin typeface="Consolas" pitchFamily="49" charset="0"/>
            </a:endParaRPr>
          </a:p>
          <a:p>
            <a:endParaRPr lang="en-US" sz="2400" dirty="0" smtClean="0">
              <a:latin typeface="Consolas" pitchFamily="49" charset="0"/>
            </a:endParaRPr>
          </a:p>
          <a:p>
            <a:endParaRPr lang="en-US" sz="2400" i="1" dirty="0">
              <a:latin typeface="Consolas" pitchFamily="49"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Import Postman Collection</a:t>
            </a:r>
            <a:endParaRPr lang="en-US" dirty="0"/>
          </a:p>
        </p:txBody>
      </p:sp>
      <p:sp>
        <p:nvSpPr>
          <p:cNvPr id="3" name="Content Placeholder 2"/>
          <p:cNvSpPr>
            <a:spLocks noGrp="1"/>
          </p:cNvSpPr>
          <p:nvPr>
            <p:ph idx="1"/>
          </p:nvPr>
        </p:nvSpPr>
        <p:spPr/>
        <p:txBody>
          <a:bodyPr/>
          <a:lstStyle/>
          <a:p>
            <a:r>
              <a:rPr lang="en-US" sz="2400" dirty="0" smtClean="0">
                <a:hlinkClick r:id="rId2"/>
              </a:rPr>
              <a:t>https://identity.getpostman.com/signup</a:t>
            </a:r>
            <a:endParaRPr lang="en-US" sz="2400" dirty="0" smtClean="0"/>
          </a:p>
          <a:p>
            <a:endParaRPr lang="en-US" sz="2400" dirty="0"/>
          </a:p>
        </p:txBody>
      </p:sp>
      <p:pic>
        <p:nvPicPr>
          <p:cNvPr id="1026" name="Picture 2"/>
          <p:cNvPicPr>
            <a:picLocks noChangeAspect="1" noChangeArrowheads="1"/>
          </p:cNvPicPr>
          <p:nvPr/>
        </p:nvPicPr>
        <p:blipFill>
          <a:blip r:embed="rId3" cstate="print"/>
          <a:srcRect/>
          <a:stretch>
            <a:fillRect/>
          </a:stretch>
        </p:blipFill>
        <p:spPr bwMode="auto">
          <a:xfrm>
            <a:off x="611188" y="2514600"/>
            <a:ext cx="7921625" cy="360045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Import Postman Environment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801688" y="2054225"/>
            <a:ext cx="7540625" cy="37369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Switch Between Instances</a:t>
            </a:r>
            <a:endParaRPr lang="en-US" dirty="0"/>
          </a:p>
        </p:txBody>
      </p:sp>
      <p:sp>
        <p:nvSpPr>
          <p:cNvPr id="3" name="Content Placeholder 2"/>
          <p:cNvSpPr>
            <a:spLocks noGrp="1"/>
          </p:cNvSpPr>
          <p:nvPr>
            <p:ph idx="1"/>
          </p:nvPr>
        </p:nvSpPr>
        <p:spPr/>
        <p:txBody>
          <a:bodyPr/>
          <a:lstStyle/>
          <a:p>
            <a:r>
              <a:rPr lang="en-US" sz="2400" dirty="0" smtClean="0">
                <a:hlinkClick r:id="rId2"/>
              </a:rPr>
              <a:t>https://web.postman.co/</a:t>
            </a:r>
            <a:r>
              <a:rPr lang="en-US" sz="2400" dirty="0" smtClean="0"/>
              <a:t> </a:t>
            </a:r>
            <a:r>
              <a:rPr lang="en-US" sz="2400" dirty="0" smtClean="0">
                <a:sym typeface="Wingdings" pitchFamily="2" charset="2"/>
              </a:rPr>
              <a:t> Workspaces</a:t>
            </a:r>
            <a:endParaRPr lang="en-US" sz="2400" dirty="0"/>
          </a:p>
        </p:txBody>
      </p:sp>
      <p:pic>
        <p:nvPicPr>
          <p:cNvPr id="4" name="Picture 2"/>
          <p:cNvPicPr>
            <a:picLocks noChangeAspect="1" noChangeArrowheads="1"/>
          </p:cNvPicPr>
          <p:nvPr/>
        </p:nvPicPr>
        <p:blipFill>
          <a:blip r:embed="rId3" cstate="print"/>
          <a:srcRect/>
          <a:stretch>
            <a:fillRect/>
          </a:stretch>
        </p:blipFill>
        <p:spPr bwMode="auto">
          <a:xfrm>
            <a:off x="366713" y="2384425"/>
            <a:ext cx="8410575" cy="3787775"/>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10. Import </a:t>
            </a:r>
            <a:r>
              <a:rPr lang="en-US" dirty="0" err="1" smtClean="0"/>
              <a:t>Jmeter</a:t>
            </a:r>
            <a:r>
              <a:rPr lang="en-US" dirty="0" smtClean="0"/>
              <a:t> Test Plan</a:t>
            </a:r>
            <a:endParaRPr lang="en-US" dirty="0"/>
          </a:p>
        </p:txBody>
      </p:sp>
      <p:sp>
        <p:nvSpPr>
          <p:cNvPr id="3" name="Content Placeholder 2"/>
          <p:cNvSpPr>
            <a:spLocks noGrp="1"/>
          </p:cNvSpPr>
          <p:nvPr>
            <p:ph idx="1"/>
          </p:nvPr>
        </p:nvSpPr>
        <p:spPr/>
        <p:txBody>
          <a:bodyPr/>
          <a:lstStyle/>
          <a:p>
            <a:r>
              <a:rPr lang="en-US" sz="2400" dirty="0" smtClean="0">
                <a:hlinkClick r:id="rId2"/>
              </a:rPr>
              <a:t>https://jmeter.apache.org/download_jmeter.cgi</a:t>
            </a:r>
            <a:r>
              <a:rPr lang="en-US" sz="2400" dirty="0" smtClean="0"/>
              <a:t> </a:t>
            </a:r>
            <a:r>
              <a:rPr lang="en-US" sz="2400" dirty="0" smtClean="0">
                <a:sym typeface="Wingdings" pitchFamily="2" charset="2"/>
              </a:rPr>
              <a:t> jmeter.bat</a:t>
            </a:r>
            <a:endParaRPr lang="en-US" sz="2400" dirty="0" smtClean="0"/>
          </a:p>
          <a:p>
            <a:endParaRPr lang="en-US" sz="2400" dirty="0"/>
          </a:p>
        </p:txBody>
      </p:sp>
      <p:pic>
        <p:nvPicPr>
          <p:cNvPr id="2052" name="Picture 4"/>
          <p:cNvPicPr>
            <a:picLocks noChangeAspect="1" noChangeArrowheads="1"/>
          </p:cNvPicPr>
          <p:nvPr/>
        </p:nvPicPr>
        <p:blipFill>
          <a:blip r:embed="rId3" cstate="print"/>
          <a:srcRect/>
          <a:stretch>
            <a:fillRect/>
          </a:stretch>
        </p:blipFill>
        <p:spPr bwMode="auto">
          <a:xfrm>
            <a:off x="722313" y="2327275"/>
            <a:ext cx="7699375" cy="422592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MooseFS</a:t>
            </a:r>
            <a:endParaRPr lang="en-US" dirty="0"/>
          </a:p>
        </p:txBody>
      </p:sp>
      <p:sp>
        <p:nvSpPr>
          <p:cNvPr id="3" name="Content Placeholder 2"/>
          <p:cNvSpPr>
            <a:spLocks noGrp="1"/>
          </p:cNvSpPr>
          <p:nvPr>
            <p:ph idx="1"/>
          </p:nvPr>
        </p:nvSpPr>
        <p:spPr/>
        <p:txBody>
          <a:bodyPr/>
          <a:lstStyle/>
          <a:p>
            <a:r>
              <a:rPr lang="en-US" sz="2400" dirty="0" smtClean="0">
                <a:hlinkClick r:id="rId2"/>
              </a:rPr>
              <a:t>https://moosefs.com/download/</a:t>
            </a:r>
            <a:endParaRPr lang="en-US" sz="2400" dirty="0" smtClean="0"/>
          </a:p>
          <a:p>
            <a:r>
              <a:rPr lang="en-US" sz="2400" dirty="0" err="1" smtClean="0"/>
              <a:t>MooseFS</a:t>
            </a:r>
            <a:r>
              <a:rPr lang="en-US" sz="2400" dirty="0" smtClean="0"/>
              <a:t> is a Fault-tolerant, Highly available, Highly performing, Scaling-out, Network distributed file system. It spreads data over several physical commodity servers, which are visible to the user as one virtual disk. It is POSIX compliant and acts like any other Unix-like file system supporting:</a:t>
            </a:r>
          </a:p>
          <a:p>
            <a:pPr lvl="1"/>
            <a:r>
              <a:rPr lang="en-US" sz="2000" dirty="0" smtClean="0"/>
              <a:t>Hierarchical structure: Files and Folders,</a:t>
            </a:r>
          </a:p>
          <a:p>
            <a:pPr lvl="1"/>
            <a:r>
              <a:rPr lang="en-US" sz="2000" dirty="0" smtClean="0"/>
              <a:t>File attributes,</a:t>
            </a:r>
          </a:p>
          <a:p>
            <a:pPr lvl="1"/>
            <a:r>
              <a:rPr lang="en-US" sz="2000" dirty="0" smtClean="0"/>
              <a:t>Special files: Pipes, Sockets, Block and Character devices,</a:t>
            </a:r>
          </a:p>
          <a:p>
            <a:pPr lvl="1"/>
            <a:r>
              <a:rPr lang="en-US" sz="2000" dirty="0" smtClean="0"/>
              <a:t>Symbolic and Hard links,</a:t>
            </a:r>
          </a:p>
          <a:p>
            <a:pPr lvl="1"/>
            <a:r>
              <a:rPr lang="en-US" sz="2000" dirty="0" smtClean="0"/>
              <a:t>Security attributes and ACLs.</a:t>
            </a:r>
          </a:p>
          <a:p>
            <a:pPr lvl="1"/>
            <a:r>
              <a:rPr lang="en-US" sz="2000" dirty="0" smtClean="0"/>
              <a:t>It works with all applications that require a standard file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20979</TotalTime>
  <Words>414</Words>
  <Application>Microsoft Office PowerPoint</Application>
  <PresentationFormat>On-screen Show (4:3)</PresentationFormat>
  <Paragraphs>96</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Distributed File Systems</vt:lpstr>
      <vt:lpstr>Objectives</vt:lpstr>
      <vt:lpstr>Contents</vt:lpstr>
      <vt:lpstr>References</vt:lpstr>
      <vt:lpstr>SeaweedFS</vt:lpstr>
      <vt:lpstr>1. Download SeaweedFS</vt:lpstr>
      <vt:lpstr>2. Start Seaweed Master</vt:lpstr>
      <vt:lpstr>3. Start Seaweed Volume</vt:lpstr>
      <vt:lpstr>NATS Streaming Server</vt:lpstr>
      <vt:lpstr>4. Start NATS Streaming Server</vt:lpstr>
      <vt:lpstr>5. Install Golang</vt:lpstr>
      <vt:lpstr>6. Compile Source Code</vt:lpstr>
      <vt:lpstr>7. Import Postman Collection</vt:lpstr>
      <vt:lpstr>8. Import Postman Environment</vt:lpstr>
      <vt:lpstr>9. Switch Between Instances</vt:lpstr>
      <vt:lpstr>10. Import Jmeter Test Plan</vt:lpstr>
      <vt:lpstr>Slide 17</vt:lpstr>
      <vt:lpstr>MooseFS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5236</cp:revision>
  <dcterms:created xsi:type="dcterms:W3CDTF">2007-10-06T08:25:13Z</dcterms:created>
  <dcterms:modified xsi:type="dcterms:W3CDTF">2026-07-14T17:58:08Z</dcterms:modified>
</cp:coreProperties>
</file>