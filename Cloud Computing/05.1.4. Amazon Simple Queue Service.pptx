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570" r:id="rId2"/>
    <p:sldId id="571" r:id="rId3"/>
    <p:sldId id="572" r:id="rId4"/>
    <p:sldId id="573" r:id="rId5"/>
    <p:sldId id="574" r:id="rId6"/>
    <p:sldId id="576" r:id="rId7"/>
    <p:sldId id="581" r:id="rId8"/>
    <p:sldId id="582" r:id="rId9"/>
    <p:sldId id="583" r:id="rId10"/>
    <p:sldId id="584" r:id="rId11"/>
    <p:sldId id="585" r:id="rId12"/>
    <p:sldId id="575" r:id="rId13"/>
    <p:sldId id="579" r:id="rId14"/>
    <p:sldId id="577" r:id="rId15"/>
    <p:sldId id="578" r:id="rId16"/>
    <p:sldId id="580" r:id="rId17"/>
    <p:sldId id="44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q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ws.amazon.com/blogs/compute/building-storage-first-applications-with-http-apis-service-integrat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WSSimpleQueueService/latest/SQSDeveloperGuide/working-with-message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WSSimpleQueueService/latest/SQSDeveloperGuide/sqs-short-and-long-polling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Simple Queue Service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Simple Queue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https://aws.amazon.com/sqs/</a:t>
            </a:r>
            <a:endParaRPr lang="en-US" sz="2400" dirty="0" smtClean="0"/>
          </a:p>
          <a:p>
            <a:r>
              <a:rPr lang="en-US" sz="2400" dirty="0" smtClean="0"/>
              <a:t>Amazon Simple Queue Service (Amazon SQS) lets you send, store, and </a:t>
            </a:r>
            <a:r>
              <a:rPr lang="en-US" sz="2400" i="1" dirty="0" smtClean="0">
                <a:solidFill>
                  <a:srgbClr val="C00000"/>
                </a:solidFill>
              </a:rPr>
              <a:t>receive messages</a:t>
            </a:r>
            <a:r>
              <a:rPr lang="en-US" sz="2400" dirty="0" smtClean="0"/>
              <a:t> between software components at any volume, without losing messages or requiring other services to be available.</a:t>
            </a:r>
          </a:p>
          <a:p>
            <a:r>
              <a:rPr lang="en-US" sz="2400" dirty="0" smtClean="0"/>
              <a:t>SQS is pull-based delivery system.</a:t>
            </a:r>
          </a:p>
          <a:p>
            <a:r>
              <a:rPr lang="en-US" sz="2400" dirty="0" smtClean="0"/>
              <a:t>Visibility timeout: The length of time that a message received from a queue (by one consumer) won't be visible to the other message consumers.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First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https://aws.amazon.com/blogs/compute/building-storage-first-applications-with-http-apis-service-integrations/</a:t>
            </a:r>
            <a:endParaRPr lang="en-US" sz="2200" dirty="0" smtClean="0"/>
          </a:p>
          <a:p>
            <a:r>
              <a:rPr lang="en-US" sz="2400" dirty="0" smtClean="0"/>
              <a:t>Common pattern for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 API backend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r>
              <a:rPr lang="en-US" sz="2400" dirty="0" smtClean="0"/>
              <a:t>Storage first pattern for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 API backend</a:t>
            </a:r>
            <a:endParaRPr lang="en-US" sz="2200" dirty="0"/>
          </a:p>
        </p:txBody>
      </p:sp>
      <p:pic>
        <p:nvPicPr>
          <p:cNvPr id="1026" name="Picture 2" descr="https://d2908q01vomqb2.cloudfront.net/1b6453892473a467d07372d45eb05abc2031647a/2020/08/25/Untitled-1_0006_Screen-Shot-2020-08-25-at-10.07.00-A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914650"/>
            <a:ext cx="7429500" cy="1428750"/>
          </a:xfrm>
          <a:prstGeom prst="rect">
            <a:avLst/>
          </a:prstGeom>
          <a:noFill/>
        </p:spPr>
      </p:pic>
      <p:pic>
        <p:nvPicPr>
          <p:cNvPr id="1028" name="Picture 4" descr="https://d2908q01vomqb2.cloudfront.net/1b6453892473a467d07372d45eb05abc2031647a/2020/08/25/Untitled-1_0005_Screen-Shot-2020-08-25-at-10.07.45-AM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895850"/>
            <a:ext cx="7429500" cy="1428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Amazon SQS Queue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260" y="1905000"/>
            <a:ext cx="8143540" cy="3940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Install AWS SDK for Python (Boto3)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pip install boto3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Configuring Boto3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 configure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Send Message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620083"/>
            <a:ext cx="8001000" cy="42473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boto3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json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():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sqs_client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boto3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client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sqs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region_name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"us-east-1"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"key"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"value"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sqs_client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QueueUrl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"https://sqs.us-east-1.amazonaws.com/135319629286/hellosqs"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MessageBody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json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dumps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</a:t>
            </a:r>
            <a:r>
              <a:rPr lang="en-US" dirty="0" err="1" smtClean="0"/>
              <a:t>Queueing</a:t>
            </a:r>
            <a:r>
              <a:rPr lang="en-US" dirty="0" smtClean="0"/>
              <a:t>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Producers</a:t>
            </a:r>
            <a:r>
              <a:rPr lang="en-US" sz="2000" dirty="0" smtClean="0"/>
              <a:t> (components that send messages to the queue).</a:t>
            </a:r>
          </a:p>
          <a:p>
            <a:r>
              <a:rPr lang="en-US" sz="2000" b="1" dirty="0" smtClean="0"/>
              <a:t>Queue</a:t>
            </a:r>
            <a:r>
              <a:rPr lang="en-US" sz="2000" dirty="0" smtClean="0"/>
              <a:t> (which stores messages).</a:t>
            </a:r>
          </a:p>
          <a:p>
            <a:r>
              <a:rPr lang="en-US" sz="2000" b="1" dirty="0" smtClean="0"/>
              <a:t>Consumers</a:t>
            </a:r>
            <a:r>
              <a:rPr lang="en-US" sz="2000" dirty="0" smtClean="0"/>
              <a:t> (other components that receive messages from the queue).</a:t>
            </a:r>
          </a:p>
          <a:p>
            <a:r>
              <a:rPr lang="en-US" sz="2000" i="1" dirty="0" smtClean="0"/>
              <a:t>Dead-letter queues</a:t>
            </a:r>
            <a:r>
              <a:rPr lang="en-US" sz="2000" dirty="0" smtClean="0"/>
              <a:t> (DLQ) exist alongside regular message queues. They act as temporary storage for erroneous and failed messages.</a:t>
            </a:r>
            <a:endParaRPr lang="en-US" sz="2000" dirty="0"/>
          </a:p>
        </p:txBody>
      </p:sp>
      <p:sp>
        <p:nvSpPr>
          <p:cNvPr id="3074" name="AutoShape 2" descr="https://images.ctfassets.net/ee3ypdtck0rk/5kyxPgTiiOLTT7k7Be2qhR/8a010a16b315a58470b2e2bbcf04f889/AWS-SQS-overview_2x.png?w=1840&amp;h=866&amp;q=50&amp;fm=webp"/>
          <p:cNvSpPr>
            <a:spLocks noChangeAspect="1" noChangeArrowheads="1"/>
          </p:cNvSpPr>
          <p:nvPr/>
        </p:nvSpPr>
        <p:spPr bwMode="auto">
          <a:xfrm>
            <a:off x="155575" y="-2590800"/>
            <a:ext cx="1146810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9338" y="3857625"/>
            <a:ext cx="45053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the Visibility Timeout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https://docs.aws.amazon.com/AWSSimpleQueueService/latest/SQSDeveloperGuide/working-with-messages.html#processing-messages-timely-manner</a:t>
            </a:r>
            <a:endParaRPr lang="en-US" sz="2000" dirty="0" smtClean="0"/>
          </a:p>
          <a:p>
            <a:r>
              <a:rPr lang="en-US" sz="2000" dirty="0" smtClean="0"/>
              <a:t>Setting the visibility timeout depends on how long it takes your application to process and delete a message. For example, if your application requires 10 seconds to process a message and you set the visibility timeout to 15 minutes, you must wait for a relatively long time to attempt to process the message again if the previous processing attempt fails.</a:t>
            </a:r>
          </a:p>
          <a:p>
            <a:r>
              <a:rPr lang="en-US" sz="2000" dirty="0" smtClean="0"/>
              <a:t>Alternatively, if your application requires 10 seconds to process a message but you set the visibility timeout to only 2 seconds, a duplicate message is received by another consumer while the original consumer is still working on the message.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Polling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When the </a:t>
            </a:r>
            <a:r>
              <a:rPr lang="en-US" sz="1800" i="1" dirty="0" smtClean="0">
                <a:solidFill>
                  <a:srgbClr val="C00000"/>
                </a:solidFill>
              </a:rPr>
              <a:t>wait time</a:t>
            </a:r>
            <a:r>
              <a:rPr lang="en-US" sz="1800" dirty="0" smtClean="0"/>
              <a:t> for the </a:t>
            </a:r>
            <a:r>
              <a:rPr lang="en-US" sz="1800" dirty="0" err="1" smtClean="0"/>
              <a:t>ReceiveMessage</a:t>
            </a:r>
            <a:r>
              <a:rPr lang="en-US" sz="1800" dirty="0" smtClean="0"/>
              <a:t> API action is 0, </a:t>
            </a:r>
            <a:r>
              <a:rPr lang="en-US" sz="1800" u="sng" dirty="0" smtClean="0"/>
              <a:t>short polling</a:t>
            </a:r>
            <a:r>
              <a:rPr lang="en-US" sz="1800" dirty="0" smtClean="0"/>
              <a:t> is in effect.</a:t>
            </a:r>
          </a:p>
          <a:p>
            <a:r>
              <a:rPr lang="en-US" sz="1800" dirty="0" smtClean="0"/>
              <a:t>When you consume messages from a queue by using short polling, Amazon SQS samples a subset of its servers (based on a weighted random distribution) and returns messages from only those servers.</a:t>
            </a:r>
          </a:p>
          <a:p>
            <a:r>
              <a:rPr lang="en-US" sz="1800" dirty="0" smtClean="0"/>
              <a:t>Thus, a particular </a:t>
            </a:r>
            <a:r>
              <a:rPr lang="en-US" sz="1800" dirty="0" err="1" smtClean="0"/>
              <a:t>ReceiveMessage</a:t>
            </a:r>
            <a:r>
              <a:rPr lang="en-US" sz="1800" dirty="0" smtClean="0"/>
              <a:t> request might not return all of your messages. However, if you have fewer than 1,000 messages in your queue, a subsequent request will return your messages.</a:t>
            </a:r>
          </a:p>
          <a:p>
            <a:r>
              <a:rPr lang="en-US" sz="1800" dirty="0" smtClean="0"/>
              <a:t>If you keep consuming from your queues, Amazon SQS samples all of its servers, and you receive all of your messages.</a:t>
            </a:r>
            <a:endParaRPr lang="en-US" sz="1800" dirty="0"/>
          </a:p>
        </p:txBody>
      </p:sp>
      <p:sp>
        <p:nvSpPr>
          <p:cNvPr id="3074" name="AutoShape 2" descr="https://images.ctfassets.net/ee3ypdtck0rk/5kyxPgTiiOLTT7k7Be2qhR/8a010a16b315a58470b2e2bbcf04f889/AWS-SQS-overview_2x.png?w=1840&amp;h=866&amp;q=50&amp;fm=webp"/>
          <p:cNvSpPr>
            <a:spLocks noChangeAspect="1" noChangeArrowheads="1"/>
          </p:cNvSpPr>
          <p:nvPr/>
        </p:nvSpPr>
        <p:spPr bwMode="auto">
          <a:xfrm>
            <a:off x="155575" y="-2590800"/>
            <a:ext cx="1146810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554" name="Picture 2" descr="https://d3c33hcgiwev3.cloudfront.net/imageAssetProxy.v1/3QKUCv46QKSEw5tKZB6Wiw_ece62d9ec28a4cfba7bf372df8d99df1_Reading1.5A.png?expiry=1704412800000&amp;hmac=yl8HuB8qZM8XQvczf8ROvc4Gqp_6D6m1YkNvqPW0-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6950" y="4641850"/>
            <a:ext cx="4667250" cy="198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Polling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When the </a:t>
            </a:r>
            <a:r>
              <a:rPr lang="en-US" sz="1800" i="1" dirty="0" smtClean="0">
                <a:solidFill>
                  <a:srgbClr val="C00000"/>
                </a:solidFill>
              </a:rPr>
              <a:t>wait time</a:t>
            </a:r>
            <a:r>
              <a:rPr lang="en-US" sz="1800" dirty="0" smtClean="0"/>
              <a:t> for the </a:t>
            </a:r>
            <a:r>
              <a:rPr lang="en-US" sz="1800" dirty="0" err="1" smtClean="0"/>
              <a:t>ReceiveMessage</a:t>
            </a:r>
            <a:r>
              <a:rPr lang="en-US" sz="1800" dirty="0" smtClean="0"/>
              <a:t> API action is greater than 0, </a:t>
            </a:r>
            <a:r>
              <a:rPr lang="en-US" sz="1800" u="sng" dirty="0" smtClean="0"/>
              <a:t>long polling</a:t>
            </a:r>
            <a:r>
              <a:rPr lang="en-US" sz="1800" dirty="0" smtClean="0"/>
              <a:t> is in effect.</a:t>
            </a:r>
          </a:p>
          <a:p>
            <a:r>
              <a:rPr lang="en-US" sz="1800" dirty="0" smtClean="0"/>
              <a:t>The maximum long polling wait time is 20 seconds.</a:t>
            </a:r>
          </a:p>
          <a:p>
            <a:r>
              <a:rPr lang="en-US" sz="1800" dirty="0" smtClean="0"/>
              <a:t>Long polling helps reduce the cost of using Amazon SQS by reducing the number of empty responses (when there are no messages available for a </a:t>
            </a:r>
            <a:r>
              <a:rPr lang="en-US" sz="1800" dirty="0" err="1" smtClean="0"/>
              <a:t>ReceiveMessage</a:t>
            </a:r>
            <a:r>
              <a:rPr lang="en-US" sz="1800" dirty="0" smtClean="0"/>
              <a:t> request) and false empty responses (when messages are available, but aren't included in a response).</a:t>
            </a:r>
            <a:endParaRPr lang="en-US" sz="1800" dirty="0"/>
          </a:p>
        </p:txBody>
      </p:sp>
      <p:sp>
        <p:nvSpPr>
          <p:cNvPr id="3074" name="AutoShape 2" descr="https://images.ctfassets.net/ee3ypdtck0rk/5kyxPgTiiOLTT7k7Be2qhR/8a010a16b315a58470b2e2bbcf04f889/AWS-SQS-overview_2x.png?w=1840&amp;h=866&amp;q=50&amp;fm=webp"/>
          <p:cNvSpPr>
            <a:spLocks noChangeAspect="1" noChangeArrowheads="1"/>
          </p:cNvSpPr>
          <p:nvPr/>
        </p:nvSpPr>
        <p:spPr bwMode="auto">
          <a:xfrm>
            <a:off x="155575" y="-2590800"/>
            <a:ext cx="1146810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554" name="Picture 2" descr="https://d3c33hcgiwev3.cloudfront.net/imageAssetProxy.v1/3QKUCv46QKSEw5tKZB6Wiw_ece62d9ec28a4cfba7bf372df8d99df1_Reading1.5A.png?expiry=1704412800000&amp;hmac=yl8HuB8qZM8XQvczf8ROvc4Gqp_6D6m1YkNvqPW0-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6950" y="4267200"/>
            <a:ext cx="4667250" cy="198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Polling vs. Long Polling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https://docs.aws.amazon.com/AWSSimpleQueueService/latest/SQSDeveloperGuide/sqs-short-and-long-polling.html</a:t>
            </a:r>
            <a:endParaRPr lang="en-US" sz="2400" dirty="0" smtClean="0"/>
          </a:p>
          <a:p>
            <a:r>
              <a:rPr lang="en-US" sz="2400" dirty="0" smtClean="0"/>
              <a:t>With short polling, the </a:t>
            </a:r>
            <a:r>
              <a:rPr lang="en-US" sz="2400" dirty="0" err="1" smtClean="0"/>
              <a:t>ReceiveMessage</a:t>
            </a:r>
            <a:r>
              <a:rPr lang="en-US" sz="2400" dirty="0" smtClean="0"/>
              <a:t> request </a:t>
            </a:r>
            <a:r>
              <a:rPr lang="en-US" sz="2400" i="1" dirty="0" smtClean="0">
                <a:solidFill>
                  <a:srgbClr val="C00000"/>
                </a:solidFill>
              </a:rPr>
              <a:t>queries only a subset of the servers</a:t>
            </a:r>
            <a:r>
              <a:rPr lang="en-US" sz="2400" dirty="0" smtClean="0"/>
              <a:t> (based on a weighted random distribution) to find messages that are available to include in the response. Amazon SQS sends the response </a:t>
            </a:r>
            <a:r>
              <a:rPr lang="en-US" sz="2400" i="1" dirty="0" smtClean="0">
                <a:solidFill>
                  <a:srgbClr val="C00000"/>
                </a:solidFill>
              </a:rPr>
              <a:t>right away</a:t>
            </a:r>
            <a:r>
              <a:rPr lang="en-US" sz="2400" dirty="0" smtClean="0"/>
              <a:t>, even if the query found no messages.</a:t>
            </a:r>
          </a:p>
          <a:p>
            <a:r>
              <a:rPr lang="en-US" sz="2400" dirty="0" smtClean="0"/>
              <a:t>With long polling, the </a:t>
            </a:r>
            <a:r>
              <a:rPr lang="en-US" sz="2400" dirty="0" err="1" smtClean="0"/>
              <a:t>ReceiveMessage</a:t>
            </a:r>
            <a:r>
              <a:rPr lang="en-US" sz="2400" dirty="0" smtClean="0"/>
              <a:t> request queries all of the servers for messages. Amazon SQS sends a response after it collects </a:t>
            </a:r>
            <a:r>
              <a:rPr lang="en-US" sz="2400" i="1" dirty="0" smtClean="0">
                <a:solidFill>
                  <a:srgbClr val="C00000"/>
                </a:solidFill>
              </a:rPr>
              <a:t>at least one available message</a:t>
            </a:r>
            <a:r>
              <a:rPr lang="en-US" sz="2400" dirty="0" smtClean="0"/>
              <a:t>, </a:t>
            </a:r>
            <a:r>
              <a:rPr lang="en-US" sz="2400" u="sng" dirty="0" smtClean="0"/>
              <a:t>up to </a:t>
            </a:r>
            <a:r>
              <a:rPr lang="en-US" sz="2400" dirty="0" smtClean="0"/>
              <a:t>the maximum number of messages specified in the request. Amazon SQS sends an empty response only if the polling </a:t>
            </a:r>
            <a:r>
              <a:rPr lang="en-US" sz="2400" i="1" dirty="0" smtClean="0">
                <a:solidFill>
                  <a:srgbClr val="C00000"/>
                </a:solidFill>
              </a:rPr>
              <a:t>wait time expires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16891</TotalTime>
  <Words>638</Words>
  <Application>Microsoft Office PowerPoint</Application>
  <PresentationFormat>On-screen Show (4:3)</PresentationFormat>
  <Paragraphs>64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Amazon Simple Queue Service</vt:lpstr>
      <vt:lpstr>Objectives</vt:lpstr>
      <vt:lpstr>Contents</vt:lpstr>
      <vt:lpstr>References</vt:lpstr>
      <vt:lpstr>Amazon Simple Queue Service</vt:lpstr>
      <vt:lpstr>Storage First Pattern</vt:lpstr>
      <vt:lpstr>1. Create Amazon SQS Queue</vt:lpstr>
      <vt:lpstr>2. Install AWS SDK for Python (Boto3)</vt:lpstr>
      <vt:lpstr>3. Configuring Boto3</vt:lpstr>
      <vt:lpstr>4. Send Message</vt:lpstr>
      <vt:lpstr>Slide 11</vt:lpstr>
      <vt:lpstr>Distributed Queueing Service</vt:lpstr>
      <vt:lpstr>Setting the Visibility Timeout</vt:lpstr>
      <vt:lpstr>Short Polling</vt:lpstr>
      <vt:lpstr>Long Polling</vt:lpstr>
      <vt:lpstr>Short Polling vs. Long Polling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4998</cp:revision>
  <dcterms:created xsi:type="dcterms:W3CDTF">2007-10-06T08:25:13Z</dcterms:created>
  <dcterms:modified xsi:type="dcterms:W3CDTF">2024-01-19T18:39:26Z</dcterms:modified>
</cp:coreProperties>
</file>