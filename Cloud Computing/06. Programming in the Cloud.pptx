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"/>
  </p:notesMasterIdLst>
  <p:handoutMasterIdLst>
    <p:handoutMasterId r:id="rId22"/>
  </p:handoutMasterIdLst>
  <p:sldIdLst>
    <p:sldId id="256" r:id="rId2"/>
    <p:sldId id="431" r:id="rId3"/>
    <p:sldId id="603" r:id="rId4"/>
    <p:sldId id="423" r:id="rId5"/>
    <p:sldId id="621" r:id="rId6"/>
    <p:sldId id="622" r:id="rId7"/>
    <p:sldId id="623" r:id="rId8"/>
    <p:sldId id="624" r:id="rId9"/>
    <p:sldId id="625" r:id="rId10"/>
    <p:sldId id="626" r:id="rId11"/>
    <p:sldId id="613" r:id="rId12"/>
    <p:sldId id="614" r:id="rId13"/>
    <p:sldId id="615" r:id="rId14"/>
    <p:sldId id="616" r:id="rId15"/>
    <p:sldId id="617" r:id="rId16"/>
    <p:sldId id="620" r:id="rId17"/>
    <p:sldId id="618" r:id="rId18"/>
    <p:sldId id="619" r:id="rId19"/>
    <p:sldId id="343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86" autoAdjust="0"/>
    <p:restoredTop sz="94667" autoAdjust="0"/>
  </p:normalViewPr>
  <p:slideViewPr>
    <p:cSldViewPr>
      <p:cViewPr>
        <p:scale>
          <a:sx n="50" d="100"/>
          <a:sy n="50" d="100"/>
        </p:scale>
        <p:origin x="-147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12/11/2025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12/11/2025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Programming in the Cloud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smtClean="0"/>
              <a:t>MapReduce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200" dirty="0" err="1" smtClean="0"/>
              <a:t>Gautam</a:t>
            </a:r>
            <a:r>
              <a:rPr lang="en-US" sz="2200" dirty="0" smtClean="0"/>
              <a:t> </a:t>
            </a:r>
            <a:r>
              <a:rPr lang="en-US" sz="2200" dirty="0" err="1" smtClean="0"/>
              <a:t>Shroff</a:t>
            </a:r>
            <a:r>
              <a:rPr lang="en-US" sz="2200" dirty="0" smtClean="0"/>
              <a:t> (2010). Enterprise Cloud Computing: Technology Architecture Applications. Cambridge University Press.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Computing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premise of </a:t>
            </a:r>
            <a:r>
              <a:rPr lang="en-US" sz="2400" i="1" dirty="0" smtClean="0">
                <a:solidFill>
                  <a:srgbClr val="C00000"/>
                </a:solidFill>
              </a:rPr>
              <a:t>parallel computing</a:t>
            </a:r>
            <a:r>
              <a:rPr lang="en-US" sz="2400" dirty="0" smtClean="0"/>
              <a:t> is that a task that takes time T should take time T/p if executed on p processors.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parallel efficiency</a:t>
            </a:r>
            <a:r>
              <a:rPr lang="en-US" sz="2400" dirty="0" smtClean="0"/>
              <a:t> of an algorithm is defined as: </a:t>
            </a:r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r>
              <a:rPr lang="en-US" sz="2000" dirty="0" err="1" smtClean="0"/>
              <a:t>Tp</a:t>
            </a:r>
            <a:r>
              <a:rPr lang="en-US" sz="2000" dirty="0" smtClean="0"/>
              <a:t>:  the time to execute on p processors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scalable parallel implementation</a:t>
            </a:r>
            <a:r>
              <a:rPr lang="en-US" sz="2400" dirty="0" smtClean="0"/>
              <a:t> is one where:</a:t>
            </a:r>
          </a:p>
          <a:p>
            <a:pPr lvl="1"/>
            <a:r>
              <a:rPr lang="en-US" sz="2000" dirty="0" smtClean="0"/>
              <a:t>the parallel efficiency remains </a:t>
            </a:r>
            <a:r>
              <a:rPr lang="en-US" sz="2000" i="1" dirty="0" smtClean="0">
                <a:solidFill>
                  <a:srgbClr val="C00000"/>
                </a:solidFill>
              </a:rPr>
              <a:t>constant</a:t>
            </a:r>
            <a:r>
              <a:rPr lang="en-US" sz="2000" dirty="0" smtClean="0"/>
              <a:t> as the size of data is increased along with a corresponding increase in processors and</a:t>
            </a:r>
          </a:p>
          <a:p>
            <a:pPr lvl="1"/>
            <a:r>
              <a:rPr lang="en-US" sz="2000" dirty="0" smtClean="0"/>
              <a:t>the parallel efficiency </a:t>
            </a:r>
            <a:r>
              <a:rPr lang="en-US" sz="2000" i="1" dirty="0" smtClean="0">
                <a:solidFill>
                  <a:srgbClr val="C00000"/>
                </a:solidFill>
              </a:rPr>
              <a:t>increases</a:t>
            </a:r>
            <a:r>
              <a:rPr lang="en-US" sz="2000" dirty="0" smtClean="0"/>
              <a:t> with the size of data for a fixed number of processors.</a:t>
            </a:r>
            <a:endParaRPr lang="en-US" sz="20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2895600"/>
            <a:ext cx="12954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Efficiency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If there are </a:t>
            </a:r>
            <a:r>
              <a:rPr lang="en-US" sz="2200" i="1" dirty="0" smtClean="0">
                <a:solidFill>
                  <a:srgbClr val="C00000"/>
                </a:solidFill>
              </a:rPr>
              <a:t>n documents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m distinct words</a:t>
            </a:r>
            <a:r>
              <a:rPr lang="en-US" sz="2200" dirty="0" smtClean="0"/>
              <a:t>, we wish to determine </a:t>
            </a:r>
            <a:r>
              <a:rPr lang="en-US" sz="2200" i="1" dirty="0" smtClean="0">
                <a:solidFill>
                  <a:srgbClr val="C00000"/>
                </a:solidFill>
              </a:rPr>
              <a:t>m frequencies</a:t>
            </a:r>
            <a:r>
              <a:rPr lang="en-US" sz="2200" dirty="0" smtClean="0"/>
              <a:t>, one for each word.</a:t>
            </a:r>
          </a:p>
          <a:p>
            <a:r>
              <a:rPr lang="en-US" sz="2200" dirty="0" smtClean="0"/>
              <a:t>Two approaches to compute these frequencies in parallel using p processors:</a:t>
            </a:r>
          </a:p>
          <a:p>
            <a:pPr lvl="1"/>
            <a:r>
              <a:rPr lang="en-US" sz="2000" dirty="0" smtClean="0"/>
              <a:t>(a) let each processor compute the frequencies for m/p words</a:t>
            </a:r>
          </a:p>
          <a:p>
            <a:pPr lvl="1"/>
            <a:r>
              <a:rPr lang="en-US" sz="2000" dirty="0" smtClean="0"/>
              <a:t>(b) let each processor compute the frequencies of m words across n/p documents, followed by all the processors summing their results</a:t>
            </a:r>
          </a:p>
          <a:p>
            <a:r>
              <a:rPr lang="en-US" sz="2200" dirty="0" smtClean="0"/>
              <a:t>Assume that the </a:t>
            </a:r>
            <a:r>
              <a:rPr lang="en-US" sz="2200" i="1" dirty="0" smtClean="0">
                <a:solidFill>
                  <a:srgbClr val="C00000"/>
                </a:solidFill>
              </a:rPr>
              <a:t>time spent c</a:t>
            </a:r>
            <a:r>
              <a:rPr lang="en-US" sz="2200" dirty="0" smtClean="0"/>
              <a:t> for reading each word in the document is the same as that of sending it to another processor via inter-processor communication. Assume that each word occurs </a:t>
            </a:r>
            <a:r>
              <a:rPr lang="en-US" sz="2200" i="1" dirty="0" smtClean="0">
                <a:solidFill>
                  <a:srgbClr val="C00000"/>
                </a:solidFill>
              </a:rPr>
              <a:t>f times</a:t>
            </a:r>
            <a:r>
              <a:rPr lang="en-US" sz="2200" dirty="0" smtClean="0"/>
              <a:t> in a document, on average.</a:t>
            </a:r>
          </a:p>
          <a:p>
            <a:r>
              <a:rPr lang="en-US" sz="2200" dirty="0" smtClean="0"/>
              <a:t>The time for computing all the m frequencies with a single processor is </a:t>
            </a:r>
            <a:r>
              <a:rPr lang="en-US" sz="2200" i="1" dirty="0" err="1" smtClean="0">
                <a:solidFill>
                  <a:srgbClr val="C00000"/>
                </a:solidFill>
              </a:rPr>
              <a:t>n×m×f×c</a:t>
            </a:r>
            <a:r>
              <a:rPr lang="en-US" sz="2200" dirty="0" smtClean="0"/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Efficiency Example (a)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Using approach (a) each processor reads approximately </a:t>
            </a:r>
            <a:r>
              <a:rPr lang="en-US" sz="2400" i="1" dirty="0" err="1" smtClean="0">
                <a:solidFill>
                  <a:srgbClr val="C00000"/>
                </a:solidFill>
              </a:rPr>
              <a:t>n×m×f</a:t>
            </a:r>
            <a:r>
              <a:rPr lang="en-US" sz="2400" dirty="0" smtClean="0"/>
              <a:t> words and adds them </a:t>
            </a:r>
            <a:r>
              <a:rPr lang="en-US" sz="2400" i="1" dirty="0" smtClean="0">
                <a:solidFill>
                  <a:srgbClr val="C00000"/>
                </a:solidFill>
              </a:rPr>
              <a:t>n×(m/p)×f</a:t>
            </a:r>
            <a:r>
              <a:rPr lang="en-US" sz="2400" dirty="0" smtClean="0"/>
              <a:t> times. Ignoring the time spent in additions, the parallel efficiency can be calculated as: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4238" y="2986088"/>
            <a:ext cx="22955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Efficiency Example (b)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Using approach (b) each processor performs approximately </a:t>
            </a:r>
            <a:r>
              <a:rPr lang="en-US" sz="2200" i="1" dirty="0" smtClean="0">
                <a:solidFill>
                  <a:srgbClr val="C00000"/>
                </a:solidFill>
              </a:rPr>
              <a:t>(n/p)×</a:t>
            </a:r>
            <a:r>
              <a:rPr lang="en-US" sz="2200" i="1" dirty="0" err="1" smtClean="0">
                <a:solidFill>
                  <a:srgbClr val="C00000"/>
                </a:solidFill>
              </a:rPr>
              <a:t>m×f</a:t>
            </a:r>
            <a:r>
              <a:rPr lang="en-US" sz="2200" i="1" dirty="0" smtClean="0">
                <a:solidFill>
                  <a:srgbClr val="C00000"/>
                </a:solidFill>
              </a:rPr>
              <a:t> reads</a:t>
            </a:r>
            <a:r>
              <a:rPr lang="en-US" sz="2200" dirty="0" smtClean="0"/>
              <a:t> and the same number of additions in the first phase, producing </a:t>
            </a:r>
            <a:r>
              <a:rPr lang="en-US" sz="2200" i="1" dirty="0" smtClean="0">
                <a:solidFill>
                  <a:srgbClr val="C00000"/>
                </a:solidFill>
              </a:rPr>
              <a:t>p vectors of m partial frequencies</a:t>
            </a:r>
            <a:r>
              <a:rPr lang="en-US" sz="2200" dirty="0" smtClean="0"/>
              <a:t>, which can be written to disk in parallel by each processor in </a:t>
            </a:r>
            <a:r>
              <a:rPr lang="en-US" sz="2200" i="1" dirty="0" smtClean="0">
                <a:solidFill>
                  <a:srgbClr val="C00000"/>
                </a:solidFill>
              </a:rPr>
              <a:t>time cm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In the second phase these vectors of partial frequencies need to be added: First each processor sends p − 1 sub-vectors of size m/p to each of the remaining processors. Each processor then adds p sub-vectors locally to compute one </a:t>
            </a:r>
            <a:r>
              <a:rPr lang="en-US" sz="2200" dirty="0" err="1" smtClean="0"/>
              <a:t>pth</a:t>
            </a:r>
            <a:r>
              <a:rPr lang="en-US" sz="2200" dirty="0" smtClean="0"/>
              <a:t> of the final m-vector of frequencies.</a:t>
            </a:r>
          </a:p>
          <a:p>
            <a:r>
              <a:rPr lang="en-US" sz="2200" dirty="0" smtClean="0"/>
              <a:t>The parallel efficiency is computed as:</a:t>
            </a:r>
            <a:endParaRPr lang="en-US" sz="22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750" y="5210175"/>
            <a:ext cx="704850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r>
              <a:rPr lang="en-US" dirty="0" smtClean="0"/>
              <a:t>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r>
              <a:rPr lang="en-US" sz="2200" i="1" dirty="0" err="1" smtClean="0">
                <a:solidFill>
                  <a:srgbClr val="C00000"/>
                </a:solidFill>
              </a:rPr>
              <a:t>MapReduce</a:t>
            </a:r>
            <a:r>
              <a:rPr lang="en-US" sz="2200" dirty="0" smtClean="0"/>
              <a:t> proceeds in two phases, a distributed "map" operation followed by a distributed "reduce" operation; </a:t>
            </a:r>
          </a:p>
          <a:p>
            <a:r>
              <a:rPr lang="en-US" sz="2200" dirty="0" smtClean="0"/>
              <a:t>at each phase a configurable number of </a:t>
            </a:r>
            <a:r>
              <a:rPr lang="en-US" sz="2200" i="1" dirty="0" smtClean="0">
                <a:solidFill>
                  <a:srgbClr val="C00000"/>
                </a:solidFill>
              </a:rPr>
              <a:t>M "</a:t>
            </a:r>
            <a:r>
              <a:rPr lang="en-US" sz="2200" i="1" dirty="0" err="1" smtClean="0">
                <a:solidFill>
                  <a:srgbClr val="C00000"/>
                </a:solidFill>
              </a:rPr>
              <a:t>mapper</a:t>
            </a:r>
            <a:r>
              <a:rPr lang="en-US" sz="2200" i="1" dirty="0" smtClean="0">
                <a:solidFill>
                  <a:srgbClr val="C00000"/>
                </a:solidFill>
              </a:rPr>
              <a:t>" processors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R "reducer" processors</a:t>
            </a:r>
            <a:r>
              <a:rPr lang="en-US" sz="2200" dirty="0" smtClean="0"/>
              <a:t> are assigned to work on the problem.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5488" y="3067050"/>
            <a:ext cx="5153025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context: multi-hour computations on multi-terabyte data-sets</a:t>
            </a:r>
          </a:p>
          <a:p>
            <a:pPr lvl="1"/>
            <a:r>
              <a:rPr lang="en-US" sz="2400" dirty="0" smtClean="0"/>
              <a:t>e.g. build search index, or sort, or analyze structure of web</a:t>
            </a:r>
          </a:p>
          <a:p>
            <a:pPr lvl="1"/>
            <a:r>
              <a:rPr lang="en-US" sz="2400" dirty="0" smtClean="0"/>
              <a:t>only practical with 1000s of computers</a:t>
            </a:r>
          </a:p>
          <a:p>
            <a:pPr lvl="1"/>
            <a:r>
              <a:rPr lang="en-US" sz="2400" dirty="0" smtClean="0"/>
              <a:t>applications not written by distributed systems experts</a:t>
            </a:r>
          </a:p>
          <a:p>
            <a:r>
              <a:rPr lang="en-US" sz="2800" dirty="0" smtClean="0"/>
              <a:t>overall goal: easy for non-specialist programmers</a:t>
            </a:r>
          </a:p>
          <a:p>
            <a:r>
              <a:rPr lang="en-US" sz="2800" dirty="0" smtClean="0"/>
              <a:t>programmer just defines Map and Reduce functions</a:t>
            </a:r>
          </a:p>
          <a:p>
            <a:pPr lvl="1"/>
            <a:r>
              <a:rPr lang="en-US" sz="2400" dirty="0" smtClean="0"/>
              <a:t>often fairly simple sequential code</a:t>
            </a:r>
          </a:p>
          <a:p>
            <a:r>
              <a:rPr lang="en-US" sz="2800" dirty="0" smtClean="0"/>
              <a:t>MR takes care of, and hides, all aspects of distribution!</a:t>
            </a:r>
            <a:endParaRPr lang="en-US" sz="2600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input is (already) split into M files</a:t>
            </a:r>
          </a:p>
          <a:p>
            <a:r>
              <a:rPr lang="en-US" sz="2800" dirty="0" smtClean="0"/>
              <a:t>Example: Count the number of word: a, b, c in files.</a:t>
            </a:r>
          </a:p>
          <a:p>
            <a:pPr>
              <a:buNone/>
            </a:pPr>
            <a:r>
              <a:rPr lang="en-US" sz="2800" dirty="0" smtClean="0"/>
              <a:t>	Input1 -&gt; Map -&gt; a,1, a,1, b,1, b,1</a:t>
            </a:r>
          </a:p>
          <a:p>
            <a:pPr>
              <a:buNone/>
            </a:pPr>
            <a:r>
              <a:rPr lang="en-US" sz="2800" dirty="0" smtClean="0"/>
              <a:t>	Input2 -&gt; Map -&gt;                b,1</a:t>
            </a:r>
          </a:p>
          <a:p>
            <a:pPr>
              <a:buNone/>
            </a:pPr>
            <a:r>
              <a:rPr lang="en-US" sz="2800" dirty="0" smtClean="0"/>
              <a:t>	Input3 -&gt; Map -&gt; a,1                       c,1</a:t>
            </a:r>
          </a:p>
          <a:p>
            <a:pPr>
              <a:buNone/>
            </a:pPr>
            <a:r>
              <a:rPr lang="en-US" sz="2800" dirty="0" smtClean="0"/>
              <a:t>				 |	     |	         |-&gt; Reduce -&gt; c,1</a:t>
            </a:r>
          </a:p>
          <a:p>
            <a:pPr>
              <a:buNone/>
            </a:pPr>
            <a:r>
              <a:rPr lang="en-US" sz="2800" dirty="0" smtClean="0"/>
              <a:t>				 |	     |------------&gt; Reduce -&gt; b,3</a:t>
            </a:r>
          </a:p>
          <a:p>
            <a:pPr>
              <a:buNone/>
            </a:pPr>
            <a:r>
              <a:rPr lang="en-US" sz="2800" dirty="0" smtClean="0"/>
              <a:t>				 |-----------------------&gt; Reduce -&gt; a,3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 View of a </a:t>
            </a:r>
            <a:r>
              <a:rPr lang="en-US" dirty="0" err="1" smtClean="0"/>
              <a:t>MapReduce</a:t>
            </a:r>
            <a:r>
              <a:rPr lang="en-US" dirty="0" smtClean="0"/>
              <a:t> Job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MR calls Map() for each input file, produces set of k2,v2 "intermediate" data</a:t>
            </a:r>
          </a:p>
          <a:p>
            <a:pPr lvl="1"/>
            <a:r>
              <a:rPr lang="en-US" sz="2400" dirty="0" smtClean="0"/>
              <a:t>each Map() call is a "task"</a:t>
            </a:r>
          </a:p>
          <a:p>
            <a:r>
              <a:rPr lang="en-US" sz="2800" dirty="0" smtClean="0"/>
              <a:t>MR gathers all intermediate v2's for a given k2,</a:t>
            </a:r>
          </a:p>
          <a:p>
            <a:pPr lvl="1"/>
            <a:r>
              <a:rPr lang="en-US" sz="2400" dirty="0" smtClean="0"/>
              <a:t>and passes each key + values to a Reduce call</a:t>
            </a:r>
          </a:p>
          <a:p>
            <a:r>
              <a:rPr lang="en-US" sz="2800" dirty="0" smtClean="0"/>
              <a:t>final output is set of &lt;k2,v3&gt; pairs from Reduce()s</a:t>
            </a:r>
          </a:p>
          <a:p>
            <a:endParaRPr lang="en-US" sz="2600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word 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input is thousands of text files</a:t>
            </a:r>
          </a:p>
          <a:p>
            <a:r>
              <a:rPr lang="en-US" sz="2800" dirty="0" smtClean="0">
                <a:latin typeface="Consolas" pitchFamily="49" charset="0"/>
              </a:rPr>
              <a:t>Map(k, v) (v = text)</a:t>
            </a:r>
          </a:p>
          <a:p>
            <a:pPr lvl="1"/>
            <a:r>
              <a:rPr lang="en-US" sz="2000" dirty="0" smtClean="0">
                <a:latin typeface="Consolas" pitchFamily="49" charset="0"/>
              </a:rPr>
              <a:t>split v into words</a:t>
            </a:r>
          </a:p>
          <a:p>
            <a:pPr lvl="1"/>
            <a:r>
              <a:rPr lang="en-US" sz="2000" dirty="0" smtClean="0">
                <a:latin typeface="Consolas" pitchFamily="49" charset="0"/>
              </a:rPr>
              <a:t>for each word w</a:t>
            </a:r>
          </a:p>
          <a:p>
            <a:pPr lvl="2"/>
            <a:r>
              <a:rPr lang="en-US" sz="2000" dirty="0" smtClean="0">
                <a:latin typeface="Consolas" pitchFamily="49" charset="0"/>
              </a:rPr>
              <a:t>emit(w, "1") ("</a:t>
            </a:r>
            <a:r>
              <a:rPr lang="en-US" sz="2000" dirty="0" err="1" smtClean="0">
                <a:latin typeface="Consolas" pitchFamily="49" charset="0"/>
              </a:rPr>
              <a:t>abba</a:t>
            </a:r>
            <a:r>
              <a:rPr lang="en-US" sz="2000" dirty="0" smtClean="0">
                <a:latin typeface="Consolas" pitchFamily="49" charset="0"/>
              </a:rPr>
              <a:t>"-&gt; ("a", "1"), ("b", "1")</a:t>
            </a:r>
          </a:p>
          <a:p>
            <a:pPr lvl="2">
              <a:buNone/>
            </a:pPr>
            <a:r>
              <a:rPr lang="en-US" sz="2000" dirty="0" smtClean="0">
                <a:latin typeface="Consolas" pitchFamily="49" charset="0"/>
              </a:rPr>
              <a:t>                         ("b", "1"), ("a", "1"))</a:t>
            </a:r>
          </a:p>
          <a:p>
            <a:pPr lvl="2">
              <a:buNone/>
            </a:pPr>
            <a:r>
              <a:rPr lang="en-US" sz="2000" dirty="0" smtClean="0">
                <a:latin typeface="Consolas" pitchFamily="49" charset="0"/>
              </a:rPr>
              <a:t>			  ("b"   -&gt; ("b", "1"))</a:t>
            </a:r>
          </a:p>
          <a:p>
            <a:pPr lvl="2">
              <a:buNone/>
            </a:pPr>
            <a:r>
              <a:rPr lang="en-US" sz="2000" dirty="0" smtClean="0">
                <a:latin typeface="Consolas" pitchFamily="49" charset="0"/>
              </a:rPr>
              <a:t>			  ("ac"   -&gt; ("a", "1"), ("c", "1"))</a:t>
            </a:r>
          </a:p>
          <a:p>
            <a:r>
              <a:rPr lang="en-US" sz="2800" dirty="0" smtClean="0">
                <a:latin typeface="Consolas" pitchFamily="49" charset="0"/>
              </a:rPr>
              <a:t>Reduce(k, v) (v = list)</a:t>
            </a:r>
          </a:p>
          <a:p>
            <a:pPr lvl="1"/>
            <a:r>
              <a:rPr lang="en-US" sz="2000" dirty="0" smtClean="0">
                <a:latin typeface="Consolas" pitchFamily="49" charset="0"/>
              </a:rPr>
              <a:t>emit(</a:t>
            </a:r>
            <a:r>
              <a:rPr lang="en-US" sz="2000" dirty="0" err="1" smtClean="0">
                <a:latin typeface="Consolas" pitchFamily="49" charset="0"/>
              </a:rPr>
              <a:t>len</a:t>
            </a:r>
            <a:r>
              <a:rPr lang="en-US" sz="2000" dirty="0" smtClean="0">
                <a:latin typeface="Consolas" pitchFamily="49" charset="0"/>
              </a:rPr>
              <a:t>(v)) ("a", {"1", "1", "1}) -&gt; ("a", 3)</a:t>
            </a:r>
          </a:p>
          <a:p>
            <a:pPr lvl="1">
              <a:buNone/>
            </a:pPr>
            <a:r>
              <a:rPr lang="en-US" sz="2000" dirty="0" smtClean="0">
                <a:latin typeface="Consolas" pitchFamily="49" charset="0"/>
              </a:rPr>
              <a:t>			     ("b", {"1", "1", "1"}) -&gt; ("b", 3)</a:t>
            </a:r>
          </a:p>
          <a:p>
            <a:pPr lvl="1">
              <a:buNone/>
            </a:pPr>
            <a:r>
              <a:rPr lang="en-US" sz="2000" dirty="0" smtClean="0">
                <a:latin typeface="Consolas" pitchFamily="49" charset="0"/>
              </a:rPr>
              <a:t>			     ("c", {"1"}) -&gt; ("c", 1)</a:t>
            </a:r>
          </a:p>
          <a:p>
            <a:pPr lvl="1"/>
            <a:endParaRPr lang="en-US" sz="20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r>
              <a:rPr lang="en-US" dirty="0" smtClean="0"/>
              <a:t> Scales Well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N "worker" computers get you </a:t>
            </a:r>
            <a:r>
              <a:rPr lang="en-US" sz="2800" dirty="0" err="1" smtClean="0"/>
              <a:t>Nx</a:t>
            </a:r>
            <a:r>
              <a:rPr lang="en-US" sz="2800" dirty="0" smtClean="0"/>
              <a:t> throughput.</a:t>
            </a:r>
          </a:p>
          <a:p>
            <a:r>
              <a:rPr lang="en-US" sz="2800" dirty="0" smtClean="0"/>
              <a:t>Maps()s can run in parallel, since they don't interact.</a:t>
            </a:r>
          </a:p>
          <a:p>
            <a:r>
              <a:rPr lang="en-US" sz="2800" dirty="0" smtClean="0"/>
              <a:t>Same for Reduce()s.</a:t>
            </a:r>
          </a:p>
          <a:p>
            <a:r>
              <a:rPr lang="en-US" sz="2800" dirty="0" smtClean="0"/>
              <a:t>So you can get more throughput by buying more computers.</a:t>
            </a:r>
            <a:endParaRPr lang="en-US" sz="28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r>
              <a:rPr lang="en-US" dirty="0" smtClean="0"/>
              <a:t> Hides Many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sending app code to servers</a:t>
            </a:r>
          </a:p>
          <a:p>
            <a:r>
              <a:rPr lang="en-US" sz="2800" dirty="0" smtClean="0"/>
              <a:t>tracking which tasks are done</a:t>
            </a:r>
          </a:p>
          <a:p>
            <a:r>
              <a:rPr lang="en-US" sz="2800" dirty="0" smtClean="0"/>
              <a:t>moving data from Maps to Reduces</a:t>
            </a:r>
          </a:p>
          <a:p>
            <a:r>
              <a:rPr lang="en-US" sz="2800" dirty="0" smtClean="0"/>
              <a:t>balancing load over servers</a:t>
            </a:r>
          </a:p>
          <a:p>
            <a:r>
              <a:rPr lang="en-US" sz="2800" dirty="0" smtClean="0"/>
              <a:t>recovering from failures</a:t>
            </a:r>
            <a:endParaRPr lang="en-US" sz="28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/>
              <a:t>MapReduce</a:t>
            </a:r>
            <a:r>
              <a:rPr lang="en-US" sz="4000" dirty="0" smtClean="0"/>
              <a:t> Limits What Apps Can Do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No interaction or state (other than via intermediate output).</a:t>
            </a:r>
          </a:p>
          <a:p>
            <a:r>
              <a:rPr lang="en-US" sz="2800" dirty="0" smtClean="0"/>
              <a:t>No iteration, no multi-stage pipelines.</a:t>
            </a:r>
          </a:p>
          <a:p>
            <a:r>
              <a:rPr lang="en-US" sz="2800" dirty="0" smtClean="0"/>
              <a:t>No real-time or streaming processing.</a:t>
            </a:r>
            <a:endParaRPr lang="en-US" sz="28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Input and Output are Stored on the GFS Cluster File System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MR needs huge parallel input and output throughput.</a:t>
            </a:r>
          </a:p>
          <a:p>
            <a:r>
              <a:rPr lang="en-US" sz="2800" dirty="0" smtClean="0"/>
              <a:t>GFS splits files over many servers, in 64 MB chunks.</a:t>
            </a:r>
          </a:p>
          <a:p>
            <a:pPr lvl="1"/>
            <a:r>
              <a:rPr lang="en-US" sz="2400" dirty="0" smtClean="0"/>
              <a:t>Maps read in parallel.</a:t>
            </a:r>
          </a:p>
          <a:p>
            <a:pPr lvl="1"/>
            <a:r>
              <a:rPr lang="en-US" sz="2400" dirty="0" smtClean="0"/>
              <a:t>Reduces write in parallel.</a:t>
            </a:r>
          </a:p>
          <a:p>
            <a:r>
              <a:rPr lang="en-US" sz="2800" dirty="0" smtClean="0"/>
              <a:t>GFS also replicates each file on 2 or 3 servers.</a:t>
            </a:r>
          </a:p>
          <a:p>
            <a:r>
              <a:rPr lang="en-US" sz="2800" dirty="0" smtClean="0"/>
              <a:t>Having GFS is a big win for </a:t>
            </a:r>
            <a:r>
              <a:rPr lang="en-US" sz="2800" dirty="0" err="1" smtClean="0"/>
              <a:t>MapReduce</a:t>
            </a:r>
            <a:r>
              <a:rPr lang="en-US" sz="2800" dirty="0" smtClean="0"/>
              <a:t>.</a:t>
            </a:r>
            <a:endParaRPr lang="en-US" sz="28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12536</TotalTime>
  <Words>860</Words>
  <Application>Microsoft Office PowerPoint</Application>
  <PresentationFormat>On-screen Show (4:3)</PresentationFormat>
  <Paragraphs>101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Programming in the Cloud</vt:lpstr>
      <vt:lpstr>Objectives</vt:lpstr>
      <vt:lpstr>Contents</vt:lpstr>
      <vt:lpstr>References</vt:lpstr>
      <vt:lpstr>Parallel Computing [1]</vt:lpstr>
      <vt:lpstr>Parallel Efficiency Example</vt:lpstr>
      <vt:lpstr>Parallel Efficiency Example (a)</vt:lpstr>
      <vt:lpstr>Parallel Efficiency Example (b)</vt:lpstr>
      <vt:lpstr>MapReduce Model</vt:lpstr>
      <vt:lpstr>Slide 10</vt:lpstr>
      <vt:lpstr>MapReduce</vt:lpstr>
      <vt:lpstr>MapReduce Example</vt:lpstr>
      <vt:lpstr>Abstract View of a MapReduce Job</vt:lpstr>
      <vt:lpstr>Example: word count</vt:lpstr>
      <vt:lpstr>MapReduce Scales Well</vt:lpstr>
      <vt:lpstr>MapReduce Hides Many Details</vt:lpstr>
      <vt:lpstr>MapReduce Limits What Apps Can Do</vt:lpstr>
      <vt:lpstr>Input and Output are Stored on the GFS Cluster File System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5487</cp:revision>
  <dcterms:created xsi:type="dcterms:W3CDTF">2007-10-06T08:25:13Z</dcterms:created>
  <dcterms:modified xsi:type="dcterms:W3CDTF">2025-12-11T14:59:51Z</dcterms:modified>
</cp:coreProperties>
</file>