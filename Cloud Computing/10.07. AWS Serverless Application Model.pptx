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1"/>
  </p:notesMasterIdLst>
  <p:sldIdLst>
    <p:sldId id="584" r:id="rId2"/>
    <p:sldId id="585" r:id="rId3"/>
    <p:sldId id="586" r:id="rId4"/>
    <p:sldId id="587" r:id="rId5"/>
    <p:sldId id="770" r:id="rId6"/>
    <p:sldId id="771" r:id="rId7"/>
    <p:sldId id="772" r:id="rId8"/>
    <p:sldId id="774" r:id="rId9"/>
    <p:sldId id="797" r:id="rId10"/>
    <p:sldId id="798" r:id="rId11"/>
    <p:sldId id="799" r:id="rId12"/>
    <p:sldId id="796" r:id="rId13"/>
    <p:sldId id="800" r:id="rId14"/>
    <p:sldId id="777" r:id="rId15"/>
    <p:sldId id="778" r:id="rId16"/>
    <p:sldId id="783" r:id="rId17"/>
    <p:sldId id="782" r:id="rId18"/>
    <p:sldId id="780" r:id="rId19"/>
    <p:sldId id="781" r:id="rId20"/>
    <p:sldId id="784" r:id="rId21"/>
    <p:sldId id="786" r:id="rId22"/>
    <p:sldId id="785" r:id="rId23"/>
    <p:sldId id="787" r:id="rId24"/>
    <p:sldId id="788" r:id="rId25"/>
    <p:sldId id="789" r:id="rId26"/>
    <p:sldId id="790" r:id="rId27"/>
    <p:sldId id="791" r:id="rId28"/>
    <p:sldId id="792" r:id="rId29"/>
    <p:sldId id="793" r:id="rId30"/>
    <p:sldId id="804" r:id="rId31"/>
    <p:sldId id="769" r:id="rId32"/>
    <p:sldId id="756" r:id="rId33"/>
    <p:sldId id="754" r:id="rId34"/>
    <p:sldId id="794" r:id="rId35"/>
    <p:sldId id="795" r:id="rId36"/>
    <p:sldId id="802" r:id="rId37"/>
    <p:sldId id="801" r:id="rId38"/>
    <p:sldId id="805" r:id="rId39"/>
    <p:sldId id="440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8" autoAdjust="0"/>
    <p:restoredTop sz="83941" autoAdjust="0"/>
  </p:normalViewPr>
  <p:slideViewPr>
    <p:cSldViewPr>
      <p:cViewPr>
        <p:scale>
          <a:sx n="50" d="100"/>
          <a:sy n="50" d="100"/>
        </p:scale>
        <p:origin x="-1648" y="-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serverless-application-mode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serverless-application-model/latest/developerguide/what-is-sam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cs.aws.amazon.com/serverless-application-model/latest/developerguide/install-sam-cli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aws.amazon.com/serverless-application-model/latest/developerguide/serverless-getting-started-hello-world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servicecatalo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AWS Serverless Application Model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</a:t>
            </a:r>
            <a:r>
              <a:rPr lang="en-US" dirty="0" err="1" smtClean="0"/>
              <a:t>Serverless</a:t>
            </a:r>
            <a:r>
              <a:rPr lang="en-US" dirty="0" smtClean="0"/>
              <a:t> Application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https://docs.aws.amazon.com/serverless-application-model/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AWS </a:t>
            </a:r>
            <a:r>
              <a:rPr lang="en-US" sz="2400" i="1" dirty="0" err="1" smtClean="0">
                <a:solidFill>
                  <a:srgbClr val="C00000"/>
                </a:solidFill>
              </a:rPr>
              <a:t>Serverless</a:t>
            </a:r>
            <a:r>
              <a:rPr lang="en-US" sz="2400" i="1" dirty="0" smtClean="0">
                <a:solidFill>
                  <a:srgbClr val="C00000"/>
                </a:solidFill>
              </a:rPr>
              <a:t> Application Model (AWS SAM)</a:t>
            </a:r>
            <a:r>
              <a:rPr lang="en-US" sz="2400" dirty="0" smtClean="0"/>
              <a:t> is an </a:t>
            </a:r>
            <a:r>
              <a:rPr lang="en-US" sz="2400" u="sng" dirty="0" smtClean="0"/>
              <a:t>open-source framework</a:t>
            </a:r>
            <a:r>
              <a:rPr lang="en-US" sz="2400" dirty="0" smtClean="0"/>
              <a:t> that enables you to </a:t>
            </a:r>
            <a:r>
              <a:rPr lang="en-US" sz="2400" u="sng" dirty="0" smtClean="0"/>
              <a:t>build </a:t>
            </a:r>
            <a:r>
              <a:rPr lang="en-US" sz="2400" u="sng" dirty="0" err="1" smtClean="0"/>
              <a:t>serverless</a:t>
            </a:r>
            <a:r>
              <a:rPr lang="en-US" sz="2400" u="sng" dirty="0" smtClean="0"/>
              <a:t> applications on AWS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provides you with 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template specification</a:t>
            </a:r>
            <a:r>
              <a:rPr lang="en-US" sz="2400" dirty="0" smtClean="0"/>
              <a:t> to define your </a:t>
            </a:r>
            <a:r>
              <a:rPr lang="en-US" sz="2400" dirty="0" err="1" smtClean="0"/>
              <a:t>serverless</a:t>
            </a:r>
            <a:r>
              <a:rPr lang="en-US" sz="2400" dirty="0" smtClean="0"/>
              <a:t> application, and 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command line interface (CLI)</a:t>
            </a:r>
            <a:r>
              <a:rPr lang="en-US" sz="2400" dirty="0" smtClean="0"/>
              <a:t> tool.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SAM Template Specification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https://docs.aws.amazon.com/serverless-application-model/latest/developerguide/what-is-sam.html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AWS SAM template specification</a:t>
            </a:r>
            <a:r>
              <a:rPr lang="en-US" sz="2400" dirty="0" smtClean="0"/>
              <a:t> is an open-source framework that you can use to </a:t>
            </a:r>
            <a:r>
              <a:rPr lang="en-US" sz="2400" u="sng" dirty="0" smtClean="0"/>
              <a:t>define and manage your </a:t>
            </a:r>
            <a:r>
              <a:rPr lang="en-US" sz="2400" u="sng" dirty="0" err="1" smtClean="0"/>
              <a:t>serverless</a:t>
            </a:r>
            <a:r>
              <a:rPr lang="en-US" sz="2400" u="sng" dirty="0" smtClean="0"/>
              <a:t> application infrastructure code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AWS SAM template specification is: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Built on AWS </a:t>
            </a:r>
            <a:r>
              <a:rPr lang="en-US" sz="2200" i="1" dirty="0" err="1" smtClean="0">
                <a:solidFill>
                  <a:srgbClr val="C00000"/>
                </a:solidFill>
              </a:rPr>
              <a:t>CloudFormation</a:t>
            </a:r>
            <a:r>
              <a:rPr lang="en-US" sz="2200" dirty="0" smtClean="0"/>
              <a:t> – Use the AWS </a:t>
            </a:r>
            <a:r>
              <a:rPr lang="en-US" sz="2200" dirty="0" err="1" smtClean="0"/>
              <a:t>CloudFormation</a:t>
            </a:r>
            <a:r>
              <a:rPr lang="en-US" sz="2200" dirty="0" smtClean="0"/>
              <a:t> syntax directly within your AWS SAM template.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An extension of AWS </a:t>
            </a:r>
            <a:r>
              <a:rPr lang="en-US" sz="2200" i="1" dirty="0" err="1" smtClean="0">
                <a:solidFill>
                  <a:srgbClr val="C00000"/>
                </a:solidFill>
              </a:rPr>
              <a:t>CloudFormation</a:t>
            </a:r>
            <a:r>
              <a:rPr lang="en-US" sz="2200" dirty="0" smtClean="0"/>
              <a:t> – AWS SAM offers its own unique syntax that focuses specifically on speeding up </a:t>
            </a:r>
            <a:r>
              <a:rPr lang="en-US" sz="2200" dirty="0" err="1" smtClean="0"/>
              <a:t>serverless</a:t>
            </a:r>
            <a:r>
              <a:rPr lang="en-US" sz="2200" dirty="0" smtClean="0"/>
              <a:t> development.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function</a:t>
            </a:r>
            <a:r>
              <a:rPr lang="en-US" sz="2400" dirty="0" smtClean="0"/>
              <a:t> that contains the logic to process the request.</a:t>
            </a:r>
          </a:p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HTTP API</a:t>
            </a:r>
            <a:r>
              <a:rPr lang="en-US" sz="2400" dirty="0" smtClean="0"/>
              <a:t> to serve as communication between the client (requestor) and the application.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database</a:t>
            </a:r>
            <a:r>
              <a:rPr lang="en-US" sz="2400" dirty="0" smtClean="0"/>
              <a:t> to store items.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Permissions</a:t>
            </a:r>
            <a:r>
              <a:rPr lang="en-US" sz="2400" dirty="0" smtClean="0"/>
              <a:t> for the application to run securely.</a:t>
            </a:r>
          </a:p>
          <a:p>
            <a:endParaRPr lang="en-US" sz="2400" dirty="0"/>
          </a:p>
        </p:txBody>
      </p:sp>
      <p:pic>
        <p:nvPicPr>
          <p:cNvPr id="3074" name="Picture 2" descr="https://docs.aws.amazon.com/images/serverless-application-model/latest/developerguide/images/what-is-sam-0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114800"/>
            <a:ext cx="6791325" cy="2028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application's infrastructure code can be defined in the following AWS SAM template: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8229600" cy="36317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 dirty="0" err="1" smtClean="0">
                <a:latin typeface="Consolas" pitchFamily="49" charset="0"/>
              </a:rPr>
              <a:t>AWSTemplateFormatVersion</a:t>
            </a:r>
            <a:r>
              <a:rPr lang="en-US" sz="1000" dirty="0" smtClean="0">
                <a:latin typeface="Consolas" pitchFamily="49" charset="0"/>
              </a:rPr>
              <a:t>: 2010-09-09</a:t>
            </a:r>
          </a:p>
          <a:p>
            <a:r>
              <a:rPr lang="en-US" sz="1000" dirty="0" smtClean="0">
                <a:latin typeface="Consolas" pitchFamily="49" charset="0"/>
              </a:rPr>
              <a:t>Transform: AWS::Serverless-2016-10-31</a:t>
            </a:r>
          </a:p>
          <a:p>
            <a:r>
              <a:rPr lang="en-US" sz="1000" dirty="0" smtClean="0">
                <a:latin typeface="Consolas" pitchFamily="49" charset="0"/>
              </a:rPr>
              <a:t>Resources:</a:t>
            </a:r>
          </a:p>
          <a:p>
            <a:r>
              <a:rPr lang="en-US" sz="1000" dirty="0" smtClean="0">
                <a:latin typeface="Consolas" pitchFamily="49" charset="0"/>
              </a:rPr>
              <a:t>  </a:t>
            </a:r>
            <a:r>
              <a:rPr lang="en-US" sz="1000" dirty="0" err="1" smtClean="0">
                <a:latin typeface="Consolas" pitchFamily="49" charset="0"/>
              </a:rPr>
              <a:t>getAllItemsFunction</a:t>
            </a:r>
            <a:r>
              <a:rPr lang="en-US" sz="1000" dirty="0" smtClean="0">
                <a:latin typeface="Consolas" pitchFamily="49" charset="0"/>
              </a:rPr>
              <a:t>:</a:t>
            </a:r>
          </a:p>
          <a:p>
            <a:r>
              <a:rPr lang="en-US" sz="1000" dirty="0" smtClean="0">
                <a:latin typeface="Consolas" pitchFamily="49" charset="0"/>
              </a:rPr>
              <a:t>    Type: AWS::</a:t>
            </a:r>
            <a:r>
              <a:rPr lang="en-US" sz="1000" dirty="0" err="1" smtClean="0">
                <a:latin typeface="Consolas" pitchFamily="49" charset="0"/>
              </a:rPr>
              <a:t>Serverless</a:t>
            </a:r>
            <a:r>
              <a:rPr lang="en-US" sz="1000" dirty="0" smtClean="0">
                <a:latin typeface="Consolas" pitchFamily="49" charset="0"/>
              </a:rPr>
              <a:t>::Function</a:t>
            </a:r>
          </a:p>
          <a:p>
            <a:r>
              <a:rPr lang="en-US" sz="1000" dirty="0" smtClean="0">
                <a:latin typeface="Consolas" pitchFamily="49" charset="0"/>
              </a:rPr>
              <a:t>    Properties:</a:t>
            </a:r>
          </a:p>
          <a:p>
            <a:r>
              <a:rPr lang="en-US" sz="1000" dirty="0" smtClean="0">
                <a:latin typeface="Consolas" pitchFamily="49" charset="0"/>
              </a:rPr>
              <a:t>      Handler: </a:t>
            </a:r>
            <a:r>
              <a:rPr lang="en-US" sz="1000" dirty="0" err="1" smtClean="0">
                <a:latin typeface="Consolas" pitchFamily="49" charset="0"/>
              </a:rPr>
              <a:t>src</a:t>
            </a:r>
            <a:r>
              <a:rPr lang="en-US" sz="1000" dirty="0" smtClean="0">
                <a:latin typeface="Consolas" pitchFamily="49" charset="0"/>
              </a:rPr>
              <a:t>/get-all-</a:t>
            </a:r>
            <a:r>
              <a:rPr lang="en-US" sz="1000" dirty="0" err="1" smtClean="0">
                <a:latin typeface="Consolas" pitchFamily="49" charset="0"/>
              </a:rPr>
              <a:t>items.getAllItemsHandler</a:t>
            </a:r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Runtime: nodejs12.x</a:t>
            </a:r>
          </a:p>
          <a:p>
            <a:r>
              <a:rPr lang="en-US" sz="1000" dirty="0" smtClean="0">
                <a:latin typeface="Consolas" pitchFamily="49" charset="0"/>
              </a:rPr>
              <a:t>      Events:</a:t>
            </a:r>
          </a:p>
          <a:p>
            <a:r>
              <a:rPr lang="en-US" sz="1000" dirty="0" smtClean="0">
                <a:latin typeface="Consolas" pitchFamily="49" charset="0"/>
              </a:rPr>
              <a:t>        </a:t>
            </a:r>
            <a:r>
              <a:rPr lang="en-US" sz="1000" dirty="0" err="1" smtClean="0">
                <a:latin typeface="Consolas" pitchFamily="49" charset="0"/>
              </a:rPr>
              <a:t>Api</a:t>
            </a:r>
            <a:r>
              <a:rPr lang="en-US" sz="1000" dirty="0" smtClean="0">
                <a:latin typeface="Consolas" pitchFamily="49" charset="0"/>
              </a:rPr>
              <a:t>:</a:t>
            </a:r>
          </a:p>
          <a:p>
            <a:r>
              <a:rPr lang="en-US" sz="1000" dirty="0" smtClean="0">
                <a:latin typeface="Consolas" pitchFamily="49" charset="0"/>
              </a:rPr>
              <a:t>          Type: </a:t>
            </a:r>
            <a:r>
              <a:rPr lang="en-US" sz="1000" dirty="0" err="1" smtClean="0">
                <a:latin typeface="Consolas" pitchFamily="49" charset="0"/>
              </a:rPr>
              <a:t>HttpApi</a:t>
            </a:r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    Properties:</a:t>
            </a:r>
          </a:p>
          <a:p>
            <a:r>
              <a:rPr lang="en-US" sz="1000" dirty="0" smtClean="0">
                <a:latin typeface="Consolas" pitchFamily="49" charset="0"/>
              </a:rPr>
              <a:t>            Path: /</a:t>
            </a:r>
          </a:p>
          <a:p>
            <a:r>
              <a:rPr lang="en-US" sz="1000" dirty="0" smtClean="0">
                <a:latin typeface="Consolas" pitchFamily="49" charset="0"/>
              </a:rPr>
              <a:t>            Method: GET</a:t>
            </a:r>
          </a:p>
          <a:p>
            <a:r>
              <a:rPr lang="en-US" sz="1000" dirty="0" smtClean="0">
                <a:latin typeface="Consolas" pitchFamily="49" charset="0"/>
              </a:rPr>
              <a:t>    Connectors:</a:t>
            </a:r>
          </a:p>
          <a:p>
            <a:r>
              <a:rPr lang="en-US" sz="1000" dirty="0" smtClean="0">
                <a:latin typeface="Consolas" pitchFamily="49" charset="0"/>
              </a:rPr>
              <a:t>      </a:t>
            </a:r>
            <a:r>
              <a:rPr lang="en-US" sz="1000" dirty="0" err="1" smtClean="0">
                <a:latin typeface="Consolas" pitchFamily="49" charset="0"/>
              </a:rPr>
              <a:t>MyConn</a:t>
            </a:r>
            <a:r>
              <a:rPr lang="en-US" sz="1000" dirty="0" smtClean="0">
                <a:latin typeface="Consolas" pitchFamily="49" charset="0"/>
              </a:rPr>
              <a:t>:</a:t>
            </a:r>
          </a:p>
          <a:p>
            <a:r>
              <a:rPr lang="en-US" sz="1000" dirty="0" smtClean="0">
                <a:latin typeface="Consolas" pitchFamily="49" charset="0"/>
              </a:rPr>
              <a:t>        Properties:</a:t>
            </a:r>
          </a:p>
          <a:p>
            <a:r>
              <a:rPr lang="en-US" sz="1000" dirty="0" smtClean="0">
                <a:latin typeface="Consolas" pitchFamily="49" charset="0"/>
              </a:rPr>
              <a:t>        Destination:</a:t>
            </a:r>
          </a:p>
          <a:p>
            <a:r>
              <a:rPr lang="en-US" sz="1000" dirty="0" smtClean="0">
                <a:latin typeface="Consolas" pitchFamily="49" charset="0"/>
              </a:rPr>
              <a:t>          Id: </a:t>
            </a:r>
            <a:r>
              <a:rPr lang="en-US" sz="1000" dirty="0" err="1" smtClean="0">
                <a:latin typeface="Consolas" pitchFamily="49" charset="0"/>
              </a:rPr>
              <a:t>SampleTable</a:t>
            </a:r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    Permissions:</a:t>
            </a:r>
          </a:p>
          <a:p>
            <a:r>
              <a:rPr lang="en-US" sz="1000" dirty="0" smtClean="0">
                <a:latin typeface="Consolas" pitchFamily="49" charset="0"/>
              </a:rPr>
              <a:t>            - Read</a:t>
            </a:r>
          </a:p>
          <a:p>
            <a:r>
              <a:rPr lang="en-US" sz="1000" dirty="0" smtClean="0">
                <a:latin typeface="Consolas" pitchFamily="49" charset="0"/>
              </a:rPr>
              <a:t>  </a:t>
            </a:r>
            <a:r>
              <a:rPr lang="en-US" sz="1000" dirty="0" err="1" smtClean="0">
                <a:latin typeface="Consolas" pitchFamily="49" charset="0"/>
              </a:rPr>
              <a:t>SampleTable</a:t>
            </a:r>
            <a:r>
              <a:rPr lang="en-US" sz="1000" dirty="0" smtClean="0">
                <a:latin typeface="Consolas" pitchFamily="49" charset="0"/>
              </a:rPr>
              <a:t>:</a:t>
            </a:r>
          </a:p>
          <a:p>
            <a:r>
              <a:rPr lang="en-US" sz="1000" dirty="0" smtClean="0">
                <a:latin typeface="Consolas" pitchFamily="49" charset="0"/>
              </a:rPr>
              <a:t>    Type: AWS::</a:t>
            </a:r>
            <a:r>
              <a:rPr lang="en-US" sz="1000" dirty="0" err="1" smtClean="0">
                <a:latin typeface="Consolas" pitchFamily="49" charset="0"/>
              </a:rPr>
              <a:t>Serverless</a:t>
            </a:r>
            <a:r>
              <a:rPr lang="en-US" sz="1000" dirty="0" smtClean="0">
                <a:latin typeface="Consolas" pitchFamily="49" charset="0"/>
              </a:rPr>
              <a:t>::</a:t>
            </a:r>
            <a:r>
              <a:rPr lang="en-US" sz="1000" dirty="0" err="1" smtClean="0">
                <a:latin typeface="Consolas" pitchFamily="49" charset="0"/>
              </a:rPr>
              <a:t>SimpleTable</a:t>
            </a:r>
            <a:endParaRPr lang="en-US" sz="1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SAM 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</a:t>
            </a:r>
            <a:r>
              <a:rPr lang="en-US" sz="2800" i="1" dirty="0" smtClean="0">
                <a:solidFill>
                  <a:srgbClr val="C00000"/>
                </a:solidFill>
              </a:rPr>
              <a:t>AWS SAM CLI</a:t>
            </a:r>
            <a:r>
              <a:rPr lang="en-US" sz="2800" dirty="0" smtClean="0"/>
              <a:t> is a </a:t>
            </a:r>
            <a:r>
              <a:rPr lang="en-US" sz="2800" u="sng" dirty="0" smtClean="0"/>
              <a:t>command line tool</a:t>
            </a:r>
            <a:r>
              <a:rPr lang="en-US" sz="2800" dirty="0" smtClean="0"/>
              <a:t> that you can use with AWS SAM templates and supported third-party integrations to build and run your </a:t>
            </a:r>
            <a:r>
              <a:rPr lang="en-US" sz="2800" dirty="0" err="1" smtClean="0"/>
              <a:t>serverless</a:t>
            </a:r>
            <a:r>
              <a:rPr lang="en-US" sz="2800" dirty="0" smtClean="0"/>
              <a:t> applications.</a:t>
            </a:r>
          </a:p>
          <a:p>
            <a:r>
              <a:rPr lang="en-US" sz="2800" dirty="0" smtClean="0"/>
              <a:t>Use the AWS SAM CLI to:</a:t>
            </a:r>
          </a:p>
          <a:p>
            <a:pPr lvl="1"/>
            <a:r>
              <a:rPr lang="en-US" sz="2400" dirty="0" smtClean="0"/>
              <a:t>Quickly initialize a new application project.</a:t>
            </a:r>
          </a:p>
          <a:p>
            <a:pPr lvl="1"/>
            <a:r>
              <a:rPr lang="en-US" sz="2400" dirty="0" smtClean="0"/>
              <a:t>Build your application for deployment.</a:t>
            </a:r>
          </a:p>
          <a:p>
            <a:pPr lvl="1"/>
            <a:r>
              <a:rPr lang="en-US" sz="2400" dirty="0" smtClean="0"/>
              <a:t>Perform local debugging and testing.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Deploy</a:t>
            </a:r>
            <a:r>
              <a:rPr lang="en-US" sz="2400" dirty="0" smtClean="0"/>
              <a:t> your application.</a:t>
            </a:r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AWS SAM 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https://docs.aws.amazon.com/serverless-application-model/latest/developerguide/install-sam-cli.html</a:t>
            </a:r>
            <a:endParaRPr lang="en-US" sz="2400" dirty="0" smtClean="0"/>
          </a:p>
          <a:p>
            <a:endParaRPr lang="en-US" sz="2000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1400" y="2654300"/>
            <a:ext cx="4521200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AWS SAM CLI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sam</a:t>
            </a:r>
            <a:r>
              <a:rPr lang="en-US" sz="2400" dirty="0" smtClean="0">
                <a:latin typeface="Consolas" pitchFamily="49" charset="0"/>
              </a:rPr>
              <a:t> --version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743200"/>
            <a:ext cx="6434138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Introduce "Hello World"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https://docs.aws.amazon.com/serverless-application-model/latest/developerguide/serverless-getting-started-hello-world.html</a:t>
            </a:r>
            <a:endParaRPr lang="en-US" sz="2000" dirty="0" smtClean="0"/>
          </a:p>
        </p:txBody>
      </p:sp>
      <p:pic>
        <p:nvPicPr>
          <p:cNvPr id="27650" name="Picture 2" descr="A diagram of a Lambda function that's invoked when you send a GET request to the API Gateway endpoint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743200"/>
            <a:ext cx="5172075" cy="2886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Initialize the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sam</a:t>
            </a:r>
            <a:r>
              <a:rPr lang="en-US" sz="2400" dirty="0" smtClean="0">
                <a:latin typeface="Consolas" pitchFamily="49" charset="0"/>
              </a:rPr>
              <a:t> init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6488" y="3016250"/>
            <a:ext cx="6931025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a Template</a:t>
            </a:r>
            <a:endParaRPr lang="en-US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8538" y="2162175"/>
            <a:ext cx="7146925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a Runtime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752600"/>
            <a:ext cx="7506653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5. Review the  Application Information</a:t>
            </a:r>
            <a:endParaRPr lang="en-US" sz="4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1981200"/>
            <a:ext cx="68675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Review the Application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cd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hellosam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tree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7900" y="2987675"/>
            <a:ext cx="4648200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Build the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sam</a:t>
            </a:r>
            <a:r>
              <a:rPr lang="en-US" sz="2400" dirty="0" smtClean="0">
                <a:latin typeface="Consolas" pitchFamily="49" charset="0"/>
              </a:rPr>
              <a:t> build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2438400"/>
            <a:ext cx="68675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Create Access Key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286000"/>
            <a:ext cx="7132320" cy="308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Select a Use Case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057400"/>
            <a:ext cx="7235746" cy="3245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Store Access and Secret Key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590800"/>
            <a:ext cx="7126014" cy="2520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Configure AWS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aws</a:t>
            </a:r>
            <a:r>
              <a:rPr lang="en-US" sz="2400" dirty="0" smtClean="0">
                <a:latin typeface="Consolas" pitchFamily="49" charset="0"/>
              </a:rPr>
              <a:t> configure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667000"/>
            <a:ext cx="7310438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Deploy the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sam</a:t>
            </a:r>
            <a:r>
              <a:rPr lang="en-US" sz="2400" dirty="0" smtClean="0">
                <a:latin typeface="Consolas" pitchFamily="49" charset="0"/>
              </a:rPr>
              <a:t> deploy --guided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7863" y="2444750"/>
            <a:ext cx="7788275" cy="342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13. Review the Deployment Information</a:t>
            </a:r>
            <a:endParaRPr lang="en-US" sz="38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7863" y="2063750"/>
            <a:ext cx="7788275" cy="342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14. Confirm the Deployment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7863" y="2216150"/>
            <a:ext cx="7788275" cy="342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15. Review or Get the Endpoints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sam</a:t>
            </a:r>
            <a:r>
              <a:rPr lang="en-US" sz="2400" dirty="0" smtClean="0">
                <a:latin typeface="Consolas" pitchFamily="49" charset="0"/>
              </a:rPr>
              <a:t> list endpoints --output </a:t>
            </a:r>
            <a:r>
              <a:rPr lang="en-US" sz="2400" dirty="0" err="1" smtClean="0">
                <a:latin typeface="Consolas" pitchFamily="49" charset="0"/>
              </a:rPr>
              <a:t>json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7863" y="2673350"/>
            <a:ext cx="7788275" cy="342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16. Test the App</a:t>
            </a:r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5125" y="2951163"/>
            <a:ext cx="5873750" cy="95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17. Delete the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sam</a:t>
            </a:r>
            <a:r>
              <a:rPr lang="en-US" sz="2400" dirty="0" smtClean="0">
                <a:latin typeface="Consolas" pitchFamily="49" charset="0"/>
              </a:rPr>
              <a:t> delete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7863" y="2819400"/>
            <a:ext cx="77882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18. List all Stacks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aws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cloudformation</a:t>
            </a:r>
            <a:r>
              <a:rPr lang="en-US" sz="2200" dirty="0" smtClean="0">
                <a:latin typeface="Consolas" pitchFamily="49" charset="0"/>
              </a:rPr>
              <a:t> list-stacks  --query "</a:t>
            </a:r>
            <a:r>
              <a:rPr lang="en-US" sz="2200" dirty="0" err="1" smtClean="0">
                <a:latin typeface="Consolas" pitchFamily="49" charset="0"/>
              </a:rPr>
              <a:t>StackSummaries</a:t>
            </a:r>
            <a:r>
              <a:rPr lang="en-US" sz="2200" dirty="0" smtClean="0">
                <a:latin typeface="Consolas" pitchFamily="49" charset="0"/>
              </a:rPr>
              <a:t>[].[</a:t>
            </a:r>
            <a:r>
              <a:rPr lang="en-US" sz="2200" dirty="0" err="1" smtClean="0">
                <a:latin typeface="Consolas" pitchFamily="49" charset="0"/>
              </a:rPr>
              <a:t>StackName,StackStatus</a:t>
            </a:r>
            <a:r>
              <a:rPr lang="en-US" sz="2200" dirty="0" smtClean="0">
                <a:latin typeface="Consolas" pitchFamily="49" charset="0"/>
              </a:rPr>
              <a:t>]" --output table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38" y="3032125"/>
            <a:ext cx="5572125" cy="306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Manual Software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Fetch source code or binaries</a:t>
            </a:r>
          </a:p>
          <a:p>
            <a:r>
              <a:rPr lang="en-US" dirty="0" smtClean="0"/>
              <a:t>Install dependencies</a:t>
            </a:r>
          </a:p>
          <a:p>
            <a:r>
              <a:rPr lang="en-US" dirty="0" smtClean="0"/>
              <a:t>Edit configuration files</a:t>
            </a:r>
          </a:p>
          <a:p>
            <a:r>
              <a:rPr lang="en-US" dirty="0" smtClean="0"/>
              <a:t>Start services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Automating Deployment?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ensure high availability and scalability, you need to configure an Auto Scaling group to launch EC2 instances automatically. A new machine could spin up at any time, so deploying changes manually is not an option.</a:t>
            </a:r>
          </a:p>
          <a:p>
            <a:r>
              <a:rPr lang="en-US" sz="2400" dirty="0" smtClean="0"/>
              <a:t>Manual changes are error prone and expensive to reproduce. Automating increases reliability and reduces the costs per deployment.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Service Catalog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https://aws.amazon.com/servicecatalog/</a:t>
            </a:r>
            <a:endParaRPr lang="en-US" sz="2400" dirty="0" smtClean="0"/>
          </a:p>
          <a:p>
            <a:r>
              <a:rPr lang="en-US" sz="2400" dirty="0" smtClean="0"/>
              <a:t>Create, share, organize, and govern your </a:t>
            </a:r>
            <a:r>
              <a:rPr lang="en-US" sz="2400" dirty="0" err="1" smtClean="0"/>
              <a:t>curated</a:t>
            </a:r>
            <a:r>
              <a:rPr lang="en-US" sz="2400" dirty="0" smtClean="0"/>
              <a:t> </a:t>
            </a:r>
            <a:r>
              <a:rPr lang="en-US" sz="2400" dirty="0" err="1" smtClean="0"/>
              <a:t>IaC</a:t>
            </a:r>
            <a:r>
              <a:rPr lang="en-US" sz="2400" dirty="0" smtClean="0"/>
              <a:t> templates.</a:t>
            </a:r>
          </a:p>
          <a:p>
            <a:r>
              <a:rPr lang="en-US" sz="2400" b="1" dirty="0" smtClean="0"/>
              <a:t>Why Service Catalog?</a:t>
            </a:r>
          </a:p>
          <a:p>
            <a:pPr lvl="1"/>
            <a:r>
              <a:rPr lang="en-US" sz="2000" dirty="0" smtClean="0"/>
              <a:t>Create, organize, and govern a </a:t>
            </a:r>
            <a:r>
              <a:rPr lang="en-US" sz="2000" dirty="0" err="1" smtClean="0"/>
              <a:t>curated</a:t>
            </a:r>
            <a:r>
              <a:rPr lang="en-US" sz="2000" dirty="0" smtClean="0"/>
              <a:t> catalog of AWS resources that can be shared at the permissions level so you can quickly provision approved cloud resources without needing direct access to the underlying AWS services.</a:t>
            </a:r>
          </a:p>
          <a:p>
            <a:r>
              <a:rPr lang="en-US" sz="2400" b="1" dirty="0" smtClean="0"/>
              <a:t>Service Catalog</a:t>
            </a:r>
            <a:r>
              <a:rPr lang="en-US" sz="2400" dirty="0" smtClean="0"/>
              <a:t> = "Company IT controls what users can launch"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Deploy the age detection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aws</a:t>
            </a:r>
            <a:r>
              <a:rPr lang="en-US" sz="2400" dirty="0" smtClean="0"/>
              <a:t> s3 cp frontend/index.html s3://age-detection-app-frontend-135319629286/index.html</a:t>
            </a:r>
          </a:p>
          <a:p>
            <a:r>
              <a:rPr lang="en-US" sz="2400" dirty="0" err="1" smtClean="0"/>
              <a:t>aws</a:t>
            </a:r>
            <a:r>
              <a:rPr lang="en-US" sz="2400" dirty="0" smtClean="0"/>
              <a:t> s3 cp frontend/favicon.ico s3://age-detection-app-frontend-135319629286/favicon.ico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Enable CORS for S3 Bucket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00200"/>
            <a:ext cx="65024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114800" y="1600200"/>
            <a:ext cx="4572000" cy="4770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600" dirty="0" smtClean="0"/>
              <a:t>[</a:t>
            </a:r>
          </a:p>
          <a:p>
            <a:r>
              <a:rPr lang="en-US" sz="1600" dirty="0" smtClean="0"/>
              <a:t>    {</a:t>
            </a:r>
          </a:p>
          <a:p>
            <a:r>
              <a:rPr lang="en-US" sz="1600" dirty="0" smtClean="0"/>
              <a:t>        "</a:t>
            </a:r>
            <a:r>
              <a:rPr lang="en-US" sz="1600" dirty="0" err="1" smtClean="0"/>
              <a:t>AllowedHeaders</a:t>
            </a:r>
            <a:r>
              <a:rPr lang="en-US" sz="1600" dirty="0" smtClean="0"/>
              <a:t>": [</a:t>
            </a:r>
          </a:p>
          <a:p>
            <a:r>
              <a:rPr lang="en-US" sz="1600" dirty="0" smtClean="0"/>
              <a:t>            "*"</a:t>
            </a:r>
          </a:p>
          <a:p>
            <a:r>
              <a:rPr lang="en-US" sz="1600" dirty="0" smtClean="0"/>
              <a:t>        ],</a:t>
            </a:r>
          </a:p>
          <a:p>
            <a:r>
              <a:rPr lang="en-US" sz="1600" dirty="0" smtClean="0"/>
              <a:t>        "</a:t>
            </a:r>
            <a:r>
              <a:rPr lang="en-US" sz="1600" dirty="0" err="1" smtClean="0"/>
              <a:t>AllowedMethods</a:t>
            </a:r>
            <a:r>
              <a:rPr lang="en-US" sz="1600" dirty="0" smtClean="0"/>
              <a:t>": [</a:t>
            </a:r>
          </a:p>
          <a:p>
            <a:r>
              <a:rPr lang="en-US" sz="1600" dirty="0" smtClean="0"/>
              <a:t>            "GET",</a:t>
            </a:r>
          </a:p>
          <a:p>
            <a:r>
              <a:rPr lang="en-US" sz="1600" dirty="0" smtClean="0"/>
              <a:t>            "PUT",</a:t>
            </a:r>
          </a:p>
          <a:p>
            <a:r>
              <a:rPr lang="en-US" sz="1600" dirty="0" smtClean="0"/>
              <a:t>            "POST"</a:t>
            </a:r>
          </a:p>
          <a:p>
            <a:r>
              <a:rPr lang="en-US" sz="1600" dirty="0" smtClean="0"/>
              <a:t>        ],</a:t>
            </a:r>
          </a:p>
          <a:p>
            <a:r>
              <a:rPr lang="en-US" sz="1600" dirty="0" smtClean="0"/>
              <a:t>        "</a:t>
            </a:r>
            <a:r>
              <a:rPr lang="en-US" sz="1600" dirty="0" err="1" smtClean="0"/>
              <a:t>AllowedOrigins</a:t>
            </a:r>
            <a:r>
              <a:rPr lang="en-US" sz="1600" dirty="0" smtClean="0"/>
              <a:t>": [</a:t>
            </a:r>
          </a:p>
          <a:p>
            <a:r>
              <a:rPr lang="en-US" sz="1600" dirty="0" smtClean="0"/>
              <a:t>            "*"</a:t>
            </a:r>
          </a:p>
          <a:p>
            <a:r>
              <a:rPr lang="en-US" sz="1600" dirty="0" smtClean="0"/>
              <a:t>        ],</a:t>
            </a:r>
          </a:p>
          <a:p>
            <a:r>
              <a:rPr lang="en-US" sz="1600" dirty="0" smtClean="0"/>
              <a:t>        "</a:t>
            </a:r>
            <a:r>
              <a:rPr lang="en-US" sz="1600" dirty="0" err="1" smtClean="0"/>
              <a:t>ExposeHeaders</a:t>
            </a:r>
            <a:r>
              <a:rPr lang="en-US" sz="1600" dirty="0" smtClean="0"/>
              <a:t>": [</a:t>
            </a:r>
          </a:p>
          <a:p>
            <a:r>
              <a:rPr lang="en-US" sz="1600" dirty="0" smtClean="0"/>
              <a:t>            "</a:t>
            </a:r>
            <a:r>
              <a:rPr lang="en-US" sz="1600" dirty="0" err="1" smtClean="0"/>
              <a:t>ETag</a:t>
            </a:r>
            <a:r>
              <a:rPr lang="en-US" sz="1600" dirty="0" smtClean="0"/>
              <a:t>"</a:t>
            </a:r>
          </a:p>
          <a:p>
            <a:r>
              <a:rPr lang="en-US" sz="1600" dirty="0" smtClean="0"/>
              <a:t>        ],</a:t>
            </a:r>
          </a:p>
          <a:p>
            <a:r>
              <a:rPr lang="en-US" sz="1600" dirty="0" smtClean="0"/>
              <a:t>        "</a:t>
            </a:r>
            <a:r>
              <a:rPr lang="en-US" sz="1600" dirty="0" err="1" smtClean="0"/>
              <a:t>MaxAgeSeconds</a:t>
            </a:r>
            <a:r>
              <a:rPr lang="en-US" sz="1600" dirty="0" smtClean="0"/>
              <a:t>": 3000</a:t>
            </a:r>
          </a:p>
          <a:p>
            <a:r>
              <a:rPr lang="en-US" sz="1600" dirty="0" smtClean="0"/>
              <a:t>    }</a:t>
            </a:r>
          </a:p>
          <a:p>
            <a:r>
              <a:rPr lang="en-US" sz="1600" dirty="0" smtClean="0"/>
              <a:t>]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3" y="1676402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19819</TotalTime>
  <Words>712</Words>
  <Application>Microsoft Office PowerPoint</Application>
  <PresentationFormat>On-screen Show (4:3)</PresentationFormat>
  <Paragraphs>130</Paragraphs>
  <Slides>39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AWS Serverless Application Model</vt:lpstr>
      <vt:lpstr>Objectives</vt:lpstr>
      <vt:lpstr>Contents</vt:lpstr>
      <vt:lpstr>References</vt:lpstr>
      <vt:lpstr>AWS Serverless Application Model</vt:lpstr>
      <vt:lpstr>AWS SAM Template Specification</vt:lpstr>
      <vt:lpstr>Example Application</vt:lpstr>
      <vt:lpstr>Example Template</vt:lpstr>
      <vt:lpstr>AWS SAM CLI</vt:lpstr>
      <vt:lpstr>1. Install AWS SAM CLI</vt:lpstr>
      <vt:lpstr>2. Verify AWS SAM CLI Installation</vt:lpstr>
      <vt:lpstr>Slide 12</vt:lpstr>
      <vt:lpstr>1. Introduce "Hello World" App</vt:lpstr>
      <vt:lpstr>2. Initialize the App</vt:lpstr>
      <vt:lpstr>3. Select a Template</vt:lpstr>
      <vt:lpstr>4. Select a Runtime</vt:lpstr>
      <vt:lpstr>5. Review the  Application Information</vt:lpstr>
      <vt:lpstr>6. Review the Application Structure</vt:lpstr>
      <vt:lpstr>7. Build the Application</vt:lpstr>
      <vt:lpstr>8. Create Access Key</vt:lpstr>
      <vt:lpstr>9. Select a Use Case</vt:lpstr>
      <vt:lpstr>10. Store Access and Secret Key</vt:lpstr>
      <vt:lpstr>11. Configure AWS</vt:lpstr>
      <vt:lpstr>12. Deploy the Application</vt:lpstr>
      <vt:lpstr>13. Review the Deployment Information</vt:lpstr>
      <vt:lpstr>14. Confirm the Deployment</vt:lpstr>
      <vt:lpstr>15. Review or Get the Endpoints</vt:lpstr>
      <vt:lpstr>16. Test the App</vt:lpstr>
      <vt:lpstr>17. Delete the App</vt:lpstr>
      <vt:lpstr>18. List all Stacks</vt:lpstr>
      <vt:lpstr>Slide 31</vt:lpstr>
      <vt:lpstr>Manual Software Deployment</vt:lpstr>
      <vt:lpstr>Why Automating Deployment?</vt:lpstr>
      <vt:lpstr>Slide 34</vt:lpstr>
      <vt:lpstr>AWS Service Catalog</vt:lpstr>
      <vt:lpstr>Slide 36</vt:lpstr>
      <vt:lpstr>1. Deploy the age detection app</vt:lpstr>
      <vt:lpstr>2. Enable CORS for S3 Bucket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5726</cp:revision>
  <dcterms:created xsi:type="dcterms:W3CDTF">2007-10-06T08:25:13Z</dcterms:created>
  <dcterms:modified xsi:type="dcterms:W3CDTF">2025-12-21T19:59:03Z</dcterms:modified>
</cp:coreProperties>
</file>