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handoutMasterIdLst>
    <p:handoutMasterId r:id="rId34"/>
  </p:handoutMasterIdLst>
  <p:sldIdLst>
    <p:sldId id="256" r:id="rId2"/>
    <p:sldId id="431" r:id="rId3"/>
    <p:sldId id="603" r:id="rId4"/>
    <p:sldId id="423" r:id="rId5"/>
    <p:sldId id="619" r:id="rId6"/>
    <p:sldId id="620" r:id="rId7"/>
    <p:sldId id="621" r:id="rId8"/>
    <p:sldId id="622" r:id="rId9"/>
    <p:sldId id="605" r:id="rId10"/>
    <p:sldId id="606" r:id="rId11"/>
    <p:sldId id="607" r:id="rId12"/>
    <p:sldId id="608" r:id="rId13"/>
    <p:sldId id="609" r:id="rId14"/>
    <p:sldId id="610" r:id="rId15"/>
    <p:sldId id="611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04" r:id="rId24"/>
    <p:sldId id="623" r:id="rId25"/>
    <p:sldId id="624" r:id="rId26"/>
    <p:sldId id="625" r:id="rId27"/>
    <p:sldId id="626" r:id="rId28"/>
    <p:sldId id="627" r:id="rId29"/>
    <p:sldId id="628" r:id="rId30"/>
    <p:sldId id="629" r:id="rId31"/>
    <p:sldId id="343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60" autoAdjust="0"/>
    <p:restoredTop sz="94667" autoAdjust="0"/>
  </p:normalViewPr>
  <p:slideViewPr>
    <p:cSldViewPr>
      <p:cViewPr>
        <p:scale>
          <a:sx n="50" d="100"/>
          <a:sy n="50" d="100"/>
        </p:scale>
        <p:origin x="-147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apache.org/dist/spark/spark-3.0.3/spark-3.0.3-bin-hadoop2.7.tgz" TargetMode="External"/><Relationship Id="rId2" Type="http://schemas.openxmlformats.org/officeDocument/2006/relationships/hyperlink" Target="https://linuxgenie.net/how-to-install-apache-spark-on-ubuntu-22-04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navpatel1092/Classification-of-Forest-Cover-Type/raw/master/covtype.data.gz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192.168.1.19:8080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GoogleCloudPlatform/cloudml-samples/blob/master/notebooks/tensorflow/getting-started-keras.ipynb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Machine Learning in the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Akash</a:t>
            </a:r>
            <a:r>
              <a:rPr lang="en-US" sz="2000" dirty="0" smtClean="0"/>
              <a:t> </a:t>
            </a:r>
            <a:r>
              <a:rPr lang="en-US" sz="2000" dirty="0" err="1" smtClean="0"/>
              <a:t>Tandon</a:t>
            </a:r>
            <a:r>
              <a:rPr lang="en-US" sz="2000" dirty="0" smtClean="0"/>
              <a:t> et al. (2022). Advanced Analytics with </a:t>
            </a:r>
            <a:r>
              <a:rPr lang="en-US" sz="2000" dirty="0" err="1" smtClean="0"/>
              <a:t>PySpark</a:t>
            </a:r>
            <a:r>
              <a:rPr lang="en-US" sz="2000" dirty="0" smtClean="0"/>
              <a:t>. O'Reilly Media.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Spark on </a:t>
            </a:r>
            <a:r>
              <a:rPr lang="en-US" dirty="0" err="1" smtClean="0"/>
              <a:t>Ubuntu</a:t>
            </a:r>
            <a:r>
              <a:rPr lang="en-US" dirty="0" smtClean="0"/>
              <a:t> 22.04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https://linuxgenie.net/how-to-install-apache-spark-on-ubuntu-22-04/</a:t>
            </a:r>
            <a:endParaRPr lang="en-US" sz="2000" dirty="0" smtClean="0"/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update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apt install default-</a:t>
            </a:r>
            <a:r>
              <a:rPr lang="en-US" sz="2000" dirty="0" err="1" smtClean="0">
                <a:latin typeface="Consolas" pitchFamily="49" charset="0"/>
              </a:rPr>
              <a:t>jdk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wget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hlinkClick r:id="rId3"/>
              </a:rPr>
              <a:t>https://archive.apache.org/dist/spark/spark-3.0.3/spark-3.0.3-bin-hadoop2.7.tgz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tar </a:t>
            </a:r>
            <a:r>
              <a:rPr lang="en-US" sz="2000" dirty="0" err="1" smtClean="0">
                <a:latin typeface="Consolas" pitchFamily="49" charset="0"/>
              </a:rPr>
              <a:t>xvf</a:t>
            </a:r>
            <a:r>
              <a:rPr lang="en-US" sz="2000" dirty="0" smtClean="0">
                <a:latin typeface="Consolas" pitchFamily="49" charset="0"/>
              </a:rPr>
              <a:t> spark-3.0.3-bin-hadoop2.7.tgz</a:t>
            </a: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mv</a:t>
            </a:r>
            <a:r>
              <a:rPr lang="en-US" sz="2000" dirty="0" smtClean="0">
                <a:latin typeface="Consolas" pitchFamily="49" charset="0"/>
              </a:rPr>
              <a:t> spark-3.0.3-bin-hadoop2.7/ /opt/spark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0338" y="4457700"/>
            <a:ext cx="62833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Configure Spark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nano</a:t>
            </a:r>
            <a:r>
              <a:rPr lang="en-US" sz="2000" dirty="0" smtClean="0">
                <a:latin typeface="Consolas" pitchFamily="49" charset="0"/>
              </a:rPr>
              <a:t> ~/.profile</a:t>
            </a:r>
          </a:p>
          <a:p>
            <a:pPr lvl="1"/>
            <a:r>
              <a:rPr lang="en-US" sz="1600" dirty="0" smtClean="0">
                <a:latin typeface="Consolas" pitchFamily="49" charset="0"/>
              </a:rPr>
              <a:t>export SPARK_HOME=/opt/spark </a:t>
            </a:r>
          </a:p>
          <a:p>
            <a:pPr lvl="1"/>
            <a:r>
              <a:rPr lang="en-US" sz="1600" dirty="0" smtClean="0">
                <a:latin typeface="Consolas" pitchFamily="49" charset="0"/>
              </a:rPr>
              <a:t>export PATH=$PATH:$SPARK_HOME/bin:$SPARK_HOME/</a:t>
            </a:r>
            <a:r>
              <a:rPr lang="en-US" sz="1600" dirty="0" err="1" smtClean="0">
                <a:latin typeface="Consolas" pitchFamily="49" charset="0"/>
              </a:rPr>
              <a:t>sbin</a:t>
            </a:r>
            <a:r>
              <a:rPr lang="en-US" sz="1600" dirty="0" smtClean="0">
                <a:latin typeface="Consolas" pitchFamily="49" charset="0"/>
              </a:rPr>
              <a:t> </a:t>
            </a:r>
          </a:p>
          <a:p>
            <a:pPr lvl="1"/>
            <a:r>
              <a:rPr lang="en-US" sz="1600" dirty="0" smtClean="0">
                <a:latin typeface="Consolas" pitchFamily="49" charset="0"/>
              </a:rPr>
              <a:t>export PYSPARK_PYTHON=/</a:t>
            </a:r>
            <a:r>
              <a:rPr lang="en-US" sz="1600" dirty="0" err="1" smtClean="0">
                <a:latin typeface="Consolas" pitchFamily="49" charset="0"/>
              </a:rPr>
              <a:t>usr</a:t>
            </a:r>
            <a:r>
              <a:rPr lang="en-US" sz="1600" dirty="0" smtClean="0">
                <a:latin typeface="Consolas" pitchFamily="49" charset="0"/>
              </a:rPr>
              <a:t>/bin/python3</a:t>
            </a:r>
          </a:p>
          <a:p>
            <a:r>
              <a:rPr lang="en-US" sz="2000" dirty="0" smtClean="0">
                <a:latin typeface="Consolas" pitchFamily="49" charset="0"/>
              </a:rPr>
              <a:t>source ~/.profile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581400"/>
            <a:ext cx="62833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Verify Spark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spark-shell --version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228850"/>
            <a:ext cx="6283325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PySpark</a:t>
            </a:r>
            <a:r>
              <a:rPr lang="en-US" dirty="0" smtClean="0"/>
              <a:t>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pip3 install </a:t>
            </a:r>
            <a:r>
              <a:rPr lang="en-US" sz="2400" dirty="0" err="1" smtClean="0"/>
              <a:t>pyspark</a:t>
            </a:r>
            <a:endParaRPr lang="en-US" sz="2400" dirty="0" smtClean="0"/>
          </a:p>
          <a:p>
            <a:r>
              <a:rPr lang="en-US" sz="2400" dirty="0" smtClean="0"/>
              <a:t>pip3 install </a:t>
            </a:r>
            <a:r>
              <a:rPr lang="en-US" sz="2400" dirty="0" err="1" smtClean="0"/>
              <a:t>pyspark</a:t>
            </a:r>
            <a:r>
              <a:rPr lang="en-US" sz="2400" dirty="0" smtClean="0"/>
              <a:t>[</a:t>
            </a:r>
            <a:r>
              <a:rPr lang="en-US" sz="2400" dirty="0" err="1" smtClean="0"/>
              <a:t>sql,ml,mllib</a:t>
            </a:r>
            <a:r>
              <a:rPr lang="en-US" sz="2400" dirty="0" smtClean="0"/>
              <a:t>]</a:t>
            </a:r>
          </a:p>
          <a:p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Launch </a:t>
            </a:r>
            <a:r>
              <a:rPr lang="en-US" dirty="0" err="1" smtClean="0"/>
              <a:t>PySpark</a:t>
            </a:r>
            <a:r>
              <a:rPr lang="en-US" dirty="0" smtClean="0"/>
              <a:t> Local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err="1" smtClean="0">
                <a:latin typeface="Consolas" pitchFamily="49" charset="0"/>
              </a:rPr>
              <a:t>pyspark</a:t>
            </a:r>
            <a:r>
              <a:rPr lang="en-US" sz="2000" b="1" dirty="0" smtClean="0">
                <a:latin typeface="Consolas" pitchFamily="49" charset="0"/>
              </a:rPr>
              <a:t> --master local[*]</a:t>
            </a:r>
          </a:p>
          <a:p>
            <a:r>
              <a:rPr lang="en-US" sz="2000" dirty="0" smtClean="0">
                <a:latin typeface="Consolas" pitchFamily="49" charset="0"/>
              </a:rPr>
              <a:t># </a:t>
            </a:r>
            <a:r>
              <a:rPr lang="en-US" sz="2000" dirty="0" smtClean="0"/>
              <a:t>local[N], N is the number of threads to run, </a:t>
            </a:r>
          </a:p>
          <a:p>
            <a:r>
              <a:rPr lang="en-US" sz="2000" dirty="0" smtClean="0"/>
              <a:t># * match the number of cores available.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143250"/>
            <a:ext cx="62833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Open </a:t>
            </a:r>
            <a:r>
              <a:rPr lang="en-US" dirty="0" err="1" smtClean="0"/>
              <a:t>SparkSession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SparkSession</a:t>
            </a:r>
            <a:r>
              <a:rPr lang="en-US" sz="2000" dirty="0" smtClean="0"/>
              <a:t> acts as an entry point to all Spark operations and data.</a:t>
            </a:r>
          </a:p>
          <a:p>
            <a:r>
              <a:rPr lang="en-US" sz="2000" b="1" dirty="0" smtClean="0">
                <a:latin typeface="Consolas" pitchFamily="49" charset="0"/>
              </a:rPr>
              <a:t>spark</a:t>
            </a:r>
            <a:endParaRPr lang="en-US" sz="2000" b="1" dirty="0">
              <a:latin typeface="Consolas" pitchFamily="49" charset="0"/>
            </a:endParaRP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914650"/>
            <a:ext cx="62833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linkage</a:t>
            </a: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linkage/</a:t>
            </a:r>
          </a:p>
          <a:p>
            <a:r>
              <a:rPr lang="en-US" sz="2000" dirty="0" smtClean="0">
                <a:latin typeface="Consolas" pitchFamily="49" charset="0"/>
              </a:rPr>
              <a:t>curl -L -o donation.zip https://bit.ly/1Aoywaq</a:t>
            </a:r>
          </a:p>
          <a:p>
            <a:r>
              <a:rPr lang="en-US" sz="2000" dirty="0" smtClean="0">
                <a:latin typeface="Consolas" pitchFamily="49" charset="0"/>
              </a:rPr>
              <a:t>unzip donation.zip</a:t>
            </a:r>
          </a:p>
          <a:p>
            <a:r>
              <a:rPr lang="en-US" sz="2000" dirty="0" smtClean="0">
                <a:latin typeface="Consolas" pitchFamily="49" charset="0"/>
              </a:rPr>
              <a:t>unzip 'block_*.zip'</a:t>
            </a:r>
            <a:endParaRPr lang="en-US" sz="20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</a:t>
            </a:r>
            <a:r>
              <a:rPr lang="en-US" dirty="0" err="1" smtClean="0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prev</a:t>
            </a:r>
            <a:r>
              <a:rPr lang="en-US" sz="2200" dirty="0" smtClean="0">
                <a:latin typeface="Consolas" pitchFamily="49" charset="0"/>
              </a:rPr>
              <a:t> = </a:t>
            </a:r>
            <a:r>
              <a:rPr lang="en-US" sz="2200" dirty="0" err="1" smtClean="0">
                <a:latin typeface="Consolas" pitchFamily="49" charset="0"/>
              </a:rPr>
              <a:t>spark.read.csv</a:t>
            </a:r>
            <a:r>
              <a:rPr lang="en-US" sz="2200" dirty="0" smtClean="0">
                <a:latin typeface="Consolas" pitchFamily="49" charset="0"/>
              </a:rPr>
              <a:t>("linkage/block*.csv")</a:t>
            </a:r>
          </a:p>
          <a:p>
            <a:r>
              <a:rPr lang="en-US" sz="2200" dirty="0" err="1" smtClean="0">
                <a:latin typeface="Consolas" pitchFamily="49" charset="0"/>
              </a:rPr>
              <a:t>Prev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400" dirty="0" err="1" smtClean="0"/>
              <a:t>prev.show</a:t>
            </a:r>
            <a:r>
              <a:rPr lang="en-US" sz="2400" dirty="0" smtClean="0"/>
              <a:t>(2)</a:t>
            </a:r>
            <a:endParaRPr lang="en-US" sz="2200" b="1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257550"/>
            <a:ext cx="62833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Print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parsed = </a:t>
            </a:r>
            <a:r>
              <a:rPr lang="en-US" sz="2000" dirty="0" err="1" smtClean="0">
                <a:latin typeface="Consolas" pitchFamily="49" charset="0"/>
              </a:rPr>
              <a:t>spark.read.option</a:t>
            </a:r>
            <a:r>
              <a:rPr lang="en-US" sz="2000" dirty="0" smtClean="0">
                <a:latin typeface="Consolas" pitchFamily="49" charset="0"/>
              </a:rPr>
              <a:t>("header", "true").option("</a:t>
            </a:r>
            <a:r>
              <a:rPr lang="en-US" sz="2000" dirty="0" err="1" smtClean="0">
                <a:latin typeface="Consolas" pitchFamily="49" charset="0"/>
              </a:rPr>
              <a:t>nullValue</a:t>
            </a:r>
            <a:r>
              <a:rPr lang="en-US" sz="2000" dirty="0" smtClean="0">
                <a:latin typeface="Consolas" pitchFamily="49" charset="0"/>
              </a:rPr>
              <a:t>", "?").option("</a:t>
            </a:r>
            <a:r>
              <a:rPr lang="en-US" sz="2000" dirty="0" err="1" smtClean="0">
                <a:latin typeface="Consolas" pitchFamily="49" charset="0"/>
              </a:rPr>
              <a:t>inferSchema</a:t>
            </a:r>
            <a:r>
              <a:rPr lang="en-US" sz="2000" dirty="0" smtClean="0">
                <a:latin typeface="Consolas" pitchFamily="49" charset="0"/>
              </a:rPr>
              <a:t>", "true").</a:t>
            </a:r>
            <a:r>
              <a:rPr lang="en-US" sz="2000" dirty="0" err="1" smtClean="0">
                <a:latin typeface="Consolas" pitchFamily="49" charset="0"/>
              </a:rPr>
              <a:t>csv</a:t>
            </a:r>
            <a:r>
              <a:rPr lang="en-US" sz="2000" dirty="0" smtClean="0">
                <a:latin typeface="Consolas" pitchFamily="49" charset="0"/>
              </a:rPr>
              <a:t>("linkage/block*.csv")</a:t>
            </a:r>
          </a:p>
          <a:p>
            <a:r>
              <a:rPr lang="en-US" sz="2000" dirty="0" err="1" smtClean="0">
                <a:latin typeface="Consolas" pitchFamily="49" charset="0"/>
              </a:rPr>
              <a:t>parsed.printSchema</a:t>
            </a:r>
            <a:r>
              <a:rPr lang="en-US" sz="2000" dirty="0" smtClean="0">
                <a:latin typeface="Consolas" pitchFamily="49" charset="0"/>
              </a:rPr>
              <a:t>()</a:t>
            </a:r>
            <a:endParaRPr lang="en-US" sz="2000" b="1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1438" y="3295650"/>
            <a:ext cx="39211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mkdir</a:t>
            </a:r>
            <a:r>
              <a:rPr lang="en-US" sz="2000" dirty="0" smtClean="0">
                <a:latin typeface="Consolas" pitchFamily="49" charset="0"/>
              </a:rPr>
              <a:t> data</a:t>
            </a:r>
          </a:p>
          <a:p>
            <a:r>
              <a:rPr lang="en-US" sz="2000" dirty="0" err="1" smtClean="0">
                <a:latin typeface="Consolas" pitchFamily="49" charset="0"/>
              </a:rPr>
              <a:t>cd</a:t>
            </a:r>
            <a:r>
              <a:rPr lang="en-US" sz="2000" dirty="0" smtClean="0">
                <a:latin typeface="Consolas" pitchFamily="49" charset="0"/>
              </a:rPr>
              <a:t> data/</a:t>
            </a:r>
          </a:p>
          <a:p>
            <a:r>
              <a:rPr lang="en-US" sz="2000" dirty="0" smtClean="0">
                <a:latin typeface="Consolas" pitchFamily="49" charset="0"/>
              </a:rPr>
              <a:t>curl -L -o </a:t>
            </a:r>
            <a:r>
              <a:rPr lang="en-US" sz="2000" dirty="0" err="1" smtClean="0">
                <a:latin typeface="Consolas" pitchFamily="49" charset="0"/>
              </a:rPr>
              <a:t>covtype.data.gz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hlinkClick r:id="rId2"/>
              </a:rPr>
              <a:t>https://github.com/manavpatel1092/Classification-of-Forest-Cover-Type/raw/master/covtype.data.gz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gzip</a:t>
            </a:r>
            <a:r>
              <a:rPr lang="en-US" sz="2000" dirty="0" smtClean="0">
                <a:latin typeface="Consolas" pitchFamily="49" charset="0"/>
              </a:rPr>
              <a:t> -d </a:t>
            </a:r>
            <a:r>
              <a:rPr lang="en-US" sz="2000" dirty="0" err="1" smtClean="0">
                <a:latin typeface="Consolas" pitchFamily="49" charset="0"/>
              </a:rPr>
              <a:t>covtype.data.gz</a:t>
            </a:r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</a:t>
            </a:r>
            <a:r>
              <a:rPr lang="en-US" dirty="0" err="1" smtClean="0"/>
              <a:t>MLflow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pip3 install </a:t>
            </a:r>
            <a:r>
              <a:rPr lang="en-US" sz="2000" dirty="0" err="1" smtClean="0">
                <a:latin typeface="Consolas" pitchFamily="49" charset="0"/>
              </a:rPr>
              <a:t>mlflow</a:t>
            </a:r>
            <a:endParaRPr lang="en-US" sz="20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Train a Model in </a:t>
            </a:r>
            <a:r>
              <a:rPr lang="en-US" dirty="0" err="1" smtClean="0"/>
              <a:t>pyspark</a:t>
            </a:r>
            <a:r>
              <a:rPr lang="en-US" dirty="0" smtClean="0"/>
              <a:t>-shell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 smtClean="0">
                <a:latin typeface="Consolas" pitchFamily="49" charset="0"/>
              </a:rPr>
              <a:t>from pyspark.ml import Pipeline</a:t>
            </a:r>
          </a:p>
          <a:p>
            <a:r>
              <a:rPr lang="en-US" sz="1400" dirty="0" smtClean="0">
                <a:latin typeface="Consolas" pitchFamily="49" charset="0"/>
              </a:rPr>
              <a:t>from </a:t>
            </a:r>
            <a:r>
              <a:rPr lang="en-US" sz="1400" dirty="0" err="1" smtClean="0">
                <a:latin typeface="Consolas" pitchFamily="49" charset="0"/>
              </a:rPr>
              <a:t>pyspark.sql.functions</a:t>
            </a:r>
            <a:r>
              <a:rPr lang="en-US" sz="1400" dirty="0" smtClean="0">
                <a:latin typeface="Consolas" pitchFamily="49" charset="0"/>
              </a:rPr>
              <a:t> import </a:t>
            </a:r>
            <a:r>
              <a:rPr lang="en-US" sz="1400" dirty="0" err="1" smtClean="0">
                <a:latin typeface="Consolas" pitchFamily="49" charset="0"/>
              </a:rPr>
              <a:t>col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from </a:t>
            </a:r>
            <a:r>
              <a:rPr lang="en-US" sz="1400" dirty="0" err="1" smtClean="0">
                <a:latin typeface="Consolas" pitchFamily="49" charset="0"/>
              </a:rPr>
              <a:t>pyspark.sql.types</a:t>
            </a:r>
            <a:r>
              <a:rPr lang="en-US" sz="1400" dirty="0" smtClean="0">
                <a:latin typeface="Consolas" pitchFamily="49" charset="0"/>
              </a:rPr>
              <a:t> import </a:t>
            </a:r>
            <a:r>
              <a:rPr lang="en-US" sz="1400" dirty="0" err="1" smtClean="0">
                <a:latin typeface="Consolas" pitchFamily="49" charset="0"/>
              </a:rPr>
              <a:t>DoubleType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from </a:t>
            </a:r>
            <a:r>
              <a:rPr lang="en-US" sz="1400" dirty="0" err="1" smtClean="0">
                <a:latin typeface="Consolas" pitchFamily="49" charset="0"/>
              </a:rPr>
              <a:t>pyspark.ml.feature</a:t>
            </a:r>
            <a:r>
              <a:rPr lang="en-US" sz="1400" dirty="0" smtClean="0">
                <a:latin typeface="Consolas" pitchFamily="49" charset="0"/>
              </a:rPr>
              <a:t> import </a:t>
            </a:r>
            <a:r>
              <a:rPr lang="en-US" sz="1400" dirty="0" err="1" smtClean="0">
                <a:latin typeface="Consolas" pitchFamily="49" charset="0"/>
              </a:rPr>
              <a:t>VectorAssembler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from </a:t>
            </a:r>
            <a:r>
              <a:rPr lang="en-US" sz="1400" dirty="0" err="1" smtClean="0">
                <a:latin typeface="Consolas" pitchFamily="49" charset="0"/>
              </a:rPr>
              <a:t>pyspark.ml.classification</a:t>
            </a:r>
            <a:r>
              <a:rPr lang="en-US" sz="1400" dirty="0" smtClean="0">
                <a:latin typeface="Consolas" pitchFamily="49" charset="0"/>
              </a:rPr>
              <a:t> import </a:t>
            </a:r>
            <a:r>
              <a:rPr lang="en-US" sz="1400" dirty="0" err="1" smtClean="0">
                <a:latin typeface="Consolas" pitchFamily="49" charset="0"/>
              </a:rPr>
              <a:t>DecisionTreeClassifier</a:t>
            </a:r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err="1" smtClean="0">
                <a:latin typeface="Consolas" pitchFamily="49" charset="0"/>
              </a:rPr>
              <a:t>data_without_header</a:t>
            </a:r>
            <a:r>
              <a:rPr lang="en-US" sz="1400" dirty="0" smtClean="0">
                <a:latin typeface="Consolas" pitchFamily="49" charset="0"/>
              </a:rPr>
              <a:t> = </a:t>
            </a:r>
            <a:r>
              <a:rPr lang="en-US" sz="1400" dirty="0" err="1" smtClean="0">
                <a:latin typeface="Consolas" pitchFamily="49" charset="0"/>
              </a:rPr>
              <a:t>spark.read.option</a:t>
            </a:r>
            <a:r>
              <a:rPr lang="en-US" sz="1400" dirty="0" smtClean="0">
                <a:latin typeface="Consolas" pitchFamily="49" charset="0"/>
              </a:rPr>
              <a:t>("</a:t>
            </a:r>
            <a:r>
              <a:rPr lang="en-US" sz="1400" dirty="0" err="1" smtClean="0">
                <a:latin typeface="Consolas" pitchFamily="49" charset="0"/>
              </a:rPr>
              <a:t>inferSchema</a:t>
            </a:r>
            <a:r>
              <a:rPr lang="en-US" sz="1400" dirty="0" smtClean="0">
                <a:latin typeface="Consolas" pitchFamily="49" charset="0"/>
              </a:rPr>
              <a:t>", True).\</a:t>
            </a:r>
          </a:p>
          <a:p>
            <a:r>
              <a:rPr lang="en-US" sz="1400" dirty="0" smtClean="0">
                <a:latin typeface="Consolas" pitchFamily="49" charset="0"/>
              </a:rPr>
              <a:t>option("header", False).\</a:t>
            </a:r>
          </a:p>
          <a:p>
            <a:r>
              <a:rPr lang="en-US" sz="1400" dirty="0" smtClean="0">
                <a:latin typeface="Consolas" pitchFamily="49" charset="0"/>
              </a:rPr>
              <a:t>...</a:t>
            </a:r>
            <a:endParaRPr lang="en-US" sz="14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738" y="3810000"/>
            <a:ext cx="75025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Start </a:t>
            </a:r>
            <a:r>
              <a:rPr lang="en-US" dirty="0" err="1" smtClean="0"/>
              <a:t>MLflow</a:t>
            </a:r>
            <a:r>
              <a:rPr lang="en-US" dirty="0" smtClean="0"/>
              <a:t>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mlflow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ui</a:t>
            </a:r>
            <a:r>
              <a:rPr lang="en-US" sz="2000" dirty="0" smtClean="0">
                <a:latin typeface="Consolas" pitchFamily="49" charset="0"/>
              </a:rPr>
              <a:t> --host 191.168.1.19 --port 8080</a:t>
            </a:r>
            <a:endParaRPr lang="en-US" sz="2000" b="1" dirty="0">
              <a:latin typeface="Consolas" pitchFamily="49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762250"/>
            <a:ext cx="62833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Open </a:t>
            </a:r>
            <a:r>
              <a:rPr lang="en-US" dirty="0" err="1" smtClean="0"/>
              <a:t>MLflow</a:t>
            </a:r>
            <a:r>
              <a:rPr lang="en-US" dirty="0" smtClean="0"/>
              <a:t> Tracking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  <a:hlinkClick r:id="rId2"/>
              </a:rPr>
              <a:t>http://192.168.1.19:8080/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b="1" dirty="0">
              <a:latin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510" y="2514600"/>
            <a:ext cx="7807690" cy="3438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https://colab.research.google.com/github/GoogleCloudPlatform/cloudml-samples/blob/master/notebooks/tensorflow/getting-started-keras.ipynb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Azure ML Workspace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83392"/>
            <a:ext cx="5879044" cy="441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Confirm the Creation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828800"/>
            <a:ext cx="4814964" cy="443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Review the Successful Completion</a:t>
            </a:r>
            <a:endParaRPr lang="en-US" sz="4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5438" y="2355850"/>
            <a:ext cx="5953125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Compute Instance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905000"/>
            <a:ext cx="6054035" cy="4177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Confirm the Creation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02858"/>
            <a:ext cx="7628126" cy="4193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12751</TotalTime>
  <Words>384</Words>
  <Application>Microsoft Office PowerPoint</Application>
  <PresentationFormat>On-screen Show (4:3)</PresentationFormat>
  <Paragraphs>77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Machine Learning in the Cloud</vt:lpstr>
      <vt:lpstr>Objectives</vt:lpstr>
      <vt:lpstr>Contents</vt:lpstr>
      <vt:lpstr>References</vt:lpstr>
      <vt:lpstr>1. Install Spark on Ubuntu 22.04</vt:lpstr>
      <vt:lpstr>2. Configure Spark</vt:lpstr>
      <vt:lpstr>3. Verify Spark Installation</vt:lpstr>
      <vt:lpstr>Slide 8</vt:lpstr>
      <vt:lpstr>1. Install PySpark [1]</vt:lpstr>
      <vt:lpstr>2. Launch PySpark Local Cluster</vt:lpstr>
      <vt:lpstr>3. Open SparkSession</vt:lpstr>
      <vt:lpstr>Slide 12</vt:lpstr>
      <vt:lpstr>1. Download Data</vt:lpstr>
      <vt:lpstr>2. Create a dataframe</vt:lpstr>
      <vt:lpstr>3. Print Schema</vt:lpstr>
      <vt:lpstr>Slide 16</vt:lpstr>
      <vt:lpstr>1. Download Data</vt:lpstr>
      <vt:lpstr>2. Install MLflow</vt:lpstr>
      <vt:lpstr>3. Train a Model in pyspark-shell</vt:lpstr>
      <vt:lpstr>4. Start MLflow UI</vt:lpstr>
      <vt:lpstr>5. Open MLflow Tracking UI</vt:lpstr>
      <vt:lpstr>Slide 22</vt:lpstr>
      <vt:lpstr>Slide 23</vt:lpstr>
      <vt:lpstr>Slide 24</vt:lpstr>
      <vt:lpstr>1. Create Azure ML Workspace</vt:lpstr>
      <vt:lpstr>2. Confirm the Creation</vt:lpstr>
      <vt:lpstr>3. Review the Successful Completion</vt:lpstr>
      <vt:lpstr>4. Create a Compute Instance</vt:lpstr>
      <vt:lpstr>5. Confirm the Creation</vt:lpstr>
      <vt:lpstr>Slide 30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5519</cp:revision>
  <dcterms:created xsi:type="dcterms:W3CDTF">2007-10-06T08:25:13Z</dcterms:created>
  <dcterms:modified xsi:type="dcterms:W3CDTF">2025-12-18T15:26:06Z</dcterms:modified>
</cp:coreProperties>
</file>