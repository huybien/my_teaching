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2"/>
  </p:notesMasterIdLst>
  <p:sldIdLst>
    <p:sldId id="670" r:id="rId2"/>
    <p:sldId id="671" r:id="rId3"/>
    <p:sldId id="672" r:id="rId4"/>
    <p:sldId id="673" r:id="rId5"/>
    <p:sldId id="698" r:id="rId6"/>
    <p:sldId id="688" r:id="rId7"/>
    <p:sldId id="689" r:id="rId8"/>
    <p:sldId id="690" r:id="rId9"/>
    <p:sldId id="691" r:id="rId10"/>
    <p:sldId id="692" r:id="rId11"/>
    <p:sldId id="693" r:id="rId12"/>
    <p:sldId id="694" r:id="rId13"/>
    <p:sldId id="695" r:id="rId14"/>
    <p:sldId id="696" r:id="rId15"/>
    <p:sldId id="697" r:id="rId16"/>
    <p:sldId id="686" r:id="rId17"/>
    <p:sldId id="699" r:id="rId18"/>
    <p:sldId id="700" r:id="rId19"/>
    <p:sldId id="701" r:id="rId20"/>
    <p:sldId id="716" r:id="rId21"/>
    <p:sldId id="717" r:id="rId22"/>
    <p:sldId id="720" r:id="rId23"/>
    <p:sldId id="705" r:id="rId24"/>
    <p:sldId id="706" r:id="rId25"/>
    <p:sldId id="707" r:id="rId26"/>
    <p:sldId id="708" r:id="rId27"/>
    <p:sldId id="709" r:id="rId28"/>
    <p:sldId id="710" r:id="rId29"/>
    <p:sldId id="711" r:id="rId30"/>
    <p:sldId id="719" r:id="rId31"/>
    <p:sldId id="721" r:id="rId32"/>
    <p:sldId id="722" r:id="rId33"/>
    <p:sldId id="739" r:id="rId34"/>
    <p:sldId id="723" r:id="rId35"/>
    <p:sldId id="724" r:id="rId36"/>
    <p:sldId id="725" r:id="rId37"/>
    <p:sldId id="726" r:id="rId38"/>
    <p:sldId id="727" r:id="rId39"/>
    <p:sldId id="729" r:id="rId40"/>
    <p:sldId id="733" r:id="rId41"/>
    <p:sldId id="734" r:id="rId42"/>
    <p:sldId id="735" r:id="rId43"/>
    <p:sldId id="736" r:id="rId44"/>
    <p:sldId id="728" r:id="rId45"/>
    <p:sldId id="730" r:id="rId46"/>
    <p:sldId id="731" r:id="rId47"/>
    <p:sldId id="732" r:id="rId48"/>
    <p:sldId id="737" r:id="rId49"/>
    <p:sldId id="738" r:id="rId50"/>
    <p:sldId id="516"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29"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12/16/2025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12/16/2025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12/16/2025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12/16/2025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12/16/2025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Cluster Management</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r>
              <a:rPr lang="en-US" sz="2200" dirty="0" err="1" smtClean="0"/>
              <a:t>Abhishek</a:t>
            </a:r>
            <a:r>
              <a:rPr lang="en-US" sz="2200" dirty="0" smtClean="0"/>
              <a:t> </a:t>
            </a:r>
            <a:r>
              <a:rPr lang="en-US" sz="2200" dirty="0" err="1" smtClean="0"/>
              <a:t>Verma</a:t>
            </a:r>
            <a:r>
              <a:rPr lang="en-US" sz="2200" dirty="0" smtClean="0"/>
              <a:t> et al. (2015). Large-scale Cluster Management at Google </a:t>
            </a:r>
            <a:r>
              <a:rPr lang="en-US" sz="2200" smtClean="0"/>
              <a:t>with Borg.</a:t>
            </a:r>
            <a:endParaRPr lang="en-US" sz="2200" dirty="0" smtClean="0"/>
          </a:p>
          <a:p>
            <a:pPr>
              <a:buFont typeface="+mj-lt"/>
              <a:buAutoNum type="arabicPeriod"/>
            </a:pPr>
            <a:r>
              <a:rPr lang="en-US" sz="2200" dirty="0" err="1" smtClean="0"/>
              <a:t>Yair</a:t>
            </a:r>
            <a:r>
              <a:rPr lang="en-US" sz="2200" dirty="0" smtClean="0"/>
              <a:t> Amir et al. (2000). An Opportunity Cost Approach for Job Assignment and Reassignment in a Scalable Computing Cluster.</a:t>
            </a:r>
          </a:p>
          <a:p>
            <a:pPr>
              <a:buFont typeface="+mj-lt"/>
              <a:buAutoNum type="arabicPeriod"/>
            </a:pPr>
            <a:r>
              <a:rPr lang="en-US" sz="2200" dirty="0" smtClean="0"/>
              <a:t>John Wilkes (2013). Omega - Flexible, Scalable Schedulers for Large Compute Clusters.</a:t>
            </a:r>
          </a:p>
          <a:p>
            <a:pPr>
              <a:buFont typeface="+mj-lt"/>
              <a:buAutoNum type="arabicPeriod"/>
            </a:pPr>
            <a:r>
              <a:rPr lang="en-US" sz="2200" dirty="0" err="1" smtClean="0"/>
              <a:t>Malte</a:t>
            </a:r>
            <a:r>
              <a:rPr lang="en-US" sz="2200" dirty="0" smtClean="0"/>
              <a:t> Schwarzkopf et al. (2013). Omega - Flexible, Scalable Schedulers for Large Compute Clusters.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User Perspective [1]</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Borg’s users</a:t>
            </a:r>
            <a:r>
              <a:rPr lang="en-US" dirty="0" smtClean="0"/>
              <a:t> are </a:t>
            </a:r>
            <a:r>
              <a:rPr lang="en-US" u="sng" dirty="0" smtClean="0"/>
              <a:t>Google developers</a:t>
            </a:r>
            <a:r>
              <a:rPr lang="en-US" dirty="0" smtClean="0"/>
              <a:t> and </a:t>
            </a:r>
            <a:r>
              <a:rPr lang="en-US" u="sng" dirty="0" smtClean="0"/>
              <a:t>system administrators</a:t>
            </a:r>
            <a:r>
              <a:rPr lang="en-US" dirty="0" smtClean="0"/>
              <a:t> (site reliability engineers or SREs) that run </a:t>
            </a:r>
            <a:r>
              <a:rPr lang="en-US" u="sng" dirty="0" smtClean="0"/>
              <a:t>Google’s applications</a:t>
            </a:r>
            <a:r>
              <a:rPr lang="en-US" dirty="0" smtClean="0"/>
              <a:t> and </a:t>
            </a:r>
            <a:r>
              <a:rPr lang="en-US" u="sng" dirty="0" smtClean="0"/>
              <a:t>services</a:t>
            </a:r>
            <a:r>
              <a:rPr lang="en-US" dirty="0" smtClean="0"/>
              <a:t>.</a:t>
            </a:r>
          </a:p>
          <a:p>
            <a:r>
              <a:rPr lang="en-US" dirty="0" smtClean="0"/>
              <a:t>Users submit their work to Borg in the form of </a:t>
            </a:r>
            <a:r>
              <a:rPr lang="en-US" i="1" dirty="0" smtClean="0">
                <a:solidFill>
                  <a:srgbClr val="C00000"/>
                </a:solidFill>
              </a:rPr>
              <a:t>jobs</a:t>
            </a:r>
            <a:r>
              <a:rPr lang="en-US" dirty="0" smtClean="0"/>
              <a:t>, each of which consists of one or more </a:t>
            </a:r>
            <a:r>
              <a:rPr lang="en-US" i="1" dirty="0" smtClean="0">
                <a:solidFill>
                  <a:srgbClr val="C00000"/>
                </a:solidFill>
              </a:rPr>
              <a:t>tasks</a:t>
            </a:r>
            <a:r>
              <a:rPr lang="en-US" dirty="0" smtClean="0"/>
              <a:t> that all run </a:t>
            </a:r>
            <a:r>
              <a:rPr lang="en-US" i="1" dirty="0" smtClean="0">
                <a:solidFill>
                  <a:srgbClr val="C00000"/>
                </a:solidFill>
              </a:rPr>
              <a:t>the same program</a:t>
            </a:r>
            <a:r>
              <a:rPr lang="en-US" dirty="0" smtClean="0"/>
              <a:t> (binary).</a:t>
            </a:r>
          </a:p>
          <a:p>
            <a:r>
              <a:rPr lang="en-US" dirty="0" smtClean="0"/>
              <a:t>Each job runs in one Borg </a:t>
            </a:r>
            <a:r>
              <a:rPr lang="en-US" i="1" dirty="0" smtClean="0">
                <a:solidFill>
                  <a:srgbClr val="C00000"/>
                </a:solidFill>
              </a:rPr>
              <a:t>cell</a:t>
            </a:r>
            <a:r>
              <a:rPr lang="en-US" dirty="0" smtClean="0"/>
              <a:t>, a set of machines that are managed as a unit.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Workload</a:t>
            </a:r>
            <a:endParaRPr lang="en-US" dirty="0"/>
          </a:p>
        </p:txBody>
      </p:sp>
      <p:sp>
        <p:nvSpPr>
          <p:cNvPr id="3" name="Content Placeholder 2"/>
          <p:cNvSpPr>
            <a:spLocks noGrp="1"/>
          </p:cNvSpPr>
          <p:nvPr>
            <p:ph idx="1"/>
          </p:nvPr>
        </p:nvSpPr>
        <p:spPr/>
        <p:txBody>
          <a:bodyPr/>
          <a:lstStyle/>
          <a:p>
            <a:r>
              <a:rPr lang="en-US" sz="2600" dirty="0" smtClean="0"/>
              <a:t>The first is </a:t>
            </a:r>
            <a:r>
              <a:rPr lang="en-US" sz="2600" i="1" dirty="0" smtClean="0">
                <a:solidFill>
                  <a:srgbClr val="C00000"/>
                </a:solidFill>
              </a:rPr>
              <a:t>long-running services</a:t>
            </a:r>
            <a:r>
              <a:rPr lang="en-US" sz="2600" dirty="0" smtClean="0"/>
              <a:t> that should “never” go down, and handle short-lived latency-sensitive requests (a few ms to a few hundred ms). Such services are used for end-user-facing products such as Gmail, Google Docs, and web search, and for internal infrastructure services (e.g., </a:t>
            </a:r>
            <a:r>
              <a:rPr lang="en-US" sz="2600" dirty="0" err="1" smtClean="0"/>
              <a:t>BigTable</a:t>
            </a:r>
            <a:r>
              <a:rPr lang="en-US" sz="2600" dirty="0" smtClean="0"/>
              <a:t>).</a:t>
            </a:r>
          </a:p>
          <a:p>
            <a:r>
              <a:rPr lang="en-US" sz="2600" dirty="0" smtClean="0"/>
              <a:t>The second is </a:t>
            </a:r>
            <a:r>
              <a:rPr lang="en-US" sz="2600" i="1" dirty="0" smtClean="0">
                <a:solidFill>
                  <a:srgbClr val="C00000"/>
                </a:solidFill>
              </a:rPr>
              <a:t>batch jobs</a:t>
            </a:r>
            <a:r>
              <a:rPr lang="en-US" sz="2600" dirty="0" smtClean="0"/>
              <a:t> that take from a few seconds to a few days to complete; these are much less sensitive to short-term performance fluctuations.</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Clusters and Cells</a:t>
            </a:r>
            <a:endParaRPr lang="en-US" dirty="0"/>
          </a:p>
        </p:txBody>
      </p:sp>
      <p:sp>
        <p:nvSpPr>
          <p:cNvPr id="3" name="Content Placeholder 2"/>
          <p:cNvSpPr>
            <a:spLocks noGrp="1"/>
          </p:cNvSpPr>
          <p:nvPr>
            <p:ph idx="1"/>
          </p:nvPr>
        </p:nvSpPr>
        <p:spPr/>
        <p:txBody>
          <a:bodyPr/>
          <a:lstStyle/>
          <a:p>
            <a:r>
              <a:rPr lang="en-US" sz="2800" dirty="0" smtClean="0"/>
              <a:t>The </a:t>
            </a:r>
            <a:r>
              <a:rPr lang="en-US" sz="2800" u="sng" dirty="0" smtClean="0"/>
              <a:t>machines</a:t>
            </a:r>
            <a:r>
              <a:rPr lang="en-US" sz="2800" dirty="0" smtClean="0"/>
              <a:t> in a </a:t>
            </a:r>
            <a:r>
              <a:rPr lang="en-US" sz="2800" u="sng" dirty="0" smtClean="0"/>
              <a:t>cell</a:t>
            </a:r>
            <a:r>
              <a:rPr lang="en-US" sz="2800" dirty="0" smtClean="0"/>
              <a:t> belong to a single </a:t>
            </a:r>
            <a:r>
              <a:rPr lang="en-US" sz="2800" i="1" dirty="0" smtClean="0">
                <a:solidFill>
                  <a:srgbClr val="C00000"/>
                </a:solidFill>
              </a:rPr>
              <a:t>cluster</a:t>
            </a:r>
            <a:r>
              <a:rPr lang="en-US" sz="2800" dirty="0" smtClean="0"/>
              <a:t>, defined by the high-performance datacenter-scale network fabric that connects them.</a:t>
            </a:r>
          </a:p>
          <a:p>
            <a:r>
              <a:rPr lang="en-US" sz="2800" dirty="0" smtClean="0"/>
              <a:t>A cluster lives inside a single </a:t>
            </a:r>
            <a:r>
              <a:rPr lang="en-US" sz="2800" i="1" dirty="0" smtClean="0">
                <a:solidFill>
                  <a:srgbClr val="C00000"/>
                </a:solidFill>
              </a:rPr>
              <a:t>datacenter building</a:t>
            </a:r>
            <a:r>
              <a:rPr lang="en-US" sz="2800" dirty="0" smtClean="0"/>
              <a:t>, and a collection of buildings makes up a </a:t>
            </a:r>
            <a:r>
              <a:rPr lang="en-US" sz="2800" i="1" dirty="0" smtClean="0">
                <a:solidFill>
                  <a:srgbClr val="C00000"/>
                </a:solidFill>
              </a:rPr>
              <a:t>site</a:t>
            </a:r>
            <a:r>
              <a:rPr lang="en-US" sz="2800" dirty="0" smtClean="0"/>
              <a:t>.</a:t>
            </a:r>
          </a:p>
          <a:p>
            <a:r>
              <a:rPr lang="en-US" sz="2800" dirty="0" smtClean="0"/>
              <a:t>A </a:t>
            </a:r>
            <a:r>
              <a:rPr lang="en-US" sz="2800" i="1" dirty="0" smtClean="0">
                <a:solidFill>
                  <a:srgbClr val="C00000"/>
                </a:solidFill>
              </a:rPr>
              <a:t>cluster</a:t>
            </a:r>
            <a:r>
              <a:rPr lang="en-US" sz="2800" dirty="0" smtClean="0"/>
              <a:t> usually hosts </a:t>
            </a:r>
            <a:r>
              <a:rPr lang="en-US" sz="2800" u="sng" dirty="0" smtClean="0"/>
              <a:t>one large cell</a:t>
            </a:r>
            <a:r>
              <a:rPr lang="en-US" sz="2800" dirty="0" smtClean="0"/>
              <a:t> and may have a few smaller-scale </a:t>
            </a:r>
            <a:r>
              <a:rPr lang="en-US" sz="2800" u="sng" dirty="0" smtClean="0"/>
              <a:t>test</a:t>
            </a:r>
            <a:r>
              <a:rPr lang="en-US" sz="2800" dirty="0" smtClean="0"/>
              <a:t> or </a:t>
            </a:r>
            <a:r>
              <a:rPr lang="en-US" sz="2800" u="sng" dirty="0" smtClean="0"/>
              <a:t>special-purpose cells</a:t>
            </a:r>
            <a:r>
              <a:rPr lang="en-US" sz="2800" dirty="0" smtClean="0"/>
              <a:t>.</a:t>
            </a:r>
          </a:p>
          <a:p>
            <a:r>
              <a:rPr lang="en-US" sz="2800" dirty="0" smtClean="0"/>
              <a:t>Our median cell size is about 10 k machines after excluding test cells.</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Jobs and Tasks</a:t>
            </a:r>
            <a:endParaRPr lang="en-US" dirty="0"/>
          </a:p>
        </p:txBody>
      </p:sp>
      <p:sp>
        <p:nvSpPr>
          <p:cNvPr id="3" name="Content Placeholder 2"/>
          <p:cNvSpPr>
            <a:spLocks noGrp="1"/>
          </p:cNvSpPr>
          <p:nvPr>
            <p:ph idx="1"/>
          </p:nvPr>
        </p:nvSpPr>
        <p:spPr/>
        <p:txBody>
          <a:bodyPr/>
          <a:lstStyle/>
          <a:p>
            <a:r>
              <a:rPr lang="en-US" sz="2800" dirty="0" smtClean="0"/>
              <a:t>A Borg </a:t>
            </a:r>
            <a:r>
              <a:rPr lang="en-US" sz="2800" i="1" dirty="0" smtClean="0">
                <a:solidFill>
                  <a:srgbClr val="C00000"/>
                </a:solidFill>
              </a:rPr>
              <a:t>job</a:t>
            </a:r>
            <a:r>
              <a:rPr lang="en-US" sz="2800" dirty="0" smtClean="0"/>
              <a:t>’s properties include its name, owner, and </a:t>
            </a:r>
            <a:r>
              <a:rPr lang="en-US" sz="2800" u="sng" dirty="0" smtClean="0"/>
              <a:t>the number of tasks</a:t>
            </a:r>
            <a:r>
              <a:rPr lang="en-US" sz="2800" dirty="0" smtClean="0"/>
              <a:t> it has.</a:t>
            </a:r>
          </a:p>
          <a:p>
            <a:r>
              <a:rPr lang="en-US" sz="2800" dirty="0" smtClean="0"/>
              <a:t>Jobs can have constraints to force its tasks to run on machines with particular attributes such as processor architecture, OS version, or an external IP address.</a:t>
            </a:r>
          </a:p>
          <a:p>
            <a:r>
              <a:rPr lang="en-US" sz="2800" dirty="0" smtClean="0"/>
              <a:t>A job runs in just one cell.</a:t>
            </a:r>
          </a:p>
          <a:p>
            <a:r>
              <a:rPr lang="en-US" sz="2800" dirty="0" smtClean="0"/>
              <a:t>Each </a:t>
            </a:r>
            <a:r>
              <a:rPr lang="en-US" sz="2800" i="1" dirty="0" smtClean="0">
                <a:solidFill>
                  <a:srgbClr val="C00000"/>
                </a:solidFill>
              </a:rPr>
              <a:t>task</a:t>
            </a:r>
            <a:r>
              <a:rPr lang="en-US" sz="2800" dirty="0" smtClean="0"/>
              <a:t> maps to </a:t>
            </a:r>
            <a:r>
              <a:rPr lang="en-US" sz="2800" u="sng" dirty="0" smtClean="0"/>
              <a:t>a set of Linux processes</a:t>
            </a:r>
            <a:r>
              <a:rPr lang="en-US" sz="2800" dirty="0" smtClean="0"/>
              <a:t> running in a container on a machine.</a:t>
            </a:r>
          </a:p>
          <a:p>
            <a:r>
              <a:rPr lang="en-US" sz="2800" dirty="0" smtClean="0"/>
              <a:t>A task has properties too, such as its resource requirements and the task’s index within the job.</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Descriptions</a:t>
            </a:r>
            <a:endParaRPr lang="en-US" dirty="0"/>
          </a:p>
        </p:txBody>
      </p:sp>
      <p:sp>
        <p:nvSpPr>
          <p:cNvPr id="3" name="Content Placeholder 2"/>
          <p:cNvSpPr>
            <a:spLocks noGrp="1"/>
          </p:cNvSpPr>
          <p:nvPr>
            <p:ph idx="1"/>
          </p:nvPr>
        </p:nvSpPr>
        <p:spPr/>
        <p:txBody>
          <a:bodyPr/>
          <a:lstStyle/>
          <a:p>
            <a:r>
              <a:rPr lang="en-US" sz="2800" dirty="0" smtClean="0"/>
              <a:t>Most job descriptions are written in the </a:t>
            </a:r>
            <a:r>
              <a:rPr lang="en-US" sz="2800" i="1" dirty="0" smtClean="0">
                <a:solidFill>
                  <a:srgbClr val="C00000"/>
                </a:solidFill>
              </a:rPr>
              <a:t>declarative configuration language BCL</a:t>
            </a:r>
            <a:r>
              <a:rPr lang="en-US" sz="2800" dirty="0" smtClean="0"/>
              <a:t>. This is a variant of GCL. GCL provides lambda functions to allow calculations, and these are used by applications to adjust their configurations to their environment</a:t>
            </a:r>
            <a:endParaRPr lang="en-US" sz="2600" dirty="0" smtClean="0"/>
          </a:p>
          <a:p>
            <a:r>
              <a:rPr lang="en-US" sz="2800" dirty="0" smtClean="0"/>
              <a:t>Users operate on jobs by </a:t>
            </a:r>
            <a:r>
              <a:rPr lang="en-US" sz="2800" i="1" dirty="0" smtClean="0">
                <a:solidFill>
                  <a:srgbClr val="C00000"/>
                </a:solidFill>
              </a:rPr>
              <a:t>issuing remote procedure calls (RPCs) to Borg</a:t>
            </a:r>
            <a:r>
              <a:rPr lang="en-US" sz="2800" dirty="0" smtClean="0"/>
              <a:t>, most commonly from a command-line tool, other Borg jobs, or our monitoring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Lifetime of Jobs and Tasks</a:t>
            </a:r>
            <a:endParaRPr lang="en-US" dirty="0"/>
          </a:p>
        </p:txBody>
      </p:sp>
      <p:sp>
        <p:nvSpPr>
          <p:cNvPr id="3" name="Content Placeholder 2"/>
          <p:cNvSpPr>
            <a:spLocks noGrp="1"/>
          </p:cNvSpPr>
          <p:nvPr>
            <p:ph idx="1"/>
          </p:nvPr>
        </p:nvSpPr>
        <p:spPr>
          <a:xfrm>
            <a:off x="457200" y="1600200"/>
            <a:ext cx="3657600" cy="4525963"/>
          </a:xfrm>
        </p:spPr>
        <p:txBody>
          <a:bodyPr/>
          <a:lstStyle/>
          <a:p>
            <a:r>
              <a:rPr lang="en-US" sz="2800" dirty="0" smtClean="0"/>
              <a:t>The state diagram for both jobs and tasks.</a:t>
            </a:r>
          </a:p>
          <a:p>
            <a:r>
              <a:rPr lang="en-US" sz="2800" dirty="0" smtClean="0"/>
              <a:t>Users can trigger submit, kill, and update transitions.</a:t>
            </a:r>
          </a:p>
        </p:txBody>
      </p:sp>
      <p:pic>
        <p:nvPicPr>
          <p:cNvPr id="2052" name="Picture 4"/>
          <p:cNvPicPr>
            <a:picLocks noChangeAspect="1" noChangeArrowheads="1"/>
          </p:cNvPicPr>
          <p:nvPr/>
        </p:nvPicPr>
        <p:blipFill>
          <a:blip r:embed="rId2" cstate="print"/>
          <a:srcRect/>
          <a:stretch>
            <a:fillRect/>
          </a:stretch>
        </p:blipFill>
        <p:spPr bwMode="auto">
          <a:xfrm>
            <a:off x="4343400" y="1676400"/>
            <a:ext cx="4203700" cy="42322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Allocs</a:t>
            </a:r>
            <a:endParaRPr lang="en-US" dirty="0"/>
          </a:p>
        </p:txBody>
      </p:sp>
      <p:sp>
        <p:nvSpPr>
          <p:cNvPr id="3" name="Content Placeholder 2"/>
          <p:cNvSpPr>
            <a:spLocks noGrp="1"/>
          </p:cNvSpPr>
          <p:nvPr>
            <p:ph idx="1"/>
          </p:nvPr>
        </p:nvSpPr>
        <p:spPr/>
        <p:txBody>
          <a:bodyPr/>
          <a:lstStyle/>
          <a:p>
            <a:r>
              <a:rPr lang="en-US" dirty="0" smtClean="0"/>
              <a:t>A Borg </a:t>
            </a:r>
            <a:r>
              <a:rPr lang="en-US" i="1" dirty="0" err="1" smtClean="0">
                <a:solidFill>
                  <a:srgbClr val="C00000"/>
                </a:solidFill>
              </a:rPr>
              <a:t>alloc</a:t>
            </a:r>
            <a:r>
              <a:rPr lang="en-US" dirty="0" smtClean="0"/>
              <a:t> (short for allocation) is </a:t>
            </a:r>
            <a:r>
              <a:rPr lang="en-US" u="sng" dirty="0" smtClean="0"/>
              <a:t>a reserved set of resources</a:t>
            </a:r>
            <a:r>
              <a:rPr lang="en-US" dirty="0" smtClean="0"/>
              <a:t> on a machine in which one or more tasks can be run; the resources remain assigned whether or not they are used.</a:t>
            </a:r>
          </a:p>
          <a:p>
            <a:r>
              <a:rPr lang="en-US" dirty="0" smtClean="0"/>
              <a:t>An </a:t>
            </a:r>
            <a:r>
              <a:rPr lang="en-US" i="1" dirty="0" err="1" smtClean="0">
                <a:solidFill>
                  <a:srgbClr val="C00000"/>
                </a:solidFill>
              </a:rPr>
              <a:t>alloc</a:t>
            </a:r>
            <a:r>
              <a:rPr lang="en-US" i="1" dirty="0" smtClean="0">
                <a:solidFill>
                  <a:srgbClr val="C00000"/>
                </a:solidFill>
              </a:rPr>
              <a:t> set</a:t>
            </a:r>
            <a:r>
              <a:rPr lang="en-US" dirty="0" smtClean="0"/>
              <a:t> is like a job: it is a group of </a:t>
            </a:r>
            <a:r>
              <a:rPr lang="en-US" dirty="0" err="1" smtClean="0"/>
              <a:t>allocs</a:t>
            </a:r>
            <a:r>
              <a:rPr lang="en-US" dirty="0" smtClean="0"/>
              <a:t> that reserve resources on multiple machines.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Priority</a:t>
            </a:r>
            <a:endParaRPr lang="en-US" dirty="0"/>
          </a:p>
        </p:txBody>
      </p:sp>
      <p:sp>
        <p:nvSpPr>
          <p:cNvPr id="3" name="Content Placeholder 2"/>
          <p:cNvSpPr>
            <a:spLocks noGrp="1"/>
          </p:cNvSpPr>
          <p:nvPr>
            <p:ph idx="1"/>
          </p:nvPr>
        </p:nvSpPr>
        <p:spPr/>
        <p:txBody>
          <a:bodyPr/>
          <a:lstStyle/>
          <a:p>
            <a:r>
              <a:rPr lang="en-US" dirty="0" smtClean="0"/>
              <a:t>Every job has a </a:t>
            </a:r>
            <a:r>
              <a:rPr lang="en-US" i="1" dirty="0" smtClean="0">
                <a:solidFill>
                  <a:srgbClr val="C00000"/>
                </a:solidFill>
              </a:rPr>
              <a:t>priority</a:t>
            </a:r>
            <a:r>
              <a:rPr lang="en-US" dirty="0" smtClean="0"/>
              <a:t>, a small positive integer.</a:t>
            </a:r>
          </a:p>
          <a:p>
            <a:r>
              <a:rPr lang="en-US" dirty="0" smtClean="0"/>
              <a:t>A high-priority task can obtain resources at the expense of a lower-priority one, even if that involves preempting (killing) the latter.</a:t>
            </a:r>
          </a:p>
          <a:p>
            <a:r>
              <a:rPr lang="en-US" dirty="0" smtClean="0"/>
              <a:t>Borg defines non-overlapping </a:t>
            </a:r>
            <a:r>
              <a:rPr lang="en-US" i="1" dirty="0" smtClean="0">
                <a:solidFill>
                  <a:srgbClr val="C00000"/>
                </a:solidFill>
              </a:rPr>
              <a:t>priority bands</a:t>
            </a:r>
            <a:r>
              <a:rPr lang="en-US" dirty="0" smtClean="0"/>
              <a:t> for different uses, including (in decreasing-priority order): monitoring, production, batch, and best </a:t>
            </a:r>
            <a:r>
              <a:rPr lang="en-US" dirty="0" err="1" smtClean="0"/>
              <a:t>eort</a:t>
            </a:r>
            <a:r>
              <a:rPr lang="en-US" dirty="0" smtClean="0"/>
              <a:t> (also known as testing or free).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Quota</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Quota</a:t>
            </a:r>
            <a:r>
              <a:rPr lang="en-US" sz="2400" dirty="0" smtClean="0"/>
              <a:t> is used to decide which jobs to </a:t>
            </a:r>
            <a:r>
              <a:rPr lang="en-US" sz="2400" u="sng" dirty="0" smtClean="0"/>
              <a:t>admit</a:t>
            </a:r>
            <a:r>
              <a:rPr lang="en-US" sz="2400" dirty="0" smtClean="0"/>
              <a:t> for scheduling.</a:t>
            </a:r>
          </a:p>
          <a:p>
            <a:r>
              <a:rPr lang="en-US" sz="2400" dirty="0" smtClean="0"/>
              <a:t>Quota is </a:t>
            </a:r>
            <a:r>
              <a:rPr lang="en-US" sz="2400" u="sng" dirty="0" smtClean="0"/>
              <a:t>expressed</a:t>
            </a:r>
            <a:r>
              <a:rPr lang="en-US" sz="2400" dirty="0" smtClean="0"/>
              <a:t> as </a:t>
            </a:r>
            <a:r>
              <a:rPr lang="en-US" sz="2400" u="sng" dirty="0" smtClean="0"/>
              <a:t>a vector of resource quantities</a:t>
            </a:r>
            <a:r>
              <a:rPr lang="en-US" sz="2400" dirty="0" smtClean="0"/>
              <a:t> (CPU, RAM, disk, etc.) at a given priority, for a period of time (typically months).</a:t>
            </a:r>
          </a:p>
          <a:p>
            <a:r>
              <a:rPr lang="en-US" sz="2400" i="1" dirty="0" smtClean="0">
                <a:solidFill>
                  <a:srgbClr val="C00000"/>
                </a:solidFill>
              </a:rPr>
              <a:t>Quota-checking</a:t>
            </a:r>
            <a:r>
              <a:rPr lang="en-US" sz="2400" dirty="0" smtClean="0"/>
              <a:t> is part of admission control, not scheduling: jobs with insufficient quota are immediately rejected upon submission.</a:t>
            </a:r>
          </a:p>
          <a:p>
            <a:r>
              <a:rPr lang="en-US" sz="2400" i="1" dirty="0" smtClean="0">
                <a:solidFill>
                  <a:srgbClr val="C00000"/>
                </a:solidFill>
              </a:rPr>
              <a:t>Quota allocation</a:t>
            </a:r>
            <a:r>
              <a:rPr lang="en-US" sz="2400" dirty="0" smtClean="0"/>
              <a:t> is handled </a:t>
            </a:r>
            <a:r>
              <a:rPr lang="en-US" sz="2400" u="sng" dirty="0" smtClean="0"/>
              <a:t>outside of Borg</a:t>
            </a:r>
            <a:r>
              <a:rPr lang="en-US" sz="2400" dirty="0" smtClean="0"/>
              <a:t>, and is intimately tied to our physical capacity planning, whose results are reflected in the price and availability of quota in different datacenters.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Naming</a:t>
            </a:r>
            <a:endParaRPr lang="en-US" dirty="0"/>
          </a:p>
        </p:txBody>
      </p:sp>
      <p:sp>
        <p:nvSpPr>
          <p:cNvPr id="3" name="Content Placeholder 2"/>
          <p:cNvSpPr>
            <a:spLocks noGrp="1"/>
          </p:cNvSpPr>
          <p:nvPr>
            <p:ph idx="1"/>
          </p:nvPr>
        </p:nvSpPr>
        <p:spPr/>
        <p:txBody>
          <a:bodyPr/>
          <a:lstStyle/>
          <a:p>
            <a:r>
              <a:rPr lang="en-US" sz="2400" dirty="0" smtClean="0"/>
              <a:t>It’s not enough to create and place tasks: a service’s clients and other systems need to be able to find them, even after they are relocated to a new machine.</a:t>
            </a:r>
          </a:p>
          <a:p>
            <a:r>
              <a:rPr lang="en-US" sz="2400" dirty="0" smtClean="0"/>
              <a:t>To enable this, Borg creates a stable “</a:t>
            </a:r>
            <a:r>
              <a:rPr lang="en-US" sz="2400" i="1" dirty="0" smtClean="0">
                <a:solidFill>
                  <a:srgbClr val="C00000"/>
                </a:solidFill>
              </a:rPr>
              <a:t>Borg name service</a:t>
            </a:r>
            <a:r>
              <a:rPr lang="en-US" sz="2400" dirty="0" smtClean="0"/>
              <a:t>” (BNS) name for each task that includes </a:t>
            </a:r>
            <a:r>
              <a:rPr lang="en-US" sz="2400" u="sng" dirty="0" smtClean="0"/>
              <a:t>the cell name</a:t>
            </a:r>
            <a:r>
              <a:rPr lang="en-US" sz="2400" dirty="0" smtClean="0"/>
              <a:t>, </a:t>
            </a:r>
            <a:r>
              <a:rPr lang="en-US" sz="2400" u="sng" dirty="0" smtClean="0"/>
              <a:t>job name</a:t>
            </a:r>
            <a:r>
              <a:rPr lang="en-US" sz="2400" dirty="0" smtClean="0"/>
              <a:t>, and </a:t>
            </a:r>
            <a:r>
              <a:rPr lang="en-US" sz="2400" u="sng" dirty="0" smtClean="0"/>
              <a:t>task number</a:t>
            </a:r>
            <a:r>
              <a:rPr lang="en-US" sz="2400" dirty="0" smtClean="0"/>
              <a:t>.</a:t>
            </a:r>
          </a:p>
          <a:p>
            <a:r>
              <a:rPr lang="en-US" sz="2400" dirty="0" smtClean="0"/>
              <a:t>Borg writes </a:t>
            </a:r>
            <a:r>
              <a:rPr lang="en-US" sz="2400" i="1" dirty="0" smtClean="0">
                <a:solidFill>
                  <a:srgbClr val="C00000"/>
                </a:solidFill>
              </a:rPr>
              <a:t>the task’s hostname and port</a:t>
            </a:r>
            <a:r>
              <a:rPr lang="en-US" sz="2400" dirty="0" smtClean="0"/>
              <a:t> into a consistent, highly-available file in Chubby with this name, which is used by our RPC system to find </a:t>
            </a:r>
            <a:r>
              <a:rPr lang="en-US" sz="2400" u="sng" dirty="0" smtClean="0"/>
              <a:t>the task endpoint</a:t>
            </a:r>
            <a:r>
              <a:rPr lang="en-US" sz="2400" dirty="0" smtClean="0"/>
              <a:t>.</a:t>
            </a:r>
          </a:p>
          <a:p>
            <a:r>
              <a:rPr lang="en-US" sz="2400" dirty="0" smtClean="0"/>
              <a:t>The BNS name also forms the basis of the task’s DNS name, so the </a:t>
            </a:r>
            <a:r>
              <a:rPr lang="en-US" sz="2400" u="sng" dirty="0" smtClean="0"/>
              <a:t>fiftieth</a:t>
            </a:r>
            <a:r>
              <a:rPr lang="en-US" sz="2400" dirty="0" smtClean="0"/>
              <a:t> task in job </a:t>
            </a:r>
            <a:r>
              <a:rPr lang="en-US" sz="2400" u="sng" dirty="0" err="1" smtClean="0"/>
              <a:t>jfoo</a:t>
            </a:r>
            <a:r>
              <a:rPr lang="en-US" sz="2400" dirty="0" smtClean="0"/>
              <a:t> owned by user </a:t>
            </a:r>
            <a:r>
              <a:rPr lang="en-US" sz="2400" u="sng" dirty="0" err="1" smtClean="0"/>
              <a:t>ubar</a:t>
            </a:r>
            <a:r>
              <a:rPr lang="en-US" sz="2400" dirty="0" smtClean="0"/>
              <a:t> in cell </a:t>
            </a:r>
            <a:r>
              <a:rPr lang="en-US" sz="2400" u="sng" dirty="0" smtClean="0"/>
              <a:t>cc</a:t>
            </a:r>
            <a:r>
              <a:rPr lang="en-US" sz="2400" dirty="0" smtClean="0"/>
              <a:t> would be reachable via 50.jfoo.ubar.cc.borg.google.com.</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Monitoring</a:t>
            </a:r>
            <a:endParaRPr lang="en-US" dirty="0"/>
          </a:p>
        </p:txBody>
      </p:sp>
      <p:sp>
        <p:nvSpPr>
          <p:cNvPr id="3" name="Content Placeholder 2"/>
          <p:cNvSpPr>
            <a:spLocks noGrp="1"/>
          </p:cNvSpPr>
          <p:nvPr>
            <p:ph idx="1"/>
          </p:nvPr>
        </p:nvSpPr>
        <p:spPr/>
        <p:txBody>
          <a:bodyPr/>
          <a:lstStyle/>
          <a:p>
            <a:r>
              <a:rPr lang="en-US" sz="2400" dirty="0" smtClean="0"/>
              <a:t>Almost </a:t>
            </a:r>
            <a:r>
              <a:rPr lang="en-US" sz="2400" i="1" dirty="0" smtClean="0">
                <a:solidFill>
                  <a:srgbClr val="C00000"/>
                </a:solidFill>
              </a:rPr>
              <a:t>every task</a:t>
            </a:r>
            <a:r>
              <a:rPr lang="en-US" sz="2400" dirty="0" smtClean="0"/>
              <a:t> run under Borg contains a </a:t>
            </a:r>
            <a:r>
              <a:rPr lang="en-US" sz="2400" u="sng" dirty="0" smtClean="0"/>
              <a:t>built-in HTTP server</a:t>
            </a:r>
            <a:r>
              <a:rPr lang="en-US" sz="2400" dirty="0" smtClean="0"/>
              <a:t> that </a:t>
            </a:r>
            <a:r>
              <a:rPr lang="en-US" sz="2400" u="sng" dirty="0" smtClean="0"/>
              <a:t>publishes information about the health of the task</a:t>
            </a:r>
            <a:r>
              <a:rPr lang="en-US" sz="2400" dirty="0" smtClean="0"/>
              <a:t> and thousands of performance metrics (e.g., RPC latencies).</a:t>
            </a:r>
          </a:p>
          <a:p>
            <a:r>
              <a:rPr lang="en-US" sz="2400" dirty="0" smtClean="0"/>
              <a:t>Borg monitors the health-check URL and restarts tasks that do not respond promptly or return an HTTP error code.</a:t>
            </a:r>
          </a:p>
          <a:p>
            <a:r>
              <a:rPr lang="en-US" sz="2400" dirty="0" smtClean="0"/>
              <a:t>Other data is tracked by monitoring tools for dashboards and alerts on service level objective (SLO) violations.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Borg Architecture</a:t>
            </a:r>
            <a:endParaRPr lang="en-US" dirty="0"/>
          </a:p>
        </p:txBody>
      </p:sp>
      <p:sp>
        <p:nvSpPr>
          <p:cNvPr id="3" name="Content Placeholder 2"/>
          <p:cNvSpPr>
            <a:spLocks noGrp="1"/>
          </p:cNvSpPr>
          <p:nvPr>
            <p:ph idx="1"/>
          </p:nvPr>
        </p:nvSpPr>
        <p:spPr>
          <a:xfrm>
            <a:off x="457200" y="1600200"/>
            <a:ext cx="3581400" cy="4525963"/>
          </a:xfrm>
        </p:spPr>
        <p:txBody>
          <a:bodyPr/>
          <a:lstStyle/>
          <a:p>
            <a:r>
              <a:rPr lang="en-US" sz="2400" dirty="0" smtClean="0"/>
              <a:t>A Borg cell consists of a set of machines, a logically </a:t>
            </a:r>
            <a:r>
              <a:rPr lang="en-US" sz="2400" u="sng" dirty="0" smtClean="0"/>
              <a:t>centralized controller</a:t>
            </a:r>
            <a:r>
              <a:rPr lang="en-US" sz="2400" dirty="0" smtClean="0"/>
              <a:t> called the </a:t>
            </a:r>
            <a:r>
              <a:rPr lang="en-US" sz="2400" i="1" dirty="0" err="1" smtClean="0">
                <a:solidFill>
                  <a:srgbClr val="C00000"/>
                </a:solidFill>
              </a:rPr>
              <a:t>Borgmaster</a:t>
            </a:r>
            <a:r>
              <a:rPr lang="en-US" sz="2400" dirty="0" smtClean="0"/>
              <a:t>, and an </a:t>
            </a:r>
            <a:r>
              <a:rPr lang="en-US" sz="2400" u="sng" dirty="0" smtClean="0"/>
              <a:t>agent process</a:t>
            </a:r>
            <a:r>
              <a:rPr lang="en-US" sz="2400" dirty="0" smtClean="0"/>
              <a:t> called the </a:t>
            </a:r>
            <a:r>
              <a:rPr lang="en-US" sz="2400" i="1" dirty="0" err="1" smtClean="0">
                <a:solidFill>
                  <a:srgbClr val="C00000"/>
                </a:solidFill>
              </a:rPr>
              <a:t>Borglet</a:t>
            </a:r>
            <a:r>
              <a:rPr lang="en-US" sz="2400" dirty="0" smtClean="0"/>
              <a:t> that runs on each machine in a cell.</a:t>
            </a:r>
            <a:endParaRPr lang="en-US" sz="2200" i="1" dirty="0"/>
          </a:p>
        </p:txBody>
      </p:sp>
      <p:pic>
        <p:nvPicPr>
          <p:cNvPr id="1026" name="Picture 2"/>
          <p:cNvPicPr>
            <a:picLocks noChangeAspect="1" noChangeArrowheads="1"/>
          </p:cNvPicPr>
          <p:nvPr/>
        </p:nvPicPr>
        <p:blipFill>
          <a:blip r:embed="rId2" cstate="print"/>
          <a:srcRect/>
          <a:stretch>
            <a:fillRect/>
          </a:stretch>
        </p:blipFill>
        <p:spPr bwMode="auto">
          <a:xfrm>
            <a:off x="4267200" y="1905000"/>
            <a:ext cx="4222750" cy="39401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Borgmaster</a:t>
            </a:r>
            <a:endParaRPr lang="en-US" dirty="0"/>
          </a:p>
        </p:txBody>
      </p:sp>
      <p:sp>
        <p:nvSpPr>
          <p:cNvPr id="3" name="Content Placeholder 2"/>
          <p:cNvSpPr>
            <a:spLocks noGrp="1"/>
          </p:cNvSpPr>
          <p:nvPr>
            <p:ph idx="1"/>
          </p:nvPr>
        </p:nvSpPr>
        <p:spPr/>
        <p:txBody>
          <a:bodyPr/>
          <a:lstStyle/>
          <a:p>
            <a:r>
              <a:rPr lang="en-US" dirty="0" smtClean="0"/>
              <a:t>The main </a:t>
            </a:r>
            <a:r>
              <a:rPr lang="en-US" dirty="0" err="1" smtClean="0"/>
              <a:t>Borgmaster</a:t>
            </a:r>
            <a:r>
              <a:rPr lang="en-US" dirty="0" smtClean="0"/>
              <a:t> process handles client RPCs that either mutate state (e.g., create job) or provide read-only access to data (e.g., lookup job).</a:t>
            </a:r>
          </a:p>
          <a:p>
            <a:r>
              <a:rPr lang="en-US" dirty="0" smtClean="0"/>
              <a:t>The </a:t>
            </a:r>
            <a:r>
              <a:rPr lang="en-US" dirty="0" err="1" smtClean="0"/>
              <a:t>Borgmaster</a:t>
            </a:r>
            <a:r>
              <a:rPr lang="en-US" dirty="0" smtClean="0"/>
              <a:t> is logically a single process but is actually replicated five times.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a:t>
            </a:r>
            <a:endParaRPr lang="en-US" dirty="0"/>
          </a:p>
        </p:txBody>
      </p:sp>
      <p:sp>
        <p:nvSpPr>
          <p:cNvPr id="3" name="Content Placeholder 2"/>
          <p:cNvSpPr>
            <a:spLocks noGrp="1"/>
          </p:cNvSpPr>
          <p:nvPr>
            <p:ph idx="1"/>
          </p:nvPr>
        </p:nvSpPr>
        <p:spPr/>
        <p:txBody>
          <a:bodyPr/>
          <a:lstStyle/>
          <a:p>
            <a:r>
              <a:rPr lang="en-US" sz="2400" dirty="0" smtClean="0"/>
              <a:t>When a job is submitted, the </a:t>
            </a:r>
            <a:r>
              <a:rPr lang="en-US" sz="2400" dirty="0" err="1" smtClean="0"/>
              <a:t>Borgmaster</a:t>
            </a:r>
            <a:r>
              <a:rPr lang="en-US" sz="2400" dirty="0" smtClean="0"/>
              <a:t> records it persistently in the </a:t>
            </a:r>
            <a:r>
              <a:rPr lang="en-US" sz="2400" dirty="0" err="1" smtClean="0"/>
              <a:t>Paxos</a:t>
            </a:r>
            <a:r>
              <a:rPr lang="en-US" sz="2400" dirty="0" smtClean="0"/>
              <a:t> store and adds the job’s tasks to the pending queue.</a:t>
            </a:r>
          </a:p>
          <a:p>
            <a:r>
              <a:rPr lang="en-US" sz="2400" dirty="0" smtClean="0"/>
              <a:t>This is scanned asynchronously by the scheduler, which assigns tasks to machines if there are sufficient available resources that meet the job’s constraints.</a:t>
            </a:r>
          </a:p>
          <a:p>
            <a:r>
              <a:rPr lang="en-US" sz="2400" dirty="0" smtClean="0"/>
              <a:t>(The scheduler primarily operates on tasks, not jobs.)</a:t>
            </a:r>
          </a:p>
          <a:p>
            <a:r>
              <a:rPr lang="en-US" sz="2400" dirty="0" smtClean="0"/>
              <a:t>The scheduling algorithm has two parts: </a:t>
            </a:r>
            <a:r>
              <a:rPr lang="en-US" sz="2400" i="1" dirty="0" smtClean="0">
                <a:solidFill>
                  <a:srgbClr val="C00000"/>
                </a:solidFill>
              </a:rPr>
              <a:t>feasibility checking</a:t>
            </a:r>
            <a:r>
              <a:rPr lang="en-US" sz="2400" dirty="0" smtClean="0"/>
              <a:t>, to find machines on which the task could run, and </a:t>
            </a:r>
            <a:r>
              <a:rPr lang="en-US" sz="2400" i="1" dirty="0" smtClean="0">
                <a:solidFill>
                  <a:srgbClr val="C00000"/>
                </a:solidFill>
              </a:rPr>
              <a:t>scoring</a:t>
            </a:r>
            <a:r>
              <a:rPr lang="en-US" sz="2400" dirty="0" smtClean="0"/>
              <a:t>, which picks one of the feasible machines.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"Worst fit" Scoring</a:t>
            </a:r>
            <a:endParaRPr lang="en-US" dirty="0"/>
          </a:p>
        </p:txBody>
      </p:sp>
      <p:sp>
        <p:nvSpPr>
          <p:cNvPr id="3" name="Content Placeholder 2"/>
          <p:cNvSpPr>
            <a:spLocks noGrp="1"/>
          </p:cNvSpPr>
          <p:nvPr>
            <p:ph idx="1"/>
          </p:nvPr>
        </p:nvSpPr>
        <p:spPr/>
        <p:txBody>
          <a:bodyPr/>
          <a:lstStyle/>
          <a:p>
            <a:r>
              <a:rPr lang="en-US" sz="2600" dirty="0" smtClean="0"/>
              <a:t>Borg originally used a variant of E-PVM for scoring, which generates a single cost value across heterogeneous resources and minimizes the change in cost when placing a task.</a:t>
            </a:r>
          </a:p>
          <a:p>
            <a:r>
              <a:rPr lang="en-US" sz="2600" dirty="0" smtClean="0"/>
              <a:t>In practice, E-PVM ends up </a:t>
            </a:r>
            <a:r>
              <a:rPr lang="en-US" sz="2600" i="1" dirty="0" smtClean="0">
                <a:solidFill>
                  <a:srgbClr val="C00000"/>
                </a:solidFill>
              </a:rPr>
              <a:t>spreading load across all the machines</a:t>
            </a:r>
            <a:r>
              <a:rPr lang="en-US" sz="2600" dirty="0" smtClean="0"/>
              <a:t>, leaving headroom for load spikes – but at the expense of increased fragmentation, especially for large tasks that need most of the machine; we sometimes call this “worst fit”.</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"Best fit" Scoring</a:t>
            </a:r>
            <a:endParaRPr lang="en-US" dirty="0"/>
          </a:p>
        </p:txBody>
      </p:sp>
      <p:sp>
        <p:nvSpPr>
          <p:cNvPr id="3" name="Content Placeholder 2"/>
          <p:cNvSpPr>
            <a:spLocks noGrp="1"/>
          </p:cNvSpPr>
          <p:nvPr>
            <p:ph idx="1"/>
          </p:nvPr>
        </p:nvSpPr>
        <p:spPr/>
        <p:txBody>
          <a:bodyPr/>
          <a:lstStyle/>
          <a:p>
            <a:r>
              <a:rPr lang="en-US" sz="2400" dirty="0" smtClean="0"/>
              <a:t>The opposite end of the spectrum is “best fit”, which tries to fill machines </a:t>
            </a:r>
            <a:r>
              <a:rPr lang="en-US" sz="2400" i="1" dirty="0" smtClean="0">
                <a:solidFill>
                  <a:srgbClr val="C00000"/>
                </a:solidFill>
              </a:rPr>
              <a:t>as tightly as possible</a:t>
            </a:r>
            <a:r>
              <a:rPr lang="en-US" sz="2400" dirty="0" smtClean="0"/>
              <a:t>.</a:t>
            </a:r>
          </a:p>
          <a:p>
            <a:r>
              <a:rPr lang="en-US" sz="2400" dirty="0" smtClean="0"/>
              <a:t>This leaves some machines empty of user jobs (they still run storage servers), so </a:t>
            </a:r>
            <a:r>
              <a:rPr lang="en-US" sz="2400" i="1" dirty="0" smtClean="0">
                <a:solidFill>
                  <a:srgbClr val="C00000"/>
                </a:solidFill>
              </a:rPr>
              <a:t>placing large tasks</a:t>
            </a:r>
            <a:r>
              <a:rPr lang="en-US" sz="2400" dirty="0" smtClean="0"/>
              <a:t> is </a:t>
            </a:r>
            <a:r>
              <a:rPr lang="en-US" sz="2400" u="sng" dirty="0" smtClean="0"/>
              <a:t>straightforward</a:t>
            </a:r>
            <a:r>
              <a:rPr lang="en-US" sz="2400" dirty="0" smtClean="0"/>
              <a:t>, but the tight packing penalizes any </a:t>
            </a:r>
            <a:r>
              <a:rPr lang="en-US" sz="2400" dirty="0" err="1" smtClean="0"/>
              <a:t>mis</a:t>
            </a:r>
            <a:r>
              <a:rPr lang="en-US" sz="2400" dirty="0" smtClean="0"/>
              <a:t>-estimations in resource requirements by users or Borg.</a:t>
            </a:r>
          </a:p>
          <a:p>
            <a:r>
              <a:rPr lang="en-US" sz="2400" dirty="0" smtClean="0"/>
              <a:t>This </a:t>
            </a:r>
            <a:r>
              <a:rPr lang="en-US" sz="2400" i="1" dirty="0" smtClean="0">
                <a:solidFill>
                  <a:srgbClr val="C00000"/>
                </a:solidFill>
              </a:rPr>
              <a:t>hurts</a:t>
            </a:r>
            <a:r>
              <a:rPr lang="en-US" sz="2400" dirty="0" smtClean="0"/>
              <a:t> applications with </a:t>
            </a:r>
            <a:r>
              <a:rPr lang="en-US" sz="2400" u="sng" dirty="0" err="1" smtClean="0"/>
              <a:t>bursty</a:t>
            </a:r>
            <a:r>
              <a:rPr lang="en-US" sz="2400" u="sng" dirty="0" smtClean="0"/>
              <a:t> loads</a:t>
            </a:r>
            <a:r>
              <a:rPr lang="en-US" sz="2400" dirty="0" smtClean="0"/>
              <a:t>, and is particularly bad for batch jobs which specify low CPU needs so they can schedule easily and try to run opportunistically in unused resources: 20% of non-prod tasks request less than 0.1 CPU cores.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Approach</a:t>
            </a:r>
            <a:endParaRPr lang="en-US" dirty="0"/>
          </a:p>
        </p:txBody>
      </p:sp>
      <p:sp>
        <p:nvSpPr>
          <p:cNvPr id="3" name="Content Placeholder 2"/>
          <p:cNvSpPr>
            <a:spLocks noGrp="1"/>
          </p:cNvSpPr>
          <p:nvPr>
            <p:ph idx="1"/>
          </p:nvPr>
        </p:nvSpPr>
        <p:spPr/>
        <p:txBody>
          <a:bodyPr/>
          <a:lstStyle/>
          <a:p>
            <a:r>
              <a:rPr lang="en-US" dirty="0" smtClean="0"/>
              <a:t>Our current scoring model is a hybrid one that tries to reduce the amount of stranded resources – ones that cannot be used because another resource on the machine is fully allocated.</a:t>
            </a:r>
          </a:p>
          <a:p>
            <a:r>
              <a:rPr lang="en-US" dirty="0" smtClean="0"/>
              <a:t>It provides about 3–5% better packing efficiency than best fit for our workloads.</a:t>
            </a:r>
          </a:p>
          <a:p>
            <a:r>
              <a:rPr lang="en-US" b="1" i="1" dirty="0" smtClean="0"/>
              <a:t>See </a:t>
            </a:r>
            <a:r>
              <a:rPr lang="en-US" b="1" i="1" dirty="0" err="1" smtClean="0"/>
              <a:t>Abhishek</a:t>
            </a:r>
            <a:r>
              <a:rPr lang="en-US" b="1" i="1" dirty="0" smtClean="0"/>
              <a:t> </a:t>
            </a:r>
            <a:r>
              <a:rPr lang="en-US" b="1" i="1" dirty="0" err="1" smtClean="0"/>
              <a:t>Verma</a:t>
            </a:r>
            <a:r>
              <a:rPr lang="en-US" b="1" i="1" dirty="0" smtClean="0"/>
              <a:t> et al. (2014). Evaluating job packing in warehouse-scale computing.</a:t>
            </a:r>
            <a:endParaRPr lang="en-US" b="1"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Borglet</a:t>
            </a:r>
            <a:endParaRPr lang="en-US" dirty="0"/>
          </a:p>
        </p:txBody>
      </p:sp>
      <p:sp>
        <p:nvSpPr>
          <p:cNvPr id="3" name="Content Placeholder 2"/>
          <p:cNvSpPr>
            <a:spLocks noGrp="1"/>
          </p:cNvSpPr>
          <p:nvPr>
            <p:ph idx="1"/>
          </p:nvPr>
        </p:nvSpPr>
        <p:spPr/>
        <p:txBody>
          <a:bodyPr/>
          <a:lstStyle/>
          <a:p>
            <a:r>
              <a:rPr lang="en-US" dirty="0" smtClean="0"/>
              <a:t>The </a:t>
            </a:r>
            <a:r>
              <a:rPr lang="en-US" i="1" dirty="0" err="1" smtClean="0">
                <a:solidFill>
                  <a:srgbClr val="C00000"/>
                </a:solidFill>
              </a:rPr>
              <a:t>Borglet</a:t>
            </a:r>
            <a:r>
              <a:rPr lang="en-US" dirty="0" smtClean="0"/>
              <a:t> is a </a:t>
            </a:r>
            <a:r>
              <a:rPr lang="en-US" u="sng" dirty="0" smtClean="0"/>
              <a:t>local Borg agent</a:t>
            </a:r>
            <a:r>
              <a:rPr lang="en-US" dirty="0" smtClean="0"/>
              <a:t> that is present on every machine in a cell.</a:t>
            </a:r>
          </a:p>
          <a:p>
            <a:r>
              <a:rPr lang="en-US" dirty="0" smtClean="0"/>
              <a:t>It starts and stops tasks; restarts them if they fail; manages local resources by manipulating OS kernel settings; rolls over debug logs; and reports the state of the machine to the </a:t>
            </a:r>
            <a:r>
              <a:rPr lang="en-US" dirty="0" err="1" smtClean="0"/>
              <a:t>Borgmaster</a:t>
            </a:r>
            <a:r>
              <a:rPr lang="en-US" dirty="0" smtClean="0"/>
              <a:t> and other monitoring systems.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Statless</a:t>
            </a:r>
            <a:r>
              <a:rPr lang="en-US" dirty="0" smtClean="0"/>
              <a:t> Link Shard</a:t>
            </a:r>
            <a:endParaRPr lang="en-US" dirty="0"/>
          </a:p>
        </p:txBody>
      </p:sp>
      <p:sp>
        <p:nvSpPr>
          <p:cNvPr id="3" name="Content Placeholder 2"/>
          <p:cNvSpPr>
            <a:spLocks noGrp="1"/>
          </p:cNvSpPr>
          <p:nvPr>
            <p:ph idx="1"/>
          </p:nvPr>
        </p:nvSpPr>
        <p:spPr/>
        <p:txBody>
          <a:bodyPr/>
          <a:lstStyle/>
          <a:p>
            <a:r>
              <a:rPr lang="en-US" sz="2800" dirty="0" smtClean="0"/>
              <a:t>For performance scalability, each </a:t>
            </a:r>
            <a:r>
              <a:rPr lang="en-US" sz="2800" dirty="0" err="1" smtClean="0"/>
              <a:t>Borgmaster</a:t>
            </a:r>
            <a:r>
              <a:rPr lang="en-US" sz="2800" dirty="0" smtClean="0"/>
              <a:t> replica runs a </a:t>
            </a:r>
            <a:r>
              <a:rPr lang="en-US" sz="2800" u="sng" dirty="0" smtClean="0"/>
              <a:t>stateless</a:t>
            </a:r>
            <a:r>
              <a:rPr lang="en-US" sz="2800" dirty="0" smtClean="0"/>
              <a:t> </a:t>
            </a:r>
            <a:r>
              <a:rPr lang="en-US" sz="2800" i="1" dirty="0" smtClean="0">
                <a:solidFill>
                  <a:srgbClr val="C00000"/>
                </a:solidFill>
              </a:rPr>
              <a:t>link shard</a:t>
            </a:r>
            <a:r>
              <a:rPr lang="en-US" sz="2800" dirty="0" smtClean="0"/>
              <a:t> to handle the communication with some of the </a:t>
            </a:r>
            <a:r>
              <a:rPr lang="en-US" sz="2800" dirty="0" err="1" smtClean="0"/>
              <a:t>Borglets</a:t>
            </a:r>
            <a:r>
              <a:rPr lang="en-US" sz="2800" dirty="0" smtClean="0"/>
              <a:t>; the partitioning is recalculated whenever a </a:t>
            </a:r>
            <a:r>
              <a:rPr lang="en-US" sz="2800" dirty="0" err="1" smtClean="0"/>
              <a:t>Borgmaster</a:t>
            </a:r>
            <a:r>
              <a:rPr lang="en-US" sz="2800" dirty="0" smtClean="0"/>
              <a:t> election occurs.</a:t>
            </a:r>
          </a:p>
          <a:p>
            <a:r>
              <a:rPr lang="en-US" sz="2800" dirty="0" smtClean="0"/>
              <a:t>For resiliency, the </a:t>
            </a:r>
            <a:r>
              <a:rPr lang="en-US" sz="2800" dirty="0" err="1" smtClean="0"/>
              <a:t>Borglet</a:t>
            </a:r>
            <a:r>
              <a:rPr lang="en-US" sz="2800" dirty="0" smtClean="0"/>
              <a:t> always reports its full state, but the link shards aggregate and compress this information by reporting only differences to the state machines, to reduce the update load at the elected master.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Rescheduled Tasks</a:t>
            </a:r>
            <a:endParaRPr lang="en-US" dirty="0"/>
          </a:p>
        </p:txBody>
      </p:sp>
      <p:sp>
        <p:nvSpPr>
          <p:cNvPr id="3" name="Content Placeholder 2"/>
          <p:cNvSpPr>
            <a:spLocks noGrp="1"/>
          </p:cNvSpPr>
          <p:nvPr>
            <p:ph idx="1"/>
          </p:nvPr>
        </p:nvSpPr>
        <p:spPr/>
        <p:txBody>
          <a:bodyPr/>
          <a:lstStyle/>
          <a:p>
            <a:r>
              <a:rPr lang="en-US" sz="2600" dirty="0" smtClean="0"/>
              <a:t>If a </a:t>
            </a:r>
            <a:r>
              <a:rPr lang="en-US" sz="2600" dirty="0" err="1" smtClean="0"/>
              <a:t>Borglet</a:t>
            </a:r>
            <a:r>
              <a:rPr lang="en-US" sz="2600" dirty="0" smtClean="0"/>
              <a:t> </a:t>
            </a:r>
            <a:r>
              <a:rPr lang="en-US" sz="2600" i="1" dirty="0" smtClean="0">
                <a:solidFill>
                  <a:srgbClr val="C00000"/>
                </a:solidFill>
              </a:rPr>
              <a:t>does not respond to several poll messages</a:t>
            </a:r>
            <a:r>
              <a:rPr lang="en-US" sz="2600" dirty="0" smtClean="0"/>
              <a:t> its machine is marked as down and any tasks it was running are </a:t>
            </a:r>
            <a:r>
              <a:rPr lang="en-US" sz="2600" u="sng" dirty="0" smtClean="0"/>
              <a:t>rescheduled on other machines</a:t>
            </a:r>
            <a:r>
              <a:rPr lang="en-US" sz="2600" dirty="0" smtClean="0"/>
              <a:t>.</a:t>
            </a:r>
          </a:p>
          <a:p>
            <a:r>
              <a:rPr lang="en-US" sz="2600" dirty="0" smtClean="0"/>
              <a:t>If communication is restored the </a:t>
            </a:r>
            <a:r>
              <a:rPr lang="en-US" sz="2600" dirty="0" err="1" smtClean="0"/>
              <a:t>Borgmaster</a:t>
            </a:r>
            <a:r>
              <a:rPr lang="en-US" sz="2600" dirty="0" smtClean="0"/>
              <a:t> tells the </a:t>
            </a:r>
            <a:r>
              <a:rPr lang="en-US" sz="2600" dirty="0" err="1" smtClean="0"/>
              <a:t>Borglet</a:t>
            </a:r>
            <a:r>
              <a:rPr lang="en-US" sz="2600" dirty="0" smtClean="0"/>
              <a:t> to kill those tasks that have been rescheduled, to avoid duplicates.</a:t>
            </a:r>
          </a:p>
          <a:p>
            <a:r>
              <a:rPr lang="en-US" sz="2600" dirty="0" smtClean="0"/>
              <a:t>A </a:t>
            </a:r>
            <a:r>
              <a:rPr lang="en-US" sz="2600" dirty="0" err="1" smtClean="0"/>
              <a:t>Borglet</a:t>
            </a:r>
            <a:r>
              <a:rPr lang="en-US" sz="2600" dirty="0" smtClean="0"/>
              <a:t> continues normal operation even if it loses contact with the </a:t>
            </a:r>
            <a:r>
              <a:rPr lang="en-US" sz="2600" dirty="0" err="1" smtClean="0"/>
              <a:t>Borgmaster</a:t>
            </a:r>
            <a:r>
              <a:rPr lang="en-US" sz="2600" dirty="0" smtClean="0"/>
              <a:t>, so currently-running tasks and services stay up even if all </a:t>
            </a:r>
            <a:r>
              <a:rPr lang="en-US" sz="2600" dirty="0" err="1" smtClean="0"/>
              <a:t>Borgmaster</a:t>
            </a:r>
            <a:r>
              <a:rPr lang="en-US" sz="2600" dirty="0" smtClean="0"/>
              <a:t> replicas fail.</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Scalability</a:t>
            </a:r>
            <a:endParaRPr lang="en-US" dirty="0"/>
          </a:p>
        </p:txBody>
      </p:sp>
      <p:sp>
        <p:nvSpPr>
          <p:cNvPr id="3" name="Content Placeholder 2"/>
          <p:cNvSpPr>
            <a:spLocks noGrp="1"/>
          </p:cNvSpPr>
          <p:nvPr>
            <p:ph idx="1"/>
          </p:nvPr>
        </p:nvSpPr>
        <p:spPr/>
        <p:txBody>
          <a:bodyPr/>
          <a:lstStyle/>
          <a:p>
            <a:r>
              <a:rPr lang="en-US" sz="2400" dirty="0" smtClean="0"/>
              <a:t>Early versions of </a:t>
            </a:r>
            <a:r>
              <a:rPr lang="en-US" sz="2400" dirty="0" err="1" smtClean="0"/>
              <a:t>Borgmaster</a:t>
            </a:r>
            <a:r>
              <a:rPr lang="en-US" sz="2400" dirty="0" smtClean="0"/>
              <a:t> had a simple, synchronous loop that accepted requests, scheduled tasks, and communicated with </a:t>
            </a:r>
            <a:r>
              <a:rPr lang="en-US" sz="2400" dirty="0" err="1" smtClean="0"/>
              <a:t>Borglets</a:t>
            </a:r>
            <a:r>
              <a:rPr lang="en-US" sz="2400" dirty="0" smtClean="0"/>
              <a:t>.</a:t>
            </a:r>
          </a:p>
          <a:p>
            <a:r>
              <a:rPr lang="en-US" sz="2400" dirty="0" smtClean="0"/>
              <a:t>To handle larger cells, we split </a:t>
            </a:r>
            <a:r>
              <a:rPr lang="en-US" sz="2400" i="1" dirty="0" smtClean="0">
                <a:solidFill>
                  <a:srgbClr val="C00000"/>
                </a:solidFill>
              </a:rPr>
              <a:t>the scheduler</a:t>
            </a:r>
            <a:r>
              <a:rPr lang="en-US" sz="2400" dirty="0" smtClean="0"/>
              <a:t> into </a:t>
            </a:r>
            <a:r>
              <a:rPr lang="en-US" sz="2400" u="sng" dirty="0" smtClean="0"/>
              <a:t>a separate process</a:t>
            </a:r>
            <a:r>
              <a:rPr lang="en-US" sz="2400" dirty="0" smtClean="0"/>
              <a:t> so it could operate in parallel with the other </a:t>
            </a:r>
            <a:r>
              <a:rPr lang="en-US" sz="2400" dirty="0" err="1" smtClean="0"/>
              <a:t>Borgmaster</a:t>
            </a:r>
            <a:r>
              <a:rPr lang="en-US" sz="2400" dirty="0" smtClean="0"/>
              <a:t> functions that are replicated for failure tolerance.</a:t>
            </a:r>
          </a:p>
          <a:p>
            <a:r>
              <a:rPr lang="en-US" sz="2400" dirty="0" smtClean="0"/>
              <a:t>To improve response times, we added separate threads to talk to the </a:t>
            </a:r>
            <a:r>
              <a:rPr lang="en-US" sz="2400" dirty="0" err="1" smtClean="0"/>
              <a:t>Borglets</a:t>
            </a:r>
            <a:r>
              <a:rPr lang="en-US" sz="2400" dirty="0" smtClean="0"/>
              <a:t> and respond to read-only RPCs. For greater performance, we </a:t>
            </a:r>
            <a:r>
              <a:rPr lang="en-US" sz="2400" dirty="0" err="1" smtClean="0"/>
              <a:t>sharded</a:t>
            </a:r>
            <a:r>
              <a:rPr lang="en-US" sz="2400" dirty="0" smtClean="0"/>
              <a:t> (partitioned) these functions across the five </a:t>
            </a:r>
            <a:r>
              <a:rPr lang="en-US" sz="2400" dirty="0" err="1" smtClean="0"/>
              <a:t>Borgmaster</a:t>
            </a:r>
            <a:r>
              <a:rPr lang="en-US" sz="2400" dirty="0" smtClean="0"/>
              <a:t> replicas (</a:t>
            </a:r>
            <a:r>
              <a:rPr lang="en-US" sz="2400" i="1" dirty="0" smtClean="0"/>
              <a:t>link shards</a:t>
            </a:r>
            <a:r>
              <a:rPr lang="en-US" sz="2400" dirty="0" smtClean="0"/>
              <a: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between the Scheduler and the Elected master</a:t>
            </a:r>
            <a:endParaRPr lang="en-US" dirty="0"/>
          </a:p>
        </p:txBody>
      </p:sp>
      <p:sp>
        <p:nvSpPr>
          <p:cNvPr id="3" name="Content Placeholder 2"/>
          <p:cNvSpPr>
            <a:spLocks noGrp="1"/>
          </p:cNvSpPr>
          <p:nvPr>
            <p:ph idx="1"/>
          </p:nvPr>
        </p:nvSpPr>
        <p:spPr/>
        <p:txBody>
          <a:bodyPr/>
          <a:lstStyle/>
          <a:p>
            <a:r>
              <a:rPr lang="en-US" sz="2600" dirty="0" smtClean="0"/>
              <a:t>A scheduler replica operates on </a:t>
            </a:r>
            <a:r>
              <a:rPr lang="en-US" sz="2600" i="1" dirty="0" smtClean="0">
                <a:solidFill>
                  <a:srgbClr val="C00000"/>
                </a:solidFill>
              </a:rPr>
              <a:t>a cached copy</a:t>
            </a:r>
            <a:r>
              <a:rPr lang="en-US" sz="2600" dirty="0" smtClean="0"/>
              <a:t> of the cell state.</a:t>
            </a:r>
          </a:p>
          <a:p>
            <a:r>
              <a:rPr lang="en-US" sz="2600" dirty="0" smtClean="0"/>
              <a:t>It repeatedly: retrieves state changes from the elected master (including both assigned and pending work); updates its local copy; does a scheduling pass to assign tasks; and informs the elected master of those assignments.</a:t>
            </a:r>
          </a:p>
          <a:p>
            <a:r>
              <a:rPr lang="en-US" sz="2600" dirty="0" smtClean="0"/>
              <a:t>The master will accept and apply these assignments unless they are inappropriate (e.g., based on out of date state), which will cause them to be reconsidered in the scheduler’s next pass.</a:t>
            </a:r>
            <a:endParaRPr lang="en-US" sz="2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Availability</a:t>
            </a:r>
            <a:endParaRPr lang="en-US" dirty="0"/>
          </a:p>
        </p:txBody>
      </p:sp>
      <p:sp>
        <p:nvSpPr>
          <p:cNvPr id="3" name="Content Placeholder 2"/>
          <p:cNvSpPr>
            <a:spLocks noGrp="1"/>
          </p:cNvSpPr>
          <p:nvPr>
            <p:ph idx="1"/>
          </p:nvPr>
        </p:nvSpPr>
        <p:spPr/>
        <p:txBody>
          <a:bodyPr/>
          <a:lstStyle/>
          <a:p>
            <a:r>
              <a:rPr lang="en-US" sz="2800" dirty="0" smtClean="0"/>
              <a:t>Failures are the norm in large scale systems.</a:t>
            </a:r>
          </a:p>
          <a:p>
            <a:r>
              <a:rPr lang="en-US" sz="2800" dirty="0" smtClean="0"/>
              <a:t>Applications that run on Borg are expected to handle such events, using techniques such as replication, storing persistent state in a distributed file system, and (if appropriate) taking occasional checkpoints.</a:t>
            </a:r>
          </a:p>
          <a:p>
            <a:r>
              <a:rPr lang="en-US" sz="2800" dirty="0" smtClean="0"/>
              <a:t>A key design feature in Borg is that </a:t>
            </a:r>
            <a:r>
              <a:rPr lang="en-US" sz="2800" i="1" dirty="0" smtClean="0">
                <a:solidFill>
                  <a:srgbClr val="C00000"/>
                </a:solidFill>
              </a:rPr>
              <a:t>already-running tasks</a:t>
            </a:r>
            <a:r>
              <a:rPr lang="en-US" sz="2800" dirty="0" smtClean="0"/>
              <a:t> </a:t>
            </a:r>
            <a:r>
              <a:rPr lang="en-US" sz="2800" u="sng" dirty="0" smtClean="0"/>
              <a:t>continue to run</a:t>
            </a:r>
            <a:r>
              <a:rPr lang="en-US" sz="2800" dirty="0" smtClean="0"/>
              <a:t> even if the </a:t>
            </a:r>
            <a:r>
              <a:rPr lang="en-US" sz="2800" dirty="0" err="1" smtClean="0"/>
              <a:t>Borgmaster</a:t>
            </a:r>
            <a:r>
              <a:rPr lang="en-US" sz="2800" dirty="0" smtClean="0"/>
              <a:t> or a task’s </a:t>
            </a:r>
            <a:r>
              <a:rPr lang="en-US" sz="2800" dirty="0" err="1" smtClean="0"/>
              <a:t>Borglet</a:t>
            </a:r>
            <a:r>
              <a:rPr lang="en-US" sz="2800" dirty="0" smtClean="0"/>
              <a:t> goes down.</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Scheduling Goals (I)</a:t>
            </a:r>
            <a:endParaRPr lang="en-US" dirty="0"/>
          </a:p>
        </p:txBody>
      </p:sp>
      <p:sp>
        <p:nvSpPr>
          <p:cNvPr id="3" name="Content Placeholder 2"/>
          <p:cNvSpPr>
            <a:spLocks noGrp="1"/>
          </p:cNvSpPr>
          <p:nvPr>
            <p:ph idx="1"/>
          </p:nvPr>
        </p:nvSpPr>
        <p:spPr/>
        <p:txBody>
          <a:bodyPr/>
          <a:lstStyle/>
          <a:p>
            <a:r>
              <a:rPr lang="en-US" sz="2800" dirty="0" smtClean="0"/>
              <a:t>Performance (Job/Workload Efficiency)</a:t>
            </a:r>
          </a:p>
          <a:p>
            <a:pPr lvl="1"/>
            <a:r>
              <a:rPr lang="en-US" sz="2400" dirty="0" smtClean="0"/>
              <a:t>Achieve low job response times and high throughput (e.g., minimize </a:t>
            </a:r>
            <a:r>
              <a:rPr lang="en-US" sz="2400" dirty="0" err="1" smtClean="0"/>
              <a:t>makespan</a:t>
            </a:r>
            <a:r>
              <a:rPr lang="en-US" sz="2400" dirty="0" smtClean="0"/>
              <a:t>, average completion time).</a:t>
            </a:r>
          </a:p>
          <a:p>
            <a:r>
              <a:rPr lang="en-US" sz="2800" dirty="0" smtClean="0"/>
              <a:t>Resource Utilization and Efficiency</a:t>
            </a:r>
          </a:p>
          <a:p>
            <a:pPr lvl="1"/>
            <a:r>
              <a:rPr lang="en-US" sz="2400" dirty="0" smtClean="0"/>
              <a:t>Maximize use of available cluster resources (CPU, memory, GPUs, etc.) to reduce idle capacity.</a:t>
            </a:r>
          </a:p>
          <a:p>
            <a:r>
              <a:rPr lang="en-US" sz="2800" dirty="0" smtClean="0"/>
              <a:t>Workload Accommodation / Balancing</a:t>
            </a:r>
          </a:p>
          <a:p>
            <a:pPr lvl="1"/>
            <a:r>
              <a:rPr lang="en-US" sz="2400" dirty="0" smtClean="0"/>
              <a:t>Ensure heterogeneous workloads (batch, interactive, latency-sensitive) are supported effectively, and work is balanced across nodes to avoid bottlenecks.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Scheduling Goals (II)</a:t>
            </a:r>
            <a:endParaRPr lang="en-US" dirty="0"/>
          </a:p>
        </p:txBody>
      </p:sp>
      <p:sp>
        <p:nvSpPr>
          <p:cNvPr id="3" name="Content Placeholder 2"/>
          <p:cNvSpPr>
            <a:spLocks noGrp="1"/>
          </p:cNvSpPr>
          <p:nvPr>
            <p:ph idx="1"/>
          </p:nvPr>
        </p:nvSpPr>
        <p:spPr/>
        <p:txBody>
          <a:bodyPr/>
          <a:lstStyle/>
          <a:p>
            <a:r>
              <a:rPr lang="en-US" sz="2800" dirty="0" smtClean="0"/>
              <a:t>Fairness and Service Guarantees</a:t>
            </a:r>
          </a:p>
          <a:p>
            <a:pPr lvl="1"/>
            <a:r>
              <a:rPr lang="en-US" sz="2400" dirty="0" smtClean="0"/>
              <a:t>Allocate resources such that no tenant/starves, and fairness is maintained across jobs or users.</a:t>
            </a:r>
          </a:p>
          <a:p>
            <a:r>
              <a:rPr lang="en-US" sz="2800" dirty="0" smtClean="0"/>
              <a:t>Scalability and Adaptability</a:t>
            </a:r>
          </a:p>
          <a:p>
            <a:pPr lvl="1"/>
            <a:r>
              <a:rPr lang="en-US" sz="2400" dirty="0" smtClean="0"/>
              <a:t>Schedulers should scale with cluster size and adapt to dynamic workload changes (arrival patterns, resource failures, etc.).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 </a:t>
            </a:r>
            <a:r>
              <a:rPr lang="en-US" dirty="0" smtClean="0"/>
              <a:t>Packing Algorithms</a:t>
            </a:r>
            <a:endParaRPr lang="en-US" dirty="0"/>
          </a:p>
        </p:txBody>
      </p:sp>
      <p:sp>
        <p:nvSpPr>
          <p:cNvPr id="3" name="Content Placeholder 2"/>
          <p:cNvSpPr>
            <a:spLocks noGrp="1"/>
          </p:cNvSpPr>
          <p:nvPr>
            <p:ph idx="1"/>
          </p:nvPr>
        </p:nvSpPr>
        <p:spPr/>
        <p:txBody>
          <a:bodyPr/>
          <a:lstStyle/>
          <a:p>
            <a:r>
              <a:rPr lang="en-US" dirty="0" smtClean="0"/>
              <a:t>(1974). Fast Algorithms for Bin </a:t>
            </a:r>
            <a:r>
              <a:rPr lang="en-US" dirty="0" smtClean="0"/>
              <a:t>Packing.</a:t>
            </a:r>
          </a:p>
          <a:p>
            <a:r>
              <a:rPr lang="en-US" dirty="0" smtClean="0"/>
              <a:t>(1984). Approximation Algorithms for Bin Packing - A </a:t>
            </a:r>
            <a:r>
              <a:rPr lang="en-US" dirty="0" smtClean="0"/>
              <a:t>Survey.</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Job Assignment Model [2]</a:t>
            </a:r>
            <a:endParaRPr lang="en-US" dirty="0"/>
          </a:p>
        </p:txBody>
      </p:sp>
      <p:sp>
        <p:nvSpPr>
          <p:cNvPr id="3" name="Content Placeholder 2"/>
          <p:cNvSpPr>
            <a:spLocks noGrp="1"/>
          </p:cNvSpPr>
          <p:nvPr>
            <p:ph idx="1"/>
          </p:nvPr>
        </p:nvSpPr>
        <p:spPr/>
        <p:txBody>
          <a:bodyPr/>
          <a:lstStyle/>
          <a:p>
            <a:r>
              <a:rPr lang="en-US" sz="2400" dirty="0" smtClean="0"/>
              <a:t>The goal of this work is to improve performance in a cluster of </a:t>
            </a:r>
            <a:r>
              <a:rPr lang="en-US" sz="2400" b="1" dirty="0" smtClean="0"/>
              <a:t>n machines</a:t>
            </a:r>
            <a:r>
              <a:rPr lang="en-US" sz="2400" dirty="0" smtClean="0"/>
              <a:t>, where </a:t>
            </a:r>
            <a:r>
              <a:rPr lang="en-US" sz="2400" i="1" dirty="0" smtClean="0"/>
              <a:t>machine </a:t>
            </a:r>
            <a:r>
              <a:rPr lang="en-US" sz="2400" i="1" dirty="0" err="1" smtClean="0"/>
              <a:t>i</a:t>
            </a:r>
            <a:r>
              <a:rPr lang="en-US" sz="2400" dirty="0" smtClean="0"/>
              <a:t> has a </a:t>
            </a:r>
            <a:r>
              <a:rPr lang="en-US" sz="2400" i="1" dirty="0" smtClean="0">
                <a:solidFill>
                  <a:srgbClr val="C00000"/>
                </a:solidFill>
              </a:rPr>
              <a:t>CPU resource</a:t>
            </a:r>
            <a:r>
              <a:rPr lang="en-US" sz="2400" dirty="0" smtClean="0"/>
              <a:t> of speed </a:t>
            </a:r>
            <a:r>
              <a:rPr lang="en-US" sz="2400" b="1" dirty="0" err="1" smtClean="0"/>
              <a:t>r</a:t>
            </a:r>
            <a:r>
              <a:rPr lang="en-US" sz="2400" b="1" baseline="-25000" dirty="0" err="1" smtClean="0"/>
              <a:t>c</a:t>
            </a:r>
            <a:r>
              <a:rPr lang="en-US" sz="2400" b="1" dirty="0" smtClean="0"/>
              <a:t>(</a:t>
            </a:r>
            <a:r>
              <a:rPr lang="en-US" sz="2400" b="1" dirty="0" err="1" smtClean="0"/>
              <a:t>i</a:t>
            </a:r>
            <a:r>
              <a:rPr lang="en-US" sz="2400" b="1" dirty="0" smtClean="0"/>
              <a:t>)</a:t>
            </a:r>
            <a:r>
              <a:rPr lang="en-US" sz="2400" dirty="0" smtClean="0"/>
              <a:t> and a </a:t>
            </a:r>
            <a:r>
              <a:rPr lang="en-US" sz="2400" i="1" dirty="0" smtClean="0">
                <a:solidFill>
                  <a:srgbClr val="C00000"/>
                </a:solidFill>
              </a:rPr>
              <a:t>memory resource</a:t>
            </a:r>
            <a:r>
              <a:rPr lang="en-US" sz="2400" dirty="0" smtClean="0"/>
              <a:t> of size </a:t>
            </a:r>
            <a:r>
              <a:rPr lang="en-US" sz="2400" b="1" dirty="0" err="1" smtClean="0"/>
              <a:t>r</a:t>
            </a:r>
            <a:r>
              <a:rPr lang="en-US" sz="2400" b="1" baseline="-25000" dirty="0" err="1" smtClean="0"/>
              <a:t>m</a:t>
            </a:r>
            <a:r>
              <a:rPr lang="en-US" sz="2400" b="1" dirty="0" smtClean="0"/>
              <a:t>(</a:t>
            </a:r>
            <a:r>
              <a:rPr lang="en-US" sz="2400" b="1" dirty="0" err="1" smtClean="0"/>
              <a:t>i</a:t>
            </a:r>
            <a:r>
              <a:rPr lang="en-US" sz="2400" b="1" dirty="0" smtClean="0"/>
              <a:t>)</a:t>
            </a:r>
            <a:r>
              <a:rPr lang="en-US" sz="2400" dirty="0" smtClean="0"/>
              <a:t>.</a:t>
            </a:r>
          </a:p>
          <a:p>
            <a:r>
              <a:rPr lang="en-US" sz="2400" dirty="0" smtClean="0"/>
              <a:t>There is a sequence of arriving jobs that must be assigned to these machines. Each job is defined by </a:t>
            </a:r>
            <a:r>
              <a:rPr lang="en-US" sz="2400" i="1" dirty="0" smtClean="0">
                <a:solidFill>
                  <a:srgbClr val="C00000"/>
                </a:solidFill>
              </a:rPr>
              <a:t>three parameters</a:t>
            </a:r>
            <a:r>
              <a:rPr lang="en-US" sz="2400" dirty="0" smtClean="0"/>
              <a:t>:</a:t>
            </a:r>
          </a:p>
          <a:p>
            <a:pPr lvl="1"/>
            <a:r>
              <a:rPr lang="en-US" sz="2000" dirty="0" smtClean="0"/>
              <a:t>Its arrival time, </a:t>
            </a:r>
            <a:r>
              <a:rPr lang="en-US" sz="2000" i="1" dirty="0" smtClean="0"/>
              <a:t>a(j),</a:t>
            </a:r>
          </a:p>
          <a:p>
            <a:pPr lvl="1"/>
            <a:r>
              <a:rPr lang="en-US" sz="2000" dirty="0" smtClean="0"/>
              <a:t>The number of CPU seconds it requires, </a:t>
            </a:r>
            <a:r>
              <a:rPr lang="en-US" sz="2000" i="1" dirty="0" smtClean="0"/>
              <a:t>t(j), and</a:t>
            </a:r>
          </a:p>
          <a:p>
            <a:pPr lvl="1"/>
            <a:r>
              <a:rPr lang="en-US" sz="2000" dirty="0" smtClean="0"/>
              <a:t>The amount of memory it requires, </a:t>
            </a:r>
            <a:r>
              <a:rPr lang="en-US" sz="2000" i="1" dirty="0" smtClean="0"/>
              <a:t>m(j).</a:t>
            </a:r>
          </a:p>
          <a:p>
            <a:r>
              <a:rPr lang="en-US" sz="2400" dirty="0" smtClean="0"/>
              <a:t>We assume that </a:t>
            </a:r>
            <a:r>
              <a:rPr lang="en-US" sz="2400" i="1" dirty="0" smtClean="0">
                <a:solidFill>
                  <a:srgbClr val="C00000"/>
                </a:solidFill>
              </a:rPr>
              <a:t>m(j) is known</a:t>
            </a:r>
            <a:r>
              <a:rPr lang="en-US" sz="2400" dirty="0" smtClean="0"/>
              <a:t> when a job arrives, but </a:t>
            </a:r>
            <a:r>
              <a:rPr lang="en-US" sz="2400" i="1" dirty="0" smtClean="0">
                <a:solidFill>
                  <a:srgbClr val="C00000"/>
                </a:solidFill>
              </a:rPr>
              <a:t>t(j) is not</a:t>
            </a:r>
            <a:r>
              <a:rPr lang="en-US" sz="2400" dirty="0" smtClean="0"/>
              <a:t>. A job must be assigned to a machine immediately upon its arrival, and may or may not be able to move to another machine later.</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Goal: Minimizing the average slowdown over all jobs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133475" y="1920875"/>
            <a:ext cx="6877050" cy="41751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Virtual Machine</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PVM</a:t>
            </a:r>
            <a:r>
              <a:rPr lang="en-US" dirty="0" smtClean="0"/>
              <a:t> (for “</a:t>
            </a:r>
            <a:r>
              <a:rPr lang="en-US" i="1" dirty="0" smtClean="0">
                <a:solidFill>
                  <a:srgbClr val="C00000"/>
                </a:solidFill>
              </a:rPr>
              <a:t>Parallel Virtual Machine</a:t>
            </a:r>
            <a:r>
              <a:rPr lang="en-US" dirty="0" smtClean="0"/>
              <a:t>”) is a popular </a:t>
            </a:r>
            <a:r>
              <a:rPr lang="en-US" dirty="0" err="1" smtClean="0"/>
              <a:t>metacomputing</a:t>
            </a:r>
            <a:r>
              <a:rPr lang="en-US" dirty="0" smtClean="0"/>
              <a:t> environment for systems without preemptive process migration.</a:t>
            </a:r>
          </a:p>
          <a:p>
            <a:r>
              <a:rPr lang="en-US" dirty="0" smtClean="0"/>
              <a:t>Unless the user of the system specifically intervenes, PVM assigns jobs to machines using a </a:t>
            </a:r>
            <a:r>
              <a:rPr lang="en-US" i="1" dirty="0" smtClean="0">
                <a:solidFill>
                  <a:srgbClr val="C00000"/>
                </a:solidFill>
              </a:rPr>
              <a:t>strict Round-Robin strategy</a:t>
            </a:r>
            <a:r>
              <a:rPr lang="en-US" dirty="0" smtClean="0"/>
              <a:t>.</a:t>
            </a:r>
          </a:p>
          <a:p>
            <a:r>
              <a:rPr lang="en-US" dirty="0" smtClean="0"/>
              <a:t>It does not reassign jobs once they begin execution.</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Enhanced PVM</a:t>
            </a:r>
            <a:endParaRPr lang="en-US" dirty="0"/>
          </a:p>
        </p:txBody>
      </p:sp>
      <p:sp>
        <p:nvSpPr>
          <p:cNvPr id="3" name="Content Placeholder 2"/>
          <p:cNvSpPr>
            <a:spLocks noGrp="1"/>
          </p:cNvSpPr>
          <p:nvPr>
            <p:ph idx="1"/>
          </p:nvPr>
        </p:nvSpPr>
        <p:spPr/>
        <p:txBody>
          <a:bodyPr/>
          <a:lstStyle/>
          <a:p>
            <a:r>
              <a:rPr lang="en-US" sz="2800" i="1" dirty="0" smtClean="0">
                <a:solidFill>
                  <a:srgbClr val="C00000"/>
                </a:solidFill>
              </a:rPr>
              <a:t>Enhanced PVM</a:t>
            </a:r>
            <a:r>
              <a:rPr lang="en-US" sz="2800" dirty="0" smtClean="0"/>
              <a:t> is our modified version of PVM.</a:t>
            </a:r>
          </a:p>
          <a:p>
            <a:r>
              <a:rPr lang="en-US" sz="2800" dirty="0" smtClean="0"/>
              <a:t>It uses the opportunity cost-based strategy to assign each job as it arrives to the machine where the job has the smallest marginal cost at that time.</a:t>
            </a:r>
          </a:p>
          <a:p>
            <a:r>
              <a:rPr lang="en-US" sz="2800" dirty="0" smtClean="0"/>
              <a:t>No other factors come into play.</a:t>
            </a:r>
          </a:p>
          <a:p>
            <a:r>
              <a:rPr lang="en-US" sz="2800" dirty="0" smtClean="0"/>
              <a:t>As with PVM, initial assignments are permanent.</a:t>
            </a:r>
          </a:p>
          <a:p>
            <a:r>
              <a:rPr lang="en-US" sz="2800" dirty="0" smtClean="0"/>
              <a:t>We </a:t>
            </a:r>
            <a:r>
              <a:rPr lang="pt-BR" sz="2800" dirty="0" smtClean="0"/>
              <a:t>sometimes abbreviate Enhanced PVM as E-PVM.</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E-PVM Pseudo-Code</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811213" y="1841500"/>
            <a:ext cx="7521575" cy="41021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Mix of Workloads [3]</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976313" y="1762125"/>
            <a:ext cx="7191375" cy="433387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Approaches (I)</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93813" y="1714500"/>
            <a:ext cx="6556375" cy="43815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Approaches (II)</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1344613" y="1873250"/>
            <a:ext cx="6454775" cy="407035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Omega Works</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2101850" y="1635125"/>
            <a:ext cx="4940300" cy="45370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Scheduler Architectures [4]</a:t>
            </a:r>
            <a:endParaRPr lang="en-US" dirty="0"/>
          </a:p>
        </p:txBody>
      </p:sp>
      <p:sp>
        <p:nvSpPr>
          <p:cNvPr id="3" name="Content Placeholder 2"/>
          <p:cNvSpPr>
            <a:spLocks noGrp="1"/>
          </p:cNvSpPr>
          <p:nvPr>
            <p:ph idx="1"/>
          </p:nvPr>
        </p:nvSpPr>
        <p:spPr/>
        <p:txBody>
          <a:bodyPr/>
          <a:lstStyle/>
          <a:p>
            <a:r>
              <a:rPr lang="en-US" sz="2800" dirty="0" smtClean="0"/>
              <a:t>The problem: Mix of workloads.</a:t>
            </a:r>
          </a:p>
          <a:p>
            <a:r>
              <a:rPr lang="en-US" sz="2800" dirty="0" smtClean="0"/>
              <a:t>Focus: Only schedulers.</a:t>
            </a:r>
            <a:endParaRPr lang="en-US" sz="2800" dirty="0"/>
          </a:p>
        </p:txBody>
      </p:sp>
      <p:pic>
        <p:nvPicPr>
          <p:cNvPr id="1026" name="Picture 2"/>
          <p:cNvPicPr>
            <a:picLocks noChangeAspect="1" noChangeArrowheads="1"/>
          </p:cNvPicPr>
          <p:nvPr/>
        </p:nvPicPr>
        <p:blipFill>
          <a:blip r:embed="rId2" cstate="print"/>
          <a:srcRect/>
          <a:stretch>
            <a:fillRect/>
          </a:stretch>
        </p:blipFill>
        <p:spPr bwMode="auto">
          <a:xfrm>
            <a:off x="1843088" y="3067050"/>
            <a:ext cx="5457825" cy="280035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Monolithic Schedulers</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Monolithic schedulers</a:t>
            </a:r>
            <a:r>
              <a:rPr lang="en-US" dirty="0" smtClean="0"/>
              <a:t> use a single, centralized scheduling algorithm for all jobs.</a:t>
            </a:r>
          </a:p>
          <a:p>
            <a:r>
              <a:rPr lang="en-US" dirty="0" smtClean="0"/>
              <a:t>Monolithic schedulers do not make it easy to </a:t>
            </a:r>
            <a:r>
              <a:rPr lang="en-US" i="1" dirty="0" smtClean="0">
                <a:solidFill>
                  <a:srgbClr val="C00000"/>
                </a:solidFill>
              </a:rPr>
              <a:t>add new policies</a:t>
            </a:r>
            <a:r>
              <a:rPr lang="en-US" dirty="0" smtClean="0"/>
              <a:t> and specialized implementations, and may not scale up to the cluster sizes.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Two-level Schedulers</a:t>
            </a:r>
            <a:endParaRPr lang="en-US" dirty="0"/>
          </a:p>
        </p:txBody>
      </p:sp>
      <p:sp>
        <p:nvSpPr>
          <p:cNvPr id="3" name="Content Placeholder 2"/>
          <p:cNvSpPr>
            <a:spLocks noGrp="1"/>
          </p:cNvSpPr>
          <p:nvPr>
            <p:ph idx="1"/>
          </p:nvPr>
        </p:nvSpPr>
        <p:spPr/>
        <p:txBody>
          <a:bodyPr/>
          <a:lstStyle/>
          <a:p>
            <a:r>
              <a:rPr lang="en-US" sz="2800" i="1" dirty="0" smtClean="0">
                <a:solidFill>
                  <a:srgbClr val="C00000"/>
                </a:solidFill>
              </a:rPr>
              <a:t>Two-level schedulers</a:t>
            </a:r>
            <a:r>
              <a:rPr lang="en-US" sz="2800" dirty="0" smtClean="0"/>
              <a:t> have a single active resource manager that offers compute resources to multiple parallel, independent "scheduler frameworks".</a:t>
            </a:r>
          </a:p>
          <a:p>
            <a:r>
              <a:rPr lang="en-US" sz="2800" dirty="0" smtClean="0"/>
              <a:t>Two-level scheduling architectures do appear to provide flexibility and parallelism, but in practice their conservative resource-visibility and locking algorithms limit both, and make it hard to place difficult to schedule “picky” jobs or to make decisions that require access to </a:t>
            </a:r>
            <a:r>
              <a:rPr lang="en-US" sz="2800" i="1" dirty="0" smtClean="0">
                <a:solidFill>
                  <a:srgbClr val="C00000"/>
                </a:solidFill>
              </a:rPr>
              <a:t>the state of the entire cluster</a:t>
            </a:r>
            <a:r>
              <a:rPr lang="en-US" sz="2800" dirty="0" smtClean="0"/>
              <a:t>.</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Omega</a:t>
            </a:r>
            <a:endParaRPr lang="en-US" dirty="0"/>
          </a:p>
        </p:txBody>
      </p:sp>
      <p:sp>
        <p:nvSpPr>
          <p:cNvPr id="3" name="Content Placeholder 2"/>
          <p:cNvSpPr>
            <a:spLocks noGrp="1"/>
          </p:cNvSpPr>
          <p:nvPr>
            <p:ph idx="1"/>
          </p:nvPr>
        </p:nvSpPr>
        <p:spPr/>
        <p:txBody>
          <a:bodyPr/>
          <a:lstStyle/>
          <a:p>
            <a:r>
              <a:rPr lang="en-US" sz="2800" dirty="0" smtClean="0"/>
              <a:t>Our solution is a new parallel scheduler architecture built around </a:t>
            </a:r>
            <a:r>
              <a:rPr lang="en-US" sz="2800" i="1" dirty="0" smtClean="0">
                <a:solidFill>
                  <a:srgbClr val="C00000"/>
                </a:solidFill>
              </a:rPr>
              <a:t>shared state</a:t>
            </a:r>
            <a:r>
              <a:rPr lang="en-US" sz="2800" dirty="0" smtClean="0"/>
              <a:t>, using lock-free optimistic concurrency control, to achieve both implementation extensibility and performance scalability.</a:t>
            </a:r>
          </a:p>
          <a:p>
            <a:r>
              <a:rPr lang="en-US" sz="2800" dirty="0" smtClean="0"/>
              <a:t>There is </a:t>
            </a:r>
            <a:r>
              <a:rPr lang="en-US" sz="2800" i="1" dirty="0" smtClean="0">
                <a:solidFill>
                  <a:srgbClr val="C00000"/>
                </a:solidFill>
              </a:rPr>
              <a:t>no central resource allocator</a:t>
            </a:r>
            <a:r>
              <a:rPr lang="en-US" sz="2800" dirty="0" smtClean="0"/>
              <a:t> in Omega; all of the resource-allocation decisions take place in the schedulers.</a:t>
            </a:r>
          </a:p>
          <a:p>
            <a:r>
              <a:rPr lang="en-US" sz="2800" dirty="0" smtClean="0"/>
              <a:t>We maintain a resilient master copy of the resource allocations in the cluster, which we call </a:t>
            </a:r>
            <a:r>
              <a:rPr lang="en-US" sz="2800" i="1" dirty="0" smtClean="0">
                <a:solidFill>
                  <a:srgbClr val="C00000"/>
                </a:solidFill>
              </a:rPr>
              <a:t>cell state</a:t>
            </a:r>
            <a:r>
              <a:rPr lang="en-US" sz="2800" dirty="0" smtClean="0"/>
              <a:t>.</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a:t>
            </a:r>
            <a:endParaRPr lang="en-US" dirty="0"/>
          </a:p>
        </p:txBody>
      </p:sp>
      <p:sp>
        <p:nvSpPr>
          <p:cNvPr id="3" name="Content Placeholder 2"/>
          <p:cNvSpPr>
            <a:spLocks noGrp="1"/>
          </p:cNvSpPr>
          <p:nvPr>
            <p:ph idx="1"/>
          </p:nvPr>
        </p:nvSpPr>
        <p:spPr/>
        <p:txBody>
          <a:bodyPr/>
          <a:lstStyle/>
          <a:p>
            <a:r>
              <a:rPr lang="en-US" sz="2200" dirty="0" smtClean="0"/>
              <a:t>The scheduler can see </a:t>
            </a:r>
            <a:r>
              <a:rPr lang="en-US" sz="2200" i="1" dirty="0" smtClean="0">
                <a:solidFill>
                  <a:srgbClr val="C00000"/>
                </a:solidFill>
              </a:rPr>
              <a:t>the entire state of the cell</a:t>
            </a:r>
            <a:r>
              <a:rPr lang="en-US" sz="2200" dirty="0" smtClean="0"/>
              <a:t> and has complete freedom to lay claim to any available cluster resources provided it has the appropriate permissions and priority – even ones that another scheduler has already acquired.</a:t>
            </a:r>
          </a:p>
          <a:p>
            <a:r>
              <a:rPr lang="en-US" sz="2200" dirty="0" smtClean="0"/>
              <a:t>Once a scheduler makes a placement decision, it updates the shared copy of cell state in an </a:t>
            </a:r>
            <a:r>
              <a:rPr lang="en-US" sz="2200" i="1" dirty="0" smtClean="0">
                <a:solidFill>
                  <a:srgbClr val="C00000"/>
                </a:solidFill>
              </a:rPr>
              <a:t>atomic commit</a:t>
            </a:r>
            <a:r>
              <a:rPr lang="en-US" sz="2200" dirty="0" smtClean="0"/>
              <a:t>.</a:t>
            </a:r>
          </a:p>
          <a:p>
            <a:r>
              <a:rPr lang="en-US" sz="2200" dirty="0" smtClean="0"/>
              <a:t>At most one such commit will succeed in the case of conflict: effectively, the time from state synchronization to the commit attempt is a </a:t>
            </a:r>
            <a:r>
              <a:rPr lang="en-US" sz="2200" i="1" dirty="0" smtClean="0">
                <a:solidFill>
                  <a:srgbClr val="C00000"/>
                </a:solidFill>
              </a:rPr>
              <a:t>transaction</a:t>
            </a:r>
            <a:r>
              <a:rPr lang="en-US" sz="2200" dirty="0" smtClean="0"/>
              <a:t>.</a:t>
            </a:r>
          </a:p>
          <a:p>
            <a:r>
              <a:rPr lang="en-US" sz="2200" dirty="0" smtClean="0"/>
              <a:t>Whether or not the transaction succeeds, the scheduler </a:t>
            </a:r>
            <a:r>
              <a:rPr lang="en-US" sz="2200" i="1" dirty="0" err="1" smtClean="0">
                <a:solidFill>
                  <a:srgbClr val="C00000"/>
                </a:solidFill>
              </a:rPr>
              <a:t>resyncs</a:t>
            </a:r>
            <a:r>
              <a:rPr lang="en-US" sz="2200" i="1" dirty="0" smtClean="0">
                <a:solidFill>
                  <a:srgbClr val="C00000"/>
                </a:solidFill>
              </a:rPr>
              <a:t> its local copy of cell state</a:t>
            </a:r>
            <a:r>
              <a:rPr lang="en-US" sz="2200" dirty="0" smtClean="0"/>
              <a:t> afterwards and, if necessary, re-runs its scheduling algorithm and tries again.</a:t>
            </a:r>
            <a:endParaRPr lang="en-US"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Resource Allocations</a:t>
            </a:r>
            <a:endParaRPr lang="en-US" dirty="0"/>
          </a:p>
        </p:txBody>
      </p:sp>
      <p:sp>
        <p:nvSpPr>
          <p:cNvPr id="3" name="Content Placeholder 2"/>
          <p:cNvSpPr>
            <a:spLocks noGrp="1"/>
          </p:cNvSpPr>
          <p:nvPr>
            <p:ph idx="1"/>
          </p:nvPr>
        </p:nvSpPr>
        <p:spPr/>
        <p:txBody>
          <a:bodyPr/>
          <a:lstStyle/>
          <a:p>
            <a:r>
              <a:rPr lang="en-US" sz="2200" dirty="0" smtClean="0"/>
              <a:t>Different Omega schedulers can implement different policies, but all must agree on what resource allocations are permitted (e.g., a common notion of whether a machine is full), and a common scale for expressing the relative importance of jobs, called </a:t>
            </a:r>
            <a:r>
              <a:rPr lang="en-US" sz="2200" i="1" dirty="0" smtClean="0">
                <a:solidFill>
                  <a:srgbClr val="C00000"/>
                </a:solidFill>
              </a:rPr>
              <a:t>precedence</a:t>
            </a:r>
            <a:r>
              <a:rPr lang="en-US" sz="2200" dirty="0" smtClean="0"/>
              <a:t>.</a:t>
            </a:r>
          </a:p>
          <a:p>
            <a:r>
              <a:rPr lang="en-US" sz="2200" dirty="0" smtClean="0"/>
              <a:t>Individual schedulers have </a:t>
            </a:r>
            <a:r>
              <a:rPr lang="en-US" sz="2200" i="1" dirty="0" smtClean="0">
                <a:solidFill>
                  <a:srgbClr val="C00000"/>
                </a:solidFill>
              </a:rPr>
              <a:t>configuration settings</a:t>
            </a:r>
            <a:r>
              <a:rPr lang="en-US" sz="2200" dirty="0" smtClean="0"/>
              <a:t> to </a:t>
            </a:r>
            <a:r>
              <a:rPr lang="en-US" sz="2200" u="sng" dirty="0" smtClean="0"/>
              <a:t>limit the total amount of resources</a:t>
            </a:r>
            <a:r>
              <a:rPr lang="en-US" sz="2200" dirty="0" smtClean="0"/>
              <a:t> they may claim, and to limit the number of jobs they admit.</a:t>
            </a:r>
          </a:p>
          <a:p>
            <a:r>
              <a:rPr lang="en-US" sz="2200" dirty="0" smtClean="0"/>
              <a:t>Finally, we also rely on </a:t>
            </a:r>
            <a:r>
              <a:rPr lang="en-US" sz="2200" i="1" dirty="0" err="1" smtClean="0">
                <a:solidFill>
                  <a:srgbClr val="C00000"/>
                </a:solidFill>
              </a:rPr>
              <a:t>postfacto</a:t>
            </a:r>
            <a:r>
              <a:rPr lang="en-US" sz="2200" i="1" dirty="0" smtClean="0">
                <a:solidFill>
                  <a:srgbClr val="C00000"/>
                </a:solidFill>
              </a:rPr>
              <a:t> enforcement</a:t>
            </a:r>
            <a:r>
              <a:rPr lang="en-US" sz="2200" dirty="0" smtClean="0"/>
              <a:t>, since we are monitoring the system’s behavior anyway.</a:t>
            </a:r>
          </a:p>
          <a:p>
            <a:r>
              <a:rPr lang="en-US" sz="2200" i="1" dirty="0" smtClean="0"/>
              <a:t>(</a:t>
            </a:r>
            <a:r>
              <a:rPr lang="en-US" sz="2200" i="1" dirty="0" err="1" smtClean="0"/>
              <a:t>Postfacto</a:t>
            </a:r>
            <a:r>
              <a:rPr lang="en-US" sz="2200" i="1" dirty="0" smtClean="0"/>
              <a:t> enforcement in the context refers to a form of enforcing resource-allocation policies after the scheduling decisions have been made and actions have executed)</a:t>
            </a:r>
            <a:endParaRPr lang="en-US" sz="2200" i="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20815</TotalTime>
  <Words>2752</Words>
  <Application>Microsoft Office PowerPoint</Application>
  <PresentationFormat>On-screen Show (4:3)</PresentationFormat>
  <Paragraphs>165</Paragraphs>
  <Slides>50</Slides>
  <Notes>1</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Cluster Management</vt:lpstr>
      <vt:lpstr>Objectives</vt:lpstr>
      <vt:lpstr>Contents</vt:lpstr>
      <vt:lpstr>References</vt:lpstr>
      <vt:lpstr>The User Perspective [1]</vt:lpstr>
      <vt:lpstr>The Workload</vt:lpstr>
      <vt:lpstr>Clusters and Cells</vt:lpstr>
      <vt:lpstr>Jobs and Tasks</vt:lpstr>
      <vt:lpstr>Job Descriptions</vt:lpstr>
      <vt:lpstr>The Lifetime of Jobs and Tasks</vt:lpstr>
      <vt:lpstr>Allocs</vt:lpstr>
      <vt:lpstr>Priority</vt:lpstr>
      <vt:lpstr>Quota</vt:lpstr>
      <vt:lpstr>Naming</vt:lpstr>
      <vt:lpstr>Monitoring</vt:lpstr>
      <vt:lpstr>Slide 16</vt:lpstr>
      <vt:lpstr>Borg Architecture</vt:lpstr>
      <vt:lpstr>Borgmaster</vt:lpstr>
      <vt:lpstr>Scheduling</vt:lpstr>
      <vt:lpstr>"Worst fit" Scoring</vt:lpstr>
      <vt:lpstr>"Best fit" Scoring</vt:lpstr>
      <vt:lpstr>Hybrid Approach</vt:lpstr>
      <vt:lpstr>Borglet</vt:lpstr>
      <vt:lpstr>Statless Link Shard</vt:lpstr>
      <vt:lpstr>Rescheduled Tasks</vt:lpstr>
      <vt:lpstr>Slide 26</vt:lpstr>
      <vt:lpstr>Scalability</vt:lpstr>
      <vt:lpstr>Communication between the Scheduler and the Elected master</vt:lpstr>
      <vt:lpstr>Availability</vt:lpstr>
      <vt:lpstr>Slide 30</vt:lpstr>
      <vt:lpstr>Notes: Scheduling Goals (I)</vt:lpstr>
      <vt:lpstr>Notes: Scheduling Goals (II)</vt:lpstr>
      <vt:lpstr>Bin Packing Algorithms</vt:lpstr>
      <vt:lpstr>The Job Assignment Model [2]</vt:lpstr>
      <vt:lpstr>The Goal: Minimizing the average slowdown over all jobs</vt:lpstr>
      <vt:lpstr>Parallel Virtual Machine</vt:lpstr>
      <vt:lpstr>Enhanced PVM</vt:lpstr>
      <vt:lpstr>E-PVM Pseudo-Code</vt:lpstr>
      <vt:lpstr>Slide 39</vt:lpstr>
      <vt:lpstr>Mix of Workloads [3]</vt:lpstr>
      <vt:lpstr>Existing Approaches (I)</vt:lpstr>
      <vt:lpstr>Existing Approaches (II)</vt:lpstr>
      <vt:lpstr>How Omega Works</vt:lpstr>
      <vt:lpstr>Scheduler Architectures [4]</vt:lpstr>
      <vt:lpstr>Monolithic Schedulers</vt:lpstr>
      <vt:lpstr>Two-level Schedulers</vt:lpstr>
      <vt:lpstr>Omega</vt:lpstr>
      <vt:lpstr>Transaction</vt:lpstr>
      <vt:lpstr>Resource Allocations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5142</cp:revision>
  <dcterms:created xsi:type="dcterms:W3CDTF">2007-10-06T08:25:13Z</dcterms:created>
  <dcterms:modified xsi:type="dcterms:W3CDTF">2025-12-15T20:27:17Z</dcterms:modified>
</cp:coreProperties>
</file>