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0"/>
  </p:notesMasterIdLst>
  <p:sldIdLst>
    <p:sldId id="570" r:id="rId2"/>
    <p:sldId id="571" r:id="rId3"/>
    <p:sldId id="572" r:id="rId4"/>
    <p:sldId id="573" r:id="rId5"/>
    <p:sldId id="599" r:id="rId6"/>
    <p:sldId id="590" r:id="rId7"/>
    <p:sldId id="591" r:id="rId8"/>
    <p:sldId id="587" r:id="rId9"/>
    <p:sldId id="588" r:id="rId10"/>
    <p:sldId id="579" r:id="rId11"/>
    <p:sldId id="580" r:id="rId12"/>
    <p:sldId id="581" r:id="rId13"/>
    <p:sldId id="582" r:id="rId14"/>
    <p:sldId id="583" r:id="rId15"/>
    <p:sldId id="584" r:id="rId16"/>
    <p:sldId id="585" r:id="rId17"/>
    <p:sldId id="589" r:id="rId18"/>
    <p:sldId id="594" r:id="rId19"/>
    <p:sldId id="595" r:id="rId20"/>
    <p:sldId id="596" r:id="rId21"/>
    <p:sldId id="598" r:id="rId22"/>
    <p:sldId id="592" r:id="rId23"/>
    <p:sldId id="601" r:id="rId24"/>
    <p:sldId id="602" r:id="rId25"/>
    <p:sldId id="603" r:id="rId26"/>
    <p:sldId id="604" r:id="rId27"/>
    <p:sldId id="605" r:id="rId28"/>
    <p:sldId id="606" r:id="rId29"/>
    <p:sldId id="607" r:id="rId30"/>
    <p:sldId id="608" r:id="rId31"/>
    <p:sldId id="609" r:id="rId32"/>
    <p:sldId id="610" r:id="rId33"/>
    <p:sldId id="611" r:id="rId34"/>
    <p:sldId id="612" r:id="rId35"/>
    <p:sldId id="613" r:id="rId36"/>
    <p:sldId id="614" r:id="rId37"/>
    <p:sldId id="615" r:id="rId38"/>
    <p:sldId id="440" r:id="rId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0" autoAdjust="0"/>
    <p:restoredTop sz="94765" autoAdjust="0"/>
  </p:normalViewPr>
  <p:slideViewPr>
    <p:cSldViewPr>
      <p:cViewPr>
        <p:scale>
          <a:sx n="50" d="100"/>
          <a:sy n="50" d="100"/>
        </p:scale>
        <p:origin x="-164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12/4/2025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12/4/2025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12/4/2025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12/4/2025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12/4/2025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12/4/2025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ws.amazon.com/rds/aurora/"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timilearning.com/posts/mit-6.824/lecture-10-auror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timilearning.com/posts/data-storage-on-disk/part-on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timilearning.com/posts/data-storage-on-disk/part-two/"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Amazon Aurora</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r>
              <a:rPr lang="en-US" sz="2400" dirty="0" smtClean="0"/>
              <a:t>To explain how Amazon Aurora works.</a:t>
            </a: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867400" cy="4191000"/>
          </a:xfrm>
        </p:spPr>
        <p:txBody>
          <a:bodyPr/>
          <a:lstStyle/>
          <a:p>
            <a:pPr marL="457200" lvl="0" indent="-457200">
              <a:buFont typeface="+mj-lt"/>
              <a:buAutoNum type="arabicPeriod"/>
            </a:pPr>
            <a:r>
              <a:rPr lang="en-US" sz="2400" dirty="0" err="1" smtClean="0"/>
              <a:t>Alexandre</a:t>
            </a:r>
            <a:r>
              <a:rPr lang="en-US" sz="2400" dirty="0" smtClean="0"/>
              <a:t> </a:t>
            </a:r>
            <a:r>
              <a:rPr lang="en-US" sz="2400" dirty="0" err="1" smtClean="0"/>
              <a:t>Verbitski</a:t>
            </a:r>
            <a:r>
              <a:rPr lang="en-US" sz="2400" dirty="0" smtClean="0"/>
              <a:t> et al. (2017). Amazon Aurora - Design Considerations for High Throughput Cloud-Native </a:t>
            </a:r>
            <a:r>
              <a:rPr lang="en-US" sz="2400" smtClean="0"/>
              <a:t>Relational Databases.</a:t>
            </a: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Aurora</a:t>
            </a:r>
            <a:endParaRPr lang="en-US" dirty="0"/>
          </a:p>
        </p:txBody>
      </p:sp>
      <p:sp>
        <p:nvSpPr>
          <p:cNvPr id="3" name="Content Placeholder 2"/>
          <p:cNvSpPr>
            <a:spLocks noGrp="1"/>
          </p:cNvSpPr>
          <p:nvPr>
            <p:ph idx="1"/>
          </p:nvPr>
        </p:nvSpPr>
        <p:spPr/>
        <p:txBody>
          <a:bodyPr/>
          <a:lstStyle/>
          <a:p>
            <a:r>
              <a:rPr lang="en-US" sz="2400" dirty="0" smtClean="0">
                <a:hlinkClick r:id="rId2"/>
              </a:rPr>
              <a:t>https://aws.amazon.com/rds/aurora/</a:t>
            </a:r>
            <a:endParaRPr lang="en-US" sz="2400" dirty="0" smtClean="0"/>
          </a:p>
          <a:p>
            <a:r>
              <a:rPr lang="en-US" sz="2400" dirty="0" smtClean="0"/>
              <a:t>Unparalleled high </a:t>
            </a:r>
            <a:r>
              <a:rPr lang="en-US" sz="2400" u="sng" dirty="0" smtClean="0"/>
              <a:t>performance</a:t>
            </a:r>
            <a:r>
              <a:rPr lang="en-US" sz="2400" dirty="0" smtClean="0"/>
              <a:t> and </a:t>
            </a:r>
            <a:r>
              <a:rPr lang="en-US" sz="2400" u="sng" dirty="0" smtClean="0"/>
              <a:t>availability</a:t>
            </a:r>
            <a:r>
              <a:rPr lang="en-US" sz="2400" dirty="0" smtClean="0"/>
              <a:t> at </a:t>
            </a:r>
            <a:r>
              <a:rPr lang="en-US" sz="2400" u="sng" dirty="0" smtClean="0"/>
              <a:t>global scale</a:t>
            </a:r>
            <a:r>
              <a:rPr lang="en-US" sz="2400" dirty="0" smtClean="0"/>
              <a:t> with full </a:t>
            </a:r>
            <a:r>
              <a:rPr lang="en-US" sz="2400" dirty="0" err="1" smtClean="0"/>
              <a:t>MySQL</a:t>
            </a:r>
            <a:r>
              <a:rPr lang="en-US" sz="2400" dirty="0" smtClean="0"/>
              <a:t> and </a:t>
            </a:r>
            <a:r>
              <a:rPr lang="en-US" sz="2400" dirty="0" err="1" smtClean="0"/>
              <a:t>PostgreSQL</a:t>
            </a:r>
            <a:r>
              <a:rPr lang="en-US" sz="2400" dirty="0" smtClean="0"/>
              <a:t> </a:t>
            </a:r>
            <a:r>
              <a:rPr lang="en-US" sz="2400" i="1" dirty="0" smtClean="0">
                <a:solidFill>
                  <a:srgbClr val="C00000"/>
                </a:solidFill>
              </a:rPr>
              <a:t>compatibility</a:t>
            </a:r>
            <a:r>
              <a:rPr lang="en-US" sz="2400" dirty="0" smtClean="0"/>
              <a:t>.</a:t>
            </a:r>
          </a:p>
          <a:p>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a:t>
            </a:r>
            <a:endParaRPr lang="en-US" dirty="0"/>
          </a:p>
        </p:txBody>
      </p:sp>
      <p:sp>
        <p:nvSpPr>
          <p:cNvPr id="3" name="Content Placeholder 2"/>
          <p:cNvSpPr>
            <a:spLocks noGrp="1"/>
          </p:cNvSpPr>
          <p:nvPr>
            <p:ph idx="1"/>
          </p:nvPr>
        </p:nvSpPr>
        <p:spPr/>
        <p:txBody>
          <a:bodyPr/>
          <a:lstStyle/>
          <a:p>
            <a:r>
              <a:rPr lang="en-US" dirty="0" smtClean="0"/>
              <a:t>Distributed relational database management systems.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a:t>
            </a:r>
            <a:endParaRPr lang="en-US" dirty="0"/>
          </a:p>
        </p:txBody>
      </p:sp>
      <p:sp>
        <p:nvSpPr>
          <p:cNvPr id="3" name="Content Placeholder 2"/>
          <p:cNvSpPr>
            <a:spLocks noGrp="1"/>
          </p:cNvSpPr>
          <p:nvPr>
            <p:ph idx="1"/>
          </p:nvPr>
        </p:nvSpPr>
        <p:spPr/>
        <p:txBody>
          <a:bodyPr/>
          <a:lstStyle/>
          <a:p>
            <a:r>
              <a:rPr lang="en-US" dirty="0" smtClean="0"/>
              <a:t>App/Web &gt;&gt; DB.</a:t>
            </a:r>
          </a:p>
          <a:p>
            <a:r>
              <a:rPr lang="en-US" dirty="0" smtClean="0"/>
              <a:t>Crash &gt;&gt; Data loss.</a:t>
            </a:r>
          </a:p>
          <a:p>
            <a:pPr lvl="1"/>
            <a:r>
              <a:rPr lang="en-US" dirty="0" smtClean="0"/>
              <a:t>Replication.</a:t>
            </a:r>
          </a:p>
          <a:p>
            <a:r>
              <a:rPr lang="en-US" dirty="0" smtClean="0"/>
              <a:t>Limited CPU and RAM.</a:t>
            </a:r>
          </a:p>
          <a:p>
            <a:r>
              <a:rPr lang="en-US" dirty="0" smtClean="0"/>
              <a:t>Limited storage.</a:t>
            </a:r>
          </a:p>
          <a:p>
            <a:pPr lvl="1"/>
            <a:r>
              <a:rPr lang="en-US" dirty="0" err="1" smtClean="0"/>
              <a:t>Sharding</a:t>
            </a:r>
            <a:r>
              <a:rPr lang="en-US" dirty="0" smtClean="0"/>
              <a:t>.</a:t>
            </a:r>
          </a:p>
          <a:p>
            <a:pPr lvl="1"/>
            <a:r>
              <a:rPr lang="en-US" dirty="0" smtClean="0"/>
              <a:t>Distributed file systems.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System Architecture</a:t>
            </a:r>
            <a:endParaRPr lang="en-US" dirty="0"/>
          </a:p>
        </p:txBody>
      </p:sp>
      <p:sp>
        <p:nvSpPr>
          <p:cNvPr id="3" name="Content Placeholder 2"/>
          <p:cNvSpPr>
            <a:spLocks noGrp="1"/>
          </p:cNvSpPr>
          <p:nvPr>
            <p:ph idx="1"/>
          </p:nvPr>
        </p:nvSpPr>
        <p:spPr/>
        <p:txBody>
          <a:bodyPr/>
          <a:lstStyle/>
          <a:p>
            <a:r>
              <a:rPr lang="en-US" dirty="0" smtClean="0"/>
              <a:t>Refer to "</a:t>
            </a:r>
            <a:r>
              <a:rPr lang="en-US" b="1" dirty="0" smtClean="0"/>
              <a:t>Database Management Systems</a:t>
            </a:r>
            <a:r>
              <a:rPr lang="en-US" dirty="0" smtClean="0"/>
              <a:t>" &gt;&gt; "</a:t>
            </a:r>
            <a:r>
              <a:rPr lang="nn-NO" b="1" dirty="0" smtClean="0"/>
              <a:t>08.1. Database Storage.pptx"</a:t>
            </a:r>
            <a:endParaRPr lang="en-US" b="1" dirty="0"/>
          </a:p>
        </p:txBody>
      </p:sp>
      <p:pic>
        <p:nvPicPr>
          <p:cNvPr id="4" name="Picture 2" descr="https://t4.ftcdn.net/jpg/01/00/76/57/360_F_100765796_hVO2AGkofuyqsiiPGd4rdEkjq1FaC11k.jpg"/>
          <p:cNvPicPr>
            <a:picLocks noChangeAspect="1" noChangeArrowheads="1"/>
          </p:cNvPicPr>
          <p:nvPr/>
        </p:nvPicPr>
        <p:blipFill>
          <a:blip r:embed="rId2" cstate="print"/>
          <a:srcRect/>
          <a:stretch>
            <a:fillRect/>
          </a:stretch>
        </p:blipFill>
        <p:spPr bwMode="auto">
          <a:xfrm>
            <a:off x="3200400" y="3048000"/>
            <a:ext cx="2743200" cy="219456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System Architecture</a:t>
            </a:r>
            <a:endParaRPr lang="en-US" dirty="0"/>
          </a:p>
        </p:txBody>
      </p:sp>
      <p:sp>
        <p:nvSpPr>
          <p:cNvPr id="3" name="Content Placeholder 2"/>
          <p:cNvSpPr>
            <a:spLocks noGrp="1"/>
          </p:cNvSpPr>
          <p:nvPr>
            <p:ph idx="1"/>
          </p:nvPr>
        </p:nvSpPr>
        <p:spPr/>
        <p:txBody>
          <a:bodyPr/>
          <a:lstStyle/>
          <a:p>
            <a:r>
              <a:rPr lang="en-US" sz="2400" dirty="0" smtClean="0">
                <a:hlinkClick r:id="rId2"/>
              </a:rPr>
              <a:t>https://timilearning.com/posts/mit-6.824/lecture-10-aurora/</a:t>
            </a:r>
            <a:endParaRPr lang="en-US" sz="2400" dirty="0" smtClean="0"/>
          </a:p>
          <a:p>
            <a:r>
              <a:rPr lang="en-US" sz="2800" dirty="0" smtClean="0"/>
              <a:t>Traditional relational databases comprise many units that work together:</a:t>
            </a:r>
          </a:p>
          <a:p>
            <a:pPr lvl="1"/>
            <a:r>
              <a:rPr lang="en-US" sz="2400" dirty="0" smtClean="0"/>
              <a:t>the </a:t>
            </a:r>
            <a:r>
              <a:rPr lang="en-US" sz="2400" i="1" dirty="0" smtClean="0">
                <a:solidFill>
                  <a:srgbClr val="C00000"/>
                </a:solidFill>
              </a:rPr>
              <a:t>transport module</a:t>
            </a:r>
            <a:r>
              <a:rPr lang="en-US" sz="2400" dirty="0" smtClean="0"/>
              <a:t> which communicates with clients and receives queries,</a:t>
            </a:r>
          </a:p>
          <a:p>
            <a:pPr lvl="1"/>
            <a:r>
              <a:rPr lang="en-US" sz="2400" dirty="0" smtClean="0"/>
              <a:t>the </a:t>
            </a:r>
            <a:r>
              <a:rPr lang="en-US" sz="2400" i="1" dirty="0" smtClean="0">
                <a:solidFill>
                  <a:srgbClr val="C00000"/>
                </a:solidFill>
              </a:rPr>
              <a:t>query processor</a:t>
            </a:r>
            <a:r>
              <a:rPr lang="en-US" sz="2400" dirty="0" smtClean="0"/>
              <a:t> which parses a query and creates a query plan to be carried out,</a:t>
            </a:r>
          </a:p>
          <a:p>
            <a:pPr lvl="1"/>
            <a:r>
              <a:rPr lang="en-US" sz="2400" dirty="0" smtClean="0"/>
              <a:t>the </a:t>
            </a:r>
            <a:r>
              <a:rPr lang="en-US" sz="2400" i="1" dirty="0" smtClean="0">
                <a:solidFill>
                  <a:srgbClr val="C00000"/>
                </a:solidFill>
              </a:rPr>
              <a:t>execution engine</a:t>
            </a:r>
            <a:r>
              <a:rPr lang="en-US" sz="2400" dirty="0" smtClean="0"/>
              <a:t> which collects the results of the execution of the operations in the plan, and </a:t>
            </a:r>
          </a:p>
          <a:p>
            <a:pPr lvl="1"/>
            <a:r>
              <a:rPr lang="en-US" sz="2400" dirty="0" smtClean="0"/>
              <a:t>the </a:t>
            </a:r>
            <a:r>
              <a:rPr lang="en-US" sz="2400" i="1" dirty="0" smtClean="0">
                <a:solidFill>
                  <a:srgbClr val="C00000"/>
                </a:solidFill>
              </a:rPr>
              <a:t>storage engine</a:t>
            </a:r>
            <a:r>
              <a:rPr lang="en-US" sz="2400" i="1" dirty="0" smtClean="0"/>
              <a:t>.</a:t>
            </a:r>
            <a:endParaRPr lang="en-US" sz="24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Database </a:t>
            </a:r>
            <a:r>
              <a:rPr lang="en-US" dirty="0" smtClean="0"/>
              <a:t>Storage Terminologies</a:t>
            </a:r>
            <a:endParaRPr lang="en-US" dirty="0"/>
          </a:p>
        </p:txBody>
      </p:sp>
      <p:sp>
        <p:nvSpPr>
          <p:cNvPr id="3" name="Content Placeholder 2"/>
          <p:cNvSpPr>
            <a:spLocks noGrp="1"/>
          </p:cNvSpPr>
          <p:nvPr>
            <p:ph idx="1"/>
          </p:nvPr>
        </p:nvSpPr>
        <p:spPr/>
        <p:txBody>
          <a:bodyPr/>
          <a:lstStyle/>
          <a:p>
            <a:r>
              <a:rPr lang="en-US" sz="2200" dirty="0" smtClean="0">
                <a:hlinkClick r:id="rId2"/>
              </a:rPr>
              <a:t>https://timilearning.com/posts/data-storage-on-disk/part-one/</a:t>
            </a:r>
            <a:endParaRPr lang="en-US" sz="2200" dirty="0" smtClean="0"/>
          </a:p>
          <a:p>
            <a:r>
              <a:rPr lang="en-US" sz="2200" b="1" dirty="0" smtClean="0"/>
              <a:t>Disk I/O Operations:</a:t>
            </a:r>
            <a:r>
              <a:rPr lang="en-US" sz="2200" dirty="0" smtClean="0"/>
              <a:t> These are read and write operations that involve accessing your computer's physical disk.</a:t>
            </a:r>
          </a:p>
          <a:p>
            <a:r>
              <a:rPr lang="en-US" sz="2200" b="1" dirty="0" smtClean="0"/>
              <a:t>Records:</a:t>
            </a:r>
            <a:r>
              <a:rPr lang="en-US" sz="2200" dirty="0" smtClean="0"/>
              <a:t> A </a:t>
            </a:r>
            <a:r>
              <a:rPr lang="en-US" sz="2200" i="1" dirty="0" smtClean="0">
                <a:solidFill>
                  <a:srgbClr val="C00000"/>
                </a:solidFill>
              </a:rPr>
              <a:t>row</a:t>
            </a:r>
            <a:r>
              <a:rPr lang="en-US" sz="2200" dirty="0" smtClean="0"/>
              <a:t> in your database table maps to a </a:t>
            </a:r>
            <a:r>
              <a:rPr lang="en-US" sz="2200" i="1" dirty="0" smtClean="0">
                <a:solidFill>
                  <a:srgbClr val="C00000"/>
                </a:solidFill>
              </a:rPr>
              <a:t>record</a:t>
            </a:r>
            <a:r>
              <a:rPr lang="en-US" sz="2200" dirty="0" smtClean="0"/>
              <a:t> on your computer's disk. Records can be of various sizes depending on the data contained in a row. There are different types of records, such as </a:t>
            </a:r>
            <a:r>
              <a:rPr lang="en-US" sz="2200" i="1" dirty="0" smtClean="0">
                <a:solidFill>
                  <a:srgbClr val="C00000"/>
                </a:solidFill>
              </a:rPr>
              <a:t>data records</a:t>
            </a:r>
            <a:r>
              <a:rPr lang="en-US" sz="2200" dirty="0" smtClean="0"/>
              <a:t> - say for storing an individual book in a database of books, </a:t>
            </a:r>
            <a:r>
              <a:rPr lang="en-US" sz="2200" i="1" dirty="0" smtClean="0">
                <a:solidFill>
                  <a:srgbClr val="C00000"/>
                </a:solidFill>
              </a:rPr>
              <a:t>index records</a:t>
            </a:r>
            <a:r>
              <a:rPr lang="en-US" sz="2200" i="1" dirty="0" smtClean="0"/>
              <a:t>,</a:t>
            </a:r>
            <a:r>
              <a:rPr lang="en-US" sz="2200" dirty="0" smtClean="0"/>
              <a:t> and records for other metadata about the database.</a:t>
            </a:r>
          </a:p>
          <a:p>
            <a:r>
              <a:rPr lang="en-US" sz="2200" b="1" dirty="0" smtClean="0"/>
              <a:t>Pages:</a:t>
            </a:r>
            <a:r>
              <a:rPr lang="en-US" sz="2200" dirty="0" smtClean="0"/>
              <a:t> A </a:t>
            </a:r>
            <a:r>
              <a:rPr lang="en-US" sz="2200" i="1" dirty="0" smtClean="0">
                <a:solidFill>
                  <a:srgbClr val="C00000"/>
                </a:solidFill>
              </a:rPr>
              <a:t>page</a:t>
            </a:r>
            <a:r>
              <a:rPr lang="en-US" sz="2200" dirty="0" smtClean="0"/>
              <a:t> consists of </a:t>
            </a:r>
            <a:r>
              <a:rPr lang="en-US" sz="2200" u="sng" dirty="0" smtClean="0"/>
              <a:t>many records</a:t>
            </a:r>
            <a:r>
              <a:rPr lang="en-US" sz="2200" dirty="0" smtClean="0"/>
              <a:t>. Pages have a fixed size which can be 4KB, 8KB, 16KB, etc. Two of the most popular page types are </a:t>
            </a:r>
            <a:r>
              <a:rPr lang="en-US" sz="2200" i="1" dirty="0" smtClean="0">
                <a:solidFill>
                  <a:srgbClr val="C00000"/>
                </a:solidFill>
              </a:rPr>
              <a:t>data pages</a:t>
            </a:r>
            <a:r>
              <a:rPr lang="en-US" sz="2200" dirty="0" smtClean="0"/>
              <a:t> and </a:t>
            </a:r>
            <a:r>
              <a:rPr lang="en-US" sz="2200" i="1" dirty="0" smtClean="0">
                <a:solidFill>
                  <a:srgbClr val="C00000"/>
                </a:solidFill>
              </a:rPr>
              <a:t>index pages</a:t>
            </a:r>
            <a:r>
              <a:rPr lang="en-US" sz="2200" i="1" dirty="0" smtClean="0"/>
              <a:t>.</a:t>
            </a:r>
            <a:r>
              <a:rPr lang="en-US" sz="2200" dirty="0" smtClean="0"/>
              <a:t> As you can imagine, data pages store data records and index pages store index records.</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Records &amp; Pages</a:t>
            </a:r>
            <a:endParaRPr lang="en-US" dirty="0"/>
          </a:p>
        </p:txBody>
      </p:sp>
      <p:sp>
        <p:nvSpPr>
          <p:cNvPr id="3" name="Content Placeholder 2"/>
          <p:cNvSpPr>
            <a:spLocks noGrp="1"/>
          </p:cNvSpPr>
          <p:nvPr>
            <p:ph idx="1"/>
          </p:nvPr>
        </p:nvSpPr>
        <p:spPr/>
        <p:txBody>
          <a:bodyPr/>
          <a:lstStyle/>
          <a:p>
            <a:r>
              <a:rPr lang="en-US" sz="2400" dirty="0" smtClean="0"/>
              <a:t>When you add a new row to a database table using SQL, that row is converted internally to a </a:t>
            </a:r>
            <a:r>
              <a:rPr lang="en-US" sz="2400" i="1" dirty="0" smtClean="0">
                <a:solidFill>
                  <a:srgbClr val="C00000"/>
                </a:solidFill>
              </a:rPr>
              <a:t>record</a:t>
            </a:r>
            <a:r>
              <a:rPr lang="en-US" sz="2400" dirty="0" smtClean="0"/>
              <a:t>. Think of a record as an array of bytes, where each byte or group of bytes stores information about the record.</a:t>
            </a:r>
          </a:p>
          <a:p>
            <a:r>
              <a:rPr lang="en-US" sz="2400" dirty="0" smtClean="0"/>
              <a:t>When this record is created, it is added to a </a:t>
            </a:r>
            <a:r>
              <a:rPr lang="en-US" sz="2400" i="1" dirty="0" smtClean="0">
                <a:solidFill>
                  <a:srgbClr val="C00000"/>
                </a:solidFill>
              </a:rPr>
              <a:t>page</a:t>
            </a:r>
            <a:r>
              <a:rPr lang="en-US" sz="2400" i="1" dirty="0" smtClean="0"/>
              <a:t>.</a:t>
            </a:r>
            <a:r>
              <a:rPr lang="en-US" sz="2400" dirty="0" smtClean="0"/>
              <a:t> Databases tend to work with pages. A page is the smallest unit of data that a database will load into a memory cache.</a:t>
            </a:r>
          </a:p>
          <a:p>
            <a:r>
              <a:rPr lang="en-US" sz="2400" dirty="0" smtClean="0"/>
              <a:t>Imagine that a database needs to retrieve millions of records from disk and load them into memory. It would be difficult to determine how much space to allocate in memory for this operation. With pages, this becomes easier to manage since they are of a fixed length.</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Dirty Pages</a:t>
            </a:r>
            <a:endParaRPr lang="en-US" dirty="0"/>
          </a:p>
        </p:txBody>
      </p:sp>
      <p:sp>
        <p:nvSpPr>
          <p:cNvPr id="3" name="Content Placeholder 2"/>
          <p:cNvSpPr>
            <a:spLocks noGrp="1"/>
          </p:cNvSpPr>
          <p:nvPr>
            <p:ph idx="1"/>
          </p:nvPr>
        </p:nvSpPr>
        <p:spPr/>
        <p:txBody>
          <a:bodyPr/>
          <a:lstStyle/>
          <a:p>
            <a:r>
              <a:rPr lang="en-US" sz="2400" dirty="0" smtClean="0"/>
              <a:t>Saved records are first added to a page located in an in-memory cache.</a:t>
            </a:r>
          </a:p>
          <a:p>
            <a:r>
              <a:rPr lang="en-US" sz="2400" dirty="0" err="1" smtClean="0"/>
              <a:t>Writeback</a:t>
            </a:r>
            <a:r>
              <a:rPr lang="en-US" sz="2400" dirty="0" smtClean="0"/>
              <a:t> is the process by which pages located in-memory are written back to disk.</a:t>
            </a:r>
          </a:p>
          <a:p>
            <a:r>
              <a:rPr lang="en-US" sz="2400" dirty="0" smtClean="0"/>
              <a:t>When a page has two copies: one in memory and the other on disk, and the more recent page (the one in-memory) has been modified, the page is referred to as being </a:t>
            </a:r>
            <a:r>
              <a:rPr lang="en-US" sz="2400" i="1" dirty="0" smtClean="0">
                <a:solidFill>
                  <a:srgbClr val="C00000"/>
                </a:solidFill>
              </a:rPr>
              <a:t>dirty</a:t>
            </a:r>
            <a:r>
              <a:rPr lang="en-US" sz="2400" i="1" dirty="0" smtClean="0"/>
              <a:t>.</a:t>
            </a:r>
            <a:endParaRPr lang="en-US" sz="2400" dirty="0" smtClean="0"/>
          </a:p>
          <a:p>
            <a:r>
              <a:rPr lang="en-US" sz="2400" dirty="0" smtClean="0"/>
              <a:t>The content in-memory differs from what is on disk, and the content on disk needs to be updated since it is the durable data store.</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Generic Transactional Database</a:t>
            </a:r>
            <a:endParaRPr lang="en-US" dirty="0"/>
          </a:p>
        </p:txBody>
      </p:sp>
      <p:sp>
        <p:nvSpPr>
          <p:cNvPr id="3" name="Content Placeholder 2"/>
          <p:cNvSpPr>
            <a:spLocks noGrp="1"/>
          </p:cNvSpPr>
          <p:nvPr>
            <p:ph idx="1"/>
          </p:nvPr>
        </p:nvSpPr>
        <p:spPr/>
        <p:txBody>
          <a:bodyPr/>
          <a:lstStyle/>
          <a:p>
            <a:r>
              <a:rPr lang="en-US" sz="2400" dirty="0" smtClean="0"/>
              <a:t>Example bank transaction: Transfer $10 from </a:t>
            </a:r>
            <a:r>
              <a:rPr lang="en-US" sz="2400" dirty="0" err="1" smtClean="0"/>
              <a:t>x's</a:t>
            </a:r>
            <a:r>
              <a:rPr lang="en-US" sz="2400" dirty="0" smtClean="0"/>
              <a:t> account to </a:t>
            </a:r>
            <a:r>
              <a:rPr lang="en-US" sz="2400" dirty="0" err="1" smtClean="0"/>
              <a:t>y's</a:t>
            </a:r>
            <a:r>
              <a:rPr lang="en-US" sz="2400" dirty="0" smtClean="0"/>
              <a:t> account</a:t>
            </a:r>
          </a:p>
          <a:p>
            <a:pPr>
              <a:buNone/>
            </a:pPr>
            <a:r>
              <a:rPr lang="en-US" sz="2400" dirty="0" smtClean="0"/>
              <a:t>	x = x + 10</a:t>
            </a:r>
          </a:p>
          <a:p>
            <a:pPr>
              <a:buNone/>
            </a:pPr>
            <a:r>
              <a:rPr lang="en-US" sz="2400" dirty="0" smtClean="0"/>
              <a:t>	y = y - 10</a:t>
            </a:r>
          </a:p>
          <a:p>
            <a:r>
              <a:rPr lang="en-US" sz="2400" dirty="0" smtClean="0"/>
              <a:t>Locks x and y, released after commit finishes.</a:t>
            </a:r>
          </a:p>
          <a:p>
            <a:r>
              <a:rPr lang="en-US" sz="2400" dirty="0" smtClean="0"/>
              <a:t>Data in b-tree on disk.</a:t>
            </a:r>
          </a:p>
          <a:p>
            <a:r>
              <a:rPr lang="en-US" sz="2400" dirty="0" smtClean="0"/>
              <a:t>Cached data pages.</a:t>
            </a:r>
          </a:p>
          <a:p>
            <a:r>
              <a:rPr lang="en-US" sz="2400" dirty="0" smtClean="0"/>
              <a:t>DB server modifies only cached data pages as transaction runs and appends update info to WAL (Write-Ahead Log).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and Write-Ahead Log</a:t>
            </a:r>
            <a:endParaRPr lang="en-US" dirty="0"/>
          </a:p>
        </p:txBody>
      </p:sp>
      <p:sp>
        <p:nvSpPr>
          <p:cNvPr id="3" name="Content Placeholder 2"/>
          <p:cNvSpPr>
            <a:spLocks noGrp="1"/>
          </p:cNvSpPr>
          <p:nvPr>
            <p:ph idx="1"/>
          </p:nvPr>
        </p:nvSpPr>
        <p:spPr/>
        <p:txBody>
          <a:bodyPr/>
          <a:lstStyle/>
          <a:p>
            <a:r>
              <a:rPr lang="en-US" sz="2200" dirty="0" smtClean="0"/>
              <a:t>LSID	TID	key	old	new </a:t>
            </a:r>
          </a:p>
          <a:p>
            <a:pPr>
              <a:buNone/>
            </a:pPr>
            <a:r>
              <a:rPr lang="en-US" sz="2200" dirty="0" smtClean="0"/>
              <a:t>	101	7	x	500	510 (generated by x = x + 10) </a:t>
            </a:r>
          </a:p>
          <a:p>
            <a:pPr>
              <a:buNone/>
            </a:pPr>
            <a:r>
              <a:rPr lang="en-US" sz="2200" dirty="0" smtClean="0"/>
              <a:t>	102 7	y	750	740 (generated by y = y - 10) </a:t>
            </a:r>
          </a:p>
          <a:p>
            <a:pPr>
              <a:buNone/>
            </a:pPr>
            <a:r>
              <a:rPr lang="en-US" sz="2200" dirty="0" smtClean="0"/>
              <a:t>	103 7	commit (transaction finished)</a:t>
            </a:r>
          </a:p>
          <a:p>
            <a:r>
              <a:rPr lang="en-US" sz="2200" dirty="0" smtClean="0"/>
              <a:t>Commit once WAL safe on disk.</a:t>
            </a:r>
          </a:p>
          <a:p>
            <a:pPr lvl="1"/>
            <a:r>
              <a:rPr lang="en-US" sz="2000" dirty="0" smtClean="0"/>
              <a:t>Release locks on x and y.</a:t>
            </a:r>
          </a:p>
          <a:p>
            <a:pPr lvl="1"/>
            <a:r>
              <a:rPr lang="en-US" sz="2000" dirty="0" smtClean="0"/>
              <a:t>Reply to client.</a:t>
            </a:r>
          </a:p>
          <a:p>
            <a:r>
              <a:rPr lang="en-US" sz="2200" dirty="0" smtClean="0"/>
              <a:t>Later write modified data pages from cache to disk.</a:t>
            </a:r>
          </a:p>
          <a:p>
            <a:pPr lvl="1"/>
            <a:r>
              <a:rPr lang="en-US" sz="2000" dirty="0" smtClean="0"/>
              <a:t>To free log space, allow cache eviction.</a:t>
            </a:r>
          </a:p>
          <a:p>
            <a:r>
              <a:rPr lang="en-US" sz="2200" dirty="0" smtClean="0"/>
              <a:t>Crash recovery</a:t>
            </a:r>
          </a:p>
          <a:p>
            <a:pPr lvl="1"/>
            <a:r>
              <a:rPr lang="en-US" sz="2000" dirty="0" smtClean="0"/>
              <a:t>Replay "new" values for all committed transactions in log (</a:t>
            </a:r>
            <a:r>
              <a:rPr lang="en-US" sz="2000" b="1" dirty="0" smtClean="0">
                <a:solidFill>
                  <a:srgbClr val="C00000"/>
                </a:solidFill>
              </a:rPr>
              <a:t>redo</a:t>
            </a:r>
            <a:r>
              <a:rPr lang="en-US" sz="2000" dirty="0" smtClean="0"/>
              <a:t>).</a:t>
            </a:r>
          </a:p>
          <a:p>
            <a:pPr lvl="1"/>
            <a:r>
              <a:rPr lang="en-US" sz="2000" dirty="0" smtClean="0"/>
              <a:t>Replay "old" values for uncommitted transactions in log (</a:t>
            </a:r>
            <a:r>
              <a:rPr lang="en-US" sz="2000" b="1" dirty="0" smtClean="0">
                <a:solidFill>
                  <a:srgbClr val="C00000"/>
                </a:solidFill>
              </a:rPr>
              <a:t>undo</a:t>
            </a:r>
            <a:r>
              <a:rPr lang="en-US" sz="2000" dirty="0" smtClean="0"/>
              <a:t>).</a:t>
            </a:r>
          </a:p>
          <a:p>
            <a:pPr lvl="1"/>
            <a:endParaRPr lang="en-US" sz="2000"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Terminologies</a:t>
            </a:r>
            <a:endParaRPr lang="en-US" dirty="0"/>
          </a:p>
        </p:txBody>
      </p:sp>
      <p:sp>
        <p:nvSpPr>
          <p:cNvPr id="3" name="Content Placeholder 2"/>
          <p:cNvSpPr>
            <a:spLocks noGrp="1"/>
          </p:cNvSpPr>
          <p:nvPr>
            <p:ph idx="1"/>
          </p:nvPr>
        </p:nvSpPr>
        <p:spPr/>
        <p:txBody>
          <a:bodyPr/>
          <a:lstStyle/>
          <a:p>
            <a:r>
              <a:rPr lang="en-US" sz="2200" dirty="0" smtClean="0">
                <a:hlinkClick r:id="rId2"/>
              </a:rPr>
              <a:t>https://timilearning.com/posts/data-storage-on-disk/part-two/</a:t>
            </a:r>
            <a:endParaRPr lang="en-US" sz="2200" dirty="0" smtClean="0"/>
          </a:p>
          <a:p>
            <a:r>
              <a:rPr lang="en-US" sz="2400" b="1" dirty="0" smtClean="0"/>
              <a:t>Heap: </a:t>
            </a:r>
            <a:r>
              <a:rPr lang="en-US" sz="2400" dirty="0" smtClean="0"/>
              <a:t>Records are identified by a row ID (RID) which is a pointer made up of the file ID, page ID and slot ID that the record is located on, represented as (</a:t>
            </a:r>
            <a:r>
              <a:rPr lang="en-US" sz="2400" dirty="0" err="1" smtClean="0"/>
              <a:t>FileID:PageID:SlotID</a:t>
            </a:r>
            <a:r>
              <a:rPr lang="en-US" sz="2400" dirty="0" smtClean="0"/>
              <a:t>).</a:t>
            </a:r>
            <a:endParaRPr lang="en-US" sz="2400" b="1" dirty="0" smtClean="0"/>
          </a:p>
          <a:p>
            <a:r>
              <a:rPr lang="en-US" sz="2400" b="1" dirty="0" smtClean="0"/>
              <a:t>Indexes: B-Trees, B+ Trees</a:t>
            </a:r>
          </a:p>
          <a:p>
            <a:endParaRPr lang="en-US" sz="2400" b="1" dirty="0" smtClean="0"/>
          </a:p>
          <a:p>
            <a:endParaRPr lang="en-US" sz="2400" b="1" dirty="0" smtClean="0"/>
          </a:p>
        </p:txBody>
      </p:sp>
      <p:pic>
        <p:nvPicPr>
          <p:cNvPr id="3074" name="Picture 2" descr="Representation of records in a B-Tree"/>
          <p:cNvPicPr>
            <a:picLocks noChangeAspect="1" noChangeArrowheads="1"/>
          </p:cNvPicPr>
          <p:nvPr/>
        </p:nvPicPr>
        <p:blipFill>
          <a:blip r:embed="rId3" cstate="print"/>
          <a:srcRect/>
          <a:stretch>
            <a:fillRect/>
          </a:stretch>
        </p:blipFill>
        <p:spPr bwMode="auto">
          <a:xfrm>
            <a:off x="2362200" y="3810000"/>
            <a:ext cx="3994390" cy="2700715"/>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EC2 and EBS</a:t>
            </a:r>
            <a:endParaRPr lang="en-US" dirty="0"/>
          </a:p>
        </p:txBody>
      </p:sp>
      <p:sp>
        <p:nvSpPr>
          <p:cNvPr id="3" name="Content Placeholder 2"/>
          <p:cNvSpPr>
            <a:spLocks noGrp="1"/>
          </p:cNvSpPr>
          <p:nvPr>
            <p:ph idx="1"/>
          </p:nvPr>
        </p:nvSpPr>
        <p:spPr/>
        <p:txBody>
          <a:bodyPr/>
          <a:lstStyle/>
          <a:p>
            <a:r>
              <a:rPr lang="en-US" sz="2800" b="1" dirty="0" smtClean="0"/>
              <a:t>EBS is not shared storage.</a:t>
            </a:r>
          </a:p>
          <a:p>
            <a:r>
              <a:rPr lang="en-US" sz="2800" dirty="0" smtClean="0"/>
              <a:t>One instance: DB &gt;&gt; EBS</a:t>
            </a:r>
          </a:p>
          <a:p>
            <a:pPr lvl="1"/>
            <a:r>
              <a:rPr lang="en-US" sz="2400" dirty="0" smtClean="0"/>
              <a:t>Limited CPU and RAM, and </a:t>
            </a:r>
            <a:r>
              <a:rPr lang="en-US" sz="2400" i="1" dirty="0" smtClean="0"/>
              <a:t>storage</a:t>
            </a:r>
            <a:r>
              <a:rPr lang="en-US" sz="2400" dirty="0" smtClean="0"/>
              <a:t>.</a:t>
            </a:r>
          </a:p>
          <a:p>
            <a:r>
              <a:rPr lang="en-US" sz="2800" dirty="0" smtClean="0"/>
              <a:t>Two or more than two instances:</a:t>
            </a:r>
          </a:p>
          <a:p>
            <a:pPr lvl="1"/>
            <a:r>
              <a:rPr lang="en-US" sz="2400" dirty="0" smtClean="0"/>
              <a:t>lots of data sent over network -- both log and dirty data pages</a:t>
            </a:r>
          </a:p>
          <a:p>
            <a:pPr lvl="1"/>
            <a:r>
              <a:rPr lang="en-US" sz="2400" dirty="0" smtClean="0"/>
              <a:t>two replicas not enough, but a chain with more would be too slow!</a:t>
            </a:r>
          </a:p>
          <a:p>
            <a:pPr lvl="1"/>
            <a:r>
              <a:rPr lang="en-US" sz="2400" dirty="0" smtClean="0"/>
              <a:t>both replicas are in same AZ -- vulnerable to fire, flood, power failure, broken Internet connection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Mirrored </a:t>
            </a:r>
            <a:r>
              <a:rPr lang="en-US" dirty="0" err="1" smtClean="0"/>
              <a:t>MySQL</a:t>
            </a:r>
            <a:r>
              <a:rPr lang="en-US" dirty="0" smtClean="0"/>
              <a:t> [1]</a:t>
            </a:r>
            <a:endParaRPr lang="en-US" dirty="0"/>
          </a:p>
        </p:txBody>
      </p:sp>
      <p:sp>
        <p:nvSpPr>
          <p:cNvPr id="3" name="Content Placeholder 2"/>
          <p:cNvSpPr>
            <a:spLocks noGrp="1"/>
          </p:cNvSpPr>
          <p:nvPr>
            <p:ph idx="1"/>
          </p:nvPr>
        </p:nvSpPr>
        <p:spPr>
          <a:xfrm>
            <a:off x="457200" y="1600200"/>
            <a:ext cx="3657600" cy="4525963"/>
          </a:xfrm>
        </p:spPr>
        <p:txBody>
          <a:bodyPr/>
          <a:lstStyle/>
          <a:p>
            <a:r>
              <a:rPr lang="en-US" sz="2000" dirty="0" smtClean="0"/>
              <a:t>There is an active </a:t>
            </a:r>
            <a:r>
              <a:rPr lang="en-US" sz="2000" dirty="0" err="1" smtClean="0"/>
              <a:t>MySQL</a:t>
            </a:r>
            <a:r>
              <a:rPr lang="en-US" sz="2000" dirty="0" smtClean="0"/>
              <a:t> instance in AZ1 with networked storage on Amazon Elastic Block Store (EBS).</a:t>
            </a:r>
          </a:p>
          <a:p>
            <a:r>
              <a:rPr lang="en-US" sz="2000" dirty="0" smtClean="0"/>
              <a:t>There is also a standby </a:t>
            </a:r>
            <a:r>
              <a:rPr lang="en-US" sz="2000" dirty="0" err="1" smtClean="0"/>
              <a:t>MySQL</a:t>
            </a:r>
            <a:r>
              <a:rPr lang="en-US" sz="2000" dirty="0" smtClean="0"/>
              <a:t> instance in AZ2, also with networked storage on EBS.</a:t>
            </a:r>
          </a:p>
          <a:p>
            <a:r>
              <a:rPr lang="en-US" sz="2000" dirty="0" smtClean="0"/>
              <a:t>The writes made to the primary EBS volume are synchronized with the standby EBS volume using software mirroring.</a:t>
            </a:r>
            <a:endParaRPr lang="en-US" sz="2000" dirty="0"/>
          </a:p>
        </p:txBody>
      </p:sp>
      <p:pic>
        <p:nvPicPr>
          <p:cNvPr id="1027" name="Picture 3"/>
          <p:cNvPicPr>
            <a:picLocks noChangeAspect="1" noChangeArrowheads="1"/>
          </p:cNvPicPr>
          <p:nvPr/>
        </p:nvPicPr>
        <p:blipFill>
          <a:blip r:embed="rId2" cstate="print"/>
          <a:srcRect/>
          <a:stretch>
            <a:fillRect/>
          </a:stretch>
        </p:blipFill>
        <p:spPr bwMode="auto">
          <a:xfrm>
            <a:off x="4267200" y="1752600"/>
            <a:ext cx="4264767" cy="4140676"/>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IO in mirrored </a:t>
            </a:r>
            <a:r>
              <a:rPr lang="en-US" dirty="0" err="1" smtClean="0"/>
              <a:t>MySQL</a:t>
            </a:r>
            <a:endParaRPr lang="en-US" dirty="0"/>
          </a:p>
        </p:txBody>
      </p:sp>
      <p:sp>
        <p:nvSpPr>
          <p:cNvPr id="3" name="Content Placeholder 2"/>
          <p:cNvSpPr>
            <a:spLocks noGrp="1"/>
          </p:cNvSpPr>
          <p:nvPr>
            <p:ph idx="1"/>
          </p:nvPr>
        </p:nvSpPr>
        <p:spPr>
          <a:xfrm>
            <a:off x="457200" y="1600200"/>
            <a:ext cx="3810000" cy="4525963"/>
          </a:xfrm>
        </p:spPr>
        <p:txBody>
          <a:bodyPr/>
          <a:lstStyle/>
          <a:p>
            <a:r>
              <a:rPr lang="en-US" sz="2000" dirty="0" smtClean="0"/>
              <a:t>The various types of data that the engine needs to write: the redo log, the binary (statement) log that is archived to Amazon Simple Storage Service (S3) in order to support point-in-time restores, the modified </a:t>
            </a:r>
            <a:r>
              <a:rPr lang="en-US" sz="2000" b="1" dirty="0" smtClean="0"/>
              <a:t>data pages</a:t>
            </a:r>
            <a:r>
              <a:rPr lang="en-US" sz="2000" dirty="0" smtClean="0"/>
              <a:t>, a second temporary write of the data page (double-write) to prevent torn pages, and finally the metadata (FRM) files.</a:t>
            </a:r>
          </a:p>
          <a:p>
            <a:r>
              <a:rPr lang="en-US" sz="2000" i="1" dirty="0" smtClean="0"/>
              <a:t>In </a:t>
            </a:r>
            <a:r>
              <a:rPr lang="en-US" sz="2000" i="1" dirty="0" err="1" smtClean="0"/>
              <a:t>MySQL</a:t>
            </a:r>
            <a:r>
              <a:rPr lang="en-US" sz="2000" i="1" dirty="0" smtClean="0"/>
              <a:t> (before 8.0), an .</a:t>
            </a:r>
            <a:r>
              <a:rPr lang="en-US" sz="2000" i="1" dirty="0" err="1" smtClean="0"/>
              <a:t>frm</a:t>
            </a:r>
            <a:r>
              <a:rPr lang="en-US" sz="2000" i="1" dirty="0" smtClean="0"/>
              <a:t> file is the table-definition (metadata) file.</a:t>
            </a:r>
            <a:endParaRPr lang="en-US" sz="2000" i="1" dirty="0"/>
          </a:p>
        </p:txBody>
      </p:sp>
      <p:pic>
        <p:nvPicPr>
          <p:cNvPr id="1027" name="Picture 3"/>
          <p:cNvPicPr>
            <a:picLocks noChangeAspect="1" noChangeArrowheads="1"/>
          </p:cNvPicPr>
          <p:nvPr/>
        </p:nvPicPr>
        <p:blipFill>
          <a:blip r:embed="rId2" cstate="print"/>
          <a:srcRect/>
          <a:stretch>
            <a:fillRect/>
          </a:stretch>
        </p:blipFill>
        <p:spPr bwMode="auto">
          <a:xfrm>
            <a:off x="4345833" y="1752600"/>
            <a:ext cx="4264767" cy="4140676"/>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Commit</a:t>
            </a:r>
            <a:endParaRPr lang="en-US" dirty="0"/>
          </a:p>
        </p:txBody>
      </p:sp>
      <p:sp>
        <p:nvSpPr>
          <p:cNvPr id="3" name="Content Placeholder 2"/>
          <p:cNvSpPr>
            <a:spLocks noGrp="1"/>
          </p:cNvSpPr>
          <p:nvPr>
            <p:ph idx="1"/>
          </p:nvPr>
        </p:nvSpPr>
        <p:spPr/>
        <p:txBody>
          <a:bodyPr/>
          <a:lstStyle/>
          <a:p>
            <a:r>
              <a:rPr lang="en-US" dirty="0" smtClean="0"/>
              <a:t>When a traditional database modifies a data page, it generates a </a:t>
            </a:r>
            <a:r>
              <a:rPr lang="en-US" i="1" dirty="0" smtClean="0">
                <a:solidFill>
                  <a:srgbClr val="C00000"/>
                </a:solidFill>
              </a:rPr>
              <a:t>redo log record</a:t>
            </a:r>
            <a:r>
              <a:rPr lang="en-US" dirty="0" smtClean="0"/>
              <a:t> and invokes a log applicator that applies the redo log record to the </a:t>
            </a:r>
            <a:r>
              <a:rPr lang="en-US" i="1" dirty="0" smtClean="0">
                <a:solidFill>
                  <a:srgbClr val="C00000"/>
                </a:solidFill>
              </a:rPr>
              <a:t>in-memory</a:t>
            </a:r>
            <a:r>
              <a:rPr lang="en-US" dirty="0" smtClean="0"/>
              <a:t> before-image of the page to produce its after-image.</a:t>
            </a:r>
          </a:p>
          <a:p>
            <a:r>
              <a:rPr lang="en-US" dirty="0" smtClean="0"/>
              <a:t>Transaction commit requires </a:t>
            </a:r>
            <a:r>
              <a:rPr lang="en-US" i="1" dirty="0" smtClean="0">
                <a:solidFill>
                  <a:srgbClr val="C00000"/>
                </a:solidFill>
              </a:rPr>
              <a:t>the log to be written</a:t>
            </a:r>
            <a:r>
              <a:rPr lang="en-US" dirty="0" smtClean="0"/>
              <a:t>, but the </a:t>
            </a:r>
            <a:r>
              <a:rPr lang="en-US" u="sng" dirty="0" smtClean="0"/>
              <a:t>data page write may be deferred</a:t>
            </a:r>
            <a:r>
              <a:rPr lang="en-US" dirty="0" smtClean="0"/>
              <a:t>.</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Offloading Redo Processing to Storage</a:t>
            </a:r>
            <a:endParaRPr lang="en-US" dirty="0"/>
          </a:p>
        </p:txBody>
      </p:sp>
      <p:sp>
        <p:nvSpPr>
          <p:cNvPr id="3" name="Content Placeholder 2"/>
          <p:cNvSpPr>
            <a:spLocks noGrp="1"/>
          </p:cNvSpPr>
          <p:nvPr>
            <p:ph idx="1"/>
          </p:nvPr>
        </p:nvSpPr>
        <p:spPr/>
        <p:txBody>
          <a:bodyPr/>
          <a:lstStyle/>
          <a:p>
            <a:r>
              <a:rPr lang="en-US" sz="2200" dirty="0" smtClean="0"/>
              <a:t>In Aurora, the only writes that cross the network are redo log records.</a:t>
            </a:r>
          </a:p>
          <a:p>
            <a:r>
              <a:rPr lang="en-US" sz="2200" i="1" dirty="0" smtClean="0">
                <a:solidFill>
                  <a:srgbClr val="C00000"/>
                </a:solidFill>
              </a:rPr>
              <a:t>No pages</a:t>
            </a:r>
            <a:r>
              <a:rPr lang="en-US" sz="2200" dirty="0" smtClean="0"/>
              <a:t> are ever written from the database tier, not for background writes, not for </a:t>
            </a:r>
            <a:r>
              <a:rPr lang="en-US" sz="2200" dirty="0" err="1" smtClean="0"/>
              <a:t>checkpointing</a:t>
            </a:r>
            <a:r>
              <a:rPr lang="en-US" sz="2200" dirty="0" smtClean="0"/>
              <a:t>, and not for cache eviction.</a:t>
            </a:r>
          </a:p>
          <a:p>
            <a:r>
              <a:rPr lang="en-US" sz="2200" dirty="0" smtClean="0"/>
              <a:t>Instead, the log applicator is pushed to the storage tier where it can be used to generate database pages in background or on demand.</a:t>
            </a:r>
          </a:p>
          <a:p>
            <a:r>
              <a:rPr lang="en-US" sz="2200" dirty="0" smtClean="0"/>
              <a:t>Of course, generating each page from the complete chain of its modifications from the beginning of time is prohibitively expensive.</a:t>
            </a:r>
          </a:p>
          <a:p>
            <a:r>
              <a:rPr lang="en-US" sz="2200" dirty="0" smtClean="0"/>
              <a:t>We therefore continually </a:t>
            </a:r>
            <a:r>
              <a:rPr lang="en-US" sz="2200" i="1" dirty="0" smtClean="0">
                <a:solidFill>
                  <a:srgbClr val="C00000"/>
                </a:solidFill>
              </a:rPr>
              <a:t>materialize database pages in the background</a:t>
            </a:r>
            <a:r>
              <a:rPr lang="en-US" sz="2200" dirty="0" smtClean="0"/>
              <a:t> to avoid regenerating them from scratch on demand every time.</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Network IO in Amazon Aurora</a:t>
            </a:r>
            <a:endParaRPr lang="en-US" dirty="0"/>
          </a:p>
        </p:txBody>
      </p:sp>
      <p:sp>
        <p:nvSpPr>
          <p:cNvPr id="3" name="Content Placeholder 2"/>
          <p:cNvSpPr>
            <a:spLocks noGrp="1"/>
          </p:cNvSpPr>
          <p:nvPr>
            <p:ph idx="1"/>
          </p:nvPr>
        </p:nvSpPr>
        <p:spPr>
          <a:xfrm>
            <a:off x="457200" y="1600200"/>
            <a:ext cx="2819400" cy="4525963"/>
          </a:xfrm>
        </p:spPr>
        <p:txBody>
          <a:bodyPr/>
          <a:lstStyle/>
          <a:p>
            <a:r>
              <a:rPr lang="en-US" sz="2400" dirty="0" smtClean="0"/>
              <a:t>An Aurora cluster with one primary instance and multiple replicas instances deployed across multiple AZs.</a:t>
            </a:r>
          </a:p>
        </p:txBody>
      </p:sp>
      <p:pic>
        <p:nvPicPr>
          <p:cNvPr id="4" name="Picture 2"/>
          <p:cNvPicPr>
            <a:picLocks noChangeAspect="1" noChangeArrowheads="1"/>
          </p:cNvPicPr>
          <p:nvPr/>
        </p:nvPicPr>
        <p:blipFill>
          <a:blip r:embed="rId2" cstate="print"/>
          <a:srcRect/>
          <a:stretch>
            <a:fillRect/>
          </a:stretch>
        </p:blipFill>
        <p:spPr bwMode="auto">
          <a:xfrm>
            <a:off x="3276600" y="1600200"/>
            <a:ext cx="5343525" cy="37623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Writing Only </a:t>
            </a:r>
            <a:r>
              <a:rPr lang="en-US" dirty="0" smtClean="0"/>
              <a:t>Log Records</a:t>
            </a:r>
            <a:endParaRPr lang="en-US" dirty="0"/>
          </a:p>
        </p:txBody>
      </p:sp>
      <p:sp>
        <p:nvSpPr>
          <p:cNvPr id="3" name="Content Placeholder 2"/>
          <p:cNvSpPr>
            <a:spLocks noGrp="1"/>
          </p:cNvSpPr>
          <p:nvPr>
            <p:ph idx="1"/>
          </p:nvPr>
        </p:nvSpPr>
        <p:spPr/>
        <p:txBody>
          <a:bodyPr/>
          <a:lstStyle/>
          <a:p>
            <a:r>
              <a:rPr lang="en-US" sz="2400" dirty="0" smtClean="0"/>
              <a:t>The primary </a:t>
            </a:r>
            <a:r>
              <a:rPr lang="en-US" sz="2400" i="1" dirty="0" smtClean="0">
                <a:solidFill>
                  <a:srgbClr val="C00000"/>
                </a:solidFill>
              </a:rPr>
              <a:t>only writes log records</a:t>
            </a:r>
            <a:r>
              <a:rPr lang="en-US" sz="2400" dirty="0" smtClean="0"/>
              <a:t> to the storage service and streams those log records as well as metadata updates to the replica instances.</a:t>
            </a:r>
          </a:p>
          <a:p>
            <a:r>
              <a:rPr lang="en-US" sz="2400" dirty="0" smtClean="0"/>
              <a:t>The IO flow batches fully ordered log records based on a common destination (a logical segment, i.e., a PG) and delivers each batch to all 6 replicas where the batch is persisted on disk and the database engine waits for acknowledgements from 4 out of 6 replicas in order to satisfy the write quorum and consider the log records in question durable or hardened</a:t>
            </a:r>
            <a:r>
              <a:rPr lang="en-US" sz="2400" i="1" dirty="0" smtClean="0"/>
              <a:t>.</a:t>
            </a:r>
          </a:p>
          <a:p>
            <a:r>
              <a:rPr lang="en-US" sz="2400" dirty="0" smtClean="0"/>
              <a:t>The replicas use the redo log records to apply changes to their buffer caches.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Aurora </a:t>
            </a:r>
            <a:r>
              <a:rPr lang="it-IT" dirty="0" smtClean="0"/>
              <a:t>Storage Nodes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600200" y="1905000"/>
            <a:ext cx="6099175" cy="394652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smtClean="0"/>
              <a:t>IO Traffic in Aurora Storage Nodes</a:t>
            </a:r>
            <a:endParaRPr lang="en-US" dirty="0"/>
          </a:p>
        </p:txBody>
      </p:sp>
      <p:sp>
        <p:nvSpPr>
          <p:cNvPr id="3" name="Content Placeholder 2"/>
          <p:cNvSpPr>
            <a:spLocks noGrp="1"/>
          </p:cNvSpPr>
          <p:nvPr>
            <p:ph idx="1"/>
          </p:nvPr>
        </p:nvSpPr>
        <p:spPr/>
        <p:txBody>
          <a:bodyPr/>
          <a:lstStyle/>
          <a:p>
            <a:r>
              <a:rPr lang="en-US" sz="2200" dirty="0" smtClean="0"/>
              <a:t>(</a:t>
            </a:r>
            <a:r>
              <a:rPr lang="en-US" sz="2200" dirty="0" smtClean="0"/>
              <a:t>1) receive </a:t>
            </a:r>
            <a:r>
              <a:rPr lang="en-US" sz="2200" dirty="0" smtClean="0"/>
              <a:t>log record and add to an in-memory queue, </a:t>
            </a:r>
            <a:endParaRPr lang="en-US" sz="2200" dirty="0" smtClean="0"/>
          </a:p>
          <a:p>
            <a:r>
              <a:rPr lang="en-US" sz="2200" dirty="0" smtClean="0"/>
              <a:t>(</a:t>
            </a:r>
            <a:r>
              <a:rPr lang="en-US" sz="2200" dirty="0" smtClean="0"/>
              <a:t>2) </a:t>
            </a:r>
            <a:r>
              <a:rPr lang="en-US" sz="2200" dirty="0" smtClean="0"/>
              <a:t>persist record </a:t>
            </a:r>
            <a:r>
              <a:rPr lang="en-US" sz="2200" dirty="0" smtClean="0"/>
              <a:t>on disk and acknowledge, </a:t>
            </a:r>
            <a:endParaRPr lang="en-US" sz="2200" dirty="0" smtClean="0"/>
          </a:p>
          <a:p>
            <a:r>
              <a:rPr lang="en-US" sz="2200" dirty="0" smtClean="0"/>
              <a:t>(</a:t>
            </a:r>
            <a:r>
              <a:rPr lang="en-US" sz="2200" dirty="0" smtClean="0"/>
              <a:t>3) organize records and </a:t>
            </a:r>
            <a:r>
              <a:rPr lang="en-US" sz="2200" dirty="0" smtClean="0"/>
              <a:t>identify gaps </a:t>
            </a:r>
            <a:r>
              <a:rPr lang="en-US" sz="2200" dirty="0" smtClean="0"/>
              <a:t>in the log since some batches may be lost, </a:t>
            </a:r>
            <a:endParaRPr lang="en-US" sz="2200" dirty="0" smtClean="0"/>
          </a:p>
          <a:p>
            <a:r>
              <a:rPr lang="en-US" sz="2200" dirty="0" smtClean="0"/>
              <a:t>(</a:t>
            </a:r>
            <a:r>
              <a:rPr lang="en-US" sz="2200" dirty="0" smtClean="0"/>
              <a:t>4) gossip </a:t>
            </a:r>
            <a:r>
              <a:rPr lang="en-US" sz="2200" dirty="0" smtClean="0"/>
              <a:t>with peers </a:t>
            </a:r>
            <a:r>
              <a:rPr lang="en-US" sz="2200" dirty="0" smtClean="0"/>
              <a:t>to fill in gaps, </a:t>
            </a:r>
            <a:endParaRPr lang="en-US" sz="2200" dirty="0" smtClean="0"/>
          </a:p>
          <a:p>
            <a:r>
              <a:rPr lang="en-US" sz="2200" dirty="0" smtClean="0"/>
              <a:t>(</a:t>
            </a:r>
            <a:r>
              <a:rPr lang="en-US" sz="2200" dirty="0" smtClean="0"/>
              <a:t>5) coalesce log records into new data pages,</a:t>
            </a:r>
          </a:p>
          <a:p>
            <a:r>
              <a:rPr lang="en-US" sz="2200" dirty="0" smtClean="0"/>
              <a:t>(6) periodically stage log and new pages to S3, </a:t>
            </a:r>
            <a:endParaRPr lang="en-US" sz="2200" dirty="0" smtClean="0"/>
          </a:p>
          <a:p>
            <a:r>
              <a:rPr lang="en-US" sz="2200" dirty="0" smtClean="0"/>
              <a:t>(</a:t>
            </a:r>
            <a:r>
              <a:rPr lang="en-US" sz="2200" dirty="0" smtClean="0"/>
              <a:t>7) </a:t>
            </a:r>
            <a:r>
              <a:rPr lang="en-US" sz="2200" dirty="0" smtClean="0"/>
              <a:t>periodically garbage </a:t>
            </a:r>
            <a:r>
              <a:rPr lang="en-US" sz="2200" dirty="0" smtClean="0"/>
              <a:t>collect old versions, and finally </a:t>
            </a:r>
            <a:endParaRPr lang="en-US" sz="2200" dirty="0" smtClean="0"/>
          </a:p>
          <a:p>
            <a:r>
              <a:rPr lang="en-US" sz="2200" dirty="0" smtClean="0"/>
              <a:t>(</a:t>
            </a:r>
            <a:r>
              <a:rPr lang="en-US" sz="2200" dirty="0" smtClean="0"/>
              <a:t>8) periodically </a:t>
            </a:r>
            <a:r>
              <a:rPr lang="en-US" sz="2200" dirty="0" smtClean="0"/>
              <a:t>validate CRC </a:t>
            </a:r>
            <a:r>
              <a:rPr lang="en-US" sz="2200" dirty="0" smtClean="0"/>
              <a:t>codes on pages</a:t>
            </a:r>
            <a:r>
              <a:rPr lang="en-US" sz="2200" dirty="0" smtClean="0"/>
              <a:t>.</a:t>
            </a:r>
          </a:p>
          <a:p>
            <a:r>
              <a:rPr lang="en-US" sz="2200" dirty="0" smtClean="0"/>
              <a:t>Note that not only are each of the steps above asynchronous, only steps (1) and (2) are in the foreground path potentially impacting latency</a:t>
            </a:r>
            <a:r>
              <a:rPr lang="en-US" sz="2200" dirty="0" smtClean="0"/>
              <a:t>.</a:t>
            </a:r>
            <a:endParaRPr lang="en-US" sz="2200"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Quorum-based Voting Protocol</a:t>
            </a:r>
            <a:endParaRPr lang="en-US" dirty="0"/>
          </a:p>
        </p:txBody>
      </p:sp>
      <p:sp>
        <p:nvSpPr>
          <p:cNvPr id="3" name="Content Placeholder 2"/>
          <p:cNvSpPr>
            <a:spLocks noGrp="1"/>
          </p:cNvSpPr>
          <p:nvPr>
            <p:ph idx="1"/>
          </p:nvPr>
        </p:nvSpPr>
        <p:spPr/>
        <p:txBody>
          <a:bodyPr/>
          <a:lstStyle/>
          <a:p>
            <a:r>
              <a:rPr lang="en-US" sz="2400" dirty="0" smtClean="0"/>
              <a:t>If each of the </a:t>
            </a:r>
            <a:r>
              <a:rPr lang="en-US" sz="2400" i="1" dirty="0" smtClean="0">
                <a:solidFill>
                  <a:srgbClr val="C00000"/>
                </a:solidFill>
              </a:rPr>
              <a:t>V copies</a:t>
            </a:r>
            <a:r>
              <a:rPr lang="en-US" sz="2400" dirty="0" smtClean="0"/>
              <a:t> </a:t>
            </a:r>
            <a:r>
              <a:rPr lang="en-US" sz="2400" dirty="0" smtClean="0"/>
              <a:t>of a </a:t>
            </a:r>
            <a:r>
              <a:rPr lang="en-US" sz="2400" u="sng" dirty="0" smtClean="0"/>
              <a:t>replicated data item</a:t>
            </a:r>
            <a:r>
              <a:rPr lang="en-US" sz="2400" dirty="0" smtClean="0"/>
              <a:t> is assigned a vote, a read or </a:t>
            </a:r>
            <a:r>
              <a:rPr lang="en-US" sz="2400" dirty="0" smtClean="0"/>
              <a:t>write operation </a:t>
            </a:r>
            <a:r>
              <a:rPr lang="en-US" sz="2400" dirty="0" smtClean="0"/>
              <a:t>must respectively obtain a read quorum of </a:t>
            </a:r>
            <a:r>
              <a:rPr lang="en-US" sz="2400" dirty="0" err="1" smtClean="0"/>
              <a:t>V</a:t>
            </a:r>
            <a:r>
              <a:rPr lang="en-US" sz="2400" baseline="-25000" dirty="0" err="1" smtClean="0"/>
              <a:t>r</a:t>
            </a:r>
            <a:r>
              <a:rPr lang="en-US" sz="2400" dirty="0" smtClean="0"/>
              <a:t> votes or </a:t>
            </a:r>
            <a:r>
              <a:rPr lang="en-US" sz="2400" dirty="0" smtClean="0"/>
              <a:t>a write </a:t>
            </a:r>
            <a:r>
              <a:rPr lang="en-US" sz="2400" dirty="0" smtClean="0"/>
              <a:t>quorum of </a:t>
            </a:r>
            <a:r>
              <a:rPr lang="en-US" sz="2400" dirty="0" err="1" smtClean="0"/>
              <a:t>V</a:t>
            </a:r>
            <a:r>
              <a:rPr lang="en-US" sz="2400" baseline="-25000" dirty="0" err="1" smtClean="0"/>
              <a:t>w</a:t>
            </a:r>
            <a:r>
              <a:rPr lang="en-US" sz="2400" dirty="0" smtClean="0"/>
              <a:t> </a:t>
            </a:r>
            <a:r>
              <a:rPr lang="en-US" sz="2400" dirty="0" smtClean="0"/>
              <a:t>votes.</a:t>
            </a:r>
          </a:p>
          <a:p>
            <a:r>
              <a:rPr lang="en-US" sz="2400" dirty="0" smtClean="0"/>
              <a:t>To </a:t>
            </a:r>
            <a:r>
              <a:rPr lang="en-US" sz="2400" dirty="0" smtClean="0"/>
              <a:t>achieve </a:t>
            </a:r>
            <a:r>
              <a:rPr lang="en-US" sz="2400" i="1" dirty="0" smtClean="0">
                <a:solidFill>
                  <a:srgbClr val="C00000"/>
                </a:solidFill>
              </a:rPr>
              <a:t>consistency</a:t>
            </a:r>
            <a:r>
              <a:rPr lang="en-US" sz="2400" dirty="0" smtClean="0"/>
              <a:t>, the </a:t>
            </a:r>
            <a:r>
              <a:rPr lang="en-US" sz="2400" dirty="0" smtClean="0"/>
              <a:t>quorums must </a:t>
            </a:r>
            <a:r>
              <a:rPr lang="en-US" sz="2400" dirty="0" smtClean="0"/>
              <a:t>obey two </a:t>
            </a:r>
            <a:r>
              <a:rPr lang="en-US" sz="2400" dirty="0" smtClean="0"/>
              <a:t>rules.</a:t>
            </a:r>
          </a:p>
          <a:p>
            <a:r>
              <a:rPr lang="en-US" sz="2400" dirty="0" smtClean="0"/>
              <a:t>First</a:t>
            </a:r>
            <a:r>
              <a:rPr lang="en-US" sz="2400" dirty="0" smtClean="0"/>
              <a:t>, </a:t>
            </a:r>
            <a:r>
              <a:rPr lang="en-US" sz="2400" i="1" dirty="0" smtClean="0">
                <a:solidFill>
                  <a:srgbClr val="C00000"/>
                </a:solidFill>
              </a:rPr>
              <a:t>each read</a:t>
            </a:r>
            <a:r>
              <a:rPr lang="en-US" sz="2400" dirty="0" smtClean="0"/>
              <a:t> must be aware of </a:t>
            </a:r>
            <a:r>
              <a:rPr lang="en-US" sz="2400" u="sng" dirty="0" smtClean="0"/>
              <a:t>the </a:t>
            </a:r>
            <a:r>
              <a:rPr lang="en-US" sz="2400" u="sng" dirty="0" smtClean="0"/>
              <a:t>most recent </a:t>
            </a:r>
            <a:r>
              <a:rPr lang="en-US" sz="2400" u="sng" dirty="0" smtClean="0"/>
              <a:t>write</a:t>
            </a:r>
            <a:r>
              <a:rPr lang="en-US" sz="2400" dirty="0" smtClean="0"/>
              <a:t>, formulated as </a:t>
            </a:r>
            <a:r>
              <a:rPr lang="en-US" sz="2400" b="1" dirty="0" err="1" smtClean="0"/>
              <a:t>V</a:t>
            </a:r>
            <a:r>
              <a:rPr lang="en-US" sz="2400" b="1" baseline="-25000" dirty="0" err="1" smtClean="0"/>
              <a:t>r</a:t>
            </a:r>
            <a:r>
              <a:rPr lang="en-US" sz="2400" b="1" dirty="0" smtClean="0"/>
              <a:t> + </a:t>
            </a:r>
            <a:r>
              <a:rPr lang="en-US" sz="2400" b="1" dirty="0" err="1" smtClean="0"/>
              <a:t>V</a:t>
            </a:r>
            <a:r>
              <a:rPr lang="en-US" sz="2400" b="1" baseline="-25000" dirty="0" err="1" smtClean="0"/>
              <a:t>w</a:t>
            </a:r>
            <a:r>
              <a:rPr lang="en-US" sz="2400" b="1" dirty="0" smtClean="0"/>
              <a:t> &gt; </a:t>
            </a:r>
            <a:r>
              <a:rPr lang="en-US" sz="2400" b="1" dirty="0" smtClean="0"/>
              <a:t>V.</a:t>
            </a:r>
          </a:p>
          <a:p>
            <a:r>
              <a:rPr lang="en-US" sz="2400" dirty="0" smtClean="0"/>
              <a:t>This </a:t>
            </a:r>
            <a:r>
              <a:rPr lang="en-US" sz="2400" dirty="0" smtClean="0"/>
              <a:t>rule ensures the </a:t>
            </a:r>
            <a:r>
              <a:rPr lang="en-US" sz="2400" dirty="0" smtClean="0"/>
              <a:t>set of </a:t>
            </a:r>
            <a:r>
              <a:rPr lang="en-US" sz="2400" dirty="0" smtClean="0"/>
              <a:t>nodes used for a read intersects with the set of nodes used for </a:t>
            </a:r>
            <a:r>
              <a:rPr lang="en-US" sz="2400" dirty="0" smtClean="0"/>
              <a:t>a write </a:t>
            </a:r>
            <a:r>
              <a:rPr lang="en-US" sz="2400" dirty="0" smtClean="0"/>
              <a:t>and the read quorum contains </a:t>
            </a:r>
            <a:r>
              <a:rPr lang="en-US" sz="2400" i="1" dirty="0" smtClean="0">
                <a:solidFill>
                  <a:srgbClr val="C00000"/>
                </a:solidFill>
              </a:rPr>
              <a:t>at least one location</a:t>
            </a:r>
            <a:r>
              <a:rPr lang="en-US" sz="2400" dirty="0" smtClean="0"/>
              <a:t> with </a:t>
            </a:r>
            <a:r>
              <a:rPr lang="en-US" sz="2400" u="sng" dirty="0" smtClean="0"/>
              <a:t>the newest version</a:t>
            </a:r>
            <a:r>
              <a:rPr lang="en-US" sz="2400" dirty="0" smtClean="0"/>
              <a:t>.</a:t>
            </a:r>
          </a:p>
          <a:p>
            <a:r>
              <a:rPr lang="en-US" sz="2400" dirty="0" smtClean="0"/>
              <a:t>Second</a:t>
            </a:r>
            <a:r>
              <a:rPr lang="en-US" sz="2400" dirty="0" smtClean="0"/>
              <a:t>, </a:t>
            </a:r>
            <a:r>
              <a:rPr lang="en-US" sz="2400" i="1" dirty="0" smtClean="0">
                <a:solidFill>
                  <a:srgbClr val="C00000"/>
                </a:solidFill>
              </a:rPr>
              <a:t>each write</a:t>
            </a:r>
            <a:r>
              <a:rPr lang="en-US" sz="2400" dirty="0" smtClean="0"/>
              <a:t> must be aware of </a:t>
            </a:r>
            <a:r>
              <a:rPr lang="en-US" sz="2400" u="sng" dirty="0" smtClean="0"/>
              <a:t>the most recent write</a:t>
            </a:r>
            <a:r>
              <a:rPr lang="en-US" sz="2400" dirty="0" smtClean="0"/>
              <a:t> </a:t>
            </a:r>
            <a:r>
              <a:rPr lang="en-US" sz="2400" dirty="0" smtClean="0"/>
              <a:t>to avoid conflicting writes, formulated as </a:t>
            </a:r>
            <a:r>
              <a:rPr lang="en-US" sz="2400" b="1" dirty="0" err="1" smtClean="0"/>
              <a:t>V</a:t>
            </a:r>
            <a:r>
              <a:rPr lang="en-US" sz="2400" b="1" baseline="-25000" dirty="0" err="1" smtClean="0"/>
              <a:t>w</a:t>
            </a:r>
            <a:r>
              <a:rPr lang="en-US" sz="2400" b="1" dirty="0" smtClean="0"/>
              <a:t> &gt; V/2</a:t>
            </a:r>
            <a:r>
              <a:rPr lang="en-US" sz="2400" dirty="0" smtClean="0"/>
              <a: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Replication and Correlated Failures</a:t>
            </a:r>
            <a:endParaRPr lang="en-US" dirty="0"/>
          </a:p>
        </p:txBody>
      </p:sp>
      <p:sp>
        <p:nvSpPr>
          <p:cNvPr id="3" name="Content Placeholder 2"/>
          <p:cNvSpPr>
            <a:spLocks noGrp="1"/>
          </p:cNvSpPr>
          <p:nvPr>
            <p:ph idx="1"/>
          </p:nvPr>
        </p:nvSpPr>
        <p:spPr/>
        <p:txBody>
          <a:bodyPr/>
          <a:lstStyle/>
          <a:p>
            <a:r>
              <a:rPr lang="en-US" sz="2400" dirty="0" smtClean="0"/>
              <a:t>A </a:t>
            </a:r>
            <a:r>
              <a:rPr lang="en-US" sz="2400" dirty="0" smtClean="0"/>
              <a:t>common approach to tolerate the loss of </a:t>
            </a:r>
            <a:r>
              <a:rPr lang="en-US" sz="2400" i="1" dirty="0" smtClean="0">
                <a:solidFill>
                  <a:srgbClr val="C00000"/>
                </a:solidFill>
              </a:rPr>
              <a:t>a single node</a:t>
            </a:r>
            <a:r>
              <a:rPr lang="en-US" sz="2400" dirty="0" smtClean="0"/>
              <a:t> is </a:t>
            </a:r>
            <a:r>
              <a:rPr lang="en-US" sz="2400" dirty="0" smtClean="0"/>
              <a:t>to replicate </a:t>
            </a:r>
            <a:r>
              <a:rPr lang="en-US" sz="2400" dirty="0" smtClean="0"/>
              <a:t>data to (V = 3) nodes and rely on a </a:t>
            </a:r>
            <a:r>
              <a:rPr lang="en-US" sz="2400" u="sng" dirty="0" smtClean="0"/>
              <a:t>write quorum</a:t>
            </a:r>
            <a:r>
              <a:rPr lang="en-US" sz="2400" dirty="0" smtClean="0"/>
              <a:t> of </a:t>
            </a:r>
            <a:r>
              <a:rPr lang="en-US" sz="2400" dirty="0" smtClean="0"/>
              <a:t>2/3 (</a:t>
            </a:r>
            <a:r>
              <a:rPr lang="en-US" sz="2400" dirty="0" err="1" smtClean="0"/>
              <a:t>V</a:t>
            </a:r>
            <a:r>
              <a:rPr lang="en-US" sz="2400" baseline="-25000" dirty="0" err="1" smtClean="0"/>
              <a:t>w</a:t>
            </a:r>
            <a:r>
              <a:rPr lang="en-US" sz="2400" dirty="0" smtClean="0"/>
              <a:t> </a:t>
            </a:r>
            <a:r>
              <a:rPr lang="en-US" sz="2400" dirty="0" smtClean="0"/>
              <a:t>= 2) and a </a:t>
            </a:r>
            <a:r>
              <a:rPr lang="en-US" sz="2400" u="sng" dirty="0" smtClean="0"/>
              <a:t>read quorum</a:t>
            </a:r>
            <a:r>
              <a:rPr lang="en-US" sz="2400" dirty="0" smtClean="0"/>
              <a:t> of 2/3 (</a:t>
            </a:r>
            <a:r>
              <a:rPr lang="en-US" sz="2400" dirty="0" err="1" smtClean="0"/>
              <a:t>V</a:t>
            </a:r>
            <a:r>
              <a:rPr lang="en-US" sz="2400" baseline="-25000" dirty="0" err="1" smtClean="0"/>
              <a:t>r</a:t>
            </a:r>
            <a:r>
              <a:rPr lang="en-US" sz="2400" dirty="0" smtClean="0"/>
              <a:t> = 2</a:t>
            </a:r>
            <a:r>
              <a:rPr lang="en-US" sz="2400" dirty="0" smtClean="0"/>
              <a:t>).</a:t>
            </a:r>
          </a:p>
          <a:p>
            <a:r>
              <a:rPr lang="en-US" sz="2400" dirty="0" smtClean="0"/>
              <a:t>In Aurora, we have chosen a design point of </a:t>
            </a:r>
            <a:r>
              <a:rPr lang="en-US" sz="2400" i="1" dirty="0" smtClean="0">
                <a:solidFill>
                  <a:srgbClr val="C00000"/>
                </a:solidFill>
              </a:rPr>
              <a:t>tolerating</a:t>
            </a:r>
            <a:r>
              <a:rPr lang="en-US" sz="2400" dirty="0" smtClean="0"/>
              <a:t> </a:t>
            </a:r>
            <a:endParaRPr lang="en-US" sz="2400" dirty="0" smtClean="0"/>
          </a:p>
          <a:p>
            <a:pPr lvl="1"/>
            <a:r>
              <a:rPr lang="en-US" sz="2000" dirty="0" smtClean="0"/>
              <a:t>(</a:t>
            </a:r>
            <a:r>
              <a:rPr lang="en-US" sz="2000" dirty="0" smtClean="0"/>
              <a:t>a) </a:t>
            </a:r>
            <a:r>
              <a:rPr lang="en-US" sz="2000" dirty="0" smtClean="0"/>
              <a:t>losing an </a:t>
            </a:r>
            <a:r>
              <a:rPr lang="en-US" sz="2000" dirty="0" smtClean="0"/>
              <a:t>entire AZ and one additional node (AZ+1) </a:t>
            </a:r>
            <a:r>
              <a:rPr lang="en-US" sz="2000" i="1" dirty="0" smtClean="0">
                <a:solidFill>
                  <a:srgbClr val="C00000"/>
                </a:solidFill>
              </a:rPr>
              <a:t>without losing </a:t>
            </a:r>
            <a:r>
              <a:rPr lang="en-US" sz="2000" i="1" dirty="0" smtClean="0">
                <a:solidFill>
                  <a:srgbClr val="C00000"/>
                </a:solidFill>
              </a:rPr>
              <a:t>data</a:t>
            </a:r>
            <a:r>
              <a:rPr lang="en-US" sz="2000" dirty="0" smtClean="0"/>
              <a:t>, and </a:t>
            </a:r>
          </a:p>
          <a:p>
            <a:pPr lvl="1"/>
            <a:r>
              <a:rPr lang="en-US" sz="2000" dirty="0" smtClean="0"/>
              <a:t>(</a:t>
            </a:r>
            <a:r>
              <a:rPr lang="en-US" sz="2000" dirty="0" smtClean="0"/>
              <a:t>b) losing an entire AZ </a:t>
            </a:r>
            <a:r>
              <a:rPr lang="en-US" sz="2000" i="1" dirty="0" smtClean="0">
                <a:solidFill>
                  <a:srgbClr val="C00000"/>
                </a:solidFill>
              </a:rPr>
              <a:t>without impacting the ability to </a:t>
            </a:r>
            <a:r>
              <a:rPr lang="en-US" sz="2000" i="1" dirty="0" smtClean="0">
                <a:solidFill>
                  <a:srgbClr val="C00000"/>
                </a:solidFill>
              </a:rPr>
              <a:t>write data</a:t>
            </a:r>
            <a:r>
              <a:rPr lang="en-US" sz="2000" dirty="0" smtClean="0"/>
              <a:t>.</a:t>
            </a:r>
          </a:p>
          <a:p>
            <a:r>
              <a:rPr lang="en-US" sz="2400" dirty="0" smtClean="0"/>
              <a:t>We achieve this by replicating each data item 6 ways </a:t>
            </a:r>
            <a:r>
              <a:rPr lang="en-US" sz="2400" dirty="0" smtClean="0"/>
              <a:t>across 3 </a:t>
            </a:r>
            <a:r>
              <a:rPr lang="en-US" sz="2400" dirty="0" smtClean="0"/>
              <a:t>AZs with 2 copies of each item in each </a:t>
            </a:r>
            <a:r>
              <a:rPr lang="en-US" sz="2400" dirty="0" smtClean="0"/>
              <a:t>AZ.</a:t>
            </a:r>
          </a:p>
          <a:p>
            <a:r>
              <a:rPr lang="en-US" sz="2400" dirty="0" smtClean="0"/>
              <a:t>We </a:t>
            </a:r>
            <a:r>
              <a:rPr lang="en-US" sz="2400" dirty="0" smtClean="0"/>
              <a:t>use a </a:t>
            </a:r>
            <a:r>
              <a:rPr lang="en-US" sz="2400" dirty="0" smtClean="0"/>
              <a:t>quorum model </a:t>
            </a:r>
            <a:r>
              <a:rPr lang="en-US" sz="2400" dirty="0" smtClean="0"/>
              <a:t>with 6 votes (V = 6), a </a:t>
            </a:r>
            <a:r>
              <a:rPr lang="en-US" sz="2400" u="sng" dirty="0" smtClean="0"/>
              <a:t>write quorum</a:t>
            </a:r>
            <a:r>
              <a:rPr lang="en-US" sz="2400" dirty="0" smtClean="0"/>
              <a:t> of 4/6 (</a:t>
            </a:r>
            <a:r>
              <a:rPr lang="en-US" sz="2400" dirty="0" err="1" smtClean="0"/>
              <a:t>V</a:t>
            </a:r>
            <a:r>
              <a:rPr lang="en-US" sz="2400" baseline="-25000" dirty="0" err="1" smtClean="0"/>
              <a:t>w</a:t>
            </a:r>
            <a:r>
              <a:rPr lang="en-US" sz="2400" dirty="0" smtClean="0"/>
              <a:t> = 4</a:t>
            </a:r>
            <a:r>
              <a:rPr lang="en-US" sz="2400" dirty="0" smtClean="0"/>
              <a:t>), and a </a:t>
            </a:r>
            <a:r>
              <a:rPr lang="en-US" sz="2400" u="sng" dirty="0" smtClean="0"/>
              <a:t>read </a:t>
            </a:r>
            <a:r>
              <a:rPr lang="en-US" sz="2400" u="sng" dirty="0" smtClean="0"/>
              <a:t>quorum</a:t>
            </a:r>
            <a:r>
              <a:rPr lang="en-US" sz="2400" dirty="0" smtClean="0"/>
              <a:t> of 3/6 (</a:t>
            </a:r>
            <a:r>
              <a:rPr lang="en-US" sz="2400" dirty="0" err="1" smtClean="0"/>
              <a:t>V</a:t>
            </a:r>
            <a:r>
              <a:rPr lang="en-US" sz="2400" baseline="-25000" dirty="0" err="1" smtClean="0"/>
              <a:t>r</a:t>
            </a:r>
            <a:r>
              <a:rPr lang="en-US" sz="2400" dirty="0" smtClean="0"/>
              <a:t> = 3).</a:t>
            </a:r>
            <a:endParaRPr lang="en-US" sz="2400" dirty="0" smtClean="0"/>
          </a:p>
          <a:p>
            <a:endParaRPr lang="en-US" sz="2400" dirty="0" smtClean="0"/>
          </a:p>
          <a:p>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Sufficient Durability</a:t>
            </a:r>
            <a:endParaRPr lang="en-US" dirty="0"/>
          </a:p>
        </p:txBody>
      </p:sp>
      <p:sp>
        <p:nvSpPr>
          <p:cNvPr id="3" name="Content Placeholder 2"/>
          <p:cNvSpPr>
            <a:spLocks noGrp="1"/>
          </p:cNvSpPr>
          <p:nvPr>
            <p:ph idx="1"/>
          </p:nvPr>
        </p:nvSpPr>
        <p:spPr/>
        <p:txBody>
          <a:bodyPr/>
          <a:lstStyle/>
          <a:p>
            <a:r>
              <a:rPr lang="en-US" sz="2200" dirty="0" smtClean="0"/>
              <a:t>To provide sufficient durability in this model, one </a:t>
            </a:r>
            <a:r>
              <a:rPr lang="en-US" sz="2200" dirty="0" smtClean="0"/>
              <a:t>must ensure </a:t>
            </a:r>
            <a:r>
              <a:rPr lang="en-US" sz="2200" dirty="0" smtClean="0"/>
              <a:t>the probability of a </a:t>
            </a:r>
            <a:r>
              <a:rPr lang="en-US" sz="2200" i="1" dirty="0" smtClean="0">
                <a:solidFill>
                  <a:srgbClr val="C00000"/>
                </a:solidFill>
              </a:rPr>
              <a:t>double fault</a:t>
            </a:r>
            <a:r>
              <a:rPr lang="en-US" sz="2200" dirty="0" smtClean="0"/>
              <a:t> on uncorrelated </a:t>
            </a:r>
            <a:r>
              <a:rPr lang="en-US" sz="2200" dirty="0" smtClean="0"/>
              <a:t>failures (Mean </a:t>
            </a:r>
            <a:r>
              <a:rPr lang="en-US" sz="2200" dirty="0" smtClean="0"/>
              <a:t>Time to Failure – MTTF) is sufficiently low </a:t>
            </a:r>
            <a:r>
              <a:rPr lang="en-US" sz="2200" dirty="0" smtClean="0"/>
              <a:t>over </a:t>
            </a:r>
            <a:r>
              <a:rPr lang="en-US" sz="2200" b="1" dirty="0" smtClean="0"/>
              <a:t>(during)</a:t>
            </a:r>
            <a:r>
              <a:rPr lang="en-US" sz="2200" dirty="0" smtClean="0"/>
              <a:t> </a:t>
            </a:r>
            <a:r>
              <a:rPr lang="en-US" sz="2200" dirty="0" smtClean="0"/>
              <a:t>the </a:t>
            </a:r>
            <a:r>
              <a:rPr lang="en-US" sz="2200" dirty="0" smtClean="0"/>
              <a:t>time </a:t>
            </a:r>
            <a:r>
              <a:rPr lang="en-US" sz="2200" dirty="0" smtClean="0"/>
              <a:t>it takes to repair one of these failures (Mean Time to Repair </a:t>
            </a:r>
            <a:r>
              <a:rPr lang="en-US" sz="2200" dirty="0" smtClean="0"/>
              <a:t>– MTTR).</a:t>
            </a:r>
          </a:p>
          <a:p>
            <a:r>
              <a:rPr lang="en-US" sz="2200" dirty="0" smtClean="0"/>
              <a:t>If the probability of a double fault is sufficiently high, </a:t>
            </a:r>
            <a:r>
              <a:rPr lang="en-US" sz="2200" dirty="0" smtClean="0"/>
              <a:t>we may </a:t>
            </a:r>
            <a:r>
              <a:rPr lang="en-US" sz="2200" dirty="0" smtClean="0"/>
              <a:t>see </a:t>
            </a:r>
            <a:r>
              <a:rPr lang="en-US" sz="2200" dirty="0" smtClean="0"/>
              <a:t>these </a:t>
            </a:r>
            <a:r>
              <a:rPr lang="en-US" sz="2200" b="1" dirty="0" smtClean="0"/>
              <a:t>(double faults)</a:t>
            </a:r>
            <a:r>
              <a:rPr lang="en-US" sz="2200" dirty="0" smtClean="0"/>
              <a:t> </a:t>
            </a:r>
            <a:r>
              <a:rPr lang="en-US" sz="2200" dirty="0" smtClean="0"/>
              <a:t>on an AZ failure, breaking </a:t>
            </a:r>
            <a:r>
              <a:rPr lang="en-US" sz="2200" dirty="0" smtClean="0"/>
              <a:t>quorum.</a:t>
            </a:r>
          </a:p>
          <a:p>
            <a:r>
              <a:rPr lang="en-US" sz="2200" dirty="0" smtClean="0"/>
              <a:t>It </a:t>
            </a:r>
            <a:r>
              <a:rPr lang="en-US" sz="2200" dirty="0" smtClean="0"/>
              <a:t>is </a:t>
            </a:r>
            <a:r>
              <a:rPr lang="en-US" sz="2200" dirty="0" smtClean="0"/>
              <a:t>difficult, past </a:t>
            </a:r>
            <a:r>
              <a:rPr lang="en-US" sz="2200" dirty="0" smtClean="0"/>
              <a:t>a point, to reduce the probability of MTTF on </a:t>
            </a:r>
            <a:r>
              <a:rPr lang="en-US" sz="2200" dirty="0" smtClean="0"/>
              <a:t>independent failures.</a:t>
            </a:r>
          </a:p>
          <a:p>
            <a:r>
              <a:rPr lang="en-US" sz="2200" dirty="0" smtClean="0"/>
              <a:t>We </a:t>
            </a:r>
            <a:r>
              <a:rPr lang="en-US" sz="2200" dirty="0" smtClean="0"/>
              <a:t>instead focus on reducing MTTR to shrink </a:t>
            </a:r>
            <a:r>
              <a:rPr lang="en-US" sz="2200" dirty="0" smtClean="0"/>
              <a:t>the window </a:t>
            </a:r>
            <a:r>
              <a:rPr lang="en-US" sz="2200" dirty="0" smtClean="0"/>
              <a:t>of vulnerability to a double fault</a:t>
            </a:r>
            <a:r>
              <a:rPr lang="en-US" sz="2200" dirty="0" smtClean="0"/>
              <a:t>.</a:t>
            </a:r>
          </a:p>
          <a:p>
            <a:r>
              <a:rPr lang="en-US" sz="2200" i="1" dirty="0" smtClean="0"/>
              <a:t>A double fault (in quorum-based or replicated systems) means two independent failures occur before the first one has been repaired, reducing the system below the required replication quorum.</a:t>
            </a:r>
            <a:endParaRPr lang="en-US" sz="2200" i="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Protection Groups</a:t>
            </a:r>
            <a:endParaRPr lang="en-US" dirty="0"/>
          </a:p>
        </p:txBody>
      </p:sp>
      <p:sp>
        <p:nvSpPr>
          <p:cNvPr id="3" name="Content Placeholder 2"/>
          <p:cNvSpPr>
            <a:spLocks noGrp="1"/>
          </p:cNvSpPr>
          <p:nvPr>
            <p:ph idx="1"/>
          </p:nvPr>
        </p:nvSpPr>
        <p:spPr/>
        <p:txBody>
          <a:bodyPr/>
          <a:lstStyle/>
          <a:p>
            <a:r>
              <a:rPr lang="en-US" sz="2800" dirty="0" smtClean="0"/>
              <a:t>We do so </a:t>
            </a:r>
            <a:r>
              <a:rPr lang="en-US" sz="2800" dirty="0" smtClean="0"/>
              <a:t>by partitioning </a:t>
            </a:r>
            <a:r>
              <a:rPr lang="en-US" sz="2800" dirty="0" smtClean="0"/>
              <a:t>the database volume into small </a:t>
            </a:r>
            <a:r>
              <a:rPr lang="en-US" sz="2800" i="1" dirty="0" smtClean="0">
                <a:solidFill>
                  <a:srgbClr val="C00000"/>
                </a:solidFill>
              </a:rPr>
              <a:t>fixed size </a:t>
            </a:r>
            <a:r>
              <a:rPr lang="en-US" sz="2800" i="1" dirty="0" smtClean="0">
                <a:solidFill>
                  <a:srgbClr val="C00000"/>
                </a:solidFill>
              </a:rPr>
              <a:t>segments</a:t>
            </a:r>
            <a:r>
              <a:rPr lang="en-US" sz="2800" dirty="0" smtClean="0"/>
              <a:t>, currently </a:t>
            </a:r>
            <a:r>
              <a:rPr lang="en-US" sz="2800" dirty="0" smtClean="0"/>
              <a:t>10GB in </a:t>
            </a:r>
            <a:r>
              <a:rPr lang="en-US" sz="2800" dirty="0" smtClean="0"/>
              <a:t>size.</a:t>
            </a:r>
          </a:p>
          <a:p>
            <a:r>
              <a:rPr lang="en-US" sz="2800" dirty="0" smtClean="0"/>
              <a:t>These </a:t>
            </a:r>
            <a:r>
              <a:rPr lang="en-US" sz="2800" dirty="0" smtClean="0"/>
              <a:t>are each replicated 6 ways </a:t>
            </a:r>
            <a:r>
              <a:rPr lang="en-US" sz="2800" dirty="0" smtClean="0"/>
              <a:t>into Protection </a:t>
            </a:r>
            <a:r>
              <a:rPr lang="en-US" sz="2800" dirty="0" smtClean="0"/>
              <a:t>Groups (PGs) so that each PG consists of six </a:t>
            </a:r>
            <a:r>
              <a:rPr lang="en-US" sz="2800" dirty="0" smtClean="0"/>
              <a:t>10GB segments</a:t>
            </a:r>
            <a:r>
              <a:rPr lang="en-US" sz="2800" dirty="0" smtClean="0"/>
              <a:t>, organized across three AZs, with two segments in </a:t>
            </a:r>
            <a:r>
              <a:rPr lang="en-US" sz="2800" dirty="0" smtClean="0"/>
              <a:t>each AZ</a:t>
            </a:r>
            <a:r>
              <a:rPr lang="en-US" sz="2800" dirty="0" smtClean="0"/>
              <a:t>.</a:t>
            </a:r>
            <a:endParaRPr lang="en-US" sz="2800" i="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 Volumes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storage volume</a:t>
            </a:r>
            <a:r>
              <a:rPr lang="en-US" sz="2400" dirty="0" smtClean="0"/>
              <a:t> is a </a:t>
            </a:r>
            <a:r>
              <a:rPr lang="en-US" sz="2400" u="sng" dirty="0" smtClean="0"/>
              <a:t>concatenated set of PGs</a:t>
            </a:r>
            <a:r>
              <a:rPr lang="en-US" sz="2400" dirty="0" smtClean="0"/>
              <a:t>, </a:t>
            </a:r>
            <a:r>
              <a:rPr lang="en-US" sz="2400" dirty="0" smtClean="0"/>
              <a:t>physically implemented </a:t>
            </a:r>
            <a:r>
              <a:rPr lang="en-US" sz="2400" dirty="0" smtClean="0"/>
              <a:t>using a large fleet of storage nodes that </a:t>
            </a:r>
            <a:r>
              <a:rPr lang="en-US" sz="2400" dirty="0" smtClean="0"/>
              <a:t>are </a:t>
            </a:r>
            <a:r>
              <a:rPr lang="en-US" sz="2400" u="sng" dirty="0" smtClean="0"/>
              <a:t>provisioned </a:t>
            </a:r>
            <a:r>
              <a:rPr lang="en-US" sz="2400" u="sng" dirty="0" smtClean="0"/>
              <a:t>as virtual hosts with attached SSDs</a:t>
            </a:r>
            <a:r>
              <a:rPr lang="en-US" sz="2400" dirty="0" smtClean="0"/>
              <a:t> using </a:t>
            </a:r>
            <a:r>
              <a:rPr lang="en-US" sz="2400" dirty="0" smtClean="0"/>
              <a:t>Amazon Elastic </a:t>
            </a:r>
            <a:r>
              <a:rPr lang="en-US" sz="2400" dirty="0" smtClean="0"/>
              <a:t>Compute Cloud (EC2</a:t>
            </a:r>
            <a:r>
              <a:rPr lang="en-US" sz="2400" dirty="0" smtClean="0"/>
              <a:t>).</a:t>
            </a:r>
          </a:p>
          <a:p>
            <a:r>
              <a:rPr lang="en-US" sz="2400" dirty="0" smtClean="0"/>
              <a:t>The </a:t>
            </a:r>
            <a:r>
              <a:rPr lang="en-US" sz="2400" dirty="0" smtClean="0"/>
              <a:t>PGs that constitute a </a:t>
            </a:r>
            <a:r>
              <a:rPr lang="en-US" sz="2400" dirty="0" smtClean="0"/>
              <a:t>volume are </a:t>
            </a:r>
            <a:r>
              <a:rPr lang="en-US" sz="2400" dirty="0" smtClean="0"/>
              <a:t>allocated as the volume </a:t>
            </a:r>
            <a:r>
              <a:rPr lang="en-US" sz="2400" dirty="0" smtClean="0"/>
              <a:t>grows.</a:t>
            </a:r>
          </a:p>
          <a:p>
            <a:r>
              <a:rPr lang="en-US" sz="2400" dirty="0" smtClean="0"/>
              <a:t>We </a:t>
            </a:r>
            <a:r>
              <a:rPr lang="en-US" sz="2400" dirty="0" smtClean="0"/>
              <a:t>currently support </a:t>
            </a:r>
            <a:r>
              <a:rPr lang="en-US" sz="2400" dirty="0" smtClean="0"/>
              <a:t>volumes that </a:t>
            </a:r>
            <a:r>
              <a:rPr lang="en-US" sz="2400" dirty="0" smtClean="0"/>
              <a:t>can grow </a:t>
            </a:r>
            <a:r>
              <a:rPr lang="en-US" sz="2400" i="1" dirty="0" smtClean="0">
                <a:solidFill>
                  <a:srgbClr val="C00000"/>
                </a:solidFill>
              </a:rPr>
              <a:t>up to 64 TB</a:t>
            </a:r>
            <a:r>
              <a:rPr lang="en-US" sz="2400" dirty="0" smtClean="0"/>
              <a:t> on an </a:t>
            </a:r>
            <a:r>
              <a:rPr lang="en-US" sz="2400" dirty="0" err="1" smtClean="0"/>
              <a:t>unreplicated</a:t>
            </a:r>
            <a:r>
              <a:rPr lang="en-US" sz="2400" dirty="0" smtClean="0"/>
              <a:t> basis.</a:t>
            </a:r>
            <a:endParaRPr lang="en-US" sz="2400" i="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Repairing Faults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Segments</a:t>
            </a:r>
            <a:r>
              <a:rPr lang="en-US" sz="2400" dirty="0" smtClean="0"/>
              <a:t> are now our unit of independent background </a:t>
            </a:r>
            <a:r>
              <a:rPr lang="en-US" sz="2400" dirty="0" smtClean="0"/>
              <a:t>noise failure </a:t>
            </a:r>
            <a:r>
              <a:rPr lang="en-US" sz="2400" dirty="0" smtClean="0"/>
              <a:t>and </a:t>
            </a:r>
            <a:r>
              <a:rPr lang="en-US" sz="2400" dirty="0" smtClean="0"/>
              <a:t>repair.</a:t>
            </a:r>
          </a:p>
          <a:p>
            <a:r>
              <a:rPr lang="en-US" sz="2400" dirty="0" smtClean="0"/>
              <a:t>We </a:t>
            </a:r>
            <a:r>
              <a:rPr lang="en-US" sz="2400" dirty="0" smtClean="0"/>
              <a:t>monitor and automatically repair faults </a:t>
            </a:r>
            <a:r>
              <a:rPr lang="en-US" sz="2400" dirty="0" smtClean="0"/>
              <a:t>as part </a:t>
            </a:r>
            <a:r>
              <a:rPr lang="en-US" sz="2400" dirty="0" smtClean="0"/>
              <a:t>of our </a:t>
            </a:r>
            <a:r>
              <a:rPr lang="en-US" sz="2400" dirty="0" smtClean="0"/>
              <a:t>service.</a:t>
            </a:r>
          </a:p>
          <a:p>
            <a:r>
              <a:rPr lang="en-US" sz="2400" dirty="0" smtClean="0"/>
              <a:t>A </a:t>
            </a:r>
            <a:r>
              <a:rPr lang="en-US" sz="2400" dirty="0" smtClean="0"/>
              <a:t>10GB segment can be </a:t>
            </a:r>
            <a:r>
              <a:rPr lang="en-US" sz="2400" i="1" dirty="0" smtClean="0">
                <a:solidFill>
                  <a:srgbClr val="C00000"/>
                </a:solidFill>
              </a:rPr>
              <a:t>repaired in </a:t>
            </a:r>
            <a:r>
              <a:rPr lang="en-US" sz="2400" i="1" dirty="0" smtClean="0">
                <a:solidFill>
                  <a:srgbClr val="C00000"/>
                </a:solidFill>
              </a:rPr>
              <a:t>10 seconds</a:t>
            </a:r>
            <a:r>
              <a:rPr lang="en-US" sz="2400" dirty="0" smtClean="0"/>
              <a:t> </a:t>
            </a:r>
            <a:r>
              <a:rPr lang="en-US" sz="2400" dirty="0" smtClean="0"/>
              <a:t>on a 10Gbps network </a:t>
            </a:r>
            <a:r>
              <a:rPr lang="en-US" sz="2400" dirty="0" smtClean="0"/>
              <a:t>link.</a:t>
            </a:r>
          </a:p>
          <a:p>
            <a:r>
              <a:rPr lang="en-US" sz="2400" i="1" dirty="0" smtClean="0">
                <a:solidFill>
                  <a:srgbClr val="C00000"/>
                </a:solidFill>
              </a:rPr>
              <a:t>We </a:t>
            </a:r>
            <a:r>
              <a:rPr lang="en-US" sz="2400" i="1" dirty="0" smtClean="0">
                <a:solidFill>
                  <a:srgbClr val="C00000"/>
                </a:solidFill>
              </a:rPr>
              <a:t>would need to see </a:t>
            </a:r>
            <a:r>
              <a:rPr lang="en-US" sz="2400" i="1" dirty="0" smtClean="0">
                <a:solidFill>
                  <a:srgbClr val="C00000"/>
                </a:solidFill>
              </a:rPr>
              <a:t>two such </a:t>
            </a:r>
            <a:r>
              <a:rPr lang="en-US" sz="2400" i="1" dirty="0" smtClean="0">
                <a:solidFill>
                  <a:srgbClr val="C00000"/>
                </a:solidFill>
              </a:rPr>
              <a:t>failures in the same 10 second window plus a failure of </a:t>
            </a:r>
            <a:r>
              <a:rPr lang="en-US" sz="2400" i="1" dirty="0" smtClean="0">
                <a:solidFill>
                  <a:srgbClr val="C00000"/>
                </a:solidFill>
              </a:rPr>
              <a:t>an AZ </a:t>
            </a:r>
            <a:r>
              <a:rPr lang="en-US" sz="2400" i="1" dirty="0" smtClean="0">
                <a:solidFill>
                  <a:srgbClr val="C00000"/>
                </a:solidFill>
              </a:rPr>
              <a:t>not containing either of these two independent failures to </a:t>
            </a:r>
            <a:r>
              <a:rPr lang="en-US" sz="2400" i="1" dirty="0" smtClean="0">
                <a:solidFill>
                  <a:srgbClr val="C00000"/>
                </a:solidFill>
              </a:rPr>
              <a:t>lose quorum.</a:t>
            </a:r>
          </a:p>
          <a:p>
            <a:r>
              <a:rPr lang="en-US" sz="2400" dirty="0" smtClean="0"/>
              <a:t>At </a:t>
            </a:r>
            <a:r>
              <a:rPr lang="en-US" sz="2400" dirty="0" smtClean="0"/>
              <a:t>our observed failure rates, </a:t>
            </a:r>
            <a:r>
              <a:rPr lang="en-US" sz="2400" dirty="0" smtClean="0"/>
              <a:t>that's </a:t>
            </a:r>
            <a:r>
              <a:rPr lang="en-US" sz="2400" dirty="0" smtClean="0"/>
              <a:t>sufficiently </a:t>
            </a:r>
            <a:r>
              <a:rPr lang="en-US" sz="2400" dirty="0" smtClean="0"/>
              <a:t>unlikely, even </a:t>
            </a:r>
            <a:r>
              <a:rPr lang="en-US" sz="2400" dirty="0" smtClean="0"/>
              <a:t>for the number of databases we manage for our customers.</a:t>
            </a:r>
            <a:endParaRPr lang="en-US" sz="2400" i="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Aurora Architecture</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600200" y="1752600"/>
            <a:ext cx="6043644" cy="4206442"/>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t>Host Manager (HM)</a:t>
            </a:r>
            <a:endParaRPr lang="en-US" dirty="0"/>
          </a:p>
        </p:txBody>
      </p:sp>
      <p:sp>
        <p:nvSpPr>
          <p:cNvPr id="3" name="Content Placeholder 2"/>
          <p:cNvSpPr>
            <a:spLocks noGrp="1"/>
          </p:cNvSpPr>
          <p:nvPr>
            <p:ph idx="1"/>
          </p:nvPr>
        </p:nvSpPr>
        <p:spPr/>
        <p:txBody>
          <a:bodyPr/>
          <a:lstStyle/>
          <a:p>
            <a:r>
              <a:rPr lang="en-US" sz="2400" dirty="0" smtClean="0"/>
              <a:t>Aurora leverages Amazon Relational Database Service (RDS) </a:t>
            </a:r>
            <a:r>
              <a:rPr lang="en-US" sz="2400" dirty="0" smtClean="0"/>
              <a:t>for its </a:t>
            </a:r>
            <a:r>
              <a:rPr lang="en-US" sz="2400" dirty="0" smtClean="0"/>
              <a:t>control </a:t>
            </a:r>
            <a:r>
              <a:rPr lang="en-US" sz="2400" dirty="0" smtClean="0"/>
              <a:t>plane.</a:t>
            </a:r>
          </a:p>
          <a:p>
            <a:r>
              <a:rPr lang="en-US" sz="2400" dirty="0" smtClean="0"/>
              <a:t>RDS </a:t>
            </a:r>
            <a:r>
              <a:rPr lang="en-US" sz="2400" dirty="0" smtClean="0"/>
              <a:t>includes an agent on the database </a:t>
            </a:r>
            <a:r>
              <a:rPr lang="en-US" sz="2400" dirty="0" smtClean="0"/>
              <a:t>instance called </a:t>
            </a:r>
            <a:r>
              <a:rPr lang="en-US" sz="2400" dirty="0" smtClean="0"/>
              <a:t>the </a:t>
            </a:r>
            <a:r>
              <a:rPr lang="en-US" sz="2400" i="1" dirty="0" smtClean="0">
                <a:solidFill>
                  <a:srgbClr val="C00000"/>
                </a:solidFill>
              </a:rPr>
              <a:t>Host Manager (HM)</a:t>
            </a:r>
            <a:r>
              <a:rPr lang="en-US" sz="2400" dirty="0" smtClean="0"/>
              <a:t> that monitors a cluster’s health </a:t>
            </a:r>
            <a:r>
              <a:rPr lang="en-US" sz="2400" dirty="0" smtClean="0"/>
              <a:t>and determines </a:t>
            </a:r>
            <a:r>
              <a:rPr lang="en-US" sz="2400" dirty="0" smtClean="0"/>
              <a:t>if it needs to fail over, or if an instance needs to </a:t>
            </a:r>
            <a:r>
              <a:rPr lang="en-US" sz="2400" dirty="0" smtClean="0"/>
              <a:t>be replaced.</a:t>
            </a:r>
          </a:p>
          <a:p>
            <a:r>
              <a:rPr lang="en-US" sz="2400" dirty="0" smtClean="0"/>
              <a:t>Each </a:t>
            </a:r>
            <a:r>
              <a:rPr lang="en-US" sz="2400" i="1" dirty="0" smtClean="0">
                <a:solidFill>
                  <a:srgbClr val="C00000"/>
                </a:solidFill>
              </a:rPr>
              <a:t>database instance</a:t>
            </a:r>
            <a:r>
              <a:rPr lang="en-US" sz="2400" dirty="0" smtClean="0"/>
              <a:t> is part of a cluster that </a:t>
            </a:r>
            <a:r>
              <a:rPr lang="en-US" sz="2400" dirty="0" smtClean="0"/>
              <a:t>consists of </a:t>
            </a:r>
            <a:r>
              <a:rPr lang="en-US" sz="2400" u="sng" dirty="0" smtClean="0"/>
              <a:t>a single writer</a:t>
            </a:r>
            <a:r>
              <a:rPr lang="en-US" sz="2400" dirty="0" smtClean="0"/>
              <a:t> and </a:t>
            </a:r>
            <a:r>
              <a:rPr lang="en-US" sz="2400" u="sng" dirty="0" smtClean="0"/>
              <a:t>zero or more read </a:t>
            </a:r>
            <a:r>
              <a:rPr lang="en-US" sz="2400" u="sng" dirty="0" smtClean="0"/>
              <a:t>replicas</a:t>
            </a:r>
            <a:r>
              <a:rPr lang="en-US" sz="2400" dirty="0" smtClean="0"/>
              <a:t>.</a:t>
            </a:r>
          </a:p>
          <a:p>
            <a:r>
              <a:rPr lang="en-US" sz="2400" dirty="0" smtClean="0"/>
              <a:t>The </a:t>
            </a:r>
            <a:r>
              <a:rPr lang="en-US" sz="2400" dirty="0" smtClean="0"/>
              <a:t>instances </a:t>
            </a:r>
            <a:r>
              <a:rPr lang="en-US" sz="2400" dirty="0" smtClean="0"/>
              <a:t>of a </a:t>
            </a:r>
            <a:r>
              <a:rPr lang="en-US" sz="2400" dirty="0" smtClean="0"/>
              <a:t>cluster are in a </a:t>
            </a:r>
            <a:r>
              <a:rPr lang="en-US" sz="2400" i="1" dirty="0" smtClean="0">
                <a:solidFill>
                  <a:srgbClr val="C00000"/>
                </a:solidFill>
              </a:rPr>
              <a:t>single geographical region</a:t>
            </a:r>
            <a:r>
              <a:rPr lang="en-US" sz="2400" dirty="0" smtClean="0"/>
              <a:t> (e.g., us-east-1, </a:t>
            </a:r>
            <a:r>
              <a:rPr lang="en-US" sz="2400" dirty="0" smtClean="0"/>
              <a:t>uswest-1 </a:t>
            </a:r>
            <a:r>
              <a:rPr lang="en-US" sz="2400" dirty="0" smtClean="0"/>
              <a:t>etc.), are typically placed in </a:t>
            </a:r>
            <a:r>
              <a:rPr lang="en-US" sz="2400" u="sng" dirty="0" smtClean="0"/>
              <a:t>different AZs</a:t>
            </a:r>
            <a:r>
              <a:rPr lang="en-US" sz="2400" dirty="0" smtClean="0"/>
              <a:t>, and connect </a:t>
            </a:r>
            <a:r>
              <a:rPr lang="en-US" sz="2400" dirty="0" smtClean="0"/>
              <a:t>to </a:t>
            </a:r>
            <a:r>
              <a:rPr lang="en-US" sz="2400" u="sng" dirty="0" smtClean="0"/>
              <a:t>a </a:t>
            </a:r>
            <a:r>
              <a:rPr lang="en-US" sz="2400" u="sng" dirty="0" smtClean="0"/>
              <a:t>storage fleet in the same region</a:t>
            </a:r>
            <a:r>
              <a:rPr lang="en-US" sz="2400" dirty="0" smtClean="0"/>
              <a:t>.</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VPCs</a:t>
            </a:r>
            <a:endParaRPr lang="en-US" dirty="0"/>
          </a:p>
        </p:txBody>
      </p:sp>
      <p:sp>
        <p:nvSpPr>
          <p:cNvPr id="3" name="Content Placeholder 2"/>
          <p:cNvSpPr>
            <a:spLocks noGrp="1"/>
          </p:cNvSpPr>
          <p:nvPr>
            <p:ph idx="1"/>
          </p:nvPr>
        </p:nvSpPr>
        <p:spPr/>
        <p:txBody>
          <a:bodyPr/>
          <a:lstStyle/>
          <a:p>
            <a:r>
              <a:rPr lang="en-US" sz="2600" dirty="0" smtClean="0"/>
              <a:t>For security, we isolate </a:t>
            </a:r>
            <a:r>
              <a:rPr lang="en-US" sz="2600" dirty="0" smtClean="0"/>
              <a:t>the communication </a:t>
            </a:r>
            <a:r>
              <a:rPr lang="en-US" sz="2600" dirty="0" smtClean="0"/>
              <a:t>between the database, applications and </a:t>
            </a:r>
            <a:r>
              <a:rPr lang="en-US" sz="2600" dirty="0" smtClean="0"/>
              <a:t>storage.</a:t>
            </a:r>
          </a:p>
          <a:p>
            <a:r>
              <a:rPr lang="en-US" sz="2600" dirty="0" smtClean="0"/>
              <a:t>In practice</a:t>
            </a:r>
            <a:r>
              <a:rPr lang="en-US" sz="2600" dirty="0" smtClean="0"/>
              <a:t>, each database instance can communicate on </a:t>
            </a:r>
            <a:r>
              <a:rPr lang="en-US" sz="2600" dirty="0" smtClean="0"/>
              <a:t>three Amazon </a:t>
            </a:r>
            <a:r>
              <a:rPr lang="en-US" sz="2600" dirty="0" smtClean="0"/>
              <a:t>Virtual Private Cloud (VPC) </a:t>
            </a:r>
            <a:r>
              <a:rPr lang="en-US" sz="2600" dirty="0" smtClean="0"/>
              <a:t>networks:</a:t>
            </a:r>
          </a:p>
          <a:p>
            <a:pPr lvl="1"/>
            <a:r>
              <a:rPr lang="en-US" sz="2200" dirty="0" smtClean="0"/>
              <a:t>the customer VPC </a:t>
            </a:r>
            <a:r>
              <a:rPr lang="en-US" sz="2200" dirty="0" smtClean="0"/>
              <a:t>through which customer applications interact with </a:t>
            </a:r>
            <a:r>
              <a:rPr lang="en-US" sz="2200" dirty="0" smtClean="0"/>
              <a:t>the engine</a:t>
            </a:r>
            <a:r>
              <a:rPr lang="en-US" sz="2200" dirty="0" smtClean="0"/>
              <a:t>, </a:t>
            </a:r>
            <a:endParaRPr lang="en-US" sz="2200" dirty="0" smtClean="0"/>
          </a:p>
          <a:p>
            <a:pPr lvl="1"/>
            <a:r>
              <a:rPr lang="en-US" sz="2200" dirty="0" smtClean="0"/>
              <a:t>the </a:t>
            </a:r>
            <a:r>
              <a:rPr lang="en-US" sz="2200" dirty="0" smtClean="0"/>
              <a:t>RDS VPC through which the database engine </a:t>
            </a:r>
            <a:r>
              <a:rPr lang="en-US" sz="2200" dirty="0" smtClean="0"/>
              <a:t>and control </a:t>
            </a:r>
            <a:r>
              <a:rPr lang="en-US" sz="2200" dirty="0" smtClean="0"/>
              <a:t>plane interact with each other, and </a:t>
            </a:r>
            <a:endParaRPr lang="en-US" sz="2200" dirty="0" smtClean="0"/>
          </a:p>
          <a:p>
            <a:pPr lvl="1"/>
            <a:r>
              <a:rPr lang="en-US" sz="2200" dirty="0" smtClean="0"/>
              <a:t>the </a:t>
            </a:r>
            <a:r>
              <a:rPr lang="en-US" sz="2200" dirty="0" smtClean="0"/>
              <a:t>Storage </a:t>
            </a:r>
            <a:r>
              <a:rPr lang="en-US" sz="2200" dirty="0" smtClean="0"/>
              <a:t>VPC through </a:t>
            </a:r>
            <a:r>
              <a:rPr lang="en-US" sz="2200" dirty="0" smtClean="0"/>
              <a:t>which the database interacts with storage services.</a:t>
            </a:r>
            <a:endParaRPr 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t>Storage Service</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storage service</a:t>
            </a:r>
            <a:r>
              <a:rPr lang="en-US" sz="2400" dirty="0" smtClean="0"/>
              <a:t> is deployed on </a:t>
            </a:r>
            <a:r>
              <a:rPr lang="en-US" sz="2400" u="sng" dirty="0" smtClean="0"/>
              <a:t>a cluster of EC2 VMs</a:t>
            </a:r>
            <a:r>
              <a:rPr lang="en-US" sz="2400" dirty="0" smtClean="0"/>
              <a:t> that </a:t>
            </a:r>
            <a:r>
              <a:rPr lang="en-US" sz="2400" dirty="0" smtClean="0"/>
              <a:t>are provisioned </a:t>
            </a:r>
            <a:r>
              <a:rPr lang="en-US" sz="2400" dirty="0" smtClean="0"/>
              <a:t>across a</a:t>
            </a:r>
            <a:r>
              <a:rPr lang="en-US" sz="2400" u="sng" dirty="0" smtClean="0"/>
              <a:t>t least 3 AZs in each region</a:t>
            </a:r>
            <a:r>
              <a:rPr lang="en-US" sz="2400" dirty="0" smtClean="0"/>
              <a:t> and </a:t>
            </a:r>
            <a:r>
              <a:rPr lang="en-US" sz="2400" dirty="0" smtClean="0"/>
              <a:t>is collectively </a:t>
            </a:r>
            <a:r>
              <a:rPr lang="en-US" sz="2400" dirty="0" smtClean="0"/>
              <a:t>responsible for provisioning multiple </a:t>
            </a:r>
            <a:r>
              <a:rPr lang="en-US" sz="2400" dirty="0" smtClean="0"/>
              <a:t>customer storage </a:t>
            </a:r>
            <a:r>
              <a:rPr lang="en-US" sz="2400" dirty="0" smtClean="0"/>
              <a:t>volumes, reading and writing data to and from </a:t>
            </a:r>
            <a:r>
              <a:rPr lang="en-US" sz="2400" dirty="0" smtClean="0"/>
              <a:t>those volumes</a:t>
            </a:r>
            <a:r>
              <a:rPr lang="en-US" sz="2400" dirty="0" smtClean="0"/>
              <a:t>, and backing up and restoring data from and to </a:t>
            </a:r>
            <a:r>
              <a:rPr lang="en-US" sz="2400" dirty="0" smtClean="0"/>
              <a:t>those volumes.</a:t>
            </a:r>
          </a:p>
          <a:p>
            <a:r>
              <a:rPr lang="en-US" sz="2400" dirty="0" smtClean="0"/>
              <a:t>The </a:t>
            </a:r>
            <a:r>
              <a:rPr lang="en-US" sz="2400" i="1" dirty="0" smtClean="0">
                <a:solidFill>
                  <a:srgbClr val="C00000"/>
                </a:solidFill>
              </a:rPr>
              <a:t>storage nodes</a:t>
            </a:r>
            <a:r>
              <a:rPr lang="en-US" sz="2400" dirty="0" smtClean="0"/>
              <a:t> manipulate local SSDs and </a:t>
            </a:r>
            <a:r>
              <a:rPr lang="en-US" sz="2400" dirty="0" smtClean="0"/>
              <a:t>interact with </a:t>
            </a:r>
            <a:r>
              <a:rPr lang="en-US" sz="2400" dirty="0" smtClean="0"/>
              <a:t>database engine instances, other peer storage nodes, and </a:t>
            </a:r>
            <a:r>
              <a:rPr lang="en-US" sz="2400" dirty="0" smtClean="0"/>
              <a:t>the backup/restore </a:t>
            </a:r>
            <a:r>
              <a:rPr lang="en-US" sz="2400" dirty="0" smtClean="0"/>
              <a:t>services that </a:t>
            </a:r>
            <a:r>
              <a:rPr lang="en-US" sz="2400" dirty="0" smtClean="0"/>
              <a:t> </a:t>
            </a:r>
            <a:r>
              <a:rPr lang="en-US" sz="2400" dirty="0" smtClean="0"/>
              <a:t>c</a:t>
            </a:r>
            <a:r>
              <a:rPr lang="en-US" sz="2400" dirty="0" smtClean="0"/>
              <a:t>ontinuously </a:t>
            </a:r>
            <a:r>
              <a:rPr lang="en-US" sz="2400" dirty="0" smtClean="0"/>
              <a:t>backup changed data </a:t>
            </a:r>
            <a:r>
              <a:rPr lang="en-US" sz="2400" dirty="0" smtClean="0"/>
              <a:t>to S3 </a:t>
            </a:r>
            <a:r>
              <a:rPr lang="en-US" sz="2400" dirty="0" smtClean="0"/>
              <a:t>and restore data from S3 as needed.</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t>Storage Control Plane</a:t>
            </a:r>
            <a:endParaRPr lang="en-US" dirty="0"/>
          </a:p>
        </p:txBody>
      </p:sp>
      <p:sp>
        <p:nvSpPr>
          <p:cNvPr id="3" name="Content Placeholder 2"/>
          <p:cNvSpPr>
            <a:spLocks noGrp="1"/>
          </p:cNvSpPr>
          <p:nvPr>
            <p:ph idx="1"/>
          </p:nvPr>
        </p:nvSpPr>
        <p:spPr>
          <a:xfrm>
            <a:off x="457200" y="1600200"/>
            <a:ext cx="4495800" cy="4525963"/>
          </a:xfrm>
        </p:spPr>
        <p:txBody>
          <a:bodyPr/>
          <a:lstStyle/>
          <a:p>
            <a:r>
              <a:rPr lang="en-US" sz="2000" dirty="0" smtClean="0"/>
              <a:t>The </a:t>
            </a:r>
            <a:r>
              <a:rPr lang="en-US" sz="2000" i="1" dirty="0" smtClean="0">
                <a:solidFill>
                  <a:srgbClr val="C00000"/>
                </a:solidFill>
              </a:rPr>
              <a:t>storage control </a:t>
            </a:r>
            <a:r>
              <a:rPr lang="en-US" sz="2000" i="1" dirty="0" smtClean="0">
                <a:solidFill>
                  <a:srgbClr val="C00000"/>
                </a:solidFill>
              </a:rPr>
              <a:t>plane</a:t>
            </a:r>
            <a:r>
              <a:rPr lang="en-US" sz="2000" dirty="0" smtClean="0"/>
              <a:t> uses </a:t>
            </a:r>
            <a:r>
              <a:rPr lang="en-US" sz="2000" dirty="0" smtClean="0"/>
              <a:t>the </a:t>
            </a:r>
            <a:r>
              <a:rPr lang="en-US" sz="2000" u="sng" dirty="0" smtClean="0"/>
              <a:t>Amazon </a:t>
            </a:r>
            <a:r>
              <a:rPr lang="en-US" sz="2000" u="sng" dirty="0" err="1" smtClean="0"/>
              <a:t>DynamoDB</a:t>
            </a:r>
            <a:r>
              <a:rPr lang="en-US" sz="2000" u="sng" dirty="0" smtClean="0"/>
              <a:t> database service</a:t>
            </a:r>
            <a:r>
              <a:rPr lang="en-US" sz="2000" dirty="0" smtClean="0"/>
              <a:t> for persistent storage of cluster and storage </a:t>
            </a:r>
            <a:r>
              <a:rPr lang="en-US" sz="2000" u="sng" dirty="0" smtClean="0"/>
              <a:t>volume configuration</a:t>
            </a:r>
            <a:r>
              <a:rPr lang="en-US" sz="2000" dirty="0" smtClean="0"/>
              <a:t>, </a:t>
            </a:r>
            <a:r>
              <a:rPr lang="en-US" sz="2000" u="sng" dirty="0" smtClean="0"/>
              <a:t>volume metadata</a:t>
            </a:r>
            <a:r>
              <a:rPr lang="en-US" sz="2000" dirty="0" smtClean="0"/>
              <a:t>, </a:t>
            </a:r>
            <a:r>
              <a:rPr lang="en-US" sz="2000" dirty="0" smtClean="0"/>
              <a:t>and a detailed description of data backed up to </a:t>
            </a:r>
            <a:r>
              <a:rPr lang="en-US" sz="2000" dirty="0" smtClean="0"/>
              <a:t>S3.</a:t>
            </a:r>
          </a:p>
          <a:p>
            <a:r>
              <a:rPr lang="en-US" sz="2000" dirty="0" smtClean="0"/>
              <a:t>For </a:t>
            </a:r>
            <a:r>
              <a:rPr lang="en-US" sz="2000" i="1" dirty="0" smtClean="0">
                <a:solidFill>
                  <a:srgbClr val="C00000"/>
                </a:solidFill>
              </a:rPr>
              <a:t>orchestrating </a:t>
            </a:r>
            <a:r>
              <a:rPr lang="en-US" sz="2000" i="1" dirty="0" smtClean="0">
                <a:solidFill>
                  <a:srgbClr val="C00000"/>
                </a:solidFill>
              </a:rPr>
              <a:t>long-running operations</a:t>
            </a:r>
            <a:r>
              <a:rPr lang="en-US" sz="2000" dirty="0" smtClean="0"/>
              <a:t>, e.g. a database </a:t>
            </a:r>
            <a:r>
              <a:rPr lang="en-US" sz="2000" dirty="0" smtClean="0"/>
              <a:t>volume restore </a:t>
            </a:r>
            <a:r>
              <a:rPr lang="en-US" sz="2000" dirty="0" smtClean="0"/>
              <a:t>operation or a repair (re-replication) operation following </a:t>
            </a:r>
            <a:r>
              <a:rPr lang="en-US" sz="2000" dirty="0" smtClean="0"/>
              <a:t>a storage </a:t>
            </a:r>
            <a:r>
              <a:rPr lang="en-US" sz="2000" dirty="0" smtClean="0"/>
              <a:t>node failure, the storage control plane uses the </a:t>
            </a:r>
            <a:r>
              <a:rPr lang="en-US" sz="2000" u="sng" dirty="0" smtClean="0"/>
              <a:t>Amazon Simple </a:t>
            </a:r>
            <a:r>
              <a:rPr lang="en-US" sz="2000" u="sng" dirty="0" smtClean="0"/>
              <a:t>Workflow Service</a:t>
            </a:r>
            <a:r>
              <a:rPr lang="en-US" sz="2000" dirty="0" smtClean="0"/>
              <a:t>.</a:t>
            </a:r>
            <a:endParaRPr lang="en-US" sz="2000" dirty="0"/>
          </a:p>
        </p:txBody>
      </p:sp>
      <p:pic>
        <p:nvPicPr>
          <p:cNvPr id="3074" name="Picture 2"/>
          <p:cNvPicPr>
            <a:picLocks noChangeAspect="1" noChangeArrowheads="1"/>
          </p:cNvPicPr>
          <p:nvPr/>
        </p:nvPicPr>
        <p:blipFill>
          <a:blip r:embed="rId2" cstate="print"/>
          <a:srcRect/>
          <a:stretch>
            <a:fillRect/>
          </a:stretch>
        </p:blipFill>
        <p:spPr bwMode="auto">
          <a:xfrm>
            <a:off x="5029200" y="1676400"/>
            <a:ext cx="3657600" cy="35941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17246</TotalTime>
  <Words>2340</Words>
  <Application>Microsoft Office PowerPoint</Application>
  <PresentationFormat>On-screen Show (4:3)</PresentationFormat>
  <Paragraphs>166</Paragraphs>
  <Slides>38</Slides>
  <Notes>1</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Amazon Aurora</vt:lpstr>
      <vt:lpstr>Objectives</vt:lpstr>
      <vt:lpstr>Contents</vt:lpstr>
      <vt:lpstr>References</vt:lpstr>
      <vt:lpstr>Amazon Aurora</vt:lpstr>
      <vt:lpstr>Context</vt:lpstr>
      <vt:lpstr>Problems</vt:lpstr>
      <vt:lpstr>Slide 8</vt:lpstr>
      <vt:lpstr>Database System Architecture</vt:lpstr>
      <vt:lpstr>Database System Architecture</vt:lpstr>
      <vt:lpstr>Database Storage Terminologies</vt:lpstr>
      <vt:lpstr>Records &amp; Pages</vt:lpstr>
      <vt:lpstr>Dirty Pages</vt:lpstr>
      <vt:lpstr>Generic Transactional Database</vt:lpstr>
      <vt:lpstr>Transaction and Write-Ahead Log</vt:lpstr>
      <vt:lpstr>Terminologies</vt:lpstr>
      <vt:lpstr>Slide 17</vt:lpstr>
      <vt:lpstr>Amazon EC2 and EBS</vt:lpstr>
      <vt:lpstr>Mirrored MySQL [1]</vt:lpstr>
      <vt:lpstr>Network IO in mirrored MySQL</vt:lpstr>
      <vt:lpstr>Transaction Commit</vt:lpstr>
      <vt:lpstr>Offloading Redo Processing to Storage</vt:lpstr>
      <vt:lpstr>Network IO in Amazon Aurora</vt:lpstr>
      <vt:lpstr>Writing Only Log Records</vt:lpstr>
      <vt:lpstr>Aurora Storage Nodes</vt:lpstr>
      <vt:lpstr>IO Traffic in Aurora Storage Nodes</vt:lpstr>
      <vt:lpstr>Quorum-based Voting Protocol</vt:lpstr>
      <vt:lpstr>Replication and Correlated Failures</vt:lpstr>
      <vt:lpstr>Sufficient Durability</vt:lpstr>
      <vt:lpstr>Protection Groups</vt:lpstr>
      <vt:lpstr>Storage Volumes</vt:lpstr>
      <vt:lpstr>Repairing Faults</vt:lpstr>
      <vt:lpstr>Aurora Architecture</vt:lpstr>
      <vt:lpstr>The Host Manager (HM)</vt:lpstr>
      <vt:lpstr>The VPCs</vt:lpstr>
      <vt:lpstr>The Storage Service</vt:lpstr>
      <vt:lpstr>The Storage Control Plane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5142</cp:revision>
  <dcterms:created xsi:type="dcterms:W3CDTF">2007-10-06T08:25:13Z</dcterms:created>
  <dcterms:modified xsi:type="dcterms:W3CDTF">2025-12-04T18:55:18Z</dcterms:modified>
</cp:coreProperties>
</file>