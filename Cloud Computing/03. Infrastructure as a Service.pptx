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3"/>
  </p:notesMasterIdLst>
  <p:sldIdLst>
    <p:sldId id="570" r:id="rId2"/>
    <p:sldId id="571" r:id="rId3"/>
    <p:sldId id="572" r:id="rId4"/>
    <p:sldId id="573" r:id="rId5"/>
    <p:sldId id="586" r:id="rId6"/>
    <p:sldId id="587" r:id="rId7"/>
    <p:sldId id="509" r:id="rId8"/>
    <p:sldId id="574" r:id="rId9"/>
    <p:sldId id="510" r:id="rId10"/>
    <p:sldId id="511" r:id="rId11"/>
    <p:sldId id="596" r:id="rId12"/>
    <p:sldId id="580" r:id="rId13"/>
    <p:sldId id="581" r:id="rId14"/>
    <p:sldId id="585" r:id="rId15"/>
    <p:sldId id="582" r:id="rId16"/>
    <p:sldId id="583" r:id="rId17"/>
    <p:sldId id="584" r:id="rId18"/>
    <p:sldId id="578" r:id="rId19"/>
    <p:sldId id="594" r:id="rId20"/>
    <p:sldId id="595" r:id="rId21"/>
    <p:sldId id="597" r:id="rId22"/>
    <p:sldId id="598" r:id="rId23"/>
    <p:sldId id="599" r:id="rId24"/>
    <p:sldId id="591" r:id="rId25"/>
    <p:sldId id="592" r:id="rId26"/>
    <p:sldId id="593" r:id="rId27"/>
    <p:sldId id="590" r:id="rId28"/>
    <p:sldId id="577" r:id="rId29"/>
    <p:sldId id="589" r:id="rId30"/>
    <p:sldId id="588" r:id="rId31"/>
    <p:sldId id="576" r:id="rId32"/>
    <p:sldId id="484" r:id="rId33"/>
    <p:sldId id="486" r:id="rId34"/>
    <p:sldId id="487" r:id="rId35"/>
    <p:sldId id="490" r:id="rId36"/>
    <p:sldId id="491" r:id="rId37"/>
    <p:sldId id="492" r:id="rId38"/>
    <p:sldId id="493" r:id="rId39"/>
    <p:sldId id="494" r:id="rId40"/>
    <p:sldId id="579" r:id="rId41"/>
    <p:sldId id="440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33" autoAdjust="0"/>
    <p:restoredTop sz="94765" autoAdjust="0"/>
  </p:normalViewPr>
  <p:slideViewPr>
    <p:cSldViewPr>
      <p:cViewPr>
        <p:scale>
          <a:sx n="50" d="100"/>
          <a:sy n="50" d="100"/>
        </p:scale>
        <p:origin x="-166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11/22/2025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11/22/2025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11/22/2025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11/22/2025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11/22/2025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11/22/2025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xenproject.org/users/virtualization/" TargetMode="External"/><Relationship Id="rId3" Type="http://schemas.openxmlformats.org/officeDocument/2006/relationships/hyperlink" Target="https://knowledge.broadcom.com/external/article/387785/download-vcenter-server-patches-and-isos.html" TargetMode="External"/><Relationship Id="rId7" Type="http://schemas.openxmlformats.org/officeDocument/2006/relationships/hyperlink" Target="https://www.eucalyptus.cloud/" TargetMode="External"/><Relationship Id="rId2" Type="http://schemas.openxmlformats.org/officeDocument/2006/relationships/hyperlink" Target="https://support.broadcom.com/group/ecx/free-download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imbusproject.org/" TargetMode="External"/><Relationship Id="rId5" Type="http://schemas.openxmlformats.org/officeDocument/2006/relationships/hyperlink" Target="https://opennebula.io/" TargetMode="External"/><Relationship Id="rId4" Type="http://schemas.openxmlformats.org/officeDocument/2006/relationships/hyperlink" Target="https://www.proxmox.com/en/proxmox-ve" TargetMode="External"/><Relationship Id="rId9" Type="http://schemas.openxmlformats.org/officeDocument/2006/relationships/hyperlink" Target="https://www.linux-kvm.org/page/Main_Page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Infrastructure as a Service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1800" dirty="0" err="1" smtClean="0"/>
              <a:t>Rajkumar</a:t>
            </a:r>
            <a:r>
              <a:rPr lang="en-US" sz="1800" dirty="0" smtClean="0"/>
              <a:t> </a:t>
            </a:r>
            <a:r>
              <a:rPr lang="en-US" sz="1800" dirty="0" err="1" smtClean="0"/>
              <a:t>Buyya</a:t>
            </a:r>
            <a:r>
              <a:rPr lang="en-US" sz="1800" dirty="0" smtClean="0"/>
              <a:t> (2011). Cloud Computing - Principles and Paradigms. Wiley.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 err="1" smtClean="0"/>
              <a:t>Gautam</a:t>
            </a:r>
            <a:r>
              <a:rPr lang="en-US" sz="1800" dirty="0" smtClean="0"/>
              <a:t> </a:t>
            </a:r>
            <a:r>
              <a:rPr lang="en-US" sz="1800" dirty="0" err="1" smtClean="0"/>
              <a:t>Shroff</a:t>
            </a:r>
            <a:r>
              <a:rPr lang="en-US" sz="1800" dirty="0" smtClean="0"/>
              <a:t> (2010). Enterprise Cloud Computing. Cambridge University Press.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Paul </a:t>
            </a:r>
            <a:r>
              <a:rPr lang="en-US" sz="1800" dirty="0" err="1" smtClean="0"/>
              <a:t>Barham</a:t>
            </a:r>
            <a:r>
              <a:rPr lang="en-US" sz="1800" dirty="0" smtClean="0"/>
              <a:t> et al. (2003). </a:t>
            </a:r>
            <a:r>
              <a:rPr lang="en-US" sz="1800" dirty="0" err="1" smtClean="0"/>
              <a:t>Xen</a:t>
            </a:r>
            <a:r>
              <a:rPr lang="en-US" sz="1800" dirty="0" smtClean="0"/>
              <a:t> and the Art of Virtualization.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Jeremy </a:t>
            </a:r>
            <a:r>
              <a:rPr lang="en-US" sz="1800" dirty="0" err="1" smtClean="0"/>
              <a:t>Sugerman</a:t>
            </a:r>
            <a:r>
              <a:rPr lang="en-US" sz="1800" dirty="0" smtClean="0"/>
              <a:t> et al. (2002). </a:t>
            </a:r>
            <a:r>
              <a:rPr lang="en-US" sz="1800" dirty="0" err="1" smtClean="0"/>
              <a:t>Virtualizing</a:t>
            </a:r>
            <a:r>
              <a:rPr lang="en-US" sz="1800" dirty="0" smtClean="0"/>
              <a:t> IO Devices on VMware Workstation's Hosted Virtual Machine Monitor.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John Fisher-Ogden (2006). Hardware Support for Efficient Virtualization.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Keiko </a:t>
            </a:r>
            <a:r>
              <a:rPr lang="en-US" sz="1800" dirty="0" err="1" smtClean="0"/>
              <a:t>Hashizume</a:t>
            </a:r>
            <a:r>
              <a:rPr lang="en-US" sz="1800" dirty="0" smtClean="0"/>
              <a:t> et al. (2012). Cloud Service Model Patterns.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Antonio </a:t>
            </a:r>
            <a:r>
              <a:rPr lang="en-US" sz="1800" dirty="0" err="1" smtClean="0"/>
              <a:t>Celesti</a:t>
            </a:r>
            <a:r>
              <a:rPr lang="en-US" sz="1800" dirty="0" smtClean="0"/>
              <a:t> et al. (2010). How to Enhance Cloud Architectures to Enable Cross-Federation.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Public </a:t>
            </a:r>
            <a:r>
              <a:rPr lang="en-US" dirty="0" smtClean="0"/>
              <a:t>Clouds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600" dirty="0" smtClean="0"/>
              <a:t>Lab 01 details.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600" dirty="0" smtClean="0"/>
              <a:t>OS Organization and System Calls (see OS &gt;&gt;  "</a:t>
            </a:r>
            <a:r>
              <a:rPr lang="en-US" sz="2600" b="1" dirty="0" smtClean="0"/>
              <a:t>03. OS Organization and System Calls.pptx</a:t>
            </a:r>
            <a:r>
              <a:rPr lang="en-US" sz="2600" dirty="0" smtClean="0"/>
              <a:t>")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600" dirty="0" smtClean="0"/>
              <a:t>Virtual Machines (see OS &gt;&gt; "</a:t>
            </a:r>
            <a:r>
              <a:rPr lang="en-US" sz="2600" b="1" dirty="0" smtClean="0"/>
              <a:t>11. Virtual Machines.pptx</a:t>
            </a:r>
            <a:r>
              <a:rPr lang="en-US" sz="2600" dirty="0" smtClean="0"/>
              <a:t>")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600" dirty="0" smtClean="0"/>
              <a:t>AWS Nitro System (see "</a:t>
            </a:r>
            <a:r>
              <a:rPr lang="en-US" sz="2600" b="1" dirty="0" smtClean="0"/>
              <a:t>03.1.8. AWS Nitro System.pptx</a:t>
            </a:r>
            <a:r>
              <a:rPr lang="en-US" sz="2600" dirty="0" smtClean="0"/>
              <a:t>")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600" dirty="0" smtClean="0"/>
              <a:t>Software-Defined Networking (see "</a:t>
            </a:r>
            <a:r>
              <a:rPr lang="en-US" sz="2600" b="1" dirty="0" smtClean="0"/>
              <a:t>03.6. Software-Defined Networking.pptx</a:t>
            </a:r>
            <a:r>
              <a:rPr lang="en-US" sz="2600" dirty="0" smtClean="0"/>
              <a:t>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Virtualization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Virtualization</a:t>
            </a:r>
            <a:r>
              <a:rPr lang="en-US" sz="2400" dirty="0" smtClean="0"/>
              <a:t> can be defined as </a:t>
            </a:r>
            <a:r>
              <a:rPr lang="en-US" sz="2400" u="sng" dirty="0" smtClean="0"/>
              <a:t>the abstraction of</a:t>
            </a:r>
            <a:r>
              <a:rPr lang="en-US" sz="2400" dirty="0" smtClean="0"/>
              <a:t> the four </a:t>
            </a:r>
            <a:r>
              <a:rPr lang="en-US" sz="2400" u="sng" dirty="0" smtClean="0"/>
              <a:t>computing resources</a:t>
            </a:r>
            <a:r>
              <a:rPr lang="en-US" sz="2400" dirty="0" smtClean="0"/>
              <a:t> (storage, processing power, memory, and network or I/O).</a:t>
            </a:r>
          </a:p>
          <a:p>
            <a:r>
              <a:rPr lang="en-US" sz="2400" dirty="0" smtClean="0"/>
              <a:t>It is conceptually similar to emulation, where a system pretends to be another system, whereas virtualization is a system pretending to be two or more of the same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</a:t>
            </a:r>
            <a:r>
              <a:rPr lang="en-US" smtClean="0"/>
              <a:t>Machine Monitors </a:t>
            </a:r>
            <a:r>
              <a:rPr lang="en-US" dirty="0" smtClean="0"/>
              <a:t>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Many system virtual machine (VM) instances </a:t>
            </a:r>
            <a:r>
              <a:rPr lang="en-US" sz="2400" i="1" dirty="0" smtClean="0">
                <a:solidFill>
                  <a:srgbClr val="C00000"/>
                </a:solidFill>
              </a:rPr>
              <a:t>share</a:t>
            </a:r>
            <a:r>
              <a:rPr lang="en-US" sz="2400" dirty="0" smtClean="0"/>
              <a:t> the same physical hardware through a </a:t>
            </a:r>
            <a:r>
              <a:rPr lang="en-US" sz="2400" i="1" dirty="0" smtClean="0">
                <a:solidFill>
                  <a:srgbClr val="C00000"/>
                </a:solidFill>
              </a:rPr>
              <a:t>virtual machine monitor</a:t>
            </a:r>
            <a:r>
              <a:rPr lang="en-US" sz="2400" dirty="0" smtClean="0"/>
              <a:t> (VMM), also commonly referred to as a hypervisor.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host VMM</a:t>
            </a:r>
            <a:r>
              <a:rPr lang="en-US" sz="2400" dirty="0" smtClean="0"/>
              <a:t> is implemented as a process running on a host operating system that has been installed on the machine in the normal manner.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native VMM</a:t>
            </a:r>
            <a:r>
              <a:rPr lang="en-US" sz="2400" dirty="0" smtClean="0"/>
              <a:t>, on the other hand, does not require a host operating system, and runs directly on the physical machine.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Machines</a:t>
            </a:r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5788" y="1447800"/>
            <a:ext cx="7972425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609600" y="5369004"/>
            <a:ext cx="77724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latin typeface="+mj-lt"/>
              </a:rPr>
              <a:t>Virtual machine which itself runs as an operating system process but provides a system-independent abstraction of the machine to an application is called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process virtual machine</a:t>
            </a:r>
            <a:r>
              <a:rPr lang="en-US" sz="2200" dirty="0" smtClean="0">
                <a:latin typeface="+mj-lt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Virtualization Standardization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Distributed Management Task Force</a:t>
            </a:r>
            <a:r>
              <a:rPr lang="en-US" sz="2400" dirty="0" smtClean="0"/>
              <a:t> (DMTF) have produced standards for almost all the aspects of virtualization technology.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Virtualization Management Initiative</a:t>
            </a:r>
            <a:r>
              <a:rPr lang="en-US" sz="2400" dirty="0" smtClean="0"/>
              <a:t> (VMAN) delivers broadly supported interoperability and portability standards for managing the virtual computing lifecycle.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VMAN’s Open Virtualization Format</a:t>
            </a:r>
            <a:r>
              <a:rPr lang="en-US" sz="2400" dirty="0" smtClean="0"/>
              <a:t> (OVF) is a collaboration between industry key players: Dell, HP, IBM, Microsoft, </a:t>
            </a:r>
            <a:r>
              <a:rPr lang="en-US" sz="2400" dirty="0" err="1" smtClean="0"/>
              <a:t>XenSource</a:t>
            </a:r>
            <a:r>
              <a:rPr lang="en-US" sz="2400" dirty="0" smtClean="0"/>
              <a:t>, and </a:t>
            </a:r>
            <a:r>
              <a:rPr lang="en-US" sz="2400" dirty="0" err="1" smtClean="0"/>
              <a:t>Vmware</a:t>
            </a:r>
            <a:r>
              <a:rPr lang="en-US" sz="2400" dirty="0" smtClean="0"/>
              <a:t>.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OVF specification</a:t>
            </a:r>
            <a:r>
              <a:rPr lang="en-US" sz="2000" dirty="0" smtClean="0"/>
              <a:t> provides a common format to package and securely distribute virtual appliances across multiple virtualization platforms.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Virtualization?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server consolidation</a:t>
            </a:r>
          </a:p>
          <a:p>
            <a:r>
              <a:rPr lang="en-US" dirty="0" smtClean="0"/>
              <a:t>co-located hosting facilities</a:t>
            </a:r>
          </a:p>
          <a:p>
            <a:pPr lvl="1"/>
            <a:r>
              <a:rPr lang="en-US" dirty="0" smtClean="0"/>
              <a:t>organizations place (co-locate) their own servers and networking equipment inside a shared, professionally managed facility.</a:t>
            </a:r>
          </a:p>
          <a:p>
            <a:r>
              <a:rPr lang="en-US" dirty="0" smtClean="0"/>
              <a:t>distributed web services</a:t>
            </a:r>
          </a:p>
          <a:p>
            <a:r>
              <a:rPr lang="en-US" dirty="0" smtClean="0"/>
              <a:t>secure computing platforms</a:t>
            </a:r>
          </a:p>
          <a:p>
            <a:r>
              <a:rPr lang="en-US" dirty="0" smtClean="0"/>
              <a:t>application mobility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 and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Goal: Host multiple applications and servers on a shared machine.</a:t>
            </a:r>
          </a:p>
          <a:p>
            <a:r>
              <a:rPr lang="en-US" dirty="0" smtClean="0"/>
              <a:t>Approach: Retrofit support for performance isolation to the operating system.</a:t>
            </a:r>
          </a:p>
          <a:p>
            <a:r>
              <a:rPr lang="en-US" dirty="0" smtClean="0"/>
              <a:t>Multiplex physical resources at the granularity of an entire operating system.</a:t>
            </a:r>
          </a:p>
          <a:p>
            <a:r>
              <a:rPr lang="en-US" dirty="0" smtClean="0"/>
              <a:t>Difficulty: Ensure that all resource usage is accounted to the correct process.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Note that in this paper we reserve the term </a:t>
            </a:r>
            <a:r>
              <a:rPr lang="en-US" sz="2400" i="1" dirty="0" smtClean="0">
                <a:solidFill>
                  <a:srgbClr val="C00000"/>
                </a:solidFill>
              </a:rPr>
              <a:t>guest operating system</a:t>
            </a:r>
            <a:r>
              <a:rPr lang="en-US" sz="2400" dirty="0" smtClean="0"/>
              <a:t> to refer to one of the </a:t>
            </a:r>
            <a:r>
              <a:rPr lang="en-US" sz="2400" dirty="0" err="1" smtClean="0"/>
              <a:t>OSes</a:t>
            </a:r>
            <a:r>
              <a:rPr lang="en-US" sz="2400" dirty="0" smtClean="0"/>
              <a:t> that </a:t>
            </a:r>
            <a:r>
              <a:rPr lang="en-US" sz="2400" dirty="0" err="1" smtClean="0"/>
              <a:t>Xen</a:t>
            </a:r>
            <a:r>
              <a:rPr lang="en-US" sz="2400" dirty="0" smtClean="0"/>
              <a:t> can host and we use the term </a:t>
            </a:r>
            <a:r>
              <a:rPr lang="en-US" sz="2400" i="1" dirty="0" smtClean="0">
                <a:solidFill>
                  <a:srgbClr val="C00000"/>
                </a:solidFill>
              </a:rPr>
              <a:t>domain</a:t>
            </a:r>
            <a:r>
              <a:rPr lang="en-US" sz="2400" dirty="0" smtClean="0"/>
              <a:t> to refer to a running virtual machine within which a guest OS executes; </a:t>
            </a:r>
          </a:p>
          <a:p>
            <a:r>
              <a:rPr lang="en-US" sz="2400" dirty="0" smtClean="0"/>
              <a:t>the distinction is analogous to that between a program and a process in a conventional system.</a:t>
            </a:r>
          </a:p>
          <a:p>
            <a:r>
              <a:rPr lang="en-US" sz="2400" dirty="0" smtClean="0"/>
              <a:t>We call </a:t>
            </a:r>
            <a:r>
              <a:rPr lang="en-US" sz="2400" dirty="0" err="1" smtClean="0"/>
              <a:t>Xen</a:t>
            </a:r>
            <a:r>
              <a:rPr lang="en-US" sz="2400" dirty="0" smtClean="0"/>
              <a:t> itself the hypervisor since it operates at a higher privilege level than the supervisor code of the guest operating systems that it hosts.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Virtual Machine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Memory management</a:t>
            </a:r>
          </a:p>
          <a:p>
            <a:r>
              <a:rPr lang="en-US" dirty="0" smtClean="0"/>
              <a:t>CPU</a:t>
            </a:r>
          </a:p>
          <a:p>
            <a:r>
              <a:rPr lang="en-US" dirty="0" smtClean="0"/>
              <a:t>Device I/O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Xen</a:t>
            </a:r>
            <a:r>
              <a:rPr lang="en-US" dirty="0" smtClean="0"/>
              <a:t> Architecture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4638" y="1714500"/>
            <a:ext cx="6054725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domain is created at boot time which is permitted to use the control interface.</a:t>
            </a:r>
          </a:p>
          <a:p>
            <a:r>
              <a:rPr lang="en-US" sz="2400" dirty="0" smtClean="0"/>
              <a:t>This initial domain, termed </a:t>
            </a:r>
            <a:r>
              <a:rPr lang="en-US" sz="2400" i="1" dirty="0" smtClean="0">
                <a:solidFill>
                  <a:srgbClr val="C00000"/>
                </a:solidFill>
              </a:rPr>
              <a:t>Domain0</a:t>
            </a:r>
            <a:r>
              <a:rPr lang="en-US" sz="2400" dirty="0" smtClean="0"/>
              <a:t>, is responsible for hosting the application-level management software.</a:t>
            </a:r>
          </a:p>
          <a:p>
            <a:r>
              <a:rPr lang="en-US" sz="2400" dirty="0" smtClean="0"/>
              <a:t>The control interface provides the ability to create and terminate other domains and to control their associated scheduling  </a:t>
            </a:r>
            <a:r>
              <a:rPr lang="en-US" sz="2400" dirty="0" err="1" smtClean="0"/>
              <a:t>arameters</a:t>
            </a:r>
            <a:r>
              <a:rPr lang="en-US" sz="2400" dirty="0" smtClean="0"/>
              <a:t>, physical memory allocations and the access they are given to the machine's physical disks and network devices.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VMware Workstation [4]</a:t>
            </a:r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90725" y="2000250"/>
            <a:ext cx="5162550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VMware Workstation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VMware Workstation installs like a normal application on an operating system, known as the host operating system.</a:t>
            </a:r>
          </a:p>
          <a:p>
            <a:r>
              <a:rPr lang="en-US" sz="2200" dirty="0" smtClean="0"/>
              <a:t>When run, the application portion (</a:t>
            </a:r>
            <a:r>
              <a:rPr lang="en-US" sz="2200" b="1" dirty="0" err="1" smtClean="0"/>
              <a:t>VMApp</a:t>
            </a:r>
            <a:r>
              <a:rPr lang="en-US" sz="2200" dirty="0" smtClean="0"/>
              <a:t>) uses a driver loaded into the host operating system (</a:t>
            </a:r>
            <a:r>
              <a:rPr lang="en-US" sz="2200" b="1" dirty="0" err="1" smtClean="0"/>
              <a:t>VMDriver</a:t>
            </a:r>
            <a:r>
              <a:rPr lang="en-US" sz="2200" dirty="0" smtClean="0"/>
              <a:t>) to establish the privileged virtual machine monitor component (</a:t>
            </a:r>
            <a:r>
              <a:rPr lang="en-US" sz="2200" b="1" dirty="0" smtClean="0"/>
              <a:t>VMM</a:t>
            </a:r>
            <a:r>
              <a:rPr lang="en-US" sz="2200" dirty="0" smtClean="0"/>
              <a:t>) that runs directly on the hardware.</a:t>
            </a:r>
          </a:p>
          <a:p>
            <a:r>
              <a:rPr lang="en-US" sz="2200" dirty="0" smtClean="0"/>
              <a:t>From then on, a given physical processor is executing either the host world or the VMM world, with the </a:t>
            </a:r>
            <a:r>
              <a:rPr lang="en-US" sz="2200" dirty="0" err="1" smtClean="0"/>
              <a:t>VMDriver</a:t>
            </a:r>
            <a:r>
              <a:rPr lang="en-US" sz="2200" dirty="0" smtClean="0"/>
              <a:t> facilitating the transfer of control between the two worlds.</a:t>
            </a:r>
          </a:p>
          <a:p>
            <a:r>
              <a:rPr lang="en-US" sz="2200" dirty="0" smtClean="0"/>
              <a:t>A world switch between the VMM and the host worlds involves saving and restoring all user and system visible state on the CPU, and is thus more heavyweight than a normal process switch.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Virtualizing</a:t>
            </a:r>
            <a:r>
              <a:rPr lang="en-US" dirty="0" smtClean="0"/>
              <a:t> a Network Card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7438" y="2079625"/>
            <a:ext cx="6969125" cy="363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Packet Send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82950" y="1714500"/>
            <a:ext cx="2578100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Hosted VMMs [5]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VMM executes in an existing OS, utilizing the device drivers and system support provided by the OS.</a:t>
            </a:r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3363" y="3111500"/>
            <a:ext cx="3597275" cy="275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Stand-Alone VMMs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hypervisor runs directly on the hardware and incorporates its own drivers and system services.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3725" y="2867025"/>
            <a:ext cx="2876550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Hybrid VMMs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Combines the control of a standalone VMM with the simplicity of hosted VMM by running a </a:t>
            </a:r>
            <a:r>
              <a:rPr lang="en-US" sz="2400" dirty="0" err="1" smtClean="0"/>
              <a:t>deprivileged</a:t>
            </a:r>
            <a:r>
              <a:rPr lang="en-US" sz="2400" dirty="0" smtClean="0"/>
              <a:t> service OS as an additional guest and routing I/O requests through it.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2875" y="3251200"/>
            <a:ext cx="3778250" cy="269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Private Clouds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Lab 02 details</a:t>
            </a:r>
          </a:p>
          <a:p>
            <a:r>
              <a:rPr lang="en-US" sz="2400" dirty="0" smtClean="0"/>
              <a:t>Physical LAN: Machines, MAC Addresses, Switches, IP Addresses, Routers. (See Computer Networks &gt;&gt; "</a:t>
            </a:r>
            <a:r>
              <a:rPr lang="en-US" sz="2400" b="1" dirty="0" smtClean="0"/>
              <a:t>04. The Data Link Layer.pptx</a:t>
            </a:r>
            <a:r>
              <a:rPr lang="en-US" sz="2400" dirty="0" smtClean="0"/>
              <a:t>")</a:t>
            </a:r>
          </a:p>
          <a:p>
            <a:r>
              <a:rPr lang="en-US" sz="2400" dirty="0" smtClean="0"/>
              <a:t>Physical WAN, ISP, Internet, Network Software (Applications, Sockets, TCP, UDP, ARP, IP, Drivers, NICs). (See Computer Networks &gt;&gt; "</a:t>
            </a:r>
            <a:r>
              <a:rPr lang="en-US" sz="2400" b="1" dirty="0" smtClean="0"/>
              <a:t>08. Networking Software.pptx</a:t>
            </a:r>
            <a:r>
              <a:rPr lang="en-US" sz="2400" dirty="0" smtClean="0"/>
              <a:t>")</a:t>
            </a:r>
          </a:p>
          <a:p>
            <a:r>
              <a:rPr lang="en-US" sz="2400" dirty="0" smtClean="0"/>
              <a:t>VPN (See Computer Networks &gt;&gt; "</a:t>
            </a:r>
            <a:r>
              <a:rPr lang="en-US" sz="2400" b="1" dirty="0" smtClean="0"/>
              <a:t>05. The Network Layer.pptx</a:t>
            </a:r>
            <a:r>
              <a:rPr lang="en-US" sz="2400" dirty="0" smtClean="0"/>
              <a:t>")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Private Clouds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VMs, VM virtual NICs, MAC Addresses, IP Addresses (The hypervisor provides all of them.)</a:t>
            </a:r>
          </a:p>
          <a:p>
            <a:r>
              <a:rPr lang="en-US" sz="2400" dirty="0" err="1" smtClean="0"/>
              <a:t>vSwitches</a:t>
            </a:r>
            <a:r>
              <a:rPr lang="en-US" sz="2400" dirty="0" smtClean="0"/>
              <a:t>, </a:t>
            </a:r>
            <a:r>
              <a:rPr lang="en-US" sz="2400" dirty="0" err="1" smtClean="0"/>
              <a:t>vLANs</a:t>
            </a:r>
            <a:r>
              <a:rPr lang="en-US" sz="2400" dirty="0" smtClean="0"/>
              <a:t> (The hypervisor provides all of them.)</a:t>
            </a:r>
          </a:p>
          <a:p>
            <a:r>
              <a:rPr lang="en-US" sz="2400" dirty="0" smtClean="0"/>
              <a:t>Hypervisor physical network cards.</a:t>
            </a:r>
          </a:p>
          <a:p>
            <a:r>
              <a:rPr lang="en-US" sz="2400" dirty="0" smtClean="0"/>
              <a:t>Datacenter networks: servers, racks, switches, routers.</a:t>
            </a:r>
          </a:p>
          <a:p>
            <a:r>
              <a:rPr lang="en-US" sz="2400" dirty="0" smtClean="0"/>
              <a:t>VPS.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Private Clouds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Virtual distributed switches: </a:t>
            </a:r>
            <a:r>
              <a:rPr lang="en-US" sz="2400" dirty="0" err="1" smtClean="0"/>
              <a:t>vCenter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Virtual routers: VMware NSX.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Virtualization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/>
              <a:t>VmWare</a:t>
            </a:r>
            <a:r>
              <a:rPr lang="en-US" sz="2200" dirty="0" smtClean="0"/>
              <a:t> </a:t>
            </a:r>
            <a:r>
              <a:rPr lang="en-US" sz="2200" dirty="0" smtClean="0">
                <a:hlinkClick r:id="rId2"/>
              </a:rPr>
              <a:t>https://support.broadcom.com/group/ecx/free-downloads</a:t>
            </a:r>
            <a:r>
              <a:rPr lang="en-US" sz="2200" dirty="0" smtClean="0"/>
              <a:t> (search for "workstation" or "fusion" and "</a:t>
            </a:r>
            <a:r>
              <a:rPr lang="en-US" sz="2200" dirty="0" err="1" smtClean="0"/>
              <a:t>vSphere</a:t>
            </a:r>
            <a:r>
              <a:rPr lang="en-US" sz="2200" dirty="0" smtClean="0"/>
              <a:t>", see </a:t>
            </a:r>
            <a:r>
              <a:rPr lang="en-US" sz="2200" dirty="0" smtClean="0">
                <a:hlinkClick r:id="rId3"/>
              </a:rPr>
              <a:t>https://knowledge.broadcom.com/external/article/387785/download-vcenter-server-patches-and-isos.html</a:t>
            </a:r>
            <a:r>
              <a:rPr lang="en-US" sz="2200" dirty="0" smtClean="0"/>
              <a:t>)</a:t>
            </a:r>
          </a:p>
          <a:p>
            <a:r>
              <a:rPr lang="en-US" sz="2200" dirty="0" err="1" smtClean="0"/>
              <a:t>Proxmox</a:t>
            </a:r>
            <a:r>
              <a:rPr lang="en-US" sz="2200" dirty="0" smtClean="0"/>
              <a:t> Virtual Environment </a:t>
            </a:r>
            <a:r>
              <a:rPr lang="en-US" sz="2200" dirty="0" smtClean="0">
                <a:hlinkClick r:id="rId4"/>
              </a:rPr>
              <a:t>https://www.proxmox.com/en/proxmox-ve</a:t>
            </a:r>
            <a:endParaRPr lang="en-US" sz="2200" dirty="0" smtClean="0"/>
          </a:p>
          <a:p>
            <a:r>
              <a:rPr lang="en-US" sz="2200" dirty="0" err="1" smtClean="0"/>
              <a:t>OpenNebula</a:t>
            </a:r>
            <a:r>
              <a:rPr lang="en-US" sz="2200" dirty="0" smtClean="0"/>
              <a:t> </a:t>
            </a:r>
            <a:r>
              <a:rPr lang="en-US" sz="2200" dirty="0" smtClean="0">
                <a:hlinkClick r:id="rId5"/>
              </a:rPr>
              <a:t>https://opennebula.io/</a:t>
            </a:r>
            <a:endParaRPr lang="en-US" sz="2200" dirty="0" smtClean="0"/>
          </a:p>
          <a:p>
            <a:r>
              <a:rPr lang="en-US" sz="2200" dirty="0" smtClean="0"/>
              <a:t>Nimbus </a:t>
            </a:r>
            <a:r>
              <a:rPr lang="en-US" sz="2200" dirty="0" smtClean="0">
                <a:hlinkClick r:id="rId6"/>
              </a:rPr>
              <a:t>https://www.nimbusproject.org/</a:t>
            </a:r>
            <a:endParaRPr lang="en-US" sz="2200" dirty="0" smtClean="0"/>
          </a:p>
          <a:p>
            <a:r>
              <a:rPr lang="en-US" sz="2200" dirty="0" smtClean="0"/>
              <a:t>Eucalyptus </a:t>
            </a:r>
            <a:r>
              <a:rPr lang="en-US" sz="2200" dirty="0" smtClean="0">
                <a:hlinkClick r:id="rId7"/>
              </a:rPr>
              <a:t>https://www.eucalyptus.cloud/</a:t>
            </a:r>
            <a:endParaRPr lang="en-US" sz="2200" dirty="0" smtClean="0"/>
          </a:p>
          <a:p>
            <a:r>
              <a:rPr lang="en-US" sz="2200" dirty="0" err="1" smtClean="0"/>
              <a:t>Xen</a:t>
            </a:r>
            <a:r>
              <a:rPr lang="en-US" sz="2200" dirty="0" smtClean="0"/>
              <a:t> </a:t>
            </a:r>
            <a:r>
              <a:rPr lang="en-US" sz="2200" dirty="0" smtClean="0">
                <a:hlinkClick r:id="rId8"/>
              </a:rPr>
              <a:t>https://xenproject.org/users/virtualization/</a:t>
            </a:r>
            <a:endParaRPr lang="en-US" sz="2200" dirty="0" smtClean="0"/>
          </a:p>
          <a:p>
            <a:r>
              <a:rPr lang="en-US" sz="2200" dirty="0" smtClean="0"/>
              <a:t>KVM </a:t>
            </a:r>
            <a:r>
              <a:rPr lang="en-US" sz="2200" dirty="0" smtClean="0">
                <a:hlinkClick r:id="rId9"/>
              </a:rPr>
              <a:t>https://www.linux-kvm.org/page/Main_Page</a:t>
            </a:r>
          </a:p>
          <a:p>
            <a:endParaRPr lang="en-US" sz="2200" dirty="0" smtClean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Cloud Infrastructure Pattern [6]</a:t>
            </a:r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43025" y="1133475"/>
            <a:ext cx="6457950" cy="564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Cloud Infrastructure –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i="1" dirty="0" smtClean="0">
                <a:solidFill>
                  <a:srgbClr val="C00000"/>
                </a:solidFill>
              </a:rPr>
              <a:t>A Party</a:t>
            </a:r>
            <a:r>
              <a:rPr lang="en-US" sz="1600" dirty="0" smtClean="0"/>
              <a:t> can be an institution or a user (customers and administrators). A Party can have one or more </a:t>
            </a:r>
            <a:r>
              <a:rPr lang="en-US" sz="1600" i="1" dirty="0" smtClean="0">
                <a:solidFill>
                  <a:srgbClr val="C00000"/>
                </a:solidFill>
              </a:rPr>
              <a:t>Accounts</a:t>
            </a:r>
            <a:r>
              <a:rPr lang="en-US" sz="1600" dirty="0" smtClean="0"/>
              <a:t>.</a:t>
            </a:r>
          </a:p>
          <a:p>
            <a:r>
              <a:rPr lang="en-US" sz="1600" i="1" dirty="0" smtClean="0">
                <a:solidFill>
                  <a:srgbClr val="C00000"/>
                </a:solidFill>
              </a:rPr>
              <a:t>The Cloud Controller</a:t>
            </a:r>
            <a:r>
              <a:rPr lang="en-US" sz="1600" dirty="0" smtClean="0"/>
              <a:t> is the main component which processes requests from a Party.</a:t>
            </a:r>
          </a:p>
          <a:p>
            <a:r>
              <a:rPr lang="en-US" sz="1600" dirty="0" smtClean="0"/>
              <a:t>When a Cloud Controller receives a request from the party to create a VM, it requests its corresponding </a:t>
            </a:r>
            <a:r>
              <a:rPr lang="en-US" sz="1600" i="1" dirty="0" smtClean="0">
                <a:solidFill>
                  <a:srgbClr val="C00000"/>
                </a:solidFill>
              </a:rPr>
              <a:t>Cluster Controllers</a:t>
            </a:r>
            <a:r>
              <a:rPr lang="en-US" sz="1600" dirty="0" smtClean="0"/>
              <a:t> to provide a list their free resources.</a:t>
            </a:r>
          </a:p>
          <a:p>
            <a:r>
              <a:rPr lang="en-US" sz="1600" dirty="0" smtClean="0"/>
              <a:t>A Cluster Controller is composed of a collection of </a:t>
            </a:r>
            <a:r>
              <a:rPr lang="en-US" sz="1600" i="1" dirty="0" smtClean="0">
                <a:solidFill>
                  <a:srgbClr val="C00000"/>
                </a:solidFill>
              </a:rPr>
              <a:t>Node Controllers</a:t>
            </a:r>
            <a:r>
              <a:rPr lang="en-US" sz="1600" dirty="0" smtClean="0"/>
              <a:t>, which consist of a pool of </a:t>
            </a:r>
            <a:r>
              <a:rPr lang="en-US" sz="1600" i="1" dirty="0" smtClean="0">
                <a:solidFill>
                  <a:srgbClr val="C00000"/>
                </a:solidFill>
              </a:rPr>
              <a:t>Servers</a:t>
            </a:r>
            <a:r>
              <a:rPr lang="en-US" sz="1600" dirty="0" smtClean="0"/>
              <a:t> that host </a:t>
            </a:r>
            <a:r>
              <a:rPr lang="en-US" sz="1600" i="1" dirty="0" smtClean="0">
                <a:solidFill>
                  <a:srgbClr val="C00000"/>
                </a:solidFill>
              </a:rPr>
              <a:t>Virtual Machine</a:t>
            </a:r>
            <a:r>
              <a:rPr lang="en-US" sz="1600" dirty="0" smtClean="0"/>
              <a:t> (VM) instances.</a:t>
            </a:r>
          </a:p>
          <a:p>
            <a:r>
              <a:rPr lang="en-US" sz="1600" dirty="0" smtClean="0"/>
              <a:t>A Node Controller controls the execution, monitoring, and termination of the VMs through a </a:t>
            </a:r>
            <a:r>
              <a:rPr lang="en-US" sz="1600" i="1" dirty="0" smtClean="0">
                <a:solidFill>
                  <a:srgbClr val="C00000"/>
                </a:solidFill>
              </a:rPr>
              <a:t>Virtual Machine Monitor</a:t>
            </a:r>
            <a:r>
              <a:rPr lang="en-US" sz="1600" dirty="0" smtClean="0"/>
              <a:t> (VMM) which is the one responsible to run VM instances.</a:t>
            </a:r>
          </a:p>
          <a:p>
            <a:r>
              <a:rPr lang="en-US" sz="1600" dirty="0" smtClean="0"/>
              <a:t>The Cloud Controller retrieves and stores user data and </a:t>
            </a:r>
            <a:r>
              <a:rPr lang="en-US" sz="1600" i="1" dirty="0" smtClean="0">
                <a:solidFill>
                  <a:srgbClr val="C00000"/>
                </a:solidFill>
              </a:rPr>
              <a:t>Virtual Machine Images</a:t>
            </a:r>
            <a:r>
              <a:rPr lang="en-US" sz="1600" dirty="0" smtClean="0"/>
              <a:t> (VMI).</a:t>
            </a:r>
          </a:p>
          <a:p>
            <a:r>
              <a:rPr lang="en-US" sz="1600" dirty="0" smtClean="0"/>
              <a:t>The </a:t>
            </a:r>
            <a:r>
              <a:rPr lang="en-US" sz="1600" i="1" dirty="0" smtClean="0">
                <a:solidFill>
                  <a:srgbClr val="C00000"/>
                </a:solidFill>
              </a:rPr>
              <a:t>Virtual Machine Image Repository</a:t>
            </a:r>
            <a:r>
              <a:rPr lang="en-US" sz="1600" dirty="0" smtClean="0"/>
              <a:t> contains a collection of Virtual Machine Images that are used to instantiate a VM.</a:t>
            </a:r>
          </a:p>
          <a:p>
            <a:r>
              <a:rPr lang="en-US" sz="1600" dirty="0" smtClean="0"/>
              <a:t>The </a:t>
            </a:r>
            <a:r>
              <a:rPr lang="en-US" sz="1600" i="1" dirty="0" smtClean="0">
                <a:solidFill>
                  <a:srgbClr val="C00000"/>
                </a:solidFill>
              </a:rPr>
              <a:t>Dynamic Host Configuration Protocol (DHCP) server</a:t>
            </a:r>
            <a:r>
              <a:rPr lang="en-US" sz="1600" dirty="0" smtClean="0"/>
              <a:t> assigns a MAC/IP (Media Access Control/Internet Protocol) pair address for each VM through the Cloud Controller, and requests the </a:t>
            </a:r>
            <a:r>
              <a:rPr lang="en-US" sz="1600" i="1" dirty="0" smtClean="0">
                <a:solidFill>
                  <a:srgbClr val="C00000"/>
                </a:solidFill>
              </a:rPr>
              <a:t>Domain Name System (DNS) server</a:t>
            </a:r>
            <a:r>
              <a:rPr lang="en-US" sz="1600" dirty="0" smtClean="0"/>
              <a:t> to translate domain names into IP addresses in order to locate cloud resources.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Cross-Cloud Federation [7]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Motivation</a:t>
            </a:r>
            <a:r>
              <a:rPr lang="en-US" sz="2400" dirty="0" smtClean="0"/>
              <a:t>: How to enable cross-cloud federation?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Contributions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smtClean="0"/>
              <a:t>The Cross-Cloud Federation Manager, a new component place-able inside the cloud architectures, allowing a cloud to establish the federation with other clouds according to a three-phase model: discovery, match-making and authentication.</a:t>
            </a:r>
          </a:p>
          <a:p>
            <a:pPr lvl="1"/>
            <a:r>
              <a:rPr lang="en-US" sz="2000" dirty="0" smtClean="0"/>
              <a:t>The possible implementation practice of three agents has been presented, pointing out the technologies on which such implementation could rely.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Limitations</a:t>
            </a:r>
            <a:r>
              <a:rPr lang="en-US" sz="2400" dirty="0" smtClean="0"/>
              <a:t>: No evaluation (a simulated environment).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Cross-Cloud Scenario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7263" y="1590675"/>
            <a:ext cx="7229475" cy="481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Cross-Cloud Federation Manager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38601"/>
            <a:ext cx="8229600" cy="2590800"/>
          </a:xfrm>
        </p:spPr>
        <p:txBody>
          <a:bodyPr/>
          <a:lstStyle/>
          <a:p>
            <a:r>
              <a:rPr lang="en-US" sz="2000" i="1" dirty="0" smtClean="0">
                <a:solidFill>
                  <a:srgbClr val="C00000"/>
                </a:solidFill>
              </a:rPr>
              <a:t>The Discovery Agent</a:t>
            </a:r>
            <a:r>
              <a:rPr lang="en-US" sz="2000" dirty="0" smtClean="0"/>
              <a:t>: It manages the discovery process among all the available clouds within the dynamic environment.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The Match-Making Agent</a:t>
            </a:r>
            <a:r>
              <a:rPr lang="en-US" sz="2000" dirty="0" smtClean="0"/>
              <a:t>: It accomplishes the task of choosing the more convenient foreign cloud(s) wherewith to establish a cross-cloud federation.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The Authentication Agent</a:t>
            </a:r>
            <a:r>
              <a:rPr lang="en-US" sz="2000" dirty="0" smtClean="0"/>
              <a:t>: It, cooperating with third parties trusted entities, is responsible to create a security context between home and foreign clouds.</a:t>
            </a:r>
            <a:endParaRPr lang="en-US" sz="20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1143000"/>
            <a:ext cx="4867275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Cross-cloud Federation Establishment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5838" y="1828800"/>
            <a:ext cx="7172325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04800" y="1566446"/>
            <a:ext cx="8458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err="1" smtClean="0">
                <a:latin typeface="+mj-lt"/>
              </a:rPr>
              <a:t>IdP</a:t>
            </a:r>
            <a:r>
              <a:rPr lang="en-US" sz="1600" dirty="0" smtClean="0">
                <a:latin typeface="+mj-lt"/>
              </a:rPr>
              <a:t>  - the third party asserting to a foreign cloud the trustiness of the home cloud identity.</a:t>
            </a:r>
            <a:endParaRPr lang="en-US" sz="1600" dirty="0">
              <a:latin typeface="+mj-l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 smtClean="0"/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3429000"/>
            <a:ext cx="2600221" cy="17323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17558</TotalTime>
  <Words>1550</Words>
  <Application>Microsoft Office PowerPoint</Application>
  <PresentationFormat>On-screen Show (4:3)</PresentationFormat>
  <Paragraphs>124</Paragraphs>
  <Slides>41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Infrastructure as a Service</vt:lpstr>
      <vt:lpstr>Objectives</vt:lpstr>
      <vt:lpstr>Contents</vt:lpstr>
      <vt:lpstr>References</vt:lpstr>
      <vt:lpstr>Public Clouds</vt:lpstr>
      <vt:lpstr>Slide 6</vt:lpstr>
      <vt:lpstr>Virtualization [1]</vt:lpstr>
      <vt:lpstr>Virtual Machine Monitors [2]</vt:lpstr>
      <vt:lpstr>Virtual Machines</vt:lpstr>
      <vt:lpstr>Virtualization Standardization [1]</vt:lpstr>
      <vt:lpstr>Slide 11</vt:lpstr>
      <vt:lpstr>Why Virtualization? [3]</vt:lpstr>
      <vt:lpstr>Goal and Approach</vt:lpstr>
      <vt:lpstr>Domain</vt:lpstr>
      <vt:lpstr>The Virtual Machine Interface</vt:lpstr>
      <vt:lpstr>Xen Architecture</vt:lpstr>
      <vt:lpstr>Domain0</vt:lpstr>
      <vt:lpstr>Slide 18</vt:lpstr>
      <vt:lpstr>VMware Workstation [4]</vt:lpstr>
      <vt:lpstr>VMware Workstation Details</vt:lpstr>
      <vt:lpstr>Virtualizing a Network Card</vt:lpstr>
      <vt:lpstr>Network Packet Send</vt:lpstr>
      <vt:lpstr>Slide 23</vt:lpstr>
      <vt:lpstr>Hosted VMMs [5]</vt:lpstr>
      <vt:lpstr>Stand-Alone VMMs</vt:lpstr>
      <vt:lpstr>Hybrid VMMs</vt:lpstr>
      <vt:lpstr>Slide 27</vt:lpstr>
      <vt:lpstr>Private Clouds (I)</vt:lpstr>
      <vt:lpstr>Private Clouds (II)</vt:lpstr>
      <vt:lpstr>Private Clouds (III)</vt:lpstr>
      <vt:lpstr>Virtualization Software</vt:lpstr>
      <vt:lpstr>Slide 32</vt:lpstr>
      <vt:lpstr>Cloud Infrastructure Pattern [6]</vt:lpstr>
      <vt:lpstr>Cloud Infrastructure – Structure</vt:lpstr>
      <vt:lpstr>Slide 35</vt:lpstr>
      <vt:lpstr>Cross-Cloud Federation [7]</vt:lpstr>
      <vt:lpstr>Cross-Cloud Scenario</vt:lpstr>
      <vt:lpstr>Cross-Cloud Federation Manager</vt:lpstr>
      <vt:lpstr>Cross-cloud Federation Establishment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4326</cp:revision>
  <dcterms:created xsi:type="dcterms:W3CDTF">2007-10-06T08:25:13Z</dcterms:created>
  <dcterms:modified xsi:type="dcterms:W3CDTF">2025-11-22T14:55:46Z</dcterms:modified>
</cp:coreProperties>
</file>