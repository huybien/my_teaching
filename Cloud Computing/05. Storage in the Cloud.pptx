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2"/>
  </p:notesMasterIdLst>
  <p:sldIdLst>
    <p:sldId id="696" r:id="rId2"/>
    <p:sldId id="697" r:id="rId3"/>
    <p:sldId id="698" r:id="rId4"/>
    <p:sldId id="700" r:id="rId5"/>
    <p:sldId id="759" r:id="rId6"/>
    <p:sldId id="790" r:id="rId7"/>
    <p:sldId id="775" r:id="rId8"/>
    <p:sldId id="770" r:id="rId9"/>
    <p:sldId id="771" r:id="rId10"/>
    <p:sldId id="772" r:id="rId11"/>
    <p:sldId id="776" r:id="rId12"/>
    <p:sldId id="784" r:id="rId13"/>
    <p:sldId id="783" r:id="rId14"/>
    <p:sldId id="777" r:id="rId15"/>
    <p:sldId id="778" r:id="rId16"/>
    <p:sldId id="779" r:id="rId17"/>
    <p:sldId id="785" r:id="rId18"/>
    <p:sldId id="787" r:id="rId19"/>
    <p:sldId id="782" r:id="rId20"/>
    <p:sldId id="788" r:id="rId21"/>
    <p:sldId id="798" r:id="rId22"/>
    <p:sldId id="799" r:id="rId23"/>
    <p:sldId id="801" r:id="rId24"/>
    <p:sldId id="800" r:id="rId25"/>
    <p:sldId id="774" r:id="rId26"/>
    <p:sldId id="760" r:id="rId27"/>
    <p:sldId id="767" r:id="rId28"/>
    <p:sldId id="748" r:id="rId29"/>
    <p:sldId id="715" r:id="rId30"/>
    <p:sldId id="716" r:id="rId31"/>
    <p:sldId id="718" r:id="rId32"/>
    <p:sldId id="717" r:id="rId33"/>
    <p:sldId id="720" r:id="rId34"/>
    <p:sldId id="769" r:id="rId35"/>
    <p:sldId id="768" r:id="rId36"/>
    <p:sldId id="766" r:id="rId37"/>
    <p:sldId id="789" r:id="rId38"/>
    <p:sldId id="793" r:id="rId39"/>
    <p:sldId id="794" r:id="rId40"/>
    <p:sldId id="762" r:id="rId41"/>
    <p:sldId id="792" r:id="rId42"/>
    <p:sldId id="764" r:id="rId43"/>
    <p:sldId id="765" r:id="rId44"/>
    <p:sldId id="795" r:id="rId45"/>
    <p:sldId id="796" r:id="rId46"/>
    <p:sldId id="797" r:id="rId47"/>
    <p:sldId id="791" r:id="rId48"/>
    <p:sldId id="701" r:id="rId49"/>
    <p:sldId id="754" r:id="rId50"/>
    <p:sldId id="516" r:id="rId5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45" autoAdjust="0"/>
    <p:restoredTop sz="94667" autoAdjust="0"/>
  </p:normalViewPr>
  <p:slideViewPr>
    <p:cSldViewPr>
      <p:cViewPr>
        <p:scale>
          <a:sx n="50" d="100"/>
          <a:sy n="50" d="100"/>
        </p:scale>
        <p:origin x="-153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12/9/2025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12/9/2025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12/9/2025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12/9/2025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12/9/2025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12/9/2025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12/9/2025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docs.vmware.com/en/VMware-vSAN/index.htm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docs.aws.amazon.com/AWSEC2/latest/UserGuide/volume_constraints.html" TargetMode="External"/><Relationship Id="rId2" Type="http://schemas.openxmlformats.org/officeDocument/2006/relationships/hyperlink" Target="https://aws.amazon.com/eb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docs.aws.amazon.com/efs/latest/ug/limits.html" TargetMode="External"/><Relationship Id="rId2" Type="http://schemas.openxmlformats.org/officeDocument/2006/relationships/hyperlink" Target="https://aws.amazon.com/ef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aws.amazon.com/s3/"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docs.openstack.org/swift/latest/"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riak.com/products/riak-s2/"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snowflake.com/en/" TargetMode="External"/><Relationship Id="rId2" Type="http://schemas.openxmlformats.org/officeDocument/2006/relationships/hyperlink" Target="https://aws.amazon.com/rd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Storage in the Cloud</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r>
              <a:rPr lang="en-US" sz="2400" dirty="0" smtClean="0"/>
              <a:t>To install and configure a NAS OS.</a:t>
            </a: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Local Storage.</a:t>
            </a:r>
          </a:p>
          <a:p>
            <a:pPr marL="571500" indent="-571500">
              <a:buFont typeface="+mj-lt"/>
              <a:buAutoNum type="romanUcPeriod"/>
            </a:pPr>
            <a:r>
              <a:rPr lang="en-US" sz="2400" dirty="0" smtClean="0"/>
              <a:t>RAID.</a:t>
            </a:r>
          </a:p>
          <a:p>
            <a:pPr marL="571500" indent="-571500">
              <a:buFont typeface="+mj-lt"/>
              <a:buAutoNum type="romanUcPeriod"/>
            </a:pPr>
            <a:r>
              <a:rPr lang="en-US" sz="2400" dirty="0" smtClean="0"/>
              <a:t>Network-Attached Storage (NAS).</a:t>
            </a:r>
          </a:p>
          <a:p>
            <a:pPr marL="571500" indent="-571500">
              <a:buFont typeface="+mj-lt"/>
              <a:buAutoNum type="romanUcPeriod"/>
            </a:pPr>
            <a:r>
              <a:rPr lang="en-US" sz="2400" dirty="0" smtClean="0"/>
              <a:t>Storage Area Network (SAN).</a:t>
            </a:r>
          </a:p>
          <a:p>
            <a:pPr marL="571500" indent="-571500">
              <a:buFont typeface="+mj-lt"/>
              <a:buAutoNum type="romanUcPeriod"/>
            </a:pPr>
            <a:r>
              <a:rPr lang="en-US" sz="2400" dirty="0" smtClean="0"/>
              <a:t>Cloud Storage Services.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524000"/>
            <a:ext cx="5638800" cy="4800600"/>
          </a:xfrm>
        </p:spPr>
        <p:txBody>
          <a:bodyPr/>
          <a:lstStyle/>
          <a:p>
            <a:pPr>
              <a:buFont typeface="+mj-lt"/>
              <a:buAutoNum type="arabicPeriod"/>
            </a:pP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Storage</a:t>
            </a:r>
            <a:endParaRPr lang="en-US" dirty="0"/>
          </a:p>
        </p:txBody>
      </p:sp>
      <p:sp>
        <p:nvSpPr>
          <p:cNvPr id="3" name="Content Placeholder 2"/>
          <p:cNvSpPr>
            <a:spLocks noGrp="1"/>
          </p:cNvSpPr>
          <p:nvPr>
            <p:ph idx="1"/>
          </p:nvPr>
        </p:nvSpPr>
        <p:spPr/>
        <p:txBody>
          <a:bodyPr/>
          <a:lstStyle/>
          <a:p>
            <a:r>
              <a:rPr lang="en-US" dirty="0" smtClean="0"/>
              <a:t>Disks, Direct-Attached Storage.</a:t>
            </a:r>
          </a:p>
          <a:p>
            <a:r>
              <a:rPr lang="en-US" dirty="0" smtClean="0"/>
              <a:t>RAID (Redundant array of inexpensive/independent disks).</a:t>
            </a:r>
          </a:p>
          <a:p>
            <a:r>
              <a:rPr lang="en-US" dirty="0" smtClean="0"/>
              <a:t>File Systems.</a:t>
            </a:r>
          </a:p>
          <a:p>
            <a:pPr lvl="1"/>
            <a:r>
              <a:rPr lang="en-US" dirty="0" err="1" smtClean="0"/>
              <a:t>Btrfs</a:t>
            </a:r>
            <a:r>
              <a:rPr lang="en-US" dirty="0" smtClean="0"/>
              <a:t> (B-tree </a:t>
            </a:r>
            <a:r>
              <a:rPr lang="en-US" dirty="0" err="1" smtClean="0"/>
              <a:t>filesystem</a:t>
            </a:r>
            <a:r>
              <a:rPr lang="en-US" dirty="0" smtClean="0"/>
              <a:t>), XFS (Linux)</a:t>
            </a:r>
          </a:p>
          <a:p>
            <a:pPr lvl="1"/>
            <a:r>
              <a:rPr lang="en-US" dirty="0" smtClean="0"/>
              <a:t>APFS (Apple File System)</a:t>
            </a:r>
          </a:p>
          <a:p>
            <a:pPr lvl="1"/>
            <a:r>
              <a:rPr lang="en-US" dirty="0" err="1" smtClean="0"/>
              <a:t>ReFS</a:t>
            </a:r>
            <a:r>
              <a:rPr lang="en-US" dirty="0" smtClean="0"/>
              <a:t> (Resilient File System) (Windows Servers)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Direct-Attached Storage (DAS)</a:t>
            </a:r>
            <a:endParaRPr lang="en-US" dirty="0"/>
          </a:p>
        </p:txBody>
      </p:sp>
      <p:sp>
        <p:nvSpPr>
          <p:cNvPr id="3" name="Content Placeholder 2"/>
          <p:cNvSpPr>
            <a:spLocks noGrp="1"/>
          </p:cNvSpPr>
          <p:nvPr>
            <p:ph idx="1"/>
          </p:nvPr>
        </p:nvSpPr>
        <p:spPr/>
        <p:txBody>
          <a:bodyPr/>
          <a:lstStyle/>
          <a:p>
            <a:r>
              <a:rPr lang="en-US" sz="2000" dirty="0" smtClean="0"/>
              <a:t>Direct-attached storage (DAS) is storage that's directly attached to a single computer.</a:t>
            </a:r>
          </a:p>
          <a:p>
            <a:r>
              <a:rPr lang="en-US" sz="2000" dirty="0" smtClean="0"/>
              <a:t>It's </a:t>
            </a:r>
            <a:r>
              <a:rPr lang="en-US" sz="2000" i="1" dirty="0" smtClean="0">
                <a:solidFill>
                  <a:srgbClr val="C00000"/>
                </a:solidFill>
              </a:rPr>
              <a:t>not networked</a:t>
            </a:r>
            <a:r>
              <a:rPr lang="en-US" sz="2000" dirty="0" smtClean="0"/>
              <a:t> and so can't easily be accessed by other devices.</a:t>
            </a:r>
          </a:p>
          <a:p>
            <a:r>
              <a:rPr lang="en-US" sz="2000" dirty="0" smtClean="0"/>
              <a:t>The most common example of DAS is a single computer’s hard drive.</a:t>
            </a:r>
          </a:p>
        </p:txBody>
      </p:sp>
      <p:pic>
        <p:nvPicPr>
          <p:cNvPr id="52229" name="Picture 5"/>
          <p:cNvPicPr>
            <a:picLocks noChangeAspect="1" noChangeArrowheads="1"/>
          </p:cNvPicPr>
          <p:nvPr/>
        </p:nvPicPr>
        <p:blipFill>
          <a:blip r:embed="rId2" cstate="print"/>
          <a:srcRect/>
          <a:stretch>
            <a:fillRect/>
          </a:stretch>
        </p:blipFill>
        <p:spPr bwMode="auto">
          <a:xfrm>
            <a:off x="2667000" y="3733800"/>
            <a:ext cx="3619366" cy="2203368"/>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RAID</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Redundant array of inexpensive</a:t>
            </a:r>
            <a:r>
              <a:rPr lang="en-US" sz="2400" dirty="0" smtClean="0"/>
              <a:t> (sometimes “independent”) disks (RAID) is a fundamental and critical method of storing the same data several times.</a:t>
            </a:r>
          </a:p>
          <a:p>
            <a:r>
              <a:rPr lang="en-US" sz="2400" dirty="0" smtClean="0"/>
              <a:t>RAID is used to </a:t>
            </a:r>
            <a:r>
              <a:rPr lang="en-US" sz="2400" i="1" dirty="0" smtClean="0">
                <a:solidFill>
                  <a:srgbClr val="C00000"/>
                </a:solidFill>
              </a:rPr>
              <a:t>increase data availability</a:t>
            </a:r>
            <a:r>
              <a:rPr lang="en-US" sz="2400" dirty="0" smtClean="0"/>
              <a:t> (by protecting against the failure of a drive) and to scale performance beyond that of a single drive.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RAID 0</a:t>
            </a:r>
            <a:endParaRPr lang="en-US" dirty="0"/>
          </a:p>
        </p:txBody>
      </p:sp>
      <p:sp>
        <p:nvSpPr>
          <p:cNvPr id="3" name="Content Placeholder 2"/>
          <p:cNvSpPr>
            <a:spLocks noGrp="1"/>
          </p:cNvSpPr>
          <p:nvPr>
            <p:ph idx="1"/>
          </p:nvPr>
        </p:nvSpPr>
        <p:spPr/>
        <p:txBody>
          <a:bodyPr/>
          <a:lstStyle/>
          <a:p>
            <a:r>
              <a:rPr lang="en-US" sz="2400" dirty="0" smtClean="0"/>
              <a:t>In a </a:t>
            </a:r>
            <a:r>
              <a:rPr lang="en-US" sz="2400" i="1" dirty="0" smtClean="0">
                <a:solidFill>
                  <a:srgbClr val="C00000"/>
                </a:solidFill>
              </a:rPr>
              <a:t>RAID 0</a:t>
            </a:r>
            <a:r>
              <a:rPr lang="en-US" sz="2400" dirty="0" smtClean="0"/>
              <a:t> configuration, the data is striped across all the disks in the RAID set, providing very </a:t>
            </a:r>
            <a:r>
              <a:rPr lang="en-US" sz="2400" i="1" dirty="0" smtClean="0">
                <a:solidFill>
                  <a:srgbClr val="C00000"/>
                </a:solidFill>
              </a:rPr>
              <a:t>good performance</a:t>
            </a:r>
            <a:r>
              <a:rPr lang="en-US" sz="2400" dirty="0" smtClean="0"/>
              <a:t> but very </a:t>
            </a:r>
            <a:r>
              <a:rPr lang="en-US" sz="2400" u="sng" dirty="0" smtClean="0"/>
              <a:t>poor availability</a:t>
            </a:r>
            <a:r>
              <a:rPr lang="en-US" sz="2400" dirty="0" smtClean="0"/>
              <a:t>.</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901950" y="3184525"/>
            <a:ext cx="3340100" cy="268287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RAID 1</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RAID 1</a:t>
            </a:r>
            <a:r>
              <a:rPr lang="en-US" sz="2200" dirty="0" smtClean="0"/>
              <a:t> simply writes every I/O to two (or more) drives and can balance reads across all drives (because there are multiple copies).</a:t>
            </a:r>
          </a:p>
          <a:p>
            <a:r>
              <a:rPr lang="en-US" sz="2200" dirty="0" smtClean="0"/>
              <a:t>To implement RAID 1, you need at least two physical hard drives. You also need a disk controller that supports RAID.</a:t>
            </a:r>
          </a:p>
        </p:txBody>
      </p:sp>
      <p:pic>
        <p:nvPicPr>
          <p:cNvPr id="5122" name="Picture 2" descr="https://upload.wikimedia.org/wikipedia/commons/thumb/b/b7/RAID_1.svg/250px-RAID_1.svg.png"/>
          <p:cNvPicPr>
            <a:picLocks noChangeAspect="1" noChangeArrowheads="1"/>
          </p:cNvPicPr>
          <p:nvPr/>
        </p:nvPicPr>
        <p:blipFill>
          <a:blip r:embed="rId2" cstate="print"/>
          <a:srcRect/>
          <a:stretch>
            <a:fillRect/>
          </a:stretch>
        </p:blipFill>
        <p:spPr bwMode="auto">
          <a:xfrm>
            <a:off x="3581400" y="3651250"/>
            <a:ext cx="1587500" cy="244475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RAID 10 (1+0), RAID 01 (0+1)</a:t>
            </a:r>
            <a:endParaRPr lang="en-US" sz="4000" dirty="0"/>
          </a:p>
        </p:txBody>
      </p:sp>
      <p:sp>
        <p:nvSpPr>
          <p:cNvPr id="3" name="Content Placeholder 2"/>
          <p:cNvSpPr>
            <a:spLocks noGrp="1"/>
          </p:cNvSpPr>
          <p:nvPr>
            <p:ph idx="1"/>
          </p:nvPr>
        </p:nvSpPr>
        <p:spPr/>
        <p:txBody>
          <a:bodyPr/>
          <a:lstStyle/>
          <a:p>
            <a:r>
              <a:rPr lang="en-US" sz="2000" dirty="0" smtClean="0"/>
              <a:t>RAID 10 = RAID 1+0 mirrors a stripe set.</a:t>
            </a:r>
          </a:p>
          <a:p>
            <a:r>
              <a:rPr lang="en-US" sz="2000" dirty="0" smtClean="0"/>
              <a:t>RAID 01 = RAID 0+1 stripes data across pairs of mirrors.</a:t>
            </a:r>
          </a:p>
          <a:p>
            <a:r>
              <a:rPr lang="en-US" sz="2000" dirty="0" smtClean="0"/>
              <a:t>RAID 10 achieves fast read and write speeds. Data is read and written in parallel across multiple disk pairs.</a:t>
            </a:r>
          </a:p>
          <a:p>
            <a:r>
              <a:rPr lang="en-US" sz="2000" dirty="0" smtClean="0"/>
              <a:t>To implement RAID 10, you need at least four physical hard drives. You also need a disk controller that supports RAID.</a:t>
            </a:r>
          </a:p>
          <a:p>
            <a:endParaRPr lang="en-US" sz="2000" dirty="0"/>
          </a:p>
        </p:txBody>
      </p:sp>
      <p:pic>
        <p:nvPicPr>
          <p:cNvPr id="3074" name="Picture 2" descr="https://static.wixstatic.com/media/1e8d46_71065e50e9f140f59a78f0701ea1b79f~mv2.png/v1/fill/w_804,h_577,al_c,lg_1,q_90,enc_auto/1e8d46_71065e50e9f140f59a78f0701ea1b79f~mv2.png"/>
          <p:cNvPicPr>
            <a:picLocks noChangeAspect="1" noChangeArrowheads="1"/>
          </p:cNvPicPr>
          <p:nvPr/>
        </p:nvPicPr>
        <p:blipFill>
          <a:blip r:embed="rId2" cstate="print"/>
          <a:srcRect/>
          <a:stretch>
            <a:fillRect/>
          </a:stretch>
        </p:blipFill>
        <p:spPr bwMode="auto">
          <a:xfrm>
            <a:off x="533400" y="3835450"/>
            <a:ext cx="3574594" cy="2565350"/>
          </a:xfrm>
          <a:prstGeom prst="rect">
            <a:avLst/>
          </a:prstGeom>
          <a:noFill/>
        </p:spPr>
      </p:pic>
      <p:pic>
        <p:nvPicPr>
          <p:cNvPr id="3076" name="Picture 4" descr="RAID 01 (RAID 0+1)."/>
          <p:cNvPicPr>
            <a:picLocks noChangeAspect="1" noChangeArrowheads="1"/>
          </p:cNvPicPr>
          <p:nvPr/>
        </p:nvPicPr>
        <p:blipFill>
          <a:blip r:embed="rId3" cstate="print"/>
          <a:srcRect/>
          <a:stretch>
            <a:fillRect/>
          </a:stretch>
        </p:blipFill>
        <p:spPr bwMode="auto">
          <a:xfrm>
            <a:off x="4267200" y="3835450"/>
            <a:ext cx="4374877" cy="245928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RAID 5 (Parity RAID)</a:t>
            </a:r>
            <a:endParaRPr lang="en-US" dirty="0"/>
          </a:p>
        </p:txBody>
      </p:sp>
      <p:sp>
        <p:nvSpPr>
          <p:cNvPr id="3" name="Content Placeholder 2"/>
          <p:cNvSpPr>
            <a:spLocks noGrp="1"/>
          </p:cNvSpPr>
          <p:nvPr>
            <p:ph idx="1"/>
          </p:nvPr>
        </p:nvSpPr>
        <p:spPr/>
        <p:txBody>
          <a:bodyPr/>
          <a:lstStyle/>
          <a:p>
            <a:r>
              <a:rPr lang="en-US" sz="2200" dirty="0" smtClean="0"/>
              <a:t>RAID 5 uses a mathematical calculation (an XOR parity calculation) to represent the data across several drives.</a:t>
            </a:r>
          </a:p>
          <a:p>
            <a:r>
              <a:rPr lang="en-US" sz="2200" dirty="0" smtClean="0"/>
              <a:t>This tends to be a good compromise between the availability of RAID 1 and the capacity efficiency of RAID 0.</a:t>
            </a:r>
          </a:p>
        </p:txBody>
      </p:sp>
      <p:pic>
        <p:nvPicPr>
          <p:cNvPr id="71683" name="Picture 3"/>
          <p:cNvPicPr>
            <a:picLocks noChangeAspect="1" noChangeArrowheads="1"/>
          </p:cNvPicPr>
          <p:nvPr/>
        </p:nvPicPr>
        <p:blipFill>
          <a:blip r:embed="rId2" cstate="print"/>
          <a:srcRect/>
          <a:stretch>
            <a:fillRect/>
          </a:stretch>
        </p:blipFill>
        <p:spPr bwMode="auto">
          <a:xfrm>
            <a:off x="1905000" y="3511550"/>
            <a:ext cx="5213350" cy="235585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RAID 5</a:t>
            </a:r>
            <a:endParaRPr lang="en-US" dirty="0"/>
          </a:p>
        </p:txBody>
      </p:sp>
      <p:sp>
        <p:nvSpPr>
          <p:cNvPr id="3" name="Content Placeholder 2"/>
          <p:cNvSpPr>
            <a:spLocks noGrp="1"/>
          </p:cNvSpPr>
          <p:nvPr>
            <p:ph idx="1"/>
          </p:nvPr>
        </p:nvSpPr>
        <p:spPr/>
        <p:txBody>
          <a:bodyPr/>
          <a:lstStyle/>
          <a:p>
            <a:r>
              <a:rPr lang="en-US" sz="2400" dirty="0" smtClean="0"/>
              <a:t>RAID 5 calculates the parity across the drives in the set and writes the parity to another drive.</a:t>
            </a:r>
          </a:p>
          <a:p>
            <a:r>
              <a:rPr lang="en-US" sz="2400" dirty="0" smtClean="0"/>
              <a:t>This parity block calculation with RAID 5 is rotated among the disks in the RAID 5 set.</a:t>
            </a:r>
          </a:p>
          <a:p>
            <a:r>
              <a:rPr lang="en-US" sz="2400" dirty="0" smtClean="0"/>
              <a:t>When a drive fails in a RAID 5 set, I/O can be fulfilled using the remaining drives and the parity drive.</a:t>
            </a:r>
          </a:p>
          <a:p>
            <a:r>
              <a:rPr lang="en-US" sz="2400" dirty="0" smtClean="0"/>
              <a:t>A RAID 5 array requires a </a:t>
            </a:r>
            <a:r>
              <a:rPr lang="en-US" sz="2400" i="1" dirty="0" smtClean="0">
                <a:solidFill>
                  <a:srgbClr val="C00000"/>
                </a:solidFill>
              </a:rPr>
              <a:t>minimum of three disks</a:t>
            </a:r>
            <a:r>
              <a:rPr lang="en-US" sz="2400" dirty="0" smtClean="0"/>
              <a:t>.</a:t>
            </a:r>
          </a:p>
          <a:p>
            <a:r>
              <a:rPr lang="en-US" sz="2400" dirty="0" smtClean="0"/>
              <a:t>A RAID 5 4+1 configuration offers a balance between performance and efficiency.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XOR Parity Calculation</a:t>
            </a:r>
            <a:endParaRPr lang="en-US" dirty="0"/>
          </a:p>
        </p:txBody>
      </p:sp>
      <p:sp>
        <p:nvSpPr>
          <p:cNvPr id="3" name="Content Placeholder 2"/>
          <p:cNvSpPr>
            <a:spLocks noGrp="1"/>
          </p:cNvSpPr>
          <p:nvPr>
            <p:ph idx="1"/>
          </p:nvPr>
        </p:nvSpPr>
        <p:spPr/>
        <p:txBody>
          <a:bodyPr/>
          <a:lstStyle/>
          <a:p>
            <a:r>
              <a:rPr lang="en-US" sz="2400" dirty="0" smtClean="0"/>
              <a:t>0 XOR 0 = 0 (Same inputs, output is 0.)</a:t>
            </a:r>
          </a:p>
          <a:p>
            <a:r>
              <a:rPr lang="en-US" sz="2400" dirty="0" smtClean="0"/>
              <a:t>0 XOR 1 = 1 (Different inputs, output is 1.)</a:t>
            </a:r>
          </a:p>
          <a:p>
            <a:r>
              <a:rPr lang="en-US" sz="2400" dirty="0" smtClean="0"/>
              <a:t>1 XOR 0 = 1 (Different inputs, output is 1.)</a:t>
            </a:r>
          </a:p>
          <a:p>
            <a:r>
              <a:rPr lang="en-US" sz="2400" dirty="0" smtClean="0"/>
              <a:t>1 XOR 1 = 0 (Same inputs, output is 0.)</a:t>
            </a:r>
          </a:p>
          <a:p>
            <a:r>
              <a:rPr lang="en-US" sz="2400" dirty="0" smtClean="0"/>
              <a:t>The parity bit is generated by applying the XOR operation successively to all the bits in the data.</a:t>
            </a:r>
          </a:p>
          <a:p>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 Parity</a:t>
            </a:r>
            <a:endParaRPr lang="en-US" dirty="0"/>
          </a:p>
        </p:txBody>
      </p:sp>
      <p:sp>
        <p:nvSpPr>
          <p:cNvPr id="3" name="Content Placeholder 2"/>
          <p:cNvSpPr>
            <a:spLocks noGrp="1"/>
          </p:cNvSpPr>
          <p:nvPr>
            <p:ph idx="1"/>
          </p:nvPr>
        </p:nvSpPr>
        <p:spPr/>
        <p:txBody>
          <a:bodyPr/>
          <a:lstStyle/>
          <a:p>
            <a:r>
              <a:rPr lang="en-US" sz="2200" dirty="0" smtClean="0"/>
              <a:t>In an </a:t>
            </a:r>
            <a:r>
              <a:rPr lang="en-US" sz="2200" i="1" dirty="0" smtClean="0">
                <a:solidFill>
                  <a:srgbClr val="C00000"/>
                </a:solidFill>
              </a:rPr>
              <a:t>even parity system</a:t>
            </a:r>
            <a:r>
              <a:rPr lang="en-US" sz="2200" dirty="0" smtClean="0"/>
              <a:t>, the goal is to make </a:t>
            </a:r>
            <a:r>
              <a:rPr lang="en-US" sz="2200" u="sng" dirty="0" smtClean="0"/>
              <a:t>the total count of 1s</a:t>
            </a:r>
            <a:r>
              <a:rPr lang="en-US" sz="2200" dirty="0" smtClean="0"/>
              <a:t> (including the parity bit) an </a:t>
            </a:r>
            <a:r>
              <a:rPr lang="en-US" sz="2200" u="sng" dirty="0" smtClean="0"/>
              <a:t>even number</a:t>
            </a:r>
            <a:r>
              <a:rPr lang="en-US" sz="2200" dirty="0" smtClean="0"/>
              <a:t>. </a:t>
            </a:r>
          </a:p>
          <a:p>
            <a:r>
              <a:rPr lang="en-US" sz="2200" dirty="0" smtClean="0"/>
              <a:t>If the original data has an even number of 1s, the parity bit is 0.</a:t>
            </a:r>
          </a:p>
          <a:p>
            <a:r>
              <a:rPr lang="en-US" sz="2200" dirty="0" smtClean="0"/>
              <a:t>If the original data has an odd number of 1s, the parity bit is 1 (to make the total count even).</a:t>
            </a:r>
          </a:p>
          <a:p>
            <a:r>
              <a:rPr lang="en-US" sz="2200" dirty="0" smtClean="0"/>
              <a:t>For the data 1011:</a:t>
            </a:r>
          </a:p>
          <a:p>
            <a:pPr>
              <a:buNone/>
            </a:pPr>
            <a:r>
              <a:rPr lang="en-US" sz="2200" dirty="0" smtClean="0"/>
              <a:t>	</a:t>
            </a:r>
            <a:r>
              <a:rPr lang="en-US" sz="2200" dirty="0" smtClean="0">
                <a:latin typeface="Consolas" pitchFamily="49" charset="0"/>
              </a:rPr>
              <a:t>1 XOR 0 = 1</a:t>
            </a:r>
          </a:p>
          <a:p>
            <a:pPr>
              <a:buNone/>
            </a:pPr>
            <a:r>
              <a:rPr lang="en-US" sz="2200" dirty="0" smtClean="0">
                <a:latin typeface="Consolas" pitchFamily="49" charset="0"/>
              </a:rPr>
              <a:t>	1 XOR 1 = 0</a:t>
            </a:r>
          </a:p>
          <a:p>
            <a:pPr>
              <a:buNone/>
            </a:pPr>
            <a:r>
              <a:rPr lang="en-US" sz="2200" dirty="0" smtClean="0">
                <a:latin typeface="Consolas" pitchFamily="49" charset="0"/>
              </a:rPr>
              <a:t>	0 XOR 1 = 1</a:t>
            </a:r>
          </a:p>
          <a:p>
            <a:r>
              <a:rPr lang="en-US" sz="2200" dirty="0" smtClean="0"/>
              <a:t>The result is 1, so the parity bit is 1. The transmitted data would be 10111, which has four (even) 1s.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Odd Parity</a:t>
            </a:r>
            <a:endParaRPr lang="en-US" dirty="0"/>
          </a:p>
        </p:txBody>
      </p:sp>
      <p:sp>
        <p:nvSpPr>
          <p:cNvPr id="3" name="Content Placeholder 2"/>
          <p:cNvSpPr>
            <a:spLocks noGrp="1"/>
          </p:cNvSpPr>
          <p:nvPr>
            <p:ph idx="1"/>
          </p:nvPr>
        </p:nvSpPr>
        <p:spPr/>
        <p:txBody>
          <a:bodyPr/>
          <a:lstStyle/>
          <a:p>
            <a:r>
              <a:rPr lang="en-US" sz="2200" dirty="0" smtClean="0"/>
              <a:t>In an </a:t>
            </a:r>
            <a:r>
              <a:rPr lang="en-US" sz="2200" i="1" dirty="0" smtClean="0">
                <a:solidFill>
                  <a:srgbClr val="C00000"/>
                </a:solidFill>
              </a:rPr>
              <a:t>odd parity system</a:t>
            </a:r>
            <a:r>
              <a:rPr lang="en-US" sz="2200" dirty="0" smtClean="0"/>
              <a:t>, the goal is to make </a:t>
            </a:r>
            <a:r>
              <a:rPr lang="en-US" sz="2200" u="sng" dirty="0" smtClean="0"/>
              <a:t>the total count of 1s</a:t>
            </a:r>
            <a:r>
              <a:rPr lang="en-US" sz="2200" dirty="0" smtClean="0"/>
              <a:t> (including the parity bit) an </a:t>
            </a:r>
            <a:r>
              <a:rPr lang="en-US" sz="2200" u="sng" dirty="0" smtClean="0"/>
              <a:t>odd number</a:t>
            </a:r>
            <a:r>
              <a:rPr lang="en-US" sz="2200" dirty="0" smtClean="0"/>
              <a:t>. </a:t>
            </a:r>
          </a:p>
          <a:p>
            <a:r>
              <a:rPr lang="en-US" sz="2200" dirty="0" smtClean="0"/>
              <a:t>If the original data has an even number of 1s, the parity bit is 1.</a:t>
            </a:r>
          </a:p>
          <a:p>
            <a:r>
              <a:rPr lang="en-US" sz="2200" dirty="0" smtClean="0"/>
              <a:t>If the original data has an odd number of 1s, the parity bit is 0. </a:t>
            </a:r>
          </a:p>
          <a:p>
            <a:r>
              <a:rPr lang="en-US" sz="2200" dirty="0" smtClean="0"/>
              <a:t>For the data 1011:</a:t>
            </a:r>
          </a:p>
          <a:p>
            <a:pPr>
              <a:buNone/>
            </a:pPr>
            <a:r>
              <a:rPr lang="en-US" sz="2200" dirty="0" smtClean="0"/>
              <a:t>	</a:t>
            </a:r>
            <a:r>
              <a:rPr lang="en-US" sz="2200" dirty="0" smtClean="0">
                <a:latin typeface="Consolas" pitchFamily="49" charset="0"/>
              </a:rPr>
              <a:t>1 XOR 0 = 1</a:t>
            </a:r>
          </a:p>
          <a:p>
            <a:pPr>
              <a:buNone/>
            </a:pPr>
            <a:r>
              <a:rPr lang="en-US" sz="2200" dirty="0" smtClean="0">
                <a:latin typeface="Consolas" pitchFamily="49" charset="0"/>
              </a:rPr>
              <a:t>	1 XOR 1 = 0</a:t>
            </a:r>
          </a:p>
          <a:p>
            <a:pPr>
              <a:buNone/>
            </a:pPr>
            <a:r>
              <a:rPr lang="en-US" sz="2200" dirty="0" smtClean="0">
                <a:latin typeface="Consolas" pitchFamily="49" charset="0"/>
              </a:rPr>
              <a:t>	0 XOR 1 = 1</a:t>
            </a:r>
          </a:p>
          <a:p>
            <a:r>
              <a:rPr lang="en-US" sz="2200" dirty="0" smtClean="0"/>
              <a:t>The result is 1, so the parity bit is 0.</a:t>
            </a:r>
          </a:p>
          <a:p>
            <a:r>
              <a:rPr lang="en-US" sz="2200" dirty="0" smtClean="0"/>
              <a:t>The transmitted data would be 10110, which has three (odd) 1s.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2819400" y="1600200"/>
            <a:ext cx="5867400" cy="4525963"/>
          </a:xfrm>
        </p:spPr>
        <p:txBody>
          <a:bodyPr/>
          <a:lstStyle/>
          <a:p>
            <a:r>
              <a:rPr lang="en-US" sz="2400" b="1" dirty="0" smtClean="0"/>
              <a:t>Parity for D1–D4</a:t>
            </a:r>
          </a:p>
          <a:p>
            <a:r>
              <a:rPr lang="en-US" sz="2400" dirty="0" smtClean="0"/>
              <a:t>Compute XOR </a:t>
            </a:r>
            <a:r>
              <a:rPr lang="en-US" sz="2400" dirty="0" err="1" smtClean="0"/>
              <a:t>columnwise</a:t>
            </a:r>
            <a:r>
              <a:rPr lang="en-US" sz="2400" dirty="0" smtClean="0"/>
              <a:t>:</a:t>
            </a:r>
          </a:p>
          <a:p>
            <a:r>
              <a:rPr lang="en-US" sz="2400" dirty="0" smtClean="0"/>
              <a:t>Bit 1: 0 ⊕ 0 ⊕ 1 ⊕ 0 = </a:t>
            </a:r>
            <a:r>
              <a:rPr lang="en-US" sz="2400" b="1" dirty="0" smtClean="0"/>
              <a:t>1</a:t>
            </a:r>
            <a:endParaRPr lang="en-US" sz="2400" dirty="0" smtClean="0"/>
          </a:p>
          <a:p>
            <a:r>
              <a:rPr lang="en-US" sz="2400" dirty="0" smtClean="0"/>
              <a:t>Bit 2: 1 ⊕ 1 ⊕ 1 ⊕ 0 = </a:t>
            </a:r>
            <a:r>
              <a:rPr lang="en-US" sz="2400" b="1" dirty="0" smtClean="0"/>
              <a:t>1</a:t>
            </a:r>
            <a:endParaRPr lang="en-US" sz="2400" dirty="0" smtClean="0"/>
          </a:p>
          <a:p>
            <a:r>
              <a:rPr lang="en-US" sz="2400" dirty="0" smtClean="0"/>
              <a:t>Bit 3: 1 ⊕ 1 ⊕ 1 ⊕ 0 = </a:t>
            </a:r>
            <a:r>
              <a:rPr lang="en-US" sz="2400" b="1" dirty="0" smtClean="0"/>
              <a:t>1</a:t>
            </a:r>
            <a:endParaRPr lang="en-US" sz="2400" dirty="0" smtClean="0"/>
          </a:p>
          <a:p>
            <a:r>
              <a:rPr lang="en-US" sz="2400" dirty="0" smtClean="0"/>
              <a:t>Bit 4: 1 ⊕ 0 ⊕ 1 ⊕ 1 = </a:t>
            </a:r>
            <a:r>
              <a:rPr lang="en-US" sz="2400" b="1" dirty="0" smtClean="0"/>
              <a:t>1</a:t>
            </a:r>
            <a:endParaRPr lang="en-US" sz="2400" dirty="0" smtClean="0"/>
          </a:p>
          <a:p>
            <a:r>
              <a:rPr lang="en-US" sz="2400" dirty="0" smtClean="0"/>
              <a:t>So parity block </a:t>
            </a:r>
            <a:r>
              <a:rPr lang="en-US" sz="2400" b="1" dirty="0" smtClean="0"/>
              <a:t>P = 1111</a:t>
            </a:r>
            <a:r>
              <a:rPr lang="en-US" sz="2400" dirty="0" smtClean="0"/>
              <a:t>.</a:t>
            </a:r>
          </a:p>
          <a:p>
            <a:r>
              <a:rPr lang="en-US" sz="2400" dirty="0" smtClean="0"/>
              <a:t>RAID-5 rotates the parity across disks for each stripe. Because you have </a:t>
            </a:r>
            <a:r>
              <a:rPr lang="en-US" sz="2400" b="1" dirty="0" smtClean="0"/>
              <a:t>4 data blocks</a:t>
            </a:r>
            <a:r>
              <a:rPr lang="en-US" sz="2400" dirty="0" smtClean="0"/>
              <a:t>, they fit in one stripe with </a:t>
            </a:r>
            <a:r>
              <a:rPr lang="en-US" sz="2400" b="1" dirty="0" smtClean="0"/>
              <a:t>1 parity block</a:t>
            </a:r>
            <a:r>
              <a:rPr lang="en-US" sz="2400" dirty="0" smtClean="0"/>
              <a:t> on the fifth disk.</a:t>
            </a:r>
            <a:endParaRPr lang="en-US" sz="2400" dirty="0"/>
          </a:p>
        </p:txBody>
      </p:sp>
      <p:graphicFrame>
        <p:nvGraphicFramePr>
          <p:cNvPr id="6" name="Table 5"/>
          <p:cNvGraphicFramePr>
            <a:graphicFrameLocks noGrp="1"/>
          </p:cNvGraphicFramePr>
          <p:nvPr/>
        </p:nvGraphicFramePr>
        <p:xfrm>
          <a:off x="533400" y="1600200"/>
          <a:ext cx="2005648" cy="2286000"/>
        </p:xfrm>
        <a:graphic>
          <a:graphicData uri="http://schemas.openxmlformats.org/drawingml/2006/table">
            <a:tbl>
              <a:tblPr firstRow="1">
                <a:tableStyleId>{3C2FFA5D-87B4-456A-9821-1D502468CF0F}</a:tableStyleId>
              </a:tblPr>
              <a:tblGrid>
                <a:gridCol w="933768"/>
                <a:gridCol w="1071880"/>
              </a:tblGrid>
              <a:tr h="0">
                <a:tc>
                  <a:txBody>
                    <a:bodyPr/>
                    <a:lstStyle/>
                    <a:p>
                      <a:r>
                        <a:rPr lang="en-US" sz="2400" dirty="0"/>
                        <a:t>Block</a:t>
                      </a:r>
                    </a:p>
                  </a:txBody>
                  <a:tcPr anchor="ctr"/>
                </a:tc>
                <a:tc>
                  <a:txBody>
                    <a:bodyPr/>
                    <a:lstStyle/>
                    <a:p>
                      <a:r>
                        <a:rPr lang="en-US" sz="2400"/>
                        <a:t>Bits</a:t>
                      </a:r>
                    </a:p>
                  </a:txBody>
                  <a:tcPr anchor="ctr"/>
                </a:tc>
              </a:tr>
              <a:tr h="0">
                <a:tc>
                  <a:txBody>
                    <a:bodyPr/>
                    <a:lstStyle/>
                    <a:p>
                      <a:r>
                        <a:rPr lang="en-US" sz="2400" dirty="0"/>
                        <a:t>D1</a:t>
                      </a:r>
                    </a:p>
                  </a:txBody>
                  <a:tcPr anchor="ctr"/>
                </a:tc>
                <a:tc>
                  <a:txBody>
                    <a:bodyPr/>
                    <a:lstStyle/>
                    <a:p>
                      <a:r>
                        <a:rPr lang="en-US" sz="2400"/>
                        <a:t>0 1 1 1</a:t>
                      </a:r>
                    </a:p>
                  </a:txBody>
                  <a:tcPr anchor="ctr"/>
                </a:tc>
              </a:tr>
              <a:tr h="0">
                <a:tc>
                  <a:txBody>
                    <a:bodyPr/>
                    <a:lstStyle/>
                    <a:p>
                      <a:r>
                        <a:rPr lang="en-US" sz="2400"/>
                        <a:t>D2</a:t>
                      </a:r>
                    </a:p>
                  </a:txBody>
                  <a:tcPr anchor="ctr"/>
                </a:tc>
                <a:tc>
                  <a:txBody>
                    <a:bodyPr/>
                    <a:lstStyle/>
                    <a:p>
                      <a:r>
                        <a:rPr lang="en-US" sz="2400" dirty="0"/>
                        <a:t>0 1 1 0</a:t>
                      </a:r>
                    </a:p>
                  </a:txBody>
                  <a:tcPr anchor="ctr"/>
                </a:tc>
              </a:tr>
              <a:tr h="0">
                <a:tc>
                  <a:txBody>
                    <a:bodyPr/>
                    <a:lstStyle/>
                    <a:p>
                      <a:r>
                        <a:rPr lang="en-US" sz="2400"/>
                        <a:t>D3</a:t>
                      </a:r>
                    </a:p>
                  </a:txBody>
                  <a:tcPr anchor="ctr"/>
                </a:tc>
                <a:tc>
                  <a:txBody>
                    <a:bodyPr/>
                    <a:lstStyle/>
                    <a:p>
                      <a:r>
                        <a:rPr lang="en-US" sz="2400"/>
                        <a:t>1 1 1 1</a:t>
                      </a:r>
                    </a:p>
                  </a:txBody>
                  <a:tcPr anchor="ctr"/>
                </a:tc>
              </a:tr>
              <a:tr h="0">
                <a:tc>
                  <a:txBody>
                    <a:bodyPr/>
                    <a:lstStyle/>
                    <a:p>
                      <a:r>
                        <a:rPr lang="en-US" sz="2400"/>
                        <a:t>D4</a:t>
                      </a:r>
                    </a:p>
                  </a:txBody>
                  <a:tcPr anchor="ctr"/>
                </a:tc>
                <a:tc>
                  <a:txBody>
                    <a:bodyPr/>
                    <a:lstStyle/>
                    <a:p>
                      <a:r>
                        <a:rPr lang="en-US" sz="2400" dirty="0"/>
                        <a:t>0 0 0 1</a:t>
                      </a:r>
                    </a:p>
                  </a:txBody>
                  <a:tcPr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Variable-Length Blocks</a:t>
            </a:r>
            <a:endParaRPr lang="en-US" dirty="0"/>
          </a:p>
        </p:txBody>
      </p:sp>
      <p:sp>
        <p:nvSpPr>
          <p:cNvPr id="3" name="Content Placeholder 2"/>
          <p:cNvSpPr>
            <a:spLocks noGrp="1"/>
          </p:cNvSpPr>
          <p:nvPr>
            <p:ph idx="1"/>
          </p:nvPr>
        </p:nvSpPr>
        <p:spPr>
          <a:xfrm>
            <a:off x="4267200" y="1600200"/>
            <a:ext cx="4419600" cy="4525963"/>
          </a:xfrm>
        </p:spPr>
        <p:txBody>
          <a:bodyPr/>
          <a:lstStyle/>
          <a:p>
            <a:r>
              <a:rPr lang="en-US" sz="2400" dirty="0" smtClean="0"/>
              <a:t>RAID-5 does </a:t>
            </a:r>
            <a:r>
              <a:rPr lang="en-US" sz="2400" b="1" dirty="0" smtClean="0"/>
              <a:t>not</a:t>
            </a:r>
            <a:r>
              <a:rPr lang="en-US" sz="2400" dirty="0" smtClean="0"/>
              <a:t> accept variable-length blocks inside one stripe.</a:t>
            </a:r>
          </a:p>
          <a:p>
            <a:r>
              <a:rPr lang="en-US" sz="2400" dirty="0" smtClean="0"/>
              <a:t>All strip units in a RAID-5 stripe must have </a:t>
            </a:r>
            <a:r>
              <a:rPr lang="en-US" sz="2400" b="1" dirty="0" smtClean="0"/>
              <a:t>equal size</a:t>
            </a:r>
            <a:r>
              <a:rPr lang="en-US" sz="2400" dirty="0" smtClean="0"/>
              <a:t>.</a:t>
            </a:r>
          </a:p>
          <a:p>
            <a:r>
              <a:rPr lang="en-US" sz="2400" dirty="0" smtClean="0"/>
              <a:t>So to "write these 4 blocks," they must first be </a:t>
            </a:r>
            <a:r>
              <a:rPr lang="en-US" sz="2400" b="1" dirty="0" smtClean="0"/>
              <a:t>padded or segmented</a:t>
            </a:r>
            <a:r>
              <a:rPr lang="en-US" sz="2400" dirty="0" smtClean="0"/>
              <a:t> into equal-sized strip units.</a:t>
            </a:r>
            <a:endParaRPr lang="en-US" sz="2400" dirty="0"/>
          </a:p>
        </p:txBody>
      </p:sp>
      <p:graphicFrame>
        <p:nvGraphicFramePr>
          <p:cNvPr id="5" name="Table 4"/>
          <p:cNvGraphicFramePr>
            <a:graphicFrameLocks noGrp="1"/>
          </p:cNvGraphicFramePr>
          <p:nvPr/>
        </p:nvGraphicFramePr>
        <p:xfrm>
          <a:off x="762000" y="1752600"/>
          <a:ext cx="3352800" cy="2468880"/>
        </p:xfrm>
        <a:graphic>
          <a:graphicData uri="http://schemas.openxmlformats.org/drawingml/2006/table">
            <a:tbl>
              <a:tblPr firstRow="1">
                <a:tableStyleId>{3C2FFA5D-87B4-456A-9821-1D502468CF0F}</a:tableStyleId>
              </a:tblPr>
              <a:tblGrid>
                <a:gridCol w="873443"/>
                <a:gridCol w="1159193"/>
                <a:gridCol w="1320164"/>
              </a:tblGrid>
              <a:tr h="0">
                <a:tc>
                  <a:txBody>
                    <a:bodyPr/>
                    <a:lstStyle/>
                    <a:p>
                      <a:r>
                        <a:rPr lang="en-US" sz="2200"/>
                        <a:t>Block</a:t>
                      </a:r>
                    </a:p>
                  </a:txBody>
                  <a:tcPr anchor="ctr"/>
                </a:tc>
                <a:tc>
                  <a:txBody>
                    <a:bodyPr/>
                    <a:lstStyle/>
                    <a:p>
                      <a:r>
                        <a:rPr lang="en-US" sz="2200"/>
                        <a:t>Original</a:t>
                      </a:r>
                    </a:p>
                  </a:txBody>
                  <a:tcPr anchor="ctr"/>
                </a:tc>
                <a:tc>
                  <a:txBody>
                    <a:bodyPr/>
                    <a:lstStyle/>
                    <a:p>
                      <a:r>
                        <a:rPr lang="en-US" sz="2200"/>
                        <a:t>Padded to 5 bits</a:t>
                      </a:r>
                    </a:p>
                  </a:txBody>
                  <a:tcPr anchor="ctr"/>
                </a:tc>
              </a:tr>
              <a:tr h="0">
                <a:tc>
                  <a:txBody>
                    <a:bodyPr/>
                    <a:lstStyle/>
                    <a:p>
                      <a:r>
                        <a:rPr lang="en-US" sz="2200" dirty="0"/>
                        <a:t>B1</a:t>
                      </a:r>
                    </a:p>
                  </a:txBody>
                  <a:tcPr anchor="ctr"/>
                </a:tc>
                <a:tc>
                  <a:txBody>
                    <a:bodyPr/>
                    <a:lstStyle/>
                    <a:p>
                      <a:r>
                        <a:rPr lang="en-US" sz="2200"/>
                        <a:t>01111</a:t>
                      </a:r>
                    </a:p>
                  </a:txBody>
                  <a:tcPr anchor="ctr"/>
                </a:tc>
                <a:tc>
                  <a:txBody>
                    <a:bodyPr/>
                    <a:lstStyle/>
                    <a:p>
                      <a:r>
                        <a:rPr lang="en-US" sz="2200"/>
                        <a:t>01111</a:t>
                      </a:r>
                    </a:p>
                  </a:txBody>
                  <a:tcPr anchor="ctr"/>
                </a:tc>
              </a:tr>
              <a:tr h="0">
                <a:tc>
                  <a:txBody>
                    <a:bodyPr/>
                    <a:lstStyle/>
                    <a:p>
                      <a:r>
                        <a:rPr lang="en-US" sz="2200"/>
                        <a:t>B2</a:t>
                      </a:r>
                    </a:p>
                  </a:txBody>
                  <a:tcPr anchor="ctr"/>
                </a:tc>
                <a:tc>
                  <a:txBody>
                    <a:bodyPr/>
                    <a:lstStyle/>
                    <a:p>
                      <a:r>
                        <a:rPr lang="en-US" sz="2200"/>
                        <a:t>01101</a:t>
                      </a:r>
                    </a:p>
                  </a:txBody>
                  <a:tcPr anchor="ctr"/>
                </a:tc>
                <a:tc>
                  <a:txBody>
                    <a:bodyPr/>
                    <a:lstStyle/>
                    <a:p>
                      <a:r>
                        <a:rPr lang="en-US" sz="2200"/>
                        <a:t>01101</a:t>
                      </a:r>
                    </a:p>
                  </a:txBody>
                  <a:tcPr anchor="ctr"/>
                </a:tc>
              </a:tr>
              <a:tr h="0">
                <a:tc>
                  <a:txBody>
                    <a:bodyPr/>
                    <a:lstStyle/>
                    <a:p>
                      <a:r>
                        <a:rPr lang="en-US" sz="2200"/>
                        <a:t>B3</a:t>
                      </a:r>
                    </a:p>
                  </a:txBody>
                  <a:tcPr anchor="ctr"/>
                </a:tc>
                <a:tc>
                  <a:txBody>
                    <a:bodyPr/>
                    <a:lstStyle/>
                    <a:p>
                      <a:r>
                        <a:rPr lang="en-US" sz="2200"/>
                        <a:t>111</a:t>
                      </a:r>
                    </a:p>
                  </a:txBody>
                  <a:tcPr anchor="ctr"/>
                </a:tc>
                <a:tc>
                  <a:txBody>
                    <a:bodyPr/>
                    <a:lstStyle/>
                    <a:p>
                      <a:r>
                        <a:rPr lang="en-US" sz="2200"/>
                        <a:t>00111</a:t>
                      </a:r>
                    </a:p>
                  </a:txBody>
                  <a:tcPr anchor="ctr"/>
                </a:tc>
              </a:tr>
              <a:tr h="0">
                <a:tc>
                  <a:txBody>
                    <a:bodyPr/>
                    <a:lstStyle/>
                    <a:p>
                      <a:r>
                        <a:rPr lang="en-US" sz="2200"/>
                        <a:t>B4</a:t>
                      </a:r>
                    </a:p>
                  </a:txBody>
                  <a:tcPr anchor="ctr"/>
                </a:tc>
                <a:tc>
                  <a:txBody>
                    <a:bodyPr/>
                    <a:lstStyle/>
                    <a:p>
                      <a:r>
                        <a:rPr lang="en-US" sz="2200"/>
                        <a:t>01</a:t>
                      </a:r>
                    </a:p>
                  </a:txBody>
                  <a:tcPr anchor="ctr"/>
                </a:tc>
                <a:tc>
                  <a:txBody>
                    <a:bodyPr/>
                    <a:lstStyle/>
                    <a:p>
                      <a:r>
                        <a:rPr lang="en-US" sz="2200" dirty="0"/>
                        <a:t>00001</a:t>
                      </a:r>
                    </a:p>
                  </a:txBody>
                  <a:tcPr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RAID 6</a:t>
            </a:r>
            <a:endParaRPr lang="en-US" dirty="0"/>
          </a:p>
        </p:txBody>
      </p:sp>
      <p:pic>
        <p:nvPicPr>
          <p:cNvPr id="70661" name="Picture 5"/>
          <p:cNvPicPr>
            <a:picLocks noChangeAspect="1" noChangeArrowheads="1"/>
          </p:cNvPicPr>
          <p:nvPr/>
        </p:nvPicPr>
        <p:blipFill>
          <a:blip r:embed="rId2" cstate="print"/>
          <a:srcRect/>
          <a:stretch>
            <a:fillRect/>
          </a:stretch>
        </p:blipFill>
        <p:spPr bwMode="auto">
          <a:xfrm>
            <a:off x="595313" y="1819275"/>
            <a:ext cx="7953375" cy="32194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RAID 6 Parities</a:t>
            </a:r>
            <a:endParaRPr lang="en-US" dirty="0"/>
          </a:p>
        </p:txBody>
      </p:sp>
      <p:sp>
        <p:nvSpPr>
          <p:cNvPr id="3" name="Content Placeholder 2"/>
          <p:cNvSpPr>
            <a:spLocks noGrp="1"/>
          </p:cNvSpPr>
          <p:nvPr>
            <p:ph idx="1"/>
          </p:nvPr>
        </p:nvSpPr>
        <p:spPr/>
        <p:txBody>
          <a:bodyPr/>
          <a:lstStyle/>
          <a:p>
            <a:r>
              <a:rPr lang="en-US" sz="2400" dirty="0" smtClean="0"/>
              <a:t>The P parity in RAID-6 is identical to RAID-5's XOR parity.</a:t>
            </a:r>
          </a:p>
          <a:p>
            <a:r>
              <a:rPr lang="en-US" sz="2400" dirty="0" smtClean="0"/>
              <a:t>The Q parity is a Reed–Solomon code computed over a Galois field (GF(2⁸) in common implementations).</a:t>
            </a:r>
          </a:p>
          <a:p>
            <a:r>
              <a:rPr lang="en-US" sz="2400" dirty="0" smtClean="0"/>
              <a:t>P and Q are not duplicates. They represent different linear combinations of the data blocks, allowing reconstruction when two blocks are missing.</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P</a:t>
            </a:r>
            <a:endParaRPr lang="en-US" dirty="0"/>
          </a:p>
        </p:txBody>
      </p:sp>
      <p:sp>
        <p:nvSpPr>
          <p:cNvPr id="3" name="Content Placeholder 2"/>
          <p:cNvSpPr>
            <a:spLocks noGrp="1"/>
          </p:cNvSpPr>
          <p:nvPr>
            <p:ph idx="1"/>
          </p:nvPr>
        </p:nvSpPr>
        <p:spPr/>
        <p:txBody>
          <a:bodyPr/>
          <a:lstStyle/>
          <a:p>
            <a:r>
              <a:rPr lang="en-US" sz="2200" dirty="0" smtClean="0"/>
              <a:t>D0 = 1011</a:t>
            </a:r>
          </a:p>
          <a:p>
            <a:r>
              <a:rPr lang="en-US" sz="2200" dirty="0" smtClean="0"/>
              <a:t>D1 = 0110</a:t>
            </a:r>
          </a:p>
          <a:p>
            <a:r>
              <a:rPr lang="en-US" sz="2200" dirty="0" smtClean="0"/>
              <a:t>D3 = 1101</a:t>
            </a:r>
          </a:p>
          <a:p>
            <a:r>
              <a:rPr lang="en-US" sz="2200" dirty="0" smtClean="0"/>
              <a:t>D4 = 0001</a:t>
            </a:r>
          </a:p>
          <a:p>
            <a:r>
              <a:rPr lang="en-US" sz="2200" dirty="0" smtClean="0"/>
              <a:t>P is the bitwise XOR of all data strips:</a:t>
            </a:r>
          </a:p>
          <a:p>
            <a:r>
              <a:rPr lang="en-US" sz="2200" dirty="0" smtClean="0"/>
              <a:t>P = D0 ⊕ D1 ⊕ D2 ⊕ D3</a:t>
            </a:r>
          </a:p>
          <a:p>
            <a:r>
              <a:rPr lang="en-US" sz="2200" dirty="0" smtClean="0"/>
              <a:t>Compute stepwise:</a:t>
            </a:r>
          </a:p>
          <a:p>
            <a:r>
              <a:rPr lang="en-US" sz="2200" dirty="0" smtClean="0"/>
              <a:t>D0 ⊕ D1 = 1011 ⊕ 0110 = 1101</a:t>
            </a:r>
          </a:p>
          <a:p>
            <a:r>
              <a:rPr lang="en-US" sz="2200" dirty="0" smtClean="0"/>
              <a:t>1101 ⊕ D2 = 1101 ⊕ 1101 = 0000</a:t>
            </a:r>
          </a:p>
          <a:p>
            <a:r>
              <a:rPr lang="en-US" sz="2200" dirty="0" smtClean="0"/>
              <a:t>0000 ⊕ D3 = 0000 ⊕ 0001 = </a:t>
            </a:r>
            <a:r>
              <a:rPr lang="en-US" sz="2200" b="1" dirty="0" smtClean="0"/>
              <a:t>0001</a:t>
            </a:r>
            <a:endParaRPr lang="en-US" sz="2200" dirty="0" smtClean="0"/>
          </a:p>
          <a:p>
            <a:r>
              <a:rPr lang="en-US" sz="2200" dirty="0" smtClean="0"/>
              <a:t>So </a:t>
            </a:r>
            <a:r>
              <a:rPr lang="en-US" sz="2200" b="1" dirty="0" smtClean="0"/>
              <a:t>P = 0001</a:t>
            </a:r>
            <a:r>
              <a:rPr lang="en-US" sz="2200" dirty="0" smtClean="0"/>
              <a:t>.</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Q</a:t>
            </a:r>
            <a:endParaRPr lang="en-US" dirty="0"/>
          </a:p>
        </p:txBody>
      </p:sp>
      <p:sp>
        <p:nvSpPr>
          <p:cNvPr id="3" name="Content Placeholder 2"/>
          <p:cNvSpPr>
            <a:spLocks noGrp="1"/>
          </p:cNvSpPr>
          <p:nvPr>
            <p:ph idx="1"/>
          </p:nvPr>
        </p:nvSpPr>
        <p:spPr/>
        <p:txBody>
          <a:bodyPr/>
          <a:lstStyle/>
          <a:p>
            <a:r>
              <a:rPr lang="en-US" sz="2000" dirty="0" smtClean="0"/>
              <a:t>EVENODD-style Q can be formed by </a:t>
            </a:r>
            <a:r>
              <a:rPr lang="en-US" sz="2000" dirty="0" err="1" smtClean="0"/>
              <a:t>XORing</a:t>
            </a:r>
            <a:r>
              <a:rPr lang="en-US" sz="2000" dirty="0" smtClean="0"/>
              <a:t> each data strip after rotating its bits left by the disk index (0..3).</a:t>
            </a:r>
          </a:p>
          <a:p>
            <a:r>
              <a:rPr lang="en-US" sz="2000" dirty="0" smtClean="0"/>
              <a:t>With 4-bit symbols we use 4-bit left-rotates:</a:t>
            </a:r>
          </a:p>
          <a:p>
            <a:r>
              <a:rPr lang="en-US" sz="2000" dirty="0" err="1" smtClean="0"/>
              <a:t>rotate_left</a:t>
            </a:r>
            <a:r>
              <a:rPr lang="en-US" sz="2000" dirty="0" smtClean="0"/>
              <a:t>(D0,0) = 1011</a:t>
            </a:r>
          </a:p>
          <a:p>
            <a:r>
              <a:rPr lang="en-US" sz="2000" dirty="0" err="1" smtClean="0"/>
              <a:t>rotate_left</a:t>
            </a:r>
            <a:r>
              <a:rPr lang="en-US" sz="2000" dirty="0" smtClean="0"/>
              <a:t>(D1,1) = 0110 left-rotated 1 → 1100</a:t>
            </a:r>
          </a:p>
          <a:p>
            <a:r>
              <a:rPr lang="en-US" sz="2000" dirty="0" err="1" smtClean="0"/>
              <a:t>rotate_left</a:t>
            </a:r>
            <a:r>
              <a:rPr lang="en-US" sz="2000" dirty="0" smtClean="0"/>
              <a:t>(D2,2) = 1101 left-rotated 2 → 0111</a:t>
            </a:r>
          </a:p>
          <a:p>
            <a:r>
              <a:rPr lang="en-US" sz="2000" dirty="0" err="1" smtClean="0"/>
              <a:t>rotate_left</a:t>
            </a:r>
            <a:r>
              <a:rPr lang="en-US" sz="2000" dirty="0" smtClean="0"/>
              <a:t>(D3,3) = 0001 left-rotated 3 → 1000</a:t>
            </a:r>
          </a:p>
          <a:p>
            <a:r>
              <a:rPr lang="en-US" sz="2000" dirty="0" smtClean="0"/>
              <a:t>Now XOR those rotated values:</a:t>
            </a:r>
          </a:p>
          <a:p>
            <a:r>
              <a:rPr lang="en-US" sz="2000" dirty="0" smtClean="0"/>
              <a:t>1011 ⊕ 1100 = 0111</a:t>
            </a:r>
          </a:p>
          <a:p>
            <a:r>
              <a:rPr lang="en-US" sz="2000" dirty="0" smtClean="0"/>
              <a:t>0111 ⊕ 0111 = 0000</a:t>
            </a:r>
          </a:p>
          <a:p>
            <a:r>
              <a:rPr lang="en-US" sz="2000" dirty="0" smtClean="0"/>
              <a:t>0000 ⊕ 1000 = </a:t>
            </a:r>
            <a:r>
              <a:rPr lang="en-US" sz="2000" b="1" dirty="0" smtClean="0"/>
              <a:t>1000</a:t>
            </a:r>
            <a:endParaRPr lang="en-US" sz="2000" dirty="0" smtClean="0"/>
          </a:p>
          <a:p>
            <a:r>
              <a:rPr lang="en-US" sz="2000" dirty="0" smtClean="0"/>
              <a:t>So </a:t>
            </a:r>
            <a:r>
              <a:rPr lang="en-US" sz="2000" b="1" dirty="0" smtClean="0"/>
              <a:t>Q = 1000</a:t>
            </a:r>
            <a:r>
              <a:rPr lang="en-US" sz="2000" dirty="0" smtClean="0"/>
              <a: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D1 and D2 are lost</a:t>
            </a:r>
            <a:endParaRPr lang="en-US" dirty="0"/>
          </a:p>
        </p:txBody>
      </p:sp>
      <p:sp>
        <p:nvSpPr>
          <p:cNvPr id="3" name="Content Placeholder 2"/>
          <p:cNvSpPr>
            <a:spLocks noGrp="1"/>
          </p:cNvSpPr>
          <p:nvPr>
            <p:ph idx="1"/>
          </p:nvPr>
        </p:nvSpPr>
        <p:spPr/>
        <p:txBody>
          <a:bodyPr/>
          <a:lstStyle/>
          <a:p>
            <a:r>
              <a:rPr lang="en-US" sz="2400" dirty="0" smtClean="0"/>
              <a:t>D0 = 1011</a:t>
            </a:r>
          </a:p>
          <a:p>
            <a:r>
              <a:rPr lang="en-US" sz="2400" dirty="0" smtClean="0"/>
              <a:t>D1 = 0110 (lost)</a:t>
            </a:r>
          </a:p>
          <a:p>
            <a:r>
              <a:rPr lang="en-US" sz="2400" dirty="0" smtClean="0"/>
              <a:t>D2 = 1101 (lost)</a:t>
            </a:r>
          </a:p>
          <a:p>
            <a:r>
              <a:rPr lang="en-US" sz="2400" dirty="0" smtClean="0"/>
              <a:t>D3 = 0001</a:t>
            </a:r>
          </a:p>
          <a:p>
            <a:r>
              <a:rPr lang="en-US" sz="2400" dirty="0" smtClean="0"/>
              <a:t>From earlier we had P = 0001, Q = 1000.</a:t>
            </a:r>
          </a:p>
          <a:p>
            <a:endParaRPr lang="en-US" sz="2400" dirty="0" smtClean="0"/>
          </a:p>
          <a:p>
            <a:r>
              <a:rPr lang="en-US" sz="2400" b="1" dirty="0" smtClean="0"/>
              <a:t>P=D0⊕D1⊕D2⊕D3</a:t>
            </a:r>
          </a:p>
          <a:p>
            <a:r>
              <a:rPr lang="en-US" sz="2400" b="1" dirty="0" smtClean="0"/>
              <a:t>Q=rot(D0,0)⊕rot(D1,1)⊕rot(D2,2)⊕rot(D3,3)</a:t>
            </a:r>
          </a:p>
          <a:p>
            <a:r>
              <a:rPr lang="en-US" sz="2400" b="1" dirty="0" smtClean="0"/>
              <a:t>These two linear equations uniquely solve for D1 and D2.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sz="2400" dirty="0" smtClean="0"/>
              <a:t>EVENODD is one of several RAID-6 constructions; others (Reed–Solomon, RDP, </a:t>
            </a:r>
            <a:r>
              <a:rPr lang="en-US" sz="2400" dirty="0" err="1" smtClean="0"/>
              <a:t>Blaum</a:t>
            </a:r>
            <a:r>
              <a:rPr lang="en-US" sz="2400" dirty="0" smtClean="0"/>
              <a:t>–</a:t>
            </a:r>
            <a:r>
              <a:rPr lang="en-US" sz="2400" dirty="0" err="1" smtClean="0"/>
              <a:t>Bruck</a:t>
            </a:r>
            <a:r>
              <a:rPr lang="en-US" sz="2400" dirty="0" smtClean="0"/>
              <a:t>–Huang, etc.) use different math (GF(2^m)) but the </a:t>
            </a:r>
            <a:r>
              <a:rPr lang="en-US" sz="2400" b="1" dirty="0" smtClean="0"/>
              <a:t>idea is the same</a:t>
            </a:r>
            <a:r>
              <a:rPr lang="en-US" sz="2400" dirty="0" smtClean="0"/>
              <a:t>: produce two linearly independent parity equations so two unknowns can be solved.</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Network-Attached Storage (NAS)</a:t>
            </a:r>
            <a:endParaRPr lang="en-US" dirty="0"/>
          </a:p>
        </p:txBody>
      </p:sp>
      <p:sp>
        <p:nvSpPr>
          <p:cNvPr id="3" name="Content Placeholder 2"/>
          <p:cNvSpPr>
            <a:spLocks noGrp="1"/>
          </p:cNvSpPr>
          <p:nvPr>
            <p:ph idx="1"/>
          </p:nvPr>
        </p:nvSpPr>
        <p:spPr>
          <a:xfrm>
            <a:off x="457200" y="1600200"/>
            <a:ext cx="4724400" cy="4525963"/>
          </a:xfrm>
        </p:spPr>
        <p:txBody>
          <a:bodyPr/>
          <a:lstStyle/>
          <a:p>
            <a:r>
              <a:rPr lang="en-US" sz="2200" dirty="0" smtClean="0"/>
              <a:t>A NAS box is formatted with data transfer protocols, which are standard ways of sending data between devices.</a:t>
            </a:r>
          </a:p>
          <a:p>
            <a:r>
              <a:rPr lang="en-US" sz="2200" dirty="0" smtClean="0"/>
              <a:t>The files transferred across the protocols can be formatted as: Network File Systems (NFS), Server Message Blocks (SMB), Apple Filing Protocol (AFP).</a:t>
            </a:r>
          </a:p>
          <a:p>
            <a:r>
              <a:rPr lang="en-US" sz="2200" dirty="0" smtClean="0"/>
              <a:t>These protocols can be accessed by clients through a switch, which is a central server that connects to everything and routes requests.</a:t>
            </a:r>
            <a:endParaRPr lang="en-US" sz="2200" dirty="0"/>
          </a:p>
        </p:txBody>
      </p:sp>
      <p:sp>
        <p:nvSpPr>
          <p:cNvPr id="36866" name="AutoShape 2" descr="Synology NAS"/>
          <p:cNvSpPr>
            <a:spLocks noChangeAspect="1" noChangeArrowheads="1"/>
          </p:cNvSpPr>
          <p:nvPr/>
        </p:nvSpPr>
        <p:spPr bwMode="auto">
          <a:xfrm>
            <a:off x="155575" y="-2743200"/>
            <a:ext cx="9486900" cy="57245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6868" name="AutoShape 4" descr="Synology NAS"/>
          <p:cNvSpPr>
            <a:spLocks noChangeAspect="1" noChangeArrowheads="1"/>
          </p:cNvSpPr>
          <p:nvPr/>
        </p:nvSpPr>
        <p:spPr bwMode="auto">
          <a:xfrm>
            <a:off x="155575" y="-2743200"/>
            <a:ext cx="9486900" cy="57245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6869" name="Picture 5"/>
          <p:cNvPicPr>
            <a:picLocks noChangeAspect="1" noChangeArrowheads="1"/>
          </p:cNvPicPr>
          <p:nvPr/>
        </p:nvPicPr>
        <p:blipFill>
          <a:blip r:embed="rId2" cstate="print"/>
          <a:srcRect/>
          <a:stretch>
            <a:fillRect/>
          </a:stretch>
        </p:blipFill>
        <p:spPr bwMode="auto">
          <a:xfrm>
            <a:off x="5562600" y="1752600"/>
            <a:ext cx="2765425" cy="1530350"/>
          </a:xfrm>
          <a:prstGeom prst="rect">
            <a:avLst/>
          </a:prstGeom>
          <a:noFill/>
          <a:ln w="9525">
            <a:noFill/>
            <a:miter lim="800000"/>
            <a:headEnd/>
            <a:tailEnd/>
          </a:ln>
        </p:spPr>
      </p:pic>
      <p:pic>
        <p:nvPicPr>
          <p:cNvPr id="36875" name="Picture 11"/>
          <p:cNvPicPr>
            <a:picLocks noChangeAspect="1" noChangeArrowheads="1"/>
          </p:cNvPicPr>
          <p:nvPr/>
        </p:nvPicPr>
        <p:blipFill>
          <a:blip r:embed="rId3" cstate="print"/>
          <a:srcRect/>
          <a:stretch>
            <a:fillRect/>
          </a:stretch>
        </p:blipFill>
        <p:spPr bwMode="auto">
          <a:xfrm>
            <a:off x="5105400" y="3670593"/>
            <a:ext cx="3752381" cy="2349207"/>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TrueNAS</a:t>
            </a:r>
            <a:endParaRPr lang="en-US" dirty="0"/>
          </a:p>
        </p:txBody>
      </p:sp>
      <p:sp>
        <p:nvSpPr>
          <p:cNvPr id="3" name="Content Placeholder 2"/>
          <p:cNvSpPr>
            <a:spLocks noGrp="1"/>
          </p:cNvSpPr>
          <p:nvPr>
            <p:ph idx="1"/>
          </p:nvPr>
        </p:nvSpPr>
        <p:spPr/>
        <p:txBody>
          <a:bodyPr/>
          <a:lstStyle/>
          <a:p>
            <a:r>
              <a:rPr lang="en-US" sz="2800" dirty="0" err="1" smtClean="0"/>
              <a:t>TrueNAS</a:t>
            </a:r>
            <a:r>
              <a:rPr lang="en-US" sz="2800" dirty="0" smtClean="0"/>
              <a:t> (CORE or SCALE) is often called a NAS, but it can provide both file and block storage:</a:t>
            </a:r>
          </a:p>
          <a:p>
            <a:pPr lvl="1"/>
            <a:r>
              <a:rPr lang="en-US" sz="2400" dirty="0" smtClean="0"/>
              <a:t>File-level: NFS, SMB, AFP shares.</a:t>
            </a:r>
          </a:p>
          <a:p>
            <a:pPr lvl="1"/>
            <a:r>
              <a:rPr lang="en-US" sz="2400" dirty="0" smtClean="0"/>
              <a:t>Block-level: </a:t>
            </a:r>
            <a:r>
              <a:rPr lang="en-US" sz="2400" dirty="0" err="1" smtClean="0"/>
              <a:t>iSCSI</a:t>
            </a:r>
            <a:r>
              <a:rPr lang="en-US" sz="2400" dirty="0" smtClean="0"/>
              <a:t> targets that present raw LUNs (Logical Unit Numbers) over the network.</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 Area Network (SAN)</a:t>
            </a:r>
            <a:endParaRPr lang="en-US" dirty="0"/>
          </a:p>
        </p:txBody>
      </p:sp>
      <p:sp>
        <p:nvSpPr>
          <p:cNvPr id="3" name="Content Placeholder 2"/>
          <p:cNvSpPr>
            <a:spLocks noGrp="1"/>
          </p:cNvSpPr>
          <p:nvPr>
            <p:ph idx="1"/>
          </p:nvPr>
        </p:nvSpPr>
        <p:spPr>
          <a:xfrm>
            <a:off x="457200" y="1600200"/>
            <a:ext cx="4267200" cy="4525963"/>
          </a:xfrm>
        </p:spPr>
        <p:txBody>
          <a:bodyPr/>
          <a:lstStyle/>
          <a:p>
            <a:r>
              <a:rPr lang="en-US" sz="2400" dirty="0" smtClean="0"/>
              <a:t>A </a:t>
            </a:r>
            <a:r>
              <a:rPr lang="en-US" sz="2400" i="1" dirty="0" smtClean="0">
                <a:solidFill>
                  <a:srgbClr val="C00000"/>
                </a:solidFill>
              </a:rPr>
              <a:t>SAN</a:t>
            </a:r>
            <a:r>
              <a:rPr lang="en-US" sz="2400" dirty="0" smtClean="0"/>
              <a:t> is essentially a network that is intended to connect servers with storage.</a:t>
            </a:r>
          </a:p>
          <a:p>
            <a:r>
              <a:rPr lang="en-US" sz="2400" dirty="0" smtClean="0"/>
              <a:t>The goal of any SAN is to take storage out of individual servers and locate the storage collectively where storage resources can be centrally managed and protected.</a:t>
            </a:r>
          </a:p>
          <a:p>
            <a:endParaRPr lang="en-US" sz="2400" dirty="0"/>
          </a:p>
        </p:txBody>
      </p:sp>
      <p:pic>
        <p:nvPicPr>
          <p:cNvPr id="34820" name="Picture 4"/>
          <p:cNvPicPr>
            <a:picLocks noChangeAspect="1" noChangeArrowheads="1"/>
          </p:cNvPicPr>
          <p:nvPr/>
        </p:nvPicPr>
        <p:blipFill>
          <a:blip r:embed="rId2" cstate="print"/>
          <a:srcRect/>
          <a:stretch>
            <a:fillRect/>
          </a:stretch>
        </p:blipFill>
        <p:spPr bwMode="auto">
          <a:xfrm>
            <a:off x="4800600" y="1752600"/>
            <a:ext cx="4015238" cy="3580952"/>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SAN Layers</a:t>
            </a:r>
            <a:endParaRPr lang="en-US" dirty="0"/>
          </a:p>
        </p:txBody>
      </p:sp>
      <p:sp>
        <p:nvSpPr>
          <p:cNvPr id="3" name="Content Placeholder 2"/>
          <p:cNvSpPr>
            <a:spLocks noGrp="1"/>
          </p:cNvSpPr>
          <p:nvPr>
            <p:ph idx="1"/>
          </p:nvPr>
        </p:nvSpPr>
        <p:spPr>
          <a:xfrm>
            <a:off x="457200" y="1600200"/>
            <a:ext cx="5638800" cy="4525963"/>
          </a:xfrm>
        </p:spPr>
        <p:txBody>
          <a:bodyPr/>
          <a:lstStyle/>
          <a:p>
            <a:r>
              <a:rPr lang="en-US" sz="1800" dirty="0" smtClean="0"/>
              <a:t>A SAN is generally perceived as a series of three distinct layers: a host layer, a fabric layer and a storage layer.</a:t>
            </a:r>
          </a:p>
          <a:p>
            <a:r>
              <a:rPr lang="en-US" sz="1800" i="1" dirty="0" smtClean="0">
                <a:solidFill>
                  <a:srgbClr val="C00000"/>
                </a:solidFill>
              </a:rPr>
              <a:t>Host layer</a:t>
            </a:r>
            <a:r>
              <a:rPr lang="en-US" sz="1800" dirty="0" smtClean="0"/>
              <a:t>. The host layer represents the servers that are attached to the SAN. In most cases, the hosts -- servers -- are running enterprise workloads, such as databases, that require access to storage.</a:t>
            </a:r>
          </a:p>
          <a:p>
            <a:r>
              <a:rPr lang="en-US" sz="1800" i="1" dirty="0" smtClean="0">
                <a:solidFill>
                  <a:srgbClr val="C00000"/>
                </a:solidFill>
              </a:rPr>
              <a:t>Fabric layer</a:t>
            </a:r>
            <a:r>
              <a:rPr lang="en-US" sz="1800" dirty="0" smtClean="0"/>
              <a:t>. The fabric layer represents the </a:t>
            </a:r>
            <a:r>
              <a:rPr lang="en-US" sz="1800" u="sng" dirty="0" smtClean="0"/>
              <a:t>cabling</a:t>
            </a:r>
            <a:r>
              <a:rPr lang="en-US" sz="1800" dirty="0" smtClean="0"/>
              <a:t> and </a:t>
            </a:r>
            <a:r>
              <a:rPr lang="en-US" sz="1800" u="sng" dirty="0" smtClean="0"/>
              <a:t>network devices</a:t>
            </a:r>
            <a:r>
              <a:rPr lang="en-US" sz="1800" dirty="0" smtClean="0"/>
              <a:t> that comprise the network fabric that interconnects the SAN hosts and SAN storage.</a:t>
            </a:r>
          </a:p>
          <a:p>
            <a:r>
              <a:rPr lang="en-US" sz="1800" i="1" dirty="0" smtClean="0">
                <a:solidFill>
                  <a:srgbClr val="C00000"/>
                </a:solidFill>
              </a:rPr>
              <a:t>Storage layer</a:t>
            </a:r>
            <a:r>
              <a:rPr lang="en-US" sz="1800" dirty="0" smtClean="0"/>
              <a:t>. The storage layer is comprised of the various </a:t>
            </a:r>
            <a:r>
              <a:rPr lang="en-US" sz="1800" u="sng" dirty="0" smtClean="0"/>
              <a:t>storage devices</a:t>
            </a:r>
            <a:r>
              <a:rPr lang="en-US" sz="1800" dirty="0" smtClean="0"/>
              <a:t> collected into various storage pools, tiers or types. Storage typically involves traditional magnetic HDDs but can also include SSDs along with optical media devices, such as CD and DVD drives, and tape drives. </a:t>
            </a:r>
            <a:endParaRPr lang="en-US" sz="1800" dirty="0"/>
          </a:p>
        </p:txBody>
      </p:sp>
      <p:pic>
        <p:nvPicPr>
          <p:cNvPr id="4" name="Picture 2"/>
          <p:cNvPicPr>
            <a:picLocks noChangeAspect="1" noChangeArrowheads="1"/>
          </p:cNvPicPr>
          <p:nvPr/>
        </p:nvPicPr>
        <p:blipFill>
          <a:blip r:embed="rId2" cstate="print"/>
          <a:srcRect/>
          <a:stretch>
            <a:fillRect/>
          </a:stretch>
        </p:blipFill>
        <p:spPr bwMode="auto">
          <a:xfrm>
            <a:off x="6183725" y="2606124"/>
            <a:ext cx="2579275" cy="2270676"/>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Fibre</a:t>
            </a:r>
            <a:r>
              <a:rPr lang="en-US" dirty="0" smtClean="0"/>
              <a:t> Channel</a:t>
            </a:r>
            <a:endParaRPr lang="en-US" dirty="0"/>
          </a:p>
        </p:txBody>
      </p:sp>
      <p:sp>
        <p:nvSpPr>
          <p:cNvPr id="3" name="Content Placeholder 2"/>
          <p:cNvSpPr>
            <a:spLocks noGrp="1"/>
          </p:cNvSpPr>
          <p:nvPr>
            <p:ph idx="1"/>
          </p:nvPr>
        </p:nvSpPr>
        <p:spPr>
          <a:xfrm>
            <a:off x="457200" y="1600200"/>
            <a:ext cx="5334000" cy="4525963"/>
          </a:xfrm>
        </p:spPr>
        <p:txBody>
          <a:bodyPr/>
          <a:lstStyle/>
          <a:p>
            <a:r>
              <a:rPr lang="en-US" sz="2400" dirty="0" smtClean="0"/>
              <a:t>FC is a high-speed network noted for its high throughput and low latency, offering data rates up to 128 </a:t>
            </a:r>
            <a:r>
              <a:rPr lang="en-US" sz="2400" dirty="0" err="1" smtClean="0"/>
              <a:t>Gbps</a:t>
            </a:r>
            <a:r>
              <a:rPr lang="en-US" sz="2400" dirty="0" smtClean="0"/>
              <a:t> across metropolitan area distances -- up to about 6 miles or 10 km -- when optical fiber cabling and interfaces are used.</a:t>
            </a:r>
          </a:p>
          <a:p>
            <a:r>
              <a:rPr lang="en-US" sz="2400" dirty="0" smtClean="0"/>
              <a:t>FC is implemented by deploying FC host bus adapters (HBAs) in each server, storage or FC network switches or other network devices.</a:t>
            </a:r>
            <a:endParaRPr lang="en-US" sz="2400" dirty="0"/>
          </a:p>
        </p:txBody>
      </p:sp>
      <p:pic>
        <p:nvPicPr>
          <p:cNvPr id="32770" name="Picture 2" descr="https://www.backblaze.com/blog/wp-content/uploads/2021/01/bb-bh-SAN.jpg"/>
          <p:cNvPicPr>
            <a:picLocks noChangeAspect="1" noChangeArrowheads="1"/>
          </p:cNvPicPr>
          <p:nvPr/>
        </p:nvPicPr>
        <p:blipFill>
          <a:blip r:embed="rId2" cstate="print"/>
          <a:srcRect/>
          <a:stretch>
            <a:fillRect/>
          </a:stretch>
        </p:blipFill>
        <p:spPr bwMode="auto">
          <a:xfrm>
            <a:off x="6096000" y="1752600"/>
            <a:ext cx="2743200" cy="31242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SAN Architecture</a:t>
            </a:r>
            <a:endParaRPr lang="en-US" dirty="0"/>
          </a:p>
        </p:txBody>
      </p:sp>
      <p:sp>
        <p:nvSpPr>
          <p:cNvPr id="3" name="Content Placeholder 2"/>
          <p:cNvSpPr>
            <a:spLocks noGrp="1"/>
          </p:cNvSpPr>
          <p:nvPr>
            <p:ph idx="1"/>
          </p:nvPr>
        </p:nvSpPr>
        <p:spPr>
          <a:xfrm>
            <a:off x="457200" y="1600200"/>
            <a:ext cx="3733800" cy="4525963"/>
          </a:xfrm>
        </p:spPr>
        <p:txBody>
          <a:bodyPr/>
          <a:lstStyle/>
          <a:p>
            <a:r>
              <a:rPr lang="en-US" sz="2400" dirty="0" smtClean="0"/>
              <a:t>The SAN switch receives a data packet, determines the source and destination of the packet and then forwards that packet to the intended destination device.</a:t>
            </a:r>
          </a:p>
          <a:p>
            <a:endParaRPr lang="en-US" sz="2400" dirty="0"/>
          </a:p>
        </p:txBody>
      </p:sp>
      <p:pic>
        <p:nvPicPr>
          <p:cNvPr id="5" name="Picture 2"/>
          <p:cNvPicPr>
            <a:picLocks noChangeAspect="1" noChangeArrowheads="1"/>
          </p:cNvPicPr>
          <p:nvPr/>
        </p:nvPicPr>
        <p:blipFill>
          <a:blip r:embed="rId2" cstate="print"/>
          <a:srcRect/>
          <a:stretch>
            <a:fillRect/>
          </a:stretch>
        </p:blipFill>
        <p:spPr bwMode="auto">
          <a:xfrm>
            <a:off x="4572000" y="1600200"/>
            <a:ext cx="4298792" cy="378446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DAS vs. NAS vs. SAN</a:t>
            </a:r>
            <a:endParaRPr lang="en-US" dirty="0"/>
          </a:p>
        </p:txBody>
      </p:sp>
      <p:sp>
        <p:nvSpPr>
          <p:cNvPr id="3" name="Content Placeholder 2"/>
          <p:cNvSpPr>
            <a:spLocks noGrp="1"/>
          </p:cNvSpPr>
          <p:nvPr>
            <p:ph idx="1"/>
          </p:nvPr>
        </p:nvSpPr>
        <p:spPr>
          <a:xfrm>
            <a:off x="457200" y="1600200"/>
            <a:ext cx="4038600" cy="4525963"/>
          </a:xfrm>
        </p:spPr>
        <p:txBody>
          <a:bodyPr/>
          <a:lstStyle/>
          <a:p>
            <a:r>
              <a:rPr lang="en-US" sz="1800" dirty="0" smtClean="0"/>
              <a:t>Block storage splits storage volumes—like hard disks, virtual storage nodes, or pools of cloud storage—into smaller volumes known as blocks, each of which can be formatted with different protocols.</a:t>
            </a:r>
          </a:p>
          <a:p>
            <a:r>
              <a:rPr lang="en-US" sz="1800" dirty="0" smtClean="0"/>
              <a:t>For example, 1 block can be formatted for NFS, another can be formatted for AFP, and a third can be formatted for SMB. This gives users more flexibility, but also makes navigating the blocks harder since they're bundles data together using arbitrary classifications.</a:t>
            </a:r>
            <a:endParaRPr lang="en-US" sz="1800" dirty="0"/>
          </a:p>
        </p:txBody>
      </p:sp>
      <p:pic>
        <p:nvPicPr>
          <p:cNvPr id="30722" name="Picture 2" descr="https://blog.vinahost.vn/wp-content/uploads/2020/08/N-before-S-e1598580398711.jpg"/>
          <p:cNvPicPr>
            <a:picLocks noChangeAspect="1" noChangeArrowheads="1"/>
          </p:cNvPicPr>
          <p:nvPr/>
        </p:nvPicPr>
        <p:blipFill>
          <a:blip r:embed="rId2" cstate="print"/>
          <a:srcRect/>
          <a:stretch>
            <a:fillRect/>
          </a:stretch>
        </p:blipFill>
        <p:spPr bwMode="auto">
          <a:xfrm>
            <a:off x="4572000" y="1752600"/>
            <a:ext cx="4286250" cy="3238501"/>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VMware </a:t>
            </a:r>
            <a:r>
              <a:rPr lang="en-US" dirty="0" err="1" smtClean="0"/>
              <a:t>vSAN</a:t>
            </a:r>
            <a:endParaRPr lang="en-US" dirty="0"/>
          </a:p>
        </p:txBody>
      </p:sp>
      <p:sp>
        <p:nvSpPr>
          <p:cNvPr id="3" name="Content Placeholder 2"/>
          <p:cNvSpPr>
            <a:spLocks noGrp="1"/>
          </p:cNvSpPr>
          <p:nvPr>
            <p:ph idx="1"/>
          </p:nvPr>
        </p:nvSpPr>
        <p:spPr/>
        <p:txBody>
          <a:bodyPr/>
          <a:lstStyle/>
          <a:p>
            <a:r>
              <a:rPr lang="en-US" sz="2200" dirty="0" smtClean="0">
                <a:hlinkClick r:id="rId2"/>
              </a:rPr>
              <a:t>https://docs.vmware.com/en/VMware-vSAN/index.html</a:t>
            </a:r>
            <a:endParaRPr lang="en-US" sz="2200" dirty="0" smtClean="0"/>
          </a:p>
          <a:p>
            <a:r>
              <a:rPr lang="en-US" sz="2200" dirty="0" smtClean="0"/>
              <a:t>VMware </a:t>
            </a:r>
            <a:r>
              <a:rPr lang="en-US" sz="2200" dirty="0" err="1" smtClean="0"/>
              <a:t>vSAN</a:t>
            </a:r>
            <a:r>
              <a:rPr lang="en-US" sz="2200" dirty="0" smtClean="0"/>
              <a:t> is a software-defined, enterprise storage solution.</a:t>
            </a:r>
          </a:p>
          <a:p>
            <a:r>
              <a:rPr lang="en-US" sz="2200" dirty="0" err="1" smtClean="0"/>
              <a:t>vSAN</a:t>
            </a:r>
            <a:r>
              <a:rPr lang="en-US" sz="2200" dirty="0" smtClean="0"/>
              <a:t> aggregates local or direct-attached data storage devices to create a single storage pool shared across all hosts in a </a:t>
            </a:r>
            <a:r>
              <a:rPr lang="en-US" sz="2200" dirty="0" err="1" smtClean="0"/>
              <a:t>vSAN</a:t>
            </a:r>
            <a:r>
              <a:rPr lang="en-US" sz="2200" dirty="0" smtClean="0"/>
              <a:t> cluster.</a:t>
            </a:r>
          </a:p>
          <a:p>
            <a:r>
              <a:rPr lang="en-US" sz="2200" dirty="0" err="1" smtClean="0"/>
              <a:t>vSAN</a:t>
            </a:r>
            <a:r>
              <a:rPr lang="en-US" sz="2200" dirty="0" smtClean="0"/>
              <a:t> eliminates the need for external shared storage.</a:t>
            </a:r>
            <a:endParaRPr lang="en-US" sz="2200" dirty="0"/>
          </a:p>
        </p:txBody>
      </p:sp>
      <p:pic>
        <p:nvPicPr>
          <p:cNvPr id="54276" name="Picture 4" descr="https://docs.vmware.com/en/VMware-vSAN/images/GUID-1D1BC1AE-2DFA-4FA5-B4A8-4E02672C4980-low.png"/>
          <p:cNvPicPr>
            <a:picLocks noChangeAspect="1" noChangeArrowheads="1"/>
          </p:cNvPicPr>
          <p:nvPr/>
        </p:nvPicPr>
        <p:blipFill>
          <a:blip r:embed="rId3" cstate="print"/>
          <a:srcRect/>
          <a:stretch>
            <a:fillRect/>
          </a:stretch>
        </p:blipFill>
        <p:spPr bwMode="auto">
          <a:xfrm>
            <a:off x="2514600" y="3962400"/>
            <a:ext cx="3596952" cy="230144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Storage Services</a:t>
            </a:r>
            <a:endParaRPr lang="en-US" dirty="0"/>
          </a:p>
        </p:txBody>
      </p:sp>
      <p:sp>
        <p:nvSpPr>
          <p:cNvPr id="3" name="Content Placeholder 2"/>
          <p:cNvSpPr>
            <a:spLocks noGrp="1"/>
          </p:cNvSpPr>
          <p:nvPr>
            <p:ph idx="1"/>
          </p:nvPr>
        </p:nvSpPr>
        <p:spPr/>
        <p:txBody>
          <a:bodyPr/>
          <a:lstStyle/>
          <a:p>
            <a:pPr marL="571500" indent="-571500">
              <a:buFont typeface="+mj-lt"/>
              <a:buAutoNum type="romanUcPeriod"/>
            </a:pPr>
            <a:r>
              <a:rPr lang="en-US" dirty="0" smtClean="0"/>
              <a:t>Block storage services.</a:t>
            </a:r>
          </a:p>
          <a:p>
            <a:pPr marL="571500" indent="-571500">
              <a:buFont typeface="+mj-lt"/>
              <a:buAutoNum type="romanUcPeriod"/>
            </a:pPr>
            <a:r>
              <a:rPr lang="en-US" dirty="0" smtClean="0"/>
              <a:t>File storage services.</a:t>
            </a:r>
          </a:p>
          <a:p>
            <a:pPr marL="571500" indent="-571500">
              <a:buFont typeface="+mj-lt"/>
              <a:buAutoNum type="romanUcPeriod"/>
            </a:pPr>
            <a:r>
              <a:rPr lang="en-US" dirty="0" smtClean="0"/>
              <a:t>Object storage services.</a:t>
            </a:r>
          </a:p>
          <a:p>
            <a:pPr marL="571500" indent="-571500">
              <a:buFont typeface="+mj-lt"/>
              <a:buAutoNum type="romanUcPeriod"/>
            </a:pPr>
            <a:r>
              <a:rPr lang="en-US" dirty="0" smtClean="0"/>
              <a:t>Relational database services.</a:t>
            </a:r>
          </a:p>
          <a:p>
            <a:pPr marL="571500" indent="-571500">
              <a:buFont typeface="+mj-lt"/>
              <a:buAutoNum type="romanUcPeriod"/>
            </a:pPr>
            <a:r>
              <a:rPr lang="en-US" dirty="0" err="1" smtClean="0"/>
              <a:t>NoSQL</a:t>
            </a:r>
            <a:r>
              <a:rPr lang="en-US" dirty="0" smtClean="0"/>
              <a:t> storage services.</a:t>
            </a:r>
          </a:p>
          <a:p>
            <a:pPr marL="571500" indent="-571500">
              <a:buFont typeface="+mj-lt"/>
              <a:buAutoNum type="romanUcPeriod"/>
            </a:pPr>
            <a:r>
              <a:rPr lang="en-US" dirty="0" smtClean="0"/>
              <a:t>Vector </a:t>
            </a:r>
            <a:r>
              <a:rPr lang="en-US" smtClean="0"/>
              <a:t>storage services.</a:t>
            </a:r>
            <a:endParaRPr lang="en-US" dirty="0" smtClean="0"/>
          </a:p>
          <a:p>
            <a:pPr marL="571500" indent="-571500">
              <a:buFont typeface="+mj-lt"/>
              <a:buAutoNum type="romanUcPeriod"/>
            </a:pPr>
            <a:endParaRPr lang="en-US"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Storage </a:t>
            </a:r>
            <a:r>
              <a:rPr lang="en-US" dirty="0" smtClean="0"/>
              <a:t>Services</a:t>
            </a:r>
            <a:endParaRPr lang="en-US" dirty="0"/>
          </a:p>
        </p:txBody>
      </p:sp>
      <p:sp>
        <p:nvSpPr>
          <p:cNvPr id="3" name="Content Placeholder 2"/>
          <p:cNvSpPr>
            <a:spLocks noGrp="1"/>
          </p:cNvSpPr>
          <p:nvPr>
            <p:ph idx="1"/>
          </p:nvPr>
        </p:nvSpPr>
        <p:spPr/>
        <p:txBody>
          <a:bodyPr/>
          <a:lstStyle/>
          <a:p>
            <a:r>
              <a:rPr lang="en-US" sz="2400" dirty="0" smtClean="0"/>
              <a:t>Volumes/Virtual disks</a:t>
            </a:r>
          </a:p>
          <a:p>
            <a:r>
              <a:rPr lang="en-US" sz="2400" dirty="0" smtClean="0"/>
              <a:t>Provided by local machine or NAS or cloud.</a:t>
            </a:r>
          </a:p>
          <a:p>
            <a:r>
              <a:rPr lang="en-US" sz="2400" dirty="0" smtClean="0"/>
              <a:t>Formatted for </a:t>
            </a:r>
            <a:r>
              <a:rPr lang="en-US" sz="2400" b="1" dirty="0" smtClean="0"/>
              <a:t>creating a </a:t>
            </a:r>
            <a:r>
              <a:rPr lang="en-US" sz="2400" b="1" dirty="0" err="1" smtClean="0"/>
              <a:t>filesystem</a:t>
            </a:r>
            <a:r>
              <a:rPr lang="en-US" sz="2400" dirty="0" smtClean="0"/>
              <a:t> (ext4, NTFS, ZFS) on top of those blocks to organize files.</a:t>
            </a:r>
          </a:p>
          <a:p>
            <a:endParaRPr lang="en-US" sz="2400" dirty="0" smtClean="0"/>
          </a:p>
        </p:txBody>
      </p:sp>
      <p:pic>
        <p:nvPicPr>
          <p:cNvPr id="45058" name="Picture 2" descr="https://www.redhat.com/cms/managed-files/styles/wysiwyg_float/s3/blockStorage_orange_320x242_0.png?itok=tyD6cRlY"/>
          <p:cNvPicPr>
            <a:picLocks noChangeAspect="1" noChangeArrowheads="1"/>
          </p:cNvPicPr>
          <p:nvPr/>
        </p:nvPicPr>
        <p:blipFill>
          <a:blip r:embed="rId2" cstate="print"/>
          <a:srcRect/>
          <a:stretch>
            <a:fillRect/>
          </a:stretch>
        </p:blipFill>
        <p:spPr bwMode="auto">
          <a:xfrm>
            <a:off x="3124200" y="3886200"/>
            <a:ext cx="3048000" cy="230505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Example: Amazon Elastic Block Store (EBS)</a:t>
            </a:r>
            <a:endParaRPr lang="en-US" dirty="0"/>
          </a:p>
        </p:txBody>
      </p:sp>
      <p:sp>
        <p:nvSpPr>
          <p:cNvPr id="3" name="Content Placeholder 2"/>
          <p:cNvSpPr>
            <a:spLocks noGrp="1"/>
          </p:cNvSpPr>
          <p:nvPr>
            <p:ph idx="1"/>
          </p:nvPr>
        </p:nvSpPr>
        <p:spPr/>
        <p:txBody>
          <a:bodyPr/>
          <a:lstStyle/>
          <a:p>
            <a:r>
              <a:rPr lang="en-US" sz="1800" dirty="0" smtClean="0">
                <a:hlinkClick r:id="rId2"/>
              </a:rPr>
              <a:t>https://aws.amazon.com/ebs/</a:t>
            </a:r>
            <a:endParaRPr lang="en-US" sz="1800" dirty="0" smtClean="0"/>
          </a:p>
          <a:p>
            <a:r>
              <a:rPr lang="en-US" sz="1800" dirty="0" smtClean="0"/>
              <a:t> Easy to use, high performance block storage at any scale.</a:t>
            </a:r>
          </a:p>
          <a:p>
            <a:r>
              <a:rPr lang="en-US" sz="1600" dirty="0" smtClean="0">
                <a:hlinkClick r:id="rId3"/>
              </a:rPr>
              <a:t>https://docs.aws.amazon.com/AWSEC2/latest/UserGuide/volume_constraints.html</a:t>
            </a:r>
            <a:endParaRPr lang="en-US" sz="1600" dirty="0" smtClean="0"/>
          </a:p>
          <a:p>
            <a:r>
              <a:rPr lang="en-US" sz="1800" dirty="0" smtClean="0"/>
              <a:t>Amazon EBS abstracts the massively distributed storage of a data center into virtual hard disk drives.</a:t>
            </a:r>
            <a:endParaRPr lang="en-US" sz="1800" dirty="0"/>
          </a:p>
        </p:txBody>
      </p:sp>
      <p:graphicFrame>
        <p:nvGraphicFramePr>
          <p:cNvPr id="5" name="Table 4"/>
          <p:cNvGraphicFramePr>
            <a:graphicFrameLocks noGrp="1"/>
          </p:cNvGraphicFramePr>
          <p:nvPr/>
        </p:nvGraphicFramePr>
        <p:xfrm>
          <a:off x="152400" y="3738882"/>
          <a:ext cx="8839200" cy="2448558"/>
        </p:xfrm>
        <a:graphic>
          <a:graphicData uri="http://schemas.openxmlformats.org/drawingml/2006/table">
            <a:tbl>
              <a:tblPr>
                <a:tableStyleId>{3C2FFA5D-87B4-456A-9821-1D502468CF0F}</a:tableStyleId>
              </a:tblPr>
              <a:tblGrid>
                <a:gridCol w="1133232"/>
                <a:gridCol w="1208779"/>
                <a:gridCol w="1385060"/>
                <a:gridCol w="1334694"/>
                <a:gridCol w="1284328"/>
                <a:gridCol w="1284328"/>
                <a:gridCol w="1208779"/>
              </a:tblGrid>
              <a:tr h="988378">
                <a:tc>
                  <a:txBody>
                    <a:bodyPr/>
                    <a:lstStyle/>
                    <a:p>
                      <a:r>
                        <a:rPr lang="en-US" sz="1600" dirty="0"/>
                        <a:t>Partitioning scheme</a:t>
                      </a:r>
                    </a:p>
                  </a:txBody>
                  <a:tcPr marL="84667" marR="84667" marT="42333" marB="42333" anchor="ctr"/>
                </a:tc>
                <a:tc>
                  <a:txBody>
                    <a:bodyPr/>
                    <a:lstStyle/>
                    <a:p>
                      <a:r>
                        <a:rPr lang="en-US" sz="1600"/>
                        <a:t>Max addressable blocks </a:t>
                      </a:r>
                    </a:p>
                  </a:txBody>
                  <a:tcPr marL="84667" marR="84667" marT="42333" marB="42333" anchor="ctr"/>
                </a:tc>
                <a:tc>
                  <a:txBody>
                    <a:bodyPr/>
                    <a:lstStyle/>
                    <a:p>
                      <a:r>
                        <a:rPr lang="en-US" sz="1600" dirty="0"/>
                        <a:t>Theoretical max size (blocks × block size)</a:t>
                      </a:r>
                    </a:p>
                  </a:txBody>
                  <a:tcPr marL="84667" marR="84667" marT="42333" marB="42333" anchor="ctr"/>
                </a:tc>
                <a:tc>
                  <a:txBody>
                    <a:bodyPr/>
                    <a:lstStyle/>
                    <a:p>
                      <a:r>
                        <a:rPr lang="en-US" sz="1600" dirty="0"/>
                        <a:t>Ext4 implemented max </a:t>
                      </a:r>
                      <a:r>
                        <a:rPr lang="en-US" sz="1600" dirty="0" smtClean="0"/>
                        <a:t>size</a:t>
                      </a:r>
                      <a:endParaRPr lang="en-US" sz="1600" dirty="0"/>
                    </a:p>
                  </a:txBody>
                  <a:tcPr marL="84667" marR="84667" marT="42333" marB="42333" anchor="ctr"/>
                </a:tc>
                <a:tc>
                  <a:txBody>
                    <a:bodyPr/>
                    <a:lstStyle/>
                    <a:p>
                      <a:r>
                        <a:rPr lang="en-US" sz="1600" dirty="0"/>
                        <a:t>XFS implemented max </a:t>
                      </a:r>
                      <a:r>
                        <a:rPr lang="en-US" sz="1600" dirty="0" smtClean="0"/>
                        <a:t>size</a:t>
                      </a:r>
                      <a:endParaRPr lang="en-US" sz="1600" dirty="0"/>
                    </a:p>
                  </a:txBody>
                  <a:tcPr marL="84667" marR="84667" marT="42333" marB="42333" anchor="ctr"/>
                </a:tc>
                <a:tc>
                  <a:txBody>
                    <a:bodyPr/>
                    <a:lstStyle/>
                    <a:p>
                      <a:r>
                        <a:rPr lang="en-US" sz="1600"/>
                        <a:t>NTFS implemented max size</a:t>
                      </a:r>
                    </a:p>
                  </a:txBody>
                  <a:tcPr marL="84667" marR="84667" marT="42333" marB="42333" anchor="ctr"/>
                </a:tc>
                <a:tc>
                  <a:txBody>
                    <a:bodyPr/>
                    <a:lstStyle/>
                    <a:p>
                      <a:r>
                        <a:rPr lang="en-US" sz="1600" dirty="0"/>
                        <a:t>Max supported by EBS</a:t>
                      </a:r>
                    </a:p>
                  </a:txBody>
                  <a:tcPr marL="84667" marR="84667" marT="42333" marB="42333" anchor="ctr"/>
                </a:tc>
              </a:tr>
              <a:tr h="303082">
                <a:tc>
                  <a:txBody>
                    <a:bodyPr/>
                    <a:lstStyle/>
                    <a:p>
                      <a:r>
                        <a:rPr lang="en-US" sz="1600"/>
                        <a:t>MBR</a:t>
                      </a:r>
                    </a:p>
                  </a:txBody>
                  <a:tcPr marL="84667" marR="84667" marT="42333" marB="42333" anchor="ctr"/>
                </a:tc>
                <a:tc>
                  <a:txBody>
                    <a:bodyPr/>
                    <a:lstStyle/>
                    <a:p>
                      <a:r>
                        <a:rPr lang="en-US" sz="1600"/>
                        <a:t>2</a:t>
                      </a:r>
                      <a:r>
                        <a:rPr lang="en-US" sz="1600" baseline="30000"/>
                        <a:t>32</a:t>
                      </a:r>
                      <a:endParaRPr lang="en-US" sz="1600"/>
                    </a:p>
                  </a:txBody>
                  <a:tcPr marL="84667" marR="84667" marT="42333" marB="42333" anchor="ctr"/>
                </a:tc>
                <a:tc>
                  <a:txBody>
                    <a:bodyPr/>
                    <a:lstStyle/>
                    <a:p>
                      <a:r>
                        <a:rPr lang="en-US" sz="1600" dirty="0"/>
                        <a:t>2 </a:t>
                      </a:r>
                      <a:r>
                        <a:rPr lang="en-US" sz="1600" dirty="0" err="1"/>
                        <a:t>TiB</a:t>
                      </a:r>
                      <a:endParaRPr lang="en-US" sz="1600" dirty="0"/>
                    </a:p>
                  </a:txBody>
                  <a:tcPr marL="84667" marR="84667" marT="42333" marB="42333" anchor="ctr"/>
                </a:tc>
                <a:tc>
                  <a:txBody>
                    <a:bodyPr/>
                    <a:lstStyle/>
                    <a:p>
                      <a:r>
                        <a:rPr lang="en-US" sz="1600"/>
                        <a:t>2 TiB</a:t>
                      </a:r>
                    </a:p>
                  </a:txBody>
                  <a:tcPr marL="84667" marR="84667" marT="42333" marB="42333" anchor="ctr"/>
                </a:tc>
                <a:tc>
                  <a:txBody>
                    <a:bodyPr/>
                    <a:lstStyle/>
                    <a:p>
                      <a:r>
                        <a:rPr lang="en-US" sz="1600"/>
                        <a:t>2 TiB</a:t>
                      </a:r>
                    </a:p>
                  </a:txBody>
                  <a:tcPr marL="84667" marR="84667" marT="42333" marB="42333" anchor="ctr"/>
                </a:tc>
                <a:tc>
                  <a:txBody>
                    <a:bodyPr/>
                    <a:lstStyle/>
                    <a:p>
                      <a:r>
                        <a:rPr lang="en-US" sz="1600"/>
                        <a:t>2 TiB</a:t>
                      </a:r>
                    </a:p>
                  </a:txBody>
                  <a:tcPr marL="84667" marR="84667" marT="42333" marB="42333" anchor="ctr"/>
                </a:tc>
                <a:tc>
                  <a:txBody>
                    <a:bodyPr/>
                    <a:lstStyle/>
                    <a:p>
                      <a:r>
                        <a:rPr lang="en-US" sz="1600" dirty="0"/>
                        <a:t>2 </a:t>
                      </a:r>
                      <a:r>
                        <a:rPr lang="en-US" sz="1600" dirty="0" err="1"/>
                        <a:t>TiB</a:t>
                      </a:r>
                      <a:endParaRPr lang="en-US" sz="1600" dirty="0"/>
                    </a:p>
                  </a:txBody>
                  <a:tcPr marL="84667" marR="84667" marT="42333" marB="42333" anchor="ctr"/>
                </a:tc>
              </a:tr>
              <a:tr h="765939">
                <a:tc>
                  <a:txBody>
                    <a:bodyPr/>
                    <a:lstStyle/>
                    <a:p>
                      <a:r>
                        <a:rPr lang="en-US" sz="1600"/>
                        <a:t>GPT</a:t>
                      </a:r>
                    </a:p>
                  </a:txBody>
                  <a:tcPr marL="84667" marR="84667" marT="42333" marB="42333" anchor="ctr"/>
                </a:tc>
                <a:tc>
                  <a:txBody>
                    <a:bodyPr/>
                    <a:lstStyle/>
                    <a:p>
                      <a:r>
                        <a:rPr lang="en-US" sz="1600" dirty="0"/>
                        <a:t>2</a:t>
                      </a:r>
                      <a:r>
                        <a:rPr lang="en-US" sz="1600" baseline="30000" dirty="0"/>
                        <a:t>64</a:t>
                      </a:r>
                      <a:endParaRPr lang="en-US" sz="1600" dirty="0"/>
                    </a:p>
                  </a:txBody>
                  <a:tcPr marL="84667" marR="84667" marT="42333" marB="42333" anchor="ctr"/>
                </a:tc>
                <a:tc>
                  <a:txBody>
                    <a:bodyPr/>
                    <a:lstStyle/>
                    <a:p>
                      <a:r>
                        <a:rPr lang="en-US" sz="1600" dirty="0"/>
                        <a:t>64 </a:t>
                      </a:r>
                      <a:r>
                        <a:rPr lang="en-US" sz="1600" dirty="0" err="1"/>
                        <a:t>ZiB</a:t>
                      </a:r>
                      <a:endParaRPr lang="en-US" sz="1600" dirty="0"/>
                    </a:p>
                  </a:txBody>
                  <a:tcPr marL="84667" marR="84667" marT="42333" marB="42333" anchor="ctr"/>
                </a:tc>
                <a:tc>
                  <a:txBody>
                    <a:bodyPr/>
                    <a:lstStyle/>
                    <a:p>
                      <a:r>
                        <a:rPr lang="en-US" sz="1600" dirty="0"/>
                        <a:t>1 </a:t>
                      </a:r>
                      <a:r>
                        <a:rPr lang="en-US" sz="1600" dirty="0" err="1"/>
                        <a:t>EiB</a:t>
                      </a:r>
                      <a:r>
                        <a:rPr lang="en-US" sz="1600" dirty="0"/>
                        <a:t> =</a:t>
                      </a:r>
                    </a:p>
                    <a:p>
                      <a:r>
                        <a:rPr lang="en-US" sz="1600" dirty="0"/>
                        <a:t>1024</a:t>
                      </a:r>
                      <a:r>
                        <a:rPr lang="en-US" sz="1600" baseline="30000" dirty="0"/>
                        <a:t>2</a:t>
                      </a:r>
                      <a:r>
                        <a:rPr lang="en-US" sz="1600" dirty="0"/>
                        <a:t> </a:t>
                      </a:r>
                      <a:r>
                        <a:rPr lang="en-US" sz="1600" dirty="0" err="1"/>
                        <a:t>TiB</a:t>
                      </a:r>
                      <a:r>
                        <a:rPr lang="en-US" sz="1600" dirty="0"/>
                        <a:t> (50 </a:t>
                      </a:r>
                      <a:r>
                        <a:rPr lang="en-US" sz="1600" dirty="0" err="1"/>
                        <a:t>TiB</a:t>
                      </a:r>
                      <a:r>
                        <a:rPr lang="en-US" sz="1600" dirty="0"/>
                        <a:t> certified on RHEL7)</a:t>
                      </a:r>
                    </a:p>
                  </a:txBody>
                  <a:tcPr marL="84667" marR="84667" marT="42333" marB="42333" anchor="ctr"/>
                </a:tc>
                <a:tc>
                  <a:txBody>
                    <a:bodyPr/>
                    <a:lstStyle/>
                    <a:p>
                      <a:r>
                        <a:rPr lang="en-US" sz="1600"/>
                        <a:t>500 TiB</a:t>
                      </a:r>
                    </a:p>
                    <a:p>
                      <a:r>
                        <a:rPr lang="en-US" sz="1600"/>
                        <a:t>(certified on RHEL7)</a:t>
                      </a:r>
                    </a:p>
                  </a:txBody>
                  <a:tcPr marL="84667" marR="84667" marT="42333" marB="42333" anchor="ctr"/>
                </a:tc>
                <a:tc>
                  <a:txBody>
                    <a:bodyPr/>
                    <a:lstStyle/>
                    <a:p>
                      <a:r>
                        <a:rPr lang="en-US" sz="1600" dirty="0"/>
                        <a:t>256 </a:t>
                      </a:r>
                      <a:r>
                        <a:rPr lang="en-US" sz="1600" dirty="0" err="1"/>
                        <a:t>TiB</a:t>
                      </a:r>
                      <a:endParaRPr lang="en-US" sz="1600" dirty="0"/>
                    </a:p>
                  </a:txBody>
                  <a:tcPr marL="84667" marR="84667" marT="42333" marB="42333" anchor="ctr"/>
                </a:tc>
                <a:tc>
                  <a:txBody>
                    <a:bodyPr/>
                    <a:lstStyle/>
                    <a:p>
                      <a:r>
                        <a:rPr lang="en-US" sz="1600" dirty="0"/>
                        <a:t>64 </a:t>
                      </a:r>
                      <a:r>
                        <a:rPr lang="en-US" sz="1600" dirty="0" err="1"/>
                        <a:t>TiB</a:t>
                      </a:r>
                      <a:endParaRPr lang="en-US" sz="1600" dirty="0"/>
                    </a:p>
                  </a:txBody>
                  <a:tcPr marL="84667" marR="84667" marT="42333" marB="42333" anchor="ct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Storage </a:t>
            </a:r>
            <a:r>
              <a:rPr lang="en-US" dirty="0" smtClean="0"/>
              <a:t>Services</a:t>
            </a:r>
            <a:endParaRPr lang="en-US" dirty="0"/>
          </a:p>
        </p:txBody>
      </p:sp>
      <p:sp>
        <p:nvSpPr>
          <p:cNvPr id="3" name="Content Placeholder 2"/>
          <p:cNvSpPr>
            <a:spLocks noGrp="1"/>
          </p:cNvSpPr>
          <p:nvPr>
            <p:ph idx="1"/>
          </p:nvPr>
        </p:nvSpPr>
        <p:spPr/>
        <p:txBody>
          <a:bodyPr/>
          <a:lstStyle/>
          <a:p>
            <a:r>
              <a:rPr lang="en-US" sz="2400" dirty="0" smtClean="0"/>
              <a:t>Files and Folders.</a:t>
            </a:r>
          </a:p>
          <a:p>
            <a:r>
              <a:rPr lang="en-US" sz="2400" dirty="0" smtClean="0"/>
              <a:t>Provided by local machine or NAS or cloud.</a:t>
            </a:r>
          </a:p>
          <a:p>
            <a:r>
              <a:rPr lang="en-US" sz="2400" dirty="0" smtClean="0"/>
              <a:t>Ready for use.</a:t>
            </a:r>
            <a:endParaRPr lang="en-US" sz="2400" dirty="0"/>
          </a:p>
        </p:txBody>
      </p:sp>
      <p:pic>
        <p:nvPicPr>
          <p:cNvPr id="1026" name="Picture 2" descr="https://www.redhat.com/cms/managed-files/styles/wysiwyg_float/s3/fileStorage_orange_320x242_0.png?itok=yr_KxB0t"/>
          <p:cNvPicPr>
            <a:picLocks noChangeAspect="1" noChangeArrowheads="1"/>
          </p:cNvPicPr>
          <p:nvPr/>
        </p:nvPicPr>
        <p:blipFill>
          <a:blip r:embed="rId2" cstate="print"/>
          <a:srcRect/>
          <a:stretch>
            <a:fillRect/>
          </a:stretch>
        </p:blipFill>
        <p:spPr bwMode="auto">
          <a:xfrm>
            <a:off x="2800350" y="3495675"/>
            <a:ext cx="3524250" cy="1914525"/>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Example: Amazon Elastic File System</a:t>
            </a:r>
            <a:endParaRPr lang="en-US" sz="4200" dirty="0"/>
          </a:p>
        </p:txBody>
      </p:sp>
      <p:sp>
        <p:nvSpPr>
          <p:cNvPr id="3" name="Content Placeholder 2"/>
          <p:cNvSpPr>
            <a:spLocks noGrp="1"/>
          </p:cNvSpPr>
          <p:nvPr>
            <p:ph idx="1"/>
          </p:nvPr>
        </p:nvSpPr>
        <p:spPr/>
        <p:txBody>
          <a:bodyPr/>
          <a:lstStyle/>
          <a:p>
            <a:r>
              <a:rPr lang="en-US" sz="2200" dirty="0" smtClean="0">
                <a:hlinkClick r:id="rId2"/>
              </a:rPr>
              <a:t>https://aws.amazon.com/efs/</a:t>
            </a:r>
            <a:endParaRPr lang="en-US" sz="2200" dirty="0" smtClean="0"/>
          </a:p>
          <a:p>
            <a:r>
              <a:rPr lang="en-US" sz="2200" dirty="0" err="1" smtClean="0"/>
              <a:t>Serverless</a:t>
            </a:r>
            <a:r>
              <a:rPr lang="en-US" sz="2200" dirty="0" smtClean="0"/>
              <a:t>, fully elastic file storage.</a:t>
            </a:r>
          </a:p>
          <a:p>
            <a:endParaRPr lang="en-US" sz="2200" dirty="0" smtClean="0"/>
          </a:p>
          <a:p>
            <a:r>
              <a:rPr lang="en-US" sz="2200" dirty="0" smtClean="0">
                <a:hlinkClick r:id="rId3"/>
              </a:rPr>
              <a:t>https://docs.aws.amazon.com/efs/latest/ug/limits.html</a:t>
            </a:r>
            <a:endParaRPr lang="en-US" sz="2200" dirty="0" smtClean="0"/>
          </a:p>
          <a:p>
            <a:r>
              <a:rPr lang="en-US" sz="2200" dirty="0" smtClean="0"/>
              <a:t>Maximum name length: 255 bytes.</a:t>
            </a:r>
          </a:p>
          <a:p>
            <a:r>
              <a:rPr lang="en-US" sz="2200" dirty="0" smtClean="0"/>
              <a:t>Maximum size of a single file: 52,673,613,135,872 bytes (47.9 </a:t>
            </a:r>
            <a:r>
              <a:rPr lang="en-US" sz="2200" dirty="0" err="1" smtClean="0"/>
              <a:t>TiB</a:t>
            </a:r>
            <a:r>
              <a:rPr lang="en-US" sz="2200" dirty="0" smtClean="0"/>
              <a:t>).</a:t>
            </a:r>
          </a:p>
          <a:p>
            <a:r>
              <a:rPr lang="en-US" sz="2200" dirty="0" smtClean="0"/>
              <a:t>Maximum directory depth: 1,000 levels deep.</a:t>
            </a:r>
          </a:p>
          <a:p>
            <a:r>
              <a:rPr lang="en-US" sz="2200" dirty="0" smtClean="0"/>
              <a:t>Any one particular file can have up to 512 locks across all instances connected and users accessing the file.</a:t>
            </a:r>
          </a:p>
          <a:p>
            <a:endParaRPr lang="en-US" sz="2200"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Storage </a:t>
            </a:r>
            <a:r>
              <a:rPr lang="en-US" dirty="0" smtClean="0"/>
              <a:t>Services</a:t>
            </a:r>
            <a:endParaRPr lang="en-US" dirty="0"/>
          </a:p>
        </p:txBody>
      </p:sp>
      <p:sp>
        <p:nvSpPr>
          <p:cNvPr id="3" name="Content Placeholder 2"/>
          <p:cNvSpPr>
            <a:spLocks noGrp="1"/>
          </p:cNvSpPr>
          <p:nvPr>
            <p:ph idx="1"/>
          </p:nvPr>
        </p:nvSpPr>
        <p:spPr/>
        <p:txBody>
          <a:bodyPr/>
          <a:lstStyle/>
          <a:p>
            <a:r>
              <a:rPr lang="en-US" sz="2000" dirty="0" smtClean="0"/>
              <a:t>Object storage, also known as object-based storage, is a flat structure in which files are broken into pieces and spread out among hardware.</a:t>
            </a:r>
          </a:p>
          <a:p>
            <a:r>
              <a:rPr lang="en-US" sz="2000" dirty="0" smtClean="0"/>
              <a:t>Object storage </a:t>
            </a:r>
            <a:r>
              <a:rPr lang="en-US" sz="2000" i="1" dirty="0" smtClean="0">
                <a:solidFill>
                  <a:srgbClr val="C00000"/>
                </a:solidFill>
              </a:rPr>
              <a:t>volumes</a:t>
            </a:r>
            <a:r>
              <a:rPr lang="en-US" sz="2000" dirty="0" smtClean="0"/>
              <a:t> work as modular units: each is a self-contained repository that owns the data, a unique identifier that allows the object to be found over a distributed system, and the metadata that describes the data.</a:t>
            </a:r>
          </a:p>
        </p:txBody>
      </p:sp>
      <p:sp>
        <p:nvSpPr>
          <p:cNvPr id="6" name="Rectangle 5"/>
          <p:cNvSpPr/>
          <p:nvPr/>
        </p:nvSpPr>
        <p:spPr>
          <a:xfrm>
            <a:off x="4343400" y="3614678"/>
            <a:ext cx="4495800"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Object storage requires a simple </a:t>
            </a:r>
            <a:r>
              <a:rPr lang="en-US" i="1" dirty="0" smtClean="0">
                <a:solidFill>
                  <a:srgbClr val="C00000"/>
                </a:solidFill>
              </a:rPr>
              <a:t>HTTP application programming interface</a:t>
            </a:r>
            <a:r>
              <a:rPr lang="en-US" dirty="0" smtClean="0"/>
              <a:t> (API), which is used by most clients in all languages.</a:t>
            </a:r>
          </a:p>
          <a:p>
            <a:r>
              <a:rPr lang="en-US" dirty="0" smtClean="0"/>
              <a:t>Objects </a:t>
            </a:r>
            <a:r>
              <a:rPr lang="en-US" i="1" dirty="0" smtClean="0">
                <a:solidFill>
                  <a:srgbClr val="C00000"/>
                </a:solidFill>
              </a:rPr>
              <a:t>can’t be modified</a:t>
            </a:r>
            <a:r>
              <a:rPr lang="en-US" dirty="0" smtClean="0"/>
              <a:t>—you have to write the object completely at once.</a:t>
            </a:r>
          </a:p>
          <a:p>
            <a:r>
              <a:rPr lang="en-US" dirty="0" smtClean="0"/>
              <a:t>Object storage also doesn’t work well with traditional databases, because writing objects is a </a:t>
            </a:r>
            <a:r>
              <a:rPr lang="en-US" i="1" dirty="0" smtClean="0">
                <a:solidFill>
                  <a:srgbClr val="C00000"/>
                </a:solidFill>
              </a:rPr>
              <a:t>slow</a:t>
            </a:r>
            <a:r>
              <a:rPr lang="en-US" dirty="0" smtClean="0"/>
              <a:t> process and writing an app to use an object storage API isn’t as simple as using file storage.</a:t>
            </a:r>
          </a:p>
        </p:txBody>
      </p:sp>
      <p:pic>
        <p:nvPicPr>
          <p:cNvPr id="46082" name="Picture 2" descr="https://www.redhat.com/cms/managed-files/styles/wysiwyg_float/s3/objectStorage_orange_360x198_0.png?itok=M7umoDYu"/>
          <p:cNvPicPr>
            <a:picLocks noChangeAspect="1" noChangeArrowheads="1"/>
          </p:cNvPicPr>
          <p:nvPr/>
        </p:nvPicPr>
        <p:blipFill>
          <a:blip r:embed="rId2" cstate="print"/>
          <a:srcRect/>
          <a:stretch>
            <a:fillRect/>
          </a:stretch>
        </p:blipFill>
        <p:spPr bwMode="auto">
          <a:xfrm>
            <a:off x="685800" y="3962400"/>
            <a:ext cx="3438525" cy="1895476"/>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Elements</a:t>
            </a:r>
            <a:endParaRPr lang="en-US" dirty="0"/>
          </a:p>
        </p:txBody>
      </p:sp>
      <p:sp>
        <p:nvSpPr>
          <p:cNvPr id="3" name="Content Placeholder 2"/>
          <p:cNvSpPr>
            <a:spLocks noGrp="1"/>
          </p:cNvSpPr>
          <p:nvPr>
            <p:ph idx="1"/>
          </p:nvPr>
        </p:nvSpPr>
        <p:spPr/>
        <p:txBody>
          <a:bodyPr/>
          <a:lstStyle/>
          <a:p>
            <a:r>
              <a:rPr lang="en-US" sz="2200" dirty="0" smtClean="0"/>
              <a:t>In an object storage, data is stored as objects.</a:t>
            </a:r>
          </a:p>
          <a:p>
            <a:r>
              <a:rPr lang="en-US" sz="2200" dirty="0" smtClean="0"/>
              <a:t>Each object consists of a globally unique identifier, some metadata, and the data itself.</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1301750" y="2895600"/>
            <a:ext cx="6540500" cy="317817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 Amazon Simple Storage Service</a:t>
            </a:r>
            <a:endParaRPr lang="en-US" dirty="0"/>
          </a:p>
        </p:txBody>
      </p:sp>
      <p:sp>
        <p:nvSpPr>
          <p:cNvPr id="3" name="Content Placeholder 2"/>
          <p:cNvSpPr>
            <a:spLocks noGrp="1"/>
          </p:cNvSpPr>
          <p:nvPr>
            <p:ph idx="1"/>
          </p:nvPr>
        </p:nvSpPr>
        <p:spPr/>
        <p:txBody>
          <a:bodyPr/>
          <a:lstStyle/>
          <a:p>
            <a:r>
              <a:rPr lang="en-US" sz="2400" dirty="0" smtClean="0">
                <a:hlinkClick r:id="rId2"/>
              </a:rPr>
              <a:t>https://aws.amazon.com/s3/</a:t>
            </a:r>
            <a:endParaRPr lang="en-US" sz="2400" dirty="0" smtClean="0"/>
          </a:p>
          <a:p>
            <a:r>
              <a:rPr lang="en-US" sz="2400" i="1" dirty="0" smtClean="0">
                <a:solidFill>
                  <a:srgbClr val="C00000"/>
                </a:solidFill>
              </a:rPr>
              <a:t>Amazon Simple Storage Service</a:t>
            </a:r>
            <a:r>
              <a:rPr lang="en-US" sz="2400" dirty="0" smtClean="0"/>
              <a:t> (Amazon S3) is an </a:t>
            </a:r>
            <a:r>
              <a:rPr lang="en-US" sz="2400" u="sng" dirty="0" smtClean="0"/>
              <a:t>object storage</a:t>
            </a:r>
            <a:r>
              <a:rPr lang="en-US" sz="2400" dirty="0" smtClean="0"/>
              <a:t> service offering industry-leading scalability, data availability, security, and performance.</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 Swift</a:t>
            </a:r>
            <a:endParaRPr lang="en-US" dirty="0"/>
          </a:p>
        </p:txBody>
      </p:sp>
      <p:sp>
        <p:nvSpPr>
          <p:cNvPr id="3" name="Content Placeholder 2"/>
          <p:cNvSpPr>
            <a:spLocks noGrp="1"/>
          </p:cNvSpPr>
          <p:nvPr>
            <p:ph idx="1"/>
          </p:nvPr>
        </p:nvSpPr>
        <p:spPr/>
        <p:txBody>
          <a:bodyPr/>
          <a:lstStyle/>
          <a:p>
            <a:r>
              <a:rPr lang="en-US" sz="2400" dirty="0" smtClean="0">
                <a:hlinkClick r:id="rId2"/>
              </a:rPr>
              <a:t>https://docs.openstack.org/swift/latest/</a:t>
            </a:r>
            <a:endParaRPr lang="en-US" sz="2400" dirty="0" smtClean="0"/>
          </a:p>
          <a:p>
            <a:r>
              <a:rPr lang="en-US" sz="2400" i="1" dirty="0" smtClean="0">
                <a:solidFill>
                  <a:srgbClr val="C00000"/>
                </a:solidFill>
              </a:rPr>
              <a:t>Swift</a:t>
            </a:r>
            <a:r>
              <a:rPr lang="en-US" sz="2400" dirty="0" smtClean="0"/>
              <a:t> is a highly available, distributed, eventually consistent </a:t>
            </a:r>
            <a:r>
              <a:rPr lang="en-US" sz="2400" u="sng" dirty="0" smtClean="0"/>
              <a:t>object/blob store</a:t>
            </a:r>
            <a:r>
              <a:rPr lang="en-US" sz="2400" dirty="0" smtClean="0"/>
              <a:t>.</a:t>
            </a:r>
          </a:p>
          <a:p>
            <a:r>
              <a:rPr lang="en-US" sz="2400" dirty="0" smtClean="0"/>
              <a:t>Organizations can use Swift to store lots of data efficiently, safely, and cheaply.</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 RIAK S2</a:t>
            </a:r>
            <a:endParaRPr lang="en-US" dirty="0"/>
          </a:p>
        </p:txBody>
      </p:sp>
      <p:sp>
        <p:nvSpPr>
          <p:cNvPr id="3" name="Content Placeholder 2"/>
          <p:cNvSpPr>
            <a:spLocks noGrp="1"/>
          </p:cNvSpPr>
          <p:nvPr>
            <p:ph idx="1"/>
          </p:nvPr>
        </p:nvSpPr>
        <p:spPr/>
        <p:txBody>
          <a:bodyPr/>
          <a:lstStyle/>
          <a:p>
            <a:r>
              <a:rPr lang="en-US" sz="2400" dirty="0" smtClean="0">
                <a:hlinkClick r:id="rId2"/>
              </a:rPr>
              <a:t>https://riak.com/products/riak-s2/</a:t>
            </a:r>
            <a:endParaRPr lang="en-US" sz="2400" dirty="0" smtClean="0"/>
          </a:p>
          <a:p>
            <a:r>
              <a:rPr lang="en-US" sz="2400" i="1" dirty="0" err="1" smtClean="0">
                <a:solidFill>
                  <a:srgbClr val="C00000"/>
                </a:solidFill>
              </a:rPr>
              <a:t>Riak</a:t>
            </a:r>
            <a:r>
              <a:rPr lang="en-US" sz="2400" i="1" dirty="0" smtClean="0">
                <a:solidFill>
                  <a:srgbClr val="C00000"/>
                </a:solidFill>
              </a:rPr>
              <a:t> S2</a:t>
            </a:r>
            <a:r>
              <a:rPr lang="en-US" sz="2400" dirty="0" smtClean="0"/>
              <a:t> is a highly available, scalable, easy-to-operate </a:t>
            </a:r>
            <a:r>
              <a:rPr lang="en-US" sz="2400" u="sng" dirty="0" smtClean="0"/>
              <a:t>object storage</a:t>
            </a:r>
            <a:r>
              <a:rPr lang="en-US" sz="2400" dirty="0" smtClean="0"/>
              <a:t> software solution that’s optimized for holding videos, images, and other files.</a:t>
            </a:r>
          </a:p>
          <a:p>
            <a:r>
              <a:rPr lang="en-US" sz="2400" dirty="0" smtClean="0"/>
              <a:t>It provides simple but powerful storage for large objects built for private, public, and hybrid clouds.</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database services</a:t>
            </a:r>
            <a:endParaRPr lang="en-US" dirty="0"/>
          </a:p>
        </p:txBody>
      </p:sp>
      <p:sp>
        <p:nvSpPr>
          <p:cNvPr id="3" name="Content Placeholder 2"/>
          <p:cNvSpPr>
            <a:spLocks noGrp="1"/>
          </p:cNvSpPr>
          <p:nvPr>
            <p:ph idx="1"/>
          </p:nvPr>
        </p:nvSpPr>
        <p:spPr/>
        <p:txBody>
          <a:bodyPr/>
          <a:lstStyle/>
          <a:p>
            <a:r>
              <a:rPr lang="en-US" sz="2400" dirty="0" smtClean="0">
                <a:hlinkClick r:id="rId2"/>
              </a:rPr>
              <a:t>https://aws.amazon.com/rds/</a:t>
            </a:r>
            <a:endParaRPr lang="en-US" sz="2400" dirty="0" smtClean="0"/>
          </a:p>
          <a:p>
            <a:r>
              <a:rPr lang="en-US" sz="2400" dirty="0" smtClean="0"/>
              <a:t>Set up, operate, and scale a relational database in the cloud with just a few clicks.</a:t>
            </a:r>
          </a:p>
          <a:p>
            <a:endParaRPr lang="en-US" sz="2400" dirty="0" smtClean="0"/>
          </a:p>
          <a:p>
            <a:r>
              <a:rPr lang="en-US" sz="2400" dirty="0" smtClean="0">
                <a:hlinkClick r:id="rId3"/>
              </a:rPr>
              <a:t>https://www.snowflake.com/en/</a:t>
            </a:r>
            <a:endParaRPr lang="en-US" sz="2400" dirty="0" smtClean="0"/>
          </a:p>
          <a:p>
            <a:r>
              <a:rPr lang="en-US" sz="2400" dirty="0" smtClean="0"/>
              <a:t>Turn enterprise data into instant insights with Snowflake Intelligence.</a:t>
            </a:r>
          </a:p>
          <a:p>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pPr>
              <a:buFont typeface="+mj-lt"/>
              <a:buAutoNum type="arabicPeriod"/>
            </a:pPr>
            <a:r>
              <a:rPr lang="en-US" sz="2200" dirty="0" err="1" smtClean="0"/>
              <a:t>Davtd</a:t>
            </a:r>
            <a:r>
              <a:rPr lang="en-US" sz="2200" dirty="0" smtClean="0"/>
              <a:t> A Patterson et al. (1988). A Case for Redundant Arrays of Inexpensive Disks (RAID).</a:t>
            </a:r>
          </a:p>
          <a:p>
            <a:pPr>
              <a:buFont typeface="+mj-lt"/>
              <a:buAutoNum type="arabicPeriod"/>
            </a:pPr>
            <a:r>
              <a:rPr lang="en-US" sz="2200" dirty="0" smtClean="0"/>
              <a:t>Peter M. Chen et al. (1994). RAID - High-Performance, Reliable Secondary Storage.</a:t>
            </a:r>
          </a:p>
        </p:txBody>
      </p:sp>
      <p:pic>
        <p:nvPicPr>
          <p:cNvPr id="4" name="Picture 2" descr="http://www.4aplus.com/wp-content/uploads/2014/02/shutterstock_74085415-1024x682.jpg"/>
          <p:cNvPicPr>
            <a:picLocks noChangeAspect="1" noChangeArrowheads="1"/>
          </p:cNvPicPr>
          <p:nvPr/>
        </p:nvPicPr>
        <p:blipFill>
          <a:blip r:embed="rId2" cstate="print"/>
          <a:srcRect/>
          <a:stretch>
            <a:fillRect/>
          </a:stretch>
        </p:blipFill>
        <p:spPr bwMode="auto">
          <a:xfrm>
            <a:off x="3048000" y="3677828"/>
            <a:ext cx="2600221" cy="1732372"/>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20988</TotalTime>
  <Words>2337</Words>
  <Application>Microsoft Office PowerPoint</Application>
  <PresentationFormat>On-screen Show (4:3)</PresentationFormat>
  <Paragraphs>265</Paragraphs>
  <Slides>50</Slides>
  <Notes>1</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Storage in the Cloud</vt:lpstr>
      <vt:lpstr>Objectives</vt:lpstr>
      <vt:lpstr>Contents</vt:lpstr>
      <vt:lpstr>References</vt:lpstr>
      <vt:lpstr>Local Storage</vt:lpstr>
      <vt:lpstr>Slide 6</vt:lpstr>
      <vt:lpstr>Direct-Attached Storage (DAS)</vt:lpstr>
      <vt:lpstr>RAID</vt:lpstr>
      <vt:lpstr>RAID 0</vt:lpstr>
      <vt:lpstr>RAID 1</vt:lpstr>
      <vt:lpstr>RAID 10 (1+0), RAID 01 (0+1)</vt:lpstr>
      <vt:lpstr>RAID 5 (Parity RAID)</vt:lpstr>
      <vt:lpstr>RAID 5</vt:lpstr>
      <vt:lpstr>XOR Parity Calculation</vt:lpstr>
      <vt:lpstr>Even Parity</vt:lpstr>
      <vt:lpstr>Odd Parity</vt:lpstr>
      <vt:lpstr>Example</vt:lpstr>
      <vt:lpstr>Variable-Length Blocks</vt:lpstr>
      <vt:lpstr>RAID 6</vt:lpstr>
      <vt:lpstr>RAID 6 Parities</vt:lpstr>
      <vt:lpstr>Example P</vt:lpstr>
      <vt:lpstr>Example Q</vt:lpstr>
      <vt:lpstr>D1 and D2 are lost</vt:lpstr>
      <vt:lpstr>Notes</vt:lpstr>
      <vt:lpstr>Slide 25</vt:lpstr>
      <vt:lpstr>Network-Attached Storage (NAS)</vt:lpstr>
      <vt:lpstr>TrueNAS</vt:lpstr>
      <vt:lpstr>Slide 28</vt:lpstr>
      <vt:lpstr>Storage Area Network (SAN)</vt:lpstr>
      <vt:lpstr>SAN Layers</vt:lpstr>
      <vt:lpstr>Fibre Channel</vt:lpstr>
      <vt:lpstr>SAN Architecture</vt:lpstr>
      <vt:lpstr>DAS vs. NAS vs. SAN</vt:lpstr>
      <vt:lpstr>Slide 34</vt:lpstr>
      <vt:lpstr>VMware vSAN</vt:lpstr>
      <vt:lpstr>Slide 36</vt:lpstr>
      <vt:lpstr>Cloud Storage Services</vt:lpstr>
      <vt:lpstr>Block Storage Services</vt:lpstr>
      <vt:lpstr> Example: Amazon Elastic Block Store (EBS)</vt:lpstr>
      <vt:lpstr>File Storage Services</vt:lpstr>
      <vt:lpstr>Example: Amazon Elastic File System</vt:lpstr>
      <vt:lpstr>Object Storage Services</vt:lpstr>
      <vt:lpstr>Object Elements</vt:lpstr>
      <vt:lpstr>Example 1: Amazon Simple Storage Service</vt:lpstr>
      <vt:lpstr>Example 2: Swift</vt:lpstr>
      <vt:lpstr>Example 3: RIAK S2</vt:lpstr>
      <vt:lpstr>Relational database services</vt:lpstr>
      <vt:lpstr>Slide 48</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5290</cp:revision>
  <dcterms:created xsi:type="dcterms:W3CDTF">2007-10-06T08:25:13Z</dcterms:created>
  <dcterms:modified xsi:type="dcterms:W3CDTF">2025-12-08T19:41:34Z</dcterms:modified>
</cp:coreProperties>
</file>