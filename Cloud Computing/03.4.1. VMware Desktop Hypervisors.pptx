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5"/>
  </p:notesMasterIdLst>
  <p:sldIdLst>
    <p:sldId id="599" r:id="rId2"/>
    <p:sldId id="567" r:id="rId3"/>
    <p:sldId id="568" r:id="rId4"/>
    <p:sldId id="569" r:id="rId5"/>
    <p:sldId id="628" r:id="rId6"/>
    <p:sldId id="616" r:id="rId7"/>
    <p:sldId id="634" r:id="rId8"/>
    <p:sldId id="618" r:id="rId9"/>
    <p:sldId id="635" r:id="rId10"/>
    <p:sldId id="636" r:id="rId11"/>
    <p:sldId id="639" r:id="rId12"/>
    <p:sldId id="640" r:id="rId13"/>
    <p:sldId id="641" r:id="rId14"/>
    <p:sldId id="642" r:id="rId15"/>
    <p:sldId id="660" r:id="rId16"/>
    <p:sldId id="661" r:id="rId17"/>
    <p:sldId id="662" r:id="rId18"/>
    <p:sldId id="658" r:id="rId19"/>
    <p:sldId id="645" r:id="rId20"/>
    <p:sldId id="656" r:id="rId21"/>
    <p:sldId id="648" r:id="rId22"/>
    <p:sldId id="657" r:id="rId23"/>
    <p:sldId id="650" r:id="rId24"/>
    <p:sldId id="651" r:id="rId25"/>
    <p:sldId id="674" r:id="rId26"/>
    <p:sldId id="675" r:id="rId27"/>
    <p:sldId id="676" r:id="rId28"/>
    <p:sldId id="669" r:id="rId29"/>
    <p:sldId id="677" r:id="rId30"/>
    <p:sldId id="678" r:id="rId31"/>
    <p:sldId id="679" r:id="rId32"/>
    <p:sldId id="681" r:id="rId33"/>
    <p:sldId id="682" r:id="rId34"/>
    <p:sldId id="683" r:id="rId35"/>
    <p:sldId id="684" r:id="rId36"/>
    <p:sldId id="663" r:id="rId37"/>
    <p:sldId id="664" r:id="rId38"/>
    <p:sldId id="665" r:id="rId39"/>
    <p:sldId id="666" r:id="rId40"/>
    <p:sldId id="667" r:id="rId41"/>
    <p:sldId id="668" r:id="rId42"/>
    <p:sldId id="670" r:id="rId43"/>
    <p:sldId id="671" r:id="rId44"/>
    <p:sldId id="672" r:id="rId45"/>
    <p:sldId id="673" r:id="rId46"/>
    <p:sldId id="625" r:id="rId47"/>
    <p:sldId id="690" r:id="rId48"/>
    <p:sldId id="630" r:id="rId49"/>
    <p:sldId id="629" r:id="rId50"/>
    <p:sldId id="695" r:id="rId51"/>
    <p:sldId id="692" r:id="rId52"/>
    <p:sldId id="631" r:id="rId53"/>
    <p:sldId id="626" r:id="rId54"/>
    <p:sldId id="694" r:id="rId55"/>
    <p:sldId id="693" r:id="rId56"/>
    <p:sldId id="632" r:id="rId57"/>
    <p:sldId id="627" r:id="rId58"/>
    <p:sldId id="685" r:id="rId59"/>
    <p:sldId id="687" r:id="rId60"/>
    <p:sldId id="686" r:id="rId61"/>
    <p:sldId id="688" r:id="rId62"/>
    <p:sldId id="689" r:id="rId63"/>
    <p:sldId id="440" r:id="rId6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90" autoAdjust="0"/>
    <p:restoredTop sz="94765" autoAdjust="0"/>
  </p:normalViewPr>
  <p:slideViewPr>
    <p:cSldViewPr>
      <p:cViewPr>
        <p:scale>
          <a:sx n="50" d="100"/>
          <a:sy n="50" d="100"/>
        </p:scale>
        <p:origin x="-165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upport.broadcom.com/group/ecx/free-downloa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192.168.1.23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mware.com/products/desktop-hypervisor/workstation-and-fusion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VMware Desktop Hypervisors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3434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2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VMware Workstation Pro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VMware Fusion Pro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VMware (2022). </a:t>
            </a:r>
            <a:r>
              <a:rPr lang="en-US" sz="2400" dirty="0" err="1" smtClean="0"/>
              <a:t>vSphere</a:t>
            </a:r>
            <a:r>
              <a:rPr lang="en-US" sz="2400" dirty="0" smtClean="0"/>
              <a:t> Networking.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a Broadcom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https://support.broadcom.com/group/ecx/free-downloads</a:t>
            </a:r>
            <a:endParaRPr lang="en-US" sz="2400" dirty="0" smtClean="0"/>
          </a:p>
          <a:p>
            <a:r>
              <a:rPr lang="en-US" sz="2400" dirty="0" smtClean="0"/>
              <a:t>Search for "workstation" or "fusion".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7895" y="3073172"/>
            <a:ext cx="7654105" cy="2337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VMware Workstation Pro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Download VMware Workstation Pro.</a:t>
            </a:r>
          </a:p>
          <a:p>
            <a:r>
              <a:rPr lang="en-US" sz="2000" dirty="0" smtClean="0"/>
              <a:t>Install VMware Workstation Pro.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Purpose</a:t>
            </a:r>
            <a:r>
              <a:rPr lang="en-US" sz="2000" dirty="0" smtClean="0"/>
              <a:t>: To install ESXi on a VM.</a:t>
            </a:r>
          </a:p>
          <a:p>
            <a:r>
              <a:rPr lang="en-US" sz="2000" b="1" dirty="0" smtClean="0"/>
              <a:t>Use only Windows version for both VMware Workstation Pro and ESXi.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294380"/>
            <a:ext cx="3736340" cy="295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Check Physical and Logical Cores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Check the number of physical and logical cores on Windows using </a:t>
            </a:r>
            <a:r>
              <a:rPr lang="en-US" sz="2400" b="1" dirty="0" err="1" smtClean="0"/>
              <a:t>PowerShell</a:t>
            </a:r>
            <a:r>
              <a:rPr lang="en-US" sz="2400" dirty="0" smtClean="0"/>
              <a:t>:</a:t>
            </a:r>
          </a:p>
          <a:p>
            <a:r>
              <a:rPr lang="en-US" sz="2400" b="1" dirty="0" smtClean="0">
                <a:latin typeface="Consolas" pitchFamily="49" charset="0"/>
              </a:rPr>
              <a:t>Get-</a:t>
            </a:r>
            <a:r>
              <a:rPr lang="en-US" sz="2400" b="1" dirty="0" err="1" smtClean="0">
                <a:latin typeface="Consolas" pitchFamily="49" charset="0"/>
              </a:rPr>
              <a:t>CimInstance</a:t>
            </a:r>
            <a:r>
              <a:rPr lang="en-US" sz="2400" b="1" dirty="0" smtClean="0">
                <a:latin typeface="Consolas" pitchFamily="49" charset="0"/>
              </a:rPr>
              <a:t> Win32_Processor | Select-Object </a:t>
            </a:r>
            <a:r>
              <a:rPr lang="en-US" sz="2400" b="1" dirty="0" err="1" smtClean="0">
                <a:latin typeface="Consolas" pitchFamily="49" charset="0"/>
              </a:rPr>
              <a:t>NumberOfCores</a:t>
            </a:r>
            <a:r>
              <a:rPr lang="en-US" sz="2400" b="1" dirty="0" smtClean="0">
                <a:latin typeface="Consolas" pitchFamily="49" charset="0"/>
              </a:rPr>
              <a:t>, </a:t>
            </a:r>
            <a:r>
              <a:rPr lang="en-US" sz="2400" b="1" dirty="0" err="1" smtClean="0">
                <a:latin typeface="Consolas" pitchFamily="49" charset="0"/>
              </a:rPr>
              <a:t>NumberOfLogicalProcessors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Virtual Network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057400"/>
            <a:ext cx="6076950" cy="364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Virtual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Hardware compatibility: ESXi 7.0.</a:t>
            </a:r>
          </a:p>
          <a:p>
            <a:r>
              <a:rPr lang="en-US" sz="2400" dirty="0" smtClean="0"/>
              <a:t>Installer disk image file: Use 7.0 version ISO (e.g. VMware-VMvisor-Installer-7.0U3f-20036589.x86_64.iso)</a:t>
            </a:r>
          </a:p>
          <a:p>
            <a:r>
              <a:rPr lang="en-US" sz="2400" dirty="0" smtClean="0"/>
              <a:t>Guest operating system: VMware ESX.</a:t>
            </a:r>
          </a:p>
          <a:p>
            <a:r>
              <a:rPr lang="en-US" sz="2400" dirty="0" smtClean="0"/>
              <a:t>Virtual machine name: VMware ESXi 7.</a:t>
            </a:r>
          </a:p>
          <a:p>
            <a:r>
              <a:rPr lang="en-US" sz="2400" dirty="0" smtClean="0"/>
              <a:t>Number of processors: 2.</a:t>
            </a:r>
          </a:p>
          <a:p>
            <a:r>
              <a:rPr lang="en-US" sz="2400" dirty="0" smtClean="0"/>
              <a:t>Memory for this virtual machine: 6144MB.</a:t>
            </a:r>
          </a:p>
          <a:p>
            <a:r>
              <a:rPr lang="en-US" sz="2400" dirty="0" smtClean="0"/>
              <a:t>Network connection: NAT</a:t>
            </a:r>
          </a:p>
          <a:p>
            <a:r>
              <a:rPr lang="en-US" sz="2400" dirty="0" smtClean="0"/>
              <a:t>Store virtual disk as a single file.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Do NOT change the default size (i.e. 142Gb). The change affects ESXi VM storage.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ESXi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Confirm storage: 142GB. Enter root password. Confirm disk repartition.</a:t>
            </a:r>
          </a:p>
          <a:p>
            <a:r>
              <a:rPr lang="en-US" sz="2000" i="1" dirty="0" smtClean="0">
                <a:solidFill>
                  <a:srgbClr val="C00000"/>
                </a:solidFill>
                <a:latin typeface="Consolas" pitchFamily="49" charset="0"/>
              </a:rPr>
              <a:t>Do NOT click "I Finished Installing". It may affect the VM installation.</a:t>
            </a:r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971800"/>
            <a:ext cx="4743450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2313" y="1866900"/>
            <a:ext cx="5159375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Retrieve Host Information</a:t>
            </a:r>
            <a:endParaRPr lang="en-US" dirty="0"/>
          </a:p>
        </p:txBody>
      </p:sp>
      <p:sp>
        <p:nvSpPr>
          <p:cNvPr id="6" name="Down Arrow 5"/>
          <p:cNvSpPr/>
          <p:nvPr/>
        </p:nvSpPr>
        <p:spPr>
          <a:xfrm>
            <a:off x="2819400" y="4289425"/>
            <a:ext cx="1066800" cy="6096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Log in ESXi Host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https://192.168.1.23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1588" y="2390775"/>
            <a:ext cx="66008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Enable VM PC Discovery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6190" y="1906745"/>
            <a:ext cx="6085210" cy="403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Change VM Computer Name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5691" y="1913395"/>
            <a:ext cx="6071909" cy="4030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Enable RDC to VM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780105"/>
            <a:ext cx="6045306" cy="4239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Add New Disk to Hypervisor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905000"/>
            <a:ext cx="5773420" cy="4157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Specify Disk Capacity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Reboot the server to recognize the new disk.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209800"/>
            <a:ext cx="457962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New </a:t>
            </a:r>
            <a:r>
              <a:rPr lang="en-US" dirty="0" err="1" smtClean="0"/>
              <a:t>datastore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5913" y="2265363"/>
            <a:ext cx="5972175" cy="232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all Disks</a:t>
            </a:r>
            <a:endParaRPr lang="en-US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362200"/>
            <a:ext cx="7052858" cy="23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Extend </a:t>
            </a:r>
            <a:r>
              <a:rPr lang="en-US" dirty="0" err="1" smtClean="0"/>
              <a:t>datastore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3313" y="2343150"/>
            <a:ext cx="693737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Extended </a:t>
            </a:r>
            <a:r>
              <a:rPr lang="en-US" dirty="0" err="1" smtClean="0"/>
              <a:t>datastore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438400"/>
            <a:ext cx="6770211" cy="2114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Open Disk Partitions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987550"/>
            <a:ext cx="7153275" cy="357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Review Disk Partitions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578" y="2175854"/>
            <a:ext cx="7232422" cy="292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VMware File System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VMFSL</a:t>
            </a:r>
            <a:r>
              <a:rPr lang="en-US" sz="2400" dirty="0" smtClean="0"/>
              <a:t> stands for </a:t>
            </a:r>
            <a:r>
              <a:rPr lang="en-US" sz="2400" b="1" dirty="0" smtClean="0"/>
              <a:t>VMware File System Layer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It is an internal </a:t>
            </a:r>
            <a:r>
              <a:rPr lang="en-US" sz="2400" b="1" dirty="0" err="1" smtClean="0"/>
              <a:t>VMkernel</a:t>
            </a:r>
            <a:r>
              <a:rPr lang="en-US" sz="2400" b="1" dirty="0" smtClean="0"/>
              <a:t> subsystem</a:t>
            </a:r>
            <a:r>
              <a:rPr lang="en-US" sz="2400" dirty="0" smtClean="0"/>
              <a:t> in VMware </a:t>
            </a:r>
            <a:r>
              <a:rPr lang="en-US" sz="2400" b="1" dirty="0" smtClean="0"/>
              <a:t>ESXi</a:t>
            </a:r>
            <a:r>
              <a:rPr lang="en-US" sz="2400" dirty="0" smtClean="0"/>
              <a:t> that manages file systems, especially </a:t>
            </a:r>
            <a:r>
              <a:rPr lang="en-US" sz="2400" b="1" dirty="0" smtClean="0"/>
              <a:t>VMFS (VMware File System)</a:t>
            </a:r>
            <a:r>
              <a:rPr lang="en-US" sz="2400" dirty="0" smtClean="0"/>
              <a:t> and </a:t>
            </a:r>
            <a:r>
              <a:rPr lang="en-US" sz="2400" b="1" dirty="0" smtClean="0"/>
              <a:t>NFS </a:t>
            </a:r>
            <a:r>
              <a:rPr lang="en-US" sz="2400" b="1" dirty="0" err="1" smtClean="0"/>
              <a:t>datastores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VMware ESXi automatically allocates roughly 120 GB of an installation disk to the </a:t>
            </a:r>
            <a:r>
              <a:rPr lang="en-US" sz="2400" b="1" dirty="0" smtClean="0"/>
              <a:t>VMFS-L (VMFSL or ESX-</a:t>
            </a:r>
            <a:r>
              <a:rPr lang="en-US" sz="2400" b="1" dirty="0" err="1" smtClean="0"/>
              <a:t>OSData</a:t>
            </a:r>
            <a:r>
              <a:rPr lang="en-US" sz="2400" b="1" dirty="0" smtClean="0"/>
              <a:t>)</a:t>
            </a:r>
            <a:r>
              <a:rPr lang="en-US" sz="2400" dirty="0" smtClean="0"/>
              <a:t> partition, which is a system-level file system used to store configuration data, logs, swap, core dumps, and runtime state, ensuring reliability and performance for services like </a:t>
            </a:r>
            <a:r>
              <a:rPr lang="en-US" sz="2400" dirty="0" err="1" smtClean="0"/>
              <a:t>vSAN</a:t>
            </a:r>
            <a:r>
              <a:rPr lang="en-US" sz="2400" dirty="0" smtClean="0"/>
              <a:t> and HA by design.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Network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network of physical machines</a:t>
            </a:r>
            <a:r>
              <a:rPr lang="en-US" dirty="0" smtClean="0"/>
              <a:t> that are connected so that they can send data to and receive data from each other.</a:t>
            </a:r>
          </a:p>
          <a:p>
            <a:r>
              <a:rPr lang="en-US" dirty="0" smtClean="0"/>
              <a:t>VMware ESXi runs on a physical machine.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network of virtual machines</a:t>
            </a:r>
            <a:r>
              <a:rPr lang="en-US" dirty="0" smtClean="0"/>
              <a:t> running on a physical machine that are </a:t>
            </a:r>
            <a:r>
              <a:rPr lang="en-US" u="sng" dirty="0" smtClean="0"/>
              <a:t>connected logically</a:t>
            </a:r>
            <a:r>
              <a:rPr lang="en-US" dirty="0" smtClean="0"/>
              <a:t> to each other so that they can send data to and receive data from each other.</a:t>
            </a:r>
          </a:p>
          <a:p>
            <a:r>
              <a:rPr lang="en-US" dirty="0" smtClean="0"/>
              <a:t>Virtual machines can be connected to the virtual networks that you create when you add a network.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Opaque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i="1" dirty="0" smtClean="0">
                <a:solidFill>
                  <a:srgbClr val="C00000"/>
                </a:solidFill>
              </a:rPr>
              <a:t>opaque network</a:t>
            </a:r>
            <a:r>
              <a:rPr lang="en-US" dirty="0" smtClean="0"/>
              <a:t> is a network created and managed by a separate entity </a:t>
            </a:r>
            <a:r>
              <a:rPr lang="en-US" u="sng" dirty="0" smtClean="0"/>
              <a:t>outside of </a:t>
            </a:r>
            <a:r>
              <a:rPr lang="en-US" u="sng" dirty="0" err="1" smtClean="0"/>
              <a:t>vSphere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example, logical networks that are created and managed by VMware NSX.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Ethernet Switch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 </a:t>
            </a:r>
            <a:r>
              <a:rPr lang="en-US" sz="2200" i="1" dirty="0" smtClean="0">
                <a:solidFill>
                  <a:srgbClr val="C00000"/>
                </a:solidFill>
              </a:rPr>
              <a:t>physical </a:t>
            </a:r>
            <a:r>
              <a:rPr lang="en-US" sz="2200" i="1" dirty="0" err="1" smtClean="0">
                <a:solidFill>
                  <a:srgbClr val="C00000"/>
                </a:solidFill>
              </a:rPr>
              <a:t>ethernet</a:t>
            </a:r>
            <a:r>
              <a:rPr lang="en-US" sz="2200" i="1" dirty="0" smtClean="0">
                <a:solidFill>
                  <a:srgbClr val="C00000"/>
                </a:solidFill>
              </a:rPr>
              <a:t> switch</a:t>
            </a:r>
            <a:r>
              <a:rPr lang="en-US" sz="2200" dirty="0" smtClean="0"/>
              <a:t> manages network traffic between machines on the </a:t>
            </a:r>
            <a:r>
              <a:rPr lang="en-US" sz="2200" u="sng" dirty="0" smtClean="0"/>
              <a:t>physical network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A switch has multiple ports, each of which can be connected to a single machine or another switch on the network.</a:t>
            </a:r>
          </a:p>
          <a:p>
            <a:r>
              <a:rPr lang="en-US" sz="2200" dirty="0" smtClean="0"/>
              <a:t>Each port can be configured to behave in certain ways depending on the needs of the machine connected to it.</a:t>
            </a:r>
          </a:p>
          <a:p>
            <a:r>
              <a:rPr lang="en-US" sz="2200" dirty="0" smtClean="0"/>
              <a:t>The switch learns which hosts are connected to which of its ports and uses that information to forward traffic to the correct physical machines.</a:t>
            </a:r>
          </a:p>
          <a:p>
            <a:r>
              <a:rPr lang="en-US" sz="2200" dirty="0" smtClean="0"/>
              <a:t>Switches are the core of a physical network.</a:t>
            </a:r>
          </a:p>
          <a:p>
            <a:r>
              <a:rPr lang="en-US" sz="2200" dirty="0" smtClean="0"/>
              <a:t>Multiple switches can be connected together to form larger networks.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vSphere</a:t>
            </a:r>
            <a:r>
              <a:rPr lang="en-US" dirty="0" smtClean="0"/>
              <a:t> Standard Switch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It works much like a physical Ethernet switch.</a:t>
            </a:r>
          </a:p>
          <a:p>
            <a:r>
              <a:rPr lang="en-US" sz="2200" dirty="0" smtClean="0"/>
              <a:t>It detects which virtual machines are logically connected to each of its virtual ports and uses that information to forward traffic to the correct virtual machines.</a:t>
            </a:r>
          </a:p>
          <a:p>
            <a:r>
              <a:rPr lang="en-US" sz="2200" dirty="0" smtClean="0"/>
              <a:t>A </a:t>
            </a:r>
            <a:r>
              <a:rPr lang="en-US" sz="2200" i="1" dirty="0" err="1" smtClean="0">
                <a:solidFill>
                  <a:srgbClr val="C00000"/>
                </a:solidFill>
              </a:rPr>
              <a:t>vSphere</a:t>
            </a:r>
            <a:r>
              <a:rPr lang="en-US" sz="2200" i="1" dirty="0" smtClean="0">
                <a:solidFill>
                  <a:srgbClr val="C00000"/>
                </a:solidFill>
              </a:rPr>
              <a:t> standard switch</a:t>
            </a:r>
            <a:r>
              <a:rPr lang="en-US" sz="2200" dirty="0" smtClean="0"/>
              <a:t> can be connected to </a:t>
            </a:r>
            <a:r>
              <a:rPr lang="en-US" sz="2200" u="sng" dirty="0" smtClean="0"/>
              <a:t>physical switches</a:t>
            </a:r>
            <a:r>
              <a:rPr lang="en-US" sz="2200" dirty="0" smtClean="0"/>
              <a:t> by using physical Ethernet adapters, also referred to as </a:t>
            </a:r>
            <a:r>
              <a:rPr lang="en-US" sz="2200" u="sng" dirty="0" smtClean="0"/>
              <a:t>uplink adapters</a:t>
            </a:r>
            <a:r>
              <a:rPr lang="en-US" sz="2200" dirty="0" smtClean="0"/>
              <a:t>, to join virtual networks with physical networks.</a:t>
            </a:r>
          </a:p>
          <a:p>
            <a:r>
              <a:rPr lang="en-US" sz="2200" dirty="0" smtClean="0"/>
              <a:t>This type of connection is similar to connecting physical switches together to create a larger network.</a:t>
            </a:r>
          </a:p>
          <a:p>
            <a:r>
              <a:rPr lang="en-US" sz="2200" dirty="0" smtClean="0"/>
              <a:t>Even though a </a:t>
            </a:r>
            <a:r>
              <a:rPr lang="en-US" sz="2200" dirty="0" err="1" smtClean="0"/>
              <a:t>vSphere</a:t>
            </a:r>
            <a:r>
              <a:rPr lang="en-US" sz="2200" dirty="0" smtClean="0"/>
              <a:t> standard switch works much like a physical switch, it does not have some of the advanced functionality of a physical switch.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Port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Network services connect to standard switches through port groups.</a:t>
            </a:r>
          </a:p>
          <a:p>
            <a:r>
              <a:rPr lang="en-US" sz="2400" dirty="0" smtClean="0"/>
              <a:t>Port groups define how a connection is made through the switch to the network.</a:t>
            </a:r>
          </a:p>
          <a:p>
            <a:r>
              <a:rPr lang="en-US" sz="2400" dirty="0" smtClean="0"/>
              <a:t>Typically, a single standard switch is associated with one or more port groups.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port group</a:t>
            </a:r>
            <a:r>
              <a:rPr lang="en-US" sz="2400" dirty="0" smtClean="0"/>
              <a:t> specifies port configuration options such as </a:t>
            </a:r>
            <a:r>
              <a:rPr lang="en-US" sz="2400" u="sng" dirty="0" smtClean="0"/>
              <a:t>bandwidth limitations</a:t>
            </a:r>
            <a:r>
              <a:rPr lang="en-US" sz="2400" dirty="0" smtClean="0"/>
              <a:t> and </a:t>
            </a:r>
            <a:r>
              <a:rPr lang="en-US" sz="2400" u="sng" dirty="0" smtClean="0"/>
              <a:t>VLAN tagging policies</a:t>
            </a:r>
            <a:r>
              <a:rPr lang="en-US" sz="2400" dirty="0" smtClean="0"/>
              <a:t> for each member port.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VLAN</a:t>
            </a:r>
            <a:r>
              <a:rPr lang="en-US" sz="2400" dirty="0" smtClean="0"/>
              <a:t> enable a single </a:t>
            </a:r>
            <a:r>
              <a:rPr lang="en-US" sz="2400" u="sng" dirty="0" smtClean="0"/>
              <a:t>physical LAN</a:t>
            </a:r>
            <a:r>
              <a:rPr lang="en-US" sz="2400" dirty="0" smtClean="0"/>
              <a:t> segment to be further segmented so that </a:t>
            </a:r>
            <a:r>
              <a:rPr lang="en-US" sz="2400" u="sng" dirty="0" smtClean="0"/>
              <a:t>groups of ports are isolated</a:t>
            </a:r>
            <a:r>
              <a:rPr lang="en-US" sz="2400" dirty="0" smtClean="0"/>
              <a:t> from one another as if they were on physically different segments.</a:t>
            </a:r>
          </a:p>
          <a:p>
            <a:r>
              <a:rPr lang="en-US" sz="2400" dirty="0" smtClean="0"/>
              <a:t>The standard is 802.1Q.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Review Physical NICs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3750" y="2200275"/>
            <a:ext cx="755650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Review Virtual Switches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Standard Switch</a:t>
            </a:r>
            <a:r>
              <a:rPr lang="en-US" sz="2000" dirty="0" smtClean="0"/>
              <a:t> A software-based switch that resides in the </a:t>
            </a:r>
            <a:r>
              <a:rPr lang="en-US" sz="2000" dirty="0" err="1" smtClean="0"/>
              <a:t>VMkernel</a:t>
            </a:r>
            <a:r>
              <a:rPr lang="en-US" sz="2000" dirty="0" smtClean="0"/>
              <a:t> and provides traffic management for virtual machines.</a:t>
            </a:r>
          </a:p>
          <a:p>
            <a:r>
              <a:rPr lang="en-US" sz="2000" dirty="0" smtClean="0"/>
              <a:t>Users must manage Standard Switches independently on each </a:t>
            </a:r>
            <a:r>
              <a:rPr lang="en-US" sz="2000" dirty="0" err="1" smtClean="0"/>
              <a:t>ESXi</a:t>
            </a:r>
            <a:r>
              <a:rPr lang="en-US" sz="2000" dirty="0" smtClean="0"/>
              <a:t> host.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4538" y="2838450"/>
            <a:ext cx="7654925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895600" y="3657600"/>
            <a:ext cx="14478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Review Switch Topology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133600"/>
            <a:ext cx="7509872" cy="3432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Port Groups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" y="2413000"/>
            <a:ext cx="7569200" cy="299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7905750" cy="349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Review </a:t>
            </a:r>
            <a:r>
              <a:rPr lang="en-US" dirty="0" err="1" smtClean="0"/>
              <a:t>VMkernel</a:t>
            </a:r>
            <a:r>
              <a:rPr lang="en-US" dirty="0" smtClean="0"/>
              <a:t> NICs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667000" y="2895600"/>
            <a:ext cx="14478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Review TCP/IP Configuration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828800"/>
            <a:ext cx="7309733" cy="386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Edit Hypervisor IP (vmk0)</a:t>
            </a:r>
            <a:endParaRPr 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070379"/>
            <a:ext cx="6668792" cy="3797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Incorrect Static IP 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you entered an </a:t>
            </a:r>
            <a:r>
              <a:rPr lang="en-US" sz="2400" b="1" dirty="0" smtClean="0"/>
              <a:t>incorrect static IP address or subnet mask</a:t>
            </a:r>
            <a:r>
              <a:rPr lang="en-US" sz="2400" dirty="0" smtClean="0"/>
              <a:t> for your </a:t>
            </a:r>
            <a:r>
              <a:rPr lang="en-US" sz="2400" b="1" dirty="0" smtClean="0"/>
              <a:t>ESXi host</a:t>
            </a:r>
            <a:r>
              <a:rPr lang="en-US" sz="2400" dirty="0" smtClean="0"/>
              <a:t>, the host may become unreachable over the network.</a:t>
            </a:r>
          </a:p>
          <a:p>
            <a:r>
              <a:rPr lang="en-US" sz="2400" b="1" dirty="0" smtClean="0"/>
              <a:t>Option 1</a:t>
            </a:r>
            <a:r>
              <a:rPr lang="en-US" sz="2400" dirty="0" smtClean="0"/>
              <a:t>. Fix directly on the ESXi console if you have physical or remote console access, e.g. iDRAC.</a:t>
            </a:r>
          </a:p>
          <a:p>
            <a:r>
              <a:rPr lang="en-US" sz="2400" b="1" dirty="0" smtClean="0"/>
              <a:t>Option 2</a:t>
            </a:r>
            <a:r>
              <a:rPr lang="en-US" sz="2400" dirty="0" smtClean="0"/>
              <a:t>. Change Network connection to </a:t>
            </a:r>
            <a:r>
              <a:rPr lang="en-US" sz="2400" b="1" dirty="0" smtClean="0"/>
              <a:t>Bridged</a:t>
            </a:r>
            <a:r>
              <a:rPr lang="en-US" sz="2400" dirty="0" smtClean="0"/>
              <a:t> if the IP address is on the same host network.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New Network Adapter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981200"/>
            <a:ext cx="5038408" cy="3884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VMware Fusion Pro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https://www.vmware.com/products/desktop-hypervisor/workstation-and-fusion</a:t>
            </a:r>
            <a:endParaRPr lang="en-US" sz="2000" dirty="0" smtClean="0"/>
          </a:p>
          <a:p>
            <a:endParaRPr lang="en-US" sz="2000" b="1" dirty="0" smtClean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Check cores on </a:t>
            </a:r>
            <a:r>
              <a:rPr lang="en-US" dirty="0" err="1" smtClean="0"/>
              <a:t>macOS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# Check the number of physical cores on </a:t>
            </a:r>
            <a:r>
              <a:rPr lang="en-US" sz="2400" dirty="0" err="1" smtClean="0"/>
              <a:t>macOS</a:t>
            </a:r>
            <a:r>
              <a:rPr lang="en-US" sz="2400" dirty="0" smtClean="0"/>
              <a:t>.</a:t>
            </a:r>
          </a:p>
          <a:p>
            <a:r>
              <a:rPr lang="en-US" sz="2400" b="1" dirty="0" err="1" smtClean="0">
                <a:latin typeface="Consolas" pitchFamily="49" charset="0"/>
              </a:rPr>
              <a:t>sysctl</a:t>
            </a:r>
            <a:r>
              <a:rPr lang="en-US" sz="2400" b="1" dirty="0" smtClean="0">
                <a:latin typeface="Consolas" pitchFamily="49" charset="0"/>
              </a:rPr>
              <a:t> -n </a:t>
            </a:r>
            <a:r>
              <a:rPr lang="en-US" sz="2400" b="1" dirty="0" err="1" smtClean="0">
                <a:latin typeface="Consolas" pitchFamily="49" charset="0"/>
              </a:rPr>
              <a:t>hw.physicalcpu</a:t>
            </a:r>
            <a:endParaRPr lang="en-US" sz="2400" b="1" dirty="0" smtClean="0">
              <a:latin typeface="Consolas" pitchFamily="49" charset="0"/>
            </a:endParaRPr>
          </a:p>
          <a:p>
            <a:r>
              <a:rPr lang="en-US" sz="2400" dirty="0" smtClean="0"/>
              <a:t># Check the number of logical cores on </a:t>
            </a:r>
            <a:r>
              <a:rPr lang="en-US" sz="2400" dirty="0" err="1" smtClean="0"/>
              <a:t>macOS</a:t>
            </a:r>
            <a:r>
              <a:rPr lang="en-US" sz="2400" dirty="0" smtClean="0"/>
              <a:t>.</a:t>
            </a:r>
          </a:p>
          <a:p>
            <a:r>
              <a:rPr lang="en-US" sz="2400" b="1" dirty="0" err="1" smtClean="0">
                <a:latin typeface="Consolas" pitchFamily="49" charset="0"/>
              </a:rPr>
              <a:t>sysctl</a:t>
            </a:r>
            <a:r>
              <a:rPr lang="en-US" sz="2400" b="1" dirty="0" smtClean="0">
                <a:latin typeface="Consolas" pitchFamily="49" charset="0"/>
              </a:rPr>
              <a:t> -n </a:t>
            </a:r>
            <a:r>
              <a:rPr lang="en-US" sz="2400" b="1" dirty="0" err="1" smtClean="0">
                <a:latin typeface="Consolas" pitchFamily="49" charset="0"/>
              </a:rPr>
              <a:t>hw.logicalcpu</a:t>
            </a:r>
            <a:endParaRPr lang="en-US" sz="2400" b="1" dirty="0" smtClean="0">
              <a:latin typeface="Consolas" pitchFamily="49" charset="0"/>
            </a:endParaRPr>
          </a:p>
          <a:p>
            <a:endParaRPr lang="en-US" sz="2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1825" y="3958590"/>
            <a:ext cx="5489575" cy="114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View Fusion Virtual 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Windows &gt; Virtual Machine Library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89325" y="2952750"/>
            <a:ext cx="216535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Give Virtual Machine a Separate IP in the 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automatically allocated IP will be on the sam</a:t>
            </a:r>
            <a:r>
              <a:rPr lang="en-US" dirty="0" smtClean="0"/>
              <a:t>e LAN of the </a:t>
            </a:r>
            <a:r>
              <a:rPr lang="en-US" smtClean="0"/>
              <a:t>host machine.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6338" y="3070225"/>
            <a:ext cx="4251325" cy="287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Create a Virtual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200" b="1" dirty="0" smtClean="0">
                <a:solidFill>
                  <a:srgbClr val="C00000"/>
                </a:solidFill>
              </a:rPr>
              <a:t>Purpose: </a:t>
            </a:r>
            <a:r>
              <a:rPr lang="en-US" sz="2200" b="1" dirty="0" smtClean="0">
                <a:solidFill>
                  <a:srgbClr val="C00000"/>
                </a:solidFill>
              </a:rPr>
              <a:t>Use a separate LAN network for the virtual machines while still allowing them to acces</a:t>
            </a:r>
            <a:r>
              <a:rPr lang="en-US" sz="2200" b="1" dirty="0" smtClean="0">
                <a:solidFill>
                  <a:srgbClr val="C00000"/>
                </a:solidFill>
              </a:rPr>
              <a:t>s the Internet</a:t>
            </a:r>
            <a:r>
              <a:rPr lang="en-US" sz="2200" b="1" dirty="0" smtClean="0">
                <a:solidFill>
                  <a:srgbClr val="C00000"/>
                </a:solidFill>
              </a:rPr>
              <a:t>.</a:t>
            </a:r>
            <a:endParaRPr lang="en-US" sz="2200" b="1" dirty="0" smtClean="0">
              <a:solidFill>
                <a:srgbClr val="C00000"/>
              </a:solidFill>
            </a:endParaRPr>
          </a:p>
          <a:p>
            <a:r>
              <a:rPr lang="en-US" sz="2200" dirty="0" smtClean="0"/>
              <a:t>MTU (Maximum Transmission Unit) is the largest size of a single data packet, in bytes, that can be transmitted over a network interface without fragmentation.</a:t>
            </a:r>
          </a:p>
          <a:p>
            <a:r>
              <a:rPr lang="en-US" sz="2200" dirty="0" smtClean="0"/>
              <a:t>Subnet: </a:t>
            </a:r>
            <a:r>
              <a:rPr lang="en-US" sz="2200" b="1" dirty="0" smtClean="0"/>
              <a:t>192.168.200.0</a:t>
            </a:r>
          </a:p>
          <a:p>
            <a:r>
              <a:rPr lang="en-US" sz="2200" dirty="0" smtClean="0"/>
              <a:t>Subnet Mask: </a:t>
            </a:r>
            <a:r>
              <a:rPr lang="en-US" sz="2200" b="1" dirty="0" smtClean="0"/>
              <a:t>255.255.255.0</a:t>
            </a:r>
          </a:p>
          <a:p>
            <a:r>
              <a:rPr lang="en-US" sz="2200" dirty="0" smtClean="0"/>
              <a:t>VMs get automatic IPs like </a:t>
            </a:r>
            <a:r>
              <a:rPr lang="en-US" sz="2200" b="1" dirty="0" smtClean="0"/>
              <a:t>192.168.200.128+</a:t>
            </a:r>
            <a:endParaRPr lang="en-US" sz="2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2225" y="1600200"/>
            <a:ext cx="3584575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Enable Internet Connections for the Virtual Network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1300" y="1828800"/>
            <a:ext cx="3581400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Configure Network Adapter for Virtual Machine with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Purpose: To allow the VM with </a:t>
            </a:r>
            <a:r>
              <a:rPr lang="en-US" sz="2400" dirty="0" err="1" smtClean="0"/>
              <a:t>Ubuntu</a:t>
            </a:r>
            <a:r>
              <a:rPr lang="en-US" sz="2400" dirty="0" smtClean="0"/>
              <a:t> to connect with the VM with Windows 11. See the next slide.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6513" y="3302000"/>
            <a:ext cx="3990975" cy="264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Configure Network Adapter for Virtual Machine with Windows 11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Purpose: To allow the VM with </a:t>
            </a:r>
            <a:r>
              <a:rPr lang="en-US" sz="2400" dirty="0" smtClean="0"/>
              <a:t>Windows </a:t>
            </a:r>
            <a:r>
              <a:rPr lang="en-US" sz="2400" dirty="0" smtClean="0"/>
              <a:t>to connect with the VM with </a:t>
            </a:r>
            <a:r>
              <a:rPr lang="en-US" sz="2400" dirty="0" err="1" smtClean="0"/>
              <a:t>Ubuntu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93950" y="2895600"/>
            <a:ext cx="4356100" cy="296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</a:t>
            </a:r>
            <a:r>
              <a:rPr lang="en-US" dirty="0" smtClean="0"/>
              <a:t>Remove VMware 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Go to Applications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4625" y="2295525"/>
            <a:ext cx="625475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</a:t>
            </a:r>
            <a:r>
              <a:rPr lang="en-US" dirty="0" smtClean="0"/>
              <a:t>Remove VMware Fusion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/Library/Application Support/VMware</a:t>
            </a: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/Library/Preferences/VMware Fusion</a:t>
            </a: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~/Library/Application Support/VMware Fusion</a:t>
            </a: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~/Library/Caches/</a:t>
            </a:r>
            <a:r>
              <a:rPr lang="en-US" sz="1500" dirty="0" err="1" smtClean="0">
                <a:latin typeface="Consolas" pitchFamily="49" charset="0"/>
              </a:rPr>
              <a:t>com.vmware.fusion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~/Library/Preferences/VMware Fusion</a:t>
            </a: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com.vmware.fusion.LSSharedFileList.plist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com.vmware.fusion.LSSharedFileList.plist.lockfile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com.vmware.fusion.plist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com.vmware.fusion.plist.lockfile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com.vmware.fusionDaemon.plist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com.vmware.fusionDaemon.plist.lockfile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com.vmware.fusionStartMenu.plist</a:t>
            </a:r>
            <a:endParaRPr lang="en-US" sz="1500" dirty="0" smtClean="0">
              <a:latin typeface="Consolas" pitchFamily="49" charset="0"/>
            </a:endParaRPr>
          </a:p>
          <a:p>
            <a:r>
              <a:rPr lang="en-US" sz="1500" dirty="0" err="1" smtClean="0">
                <a:latin typeface="Consolas" pitchFamily="49" charset="0"/>
              </a:rPr>
              <a:t>sudo</a:t>
            </a:r>
            <a:r>
              <a:rPr lang="en-US" sz="1500" dirty="0" smtClean="0">
                <a:latin typeface="Consolas" pitchFamily="49" charset="0"/>
              </a:rPr>
              <a:t> </a:t>
            </a:r>
            <a:r>
              <a:rPr lang="en-US" sz="1500" dirty="0" err="1" smtClean="0">
                <a:latin typeface="Consolas" pitchFamily="49" charset="0"/>
              </a:rPr>
              <a:t>rm</a:t>
            </a:r>
            <a:r>
              <a:rPr lang="en-US" sz="1500" dirty="0" smtClean="0">
                <a:latin typeface="Consolas" pitchFamily="49" charset="0"/>
              </a:rPr>
              <a:t> -</a:t>
            </a:r>
            <a:r>
              <a:rPr lang="en-US" sz="1500" dirty="0" err="1" smtClean="0">
                <a:latin typeface="Consolas" pitchFamily="49" charset="0"/>
              </a:rPr>
              <a:t>rf</a:t>
            </a:r>
            <a:r>
              <a:rPr lang="en-US" sz="1500" dirty="0" smtClean="0">
                <a:latin typeface="Consolas" pitchFamily="49" charset="0"/>
              </a:rPr>
              <a:t> ~/Library/Preferences/</a:t>
            </a:r>
            <a:r>
              <a:rPr lang="en-US" sz="1500" dirty="0" err="1" smtClean="0">
                <a:latin typeface="Consolas" pitchFamily="49" charset="0"/>
              </a:rPr>
              <a:t>com.vmware.fusionStartMenu.plist.lockfile</a:t>
            </a:r>
            <a:endParaRPr lang="en-US" sz="15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VMware Cloud Foundation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(VCF) is an integrated software platform that unifies compute, storage, networking, security and management services into a software-defined data centre (SDDC) stack, enabling consistent infrastructure and operations across private, public and edge clouds.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VCF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err="1" smtClean="0"/>
              <a:t>vSphere</a:t>
            </a:r>
            <a:r>
              <a:rPr lang="en-US" sz="2200" dirty="0" smtClean="0"/>
              <a:t> (ESXi hypervisor + </a:t>
            </a:r>
            <a:r>
              <a:rPr lang="en-US" sz="2200" dirty="0" err="1" smtClean="0"/>
              <a:t>vCenter</a:t>
            </a:r>
            <a:r>
              <a:rPr lang="en-US" sz="2200" dirty="0" smtClean="0"/>
              <a:t>): server virtualization and compute management</a:t>
            </a:r>
          </a:p>
          <a:p>
            <a:r>
              <a:rPr lang="en-US" sz="2200" b="1" dirty="0" err="1" smtClean="0"/>
              <a:t>vSAN</a:t>
            </a:r>
            <a:r>
              <a:rPr lang="en-US" sz="2200" dirty="0" smtClean="0"/>
              <a:t>: software-defined storage integrated with </a:t>
            </a:r>
            <a:r>
              <a:rPr lang="en-US" sz="2200" dirty="0" err="1" smtClean="0"/>
              <a:t>vSphere</a:t>
            </a:r>
            <a:r>
              <a:rPr lang="en-US" sz="2200" dirty="0" smtClean="0"/>
              <a:t>.</a:t>
            </a:r>
          </a:p>
          <a:p>
            <a:r>
              <a:rPr lang="en-US" sz="2200" b="1" dirty="0" smtClean="0"/>
              <a:t>NSX-T</a:t>
            </a:r>
            <a:r>
              <a:rPr lang="en-US" sz="2200" dirty="0" smtClean="0"/>
              <a:t>: software-defined networking and network security.</a:t>
            </a:r>
          </a:p>
          <a:p>
            <a:r>
              <a:rPr lang="en-US" sz="2200" b="1" dirty="0" err="1" smtClean="0"/>
              <a:t>vRealize</a:t>
            </a:r>
            <a:r>
              <a:rPr lang="en-US" sz="2200" b="1" dirty="0" smtClean="0"/>
              <a:t> Automation</a:t>
            </a:r>
            <a:r>
              <a:rPr lang="en-US" sz="2200" dirty="0" smtClean="0"/>
              <a:t>: provisioning and lifecycle management.</a:t>
            </a:r>
          </a:p>
          <a:p>
            <a:r>
              <a:rPr lang="en-US" sz="2200" b="1" dirty="0" err="1" smtClean="0"/>
              <a:t>vRealize</a:t>
            </a:r>
            <a:r>
              <a:rPr lang="en-US" sz="2200" b="1" dirty="0" smtClean="0"/>
              <a:t> Operations</a:t>
            </a:r>
            <a:r>
              <a:rPr lang="en-US" sz="2200" dirty="0" smtClean="0"/>
              <a:t>: monitoring and performance analytics.</a:t>
            </a:r>
          </a:p>
          <a:p>
            <a:r>
              <a:rPr lang="en-US" sz="2200" b="1" dirty="0" err="1" smtClean="0"/>
              <a:t>vRealize</a:t>
            </a:r>
            <a:r>
              <a:rPr lang="en-US" sz="2200" b="1" dirty="0" smtClean="0"/>
              <a:t> Log Insight</a:t>
            </a:r>
            <a:r>
              <a:rPr lang="en-US" sz="2200" dirty="0" smtClean="0"/>
              <a:t>: log management and analytics.</a:t>
            </a:r>
          </a:p>
          <a:p>
            <a:r>
              <a:rPr lang="en-US" sz="2200" b="1" dirty="0" err="1" smtClean="0"/>
              <a:t>vRealize</a:t>
            </a:r>
            <a:r>
              <a:rPr lang="en-US" sz="2200" b="1" dirty="0" smtClean="0"/>
              <a:t> Network Insight</a:t>
            </a:r>
            <a:r>
              <a:rPr lang="en-US" sz="2200" dirty="0" smtClean="0"/>
              <a:t>: advanced network visibility and troubleshooting.</a:t>
            </a:r>
          </a:p>
          <a:p>
            <a:r>
              <a:rPr lang="en-US" sz="2200" b="1" dirty="0" smtClean="0"/>
              <a:t>SDDC Manager</a:t>
            </a:r>
            <a:r>
              <a:rPr lang="en-US" sz="2200" dirty="0" smtClean="0"/>
              <a:t>: orchestrates deployment, configuration, and lifecycle management of the full VCF stack.</a:t>
            </a:r>
          </a:p>
          <a:p>
            <a:r>
              <a:rPr lang="en-US" sz="2200" b="1" dirty="0" err="1" smtClean="0"/>
              <a:t>Tanzu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Kubernetes</a:t>
            </a:r>
            <a:r>
              <a:rPr lang="en-US" sz="2200" b="1" dirty="0" smtClean="0"/>
              <a:t> Grid</a:t>
            </a:r>
            <a:r>
              <a:rPr lang="en-US" sz="2200" dirty="0" smtClean="0"/>
              <a:t>: for containerized workloads.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ESXi hosts</a:t>
            </a:r>
            <a:r>
              <a:rPr lang="en-US" sz="2400" dirty="0" smtClean="0"/>
              <a:t> are deployed on multiple physical servers.</a:t>
            </a:r>
          </a:p>
          <a:p>
            <a:r>
              <a:rPr lang="en-US" sz="2400" b="1" dirty="0" err="1" smtClean="0"/>
              <a:t>vCenter</a:t>
            </a:r>
            <a:r>
              <a:rPr lang="en-US" sz="2400" dirty="0" smtClean="0"/>
              <a:t> is deployed as a VM on an ESXi host (can be HA-enabled with multiple instances)</a:t>
            </a:r>
          </a:p>
          <a:p>
            <a:r>
              <a:rPr lang="en-US" sz="2400" b="1" dirty="0" err="1" smtClean="0"/>
              <a:t>vSAN</a:t>
            </a:r>
            <a:r>
              <a:rPr lang="en-US" sz="2400" dirty="0" smtClean="0"/>
              <a:t> is deployed </a:t>
            </a:r>
            <a:r>
              <a:rPr lang="en-US" sz="2400" u="sng" dirty="0" smtClean="0"/>
              <a:t>through </a:t>
            </a:r>
            <a:r>
              <a:rPr lang="en-US" sz="2400" u="sng" dirty="0" err="1" smtClean="0"/>
              <a:t>vCenter</a:t>
            </a:r>
            <a:r>
              <a:rPr lang="en-US" sz="2400" dirty="0" smtClean="0"/>
              <a:t> by enabling a </a:t>
            </a:r>
            <a:r>
              <a:rPr lang="en-US" sz="2400" dirty="0" err="1" smtClean="0"/>
              <a:t>vSAN</a:t>
            </a:r>
            <a:r>
              <a:rPr lang="en-US" sz="2400" dirty="0" smtClean="0"/>
              <a:t> cluster </a:t>
            </a:r>
            <a:r>
              <a:rPr lang="en-US" sz="2400" u="sng" dirty="0" smtClean="0"/>
              <a:t>on ESXi hosts</a:t>
            </a:r>
            <a:r>
              <a:rPr lang="en-US" sz="2400" dirty="0" smtClean="0"/>
              <a:t>, which aggregates their local storage into a single distributed </a:t>
            </a:r>
            <a:r>
              <a:rPr lang="en-US" sz="2400" dirty="0" err="1" smtClean="0"/>
              <a:t>datastore</a:t>
            </a:r>
            <a:r>
              <a:rPr lang="en-US" sz="2400" dirty="0" smtClean="0"/>
              <a:t> managed centrally.</a:t>
            </a:r>
          </a:p>
          <a:p>
            <a:r>
              <a:rPr lang="en-US" sz="2400" b="1" dirty="0" smtClean="0"/>
              <a:t>NSX</a:t>
            </a:r>
            <a:r>
              <a:rPr lang="en-US" sz="2400" dirty="0" smtClean="0"/>
              <a:t> is deployed </a:t>
            </a:r>
            <a:r>
              <a:rPr lang="en-US" sz="2400" u="sng" dirty="0" smtClean="0"/>
              <a:t>via </a:t>
            </a:r>
            <a:r>
              <a:rPr lang="en-US" sz="2400" u="sng" dirty="0" err="1" smtClean="0"/>
              <a:t>vCenter</a:t>
            </a:r>
            <a:r>
              <a:rPr lang="en-US" sz="2400" dirty="0" smtClean="0"/>
              <a:t> by integrating NSX Manager, which uses </a:t>
            </a:r>
            <a:r>
              <a:rPr lang="en-US" sz="2400" dirty="0" err="1" smtClean="0"/>
              <a:t>vCenter’s</a:t>
            </a:r>
            <a:r>
              <a:rPr lang="en-US" sz="2400" dirty="0" smtClean="0"/>
              <a:t> inventory to install and configure NSX components </a:t>
            </a:r>
            <a:r>
              <a:rPr lang="en-US" sz="2400" u="sng" dirty="0" smtClean="0"/>
              <a:t>across ESXi hosts</a:t>
            </a:r>
            <a:r>
              <a:rPr lang="en-US" sz="2400" dirty="0" smtClean="0"/>
              <a:t> for virtual networking and security.</a:t>
            </a:r>
            <a:endParaRPr lang="en-US" sz="2200" dirty="0" smtClean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VMware Live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VMware Live Recovery (VLR) is a unified VMware solution that enables both disaster‑</a:t>
            </a:r>
            <a:r>
              <a:rPr lang="en-US" dirty="0" err="1" smtClean="0"/>
              <a:t>recovery</a:t>
            </a:r>
            <a:r>
              <a:rPr lang="en-US" dirty="0" smtClean="0"/>
              <a:t> and </a:t>
            </a:r>
            <a:r>
              <a:rPr lang="en-US" dirty="0" err="1" smtClean="0"/>
              <a:t>ransomware‑resilient</a:t>
            </a:r>
            <a:r>
              <a:rPr lang="en-US" dirty="0" smtClean="0"/>
              <a:t> recovery of virtualized workloads using isolated, validated restore points.</a:t>
            </a:r>
          </a:p>
          <a:p>
            <a:r>
              <a:rPr lang="en-US" dirty="0" smtClean="0"/>
              <a:t>VMware Live Recovery is deployed as separate appliances that integrate with </a:t>
            </a:r>
            <a:r>
              <a:rPr lang="en-US" dirty="0" err="1" smtClean="0"/>
              <a:t>vCenter</a:t>
            </a:r>
            <a:r>
              <a:rPr lang="en-US" dirty="0" smtClean="0"/>
              <a:t> to manage and protect VMs, but it is not installed within </a:t>
            </a:r>
            <a:r>
              <a:rPr lang="en-US" dirty="0" err="1" smtClean="0"/>
              <a:t>vCenter</a:t>
            </a:r>
            <a:r>
              <a:rPr lang="en-US" dirty="0" smtClean="0"/>
              <a:t> itself.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16716</TotalTime>
  <Words>1609</Words>
  <Application>Microsoft Office PowerPoint</Application>
  <PresentationFormat>On-screen Show (4:3)</PresentationFormat>
  <Paragraphs>159</Paragraphs>
  <Slides>63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4" baseType="lpstr">
      <vt:lpstr>Office Theme</vt:lpstr>
      <vt:lpstr>VMware Desktop Hypervisors</vt:lpstr>
      <vt:lpstr>Objectives</vt:lpstr>
      <vt:lpstr>Contents</vt:lpstr>
      <vt:lpstr>References</vt:lpstr>
      <vt:lpstr>1. Register a Broadcom Account</vt:lpstr>
      <vt:lpstr>2. Install VMware Workstation Pro on Windows</vt:lpstr>
      <vt:lpstr>3. Check Physical and Logical Cores</vt:lpstr>
      <vt:lpstr>Slide 8</vt:lpstr>
      <vt:lpstr>1. Create a Virtual Network</vt:lpstr>
      <vt:lpstr>2. Create a Virtual Machine</vt:lpstr>
      <vt:lpstr>3. Install ESXi</vt:lpstr>
      <vt:lpstr>4. Retrieve Host Information</vt:lpstr>
      <vt:lpstr>5. Log in ESXi Host</vt:lpstr>
      <vt:lpstr>Slide 14</vt:lpstr>
      <vt:lpstr>1. Enable VM PC Discovery</vt:lpstr>
      <vt:lpstr>2. Change VM Computer Name</vt:lpstr>
      <vt:lpstr>3. Enable RDC to VM</vt:lpstr>
      <vt:lpstr>Slide 18</vt:lpstr>
      <vt:lpstr>1. Add New Disk to Hypervisor</vt:lpstr>
      <vt:lpstr>2. Specify Disk Capacity</vt:lpstr>
      <vt:lpstr>3. Add New datastore</vt:lpstr>
      <vt:lpstr>4. Review all Disks</vt:lpstr>
      <vt:lpstr>5. Extend datastore</vt:lpstr>
      <vt:lpstr>6. Review Extended datastore</vt:lpstr>
      <vt:lpstr>7. Open Disk Partitions</vt:lpstr>
      <vt:lpstr>8. Review Disk Partitions</vt:lpstr>
      <vt:lpstr>VMware File System Layer</vt:lpstr>
      <vt:lpstr>Slide 28</vt:lpstr>
      <vt:lpstr>Physical Network [1]</vt:lpstr>
      <vt:lpstr>Virtual Network</vt:lpstr>
      <vt:lpstr>Opaque Network</vt:lpstr>
      <vt:lpstr>Physical Ethernet Switch</vt:lpstr>
      <vt:lpstr>vSphere Standard Switch</vt:lpstr>
      <vt:lpstr>Standard Port Group</vt:lpstr>
      <vt:lpstr>VLAN</vt:lpstr>
      <vt:lpstr>1. Review Physical NICs</vt:lpstr>
      <vt:lpstr>2. Review Virtual Switches</vt:lpstr>
      <vt:lpstr>3. Review Switch Topology </vt:lpstr>
      <vt:lpstr>4. Review Port Groups</vt:lpstr>
      <vt:lpstr>5. Review VMkernel NICs</vt:lpstr>
      <vt:lpstr>6. Review TCP/IP Configuration</vt:lpstr>
      <vt:lpstr>Slide 42</vt:lpstr>
      <vt:lpstr>1. Edit Hypervisor IP (vmk0)</vt:lpstr>
      <vt:lpstr>Incorrect Static IP Address</vt:lpstr>
      <vt:lpstr>2. Create a New Network Adapter</vt:lpstr>
      <vt:lpstr>Slide 46</vt:lpstr>
      <vt:lpstr>1. Install VMware Fusion Pro on macOS</vt:lpstr>
      <vt:lpstr>2. Check cores on macOS</vt:lpstr>
      <vt:lpstr>3. View Fusion Virtual Machines</vt:lpstr>
      <vt:lpstr>4. Give Virtual Machine a Separate IP in the LAN</vt:lpstr>
      <vt:lpstr>Slide 51</vt:lpstr>
      <vt:lpstr>1. Create a Virtual Network</vt:lpstr>
      <vt:lpstr>2. Enable Internet Connections for the Virtual Network</vt:lpstr>
      <vt:lpstr>3. Configure Network Adapter for Virtual Machine with Ubuntu</vt:lpstr>
      <vt:lpstr>4. Configure Network Adapter for Virtual Machine with Windows 11</vt:lpstr>
      <vt:lpstr>5. Remove VMware Fusion</vt:lpstr>
      <vt:lpstr>6. Remove VMware Fusion Files</vt:lpstr>
      <vt:lpstr>Slide 58</vt:lpstr>
      <vt:lpstr>VMware Cloud Foundation</vt:lpstr>
      <vt:lpstr>VCF Components</vt:lpstr>
      <vt:lpstr>Deployment Schema</vt:lpstr>
      <vt:lpstr>VMware Live Recovery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4573</cp:revision>
  <dcterms:created xsi:type="dcterms:W3CDTF">2007-10-06T08:25:13Z</dcterms:created>
  <dcterms:modified xsi:type="dcterms:W3CDTF">2026-07-02T15:06:07Z</dcterms:modified>
</cp:coreProperties>
</file>