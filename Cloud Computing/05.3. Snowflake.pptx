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s/slide38.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Layouts/slideLayout7.xml" ContentType="application/vnd.openxmlformats-officedocument.presentationml.slideLayout+xml"/>
  <Default Extension="png" ContentType="image/png"/>
  <Override PartName="/ppt/notesSlides/notesSlide1.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Layouts/slideLayout3.xml" ContentType="application/vnd.openxmlformats-officedocument.presentationml.slideLayout+xml"/>
  <Default Extension="jpeg" ContentType="image/jpeg"/>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Lst>
  <p:notesMasterIdLst>
    <p:notesMasterId r:id="rId40"/>
  </p:notesMasterIdLst>
  <p:sldIdLst>
    <p:sldId id="570" r:id="rId2"/>
    <p:sldId id="571" r:id="rId3"/>
    <p:sldId id="572" r:id="rId4"/>
    <p:sldId id="573" r:id="rId5"/>
    <p:sldId id="574" r:id="rId6"/>
    <p:sldId id="575" r:id="rId7"/>
    <p:sldId id="584" r:id="rId8"/>
    <p:sldId id="582" r:id="rId9"/>
    <p:sldId id="583" r:id="rId10"/>
    <p:sldId id="585" r:id="rId11"/>
    <p:sldId id="586" r:id="rId12"/>
    <p:sldId id="587" r:id="rId13"/>
    <p:sldId id="588" r:id="rId14"/>
    <p:sldId id="589" r:id="rId15"/>
    <p:sldId id="590" r:id="rId16"/>
    <p:sldId id="591" r:id="rId17"/>
    <p:sldId id="592" r:id="rId18"/>
    <p:sldId id="594" r:id="rId19"/>
    <p:sldId id="593" r:id="rId20"/>
    <p:sldId id="595" r:id="rId21"/>
    <p:sldId id="596" r:id="rId22"/>
    <p:sldId id="597" r:id="rId23"/>
    <p:sldId id="598" r:id="rId24"/>
    <p:sldId id="599" r:id="rId25"/>
    <p:sldId id="602" r:id="rId26"/>
    <p:sldId id="604" r:id="rId27"/>
    <p:sldId id="600" r:id="rId28"/>
    <p:sldId id="603" r:id="rId29"/>
    <p:sldId id="605" r:id="rId30"/>
    <p:sldId id="606" r:id="rId31"/>
    <p:sldId id="607" r:id="rId32"/>
    <p:sldId id="608" r:id="rId33"/>
    <p:sldId id="609" r:id="rId34"/>
    <p:sldId id="610" r:id="rId35"/>
    <p:sldId id="611" r:id="rId36"/>
    <p:sldId id="612" r:id="rId37"/>
    <p:sldId id="613" r:id="rId38"/>
    <p:sldId id="440" r:id="rId39"/>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3CCFF"/>
  </p:clrMru>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020" autoAdjust="0"/>
    <p:restoredTop sz="94765" autoAdjust="0"/>
  </p:normalViewPr>
  <p:slideViewPr>
    <p:cSldViewPr>
      <p:cViewPr>
        <p:scale>
          <a:sx n="50" d="100"/>
          <a:sy n="50" d="100"/>
        </p:scale>
        <p:origin x="-1648" y="-400"/>
      </p:cViewPr>
      <p:guideLst>
        <p:guide orient="horz" pos="2160"/>
        <p:guide pos="2880"/>
      </p:guideLst>
    </p:cSldViewPr>
  </p:slideViewPr>
  <p:outlineViewPr>
    <p:cViewPr>
      <p:scale>
        <a:sx n="33" d="100"/>
        <a:sy n="33" d="100"/>
      </p:scale>
      <p:origin x="0" y="46014"/>
    </p:cViewPr>
  </p:outlineViewPr>
  <p:notesTextViewPr>
    <p:cViewPr>
      <p:scale>
        <a:sx n="100" d="100"/>
        <a:sy n="100" d="100"/>
      </p:scale>
      <p:origin x="0" y="0"/>
    </p:cViewPr>
  </p:notesTextViewPr>
  <p:sorterViewPr>
    <p:cViewPr>
      <p:scale>
        <a:sx n="66" d="100"/>
        <a:sy n="66" d="100"/>
      </p:scale>
      <p:origin x="0" y="0"/>
    </p:cViewPr>
  </p:sorter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062591D-F63A-4C87-988A-2A4399BE3C42}" type="datetimeFigureOut">
              <a:rPr lang="en-US" smtClean="0"/>
              <a:pPr/>
              <a:t>12/11/2023</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DB2649A-D532-4C46-8375-2DC4F09C0D42}"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B4E670EC-EF90-4A84-9798-83F1F2DBB460}" type="slidenum">
              <a:rPr lang="en-US" smtClean="0"/>
              <a:pPr/>
              <a:t>3</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lvl1pPr>
              <a:defRPr/>
            </a:lvl1pPr>
          </a:lstStyle>
          <a:p>
            <a:pPr>
              <a:defRPr/>
            </a:pPr>
            <a:fld id="{BB3B12F3-13D8-4BC6-B271-EF890D2E3EA0}" type="datetimeFigureOut">
              <a:rPr lang="en-US"/>
              <a:pPr>
                <a:defRPr/>
              </a:pPr>
              <a:t>12/11/2023</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0C4D65A0-8A45-49A8-B2B4-890662407FE0}" type="slidenum">
              <a:rPr lang="en-US"/>
              <a:pPr>
                <a:defRPr/>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AF2554BB-BED8-407D-871B-BC3BF099B766}" type="datetimeFigureOut">
              <a:rPr lang="en-US"/>
              <a:pPr>
                <a:defRPr/>
              </a:pPr>
              <a:t>12/11/2023</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6B6A513C-A265-4672-ADF9-9C420A0C09A7}" type="slidenum">
              <a:rPr lang="en-US"/>
              <a:pPr>
                <a:defRPr/>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pPr>
              <a:defRPr/>
            </a:pPr>
            <a:fld id="{D183AE9F-B8F4-4A27-A258-84000ADADD35}" type="datetimeFigureOut">
              <a:rPr lang="en-US"/>
              <a:pPr>
                <a:defRPr/>
              </a:pPr>
              <a:t>12/11/2023</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D0C0325C-EBE7-4A11-97E9-DF8C42B04A73}" type="slidenum">
              <a:rPr lang="en-US"/>
              <a:pPr>
                <a:defRPr/>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3"/>
          <p:cNvSpPr>
            <a:spLocks noGrp="1"/>
          </p:cNvSpPr>
          <p:nvPr>
            <p:ph type="dt" sz="half" idx="10"/>
          </p:nvPr>
        </p:nvSpPr>
        <p:spPr/>
        <p:txBody>
          <a:bodyPr/>
          <a:lstStyle>
            <a:lvl1pPr>
              <a:defRPr/>
            </a:lvl1pPr>
          </a:lstStyle>
          <a:p>
            <a:pPr>
              <a:defRPr/>
            </a:pPr>
            <a:fld id="{8B4F403C-A7D9-4211-8DC1-5865845C9F38}" type="datetimeFigureOut">
              <a:rPr lang="en-US"/>
              <a:pPr>
                <a:defRPr/>
              </a:pPr>
              <a:t>12/11/2023</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C091B809-96F5-477B-8E72-8AB6B5E4AEA1}" type="slidenum">
              <a:rPr lang="en-US"/>
              <a:pPr>
                <a:defRPr/>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3"/>
          <p:cNvSpPr>
            <a:spLocks noGrp="1"/>
          </p:cNvSpPr>
          <p:nvPr>
            <p:ph type="dt" sz="half" idx="10"/>
          </p:nvPr>
        </p:nvSpPr>
        <p:spPr/>
        <p:txBody>
          <a:bodyPr/>
          <a:lstStyle>
            <a:lvl1pPr>
              <a:defRPr/>
            </a:lvl1pPr>
          </a:lstStyle>
          <a:p>
            <a:pPr>
              <a:defRPr/>
            </a:pPr>
            <a:fld id="{8809C128-87F1-4A1D-AC95-1D0A8C2820AC}" type="datetimeFigureOut">
              <a:rPr lang="en-US"/>
              <a:pPr>
                <a:defRPr/>
              </a:pPr>
              <a:t>12/11/2023</a:t>
            </a:fld>
            <a:endParaRPr lang="en-US"/>
          </a:p>
        </p:txBody>
      </p:sp>
      <p:sp>
        <p:nvSpPr>
          <p:cNvPr id="8" name="Footer Placeholder 4"/>
          <p:cNvSpPr>
            <a:spLocks noGrp="1"/>
          </p:cNvSpPr>
          <p:nvPr>
            <p:ph type="ftr" sz="quarter" idx="11"/>
          </p:nvPr>
        </p:nvSpPr>
        <p:spPr/>
        <p:txBody>
          <a:bodyPr/>
          <a:lstStyle>
            <a:lvl1pPr>
              <a:defRPr/>
            </a:lvl1pPr>
          </a:lstStyle>
          <a:p>
            <a:pPr>
              <a:defRPr/>
            </a:pPr>
            <a:endParaRPr lang="en-US"/>
          </a:p>
        </p:txBody>
      </p:sp>
      <p:sp>
        <p:nvSpPr>
          <p:cNvPr id="9" name="Slide Number Placeholder 5"/>
          <p:cNvSpPr>
            <a:spLocks noGrp="1"/>
          </p:cNvSpPr>
          <p:nvPr>
            <p:ph type="sldNum" sz="quarter" idx="12"/>
          </p:nvPr>
        </p:nvSpPr>
        <p:spPr/>
        <p:txBody>
          <a:bodyPr/>
          <a:lstStyle>
            <a:lvl1pPr>
              <a:defRPr/>
            </a:lvl1pPr>
          </a:lstStyle>
          <a:p>
            <a:pPr>
              <a:defRPr/>
            </a:pPr>
            <a:fld id="{DC251F8E-6BBA-4EBA-BCCA-61145C18CC0B}" type="slidenum">
              <a:rPr lang="en-US"/>
              <a:pPr>
                <a:defRPr/>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3"/>
          <p:cNvSpPr>
            <a:spLocks noGrp="1"/>
          </p:cNvSpPr>
          <p:nvPr>
            <p:ph type="dt" sz="half" idx="10"/>
          </p:nvPr>
        </p:nvSpPr>
        <p:spPr/>
        <p:txBody>
          <a:bodyPr/>
          <a:lstStyle>
            <a:lvl1pPr>
              <a:defRPr/>
            </a:lvl1pPr>
          </a:lstStyle>
          <a:p>
            <a:pPr>
              <a:defRPr/>
            </a:pPr>
            <a:fld id="{0DD7EAC8-1610-4C8B-8A2E-7959779A26B0}" type="datetimeFigureOut">
              <a:rPr lang="en-US"/>
              <a:pPr>
                <a:defRPr/>
              </a:pPr>
              <a:t>12/11/2023</a:t>
            </a:fld>
            <a:endParaRPr lang="en-US"/>
          </a:p>
        </p:txBody>
      </p:sp>
      <p:sp>
        <p:nvSpPr>
          <p:cNvPr id="4" name="Footer Placeholder 4"/>
          <p:cNvSpPr>
            <a:spLocks noGrp="1"/>
          </p:cNvSpPr>
          <p:nvPr>
            <p:ph type="ftr" sz="quarter" idx="11"/>
          </p:nvPr>
        </p:nvSpPr>
        <p:spPr/>
        <p:txBody>
          <a:bodyPr/>
          <a:lstStyle>
            <a:lvl1pPr>
              <a:defRPr/>
            </a:lvl1pPr>
          </a:lstStyle>
          <a:p>
            <a:pPr>
              <a:defRPr/>
            </a:pPr>
            <a:endParaRPr lang="en-US"/>
          </a:p>
        </p:txBody>
      </p:sp>
      <p:sp>
        <p:nvSpPr>
          <p:cNvPr id="5" name="Slide Number Placeholder 5"/>
          <p:cNvSpPr>
            <a:spLocks noGrp="1"/>
          </p:cNvSpPr>
          <p:nvPr>
            <p:ph type="sldNum" sz="quarter" idx="12"/>
          </p:nvPr>
        </p:nvSpPr>
        <p:spPr/>
        <p:txBody>
          <a:bodyPr/>
          <a:lstStyle>
            <a:lvl1pPr>
              <a:defRPr/>
            </a:lvl1pPr>
          </a:lstStyle>
          <a:p>
            <a:pPr>
              <a:defRPr/>
            </a:pPr>
            <a:fld id="{88F43CFA-8BED-4A88-AB21-8477601BA319}" type="slidenum">
              <a:rPr lang="en-US"/>
              <a:pPr>
                <a:defRPr/>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BD13CF8C-ED99-4E62-9F8F-039B47F842EB}" type="datetimeFigureOut">
              <a:rPr lang="en-US"/>
              <a:pPr>
                <a:defRPr/>
              </a:pPr>
              <a:t>12/11/2023</a:t>
            </a:fld>
            <a:endParaRPr lang="en-US"/>
          </a:p>
        </p:txBody>
      </p:sp>
      <p:sp>
        <p:nvSpPr>
          <p:cNvPr id="3" name="Footer Placeholder 4"/>
          <p:cNvSpPr>
            <a:spLocks noGrp="1"/>
          </p:cNvSpPr>
          <p:nvPr>
            <p:ph type="ftr" sz="quarter" idx="11"/>
          </p:nvPr>
        </p:nvSpPr>
        <p:spPr/>
        <p:txBody>
          <a:bodyPr/>
          <a:lstStyle>
            <a:lvl1pPr>
              <a:defRPr/>
            </a:lvl1pPr>
          </a:lstStyle>
          <a:p>
            <a:pPr>
              <a:defRPr/>
            </a:pPr>
            <a:endParaRPr lang="en-US"/>
          </a:p>
        </p:txBody>
      </p:sp>
      <p:sp>
        <p:nvSpPr>
          <p:cNvPr id="4" name="Slide Number Placeholder 5"/>
          <p:cNvSpPr>
            <a:spLocks noGrp="1"/>
          </p:cNvSpPr>
          <p:nvPr>
            <p:ph type="sldNum" sz="quarter" idx="12"/>
          </p:nvPr>
        </p:nvSpPr>
        <p:spPr/>
        <p:txBody>
          <a:bodyPr/>
          <a:lstStyle>
            <a:lvl1pPr>
              <a:defRPr/>
            </a:lvl1pPr>
          </a:lstStyle>
          <a:p>
            <a:pPr>
              <a:defRPr/>
            </a:pPr>
            <a:fld id="{73FA9176-712D-4387-A1B9-79FDD21B4132}" type="slidenum">
              <a:rPr lang="en-US"/>
              <a:pPr>
                <a:defRPr/>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6A10295A-2761-40EA-9DA2-E88C0504267F}" type="datetimeFigureOut">
              <a:rPr lang="en-US"/>
              <a:pPr>
                <a:defRPr/>
              </a:pPr>
              <a:t>12/11/2023</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A6EFA140-F156-4425-B953-A67D35160EB0}" type="slidenum">
              <a:rPr lang="en-US"/>
              <a:pPr>
                <a:defRPr/>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B7036556-1340-40FC-A073-D70D8832A760}" type="datetimeFigureOut">
              <a:rPr lang="en-US"/>
              <a:pPr>
                <a:defRPr/>
              </a:pPr>
              <a:t>12/11/2023</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AB3919B8-AF1D-4524-AED9-AA87E5FE0640}" type="slidenum">
              <a:rPr lang="en-US"/>
              <a:pPr>
                <a:defRPr/>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B5375E21-F618-4DDC-86A2-77C690CACCAF}" type="datetimeFigureOut">
              <a:rPr lang="en-US"/>
              <a:pPr>
                <a:defRPr/>
              </a:pPr>
              <a:t>12/11/2023</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2EDB1DC0-76E8-4C19-B643-CDC8176FDDA2}" type="slidenum">
              <a:rPr lang="en-US"/>
              <a:pPr>
                <a:defRPr/>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1B4CE7E0-80C2-49E8-81AC-9B27623F73A4}" type="datetimeFigureOut">
              <a:rPr lang="en-US"/>
              <a:pPr>
                <a:defRPr/>
              </a:pPr>
              <a:t>12/11/2023</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D129D05C-0F0F-4E8B-B47F-3C2F1A4BC70E}" type="slidenum">
              <a:rPr lang="en-US"/>
              <a:pPr>
                <a:defRPr/>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218" name="Title Placeholder 1"/>
          <p:cNvSpPr>
            <a:spLocks noGrp="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9219" name="Text Placeholder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fld id="{2F5EA699-B790-4630-B1C5-9840307833F6}" type="datetimeFigureOut">
              <a:rPr lang="en-US"/>
              <a:pPr>
                <a:defRPr/>
              </a:pPr>
              <a:t>12/11/2023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409E2BD1-610D-47CE-BC14-E90E7753FA52}"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mailto:nhbien@fit.hcmus.edu.vn"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hyperlink" Target="https://www.snowflake.com/en/" TargetMode="Externa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hyperlink" Target="https://www.snowflake.com/try-unistore/" TargetMode="External"/><Relationship Id="rId2" Type="http://schemas.openxmlformats.org/officeDocument/2006/relationships/hyperlink" Target="https://community.snowflake.com/s/question/0D50Z00008BDIPTSA5/snowflake-oltp" TargetMode="Externa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hyperlink" Target="https://blog.panoply.io/redshift-vs-snowflake-the-full-comparison" TargetMode="External"/><Relationship Id="rId2" Type="http://schemas.openxmlformats.org/officeDocument/2006/relationships/hyperlink" Target="https://www.integrate.io/blog/redshift-vs-snowflake/" TargetMode="Externa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p:cNvSpPr>
            <a:spLocks noGrp="1"/>
          </p:cNvSpPr>
          <p:nvPr>
            <p:ph type="ctrTitle"/>
          </p:nvPr>
        </p:nvSpPr>
        <p:spPr/>
        <p:txBody>
          <a:bodyPr/>
          <a:lstStyle/>
          <a:p>
            <a:pPr eaLnBrk="1" hangingPunct="1"/>
            <a:r>
              <a:rPr lang="en-US" sz="6000" dirty="0" smtClean="0"/>
              <a:t>Snowflake</a:t>
            </a:r>
          </a:p>
        </p:txBody>
      </p:sp>
      <p:sp>
        <p:nvSpPr>
          <p:cNvPr id="3" name="Subtitle 2"/>
          <p:cNvSpPr>
            <a:spLocks noGrp="1"/>
          </p:cNvSpPr>
          <p:nvPr>
            <p:ph type="subTitle" idx="1"/>
          </p:nvPr>
        </p:nvSpPr>
        <p:spPr/>
        <p:txBody>
          <a:bodyPr rtlCol="0">
            <a:normAutofit fontScale="40000" lnSpcReduction="20000"/>
          </a:bodyPr>
          <a:lstStyle/>
          <a:p>
            <a:pPr eaLnBrk="1" fontAlgn="auto" hangingPunct="1">
              <a:spcAft>
                <a:spcPts val="0"/>
              </a:spcAft>
              <a:defRPr/>
            </a:pPr>
            <a:r>
              <a:rPr lang="en-US" sz="5400" dirty="0" smtClean="0"/>
              <a:t>Lecturer: Ngo Huy Bien</a:t>
            </a:r>
          </a:p>
          <a:p>
            <a:pPr eaLnBrk="1" fontAlgn="auto" hangingPunct="1">
              <a:spcAft>
                <a:spcPts val="0"/>
              </a:spcAft>
              <a:defRPr/>
            </a:pPr>
            <a:r>
              <a:rPr lang="en-US" sz="4400" dirty="0" smtClean="0"/>
              <a:t>Software Engineering Department</a:t>
            </a:r>
          </a:p>
          <a:p>
            <a:pPr eaLnBrk="1" fontAlgn="auto" hangingPunct="1">
              <a:spcAft>
                <a:spcPts val="0"/>
              </a:spcAft>
              <a:defRPr/>
            </a:pPr>
            <a:r>
              <a:rPr lang="en-US" sz="4400" dirty="0" smtClean="0"/>
              <a:t>Faculty of Information Technology</a:t>
            </a:r>
          </a:p>
          <a:p>
            <a:pPr eaLnBrk="1" fontAlgn="auto" hangingPunct="1">
              <a:spcAft>
                <a:spcPts val="0"/>
              </a:spcAft>
              <a:defRPr/>
            </a:pPr>
            <a:r>
              <a:rPr lang="en-US" sz="4400" dirty="0" smtClean="0"/>
              <a:t>University of Science</a:t>
            </a:r>
          </a:p>
          <a:p>
            <a:pPr eaLnBrk="1" fontAlgn="auto" hangingPunct="1">
              <a:spcAft>
                <a:spcPts val="0"/>
              </a:spcAft>
              <a:defRPr/>
            </a:pPr>
            <a:r>
              <a:rPr lang="en-US" sz="4400" dirty="0" smtClean="0"/>
              <a:t>Ho Chi Minh City, Vietnam</a:t>
            </a:r>
          </a:p>
          <a:p>
            <a:pPr eaLnBrk="1" fontAlgn="auto" hangingPunct="1">
              <a:spcAft>
                <a:spcPts val="0"/>
              </a:spcAft>
              <a:defRPr/>
            </a:pPr>
            <a:r>
              <a:rPr lang="en-US" sz="4400" dirty="0" smtClean="0">
                <a:hlinkClick r:id="rId2"/>
              </a:rPr>
              <a:t>nhbien@fit.hcmus.edu.vn</a:t>
            </a:r>
            <a:endParaRPr lang="en-US" sz="4400" dirty="0" smtClean="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Objectives</a:t>
            </a:r>
            <a:endParaRPr lang="en-US" dirty="0"/>
          </a:p>
        </p:txBody>
      </p:sp>
      <p:sp>
        <p:nvSpPr>
          <p:cNvPr id="3" name="Content Placeholder 2"/>
          <p:cNvSpPr>
            <a:spLocks noGrp="1"/>
          </p:cNvSpPr>
          <p:nvPr>
            <p:ph idx="1"/>
          </p:nvPr>
        </p:nvSpPr>
        <p:spPr>
          <a:xfrm>
            <a:off x="457200" y="1905001"/>
            <a:ext cx="5562600" cy="4114799"/>
          </a:xfrm>
        </p:spPr>
        <p:txBody>
          <a:bodyPr/>
          <a:lstStyle/>
          <a:p>
            <a:pPr marL="571500" indent="-514350">
              <a:buFont typeface="Wingdings" pitchFamily="2" charset="2"/>
              <a:buChar char="Ø"/>
            </a:pPr>
            <a:endParaRPr lang="en-US" sz="2400" dirty="0" smtClean="0"/>
          </a:p>
        </p:txBody>
      </p:sp>
      <p:pic>
        <p:nvPicPr>
          <p:cNvPr id="4" name="Picture 2"/>
          <p:cNvPicPr>
            <a:picLocks noChangeAspect="1" noChangeArrowheads="1"/>
          </p:cNvPicPr>
          <p:nvPr/>
        </p:nvPicPr>
        <p:blipFill>
          <a:blip r:embed="rId2" cstate="print"/>
          <a:srcRect/>
          <a:stretch>
            <a:fillRect/>
          </a:stretch>
        </p:blipFill>
        <p:spPr bwMode="auto">
          <a:xfrm>
            <a:off x="6000750" y="2438400"/>
            <a:ext cx="2762250" cy="211455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p:cNvPicPr>
            <a:picLocks noChangeAspect="1" noChangeArrowheads="1"/>
          </p:cNvPicPr>
          <p:nvPr/>
        </p:nvPicPr>
        <p:blipFill>
          <a:blip r:embed="rId3" cstate="print"/>
          <a:srcRect/>
          <a:stretch>
            <a:fillRect/>
          </a:stretch>
        </p:blipFill>
        <p:spPr bwMode="auto">
          <a:xfrm>
            <a:off x="6477000" y="2438400"/>
            <a:ext cx="2390775" cy="2390775"/>
          </a:xfrm>
          <a:prstGeom prst="rect">
            <a:avLst/>
          </a:prstGeom>
          <a:noFill/>
          <a:ln w="9525">
            <a:noFill/>
            <a:miter lim="800000"/>
            <a:headEnd/>
            <a:tailEnd/>
          </a:ln>
        </p:spPr>
      </p:pic>
      <p:sp>
        <p:nvSpPr>
          <p:cNvPr id="2" name="Title 1"/>
          <p:cNvSpPr>
            <a:spLocks noGrp="1"/>
          </p:cNvSpPr>
          <p:nvPr>
            <p:ph type="title"/>
          </p:nvPr>
        </p:nvSpPr>
        <p:spPr/>
        <p:txBody>
          <a:bodyPr/>
          <a:lstStyle/>
          <a:p>
            <a:r>
              <a:rPr lang="en-US" dirty="0" smtClean="0"/>
              <a:t>Contents</a:t>
            </a:r>
            <a:endParaRPr lang="en-US" dirty="0"/>
          </a:p>
        </p:txBody>
      </p:sp>
      <p:sp>
        <p:nvSpPr>
          <p:cNvPr id="3" name="Content Placeholder 2"/>
          <p:cNvSpPr>
            <a:spLocks noGrp="1"/>
          </p:cNvSpPr>
          <p:nvPr>
            <p:ph idx="1"/>
          </p:nvPr>
        </p:nvSpPr>
        <p:spPr>
          <a:xfrm>
            <a:off x="457200" y="1600200"/>
            <a:ext cx="6096000" cy="4525963"/>
          </a:xfrm>
        </p:spPr>
        <p:txBody>
          <a:bodyPr/>
          <a:lstStyle/>
          <a:p>
            <a:pPr marL="571500" indent="-571500">
              <a:buFont typeface="+mj-lt"/>
              <a:buAutoNum type="romanUcPeriod"/>
            </a:pPr>
            <a:endParaRPr lang="en-US" sz="2400" dirty="0" smtClean="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References</a:t>
            </a:r>
            <a:endParaRPr lang="en-US" dirty="0"/>
          </a:p>
        </p:txBody>
      </p:sp>
      <p:sp>
        <p:nvSpPr>
          <p:cNvPr id="3" name="Content Placeholder 2"/>
          <p:cNvSpPr>
            <a:spLocks noGrp="1"/>
          </p:cNvSpPr>
          <p:nvPr>
            <p:ph idx="1"/>
          </p:nvPr>
        </p:nvSpPr>
        <p:spPr>
          <a:xfrm>
            <a:off x="457200" y="1828800"/>
            <a:ext cx="5867400" cy="4191000"/>
          </a:xfrm>
        </p:spPr>
        <p:txBody>
          <a:bodyPr/>
          <a:lstStyle/>
          <a:p>
            <a:pPr marL="457200" lvl="0" indent="-457200">
              <a:buFont typeface="+mj-lt"/>
              <a:buAutoNum type="arabicPeriod"/>
            </a:pPr>
            <a:r>
              <a:rPr lang="en-US" sz="2400" dirty="0" smtClean="0"/>
              <a:t>Alan Beaulieu (2023). Learning Snowflake SQL and Scripting. O'Reilly Media.</a:t>
            </a:r>
          </a:p>
          <a:p>
            <a:pPr marL="457200" lvl="0" indent="-457200">
              <a:buFont typeface="+mj-lt"/>
              <a:buAutoNum type="arabicPeriod"/>
            </a:pPr>
            <a:r>
              <a:rPr lang="en-US" sz="2400" dirty="0" smtClean="0"/>
              <a:t>Joyce Avila (2023). Snowflake - The Definitive Guide. O'Reilly Media.</a:t>
            </a:r>
          </a:p>
        </p:txBody>
      </p:sp>
      <p:pic>
        <p:nvPicPr>
          <p:cNvPr id="4" name="Picture 4" descr="http://2.bp.blogspot.com/-FqRM_5NQE6Q/TaSdzyWfvtI/AAAAAAAAAFg/C_2LDJWJOx4/s1600/books-pile.jpg"/>
          <p:cNvPicPr>
            <a:picLocks noChangeAspect="1" noChangeArrowheads="1"/>
          </p:cNvPicPr>
          <p:nvPr/>
        </p:nvPicPr>
        <p:blipFill>
          <a:blip r:embed="rId2" cstate="print"/>
          <a:srcRect/>
          <a:stretch>
            <a:fillRect/>
          </a:stretch>
        </p:blipFill>
        <p:spPr bwMode="auto">
          <a:xfrm>
            <a:off x="6267450" y="1676400"/>
            <a:ext cx="2724150" cy="4133850"/>
          </a:xfrm>
          <a:prstGeom prst="rect">
            <a:avLst/>
          </a:prstGeom>
          <a:noFill/>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Relational Database Primer [1]</a:t>
            </a:r>
            <a:endParaRPr lang="en-US" dirty="0"/>
          </a:p>
        </p:txBody>
      </p:sp>
      <p:sp>
        <p:nvSpPr>
          <p:cNvPr id="3" name="Content Placeholder 2"/>
          <p:cNvSpPr>
            <a:spLocks noGrp="1"/>
          </p:cNvSpPr>
          <p:nvPr>
            <p:ph idx="1"/>
          </p:nvPr>
        </p:nvSpPr>
        <p:spPr/>
        <p:txBody>
          <a:bodyPr/>
          <a:lstStyle/>
          <a:p>
            <a:r>
              <a:rPr lang="en-US" sz="2400" dirty="0" smtClean="0"/>
              <a:t>Oracle, Sybase, SQL Server (Microsoft), and Db2 (IBM).</a:t>
            </a:r>
          </a:p>
          <a:p>
            <a:endParaRPr lang="en-US" sz="2400" dirty="0" smtClean="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Snowflake</a:t>
            </a:r>
            <a:endParaRPr lang="en-US" dirty="0"/>
          </a:p>
        </p:txBody>
      </p:sp>
      <p:sp>
        <p:nvSpPr>
          <p:cNvPr id="3" name="Content Placeholder 2"/>
          <p:cNvSpPr>
            <a:spLocks noGrp="1"/>
          </p:cNvSpPr>
          <p:nvPr>
            <p:ph idx="1"/>
          </p:nvPr>
        </p:nvSpPr>
        <p:spPr/>
        <p:txBody>
          <a:bodyPr/>
          <a:lstStyle/>
          <a:p>
            <a:r>
              <a:rPr lang="en-US" sz="2400" dirty="0" smtClean="0"/>
              <a:t>First launched in 2014, Snowflake is a cloud-based, full-featured, relational database.</a:t>
            </a:r>
          </a:p>
          <a:p>
            <a:r>
              <a:rPr lang="en-US" sz="2400" dirty="0" smtClean="0"/>
              <a:t>Snowflake databases can be hosted on any of the three major cloud platforms (Amazon AWS, Microsoft Azure, and Google Cloud), which allows customers with existing cloud deployments to stick with what they know.</a:t>
            </a:r>
          </a:p>
          <a:p>
            <a:r>
              <a:rPr lang="en-US" sz="2400" dirty="0" smtClean="0"/>
              <a:t>Both storage and compute engines can be scaled on demand, and Snowflake’s software as a service (</a:t>
            </a:r>
            <a:r>
              <a:rPr lang="en-US" sz="2400" dirty="0" err="1" smtClean="0"/>
              <a:t>SaaS</a:t>
            </a:r>
            <a:r>
              <a:rPr lang="en-US" sz="2400" dirty="0" smtClean="0"/>
              <a:t>) model frees companies from the need to hire legions of network, server, and database administrators, allowing organizations to focus on their core business.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Why Snowflake? [2]</a:t>
            </a:r>
            <a:endParaRPr lang="en-US" dirty="0"/>
          </a:p>
        </p:txBody>
      </p:sp>
      <p:sp>
        <p:nvSpPr>
          <p:cNvPr id="3" name="Content Placeholder 2"/>
          <p:cNvSpPr>
            <a:spLocks noGrp="1"/>
          </p:cNvSpPr>
          <p:nvPr>
            <p:ph idx="1"/>
          </p:nvPr>
        </p:nvSpPr>
        <p:spPr/>
        <p:txBody>
          <a:bodyPr/>
          <a:lstStyle/>
          <a:p>
            <a:r>
              <a:rPr lang="en-US" sz="2400" dirty="0" smtClean="0"/>
              <a:t>Many of the major data warehouse providers, such as Oracle and IBM, that were created as a traditionally hosted solution later adapted to the cloud environment.</a:t>
            </a:r>
          </a:p>
          <a:p>
            <a:r>
              <a:rPr lang="en-US" sz="2400" dirty="0" smtClean="0"/>
              <a:t>Unlike those traditional solutions, Snowflake was built natively for the cloud from the ground up.</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1. Register an Account</a:t>
            </a:r>
            <a:endParaRPr lang="en-US" dirty="0"/>
          </a:p>
        </p:txBody>
      </p:sp>
      <p:sp>
        <p:nvSpPr>
          <p:cNvPr id="3" name="Content Placeholder 2"/>
          <p:cNvSpPr>
            <a:spLocks noGrp="1"/>
          </p:cNvSpPr>
          <p:nvPr>
            <p:ph idx="1"/>
          </p:nvPr>
        </p:nvSpPr>
        <p:spPr/>
        <p:txBody>
          <a:bodyPr/>
          <a:lstStyle/>
          <a:p>
            <a:r>
              <a:rPr lang="en-US" sz="2400" dirty="0" smtClean="0">
                <a:hlinkClick r:id="rId2"/>
              </a:rPr>
              <a:t>https://www.snowflake.com/en/</a:t>
            </a:r>
            <a:endParaRPr lang="en-US" sz="2400" dirty="0" smtClean="0"/>
          </a:p>
          <a:p>
            <a:endParaRPr lang="en-US" sz="2400" dirty="0" smtClean="0"/>
          </a:p>
        </p:txBody>
      </p:sp>
      <p:pic>
        <p:nvPicPr>
          <p:cNvPr id="1026" name="Picture 2"/>
          <p:cNvPicPr>
            <a:picLocks noChangeAspect="1" noChangeArrowheads="1"/>
          </p:cNvPicPr>
          <p:nvPr/>
        </p:nvPicPr>
        <p:blipFill>
          <a:blip r:embed="rId3" cstate="print"/>
          <a:srcRect/>
          <a:stretch>
            <a:fillRect/>
          </a:stretch>
        </p:blipFill>
        <p:spPr bwMode="auto">
          <a:xfrm>
            <a:off x="2057400" y="2337624"/>
            <a:ext cx="5480014" cy="3986976"/>
          </a:xfrm>
          <a:prstGeom prst="rect">
            <a:avLst/>
          </a:prstGeom>
          <a:noFill/>
          <a:ln w="9525">
            <a:noFill/>
            <a:miter lim="800000"/>
            <a:headEnd/>
            <a:tailEnd/>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2. Select Options</a:t>
            </a:r>
            <a:endParaRPr lang="en-US" dirty="0"/>
          </a:p>
        </p:txBody>
      </p:sp>
      <p:pic>
        <p:nvPicPr>
          <p:cNvPr id="2050" name="Picture 2"/>
          <p:cNvPicPr>
            <a:picLocks noChangeAspect="1" noChangeArrowheads="1"/>
          </p:cNvPicPr>
          <p:nvPr/>
        </p:nvPicPr>
        <p:blipFill>
          <a:blip r:embed="rId2" cstate="print"/>
          <a:srcRect/>
          <a:stretch>
            <a:fillRect/>
          </a:stretch>
        </p:blipFill>
        <p:spPr bwMode="auto">
          <a:xfrm>
            <a:off x="3124200" y="1992640"/>
            <a:ext cx="2769934" cy="4103360"/>
          </a:xfrm>
          <a:prstGeom prst="rect">
            <a:avLst/>
          </a:prstGeom>
          <a:noFill/>
          <a:ln w="9525">
            <a:noFill/>
            <a:miter lim="800000"/>
            <a:headEnd/>
            <a:tailEnd/>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3. Review Web User Interfaces</a:t>
            </a:r>
            <a:endParaRPr lang="en-US" dirty="0"/>
          </a:p>
        </p:txBody>
      </p:sp>
      <p:pic>
        <p:nvPicPr>
          <p:cNvPr id="3074" name="Picture 2"/>
          <p:cNvPicPr>
            <a:picLocks noChangeAspect="1" noChangeArrowheads="1"/>
          </p:cNvPicPr>
          <p:nvPr/>
        </p:nvPicPr>
        <p:blipFill>
          <a:blip r:embed="rId2" cstate="print"/>
          <a:srcRect/>
          <a:stretch>
            <a:fillRect/>
          </a:stretch>
        </p:blipFill>
        <p:spPr bwMode="auto">
          <a:xfrm>
            <a:off x="1143000" y="2133600"/>
            <a:ext cx="6580672" cy="3794112"/>
          </a:xfrm>
          <a:prstGeom prst="rect">
            <a:avLst/>
          </a:prstGeom>
          <a:noFill/>
          <a:ln w="9525">
            <a:noFill/>
            <a:miter lim="800000"/>
            <a:headEnd/>
            <a:tailEnd/>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Shared-Disk (Scalable) Architecture</a:t>
            </a:r>
            <a:endParaRPr lang="en-US" dirty="0"/>
          </a:p>
        </p:txBody>
      </p:sp>
      <p:sp>
        <p:nvSpPr>
          <p:cNvPr id="3" name="Content Placeholder 2"/>
          <p:cNvSpPr>
            <a:spLocks noGrp="1"/>
          </p:cNvSpPr>
          <p:nvPr>
            <p:ph idx="1"/>
          </p:nvPr>
        </p:nvSpPr>
        <p:spPr>
          <a:xfrm>
            <a:off x="457200" y="1600200"/>
            <a:ext cx="5334000" cy="4525963"/>
          </a:xfrm>
        </p:spPr>
        <p:txBody>
          <a:bodyPr/>
          <a:lstStyle/>
          <a:p>
            <a:r>
              <a:rPr lang="en-US" sz="2200" dirty="0" smtClean="0"/>
              <a:t>While the approach is simple in theory, it requires </a:t>
            </a:r>
            <a:r>
              <a:rPr lang="en-US" sz="2200" i="1" dirty="0" smtClean="0">
                <a:solidFill>
                  <a:srgbClr val="C00000"/>
                </a:solidFill>
              </a:rPr>
              <a:t>complex on-disk locking mechanisms</a:t>
            </a:r>
            <a:r>
              <a:rPr lang="en-US" sz="2200" dirty="0" smtClean="0"/>
              <a:t> to ensure data consistency which, in turn, causes bottlenecks.</a:t>
            </a:r>
          </a:p>
          <a:p>
            <a:r>
              <a:rPr lang="en-US" sz="2200" i="1" dirty="0" smtClean="0">
                <a:solidFill>
                  <a:srgbClr val="C00000"/>
                </a:solidFill>
              </a:rPr>
              <a:t>Data concurrency</a:t>
            </a:r>
            <a:r>
              <a:rPr lang="en-US" sz="2200" i="1" dirty="0" smtClean="0"/>
              <a:t>, </a:t>
            </a:r>
            <a:r>
              <a:rPr lang="en-US" sz="2200" dirty="0" smtClean="0"/>
              <a:t>allowing many users to affect multiple transactions within a database, is also a major problem, and adding more compute nodes only compounds the problem in a shared-disk architecture.</a:t>
            </a:r>
          </a:p>
          <a:p>
            <a:r>
              <a:rPr lang="en-US" sz="2200" dirty="0" smtClean="0"/>
              <a:t>Therefore, the true scalability of this architecture is limited.</a:t>
            </a:r>
            <a:endParaRPr lang="en-US" sz="2200" dirty="0"/>
          </a:p>
        </p:txBody>
      </p:sp>
      <p:pic>
        <p:nvPicPr>
          <p:cNvPr id="4098" name="Picture 2"/>
          <p:cNvPicPr>
            <a:picLocks noChangeAspect="1" noChangeArrowheads="1"/>
          </p:cNvPicPr>
          <p:nvPr/>
        </p:nvPicPr>
        <p:blipFill>
          <a:blip r:embed="rId2" cstate="print"/>
          <a:srcRect/>
          <a:stretch>
            <a:fillRect/>
          </a:stretch>
        </p:blipFill>
        <p:spPr bwMode="auto">
          <a:xfrm>
            <a:off x="6248400" y="1981200"/>
            <a:ext cx="1997075" cy="2381250"/>
          </a:xfrm>
          <a:prstGeom prst="rect">
            <a:avLst/>
          </a:prstGeom>
          <a:noFill/>
          <a:ln w="9525">
            <a:noFill/>
            <a:miter lim="800000"/>
            <a:headEnd/>
            <a:tailEnd/>
          </a:ln>
        </p:spPr>
      </p:pic>
      <p:sp>
        <p:nvSpPr>
          <p:cNvPr id="7" name="Rectangle 6"/>
          <p:cNvSpPr/>
          <p:nvPr/>
        </p:nvSpPr>
        <p:spPr>
          <a:xfrm>
            <a:off x="5638800" y="5257800"/>
            <a:ext cx="3124200" cy="923330"/>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en-US" dirty="0" smtClean="0">
                <a:latin typeface="Consolas" pitchFamily="49" charset="0"/>
              </a:rPr>
              <a:t>Oracle RAC is an example of a shared-disk architecture.</a:t>
            </a:r>
            <a:endParaRPr lang="en-US" dirty="0">
              <a:latin typeface="Consolas" pitchFamily="49"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dirty="0" smtClean="0"/>
              <a:t>Shared-Nothing (Scalable) Architecture</a:t>
            </a:r>
            <a:endParaRPr lang="en-US" sz="4000" dirty="0"/>
          </a:p>
        </p:txBody>
      </p:sp>
      <p:sp>
        <p:nvSpPr>
          <p:cNvPr id="3" name="Content Placeholder 2"/>
          <p:cNvSpPr>
            <a:spLocks noGrp="1"/>
          </p:cNvSpPr>
          <p:nvPr>
            <p:ph idx="1"/>
          </p:nvPr>
        </p:nvSpPr>
        <p:spPr>
          <a:xfrm>
            <a:off x="457200" y="1600200"/>
            <a:ext cx="5334000" cy="4525963"/>
          </a:xfrm>
        </p:spPr>
        <p:txBody>
          <a:bodyPr/>
          <a:lstStyle/>
          <a:p>
            <a:r>
              <a:rPr lang="en-US" sz="2400" dirty="0" smtClean="0"/>
              <a:t>Distributed cluster nodes along with the associated disk storage, CPU, and memory </a:t>
            </a:r>
            <a:r>
              <a:rPr lang="en-US" sz="2400" i="1" dirty="0" smtClean="0">
                <a:solidFill>
                  <a:srgbClr val="C00000"/>
                </a:solidFill>
              </a:rPr>
              <a:t>requires data to be shuffled</a:t>
            </a:r>
            <a:r>
              <a:rPr lang="en-US" sz="2400" dirty="0" smtClean="0"/>
              <a:t> between nodes, which adds overhead.</a:t>
            </a:r>
          </a:p>
          <a:p>
            <a:r>
              <a:rPr lang="en-US" sz="2400" dirty="0" smtClean="0"/>
              <a:t>The way the data is distributed across the nodes will determine the extent of the additional overhead.</a:t>
            </a:r>
            <a:endParaRPr lang="en-US" sz="2200" dirty="0"/>
          </a:p>
        </p:txBody>
      </p:sp>
      <p:sp>
        <p:nvSpPr>
          <p:cNvPr id="7" name="Rectangle 6"/>
          <p:cNvSpPr/>
          <p:nvPr/>
        </p:nvSpPr>
        <p:spPr>
          <a:xfrm>
            <a:off x="4953000" y="4953000"/>
            <a:ext cx="3810000" cy="1200329"/>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en-US" dirty="0" smtClean="0">
                <a:latin typeface="Consolas" pitchFamily="49" charset="0"/>
              </a:rPr>
              <a:t>Examples of a</a:t>
            </a:r>
          </a:p>
          <a:p>
            <a:r>
              <a:rPr lang="en-US" dirty="0" smtClean="0">
                <a:latin typeface="Consolas" pitchFamily="49" charset="0"/>
              </a:rPr>
              <a:t>shared-nothing architecture include IBM DB2, </a:t>
            </a:r>
            <a:r>
              <a:rPr lang="en-US" dirty="0" err="1" smtClean="0">
                <a:latin typeface="Consolas" pitchFamily="49" charset="0"/>
              </a:rPr>
              <a:t>Vertica</a:t>
            </a:r>
            <a:r>
              <a:rPr lang="en-US" dirty="0" smtClean="0">
                <a:latin typeface="Consolas" pitchFamily="49" charset="0"/>
              </a:rPr>
              <a:t>, and Pivotal </a:t>
            </a:r>
            <a:r>
              <a:rPr lang="en-US" dirty="0" err="1" smtClean="0">
                <a:latin typeface="Consolas" pitchFamily="49" charset="0"/>
              </a:rPr>
              <a:t>Greenplum</a:t>
            </a:r>
            <a:r>
              <a:rPr lang="en-US" dirty="0" smtClean="0">
                <a:latin typeface="Consolas" pitchFamily="49" charset="0"/>
              </a:rPr>
              <a:t>.</a:t>
            </a:r>
            <a:endParaRPr lang="en-US" dirty="0">
              <a:latin typeface="Consolas" pitchFamily="49" charset="0"/>
            </a:endParaRPr>
          </a:p>
        </p:txBody>
      </p:sp>
      <p:pic>
        <p:nvPicPr>
          <p:cNvPr id="5122" name="Picture 2"/>
          <p:cNvPicPr>
            <a:picLocks noChangeAspect="1" noChangeArrowheads="1"/>
          </p:cNvPicPr>
          <p:nvPr/>
        </p:nvPicPr>
        <p:blipFill>
          <a:blip r:embed="rId2" cstate="print"/>
          <a:srcRect/>
          <a:stretch>
            <a:fillRect/>
          </a:stretch>
        </p:blipFill>
        <p:spPr bwMode="auto">
          <a:xfrm>
            <a:off x="6324600" y="1828800"/>
            <a:ext cx="1997075" cy="2387600"/>
          </a:xfrm>
          <a:prstGeom prst="rect">
            <a:avLst/>
          </a:prstGeom>
          <a:noFill/>
          <a:ln w="9525">
            <a:noFill/>
            <a:miter lim="800000"/>
            <a:headEnd/>
            <a:tailEnd/>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dirty="0" err="1" smtClean="0"/>
              <a:t>NoSQL</a:t>
            </a:r>
            <a:r>
              <a:rPr lang="en-US" sz="4000" dirty="0" smtClean="0"/>
              <a:t> Alternatives</a:t>
            </a:r>
            <a:endParaRPr lang="en-US" sz="4000" dirty="0"/>
          </a:p>
        </p:txBody>
      </p:sp>
      <p:sp>
        <p:nvSpPr>
          <p:cNvPr id="3" name="Content Placeholder 2"/>
          <p:cNvSpPr>
            <a:spLocks noGrp="1"/>
          </p:cNvSpPr>
          <p:nvPr>
            <p:ph idx="1"/>
          </p:nvPr>
        </p:nvSpPr>
        <p:spPr>
          <a:xfrm>
            <a:off x="457200" y="1600200"/>
            <a:ext cx="5334000" cy="4525963"/>
          </a:xfrm>
        </p:spPr>
        <p:txBody>
          <a:bodyPr/>
          <a:lstStyle/>
          <a:p>
            <a:r>
              <a:rPr lang="en-US" sz="2400" dirty="0" smtClean="0"/>
              <a:t>Most </a:t>
            </a:r>
            <a:r>
              <a:rPr lang="en-US" sz="2400" dirty="0" err="1" smtClean="0"/>
              <a:t>NoSQL</a:t>
            </a:r>
            <a:r>
              <a:rPr lang="en-US" sz="2400" dirty="0" smtClean="0"/>
              <a:t> solutions rely on a shared-nothing architecture; thus, they have many of the same limitations.</a:t>
            </a:r>
          </a:p>
          <a:p>
            <a:r>
              <a:rPr lang="en-US" sz="2400" dirty="0" smtClean="0"/>
              <a:t>A major limitation of </a:t>
            </a:r>
            <a:r>
              <a:rPr lang="en-US" sz="2400" dirty="0" err="1" smtClean="0"/>
              <a:t>NoSQL</a:t>
            </a:r>
            <a:r>
              <a:rPr lang="en-US" sz="2400" dirty="0" smtClean="0"/>
              <a:t> stores is that they perform poorly when doing calculations involving many records, such as aggregations, window functions, and arbitrary ordering.</a:t>
            </a:r>
            <a:endParaRPr lang="en-US" sz="2200" dirty="0"/>
          </a:p>
        </p:txBody>
      </p:sp>
      <p:pic>
        <p:nvPicPr>
          <p:cNvPr id="5122" name="Picture 2"/>
          <p:cNvPicPr>
            <a:picLocks noChangeAspect="1" noChangeArrowheads="1"/>
          </p:cNvPicPr>
          <p:nvPr/>
        </p:nvPicPr>
        <p:blipFill>
          <a:blip r:embed="rId2" cstate="print"/>
          <a:srcRect/>
          <a:stretch>
            <a:fillRect/>
          </a:stretch>
        </p:blipFill>
        <p:spPr bwMode="auto">
          <a:xfrm>
            <a:off x="6324600" y="1828800"/>
            <a:ext cx="1997075" cy="2387600"/>
          </a:xfrm>
          <a:prstGeom prst="rect">
            <a:avLst/>
          </a:prstGeom>
          <a:noFill/>
          <a:ln w="9525">
            <a:noFill/>
            <a:miter lim="800000"/>
            <a:headEnd/>
            <a:tailEnd/>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dirty="0" smtClean="0"/>
              <a:t>The Snowflake Architecture</a:t>
            </a:r>
            <a:endParaRPr lang="en-US" sz="4000" dirty="0"/>
          </a:p>
        </p:txBody>
      </p:sp>
      <p:pic>
        <p:nvPicPr>
          <p:cNvPr id="6146" name="Picture 2"/>
          <p:cNvPicPr>
            <a:picLocks noChangeAspect="1" noChangeArrowheads="1"/>
          </p:cNvPicPr>
          <p:nvPr/>
        </p:nvPicPr>
        <p:blipFill>
          <a:blip r:embed="rId2" cstate="print"/>
          <a:srcRect/>
          <a:stretch>
            <a:fillRect/>
          </a:stretch>
        </p:blipFill>
        <p:spPr bwMode="auto">
          <a:xfrm>
            <a:off x="2470150" y="1879600"/>
            <a:ext cx="4464050" cy="4064000"/>
          </a:xfrm>
          <a:prstGeom prst="rect">
            <a:avLst/>
          </a:prstGeom>
          <a:noFill/>
          <a:ln w="9525">
            <a:noFill/>
            <a:miter lim="800000"/>
            <a:headEnd/>
            <a:tailEnd/>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Cloud Services Layer</a:t>
            </a:r>
            <a:endParaRPr lang="en-US" dirty="0"/>
          </a:p>
        </p:txBody>
      </p:sp>
      <p:sp>
        <p:nvSpPr>
          <p:cNvPr id="3" name="Content Placeholder 2"/>
          <p:cNvSpPr>
            <a:spLocks noGrp="1"/>
          </p:cNvSpPr>
          <p:nvPr>
            <p:ph idx="1"/>
          </p:nvPr>
        </p:nvSpPr>
        <p:spPr/>
        <p:txBody>
          <a:bodyPr/>
          <a:lstStyle/>
          <a:p>
            <a:endParaRPr lang="en-US" sz="2200" dirty="0" smtClean="0"/>
          </a:p>
          <a:p>
            <a:endParaRPr lang="en-US" sz="2200" dirty="0" smtClean="0"/>
          </a:p>
          <a:p>
            <a:endParaRPr lang="en-US" sz="2200" dirty="0" smtClean="0"/>
          </a:p>
          <a:p>
            <a:endParaRPr lang="en-US" sz="2200" dirty="0" smtClean="0"/>
          </a:p>
          <a:p>
            <a:r>
              <a:rPr lang="en-US" sz="2200" dirty="0" smtClean="0"/>
              <a:t>Each time a user requests to log in, the request is handled by the cloud services layer.</a:t>
            </a:r>
          </a:p>
          <a:p>
            <a:r>
              <a:rPr lang="en-US" sz="2200" dirty="0" smtClean="0"/>
              <a:t>When a user submits a Snowflake query, the SQL query will be sent to the cloud services layer optimizer before being sent to the compute layer for processing.</a:t>
            </a:r>
          </a:p>
          <a:p>
            <a:r>
              <a:rPr lang="en-US" sz="2200" dirty="0" smtClean="0"/>
              <a:t>The cloud services layer is what enables the SQL client interface for Data Definition Language (DDL) and Data Manipulation Language (DML) operations on data.</a:t>
            </a:r>
          </a:p>
        </p:txBody>
      </p:sp>
      <p:pic>
        <p:nvPicPr>
          <p:cNvPr id="7170" name="Picture 2"/>
          <p:cNvPicPr>
            <a:picLocks noChangeAspect="1" noChangeArrowheads="1"/>
          </p:cNvPicPr>
          <p:nvPr/>
        </p:nvPicPr>
        <p:blipFill>
          <a:blip r:embed="rId2" cstate="print"/>
          <a:srcRect/>
          <a:stretch>
            <a:fillRect/>
          </a:stretch>
        </p:blipFill>
        <p:spPr bwMode="auto">
          <a:xfrm>
            <a:off x="2346325" y="1631950"/>
            <a:ext cx="4451350" cy="1416050"/>
          </a:xfrm>
          <a:prstGeom prst="rect">
            <a:avLst/>
          </a:prstGeom>
          <a:noFill/>
          <a:ln w="9525">
            <a:noFill/>
            <a:miter lim="800000"/>
            <a:headEnd/>
            <a:tailEnd/>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Query Processing (Virtual Warehouse) Compute Layer</a:t>
            </a:r>
            <a:endParaRPr lang="en-US" dirty="0"/>
          </a:p>
        </p:txBody>
      </p:sp>
      <p:sp>
        <p:nvSpPr>
          <p:cNvPr id="3" name="Content Placeholder 2"/>
          <p:cNvSpPr>
            <a:spLocks noGrp="1"/>
          </p:cNvSpPr>
          <p:nvPr>
            <p:ph idx="1"/>
          </p:nvPr>
        </p:nvSpPr>
        <p:spPr/>
        <p:txBody>
          <a:bodyPr/>
          <a:lstStyle/>
          <a:p>
            <a:endParaRPr lang="en-US" sz="2200" dirty="0" smtClean="0"/>
          </a:p>
          <a:p>
            <a:endParaRPr lang="en-US" sz="2200" dirty="0" smtClean="0"/>
          </a:p>
          <a:p>
            <a:endParaRPr lang="en-US" sz="2200" dirty="0" smtClean="0"/>
          </a:p>
          <a:p>
            <a:endParaRPr lang="en-US" sz="2200" dirty="0" smtClean="0"/>
          </a:p>
          <a:p>
            <a:endParaRPr lang="en-US" sz="2400" dirty="0" smtClean="0"/>
          </a:p>
          <a:p>
            <a:r>
              <a:rPr lang="en-US" sz="2400" dirty="0" smtClean="0"/>
              <a:t>A Snowflake compute cluster, most often referred to simply as a virtual warehouse, is a dynamic cluster of compute resources consisting of CPU memory and temporary storage.</a:t>
            </a:r>
          </a:p>
          <a:p>
            <a:r>
              <a:rPr lang="en-US" sz="2400" dirty="0" smtClean="0"/>
              <a:t>A running virtual warehouse is required for most SQL queries and all DML operations, including loading and unloading data into tables, as well as updating rows in tables.</a:t>
            </a:r>
            <a:endParaRPr lang="en-US" sz="2200" dirty="0" smtClean="0"/>
          </a:p>
        </p:txBody>
      </p:sp>
      <p:pic>
        <p:nvPicPr>
          <p:cNvPr id="8194" name="Picture 2"/>
          <p:cNvPicPr>
            <a:picLocks noChangeAspect="1" noChangeArrowheads="1"/>
          </p:cNvPicPr>
          <p:nvPr/>
        </p:nvPicPr>
        <p:blipFill>
          <a:blip r:embed="rId2" cstate="print"/>
          <a:srcRect/>
          <a:stretch>
            <a:fillRect/>
          </a:stretch>
        </p:blipFill>
        <p:spPr bwMode="auto">
          <a:xfrm>
            <a:off x="2400300" y="1981200"/>
            <a:ext cx="4343400" cy="1196975"/>
          </a:xfrm>
          <a:prstGeom prst="rect">
            <a:avLst/>
          </a:prstGeom>
          <a:noFill/>
          <a:ln w="9525">
            <a:noFill/>
            <a:miter lim="800000"/>
            <a:headEnd/>
            <a:tailEnd/>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1. Create a Warehouse</a:t>
            </a:r>
            <a:endParaRPr lang="en-US" dirty="0"/>
          </a:p>
        </p:txBody>
      </p:sp>
      <p:pic>
        <p:nvPicPr>
          <p:cNvPr id="9219" name="Picture 3"/>
          <p:cNvPicPr>
            <a:picLocks noChangeAspect="1" noChangeArrowheads="1"/>
          </p:cNvPicPr>
          <p:nvPr/>
        </p:nvPicPr>
        <p:blipFill>
          <a:blip r:embed="rId2" cstate="print"/>
          <a:srcRect/>
          <a:stretch>
            <a:fillRect/>
          </a:stretch>
        </p:blipFill>
        <p:spPr bwMode="auto">
          <a:xfrm>
            <a:off x="838200" y="3048000"/>
            <a:ext cx="7182542" cy="2244545"/>
          </a:xfrm>
          <a:prstGeom prst="rect">
            <a:avLst/>
          </a:prstGeom>
          <a:noFill/>
          <a:ln w="9525">
            <a:noFill/>
            <a:miter lim="800000"/>
            <a:headEnd/>
            <a:tailEnd/>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2. Create a User</a:t>
            </a:r>
            <a:endParaRPr lang="en-US" dirty="0"/>
          </a:p>
        </p:txBody>
      </p:sp>
      <p:pic>
        <p:nvPicPr>
          <p:cNvPr id="11266" name="Picture 2"/>
          <p:cNvPicPr>
            <a:picLocks noChangeAspect="1" noChangeArrowheads="1"/>
          </p:cNvPicPr>
          <p:nvPr/>
        </p:nvPicPr>
        <p:blipFill>
          <a:blip r:embed="rId2" cstate="print"/>
          <a:srcRect/>
          <a:stretch>
            <a:fillRect/>
          </a:stretch>
        </p:blipFill>
        <p:spPr bwMode="auto">
          <a:xfrm>
            <a:off x="1146815" y="2057400"/>
            <a:ext cx="7082785" cy="3860617"/>
          </a:xfrm>
          <a:prstGeom prst="rect">
            <a:avLst/>
          </a:prstGeom>
          <a:noFill/>
          <a:ln w="9525">
            <a:noFill/>
            <a:miter lim="800000"/>
            <a:headEnd/>
            <a:tailEnd/>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Separating Snowflake Workloads</a:t>
            </a:r>
            <a:endParaRPr lang="en-US" dirty="0"/>
          </a:p>
        </p:txBody>
      </p:sp>
      <p:sp>
        <p:nvSpPr>
          <p:cNvPr id="3" name="Content Placeholder 2"/>
          <p:cNvSpPr>
            <a:spLocks noGrp="1"/>
          </p:cNvSpPr>
          <p:nvPr>
            <p:ph idx="1"/>
          </p:nvPr>
        </p:nvSpPr>
        <p:spPr/>
        <p:txBody>
          <a:bodyPr/>
          <a:lstStyle/>
          <a:p>
            <a:r>
              <a:rPr lang="en-US" sz="2400" dirty="0" smtClean="0"/>
              <a:t>Assigning different virtual warehouses to groups of users.</a:t>
            </a:r>
            <a:endParaRPr lang="en-US" sz="2400" dirty="0"/>
          </a:p>
        </p:txBody>
      </p:sp>
      <p:pic>
        <p:nvPicPr>
          <p:cNvPr id="10242" name="Picture 2"/>
          <p:cNvPicPr>
            <a:picLocks noChangeAspect="1" noChangeArrowheads="1"/>
          </p:cNvPicPr>
          <p:nvPr/>
        </p:nvPicPr>
        <p:blipFill>
          <a:blip r:embed="rId2" cstate="print"/>
          <a:srcRect/>
          <a:stretch>
            <a:fillRect/>
          </a:stretch>
        </p:blipFill>
        <p:spPr bwMode="auto">
          <a:xfrm>
            <a:off x="2514600" y="2311400"/>
            <a:ext cx="3863975" cy="3860800"/>
          </a:xfrm>
          <a:prstGeom prst="rect">
            <a:avLst/>
          </a:prstGeom>
          <a:noFill/>
          <a:ln w="9525">
            <a:noFill/>
            <a:miter lim="800000"/>
            <a:headEnd/>
            <a:tailEnd/>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Centralized (Hybrid Columnar) Database Storage Layer</a:t>
            </a:r>
            <a:endParaRPr lang="en-US" dirty="0"/>
          </a:p>
        </p:txBody>
      </p:sp>
      <p:sp>
        <p:nvSpPr>
          <p:cNvPr id="3" name="Content Placeholder 2"/>
          <p:cNvSpPr>
            <a:spLocks noGrp="1"/>
          </p:cNvSpPr>
          <p:nvPr>
            <p:ph idx="1"/>
          </p:nvPr>
        </p:nvSpPr>
        <p:spPr/>
        <p:txBody>
          <a:bodyPr/>
          <a:lstStyle/>
          <a:p>
            <a:endParaRPr lang="en-US" sz="2200" dirty="0" smtClean="0"/>
          </a:p>
          <a:p>
            <a:endParaRPr lang="en-US" sz="2200" dirty="0" smtClean="0"/>
          </a:p>
          <a:p>
            <a:endParaRPr lang="en-US" sz="2200" dirty="0" smtClean="0"/>
          </a:p>
          <a:p>
            <a:endParaRPr lang="en-US" sz="2200" dirty="0" smtClean="0"/>
          </a:p>
          <a:p>
            <a:endParaRPr lang="en-US" sz="2200" dirty="0" smtClean="0"/>
          </a:p>
          <a:p>
            <a:r>
              <a:rPr lang="en-US" sz="2200" dirty="0" smtClean="0"/>
              <a:t>Snowflake’s centralized database storage layer holds all data, including structured and semi-structured data.</a:t>
            </a:r>
          </a:p>
          <a:p>
            <a:r>
              <a:rPr lang="en-US" sz="2200" dirty="0" smtClean="0"/>
              <a:t>As data is loaded into Snowflake, it is optimally reorganized into a compressed, columnar format and stored and maintained in Snowflake databases.</a:t>
            </a:r>
          </a:p>
          <a:p>
            <a:r>
              <a:rPr lang="en-US" sz="2200" dirty="0" smtClean="0"/>
              <a:t>Each Snowflake database consists of one or more schemas, which are logical groupings of database objects such as tables and views.</a:t>
            </a:r>
            <a:endParaRPr lang="en-US" sz="2200" dirty="0"/>
          </a:p>
        </p:txBody>
      </p:sp>
      <p:pic>
        <p:nvPicPr>
          <p:cNvPr id="12290" name="Picture 2"/>
          <p:cNvPicPr>
            <a:picLocks noChangeAspect="1" noChangeArrowheads="1"/>
          </p:cNvPicPr>
          <p:nvPr/>
        </p:nvPicPr>
        <p:blipFill>
          <a:blip r:embed="rId2" cstate="print"/>
          <a:srcRect/>
          <a:stretch>
            <a:fillRect/>
          </a:stretch>
        </p:blipFill>
        <p:spPr bwMode="auto">
          <a:xfrm>
            <a:off x="2432050" y="1911350"/>
            <a:ext cx="4279900" cy="1365250"/>
          </a:xfrm>
          <a:prstGeom prst="rect">
            <a:avLst/>
          </a:prstGeom>
          <a:noFill/>
          <a:ln w="9525">
            <a:noFill/>
            <a:miter lim="800000"/>
            <a:headEnd/>
            <a:tailEnd/>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Compression and Encryption</a:t>
            </a:r>
            <a:endParaRPr lang="en-US" dirty="0"/>
          </a:p>
        </p:txBody>
      </p:sp>
      <p:sp>
        <p:nvSpPr>
          <p:cNvPr id="3" name="Content Placeholder 2"/>
          <p:cNvSpPr>
            <a:spLocks noGrp="1"/>
          </p:cNvSpPr>
          <p:nvPr>
            <p:ph idx="1"/>
          </p:nvPr>
        </p:nvSpPr>
        <p:spPr/>
        <p:txBody>
          <a:bodyPr/>
          <a:lstStyle/>
          <a:p>
            <a:r>
              <a:rPr lang="en-US" sz="2400" dirty="0" smtClean="0"/>
              <a:t>Data stored in Snowflake databases is always compressed and encrypted.</a:t>
            </a:r>
          </a:p>
          <a:p>
            <a:r>
              <a:rPr lang="en-US" sz="2400" dirty="0" smtClean="0"/>
              <a:t>Snowflake takes care of managing every aspect of how the data is stored.</a:t>
            </a:r>
          </a:p>
          <a:p>
            <a:r>
              <a:rPr lang="en-US" sz="2400" dirty="0" smtClean="0"/>
              <a:t>Snowflake automatically organizes stored data into micro-partitions, an optimized, immutable, compressed columnar format which is encrypted using AES-256 encryption. Snowflake optimizes and compresses data to make metadata extraction and query processing easier and more efficient.</a:t>
            </a:r>
            <a:endParaRPr lang="en-US" sz="24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3. </a:t>
            </a:r>
            <a:r>
              <a:rPr lang="en-US" dirty="0" smtClean="0"/>
              <a:t>Create a </a:t>
            </a:r>
            <a:r>
              <a:rPr lang="en-US" dirty="0" smtClean="0"/>
              <a:t>Database</a:t>
            </a:r>
            <a:endParaRPr lang="en-US" dirty="0"/>
          </a:p>
        </p:txBody>
      </p:sp>
      <p:pic>
        <p:nvPicPr>
          <p:cNvPr id="1026" name="Picture 2"/>
          <p:cNvPicPr>
            <a:picLocks noChangeAspect="1" noChangeArrowheads="1"/>
          </p:cNvPicPr>
          <p:nvPr/>
        </p:nvPicPr>
        <p:blipFill>
          <a:blip r:embed="rId2" cstate="print"/>
          <a:srcRect/>
          <a:stretch>
            <a:fillRect/>
          </a:stretch>
        </p:blipFill>
        <p:spPr bwMode="auto">
          <a:xfrm>
            <a:off x="914400" y="2038957"/>
            <a:ext cx="7325528" cy="3218843"/>
          </a:xfrm>
          <a:prstGeom prst="rect">
            <a:avLst/>
          </a:prstGeom>
          <a:noFill/>
          <a:ln w="9525">
            <a:noFill/>
            <a:miter lim="800000"/>
            <a:headEnd/>
            <a:tailEnd/>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4. </a:t>
            </a:r>
            <a:r>
              <a:rPr lang="en-US" dirty="0" smtClean="0"/>
              <a:t>Create a </a:t>
            </a:r>
            <a:r>
              <a:rPr lang="en-US" dirty="0" smtClean="0"/>
              <a:t>Schema</a:t>
            </a:r>
            <a:endParaRPr lang="en-US" dirty="0"/>
          </a:p>
        </p:txBody>
      </p:sp>
      <p:pic>
        <p:nvPicPr>
          <p:cNvPr id="2050" name="Picture 2"/>
          <p:cNvPicPr>
            <a:picLocks noChangeAspect="1" noChangeArrowheads="1"/>
          </p:cNvPicPr>
          <p:nvPr/>
        </p:nvPicPr>
        <p:blipFill>
          <a:blip r:embed="rId2" cstate="print"/>
          <a:srcRect/>
          <a:stretch>
            <a:fillRect/>
          </a:stretch>
        </p:blipFill>
        <p:spPr bwMode="auto">
          <a:xfrm>
            <a:off x="743066" y="2014265"/>
            <a:ext cx="7638934" cy="3853135"/>
          </a:xfrm>
          <a:prstGeom prst="rect">
            <a:avLst/>
          </a:prstGeom>
          <a:noFill/>
          <a:ln w="9525">
            <a:noFill/>
            <a:miter lim="800000"/>
            <a:headEnd/>
            <a:tailEnd/>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5</a:t>
            </a:r>
            <a:r>
              <a:rPr lang="en-US" dirty="0" smtClean="0"/>
              <a:t>. Create Table</a:t>
            </a:r>
            <a:endParaRPr lang="en-US" dirty="0"/>
          </a:p>
        </p:txBody>
      </p:sp>
      <p:pic>
        <p:nvPicPr>
          <p:cNvPr id="3074" name="Picture 2"/>
          <p:cNvPicPr>
            <a:picLocks noChangeAspect="1" noChangeArrowheads="1"/>
          </p:cNvPicPr>
          <p:nvPr/>
        </p:nvPicPr>
        <p:blipFill>
          <a:blip r:embed="rId2" cstate="print"/>
          <a:srcRect/>
          <a:stretch>
            <a:fillRect/>
          </a:stretch>
        </p:blipFill>
        <p:spPr bwMode="auto">
          <a:xfrm>
            <a:off x="827726" y="1821119"/>
            <a:ext cx="7478074" cy="4122481"/>
          </a:xfrm>
          <a:prstGeom prst="rect">
            <a:avLst/>
          </a:prstGeom>
          <a:noFill/>
          <a:ln w="9525">
            <a:noFill/>
            <a:miter lim="800000"/>
            <a:headEnd/>
            <a:tailEnd/>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3" name="Picture 3"/>
          <p:cNvPicPr>
            <a:picLocks noChangeAspect="1" noChangeArrowheads="1"/>
          </p:cNvPicPr>
          <p:nvPr/>
        </p:nvPicPr>
        <p:blipFill>
          <a:blip r:embed="rId2" cstate="print"/>
          <a:srcRect/>
          <a:stretch>
            <a:fillRect/>
          </a:stretch>
        </p:blipFill>
        <p:spPr bwMode="auto">
          <a:xfrm>
            <a:off x="914400" y="1676400"/>
            <a:ext cx="7326360" cy="3232560"/>
          </a:xfrm>
          <a:prstGeom prst="rect">
            <a:avLst/>
          </a:prstGeom>
          <a:noFill/>
          <a:ln w="9525">
            <a:noFill/>
            <a:miter lim="800000"/>
            <a:headEnd/>
            <a:tailEnd/>
          </a:ln>
        </p:spPr>
      </p:pic>
      <p:sp>
        <p:nvSpPr>
          <p:cNvPr id="2" name="Title 1"/>
          <p:cNvSpPr>
            <a:spLocks noGrp="1"/>
          </p:cNvSpPr>
          <p:nvPr>
            <p:ph type="title"/>
          </p:nvPr>
        </p:nvSpPr>
        <p:spPr/>
        <p:txBody>
          <a:bodyPr/>
          <a:lstStyle/>
          <a:p>
            <a:pPr algn="l"/>
            <a:r>
              <a:rPr lang="en-US" dirty="0" smtClean="0"/>
              <a:t>6. Enter SQL Code</a:t>
            </a:r>
            <a:endParaRPr lang="en-US" dirty="0"/>
          </a:p>
        </p:txBody>
      </p:sp>
      <p:sp>
        <p:nvSpPr>
          <p:cNvPr id="5" name="Rectangle 4"/>
          <p:cNvSpPr/>
          <p:nvPr/>
        </p:nvSpPr>
        <p:spPr>
          <a:xfrm>
            <a:off x="3200400" y="4168676"/>
            <a:ext cx="5486400" cy="2308324"/>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en-US" dirty="0" smtClean="0">
                <a:latin typeface="Consolas" pitchFamily="49" charset="0"/>
              </a:rPr>
              <a:t>create table users </a:t>
            </a:r>
            <a:endParaRPr lang="en-US" dirty="0" smtClean="0">
              <a:latin typeface="Consolas" pitchFamily="49" charset="0"/>
            </a:endParaRPr>
          </a:p>
          <a:p>
            <a:r>
              <a:rPr lang="en-US" dirty="0" smtClean="0">
                <a:latin typeface="Consolas" pitchFamily="49" charset="0"/>
              </a:rPr>
              <a:t>(    </a:t>
            </a:r>
          </a:p>
          <a:p>
            <a:pPr lvl="1"/>
            <a:r>
              <a:rPr lang="en-US" dirty="0" smtClean="0">
                <a:latin typeface="Consolas" pitchFamily="49" charset="0"/>
              </a:rPr>
              <a:t>id </a:t>
            </a:r>
            <a:r>
              <a:rPr lang="en-US" dirty="0" smtClean="0">
                <a:latin typeface="Consolas" pitchFamily="49" charset="0"/>
              </a:rPr>
              <a:t>NUMBER(19,0),    </a:t>
            </a:r>
            <a:endParaRPr lang="en-US" dirty="0" smtClean="0">
              <a:latin typeface="Consolas" pitchFamily="49" charset="0"/>
            </a:endParaRPr>
          </a:p>
          <a:p>
            <a:pPr lvl="1"/>
            <a:r>
              <a:rPr lang="en-US" dirty="0" smtClean="0">
                <a:latin typeface="Consolas" pitchFamily="49" charset="0"/>
              </a:rPr>
              <a:t>username </a:t>
            </a:r>
            <a:r>
              <a:rPr lang="en-US" dirty="0" smtClean="0">
                <a:latin typeface="Consolas" pitchFamily="49" charset="0"/>
              </a:rPr>
              <a:t>VARCHAR(16777216),    password VARCHAR(16777216),    </a:t>
            </a:r>
            <a:r>
              <a:rPr lang="en-US" dirty="0" err="1" smtClean="0">
                <a:latin typeface="Consolas" pitchFamily="49" charset="0"/>
              </a:rPr>
              <a:t>profile_picture</a:t>
            </a:r>
            <a:r>
              <a:rPr lang="en-US" dirty="0" smtClean="0">
                <a:latin typeface="Consolas" pitchFamily="49" charset="0"/>
              </a:rPr>
              <a:t> VARIANT    -- VARIANT (can contain any other data type</a:t>
            </a:r>
            <a:r>
              <a:rPr lang="en-US" dirty="0" smtClean="0">
                <a:latin typeface="Consolas" pitchFamily="49" charset="0"/>
              </a:rPr>
              <a:t>)</a:t>
            </a:r>
          </a:p>
          <a:p>
            <a:r>
              <a:rPr lang="en-US" dirty="0" smtClean="0">
                <a:latin typeface="Consolas" pitchFamily="49" charset="0"/>
              </a:rPr>
              <a:t>);</a:t>
            </a:r>
            <a:endParaRPr lang="en-US" dirty="0">
              <a:latin typeface="Consolas" pitchFamily="49" charset="0"/>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https://lh3.ggpht.com/1IfZLL2QDSjZ0wS7sUhaMlsAOS8BBzdR3wZ1WawgRn7KZAM8nEVZYMOUM-lqQb0ikIzp=w300"/>
          <p:cNvPicPr>
            <a:picLocks noChangeAspect="1" noChangeArrowheads="1"/>
          </p:cNvPicPr>
          <p:nvPr/>
        </p:nvPicPr>
        <p:blipFill>
          <a:blip r:embed="rId2" cstate="print"/>
          <a:srcRect/>
          <a:stretch>
            <a:fillRect/>
          </a:stretch>
        </p:blipFill>
        <p:spPr bwMode="auto">
          <a:xfrm>
            <a:off x="3276600" y="1905000"/>
            <a:ext cx="2857500" cy="2857500"/>
          </a:xfrm>
          <a:prstGeom prst="rect">
            <a:avLst/>
          </a:prstGeom>
          <a:noFill/>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1</a:t>
            </a:r>
            <a:r>
              <a:rPr lang="en-US" dirty="0" smtClean="0"/>
              <a:t>. Create SQL Worksheet</a:t>
            </a:r>
            <a:endParaRPr lang="en-US" dirty="0"/>
          </a:p>
        </p:txBody>
      </p:sp>
      <p:pic>
        <p:nvPicPr>
          <p:cNvPr id="4098" name="Picture 2"/>
          <p:cNvPicPr>
            <a:picLocks noChangeAspect="1" noChangeArrowheads="1"/>
          </p:cNvPicPr>
          <p:nvPr/>
        </p:nvPicPr>
        <p:blipFill>
          <a:blip r:embed="rId2" cstate="print"/>
          <a:srcRect/>
          <a:stretch>
            <a:fillRect/>
          </a:stretch>
        </p:blipFill>
        <p:spPr bwMode="auto">
          <a:xfrm>
            <a:off x="838200" y="2590800"/>
            <a:ext cx="7463111" cy="2292760"/>
          </a:xfrm>
          <a:prstGeom prst="rect">
            <a:avLst/>
          </a:prstGeom>
          <a:noFill/>
          <a:ln w="9525">
            <a:noFill/>
            <a:miter lim="800000"/>
            <a:headEnd/>
            <a:tailEnd/>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7" name="Picture 3"/>
          <p:cNvPicPr>
            <a:picLocks noChangeAspect="1" noChangeArrowheads="1"/>
          </p:cNvPicPr>
          <p:nvPr/>
        </p:nvPicPr>
        <p:blipFill>
          <a:blip r:embed="rId2" cstate="print"/>
          <a:srcRect/>
          <a:stretch>
            <a:fillRect/>
          </a:stretch>
        </p:blipFill>
        <p:spPr bwMode="auto">
          <a:xfrm>
            <a:off x="990600" y="1524000"/>
            <a:ext cx="7257361" cy="3012677"/>
          </a:xfrm>
          <a:prstGeom prst="rect">
            <a:avLst/>
          </a:prstGeom>
          <a:noFill/>
          <a:ln w="9525">
            <a:noFill/>
            <a:miter lim="800000"/>
            <a:headEnd/>
            <a:tailEnd/>
          </a:ln>
        </p:spPr>
      </p:pic>
      <p:sp>
        <p:nvSpPr>
          <p:cNvPr id="2" name="Title 1"/>
          <p:cNvSpPr>
            <a:spLocks noGrp="1"/>
          </p:cNvSpPr>
          <p:nvPr>
            <p:ph type="title"/>
          </p:nvPr>
        </p:nvSpPr>
        <p:spPr/>
        <p:txBody>
          <a:bodyPr/>
          <a:lstStyle/>
          <a:p>
            <a:pPr algn="l"/>
            <a:r>
              <a:rPr lang="en-US" dirty="0" smtClean="0"/>
              <a:t>2. Enter and Execute SQL Code</a:t>
            </a:r>
            <a:endParaRPr lang="en-US" dirty="0"/>
          </a:p>
        </p:txBody>
      </p:sp>
      <p:sp>
        <p:nvSpPr>
          <p:cNvPr id="5" name="Rectangle 4"/>
          <p:cNvSpPr/>
          <p:nvPr/>
        </p:nvSpPr>
        <p:spPr>
          <a:xfrm>
            <a:off x="838200" y="2785170"/>
            <a:ext cx="7543800" cy="3539430"/>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en-US" sz="1600" dirty="0" smtClean="0">
                <a:latin typeface="Consolas" pitchFamily="49" charset="0"/>
              </a:rPr>
              <a:t>-- Set our Role context</a:t>
            </a:r>
          </a:p>
          <a:p>
            <a:r>
              <a:rPr lang="en-US" sz="1600" dirty="0" smtClean="0">
                <a:latin typeface="Consolas" pitchFamily="49" charset="0"/>
              </a:rPr>
              <a:t>USE ROLE USERADMIN;</a:t>
            </a:r>
          </a:p>
          <a:p>
            <a:r>
              <a:rPr lang="en-US" sz="1600" dirty="0" smtClean="0">
                <a:latin typeface="Consolas" pitchFamily="49" charset="0"/>
              </a:rPr>
              <a:t>CREATE OR REPLACE DATABASE </a:t>
            </a:r>
            <a:r>
              <a:rPr lang="en-US" sz="1600" dirty="0" err="1" smtClean="0">
                <a:latin typeface="Consolas" pitchFamily="49" charset="0"/>
              </a:rPr>
              <a:t>test_database</a:t>
            </a:r>
            <a:r>
              <a:rPr lang="en-US" sz="1600" dirty="0" smtClean="0">
                <a:latin typeface="Consolas" pitchFamily="49" charset="0"/>
              </a:rPr>
              <a:t>;</a:t>
            </a:r>
          </a:p>
          <a:p>
            <a:r>
              <a:rPr lang="en-US" sz="1600" dirty="0" smtClean="0">
                <a:latin typeface="Consolas" pitchFamily="49" charset="0"/>
              </a:rPr>
              <a:t>CREATE OR REPLACE SCHEMA </a:t>
            </a:r>
            <a:r>
              <a:rPr lang="en-US" sz="1600" dirty="0" err="1" smtClean="0">
                <a:latin typeface="Consolas" pitchFamily="49" charset="0"/>
              </a:rPr>
              <a:t>test_database.test_schema</a:t>
            </a:r>
            <a:r>
              <a:rPr lang="en-US" sz="1600" dirty="0" smtClean="0">
                <a:latin typeface="Consolas" pitchFamily="49" charset="0"/>
              </a:rPr>
              <a:t>;</a:t>
            </a:r>
          </a:p>
          <a:p>
            <a:r>
              <a:rPr lang="en-US" sz="1600" dirty="0" smtClean="0">
                <a:latin typeface="Consolas" pitchFamily="49" charset="0"/>
              </a:rPr>
              <a:t>CREATE OR REPLACE TABLE </a:t>
            </a:r>
            <a:r>
              <a:rPr lang="en-US" sz="1600" dirty="0" err="1" smtClean="0">
                <a:latin typeface="Consolas" pitchFamily="49" charset="0"/>
              </a:rPr>
              <a:t>test_database.test_schema.users</a:t>
            </a:r>
            <a:endParaRPr lang="en-US" sz="1600" dirty="0" smtClean="0">
              <a:latin typeface="Consolas" pitchFamily="49" charset="0"/>
            </a:endParaRPr>
          </a:p>
          <a:p>
            <a:r>
              <a:rPr lang="en-US" sz="1600" dirty="0" smtClean="0">
                <a:latin typeface="Consolas" pitchFamily="49" charset="0"/>
              </a:rPr>
              <a:t>(</a:t>
            </a:r>
          </a:p>
          <a:p>
            <a:r>
              <a:rPr lang="en-US" sz="1600" dirty="0" smtClean="0">
                <a:latin typeface="Consolas" pitchFamily="49" charset="0"/>
              </a:rPr>
              <a:t>    id NUMBER(19,0),</a:t>
            </a:r>
          </a:p>
          <a:p>
            <a:r>
              <a:rPr lang="en-US" sz="1600" dirty="0" smtClean="0">
                <a:latin typeface="Consolas" pitchFamily="49" charset="0"/>
              </a:rPr>
              <a:t>    username VARCHAR(16777216),</a:t>
            </a:r>
          </a:p>
          <a:p>
            <a:r>
              <a:rPr lang="en-US" sz="1600" dirty="0" smtClean="0">
                <a:latin typeface="Consolas" pitchFamily="49" charset="0"/>
              </a:rPr>
              <a:t>    password VARCHAR(16777216),</a:t>
            </a:r>
          </a:p>
          <a:p>
            <a:r>
              <a:rPr lang="en-US" sz="1600" dirty="0" smtClean="0">
                <a:latin typeface="Consolas" pitchFamily="49" charset="0"/>
              </a:rPr>
              <a:t>    </a:t>
            </a:r>
            <a:r>
              <a:rPr lang="en-US" sz="1600" dirty="0" err="1" smtClean="0">
                <a:latin typeface="Consolas" pitchFamily="49" charset="0"/>
              </a:rPr>
              <a:t>profile_picture</a:t>
            </a:r>
            <a:r>
              <a:rPr lang="en-US" sz="1600" dirty="0" smtClean="0">
                <a:latin typeface="Consolas" pitchFamily="49" charset="0"/>
              </a:rPr>
              <a:t> VARIANT,</a:t>
            </a:r>
          </a:p>
          <a:p>
            <a:r>
              <a:rPr lang="en-US" sz="1600" dirty="0" smtClean="0">
                <a:latin typeface="Consolas" pitchFamily="49" charset="0"/>
              </a:rPr>
              <a:t>    </a:t>
            </a:r>
            <a:r>
              <a:rPr lang="en-US" sz="1600" dirty="0" err="1" smtClean="0">
                <a:latin typeface="Consolas" pitchFamily="49" charset="0"/>
              </a:rPr>
              <a:t>creation_date</a:t>
            </a:r>
            <a:r>
              <a:rPr lang="en-US" sz="1600" dirty="0" smtClean="0">
                <a:latin typeface="Consolas" pitchFamily="49" charset="0"/>
              </a:rPr>
              <a:t> TIMESTAMP_LTZ -- TIMESTAMP_NTZ internally stores “</a:t>
            </a:r>
            <a:r>
              <a:rPr lang="en-US" sz="1600" dirty="0" err="1" smtClean="0">
                <a:latin typeface="Consolas" pitchFamily="49" charset="0"/>
              </a:rPr>
              <a:t>wallclock</a:t>
            </a:r>
            <a:r>
              <a:rPr lang="en-US" sz="1600" dirty="0" smtClean="0">
                <a:latin typeface="Consolas" pitchFamily="49" charset="0"/>
              </a:rPr>
              <a:t>” time with a specified precision. All operations are performed without taking any time zone into account.</a:t>
            </a:r>
          </a:p>
          <a:p>
            <a:r>
              <a:rPr lang="en-US" sz="1600" dirty="0" smtClean="0">
                <a:latin typeface="Consolas" pitchFamily="49" charset="0"/>
              </a:rPr>
              <a:t>);</a:t>
            </a:r>
            <a:endParaRPr lang="en-US" sz="1600" dirty="0">
              <a:latin typeface="Consolas" pitchFamily="49" charset="0"/>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https://lh3.ggpht.com/1IfZLL2QDSjZ0wS7sUhaMlsAOS8BBzdR3wZ1WawgRn7KZAM8nEVZYMOUM-lqQb0ikIzp=w300"/>
          <p:cNvPicPr>
            <a:picLocks noChangeAspect="1" noChangeArrowheads="1"/>
          </p:cNvPicPr>
          <p:nvPr/>
        </p:nvPicPr>
        <p:blipFill>
          <a:blip r:embed="rId2" cstate="print"/>
          <a:srcRect/>
          <a:stretch>
            <a:fillRect/>
          </a:stretch>
        </p:blipFill>
        <p:spPr bwMode="auto">
          <a:xfrm>
            <a:off x="3276600" y="1905000"/>
            <a:ext cx="2857500" cy="2857500"/>
          </a:xfrm>
          <a:prstGeom prst="rect">
            <a:avLst/>
          </a:prstGeom>
          <a:noFill/>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Snowflake Key Features [2]</a:t>
            </a:r>
            <a:endParaRPr lang="en-US" dirty="0"/>
          </a:p>
        </p:txBody>
      </p:sp>
      <p:sp>
        <p:nvSpPr>
          <p:cNvPr id="3" name="Content Placeholder 2"/>
          <p:cNvSpPr>
            <a:spLocks noGrp="1"/>
          </p:cNvSpPr>
          <p:nvPr>
            <p:ph idx="1"/>
          </p:nvPr>
        </p:nvSpPr>
        <p:spPr/>
        <p:txBody>
          <a:bodyPr/>
          <a:lstStyle/>
          <a:p>
            <a:r>
              <a:rPr lang="en-US" sz="2400" dirty="0" smtClean="0"/>
              <a:t>Pure Software-as-a-Service (</a:t>
            </a:r>
            <a:r>
              <a:rPr lang="en-US" sz="2400" dirty="0" err="1" smtClean="0"/>
              <a:t>SaaS</a:t>
            </a:r>
            <a:r>
              <a:rPr lang="en-US" sz="2400" dirty="0" smtClean="0"/>
              <a:t>) </a:t>
            </a:r>
            <a:r>
              <a:rPr lang="en-US" sz="2400" dirty="0" smtClean="0"/>
              <a:t>Experience</a:t>
            </a:r>
          </a:p>
          <a:p>
            <a:pPr lvl="1"/>
            <a:r>
              <a:rPr lang="en-US" sz="2000" dirty="0" smtClean="0"/>
              <a:t>Database-as-a-Service (</a:t>
            </a:r>
            <a:r>
              <a:rPr lang="en-US" sz="2000" dirty="0" err="1" smtClean="0"/>
              <a:t>DBaaS</a:t>
            </a:r>
            <a:r>
              <a:rPr lang="en-US" sz="2000" dirty="0" smtClean="0"/>
              <a:t>)?</a:t>
            </a:r>
          </a:p>
          <a:p>
            <a:r>
              <a:rPr lang="en-US" sz="2400" dirty="0" smtClean="0"/>
              <a:t>Relational</a:t>
            </a:r>
          </a:p>
          <a:p>
            <a:pPr lvl="1"/>
            <a:r>
              <a:rPr lang="en-US" sz="2000" dirty="0" smtClean="0"/>
              <a:t>Support </a:t>
            </a:r>
            <a:r>
              <a:rPr lang="en-US" sz="2000" dirty="0" smtClean="0"/>
              <a:t>for </a:t>
            </a:r>
            <a:r>
              <a:rPr lang="en-US" sz="2000" dirty="0" smtClean="0"/>
              <a:t>ANSI SQL </a:t>
            </a:r>
            <a:r>
              <a:rPr lang="en-US" sz="2000" dirty="0" smtClean="0"/>
              <a:t>and ACID transactions</a:t>
            </a:r>
            <a:r>
              <a:rPr lang="en-US" sz="2000" dirty="0" smtClean="0"/>
              <a:t>.</a:t>
            </a:r>
          </a:p>
          <a:p>
            <a:r>
              <a:rPr lang="en-US" sz="2400" dirty="0" smtClean="0"/>
              <a:t>Semi-Structured</a:t>
            </a:r>
          </a:p>
          <a:p>
            <a:pPr lvl="1"/>
            <a:r>
              <a:rPr lang="en-US" sz="2000" dirty="0" smtClean="0"/>
              <a:t>Built-in </a:t>
            </a:r>
            <a:r>
              <a:rPr lang="en-US" sz="2000" dirty="0" smtClean="0"/>
              <a:t>functions and SQL extensions for traversing, </a:t>
            </a:r>
            <a:r>
              <a:rPr lang="en-US" sz="2000" dirty="0" smtClean="0"/>
              <a:t>flattening</a:t>
            </a:r>
            <a:r>
              <a:rPr lang="en-US" sz="2000" dirty="0" smtClean="0"/>
              <a:t>, and nesting of semi-structured data, with support for popular formats such as JSON and Avro.</a:t>
            </a:r>
            <a:endParaRPr lang="en-US" sz="2000" dirty="0" smtClean="0"/>
          </a:p>
          <a:p>
            <a:r>
              <a:rPr lang="en-US" sz="2400" dirty="0" smtClean="0"/>
              <a:t>Elastic</a:t>
            </a:r>
          </a:p>
          <a:p>
            <a:pPr lvl="1"/>
            <a:r>
              <a:rPr lang="en-US" sz="2000" dirty="0" smtClean="0"/>
              <a:t>Storage </a:t>
            </a:r>
            <a:r>
              <a:rPr lang="en-US" sz="2000" dirty="0" smtClean="0"/>
              <a:t>and compute resources can be scaled </a:t>
            </a:r>
            <a:r>
              <a:rPr lang="en-US" sz="2000" dirty="0" smtClean="0"/>
              <a:t>independently </a:t>
            </a:r>
            <a:r>
              <a:rPr lang="en-US" sz="2000" dirty="0" smtClean="0"/>
              <a:t>and </a:t>
            </a:r>
            <a:r>
              <a:rPr lang="en-US" sz="2000" dirty="0" smtClean="0"/>
              <a:t>seamlessly.</a:t>
            </a:r>
          </a:p>
          <a:p>
            <a:endParaRPr lang="en-US" sz="24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Storage versus Compute</a:t>
            </a:r>
            <a:endParaRPr lang="en-US" dirty="0"/>
          </a:p>
        </p:txBody>
      </p:sp>
      <p:sp>
        <p:nvSpPr>
          <p:cNvPr id="3" name="Content Placeholder 2"/>
          <p:cNvSpPr>
            <a:spLocks noGrp="1"/>
          </p:cNvSpPr>
          <p:nvPr>
            <p:ph idx="1"/>
          </p:nvPr>
        </p:nvSpPr>
        <p:spPr/>
        <p:txBody>
          <a:bodyPr/>
          <a:lstStyle/>
          <a:p>
            <a:r>
              <a:rPr lang="en-US" sz="2400" dirty="0" smtClean="0"/>
              <a:t>Snowflake </a:t>
            </a:r>
            <a:r>
              <a:rPr lang="en-US" sz="2400" dirty="0" smtClean="0"/>
              <a:t>separates </a:t>
            </a:r>
            <a:r>
              <a:rPr lang="en-US" sz="2400" dirty="0" smtClean="0"/>
              <a:t>storage and compute.</a:t>
            </a:r>
          </a:p>
          <a:p>
            <a:r>
              <a:rPr lang="en-US" sz="2400" dirty="0" smtClean="0"/>
              <a:t>The </a:t>
            </a:r>
            <a:r>
              <a:rPr lang="en-US" sz="2400" dirty="0" smtClean="0"/>
              <a:t>two aspects are handled by two </a:t>
            </a:r>
            <a:r>
              <a:rPr lang="en-US" sz="2400" dirty="0" smtClean="0"/>
              <a:t>loosely coupled</a:t>
            </a:r>
            <a:r>
              <a:rPr lang="en-US" sz="2400" dirty="0" smtClean="0"/>
              <a:t>, independently scalable </a:t>
            </a:r>
            <a:r>
              <a:rPr lang="en-US" sz="2400" dirty="0" smtClean="0"/>
              <a:t>services.</a:t>
            </a:r>
          </a:p>
          <a:p>
            <a:r>
              <a:rPr lang="en-US" sz="2400" dirty="0" smtClean="0"/>
              <a:t>Compute </a:t>
            </a:r>
            <a:r>
              <a:rPr lang="en-US" sz="2400" dirty="0" smtClean="0"/>
              <a:t>is </a:t>
            </a:r>
            <a:r>
              <a:rPr lang="en-US" sz="2400" dirty="0" smtClean="0"/>
              <a:t>provided </a:t>
            </a:r>
            <a:r>
              <a:rPr lang="en-US" sz="2400" dirty="0" smtClean="0"/>
              <a:t>through </a:t>
            </a:r>
            <a:r>
              <a:rPr lang="en-US" sz="2400" dirty="0" smtClean="0"/>
              <a:t>Snowflake's </a:t>
            </a:r>
            <a:r>
              <a:rPr lang="en-US" sz="2400" dirty="0" smtClean="0"/>
              <a:t>(proprietary) shared-nothing </a:t>
            </a:r>
            <a:r>
              <a:rPr lang="en-US" sz="2400" dirty="0" smtClean="0"/>
              <a:t>engine.</a:t>
            </a:r>
          </a:p>
          <a:p>
            <a:r>
              <a:rPr lang="en-US" sz="2400" dirty="0" smtClean="0"/>
              <a:t>Storage </a:t>
            </a:r>
            <a:r>
              <a:rPr lang="en-US" sz="2400" dirty="0" smtClean="0"/>
              <a:t>is provided through Amazon </a:t>
            </a:r>
            <a:r>
              <a:rPr lang="en-US" sz="2400" dirty="0" smtClean="0"/>
              <a:t>S3.</a:t>
            </a:r>
          </a:p>
          <a:p>
            <a:r>
              <a:rPr lang="en-US" sz="2400" dirty="0" smtClean="0"/>
              <a:t>To reduce </a:t>
            </a:r>
            <a:r>
              <a:rPr lang="en-US" sz="2400" dirty="0" smtClean="0"/>
              <a:t>network traffic </a:t>
            </a:r>
            <a:r>
              <a:rPr lang="en-US" sz="2400" dirty="0" smtClean="0"/>
              <a:t>between compute nodes and storage nodes, </a:t>
            </a:r>
            <a:r>
              <a:rPr lang="en-US" sz="2400" dirty="0" smtClean="0"/>
              <a:t>each compute </a:t>
            </a:r>
            <a:r>
              <a:rPr lang="en-US" sz="2400" dirty="0" smtClean="0"/>
              <a:t>node caches some table data on local disk.</a:t>
            </a:r>
            <a:endParaRPr lang="en-US" sz="24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800" dirty="0" smtClean="0"/>
              <a:t>Multi-Cluster, Shared Data Architecture</a:t>
            </a:r>
            <a:endParaRPr lang="en-US" sz="3800" dirty="0"/>
          </a:p>
        </p:txBody>
      </p:sp>
      <p:pic>
        <p:nvPicPr>
          <p:cNvPr id="7170" name="Picture 2"/>
          <p:cNvPicPr>
            <a:picLocks noChangeAspect="1" noChangeArrowheads="1"/>
          </p:cNvPicPr>
          <p:nvPr/>
        </p:nvPicPr>
        <p:blipFill>
          <a:blip r:embed="rId2" cstate="print"/>
          <a:srcRect/>
          <a:stretch>
            <a:fillRect/>
          </a:stretch>
        </p:blipFill>
        <p:spPr bwMode="auto">
          <a:xfrm>
            <a:off x="1876425" y="1968500"/>
            <a:ext cx="5391150" cy="3822700"/>
          </a:xfrm>
          <a:prstGeom prst="rect">
            <a:avLst/>
          </a:prstGeom>
          <a:noFill/>
          <a:ln w="9525">
            <a:noFill/>
            <a:miter lim="800000"/>
            <a:headEnd/>
            <a:tailEnd/>
          </a:ln>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Column-Stores</a:t>
            </a:r>
            <a:endParaRPr lang="en-US" dirty="0"/>
          </a:p>
        </p:txBody>
      </p:sp>
      <p:sp>
        <p:nvSpPr>
          <p:cNvPr id="3" name="Content Placeholder 2"/>
          <p:cNvSpPr>
            <a:spLocks noGrp="1"/>
          </p:cNvSpPr>
          <p:nvPr>
            <p:ph idx="1"/>
          </p:nvPr>
        </p:nvSpPr>
        <p:spPr/>
        <p:txBody>
          <a:bodyPr/>
          <a:lstStyle/>
          <a:p>
            <a:r>
              <a:rPr lang="en-US" sz="2400" dirty="0" smtClean="0"/>
              <a:t>Daniel J. </a:t>
            </a:r>
            <a:r>
              <a:rPr lang="en-US" sz="2400" dirty="0" err="1" smtClean="0"/>
              <a:t>Abadi</a:t>
            </a:r>
            <a:r>
              <a:rPr lang="en-US" sz="2400" dirty="0" smtClean="0"/>
              <a:t> et al. (2008). Column-Stores vs. Row-Stores - How Different Are They </a:t>
            </a:r>
            <a:r>
              <a:rPr lang="en-US" sz="2400" dirty="0" smtClean="0"/>
              <a:t>Really.</a:t>
            </a:r>
            <a:endParaRPr lang="en-US" sz="24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Vectorized</a:t>
            </a:r>
            <a:r>
              <a:rPr lang="en-US" dirty="0" smtClean="0"/>
              <a:t> </a:t>
            </a:r>
            <a:r>
              <a:rPr lang="en-US" dirty="0" smtClean="0"/>
              <a:t>Execution</a:t>
            </a:r>
            <a:endParaRPr lang="en-US" dirty="0"/>
          </a:p>
        </p:txBody>
      </p:sp>
      <p:sp>
        <p:nvSpPr>
          <p:cNvPr id="3" name="Content Placeholder 2"/>
          <p:cNvSpPr>
            <a:spLocks noGrp="1"/>
          </p:cNvSpPr>
          <p:nvPr>
            <p:ph idx="1"/>
          </p:nvPr>
        </p:nvSpPr>
        <p:spPr/>
        <p:txBody>
          <a:bodyPr/>
          <a:lstStyle/>
          <a:p>
            <a:r>
              <a:rPr lang="en-US" sz="2400" dirty="0" smtClean="0"/>
              <a:t>Andrew </a:t>
            </a:r>
            <a:r>
              <a:rPr lang="en-US" sz="2400" dirty="0" err="1" smtClean="0"/>
              <a:t>Pavlo</a:t>
            </a:r>
            <a:r>
              <a:rPr lang="en-US" sz="2400" dirty="0" smtClean="0"/>
              <a:t> et al. (2009). A Comparison of Approaches to Large-Scale Data </a:t>
            </a:r>
            <a:r>
              <a:rPr lang="en-US" sz="2400" dirty="0" smtClean="0"/>
              <a:t>Analysis.</a:t>
            </a:r>
            <a:endParaRPr lang="en-US" sz="24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Push-based </a:t>
            </a:r>
            <a:r>
              <a:rPr lang="en-US" dirty="0" smtClean="0"/>
              <a:t>Execution</a:t>
            </a:r>
            <a:endParaRPr lang="en-US" dirty="0"/>
          </a:p>
        </p:txBody>
      </p:sp>
      <p:sp>
        <p:nvSpPr>
          <p:cNvPr id="3" name="Content Placeholder 2"/>
          <p:cNvSpPr>
            <a:spLocks noGrp="1"/>
          </p:cNvSpPr>
          <p:nvPr>
            <p:ph idx="1"/>
          </p:nvPr>
        </p:nvSpPr>
        <p:spPr/>
        <p:txBody>
          <a:bodyPr/>
          <a:lstStyle/>
          <a:p>
            <a:r>
              <a:rPr lang="en-US" sz="2400" dirty="0" smtClean="0"/>
              <a:t>Goetz </a:t>
            </a:r>
            <a:r>
              <a:rPr lang="en-US" sz="2400" dirty="0" err="1" smtClean="0"/>
              <a:t>Graefe</a:t>
            </a:r>
            <a:r>
              <a:rPr lang="en-US" sz="2400" dirty="0" smtClean="0"/>
              <a:t> (1994). Volcano - An Extensible and Parallel Query Evaluation </a:t>
            </a:r>
            <a:r>
              <a:rPr lang="en-US" sz="2400" dirty="0" smtClean="0"/>
              <a:t>System.</a:t>
            </a:r>
            <a:endParaRPr lang="en-US" sz="24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Snowflake </a:t>
            </a:r>
            <a:r>
              <a:rPr lang="en-US" dirty="0" smtClean="0"/>
              <a:t>OLTP</a:t>
            </a:r>
            <a:endParaRPr lang="en-US" dirty="0"/>
          </a:p>
        </p:txBody>
      </p:sp>
      <p:sp>
        <p:nvSpPr>
          <p:cNvPr id="3" name="Content Placeholder 2"/>
          <p:cNvSpPr>
            <a:spLocks noGrp="1"/>
          </p:cNvSpPr>
          <p:nvPr>
            <p:ph idx="1"/>
          </p:nvPr>
        </p:nvSpPr>
        <p:spPr/>
        <p:txBody>
          <a:bodyPr/>
          <a:lstStyle/>
          <a:p>
            <a:r>
              <a:rPr lang="en-US" sz="2400" dirty="0" smtClean="0">
                <a:hlinkClick r:id="rId2"/>
              </a:rPr>
              <a:t>https://</a:t>
            </a:r>
            <a:r>
              <a:rPr lang="en-US" sz="2400" dirty="0" smtClean="0">
                <a:hlinkClick r:id="rId2"/>
              </a:rPr>
              <a:t>community.snowflake.com/s/question/0D50Z00008BDIPTSA5/snowflake-oltp</a:t>
            </a:r>
            <a:endParaRPr lang="en-US" sz="2400" dirty="0" smtClean="0"/>
          </a:p>
          <a:p>
            <a:r>
              <a:rPr lang="en-US" sz="2400" dirty="0" smtClean="0"/>
              <a:t>Regarding my (soon-to-be-obsolete) statement 4 years ago</a:t>
            </a:r>
            <a:r>
              <a:rPr lang="en-US" sz="2400" dirty="0" smtClean="0"/>
              <a:t>:</a:t>
            </a:r>
            <a:endParaRPr lang="en-US" sz="2400" dirty="0" smtClean="0"/>
          </a:p>
          <a:p>
            <a:r>
              <a:rPr lang="en-US" sz="2400" dirty="0" smtClean="0"/>
              <a:t>"Snowflake is NOT an appropriate platform for OLTP workloads. No question about that</a:t>
            </a:r>
            <a:r>
              <a:rPr lang="en-US" sz="2400" dirty="0" smtClean="0"/>
              <a:t>."</a:t>
            </a:r>
            <a:endParaRPr lang="en-US" sz="2400" dirty="0" smtClean="0"/>
          </a:p>
          <a:p>
            <a:r>
              <a:rPr lang="en-US" sz="2400" dirty="0" smtClean="0"/>
              <a:t>I am delighted to report that with the introduction of Hybrid Tables (to be formally announced at our Snowflake Summit in a couple of weeks), Snowflake will be able to handle OLTP workloads</a:t>
            </a:r>
            <a:r>
              <a:rPr lang="en-US" sz="2400" dirty="0" smtClean="0"/>
              <a:t>.</a:t>
            </a:r>
          </a:p>
          <a:p>
            <a:pPr lvl="0"/>
            <a:r>
              <a:rPr lang="en-US" sz="2400" dirty="0" smtClean="0"/>
              <a:t>Hybrid Tables: </a:t>
            </a:r>
            <a:r>
              <a:rPr lang="en-US" sz="2400" u="sng" dirty="0" smtClean="0">
                <a:hlinkClick r:id="rId3"/>
              </a:rPr>
              <a:t>https://www.snowflake.com/try-unistore</a:t>
            </a:r>
            <a:r>
              <a:rPr lang="en-US" sz="2400" u="sng" dirty="0" smtClean="0">
                <a:hlinkClick r:id="rId3"/>
              </a:rPr>
              <a:t>/</a:t>
            </a:r>
            <a:endParaRPr lang="en-US" sz="2400" dirty="0" smtClean="0"/>
          </a:p>
          <a:p>
            <a:endParaRPr lang="en-US" sz="24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Pricing</a:t>
            </a:r>
            <a:endParaRPr lang="en-US" dirty="0"/>
          </a:p>
        </p:txBody>
      </p:sp>
      <p:sp>
        <p:nvSpPr>
          <p:cNvPr id="3" name="Content Placeholder 2"/>
          <p:cNvSpPr>
            <a:spLocks noGrp="1"/>
          </p:cNvSpPr>
          <p:nvPr>
            <p:ph idx="1"/>
          </p:nvPr>
        </p:nvSpPr>
        <p:spPr/>
        <p:txBody>
          <a:bodyPr/>
          <a:lstStyle/>
          <a:p>
            <a:pPr lvl="0"/>
            <a:r>
              <a:rPr lang="en-US" sz="2400" u="sng" dirty="0" smtClean="0">
                <a:hlinkClick r:id="rId2"/>
              </a:rPr>
              <a:t>https://www.integrate.io/blog/redshift-vs-snowflake</a:t>
            </a:r>
            <a:r>
              <a:rPr lang="en-US" sz="2400" u="sng" dirty="0" smtClean="0">
                <a:hlinkClick r:id="rId2"/>
              </a:rPr>
              <a:t>/</a:t>
            </a:r>
            <a:endParaRPr lang="en-US" sz="2400" u="sng" dirty="0" smtClean="0"/>
          </a:p>
          <a:p>
            <a:r>
              <a:rPr lang="en-US" sz="2400" u="sng" dirty="0" smtClean="0">
                <a:hlinkClick r:id="rId3"/>
              </a:rPr>
              <a:t>https://blog.panoply.io/redshift-vs-snowflake-the-full-comparison</a:t>
            </a:r>
            <a:endParaRPr lang="en-US" sz="2400" dirty="0" smtClean="0"/>
          </a:p>
          <a:p>
            <a:r>
              <a:rPr lang="en-US" sz="2400" dirty="0" smtClean="0"/>
              <a:t>Some of its competitors are Amazon </a:t>
            </a:r>
            <a:r>
              <a:rPr lang="en-US" sz="2400" dirty="0" err="1" smtClean="0"/>
              <a:t>Redshift</a:t>
            </a:r>
            <a:r>
              <a:rPr lang="en-US" sz="2400" dirty="0" smtClean="0"/>
              <a:t> or Google </a:t>
            </a:r>
            <a:r>
              <a:rPr lang="en-US" sz="2400" dirty="0" err="1" smtClean="0"/>
              <a:t>BigQuery</a:t>
            </a:r>
            <a:r>
              <a:rPr lang="en-US" sz="2400" dirty="0" smtClean="0"/>
              <a:t>. </a:t>
            </a:r>
            <a:r>
              <a:rPr lang="en-US" sz="2400" dirty="0" err="1" smtClean="0"/>
              <a:t>Redshift</a:t>
            </a:r>
            <a:r>
              <a:rPr lang="en-US" sz="2400" dirty="0" smtClean="0"/>
              <a:t> is less expensive compared to Snowflake on-demand pricing.</a:t>
            </a:r>
            <a:endParaRPr lang="en-US" sz="2400" smtClean="0"/>
          </a:p>
          <a:p>
            <a:pPr lvl="0"/>
            <a:endParaRPr lang="en-US" sz="24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p:txBody>
          <a:bodyPr/>
          <a:lstStyle/>
          <a:p>
            <a:pPr eaLnBrk="1" hangingPunct="1"/>
            <a:r>
              <a:rPr lang="en-US" dirty="0" smtClean="0"/>
              <a:t>Thank You &amp; See </a:t>
            </a:r>
            <a:r>
              <a:rPr lang="en-US" smtClean="0"/>
              <a:t>You Again</a:t>
            </a:r>
            <a:endParaRPr lang="en-US" dirty="0" smtClean="0"/>
          </a:p>
        </p:txBody>
      </p:sp>
      <p:pic>
        <p:nvPicPr>
          <p:cNvPr id="5" name="Content Placeholder 4"/>
          <p:cNvPicPr>
            <a:picLocks noGrp="1" noChangeAspect="1" noChangeArrowheads="1"/>
          </p:cNvPicPr>
          <p:nvPr>
            <p:ph idx="1"/>
          </p:nvPr>
        </p:nvPicPr>
        <p:blipFill>
          <a:blip r:embed="rId2" cstate="print"/>
          <a:srcRect/>
          <a:stretch>
            <a:fillRect/>
          </a:stretch>
        </p:blipFill>
        <p:spPr>
          <a:xfrm>
            <a:off x="1143000" y="1676400"/>
            <a:ext cx="6810375" cy="4525963"/>
          </a:xfrm>
          <a:noFill/>
        </p:spPr>
      </p:pic>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17415</TotalTime>
  <Words>1192</Words>
  <Application>Microsoft Office PowerPoint</Application>
  <PresentationFormat>On-screen Show (4:3)</PresentationFormat>
  <Paragraphs>129</Paragraphs>
  <Slides>38</Slides>
  <Notes>1</Notes>
  <HiddenSlides>0</HiddenSlides>
  <MMClips>0</MMClips>
  <ScaleCrop>false</ScaleCrop>
  <HeadingPairs>
    <vt:vector size="4" baseType="variant">
      <vt:variant>
        <vt:lpstr>Theme</vt:lpstr>
      </vt:variant>
      <vt:variant>
        <vt:i4>1</vt:i4>
      </vt:variant>
      <vt:variant>
        <vt:lpstr>Slide Titles</vt:lpstr>
      </vt:variant>
      <vt:variant>
        <vt:i4>38</vt:i4>
      </vt:variant>
    </vt:vector>
  </HeadingPairs>
  <TitlesOfParts>
    <vt:vector size="39" baseType="lpstr">
      <vt:lpstr>Office Theme</vt:lpstr>
      <vt:lpstr>Snowflake</vt:lpstr>
      <vt:lpstr>Objectives</vt:lpstr>
      <vt:lpstr>Contents</vt:lpstr>
      <vt:lpstr>References</vt:lpstr>
      <vt:lpstr>Relational Database Primer [1]</vt:lpstr>
      <vt:lpstr>Snowflake</vt:lpstr>
      <vt:lpstr>Why Snowflake? [2]</vt:lpstr>
      <vt:lpstr>1. Register an Account</vt:lpstr>
      <vt:lpstr>2. Select Options</vt:lpstr>
      <vt:lpstr>3. Review Web User Interfaces</vt:lpstr>
      <vt:lpstr>Shared-Disk (Scalable) Architecture</vt:lpstr>
      <vt:lpstr>Shared-Nothing (Scalable) Architecture</vt:lpstr>
      <vt:lpstr>NoSQL Alternatives</vt:lpstr>
      <vt:lpstr>The Snowflake Architecture</vt:lpstr>
      <vt:lpstr>The Cloud Services Layer</vt:lpstr>
      <vt:lpstr>The Query Processing (Virtual Warehouse) Compute Layer</vt:lpstr>
      <vt:lpstr>1. Create a Warehouse</vt:lpstr>
      <vt:lpstr>2. Create a User</vt:lpstr>
      <vt:lpstr>Separating Snowflake Workloads</vt:lpstr>
      <vt:lpstr>Centralized (Hybrid Columnar) Database Storage Layer</vt:lpstr>
      <vt:lpstr>Compression and Encryption</vt:lpstr>
      <vt:lpstr>3. Create a Database</vt:lpstr>
      <vt:lpstr>4. Create a Schema</vt:lpstr>
      <vt:lpstr>5. Create Table</vt:lpstr>
      <vt:lpstr>6. Enter SQL Code</vt:lpstr>
      <vt:lpstr>Slide 26</vt:lpstr>
      <vt:lpstr>1. Create SQL Worksheet</vt:lpstr>
      <vt:lpstr>2. Enter and Execute SQL Code</vt:lpstr>
      <vt:lpstr>Slide 29</vt:lpstr>
      <vt:lpstr>Snowflake Key Features [2]</vt:lpstr>
      <vt:lpstr>Storage versus Compute</vt:lpstr>
      <vt:lpstr>Multi-Cluster, Shared Data Architecture</vt:lpstr>
      <vt:lpstr>Column-Stores</vt:lpstr>
      <vt:lpstr>Vectorized Execution</vt:lpstr>
      <vt:lpstr>Push-based Execution</vt:lpstr>
      <vt:lpstr>Snowflake OLTP</vt:lpstr>
      <vt:lpstr>Pricing</vt:lpstr>
      <vt:lpstr>Thank You &amp; See You Again</vt:lpstr>
    </vt:vector>
  </TitlesOfParts>
  <Company>HuyBien</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NgoHuyBien</dc:creator>
  <cp:lastModifiedBy>Ngo Huy Bien</cp:lastModifiedBy>
  <cp:revision>5162</cp:revision>
  <dcterms:created xsi:type="dcterms:W3CDTF">2007-10-06T08:25:13Z</dcterms:created>
  <dcterms:modified xsi:type="dcterms:W3CDTF">2023-12-11T19:08:47Z</dcterms:modified>
</cp:coreProperties>
</file>