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51"/>
  </p:notesMasterIdLst>
  <p:sldIdLst>
    <p:sldId id="584" r:id="rId2"/>
    <p:sldId id="585" r:id="rId3"/>
    <p:sldId id="586" r:id="rId4"/>
    <p:sldId id="587" r:id="rId5"/>
    <p:sldId id="588" r:id="rId6"/>
    <p:sldId id="589" r:id="rId7"/>
    <p:sldId id="590" r:id="rId8"/>
    <p:sldId id="591" r:id="rId9"/>
    <p:sldId id="593" r:id="rId10"/>
    <p:sldId id="594" r:id="rId11"/>
    <p:sldId id="595" r:id="rId12"/>
    <p:sldId id="596" r:id="rId13"/>
    <p:sldId id="597" r:id="rId14"/>
    <p:sldId id="598" r:id="rId15"/>
    <p:sldId id="599" r:id="rId16"/>
    <p:sldId id="600" r:id="rId17"/>
    <p:sldId id="601" r:id="rId18"/>
    <p:sldId id="602" r:id="rId19"/>
    <p:sldId id="603" r:id="rId20"/>
    <p:sldId id="609" r:id="rId21"/>
    <p:sldId id="610" r:id="rId22"/>
    <p:sldId id="611" r:id="rId23"/>
    <p:sldId id="612" r:id="rId24"/>
    <p:sldId id="613" r:id="rId25"/>
    <p:sldId id="614" r:id="rId26"/>
    <p:sldId id="615" r:id="rId27"/>
    <p:sldId id="608" r:id="rId28"/>
    <p:sldId id="616" r:id="rId29"/>
    <p:sldId id="604" r:id="rId30"/>
    <p:sldId id="618" r:id="rId31"/>
    <p:sldId id="628" r:id="rId32"/>
    <p:sldId id="617" r:id="rId33"/>
    <p:sldId id="606" r:id="rId34"/>
    <p:sldId id="619" r:id="rId35"/>
    <p:sldId id="607" r:id="rId36"/>
    <p:sldId id="620" r:id="rId37"/>
    <p:sldId id="621" r:id="rId38"/>
    <p:sldId id="623" r:id="rId39"/>
    <p:sldId id="622" r:id="rId40"/>
    <p:sldId id="625" r:id="rId41"/>
    <p:sldId id="626" r:id="rId42"/>
    <p:sldId id="629" r:id="rId43"/>
    <p:sldId id="630" r:id="rId44"/>
    <p:sldId id="632" r:id="rId45"/>
    <p:sldId id="634" r:id="rId46"/>
    <p:sldId id="633" r:id="rId47"/>
    <p:sldId id="627" r:id="rId48"/>
    <p:sldId id="605" r:id="rId49"/>
    <p:sldId id="440" r:id="rId5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58" autoAdjust="0"/>
    <p:restoredTop sz="94765" autoAdjust="0"/>
  </p:normalViewPr>
  <p:slideViewPr>
    <p:cSldViewPr>
      <p:cViewPr>
        <p:scale>
          <a:sx n="50" d="100"/>
          <a:sy n="50" d="100"/>
        </p:scale>
        <p:origin x="-1648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62591D-F63A-4C87-988A-2A4399BE3C42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2649A-D532-4C46-8375-2DC4F09C0D4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7/30/2026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7/30/2026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7/30/2026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7/30/2026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7/30/2026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7/30/2026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learn.microsoft.com/en-us/cpp/windows/latest-supported-vc-redist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www.virtualbox.org/wiki/Downloads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developer.hashicorp.com/vagrant/install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awscli.amazonaws.com/AWSCLIV2.msi" TargetMode="External"/><Relationship Id="rId2" Type="http://schemas.openxmlformats.org/officeDocument/2006/relationships/hyperlink" Target="https://docs.aws.amazon.com/cli/latest/userguide/getting-started-install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developer.hashicorp.com/terraform/install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hyperlink" Target="https://developer.hashicorp.com/vault/install" TargetMode="Externa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dirty="0" err="1" smtClean="0"/>
              <a:t>HashiCorp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5562600" cy="4114799"/>
          </a:xfrm>
        </p:spPr>
        <p:txBody>
          <a:bodyPr/>
          <a:lstStyle/>
          <a:p>
            <a:pPr marL="571500" indent="-514350"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867400" cy="41910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 err="1" smtClean="0"/>
              <a:t>Pierluigi</a:t>
            </a:r>
            <a:r>
              <a:rPr lang="en-US" sz="2400" dirty="0" smtClean="0"/>
              <a:t> </a:t>
            </a:r>
            <a:r>
              <a:rPr lang="en-US" sz="2400" dirty="0" err="1" smtClean="0"/>
              <a:t>Riti</a:t>
            </a:r>
            <a:r>
              <a:rPr lang="en-US" sz="2400" dirty="0" smtClean="0"/>
              <a:t> and David Flynn (2021). Beginning HCL Programming. </a:t>
            </a:r>
            <a:r>
              <a:rPr lang="en-US" sz="2400" smtClean="0"/>
              <a:t>Apress.</a:t>
            </a:r>
            <a:endParaRPr lang="en-US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400" dirty="0" err="1" smtClean="0"/>
              <a:t>Yevgeniy</a:t>
            </a:r>
            <a:r>
              <a:rPr lang="en-US" sz="2400" dirty="0" smtClean="0"/>
              <a:t> </a:t>
            </a:r>
            <a:r>
              <a:rPr lang="en-US" sz="2400" dirty="0" err="1" smtClean="0"/>
              <a:t>Brikman</a:t>
            </a:r>
            <a:r>
              <a:rPr lang="en-US" sz="2400" dirty="0" smtClean="0"/>
              <a:t> (2022). </a:t>
            </a:r>
            <a:r>
              <a:rPr lang="en-US" sz="2400" dirty="0" err="1" smtClean="0"/>
              <a:t>Terraform</a:t>
            </a:r>
            <a:r>
              <a:rPr lang="en-US" sz="2400" dirty="0" smtClean="0"/>
              <a:t> - Up and Running. O'Reilly Media.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6745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HashiCorp</a:t>
            </a:r>
            <a:r>
              <a:rPr lang="en-US" smtClean="0"/>
              <a:t>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Since its inception in 2012, </a:t>
            </a:r>
            <a:r>
              <a:rPr lang="en-US" sz="2400" dirty="0" err="1" smtClean="0"/>
              <a:t>HashiCorp’s</a:t>
            </a:r>
            <a:r>
              <a:rPr lang="en-US" sz="2400" dirty="0" smtClean="0"/>
              <a:t> primary mission has been to change how cloud applications are deployed and released.</a:t>
            </a:r>
          </a:p>
          <a:p>
            <a:r>
              <a:rPr lang="en-US" sz="2400" dirty="0" err="1" smtClean="0"/>
              <a:t>HashiCorp</a:t>
            </a:r>
            <a:r>
              <a:rPr lang="en-US" sz="2400" dirty="0" smtClean="0"/>
              <a:t> software is focused on automation and security of infrastructure and hence deployment.</a:t>
            </a:r>
          </a:p>
          <a:p>
            <a:r>
              <a:rPr lang="en-US" sz="2400" dirty="0" err="1" smtClean="0"/>
              <a:t>HashiCorp</a:t>
            </a:r>
            <a:r>
              <a:rPr lang="en-US" sz="2400" dirty="0" smtClean="0"/>
              <a:t> has a very large ecosystem in which every single application is designed to solve a specific challenge. All of the software is open source, including the code itself, which facilitates anyone contributing to actual </a:t>
            </a:r>
            <a:r>
              <a:rPr lang="en-US" sz="2400" dirty="0" err="1" smtClean="0"/>
              <a:t>HashiCorp</a:t>
            </a:r>
            <a:r>
              <a:rPr lang="en-US" sz="2400" dirty="0" smtClean="0"/>
              <a:t> code fixes.</a:t>
            </a:r>
          </a:p>
          <a:p>
            <a:r>
              <a:rPr lang="en-US" sz="2400" dirty="0" err="1" smtClean="0"/>
              <a:t>HashiCorp</a:t>
            </a:r>
            <a:r>
              <a:rPr lang="en-US" sz="2400" dirty="0" smtClean="0"/>
              <a:t> also provides a premium version of its suites for a fee, which is more applicable for enterprises.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HashiCorp</a:t>
            </a:r>
            <a:r>
              <a:rPr lang="en-US" dirty="0" smtClean="0"/>
              <a:t> Ecosystem (I)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All of the tools provided by </a:t>
            </a:r>
            <a:r>
              <a:rPr lang="en-US" sz="2400" dirty="0" err="1" smtClean="0"/>
              <a:t>HashiCorp</a:t>
            </a:r>
            <a:r>
              <a:rPr lang="en-US" sz="2400" dirty="0" smtClean="0"/>
              <a:t> are intended to support the development and deployment of large-scale service-oriented software systems.</a:t>
            </a:r>
          </a:p>
          <a:p>
            <a:r>
              <a:rPr lang="en-US" sz="2400" dirty="0" smtClean="0"/>
              <a:t>Every tool is designed for a specific stage in the software development life cycle.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Vagrant</a:t>
            </a:r>
            <a:r>
              <a:rPr lang="en-US" sz="2400" dirty="0" smtClean="0"/>
              <a:t> is a tool used to create and maintain a virtual machine environment. Normally this is used for development.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Packer</a:t>
            </a:r>
            <a:r>
              <a:rPr lang="en-US" sz="2400" dirty="0" smtClean="0"/>
              <a:t> is a tool used to create multiple identical images from a single source. This is used to create customized images for a cloud provider.</a:t>
            </a:r>
          </a:p>
          <a:p>
            <a:r>
              <a:rPr lang="en-US" sz="2400" i="1" dirty="0" err="1" smtClean="0">
                <a:solidFill>
                  <a:srgbClr val="C00000"/>
                </a:solidFill>
              </a:rPr>
              <a:t>Terraform</a:t>
            </a:r>
            <a:r>
              <a:rPr lang="en-US" sz="2400" dirty="0" smtClean="0"/>
              <a:t>, probably one of the most famous tools, is used to design and develop Infrastructure as Code.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HashiCorp</a:t>
            </a:r>
            <a:r>
              <a:rPr lang="en-US" dirty="0" smtClean="0"/>
              <a:t> Ecosystem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Consul</a:t>
            </a:r>
            <a:r>
              <a:rPr lang="en-US" sz="2400" dirty="0" smtClean="0"/>
              <a:t> is a tool for network and service discovery.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Vault</a:t>
            </a:r>
            <a:r>
              <a:rPr lang="en-US" sz="2400" dirty="0" smtClean="0"/>
              <a:t> is a tool for secret management.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Nomad</a:t>
            </a:r>
            <a:r>
              <a:rPr lang="en-US" sz="2400" dirty="0" smtClean="0"/>
              <a:t> is a tool for scheduling and deploying tasks across a cluster.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Serf</a:t>
            </a:r>
            <a:r>
              <a:rPr lang="en-US" sz="2400" dirty="0" smtClean="0"/>
              <a:t> is a tool for failure detection, orchestration, and membership management across a cluster.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Sentinel</a:t>
            </a:r>
            <a:r>
              <a:rPr lang="en-US" sz="2400" dirty="0" smtClean="0"/>
              <a:t> is embedded policy as code for fine-grained logic access.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Vagrant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Vagrant configures and defines the virtual machine via the </a:t>
            </a:r>
            <a:r>
              <a:rPr lang="en-US" sz="2400" dirty="0" err="1" smtClean="0"/>
              <a:t>Vagrantfile</a:t>
            </a:r>
            <a:r>
              <a:rPr lang="en-US" sz="2400" i="1" dirty="0" smtClean="0"/>
              <a:t>. This file </a:t>
            </a:r>
            <a:r>
              <a:rPr lang="en-US" sz="2400" dirty="0" smtClean="0"/>
              <a:t>defines the resource that can be used and deployed in the virtual machine itself.</a:t>
            </a:r>
          </a:p>
          <a:p>
            <a:r>
              <a:rPr lang="en-US" sz="2400" dirty="0" smtClean="0"/>
              <a:t>Vagrant creates a common CLI language, with Vagrant wrapping the specific command for the specific CLI, </a:t>
            </a:r>
            <a:r>
              <a:rPr lang="en-US" sz="2400" dirty="0" err="1" smtClean="0"/>
              <a:t>VirtualBox</a:t>
            </a:r>
            <a:r>
              <a:rPr lang="en-US" sz="2400" dirty="0" smtClean="0"/>
              <a:t>, and </a:t>
            </a:r>
            <a:r>
              <a:rPr lang="en-US" sz="2400" dirty="0" err="1" smtClean="0"/>
              <a:t>VMWare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Vagrant translates the commands into different specific provider calls so the developer can write once and the code is built for everywhere.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Disable/Enable Hyper-V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>
                <a:latin typeface="Consolas" pitchFamily="49" charset="0"/>
              </a:rPr>
              <a:t>bcdedit</a:t>
            </a:r>
            <a:r>
              <a:rPr lang="en-US" sz="2400" dirty="0" smtClean="0">
                <a:latin typeface="Consolas" pitchFamily="49" charset="0"/>
              </a:rPr>
              <a:t> /set </a:t>
            </a:r>
            <a:r>
              <a:rPr lang="en-US" sz="2400" dirty="0" err="1" smtClean="0">
                <a:latin typeface="Consolas" pitchFamily="49" charset="0"/>
              </a:rPr>
              <a:t>hypervisorlaunchtype</a:t>
            </a:r>
            <a:r>
              <a:rPr lang="en-US" sz="2400" dirty="0" smtClean="0">
                <a:latin typeface="Consolas" pitchFamily="49" charset="0"/>
              </a:rPr>
              <a:t> off</a:t>
            </a:r>
          </a:p>
          <a:p>
            <a:r>
              <a:rPr lang="en-US" sz="2400" dirty="0" err="1" smtClean="0">
                <a:latin typeface="Consolas" pitchFamily="49" charset="0"/>
              </a:rPr>
              <a:t>bcdedit</a:t>
            </a:r>
            <a:r>
              <a:rPr lang="en-US" sz="2400" dirty="0" smtClean="0">
                <a:latin typeface="Consolas" pitchFamily="49" charset="0"/>
              </a:rPr>
              <a:t> /set </a:t>
            </a:r>
            <a:r>
              <a:rPr lang="en-US" sz="2400" dirty="0" err="1" smtClean="0">
                <a:latin typeface="Consolas" pitchFamily="49" charset="0"/>
              </a:rPr>
              <a:t>hypervisorlaunchtype</a:t>
            </a:r>
            <a:r>
              <a:rPr lang="en-US" sz="2400" dirty="0" smtClean="0">
                <a:latin typeface="Consolas" pitchFamily="49" charset="0"/>
              </a:rPr>
              <a:t> auto start</a:t>
            </a:r>
          </a:p>
          <a:p>
            <a:endParaRPr lang="en-US" sz="24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Install Visual C++ 2015-2022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https://learn.microsoft.com/en-us/cpp/windows/latest-supported-vc-redist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1238" y="2876550"/>
            <a:ext cx="4581525" cy="283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Install </a:t>
            </a:r>
            <a:r>
              <a:rPr lang="en-US" dirty="0" err="1" smtClean="0"/>
              <a:t>VirtualBox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http://www.virtualbox.org/wiki/Downloads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11400" y="2454275"/>
            <a:ext cx="4521200" cy="3565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Install Vagrant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https://developer.hashicorp.com/vagrant/install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11400" y="2501900"/>
            <a:ext cx="4521200" cy="351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Verify Vagrant Installation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Consolas" pitchFamily="49" charset="0"/>
              </a:rPr>
              <a:t>vagrant -v</a:t>
            </a:r>
            <a:endParaRPr lang="en-US" sz="2400" dirty="0">
              <a:latin typeface="Consolas" pitchFamily="49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11325" y="2876550"/>
            <a:ext cx="5721350" cy="200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Download Image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 smtClean="0">
                <a:latin typeface="Consolas" pitchFamily="49" charset="0"/>
              </a:rPr>
              <a:t>mkdir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HelloVagrant</a:t>
            </a:r>
            <a:endParaRPr lang="en-US" sz="2000" dirty="0" smtClean="0">
              <a:latin typeface="Consolas" pitchFamily="49" charset="0"/>
            </a:endParaRPr>
          </a:p>
          <a:p>
            <a:r>
              <a:rPr lang="en-US" sz="2000" dirty="0" err="1" smtClean="0">
                <a:latin typeface="Consolas" pitchFamily="49" charset="0"/>
              </a:rPr>
              <a:t>cd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HelloVagrant</a:t>
            </a:r>
            <a:endParaRPr lang="en-US" sz="2000" dirty="0" smtClean="0">
              <a:latin typeface="Consolas" pitchFamily="49" charset="0"/>
            </a:endParaRPr>
          </a:p>
          <a:p>
            <a:r>
              <a:rPr lang="en-US" sz="2000" dirty="0" smtClean="0">
                <a:latin typeface="Consolas" pitchFamily="49" charset="0"/>
              </a:rPr>
              <a:t>// This command will download and configure the </a:t>
            </a:r>
            <a:r>
              <a:rPr lang="en-US" sz="2000" dirty="0" err="1" smtClean="0">
                <a:latin typeface="Consolas" pitchFamily="49" charset="0"/>
              </a:rPr>
              <a:t>hashicorp</a:t>
            </a:r>
            <a:r>
              <a:rPr lang="en-US" sz="2000" dirty="0" smtClean="0">
                <a:latin typeface="Consolas" pitchFamily="49" charset="0"/>
              </a:rPr>
              <a:t>/bionic64 Vagrant Box, and create a </a:t>
            </a:r>
            <a:r>
              <a:rPr lang="en-US" sz="2000" dirty="0" err="1" smtClean="0">
                <a:latin typeface="Consolas" pitchFamily="49" charset="0"/>
              </a:rPr>
              <a:t>Vagrantfile</a:t>
            </a:r>
            <a:r>
              <a:rPr lang="en-US" sz="2000" dirty="0" smtClean="0">
                <a:latin typeface="Consolas" pitchFamily="49" charset="0"/>
              </a:rPr>
              <a:t> in the folder.</a:t>
            </a:r>
          </a:p>
          <a:p>
            <a:r>
              <a:rPr lang="en-US" sz="2000" dirty="0" smtClean="0">
                <a:latin typeface="Consolas" pitchFamily="49" charset="0"/>
              </a:rPr>
              <a:t>vagrant init </a:t>
            </a:r>
            <a:r>
              <a:rPr lang="en-US" sz="2000" dirty="0" err="1" smtClean="0">
                <a:latin typeface="Consolas" pitchFamily="49" charset="0"/>
              </a:rPr>
              <a:t>hashicorp</a:t>
            </a:r>
            <a:r>
              <a:rPr lang="en-US" sz="2000" dirty="0" smtClean="0">
                <a:latin typeface="Consolas" pitchFamily="49" charset="0"/>
              </a:rPr>
              <a:t>/bionic64</a:t>
            </a:r>
          </a:p>
          <a:p>
            <a:endParaRPr lang="en-US" sz="2000" dirty="0">
              <a:latin typeface="Consolas" pitchFamily="49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11325" y="4019550"/>
            <a:ext cx="5721350" cy="200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Start VM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Consolas" pitchFamily="49" charset="0"/>
              </a:rPr>
              <a:t>vagrant up</a:t>
            </a:r>
          </a:p>
          <a:p>
            <a:endParaRPr lang="en-US" sz="2400" dirty="0">
              <a:latin typeface="Consolas" pitchFamily="49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11325" y="2876550"/>
            <a:ext cx="5721350" cy="200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Connect to VM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Consolas" pitchFamily="49" charset="0"/>
              </a:rPr>
              <a:t>vagrant </a:t>
            </a:r>
            <a:r>
              <a:rPr lang="en-US" sz="2400" dirty="0" err="1" smtClean="0">
                <a:latin typeface="Consolas" pitchFamily="49" charset="0"/>
              </a:rPr>
              <a:t>ssh</a:t>
            </a:r>
            <a:endParaRPr lang="en-US" sz="2400" dirty="0" smtClean="0">
              <a:latin typeface="Consolas" pitchFamily="49" charset="0"/>
            </a:endParaRPr>
          </a:p>
          <a:p>
            <a:r>
              <a:rPr lang="en-US" sz="2400" dirty="0" err="1" smtClean="0">
                <a:latin typeface="Consolas" pitchFamily="49" charset="0"/>
              </a:rPr>
              <a:t>lsb_release</a:t>
            </a:r>
            <a:r>
              <a:rPr lang="en-US" sz="2400" dirty="0" smtClean="0">
                <a:latin typeface="Consolas" pitchFamily="49" charset="0"/>
              </a:rPr>
              <a:t> -a</a:t>
            </a:r>
            <a:endParaRPr lang="en-US" sz="2400" dirty="0">
              <a:latin typeface="Consolas" pitchFamily="49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11325" y="3105150"/>
            <a:ext cx="5721350" cy="200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8. Review Box VM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949450"/>
            <a:ext cx="7315200" cy="368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9. Shutdown VM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Consolas" pitchFamily="49" charset="0"/>
              </a:rPr>
              <a:t>vagrant halt</a:t>
            </a:r>
          </a:p>
          <a:p>
            <a:r>
              <a:rPr lang="en-US" sz="2400" dirty="0" smtClean="0">
                <a:latin typeface="Consolas" pitchFamily="49" charset="0"/>
              </a:rPr>
              <a:t>vagrant box list</a:t>
            </a:r>
          </a:p>
          <a:p>
            <a:endParaRPr lang="en-US" sz="2400" dirty="0">
              <a:latin typeface="Consolas" pitchFamily="49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11325" y="3181350"/>
            <a:ext cx="5721350" cy="200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AWS User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Go to IAM </a:t>
            </a:r>
            <a:r>
              <a:rPr lang="en-US" sz="2400" dirty="0" smtClean="0">
                <a:sym typeface="Wingdings" pitchFamily="2" charset="2"/>
              </a:rPr>
              <a:t> Users.</a:t>
            </a:r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8973" y="2418398"/>
            <a:ext cx="7865427" cy="37538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Attach Policies Directly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Find and select </a:t>
            </a:r>
            <a:r>
              <a:rPr lang="en-US" sz="2400" b="1" dirty="0" err="1" smtClean="0"/>
              <a:t>AdministratorAccess</a:t>
            </a:r>
            <a:r>
              <a:rPr lang="en-US" sz="2400" dirty="0" smtClean="0"/>
              <a:t> policy.</a:t>
            </a:r>
            <a:endParaRPr 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316436"/>
            <a:ext cx="7914098" cy="37795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Confirm User Creation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2057400"/>
            <a:ext cx="7298510" cy="40177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Create Access Key</a:t>
            </a:r>
            <a:endParaRPr 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676400"/>
            <a:ext cx="7635192" cy="4380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Select Use Case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1905000"/>
            <a:ext cx="7601524" cy="38938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Confirm Access Key Creation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0490" y="2057400"/>
            <a:ext cx="7415310" cy="34050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Download Access Key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1981200"/>
            <a:ext cx="7169785" cy="3542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AWS CLI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>
                <a:hlinkClick r:id="rId2"/>
              </a:rPr>
              <a:t>https://docs.aws.amazon.com/cli/latest/userguide/getting-started-install.html</a:t>
            </a:r>
            <a:endParaRPr lang="en-US" sz="1800" dirty="0" smtClean="0"/>
          </a:p>
          <a:p>
            <a:r>
              <a:rPr lang="en-US" sz="1800" dirty="0" smtClean="0">
                <a:hlinkClick r:id="rId3"/>
              </a:rPr>
              <a:t>https://awscli.amazonaws.com/AWSCLIV2.msi</a:t>
            </a:r>
            <a:endParaRPr lang="en-US" sz="1800" dirty="0" smtClean="0"/>
          </a:p>
          <a:p>
            <a:r>
              <a:rPr lang="en-US" sz="1800" dirty="0" smtClean="0"/>
              <a:t>Add C:\Program Files\Amazon\AWSCLIV2 to SYSTEM PATH.</a:t>
            </a:r>
          </a:p>
          <a:p>
            <a:endParaRPr lang="en-US" sz="18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311400" y="2882900"/>
            <a:ext cx="4521200" cy="351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Configure AWS CLI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>
                <a:latin typeface="Consolas" pitchFamily="49" charset="0"/>
              </a:rPr>
              <a:t>aws</a:t>
            </a:r>
            <a:r>
              <a:rPr lang="en-US" sz="2400" dirty="0" smtClean="0">
                <a:latin typeface="Consolas" pitchFamily="49" charset="0"/>
              </a:rPr>
              <a:t> configure</a:t>
            </a:r>
            <a:endParaRPr lang="en-US" sz="2400" dirty="0">
              <a:latin typeface="Consolas" pitchFamily="49" charset="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03325" y="3079750"/>
            <a:ext cx="6737350" cy="202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Terraform</a:t>
            </a:r>
            <a:r>
              <a:rPr lang="en-US" dirty="0" smtClean="0"/>
              <a:t>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You can define your entire infrastructure—servers, databases, load balancers, network topology, and so on—in </a:t>
            </a:r>
            <a:r>
              <a:rPr lang="en-US" sz="2000" dirty="0" err="1" smtClean="0"/>
              <a:t>Terraform</a:t>
            </a:r>
            <a:r>
              <a:rPr lang="en-US" sz="2000" dirty="0" smtClean="0"/>
              <a:t> configuration files and commit those files to version control.</a:t>
            </a:r>
          </a:p>
          <a:p>
            <a:r>
              <a:rPr lang="en-US" sz="2000" dirty="0" smtClean="0"/>
              <a:t>You then run certain </a:t>
            </a:r>
            <a:r>
              <a:rPr lang="en-US" sz="2000" dirty="0" err="1" smtClean="0"/>
              <a:t>Terraform</a:t>
            </a:r>
            <a:r>
              <a:rPr lang="en-US" sz="2000" dirty="0" smtClean="0"/>
              <a:t> commands, such as </a:t>
            </a:r>
            <a:r>
              <a:rPr lang="en-US" sz="2000" b="1" dirty="0" err="1" smtClean="0">
                <a:latin typeface="Consolas" pitchFamily="49" charset="0"/>
              </a:rPr>
              <a:t>terraform</a:t>
            </a:r>
            <a:r>
              <a:rPr lang="en-US" sz="2000" b="1" dirty="0" smtClean="0">
                <a:latin typeface="Consolas" pitchFamily="49" charset="0"/>
              </a:rPr>
              <a:t> apply</a:t>
            </a:r>
            <a:r>
              <a:rPr lang="en-US" sz="2000" dirty="0" smtClean="0"/>
              <a:t>, to deploy that infrastructure.</a:t>
            </a:r>
          </a:p>
          <a:p>
            <a:r>
              <a:rPr lang="en-US" sz="2000" dirty="0" smtClean="0"/>
              <a:t>The </a:t>
            </a:r>
            <a:r>
              <a:rPr lang="en-US" sz="2000" dirty="0" err="1" smtClean="0"/>
              <a:t>terraform</a:t>
            </a:r>
            <a:r>
              <a:rPr lang="en-US" sz="2000" dirty="0" smtClean="0"/>
              <a:t> binary parses your code, translates it into a series of API calls to the cloud providers specified in the code, and makes those API calls as efficiently as possible on your behalf</a:t>
            </a:r>
            <a:endParaRPr lang="en-US" sz="2000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36863" y="4508500"/>
            <a:ext cx="3470275" cy="181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Download and Extract </a:t>
            </a:r>
            <a:r>
              <a:rPr lang="en-US" dirty="0" err="1" smtClean="0"/>
              <a:t>Terraform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https://developer.hashicorp.com/terraform/install</a:t>
            </a:r>
            <a:endParaRPr lang="en-US" sz="2400" dirty="0" smtClean="0"/>
          </a:p>
          <a:p>
            <a:r>
              <a:rPr lang="en-US" sz="2400" dirty="0" err="1" smtClean="0">
                <a:latin typeface="Consolas" pitchFamily="49" charset="0"/>
              </a:rPr>
              <a:t>terraform</a:t>
            </a:r>
            <a:r>
              <a:rPr lang="en-US" sz="2400" dirty="0" smtClean="0">
                <a:latin typeface="Consolas" pitchFamily="49" charset="0"/>
              </a:rPr>
              <a:t> -v</a:t>
            </a:r>
            <a:endParaRPr lang="en-US" sz="2400" dirty="0">
              <a:latin typeface="Consolas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78050" y="3108325"/>
            <a:ext cx="4787900" cy="161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Create Empty main.tf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>
                <a:latin typeface="Consolas" pitchFamily="49" charset="0"/>
              </a:rPr>
              <a:t>mkdir</a:t>
            </a:r>
            <a:r>
              <a:rPr lang="en-US" sz="2400" dirty="0" smtClean="0">
                <a:latin typeface="Consolas" pitchFamily="49" charset="0"/>
              </a:rPr>
              <a:t> </a:t>
            </a:r>
            <a:r>
              <a:rPr lang="en-US" sz="2400" dirty="0" err="1" smtClean="0">
                <a:latin typeface="Consolas" pitchFamily="49" charset="0"/>
              </a:rPr>
              <a:t>HelloTerraform</a:t>
            </a:r>
            <a:endParaRPr lang="en-US" sz="2400" dirty="0" smtClean="0">
              <a:latin typeface="Consolas" pitchFamily="49" charset="0"/>
            </a:endParaRPr>
          </a:p>
          <a:p>
            <a:r>
              <a:rPr lang="en-US" sz="2400" dirty="0" err="1" smtClean="0">
                <a:latin typeface="Consolas" pitchFamily="49" charset="0"/>
              </a:rPr>
              <a:t>cd</a:t>
            </a:r>
            <a:r>
              <a:rPr lang="en-US" sz="2400" dirty="0" smtClean="0">
                <a:latin typeface="Consolas" pitchFamily="49" charset="0"/>
              </a:rPr>
              <a:t> </a:t>
            </a:r>
            <a:r>
              <a:rPr lang="en-US" sz="2400" dirty="0" err="1" smtClean="0">
                <a:latin typeface="Consolas" pitchFamily="49" charset="0"/>
              </a:rPr>
              <a:t>HelloTerraform</a:t>
            </a:r>
            <a:endParaRPr lang="en-US" sz="2400" dirty="0" smtClean="0">
              <a:latin typeface="Consolas" pitchFamily="49" charset="0"/>
            </a:endParaRPr>
          </a:p>
          <a:p>
            <a:r>
              <a:rPr lang="en-US" sz="2400" dirty="0" smtClean="0">
                <a:latin typeface="Consolas" pitchFamily="49" charset="0"/>
              </a:rPr>
              <a:t>copy NUL main.tf</a:t>
            </a:r>
          </a:p>
          <a:p>
            <a:endParaRPr lang="en-US" sz="2400" dirty="0">
              <a:latin typeface="Consolas" pitchFamily="49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3302000"/>
            <a:ext cx="5486400" cy="210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Enter Content to main.tf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2286000"/>
            <a:ext cx="7543800" cy="2554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 smtClean="0">
                <a:latin typeface="Consolas" pitchFamily="49" charset="0"/>
              </a:rPr>
              <a:t>provider "</a:t>
            </a:r>
            <a:r>
              <a:rPr lang="en-US" sz="2000" dirty="0" err="1" smtClean="0">
                <a:latin typeface="Consolas" pitchFamily="49" charset="0"/>
              </a:rPr>
              <a:t>aws</a:t>
            </a:r>
            <a:r>
              <a:rPr lang="en-US" sz="2000" dirty="0" smtClean="0">
                <a:latin typeface="Consolas" pitchFamily="49" charset="0"/>
              </a:rPr>
              <a:t>" {</a:t>
            </a:r>
          </a:p>
          <a:p>
            <a:r>
              <a:rPr lang="en-US" sz="2000" dirty="0" smtClean="0">
                <a:latin typeface="Consolas" pitchFamily="49" charset="0"/>
              </a:rPr>
              <a:t>    region = "us-west-2"</a:t>
            </a:r>
          </a:p>
          <a:p>
            <a:r>
              <a:rPr lang="en-US" sz="2000" dirty="0" smtClean="0">
                <a:latin typeface="Consolas" pitchFamily="49" charset="0"/>
              </a:rPr>
              <a:t>}</a:t>
            </a:r>
          </a:p>
          <a:p>
            <a:endParaRPr lang="en-US" sz="2000" dirty="0" smtClean="0">
              <a:latin typeface="Consolas" pitchFamily="49" charset="0"/>
            </a:endParaRPr>
          </a:p>
          <a:p>
            <a:r>
              <a:rPr lang="en-US" sz="2000" dirty="0" smtClean="0">
                <a:latin typeface="Consolas" pitchFamily="49" charset="0"/>
              </a:rPr>
              <a:t># Create a VPC</a:t>
            </a:r>
          </a:p>
          <a:p>
            <a:r>
              <a:rPr lang="en-US" sz="2000" dirty="0" smtClean="0">
                <a:latin typeface="Consolas" pitchFamily="49" charset="0"/>
              </a:rPr>
              <a:t>resource "</a:t>
            </a:r>
            <a:r>
              <a:rPr lang="en-US" sz="2000" dirty="0" err="1" smtClean="0">
                <a:latin typeface="Consolas" pitchFamily="49" charset="0"/>
              </a:rPr>
              <a:t>aws_vpc</a:t>
            </a:r>
            <a:r>
              <a:rPr lang="en-US" sz="2000" dirty="0" smtClean="0">
                <a:latin typeface="Consolas" pitchFamily="49" charset="0"/>
              </a:rPr>
              <a:t>" "</a:t>
            </a:r>
            <a:r>
              <a:rPr lang="en-US" sz="2000" dirty="0" err="1" smtClean="0">
                <a:latin typeface="Consolas" pitchFamily="49" charset="0"/>
              </a:rPr>
              <a:t>helloterraformvpc</a:t>
            </a:r>
            <a:r>
              <a:rPr lang="en-US" sz="2000" dirty="0" smtClean="0">
                <a:latin typeface="Consolas" pitchFamily="49" charset="0"/>
              </a:rPr>
              <a:t>" {</a:t>
            </a:r>
          </a:p>
          <a:p>
            <a:r>
              <a:rPr lang="en-US" sz="2000" dirty="0" smtClean="0">
                <a:latin typeface="Consolas" pitchFamily="49" charset="0"/>
              </a:rPr>
              <a:t>    </a:t>
            </a:r>
            <a:r>
              <a:rPr lang="en-US" sz="2000" dirty="0" err="1" smtClean="0">
                <a:latin typeface="Consolas" pitchFamily="49" charset="0"/>
              </a:rPr>
              <a:t>cidr_block</a:t>
            </a:r>
            <a:r>
              <a:rPr lang="en-US" sz="2000" dirty="0" smtClean="0">
                <a:latin typeface="Consolas" pitchFamily="49" charset="0"/>
              </a:rPr>
              <a:t> = "20.0.0.0/16"</a:t>
            </a:r>
          </a:p>
          <a:p>
            <a:r>
              <a:rPr lang="en-US" sz="2000" dirty="0" smtClean="0">
                <a:latin typeface="Consolas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Download AWS Provider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>
                <a:latin typeface="Consolas" pitchFamily="49" charset="0"/>
              </a:rPr>
              <a:t>terraform</a:t>
            </a:r>
            <a:r>
              <a:rPr lang="en-US" sz="2400" dirty="0" smtClean="0">
                <a:latin typeface="Consolas" pitchFamily="49" charset="0"/>
              </a:rPr>
              <a:t> init</a:t>
            </a:r>
          </a:p>
          <a:p>
            <a:endParaRPr lang="en-US" sz="2400" dirty="0">
              <a:latin typeface="Consolas" pitchFamily="49" charset="0"/>
            </a:endParaRP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0013" y="2311400"/>
            <a:ext cx="6403975" cy="408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Create a 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>
                <a:latin typeface="Consolas" pitchFamily="49" charset="0"/>
              </a:rPr>
              <a:t>terraform</a:t>
            </a:r>
            <a:r>
              <a:rPr lang="en-US" sz="2400" dirty="0" smtClean="0">
                <a:latin typeface="Consolas" pitchFamily="49" charset="0"/>
              </a:rPr>
              <a:t> plan</a:t>
            </a:r>
          </a:p>
          <a:p>
            <a:endParaRPr lang="en-US" sz="2400" dirty="0">
              <a:latin typeface="Consolas" pitchFamily="49" charset="0"/>
            </a:endParaRPr>
          </a:p>
        </p:txBody>
      </p:sp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69963" y="2406650"/>
            <a:ext cx="7204075" cy="384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Apply a 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>
                <a:latin typeface="Consolas" pitchFamily="49" charset="0"/>
              </a:rPr>
              <a:t>terraform</a:t>
            </a:r>
            <a:r>
              <a:rPr lang="en-US" sz="2400" dirty="0" smtClean="0">
                <a:latin typeface="Consolas" pitchFamily="49" charset="0"/>
              </a:rPr>
              <a:t> apply</a:t>
            </a:r>
          </a:p>
          <a:p>
            <a:endParaRPr lang="en-US" sz="2400" dirty="0">
              <a:latin typeface="Consolas" pitchFamily="49" charset="0"/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69963" y="2613025"/>
            <a:ext cx="7204075" cy="325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Review VPC</a:t>
            </a:r>
            <a:endParaRPr lang="en-US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2743200"/>
            <a:ext cx="7509664" cy="18766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Declare Variable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600200"/>
            <a:ext cx="7543800" cy="47089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 smtClean="0">
                <a:latin typeface="Consolas" pitchFamily="49" charset="0"/>
              </a:rPr>
              <a:t>provider "</a:t>
            </a:r>
            <a:r>
              <a:rPr lang="en-US" sz="2000" dirty="0" err="1" smtClean="0">
                <a:latin typeface="Consolas" pitchFamily="49" charset="0"/>
              </a:rPr>
              <a:t>aws</a:t>
            </a:r>
            <a:r>
              <a:rPr lang="en-US" sz="2000" dirty="0" smtClean="0">
                <a:latin typeface="Consolas" pitchFamily="49" charset="0"/>
              </a:rPr>
              <a:t>" {</a:t>
            </a:r>
          </a:p>
          <a:p>
            <a:r>
              <a:rPr lang="en-US" sz="2000" dirty="0" smtClean="0">
                <a:latin typeface="Consolas" pitchFamily="49" charset="0"/>
              </a:rPr>
              <a:t>    region = "us-west-2"</a:t>
            </a:r>
          </a:p>
          <a:p>
            <a:r>
              <a:rPr lang="en-US" sz="2000" dirty="0" smtClean="0">
                <a:latin typeface="Consolas" pitchFamily="49" charset="0"/>
              </a:rPr>
              <a:t>}</a:t>
            </a:r>
          </a:p>
          <a:p>
            <a:endParaRPr lang="en-US" sz="2000" dirty="0" smtClean="0">
              <a:latin typeface="Consolas" pitchFamily="49" charset="0"/>
            </a:endParaRPr>
          </a:p>
          <a:p>
            <a:r>
              <a:rPr lang="en-US" sz="2000" dirty="0" smtClean="0">
                <a:latin typeface="Consolas" pitchFamily="49" charset="0"/>
              </a:rPr>
              <a:t>variable "</a:t>
            </a:r>
            <a:r>
              <a:rPr lang="en-US" sz="2000" dirty="0" err="1" smtClean="0">
                <a:latin typeface="Consolas" pitchFamily="49" charset="0"/>
              </a:rPr>
              <a:t>ip_range</a:t>
            </a:r>
            <a:r>
              <a:rPr lang="en-US" sz="2000" dirty="0" smtClean="0">
                <a:latin typeface="Consolas" pitchFamily="49" charset="0"/>
              </a:rPr>
              <a:t>" {</a:t>
            </a:r>
          </a:p>
          <a:p>
            <a:r>
              <a:rPr lang="en-US" sz="2000" dirty="0" smtClean="0">
                <a:latin typeface="Consolas" pitchFamily="49" charset="0"/>
              </a:rPr>
              <a:t>    description = "The IP Range we want to create for our VPC"</a:t>
            </a:r>
          </a:p>
          <a:p>
            <a:r>
              <a:rPr lang="en-US" sz="2000" dirty="0" smtClean="0">
                <a:latin typeface="Consolas" pitchFamily="49" charset="0"/>
              </a:rPr>
              <a:t>    type = string</a:t>
            </a:r>
          </a:p>
          <a:p>
            <a:r>
              <a:rPr lang="en-US" sz="2000" dirty="0" smtClean="0">
                <a:latin typeface="Consolas" pitchFamily="49" charset="0"/>
              </a:rPr>
              <a:t>    default = "20.0.0.0/16"</a:t>
            </a:r>
          </a:p>
          <a:p>
            <a:r>
              <a:rPr lang="en-US" sz="2000" dirty="0" smtClean="0">
                <a:latin typeface="Consolas" pitchFamily="49" charset="0"/>
              </a:rPr>
              <a:t>}</a:t>
            </a:r>
          </a:p>
          <a:p>
            <a:endParaRPr lang="en-US" sz="2000" dirty="0" smtClean="0">
              <a:latin typeface="Consolas" pitchFamily="49" charset="0"/>
            </a:endParaRPr>
          </a:p>
          <a:p>
            <a:r>
              <a:rPr lang="en-US" sz="2000" dirty="0" smtClean="0">
                <a:latin typeface="Consolas" pitchFamily="49" charset="0"/>
              </a:rPr>
              <a:t># Create a VPC</a:t>
            </a:r>
          </a:p>
          <a:p>
            <a:r>
              <a:rPr lang="en-US" sz="2000" dirty="0" smtClean="0">
                <a:latin typeface="Consolas" pitchFamily="49" charset="0"/>
              </a:rPr>
              <a:t>resource "</a:t>
            </a:r>
            <a:r>
              <a:rPr lang="en-US" sz="2000" dirty="0" err="1" smtClean="0">
                <a:latin typeface="Consolas" pitchFamily="49" charset="0"/>
              </a:rPr>
              <a:t>aws_vpc</a:t>
            </a:r>
            <a:r>
              <a:rPr lang="en-US" sz="2000" dirty="0" smtClean="0">
                <a:latin typeface="Consolas" pitchFamily="49" charset="0"/>
              </a:rPr>
              <a:t>" "</a:t>
            </a:r>
            <a:r>
              <a:rPr lang="en-US" sz="2000" dirty="0" err="1" smtClean="0">
                <a:latin typeface="Consolas" pitchFamily="49" charset="0"/>
              </a:rPr>
              <a:t>helloterraformvpc</a:t>
            </a:r>
            <a:r>
              <a:rPr lang="en-US" sz="2000" dirty="0" smtClean="0">
                <a:latin typeface="Consolas" pitchFamily="49" charset="0"/>
              </a:rPr>
              <a:t>" {</a:t>
            </a:r>
          </a:p>
          <a:p>
            <a:r>
              <a:rPr lang="en-US" sz="2000" dirty="0" smtClean="0">
                <a:latin typeface="Consolas" pitchFamily="49" charset="0"/>
              </a:rPr>
              <a:t>    </a:t>
            </a:r>
            <a:r>
              <a:rPr lang="en-US" sz="2000" dirty="0" err="1" smtClean="0">
                <a:latin typeface="Consolas" pitchFamily="49" charset="0"/>
              </a:rPr>
              <a:t>cidr_block</a:t>
            </a:r>
            <a:r>
              <a:rPr lang="en-US" sz="2000" dirty="0" smtClean="0">
                <a:latin typeface="Consolas" pitchFamily="49" charset="0"/>
              </a:rPr>
              <a:t> = </a:t>
            </a:r>
            <a:r>
              <a:rPr lang="en-US" sz="2000" dirty="0" err="1" smtClean="0">
                <a:latin typeface="Consolas" pitchFamily="49" charset="0"/>
              </a:rPr>
              <a:t>var.ip_range</a:t>
            </a:r>
            <a:endParaRPr lang="en-US" sz="2000" dirty="0" smtClean="0">
              <a:latin typeface="Consolas" pitchFamily="49" charset="0"/>
            </a:endParaRPr>
          </a:p>
          <a:p>
            <a:r>
              <a:rPr lang="en-US" sz="2000" dirty="0" smtClean="0">
                <a:latin typeface="Consolas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Apply Plan with Variable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err="1" smtClean="0">
                <a:latin typeface="Consolas" pitchFamily="49" charset="0"/>
              </a:rPr>
              <a:t>terraform</a:t>
            </a:r>
            <a:r>
              <a:rPr lang="en-US" sz="1800" dirty="0" smtClean="0">
                <a:latin typeface="Consolas" pitchFamily="49" charset="0"/>
              </a:rPr>
              <a:t> init</a:t>
            </a:r>
          </a:p>
          <a:p>
            <a:r>
              <a:rPr lang="en-US" sz="1800" dirty="0" err="1" smtClean="0">
                <a:latin typeface="Consolas" pitchFamily="49" charset="0"/>
              </a:rPr>
              <a:t>terraform</a:t>
            </a:r>
            <a:r>
              <a:rPr lang="en-US" sz="1800" dirty="0" smtClean="0">
                <a:latin typeface="Consolas" pitchFamily="49" charset="0"/>
              </a:rPr>
              <a:t> plan</a:t>
            </a:r>
          </a:p>
          <a:p>
            <a:r>
              <a:rPr lang="en-US" sz="1800" dirty="0" err="1" smtClean="0">
                <a:latin typeface="Consolas" pitchFamily="49" charset="0"/>
              </a:rPr>
              <a:t>terraform</a:t>
            </a:r>
            <a:r>
              <a:rPr lang="en-US" sz="1800" dirty="0" smtClean="0">
                <a:latin typeface="Consolas" pitchFamily="49" charset="0"/>
              </a:rPr>
              <a:t> apply</a:t>
            </a:r>
          </a:p>
          <a:p>
            <a:r>
              <a:rPr lang="en-US" sz="1800" dirty="0" err="1" smtClean="0">
                <a:latin typeface="Consolas" pitchFamily="49" charset="0"/>
              </a:rPr>
              <a:t>terraform</a:t>
            </a:r>
            <a:r>
              <a:rPr lang="en-US" sz="1800" dirty="0" smtClean="0">
                <a:latin typeface="Consolas" pitchFamily="49" charset="0"/>
              </a:rPr>
              <a:t> apply -</a:t>
            </a:r>
            <a:r>
              <a:rPr lang="en-US" sz="1800" dirty="0" err="1" smtClean="0">
                <a:latin typeface="Consolas" pitchFamily="49" charset="0"/>
              </a:rPr>
              <a:t>var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dirty="0" err="1" smtClean="0">
                <a:latin typeface="Consolas" pitchFamily="49" charset="0"/>
              </a:rPr>
              <a:t>ip_range</a:t>
            </a:r>
            <a:r>
              <a:rPr lang="en-US" sz="1800" dirty="0" smtClean="0">
                <a:latin typeface="Consolas" pitchFamily="49" charset="0"/>
              </a:rPr>
              <a:t>=10.1.0.0/16</a:t>
            </a:r>
          </a:p>
          <a:p>
            <a:endParaRPr lang="en-US" sz="1800" dirty="0" smtClean="0">
              <a:latin typeface="Consolas" pitchFamily="49" charset="0"/>
            </a:endParaRPr>
          </a:p>
          <a:p>
            <a:endParaRPr lang="en-US" sz="1800" dirty="0">
              <a:latin typeface="Consolas" pitchFamily="49" charset="0"/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35075" y="3467100"/>
            <a:ext cx="6673850" cy="201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Create Single Web Server (I)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772483"/>
            <a:ext cx="7543800" cy="42473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latin typeface="Consolas" pitchFamily="49" charset="0"/>
              </a:rPr>
              <a:t>resource "</a:t>
            </a:r>
            <a:r>
              <a:rPr lang="en-US" dirty="0" err="1" smtClean="0">
                <a:latin typeface="Consolas" pitchFamily="49" charset="0"/>
              </a:rPr>
              <a:t>aws_security_group</a:t>
            </a:r>
            <a:r>
              <a:rPr lang="en-US" dirty="0" smtClean="0">
                <a:latin typeface="Consolas" pitchFamily="49" charset="0"/>
              </a:rPr>
              <a:t>" "example-security-group" {</a:t>
            </a:r>
          </a:p>
          <a:p>
            <a:r>
              <a:rPr lang="en-US" dirty="0" smtClean="0">
                <a:latin typeface="Consolas" pitchFamily="49" charset="0"/>
              </a:rPr>
              <a:t>    name = "</a:t>
            </a:r>
            <a:r>
              <a:rPr lang="en-US" dirty="0" err="1" smtClean="0">
                <a:latin typeface="Consolas" pitchFamily="49" charset="0"/>
              </a:rPr>
              <a:t>terraform</a:t>
            </a:r>
            <a:r>
              <a:rPr lang="en-US" dirty="0" smtClean="0">
                <a:latin typeface="Consolas" pitchFamily="49" charset="0"/>
              </a:rPr>
              <a:t>-example-security-group"</a:t>
            </a:r>
          </a:p>
          <a:p>
            <a:r>
              <a:rPr lang="en-US" dirty="0" smtClean="0">
                <a:latin typeface="Consolas" pitchFamily="49" charset="0"/>
              </a:rPr>
              <a:t>    ingress {</a:t>
            </a:r>
          </a:p>
          <a:p>
            <a:r>
              <a:rPr lang="en-US" dirty="0" smtClean="0">
                <a:latin typeface="Consolas" pitchFamily="49" charset="0"/>
              </a:rPr>
              <a:t>        </a:t>
            </a:r>
            <a:r>
              <a:rPr lang="en-US" dirty="0" err="1" smtClean="0">
                <a:latin typeface="Consolas" pitchFamily="49" charset="0"/>
              </a:rPr>
              <a:t>from_port</a:t>
            </a:r>
            <a:r>
              <a:rPr lang="en-US" dirty="0" smtClean="0">
                <a:latin typeface="Consolas" pitchFamily="49" charset="0"/>
              </a:rPr>
              <a:t> = 8080</a:t>
            </a:r>
          </a:p>
          <a:p>
            <a:r>
              <a:rPr lang="en-US" dirty="0" smtClean="0">
                <a:latin typeface="Consolas" pitchFamily="49" charset="0"/>
              </a:rPr>
              <a:t>        </a:t>
            </a:r>
            <a:r>
              <a:rPr lang="en-US" dirty="0" err="1" smtClean="0">
                <a:latin typeface="Consolas" pitchFamily="49" charset="0"/>
              </a:rPr>
              <a:t>to_port</a:t>
            </a:r>
            <a:r>
              <a:rPr lang="en-US" dirty="0" smtClean="0">
                <a:latin typeface="Consolas" pitchFamily="49" charset="0"/>
              </a:rPr>
              <a:t> = 8080</a:t>
            </a:r>
          </a:p>
          <a:p>
            <a:r>
              <a:rPr lang="en-US" dirty="0" smtClean="0">
                <a:latin typeface="Consolas" pitchFamily="49" charset="0"/>
              </a:rPr>
              <a:t>        protocol = "</a:t>
            </a:r>
            <a:r>
              <a:rPr lang="en-US" dirty="0" err="1" smtClean="0">
                <a:latin typeface="Consolas" pitchFamily="49" charset="0"/>
              </a:rPr>
              <a:t>tcp</a:t>
            </a:r>
            <a:r>
              <a:rPr lang="en-US" dirty="0" smtClean="0">
                <a:latin typeface="Consolas" pitchFamily="49" charset="0"/>
              </a:rPr>
              <a:t>"</a:t>
            </a:r>
          </a:p>
          <a:p>
            <a:r>
              <a:rPr lang="en-US" dirty="0" smtClean="0">
                <a:latin typeface="Consolas" pitchFamily="49" charset="0"/>
              </a:rPr>
              <a:t>        </a:t>
            </a:r>
            <a:r>
              <a:rPr lang="en-US" dirty="0" err="1" smtClean="0">
                <a:latin typeface="Consolas" pitchFamily="49" charset="0"/>
              </a:rPr>
              <a:t>cidr_blocks</a:t>
            </a:r>
            <a:r>
              <a:rPr lang="en-US" dirty="0" smtClean="0">
                <a:latin typeface="Consolas" pitchFamily="49" charset="0"/>
              </a:rPr>
              <a:t> = ["0.0.0.0/0"]</a:t>
            </a:r>
          </a:p>
          <a:p>
            <a:r>
              <a:rPr lang="en-US" dirty="0" smtClean="0">
                <a:latin typeface="Consolas" pitchFamily="49" charset="0"/>
              </a:rPr>
              <a:t>    }</a:t>
            </a:r>
          </a:p>
          <a:p>
            <a:r>
              <a:rPr lang="en-US" dirty="0" smtClean="0">
                <a:latin typeface="Consolas" pitchFamily="49" charset="0"/>
              </a:rPr>
              <a:t>}</a:t>
            </a:r>
          </a:p>
          <a:p>
            <a:endParaRPr lang="en-US" dirty="0" smtClean="0">
              <a:latin typeface="Consolas" pitchFamily="49" charset="0"/>
            </a:endParaRPr>
          </a:p>
          <a:p>
            <a:r>
              <a:rPr lang="en-US" dirty="0" smtClean="0">
                <a:latin typeface="Consolas" pitchFamily="49" charset="0"/>
              </a:rPr>
              <a:t>resource "</a:t>
            </a:r>
            <a:r>
              <a:rPr lang="en-US" dirty="0" err="1" smtClean="0">
                <a:latin typeface="Consolas" pitchFamily="49" charset="0"/>
              </a:rPr>
              <a:t>aws_instance</a:t>
            </a:r>
            <a:r>
              <a:rPr lang="en-US" dirty="0" smtClean="0">
                <a:latin typeface="Consolas" pitchFamily="49" charset="0"/>
              </a:rPr>
              <a:t>" "example-web-app" {</a:t>
            </a:r>
          </a:p>
          <a:p>
            <a:r>
              <a:rPr lang="en-US" dirty="0" smtClean="0">
                <a:latin typeface="Consolas" pitchFamily="49" charset="0"/>
              </a:rPr>
              <a:t>  </a:t>
            </a:r>
            <a:r>
              <a:rPr lang="en-US" dirty="0" err="1" smtClean="0">
                <a:latin typeface="Consolas" pitchFamily="49" charset="0"/>
              </a:rPr>
              <a:t>instance_type</a:t>
            </a:r>
            <a:r>
              <a:rPr lang="en-US" dirty="0" smtClean="0">
                <a:latin typeface="Consolas" pitchFamily="49" charset="0"/>
              </a:rPr>
              <a:t>     = "t2.micro"</a:t>
            </a:r>
          </a:p>
          <a:p>
            <a:r>
              <a:rPr lang="en-US" dirty="0" smtClean="0">
                <a:latin typeface="Consolas" pitchFamily="49" charset="0"/>
              </a:rPr>
              <a:t>  </a:t>
            </a:r>
            <a:r>
              <a:rPr lang="en-US" dirty="0" err="1" smtClean="0">
                <a:latin typeface="Consolas" pitchFamily="49" charset="0"/>
              </a:rPr>
              <a:t>availability_zone</a:t>
            </a:r>
            <a:r>
              <a:rPr lang="en-US" dirty="0" smtClean="0">
                <a:latin typeface="Consolas" pitchFamily="49" charset="0"/>
              </a:rPr>
              <a:t> = "us-west-2a"</a:t>
            </a:r>
          </a:p>
          <a:p>
            <a:r>
              <a:rPr lang="en-US" dirty="0" smtClean="0">
                <a:latin typeface="Consolas" pitchFamily="49" charset="0"/>
              </a:rPr>
              <a:t>  </a:t>
            </a:r>
            <a:r>
              <a:rPr lang="en-US" dirty="0" err="1" smtClean="0">
                <a:latin typeface="Consolas" pitchFamily="49" charset="0"/>
              </a:rPr>
              <a:t>vpc_security_group_ids</a:t>
            </a:r>
            <a:r>
              <a:rPr lang="en-US" dirty="0" smtClean="0">
                <a:latin typeface="Consolas" pitchFamily="49" charset="0"/>
              </a:rPr>
              <a:t> = [aws_security_group.example-security-group.id]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Create Single Web Server (II)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772483"/>
            <a:ext cx="7543800" cy="45243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latin typeface="Consolas" pitchFamily="49" charset="0"/>
              </a:rPr>
              <a:t>// </a:t>
            </a:r>
            <a:r>
              <a:rPr lang="en-US" sz="1600" dirty="0" err="1" smtClean="0">
                <a:latin typeface="Consolas" pitchFamily="49" charset="0"/>
              </a:rPr>
              <a:t>aws_availability_zone</a:t>
            </a:r>
            <a:r>
              <a:rPr lang="en-US" sz="1600" dirty="0" smtClean="0">
                <a:latin typeface="Consolas" pitchFamily="49" charset="0"/>
              </a:rPr>
              <a:t> provides details about a specific availability zone (AZ) in the current region.</a:t>
            </a:r>
          </a:p>
          <a:p>
            <a:r>
              <a:rPr lang="en-US" sz="1600" dirty="0" smtClean="0">
                <a:latin typeface="Consolas" pitchFamily="49" charset="0"/>
              </a:rPr>
              <a:t>  </a:t>
            </a:r>
            <a:r>
              <a:rPr lang="en-US" sz="1600" dirty="0" err="1" smtClean="0">
                <a:latin typeface="Consolas" pitchFamily="49" charset="0"/>
              </a:rPr>
              <a:t>ami</a:t>
            </a:r>
            <a:r>
              <a:rPr lang="en-US" sz="1600" dirty="0" smtClean="0">
                <a:latin typeface="Consolas" pitchFamily="49" charset="0"/>
              </a:rPr>
              <a:t>               = "ami-0efcece6bed30fd98"</a:t>
            </a:r>
          </a:p>
          <a:p>
            <a:r>
              <a:rPr lang="en-US" sz="1600" dirty="0" smtClean="0">
                <a:latin typeface="Consolas" pitchFamily="49" charset="0"/>
              </a:rPr>
              <a:t>  // Canonical, </a:t>
            </a:r>
            <a:r>
              <a:rPr lang="en-US" sz="1600" dirty="0" err="1" smtClean="0">
                <a:latin typeface="Consolas" pitchFamily="49" charset="0"/>
              </a:rPr>
              <a:t>Ubuntu</a:t>
            </a:r>
            <a:r>
              <a:rPr lang="en-US" sz="1600" dirty="0" smtClean="0">
                <a:latin typeface="Consolas" pitchFamily="49" charset="0"/>
              </a:rPr>
              <a:t>, 22.04 LTS, amd64 </a:t>
            </a:r>
            <a:r>
              <a:rPr lang="en-US" sz="1600" dirty="0" err="1" smtClean="0">
                <a:latin typeface="Consolas" pitchFamily="49" charset="0"/>
              </a:rPr>
              <a:t>jammy</a:t>
            </a:r>
            <a:r>
              <a:rPr lang="en-US" sz="1600" dirty="0" smtClean="0">
                <a:latin typeface="Consolas" pitchFamily="49" charset="0"/>
              </a:rPr>
              <a:t> image build on 2023-09-19</a:t>
            </a:r>
          </a:p>
          <a:p>
            <a:endParaRPr lang="en-US" sz="1600" dirty="0" smtClean="0">
              <a:latin typeface="Consolas" pitchFamily="49" charset="0"/>
            </a:endParaRPr>
          </a:p>
          <a:p>
            <a:r>
              <a:rPr lang="en-US" sz="1600" dirty="0" smtClean="0">
                <a:latin typeface="Consolas" pitchFamily="49" charset="0"/>
              </a:rPr>
              <a:t>  </a:t>
            </a:r>
            <a:r>
              <a:rPr lang="en-US" sz="1600" dirty="0" err="1" smtClean="0">
                <a:latin typeface="Consolas" pitchFamily="49" charset="0"/>
              </a:rPr>
              <a:t>user_data</a:t>
            </a:r>
            <a:r>
              <a:rPr lang="en-US" sz="1600" dirty="0" smtClean="0">
                <a:latin typeface="Consolas" pitchFamily="49" charset="0"/>
              </a:rPr>
              <a:t> = &lt;&lt;-EOF</a:t>
            </a:r>
          </a:p>
          <a:p>
            <a:r>
              <a:rPr lang="en-US" sz="1600" dirty="0" smtClean="0">
                <a:latin typeface="Consolas" pitchFamily="49" charset="0"/>
              </a:rPr>
              <a:t>              #!/bin/bash</a:t>
            </a:r>
          </a:p>
          <a:p>
            <a:r>
              <a:rPr lang="en-US" sz="1600" dirty="0" smtClean="0">
                <a:latin typeface="Consolas" pitchFamily="49" charset="0"/>
              </a:rPr>
              <a:t>              echo "Hello, World" &gt; index.html</a:t>
            </a:r>
          </a:p>
          <a:p>
            <a:r>
              <a:rPr lang="en-US" sz="1600" dirty="0" smtClean="0">
                <a:latin typeface="Consolas" pitchFamily="49" charset="0"/>
              </a:rPr>
              <a:t>              </a:t>
            </a:r>
            <a:r>
              <a:rPr lang="en-US" sz="1600" dirty="0" err="1" smtClean="0">
                <a:latin typeface="Consolas" pitchFamily="49" charset="0"/>
              </a:rPr>
              <a:t>nohup</a:t>
            </a:r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</a:rPr>
              <a:t>busybox</a:t>
            </a:r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</a:rPr>
              <a:t>httpd</a:t>
            </a:r>
            <a:r>
              <a:rPr lang="en-US" sz="1600" dirty="0" smtClean="0">
                <a:latin typeface="Consolas" pitchFamily="49" charset="0"/>
              </a:rPr>
              <a:t> -f -p 8080 &amp;</a:t>
            </a:r>
          </a:p>
          <a:p>
            <a:r>
              <a:rPr lang="en-US" sz="1600" dirty="0" smtClean="0">
                <a:latin typeface="Consolas" pitchFamily="49" charset="0"/>
              </a:rPr>
              <a:t>              EOF</a:t>
            </a:r>
          </a:p>
          <a:p>
            <a:endParaRPr lang="en-US" sz="1600" dirty="0" smtClean="0">
              <a:latin typeface="Consolas" pitchFamily="49" charset="0"/>
            </a:endParaRPr>
          </a:p>
          <a:p>
            <a:r>
              <a:rPr lang="en-US" sz="1600" dirty="0" smtClean="0">
                <a:latin typeface="Consolas" pitchFamily="49" charset="0"/>
              </a:rPr>
              <a:t>  </a:t>
            </a:r>
            <a:r>
              <a:rPr lang="en-US" sz="1600" dirty="0" err="1" smtClean="0">
                <a:latin typeface="Consolas" pitchFamily="49" charset="0"/>
              </a:rPr>
              <a:t>user_data_replace_on_change</a:t>
            </a:r>
            <a:r>
              <a:rPr lang="en-US" sz="1600" dirty="0" smtClean="0">
                <a:latin typeface="Consolas" pitchFamily="49" charset="0"/>
              </a:rPr>
              <a:t> = true</a:t>
            </a:r>
          </a:p>
          <a:p>
            <a:endParaRPr lang="en-US" sz="1600" dirty="0" smtClean="0">
              <a:latin typeface="Consolas" pitchFamily="49" charset="0"/>
            </a:endParaRPr>
          </a:p>
          <a:p>
            <a:r>
              <a:rPr lang="en-US" sz="1600" dirty="0" smtClean="0">
                <a:latin typeface="Consolas" pitchFamily="49" charset="0"/>
              </a:rPr>
              <a:t>  tags = {</a:t>
            </a:r>
          </a:p>
          <a:p>
            <a:r>
              <a:rPr lang="en-US" sz="1600" dirty="0" smtClean="0">
                <a:latin typeface="Consolas" pitchFamily="49" charset="0"/>
              </a:rPr>
              <a:t>    Name = "</a:t>
            </a:r>
            <a:r>
              <a:rPr lang="en-US" sz="1600" dirty="0" err="1" smtClean="0">
                <a:latin typeface="Consolas" pitchFamily="49" charset="0"/>
              </a:rPr>
              <a:t>terraform</a:t>
            </a:r>
            <a:r>
              <a:rPr lang="en-US" sz="1600" dirty="0" smtClean="0">
                <a:latin typeface="Consolas" pitchFamily="49" charset="0"/>
              </a:rPr>
              <a:t>-example"</a:t>
            </a:r>
          </a:p>
          <a:p>
            <a:r>
              <a:rPr lang="en-US" sz="1600" dirty="0" smtClean="0">
                <a:latin typeface="Consolas" pitchFamily="49" charset="0"/>
              </a:rPr>
              <a:t>  }              </a:t>
            </a:r>
          </a:p>
          <a:p>
            <a:r>
              <a:rPr lang="en-US" sz="1600" dirty="0" smtClean="0">
                <a:latin typeface="Consolas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Create Single Web Server (III)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>
                <a:latin typeface="Consolas" pitchFamily="49" charset="0"/>
              </a:rPr>
              <a:t>terraform</a:t>
            </a:r>
            <a:r>
              <a:rPr lang="en-US" sz="2400" dirty="0" smtClean="0">
                <a:latin typeface="Consolas" pitchFamily="49" charset="0"/>
              </a:rPr>
              <a:t> apply</a:t>
            </a:r>
            <a:endParaRPr lang="en-US" sz="2400" dirty="0">
              <a:latin typeface="Consolas" pitchFamily="49" charset="0"/>
            </a:endParaRPr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25600" y="2401888"/>
            <a:ext cx="5892800" cy="205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95475" y="4953000"/>
            <a:ext cx="535305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View Dependency Graph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>
                <a:latin typeface="Consolas" pitchFamily="49" charset="0"/>
              </a:rPr>
              <a:t>terraform</a:t>
            </a:r>
            <a:r>
              <a:rPr lang="en-US" sz="2400" dirty="0" smtClean="0">
                <a:latin typeface="Consolas" pitchFamily="49" charset="0"/>
              </a:rPr>
              <a:t> graph</a:t>
            </a:r>
            <a:endParaRPr lang="en-US" sz="2400" dirty="0">
              <a:latin typeface="Consolas" pitchFamily="49" charset="0"/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895600"/>
            <a:ext cx="8245475" cy="1437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Destroy Resources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>
                <a:latin typeface="Consolas" pitchFamily="49" charset="0"/>
              </a:rPr>
              <a:t>terraform</a:t>
            </a:r>
            <a:r>
              <a:rPr lang="en-US" sz="2400" dirty="0" smtClean="0">
                <a:latin typeface="Consolas" pitchFamily="49" charset="0"/>
              </a:rPr>
              <a:t> destroy</a:t>
            </a:r>
            <a:endParaRPr lang="en-US" sz="2400" dirty="0">
              <a:latin typeface="Consolas" pitchFamily="49" charset="0"/>
            </a:endParaRPr>
          </a:p>
        </p:txBody>
      </p:sp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6438" y="2663825"/>
            <a:ext cx="7731125" cy="251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Download and Extract Vault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https://developer.hashicorp.com/vault/install</a:t>
            </a:r>
            <a:endParaRPr lang="en-US" sz="2400" dirty="0" smtClean="0"/>
          </a:p>
          <a:p>
            <a:r>
              <a:rPr lang="en-US" sz="2400" dirty="0" smtClean="0">
                <a:latin typeface="Consolas" pitchFamily="49" charset="0"/>
              </a:rPr>
              <a:t>vault -v</a:t>
            </a:r>
            <a:endParaRPr lang="en-US" sz="2400" dirty="0">
              <a:latin typeface="Consolas" pitchFamily="49" charset="0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11325" y="3181350"/>
            <a:ext cx="5721350" cy="200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19051</TotalTime>
  <Words>1050</Words>
  <Application>Microsoft Office PowerPoint</Application>
  <PresentationFormat>On-screen Show (4:3)</PresentationFormat>
  <Paragraphs>163</Paragraphs>
  <Slides>49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0" baseType="lpstr">
      <vt:lpstr>Office Theme</vt:lpstr>
      <vt:lpstr>HashiCorp</vt:lpstr>
      <vt:lpstr>Objectives</vt:lpstr>
      <vt:lpstr>Contents</vt:lpstr>
      <vt:lpstr>References</vt:lpstr>
      <vt:lpstr>HashiCorp [1]</vt:lpstr>
      <vt:lpstr>HashiCorp Ecosystem (I)</vt:lpstr>
      <vt:lpstr>HashiCorp Ecosystem (II)</vt:lpstr>
      <vt:lpstr>Vagrant</vt:lpstr>
      <vt:lpstr>1. Disable/Enable Hyper-V</vt:lpstr>
      <vt:lpstr>2. Install Visual C++ 2015-2022</vt:lpstr>
      <vt:lpstr>3. Install VirtualBox</vt:lpstr>
      <vt:lpstr>4. Install Vagrant</vt:lpstr>
      <vt:lpstr>5. Verify Vagrant Installation</vt:lpstr>
      <vt:lpstr>5. Download Image</vt:lpstr>
      <vt:lpstr>6. Start VM</vt:lpstr>
      <vt:lpstr>7. Connect to VM</vt:lpstr>
      <vt:lpstr>8. Review Box VM</vt:lpstr>
      <vt:lpstr>9. Shutdown VM</vt:lpstr>
      <vt:lpstr>Slide 19</vt:lpstr>
      <vt:lpstr>1. Create AWS User</vt:lpstr>
      <vt:lpstr>2. Attach Policies Directly</vt:lpstr>
      <vt:lpstr>3. Confirm User Creation</vt:lpstr>
      <vt:lpstr>4. Create Access Key</vt:lpstr>
      <vt:lpstr>5. Select Use Case</vt:lpstr>
      <vt:lpstr>6. Confirm Access Key Creation</vt:lpstr>
      <vt:lpstr>7. Download Access Key</vt:lpstr>
      <vt:lpstr>Slide 27</vt:lpstr>
      <vt:lpstr>1. Install AWS CLI</vt:lpstr>
      <vt:lpstr>2. Configure AWS CLI</vt:lpstr>
      <vt:lpstr>Slide 30</vt:lpstr>
      <vt:lpstr>Terraform [2]</vt:lpstr>
      <vt:lpstr>1. Download and Extract Terraform</vt:lpstr>
      <vt:lpstr>2. Create Empty main.tf</vt:lpstr>
      <vt:lpstr>3. Enter Content to main.tf</vt:lpstr>
      <vt:lpstr>4. Download AWS Provider</vt:lpstr>
      <vt:lpstr>4. Create a Plan</vt:lpstr>
      <vt:lpstr>5. Apply a Plan</vt:lpstr>
      <vt:lpstr>6. Review VPC</vt:lpstr>
      <vt:lpstr>Slide 39</vt:lpstr>
      <vt:lpstr>1. Declare Variable</vt:lpstr>
      <vt:lpstr>2. Apply Plan with Variable</vt:lpstr>
      <vt:lpstr>3. Create Single Web Server (I)</vt:lpstr>
      <vt:lpstr>4. Create Single Web Server (II)</vt:lpstr>
      <vt:lpstr>5. Create Single Web Server (III)</vt:lpstr>
      <vt:lpstr>6. View Dependency Graph</vt:lpstr>
      <vt:lpstr>7. Destroy Resources</vt:lpstr>
      <vt:lpstr>Slide 47</vt:lpstr>
      <vt:lpstr>1. Download and Extract Vault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5148</cp:revision>
  <dcterms:created xsi:type="dcterms:W3CDTF">2007-10-06T08:25:13Z</dcterms:created>
  <dcterms:modified xsi:type="dcterms:W3CDTF">2026-07-30T18:37:57Z</dcterms:modified>
</cp:coreProperties>
</file>