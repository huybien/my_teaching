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1"/>
  </p:notesMasterIdLst>
  <p:sldIdLst>
    <p:sldId id="584" r:id="rId2"/>
    <p:sldId id="585" r:id="rId3"/>
    <p:sldId id="586" r:id="rId4"/>
    <p:sldId id="587" r:id="rId5"/>
    <p:sldId id="632" r:id="rId6"/>
    <p:sldId id="644" r:id="rId7"/>
    <p:sldId id="645" r:id="rId8"/>
    <p:sldId id="646" r:id="rId9"/>
    <p:sldId id="647" r:id="rId10"/>
    <p:sldId id="648" r:id="rId11"/>
    <p:sldId id="634" r:id="rId12"/>
    <p:sldId id="636" r:id="rId13"/>
    <p:sldId id="635" r:id="rId14"/>
    <p:sldId id="637" r:id="rId15"/>
    <p:sldId id="638" r:id="rId16"/>
    <p:sldId id="639" r:id="rId17"/>
    <p:sldId id="640" r:id="rId18"/>
    <p:sldId id="643" r:id="rId19"/>
    <p:sldId id="641" r:id="rId20"/>
    <p:sldId id="642" r:id="rId21"/>
    <p:sldId id="633" r:id="rId22"/>
    <p:sldId id="588" r:id="rId23"/>
    <p:sldId id="628" r:id="rId24"/>
    <p:sldId id="629" r:id="rId25"/>
    <p:sldId id="631" r:id="rId26"/>
    <p:sldId id="630" r:id="rId27"/>
    <p:sldId id="649" r:id="rId28"/>
    <p:sldId id="650" r:id="rId29"/>
    <p:sldId id="440" r:id="rId3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77" autoAdjust="0"/>
    <p:restoredTop sz="94765" autoAdjust="0"/>
  </p:normalViewPr>
  <p:slideViewPr>
    <p:cSldViewPr>
      <p:cViewPr>
        <p:scale>
          <a:sx n="50" d="100"/>
          <a:sy n="50" d="100"/>
        </p:scale>
        <p:origin x="-1642"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12/23/2025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12/23/2025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12/23/2025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12/23/2025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12/23/2025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12/23/2025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12/23/2025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12/23/2025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12/23/2025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12/23/2025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12/23/2025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12/23/2025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12/23/2025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firecracker-microvm/firecracker"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r>
              <a:rPr lang="en-US" sz="6000" dirty="0" err="1" smtClean="0"/>
              <a:t>Serverless</a:t>
            </a:r>
            <a:r>
              <a:rPr lang="en-US" sz="6000" dirty="0" smtClean="0"/>
              <a:t> Computing</a:t>
            </a:r>
            <a:endParaRPr lang="en-US" sz="6000" dirty="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indent="-457200">
              <a:buFont typeface="+mj-lt"/>
              <a:buAutoNum type="arabicPeriod"/>
            </a:pPr>
            <a:r>
              <a:rPr lang="en-US" sz="2400" dirty="0" smtClean="0"/>
              <a:t>Scott Hendrickson et al. (2016). Serverless Computation with </a:t>
            </a:r>
            <a:r>
              <a:rPr lang="en-US" sz="2400" dirty="0" err="1" smtClean="0"/>
              <a:t>OpenLambda</a:t>
            </a:r>
            <a:r>
              <a:rPr lang="en-US" sz="2400" dirty="0" smtClean="0"/>
              <a:t>.</a:t>
            </a:r>
          </a:p>
          <a:p>
            <a:pPr marL="457200" indent="-457200">
              <a:buFont typeface="+mj-lt"/>
              <a:buAutoNum type="arabicPeriod"/>
            </a:pPr>
            <a:r>
              <a:rPr lang="en-US" sz="2400" dirty="0" smtClean="0"/>
              <a:t>Scott Hendrickson et al. (2016). Serverless Computation with </a:t>
            </a:r>
            <a:r>
              <a:rPr lang="en-US" sz="2400" dirty="0" err="1" smtClean="0"/>
              <a:t>OpenLambda</a:t>
            </a:r>
            <a:r>
              <a:rPr lang="en-US" sz="2400" dirty="0" smtClean="0"/>
              <a:t>. </a:t>
            </a:r>
            <a:r>
              <a:rPr lang="en-US" sz="2400" dirty="0" err="1" smtClean="0"/>
              <a:t>HotCloud</a:t>
            </a:r>
            <a:r>
              <a:rPr lang="en-US" sz="2400" dirty="0" smtClean="0"/>
              <a:t>.</a:t>
            </a:r>
          </a:p>
          <a:p>
            <a:pPr marL="457200" indent="-457200">
              <a:buFont typeface="+mj-lt"/>
              <a:buAutoNum type="arabicPeriod"/>
            </a:pPr>
            <a:r>
              <a:rPr lang="en-US" sz="2400" dirty="0" smtClean="0"/>
              <a:t>Garrett McGrath and Paul R. Brenner (2017). Serverless Computing: Design, Implementation, and Performance.</a:t>
            </a:r>
          </a:p>
          <a:p>
            <a:pPr marL="457200" indent="-457200">
              <a:buFont typeface="+mj-lt"/>
              <a:buAutoNum type="arabicPeriod"/>
            </a:pPr>
            <a:r>
              <a:rPr lang="en-US" sz="2400" dirty="0" err="1" smtClean="0"/>
              <a:t>Alexandru</a:t>
            </a:r>
            <a:r>
              <a:rPr lang="en-US" sz="2400" dirty="0" smtClean="0"/>
              <a:t> </a:t>
            </a:r>
            <a:r>
              <a:rPr lang="en-US" sz="2400" dirty="0" err="1" smtClean="0"/>
              <a:t>Agache</a:t>
            </a:r>
            <a:r>
              <a:rPr lang="en-US" sz="2400" dirty="0" smtClean="0"/>
              <a:t> et al. (2020). Firecracker - Lightweight Virtualization for Serverless </a:t>
            </a:r>
            <a:r>
              <a:rPr lang="en-US" sz="2400" smtClean="0"/>
              <a:t>Applications.</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Sharing [1]</a:t>
            </a:r>
            <a:endParaRPr lang="en-US" dirty="0"/>
          </a:p>
        </p:txBody>
      </p:sp>
      <p:sp>
        <p:nvSpPr>
          <p:cNvPr id="3" name="Content Placeholder 2"/>
          <p:cNvSpPr>
            <a:spLocks noGrp="1"/>
          </p:cNvSpPr>
          <p:nvPr>
            <p:ph idx="1"/>
          </p:nvPr>
        </p:nvSpPr>
        <p:spPr/>
        <p:txBody>
          <a:bodyPr/>
          <a:lstStyle/>
          <a:p>
            <a:r>
              <a:rPr lang="en-US" dirty="0" smtClean="0"/>
              <a:t>Gray layers are shared.</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203325" y="2816225"/>
            <a:ext cx="6737350" cy="236537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OpenLambda</a:t>
            </a:r>
            <a:r>
              <a:rPr lang="en-US" dirty="0" smtClean="0"/>
              <a:t> Architecture (I)</a:t>
            </a:r>
            <a:endParaRPr lang="en-US" dirty="0"/>
          </a:p>
        </p:txBody>
      </p:sp>
      <p:sp>
        <p:nvSpPr>
          <p:cNvPr id="3" name="Content Placeholder 2"/>
          <p:cNvSpPr>
            <a:spLocks noGrp="1"/>
          </p:cNvSpPr>
          <p:nvPr>
            <p:ph idx="1"/>
          </p:nvPr>
        </p:nvSpPr>
        <p:spPr/>
        <p:txBody>
          <a:bodyPr/>
          <a:lstStyle/>
          <a:p>
            <a:r>
              <a:rPr lang="en-US" sz="2800" dirty="0" smtClean="0"/>
              <a:t>A new Lambda handler is uploaded, then called.</a:t>
            </a:r>
            <a:endParaRPr lang="en-US" sz="2800" dirty="0"/>
          </a:p>
        </p:txBody>
      </p:sp>
      <p:pic>
        <p:nvPicPr>
          <p:cNvPr id="1026" name="Picture 2"/>
          <p:cNvPicPr>
            <a:picLocks noChangeAspect="1" noChangeArrowheads="1"/>
          </p:cNvPicPr>
          <p:nvPr/>
        </p:nvPicPr>
        <p:blipFill>
          <a:blip r:embed="rId2" cstate="print"/>
          <a:srcRect/>
          <a:stretch>
            <a:fillRect/>
          </a:stretch>
        </p:blipFill>
        <p:spPr bwMode="auto">
          <a:xfrm>
            <a:off x="806450" y="2794000"/>
            <a:ext cx="7531100" cy="1854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OpenLambda</a:t>
            </a:r>
            <a:r>
              <a:rPr lang="en-US" dirty="0" smtClean="0"/>
              <a:t> Architecture (II)</a:t>
            </a:r>
            <a:endParaRPr lang="en-US" dirty="0"/>
          </a:p>
        </p:txBody>
      </p:sp>
      <p:sp>
        <p:nvSpPr>
          <p:cNvPr id="3" name="Content Placeholder 2"/>
          <p:cNvSpPr>
            <a:spLocks noGrp="1"/>
          </p:cNvSpPr>
          <p:nvPr>
            <p:ph idx="1"/>
          </p:nvPr>
        </p:nvSpPr>
        <p:spPr/>
        <p:txBody>
          <a:bodyPr/>
          <a:lstStyle/>
          <a:p>
            <a:r>
              <a:rPr lang="en-US" sz="2600" dirty="0" smtClean="0"/>
              <a:t>First, a </a:t>
            </a:r>
            <a:r>
              <a:rPr lang="en-US" sz="2600" i="1" dirty="0" smtClean="0">
                <a:solidFill>
                  <a:srgbClr val="C00000"/>
                </a:solidFill>
              </a:rPr>
              <a:t>developer</a:t>
            </a:r>
            <a:r>
              <a:rPr lang="en-US" sz="2600" dirty="0" smtClean="0"/>
              <a:t> uploads the Lambda code to the Lambda service, which stores it in a </a:t>
            </a:r>
            <a:r>
              <a:rPr lang="en-US" sz="2600" i="1" dirty="0" smtClean="0">
                <a:solidFill>
                  <a:srgbClr val="C00000"/>
                </a:solidFill>
              </a:rPr>
              <a:t>code store</a:t>
            </a:r>
            <a:r>
              <a:rPr lang="en-US" sz="2600" dirty="0" smtClean="0"/>
              <a:t>.</a:t>
            </a:r>
          </a:p>
          <a:p>
            <a:r>
              <a:rPr lang="en-US" sz="2600" dirty="0" smtClean="0"/>
              <a:t>Second, a </a:t>
            </a:r>
            <a:r>
              <a:rPr lang="en-US" sz="2600" i="1" dirty="0" smtClean="0">
                <a:solidFill>
                  <a:srgbClr val="C00000"/>
                </a:solidFill>
              </a:rPr>
              <a:t>client</a:t>
            </a:r>
            <a:r>
              <a:rPr lang="en-US" sz="2600" dirty="0" smtClean="0"/>
              <a:t> may issue an RPC to the service, via AJAX, </a:t>
            </a:r>
            <a:r>
              <a:rPr lang="en-US" sz="2600" dirty="0" err="1" smtClean="0"/>
              <a:t>gRPC</a:t>
            </a:r>
            <a:r>
              <a:rPr lang="en-US" sz="2600" dirty="0" smtClean="0"/>
              <a:t>, or some other protocol.</a:t>
            </a:r>
          </a:p>
          <a:p>
            <a:r>
              <a:rPr lang="en-US" sz="2600" dirty="0" smtClean="0"/>
              <a:t>A </a:t>
            </a:r>
            <a:r>
              <a:rPr lang="en-US" sz="2600" i="1" dirty="0" smtClean="0">
                <a:solidFill>
                  <a:srgbClr val="C00000"/>
                </a:solidFill>
              </a:rPr>
              <a:t>load balancer</a:t>
            </a:r>
            <a:r>
              <a:rPr lang="en-US" sz="2600" dirty="0" smtClean="0"/>
              <a:t> must decide which worker machine should service the request.</a:t>
            </a:r>
          </a:p>
          <a:p>
            <a:r>
              <a:rPr lang="en-US" sz="2600" dirty="0" smtClean="0"/>
              <a:t>In order to implement certain </a:t>
            </a:r>
            <a:r>
              <a:rPr lang="en-US" sz="2600" i="1" dirty="0" smtClean="0">
                <a:solidFill>
                  <a:srgbClr val="C00000"/>
                </a:solidFill>
              </a:rPr>
              <a:t>locality heuristics</a:t>
            </a:r>
            <a:r>
              <a:rPr lang="en-US" sz="2600" dirty="0" smtClean="0"/>
              <a:t>, the balancer may need to request the RPC schema from the code store in order to perform deep inspection on the RPC fields.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OpenLambda</a:t>
            </a:r>
            <a:r>
              <a:rPr lang="en-US" dirty="0" smtClean="0"/>
              <a:t> Architecture (III)</a:t>
            </a:r>
            <a:endParaRPr lang="en-US" dirty="0"/>
          </a:p>
        </p:txBody>
      </p:sp>
      <p:sp>
        <p:nvSpPr>
          <p:cNvPr id="3" name="Content Placeholder 2"/>
          <p:cNvSpPr>
            <a:spLocks noGrp="1"/>
          </p:cNvSpPr>
          <p:nvPr>
            <p:ph idx="1"/>
          </p:nvPr>
        </p:nvSpPr>
        <p:spPr/>
        <p:txBody>
          <a:bodyPr/>
          <a:lstStyle/>
          <a:p>
            <a:r>
              <a:rPr lang="en-US" sz="2800" dirty="0" smtClean="0"/>
              <a:t>The </a:t>
            </a:r>
            <a:r>
              <a:rPr lang="en-US" sz="2800" dirty="0" err="1" smtClean="0"/>
              <a:t>OpenLambda</a:t>
            </a:r>
            <a:r>
              <a:rPr lang="en-US" sz="2800" dirty="0" smtClean="0"/>
              <a:t> </a:t>
            </a:r>
            <a:r>
              <a:rPr lang="en-US" sz="2800" i="1" dirty="0" smtClean="0">
                <a:solidFill>
                  <a:srgbClr val="C00000"/>
                </a:solidFill>
              </a:rPr>
              <a:t>worker</a:t>
            </a:r>
            <a:r>
              <a:rPr lang="en-US" sz="2800" dirty="0" smtClean="0"/>
              <a:t> that receives the request will then fetch the RPC handling code from the code store if it is not already cached locally.</a:t>
            </a:r>
          </a:p>
          <a:p>
            <a:r>
              <a:rPr lang="en-US" sz="2800" dirty="0" smtClean="0"/>
              <a:t>The worker will initialize a </a:t>
            </a:r>
            <a:r>
              <a:rPr lang="en-US" sz="2800" i="1" dirty="0" smtClean="0">
                <a:solidFill>
                  <a:srgbClr val="C00000"/>
                </a:solidFill>
              </a:rPr>
              <a:t>sandbox</a:t>
            </a:r>
            <a:r>
              <a:rPr lang="en-US" sz="2800" dirty="0" smtClean="0"/>
              <a:t> in which to run the handler.</a:t>
            </a:r>
          </a:p>
          <a:p>
            <a:r>
              <a:rPr lang="en-US" sz="2800" dirty="0" smtClean="0"/>
              <a:t>The </a:t>
            </a:r>
            <a:r>
              <a:rPr lang="en-US" sz="2800" i="1" dirty="0" smtClean="0">
                <a:solidFill>
                  <a:srgbClr val="C00000"/>
                </a:solidFill>
              </a:rPr>
              <a:t>handler</a:t>
            </a:r>
            <a:r>
              <a:rPr lang="en-US" sz="2800" dirty="0" smtClean="0"/>
              <a:t> may issue queries to a distributed database; if the balancer and database are integrated, this will hopefully involve I/O to a local shard.</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Container Usage</a:t>
            </a:r>
            <a:endParaRPr lang="en-US" dirty="0"/>
          </a:p>
        </p:txBody>
      </p:sp>
      <p:sp>
        <p:nvSpPr>
          <p:cNvPr id="3" name="Content Placeholder 2"/>
          <p:cNvSpPr>
            <a:spLocks noGrp="1"/>
          </p:cNvSpPr>
          <p:nvPr>
            <p:ph idx="1"/>
          </p:nvPr>
        </p:nvSpPr>
        <p:spPr/>
        <p:txBody>
          <a:bodyPr/>
          <a:lstStyle/>
          <a:p>
            <a:r>
              <a:rPr lang="en-US" sz="2000" dirty="0" smtClean="0"/>
              <a:t>Servers run outside the containers with the Lambda model, so there is no server </a:t>
            </a:r>
            <a:r>
              <a:rPr lang="en-US" sz="2000" dirty="0" err="1" smtClean="0"/>
              <a:t>spinup</a:t>
            </a:r>
            <a:r>
              <a:rPr lang="en-US" sz="2000" dirty="0" smtClean="0"/>
              <a:t> overhead.</a:t>
            </a:r>
          </a:p>
          <a:p>
            <a:r>
              <a:rPr lang="en-US" sz="2000" dirty="0" smtClean="0"/>
              <a:t>Many applications will share a small number of standard runtime engines.</a:t>
            </a:r>
          </a:p>
          <a:p>
            <a:r>
              <a:rPr lang="en-US" sz="2000" dirty="0" smtClean="0"/>
              <a:t>Although multiple instances of those runtime engines will run in each sandbox, the runtime engine code will already be on every worker, typically in memory. </a:t>
            </a:r>
            <a:endParaRPr lang="en-US" sz="2000" dirty="0"/>
          </a:p>
        </p:txBody>
      </p:sp>
      <p:pic>
        <p:nvPicPr>
          <p:cNvPr id="2050" name="Picture 2"/>
          <p:cNvPicPr>
            <a:picLocks noChangeAspect="1" noChangeArrowheads="1"/>
          </p:cNvPicPr>
          <p:nvPr/>
        </p:nvPicPr>
        <p:blipFill>
          <a:blip r:embed="rId2" cstate="print"/>
          <a:srcRect/>
          <a:stretch>
            <a:fillRect/>
          </a:stretch>
        </p:blipFill>
        <p:spPr bwMode="auto">
          <a:xfrm>
            <a:off x="1676400" y="3962400"/>
            <a:ext cx="5600700" cy="21463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Model [2]</a:t>
            </a:r>
            <a:endParaRPr lang="en-US" dirty="0"/>
          </a:p>
        </p:txBody>
      </p:sp>
      <p:sp>
        <p:nvSpPr>
          <p:cNvPr id="3" name="Content Placeholder 2"/>
          <p:cNvSpPr>
            <a:spLocks noGrp="1"/>
          </p:cNvSpPr>
          <p:nvPr>
            <p:ph idx="1"/>
          </p:nvPr>
        </p:nvSpPr>
        <p:spPr/>
        <p:txBody>
          <a:bodyPr/>
          <a:lstStyle/>
          <a:p>
            <a:r>
              <a:rPr lang="en-US" sz="2800" dirty="0" smtClean="0"/>
              <a:t>A developer selects a </a:t>
            </a:r>
            <a:r>
              <a:rPr lang="en-US" sz="2800" i="1" dirty="0" smtClean="0">
                <a:solidFill>
                  <a:srgbClr val="C00000"/>
                </a:solidFill>
              </a:rPr>
              <a:t>runtime environment</a:t>
            </a:r>
            <a:r>
              <a:rPr lang="en-US" sz="2800" dirty="0" smtClean="0"/>
              <a:t> (e.g., Python27), uploads the relevant </a:t>
            </a:r>
            <a:r>
              <a:rPr lang="en-US" sz="2800" i="1" dirty="0" smtClean="0">
                <a:solidFill>
                  <a:srgbClr val="C00000"/>
                </a:solidFill>
              </a:rPr>
              <a:t>code</a:t>
            </a:r>
            <a:r>
              <a:rPr lang="en-US" sz="2800" dirty="0" smtClean="0"/>
              <a:t>, and specifies </a:t>
            </a:r>
            <a:r>
              <a:rPr lang="en-US" sz="2800" i="1" dirty="0" smtClean="0">
                <a:solidFill>
                  <a:srgbClr val="C00000"/>
                </a:solidFill>
              </a:rPr>
              <a:t>the name of the function</a:t>
            </a:r>
            <a:r>
              <a:rPr lang="en-US" sz="2800" dirty="0" smtClean="0"/>
              <a:t> that should handle events.</a:t>
            </a:r>
          </a:p>
          <a:p>
            <a:r>
              <a:rPr lang="en-US" sz="2800" dirty="0" smtClean="0"/>
              <a:t>The developer can then associate the Lambda with a </a:t>
            </a:r>
            <a:r>
              <a:rPr lang="en-US" sz="2800" i="1" dirty="0" smtClean="0">
                <a:solidFill>
                  <a:srgbClr val="C00000"/>
                </a:solidFill>
              </a:rPr>
              <a:t>URL</a:t>
            </a:r>
            <a:r>
              <a:rPr lang="en-US" sz="2800" dirty="0" smtClean="0"/>
              <a:t> using the separate AWS gateway service.</a:t>
            </a:r>
          </a:p>
          <a:p>
            <a:r>
              <a:rPr lang="en-US" sz="2800" dirty="0" smtClean="0"/>
              <a:t>Client-side code can then issue RPC calls by issuing </a:t>
            </a:r>
            <a:r>
              <a:rPr lang="en-US" sz="2800" i="1" dirty="0" smtClean="0">
                <a:solidFill>
                  <a:srgbClr val="C00000"/>
                </a:solidFill>
              </a:rPr>
              <a:t>requests to the URL</a:t>
            </a:r>
            <a:r>
              <a:rPr lang="en-US" sz="2800" dirty="0" smtClean="0"/>
              <a:t> (e.g., JavaScript may POST to the URL via AJAX).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Handlers</a:t>
            </a:r>
            <a:endParaRPr lang="en-US" dirty="0"/>
          </a:p>
        </p:txBody>
      </p:sp>
      <p:sp>
        <p:nvSpPr>
          <p:cNvPr id="3" name="Content Placeholder 2"/>
          <p:cNvSpPr>
            <a:spLocks noGrp="1"/>
          </p:cNvSpPr>
          <p:nvPr>
            <p:ph idx="1"/>
          </p:nvPr>
        </p:nvSpPr>
        <p:spPr/>
        <p:txBody>
          <a:bodyPr/>
          <a:lstStyle/>
          <a:p>
            <a:r>
              <a:rPr lang="en-US" sz="2800" dirty="0" smtClean="0"/>
              <a:t>Lambda </a:t>
            </a:r>
            <a:r>
              <a:rPr lang="en-US" sz="2800" i="1" dirty="0" smtClean="0">
                <a:solidFill>
                  <a:srgbClr val="C00000"/>
                </a:solidFill>
              </a:rPr>
              <a:t>handlers</a:t>
            </a:r>
            <a:r>
              <a:rPr lang="en-US" sz="2800" dirty="0" smtClean="0"/>
              <a:t> from different customers share common pools of servers managed by the cloud provider, so developers need not worry about server management.</a:t>
            </a:r>
          </a:p>
          <a:p>
            <a:r>
              <a:rPr lang="en-US" sz="2800" dirty="0" smtClean="0"/>
              <a:t>Handlers can execute on any </a:t>
            </a:r>
            <a:r>
              <a:rPr lang="en-US" sz="2800" i="1" dirty="0" smtClean="0">
                <a:solidFill>
                  <a:srgbClr val="C00000"/>
                </a:solidFill>
              </a:rPr>
              <a:t>worker</a:t>
            </a:r>
            <a:r>
              <a:rPr lang="en-US" sz="2800" dirty="0" smtClean="0"/>
              <a:t>; in AWS, startup time for a new worker is approximately 1-2 seconds.</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Execution Engine</a:t>
            </a:r>
            <a:endParaRPr lang="en-US" dirty="0"/>
          </a:p>
        </p:txBody>
      </p:sp>
      <p:sp>
        <p:nvSpPr>
          <p:cNvPr id="3" name="Content Placeholder 2"/>
          <p:cNvSpPr>
            <a:spLocks noGrp="1"/>
          </p:cNvSpPr>
          <p:nvPr>
            <p:ph idx="1"/>
          </p:nvPr>
        </p:nvSpPr>
        <p:spPr/>
        <p:txBody>
          <a:bodyPr/>
          <a:lstStyle/>
          <a:p>
            <a:r>
              <a:rPr lang="en-US" sz="2800" dirty="0" smtClean="0"/>
              <a:t>A </a:t>
            </a:r>
            <a:r>
              <a:rPr lang="en-US" sz="2800" i="1" dirty="0" smtClean="0">
                <a:solidFill>
                  <a:srgbClr val="C00000"/>
                </a:solidFill>
              </a:rPr>
              <a:t>sandbox</a:t>
            </a:r>
            <a:r>
              <a:rPr lang="en-US" sz="2800" dirty="0" smtClean="0"/>
              <a:t> for executing handlers is at the heart of the Lambda architecture.</a:t>
            </a:r>
          </a:p>
          <a:p>
            <a:r>
              <a:rPr lang="en-US" sz="2800" dirty="0" smtClean="0"/>
              <a:t>AWS Lambda uses </a:t>
            </a:r>
            <a:r>
              <a:rPr lang="en-US" sz="2800" i="1" dirty="0" smtClean="0">
                <a:solidFill>
                  <a:srgbClr val="C00000"/>
                </a:solidFill>
              </a:rPr>
              <a:t>containers</a:t>
            </a:r>
            <a:r>
              <a:rPr lang="en-US" sz="2800" dirty="0" smtClean="0"/>
              <a:t> to sandbox handlers.</a:t>
            </a:r>
          </a:p>
          <a:p>
            <a:r>
              <a:rPr lang="en-US" sz="2800" dirty="0" smtClean="0"/>
              <a:t>To amortize container startup costs, AWS Lambda reuses the same container to execute multiple handlers when possible.</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Interpreted Languages</a:t>
            </a:r>
            <a:endParaRPr lang="en-US" dirty="0"/>
          </a:p>
        </p:txBody>
      </p:sp>
      <p:sp>
        <p:nvSpPr>
          <p:cNvPr id="3" name="Content Placeholder 2"/>
          <p:cNvSpPr>
            <a:spLocks noGrp="1"/>
          </p:cNvSpPr>
          <p:nvPr>
            <p:ph idx="1"/>
          </p:nvPr>
        </p:nvSpPr>
        <p:spPr/>
        <p:txBody>
          <a:bodyPr/>
          <a:lstStyle/>
          <a:p>
            <a:r>
              <a:rPr lang="en-US" sz="2800" dirty="0" smtClean="0"/>
              <a:t>Most Lambdas are written in interpreted languages.</a:t>
            </a:r>
          </a:p>
          <a:p>
            <a:r>
              <a:rPr lang="en-US" sz="2800" dirty="0" smtClean="0"/>
              <a:t>For performance, the runtimes corresponding to these languages typically have just-in-time compilers.</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Package Support</a:t>
            </a:r>
            <a:endParaRPr lang="en-US" dirty="0"/>
          </a:p>
        </p:txBody>
      </p:sp>
      <p:sp>
        <p:nvSpPr>
          <p:cNvPr id="3" name="Content Placeholder 2"/>
          <p:cNvSpPr>
            <a:spLocks noGrp="1"/>
          </p:cNvSpPr>
          <p:nvPr>
            <p:ph idx="1"/>
          </p:nvPr>
        </p:nvSpPr>
        <p:spPr/>
        <p:txBody>
          <a:bodyPr/>
          <a:lstStyle/>
          <a:p>
            <a:r>
              <a:rPr lang="en-US" sz="2800" dirty="0" smtClean="0"/>
              <a:t>The Lambda platform could be package aware and provide special support for certain popular package repositories, such as </a:t>
            </a:r>
            <a:r>
              <a:rPr lang="en-US" sz="2800" b="1" dirty="0" err="1" smtClean="0"/>
              <a:t>npm</a:t>
            </a:r>
            <a:r>
              <a:rPr lang="en-US" sz="2800" dirty="0" smtClean="0"/>
              <a:t> for Node.js or </a:t>
            </a:r>
            <a:r>
              <a:rPr lang="en-US" sz="2800" b="1" dirty="0" smtClean="0"/>
              <a:t>pip</a:t>
            </a:r>
            <a:r>
              <a:rPr lang="en-US" sz="2800" dirty="0" smtClean="0"/>
              <a:t> for Python.</a:t>
            </a:r>
          </a:p>
          <a:p>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Cookies and Sessions</a:t>
            </a:r>
            <a:endParaRPr lang="en-US" dirty="0"/>
          </a:p>
        </p:txBody>
      </p:sp>
      <p:sp>
        <p:nvSpPr>
          <p:cNvPr id="3" name="Content Placeholder 2"/>
          <p:cNvSpPr>
            <a:spLocks noGrp="1"/>
          </p:cNvSpPr>
          <p:nvPr>
            <p:ph idx="1"/>
          </p:nvPr>
        </p:nvSpPr>
        <p:spPr/>
        <p:txBody>
          <a:bodyPr/>
          <a:lstStyle/>
          <a:p>
            <a:r>
              <a:rPr lang="en-US" sz="2800" dirty="0" smtClean="0"/>
              <a:t>Lambdas are inherently short-lived and stateless, but users typically expect to have many different but related interactions with a web application.</a:t>
            </a:r>
          </a:p>
          <a:p>
            <a:r>
              <a:rPr lang="en-US" sz="2800" dirty="0" smtClean="0"/>
              <a:t>Thus, a Lambda platform should provide a shared view of cookie state across calls originating from a common user.</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Databases</a:t>
            </a:r>
            <a:endParaRPr lang="en-US" dirty="0"/>
          </a:p>
        </p:txBody>
      </p:sp>
      <p:sp>
        <p:nvSpPr>
          <p:cNvPr id="3" name="Content Placeholder 2"/>
          <p:cNvSpPr>
            <a:spLocks noGrp="1"/>
          </p:cNvSpPr>
          <p:nvPr>
            <p:ph idx="1"/>
          </p:nvPr>
        </p:nvSpPr>
        <p:spPr/>
        <p:txBody>
          <a:bodyPr/>
          <a:lstStyle/>
          <a:p>
            <a:r>
              <a:rPr lang="en-US" sz="2800" dirty="0" smtClean="0"/>
              <a:t>Most databases support user-defined functions (UDFs) for providing a custom view of the data.</a:t>
            </a:r>
          </a:p>
          <a:p>
            <a:r>
              <a:rPr lang="en-US" sz="2800" dirty="0" smtClean="0"/>
              <a:t>Lambdas that transform data from a cloud database could be viewed as UDFs that are used by client-side code.</a:t>
            </a:r>
          </a:p>
          <a:p>
            <a:r>
              <a:rPr lang="en-US" sz="2800" dirty="0" smtClean="0"/>
              <a:t>Current integration with S3 and </a:t>
            </a:r>
            <a:r>
              <a:rPr lang="en-US" sz="2800" dirty="0" err="1" smtClean="0"/>
              <a:t>DynamoDB</a:t>
            </a:r>
            <a:r>
              <a:rPr lang="en-US" sz="2800" dirty="0" smtClean="0"/>
              <a:t> also allow Lambdas to act as trigger handlers upon inserts.</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Aggregators</a:t>
            </a:r>
            <a:endParaRPr lang="en-US" dirty="0"/>
          </a:p>
        </p:txBody>
      </p:sp>
      <p:sp>
        <p:nvSpPr>
          <p:cNvPr id="3" name="Content Placeholder 2"/>
          <p:cNvSpPr>
            <a:spLocks noGrp="1"/>
          </p:cNvSpPr>
          <p:nvPr>
            <p:ph idx="1"/>
          </p:nvPr>
        </p:nvSpPr>
        <p:spPr/>
        <p:txBody>
          <a:bodyPr/>
          <a:lstStyle/>
          <a:p>
            <a:r>
              <a:rPr lang="en-US" sz="2200" dirty="0" smtClean="0"/>
              <a:t>Many applications (search, news feeds, and analytics) involve search queries over large datasets.</a:t>
            </a:r>
          </a:p>
          <a:p>
            <a:r>
              <a:rPr lang="en-US" sz="2200" dirty="0" smtClean="0"/>
              <a:t>Parallelism over different data shards is key to efficiently supporting these applications.</a:t>
            </a:r>
          </a:p>
          <a:p>
            <a:r>
              <a:rPr lang="en-US" sz="2200" dirty="0" smtClean="0"/>
              <a:t>Building these search applications will likely require special Lambda support.</a:t>
            </a:r>
          </a:p>
          <a:p>
            <a:r>
              <a:rPr lang="en-US" sz="2200" dirty="0" smtClean="0"/>
              <a:t>In particular, in order to support the scatter/gather pattern, multiple Lambdas will need to coordinate in a tree structure.</a:t>
            </a:r>
          </a:p>
          <a:p>
            <a:r>
              <a:rPr lang="en-US" sz="2200" dirty="0" smtClean="0"/>
              <a:t>Each leaf Lambda will filter and process data locally, and a front-end Lambda will combine the results.</a:t>
            </a:r>
          </a:p>
          <a:p>
            <a:r>
              <a:rPr lang="en-US" sz="2200" dirty="0" smtClean="0"/>
              <a:t>When Lambda leaves are filtering and transforming large shards, it will be important to co-locate the Lambdas with the data.</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Schedulers (I)</a:t>
            </a:r>
            <a:endParaRPr lang="en-US" dirty="0"/>
          </a:p>
        </p:txBody>
      </p:sp>
      <p:sp>
        <p:nvSpPr>
          <p:cNvPr id="3" name="Content Placeholder 2"/>
          <p:cNvSpPr>
            <a:spLocks noGrp="1"/>
          </p:cNvSpPr>
          <p:nvPr>
            <p:ph idx="1"/>
          </p:nvPr>
        </p:nvSpPr>
        <p:spPr/>
        <p:txBody>
          <a:bodyPr/>
          <a:lstStyle/>
          <a:p>
            <a:r>
              <a:rPr lang="en-US" sz="2800" dirty="0" smtClean="0"/>
              <a:t>Lambda schedulers need to schedule work that is an order of magnitude </a:t>
            </a:r>
            <a:r>
              <a:rPr lang="en-US" sz="2800" i="1" dirty="0" smtClean="0">
                <a:solidFill>
                  <a:srgbClr val="C00000"/>
                </a:solidFill>
              </a:rPr>
              <a:t>shorter</a:t>
            </a:r>
            <a:r>
              <a:rPr lang="en-US" sz="2800" dirty="0" smtClean="0"/>
              <a:t>, while taking several types of locality into account.</a:t>
            </a:r>
          </a:p>
          <a:p>
            <a:r>
              <a:rPr lang="en-US" sz="2800" dirty="0" smtClean="0"/>
              <a:t>First, schedulers must consider </a:t>
            </a:r>
            <a:r>
              <a:rPr lang="en-US" sz="2800" i="1" dirty="0" smtClean="0">
                <a:solidFill>
                  <a:srgbClr val="C00000"/>
                </a:solidFill>
              </a:rPr>
              <a:t>session locality</a:t>
            </a:r>
            <a:r>
              <a:rPr lang="en-US" sz="2800" i="1" dirty="0" smtClean="0"/>
              <a:t>: </a:t>
            </a:r>
            <a:r>
              <a:rPr lang="en-US" sz="2800" dirty="0" smtClean="0"/>
              <a:t>if a Lambda invocation is part of a long-running session with open TCP connections, it will be beneficial to run the handler on the machine where the TCP connections are maintained so that traffic will not need to be diverted through a proxy</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Schedulers (II)</a:t>
            </a:r>
            <a:endParaRPr lang="en-US" dirty="0"/>
          </a:p>
        </p:txBody>
      </p:sp>
      <p:sp>
        <p:nvSpPr>
          <p:cNvPr id="3" name="Content Placeholder 2"/>
          <p:cNvSpPr>
            <a:spLocks noGrp="1"/>
          </p:cNvSpPr>
          <p:nvPr>
            <p:ph idx="1"/>
          </p:nvPr>
        </p:nvSpPr>
        <p:spPr/>
        <p:txBody>
          <a:bodyPr/>
          <a:lstStyle/>
          <a:p>
            <a:r>
              <a:rPr lang="en-US" sz="2800" dirty="0" smtClean="0"/>
              <a:t>Second, </a:t>
            </a:r>
            <a:r>
              <a:rPr lang="en-US" sz="2800" i="1" dirty="0" smtClean="0">
                <a:solidFill>
                  <a:srgbClr val="C00000"/>
                </a:solidFill>
              </a:rPr>
              <a:t>code locality</a:t>
            </a:r>
            <a:r>
              <a:rPr lang="en-US" sz="2800" dirty="0" smtClean="0"/>
              <a:t> becomes more difficult.</a:t>
            </a:r>
          </a:p>
          <a:p>
            <a:r>
              <a:rPr lang="en-US" sz="2800" dirty="0" smtClean="0"/>
              <a:t>A scheduler that is aware that two different handlers rely heavily on the same packages can make better placement decisions.</a:t>
            </a:r>
          </a:p>
          <a:p>
            <a:r>
              <a:rPr lang="en-US" sz="2800" dirty="0" smtClean="0"/>
              <a:t>Third, </a:t>
            </a:r>
            <a:r>
              <a:rPr lang="en-US" sz="2800" i="1" dirty="0" smtClean="0">
                <a:solidFill>
                  <a:srgbClr val="C00000"/>
                </a:solidFill>
              </a:rPr>
              <a:t>data locality</a:t>
            </a:r>
            <a:r>
              <a:rPr lang="en-US" sz="2800" dirty="0" smtClean="0"/>
              <a:t> will be important for running Lambdas alongside either databases or large datasets and indexes.</a:t>
            </a:r>
          </a:p>
          <a:p>
            <a:r>
              <a:rPr lang="en-US" sz="2800" dirty="0" smtClean="0"/>
              <a:t>The scheduler will need to anticipate what queries a particular Lambda invocation will issue, or what data it will read.</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Serverless Computing [3]</a:t>
            </a:r>
            <a:endParaRPr lang="en-US" dirty="0"/>
          </a:p>
        </p:txBody>
      </p:sp>
      <p:sp>
        <p:nvSpPr>
          <p:cNvPr id="3" name="Content Placeholder 2"/>
          <p:cNvSpPr>
            <a:spLocks noGrp="1"/>
          </p:cNvSpPr>
          <p:nvPr>
            <p:ph idx="1"/>
          </p:nvPr>
        </p:nvSpPr>
        <p:spPr/>
        <p:txBody>
          <a:bodyPr/>
          <a:lstStyle/>
          <a:p>
            <a:r>
              <a:rPr lang="en-US" sz="2400" i="1" dirty="0" err="1" smtClean="0">
                <a:solidFill>
                  <a:srgbClr val="C00000"/>
                </a:solidFill>
              </a:rPr>
              <a:t>Serverless</a:t>
            </a:r>
            <a:r>
              <a:rPr lang="en-US" sz="2400" i="1" dirty="0" smtClean="0">
                <a:solidFill>
                  <a:srgbClr val="C00000"/>
                </a:solidFill>
              </a:rPr>
              <a:t> computing</a:t>
            </a:r>
            <a:r>
              <a:rPr lang="en-US" sz="2400" dirty="0" smtClean="0"/>
              <a:t> is a cloud offering where application logic is split into </a:t>
            </a:r>
            <a:r>
              <a:rPr lang="en-US" sz="2400" u="sng" dirty="0" smtClean="0"/>
              <a:t>functions</a:t>
            </a:r>
            <a:r>
              <a:rPr lang="en-US" sz="2400" dirty="0" smtClean="0"/>
              <a:t> and executed in response to </a:t>
            </a:r>
            <a:r>
              <a:rPr lang="en-US" sz="2400" u="sng" dirty="0" smtClean="0"/>
              <a:t>events</a:t>
            </a:r>
            <a:r>
              <a:rPr lang="en-US" sz="2400" dirty="0" smtClean="0"/>
              <a:t>.</a:t>
            </a:r>
          </a:p>
          <a:p>
            <a:r>
              <a:rPr lang="en-US" sz="2400" dirty="0" smtClean="0"/>
              <a:t>These events can be triggered from sources external to the cloud platform but also commonly occur internally between the cloud platform’s service offerings.</a:t>
            </a:r>
          </a:p>
          <a:p>
            <a:r>
              <a:rPr lang="en-US" sz="2400" dirty="0" err="1" smtClean="0"/>
              <a:t>Serverless</a:t>
            </a:r>
            <a:r>
              <a:rPr lang="en-US" sz="2400" dirty="0" smtClean="0"/>
              <a:t> computing is a partial realization of an </a:t>
            </a:r>
            <a:r>
              <a:rPr lang="en-US" sz="2400" i="1" dirty="0" smtClean="0">
                <a:solidFill>
                  <a:srgbClr val="C00000"/>
                </a:solidFill>
              </a:rPr>
              <a:t>event-driven ideal</a:t>
            </a:r>
            <a:r>
              <a:rPr lang="en-US" sz="2400" dirty="0" smtClean="0"/>
              <a:t>, in which </a:t>
            </a:r>
            <a:r>
              <a:rPr lang="en-US" sz="2400" i="1" dirty="0" smtClean="0">
                <a:solidFill>
                  <a:srgbClr val="C00000"/>
                </a:solidFill>
              </a:rPr>
              <a:t>applications</a:t>
            </a:r>
            <a:r>
              <a:rPr lang="en-US" sz="2400" dirty="0" smtClean="0"/>
              <a:t> are defined by </a:t>
            </a:r>
            <a:r>
              <a:rPr lang="en-US" sz="2400" u="sng" dirty="0" smtClean="0"/>
              <a:t>actions</a:t>
            </a:r>
            <a:r>
              <a:rPr lang="en-US" sz="2400" dirty="0" smtClean="0"/>
              <a:t> and the </a:t>
            </a:r>
            <a:r>
              <a:rPr lang="en-US" sz="2400" u="sng" dirty="0" smtClean="0"/>
              <a:t>events</a:t>
            </a:r>
            <a:r>
              <a:rPr lang="en-US" sz="2400" dirty="0" smtClean="0"/>
              <a:t> that trigger them.</a:t>
            </a:r>
          </a:p>
          <a:p>
            <a:r>
              <a:rPr lang="en-US" sz="2400" dirty="0" smtClean="0"/>
              <a:t>Beyond the event-driven foundation, design discussions shift toward </a:t>
            </a:r>
            <a:r>
              <a:rPr lang="en-US" sz="2400" i="1" dirty="0" smtClean="0">
                <a:solidFill>
                  <a:srgbClr val="C00000"/>
                </a:solidFill>
              </a:rPr>
              <a:t>container management</a:t>
            </a:r>
            <a:r>
              <a:rPr lang="en-US" sz="2400" dirty="0" smtClean="0"/>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t>
            </a:r>
            <a:r>
              <a:rPr lang="en-US" dirty="0" err="1" smtClean="0"/>
              <a:t>Serverless</a:t>
            </a:r>
            <a:r>
              <a:rPr lang="en-US" dirty="0" smtClean="0"/>
              <a:t> Computing?</a:t>
            </a:r>
            <a:endParaRPr lang="en-US" dirty="0"/>
          </a:p>
        </p:txBody>
      </p:sp>
      <p:sp>
        <p:nvSpPr>
          <p:cNvPr id="3" name="Content Placeholder 2"/>
          <p:cNvSpPr>
            <a:spLocks noGrp="1"/>
          </p:cNvSpPr>
          <p:nvPr>
            <p:ph idx="1"/>
          </p:nvPr>
        </p:nvSpPr>
        <p:spPr/>
        <p:txBody>
          <a:bodyPr/>
          <a:lstStyle/>
          <a:p>
            <a:r>
              <a:rPr lang="en-US" sz="2400" dirty="0" smtClean="0"/>
              <a:t>Cost saving opportunities in deploying </a:t>
            </a:r>
            <a:r>
              <a:rPr lang="en-US" sz="2400" dirty="0" err="1" smtClean="0"/>
              <a:t>microservices</a:t>
            </a:r>
            <a:r>
              <a:rPr lang="en-US" sz="2400" dirty="0" smtClean="0"/>
              <a:t> to </a:t>
            </a:r>
            <a:r>
              <a:rPr lang="en-US" sz="2400" dirty="0" err="1" smtClean="0"/>
              <a:t>serverless</a:t>
            </a:r>
            <a:r>
              <a:rPr lang="en-US" sz="2400" dirty="0" smtClean="0"/>
              <a:t> platforms rather than building out traditional applications?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Platform Design</a:t>
            </a:r>
            <a:endParaRPr lang="en-US" dirty="0"/>
          </a:p>
        </p:txBody>
      </p:sp>
      <p:sp>
        <p:nvSpPr>
          <p:cNvPr id="3" name="Content Placeholder 2"/>
          <p:cNvSpPr>
            <a:spLocks noGrp="1"/>
          </p:cNvSpPr>
          <p:nvPr>
            <p:ph idx="1"/>
          </p:nvPr>
        </p:nvSpPr>
        <p:spPr/>
        <p:txBody>
          <a:bodyPr/>
          <a:lstStyle/>
          <a:p>
            <a:r>
              <a:rPr lang="en-US" dirty="0" smtClean="0"/>
              <a:t>Function Metadata</a:t>
            </a:r>
          </a:p>
          <a:p>
            <a:r>
              <a:rPr lang="en-US" dirty="0" smtClean="0"/>
              <a:t>Function Execution</a:t>
            </a:r>
          </a:p>
          <a:p>
            <a:r>
              <a:rPr lang="en-US" dirty="0" smtClean="0"/>
              <a:t>Container Allocation</a:t>
            </a:r>
          </a:p>
          <a:p>
            <a:r>
              <a:rPr lang="en-US" dirty="0" smtClean="0"/>
              <a:t>Container Removal</a:t>
            </a:r>
          </a:p>
          <a:p>
            <a:r>
              <a:rPr lang="en-US" dirty="0" smtClean="0"/>
              <a:t>Container Image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Components</a:t>
            </a:r>
            <a:endParaRPr lang="en-US" dirty="0"/>
          </a:p>
        </p:txBody>
      </p:sp>
      <p:sp>
        <p:nvSpPr>
          <p:cNvPr id="3" name="Content Placeholder 2"/>
          <p:cNvSpPr>
            <a:spLocks noGrp="1"/>
          </p:cNvSpPr>
          <p:nvPr>
            <p:ph idx="1"/>
          </p:nvPr>
        </p:nvSpPr>
        <p:spPr/>
        <p:txBody>
          <a:bodyPr/>
          <a:lstStyle/>
          <a:p>
            <a:r>
              <a:rPr lang="en-US" sz="2200" dirty="0" smtClean="0"/>
              <a:t>Overview of prototype components, showing the organization of the web and worker services, as well as code, metadata, and messaging entities in Azure Storage.</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1219200" y="2917825"/>
            <a:ext cx="7013575" cy="340677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Platforms</a:t>
            </a:r>
            <a:endParaRPr lang="en-US" dirty="0"/>
          </a:p>
        </p:txBody>
      </p:sp>
      <p:sp>
        <p:nvSpPr>
          <p:cNvPr id="3" name="Content Placeholder 2"/>
          <p:cNvSpPr>
            <a:spLocks noGrp="1"/>
          </p:cNvSpPr>
          <p:nvPr>
            <p:ph idx="1"/>
          </p:nvPr>
        </p:nvSpPr>
        <p:spPr/>
        <p:txBody>
          <a:bodyPr/>
          <a:lstStyle/>
          <a:p>
            <a:r>
              <a:rPr lang="en-US" dirty="0" smtClean="0"/>
              <a:t>AWS Lambda</a:t>
            </a:r>
          </a:p>
          <a:p>
            <a:r>
              <a:rPr lang="en-US" dirty="0" smtClean="0"/>
              <a:t>Azure Functions</a:t>
            </a:r>
          </a:p>
          <a:p>
            <a:r>
              <a:rPr lang="en-US" dirty="0" smtClean="0"/>
              <a:t>Google Cloud Run functions</a:t>
            </a:r>
          </a:p>
          <a:p>
            <a:r>
              <a:rPr lang="en-US" dirty="0" smtClean="0"/>
              <a:t>Apache </a:t>
            </a:r>
            <a:r>
              <a:rPr lang="en-US" dirty="0" err="1" smtClean="0"/>
              <a:t>OpenWhisk</a:t>
            </a:r>
            <a:endParaRPr lang="en-US"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Firecracker</a:t>
            </a:r>
            <a:endParaRPr lang="en-US" dirty="0"/>
          </a:p>
        </p:txBody>
      </p:sp>
      <p:sp>
        <p:nvSpPr>
          <p:cNvPr id="3" name="Content Placeholder 2"/>
          <p:cNvSpPr>
            <a:spLocks noGrp="1"/>
          </p:cNvSpPr>
          <p:nvPr>
            <p:ph idx="1"/>
          </p:nvPr>
        </p:nvSpPr>
        <p:spPr/>
        <p:txBody>
          <a:bodyPr/>
          <a:lstStyle/>
          <a:p>
            <a:r>
              <a:rPr lang="en-US" sz="2400" dirty="0" smtClean="0">
                <a:hlinkClick r:id="rId2"/>
              </a:rPr>
              <a:t>https://</a:t>
            </a:r>
            <a:r>
              <a:rPr lang="en-US" sz="2400" dirty="0" smtClean="0">
                <a:hlinkClick r:id="rId2"/>
              </a:rPr>
              <a:t>github.com/firecracker-microvm/firecracker</a:t>
            </a:r>
            <a:endParaRPr lang="en-US" sz="2400" dirty="0" smtClean="0"/>
          </a:p>
          <a:p>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19132</TotalTime>
  <Words>1098</Words>
  <Application>Microsoft Office PowerPoint</Application>
  <PresentationFormat>On-screen Show (4:3)</PresentationFormat>
  <Paragraphs>93</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Serverless Computing</vt:lpstr>
      <vt:lpstr>Objectives</vt:lpstr>
      <vt:lpstr>Contents</vt:lpstr>
      <vt:lpstr>References</vt:lpstr>
      <vt:lpstr>Evolution of Sharing [1]</vt:lpstr>
      <vt:lpstr>OpenLambda Architecture (I)</vt:lpstr>
      <vt:lpstr>OpenLambda Architecture (II)</vt:lpstr>
      <vt:lpstr>OpenLambda Architecture (III)</vt:lpstr>
      <vt:lpstr>Container Usage</vt:lpstr>
      <vt:lpstr>Slide 10</vt:lpstr>
      <vt:lpstr>Programming Model [2]</vt:lpstr>
      <vt:lpstr>Lambda Handlers</vt:lpstr>
      <vt:lpstr>Execution Engine</vt:lpstr>
      <vt:lpstr>Interpreted Languages</vt:lpstr>
      <vt:lpstr>Package Support</vt:lpstr>
      <vt:lpstr>Cookies and Sessions</vt:lpstr>
      <vt:lpstr>Databases</vt:lpstr>
      <vt:lpstr>Data Aggregators</vt:lpstr>
      <vt:lpstr>Lambda Schedulers (I)</vt:lpstr>
      <vt:lpstr>Lambda Schedulers (II)</vt:lpstr>
      <vt:lpstr>Slide 21</vt:lpstr>
      <vt:lpstr>Serverless Computing [3]</vt:lpstr>
      <vt:lpstr>Why Serverless Computing?</vt:lpstr>
      <vt:lpstr>Prototype Platform Design</vt:lpstr>
      <vt:lpstr>Prototype Components</vt:lpstr>
      <vt:lpstr>Other Platforms</vt:lpstr>
      <vt:lpstr>Slide 27</vt:lpstr>
      <vt:lpstr>Firecracker</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5400</cp:revision>
  <dcterms:created xsi:type="dcterms:W3CDTF">2007-10-06T08:25:13Z</dcterms:created>
  <dcterms:modified xsi:type="dcterms:W3CDTF">2025-12-22T18:40:48Z</dcterms:modified>
</cp:coreProperties>
</file>