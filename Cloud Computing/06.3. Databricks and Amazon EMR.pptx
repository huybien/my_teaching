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0"/>
  </p:notesMasterIdLst>
  <p:sldIdLst>
    <p:sldId id="584" r:id="rId2"/>
    <p:sldId id="585" r:id="rId3"/>
    <p:sldId id="586" r:id="rId4"/>
    <p:sldId id="587" r:id="rId5"/>
    <p:sldId id="588" r:id="rId6"/>
    <p:sldId id="628" r:id="rId7"/>
    <p:sldId id="629" r:id="rId8"/>
    <p:sldId id="642" r:id="rId9"/>
    <p:sldId id="643" r:id="rId10"/>
    <p:sldId id="627" r:id="rId11"/>
    <p:sldId id="635" r:id="rId12"/>
    <p:sldId id="636" r:id="rId13"/>
    <p:sldId id="637" r:id="rId14"/>
    <p:sldId id="638" r:id="rId15"/>
    <p:sldId id="639" r:id="rId16"/>
    <p:sldId id="640" r:id="rId17"/>
    <p:sldId id="641" r:id="rId18"/>
    <p:sldId id="440" r:id="rId1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58" autoAdjust="0"/>
    <p:restoredTop sz="94765" autoAdjust="0"/>
  </p:normalViewPr>
  <p:slideViewPr>
    <p:cSldViewPr>
      <p:cViewPr>
        <p:scale>
          <a:sx n="50" d="100"/>
          <a:sy n="50" d="100"/>
        </p:scale>
        <p:origin x="-1648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62591D-F63A-4C87-988A-2A4399BE3C42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B2649A-D532-4C46-8375-2DC4F09C0D4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3B12F3-13D8-4BC6-B271-EF890D2E3EA0}" type="datetimeFigureOut">
              <a:rPr lang="en-US"/>
              <a:pPr>
                <a:defRPr/>
              </a:pPr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D65A0-8A45-49A8-B2B4-890662407F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554BB-BED8-407D-871B-BC3BF099B766}" type="datetimeFigureOut">
              <a:rPr lang="en-US"/>
              <a:pPr>
                <a:defRPr/>
              </a:pPr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A513C-A265-4672-ADF9-9C420A0C09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83AE9F-B8F4-4A27-A258-84000ADADD35}" type="datetimeFigureOut">
              <a:rPr lang="en-US"/>
              <a:pPr>
                <a:defRPr/>
              </a:pPr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C0325C-EBE7-4A11-97E9-DF8C42B04A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F403C-A7D9-4211-8DC1-5865845C9F38}" type="datetimeFigureOut">
              <a:rPr lang="en-US"/>
              <a:pPr>
                <a:defRPr/>
              </a:pPr>
              <a:t>11/29/2025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91B809-96F5-477B-8E72-8AB6B5E4AE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9C128-87F1-4A1D-AC95-1D0A8C2820AC}" type="datetimeFigureOut">
              <a:rPr lang="en-US"/>
              <a:pPr>
                <a:defRPr/>
              </a:pPr>
              <a:t>11/29/2025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251F8E-6BBA-4EBA-BCCA-61145C18CC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D7EAC8-1610-4C8B-8A2E-7959779A26B0}" type="datetimeFigureOut">
              <a:rPr lang="en-US"/>
              <a:pPr>
                <a:defRPr/>
              </a:pPr>
              <a:t>11/29/2025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F43CFA-8BED-4A88-AB21-8477601BA3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13CF8C-ED99-4E62-9F8F-039B47F842EB}" type="datetimeFigureOut">
              <a:rPr lang="en-US"/>
              <a:pPr>
                <a:defRPr/>
              </a:pPr>
              <a:t>11/29/2025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FA9176-712D-4387-A1B9-79FDD21B41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10295A-2761-40EA-9DA2-E88C0504267F}" type="datetimeFigureOut">
              <a:rPr lang="en-US"/>
              <a:pPr>
                <a:defRPr/>
              </a:pPr>
              <a:t>11/29/2025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EFA140-F156-4425-B953-A67D35160E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036556-1340-40FC-A073-D70D8832A760}" type="datetimeFigureOut">
              <a:rPr lang="en-US"/>
              <a:pPr>
                <a:defRPr/>
              </a:pPr>
              <a:t>11/29/2025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919B8-AF1D-4524-AED9-AA87E5FE06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75E21-F618-4DDC-86A2-77C690CACCAF}" type="datetimeFigureOut">
              <a:rPr lang="en-US"/>
              <a:pPr>
                <a:defRPr/>
              </a:pPr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DB1DC0-76E8-4C19-B643-CDC8176FDD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CE7E0-80C2-49E8-81AC-9B27623F73A4}" type="datetimeFigureOut">
              <a:rPr lang="en-US"/>
              <a:pPr>
                <a:defRPr/>
              </a:pPr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9D05C-0F0F-4E8B-B47F-3C2F1A4BC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92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F5EA699-B790-4630-B1C5-9840307833F6}" type="datetimeFigureOut">
              <a:rPr lang="en-US"/>
              <a:pPr>
                <a:defRPr/>
              </a:pPr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09E2BD1-610D-47CE-BC14-E90E7753FA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databricks.com/en/introduction/index.htm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databricks.com/spark/comparing-databricks-to-apache-spark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accounts.cloud.databricks.com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aws.amazon.com/emr/latest/ManagementGuide/emr-what-is-emr.html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aws.amazon.com/emr/pricing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aws.amazon.com/emr/latest/ManagementGuide/emr-gs.html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dirty="0" smtClean="0"/>
              <a:t>Databricks</a:t>
            </a:r>
            <a:endParaRPr lang="en-US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5562600" cy="4114799"/>
          </a:xfrm>
        </p:spPr>
        <p:txBody>
          <a:bodyPr/>
          <a:lstStyle/>
          <a:p>
            <a:pPr marL="571500" indent="-514350"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00750" y="2438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867400" cy="41910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sz="24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6745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Databricks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hlinkClick r:id="rId2"/>
              </a:rPr>
              <a:t>https://docs.databricks.com/en/introduction/index.html</a:t>
            </a:r>
            <a:endParaRPr lang="en-US" sz="2200" dirty="0" smtClean="0"/>
          </a:p>
          <a:p>
            <a:r>
              <a:rPr lang="en-US" sz="2200" i="1" dirty="0" smtClean="0">
                <a:solidFill>
                  <a:srgbClr val="C00000"/>
                </a:solidFill>
              </a:rPr>
              <a:t>Databricks</a:t>
            </a:r>
            <a:r>
              <a:rPr lang="en-US" sz="2200" dirty="0" smtClean="0"/>
              <a:t> is a unified, open analytics platform for building, deploying, sharing, and maintaining enterprise-grade data, </a:t>
            </a:r>
            <a:r>
              <a:rPr lang="en-US" sz="2200" u="sng" dirty="0" smtClean="0"/>
              <a:t>analytics</a:t>
            </a:r>
            <a:r>
              <a:rPr lang="en-US" sz="2200" dirty="0" smtClean="0"/>
              <a:t>, and </a:t>
            </a:r>
            <a:r>
              <a:rPr lang="en-US" sz="2200" u="sng" dirty="0" smtClean="0"/>
              <a:t>AI solutions at scale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The Databricks Data Intelligence Platform integrates with cloud storage and security in your cloud account, and manages and deploys cloud infrastructure on your behalf.</a:t>
            </a:r>
          </a:p>
          <a:p>
            <a:r>
              <a:rPr lang="en-US" sz="2200" dirty="0" smtClean="0"/>
              <a:t>The following technologies are open source projects </a:t>
            </a:r>
            <a:r>
              <a:rPr lang="en-US" sz="2200" i="1" dirty="0" smtClean="0">
                <a:solidFill>
                  <a:srgbClr val="C00000"/>
                </a:solidFill>
              </a:rPr>
              <a:t>founded by Databricks employees</a:t>
            </a:r>
            <a:r>
              <a:rPr lang="en-US" sz="2200" dirty="0" smtClean="0"/>
              <a:t>:</a:t>
            </a:r>
          </a:p>
          <a:p>
            <a:pPr lvl="1"/>
            <a:r>
              <a:rPr lang="en-US" sz="1800" dirty="0" smtClean="0"/>
              <a:t>Delta Lake and Delta Sharing</a:t>
            </a:r>
          </a:p>
          <a:p>
            <a:pPr lvl="1"/>
            <a:r>
              <a:rPr lang="en-US" sz="1800" dirty="0" err="1" smtClean="0"/>
              <a:t>Mlflow</a:t>
            </a:r>
            <a:endParaRPr lang="en-US" sz="1800" dirty="0" smtClean="0"/>
          </a:p>
          <a:p>
            <a:pPr lvl="1"/>
            <a:r>
              <a:rPr lang="en-US" sz="1800" dirty="0" smtClean="0"/>
              <a:t>Apache Spark and Structured Streaming</a:t>
            </a:r>
          </a:p>
          <a:p>
            <a:pPr lvl="1"/>
            <a:r>
              <a:rPr lang="en-US" sz="1800" dirty="0" err="1" smtClean="0"/>
              <a:t>Redash</a:t>
            </a:r>
            <a:endParaRPr lang="en-US" sz="1800" dirty="0" smtClean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Databricks vs. Apache Spark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hlinkClick r:id="rId2"/>
              </a:rPr>
              <a:t>https://www.databricks.com/spark/comparing-databricks-to-apache-spark</a:t>
            </a:r>
            <a:endParaRPr lang="en-US" sz="2000" dirty="0" smtClean="0"/>
          </a:p>
          <a:p>
            <a:pPr marL="342900" lvl="1" indent="-342900">
              <a:buFont typeface="Arial" charset="0"/>
              <a:buChar char="•"/>
            </a:pPr>
            <a:r>
              <a:rPr lang="en-US" sz="2200" i="1" dirty="0" smtClean="0">
                <a:solidFill>
                  <a:srgbClr val="C00000"/>
                </a:solidFill>
              </a:rPr>
              <a:t>Databricks</a:t>
            </a:r>
            <a:r>
              <a:rPr lang="en-US" sz="2200" dirty="0" smtClean="0"/>
              <a:t> builds </a:t>
            </a:r>
            <a:r>
              <a:rPr lang="en-US" sz="2200" u="sng" dirty="0" smtClean="0"/>
              <a:t>on top of Spark</a:t>
            </a:r>
            <a:r>
              <a:rPr lang="en-US" sz="2200" dirty="0" smtClean="0"/>
              <a:t> and optimizes for </a:t>
            </a:r>
            <a:r>
              <a:rPr lang="en-US" sz="2200" u="sng" dirty="0" smtClean="0"/>
              <a:t>performance</a:t>
            </a:r>
            <a:r>
              <a:rPr lang="en-US" sz="2200" dirty="0" smtClean="0"/>
              <a:t>.</a:t>
            </a:r>
          </a:p>
        </p:txBody>
      </p:sp>
      <p:pic>
        <p:nvPicPr>
          <p:cNvPr id="1026" name="Picture 2" descr="Marketecture-Spark-comp-pag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0" y="2971800"/>
            <a:ext cx="4591050" cy="29622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</a:t>
            </a:r>
            <a:r>
              <a:rPr lang="en-US" smtClean="0"/>
              <a:t>Register Account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</a:t>
            </a:r>
            <a:r>
              <a:rPr lang="en-US" sz="2400" dirty="0" smtClean="0">
                <a:hlinkClick r:id="rId2"/>
              </a:rPr>
              <a:t>accounts.cloud.databricks.com</a:t>
            </a:r>
            <a:endParaRPr lang="en-US" sz="2400" dirty="0" smtClean="0"/>
          </a:p>
          <a:p>
            <a:endParaRPr lang="en-US" sz="2400" dirty="0" smtClean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Upload a Data File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2600" y="1958975"/>
            <a:ext cx="8178800" cy="375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Run Spark App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2209800"/>
            <a:ext cx="7451472" cy="34915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Amazon EMR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hlinkClick r:id="rId2"/>
              </a:rPr>
              <a:t>https://docs.aws.amazon.com/emr/latest/ManagementGuide/emr-what-is-emr.html</a:t>
            </a:r>
            <a:endParaRPr lang="en-US" sz="2200" dirty="0" smtClean="0"/>
          </a:p>
          <a:p>
            <a:r>
              <a:rPr lang="en-US" sz="2200" i="1" dirty="0" smtClean="0">
                <a:solidFill>
                  <a:srgbClr val="C00000"/>
                </a:solidFill>
              </a:rPr>
              <a:t>Amazon EMR</a:t>
            </a:r>
            <a:r>
              <a:rPr lang="en-US" sz="2200" dirty="0" smtClean="0"/>
              <a:t> (previously called Amazon Elastic </a:t>
            </a:r>
            <a:r>
              <a:rPr lang="en-US" sz="2200" dirty="0" err="1" smtClean="0"/>
              <a:t>MapReduce</a:t>
            </a:r>
            <a:r>
              <a:rPr lang="en-US" sz="2200" dirty="0" smtClean="0"/>
              <a:t>) is a managed cluster platform that </a:t>
            </a:r>
            <a:r>
              <a:rPr lang="en-US" sz="2200" u="sng" dirty="0" smtClean="0"/>
              <a:t>simplifies running big data frameworks</a:t>
            </a:r>
            <a:r>
              <a:rPr lang="en-US" sz="2200" dirty="0" smtClean="0"/>
              <a:t>, such as Apache </a:t>
            </a:r>
            <a:r>
              <a:rPr lang="en-US" sz="2200" dirty="0" err="1" smtClean="0"/>
              <a:t>Hadoop</a:t>
            </a:r>
            <a:r>
              <a:rPr lang="en-US" sz="2200" dirty="0" smtClean="0"/>
              <a:t> and Apache Spark, on AWS to process and analyze vast amounts of data.</a:t>
            </a:r>
          </a:p>
          <a:p>
            <a:r>
              <a:rPr lang="en-US" sz="2200" dirty="0" smtClean="0"/>
              <a:t>Using these frameworks and related open-source projects, you can </a:t>
            </a:r>
            <a:r>
              <a:rPr lang="en-US" sz="2200" i="1" dirty="0" smtClean="0">
                <a:solidFill>
                  <a:srgbClr val="C00000"/>
                </a:solidFill>
              </a:rPr>
              <a:t>process data for analytics purposes</a:t>
            </a:r>
            <a:r>
              <a:rPr lang="en-US" sz="2200" dirty="0" smtClean="0"/>
              <a:t> and business intelligence workloads.</a:t>
            </a:r>
          </a:p>
          <a:p>
            <a:r>
              <a:rPr lang="en-US" sz="2200" dirty="0" smtClean="0"/>
              <a:t>Amazon EMR also lets you </a:t>
            </a:r>
            <a:r>
              <a:rPr lang="en-US" sz="2200" i="1" dirty="0" smtClean="0">
                <a:solidFill>
                  <a:srgbClr val="C00000"/>
                </a:solidFill>
              </a:rPr>
              <a:t>transform</a:t>
            </a:r>
            <a:r>
              <a:rPr lang="en-US" sz="2200" dirty="0" smtClean="0"/>
              <a:t> and </a:t>
            </a:r>
            <a:r>
              <a:rPr lang="en-US" sz="2200" i="1" dirty="0" smtClean="0">
                <a:solidFill>
                  <a:srgbClr val="C00000"/>
                </a:solidFill>
              </a:rPr>
              <a:t>move large amounts of data </a:t>
            </a:r>
            <a:r>
              <a:rPr lang="en-US" sz="2200" dirty="0" smtClean="0"/>
              <a:t>into and out of other AWS data stores and databases, such as Amazon Simple Storage Service (Amazon S3) and Amazon </a:t>
            </a:r>
            <a:r>
              <a:rPr lang="en-US" sz="2200" dirty="0" err="1" smtClean="0"/>
              <a:t>DynamoDB</a:t>
            </a:r>
            <a:r>
              <a:rPr lang="en-US" sz="2200" dirty="0" smtClean="0"/>
              <a:t>. 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Pricing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https://aws.amazon.com/emr/pricing/</a:t>
            </a:r>
            <a:endParaRPr lang="en-US" sz="2400" dirty="0" smtClean="0"/>
          </a:p>
          <a:p>
            <a:endParaRPr lang="en-US" sz="2400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2643187"/>
            <a:ext cx="7769543" cy="3300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Prepare Storage for Amazon EMR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https://docs.aws.amazon.com/emr/latest/ManagementGuide/emr-gs.html</a:t>
            </a:r>
            <a:endParaRPr lang="en-US" sz="2400" dirty="0" smtClean="0"/>
          </a:p>
          <a:p>
            <a:r>
              <a:rPr lang="en-US" sz="2400" dirty="0" smtClean="0"/>
              <a:t>When you use Amazon EMR, you can choose from a variety of file systems to store input data, output data, and log files.</a:t>
            </a:r>
          </a:p>
          <a:p>
            <a:r>
              <a:rPr lang="en-US" sz="2400" dirty="0" smtClean="0"/>
              <a:t>EMRFS is an implementation of the </a:t>
            </a:r>
            <a:r>
              <a:rPr lang="en-US" sz="2400" dirty="0" err="1" smtClean="0"/>
              <a:t>Hadoop</a:t>
            </a:r>
            <a:r>
              <a:rPr lang="en-US" sz="2400" dirty="0" smtClean="0"/>
              <a:t> file system that lets you read and write regular files to Amazon S3.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Dataset Sample Rows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input data is a modified version of Health Department inspection results in King County, Washington, from 2006 to 2020.</a:t>
            </a:r>
          </a:p>
          <a:p>
            <a:r>
              <a:rPr lang="en-US" sz="2400" dirty="0" smtClean="0"/>
              <a:t>Refer to the </a:t>
            </a:r>
            <a:r>
              <a:rPr lang="en-US" sz="2400" i="1" dirty="0" smtClean="0"/>
              <a:t>food_establishment_data.csv</a:t>
            </a:r>
            <a:r>
              <a:rPr lang="en-US" sz="2400" dirty="0" smtClean="0"/>
              <a:t> file.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914400" y="4009072"/>
            <a:ext cx="754380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latin typeface="Consolas" pitchFamily="49" charset="0"/>
              </a:rPr>
              <a:t>name, </a:t>
            </a:r>
            <a:r>
              <a:rPr lang="en-US" dirty="0" err="1" smtClean="0">
                <a:latin typeface="Consolas" pitchFamily="49" charset="0"/>
              </a:rPr>
              <a:t>inspection_result</a:t>
            </a:r>
            <a:r>
              <a:rPr lang="en-US" dirty="0" smtClean="0">
                <a:latin typeface="Consolas" pitchFamily="49" charset="0"/>
              </a:rPr>
              <a:t>, </a:t>
            </a:r>
            <a:r>
              <a:rPr lang="en-US" dirty="0" err="1" smtClean="0">
                <a:latin typeface="Consolas" pitchFamily="49" charset="0"/>
              </a:rPr>
              <a:t>inspection_closed_business</a:t>
            </a:r>
            <a:r>
              <a:rPr lang="en-US" dirty="0" smtClean="0">
                <a:latin typeface="Consolas" pitchFamily="49" charset="0"/>
              </a:rPr>
              <a:t>, </a:t>
            </a:r>
            <a:r>
              <a:rPr lang="en-US" dirty="0" err="1" smtClean="0">
                <a:latin typeface="Consolas" pitchFamily="49" charset="0"/>
              </a:rPr>
              <a:t>violation_type</a:t>
            </a:r>
            <a:r>
              <a:rPr lang="en-US" dirty="0" smtClean="0">
                <a:latin typeface="Consolas" pitchFamily="49" charset="0"/>
              </a:rPr>
              <a:t>, </a:t>
            </a:r>
            <a:r>
              <a:rPr lang="en-US" dirty="0" err="1" smtClean="0">
                <a:latin typeface="Consolas" pitchFamily="49" charset="0"/>
              </a:rPr>
              <a:t>violation_points</a:t>
            </a:r>
            <a:endParaRPr lang="en-US" dirty="0" smtClean="0">
              <a:latin typeface="Consolas" pitchFamily="49" charset="0"/>
            </a:endParaRPr>
          </a:p>
          <a:p>
            <a:r>
              <a:rPr lang="en-US" dirty="0" smtClean="0">
                <a:latin typeface="Consolas" pitchFamily="49" charset="0"/>
              </a:rPr>
              <a:t>100 LB CLAM, Unsatisfactory, FALSE, BLUE, 5</a:t>
            </a:r>
          </a:p>
          <a:p>
            <a:r>
              <a:rPr lang="en-US" dirty="0" smtClean="0">
                <a:latin typeface="Consolas" pitchFamily="49" charset="0"/>
              </a:rPr>
              <a:t>100 PERCENT NUTRICION, Unsatisfactory, FALSE, BLUE, 5</a:t>
            </a:r>
          </a:p>
          <a:p>
            <a:r>
              <a:rPr lang="en-US" dirty="0" smtClean="0">
                <a:latin typeface="Consolas" pitchFamily="49" charset="0"/>
              </a:rPr>
              <a:t>7-ELEVEN #2361-39423A, Complete, FALSE, , 0</a:t>
            </a:r>
            <a:endParaRPr lang="en-US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</a:t>
            </a:r>
            <a:r>
              <a:rPr lang="en-US" dirty="0" err="1" smtClean="0"/>
              <a:t>PySpark</a:t>
            </a:r>
            <a:r>
              <a:rPr lang="en-US" dirty="0" smtClean="0"/>
              <a:t> Script for EMR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Refer to the </a:t>
            </a:r>
            <a:r>
              <a:rPr lang="en-US" sz="2400" i="1" dirty="0" smtClean="0"/>
              <a:t>health_violations.py</a:t>
            </a:r>
            <a:r>
              <a:rPr lang="en-US" sz="2400" dirty="0" smtClean="0"/>
              <a:t> file.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914400" y="2667000"/>
            <a:ext cx="7543800" cy="34163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latin typeface="Consolas" pitchFamily="49" charset="0"/>
              </a:rPr>
              <a:t>import </a:t>
            </a:r>
            <a:r>
              <a:rPr lang="en-US" dirty="0" err="1" smtClean="0">
                <a:latin typeface="Consolas" pitchFamily="49" charset="0"/>
              </a:rPr>
              <a:t>argparse</a:t>
            </a:r>
            <a:endParaRPr lang="en-US" dirty="0" smtClean="0">
              <a:latin typeface="Consolas" pitchFamily="49" charset="0"/>
            </a:endParaRPr>
          </a:p>
          <a:p>
            <a:endParaRPr lang="en-US" dirty="0" smtClean="0">
              <a:latin typeface="Consolas" pitchFamily="49" charset="0"/>
            </a:endParaRPr>
          </a:p>
          <a:p>
            <a:r>
              <a:rPr lang="en-US" dirty="0" smtClean="0">
                <a:latin typeface="Consolas" pitchFamily="49" charset="0"/>
              </a:rPr>
              <a:t>from pyspark.sql import </a:t>
            </a:r>
            <a:r>
              <a:rPr lang="en-US" dirty="0" err="1" smtClean="0">
                <a:latin typeface="Consolas" pitchFamily="49" charset="0"/>
              </a:rPr>
              <a:t>SparkSession</a:t>
            </a:r>
            <a:endParaRPr lang="en-US" dirty="0" smtClean="0">
              <a:latin typeface="Consolas" pitchFamily="49" charset="0"/>
            </a:endParaRPr>
          </a:p>
          <a:p>
            <a:endParaRPr lang="en-US" dirty="0" smtClean="0">
              <a:latin typeface="Consolas" pitchFamily="49" charset="0"/>
            </a:endParaRPr>
          </a:p>
          <a:p>
            <a:r>
              <a:rPr lang="en-US" dirty="0" smtClean="0">
                <a:latin typeface="Consolas" pitchFamily="49" charset="0"/>
              </a:rPr>
              <a:t>def </a:t>
            </a:r>
            <a:r>
              <a:rPr lang="en-US" dirty="0" err="1" smtClean="0">
                <a:latin typeface="Consolas" pitchFamily="49" charset="0"/>
              </a:rPr>
              <a:t>calculate_red_violations</a:t>
            </a:r>
            <a:r>
              <a:rPr lang="en-US" dirty="0" smtClean="0">
                <a:latin typeface="Consolas" pitchFamily="49" charset="0"/>
              </a:rPr>
              <a:t>(</a:t>
            </a:r>
            <a:r>
              <a:rPr lang="en-US" dirty="0" err="1" smtClean="0">
                <a:latin typeface="Consolas" pitchFamily="49" charset="0"/>
              </a:rPr>
              <a:t>data_source</a:t>
            </a:r>
            <a:r>
              <a:rPr lang="en-US" dirty="0" smtClean="0">
                <a:latin typeface="Consolas" pitchFamily="49" charset="0"/>
              </a:rPr>
              <a:t>, </a:t>
            </a:r>
            <a:r>
              <a:rPr lang="en-US" dirty="0" err="1" smtClean="0">
                <a:latin typeface="Consolas" pitchFamily="49" charset="0"/>
              </a:rPr>
              <a:t>output_uri</a:t>
            </a:r>
            <a:r>
              <a:rPr lang="en-US" dirty="0" smtClean="0">
                <a:latin typeface="Consolas" pitchFamily="49" charset="0"/>
              </a:rPr>
              <a:t>):</a:t>
            </a:r>
          </a:p>
          <a:p>
            <a:r>
              <a:rPr lang="en-US" dirty="0" smtClean="0">
                <a:latin typeface="Consolas" pitchFamily="49" charset="0"/>
              </a:rPr>
              <a:t>with </a:t>
            </a:r>
            <a:r>
              <a:rPr lang="en-US" dirty="0" err="1" smtClean="0">
                <a:latin typeface="Consolas" pitchFamily="49" charset="0"/>
              </a:rPr>
              <a:t>SparkSession.builder.appName</a:t>
            </a:r>
            <a:r>
              <a:rPr lang="en-US" dirty="0" smtClean="0">
                <a:latin typeface="Consolas" pitchFamily="49" charset="0"/>
              </a:rPr>
              <a:t>("Calculate Red Health Violations").</a:t>
            </a:r>
            <a:r>
              <a:rPr lang="en-US" dirty="0" err="1" smtClean="0">
                <a:latin typeface="Consolas" pitchFamily="49" charset="0"/>
              </a:rPr>
              <a:t>getOrCreate</a:t>
            </a:r>
            <a:r>
              <a:rPr lang="en-US" dirty="0" smtClean="0">
                <a:latin typeface="Consolas" pitchFamily="49" charset="0"/>
              </a:rPr>
              <a:t>() as spark:</a:t>
            </a:r>
          </a:p>
          <a:p>
            <a:r>
              <a:rPr lang="en-US" dirty="0" smtClean="0">
                <a:latin typeface="Consolas" pitchFamily="49" charset="0"/>
              </a:rPr>
              <a:t>        # Load the restaurant violation CSV data</a:t>
            </a:r>
          </a:p>
          <a:p>
            <a:r>
              <a:rPr lang="en-US" dirty="0" smtClean="0">
                <a:latin typeface="Consolas" pitchFamily="49" charset="0"/>
              </a:rPr>
              <a:t>        if </a:t>
            </a:r>
            <a:r>
              <a:rPr lang="en-US" dirty="0" err="1" smtClean="0">
                <a:latin typeface="Consolas" pitchFamily="49" charset="0"/>
              </a:rPr>
              <a:t>data_source</a:t>
            </a:r>
            <a:r>
              <a:rPr lang="en-US" dirty="0" smtClean="0">
                <a:latin typeface="Consolas" pitchFamily="49" charset="0"/>
              </a:rPr>
              <a:t> is not None:</a:t>
            </a:r>
          </a:p>
          <a:p>
            <a:r>
              <a:rPr lang="en-US" dirty="0" smtClean="0">
                <a:latin typeface="Consolas" pitchFamily="49" charset="0"/>
              </a:rPr>
              <a:t>            </a:t>
            </a:r>
            <a:r>
              <a:rPr lang="en-US" dirty="0" err="1" smtClean="0">
                <a:latin typeface="Consolas" pitchFamily="49" charset="0"/>
              </a:rPr>
              <a:t>restaurants_df</a:t>
            </a:r>
            <a:r>
              <a:rPr lang="en-US" dirty="0" smtClean="0">
                <a:latin typeface="Consolas" pitchFamily="49" charset="0"/>
              </a:rPr>
              <a:t> = </a:t>
            </a:r>
            <a:r>
              <a:rPr lang="en-US" dirty="0" err="1" smtClean="0">
                <a:latin typeface="Consolas" pitchFamily="49" charset="0"/>
              </a:rPr>
              <a:t>spark.read.option</a:t>
            </a:r>
            <a:r>
              <a:rPr lang="en-US" dirty="0" smtClean="0">
                <a:latin typeface="Consolas" pitchFamily="49" charset="0"/>
              </a:rPr>
              <a:t>("header", "true").</a:t>
            </a:r>
            <a:r>
              <a:rPr lang="en-US" dirty="0" err="1" smtClean="0">
                <a:latin typeface="Consolas" pitchFamily="49" charset="0"/>
              </a:rPr>
              <a:t>csv</a:t>
            </a:r>
            <a:r>
              <a:rPr lang="en-US" dirty="0" smtClean="0">
                <a:latin typeface="Consolas" pitchFamily="49" charset="0"/>
              </a:rPr>
              <a:t>(</a:t>
            </a:r>
            <a:r>
              <a:rPr lang="en-US" dirty="0" err="1" smtClean="0">
                <a:latin typeface="Consolas" pitchFamily="49" charset="0"/>
              </a:rPr>
              <a:t>data_source</a:t>
            </a:r>
            <a:r>
              <a:rPr lang="en-US" dirty="0" smtClean="0">
                <a:latin typeface="Consolas" pitchFamily="49" charset="0"/>
              </a:rPr>
              <a:t>)</a:t>
            </a:r>
          </a:p>
          <a:p>
            <a:r>
              <a:rPr lang="en-US" dirty="0" smtClean="0">
                <a:latin typeface="Consolas" pitchFamily="49" charset="0"/>
              </a:rPr>
              <a:t>...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Create a Bucket</a:t>
            </a:r>
            <a:endParaRPr lang="en-US" dirty="0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3538" y="1933575"/>
            <a:ext cx="8416925" cy="439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Upload Script and Input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750" y="1644650"/>
            <a:ext cx="8064500" cy="445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18928</TotalTime>
  <Words>462</Words>
  <Application>Microsoft Office PowerPoint</Application>
  <PresentationFormat>On-screen Show (4:3)</PresentationFormat>
  <Paragraphs>60</Paragraphs>
  <Slides>18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Databricks</vt:lpstr>
      <vt:lpstr>Objectives</vt:lpstr>
      <vt:lpstr>Contents</vt:lpstr>
      <vt:lpstr>References</vt:lpstr>
      <vt:lpstr>Databricks</vt:lpstr>
      <vt:lpstr>Databricks vs. Apache Spark</vt:lpstr>
      <vt:lpstr>1. Register Account</vt:lpstr>
      <vt:lpstr>2. Upload a Data File</vt:lpstr>
      <vt:lpstr>3. Run Spark App</vt:lpstr>
      <vt:lpstr>Slide 10</vt:lpstr>
      <vt:lpstr>Amazon EMR</vt:lpstr>
      <vt:lpstr>Pricing</vt:lpstr>
      <vt:lpstr>Prepare Storage for Amazon EMR</vt:lpstr>
      <vt:lpstr>Dataset Sample Rows</vt:lpstr>
      <vt:lpstr>Example PySpark Script for EMR</vt:lpstr>
      <vt:lpstr>1. Create a Bucket</vt:lpstr>
      <vt:lpstr>2. Upload Script and Input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5225</cp:revision>
  <dcterms:created xsi:type="dcterms:W3CDTF">2007-10-06T08:25:13Z</dcterms:created>
  <dcterms:modified xsi:type="dcterms:W3CDTF">2025-11-28T17:23:41Z</dcterms:modified>
</cp:coreProperties>
</file>