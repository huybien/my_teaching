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8"/>
  </p:notesMasterIdLst>
  <p:sldIdLst>
    <p:sldId id="670" r:id="rId2"/>
    <p:sldId id="671" r:id="rId3"/>
    <p:sldId id="672" r:id="rId4"/>
    <p:sldId id="673" r:id="rId5"/>
    <p:sldId id="679" r:id="rId6"/>
    <p:sldId id="680" r:id="rId7"/>
    <p:sldId id="681" r:id="rId8"/>
    <p:sldId id="685" r:id="rId9"/>
    <p:sldId id="684" r:id="rId10"/>
    <p:sldId id="686" r:id="rId11"/>
    <p:sldId id="674" r:id="rId12"/>
    <p:sldId id="675" r:id="rId13"/>
    <p:sldId id="676" r:id="rId14"/>
    <p:sldId id="677" r:id="rId15"/>
    <p:sldId id="678" r:id="rId16"/>
    <p:sldId id="516" r:id="rId1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129" autoAdjust="0"/>
    <p:restoredTop sz="94667" autoAdjust="0"/>
  </p:normalViewPr>
  <p:slideViewPr>
    <p:cSldViewPr>
      <p:cViewPr>
        <p:scale>
          <a:sx n="50" d="100"/>
          <a:sy n="50" d="100"/>
        </p:scale>
        <p:origin x="-1530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0940CE-BE1D-4C40-AF8B-3898A4D1F5EC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70CC96-DB61-4850-AF79-05CA5E4B3D0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3B12F3-13D8-4BC6-B271-EF890D2E3EA0}" type="datetimeFigureOut">
              <a:rPr lang="en-US"/>
              <a:pPr>
                <a:defRPr/>
              </a:pPr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4D65A0-8A45-49A8-B2B4-890662407F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2554BB-BED8-407D-871B-BC3BF099B766}" type="datetimeFigureOut">
              <a:rPr lang="en-US"/>
              <a:pPr>
                <a:defRPr/>
              </a:pPr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6A513C-A265-4672-ADF9-9C420A0C09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83AE9F-B8F4-4A27-A258-84000ADADD35}" type="datetimeFigureOut">
              <a:rPr lang="en-US"/>
              <a:pPr>
                <a:defRPr/>
              </a:pPr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C0325C-EBE7-4A11-97E9-DF8C42B04A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F403C-A7D9-4211-8DC1-5865845C9F38}" type="datetimeFigureOut">
              <a:rPr lang="en-US"/>
              <a:pPr>
                <a:defRPr/>
              </a:pPr>
              <a:t>12/8/2025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91B809-96F5-477B-8E72-8AB6B5E4AE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09C128-87F1-4A1D-AC95-1D0A8C2820AC}" type="datetimeFigureOut">
              <a:rPr lang="en-US"/>
              <a:pPr>
                <a:defRPr/>
              </a:pPr>
              <a:t>12/8/2025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251F8E-6BBA-4EBA-BCCA-61145C18CC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D7EAC8-1610-4C8B-8A2E-7959779A26B0}" type="datetimeFigureOut">
              <a:rPr lang="en-US"/>
              <a:pPr>
                <a:defRPr/>
              </a:pPr>
              <a:t>12/8/2025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F43CFA-8BED-4A88-AB21-8477601BA3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13CF8C-ED99-4E62-9F8F-039B47F842EB}" type="datetimeFigureOut">
              <a:rPr lang="en-US"/>
              <a:pPr>
                <a:defRPr/>
              </a:pPr>
              <a:t>12/8/2025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FA9176-712D-4387-A1B9-79FDD21B41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10295A-2761-40EA-9DA2-E88C0504267F}" type="datetimeFigureOut">
              <a:rPr lang="en-US"/>
              <a:pPr>
                <a:defRPr/>
              </a:pPr>
              <a:t>12/8/2025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EFA140-F156-4425-B953-A67D35160E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036556-1340-40FC-A073-D70D8832A760}" type="datetimeFigureOut">
              <a:rPr lang="en-US"/>
              <a:pPr>
                <a:defRPr/>
              </a:pPr>
              <a:t>12/8/2025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3919B8-AF1D-4524-AED9-AA87E5FE06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375E21-F618-4DDC-86A2-77C690CACCAF}" type="datetimeFigureOut">
              <a:rPr lang="en-US"/>
              <a:pPr>
                <a:defRPr/>
              </a:pPr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DB1DC0-76E8-4C19-B643-CDC8176FDD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4CE7E0-80C2-49E8-81AC-9B27623F73A4}" type="datetimeFigureOut">
              <a:rPr lang="en-US"/>
              <a:pPr>
                <a:defRPr/>
              </a:pPr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9D05C-0F0F-4E8B-B47F-3C2F1A4BC7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921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F5EA699-B790-4630-B1C5-9840307833F6}" type="datetimeFigureOut">
              <a:rPr lang="en-US"/>
              <a:pPr>
                <a:defRPr/>
              </a:pPr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09E2BD1-610D-47CE-BC14-E90E7753FA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smtClean="0"/>
              <a:t>Cloud-Native Applications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334000" cy="38862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867400" cy="4724400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fr-FR" sz="2400" dirty="0" smtClean="0"/>
              <a:t>Dennis </a:t>
            </a:r>
            <a:r>
              <a:rPr lang="fr-FR" sz="2400" dirty="0" err="1" smtClean="0"/>
              <a:t>Gannon</a:t>
            </a:r>
            <a:r>
              <a:rPr lang="fr-FR" sz="2400" dirty="0" smtClean="0"/>
              <a:t> et al. (2017). Cloud-Native Applications.</a:t>
            </a:r>
            <a:endParaRPr lang="en-US" sz="2400" dirty="0" smtClean="0"/>
          </a:p>
          <a:p>
            <a:pPr>
              <a:buFont typeface="+mj-lt"/>
              <a:buAutoNum type="arabicPeriod"/>
            </a:pPr>
            <a:r>
              <a:rPr lang="en-US" sz="2400" dirty="0" smtClean="0"/>
              <a:t>Rob </a:t>
            </a:r>
            <a:r>
              <a:rPr lang="en-US" sz="2400" dirty="0" err="1" smtClean="0"/>
              <a:t>Vettor</a:t>
            </a:r>
            <a:r>
              <a:rPr lang="en-US" sz="2400" dirty="0" smtClean="0"/>
              <a:t> et al. (2022). Architecting Cloud Native .NET Applications for Azure. Microsoft Developer Division.</a:t>
            </a:r>
          </a:p>
          <a:p>
            <a:pPr>
              <a:buFont typeface="+mj-lt"/>
              <a:buAutoNum type="arabicPeriod"/>
            </a:pPr>
            <a:endParaRPr lang="en-US" sz="2400" dirty="0" smtClean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Properties of cloud-native applications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Cloud-native applications often </a:t>
            </a:r>
            <a:r>
              <a:rPr lang="en-US" sz="2200" i="1" dirty="0" smtClean="0">
                <a:solidFill>
                  <a:srgbClr val="C00000"/>
                </a:solidFill>
              </a:rPr>
              <a:t>operate at global scale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Cloud-native applications must </a:t>
            </a:r>
            <a:r>
              <a:rPr lang="en-US" sz="2200" i="1" dirty="0" smtClean="0">
                <a:solidFill>
                  <a:srgbClr val="C00000"/>
                </a:solidFill>
              </a:rPr>
              <a:t>scale well with thousands of concurrent users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They are built on the assumption that </a:t>
            </a:r>
            <a:r>
              <a:rPr lang="en-US" sz="2200" i="1" dirty="0" smtClean="0">
                <a:solidFill>
                  <a:srgbClr val="C00000"/>
                </a:solidFill>
              </a:rPr>
              <a:t>infrastructure is fluid</a:t>
            </a:r>
            <a:r>
              <a:rPr lang="en-US" sz="2200" dirty="0" smtClean="0"/>
              <a:t> and </a:t>
            </a:r>
            <a:r>
              <a:rPr lang="en-US" sz="2200" i="1" dirty="0" smtClean="0">
                <a:solidFill>
                  <a:srgbClr val="C00000"/>
                </a:solidFill>
              </a:rPr>
              <a:t>failure is constant</a:t>
            </a:r>
            <a:r>
              <a:rPr lang="en-US" sz="2200" dirty="0" smtClean="0"/>
              <a:t>. </a:t>
            </a:r>
            <a:r>
              <a:rPr lang="en-US" sz="2200" i="1" dirty="0" smtClean="0"/>
              <a:t>"Infrastructure is fluid" means the system treats hardware and infrastructure resources as dynamically changing, elastic, and disposable, with automation continuously reshaping the environment.</a:t>
            </a:r>
          </a:p>
          <a:p>
            <a:r>
              <a:rPr lang="en-US" sz="2200" dirty="0" smtClean="0"/>
              <a:t>Cloud-native applications are designed so that upgrade and test occur seamlessly without disrupting production.</a:t>
            </a:r>
          </a:p>
          <a:p>
            <a:r>
              <a:rPr lang="en-US" sz="2200" dirty="0" smtClean="0"/>
              <a:t>Security is not an afterthought. Security must be part of the underlying application architecture.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The Netflix movie streaming service.</a:t>
            </a:r>
          </a:p>
          <a:p>
            <a:r>
              <a:rPr lang="en-US" sz="2800" dirty="0" err="1" smtClean="0"/>
              <a:t>Facebook</a:t>
            </a:r>
            <a:r>
              <a:rPr lang="en-US" sz="2800" dirty="0" smtClean="0"/>
              <a:t>, Twitter, Microsoft Office 365, and many of Google’s cloud collaboration and productivity applications.</a:t>
            </a:r>
          </a:p>
          <a:p>
            <a:r>
              <a:rPr lang="en-US" sz="2800" dirty="0" smtClean="0"/>
              <a:t>There are </a:t>
            </a:r>
            <a:r>
              <a:rPr lang="en-US" sz="2800" i="1" dirty="0" smtClean="0">
                <a:solidFill>
                  <a:srgbClr val="C00000"/>
                </a:solidFill>
              </a:rPr>
              <a:t>cloud services</a:t>
            </a:r>
            <a:r>
              <a:rPr lang="en-US" sz="2800" dirty="0" smtClean="0"/>
              <a:t> upon which cloud-native applications are built that are, themselves, cloud-native. These include Amazon Web Services (AWS) Kinesis streaming and Amazon </a:t>
            </a:r>
            <a:r>
              <a:rPr lang="en-US" sz="2800" dirty="0" err="1" smtClean="0"/>
              <a:t>Redshift</a:t>
            </a:r>
            <a:r>
              <a:rPr lang="en-US" sz="2800" dirty="0" smtClean="0"/>
              <a:t>, Microsoft Azure </a:t>
            </a:r>
            <a:r>
              <a:rPr lang="en-US" sz="2800" dirty="0" err="1" smtClean="0"/>
              <a:t>CosmosDB</a:t>
            </a:r>
            <a:r>
              <a:rPr lang="en-US" sz="2800" dirty="0" smtClean="0"/>
              <a:t> and Data Lake, as well as Google BigQuery.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Technology of Cloud-Native</a:t>
            </a:r>
            <a:br>
              <a:rPr lang="en-US" dirty="0" smtClean="0"/>
            </a:br>
            <a:r>
              <a:rPr lang="en-US" dirty="0" smtClean="0"/>
              <a:t>Applications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err="1" smtClean="0"/>
              <a:t>Microservices</a:t>
            </a:r>
            <a:endParaRPr lang="en-US" sz="2800" dirty="0" smtClean="0"/>
          </a:p>
          <a:p>
            <a:r>
              <a:rPr lang="en-US" sz="2800" dirty="0" smtClean="0"/>
              <a:t>Containers</a:t>
            </a:r>
          </a:p>
          <a:p>
            <a:r>
              <a:rPr lang="en-US" sz="2800" dirty="0" smtClean="0"/>
              <a:t>Service Fabrics (Dynamically orchestrated).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Simple </a:t>
            </a:r>
            <a:r>
              <a:rPr lang="en-US" dirty="0" err="1" smtClean="0"/>
              <a:t>microservice</a:t>
            </a:r>
            <a:r>
              <a:rPr lang="en-US" dirty="0" smtClean="0"/>
              <a:t> cloud-native</a:t>
            </a:r>
            <a:br>
              <a:rPr lang="en-US" dirty="0" smtClean="0"/>
            </a:br>
            <a:r>
              <a:rPr lang="en-US" dirty="0" smtClean="0"/>
              <a:t>application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Suppose you have a mechanism to continuously mine on-line data sources, looking for articles with scientific content.</a:t>
            </a:r>
          </a:p>
          <a:p>
            <a:r>
              <a:rPr lang="en-US" dirty="0" smtClean="0"/>
              <a:t>You want to build a cloud-native application that will use machine learning to characterize and classify the topic of these articles and store this information in a database.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 Application Walkthrough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876800" cy="4525963"/>
          </a:xfrm>
        </p:spPr>
        <p:txBody>
          <a:bodyPr/>
          <a:lstStyle/>
          <a:p>
            <a:r>
              <a:rPr lang="en-US" sz="2200" dirty="0" smtClean="0"/>
              <a:t>M1–M6 are the data monitors that skim the relevant RSS feeds and news sites looking for relevant sounding articles.</a:t>
            </a:r>
          </a:p>
          <a:p>
            <a:r>
              <a:rPr lang="en-US" sz="2200" dirty="0" smtClean="0"/>
              <a:t>A1–A5 are analysis services and D1–D3 are database managing services.</a:t>
            </a:r>
          </a:p>
          <a:p>
            <a:r>
              <a:rPr lang="en-US" sz="2200" dirty="0" smtClean="0"/>
              <a:t>There is an important additional observation about this example. It is not based purely on </a:t>
            </a:r>
            <a:r>
              <a:rPr lang="en-US" sz="2200" dirty="0" err="1" smtClean="0"/>
              <a:t>microservices</a:t>
            </a:r>
            <a:r>
              <a:rPr lang="en-US" sz="2200" dirty="0" smtClean="0"/>
              <a:t> because it includes the AWS simple queue service and two database services.</a:t>
            </a:r>
            <a:endParaRPr lang="en-US" sz="22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62600" y="1822450"/>
            <a:ext cx="2978150" cy="404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Monolith </a:t>
            </a:r>
            <a:r>
              <a:rPr lang="en-US" dirty="0" err="1" smtClean="0"/>
              <a:t>eCommerce</a:t>
            </a:r>
            <a:r>
              <a:rPr lang="en-US" dirty="0" smtClean="0"/>
              <a:t> [2]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876800"/>
            <a:ext cx="8229600" cy="1249363"/>
          </a:xfrm>
        </p:spPr>
        <p:txBody>
          <a:bodyPr/>
          <a:lstStyle/>
          <a:p>
            <a:r>
              <a:rPr lang="en-US" sz="2400" dirty="0" smtClean="0"/>
              <a:t>New technologies and frameworks aren't an option. </a:t>
            </a:r>
          </a:p>
          <a:p>
            <a:r>
              <a:rPr lang="en-US" sz="2400" dirty="0" smtClean="0"/>
              <a:t>New features/fixes become tricky, time-consuming, and expensive to implement.</a:t>
            </a:r>
            <a:endParaRPr 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1752600"/>
            <a:ext cx="7239000" cy="285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Cloud-Native Design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89062" y="1825625"/>
            <a:ext cx="6611938" cy="427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Pillars of Cloud Native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7800" y="1600200"/>
            <a:ext cx="6115050" cy="2152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90800" y="4114800"/>
            <a:ext cx="3568700" cy="208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Automating Deployments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04900" y="2019300"/>
            <a:ext cx="6934200" cy="3543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Modernizing Legacy Apps</a:t>
            </a:r>
            <a:endParaRPr lang="en-US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1533474"/>
            <a:ext cx="7947350" cy="46387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20394</TotalTime>
  <Words>402</Words>
  <Application>Microsoft Office PowerPoint</Application>
  <PresentationFormat>On-screen Show (4:3)</PresentationFormat>
  <Paragraphs>42</Paragraphs>
  <Slides>16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Cloud-Native Applications</vt:lpstr>
      <vt:lpstr>Objectives</vt:lpstr>
      <vt:lpstr>Contents</vt:lpstr>
      <vt:lpstr>References</vt:lpstr>
      <vt:lpstr>Properties of cloud-native applications [1]</vt:lpstr>
      <vt:lpstr>Examples</vt:lpstr>
      <vt:lpstr>The Technology of Cloud-Native Applications</vt:lpstr>
      <vt:lpstr>Simple microservice cloud-native application</vt:lpstr>
      <vt:lpstr>An Application Walkthrough</vt:lpstr>
      <vt:lpstr>Slide 10</vt:lpstr>
      <vt:lpstr>Monolith eCommerce [2]</vt:lpstr>
      <vt:lpstr>Cloud-Native Design</vt:lpstr>
      <vt:lpstr>The Pillars of Cloud Native</vt:lpstr>
      <vt:lpstr>Automating Deployments</vt:lpstr>
      <vt:lpstr>Modernizing Legacy Apps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4763</cp:revision>
  <dcterms:created xsi:type="dcterms:W3CDTF">2007-10-06T08:25:13Z</dcterms:created>
  <dcterms:modified xsi:type="dcterms:W3CDTF">2025-12-08T12:35:55Z</dcterms:modified>
</cp:coreProperties>
</file>