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585" r:id="rId2"/>
    <p:sldId id="579" r:id="rId3"/>
    <p:sldId id="580" r:id="rId4"/>
    <p:sldId id="581" r:id="rId5"/>
    <p:sldId id="773" r:id="rId6"/>
    <p:sldId id="775" r:id="rId7"/>
    <p:sldId id="777" r:id="rId8"/>
    <p:sldId id="781" r:id="rId9"/>
    <p:sldId id="763" r:id="rId10"/>
    <p:sldId id="776" r:id="rId11"/>
    <p:sldId id="765" r:id="rId12"/>
    <p:sldId id="766" r:id="rId13"/>
    <p:sldId id="767" r:id="rId14"/>
    <p:sldId id="768" r:id="rId15"/>
    <p:sldId id="769" r:id="rId16"/>
    <p:sldId id="770" r:id="rId17"/>
    <p:sldId id="771" r:id="rId18"/>
    <p:sldId id="778" r:id="rId19"/>
    <p:sldId id="780" r:id="rId20"/>
    <p:sldId id="567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2" autoAdjust="0"/>
    <p:restoredTop sz="94765" autoAdjust="0"/>
  </p:normalViewPr>
  <p:slideViewPr>
    <p:cSldViewPr>
      <p:cViewPr>
        <p:scale>
          <a:sx n="50" d="100"/>
          <a:sy n="50" d="100"/>
        </p:scale>
        <p:origin x="-165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Install </a:t>
            </a:r>
            <a:r>
              <a:rPr lang="en-US" sz="6000" dirty="0" err="1" smtClean="0"/>
              <a:t>vSAN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install </a:t>
            </a:r>
            <a:r>
              <a:rPr lang="en-US" sz="2400" dirty="0" err="1" smtClean="0"/>
              <a:t>vSAN</a:t>
            </a:r>
            <a:r>
              <a:rPr lang="en-US" sz="24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configure </a:t>
            </a:r>
            <a:r>
              <a:rPr lang="en-US" sz="2400" dirty="0" err="1" smtClean="0"/>
              <a:t>vSAN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Nick Marshall et al. (2018). Mastering VMware </a:t>
            </a:r>
            <a:r>
              <a:rPr lang="en-US" sz="2400" dirty="0" err="1" smtClean="0"/>
              <a:t>vSphere</a:t>
            </a:r>
            <a:r>
              <a:rPr lang="en-US" sz="2400" dirty="0" smtClean="0"/>
              <a:t> 6.7. </a:t>
            </a:r>
            <a:r>
              <a:rPr lang="en-US" sz="2400" dirty="0" err="1" smtClean="0"/>
              <a:t>Sybex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SAN (</a:t>
            </a:r>
            <a:r>
              <a:rPr lang="en-US" dirty="0" err="1" smtClean="0"/>
              <a:t>vSAN</a:t>
            </a:r>
            <a:r>
              <a:rPr lang="en-US" dirty="0" smtClean="0"/>
              <a:t>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vSAN</a:t>
            </a:r>
            <a:r>
              <a:rPr lang="en-US" sz="2400" dirty="0" smtClean="0"/>
              <a:t> abstracts the ESXi host's local disks and presents them to the entire </a:t>
            </a:r>
            <a:r>
              <a:rPr lang="en-US" sz="2400" dirty="0" err="1" smtClean="0"/>
              <a:t>vSAN</a:t>
            </a:r>
            <a:r>
              <a:rPr lang="en-US" sz="2400" dirty="0" smtClean="0"/>
              <a:t> cluster to consume.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1663" y="2981325"/>
            <a:ext cx="54006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vSAN</a:t>
            </a:r>
            <a:r>
              <a:rPr lang="en-US" dirty="0" smtClean="0"/>
              <a:t> 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vSAN</a:t>
            </a:r>
            <a:r>
              <a:rPr lang="en-US" sz="2400" dirty="0" smtClean="0"/>
              <a:t> doesn't use the traditional RAID concepts. </a:t>
            </a:r>
            <a:r>
              <a:rPr lang="en-US" sz="2400" dirty="0" err="1" smtClean="0"/>
              <a:t>vSAN</a:t>
            </a:r>
            <a:r>
              <a:rPr lang="en-US" sz="2400" dirty="0" smtClean="0"/>
              <a:t> uses a combination of </a:t>
            </a:r>
            <a:r>
              <a:rPr lang="en-US" sz="2400" dirty="0" err="1" smtClean="0"/>
              <a:t>vSphere</a:t>
            </a:r>
            <a:r>
              <a:rPr lang="en-US" sz="2400" dirty="0" smtClean="0"/>
              <a:t> APIs for Storage Awareness (VASA) and storage policies to ensure that VMs are located on more than one disk and/or host to achieve their performance and availability requirements. This is why VMware recommends 10 </a:t>
            </a:r>
            <a:r>
              <a:rPr lang="en-US" sz="2400" dirty="0" err="1" smtClean="0"/>
              <a:t>Gbps</a:t>
            </a:r>
            <a:r>
              <a:rPr lang="en-US" sz="2400" dirty="0" smtClean="0"/>
              <a:t> networking between </a:t>
            </a:r>
            <a:r>
              <a:rPr lang="en-US" sz="2400" dirty="0" err="1" smtClean="0"/>
              <a:t>ESXi</a:t>
            </a:r>
            <a:r>
              <a:rPr lang="en-US" sz="2400" dirty="0" smtClean="0"/>
              <a:t> hosts when using </a:t>
            </a:r>
            <a:r>
              <a:rPr lang="en-US" sz="2400" dirty="0" err="1" smtClean="0"/>
              <a:t>vSAN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disk group</a:t>
            </a:r>
            <a:r>
              <a:rPr lang="en-US" sz="2400" dirty="0" smtClean="0"/>
              <a:t> is a unit of physical storage capacity </a:t>
            </a:r>
            <a:r>
              <a:rPr lang="en-US" sz="2400" u="sng" dirty="0" smtClean="0"/>
              <a:t>on a host</a:t>
            </a:r>
            <a:r>
              <a:rPr lang="en-US" sz="2400" dirty="0" smtClean="0"/>
              <a:t> and </a:t>
            </a:r>
            <a:r>
              <a:rPr lang="en-US" sz="2400" u="sng" dirty="0" smtClean="0"/>
              <a:t>a group of physical devices</a:t>
            </a:r>
            <a:r>
              <a:rPr lang="en-US" sz="2400" dirty="0" smtClean="0"/>
              <a:t> that provide performance and capacity to the </a:t>
            </a:r>
            <a:r>
              <a:rPr lang="en-US" sz="2400" dirty="0" err="1" smtClean="0"/>
              <a:t>vSAN</a:t>
            </a:r>
            <a:r>
              <a:rPr lang="en-US" sz="2400" dirty="0" smtClean="0"/>
              <a:t> cluster.</a:t>
            </a:r>
          </a:p>
          <a:p>
            <a:r>
              <a:rPr lang="en-US" sz="2400" dirty="0" smtClean="0"/>
              <a:t>After </a:t>
            </a:r>
            <a:r>
              <a:rPr lang="en-US" sz="2400" dirty="0" err="1" smtClean="0"/>
              <a:t>vSAN</a:t>
            </a:r>
            <a:r>
              <a:rPr lang="en-US" sz="2400" dirty="0" smtClean="0"/>
              <a:t> is enabled on a cluster, a single </a:t>
            </a:r>
            <a:r>
              <a:rPr lang="en-US" sz="2400" i="1" dirty="0" err="1" smtClean="0">
                <a:solidFill>
                  <a:srgbClr val="C00000"/>
                </a:solidFill>
              </a:rPr>
              <a:t>vSAN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datastore</a:t>
            </a:r>
            <a:r>
              <a:rPr lang="en-US" sz="2400" dirty="0" smtClean="0"/>
              <a:t> is created.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1800" dirty="0" smtClean="0"/>
              <a:t>A </a:t>
            </a:r>
            <a:r>
              <a:rPr lang="en-US" sz="1800" i="1" dirty="0" smtClean="0">
                <a:solidFill>
                  <a:srgbClr val="C00000"/>
                </a:solidFill>
              </a:rPr>
              <a:t>fault domain</a:t>
            </a:r>
            <a:r>
              <a:rPr lang="en-US" sz="1800" dirty="0" smtClean="0"/>
              <a:t> is a set of hardware components that share a single point of failure.</a:t>
            </a:r>
          </a:p>
          <a:p>
            <a:r>
              <a:rPr lang="en-US" sz="1800" dirty="0" smtClean="0"/>
              <a:t>To be fault tolerant to a certain level, you need multiple fault domains at that level. For example, to be rack fault tolerant, your servers and your data must be distributed across multiple racks.</a:t>
            </a:r>
          </a:p>
          <a:p>
            <a:r>
              <a:rPr lang="en-US" sz="1800" dirty="0" smtClean="0"/>
              <a:t>There are four canonical levels of fault domains - site, rack, chassis, and node.</a:t>
            </a:r>
          </a:p>
          <a:p>
            <a:r>
              <a:rPr lang="en-US" sz="1800" dirty="0" smtClean="0"/>
              <a:t>Nodes are discovered automatically; each additional level is optional. For example, if your deployment does not use blade servers, the chassis level may not make sense for you.</a:t>
            </a:r>
            <a:endParaRPr lang="en-US" sz="1800" dirty="0"/>
          </a:p>
        </p:txBody>
      </p:sp>
      <p:pic>
        <p:nvPicPr>
          <p:cNvPr id="1026" name="Picture 2" descr="Diagram of the different levels of fault domai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981200"/>
            <a:ext cx="4372586" cy="37324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vSAN</a:t>
            </a:r>
            <a:r>
              <a:rPr lang="en-US" dirty="0" smtClean="0"/>
              <a:t> and </a:t>
            </a:r>
            <a:r>
              <a:rPr lang="en-US" dirty="0" err="1" smtClean="0"/>
              <a:t>vCenter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vSAN</a:t>
            </a:r>
            <a:r>
              <a:rPr lang="en-US" sz="2400" dirty="0" smtClean="0"/>
              <a:t> </a:t>
            </a:r>
            <a:r>
              <a:rPr lang="en-US" sz="2400" dirty="0" smtClean="0"/>
              <a:t>requires </a:t>
            </a:r>
            <a:r>
              <a:rPr lang="en-US" sz="2400" dirty="0" err="1" smtClean="0"/>
              <a:t>vCenter</a:t>
            </a:r>
            <a:r>
              <a:rPr lang="en-US" sz="2400" dirty="0" smtClean="0"/>
              <a:t> Server to </a:t>
            </a:r>
            <a:r>
              <a:rPr lang="en-US" sz="2400" dirty="0" smtClean="0"/>
              <a:t>operate.</a:t>
            </a:r>
          </a:p>
          <a:p>
            <a:r>
              <a:rPr lang="en-US" sz="2400" dirty="0" smtClean="0"/>
              <a:t>This </a:t>
            </a:r>
            <a:r>
              <a:rPr lang="en-US" sz="2400" dirty="0" smtClean="0"/>
              <a:t>is because </a:t>
            </a:r>
            <a:r>
              <a:rPr lang="en-US" sz="2400" dirty="0" err="1" smtClean="0"/>
              <a:t>vSAN</a:t>
            </a:r>
            <a:r>
              <a:rPr lang="en-US" sz="2400" dirty="0" smtClean="0"/>
              <a:t> is a distributed storage solution that is tightly integrated with the VMware </a:t>
            </a:r>
            <a:r>
              <a:rPr lang="en-US" sz="2400" dirty="0" err="1" smtClean="0"/>
              <a:t>vSphere</a:t>
            </a:r>
            <a:r>
              <a:rPr lang="en-US" sz="2400" dirty="0" smtClean="0"/>
              <a:t> ecosystem, and all management and configuration tasks for </a:t>
            </a:r>
            <a:r>
              <a:rPr lang="en-US" sz="2400" dirty="0" err="1" smtClean="0"/>
              <a:t>vSAN</a:t>
            </a:r>
            <a:r>
              <a:rPr lang="en-US" sz="2400" dirty="0" smtClean="0"/>
              <a:t> are performed through </a:t>
            </a:r>
            <a:r>
              <a:rPr lang="en-US" sz="2400" dirty="0" err="1" smtClean="0"/>
              <a:t>vCenter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smtClean="0"/>
              <a:t>a </a:t>
            </a:r>
            <a:r>
              <a:rPr lang="en-US" smtClean="0"/>
              <a:t>Disk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563" y="1485900"/>
            <a:ext cx="801687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</a:t>
            </a:r>
            <a:r>
              <a:rPr lang="en-US" dirty="0" err="1" smtClean="0"/>
              <a:t>vSAN</a:t>
            </a:r>
            <a:r>
              <a:rPr lang="en-US" dirty="0" smtClean="0"/>
              <a:t> Configuration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is configured for a cluster.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14600"/>
            <a:ext cx="8260339" cy="3252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</a:t>
            </a:r>
            <a:r>
              <a:rPr lang="en-US" dirty="0" err="1" smtClean="0"/>
              <a:t>vSAN</a:t>
            </a:r>
            <a:r>
              <a:rPr lang="en-US" dirty="0" smtClean="0"/>
              <a:t> 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ESA = Express Storage Architecture.</a:t>
            </a:r>
          </a:p>
          <a:p>
            <a:r>
              <a:rPr lang="en-US" sz="2000" dirty="0" err="1" smtClean="0"/>
              <a:t>Hyperconverged</a:t>
            </a:r>
            <a:r>
              <a:rPr lang="en-US" sz="2000" dirty="0" smtClean="0"/>
              <a:t> infrastructure (HCI) is a software-defined, unified system that combines all the elements of a traditional data center: storage, compute, networking and management.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124200"/>
            <a:ext cx="7020852" cy="323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Enable </a:t>
            </a:r>
            <a:r>
              <a:rPr lang="en-US" dirty="0" err="1" smtClean="0"/>
              <a:t>vSAN</a:t>
            </a:r>
            <a:r>
              <a:rPr lang="en-US" dirty="0" smtClean="0"/>
              <a:t> Services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09800"/>
            <a:ext cx="7967302" cy="3710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Claim Disks</a:t>
            </a:r>
            <a:endParaRPr lang="en-US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3579" y="2057400"/>
            <a:ext cx="7890821" cy="360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Fault Domains</a:t>
            </a:r>
            <a:endParaRPr lang="en-US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558" y="2133600"/>
            <a:ext cx="7827642" cy="366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Review Configuration</a:t>
            </a:r>
            <a:endParaRPr 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482" y="2057400"/>
            <a:ext cx="7850918" cy="36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Claim Unused Disks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57400"/>
            <a:ext cx="7957326" cy="397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Create Disks</a:t>
            </a:r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7870870" cy="3488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Review Disks</a:t>
            </a:r>
            <a:endParaRPr lang="en-US" dirty="0"/>
          </a:p>
        </p:txBody>
      </p:sp>
      <p:pic>
        <p:nvPicPr>
          <p:cNvPr id="179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743" y="2438400"/>
            <a:ext cx="7992657" cy="3363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Review </a:t>
            </a:r>
            <a:r>
              <a:rPr lang="en-US" dirty="0" err="1" smtClean="0"/>
              <a:t>vsanDatastore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</a:t>
            </a:r>
            <a:r>
              <a:rPr lang="en-US" sz="2400" dirty="0" err="1" smtClean="0"/>
              <a:t>vsanDatastore</a:t>
            </a:r>
            <a:r>
              <a:rPr lang="en-US" sz="2400" dirty="0" smtClean="0"/>
              <a:t> </a:t>
            </a:r>
            <a:r>
              <a:rPr lang="en-US" sz="2400" dirty="0" err="1" smtClean="0"/>
              <a:t>datastore</a:t>
            </a:r>
            <a:r>
              <a:rPr lang="en-US" sz="2400" dirty="0" smtClean="0"/>
              <a:t> is automatically created by </a:t>
            </a:r>
            <a:r>
              <a:rPr lang="en-US" sz="2400" dirty="0" err="1" smtClean="0"/>
              <a:t>vSAN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81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21054"/>
            <a:ext cx="8138137" cy="304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20191</TotalTime>
  <Words>443</Words>
  <Application>Microsoft Office PowerPoint</Application>
  <PresentationFormat>On-screen Show (4:3)</PresentationFormat>
  <Paragraphs>43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Install vSAN</vt:lpstr>
      <vt:lpstr>Objectives</vt:lpstr>
      <vt:lpstr>Contents</vt:lpstr>
      <vt:lpstr>References</vt:lpstr>
      <vt:lpstr>Virtual SAN (vSAN) [1]</vt:lpstr>
      <vt:lpstr>vSAN Terminologies</vt:lpstr>
      <vt:lpstr>Fault Domain</vt:lpstr>
      <vt:lpstr>vSAN and vCenter Server</vt:lpstr>
      <vt:lpstr>1. Create a Disk</vt:lpstr>
      <vt:lpstr>2. Select vSAN Configuration Type</vt:lpstr>
      <vt:lpstr>3. Enable vSAN ESA</vt:lpstr>
      <vt:lpstr>4. Enable vSAN Services</vt:lpstr>
      <vt:lpstr>5. Claim Disks</vt:lpstr>
      <vt:lpstr>6. Create Fault Domains</vt:lpstr>
      <vt:lpstr>7. Review Configuration</vt:lpstr>
      <vt:lpstr>8. Claim Unused Disks</vt:lpstr>
      <vt:lpstr>9. Create Disks</vt:lpstr>
      <vt:lpstr>10. Review Disks</vt:lpstr>
      <vt:lpstr>11. Review vsanDatastore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5374</cp:revision>
  <dcterms:created xsi:type="dcterms:W3CDTF">2007-10-06T08:25:13Z</dcterms:created>
  <dcterms:modified xsi:type="dcterms:W3CDTF">2025-11-16T17:31:01Z</dcterms:modified>
</cp:coreProperties>
</file>