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3"/>
  </p:notesMasterIdLst>
  <p:sldIdLst>
    <p:sldId id="584" r:id="rId2"/>
    <p:sldId id="585" r:id="rId3"/>
    <p:sldId id="586" r:id="rId4"/>
    <p:sldId id="587" r:id="rId5"/>
    <p:sldId id="588" r:id="rId6"/>
    <p:sldId id="590" r:id="rId7"/>
    <p:sldId id="589" r:id="rId8"/>
    <p:sldId id="591" r:id="rId9"/>
    <p:sldId id="592" r:id="rId10"/>
    <p:sldId id="593" r:id="rId11"/>
    <p:sldId id="594" r:id="rId12"/>
    <p:sldId id="595" r:id="rId13"/>
    <p:sldId id="596" r:id="rId14"/>
    <p:sldId id="597" r:id="rId15"/>
    <p:sldId id="598" r:id="rId16"/>
    <p:sldId id="600" r:id="rId17"/>
    <p:sldId id="601" r:id="rId18"/>
    <p:sldId id="602" r:id="rId19"/>
    <p:sldId id="603" r:id="rId20"/>
    <p:sldId id="604" r:id="rId21"/>
    <p:sldId id="440" r:id="rId2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58" autoAdjust="0"/>
    <p:restoredTop sz="83941" autoAdjust="0"/>
  </p:normalViewPr>
  <p:slideViewPr>
    <p:cSldViewPr>
      <p:cViewPr>
        <p:scale>
          <a:sx n="50" d="100"/>
          <a:sy n="50" d="100"/>
        </p:scale>
        <p:origin x="-1648" y="-232"/>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62591D-F63A-4C87-988A-2A4399BE3C42}" type="datetimeFigureOut">
              <a:rPr lang="en-US" smtClean="0"/>
              <a:pPr/>
              <a:t>1/5/2024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B2649A-D532-4C46-8375-2DC4F09C0D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9</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10</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11</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12</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14</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DB2649A-D532-4C46-8375-2DC4F09C0D42}" type="slidenum">
              <a:rPr lang="en-US" smtClean="0"/>
              <a:pPr/>
              <a:t>15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8"/>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3"/>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3"/>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3"/>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5"/>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8" y="1535115"/>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8"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1/5/2024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1/5/2024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1/5/2024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3" y="273051"/>
            <a:ext cx="3008313"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1"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3"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2"/>
            <a:ext cx="5486400" cy="566739"/>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40"/>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1/5/2024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1/5/2024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9"/>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3"/>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3"/>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1/5/2024</a:t>
            </a:fld>
            <a:endParaRPr lang="en-US"/>
          </a:p>
        </p:txBody>
      </p:sp>
      <p:sp>
        <p:nvSpPr>
          <p:cNvPr id="5" name="Footer Placeholder 4"/>
          <p:cNvSpPr>
            <a:spLocks noGrp="1"/>
          </p:cNvSpPr>
          <p:nvPr>
            <p:ph type="ftr" sz="quarter" idx="3"/>
          </p:nvPr>
        </p:nvSpPr>
        <p:spPr>
          <a:xfrm>
            <a:off x="3124200" y="6356353"/>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3"/>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aws.amazon.com/api-gateway/"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r>
              <a:rPr lang="en-US" sz="6000" dirty="0" smtClean="0"/>
              <a:t>Amazon API Gateway</a:t>
            </a:r>
            <a:endParaRPr lang="en-US" sz="6000" dirty="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905004"/>
            <a:ext cx="5562600" cy="4114799"/>
          </a:xfrm>
        </p:spPr>
        <p:txBody>
          <a:bodyPr/>
          <a:lstStyle/>
          <a:p>
            <a:pPr marL="571500" indent="-51435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00750" y="2438400"/>
            <a:ext cx="2762250" cy="2114551"/>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2" y="2438403"/>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3"/>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828800"/>
            <a:ext cx="5867400" cy="4191000"/>
          </a:xfrm>
        </p:spPr>
        <p:txBody>
          <a:bodyPr/>
          <a:lstStyle/>
          <a:p>
            <a:pPr marL="457200" indent="-457200">
              <a:buFont typeface="+mj-lt"/>
              <a:buAutoNum type="arabicPeriod"/>
            </a:pP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67450" y="1676402"/>
            <a:ext cx="2724150" cy="4133851"/>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Amazon API Gateway</a:t>
            </a:r>
            <a:endParaRPr lang="en-US" dirty="0"/>
          </a:p>
        </p:txBody>
      </p:sp>
      <p:sp>
        <p:nvSpPr>
          <p:cNvPr id="3" name="Content Placeholder 2"/>
          <p:cNvSpPr>
            <a:spLocks noGrp="1"/>
          </p:cNvSpPr>
          <p:nvPr>
            <p:ph idx="1"/>
          </p:nvPr>
        </p:nvSpPr>
        <p:spPr/>
        <p:txBody>
          <a:bodyPr/>
          <a:lstStyle/>
          <a:p>
            <a:r>
              <a:rPr lang="en-US" sz="2200" dirty="0" smtClean="0">
                <a:hlinkClick r:id="rId2"/>
              </a:rPr>
              <a:t>https://aws.amazon.com/api-gateway/</a:t>
            </a:r>
            <a:endParaRPr lang="en-US" sz="2200" dirty="0" smtClean="0"/>
          </a:p>
          <a:p>
            <a:r>
              <a:rPr lang="en-US" sz="2200" dirty="0" smtClean="0"/>
              <a:t>Amazon API Gateway is a fully managed service that makes it easy for developers to create, publish, maintain, monitor, and secure APIs at any scale.</a:t>
            </a:r>
          </a:p>
          <a:p>
            <a:r>
              <a:rPr lang="en-US" sz="2200" dirty="0" smtClean="0"/>
              <a:t>APIs act as the "front door" for applications to access data, business logic, or functionality from your backend services.</a:t>
            </a:r>
          </a:p>
          <a:p>
            <a:r>
              <a:rPr lang="en-US" sz="2200" dirty="0" smtClean="0"/>
              <a:t>Using API Gateway, you can create </a:t>
            </a:r>
            <a:r>
              <a:rPr lang="en-US" sz="2200" i="1" dirty="0" err="1" smtClean="0">
                <a:solidFill>
                  <a:srgbClr val="C00000"/>
                </a:solidFill>
              </a:rPr>
              <a:t>RESTful</a:t>
            </a:r>
            <a:r>
              <a:rPr lang="en-US" sz="2200" i="1" dirty="0" smtClean="0">
                <a:solidFill>
                  <a:srgbClr val="C00000"/>
                </a:solidFill>
              </a:rPr>
              <a:t> APIs</a:t>
            </a:r>
            <a:r>
              <a:rPr lang="en-US" sz="2200" dirty="0" smtClean="0"/>
              <a:t> and </a:t>
            </a:r>
            <a:r>
              <a:rPr lang="en-US" sz="2200" i="1" dirty="0" err="1" smtClean="0">
                <a:solidFill>
                  <a:srgbClr val="C00000"/>
                </a:solidFill>
              </a:rPr>
              <a:t>WebSocket</a:t>
            </a:r>
            <a:r>
              <a:rPr lang="en-US" sz="2200" i="1" dirty="0" smtClean="0">
                <a:solidFill>
                  <a:srgbClr val="C00000"/>
                </a:solidFill>
              </a:rPr>
              <a:t> APIs</a:t>
            </a:r>
            <a:r>
              <a:rPr lang="en-US" sz="2200" dirty="0" smtClean="0"/>
              <a:t> that enable real-time two-way communication applications.</a:t>
            </a:r>
          </a:p>
          <a:p>
            <a:r>
              <a:rPr lang="en-US" sz="2200" dirty="0" smtClean="0"/>
              <a:t>API Gateway supports </a:t>
            </a:r>
            <a:r>
              <a:rPr lang="en-US" sz="2200" i="1" dirty="0" smtClean="0">
                <a:solidFill>
                  <a:srgbClr val="C00000"/>
                </a:solidFill>
              </a:rPr>
              <a:t>containerized</a:t>
            </a:r>
            <a:r>
              <a:rPr lang="en-US" sz="2200" dirty="0" smtClean="0"/>
              <a:t> and </a:t>
            </a:r>
            <a:r>
              <a:rPr lang="en-US" sz="2200" i="1" dirty="0" err="1" smtClean="0">
                <a:solidFill>
                  <a:srgbClr val="C00000"/>
                </a:solidFill>
              </a:rPr>
              <a:t>serverless</a:t>
            </a:r>
            <a:r>
              <a:rPr lang="en-US" sz="2200" dirty="0" smtClean="0"/>
              <a:t> workloads, as well as web applications.</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Notes</a:t>
            </a:r>
            <a:endParaRPr lang="en-US"/>
          </a:p>
        </p:txBody>
      </p:sp>
      <p:sp>
        <p:nvSpPr>
          <p:cNvPr id="3" name="Content Placeholder 2"/>
          <p:cNvSpPr>
            <a:spLocks noGrp="1"/>
          </p:cNvSpPr>
          <p:nvPr>
            <p:ph idx="1"/>
          </p:nvPr>
        </p:nvSpPr>
        <p:spPr/>
        <p:txBody>
          <a:bodyPr/>
          <a:lstStyle/>
          <a:p>
            <a:r>
              <a:rPr lang="en-US" sz="2400" dirty="0" smtClean="0"/>
              <a:t>It plays a role as a web server (IIS, Apache, </a:t>
            </a:r>
            <a:r>
              <a:rPr lang="en-US" sz="2400" dirty="0" err="1" smtClean="0"/>
              <a:t>Nginx</a:t>
            </a:r>
            <a:r>
              <a:rPr lang="en-US" sz="2400" dirty="0" smtClean="0"/>
              <a:t>).</a:t>
            </a:r>
          </a:p>
          <a:p>
            <a:r>
              <a:rPr lang="en-US" sz="2400" dirty="0" smtClean="0"/>
              <a:t>It can accept only </a:t>
            </a:r>
            <a:r>
              <a:rPr lang="en-US" sz="2400" dirty="0" err="1" smtClean="0"/>
              <a:t>RESTful</a:t>
            </a:r>
            <a:r>
              <a:rPr lang="en-US" sz="2400" dirty="0" smtClean="0"/>
              <a:t> and </a:t>
            </a:r>
            <a:r>
              <a:rPr lang="en-US" sz="2400" dirty="0" err="1" smtClean="0"/>
              <a:t>WebSocket</a:t>
            </a:r>
            <a:r>
              <a:rPr lang="en-US" sz="2400" dirty="0" smtClean="0"/>
              <a:t> connection style.</a:t>
            </a:r>
          </a:p>
          <a:p>
            <a:r>
              <a:rPr lang="en-US" sz="2400" dirty="0" smtClean="0"/>
              <a:t>It must connect to containerized and </a:t>
            </a:r>
            <a:r>
              <a:rPr lang="en-US" sz="2400" dirty="0" err="1" smtClean="0"/>
              <a:t>serverless</a:t>
            </a:r>
            <a:r>
              <a:rPr lang="en-US" sz="2400" dirty="0" smtClean="0"/>
              <a:t> code for further processing.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API Gateway?</a:t>
            </a:r>
            <a:endParaRPr lang="en-US" dirty="0"/>
          </a:p>
        </p:txBody>
      </p:sp>
      <p:sp>
        <p:nvSpPr>
          <p:cNvPr id="3" name="Content Placeholder 2"/>
          <p:cNvSpPr>
            <a:spLocks noGrp="1"/>
          </p:cNvSpPr>
          <p:nvPr>
            <p:ph idx="1"/>
          </p:nvPr>
        </p:nvSpPr>
        <p:spPr/>
        <p:txBody>
          <a:bodyPr/>
          <a:lstStyle/>
          <a:p>
            <a:r>
              <a:rPr lang="en-US" sz="2400" dirty="0" smtClean="0"/>
              <a:t>API Gateway handles all the tasks involved in accepting and processing up to hundreds of thousands of </a:t>
            </a:r>
            <a:r>
              <a:rPr lang="en-US" sz="2400" i="1" dirty="0" smtClean="0">
                <a:solidFill>
                  <a:srgbClr val="C00000"/>
                </a:solidFill>
              </a:rPr>
              <a:t>concurrent API calls</a:t>
            </a:r>
            <a:r>
              <a:rPr lang="en-US" sz="2400" dirty="0" smtClean="0"/>
              <a:t>, including traffic management, CORS support, </a:t>
            </a:r>
            <a:r>
              <a:rPr lang="en-US" sz="2400" i="1" dirty="0" smtClean="0">
                <a:solidFill>
                  <a:srgbClr val="C00000"/>
                </a:solidFill>
              </a:rPr>
              <a:t>authorization and access control</a:t>
            </a:r>
            <a:r>
              <a:rPr lang="en-US" sz="2400" dirty="0" smtClean="0"/>
              <a:t>, throttling, monitoring, and API version management.</a:t>
            </a:r>
          </a:p>
          <a:p>
            <a:r>
              <a:rPr lang="en-US" sz="2400" dirty="0" smtClean="0"/>
              <a:t>API Gateway has no minimum fees or startup costs.</a:t>
            </a:r>
          </a:p>
          <a:p>
            <a:r>
              <a:rPr lang="en-US" sz="2400" dirty="0" smtClean="0"/>
              <a:t>You pay for the API calls you receive and the amount of data transferred out and, with the API Gateway tiered pricing model, you can reduce your cost as your API usage scales.</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 Create a Lambda function</a:t>
            </a:r>
            <a:endParaRPr lang="en-US" dirty="0"/>
          </a:p>
        </p:txBody>
      </p:sp>
      <p:pic>
        <p:nvPicPr>
          <p:cNvPr id="1027" name="Picture 3"/>
          <p:cNvPicPr>
            <a:picLocks noChangeAspect="1" noChangeArrowheads="1"/>
          </p:cNvPicPr>
          <p:nvPr/>
        </p:nvPicPr>
        <p:blipFill>
          <a:blip r:embed="rId3" cstate="print"/>
          <a:srcRect/>
          <a:stretch>
            <a:fillRect/>
          </a:stretch>
        </p:blipFill>
        <p:spPr bwMode="auto">
          <a:xfrm>
            <a:off x="914400" y="1828800"/>
            <a:ext cx="7342154" cy="411001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3800" dirty="0" smtClean="0"/>
              <a:t>2. Review </a:t>
            </a:r>
            <a:r>
              <a:rPr lang="en-US" sz="3800" dirty="0" smtClean="0"/>
              <a:t>default Lambda </a:t>
            </a:r>
            <a:r>
              <a:rPr lang="en-US" sz="3800" dirty="0" smtClean="0"/>
              <a:t>function code</a:t>
            </a:r>
            <a:endParaRPr lang="en-US" sz="3800" dirty="0"/>
          </a:p>
        </p:txBody>
      </p:sp>
      <p:pic>
        <p:nvPicPr>
          <p:cNvPr id="2050" name="Picture 2"/>
          <p:cNvPicPr>
            <a:picLocks noChangeAspect="1" noChangeArrowheads="1"/>
          </p:cNvPicPr>
          <p:nvPr/>
        </p:nvPicPr>
        <p:blipFill>
          <a:blip r:embed="rId3" cstate="print"/>
          <a:srcRect/>
          <a:stretch>
            <a:fillRect/>
          </a:stretch>
        </p:blipFill>
        <p:spPr bwMode="auto">
          <a:xfrm>
            <a:off x="1387475" y="2012950"/>
            <a:ext cx="6369050" cy="339725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3. </a:t>
            </a:r>
            <a:r>
              <a:rPr lang="en-US" dirty="0" smtClean="0"/>
              <a:t>Create an HTTP </a:t>
            </a:r>
            <a:r>
              <a:rPr lang="en-US" dirty="0" smtClean="0"/>
              <a:t>API</a:t>
            </a:r>
            <a:endParaRPr lang="en-US" dirty="0"/>
          </a:p>
        </p:txBody>
      </p:sp>
      <p:pic>
        <p:nvPicPr>
          <p:cNvPr id="3074" name="Picture 2"/>
          <p:cNvPicPr>
            <a:picLocks noChangeAspect="1" noChangeArrowheads="1"/>
          </p:cNvPicPr>
          <p:nvPr/>
        </p:nvPicPr>
        <p:blipFill>
          <a:blip r:embed="rId3" cstate="print"/>
          <a:srcRect/>
          <a:stretch>
            <a:fillRect/>
          </a:stretch>
        </p:blipFill>
        <p:spPr bwMode="auto">
          <a:xfrm>
            <a:off x="762000" y="2067615"/>
            <a:ext cx="7631452" cy="364738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4. Add Integration for </a:t>
            </a:r>
            <a:r>
              <a:rPr lang="en-US" dirty="0" smtClean="0"/>
              <a:t>HTTP </a:t>
            </a:r>
            <a:r>
              <a:rPr lang="en-US" dirty="0" smtClean="0"/>
              <a:t>API</a:t>
            </a:r>
            <a:endParaRPr lang="en-US" dirty="0"/>
          </a:p>
        </p:txBody>
      </p:sp>
      <p:pic>
        <p:nvPicPr>
          <p:cNvPr id="4098" name="Picture 2"/>
          <p:cNvPicPr>
            <a:picLocks noChangeAspect="1" noChangeArrowheads="1"/>
          </p:cNvPicPr>
          <p:nvPr/>
        </p:nvPicPr>
        <p:blipFill>
          <a:blip r:embed="rId3" cstate="print"/>
          <a:srcRect/>
          <a:stretch>
            <a:fillRect/>
          </a:stretch>
        </p:blipFill>
        <p:spPr bwMode="auto">
          <a:xfrm>
            <a:off x="1033463" y="2025650"/>
            <a:ext cx="7077075" cy="368935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5. Configure Integration</a:t>
            </a:r>
            <a:endParaRPr lang="en-US" dirty="0"/>
          </a:p>
        </p:txBody>
      </p:sp>
      <p:pic>
        <p:nvPicPr>
          <p:cNvPr id="5122" name="Picture 2"/>
          <p:cNvPicPr>
            <a:picLocks noChangeAspect="1" noChangeArrowheads="1"/>
          </p:cNvPicPr>
          <p:nvPr/>
        </p:nvPicPr>
        <p:blipFill>
          <a:blip r:embed="rId3" cstate="print"/>
          <a:srcRect/>
          <a:stretch>
            <a:fillRect/>
          </a:stretch>
        </p:blipFill>
        <p:spPr bwMode="auto">
          <a:xfrm>
            <a:off x="1219200" y="1828800"/>
            <a:ext cx="6735128" cy="4363403"/>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6. Configure Route</a:t>
            </a:r>
            <a:endParaRPr lang="en-US" dirty="0"/>
          </a:p>
        </p:txBody>
      </p:sp>
      <p:pic>
        <p:nvPicPr>
          <p:cNvPr id="6146" name="Picture 2"/>
          <p:cNvPicPr>
            <a:picLocks noChangeAspect="1" noChangeArrowheads="1"/>
          </p:cNvPicPr>
          <p:nvPr/>
        </p:nvPicPr>
        <p:blipFill>
          <a:blip r:embed="rId3" cstate="print"/>
          <a:srcRect/>
          <a:stretch>
            <a:fillRect/>
          </a:stretch>
        </p:blipFill>
        <p:spPr bwMode="auto">
          <a:xfrm>
            <a:off x="1032510" y="1981200"/>
            <a:ext cx="7120890" cy="38862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7. Define Stage</a:t>
            </a:r>
            <a:endParaRPr lang="en-US" dirty="0"/>
          </a:p>
        </p:txBody>
      </p:sp>
      <p:pic>
        <p:nvPicPr>
          <p:cNvPr id="7170" name="Picture 2"/>
          <p:cNvPicPr>
            <a:picLocks noChangeAspect="1" noChangeArrowheads="1"/>
          </p:cNvPicPr>
          <p:nvPr/>
        </p:nvPicPr>
        <p:blipFill>
          <a:blip r:embed="rId3" cstate="print"/>
          <a:srcRect/>
          <a:stretch>
            <a:fillRect/>
          </a:stretch>
        </p:blipFill>
        <p:spPr bwMode="auto">
          <a:xfrm>
            <a:off x="990600" y="2133600"/>
            <a:ext cx="7143750" cy="3889058"/>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8. Retrieve Invoke URL</a:t>
            </a:r>
            <a:endParaRPr lang="en-US" dirty="0"/>
          </a:p>
        </p:txBody>
      </p:sp>
      <p:pic>
        <p:nvPicPr>
          <p:cNvPr id="8194" name="Picture 2"/>
          <p:cNvPicPr>
            <a:picLocks noChangeAspect="1" noChangeArrowheads="1"/>
          </p:cNvPicPr>
          <p:nvPr/>
        </p:nvPicPr>
        <p:blipFill>
          <a:blip r:embed="rId3" cstate="print"/>
          <a:srcRect/>
          <a:stretch>
            <a:fillRect/>
          </a:stretch>
        </p:blipFill>
        <p:spPr bwMode="auto">
          <a:xfrm>
            <a:off x="611573" y="2185662"/>
            <a:ext cx="7922827" cy="3529338"/>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9. Append Lambda function to URL</a:t>
            </a:r>
            <a:endParaRPr lang="en-US" dirty="0"/>
          </a:p>
        </p:txBody>
      </p:sp>
      <p:pic>
        <p:nvPicPr>
          <p:cNvPr id="9218" name="Picture 2"/>
          <p:cNvPicPr>
            <a:picLocks noChangeAspect="1" noChangeArrowheads="1"/>
          </p:cNvPicPr>
          <p:nvPr/>
        </p:nvPicPr>
        <p:blipFill>
          <a:blip r:embed="rId2" cstate="print"/>
          <a:srcRect/>
          <a:stretch>
            <a:fillRect/>
          </a:stretch>
        </p:blipFill>
        <p:spPr bwMode="auto">
          <a:xfrm>
            <a:off x="1498600" y="3021013"/>
            <a:ext cx="6146800" cy="815975"/>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10. Remove API Gateway</a:t>
            </a:r>
            <a:endParaRPr lang="en-US" dirty="0"/>
          </a:p>
        </p:txBody>
      </p:sp>
      <p:pic>
        <p:nvPicPr>
          <p:cNvPr id="10242" name="Picture 2"/>
          <p:cNvPicPr>
            <a:picLocks noChangeAspect="1" noChangeArrowheads="1"/>
          </p:cNvPicPr>
          <p:nvPr/>
        </p:nvPicPr>
        <p:blipFill>
          <a:blip r:embed="rId2" cstate="print"/>
          <a:srcRect/>
          <a:stretch>
            <a:fillRect/>
          </a:stretch>
        </p:blipFill>
        <p:spPr bwMode="auto">
          <a:xfrm>
            <a:off x="744448" y="2447974"/>
            <a:ext cx="7713752" cy="2581226"/>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11. Remove Lambda Function</a:t>
            </a:r>
            <a:endParaRPr lang="en-US" dirty="0"/>
          </a:p>
        </p:txBody>
      </p:sp>
      <p:pic>
        <p:nvPicPr>
          <p:cNvPr id="11266" name="Picture 2"/>
          <p:cNvPicPr>
            <a:picLocks noChangeAspect="1" noChangeArrowheads="1"/>
          </p:cNvPicPr>
          <p:nvPr/>
        </p:nvPicPr>
        <p:blipFill>
          <a:blip r:embed="rId2" cstate="print"/>
          <a:srcRect/>
          <a:stretch>
            <a:fillRect/>
          </a:stretch>
        </p:blipFill>
        <p:spPr bwMode="auto">
          <a:xfrm>
            <a:off x="740707" y="2667000"/>
            <a:ext cx="7717493" cy="2304399"/>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t>12. Remove Lambda Log Group</a:t>
            </a:r>
            <a:endParaRPr lang="en-US" dirty="0"/>
          </a:p>
        </p:txBody>
      </p:sp>
      <p:pic>
        <p:nvPicPr>
          <p:cNvPr id="12291" name="Picture 3"/>
          <p:cNvPicPr>
            <a:picLocks noChangeAspect="1" noChangeArrowheads="1"/>
          </p:cNvPicPr>
          <p:nvPr/>
        </p:nvPicPr>
        <p:blipFill>
          <a:blip r:embed="rId2" cstate="print"/>
          <a:srcRect/>
          <a:stretch>
            <a:fillRect/>
          </a:stretch>
        </p:blipFill>
        <p:spPr bwMode="auto">
          <a:xfrm>
            <a:off x="838200" y="2179437"/>
            <a:ext cx="7377070" cy="3306963"/>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200" dirty="0" smtClean="0"/>
              <a:t>13. Remove Lambda Execution Role</a:t>
            </a:r>
            <a:endParaRPr lang="en-US" sz="4200" dirty="0"/>
          </a:p>
        </p:txBody>
      </p:sp>
      <p:pic>
        <p:nvPicPr>
          <p:cNvPr id="13314" name="Picture 2"/>
          <p:cNvPicPr>
            <a:picLocks noChangeAspect="1" noChangeArrowheads="1"/>
          </p:cNvPicPr>
          <p:nvPr/>
        </p:nvPicPr>
        <p:blipFill>
          <a:blip r:embed="rId2" cstate="print"/>
          <a:srcRect/>
          <a:stretch>
            <a:fillRect/>
          </a:stretch>
        </p:blipFill>
        <p:spPr bwMode="auto">
          <a:xfrm>
            <a:off x="533400" y="2381469"/>
            <a:ext cx="7896640" cy="2647731"/>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3" y="1676402"/>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18857</TotalTime>
  <Words>339</Words>
  <Application>Microsoft Office PowerPoint</Application>
  <PresentationFormat>On-screen Show (4:3)</PresentationFormat>
  <Paragraphs>47</Paragraphs>
  <Slides>21</Slides>
  <Notes>9</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Amazon API Gateway</vt:lpstr>
      <vt:lpstr>Objectives</vt:lpstr>
      <vt:lpstr>Contents</vt:lpstr>
      <vt:lpstr>References</vt:lpstr>
      <vt:lpstr>Amazon API Gateway</vt:lpstr>
      <vt:lpstr>Notes</vt:lpstr>
      <vt:lpstr>Why API Gateway?</vt:lpstr>
      <vt:lpstr>1. Create a Lambda function</vt:lpstr>
      <vt:lpstr>2. Review default Lambda function code</vt:lpstr>
      <vt:lpstr>3. Create an HTTP API</vt:lpstr>
      <vt:lpstr>4. Add Integration for HTTP API</vt:lpstr>
      <vt:lpstr>5. Configure Integration</vt:lpstr>
      <vt:lpstr>6. Configure Route</vt:lpstr>
      <vt:lpstr>7. Define Stage</vt:lpstr>
      <vt:lpstr>8. Retrieve Invoke URL</vt:lpstr>
      <vt:lpstr>9. Append Lambda function to URL</vt:lpstr>
      <vt:lpstr>10. Remove API Gateway</vt:lpstr>
      <vt:lpstr>11. Remove Lambda Function</vt:lpstr>
      <vt:lpstr>12. Remove Lambda Log Group</vt:lpstr>
      <vt:lpstr>13. Remove Lambda Execution Role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5400</cp:revision>
  <dcterms:created xsi:type="dcterms:W3CDTF">2007-10-06T08:25:13Z</dcterms:created>
  <dcterms:modified xsi:type="dcterms:W3CDTF">2024-01-04T19:32:46Z</dcterms:modified>
</cp:coreProperties>
</file>