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23" r:id="rId2"/>
    <p:sldId id="424" r:id="rId3"/>
    <p:sldId id="425" r:id="rId4"/>
    <p:sldId id="426" r:id="rId5"/>
    <p:sldId id="401" r:id="rId6"/>
    <p:sldId id="403" r:id="rId7"/>
    <p:sldId id="402" r:id="rId8"/>
    <p:sldId id="414" r:id="rId9"/>
    <p:sldId id="376" r:id="rId10"/>
    <p:sldId id="377" r:id="rId11"/>
    <p:sldId id="378" r:id="rId12"/>
    <p:sldId id="407" r:id="rId13"/>
    <p:sldId id="408" r:id="rId14"/>
    <p:sldId id="409" r:id="rId15"/>
    <p:sldId id="410" r:id="rId16"/>
    <p:sldId id="411" r:id="rId17"/>
    <p:sldId id="412" r:id="rId18"/>
    <p:sldId id="439" r:id="rId19"/>
    <p:sldId id="413" r:id="rId20"/>
    <p:sldId id="442" r:id="rId21"/>
    <p:sldId id="440" r:id="rId22"/>
    <p:sldId id="441" r:id="rId23"/>
    <p:sldId id="443" r:id="rId24"/>
    <p:sldId id="396" r:id="rId25"/>
    <p:sldId id="386" r:id="rId26"/>
    <p:sldId id="427" r:id="rId27"/>
    <p:sldId id="400" r:id="rId28"/>
    <p:sldId id="404" r:id="rId29"/>
    <p:sldId id="405" r:id="rId30"/>
    <p:sldId id="406" r:id="rId31"/>
    <p:sldId id="416" r:id="rId32"/>
    <p:sldId id="417" r:id="rId33"/>
    <p:sldId id="418" r:id="rId34"/>
    <p:sldId id="421" r:id="rId35"/>
    <p:sldId id="422" r:id="rId36"/>
    <p:sldId id="419" r:id="rId37"/>
    <p:sldId id="420" r:id="rId38"/>
    <p:sldId id="428" r:id="rId39"/>
    <p:sldId id="431" r:id="rId40"/>
    <p:sldId id="397" r:id="rId41"/>
    <p:sldId id="382" r:id="rId42"/>
    <p:sldId id="398" r:id="rId43"/>
    <p:sldId id="399" r:id="rId44"/>
    <p:sldId id="393" r:id="rId45"/>
    <p:sldId id="438" r:id="rId46"/>
    <p:sldId id="436" r:id="rId47"/>
    <p:sldId id="435" r:id="rId48"/>
    <p:sldId id="434" r:id="rId49"/>
    <p:sldId id="437" r:id="rId50"/>
    <p:sldId id="395" r:id="rId51"/>
    <p:sldId id="343"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64" autoAdjust="0"/>
    <p:restoredTop sz="94660"/>
  </p:normalViewPr>
  <p:slideViewPr>
    <p:cSldViewPr>
      <p:cViewPr>
        <p:scale>
          <a:sx n="50" d="100"/>
          <a:sy n="50" d="100"/>
        </p:scale>
        <p:origin x="-1632" y="-40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BC163B-A334-4AF0-8F79-DA2B7EC4EC47}" type="datetimeFigureOut">
              <a:rPr lang="en-US" smtClean="0"/>
              <a:pPr/>
              <a:t>12/30/2023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3B51A9-7D3A-4012-9382-6DE3942971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paessler.co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www.ietf.org/"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noAutofit/>
          </a:bodyPr>
          <a:lstStyle/>
          <a:p>
            <a:r>
              <a:rPr lang="en-US" sz="5400" dirty="0" smtClean="0"/>
              <a:t>Introduction to Computer Networks</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0"/>
            <a:ext cx="5257800" cy="4343400"/>
          </a:xfrm>
        </p:spPr>
        <p:txBody>
          <a:bodyPr/>
          <a:lstStyle/>
          <a:p>
            <a:pPr marL="457200" indent="-457200">
              <a:buFont typeface="Wingdings" pitchFamily="2" charset="2"/>
              <a:buChar char="Ø"/>
            </a:pPr>
            <a:endParaRPr lang="en-US" sz="2200" i="1" dirty="0" smtClean="0">
              <a:solidFill>
                <a:srgbClr val="C00000"/>
              </a:solidFill>
            </a:endParaRPr>
          </a:p>
        </p:txBody>
      </p:sp>
      <p:pic>
        <p:nvPicPr>
          <p:cNvPr id="4" name="Picture 2"/>
          <p:cNvPicPr>
            <a:picLocks noChangeAspect="1" noChangeArrowheads="1"/>
          </p:cNvPicPr>
          <p:nvPr/>
        </p:nvPicPr>
        <p:blipFill>
          <a:blip r:embed="rId2" cstate="print"/>
          <a:srcRect/>
          <a:stretch>
            <a:fillRect/>
          </a:stretch>
        </p:blipFill>
        <p:spPr bwMode="auto">
          <a:xfrm>
            <a:off x="6000750" y="260985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Computer Networks</a:t>
            </a:r>
          </a:p>
          <a:p>
            <a:pPr marL="571500" indent="-571500">
              <a:buFont typeface="+mj-lt"/>
              <a:buAutoNum type="romanUcPeriod"/>
            </a:pPr>
            <a:r>
              <a:rPr lang="en-US" sz="2400" dirty="0" smtClean="0"/>
              <a:t>Network Software</a:t>
            </a:r>
            <a:endParaRPr lang="en-US" sz="2400" dirty="0" smtClean="0"/>
          </a:p>
          <a:p>
            <a:pPr marL="571500" indent="-571500">
              <a:buFont typeface="+mj-lt"/>
              <a:buAutoNum type="romanUcPeriod"/>
            </a:pPr>
            <a:r>
              <a:rPr lang="en-US" sz="2400" dirty="0" smtClean="0"/>
              <a:t>Network </a:t>
            </a:r>
            <a:r>
              <a:rPr lang="en-US" sz="2400" dirty="0" smtClean="0"/>
              <a:t>Protocols</a:t>
            </a:r>
          </a:p>
          <a:p>
            <a:pPr marL="571500" indent="-571500">
              <a:buFont typeface="+mj-lt"/>
              <a:buAutoNum type="romanUcPeriod"/>
            </a:pPr>
            <a:r>
              <a:rPr lang="en-US" sz="2400" dirty="0" smtClean="0"/>
              <a:t>The OSI Reference Model</a:t>
            </a:r>
            <a:endParaRPr lang="en-US" sz="2400" dirty="0" smtClean="0"/>
          </a:p>
          <a:p>
            <a:pPr marL="571500" indent="-571500">
              <a:buFont typeface="+mj-lt"/>
              <a:buAutoNum type="romanUcPeriod"/>
            </a:pPr>
            <a:r>
              <a:rPr lang="en-US" sz="2400" dirty="0" smtClean="0"/>
              <a:t>The </a:t>
            </a:r>
            <a:r>
              <a:rPr lang="en-US" sz="2400" dirty="0" smtClean="0"/>
              <a:t>TCP/IP Reference </a:t>
            </a:r>
            <a:r>
              <a:rPr lang="en-US" sz="2400" dirty="0" smtClean="0"/>
              <a:t>Model</a:t>
            </a:r>
          </a:p>
          <a:p>
            <a:pPr marL="571500" indent="-571500">
              <a:buFont typeface="+mj-lt"/>
              <a:buAutoNum type="romanUcPeriod"/>
            </a:pPr>
            <a:r>
              <a:rPr lang="en-US" sz="2400" dirty="0" smtClean="0"/>
              <a:t>The TCP/IP 5-Layer Model</a:t>
            </a: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257800" cy="4525963"/>
          </a:xfrm>
        </p:spPr>
        <p:txBody>
          <a:bodyPr/>
          <a:lstStyle/>
          <a:p>
            <a:pPr marL="514350" indent="-514350">
              <a:buFont typeface="+mj-lt"/>
              <a:buAutoNum type="arabicPeriod"/>
            </a:pPr>
            <a:r>
              <a:rPr lang="en-US" sz="2400" dirty="0" smtClean="0"/>
              <a:t>Andrew S. </a:t>
            </a:r>
            <a:r>
              <a:rPr lang="en-US" sz="2400" dirty="0" err="1" smtClean="0"/>
              <a:t>Tanenbaum</a:t>
            </a:r>
            <a:r>
              <a:rPr lang="en-US" sz="2400" dirty="0" smtClean="0"/>
              <a:t> and David J. </a:t>
            </a:r>
            <a:r>
              <a:rPr lang="en-US" sz="2400" dirty="0" err="1" smtClean="0"/>
              <a:t>Wetherall</a:t>
            </a:r>
            <a:r>
              <a:rPr lang="en-US" sz="2400" dirty="0" smtClean="0"/>
              <a:t> (2014). Computer Networks. Pearson Education.</a:t>
            </a:r>
          </a:p>
          <a:p>
            <a:pPr marL="514350" indent="-514350">
              <a:buFont typeface="+mj-lt"/>
              <a:buAutoNum type="arabicPeriod"/>
            </a:pPr>
            <a:r>
              <a:rPr lang="en-US" sz="2400" dirty="0" err="1" smtClean="0"/>
              <a:t>Reinhard</a:t>
            </a:r>
            <a:r>
              <a:rPr lang="en-US" sz="2400" dirty="0" smtClean="0"/>
              <a:t> </a:t>
            </a:r>
            <a:r>
              <a:rPr lang="en-US" sz="2400" dirty="0" err="1" smtClean="0"/>
              <a:t>Voglmaier</a:t>
            </a:r>
            <a:r>
              <a:rPr lang="en-US" sz="2400" dirty="0" smtClean="0"/>
              <a:t> (2004). The ABCs of LDAP: How to Install, Run, and Administer LDAP Services.</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191250" y="1676400"/>
            <a:ext cx="2724150" cy="413385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Needs</a:t>
            </a:r>
            <a:endParaRPr lang="en-US" dirty="0"/>
          </a:p>
        </p:txBody>
      </p:sp>
      <p:sp>
        <p:nvSpPr>
          <p:cNvPr id="3" name="Content Placeholder 2"/>
          <p:cNvSpPr>
            <a:spLocks noGrp="1"/>
          </p:cNvSpPr>
          <p:nvPr>
            <p:ph idx="1"/>
          </p:nvPr>
        </p:nvSpPr>
        <p:spPr/>
        <p:txBody>
          <a:bodyPr>
            <a:noAutofit/>
          </a:bodyPr>
          <a:lstStyle/>
          <a:p>
            <a:pPr lvl="0"/>
            <a:r>
              <a:rPr lang="en-US" sz="2300" dirty="0" smtClean="0"/>
              <a:t>Bandwidth and IP monitoring: firewalls support this</a:t>
            </a:r>
          </a:p>
          <a:p>
            <a:pPr lvl="0"/>
            <a:r>
              <a:rPr lang="en-US" sz="2300" dirty="0" smtClean="0"/>
              <a:t>Hypervisors and servers status monitoring: the built-in heath monitoring features of </a:t>
            </a:r>
            <a:r>
              <a:rPr lang="en-US" sz="2300" dirty="0" err="1" smtClean="0"/>
              <a:t>VMWare</a:t>
            </a:r>
            <a:r>
              <a:rPr lang="en-US" sz="2300" dirty="0" smtClean="0"/>
              <a:t> and Server 2012 and Pingdom.com</a:t>
            </a:r>
          </a:p>
          <a:p>
            <a:pPr lvl="0"/>
            <a:r>
              <a:rPr lang="en-US" sz="2300" dirty="0" smtClean="0"/>
              <a:t>SQL and application instances monitoring: built-in heath monitoring features of SQL and applications and Pingdom.com</a:t>
            </a:r>
          </a:p>
          <a:p>
            <a:pPr lvl="0"/>
            <a:r>
              <a:rPr lang="en-US" sz="2300" dirty="0" smtClean="0"/>
              <a:t>OS and SQL updates: the updates should be downloaded automatically and manually reviewed and released (once a month)</a:t>
            </a:r>
          </a:p>
          <a:p>
            <a:pPr lvl="0"/>
            <a:r>
              <a:rPr lang="en-US" sz="2300" dirty="0" smtClean="0"/>
              <a:t>Security monitoring: this should be reviewed manually together with using some scanning tools  (every 6 months)</a:t>
            </a:r>
          </a:p>
          <a:p>
            <a:pPr lvl="0"/>
            <a:r>
              <a:rPr lang="en-US" sz="2300" dirty="0" smtClean="0"/>
              <a:t>Performance monitoring: load time, load size</a:t>
            </a:r>
            <a:endParaRPr lang="en-US" sz="2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Speed Check</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381000" y="1981200"/>
            <a:ext cx="8377733" cy="363474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Monitoring Tools</a:t>
            </a:r>
            <a:endParaRPr lang="en-US" dirty="0"/>
          </a:p>
        </p:txBody>
      </p:sp>
      <p:sp>
        <p:nvSpPr>
          <p:cNvPr id="3" name="Content Placeholder 2"/>
          <p:cNvSpPr>
            <a:spLocks noGrp="1"/>
          </p:cNvSpPr>
          <p:nvPr>
            <p:ph idx="1"/>
          </p:nvPr>
        </p:nvSpPr>
        <p:spPr/>
        <p:txBody>
          <a:bodyPr>
            <a:normAutofit/>
          </a:bodyPr>
          <a:lstStyle/>
          <a:p>
            <a:r>
              <a:rPr lang="en-US" sz="2000" dirty="0" smtClean="0">
                <a:hlinkClick r:id="rId2"/>
              </a:rPr>
              <a:t>https://www.paessler.com/</a:t>
            </a:r>
            <a:endParaRPr lang="en-US" sz="2000" dirty="0" smtClean="0"/>
          </a:p>
          <a:p>
            <a:r>
              <a:rPr lang="en-US" sz="2000" dirty="0" smtClean="0"/>
              <a:t>These tools cannot understand (and collect data from) servers/OS/SQL/applications better than the servers/OS/SQL/applications themselves.</a:t>
            </a:r>
          </a:p>
          <a:p>
            <a:r>
              <a:rPr lang="en-US" sz="2000" dirty="0" smtClean="0"/>
              <a:t>These tools consume much resources and increase bandwidth.</a:t>
            </a:r>
          </a:p>
          <a:p>
            <a:r>
              <a:rPr lang="en-US" sz="2000" dirty="0" smtClean="0"/>
              <a:t>These tools are installed inside our network. It means that our network issues can affect them. A remote tools (like Pingdom.com) do not suffer this.</a:t>
            </a:r>
          </a:p>
          <a:p>
            <a:r>
              <a:rPr lang="en-US" sz="2000" dirty="0" smtClean="0"/>
              <a:t>The tools can create security breaches themselves.</a:t>
            </a:r>
          </a:p>
          <a:p>
            <a:r>
              <a:rPr lang="en-US" sz="2000" dirty="0" smtClean="0"/>
              <a:t>IMO a network monitoring tool is only useful if we have a very large number of servers and very complicated network and applications and we need centralized visualized and detailed reports.</a:t>
            </a:r>
          </a:p>
          <a:p>
            <a:r>
              <a:rPr lang="en-US" sz="2000" dirty="0" smtClean="0"/>
              <a:t>I believe that built-in features and email and SMS notifications are enough for small number of servers.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Computer Networks </a:t>
            </a:r>
            <a:r>
              <a:rPr lang="en-US" dirty="0" smtClean="0"/>
              <a:t>[1]</a:t>
            </a:r>
            <a:endParaRPr lang="en-US" dirty="0"/>
          </a:p>
        </p:txBody>
      </p:sp>
      <p:sp>
        <p:nvSpPr>
          <p:cNvPr id="3" name="Content Placeholder 2"/>
          <p:cNvSpPr>
            <a:spLocks noGrp="1"/>
          </p:cNvSpPr>
          <p:nvPr>
            <p:ph idx="1"/>
          </p:nvPr>
        </p:nvSpPr>
        <p:spPr>
          <a:xfrm>
            <a:off x="533400" y="1676400"/>
            <a:ext cx="8229600" cy="4525963"/>
          </a:xfrm>
        </p:spPr>
        <p:txBody>
          <a:bodyPr>
            <a:noAutofit/>
          </a:bodyPr>
          <a:lstStyle/>
          <a:p>
            <a:r>
              <a:rPr lang="en-US" sz="2400" i="1" dirty="0" smtClean="0">
                <a:solidFill>
                  <a:srgbClr val="C00000"/>
                </a:solidFill>
              </a:rPr>
              <a:t>Computer network</a:t>
            </a:r>
            <a:r>
              <a:rPr lang="en-US" sz="2400" dirty="0" smtClean="0"/>
              <a:t>: A large number of separate but interconnected computers</a:t>
            </a:r>
            <a:r>
              <a:rPr lang="en-US" sz="2400" dirty="0" smtClean="0"/>
              <a:t>.</a:t>
            </a:r>
            <a:endParaRPr lang="en-US" sz="2400" dirty="0"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Computer Networks?</a:t>
            </a:r>
            <a:endParaRPr lang="en-US" dirty="0"/>
          </a:p>
        </p:txBody>
      </p:sp>
      <p:sp>
        <p:nvSpPr>
          <p:cNvPr id="3" name="Content Placeholder 2"/>
          <p:cNvSpPr>
            <a:spLocks noGrp="1"/>
          </p:cNvSpPr>
          <p:nvPr>
            <p:ph idx="1"/>
          </p:nvPr>
        </p:nvSpPr>
        <p:spPr>
          <a:xfrm>
            <a:off x="457200" y="1600201"/>
            <a:ext cx="8229600" cy="2209800"/>
          </a:xfrm>
        </p:spPr>
        <p:txBody>
          <a:bodyPr>
            <a:normAutofit/>
          </a:bodyPr>
          <a:lstStyle/>
          <a:p>
            <a:r>
              <a:rPr lang="en-US" sz="2800" u="sng" dirty="0" smtClean="0"/>
              <a:t>Resource sharing</a:t>
            </a:r>
          </a:p>
          <a:p>
            <a:pPr lvl="1"/>
            <a:r>
              <a:rPr lang="en-US" sz="2400" dirty="0" smtClean="0"/>
              <a:t>The data are stored on powerful computers called </a:t>
            </a:r>
            <a:r>
              <a:rPr lang="en-US" sz="2400" i="1" dirty="0" smtClean="0">
                <a:solidFill>
                  <a:srgbClr val="C00000"/>
                </a:solidFill>
              </a:rPr>
              <a:t>servers</a:t>
            </a:r>
            <a:r>
              <a:rPr lang="en-US" sz="2400" dirty="0" smtClean="0"/>
              <a:t>.</a:t>
            </a:r>
          </a:p>
          <a:p>
            <a:pPr lvl="1"/>
            <a:r>
              <a:rPr lang="en-US" sz="2400" dirty="0" smtClean="0"/>
              <a:t>The employees have simpler machines, called </a:t>
            </a:r>
            <a:r>
              <a:rPr lang="en-US" sz="2400" i="1" dirty="0" smtClean="0">
                <a:solidFill>
                  <a:srgbClr val="C00000"/>
                </a:solidFill>
              </a:rPr>
              <a:t>clients</a:t>
            </a:r>
            <a:r>
              <a:rPr lang="en-US" sz="2400" dirty="0" smtClean="0"/>
              <a:t>, on their desks, with which they access remote data.</a:t>
            </a:r>
          </a:p>
          <a:p>
            <a:pPr lvl="1"/>
            <a:r>
              <a:rPr lang="en-US" sz="2400" dirty="0" smtClean="0"/>
              <a:t>This whole arrangement is called the </a:t>
            </a:r>
            <a:r>
              <a:rPr lang="en-US" sz="2400" i="1" dirty="0" smtClean="0">
                <a:solidFill>
                  <a:srgbClr val="C00000"/>
                </a:solidFill>
              </a:rPr>
              <a:t>client-server model</a:t>
            </a:r>
            <a:r>
              <a:rPr lang="en-US" sz="2400" dirty="0" smtClean="0"/>
              <a:t>.</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1957388" y="4016375"/>
            <a:ext cx="5229225" cy="253682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Peer-to-Peer System</a:t>
            </a:r>
            <a:endParaRPr lang="en-US" dirty="0"/>
          </a:p>
        </p:txBody>
      </p:sp>
      <p:sp>
        <p:nvSpPr>
          <p:cNvPr id="3" name="Content Placeholder 2"/>
          <p:cNvSpPr>
            <a:spLocks noGrp="1"/>
          </p:cNvSpPr>
          <p:nvPr>
            <p:ph idx="1"/>
          </p:nvPr>
        </p:nvSpPr>
        <p:spPr>
          <a:xfrm>
            <a:off x="457200" y="1600200"/>
            <a:ext cx="8229600" cy="1447799"/>
          </a:xfrm>
        </p:spPr>
        <p:txBody>
          <a:bodyPr>
            <a:normAutofit/>
          </a:bodyPr>
          <a:lstStyle/>
          <a:p>
            <a:r>
              <a:rPr lang="en-US" sz="2800" dirty="0" smtClean="0"/>
              <a:t>In a peer-to-peer system there are no fixed clients and servers.</a:t>
            </a:r>
          </a:p>
          <a:p>
            <a:r>
              <a:rPr lang="en-US" sz="2800" dirty="0" smtClean="0"/>
              <a:t>Example: </a:t>
            </a:r>
            <a:r>
              <a:rPr lang="en-US" sz="2800" dirty="0" err="1" smtClean="0"/>
              <a:t>BitTorrent</a:t>
            </a:r>
            <a:endParaRPr lang="en-US" sz="2800" dirty="0"/>
          </a:p>
        </p:txBody>
      </p:sp>
      <p:pic>
        <p:nvPicPr>
          <p:cNvPr id="2051" name="Picture 3"/>
          <p:cNvPicPr>
            <a:picLocks noChangeAspect="1" noChangeArrowheads="1"/>
          </p:cNvPicPr>
          <p:nvPr/>
        </p:nvPicPr>
        <p:blipFill>
          <a:blip r:embed="rId2" cstate="print"/>
          <a:srcRect/>
          <a:stretch>
            <a:fillRect/>
          </a:stretch>
        </p:blipFill>
        <p:spPr bwMode="auto">
          <a:xfrm>
            <a:off x="1430338" y="3225800"/>
            <a:ext cx="6283325" cy="29464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Personal Area Networks</a:t>
            </a:r>
            <a:endParaRPr lang="en-US" dirty="0"/>
          </a:p>
        </p:txBody>
      </p:sp>
      <p:sp>
        <p:nvSpPr>
          <p:cNvPr id="3" name="Content Placeholder 2"/>
          <p:cNvSpPr>
            <a:spLocks noGrp="1"/>
          </p:cNvSpPr>
          <p:nvPr>
            <p:ph idx="1"/>
          </p:nvPr>
        </p:nvSpPr>
        <p:spPr>
          <a:xfrm>
            <a:off x="457200" y="1600200"/>
            <a:ext cx="3886200" cy="4525963"/>
          </a:xfrm>
        </p:spPr>
        <p:txBody>
          <a:bodyPr>
            <a:noAutofit/>
          </a:bodyPr>
          <a:lstStyle/>
          <a:p>
            <a:r>
              <a:rPr lang="en-US" sz="2800" dirty="0" smtClean="0"/>
              <a:t>PANs (Personal Area Networks) let devices communicate over </a:t>
            </a:r>
            <a:r>
              <a:rPr lang="en-US" sz="2800" i="1" dirty="0" smtClean="0">
                <a:solidFill>
                  <a:srgbClr val="C00000"/>
                </a:solidFill>
              </a:rPr>
              <a:t>the range of a person</a:t>
            </a:r>
            <a:r>
              <a:rPr lang="en-US" sz="2800" dirty="0" smtClean="0"/>
              <a:t>.</a:t>
            </a:r>
          </a:p>
          <a:p>
            <a:r>
              <a:rPr lang="en-US" sz="2800" dirty="0" smtClean="0"/>
              <a:t>A common example is a wireless network that connects a computer with its peripherals.</a:t>
            </a:r>
          </a:p>
          <a:p>
            <a:r>
              <a:rPr lang="en-US" sz="2800" dirty="0" smtClean="0"/>
              <a:t>Example: Bluetooth</a:t>
            </a:r>
            <a:endParaRPr lang="en-US" sz="2800" dirty="0"/>
          </a:p>
        </p:txBody>
      </p:sp>
      <p:pic>
        <p:nvPicPr>
          <p:cNvPr id="1027" name="Picture 3"/>
          <p:cNvPicPr>
            <a:picLocks noChangeAspect="1" noChangeArrowheads="1"/>
          </p:cNvPicPr>
          <p:nvPr/>
        </p:nvPicPr>
        <p:blipFill>
          <a:blip r:embed="rId2" cstate="print"/>
          <a:srcRect/>
          <a:stretch>
            <a:fillRect/>
          </a:stretch>
        </p:blipFill>
        <p:spPr bwMode="auto">
          <a:xfrm>
            <a:off x="4457700" y="2057400"/>
            <a:ext cx="4381500" cy="374015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Local Area Networks</a:t>
            </a:r>
            <a:endParaRPr lang="en-US" dirty="0"/>
          </a:p>
        </p:txBody>
      </p:sp>
      <p:sp>
        <p:nvSpPr>
          <p:cNvPr id="3" name="Content Placeholder 2"/>
          <p:cNvSpPr>
            <a:spLocks noGrp="1"/>
          </p:cNvSpPr>
          <p:nvPr>
            <p:ph idx="1"/>
          </p:nvPr>
        </p:nvSpPr>
        <p:spPr>
          <a:xfrm>
            <a:off x="457200" y="1600201"/>
            <a:ext cx="8229600" cy="2590800"/>
          </a:xfrm>
        </p:spPr>
        <p:txBody>
          <a:bodyPr>
            <a:normAutofit/>
          </a:bodyPr>
          <a:lstStyle/>
          <a:p>
            <a:r>
              <a:rPr lang="en-US" sz="2200" dirty="0" smtClean="0"/>
              <a:t>A LAN is a privately owned network that operates within and nearby </a:t>
            </a:r>
            <a:r>
              <a:rPr lang="en-US" sz="2200" i="1" dirty="0" smtClean="0">
                <a:solidFill>
                  <a:srgbClr val="C00000"/>
                </a:solidFill>
              </a:rPr>
              <a:t>a single building</a:t>
            </a:r>
            <a:r>
              <a:rPr lang="en-US" sz="2200" dirty="0" smtClean="0"/>
              <a:t> like a home, office or factory.</a:t>
            </a:r>
          </a:p>
          <a:p>
            <a:r>
              <a:rPr lang="en-US" sz="2200" dirty="0" smtClean="0"/>
              <a:t>LANs are widely used to connect personal computers and consumer electronics to let them share resources (e.g., printers) and exchange information.</a:t>
            </a:r>
          </a:p>
          <a:p>
            <a:r>
              <a:rPr lang="en-US" sz="2200" dirty="0" smtClean="0"/>
              <a:t>When LANs are used by companies, they are called enterprise networks.</a:t>
            </a:r>
            <a:endParaRPr lang="en-US" sz="2200" dirty="0"/>
          </a:p>
        </p:txBody>
      </p:sp>
      <p:pic>
        <p:nvPicPr>
          <p:cNvPr id="2050" name="Picture 2"/>
          <p:cNvPicPr>
            <a:picLocks noChangeAspect="1" noChangeArrowheads="1"/>
          </p:cNvPicPr>
          <p:nvPr/>
        </p:nvPicPr>
        <p:blipFill>
          <a:blip r:embed="rId2" cstate="print"/>
          <a:srcRect/>
          <a:stretch>
            <a:fillRect/>
          </a:stretch>
        </p:blipFill>
        <p:spPr bwMode="auto">
          <a:xfrm>
            <a:off x="1874838" y="4324350"/>
            <a:ext cx="5394325" cy="222885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7" name="Picture 5"/>
          <p:cNvPicPr>
            <a:picLocks noChangeAspect="1" noChangeArrowheads="1"/>
          </p:cNvPicPr>
          <p:nvPr/>
        </p:nvPicPr>
        <p:blipFill>
          <a:blip r:embed="rId2" cstate="print"/>
          <a:srcRect/>
          <a:stretch>
            <a:fillRect/>
          </a:stretch>
        </p:blipFill>
        <p:spPr bwMode="auto">
          <a:xfrm>
            <a:off x="3159125" y="1828800"/>
            <a:ext cx="5756275" cy="36480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Wide Area Networks</a:t>
            </a:r>
            <a:endParaRPr lang="en-US" dirty="0"/>
          </a:p>
        </p:txBody>
      </p:sp>
      <p:sp>
        <p:nvSpPr>
          <p:cNvPr id="3" name="Content Placeholder 2"/>
          <p:cNvSpPr>
            <a:spLocks noGrp="1"/>
          </p:cNvSpPr>
          <p:nvPr>
            <p:ph idx="1"/>
          </p:nvPr>
        </p:nvSpPr>
        <p:spPr>
          <a:xfrm>
            <a:off x="381000" y="1600200"/>
            <a:ext cx="2895600" cy="4525963"/>
          </a:xfrm>
        </p:spPr>
        <p:txBody>
          <a:bodyPr>
            <a:normAutofit/>
          </a:bodyPr>
          <a:lstStyle/>
          <a:p>
            <a:r>
              <a:rPr lang="en-US" sz="2400" dirty="0" smtClean="0"/>
              <a:t>A WAN (Wide Area Network) spans a large geographical area, often a country or continent.</a:t>
            </a:r>
          </a:p>
          <a:p>
            <a:r>
              <a:rPr lang="en-US" sz="2400" dirty="0" smtClean="0"/>
              <a:t>Example: A network that connects offices in Perth, Melbourne, and Brisbane.</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WAN Terminologies</a:t>
            </a:r>
            <a:endParaRPr lang="en-US" dirty="0"/>
          </a:p>
        </p:txBody>
      </p:sp>
      <p:sp>
        <p:nvSpPr>
          <p:cNvPr id="3" name="Content Placeholder 2"/>
          <p:cNvSpPr>
            <a:spLocks noGrp="1"/>
          </p:cNvSpPr>
          <p:nvPr>
            <p:ph idx="1"/>
          </p:nvPr>
        </p:nvSpPr>
        <p:spPr/>
        <p:txBody>
          <a:bodyPr>
            <a:normAutofit/>
          </a:bodyPr>
          <a:lstStyle/>
          <a:p>
            <a:r>
              <a:rPr lang="en-US" sz="2400" dirty="0" smtClean="0"/>
              <a:t>We will follow traditional usage and call these machines </a:t>
            </a:r>
            <a:r>
              <a:rPr lang="en-US" sz="2400" i="1" dirty="0" smtClean="0">
                <a:solidFill>
                  <a:srgbClr val="C00000"/>
                </a:solidFill>
              </a:rPr>
              <a:t>hosts</a:t>
            </a:r>
            <a:r>
              <a:rPr lang="en-US" sz="2400" dirty="0" smtClean="0"/>
              <a:t>.</a:t>
            </a:r>
          </a:p>
          <a:p>
            <a:r>
              <a:rPr lang="en-US" sz="2400" dirty="0" smtClean="0"/>
              <a:t>The rest of the network that connects these hosts is then called the </a:t>
            </a:r>
            <a:r>
              <a:rPr lang="en-US" sz="2400" i="1" dirty="0" smtClean="0">
                <a:solidFill>
                  <a:srgbClr val="C00000"/>
                </a:solidFill>
              </a:rPr>
              <a:t>communication subnet</a:t>
            </a:r>
            <a:r>
              <a:rPr lang="en-US" sz="2400" dirty="0" smtClean="0"/>
              <a:t>, or just </a:t>
            </a:r>
            <a:r>
              <a:rPr lang="en-US" sz="2400" i="1" dirty="0" smtClean="0">
                <a:solidFill>
                  <a:srgbClr val="C00000"/>
                </a:solidFill>
              </a:rPr>
              <a:t>subnet</a:t>
            </a:r>
            <a:r>
              <a:rPr lang="en-US" sz="2400" dirty="0" smtClean="0"/>
              <a:t> for short.</a:t>
            </a:r>
          </a:p>
          <a:p>
            <a:r>
              <a:rPr lang="en-US" sz="2400" dirty="0" smtClean="0"/>
              <a:t>In most WANs, the subnet consists of two distinct components: transmission lines and switching elements.</a:t>
            </a:r>
          </a:p>
          <a:p>
            <a:r>
              <a:rPr lang="en-US" sz="2400" i="1" dirty="0" smtClean="0">
                <a:solidFill>
                  <a:srgbClr val="C00000"/>
                </a:solidFill>
              </a:rPr>
              <a:t>Transmission lines</a:t>
            </a:r>
            <a:r>
              <a:rPr lang="en-US" sz="2400" dirty="0" smtClean="0"/>
              <a:t> move bits between machines.</a:t>
            </a:r>
          </a:p>
          <a:p>
            <a:r>
              <a:rPr lang="en-US" sz="2400" dirty="0" smtClean="0"/>
              <a:t>Switching elements, or just </a:t>
            </a:r>
            <a:r>
              <a:rPr lang="en-US" sz="2400" i="1" dirty="0" smtClean="0">
                <a:solidFill>
                  <a:srgbClr val="C00000"/>
                </a:solidFill>
              </a:rPr>
              <a:t>switches</a:t>
            </a:r>
            <a:r>
              <a:rPr lang="en-US" sz="2400" dirty="0" smtClean="0"/>
              <a:t>, are specialized computers that connect two or more transmission lines.</a:t>
            </a:r>
          </a:p>
          <a:p>
            <a:r>
              <a:rPr lang="en-US" sz="2400" dirty="0" smtClean="0"/>
              <a:t>These switching computers have been called by various names in the past; the name </a:t>
            </a:r>
            <a:r>
              <a:rPr lang="en-US" sz="2400" i="1" dirty="0" smtClean="0">
                <a:solidFill>
                  <a:srgbClr val="C00000"/>
                </a:solidFill>
              </a:rPr>
              <a:t>router</a:t>
            </a:r>
            <a:r>
              <a:rPr lang="en-US" sz="2400" dirty="0" smtClean="0"/>
              <a:t> is now most commonly used.</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Virtual Private Networks</a:t>
            </a:r>
            <a:endParaRPr lang="en-US" dirty="0"/>
          </a:p>
        </p:txBody>
      </p:sp>
      <p:sp>
        <p:nvSpPr>
          <p:cNvPr id="3" name="Content Placeholder 2"/>
          <p:cNvSpPr>
            <a:spLocks noGrp="1"/>
          </p:cNvSpPr>
          <p:nvPr>
            <p:ph idx="1"/>
          </p:nvPr>
        </p:nvSpPr>
        <p:spPr>
          <a:xfrm>
            <a:off x="457200" y="1600201"/>
            <a:ext cx="8229600" cy="1524000"/>
          </a:xfrm>
        </p:spPr>
        <p:txBody>
          <a:bodyPr>
            <a:normAutofit/>
          </a:bodyPr>
          <a:lstStyle/>
          <a:p>
            <a:r>
              <a:rPr lang="en-US" sz="2200" dirty="0" smtClean="0"/>
              <a:t>Rather than lease dedicated transmission lines, a company might connect its offices to the Internet.</a:t>
            </a:r>
          </a:p>
          <a:p>
            <a:r>
              <a:rPr lang="en-US" sz="2200" dirty="0" smtClean="0"/>
              <a:t>This allows connections to be made between the offices as virtual links that use the underlying capacity of the Internet.</a:t>
            </a:r>
            <a:endParaRPr lang="en-US" sz="2200" dirty="0"/>
          </a:p>
        </p:txBody>
      </p:sp>
      <p:pic>
        <p:nvPicPr>
          <p:cNvPr id="4099" name="Picture 3"/>
          <p:cNvPicPr>
            <a:picLocks noChangeAspect="1" noChangeArrowheads="1"/>
          </p:cNvPicPr>
          <p:nvPr/>
        </p:nvPicPr>
        <p:blipFill>
          <a:blip r:embed="rId2" cstate="print"/>
          <a:srcRect/>
          <a:stretch>
            <a:fillRect/>
          </a:stretch>
        </p:blipFill>
        <p:spPr bwMode="auto">
          <a:xfrm>
            <a:off x="1795463" y="3101975"/>
            <a:ext cx="5553075" cy="352742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4267200" y="2362200"/>
            <a:ext cx="4533900" cy="26828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ISP Networks</a:t>
            </a:r>
            <a:endParaRPr lang="en-US" dirty="0"/>
          </a:p>
        </p:txBody>
      </p:sp>
      <p:sp>
        <p:nvSpPr>
          <p:cNvPr id="3" name="Content Placeholder 2"/>
          <p:cNvSpPr>
            <a:spLocks noGrp="1"/>
          </p:cNvSpPr>
          <p:nvPr>
            <p:ph idx="1"/>
          </p:nvPr>
        </p:nvSpPr>
        <p:spPr>
          <a:xfrm>
            <a:off x="304800" y="1600200"/>
            <a:ext cx="4038600" cy="4525963"/>
          </a:xfrm>
        </p:spPr>
        <p:txBody>
          <a:bodyPr>
            <a:noAutofit/>
          </a:bodyPr>
          <a:lstStyle/>
          <a:p>
            <a:r>
              <a:rPr lang="en-US" sz="2000" dirty="0" smtClean="0"/>
              <a:t>The subnet may be run by a different company.</a:t>
            </a:r>
          </a:p>
          <a:p>
            <a:r>
              <a:rPr lang="en-US" sz="2000" dirty="0" smtClean="0"/>
              <a:t>The subnet operator is known as a network service provider and the offices are its customers.</a:t>
            </a:r>
          </a:p>
          <a:p>
            <a:r>
              <a:rPr lang="en-US" sz="2000" dirty="0" smtClean="0"/>
              <a:t>The subnet operator will connect to other customers too, as long as they can pay and it can provide service.</a:t>
            </a:r>
          </a:p>
          <a:p>
            <a:r>
              <a:rPr lang="en-US" sz="2000" dirty="0" smtClean="0"/>
              <a:t>Such a subnet operator is called an ISP (Internet Service Provider) and the subnet is an ISP network. Its customers who connect to the ISP receive Internet service.</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Internet</a:t>
            </a:r>
            <a:endParaRPr lang="en-US" dirty="0"/>
          </a:p>
        </p:txBody>
      </p:sp>
      <p:sp>
        <p:nvSpPr>
          <p:cNvPr id="3" name="Content Placeholder 2"/>
          <p:cNvSpPr>
            <a:spLocks noGrp="1"/>
          </p:cNvSpPr>
          <p:nvPr>
            <p:ph idx="1"/>
          </p:nvPr>
        </p:nvSpPr>
        <p:spPr/>
        <p:txBody>
          <a:bodyPr>
            <a:normAutofit/>
          </a:bodyPr>
          <a:lstStyle/>
          <a:p>
            <a:r>
              <a:rPr lang="en-US" sz="2400" dirty="0" smtClean="0"/>
              <a:t>The </a:t>
            </a:r>
            <a:r>
              <a:rPr lang="en-US" sz="2400" i="1" dirty="0" smtClean="0">
                <a:solidFill>
                  <a:srgbClr val="C00000"/>
                </a:solidFill>
              </a:rPr>
              <a:t>Internet</a:t>
            </a:r>
            <a:r>
              <a:rPr lang="en-US" sz="2400" dirty="0" smtClean="0"/>
              <a:t> being the most well-known example of a network of networks.</a:t>
            </a:r>
          </a:p>
          <a:p>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Software</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Systems</a:t>
            </a:r>
            <a:endParaRPr lang="en-US" dirty="0"/>
          </a:p>
        </p:txBody>
      </p:sp>
      <p:sp>
        <p:nvSpPr>
          <p:cNvPr id="3" name="Content Placeholder 2"/>
          <p:cNvSpPr>
            <a:spLocks noGrp="1"/>
          </p:cNvSpPr>
          <p:nvPr>
            <p:ph idx="1"/>
          </p:nvPr>
        </p:nvSpPr>
        <p:spPr/>
        <p:txBody>
          <a:bodyPr>
            <a:normAutofit/>
          </a:bodyPr>
          <a:lstStyle/>
          <a:p>
            <a:r>
              <a:rPr lang="en-US" sz="2400" dirty="0" smtClean="0"/>
              <a:t>A </a:t>
            </a:r>
            <a:r>
              <a:rPr lang="en-US" sz="2400" i="1" dirty="0" smtClean="0">
                <a:solidFill>
                  <a:srgbClr val="C00000"/>
                </a:solidFill>
              </a:rPr>
              <a:t>distributed system</a:t>
            </a:r>
            <a:r>
              <a:rPr lang="en-US" sz="2400" dirty="0" smtClean="0"/>
              <a:t>: a collection of independent computers appears to its users as a </a:t>
            </a:r>
            <a:r>
              <a:rPr lang="en-US" sz="2400" u="sng" dirty="0" smtClean="0"/>
              <a:t>single coherent system</a:t>
            </a:r>
            <a:r>
              <a:rPr lang="en-US" sz="2400" dirty="0" smtClean="0"/>
              <a:t>.</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World Wide Web</a:t>
            </a:r>
            <a:endParaRPr lang="en-US" dirty="0"/>
          </a:p>
        </p:txBody>
      </p:sp>
      <p:sp>
        <p:nvSpPr>
          <p:cNvPr id="3" name="Content Placeholder 2"/>
          <p:cNvSpPr>
            <a:spLocks noGrp="1"/>
          </p:cNvSpPr>
          <p:nvPr>
            <p:ph idx="1"/>
          </p:nvPr>
        </p:nvSpPr>
        <p:spPr/>
        <p:txBody>
          <a:bodyPr>
            <a:normAutofit/>
          </a:bodyPr>
          <a:lstStyle/>
          <a:p>
            <a:r>
              <a:rPr lang="en-US" sz="2400" dirty="0" smtClean="0"/>
              <a:t>A </a:t>
            </a:r>
            <a:r>
              <a:rPr lang="en-US" sz="2400" dirty="0" smtClean="0"/>
              <a:t>well-known example of a distributed system is the </a:t>
            </a:r>
            <a:r>
              <a:rPr lang="en-US" sz="2400" i="1" dirty="0" smtClean="0">
                <a:solidFill>
                  <a:srgbClr val="C00000"/>
                </a:solidFill>
              </a:rPr>
              <a:t>World Wide Web</a:t>
            </a:r>
            <a:r>
              <a:rPr lang="en-US" sz="2400" dirty="0" smtClean="0"/>
              <a:t>. It runs on top of the Internet and presents a model in which everything looks like a document (Web page).</a:t>
            </a:r>
          </a:p>
          <a:p>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Primitives</a:t>
            </a:r>
            <a:endParaRPr lang="en-US" dirty="0"/>
          </a:p>
        </p:txBody>
      </p:sp>
      <p:sp>
        <p:nvSpPr>
          <p:cNvPr id="3" name="Content Placeholder 2"/>
          <p:cNvSpPr>
            <a:spLocks noGrp="1"/>
          </p:cNvSpPr>
          <p:nvPr>
            <p:ph idx="1"/>
          </p:nvPr>
        </p:nvSpPr>
        <p:spPr/>
        <p:txBody>
          <a:bodyPr>
            <a:normAutofit/>
          </a:bodyPr>
          <a:lstStyle/>
          <a:p>
            <a:r>
              <a:rPr lang="en-US" sz="2400" dirty="0" smtClean="0"/>
              <a:t>A service is formally specified by a set of </a:t>
            </a:r>
            <a:r>
              <a:rPr lang="en-US" sz="2400" i="1" dirty="0" smtClean="0">
                <a:solidFill>
                  <a:srgbClr val="C00000"/>
                </a:solidFill>
              </a:rPr>
              <a:t>primitives</a:t>
            </a:r>
            <a:r>
              <a:rPr lang="en-US" sz="2400" dirty="0" smtClean="0"/>
              <a:t> (operations) available to user processes to access the service.</a:t>
            </a:r>
          </a:p>
          <a:p>
            <a:endParaRPr lang="en-US" sz="2400" dirty="0"/>
          </a:p>
        </p:txBody>
      </p:sp>
      <p:graphicFrame>
        <p:nvGraphicFramePr>
          <p:cNvPr id="4" name="Table 3"/>
          <p:cNvGraphicFramePr>
            <a:graphicFrameLocks noGrp="1"/>
          </p:cNvGraphicFramePr>
          <p:nvPr/>
        </p:nvGraphicFramePr>
        <p:xfrm>
          <a:off x="685800" y="2895600"/>
          <a:ext cx="7772400" cy="3200400"/>
        </p:xfrm>
        <a:graphic>
          <a:graphicData uri="http://schemas.openxmlformats.org/drawingml/2006/table">
            <a:tbl>
              <a:tblPr firstRow="1" bandRow="1">
                <a:tableStyleId>{5C22544A-7EE6-4342-B048-85BDC9FD1C3A}</a:tableStyleId>
              </a:tblPr>
              <a:tblGrid>
                <a:gridCol w="1905000"/>
                <a:gridCol w="5867400"/>
              </a:tblGrid>
              <a:tr h="0">
                <a:tc>
                  <a:txBody>
                    <a:bodyPr/>
                    <a:lstStyle/>
                    <a:p>
                      <a:r>
                        <a:rPr lang="en-US" sz="2400" dirty="0" smtClean="0"/>
                        <a:t>Primitive</a:t>
                      </a:r>
                      <a:endParaRPr lang="en-US" sz="2400" dirty="0"/>
                    </a:p>
                  </a:txBody>
                  <a:tcPr/>
                </a:tc>
                <a:tc>
                  <a:txBody>
                    <a:bodyPr/>
                    <a:lstStyle/>
                    <a:p>
                      <a:r>
                        <a:rPr lang="en-US" sz="2400" dirty="0" smtClean="0"/>
                        <a:t>Meaning</a:t>
                      </a:r>
                      <a:endParaRPr lang="en-US" sz="2400" dirty="0"/>
                    </a:p>
                  </a:txBody>
                  <a:tcPr/>
                </a:tc>
              </a:tr>
              <a:tr h="370840">
                <a:tc>
                  <a:txBody>
                    <a:bodyPr/>
                    <a:lstStyle/>
                    <a:p>
                      <a:r>
                        <a:rPr lang="en-US" sz="2400" kern="1200" baseline="0" dirty="0" smtClean="0">
                          <a:solidFill>
                            <a:schemeClr val="dk1"/>
                          </a:solidFill>
                          <a:latin typeface="+mn-lt"/>
                          <a:ea typeface="+mn-ea"/>
                          <a:cs typeface="+mn-cs"/>
                        </a:rPr>
                        <a:t>LISTEN</a:t>
                      </a:r>
                      <a:endParaRPr lang="en-US" sz="2400" dirty="0"/>
                    </a:p>
                  </a:txBody>
                  <a:tcPr/>
                </a:tc>
                <a:tc>
                  <a:txBody>
                    <a:bodyPr/>
                    <a:lstStyle/>
                    <a:p>
                      <a:r>
                        <a:rPr lang="en-US" sz="2400" dirty="0" smtClean="0"/>
                        <a:t>Block waiting for an incoming connection</a:t>
                      </a:r>
                      <a:endParaRPr lang="en-US" sz="2400" dirty="0"/>
                    </a:p>
                  </a:txBody>
                  <a:tcPr/>
                </a:tc>
              </a:tr>
              <a:tr h="370840">
                <a:tc>
                  <a:txBody>
                    <a:bodyPr/>
                    <a:lstStyle/>
                    <a:p>
                      <a:r>
                        <a:rPr lang="en-US" sz="2400" kern="1200" baseline="0" dirty="0" smtClean="0">
                          <a:solidFill>
                            <a:schemeClr val="dk1"/>
                          </a:solidFill>
                          <a:latin typeface="+mn-lt"/>
                          <a:ea typeface="+mn-ea"/>
                          <a:cs typeface="+mn-cs"/>
                        </a:rPr>
                        <a:t>CONNECT</a:t>
                      </a:r>
                      <a:endParaRPr lang="en-US" sz="2400" dirty="0"/>
                    </a:p>
                  </a:txBody>
                  <a:tcPr/>
                </a:tc>
                <a:tc>
                  <a:txBody>
                    <a:bodyPr/>
                    <a:lstStyle/>
                    <a:p>
                      <a:r>
                        <a:rPr lang="en-US" sz="2400" dirty="0" smtClean="0"/>
                        <a:t>Establish a connection with a waiting peer</a:t>
                      </a:r>
                      <a:endParaRPr lang="en-US" sz="2400" dirty="0"/>
                    </a:p>
                  </a:txBody>
                  <a:tcPr/>
                </a:tc>
              </a:tr>
              <a:tr h="370840">
                <a:tc>
                  <a:txBody>
                    <a:bodyPr/>
                    <a:lstStyle/>
                    <a:p>
                      <a:r>
                        <a:rPr lang="en-US" sz="2400" kern="1200" baseline="0" dirty="0" smtClean="0">
                          <a:solidFill>
                            <a:schemeClr val="dk1"/>
                          </a:solidFill>
                          <a:latin typeface="+mn-lt"/>
                          <a:ea typeface="+mn-ea"/>
                          <a:cs typeface="+mn-cs"/>
                        </a:rPr>
                        <a:t>ACCEPT</a:t>
                      </a:r>
                      <a:endParaRPr lang="en-US" sz="2400" dirty="0"/>
                    </a:p>
                  </a:txBody>
                  <a:tcPr/>
                </a:tc>
                <a:tc>
                  <a:txBody>
                    <a:bodyPr/>
                    <a:lstStyle/>
                    <a:p>
                      <a:r>
                        <a:rPr lang="en-US" sz="2400" dirty="0" smtClean="0"/>
                        <a:t>Accept an incoming connection from a peer</a:t>
                      </a:r>
                      <a:endParaRPr lang="en-US" sz="2400" dirty="0"/>
                    </a:p>
                  </a:txBody>
                  <a:tcPr/>
                </a:tc>
              </a:tr>
              <a:tr h="370840">
                <a:tc>
                  <a:txBody>
                    <a:bodyPr/>
                    <a:lstStyle/>
                    <a:p>
                      <a:r>
                        <a:rPr lang="en-US" sz="2400" kern="1200" baseline="0" dirty="0" smtClean="0">
                          <a:solidFill>
                            <a:schemeClr val="dk1"/>
                          </a:solidFill>
                          <a:latin typeface="+mn-lt"/>
                          <a:ea typeface="+mn-ea"/>
                          <a:cs typeface="+mn-cs"/>
                        </a:rPr>
                        <a:t>RECEIVE</a:t>
                      </a:r>
                      <a:endParaRPr lang="en-US" sz="2400" dirty="0"/>
                    </a:p>
                  </a:txBody>
                  <a:tcPr/>
                </a:tc>
                <a:tc>
                  <a:txBody>
                    <a:bodyPr/>
                    <a:lstStyle/>
                    <a:p>
                      <a:r>
                        <a:rPr lang="en-US" sz="2400" dirty="0" smtClean="0"/>
                        <a:t>Block waiting for an incoming message</a:t>
                      </a:r>
                      <a:endParaRPr lang="en-US" sz="2400" dirty="0"/>
                    </a:p>
                  </a:txBody>
                  <a:tcPr/>
                </a:tc>
              </a:tr>
              <a:tr h="370840">
                <a:tc>
                  <a:txBody>
                    <a:bodyPr/>
                    <a:lstStyle/>
                    <a:p>
                      <a:r>
                        <a:rPr lang="en-US" sz="2400" kern="1200" baseline="0" dirty="0" smtClean="0">
                          <a:solidFill>
                            <a:schemeClr val="dk1"/>
                          </a:solidFill>
                          <a:latin typeface="+mn-lt"/>
                          <a:ea typeface="+mn-ea"/>
                          <a:cs typeface="+mn-cs"/>
                        </a:rPr>
                        <a:t>SEND</a:t>
                      </a:r>
                      <a:endParaRPr lang="en-US" sz="2400" dirty="0"/>
                    </a:p>
                  </a:txBody>
                  <a:tcPr/>
                </a:tc>
                <a:tc>
                  <a:txBody>
                    <a:bodyPr/>
                    <a:lstStyle/>
                    <a:p>
                      <a:r>
                        <a:rPr lang="en-US" sz="2400" dirty="0" smtClean="0"/>
                        <a:t>Send a message to the peer</a:t>
                      </a:r>
                      <a:endParaRPr lang="en-US" sz="2400" dirty="0"/>
                    </a:p>
                  </a:txBody>
                  <a:tcPr/>
                </a:tc>
              </a:tr>
              <a:tr h="370840">
                <a:tc>
                  <a:txBody>
                    <a:bodyPr/>
                    <a:lstStyle/>
                    <a:p>
                      <a:r>
                        <a:rPr lang="en-US" sz="2400" kern="1200" baseline="0" dirty="0" smtClean="0">
                          <a:solidFill>
                            <a:schemeClr val="dk1"/>
                          </a:solidFill>
                          <a:latin typeface="+mn-lt"/>
                          <a:ea typeface="+mn-ea"/>
                          <a:cs typeface="+mn-cs"/>
                        </a:rPr>
                        <a:t>DISCONNECT</a:t>
                      </a:r>
                      <a:endParaRPr lang="en-US" sz="2400" dirty="0"/>
                    </a:p>
                  </a:txBody>
                  <a:tcPr/>
                </a:tc>
                <a:tc>
                  <a:txBody>
                    <a:bodyPr/>
                    <a:lstStyle/>
                    <a:p>
                      <a:r>
                        <a:rPr lang="en-US" sz="2400" dirty="0" smtClean="0"/>
                        <a:t>Terminate a connection</a:t>
                      </a:r>
                      <a:endParaRPr lang="en-US" sz="2400" dirty="0"/>
                    </a:p>
                  </a:txBody>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Protocols [2]</a:t>
            </a:r>
            <a:endParaRPr lang="en-US" dirty="0"/>
          </a:p>
        </p:txBody>
      </p:sp>
      <p:sp>
        <p:nvSpPr>
          <p:cNvPr id="3" name="Content Placeholder 2"/>
          <p:cNvSpPr>
            <a:spLocks noGrp="1"/>
          </p:cNvSpPr>
          <p:nvPr>
            <p:ph idx="1"/>
          </p:nvPr>
        </p:nvSpPr>
        <p:spPr/>
        <p:txBody>
          <a:bodyPr>
            <a:noAutofit/>
          </a:bodyPr>
          <a:lstStyle/>
          <a:p>
            <a:r>
              <a:rPr lang="en-US" sz="2200" i="1" dirty="0" smtClean="0">
                <a:solidFill>
                  <a:srgbClr val="C00000"/>
                </a:solidFill>
              </a:rPr>
              <a:t>Protocols</a:t>
            </a:r>
            <a:r>
              <a:rPr lang="en-US" sz="2200" dirty="0" smtClean="0"/>
              <a:t> are formal rules dictating the </a:t>
            </a:r>
            <a:r>
              <a:rPr lang="en-US" sz="2200" u="sng" dirty="0" smtClean="0"/>
              <a:t>format of messages</a:t>
            </a:r>
            <a:r>
              <a:rPr lang="en-US" sz="2200" dirty="0" smtClean="0"/>
              <a:t> so that they can be understood by the sending and receiving partners (the computers).</a:t>
            </a:r>
          </a:p>
          <a:p>
            <a:r>
              <a:rPr lang="en-US" sz="2200" i="1" dirty="0" smtClean="0">
                <a:solidFill>
                  <a:srgbClr val="C00000"/>
                </a:solidFill>
              </a:rPr>
              <a:t>Protocols</a:t>
            </a:r>
            <a:r>
              <a:rPr lang="en-US" sz="2200" dirty="0" smtClean="0"/>
              <a:t> are only </a:t>
            </a:r>
            <a:r>
              <a:rPr lang="en-US" sz="2200" u="sng" dirty="0" smtClean="0"/>
              <a:t>rules</a:t>
            </a:r>
            <a:r>
              <a:rPr lang="en-US" sz="2200" dirty="0" smtClean="0"/>
              <a:t>. Protocols are </a:t>
            </a:r>
            <a:r>
              <a:rPr lang="en-US" sz="2200" u="sng" dirty="0" smtClean="0"/>
              <a:t>not software</a:t>
            </a:r>
            <a:r>
              <a:rPr lang="en-US" sz="2200" dirty="0" smtClean="0"/>
              <a:t> or a piece of software; they simply specify how the software should behave.</a:t>
            </a:r>
          </a:p>
          <a:p>
            <a:r>
              <a:rPr lang="en-US" sz="2200" dirty="0" smtClean="0"/>
              <a:t>Network protocol allows </a:t>
            </a:r>
            <a:r>
              <a:rPr lang="en-US" sz="2200" u="sng" dirty="0" smtClean="0"/>
              <a:t>different computers</a:t>
            </a:r>
            <a:r>
              <a:rPr lang="en-US" sz="2200" dirty="0" smtClean="0"/>
              <a:t> from different suppliers using </a:t>
            </a:r>
            <a:r>
              <a:rPr lang="en-US" sz="2200" u="sng" dirty="0" smtClean="0"/>
              <a:t>different operating systems</a:t>
            </a:r>
            <a:r>
              <a:rPr lang="en-US" sz="2200" dirty="0" smtClean="0"/>
              <a:t> to </a:t>
            </a:r>
            <a:r>
              <a:rPr lang="en-US" sz="2200" i="1" dirty="0" smtClean="0">
                <a:solidFill>
                  <a:srgbClr val="C00000"/>
                </a:solidFill>
              </a:rPr>
              <a:t>be connected</a:t>
            </a:r>
            <a:r>
              <a:rPr lang="en-US" sz="2200" dirty="0" smtClean="0"/>
              <a:t> so that they can "speak" with each other.</a:t>
            </a:r>
          </a:p>
          <a:p>
            <a:r>
              <a:rPr lang="en-US" sz="2200" dirty="0" smtClean="0"/>
              <a:t>Protocol allows </a:t>
            </a:r>
            <a:r>
              <a:rPr lang="en-US" sz="2200" u="sng" dirty="0" smtClean="0"/>
              <a:t>software developers</a:t>
            </a:r>
            <a:r>
              <a:rPr lang="en-US" sz="2200" dirty="0" smtClean="0"/>
              <a:t> to use any number of application programming interfaces (APIs) and still be able to </a:t>
            </a:r>
            <a:r>
              <a:rPr lang="en-US" sz="2200" i="1" dirty="0" smtClean="0">
                <a:solidFill>
                  <a:srgbClr val="C00000"/>
                </a:solidFill>
              </a:rPr>
              <a:t>communicate</a:t>
            </a:r>
            <a:r>
              <a:rPr lang="en-US" sz="2200" dirty="0" smtClean="0"/>
              <a:t> with each other without caring about the underlying hardware or operating system.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Architecture [1]</a:t>
            </a:r>
            <a:endParaRPr lang="en-US" dirty="0"/>
          </a:p>
        </p:txBody>
      </p:sp>
      <p:sp>
        <p:nvSpPr>
          <p:cNvPr id="3" name="Content Placeholder 2"/>
          <p:cNvSpPr>
            <a:spLocks noGrp="1"/>
          </p:cNvSpPr>
          <p:nvPr>
            <p:ph idx="1"/>
          </p:nvPr>
        </p:nvSpPr>
        <p:spPr/>
        <p:txBody>
          <a:bodyPr>
            <a:normAutofit/>
          </a:bodyPr>
          <a:lstStyle/>
          <a:p>
            <a:r>
              <a:rPr lang="en-US" sz="2400" dirty="0" smtClean="0"/>
              <a:t>A set of layers and protocols is called a </a:t>
            </a:r>
            <a:r>
              <a:rPr lang="en-US" sz="2400" i="1" dirty="0" smtClean="0">
                <a:solidFill>
                  <a:srgbClr val="C00000"/>
                </a:solidFill>
              </a:rPr>
              <a:t>network architecture</a:t>
            </a:r>
            <a:r>
              <a:rPr lang="en-US" sz="2400" dirty="0" smtClean="0"/>
              <a:t>.</a:t>
            </a:r>
          </a:p>
          <a:p>
            <a:r>
              <a:rPr lang="en-US" sz="2400" dirty="0" smtClean="0"/>
              <a:t>A list of the protocols used by a certain system, one protocol per layer, is called a </a:t>
            </a:r>
            <a:r>
              <a:rPr lang="en-US" sz="2400" i="1" dirty="0" smtClean="0">
                <a:solidFill>
                  <a:srgbClr val="C00000"/>
                </a:solidFill>
              </a:rPr>
              <a:t>protocol stack</a:t>
            </a:r>
            <a:r>
              <a:rPr lang="en-US" sz="2400" dirty="0" smtClean="0"/>
              <a:t>.</a:t>
            </a:r>
          </a:p>
          <a:p>
            <a:r>
              <a:rPr lang="en-US" sz="2400" dirty="0" smtClean="0"/>
              <a:t>Between each pair of adjacent layers is an interface.</a:t>
            </a:r>
          </a:p>
          <a:p>
            <a:r>
              <a:rPr lang="en-US" sz="2400" dirty="0" smtClean="0"/>
              <a:t>The interface defines which primitive operations and services the lower layer makes available to the upper one.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OSI Reference Model</a:t>
            </a:r>
            <a:endParaRPr lang="en-US" dirty="0"/>
          </a:p>
        </p:txBody>
      </p:sp>
      <p:sp>
        <p:nvSpPr>
          <p:cNvPr id="3" name="Content Placeholder 2"/>
          <p:cNvSpPr>
            <a:spLocks noGrp="1"/>
          </p:cNvSpPr>
          <p:nvPr>
            <p:ph idx="1"/>
          </p:nvPr>
        </p:nvSpPr>
        <p:spPr>
          <a:xfrm>
            <a:off x="457200" y="1600200"/>
            <a:ext cx="2438400" cy="4525963"/>
          </a:xfrm>
        </p:spPr>
        <p:txBody>
          <a:bodyPr>
            <a:normAutofit/>
          </a:bodyPr>
          <a:lstStyle/>
          <a:p>
            <a:r>
              <a:rPr lang="en-US" sz="2200" dirty="0" smtClean="0"/>
              <a:t>OSI (Open Systems Interconnection)</a:t>
            </a:r>
            <a:endParaRPr lang="en-US" sz="2200" dirty="0"/>
          </a:p>
        </p:txBody>
      </p:sp>
      <p:pic>
        <p:nvPicPr>
          <p:cNvPr id="1028" name="Picture 4"/>
          <p:cNvPicPr>
            <a:picLocks noChangeAspect="1" noChangeArrowheads="1"/>
          </p:cNvPicPr>
          <p:nvPr/>
        </p:nvPicPr>
        <p:blipFill>
          <a:blip r:embed="rId2" cstate="print"/>
          <a:srcRect/>
          <a:stretch>
            <a:fillRect/>
          </a:stretch>
        </p:blipFill>
        <p:spPr bwMode="auto">
          <a:xfrm>
            <a:off x="2895600" y="1371600"/>
            <a:ext cx="5619750" cy="509270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Physical Layer</a:t>
            </a:r>
            <a:endParaRPr lang="en-US" dirty="0"/>
          </a:p>
        </p:txBody>
      </p:sp>
      <p:sp>
        <p:nvSpPr>
          <p:cNvPr id="3" name="Content Placeholder 2"/>
          <p:cNvSpPr>
            <a:spLocks noGrp="1"/>
          </p:cNvSpPr>
          <p:nvPr>
            <p:ph idx="1"/>
          </p:nvPr>
        </p:nvSpPr>
        <p:spPr/>
        <p:txBody>
          <a:bodyPr>
            <a:noAutofit/>
          </a:bodyPr>
          <a:lstStyle/>
          <a:p>
            <a:r>
              <a:rPr lang="en-US" sz="1800" dirty="0" smtClean="0"/>
              <a:t>The physical layer is concerned with </a:t>
            </a:r>
            <a:r>
              <a:rPr lang="en-US" sz="1800" i="1" dirty="0" smtClean="0">
                <a:solidFill>
                  <a:srgbClr val="C00000"/>
                </a:solidFill>
              </a:rPr>
              <a:t>transmitting raw bits</a:t>
            </a:r>
            <a:r>
              <a:rPr lang="en-US" sz="1800" dirty="0" smtClean="0"/>
              <a:t> over a communication channel.</a:t>
            </a:r>
          </a:p>
          <a:p>
            <a:r>
              <a:rPr lang="en-US" sz="1800" dirty="0" smtClean="0"/>
              <a:t>The design issues have to do with making sure that when one side sends a 1 bit it is received by the other side as a 1 bit, not as a 0 bit.</a:t>
            </a:r>
          </a:p>
          <a:p>
            <a:r>
              <a:rPr lang="en-US" sz="1800" dirty="0" smtClean="0"/>
              <a:t>Typical questions here are </a:t>
            </a:r>
          </a:p>
          <a:p>
            <a:pPr lvl="1"/>
            <a:r>
              <a:rPr lang="en-US" sz="1800" dirty="0" smtClean="0"/>
              <a:t>what electrical signals should be used to represent a 1 and a 0,</a:t>
            </a:r>
          </a:p>
          <a:p>
            <a:pPr lvl="1"/>
            <a:r>
              <a:rPr lang="en-US" sz="1800" dirty="0" smtClean="0"/>
              <a:t>how many nanoseconds a bit lasts,</a:t>
            </a:r>
          </a:p>
          <a:p>
            <a:pPr lvl="1"/>
            <a:r>
              <a:rPr lang="en-US" sz="1800" dirty="0" smtClean="0"/>
              <a:t>whether transmission may proceed simultaneously in both directions, </a:t>
            </a:r>
          </a:p>
          <a:p>
            <a:pPr lvl="1"/>
            <a:r>
              <a:rPr lang="en-US" sz="1800" dirty="0" smtClean="0"/>
              <a:t>how the initial connection is established,</a:t>
            </a:r>
          </a:p>
          <a:p>
            <a:pPr lvl="1"/>
            <a:r>
              <a:rPr lang="en-US" sz="1800" dirty="0" smtClean="0"/>
              <a:t>how it is torn down when both sides are finished,</a:t>
            </a:r>
          </a:p>
          <a:p>
            <a:pPr lvl="1"/>
            <a:r>
              <a:rPr lang="en-US" sz="1800" dirty="0" smtClean="0"/>
              <a:t>how many pins the network connector has, and </a:t>
            </a:r>
          </a:p>
          <a:p>
            <a:pPr lvl="1"/>
            <a:r>
              <a:rPr lang="en-US" sz="1800" dirty="0" smtClean="0"/>
              <a:t>what each pin is used for.</a:t>
            </a:r>
          </a:p>
          <a:p>
            <a:r>
              <a:rPr lang="en-US" sz="1800" dirty="0" smtClean="0"/>
              <a:t>These design issues largely deal with mechanical, electrical, and timing interfaces, as well as the physical transmission medium, which lies below the physical layer.</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Data Link Layer</a:t>
            </a:r>
            <a:endParaRPr lang="en-US" dirty="0"/>
          </a:p>
        </p:txBody>
      </p:sp>
      <p:sp>
        <p:nvSpPr>
          <p:cNvPr id="3" name="Content Placeholder 2"/>
          <p:cNvSpPr>
            <a:spLocks noGrp="1"/>
          </p:cNvSpPr>
          <p:nvPr>
            <p:ph idx="1"/>
          </p:nvPr>
        </p:nvSpPr>
        <p:spPr/>
        <p:txBody>
          <a:bodyPr>
            <a:noAutofit/>
          </a:bodyPr>
          <a:lstStyle/>
          <a:p>
            <a:r>
              <a:rPr lang="en-US" sz="2200" dirty="0" smtClean="0"/>
              <a:t>The main task of the data link layer is to transform a raw transmission facility into a line that appears </a:t>
            </a:r>
            <a:r>
              <a:rPr lang="en-US" sz="2200" i="1" dirty="0" smtClean="0">
                <a:solidFill>
                  <a:srgbClr val="C00000"/>
                </a:solidFill>
              </a:rPr>
              <a:t>free of undetected transmission errors</a:t>
            </a:r>
            <a:r>
              <a:rPr lang="en-US" sz="2200" dirty="0" smtClean="0"/>
              <a:t>.</a:t>
            </a:r>
          </a:p>
          <a:p>
            <a:r>
              <a:rPr lang="en-US" sz="2200" dirty="0" smtClean="0"/>
              <a:t>It does so by masking the real errors so the network layer does not see them.</a:t>
            </a:r>
          </a:p>
          <a:p>
            <a:r>
              <a:rPr lang="en-US" sz="2200" dirty="0" smtClean="0"/>
              <a:t>It accomplishes this task by having the sender break up the input data into </a:t>
            </a:r>
            <a:r>
              <a:rPr lang="en-US" sz="2200" i="1" dirty="0" smtClean="0">
                <a:solidFill>
                  <a:srgbClr val="C00000"/>
                </a:solidFill>
              </a:rPr>
              <a:t>data frames</a:t>
            </a:r>
            <a:r>
              <a:rPr lang="en-US" sz="2200" dirty="0" smtClean="0"/>
              <a:t> (typically a few hundred or a few thousand bytes) and transmit the frames sequentially.</a:t>
            </a:r>
          </a:p>
          <a:p>
            <a:r>
              <a:rPr lang="en-US" sz="2200" dirty="0" smtClean="0"/>
              <a:t>If the service is reliable, the receiver confirms correct receipt of each frame by sending back an </a:t>
            </a:r>
            <a:r>
              <a:rPr lang="en-US" sz="2200" i="1" dirty="0" smtClean="0">
                <a:solidFill>
                  <a:srgbClr val="C00000"/>
                </a:solidFill>
              </a:rPr>
              <a:t>acknowledgement frame</a:t>
            </a:r>
            <a:r>
              <a:rPr lang="en-US" sz="2200" dirty="0" smtClean="0"/>
              <a:t>.</a:t>
            </a:r>
          </a:p>
          <a:p>
            <a:r>
              <a:rPr lang="en-US" sz="2200" dirty="0" smtClean="0"/>
              <a:t>Another issue that arises in the data link layer (and most of the higher layers as well) is how to keep a fast transmitter from drowning a slow receiver in data.</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Network Layer (I)</a:t>
            </a:r>
            <a:endParaRPr lang="en-US" dirty="0"/>
          </a:p>
        </p:txBody>
      </p:sp>
      <p:sp>
        <p:nvSpPr>
          <p:cNvPr id="3" name="Content Placeholder 2"/>
          <p:cNvSpPr>
            <a:spLocks noGrp="1"/>
          </p:cNvSpPr>
          <p:nvPr>
            <p:ph idx="1"/>
          </p:nvPr>
        </p:nvSpPr>
        <p:spPr/>
        <p:txBody>
          <a:bodyPr>
            <a:normAutofit/>
          </a:bodyPr>
          <a:lstStyle/>
          <a:p>
            <a:r>
              <a:rPr lang="en-US" sz="2800" dirty="0" smtClean="0"/>
              <a:t>The network layer is concerned with </a:t>
            </a:r>
            <a:r>
              <a:rPr lang="en-US" sz="2800" i="1" dirty="0" smtClean="0">
                <a:solidFill>
                  <a:srgbClr val="C00000"/>
                </a:solidFill>
              </a:rPr>
              <a:t>getting packets</a:t>
            </a:r>
            <a:r>
              <a:rPr lang="en-US" sz="2800" dirty="0" smtClean="0"/>
              <a:t> from the </a:t>
            </a:r>
            <a:r>
              <a:rPr lang="en-US" sz="2800" u="sng" dirty="0" smtClean="0"/>
              <a:t>source</a:t>
            </a:r>
            <a:r>
              <a:rPr lang="en-US" sz="2800" dirty="0" smtClean="0"/>
              <a:t> all the way to the </a:t>
            </a:r>
            <a:r>
              <a:rPr lang="en-US" sz="2800" u="sng" dirty="0" smtClean="0"/>
              <a:t>destination</a:t>
            </a:r>
            <a:r>
              <a:rPr lang="en-US" sz="2800" dirty="0" smtClean="0"/>
              <a:t>.</a:t>
            </a:r>
          </a:p>
          <a:p>
            <a:r>
              <a:rPr lang="en-US" sz="2800" dirty="0" smtClean="0"/>
              <a:t>Getting to the destination may require making many hops at intermediate routers along the way.</a:t>
            </a:r>
          </a:p>
          <a:p>
            <a:r>
              <a:rPr lang="en-US" sz="2800" dirty="0" smtClean="0"/>
              <a:t>To achieve its goals, the network layer must know about the topology of the network (i.e., the set of all routers and links) and choose appropriate paths through it, even for large networks.</a:t>
            </a:r>
            <a:endParaRPr lang="en-US"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Network Layer (II)</a:t>
            </a:r>
            <a:endParaRPr lang="en-US" dirty="0"/>
          </a:p>
        </p:txBody>
      </p:sp>
      <p:sp>
        <p:nvSpPr>
          <p:cNvPr id="3" name="Content Placeholder 2"/>
          <p:cNvSpPr>
            <a:spLocks noGrp="1"/>
          </p:cNvSpPr>
          <p:nvPr>
            <p:ph idx="1"/>
          </p:nvPr>
        </p:nvSpPr>
        <p:spPr/>
        <p:txBody>
          <a:bodyPr>
            <a:normAutofit/>
          </a:bodyPr>
          <a:lstStyle/>
          <a:p>
            <a:r>
              <a:rPr lang="en-US" sz="2400" dirty="0" smtClean="0"/>
              <a:t>The network layer controls the operation of the subnet.</a:t>
            </a:r>
          </a:p>
          <a:p>
            <a:r>
              <a:rPr lang="en-US" sz="2400" dirty="0" smtClean="0"/>
              <a:t>A key design issue is determining how packets are routed from source to destination.</a:t>
            </a:r>
          </a:p>
          <a:p>
            <a:r>
              <a:rPr lang="en-US" sz="2400" dirty="0" smtClean="0"/>
              <a:t>If too many packets are present in the subnet at the same time, they will get in one another’s way, forming bottlenecks.</a:t>
            </a:r>
          </a:p>
          <a:p>
            <a:r>
              <a:rPr lang="en-US" sz="2400" dirty="0" smtClean="0"/>
              <a:t>When a packet has to travel from one network to another to get to its destination, many problems can arise.</a:t>
            </a:r>
          </a:p>
          <a:p>
            <a:r>
              <a:rPr lang="en-US" sz="2400" dirty="0" smtClean="0"/>
              <a:t>The addressing used by the second network may be different from that used by the first one. The second one may not accept the packet at all because it is too large.</a:t>
            </a:r>
          </a:p>
          <a:p>
            <a:r>
              <a:rPr lang="en-US" sz="2400" dirty="0" smtClean="0"/>
              <a:t>The protocols may differ, and so on.</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Transport Layer (I)</a:t>
            </a:r>
            <a:endParaRPr lang="en-US" dirty="0"/>
          </a:p>
        </p:txBody>
      </p:sp>
      <p:sp>
        <p:nvSpPr>
          <p:cNvPr id="3" name="Content Placeholder 2"/>
          <p:cNvSpPr>
            <a:spLocks noGrp="1"/>
          </p:cNvSpPr>
          <p:nvPr>
            <p:ph idx="1"/>
          </p:nvPr>
        </p:nvSpPr>
        <p:spPr/>
        <p:txBody>
          <a:bodyPr/>
          <a:lstStyle/>
          <a:p>
            <a:r>
              <a:rPr lang="en-US" dirty="0" smtClean="0"/>
              <a:t>The basic function of the transport layer is to </a:t>
            </a:r>
            <a:r>
              <a:rPr lang="en-US" i="1" dirty="0" smtClean="0">
                <a:solidFill>
                  <a:srgbClr val="C00000"/>
                </a:solidFill>
              </a:rPr>
              <a:t>accept data</a:t>
            </a:r>
            <a:r>
              <a:rPr lang="en-US" dirty="0" smtClean="0"/>
              <a:t> from above it, </a:t>
            </a:r>
            <a:r>
              <a:rPr lang="en-US" i="1" dirty="0" smtClean="0">
                <a:solidFill>
                  <a:srgbClr val="C00000"/>
                </a:solidFill>
              </a:rPr>
              <a:t>split it up</a:t>
            </a:r>
            <a:r>
              <a:rPr lang="en-US" dirty="0" smtClean="0"/>
              <a:t> into smaller units if need be, </a:t>
            </a:r>
            <a:r>
              <a:rPr lang="en-US" i="1" dirty="0" smtClean="0">
                <a:solidFill>
                  <a:srgbClr val="C00000"/>
                </a:solidFill>
              </a:rPr>
              <a:t>pass</a:t>
            </a:r>
            <a:r>
              <a:rPr lang="en-US" dirty="0" smtClean="0"/>
              <a:t> these to the network layer, and ensure that the pieces all </a:t>
            </a:r>
            <a:r>
              <a:rPr lang="en-US" i="1" dirty="0" smtClean="0">
                <a:solidFill>
                  <a:srgbClr val="C00000"/>
                </a:solidFill>
              </a:rPr>
              <a:t>arrive correctly</a:t>
            </a:r>
            <a:r>
              <a:rPr lang="en-US" dirty="0" smtClean="0"/>
              <a:t> at the other end.</a:t>
            </a:r>
          </a:p>
          <a:p>
            <a:r>
              <a:rPr lang="en-US" dirty="0" smtClean="0"/>
              <a:t>The transport layer also determines what type of service to provide to the session layer, and, ultimately, to the users of the network.</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Transport Layer (II)</a:t>
            </a:r>
            <a:endParaRPr lang="en-US" dirty="0"/>
          </a:p>
        </p:txBody>
      </p:sp>
      <p:sp>
        <p:nvSpPr>
          <p:cNvPr id="3" name="Content Placeholder 2"/>
          <p:cNvSpPr>
            <a:spLocks noGrp="1"/>
          </p:cNvSpPr>
          <p:nvPr>
            <p:ph idx="1"/>
          </p:nvPr>
        </p:nvSpPr>
        <p:spPr/>
        <p:txBody>
          <a:bodyPr>
            <a:normAutofit/>
          </a:bodyPr>
          <a:lstStyle/>
          <a:p>
            <a:r>
              <a:rPr lang="en-US" sz="2600" dirty="0" smtClean="0"/>
              <a:t>It is designed to allow peer entities on the source and destination hosts to carry on a conversation.</a:t>
            </a:r>
          </a:p>
          <a:p>
            <a:r>
              <a:rPr lang="en-US" sz="2600" dirty="0" smtClean="0"/>
              <a:t>The first one, TCP (</a:t>
            </a:r>
            <a:r>
              <a:rPr lang="en-US" sz="2600" i="1" dirty="0" smtClean="0">
                <a:solidFill>
                  <a:srgbClr val="C00000"/>
                </a:solidFill>
              </a:rPr>
              <a:t>Transmission Control Protocol</a:t>
            </a:r>
            <a:r>
              <a:rPr lang="en-US" sz="2600" dirty="0" smtClean="0"/>
              <a:t>), is a </a:t>
            </a:r>
            <a:r>
              <a:rPr lang="en-US" sz="2600" u="sng" dirty="0" smtClean="0"/>
              <a:t>reliable</a:t>
            </a:r>
            <a:r>
              <a:rPr lang="en-US" sz="2600" dirty="0" smtClean="0"/>
              <a:t> connection-oriented protocol that allows a byte stream originating on one machine to be delivered without error on any other machine in the internet.</a:t>
            </a:r>
          </a:p>
          <a:p>
            <a:r>
              <a:rPr lang="en-US" sz="2600" dirty="0" smtClean="0"/>
              <a:t>The second protocol in this layer, UDP (</a:t>
            </a:r>
            <a:r>
              <a:rPr lang="en-US" sz="2600" i="1" dirty="0" smtClean="0">
                <a:solidFill>
                  <a:srgbClr val="C00000"/>
                </a:solidFill>
              </a:rPr>
              <a:t>User Datagram Protocol</a:t>
            </a:r>
            <a:r>
              <a:rPr lang="en-US" sz="2600" dirty="0" smtClean="0"/>
              <a:t>), is an </a:t>
            </a:r>
            <a:r>
              <a:rPr lang="en-US" sz="2600" u="sng" dirty="0" smtClean="0"/>
              <a:t>unreliable</a:t>
            </a:r>
            <a:r>
              <a:rPr lang="en-US" sz="2600" dirty="0" smtClean="0"/>
              <a:t>, connectionless protocol for applications that do not want TCP’s sequencing or flow control and wish to provide their own.</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Session Layer</a:t>
            </a:r>
            <a:endParaRPr lang="en-US" dirty="0"/>
          </a:p>
        </p:txBody>
      </p:sp>
      <p:sp>
        <p:nvSpPr>
          <p:cNvPr id="3" name="Content Placeholder 2"/>
          <p:cNvSpPr>
            <a:spLocks noGrp="1"/>
          </p:cNvSpPr>
          <p:nvPr>
            <p:ph idx="1"/>
          </p:nvPr>
        </p:nvSpPr>
        <p:spPr/>
        <p:txBody>
          <a:bodyPr>
            <a:normAutofit/>
          </a:bodyPr>
          <a:lstStyle/>
          <a:p>
            <a:r>
              <a:rPr lang="en-US" sz="2800" dirty="0" smtClean="0"/>
              <a:t>The session layer allows users on different machines to establish sessions between them.</a:t>
            </a:r>
          </a:p>
          <a:p>
            <a:r>
              <a:rPr lang="en-US" sz="2800" dirty="0" smtClean="0"/>
              <a:t>Sessions offer various services, including dialog control (keeping track of whose turn it is to transmit), token management (preventing two parties from attempting the same critical operation simultaneously), and synchronization (</a:t>
            </a:r>
            <a:r>
              <a:rPr lang="en-US" sz="2800" dirty="0" err="1" smtClean="0"/>
              <a:t>checkpointing</a:t>
            </a:r>
            <a:r>
              <a:rPr lang="en-US" sz="2800" dirty="0" smtClean="0"/>
              <a:t> long transmissions to allow them to pick up from where they left off in the event of a crash and subsequent recovery).</a:t>
            </a:r>
            <a:endParaRPr lang="en-US"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Presentation Layer</a:t>
            </a:r>
            <a:endParaRPr lang="en-US" dirty="0"/>
          </a:p>
        </p:txBody>
      </p:sp>
      <p:sp>
        <p:nvSpPr>
          <p:cNvPr id="3" name="Content Placeholder 2"/>
          <p:cNvSpPr>
            <a:spLocks noGrp="1"/>
          </p:cNvSpPr>
          <p:nvPr>
            <p:ph idx="1"/>
          </p:nvPr>
        </p:nvSpPr>
        <p:spPr/>
        <p:txBody>
          <a:bodyPr>
            <a:noAutofit/>
          </a:bodyPr>
          <a:lstStyle/>
          <a:p>
            <a:r>
              <a:rPr lang="en-US" sz="2800" dirty="0" smtClean="0"/>
              <a:t>The presentation layer is concerned with the syntax and semantics of the information transmitted.</a:t>
            </a:r>
          </a:p>
          <a:p>
            <a:r>
              <a:rPr lang="en-US" sz="2800" dirty="0" smtClean="0"/>
              <a:t>In order to make it possible for computers with different internal data representations to communicate, the data structures to be exchanged can be defined in an abstract way, along with a standard encoding to be used "on the wire."</a:t>
            </a:r>
          </a:p>
          <a:p>
            <a:r>
              <a:rPr lang="en-US" sz="2800" dirty="0" smtClean="0"/>
              <a:t>The presentation layer manages these abstract data structures and allows higher-level data structures (e.g., banking records) to be defined and exchanged.</a:t>
            </a:r>
            <a:endParaRPr 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Application Layer</a:t>
            </a:r>
            <a:endParaRPr lang="en-US" dirty="0"/>
          </a:p>
        </p:txBody>
      </p:sp>
      <p:sp>
        <p:nvSpPr>
          <p:cNvPr id="3" name="Content Placeholder 2"/>
          <p:cNvSpPr>
            <a:spLocks noGrp="1"/>
          </p:cNvSpPr>
          <p:nvPr>
            <p:ph idx="1"/>
          </p:nvPr>
        </p:nvSpPr>
        <p:spPr/>
        <p:txBody>
          <a:bodyPr>
            <a:normAutofit/>
          </a:bodyPr>
          <a:lstStyle/>
          <a:p>
            <a:r>
              <a:rPr lang="en-US" sz="2400" dirty="0" smtClean="0"/>
              <a:t>The application layer contains a variety of protocols that are commonly needed by users.</a:t>
            </a:r>
          </a:p>
          <a:p>
            <a:r>
              <a:rPr lang="en-US" sz="2400" dirty="0" smtClean="0"/>
              <a:t>The early ones included virtual terminal (TELNET), file transfer (FTP), and electronic mail (SMTP).</a:t>
            </a:r>
          </a:p>
          <a:p>
            <a:r>
              <a:rPr lang="en-US" sz="2400" dirty="0" smtClean="0"/>
              <a:t>One widely used application protocol is HTTP (</a:t>
            </a:r>
            <a:r>
              <a:rPr lang="en-US" sz="2400" dirty="0" err="1" smtClean="0"/>
              <a:t>HyperText</a:t>
            </a:r>
            <a:r>
              <a:rPr lang="en-US" sz="2400" dirty="0" smtClean="0"/>
              <a:t> Transfer Protocol), which is the basis for the World Wide Web.</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5" name="Content Placeholder 4"/>
          <p:cNvSpPr>
            <a:spLocks noGrp="1"/>
          </p:cNvSpPr>
          <p:nvPr>
            <p:ph idx="1"/>
          </p:nvPr>
        </p:nvSpPr>
        <p:spPr>
          <a:xfrm>
            <a:off x="2971800" y="1600200"/>
            <a:ext cx="5943600" cy="4525963"/>
          </a:xfrm>
        </p:spPr>
        <p:txBody>
          <a:bodyPr>
            <a:noAutofit/>
          </a:bodyPr>
          <a:lstStyle/>
          <a:p>
            <a:r>
              <a:rPr lang="en-US" sz="2000" i="1" dirty="0" smtClean="0">
                <a:solidFill>
                  <a:srgbClr val="C00000"/>
                </a:solidFill>
              </a:rPr>
              <a:t>Data link layer</a:t>
            </a:r>
            <a:r>
              <a:rPr lang="en-US" sz="2000" dirty="0" smtClean="0"/>
              <a:t>: This layer is responsible for putting the data into </a:t>
            </a:r>
            <a:r>
              <a:rPr lang="en-US" sz="2000" dirty="0" err="1" smtClean="0"/>
              <a:t>datagrams</a:t>
            </a:r>
            <a:r>
              <a:rPr lang="en-US" sz="2000" dirty="0" smtClean="0"/>
              <a:t> and error checking.</a:t>
            </a:r>
          </a:p>
          <a:p>
            <a:r>
              <a:rPr lang="en-US" sz="2000" i="1" dirty="0" smtClean="0">
                <a:solidFill>
                  <a:srgbClr val="C00000"/>
                </a:solidFill>
              </a:rPr>
              <a:t>Network layer</a:t>
            </a:r>
            <a:r>
              <a:rPr lang="en-US" sz="2000" dirty="0" smtClean="0"/>
              <a:t>: Sometimes called "communication layer," this layer is responsible for the packet delivery. It isolates the upper levels from network details, such as routing, and provides just at this level reliable transfer of information.</a:t>
            </a:r>
          </a:p>
          <a:p>
            <a:r>
              <a:rPr lang="en-US" sz="2000" i="1" dirty="0" smtClean="0">
                <a:solidFill>
                  <a:srgbClr val="C00000"/>
                </a:solidFill>
              </a:rPr>
              <a:t>Session layer</a:t>
            </a:r>
            <a:r>
              <a:rPr lang="en-US" sz="2000" dirty="0" smtClean="0"/>
              <a:t>: This layer is responsible for the management of sessions, i.e., the setup, the maintenance, and the correct closing of sessions. This can be, for example, remote terminal access.</a:t>
            </a:r>
          </a:p>
          <a:p>
            <a:r>
              <a:rPr lang="en-US" sz="2000" i="1" dirty="0" smtClean="0">
                <a:solidFill>
                  <a:srgbClr val="C00000"/>
                </a:solidFill>
              </a:rPr>
              <a:t>Presentation layer</a:t>
            </a:r>
            <a:r>
              <a:rPr lang="en-US" sz="2000" dirty="0" smtClean="0"/>
              <a:t>: This layer handles such issues as data decryption and encryption, text or graphics compression, conversion, and formatting.</a:t>
            </a:r>
          </a:p>
        </p:txBody>
      </p:sp>
      <p:graphicFrame>
        <p:nvGraphicFramePr>
          <p:cNvPr id="6" name="Content Placeholder 3"/>
          <p:cNvGraphicFramePr>
            <a:graphicFrameLocks/>
          </p:cNvGraphicFramePr>
          <p:nvPr/>
        </p:nvGraphicFramePr>
        <p:xfrm>
          <a:off x="304800" y="2133600"/>
          <a:ext cx="2514600" cy="2987040"/>
        </p:xfrm>
        <a:graphic>
          <a:graphicData uri="http://schemas.openxmlformats.org/drawingml/2006/table">
            <a:tbl>
              <a:tblPr>
                <a:tableStyleId>{3C2FFA5D-87B4-456A-9821-1D502468CF0F}</a:tableStyleId>
              </a:tblPr>
              <a:tblGrid>
                <a:gridCol w="2514600"/>
              </a:tblGrid>
              <a:tr h="0">
                <a:tc>
                  <a:txBody>
                    <a:bodyPr/>
                    <a:lstStyle/>
                    <a:p>
                      <a:pPr algn="ctr"/>
                      <a:r>
                        <a:rPr lang="en-US" sz="2200" dirty="0"/>
                        <a:t>Application Layer</a:t>
                      </a:r>
                    </a:p>
                  </a:txBody>
                  <a:tcPr/>
                </a:tc>
              </a:tr>
              <a:tr h="0">
                <a:tc>
                  <a:txBody>
                    <a:bodyPr/>
                    <a:lstStyle/>
                    <a:p>
                      <a:pPr algn="ctr"/>
                      <a:r>
                        <a:rPr lang="en-US" sz="2200" dirty="0"/>
                        <a:t>Presentation Layer</a:t>
                      </a:r>
                    </a:p>
                  </a:txBody>
                  <a:tcPr/>
                </a:tc>
              </a:tr>
              <a:tr h="0">
                <a:tc>
                  <a:txBody>
                    <a:bodyPr/>
                    <a:lstStyle/>
                    <a:p>
                      <a:pPr algn="ctr"/>
                      <a:r>
                        <a:rPr lang="en-US" sz="2200"/>
                        <a:t>Session Layer</a:t>
                      </a:r>
                    </a:p>
                  </a:txBody>
                  <a:tcPr/>
                </a:tc>
              </a:tr>
              <a:tr h="0">
                <a:tc>
                  <a:txBody>
                    <a:bodyPr/>
                    <a:lstStyle/>
                    <a:p>
                      <a:pPr algn="ctr"/>
                      <a:r>
                        <a:rPr lang="en-US" sz="2200"/>
                        <a:t>Transport Layer</a:t>
                      </a:r>
                    </a:p>
                  </a:txBody>
                  <a:tcPr/>
                </a:tc>
              </a:tr>
              <a:tr h="0">
                <a:tc>
                  <a:txBody>
                    <a:bodyPr/>
                    <a:lstStyle/>
                    <a:p>
                      <a:pPr algn="ctr"/>
                      <a:r>
                        <a:rPr lang="en-US" sz="2200"/>
                        <a:t>Network Layer</a:t>
                      </a:r>
                    </a:p>
                  </a:txBody>
                  <a:tcPr/>
                </a:tc>
              </a:tr>
              <a:tr h="0">
                <a:tc>
                  <a:txBody>
                    <a:bodyPr/>
                    <a:lstStyle/>
                    <a:p>
                      <a:pPr algn="ctr"/>
                      <a:r>
                        <a:rPr lang="en-US" sz="2200"/>
                        <a:t>Data Link Layer</a:t>
                      </a:r>
                    </a:p>
                  </a:txBody>
                  <a:tcPr/>
                </a:tc>
              </a:tr>
              <a:tr h="0">
                <a:tc>
                  <a:txBody>
                    <a:bodyPr/>
                    <a:lstStyle/>
                    <a:p>
                      <a:pPr algn="ctr"/>
                      <a:r>
                        <a:rPr lang="en-US" sz="2200" dirty="0"/>
                        <a:t>Physical Layer</a:t>
                      </a:r>
                    </a:p>
                  </a:txBody>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TCP/IP Reference Model</a:t>
            </a:r>
            <a:endParaRPr lang="en-US" dirty="0"/>
          </a:p>
        </p:txBody>
      </p:sp>
      <p:sp>
        <p:nvSpPr>
          <p:cNvPr id="3" name="Content Placeholder 2"/>
          <p:cNvSpPr>
            <a:spLocks noGrp="1"/>
          </p:cNvSpPr>
          <p:nvPr>
            <p:ph idx="1"/>
          </p:nvPr>
        </p:nvSpPr>
        <p:spPr/>
        <p:txBody>
          <a:bodyPr>
            <a:normAutofit/>
          </a:bodyPr>
          <a:lstStyle/>
          <a:p>
            <a:r>
              <a:rPr lang="en-US" sz="2000" dirty="0" smtClean="0"/>
              <a:t>The network be able to </a:t>
            </a:r>
            <a:r>
              <a:rPr lang="en-US" sz="2000" i="1" dirty="0" smtClean="0">
                <a:solidFill>
                  <a:srgbClr val="C00000"/>
                </a:solidFill>
              </a:rPr>
              <a:t>survive loss of subnet hardware</a:t>
            </a:r>
            <a:r>
              <a:rPr lang="en-US" sz="2000" dirty="0" smtClean="0"/>
              <a:t>, without existing conversations being broken off.</a:t>
            </a:r>
          </a:p>
          <a:p>
            <a:r>
              <a:rPr lang="en-US" sz="2000" dirty="0" smtClean="0"/>
              <a:t>The </a:t>
            </a:r>
            <a:r>
              <a:rPr lang="en-US" sz="2000" dirty="0" err="1" smtClean="0"/>
              <a:t>DoD</a:t>
            </a:r>
            <a:r>
              <a:rPr lang="en-US" sz="2000" dirty="0" smtClean="0"/>
              <a:t> wanted connections to </a:t>
            </a:r>
            <a:r>
              <a:rPr lang="en-US" sz="2000" i="1" dirty="0" smtClean="0">
                <a:solidFill>
                  <a:srgbClr val="C00000"/>
                </a:solidFill>
              </a:rPr>
              <a:t>remain intact</a:t>
            </a:r>
            <a:r>
              <a:rPr lang="en-US" sz="2000" dirty="0" smtClean="0"/>
              <a:t> as long as the source and destination machines were functioning, even if some of the machines or transmission lines in between were suddenly put out of operation.</a:t>
            </a:r>
          </a:p>
          <a:p>
            <a:endParaRPr lang="en-US" sz="2000" dirty="0"/>
          </a:p>
        </p:txBody>
      </p:sp>
      <p:pic>
        <p:nvPicPr>
          <p:cNvPr id="4" name="Picture 2"/>
          <p:cNvPicPr>
            <a:picLocks noChangeAspect="1" noChangeArrowheads="1"/>
          </p:cNvPicPr>
          <p:nvPr/>
        </p:nvPicPr>
        <p:blipFill>
          <a:blip r:embed="rId2" cstate="print"/>
          <a:srcRect/>
          <a:stretch>
            <a:fillRect/>
          </a:stretch>
        </p:blipFill>
        <p:spPr bwMode="auto">
          <a:xfrm>
            <a:off x="1355725" y="3810000"/>
            <a:ext cx="6432550" cy="2505075"/>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Network Interface Layer [2]</a:t>
            </a:r>
            <a:endParaRPr lang="en-US" dirty="0"/>
          </a:p>
        </p:txBody>
      </p:sp>
      <p:sp>
        <p:nvSpPr>
          <p:cNvPr id="3" name="Content Placeholder 2"/>
          <p:cNvSpPr>
            <a:spLocks noGrp="1"/>
          </p:cNvSpPr>
          <p:nvPr>
            <p:ph idx="1"/>
          </p:nvPr>
        </p:nvSpPr>
        <p:spPr>
          <a:xfrm>
            <a:off x="2971800" y="1676400"/>
            <a:ext cx="5791200" cy="4525963"/>
          </a:xfrm>
        </p:spPr>
        <p:txBody>
          <a:bodyPr>
            <a:noAutofit/>
          </a:bodyPr>
          <a:lstStyle/>
          <a:p>
            <a:r>
              <a:rPr lang="en-US" sz="2400" i="1" dirty="0" smtClean="0">
                <a:solidFill>
                  <a:srgbClr val="C00000"/>
                </a:solidFill>
              </a:rPr>
              <a:t>Network interface layer</a:t>
            </a:r>
            <a:r>
              <a:rPr lang="en-US" sz="2400" dirty="0" smtClean="0"/>
              <a:t>: This lowest layer is responsible for accessing the underlying hardware.</a:t>
            </a:r>
          </a:p>
          <a:p>
            <a:r>
              <a:rPr lang="en-US" sz="2400" dirty="0" smtClean="0"/>
              <a:t>The network interface layer is </a:t>
            </a:r>
            <a:r>
              <a:rPr lang="en-US" sz="2400" i="1" dirty="0" smtClean="0">
                <a:solidFill>
                  <a:srgbClr val="C00000"/>
                </a:solidFill>
              </a:rPr>
              <a:t>constantly revised</a:t>
            </a:r>
            <a:r>
              <a:rPr lang="en-US" sz="2400" dirty="0" smtClean="0"/>
              <a:t> as new hardware is developed.</a:t>
            </a:r>
          </a:p>
          <a:p>
            <a:r>
              <a:rPr lang="en-US" sz="2400" dirty="0" smtClean="0"/>
              <a:t>TCP/IP does </a:t>
            </a:r>
            <a:r>
              <a:rPr lang="en-US" sz="2400" i="1" dirty="0" smtClean="0">
                <a:solidFill>
                  <a:srgbClr val="C00000"/>
                </a:solidFill>
              </a:rPr>
              <a:t>not prescribe</a:t>
            </a:r>
            <a:r>
              <a:rPr lang="en-US" sz="2400" dirty="0" smtClean="0"/>
              <a:t> any specific interface for the actual hardware. You can find Ethernet, token-ring, X.25, ATM, or other systems.</a:t>
            </a:r>
          </a:p>
          <a:p>
            <a:r>
              <a:rPr lang="en-US" sz="2400" dirty="0" smtClean="0"/>
              <a:t>This layer also maps </a:t>
            </a:r>
            <a:r>
              <a:rPr lang="en-US" sz="2400" i="1" dirty="0" smtClean="0">
                <a:solidFill>
                  <a:srgbClr val="C00000"/>
                </a:solidFill>
              </a:rPr>
              <a:t>IP addresses into physical addresses</a:t>
            </a:r>
            <a:r>
              <a:rPr lang="en-US" sz="2400" dirty="0" smtClean="0"/>
              <a:t> and transforms the data into frames before transmission.</a:t>
            </a:r>
          </a:p>
        </p:txBody>
      </p:sp>
      <p:graphicFrame>
        <p:nvGraphicFramePr>
          <p:cNvPr id="4" name="Table 3"/>
          <p:cNvGraphicFramePr>
            <a:graphicFrameLocks noGrp="1"/>
          </p:cNvGraphicFramePr>
          <p:nvPr/>
        </p:nvGraphicFramePr>
        <p:xfrm>
          <a:off x="381000" y="2438400"/>
          <a:ext cx="2438400" cy="2194560"/>
        </p:xfrm>
        <a:graphic>
          <a:graphicData uri="http://schemas.openxmlformats.org/drawingml/2006/table">
            <a:tbl>
              <a:tblPr>
                <a:tableStyleId>{3C2FFA5D-87B4-456A-9821-1D502468CF0F}</a:tableStyleId>
              </a:tblPr>
              <a:tblGrid>
                <a:gridCol w="2438400"/>
              </a:tblGrid>
              <a:tr h="0">
                <a:tc>
                  <a:txBody>
                    <a:bodyPr/>
                    <a:lstStyle/>
                    <a:p>
                      <a:pPr algn="ctr"/>
                      <a:r>
                        <a:rPr lang="en-US" sz="2400" dirty="0"/>
                        <a:t>Application Layer</a:t>
                      </a:r>
                    </a:p>
                  </a:txBody>
                  <a:tcPr/>
                </a:tc>
              </a:tr>
              <a:tr h="0">
                <a:tc>
                  <a:txBody>
                    <a:bodyPr/>
                    <a:lstStyle/>
                    <a:p>
                      <a:pPr algn="ctr"/>
                      <a:r>
                        <a:rPr lang="en-US" sz="2400" dirty="0"/>
                        <a:t>Transport Layer</a:t>
                      </a:r>
                    </a:p>
                  </a:txBody>
                  <a:tcPr/>
                </a:tc>
              </a:tr>
              <a:tr h="0">
                <a:tc>
                  <a:txBody>
                    <a:bodyPr/>
                    <a:lstStyle/>
                    <a:p>
                      <a:pPr algn="ctr"/>
                      <a:r>
                        <a:rPr lang="en-US" sz="2400" dirty="0"/>
                        <a:t>Internet Layer</a:t>
                      </a:r>
                    </a:p>
                  </a:txBody>
                  <a:tcPr/>
                </a:tc>
              </a:tr>
              <a:tr h="0">
                <a:tc>
                  <a:txBody>
                    <a:bodyPr/>
                    <a:lstStyle/>
                    <a:p>
                      <a:pPr algn="ctr"/>
                      <a:r>
                        <a:rPr lang="en-US" sz="2400" dirty="0">
                          <a:solidFill>
                            <a:schemeClr val="bg1"/>
                          </a:solidFill>
                        </a:rPr>
                        <a:t>Network </a:t>
                      </a:r>
                      <a:r>
                        <a:rPr lang="en-US" sz="2400" dirty="0" smtClean="0">
                          <a:solidFill>
                            <a:schemeClr val="bg1"/>
                          </a:solidFill>
                        </a:rPr>
                        <a:t>Interface </a:t>
                      </a:r>
                      <a:r>
                        <a:rPr lang="en-US" sz="2400" dirty="0">
                          <a:solidFill>
                            <a:schemeClr val="bg1"/>
                          </a:solidFill>
                        </a:rPr>
                        <a:t>Layer</a:t>
                      </a:r>
                    </a:p>
                  </a:txBody>
                  <a:tcPr>
                    <a:solidFill>
                      <a:schemeClr val="accent2"/>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Internet Layer [1]</a:t>
            </a:r>
            <a:endParaRPr lang="en-US" dirty="0"/>
          </a:p>
        </p:txBody>
      </p:sp>
      <p:sp>
        <p:nvSpPr>
          <p:cNvPr id="3" name="Content Placeholder 2"/>
          <p:cNvSpPr>
            <a:spLocks noGrp="1"/>
          </p:cNvSpPr>
          <p:nvPr>
            <p:ph idx="1"/>
          </p:nvPr>
        </p:nvSpPr>
        <p:spPr/>
        <p:txBody>
          <a:bodyPr>
            <a:noAutofit/>
          </a:bodyPr>
          <a:lstStyle/>
          <a:p>
            <a:r>
              <a:rPr lang="en-US" sz="2200" dirty="0" smtClean="0"/>
              <a:t>The </a:t>
            </a:r>
            <a:r>
              <a:rPr lang="en-US" sz="2200" i="1" dirty="0" smtClean="0">
                <a:solidFill>
                  <a:srgbClr val="C00000"/>
                </a:solidFill>
              </a:rPr>
              <a:t>internet layer</a:t>
            </a:r>
            <a:r>
              <a:rPr lang="en-US" sz="2200" dirty="0" smtClean="0"/>
              <a:t> is the linchpin that holds the whole architecture together.</a:t>
            </a:r>
          </a:p>
          <a:p>
            <a:r>
              <a:rPr lang="en-US" sz="2200" dirty="0" smtClean="0"/>
              <a:t>Its job is to permit hosts to </a:t>
            </a:r>
            <a:r>
              <a:rPr lang="en-US" sz="2200" i="1" dirty="0" smtClean="0">
                <a:solidFill>
                  <a:srgbClr val="C00000"/>
                </a:solidFill>
              </a:rPr>
              <a:t>inject packets into any network</a:t>
            </a:r>
            <a:r>
              <a:rPr lang="en-US" sz="2200" dirty="0" smtClean="0"/>
              <a:t> and </a:t>
            </a:r>
            <a:r>
              <a:rPr lang="en-US" sz="2200" i="1" dirty="0" smtClean="0">
                <a:solidFill>
                  <a:srgbClr val="C00000"/>
                </a:solidFill>
              </a:rPr>
              <a:t>have them travel</a:t>
            </a:r>
            <a:r>
              <a:rPr lang="en-US" sz="2200" dirty="0" smtClean="0"/>
              <a:t> independently to the destination (potentially on a different network).</a:t>
            </a:r>
          </a:p>
          <a:p>
            <a:r>
              <a:rPr lang="en-US" sz="2200" dirty="0" smtClean="0"/>
              <a:t>They may even arrive in a completely different order than they were sent, in which case it is the job of higher layers to rearrange them, if in-order delivery is desired.</a:t>
            </a:r>
          </a:p>
          <a:p>
            <a:r>
              <a:rPr lang="en-US" sz="2200" dirty="0" smtClean="0"/>
              <a:t>Note that ‘‘internet’’ is used here in a generic sense, even though this layer is present in the Internet.</a:t>
            </a:r>
          </a:p>
          <a:p>
            <a:r>
              <a:rPr lang="en-US" sz="2200" dirty="0" smtClean="0"/>
              <a:t>The internet layer defines an official packet format and protocol called IP (</a:t>
            </a:r>
            <a:r>
              <a:rPr lang="en-US" sz="2200" i="1" dirty="0" smtClean="0">
                <a:solidFill>
                  <a:srgbClr val="C00000"/>
                </a:solidFill>
              </a:rPr>
              <a:t>Internet Protocol</a:t>
            </a:r>
            <a:r>
              <a:rPr lang="en-US" sz="2200" dirty="0" smtClean="0"/>
              <a:t>), plus a companion protocol called ICMP (</a:t>
            </a:r>
            <a:r>
              <a:rPr lang="en-US" sz="2200" i="1" dirty="0" smtClean="0">
                <a:solidFill>
                  <a:srgbClr val="C00000"/>
                </a:solidFill>
              </a:rPr>
              <a:t>Internet Control Message Protocol</a:t>
            </a:r>
            <a:r>
              <a:rPr lang="en-US" sz="2200" dirty="0" smtClean="0"/>
              <a:t>) that helps it function.</a:t>
            </a:r>
            <a:endParaRPr lang="en-US" sz="2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Internet </a:t>
            </a:r>
            <a:r>
              <a:rPr lang="en-US" dirty="0" smtClean="0"/>
              <a:t>Layer [2]</a:t>
            </a:r>
            <a:endParaRPr lang="en-US" dirty="0"/>
          </a:p>
        </p:txBody>
      </p:sp>
      <p:sp>
        <p:nvSpPr>
          <p:cNvPr id="3" name="Content Placeholder 2"/>
          <p:cNvSpPr>
            <a:spLocks noGrp="1"/>
          </p:cNvSpPr>
          <p:nvPr>
            <p:ph idx="1"/>
          </p:nvPr>
        </p:nvSpPr>
        <p:spPr>
          <a:xfrm>
            <a:off x="2971800" y="1676400"/>
            <a:ext cx="5791200" cy="4525963"/>
          </a:xfrm>
        </p:spPr>
        <p:txBody>
          <a:bodyPr>
            <a:noAutofit/>
          </a:bodyPr>
          <a:lstStyle/>
          <a:p>
            <a:r>
              <a:rPr lang="en-US" sz="2200" i="1" dirty="0" smtClean="0">
                <a:solidFill>
                  <a:srgbClr val="C00000"/>
                </a:solidFill>
              </a:rPr>
              <a:t>Internet layer</a:t>
            </a:r>
            <a:r>
              <a:rPr lang="en-US" sz="2200" dirty="0" smtClean="0"/>
              <a:t>: This next higher level is the heart of the TCP/IP protocol.</a:t>
            </a:r>
          </a:p>
          <a:p>
            <a:r>
              <a:rPr lang="en-US" sz="2200" dirty="0" smtClean="0"/>
              <a:t>The </a:t>
            </a:r>
            <a:r>
              <a:rPr lang="en-US" sz="2200" i="1" dirty="0" smtClean="0">
                <a:solidFill>
                  <a:srgbClr val="C00000"/>
                </a:solidFill>
              </a:rPr>
              <a:t>IP (Internet Protocol)</a:t>
            </a:r>
            <a:r>
              <a:rPr lang="en-US" sz="2200" dirty="0" smtClean="0"/>
              <a:t>, described in RFC 791, is the most important protocol of this layer.</a:t>
            </a:r>
          </a:p>
          <a:p>
            <a:r>
              <a:rPr lang="en-US" sz="2200" dirty="0" smtClean="0"/>
              <a:t>IP facilitates </a:t>
            </a:r>
            <a:r>
              <a:rPr lang="en-US" sz="2200" i="1" dirty="0" smtClean="0">
                <a:solidFill>
                  <a:srgbClr val="C00000"/>
                </a:solidFill>
              </a:rPr>
              <a:t>fast delivery of packets</a:t>
            </a:r>
            <a:r>
              <a:rPr lang="en-US" sz="2200" dirty="0" smtClean="0"/>
              <a:t> by ignoring the details of datagram delivery. It does not care whether the </a:t>
            </a:r>
            <a:r>
              <a:rPr lang="en-US" sz="2200" dirty="0" err="1" smtClean="0"/>
              <a:t>datagrams</a:t>
            </a:r>
            <a:r>
              <a:rPr lang="en-US" sz="2200" dirty="0" smtClean="0"/>
              <a:t> arrive in the correct order, whether they arrive more than once, or whether they arrive at all.</a:t>
            </a:r>
          </a:p>
          <a:p>
            <a:r>
              <a:rPr lang="en-US" sz="2200" dirty="0" smtClean="0"/>
              <a:t>The IP level can afford to be unreliable because it </a:t>
            </a:r>
            <a:r>
              <a:rPr lang="en-US" sz="2200" i="1" dirty="0" smtClean="0">
                <a:solidFill>
                  <a:srgbClr val="C00000"/>
                </a:solidFill>
              </a:rPr>
              <a:t>depends on other levels</a:t>
            </a:r>
            <a:r>
              <a:rPr lang="en-US" sz="2200" dirty="0" smtClean="0"/>
              <a:t> to align the packets in the correct order.</a:t>
            </a:r>
            <a:endParaRPr lang="en-US" sz="2200" dirty="0"/>
          </a:p>
        </p:txBody>
      </p:sp>
      <p:graphicFrame>
        <p:nvGraphicFramePr>
          <p:cNvPr id="4" name="Table 3"/>
          <p:cNvGraphicFramePr>
            <a:graphicFrameLocks noGrp="1"/>
          </p:cNvGraphicFramePr>
          <p:nvPr/>
        </p:nvGraphicFramePr>
        <p:xfrm>
          <a:off x="381000" y="2438400"/>
          <a:ext cx="2438400" cy="2194560"/>
        </p:xfrm>
        <a:graphic>
          <a:graphicData uri="http://schemas.openxmlformats.org/drawingml/2006/table">
            <a:tbl>
              <a:tblPr>
                <a:tableStyleId>{3C2FFA5D-87B4-456A-9821-1D502468CF0F}</a:tableStyleId>
              </a:tblPr>
              <a:tblGrid>
                <a:gridCol w="2438400"/>
              </a:tblGrid>
              <a:tr h="0">
                <a:tc>
                  <a:txBody>
                    <a:bodyPr/>
                    <a:lstStyle/>
                    <a:p>
                      <a:pPr algn="ctr"/>
                      <a:r>
                        <a:rPr lang="en-US" sz="2400" dirty="0"/>
                        <a:t>Application Layer</a:t>
                      </a:r>
                    </a:p>
                  </a:txBody>
                  <a:tcPr/>
                </a:tc>
              </a:tr>
              <a:tr h="0">
                <a:tc>
                  <a:txBody>
                    <a:bodyPr/>
                    <a:lstStyle/>
                    <a:p>
                      <a:pPr algn="ctr"/>
                      <a:r>
                        <a:rPr lang="en-US" sz="2400" dirty="0"/>
                        <a:t>Transport Layer</a:t>
                      </a:r>
                    </a:p>
                  </a:txBody>
                  <a:tcPr/>
                </a:tc>
              </a:tr>
              <a:tr h="0">
                <a:tc>
                  <a:txBody>
                    <a:bodyPr/>
                    <a:lstStyle/>
                    <a:p>
                      <a:pPr algn="ctr"/>
                      <a:r>
                        <a:rPr lang="en-US" sz="2400" dirty="0">
                          <a:solidFill>
                            <a:schemeClr val="bg1"/>
                          </a:solidFill>
                        </a:rPr>
                        <a:t>Internet Layer</a:t>
                      </a:r>
                    </a:p>
                  </a:txBody>
                  <a:tcPr>
                    <a:solidFill>
                      <a:schemeClr val="accent2"/>
                    </a:solidFill>
                  </a:tcPr>
                </a:tc>
              </a:tr>
              <a:tr h="0">
                <a:tc>
                  <a:txBody>
                    <a:bodyPr/>
                    <a:lstStyle/>
                    <a:p>
                      <a:pPr algn="ctr"/>
                      <a:r>
                        <a:rPr lang="en-US" sz="2400" dirty="0">
                          <a:solidFill>
                            <a:schemeClr val="bg1"/>
                          </a:solidFill>
                        </a:rPr>
                        <a:t>Network </a:t>
                      </a:r>
                      <a:r>
                        <a:rPr lang="en-US" sz="2400" dirty="0" smtClean="0">
                          <a:solidFill>
                            <a:schemeClr val="bg1"/>
                          </a:solidFill>
                        </a:rPr>
                        <a:t>Interface </a:t>
                      </a:r>
                      <a:r>
                        <a:rPr lang="en-US" sz="2400" dirty="0">
                          <a:solidFill>
                            <a:schemeClr val="bg1"/>
                          </a:solidFill>
                        </a:rPr>
                        <a:t>Layer</a:t>
                      </a:r>
                    </a:p>
                  </a:txBody>
                  <a:tcPr>
                    <a:solidFill>
                      <a:schemeClr val="accent2"/>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Transport Layer</a:t>
            </a:r>
            <a:endParaRPr lang="en-US" dirty="0"/>
          </a:p>
        </p:txBody>
      </p:sp>
      <p:sp>
        <p:nvSpPr>
          <p:cNvPr id="3" name="Content Placeholder 2"/>
          <p:cNvSpPr>
            <a:spLocks noGrp="1"/>
          </p:cNvSpPr>
          <p:nvPr>
            <p:ph idx="1"/>
          </p:nvPr>
        </p:nvSpPr>
        <p:spPr>
          <a:xfrm>
            <a:off x="2971800" y="1676400"/>
            <a:ext cx="5791200" cy="4525963"/>
          </a:xfrm>
        </p:spPr>
        <p:txBody>
          <a:bodyPr>
            <a:noAutofit/>
          </a:bodyPr>
          <a:lstStyle/>
          <a:p>
            <a:r>
              <a:rPr lang="en-US" sz="1600" i="1" dirty="0" smtClean="0">
                <a:solidFill>
                  <a:srgbClr val="C00000"/>
                </a:solidFill>
              </a:rPr>
              <a:t>Transport layer</a:t>
            </a:r>
            <a:r>
              <a:rPr lang="en-US" sz="1600" dirty="0" smtClean="0"/>
              <a:t>: This is the layer just above the internet layer, which facilitates the datagram delivery from one computer to another.</a:t>
            </a:r>
          </a:p>
          <a:p>
            <a:r>
              <a:rPr lang="en-US" sz="1600" dirty="0" smtClean="0"/>
              <a:t>The transport </a:t>
            </a:r>
            <a:r>
              <a:rPr lang="en-US" sz="1600" i="1" dirty="0" smtClean="0">
                <a:solidFill>
                  <a:srgbClr val="C00000"/>
                </a:solidFill>
              </a:rPr>
              <a:t>layer delivers the data</a:t>
            </a:r>
            <a:r>
              <a:rPr lang="en-US" sz="1600" dirty="0" smtClean="0"/>
              <a:t> to the correct application, providing end-to-end communication between applications. There are two substantially different protocols that can do this:</a:t>
            </a:r>
          </a:p>
          <a:p>
            <a:r>
              <a:rPr lang="en-US" sz="1600" i="1" dirty="0" smtClean="0">
                <a:solidFill>
                  <a:srgbClr val="C00000"/>
                </a:solidFill>
              </a:rPr>
              <a:t>User Datagram Protocol (UDP)</a:t>
            </a:r>
            <a:r>
              <a:rPr lang="en-US" sz="1600" dirty="0" smtClean="0"/>
              <a:t>, an unreliable, connectionless protocol</a:t>
            </a:r>
          </a:p>
          <a:p>
            <a:r>
              <a:rPr lang="en-US" sz="1600" i="1" dirty="0" smtClean="0">
                <a:solidFill>
                  <a:srgbClr val="C00000"/>
                </a:solidFill>
              </a:rPr>
              <a:t>Transmission Control Protocol (TCP)</a:t>
            </a:r>
            <a:r>
              <a:rPr lang="en-US" sz="1600" dirty="0" smtClean="0"/>
              <a:t>, which provides a reliable stream of delivery. TCP guarantees that the packets are delivered in the correct order and ensures the retransmission of any packets that do not arrive from the underlying IP layer. This guarantee comes at the cost of a certain overhead. For short messages sent across the network, this overhead is too high, and UDP is used instead. UDP avoids these time-consuming controls. If necessary, the application layer can provide these controls.</a:t>
            </a:r>
            <a:endParaRPr lang="en-US" sz="1600" dirty="0"/>
          </a:p>
        </p:txBody>
      </p:sp>
      <p:graphicFrame>
        <p:nvGraphicFramePr>
          <p:cNvPr id="4" name="Table 3"/>
          <p:cNvGraphicFramePr>
            <a:graphicFrameLocks noGrp="1"/>
          </p:cNvGraphicFramePr>
          <p:nvPr/>
        </p:nvGraphicFramePr>
        <p:xfrm>
          <a:off x="381000" y="2438400"/>
          <a:ext cx="2438400" cy="2194560"/>
        </p:xfrm>
        <a:graphic>
          <a:graphicData uri="http://schemas.openxmlformats.org/drawingml/2006/table">
            <a:tbl>
              <a:tblPr>
                <a:tableStyleId>{3C2FFA5D-87B4-456A-9821-1D502468CF0F}</a:tableStyleId>
              </a:tblPr>
              <a:tblGrid>
                <a:gridCol w="2438400"/>
              </a:tblGrid>
              <a:tr h="0">
                <a:tc>
                  <a:txBody>
                    <a:bodyPr/>
                    <a:lstStyle/>
                    <a:p>
                      <a:pPr algn="ctr"/>
                      <a:r>
                        <a:rPr lang="en-US" sz="2400" dirty="0"/>
                        <a:t>Application Layer</a:t>
                      </a:r>
                    </a:p>
                  </a:txBody>
                  <a:tcPr/>
                </a:tc>
              </a:tr>
              <a:tr h="0">
                <a:tc>
                  <a:txBody>
                    <a:bodyPr/>
                    <a:lstStyle/>
                    <a:p>
                      <a:pPr algn="ctr"/>
                      <a:r>
                        <a:rPr lang="en-US" sz="2400" dirty="0">
                          <a:solidFill>
                            <a:schemeClr val="bg1"/>
                          </a:solidFill>
                        </a:rPr>
                        <a:t>Transport Layer</a:t>
                      </a:r>
                    </a:p>
                  </a:txBody>
                  <a:tcPr>
                    <a:solidFill>
                      <a:schemeClr val="accent2"/>
                    </a:solidFill>
                  </a:tcPr>
                </a:tc>
              </a:tr>
              <a:tr h="0">
                <a:tc>
                  <a:txBody>
                    <a:bodyPr/>
                    <a:lstStyle/>
                    <a:p>
                      <a:pPr algn="ctr"/>
                      <a:r>
                        <a:rPr lang="en-US" sz="2400" dirty="0">
                          <a:solidFill>
                            <a:schemeClr val="bg1"/>
                          </a:solidFill>
                        </a:rPr>
                        <a:t>Internet Layer</a:t>
                      </a:r>
                    </a:p>
                  </a:txBody>
                  <a:tcPr>
                    <a:solidFill>
                      <a:schemeClr val="accent2"/>
                    </a:solidFill>
                  </a:tcPr>
                </a:tc>
              </a:tr>
              <a:tr h="0">
                <a:tc>
                  <a:txBody>
                    <a:bodyPr/>
                    <a:lstStyle/>
                    <a:p>
                      <a:pPr algn="ctr"/>
                      <a:r>
                        <a:rPr lang="en-US" sz="2400" dirty="0">
                          <a:solidFill>
                            <a:schemeClr val="bg1"/>
                          </a:solidFill>
                        </a:rPr>
                        <a:t>Network </a:t>
                      </a:r>
                      <a:r>
                        <a:rPr lang="en-US" sz="2400" dirty="0" smtClean="0">
                          <a:solidFill>
                            <a:schemeClr val="bg1"/>
                          </a:solidFill>
                        </a:rPr>
                        <a:t>Interface </a:t>
                      </a:r>
                      <a:r>
                        <a:rPr lang="en-US" sz="2400" dirty="0">
                          <a:solidFill>
                            <a:schemeClr val="bg1"/>
                          </a:solidFill>
                        </a:rPr>
                        <a:t>Layer</a:t>
                      </a:r>
                    </a:p>
                  </a:txBody>
                  <a:tcPr>
                    <a:solidFill>
                      <a:schemeClr val="accent2"/>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Application </a:t>
            </a:r>
            <a:r>
              <a:rPr lang="en-US" dirty="0" smtClean="0"/>
              <a:t>Layer</a:t>
            </a:r>
            <a:endParaRPr lang="en-US" dirty="0"/>
          </a:p>
        </p:txBody>
      </p:sp>
      <p:sp>
        <p:nvSpPr>
          <p:cNvPr id="3" name="Content Placeholder 2"/>
          <p:cNvSpPr>
            <a:spLocks noGrp="1"/>
          </p:cNvSpPr>
          <p:nvPr>
            <p:ph idx="1"/>
          </p:nvPr>
        </p:nvSpPr>
        <p:spPr>
          <a:xfrm>
            <a:off x="2971800" y="1676400"/>
            <a:ext cx="5791200" cy="4525963"/>
          </a:xfrm>
        </p:spPr>
        <p:txBody>
          <a:bodyPr>
            <a:noAutofit/>
          </a:bodyPr>
          <a:lstStyle/>
          <a:p>
            <a:r>
              <a:rPr lang="en-US" sz="2200" i="1" dirty="0" smtClean="0">
                <a:solidFill>
                  <a:srgbClr val="C00000"/>
                </a:solidFill>
              </a:rPr>
              <a:t>Application layer</a:t>
            </a:r>
            <a:r>
              <a:rPr lang="en-US" sz="2200" dirty="0" smtClean="0"/>
              <a:t>: The application layer can be one or several of a series of well-known protocols, including:</a:t>
            </a:r>
          </a:p>
          <a:p>
            <a:r>
              <a:rPr lang="en-US" sz="2200" i="1" dirty="0" smtClean="0">
                <a:solidFill>
                  <a:srgbClr val="C00000"/>
                </a:solidFill>
              </a:rPr>
              <a:t>FTP</a:t>
            </a:r>
            <a:r>
              <a:rPr lang="en-US" sz="2200" dirty="0" smtClean="0"/>
              <a:t>: the File Transfer Protocol that facilitates file transfer from one computer to another</a:t>
            </a:r>
          </a:p>
          <a:p>
            <a:r>
              <a:rPr lang="en-US" sz="2200" i="1" dirty="0" smtClean="0">
                <a:solidFill>
                  <a:srgbClr val="C00000"/>
                </a:solidFill>
              </a:rPr>
              <a:t>SMTP</a:t>
            </a:r>
            <a:r>
              <a:rPr lang="en-US" sz="2200" dirty="0" smtClean="0"/>
              <a:t>: the Simple Mail Transfer Protocol that makes e-mail possible</a:t>
            </a:r>
          </a:p>
          <a:p>
            <a:r>
              <a:rPr lang="en-US" sz="2200" i="1" dirty="0" smtClean="0">
                <a:solidFill>
                  <a:srgbClr val="C00000"/>
                </a:solidFill>
              </a:rPr>
              <a:t>Telnet</a:t>
            </a:r>
            <a:r>
              <a:rPr lang="en-US" sz="2200" dirty="0" smtClean="0"/>
              <a:t>: a remote terminal protocol</a:t>
            </a:r>
          </a:p>
          <a:p>
            <a:r>
              <a:rPr lang="en-US" sz="2200" i="1" dirty="0" smtClean="0">
                <a:solidFill>
                  <a:srgbClr val="C00000"/>
                </a:solidFill>
              </a:rPr>
              <a:t>HTTP</a:t>
            </a:r>
            <a:r>
              <a:rPr lang="en-US" sz="2200" dirty="0" smtClean="0"/>
              <a:t>: the Hypertext Transfer Protocol used by Web servers and browsers</a:t>
            </a:r>
          </a:p>
          <a:p>
            <a:r>
              <a:rPr lang="en-US" sz="2200" i="1" dirty="0" smtClean="0">
                <a:solidFill>
                  <a:srgbClr val="C00000"/>
                </a:solidFill>
              </a:rPr>
              <a:t>LDAP</a:t>
            </a:r>
            <a:r>
              <a:rPr lang="en-US" sz="2200" dirty="0" smtClean="0"/>
              <a:t>: the Lightweight Directory Access Protocol.</a:t>
            </a:r>
            <a:endParaRPr lang="en-US" sz="2200" dirty="0"/>
          </a:p>
        </p:txBody>
      </p:sp>
      <p:graphicFrame>
        <p:nvGraphicFramePr>
          <p:cNvPr id="4" name="Table 3"/>
          <p:cNvGraphicFramePr>
            <a:graphicFrameLocks noGrp="1"/>
          </p:cNvGraphicFramePr>
          <p:nvPr/>
        </p:nvGraphicFramePr>
        <p:xfrm>
          <a:off x="381000" y="2438400"/>
          <a:ext cx="2438400" cy="2194560"/>
        </p:xfrm>
        <a:graphic>
          <a:graphicData uri="http://schemas.openxmlformats.org/drawingml/2006/table">
            <a:tbl>
              <a:tblPr>
                <a:tableStyleId>{3C2FFA5D-87B4-456A-9821-1D502468CF0F}</a:tableStyleId>
              </a:tblPr>
              <a:tblGrid>
                <a:gridCol w="2438400"/>
              </a:tblGrid>
              <a:tr h="0">
                <a:tc>
                  <a:txBody>
                    <a:bodyPr/>
                    <a:lstStyle/>
                    <a:p>
                      <a:pPr algn="ctr"/>
                      <a:r>
                        <a:rPr lang="en-US" sz="2400" dirty="0">
                          <a:solidFill>
                            <a:schemeClr val="bg1"/>
                          </a:solidFill>
                        </a:rPr>
                        <a:t>Application Layer</a:t>
                      </a:r>
                    </a:p>
                  </a:txBody>
                  <a:tcPr>
                    <a:solidFill>
                      <a:schemeClr val="accent2"/>
                    </a:solidFill>
                  </a:tcPr>
                </a:tc>
              </a:tr>
              <a:tr h="0">
                <a:tc>
                  <a:txBody>
                    <a:bodyPr/>
                    <a:lstStyle/>
                    <a:p>
                      <a:pPr algn="ctr"/>
                      <a:r>
                        <a:rPr lang="en-US" sz="2400" dirty="0">
                          <a:solidFill>
                            <a:schemeClr val="bg1"/>
                          </a:solidFill>
                        </a:rPr>
                        <a:t>Transport Layer</a:t>
                      </a:r>
                    </a:p>
                  </a:txBody>
                  <a:tcPr>
                    <a:solidFill>
                      <a:schemeClr val="accent2"/>
                    </a:solidFill>
                  </a:tcPr>
                </a:tc>
              </a:tr>
              <a:tr h="0">
                <a:tc>
                  <a:txBody>
                    <a:bodyPr/>
                    <a:lstStyle/>
                    <a:p>
                      <a:pPr algn="ctr"/>
                      <a:r>
                        <a:rPr lang="en-US" sz="2400" dirty="0">
                          <a:solidFill>
                            <a:schemeClr val="bg1"/>
                          </a:solidFill>
                        </a:rPr>
                        <a:t>Internet Layer</a:t>
                      </a:r>
                    </a:p>
                  </a:txBody>
                  <a:tcPr>
                    <a:solidFill>
                      <a:schemeClr val="accent2"/>
                    </a:solidFill>
                  </a:tcPr>
                </a:tc>
              </a:tr>
              <a:tr h="0">
                <a:tc>
                  <a:txBody>
                    <a:bodyPr/>
                    <a:lstStyle/>
                    <a:p>
                      <a:pPr algn="ctr"/>
                      <a:r>
                        <a:rPr lang="en-US" sz="2400" dirty="0">
                          <a:solidFill>
                            <a:schemeClr val="bg1"/>
                          </a:solidFill>
                        </a:rPr>
                        <a:t>Network </a:t>
                      </a:r>
                      <a:r>
                        <a:rPr lang="en-US" sz="2400" dirty="0" smtClean="0">
                          <a:solidFill>
                            <a:schemeClr val="bg1"/>
                          </a:solidFill>
                        </a:rPr>
                        <a:t>Interface </a:t>
                      </a:r>
                      <a:r>
                        <a:rPr lang="en-US" sz="2400" dirty="0">
                          <a:solidFill>
                            <a:schemeClr val="bg1"/>
                          </a:solidFill>
                        </a:rPr>
                        <a:t>Layer</a:t>
                      </a:r>
                    </a:p>
                  </a:txBody>
                  <a:tcPr>
                    <a:solidFill>
                      <a:schemeClr val="accent2"/>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dirty="0" smtClean="0"/>
              <a:t>The TCP/IP Reference Model</a:t>
            </a:r>
            <a:r>
              <a:rPr lang="en-US" sz="4200" dirty="0" smtClean="0"/>
              <a:t> History</a:t>
            </a:r>
            <a:endParaRPr lang="en-US" sz="4200" dirty="0"/>
          </a:p>
        </p:txBody>
      </p:sp>
      <p:sp>
        <p:nvSpPr>
          <p:cNvPr id="3" name="Content Placeholder 2"/>
          <p:cNvSpPr>
            <a:spLocks noGrp="1"/>
          </p:cNvSpPr>
          <p:nvPr>
            <p:ph idx="1"/>
          </p:nvPr>
        </p:nvSpPr>
        <p:spPr/>
        <p:txBody>
          <a:bodyPr>
            <a:normAutofit/>
          </a:bodyPr>
          <a:lstStyle/>
          <a:p>
            <a:r>
              <a:rPr lang="en-US" sz="2400" dirty="0" smtClean="0"/>
              <a:t>The Defense Advanced Research Projects Agency, the research branch of the U.S. Department of Defense, created the TCP/IP model in the 1970s for use in ARPANET, a wide area network that preceded the internet. TCP/IP was originally designed for the Unix OS, and it has been built into all of the </a:t>
            </a:r>
            <a:r>
              <a:rPr lang="en-US" sz="2400" dirty="0" err="1" smtClean="0"/>
              <a:t>OSes</a:t>
            </a:r>
            <a:r>
              <a:rPr lang="en-US" sz="2400" dirty="0" smtClean="0"/>
              <a:t> that came after it.</a:t>
            </a:r>
          </a:p>
          <a:p>
            <a:r>
              <a:rPr lang="en-US" sz="2400" dirty="0" smtClean="0"/>
              <a:t>The TCP/IP model and its related protocols are now maintained by the Internet Engineering Task Force</a:t>
            </a:r>
            <a:r>
              <a:rPr lang="en-US" sz="2400" dirty="0" smtClean="0"/>
              <a:t>.</a:t>
            </a:r>
            <a:endParaRPr lang="en-US" sz="2400" dirty="0" smtClean="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TCP/IP 5-Layer Model</a:t>
            </a:r>
            <a:endParaRPr lang="en-US" dirty="0"/>
          </a:p>
        </p:txBody>
      </p:sp>
      <p:sp>
        <p:nvSpPr>
          <p:cNvPr id="3" name="Content Placeholder 2"/>
          <p:cNvSpPr>
            <a:spLocks noGrp="1"/>
          </p:cNvSpPr>
          <p:nvPr>
            <p:ph idx="1"/>
          </p:nvPr>
        </p:nvSpPr>
        <p:spPr/>
        <p:txBody>
          <a:bodyPr>
            <a:normAutofit/>
          </a:bodyPr>
          <a:lstStyle/>
          <a:p>
            <a:r>
              <a:rPr lang="en-US" sz="2400" dirty="0" smtClean="0"/>
              <a:t>An update of the original </a:t>
            </a:r>
            <a:r>
              <a:rPr lang="en-US" sz="2400" dirty="0" smtClean="0"/>
              <a:t>TCP/IP </a:t>
            </a:r>
            <a:r>
              <a:rPr lang="en-US" sz="2400" dirty="0" smtClean="0"/>
              <a:t>reference model.</a:t>
            </a:r>
            <a:endParaRPr lang="en-US" sz="2400" dirty="0"/>
          </a:p>
        </p:txBody>
      </p:sp>
      <p:pic>
        <p:nvPicPr>
          <p:cNvPr id="4" name="Picture 2" descr="https://www.computernetworkingnotes.org/images/cisco/ccna-study-guide/csg23-01-compare-osi-model-and-tcp-ip-model.png"/>
          <p:cNvPicPr>
            <a:picLocks noChangeAspect="1" noChangeArrowheads="1"/>
          </p:cNvPicPr>
          <p:nvPr/>
        </p:nvPicPr>
        <p:blipFill>
          <a:blip r:embed="rId2" cstate="print"/>
          <a:srcRect/>
          <a:stretch>
            <a:fillRect/>
          </a:stretch>
        </p:blipFill>
        <p:spPr bwMode="auto">
          <a:xfrm>
            <a:off x="2209800" y="2514600"/>
            <a:ext cx="4445000" cy="3556000"/>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Analogy</a:t>
            </a:r>
            <a:endParaRPr lang="en-US" dirty="0"/>
          </a:p>
        </p:txBody>
      </p:sp>
      <p:pic>
        <p:nvPicPr>
          <p:cNvPr id="59394" name="Picture 2" descr="https://www.parthshandilya.com/static/2dc3b4b3ef2afdff5523956da8346443/75011/TCP-IP-Analogy.png"/>
          <p:cNvPicPr>
            <a:picLocks noChangeAspect="1" noChangeArrowheads="1"/>
          </p:cNvPicPr>
          <p:nvPr/>
        </p:nvPicPr>
        <p:blipFill>
          <a:blip r:embed="rId2" cstate="print"/>
          <a:srcRect/>
          <a:stretch>
            <a:fillRect/>
          </a:stretch>
        </p:blipFill>
        <p:spPr bwMode="auto">
          <a:xfrm>
            <a:off x="609600" y="2971800"/>
            <a:ext cx="7869324" cy="1798412"/>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Internet Standards: RFCs</a:t>
            </a:r>
            <a:endParaRPr lang="en-US" dirty="0"/>
          </a:p>
        </p:txBody>
      </p:sp>
      <p:sp>
        <p:nvSpPr>
          <p:cNvPr id="3" name="Content Placeholder 2"/>
          <p:cNvSpPr>
            <a:spLocks noGrp="1"/>
          </p:cNvSpPr>
          <p:nvPr>
            <p:ph idx="1"/>
          </p:nvPr>
        </p:nvSpPr>
        <p:spPr/>
        <p:txBody>
          <a:bodyPr>
            <a:normAutofit/>
          </a:bodyPr>
          <a:lstStyle/>
          <a:p>
            <a:r>
              <a:rPr lang="en-US" sz="2400" dirty="0" smtClean="0"/>
              <a:t>The </a:t>
            </a:r>
            <a:r>
              <a:rPr lang="en-US" sz="2400" i="1" dirty="0" smtClean="0">
                <a:solidFill>
                  <a:srgbClr val="C00000"/>
                </a:solidFill>
              </a:rPr>
              <a:t>Internet Engineering Task Force (IETF)</a:t>
            </a:r>
            <a:r>
              <a:rPr lang="en-US" sz="2400" dirty="0" smtClean="0"/>
              <a:t> maintains the complete list of Internet standards on its Web site at </a:t>
            </a:r>
            <a:r>
              <a:rPr lang="en-US" sz="2400" dirty="0" smtClean="0">
                <a:hlinkClick r:id="rId2"/>
              </a:rPr>
              <a:t>http://www.ietf.org</a:t>
            </a:r>
            <a:endParaRPr lang="en-US" sz="2400" dirty="0" smtClean="0"/>
          </a:p>
          <a:p>
            <a:r>
              <a:rPr lang="en-US" sz="2400" dirty="0" smtClean="0"/>
              <a:t>A mechanism known as </a:t>
            </a:r>
            <a:r>
              <a:rPr lang="en-US" sz="2400" i="1" dirty="0" smtClean="0">
                <a:solidFill>
                  <a:srgbClr val="C00000"/>
                </a:solidFill>
              </a:rPr>
              <a:t>"requests for comment" (RFC)</a:t>
            </a:r>
            <a:r>
              <a:rPr lang="en-US" sz="2400" dirty="0" smtClean="0"/>
              <a:t> is used to facilitate collaboration and sharing of open standards.</a:t>
            </a:r>
          </a:p>
          <a:p>
            <a:r>
              <a:rPr lang="en-US" sz="2400" dirty="0" smtClean="0"/>
              <a:t>When a researcher implements a new protocol, she proposes it as a standard to the IETF. This proposal is published first as a draft on the </a:t>
            </a:r>
            <a:r>
              <a:rPr lang="en-US" sz="2400" i="1" dirty="0" smtClean="0">
                <a:solidFill>
                  <a:srgbClr val="C00000"/>
                </a:solidFill>
              </a:rPr>
              <a:t>RFC list</a:t>
            </a:r>
            <a:r>
              <a:rPr lang="en-US" sz="2400" dirty="0" smtClean="0"/>
              <a:t>.</a:t>
            </a:r>
          </a:p>
          <a:p>
            <a:r>
              <a:rPr lang="en-US" sz="2400" dirty="0" smtClean="0"/>
              <a:t>Every RFC has a </a:t>
            </a:r>
            <a:r>
              <a:rPr lang="en-US" sz="2400" i="1" dirty="0" smtClean="0">
                <a:solidFill>
                  <a:srgbClr val="C00000"/>
                </a:solidFill>
              </a:rPr>
              <a:t>status</a:t>
            </a:r>
            <a:r>
              <a:rPr lang="en-US" sz="2400" dirty="0" smtClean="0"/>
              <a:t> describing its validity. The proposal of an RFC author has the status "draft," and the final status is "standard."</a:t>
            </a:r>
            <a:endParaRPr 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4529</TotalTime>
  <Words>2961</Words>
  <Application>Microsoft Office PowerPoint</Application>
  <PresentationFormat>On-screen Show (4:3)</PresentationFormat>
  <Paragraphs>223</Paragraphs>
  <Slides>51</Slides>
  <Notes>0</Notes>
  <HiddenSlides>0</HiddenSlides>
  <MMClips>0</MMClips>
  <ScaleCrop>false</ScaleCrop>
  <HeadingPairs>
    <vt:vector size="4" baseType="variant">
      <vt:variant>
        <vt:lpstr>Theme</vt:lpstr>
      </vt:variant>
      <vt:variant>
        <vt:i4>1</vt:i4>
      </vt:variant>
      <vt:variant>
        <vt:lpstr>Slide Titles</vt:lpstr>
      </vt:variant>
      <vt:variant>
        <vt:i4>51</vt:i4>
      </vt:variant>
    </vt:vector>
  </HeadingPairs>
  <TitlesOfParts>
    <vt:vector size="52" baseType="lpstr">
      <vt:lpstr>Office Theme</vt:lpstr>
      <vt:lpstr>Introduction to Computer Networks</vt:lpstr>
      <vt:lpstr>Objectives</vt:lpstr>
      <vt:lpstr>Contents</vt:lpstr>
      <vt:lpstr>References</vt:lpstr>
      <vt:lpstr>Basic Needs</vt:lpstr>
      <vt:lpstr>Speed Check</vt:lpstr>
      <vt:lpstr>Network Monitoring Tools</vt:lpstr>
      <vt:lpstr>Slide 8</vt:lpstr>
      <vt:lpstr>Computer Networks [1]</vt:lpstr>
      <vt:lpstr>Why Computer Networks?</vt:lpstr>
      <vt:lpstr>Peer-to-Peer System</vt:lpstr>
      <vt:lpstr>Personal Area Networks</vt:lpstr>
      <vt:lpstr>Local Area Networks</vt:lpstr>
      <vt:lpstr>Wide Area Networks</vt:lpstr>
      <vt:lpstr>WAN Terminologies</vt:lpstr>
      <vt:lpstr>Virtual Private Networks</vt:lpstr>
      <vt:lpstr>ISP Networks</vt:lpstr>
      <vt:lpstr>The Internet</vt:lpstr>
      <vt:lpstr>Slide 19</vt:lpstr>
      <vt:lpstr>Network Software</vt:lpstr>
      <vt:lpstr>Distributed Systems</vt:lpstr>
      <vt:lpstr>World Wide Web</vt:lpstr>
      <vt:lpstr>Service Primitives</vt:lpstr>
      <vt:lpstr>Network Protocols [2]</vt:lpstr>
      <vt:lpstr>Network Architecture [1]</vt:lpstr>
      <vt:lpstr>Slide 26</vt:lpstr>
      <vt:lpstr>The OSI Reference Model</vt:lpstr>
      <vt:lpstr>The Physical Layer</vt:lpstr>
      <vt:lpstr>The Data Link Layer</vt:lpstr>
      <vt:lpstr>The Network Layer (I)</vt:lpstr>
      <vt:lpstr>The Network Layer (II)</vt:lpstr>
      <vt:lpstr>The Transport Layer (I)</vt:lpstr>
      <vt:lpstr>The Transport Layer (II)</vt:lpstr>
      <vt:lpstr>The Session Layer</vt:lpstr>
      <vt:lpstr>The Presentation Layer</vt:lpstr>
      <vt:lpstr>The Application Layer</vt:lpstr>
      <vt:lpstr>Summary</vt:lpstr>
      <vt:lpstr>Slide 38</vt:lpstr>
      <vt:lpstr>The TCP/IP Reference Model</vt:lpstr>
      <vt:lpstr>Network Interface Layer [2]</vt:lpstr>
      <vt:lpstr>The Internet Layer [1]</vt:lpstr>
      <vt:lpstr>The Internet Layer [2]</vt:lpstr>
      <vt:lpstr>The Transport Layer</vt:lpstr>
      <vt:lpstr>The Application Layer</vt:lpstr>
      <vt:lpstr>The TCP/IP Reference Model History</vt:lpstr>
      <vt:lpstr>Slide 46</vt:lpstr>
      <vt:lpstr>The TCP/IP 5-Layer Model</vt:lpstr>
      <vt:lpstr>Analogy</vt:lpstr>
      <vt:lpstr>Slide 49</vt:lpstr>
      <vt:lpstr>Internet Standards: RFCs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Client</dc:title>
  <dc:creator>HuyBien</dc:creator>
  <cp:lastModifiedBy>Ngo Huy Bien</cp:lastModifiedBy>
  <cp:revision>1392</cp:revision>
  <dcterms:created xsi:type="dcterms:W3CDTF">2009-01-22T10:11:40Z</dcterms:created>
  <dcterms:modified xsi:type="dcterms:W3CDTF">2023-12-30T12:33:11Z</dcterms:modified>
</cp:coreProperties>
</file>